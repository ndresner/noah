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all CP ROs, Jan-Sep 2026 by close date. Same-store, INEOS excluded (opened 2026). GMC Prescott body shop labor types excluded. Each store: 0.1 x its CP RO count x its own customer-pay labor gross and parts gross per sold hour; a year = Jan-Sep x 12 / 9. Gross, not sale, so it will not match the $4,543,691 labor sale on the Hours per RO slide. Gross/yr = labor gross + parts gross a year. Parts assumes the extra hours carry the store's average customer-pay parts gross per sold hour.Talk track: 0.1 hour is six minutes of sold time on a visit - one more inspection item sold, one tire rotation, one cabin filter. Parts gross assumes the extra hours carry the store's usual parts.
TOYOTA HENDERSON: 53,084 CP ROs, 1.47 hrs/RO; +0.1 = $97,028 gross a month, $1,164,334 a year (labor $868,256, parts $296,078)
HONDA HENDERSON: 22,527 CP ROs, 1.97 hrs/RO; +0.1 = $42,821 gross a month, $513,852 a year (labor $396,326, parts $117,527)
CHEVY LV: 19,520 CP ROs, 2.30 hrs/RO; +0.1 = $34,189 gross a month, $410,273 a year (labor $295,521, parts $114,751)
TOYOTA SPOKANE: 17,376 CP ROs, 1.48 hrs/RO; +0.1 = $28,273 gross a month, $339,280 a year (labor $220,993, parts $118,287)
TOYOTA FLAGSTAFF: 15,141 CP ROs, 1.41 hrs/RO; +0.1 = $25,581 gross a month, $306,971 a year (labor $228,073, parts $78,899)
HONDA NORTH: 15,048 CP ROs, 2.02 hrs/RO; +0.1 = $27,949 gross a month, $335,387 a year (labor $243,757, parts $91,630)
SUBARU LV: 14,250 CP ROs, 1.95 hrs/RO; +0.1 = $28,789 gross a month, $345,471 a year (labor $260,598, parts $84,873)
TOYOTA PRESCOTT: 13,490 CP ROs, 1.38 hrs/RO; +0.1 = $25,680 gross a month, $308,157 a year (labor $224,917, parts $83,240)
HONDA SPOKANE: 8,930 CP ROs, 2.01 hrs/RO; +0.1 = $16,345 gross a month, $196,138 a year (labor $136,735, parts $59,403)
KIA LV: 8,133 CP ROs, 1.57 hrs/RO; +0.1 = $15,446 gross a month, $185,357 a year (labor $128,599, parts $56,758)
NISSAN: 6,973 CP ROs, 2.11 hrs/RO; +0.1 = $14,916 gross a month, $178,988 a year (labor $128,448, parts $50,540)
CHEVY GMC BULLHEAD: 6,309 CP ROs, 1.74 hrs/RO; +0.1 = $12,652 gross a month, $151,825 a year (labor $102,262, parts $49,564)
MAZDA: 5,701 CP ROs, 1.46 hrs/RO; +0.1 = $12,192 gross a month, $146,304 a year (labor $105,012, parts $41,292)
SUBARU ST GEORGE: 5,553 CP ROs, 2.30 hrs/RO; +0.1 = $9,589 gross a month, $115,073 a year (labor $75,721, parts $39,353)
CDJR POST FALLS: 5,358 CP ROs, 2.20 hrs/RO; +0.1 = $10,803 gross a month, $129,631 a year (labor $91,262, parts $38,370)
CADILLAC: 5,344 CP ROs, 2.73 hrs/RO; +0.1 = $11,060 gross a month, $132,722 a year (labor $95,285, parts $37,436)
VW HENDERSON: 5,145 CP ROs, 2.49 hrs/RO; +0.1 = $9,835 gross a month, $118,025 a year (labor $89,434, parts $28,590)
SUBARU PRESCOTT: 5,105 CP ROs, 1.60 hrs/RO; +0.1 = $8,418 gross a month, $101,015 a year (labor $70,208, parts $30,807)
LEXUS: 4,567 CP ROs, 2.08 hrs/RO; +0.1 = $11,202 gross a month, $134,424 a year (labor $99,999, parts $34,425)
HONDA FLAGSTAFF: 4,030 CP ROs, 1.67 hrs/RO; +0.1 = $8,249 gross a month, $98,985 a year (labor $68,101, parts $30,883)
AUDI RENO: 3,917 CP ROs, 2.73 hrs/RO; +0.1 = $11,814 gross a month, $141,770 a year (labor $96,704, parts $45,066)
KIA ST GEORGE: 3,912 CP ROs, 1.29 hrs/RO; +0.1 = $7,424 gross a month, $89,084 a year (labor $58,429, parts $30,655)
AUDI HENDERSON: 3,779 CP ROs, 3.48 hrs/RO; +0.1 = $12,411 gross a month, $148,928 a year (labor $113,075, parts $35,853)
ACURA: 3,671 CP ROs, 1.42 hrs/RO; +0.1 = $10,212 gross a month, $122,550 a year (labor $81,713, parts $40,837)
LR LV: 3,496 CP ROs, 3.99 hrs/RO; +0.1 = $11,125 gross a month, $133,501 a year (labor $91,287, parts $42,215)
VOLVO: 3,402 CP ROs, 2.28 hrs/RO; +0.1 = $10,992 gross a month, $131,908 a year (labor $89,257, parts $42,652)
HYUNDAI ST GEORGE: 3,349 CP ROs, 1.43 hrs/RO; +0.1 = $7,381 gross a month, $88,568 a year (labor $61,607, parts $26,961)
GMC PRESCOTT: 3,107 CP ROs, 1.96 hrs/RO; +0.1 = $5,461 gross a month, $65,535 a year (labor $42,792, parts $22,743)
LINCOLN: 2,630 CP ROs, 2.48 hrs/RO; +0.1 = $5,651 gross a month, $67,817 a year (labor $48,880, parts $18,937)
HYUNDAI PRESCOTT: 2,010 CP ROs, 1.64 hrs/RO; +0.1 = $3,238 gross a month, $38,856 a year (labor $23,679, parts $15,178)
VW ST GEORGE: 1,919 CP ROs, 1.71 hrs/RO; +0.1 = $3,646 gross a month, $43,756 a year (labor $27,475, parts $16,281)
LR HENDERSON: 1,559 CP ROs, 3.99 hrs/RO; +0.1 = $5,068 gross a month, $60,821 a year (labor $40,050, parts $20,772)
LR RENO: 1,421 CP ROs, 3.48 hrs/RO; +0.1 = $4,771 gross a month, $57,255 a year (labor $37,516, parts $19,739)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0.1 Hour per RO Is Worth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01768" y="13167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Gross/yr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52176" y="13167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Gross/yr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14984" y="170078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99816" y="1756697"/>
            <a:ext cx="1847088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01768" y="1700784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$1.16M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194928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99816" y="2005199"/>
            <a:ext cx="815170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01768" y="1949286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$514K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" y="219778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099816" y="2253700"/>
            <a:ext cx="650852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01768" y="2197787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$410K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244628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099816" y="2502202"/>
            <a:ext cx="548052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01768" y="2446289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$345K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14984" y="2694791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099816" y="2750703"/>
            <a:ext cx="538230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01768" y="2694791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$339K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14984" y="294329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099816" y="2999205"/>
            <a:ext cx="532055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001768" y="2943292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$335K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" y="319179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099816" y="3247707"/>
            <a:ext cx="488857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001768" y="3191794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$308K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" y="344029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099816" y="3496208"/>
            <a:ext cx="486976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001768" y="3440296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$307K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14984" y="368879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099816" y="3744710"/>
            <a:ext cx="311151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001768" y="3688797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$196K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58368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014984" y="393729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099816" y="3993212"/>
            <a:ext cx="294048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001768" y="3937299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$185K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58368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014984" y="418580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099816" y="4241713"/>
            <a:ext cx="283945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001768" y="4185800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$179K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14984" y="443430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099816" y="4490215"/>
            <a:ext cx="240854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001768" y="4434302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$152K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468280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099816" y="4738717"/>
            <a:ext cx="236258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5001768" y="4682804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$149K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14984" y="4931305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3099816" y="4987218"/>
            <a:ext cx="232096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5001768" y="4931305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$146K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658368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1014984" y="517980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3099816" y="5235720"/>
            <a:ext cx="224903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5001768" y="5179807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$142K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014984" y="542830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3099816" y="5484222"/>
            <a:ext cx="213249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5001768" y="5428309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$134K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567681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567681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3099816" y="5732723"/>
            <a:ext cx="211785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5001768" y="5676810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$134K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6208776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6565392" y="170078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8650224" y="1756697"/>
            <a:ext cx="210549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10552176" y="1700784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$133K</a:t>
            </a:r>
            <a:endParaRPr lang="en-US" sz="1300" dirty="0"/>
          </a:p>
        </p:txBody>
      </p:sp>
      <p:sp>
        <p:nvSpPr>
          <p:cNvPr id="80" name="Text 78"/>
          <p:cNvSpPr txBox="1"/>
          <p:nvPr/>
        </p:nvSpPr>
        <p:spPr>
          <a:xfrm>
            <a:off x="6208776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565392" y="194928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8650224" y="2005199"/>
            <a:ext cx="209258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10552176" y="1949286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$132K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6208776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565392" y="219778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8650224" y="2253700"/>
            <a:ext cx="205646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552176" y="2197787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$130K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6208776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565392" y="244628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8650224" y="2502202"/>
            <a:ext cx="194412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10552176" y="2446289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$123K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208776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6565392" y="2694791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8650224" y="2750703"/>
            <a:ext cx="187233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10552176" y="2694791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$118K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565392" y="294329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98" name="Shape 96"/>
          <p:cNvSpPr/>
          <p:nvPr/>
        </p:nvSpPr>
        <p:spPr>
          <a:xfrm>
            <a:off x="8650224" y="2999205"/>
            <a:ext cx="182551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0552176" y="2943292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$115K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565392" y="319179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102" name="Shape 100"/>
          <p:cNvSpPr/>
          <p:nvPr/>
        </p:nvSpPr>
        <p:spPr>
          <a:xfrm>
            <a:off x="8650224" y="3247707"/>
            <a:ext cx="160249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10552176" y="3191794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$101K</a:t>
            </a:r>
            <a:endParaRPr lang="en-US" sz="1300" dirty="0"/>
          </a:p>
        </p:txBody>
      </p:sp>
      <p:sp>
        <p:nvSpPr>
          <p:cNvPr id="104" name="Text 102"/>
          <p:cNvSpPr txBox="1"/>
          <p:nvPr/>
        </p:nvSpPr>
        <p:spPr>
          <a:xfrm>
            <a:off x="6208776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565392" y="344029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8650224" y="3496208"/>
            <a:ext cx="157028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10552176" y="3440296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$99K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6208776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565392" y="368879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110" name="Shape 108"/>
          <p:cNvSpPr/>
          <p:nvPr/>
        </p:nvSpPr>
        <p:spPr>
          <a:xfrm>
            <a:off x="8650224" y="3744710"/>
            <a:ext cx="141322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10552176" y="3688797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$89K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565392" y="393729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8650224" y="3993212"/>
            <a:ext cx="140504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10552176" y="3937299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$89K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6208776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565392" y="418580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118" name="Shape 116"/>
          <p:cNvSpPr/>
          <p:nvPr/>
        </p:nvSpPr>
        <p:spPr>
          <a:xfrm>
            <a:off x="8650224" y="4241713"/>
            <a:ext cx="107585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10552176" y="4185800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$68K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565392" y="443430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8650224" y="4490215"/>
            <a:ext cx="103964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10552176" y="4434302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$66K</a:t>
            </a: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6208776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565392" y="468280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26" name="Shape 124"/>
          <p:cNvSpPr/>
          <p:nvPr/>
        </p:nvSpPr>
        <p:spPr>
          <a:xfrm>
            <a:off x="8650224" y="4738717"/>
            <a:ext cx="96486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10552176" y="4682804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$61K</a:t>
            </a:r>
            <a:endParaRPr lang="en-US" sz="1300" dirty="0"/>
          </a:p>
        </p:txBody>
      </p:sp>
      <p:sp>
        <p:nvSpPr>
          <p:cNvPr id="128" name="Text 126"/>
          <p:cNvSpPr txBox="1"/>
          <p:nvPr/>
        </p:nvSpPr>
        <p:spPr>
          <a:xfrm>
            <a:off x="6208776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565392" y="4931305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30" name="Shape 128"/>
          <p:cNvSpPr/>
          <p:nvPr/>
        </p:nvSpPr>
        <p:spPr>
          <a:xfrm>
            <a:off x="8650224" y="4987218"/>
            <a:ext cx="90829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10552176" y="4931305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$57K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6208776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565392" y="517980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134" name="Shape 132"/>
          <p:cNvSpPr/>
          <p:nvPr/>
        </p:nvSpPr>
        <p:spPr>
          <a:xfrm>
            <a:off x="8650224" y="5235720"/>
            <a:ext cx="69414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10552176" y="5179807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$44K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6208776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565392" y="542830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138" name="Shape 136"/>
          <p:cNvSpPr/>
          <p:nvPr/>
        </p:nvSpPr>
        <p:spPr>
          <a:xfrm>
            <a:off x="8650224" y="5484222"/>
            <a:ext cx="61641" cy="136676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10552176" y="5428309"/>
            <a:ext cx="91440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$39K</a:t>
            </a:r>
            <a:endParaRPr lang="en-US" sz="1300" dirty="0"/>
          </a:p>
        </p:txBody>
      </p:sp>
      <p:sp>
        <p:nvSpPr>
          <p:cNvPr id="140" name="Shape 138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1" name="Shape 139"/>
          <p:cNvSpPr/>
          <p:nvPr/>
        </p:nvSpPr>
        <p:spPr>
          <a:xfrm>
            <a:off x="457200" y="6126480"/>
            <a:ext cx="11274552" cy="34899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658368" y="6144768"/>
            <a:ext cx="1092708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 hour more on every CP RO is worth $6,602,564 a year in added gross. Toyota Henderson leads at $1,164,334.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2026-10-24T00:54:31Z</dcterms:created>
  <dcterms:modified xsi:type="dcterms:W3CDTF">2026-10-24T00:54:31Z</dcterms:modified>
</cp:coreProperties>
</file>