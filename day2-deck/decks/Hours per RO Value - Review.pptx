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all CP ROs, Jan-Sep 2026 by close date. Same-store, INEOS excluded (opened 2026). GMC Prescott body shop labor types excluded. Each store: 0.1 x its CP RO count x its own customer-pay labor gross and parts gross per sold hour; a year = Jan-Sep x 12 / 9. Gross, not sale, so it will not match the $4,543,691 labor sale on the Hours per RO slide. Gross/yr = labor gross + parts gross a year. Parts assumes the extra hours carry the store's average customer-pay parts gross per sold hour.Talk track: 0.1 hour is six minutes of sold time on a visit - one more inspection item sold, one tire rotation, one cabin filter. Parts gross assumes the extra hours carry the store's usual parts.
TOYOTA HENDERSON: 53,084 CP ROs, 1.47 hrs/RO; +0.1 = $97,028 gross a month, $1,164,334 a year (labor $868,256, parts $296,078)
HONDA HENDERSON: 22,527 CP ROs, 1.97 hrs/RO; +0.1 = $42,821 gross a month, $513,852 a year (labor $396,326, parts $117,527)
CHEVY LV: 19,520 CP ROs, 2.30 hrs/RO; +0.1 = $34,189 gross a month, $410,273 a year (labor $295,521, parts $114,751)
TOYOTA SPOKANE: 17,376 CP ROs, 1.48 hrs/RO; +0.1 = $28,273 gross a month, $339,280 a year (labor $220,993, parts $118,287)
TOYOTA FLAGSTAFF: 15,141 CP ROs, 1.41 hrs/RO; +0.1 = $25,581 gross a month, $306,971 a year (labor $228,073, parts $78,899)
HONDA NORTH: 15,048 CP ROs, 2.02 hrs/RO; +0.1 = $27,949 gross a month, $335,387 a year (labor $243,757, parts $91,630)
SUBARU LV: 14,250 CP ROs, 1.95 hrs/RO; +0.1 = $28,789 gross a month, $345,471 a year (labor $260,598, parts $84,873)
TOYOTA PRESCOTT: 13,490 CP ROs, 1.38 hrs/RO; +0.1 = $25,680 gross a month, $308,157 a year (labor $224,917, parts $83,240)
HONDA SPOKANE: 8,930 CP ROs, 2.01 hrs/RO; +0.1 = $16,345 gross a month, $196,138 a year (labor $136,735, parts $59,403)
KIA LV: 8,133 CP ROs, 1.57 hrs/RO; +0.1 = $15,446 gross a month, $185,357 a year (labor $128,599, parts $56,758)
NISSAN: 6,973 CP ROs, 2.11 hrs/RO; +0.1 = $14,916 gross a month, $178,988 a year (labor $128,448, parts $50,540)
CHEVY GMC BULLHEAD: 6,309 CP ROs, 1.74 hrs/RO; +0.1 = $12,652 gross a month, $151,825 a year (labor $102,262, parts $49,564)
MAZDA: 5,701 CP ROs, 1.46 hrs/RO; +0.1 = $12,192 gross a month, $146,304 a year (labor $105,012, parts $41,292)
SUBARU ST GEORGE: 5,553 CP ROs, 2.30 hrs/RO; +0.1 = $9,589 gross a month, $115,073 a year (labor $75,721, parts $39,353)
CDJR POST FALLS: 5,358 CP ROs, 2.20 hrs/RO; +0.1 = $10,803 gross a month, $129,631 a year (labor $91,262, parts $38,370)
CADILLAC: 5,344 CP ROs, 2.73 hrs/RO; +0.1 = $11,060 gross a month, $132,722 a year (labor $95,285, parts $37,436)
VW HENDERSON: 5,145 CP ROs, 2.49 hrs/RO; +0.1 = $9,835 gross a month, $118,025 a year (labor $89,434, parts $28,590)
SUBARU PRESCOTT: 5,105 CP ROs, 1.60 hrs/RO; +0.1 = $8,418 gross a month, $101,015 a year (labor $70,208, parts $30,807)
LEXUS: 4,567 CP ROs, 2.08 hrs/RO; +0.1 = $11,202 gross a month, $134,424 a year (labor $99,999, parts $34,425)
HONDA FLAGSTAFF: 4,030 CP ROs, 1.67 hrs/RO; +0.1 = $8,249 gross a month, $98,985 a year (labor $68,101, parts $30,883)
AUDI RENO: 3,917 CP ROs, 2.73 hrs/RO; +0.1 = $11,814 gross a month, $141,770 a year (labor $96,704, parts $45,066)
KIA ST GEORGE: 3,912 CP ROs, 1.29 hrs/RO; +0.1 = $7,424 gross a month, $89,084 a year (labor $58,429, parts $30,655)
AUDI HENDERSON: 3,779 CP ROs, 3.48 hrs/RO; +0.1 = $12,411 gross a month, $148,928 a year (labor $113,075, parts $35,853)
ACURA: 3,671 CP ROs, 1.42 hrs/RO; +0.1 = $10,212 gross a month, $122,550 a year (labor $81,713, parts $40,837)
LR LV: 3,496 CP ROs, 3.99 hrs/RO; +0.1 = $11,125 gross a month, $133,501 a year (labor $91,287, parts $42,215)
VOLVO: 3,402 CP ROs, 2.28 hrs/RO; +0.1 = $10,992 gross a month, $131,908 a year (labor $89,257, parts $42,652)
HYUNDAI ST GEORGE: 3,349 CP ROs, 1.43 hrs/RO; +0.1 = $7,381 gross a month, $88,568 a year (labor $61,607, parts $26,961)
GMC PRESCOTT: 3,107 CP ROs, 1.96 hrs/RO; +0.1 = $5,461 gross a month, $65,535 a year (labor $42,792, parts $22,743)
LINCOLN: 2,630 CP ROs, 2.48 hrs/RO; +0.1 = $5,651 gross a month, $67,817 a year (labor $48,880, parts $18,937)
HYUNDAI PRESCOTT: 2,010 CP ROs, 1.64 hrs/RO; +0.1 = $3,238 gross a month, $38,856 a year (labor $23,679, parts $15,178)
VW ST GEORGE: 1,919 CP ROs, 1.71 hrs/RO; +0.1 = $3,646 gross a month, $43,756 a year (labor $27,475, parts $16,281)
LR HENDERSON: 1,559 CP ROs, 3.99 hrs/RO; +0.1 = $5,068 gross a month, $60,821 a year (labor $40,050, parts $20,772)
LR RENO: 1,421 CP ROs, 3.48 hrs/RO; +0.1 = $4,771 gross a month, $57,255 a year (labor $37,516, parts $19,739)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0.1 Hour per RO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108960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133088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59368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83496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79608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56697"/>
            <a:ext cx="38404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108960" y="1700784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$1,164,334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133088" y="170078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$868,256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700784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$296,078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05199"/>
            <a:ext cx="16949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108960" y="1949286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$513,852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133088" y="194928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$396,326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1949286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$117,527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253700"/>
            <a:ext cx="13532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108960" y="2197787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$410,273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133088" y="219778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$295,521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0" y="2197787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$114,751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502202"/>
            <a:ext cx="1139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108960" y="2446289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$345,471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133088" y="244628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$260,598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0" y="2446289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$84,873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2750703"/>
            <a:ext cx="11190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108960" y="2694791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$339,280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133088" y="2694791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$220,993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0" y="2694791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$118,287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2999205"/>
            <a:ext cx="11062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108960" y="2943292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$335,387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133088" y="294329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$243,757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029200" y="2943292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$91,630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247707"/>
            <a:ext cx="10164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108960" y="3191794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$308,157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133088" y="319179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$224,917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0" y="3191794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$83,240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3496208"/>
            <a:ext cx="10125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108960" y="3440296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$306,971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133088" y="344029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$228,073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029200" y="3440296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$78,899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3744710"/>
            <a:ext cx="6469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108960" y="3688797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$196,138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133088" y="368879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$136,735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029200" y="3688797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$59,403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3993212"/>
            <a:ext cx="6113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108960" y="3937299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$185,357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133088" y="393729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$128,599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029200" y="3937299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$56,758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4241713"/>
            <a:ext cx="590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108960" y="4185800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$178,988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133088" y="4185800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$128,448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029200" y="4185800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$50,540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4490215"/>
            <a:ext cx="500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108960" y="4434302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$151,825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133088" y="443430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$102,262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029200" y="4434302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$49,564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4738717"/>
            <a:ext cx="4912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108960" y="4682804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$148,928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133088" y="468280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$113,075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029200" y="4682804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$35,853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2670048" y="4987218"/>
            <a:ext cx="4825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108960" y="4931305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$146,304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133088" y="4931305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$105,012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029200" y="4931305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$41,292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5235720"/>
            <a:ext cx="4676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108960" y="5179807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$141,770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133088" y="517980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$96,704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029200" y="5179807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$45,066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2670048" y="5484222"/>
            <a:ext cx="4433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108960" y="5428309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$134,424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133088" y="542830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$99,999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029200" y="5428309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$34,425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2670048" y="5732723"/>
            <a:ext cx="440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108960" y="5676810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$133,501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133088" y="5676810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$91,287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029200" y="5676810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$42,215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1756697"/>
            <a:ext cx="4377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659368" y="1700784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$132,722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683496" y="170078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$95,285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579608" y="1700784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$37,436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2005199"/>
            <a:ext cx="4350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8659368" y="1949286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$131,908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683496" y="194928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$89,257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579608" y="1949286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$42,652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2253700"/>
            <a:ext cx="427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8659368" y="2197787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$129,631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683496" y="219778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$91,262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579608" y="2197787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$38,370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2502202"/>
            <a:ext cx="4042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8659368" y="2446289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$122,550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683496" y="244628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$81,713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579608" y="2446289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$40,837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2750703"/>
            <a:ext cx="3893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8659368" y="2694791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$118,025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683496" y="2694791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$89,434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579608" y="2694791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$28,590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2999205"/>
            <a:ext cx="3795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8659368" y="2943292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$115,073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683496" y="294329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$75,721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579608" y="2943292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$39,353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3247707"/>
            <a:ext cx="3331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659368" y="3191794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$101,015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683496" y="319179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$70,208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579608" y="3191794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$30,807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3496208"/>
            <a:ext cx="326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8659368" y="3440296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$98,985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683496" y="344029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$68,101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579608" y="3440296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$30,883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3744710"/>
            <a:ext cx="2938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8659368" y="3688797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$89,084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9683496" y="368879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$58,429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579608" y="3688797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$30,655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3993212"/>
            <a:ext cx="2921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8659368" y="3937299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$88,568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683496" y="393729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$61,607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79608" y="3937299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$26,961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220456" y="4241713"/>
            <a:ext cx="2236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8659368" y="4185800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$67,817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683496" y="4185800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$48,880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79608" y="4185800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$18,937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220456" y="4490215"/>
            <a:ext cx="2161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8659368" y="4434302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$65,535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9683496" y="443430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$42,792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579608" y="4434302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$22,743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220456" y="4738717"/>
            <a:ext cx="2006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8659368" y="4682804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$60,821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683496" y="468280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$40,050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579608" y="4682804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$20,772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8220456" y="4987218"/>
            <a:ext cx="188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8659368" y="4931305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$57,255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683496" y="4931305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$37,516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579608" y="4931305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$19,739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220456" y="5235720"/>
            <a:ext cx="1828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8659368" y="5179807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$43,756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9683496" y="517980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$27,475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579608" y="5179807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$16,281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220456" y="5484222"/>
            <a:ext cx="1828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8659368" y="5428309"/>
            <a:ext cx="10241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$38,856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9683496" y="542830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$23,679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579608" y="5428309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$15,178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hour more on every CP RO is worth $6,602,564 a year in gross: $4,741,969 labor and $1,860,595 parts. Toyota Henderson leads at $1,164,334.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2026-10-21T21:13:53Z</dcterms:created>
  <dcterms:modified xsi:type="dcterms:W3CDTF">2026-10-21T21:13:53Z</dcterms:modified>
</cp:coreProperties>
</file>