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2026 by close month. Same-store, INEOS excluded (opened 2026). GMC Prescott body shop labor types excluded. Segment averages from segment totals. Luxury = Lexus, Lincoln, Cadillac, Volvo, Audi Reno, Audi Henderson, LR Reno, LR LV, LR Henderson; Acura non-luxury, as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2026 by close month. Same-store, INEOS excluded (opened 2026). GMC Prescott body shop labor types excluded. Segment averages from segment totals. Luxury = Lexus, Lincoln, Cadillac, Volvo, Audi Reno, Audi Henderson, LR Reno, LR LV, LR Henderson, plus Acura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2026 by close month. Same-store, INEOS excluded (opened 2026). GMC Prescott body shop labor types excluded. Segment averages from segment totals. Luxury = Lexus, Lincoln, Cadillac, Volvo, Audi Reno, Audi Henderson, LR Reno, LR LV, LR Henderson; Acura non-luxury, as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2026 by close month. Same-store, INEOS excluded (opened 2026). GMC Prescott body shop labor types excluded. Segment averages from segment totals. Luxury = Lexus, Lincoln, Cadillac, Volvo, Audi Reno, Audi Henderson, LR Reno, LR LV, LR Henderson, plus Acura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2026 by close month. Same-store, INEOS excluded (opened 2026). GMC Prescott body shop labor types excluded. Segment averages from segment totals. Luxury = Lexus, Lincoln, Cadillac, Volvo, Audi Reno, Audi Henderson, LR Reno, LR LV, LR Henderson; Acura non-luxury, as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2026 by close month. Same-store, INEOS excluded (opened 2026). GMC Prescott body shop labor types excluded. Segment averages from segment totals. Luxury = Lexus, Lincoln, Cadillac, Volvo, Audi Reno, Audi Henderson, LR Reno, LR LV, LR Henderson, plus Acura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Gross and ROs: Qlik - Productivity app; headcount: ADP Employee Master extract, month-end snapshots. Monthly averages, Jan-Sep 2026. Same-store, INEOS excluded. Segment averages from segment totals. Luxury = Lexus, Lincoln, Cadillac, Volvo, Audi Reno, Audi Henderson, LR Reno, LR LV, LR Henderson; Acura non-luxury, as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Gross and ROs: Qlik - Productivity app; headcount: ADP Employee Master extract, month-end snapshots. Monthly averages, Jan-Sep 2026. Same-store, INEOS excluded. Segment averages from segment totals. Luxury = Lexus, Lincoln, Cadillac, Volvo, Audi Reno, Audi Henderson, LR Reno, LR LV, LR Henderson, plus Acura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Gross and ROs: Qlik - Productivity app; headcount: ADP Employee Master extract, month-end snapshots. Monthly averages, Jan-Sep 2026. Same-store, INEOS excluded. Segment averages from segment totals. Luxury = Lexus, Lincoln, Cadillac, Volvo, Audi Reno, Audi Henderson, LR Reno, LR LV, LR Henderson; Acura non-luxury, as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Gross and ROs: Qlik - Productivity app; headcount: ADP Employee Master extract, month-end snapshots. Monthly averages, Jan-Sep 2026. Same-store, INEOS excluded. Segment averages from segment totals. Luxury = Lexus, Lincoln, Cadillac, Volvo, Audi Reno, Audi Henderson, LR Reno, LR LV, LR Henderson, plus Acura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Gross and ROs: Qlik - Productivity app; headcount: ADP Employee Master extract, month-end snapshots. Monthly averages, Jan-Sep 2026. Same-store, INEOS excluded. Segment averages from segment totals. Luxury = Lexus, Lincoln, Cadillac, Volvo, Audi Reno, Audi Henderson, LR Reno, LR LV, LR Henderson; Acura non-luxury, as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Gross and ROs: Qlik - Productivity app; headcount: ADP Employee Master extract, month-end snapshots. Monthly averages, Jan-Sep 2026. Same-store, INEOS excluded. Segment averages from segment totals. Luxury = Lexus, Lincoln, Cadillac, Volvo, Audi Reno, Audi Henderson, LR Reno, LR LV, LR Henderson, plus Acura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 · REVIEW · ACURA IN NON-LUXURY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1.87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18470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segment ranked on its own. Green at or above its segment average, red below. Acura highlighted.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17627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· AVERAGE 2.90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36626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08376" y="2436622"/>
            <a:ext cx="159925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3.99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08376" y="2644902"/>
            <a:ext cx="159785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3.99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08376" y="2853182"/>
            <a:ext cx="1396154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54880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3.48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08376" y="3061462"/>
            <a:ext cx="1395716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54880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3.48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08376" y="3269742"/>
            <a:ext cx="1094195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54880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2.73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14984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08376" y="3478022"/>
            <a:ext cx="109299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54880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2.73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08376" y="3686302"/>
            <a:ext cx="99559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754880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2.48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008376" y="3894582"/>
            <a:ext cx="912830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754880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2.28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008376" y="4102862"/>
            <a:ext cx="83481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754880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2.08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425907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NON-LUXURY · AVERAGE 1.75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58368" y="444906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58368" y="44673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014984" y="44673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008376" y="4519422"/>
            <a:ext cx="165847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754880" y="44673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2.49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14984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008376" y="4727702"/>
            <a:ext cx="1530972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4754880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2.30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58368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014984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008376" y="4935982"/>
            <a:ext cx="153073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4754880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2.30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658368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1014984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008376" y="5144262"/>
            <a:ext cx="1465702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4754880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2.20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1014984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008376" y="5352542"/>
            <a:ext cx="140516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4754880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2.11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658368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1014984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3008376" y="5560822"/>
            <a:ext cx="134516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4754880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2.02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57170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1014984" y="57170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008376" y="5769102"/>
            <a:ext cx="1336576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4754880" y="57170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2.01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208776" y="21762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6565392" y="21762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8558784" y="2228342"/>
            <a:ext cx="1310628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10305288" y="21762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1.97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208776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6565392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558784" y="2436622"/>
            <a:ext cx="1303142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10305288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1.96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6208776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6565392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8558784" y="2644902"/>
            <a:ext cx="129643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10305288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1.95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6208776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6565392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8558784" y="2853182"/>
            <a:ext cx="116015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10305288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1.74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6208776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565392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8558784" y="3061462"/>
            <a:ext cx="113680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10305288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1.71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208776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565392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8558784" y="3269742"/>
            <a:ext cx="1108783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10305288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1.67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208776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6565392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8558784" y="3478022"/>
            <a:ext cx="108894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10305288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1.64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208776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6565392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8558784" y="3686302"/>
            <a:ext cx="106357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10305288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1.60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6208776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565392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8558784" y="3894582"/>
            <a:ext cx="104443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10305288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1.57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208776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565392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8558784" y="4102862"/>
            <a:ext cx="98668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10305288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1.48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208776" y="42590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565392" y="42590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8558784" y="4311142"/>
            <a:ext cx="97990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10305288" y="42590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1.47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6208776" y="44673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6565392" y="44673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126" name="Shape 124"/>
          <p:cNvSpPr/>
          <p:nvPr/>
        </p:nvSpPr>
        <p:spPr>
          <a:xfrm>
            <a:off x="8558784" y="4519422"/>
            <a:ext cx="96919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7" name="Text 125"/>
          <p:cNvSpPr txBox="1"/>
          <p:nvPr/>
        </p:nvSpPr>
        <p:spPr>
          <a:xfrm>
            <a:off x="10305288" y="44673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1.46</a:t>
            </a:r>
            <a:endParaRPr lang="en-US" sz="1200" dirty="0"/>
          </a:p>
        </p:txBody>
      </p:sp>
      <p:sp>
        <p:nvSpPr>
          <p:cNvPr id="128" name="Text 126"/>
          <p:cNvSpPr txBox="1"/>
          <p:nvPr/>
        </p:nvSpPr>
        <p:spPr>
          <a:xfrm>
            <a:off x="6208776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6565392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8558784" y="4727702"/>
            <a:ext cx="951153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10305288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1.43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6153912" y="4883912"/>
            <a:ext cx="5358384" cy="20828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33" name="Text 131"/>
          <p:cNvSpPr txBox="1"/>
          <p:nvPr/>
        </p:nvSpPr>
        <p:spPr>
          <a:xfrm>
            <a:off x="6208776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4" name="Text 132"/>
          <p:cNvSpPr txBox="1"/>
          <p:nvPr/>
        </p:nvSpPr>
        <p:spPr>
          <a:xfrm>
            <a:off x="6565392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8558784" y="4935982"/>
            <a:ext cx="94551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6" name="Text 134"/>
          <p:cNvSpPr txBox="1"/>
          <p:nvPr/>
        </p:nvSpPr>
        <p:spPr>
          <a:xfrm>
            <a:off x="10305288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1.42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6208776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38" name="Text 136"/>
          <p:cNvSpPr txBox="1"/>
          <p:nvPr/>
        </p:nvSpPr>
        <p:spPr>
          <a:xfrm>
            <a:off x="6565392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139" name="Shape 137"/>
          <p:cNvSpPr/>
          <p:nvPr/>
        </p:nvSpPr>
        <p:spPr>
          <a:xfrm>
            <a:off x="8558784" y="5144262"/>
            <a:ext cx="935633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10305288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1.41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208776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2" name="Text 140"/>
          <p:cNvSpPr txBox="1"/>
          <p:nvPr/>
        </p:nvSpPr>
        <p:spPr>
          <a:xfrm>
            <a:off x="6565392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8558784" y="5352542"/>
            <a:ext cx="92087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10305288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1.38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6208776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565392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47" name="Shape 145"/>
          <p:cNvSpPr/>
          <p:nvPr/>
        </p:nvSpPr>
        <p:spPr>
          <a:xfrm>
            <a:off x="8558784" y="5560822"/>
            <a:ext cx="858628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10305288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1.29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6085332" y="2176272"/>
            <a:ext cx="10973" cy="3749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 1.42: #21 of 24 non-luxury, below the 1.75 average. 4 of 9 luxury and 10 of 24 non-luxury stores at or above their average.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 · REVIEW · ACURA IN LUXURY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1.87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18470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segment ranked on its own. Green at or above its segment average, red below. Acura highlighted.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17627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· AVERAGE 2.74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36626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08376" y="2436622"/>
            <a:ext cx="165847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3.99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08376" y="2644902"/>
            <a:ext cx="165702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3.99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08376" y="2853182"/>
            <a:ext cx="144785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54880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3.48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08376" y="3061462"/>
            <a:ext cx="1447396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54880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3.48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08376" y="3269742"/>
            <a:ext cx="113471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54880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2.73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14984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08376" y="3478022"/>
            <a:ext cx="113347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54880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2.73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08376" y="3686302"/>
            <a:ext cx="103246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754880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2.48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008376" y="3894582"/>
            <a:ext cx="946630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754880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2.28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008376" y="4102862"/>
            <a:ext cx="86572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754880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2.08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03504" y="4259072"/>
            <a:ext cx="5358384" cy="20828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58368" y="42590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42590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008376" y="4311142"/>
            <a:ext cx="590130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754880" y="42590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1.42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446735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NON-LUXURY · AVERAGE 1.75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58368" y="465734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58368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1014984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008376" y="4727702"/>
            <a:ext cx="161998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754880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2.49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58368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1014984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008376" y="4935982"/>
            <a:ext cx="149544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4754880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2.30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658368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1014984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008376" y="5144262"/>
            <a:ext cx="149521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4754880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2.30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658368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1014984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3008376" y="5352542"/>
            <a:ext cx="143169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754880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2.20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658368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1014984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3008376" y="5560822"/>
            <a:ext cx="137256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4754880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2.11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658368" y="57170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1014984" y="57170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3008376" y="5769102"/>
            <a:ext cx="1313948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4754880" y="57170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2.02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6208776" y="21762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6565392" y="21762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8558784" y="2228342"/>
            <a:ext cx="1305562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10305288" y="21762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2.01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6208776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6565392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558784" y="2436622"/>
            <a:ext cx="1280216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10305288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1.97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6208776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6565392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8558784" y="2644902"/>
            <a:ext cx="1272904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10305288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1.96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6208776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6565392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8558784" y="2853182"/>
            <a:ext cx="126635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10305288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1.95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208776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98" name="Text 96"/>
          <p:cNvSpPr txBox="1"/>
          <p:nvPr/>
        </p:nvSpPr>
        <p:spPr>
          <a:xfrm>
            <a:off x="6565392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8558784" y="3061462"/>
            <a:ext cx="113323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10305288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1.74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208776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6565392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8558784" y="3269742"/>
            <a:ext cx="1110428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10305288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1.71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6208776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565392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8558784" y="3478022"/>
            <a:ext cx="108305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10305288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1.67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6208776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110" name="Text 108"/>
          <p:cNvSpPr txBox="1"/>
          <p:nvPr/>
        </p:nvSpPr>
        <p:spPr>
          <a:xfrm>
            <a:off x="6565392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8558784" y="3686302"/>
            <a:ext cx="106367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10305288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1.64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208776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114" name="Text 112"/>
          <p:cNvSpPr txBox="1"/>
          <p:nvPr/>
        </p:nvSpPr>
        <p:spPr>
          <a:xfrm>
            <a:off x="6565392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8558784" y="3894582"/>
            <a:ext cx="103889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10305288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1.60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208776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6565392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8558784" y="4102862"/>
            <a:ext cx="102020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10305288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1.57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208776" y="42590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22" name="Text 120"/>
          <p:cNvSpPr txBox="1"/>
          <p:nvPr/>
        </p:nvSpPr>
        <p:spPr>
          <a:xfrm>
            <a:off x="6565392" y="42590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8558784" y="4311142"/>
            <a:ext cx="96378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10305288" y="42590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1.48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44673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26" name="Text 124"/>
          <p:cNvSpPr txBox="1"/>
          <p:nvPr/>
        </p:nvSpPr>
        <p:spPr>
          <a:xfrm>
            <a:off x="6565392" y="44673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8558784" y="4519422"/>
            <a:ext cx="957163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10305288" y="44673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1.47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6208776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30" name="Text 128"/>
          <p:cNvSpPr txBox="1"/>
          <p:nvPr/>
        </p:nvSpPr>
        <p:spPr>
          <a:xfrm>
            <a:off x="6565392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8558784" y="4727702"/>
            <a:ext cx="946708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10305288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1.46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6208776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34" name="Text 132"/>
          <p:cNvSpPr txBox="1"/>
          <p:nvPr/>
        </p:nvSpPr>
        <p:spPr>
          <a:xfrm>
            <a:off x="6565392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8558784" y="4935982"/>
            <a:ext cx="92908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6" name="Text 134"/>
          <p:cNvSpPr txBox="1"/>
          <p:nvPr/>
        </p:nvSpPr>
        <p:spPr>
          <a:xfrm>
            <a:off x="10305288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1.43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6208776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8" name="Text 136"/>
          <p:cNvSpPr txBox="1"/>
          <p:nvPr/>
        </p:nvSpPr>
        <p:spPr>
          <a:xfrm>
            <a:off x="6565392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139" name="Shape 137"/>
          <p:cNvSpPr/>
          <p:nvPr/>
        </p:nvSpPr>
        <p:spPr>
          <a:xfrm>
            <a:off x="8558784" y="5144262"/>
            <a:ext cx="91392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10305288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1.41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208776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42" name="Text 140"/>
          <p:cNvSpPr txBox="1"/>
          <p:nvPr/>
        </p:nvSpPr>
        <p:spPr>
          <a:xfrm>
            <a:off x="6565392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8558784" y="5352542"/>
            <a:ext cx="899503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10305288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1.38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6208776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565392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47" name="Shape 145"/>
          <p:cNvSpPr/>
          <p:nvPr/>
        </p:nvSpPr>
        <p:spPr>
          <a:xfrm>
            <a:off x="8558784" y="5560822"/>
            <a:ext cx="838705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10305288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1.29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6085332" y="2176272"/>
            <a:ext cx="10973" cy="3749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 1.42: #10 of 10 luxury, below the 2.74 average. 4 of 10 luxury and 10 of 23 non-luxury stores at or above their average.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 · REVIEW · ACURA IN NON-LUXURY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$162.42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18470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segment ranked on its own. Green at or above its segment average, red below. Acura highlighted.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17627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· AVERAGE $217.79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36626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08376" y="2436622"/>
            <a:ext cx="1457852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$266.32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08376" y="2644902"/>
            <a:ext cx="128674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$235.07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08376" y="2853182"/>
            <a:ext cx="1283929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54880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$234.55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08376" y="3061462"/>
            <a:ext cx="127977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54880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$233.79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08376" y="3269742"/>
            <a:ext cx="1277948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54880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$233.46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14984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08376" y="3478022"/>
            <a:ext cx="121586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54880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$222.12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08376" y="3686302"/>
            <a:ext cx="105805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754880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$193.29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008376" y="3894582"/>
            <a:ext cx="93064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754880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$170.01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008376" y="4102862"/>
            <a:ext cx="91763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754880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$167.64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425907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NON-LUXURY · AVERAGE $151.32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58368" y="444906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52" name="Shape 50"/>
          <p:cNvSpPr/>
          <p:nvPr/>
        </p:nvSpPr>
        <p:spPr>
          <a:xfrm>
            <a:off x="603504" y="4467352"/>
            <a:ext cx="5358384" cy="20828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58368" y="44673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1014984" y="44673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008376" y="4519422"/>
            <a:ext cx="165847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4754880" y="44673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$210.50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658368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1014984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008376" y="4727702"/>
            <a:ext cx="1385836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754880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$175.90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58368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1014984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008376" y="4935982"/>
            <a:ext cx="131136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4754880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$166.44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658368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1014984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008376" y="5144262"/>
            <a:ext cx="128925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4754880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$163.64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658368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1014984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3008376" y="5352542"/>
            <a:ext cx="1283069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754880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$162.85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658368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1014984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3008376" y="5560822"/>
            <a:ext cx="126580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4754880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$160.66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658368" y="57170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1014984" y="57170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3008376" y="5769102"/>
            <a:ext cx="125720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4754880" y="57170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$159.57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6208776" y="21762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6565392" y="21762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8558784" y="2228342"/>
            <a:ext cx="1255672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10305288" y="21762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$159.38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6208776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6565392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558784" y="2436622"/>
            <a:ext cx="123962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10305288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$157.34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6208776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6565392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8558784" y="2644902"/>
            <a:ext cx="123053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10305288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$156.18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6208776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6565392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8558784" y="2853182"/>
            <a:ext cx="121733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10305288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$154.51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208776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98" name="Text 96"/>
          <p:cNvSpPr txBox="1"/>
          <p:nvPr/>
        </p:nvSpPr>
        <p:spPr>
          <a:xfrm>
            <a:off x="6565392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8558784" y="3061462"/>
            <a:ext cx="1207702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10305288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$153.29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208776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6565392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8558784" y="3269742"/>
            <a:ext cx="1175735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10305288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$149.23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6208776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565392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8558784" y="3478022"/>
            <a:ext cx="116786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10305288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$148.23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6208776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110" name="Text 108"/>
          <p:cNvSpPr txBox="1"/>
          <p:nvPr/>
        </p:nvSpPr>
        <p:spPr>
          <a:xfrm>
            <a:off x="6565392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8558784" y="3686302"/>
            <a:ext cx="113843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10305288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$144.50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208776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14" name="Text 112"/>
          <p:cNvSpPr txBox="1"/>
          <p:nvPr/>
        </p:nvSpPr>
        <p:spPr>
          <a:xfrm>
            <a:off x="6565392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8558784" y="3894582"/>
            <a:ext cx="113367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10305288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$143.89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208776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6565392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8558784" y="4102862"/>
            <a:ext cx="112709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10305288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$143.06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208776" y="42590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22" name="Text 120"/>
          <p:cNvSpPr txBox="1"/>
          <p:nvPr/>
        </p:nvSpPr>
        <p:spPr>
          <a:xfrm>
            <a:off x="6565392" y="42590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8558784" y="4311142"/>
            <a:ext cx="1125055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10305288" y="42590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$142.80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44673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26" name="Text 124"/>
          <p:cNvSpPr txBox="1"/>
          <p:nvPr/>
        </p:nvSpPr>
        <p:spPr>
          <a:xfrm>
            <a:off x="6565392" y="44673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8558784" y="4519422"/>
            <a:ext cx="111170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10305288" y="44673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$141.10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6208776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30" name="Text 128"/>
          <p:cNvSpPr txBox="1"/>
          <p:nvPr/>
        </p:nvSpPr>
        <p:spPr>
          <a:xfrm>
            <a:off x="6565392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8558784" y="4727702"/>
            <a:ext cx="109615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10305288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$139.13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6208776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4" name="Text 132"/>
          <p:cNvSpPr txBox="1"/>
          <p:nvPr/>
        </p:nvSpPr>
        <p:spPr>
          <a:xfrm>
            <a:off x="6565392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8558784" y="4935982"/>
            <a:ext cx="109106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6" name="Text 134"/>
          <p:cNvSpPr txBox="1"/>
          <p:nvPr/>
        </p:nvSpPr>
        <p:spPr>
          <a:xfrm>
            <a:off x="10305288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$138.48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6208776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38" name="Text 136"/>
          <p:cNvSpPr txBox="1"/>
          <p:nvPr/>
        </p:nvSpPr>
        <p:spPr>
          <a:xfrm>
            <a:off x="6565392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39" name="Shape 137"/>
          <p:cNvSpPr/>
          <p:nvPr/>
        </p:nvSpPr>
        <p:spPr>
          <a:xfrm>
            <a:off x="8558784" y="5144262"/>
            <a:ext cx="106484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10305288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$135.15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208776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2" name="Text 140"/>
          <p:cNvSpPr txBox="1"/>
          <p:nvPr/>
        </p:nvSpPr>
        <p:spPr>
          <a:xfrm>
            <a:off x="6565392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8558784" y="5352542"/>
            <a:ext cx="1027823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10305288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$130.46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6208776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565392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47" name="Shape 145"/>
          <p:cNvSpPr/>
          <p:nvPr/>
        </p:nvSpPr>
        <p:spPr>
          <a:xfrm>
            <a:off x="8558784" y="5560822"/>
            <a:ext cx="99340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10305288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$126.09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6085332" y="2176272"/>
            <a:ext cx="10973" cy="3749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 $210.50: #1 of 24 non-luxury, above the $151.32 average. 6 of 9 luxury and 12 of 24 non-luxury stores at or above their average.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 · REVIEW · ACURA IN LUXURY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$162.42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18470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segment ranked on its own. Green at or above its segment average, red below. Acura highlighted.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17627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· AVERAGE $217.38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36626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08376" y="2436622"/>
            <a:ext cx="165847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$266.32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08376" y="2644902"/>
            <a:ext cx="1463812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$235.07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08376" y="2853182"/>
            <a:ext cx="146061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54880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$234.55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08376" y="3061462"/>
            <a:ext cx="145588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54880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$233.79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08376" y="3269742"/>
            <a:ext cx="1453809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54880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$233.46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14984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08376" y="3478022"/>
            <a:ext cx="138317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54880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$222.12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3504" y="3634232"/>
            <a:ext cx="5358384" cy="20828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58368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14984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008376" y="3686302"/>
            <a:ext cx="131084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754880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$210.50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14984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008376" y="3894582"/>
            <a:ext cx="1203655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754880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$193.29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14984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008376" y="4102862"/>
            <a:ext cx="105870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754880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$170.01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42590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42590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008376" y="4311142"/>
            <a:ext cx="104390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754880" y="42590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$167.64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446735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NON-LUXURY · AVERAGE $150.60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58368" y="465734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58368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1014984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008376" y="4727702"/>
            <a:ext cx="1581059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754880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$175.90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58368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1014984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008376" y="4935982"/>
            <a:ext cx="1496092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4754880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$166.44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658368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1014984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008376" y="5144262"/>
            <a:ext cx="1470868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4754880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$163.64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658368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1014984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3008376" y="5352542"/>
            <a:ext cx="1463815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754880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$162.85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658368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1014984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3008376" y="5560822"/>
            <a:ext cx="1444114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4754880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$160.66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658368" y="57170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1014984" y="57170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3008376" y="5769102"/>
            <a:ext cx="1434302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4754880" y="57170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$159.57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6208776" y="21762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6565392" y="21762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8558784" y="2228342"/>
            <a:ext cx="1432559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10305288" y="21762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$159.38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6208776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6565392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558784" y="2436622"/>
            <a:ext cx="1414246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10305288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$157.34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6208776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6565392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8558784" y="2644902"/>
            <a:ext cx="1403875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10305288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$156.18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6208776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6565392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8558784" y="2853182"/>
            <a:ext cx="1388816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10305288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$154.51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208776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98" name="Text 96"/>
          <p:cNvSpPr txBox="1"/>
          <p:nvPr/>
        </p:nvSpPr>
        <p:spPr>
          <a:xfrm>
            <a:off x="6565392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8558784" y="3061462"/>
            <a:ext cx="137783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10305288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$153.29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208776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6565392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8558784" y="3269742"/>
            <a:ext cx="134136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10305288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$149.23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6208776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565392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8558784" y="3478022"/>
            <a:ext cx="133238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10305288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$148.23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6208776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110" name="Text 108"/>
          <p:cNvSpPr txBox="1"/>
          <p:nvPr/>
        </p:nvSpPr>
        <p:spPr>
          <a:xfrm>
            <a:off x="6565392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8558784" y="3686302"/>
            <a:ext cx="1298805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10305288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$144.50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208776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114" name="Text 112"/>
          <p:cNvSpPr txBox="1"/>
          <p:nvPr/>
        </p:nvSpPr>
        <p:spPr>
          <a:xfrm>
            <a:off x="6565392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8558784" y="3894582"/>
            <a:ext cx="129337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10305288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$143.89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208776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6565392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8558784" y="4102862"/>
            <a:ext cx="128586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10305288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$143.06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208776" y="42590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22" name="Text 120"/>
          <p:cNvSpPr txBox="1"/>
          <p:nvPr/>
        </p:nvSpPr>
        <p:spPr>
          <a:xfrm>
            <a:off x="6565392" y="42590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8558784" y="4311142"/>
            <a:ext cx="128354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10305288" y="42590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$142.80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44673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26" name="Text 124"/>
          <p:cNvSpPr txBox="1"/>
          <p:nvPr/>
        </p:nvSpPr>
        <p:spPr>
          <a:xfrm>
            <a:off x="6565392" y="44673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8558784" y="4519422"/>
            <a:ext cx="1268313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10305288" y="44673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$141.10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6208776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30" name="Text 128"/>
          <p:cNvSpPr txBox="1"/>
          <p:nvPr/>
        </p:nvSpPr>
        <p:spPr>
          <a:xfrm>
            <a:off x="6565392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8558784" y="4727702"/>
            <a:ext cx="1250568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10305288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$139.13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6208776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34" name="Text 132"/>
          <p:cNvSpPr txBox="1"/>
          <p:nvPr/>
        </p:nvSpPr>
        <p:spPr>
          <a:xfrm>
            <a:off x="6565392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8558784" y="4935982"/>
            <a:ext cx="1244760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6" name="Text 134"/>
          <p:cNvSpPr txBox="1"/>
          <p:nvPr/>
        </p:nvSpPr>
        <p:spPr>
          <a:xfrm>
            <a:off x="10305288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$138.48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6208776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8" name="Text 136"/>
          <p:cNvSpPr txBox="1"/>
          <p:nvPr/>
        </p:nvSpPr>
        <p:spPr>
          <a:xfrm>
            <a:off x="6565392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39" name="Shape 137"/>
          <p:cNvSpPr/>
          <p:nvPr/>
        </p:nvSpPr>
        <p:spPr>
          <a:xfrm>
            <a:off x="8558784" y="5144262"/>
            <a:ext cx="1214845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10305288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$135.15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208776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42" name="Text 140"/>
          <p:cNvSpPr txBox="1"/>
          <p:nvPr/>
        </p:nvSpPr>
        <p:spPr>
          <a:xfrm>
            <a:off x="6565392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8558784" y="5352542"/>
            <a:ext cx="117261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10305288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$130.46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6208776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565392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47" name="Shape 145"/>
          <p:cNvSpPr/>
          <p:nvPr/>
        </p:nvSpPr>
        <p:spPr>
          <a:xfrm>
            <a:off x="8558784" y="5560822"/>
            <a:ext cx="113335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10305288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$126.09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6085332" y="2176272"/>
            <a:ext cx="10973" cy="3749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 $210.50: #7 of 10 luxury, below the $217.38 average. 6 of 10 luxury and 11 of 23 non-luxury stores at or above their average.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 · REVIEW · ACURA IN NON-LUXURY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18470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segment ranked on its own. Green at or above its segment average, red below. Acura highlighted.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17627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· AVERAGE $632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36626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08376" y="2436622"/>
            <a:ext cx="165847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$933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08376" y="2644902"/>
            <a:ext cx="1654662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$931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08376" y="2853182"/>
            <a:ext cx="164932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54880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$928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08376" y="3061462"/>
            <a:ext cx="1452099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54880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$817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08376" y="3269742"/>
            <a:ext cx="113964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54880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$641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14984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08376" y="3478022"/>
            <a:ext cx="89935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54880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08376" y="3686302"/>
            <a:ext cx="825155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754880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$464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008376" y="3894582"/>
            <a:ext cx="74030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754880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$416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008376" y="4102862"/>
            <a:ext cx="71574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754880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$403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425907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NON-LUXURY · AVERAGE $264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58368" y="444906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58368" y="44673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014984" y="44673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008376" y="4519422"/>
            <a:ext cx="1653705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754880" y="44673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$389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14984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008376" y="4727702"/>
            <a:ext cx="1577968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4754880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$371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58368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014984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008376" y="4935982"/>
            <a:ext cx="150338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4754880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$354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658368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1014984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008376" y="5144262"/>
            <a:ext cx="141232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4754880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$332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1014984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008376" y="5352542"/>
            <a:ext cx="135334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4754880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$318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658368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1014984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3008376" y="5560822"/>
            <a:ext cx="1320726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4754880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$311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57170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1014984" y="57170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008376" y="5769102"/>
            <a:ext cx="1282619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4754880" y="57170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$302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208776" y="21762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6565392" y="21762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8558784" y="2228342"/>
            <a:ext cx="127299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10305288" y="21762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$299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6153912" y="2384552"/>
            <a:ext cx="5358384" cy="20828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6208776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6565392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558784" y="2436622"/>
            <a:ext cx="127067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10305288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$299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6208776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6565392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8558784" y="2644902"/>
            <a:ext cx="122783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10305288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$289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6208776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6565392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8558784" y="2853182"/>
            <a:ext cx="119017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10305288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$280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208776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98" name="Text 96"/>
          <p:cNvSpPr txBox="1"/>
          <p:nvPr/>
        </p:nvSpPr>
        <p:spPr>
          <a:xfrm>
            <a:off x="6565392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8558784" y="3061462"/>
            <a:ext cx="1165364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10305288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$274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208776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6565392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8558784" y="3269742"/>
            <a:ext cx="1152802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10305288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$271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6208776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565392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8558784" y="3478022"/>
            <a:ext cx="1012530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10305288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$238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6208776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110" name="Text 108"/>
          <p:cNvSpPr txBox="1"/>
          <p:nvPr/>
        </p:nvSpPr>
        <p:spPr>
          <a:xfrm>
            <a:off x="6565392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8558784" y="3686302"/>
            <a:ext cx="101071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10305288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$238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208776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14" name="Text 112"/>
          <p:cNvSpPr txBox="1"/>
          <p:nvPr/>
        </p:nvSpPr>
        <p:spPr>
          <a:xfrm>
            <a:off x="6565392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8558784" y="3894582"/>
            <a:ext cx="99506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10305288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208776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6565392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8558784" y="4102862"/>
            <a:ext cx="98091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10305288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$231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208776" y="42590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22" name="Text 120"/>
          <p:cNvSpPr txBox="1"/>
          <p:nvPr/>
        </p:nvSpPr>
        <p:spPr>
          <a:xfrm>
            <a:off x="6565392" y="42590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8558784" y="4311142"/>
            <a:ext cx="96660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10305288" y="42590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$227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44673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26" name="Text 124"/>
          <p:cNvSpPr txBox="1"/>
          <p:nvPr/>
        </p:nvSpPr>
        <p:spPr>
          <a:xfrm>
            <a:off x="6565392" y="44673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8558784" y="4519422"/>
            <a:ext cx="94470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10305288" y="44673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$222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6208776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30" name="Text 128"/>
          <p:cNvSpPr txBox="1"/>
          <p:nvPr/>
        </p:nvSpPr>
        <p:spPr>
          <a:xfrm>
            <a:off x="6565392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8558784" y="4727702"/>
            <a:ext cx="93698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10305288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$220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6208776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4" name="Text 132"/>
          <p:cNvSpPr txBox="1"/>
          <p:nvPr/>
        </p:nvSpPr>
        <p:spPr>
          <a:xfrm>
            <a:off x="6565392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8558784" y="4935982"/>
            <a:ext cx="90694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6" name="Text 134"/>
          <p:cNvSpPr txBox="1"/>
          <p:nvPr/>
        </p:nvSpPr>
        <p:spPr>
          <a:xfrm>
            <a:off x="10305288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$213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6208776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38" name="Text 136"/>
          <p:cNvSpPr txBox="1"/>
          <p:nvPr/>
        </p:nvSpPr>
        <p:spPr>
          <a:xfrm>
            <a:off x="6565392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139" name="Shape 137"/>
          <p:cNvSpPr/>
          <p:nvPr/>
        </p:nvSpPr>
        <p:spPr>
          <a:xfrm>
            <a:off x="8558784" y="5144262"/>
            <a:ext cx="85297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10305288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$201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208776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2" name="Text 140"/>
          <p:cNvSpPr txBox="1"/>
          <p:nvPr/>
        </p:nvSpPr>
        <p:spPr>
          <a:xfrm>
            <a:off x="6565392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8558784" y="5352542"/>
            <a:ext cx="79426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10305288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$187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6208776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565392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47" name="Shape 145"/>
          <p:cNvSpPr/>
          <p:nvPr/>
        </p:nvSpPr>
        <p:spPr>
          <a:xfrm>
            <a:off x="8558784" y="5560822"/>
            <a:ext cx="773488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10305288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$182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6085332" y="2176272"/>
            <a:ext cx="10973" cy="3749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 $299: #9 of 24 non-luxury, above the $264 average. 5 of 9 luxury and 13 of 24 non-luxury stores at or above their average.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 · REVIEW · ACURA IN LUXURY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18470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segment ranked on its own. Green at or above its segment average, red below. Acura highlighted.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17627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· AVERAGE $596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36626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08376" y="2436622"/>
            <a:ext cx="165847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$933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08376" y="2644902"/>
            <a:ext cx="1654662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$931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08376" y="2853182"/>
            <a:ext cx="164932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54880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$928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08376" y="3061462"/>
            <a:ext cx="1452099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54880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$817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08376" y="3269742"/>
            <a:ext cx="113964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54880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$641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14984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08376" y="3478022"/>
            <a:ext cx="89935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54880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08376" y="3686302"/>
            <a:ext cx="825155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754880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$464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008376" y="3894582"/>
            <a:ext cx="74030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754880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$416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008376" y="4102862"/>
            <a:ext cx="71574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754880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$403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03504" y="4259072"/>
            <a:ext cx="5358384" cy="20828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58368" y="42590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42590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008376" y="4311142"/>
            <a:ext cx="53133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754880" y="42590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$299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446735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NON-LUXURY · AVERAGE $264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58368" y="465734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58368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1014984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008376" y="4727702"/>
            <a:ext cx="1562116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754880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$389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58368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1014984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008376" y="4935982"/>
            <a:ext cx="149057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4754880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$371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658368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1014984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008376" y="5144262"/>
            <a:ext cx="1420118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4754880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$354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658368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1014984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3008376" y="5352542"/>
            <a:ext cx="133410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754880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$332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658368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1014984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3008376" y="5560822"/>
            <a:ext cx="1278386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4754880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$318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658368" y="57170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1014984" y="57170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3008376" y="5769102"/>
            <a:ext cx="1247578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4754880" y="57170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$311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6208776" y="21762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6565392" y="21762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8558784" y="2228342"/>
            <a:ext cx="1211582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10305288" y="21762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$302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6208776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6565392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558784" y="2436622"/>
            <a:ext cx="1202486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10305288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$299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6208776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6565392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8558784" y="2644902"/>
            <a:ext cx="1159834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10305288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$289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6208776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6565392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8558784" y="2853182"/>
            <a:ext cx="112425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10305288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$280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208776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98" name="Text 96"/>
          <p:cNvSpPr txBox="1"/>
          <p:nvPr/>
        </p:nvSpPr>
        <p:spPr>
          <a:xfrm>
            <a:off x="6565392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8558784" y="3061462"/>
            <a:ext cx="110082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10305288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$274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208776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6565392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8558784" y="3269742"/>
            <a:ext cx="1088955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10305288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$271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6208776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565392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8558784" y="3478022"/>
            <a:ext cx="95645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10305288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$238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6208776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110" name="Text 108"/>
          <p:cNvSpPr txBox="1"/>
          <p:nvPr/>
        </p:nvSpPr>
        <p:spPr>
          <a:xfrm>
            <a:off x="6565392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8558784" y="3686302"/>
            <a:ext cx="95474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10305288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$238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208776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114" name="Text 112"/>
          <p:cNvSpPr txBox="1"/>
          <p:nvPr/>
        </p:nvSpPr>
        <p:spPr>
          <a:xfrm>
            <a:off x="6565392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8558784" y="3894582"/>
            <a:ext cx="939953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10305288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208776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6565392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8558784" y="4102862"/>
            <a:ext cx="92658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10305288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$231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208776" y="42590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22" name="Text 120"/>
          <p:cNvSpPr txBox="1"/>
          <p:nvPr/>
        </p:nvSpPr>
        <p:spPr>
          <a:xfrm>
            <a:off x="6565392" y="42590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8558784" y="4311142"/>
            <a:ext cx="913070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10305288" y="42590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$227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44673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26" name="Text 124"/>
          <p:cNvSpPr txBox="1"/>
          <p:nvPr/>
        </p:nvSpPr>
        <p:spPr>
          <a:xfrm>
            <a:off x="6565392" y="44673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8558784" y="4519422"/>
            <a:ext cx="89238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10305288" y="44673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$222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6208776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30" name="Text 128"/>
          <p:cNvSpPr txBox="1"/>
          <p:nvPr/>
        </p:nvSpPr>
        <p:spPr>
          <a:xfrm>
            <a:off x="6565392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8558784" y="4727702"/>
            <a:ext cx="88509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10305288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$220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6208776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34" name="Text 132"/>
          <p:cNvSpPr txBox="1"/>
          <p:nvPr/>
        </p:nvSpPr>
        <p:spPr>
          <a:xfrm>
            <a:off x="6565392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8558784" y="4935982"/>
            <a:ext cx="85671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6" name="Text 134"/>
          <p:cNvSpPr txBox="1"/>
          <p:nvPr/>
        </p:nvSpPr>
        <p:spPr>
          <a:xfrm>
            <a:off x="10305288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$213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6208776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8" name="Text 136"/>
          <p:cNvSpPr txBox="1"/>
          <p:nvPr/>
        </p:nvSpPr>
        <p:spPr>
          <a:xfrm>
            <a:off x="6565392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139" name="Shape 137"/>
          <p:cNvSpPr/>
          <p:nvPr/>
        </p:nvSpPr>
        <p:spPr>
          <a:xfrm>
            <a:off x="8558784" y="5144262"/>
            <a:ext cx="80573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10305288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$201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208776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42" name="Text 140"/>
          <p:cNvSpPr txBox="1"/>
          <p:nvPr/>
        </p:nvSpPr>
        <p:spPr>
          <a:xfrm>
            <a:off x="6565392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8558784" y="5352542"/>
            <a:ext cx="75027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10305288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$187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6208776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565392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47" name="Shape 145"/>
          <p:cNvSpPr/>
          <p:nvPr/>
        </p:nvSpPr>
        <p:spPr>
          <a:xfrm>
            <a:off x="8558784" y="5560822"/>
            <a:ext cx="73064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10305288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$182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6085332" y="2176272"/>
            <a:ext cx="10973" cy="3749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 $299: #10 of 10 luxury, below the $596 average. 5 of 10 luxury and 12 of 23 non-luxury stores at or above their average.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PRODUCTIVITY · REVIEW · ACURA IN NON-LUXURY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&amp; W ROs per Service Advisor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36804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&amp; W ROS PER SERVICE ADVISOR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94860" y="1335024"/>
            <a:ext cx="3451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166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18470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segment ranked on its own. Green at or above its segment average, red below. Acura highlighted.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17627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· AVERAGE 123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36626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08376" y="2436622"/>
            <a:ext cx="165847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08376" y="2644902"/>
            <a:ext cx="163634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08376" y="2853182"/>
            <a:ext cx="1373312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54880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08376" y="3061462"/>
            <a:ext cx="113639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54880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08376" y="3269742"/>
            <a:ext cx="1062404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54880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124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14984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08376" y="3478022"/>
            <a:ext cx="94929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54880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111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08376" y="3686302"/>
            <a:ext cx="762245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754880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008376" y="3894582"/>
            <a:ext cx="72895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754880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008376" y="4102862"/>
            <a:ext cx="60509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754880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425907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NON-LUXURY · AVERAGE 176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58368" y="444906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58368" y="44673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014984" y="44673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008376" y="4519422"/>
            <a:ext cx="150324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754880" y="44673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253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14984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008376" y="4727702"/>
            <a:ext cx="144735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4754880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244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58368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014984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008376" y="4935982"/>
            <a:ext cx="1373578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4754880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231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658368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1014984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008376" y="5144262"/>
            <a:ext cx="134344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4754880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226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1014984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008376" y="5352542"/>
            <a:ext cx="1341602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4754880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226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658368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1014984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3008376" y="5560822"/>
            <a:ext cx="1333815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4754880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225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57170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1014984" y="57170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008376" y="5769102"/>
            <a:ext cx="116428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4754880" y="57170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196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208776" y="21762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6565392" y="21762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8558784" y="2228342"/>
            <a:ext cx="1134268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10305288" y="21762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191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208776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6565392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558784" y="2436622"/>
            <a:ext cx="109568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10305288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184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6208776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6565392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8558784" y="2644902"/>
            <a:ext cx="107317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10305288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181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6208776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6565392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8558784" y="2853182"/>
            <a:ext cx="1070012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10305288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180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6208776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565392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8558784" y="3061462"/>
            <a:ext cx="1057284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10305288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178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208776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565392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8558784" y="3269742"/>
            <a:ext cx="1042010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10305288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175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208776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6565392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8558784" y="3478022"/>
            <a:ext cx="1021645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10305288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172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208776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6565392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8558784" y="3686302"/>
            <a:ext cx="98175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10305288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165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6208776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565392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8558784" y="3894582"/>
            <a:ext cx="943933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10305288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159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208776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565392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8558784" y="4102862"/>
            <a:ext cx="91208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10305288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154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208776" y="42590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565392" y="42590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8558784" y="4311142"/>
            <a:ext cx="84888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10305288" y="42590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143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6208776" y="44673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6565392" y="44673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26" name="Shape 124"/>
          <p:cNvSpPr/>
          <p:nvPr/>
        </p:nvSpPr>
        <p:spPr>
          <a:xfrm>
            <a:off x="8558784" y="4519422"/>
            <a:ext cx="82320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7" name="Text 125"/>
          <p:cNvSpPr txBox="1"/>
          <p:nvPr/>
        </p:nvSpPr>
        <p:spPr>
          <a:xfrm>
            <a:off x="10305288" y="44673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139</a:t>
            </a:r>
            <a:endParaRPr lang="en-US" sz="1200" dirty="0"/>
          </a:p>
        </p:txBody>
      </p:sp>
      <p:sp>
        <p:nvSpPr>
          <p:cNvPr id="128" name="Text 126"/>
          <p:cNvSpPr txBox="1"/>
          <p:nvPr/>
        </p:nvSpPr>
        <p:spPr>
          <a:xfrm>
            <a:off x="6208776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6565392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8558784" y="4727702"/>
            <a:ext cx="759533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10305288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</a:t>
            </a:r>
            <a:endParaRPr lang="en-US" sz="1200" dirty="0"/>
          </a:p>
        </p:txBody>
      </p:sp>
      <p:sp>
        <p:nvSpPr>
          <p:cNvPr id="132" name="Text 130"/>
          <p:cNvSpPr txBox="1"/>
          <p:nvPr/>
        </p:nvSpPr>
        <p:spPr>
          <a:xfrm>
            <a:off x="6208776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6565392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134" name="Shape 132"/>
          <p:cNvSpPr/>
          <p:nvPr/>
        </p:nvSpPr>
        <p:spPr>
          <a:xfrm>
            <a:off x="8558784" y="4935982"/>
            <a:ext cx="72974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5" name="Text 133"/>
          <p:cNvSpPr txBox="1"/>
          <p:nvPr/>
        </p:nvSpPr>
        <p:spPr>
          <a:xfrm>
            <a:off x="10305288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123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6208776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6565392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8558784" y="5144262"/>
            <a:ext cx="70997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9" name="Text 137"/>
          <p:cNvSpPr txBox="1"/>
          <p:nvPr/>
        </p:nvSpPr>
        <p:spPr>
          <a:xfrm>
            <a:off x="10305288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</a:t>
            </a:r>
            <a:endParaRPr lang="en-US" sz="1200" dirty="0"/>
          </a:p>
        </p:txBody>
      </p:sp>
      <p:sp>
        <p:nvSpPr>
          <p:cNvPr id="140" name="Text 138"/>
          <p:cNvSpPr txBox="1"/>
          <p:nvPr/>
        </p:nvSpPr>
        <p:spPr>
          <a:xfrm>
            <a:off x="6208776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565392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8558784" y="5352542"/>
            <a:ext cx="70361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10305288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118</a:t>
            </a:r>
            <a:endParaRPr lang="en-US" sz="1200" dirty="0"/>
          </a:p>
        </p:txBody>
      </p:sp>
      <p:sp>
        <p:nvSpPr>
          <p:cNvPr id="144" name="Shape 142"/>
          <p:cNvSpPr/>
          <p:nvPr/>
        </p:nvSpPr>
        <p:spPr>
          <a:xfrm>
            <a:off x="6153912" y="5508752"/>
            <a:ext cx="5358384" cy="20828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45" name="Text 143"/>
          <p:cNvSpPr txBox="1"/>
          <p:nvPr/>
        </p:nvSpPr>
        <p:spPr>
          <a:xfrm>
            <a:off x="6208776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565392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147" name="Shape 145"/>
          <p:cNvSpPr/>
          <p:nvPr/>
        </p:nvSpPr>
        <p:spPr>
          <a:xfrm>
            <a:off x="8558784" y="5560822"/>
            <a:ext cx="69241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10305288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117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6085332" y="2176272"/>
            <a:ext cx="10973" cy="3749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 117: #24 of 24 non-luxury, below the 176 average. 5 of 9 luxury and 12 of 24 non-luxury stores at or above their average.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PRODUCTIVITY · REVIEW · ACURA IN LUXURY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&amp; W ROs per Service Advisor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36804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&amp; W ROS PER SERVICE ADVISOR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94860" y="1335024"/>
            <a:ext cx="3451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166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18470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segment ranked on its own. Green at or above its segment average, red below. Acura highlighted.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17627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· AVERAGE 122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36626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08376" y="2436622"/>
            <a:ext cx="165847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08376" y="2644902"/>
            <a:ext cx="163634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08376" y="2853182"/>
            <a:ext cx="1373312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54880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08376" y="3061462"/>
            <a:ext cx="113639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54880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08376" y="3269742"/>
            <a:ext cx="1062404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54880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3504" y="3425952"/>
            <a:ext cx="5358384" cy="20828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8368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008376" y="3478022"/>
            <a:ext cx="995028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754880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117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14984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008376" y="3686302"/>
            <a:ext cx="94929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754880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111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14984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008376" y="3894582"/>
            <a:ext cx="762245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754880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14984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008376" y="4102862"/>
            <a:ext cx="72895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754880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42590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42590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008376" y="4311142"/>
            <a:ext cx="60509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754880" y="42590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446735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NON-LUXURY · AVERAGE 178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58368" y="465734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58368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1014984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008376" y="4727702"/>
            <a:ext cx="148463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754880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253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58368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1014984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008376" y="4935982"/>
            <a:ext cx="142944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4754880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244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658368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1014984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008376" y="5144262"/>
            <a:ext cx="1356576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4754880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231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658368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1014984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3008376" y="5352542"/>
            <a:ext cx="132681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754880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226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658368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1014984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3008376" y="5560822"/>
            <a:ext cx="1324996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4754880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226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658368" y="57170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1014984" y="57170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3008376" y="5769102"/>
            <a:ext cx="1317304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4754880" y="57170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225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6208776" y="21762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6565392" y="21762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8558784" y="2228342"/>
            <a:ext cx="114987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10305288" y="21762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196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6208776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6565392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558784" y="2436622"/>
            <a:ext cx="112022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10305288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191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6208776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6565392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8558784" y="2644902"/>
            <a:ext cx="1082118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10305288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184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6208776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6565392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8558784" y="2853182"/>
            <a:ext cx="1059889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10305288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181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208776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98" name="Text 96"/>
          <p:cNvSpPr txBox="1"/>
          <p:nvPr/>
        </p:nvSpPr>
        <p:spPr>
          <a:xfrm>
            <a:off x="6565392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8558784" y="3061462"/>
            <a:ext cx="105676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10305288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180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208776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6565392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8558784" y="3269742"/>
            <a:ext cx="104419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10305288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178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6208776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565392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8558784" y="3478022"/>
            <a:ext cx="102911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10305288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175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6208776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110" name="Text 108"/>
          <p:cNvSpPr txBox="1"/>
          <p:nvPr/>
        </p:nvSpPr>
        <p:spPr>
          <a:xfrm>
            <a:off x="6565392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8558784" y="3686302"/>
            <a:ext cx="100899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10305288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172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208776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114" name="Text 112"/>
          <p:cNvSpPr txBox="1"/>
          <p:nvPr/>
        </p:nvSpPr>
        <p:spPr>
          <a:xfrm>
            <a:off x="6565392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8558784" y="3894582"/>
            <a:ext cx="96960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10305288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165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208776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6565392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8558784" y="4102862"/>
            <a:ext cx="93224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10305288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159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208776" y="42590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22" name="Text 120"/>
          <p:cNvSpPr txBox="1"/>
          <p:nvPr/>
        </p:nvSpPr>
        <p:spPr>
          <a:xfrm>
            <a:off x="6565392" y="42590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8558784" y="4311142"/>
            <a:ext cx="90079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10305288" y="42590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154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44673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26" name="Text 124"/>
          <p:cNvSpPr txBox="1"/>
          <p:nvPr/>
        </p:nvSpPr>
        <p:spPr>
          <a:xfrm>
            <a:off x="6565392" y="44673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8558784" y="4519422"/>
            <a:ext cx="838378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10305288" y="44673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143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6208776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30" name="Text 128"/>
          <p:cNvSpPr txBox="1"/>
          <p:nvPr/>
        </p:nvSpPr>
        <p:spPr>
          <a:xfrm>
            <a:off x="6565392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8558784" y="4727702"/>
            <a:ext cx="81301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10305288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139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6208776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34" name="Text 132"/>
          <p:cNvSpPr txBox="1"/>
          <p:nvPr/>
        </p:nvSpPr>
        <p:spPr>
          <a:xfrm>
            <a:off x="6565392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8558784" y="4935982"/>
            <a:ext cx="75013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6" name="Text 134"/>
          <p:cNvSpPr txBox="1"/>
          <p:nvPr/>
        </p:nvSpPr>
        <p:spPr>
          <a:xfrm>
            <a:off x="10305288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6208776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8" name="Text 136"/>
          <p:cNvSpPr txBox="1"/>
          <p:nvPr/>
        </p:nvSpPr>
        <p:spPr>
          <a:xfrm>
            <a:off x="6565392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139" name="Shape 137"/>
          <p:cNvSpPr/>
          <p:nvPr/>
        </p:nvSpPr>
        <p:spPr>
          <a:xfrm>
            <a:off x="8558784" y="5144262"/>
            <a:ext cx="72071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10305288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123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208776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42" name="Text 140"/>
          <p:cNvSpPr txBox="1"/>
          <p:nvPr/>
        </p:nvSpPr>
        <p:spPr>
          <a:xfrm>
            <a:off x="6565392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8558784" y="5352542"/>
            <a:ext cx="70118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10305288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6208776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565392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47" name="Shape 145"/>
          <p:cNvSpPr/>
          <p:nvPr/>
        </p:nvSpPr>
        <p:spPr>
          <a:xfrm>
            <a:off x="8558784" y="5560822"/>
            <a:ext cx="69490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10305288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118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6085332" y="2176272"/>
            <a:ext cx="10973" cy="3749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 117: #6 of 10 luxury, below the 122 average. 5 of 10 luxury and 12 of 23 non-luxury stores at or above their average.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PRODUCTIVITY · REVIEW · ACURA IN NON-LUXURY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&amp; W ROs per Fixed Employee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35623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&amp; W ROS PER FIXED EMPLOYEE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76750" y="1335024"/>
            <a:ext cx="35699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26.8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18470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segment ranked on its own. Green at or above its segment average, red below. Acura highlighted.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17627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· AVERAGE 17.4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36626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08376" y="2436622"/>
            <a:ext cx="165847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24.9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08376" y="2644902"/>
            <a:ext cx="1631155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08376" y="2853182"/>
            <a:ext cx="1292169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54880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08376" y="3061462"/>
            <a:ext cx="126936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54880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08376" y="3269742"/>
            <a:ext cx="112067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54880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16.8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14984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08376" y="3478022"/>
            <a:ext cx="98218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54880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14.7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08376" y="3686302"/>
            <a:ext cx="98189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754880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14.7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008376" y="3894582"/>
            <a:ext cx="98105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754880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14.7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008376" y="4102862"/>
            <a:ext cx="910335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754880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13.6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425907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NON-LUXURY · AVERAGE 29.3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58368" y="444906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58368" y="44673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014984" y="44673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008376" y="4519422"/>
            <a:ext cx="1584948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754880" y="44673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39.8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14984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008376" y="4727702"/>
            <a:ext cx="1531944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4754880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38.5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58368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014984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008376" y="4935982"/>
            <a:ext cx="1488739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4754880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37.4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658368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1014984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008376" y="5144262"/>
            <a:ext cx="1465284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4754880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36.8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1014984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008376" y="5352542"/>
            <a:ext cx="1453454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4754880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36.5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658368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1014984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3008376" y="5560822"/>
            <a:ext cx="1392914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4754880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35.0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57170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1014984" y="57170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008376" y="5769102"/>
            <a:ext cx="138209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4754880" y="57170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34.7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208776" y="21762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6565392" y="21762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8558784" y="2228342"/>
            <a:ext cx="1290776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10305288" y="21762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32.4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208776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6565392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558784" y="2436622"/>
            <a:ext cx="1250314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10305288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31.4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6208776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6565392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8558784" y="2644902"/>
            <a:ext cx="124990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10305288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31.4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6208776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6565392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8558784" y="2853182"/>
            <a:ext cx="124940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10305288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31.4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6208776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565392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8558784" y="3061462"/>
            <a:ext cx="124402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10305288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31.3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208776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565392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8558784" y="3269742"/>
            <a:ext cx="1237592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10305288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31.1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208776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6565392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8558784" y="3478022"/>
            <a:ext cx="1215849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10305288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30.6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208776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6565392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8558784" y="3686302"/>
            <a:ext cx="114686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10305288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28.8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6208776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565392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8558784" y="3894582"/>
            <a:ext cx="112293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10305288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28.2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208776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565392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8558784" y="4102862"/>
            <a:ext cx="101340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10305288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25.5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208776" y="42590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565392" y="42590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8558784" y="4311142"/>
            <a:ext cx="94075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10305288" y="42590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23.6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6208776" y="44673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6565392" y="44673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26" name="Shape 124"/>
          <p:cNvSpPr/>
          <p:nvPr/>
        </p:nvSpPr>
        <p:spPr>
          <a:xfrm>
            <a:off x="8558784" y="4519422"/>
            <a:ext cx="900750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7" name="Text 125"/>
          <p:cNvSpPr txBox="1"/>
          <p:nvPr/>
        </p:nvSpPr>
        <p:spPr>
          <a:xfrm>
            <a:off x="10305288" y="44673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22.6</a:t>
            </a:r>
            <a:endParaRPr lang="en-US" sz="1200" dirty="0"/>
          </a:p>
        </p:txBody>
      </p:sp>
      <p:sp>
        <p:nvSpPr>
          <p:cNvPr id="128" name="Text 126"/>
          <p:cNvSpPr txBox="1"/>
          <p:nvPr/>
        </p:nvSpPr>
        <p:spPr>
          <a:xfrm>
            <a:off x="6208776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6565392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8558784" y="4727702"/>
            <a:ext cx="88000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10305288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22.1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6153912" y="4883912"/>
            <a:ext cx="5358384" cy="20828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33" name="Text 131"/>
          <p:cNvSpPr txBox="1"/>
          <p:nvPr/>
        </p:nvSpPr>
        <p:spPr>
          <a:xfrm>
            <a:off x="6208776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4" name="Text 132"/>
          <p:cNvSpPr txBox="1"/>
          <p:nvPr/>
        </p:nvSpPr>
        <p:spPr>
          <a:xfrm>
            <a:off x="6565392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8558784" y="4935982"/>
            <a:ext cx="83228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6" name="Text 134"/>
          <p:cNvSpPr txBox="1"/>
          <p:nvPr/>
        </p:nvSpPr>
        <p:spPr>
          <a:xfrm>
            <a:off x="10305288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20.9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6208776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38" name="Text 136"/>
          <p:cNvSpPr txBox="1"/>
          <p:nvPr/>
        </p:nvSpPr>
        <p:spPr>
          <a:xfrm>
            <a:off x="6565392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39" name="Shape 137"/>
          <p:cNvSpPr/>
          <p:nvPr/>
        </p:nvSpPr>
        <p:spPr>
          <a:xfrm>
            <a:off x="8558784" y="5144262"/>
            <a:ext cx="808680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10305288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20.3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208776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2" name="Text 140"/>
          <p:cNvSpPr txBox="1"/>
          <p:nvPr/>
        </p:nvSpPr>
        <p:spPr>
          <a:xfrm>
            <a:off x="6565392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8558784" y="5352542"/>
            <a:ext cx="763360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10305288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19.2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6208776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565392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47" name="Shape 145"/>
          <p:cNvSpPr/>
          <p:nvPr/>
        </p:nvSpPr>
        <p:spPr>
          <a:xfrm>
            <a:off x="8558784" y="5560822"/>
            <a:ext cx="690045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10305288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17.3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6085332" y="2176272"/>
            <a:ext cx="10973" cy="3749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 20.9: #21 of 24 non-luxury, below the 29.3 average. 4 of 9 luxury and 14 of 24 non-luxury stores at or above their average.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PRODUCTIVITY · REVIEW · ACURA IN LUXURY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&amp; W ROs per Fixed Employee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35623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&amp; W ROS PER FIXED EMPLOYEE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76750" y="1335024"/>
            <a:ext cx="35699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26.8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18470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segment ranked on its own. Green at or above its segment average, red below. Acura highlighted.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17627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· AVERAGE 17.7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36626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08376" y="2436622"/>
            <a:ext cx="165847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24.9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08376" y="2644902"/>
            <a:ext cx="1631155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" y="2801112"/>
            <a:ext cx="5358384" cy="20828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08376" y="2853182"/>
            <a:ext cx="1395685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54880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20.9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4984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08376" y="3061462"/>
            <a:ext cx="1292169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754880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08376" y="3269742"/>
            <a:ext cx="126936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754880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008376" y="3478022"/>
            <a:ext cx="112067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754880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16.8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14984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008376" y="3686302"/>
            <a:ext cx="98218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754880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14.7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14984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008376" y="3894582"/>
            <a:ext cx="98189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754880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14.7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14984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008376" y="4102862"/>
            <a:ext cx="98105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754880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14.7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42590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42590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008376" y="4311142"/>
            <a:ext cx="910335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754880" y="42590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13.6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446735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NON-LUXURY · AVERAGE 29.4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58368" y="465734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58368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1014984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008376" y="4727702"/>
            <a:ext cx="1598396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754880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39.8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58368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1014984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008376" y="4935982"/>
            <a:ext cx="154494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4754880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38.5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658368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1014984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008376" y="5144262"/>
            <a:ext cx="150137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4754880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37.4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658368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1014984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3008376" y="5352542"/>
            <a:ext cx="147771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754880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36.8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658368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1014984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3008376" y="5560822"/>
            <a:ext cx="146578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4754880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36.5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658368" y="57170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1014984" y="57170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3008376" y="5769102"/>
            <a:ext cx="140473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4754880" y="57170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35.0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6208776" y="21762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6565392" y="21762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8558784" y="2228342"/>
            <a:ext cx="139381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10305288" y="21762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34.7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6208776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6565392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558784" y="2436622"/>
            <a:ext cx="1301729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10305288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32.4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6208776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6565392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8558784" y="2644902"/>
            <a:ext cx="126092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10305288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31.4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6208776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6565392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8558784" y="2853182"/>
            <a:ext cx="1260508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10305288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31.4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208776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98" name="Text 96"/>
          <p:cNvSpPr txBox="1"/>
          <p:nvPr/>
        </p:nvSpPr>
        <p:spPr>
          <a:xfrm>
            <a:off x="6565392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8558784" y="3061462"/>
            <a:ext cx="126000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10305288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31.4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208776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6565392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8558784" y="3269742"/>
            <a:ext cx="1254575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10305288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31.3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6208776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565392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8558784" y="3478022"/>
            <a:ext cx="124809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10305288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31.1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6208776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110" name="Text 108"/>
          <p:cNvSpPr txBox="1"/>
          <p:nvPr/>
        </p:nvSpPr>
        <p:spPr>
          <a:xfrm>
            <a:off x="6565392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8558784" y="3686302"/>
            <a:ext cx="1226166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10305288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30.6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208776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114" name="Text 112"/>
          <p:cNvSpPr txBox="1"/>
          <p:nvPr/>
        </p:nvSpPr>
        <p:spPr>
          <a:xfrm>
            <a:off x="6565392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8558784" y="3894582"/>
            <a:ext cx="1156600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10305288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28.8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208776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6565392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8558784" y="4102862"/>
            <a:ext cx="113246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10305288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28.2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208776" y="42590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22" name="Text 120"/>
          <p:cNvSpPr txBox="1"/>
          <p:nvPr/>
        </p:nvSpPr>
        <p:spPr>
          <a:xfrm>
            <a:off x="6565392" y="42590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8558784" y="4311142"/>
            <a:ext cx="1022005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10305288" y="42590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25.5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44673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26" name="Text 124"/>
          <p:cNvSpPr txBox="1"/>
          <p:nvPr/>
        </p:nvSpPr>
        <p:spPr>
          <a:xfrm>
            <a:off x="6565392" y="44673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8558784" y="4519422"/>
            <a:ext cx="94873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10305288" y="44673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23.6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6208776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30" name="Text 128"/>
          <p:cNvSpPr txBox="1"/>
          <p:nvPr/>
        </p:nvSpPr>
        <p:spPr>
          <a:xfrm>
            <a:off x="6565392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8558784" y="4727702"/>
            <a:ext cx="90839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10305288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22.6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6208776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34" name="Text 132"/>
          <p:cNvSpPr txBox="1"/>
          <p:nvPr/>
        </p:nvSpPr>
        <p:spPr>
          <a:xfrm>
            <a:off x="6565392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8558784" y="4935982"/>
            <a:ext cx="88747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6" name="Text 134"/>
          <p:cNvSpPr txBox="1"/>
          <p:nvPr/>
        </p:nvSpPr>
        <p:spPr>
          <a:xfrm>
            <a:off x="10305288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22.1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6208776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8" name="Text 136"/>
          <p:cNvSpPr txBox="1"/>
          <p:nvPr/>
        </p:nvSpPr>
        <p:spPr>
          <a:xfrm>
            <a:off x="6565392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39" name="Shape 137"/>
          <p:cNvSpPr/>
          <p:nvPr/>
        </p:nvSpPr>
        <p:spPr>
          <a:xfrm>
            <a:off x="8558784" y="5144262"/>
            <a:ext cx="81554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10305288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20.3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208776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42" name="Text 140"/>
          <p:cNvSpPr txBox="1"/>
          <p:nvPr/>
        </p:nvSpPr>
        <p:spPr>
          <a:xfrm>
            <a:off x="6565392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8558784" y="5352542"/>
            <a:ext cx="76983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10305288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19.2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6208776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565392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47" name="Shape 145"/>
          <p:cNvSpPr/>
          <p:nvPr/>
        </p:nvSpPr>
        <p:spPr>
          <a:xfrm>
            <a:off x="8558784" y="5560822"/>
            <a:ext cx="695900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10305288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17.3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6085332" y="2176272"/>
            <a:ext cx="10973" cy="3749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 20.9: #3 of 10 luxury, above the 17.7 average. 5 of 10 luxury and 14 of 23 non-luxury stores at or above their average.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PRODUCTIVITY · REVIEW · ACURA IN NON-LUXURY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&amp; W ROs per Fixed Manager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344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&amp; W ROS PER FIXED MANAGER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358640" y="1335024"/>
            <a:ext cx="368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390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18470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segment ranked on its own. Green at or above its segment average, red below. Acura highlighted.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17627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· AVERAGE 276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36626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08376" y="2436622"/>
            <a:ext cx="120861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08376" y="2644902"/>
            <a:ext cx="90248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367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08376" y="2853182"/>
            <a:ext cx="81937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54880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08376" y="3061462"/>
            <a:ext cx="71748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54880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08376" y="3269742"/>
            <a:ext cx="707906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54880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288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14984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08376" y="3478022"/>
            <a:ext cx="61994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54880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252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08376" y="3686302"/>
            <a:ext cx="48853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754880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198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008376" y="3894582"/>
            <a:ext cx="349030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754880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142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008376" y="4102862"/>
            <a:ext cx="291998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754880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119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425907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NON-LUXURY · AVERAGE 418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58368" y="444906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58368" y="44673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014984" y="44673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008376" y="4519422"/>
            <a:ext cx="165847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754880" y="44673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1,022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14984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008376" y="4727702"/>
            <a:ext cx="1241954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4754880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765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58368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014984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008376" y="4935982"/>
            <a:ext cx="111325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4754880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686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658368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1014984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008376" y="5144262"/>
            <a:ext cx="106636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4754880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657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1014984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008376" y="5352542"/>
            <a:ext cx="95845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4754880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591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658368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1014984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3008376" y="5560822"/>
            <a:ext cx="90851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4754880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560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57170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1014984" y="57170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008376" y="5769102"/>
            <a:ext cx="693414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4754880" y="57170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427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208776" y="21762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6565392" y="21762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8558784" y="2228342"/>
            <a:ext cx="64767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10305288" y="21762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399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208776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6565392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558784" y="2436622"/>
            <a:ext cx="63629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10305288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392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6208776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6565392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8558784" y="2644902"/>
            <a:ext cx="610998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10305288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376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6208776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6565392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8558784" y="2853182"/>
            <a:ext cx="59957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10305288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369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6208776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565392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8558784" y="3061462"/>
            <a:ext cx="577815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10305288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356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208776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565392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8558784" y="3269742"/>
            <a:ext cx="570170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10305288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351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208776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6565392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8558784" y="3478022"/>
            <a:ext cx="53062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10305288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327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208776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6565392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8558784" y="3686302"/>
            <a:ext cx="500448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10305288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308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6208776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565392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8558784" y="3894582"/>
            <a:ext cx="48596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10305288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299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208776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565392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8558784" y="4102862"/>
            <a:ext cx="44291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10305288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273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6153912" y="4259072"/>
            <a:ext cx="5358384" cy="20828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21" name="Text 119"/>
          <p:cNvSpPr txBox="1"/>
          <p:nvPr/>
        </p:nvSpPr>
        <p:spPr>
          <a:xfrm>
            <a:off x="6208776" y="42590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22" name="Text 120"/>
          <p:cNvSpPr txBox="1"/>
          <p:nvPr/>
        </p:nvSpPr>
        <p:spPr>
          <a:xfrm>
            <a:off x="6565392" y="42590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8558784" y="4311142"/>
            <a:ext cx="44147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10305288" y="42590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272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44673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26" name="Text 124"/>
          <p:cNvSpPr txBox="1"/>
          <p:nvPr/>
        </p:nvSpPr>
        <p:spPr>
          <a:xfrm>
            <a:off x="6565392" y="44673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8558784" y="4519422"/>
            <a:ext cx="377230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10305288" y="44673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232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6208776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30" name="Text 128"/>
          <p:cNvSpPr txBox="1"/>
          <p:nvPr/>
        </p:nvSpPr>
        <p:spPr>
          <a:xfrm>
            <a:off x="6565392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8558784" y="4727702"/>
            <a:ext cx="37384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10305288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230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6208776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4" name="Text 132"/>
          <p:cNvSpPr txBox="1"/>
          <p:nvPr/>
        </p:nvSpPr>
        <p:spPr>
          <a:xfrm>
            <a:off x="6565392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8558784" y="4935982"/>
            <a:ext cx="35707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6" name="Text 134"/>
          <p:cNvSpPr txBox="1"/>
          <p:nvPr/>
        </p:nvSpPr>
        <p:spPr>
          <a:xfrm>
            <a:off x="10305288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220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6208776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38" name="Text 136"/>
          <p:cNvSpPr txBox="1"/>
          <p:nvPr/>
        </p:nvSpPr>
        <p:spPr>
          <a:xfrm>
            <a:off x="6565392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39" name="Shape 137"/>
          <p:cNvSpPr/>
          <p:nvPr/>
        </p:nvSpPr>
        <p:spPr>
          <a:xfrm>
            <a:off x="8558784" y="5144262"/>
            <a:ext cx="32991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10305288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208776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2" name="Text 140"/>
          <p:cNvSpPr txBox="1"/>
          <p:nvPr/>
        </p:nvSpPr>
        <p:spPr>
          <a:xfrm>
            <a:off x="6565392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8558784" y="5352542"/>
            <a:ext cx="31240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10305288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6208776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565392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47" name="Shape 145"/>
          <p:cNvSpPr/>
          <p:nvPr/>
        </p:nvSpPr>
        <p:spPr>
          <a:xfrm>
            <a:off x="8558784" y="5560822"/>
            <a:ext cx="24923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10305288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154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6085332" y="2176272"/>
            <a:ext cx="10973" cy="3749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 272: #18 of 24 non-luxury, below the 418 average. 5 of 9 luxury and 7 of 24 non-luxury stores at or above their average.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PRODUCTIVITY · REVIEW · ACURA IN LUXURY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&amp; W ROs per Fixed Manager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344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&amp; W ROS PER FIXED MANAGER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358640" y="1335024"/>
            <a:ext cx="368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390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18470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segment ranked on its own. Green at or above its segment average, red below. Acura highlighted.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17627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· AVERAGE 275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36626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08376" y="2436622"/>
            <a:ext cx="122018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08376" y="2644902"/>
            <a:ext cx="91112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367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08376" y="2853182"/>
            <a:ext cx="827215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54880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08376" y="3061462"/>
            <a:ext cx="724348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54880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08376" y="3269742"/>
            <a:ext cx="71468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54880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288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3504" y="3425952"/>
            <a:ext cx="5358384" cy="20828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8368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008376" y="3478022"/>
            <a:ext cx="67602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754880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272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14984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008376" y="3686302"/>
            <a:ext cx="62588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754880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252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14984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008376" y="3894582"/>
            <a:ext cx="49320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754880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198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14984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008376" y="4102862"/>
            <a:ext cx="35237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754880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142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42590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42590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008376" y="4311142"/>
            <a:ext cx="294793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754880" y="42590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119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446735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NON-LUXURY · AVERAGE 422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58368" y="465734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58368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1014984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008376" y="4727702"/>
            <a:ext cx="165847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754880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1,022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58368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1014984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008376" y="4935982"/>
            <a:ext cx="1241954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4754880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765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658368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1014984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008376" y="5144262"/>
            <a:ext cx="111325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4754880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686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658368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1014984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3008376" y="5352542"/>
            <a:ext cx="106636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754880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657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658368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1014984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3008376" y="5560822"/>
            <a:ext cx="95845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4754880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591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658368" y="57170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1014984" y="57170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3008376" y="5769102"/>
            <a:ext cx="90851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4754880" y="57170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560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6208776" y="21762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6565392" y="21762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8558784" y="2228342"/>
            <a:ext cx="693414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10305288" y="21762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427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6208776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6565392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558784" y="2436622"/>
            <a:ext cx="64767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10305288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399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6208776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6565392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8558784" y="2644902"/>
            <a:ext cx="63629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10305288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392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6208776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6565392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8558784" y="2853182"/>
            <a:ext cx="610998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10305288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376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208776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98" name="Text 96"/>
          <p:cNvSpPr txBox="1"/>
          <p:nvPr/>
        </p:nvSpPr>
        <p:spPr>
          <a:xfrm>
            <a:off x="6565392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8558784" y="3061462"/>
            <a:ext cx="59957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10305288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369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208776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6565392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8558784" y="3269742"/>
            <a:ext cx="577815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10305288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356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6208776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565392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8558784" y="3478022"/>
            <a:ext cx="570170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10305288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351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6208776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110" name="Text 108"/>
          <p:cNvSpPr txBox="1"/>
          <p:nvPr/>
        </p:nvSpPr>
        <p:spPr>
          <a:xfrm>
            <a:off x="6565392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8558784" y="3686302"/>
            <a:ext cx="53062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10305288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327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208776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114" name="Text 112"/>
          <p:cNvSpPr txBox="1"/>
          <p:nvPr/>
        </p:nvSpPr>
        <p:spPr>
          <a:xfrm>
            <a:off x="6565392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8558784" y="3894582"/>
            <a:ext cx="500448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10305288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308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208776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6565392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8558784" y="4102862"/>
            <a:ext cx="48596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10305288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299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208776" y="42590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22" name="Text 120"/>
          <p:cNvSpPr txBox="1"/>
          <p:nvPr/>
        </p:nvSpPr>
        <p:spPr>
          <a:xfrm>
            <a:off x="6565392" y="42590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8558784" y="4311142"/>
            <a:ext cx="44291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10305288" y="42590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273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44673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26" name="Text 124"/>
          <p:cNvSpPr txBox="1"/>
          <p:nvPr/>
        </p:nvSpPr>
        <p:spPr>
          <a:xfrm>
            <a:off x="6565392" y="44673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8558784" y="4519422"/>
            <a:ext cx="377230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10305288" y="44673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232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6208776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30" name="Text 128"/>
          <p:cNvSpPr txBox="1"/>
          <p:nvPr/>
        </p:nvSpPr>
        <p:spPr>
          <a:xfrm>
            <a:off x="6565392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8558784" y="4727702"/>
            <a:ext cx="37384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10305288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230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6208776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34" name="Text 132"/>
          <p:cNvSpPr txBox="1"/>
          <p:nvPr/>
        </p:nvSpPr>
        <p:spPr>
          <a:xfrm>
            <a:off x="6565392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8558784" y="4935982"/>
            <a:ext cx="35707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6" name="Text 134"/>
          <p:cNvSpPr txBox="1"/>
          <p:nvPr/>
        </p:nvSpPr>
        <p:spPr>
          <a:xfrm>
            <a:off x="10305288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220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6208776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8" name="Text 136"/>
          <p:cNvSpPr txBox="1"/>
          <p:nvPr/>
        </p:nvSpPr>
        <p:spPr>
          <a:xfrm>
            <a:off x="6565392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39" name="Shape 137"/>
          <p:cNvSpPr/>
          <p:nvPr/>
        </p:nvSpPr>
        <p:spPr>
          <a:xfrm>
            <a:off x="8558784" y="5144262"/>
            <a:ext cx="32991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10305288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208776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42" name="Text 140"/>
          <p:cNvSpPr txBox="1"/>
          <p:nvPr/>
        </p:nvSpPr>
        <p:spPr>
          <a:xfrm>
            <a:off x="6565392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8558784" y="5352542"/>
            <a:ext cx="31240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10305288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6208776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565392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47" name="Shape 145"/>
          <p:cNvSpPr/>
          <p:nvPr/>
        </p:nvSpPr>
        <p:spPr>
          <a:xfrm>
            <a:off x="8558784" y="5560822"/>
            <a:ext cx="24923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10305288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154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6085332" y="2176272"/>
            <a:ext cx="10973" cy="3749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 272: #6 of 10 luxury, below the 275 average. 5 of 10 luxury and 7 of 23 non-luxury stores at or above their average.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2026-10-23T19:02:12Z</dcterms:created>
  <dcterms:modified xsi:type="dcterms:W3CDTF">2026-10-23T19:02:12Z</dcterms:modified>
</cp:coreProperties>
</file>