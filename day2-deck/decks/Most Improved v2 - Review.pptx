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$1.98M. Bottom CHEVY LV $7.40M → $7.08M; AUDI RENO $3.38M → $2.90M; VW ST GEORGE $702K → $560K.
CP RO Count: top KIA LV 7,156 → 8,133; HYUNDAI PRESCOTT 1,784 → 2,010; GMC PRESCOTT 2,810 → 3,107. Bottom AUDI RENO 4,379 → 3,917; HYUNDAI ST GEORGE 3,784 → 3,349; VW ST GEORGE 2,251 → 1,919.
CP Hours per RO: top HYUNDAI ST GEORGE 1.03 → 1.43; SUBARU ST GEORGE 1.75 → 2.30; KIA ST GEORGE 0.99 → 1.29. Bottom VOLVO 2.58 → 2.28; VW ST GEORGE 1.95 → 1.71; LR RENO 4.04 → 3.48.
CP ELR: top HONDA SPOKANE $117.05 → $143.89; VOLVO $181.59 → $222.12; LINCOLN $139.55 → $167.64. Bottom ACURA $221.78 → $210.50; SUBARU ST GEORGE $148.84 → $138.48; KIA LV $184.36 → $149.23.
CP Parts GP %: top ACURA 38.7% → 44.9%; NISSAN 38.2% → 42.7%; SUBARU PRESCOTT 31.0% → 34.8%. Bottom HYUNDAI PRESCOTT 39.9% → 39.4%; TOYOTA SPOKANE 45.3% → 44.5%; AUDI HENDERSON 35.8% → 33.6%.Takeaway with the store call-outs (off the slide): Most top-three finishes: Lincoln, Subaru Prescott and Subaru St George (2 of 5). Most bottom-three: VW St George (3 of 5).Source: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$279K. Bottom SUBARU ST GEORGE $220K → $218K; HONDA HENDERSON $841K → $823K; CADILLAC $317K → $283K.
CP ROs per Month: top LEXUS 425 → 570; CDJR POST FALLS 543 → 667; LR LV 350 → 415. Bottom VW ST GEORGE 207 → 203; HYUNDAI ST GEORGE 377 → 365; CADILLAC 609 → 582.
CP Hours per RO: top MAZDA 1.35 → 1.65; HYUNDAI PRESCOTT 1.56 → 1.76; HYUNDAI ST GEORGE 1.37 → 1.54. Bottom HONDA HENDERSON 2.06 → 1.86; VW HENDERSON 2.66 → 2.37; CADILLAC 2.85 → 2.45.
CP ELR: top VW ST GEORGE $128.27 → $141.89; AUDI RENO $227.34 → $244.12; HONDA SPOKANE $139.40 → $147.93. Bottom SUBARU ST GEORGE $141.07 → $136.71; LEXUS $196.84 → $187.42; ACURA $232.02 → $199.04.
CP Parts GP %: top ACURA 39.4% → 46.6%; VW ST GEORGE 39.1% → 43.8%; GMC PRESCOTT 35.3% → 39.2%. Bottom CHEVY LV 38.2% → 35.0%; LINCOLN 39.9% → 36.0%; HONDA HENDERSON 44.3% → 40.0%.Takeaway with the store call-outs (off the slide): Most top-three finishes: Mazda, CDJR Post Falls and VW St George (2 of 5). Most bottom-three: Honda Henderson and Cadillac (3 of 5).Source: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Last year: Subaru Prescott leads. Moving now: Three stores tie. Eight stores make both views.Source: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five measures (parts $ per RO dropped, Oct 23);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three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331720"/>
            <a:ext cx="45720" cy="159105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331720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33172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86207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3924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33924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" y="4078224"/>
            <a:ext cx="45720" cy="159105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4078224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407822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" y="46085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138928"/>
            <a:ext cx="10881360" cy="53035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5138928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69264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87552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987552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87552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7552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105302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23590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23590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123590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3123590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3123590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123590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3123590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3123590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3123590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3123590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3123590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3123590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3123590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3123590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241341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259629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59629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5259629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259629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5259629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5259629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56" name="Text 54"/>
          <p:cNvSpPr txBox="1"/>
          <p:nvPr/>
        </p:nvSpPr>
        <p:spPr>
          <a:xfrm>
            <a:off x="5259629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259629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5259629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259629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600" dirty="0"/>
          </a:p>
        </p:txBody>
      </p:sp>
      <p:sp>
        <p:nvSpPr>
          <p:cNvPr id="60" name="Text 58"/>
          <p:cNvSpPr txBox="1"/>
          <p:nvPr/>
        </p:nvSpPr>
        <p:spPr>
          <a:xfrm>
            <a:off x="5259629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59629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600" dirty="0"/>
          </a:p>
        </p:txBody>
      </p:sp>
      <p:sp>
        <p:nvSpPr>
          <p:cNvPr id="62" name="Text 60"/>
          <p:cNvSpPr txBox="1"/>
          <p:nvPr/>
        </p:nvSpPr>
        <p:spPr>
          <a:xfrm>
            <a:off x="5259629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5259629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7377379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7395667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7395667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7395667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7395667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69" name="Text 67"/>
          <p:cNvSpPr txBox="1"/>
          <p:nvPr/>
        </p:nvSpPr>
        <p:spPr>
          <a:xfrm>
            <a:off x="7395667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7395667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7395667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7395667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73" name="Text 71"/>
          <p:cNvSpPr txBox="1"/>
          <p:nvPr/>
        </p:nvSpPr>
        <p:spPr>
          <a:xfrm>
            <a:off x="7395667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395667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600" dirty="0"/>
          </a:p>
        </p:txBody>
      </p:sp>
      <p:sp>
        <p:nvSpPr>
          <p:cNvPr id="75" name="Text 73"/>
          <p:cNvSpPr txBox="1"/>
          <p:nvPr/>
        </p:nvSpPr>
        <p:spPr>
          <a:xfrm>
            <a:off x="7395667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7395667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600" dirty="0"/>
          </a:p>
        </p:txBody>
      </p:sp>
      <p:sp>
        <p:nvSpPr>
          <p:cNvPr id="77" name="Text 75"/>
          <p:cNvSpPr txBox="1"/>
          <p:nvPr/>
        </p:nvSpPr>
        <p:spPr>
          <a:xfrm>
            <a:off x="7395667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7395667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9513418" y="1691640"/>
            <a:ext cx="2026310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531706" y="1773936"/>
            <a:ext cx="19897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9531706" y="1993392"/>
            <a:ext cx="19897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531706" y="2377440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9531706" y="2596896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84" name="Text 82"/>
          <p:cNvSpPr txBox="1"/>
          <p:nvPr/>
        </p:nvSpPr>
        <p:spPr>
          <a:xfrm>
            <a:off x="9531706" y="2907792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531706" y="3127248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86" name="Text 84"/>
          <p:cNvSpPr txBox="1"/>
          <p:nvPr/>
        </p:nvSpPr>
        <p:spPr>
          <a:xfrm>
            <a:off x="9531706" y="34381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9531706" y="36576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88" name="Text 86"/>
          <p:cNvSpPr txBox="1"/>
          <p:nvPr/>
        </p:nvSpPr>
        <p:spPr>
          <a:xfrm>
            <a:off x="9531706" y="4123944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9531706" y="4343400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600" dirty="0"/>
          </a:p>
        </p:txBody>
      </p:sp>
      <p:sp>
        <p:nvSpPr>
          <p:cNvPr id="90" name="Text 88"/>
          <p:cNvSpPr txBox="1"/>
          <p:nvPr/>
        </p:nvSpPr>
        <p:spPr>
          <a:xfrm>
            <a:off x="9531706" y="4654296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9531706" y="4873752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600" dirty="0"/>
          </a:p>
        </p:txBody>
      </p:sp>
      <p:sp>
        <p:nvSpPr>
          <p:cNvPr id="92" name="Text 90"/>
          <p:cNvSpPr txBox="1"/>
          <p:nvPr/>
        </p:nvSpPr>
        <p:spPr>
          <a:xfrm>
            <a:off x="9531706" y="5184648"/>
            <a:ext cx="20445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9531706" y="5404104"/>
            <a:ext cx="2026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GP%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five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GP%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ELR, parts GP%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64008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8" name="Shape 6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now: Three stores tie. Eight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2026-10-27T21:57:50Z</dcterms:created>
  <dcterms:modified xsi:type="dcterms:W3CDTF">2026-10-27T21:57:50Z</dcterms:modified>
</cp:coreProperties>
</file>