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15.xml" ContentType="application/vnd.openxmlformats-officedocument.drawingml.chart+xml"/>
  <Override PartName="/ppt/charts/chart16.xml" ContentType="application/vnd.openxmlformats-officedocument.drawingml.chart+xml"/>
  <Override PartName="/ppt/charts/chart17.xml" ContentType="application/vnd.openxmlformats-officedocument.drawingml.chart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1.xml" ContentType="application/vnd.openxmlformats-officedocument.drawingml.chart+xml"/>
  <Override PartName="/ppt/charts/chart22.xml" ContentType="application/vnd.openxmlformats-officedocument.drawingml.chart+xml"/>
  <Override PartName="/ppt/charts/chart23.xml" ContentType="application/vnd.openxmlformats-officedocument.drawingml.chart+xml"/>
  <Override PartName="/ppt/charts/chart24.xml" ContentType="application/vnd.openxmlformats-officedocument.drawingml.chart+xml"/>
  <Override PartName="/ppt/charts/chart25.xml" ContentType="application/vnd.openxmlformats-officedocument.drawingml.chart+xml"/>
  <Override PartName="/ppt/charts/chart26.xml" ContentType="application/vnd.openxmlformats-officedocument.drawingml.chart+xml"/>
  <Override PartName="/ppt/charts/chart27.xml" ContentType="application/vnd.openxmlformats-officedocument.drawingml.chart+xml"/>
  <Override PartName="/ppt/charts/chart28.xml" ContentType="application/vnd.openxmlformats-officedocument.drawingml.chart+xml"/>
  <Override PartName="/ppt/charts/chart29.xml" ContentType="application/vnd.openxmlformats-officedocument.drawingml.chart+xml"/>
  <Override PartName="/ppt/charts/chart30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1.xml" ContentType="application/vnd.openxmlformats-officedocument.drawingml.chart+xml"/>
  <Override PartName="/ppt/charts/chart32.xml" ContentType="application/vnd.openxmlformats-officedocument.drawingml.chart+xml"/>
  <Override PartName="/ppt/charts/chart33.xml" ContentType="application/vnd.openxmlformats-officedocument.drawingml.chart+xml"/>
  <Override PartName="/ppt/charts/chart34.xml" ContentType="application/vnd.openxmlformats-officedocument.drawingml.chart+xml"/>
  <Override PartName="/ppt/charts/chart35.xml" ContentType="application/vnd.openxmlformats-officedocument.drawingml.chart+xml"/>
  <Override PartName="/ppt/charts/chart36.xml" ContentType="application/vnd.openxmlformats-officedocument.drawingml.chart+xml"/>
  <Override PartName="/ppt/charts/chart37.xml" ContentType="application/vnd.openxmlformats-officedocument.drawingml.chart+xml"/>
  <Override PartName="/ppt/charts/chart38.xml" ContentType="application/vnd.openxmlformats-officedocument.drawingml.chart+xml"/>
  <Override PartName="/ppt/charts/chart39.xml" ContentType="application/vnd.openxmlformats-officedocument.drawingml.chart+xml"/>
  <Override PartName="/ppt/charts/chart40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1.xml" ContentType="application/vnd.openxmlformats-officedocument.drawingml.chart+xml"/>
  <Override PartName="/ppt/charts/chart42.xml" ContentType="application/vnd.openxmlformats-officedocument.drawingml.chart+xml"/>
  <Override PartName="/ppt/charts/chart43.xml" ContentType="application/vnd.openxmlformats-officedocument.drawingml.chart+xml"/>
  <Override PartName="/ppt/charts/chart44.xml" ContentType="application/vnd.openxmlformats-officedocument.drawingml.chart+xml"/>
  <Override PartName="/ppt/charts/chart45.xml" ContentType="application/vnd.openxmlformats-officedocument.drawingml.chart+xml"/>
  <Override PartName="/ppt/charts/chart46.xml" ContentType="application/vnd.openxmlformats-officedocument.drawingml.chart+xml"/>
  <Override PartName="/ppt/charts/chart47.xml" ContentType="application/vnd.openxmlformats-officedocument.drawingml.chart+xml"/>
  <Override PartName="/ppt/charts/chart48.xml" ContentType="application/vnd.openxmlformats-officedocument.drawingml.chart+xml"/>
  <Override PartName="/ppt/charts/chart49.xml" ContentType="application/vnd.openxmlformats-officedocument.drawingml.chart+xml"/>
  <Override PartName="/ppt/charts/chart50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1.xml" ContentType="application/vnd.openxmlformats-officedocument.drawingml.chart+xml"/>
  <Override PartName="/ppt/charts/chart52.xml" ContentType="application/vnd.openxmlformats-officedocument.drawingml.chart+xml"/>
  <Override PartName="/ppt/charts/chart53.xml" ContentType="application/vnd.openxmlformats-officedocument.drawingml.chart+xml"/>
  <Override PartName="/ppt/charts/chart54.xml" ContentType="application/vnd.openxmlformats-officedocument.drawingml.chart+xml"/>
  <Override PartName="/ppt/charts/chart55.xml" ContentType="application/vnd.openxmlformats-officedocument.drawingml.chart+xml"/>
  <Override PartName="/ppt/charts/chart56.xml" ContentType="application/vnd.openxmlformats-officedocument.drawingml.chart+xml"/>
  <Override PartName="/ppt/charts/chart57.xml" ContentType="application/vnd.openxmlformats-officedocument.drawingml.chart+xml"/>
  <Override PartName="/ppt/charts/chart58.xml" ContentType="application/vnd.openxmlformats-officedocument.drawingml.chart+xml"/>
  <Override PartName="/ppt/charts/chart59.xml" ContentType="application/vnd.openxmlformats-officedocument.drawingml.chart+xml"/>
  <Override PartName="/ppt/charts/chart60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_rels/chart1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9.xlsx"/></Relationships>
</file>

<file path=ppt/charts/_rels/chart2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0.xlsx"/></Relationships>
</file>

<file path=ppt/charts/_rels/chart2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1.xlsx"/></Relationships>
</file>

<file path=ppt/charts/_rels/chart2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2.xlsx"/></Relationships>
</file>

<file path=ppt/charts/_rels/chart2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3.xlsx"/></Relationships>
</file>

<file path=ppt/charts/_rels/chart2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4.xlsx"/></Relationships>
</file>

<file path=ppt/charts/_rels/chart2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5.xlsx"/></Relationships>
</file>

<file path=ppt/charts/_rels/chart2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6.xlsx"/></Relationships>
</file>

<file path=ppt/charts/_rels/chart2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7.xlsx"/></Relationships>
</file>

<file path=ppt/charts/_rels/chart2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8.xlsx"/></Relationships>
</file>

<file path=ppt/charts/_rels/chart2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9.xlsx"/></Relationships>
</file>

<file path=ppt/charts/_rels/chart3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0.xlsx"/></Relationships>
</file>

<file path=ppt/charts/_rels/chart3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1.xlsx"/></Relationships>
</file>

<file path=ppt/charts/_rels/chart3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2.xlsx"/></Relationships>
</file>

<file path=ppt/charts/_rels/chart3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3.xlsx"/></Relationships>
</file>

<file path=ppt/charts/_rels/chart3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4.xlsx"/></Relationships>
</file>

<file path=ppt/charts/_rels/chart3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5.xlsx"/></Relationships>
</file>

<file path=ppt/charts/_rels/chart3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6.xlsx"/></Relationships>
</file>

<file path=ppt/charts/_rels/chart3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7.xlsx"/></Relationships>
</file>

<file path=ppt/charts/_rels/chart3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8.xlsx"/></Relationships>
</file>

<file path=ppt/charts/_rels/chart3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9.xlsx"/></Relationships>
</file>

<file path=ppt/charts/_rels/chart4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0.xlsx"/></Relationships>
</file>

<file path=ppt/charts/_rels/chart4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1.xlsx"/></Relationships>
</file>

<file path=ppt/charts/_rels/chart4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2.xlsx"/></Relationships>
</file>

<file path=ppt/charts/_rels/chart4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3.xlsx"/></Relationships>
</file>

<file path=ppt/charts/_rels/chart4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4.xlsx"/></Relationships>
</file>

<file path=ppt/charts/_rels/chart4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5.xlsx"/></Relationships>
</file>

<file path=ppt/charts/_rels/chart4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6.xlsx"/></Relationships>
</file>

<file path=ppt/charts/_rels/chart4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7.xlsx"/></Relationships>
</file>

<file path=ppt/charts/_rels/chart4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8.xlsx"/></Relationships>
</file>

<file path=ppt/charts/_rels/chart4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9.xlsx"/></Relationships>
</file>

<file path=ppt/charts/_rels/chart5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0.xlsx"/></Relationships>
</file>

<file path=ppt/charts/_rels/chart5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1.xlsx"/></Relationships>
</file>

<file path=ppt/charts/_rels/chart5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2.xlsx"/></Relationships>
</file>

<file path=ppt/charts/_rels/chart5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3.xlsx"/></Relationships>
</file>

<file path=ppt/charts/_rels/chart5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4.xlsx"/></Relationships>
</file>

<file path=ppt/charts/_rels/chart5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5.xlsx"/></Relationships>
</file>

<file path=ppt/charts/_rels/chart5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6.xlsx"/></Relationships>
</file>

<file path=ppt/charts/_rels/chart5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7.xlsx"/></Relationships>
</file>

<file path=ppt/charts/_rels/chart5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8.xlsx"/></Relationships>
</file>

<file path=ppt/charts/_rels/chart5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9.xlsx"/></Relationships>
</file>

<file path=ppt/charts/_rels/chart6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MAZDA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140105.4</c:v>
                </c:pt>
                <c:pt idx="1">
                  <c:v>129994.04000000001</c:v>
                </c:pt>
                <c:pt idx="2">
                  <c:v>194655.32</c:v>
                </c:pt>
                <c:pt idx="3">
                  <c:v>176169.16</c:v>
                </c:pt>
                <c:pt idx="4">
                  <c:v>174810.36</c:v>
                </c:pt>
                <c:pt idx="5">
                  <c:v>155900.23</c:v>
                </c:pt>
                <c:pt idx="6">
                  <c:v>168039.07</c:v>
                </c:pt>
                <c:pt idx="7">
                  <c:v>230368.93</c:v>
                </c:pt>
                <c:pt idx="8">
                  <c:v>227165.53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5425.1635"/>
          <c:min val="114937.806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KIA ST GEORGE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86980.36</c:v>
                </c:pt>
                <c:pt idx="1">
                  <c:v>82836.39</c:v>
                </c:pt>
                <c:pt idx="2">
                  <c:v>86106.14</c:v>
                </c:pt>
                <c:pt idx="3">
                  <c:v>91223.19</c:v>
                </c:pt>
                <c:pt idx="4">
                  <c:v>82915.06</c:v>
                </c:pt>
                <c:pt idx="5">
                  <c:v>95470.58</c:v>
                </c:pt>
                <c:pt idx="6">
                  <c:v>121071.78</c:v>
                </c:pt>
                <c:pt idx="7">
                  <c:v>113797.79000000001</c:v>
                </c:pt>
                <c:pt idx="8">
                  <c:v>101183.02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26807.0885"/>
          <c:min val="77101.081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CDJR POST FALLS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236533.56</c:v>
                </c:pt>
                <c:pt idx="1">
                  <c:v>198065</c:v>
                </c:pt>
                <c:pt idx="2">
                  <c:v>220283.83000000002</c:v>
                </c:pt>
                <c:pt idx="3">
                  <c:v>202377.06</c:v>
                </c:pt>
                <c:pt idx="4">
                  <c:v>210946.1</c:v>
                </c:pt>
                <c:pt idx="5">
                  <c:v>234862.74</c:v>
                </c:pt>
                <c:pt idx="6">
                  <c:v>300394.59</c:v>
                </c:pt>
                <c:pt idx="7">
                  <c:v>271122.35000000003</c:v>
                </c:pt>
                <c:pt idx="8">
                  <c:v>265586.5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15744.0285"/>
          <c:min val="182715.561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VW ST GEORGE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63266.58</c:v>
                </c:pt>
                <c:pt idx="1">
                  <c:v>48675.05</c:v>
                </c:pt>
                <c:pt idx="2">
                  <c:v>49504.81</c:v>
                </c:pt>
                <c:pt idx="3">
                  <c:v>58672.880000000005</c:v>
                </c:pt>
                <c:pt idx="4">
                  <c:v>58583.36</c:v>
                </c:pt>
                <c:pt idx="5">
                  <c:v>82540.21</c:v>
                </c:pt>
                <c:pt idx="6">
                  <c:v>77897.88</c:v>
                </c:pt>
                <c:pt idx="7">
                  <c:v>64144.34</c:v>
                </c:pt>
                <c:pt idx="8">
                  <c:v>57011.62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87619.98400000001"/>
          <c:min val="43595.27600000000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HYUNDAI PRESCOTT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47133.479999999996</c:v>
                </c:pt>
                <c:pt idx="1">
                  <c:v>42518.81</c:v>
                </c:pt>
                <c:pt idx="2">
                  <c:v>57961.69</c:v>
                </c:pt>
                <c:pt idx="3">
                  <c:v>50013.479999999996</c:v>
                </c:pt>
                <c:pt idx="4">
                  <c:v>50169.79</c:v>
                </c:pt>
                <c:pt idx="5">
                  <c:v>48661.44</c:v>
                </c:pt>
                <c:pt idx="6">
                  <c:v>64651.67</c:v>
                </c:pt>
                <c:pt idx="7">
                  <c:v>56663.37</c:v>
                </c:pt>
                <c:pt idx="8">
                  <c:v>58829.520000000004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7971.599"/>
          <c:min val="39198.880999999994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LEXUS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176585.11</c:v>
                </c:pt>
                <c:pt idx="1">
                  <c:v>184273.9</c:v>
                </c:pt>
                <c:pt idx="2">
                  <c:v>243873.84</c:v>
                </c:pt>
                <c:pt idx="3">
                  <c:v>231682.97</c:v>
                </c:pt>
                <c:pt idx="4">
                  <c:v>262721.61</c:v>
                </c:pt>
                <c:pt idx="5">
                  <c:v>263340.99</c:v>
                </c:pt>
                <c:pt idx="6">
                  <c:v>244041.77</c:v>
                </c:pt>
                <c:pt idx="7">
                  <c:v>244446.27</c:v>
                </c:pt>
                <c:pt idx="8">
                  <c:v>249281.88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76354.372"/>
          <c:min val="163571.72799999997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TOYOTA PRESCOTT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294309.57999999996</c:v>
                </c:pt>
                <c:pt idx="1">
                  <c:v>278868.58</c:v>
                </c:pt>
                <c:pt idx="2">
                  <c:v>359908.79</c:v>
                </c:pt>
                <c:pt idx="3">
                  <c:v>393728.92000000004</c:v>
                </c:pt>
                <c:pt idx="4">
                  <c:v>359273.68</c:v>
                </c:pt>
                <c:pt idx="5">
                  <c:v>386316.45</c:v>
                </c:pt>
                <c:pt idx="6">
                  <c:v>384135.08</c:v>
                </c:pt>
                <c:pt idx="7">
                  <c:v>397933.38999999996</c:v>
                </c:pt>
                <c:pt idx="8">
                  <c:v>341938.74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15793.11149999994"/>
          <c:min val="261008.85850000003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LR RENO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177080.6</c:v>
                </c:pt>
                <c:pt idx="1">
                  <c:v>116317.49</c:v>
                </c:pt>
                <c:pt idx="2">
                  <c:v>151683.66999999998</c:v>
                </c:pt>
                <c:pt idx="3">
                  <c:v>189304.13</c:v>
                </c:pt>
                <c:pt idx="4">
                  <c:v>164925.71000000002</c:v>
                </c:pt>
                <c:pt idx="5">
                  <c:v>166070.51</c:v>
                </c:pt>
                <c:pt idx="6">
                  <c:v>172210.90000000002</c:v>
                </c:pt>
                <c:pt idx="7">
                  <c:v>228828.82</c:v>
                </c:pt>
                <c:pt idx="8">
                  <c:v>129178.53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45705.5195"/>
          <c:min val="99440.790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GMC PRESCOTT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86931.73000000001</c:v>
                </c:pt>
                <c:pt idx="1">
                  <c:v>109867.53</c:v>
                </c:pt>
                <c:pt idx="2">
                  <c:v>104137.82</c:v>
                </c:pt>
                <c:pt idx="3">
                  <c:v>100928.84</c:v>
                </c:pt>
                <c:pt idx="4">
                  <c:v>93945.76000000001</c:v>
                </c:pt>
                <c:pt idx="5">
                  <c:v>108346.47</c:v>
                </c:pt>
                <c:pt idx="6">
                  <c:v>126637.39</c:v>
                </c:pt>
                <c:pt idx="7">
                  <c:v>106298.13999999998</c:v>
                </c:pt>
                <c:pt idx="8">
                  <c:v>124862.66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32593.239"/>
          <c:min val="80975.88100000001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HONDA SPOKANE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293762.4</c:v>
                </c:pt>
                <c:pt idx="1">
                  <c:v>268037.54000000004</c:v>
                </c:pt>
                <c:pt idx="2">
                  <c:v>319668.25</c:v>
                </c:pt>
                <c:pt idx="3">
                  <c:v>349268.96</c:v>
                </c:pt>
                <c:pt idx="4">
                  <c:v>347415.9</c:v>
                </c:pt>
                <c:pt idx="5">
                  <c:v>340633.41000000003</c:v>
                </c:pt>
                <c:pt idx="6">
                  <c:v>373611</c:v>
                </c:pt>
                <c:pt idx="7">
                  <c:v>323504.43</c:v>
                </c:pt>
                <c:pt idx="8">
                  <c:v>336990.87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89447.019"/>
          <c:min val="252201.52100000004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LEXUS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395</c:v>
                </c:pt>
                <c:pt idx="1">
                  <c:v>390</c:v>
                </c:pt>
                <c:pt idx="2">
                  <c:v>491</c:v>
                </c:pt>
                <c:pt idx="3">
                  <c:v>543</c:v>
                </c:pt>
                <c:pt idx="4">
                  <c:v>485</c:v>
                </c:pt>
                <c:pt idx="5">
                  <c:v>553</c:v>
                </c:pt>
                <c:pt idx="6">
                  <c:v>564</c:v>
                </c:pt>
                <c:pt idx="7">
                  <c:v>577</c:v>
                </c:pt>
                <c:pt idx="8">
                  <c:v>569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5.05"/>
          <c:min val="361.9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CDJR POST FALLS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567</c:v>
                </c:pt>
                <c:pt idx="1">
                  <c:v>513</c:v>
                </c:pt>
                <c:pt idx="2">
                  <c:v>550</c:v>
                </c:pt>
                <c:pt idx="3">
                  <c:v>539</c:v>
                </c:pt>
                <c:pt idx="4">
                  <c:v>538</c:v>
                </c:pt>
                <c:pt idx="5">
                  <c:v>649</c:v>
                </c:pt>
                <c:pt idx="6">
                  <c:v>716</c:v>
                </c:pt>
                <c:pt idx="7">
                  <c:v>663</c:v>
                </c:pt>
                <c:pt idx="8">
                  <c:v>623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46.45"/>
          <c:min val="482.5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LR LV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352</c:v>
                </c:pt>
                <c:pt idx="1">
                  <c:v>362</c:v>
                </c:pt>
                <c:pt idx="2">
                  <c:v>336</c:v>
                </c:pt>
                <c:pt idx="3">
                  <c:v>402</c:v>
                </c:pt>
                <c:pt idx="4">
                  <c:v>356</c:v>
                </c:pt>
                <c:pt idx="5">
                  <c:v>442</c:v>
                </c:pt>
                <c:pt idx="6">
                  <c:v>449</c:v>
                </c:pt>
                <c:pt idx="7">
                  <c:v>396</c:v>
                </c:pt>
                <c:pt idx="8">
                  <c:v>401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65.95"/>
          <c:min val="319.0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MAZDA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578</c:v>
                </c:pt>
                <c:pt idx="1">
                  <c:v>519</c:v>
                </c:pt>
                <c:pt idx="2">
                  <c:v>637</c:v>
                </c:pt>
                <c:pt idx="3">
                  <c:v>642</c:v>
                </c:pt>
                <c:pt idx="4">
                  <c:v>663</c:v>
                </c:pt>
                <c:pt idx="5">
                  <c:v>654</c:v>
                </c:pt>
                <c:pt idx="6">
                  <c:v>674</c:v>
                </c:pt>
                <c:pt idx="7">
                  <c:v>677</c:v>
                </c:pt>
                <c:pt idx="8">
                  <c:v>657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700.7"/>
          <c:min val="495.3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HONDA FLAGSTAFF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364</c:v>
                </c:pt>
                <c:pt idx="1">
                  <c:v>375</c:v>
                </c:pt>
                <c:pt idx="2">
                  <c:v>452</c:v>
                </c:pt>
                <c:pt idx="3">
                  <c:v>507</c:v>
                </c:pt>
                <c:pt idx="4">
                  <c:v>463</c:v>
                </c:pt>
                <c:pt idx="5">
                  <c:v>493</c:v>
                </c:pt>
                <c:pt idx="6">
                  <c:v>493</c:v>
                </c:pt>
                <c:pt idx="7">
                  <c:v>458</c:v>
                </c:pt>
                <c:pt idx="8">
                  <c:v>425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28.45"/>
          <c:min val="342.5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VW HENDERSON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549</c:v>
                </c:pt>
                <c:pt idx="1">
                  <c:v>531</c:v>
                </c:pt>
                <c:pt idx="2">
                  <c:v>556</c:v>
                </c:pt>
                <c:pt idx="3">
                  <c:v>544</c:v>
                </c:pt>
                <c:pt idx="4">
                  <c:v>516</c:v>
                </c:pt>
                <c:pt idx="5">
                  <c:v>599</c:v>
                </c:pt>
                <c:pt idx="6">
                  <c:v>622</c:v>
                </c:pt>
                <c:pt idx="7">
                  <c:v>587</c:v>
                </c:pt>
                <c:pt idx="8">
                  <c:v>641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59.75"/>
          <c:min val="497.2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HONDA NORTH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1576</c:v>
                </c:pt>
                <c:pt idx="1">
                  <c:v>1477</c:v>
                </c:pt>
                <c:pt idx="2">
                  <c:v>1631</c:v>
                </c:pt>
                <c:pt idx="3">
                  <c:v>1610</c:v>
                </c:pt>
                <c:pt idx="4">
                  <c:v>1739</c:v>
                </c:pt>
                <c:pt idx="5">
                  <c:v>1738</c:v>
                </c:pt>
                <c:pt idx="6">
                  <c:v>1723</c:v>
                </c:pt>
                <c:pt idx="7">
                  <c:v>1875</c:v>
                </c:pt>
                <c:pt idx="8">
                  <c:v>1679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934.7"/>
          <c:min val="1417.3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GMC PRESCOTT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311</c:v>
                </c:pt>
                <c:pt idx="1">
                  <c:v>327</c:v>
                </c:pt>
                <c:pt idx="2">
                  <c:v>353</c:v>
                </c:pt>
                <c:pt idx="3">
                  <c:v>344</c:v>
                </c:pt>
                <c:pt idx="4">
                  <c:v>308</c:v>
                </c:pt>
                <c:pt idx="5">
                  <c:v>355</c:v>
                </c:pt>
                <c:pt idx="6">
                  <c:v>370</c:v>
                </c:pt>
                <c:pt idx="7">
                  <c:v>382</c:v>
                </c:pt>
                <c:pt idx="8">
                  <c:v>357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93.1"/>
          <c:min val="296.9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TOYOTA SPOKANE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1764</c:v>
                </c:pt>
                <c:pt idx="1">
                  <c:v>1687</c:v>
                </c:pt>
                <c:pt idx="2">
                  <c:v>1914</c:v>
                </c:pt>
                <c:pt idx="3">
                  <c:v>2057</c:v>
                </c:pt>
                <c:pt idx="4">
                  <c:v>1923</c:v>
                </c:pt>
                <c:pt idx="5">
                  <c:v>2056</c:v>
                </c:pt>
                <c:pt idx="6">
                  <c:v>2095</c:v>
                </c:pt>
                <c:pt idx="7">
                  <c:v>1882</c:v>
                </c:pt>
                <c:pt idx="8">
                  <c:v>1998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156.2"/>
          <c:min val="1625.8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SUBARU ST GEORGE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615</c:v>
                </c:pt>
                <c:pt idx="1">
                  <c:v>524</c:v>
                </c:pt>
                <c:pt idx="2">
                  <c:v>607</c:v>
                </c:pt>
                <c:pt idx="3">
                  <c:v>608</c:v>
                </c:pt>
                <c:pt idx="4">
                  <c:v>639</c:v>
                </c:pt>
                <c:pt idx="5">
                  <c:v>637</c:v>
                </c:pt>
                <c:pt idx="6">
                  <c:v>632</c:v>
                </c:pt>
                <c:pt idx="7">
                  <c:v>632</c:v>
                </c:pt>
                <c:pt idx="8">
                  <c:v>659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79.25"/>
          <c:min val="503.75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MAZDA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1.1961937716262976</c:v>
                </c:pt>
                <c:pt idx="1">
                  <c:v>1.3</c:v>
                </c:pt>
                <c:pt idx="2">
                  <c:v>1.524175824175824</c:v>
                </c:pt>
                <c:pt idx="3">
                  <c:v>1.4054517133956386</c:v>
                </c:pt>
                <c:pt idx="4">
                  <c:v>1.4104072398190046</c:v>
                </c:pt>
                <c:pt idx="5">
                  <c:v>1.25</c:v>
                </c:pt>
                <c:pt idx="6">
                  <c:v>1.3206231454005934</c:v>
                </c:pt>
                <c:pt idx="7">
                  <c:v>1.7601181683899556</c:v>
                </c:pt>
                <c:pt idx="8">
                  <c:v>1.8642313546423135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9644369920947158"/>
          <c:min val="1.0959881341738953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HYUNDAI PRESCOTT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1.4608490566037735</c:v>
                </c:pt>
                <c:pt idx="1">
                  <c:v>1.4711340206185566</c:v>
                </c:pt>
                <c:pt idx="2">
                  <c:v>1.7298642533936652</c:v>
                </c:pt>
                <c:pt idx="3">
                  <c:v>1.7783898305084744</c:v>
                </c:pt>
                <c:pt idx="4">
                  <c:v>1.441391304347826</c:v>
                </c:pt>
                <c:pt idx="5">
                  <c:v>1.5297619047619047</c:v>
                </c:pt>
                <c:pt idx="6">
                  <c:v>1.819439655172414</c:v>
                </c:pt>
                <c:pt idx="7">
                  <c:v>1.7451485148514851</c:v>
                </c:pt>
                <c:pt idx="8">
                  <c:v>1.725108225108225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8761469077961022"/>
          <c:min val="1.3846840517241377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HYUNDAI ST GEORGE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1.2968932038834953</c:v>
                </c:pt>
                <c:pt idx="1">
                  <c:v>1.3835549132947977</c:v>
                </c:pt>
                <c:pt idx="2">
                  <c:v>1.4527419354838709</c:v>
                </c:pt>
                <c:pt idx="3">
                  <c:v>1.3560913705583755</c:v>
                </c:pt>
                <c:pt idx="4">
                  <c:v>1.272883435582822</c:v>
                </c:pt>
                <c:pt idx="5">
                  <c:v>1.4657920792079207</c:v>
                </c:pt>
                <c:pt idx="6">
                  <c:v>1.5742705570291777</c:v>
                </c:pt>
                <c:pt idx="7">
                  <c:v>1.6565988372093023</c:v>
                </c:pt>
                <c:pt idx="8">
                  <c:v>1.4058823529411764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7141561474532745"/>
          <c:min val="1.2153261253388499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KIA ST GEORGE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1.208095238095238</c:v>
                </c:pt>
                <c:pt idx="1">
                  <c:v>1.2542997542997543</c:v>
                </c:pt>
                <c:pt idx="2">
                  <c:v>1.23446261682243</c:v>
                </c:pt>
                <c:pt idx="3">
                  <c:v>1.2625570776255708</c:v>
                </c:pt>
                <c:pt idx="4">
                  <c:v>1.2171394799054374</c:v>
                </c:pt>
                <c:pt idx="5">
                  <c:v>1.2735507246376812</c:v>
                </c:pt>
                <c:pt idx="6">
                  <c:v>1.3877800407331975</c:v>
                </c:pt>
                <c:pt idx="7">
                  <c:v>1.4995475113122172</c:v>
                </c:pt>
                <c:pt idx="8">
                  <c:v>1.2453229398663697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5432653522947641"/>
          <c:min val="1.1643773971126912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CHEVY GMC BULLHEAD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1.575798319327731</c:v>
                </c:pt>
                <c:pt idx="1">
                  <c:v>1.6981651376146787</c:v>
                </c:pt>
                <c:pt idx="2">
                  <c:v>1.6719839142091153</c:v>
                </c:pt>
                <c:pt idx="3">
                  <c:v>1.9406276150627615</c:v>
                </c:pt>
                <c:pt idx="4">
                  <c:v>1.7418429003021147</c:v>
                </c:pt>
                <c:pt idx="5">
                  <c:v>1.6785185185185185</c:v>
                </c:pt>
                <c:pt idx="6">
                  <c:v>1.8784676354029062</c:v>
                </c:pt>
                <c:pt idx="7">
                  <c:v>1.8579465541490858</c:v>
                </c:pt>
                <c:pt idx="8">
                  <c:v>1.6184249628528975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9953520094230162"/>
          <c:min val="1.5210739249674763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TOYOTA PRESCOTT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1.188239247311828</c:v>
                </c:pt>
                <c:pt idx="1">
                  <c:v>1.275762195121951</c:v>
                </c:pt>
                <c:pt idx="2">
                  <c:v>1.4099208965062624</c:v>
                </c:pt>
                <c:pt idx="3">
                  <c:v>1.4275265957446808</c:v>
                </c:pt>
                <c:pt idx="4">
                  <c:v>1.4609295570079883</c:v>
                </c:pt>
                <c:pt idx="5">
                  <c:v>1.4721141374837874</c:v>
                </c:pt>
                <c:pt idx="6">
                  <c:v>1.4142063001852996</c:v>
                </c:pt>
                <c:pt idx="7">
                  <c:v>1.4298619824341279</c:v>
                </c:pt>
                <c:pt idx="8">
                  <c:v>1.3524723487312946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5146953710095814"/>
          <c:min val="1.145658013786034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ACURA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1.385793450881612</c:v>
                </c:pt>
                <c:pt idx="1">
                  <c:v>1.3389645776566756</c:v>
                </c:pt>
                <c:pt idx="2">
                  <c:v>1.2803874092009684</c:v>
                </c:pt>
                <c:pt idx="3">
                  <c:v>1.333613231552163</c:v>
                </c:pt>
                <c:pt idx="4">
                  <c:v>1.67296568627451</c:v>
                </c:pt>
                <c:pt idx="5">
                  <c:v>1.5423764705882352</c:v>
                </c:pt>
                <c:pt idx="6">
                  <c:v>1.4005580357142857</c:v>
                </c:pt>
                <c:pt idx="7">
                  <c:v>1.3604513064133017</c:v>
                </c:pt>
                <c:pt idx="8">
                  <c:v>1.4541353383458648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7318524278355412"/>
          <c:min val="1.2215006676399371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CDJR POST FALLS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2.221710758377425</c:v>
                </c:pt>
                <c:pt idx="1">
                  <c:v>2.0838986354775826</c:v>
                </c:pt>
                <c:pt idx="2">
                  <c:v>2.2707272727272727</c:v>
                </c:pt>
                <c:pt idx="3">
                  <c:v>2.2252504638218924</c:v>
                </c:pt>
                <c:pt idx="4">
                  <c:v>2.1553717472118956</c:v>
                </c:pt>
                <c:pt idx="5">
                  <c:v>1.9233127889060093</c:v>
                </c:pt>
                <c:pt idx="6">
                  <c:v>2.230418994413408</c:v>
                </c:pt>
                <c:pt idx="7">
                  <c:v>2.2426998491704375</c:v>
                </c:pt>
                <c:pt idx="8">
                  <c:v>2.44900481540931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527858619384805"/>
          <c:min val="1.8444589849305142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AUDI RENO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2.604809843400447</c:v>
                </c:pt>
                <c:pt idx="1">
                  <c:v>2.3054666666666663</c:v>
                </c:pt>
                <c:pt idx="2">
                  <c:v>2.8330453563714904</c:v>
                </c:pt>
                <c:pt idx="3">
                  <c:v>2.798717948717949</c:v>
                </c:pt>
                <c:pt idx="4">
                  <c:v>2.574561403508772</c:v>
                </c:pt>
                <c:pt idx="5">
                  <c:v>3.172391304347826</c:v>
                </c:pt>
                <c:pt idx="6">
                  <c:v>2.7021809744779586</c:v>
                </c:pt>
                <c:pt idx="7">
                  <c:v>2.878063063063063</c:v>
                </c:pt>
                <c:pt idx="8">
                  <c:v>2.5885922330097086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.3024299999999998"/>
          <c:min val="2.1754279710144924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LR RENO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3.5072</c:v>
                </c:pt>
                <c:pt idx="1">
                  <c:v>2.8326470588235293</c:v>
                </c:pt>
                <c:pt idx="2">
                  <c:v>3.3393630573248405</c:v>
                </c:pt>
                <c:pt idx="3">
                  <c:v>3.9942944785276078</c:v>
                </c:pt>
                <c:pt idx="4">
                  <c:v>4.023714285714286</c:v>
                </c:pt>
                <c:pt idx="5">
                  <c:v>3.3935403726708073</c:v>
                </c:pt>
                <c:pt idx="6">
                  <c:v>3.0639884393063586</c:v>
                </c:pt>
                <c:pt idx="7">
                  <c:v>3.7738297872340425</c:v>
                </c:pt>
                <c:pt idx="8">
                  <c:v>3.325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.2023743697479"/>
          <c:min val="2.6539869747899156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VW ST GEORGE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133.50852736170845</c:v>
                </c:pt>
                <c:pt idx="1">
                  <c:v>124.52905604719764</c:v>
                </c:pt>
                <c:pt idx="2">
                  <c:v>125.66441779876723</c:v>
                </c:pt>
                <c:pt idx="3">
                  <c:v>131.4519062005467</c:v>
                </c:pt>
                <c:pt idx="4">
                  <c:v>132.6886803693774</c:v>
                </c:pt>
                <c:pt idx="5">
                  <c:v>140.1975303339418</c:v>
                </c:pt>
                <c:pt idx="6">
                  <c:v>142.53003268369446</c:v>
                </c:pt>
                <c:pt idx="7">
                  <c:v>141.47412587412586</c:v>
                </c:pt>
                <c:pt idx="8">
                  <c:v>141.50217039196633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5.23017917916897"/>
          <c:min val="121.82890955172311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AUDI RENO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226.99655601837938</c:v>
                </c:pt>
                <c:pt idx="1">
                  <c:v>230.6832340523972</c:v>
                </c:pt>
                <c:pt idx="2">
                  <c:v>225.44062666768312</c:v>
                </c:pt>
                <c:pt idx="3">
                  <c:v>220.3694915254237</c:v>
                </c:pt>
                <c:pt idx="4">
                  <c:v>229.04754684838161</c:v>
                </c:pt>
                <c:pt idx="5">
                  <c:v>247.9044473377647</c:v>
                </c:pt>
                <c:pt idx="6">
                  <c:v>243.19138102761363</c:v>
                </c:pt>
                <c:pt idx="7">
                  <c:v>243.7889909692768</c:v>
                </c:pt>
                <c:pt idx="8">
                  <c:v>245.53794655414907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2.03469070961586"/>
          <c:min val="216.23924815357256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HONDA SPOKANE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135.50618900582526</c:v>
                </c:pt>
                <c:pt idx="1">
                  <c:v>139.43354100521177</c:v>
                </c:pt>
                <c:pt idx="2">
                  <c:v>143.04070476965322</c:v>
                </c:pt>
                <c:pt idx="3">
                  <c:v>144.27756894597658</c:v>
                </c:pt>
                <c:pt idx="4">
                  <c:v>143.9452209905324</c:v>
                </c:pt>
                <c:pt idx="5">
                  <c:v>143.4172847205565</c:v>
                </c:pt>
                <c:pt idx="6">
                  <c:v>148.4194108316338</c:v>
                </c:pt>
                <c:pt idx="7">
                  <c:v>146.32433479457643</c:v>
                </c:pt>
                <c:pt idx="8">
                  <c:v>148.9747782648588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0.99506665371382"/>
          <c:min val="133.48590061697024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KIA LV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146.10917942519472</c:v>
                </c:pt>
                <c:pt idx="1">
                  <c:v>139.31016738481938</c:v>
                </c:pt>
                <c:pt idx="2">
                  <c:v>141.53525925925928</c:v>
                </c:pt>
                <c:pt idx="3">
                  <c:v>149.0938108315364</c:v>
                </c:pt>
                <c:pt idx="4">
                  <c:v>157.86236726813692</c:v>
                </c:pt>
                <c:pt idx="5">
                  <c:v>155.1640949727532</c:v>
                </c:pt>
                <c:pt idx="6">
                  <c:v>145.80333762018492</c:v>
                </c:pt>
                <c:pt idx="7">
                  <c:v>147.881053660003</c:v>
                </c:pt>
                <c:pt idx="8">
                  <c:v>159.61675912057146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2.66274788093426"/>
          <c:min val="136.26417862445658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KIA ST GEORGE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141.29899487583762</c:v>
                </c:pt>
                <c:pt idx="1">
                  <c:v>141.12609206660136</c:v>
                </c:pt>
                <c:pt idx="2">
                  <c:v>134.98959023374655</c:v>
                </c:pt>
                <c:pt idx="3">
                  <c:v>134.82066907775769</c:v>
                </c:pt>
                <c:pt idx="4">
                  <c:v>134.81227542002526</c:v>
                </c:pt>
                <c:pt idx="5">
                  <c:v>141.9157515410147</c:v>
                </c:pt>
                <c:pt idx="6">
                  <c:v>145.1528764308776</c:v>
                </c:pt>
                <c:pt idx="7">
                  <c:v>145.4075890162945</c:v>
                </c:pt>
                <c:pt idx="8">
                  <c:v>147.8839667352231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9.84472043250278"/>
          <c:min val="132.8515217227456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NISSAN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170.91694630872482</c:v>
                </c:pt>
                <c:pt idx="1">
                  <c:v>174.94393030380394</c:v>
                </c:pt>
                <c:pt idx="2">
                  <c:v>171.33260055096417</c:v>
                </c:pt>
                <c:pt idx="3">
                  <c:v>169.3619524405507</c:v>
                </c:pt>
                <c:pt idx="4">
                  <c:v>178.97402165816766</c:v>
                </c:pt>
                <c:pt idx="5">
                  <c:v>176.8534134157945</c:v>
                </c:pt>
                <c:pt idx="6">
                  <c:v>178.75288589721362</c:v>
                </c:pt>
                <c:pt idx="7">
                  <c:v>178.72942668879108</c:v>
                </c:pt>
                <c:pt idx="8">
                  <c:v>183.27923149141628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5.36682334904611"/>
          <c:min val="167.27436058292088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GMC PRESCOTT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147.17883416109635</c:v>
                </c:pt>
                <c:pt idx="1">
                  <c:v>135.63777641695583</c:v>
                </c:pt>
                <c:pt idx="2">
                  <c:v>141.64139075345048</c:v>
                </c:pt>
                <c:pt idx="3">
                  <c:v>139.12898539404827</c:v>
                </c:pt>
                <c:pt idx="4">
                  <c:v>140.79767083404693</c:v>
                </c:pt>
                <c:pt idx="5">
                  <c:v>142.24952097083244</c:v>
                </c:pt>
                <c:pt idx="6">
                  <c:v>142.61742003865575</c:v>
                </c:pt>
                <c:pt idx="7">
                  <c:v>143.95335221631723</c:v>
                </c:pt>
                <c:pt idx="8">
                  <c:v>154.41898907103825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57.2361709691506"/>
          <c:min val="132.82059451884348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VOLVO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208.9492918178626</c:v>
                </c:pt>
                <c:pt idx="1">
                  <c:v>217.9379829257705</c:v>
                </c:pt>
                <c:pt idx="2">
                  <c:v>223.98379699248122</c:v>
                </c:pt>
                <c:pt idx="3">
                  <c:v>226.2475382875938</c:v>
                </c:pt>
                <c:pt idx="4">
                  <c:v>219.74642583470168</c:v>
                </c:pt>
                <c:pt idx="5">
                  <c:v>224.43341441458693</c:v>
                </c:pt>
                <c:pt idx="6">
                  <c:v>228.6857179372484</c:v>
                </c:pt>
                <c:pt idx="7">
                  <c:v>221.59294258373205</c:v>
                </c:pt>
                <c:pt idx="8">
                  <c:v>226.9213371266003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31.64618185515627"/>
          <c:min val="205.9888278999547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CHEVY GMC BULLHEAD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153.1491574232082</c:v>
                </c:pt>
                <c:pt idx="1">
                  <c:v>157.95352962362688</c:v>
                </c:pt>
                <c:pt idx="2">
                  <c:v>156.04347791229054</c:v>
                </c:pt>
                <c:pt idx="3">
                  <c:v>157.37133021424003</c:v>
                </c:pt>
                <c:pt idx="4">
                  <c:v>149.20385916225828</c:v>
                </c:pt>
                <c:pt idx="5">
                  <c:v>155.4821624007061</c:v>
                </c:pt>
                <c:pt idx="6">
                  <c:v>158.9620323488045</c:v>
                </c:pt>
                <c:pt idx="7">
                  <c:v>164.2580469341408</c:v>
                </c:pt>
                <c:pt idx="8">
                  <c:v>162.51214652956298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6.51617509992317"/>
          <c:min val="146.9457309964759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CADILLAC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169.23952076348527</c:v>
                </c:pt>
                <c:pt idx="1">
                  <c:v>171.362331838565</c:v>
                </c:pt>
                <c:pt idx="2">
                  <c:v>168.18649634020764</c:v>
                </c:pt>
                <c:pt idx="3">
                  <c:v>180.00863368961805</c:v>
                </c:pt>
                <c:pt idx="4">
                  <c:v>151.5942152678995</c:v>
                </c:pt>
                <c:pt idx="5">
                  <c:v>163.62502533205532</c:v>
                </c:pt>
                <c:pt idx="6">
                  <c:v>179.30890045543268</c:v>
                </c:pt>
                <c:pt idx="7">
                  <c:v>175.9947113813166</c:v>
                </c:pt>
                <c:pt idx="8">
                  <c:v>169.93955489368741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4.27079645287583"/>
          <c:min val="147.33205250464172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VW ST GEORGE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226.22956521739133</c:v>
                </c:pt>
                <c:pt idx="1">
                  <c:v>248.52270270270267</c:v>
                </c:pt>
                <c:pt idx="2">
                  <c:v>200.74942028985507</c:v>
                </c:pt>
                <c:pt idx="3">
                  <c:v>243.29641592920353</c:v>
                </c:pt>
                <c:pt idx="4">
                  <c:v>234.13774647887323</c:v>
                </c:pt>
                <c:pt idx="5">
                  <c:v>287.9189156626506</c:v>
                </c:pt>
                <c:pt idx="6">
                  <c:v>324.6299523809524</c:v>
                </c:pt>
                <c:pt idx="7">
                  <c:v>281.9111059907834</c:v>
                </c:pt>
                <c:pt idx="8">
                  <c:v>287.2737362637363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43.212032194617"/>
          <c:min val="182.16734047619047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LR RENO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735.0373714285714</c:v>
                </c:pt>
                <c:pt idx="1">
                  <c:v>633.5144852941177</c:v>
                </c:pt>
                <c:pt idx="2">
                  <c:v>695.5033121019109</c:v>
                </c:pt>
                <c:pt idx="3">
                  <c:v>845.1699386503068</c:v>
                </c:pt>
                <c:pt idx="4">
                  <c:v>839.2182857142857</c:v>
                </c:pt>
                <c:pt idx="5">
                  <c:v>919.2100621118013</c:v>
                </c:pt>
                <c:pt idx="6">
                  <c:v>872.8272254335259</c:v>
                </c:pt>
                <c:pt idx="7">
                  <c:v>956.7090425531915</c:v>
                </c:pt>
                <c:pt idx="8">
                  <c:v>764.899375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5.1882261420525"/>
          <c:min val="585.0353017052566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ACURA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240.3025692695214</c:v>
                </c:pt>
                <c:pt idx="1">
                  <c:v>216.6792098092643</c:v>
                </c:pt>
                <c:pt idx="2">
                  <c:v>230.04961259079906</c:v>
                </c:pt>
                <c:pt idx="3">
                  <c:v>243.99435114503817</c:v>
                </c:pt>
                <c:pt idx="4">
                  <c:v>304.9811274509804</c:v>
                </c:pt>
                <c:pt idx="5">
                  <c:v>286.73334117647056</c:v>
                </c:pt>
                <c:pt idx="6">
                  <c:v>273.25761160714285</c:v>
                </c:pt>
                <c:pt idx="7">
                  <c:v>260.6470308788598</c:v>
                </c:pt>
                <c:pt idx="8">
                  <c:v>314.04050125313285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28.6446949697131"/>
          <c:min val="202.07501609268402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HONDA FLAGSTAFF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181.37186813186813</c:v>
                </c:pt>
                <c:pt idx="1">
                  <c:v>163.32138666666665</c:v>
                </c:pt>
                <c:pt idx="2">
                  <c:v>246.46716814159294</c:v>
                </c:pt>
                <c:pt idx="3">
                  <c:v>218.6002958579882</c:v>
                </c:pt>
                <c:pt idx="4">
                  <c:v>169.2365010799136</c:v>
                </c:pt>
                <c:pt idx="5">
                  <c:v>212.3986206896552</c:v>
                </c:pt>
                <c:pt idx="6">
                  <c:v>233.71951318458417</c:v>
                </c:pt>
                <c:pt idx="7">
                  <c:v>230.95786026200872</c:v>
                </c:pt>
                <c:pt idx="8">
                  <c:v>238.70922352941176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58.9390353628319"/>
          <c:min val="150.84951944542772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HYUNDAI ST GEORGE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178.2198300970874</c:v>
                </c:pt>
                <c:pt idx="1">
                  <c:v>209.37557803468206</c:v>
                </c:pt>
                <c:pt idx="2">
                  <c:v>226.22274193548387</c:v>
                </c:pt>
                <c:pt idx="3">
                  <c:v>224.48005076142132</c:v>
                </c:pt>
                <c:pt idx="4">
                  <c:v>221.7853680981595</c:v>
                </c:pt>
                <c:pt idx="5">
                  <c:v>210.79133663366335</c:v>
                </c:pt>
                <c:pt idx="6">
                  <c:v>209.2606100795756</c:v>
                </c:pt>
                <c:pt idx="7">
                  <c:v>270.77191860465115</c:v>
                </c:pt>
                <c:pt idx="8">
                  <c:v>225.52879679144385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84.65473188078573"/>
          <c:min val="164.33701682095284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TOYOTA PRESCOTT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128.18389112903225</c:v>
                </c:pt>
                <c:pt idx="1">
                  <c:v>143.6304268292683</c:v>
                </c:pt>
                <c:pt idx="2">
                  <c:v>136.9080487804878</c:v>
                </c:pt>
                <c:pt idx="3">
                  <c:v>198.15143617021278</c:v>
                </c:pt>
                <c:pt idx="4">
                  <c:v>159.63840958605664</c:v>
                </c:pt>
                <c:pt idx="5">
                  <c:v>147.4817120622568</c:v>
                </c:pt>
                <c:pt idx="6">
                  <c:v>150.852402717727</c:v>
                </c:pt>
                <c:pt idx="7">
                  <c:v>176.80212672521958</c:v>
                </c:pt>
                <c:pt idx="8">
                  <c:v>139.20603773584907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08.64656792638985"/>
          <c:min val="117.68875937285517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CHEVY GMC BULLHEAD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233.84593837535013</c:v>
                </c:pt>
                <c:pt idx="1">
                  <c:v>272.64770642201836</c:v>
                </c:pt>
                <c:pt idx="2">
                  <c:v>264.5160053619303</c:v>
                </c:pt>
                <c:pt idx="3">
                  <c:v>300.4536959553696</c:v>
                </c:pt>
                <c:pt idx="4">
                  <c:v>288.36308157099694</c:v>
                </c:pt>
                <c:pt idx="5">
                  <c:v>250.08998518518518</c:v>
                </c:pt>
                <c:pt idx="6">
                  <c:v>321.2700792602378</c:v>
                </c:pt>
                <c:pt idx="7">
                  <c:v>293.4214486638537</c:v>
                </c:pt>
                <c:pt idx="8">
                  <c:v>258.24791976225856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34.383700392971"/>
          <c:min val="220.73231724261697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AUDI HENDERSON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640.6571929824562</c:v>
                </c:pt>
                <c:pt idx="1">
                  <c:v>906.8386104218363</c:v>
                </c:pt>
                <c:pt idx="2">
                  <c:v>634.7025063291139</c:v>
                </c:pt>
                <c:pt idx="3">
                  <c:v>665.1664390243902</c:v>
                </c:pt>
                <c:pt idx="4">
                  <c:v>689.3056844547564</c:v>
                </c:pt>
                <c:pt idx="5">
                  <c:v>652.1006864988558</c:v>
                </c:pt>
                <c:pt idx="6">
                  <c:v>693.769124726477</c:v>
                </c:pt>
                <c:pt idx="7">
                  <c:v>709.0950352941177</c:v>
                </c:pt>
                <c:pt idx="8">
                  <c:v>1041.912085308057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2.9935221548983"/>
          <c:min val="573.6210694822724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LR HENDERSON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879.8076687116564</c:v>
                </c:pt>
                <c:pt idx="1">
                  <c:v>925.1433742331288</c:v>
                </c:pt>
                <c:pt idx="2">
                  <c:v>886.3305590062112</c:v>
                </c:pt>
                <c:pt idx="3">
                  <c:v>953.3849523809523</c:v>
                </c:pt>
                <c:pt idx="4">
                  <c:v>911.7989444444445</c:v>
                </c:pt>
                <c:pt idx="5">
                  <c:v>804.3490058479532</c:v>
                </c:pt>
                <c:pt idx="6">
                  <c:v>1035.5124242424242</c:v>
                </c:pt>
                <c:pt idx="7">
                  <c:v>994.8709444444444</c:v>
                </c:pt>
                <c:pt idx="8">
                  <c:v>934.7331325301205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70.186937001595"/>
          <c:min val="769.6744930887826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HYUNDAI PRESCOTT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268.8725</c:v>
                </c:pt>
                <c:pt idx="1">
                  <c:v>180.48355670103092</c:v>
                </c:pt>
                <c:pt idx="2">
                  <c:v>249.92049773755656</c:v>
                </c:pt>
                <c:pt idx="3">
                  <c:v>255.83444915254236</c:v>
                </c:pt>
                <c:pt idx="4">
                  <c:v>224.2878260869565</c:v>
                </c:pt>
                <c:pt idx="5">
                  <c:v>167.36384920634922</c:v>
                </c:pt>
                <c:pt idx="6">
                  <c:v>269.1880172413793</c:v>
                </c:pt>
                <c:pt idx="7">
                  <c:v>279.6357425742574</c:v>
                </c:pt>
                <c:pt idx="8">
                  <c:v>227.57493506493506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96.4765265794436"/>
          <c:min val="150.52306520116298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ACURA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0.3838170224523827</c:v>
                </c:pt>
                <c:pt idx="1">
                  <c:v>0.4035019812938098</c:v>
                </c:pt>
                <c:pt idx="2">
                  <c:v>0.3952216223703298</c:v>
                </c:pt>
                <c:pt idx="3">
                  <c:v>0.4448395856159019</c:v>
                </c:pt>
                <c:pt idx="4">
                  <c:v>0.47606328903347445</c:v>
                </c:pt>
                <c:pt idx="5">
                  <c:v>0.49427527129736526</c:v>
                </c:pt>
                <c:pt idx="6">
                  <c:v>0.4642179700098211</c:v>
                </c:pt>
                <c:pt idx="7">
                  <c:v>0.48270738633256904</c:v>
                </c:pt>
                <c:pt idx="8">
                  <c:v>0.45289434755155056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5108440086241126"/>
          <c:min val="0.3672482851256353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VW ST GEORGE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0.40001902646023274</c:v>
                </c:pt>
                <c:pt idx="1">
                  <c:v>0.3720732457962403</c:v>
                </c:pt>
                <c:pt idx="2">
                  <c:v>0.4018829925450841</c:v>
                </c:pt>
                <c:pt idx="3">
                  <c:v>0.40962760928027814</c:v>
                </c:pt>
                <c:pt idx="4">
                  <c:v>0.4597764968817762</c:v>
                </c:pt>
                <c:pt idx="5">
                  <c:v>0.40350076249992856</c:v>
                </c:pt>
                <c:pt idx="6">
                  <c:v>0.45445150808341633</c:v>
                </c:pt>
                <c:pt idx="7">
                  <c:v>0.42913664813449875</c:v>
                </c:pt>
                <c:pt idx="8">
                  <c:v>0.425523613232545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7293198454460655"/>
          <c:min val="0.3589177581334099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GMC PRESCOTT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0.34774542164070493</c:v>
                </c:pt>
                <c:pt idx="1">
                  <c:v>0.3428853815363897</c:v>
                </c:pt>
                <c:pt idx="2">
                  <c:v>0.3678319883700978</c:v>
                </c:pt>
                <c:pt idx="3">
                  <c:v>0.3451036516062462</c:v>
                </c:pt>
                <c:pt idx="4">
                  <c:v>0.37383512874032615</c:v>
                </c:pt>
                <c:pt idx="5">
                  <c:v>0.37442614515827255</c:v>
                </c:pt>
                <c:pt idx="6">
                  <c:v>0.3765012914668214</c:v>
                </c:pt>
                <c:pt idx="7">
                  <c:v>0.4109924749697751</c:v>
                </c:pt>
                <c:pt idx="8">
                  <c:v>0.39565037718326934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212085389847829"/>
          <c:min val="0.3326693175213819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AUDI RENO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0.41530601520715416</c:v>
                </c:pt>
                <c:pt idx="1">
                  <c:v>0.4108890052717672</c:v>
                </c:pt>
                <c:pt idx="2">
                  <c:v>0.405583451418382</c:v>
                </c:pt>
                <c:pt idx="3">
                  <c:v>0.41689218345561846</c:v>
                </c:pt>
                <c:pt idx="4">
                  <c:v>0.458754837572283</c:v>
                </c:pt>
                <c:pt idx="5">
                  <c:v>0.47543115549863596</c:v>
                </c:pt>
                <c:pt idx="6">
                  <c:v>0.44051206489623174</c:v>
                </c:pt>
                <c:pt idx="7">
                  <c:v>0.44067846901952584</c:v>
                </c:pt>
                <c:pt idx="8">
                  <c:v>0.4379850163841297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8590831111067406"/>
          <c:min val="0.3951062958063439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TOYOTA HENDERSON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0.40057589442118835</c:v>
                </c:pt>
                <c:pt idx="1">
                  <c:v>0.3824592298574588</c:v>
                </c:pt>
                <c:pt idx="2">
                  <c:v>0.3990699220487699</c:v>
                </c:pt>
                <c:pt idx="3">
                  <c:v>0.3369845083698473</c:v>
                </c:pt>
                <c:pt idx="4">
                  <c:v>0.42446429931693574</c:v>
                </c:pt>
                <c:pt idx="5">
                  <c:v>0.4242123912395645</c:v>
                </c:pt>
                <c:pt idx="6">
                  <c:v>0.4125803196455596</c:v>
                </c:pt>
                <c:pt idx="7">
                  <c:v>0.4279628930950305</c:v>
                </c:pt>
                <c:pt idx="8">
                  <c:v>0.41019587611883684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41609650803808"/>
          <c:min val="0.3233377506610698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KIA ST GEORGE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0.39385465162077204</c:v>
                </c:pt>
                <c:pt idx="1">
                  <c:v>0.4104798110566934</c:v>
                </c:pt>
                <c:pt idx="2">
                  <c:v>0.39984615107565896</c:v>
                </c:pt>
                <c:pt idx="3">
                  <c:v>0.4242643654011316</c:v>
                </c:pt>
                <c:pt idx="4">
                  <c:v>0.43535929201653073</c:v>
                </c:pt>
                <c:pt idx="5">
                  <c:v>0.4359650422122587</c:v>
                </c:pt>
                <c:pt idx="6">
                  <c:v>0.4310274406950725</c:v>
                </c:pt>
                <c:pt idx="7">
                  <c:v>0.4257261405886852</c:v>
                </c:pt>
                <c:pt idx="8">
                  <c:v>0.4125780793358778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4228160080098167"/>
          <c:min val="0.38753809303204906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CDJR POST FALLS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0.34615649425879996</c:v>
                </c:pt>
                <c:pt idx="1">
                  <c:v>0.3553626019087758</c:v>
                </c:pt>
                <c:pt idx="2">
                  <c:v>0.33286088298414096</c:v>
                </c:pt>
                <c:pt idx="3">
                  <c:v>0.33135079455831645</c:v>
                </c:pt>
                <c:pt idx="4">
                  <c:v>0.36466133494564634</c:v>
                </c:pt>
                <c:pt idx="5">
                  <c:v>0.38118653720091344</c:v>
                </c:pt>
                <c:pt idx="6">
                  <c:v>0.3809185720341265</c:v>
                </c:pt>
                <c:pt idx="7">
                  <c:v>0.37479736400081787</c:v>
                </c:pt>
                <c:pt idx="8">
                  <c:v>0.3350495696231172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388661898597303"/>
          <c:min val="0.3238754331619269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TOYOTA PRESCOTT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0.414351536191364</c:v>
                </c:pt>
                <c:pt idx="1">
                  <c:v>0.39318087070517616</c:v>
                </c:pt>
                <c:pt idx="2">
                  <c:v>0.4185113634289955</c:v>
                </c:pt>
                <c:pt idx="3">
                  <c:v>0.3984325401778728</c:v>
                </c:pt>
                <c:pt idx="4">
                  <c:v>0.4275287802058474</c:v>
                </c:pt>
                <c:pt idx="5">
                  <c:v>0.4314231842150624</c:v>
                </c:pt>
                <c:pt idx="6">
                  <c:v>0.40647931761383654</c:v>
                </c:pt>
                <c:pt idx="7">
                  <c:v>0.42811568086149515</c:v>
                </c:pt>
                <c:pt idx="8">
                  <c:v>0.4328714643805786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38825053431889"/>
          <c:min val="0.3872272816538658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LR RENO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0.4411058127734458</c:v>
                </c:pt>
                <c:pt idx="1">
                  <c:v>0.45645701726723603</c:v>
                </c:pt>
                <c:pt idx="2">
                  <c:v>0.43879838840991475</c:v>
                </c:pt>
                <c:pt idx="3">
                  <c:v>0.40377729240207977</c:v>
                </c:pt>
                <c:pt idx="4">
                  <c:v>0.4744010071958122</c:v>
                </c:pt>
                <c:pt idx="5">
                  <c:v>0.4339098342743925</c:v>
                </c:pt>
                <c:pt idx="6">
                  <c:v>0.44740581583560335</c:v>
                </c:pt>
                <c:pt idx="7">
                  <c:v>0.46909418535282466</c:v>
                </c:pt>
                <c:pt idx="8">
                  <c:v>0.45065660188962764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8499456441487204"/>
          <c:min val="0.3931837351830199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7F7F7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CHEVY GMC BULLHEAD</c:v>
                </c:pt>
              </c:strCache>
            </c:strRef>
          </c:tx>
          <c:spPr>
            <a:solidFill>
              <a:srgbClr val="12A566"/>
            </a:solidFill>
            <a:ln w="25400" cap="flat">
              <a:solidFill>
                <a:srgbClr val="12A56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3"/>
            <c:spPr>
              <a:solidFill>
                <a:srgbClr val="12A566"/>
              </a:solidFill>
              <a:ln w="9525" cap="flat">
                <a:solidFill>
                  <a:srgbClr val="12A56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Sheet1!$A$2:$A$10</c:f>
              <c:multiLvlStrCache>
                <c:ptCount val="9"/>
                <c:lvl>
                  <c:pt idx="0">
                    <c:v>J</c:v>
                  </c:pt>
                  <c:pt idx="1">
                    <c:v>F</c:v>
                  </c:pt>
                  <c:pt idx="2">
                    <c:v>M</c:v>
                  </c:pt>
                  <c:pt idx="3">
                    <c:v>A</c:v>
                  </c:pt>
                  <c:pt idx="4">
                    <c:v>M</c:v>
                  </c:pt>
                  <c:pt idx="5">
                    <c:v>J</c:v>
                  </c:pt>
                  <c:pt idx="6">
                    <c:v>J</c:v>
                  </c:pt>
                  <c:pt idx="7">
                    <c:v>A</c:v>
                  </c:pt>
                  <c:pt idx="8">
                    <c:v>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0.3680342105578381</c:v>
                </c:pt>
                <c:pt idx="1">
                  <c:v>0.3691001034144722</c:v>
                </c:pt>
                <c:pt idx="2">
                  <c:v>0.3670958755466887</c:v>
                </c:pt>
                <c:pt idx="3">
                  <c:v>0.37086270739787763</c:v>
                </c:pt>
                <c:pt idx="4">
                  <c:v>0.3526965626793513</c:v>
                </c:pt>
                <c:pt idx="5">
                  <c:v>0.37527049523033906</c:v>
                </c:pt>
                <c:pt idx="6">
                  <c:v>0.3587371292399778</c:v>
                </c:pt>
                <c:pt idx="7">
                  <c:v>0.3863209963060099</c:v>
                </c:pt>
                <c:pt idx="8">
                  <c:v>0.40033452080355186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40748021452218197"/>
          <c:min val="0.3455508689607212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FFFFF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Before → after, by measure:
CP Gross: top LINCOLN $865K → $1.26M; SUBARU PRESCOTT $832K → $1.21M; SUBARU ST GEORGE $1.48M → $1.98M. Bottom CHEVY LV $7.40M → $7.08M; AUDI RENO $3.38M → $2.90M; VW ST GEORGE $702K → $560K.
CP RO Count: top KIA LV 7,156 → 8,133; HYUNDAI PRESCOTT 1,784 → 2,010; GMC PRESCOTT 2,810 → 3,107. Bottom AUDI RENO 4,379 → 3,917; HYUNDAI ST GEORGE 3,784 → 3,349; VW ST GEORGE 2,251 → 1,919.
CP Hours per RO: top HYUNDAI ST GEORGE 1.03 → 1.43; SUBARU ST GEORGE 1.75 → 2.30; KIA ST GEORGE 0.99 → 1.29. Bottom VOLVO 2.58 → 2.28; VW ST GEORGE 1.95 → 1.71; LR RENO 4.04 → 3.48.
CP ELR: top HONDA SPOKANE $117.05 → $143.89; VOLVO $181.59 → $222.12; LINCOLN $139.55 → $167.64. Bottom ACURA $221.78 → $210.50; SUBARU ST GEORGE $148.84 → $138.48; KIA LV $184.36 → $149.23.
CP Parts GP %: top ACURA 38.7% → 44.9%; NISSAN 38.2% → 42.7%; SUBARU PRESCOTT 31.0% → 34.8%. Bottom HYUNDAI PRESCOTT 39.9% → 39.4%; TOYOTA SPOKANE 45.3% → 44.5%; AUDI HENDERSON 35.8% → 33.6%.Takeaway with the store call-outs (off the slide): Most top-three finishes: Lincoln, Subaru Prescott and Subaru St George (2 of 5). Most bottom-three: VW St George (3 of 5).Source: Qlik - Closed Repair Orders. Customer pay, by close date. Same-store, 33 stores (INEOS excluded, opened 2026). GMC Prescott body shop labor types excluded. CP gross = CP labor gross + CP parts gross. Change is Jan-Sep 2026 vs Jan-Sep 2025. Ranked by percent change (points for parts GP %), so store size does not drive the ranking.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Before → after, by measure:
CP Gross per Month: top MAZDA $155K → $209K; KIA ST GEORGE $85K → $112K; CDJR POST FALLS $218K → $279K. Bottom SUBARU ST GEORGE $220K → $218K; HONDA HENDERSON $841K → $823K; CADILLAC $317K → $283K.
CP ROs per Month: top LEXUS 425 → 570; CDJR POST FALLS 543 → 667; LR LV 350 → 415. Bottom VW ST GEORGE 207 → 203; HYUNDAI ST GEORGE 377 → 365; CADILLAC 609 → 582.
CP Hours per RO: top MAZDA 1.35 → 1.65; HYUNDAI PRESCOTT 1.56 → 1.76; HYUNDAI ST GEORGE 1.37 → 1.54. Bottom HONDA HENDERSON 2.06 → 1.86; VW HENDERSON 2.66 → 2.37; CADILLAC 2.85 → 2.45.
CP ELR: top VW ST GEORGE $128.27 → $141.89; AUDI RENO $227.34 → $244.12; HONDA SPOKANE $139.40 → $147.93. Bottom SUBARU ST GEORGE $141.07 → $136.71; LEXUS $196.84 → $187.42; ACURA $232.02 → $199.04.
CP Parts GP %: top ACURA 39.4% → 46.6%; VW ST GEORGE 39.1% → 43.8%; GMC PRESCOTT 35.3% → 39.2%. Bottom CHEVY LV 38.2% → 35.0%; LINCOLN 39.9% → 36.0%; HONDA HENDERSON 44.3% → 40.0%.Takeaway with the store call-outs (off the slide): Most top-three finishes: Mazda, CDJR Post Falls and VW St George (2 of 5). Most bottom-three: Honda Henderson and Cadillac (3 of 5).Source: Qlik - Closed Repair Orders. Customer pay, by close date. Same-store, 33 stores (INEOS excluded, opened 2026). GMC Prescott body shop labor types excluded. CP gross = CP labor gross + CP parts gross. Change is Jul-Sep 2026 (Q3) vs Jan-Mar 2026 (Q1), each store against itself. Gross and ROs are per-month averages of each quarter. The group's own Q1-to-Q3 change is the seasonal baseline: it is the same for every store, so ranking by a store's change is the same as ranking by how far it beat the group. 'Stepped up in' = the month that best splits the store's year into a lower stretch before and a higher stretch after (at least three months before, two after). It is a conversation starter, not proof of cause.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Takeaway with the store call-outs (off the slide): Mazda went $155K to $209K, stepping up in August. Ask what changed that month.Source: Qlik - Closed Repair Orders. Customer pay, by close date. Same-store, 33 stores (INEOS excluded, opened 2026). GMC Prescott body shop labor types excluded. CP gross = CP labor gross + CP parts gross. Change is Jul-Sep 2026 (Q3) vs Jan-Mar 2026 (Q1), each store against itself. Gross and ROs are per-month averages of each quarter. The group's own Q1-to-Q3 change is the seasonal baseline: it is the same for every store, so ranking by a store's change is the same as ranking by how far it beat the group. 'Stepped up in' = the month that best splits the store's year into a lower stretch before and a higher stretch after (at least three months before, two after). It is a conversation starter, not proof of cause.
Review note: the month line is the store's own monthly cp gross per month, so a step up shows as the line moving to a higher level and staying there. Volume measures (gross, ROs) still carry some store-specific seasonality (snowbird markets) the group baseline cannot fully remove; the rate measures are the cleanest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Takeaway with the store call-outs (off the slide): Lexus went 425 to 570, stepping up in April. Ask what changed that month.Source: Qlik - Closed Repair Orders. Customer pay, by close date. Same-store, 33 stores (INEOS excluded, opened 2026). GMC Prescott body shop labor types excluded. CP gross = CP labor gross + CP parts gross. Change is Jul-Sep 2026 (Q3) vs Jan-Mar 2026 (Q1), each store against itself. Gross and ROs are per-month averages of each quarter. The group's own Q1-to-Q3 change is the seasonal baseline: it is the same for every store, so ranking by a store's change is the same as ranking by how far it beat the group. 'Stepped up in' = the month that best splits the store's year into a lower stretch before and a higher stretch after (at least three months before, two after). It is a conversation starter, not proof of cause.
Review note: the month line is the store's own monthly cp ros per month, so a step up shows as the line moving to a higher level and staying there. Volume measures (gross, ROs) still carry some store-specific seasonality (snowbird markets) the group baseline cannot fully remove; the rate measures are the cleanest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Takeaway with the store call-outs (off the slide): Mazda went 1.35 to 1.65, stepping up in August. Ask what changed that month.Source: Qlik - Closed Repair Orders. Customer pay, by close date. Same-store, 33 stores (INEOS excluded, opened 2026). GMC Prescott body shop labor types excluded. CP gross = CP labor gross + CP parts gross. Change is Jul-Sep 2026 (Q3) vs Jan-Mar 2026 (Q1), each store against itself. Gross and ROs are per-month averages of each quarter. The group's own Q1-to-Q3 change is the seasonal baseline: it is the same for every store, so ranking by a store's change is the same as ranking by how far it beat the group. 'Stepped up in' = the month that best splits the store's year into a lower stretch before and a higher stretch after (at least three months before, two after). It is a conversation starter, not proof of cause.
Review note: the month line is the store's own monthly cp hours per ro, so a step up shows as the line moving to a higher level and staying there. Volume measures (gross, ROs) still carry some store-specific seasonality (snowbird markets) the group baseline cannot fully remove; the rate measures are the cleanest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Takeaway with the store call-outs (off the slide): VW St George went $128.27 to $141.89, stepping up in June. Ask what changed that month.Source: Qlik - Closed Repair Orders. Customer pay, by close date. Same-store, 33 stores (INEOS excluded, opened 2026). GMC Prescott body shop labor types excluded. CP gross = CP labor gross + CP parts gross. Change is Jul-Sep 2026 (Q3) vs Jan-Mar 2026 (Q1), each store against itself. Gross and ROs are per-month averages of each quarter. The group's own Q1-to-Q3 change is the seasonal baseline: it is the same for every store, so ranking by a store's change is the same as ranking by how far it beat the group. 'Stepped up in' = the month that best splits the store's year into a lower stretch before and a higher stretch after (at least three months before, two after). It is a conversation starter, not proof of cause.
Review note: the month line is the store's own monthly cp elr, so a step up shows as the line moving to a higher level and staying there. Volume measures (gross, ROs) still carry some store-specific seasonality (snowbird markets) the group baseline cannot fully remove; the rate measures are the cleanest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Takeaway with the store call-outs (off the slide): VW St George went $224 to $298, stepping up in June. Ask what changed that month.Source: Qlik - Closed Repair Orders. Customer pay, by close date. Same-store, 33 stores (INEOS excluded, opened 2026). GMC Prescott body shop labor types excluded. CP gross = CP labor gross + CP parts gross. Change is Jul-Sep 2026 (Q3) vs Jan-Mar 2026 (Q1), each store against itself. Gross and ROs are per-month averages of each quarter. The group's own Q1-to-Q3 change is the seasonal baseline: it is the same for every store, so ranking by a store's change is the same as ranking by how far it beat the group. 'Stepped up in' = the month that best splits the store's year into a lower stretch before and a higher stretch after (at least three months before, two after). It is a conversation starter, not proof of cause.
Review note: the month line is the store's own monthly cp parts $ per ro, so a step up shows as the line moving to a higher level and staying there. Volume measures (gross, ROs) still carry some store-specific seasonality (snowbird markets) the group baseline cannot fully remove; the rate measures are the cleanest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Takeaway with the store call-outs (off the slide): Acura went 39.4% to 46.6%, stepping up in April. Ask what changed that month.Source: Qlik - Closed Repair Orders. Customer pay, by close date. Same-store, 33 stores (INEOS excluded, opened 2026). GMC Prescott body shop labor types excluded. CP gross = CP labor gross + CP parts gross. Change is Jul-Sep 2026 (Q3) vs Jan-Mar 2026 (Q1), each store against itself. Gross and ROs are per-month averages of each quarter. The group's own Q1-to-Q3 change is the seasonal baseline: it is the same for every store, so ranking by a store's change is the same as ranking by how far it beat the group. 'Stepped up in' = the month that best splits the store's year into a lower stretch before and a higher stretch after (at least three months before, two after). It is a conversation starter, not proof of cause.
Review note: the month line is the store's own monthly cp parts gp %, so a step up shows as the line moving to a higher level and staying there. Volume measures (gross, ROs) still carry some store-specific seasonality (snowbird markets) the group baseline cannot fully remove; the rate measures are the cleanest read.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Takeaway with the store call-outs (off the slide): Last year: Subaru Prescott leads. Moving now: Three stores tie. Eight stores make both views.Source: Qlik - Closed Repair Orders. Customer pay, by close date. Same-store, 33 stores (INEOS excluded, opened 2026). GMC Prescott body shop labor types excluded. CP gross = CP labor gross + CP parts gross. Left: Jan-Sep 2026 vs Jan-Sep 2025. Right: Q3 2026 vs Q1 2026. Top-5 finishes counted across five measures (parts $ per RO dropped, Oct 23); top six stores shown in each 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Qlik - Closed Repair Orders. Customer pay, by close date. Same-store, 33 stores (INEOS excluded, opened 2026). GMC Prescott body shop labor types excluded. CP gross = CP labor gross + CP parts gross. Change is Jul-Sep 2026 (Q3) vs Jan-Mar 2026 (Q1), each store against itself. Gross and ROs are per-month averages of each quarter. The group's own Q1-to-Q3 change is the seasonal baseline: it is the same for every store, so ranking by a store's change is the same as ranking by how far it beat the group. 'Stepped up in' = the month that best splits the store's year into a lower stretch before and a higher stretch after (at least three months before, two after). It is a conversation starter, not proof of cause. Each row is the top Q1-to-Q3 mover on that measure. Opcode row: MAZDA tops 3 of the four opcode lists; its biggest move is shown. Opcode closing % = ROs with the service ÷ customer-pay ROs on the op-code report basis.
MAZDA's August opcode increase was confirmed with the store as a real change (Noah, Oct 19 2026).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chart" Target="/ppt/charts/chart3.xml"/><Relationship Id="rId4" Type="http://schemas.openxmlformats.org/officeDocument/2006/relationships/chart" Target="/ppt/charts/chart4.xml"/><Relationship Id="rId5" Type="http://schemas.openxmlformats.org/officeDocument/2006/relationships/chart" Target="/ppt/charts/chart5.xml"/><Relationship Id="rId6" Type="http://schemas.openxmlformats.org/officeDocument/2006/relationships/chart" Target="/ppt/charts/chart6.xml"/><Relationship Id="rId7" Type="http://schemas.openxmlformats.org/officeDocument/2006/relationships/chart" Target="/ppt/charts/chart7.xml"/><Relationship Id="rId8" Type="http://schemas.openxmlformats.org/officeDocument/2006/relationships/chart" Target="/ppt/charts/chart8.xml"/><Relationship Id="rId9" Type="http://schemas.openxmlformats.org/officeDocument/2006/relationships/chart" Target="/ppt/charts/chart9.xml"/><Relationship Id="rId10" Type="http://schemas.openxmlformats.org/officeDocument/2006/relationships/chart" Target="/ppt/charts/chart10.xml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1.xml"/><Relationship Id="rId2" Type="http://schemas.openxmlformats.org/officeDocument/2006/relationships/chart" Target="/ppt/charts/chart12.xml"/><Relationship Id="rId3" Type="http://schemas.openxmlformats.org/officeDocument/2006/relationships/chart" Target="/ppt/charts/chart13.xml"/><Relationship Id="rId4" Type="http://schemas.openxmlformats.org/officeDocument/2006/relationships/chart" Target="/ppt/charts/chart14.xml"/><Relationship Id="rId5" Type="http://schemas.openxmlformats.org/officeDocument/2006/relationships/chart" Target="/ppt/charts/chart15.xml"/><Relationship Id="rId6" Type="http://schemas.openxmlformats.org/officeDocument/2006/relationships/chart" Target="/ppt/charts/chart16.xml"/><Relationship Id="rId7" Type="http://schemas.openxmlformats.org/officeDocument/2006/relationships/chart" Target="/ppt/charts/chart17.xml"/><Relationship Id="rId8" Type="http://schemas.openxmlformats.org/officeDocument/2006/relationships/chart" Target="/ppt/charts/chart18.xml"/><Relationship Id="rId9" Type="http://schemas.openxmlformats.org/officeDocument/2006/relationships/chart" Target="/ppt/charts/chart19.xml"/><Relationship Id="rId10" Type="http://schemas.openxmlformats.org/officeDocument/2006/relationships/chart" Target="/ppt/charts/chart20.xml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1.xml"/><Relationship Id="rId2" Type="http://schemas.openxmlformats.org/officeDocument/2006/relationships/chart" Target="/ppt/charts/chart22.xml"/><Relationship Id="rId3" Type="http://schemas.openxmlformats.org/officeDocument/2006/relationships/chart" Target="/ppt/charts/chart23.xml"/><Relationship Id="rId4" Type="http://schemas.openxmlformats.org/officeDocument/2006/relationships/chart" Target="/ppt/charts/chart24.xml"/><Relationship Id="rId5" Type="http://schemas.openxmlformats.org/officeDocument/2006/relationships/chart" Target="/ppt/charts/chart25.xml"/><Relationship Id="rId6" Type="http://schemas.openxmlformats.org/officeDocument/2006/relationships/chart" Target="/ppt/charts/chart26.xml"/><Relationship Id="rId7" Type="http://schemas.openxmlformats.org/officeDocument/2006/relationships/chart" Target="/ppt/charts/chart27.xml"/><Relationship Id="rId8" Type="http://schemas.openxmlformats.org/officeDocument/2006/relationships/chart" Target="/ppt/charts/chart28.xml"/><Relationship Id="rId9" Type="http://schemas.openxmlformats.org/officeDocument/2006/relationships/chart" Target="/ppt/charts/chart29.xml"/><Relationship Id="rId10" Type="http://schemas.openxmlformats.org/officeDocument/2006/relationships/chart" Target="/ppt/charts/chart30.xml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1.xml"/><Relationship Id="rId2" Type="http://schemas.openxmlformats.org/officeDocument/2006/relationships/chart" Target="/ppt/charts/chart32.xml"/><Relationship Id="rId3" Type="http://schemas.openxmlformats.org/officeDocument/2006/relationships/chart" Target="/ppt/charts/chart33.xml"/><Relationship Id="rId4" Type="http://schemas.openxmlformats.org/officeDocument/2006/relationships/chart" Target="/ppt/charts/chart34.xml"/><Relationship Id="rId5" Type="http://schemas.openxmlformats.org/officeDocument/2006/relationships/chart" Target="/ppt/charts/chart35.xml"/><Relationship Id="rId6" Type="http://schemas.openxmlformats.org/officeDocument/2006/relationships/chart" Target="/ppt/charts/chart36.xml"/><Relationship Id="rId7" Type="http://schemas.openxmlformats.org/officeDocument/2006/relationships/chart" Target="/ppt/charts/chart37.xml"/><Relationship Id="rId8" Type="http://schemas.openxmlformats.org/officeDocument/2006/relationships/chart" Target="/ppt/charts/chart38.xml"/><Relationship Id="rId9" Type="http://schemas.openxmlformats.org/officeDocument/2006/relationships/chart" Target="/ppt/charts/chart39.xml"/><Relationship Id="rId10" Type="http://schemas.openxmlformats.org/officeDocument/2006/relationships/chart" Target="/ppt/charts/chart40.xml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1.xml"/><Relationship Id="rId2" Type="http://schemas.openxmlformats.org/officeDocument/2006/relationships/chart" Target="/ppt/charts/chart42.xml"/><Relationship Id="rId3" Type="http://schemas.openxmlformats.org/officeDocument/2006/relationships/chart" Target="/ppt/charts/chart43.xml"/><Relationship Id="rId4" Type="http://schemas.openxmlformats.org/officeDocument/2006/relationships/chart" Target="/ppt/charts/chart44.xml"/><Relationship Id="rId5" Type="http://schemas.openxmlformats.org/officeDocument/2006/relationships/chart" Target="/ppt/charts/chart45.xml"/><Relationship Id="rId6" Type="http://schemas.openxmlformats.org/officeDocument/2006/relationships/chart" Target="/ppt/charts/chart46.xml"/><Relationship Id="rId7" Type="http://schemas.openxmlformats.org/officeDocument/2006/relationships/chart" Target="/ppt/charts/chart47.xml"/><Relationship Id="rId8" Type="http://schemas.openxmlformats.org/officeDocument/2006/relationships/chart" Target="/ppt/charts/chart48.xml"/><Relationship Id="rId9" Type="http://schemas.openxmlformats.org/officeDocument/2006/relationships/chart" Target="/ppt/charts/chart49.xml"/><Relationship Id="rId10" Type="http://schemas.openxmlformats.org/officeDocument/2006/relationships/chart" Target="/ppt/charts/chart50.xml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1.xml"/><Relationship Id="rId2" Type="http://schemas.openxmlformats.org/officeDocument/2006/relationships/chart" Target="/ppt/charts/chart52.xml"/><Relationship Id="rId3" Type="http://schemas.openxmlformats.org/officeDocument/2006/relationships/chart" Target="/ppt/charts/chart53.xml"/><Relationship Id="rId4" Type="http://schemas.openxmlformats.org/officeDocument/2006/relationships/chart" Target="/ppt/charts/chart54.xml"/><Relationship Id="rId5" Type="http://schemas.openxmlformats.org/officeDocument/2006/relationships/chart" Target="/ppt/charts/chart55.xml"/><Relationship Id="rId6" Type="http://schemas.openxmlformats.org/officeDocument/2006/relationships/chart" Target="/ppt/charts/chart56.xml"/><Relationship Id="rId7" Type="http://schemas.openxmlformats.org/officeDocument/2006/relationships/chart" Target="/ppt/charts/chart57.xml"/><Relationship Id="rId8" Type="http://schemas.openxmlformats.org/officeDocument/2006/relationships/chart" Target="/ppt/charts/chart58.xml"/><Relationship Id="rId9" Type="http://schemas.openxmlformats.org/officeDocument/2006/relationships/chart" Target="/ppt/charts/chart59.xml"/><Relationship Id="rId10" Type="http://schemas.openxmlformats.org/officeDocument/2006/relationships/chart" Target="/ppt/charts/chart60.xml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· MOST IMPROVED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 Than Last Year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280160"/>
            <a:ext cx="10762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and bottom three stores on each measure, Jan–Sep 2026 vs Jan–Sep 2025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" y="2331720"/>
            <a:ext cx="45720" cy="159105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2331720"/>
            <a:ext cx="10881360" cy="53035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76656" y="2331720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76656" y="2862072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3392424"/>
            <a:ext cx="10881360" cy="53035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6656" y="3392424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792" y="4078224"/>
            <a:ext cx="45720" cy="159105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4078224"/>
            <a:ext cx="10881360" cy="53035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76656" y="4078224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" y="4608576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" y="5138928"/>
            <a:ext cx="10881360" cy="53035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6656" y="5138928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69264" y="1691640"/>
            <a:ext cx="2026310" cy="457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87552" y="1773936"/>
            <a:ext cx="19897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GROSS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87552" y="1993392"/>
            <a:ext cx="19897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+6.4%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87552" y="2377440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87552" y="2596896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+46.0%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87552" y="2907792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87552" y="3127248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+45.3%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87552" y="34381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87552" y="36576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+33.8%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87552" y="41239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87552" y="43434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−4.4%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987552" y="4654296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87552" y="4873752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−14.1%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87552" y="5184648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87552" y="5404104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−20.1%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105302" y="1691640"/>
            <a:ext cx="2026310" cy="457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3123590" y="1773936"/>
            <a:ext cx="19897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 COUNT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3123590" y="1993392"/>
            <a:ext cx="19897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+0.1%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3123590" y="2377440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3123590" y="2596896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+13.6%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3123590" y="2907792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3123590" y="3127248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+12.6%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3123590" y="34381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3123590" y="36576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+10.5%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3123590" y="41239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3123590" y="43434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−10.5%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3123590" y="4654296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3123590" y="4873752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−11.4%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3123590" y="5184648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3123590" y="5404104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−14.7%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241341" y="1691640"/>
            <a:ext cx="2026310" cy="457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5259629" y="1773936"/>
            <a:ext cx="19897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HOURS PER RO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5259629" y="1993392"/>
            <a:ext cx="19897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+3.6%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5259629" y="2377440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5259629" y="2596896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+39.1%</a:t>
            </a:r>
            <a:endParaRPr lang="en-US" sz="1600" dirty="0"/>
          </a:p>
        </p:txBody>
      </p:sp>
      <p:sp>
        <p:nvSpPr>
          <p:cNvPr id="54" name="Text 52"/>
          <p:cNvSpPr txBox="1"/>
          <p:nvPr/>
        </p:nvSpPr>
        <p:spPr>
          <a:xfrm>
            <a:off x="5259629" y="2907792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5259629" y="3127248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+31.3%</a:t>
            </a:r>
            <a:endParaRPr lang="en-US" sz="1600" dirty="0"/>
          </a:p>
        </p:txBody>
      </p:sp>
      <p:sp>
        <p:nvSpPr>
          <p:cNvPr id="56" name="Text 54"/>
          <p:cNvSpPr txBox="1"/>
          <p:nvPr/>
        </p:nvSpPr>
        <p:spPr>
          <a:xfrm>
            <a:off x="5259629" y="34381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5259629" y="36576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+30.7%</a:t>
            </a:r>
            <a:endParaRPr lang="en-US" sz="1600" dirty="0"/>
          </a:p>
        </p:txBody>
      </p:sp>
      <p:sp>
        <p:nvSpPr>
          <p:cNvPr id="58" name="Text 56"/>
          <p:cNvSpPr txBox="1"/>
          <p:nvPr/>
        </p:nvSpPr>
        <p:spPr>
          <a:xfrm>
            <a:off x="5259629" y="41239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5259629" y="43434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−11.7%</a:t>
            </a:r>
            <a:endParaRPr lang="en-US" sz="1600" dirty="0"/>
          </a:p>
        </p:txBody>
      </p:sp>
      <p:sp>
        <p:nvSpPr>
          <p:cNvPr id="60" name="Text 58"/>
          <p:cNvSpPr txBox="1"/>
          <p:nvPr/>
        </p:nvSpPr>
        <p:spPr>
          <a:xfrm>
            <a:off x="5259629" y="4654296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5259629" y="4873752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−12.5%</a:t>
            </a:r>
            <a:endParaRPr lang="en-US" sz="1600" dirty="0"/>
          </a:p>
        </p:txBody>
      </p:sp>
      <p:sp>
        <p:nvSpPr>
          <p:cNvPr id="62" name="Text 60"/>
          <p:cNvSpPr txBox="1"/>
          <p:nvPr/>
        </p:nvSpPr>
        <p:spPr>
          <a:xfrm>
            <a:off x="5259629" y="5184648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300" dirty="0"/>
          </a:p>
        </p:txBody>
      </p:sp>
      <p:sp>
        <p:nvSpPr>
          <p:cNvPr id="63" name="Text 61"/>
          <p:cNvSpPr txBox="1"/>
          <p:nvPr/>
        </p:nvSpPr>
        <p:spPr>
          <a:xfrm>
            <a:off x="5259629" y="5404104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−13.7%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7377379" y="1691640"/>
            <a:ext cx="2026310" cy="457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7395667" y="1773936"/>
            <a:ext cx="19897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ELR</a:t>
            </a:r>
            <a:endParaRPr lang="en-US" sz="1300" dirty="0"/>
          </a:p>
        </p:txBody>
      </p:sp>
      <p:sp>
        <p:nvSpPr>
          <p:cNvPr id="66" name="Text 64"/>
          <p:cNvSpPr txBox="1"/>
          <p:nvPr/>
        </p:nvSpPr>
        <p:spPr>
          <a:xfrm>
            <a:off x="7395667" y="1993392"/>
            <a:ext cx="19897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+2.2%</a:t>
            </a:r>
            <a:endParaRPr lang="en-US" sz="1300" dirty="0"/>
          </a:p>
        </p:txBody>
      </p:sp>
      <p:sp>
        <p:nvSpPr>
          <p:cNvPr id="67" name="Text 65"/>
          <p:cNvSpPr txBox="1"/>
          <p:nvPr/>
        </p:nvSpPr>
        <p:spPr>
          <a:xfrm>
            <a:off x="7395667" y="2377440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300" dirty="0"/>
          </a:p>
        </p:txBody>
      </p:sp>
      <p:sp>
        <p:nvSpPr>
          <p:cNvPr id="68" name="Text 66"/>
          <p:cNvSpPr txBox="1"/>
          <p:nvPr/>
        </p:nvSpPr>
        <p:spPr>
          <a:xfrm>
            <a:off x="7395667" y="2596896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+22.9%</a:t>
            </a:r>
            <a:endParaRPr lang="en-US" sz="1600" dirty="0"/>
          </a:p>
        </p:txBody>
      </p:sp>
      <p:sp>
        <p:nvSpPr>
          <p:cNvPr id="69" name="Text 67"/>
          <p:cNvSpPr txBox="1"/>
          <p:nvPr/>
        </p:nvSpPr>
        <p:spPr>
          <a:xfrm>
            <a:off x="7395667" y="2907792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300" dirty="0"/>
          </a:p>
        </p:txBody>
      </p:sp>
      <p:sp>
        <p:nvSpPr>
          <p:cNvPr id="70" name="Text 68"/>
          <p:cNvSpPr txBox="1"/>
          <p:nvPr/>
        </p:nvSpPr>
        <p:spPr>
          <a:xfrm>
            <a:off x="7395667" y="3127248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+22.3%</a:t>
            </a:r>
            <a:endParaRPr lang="en-US" sz="1600" dirty="0"/>
          </a:p>
        </p:txBody>
      </p:sp>
      <p:sp>
        <p:nvSpPr>
          <p:cNvPr id="71" name="Text 69"/>
          <p:cNvSpPr txBox="1"/>
          <p:nvPr/>
        </p:nvSpPr>
        <p:spPr>
          <a:xfrm>
            <a:off x="7395667" y="34381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300" dirty="0"/>
          </a:p>
        </p:txBody>
      </p:sp>
      <p:sp>
        <p:nvSpPr>
          <p:cNvPr id="72" name="Text 70"/>
          <p:cNvSpPr txBox="1"/>
          <p:nvPr/>
        </p:nvSpPr>
        <p:spPr>
          <a:xfrm>
            <a:off x="7395667" y="36576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+20.1%</a:t>
            </a:r>
            <a:endParaRPr lang="en-US" sz="1600" dirty="0"/>
          </a:p>
        </p:txBody>
      </p:sp>
      <p:sp>
        <p:nvSpPr>
          <p:cNvPr id="73" name="Text 71"/>
          <p:cNvSpPr txBox="1"/>
          <p:nvPr/>
        </p:nvSpPr>
        <p:spPr>
          <a:xfrm>
            <a:off x="7395667" y="41239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300" dirty="0"/>
          </a:p>
        </p:txBody>
      </p:sp>
      <p:sp>
        <p:nvSpPr>
          <p:cNvPr id="74" name="Text 72"/>
          <p:cNvSpPr txBox="1"/>
          <p:nvPr/>
        </p:nvSpPr>
        <p:spPr>
          <a:xfrm>
            <a:off x="7395667" y="43434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−5.0%</a:t>
            </a:r>
            <a:endParaRPr lang="en-US" sz="1600" dirty="0"/>
          </a:p>
        </p:txBody>
      </p:sp>
      <p:sp>
        <p:nvSpPr>
          <p:cNvPr id="75" name="Text 73"/>
          <p:cNvSpPr txBox="1"/>
          <p:nvPr/>
        </p:nvSpPr>
        <p:spPr>
          <a:xfrm>
            <a:off x="7395667" y="4654296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300" dirty="0"/>
          </a:p>
        </p:txBody>
      </p:sp>
      <p:sp>
        <p:nvSpPr>
          <p:cNvPr id="76" name="Text 74"/>
          <p:cNvSpPr txBox="1"/>
          <p:nvPr/>
        </p:nvSpPr>
        <p:spPr>
          <a:xfrm>
            <a:off x="7395667" y="4873752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−6.9%</a:t>
            </a:r>
            <a:endParaRPr lang="en-US" sz="1600" dirty="0"/>
          </a:p>
        </p:txBody>
      </p:sp>
      <p:sp>
        <p:nvSpPr>
          <p:cNvPr id="77" name="Text 75"/>
          <p:cNvSpPr txBox="1"/>
          <p:nvPr/>
        </p:nvSpPr>
        <p:spPr>
          <a:xfrm>
            <a:off x="7395667" y="5184648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300" dirty="0"/>
          </a:p>
        </p:txBody>
      </p:sp>
      <p:sp>
        <p:nvSpPr>
          <p:cNvPr id="78" name="Text 76"/>
          <p:cNvSpPr txBox="1"/>
          <p:nvPr/>
        </p:nvSpPr>
        <p:spPr>
          <a:xfrm>
            <a:off x="7395667" y="5404104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−19.0%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9513418" y="1691640"/>
            <a:ext cx="2026310" cy="457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9531706" y="1773936"/>
            <a:ext cx="19897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PARTS GP %</a:t>
            </a:r>
            <a:endParaRPr lang="en-US" sz="1300" dirty="0"/>
          </a:p>
        </p:txBody>
      </p:sp>
      <p:sp>
        <p:nvSpPr>
          <p:cNvPr id="81" name="Text 79"/>
          <p:cNvSpPr txBox="1"/>
          <p:nvPr/>
        </p:nvSpPr>
        <p:spPr>
          <a:xfrm>
            <a:off x="9531706" y="1993392"/>
            <a:ext cx="19897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+1.2 pts</a:t>
            </a:r>
            <a:endParaRPr lang="en-US" sz="1300" dirty="0"/>
          </a:p>
        </p:txBody>
      </p:sp>
      <p:sp>
        <p:nvSpPr>
          <p:cNvPr id="82" name="Text 80"/>
          <p:cNvSpPr txBox="1"/>
          <p:nvPr/>
        </p:nvSpPr>
        <p:spPr>
          <a:xfrm>
            <a:off x="9531706" y="2377440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300" dirty="0"/>
          </a:p>
        </p:txBody>
      </p:sp>
      <p:sp>
        <p:nvSpPr>
          <p:cNvPr id="83" name="Text 81"/>
          <p:cNvSpPr txBox="1"/>
          <p:nvPr/>
        </p:nvSpPr>
        <p:spPr>
          <a:xfrm>
            <a:off x="9531706" y="2596896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+6.1 pts</a:t>
            </a:r>
            <a:endParaRPr lang="en-US" sz="1600" dirty="0"/>
          </a:p>
        </p:txBody>
      </p:sp>
      <p:sp>
        <p:nvSpPr>
          <p:cNvPr id="84" name="Text 82"/>
          <p:cNvSpPr txBox="1"/>
          <p:nvPr/>
        </p:nvSpPr>
        <p:spPr>
          <a:xfrm>
            <a:off x="9531706" y="2907792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300" dirty="0"/>
          </a:p>
        </p:txBody>
      </p:sp>
      <p:sp>
        <p:nvSpPr>
          <p:cNvPr id="85" name="Text 83"/>
          <p:cNvSpPr txBox="1"/>
          <p:nvPr/>
        </p:nvSpPr>
        <p:spPr>
          <a:xfrm>
            <a:off x="9531706" y="3127248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+4.5 pts</a:t>
            </a:r>
            <a:endParaRPr lang="en-US" sz="1600" dirty="0"/>
          </a:p>
        </p:txBody>
      </p:sp>
      <p:sp>
        <p:nvSpPr>
          <p:cNvPr id="86" name="Text 84"/>
          <p:cNvSpPr txBox="1"/>
          <p:nvPr/>
        </p:nvSpPr>
        <p:spPr>
          <a:xfrm>
            <a:off x="9531706" y="34381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300" dirty="0"/>
          </a:p>
        </p:txBody>
      </p:sp>
      <p:sp>
        <p:nvSpPr>
          <p:cNvPr id="87" name="Text 85"/>
          <p:cNvSpPr txBox="1"/>
          <p:nvPr/>
        </p:nvSpPr>
        <p:spPr>
          <a:xfrm>
            <a:off x="9531706" y="36576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+3.8 pts</a:t>
            </a:r>
            <a:endParaRPr lang="en-US" sz="1600" dirty="0"/>
          </a:p>
        </p:txBody>
      </p:sp>
      <p:sp>
        <p:nvSpPr>
          <p:cNvPr id="88" name="Text 86"/>
          <p:cNvSpPr txBox="1"/>
          <p:nvPr/>
        </p:nvSpPr>
        <p:spPr>
          <a:xfrm>
            <a:off x="9531706" y="41239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300" dirty="0"/>
          </a:p>
        </p:txBody>
      </p:sp>
      <p:sp>
        <p:nvSpPr>
          <p:cNvPr id="89" name="Text 87"/>
          <p:cNvSpPr txBox="1"/>
          <p:nvPr/>
        </p:nvSpPr>
        <p:spPr>
          <a:xfrm>
            <a:off x="9531706" y="43434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−0.5 pts</a:t>
            </a:r>
            <a:endParaRPr lang="en-US" sz="1600" dirty="0"/>
          </a:p>
        </p:txBody>
      </p:sp>
      <p:sp>
        <p:nvSpPr>
          <p:cNvPr id="90" name="Text 88"/>
          <p:cNvSpPr txBox="1"/>
          <p:nvPr/>
        </p:nvSpPr>
        <p:spPr>
          <a:xfrm>
            <a:off x="9531706" y="4654296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300" dirty="0"/>
          </a:p>
        </p:txBody>
      </p:sp>
      <p:sp>
        <p:nvSpPr>
          <p:cNvPr id="91" name="Text 89"/>
          <p:cNvSpPr txBox="1"/>
          <p:nvPr/>
        </p:nvSpPr>
        <p:spPr>
          <a:xfrm>
            <a:off x="9531706" y="4873752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−0.8 pts</a:t>
            </a:r>
            <a:endParaRPr lang="en-US" sz="1600" dirty="0"/>
          </a:p>
        </p:txBody>
      </p:sp>
      <p:sp>
        <p:nvSpPr>
          <p:cNvPr id="92" name="Text 90"/>
          <p:cNvSpPr txBox="1"/>
          <p:nvPr/>
        </p:nvSpPr>
        <p:spPr>
          <a:xfrm>
            <a:off x="9531706" y="5184648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300" dirty="0"/>
          </a:p>
        </p:txBody>
      </p:sp>
      <p:sp>
        <p:nvSpPr>
          <p:cNvPr id="93" name="Text 91"/>
          <p:cNvSpPr txBox="1"/>
          <p:nvPr/>
        </p:nvSpPr>
        <p:spPr>
          <a:xfrm>
            <a:off x="9531706" y="5404104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−2.1 pts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· MOST IMPROVED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Who's Moving Now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280160"/>
            <a:ext cx="10762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 and bottom three stores on each measure, Q3 2026 vs Q1 2026 (gross and ROs per month). Group change = the season.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1792" y="2331720"/>
            <a:ext cx="45720" cy="159105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" name="Shape 6"/>
          <p:cNvSpPr/>
          <p:nvPr/>
        </p:nvSpPr>
        <p:spPr>
          <a:xfrm>
            <a:off x="685800" y="2331720"/>
            <a:ext cx="10881360" cy="53035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76656" y="2331720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76656" y="2862072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3392424"/>
            <a:ext cx="10881360" cy="53035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76656" y="3392424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1792" y="4078224"/>
            <a:ext cx="45720" cy="1591056"/>
          </a:xfrm>
          <a:prstGeom prst="rect">
            <a:avLst/>
          </a:prstGeom>
          <a:solidFill>
            <a:srgbClr val="C2352F"/>
          </a:solidFill>
          <a:ln/>
        </p:spPr>
      </p:sp>
      <p:sp>
        <p:nvSpPr>
          <p:cNvPr id="14" name="Shape 12"/>
          <p:cNvSpPr/>
          <p:nvPr/>
        </p:nvSpPr>
        <p:spPr>
          <a:xfrm>
            <a:off x="685800" y="4078224"/>
            <a:ext cx="10881360" cy="53035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76656" y="4078224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31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" y="4608576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32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85800" y="5138928"/>
            <a:ext cx="10881360" cy="530352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76656" y="5138928"/>
            <a:ext cx="274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969264" y="1691640"/>
            <a:ext cx="2026310" cy="457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987552" y="1773936"/>
            <a:ext cx="19897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GROSS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987552" y="1993392"/>
            <a:ext cx="19897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+8.4%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987552" y="2377440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987552" y="2596896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+34.6%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987552" y="2907792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87552" y="3127248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+31.3%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87552" y="34381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987552" y="36576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+27.8%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87552" y="41239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987552" y="43434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−0.9%</a:t>
            </a:r>
            <a:endParaRPr lang="en-US" sz="1600" dirty="0"/>
          </a:p>
        </p:txBody>
      </p:sp>
      <p:sp>
        <p:nvSpPr>
          <p:cNvPr id="30" name="Text 28"/>
          <p:cNvSpPr txBox="1"/>
          <p:nvPr/>
        </p:nvSpPr>
        <p:spPr>
          <a:xfrm>
            <a:off x="987552" y="4654296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987552" y="4873752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−2.0%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87552" y="5184648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987552" y="5404104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−10.7%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105302" y="1691640"/>
            <a:ext cx="2026310" cy="457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3123590" y="1773936"/>
            <a:ext cx="19897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3123590" y="1993392"/>
            <a:ext cx="19897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+7.5%</a:t>
            </a:r>
            <a:endParaRPr lang="en-US" sz="1300" dirty="0"/>
          </a:p>
        </p:txBody>
      </p:sp>
      <p:sp>
        <p:nvSpPr>
          <p:cNvPr id="37" name="Text 35"/>
          <p:cNvSpPr txBox="1"/>
          <p:nvPr/>
        </p:nvSpPr>
        <p:spPr>
          <a:xfrm>
            <a:off x="3123590" y="2377440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3123590" y="2596896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+34.0%</a:t>
            </a:r>
            <a:endParaRPr lang="en-US" sz="1600" dirty="0"/>
          </a:p>
        </p:txBody>
      </p:sp>
      <p:sp>
        <p:nvSpPr>
          <p:cNvPr id="39" name="Text 37"/>
          <p:cNvSpPr txBox="1"/>
          <p:nvPr/>
        </p:nvSpPr>
        <p:spPr>
          <a:xfrm>
            <a:off x="3123590" y="2907792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300" dirty="0"/>
          </a:p>
        </p:txBody>
      </p:sp>
      <p:sp>
        <p:nvSpPr>
          <p:cNvPr id="40" name="Text 38"/>
          <p:cNvSpPr txBox="1"/>
          <p:nvPr/>
        </p:nvSpPr>
        <p:spPr>
          <a:xfrm>
            <a:off x="3123590" y="3127248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+22.8%</a:t>
            </a:r>
            <a:endParaRPr lang="en-US" sz="1600" dirty="0"/>
          </a:p>
        </p:txBody>
      </p:sp>
      <p:sp>
        <p:nvSpPr>
          <p:cNvPr id="41" name="Text 39"/>
          <p:cNvSpPr txBox="1"/>
          <p:nvPr/>
        </p:nvSpPr>
        <p:spPr>
          <a:xfrm>
            <a:off x="3123590" y="34381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300" dirty="0"/>
          </a:p>
        </p:txBody>
      </p:sp>
      <p:sp>
        <p:nvSpPr>
          <p:cNvPr id="42" name="Text 40"/>
          <p:cNvSpPr txBox="1"/>
          <p:nvPr/>
        </p:nvSpPr>
        <p:spPr>
          <a:xfrm>
            <a:off x="3123590" y="36576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+18.6%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3123590" y="41239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300" dirty="0"/>
          </a:p>
        </p:txBody>
      </p:sp>
      <p:sp>
        <p:nvSpPr>
          <p:cNvPr id="44" name="Text 42"/>
          <p:cNvSpPr txBox="1"/>
          <p:nvPr/>
        </p:nvSpPr>
        <p:spPr>
          <a:xfrm>
            <a:off x="3123590" y="43434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−2.0%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3123590" y="4654296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300" dirty="0"/>
          </a:p>
        </p:txBody>
      </p:sp>
      <p:sp>
        <p:nvSpPr>
          <p:cNvPr id="46" name="Text 44"/>
          <p:cNvSpPr txBox="1"/>
          <p:nvPr/>
        </p:nvSpPr>
        <p:spPr>
          <a:xfrm>
            <a:off x="3123590" y="4873752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−3.0%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3123590" y="5184648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300" dirty="0"/>
          </a:p>
        </p:txBody>
      </p:sp>
      <p:sp>
        <p:nvSpPr>
          <p:cNvPr id="48" name="Text 46"/>
          <p:cNvSpPr txBox="1"/>
          <p:nvPr/>
        </p:nvSpPr>
        <p:spPr>
          <a:xfrm>
            <a:off x="3123590" y="5404104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−4.3%</a:t>
            </a: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5241341" y="1691640"/>
            <a:ext cx="2026310" cy="457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5259629" y="1773936"/>
            <a:ext cx="19897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HOURS PER RO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5259629" y="1993392"/>
            <a:ext cx="19897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−1.8%</a:t>
            </a:r>
            <a:endParaRPr lang="en-US" sz="1300" dirty="0"/>
          </a:p>
        </p:txBody>
      </p:sp>
      <p:sp>
        <p:nvSpPr>
          <p:cNvPr id="52" name="Text 50"/>
          <p:cNvSpPr txBox="1"/>
          <p:nvPr/>
        </p:nvSpPr>
        <p:spPr>
          <a:xfrm>
            <a:off x="5259629" y="2377440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300" dirty="0"/>
          </a:p>
        </p:txBody>
      </p:sp>
      <p:sp>
        <p:nvSpPr>
          <p:cNvPr id="53" name="Text 51"/>
          <p:cNvSpPr txBox="1"/>
          <p:nvPr/>
        </p:nvSpPr>
        <p:spPr>
          <a:xfrm>
            <a:off x="5259629" y="2596896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+22.1%</a:t>
            </a:r>
            <a:endParaRPr lang="en-US" sz="1600" dirty="0"/>
          </a:p>
        </p:txBody>
      </p:sp>
      <p:sp>
        <p:nvSpPr>
          <p:cNvPr id="54" name="Text 52"/>
          <p:cNvSpPr txBox="1"/>
          <p:nvPr/>
        </p:nvSpPr>
        <p:spPr>
          <a:xfrm>
            <a:off x="5259629" y="2907792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300" dirty="0"/>
          </a:p>
        </p:txBody>
      </p:sp>
      <p:sp>
        <p:nvSpPr>
          <p:cNvPr id="55" name="Text 53"/>
          <p:cNvSpPr txBox="1"/>
          <p:nvPr/>
        </p:nvSpPr>
        <p:spPr>
          <a:xfrm>
            <a:off x="5259629" y="3127248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+13.1%</a:t>
            </a:r>
            <a:endParaRPr lang="en-US" sz="1600" dirty="0"/>
          </a:p>
        </p:txBody>
      </p:sp>
      <p:sp>
        <p:nvSpPr>
          <p:cNvPr id="56" name="Text 54"/>
          <p:cNvSpPr txBox="1"/>
          <p:nvPr/>
        </p:nvSpPr>
        <p:spPr>
          <a:xfrm>
            <a:off x="5259629" y="34381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300" dirty="0"/>
          </a:p>
        </p:txBody>
      </p:sp>
      <p:sp>
        <p:nvSpPr>
          <p:cNvPr id="57" name="Text 55"/>
          <p:cNvSpPr txBox="1"/>
          <p:nvPr/>
        </p:nvSpPr>
        <p:spPr>
          <a:xfrm>
            <a:off x="5259629" y="36576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+12.2%</a:t>
            </a:r>
            <a:endParaRPr lang="en-US" sz="1600" dirty="0"/>
          </a:p>
        </p:txBody>
      </p:sp>
      <p:sp>
        <p:nvSpPr>
          <p:cNvPr id="58" name="Text 56"/>
          <p:cNvSpPr txBox="1"/>
          <p:nvPr/>
        </p:nvSpPr>
        <p:spPr>
          <a:xfrm>
            <a:off x="5259629" y="41239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300" dirty="0"/>
          </a:p>
        </p:txBody>
      </p:sp>
      <p:sp>
        <p:nvSpPr>
          <p:cNvPr id="59" name="Text 57"/>
          <p:cNvSpPr txBox="1"/>
          <p:nvPr/>
        </p:nvSpPr>
        <p:spPr>
          <a:xfrm>
            <a:off x="5259629" y="43434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−9.9%</a:t>
            </a:r>
            <a:endParaRPr lang="en-US" sz="1600" dirty="0"/>
          </a:p>
        </p:txBody>
      </p:sp>
      <p:sp>
        <p:nvSpPr>
          <p:cNvPr id="60" name="Text 58"/>
          <p:cNvSpPr txBox="1"/>
          <p:nvPr/>
        </p:nvSpPr>
        <p:spPr>
          <a:xfrm>
            <a:off x="5259629" y="4654296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5259629" y="4873752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−10.6%</a:t>
            </a:r>
            <a:endParaRPr lang="en-US" sz="1600" dirty="0"/>
          </a:p>
        </p:txBody>
      </p:sp>
      <p:sp>
        <p:nvSpPr>
          <p:cNvPr id="62" name="Text 60"/>
          <p:cNvSpPr txBox="1"/>
          <p:nvPr/>
        </p:nvSpPr>
        <p:spPr>
          <a:xfrm>
            <a:off x="5259629" y="5184648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300" dirty="0"/>
          </a:p>
        </p:txBody>
      </p:sp>
      <p:sp>
        <p:nvSpPr>
          <p:cNvPr id="63" name="Text 61"/>
          <p:cNvSpPr txBox="1"/>
          <p:nvPr/>
        </p:nvSpPr>
        <p:spPr>
          <a:xfrm>
            <a:off x="5259629" y="5404104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−14.0%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7377379" y="1691640"/>
            <a:ext cx="2026310" cy="457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7395667" y="1773936"/>
            <a:ext cx="19897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ELR</a:t>
            </a:r>
            <a:endParaRPr lang="en-US" sz="1300" dirty="0"/>
          </a:p>
        </p:txBody>
      </p:sp>
      <p:sp>
        <p:nvSpPr>
          <p:cNvPr id="66" name="Text 64"/>
          <p:cNvSpPr txBox="1"/>
          <p:nvPr/>
        </p:nvSpPr>
        <p:spPr>
          <a:xfrm>
            <a:off x="7395667" y="1993392"/>
            <a:ext cx="19897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+1.1%</a:t>
            </a:r>
            <a:endParaRPr lang="en-US" sz="1300" dirty="0"/>
          </a:p>
        </p:txBody>
      </p:sp>
      <p:sp>
        <p:nvSpPr>
          <p:cNvPr id="67" name="Text 65"/>
          <p:cNvSpPr txBox="1"/>
          <p:nvPr/>
        </p:nvSpPr>
        <p:spPr>
          <a:xfrm>
            <a:off x="7395667" y="2377440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300" dirty="0"/>
          </a:p>
        </p:txBody>
      </p:sp>
      <p:sp>
        <p:nvSpPr>
          <p:cNvPr id="68" name="Text 66"/>
          <p:cNvSpPr txBox="1"/>
          <p:nvPr/>
        </p:nvSpPr>
        <p:spPr>
          <a:xfrm>
            <a:off x="7395667" y="2596896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+10.6%</a:t>
            </a:r>
            <a:endParaRPr lang="en-US" sz="1600" dirty="0"/>
          </a:p>
        </p:txBody>
      </p:sp>
      <p:sp>
        <p:nvSpPr>
          <p:cNvPr id="69" name="Text 67"/>
          <p:cNvSpPr txBox="1"/>
          <p:nvPr/>
        </p:nvSpPr>
        <p:spPr>
          <a:xfrm>
            <a:off x="7395667" y="2907792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300" dirty="0"/>
          </a:p>
        </p:txBody>
      </p:sp>
      <p:sp>
        <p:nvSpPr>
          <p:cNvPr id="70" name="Text 68"/>
          <p:cNvSpPr txBox="1"/>
          <p:nvPr/>
        </p:nvSpPr>
        <p:spPr>
          <a:xfrm>
            <a:off x="7395667" y="3127248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+7.3%</a:t>
            </a:r>
            <a:endParaRPr lang="en-US" sz="1600" dirty="0"/>
          </a:p>
        </p:txBody>
      </p:sp>
      <p:sp>
        <p:nvSpPr>
          <p:cNvPr id="71" name="Text 69"/>
          <p:cNvSpPr txBox="1"/>
          <p:nvPr/>
        </p:nvSpPr>
        <p:spPr>
          <a:xfrm>
            <a:off x="7395667" y="34381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300" dirty="0"/>
          </a:p>
        </p:txBody>
      </p:sp>
      <p:sp>
        <p:nvSpPr>
          <p:cNvPr id="72" name="Text 70"/>
          <p:cNvSpPr txBox="1"/>
          <p:nvPr/>
        </p:nvSpPr>
        <p:spPr>
          <a:xfrm>
            <a:off x="7395667" y="36576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+6.1%</a:t>
            </a:r>
            <a:endParaRPr lang="en-US" sz="1600" dirty="0"/>
          </a:p>
        </p:txBody>
      </p:sp>
      <p:sp>
        <p:nvSpPr>
          <p:cNvPr id="73" name="Text 71"/>
          <p:cNvSpPr txBox="1"/>
          <p:nvPr/>
        </p:nvSpPr>
        <p:spPr>
          <a:xfrm>
            <a:off x="7395667" y="41239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300" dirty="0"/>
          </a:p>
        </p:txBody>
      </p:sp>
      <p:sp>
        <p:nvSpPr>
          <p:cNvPr id="74" name="Text 72"/>
          <p:cNvSpPr txBox="1"/>
          <p:nvPr/>
        </p:nvSpPr>
        <p:spPr>
          <a:xfrm>
            <a:off x="7395667" y="43434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−3.0%</a:t>
            </a:r>
            <a:endParaRPr lang="en-US" sz="1600" dirty="0"/>
          </a:p>
        </p:txBody>
      </p:sp>
      <p:sp>
        <p:nvSpPr>
          <p:cNvPr id="75" name="Text 73"/>
          <p:cNvSpPr txBox="1"/>
          <p:nvPr/>
        </p:nvSpPr>
        <p:spPr>
          <a:xfrm>
            <a:off x="7395667" y="4654296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300" dirty="0"/>
          </a:p>
        </p:txBody>
      </p:sp>
      <p:sp>
        <p:nvSpPr>
          <p:cNvPr id="76" name="Text 74"/>
          <p:cNvSpPr txBox="1"/>
          <p:nvPr/>
        </p:nvSpPr>
        <p:spPr>
          <a:xfrm>
            <a:off x="7395667" y="4873752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−4.7%</a:t>
            </a:r>
            <a:endParaRPr lang="en-US" sz="1600" dirty="0"/>
          </a:p>
        </p:txBody>
      </p:sp>
      <p:sp>
        <p:nvSpPr>
          <p:cNvPr id="77" name="Text 75"/>
          <p:cNvSpPr txBox="1"/>
          <p:nvPr/>
        </p:nvSpPr>
        <p:spPr>
          <a:xfrm>
            <a:off x="7395667" y="5184648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300" dirty="0"/>
          </a:p>
        </p:txBody>
      </p:sp>
      <p:sp>
        <p:nvSpPr>
          <p:cNvPr id="78" name="Text 76"/>
          <p:cNvSpPr txBox="1"/>
          <p:nvPr/>
        </p:nvSpPr>
        <p:spPr>
          <a:xfrm>
            <a:off x="7395667" y="5404104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−14.2%</a:t>
            </a: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9513418" y="1691640"/>
            <a:ext cx="2026310" cy="45720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9531706" y="1773936"/>
            <a:ext cx="19897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3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PARTS GP %</a:t>
            </a:r>
            <a:endParaRPr lang="en-US" sz="1300" dirty="0"/>
          </a:p>
        </p:txBody>
      </p:sp>
      <p:sp>
        <p:nvSpPr>
          <p:cNvPr id="81" name="Text 79"/>
          <p:cNvSpPr txBox="1"/>
          <p:nvPr/>
        </p:nvSpPr>
        <p:spPr>
          <a:xfrm>
            <a:off x="9531706" y="1993392"/>
            <a:ext cx="19897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Group 0.0 pts</a:t>
            </a:r>
            <a:endParaRPr lang="en-US" sz="1300" dirty="0"/>
          </a:p>
        </p:txBody>
      </p:sp>
      <p:sp>
        <p:nvSpPr>
          <p:cNvPr id="82" name="Text 80"/>
          <p:cNvSpPr txBox="1"/>
          <p:nvPr/>
        </p:nvSpPr>
        <p:spPr>
          <a:xfrm>
            <a:off x="9531706" y="2377440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300" dirty="0"/>
          </a:p>
        </p:txBody>
      </p:sp>
      <p:sp>
        <p:nvSpPr>
          <p:cNvPr id="83" name="Text 81"/>
          <p:cNvSpPr txBox="1"/>
          <p:nvPr/>
        </p:nvSpPr>
        <p:spPr>
          <a:xfrm>
            <a:off x="9531706" y="2596896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+7.2 pts</a:t>
            </a:r>
            <a:endParaRPr lang="en-US" sz="1600" dirty="0"/>
          </a:p>
        </p:txBody>
      </p:sp>
      <p:sp>
        <p:nvSpPr>
          <p:cNvPr id="84" name="Text 82"/>
          <p:cNvSpPr txBox="1"/>
          <p:nvPr/>
        </p:nvSpPr>
        <p:spPr>
          <a:xfrm>
            <a:off x="9531706" y="2907792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300" dirty="0"/>
          </a:p>
        </p:txBody>
      </p:sp>
      <p:sp>
        <p:nvSpPr>
          <p:cNvPr id="85" name="Text 83"/>
          <p:cNvSpPr txBox="1"/>
          <p:nvPr/>
        </p:nvSpPr>
        <p:spPr>
          <a:xfrm>
            <a:off x="9531706" y="3127248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+4.6 pts</a:t>
            </a:r>
            <a:endParaRPr lang="en-US" sz="1600" dirty="0"/>
          </a:p>
        </p:txBody>
      </p:sp>
      <p:sp>
        <p:nvSpPr>
          <p:cNvPr id="86" name="Text 84"/>
          <p:cNvSpPr txBox="1"/>
          <p:nvPr/>
        </p:nvSpPr>
        <p:spPr>
          <a:xfrm>
            <a:off x="9531706" y="34381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300" dirty="0"/>
          </a:p>
        </p:txBody>
      </p:sp>
      <p:sp>
        <p:nvSpPr>
          <p:cNvPr id="87" name="Text 85"/>
          <p:cNvSpPr txBox="1"/>
          <p:nvPr/>
        </p:nvSpPr>
        <p:spPr>
          <a:xfrm>
            <a:off x="9531706" y="36576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+3.9 pts</a:t>
            </a:r>
            <a:endParaRPr lang="en-US" sz="1600" dirty="0"/>
          </a:p>
        </p:txBody>
      </p:sp>
      <p:sp>
        <p:nvSpPr>
          <p:cNvPr id="88" name="Text 86"/>
          <p:cNvSpPr txBox="1"/>
          <p:nvPr/>
        </p:nvSpPr>
        <p:spPr>
          <a:xfrm>
            <a:off x="9531706" y="4123944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LV</a:t>
            </a:r>
            <a:endParaRPr lang="en-US" sz="1300" dirty="0"/>
          </a:p>
        </p:txBody>
      </p:sp>
      <p:sp>
        <p:nvSpPr>
          <p:cNvPr id="89" name="Text 87"/>
          <p:cNvSpPr txBox="1"/>
          <p:nvPr/>
        </p:nvSpPr>
        <p:spPr>
          <a:xfrm>
            <a:off x="9531706" y="4343400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−3.1 pts</a:t>
            </a:r>
            <a:endParaRPr lang="en-US" sz="1600" dirty="0"/>
          </a:p>
        </p:txBody>
      </p:sp>
      <p:sp>
        <p:nvSpPr>
          <p:cNvPr id="90" name="Text 88"/>
          <p:cNvSpPr txBox="1"/>
          <p:nvPr/>
        </p:nvSpPr>
        <p:spPr>
          <a:xfrm>
            <a:off x="9531706" y="4654296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300" dirty="0"/>
          </a:p>
        </p:txBody>
      </p:sp>
      <p:sp>
        <p:nvSpPr>
          <p:cNvPr id="91" name="Text 89"/>
          <p:cNvSpPr txBox="1"/>
          <p:nvPr/>
        </p:nvSpPr>
        <p:spPr>
          <a:xfrm>
            <a:off x="9531706" y="4873752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−3.8 pts</a:t>
            </a:r>
            <a:endParaRPr lang="en-US" sz="1600" dirty="0"/>
          </a:p>
        </p:txBody>
      </p:sp>
      <p:sp>
        <p:nvSpPr>
          <p:cNvPr id="92" name="Text 90"/>
          <p:cNvSpPr txBox="1"/>
          <p:nvPr/>
        </p:nvSpPr>
        <p:spPr>
          <a:xfrm>
            <a:off x="9531706" y="5184648"/>
            <a:ext cx="20445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Henderson</a:t>
            </a:r>
            <a:endParaRPr lang="en-US" sz="1300" dirty="0"/>
          </a:p>
        </p:txBody>
      </p:sp>
      <p:sp>
        <p:nvSpPr>
          <p:cNvPr id="93" name="Text 91"/>
          <p:cNvSpPr txBox="1"/>
          <p:nvPr/>
        </p:nvSpPr>
        <p:spPr>
          <a:xfrm>
            <a:off x="9531706" y="5404104"/>
            <a:ext cx="202631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2B2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−4.2 pts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· MOST IMPROVED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Who's Moving Now: CP Gross per Month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298448"/>
            <a:ext cx="10762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 2026. Group $10.10M → $10.96M, +8.4%: that is the season. 21 of 33 stores beat it.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16824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16824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Jan – Sep 2026, by month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183880" y="16824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Stepped up in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195560" y="1682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" y="1993392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1993392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1993392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1993392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$155K → $209K</a:t>
            </a:r>
            <a:endParaRPr lang="en-US" sz="14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276088" y="2011680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8183880" y="1993392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August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0195560" y="1993392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+34.6%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49808" y="2375611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097280" y="2375611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657600" y="2375611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$85K → $112K</a:t>
            </a:r>
            <a:endParaRPr lang="en-US" sz="1400" dirty="0"/>
          </a:p>
        </p:txBody>
      </p:sp>
      <p:graphicFrame>
        <p:nvGraphicFramePr>
          <p:cNvPr id="21" name="Chart 1" descr=""/>
          <p:cNvGraphicFramePr/>
          <p:nvPr/>
        </p:nvGraphicFramePr>
        <p:xfrm>
          <a:off x="5276088" y="2393899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Text 18"/>
          <p:cNvSpPr txBox="1"/>
          <p:nvPr/>
        </p:nvSpPr>
        <p:spPr>
          <a:xfrm>
            <a:off x="8183880" y="2375611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July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10195560" y="2375611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+31.3%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621792" y="2757830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2757830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1097280" y="2757830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3657600" y="2757830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$218K → $279K</a:t>
            </a:r>
            <a:endParaRPr lang="en-US" sz="1400" dirty="0"/>
          </a:p>
        </p:txBody>
      </p:sp>
      <p:graphicFrame>
        <p:nvGraphicFramePr>
          <p:cNvPr id="28" name="Chart 2" descr=""/>
          <p:cNvGraphicFramePr/>
          <p:nvPr/>
        </p:nvGraphicFramePr>
        <p:xfrm>
          <a:off x="5276088" y="2776118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Text 24"/>
          <p:cNvSpPr txBox="1"/>
          <p:nvPr/>
        </p:nvSpPr>
        <p:spPr>
          <a:xfrm>
            <a:off x="8183880" y="2757830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July</a:t>
            </a:r>
            <a:endParaRPr lang="en-US" sz="1400" dirty="0"/>
          </a:p>
        </p:txBody>
      </p:sp>
      <p:sp>
        <p:nvSpPr>
          <p:cNvPr id="30" name="Text 25"/>
          <p:cNvSpPr txBox="1"/>
          <p:nvPr/>
        </p:nvSpPr>
        <p:spPr>
          <a:xfrm>
            <a:off x="10195560" y="2757830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+27.8%</a:t>
            </a:r>
            <a:endParaRPr lang="en-US" sz="1600" dirty="0"/>
          </a:p>
        </p:txBody>
      </p:sp>
      <p:sp>
        <p:nvSpPr>
          <p:cNvPr id="31" name="Text 26"/>
          <p:cNvSpPr txBox="1"/>
          <p:nvPr/>
        </p:nvSpPr>
        <p:spPr>
          <a:xfrm>
            <a:off x="749808" y="3140050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Text 27"/>
          <p:cNvSpPr txBox="1"/>
          <p:nvPr/>
        </p:nvSpPr>
        <p:spPr>
          <a:xfrm>
            <a:off x="1097280" y="3140050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400" dirty="0"/>
          </a:p>
        </p:txBody>
      </p:sp>
      <p:sp>
        <p:nvSpPr>
          <p:cNvPr id="33" name="Text 28"/>
          <p:cNvSpPr txBox="1"/>
          <p:nvPr/>
        </p:nvSpPr>
        <p:spPr>
          <a:xfrm>
            <a:off x="3657600" y="3140050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$54K → $66K</a:t>
            </a:r>
            <a:endParaRPr lang="en-US" sz="1400" dirty="0"/>
          </a:p>
        </p:txBody>
      </p:sp>
      <p:graphicFrame>
        <p:nvGraphicFramePr>
          <p:cNvPr id="34" name="Chart 3" descr=""/>
          <p:cNvGraphicFramePr/>
          <p:nvPr/>
        </p:nvGraphicFramePr>
        <p:xfrm>
          <a:off x="5276088" y="3158338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5" name="Text 29"/>
          <p:cNvSpPr txBox="1"/>
          <p:nvPr/>
        </p:nvSpPr>
        <p:spPr>
          <a:xfrm>
            <a:off x="8183880" y="3140050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June</a:t>
            </a:r>
            <a:endParaRPr lang="en-US" sz="1400" dirty="0"/>
          </a:p>
        </p:txBody>
      </p:sp>
      <p:sp>
        <p:nvSpPr>
          <p:cNvPr id="36" name="Text 30"/>
          <p:cNvSpPr txBox="1"/>
          <p:nvPr/>
        </p:nvSpPr>
        <p:spPr>
          <a:xfrm>
            <a:off x="10195560" y="3140050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+23.2%</a:t>
            </a:r>
            <a:endParaRPr lang="en-US" sz="1600" dirty="0"/>
          </a:p>
        </p:txBody>
      </p:sp>
      <p:sp>
        <p:nvSpPr>
          <p:cNvPr id="37" name="Shape 31"/>
          <p:cNvSpPr/>
          <p:nvPr/>
        </p:nvSpPr>
        <p:spPr>
          <a:xfrm>
            <a:off x="621792" y="3522269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8" name="Text 32"/>
          <p:cNvSpPr txBox="1"/>
          <p:nvPr/>
        </p:nvSpPr>
        <p:spPr>
          <a:xfrm>
            <a:off x="749808" y="3522269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500" dirty="0"/>
          </a:p>
        </p:txBody>
      </p:sp>
      <p:sp>
        <p:nvSpPr>
          <p:cNvPr id="39" name="Text 33"/>
          <p:cNvSpPr txBox="1"/>
          <p:nvPr/>
        </p:nvSpPr>
        <p:spPr>
          <a:xfrm>
            <a:off x="1097280" y="3522269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400" dirty="0"/>
          </a:p>
        </p:txBody>
      </p:sp>
      <p:sp>
        <p:nvSpPr>
          <p:cNvPr id="40" name="Text 34"/>
          <p:cNvSpPr txBox="1"/>
          <p:nvPr/>
        </p:nvSpPr>
        <p:spPr>
          <a:xfrm>
            <a:off x="3657600" y="3522269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$49K → $60K</a:t>
            </a:r>
            <a:endParaRPr lang="en-US" sz="1400" dirty="0"/>
          </a:p>
        </p:txBody>
      </p:sp>
      <p:graphicFrame>
        <p:nvGraphicFramePr>
          <p:cNvPr id="41" name="Chart 4" descr=""/>
          <p:cNvGraphicFramePr/>
          <p:nvPr/>
        </p:nvGraphicFramePr>
        <p:xfrm>
          <a:off x="5276088" y="3540557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42" name="Text 35"/>
          <p:cNvSpPr txBox="1"/>
          <p:nvPr/>
        </p:nvSpPr>
        <p:spPr>
          <a:xfrm>
            <a:off x="8183880" y="3522269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July</a:t>
            </a:r>
            <a:endParaRPr lang="en-US" sz="1400" dirty="0"/>
          </a:p>
        </p:txBody>
      </p:sp>
      <p:sp>
        <p:nvSpPr>
          <p:cNvPr id="43" name="Text 36"/>
          <p:cNvSpPr txBox="1"/>
          <p:nvPr/>
        </p:nvSpPr>
        <p:spPr>
          <a:xfrm>
            <a:off x="10195560" y="3522269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+22.0%</a:t>
            </a:r>
            <a:endParaRPr lang="en-US" sz="1600" dirty="0"/>
          </a:p>
        </p:txBody>
      </p:sp>
      <p:sp>
        <p:nvSpPr>
          <p:cNvPr id="44" name="Text 37"/>
          <p:cNvSpPr txBox="1"/>
          <p:nvPr/>
        </p:nvSpPr>
        <p:spPr>
          <a:xfrm>
            <a:off x="749808" y="3904488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500" dirty="0"/>
          </a:p>
        </p:txBody>
      </p:sp>
      <p:sp>
        <p:nvSpPr>
          <p:cNvPr id="45" name="Text 38"/>
          <p:cNvSpPr txBox="1"/>
          <p:nvPr/>
        </p:nvSpPr>
        <p:spPr>
          <a:xfrm>
            <a:off x="1097280" y="3904488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400" dirty="0"/>
          </a:p>
        </p:txBody>
      </p:sp>
      <p:sp>
        <p:nvSpPr>
          <p:cNvPr id="46" name="Text 39"/>
          <p:cNvSpPr txBox="1"/>
          <p:nvPr/>
        </p:nvSpPr>
        <p:spPr>
          <a:xfrm>
            <a:off x="3657600" y="3904488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$202K → $246K</a:t>
            </a:r>
            <a:endParaRPr lang="en-US" sz="1400" dirty="0"/>
          </a:p>
        </p:txBody>
      </p:sp>
      <p:graphicFrame>
        <p:nvGraphicFramePr>
          <p:cNvPr id="47" name="Chart 5" descr=""/>
          <p:cNvGraphicFramePr/>
          <p:nvPr/>
        </p:nvGraphicFramePr>
        <p:xfrm>
          <a:off x="5276088" y="3922776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48" name="Text 40"/>
          <p:cNvSpPr txBox="1"/>
          <p:nvPr/>
        </p:nvSpPr>
        <p:spPr>
          <a:xfrm>
            <a:off x="8183880" y="3904488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400" dirty="0"/>
          </a:p>
        </p:txBody>
      </p:sp>
      <p:sp>
        <p:nvSpPr>
          <p:cNvPr id="49" name="Text 41"/>
          <p:cNvSpPr txBox="1"/>
          <p:nvPr/>
        </p:nvSpPr>
        <p:spPr>
          <a:xfrm>
            <a:off x="10195560" y="3904488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+21.9%</a:t>
            </a:r>
            <a:endParaRPr lang="en-US" sz="1600" dirty="0"/>
          </a:p>
        </p:txBody>
      </p:sp>
      <p:sp>
        <p:nvSpPr>
          <p:cNvPr id="50" name="Shape 42"/>
          <p:cNvSpPr/>
          <p:nvPr/>
        </p:nvSpPr>
        <p:spPr>
          <a:xfrm>
            <a:off x="621792" y="4286707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51" name="Text 43"/>
          <p:cNvSpPr txBox="1"/>
          <p:nvPr/>
        </p:nvSpPr>
        <p:spPr>
          <a:xfrm>
            <a:off x="749808" y="4286707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500" dirty="0"/>
          </a:p>
        </p:txBody>
      </p:sp>
      <p:sp>
        <p:nvSpPr>
          <p:cNvPr id="52" name="Text 44"/>
          <p:cNvSpPr txBox="1"/>
          <p:nvPr/>
        </p:nvSpPr>
        <p:spPr>
          <a:xfrm>
            <a:off x="1097280" y="4286707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400" dirty="0"/>
          </a:p>
        </p:txBody>
      </p:sp>
      <p:sp>
        <p:nvSpPr>
          <p:cNvPr id="53" name="Text 45"/>
          <p:cNvSpPr txBox="1"/>
          <p:nvPr/>
        </p:nvSpPr>
        <p:spPr>
          <a:xfrm>
            <a:off x="3657600" y="4286707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$311K → $375K</a:t>
            </a:r>
            <a:endParaRPr lang="en-US" sz="1400" dirty="0"/>
          </a:p>
        </p:txBody>
      </p:sp>
      <p:graphicFrame>
        <p:nvGraphicFramePr>
          <p:cNvPr id="54" name="Chart 6" descr=""/>
          <p:cNvGraphicFramePr/>
          <p:nvPr/>
        </p:nvGraphicFramePr>
        <p:xfrm>
          <a:off x="5276088" y="4304995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55" name="Text 46"/>
          <p:cNvSpPr txBox="1"/>
          <p:nvPr/>
        </p:nvSpPr>
        <p:spPr>
          <a:xfrm>
            <a:off x="8183880" y="4286707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400" dirty="0"/>
          </a:p>
        </p:txBody>
      </p:sp>
      <p:sp>
        <p:nvSpPr>
          <p:cNvPr id="56" name="Text 47"/>
          <p:cNvSpPr txBox="1"/>
          <p:nvPr/>
        </p:nvSpPr>
        <p:spPr>
          <a:xfrm>
            <a:off x="10195560" y="4286707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+20.4%</a:t>
            </a:r>
            <a:endParaRPr lang="en-US" sz="1600" dirty="0"/>
          </a:p>
        </p:txBody>
      </p:sp>
      <p:sp>
        <p:nvSpPr>
          <p:cNvPr id="57" name="Text 48"/>
          <p:cNvSpPr txBox="1"/>
          <p:nvPr/>
        </p:nvSpPr>
        <p:spPr>
          <a:xfrm>
            <a:off x="749808" y="4668926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500" dirty="0"/>
          </a:p>
        </p:txBody>
      </p:sp>
      <p:sp>
        <p:nvSpPr>
          <p:cNvPr id="58" name="Text 49"/>
          <p:cNvSpPr txBox="1"/>
          <p:nvPr/>
        </p:nvSpPr>
        <p:spPr>
          <a:xfrm>
            <a:off x="1097280" y="4668926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400" dirty="0"/>
          </a:p>
        </p:txBody>
      </p:sp>
      <p:sp>
        <p:nvSpPr>
          <p:cNvPr id="59" name="Text 50"/>
          <p:cNvSpPr txBox="1"/>
          <p:nvPr/>
        </p:nvSpPr>
        <p:spPr>
          <a:xfrm>
            <a:off x="3657600" y="4668926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$148K → $177K</a:t>
            </a:r>
            <a:endParaRPr lang="en-US" sz="1400" dirty="0"/>
          </a:p>
        </p:txBody>
      </p:sp>
      <p:graphicFrame>
        <p:nvGraphicFramePr>
          <p:cNvPr id="60" name="Chart 7" descr=""/>
          <p:cNvGraphicFramePr/>
          <p:nvPr/>
        </p:nvGraphicFramePr>
        <p:xfrm>
          <a:off x="5276088" y="4687214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61" name="Text 51"/>
          <p:cNvSpPr txBox="1"/>
          <p:nvPr/>
        </p:nvSpPr>
        <p:spPr>
          <a:xfrm>
            <a:off x="8183880" y="4668926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400" dirty="0"/>
          </a:p>
        </p:txBody>
      </p:sp>
      <p:sp>
        <p:nvSpPr>
          <p:cNvPr id="62" name="Text 52"/>
          <p:cNvSpPr txBox="1"/>
          <p:nvPr/>
        </p:nvSpPr>
        <p:spPr>
          <a:xfrm>
            <a:off x="10195560" y="4668926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+19.1%</a:t>
            </a:r>
            <a:endParaRPr lang="en-US" sz="1600" dirty="0"/>
          </a:p>
        </p:txBody>
      </p:sp>
      <p:sp>
        <p:nvSpPr>
          <p:cNvPr id="63" name="Shape 53"/>
          <p:cNvSpPr/>
          <p:nvPr/>
        </p:nvSpPr>
        <p:spPr>
          <a:xfrm>
            <a:off x="621792" y="5051146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4" name="Text 54"/>
          <p:cNvSpPr txBox="1"/>
          <p:nvPr/>
        </p:nvSpPr>
        <p:spPr>
          <a:xfrm>
            <a:off x="749808" y="5051146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500" dirty="0"/>
          </a:p>
        </p:txBody>
      </p:sp>
      <p:sp>
        <p:nvSpPr>
          <p:cNvPr id="65" name="Text 55"/>
          <p:cNvSpPr txBox="1"/>
          <p:nvPr/>
        </p:nvSpPr>
        <p:spPr>
          <a:xfrm>
            <a:off x="1097280" y="5051146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400" dirty="0"/>
          </a:p>
        </p:txBody>
      </p:sp>
      <p:sp>
        <p:nvSpPr>
          <p:cNvPr id="66" name="Text 56"/>
          <p:cNvSpPr txBox="1"/>
          <p:nvPr/>
        </p:nvSpPr>
        <p:spPr>
          <a:xfrm>
            <a:off x="3657600" y="5051146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$100K → $119K</a:t>
            </a:r>
            <a:endParaRPr lang="en-US" sz="1400" dirty="0"/>
          </a:p>
        </p:txBody>
      </p:sp>
      <p:graphicFrame>
        <p:nvGraphicFramePr>
          <p:cNvPr id="67" name="Chart 8" descr=""/>
          <p:cNvGraphicFramePr/>
          <p:nvPr/>
        </p:nvGraphicFramePr>
        <p:xfrm>
          <a:off x="5276088" y="5069434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9"/>
          </a:graphicData>
        </a:graphic>
      </p:graphicFrame>
      <p:sp>
        <p:nvSpPr>
          <p:cNvPr id="68" name="Text 57"/>
          <p:cNvSpPr txBox="1"/>
          <p:nvPr/>
        </p:nvSpPr>
        <p:spPr>
          <a:xfrm>
            <a:off x="8183880" y="5051146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July</a:t>
            </a:r>
            <a:endParaRPr lang="en-US" sz="1400" dirty="0"/>
          </a:p>
        </p:txBody>
      </p:sp>
      <p:sp>
        <p:nvSpPr>
          <p:cNvPr id="69" name="Text 58"/>
          <p:cNvSpPr txBox="1"/>
          <p:nvPr/>
        </p:nvSpPr>
        <p:spPr>
          <a:xfrm>
            <a:off x="10195560" y="5051146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+18.8%</a:t>
            </a:r>
            <a:endParaRPr lang="en-US" sz="1600" dirty="0"/>
          </a:p>
        </p:txBody>
      </p:sp>
      <p:sp>
        <p:nvSpPr>
          <p:cNvPr id="70" name="Text 59"/>
          <p:cNvSpPr txBox="1"/>
          <p:nvPr/>
        </p:nvSpPr>
        <p:spPr>
          <a:xfrm>
            <a:off x="749808" y="5433365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500" dirty="0"/>
          </a:p>
        </p:txBody>
      </p:sp>
      <p:sp>
        <p:nvSpPr>
          <p:cNvPr id="71" name="Text 60"/>
          <p:cNvSpPr txBox="1"/>
          <p:nvPr/>
        </p:nvSpPr>
        <p:spPr>
          <a:xfrm>
            <a:off x="1097280" y="5433365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400" dirty="0"/>
          </a:p>
        </p:txBody>
      </p:sp>
      <p:sp>
        <p:nvSpPr>
          <p:cNvPr id="72" name="Text 61"/>
          <p:cNvSpPr txBox="1"/>
          <p:nvPr/>
        </p:nvSpPr>
        <p:spPr>
          <a:xfrm>
            <a:off x="3657600" y="5433365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$294K → $345K</a:t>
            </a:r>
            <a:endParaRPr lang="en-US" sz="1400" dirty="0"/>
          </a:p>
        </p:txBody>
      </p:sp>
      <p:graphicFrame>
        <p:nvGraphicFramePr>
          <p:cNvPr id="73" name="Chart 9" descr=""/>
          <p:cNvGraphicFramePr/>
          <p:nvPr/>
        </p:nvGraphicFramePr>
        <p:xfrm>
          <a:off x="5276088" y="5451653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74" name="Text 62"/>
          <p:cNvSpPr txBox="1"/>
          <p:nvPr/>
        </p:nvSpPr>
        <p:spPr>
          <a:xfrm>
            <a:off x="8183880" y="5433365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400" dirty="0"/>
          </a:p>
        </p:txBody>
      </p:sp>
      <p:sp>
        <p:nvSpPr>
          <p:cNvPr id="75" name="Text 63"/>
          <p:cNvSpPr txBox="1"/>
          <p:nvPr/>
        </p:nvSpPr>
        <p:spPr>
          <a:xfrm>
            <a:off x="10195560" y="5433365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+17.3%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· MOST IMPROVED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Who's Moving Now: CP ROs per Month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298448"/>
            <a:ext cx="10762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 2026. Group 29,846 → 32,085, +7.5%: that is the season. 17 of 33 stores beat it.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16824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16824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Jan – Sep 2026, by month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183880" y="16824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Stepped up in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195560" y="1682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" y="1993392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1993392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1993392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1993392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425 → 570</a:t>
            </a:r>
            <a:endParaRPr lang="en-US" sz="14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276088" y="2011680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8183880" y="1993392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0195560" y="1993392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+34.0%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49808" y="2375611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097280" y="2375611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657600" y="2375611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543 → 667</a:t>
            </a:r>
            <a:endParaRPr lang="en-US" sz="1400" dirty="0"/>
          </a:p>
        </p:txBody>
      </p:sp>
      <p:graphicFrame>
        <p:nvGraphicFramePr>
          <p:cNvPr id="21" name="Chart 1" descr=""/>
          <p:cNvGraphicFramePr/>
          <p:nvPr/>
        </p:nvGraphicFramePr>
        <p:xfrm>
          <a:off x="5276088" y="2393899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Text 18"/>
          <p:cNvSpPr txBox="1"/>
          <p:nvPr/>
        </p:nvSpPr>
        <p:spPr>
          <a:xfrm>
            <a:off x="8183880" y="2375611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June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10195560" y="2375611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+22.8%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621792" y="2757830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2757830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1097280" y="2757830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LV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3657600" y="2757830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350 → 415</a:t>
            </a:r>
            <a:endParaRPr lang="en-US" sz="1400" dirty="0"/>
          </a:p>
        </p:txBody>
      </p:sp>
      <p:graphicFrame>
        <p:nvGraphicFramePr>
          <p:cNvPr id="28" name="Chart 2" descr=""/>
          <p:cNvGraphicFramePr/>
          <p:nvPr/>
        </p:nvGraphicFramePr>
        <p:xfrm>
          <a:off x="5276088" y="2776118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Text 24"/>
          <p:cNvSpPr txBox="1"/>
          <p:nvPr/>
        </p:nvSpPr>
        <p:spPr>
          <a:xfrm>
            <a:off x="8183880" y="2757830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June</a:t>
            </a:r>
            <a:endParaRPr lang="en-US" sz="1400" dirty="0"/>
          </a:p>
        </p:txBody>
      </p:sp>
      <p:sp>
        <p:nvSpPr>
          <p:cNvPr id="30" name="Text 25"/>
          <p:cNvSpPr txBox="1"/>
          <p:nvPr/>
        </p:nvSpPr>
        <p:spPr>
          <a:xfrm>
            <a:off x="10195560" y="2757830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+18.6%</a:t>
            </a:r>
            <a:endParaRPr lang="en-US" sz="1600" dirty="0"/>
          </a:p>
        </p:txBody>
      </p:sp>
      <p:sp>
        <p:nvSpPr>
          <p:cNvPr id="31" name="Text 26"/>
          <p:cNvSpPr txBox="1"/>
          <p:nvPr/>
        </p:nvSpPr>
        <p:spPr>
          <a:xfrm>
            <a:off x="749808" y="3140050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Text 27"/>
          <p:cNvSpPr txBox="1"/>
          <p:nvPr/>
        </p:nvSpPr>
        <p:spPr>
          <a:xfrm>
            <a:off x="1097280" y="3140050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400" dirty="0"/>
          </a:p>
        </p:txBody>
      </p:sp>
      <p:sp>
        <p:nvSpPr>
          <p:cNvPr id="33" name="Text 28"/>
          <p:cNvSpPr txBox="1"/>
          <p:nvPr/>
        </p:nvSpPr>
        <p:spPr>
          <a:xfrm>
            <a:off x="3657600" y="3140050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578 → 669</a:t>
            </a:r>
            <a:endParaRPr lang="en-US" sz="1400" dirty="0"/>
          </a:p>
        </p:txBody>
      </p:sp>
      <p:graphicFrame>
        <p:nvGraphicFramePr>
          <p:cNvPr id="34" name="Chart 3" descr=""/>
          <p:cNvGraphicFramePr/>
          <p:nvPr/>
        </p:nvGraphicFramePr>
        <p:xfrm>
          <a:off x="5276088" y="3158338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5" name="Text 29"/>
          <p:cNvSpPr txBox="1"/>
          <p:nvPr/>
        </p:nvSpPr>
        <p:spPr>
          <a:xfrm>
            <a:off x="8183880" y="3140050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400" dirty="0"/>
          </a:p>
        </p:txBody>
      </p:sp>
      <p:sp>
        <p:nvSpPr>
          <p:cNvPr id="36" name="Text 30"/>
          <p:cNvSpPr txBox="1"/>
          <p:nvPr/>
        </p:nvSpPr>
        <p:spPr>
          <a:xfrm>
            <a:off x="10195560" y="3140050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+15.8%</a:t>
            </a:r>
            <a:endParaRPr lang="en-US" sz="1600" dirty="0"/>
          </a:p>
        </p:txBody>
      </p:sp>
      <p:sp>
        <p:nvSpPr>
          <p:cNvPr id="37" name="Shape 31"/>
          <p:cNvSpPr/>
          <p:nvPr/>
        </p:nvSpPr>
        <p:spPr>
          <a:xfrm>
            <a:off x="621792" y="3522269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8" name="Text 32"/>
          <p:cNvSpPr txBox="1"/>
          <p:nvPr/>
        </p:nvSpPr>
        <p:spPr>
          <a:xfrm>
            <a:off x="749808" y="3522269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500" dirty="0"/>
          </a:p>
        </p:txBody>
      </p:sp>
      <p:sp>
        <p:nvSpPr>
          <p:cNvPr id="39" name="Text 33"/>
          <p:cNvSpPr txBox="1"/>
          <p:nvPr/>
        </p:nvSpPr>
        <p:spPr>
          <a:xfrm>
            <a:off x="1097280" y="3522269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400" dirty="0"/>
          </a:p>
        </p:txBody>
      </p:sp>
      <p:sp>
        <p:nvSpPr>
          <p:cNvPr id="40" name="Text 34"/>
          <p:cNvSpPr txBox="1"/>
          <p:nvPr/>
        </p:nvSpPr>
        <p:spPr>
          <a:xfrm>
            <a:off x="3657600" y="3522269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397 → 459</a:t>
            </a:r>
            <a:endParaRPr lang="en-US" sz="1400" dirty="0"/>
          </a:p>
        </p:txBody>
      </p:sp>
      <p:graphicFrame>
        <p:nvGraphicFramePr>
          <p:cNvPr id="41" name="Chart 4" descr=""/>
          <p:cNvGraphicFramePr/>
          <p:nvPr/>
        </p:nvGraphicFramePr>
        <p:xfrm>
          <a:off x="5276088" y="3540557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42" name="Text 35"/>
          <p:cNvSpPr txBox="1"/>
          <p:nvPr/>
        </p:nvSpPr>
        <p:spPr>
          <a:xfrm>
            <a:off x="8183880" y="3522269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400" dirty="0"/>
          </a:p>
        </p:txBody>
      </p:sp>
      <p:sp>
        <p:nvSpPr>
          <p:cNvPr id="43" name="Text 36"/>
          <p:cNvSpPr txBox="1"/>
          <p:nvPr/>
        </p:nvSpPr>
        <p:spPr>
          <a:xfrm>
            <a:off x="10195560" y="3522269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+15.5%</a:t>
            </a:r>
            <a:endParaRPr lang="en-US" sz="1600" dirty="0"/>
          </a:p>
        </p:txBody>
      </p:sp>
      <p:sp>
        <p:nvSpPr>
          <p:cNvPr id="44" name="Text 37"/>
          <p:cNvSpPr txBox="1"/>
          <p:nvPr/>
        </p:nvSpPr>
        <p:spPr>
          <a:xfrm>
            <a:off x="749808" y="3904488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500" dirty="0"/>
          </a:p>
        </p:txBody>
      </p:sp>
      <p:sp>
        <p:nvSpPr>
          <p:cNvPr id="45" name="Text 38"/>
          <p:cNvSpPr txBox="1"/>
          <p:nvPr/>
        </p:nvSpPr>
        <p:spPr>
          <a:xfrm>
            <a:off x="1097280" y="3904488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HENDERSON</a:t>
            </a:r>
            <a:endParaRPr lang="en-US" sz="1400" dirty="0"/>
          </a:p>
        </p:txBody>
      </p:sp>
      <p:sp>
        <p:nvSpPr>
          <p:cNvPr id="46" name="Text 39"/>
          <p:cNvSpPr txBox="1"/>
          <p:nvPr/>
        </p:nvSpPr>
        <p:spPr>
          <a:xfrm>
            <a:off x="3657600" y="3904488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545 → 617</a:t>
            </a:r>
            <a:endParaRPr lang="en-US" sz="1400" dirty="0"/>
          </a:p>
        </p:txBody>
      </p:sp>
      <p:graphicFrame>
        <p:nvGraphicFramePr>
          <p:cNvPr id="47" name="Chart 5" descr=""/>
          <p:cNvGraphicFramePr/>
          <p:nvPr/>
        </p:nvGraphicFramePr>
        <p:xfrm>
          <a:off x="5276088" y="3922776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48" name="Text 40"/>
          <p:cNvSpPr txBox="1"/>
          <p:nvPr/>
        </p:nvSpPr>
        <p:spPr>
          <a:xfrm>
            <a:off x="8183880" y="3904488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June</a:t>
            </a:r>
            <a:endParaRPr lang="en-US" sz="1400" dirty="0"/>
          </a:p>
        </p:txBody>
      </p:sp>
      <p:sp>
        <p:nvSpPr>
          <p:cNvPr id="49" name="Text 41"/>
          <p:cNvSpPr txBox="1"/>
          <p:nvPr/>
        </p:nvSpPr>
        <p:spPr>
          <a:xfrm>
            <a:off x="10195560" y="3904488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+13.0%</a:t>
            </a:r>
            <a:endParaRPr lang="en-US" sz="1600" dirty="0"/>
          </a:p>
        </p:txBody>
      </p:sp>
      <p:sp>
        <p:nvSpPr>
          <p:cNvPr id="50" name="Shape 42"/>
          <p:cNvSpPr/>
          <p:nvPr/>
        </p:nvSpPr>
        <p:spPr>
          <a:xfrm>
            <a:off x="621792" y="4286707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51" name="Text 43"/>
          <p:cNvSpPr txBox="1"/>
          <p:nvPr/>
        </p:nvSpPr>
        <p:spPr>
          <a:xfrm>
            <a:off x="749808" y="4286707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500" dirty="0"/>
          </a:p>
        </p:txBody>
      </p:sp>
      <p:sp>
        <p:nvSpPr>
          <p:cNvPr id="52" name="Text 44"/>
          <p:cNvSpPr txBox="1"/>
          <p:nvPr/>
        </p:nvSpPr>
        <p:spPr>
          <a:xfrm>
            <a:off x="1097280" y="4286707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NORTH</a:t>
            </a:r>
            <a:endParaRPr lang="en-US" sz="1400" dirty="0"/>
          </a:p>
        </p:txBody>
      </p:sp>
      <p:sp>
        <p:nvSpPr>
          <p:cNvPr id="53" name="Text 45"/>
          <p:cNvSpPr txBox="1"/>
          <p:nvPr/>
        </p:nvSpPr>
        <p:spPr>
          <a:xfrm>
            <a:off x="3657600" y="4286707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1,561 → 1,759</a:t>
            </a:r>
            <a:endParaRPr lang="en-US" sz="1400" dirty="0"/>
          </a:p>
        </p:txBody>
      </p:sp>
      <p:graphicFrame>
        <p:nvGraphicFramePr>
          <p:cNvPr id="54" name="Chart 6" descr=""/>
          <p:cNvGraphicFramePr/>
          <p:nvPr/>
        </p:nvGraphicFramePr>
        <p:xfrm>
          <a:off x="5276088" y="4304995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55" name="Text 46"/>
          <p:cNvSpPr txBox="1"/>
          <p:nvPr/>
        </p:nvSpPr>
        <p:spPr>
          <a:xfrm>
            <a:off x="8183880" y="4286707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</a:t>
            </a:r>
            <a:endParaRPr lang="en-US" sz="1400" dirty="0"/>
          </a:p>
        </p:txBody>
      </p:sp>
      <p:sp>
        <p:nvSpPr>
          <p:cNvPr id="56" name="Text 47"/>
          <p:cNvSpPr txBox="1"/>
          <p:nvPr/>
        </p:nvSpPr>
        <p:spPr>
          <a:xfrm>
            <a:off x="10195560" y="4286707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+12.6%</a:t>
            </a:r>
            <a:endParaRPr lang="en-US" sz="1600" dirty="0"/>
          </a:p>
        </p:txBody>
      </p:sp>
      <p:sp>
        <p:nvSpPr>
          <p:cNvPr id="57" name="Text 48"/>
          <p:cNvSpPr txBox="1"/>
          <p:nvPr/>
        </p:nvSpPr>
        <p:spPr>
          <a:xfrm>
            <a:off x="749808" y="4668926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500" dirty="0"/>
          </a:p>
        </p:txBody>
      </p:sp>
      <p:sp>
        <p:nvSpPr>
          <p:cNvPr id="58" name="Text 49"/>
          <p:cNvSpPr txBox="1"/>
          <p:nvPr/>
        </p:nvSpPr>
        <p:spPr>
          <a:xfrm>
            <a:off x="1097280" y="4668926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400" dirty="0"/>
          </a:p>
        </p:txBody>
      </p:sp>
      <p:sp>
        <p:nvSpPr>
          <p:cNvPr id="59" name="Text 50"/>
          <p:cNvSpPr txBox="1"/>
          <p:nvPr/>
        </p:nvSpPr>
        <p:spPr>
          <a:xfrm>
            <a:off x="3657600" y="4668926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330 → 370</a:t>
            </a:r>
            <a:endParaRPr lang="en-US" sz="1400" dirty="0"/>
          </a:p>
        </p:txBody>
      </p:sp>
      <p:graphicFrame>
        <p:nvGraphicFramePr>
          <p:cNvPr id="60" name="Chart 7" descr=""/>
          <p:cNvGraphicFramePr/>
          <p:nvPr/>
        </p:nvGraphicFramePr>
        <p:xfrm>
          <a:off x="5276088" y="4687214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61" name="Text 51"/>
          <p:cNvSpPr txBox="1"/>
          <p:nvPr/>
        </p:nvSpPr>
        <p:spPr>
          <a:xfrm>
            <a:off x="8183880" y="4668926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June</a:t>
            </a:r>
            <a:endParaRPr lang="en-US" sz="1400" dirty="0"/>
          </a:p>
        </p:txBody>
      </p:sp>
      <p:sp>
        <p:nvSpPr>
          <p:cNvPr id="62" name="Text 52"/>
          <p:cNvSpPr txBox="1"/>
          <p:nvPr/>
        </p:nvSpPr>
        <p:spPr>
          <a:xfrm>
            <a:off x="10195560" y="4668926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+11.9%</a:t>
            </a:r>
            <a:endParaRPr lang="en-US" sz="1600" dirty="0"/>
          </a:p>
        </p:txBody>
      </p:sp>
      <p:sp>
        <p:nvSpPr>
          <p:cNvPr id="63" name="Shape 53"/>
          <p:cNvSpPr/>
          <p:nvPr/>
        </p:nvSpPr>
        <p:spPr>
          <a:xfrm>
            <a:off x="621792" y="5051146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4" name="Text 54"/>
          <p:cNvSpPr txBox="1"/>
          <p:nvPr/>
        </p:nvSpPr>
        <p:spPr>
          <a:xfrm>
            <a:off x="749808" y="5051146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500" dirty="0"/>
          </a:p>
        </p:txBody>
      </p:sp>
      <p:sp>
        <p:nvSpPr>
          <p:cNvPr id="65" name="Text 55"/>
          <p:cNvSpPr txBox="1"/>
          <p:nvPr/>
        </p:nvSpPr>
        <p:spPr>
          <a:xfrm>
            <a:off x="1097280" y="5051146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SPOKANE</a:t>
            </a:r>
            <a:endParaRPr lang="en-US" sz="1400" dirty="0"/>
          </a:p>
        </p:txBody>
      </p:sp>
      <p:sp>
        <p:nvSpPr>
          <p:cNvPr id="66" name="Text 56"/>
          <p:cNvSpPr txBox="1"/>
          <p:nvPr/>
        </p:nvSpPr>
        <p:spPr>
          <a:xfrm>
            <a:off x="3657600" y="5051146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1,788 → 1,992</a:t>
            </a:r>
            <a:endParaRPr lang="en-US" sz="1400" dirty="0"/>
          </a:p>
        </p:txBody>
      </p:sp>
      <p:graphicFrame>
        <p:nvGraphicFramePr>
          <p:cNvPr id="67" name="Chart 8" descr=""/>
          <p:cNvGraphicFramePr/>
          <p:nvPr/>
        </p:nvGraphicFramePr>
        <p:xfrm>
          <a:off x="5276088" y="5069434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9"/>
          </a:graphicData>
        </a:graphic>
      </p:graphicFrame>
      <p:sp>
        <p:nvSpPr>
          <p:cNvPr id="68" name="Text 57"/>
          <p:cNvSpPr txBox="1"/>
          <p:nvPr/>
        </p:nvSpPr>
        <p:spPr>
          <a:xfrm>
            <a:off x="8183880" y="5051146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400" dirty="0"/>
          </a:p>
        </p:txBody>
      </p:sp>
      <p:sp>
        <p:nvSpPr>
          <p:cNvPr id="69" name="Text 58"/>
          <p:cNvSpPr txBox="1"/>
          <p:nvPr/>
        </p:nvSpPr>
        <p:spPr>
          <a:xfrm>
            <a:off x="10195560" y="5051146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+11.3%</a:t>
            </a:r>
            <a:endParaRPr lang="en-US" sz="1600" dirty="0"/>
          </a:p>
        </p:txBody>
      </p:sp>
      <p:sp>
        <p:nvSpPr>
          <p:cNvPr id="70" name="Text 59"/>
          <p:cNvSpPr txBox="1"/>
          <p:nvPr/>
        </p:nvSpPr>
        <p:spPr>
          <a:xfrm>
            <a:off x="749808" y="5433365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500" dirty="0"/>
          </a:p>
        </p:txBody>
      </p:sp>
      <p:sp>
        <p:nvSpPr>
          <p:cNvPr id="71" name="Text 60"/>
          <p:cNvSpPr txBox="1"/>
          <p:nvPr/>
        </p:nvSpPr>
        <p:spPr>
          <a:xfrm>
            <a:off x="1097280" y="5433365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400" dirty="0"/>
          </a:p>
        </p:txBody>
      </p:sp>
      <p:sp>
        <p:nvSpPr>
          <p:cNvPr id="72" name="Text 61"/>
          <p:cNvSpPr txBox="1"/>
          <p:nvPr/>
        </p:nvSpPr>
        <p:spPr>
          <a:xfrm>
            <a:off x="3657600" y="5433365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582 → 641</a:t>
            </a:r>
            <a:endParaRPr lang="en-US" sz="1400" dirty="0"/>
          </a:p>
        </p:txBody>
      </p:sp>
      <p:graphicFrame>
        <p:nvGraphicFramePr>
          <p:cNvPr id="73" name="Chart 9" descr=""/>
          <p:cNvGraphicFramePr/>
          <p:nvPr/>
        </p:nvGraphicFramePr>
        <p:xfrm>
          <a:off x="5276088" y="5451653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74" name="Text 62"/>
          <p:cNvSpPr txBox="1"/>
          <p:nvPr/>
        </p:nvSpPr>
        <p:spPr>
          <a:xfrm>
            <a:off x="8183880" y="5433365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400" dirty="0"/>
          </a:p>
        </p:txBody>
      </p:sp>
      <p:sp>
        <p:nvSpPr>
          <p:cNvPr id="75" name="Text 63"/>
          <p:cNvSpPr txBox="1"/>
          <p:nvPr/>
        </p:nvSpPr>
        <p:spPr>
          <a:xfrm>
            <a:off x="10195560" y="5433365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+10.1%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· MOST IMPROVED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Who's Moving Now: CP Hours per RO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298448"/>
            <a:ext cx="10762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 2026. Group 1.87 → 1.84, −1.8%: that is the season. 22 of 33 stores beat it.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16824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16824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Jan – Sep 2026, by month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183880" y="16824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Stepped up in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195560" y="1682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" y="1993392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1993392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1993392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1993392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1.35 → 1.65</a:t>
            </a:r>
            <a:endParaRPr lang="en-US" sz="14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276088" y="2011680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8183880" y="1993392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August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0195560" y="1993392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+22.1%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49808" y="2375611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097280" y="2375611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657600" y="2375611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1.56 → 1.76</a:t>
            </a:r>
            <a:endParaRPr lang="en-US" sz="1400" dirty="0"/>
          </a:p>
        </p:txBody>
      </p:sp>
      <p:graphicFrame>
        <p:nvGraphicFramePr>
          <p:cNvPr id="21" name="Chart 1" descr=""/>
          <p:cNvGraphicFramePr/>
          <p:nvPr/>
        </p:nvGraphicFramePr>
        <p:xfrm>
          <a:off x="5276088" y="2393899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Text 18"/>
          <p:cNvSpPr txBox="1"/>
          <p:nvPr/>
        </p:nvSpPr>
        <p:spPr>
          <a:xfrm>
            <a:off x="8183880" y="2375611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July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10195560" y="2375611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+13.1%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621792" y="2757830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2757830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1097280" y="2757830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3657600" y="2757830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1.37 → 1.54</a:t>
            </a:r>
            <a:endParaRPr lang="en-US" sz="1400" dirty="0"/>
          </a:p>
        </p:txBody>
      </p:sp>
      <p:graphicFrame>
        <p:nvGraphicFramePr>
          <p:cNvPr id="28" name="Chart 2" descr=""/>
          <p:cNvGraphicFramePr/>
          <p:nvPr/>
        </p:nvGraphicFramePr>
        <p:xfrm>
          <a:off x="5276088" y="2776118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Text 24"/>
          <p:cNvSpPr txBox="1"/>
          <p:nvPr/>
        </p:nvSpPr>
        <p:spPr>
          <a:xfrm>
            <a:off x="8183880" y="2757830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June</a:t>
            </a:r>
            <a:endParaRPr lang="en-US" sz="1400" dirty="0"/>
          </a:p>
        </p:txBody>
      </p:sp>
      <p:sp>
        <p:nvSpPr>
          <p:cNvPr id="30" name="Text 25"/>
          <p:cNvSpPr txBox="1"/>
          <p:nvPr/>
        </p:nvSpPr>
        <p:spPr>
          <a:xfrm>
            <a:off x="10195560" y="2757830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+12.2%</a:t>
            </a:r>
            <a:endParaRPr lang="en-US" sz="1600" dirty="0"/>
          </a:p>
        </p:txBody>
      </p:sp>
      <p:sp>
        <p:nvSpPr>
          <p:cNvPr id="31" name="Text 26"/>
          <p:cNvSpPr txBox="1"/>
          <p:nvPr/>
        </p:nvSpPr>
        <p:spPr>
          <a:xfrm>
            <a:off x="749808" y="3140050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Text 27"/>
          <p:cNvSpPr txBox="1"/>
          <p:nvPr/>
        </p:nvSpPr>
        <p:spPr>
          <a:xfrm>
            <a:off x="1097280" y="3140050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400" dirty="0"/>
          </a:p>
        </p:txBody>
      </p:sp>
      <p:sp>
        <p:nvSpPr>
          <p:cNvPr id="33" name="Text 28"/>
          <p:cNvSpPr txBox="1"/>
          <p:nvPr/>
        </p:nvSpPr>
        <p:spPr>
          <a:xfrm>
            <a:off x="3657600" y="3140050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1.23 → 1.38</a:t>
            </a:r>
            <a:endParaRPr lang="en-US" sz="1400" dirty="0"/>
          </a:p>
        </p:txBody>
      </p:sp>
      <p:graphicFrame>
        <p:nvGraphicFramePr>
          <p:cNvPr id="34" name="Chart 3" descr=""/>
          <p:cNvGraphicFramePr/>
          <p:nvPr/>
        </p:nvGraphicFramePr>
        <p:xfrm>
          <a:off x="5276088" y="3158338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5" name="Text 29"/>
          <p:cNvSpPr txBox="1"/>
          <p:nvPr/>
        </p:nvSpPr>
        <p:spPr>
          <a:xfrm>
            <a:off x="8183880" y="3140050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July</a:t>
            </a:r>
            <a:endParaRPr lang="en-US" sz="1400" dirty="0"/>
          </a:p>
        </p:txBody>
      </p:sp>
      <p:sp>
        <p:nvSpPr>
          <p:cNvPr id="36" name="Text 30"/>
          <p:cNvSpPr txBox="1"/>
          <p:nvPr/>
        </p:nvSpPr>
        <p:spPr>
          <a:xfrm>
            <a:off x="10195560" y="3140050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+11.7%</a:t>
            </a:r>
            <a:endParaRPr lang="en-US" sz="1600" dirty="0"/>
          </a:p>
        </p:txBody>
      </p:sp>
      <p:sp>
        <p:nvSpPr>
          <p:cNvPr id="37" name="Shape 31"/>
          <p:cNvSpPr/>
          <p:nvPr/>
        </p:nvSpPr>
        <p:spPr>
          <a:xfrm>
            <a:off x="621792" y="3522269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8" name="Text 32"/>
          <p:cNvSpPr txBox="1"/>
          <p:nvPr/>
        </p:nvSpPr>
        <p:spPr>
          <a:xfrm>
            <a:off x="749808" y="3522269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500" dirty="0"/>
          </a:p>
        </p:txBody>
      </p:sp>
      <p:sp>
        <p:nvSpPr>
          <p:cNvPr id="39" name="Text 33"/>
          <p:cNvSpPr txBox="1"/>
          <p:nvPr/>
        </p:nvSpPr>
        <p:spPr>
          <a:xfrm>
            <a:off x="1097280" y="3522269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400" dirty="0"/>
          </a:p>
        </p:txBody>
      </p:sp>
      <p:sp>
        <p:nvSpPr>
          <p:cNvPr id="40" name="Text 34"/>
          <p:cNvSpPr txBox="1"/>
          <p:nvPr/>
        </p:nvSpPr>
        <p:spPr>
          <a:xfrm>
            <a:off x="3657600" y="3522269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1.65 → 1.79</a:t>
            </a:r>
            <a:endParaRPr lang="en-US" sz="1400" dirty="0"/>
          </a:p>
        </p:txBody>
      </p:sp>
      <p:graphicFrame>
        <p:nvGraphicFramePr>
          <p:cNvPr id="41" name="Chart 4" descr=""/>
          <p:cNvGraphicFramePr/>
          <p:nvPr/>
        </p:nvGraphicFramePr>
        <p:xfrm>
          <a:off x="5276088" y="3540557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42" name="Text 35"/>
          <p:cNvSpPr txBox="1"/>
          <p:nvPr/>
        </p:nvSpPr>
        <p:spPr>
          <a:xfrm>
            <a:off x="8183880" y="3522269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400" dirty="0"/>
          </a:p>
        </p:txBody>
      </p:sp>
      <p:sp>
        <p:nvSpPr>
          <p:cNvPr id="43" name="Text 36"/>
          <p:cNvSpPr txBox="1"/>
          <p:nvPr/>
        </p:nvSpPr>
        <p:spPr>
          <a:xfrm>
            <a:off x="10195560" y="3522269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+8.6%</a:t>
            </a:r>
            <a:endParaRPr lang="en-US" sz="1600" dirty="0"/>
          </a:p>
        </p:txBody>
      </p:sp>
      <p:sp>
        <p:nvSpPr>
          <p:cNvPr id="44" name="Text 37"/>
          <p:cNvSpPr txBox="1"/>
          <p:nvPr/>
        </p:nvSpPr>
        <p:spPr>
          <a:xfrm>
            <a:off x="749808" y="3904488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500" dirty="0"/>
          </a:p>
        </p:txBody>
      </p:sp>
      <p:sp>
        <p:nvSpPr>
          <p:cNvPr id="45" name="Text 38"/>
          <p:cNvSpPr txBox="1"/>
          <p:nvPr/>
        </p:nvSpPr>
        <p:spPr>
          <a:xfrm>
            <a:off x="1097280" y="3904488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400" dirty="0"/>
          </a:p>
        </p:txBody>
      </p:sp>
      <p:sp>
        <p:nvSpPr>
          <p:cNvPr id="46" name="Text 39"/>
          <p:cNvSpPr txBox="1"/>
          <p:nvPr/>
        </p:nvSpPr>
        <p:spPr>
          <a:xfrm>
            <a:off x="3657600" y="3904488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1.29 → 1.40</a:t>
            </a:r>
            <a:endParaRPr lang="en-US" sz="1400" dirty="0"/>
          </a:p>
        </p:txBody>
      </p:sp>
      <p:graphicFrame>
        <p:nvGraphicFramePr>
          <p:cNvPr id="47" name="Chart 5" descr=""/>
          <p:cNvGraphicFramePr/>
          <p:nvPr/>
        </p:nvGraphicFramePr>
        <p:xfrm>
          <a:off x="5276088" y="3922776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48" name="Text 40"/>
          <p:cNvSpPr txBox="1"/>
          <p:nvPr/>
        </p:nvSpPr>
        <p:spPr>
          <a:xfrm>
            <a:off x="8183880" y="3904488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400" dirty="0"/>
          </a:p>
        </p:txBody>
      </p:sp>
      <p:sp>
        <p:nvSpPr>
          <p:cNvPr id="49" name="Text 41"/>
          <p:cNvSpPr txBox="1"/>
          <p:nvPr/>
        </p:nvSpPr>
        <p:spPr>
          <a:xfrm>
            <a:off x="10195560" y="3904488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+8.2%</a:t>
            </a:r>
            <a:endParaRPr lang="en-US" sz="1600" dirty="0"/>
          </a:p>
        </p:txBody>
      </p:sp>
      <p:sp>
        <p:nvSpPr>
          <p:cNvPr id="50" name="Shape 42"/>
          <p:cNvSpPr/>
          <p:nvPr/>
        </p:nvSpPr>
        <p:spPr>
          <a:xfrm>
            <a:off x="621792" y="4286707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51" name="Text 43"/>
          <p:cNvSpPr txBox="1"/>
          <p:nvPr/>
        </p:nvSpPr>
        <p:spPr>
          <a:xfrm>
            <a:off x="749808" y="4286707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500" dirty="0"/>
          </a:p>
        </p:txBody>
      </p:sp>
      <p:sp>
        <p:nvSpPr>
          <p:cNvPr id="52" name="Text 44"/>
          <p:cNvSpPr txBox="1"/>
          <p:nvPr/>
        </p:nvSpPr>
        <p:spPr>
          <a:xfrm>
            <a:off x="1097280" y="4286707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400" dirty="0"/>
          </a:p>
        </p:txBody>
      </p:sp>
      <p:sp>
        <p:nvSpPr>
          <p:cNvPr id="53" name="Text 45"/>
          <p:cNvSpPr txBox="1"/>
          <p:nvPr/>
        </p:nvSpPr>
        <p:spPr>
          <a:xfrm>
            <a:off x="3657600" y="4286707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1.33 → 1.40</a:t>
            </a:r>
            <a:endParaRPr lang="en-US" sz="1400" dirty="0"/>
          </a:p>
        </p:txBody>
      </p:sp>
      <p:graphicFrame>
        <p:nvGraphicFramePr>
          <p:cNvPr id="54" name="Chart 6" descr=""/>
          <p:cNvGraphicFramePr/>
          <p:nvPr/>
        </p:nvGraphicFramePr>
        <p:xfrm>
          <a:off x="5276088" y="4304995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55" name="Text 46"/>
          <p:cNvSpPr txBox="1"/>
          <p:nvPr/>
        </p:nvSpPr>
        <p:spPr>
          <a:xfrm>
            <a:off x="8183880" y="4286707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</a:t>
            </a:r>
            <a:endParaRPr lang="en-US" sz="1400" dirty="0"/>
          </a:p>
        </p:txBody>
      </p:sp>
      <p:sp>
        <p:nvSpPr>
          <p:cNvPr id="56" name="Text 47"/>
          <p:cNvSpPr txBox="1"/>
          <p:nvPr/>
        </p:nvSpPr>
        <p:spPr>
          <a:xfrm>
            <a:off x="10195560" y="4286707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+5.2%</a:t>
            </a:r>
            <a:endParaRPr lang="en-US" sz="1600" dirty="0"/>
          </a:p>
        </p:txBody>
      </p:sp>
      <p:sp>
        <p:nvSpPr>
          <p:cNvPr id="57" name="Text 48"/>
          <p:cNvSpPr txBox="1"/>
          <p:nvPr/>
        </p:nvSpPr>
        <p:spPr>
          <a:xfrm>
            <a:off x="749808" y="4668926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500" dirty="0"/>
          </a:p>
        </p:txBody>
      </p:sp>
      <p:sp>
        <p:nvSpPr>
          <p:cNvPr id="58" name="Text 49"/>
          <p:cNvSpPr txBox="1"/>
          <p:nvPr/>
        </p:nvSpPr>
        <p:spPr>
          <a:xfrm>
            <a:off x="1097280" y="4668926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400" dirty="0"/>
          </a:p>
        </p:txBody>
      </p:sp>
      <p:sp>
        <p:nvSpPr>
          <p:cNvPr id="59" name="Text 50"/>
          <p:cNvSpPr txBox="1"/>
          <p:nvPr/>
        </p:nvSpPr>
        <p:spPr>
          <a:xfrm>
            <a:off x="3657600" y="4668926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2.19 → 2.30</a:t>
            </a:r>
            <a:endParaRPr lang="en-US" sz="1400" dirty="0"/>
          </a:p>
        </p:txBody>
      </p:sp>
      <p:graphicFrame>
        <p:nvGraphicFramePr>
          <p:cNvPr id="60" name="Chart 7" descr=""/>
          <p:cNvGraphicFramePr/>
          <p:nvPr/>
        </p:nvGraphicFramePr>
        <p:xfrm>
          <a:off x="5276088" y="4687214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61" name="Text 51"/>
          <p:cNvSpPr txBox="1"/>
          <p:nvPr/>
        </p:nvSpPr>
        <p:spPr>
          <a:xfrm>
            <a:off x="8183880" y="4668926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August</a:t>
            </a:r>
            <a:endParaRPr lang="en-US" sz="1400" dirty="0"/>
          </a:p>
        </p:txBody>
      </p:sp>
      <p:sp>
        <p:nvSpPr>
          <p:cNvPr id="62" name="Text 52"/>
          <p:cNvSpPr txBox="1"/>
          <p:nvPr/>
        </p:nvSpPr>
        <p:spPr>
          <a:xfrm>
            <a:off x="10195560" y="4668926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+4.9%</a:t>
            </a:r>
            <a:endParaRPr lang="en-US" sz="1600" dirty="0"/>
          </a:p>
        </p:txBody>
      </p:sp>
      <p:sp>
        <p:nvSpPr>
          <p:cNvPr id="63" name="Shape 53"/>
          <p:cNvSpPr/>
          <p:nvPr/>
        </p:nvSpPr>
        <p:spPr>
          <a:xfrm>
            <a:off x="621792" y="5051146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4" name="Text 54"/>
          <p:cNvSpPr txBox="1"/>
          <p:nvPr/>
        </p:nvSpPr>
        <p:spPr>
          <a:xfrm>
            <a:off x="749808" y="5051146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500" dirty="0"/>
          </a:p>
        </p:txBody>
      </p:sp>
      <p:sp>
        <p:nvSpPr>
          <p:cNvPr id="65" name="Text 55"/>
          <p:cNvSpPr txBox="1"/>
          <p:nvPr/>
        </p:nvSpPr>
        <p:spPr>
          <a:xfrm>
            <a:off x="1097280" y="5051146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400" dirty="0"/>
          </a:p>
        </p:txBody>
      </p:sp>
      <p:sp>
        <p:nvSpPr>
          <p:cNvPr id="66" name="Text 56"/>
          <p:cNvSpPr txBox="1"/>
          <p:nvPr/>
        </p:nvSpPr>
        <p:spPr>
          <a:xfrm>
            <a:off x="3657600" y="5051146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2.60 → 2.73</a:t>
            </a:r>
            <a:endParaRPr lang="en-US" sz="1400" dirty="0"/>
          </a:p>
        </p:txBody>
      </p:sp>
      <p:graphicFrame>
        <p:nvGraphicFramePr>
          <p:cNvPr id="67" name="Chart 8" descr=""/>
          <p:cNvGraphicFramePr/>
          <p:nvPr/>
        </p:nvGraphicFramePr>
        <p:xfrm>
          <a:off x="5276088" y="5069434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9"/>
          </a:graphicData>
        </a:graphic>
      </p:graphicFrame>
      <p:sp>
        <p:nvSpPr>
          <p:cNvPr id="68" name="Text 57"/>
          <p:cNvSpPr txBox="1"/>
          <p:nvPr/>
        </p:nvSpPr>
        <p:spPr>
          <a:xfrm>
            <a:off x="8183880" y="5051146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June</a:t>
            </a:r>
            <a:endParaRPr lang="en-US" sz="1400" dirty="0"/>
          </a:p>
        </p:txBody>
      </p:sp>
      <p:sp>
        <p:nvSpPr>
          <p:cNvPr id="69" name="Text 58"/>
          <p:cNvSpPr txBox="1"/>
          <p:nvPr/>
        </p:nvSpPr>
        <p:spPr>
          <a:xfrm>
            <a:off x="10195560" y="5051146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+4.8%</a:t>
            </a:r>
            <a:endParaRPr lang="en-US" sz="1600" dirty="0"/>
          </a:p>
        </p:txBody>
      </p:sp>
      <p:sp>
        <p:nvSpPr>
          <p:cNvPr id="70" name="Text 59"/>
          <p:cNvSpPr txBox="1"/>
          <p:nvPr/>
        </p:nvSpPr>
        <p:spPr>
          <a:xfrm>
            <a:off x="749808" y="5433365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500" dirty="0"/>
          </a:p>
        </p:txBody>
      </p:sp>
      <p:sp>
        <p:nvSpPr>
          <p:cNvPr id="71" name="Text 60"/>
          <p:cNvSpPr txBox="1"/>
          <p:nvPr/>
        </p:nvSpPr>
        <p:spPr>
          <a:xfrm>
            <a:off x="1097280" y="5433365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400" dirty="0"/>
          </a:p>
        </p:txBody>
      </p:sp>
      <p:sp>
        <p:nvSpPr>
          <p:cNvPr id="72" name="Text 61"/>
          <p:cNvSpPr txBox="1"/>
          <p:nvPr/>
        </p:nvSpPr>
        <p:spPr>
          <a:xfrm>
            <a:off x="3657600" y="5433365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3.25 → 3.41</a:t>
            </a:r>
            <a:endParaRPr lang="en-US" sz="1400" dirty="0"/>
          </a:p>
        </p:txBody>
      </p:sp>
      <p:graphicFrame>
        <p:nvGraphicFramePr>
          <p:cNvPr id="73" name="Chart 9" descr=""/>
          <p:cNvGraphicFramePr/>
          <p:nvPr/>
        </p:nvGraphicFramePr>
        <p:xfrm>
          <a:off x="5276088" y="5451653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74" name="Text 62"/>
          <p:cNvSpPr txBox="1"/>
          <p:nvPr/>
        </p:nvSpPr>
        <p:spPr>
          <a:xfrm>
            <a:off x="8183880" y="5433365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400" dirty="0"/>
          </a:p>
        </p:txBody>
      </p:sp>
      <p:sp>
        <p:nvSpPr>
          <p:cNvPr id="75" name="Text 63"/>
          <p:cNvSpPr txBox="1"/>
          <p:nvPr/>
        </p:nvSpPr>
        <p:spPr>
          <a:xfrm>
            <a:off x="10195560" y="5433365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+4.6%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· MOST IMPROVED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Who's Moving Now: CP ELR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298448"/>
            <a:ext cx="10762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 2026. Group $161.81 → $163.67, +1.1%: that is the season. 15 of 33 stores beat it.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16824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16824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Jan – Sep 2026, by month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183880" y="16824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Stepped up in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195560" y="1682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" y="1993392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1993392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1993392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1993392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$128.27 → $141.89</a:t>
            </a:r>
            <a:endParaRPr lang="en-US" sz="14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276088" y="2011680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8183880" y="1993392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June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0195560" y="1993392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+10.6%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49808" y="2375611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097280" y="2375611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657600" y="2375611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$227.34 → $244.12</a:t>
            </a:r>
            <a:endParaRPr lang="en-US" sz="1400" dirty="0"/>
          </a:p>
        </p:txBody>
      </p:sp>
      <p:graphicFrame>
        <p:nvGraphicFramePr>
          <p:cNvPr id="21" name="Chart 1" descr=""/>
          <p:cNvGraphicFramePr/>
          <p:nvPr/>
        </p:nvGraphicFramePr>
        <p:xfrm>
          <a:off x="5276088" y="2393899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Text 18"/>
          <p:cNvSpPr txBox="1"/>
          <p:nvPr/>
        </p:nvSpPr>
        <p:spPr>
          <a:xfrm>
            <a:off x="8183880" y="2375611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June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10195560" y="2375611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+7.3%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621792" y="2757830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2757830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1097280" y="2757830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SPOKANE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3657600" y="2757830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$139.40 → $147.93</a:t>
            </a:r>
            <a:endParaRPr lang="en-US" sz="1400" dirty="0"/>
          </a:p>
        </p:txBody>
      </p:sp>
      <p:graphicFrame>
        <p:nvGraphicFramePr>
          <p:cNvPr id="28" name="Chart 2" descr=""/>
          <p:cNvGraphicFramePr/>
          <p:nvPr/>
        </p:nvGraphicFramePr>
        <p:xfrm>
          <a:off x="5276088" y="2776118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Text 24"/>
          <p:cNvSpPr txBox="1"/>
          <p:nvPr/>
        </p:nvSpPr>
        <p:spPr>
          <a:xfrm>
            <a:off x="8183880" y="2757830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400" dirty="0"/>
          </a:p>
        </p:txBody>
      </p:sp>
      <p:sp>
        <p:nvSpPr>
          <p:cNvPr id="30" name="Text 25"/>
          <p:cNvSpPr txBox="1"/>
          <p:nvPr/>
        </p:nvSpPr>
        <p:spPr>
          <a:xfrm>
            <a:off x="10195560" y="2757830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+6.1%</a:t>
            </a:r>
            <a:endParaRPr lang="en-US" sz="1600" dirty="0"/>
          </a:p>
        </p:txBody>
      </p:sp>
      <p:sp>
        <p:nvSpPr>
          <p:cNvPr id="31" name="Text 26"/>
          <p:cNvSpPr txBox="1"/>
          <p:nvPr/>
        </p:nvSpPr>
        <p:spPr>
          <a:xfrm>
            <a:off x="749808" y="3140050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Text 27"/>
          <p:cNvSpPr txBox="1"/>
          <p:nvPr/>
        </p:nvSpPr>
        <p:spPr>
          <a:xfrm>
            <a:off x="1097280" y="3140050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400" dirty="0"/>
          </a:p>
        </p:txBody>
      </p:sp>
      <p:sp>
        <p:nvSpPr>
          <p:cNvPr id="33" name="Text 28"/>
          <p:cNvSpPr txBox="1"/>
          <p:nvPr/>
        </p:nvSpPr>
        <p:spPr>
          <a:xfrm>
            <a:off x="3657600" y="3140050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$142.56 → $150.72</a:t>
            </a:r>
            <a:endParaRPr lang="en-US" sz="1400" dirty="0"/>
          </a:p>
        </p:txBody>
      </p:sp>
      <p:graphicFrame>
        <p:nvGraphicFramePr>
          <p:cNvPr id="34" name="Chart 3" descr=""/>
          <p:cNvGraphicFramePr/>
          <p:nvPr/>
        </p:nvGraphicFramePr>
        <p:xfrm>
          <a:off x="5276088" y="3158338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5" name="Text 29"/>
          <p:cNvSpPr txBox="1"/>
          <p:nvPr/>
        </p:nvSpPr>
        <p:spPr>
          <a:xfrm>
            <a:off x="8183880" y="3140050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400" dirty="0"/>
          </a:p>
        </p:txBody>
      </p:sp>
      <p:sp>
        <p:nvSpPr>
          <p:cNvPr id="36" name="Text 30"/>
          <p:cNvSpPr txBox="1"/>
          <p:nvPr/>
        </p:nvSpPr>
        <p:spPr>
          <a:xfrm>
            <a:off x="10195560" y="3140050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+5.7%</a:t>
            </a:r>
            <a:endParaRPr lang="en-US" sz="1600" dirty="0"/>
          </a:p>
        </p:txBody>
      </p:sp>
      <p:sp>
        <p:nvSpPr>
          <p:cNvPr id="37" name="Shape 31"/>
          <p:cNvSpPr/>
          <p:nvPr/>
        </p:nvSpPr>
        <p:spPr>
          <a:xfrm>
            <a:off x="621792" y="3522269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8" name="Text 32"/>
          <p:cNvSpPr txBox="1"/>
          <p:nvPr/>
        </p:nvSpPr>
        <p:spPr>
          <a:xfrm>
            <a:off x="749808" y="3522269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500" dirty="0"/>
          </a:p>
        </p:txBody>
      </p:sp>
      <p:sp>
        <p:nvSpPr>
          <p:cNvPr id="39" name="Text 33"/>
          <p:cNvSpPr txBox="1"/>
          <p:nvPr/>
        </p:nvSpPr>
        <p:spPr>
          <a:xfrm>
            <a:off x="1097280" y="3522269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400" dirty="0"/>
          </a:p>
        </p:txBody>
      </p:sp>
      <p:sp>
        <p:nvSpPr>
          <p:cNvPr id="40" name="Text 34"/>
          <p:cNvSpPr txBox="1"/>
          <p:nvPr/>
        </p:nvSpPr>
        <p:spPr>
          <a:xfrm>
            <a:off x="3657600" y="3522269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$139.09 → $146.04</a:t>
            </a:r>
            <a:endParaRPr lang="en-US" sz="1400" dirty="0"/>
          </a:p>
        </p:txBody>
      </p:sp>
      <p:graphicFrame>
        <p:nvGraphicFramePr>
          <p:cNvPr id="41" name="Chart 4" descr=""/>
          <p:cNvGraphicFramePr/>
          <p:nvPr/>
        </p:nvGraphicFramePr>
        <p:xfrm>
          <a:off x="5276088" y="3540557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42" name="Text 35"/>
          <p:cNvSpPr txBox="1"/>
          <p:nvPr/>
        </p:nvSpPr>
        <p:spPr>
          <a:xfrm>
            <a:off x="8183880" y="3522269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July</a:t>
            </a:r>
            <a:endParaRPr lang="en-US" sz="1400" dirty="0"/>
          </a:p>
        </p:txBody>
      </p:sp>
      <p:sp>
        <p:nvSpPr>
          <p:cNvPr id="43" name="Text 36"/>
          <p:cNvSpPr txBox="1"/>
          <p:nvPr/>
        </p:nvSpPr>
        <p:spPr>
          <a:xfrm>
            <a:off x="10195560" y="3522269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+5.0%</a:t>
            </a:r>
            <a:endParaRPr lang="en-US" sz="1600" dirty="0"/>
          </a:p>
        </p:txBody>
      </p:sp>
      <p:sp>
        <p:nvSpPr>
          <p:cNvPr id="44" name="Text 37"/>
          <p:cNvSpPr txBox="1"/>
          <p:nvPr/>
        </p:nvSpPr>
        <p:spPr>
          <a:xfrm>
            <a:off x="749808" y="3904488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500" dirty="0"/>
          </a:p>
        </p:txBody>
      </p:sp>
      <p:sp>
        <p:nvSpPr>
          <p:cNvPr id="45" name="Text 38"/>
          <p:cNvSpPr txBox="1"/>
          <p:nvPr/>
        </p:nvSpPr>
        <p:spPr>
          <a:xfrm>
            <a:off x="1097280" y="3904488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NISSAN</a:t>
            </a:r>
            <a:endParaRPr lang="en-US" sz="1400" dirty="0"/>
          </a:p>
        </p:txBody>
      </p:sp>
      <p:sp>
        <p:nvSpPr>
          <p:cNvPr id="46" name="Text 39"/>
          <p:cNvSpPr txBox="1"/>
          <p:nvPr/>
        </p:nvSpPr>
        <p:spPr>
          <a:xfrm>
            <a:off x="3657600" y="3904488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$172.35 → $180.14</a:t>
            </a:r>
            <a:endParaRPr lang="en-US" sz="1400" dirty="0"/>
          </a:p>
        </p:txBody>
      </p:sp>
      <p:graphicFrame>
        <p:nvGraphicFramePr>
          <p:cNvPr id="47" name="Chart 5" descr=""/>
          <p:cNvGraphicFramePr/>
          <p:nvPr/>
        </p:nvGraphicFramePr>
        <p:xfrm>
          <a:off x="5276088" y="3922776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48" name="Text 40"/>
          <p:cNvSpPr txBox="1"/>
          <p:nvPr/>
        </p:nvSpPr>
        <p:spPr>
          <a:xfrm>
            <a:off x="8183880" y="3904488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</a:t>
            </a:r>
            <a:endParaRPr lang="en-US" sz="1400" dirty="0"/>
          </a:p>
        </p:txBody>
      </p:sp>
      <p:sp>
        <p:nvSpPr>
          <p:cNvPr id="49" name="Text 41"/>
          <p:cNvSpPr txBox="1"/>
          <p:nvPr/>
        </p:nvSpPr>
        <p:spPr>
          <a:xfrm>
            <a:off x="10195560" y="3904488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+4.5%</a:t>
            </a:r>
            <a:endParaRPr lang="en-US" sz="1600" dirty="0"/>
          </a:p>
        </p:txBody>
      </p:sp>
      <p:sp>
        <p:nvSpPr>
          <p:cNvPr id="50" name="Shape 42"/>
          <p:cNvSpPr/>
          <p:nvPr/>
        </p:nvSpPr>
        <p:spPr>
          <a:xfrm>
            <a:off x="621792" y="4286707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51" name="Text 43"/>
          <p:cNvSpPr txBox="1"/>
          <p:nvPr/>
        </p:nvSpPr>
        <p:spPr>
          <a:xfrm>
            <a:off x="749808" y="4286707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500" dirty="0"/>
          </a:p>
        </p:txBody>
      </p:sp>
      <p:sp>
        <p:nvSpPr>
          <p:cNvPr id="52" name="Text 44"/>
          <p:cNvSpPr txBox="1"/>
          <p:nvPr/>
        </p:nvSpPr>
        <p:spPr>
          <a:xfrm>
            <a:off x="1097280" y="4286707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400" dirty="0"/>
          </a:p>
        </p:txBody>
      </p:sp>
      <p:sp>
        <p:nvSpPr>
          <p:cNvPr id="53" name="Text 45"/>
          <p:cNvSpPr txBox="1"/>
          <p:nvPr/>
        </p:nvSpPr>
        <p:spPr>
          <a:xfrm>
            <a:off x="3657600" y="4286707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$140.89 → $146.92</a:t>
            </a:r>
            <a:endParaRPr lang="en-US" sz="1400" dirty="0"/>
          </a:p>
        </p:txBody>
      </p:sp>
      <p:graphicFrame>
        <p:nvGraphicFramePr>
          <p:cNvPr id="54" name="Chart 6" descr=""/>
          <p:cNvGraphicFramePr/>
          <p:nvPr/>
        </p:nvGraphicFramePr>
        <p:xfrm>
          <a:off x="5276088" y="4304995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55" name="Text 46"/>
          <p:cNvSpPr txBox="1"/>
          <p:nvPr/>
        </p:nvSpPr>
        <p:spPr>
          <a:xfrm>
            <a:off x="8183880" y="4286707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August</a:t>
            </a:r>
            <a:endParaRPr lang="en-US" sz="1400" dirty="0"/>
          </a:p>
        </p:txBody>
      </p:sp>
      <p:sp>
        <p:nvSpPr>
          <p:cNvPr id="56" name="Text 47"/>
          <p:cNvSpPr txBox="1"/>
          <p:nvPr/>
        </p:nvSpPr>
        <p:spPr>
          <a:xfrm>
            <a:off x="10195560" y="4286707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+4.2%</a:t>
            </a:r>
            <a:endParaRPr lang="en-US" sz="1600" dirty="0"/>
          </a:p>
        </p:txBody>
      </p:sp>
      <p:sp>
        <p:nvSpPr>
          <p:cNvPr id="57" name="Text 48"/>
          <p:cNvSpPr txBox="1"/>
          <p:nvPr/>
        </p:nvSpPr>
        <p:spPr>
          <a:xfrm>
            <a:off x="749808" y="4668926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500" dirty="0"/>
          </a:p>
        </p:txBody>
      </p:sp>
      <p:sp>
        <p:nvSpPr>
          <p:cNvPr id="58" name="Text 49"/>
          <p:cNvSpPr txBox="1"/>
          <p:nvPr/>
        </p:nvSpPr>
        <p:spPr>
          <a:xfrm>
            <a:off x="1097280" y="4668926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VOLVO</a:t>
            </a:r>
            <a:endParaRPr lang="en-US" sz="1400" dirty="0"/>
          </a:p>
        </p:txBody>
      </p:sp>
      <p:sp>
        <p:nvSpPr>
          <p:cNvPr id="59" name="Text 50"/>
          <p:cNvSpPr txBox="1"/>
          <p:nvPr/>
        </p:nvSpPr>
        <p:spPr>
          <a:xfrm>
            <a:off x="3657600" y="4668926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$216.72 → $225.50</a:t>
            </a:r>
            <a:endParaRPr lang="en-US" sz="1400" dirty="0"/>
          </a:p>
        </p:txBody>
      </p:sp>
      <p:graphicFrame>
        <p:nvGraphicFramePr>
          <p:cNvPr id="60" name="Chart 7" descr=""/>
          <p:cNvGraphicFramePr/>
          <p:nvPr/>
        </p:nvGraphicFramePr>
        <p:xfrm>
          <a:off x="5276088" y="4687214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61" name="Text 51"/>
          <p:cNvSpPr txBox="1"/>
          <p:nvPr/>
        </p:nvSpPr>
        <p:spPr>
          <a:xfrm>
            <a:off x="8183880" y="4668926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400" dirty="0"/>
          </a:p>
        </p:txBody>
      </p:sp>
      <p:sp>
        <p:nvSpPr>
          <p:cNvPr id="62" name="Text 52"/>
          <p:cNvSpPr txBox="1"/>
          <p:nvPr/>
        </p:nvSpPr>
        <p:spPr>
          <a:xfrm>
            <a:off x="10195560" y="4668926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+4.0%</a:t>
            </a:r>
            <a:endParaRPr lang="en-US" sz="1600" dirty="0"/>
          </a:p>
        </p:txBody>
      </p:sp>
      <p:sp>
        <p:nvSpPr>
          <p:cNvPr id="63" name="Shape 53"/>
          <p:cNvSpPr/>
          <p:nvPr/>
        </p:nvSpPr>
        <p:spPr>
          <a:xfrm>
            <a:off x="621792" y="5051146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4" name="Text 54"/>
          <p:cNvSpPr txBox="1"/>
          <p:nvPr/>
        </p:nvSpPr>
        <p:spPr>
          <a:xfrm>
            <a:off x="749808" y="5051146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500" dirty="0"/>
          </a:p>
        </p:txBody>
      </p:sp>
      <p:sp>
        <p:nvSpPr>
          <p:cNvPr id="65" name="Text 55"/>
          <p:cNvSpPr txBox="1"/>
          <p:nvPr/>
        </p:nvSpPr>
        <p:spPr>
          <a:xfrm>
            <a:off x="1097280" y="5051146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400" dirty="0"/>
          </a:p>
        </p:txBody>
      </p:sp>
      <p:sp>
        <p:nvSpPr>
          <p:cNvPr id="66" name="Text 56"/>
          <p:cNvSpPr txBox="1"/>
          <p:nvPr/>
        </p:nvSpPr>
        <p:spPr>
          <a:xfrm>
            <a:off x="3657600" y="5051146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$155.72 → $161.80</a:t>
            </a:r>
            <a:endParaRPr lang="en-US" sz="1400" dirty="0"/>
          </a:p>
        </p:txBody>
      </p:sp>
      <p:graphicFrame>
        <p:nvGraphicFramePr>
          <p:cNvPr id="67" name="Chart 8" descr=""/>
          <p:cNvGraphicFramePr/>
          <p:nvPr/>
        </p:nvGraphicFramePr>
        <p:xfrm>
          <a:off x="5276088" y="5069434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9"/>
          </a:graphicData>
        </a:graphic>
      </p:graphicFrame>
      <p:sp>
        <p:nvSpPr>
          <p:cNvPr id="68" name="Text 57"/>
          <p:cNvSpPr txBox="1"/>
          <p:nvPr/>
        </p:nvSpPr>
        <p:spPr>
          <a:xfrm>
            <a:off x="8183880" y="5051146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August</a:t>
            </a:r>
            <a:endParaRPr lang="en-US" sz="1400" dirty="0"/>
          </a:p>
        </p:txBody>
      </p:sp>
      <p:sp>
        <p:nvSpPr>
          <p:cNvPr id="69" name="Text 58"/>
          <p:cNvSpPr txBox="1"/>
          <p:nvPr/>
        </p:nvSpPr>
        <p:spPr>
          <a:xfrm>
            <a:off x="10195560" y="5051146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+3.9%</a:t>
            </a:r>
            <a:endParaRPr lang="en-US" sz="1600" dirty="0"/>
          </a:p>
        </p:txBody>
      </p:sp>
      <p:sp>
        <p:nvSpPr>
          <p:cNvPr id="70" name="Text 59"/>
          <p:cNvSpPr txBox="1"/>
          <p:nvPr/>
        </p:nvSpPr>
        <p:spPr>
          <a:xfrm>
            <a:off x="749808" y="5433365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500" dirty="0"/>
          </a:p>
        </p:txBody>
      </p:sp>
      <p:sp>
        <p:nvSpPr>
          <p:cNvPr id="71" name="Text 60"/>
          <p:cNvSpPr txBox="1"/>
          <p:nvPr/>
        </p:nvSpPr>
        <p:spPr>
          <a:xfrm>
            <a:off x="1097280" y="5433365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CADILLAC</a:t>
            </a:r>
            <a:endParaRPr lang="en-US" sz="1400" dirty="0"/>
          </a:p>
        </p:txBody>
      </p:sp>
      <p:sp>
        <p:nvSpPr>
          <p:cNvPr id="72" name="Text 61"/>
          <p:cNvSpPr txBox="1"/>
          <p:nvPr/>
        </p:nvSpPr>
        <p:spPr>
          <a:xfrm>
            <a:off x="3657600" y="5433365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$169.51 → $175.47</a:t>
            </a:r>
            <a:endParaRPr lang="en-US" sz="1400" dirty="0"/>
          </a:p>
        </p:txBody>
      </p:sp>
      <p:graphicFrame>
        <p:nvGraphicFramePr>
          <p:cNvPr id="73" name="Chart 9" descr=""/>
          <p:cNvGraphicFramePr/>
          <p:nvPr/>
        </p:nvGraphicFramePr>
        <p:xfrm>
          <a:off x="5276088" y="5451653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74" name="Text 62"/>
          <p:cNvSpPr txBox="1"/>
          <p:nvPr/>
        </p:nvSpPr>
        <p:spPr>
          <a:xfrm>
            <a:off x="8183880" y="5433365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July</a:t>
            </a:r>
            <a:endParaRPr lang="en-US" sz="1400" dirty="0"/>
          </a:p>
        </p:txBody>
      </p:sp>
      <p:sp>
        <p:nvSpPr>
          <p:cNvPr id="75" name="Text 63"/>
          <p:cNvSpPr txBox="1"/>
          <p:nvPr/>
        </p:nvSpPr>
        <p:spPr>
          <a:xfrm>
            <a:off x="10195560" y="5433365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+3.5%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· MOST IMPROVED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Who's Moving Now: CP Parts $ per RO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298448"/>
            <a:ext cx="10762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 2026. Group $230 → $242, +5.1%: that is the season. 19 of 33 stores beat it.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16824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16824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Jan – Sep 2026, by month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183880" y="16824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Stepped up in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195560" y="1682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" y="1993392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1993392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1993392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1993392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$224 → $298</a:t>
            </a:r>
            <a:endParaRPr lang="en-US" sz="14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276088" y="2011680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8183880" y="1993392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June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0195560" y="1993392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+32.9%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49808" y="2375611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097280" y="2375611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657600" y="2375611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$692 → $877</a:t>
            </a:r>
            <a:endParaRPr lang="en-US" sz="1400" dirty="0"/>
          </a:p>
        </p:txBody>
      </p:sp>
      <p:graphicFrame>
        <p:nvGraphicFramePr>
          <p:cNvPr id="21" name="Chart 1" descr=""/>
          <p:cNvGraphicFramePr/>
          <p:nvPr/>
        </p:nvGraphicFramePr>
        <p:xfrm>
          <a:off x="5276088" y="2393899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Text 18"/>
          <p:cNvSpPr txBox="1"/>
          <p:nvPr/>
        </p:nvSpPr>
        <p:spPr>
          <a:xfrm>
            <a:off x="8183880" y="2375611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10195560" y="2375611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+26.6%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621792" y="2757830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2757830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1097280" y="2757830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3657600" y="2757830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$229 → $282</a:t>
            </a:r>
            <a:endParaRPr lang="en-US" sz="1400" dirty="0"/>
          </a:p>
        </p:txBody>
      </p:sp>
      <p:graphicFrame>
        <p:nvGraphicFramePr>
          <p:cNvPr id="28" name="Chart 2" descr=""/>
          <p:cNvGraphicFramePr/>
          <p:nvPr/>
        </p:nvGraphicFramePr>
        <p:xfrm>
          <a:off x="5276088" y="2776118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Text 24"/>
          <p:cNvSpPr txBox="1"/>
          <p:nvPr/>
        </p:nvSpPr>
        <p:spPr>
          <a:xfrm>
            <a:off x="8183880" y="2757830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</a:t>
            </a:r>
            <a:endParaRPr lang="en-US" sz="1400" dirty="0"/>
          </a:p>
        </p:txBody>
      </p:sp>
      <p:sp>
        <p:nvSpPr>
          <p:cNvPr id="30" name="Text 25"/>
          <p:cNvSpPr txBox="1"/>
          <p:nvPr/>
        </p:nvSpPr>
        <p:spPr>
          <a:xfrm>
            <a:off x="10195560" y="2757830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+22.9%</a:t>
            </a:r>
            <a:endParaRPr lang="en-US" sz="1600" dirty="0"/>
          </a:p>
        </p:txBody>
      </p:sp>
      <p:sp>
        <p:nvSpPr>
          <p:cNvPr id="31" name="Text 26"/>
          <p:cNvSpPr txBox="1"/>
          <p:nvPr/>
        </p:nvSpPr>
        <p:spPr>
          <a:xfrm>
            <a:off x="749808" y="3140050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Text 27"/>
          <p:cNvSpPr txBox="1"/>
          <p:nvPr/>
        </p:nvSpPr>
        <p:spPr>
          <a:xfrm>
            <a:off x="1097280" y="3140050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HONDA FLAGSTAFF</a:t>
            </a:r>
            <a:endParaRPr lang="en-US" sz="1400" dirty="0"/>
          </a:p>
        </p:txBody>
      </p:sp>
      <p:sp>
        <p:nvSpPr>
          <p:cNvPr id="33" name="Text 28"/>
          <p:cNvSpPr txBox="1"/>
          <p:nvPr/>
        </p:nvSpPr>
        <p:spPr>
          <a:xfrm>
            <a:off x="3657600" y="3140050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$200 → $234</a:t>
            </a:r>
            <a:endParaRPr lang="en-US" sz="1400" dirty="0"/>
          </a:p>
        </p:txBody>
      </p:sp>
      <p:graphicFrame>
        <p:nvGraphicFramePr>
          <p:cNvPr id="34" name="Chart 3" descr=""/>
          <p:cNvGraphicFramePr/>
          <p:nvPr/>
        </p:nvGraphicFramePr>
        <p:xfrm>
          <a:off x="5276088" y="3158338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5" name="Text 29"/>
          <p:cNvSpPr txBox="1"/>
          <p:nvPr/>
        </p:nvSpPr>
        <p:spPr>
          <a:xfrm>
            <a:off x="8183880" y="3140050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July</a:t>
            </a:r>
            <a:endParaRPr lang="en-US" sz="1400" dirty="0"/>
          </a:p>
        </p:txBody>
      </p:sp>
      <p:sp>
        <p:nvSpPr>
          <p:cNvPr id="36" name="Text 30"/>
          <p:cNvSpPr txBox="1"/>
          <p:nvPr/>
        </p:nvSpPr>
        <p:spPr>
          <a:xfrm>
            <a:off x="10195560" y="3140050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+16.9%</a:t>
            </a:r>
            <a:endParaRPr lang="en-US" sz="1600" dirty="0"/>
          </a:p>
        </p:txBody>
      </p:sp>
      <p:sp>
        <p:nvSpPr>
          <p:cNvPr id="37" name="Shape 31"/>
          <p:cNvSpPr/>
          <p:nvPr/>
        </p:nvSpPr>
        <p:spPr>
          <a:xfrm>
            <a:off x="621792" y="3522269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8" name="Text 32"/>
          <p:cNvSpPr txBox="1"/>
          <p:nvPr/>
        </p:nvSpPr>
        <p:spPr>
          <a:xfrm>
            <a:off x="749808" y="3522269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500" dirty="0"/>
          </a:p>
        </p:txBody>
      </p:sp>
      <p:sp>
        <p:nvSpPr>
          <p:cNvPr id="39" name="Text 33"/>
          <p:cNvSpPr txBox="1"/>
          <p:nvPr/>
        </p:nvSpPr>
        <p:spPr>
          <a:xfrm>
            <a:off x="1097280" y="3522269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ST GEORGE</a:t>
            </a:r>
            <a:endParaRPr lang="en-US" sz="1400" dirty="0"/>
          </a:p>
        </p:txBody>
      </p:sp>
      <p:sp>
        <p:nvSpPr>
          <p:cNvPr id="40" name="Text 34"/>
          <p:cNvSpPr txBox="1"/>
          <p:nvPr/>
        </p:nvSpPr>
        <p:spPr>
          <a:xfrm>
            <a:off x="3657600" y="3522269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$204 → $234</a:t>
            </a:r>
            <a:endParaRPr lang="en-US" sz="1400" dirty="0"/>
          </a:p>
        </p:txBody>
      </p:sp>
      <p:graphicFrame>
        <p:nvGraphicFramePr>
          <p:cNvPr id="41" name="Chart 4" descr=""/>
          <p:cNvGraphicFramePr/>
          <p:nvPr/>
        </p:nvGraphicFramePr>
        <p:xfrm>
          <a:off x="5276088" y="3540557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42" name="Text 35"/>
          <p:cNvSpPr txBox="1"/>
          <p:nvPr/>
        </p:nvSpPr>
        <p:spPr>
          <a:xfrm>
            <a:off x="8183880" y="3522269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August</a:t>
            </a:r>
            <a:endParaRPr lang="en-US" sz="1400" dirty="0"/>
          </a:p>
        </p:txBody>
      </p:sp>
      <p:sp>
        <p:nvSpPr>
          <p:cNvPr id="43" name="Text 36"/>
          <p:cNvSpPr txBox="1"/>
          <p:nvPr/>
        </p:nvSpPr>
        <p:spPr>
          <a:xfrm>
            <a:off x="10195560" y="3522269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+15.0%</a:t>
            </a:r>
            <a:endParaRPr lang="en-US" sz="1600" dirty="0"/>
          </a:p>
        </p:txBody>
      </p:sp>
      <p:sp>
        <p:nvSpPr>
          <p:cNvPr id="44" name="Text 37"/>
          <p:cNvSpPr txBox="1"/>
          <p:nvPr/>
        </p:nvSpPr>
        <p:spPr>
          <a:xfrm>
            <a:off x="749808" y="3904488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500" dirty="0"/>
          </a:p>
        </p:txBody>
      </p:sp>
      <p:sp>
        <p:nvSpPr>
          <p:cNvPr id="45" name="Text 38"/>
          <p:cNvSpPr txBox="1"/>
          <p:nvPr/>
        </p:nvSpPr>
        <p:spPr>
          <a:xfrm>
            <a:off x="1097280" y="3904488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400" dirty="0"/>
          </a:p>
        </p:txBody>
      </p:sp>
      <p:sp>
        <p:nvSpPr>
          <p:cNvPr id="46" name="Text 39"/>
          <p:cNvSpPr txBox="1"/>
          <p:nvPr/>
        </p:nvSpPr>
        <p:spPr>
          <a:xfrm>
            <a:off x="3657600" y="3904488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$136 → $156</a:t>
            </a:r>
            <a:endParaRPr lang="en-US" sz="1400" dirty="0"/>
          </a:p>
        </p:txBody>
      </p:sp>
      <p:graphicFrame>
        <p:nvGraphicFramePr>
          <p:cNvPr id="47" name="Chart 5" descr=""/>
          <p:cNvGraphicFramePr/>
          <p:nvPr/>
        </p:nvGraphicFramePr>
        <p:xfrm>
          <a:off x="5276088" y="3922776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48" name="Text 40"/>
          <p:cNvSpPr txBox="1"/>
          <p:nvPr/>
        </p:nvSpPr>
        <p:spPr>
          <a:xfrm>
            <a:off x="8183880" y="3904488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400" dirty="0"/>
          </a:p>
        </p:txBody>
      </p:sp>
      <p:sp>
        <p:nvSpPr>
          <p:cNvPr id="49" name="Text 41"/>
          <p:cNvSpPr txBox="1"/>
          <p:nvPr/>
        </p:nvSpPr>
        <p:spPr>
          <a:xfrm>
            <a:off x="10195560" y="3904488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+14.6%</a:t>
            </a:r>
            <a:endParaRPr lang="en-US" sz="1600" dirty="0"/>
          </a:p>
        </p:txBody>
      </p:sp>
      <p:sp>
        <p:nvSpPr>
          <p:cNvPr id="50" name="Shape 42"/>
          <p:cNvSpPr/>
          <p:nvPr/>
        </p:nvSpPr>
        <p:spPr>
          <a:xfrm>
            <a:off x="621792" y="4286707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51" name="Text 43"/>
          <p:cNvSpPr txBox="1"/>
          <p:nvPr/>
        </p:nvSpPr>
        <p:spPr>
          <a:xfrm>
            <a:off x="749808" y="4286707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500" dirty="0"/>
          </a:p>
        </p:txBody>
      </p:sp>
      <p:sp>
        <p:nvSpPr>
          <p:cNvPr id="52" name="Text 44"/>
          <p:cNvSpPr txBox="1"/>
          <p:nvPr/>
        </p:nvSpPr>
        <p:spPr>
          <a:xfrm>
            <a:off x="1097280" y="4286707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400" dirty="0"/>
          </a:p>
        </p:txBody>
      </p:sp>
      <p:sp>
        <p:nvSpPr>
          <p:cNvPr id="53" name="Text 45"/>
          <p:cNvSpPr txBox="1"/>
          <p:nvPr/>
        </p:nvSpPr>
        <p:spPr>
          <a:xfrm>
            <a:off x="3657600" y="4286707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$257 → $292</a:t>
            </a:r>
            <a:endParaRPr lang="en-US" sz="1400" dirty="0"/>
          </a:p>
        </p:txBody>
      </p:sp>
      <p:graphicFrame>
        <p:nvGraphicFramePr>
          <p:cNvPr id="54" name="Chart 6" descr=""/>
          <p:cNvGraphicFramePr/>
          <p:nvPr/>
        </p:nvGraphicFramePr>
        <p:xfrm>
          <a:off x="5276088" y="4304995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55" name="Text 46"/>
          <p:cNvSpPr txBox="1"/>
          <p:nvPr/>
        </p:nvSpPr>
        <p:spPr>
          <a:xfrm>
            <a:off x="8183880" y="4286707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400" dirty="0"/>
          </a:p>
        </p:txBody>
      </p:sp>
      <p:sp>
        <p:nvSpPr>
          <p:cNvPr id="56" name="Text 47"/>
          <p:cNvSpPr txBox="1"/>
          <p:nvPr/>
        </p:nvSpPr>
        <p:spPr>
          <a:xfrm>
            <a:off x="10195560" y="4286707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+13.8%</a:t>
            </a:r>
            <a:endParaRPr lang="en-US" sz="1600" dirty="0"/>
          </a:p>
        </p:txBody>
      </p:sp>
      <p:sp>
        <p:nvSpPr>
          <p:cNvPr id="57" name="Text 48"/>
          <p:cNvSpPr txBox="1"/>
          <p:nvPr/>
        </p:nvSpPr>
        <p:spPr>
          <a:xfrm>
            <a:off x="749808" y="4668926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500" dirty="0"/>
          </a:p>
        </p:txBody>
      </p:sp>
      <p:sp>
        <p:nvSpPr>
          <p:cNvPr id="58" name="Text 49"/>
          <p:cNvSpPr txBox="1"/>
          <p:nvPr/>
        </p:nvSpPr>
        <p:spPr>
          <a:xfrm>
            <a:off x="1097280" y="4668926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HENDERSON</a:t>
            </a:r>
            <a:endParaRPr lang="en-US" sz="1400" dirty="0"/>
          </a:p>
        </p:txBody>
      </p:sp>
      <p:sp>
        <p:nvSpPr>
          <p:cNvPr id="59" name="Text 50"/>
          <p:cNvSpPr txBox="1"/>
          <p:nvPr/>
        </p:nvSpPr>
        <p:spPr>
          <a:xfrm>
            <a:off x="3657600" y="4668926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$728 → $811</a:t>
            </a:r>
            <a:endParaRPr lang="en-US" sz="1400" dirty="0"/>
          </a:p>
        </p:txBody>
      </p:sp>
      <p:graphicFrame>
        <p:nvGraphicFramePr>
          <p:cNvPr id="60" name="Chart 7" descr=""/>
          <p:cNvGraphicFramePr/>
          <p:nvPr/>
        </p:nvGraphicFramePr>
        <p:xfrm>
          <a:off x="5276088" y="4687214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61" name="Text 51"/>
          <p:cNvSpPr txBox="1"/>
          <p:nvPr/>
        </p:nvSpPr>
        <p:spPr>
          <a:xfrm>
            <a:off x="8183880" y="4668926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August</a:t>
            </a:r>
            <a:endParaRPr lang="en-US" sz="1400" dirty="0"/>
          </a:p>
        </p:txBody>
      </p:sp>
      <p:sp>
        <p:nvSpPr>
          <p:cNvPr id="62" name="Text 52"/>
          <p:cNvSpPr txBox="1"/>
          <p:nvPr/>
        </p:nvSpPr>
        <p:spPr>
          <a:xfrm>
            <a:off x="10195560" y="4668926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+11.4%</a:t>
            </a:r>
            <a:endParaRPr lang="en-US" sz="1600" dirty="0"/>
          </a:p>
        </p:txBody>
      </p:sp>
      <p:sp>
        <p:nvSpPr>
          <p:cNvPr id="63" name="Shape 53"/>
          <p:cNvSpPr/>
          <p:nvPr/>
        </p:nvSpPr>
        <p:spPr>
          <a:xfrm>
            <a:off x="621792" y="5051146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4" name="Text 54"/>
          <p:cNvSpPr txBox="1"/>
          <p:nvPr/>
        </p:nvSpPr>
        <p:spPr>
          <a:xfrm>
            <a:off x="749808" y="5051146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500" dirty="0"/>
          </a:p>
        </p:txBody>
      </p:sp>
      <p:sp>
        <p:nvSpPr>
          <p:cNvPr id="65" name="Text 55"/>
          <p:cNvSpPr txBox="1"/>
          <p:nvPr/>
        </p:nvSpPr>
        <p:spPr>
          <a:xfrm>
            <a:off x="1097280" y="5051146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HENDERSON</a:t>
            </a:r>
            <a:endParaRPr lang="en-US" sz="1400" dirty="0"/>
          </a:p>
        </p:txBody>
      </p:sp>
      <p:sp>
        <p:nvSpPr>
          <p:cNvPr id="66" name="Text 56"/>
          <p:cNvSpPr txBox="1"/>
          <p:nvPr/>
        </p:nvSpPr>
        <p:spPr>
          <a:xfrm>
            <a:off x="3657600" y="5051146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$897 → $988</a:t>
            </a:r>
            <a:endParaRPr lang="en-US" sz="1400" dirty="0"/>
          </a:p>
        </p:txBody>
      </p:sp>
      <p:graphicFrame>
        <p:nvGraphicFramePr>
          <p:cNvPr id="67" name="Chart 8" descr=""/>
          <p:cNvGraphicFramePr/>
          <p:nvPr/>
        </p:nvGraphicFramePr>
        <p:xfrm>
          <a:off x="5276088" y="5069434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9"/>
          </a:graphicData>
        </a:graphic>
      </p:graphicFrame>
      <p:sp>
        <p:nvSpPr>
          <p:cNvPr id="68" name="Text 57"/>
          <p:cNvSpPr txBox="1"/>
          <p:nvPr/>
        </p:nvSpPr>
        <p:spPr>
          <a:xfrm>
            <a:off x="8183880" y="5051146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July</a:t>
            </a:r>
            <a:endParaRPr lang="en-US" sz="1400" dirty="0"/>
          </a:p>
        </p:txBody>
      </p:sp>
      <p:sp>
        <p:nvSpPr>
          <p:cNvPr id="69" name="Text 58"/>
          <p:cNvSpPr txBox="1"/>
          <p:nvPr/>
        </p:nvSpPr>
        <p:spPr>
          <a:xfrm>
            <a:off x="10195560" y="5051146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+10.1%</a:t>
            </a:r>
            <a:endParaRPr lang="en-US" sz="1600" dirty="0"/>
          </a:p>
        </p:txBody>
      </p:sp>
      <p:sp>
        <p:nvSpPr>
          <p:cNvPr id="70" name="Text 59"/>
          <p:cNvSpPr txBox="1"/>
          <p:nvPr/>
        </p:nvSpPr>
        <p:spPr>
          <a:xfrm>
            <a:off x="749808" y="5433365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500" dirty="0"/>
          </a:p>
        </p:txBody>
      </p:sp>
      <p:sp>
        <p:nvSpPr>
          <p:cNvPr id="71" name="Text 60"/>
          <p:cNvSpPr txBox="1"/>
          <p:nvPr/>
        </p:nvSpPr>
        <p:spPr>
          <a:xfrm>
            <a:off x="1097280" y="5433365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400" dirty="0"/>
          </a:p>
        </p:txBody>
      </p:sp>
      <p:sp>
        <p:nvSpPr>
          <p:cNvPr id="72" name="Text 61"/>
          <p:cNvSpPr txBox="1"/>
          <p:nvPr/>
        </p:nvSpPr>
        <p:spPr>
          <a:xfrm>
            <a:off x="3657600" y="5433365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$235 → $258</a:t>
            </a:r>
            <a:endParaRPr lang="en-US" sz="1400" dirty="0"/>
          </a:p>
        </p:txBody>
      </p:sp>
      <p:graphicFrame>
        <p:nvGraphicFramePr>
          <p:cNvPr id="73" name="Chart 9" descr=""/>
          <p:cNvGraphicFramePr/>
          <p:nvPr/>
        </p:nvGraphicFramePr>
        <p:xfrm>
          <a:off x="5276088" y="5451653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74" name="Text 62"/>
          <p:cNvSpPr txBox="1"/>
          <p:nvPr/>
        </p:nvSpPr>
        <p:spPr>
          <a:xfrm>
            <a:off x="8183880" y="5433365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July</a:t>
            </a:r>
            <a:endParaRPr lang="en-US" sz="1400" dirty="0"/>
          </a:p>
        </p:txBody>
      </p:sp>
      <p:sp>
        <p:nvSpPr>
          <p:cNvPr id="75" name="Text 63"/>
          <p:cNvSpPr txBox="1"/>
          <p:nvPr/>
        </p:nvSpPr>
        <p:spPr>
          <a:xfrm>
            <a:off x="10195560" y="5433365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+9.8%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· MOST IMPROVED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Who's Moving Now: CP Parts GP %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13232" y="1298448"/>
            <a:ext cx="107624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 2026. Group 40.6% → 40.6%, 0.0 pts: that is the season. 18 of 33 stores beat it.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657600" y="168249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349240" y="168249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Jan – Sep 2026, by month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8183880" y="1682496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Stepped up in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195560" y="1682496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" y="1993392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1993392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1097280" y="1993392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0" y="1993392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39.4% → 46.6%</a:t>
            </a:r>
            <a:endParaRPr lang="en-US" sz="14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276088" y="2011680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8183880" y="1993392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10195560" y="1993392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+7.2 pts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49808" y="2375611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500" dirty="0"/>
          </a:p>
        </p:txBody>
      </p:sp>
      <p:sp>
        <p:nvSpPr>
          <p:cNvPr id="19" name="Text 16"/>
          <p:cNvSpPr txBox="1"/>
          <p:nvPr/>
        </p:nvSpPr>
        <p:spPr>
          <a:xfrm>
            <a:off x="1097280" y="2375611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400" dirty="0"/>
          </a:p>
        </p:txBody>
      </p:sp>
      <p:sp>
        <p:nvSpPr>
          <p:cNvPr id="20" name="Text 17"/>
          <p:cNvSpPr txBox="1"/>
          <p:nvPr/>
        </p:nvSpPr>
        <p:spPr>
          <a:xfrm>
            <a:off x="3657600" y="2375611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39.1% → 43.8%</a:t>
            </a:r>
            <a:endParaRPr lang="en-US" sz="1400" dirty="0"/>
          </a:p>
        </p:txBody>
      </p:sp>
      <p:graphicFrame>
        <p:nvGraphicFramePr>
          <p:cNvPr id="21" name="Chart 1" descr=""/>
          <p:cNvGraphicFramePr/>
          <p:nvPr/>
        </p:nvGraphicFramePr>
        <p:xfrm>
          <a:off x="5276088" y="2393899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2" name="Text 18"/>
          <p:cNvSpPr txBox="1"/>
          <p:nvPr/>
        </p:nvSpPr>
        <p:spPr>
          <a:xfrm>
            <a:off x="8183880" y="2375611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10195560" y="2375611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+4.6 pts</a:t>
            </a:r>
            <a:endParaRPr lang="en-US" sz="1600" dirty="0"/>
          </a:p>
        </p:txBody>
      </p:sp>
      <p:sp>
        <p:nvSpPr>
          <p:cNvPr id="24" name="Shape 20"/>
          <p:cNvSpPr/>
          <p:nvPr/>
        </p:nvSpPr>
        <p:spPr>
          <a:xfrm>
            <a:off x="621792" y="2757830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49808" y="2757830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500" dirty="0"/>
          </a:p>
        </p:txBody>
      </p:sp>
      <p:sp>
        <p:nvSpPr>
          <p:cNvPr id="26" name="Text 22"/>
          <p:cNvSpPr txBox="1"/>
          <p:nvPr/>
        </p:nvSpPr>
        <p:spPr>
          <a:xfrm>
            <a:off x="1097280" y="2757830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GMC PRESCOTT</a:t>
            </a:r>
            <a:endParaRPr lang="en-US" sz="1400" dirty="0"/>
          </a:p>
        </p:txBody>
      </p:sp>
      <p:sp>
        <p:nvSpPr>
          <p:cNvPr id="27" name="Text 23"/>
          <p:cNvSpPr txBox="1"/>
          <p:nvPr/>
        </p:nvSpPr>
        <p:spPr>
          <a:xfrm>
            <a:off x="3657600" y="2757830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35.3% → 39.2%</a:t>
            </a:r>
            <a:endParaRPr lang="en-US" sz="1400" dirty="0"/>
          </a:p>
        </p:txBody>
      </p:sp>
      <p:graphicFrame>
        <p:nvGraphicFramePr>
          <p:cNvPr id="28" name="Chart 2" descr=""/>
          <p:cNvGraphicFramePr/>
          <p:nvPr/>
        </p:nvGraphicFramePr>
        <p:xfrm>
          <a:off x="5276088" y="2776118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29" name="Text 24"/>
          <p:cNvSpPr txBox="1"/>
          <p:nvPr/>
        </p:nvSpPr>
        <p:spPr>
          <a:xfrm>
            <a:off x="8183880" y="2757830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August</a:t>
            </a:r>
            <a:endParaRPr lang="en-US" sz="1400" dirty="0"/>
          </a:p>
        </p:txBody>
      </p:sp>
      <p:sp>
        <p:nvSpPr>
          <p:cNvPr id="30" name="Text 25"/>
          <p:cNvSpPr txBox="1"/>
          <p:nvPr/>
        </p:nvSpPr>
        <p:spPr>
          <a:xfrm>
            <a:off x="10195560" y="2757830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+3.9 pts</a:t>
            </a:r>
            <a:endParaRPr lang="en-US" sz="1600" dirty="0"/>
          </a:p>
        </p:txBody>
      </p:sp>
      <p:sp>
        <p:nvSpPr>
          <p:cNvPr id="31" name="Text 26"/>
          <p:cNvSpPr txBox="1"/>
          <p:nvPr/>
        </p:nvSpPr>
        <p:spPr>
          <a:xfrm>
            <a:off x="749808" y="3140050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500" dirty="0"/>
          </a:p>
        </p:txBody>
      </p:sp>
      <p:sp>
        <p:nvSpPr>
          <p:cNvPr id="32" name="Text 27"/>
          <p:cNvSpPr txBox="1"/>
          <p:nvPr/>
        </p:nvSpPr>
        <p:spPr>
          <a:xfrm>
            <a:off x="1097280" y="3140050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400" dirty="0"/>
          </a:p>
        </p:txBody>
      </p:sp>
      <p:sp>
        <p:nvSpPr>
          <p:cNvPr id="33" name="Text 28"/>
          <p:cNvSpPr txBox="1"/>
          <p:nvPr/>
        </p:nvSpPr>
        <p:spPr>
          <a:xfrm>
            <a:off x="3657600" y="3140050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41.1% → 44.0%</a:t>
            </a:r>
            <a:endParaRPr lang="en-US" sz="1400" dirty="0"/>
          </a:p>
        </p:txBody>
      </p:sp>
      <p:graphicFrame>
        <p:nvGraphicFramePr>
          <p:cNvPr id="34" name="Chart 3" descr=""/>
          <p:cNvGraphicFramePr/>
          <p:nvPr/>
        </p:nvGraphicFramePr>
        <p:xfrm>
          <a:off x="5276088" y="3158338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35" name="Text 29"/>
          <p:cNvSpPr txBox="1"/>
          <p:nvPr/>
        </p:nvSpPr>
        <p:spPr>
          <a:xfrm>
            <a:off x="8183880" y="3140050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</a:t>
            </a:r>
            <a:endParaRPr lang="en-US" sz="1400" dirty="0"/>
          </a:p>
        </p:txBody>
      </p:sp>
      <p:sp>
        <p:nvSpPr>
          <p:cNvPr id="36" name="Text 30"/>
          <p:cNvSpPr txBox="1"/>
          <p:nvPr/>
        </p:nvSpPr>
        <p:spPr>
          <a:xfrm>
            <a:off x="10195560" y="3140050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+2.9 pts</a:t>
            </a:r>
            <a:endParaRPr lang="en-US" sz="1600" dirty="0"/>
          </a:p>
        </p:txBody>
      </p:sp>
      <p:sp>
        <p:nvSpPr>
          <p:cNvPr id="37" name="Shape 31"/>
          <p:cNvSpPr/>
          <p:nvPr/>
        </p:nvSpPr>
        <p:spPr>
          <a:xfrm>
            <a:off x="621792" y="3522269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8" name="Text 32"/>
          <p:cNvSpPr txBox="1"/>
          <p:nvPr/>
        </p:nvSpPr>
        <p:spPr>
          <a:xfrm>
            <a:off x="749808" y="3522269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500" dirty="0"/>
          </a:p>
        </p:txBody>
      </p:sp>
      <p:sp>
        <p:nvSpPr>
          <p:cNvPr id="39" name="Text 33"/>
          <p:cNvSpPr txBox="1"/>
          <p:nvPr/>
        </p:nvSpPr>
        <p:spPr>
          <a:xfrm>
            <a:off x="1097280" y="3522269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HENDERSON</a:t>
            </a:r>
            <a:endParaRPr lang="en-US" sz="1400" dirty="0"/>
          </a:p>
        </p:txBody>
      </p:sp>
      <p:sp>
        <p:nvSpPr>
          <p:cNvPr id="40" name="Text 34"/>
          <p:cNvSpPr txBox="1"/>
          <p:nvPr/>
        </p:nvSpPr>
        <p:spPr>
          <a:xfrm>
            <a:off x="3657600" y="3522269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39.4% → 41.7%</a:t>
            </a:r>
            <a:endParaRPr lang="en-US" sz="1400" dirty="0"/>
          </a:p>
        </p:txBody>
      </p:sp>
      <p:graphicFrame>
        <p:nvGraphicFramePr>
          <p:cNvPr id="41" name="Chart 4" descr=""/>
          <p:cNvGraphicFramePr/>
          <p:nvPr/>
        </p:nvGraphicFramePr>
        <p:xfrm>
          <a:off x="5276088" y="3540557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42" name="Text 35"/>
          <p:cNvSpPr txBox="1"/>
          <p:nvPr/>
        </p:nvSpPr>
        <p:spPr>
          <a:xfrm>
            <a:off x="8183880" y="3522269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</a:t>
            </a:r>
            <a:endParaRPr lang="en-US" sz="1400" dirty="0"/>
          </a:p>
        </p:txBody>
      </p:sp>
      <p:sp>
        <p:nvSpPr>
          <p:cNvPr id="43" name="Text 36"/>
          <p:cNvSpPr txBox="1"/>
          <p:nvPr/>
        </p:nvSpPr>
        <p:spPr>
          <a:xfrm>
            <a:off x="10195560" y="3522269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+2.2 pts</a:t>
            </a:r>
            <a:endParaRPr lang="en-US" sz="1600" dirty="0"/>
          </a:p>
        </p:txBody>
      </p:sp>
      <p:sp>
        <p:nvSpPr>
          <p:cNvPr id="44" name="Text 37"/>
          <p:cNvSpPr txBox="1"/>
          <p:nvPr/>
        </p:nvSpPr>
        <p:spPr>
          <a:xfrm>
            <a:off x="749808" y="3904488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500" dirty="0"/>
          </a:p>
        </p:txBody>
      </p:sp>
      <p:sp>
        <p:nvSpPr>
          <p:cNvPr id="45" name="Text 38"/>
          <p:cNvSpPr txBox="1"/>
          <p:nvPr/>
        </p:nvSpPr>
        <p:spPr>
          <a:xfrm>
            <a:off x="1097280" y="3904488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400" dirty="0"/>
          </a:p>
        </p:txBody>
      </p:sp>
      <p:sp>
        <p:nvSpPr>
          <p:cNvPr id="46" name="Text 39"/>
          <p:cNvSpPr txBox="1"/>
          <p:nvPr/>
        </p:nvSpPr>
        <p:spPr>
          <a:xfrm>
            <a:off x="3657600" y="3904488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40.1% → 42.4%</a:t>
            </a:r>
            <a:endParaRPr lang="en-US" sz="1400" dirty="0"/>
          </a:p>
        </p:txBody>
      </p:sp>
      <p:graphicFrame>
        <p:nvGraphicFramePr>
          <p:cNvPr id="47" name="Chart 5" descr=""/>
          <p:cNvGraphicFramePr/>
          <p:nvPr/>
        </p:nvGraphicFramePr>
        <p:xfrm>
          <a:off x="5276088" y="3922776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6"/>
          </a:graphicData>
        </a:graphic>
      </p:graphicFrame>
      <p:sp>
        <p:nvSpPr>
          <p:cNvPr id="48" name="Text 40"/>
          <p:cNvSpPr txBox="1"/>
          <p:nvPr/>
        </p:nvSpPr>
        <p:spPr>
          <a:xfrm>
            <a:off x="8183880" y="3904488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400" dirty="0"/>
          </a:p>
        </p:txBody>
      </p:sp>
      <p:sp>
        <p:nvSpPr>
          <p:cNvPr id="49" name="Text 41"/>
          <p:cNvSpPr txBox="1"/>
          <p:nvPr/>
        </p:nvSpPr>
        <p:spPr>
          <a:xfrm>
            <a:off x="10195560" y="3904488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+2.2 pts</a:t>
            </a:r>
            <a:endParaRPr lang="en-US" sz="1600" dirty="0"/>
          </a:p>
        </p:txBody>
      </p:sp>
      <p:sp>
        <p:nvSpPr>
          <p:cNvPr id="50" name="Shape 42"/>
          <p:cNvSpPr/>
          <p:nvPr/>
        </p:nvSpPr>
        <p:spPr>
          <a:xfrm>
            <a:off x="621792" y="4286707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51" name="Text 43"/>
          <p:cNvSpPr txBox="1"/>
          <p:nvPr/>
        </p:nvSpPr>
        <p:spPr>
          <a:xfrm>
            <a:off x="749808" y="4286707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500" dirty="0"/>
          </a:p>
        </p:txBody>
      </p:sp>
      <p:sp>
        <p:nvSpPr>
          <p:cNvPr id="52" name="Text 44"/>
          <p:cNvSpPr txBox="1"/>
          <p:nvPr/>
        </p:nvSpPr>
        <p:spPr>
          <a:xfrm>
            <a:off x="1097280" y="4286707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400" dirty="0"/>
          </a:p>
        </p:txBody>
      </p:sp>
      <p:sp>
        <p:nvSpPr>
          <p:cNvPr id="53" name="Text 45"/>
          <p:cNvSpPr txBox="1"/>
          <p:nvPr/>
        </p:nvSpPr>
        <p:spPr>
          <a:xfrm>
            <a:off x="3657600" y="4286707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34.4% → 36.3%</a:t>
            </a:r>
            <a:endParaRPr lang="en-US" sz="1400" dirty="0"/>
          </a:p>
        </p:txBody>
      </p:sp>
      <p:graphicFrame>
        <p:nvGraphicFramePr>
          <p:cNvPr id="54" name="Chart 6" descr=""/>
          <p:cNvGraphicFramePr/>
          <p:nvPr/>
        </p:nvGraphicFramePr>
        <p:xfrm>
          <a:off x="5276088" y="4304995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7"/>
          </a:graphicData>
        </a:graphic>
      </p:graphicFrame>
      <p:sp>
        <p:nvSpPr>
          <p:cNvPr id="55" name="Text 46"/>
          <p:cNvSpPr txBox="1"/>
          <p:nvPr/>
        </p:nvSpPr>
        <p:spPr>
          <a:xfrm>
            <a:off x="8183880" y="4286707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</a:t>
            </a:r>
            <a:endParaRPr lang="en-US" sz="1400" dirty="0"/>
          </a:p>
        </p:txBody>
      </p:sp>
      <p:sp>
        <p:nvSpPr>
          <p:cNvPr id="56" name="Text 47"/>
          <p:cNvSpPr txBox="1"/>
          <p:nvPr/>
        </p:nvSpPr>
        <p:spPr>
          <a:xfrm>
            <a:off x="10195560" y="4286707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+1.8 pts</a:t>
            </a:r>
            <a:endParaRPr lang="en-US" sz="1600" dirty="0"/>
          </a:p>
        </p:txBody>
      </p:sp>
      <p:sp>
        <p:nvSpPr>
          <p:cNvPr id="57" name="Text 48"/>
          <p:cNvSpPr txBox="1"/>
          <p:nvPr/>
        </p:nvSpPr>
        <p:spPr>
          <a:xfrm>
            <a:off x="749808" y="4668926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500" dirty="0"/>
          </a:p>
        </p:txBody>
      </p:sp>
      <p:sp>
        <p:nvSpPr>
          <p:cNvPr id="58" name="Text 49"/>
          <p:cNvSpPr txBox="1"/>
          <p:nvPr/>
        </p:nvSpPr>
        <p:spPr>
          <a:xfrm>
            <a:off x="1097280" y="4668926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TOYOTA PRESCOTT</a:t>
            </a:r>
            <a:endParaRPr lang="en-US" sz="1400" dirty="0"/>
          </a:p>
        </p:txBody>
      </p:sp>
      <p:sp>
        <p:nvSpPr>
          <p:cNvPr id="59" name="Text 50"/>
          <p:cNvSpPr txBox="1"/>
          <p:nvPr/>
        </p:nvSpPr>
        <p:spPr>
          <a:xfrm>
            <a:off x="3657600" y="4668926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40.9% → 42.2%</a:t>
            </a:r>
            <a:endParaRPr lang="en-US" sz="1400" dirty="0"/>
          </a:p>
        </p:txBody>
      </p:sp>
      <p:graphicFrame>
        <p:nvGraphicFramePr>
          <p:cNvPr id="60" name="Chart 7" descr=""/>
          <p:cNvGraphicFramePr/>
          <p:nvPr/>
        </p:nvGraphicFramePr>
        <p:xfrm>
          <a:off x="5276088" y="4687214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8"/>
          </a:graphicData>
        </a:graphic>
      </p:graphicFrame>
      <p:sp>
        <p:nvSpPr>
          <p:cNvPr id="61" name="Text 51"/>
          <p:cNvSpPr txBox="1"/>
          <p:nvPr/>
        </p:nvSpPr>
        <p:spPr>
          <a:xfrm>
            <a:off x="8183880" y="4668926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</a:t>
            </a:r>
            <a:endParaRPr lang="en-US" sz="1400" dirty="0"/>
          </a:p>
        </p:txBody>
      </p:sp>
      <p:sp>
        <p:nvSpPr>
          <p:cNvPr id="62" name="Text 52"/>
          <p:cNvSpPr txBox="1"/>
          <p:nvPr/>
        </p:nvSpPr>
        <p:spPr>
          <a:xfrm>
            <a:off x="10195560" y="4668926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+1.3 pts</a:t>
            </a:r>
            <a:endParaRPr lang="en-US" sz="1600" dirty="0"/>
          </a:p>
        </p:txBody>
      </p:sp>
      <p:sp>
        <p:nvSpPr>
          <p:cNvPr id="63" name="Shape 53"/>
          <p:cNvSpPr/>
          <p:nvPr/>
        </p:nvSpPr>
        <p:spPr>
          <a:xfrm>
            <a:off x="621792" y="5051146"/>
            <a:ext cx="10945368" cy="382219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64" name="Text 54"/>
          <p:cNvSpPr txBox="1"/>
          <p:nvPr/>
        </p:nvSpPr>
        <p:spPr>
          <a:xfrm>
            <a:off x="749808" y="5051146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500" dirty="0"/>
          </a:p>
        </p:txBody>
      </p:sp>
      <p:sp>
        <p:nvSpPr>
          <p:cNvPr id="65" name="Text 55"/>
          <p:cNvSpPr txBox="1"/>
          <p:nvPr/>
        </p:nvSpPr>
        <p:spPr>
          <a:xfrm>
            <a:off x="1097280" y="5051146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400" dirty="0"/>
          </a:p>
        </p:txBody>
      </p:sp>
      <p:sp>
        <p:nvSpPr>
          <p:cNvPr id="66" name="Text 56"/>
          <p:cNvSpPr txBox="1"/>
          <p:nvPr/>
        </p:nvSpPr>
        <p:spPr>
          <a:xfrm>
            <a:off x="3657600" y="5051146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44.4% → 45.7%</a:t>
            </a:r>
            <a:endParaRPr lang="en-US" sz="1400" dirty="0"/>
          </a:p>
        </p:txBody>
      </p:sp>
      <p:graphicFrame>
        <p:nvGraphicFramePr>
          <p:cNvPr id="67" name="Chart 8" descr=""/>
          <p:cNvGraphicFramePr/>
          <p:nvPr/>
        </p:nvGraphicFramePr>
        <p:xfrm>
          <a:off x="5276088" y="5069434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9"/>
          </a:graphicData>
        </a:graphic>
      </p:graphicFrame>
      <p:sp>
        <p:nvSpPr>
          <p:cNvPr id="68" name="Text 57"/>
          <p:cNvSpPr txBox="1"/>
          <p:nvPr/>
        </p:nvSpPr>
        <p:spPr>
          <a:xfrm>
            <a:off x="8183880" y="5051146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May</a:t>
            </a:r>
            <a:endParaRPr lang="en-US" sz="1400" dirty="0"/>
          </a:p>
        </p:txBody>
      </p:sp>
      <p:sp>
        <p:nvSpPr>
          <p:cNvPr id="69" name="Text 58"/>
          <p:cNvSpPr txBox="1"/>
          <p:nvPr/>
        </p:nvSpPr>
        <p:spPr>
          <a:xfrm>
            <a:off x="10195560" y="5051146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+1.2 pts</a:t>
            </a:r>
            <a:endParaRPr lang="en-US" sz="1600" dirty="0"/>
          </a:p>
        </p:txBody>
      </p:sp>
      <p:sp>
        <p:nvSpPr>
          <p:cNvPr id="70" name="Text 59"/>
          <p:cNvSpPr txBox="1"/>
          <p:nvPr/>
        </p:nvSpPr>
        <p:spPr>
          <a:xfrm>
            <a:off x="749808" y="5433365"/>
            <a:ext cx="310896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</a:t>
            </a:r>
            <a:endParaRPr lang="en-US" sz="1500" dirty="0"/>
          </a:p>
        </p:txBody>
      </p:sp>
      <p:sp>
        <p:nvSpPr>
          <p:cNvPr id="71" name="Text 60"/>
          <p:cNvSpPr txBox="1"/>
          <p:nvPr/>
        </p:nvSpPr>
        <p:spPr>
          <a:xfrm>
            <a:off x="1097280" y="5433365"/>
            <a:ext cx="246888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CHEVY GMC BULLHEAD</a:t>
            </a:r>
            <a:endParaRPr lang="en-US" sz="1400" dirty="0"/>
          </a:p>
        </p:txBody>
      </p:sp>
      <p:sp>
        <p:nvSpPr>
          <p:cNvPr id="72" name="Text 61"/>
          <p:cNvSpPr txBox="1"/>
          <p:nvPr/>
        </p:nvSpPr>
        <p:spPr>
          <a:xfrm>
            <a:off x="3657600" y="5433365"/>
            <a:ext cx="164592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36.8% → 37.9%</a:t>
            </a:r>
            <a:endParaRPr lang="en-US" sz="1400" dirty="0"/>
          </a:p>
        </p:txBody>
      </p:sp>
      <p:graphicFrame>
        <p:nvGraphicFramePr>
          <p:cNvPr id="73" name="Chart 9" descr=""/>
          <p:cNvGraphicFramePr/>
          <p:nvPr/>
        </p:nvGraphicFramePr>
        <p:xfrm>
          <a:off x="5276088" y="5451653"/>
          <a:ext cx="2697480" cy="345643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74" name="Text 62"/>
          <p:cNvSpPr txBox="1"/>
          <p:nvPr/>
        </p:nvSpPr>
        <p:spPr>
          <a:xfrm>
            <a:off x="8183880" y="5433365"/>
            <a:ext cx="173736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August</a:t>
            </a:r>
            <a:endParaRPr lang="en-US" sz="1400" dirty="0"/>
          </a:p>
        </p:txBody>
      </p:sp>
      <p:sp>
        <p:nvSpPr>
          <p:cNvPr id="75" name="Text 63"/>
          <p:cNvSpPr txBox="1"/>
          <p:nvPr/>
        </p:nvSpPr>
        <p:spPr>
          <a:xfrm>
            <a:off x="10195560" y="5433365"/>
            <a:ext cx="1371600" cy="382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+1.1 pts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· MOST IMPROVED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Two Ways to Read Improvement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5559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344168"/>
            <a:ext cx="510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Better than last year · Jan–Sep 2026 vs Jan–Sep 2025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85800" y="1691640"/>
            <a:ext cx="5102352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1792224"/>
            <a:ext cx="510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Top-5 finishes, of five measures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21792" y="2176272"/>
            <a:ext cx="5230368" cy="585216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2221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PRESCOTT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31520" y="247802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gross, hours/RO, ELR, parts GP%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43400" y="2351837"/>
            <a:ext cx="960120" cy="23408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330952" y="2176272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" y="2807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LINCOLN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31520" y="306324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gross, ELR, parts GP%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343400" y="2937053"/>
            <a:ext cx="720090" cy="23408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5330952" y="2761488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21792" y="3346704"/>
            <a:ext cx="5230368" cy="585216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33924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SUBARU ST GEORGE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364845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gross, CP ROs, hours/RO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343400" y="3522269"/>
            <a:ext cx="720090" cy="23408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5330952" y="3346704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3977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423367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gross, hours/RO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343400" y="4107485"/>
            <a:ext cx="480060" cy="23408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330952" y="3931920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621792" y="4517136"/>
            <a:ext cx="5230368" cy="585216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731520" y="45628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LV</a:t>
            </a:r>
            <a:endParaRPr lang="en-US" sz="1400" dirty="0"/>
          </a:p>
        </p:txBody>
      </p:sp>
      <p:sp>
        <p:nvSpPr>
          <p:cNvPr id="29" name="Text 27"/>
          <p:cNvSpPr txBox="1"/>
          <p:nvPr/>
        </p:nvSpPr>
        <p:spPr>
          <a:xfrm>
            <a:off x="731520" y="481888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ROs, hours/RO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343400" y="4692701"/>
            <a:ext cx="480060" cy="23408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5330952" y="4517136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32" name="Text 30"/>
          <p:cNvSpPr txBox="1"/>
          <p:nvPr/>
        </p:nvSpPr>
        <p:spPr>
          <a:xfrm>
            <a:off x="731520" y="5148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LR RENO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731520" y="540410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ROs, parts GP%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4343400" y="5277917"/>
            <a:ext cx="480060" cy="23408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5330952" y="5102352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6172200" y="1207008"/>
            <a:ext cx="5559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6400800" y="1344168"/>
            <a:ext cx="51023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Moving now · Q3 vs Q1, this year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6400800" y="1691640"/>
            <a:ext cx="5102352" cy="10973"/>
          </a:xfrm>
          <a:prstGeom prst="rect">
            <a:avLst/>
          </a:prstGeom>
          <a:solidFill>
            <a:srgbClr val="1A1A1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400800" y="1792224"/>
            <a:ext cx="5102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Top-5 finishes, of five measures</a:t>
            </a:r>
            <a:endParaRPr lang="en-US" sz="1400" dirty="0"/>
          </a:p>
        </p:txBody>
      </p:sp>
      <p:sp>
        <p:nvSpPr>
          <p:cNvPr id="40" name="Shape 38"/>
          <p:cNvSpPr/>
          <p:nvPr/>
        </p:nvSpPr>
        <p:spPr>
          <a:xfrm>
            <a:off x="6336792" y="2176272"/>
            <a:ext cx="5230368" cy="585216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6446520" y="222199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6446520" y="247802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gross, CP ROs, hours/RO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10058400" y="2351837"/>
            <a:ext cx="960120" cy="23408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11045952" y="2176272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45" name="Text 43"/>
          <p:cNvSpPr txBox="1"/>
          <p:nvPr/>
        </p:nvSpPr>
        <p:spPr>
          <a:xfrm>
            <a:off x="6446520" y="2807208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KIA ST GEORGE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6446520" y="3063240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gross, hours/RO, ELR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10058400" y="2937053"/>
            <a:ext cx="960120" cy="23408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11045952" y="2761488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49" name="Shape 47"/>
          <p:cNvSpPr/>
          <p:nvPr/>
        </p:nvSpPr>
        <p:spPr>
          <a:xfrm>
            <a:off x="6336792" y="3346704"/>
            <a:ext cx="5230368" cy="585216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6446520" y="3392424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400" dirty="0"/>
          </a:p>
        </p:txBody>
      </p:sp>
      <p:sp>
        <p:nvSpPr>
          <p:cNvPr id="51" name="Text 49"/>
          <p:cNvSpPr txBox="1"/>
          <p:nvPr/>
        </p:nvSpPr>
        <p:spPr>
          <a:xfrm>
            <a:off x="6446520" y="3648456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gross, ELR, parts GP%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10058400" y="3522269"/>
            <a:ext cx="960120" cy="23408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11045952" y="3346704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54" name="Text 52"/>
          <p:cNvSpPr txBox="1"/>
          <p:nvPr/>
        </p:nvSpPr>
        <p:spPr>
          <a:xfrm>
            <a:off x="6446520" y="39776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CDJR POST FALLS</a:t>
            </a:r>
            <a:endParaRPr lang="en-US" sz="1400" dirty="0"/>
          </a:p>
        </p:txBody>
      </p:sp>
      <p:sp>
        <p:nvSpPr>
          <p:cNvPr id="55" name="Text 53"/>
          <p:cNvSpPr txBox="1"/>
          <p:nvPr/>
        </p:nvSpPr>
        <p:spPr>
          <a:xfrm>
            <a:off x="6446520" y="4233672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gross, CP ROs</a:t>
            </a:r>
            <a:endParaRPr lang="en-US" sz="1300" dirty="0"/>
          </a:p>
        </p:txBody>
      </p:sp>
      <p:sp>
        <p:nvSpPr>
          <p:cNvPr id="56" name="Shape 54"/>
          <p:cNvSpPr/>
          <p:nvPr/>
        </p:nvSpPr>
        <p:spPr>
          <a:xfrm>
            <a:off x="10058400" y="4107485"/>
            <a:ext cx="640080" cy="23408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11045952" y="3931920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6336792" y="4517136"/>
            <a:ext cx="5230368" cy="585216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6446520" y="4562856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HYUNDAI PRESCOTT</a:t>
            </a:r>
            <a:endParaRPr lang="en-US" sz="1400" dirty="0"/>
          </a:p>
        </p:txBody>
      </p:sp>
      <p:sp>
        <p:nvSpPr>
          <p:cNvPr id="60" name="Text 58"/>
          <p:cNvSpPr txBox="1"/>
          <p:nvPr/>
        </p:nvSpPr>
        <p:spPr>
          <a:xfrm>
            <a:off x="6446520" y="4818888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gross, hours/RO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10058400" y="4692701"/>
            <a:ext cx="640080" cy="23408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11045952" y="4517136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63" name="Text 61"/>
          <p:cNvSpPr txBox="1"/>
          <p:nvPr/>
        </p:nvSpPr>
        <p:spPr>
          <a:xfrm>
            <a:off x="6446520" y="5148072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 RENO</a:t>
            </a:r>
            <a:endParaRPr lang="en-US" sz="1400" dirty="0"/>
          </a:p>
        </p:txBody>
      </p:sp>
      <p:sp>
        <p:nvSpPr>
          <p:cNvPr id="64" name="Text 62"/>
          <p:cNvSpPr txBox="1"/>
          <p:nvPr/>
        </p:nvSpPr>
        <p:spPr>
          <a:xfrm>
            <a:off x="6446520" y="5404104"/>
            <a:ext cx="3520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ELR, parts GP%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10058400" y="5277917"/>
            <a:ext cx="640080" cy="234086"/>
          </a:xfrm>
          <a:prstGeom prst="rect">
            <a:avLst/>
          </a:prstGeom>
          <a:solidFill>
            <a:srgbClr val="12A566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11045952" y="5102352"/>
            <a:ext cx="41148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68" name="Shape 65"/>
          <p:cNvSpPr/>
          <p:nvPr/>
        </p:nvSpPr>
        <p:spPr>
          <a:xfrm>
            <a:off x="457200" y="6126480"/>
            <a:ext cx="11274552" cy="371856"/>
          </a:xfrm>
          <a:prstGeom prst="rect">
            <a:avLst/>
          </a:prstGeom>
          <a:solidFill>
            <a:srgbClr val="E6F6EE"/>
          </a:solidFill>
          <a:ln/>
        </p:spPr>
      </p:sp>
      <p:sp>
        <p:nvSpPr>
          <p:cNvPr id="69" name="Text 66"/>
          <p:cNvSpPr txBox="1"/>
          <p:nvPr/>
        </p:nvSpPr>
        <p:spPr>
          <a:xfrm>
            <a:off x="658368" y="6144768"/>
            <a:ext cx="10927080" cy="335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Moving now: Three stores tie. Eight stores make both views.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DED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02336"/>
            <a:ext cx="50292" cy="192024"/>
          </a:xfrm>
          <a:prstGeom prst="rect">
            <a:avLst/>
          </a:prstGeom>
          <a:solidFill>
            <a:srgbClr val="2587C5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21792" y="3383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10" kern="0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FIXED OPS · MOST IMPROVED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338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Changed?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07008"/>
            <a:ext cx="11274552" cy="46451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49808" y="1371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Store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3520440" y="1371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Moved 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5669280" y="1371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Q1 → Q3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726680" y="1371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Stepped up in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9326880" y="137160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59595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Change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21792" y="1773936"/>
            <a:ext cx="10945368" cy="5486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49808" y="177393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520440" y="177393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Gross per Month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5669280" y="177393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$155K → $209K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7726680" y="177393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August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0" y="1773936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+34.6%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" y="232257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LEXUS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520440" y="232257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ROs per Month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5669280" y="232257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425 → 570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726680" y="232257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9326880" y="2322576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+34.0%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21792" y="2871216"/>
            <a:ext cx="10945368" cy="5486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49808" y="287121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3520440" y="287121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Hours per RO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5669280" y="287121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1.35 → 1.65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7726680" y="287121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August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9326880" y="2871216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+22.1%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749808" y="341985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VW ST GEORGE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3520440" y="341985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ELR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5669280" y="341985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$128.27 → $141.89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7726680" y="341985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June</a:t>
            </a:r>
            <a:endParaRPr lang="en-US" sz="1500" dirty="0"/>
          </a:p>
        </p:txBody>
      </p:sp>
      <p:sp>
        <p:nvSpPr>
          <p:cNvPr id="32" name="Text 30"/>
          <p:cNvSpPr txBox="1"/>
          <p:nvPr/>
        </p:nvSpPr>
        <p:spPr>
          <a:xfrm>
            <a:off x="9326880" y="3419856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+10.6%</a:t>
            </a:r>
            <a:endParaRPr lang="en-US" sz="1500" dirty="0"/>
          </a:p>
        </p:txBody>
      </p:sp>
      <p:sp>
        <p:nvSpPr>
          <p:cNvPr id="33" name="Shape 31"/>
          <p:cNvSpPr/>
          <p:nvPr/>
        </p:nvSpPr>
        <p:spPr>
          <a:xfrm>
            <a:off x="621792" y="3968496"/>
            <a:ext cx="10945368" cy="548640"/>
          </a:xfrm>
          <a:prstGeom prst="rect">
            <a:avLst/>
          </a:prstGeom>
          <a:solidFill>
            <a:srgbClr val="F7F7F7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749808" y="396849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ACURA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3520440" y="396849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CP Parts GP %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5669280" y="396849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39.4% → 46.6%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7726680" y="396849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April</a:t>
            </a:r>
            <a:endParaRPr lang="en-US" sz="1500" dirty="0"/>
          </a:p>
        </p:txBody>
      </p:sp>
      <p:sp>
        <p:nvSpPr>
          <p:cNvPr id="38" name="Text 36"/>
          <p:cNvSpPr txBox="1"/>
          <p:nvPr/>
        </p:nvSpPr>
        <p:spPr>
          <a:xfrm>
            <a:off x="9326880" y="3968496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+7.2 pts</a:t>
            </a:r>
            <a:endParaRPr lang="en-US" sz="1500" dirty="0"/>
          </a:p>
        </p:txBody>
      </p:sp>
      <p:sp>
        <p:nvSpPr>
          <p:cNvPr id="39" name="Text 37"/>
          <p:cNvSpPr txBox="1"/>
          <p:nvPr/>
        </p:nvSpPr>
        <p:spPr>
          <a:xfrm>
            <a:off x="749808" y="4517136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MAZDA</a:t>
            </a:r>
            <a:endParaRPr lang="en-US" sz="1500" dirty="0"/>
          </a:p>
        </p:txBody>
      </p:sp>
      <p:sp>
        <p:nvSpPr>
          <p:cNvPr id="40" name="Text 38"/>
          <p:cNvSpPr txBox="1"/>
          <p:nvPr/>
        </p:nvSpPr>
        <p:spPr>
          <a:xfrm>
            <a:off x="3520440" y="4517136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Opcodes · alignment</a:t>
            </a:r>
            <a:endParaRPr lang="en-US" sz="1500" dirty="0"/>
          </a:p>
        </p:txBody>
      </p:sp>
      <p:sp>
        <p:nvSpPr>
          <p:cNvPr id="41" name="Text 39"/>
          <p:cNvSpPr txBox="1"/>
          <p:nvPr/>
        </p:nvSpPr>
        <p:spPr>
          <a:xfrm>
            <a:off x="5669280" y="4517136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12.6% → 22.8%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7726680" y="4517136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August</a:t>
            </a:r>
            <a:endParaRPr lang="en-US" sz="1500" dirty="0"/>
          </a:p>
        </p:txBody>
      </p:sp>
      <p:sp>
        <p:nvSpPr>
          <p:cNvPr id="43" name="Text 41"/>
          <p:cNvSpPr txBox="1"/>
          <p:nvPr/>
        </p:nvSpPr>
        <p:spPr>
          <a:xfrm>
            <a:off x="9326880" y="4517136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7A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+10.1 pts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457200" y="6126480"/>
            <a:ext cx="11274552" cy="364236"/>
          </a:xfrm>
          <a:prstGeom prst="rect">
            <a:avLst/>
          </a:prstGeom>
          <a:solidFill>
            <a:srgbClr val="EDF4FA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58368" y="6144768"/>
            <a:ext cx="10927080" cy="3276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B2C4A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 stores, one question each: what did you start doing that month? One sentence, before you leave.</a:t>
            </a:r>
            <a:endParaRPr lang="en-US" sz="15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nte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nte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2026-10-27T17:17:45Z</dcterms:created>
  <dcterms:modified xsi:type="dcterms:W3CDTF">2026-10-27T17:17:45Z</dcterms:modified>
</cp:coreProperties>
</file>