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Labor $ per RO: top HYUNDAI ST GEORGE $172 → $238; LINCOLN $306 → $416; SUBARU PRESCOTT $163 → $222. Bottom KIA LV $244 → $234; LR RENO $876 → $817; VW ST GEORGE $268 → $231.Takeaway with the store call-outs (off the slide): Most top-three finishes: Lincoln, Subaru Prescott and Subaru St George (2 of 5). Most bottom-three: VW St George (4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Profit: top TOYOTA HENDERSON $6.41M → $7.83M; AUDI HENDERSON $4.11M → $4.94M; CADILLAC $1.83M → $2.60M. Bottom TOYOTA SPOKANE $967K → $699K; VW HENDERSON $1.55M → $1.09M; CHEVY LV $2.91M → $2.27M.
Fixed Absorption: top LINCOLN 43.8% → 59.9%; CADILLAC 76.5% → 86.1%; LR RENO 67.8% → 77.3%. Bottom VW HENDERSON 93.5% → 83.8%; KIA ST GEORGE 75.9% → 65.8%; VW ST GEORGE 71.5% → 54.1%.
CP Parts GP %: top ACURA 38.7% → 44.9%; NISSAN 38.2% → 42.7%; SUBARU PRESCOTT 31.0% → 34.8%. Bottom HYUNDAI PRESCOTT 39.9% → 39.4%; TOYOTA SPOKANE 45.3% → 44.5%; AUDI HENDERSON 35.8% → 33.6%.
Opcodes, Four Combined: top LR LV 30.2% → 60.5%; SUBARU PRESCOTT 19.5% → 47.9%; MAZDA 22.5% → 43.5%. Bottom TOYOTA HENDERSON 42.5% → 41.8%; SUBARU LV 44.9% → 42.0%; KIA LV 30.0% → 26.4%.Takeaway with the store call-outs (off the slide): Most top-three finishes: Lincoln, Subaru Prescott and Subaru St George (2 of 4). Most bottom-three: Toyota Spokane and VW Henderson (2 of 4).Source: Fixed ops net profit: Qlik - Profit &amp; Loss, service + parts department profit, change in dollars (several stores lost money in 2025, so a percent change misleads).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Points for absorption, parts GP % and opcodes.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Labor $ per RO: top MAZDA $224 → $273; KIA ST GEORGE $171 → $201; HYUNDAI PRESCOTT $207 → $240. Bottom CADILLAC $483 → $430; LEXUS $427 → $377; SUBARU ST GEORGE $343 → $301.Takeaway with the store call-outs (off the slide): Most top-three finishes: Mazda, CDJR Post Falls and VW St George (2 of 5). Most bottom-three: Cadillac (4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CP labor $ per RO = CP labor sale / CP 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Fixed Ops Net Profit per Month: top HONDA HENDERSON $586K → $725K; TOYOTA HENDERSON $795K → $934K; CHEVY LV $181K → $294K. Bottom AUDI RENO $212K → $187K; ACURA $61K → $31K; KIA LV $240K → $179K.
Fixed Absorption: top LR HENDERSON 66.7% → 82.9%; LR RENO 69.5% → 84.8%; KIA ST GEORGE 62.0% → 73.1%. Bottom AUDI RENO 106.5% → 100.4%; ACURA 64.6% → 58.0%; KIA LV 84.3% → 74.6%.
CP Parts GP %: top ACURA 39.4% → 46.6%; VW ST GEORGE 39.1% → 43.8%; GMC PRESCOTT 35.3% → 39.2%. Bottom CHEVY LV 38.2% → 35.0%; LINCOLN 39.9% → 36.0%; HONDA HENDERSON 44.3% → 40.0%.
Opcodes, Four Combined: top MAZDA 30.5% → 66.9%; HYUNDAI PRESCOTT 43.8% → 62.4%; KIA ST GEORGE 21.2% → 37.1%. Bottom CADILLAC 29.4% → 21.3%; SUBARU ST GEORGE 45.1% → 35.4%; HONDA HENDERSON 72.5% → 61.2%.Takeaway with the store call-outs (off the slide): Most top-three finishes: Mazda, CDJR Post Falls and VW St George (2 of 4). Most bottom-three: Audi Reno, Acura, Kia LV and Honda Henderson (2 of 4).Source: Q3 2026 (Jul-Sep) vs Q1 2026 (Jan-Mar), each store against itself. Gross, ROs and net profit per month. Fixed ops net profit: Qlik - Profit &amp; Loss, service + parts department profit, change in dollars per month. Fixed absorption: P&amp;L, fixed ops gross / total store fixed expenses, GMC Prescott body shop in, as on the P&amp;L. CP parts GP %: Qlik - Closed Repair Orders. Opcodes: alignment + balance + brake fluid + fuel services / customer-pay ROs on the op-code report basis. Same-store, 33 stores. The group's own move is the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Two stores tie. Moving now: KIA ST GEORGE leads.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eight measures (parts $ per RO dropped, Oct 23); CP labor $ per RO (percent), fixed absorption and the four opcodes combined (points) added Oct 29; fixed ops net profit left out (ranked in dollars, it favors larger stores);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measure, the four opcodes included.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+5.9%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+38.4%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+36.2%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+36.1%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−13.8%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vs Last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+$5.11M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+$766K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−$268K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−$457K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−$643K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+2.1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+16.1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+9.6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+9.5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−17.4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+5.4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+30.3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Customer Pay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−0.8%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+21.8%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+17.4%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+16.3%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−11.1%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Movers This Year: Profit and Process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57896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624901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8919058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+$1.05M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+$139K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+$138K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39312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657600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ABSORPTION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657600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+4.2 pts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657600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657600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+16.2 pts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657600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+15.3 pts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0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+11.1 pts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3657600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3657600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 pts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0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3657600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−6.6 pts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3657600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3657600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9360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27648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327648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327648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32764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6327648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327648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327648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61" name="Text 59"/>
          <p:cNvSpPr txBox="1"/>
          <p:nvPr/>
        </p:nvSpPr>
        <p:spPr>
          <a:xfrm>
            <a:off x="6327648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327648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6327648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327648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65" name="Text 63"/>
          <p:cNvSpPr txBox="1"/>
          <p:nvPr/>
        </p:nvSpPr>
        <p:spPr>
          <a:xfrm>
            <a:off x="6327648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327648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8979408" y="1691640"/>
            <a:ext cx="256032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8997696" y="177393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OPCODES, FOUR COMBINED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8997696" y="1993392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997696" y="2377440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8997696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+36.4 pts</a:t>
            </a:r>
            <a:endParaRPr lang="en-US" sz="1600" dirty="0"/>
          </a:p>
        </p:txBody>
      </p:sp>
      <p:sp>
        <p:nvSpPr>
          <p:cNvPr id="72" name="Text 70"/>
          <p:cNvSpPr txBox="1"/>
          <p:nvPr/>
        </p:nvSpPr>
        <p:spPr>
          <a:xfrm>
            <a:off x="8997696" y="2907792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8997696" y="31272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 pts</a:t>
            </a:r>
            <a:endParaRPr lang="en-US" sz="1600" dirty="0"/>
          </a:p>
        </p:txBody>
      </p:sp>
      <p:sp>
        <p:nvSpPr>
          <p:cNvPr id="74" name="Text 72"/>
          <p:cNvSpPr txBox="1"/>
          <p:nvPr/>
        </p:nvSpPr>
        <p:spPr>
          <a:xfrm>
            <a:off x="8997696" y="34381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8997696" y="3657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+15.9 pts</a:t>
            </a:r>
            <a:endParaRPr lang="en-US" sz="1600" dirty="0"/>
          </a:p>
        </p:txBody>
      </p:sp>
      <p:sp>
        <p:nvSpPr>
          <p:cNvPr id="76" name="Text 74"/>
          <p:cNvSpPr txBox="1"/>
          <p:nvPr/>
        </p:nvSpPr>
        <p:spPr>
          <a:xfrm>
            <a:off x="8997696" y="4123944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8997696" y="43434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−8.1 pts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8997696" y="46542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8997696" y="48737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−9.7 pts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8997696" y="518464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8997696" y="54041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−11.3 pts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eight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ELR, parts GP, labor/RO, absorption, opcodes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92040" y="2351837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ELR, parts GP, labor/RO, opcodes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2937053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labor/RO, opcodes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92040" y="3522269"/>
            <a:ext cx="24384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788152" y="3383280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2336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ROs, hrs/RO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92040" y="4107485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parts GP, absorption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92040" y="4692701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GP, labor/RO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892040" y="5277917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eight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ELR, labor/RO, absorption, opcodes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607040" y="2351837"/>
            <a:ext cx="3657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11503152" y="2212848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446520" y="3063240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ROs, hrs/RO, labor/RO, opcodes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0607040" y="2937053"/>
            <a:ext cx="30480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hrs/RO, labor/RO, opcodes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607040" y="3522269"/>
            <a:ext cx="24384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ELR, parts GP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607040" y="4107485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GP, labor/RO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607040" y="4692701"/>
            <a:ext cx="1828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gross, ROs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607040" y="5277917"/>
            <a:ext cx="1219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Two stores tie. One store is on both lists (green bar). Also tied at 2 moving now: Hyundai St George and Chevy GMC Bullhead.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55648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5564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556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5564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5564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556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19456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1945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1945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19456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19456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" y="2633472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6334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63347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63347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63347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63347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07238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07238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0723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07238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0723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1792" y="3511296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51129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51129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51129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51129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1129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395020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39502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395020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21.0% → 31.7%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39502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39502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 pts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1792" y="4389120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38912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438912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balance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43891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4389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43891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+9.2 pts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49808" y="48280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3520440" y="48280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brake fluid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669280" y="482803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 → 14.1%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8280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326880" y="482803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 pts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1792" y="5266944"/>
            <a:ext cx="10945368" cy="43891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49808" y="526694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3520440" y="526694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fuel service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0" y="52669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10.6%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726680" y="52669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9326880" y="526694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2026-10-29T06:34:21Z</dcterms:created>
  <dcterms:modified xsi:type="dcterms:W3CDTF">2026-10-29T06:34:21Z</dcterms:modified>
</cp:coreProperties>
</file>