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$1.98M; KIA ST GEORGE $657K → $862K; LEXUS $1.63M → $2.10M. Bottom SUBARU LV $5.12M → $5.04M; TOYOTA HENDERSON $13.04M → $12.85M; CHEVY LV $7.40M → $7.08M; AUDI RENO $3.38M → $2.90M; VW ST GEORGE $702K → $560K.
CP RO Count: top KIA LV 7,156 → 8,133; HYUNDAI PRESCOTT 1,784 → 2,010; GMC PRESCOTT 2,810 → 3,107; SUBARU ST GEORGE 5,042 → 5,553; LR RENO 1,303 → 1,421. Bottom ACURA 3,910 → 3,671; HONDA SPOKANE 9,929 → 8,930; AUDI RENO 4,379 → 3,917; HYUNDAI ST GEORGE 3,784 → 3,349; VW ST GEORGE 2,251 → 1,919.
CP Hours per RO: top HYUNDAI ST GEORGE 1.03 → 1.43; SUBARU ST GEORGE 1.75 → 2.30; KIA ST GEORGE 0.99 → 1.29; SUBARU PRESCOTT 1.34 → 1.60; KIA LV 1.32 → 1.57. Bottom CHEVY LV 2.37 → 2.30; AUDI RENO 2.88 → 2.73; VOLVO 2.58 → 2.28; VW ST GEORGE 1.95 → 1.71; LR RENO 4.04 → 3.48.
CP ELR: top HONDA SPOKANE $117.05 → $143.89; VOLVO $181.59 → $222.12; LINCOLN $139.55 → $167.64; NISSAN $153.87 → $175.90; SUBARU PRESCOTT $122.25 → $139.13. Bottom AUDI HENDERSON $278.97 → $266.32; HYUNDAI PRESCOTT $136.71 → $130.46; ACURA $221.78 → $210.50; SUBARU ST GEORGE $148.84 → $138.48; KIA LV $184.36 → $149.23.
CP Parts $ per RO: top LINCOLN $281 → $363; LEXUS $193 → $240; HYUNDAI ST GEORGE $181 → $219; HONDA FLAGSTAFF $179 → $212; SUBARU ST GEORGE $238 → $280. Bottom CADILLAC $358 → $350; VW ST GEORGE $266 → $259; LR RENO $876 → $814; AUDI RENO $596 → $542; KIA LV $227 → $193.
CP Parts GP %: top ACURA 38.7% → 44.9%; NISSAN 38.2% → 42.7%; SUBARU PRESCOTT 31.0% → 34.8%; LINCOLN 33.7% → 37.0%; LR RENO 41.3% → 44.6%. Bottom HONDA HENDERSON 42.2% → 42.1%; TOYOTA FLAGSTAFF 37.4% → 36.9%;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$279K; VW ST GEORGE $54K → $66K; HYUNDAI PRESCOTT $49K → $60K. Bottom TOYOTA HENDERSON $1.38M → $1.42M; LINCOLN $140K → $139K; SUBARU ST GEORGE $220K → $218K; HONDA HENDERSON $841K → $823K; CADILLAC $317K → $283K.
CP ROs per Month: top LEXUS 425 → 570; CDJR POST FALLS 543 → 667; LR LV 350 → 415; MAZDA 578 → 669; HONDA FLAGSTAFF 397 → 459. Bottom SUBARU PRESCOTT 559 → 565; AUDI RENO 428 → 429; VW ST GEORGE 207 → 203; HYUNDAI ST GEORGE 377 → 365; CADILLAC 609 → 582.
CP Hours per RO: top MAZDA 1.35 → 1.65; HYUNDAI PRESCOTT 1.56 → 1.76; HYUNDAI ST GEORGE 1.37 → 1.54; KIA ST GEORGE 1.23 → 1.38; CHEVY GMC BULLHEAD 1.65 → 1.79. Bottom LEXUS 2.17 → 2.01; SUBARU ST GEORGE 2.43 → 2.20; HONDA HENDERSON 2.06 → 1.86; VW HENDERSON 2.66 → 2.37; CADILLAC 2.85 → 2.45.
CP ELR: top VW ST GEORGE $128.27 → $141.89; AUDI RENO $227.34 → $244.12; HONDA SPOKANE $139.40 → $147.93; KIA LV $142.56 → $150.72; KIA ST GEORGE $139.09 → $146.04. Bottom LR LV $238.78 → $233.88; HONDA FLAGSTAFF $164.77 → $159.69; SUBARU ST GEORGE $141.07 → $136.71; LEXUS $196.84 → $187.42; ACURA $232.02 → $199.04.
CP Parts $ per RO: top VW ST GEORGE $224 → $298; LR RENO $692 → $877; ACURA $229 → $282; HONDA FLAGSTAFF $200 → $234; HYUNDAI ST GEORGE $204 → $234. Bottom SUBARU ST GEORGE $286 → $277; TOYOTA FLAGSTAFF $147 → $142; LR LV $873 → $834; GMC PRESCOTT $299 → $282; HONDA HENDERSON $190 → $178.
CP Parts GP %: top ACURA 39.4% → 46.6%; VW ST GEORGE 39.1% → 43.8%; GMC PRESCOTT 35.3% → 39.2%; AUDI RENO 41.1% → 44.0%; TOYOTA HENDERSON 39.4% → 41.7%. Bottom LR HENDERSON 44.2% → 42.1%; NISSAN 44.5% → 41.3%;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six measures;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five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45720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03120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1031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4597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81635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28163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17296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52958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352958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" y="4005072"/>
            <a:ext cx="45720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00507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400507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" y="43616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471830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47183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" y="50749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5431536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6656" y="54315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926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6926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+31.0%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+28.8%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−1.4%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6926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6926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8755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9296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67584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2767584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2749296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2767584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749296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2767584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749296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2767584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749296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2767584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749296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767584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2749296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2767584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2749296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2767584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2749296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2767584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2749296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767584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749296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2767584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529328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547616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4547616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529328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47616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529328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4547616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529328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547616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529328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547616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529328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547616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529328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47616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4529328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547616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−5.2%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4529328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547616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529328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547616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529328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547616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309360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327648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327648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309360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327648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6309360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327648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6309360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327648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6309360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327648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327648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6309360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327648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6309360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327648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−4.5%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6309360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327648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6309360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327648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400" dirty="0"/>
          </a:p>
        </p:txBody>
      </p:sp>
      <p:sp>
        <p:nvSpPr>
          <p:cNvPr id="115" name="Text 113"/>
          <p:cNvSpPr txBox="1"/>
          <p:nvPr/>
        </p:nvSpPr>
        <p:spPr>
          <a:xfrm>
            <a:off x="6309360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327648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8089392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8107680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8107680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+4.1%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8089392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8107680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8089392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8107680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+24.7%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8089392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8107680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+21.0%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8089392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8107680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8089392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8107680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+17.6%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8089392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8107680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400" dirty="0"/>
          </a:p>
        </p:txBody>
      </p:sp>
      <p:sp>
        <p:nvSpPr>
          <p:cNvPr id="132" name="Text 130"/>
          <p:cNvSpPr txBox="1"/>
          <p:nvPr/>
        </p:nvSpPr>
        <p:spPr>
          <a:xfrm>
            <a:off x="8089392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8107680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8089392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8107680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−7.1%</a:t>
            </a:r>
            <a:endParaRPr lang="en-US" sz="1400" dirty="0"/>
          </a:p>
        </p:txBody>
      </p:sp>
      <p:sp>
        <p:nvSpPr>
          <p:cNvPr id="136" name="Text 134"/>
          <p:cNvSpPr txBox="1"/>
          <p:nvPr/>
        </p:nvSpPr>
        <p:spPr>
          <a:xfrm>
            <a:off x="8089392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8107680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−9.0%</a:t>
            </a:r>
            <a:endParaRPr lang="en-US" sz="1400" dirty="0"/>
          </a:p>
        </p:txBody>
      </p:sp>
      <p:sp>
        <p:nvSpPr>
          <p:cNvPr id="138" name="Text 136"/>
          <p:cNvSpPr txBox="1"/>
          <p:nvPr/>
        </p:nvSpPr>
        <p:spPr>
          <a:xfrm>
            <a:off x="8089392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107680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−15.0%</a:t>
            </a:r>
            <a:endParaRPr lang="en-US" sz="1400" dirty="0"/>
          </a:p>
        </p:txBody>
      </p:sp>
      <p:sp>
        <p:nvSpPr>
          <p:cNvPr id="140" name="Shape 138"/>
          <p:cNvSpPr/>
          <p:nvPr/>
        </p:nvSpPr>
        <p:spPr>
          <a:xfrm>
            <a:off x="986942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88771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88771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986942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88771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400" dirty="0"/>
          </a:p>
        </p:txBody>
      </p:sp>
      <p:sp>
        <p:nvSpPr>
          <p:cNvPr id="145" name="Text 143"/>
          <p:cNvSpPr txBox="1"/>
          <p:nvPr/>
        </p:nvSpPr>
        <p:spPr>
          <a:xfrm>
            <a:off x="986942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988771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400" dirty="0"/>
          </a:p>
        </p:txBody>
      </p:sp>
      <p:sp>
        <p:nvSpPr>
          <p:cNvPr id="147" name="Text 145"/>
          <p:cNvSpPr txBox="1"/>
          <p:nvPr/>
        </p:nvSpPr>
        <p:spPr>
          <a:xfrm>
            <a:off x="986942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88771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400" dirty="0"/>
          </a:p>
        </p:txBody>
      </p:sp>
      <p:sp>
        <p:nvSpPr>
          <p:cNvPr id="149" name="Text 147"/>
          <p:cNvSpPr txBox="1"/>
          <p:nvPr/>
        </p:nvSpPr>
        <p:spPr>
          <a:xfrm>
            <a:off x="986942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88771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400" dirty="0"/>
          </a:p>
        </p:txBody>
      </p:sp>
      <p:sp>
        <p:nvSpPr>
          <p:cNvPr id="151" name="Text 149"/>
          <p:cNvSpPr txBox="1"/>
          <p:nvPr/>
        </p:nvSpPr>
        <p:spPr>
          <a:xfrm>
            <a:off x="986942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988771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86942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88771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 pts</a:t>
            </a:r>
            <a:endParaRPr lang="en-US" sz="1400" dirty="0"/>
          </a:p>
        </p:txBody>
      </p:sp>
      <p:sp>
        <p:nvSpPr>
          <p:cNvPr id="155" name="Text 153"/>
          <p:cNvSpPr txBox="1"/>
          <p:nvPr/>
        </p:nvSpPr>
        <p:spPr>
          <a:xfrm>
            <a:off x="986942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88771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400" dirty="0"/>
          </a:p>
        </p:txBody>
      </p:sp>
      <p:sp>
        <p:nvSpPr>
          <p:cNvPr id="157" name="Text 155"/>
          <p:cNvSpPr txBox="1"/>
          <p:nvPr/>
        </p:nvSpPr>
        <p:spPr>
          <a:xfrm>
            <a:off x="986942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88771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400" dirty="0"/>
          </a:p>
        </p:txBody>
      </p:sp>
      <p:sp>
        <p:nvSpPr>
          <p:cNvPr id="159" name="Text 157"/>
          <p:cNvSpPr txBox="1"/>
          <p:nvPr/>
        </p:nvSpPr>
        <p:spPr>
          <a:xfrm>
            <a:off x="986942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88771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400" dirty="0"/>
          </a:p>
        </p:txBody>
      </p:sp>
      <p:sp>
        <p:nvSpPr>
          <p:cNvPr id="161" name="Text 159"/>
          <p:cNvSpPr txBox="1"/>
          <p:nvPr/>
        </p:nvSpPr>
        <p:spPr>
          <a:xfrm>
            <a:off x="986942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88771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400" dirty="0"/>
          </a:p>
        </p:txBody>
      </p:sp>
      <p:sp>
        <p:nvSpPr>
          <p:cNvPr id="164" name="Shape 16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5" name="Text 16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Lincoln, Subaru Prescott, Subaru St George (4 of 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Bottom: Audi Reno, VW St George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five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45720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03120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1031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4597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81635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28163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17296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52958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352958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" y="4005072"/>
            <a:ext cx="45720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00507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400507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" y="43616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471830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47183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" y="50749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5431536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6656" y="54315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926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6926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+2.4%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6926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6926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8755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9296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67584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2767584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2749296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2767584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749296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2767584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749296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2767584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749296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2767584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749296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767584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2749296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2767584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2749296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2767584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2749296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2767584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2749296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767584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749296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2767584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529328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547616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4547616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529328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47616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529328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4547616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529328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547616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529328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547616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529328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547616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529328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47616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−7.2%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4529328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547616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−9.5%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4529328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547616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529328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547616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529328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547616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309360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327648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327648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309360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327648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6309360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327648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6309360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327648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6309360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327648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327648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6309360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327648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6309360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327648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6309360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327648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6309360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327648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400" dirty="0"/>
          </a:p>
        </p:txBody>
      </p:sp>
      <p:sp>
        <p:nvSpPr>
          <p:cNvPr id="115" name="Text 113"/>
          <p:cNvSpPr txBox="1"/>
          <p:nvPr/>
        </p:nvSpPr>
        <p:spPr>
          <a:xfrm>
            <a:off x="6309360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327648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8089392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8107680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8107680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+5.1%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8089392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8107680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8089392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8107680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8089392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8107680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8089392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8107680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8089392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8107680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8089392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8107680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400" dirty="0"/>
          </a:p>
        </p:txBody>
      </p:sp>
      <p:sp>
        <p:nvSpPr>
          <p:cNvPr id="132" name="Text 130"/>
          <p:cNvSpPr txBox="1"/>
          <p:nvPr/>
        </p:nvSpPr>
        <p:spPr>
          <a:xfrm>
            <a:off x="8089392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8107680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−3.4%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8089392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8107680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400" dirty="0"/>
          </a:p>
        </p:txBody>
      </p:sp>
      <p:sp>
        <p:nvSpPr>
          <p:cNvPr id="136" name="Text 134"/>
          <p:cNvSpPr txBox="1"/>
          <p:nvPr/>
        </p:nvSpPr>
        <p:spPr>
          <a:xfrm>
            <a:off x="8089392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8107680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−5.6%</a:t>
            </a:r>
            <a:endParaRPr lang="en-US" sz="1400" dirty="0"/>
          </a:p>
        </p:txBody>
      </p:sp>
      <p:sp>
        <p:nvSpPr>
          <p:cNvPr id="138" name="Text 136"/>
          <p:cNvSpPr txBox="1"/>
          <p:nvPr/>
        </p:nvSpPr>
        <p:spPr>
          <a:xfrm>
            <a:off x="8089392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107680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−6.0%</a:t>
            </a:r>
            <a:endParaRPr lang="en-US" sz="1400" dirty="0"/>
          </a:p>
        </p:txBody>
      </p:sp>
      <p:sp>
        <p:nvSpPr>
          <p:cNvPr id="140" name="Shape 138"/>
          <p:cNvSpPr/>
          <p:nvPr/>
        </p:nvSpPr>
        <p:spPr>
          <a:xfrm>
            <a:off x="986942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88771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88771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986942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88771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145" name="Text 143"/>
          <p:cNvSpPr txBox="1"/>
          <p:nvPr/>
        </p:nvSpPr>
        <p:spPr>
          <a:xfrm>
            <a:off x="986942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988771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400" dirty="0"/>
          </a:p>
        </p:txBody>
      </p:sp>
      <p:sp>
        <p:nvSpPr>
          <p:cNvPr id="147" name="Text 145"/>
          <p:cNvSpPr txBox="1"/>
          <p:nvPr/>
        </p:nvSpPr>
        <p:spPr>
          <a:xfrm>
            <a:off x="986942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88771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400" dirty="0"/>
          </a:p>
        </p:txBody>
      </p:sp>
      <p:sp>
        <p:nvSpPr>
          <p:cNvPr id="149" name="Text 147"/>
          <p:cNvSpPr txBox="1"/>
          <p:nvPr/>
        </p:nvSpPr>
        <p:spPr>
          <a:xfrm>
            <a:off x="986942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88771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400" dirty="0"/>
          </a:p>
        </p:txBody>
      </p:sp>
      <p:sp>
        <p:nvSpPr>
          <p:cNvPr id="151" name="Text 149"/>
          <p:cNvSpPr txBox="1"/>
          <p:nvPr/>
        </p:nvSpPr>
        <p:spPr>
          <a:xfrm>
            <a:off x="986942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988771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86942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88771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400" dirty="0"/>
          </a:p>
        </p:txBody>
      </p:sp>
      <p:sp>
        <p:nvSpPr>
          <p:cNvPr id="155" name="Text 153"/>
          <p:cNvSpPr txBox="1"/>
          <p:nvPr/>
        </p:nvSpPr>
        <p:spPr>
          <a:xfrm>
            <a:off x="986942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88771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400" dirty="0"/>
          </a:p>
        </p:txBody>
      </p:sp>
      <p:sp>
        <p:nvSpPr>
          <p:cNvPr id="157" name="Text 155"/>
          <p:cNvSpPr txBox="1"/>
          <p:nvPr/>
        </p:nvSpPr>
        <p:spPr>
          <a:xfrm>
            <a:off x="986942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88771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400" dirty="0"/>
          </a:p>
        </p:txBody>
      </p:sp>
      <p:sp>
        <p:nvSpPr>
          <p:cNvPr id="159" name="Text 157"/>
          <p:cNvSpPr txBox="1"/>
          <p:nvPr/>
        </p:nvSpPr>
        <p:spPr>
          <a:xfrm>
            <a:off x="986942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88771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400" dirty="0"/>
          </a:p>
        </p:txBody>
      </p:sp>
      <p:sp>
        <p:nvSpPr>
          <p:cNvPr id="161" name="Text 159"/>
          <p:cNvSpPr txBox="1"/>
          <p:nvPr/>
        </p:nvSpPr>
        <p:spPr>
          <a:xfrm>
            <a:off x="986942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88771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400" dirty="0"/>
          </a:p>
        </p:txBody>
      </p:sp>
      <p:sp>
        <p:nvSpPr>
          <p:cNvPr id="164" name="Shape 16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5" name="Text 16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VW St George (4 of 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Bottom: Subaru St George, Honda Henderson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hours/RO, parts $/RO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parts $/RO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$/RO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Three stores tie. Moving now: VW St George leads. Ten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" y="506577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50657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50657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5065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5065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50657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2026-10-21T21:04:28Z</dcterms:created>
  <dcterms:modified xsi:type="dcterms:W3CDTF">2026-10-21T21:04:28Z</dcterms:modified>
</cp:coreProperties>
</file>