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_rels/chart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.xlsx"/></Relationships>
</file>

<file path=ppt/charts/_rels/chart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.xlsx"/></Relationships>
</file>

<file path=ppt/charts/_rels/chart5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3.xlsx"/></Relationships>
</file>

<file path=ppt/charts/_rels/chart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4.xlsx"/></Relationships>
</file>

<file path=ppt/charts/_rels/chart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.xlsx"/></Relationships>
</file>

<file path=ppt/charts/_rels/chart5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.xlsx"/></Relationships>
</file>

<file path=ppt/charts/_rels/chart5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7.xlsx"/></Relationships>
</file>

<file path=ppt/charts/_rels/chart5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8.xlsx"/></Relationships>
</file>

<file path=ppt/charts/_rels/chart5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9.xlsx"/></Relationships>
</file>

<file path=ppt/charts/_rels/chart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176585.11</c:v>
                </c:pt>
                <c:pt idx="1">
                  <c:v>184273.9</c:v>
                </c:pt>
                <c:pt idx="2">
                  <c:v>243873.84</c:v>
                </c:pt>
                <c:pt idx="3">
                  <c:v>231682.97</c:v>
                </c:pt>
                <c:pt idx="4">
                  <c:v>262721.61</c:v>
                </c:pt>
                <c:pt idx="5">
                  <c:v>263340.99</c:v>
                </c:pt>
                <c:pt idx="6">
                  <c:v>244041.77</c:v>
                </c:pt>
                <c:pt idx="7">
                  <c:v>244446.27</c:v>
                </c:pt>
                <c:pt idx="8">
                  <c:v>249281.88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6354.372"/>
          <c:min val="163571.727999999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294309.57999999996</c:v>
                </c:pt>
                <c:pt idx="1">
                  <c:v>278868.58</c:v>
                </c:pt>
                <c:pt idx="2">
                  <c:v>359908.79</c:v>
                </c:pt>
                <c:pt idx="3">
                  <c:v>393728.92000000004</c:v>
                </c:pt>
                <c:pt idx="4">
                  <c:v>359273.68</c:v>
                </c:pt>
                <c:pt idx="5">
                  <c:v>386316.45</c:v>
                </c:pt>
                <c:pt idx="6">
                  <c:v>384135.08</c:v>
                </c:pt>
                <c:pt idx="7">
                  <c:v>397933.38999999996</c:v>
                </c:pt>
                <c:pt idx="8">
                  <c:v>341938.74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15793.11149999994"/>
          <c:min val="261008.8585000000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177080.6</c:v>
                </c:pt>
                <c:pt idx="1">
                  <c:v>116317.49</c:v>
                </c:pt>
                <c:pt idx="2">
                  <c:v>151683.66999999998</c:v>
                </c:pt>
                <c:pt idx="3">
                  <c:v>189304.13</c:v>
                </c:pt>
                <c:pt idx="4">
                  <c:v>164925.71000000002</c:v>
                </c:pt>
                <c:pt idx="5">
                  <c:v>166070.51</c:v>
                </c:pt>
                <c:pt idx="6">
                  <c:v>172210.90000000002</c:v>
                </c:pt>
                <c:pt idx="7">
                  <c:v>228828.82</c:v>
                </c:pt>
                <c:pt idx="8">
                  <c:v>129178.53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705.5195"/>
          <c:min val="99440.79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86931.73000000001</c:v>
                </c:pt>
                <c:pt idx="1">
                  <c:v>109867.53</c:v>
                </c:pt>
                <c:pt idx="2">
                  <c:v>104137.82</c:v>
                </c:pt>
                <c:pt idx="3">
                  <c:v>100928.84</c:v>
                </c:pt>
                <c:pt idx="4">
                  <c:v>93945.76000000001</c:v>
                </c:pt>
                <c:pt idx="5">
                  <c:v>108346.47</c:v>
                </c:pt>
                <c:pt idx="6">
                  <c:v>126637.39</c:v>
                </c:pt>
                <c:pt idx="7">
                  <c:v>106298.13999999998</c:v>
                </c:pt>
                <c:pt idx="8">
                  <c:v>124862.66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2593.239"/>
          <c:min val="80975.8810000000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293762.4</c:v>
                </c:pt>
                <c:pt idx="1">
                  <c:v>268037.54000000004</c:v>
                </c:pt>
                <c:pt idx="2">
                  <c:v>319668.25</c:v>
                </c:pt>
                <c:pt idx="3">
                  <c:v>349268.96</c:v>
                </c:pt>
                <c:pt idx="4">
                  <c:v>347415.9</c:v>
                </c:pt>
                <c:pt idx="5">
                  <c:v>340633.41000000003</c:v>
                </c:pt>
                <c:pt idx="6">
                  <c:v>373611</c:v>
                </c:pt>
                <c:pt idx="7">
                  <c:v>323504.43</c:v>
                </c:pt>
                <c:pt idx="8">
                  <c:v>336990.87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9447.019"/>
          <c:min val="252201.521000000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549</c:v>
                </c:pt>
                <c:pt idx="1">
                  <c:v>531</c:v>
                </c:pt>
                <c:pt idx="2">
                  <c:v>556</c:v>
                </c:pt>
                <c:pt idx="3">
                  <c:v>544</c:v>
                </c:pt>
                <c:pt idx="4">
                  <c:v>516</c:v>
                </c:pt>
                <c:pt idx="5">
                  <c:v>599</c:v>
                </c:pt>
                <c:pt idx="6">
                  <c:v>622</c:v>
                </c:pt>
                <c:pt idx="7">
                  <c:v>587</c:v>
                </c:pt>
                <c:pt idx="8">
                  <c:v>641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9.75"/>
          <c:min val="497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1576</c:v>
                </c:pt>
                <c:pt idx="1">
                  <c:v>1477</c:v>
                </c:pt>
                <c:pt idx="2">
                  <c:v>1631</c:v>
                </c:pt>
                <c:pt idx="3">
                  <c:v>1610</c:v>
                </c:pt>
                <c:pt idx="4">
                  <c:v>1739</c:v>
                </c:pt>
                <c:pt idx="5">
                  <c:v>1738</c:v>
                </c:pt>
                <c:pt idx="6">
                  <c:v>1723</c:v>
                </c:pt>
                <c:pt idx="7">
                  <c:v>1875</c:v>
                </c:pt>
                <c:pt idx="8">
                  <c:v>1679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34.7"/>
          <c:min val="1417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311</c:v>
                </c:pt>
                <c:pt idx="1">
                  <c:v>327</c:v>
                </c:pt>
                <c:pt idx="2">
                  <c:v>353</c:v>
                </c:pt>
                <c:pt idx="3">
                  <c:v>344</c:v>
                </c:pt>
                <c:pt idx="4">
                  <c:v>308</c:v>
                </c:pt>
                <c:pt idx="5">
                  <c:v>355</c:v>
                </c:pt>
                <c:pt idx="6">
                  <c:v>370</c:v>
                </c:pt>
                <c:pt idx="7">
                  <c:v>382</c:v>
                </c:pt>
                <c:pt idx="8">
                  <c:v>357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3.1"/>
          <c:min val="296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1764</c:v>
                </c:pt>
                <c:pt idx="1">
                  <c:v>1687</c:v>
                </c:pt>
                <c:pt idx="2">
                  <c:v>1914</c:v>
                </c:pt>
                <c:pt idx="3">
                  <c:v>2057</c:v>
                </c:pt>
                <c:pt idx="4">
                  <c:v>1923</c:v>
                </c:pt>
                <c:pt idx="5">
                  <c:v>2056</c:v>
                </c:pt>
                <c:pt idx="6">
                  <c:v>2095</c:v>
                </c:pt>
                <c:pt idx="7">
                  <c:v>1882</c:v>
                </c:pt>
                <c:pt idx="8">
                  <c:v>1998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6.2"/>
          <c:min val="1625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SUBARU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615</c:v>
                </c:pt>
                <c:pt idx="1">
                  <c:v>524</c:v>
                </c:pt>
                <c:pt idx="2">
                  <c:v>607</c:v>
                </c:pt>
                <c:pt idx="3">
                  <c:v>608</c:v>
                </c:pt>
                <c:pt idx="4">
                  <c:v>639</c:v>
                </c:pt>
                <c:pt idx="5">
                  <c:v>637</c:v>
                </c:pt>
                <c:pt idx="6">
                  <c:v>632</c:v>
                </c:pt>
                <c:pt idx="7">
                  <c:v>632</c:v>
                </c:pt>
                <c:pt idx="8">
                  <c:v>659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.25"/>
          <c:min val="503.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1.188239247311828</c:v>
                </c:pt>
                <c:pt idx="1">
                  <c:v>1.275762195121951</c:v>
                </c:pt>
                <c:pt idx="2">
                  <c:v>1.4099208965062624</c:v>
                </c:pt>
                <c:pt idx="3">
                  <c:v>1.4275265957446808</c:v>
                </c:pt>
                <c:pt idx="4">
                  <c:v>1.4609295570079883</c:v>
                </c:pt>
                <c:pt idx="5">
                  <c:v>1.4721141374837874</c:v>
                </c:pt>
                <c:pt idx="6">
                  <c:v>1.4142063001852996</c:v>
                </c:pt>
                <c:pt idx="7">
                  <c:v>1.4298619824341279</c:v>
                </c:pt>
                <c:pt idx="8">
                  <c:v>1.3524723487312946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146953710095814"/>
          <c:min val="1.14565801378603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1.385793450881612</c:v>
                </c:pt>
                <c:pt idx="1">
                  <c:v>1.3389645776566756</c:v>
                </c:pt>
                <c:pt idx="2">
                  <c:v>1.2803874092009684</c:v>
                </c:pt>
                <c:pt idx="3">
                  <c:v>1.333613231552163</c:v>
                </c:pt>
                <c:pt idx="4">
                  <c:v>1.67296568627451</c:v>
                </c:pt>
                <c:pt idx="5">
                  <c:v>1.5423764705882352</c:v>
                </c:pt>
                <c:pt idx="6">
                  <c:v>1.4005580357142857</c:v>
                </c:pt>
                <c:pt idx="7">
                  <c:v>1.3604513064133017</c:v>
                </c:pt>
                <c:pt idx="8">
                  <c:v>1.4541353383458648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318524278355412"/>
          <c:min val="1.221500667639937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2.221710758377425</c:v>
                </c:pt>
                <c:pt idx="1">
                  <c:v>2.0838986354775826</c:v>
                </c:pt>
                <c:pt idx="2">
                  <c:v>2.2707272727272727</c:v>
                </c:pt>
                <c:pt idx="3">
                  <c:v>2.2252504638218924</c:v>
                </c:pt>
                <c:pt idx="4">
                  <c:v>2.1553717472118956</c:v>
                </c:pt>
                <c:pt idx="5">
                  <c:v>1.9233127889060093</c:v>
                </c:pt>
                <c:pt idx="6">
                  <c:v>2.230418994413408</c:v>
                </c:pt>
                <c:pt idx="7">
                  <c:v>2.2426998491704375</c:v>
                </c:pt>
                <c:pt idx="8">
                  <c:v>2.44900481540931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527858619384805"/>
          <c:min val="1.844458984930514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2.604809843400447</c:v>
                </c:pt>
                <c:pt idx="1">
                  <c:v>2.3054666666666663</c:v>
                </c:pt>
                <c:pt idx="2">
                  <c:v>2.8330453563714904</c:v>
                </c:pt>
                <c:pt idx="3">
                  <c:v>2.798717948717949</c:v>
                </c:pt>
                <c:pt idx="4">
                  <c:v>2.574561403508772</c:v>
                </c:pt>
                <c:pt idx="5">
                  <c:v>3.172391304347826</c:v>
                </c:pt>
                <c:pt idx="6">
                  <c:v>2.7021809744779586</c:v>
                </c:pt>
                <c:pt idx="7">
                  <c:v>2.878063063063063</c:v>
                </c:pt>
                <c:pt idx="8">
                  <c:v>2.5885922330097086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.3024299999999998"/>
          <c:min val="2.17542797101449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3.5072</c:v>
                </c:pt>
                <c:pt idx="1">
                  <c:v>2.8326470588235293</c:v>
                </c:pt>
                <c:pt idx="2">
                  <c:v>3.3393630573248405</c:v>
                </c:pt>
                <c:pt idx="3">
                  <c:v>3.9942944785276078</c:v>
                </c:pt>
                <c:pt idx="4">
                  <c:v>4.023714285714286</c:v>
                </c:pt>
                <c:pt idx="5">
                  <c:v>3.3935403726708073</c:v>
                </c:pt>
                <c:pt idx="6">
                  <c:v>3.0639884393063586</c:v>
                </c:pt>
                <c:pt idx="7">
                  <c:v>3.7738297872340425</c:v>
                </c:pt>
                <c:pt idx="8">
                  <c:v>3.325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2023743697479"/>
          <c:min val="2.65398697478991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NISSAN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170.91694630872482</c:v>
                </c:pt>
                <c:pt idx="1">
                  <c:v>174.94393030380394</c:v>
                </c:pt>
                <c:pt idx="2">
                  <c:v>171.33260055096417</c:v>
                </c:pt>
                <c:pt idx="3">
                  <c:v>169.3619524405507</c:v>
                </c:pt>
                <c:pt idx="4">
                  <c:v>178.97402165816766</c:v>
                </c:pt>
                <c:pt idx="5">
                  <c:v>176.8534134157945</c:v>
                </c:pt>
                <c:pt idx="6">
                  <c:v>178.75288589721362</c:v>
                </c:pt>
                <c:pt idx="7">
                  <c:v>178.72942668879108</c:v>
                </c:pt>
                <c:pt idx="8">
                  <c:v>183.27923149141628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.36682334904611"/>
          <c:min val="167.2743605829208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147.17883416109635</c:v>
                </c:pt>
                <c:pt idx="1">
                  <c:v>135.63777641695583</c:v>
                </c:pt>
                <c:pt idx="2">
                  <c:v>141.64139075345048</c:v>
                </c:pt>
                <c:pt idx="3">
                  <c:v>139.12898539404827</c:v>
                </c:pt>
                <c:pt idx="4">
                  <c:v>140.79767083404693</c:v>
                </c:pt>
                <c:pt idx="5">
                  <c:v>142.24952097083244</c:v>
                </c:pt>
                <c:pt idx="6">
                  <c:v>142.61742003865575</c:v>
                </c:pt>
                <c:pt idx="7">
                  <c:v>143.95335221631723</c:v>
                </c:pt>
                <c:pt idx="8">
                  <c:v>154.41898907103825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7.2361709691506"/>
          <c:min val="132.8205945188434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208.9492918178626</c:v>
                </c:pt>
                <c:pt idx="1">
                  <c:v>217.9379829257705</c:v>
                </c:pt>
                <c:pt idx="2">
                  <c:v>223.98379699248122</c:v>
                </c:pt>
                <c:pt idx="3">
                  <c:v>226.2475382875938</c:v>
                </c:pt>
                <c:pt idx="4">
                  <c:v>219.74642583470168</c:v>
                </c:pt>
                <c:pt idx="5">
                  <c:v>224.43341441458693</c:v>
                </c:pt>
                <c:pt idx="6">
                  <c:v>228.6857179372484</c:v>
                </c:pt>
                <c:pt idx="7">
                  <c:v>221.59294258373205</c:v>
                </c:pt>
                <c:pt idx="8">
                  <c:v>226.9213371266003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1.64618185515627"/>
          <c:min val="205.98882789995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153.1491574232082</c:v>
                </c:pt>
                <c:pt idx="1">
                  <c:v>157.95352962362688</c:v>
                </c:pt>
                <c:pt idx="2">
                  <c:v>156.04347791229054</c:v>
                </c:pt>
                <c:pt idx="3">
                  <c:v>157.37133021424003</c:v>
                </c:pt>
                <c:pt idx="4">
                  <c:v>149.20385916225828</c:v>
                </c:pt>
                <c:pt idx="5">
                  <c:v>155.4821624007061</c:v>
                </c:pt>
                <c:pt idx="6">
                  <c:v>158.9620323488045</c:v>
                </c:pt>
                <c:pt idx="7">
                  <c:v>164.2580469341408</c:v>
                </c:pt>
                <c:pt idx="8">
                  <c:v>162.51214652956298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.51617509992317"/>
          <c:min val="146.945730996475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CADILLAC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169.23952076348527</c:v>
                </c:pt>
                <c:pt idx="1">
                  <c:v>171.362331838565</c:v>
                </c:pt>
                <c:pt idx="2">
                  <c:v>168.18649634020764</c:v>
                </c:pt>
                <c:pt idx="3">
                  <c:v>180.00863368961805</c:v>
                </c:pt>
                <c:pt idx="4">
                  <c:v>151.5942152678995</c:v>
                </c:pt>
                <c:pt idx="5">
                  <c:v>163.62502533205532</c:v>
                </c:pt>
                <c:pt idx="6">
                  <c:v>179.30890045543268</c:v>
                </c:pt>
                <c:pt idx="7">
                  <c:v>175.9947113813166</c:v>
                </c:pt>
                <c:pt idx="8">
                  <c:v>169.93955489368741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4.27079645287583"/>
          <c:min val="147.332052504641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128.18389112903225</c:v>
                </c:pt>
                <c:pt idx="1">
                  <c:v>143.6304268292683</c:v>
                </c:pt>
                <c:pt idx="2">
                  <c:v>136.9080487804878</c:v>
                </c:pt>
                <c:pt idx="3">
                  <c:v>198.15143617021278</c:v>
                </c:pt>
                <c:pt idx="4">
                  <c:v>159.63840958605664</c:v>
                </c:pt>
                <c:pt idx="5">
                  <c:v>147.4817120622568</c:v>
                </c:pt>
                <c:pt idx="6">
                  <c:v>150.852402717727</c:v>
                </c:pt>
                <c:pt idx="7">
                  <c:v>176.80212672521958</c:v>
                </c:pt>
                <c:pt idx="8">
                  <c:v>139.20603773584907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8.64656792638985"/>
          <c:min val="117.6887593728551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233.84593837535013</c:v>
                </c:pt>
                <c:pt idx="1">
                  <c:v>272.64770642201836</c:v>
                </c:pt>
                <c:pt idx="2">
                  <c:v>264.5160053619303</c:v>
                </c:pt>
                <c:pt idx="3">
                  <c:v>300.4536959553696</c:v>
                </c:pt>
                <c:pt idx="4">
                  <c:v>288.36308157099694</c:v>
                </c:pt>
                <c:pt idx="5">
                  <c:v>250.08998518518518</c:v>
                </c:pt>
                <c:pt idx="6">
                  <c:v>321.2700792602378</c:v>
                </c:pt>
                <c:pt idx="7">
                  <c:v>293.4214486638537</c:v>
                </c:pt>
                <c:pt idx="8">
                  <c:v>258.24791976225856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4.383700392971"/>
          <c:min val="220.7323172426169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640.6571929824562</c:v>
                </c:pt>
                <c:pt idx="1">
                  <c:v>906.8386104218363</c:v>
                </c:pt>
                <c:pt idx="2">
                  <c:v>634.7025063291139</c:v>
                </c:pt>
                <c:pt idx="3">
                  <c:v>665.1664390243902</c:v>
                </c:pt>
                <c:pt idx="4">
                  <c:v>689.3056844547564</c:v>
                </c:pt>
                <c:pt idx="5">
                  <c:v>652.1006864988558</c:v>
                </c:pt>
                <c:pt idx="6">
                  <c:v>693.769124726477</c:v>
                </c:pt>
                <c:pt idx="7">
                  <c:v>709.0950352941177</c:v>
                </c:pt>
                <c:pt idx="8">
                  <c:v>1041.912085308057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2.9935221548983"/>
          <c:min val="573.62106948227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879.8076687116564</c:v>
                </c:pt>
                <c:pt idx="1">
                  <c:v>925.1433742331288</c:v>
                </c:pt>
                <c:pt idx="2">
                  <c:v>886.3305590062112</c:v>
                </c:pt>
                <c:pt idx="3">
                  <c:v>953.3849523809523</c:v>
                </c:pt>
                <c:pt idx="4">
                  <c:v>911.7989444444445</c:v>
                </c:pt>
                <c:pt idx="5">
                  <c:v>804.3490058479532</c:v>
                </c:pt>
                <c:pt idx="6">
                  <c:v>1035.5124242424242</c:v>
                </c:pt>
                <c:pt idx="7">
                  <c:v>994.8709444444444</c:v>
                </c:pt>
                <c:pt idx="8">
                  <c:v>934.7331325301205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70.186937001595"/>
          <c:min val="769.67449308878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268.8725</c:v>
                </c:pt>
                <c:pt idx="1">
                  <c:v>180.48355670103092</c:v>
                </c:pt>
                <c:pt idx="2">
                  <c:v>249.92049773755656</c:v>
                </c:pt>
                <c:pt idx="3">
                  <c:v>255.83444915254236</c:v>
                </c:pt>
                <c:pt idx="4">
                  <c:v>224.2878260869565</c:v>
                </c:pt>
                <c:pt idx="5">
                  <c:v>167.36384920634922</c:v>
                </c:pt>
                <c:pt idx="6">
                  <c:v>269.1880172413793</c:v>
                </c:pt>
                <c:pt idx="7">
                  <c:v>279.6357425742574</c:v>
                </c:pt>
                <c:pt idx="8">
                  <c:v>227.57493506493506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6.4765265794436"/>
          <c:min val="150.523065201162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0.39385465162077204</c:v>
                </c:pt>
                <c:pt idx="1">
                  <c:v>0.4104798110566934</c:v>
                </c:pt>
                <c:pt idx="2">
                  <c:v>0.39984615107565896</c:v>
                </c:pt>
                <c:pt idx="3">
                  <c:v>0.4242643654011316</c:v>
                </c:pt>
                <c:pt idx="4">
                  <c:v>0.43535929201653073</c:v>
                </c:pt>
                <c:pt idx="5">
                  <c:v>0.4359650422122587</c:v>
                </c:pt>
                <c:pt idx="6">
                  <c:v>0.4310274406950725</c:v>
                </c:pt>
                <c:pt idx="7">
                  <c:v>0.4257261405886852</c:v>
                </c:pt>
                <c:pt idx="8">
                  <c:v>0.4125780793358778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228160080098167"/>
          <c:min val="0.387538093032049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0.34615649425879996</c:v>
                </c:pt>
                <c:pt idx="1">
                  <c:v>0.3553626019087758</c:v>
                </c:pt>
                <c:pt idx="2">
                  <c:v>0.33286088298414096</c:v>
                </c:pt>
                <c:pt idx="3">
                  <c:v>0.33135079455831645</c:v>
                </c:pt>
                <c:pt idx="4">
                  <c:v>0.36466133494564634</c:v>
                </c:pt>
                <c:pt idx="5">
                  <c:v>0.38118653720091344</c:v>
                </c:pt>
                <c:pt idx="6">
                  <c:v>0.3809185720341265</c:v>
                </c:pt>
                <c:pt idx="7">
                  <c:v>0.37479736400081787</c:v>
                </c:pt>
                <c:pt idx="8">
                  <c:v>0.3350495696231172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8661898597303"/>
          <c:min val="0.323875433161926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0.414351536191364</c:v>
                </c:pt>
                <c:pt idx="1">
                  <c:v>0.39318087070517616</c:v>
                </c:pt>
                <c:pt idx="2">
                  <c:v>0.4185113634289955</c:v>
                </c:pt>
                <c:pt idx="3">
                  <c:v>0.3984325401778728</c:v>
                </c:pt>
                <c:pt idx="4">
                  <c:v>0.4275287802058474</c:v>
                </c:pt>
                <c:pt idx="5">
                  <c:v>0.4314231842150624</c:v>
                </c:pt>
                <c:pt idx="6">
                  <c:v>0.40647931761383654</c:v>
                </c:pt>
                <c:pt idx="7">
                  <c:v>0.42811568086149515</c:v>
                </c:pt>
                <c:pt idx="8">
                  <c:v>0.4328714643805786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38825053431889"/>
          <c:min val="0.3872272816538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0.4411058127734458</c:v>
                </c:pt>
                <c:pt idx="1">
                  <c:v>0.45645701726723603</c:v>
                </c:pt>
                <c:pt idx="2">
                  <c:v>0.43879838840991475</c:v>
                </c:pt>
                <c:pt idx="3">
                  <c:v>0.40377729240207977</c:v>
                </c:pt>
                <c:pt idx="4">
                  <c:v>0.4744010071958122</c:v>
                </c:pt>
                <c:pt idx="5">
                  <c:v>0.4339098342743925</c:v>
                </c:pt>
                <c:pt idx="6">
                  <c:v>0.44740581583560335</c:v>
                </c:pt>
                <c:pt idx="7">
                  <c:v>0.46909418535282466</c:v>
                </c:pt>
                <c:pt idx="8">
                  <c:v>0.45065660188962764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499456441487204"/>
          <c:min val="0.39318373518301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0.3680342105578381</c:v>
                </c:pt>
                <c:pt idx="1">
                  <c:v>0.3691001034144722</c:v>
                </c:pt>
                <c:pt idx="2">
                  <c:v>0.3670958755466887</c:v>
                </c:pt>
                <c:pt idx="3">
                  <c:v>0.37086270739787763</c:v>
                </c:pt>
                <c:pt idx="4">
                  <c:v>0.3526965626793513</c:v>
                </c:pt>
                <c:pt idx="5">
                  <c:v>0.37527049523033906</c:v>
                </c:pt>
                <c:pt idx="6">
                  <c:v>0.3587371292399778</c:v>
                </c:pt>
                <c:pt idx="7">
                  <c:v>0.3863209963060099</c:v>
                </c:pt>
                <c:pt idx="8">
                  <c:v>0.40033452080355186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0748021452218197"/>
          <c:min val="0.34555086896072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Gross: top LINCOLN $865K → $1.26M; SUBARU PRESCOTT $832K → $1.21M; SUBARU ST GEORGE $1.48M → $1.98M; KIA ST GEORGE $657K → $862K; LEXUS $1.63M → $2.10M. Bottom SUBARU LV $5.12M → $5.04M; TOYOTA HENDERSON $13.04M → $12.85M; CHEVY LV $7.40M → $7.08M; AUDI RENO $3.38M → $2.90M; VW ST GEORGE $702K → $560K.
CP RO Count: top KIA LV 7,156 → 8,133; HYUNDAI PRESCOTT 1,784 → 2,010; GMC PRESCOTT 2,810 → 3,107; SUBARU ST GEORGE 5,042 → 5,553; LR RENO 1,303 → 1,421. Bottom ACURA 3,910 → 3,671; HONDA SPOKANE 9,929 → 8,930; AUDI RENO 4,379 → 3,917; HYUNDAI ST GEORGE 3,784 → 3,349; VW ST GEORGE 2,251 → 1,919.
CP Hours per RO: top HYUNDAI ST GEORGE 1.03 → 1.43; SUBARU ST GEORGE 1.75 → 2.30; KIA ST GEORGE 0.99 → 1.29; SUBARU PRESCOTT 1.34 → 1.60; KIA LV 1.32 → 1.57. Bottom CHEVY LV 2.37 → 2.30; AUDI RENO 2.88 → 2.73; VOLVO 2.58 → 2.28; VW ST GEORGE 1.95 → 1.71; LR RENO 4.04 → 3.48.
CP ELR: top HONDA SPOKANE $117.05 → $143.89; VOLVO $181.59 → $222.12; LINCOLN $139.55 → $167.64; NISSAN $153.87 → $175.90; SUBARU PRESCOTT $122.25 → $139.13. Bottom AUDI HENDERSON $278.97 → $266.32; HYUNDAI PRESCOTT $136.71 → $130.46; ACURA $221.78 → $210.50; SUBARU ST GEORGE $148.84 → $138.48; KIA LV $184.36 → $149.23.
CP Parts $ per RO: top LINCOLN $281 → $363; LEXUS $193 → $240; HYUNDAI ST GEORGE $181 → $219; HONDA FLAGSTAFF $179 → $212; SUBARU ST GEORGE $238 → $280. Bottom CADILLAC $358 → $350; VW ST GEORGE $266 → $259; LR RENO $876 → $814; AUDI RENO $596 → $542; KIA LV $227 → $193.
CP Parts GP %: top ACURA 38.7% → 44.9%; NISSAN 38.2% → 42.7%; SUBARU PRESCOTT 31.0% → 34.8%; LINCOLN 33.7% → 37.0%; LR RENO 41.3% → 44.6%. Bottom HONDA HENDERSON 42.2% → 42.1%; TOYOTA FLAGSTAFF 37.4% → 36.9%; HYUNDAI PRESCOTT 39.9% → 39.4%; TOYOTA SPOKANE 45.3% → 44.5%; AUDI HENDERSON 35.8% → 33.6%.Source: Qlik - Closed Repair Orders. Customer pay, by close date. Same-store, 33 stores (INEOS excluded, opened 2026). GMC Prescott body shop labor types excluded. CP gross = CP labor gross + CP parts gross. Change is Jan-Sep 2026 vs Jan-Sep 2025. Ranked by percent change (points for parts GP %), so store size does not drive the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Before → after, by measure:
CP Gross per Month: top MAZDA $155K → $209K; KIA ST GEORGE $85K → $112K; CDJR POST FALLS $218K → $279K; VW ST GEORGE $54K → $66K; HYUNDAI PRESCOTT $49K → $60K. Bottom TOYOTA HENDERSON $1.38M → $1.42M; LINCOLN $140K → $139K; SUBARU ST GEORGE $220K → $218K; HONDA HENDERSON $841K → $823K; CADILLAC $317K → $283K.
CP ROs per Month: top LEXUS 425 → 570; CDJR POST FALLS 543 → 667; LR LV 350 → 415; MAZDA 578 → 669; HONDA FLAGSTAFF 397 → 459. Bottom SUBARU PRESCOTT 559 → 565; AUDI RENO 428 → 429; VW ST GEORGE 207 → 203; HYUNDAI ST GEORGE 377 → 365; CADILLAC 609 → 582.
CP Hours per RO: top MAZDA 1.35 → 1.65; HYUNDAI PRESCOTT 1.56 → 1.76; HYUNDAI ST GEORGE 1.37 → 1.54; KIA ST GEORGE 1.23 → 1.38; CHEVY GMC BULLHEAD 1.65 → 1.79. Bottom LEXUS 2.17 → 2.01; SUBARU ST GEORGE 2.43 → 2.20; HONDA HENDERSON 2.06 → 1.86; VW HENDERSON 2.66 → 2.37; CADILLAC 2.85 → 2.45.
CP ELR: top VW ST GEORGE $128.27 → $141.89; AUDI RENO $227.34 → $244.12; HONDA SPOKANE $139.40 → $147.93; KIA LV $142.56 → $150.72; KIA ST GEORGE $139.09 → $146.04. Bottom LR LV $238.78 → $233.88; HONDA FLAGSTAFF $164.77 → $159.69; SUBARU ST GEORGE $141.07 → $136.71; LEXUS $196.84 → $187.42; ACURA $232.02 → $199.04.
CP Parts $ per RO: top VW ST GEORGE $224 → $298; LR RENO $692 → $877; ACURA $229 → $282; HONDA FLAGSTAFF $200 → $234; HYUNDAI ST GEORGE $204 → $234. Bottom SUBARU ST GEORGE $286 → $277; TOYOTA FLAGSTAFF $147 → $142; LR LV $873 → $834; GMC PRESCOTT $299 → $282; HONDA HENDERSON $190 → $178.
CP Parts GP %: top ACURA 39.4% → 46.6%; VW ST GEORGE 39.1% → 43.8%; GMC PRESCOTT 35.3% → 39.2%; AUDI RENO 41.1% → 44.0%; TOYOTA HENDERSON 39.4% → 41.7%. Bottom LR HENDERSON 44.2% → 42.1%; NISSAN 44.5% → 41.3%; CHEVY LV 38.2% → 35.0%; LINCOLN 39.9% → 36.0%; HONDA HENDERSON 44.3% → 40.0%.Source: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Left: Jan-Sep 2026 vs Jan-Sep 2025. Right: Q3 2026 vs Q1 2026. Top-5 finishes counted across six measures; top six stores shown in each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Each row is the top Q1-to-Q3 mover on that measure. Opcode row: MAZDA tops 3 of the four opcode lists; its biggest move is shown. Opcode closing % = ROs with the service ÷ customer-pay ROs on the op-code report basis.
MAZDA's August opcode increase was confirmed with the store as a real change (Noah, Oct 19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chart" Target="/ppt/charts/chart7.xml"/><Relationship Id="rId8" Type="http://schemas.openxmlformats.org/officeDocument/2006/relationships/chart" Target="/ppt/charts/chart8.xml"/><Relationship Id="rId9" Type="http://schemas.openxmlformats.org/officeDocument/2006/relationships/chart" Target="/ppt/charts/chart9.xml"/><Relationship Id="rId10" Type="http://schemas.openxmlformats.org/officeDocument/2006/relationships/chart" Target="/ppt/charts/chart1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chart" Target="/ppt/charts/chart17.xml"/><Relationship Id="rId8" Type="http://schemas.openxmlformats.org/officeDocument/2006/relationships/chart" Target="/ppt/charts/chart18.xml"/><Relationship Id="rId9" Type="http://schemas.openxmlformats.org/officeDocument/2006/relationships/chart" Target="/ppt/charts/chart19.xml"/><Relationship Id="rId10" Type="http://schemas.openxmlformats.org/officeDocument/2006/relationships/chart" Target="/ppt/charts/chart2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chart" Target="/ppt/charts/chart26.xml"/><Relationship Id="rId7" Type="http://schemas.openxmlformats.org/officeDocument/2006/relationships/chart" Target="/ppt/charts/chart27.xml"/><Relationship Id="rId8" Type="http://schemas.openxmlformats.org/officeDocument/2006/relationships/chart" Target="/ppt/charts/chart28.xml"/><Relationship Id="rId9" Type="http://schemas.openxmlformats.org/officeDocument/2006/relationships/chart" Target="/ppt/charts/chart29.xml"/><Relationship Id="rId10" Type="http://schemas.openxmlformats.org/officeDocument/2006/relationships/chart" Target="/ppt/charts/chart3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chart" Target="/ppt/charts/chart36.xml"/><Relationship Id="rId7" Type="http://schemas.openxmlformats.org/officeDocument/2006/relationships/chart" Target="/ppt/charts/chart37.xml"/><Relationship Id="rId8" Type="http://schemas.openxmlformats.org/officeDocument/2006/relationships/chart" Target="/ppt/charts/chart38.xml"/><Relationship Id="rId9" Type="http://schemas.openxmlformats.org/officeDocument/2006/relationships/chart" Target="/ppt/charts/chart39.xml"/><Relationship Id="rId10" Type="http://schemas.openxmlformats.org/officeDocument/2006/relationships/chart" Target="/ppt/charts/chart4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chart" Target="/ppt/charts/chart46.xml"/><Relationship Id="rId7" Type="http://schemas.openxmlformats.org/officeDocument/2006/relationships/chart" Target="/ppt/charts/chart47.xml"/><Relationship Id="rId8" Type="http://schemas.openxmlformats.org/officeDocument/2006/relationships/chart" Target="/ppt/charts/chart48.xml"/><Relationship Id="rId9" Type="http://schemas.openxmlformats.org/officeDocument/2006/relationships/chart" Target="/ppt/charts/chart49.xml"/><Relationship Id="rId10" Type="http://schemas.openxmlformats.org/officeDocument/2006/relationships/chart" Target="/ppt/charts/chart5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1.xml"/><Relationship Id="rId2" Type="http://schemas.openxmlformats.org/officeDocument/2006/relationships/chart" Target="/ppt/charts/chart52.xml"/><Relationship Id="rId3" Type="http://schemas.openxmlformats.org/officeDocument/2006/relationships/chart" Target="/ppt/charts/chart53.xml"/><Relationship Id="rId4" Type="http://schemas.openxmlformats.org/officeDocument/2006/relationships/chart" Target="/ppt/charts/chart54.xml"/><Relationship Id="rId5" Type="http://schemas.openxmlformats.org/officeDocument/2006/relationships/chart" Target="/ppt/charts/chart55.xml"/><Relationship Id="rId6" Type="http://schemas.openxmlformats.org/officeDocument/2006/relationships/chart" Target="/ppt/charts/chart56.xml"/><Relationship Id="rId7" Type="http://schemas.openxmlformats.org/officeDocument/2006/relationships/chart" Target="/ppt/charts/chart57.xml"/><Relationship Id="rId8" Type="http://schemas.openxmlformats.org/officeDocument/2006/relationships/chart" Target="/ppt/charts/chart58.xml"/><Relationship Id="rId9" Type="http://schemas.openxmlformats.org/officeDocument/2006/relationships/chart" Target="/ppt/charts/chart59.xml"/><Relationship Id="rId10" Type="http://schemas.openxmlformats.org/officeDocument/2006/relationships/chart" Target="/ppt/charts/chart60.xm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five stores on each measure, Jan–Sep 2026 vs Jan–Sep 2025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103120"/>
            <a:ext cx="45720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103120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10312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45973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2816352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281635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" y="317296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3529584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352958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" y="4005072"/>
            <a:ext cx="45720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685800" y="4005072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400507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" y="436168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4718304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6656" y="471830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" y="507492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" y="5431536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6656" y="543153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9264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7552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+6.4%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+46.0%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+45.3%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+33.8%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69264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+31.0%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+28.8%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69264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87552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−1.4%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87552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−1.4%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969264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987552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969264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987552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−14.1%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87552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−20.1%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49296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767584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 COUNT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2767584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+0.1%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2749296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2767584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+13.6%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2749296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2767584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749296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2767584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+10.5%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749296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2767584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2749296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2767584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+9.0%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2749296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2767584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−6.1%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2749296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2767584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2749296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2767584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2749296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2767584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2749296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2767584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−14.7%</a:t>
            </a:r>
            <a:endParaRPr lang="en-US" sz="1400" dirty="0"/>
          </a:p>
        </p:txBody>
      </p:sp>
      <p:sp>
        <p:nvSpPr>
          <p:cNvPr id="71" name="Shape 69"/>
          <p:cNvSpPr/>
          <p:nvPr/>
        </p:nvSpPr>
        <p:spPr>
          <a:xfrm>
            <a:off x="4529328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547616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4547616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+3.6%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529328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547616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+39.1%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529328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4547616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529328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547616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+30.7%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4529328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4547616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+19.5%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529328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547616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529328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547616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−2.9%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4529328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547616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−5.2%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4529328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547616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−11.7%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529328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547616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−12.5%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529328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4547616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309360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327648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327648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+2.2%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309360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327648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6309360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327648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+22.3%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6309360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327648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+20.1%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6309360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327648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+14.3%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6309360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327648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6309360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327648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−4.5%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6309360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327648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−4.5%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6309360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327648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−5.0%</a:t>
            </a:r>
            <a:endParaRPr lang="en-US" sz="1400" dirty="0"/>
          </a:p>
        </p:txBody>
      </p:sp>
      <p:sp>
        <p:nvSpPr>
          <p:cNvPr id="113" name="Text 111"/>
          <p:cNvSpPr txBox="1"/>
          <p:nvPr/>
        </p:nvSpPr>
        <p:spPr>
          <a:xfrm>
            <a:off x="6309360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327648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−6.9%</a:t>
            </a:r>
            <a:endParaRPr lang="en-US" sz="1400" dirty="0"/>
          </a:p>
        </p:txBody>
      </p:sp>
      <p:sp>
        <p:nvSpPr>
          <p:cNvPr id="115" name="Text 113"/>
          <p:cNvSpPr txBox="1"/>
          <p:nvPr/>
        </p:nvSpPr>
        <p:spPr>
          <a:xfrm>
            <a:off x="6309360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327648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−19.0%</a:t>
            </a:r>
            <a:endParaRPr lang="en-US" sz="1400" dirty="0"/>
          </a:p>
        </p:txBody>
      </p:sp>
      <p:sp>
        <p:nvSpPr>
          <p:cNvPr id="117" name="Shape 115"/>
          <p:cNvSpPr/>
          <p:nvPr/>
        </p:nvSpPr>
        <p:spPr>
          <a:xfrm>
            <a:off x="8089392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8107680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8107680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+4.1%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8089392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8107680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+28.9%</a:t>
            </a:r>
            <a:endParaRPr lang="en-US" sz="1400" dirty="0"/>
          </a:p>
        </p:txBody>
      </p:sp>
      <p:sp>
        <p:nvSpPr>
          <p:cNvPr id="122" name="Text 120"/>
          <p:cNvSpPr txBox="1"/>
          <p:nvPr/>
        </p:nvSpPr>
        <p:spPr>
          <a:xfrm>
            <a:off x="8089392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8107680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+24.7%</a:t>
            </a:r>
            <a:endParaRPr lang="en-US" sz="1400" dirty="0"/>
          </a:p>
        </p:txBody>
      </p:sp>
      <p:sp>
        <p:nvSpPr>
          <p:cNvPr id="124" name="Text 122"/>
          <p:cNvSpPr txBox="1"/>
          <p:nvPr/>
        </p:nvSpPr>
        <p:spPr>
          <a:xfrm>
            <a:off x="8089392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8107680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+21.0%</a:t>
            </a:r>
            <a:endParaRPr lang="en-US" sz="1400" dirty="0"/>
          </a:p>
        </p:txBody>
      </p:sp>
      <p:sp>
        <p:nvSpPr>
          <p:cNvPr id="126" name="Text 124"/>
          <p:cNvSpPr txBox="1"/>
          <p:nvPr/>
        </p:nvSpPr>
        <p:spPr>
          <a:xfrm>
            <a:off x="8089392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8107680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+18.7%</a:t>
            </a:r>
            <a:endParaRPr lang="en-US" sz="1400" dirty="0"/>
          </a:p>
        </p:txBody>
      </p:sp>
      <p:sp>
        <p:nvSpPr>
          <p:cNvPr id="128" name="Text 126"/>
          <p:cNvSpPr txBox="1"/>
          <p:nvPr/>
        </p:nvSpPr>
        <p:spPr>
          <a:xfrm>
            <a:off x="8089392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8107680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+17.6%</a:t>
            </a:r>
            <a:endParaRPr lang="en-US" sz="1400" dirty="0"/>
          </a:p>
        </p:txBody>
      </p:sp>
      <p:sp>
        <p:nvSpPr>
          <p:cNvPr id="130" name="Text 128"/>
          <p:cNvSpPr txBox="1"/>
          <p:nvPr/>
        </p:nvSpPr>
        <p:spPr>
          <a:xfrm>
            <a:off x="8089392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8107680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−2.2%</a:t>
            </a:r>
            <a:endParaRPr lang="en-US" sz="1400" dirty="0"/>
          </a:p>
        </p:txBody>
      </p:sp>
      <p:sp>
        <p:nvSpPr>
          <p:cNvPr id="132" name="Text 130"/>
          <p:cNvSpPr txBox="1"/>
          <p:nvPr/>
        </p:nvSpPr>
        <p:spPr>
          <a:xfrm>
            <a:off x="8089392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8107680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400" dirty="0"/>
          </a:p>
        </p:txBody>
      </p:sp>
      <p:sp>
        <p:nvSpPr>
          <p:cNvPr id="134" name="Text 132"/>
          <p:cNvSpPr txBox="1"/>
          <p:nvPr/>
        </p:nvSpPr>
        <p:spPr>
          <a:xfrm>
            <a:off x="8089392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8107680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−7.1%</a:t>
            </a:r>
            <a:endParaRPr lang="en-US" sz="1400" dirty="0"/>
          </a:p>
        </p:txBody>
      </p:sp>
      <p:sp>
        <p:nvSpPr>
          <p:cNvPr id="136" name="Text 134"/>
          <p:cNvSpPr txBox="1"/>
          <p:nvPr/>
        </p:nvSpPr>
        <p:spPr>
          <a:xfrm>
            <a:off x="8089392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8107680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−9.0%</a:t>
            </a:r>
            <a:endParaRPr lang="en-US" sz="1400" dirty="0"/>
          </a:p>
        </p:txBody>
      </p:sp>
      <p:sp>
        <p:nvSpPr>
          <p:cNvPr id="138" name="Text 136"/>
          <p:cNvSpPr txBox="1"/>
          <p:nvPr/>
        </p:nvSpPr>
        <p:spPr>
          <a:xfrm>
            <a:off x="8089392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107680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−15.0%</a:t>
            </a:r>
            <a:endParaRPr lang="en-US" sz="1400" dirty="0"/>
          </a:p>
        </p:txBody>
      </p:sp>
      <p:sp>
        <p:nvSpPr>
          <p:cNvPr id="140" name="Shape 138"/>
          <p:cNvSpPr/>
          <p:nvPr/>
        </p:nvSpPr>
        <p:spPr>
          <a:xfrm>
            <a:off x="9869424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887712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887712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+1.2 pts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9869424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887712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 pts</a:t>
            </a:r>
            <a:endParaRPr lang="en-US" sz="1400" dirty="0"/>
          </a:p>
        </p:txBody>
      </p:sp>
      <p:sp>
        <p:nvSpPr>
          <p:cNvPr id="145" name="Text 143"/>
          <p:cNvSpPr txBox="1"/>
          <p:nvPr/>
        </p:nvSpPr>
        <p:spPr>
          <a:xfrm>
            <a:off x="9869424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9887712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 pts</a:t>
            </a:r>
            <a:endParaRPr lang="en-US" sz="1400" dirty="0"/>
          </a:p>
        </p:txBody>
      </p:sp>
      <p:sp>
        <p:nvSpPr>
          <p:cNvPr id="147" name="Text 145"/>
          <p:cNvSpPr txBox="1"/>
          <p:nvPr/>
        </p:nvSpPr>
        <p:spPr>
          <a:xfrm>
            <a:off x="9869424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887712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 pts</a:t>
            </a:r>
            <a:endParaRPr lang="en-US" sz="1400" dirty="0"/>
          </a:p>
        </p:txBody>
      </p:sp>
      <p:sp>
        <p:nvSpPr>
          <p:cNvPr id="149" name="Text 147"/>
          <p:cNvSpPr txBox="1"/>
          <p:nvPr/>
        </p:nvSpPr>
        <p:spPr>
          <a:xfrm>
            <a:off x="9869424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887712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400" dirty="0"/>
          </a:p>
        </p:txBody>
      </p:sp>
      <p:sp>
        <p:nvSpPr>
          <p:cNvPr id="151" name="Text 149"/>
          <p:cNvSpPr txBox="1"/>
          <p:nvPr/>
        </p:nvSpPr>
        <p:spPr>
          <a:xfrm>
            <a:off x="9869424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9887712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869424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887712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 pts</a:t>
            </a:r>
            <a:endParaRPr lang="en-US" sz="1400" dirty="0"/>
          </a:p>
        </p:txBody>
      </p:sp>
      <p:sp>
        <p:nvSpPr>
          <p:cNvPr id="155" name="Text 153"/>
          <p:cNvSpPr txBox="1"/>
          <p:nvPr/>
        </p:nvSpPr>
        <p:spPr>
          <a:xfrm>
            <a:off x="9869424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887712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400" dirty="0"/>
          </a:p>
        </p:txBody>
      </p:sp>
      <p:sp>
        <p:nvSpPr>
          <p:cNvPr id="157" name="Text 155"/>
          <p:cNvSpPr txBox="1"/>
          <p:nvPr/>
        </p:nvSpPr>
        <p:spPr>
          <a:xfrm>
            <a:off x="9869424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887712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−0.5 pts</a:t>
            </a:r>
            <a:endParaRPr lang="en-US" sz="1400" dirty="0"/>
          </a:p>
        </p:txBody>
      </p:sp>
      <p:sp>
        <p:nvSpPr>
          <p:cNvPr id="159" name="Text 157"/>
          <p:cNvSpPr txBox="1"/>
          <p:nvPr/>
        </p:nvSpPr>
        <p:spPr>
          <a:xfrm>
            <a:off x="9869424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887712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 pts</a:t>
            </a:r>
            <a:endParaRPr lang="en-US" sz="1400" dirty="0"/>
          </a:p>
        </p:txBody>
      </p:sp>
      <p:sp>
        <p:nvSpPr>
          <p:cNvPr id="161" name="Text 159"/>
          <p:cNvSpPr txBox="1"/>
          <p:nvPr/>
        </p:nvSpPr>
        <p:spPr>
          <a:xfrm>
            <a:off x="9869424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9887712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400" dirty="0"/>
          </a:p>
        </p:txBody>
      </p:sp>
      <p:sp>
        <p:nvSpPr>
          <p:cNvPr id="164" name="Shape 161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5" name="Text 162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LINCOLN, SUBARU PRESCOTT, SUBARU ST GEORGE (4 of 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Bottom: AUDI RENO, VW ST GEORGE (4 of 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80160"/>
            <a:ext cx="10762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and bottom five stores on each measure, Q3 2026 vs Q1 2026 (gross and ROs per month). Group change = the season.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" y="2103120"/>
            <a:ext cx="45720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2103120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76656" y="210312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45973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2816352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76656" y="281635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" y="317296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3529584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352958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" y="4005072"/>
            <a:ext cx="45720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685800" y="4005072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6656" y="4005072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" y="4361688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85800" y="4718304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6656" y="4718304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" y="5074920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" y="5431536"/>
            <a:ext cx="10881360" cy="3566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6656" y="5431536"/>
            <a:ext cx="274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9264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7552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987552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+8.4%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87552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87552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987552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69264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87552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69264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87552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+2.4%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87552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−0.2%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969264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987552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−0.9%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969264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987552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987552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−10.7%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49296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767584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2767584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+7.5%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2749296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2767584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2749296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2767584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2749296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2767584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2749296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2767584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2749296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2767584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2749296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2767584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+1.1%</a:t>
            </a:r>
            <a:endParaRPr lang="en-US" sz="1400" dirty="0"/>
          </a:p>
        </p:txBody>
      </p:sp>
      <p:sp>
        <p:nvSpPr>
          <p:cNvPr id="63" name="Text 61"/>
          <p:cNvSpPr txBox="1"/>
          <p:nvPr/>
        </p:nvSpPr>
        <p:spPr>
          <a:xfrm>
            <a:off x="2749296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2767584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+0.1%</a:t>
            </a:r>
            <a:endParaRPr lang="en-US" sz="1400" dirty="0"/>
          </a:p>
        </p:txBody>
      </p:sp>
      <p:sp>
        <p:nvSpPr>
          <p:cNvPr id="65" name="Text 63"/>
          <p:cNvSpPr txBox="1"/>
          <p:nvPr/>
        </p:nvSpPr>
        <p:spPr>
          <a:xfrm>
            <a:off x="2749296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2767584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2749296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2767584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2749296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2767584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−4.3%</a:t>
            </a:r>
            <a:endParaRPr lang="en-US" sz="1400" dirty="0"/>
          </a:p>
        </p:txBody>
      </p:sp>
      <p:sp>
        <p:nvSpPr>
          <p:cNvPr id="71" name="Shape 69"/>
          <p:cNvSpPr/>
          <p:nvPr/>
        </p:nvSpPr>
        <p:spPr>
          <a:xfrm>
            <a:off x="4529328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547616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4547616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−1.8%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529328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547616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4529328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4547616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4529328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547616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4529328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4547616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400" dirty="0"/>
          </a:p>
        </p:txBody>
      </p:sp>
      <p:sp>
        <p:nvSpPr>
          <p:cNvPr id="82" name="Text 80"/>
          <p:cNvSpPr txBox="1"/>
          <p:nvPr/>
        </p:nvSpPr>
        <p:spPr>
          <a:xfrm>
            <a:off x="4529328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547616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4529328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547616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−7.2%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4529328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547616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−9.5%</a:t>
            </a:r>
            <a:endParaRPr lang="en-US" sz="1400" dirty="0"/>
          </a:p>
        </p:txBody>
      </p:sp>
      <p:sp>
        <p:nvSpPr>
          <p:cNvPr id="88" name="Text 86"/>
          <p:cNvSpPr txBox="1"/>
          <p:nvPr/>
        </p:nvSpPr>
        <p:spPr>
          <a:xfrm>
            <a:off x="4529328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4547616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−9.9%</a:t>
            </a:r>
            <a:endParaRPr lang="en-US" sz="1400" dirty="0"/>
          </a:p>
        </p:txBody>
      </p:sp>
      <p:sp>
        <p:nvSpPr>
          <p:cNvPr id="90" name="Text 88"/>
          <p:cNvSpPr txBox="1"/>
          <p:nvPr/>
        </p:nvSpPr>
        <p:spPr>
          <a:xfrm>
            <a:off x="4529328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547616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−10.6%</a:t>
            </a:r>
            <a:endParaRPr lang="en-US" sz="1400" dirty="0"/>
          </a:p>
        </p:txBody>
      </p:sp>
      <p:sp>
        <p:nvSpPr>
          <p:cNvPr id="92" name="Text 90"/>
          <p:cNvSpPr txBox="1"/>
          <p:nvPr/>
        </p:nvSpPr>
        <p:spPr>
          <a:xfrm>
            <a:off x="4529328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4547616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−14.0%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309360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6327648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327648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+1.1%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309360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327648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400" dirty="0"/>
          </a:p>
        </p:txBody>
      </p:sp>
      <p:sp>
        <p:nvSpPr>
          <p:cNvPr id="99" name="Text 97"/>
          <p:cNvSpPr txBox="1"/>
          <p:nvPr/>
        </p:nvSpPr>
        <p:spPr>
          <a:xfrm>
            <a:off x="6309360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327648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6309360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327648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6309360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327648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6309360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327648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400" dirty="0"/>
          </a:p>
        </p:txBody>
      </p:sp>
      <p:sp>
        <p:nvSpPr>
          <p:cNvPr id="107" name="Text 105"/>
          <p:cNvSpPr txBox="1"/>
          <p:nvPr/>
        </p:nvSpPr>
        <p:spPr>
          <a:xfrm>
            <a:off x="6309360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327648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−2.0%</a:t>
            </a:r>
            <a:endParaRPr lang="en-US" sz="1400" dirty="0"/>
          </a:p>
        </p:txBody>
      </p:sp>
      <p:sp>
        <p:nvSpPr>
          <p:cNvPr id="109" name="Text 107"/>
          <p:cNvSpPr txBox="1"/>
          <p:nvPr/>
        </p:nvSpPr>
        <p:spPr>
          <a:xfrm>
            <a:off x="6309360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327648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400" dirty="0"/>
          </a:p>
        </p:txBody>
      </p:sp>
      <p:sp>
        <p:nvSpPr>
          <p:cNvPr id="111" name="Text 109"/>
          <p:cNvSpPr txBox="1"/>
          <p:nvPr/>
        </p:nvSpPr>
        <p:spPr>
          <a:xfrm>
            <a:off x="6309360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327648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−3.0%</a:t>
            </a:r>
            <a:endParaRPr lang="en-US" sz="1400" dirty="0"/>
          </a:p>
        </p:txBody>
      </p:sp>
      <p:sp>
        <p:nvSpPr>
          <p:cNvPr id="113" name="Text 111"/>
          <p:cNvSpPr txBox="1"/>
          <p:nvPr/>
        </p:nvSpPr>
        <p:spPr>
          <a:xfrm>
            <a:off x="6309360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327648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400" dirty="0"/>
          </a:p>
        </p:txBody>
      </p:sp>
      <p:sp>
        <p:nvSpPr>
          <p:cNvPr id="115" name="Text 113"/>
          <p:cNvSpPr txBox="1"/>
          <p:nvPr/>
        </p:nvSpPr>
        <p:spPr>
          <a:xfrm>
            <a:off x="6309360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327648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400" dirty="0"/>
          </a:p>
        </p:txBody>
      </p:sp>
      <p:sp>
        <p:nvSpPr>
          <p:cNvPr id="117" name="Shape 115"/>
          <p:cNvSpPr/>
          <p:nvPr/>
        </p:nvSpPr>
        <p:spPr>
          <a:xfrm>
            <a:off x="8089392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8107680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8107680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+5.1%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8089392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8107680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400" dirty="0"/>
          </a:p>
        </p:txBody>
      </p:sp>
      <p:sp>
        <p:nvSpPr>
          <p:cNvPr id="122" name="Text 120"/>
          <p:cNvSpPr txBox="1"/>
          <p:nvPr/>
        </p:nvSpPr>
        <p:spPr>
          <a:xfrm>
            <a:off x="8089392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8107680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400" dirty="0"/>
          </a:p>
        </p:txBody>
      </p:sp>
      <p:sp>
        <p:nvSpPr>
          <p:cNvPr id="124" name="Text 122"/>
          <p:cNvSpPr txBox="1"/>
          <p:nvPr/>
        </p:nvSpPr>
        <p:spPr>
          <a:xfrm>
            <a:off x="8089392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8107680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400" dirty="0"/>
          </a:p>
        </p:txBody>
      </p:sp>
      <p:sp>
        <p:nvSpPr>
          <p:cNvPr id="126" name="Text 124"/>
          <p:cNvSpPr txBox="1"/>
          <p:nvPr/>
        </p:nvSpPr>
        <p:spPr>
          <a:xfrm>
            <a:off x="8089392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8107680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400" dirty="0"/>
          </a:p>
        </p:txBody>
      </p:sp>
      <p:sp>
        <p:nvSpPr>
          <p:cNvPr id="128" name="Text 126"/>
          <p:cNvSpPr txBox="1"/>
          <p:nvPr/>
        </p:nvSpPr>
        <p:spPr>
          <a:xfrm>
            <a:off x="8089392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8107680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400" dirty="0"/>
          </a:p>
        </p:txBody>
      </p:sp>
      <p:sp>
        <p:nvSpPr>
          <p:cNvPr id="130" name="Text 128"/>
          <p:cNvSpPr txBox="1"/>
          <p:nvPr/>
        </p:nvSpPr>
        <p:spPr>
          <a:xfrm>
            <a:off x="8089392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8107680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−3.3%</a:t>
            </a:r>
            <a:endParaRPr lang="en-US" sz="1400" dirty="0"/>
          </a:p>
        </p:txBody>
      </p:sp>
      <p:sp>
        <p:nvSpPr>
          <p:cNvPr id="132" name="Text 130"/>
          <p:cNvSpPr txBox="1"/>
          <p:nvPr/>
        </p:nvSpPr>
        <p:spPr>
          <a:xfrm>
            <a:off x="8089392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8107680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−3.4%</a:t>
            </a:r>
            <a:endParaRPr lang="en-US" sz="1400" dirty="0"/>
          </a:p>
        </p:txBody>
      </p:sp>
      <p:sp>
        <p:nvSpPr>
          <p:cNvPr id="134" name="Text 132"/>
          <p:cNvSpPr txBox="1"/>
          <p:nvPr/>
        </p:nvSpPr>
        <p:spPr>
          <a:xfrm>
            <a:off x="8089392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8107680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−4.4%</a:t>
            </a:r>
            <a:endParaRPr lang="en-US" sz="1400" dirty="0"/>
          </a:p>
        </p:txBody>
      </p:sp>
      <p:sp>
        <p:nvSpPr>
          <p:cNvPr id="136" name="Text 134"/>
          <p:cNvSpPr txBox="1"/>
          <p:nvPr/>
        </p:nvSpPr>
        <p:spPr>
          <a:xfrm>
            <a:off x="8089392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8107680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−5.6%</a:t>
            </a:r>
            <a:endParaRPr lang="en-US" sz="1400" dirty="0"/>
          </a:p>
        </p:txBody>
      </p:sp>
      <p:sp>
        <p:nvSpPr>
          <p:cNvPr id="138" name="Text 136"/>
          <p:cNvSpPr txBox="1"/>
          <p:nvPr/>
        </p:nvSpPr>
        <p:spPr>
          <a:xfrm>
            <a:off x="8089392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8107680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−6.0%</a:t>
            </a:r>
            <a:endParaRPr lang="en-US" sz="1400" dirty="0"/>
          </a:p>
        </p:txBody>
      </p:sp>
      <p:sp>
        <p:nvSpPr>
          <p:cNvPr id="140" name="Shape 138"/>
          <p:cNvSpPr/>
          <p:nvPr/>
        </p:nvSpPr>
        <p:spPr>
          <a:xfrm>
            <a:off x="9869424" y="1554480"/>
            <a:ext cx="1670304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887712" y="1636776"/>
            <a:ext cx="1633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3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887712" y="1856232"/>
            <a:ext cx="1633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0.0 pts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9869424" y="21122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9887712" y="22768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400" dirty="0"/>
          </a:p>
        </p:txBody>
      </p:sp>
      <p:sp>
        <p:nvSpPr>
          <p:cNvPr id="145" name="Text 143"/>
          <p:cNvSpPr txBox="1"/>
          <p:nvPr/>
        </p:nvSpPr>
        <p:spPr>
          <a:xfrm>
            <a:off x="9869424" y="24688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9887712" y="26334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400" dirty="0"/>
          </a:p>
        </p:txBody>
      </p:sp>
      <p:sp>
        <p:nvSpPr>
          <p:cNvPr id="147" name="Text 145"/>
          <p:cNvSpPr txBox="1"/>
          <p:nvPr/>
        </p:nvSpPr>
        <p:spPr>
          <a:xfrm>
            <a:off x="9869424" y="282549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887712" y="299008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400" dirty="0"/>
          </a:p>
        </p:txBody>
      </p:sp>
      <p:sp>
        <p:nvSpPr>
          <p:cNvPr id="149" name="Text 147"/>
          <p:cNvSpPr txBox="1"/>
          <p:nvPr/>
        </p:nvSpPr>
        <p:spPr>
          <a:xfrm>
            <a:off x="9869424" y="318211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887712" y="334670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400" dirty="0"/>
          </a:p>
        </p:txBody>
      </p:sp>
      <p:sp>
        <p:nvSpPr>
          <p:cNvPr id="151" name="Text 149"/>
          <p:cNvSpPr txBox="1"/>
          <p:nvPr/>
        </p:nvSpPr>
        <p:spPr>
          <a:xfrm>
            <a:off x="9869424" y="353872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9887712" y="370332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869424" y="4014216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887712" y="4178808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400" dirty="0"/>
          </a:p>
        </p:txBody>
      </p:sp>
      <p:sp>
        <p:nvSpPr>
          <p:cNvPr id="155" name="Text 153"/>
          <p:cNvSpPr txBox="1"/>
          <p:nvPr/>
        </p:nvSpPr>
        <p:spPr>
          <a:xfrm>
            <a:off x="9869424" y="4370832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887712" y="4535424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400" dirty="0"/>
          </a:p>
        </p:txBody>
      </p:sp>
      <p:sp>
        <p:nvSpPr>
          <p:cNvPr id="157" name="Text 155"/>
          <p:cNvSpPr txBox="1"/>
          <p:nvPr/>
        </p:nvSpPr>
        <p:spPr>
          <a:xfrm>
            <a:off x="9869424" y="4727448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9887712" y="4892040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−3.1 pts</a:t>
            </a:r>
            <a:endParaRPr lang="en-US" sz="1400" dirty="0"/>
          </a:p>
        </p:txBody>
      </p:sp>
      <p:sp>
        <p:nvSpPr>
          <p:cNvPr id="159" name="Text 157"/>
          <p:cNvSpPr txBox="1"/>
          <p:nvPr/>
        </p:nvSpPr>
        <p:spPr>
          <a:xfrm>
            <a:off x="9869424" y="5084064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887712" y="5248656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400" dirty="0"/>
          </a:p>
        </p:txBody>
      </p:sp>
      <p:sp>
        <p:nvSpPr>
          <p:cNvPr id="161" name="Text 159"/>
          <p:cNvSpPr txBox="1"/>
          <p:nvPr/>
        </p:nvSpPr>
        <p:spPr>
          <a:xfrm>
            <a:off x="9869424" y="5440680"/>
            <a:ext cx="1725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9887712" y="5605272"/>
            <a:ext cx="16703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endParaRPr lang="en-US" sz="1400" dirty="0"/>
          </a:p>
        </p:txBody>
      </p:sp>
      <p:sp>
        <p:nvSpPr>
          <p:cNvPr id="164" name="Shape 161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5" name="Text 162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VW ST GEORGE (4 of 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Bottom: SUBARU ST GEORGE, HONDA HENDERSON (4 of 6).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→ 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→ 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→ 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→ 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$202K → $246K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+21.9%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$311K → $375K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 → $177K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+19.1%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$100K → $119K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$294K → $345K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+17.3%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$155K to $209K,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→ 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→ 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→ 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→ 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545 → 617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1,561 → 1,759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+12.6%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330 → 370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1,788 → 1,992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+11.3%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582 → 641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 went 425 to 570,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→ 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→ 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→ 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→ 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1.29 → 1.40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+8.2%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1.33 → 1.40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2.19 → 2.30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2.60 → 2.73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3.25 → 3.41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 went 1.35 to 1.65, stepping up in August.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→ 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→ 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→ 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→ 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$172.35 → $180.14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+4.5%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$140.89 → $146.92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$216.72 → $225.50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$155.72 → $161.80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$169.51 → $175.47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+3.5%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$128.27 to $141.89,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→ 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→ 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→ 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→ 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 → $156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+14.6%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$257 → $292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$728 → $811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+11.4%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$897 → $988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$235 → $258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 went $224 to $298, stepping up in June.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375611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375611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375611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→ 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393899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375611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375611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2757830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275783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275783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275783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→ 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277611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275783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275783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3140050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3140050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3140050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→ 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3158338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3140050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3140050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3522269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3522269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3522269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3522269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3540557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3522269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3522269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44" name="Text 37"/>
          <p:cNvSpPr txBox="1"/>
          <p:nvPr/>
        </p:nvSpPr>
        <p:spPr>
          <a:xfrm>
            <a:off x="749808" y="3904488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1097280" y="3904488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6" name="Text 39"/>
          <p:cNvSpPr txBox="1"/>
          <p:nvPr/>
        </p:nvSpPr>
        <p:spPr>
          <a:xfrm>
            <a:off x="3657600" y="3904488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40.1% → 42.4%</a:t>
            </a:r>
            <a:endParaRPr lang="en-US" sz="1400" dirty="0"/>
          </a:p>
        </p:txBody>
      </p:sp>
      <p:graphicFrame>
        <p:nvGraphicFramePr>
          <p:cNvPr id="47" name="Chart 5" descr=""/>
          <p:cNvGraphicFramePr/>
          <p:nvPr/>
        </p:nvGraphicFramePr>
        <p:xfrm>
          <a:off x="5276088" y="3922776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8" name="Text 40"/>
          <p:cNvSpPr txBox="1"/>
          <p:nvPr/>
        </p:nvSpPr>
        <p:spPr>
          <a:xfrm>
            <a:off x="8183880" y="3904488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9" name="Text 41"/>
          <p:cNvSpPr txBox="1"/>
          <p:nvPr/>
        </p:nvSpPr>
        <p:spPr>
          <a:xfrm>
            <a:off x="10195560" y="3904488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  <p:sp>
        <p:nvSpPr>
          <p:cNvPr id="50" name="Shape 42"/>
          <p:cNvSpPr/>
          <p:nvPr/>
        </p:nvSpPr>
        <p:spPr>
          <a:xfrm>
            <a:off x="621792" y="4286707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749808" y="4286707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500" dirty="0"/>
          </a:p>
        </p:txBody>
      </p:sp>
      <p:sp>
        <p:nvSpPr>
          <p:cNvPr id="52" name="Text 44"/>
          <p:cNvSpPr txBox="1"/>
          <p:nvPr/>
        </p:nvSpPr>
        <p:spPr>
          <a:xfrm>
            <a:off x="1097280" y="4286707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3" name="Text 45"/>
          <p:cNvSpPr txBox="1"/>
          <p:nvPr/>
        </p:nvSpPr>
        <p:spPr>
          <a:xfrm>
            <a:off x="3657600" y="4286707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34.4% → 36.3%</a:t>
            </a:r>
            <a:endParaRPr lang="en-US" sz="1400" dirty="0"/>
          </a:p>
        </p:txBody>
      </p:sp>
      <p:graphicFrame>
        <p:nvGraphicFramePr>
          <p:cNvPr id="54" name="Chart 6" descr=""/>
          <p:cNvGraphicFramePr/>
          <p:nvPr/>
        </p:nvGraphicFramePr>
        <p:xfrm>
          <a:off x="5276088" y="4304995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55" name="Text 46"/>
          <p:cNvSpPr txBox="1"/>
          <p:nvPr/>
        </p:nvSpPr>
        <p:spPr>
          <a:xfrm>
            <a:off x="8183880" y="4286707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56" name="Text 47"/>
          <p:cNvSpPr txBox="1"/>
          <p:nvPr/>
        </p:nvSpPr>
        <p:spPr>
          <a:xfrm>
            <a:off x="10195560" y="4286707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+1.8 pts</a:t>
            </a:r>
            <a:endParaRPr lang="en-US" sz="1600" dirty="0"/>
          </a:p>
        </p:txBody>
      </p:sp>
      <p:sp>
        <p:nvSpPr>
          <p:cNvPr id="57" name="Text 48"/>
          <p:cNvSpPr txBox="1"/>
          <p:nvPr/>
        </p:nvSpPr>
        <p:spPr>
          <a:xfrm>
            <a:off x="749808" y="466892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500" dirty="0"/>
          </a:p>
        </p:txBody>
      </p:sp>
      <p:sp>
        <p:nvSpPr>
          <p:cNvPr id="58" name="Text 49"/>
          <p:cNvSpPr txBox="1"/>
          <p:nvPr/>
        </p:nvSpPr>
        <p:spPr>
          <a:xfrm>
            <a:off x="1097280" y="466892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3657600" y="466892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 → 42.2%</a:t>
            </a:r>
            <a:endParaRPr lang="en-US" sz="1400" dirty="0"/>
          </a:p>
        </p:txBody>
      </p:sp>
      <p:graphicFrame>
        <p:nvGraphicFramePr>
          <p:cNvPr id="60" name="Chart 7" descr=""/>
          <p:cNvGraphicFramePr/>
          <p:nvPr/>
        </p:nvGraphicFramePr>
        <p:xfrm>
          <a:off x="5276088" y="468721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61" name="Text 51"/>
          <p:cNvSpPr txBox="1"/>
          <p:nvPr/>
        </p:nvSpPr>
        <p:spPr>
          <a:xfrm>
            <a:off x="8183880" y="466892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2" name="Text 52"/>
          <p:cNvSpPr txBox="1"/>
          <p:nvPr/>
        </p:nvSpPr>
        <p:spPr>
          <a:xfrm>
            <a:off x="10195560" y="466892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 pts</a:t>
            </a:r>
            <a:endParaRPr lang="en-US" sz="1600" dirty="0"/>
          </a:p>
        </p:txBody>
      </p:sp>
      <p:sp>
        <p:nvSpPr>
          <p:cNvPr id="63" name="Shape 53"/>
          <p:cNvSpPr/>
          <p:nvPr/>
        </p:nvSpPr>
        <p:spPr>
          <a:xfrm>
            <a:off x="621792" y="5051146"/>
            <a:ext cx="10945368" cy="382219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Text 54"/>
          <p:cNvSpPr txBox="1"/>
          <p:nvPr/>
        </p:nvSpPr>
        <p:spPr>
          <a:xfrm>
            <a:off x="749808" y="5051146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500" dirty="0"/>
          </a:p>
        </p:txBody>
      </p:sp>
      <p:sp>
        <p:nvSpPr>
          <p:cNvPr id="65" name="Text 55"/>
          <p:cNvSpPr txBox="1"/>
          <p:nvPr/>
        </p:nvSpPr>
        <p:spPr>
          <a:xfrm>
            <a:off x="1097280" y="5051146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66" name="Text 56"/>
          <p:cNvSpPr txBox="1"/>
          <p:nvPr/>
        </p:nvSpPr>
        <p:spPr>
          <a:xfrm>
            <a:off x="3657600" y="5051146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44.4% → 45.7%</a:t>
            </a:r>
            <a:endParaRPr lang="en-US" sz="1400" dirty="0"/>
          </a:p>
        </p:txBody>
      </p:sp>
      <p:graphicFrame>
        <p:nvGraphicFramePr>
          <p:cNvPr id="67" name="Chart 8" descr=""/>
          <p:cNvGraphicFramePr/>
          <p:nvPr/>
        </p:nvGraphicFramePr>
        <p:xfrm>
          <a:off x="5276088" y="5069434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68" name="Text 57"/>
          <p:cNvSpPr txBox="1"/>
          <p:nvPr/>
        </p:nvSpPr>
        <p:spPr>
          <a:xfrm>
            <a:off x="8183880" y="5051146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69" name="Text 58"/>
          <p:cNvSpPr txBox="1"/>
          <p:nvPr/>
        </p:nvSpPr>
        <p:spPr>
          <a:xfrm>
            <a:off x="10195560" y="5051146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600" dirty="0"/>
          </a:p>
        </p:txBody>
      </p:sp>
      <p:sp>
        <p:nvSpPr>
          <p:cNvPr id="70" name="Text 59"/>
          <p:cNvSpPr txBox="1"/>
          <p:nvPr/>
        </p:nvSpPr>
        <p:spPr>
          <a:xfrm>
            <a:off x="749808" y="5433365"/>
            <a:ext cx="31089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500" dirty="0"/>
          </a:p>
        </p:txBody>
      </p:sp>
      <p:sp>
        <p:nvSpPr>
          <p:cNvPr id="71" name="Text 60"/>
          <p:cNvSpPr txBox="1"/>
          <p:nvPr/>
        </p:nvSpPr>
        <p:spPr>
          <a:xfrm>
            <a:off x="1097280" y="5433365"/>
            <a:ext cx="246888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72" name="Text 61"/>
          <p:cNvSpPr txBox="1"/>
          <p:nvPr/>
        </p:nvSpPr>
        <p:spPr>
          <a:xfrm>
            <a:off x="3657600" y="5433365"/>
            <a:ext cx="164592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 → 37.9%</a:t>
            </a:r>
            <a:endParaRPr lang="en-US" sz="1400" dirty="0"/>
          </a:p>
        </p:txBody>
      </p:sp>
      <p:graphicFrame>
        <p:nvGraphicFramePr>
          <p:cNvPr id="73" name="Chart 9" descr=""/>
          <p:cNvGraphicFramePr/>
          <p:nvPr/>
        </p:nvGraphicFramePr>
        <p:xfrm>
          <a:off x="5276088" y="5451653"/>
          <a:ext cx="2697480" cy="34564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74" name="Text 62"/>
          <p:cNvSpPr txBox="1"/>
          <p:nvPr/>
        </p:nvSpPr>
        <p:spPr>
          <a:xfrm>
            <a:off x="8183880" y="5433365"/>
            <a:ext cx="17373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75" name="Text 63"/>
          <p:cNvSpPr txBox="1"/>
          <p:nvPr/>
        </p:nvSpPr>
        <p:spPr>
          <a:xfrm>
            <a:off x="10195560" y="5433365"/>
            <a:ext cx="137160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+1.1 pts</a:t>
            </a:r>
            <a:endParaRPr lang="en-US" sz="1600" dirty="0"/>
          </a:p>
        </p:txBody>
      </p:sp>
      <p:sp>
        <p:nvSpPr>
          <p:cNvPr id="76" name="Shape 64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77" name="Text 65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 went 39.4% to 46.6%, stepping up in April. Ask what changed that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Ways to Read Improvement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than last year · Jan–Sep 2026 vs Jan–Sep 2025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six measures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$/RO, parts GP%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30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ELR, parts GP%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2937053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30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hours/RO, parts $/RO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43400" y="3522269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30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30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1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31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parts $/RO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343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30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31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hours/RO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343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330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6172200" y="1207008"/>
            <a:ext cx="5559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0" y="1344168"/>
            <a:ext cx="5102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Moving now · Q3 vs Q1, this year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400800" y="1691640"/>
            <a:ext cx="5102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0" y="1792224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Top-5 finishes, of six measures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336792" y="2176272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446520" y="22219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47802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ELR, parts $/RO, parts GP%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0058400" y="2351837"/>
            <a:ext cx="96012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1045952" y="217627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8072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6446520" y="306324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ROs, hours/RO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10058400" y="2937053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1045952" y="2761488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336792" y="3346704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46520" y="33924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6446520" y="364845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hours/RO, ELR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10058400" y="3522269"/>
            <a:ext cx="72009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1045952" y="3346704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4652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423367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CP ROs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10058400" y="4107485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1045952" y="3931920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6336792" y="4517136"/>
            <a:ext cx="5230368" cy="58521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446520" y="45628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6446520" y="4818888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gross, hours/RO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10058400" y="4692701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1045952" y="4517136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3" name="Text 61"/>
          <p:cNvSpPr txBox="1"/>
          <p:nvPr/>
        </p:nvSpPr>
        <p:spPr>
          <a:xfrm>
            <a:off x="6446520" y="51480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6446520" y="5404104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ROs, parts $/RO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10058400" y="5277917"/>
            <a:ext cx="480060" cy="23408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1045952" y="5102352"/>
            <a:ext cx="411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year: Three stores tie. Moving now: VW ST GEORGE leads. Ten stores make both views.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· MOST IMPROVED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2044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Moved 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3716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77393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7739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17739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Gross per Month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7739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→ $209K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17739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7739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322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23225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ROs per Month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3225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→ 570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3225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23225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792" y="287121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287121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287121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Hours per RO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0" y="287121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→ 1.65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726680" y="287121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287121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9808" y="3419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520440" y="341985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0" y="34198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→ $141.89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726680" y="34198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41985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1792" y="396849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9808" y="39684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520440" y="39684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$ per RO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0" y="396849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→ $298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726680" y="396849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96849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49808" y="451713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3520440" y="451713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GP %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0" y="451713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→ 46.6%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7726680" y="451713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326880" y="45171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21792" y="5065776"/>
            <a:ext cx="10945368" cy="548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50657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3520440" y="506577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alignment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0" y="506577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→ 22.8%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726680" y="50657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9326880" y="506577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457200" y="5961888"/>
            <a:ext cx="11274552" cy="548640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58368" y="5980176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stores, one question each: what did you start doing that month? One sentence, before you leave.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2026-10-20T21:31:01Z</dcterms:created>
  <dcterms:modified xsi:type="dcterms:W3CDTF">2026-10-20T21:31:01Z</dcterms:modified>
</cp:coreProperties>
</file>