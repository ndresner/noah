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 w="38100" cap="flat">
              <a:solidFill>
                <a:srgbClr val="2587C5"/>
              </a:solidFill>
              <a:prstDash val="solid"/>
              <a:round/>
            </a:ln>
            <a:effectLst/>
          </c:spPr>
          <c:invertIfNegative val="0"/>
          <c:dLbls>
            <c:numFmt formatCode="#,##0.0,&quot;K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14264</c:v>
                </c:pt>
                <c:pt idx="1">
                  <c:v>12746</c:v>
                </c:pt>
                <c:pt idx="2">
                  <c:v>13940</c:v>
                </c:pt>
                <c:pt idx="3">
                  <c:v>13710</c:v>
                </c:pt>
                <c:pt idx="4">
                  <c:v>13121</c:v>
                </c:pt>
                <c:pt idx="5">
                  <c:v>14168</c:v>
                </c:pt>
                <c:pt idx="6">
                  <c:v>14663</c:v>
                </c:pt>
                <c:pt idx="7">
                  <c:v>15204</c:v>
                </c:pt>
                <c:pt idx="8">
                  <c:v>15075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#,##0.0,&quot;K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18000"/>
          <c:min val="1000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>
              <a:noFill/>
            </a:ln>
            <a:effectLst/>
          </c:spPr>
          <c:invertIfNegative val="0"/>
          <c:dLbls>
            <c:numFmt formatCode="#,##0.0,&quot;K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15204</c:v>
                </c:pt>
                <c:pt idx="8">
                  <c:v>15075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#,##0.0,&quot;K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18000"/>
          <c:min val="1000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00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>
              <a:noFill/>
            </a:ln>
            <a:effectLst/>
          </c:spPr>
          <c:invertIfNegative val="0"/>
          <c:dLbls>
            <c:numFmt formatCode="#,##0.0,&quot;K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14264</c:v>
                </c:pt>
                <c:pt idx="1">
                  <c:v>12746</c:v>
                </c:pt>
                <c:pt idx="2">
                  <c:v>13940</c:v>
                </c:pt>
                <c:pt idx="3">
                  <c:v>13710</c:v>
                </c:pt>
                <c:pt idx="4">
                  <c:v>13121</c:v>
                </c:pt>
                <c:pt idx="5">
                  <c:v>14168</c:v>
                </c:pt>
                <c:pt idx="6">
                  <c:v>14663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#,##0.0,&quot;K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18000"/>
          <c:min val="1000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00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>
              <a:noFill/>
            </a:ln>
            <a:effectLst/>
          </c:spPr>
          <c:invertIfNegative val="0"/>
          <c:dLbls>
            <c:numFmt formatCode="#,##0.0,&quot;K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16565</c:v>
                </c:pt>
                <c:pt idx="1">
                  <c:v>15707</c:v>
                </c:pt>
                <c:pt idx="2">
                  <c:v>15981</c:v>
                </c:pt>
                <c:pt idx="3">
                  <c:v>14990</c:v>
                </c:pt>
                <c:pt idx="4">
                  <c:v>14527</c:v>
                </c:pt>
                <c:pt idx="5">
                  <c:v>14882</c:v>
                </c:pt>
                <c:pt idx="6">
                  <c:v>15408</c:v>
                </c:pt>
                <c:pt idx="7">
                  <c:v/>
                </c:pt>
                <c:pt idx="8">
                  <c:v/>
                </c:pt>
                <c:pt idx="9">
                  <c:v>14227</c:v>
                </c:pt>
                <c:pt idx="10">
                  <c:v>12951</c:v>
                </c:pt>
                <c:pt idx="11">
                  <c:v>14223</c:v>
                </c:pt>
              </c:numCache>
            </c:numRef>
          </c:val>
          <c:smooth val="0"/>
        </c:ser>
        <c:dLbls>
          <c:numFmt formatCode="#,##0.0,&quot;K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18000"/>
          <c:min val="1000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00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>
              <a:noFill/>
            </a:ln>
            <a:effectLst/>
          </c:spPr>
          <c:invertIfNegative val="0"/>
          <c:dLbls>
            <c:numFmt formatCode="#,##0.0,&quot;K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14622</c:v>
                </c:pt>
                <c:pt idx="8">
                  <c:v>13082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#,##0.0,&quot;K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18000"/>
          <c:min val="1000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00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 w="38100" cap="flat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#,##0.0,&quot;K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16565</c:v>
                </c:pt>
                <c:pt idx="1">
                  <c:v>15707</c:v>
                </c:pt>
                <c:pt idx="2">
                  <c:v>15981</c:v>
                </c:pt>
                <c:pt idx="3">
                  <c:v>14990</c:v>
                </c:pt>
                <c:pt idx="4">
                  <c:v>14527</c:v>
                </c:pt>
                <c:pt idx="5">
                  <c:v>14882</c:v>
                </c:pt>
                <c:pt idx="6">
                  <c:v>15408</c:v>
                </c:pt>
                <c:pt idx="7">
                  <c:v>14622</c:v>
                </c:pt>
                <c:pt idx="8">
                  <c:v>13082</c:v>
                </c:pt>
                <c:pt idx="9">
                  <c:v>14227</c:v>
                </c:pt>
                <c:pt idx="10">
                  <c:v>12951</c:v>
                </c:pt>
                <c:pt idx="11">
                  <c:v>14223</c:v>
                </c:pt>
              </c:numCache>
            </c:numRef>
          </c:val>
          <c:smooth val="0"/>
        </c:ser>
        <c:dLbls>
          <c:numFmt formatCode="#,##0.0,&quot;K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18000"/>
          <c:min val="10000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00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 w="38100" cap="flat">
              <a:solidFill>
                <a:srgbClr val="2587C5"/>
              </a:solidFill>
              <a:prstDash val="solid"/>
              <a:round/>
            </a:ln>
            <a:effectLst/>
          </c:spPr>
          <c:invertIfNegative val="0"/>
          <c:dLbls>
            <c:numFmt formatCode="&quot;$&quot;#,##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196</c:v>
                </c:pt>
                <c:pt idx="1">
                  <c:v>198</c:v>
                </c:pt>
                <c:pt idx="2">
                  <c:v>197</c:v>
                </c:pt>
                <c:pt idx="3">
                  <c:v>199</c:v>
                </c:pt>
                <c:pt idx="4">
                  <c:v>194</c:v>
                </c:pt>
                <c:pt idx="5">
                  <c:v>194</c:v>
                </c:pt>
                <c:pt idx="6">
                  <c:v>199</c:v>
                </c:pt>
                <c:pt idx="7">
                  <c:v>198</c:v>
                </c:pt>
                <c:pt idx="8">
                  <c:v>199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&quot;$&quot;#,##0.00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210"/>
          <c:min val="160"/>
        </c:scaling>
        <c:delete val="0"/>
        <c:axPos val="l"/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>
              <a:noFill/>
            </a:ln>
            <a:effectLst/>
          </c:spPr>
          <c:invertIfNegative val="0"/>
          <c:dLbls>
            <c:numFmt formatCode="&quot;$&quot;#,##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196</c:v>
                </c:pt>
                <c:pt idx="1">
                  <c:v>198</c:v>
                </c:pt>
                <c:pt idx="2">
                  <c:v>197</c:v>
                </c:pt>
                <c:pt idx="3">
                  <c:v>199</c:v>
                </c:pt>
                <c:pt idx="4">
                  <c:v>194</c:v>
                </c:pt>
                <c:pt idx="5">
                  <c:v>194</c:v>
                </c:pt>
                <c:pt idx="6">
                  <c:v>199</c:v>
                </c:pt>
                <c:pt idx="7">
                  <c:v>198</c:v>
                </c:pt>
                <c:pt idx="8">
                  <c:v>199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&quot;$&quot;#,##0.00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210"/>
          <c:min val="160"/>
        </c:scaling>
        <c:delete val="0"/>
        <c:axPos val="l"/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>
              <a:noFill/>
            </a:ln>
            <a:effectLst/>
          </c:spPr>
          <c:invertIfNegative val="0"/>
          <c:dLbls>
            <c:numFmt formatCode="&quot;$&quot;#,##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175</c:v>
                </c:pt>
                <c:pt idx="1">
                  <c:v>175</c:v>
                </c:pt>
                <c:pt idx="2">
                  <c:v>173</c:v>
                </c:pt>
                <c:pt idx="3">
                  <c:v>176</c:v>
                </c:pt>
                <c:pt idx="4">
                  <c:v>182</c:v>
                </c:pt>
                <c:pt idx="5">
                  <c:v>185</c:v>
                </c:pt>
                <c:pt idx="6">
                  <c:v>187</c:v>
                </c:pt>
                <c:pt idx="7">
                  <c:v>186</c:v>
                </c:pt>
                <c:pt idx="8">
                  <c:v>187</c:v>
                </c:pt>
                <c:pt idx="9">
                  <c:v>188</c:v>
                </c:pt>
                <c:pt idx="10">
                  <c:v>189</c:v>
                </c:pt>
                <c:pt idx="11">
                  <c:v>193</c:v>
                </c:pt>
              </c:numCache>
            </c:numRef>
          </c:val>
          <c:smooth val="0"/>
        </c:ser>
        <c:dLbls>
          <c:numFmt formatCode="&quot;$&quot;#,##0.00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210"/>
          <c:min val="160"/>
        </c:scaling>
        <c:delete val="0"/>
        <c:axPos val="l"/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 w="38100" cap="flat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&quot;$&quot;#,##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175</c:v>
                </c:pt>
                <c:pt idx="1">
                  <c:v>175</c:v>
                </c:pt>
                <c:pt idx="2">
                  <c:v>173</c:v>
                </c:pt>
                <c:pt idx="3">
                  <c:v>176</c:v>
                </c:pt>
                <c:pt idx="4">
                  <c:v>182</c:v>
                </c:pt>
                <c:pt idx="5">
                  <c:v>185</c:v>
                </c:pt>
                <c:pt idx="6">
                  <c:v>187</c:v>
                </c:pt>
                <c:pt idx="7">
                  <c:v>186</c:v>
                </c:pt>
                <c:pt idx="8">
                  <c:v>187</c:v>
                </c:pt>
                <c:pt idx="9">
                  <c:v>188</c:v>
                </c:pt>
                <c:pt idx="10">
                  <c:v>189</c:v>
                </c:pt>
                <c:pt idx="11">
                  <c:v>193</c:v>
                </c:pt>
              </c:numCache>
            </c:numRef>
          </c:val>
          <c:smooth val="0"/>
        </c:ser>
        <c:dLbls>
          <c:numFmt formatCode="&quot;$&quot;#,##0.00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210"/>
          <c:min val="160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 w="38100" cap="flat">
              <a:solidFill>
                <a:srgbClr val="2587C5"/>
              </a:solidFill>
              <a:prstDash val="solid"/>
              <a:round/>
            </a:ln>
            <a:effectLst/>
          </c:spPr>
          <c:invertIfNegative val="0"/>
          <c:dLbls>
            <c:numFmt formatCode="&quot;$&quot;#,##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126</c:v>
                </c:pt>
                <c:pt idx="1">
                  <c:v>124</c:v>
                </c:pt>
                <c:pt idx="2">
                  <c:v>131</c:v>
                </c:pt>
                <c:pt idx="3">
                  <c:v>131</c:v>
                </c:pt>
                <c:pt idx="4">
                  <c:v>132</c:v>
                </c:pt>
                <c:pt idx="5">
                  <c:v>128</c:v>
                </c:pt>
                <c:pt idx="6">
                  <c:v>133</c:v>
                </c:pt>
                <c:pt idx="7">
                  <c:v>130</c:v>
                </c:pt>
                <c:pt idx="8">
                  <c:v>134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&quot;$&quot;#,##0.00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140"/>
          <c:min val="120"/>
        </c:scaling>
        <c:delete val="0"/>
        <c:axPos val="l"/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>
              <a:noFill/>
            </a:ln>
            <a:effectLst/>
          </c:spPr>
          <c:invertIfNegative val="0"/>
          <c:dLbls>
            <c:numFmt formatCode="&quot;$&quot;#,##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126</c:v>
                </c:pt>
                <c:pt idx="1">
                  <c:v/>
                </c:pt>
                <c:pt idx="2">
                  <c:v>131</c:v>
                </c:pt>
                <c:pt idx="3">
                  <c:v>131</c:v>
                </c:pt>
                <c:pt idx="4">
                  <c:v>132</c:v>
                </c:pt>
                <c:pt idx="5">
                  <c:v/>
                </c:pt>
                <c:pt idx="6">
                  <c:v>133</c:v>
                </c:pt>
                <c:pt idx="7">
                  <c:v>130</c:v>
                </c:pt>
                <c:pt idx="8">
                  <c:v>134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&quot;$&quot;#,##0.00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140"/>
          <c:min val="120"/>
        </c:scaling>
        <c:delete val="0"/>
        <c:axPos val="l"/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>
              <a:noFill/>
            </a:ln>
            <a:effectLst/>
          </c:spPr>
          <c:invertIfNegative val="0"/>
          <c:dLbls>
            <c:numFmt formatCode="&quot;$&quot;#,##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/>
                </c:pt>
                <c:pt idx="1">
                  <c:v>124</c:v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128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&quot;$&quot;#,##0.00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140"/>
          <c:min val="120"/>
        </c:scaling>
        <c:delete val="0"/>
        <c:axPos val="l"/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>
              <a:noFill/>
            </a:ln>
            <a:effectLst/>
          </c:spPr>
          <c:invertIfNegative val="0"/>
          <c:dLbls>
            <c:numFmt formatCode="&quot;$&quot;#,##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/>
                </c:pt>
                <c:pt idx="1">
                  <c:v>125</c:v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129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&quot;$&quot;#,##0.00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140"/>
          <c:min val="120"/>
        </c:scaling>
        <c:delete val="0"/>
        <c:axPos val="l"/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>
              <a:noFill/>
            </a:ln>
            <a:effectLst/>
          </c:spPr>
          <c:invertIfNegative val="0"/>
          <c:dLbls>
            <c:numFmt formatCode="&quot;$&quot;#,##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124</c:v>
                </c:pt>
                <c:pt idx="1">
                  <c:v/>
                </c:pt>
                <c:pt idx="2">
                  <c:v>125</c:v>
                </c:pt>
                <c:pt idx="3">
                  <c:v>126</c:v>
                </c:pt>
                <c:pt idx="4">
                  <c:v>130</c:v>
                </c:pt>
                <c:pt idx="5">
                  <c:v/>
                </c:pt>
                <c:pt idx="6">
                  <c:v>126</c:v>
                </c:pt>
                <c:pt idx="7">
                  <c:v>126</c:v>
                </c:pt>
                <c:pt idx="8">
                  <c:v>124</c:v>
                </c:pt>
                <c:pt idx="9">
                  <c:v>126</c:v>
                </c:pt>
                <c:pt idx="10">
                  <c:v>126</c:v>
                </c:pt>
                <c:pt idx="11">
                  <c:v>130</c:v>
                </c:pt>
              </c:numCache>
            </c:numRef>
          </c:val>
          <c:smooth val="0"/>
        </c:ser>
        <c:dLbls>
          <c:numFmt formatCode="&quot;$&quot;#,##0.00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140"/>
          <c:min val="120"/>
        </c:scaling>
        <c:delete val="0"/>
        <c:axPos val="l"/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 w="38100" cap="flat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&quot;$&quot;#,##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124</c:v>
                </c:pt>
                <c:pt idx="1">
                  <c:v>125</c:v>
                </c:pt>
                <c:pt idx="2">
                  <c:v>125</c:v>
                </c:pt>
                <c:pt idx="3">
                  <c:v>126</c:v>
                </c:pt>
                <c:pt idx="4">
                  <c:v>130</c:v>
                </c:pt>
                <c:pt idx="5">
                  <c:v>129</c:v>
                </c:pt>
                <c:pt idx="6">
                  <c:v>126</c:v>
                </c:pt>
                <c:pt idx="7">
                  <c:v>126</c:v>
                </c:pt>
                <c:pt idx="8">
                  <c:v>124</c:v>
                </c:pt>
                <c:pt idx="9">
                  <c:v>126</c:v>
                </c:pt>
                <c:pt idx="10">
                  <c:v>126</c:v>
                </c:pt>
                <c:pt idx="11">
                  <c:v>130</c:v>
                </c:pt>
              </c:numCache>
            </c:numRef>
          </c:val>
          <c:smooth val="0"/>
        </c:ser>
        <c:dLbls>
          <c:numFmt formatCode="&quot;$&quot;#,##0.00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140"/>
          <c:min val="120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Jan-Sep by close month. Same-store, INEOS excluded (opened 2026). GMC Prescott body shop labor types excluded. Distinct warranty ROs: every RO with a warranty line. YTD from YTD totals, not the mean of months. Store rows reconcile to the group on every input, both years. 2025 shown January-December; October-December pulled Oct 22 on the same basis (chart only).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Jan-Sep by close month. Same-store, INEOS excluded (opened 2026). GMC Prescott body shop labor types excluded. Distinct warranty ROs: every RO with a warranty line. Jan-Sep 2026 YTD.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Jan-Sep by close month. Same-store, INEOS excluded (opened 2026). GMC Prescott body shop labor types excluded. Change in warranty RO count (percent, so store size does not drive the ranking), Jan-Sep 2026 vs 2025, best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Jan-Sep by close month. Same-store, INEOS excluded (opened 2026). GMC Prescott body shop labor types excluded. Warranty labor sale / warranty sold hours. YTD from YTD totals, not the mean of months. Store rows reconcile to the group on every input, both years. 2025 shown January-December; October-December pulled Oct 22 on the same basis (chart only).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Jan-Sep by close month. Same-store, INEOS excluded (opened 2026). GMC Prescott body shop labor types excluded. Warranty labor sale / warranty sold hours. Jan-Sep 2026 YTD. Green at or above the group, red below.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Jan-Sep by close month. Same-store, INEOS excluded (opened 2026). GMC Prescott body shop labor types excluded. Change in Warranty ELR, Jan-Sep 2026 vs 2025, best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Jan-Sep by close month. Same-store, INEOS excluded (opened 2026). GMC Prescott body shop labor types excluded. Internal labor sale / internal sold hours. A higher internal rate adds service gross but is a cost to used cars. YTD from YTD totals, not the mean of months. Store rows reconcile to the group on every input, both years. 2025 shown January-December; October-December pulled Oct 22 on the same basis (chart only).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Jan-Sep by close month. Same-store, INEOS excluded (opened 2026). GMC Prescott body shop labor types excluded. Internal labor sale / internal sold hours. A higher internal rate adds service gross but is a cost to used cars. Jan-Sep 2026 YTD. Green at or above the group, red below.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Jan-Sep by close month. Same-store, INEOS excluded (opened 2026). GMC Prescott body shop labor types excluded. Change in Internal ELR, Jan-Sep 2026 vs 2025, best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chart" Target="/ppt/charts/chart9.xml"/><Relationship Id="rId4" Type="http://schemas.openxmlformats.org/officeDocument/2006/relationships/chart" Target="/ppt/charts/chart10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chart" Target="/ppt/charts/chart13.xml"/><Relationship Id="rId4" Type="http://schemas.openxmlformats.org/officeDocument/2006/relationships/chart" Target="/ppt/charts/chart14.xml"/><Relationship Id="rId5" Type="http://schemas.openxmlformats.org/officeDocument/2006/relationships/chart" Target="/ppt/charts/chart15.xml"/><Relationship Id="rId6" Type="http://schemas.openxmlformats.org/officeDocument/2006/relationships/chart" Target="/ppt/charts/chart16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21214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60" kern="0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2487168"/>
            <a:ext cx="10789920" cy="1188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&amp; Internal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694944" y="3767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ROs   ·   Warranty ELR   ·   Internal ELR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&amp; INTERNAL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RO Count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YTD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54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135,764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YTD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554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126,891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554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−8,873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 %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1554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−6.5%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57200" y="2322576"/>
            <a:ext cx="11274552" cy="3666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245973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RO Count by month, 2025 against 2026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2807208"/>
            <a:ext cx="10817352" cy="10973"/>
          </a:xfrm>
          <a:prstGeom prst="rect">
            <a:avLst/>
          </a:prstGeom>
          <a:solidFill>
            <a:srgbClr val="1A1A1A"/>
          </a:solidFill>
          <a:ln/>
        </p:spPr>
      </p:sp>
      <p:graphicFrame>
        <p:nvGraphicFramePr>
          <p:cNvPr id="17" name="Chart 0" descr=""/>
          <p:cNvGraphicFramePr/>
          <p:nvPr/>
        </p:nvGraphicFramePr>
        <p:xfrm>
          <a:off x="621792" y="3218688"/>
          <a:ext cx="10945368" cy="2679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Chart 1" descr=""/>
          <p:cNvGraphicFramePr/>
          <p:nvPr/>
        </p:nvGraphicFramePr>
        <p:xfrm>
          <a:off x="621792" y="3218688"/>
          <a:ext cx="10945368" cy="2679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9" name="Chart 2" descr=""/>
          <p:cNvGraphicFramePr/>
          <p:nvPr/>
        </p:nvGraphicFramePr>
        <p:xfrm>
          <a:off x="621792" y="3218688"/>
          <a:ext cx="10945368" cy="2679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0" name="Chart 3" descr=""/>
          <p:cNvGraphicFramePr/>
          <p:nvPr/>
        </p:nvGraphicFramePr>
        <p:xfrm>
          <a:off x="621792" y="3218688"/>
          <a:ext cx="10945368" cy="2679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1" name="Chart 4" descr=""/>
          <p:cNvGraphicFramePr/>
          <p:nvPr/>
        </p:nvGraphicFramePr>
        <p:xfrm>
          <a:off x="621792" y="3218688"/>
          <a:ext cx="10945368" cy="2679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22" name="Chart 5" descr=""/>
          <p:cNvGraphicFramePr/>
          <p:nvPr/>
        </p:nvGraphicFramePr>
        <p:xfrm>
          <a:off x="621792" y="3218688"/>
          <a:ext cx="10945368" cy="2679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3" name="Shape 15"/>
          <p:cNvSpPr/>
          <p:nvPr/>
        </p:nvSpPr>
        <p:spPr>
          <a:xfrm>
            <a:off x="4951476" y="3049524"/>
            <a:ext cx="310896" cy="45720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24" name="Shape 16"/>
          <p:cNvSpPr/>
          <p:nvPr/>
        </p:nvSpPr>
        <p:spPr>
          <a:xfrm>
            <a:off x="5052060" y="3017520"/>
            <a:ext cx="109728" cy="109728"/>
          </a:xfrm>
          <a:prstGeom prst="ellipse">
            <a:avLst/>
          </a:prstGeom>
          <a:solidFill>
            <a:srgbClr val="9AA3AD"/>
          </a:solidFill>
          <a:ln/>
        </p:spPr>
      </p:sp>
      <p:sp>
        <p:nvSpPr>
          <p:cNvPr id="25" name="Text 17"/>
          <p:cNvSpPr txBox="1"/>
          <p:nvPr/>
        </p:nvSpPr>
        <p:spPr>
          <a:xfrm>
            <a:off x="5335524" y="29260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6185916" y="3049524"/>
            <a:ext cx="310896" cy="45720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7" name="Shape 19"/>
          <p:cNvSpPr/>
          <p:nvPr/>
        </p:nvSpPr>
        <p:spPr>
          <a:xfrm>
            <a:off x="6286500" y="3017520"/>
            <a:ext cx="109728" cy="109728"/>
          </a:xfrm>
          <a:prstGeom prst="ellipse">
            <a:avLst/>
          </a:prstGeom>
          <a:solidFill>
            <a:srgbClr val="2587C5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6569964" y="29260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FBEBEA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 8,873 to 126,891, behind 2025 in seven of nine months. Warranty volume follows OEM campaigns and recalls as much as store effort.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&amp; INTERNAL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RO Count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RO COUNT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33502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2026 YTD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126,891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84708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" y="184708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80944" y="1911860"/>
            <a:ext cx="1828800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55464" y="1847088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11,211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08698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" y="208698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80944" y="2151755"/>
            <a:ext cx="1722605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55464" y="2086984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10,560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232687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14984" y="232687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80944" y="2391651"/>
            <a:ext cx="1400922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55464" y="2326879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8,588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256677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" y="256677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980944" y="2631546"/>
            <a:ext cx="1286245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55464" y="2566775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7,885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280667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14984" y="280667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80944" y="2871442"/>
            <a:ext cx="1262755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855464" y="2806670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7,741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3046566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14984" y="3046566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980944" y="3111337"/>
            <a:ext cx="1196036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855464" y="3046566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7,332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328646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" y="328646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980944" y="3351233"/>
            <a:ext cx="1030953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855464" y="3286461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6,320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" y="3526357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14984" y="3526357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980944" y="3591128"/>
            <a:ext cx="798989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855464" y="3526357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4,898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58368" y="3766252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14984" y="3766252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980944" y="3831024"/>
            <a:ext cx="772073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855464" y="3766252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4,733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400614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014984" y="400614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980944" y="4070920"/>
            <a:ext cx="625097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855464" y="4006148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3,832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4246043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14984" y="4246043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980944" y="4310815"/>
            <a:ext cx="616778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855464" y="4246043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3,781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448593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1014984" y="448593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980944" y="4550711"/>
            <a:ext cx="596224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855464" y="4485939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3,655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658368" y="472583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1014984" y="472583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2980944" y="4790606"/>
            <a:ext cx="595571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4855464" y="4725834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3,651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658368" y="496573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1014984" y="496573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2980944" y="5030502"/>
            <a:ext cx="552180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4855464" y="4965730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3,385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658368" y="520562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1014984" y="520562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2980944" y="5270397"/>
            <a:ext cx="530647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4855464" y="5205625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3,253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658368" y="544552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1014984" y="544552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2980944" y="5510293"/>
            <a:ext cx="509930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4855464" y="5445521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3,126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658368" y="5685416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1014984" y="5685416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2980944" y="5750188"/>
            <a:ext cx="500632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4855464" y="5685416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3,069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6208776" y="184708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6565392" y="184708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8531352" y="1911860"/>
            <a:ext cx="457078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10405872" y="1847088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2,802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6208776" y="208698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6565392" y="208698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531352" y="2151755"/>
            <a:ext cx="444517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10405872" y="2086984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2,725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6208776" y="232687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6565392" y="232687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8531352" y="2391651"/>
            <a:ext cx="408466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10405872" y="2326879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2,504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6208776" y="256677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92" name="Text 90"/>
          <p:cNvSpPr txBox="1"/>
          <p:nvPr/>
        </p:nvSpPr>
        <p:spPr>
          <a:xfrm>
            <a:off x="6565392" y="256677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8531352" y="2631546"/>
            <a:ext cx="399331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10405872" y="2566775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2,448</a:t>
            </a:r>
            <a:endParaRPr lang="en-US" sz="1200" dirty="0"/>
          </a:p>
        </p:txBody>
      </p:sp>
      <p:sp>
        <p:nvSpPr>
          <p:cNvPr id="95" name="Text 93"/>
          <p:cNvSpPr txBox="1"/>
          <p:nvPr/>
        </p:nvSpPr>
        <p:spPr>
          <a:xfrm>
            <a:off x="6208776" y="280667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96" name="Text 94"/>
          <p:cNvSpPr txBox="1"/>
          <p:nvPr/>
        </p:nvSpPr>
        <p:spPr>
          <a:xfrm>
            <a:off x="6565392" y="280667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8531352" y="2871442"/>
            <a:ext cx="375026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10405872" y="2806670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2,299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6208776" y="3046566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6565392" y="3046566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8531352" y="3111337"/>
            <a:ext cx="369153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10405872" y="3046566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2,263</a:t>
            </a:r>
            <a:endParaRPr lang="en-US" sz="1200" dirty="0"/>
          </a:p>
        </p:txBody>
      </p:sp>
      <p:sp>
        <p:nvSpPr>
          <p:cNvPr id="103" name="Text 101"/>
          <p:cNvSpPr txBox="1"/>
          <p:nvPr/>
        </p:nvSpPr>
        <p:spPr>
          <a:xfrm>
            <a:off x="6208776" y="328646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6565392" y="328646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8531352" y="3351233"/>
            <a:ext cx="328209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10405872" y="3286461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2,012</a:t>
            </a:r>
            <a:endParaRPr lang="en-US" sz="1200" dirty="0"/>
          </a:p>
        </p:txBody>
      </p:sp>
      <p:sp>
        <p:nvSpPr>
          <p:cNvPr id="107" name="Text 105"/>
          <p:cNvSpPr txBox="1"/>
          <p:nvPr/>
        </p:nvSpPr>
        <p:spPr>
          <a:xfrm>
            <a:off x="6208776" y="3526357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08" name="Text 106"/>
          <p:cNvSpPr txBox="1"/>
          <p:nvPr/>
        </p:nvSpPr>
        <p:spPr>
          <a:xfrm>
            <a:off x="6565392" y="3526357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8531352" y="3591128"/>
            <a:ext cx="325762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10405872" y="3526357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1,997</a:t>
            </a:r>
            <a:endParaRPr lang="en-US" sz="1200" dirty="0"/>
          </a:p>
        </p:txBody>
      </p:sp>
      <p:sp>
        <p:nvSpPr>
          <p:cNvPr id="111" name="Text 109"/>
          <p:cNvSpPr txBox="1"/>
          <p:nvPr/>
        </p:nvSpPr>
        <p:spPr>
          <a:xfrm>
            <a:off x="6208776" y="3766252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12" name="Text 110"/>
          <p:cNvSpPr txBox="1"/>
          <p:nvPr/>
        </p:nvSpPr>
        <p:spPr>
          <a:xfrm>
            <a:off x="6565392" y="3766252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8531352" y="3831024"/>
            <a:ext cx="294768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10405872" y="3766252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1,807</a:t>
            </a:r>
            <a:endParaRPr lang="en-US" sz="1200" dirty="0"/>
          </a:p>
        </p:txBody>
      </p:sp>
      <p:sp>
        <p:nvSpPr>
          <p:cNvPr id="115" name="Text 113"/>
          <p:cNvSpPr txBox="1"/>
          <p:nvPr/>
        </p:nvSpPr>
        <p:spPr>
          <a:xfrm>
            <a:off x="6208776" y="400614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16" name="Text 114"/>
          <p:cNvSpPr txBox="1"/>
          <p:nvPr/>
        </p:nvSpPr>
        <p:spPr>
          <a:xfrm>
            <a:off x="6565392" y="400614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8531352" y="4070920"/>
            <a:ext cx="246646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8" name="Text 116"/>
          <p:cNvSpPr txBox="1"/>
          <p:nvPr/>
        </p:nvSpPr>
        <p:spPr>
          <a:xfrm>
            <a:off x="10405872" y="4006148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1,512</a:t>
            </a:r>
            <a:endParaRPr lang="en-US" sz="1200" dirty="0"/>
          </a:p>
        </p:txBody>
      </p:sp>
      <p:sp>
        <p:nvSpPr>
          <p:cNvPr id="119" name="Text 117"/>
          <p:cNvSpPr txBox="1"/>
          <p:nvPr/>
        </p:nvSpPr>
        <p:spPr>
          <a:xfrm>
            <a:off x="6208776" y="4246043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20" name="Text 118"/>
          <p:cNvSpPr txBox="1"/>
          <p:nvPr/>
        </p:nvSpPr>
        <p:spPr>
          <a:xfrm>
            <a:off x="6565392" y="4246043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8531352" y="4310815"/>
            <a:ext cx="235390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10405872" y="4246043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1,443</a:t>
            </a:r>
            <a:endParaRPr lang="en-US" sz="1200" dirty="0"/>
          </a:p>
        </p:txBody>
      </p:sp>
      <p:sp>
        <p:nvSpPr>
          <p:cNvPr id="123" name="Text 121"/>
          <p:cNvSpPr txBox="1"/>
          <p:nvPr/>
        </p:nvSpPr>
        <p:spPr>
          <a:xfrm>
            <a:off x="6208776" y="448593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24" name="Text 122"/>
          <p:cNvSpPr txBox="1"/>
          <p:nvPr/>
        </p:nvSpPr>
        <p:spPr>
          <a:xfrm>
            <a:off x="6565392" y="448593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125" name="Shape 123"/>
          <p:cNvSpPr/>
          <p:nvPr/>
        </p:nvSpPr>
        <p:spPr>
          <a:xfrm>
            <a:off x="8531352" y="4550711"/>
            <a:ext cx="222666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6" name="Text 124"/>
          <p:cNvSpPr txBox="1"/>
          <p:nvPr/>
        </p:nvSpPr>
        <p:spPr>
          <a:xfrm>
            <a:off x="10405872" y="4485939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1,365</a:t>
            </a:r>
            <a:endParaRPr lang="en-US" sz="1200" dirty="0"/>
          </a:p>
        </p:txBody>
      </p:sp>
      <p:sp>
        <p:nvSpPr>
          <p:cNvPr id="127" name="Text 125"/>
          <p:cNvSpPr txBox="1"/>
          <p:nvPr/>
        </p:nvSpPr>
        <p:spPr>
          <a:xfrm>
            <a:off x="6208776" y="472583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28" name="Text 126"/>
          <p:cNvSpPr txBox="1"/>
          <p:nvPr/>
        </p:nvSpPr>
        <p:spPr>
          <a:xfrm>
            <a:off x="6565392" y="472583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129" name="Shape 127"/>
          <p:cNvSpPr/>
          <p:nvPr/>
        </p:nvSpPr>
        <p:spPr>
          <a:xfrm>
            <a:off x="8531352" y="4790606"/>
            <a:ext cx="212389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0" name="Text 128"/>
          <p:cNvSpPr txBox="1"/>
          <p:nvPr/>
        </p:nvSpPr>
        <p:spPr>
          <a:xfrm>
            <a:off x="10405872" y="4725834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1,302</a:t>
            </a:r>
            <a:endParaRPr lang="en-US" sz="1200" dirty="0"/>
          </a:p>
        </p:txBody>
      </p:sp>
      <p:sp>
        <p:nvSpPr>
          <p:cNvPr id="131" name="Text 129"/>
          <p:cNvSpPr txBox="1"/>
          <p:nvPr/>
        </p:nvSpPr>
        <p:spPr>
          <a:xfrm>
            <a:off x="6208776" y="496573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32" name="Text 130"/>
          <p:cNvSpPr txBox="1"/>
          <p:nvPr/>
        </p:nvSpPr>
        <p:spPr>
          <a:xfrm>
            <a:off x="6565392" y="496573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8531352" y="5030502"/>
            <a:ext cx="201460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4" name="Text 132"/>
          <p:cNvSpPr txBox="1"/>
          <p:nvPr/>
        </p:nvSpPr>
        <p:spPr>
          <a:xfrm>
            <a:off x="10405872" y="4965730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1,235</a:t>
            </a:r>
            <a:endParaRPr lang="en-US" sz="1200" dirty="0"/>
          </a:p>
        </p:txBody>
      </p:sp>
      <p:sp>
        <p:nvSpPr>
          <p:cNvPr id="135" name="Text 133"/>
          <p:cNvSpPr txBox="1"/>
          <p:nvPr/>
        </p:nvSpPr>
        <p:spPr>
          <a:xfrm>
            <a:off x="6208776" y="520562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136" name="Text 134"/>
          <p:cNvSpPr txBox="1"/>
          <p:nvPr/>
        </p:nvSpPr>
        <p:spPr>
          <a:xfrm>
            <a:off x="6565392" y="520562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37" name="Shape 135"/>
          <p:cNvSpPr/>
          <p:nvPr/>
        </p:nvSpPr>
        <p:spPr>
          <a:xfrm>
            <a:off x="8531352" y="5270397"/>
            <a:ext cx="185147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8" name="Text 136"/>
          <p:cNvSpPr txBox="1"/>
          <p:nvPr/>
        </p:nvSpPr>
        <p:spPr>
          <a:xfrm>
            <a:off x="10405872" y="5205625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1,135</a:t>
            </a:r>
            <a:endParaRPr lang="en-US" sz="1200" dirty="0"/>
          </a:p>
        </p:txBody>
      </p:sp>
      <p:sp>
        <p:nvSpPr>
          <p:cNvPr id="139" name="Text 137"/>
          <p:cNvSpPr txBox="1"/>
          <p:nvPr/>
        </p:nvSpPr>
        <p:spPr>
          <a:xfrm>
            <a:off x="6208776" y="544552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140" name="Text 138"/>
          <p:cNvSpPr txBox="1"/>
          <p:nvPr/>
        </p:nvSpPr>
        <p:spPr>
          <a:xfrm>
            <a:off x="6565392" y="544552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141" name="Shape 139"/>
          <p:cNvSpPr/>
          <p:nvPr/>
        </p:nvSpPr>
        <p:spPr>
          <a:xfrm>
            <a:off x="8531352" y="5510293"/>
            <a:ext cx="166714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2" name="Text 140"/>
          <p:cNvSpPr txBox="1"/>
          <p:nvPr/>
        </p:nvSpPr>
        <p:spPr>
          <a:xfrm>
            <a:off x="10405872" y="5445521"/>
            <a:ext cx="109728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1,022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6085332" y="1847088"/>
            <a:ext cx="10973" cy="407822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44" name="Shape 142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45" name="Text 143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 leads at 11,211; LR Reno is smallest at 1,022.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&amp; INTERNAL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RO Count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RO COUNT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33502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9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YEAR-OVER-YEAR CHANGE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−6.5%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84708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" y="184708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85616" y="1911860"/>
            <a:ext cx="777240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17720" y="1847088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+47.9%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08698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" y="208698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85616" y="2151755"/>
            <a:ext cx="776748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17720" y="2086984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+47.8%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232687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14984" y="232687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85616" y="2391651"/>
            <a:ext cx="767456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17720" y="2326879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+47.3%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256677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" y="256677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85616" y="2631546"/>
            <a:ext cx="583236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17720" y="2566775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+35.9%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280667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14984" y="280667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785616" y="2871442"/>
            <a:ext cx="530854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617720" y="2806670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+32.7%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3046566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14984" y="3046566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785616" y="3111337"/>
            <a:ext cx="485650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617720" y="3046566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+29.9%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328646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" y="328646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785616" y="3351233"/>
            <a:ext cx="368446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617720" y="3286461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+22.7%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" y="3526357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14984" y="3526357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785616" y="3591128"/>
            <a:ext cx="332044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617720" y="3526357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+20.4%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58368" y="3766252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14984" y="3766252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785616" y="3831024"/>
            <a:ext cx="194010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617720" y="3766252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+11.9%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400614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014984" y="400614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785616" y="4070920"/>
            <a:ext cx="188933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617720" y="4006148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+11.6%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4246043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14984" y="4246043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785616" y="4310815"/>
            <a:ext cx="164792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617720" y="4246043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+10.1%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448593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1014984" y="448593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785616" y="4550711"/>
            <a:ext cx="144852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617720" y="4485939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+8.9%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658368" y="472583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1014984" y="472583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785616" y="4790606"/>
            <a:ext cx="120626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4617720" y="4725834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+7.4%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658368" y="496573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1014984" y="496573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3785616" y="5030502"/>
            <a:ext cx="110915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4617720" y="4965730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+6.8%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658368" y="520562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1014984" y="520562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785616" y="5270397"/>
            <a:ext cx="65894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4617720" y="5205625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+4.1%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658368" y="544552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1014984" y="544552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3785616" y="5510293"/>
            <a:ext cx="54286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4617720" y="5445521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+3.3%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658368" y="5685416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1014984" y="5685416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3785616" y="5750188"/>
            <a:ext cx="21762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4617720" y="5685416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+1.3%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6208776" y="184708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6565392" y="184708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9267349" y="1911860"/>
            <a:ext cx="68675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10168128" y="1847088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−4.2%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6208776" y="208698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6565392" y="208698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9226847" y="2151755"/>
            <a:ext cx="109177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10168128" y="2086984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−6.7%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6208776" y="232687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6565392" y="232687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9209036" y="2391651"/>
            <a:ext cx="126988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10168128" y="2326879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−7.8%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6208776" y="256677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92" name="Text 90"/>
          <p:cNvSpPr txBox="1"/>
          <p:nvPr/>
        </p:nvSpPr>
        <p:spPr>
          <a:xfrm>
            <a:off x="6565392" y="256677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9157295" y="2631546"/>
            <a:ext cx="178729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10168128" y="2566775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−11.0%</a:t>
            </a:r>
            <a:endParaRPr lang="en-US" sz="1200" dirty="0"/>
          </a:p>
        </p:txBody>
      </p:sp>
      <p:sp>
        <p:nvSpPr>
          <p:cNvPr id="95" name="Text 93"/>
          <p:cNvSpPr txBox="1"/>
          <p:nvPr/>
        </p:nvSpPr>
        <p:spPr>
          <a:xfrm>
            <a:off x="6208776" y="280667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96" name="Text 94"/>
          <p:cNvSpPr txBox="1"/>
          <p:nvPr/>
        </p:nvSpPr>
        <p:spPr>
          <a:xfrm>
            <a:off x="6565392" y="280667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9151411" y="2871442"/>
            <a:ext cx="184613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10168128" y="2806670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−11.4%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6208776" y="3046566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6565392" y="3046566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9132099" y="3111337"/>
            <a:ext cx="203925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10168128" y="3046566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−12.6%</a:t>
            </a:r>
            <a:endParaRPr lang="en-US" sz="1200" dirty="0"/>
          </a:p>
        </p:txBody>
      </p:sp>
      <p:sp>
        <p:nvSpPr>
          <p:cNvPr id="103" name="Text 101"/>
          <p:cNvSpPr txBox="1"/>
          <p:nvPr/>
        </p:nvSpPr>
        <p:spPr>
          <a:xfrm>
            <a:off x="6208776" y="328646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6565392" y="328646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9091020" y="3351233"/>
            <a:ext cx="245004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10168128" y="3286461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−15.1%</a:t>
            </a:r>
            <a:endParaRPr lang="en-US" sz="1200" dirty="0"/>
          </a:p>
        </p:txBody>
      </p:sp>
      <p:sp>
        <p:nvSpPr>
          <p:cNvPr id="107" name="Text 105"/>
          <p:cNvSpPr txBox="1"/>
          <p:nvPr/>
        </p:nvSpPr>
        <p:spPr>
          <a:xfrm>
            <a:off x="6208776" y="3526357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08" name="Text 106"/>
          <p:cNvSpPr txBox="1"/>
          <p:nvPr/>
        </p:nvSpPr>
        <p:spPr>
          <a:xfrm>
            <a:off x="6565392" y="3526357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9014543" y="3591128"/>
            <a:ext cx="321481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10168128" y="3526357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−19.8%</a:t>
            </a:r>
            <a:endParaRPr lang="en-US" sz="1200" dirty="0"/>
          </a:p>
        </p:txBody>
      </p:sp>
      <p:sp>
        <p:nvSpPr>
          <p:cNvPr id="111" name="Text 109"/>
          <p:cNvSpPr txBox="1"/>
          <p:nvPr/>
        </p:nvSpPr>
        <p:spPr>
          <a:xfrm>
            <a:off x="6208776" y="3766252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12" name="Text 110"/>
          <p:cNvSpPr txBox="1"/>
          <p:nvPr/>
        </p:nvSpPr>
        <p:spPr>
          <a:xfrm>
            <a:off x="6565392" y="3766252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9006870" y="3831024"/>
            <a:ext cx="329154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10168128" y="3766252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−20.3%</a:t>
            </a:r>
            <a:endParaRPr lang="en-US" sz="1200" dirty="0"/>
          </a:p>
        </p:txBody>
      </p:sp>
      <p:sp>
        <p:nvSpPr>
          <p:cNvPr id="115" name="Text 113"/>
          <p:cNvSpPr txBox="1"/>
          <p:nvPr/>
        </p:nvSpPr>
        <p:spPr>
          <a:xfrm>
            <a:off x="6208776" y="400614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16" name="Text 114"/>
          <p:cNvSpPr txBox="1"/>
          <p:nvPr/>
        </p:nvSpPr>
        <p:spPr>
          <a:xfrm>
            <a:off x="6565392" y="400614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8967454" y="4070920"/>
            <a:ext cx="368570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8" name="Text 116"/>
          <p:cNvSpPr txBox="1"/>
          <p:nvPr/>
        </p:nvSpPr>
        <p:spPr>
          <a:xfrm>
            <a:off x="10168128" y="4006148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−22.7%</a:t>
            </a:r>
            <a:endParaRPr lang="en-US" sz="1200" dirty="0"/>
          </a:p>
        </p:txBody>
      </p:sp>
      <p:sp>
        <p:nvSpPr>
          <p:cNvPr id="119" name="Text 117"/>
          <p:cNvSpPr txBox="1"/>
          <p:nvPr/>
        </p:nvSpPr>
        <p:spPr>
          <a:xfrm>
            <a:off x="6208776" y="4246043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20" name="Text 118"/>
          <p:cNvSpPr txBox="1"/>
          <p:nvPr/>
        </p:nvSpPr>
        <p:spPr>
          <a:xfrm>
            <a:off x="6565392" y="4246043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8892133" y="4310815"/>
            <a:ext cx="443891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10168128" y="4246043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−27.3%</a:t>
            </a:r>
            <a:endParaRPr lang="en-US" sz="1200" dirty="0"/>
          </a:p>
        </p:txBody>
      </p:sp>
      <p:sp>
        <p:nvSpPr>
          <p:cNvPr id="123" name="Text 121"/>
          <p:cNvSpPr txBox="1"/>
          <p:nvPr/>
        </p:nvSpPr>
        <p:spPr>
          <a:xfrm>
            <a:off x="6208776" y="448593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24" name="Text 122"/>
          <p:cNvSpPr txBox="1"/>
          <p:nvPr/>
        </p:nvSpPr>
        <p:spPr>
          <a:xfrm>
            <a:off x="6565392" y="448593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125" name="Shape 123"/>
          <p:cNvSpPr/>
          <p:nvPr/>
        </p:nvSpPr>
        <p:spPr>
          <a:xfrm>
            <a:off x="8853570" y="4550711"/>
            <a:ext cx="482454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6" name="Text 124"/>
          <p:cNvSpPr txBox="1"/>
          <p:nvPr/>
        </p:nvSpPr>
        <p:spPr>
          <a:xfrm>
            <a:off x="10168128" y="4485939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−29.7%</a:t>
            </a:r>
            <a:endParaRPr lang="en-US" sz="1200" dirty="0"/>
          </a:p>
        </p:txBody>
      </p:sp>
      <p:sp>
        <p:nvSpPr>
          <p:cNvPr id="127" name="Text 125"/>
          <p:cNvSpPr txBox="1"/>
          <p:nvPr/>
        </p:nvSpPr>
        <p:spPr>
          <a:xfrm>
            <a:off x="6208776" y="472583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28" name="Text 126"/>
          <p:cNvSpPr txBox="1"/>
          <p:nvPr/>
        </p:nvSpPr>
        <p:spPr>
          <a:xfrm>
            <a:off x="6565392" y="472583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129" name="Shape 127"/>
          <p:cNvSpPr/>
          <p:nvPr/>
        </p:nvSpPr>
        <p:spPr>
          <a:xfrm>
            <a:off x="8762298" y="4790606"/>
            <a:ext cx="573726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0" name="Text 128"/>
          <p:cNvSpPr txBox="1"/>
          <p:nvPr/>
        </p:nvSpPr>
        <p:spPr>
          <a:xfrm>
            <a:off x="10168128" y="4725834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−35.3%</a:t>
            </a:r>
            <a:endParaRPr lang="en-US" sz="1200" dirty="0"/>
          </a:p>
        </p:txBody>
      </p:sp>
      <p:sp>
        <p:nvSpPr>
          <p:cNvPr id="131" name="Text 129"/>
          <p:cNvSpPr txBox="1"/>
          <p:nvPr/>
        </p:nvSpPr>
        <p:spPr>
          <a:xfrm>
            <a:off x="6208776" y="496573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32" name="Text 130"/>
          <p:cNvSpPr txBox="1"/>
          <p:nvPr/>
        </p:nvSpPr>
        <p:spPr>
          <a:xfrm>
            <a:off x="6565392" y="496573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8694064" y="5030502"/>
            <a:ext cx="641960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4" name="Text 132"/>
          <p:cNvSpPr txBox="1"/>
          <p:nvPr/>
        </p:nvSpPr>
        <p:spPr>
          <a:xfrm>
            <a:off x="10168128" y="4965730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−39.5%</a:t>
            </a:r>
            <a:endParaRPr lang="en-US" sz="1200" dirty="0"/>
          </a:p>
        </p:txBody>
      </p:sp>
      <p:sp>
        <p:nvSpPr>
          <p:cNvPr id="135" name="Text 133"/>
          <p:cNvSpPr txBox="1"/>
          <p:nvPr/>
        </p:nvSpPr>
        <p:spPr>
          <a:xfrm>
            <a:off x="6208776" y="520562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136" name="Text 134"/>
          <p:cNvSpPr txBox="1"/>
          <p:nvPr/>
        </p:nvSpPr>
        <p:spPr>
          <a:xfrm>
            <a:off x="6565392" y="520562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137" name="Shape 135"/>
          <p:cNvSpPr/>
          <p:nvPr/>
        </p:nvSpPr>
        <p:spPr>
          <a:xfrm>
            <a:off x="8626252" y="5270397"/>
            <a:ext cx="709772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8" name="Text 136"/>
          <p:cNvSpPr txBox="1"/>
          <p:nvPr/>
        </p:nvSpPr>
        <p:spPr>
          <a:xfrm>
            <a:off x="10168128" y="5205625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−43.7%</a:t>
            </a:r>
            <a:endParaRPr lang="en-US" sz="1200" dirty="0"/>
          </a:p>
        </p:txBody>
      </p:sp>
      <p:sp>
        <p:nvSpPr>
          <p:cNvPr id="139" name="Text 137"/>
          <p:cNvSpPr txBox="1"/>
          <p:nvPr/>
        </p:nvSpPr>
        <p:spPr>
          <a:xfrm>
            <a:off x="6208776" y="544552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140" name="Text 138"/>
          <p:cNvSpPr txBox="1"/>
          <p:nvPr/>
        </p:nvSpPr>
        <p:spPr>
          <a:xfrm>
            <a:off x="6565392" y="544552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141" name="Shape 139"/>
          <p:cNvSpPr/>
          <p:nvPr/>
        </p:nvSpPr>
        <p:spPr>
          <a:xfrm>
            <a:off x="8583100" y="5510293"/>
            <a:ext cx="752924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2" name="Text 140"/>
          <p:cNvSpPr txBox="1"/>
          <p:nvPr/>
        </p:nvSpPr>
        <p:spPr>
          <a:xfrm>
            <a:off x="10168128" y="5445521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−46.4%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3780130" y="1847088"/>
            <a:ext cx="10973" cy="4078224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44" name="Shape 142"/>
          <p:cNvSpPr/>
          <p:nvPr/>
        </p:nvSpPr>
        <p:spPr>
          <a:xfrm>
            <a:off x="9330538" y="1847088"/>
            <a:ext cx="10973" cy="4078224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45" name="Shape 143"/>
          <p:cNvSpPr/>
          <p:nvPr/>
        </p:nvSpPr>
        <p:spPr>
          <a:xfrm>
            <a:off x="6085332" y="1847088"/>
            <a:ext cx="10973" cy="407822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46" name="Shape 144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FBEBEA"/>
          </a:solidFill>
          <a:ln/>
        </p:spPr>
      </p:sp>
      <p:sp>
        <p:nvSpPr>
          <p:cNvPr id="147" name="Text 145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of 33 stores grew warranty RO count, led by Hyundai Prescott at +47.9% to 2,802. 16 declined; Acura fell most at −46.4%.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&amp; INTERNAL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ELR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YTD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54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$180.25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YTD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554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$197.17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554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+$16.93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 %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1554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+9.4%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57200" y="2322576"/>
            <a:ext cx="11274552" cy="3666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245973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ELR by month, 2025 against 2026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2807208"/>
            <a:ext cx="10817352" cy="10973"/>
          </a:xfrm>
          <a:prstGeom prst="rect">
            <a:avLst/>
          </a:prstGeom>
          <a:solidFill>
            <a:srgbClr val="1A1A1A"/>
          </a:solidFill>
          <a:ln/>
        </p:spPr>
      </p:sp>
      <p:graphicFrame>
        <p:nvGraphicFramePr>
          <p:cNvPr id="17" name="Chart 0" descr=""/>
          <p:cNvGraphicFramePr/>
          <p:nvPr/>
        </p:nvGraphicFramePr>
        <p:xfrm>
          <a:off x="621792" y="3218688"/>
          <a:ext cx="10945368" cy="2679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Chart 1" descr=""/>
          <p:cNvGraphicFramePr/>
          <p:nvPr/>
        </p:nvGraphicFramePr>
        <p:xfrm>
          <a:off x="621792" y="3218688"/>
          <a:ext cx="10945368" cy="2679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9" name="Chart 2" descr=""/>
          <p:cNvGraphicFramePr/>
          <p:nvPr/>
        </p:nvGraphicFramePr>
        <p:xfrm>
          <a:off x="621792" y="3218688"/>
          <a:ext cx="10945368" cy="2679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0" name="Chart 3" descr=""/>
          <p:cNvGraphicFramePr/>
          <p:nvPr/>
        </p:nvGraphicFramePr>
        <p:xfrm>
          <a:off x="621792" y="3218688"/>
          <a:ext cx="10945368" cy="2679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Shape 15"/>
          <p:cNvSpPr/>
          <p:nvPr/>
        </p:nvSpPr>
        <p:spPr>
          <a:xfrm>
            <a:off x="4951476" y="3049524"/>
            <a:ext cx="310896" cy="45720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22" name="Shape 16"/>
          <p:cNvSpPr/>
          <p:nvPr/>
        </p:nvSpPr>
        <p:spPr>
          <a:xfrm>
            <a:off x="5052060" y="3017520"/>
            <a:ext cx="109728" cy="109728"/>
          </a:xfrm>
          <a:prstGeom prst="ellipse">
            <a:avLst/>
          </a:prstGeom>
          <a:solidFill>
            <a:srgbClr val="9AA3AD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5335524" y="29260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185916" y="3049524"/>
            <a:ext cx="310896" cy="45720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5" name="Shape 19"/>
          <p:cNvSpPr/>
          <p:nvPr/>
        </p:nvSpPr>
        <p:spPr>
          <a:xfrm>
            <a:off x="6286500" y="3017520"/>
            <a:ext cx="109728" cy="109728"/>
          </a:xfrm>
          <a:prstGeom prst="ellipse">
            <a:avLst/>
          </a:prstGeom>
          <a:solidFill>
            <a:srgbClr val="2587C5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6569964" y="29260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$16.93 to $197.17, ahead of 2025 in all nine months.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&amp; INTERNAL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ELR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ELR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33502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2026 YTD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$197.17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84708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" y="184708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08376" y="1907062"/>
            <a:ext cx="1691640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54880" y="1847088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$308.88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08698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" y="208698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08376" y="2146957"/>
            <a:ext cx="1505642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54880" y="2086984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$274.91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232687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14984" y="232687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08376" y="2386853"/>
            <a:ext cx="1441456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54880" y="2326879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$263.19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256677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" y="256677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08376" y="2626748"/>
            <a:ext cx="1284359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54880" y="2566775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$234.51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280667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14984" y="280667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008376" y="2866644"/>
            <a:ext cx="1250858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754880" y="2806670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$228.39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3046566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14984" y="3046566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008376" y="3106540"/>
            <a:ext cx="1187628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754880" y="3046566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$216.85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328646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" y="328646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008376" y="3346435"/>
            <a:ext cx="1163222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754880" y="3286461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$212.39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" y="3526357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14984" y="3526357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008376" y="3586331"/>
            <a:ext cx="1148321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754880" y="3526357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$209.67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58368" y="3766252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14984" y="3766252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008376" y="3826226"/>
            <a:ext cx="1147249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754880" y="3766252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$209.48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400614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014984" y="400614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008376" y="4066122"/>
            <a:ext cx="1133466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754880" y="4006148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$206.96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4246043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14984" y="4246043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008376" y="4306017"/>
            <a:ext cx="1133414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754880" y="4246043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$206.95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448593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1014984" y="448593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008376" y="4545913"/>
            <a:ext cx="1082147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754880" y="4485939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$197.59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658368" y="472583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1014984" y="472583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008376" y="4785808"/>
            <a:ext cx="1070003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4754880" y="4725834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$195.37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658368" y="496573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1014984" y="496573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3008376" y="5025704"/>
            <a:ext cx="1068869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4754880" y="4965730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$195.16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658368" y="520562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1014984" y="520562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008376" y="5265599"/>
            <a:ext cx="1018700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4754880" y="5205625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$186.00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658368" y="544552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1014984" y="544552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3008376" y="5505495"/>
            <a:ext cx="1002048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4754880" y="5445521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$182.96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658368" y="5685416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1014984" y="5685416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3008376" y="5745390"/>
            <a:ext cx="989419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4754880" y="5685416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$180.66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6208776" y="184708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6565392" y="184708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8558784" y="1907062"/>
            <a:ext cx="988968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10305288" y="1847088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$180.57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6208776" y="208698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6565392" y="208698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558784" y="2146957"/>
            <a:ext cx="972705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10305288" y="2086984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$177.61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6208776" y="232687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6565392" y="232687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8558784" y="2386853"/>
            <a:ext cx="967216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10305288" y="2326879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$176.60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6208776" y="256677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92" name="Text 90"/>
          <p:cNvSpPr txBox="1"/>
          <p:nvPr/>
        </p:nvSpPr>
        <p:spPr>
          <a:xfrm>
            <a:off x="6565392" y="256677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8558784" y="2626748"/>
            <a:ext cx="950479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10305288" y="2566775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$173.55</a:t>
            </a:r>
            <a:endParaRPr lang="en-US" sz="1200" dirty="0"/>
          </a:p>
        </p:txBody>
      </p:sp>
      <p:sp>
        <p:nvSpPr>
          <p:cNvPr id="95" name="Text 93"/>
          <p:cNvSpPr txBox="1"/>
          <p:nvPr/>
        </p:nvSpPr>
        <p:spPr>
          <a:xfrm>
            <a:off x="6208776" y="280667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96" name="Text 94"/>
          <p:cNvSpPr txBox="1"/>
          <p:nvPr/>
        </p:nvSpPr>
        <p:spPr>
          <a:xfrm>
            <a:off x="6565392" y="280667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8558784" y="2866644"/>
            <a:ext cx="938985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10305288" y="2806670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$171.45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6208776" y="3046566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6565392" y="3046566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8558784" y="3106540"/>
            <a:ext cx="937921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10305288" y="3046566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$171.25</a:t>
            </a:r>
            <a:endParaRPr lang="en-US" sz="1200" dirty="0"/>
          </a:p>
        </p:txBody>
      </p:sp>
      <p:sp>
        <p:nvSpPr>
          <p:cNvPr id="103" name="Text 101"/>
          <p:cNvSpPr txBox="1"/>
          <p:nvPr/>
        </p:nvSpPr>
        <p:spPr>
          <a:xfrm>
            <a:off x="6208776" y="328646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6565392" y="328646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8558784" y="3346435"/>
            <a:ext cx="936379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10305288" y="3286461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$170.97</a:t>
            </a:r>
            <a:endParaRPr lang="en-US" sz="1200" dirty="0"/>
          </a:p>
        </p:txBody>
      </p:sp>
      <p:sp>
        <p:nvSpPr>
          <p:cNvPr id="107" name="Text 105"/>
          <p:cNvSpPr txBox="1"/>
          <p:nvPr/>
        </p:nvSpPr>
        <p:spPr>
          <a:xfrm>
            <a:off x="6208776" y="3526357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08" name="Text 106"/>
          <p:cNvSpPr txBox="1"/>
          <p:nvPr/>
        </p:nvSpPr>
        <p:spPr>
          <a:xfrm>
            <a:off x="6565392" y="3526357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8558784" y="3586331"/>
            <a:ext cx="934636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10305288" y="3526357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$170.65</a:t>
            </a:r>
            <a:endParaRPr lang="en-US" sz="1200" dirty="0"/>
          </a:p>
        </p:txBody>
      </p:sp>
      <p:sp>
        <p:nvSpPr>
          <p:cNvPr id="111" name="Text 109"/>
          <p:cNvSpPr txBox="1"/>
          <p:nvPr/>
        </p:nvSpPr>
        <p:spPr>
          <a:xfrm>
            <a:off x="6208776" y="3766252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12" name="Text 110"/>
          <p:cNvSpPr txBox="1"/>
          <p:nvPr/>
        </p:nvSpPr>
        <p:spPr>
          <a:xfrm>
            <a:off x="6565392" y="3766252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8558784" y="3826226"/>
            <a:ext cx="899074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10305288" y="3766252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$164.16</a:t>
            </a:r>
            <a:endParaRPr lang="en-US" sz="1200" dirty="0"/>
          </a:p>
        </p:txBody>
      </p:sp>
      <p:sp>
        <p:nvSpPr>
          <p:cNvPr id="115" name="Text 113"/>
          <p:cNvSpPr txBox="1"/>
          <p:nvPr/>
        </p:nvSpPr>
        <p:spPr>
          <a:xfrm>
            <a:off x="6208776" y="400614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16" name="Text 114"/>
          <p:cNvSpPr txBox="1"/>
          <p:nvPr/>
        </p:nvSpPr>
        <p:spPr>
          <a:xfrm>
            <a:off x="6565392" y="400614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8558784" y="4066122"/>
            <a:ext cx="878217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8" name="Text 116"/>
          <p:cNvSpPr txBox="1"/>
          <p:nvPr/>
        </p:nvSpPr>
        <p:spPr>
          <a:xfrm>
            <a:off x="10305288" y="4006148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$160.35</a:t>
            </a:r>
            <a:endParaRPr lang="en-US" sz="1200" dirty="0"/>
          </a:p>
        </p:txBody>
      </p:sp>
      <p:sp>
        <p:nvSpPr>
          <p:cNvPr id="119" name="Text 117"/>
          <p:cNvSpPr txBox="1"/>
          <p:nvPr/>
        </p:nvSpPr>
        <p:spPr>
          <a:xfrm>
            <a:off x="6208776" y="4246043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20" name="Text 118"/>
          <p:cNvSpPr txBox="1"/>
          <p:nvPr/>
        </p:nvSpPr>
        <p:spPr>
          <a:xfrm>
            <a:off x="6565392" y="4246043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8558784" y="4306017"/>
            <a:ext cx="864282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10305288" y="4246043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$157.81</a:t>
            </a:r>
            <a:endParaRPr lang="en-US" sz="1200" dirty="0"/>
          </a:p>
        </p:txBody>
      </p:sp>
      <p:sp>
        <p:nvSpPr>
          <p:cNvPr id="123" name="Text 121"/>
          <p:cNvSpPr txBox="1"/>
          <p:nvPr/>
        </p:nvSpPr>
        <p:spPr>
          <a:xfrm>
            <a:off x="6208776" y="448593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24" name="Text 122"/>
          <p:cNvSpPr txBox="1"/>
          <p:nvPr/>
        </p:nvSpPr>
        <p:spPr>
          <a:xfrm>
            <a:off x="6565392" y="448593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25" name="Shape 123"/>
          <p:cNvSpPr/>
          <p:nvPr/>
        </p:nvSpPr>
        <p:spPr>
          <a:xfrm>
            <a:off x="8558784" y="4545913"/>
            <a:ext cx="853702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6" name="Text 124"/>
          <p:cNvSpPr txBox="1"/>
          <p:nvPr/>
        </p:nvSpPr>
        <p:spPr>
          <a:xfrm>
            <a:off x="10305288" y="4485939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$155.88</a:t>
            </a:r>
            <a:endParaRPr lang="en-US" sz="1200" dirty="0"/>
          </a:p>
        </p:txBody>
      </p:sp>
      <p:sp>
        <p:nvSpPr>
          <p:cNvPr id="127" name="Text 125"/>
          <p:cNvSpPr txBox="1"/>
          <p:nvPr/>
        </p:nvSpPr>
        <p:spPr>
          <a:xfrm>
            <a:off x="6208776" y="472583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28" name="Text 126"/>
          <p:cNvSpPr txBox="1"/>
          <p:nvPr/>
        </p:nvSpPr>
        <p:spPr>
          <a:xfrm>
            <a:off x="6565392" y="472583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129" name="Shape 127"/>
          <p:cNvSpPr/>
          <p:nvPr/>
        </p:nvSpPr>
        <p:spPr>
          <a:xfrm>
            <a:off x="8558784" y="4785808"/>
            <a:ext cx="830028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0" name="Text 128"/>
          <p:cNvSpPr txBox="1"/>
          <p:nvPr/>
        </p:nvSpPr>
        <p:spPr>
          <a:xfrm>
            <a:off x="10305288" y="4725834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$151.55</a:t>
            </a:r>
            <a:endParaRPr lang="en-US" sz="1200" dirty="0"/>
          </a:p>
        </p:txBody>
      </p:sp>
      <p:sp>
        <p:nvSpPr>
          <p:cNvPr id="131" name="Text 129"/>
          <p:cNvSpPr txBox="1"/>
          <p:nvPr/>
        </p:nvSpPr>
        <p:spPr>
          <a:xfrm>
            <a:off x="6208776" y="496573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32" name="Text 130"/>
          <p:cNvSpPr txBox="1"/>
          <p:nvPr/>
        </p:nvSpPr>
        <p:spPr>
          <a:xfrm>
            <a:off x="6565392" y="496573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8558784" y="5025704"/>
            <a:ext cx="781476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4" name="Text 132"/>
          <p:cNvSpPr txBox="1"/>
          <p:nvPr/>
        </p:nvSpPr>
        <p:spPr>
          <a:xfrm>
            <a:off x="10305288" y="4965730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$142.69</a:t>
            </a:r>
            <a:endParaRPr lang="en-US" sz="1200" dirty="0"/>
          </a:p>
        </p:txBody>
      </p:sp>
      <p:sp>
        <p:nvSpPr>
          <p:cNvPr id="135" name="Text 133"/>
          <p:cNvSpPr txBox="1"/>
          <p:nvPr/>
        </p:nvSpPr>
        <p:spPr>
          <a:xfrm>
            <a:off x="6208776" y="520562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136" name="Text 134"/>
          <p:cNvSpPr txBox="1"/>
          <p:nvPr/>
        </p:nvSpPr>
        <p:spPr>
          <a:xfrm>
            <a:off x="6565392" y="520562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137" name="Shape 135"/>
          <p:cNvSpPr/>
          <p:nvPr/>
        </p:nvSpPr>
        <p:spPr>
          <a:xfrm>
            <a:off x="8558784" y="5265599"/>
            <a:ext cx="714628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8" name="Text 136"/>
          <p:cNvSpPr txBox="1"/>
          <p:nvPr/>
        </p:nvSpPr>
        <p:spPr>
          <a:xfrm>
            <a:off x="10305288" y="5205625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$130.48</a:t>
            </a:r>
            <a:endParaRPr lang="en-US" sz="1200" dirty="0"/>
          </a:p>
        </p:txBody>
      </p:sp>
      <p:sp>
        <p:nvSpPr>
          <p:cNvPr id="139" name="Text 137"/>
          <p:cNvSpPr txBox="1"/>
          <p:nvPr/>
        </p:nvSpPr>
        <p:spPr>
          <a:xfrm>
            <a:off x="6208776" y="544552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140" name="Text 138"/>
          <p:cNvSpPr txBox="1"/>
          <p:nvPr/>
        </p:nvSpPr>
        <p:spPr>
          <a:xfrm>
            <a:off x="6565392" y="544552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141" name="Shape 139"/>
          <p:cNvSpPr/>
          <p:nvPr/>
        </p:nvSpPr>
        <p:spPr>
          <a:xfrm>
            <a:off x="8558784" y="5505495"/>
            <a:ext cx="665401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2" name="Text 140"/>
          <p:cNvSpPr txBox="1"/>
          <p:nvPr/>
        </p:nvSpPr>
        <p:spPr>
          <a:xfrm>
            <a:off x="10305288" y="5445521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$121.50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4080932" y="1847088"/>
            <a:ext cx="14630" cy="40782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44" name="Shape 142"/>
          <p:cNvSpPr/>
          <p:nvPr/>
        </p:nvSpPr>
        <p:spPr>
          <a:xfrm>
            <a:off x="9631340" y="1847088"/>
            <a:ext cx="14630" cy="40782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45" name="Shape 143"/>
          <p:cNvSpPr/>
          <p:nvPr/>
        </p:nvSpPr>
        <p:spPr>
          <a:xfrm>
            <a:off x="6085332" y="1847088"/>
            <a:ext cx="10973" cy="407822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46" name="Shape 144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47" name="Text 145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of 33 stores at or above the $197.17 group, led by Audi Henderson at $308.88. Subaru Prescott is lowest at $121.50.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&amp; INTERNAL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ELR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ELR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33502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9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YEAR-OVER-YEAR CHANGE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+$16.93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84708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" y="184708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85616" y="1911860"/>
            <a:ext cx="777240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17720" y="1847088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+$57.74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08698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" y="208698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85616" y="2151755"/>
            <a:ext cx="536453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17720" y="2086984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+$39.85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232687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14984" y="232687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85616" y="2391651"/>
            <a:ext cx="368406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17720" y="2326879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+$27.37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256677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" y="256677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85616" y="2631546"/>
            <a:ext cx="355137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17720" y="2566775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+$26.38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280667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14984" y="280667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785616" y="2871442"/>
            <a:ext cx="276603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617720" y="2806670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+$20.55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3046566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14984" y="3046566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785616" y="3111337"/>
            <a:ext cx="258528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617720" y="3046566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+$19.21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328646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" y="328646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785616" y="3351233"/>
            <a:ext cx="257839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617720" y="3286461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+$19.15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" y="3526357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14984" y="3526357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785616" y="3591128"/>
            <a:ext cx="228187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617720" y="3526357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+$16.95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58368" y="3766252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14984" y="3766252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785616" y="3831024"/>
            <a:ext cx="225720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617720" y="3766252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+$16.77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400614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014984" y="400614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785616" y="4070920"/>
            <a:ext cx="225689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617720" y="4006148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+$16.77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4246043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14984" y="4246043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785616" y="4310815"/>
            <a:ext cx="216007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617720" y="4246043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+$16.05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448593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1014984" y="448593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785616" y="4550711"/>
            <a:ext cx="214668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617720" y="4485939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+$15.95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658368" y="472583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1014984" y="472583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785616" y="4790606"/>
            <a:ext cx="183559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4617720" y="4725834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+$13.64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658368" y="496573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1014984" y="496573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3785616" y="5030502"/>
            <a:ext cx="173511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4617720" y="4965730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+$12.89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658368" y="520562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1014984" y="520562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785616" y="5270397"/>
            <a:ext cx="164983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4617720" y="5205625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+$12.26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658368" y="544552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1014984" y="544552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3785616" y="5510293"/>
            <a:ext cx="130019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4617720" y="5445521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+$9.66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658368" y="5685416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1014984" y="5685416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3785616" y="5750188"/>
            <a:ext cx="129735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4617720" y="5685416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+$9.64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6208776" y="184708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6565392" y="184708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9336024" y="1911860"/>
            <a:ext cx="123986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10168128" y="1847088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+$9.21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6208776" y="208698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6565392" y="208698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9336024" y="2151755"/>
            <a:ext cx="115500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10168128" y="2086984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+$8.58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6208776" y="232687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6565392" y="232687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9336024" y="2391651"/>
            <a:ext cx="93591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10168128" y="2326879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+$6.95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6208776" y="256677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92" name="Text 90"/>
          <p:cNvSpPr txBox="1"/>
          <p:nvPr/>
        </p:nvSpPr>
        <p:spPr>
          <a:xfrm>
            <a:off x="6565392" y="256677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9336024" y="2631546"/>
            <a:ext cx="91542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10168128" y="2566775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+$6.80</a:t>
            </a:r>
            <a:endParaRPr lang="en-US" sz="1200" dirty="0"/>
          </a:p>
        </p:txBody>
      </p:sp>
      <p:sp>
        <p:nvSpPr>
          <p:cNvPr id="95" name="Text 93"/>
          <p:cNvSpPr txBox="1"/>
          <p:nvPr/>
        </p:nvSpPr>
        <p:spPr>
          <a:xfrm>
            <a:off x="6208776" y="280667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96" name="Text 94"/>
          <p:cNvSpPr txBox="1"/>
          <p:nvPr/>
        </p:nvSpPr>
        <p:spPr>
          <a:xfrm>
            <a:off x="6565392" y="280667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9336024" y="2871442"/>
            <a:ext cx="90857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10168128" y="2806670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+$6.75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6208776" y="3046566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6565392" y="3046566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9336024" y="3111337"/>
            <a:ext cx="83711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10168128" y="3046566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+$6.22</a:t>
            </a:r>
            <a:endParaRPr lang="en-US" sz="1200" dirty="0"/>
          </a:p>
        </p:txBody>
      </p:sp>
      <p:sp>
        <p:nvSpPr>
          <p:cNvPr id="103" name="Text 101"/>
          <p:cNvSpPr txBox="1"/>
          <p:nvPr/>
        </p:nvSpPr>
        <p:spPr>
          <a:xfrm>
            <a:off x="6208776" y="328646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6565392" y="328646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9336024" y="3351233"/>
            <a:ext cx="71343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10168128" y="3286461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+$5.30</a:t>
            </a:r>
            <a:endParaRPr lang="en-US" sz="1200" dirty="0"/>
          </a:p>
        </p:txBody>
      </p:sp>
      <p:sp>
        <p:nvSpPr>
          <p:cNvPr id="107" name="Text 105"/>
          <p:cNvSpPr txBox="1"/>
          <p:nvPr/>
        </p:nvSpPr>
        <p:spPr>
          <a:xfrm>
            <a:off x="6208776" y="3526357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08" name="Text 106"/>
          <p:cNvSpPr txBox="1"/>
          <p:nvPr/>
        </p:nvSpPr>
        <p:spPr>
          <a:xfrm>
            <a:off x="6565392" y="3526357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9336024" y="3591128"/>
            <a:ext cx="61183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10168128" y="3526357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+$4.55</a:t>
            </a:r>
            <a:endParaRPr lang="en-US" sz="1200" dirty="0"/>
          </a:p>
        </p:txBody>
      </p:sp>
      <p:sp>
        <p:nvSpPr>
          <p:cNvPr id="111" name="Text 109"/>
          <p:cNvSpPr txBox="1"/>
          <p:nvPr/>
        </p:nvSpPr>
        <p:spPr>
          <a:xfrm>
            <a:off x="6208776" y="3766252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12" name="Text 110"/>
          <p:cNvSpPr txBox="1"/>
          <p:nvPr/>
        </p:nvSpPr>
        <p:spPr>
          <a:xfrm>
            <a:off x="6565392" y="3766252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9336024" y="3831024"/>
            <a:ext cx="57486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10168128" y="3766252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+$4.27</a:t>
            </a:r>
            <a:endParaRPr lang="en-US" sz="1200" dirty="0"/>
          </a:p>
        </p:txBody>
      </p:sp>
      <p:sp>
        <p:nvSpPr>
          <p:cNvPr id="115" name="Text 113"/>
          <p:cNvSpPr txBox="1"/>
          <p:nvPr/>
        </p:nvSpPr>
        <p:spPr>
          <a:xfrm>
            <a:off x="6208776" y="400614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16" name="Text 114"/>
          <p:cNvSpPr txBox="1"/>
          <p:nvPr/>
        </p:nvSpPr>
        <p:spPr>
          <a:xfrm>
            <a:off x="6565392" y="400614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9336024" y="4070920"/>
            <a:ext cx="50066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8" name="Text 116"/>
          <p:cNvSpPr txBox="1"/>
          <p:nvPr/>
        </p:nvSpPr>
        <p:spPr>
          <a:xfrm>
            <a:off x="10168128" y="4006148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+$3.72</a:t>
            </a:r>
            <a:endParaRPr lang="en-US" sz="1200" dirty="0"/>
          </a:p>
        </p:txBody>
      </p:sp>
      <p:sp>
        <p:nvSpPr>
          <p:cNvPr id="119" name="Text 117"/>
          <p:cNvSpPr txBox="1"/>
          <p:nvPr/>
        </p:nvSpPr>
        <p:spPr>
          <a:xfrm>
            <a:off x="6208776" y="4246043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20" name="Text 118"/>
          <p:cNvSpPr txBox="1"/>
          <p:nvPr/>
        </p:nvSpPr>
        <p:spPr>
          <a:xfrm>
            <a:off x="6565392" y="4246043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9336024" y="4310815"/>
            <a:ext cx="33186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10168128" y="4246043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+$2.47</a:t>
            </a:r>
            <a:endParaRPr lang="en-US" sz="1200" dirty="0"/>
          </a:p>
        </p:txBody>
      </p:sp>
      <p:sp>
        <p:nvSpPr>
          <p:cNvPr id="123" name="Text 121"/>
          <p:cNvSpPr txBox="1"/>
          <p:nvPr/>
        </p:nvSpPr>
        <p:spPr>
          <a:xfrm>
            <a:off x="6208776" y="448593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24" name="Text 122"/>
          <p:cNvSpPr txBox="1"/>
          <p:nvPr/>
        </p:nvSpPr>
        <p:spPr>
          <a:xfrm>
            <a:off x="6565392" y="448593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25" name="Shape 123"/>
          <p:cNvSpPr/>
          <p:nvPr/>
        </p:nvSpPr>
        <p:spPr>
          <a:xfrm>
            <a:off x="9336024" y="4550711"/>
            <a:ext cx="13817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6" name="Text 124"/>
          <p:cNvSpPr txBox="1"/>
          <p:nvPr/>
        </p:nvSpPr>
        <p:spPr>
          <a:xfrm>
            <a:off x="10168128" y="4485939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+$1.03</a:t>
            </a:r>
            <a:endParaRPr lang="en-US" sz="1200" dirty="0"/>
          </a:p>
        </p:txBody>
      </p:sp>
      <p:sp>
        <p:nvSpPr>
          <p:cNvPr id="127" name="Text 125"/>
          <p:cNvSpPr txBox="1"/>
          <p:nvPr/>
        </p:nvSpPr>
        <p:spPr>
          <a:xfrm>
            <a:off x="6208776" y="472583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28" name="Text 126"/>
          <p:cNvSpPr txBox="1"/>
          <p:nvPr/>
        </p:nvSpPr>
        <p:spPr>
          <a:xfrm>
            <a:off x="6565392" y="472583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129" name="Shape 127"/>
          <p:cNvSpPr/>
          <p:nvPr/>
        </p:nvSpPr>
        <p:spPr>
          <a:xfrm>
            <a:off x="9336024" y="4790606"/>
            <a:ext cx="12802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0" name="Text 128"/>
          <p:cNvSpPr txBox="1"/>
          <p:nvPr/>
        </p:nvSpPr>
        <p:spPr>
          <a:xfrm>
            <a:off x="10168128" y="4725834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+$0.95</a:t>
            </a:r>
            <a:endParaRPr lang="en-US" sz="1200" dirty="0"/>
          </a:p>
        </p:txBody>
      </p:sp>
      <p:sp>
        <p:nvSpPr>
          <p:cNvPr id="131" name="Text 129"/>
          <p:cNvSpPr txBox="1"/>
          <p:nvPr/>
        </p:nvSpPr>
        <p:spPr>
          <a:xfrm>
            <a:off x="6208776" y="496573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32" name="Text 130"/>
          <p:cNvSpPr txBox="1"/>
          <p:nvPr/>
        </p:nvSpPr>
        <p:spPr>
          <a:xfrm>
            <a:off x="6565392" y="496573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9335137" y="5030502"/>
            <a:ext cx="12802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4" name="Text 132"/>
          <p:cNvSpPr txBox="1"/>
          <p:nvPr/>
        </p:nvSpPr>
        <p:spPr>
          <a:xfrm>
            <a:off x="10168128" y="4965730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−$0.07</a:t>
            </a:r>
            <a:endParaRPr lang="en-US" sz="1200" dirty="0"/>
          </a:p>
        </p:txBody>
      </p:sp>
      <p:sp>
        <p:nvSpPr>
          <p:cNvPr id="135" name="Text 133"/>
          <p:cNvSpPr txBox="1"/>
          <p:nvPr/>
        </p:nvSpPr>
        <p:spPr>
          <a:xfrm>
            <a:off x="6208776" y="520562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136" name="Text 134"/>
          <p:cNvSpPr txBox="1"/>
          <p:nvPr/>
        </p:nvSpPr>
        <p:spPr>
          <a:xfrm>
            <a:off x="6565392" y="520562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137" name="Shape 135"/>
          <p:cNvSpPr/>
          <p:nvPr/>
        </p:nvSpPr>
        <p:spPr>
          <a:xfrm>
            <a:off x="9314711" y="5270397"/>
            <a:ext cx="21313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8" name="Text 136"/>
          <p:cNvSpPr txBox="1"/>
          <p:nvPr/>
        </p:nvSpPr>
        <p:spPr>
          <a:xfrm>
            <a:off x="10168128" y="5205625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−$1.58</a:t>
            </a:r>
            <a:endParaRPr lang="en-US" sz="1200" dirty="0"/>
          </a:p>
        </p:txBody>
      </p:sp>
      <p:sp>
        <p:nvSpPr>
          <p:cNvPr id="139" name="Text 137"/>
          <p:cNvSpPr txBox="1"/>
          <p:nvPr/>
        </p:nvSpPr>
        <p:spPr>
          <a:xfrm>
            <a:off x="6208776" y="544552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140" name="Text 138"/>
          <p:cNvSpPr txBox="1"/>
          <p:nvPr/>
        </p:nvSpPr>
        <p:spPr>
          <a:xfrm>
            <a:off x="6565392" y="544552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141" name="Shape 139"/>
          <p:cNvSpPr/>
          <p:nvPr/>
        </p:nvSpPr>
        <p:spPr>
          <a:xfrm>
            <a:off x="9171193" y="5510293"/>
            <a:ext cx="164831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2" name="Text 140"/>
          <p:cNvSpPr txBox="1"/>
          <p:nvPr/>
        </p:nvSpPr>
        <p:spPr>
          <a:xfrm>
            <a:off x="10168128" y="5445521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−$12.25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3780130" y="1847088"/>
            <a:ext cx="10973" cy="4078224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44" name="Shape 142"/>
          <p:cNvSpPr/>
          <p:nvPr/>
        </p:nvSpPr>
        <p:spPr>
          <a:xfrm>
            <a:off x="9330538" y="1847088"/>
            <a:ext cx="10973" cy="4078224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45" name="Shape 143"/>
          <p:cNvSpPr/>
          <p:nvPr/>
        </p:nvSpPr>
        <p:spPr>
          <a:xfrm>
            <a:off x="6085332" y="1847088"/>
            <a:ext cx="10973" cy="407822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46" name="Shape 144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147" name="Text 145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of 33 stores raised warranty ELR, led by LR LV at +$57.74 to $274.91. 3 declined; Honda North fell most at −$12.25.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&amp; INTERNAL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ELR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YTD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54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$126.09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YTD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554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$129.84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554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+$3.75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 %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1554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+3.0%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57200" y="2322576"/>
            <a:ext cx="11274552" cy="3666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245973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ELR by month, 2025 against 2026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2807208"/>
            <a:ext cx="10817352" cy="10973"/>
          </a:xfrm>
          <a:prstGeom prst="rect">
            <a:avLst/>
          </a:prstGeom>
          <a:solidFill>
            <a:srgbClr val="1A1A1A"/>
          </a:solidFill>
          <a:ln/>
        </p:spPr>
      </p:sp>
      <p:graphicFrame>
        <p:nvGraphicFramePr>
          <p:cNvPr id="17" name="Chart 0" descr=""/>
          <p:cNvGraphicFramePr/>
          <p:nvPr/>
        </p:nvGraphicFramePr>
        <p:xfrm>
          <a:off x="621792" y="3218688"/>
          <a:ext cx="10945368" cy="2679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Chart 1" descr=""/>
          <p:cNvGraphicFramePr/>
          <p:nvPr/>
        </p:nvGraphicFramePr>
        <p:xfrm>
          <a:off x="621792" y="3218688"/>
          <a:ext cx="10945368" cy="2679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9" name="Chart 2" descr=""/>
          <p:cNvGraphicFramePr/>
          <p:nvPr/>
        </p:nvGraphicFramePr>
        <p:xfrm>
          <a:off x="621792" y="3218688"/>
          <a:ext cx="10945368" cy="2679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0" name="Chart 3" descr=""/>
          <p:cNvGraphicFramePr/>
          <p:nvPr/>
        </p:nvGraphicFramePr>
        <p:xfrm>
          <a:off x="621792" y="3218688"/>
          <a:ext cx="10945368" cy="2679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1" name="Chart 4" descr=""/>
          <p:cNvGraphicFramePr/>
          <p:nvPr/>
        </p:nvGraphicFramePr>
        <p:xfrm>
          <a:off x="621792" y="3218688"/>
          <a:ext cx="10945368" cy="2679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22" name="Chart 5" descr=""/>
          <p:cNvGraphicFramePr/>
          <p:nvPr/>
        </p:nvGraphicFramePr>
        <p:xfrm>
          <a:off x="621792" y="3218688"/>
          <a:ext cx="10945368" cy="2679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3" name="Shape 15"/>
          <p:cNvSpPr/>
          <p:nvPr/>
        </p:nvSpPr>
        <p:spPr>
          <a:xfrm>
            <a:off x="4951476" y="3049524"/>
            <a:ext cx="310896" cy="45720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24" name="Shape 16"/>
          <p:cNvSpPr/>
          <p:nvPr/>
        </p:nvSpPr>
        <p:spPr>
          <a:xfrm>
            <a:off x="5052060" y="3017520"/>
            <a:ext cx="109728" cy="109728"/>
          </a:xfrm>
          <a:prstGeom prst="ellipse">
            <a:avLst/>
          </a:prstGeom>
          <a:solidFill>
            <a:srgbClr val="9AA3AD"/>
          </a:solidFill>
          <a:ln/>
        </p:spPr>
      </p:sp>
      <p:sp>
        <p:nvSpPr>
          <p:cNvPr id="25" name="Text 17"/>
          <p:cNvSpPr txBox="1"/>
          <p:nvPr/>
        </p:nvSpPr>
        <p:spPr>
          <a:xfrm>
            <a:off x="5335524" y="29260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6185916" y="3049524"/>
            <a:ext cx="310896" cy="45720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7" name="Shape 19"/>
          <p:cNvSpPr/>
          <p:nvPr/>
        </p:nvSpPr>
        <p:spPr>
          <a:xfrm>
            <a:off x="6286500" y="3017520"/>
            <a:ext cx="109728" cy="109728"/>
          </a:xfrm>
          <a:prstGeom prst="ellipse">
            <a:avLst/>
          </a:prstGeom>
          <a:solidFill>
            <a:srgbClr val="2587C5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6569964" y="29260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$3.75 to $129.84, ahead of 2025 in seven of nine months.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&amp; INTERNAL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ELR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ELR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33502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2026 YTD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$129.84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84708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" y="184708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08376" y="1907062"/>
            <a:ext cx="1691640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54880" y="1847088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$207.05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08698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" y="208698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08376" y="2146957"/>
            <a:ext cx="1676174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54880" y="2086984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$205.15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232687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14984" y="232687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08376" y="2386853"/>
            <a:ext cx="1535097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54880" y="2326879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$187.89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256677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" y="256677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08376" y="2626748"/>
            <a:ext cx="1440950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54880" y="2566775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$176.36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280667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14984" y="280667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008376" y="2866644"/>
            <a:ext cx="1416843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754880" y="2806670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$173.41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3046566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14984" y="3046566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008376" y="3106540"/>
            <a:ext cx="1364170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754880" y="3046566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$166.97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328646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" y="328646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008376" y="3346435"/>
            <a:ext cx="1354753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754880" y="3286461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$165.81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" y="3526357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14984" y="3526357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008376" y="3586331"/>
            <a:ext cx="1334617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754880" y="3526357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$163.35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58368" y="3766252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14984" y="3766252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008376" y="3826226"/>
            <a:ext cx="1326282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754880" y="3766252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$162.33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400614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014984" y="400614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008376" y="4066122"/>
            <a:ext cx="1298491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754880" y="4006148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$158.93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4246043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14984" y="4246043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008376" y="4306017"/>
            <a:ext cx="1265243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754880" y="4246043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$154.86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448593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1014984" y="448593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008376" y="4545913"/>
            <a:ext cx="1238047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754880" y="4485939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$151.53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658368" y="472583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1014984" y="472583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008376" y="4785808"/>
            <a:ext cx="1199792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4754880" y="4725834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$146.85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658368" y="496573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1014984" y="496573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3008376" y="5025704"/>
            <a:ext cx="1199589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4754880" y="4965730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$146.82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658368" y="520562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1014984" y="520562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008376" y="5265599"/>
            <a:ext cx="1158201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4754880" y="5205625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$141.76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658368" y="544552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1014984" y="544552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3008376" y="5505495"/>
            <a:ext cx="1138632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4754880" y="5445521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$139.36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658368" y="5685416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1014984" y="5685416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3008376" y="5745390"/>
            <a:ext cx="1122612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4754880" y="5685416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$137.40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6208776" y="184708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6565392" y="184708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8558784" y="1907062"/>
            <a:ext cx="1121023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10305288" y="1847088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$137.21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6208776" y="208698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6565392" y="208698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558784" y="2146957"/>
            <a:ext cx="1118529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10305288" y="2086984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$136.90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6208776" y="232687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6565392" y="232687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8558784" y="2386853"/>
            <a:ext cx="1098819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10305288" y="2326879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$134.49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6208776" y="256677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92" name="Text 90"/>
          <p:cNvSpPr txBox="1"/>
          <p:nvPr/>
        </p:nvSpPr>
        <p:spPr>
          <a:xfrm>
            <a:off x="6565392" y="256677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8558784" y="2626748"/>
            <a:ext cx="1098580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10305288" y="2566775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$134.46</a:t>
            </a:r>
            <a:endParaRPr lang="en-US" sz="1200" dirty="0"/>
          </a:p>
        </p:txBody>
      </p:sp>
      <p:sp>
        <p:nvSpPr>
          <p:cNvPr id="95" name="Text 93"/>
          <p:cNvSpPr txBox="1"/>
          <p:nvPr/>
        </p:nvSpPr>
        <p:spPr>
          <a:xfrm>
            <a:off x="6208776" y="280667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96" name="Text 94"/>
          <p:cNvSpPr txBox="1"/>
          <p:nvPr/>
        </p:nvSpPr>
        <p:spPr>
          <a:xfrm>
            <a:off x="6565392" y="280667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8558784" y="2866644"/>
            <a:ext cx="1047559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10305288" y="2806670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$128.21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6208776" y="3046566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6565392" y="3046566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8558784" y="3106540"/>
            <a:ext cx="1040989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10305288" y="3046566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$127.41</a:t>
            </a:r>
            <a:endParaRPr lang="en-US" sz="1200" dirty="0"/>
          </a:p>
        </p:txBody>
      </p:sp>
      <p:sp>
        <p:nvSpPr>
          <p:cNvPr id="103" name="Text 101"/>
          <p:cNvSpPr txBox="1"/>
          <p:nvPr/>
        </p:nvSpPr>
        <p:spPr>
          <a:xfrm>
            <a:off x="6208776" y="328646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6565392" y="328646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8558784" y="3346435"/>
            <a:ext cx="1016832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10305288" y="3286461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$124.45</a:t>
            </a:r>
            <a:endParaRPr lang="en-US" sz="1200" dirty="0"/>
          </a:p>
        </p:txBody>
      </p:sp>
      <p:sp>
        <p:nvSpPr>
          <p:cNvPr id="107" name="Text 105"/>
          <p:cNvSpPr txBox="1"/>
          <p:nvPr/>
        </p:nvSpPr>
        <p:spPr>
          <a:xfrm>
            <a:off x="6208776" y="3526357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08" name="Text 106"/>
          <p:cNvSpPr txBox="1"/>
          <p:nvPr/>
        </p:nvSpPr>
        <p:spPr>
          <a:xfrm>
            <a:off x="6565392" y="3526357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8558784" y="3586331"/>
            <a:ext cx="1002319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10305288" y="3526357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$122.68</a:t>
            </a:r>
            <a:endParaRPr lang="en-US" sz="1200" dirty="0"/>
          </a:p>
        </p:txBody>
      </p:sp>
      <p:sp>
        <p:nvSpPr>
          <p:cNvPr id="111" name="Text 109"/>
          <p:cNvSpPr txBox="1"/>
          <p:nvPr/>
        </p:nvSpPr>
        <p:spPr>
          <a:xfrm>
            <a:off x="6208776" y="3766252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12" name="Text 110"/>
          <p:cNvSpPr txBox="1"/>
          <p:nvPr/>
        </p:nvSpPr>
        <p:spPr>
          <a:xfrm>
            <a:off x="6565392" y="3766252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8558784" y="3826226"/>
            <a:ext cx="975333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10305288" y="3766252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$119.37</a:t>
            </a:r>
            <a:endParaRPr lang="en-US" sz="1200" dirty="0"/>
          </a:p>
        </p:txBody>
      </p:sp>
      <p:sp>
        <p:nvSpPr>
          <p:cNvPr id="115" name="Text 113"/>
          <p:cNvSpPr txBox="1"/>
          <p:nvPr/>
        </p:nvSpPr>
        <p:spPr>
          <a:xfrm>
            <a:off x="6208776" y="400614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16" name="Text 114"/>
          <p:cNvSpPr txBox="1"/>
          <p:nvPr/>
        </p:nvSpPr>
        <p:spPr>
          <a:xfrm>
            <a:off x="6565392" y="400614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8558784" y="4066122"/>
            <a:ext cx="957418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8" name="Text 116"/>
          <p:cNvSpPr txBox="1"/>
          <p:nvPr/>
        </p:nvSpPr>
        <p:spPr>
          <a:xfrm>
            <a:off x="10305288" y="4006148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$117.18</a:t>
            </a:r>
            <a:endParaRPr lang="en-US" sz="1200" dirty="0"/>
          </a:p>
        </p:txBody>
      </p:sp>
      <p:sp>
        <p:nvSpPr>
          <p:cNvPr id="119" name="Text 117"/>
          <p:cNvSpPr txBox="1"/>
          <p:nvPr/>
        </p:nvSpPr>
        <p:spPr>
          <a:xfrm>
            <a:off x="6208776" y="4246043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20" name="Text 118"/>
          <p:cNvSpPr txBox="1"/>
          <p:nvPr/>
        </p:nvSpPr>
        <p:spPr>
          <a:xfrm>
            <a:off x="6565392" y="4246043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8558784" y="4306017"/>
            <a:ext cx="939310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10305288" y="4246043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$114.97</a:t>
            </a:r>
            <a:endParaRPr lang="en-US" sz="1200" dirty="0"/>
          </a:p>
        </p:txBody>
      </p:sp>
      <p:sp>
        <p:nvSpPr>
          <p:cNvPr id="123" name="Text 121"/>
          <p:cNvSpPr txBox="1"/>
          <p:nvPr/>
        </p:nvSpPr>
        <p:spPr>
          <a:xfrm>
            <a:off x="6208776" y="448593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24" name="Text 122"/>
          <p:cNvSpPr txBox="1"/>
          <p:nvPr/>
        </p:nvSpPr>
        <p:spPr>
          <a:xfrm>
            <a:off x="6565392" y="448593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125" name="Shape 123"/>
          <p:cNvSpPr/>
          <p:nvPr/>
        </p:nvSpPr>
        <p:spPr>
          <a:xfrm>
            <a:off x="8558784" y="4545913"/>
            <a:ext cx="892374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6" name="Text 124"/>
          <p:cNvSpPr txBox="1"/>
          <p:nvPr/>
        </p:nvSpPr>
        <p:spPr>
          <a:xfrm>
            <a:off x="10305288" y="4485939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$109.22</a:t>
            </a:r>
            <a:endParaRPr lang="en-US" sz="1200" dirty="0"/>
          </a:p>
        </p:txBody>
      </p:sp>
      <p:sp>
        <p:nvSpPr>
          <p:cNvPr id="127" name="Text 125"/>
          <p:cNvSpPr txBox="1"/>
          <p:nvPr/>
        </p:nvSpPr>
        <p:spPr>
          <a:xfrm>
            <a:off x="6208776" y="472583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28" name="Text 126"/>
          <p:cNvSpPr txBox="1"/>
          <p:nvPr/>
        </p:nvSpPr>
        <p:spPr>
          <a:xfrm>
            <a:off x="6565392" y="472583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129" name="Shape 127"/>
          <p:cNvSpPr/>
          <p:nvPr/>
        </p:nvSpPr>
        <p:spPr>
          <a:xfrm>
            <a:off x="8558784" y="4785808"/>
            <a:ext cx="857012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0" name="Text 128"/>
          <p:cNvSpPr txBox="1"/>
          <p:nvPr/>
        </p:nvSpPr>
        <p:spPr>
          <a:xfrm>
            <a:off x="10305288" y="4725834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$104.89</a:t>
            </a:r>
            <a:endParaRPr lang="en-US" sz="1200" dirty="0"/>
          </a:p>
        </p:txBody>
      </p:sp>
      <p:sp>
        <p:nvSpPr>
          <p:cNvPr id="131" name="Text 129"/>
          <p:cNvSpPr txBox="1"/>
          <p:nvPr/>
        </p:nvSpPr>
        <p:spPr>
          <a:xfrm>
            <a:off x="6208776" y="496573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32" name="Text 130"/>
          <p:cNvSpPr txBox="1"/>
          <p:nvPr/>
        </p:nvSpPr>
        <p:spPr>
          <a:xfrm>
            <a:off x="6565392" y="496573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8558784" y="5025704"/>
            <a:ext cx="838677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4" name="Text 132"/>
          <p:cNvSpPr txBox="1"/>
          <p:nvPr/>
        </p:nvSpPr>
        <p:spPr>
          <a:xfrm>
            <a:off x="10305288" y="4965730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$102.65</a:t>
            </a:r>
            <a:endParaRPr lang="en-US" sz="1200" dirty="0"/>
          </a:p>
        </p:txBody>
      </p:sp>
      <p:sp>
        <p:nvSpPr>
          <p:cNvPr id="135" name="Text 133"/>
          <p:cNvSpPr txBox="1"/>
          <p:nvPr/>
        </p:nvSpPr>
        <p:spPr>
          <a:xfrm>
            <a:off x="6208776" y="520562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136" name="Text 134"/>
          <p:cNvSpPr txBox="1"/>
          <p:nvPr/>
        </p:nvSpPr>
        <p:spPr>
          <a:xfrm>
            <a:off x="6565392" y="520562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137" name="Shape 135"/>
          <p:cNvSpPr/>
          <p:nvPr/>
        </p:nvSpPr>
        <p:spPr>
          <a:xfrm>
            <a:off x="8558784" y="5265599"/>
            <a:ext cx="815241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8" name="Text 136"/>
          <p:cNvSpPr txBox="1"/>
          <p:nvPr/>
        </p:nvSpPr>
        <p:spPr>
          <a:xfrm>
            <a:off x="10305288" y="5205625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$99.78</a:t>
            </a:r>
            <a:endParaRPr lang="en-US" sz="1200" dirty="0"/>
          </a:p>
        </p:txBody>
      </p:sp>
      <p:sp>
        <p:nvSpPr>
          <p:cNvPr id="139" name="Text 137"/>
          <p:cNvSpPr txBox="1"/>
          <p:nvPr/>
        </p:nvSpPr>
        <p:spPr>
          <a:xfrm>
            <a:off x="6208776" y="544552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140" name="Text 138"/>
          <p:cNvSpPr txBox="1"/>
          <p:nvPr/>
        </p:nvSpPr>
        <p:spPr>
          <a:xfrm>
            <a:off x="6565392" y="544552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141" name="Shape 139"/>
          <p:cNvSpPr/>
          <p:nvPr/>
        </p:nvSpPr>
        <p:spPr>
          <a:xfrm>
            <a:off x="8558784" y="5505495"/>
            <a:ext cx="712528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2" name="Text 140"/>
          <p:cNvSpPr txBox="1"/>
          <p:nvPr/>
        </p:nvSpPr>
        <p:spPr>
          <a:xfrm>
            <a:off x="10305288" y="5445521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$87.21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4061880" y="1847088"/>
            <a:ext cx="14630" cy="40782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44" name="Shape 142"/>
          <p:cNvSpPr/>
          <p:nvPr/>
        </p:nvSpPr>
        <p:spPr>
          <a:xfrm>
            <a:off x="9612288" y="1847088"/>
            <a:ext cx="14630" cy="40782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45" name="Shape 143"/>
          <p:cNvSpPr/>
          <p:nvPr/>
        </p:nvSpPr>
        <p:spPr>
          <a:xfrm>
            <a:off x="6085332" y="1847088"/>
            <a:ext cx="10973" cy="407822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46" name="Shape 144"/>
          <p:cNvSpPr/>
          <p:nvPr/>
        </p:nvSpPr>
        <p:spPr>
          <a:xfrm>
            <a:off x="457200" y="6126480"/>
            <a:ext cx="11274552" cy="36423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47" name="Text 145"/>
          <p:cNvSpPr txBox="1"/>
          <p:nvPr/>
        </p:nvSpPr>
        <p:spPr>
          <a:xfrm>
            <a:off x="658368" y="6144768"/>
            <a:ext cx="109270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of 33 stores at or above the $129.84 group, led by LR Reno at $207.05. Nissan is lowest at $87.21.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&amp; INTERNAL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ELR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ELR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33502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9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YEAR-OVER-YEAR CHANGE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+$3.75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84708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" y="184708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85616" y="1911860"/>
            <a:ext cx="600830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17720" y="1847088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+$46.71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08698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" y="208698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85616" y="2151755"/>
            <a:ext cx="509224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17720" y="2086984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+$39.59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232687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14984" y="232687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85616" y="2391651"/>
            <a:ext cx="348786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17720" y="2326879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+$27.12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256677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" y="256677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85616" y="2631546"/>
            <a:ext cx="267706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17720" y="2566775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+$20.81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280667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14984" y="280667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785616" y="2871442"/>
            <a:ext cx="224364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617720" y="2806670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+$17.44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3046566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14984" y="3046566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785616" y="3111337"/>
            <a:ext cx="163138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617720" y="3046566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+$12.68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328646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" y="328646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785616" y="3351233"/>
            <a:ext cx="159860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617720" y="3286461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+$12.43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" y="3526357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14984" y="3526357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785616" y="3591128"/>
            <a:ext cx="154838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617720" y="3526357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+$12.04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58368" y="3766252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14984" y="3766252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785616" y="3831024"/>
            <a:ext cx="143159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617720" y="3766252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+$11.13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400614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014984" y="400614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785616" y="4070920"/>
            <a:ext cx="82257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617720" y="4006148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+$6.39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4246043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14984" y="4246043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785616" y="4310815"/>
            <a:ext cx="80763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617720" y="4246043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+$6.28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448593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1014984" y="448593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785616" y="4550711"/>
            <a:ext cx="73598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617720" y="4485939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+$5.72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658368" y="472583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1014984" y="472583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785616" y="4790606"/>
            <a:ext cx="70341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4617720" y="4725834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+$5.47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658368" y="496573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1014984" y="496573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3785616" y="5030502"/>
            <a:ext cx="66109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4617720" y="4965730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+$5.14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658368" y="520562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1014984" y="520562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785616" y="5270397"/>
            <a:ext cx="58016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4617720" y="5205625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+$4.51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658368" y="544552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1014984" y="544552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3785616" y="5510293"/>
            <a:ext cx="49142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4617720" y="5445521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+$3.82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658368" y="5685416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1014984" y="5685416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3785616" y="5750188"/>
            <a:ext cx="48226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4617720" y="5685416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+$3.75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6208776" y="184708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6565392" y="184708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9336024" y="1911860"/>
            <a:ext cx="46014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10168128" y="1847088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+$3.58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6208776" y="208698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6565392" y="208698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9336024" y="2151755"/>
            <a:ext cx="24966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10168128" y="2086984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+$1.94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6208776" y="232687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6565392" y="232687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9336024" y="2391651"/>
            <a:ext cx="12802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10168128" y="2326879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+$0.34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6208776" y="256677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92" name="Text 90"/>
          <p:cNvSpPr txBox="1"/>
          <p:nvPr/>
        </p:nvSpPr>
        <p:spPr>
          <a:xfrm>
            <a:off x="6565392" y="256677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9324019" y="2631546"/>
            <a:ext cx="12802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10168128" y="2566775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−$0.93</a:t>
            </a:r>
            <a:endParaRPr lang="en-US" sz="1200" dirty="0"/>
          </a:p>
        </p:txBody>
      </p:sp>
      <p:sp>
        <p:nvSpPr>
          <p:cNvPr id="95" name="Text 93"/>
          <p:cNvSpPr txBox="1"/>
          <p:nvPr/>
        </p:nvSpPr>
        <p:spPr>
          <a:xfrm>
            <a:off x="6208776" y="280667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96" name="Text 94"/>
          <p:cNvSpPr txBox="1"/>
          <p:nvPr/>
        </p:nvSpPr>
        <p:spPr>
          <a:xfrm>
            <a:off x="6565392" y="280667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9317348" y="2871442"/>
            <a:ext cx="18676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10168128" y="2806670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−$1.45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6208776" y="3046566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6565392" y="3046566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9313515" y="3111337"/>
            <a:ext cx="22509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10168128" y="3046566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−$1.75</a:t>
            </a:r>
            <a:endParaRPr lang="en-US" sz="1200" dirty="0"/>
          </a:p>
        </p:txBody>
      </p:sp>
      <p:sp>
        <p:nvSpPr>
          <p:cNvPr id="103" name="Text 101"/>
          <p:cNvSpPr txBox="1"/>
          <p:nvPr/>
        </p:nvSpPr>
        <p:spPr>
          <a:xfrm>
            <a:off x="6208776" y="328646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6565392" y="328646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9278246" y="3351233"/>
            <a:ext cx="57778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10168128" y="3286461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−$4.49</a:t>
            </a:r>
            <a:endParaRPr lang="en-US" sz="1200" dirty="0"/>
          </a:p>
        </p:txBody>
      </p:sp>
      <p:sp>
        <p:nvSpPr>
          <p:cNvPr id="107" name="Text 105"/>
          <p:cNvSpPr txBox="1"/>
          <p:nvPr/>
        </p:nvSpPr>
        <p:spPr>
          <a:xfrm>
            <a:off x="6208776" y="3526357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08" name="Text 106"/>
          <p:cNvSpPr txBox="1"/>
          <p:nvPr/>
        </p:nvSpPr>
        <p:spPr>
          <a:xfrm>
            <a:off x="6565392" y="3526357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9273152" y="3591128"/>
            <a:ext cx="62872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10168128" y="3526357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−$4.89</a:t>
            </a:r>
            <a:endParaRPr lang="en-US" sz="1200" dirty="0"/>
          </a:p>
        </p:txBody>
      </p:sp>
      <p:sp>
        <p:nvSpPr>
          <p:cNvPr id="111" name="Text 109"/>
          <p:cNvSpPr txBox="1"/>
          <p:nvPr/>
        </p:nvSpPr>
        <p:spPr>
          <a:xfrm>
            <a:off x="6208776" y="3766252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12" name="Text 110"/>
          <p:cNvSpPr txBox="1"/>
          <p:nvPr/>
        </p:nvSpPr>
        <p:spPr>
          <a:xfrm>
            <a:off x="6565392" y="3766252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9257842" y="3831024"/>
            <a:ext cx="78182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10168128" y="3766252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−$6.08</a:t>
            </a:r>
            <a:endParaRPr lang="en-US" sz="1200" dirty="0"/>
          </a:p>
        </p:txBody>
      </p:sp>
      <p:sp>
        <p:nvSpPr>
          <p:cNvPr id="115" name="Text 113"/>
          <p:cNvSpPr txBox="1"/>
          <p:nvPr/>
        </p:nvSpPr>
        <p:spPr>
          <a:xfrm>
            <a:off x="6208776" y="400614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16" name="Text 114"/>
          <p:cNvSpPr txBox="1"/>
          <p:nvPr/>
        </p:nvSpPr>
        <p:spPr>
          <a:xfrm>
            <a:off x="6565392" y="400614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9253717" y="4070920"/>
            <a:ext cx="82307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8" name="Text 116"/>
          <p:cNvSpPr txBox="1"/>
          <p:nvPr/>
        </p:nvSpPr>
        <p:spPr>
          <a:xfrm>
            <a:off x="10168128" y="4006148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−$6.40</a:t>
            </a:r>
            <a:endParaRPr lang="en-US" sz="1200" dirty="0"/>
          </a:p>
        </p:txBody>
      </p:sp>
      <p:sp>
        <p:nvSpPr>
          <p:cNvPr id="119" name="Text 117"/>
          <p:cNvSpPr txBox="1"/>
          <p:nvPr/>
        </p:nvSpPr>
        <p:spPr>
          <a:xfrm>
            <a:off x="6208776" y="4246043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20" name="Text 118"/>
          <p:cNvSpPr txBox="1"/>
          <p:nvPr/>
        </p:nvSpPr>
        <p:spPr>
          <a:xfrm>
            <a:off x="6565392" y="4246043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9203894" y="4310815"/>
            <a:ext cx="132130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10168128" y="4246043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−$10.27</a:t>
            </a:r>
            <a:endParaRPr lang="en-US" sz="1200" dirty="0"/>
          </a:p>
        </p:txBody>
      </p:sp>
      <p:sp>
        <p:nvSpPr>
          <p:cNvPr id="123" name="Text 121"/>
          <p:cNvSpPr txBox="1"/>
          <p:nvPr/>
        </p:nvSpPr>
        <p:spPr>
          <a:xfrm>
            <a:off x="6208776" y="448593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24" name="Text 122"/>
          <p:cNvSpPr txBox="1"/>
          <p:nvPr/>
        </p:nvSpPr>
        <p:spPr>
          <a:xfrm>
            <a:off x="6565392" y="448593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125" name="Shape 123"/>
          <p:cNvSpPr/>
          <p:nvPr/>
        </p:nvSpPr>
        <p:spPr>
          <a:xfrm>
            <a:off x="9107808" y="4550711"/>
            <a:ext cx="228216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6" name="Text 124"/>
          <p:cNvSpPr txBox="1"/>
          <p:nvPr/>
        </p:nvSpPr>
        <p:spPr>
          <a:xfrm>
            <a:off x="10168128" y="4485939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−$17.74</a:t>
            </a:r>
            <a:endParaRPr lang="en-US" sz="1200" dirty="0"/>
          </a:p>
        </p:txBody>
      </p:sp>
      <p:sp>
        <p:nvSpPr>
          <p:cNvPr id="127" name="Text 125"/>
          <p:cNvSpPr txBox="1"/>
          <p:nvPr/>
        </p:nvSpPr>
        <p:spPr>
          <a:xfrm>
            <a:off x="6208776" y="472583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28" name="Text 126"/>
          <p:cNvSpPr txBox="1"/>
          <p:nvPr/>
        </p:nvSpPr>
        <p:spPr>
          <a:xfrm>
            <a:off x="6565392" y="472583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129" name="Shape 127"/>
          <p:cNvSpPr/>
          <p:nvPr/>
        </p:nvSpPr>
        <p:spPr>
          <a:xfrm>
            <a:off x="9069070" y="4790606"/>
            <a:ext cx="266954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0" name="Text 128"/>
          <p:cNvSpPr txBox="1"/>
          <p:nvPr/>
        </p:nvSpPr>
        <p:spPr>
          <a:xfrm>
            <a:off x="10168128" y="4725834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−$20.75</a:t>
            </a:r>
            <a:endParaRPr lang="en-US" sz="1200" dirty="0"/>
          </a:p>
        </p:txBody>
      </p:sp>
      <p:sp>
        <p:nvSpPr>
          <p:cNvPr id="131" name="Text 129"/>
          <p:cNvSpPr txBox="1"/>
          <p:nvPr/>
        </p:nvSpPr>
        <p:spPr>
          <a:xfrm>
            <a:off x="6208776" y="496573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32" name="Text 130"/>
          <p:cNvSpPr txBox="1"/>
          <p:nvPr/>
        </p:nvSpPr>
        <p:spPr>
          <a:xfrm>
            <a:off x="6565392" y="496573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8916687" y="5030502"/>
            <a:ext cx="419337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4" name="Text 132"/>
          <p:cNvSpPr txBox="1"/>
          <p:nvPr/>
        </p:nvSpPr>
        <p:spPr>
          <a:xfrm>
            <a:off x="10168128" y="4965730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−$32.60</a:t>
            </a:r>
            <a:endParaRPr lang="en-US" sz="1200" dirty="0"/>
          </a:p>
        </p:txBody>
      </p:sp>
      <p:sp>
        <p:nvSpPr>
          <p:cNvPr id="135" name="Text 133"/>
          <p:cNvSpPr txBox="1"/>
          <p:nvPr/>
        </p:nvSpPr>
        <p:spPr>
          <a:xfrm>
            <a:off x="6208776" y="520562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136" name="Text 134"/>
          <p:cNvSpPr txBox="1"/>
          <p:nvPr/>
        </p:nvSpPr>
        <p:spPr>
          <a:xfrm>
            <a:off x="6565392" y="520562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137" name="Shape 135"/>
          <p:cNvSpPr/>
          <p:nvPr/>
        </p:nvSpPr>
        <p:spPr>
          <a:xfrm>
            <a:off x="8809839" y="5270397"/>
            <a:ext cx="526185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8" name="Text 136"/>
          <p:cNvSpPr txBox="1"/>
          <p:nvPr/>
        </p:nvSpPr>
        <p:spPr>
          <a:xfrm>
            <a:off x="10168128" y="5205625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−$40.91</a:t>
            </a:r>
            <a:endParaRPr lang="en-US" sz="1200" dirty="0"/>
          </a:p>
        </p:txBody>
      </p:sp>
      <p:sp>
        <p:nvSpPr>
          <p:cNvPr id="139" name="Text 137"/>
          <p:cNvSpPr txBox="1"/>
          <p:nvPr/>
        </p:nvSpPr>
        <p:spPr>
          <a:xfrm>
            <a:off x="6208776" y="544552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140" name="Text 138"/>
          <p:cNvSpPr txBox="1"/>
          <p:nvPr/>
        </p:nvSpPr>
        <p:spPr>
          <a:xfrm>
            <a:off x="6565392" y="544552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141" name="Shape 139"/>
          <p:cNvSpPr/>
          <p:nvPr/>
        </p:nvSpPr>
        <p:spPr>
          <a:xfrm>
            <a:off x="8558784" y="5510293"/>
            <a:ext cx="777240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2" name="Text 140"/>
          <p:cNvSpPr txBox="1"/>
          <p:nvPr/>
        </p:nvSpPr>
        <p:spPr>
          <a:xfrm>
            <a:off x="10168128" y="5445521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−$60.43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3780130" y="1847088"/>
            <a:ext cx="10973" cy="4078224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44" name="Shape 142"/>
          <p:cNvSpPr/>
          <p:nvPr/>
        </p:nvSpPr>
        <p:spPr>
          <a:xfrm>
            <a:off x="9330538" y="1847088"/>
            <a:ext cx="10973" cy="4078224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45" name="Shape 143"/>
          <p:cNvSpPr/>
          <p:nvPr/>
        </p:nvSpPr>
        <p:spPr>
          <a:xfrm>
            <a:off x="6085332" y="1847088"/>
            <a:ext cx="10973" cy="407822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46" name="Shape 144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147" name="Text 145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of 33 stores raised internal ELR, led by Hyundai St George at +$46.71 to $205.15. 13 declined; Kia LV fell most at −$60.43.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2026-10-22T00:52:30Z</dcterms:created>
  <dcterms:modified xsi:type="dcterms:W3CDTF">2026-10-22T00:52:30Z</dcterms:modified>
</cp:coreProperties>
</file>