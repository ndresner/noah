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14264</c:v>
                </c:pt>
                <c:pt idx="1">
                  <c:v>12746</c:v>
                </c:pt>
                <c:pt idx="2">
                  <c:v>13940</c:v>
                </c:pt>
                <c:pt idx="3">
                  <c:v>13710</c:v>
                </c:pt>
                <c:pt idx="4">
                  <c:v>13121</c:v>
                </c:pt>
                <c:pt idx="5">
                  <c:v>14168</c:v>
                </c:pt>
                <c:pt idx="6">
                  <c:v>14663</c:v>
                </c:pt>
                <c:pt idx="7">
                  <c:v>15204</c:v>
                </c:pt>
                <c:pt idx="8">
                  <c:v>15075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15204</c:v>
                </c:pt>
                <c:pt idx="8">
                  <c:v>15075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14264</c:v>
                </c:pt>
                <c:pt idx="1">
                  <c:v>12746</c:v>
                </c:pt>
                <c:pt idx="2">
                  <c:v>13940</c:v>
                </c:pt>
                <c:pt idx="3">
                  <c:v>13710</c:v>
                </c:pt>
                <c:pt idx="4">
                  <c:v>13121</c:v>
                </c:pt>
                <c:pt idx="5">
                  <c:v>14168</c:v>
                </c:pt>
                <c:pt idx="6">
                  <c:v>14663</c:v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16565</c:v>
                </c:pt>
                <c:pt idx="1">
                  <c:v>15707</c:v>
                </c:pt>
                <c:pt idx="2">
                  <c:v>15981</c:v>
                </c:pt>
                <c:pt idx="3">
                  <c:v>14990</c:v>
                </c:pt>
                <c:pt idx="4">
                  <c:v>14527</c:v>
                </c:pt>
                <c:pt idx="5">
                  <c:v>14882</c:v>
                </c:pt>
                <c:pt idx="6">
                  <c:v>15408</c:v>
                </c:pt>
                <c:pt idx="7">
                  <c:v/>
                </c:pt>
                <c:pt idx="8">
                  <c:v/>
                </c:pt>
                <c:pt idx="9">
                  <c:v>14227</c:v>
                </c:pt>
                <c:pt idx="10">
                  <c:v>12951</c:v>
                </c:pt>
                <c:pt idx="11">
                  <c:v>14223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>14622</c:v>
                </c:pt>
                <c:pt idx="8">
                  <c:v>13082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#,##0.0,&quot;K&quot;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16565</c:v>
                </c:pt>
                <c:pt idx="1">
                  <c:v>15707</c:v>
                </c:pt>
                <c:pt idx="2">
                  <c:v>15981</c:v>
                </c:pt>
                <c:pt idx="3">
                  <c:v>14990</c:v>
                </c:pt>
                <c:pt idx="4">
                  <c:v>14527</c:v>
                </c:pt>
                <c:pt idx="5">
                  <c:v>14882</c:v>
                </c:pt>
                <c:pt idx="6">
                  <c:v>15408</c:v>
                </c:pt>
                <c:pt idx="7">
                  <c:v>14622</c:v>
                </c:pt>
                <c:pt idx="8">
                  <c:v>13082</c:v>
                </c:pt>
                <c:pt idx="9">
                  <c:v>14227</c:v>
                </c:pt>
                <c:pt idx="10">
                  <c:v>12951</c:v>
                </c:pt>
                <c:pt idx="11">
                  <c:v>14223</c:v>
                </c:pt>
              </c:numCache>
            </c:numRef>
          </c:val>
          <c:smooth val="0"/>
        </c:ser>
        <c:dLbls>
          <c:numFmt formatCode="#,##0.0,&quot;K&quot;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8000"/>
          <c:min val="1000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196</c:v>
                </c:pt>
                <c:pt idx="1">
                  <c:v>198</c:v>
                </c:pt>
                <c:pt idx="2">
                  <c:v>197</c:v>
                </c:pt>
                <c:pt idx="3">
                  <c:v>199</c:v>
                </c:pt>
                <c:pt idx="4">
                  <c:v>194</c:v>
                </c:pt>
                <c:pt idx="5">
                  <c:v>194</c:v>
                </c:pt>
                <c:pt idx="6">
                  <c:v>199</c:v>
                </c:pt>
                <c:pt idx="7">
                  <c:v>198</c:v>
                </c:pt>
                <c:pt idx="8">
                  <c:v>199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196</c:v>
                </c:pt>
                <c:pt idx="1">
                  <c:v>198</c:v>
                </c:pt>
                <c:pt idx="2">
                  <c:v>197</c:v>
                </c:pt>
                <c:pt idx="3">
                  <c:v>199</c:v>
                </c:pt>
                <c:pt idx="4">
                  <c:v>194</c:v>
                </c:pt>
                <c:pt idx="5">
                  <c:v>194</c:v>
                </c:pt>
                <c:pt idx="6">
                  <c:v>199</c:v>
                </c:pt>
                <c:pt idx="7">
                  <c:v>198</c:v>
                </c:pt>
                <c:pt idx="8">
                  <c:v>199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</c:v>
                </c:pt>
                <c:pt idx="1">
                  <c:v>175</c:v>
                </c:pt>
                <c:pt idx="2">
                  <c:v>173</c:v>
                </c:pt>
                <c:pt idx="3">
                  <c:v>176</c:v>
                </c:pt>
                <c:pt idx="4">
                  <c:v>182</c:v>
                </c:pt>
                <c:pt idx="5">
                  <c:v>185</c:v>
                </c:pt>
                <c:pt idx="6">
                  <c:v>187</c:v>
                </c:pt>
                <c:pt idx="7">
                  <c:v>186</c:v>
                </c:pt>
                <c:pt idx="8">
                  <c:v>187</c:v>
                </c:pt>
                <c:pt idx="9">
                  <c:v>188</c:v>
                </c:pt>
                <c:pt idx="10">
                  <c:v>189</c:v>
                </c:pt>
                <c:pt idx="11">
                  <c:v>193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175</c:v>
                </c:pt>
                <c:pt idx="1">
                  <c:v>175</c:v>
                </c:pt>
                <c:pt idx="2">
                  <c:v>173</c:v>
                </c:pt>
                <c:pt idx="3">
                  <c:v>176</c:v>
                </c:pt>
                <c:pt idx="4">
                  <c:v>182</c:v>
                </c:pt>
                <c:pt idx="5">
                  <c:v>185</c:v>
                </c:pt>
                <c:pt idx="6">
                  <c:v>187</c:v>
                </c:pt>
                <c:pt idx="7">
                  <c:v>186</c:v>
                </c:pt>
                <c:pt idx="8">
                  <c:v>187</c:v>
                </c:pt>
                <c:pt idx="9">
                  <c:v>188</c:v>
                </c:pt>
                <c:pt idx="10">
                  <c:v>189</c:v>
                </c:pt>
                <c:pt idx="11">
                  <c:v>193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210"/>
          <c:min val="16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 w="38100" cap="flat">
              <a:solidFill>
                <a:srgbClr val="2587C5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126</c:v>
                </c:pt>
                <c:pt idx="1">
                  <c:v>124</c:v>
                </c:pt>
                <c:pt idx="2">
                  <c:v>131</c:v>
                </c:pt>
                <c:pt idx="3">
                  <c:v>131</c:v>
                </c:pt>
                <c:pt idx="4">
                  <c:v>132</c:v>
                </c:pt>
                <c:pt idx="5">
                  <c:v>128</c:v>
                </c:pt>
                <c:pt idx="6">
                  <c:v>133</c:v>
                </c:pt>
                <c:pt idx="7">
                  <c:v>130</c:v>
                </c:pt>
                <c:pt idx="8">
                  <c:v>134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126</c:v>
                </c:pt>
                <c:pt idx="1">
                  <c:v/>
                </c:pt>
                <c:pt idx="2">
                  <c:v>131</c:v>
                </c:pt>
                <c:pt idx="3">
                  <c:v>131</c:v>
                </c:pt>
                <c:pt idx="4">
                  <c:v>132</c:v>
                </c:pt>
                <c:pt idx="5">
                  <c:v/>
                </c:pt>
                <c:pt idx="6">
                  <c:v>133</c:v>
                </c:pt>
                <c:pt idx="7">
                  <c:v>130</c:v>
                </c:pt>
                <c:pt idx="8">
                  <c:v>134</c:v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2587C5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2587C5"/>
              </a:solidFill>
              <a:ln w="9525" cap="flat">
                <a:solidFill>
                  <a:srgbClr val="2587C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>124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128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/>
                </c:pt>
                <c:pt idx="1">
                  <c:v>125</c:v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129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>
              <a:noFill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dLblPos val="b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124</c:v>
                </c:pt>
                <c:pt idx="1">
                  <c:v/>
                </c:pt>
                <c:pt idx="2">
                  <c:v>125</c:v>
                </c:pt>
                <c:pt idx="3">
                  <c:v>126</c:v>
                </c:pt>
                <c:pt idx="4">
                  <c:v>130</c:v>
                </c:pt>
                <c:pt idx="5">
                  <c:v/>
                </c:pt>
                <c:pt idx="6">
                  <c:v>126</c:v>
                </c:pt>
                <c:pt idx="7">
                  <c:v>126</c:v>
                </c:pt>
                <c:pt idx="8">
                  <c:v>124</c:v>
                </c:pt>
                <c:pt idx="9">
                  <c:v>126</c:v>
                </c:pt>
                <c:pt idx="10">
                  <c:v>126</c:v>
                </c:pt>
                <c:pt idx="11">
                  <c:v>130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dLblPos val="b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FFFFF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A3AD"/>
            </a:solidFill>
            <a:ln w="38100" cap="flat">
              <a:solidFill>
                <a:srgbClr val="9AA3AD"/>
              </a:solidFill>
              <a:prstDash val="solid"/>
              <a:round/>
            </a:ln>
            <a:effectLst/>
          </c:spPr>
          <c:invertIfNegative val="0"/>
          <c:dLbls>
            <c:numFmt formatCode="&quot;$&quot;#,##0.0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8"/>
            <c:spPr>
              <a:solidFill>
                <a:srgbClr val="9AA3AD"/>
              </a:solidFill>
              <a:ln w="9525" cap="flat">
                <a:solidFill>
                  <a:srgbClr val="9AA3A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124</c:v>
                </c:pt>
                <c:pt idx="1">
                  <c:v>125</c:v>
                </c:pt>
                <c:pt idx="2">
                  <c:v>125</c:v>
                </c:pt>
                <c:pt idx="3">
                  <c:v>126</c:v>
                </c:pt>
                <c:pt idx="4">
                  <c:v>130</c:v>
                </c:pt>
                <c:pt idx="5">
                  <c:v>129</c:v>
                </c:pt>
                <c:pt idx="6">
                  <c:v>126</c:v>
                </c:pt>
                <c:pt idx="7">
                  <c:v>126</c:v>
                </c:pt>
                <c:pt idx="8">
                  <c:v>124</c:v>
                </c:pt>
                <c:pt idx="9">
                  <c:v>126</c:v>
                </c:pt>
                <c:pt idx="10">
                  <c:v>126</c:v>
                </c:pt>
                <c:pt idx="11">
                  <c:v>130</c:v>
                </c:pt>
              </c:numCache>
            </c:numRef>
          </c:val>
          <c:smooth val="0"/>
        </c:ser>
        <c:dLbls>
          <c:numFmt formatCode="&quot;$&quot;#,##0.00" sourceLinked="0"/>
          <c:txPr>
            <a:bodyPr/>
            <a:lstStyle/>
            <a:p>
              <a:pPr>
                <a:defRPr b="0" i="0" strike="noStrike" sz="14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min"/>
        <c:auto val="1"/>
        <c:lblAlgn val="ctr"/>
        <c:noMultiLvlLbl val="1"/>
      </c:catAx>
      <c:valAx>
        <c:axId val="2094734552"/>
        <c:scaling>
          <c:orientation val="minMax"/>
          <c:max val="140"/>
          <c:min val="120"/>
        </c:scaling>
        <c:delete val="0"/>
        <c:axPos val="l"/>
        <c:majorGridlines>
          <c:spPr>
            <a:ln w="9525" cap="flat">
              <a:solidFill>
                <a:srgbClr val="D9D9D9"/>
              </a:solidFill>
              <a:prstDash val="solid"/>
              <a:round/>
            </a:ln>
          </c:spPr>
        </c:majorGridlines>
        <c:numFmt formatCode="&quot;$&quot;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595959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"/>
      </c:valAx>
      <c:spPr>
        <a:solidFill>
          <a:srgbClr val="FFFFFF">
            <a:alpha val="0"/>
          </a:srgbClr>
        </a:solidFill>
        <a:ln>
          <a:noFill/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Distinct warranty ROs: every RO with a warranty line.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Distinct warranty ROs: every RO with a warranty line. Jan-Sep 2026 YTD.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warranty RO count (percent, so store size does not drive the ranking),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Distinct warranty ROs: every RO with a warranty line. Top and bottom five stores by change in warranty RO count (percent, so store size does not drive the ranking),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Jan-Sep 2026 YTD. Green at or above the group, red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Warranty ELR,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Warranty labor sale / warranty sold hours. Top and bottom five stores by change in Warranty ELR,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YTD from YTD totals, not the mean of months. Store rows reconcile to the group on every input, both years. 2025 shown January-December; October-December pulled Oct 22 on the same basis (chart only).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Jan-Sep 2026 YTD. Green at or above the group, red below.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Change in Internal ELR, Jan-Sep 2026 vs 2025, best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by close month. Same-store, INEOS excluded (opened 2026). GMC Prescott body shop labor types excluded. Internal labor sale / internal sold hours. A higher internal rate adds service gross but is a cost to used cars. Top and bottom five stores by change in Internal ELR, Jan-Sep 2026 vs 2025.Conversation starter: each top store says one thing they started doing; each bottom store says what got in the way and what they would try. The room trades ideas.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chart" Target="/ppt/charts/chart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4" Type="http://schemas.openxmlformats.org/officeDocument/2006/relationships/chart" Target="/ppt/charts/chart10.xm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chart" Target="/ppt/charts/chart16.xml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   ·   Warranty ELR   ·   Internal ELR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135,764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126,891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−8,873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Down 8,873 to 126,891, behind 2025 in seven of nine months. Warranty volume follows OEM campaigns and recalls as much as store effort.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126,891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980944" y="1911860"/>
            <a:ext cx="18288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855464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11,211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980944" y="2151755"/>
            <a:ext cx="172260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55464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10,560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80944" y="2391651"/>
            <a:ext cx="140092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855464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8,588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980944" y="2631546"/>
            <a:ext cx="128624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855464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7,885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980944" y="2871442"/>
            <a:ext cx="126275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855464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7,741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980944" y="3111337"/>
            <a:ext cx="119603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855464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7,332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980944" y="3351233"/>
            <a:ext cx="10309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855464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6,320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2980944" y="3591128"/>
            <a:ext cx="7989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855464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4,898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980944" y="3831024"/>
            <a:ext cx="77207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855464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4,733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2980944" y="4070920"/>
            <a:ext cx="62509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855464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3,832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2980944" y="4310815"/>
            <a:ext cx="6167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855464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3,781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2980944" y="4550711"/>
            <a:ext cx="5962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855464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3,655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2980944" y="4790606"/>
            <a:ext cx="59557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855464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3,651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2980944" y="5030502"/>
            <a:ext cx="55218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855464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3,385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2980944" y="5270397"/>
            <a:ext cx="5306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855464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3,253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2980944" y="5510293"/>
            <a:ext cx="5099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855464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3,126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2980944" y="5750188"/>
            <a:ext cx="50063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855464" y="568541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3,069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31352" y="1911860"/>
            <a:ext cx="45707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405872" y="184708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2,802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31352" y="2151755"/>
            <a:ext cx="4445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405872" y="208698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2,725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31352" y="2391651"/>
            <a:ext cx="4084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405872" y="232687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2,504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31352" y="2631546"/>
            <a:ext cx="39933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405872" y="256677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2,448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31352" y="2871442"/>
            <a:ext cx="3750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405872" y="280667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2,299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31352" y="3111337"/>
            <a:ext cx="3691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405872" y="3046566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2,263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31352" y="3351233"/>
            <a:ext cx="3282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405872" y="328646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2,012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31352" y="3591128"/>
            <a:ext cx="3257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405872" y="3526357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1,997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31352" y="3831024"/>
            <a:ext cx="2947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405872" y="3766252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1,807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31352" y="4070920"/>
            <a:ext cx="2466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405872" y="4006148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1,512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31352" y="4310815"/>
            <a:ext cx="23539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405872" y="4246043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1,443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31352" y="4550711"/>
            <a:ext cx="2226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405872" y="4485939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1,365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31352" y="4790606"/>
            <a:ext cx="2123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405872" y="4725834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1,302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31352" y="5030502"/>
            <a:ext cx="2014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405872" y="4965730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1,235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31352" y="5270397"/>
            <a:ext cx="18514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405872" y="5205625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1,135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31352" y="5510293"/>
            <a:ext cx="1667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405872" y="5445521"/>
            <a:ext cx="109728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1,022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4" name="Shape 14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 leads at 11,211; LR Reno is smallest at 1,022.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−6.5%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+47.9%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77674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+47.8%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76745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+47.3%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58323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+35.9%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53085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+32.7%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48565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+29.9%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36844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+22.7%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33204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+20.4%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9401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+11.9%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18893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+11.6%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16479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+10.1%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14485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+8.9%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206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+7.4%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1091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+6.8%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6589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+4.1%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542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+3.3%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2176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+1.3%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267349" y="1911860"/>
            <a:ext cx="6867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−4.2%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226847" y="2151755"/>
            <a:ext cx="10917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−6.7%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209036" y="2391651"/>
            <a:ext cx="12698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−7.8%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157295" y="2631546"/>
            <a:ext cx="17872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−11.0%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151411" y="2871442"/>
            <a:ext cx="1846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−11.4%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132099" y="3111337"/>
            <a:ext cx="20392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−12.6%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091020" y="3351233"/>
            <a:ext cx="24500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−15.1%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014543" y="3591128"/>
            <a:ext cx="32148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−19.8%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006870" y="3831024"/>
            <a:ext cx="3291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−20.3%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967454" y="4070920"/>
            <a:ext cx="36857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−22.7%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892133" y="4310815"/>
            <a:ext cx="44389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−27.3%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853570" y="4550711"/>
            <a:ext cx="4824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−29.7%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762298" y="4790606"/>
            <a:ext cx="57372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−35.3%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694064" y="5030502"/>
            <a:ext cx="64196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−39.5%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626252" y="5270397"/>
            <a:ext cx="70977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−43.7%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83100" y="5510293"/>
            <a:ext cx="75292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−46.4%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FBEBE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 of 33 stores grew warranty RO count, led by Hyundai Prescott at +47.9% to 2,802. 16 declined; Acura fell most at −46.4%.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 Count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135,764 → 126,891 (−6.5%). Ranked by percent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1,895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2,802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+47.9%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1,361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2,012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+47.8%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2,482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3,655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+47.3%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1,665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2,263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+35.9%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8,449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11,211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+32.7%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2,545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1,365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−46.4%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2,686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1,512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−43.7%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13,040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7,885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−39.5%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3,088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1,997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−35.3%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1,757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1,235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−29.7%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Hyundai Prescott, Lexus and Hyundai St George what changed. Ask Acura, Mazda and Honda Henderson what got in the way.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$180.25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+9.4%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1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2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5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6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8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$16.93 to $197.17, ahead of 2025 in all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$308.88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50564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$274.91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44145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$263.19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28435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$234.51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25085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$228.39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187628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$216.85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16322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$212.39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14832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$209.67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14724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$209.48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133466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$206.96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13341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$206.95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08214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$197.59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07000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$195.37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06886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$195.16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01870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$186.00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00204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$182.96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98941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$180.66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98896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$180.57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97270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$177.61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96721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$176.60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95047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$173.55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938985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$171.45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93792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$171.25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93637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$170.97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93463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$170.65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8990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$164.16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87821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$160.35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86428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$157.81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85370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$155.88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8300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781476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$142.69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7146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$130.48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66540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$121.50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080932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3134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of 33 stores at or above the $197.17 group, led by Audi Henderson at $308.88. Subaru Prescott is lowest at $121.50.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77724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+$57.74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53645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+$39.85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684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+$27.37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35513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+$26.38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7660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+$20.55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25852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+$19.21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25783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+$19.15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22818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+$16.95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22572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+$16.77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22568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+$16.77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21600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+$16.05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21466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+$15.95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1835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+$13.64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17351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+$12.89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1649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+$12.26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13001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+$9.66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129735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+$9.64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1239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+$9.21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11550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+$8.58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9359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+$6.95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36024" y="2631546"/>
            <a:ext cx="915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+$6.80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36024" y="2871442"/>
            <a:ext cx="908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+$6.75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36024" y="3111337"/>
            <a:ext cx="8371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+$6.22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336024" y="3351233"/>
            <a:ext cx="7134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+$5.30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336024" y="3591128"/>
            <a:ext cx="6118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+$4.55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336024" y="3831024"/>
            <a:ext cx="574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+$4.27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336024" y="4070920"/>
            <a:ext cx="500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+$3.72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336024" y="4310815"/>
            <a:ext cx="331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+$2.47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336024" y="4550711"/>
            <a:ext cx="1381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+$1.03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336024" y="4790606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+$0.95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9335137" y="5030502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−$0.07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9314711" y="5270397"/>
            <a:ext cx="21313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−$1.58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9171193" y="5510293"/>
            <a:ext cx="164831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−$12.25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 of 33 stores raised warranty ELR, led by LR LV at +$57.74 to $274.91. 3 declined; Honda North fell most at −$12.25.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$180.25 → $197.17 (+$16.93). Ranked by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$217.17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$274.91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+$57.74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$269.02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$308.88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+$39.85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$207.14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$234.51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+$27.37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$236.81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$263.19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+$26.38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$150.71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$171.25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+$20.55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$142.73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$130.48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−$12.25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$229.98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$228.39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−$1.58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$212.46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$212.39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−$0.07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$120.55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$121.50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+$0.95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$154.85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$155.88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+$1.03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LR LV, Audi Henderson and Volvo what changed. Ask Honda North, LR Reno and Cadillac what got in the way.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8580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YTD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$126.09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 YTD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47472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$129.84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9052560" y="1335024"/>
            <a:ext cx="2651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 %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052560" y="155448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+3.0%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457200" y="2322576"/>
            <a:ext cx="11274552" cy="36667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85800" y="2459736"/>
            <a:ext cx="10817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 by month, 2025 against 2026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85800" y="2807208"/>
            <a:ext cx="10817352" cy="10973"/>
          </a:xfrm>
          <a:prstGeom prst="rect">
            <a:avLst/>
          </a:prstGeom>
          <a:solidFill>
            <a:srgbClr val="1A1A1A"/>
          </a:solidFill>
          <a:ln/>
        </p:spPr>
      </p:sp>
      <p:graphicFrame>
        <p:nvGraphicFramePr>
          <p:cNvPr id="17" name="Chart 0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Chart 1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9" name="Chart 2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20" name="Chart 3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1" name="Chart 4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22" name="Chart 5" descr=""/>
          <p:cNvGraphicFramePr/>
          <p:nvPr/>
        </p:nvGraphicFramePr>
        <p:xfrm>
          <a:off x="621792" y="3218688"/>
          <a:ext cx="10945368" cy="26791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Shape 15"/>
          <p:cNvSpPr/>
          <p:nvPr/>
        </p:nvSpPr>
        <p:spPr>
          <a:xfrm>
            <a:off x="4951476" y="3049524"/>
            <a:ext cx="310896" cy="45720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4" name="Shape 16"/>
          <p:cNvSpPr/>
          <p:nvPr/>
        </p:nvSpPr>
        <p:spPr>
          <a:xfrm>
            <a:off x="5052060" y="3017520"/>
            <a:ext cx="109728" cy="109728"/>
          </a:xfrm>
          <a:prstGeom prst="ellipse">
            <a:avLst/>
          </a:prstGeom>
          <a:solidFill>
            <a:srgbClr val="9AA3AD"/>
          </a:solidFill>
          <a:ln/>
        </p:spPr>
      </p:sp>
      <p:sp>
        <p:nvSpPr>
          <p:cNvPr id="25" name="Text 17"/>
          <p:cNvSpPr txBox="1"/>
          <p:nvPr/>
        </p:nvSpPr>
        <p:spPr>
          <a:xfrm>
            <a:off x="533552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</a:t>
            </a:r>
            <a:endParaRPr lang="en-US" sz="1400" dirty="0"/>
          </a:p>
        </p:txBody>
      </p:sp>
      <p:sp>
        <p:nvSpPr>
          <p:cNvPr id="26" name="Shape 18"/>
          <p:cNvSpPr/>
          <p:nvPr/>
        </p:nvSpPr>
        <p:spPr>
          <a:xfrm>
            <a:off x="6185916" y="3049524"/>
            <a:ext cx="310896" cy="457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Shape 19"/>
          <p:cNvSpPr/>
          <p:nvPr/>
        </p:nvSpPr>
        <p:spPr>
          <a:xfrm>
            <a:off x="6286500" y="3017520"/>
            <a:ext cx="109728" cy="109728"/>
          </a:xfrm>
          <a:prstGeom prst="ellipse">
            <a:avLst/>
          </a:prstGeom>
          <a:solidFill>
            <a:srgbClr val="2587C5"/>
          </a:solidFill>
          <a:ln/>
        </p:spPr>
      </p:sp>
      <p:sp>
        <p:nvSpPr>
          <p:cNvPr id="28" name="Text 20"/>
          <p:cNvSpPr txBox="1"/>
          <p:nvPr/>
        </p:nvSpPr>
        <p:spPr>
          <a:xfrm>
            <a:off x="6569964" y="2926080"/>
            <a:ext cx="777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2026</a:t>
            </a:r>
            <a:endParaRPr lang="en-US" sz="1400" dirty="0"/>
          </a:p>
        </p:txBody>
      </p:sp>
      <p:sp>
        <p:nvSpPr>
          <p:cNvPr id="29" name="Shape 21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$3.75 to $129.84, ahead of 2025 in seven of nine months.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9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YTD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$129.84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08376" y="1907062"/>
            <a:ext cx="169164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754880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$207.05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008376" y="2146957"/>
            <a:ext cx="1676174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754880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$205.15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008376" y="2386853"/>
            <a:ext cx="153509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754880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$187.89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008376" y="2626748"/>
            <a:ext cx="144095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754880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$176.36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008376" y="2866644"/>
            <a:ext cx="141684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754880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$173.41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008376" y="3106540"/>
            <a:ext cx="136417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754880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$166.97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008376" y="3346435"/>
            <a:ext cx="135475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754880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$165.81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008376" y="3586331"/>
            <a:ext cx="133461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754880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$163.35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008376" y="3826226"/>
            <a:ext cx="132628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754880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$162.33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008376" y="4066122"/>
            <a:ext cx="129849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754880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$158.93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008376" y="4306017"/>
            <a:ext cx="126524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754880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$154.86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008376" y="4545913"/>
            <a:ext cx="1238047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754880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$151.53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008376" y="4785808"/>
            <a:ext cx="119979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754880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$146.85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008376" y="5025704"/>
            <a:ext cx="119958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754880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$146.82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008376" y="5265599"/>
            <a:ext cx="1158201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754880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$141.76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008376" y="5505495"/>
            <a:ext cx="113863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754880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$139.36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008376" y="5745390"/>
            <a:ext cx="1122612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754880" y="568541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$137.40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8558784" y="1907062"/>
            <a:ext cx="1121023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305288" y="184708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$137.21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8558784" y="2146957"/>
            <a:ext cx="111852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305288" y="208698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$136.90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8558784" y="2386853"/>
            <a:ext cx="1098819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305288" y="232687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$134.49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558784" y="2626748"/>
            <a:ext cx="1098580" cy="119948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305288" y="256677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$134.46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8558784" y="2866644"/>
            <a:ext cx="104755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305288" y="280667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$128.21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8558784" y="3106540"/>
            <a:ext cx="104098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305288" y="3046566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$127.41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8558784" y="3346435"/>
            <a:ext cx="101683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305288" y="328646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$124.45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8558784" y="3586331"/>
            <a:ext cx="1002319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305288" y="3526357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$122.68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8558784" y="3826226"/>
            <a:ext cx="975333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305288" y="3766252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$119.37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8558784" y="4066122"/>
            <a:ext cx="95741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305288" y="4006148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$117.18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8558784" y="4306017"/>
            <a:ext cx="939310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305288" y="4246043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$114.97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8558784" y="4545913"/>
            <a:ext cx="892374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305288" y="4485939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$109.22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8558784" y="4785808"/>
            <a:ext cx="857012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305288" y="4725834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$104.89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558784" y="5025704"/>
            <a:ext cx="838677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305288" y="4965730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$102.65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558784" y="5265599"/>
            <a:ext cx="815241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305288" y="5205625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$99.78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05495"/>
            <a:ext cx="712528" cy="119948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305288" y="5445521"/>
            <a:ext cx="114300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$87.21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4061880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612288" y="1847088"/>
            <a:ext cx="14630" cy="40782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 of 33 stores at or above the $129.84 group, led by LR Reno at $207.05. Nissan is lowest at $87.21.</a:t>
            </a:r>
            <a:endParaRPr lang="en-US" sz="15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35024"/>
            <a:ext cx="10872216" cy="420624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35024"/>
            <a:ext cx="59436" cy="420624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59536" y="1335024"/>
            <a:ext cx="23774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291840" y="1335024"/>
            <a:ext cx="4754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9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YEAR-OVER-YEAR CHANGE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335024"/>
            <a:ext cx="3291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8368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014984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785616" y="1911860"/>
            <a:ext cx="60083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617720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+$46.71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014984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785616" y="2151755"/>
            <a:ext cx="50922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617720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+$39.59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14984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85616" y="2391651"/>
            <a:ext cx="34878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617720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+$27.12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58368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14984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785616" y="2631546"/>
            <a:ext cx="26770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17720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+$20.81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58368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1014984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785616" y="2871442"/>
            <a:ext cx="22436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617720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+$17.44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1014984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785616" y="3111337"/>
            <a:ext cx="1631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617720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+$12.68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658368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1014984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785616" y="3351233"/>
            <a:ext cx="159860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17720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+$12.43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658368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1014984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785616" y="3591128"/>
            <a:ext cx="15483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17720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+$12.04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1014984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785616" y="3831024"/>
            <a:ext cx="14315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4617720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+$11.13</a:t>
            </a:r>
            <a:endParaRPr lang="en-US" sz="12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8" name="Text 46"/>
          <p:cNvSpPr txBox="1"/>
          <p:nvPr/>
        </p:nvSpPr>
        <p:spPr>
          <a:xfrm>
            <a:off x="1014984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785616" y="4070920"/>
            <a:ext cx="82257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4617720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+$6.39</a:t>
            </a:r>
            <a:endParaRPr lang="en-US" sz="1200" dirty="0"/>
          </a:p>
        </p:txBody>
      </p:sp>
      <p:sp>
        <p:nvSpPr>
          <p:cNvPr id="51" name="Text 49"/>
          <p:cNvSpPr txBox="1"/>
          <p:nvPr/>
        </p:nvSpPr>
        <p:spPr>
          <a:xfrm>
            <a:off x="658368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52" name="Text 50"/>
          <p:cNvSpPr txBox="1"/>
          <p:nvPr/>
        </p:nvSpPr>
        <p:spPr>
          <a:xfrm>
            <a:off x="1014984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785616" y="4310815"/>
            <a:ext cx="80763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4617720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+$6.28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658368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6" name="Text 54"/>
          <p:cNvSpPr txBox="1"/>
          <p:nvPr/>
        </p:nvSpPr>
        <p:spPr>
          <a:xfrm>
            <a:off x="1014984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785616" y="4550711"/>
            <a:ext cx="73598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4617720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+$5.72</a:t>
            </a:r>
            <a:endParaRPr lang="en-US" sz="1200" dirty="0"/>
          </a:p>
        </p:txBody>
      </p:sp>
      <p:sp>
        <p:nvSpPr>
          <p:cNvPr id="59" name="Text 57"/>
          <p:cNvSpPr txBox="1"/>
          <p:nvPr/>
        </p:nvSpPr>
        <p:spPr>
          <a:xfrm>
            <a:off x="658368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60" name="Text 58"/>
          <p:cNvSpPr txBox="1"/>
          <p:nvPr/>
        </p:nvSpPr>
        <p:spPr>
          <a:xfrm>
            <a:off x="1014984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3785616" y="4790606"/>
            <a:ext cx="70341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617720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+$5.47</a:t>
            </a:r>
            <a:endParaRPr lang="en-US" sz="1200" dirty="0"/>
          </a:p>
        </p:txBody>
      </p:sp>
      <p:sp>
        <p:nvSpPr>
          <p:cNvPr id="63" name="Text 61"/>
          <p:cNvSpPr txBox="1"/>
          <p:nvPr/>
        </p:nvSpPr>
        <p:spPr>
          <a:xfrm>
            <a:off x="658368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4" name="Text 62"/>
          <p:cNvSpPr txBox="1"/>
          <p:nvPr/>
        </p:nvSpPr>
        <p:spPr>
          <a:xfrm>
            <a:off x="1014984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3785616" y="5030502"/>
            <a:ext cx="66109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4617720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+$5.14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658368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8" name="Text 66"/>
          <p:cNvSpPr txBox="1"/>
          <p:nvPr/>
        </p:nvSpPr>
        <p:spPr>
          <a:xfrm>
            <a:off x="1014984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3785616" y="5270397"/>
            <a:ext cx="5801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4617720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+$4.51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658368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72" name="Text 70"/>
          <p:cNvSpPr txBox="1"/>
          <p:nvPr/>
        </p:nvSpPr>
        <p:spPr>
          <a:xfrm>
            <a:off x="1014984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3785616" y="5510293"/>
            <a:ext cx="4914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4617720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+$3.82</a:t>
            </a:r>
            <a:endParaRPr lang="en-US" sz="1200" dirty="0"/>
          </a:p>
        </p:txBody>
      </p:sp>
      <p:sp>
        <p:nvSpPr>
          <p:cNvPr id="75" name="Text 73"/>
          <p:cNvSpPr txBox="1"/>
          <p:nvPr/>
        </p:nvSpPr>
        <p:spPr>
          <a:xfrm>
            <a:off x="658368" y="568541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6" name="Text 74"/>
          <p:cNvSpPr txBox="1"/>
          <p:nvPr/>
        </p:nvSpPr>
        <p:spPr>
          <a:xfrm>
            <a:off x="1014984" y="568541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3785616" y="5750188"/>
            <a:ext cx="4822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617720" y="568541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+$3.75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6208776" y="184708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80" name="Text 78"/>
          <p:cNvSpPr txBox="1"/>
          <p:nvPr/>
        </p:nvSpPr>
        <p:spPr>
          <a:xfrm>
            <a:off x="6565392" y="184708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81" name="Shape 79"/>
          <p:cNvSpPr/>
          <p:nvPr/>
        </p:nvSpPr>
        <p:spPr>
          <a:xfrm>
            <a:off x="9336024" y="1911860"/>
            <a:ext cx="46014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10168128" y="184708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+$3.58</a:t>
            </a:r>
            <a:endParaRPr lang="en-US" sz="1200" dirty="0"/>
          </a:p>
        </p:txBody>
      </p:sp>
      <p:sp>
        <p:nvSpPr>
          <p:cNvPr id="83" name="Text 81"/>
          <p:cNvSpPr txBox="1"/>
          <p:nvPr/>
        </p:nvSpPr>
        <p:spPr>
          <a:xfrm>
            <a:off x="6208776" y="208698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4" name="Text 82"/>
          <p:cNvSpPr txBox="1"/>
          <p:nvPr/>
        </p:nvSpPr>
        <p:spPr>
          <a:xfrm>
            <a:off x="6565392" y="208698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85" name="Shape 83"/>
          <p:cNvSpPr/>
          <p:nvPr/>
        </p:nvSpPr>
        <p:spPr>
          <a:xfrm>
            <a:off x="9336024" y="2151755"/>
            <a:ext cx="24966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10168128" y="208698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+$1.94</a:t>
            </a:r>
            <a:endParaRPr lang="en-US" sz="1200" dirty="0"/>
          </a:p>
        </p:txBody>
      </p:sp>
      <p:sp>
        <p:nvSpPr>
          <p:cNvPr id="87" name="Text 85"/>
          <p:cNvSpPr txBox="1"/>
          <p:nvPr/>
        </p:nvSpPr>
        <p:spPr>
          <a:xfrm>
            <a:off x="6208776" y="232687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8" name="Text 86"/>
          <p:cNvSpPr txBox="1"/>
          <p:nvPr/>
        </p:nvSpPr>
        <p:spPr>
          <a:xfrm>
            <a:off x="6565392" y="232687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9336024" y="2391651"/>
            <a:ext cx="12802" cy="11035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10168128" y="232687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+$0.34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6208776" y="256677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92" name="Text 90"/>
          <p:cNvSpPr txBox="1"/>
          <p:nvPr/>
        </p:nvSpPr>
        <p:spPr>
          <a:xfrm>
            <a:off x="6565392" y="256677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9324019" y="2631546"/>
            <a:ext cx="1280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10168128" y="256677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−$0.93</a:t>
            </a:r>
            <a:endParaRPr lang="en-US" sz="1200" dirty="0"/>
          </a:p>
        </p:txBody>
      </p:sp>
      <p:sp>
        <p:nvSpPr>
          <p:cNvPr id="95" name="Text 93"/>
          <p:cNvSpPr txBox="1"/>
          <p:nvPr/>
        </p:nvSpPr>
        <p:spPr>
          <a:xfrm>
            <a:off x="6208776" y="280667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6" name="Text 94"/>
          <p:cNvSpPr txBox="1"/>
          <p:nvPr/>
        </p:nvSpPr>
        <p:spPr>
          <a:xfrm>
            <a:off x="6565392" y="280667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9317348" y="2871442"/>
            <a:ext cx="1867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10168128" y="280667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−$1.45</a:t>
            </a:r>
            <a:endParaRPr lang="en-US" sz="1200" dirty="0"/>
          </a:p>
        </p:txBody>
      </p:sp>
      <p:sp>
        <p:nvSpPr>
          <p:cNvPr id="99" name="Text 97"/>
          <p:cNvSpPr txBox="1"/>
          <p:nvPr/>
        </p:nvSpPr>
        <p:spPr>
          <a:xfrm>
            <a:off x="6208776" y="3046566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00" name="Text 98"/>
          <p:cNvSpPr txBox="1"/>
          <p:nvPr/>
        </p:nvSpPr>
        <p:spPr>
          <a:xfrm>
            <a:off x="6565392" y="3046566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9313515" y="3111337"/>
            <a:ext cx="22509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168128" y="3046566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−$1.75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6208776" y="328646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4" name="Text 102"/>
          <p:cNvSpPr txBox="1"/>
          <p:nvPr/>
        </p:nvSpPr>
        <p:spPr>
          <a:xfrm>
            <a:off x="6565392" y="328646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05" name="Shape 103"/>
          <p:cNvSpPr/>
          <p:nvPr/>
        </p:nvSpPr>
        <p:spPr>
          <a:xfrm>
            <a:off x="9278246" y="3351233"/>
            <a:ext cx="57778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10168128" y="328646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−$4.49</a:t>
            </a:r>
            <a:endParaRPr lang="en-US" sz="1200" dirty="0"/>
          </a:p>
        </p:txBody>
      </p:sp>
      <p:sp>
        <p:nvSpPr>
          <p:cNvPr id="107" name="Text 105"/>
          <p:cNvSpPr txBox="1"/>
          <p:nvPr/>
        </p:nvSpPr>
        <p:spPr>
          <a:xfrm>
            <a:off x="6208776" y="3526357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565392" y="3526357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9273152" y="3591128"/>
            <a:ext cx="6287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10168128" y="3526357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−$4.89</a:t>
            </a:r>
            <a:endParaRPr lang="en-US" sz="1200" dirty="0"/>
          </a:p>
        </p:txBody>
      </p:sp>
      <p:sp>
        <p:nvSpPr>
          <p:cNvPr id="111" name="Text 109"/>
          <p:cNvSpPr txBox="1"/>
          <p:nvPr/>
        </p:nvSpPr>
        <p:spPr>
          <a:xfrm>
            <a:off x="6208776" y="3766252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12" name="Text 110"/>
          <p:cNvSpPr txBox="1"/>
          <p:nvPr/>
        </p:nvSpPr>
        <p:spPr>
          <a:xfrm>
            <a:off x="6565392" y="3766252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9257842" y="3831024"/>
            <a:ext cx="78182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10168128" y="3766252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−$6.08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208776" y="4006148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6" name="Text 114"/>
          <p:cNvSpPr txBox="1"/>
          <p:nvPr/>
        </p:nvSpPr>
        <p:spPr>
          <a:xfrm>
            <a:off x="6565392" y="4006148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117" name="Shape 115"/>
          <p:cNvSpPr/>
          <p:nvPr/>
        </p:nvSpPr>
        <p:spPr>
          <a:xfrm>
            <a:off x="9253717" y="4070920"/>
            <a:ext cx="8230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10168128" y="4006148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−$6.40</a:t>
            </a:r>
            <a:endParaRPr lang="en-US" sz="1200" dirty="0"/>
          </a:p>
        </p:txBody>
      </p:sp>
      <p:sp>
        <p:nvSpPr>
          <p:cNvPr id="119" name="Text 117"/>
          <p:cNvSpPr txBox="1"/>
          <p:nvPr/>
        </p:nvSpPr>
        <p:spPr>
          <a:xfrm>
            <a:off x="6208776" y="4246043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20" name="Text 118"/>
          <p:cNvSpPr txBox="1"/>
          <p:nvPr/>
        </p:nvSpPr>
        <p:spPr>
          <a:xfrm>
            <a:off x="6565392" y="4246043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121" name="Shape 119"/>
          <p:cNvSpPr/>
          <p:nvPr/>
        </p:nvSpPr>
        <p:spPr>
          <a:xfrm>
            <a:off x="9203894" y="4310815"/>
            <a:ext cx="13213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10168128" y="4246043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−$10.27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6208776" y="4485939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4" name="Text 122"/>
          <p:cNvSpPr txBox="1"/>
          <p:nvPr/>
        </p:nvSpPr>
        <p:spPr>
          <a:xfrm>
            <a:off x="6565392" y="4485939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125" name="Shape 123"/>
          <p:cNvSpPr/>
          <p:nvPr/>
        </p:nvSpPr>
        <p:spPr>
          <a:xfrm>
            <a:off x="9107808" y="4550711"/>
            <a:ext cx="228216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10168128" y="4485939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−$17.74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208776" y="4725834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8" name="Text 126"/>
          <p:cNvSpPr txBox="1"/>
          <p:nvPr/>
        </p:nvSpPr>
        <p:spPr>
          <a:xfrm>
            <a:off x="6565392" y="4725834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29" name="Shape 127"/>
          <p:cNvSpPr/>
          <p:nvPr/>
        </p:nvSpPr>
        <p:spPr>
          <a:xfrm>
            <a:off x="9069070" y="4790606"/>
            <a:ext cx="266954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10168128" y="4725834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−$20.75</a:t>
            </a:r>
            <a:endParaRPr lang="en-US" sz="1200" dirty="0"/>
          </a:p>
        </p:txBody>
      </p:sp>
      <p:sp>
        <p:nvSpPr>
          <p:cNvPr id="131" name="Text 129"/>
          <p:cNvSpPr txBox="1"/>
          <p:nvPr/>
        </p:nvSpPr>
        <p:spPr>
          <a:xfrm>
            <a:off x="6208776" y="4965730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32" name="Text 130"/>
          <p:cNvSpPr txBox="1"/>
          <p:nvPr/>
        </p:nvSpPr>
        <p:spPr>
          <a:xfrm>
            <a:off x="6565392" y="4965730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133" name="Shape 131"/>
          <p:cNvSpPr/>
          <p:nvPr/>
        </p:nvSpPr>
        <p:spPr>
          <a:xfrm>
            <a:off x="8916687" y="5030502"/>
            <a:ext cx="419337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10168128" y="4965730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−$32.60</a:t>
            </a:r>
            <a:endParaRPr lang="en-US" sz="1200" dirty="0"/>
          </a:p>
        </p:txBody>
      </p:sp>
      <p:sp>
        <p:nvSpPr>
          <p:cNvPr id="135" name="Text 133"/>
          <p:cNvSpPr txBox="1"/>
          <p:nvPr/>
        </p:nvSpPr>
        <p:spPr>
          <a:xfrm>
            <a:off x="6208776" y="5205625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6" name="Text 134"/>
          <p:cNvSpPr txBox="1"/>
          <p:nvPr/>
        </p:nvSpPr>
        <p:spPr>
          <a:xfrm>
            <a:off x="6565392" y="5205625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37" name="Shape 135"/>
          <p:cNvSpPr/>
          <p:nvPr/>
        </p:nvSpPr>
        <p:spPr>
          <a:xfrm>
            <a:off x="8809839" y="5270397"/>
            <a:ext cx="526185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10168128" y="5205625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−$40.91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208776" y="5445521"/>
            <a:ext cx="310896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40" name="Text 138"/>
          <p:cNvSpPr txBox="1"/>
          <p:nvPr/>
        </p:nvSpPr>
        <p:spPr>
          <a:xfrm>
            <a:off x="6565392" y="5445521"/>
            <a:ext cx="19202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141" name="Shape 139"/>
          <p:cNvSpPr/>
          <p:nvPr/>
        </p:nvSpPr>
        <p:spPr>
          <a:xfrm>
            <a:off x="8558784" y="5510293"/>
            <a:ext cx="777240" cy="110352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10168128" y="5445521"/>
            <a:ext cx="1234440" cy="239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−$60.43</a:t>
            </a:r>
            <a:endParaRPr lang="en-US" sz="1200" dirty="0"/>
          </a:p>
        </p:txBody>
      </p:sp>
      <p:sp>
        <p:nvSpPr>
          <p:cNvPr id="143" name="Shape 141"/>
          <p:cNvSpPr/>
          <p:nvPr/>
        </p:nvSpPr>
        <p:spPr>
          <a:xfrm>
            <a:off x="3780130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330538" y="1847088"/>
            <a:ext cx="10973" cy="4078224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085332" y="1847088"/>
            <a:ext cx="10973" cy="4078224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 of 33 stores raised internal ELR, led by Hyundai St George at +$46.71 to $205.15. 13 declined; Kia LV fell most at −$60.43.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Jan–Sep 2026 against Jan–Sep 2025. Group $126.09 → $129.84 (+$3.75). Ranked by change.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58368" y="1737360"/>
            <a:ext cx="5321808" cy="457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4980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TOP 5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98648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864608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58368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115568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898648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$158.44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$205.15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864608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+$46.71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49808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2898648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$167.46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$207.05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64608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+$39.59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58368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2898648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$138.70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$165.81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864608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+$27.12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1115568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2898648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$113.65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$134.46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864608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+$20.81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58368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49808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115568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2898648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$97.52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$114.97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4864608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+$17.44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208776" y="1737360"/>
            <a:ext cx="5321808" cy="457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30021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BOTTOM 5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8449056" y="18105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2025 → 2026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10415016" y="181051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Change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6208776" y="2121408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300216" y="212140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500" dirty="0"/>
          </a:p>
        </p:txBody>
      </p:sp>
      <p:sp>
        <p:nvSpPr>
          <p:cNvPr id="40" name="Text 38"/>
          <p:cNvSpPr txBox="1"/>
          <p:nvPr/>
        </p:nvSpPr>
        <p:spPr>
          <a:xfrm>
            <a:off x="6665976" y="212140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8449056" y="212140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$227.39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$166.97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10415016" y="212140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−$60.43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00216" y="287304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665976" y="287304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45" name="Text 43"/>
          <p:cNvSpPr txBox="1"/>
          <p:nvPr/>
        </p:nvSpPr>
        <p:spPr>
          <a:xfrm>
            <a:off x="8449056" y="287304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$182.66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$141.76</a:t>
            </a:r>
            <a:endParaRPr lang="en-US" sz="1400" dirty="0"/>
          </a:p>
        </p:txBody>
      </p:sp>
      <p:sp>
        <p:nvSpPr>
          <p:cNvPr id="46" name="Text 44"/>
          <p:cNvSpPr txBox="1"/>
          <p:nvPr/>
        </p:nvSpPr>
        <p:spPr>
          <a:xfrm>
            <a:off x="10415016" y="287304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−$40.91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6208776" y="3624682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300216" y="3624682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6665976" y="3624682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400" dirty="0"/>
          </a:p>
        </p:txBody>
      </p:sp>
      <p:sp>
        <p:nvSpPr>
          <p:cNvPr id="50" name="Text 48"/>
          <p:cNvSpPr txBox="1"/>
          <p:nvPr/>
        </p:nvSpPr>
        <p:spPr>
          <a:xfrm>
            <a:off x="8449056" y="3624682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$119.81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$87.21</a:t>
            </a:r>
            <a:endParaRPr lang="en-US" sz="1400" dirty="0"/>
          </a:p>
        </p:txBody>
      </p:sp>
      <p:sp>
        <p:nvSpPr>
          <p:cNvPr id="51" name="Text 49"/>
          <p:cNvSpPr txBox="1"/>
          <p:nvPr/>
        </p:nvSpPr>
        <p:spPr>
          <a:xfrm>
            <a:off x="10415016" y="3624682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−$32.60</a:t>
            </a:r>
            <a:endParaRPr lang="en-US" sz="1600" dirty="0"/>
          </a:p>
        </p:txBody>
      </p:sp>
      <p:sp>
        <p:nvSpPr>
          <p:cNvPr id="52" name="Text 50"/>
          <p:cNvSpPr txBox="1"/>
          <p:nvPr/>
        </p:nvSpPr>
        <p:spPr>
          <a:xfrm>
            <a:off x="6300216" y="4376318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500" dirty="0"/>
          </a:p>
        </p:txBody>
      </p:sp>
      <p:sp>
        <p:nvSpPr>
          <p:cNvPr id="53" name="Text 51"/>
          <p:cNvSpPr txBox="1"/>
          <p:nvPr/>
        </p:nvSpPr>
        <p:spPr>
          <a:xfrm>
            <a:off x="6665976" y="4376318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54" name="Text 52"/>
          <p:cNvSpPr txBox="1"/>
          <p:nvPr/>
        </p:nvSpPr>
        <p:spPr>
          <a:xfrm>
            <a:off x="8449056" y="4376318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$172.28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$151.53</a:t>
            </a:r>
            <a:endParaRPr lang="en-US" sz="1400" dirty="0"/>
          </a:p>
        </p:txBody>
      </p:sp>
      <p:sp>
        <p:nvSpPr>
          <p:cNvPr id="55" name="Text 53"/>
          <p:cNvSpPr txBox="1"/>
          <p:nvPr/>
        </p:nvSpPr>
        <p:spPr>
          <a:xfrm>
            <a:off x="10415016" y="4376318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−$20.75</a:t>
            </a:r>
            <a:endParaRPr lang="en-US" sz="1600" dirty="0"/>
          </a:p>
        </p:txBody>
      </p:sp>
      <p:sp>
        <p:nvSpPr>
          <p:cNvPr id="56" name="Shape 54"/>
          <p:cNvSpPr/>
          <p:nvPr/>
        </p:nvSpPr>
        <p:spPr>
          <a:xfrm>
            <a:off x="6208776" y="5127955"/>
            <a:ext cx="5321808" cy="751637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300216" y="5127955"/>
            <a:ext cx="3200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500" dirty="0"/>
          </a:p>
        </p:txBody>
      </p:sp>
      <p:sp>
        <p:nvSpPr>
          <p:cNvPr id="58" name="Text 56"/>
          <p:cNvSpPr txBox="1"/>
          <p:nvPr/>
        </p:nvSpPr>
        <p:spPr>
          <a:xfrm>
            <a:off x="6665976" y="5127955"/>
            <a:ext cx="17373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400" dirty="0"/>
          </a:p>
        </p:txBody>
      </p:sp>
      <p:sp>
        <p:nvSpPr>
          <p:cNvPr id="59" name="Text 57"/>
          <p:cNvSpPr txBox="1"/>
          <p:nvPr/>
        </p:nvSpPr>
        <p:spPr>
          <a:xfrm>
            <a:off x="8449056" y="5127955"/>
            <a:ext cx="192024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$157.10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$139.36</a:t>
            </a:r>
            <a:endParaRPr lang="en-US" sz="1400" dirty="0"/>
          </a:p>
        </p:txBody>
      </p:sp>
      <p:sp>
        <p:nvSpPr>
          <p:cNvPr id="60" name="Text 58"/>
          <p:cNvSpPr txBox="1"/>
          <p:nvPr/>
        </p:nvSpPr>
        <p:spPr>
          <a:xfrm>
            <a:off x="10415016" y="5127955"/>
            <a:ext cx="1051560" cy="75163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−$17.74</a:t>
            </a:r>
            <a:endParaRPr lang="en-US" sz="1600" dirty="0"/>
          </a:p>
        </p:txBody>
      </p:sp>
      <p:sp>
        <p:nvSpPr>
          <p:cNvPr id="61" name="Shape 59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Ask Hyundai St George, LR Reno and Lincoln what changed. Ask Kia LV, Mazda and Nissan what got in the way.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2026-10-22T22:23:05Z</dcterms:created>
  <dcterms:modified xsi:type="dcterms:W3CDTF">2026-10-22T22:23:05Z</dcterms:modified>
</cp:coreProperties>
</file>