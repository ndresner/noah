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187.82</c:v>
                </c:pt>
                <c:pt idx="10">
                  <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
                </c:pt>
                <c:pt idx="10">
                  <c:v>188.55</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Gross Profit - Fixed Ops Warranty (service + parts warranty gross). Same-store, INEOS excluded (opened 2026); no body shop. Jan-Sep 2026 vs Jan-Sep 2025; 2025 shown January-December. Store rows reconcile to the group to the cent,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Gross Profit - Fixed Ops Warranty (service + parts warranty gross). Same-store, INEOS excluded (opened 2026); no body shop.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Warranty labor sale / warranty sold hours.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Change in Warranty ELR,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Change in Internal ELR,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Warranty gross   ·   Warranty ELR   ·   Internal ELR</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575158"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26014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631546"/>
            <a:ext cx="1234738"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916344"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60866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351233"/>
            <a:ext cx="539977"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45448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3831024"/>
            <a:ext cx="447286"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070920"/>
            <a:ext cx="326866"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310815"/>
            <a:ext cx="31122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305091"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01867"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030502"/>
            <a:ext cx="29832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270397"/>
            <a:ext cx="28684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510293"/>
            <a:ext cx="27451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5750188"/>
            <a:ext cx="268967"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1860"/>
            <a:ext cx="260447"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51755"/>
            <a:ext cx="257699"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391651"/>
            <a:ext cx="24957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631546"/>
            <a:ext cx="24256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871442"/>
            <a:ext cx="224764"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111337"/>
            <a:ext cx="209887"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351233"/>
            <a:ext cx="197473"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591128"/>
            <a:ext cx="17215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17082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070920"/>
            <a:ext cx="170412"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52644"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550711"/>
            <a:ext cx="1441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4790606"/>
            <a:ext cx="12012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030502"/>
            <a:ext cx="1132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6513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510293"/>
            <a:ext cx="40300"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Cadillac leads at $6.13M of the group's $47.07M; Honda Flagstaff is smallest at $135,184.</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 Cadillac added the most at +$2.03M (+49.5%); VW Henderson fell most at −$822K (−35.0%).</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Cadillac, Lexus and Audi Henderson what changed. Ask Acura, Honda Flagstaff and VW Henderson what got in the way. Ask Honda North, LR LV and Nissan what they started this year.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Shape 18"/>
          <p:cNvSpPr/>
          <p:nvPr/>
        </p:nvSpPr>
        <p:spPr>
          <a:xfrm>
            <a:off x="4084320" y="4405579"/>
            <a:ext cx="64008" cy="682142"/>
          </a:xfrm>
          <a:prstGeom prst="rect">
            <a:avLst/>
          </a:prstGeom>
          <a:solidFill>
            <a:srgbClr val="12A566"/>
          </a:solidFill>
          <a:ln/>
        </p:spPr>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Shape 23"/>
          <p:cNvSpPr/>
          <p:nvPr/>
        </p:nvSpPr>
        <p:spPr>
          <a:xfrm>
            <a:off x="4084320" y="5160874"/>
            <a:ext cx="64008" cy="682142"/>
          </a:xfrm>
          <a:prstGeom prst="rect">
            <a:avLst/>
          </a:prstGeom>
          <a:solidFill>
            <a:srgbClr val="12A566"/>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
        <p:nvSpPr>
          <p:cNvPr id="73" name="Shape 71"/>
          <p:cNvSpPr/>
          <p:nvPr/>
        </p:nvSpPr>
        <p:spPr>
          <a:xfrm>
            <a:off x="457200" y="6126480"/>
            <a:ext cx="11274552" cy="615696"/>
          </a:xfrm>
          <a:prstGeom prst="rect">
            <a:avLst/>
          </a:prstGeom>
          <a:solidFill>
            <a:srgbClr val="EDF4FA"/>
          </a:solidFill>
          <a:ln/>
        </p:spPr>
      </p:sp>
      <p:sp>
        <p:nvSpPr>
          <p:cNvPr id="74" name="Text 7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LV, Audi Henderson and Volvo what changed. Ask Honda North, LR Reno and Cadillac what got in the way. Ask Nissan, LR Henderson and Honda Flagstaff what they started this year.</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 led by LR Reno at $207. Nissan is lowest at $87.</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+29.5% (+$47) to $205. 13 declined; Nissan fell most at −27.2%.</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Shape 27"/>
          <p:cNvSpPr/>
          <p:nvPr/>
        </p:nvSpPr>
        <p:spPr>
          <a:xfrm>
            <a:off x="4084320" y="5160874"/>
            <a:ext cx="64008" cy="682142"/>
          </a:xfrm>
          <a:prstGeom prst="rect">
            <a:avLst/>
          </a:prstGeom>
          <a:solidFill>
            <a:srgbClr val="12A566"/>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894990"/>
            <a:ext cx="64008" cy="682142"/>
          </a:xfrm>
          <a:prstGeom prst="rect">
            <a:avLst/>
          </a:prstGeom>
          <a:solidFill>
            <a:srgbClr val="12A566"/>
          </a:solidFill>
          <a:ln/>
        </p:spPr>
      </p:sp>
      <p:sp>
        <p:nvSpPr>
          <p:cNvPr id="69" name="Text 6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613709"/>
            <a:ext cx="3489960" cy="755294"/>
          </a:xfrm>
          <a:prstGeom prst="rect">
            <a:avLst/>
          </a:prstGeom>
          <a:solidFill>
            <a:srgbClr val="F7F7F7"/>
          </a:solidFill>
          <a:ln/>
        </p:spPr>
      </p:sp>
      <p:sp>
        <p:nvSpPr>
          <p:cNvPr id="74" name="Shape 72"/>
          <p:cNvSpPr/>
          <p:nvPr/>
        </p:nvSpPr>
        <p:spPr>
          <a:xfrm>
            <a:off x="11466576" y="3650285"/>
            <a:ext cx="64008" cy="682142"/>
          </a:xfrm>
          <a:prstGeom prst="rect">
            <a:avLst/>
          </a:prstGeom>
          <a:solidFill>
            <a:srgbClr val="12A566"/>
          </a:solidFill>
          <a:ln/>
        </p:spPr>
      </p:sp>
      <p:sp>
        <p:nvSpPr>
          <p:cNvPr id="75" name="Text 73"/>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8" name="Shape 86"/>
          <p:cNvSpPr/>
          <p:nvPr/>
        </p:nvSpPr>
        <p:spPr>
          <a:xfrm>
            <a:off x="457200" y="6126480"/>
            <a:ext cx="11274552" cy="615696"/>
          </a:xfrm>
          <a:prstGeom prst="rect">
            <a:avLst/>
          </a:prstGeom>
          <a:solidFill>
            <a:srgbClr val="EDF4FA"/>
          </a:solidFill>
          <a:ln/>
        </p:spPr>
      </p:sp>
      <p:sp>
        <p:nvSpPr>
          <p:cNvPr id="89" name="Text 8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Nissan, Kia LV and Mazda what got in the way. Ask Acura, Hyundai St George and Toyota Henderson what they started this year.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2026-10-26T20:24:05Z</dcterms:created>
  <dcterms:modified xsi:type="dcterms:W3CDTF">2026-10-26T20:24:05Z</dcterms:modified>
</cp:coreProperties>
</file>