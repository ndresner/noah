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Distinct warranty ROs: every RO with a warranty line. YTD from YTD totals, not the mean of months. Store rows reconcile to the group on every input, both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Change in warranty RO count (percent, so store size does not drive the ranking),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Warranty labor sale / warranty sold hours. YTD from YTD totals, not the mean of months. Store rows reconcile to the group on every input, both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Warranty labor sale / warranty sold hours. Jan-Sep 2026 YTD. Green at or above the group, red below.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Change in Warranty ELR,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Internal labor sale / internal sold hours. A higher internal rate adds service gross but is a cost to used cars. YTD from YTD totals, not the mean of months. Store rows reconcile to the group on every input, both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Internal labor sale / internal sold hours. A higher internal rate adds service gross but is a cost to used cars. Jan-Sep 2026 YTD. Green at or above the group, red below.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Change in Internal ELR,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2377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667512" y="2743200"/>
            <a:ext cx="10789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8200" dirty="0"/>
          </a:p>
        </p:txBody>
      </p:sp>
      <p:sp>
        <p:nvSpPr>
          <p:cNvPr id="4" name="Text 2"/>
          <p:cNvSpPr txBox="1"/>
          <p:nvPr/>
        </p:nvSpPr>
        <p:spPr>
          <a:xfrm>
            <a:off x="694944" y="40416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ROs   ·   Warranty ELR   ·   Internal ELR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 Count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135,764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126,891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−8,873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−6.5%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16,565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14,264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−2,301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−13.9%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15,707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12,746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−2,961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−18.9%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15,981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13,940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−2,041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−12.8%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14,990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13,710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−1,280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−8.5%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14,527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13,121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−1,406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−9.7%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14,882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14,168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−714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−4.8%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15,408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14,663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−745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−4.8%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14,622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15,204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+582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13,082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15,075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+1,993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+15.2%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Down 8,873 to 126,891, behind 2025 in seven of nine months. Warranty volume follows OEM campaigns and recalls as much as store effort.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 Count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1335024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SAME-STORE, 33 STORES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−6.5%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813048" y="1909246"/>
            <a:ext cx="822960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09160" y="1847088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+47.9%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2077302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813048" y="2139459"/>
            <a:ext cx="822439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09160" y="2077302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+47.8%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307515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813048" y="2369673"/>
            <a:ext cx="812600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709160" y="2307515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+47.3%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537729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813048" y="2599887"/>
            <a:ext cx="617544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09160" y="2537729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+35.9%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767943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813048" y="2830100"/>
            <a:ext cx="562081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709160" y="2767943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+32.7%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998156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813048" y="3060314"/>
            <a:ext cx="514218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709160" y="2998156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+29.9%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" y="3228370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813048" y="3290528"/>
            <a:ext cx="390119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709160" y="3228370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+22.7%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458584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813048" y="3520741"/>
            <a:ext cx="351576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09160" y="3458584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+20.4%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688797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3813048" y="3750955"/>
            <a:ext cx="205423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709160" y="3688797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+11.9%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" y="3919011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813048" y="3981169"/>
            <a:ext cx="200047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709160" y="3919011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+11.6%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4149224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3813048" y="4211382"/>
            <a:ext cx="174486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709160" y="4149224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" y="4379438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3813048" y="4441596"/>
            <a:ext cx="153373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09160" y="4379438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+8.9%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609652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3813048" y="4671809"/>
            <a:ext cx="127721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709160" y="4609652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+7.4%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4839865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3813048" y="4902023"/>
            <a:ext cx="117440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709160" y="4839865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+6.8%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5070079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813048" y="5132237"/>
            <a:ext cx="69770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709160" y="5070079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5300293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3813048" y="5362450"/>
            <a:ext cx="57479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09160" y="5300293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+3.3%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5530506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3813048" y="5592664"/>
            <a:ext cx="23042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4709160" y="5530506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+1.3%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208776" y="1847088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9290741" y="1909246"/>
            <a:ext cx="72715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10259568" y="1847088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−4.2%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6208776" y="2077302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9247857" y="2139459"/>
            <a:ext cx="115599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259568" y="2077302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−6.7%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208776" y="2307515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9228998" y="2369673"/>
            <a:ext cx="134458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10259568" y="2307515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−7.8%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6208776" y="2537729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9174213" y="2599887"/>
            <a:ext cx="189243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10259568" y="2537729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−11.0%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6208776" y="2767943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75" name="Shape 73"/>
          <p:cNvSpPr/>
          <p:nvPr/>
        </p:nvSpPr>
        <p:spPr>
          <a:xfrm>
            <a:off x="9167983" y="2830100"/>
            <a:ext cx="195473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10259568" y="2767943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−11.4%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208776" y="2998156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9147536" y="3060314"/>
            <a:ext cx="215920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10259568" y="2998156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−12.6%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6208776" y="3228370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>
            <a:off x="9104040" y="3290528"/>
            <a:ext cx="259416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259568" y="3228370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−15.1%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3458584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9023064" y="3520741"/>
            <a:ext cx="340392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10259568" y="3458584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−19.8%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6208776" y="3688797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87" name="Shape 85"/>
          <p:cNvSpPr/>
          <p:nvPr/>
        </p:nvSpPr>
        <p:spPr>
          <a:xfrm>
            <a:off x="9014940" y="3750955"/>
            <a:ext cx="348516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10259568" y="3688797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−20.3%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6208776" y="3919011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90" name="Shape 88"/>
          <p:cNvSpPr/>
          <p:nvPr/>
        </p:nvSpPr>
        <p:spPr>
          <a:xfrm>
            <a:off x="8973206" y="3981169"/>
            <a:ext cx="390250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10259568" y="3919011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−22.7%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4149224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8893454" y="4211382"/>
            <a:ext cx="470002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259568" y="4149224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−27.3%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4379438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96" name="Shape 94"/>
          <p:cNvSpPr/>
          <p:nvPr/>
        </p:nvSpPr>
        <p:spPr>
          <a:xfrm>
            <a:off x="8852622" y="4441596"/>
            <a:ext cx="510834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10259568" y="4379438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−29.7%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208776" y="4609652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8755981" y="4671809"/>
            <a:ext cx="607475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10259568" y="4609652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−35.3%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6208776" y="4839865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02" name="Shape 100"/>
          <p:cNvSpPr/>
          <p:nvPr/>
        </p:nvSpPr>
        <p:spPr>
          <a:xfrm>
            <a:off x="8683733" y="4902023"/>
            <a:ext cx="679723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10259568" y="4839865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−39.5%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6208776" y="5070079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05" name="Shape 103"/>
          <p:cNvSpPr/>
          <p:nvPr/>
        </p:nvSpPr>
        <p:spPr>
          <a:xfrm>
            <a:off x="8611932" y="5132237"/>
            <a:ext cx="751524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259568" y="5070079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−43.7%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5300293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566242" y="5362450"/>
            <a:ext cx="797214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10259568" y="5300293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−46.4%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3807562" y="1847088"/>
            <a:ext cx="10973" cy="3913632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11" name="Shape 109"/>
          <p:cNvSpPr/>
          <p:nvPr/>
        </p:nvSpPr>
        <p:spPr>
          <a:xfrm>
            <a:off x="9357970" y="1847088"/>
            <a:ext cx="10973" cy="3913632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of 33 stores grew warranty RO count, led by HYUNDAI PRESCOTT at +47.9% to 2,802. 16 declined; ACURA fell most at −46.4%.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$180.25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$197.17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+$16.93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+9.4%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$175.24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$196.34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+$21.10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+12.0%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$174.70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$197.60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+$22.90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+13.1%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$172.93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$196.73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+$23.80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+13.8%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$175.61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$199.07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+$23.46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+13.4%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$181.76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$194.28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+$12.52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+6.9%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$185.29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$194.35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+$9.06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+4.9%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$186.84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$198.70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+$11.86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$186.04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$198.48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+$12.44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$186.63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$198.65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+$12.01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+6.4%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$16.93 to $197.17, ahead of 2025 in all nine months.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1389888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971800" y="1453358"/>
            <a:ext cx="1828800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55464" y="1389888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$308.88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643768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971800" y="1707239"/>
            <a:ext cx="1627721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55464" y="1643768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$274.91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897649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971800" y="1961119"/>
            <a:ext cx="1558331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55464" y="1897649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$263.19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151529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971800" y="2215000"/>
            <a:ext cx="1388496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55464" y="2151529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$234.51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2405410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2468880"/>
            <a:ext cx="1352279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55464" y="2405410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$228.39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659290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971800" y="2722760"/>
            <a:ext cx="1283922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55464" y="2659290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$216.85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913171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2976641"/>
            <a:ext cx="1257538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55464" y="2913171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$212.39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3167051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971800" y="3230521"/>
            <a:ext cx="1241428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855464" y="3167051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$209.67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3420932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2971800" y="3484402"/>
            <a:ext cx="1240270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855464" y="3420932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$209.48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58368" y="3674812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971800" y="3738282"/>
            <a:ext cx="1225368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855464" y="3674812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$206.96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928693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971800" y="3992163"/>
            <a:ext cx="1225312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855464" y="3928693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$206.95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4182573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4246043"/>
            <a:ext cx="1169889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855464" y="4182573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$197.59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85216" y="4431882"/>
            <a:ext cx="5413248" cy="2447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58368" y="4436454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971800" y="4499924"/>
            <a:ext cx="1167428" cy="126940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855464" y="4436454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$197.17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658368" y="4690334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2971800" y="4753804"/>
            <a:ext cx="1156760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855464" y="4690334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$195.37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658368" y="4944215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2971800" y="5007685"/>
            <a:ext cx="1155534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4855464" y="4944215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$195.16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5198095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971800" y="5261565"/>
            <a:ext cx="1101297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855464" y="5198095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$186.00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5451976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2971800" y="5515446"/>
            <a:ext cx="1083295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4855464" y="5451976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$182.96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6208776" y="1389888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8522208" y="1453358"/>
            <a:ext cx="1069642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10405872" y="1389888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$180.66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6208776" y="1643768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8522208" y="1707239"/>
            <a:ext cx="1069154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10405872" y="1643768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$180.57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6208776" y="1897649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8522208" y="1961119"/>
            <a:ext cx="1051573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10405872" y="1897649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$177.61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208776" y="2151529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8522208" y="2215000"/>
            <a:ext cx="1045639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10405872" y="2151529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$176.60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6208776" y="2405410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8522208" y="2468880"/>
            <a:ext cx="1027545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10405872" y="2405410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$173.55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6208776" y="2659290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8522208" y="2722760"/>
            <a:ext cx="1015119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10405872" y="2659290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$171.45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208776" y="2913171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8522208" y="2976641"/>
            <a:ext cx="1013968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10405872" y="2913171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$171.25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3167051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80" name="Shape 78"/>
          <p:cNvSpPr/>
          <p:nvPr/>
        </p:nvSpPr>
        <p:spPr>
          <a:xfrm>
            <a:off x="8522208" y="3230521"/>
            <a:ext cx="1012302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10405872" y="3167051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$170.97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208776" y="3420932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8522208" y="3484402"/>
            <a:ext cx="1010417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10405872" y="3420932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$170.65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6208776" y="3674812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8522208" y="3738282"/>
            <a:ext cx="971972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10405872" y="3674812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$164.16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6208776" y="3928693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8522208" y="3992163"/>
            <a:ext cx="949424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405872" y="3928693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$160.35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4182573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8522208" y="4246043"/>
            <a:ext cx="934359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10405872" y="4182573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$157.81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6208776" y="4436454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95" name="Shape 93"/>
          <p:cNvSpPr/>
          <p:nvPr/>
        </p:nvSpPr>
        <p:spPr>
          <a:xfrm>
            <a:off x="8522208" y="4499924"/>
            <a:ext cx="922921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10405872" y="4436454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$155.88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4690334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522208" y="4753804"/>
            <a:ext cx="897328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10405872" y="4690334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$151.55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4944215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01" name="Shape 99"/>
          <p:cNvSpPr/>
          <p:nvPr/>
        </p:nvSpPr>
        <p:spPr>
          <a:xfrm>
            <a:off x="8522208" y="5007685"/>
            <a:ext cx="844838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405872" y="4944215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$142.69</a:t>
            </a:r>
            <a:endParaRPr lang="en-US" sz="13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5198095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8522208" y="5261565"/>
            <a:ext cx="772571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10405872" y="5198095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$130.48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6208776" y="5451976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07" name="Shape 105"/>
          <p:cNvSpPr/>
          <p:nvPr/>
        </p:nvSpPr>
        <p:spPr>
          <a:xfrm>
            <a:off x="8522208" y="5515446"/>
            <a:ext cx="719352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10405872" y="5451976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$121.50</a:t>
            </a:r>
            <a:endParaRPr lang="en-US" sz="1300" dirty="0"/>
          </a:p>
        </p:txBody>
      </p:sp>
      <p:sp>
        <p:nvSpPr>
          <p:cNvPr id="109" name="Shape 107"/>
          <p:cNvSpPr/>
          <p:nvPr/>
        </p:nvSpPr>
        <p:spPr>
          <a:xfrm>
            <a:off x="4131913" y="1389888"/>
            <a:ext cx="14630" cy="431596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9682321" y="1389888"/>
            <a:ext cx="14630" cy="431596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of 33 stores at or above the $197.17 group, led by AUDI HENDERSON at $308.88. SUBARU PRESCOTT is lowest at $121.50.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1335024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SAME-STORE, 33 STORES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+$16.93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813048" y="1909246"/>
            <a:ext cx="822960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09160" y="1847088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+$57.74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2077302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813048" y="2139459"/>
            <a:ext cx="568009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09160" y="2077302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+$39.85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307515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813048" y="2369673"/>
            <a:ext cx="390077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709160" y="2307515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+$27.37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537729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813048" y="2599887"/>
            <a:ext cx="376028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09160" y="2537729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+$26.38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767943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813048" y="2830100"/>
            <a:ext cx="292874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709160" y="2767943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+$20.55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998156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813048" y="3060314"/>
            <a:ext cx="273736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709160" y="2998156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+$19.21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" y="3228370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813048" y="3290528"/>
            <a:ext cx="273006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709160" y="3228370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+$19.15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458584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813048" y="3520741"/>
            <a:ext cx="241609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09160" y="3458584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+$16.95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688797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3813048" y="3750955"/>
            <a:ext cx="238998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709160" y="3688797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+$16.77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" y="3919011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813048" y="3981169"/>
            <a:ext cx="238965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709160" y="3919011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+$16.77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4149224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3813048" y="4211382"/>
            <a:ext cx="228713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709160" y="4149224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+$16.05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" y="4379438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3813048" y="4441596"/>
            <a:ext cx="227295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09160" y="4379438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+$15.95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609652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3813048" y="4671809"/>
            <a:ext cx="194357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709160" y="4609652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+$13.64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4839865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3813048" y="4902023"/>
            <a:ext cx="183717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709160" y="4839865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+$12.89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5070079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813048" y="5132237"/>
            <a:ext cx="174688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709160" y="5070079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+$12.26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5300293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3813048" y="5362450"/>
            <a:ext cx="137667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09160" y="5300293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+$9.66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5530506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3813048" y="5592664"/>
            <a:ext cx="137367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4709160" y="5530506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+$9.64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208776" y="1847088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9363456" y="1909246"/>
            <a:ext cx="131279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10259568" y="1847088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+$9.21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6208776" y="2077302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9363456" y="2139459"/>
            <a:ext cx="122294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259568" y="2077302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+$8.58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208776" y="2307515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9363456" y="2369673"/>
            <a:ext cx="99097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10259568" y="2307515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+$6.95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6208776" y="2537729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9363456" y="2599887"/>
            <a:ext cx="96927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10259568" y="2537729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+$6.80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6208776" y="2767943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75" name="Shape 73"/>
          <p:cNvSpPr/>
          <p:nvPr/>
        </p:nvSpPr>
        <p:spPr>
          <a:xfrm>
            <a:off x="9363456" y="2830100"/>
            <a:ext cx="96202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10259568" y="2767943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+$6.75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208776" y="2998156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9363456" y="3060314"/>
            <a:ext cx="88635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10259568" y="2998156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+$6.22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6208776" y="3228370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>
            <a:off x="9363456" y="3290528"/>
            <a:ext cx="75539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259568" y="3228370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+$5.30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3458584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9363456" y="3520741"/>
            <a:ext cx="64782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10259568" y="3458584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+$4.55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6208776" y="3688797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87" name="Shape 85"/>
          <p:cNvSpPr/>
          <p:nvPr/>
        </p:nvSpPr>
        <p:spPr>
          <a:xfrm>
            <a:off x="9363456" y="3750955"/>
            <a:ext cx="60867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10259568" y="3688797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+$4.27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6208776" y="3919011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90" name="Shape 88"/>
          <p:cNvSpPr/>
          <p:nvPr/>
        </p:nvSpPr>
        <p:spPr>
          <a:xfrm>
            <a:off x="9363456" y="3981169"/>
            <a:ext cx="53011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10259568" y="3919011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+$3.72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4149224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9363456" y="4211382"/>
            <a:ext cx="35138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259568" y="4149224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+$2.47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4379438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96" name="Shape 94"/>
          <p:cNvSpPr/>
          <p:nvPr/>
        </p:nvSpPr>
        <p:spPr>
          <a:xfrm>
            <a:off x="9363456" y="4441596"/>
            <a:ext cx="14630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10259568" y="4379438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+$1.03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208776" y="4609652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9363456" y="4671809"/>
            <a:ext cx="13535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10259568" y="4609652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+$0.95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6208776" y="4839865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02" name="Shape 100"/>
          <p:cNvSpPr/>
          <p:nvPr/>
        </p:nvSpPr>
        <p:spPr>
          <a:xfrm>
            <a:off x="9362517" y="4902023"/>
            <a:ext cx="12802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10259568" y="4839865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−$0.07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6208776" y="5070079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05" name="Shape 103"/>
          <p:cNvSpPr/>
          <p:nvPr/>
        </p:nvSpPr>
        <p:spPr>
          <a:xfrm>
            <a:off x="9340889" y="5132237"/>
            <a:ext cx="22567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259568" y="5070079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−$1.58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5300293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9188929" y="5362450"/>
            <a:ext cx="174527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10259568" y="5300293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−$12.25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3807562" y="1847088"/>
            <a:ext cx="10973" cy="3913632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11" name="Shape 109"/>
          <p:cNvSpPr/>
          <p:nvPr/>
        </p:nvSpPr>
        <p:spPr>
          <a:xfrm>
            <a:off x="9357970" y="1847088"/>
            <a:ext cx="10973" cy="3913632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 of 33 stores raised warranty ELR, led by LR LV at +$57.74 to $274.91. 3 declined; HONDA NORTH fell most at −$12.25.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$126.09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$129.84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+$3.75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+3.0%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$123.77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$125.77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+$2.00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$125.41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$124.08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−$1.33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−1.1%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$124.77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$130.61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+$5.85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$125.94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$130.85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+$4.91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+3.9%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$130.19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$131.64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+$1.45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+1.1%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$128.94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$128.34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−$0.60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−0.5%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$125.78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$132.55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+$6.77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+5.4%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$125.81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$129.87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+$4.06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+3.2%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$124.46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$133.77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+$9.31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+7.5%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$3.75 to $129.84, ahead of 2025 in seven of nine months.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1389888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971800" y="1453358"/>
            <a:ext cx="1828800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55464" y="1389888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$207.05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643768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971800" y="1707239"/>
            <a:ext cx="1812080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55464" y="1643768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$205.15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897649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971800" y="1961119"/>
            <a:ext cx="1659564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55464" y="1897649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$187.89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151529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971800" y="2215000"/>
            <a:ext cx="1557784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55464" y="2151529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$176.36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2405410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2468880"/>
            <a:ext cx="1531722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55464" y="2405410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$173.41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659290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971800" y="2722760"/>
            <a:ext cx="1474778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55464" y="2659290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$166.97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913171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2976641"/>
            <a:ext cx="1464598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55464" y="2913171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$165.81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3167051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971800" y="3230521"/>
            <a:ext cx="1442830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855464" y="3167051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$163.35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3420932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2971800" y="3484402"/>
            <a:ext cx="1433818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855464" y="3420932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$162.33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58368" y="3674812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971800" y="3738282"/>
            <a:ext cx="1403774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855464" y="3674812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$158.93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928693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971800" y="3992163"/>
            <a:ext cx="1367830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855464" y="3928693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$154.86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4182573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4246043"/>
            <a:ext cx="1338430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855464" y="4182573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$151.53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4436454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971800" y="4499924"/>
            <a:ext cx="1297073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4855464" y="4436454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$146.85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658368" y="4690334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2971800" y="4753804"/>
            <a:ext cx="1296853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4855464" y="4690334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$146.82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4944215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2971800" y="5007685"/>
            <a:ext cx="1252109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55464" y="4944215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$141.76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5198095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2971800" y="5261565"/>
            <a:ext cx="1230954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855464" y="5198095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$139.36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5451976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2971800" y="5515446"/>
            <a:ext cx="1213635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4855464" y="5451976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$137.40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208776" y="1389888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8522208" y="1453358"/>
            <a:ext cx="1211917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0405872" y="1389888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$137.21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208776" y="1643768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8522208" y="1707239"/>
            <a:ext cx="1209221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10405872" y="1643768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$136.90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6208776" y="1897649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8522208" y="1961119"/>
            <a:ext cx="1187913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10405872" y="1897649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$134.49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208776" y="2151529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8522208" y="2215000"/>
            <a:ext cx="1187654" cy="1269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10405872" y="2151529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$134.46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6135624" y="2400838"/>
            <a:ext cx="5413248" cy="2447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6208776" y="2405410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8522208" y="2468880"/>
            <a:ext cx="1146832" cy="126940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10405872" y="2405410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$129.84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6208776" y="2659290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8522208" y="2722760"/>
            <a:ext cx="1132497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10405872" y="2659290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$128.21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208776" y="2913171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8522208" y="2976641"/>
            <a:ext cx="1125394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10405872" y="2913171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$127.41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3167051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80" name="Shape 78"/>
          <p:cNvSpPr/>
          <p:nvPr/>
        </p:nvSpPr>
        <p:spPr>
          <a:xfrm>
            <a:off x="8522208" y="3230521"/>
            <a:ext cx="1099278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10405872" y="3167051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$124.45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208776" y="3420932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8522208" y="3484402"/>
            <a:ext cx="1083588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10405872" y="3420932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$122.68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6208776" y="3674812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8522208" y="3738282"/>
            <a:ext cx="1054415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10405872" y="3674812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$119.37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6208776" y="3928693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8522208" y="3992163"/>
            <a:ext cx="1035047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405872" y="3928693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$117.18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4182573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8522208" y="4246043"/>
            <a:ext cx="1015470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10405872" y="4182573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$114.97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6208776" y="4436454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95" name="Shape 93"/>
          <p:cNvSpPr/>
          <p:nvPr/>
        </p:nvSpPr>
        <p:spPr>
          <a:xfrm>
            <a:off x="8522208" y="4499924"/>
            <a:ext cx="964729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10405872" y="4436454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$109.22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4690334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522208" y="4753804"/>
            <a:ext cx="926499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10405872" y="4690334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$104.89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4944215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01" name="Shape 99"/>
          <p:cNvSpPr/>
          <p:nvPr/>
        </p:nvSpPr>
        <p:spPr>
          <a:xfrm>
            <a:off x="8522208" y="5007685"/>
            <a:ext cx="906678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405872" y="4944215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$102.65</a:t>
            </a:r>
            <a:endParaRPr lang="en-US" sz="13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5198095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8522208" y="5261565"/>
            <a:ext cx="881342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10405872" y="5198095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$99.78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6208776" y="5451976"/>
            <a:ext cx="2240280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07" name="Shape 105"/>
          <p:cNvSpPr/>
          <p:nvPr/>
        </p:nvSpPr>
        <p:spPr>
          <a:xfrm>
            <a:off x="8522208" y="5515446"/>
            <a:ext cx="770301" cy="1269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10405872" y="5451976"/>
            <a:ext cx="1088136" cy="25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$87.21</a:t>
            </a:r>
            <a:endParaRPr lang="en-US" sz="1300" dirty="0"/>
          </a:p>
        </p:txBody>
      </p:sp>
      <p:sp>
        <p:nvSpPr>
          <p:cNvPr id="109" name="Shape 107"/>
          <p:cNvSpPr/>
          <p:nvPr/>
        </p:nvSpPr>
        <p:spPr>
          <a:xfrm>
            <a:off x="4111317" y="1389888"/>
            <a:ext cx="14630" cy="431596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9661725" y="1389888"/>
            <a:ext cx="14630" cy="431596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of 33 stores at or above the $129.84 group, led by LR RENO at $207.05. NISSAN is lowest at $87.21.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1335024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SAME-STORE, 33 STORES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+$3.75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813048" y="1909246"/>
            <a:ext cx="636173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09160" y="1847088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+$46.71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2077302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813048" y="2139459"/>
            <a:ext cx="539178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09160" y="2077302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+$39.59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307515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813048" y="2369673"/>
            <a:ext cx="369303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709160" y="2307515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+$27.12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537729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813048" y="2599887"/>
            <a:ext cx="283453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09160" y="2537729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+$20.81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767943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813048" y="2830100"/>
            <a:ext cx="237562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709160" y="2767943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+$17.44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998156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813048" y="3060314"/>
            <a:ext cx="172734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709160" y="2998156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+$12.68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" y="3228370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813048" y="3290528"/>
            <a:ext cx="169263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709160" y="3228370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+$12.43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458584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813048" y="3520741"/>
            <a:ext cx="163946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09160" y="3458584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+$12.04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688797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3813048" y="3750955"/>
            <a:ext cx="151580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709160" y="3688797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+$11.13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" y="3919011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813048" y="3981169"/>
            <a:ext cx="87096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709160" y="3919011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+$6.39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4149224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3813048" y="4211382"/>
            <a:ext cx="85514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709160" y="4149224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+$6.28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" y="4379438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3813048" y="4441596"/>
            <a:ext cx="77928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09160" y="4379438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+$5.72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609652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3813048" y="4671809"/>
            <a:ext cx="74479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709160" y="4609652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+$5.47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4839865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3813048" y="4902023"/>
            <a:ext cx="69998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709160" y="4839865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+$5.14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5070079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813048" y="5132237"/>
            <a:ext cx="61429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709160" y="5070079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+$4.51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5300293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3813048" y="5362450"/>
            <a:ext cx="52033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09160" y="5300293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+$3.82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5530506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3813048" y="5592664"/>
            <a:ext cx="51063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4709160" y="5530506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+$3.75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208776" y="1847088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9363456" y="1909246"/>
            <a:ext cx="48720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10259568" y="1847088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+$3.58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6208776" y="2077302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9363456" y="2139459"/>
            <a:ext cx="26435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259568" y="2077302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+$1.94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208776" y="2307515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9363456" y="2369673"/>
            <a:ext cx="12802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10259568" y="2307515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+$0.34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6208776" y="2537729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9350745" y="2599887"/>
            <a:ext cx="12802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10259568" y="2537729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−$0.93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6208776" y="2767943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75" name="Shape 73"/>
          <p:cNvSpPr/>
          <p:nvPr/>
        </p:nvSpPr>
        <p:spPr>
          <a:xfrm>
            <a:off x="9343681" y="2830100"/>
            <a:ext cx="19775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10259568" y="2767943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−$1.45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208776" y="2998156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9339623" y="3060314"/>
            <a:ext cx="23833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10259568" y="2998156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−$1.75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6208776" y="3228370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>
            <a:off x="9302279" y="3290528"/>
            <a:ext cx="61177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259568" y="3228370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−$4.49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3458584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9296885" y="3520741"/>
            <a:ext cx="66571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10259568" y="3458584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−$4.89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6208776" y="3688797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87" name="Shape 85"/>
          <p:cNvSpPr/>
          <p:nvPr/>
        </p:nvSpPr>
        <p:spPr>
          <a:xfrm>
            <a:off x="9280675" y="3750955"/>
            <a:ext cx="82781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10259568" y="3688797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−$6.08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6208776" y="3919011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90" name="Shape 88"/>
          <p:cNvSpPr/>
          <p:nvPr/>
        </p:nvSpPr>
        <p:spPr>
          <a:xfrm>
            <a:off x="9276308" y="3981169"/>
            <a:ext cx="87148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10259568" y="3919011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−$6.40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4149224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9223553" y="4211382"/>
            <a:ext cx="139903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259568" y="4149224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−$10.27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4379438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96" name="Shape 94"/>
          <p:cNvSpPr/>
          <p:nvPr/>
        </p:nvSpPr>
        <p:spPr>
          <a:xfrm>
            <a:off x="9121816" y="4441596"/>
            <a:ext cx="241640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10259568" y="4379438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−$17.74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208776" y="4609652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9080799" y="4671809"/>
            <a:ext cx="282657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10259568" y="4609652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−$20.75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6208776" y="4839865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02" name="Shape 100"/>
          <p:cNvSpPr/>
          <p:nvPr/>
        </p:nvSpPr>
        <p:spPr>
          <a:xfrm>
            <a:off x="8919452" y="4902023"/>
            <a:ext cx="444004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10259568" y="4839865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−$32.60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6208776" y="5070079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05" name="Shape 103"/>
          <p:cNvSpPr/>
          <p:nvPr/>
        </p:nvSpPr>
        <p:spPr>
          <a:xfrm>
            <a:off x="8806319" y="5132237"/>
            <a:ext cx="557137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259568" y="5070079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−$40.91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5300293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540496" y="5362450"/>
            <a:ext cx="822960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10259568" y="5300293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−$60.43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3807562" y="1847088"/>
            <a:ext cx="10973" cy="3913632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11" name="Shape 109"/>
          <p:cNvSpPr/>
          <p:nvPr/>
        </p:nvSpPr>
        <p:spPr>
          <a:xfrm>
            <a:off x="9357970" y="1847088"/>
            <a:ext cx="10973" cy="3913632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of 33 stores raised internal ELR, led by HYUNDAI ST GEORGE at +$46.71 to $205.15. 13 declined; KIA LV fell most at −$60.43.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2026-10-15T23:05:13Z</dcterms:created>
  <dcterms:modified xsi:type="dcterms:W3CDTF">2026-10-15T23:05:13Z</dcterms:modified>
</cp:coreProperties>
</file>