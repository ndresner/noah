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effectLst/>
          </c:spPr>
          <c:invertIfNegative val="0"/>
          <c:dLbls>
            <c:numFmt formatCode="#,##0.0,&quot;K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16565</c:v>
                </c:pt>
                <c:pt idx="1">
                  <c:v>15707</c:v>
                </c:pt>
                <c:pt idx="2">
                  <c:v>15981</c:v>
                </c:pt>
                <c:pt idx="3">
                  <c:v>14990</c:v>
                </c:pt>
                <c:pt idx="4">
                  <c:v>14527</c:v>
                </c:pt>
                <c:pt idx="5">
                  <c:v>14882</c:v>
                </c:pt>
                <c:pt idx="6">
                  <c:v>15408</c:v>
                </c:pt>
                <c:pt idx="7">
                  <c:v>14622</c:v>
                </c:pt>
                <c:pt idx="8">
                  <c:v>13082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effectLst/>
          </c:spPr>
          <c:invertIfNegative val="0"/>
          <c:dLbls>
            <c:numFmt formatCode="#,##0.0,&quot;K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14264</c:v>
                </c:pt>
                <c:pt idx="1">
                  <c:v>12746</c:v>
                </c:pt>
                <c:pt idx="2">
                  <c:v>13940</c:v>
                </c:pt>
                <c:pt idx="3">
                  <c:v>13710</c:v>
                </c:pt>
                <c:pt idx="4">
                  <c:v>13121</c:v>
                </c:pt>
                <c:pt idx="5">
                  <c:v>14168</c:v>
                </c:pt>
                <c:pt idx="6">
                  <c:v>14663</c:v>
                </c:pt>
                <c:pt idx="7">
                  <c:v>15204</c:v>
                </c:pt>
                <c:pt idx="8">
                  <c:v>15075</c:v>
                </c:pt>
              </c:numCache>
            </c:numRef>
          </c:val>
        </c:ser>
        <c:dLbls>
          <c:numFmt formatCode="#,##0.0,&quot;K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-35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20000"/>
          <c:min val="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0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&quot;$&quot;#,##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196</c:v>
                </c:pt>
                <c:pt idx="1">
                  <c:v>198</c:v>
                </c:pt>
                <c:pt idx="2">
                  <c:v>197</c:v>
                </c:pt>
                <c:pt idx="3">
                  <c:v>199</c:v>
                </c:pt>
                <c:pt idx="4">
                  <c:v>194</c:v>
                </c:pt>
                <c:pt idx="5">
                  <c:v>194</c:v>
                </c:pt>
                <c:pt idx="6">
                  <c:v>199</c:v>
                </c:pt>
                <c:pt idx="7">
                  <c:v>198</c:v>
                </c:pt>
                <c:pt idx="8">
                  <c:v>199</c:v>
                </c:pt>
              </c:numCache>
            </c:numRef>
          </c:val>
          <c:smooth val="0"/>
        </c:ser>
        <c:dLbls>
          <c:numFmt formatCode="&quot;$&quot;#,##0.0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210"/>
          <c:min val="160"/>
        </c:scaling>
        <c:delete val="0"/>
        <c:axPos val="l"/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&quot;$&quot;#,##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196</c:v>
                </c:pt>
                <c:pt idx="1">
                  <c:v>198</c:v>
                </c:pt>
                <c:pt idx="2">
                  <c:v>197</c:v>
                </c:pt>
                <c:pt idx="3">
                  <c:v>199</c:v>
                </c:pt>
                <c:pt idx="4">
                  <c:v>194</c:v>
                </c:pt>
                <c:pt idx="5">
                  <c:v>194</c:v>
                </c:pt>
                <c:pt idx="6">
                  <c:v>199</c:v>
                </c:pt>
                <c:pt idx="7">
                  <c:v>198</c:v>
                </c:pt>
                <c:pt idx="8">
                  <c:v>199</c:v>
                </c:pt>
              </c:numCache>
            </c:numRef>
          </c:val>
          <c:smooth val="0"/>
        </c:ser>
        <c:dLbls>
          <c:numFmt formatCode="&quot;$&quot;#,##0.0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210"/>
          <c:min val="160"/>
        </c:scaling>
        <c:delete val="0"/>
        <c:axPos val="l"/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&quot;$&quot;#,##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175</c:v>
                </c:pt>
                <c:pt idx="1">
                  <c:v>175</c:v>
                </c:pt>
                <c:pt idx="2">
                  <c:v>173</c:v>
                </c:pt>
                <c:pt idx="3">
                  <c:v>176</c:v>
                </c:pt>
                <c:pt idx="4">
                  <c:v>182</c:v>
                </c:pt>
                <c:pt idx="5">
                  <c:v>185</c:v>
                </c:pt>
                <c:pt idx="6">
                  <c:v>187</c:v>
                </c:pt>
                <c:pt idx="7">
                  <c:v>186</c:v>
                </c:pt>
                <c:pt idx="8">
                  <c:v>187</c:v>
                </c:pt>
              </c:numCache>
            </c:numRef>
          </c:val>
          <c:smooth val="0"/>
        </c:ser>
        <c:dLbls>
          <c:numFmt formatCode="&quot;$&quot;#,##0.0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210"/>
          <c:min val="160"/>
        </c:scaling>
        <c:delete val="0"/>
        <c:axPos val="l"/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&quot;$&quot;#,##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175</c:v>
                </c:pt>
                <c:pt idx="1">
                  <c:v>175</c:v>
                </c:pt>
                <c:pt idx="2">
                  <c:v>173</c:v>
                </c:pt>
                <c:pt idx="3">
                  <c:v>176</c:v>
                </c:pt>
                <c:pt idx="4">
                  <c:v>182</c:v>
                </c:pt>
                <c:pt idx="5">
                  <c:v>185</c:v>
                </c:pt>
                <c:pt idx="6">
                  <c:v>187</c:v>
                </c:pt>
                <c:pt idx="7">
                  <c:v>186</c:v>
                </c:pt>
                <c:pt idx="8">
                  <c:v>187</c:v>
                </c:pt>
              </c:numCache>
            </c:numRef>
          </c:val>
          <c:smooth val="0"/>
        </c:ser>
        <c:dLbls>
          <c:numFmt formatCode="&quot;$&quot;#,##0.0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210"/>
          <c:min val="16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&quot;$&quot;#,##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126</c:v>
                </c:pt>
                <c:pt idx="1">
                  <c:v>124</c:v>
                </c:pt>
                <c:pt idx="2">
                  <c:v>131</c:v>
                </c:pt>
                <c:pt idx="3">
                  <c:v>131</c:v>
                </c:pt>
                <c:pt idx="4">
                  <c:v>132</c:v>
                </c:pt>
                <c:pt idx="5">
                  <c:v>128</c:v>
                </c:pt>
                <c:pt idx="6">
                  <c:v>133</c:v>
                </c:pt>
                <c:pt idx="7">
                  <c:v>130</c:v>
                </c:pt>
                <c:pt idx="8">
                  <c:v>134</c:v>
                </c:pt>
              </c:numCache>
            </c:numRef>
          </c:val>
          <c:smooth val="0"/>
        </c:ser>
        <c:dLbls>
          <c:numFmt formatCode="&quot;$&quot;#,##0.0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40"/>
          <c:min val="120"/>
        </c:scaling>
        <c:delete val="0"/>
        <c:axPos val="l"/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&quot;$&quot;#,##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126</c:v>
                </c:pt>
                <c:pt idx="1">
                  <c:v/>
                </c:pt>
                <c:pt idx="2">
                  <c:v>131</c:v>
                </c:pt>
                <c:pt idx="3">
                  <c:v>131</c:v>
                </c:pt>
                <c:pt idx="4">
                  <c:v>132</c:v>
                </c:pt>
                <c:pt idx="5">
                  <c:v/>
                </c:pt>
                <c:pt idx="6">
                  <c:v>133</c:v>
                </c:pt>
                <c:pt idx="7">
                  <c:v>130</c:v>
                </c:pt>
                <c:pt idx="8">
                  <c:v>134</c:v>
                </c:pt>
              </c:numCache>
            </c:numRef>
          </c:val>
          <c:smooth val="0"/>
        </c:ser>
        <c:dLbls>
          <c:numFmt formatCode="&quot;$&quot;#,##0.0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40"/>
          <c:min val="120"/>
        </c:scaling>
        <c:delete val="0"/>
        <c:axPos val="l"/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&quot;$&quot;#,##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/>
                </c:pt>
                <c:pt idx="1">
                  <c:v>124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128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  <c:smooth val="0"/>
        </c:ser>
        <c:dLbls>
          <c:numFmt formatCode="&quot;$&quot;#,##0.0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40"/>
          <c:min val="120"/>
        </c:scaling>
        <c:delete val="0"/>
        <c:axPos val="l"/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&quot;$&quot;#,##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/>
                </c:pt>
                <c:pt idx="1">
                  <c:v>125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129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  <c:smooth val="0"/>
        </c:ser>
        <c:dLbls>
          <c:numFmt formatCode="&quot;$&quot;#,##0.0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40"/>
          <c:min val="120"/>
        </c:scaling>
        <c:delete val="0"/>
        <c:axPos val="l"/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&quot;$&quot;#,##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124</c:v>
                </c:pt>
                <c:pt idx="1">
                  <c:v/>
                </c:pt>
                <c:pt idx="2">
                  <c:v>125</c:v>
                </c:pt>
                <c:pt idx="3">
                  <c:v>126</c:v>
                </c:pt>
                <c:pt idx="4">
                  <c:v>130</c:v>
                </c:pt>
                <c:pt idx="5">
                  <c:v/>
                </c:pt>
                <c:pt idx="6">
                  <c:v>126</c:v>
                </c:pt>
                <c:pt idx="7">
                  <c:v>126</c:v>
                </c:pt>
                <c:pt idx="8">
                  <c:v>124</c:v>
                </c:pt>
              </c:numCache>
            </c:numRef>
          </c:val>
          <c:smooth val="0"/>
        </c:ser>
        <c:dLbls>
          <c:numFmt formatCode="&quot;$&quot;#,##0.0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40"/>
          <c:min val="120"/>
        </c:scaling>
        <c:delete val="0"/>
        <c:axPos val="l"/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&quot;$&quot;#,##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124</c:v>
                </c:pt>
                <c:pt idx="1">
                  <c:v>125</c:v>
                </c:pt>
                <c:pt idx="2">
                  <c:v>125</c:v>
                </c:pt>
                <c:pt idx="3">
                  <c:v>126</c:v>
                </c:pt>
                <c:pt idx="4">
                  <c:v>130</c:v>
                </c:pt>
                <c:pt idx="5">
                  <c:v>129</c:v>
                </c:pt>
                <c:pt idx="6">
                  <c:v>126</c:v>
                </c:pt>
                <c:pt idx="7">
                  <c:v>126</c:v>
                </c:pt>
                <c:pt idx="8">
                  <c:v>124</c:v>
                </c:pt>
              </c:numCache>
            </c:numRef>
          </c:val>
          <c:smooth val="0"/>
        </c:ser>
        <c:dLbls>
          <c:numFmt formatCode="&quot;$&quot;#,##0.0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40"/>
          <c:min val="12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by close month. Same-store, INEOS excluded (opened 2026). GMC Prescott body shop labor types excluded. Distinct warranty ROs: every RO with a warranty line. YTD from YTD totals, not the mean of months. Store rows reconcile to the group on every input, both years.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by close month. Same-store, INEOS excluded (opened 2026). GMC Prescott body shop labor types excluded. Distinct warranty ROs: every RO with a warranty line. Jan-Sep 2026 YTD.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by close month. Same-store, INEOS excluded (opened 2026). GMC Prescott body shop labor types excluded. Change in warranty RO count (percent, so store size does not drive the ranking), Jan-Sep 2026 vs 2025, best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by close month. Same-store, INEOS excluded (opened 2026). GMC Prescott body shop labor types excluded. Warranty labor sale / warranty sold hours. YTD from YTD totals, not the mean of months. Store rows reconcile to the group on every input, both years.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by close month. Same-store, INEOS excluded (opened 2026). GMC Prescott body shop labor types excluded. Warranty labor sale / warranty sold hours. Jan-Sep 2026 YTD. Green at or above the group, red below.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by close month. Same-store, INEOS excluded (opened 2026). GMC Prescott body shop labor types excluded. Change in Warranty ELR, Jan-Sep 2026 vs 2025, best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by close month. Same-store, INEOS excluded (opened 2026). GMC Prescott body shop labor types excluded. Internal labor sale / internal sold hours. A higher internal rate adds service gross but is a cost to used cars. YTD from YTD totals, not the mean of months. Store rows reconcile to the group on every input, both years.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by close month. Same-store, INEOS excluded (opened 2026). GMC Prescott body shop labor types excluded. Internal labor sale / internal sold hours. A higher internal rate adds service gross but is a cost to used cars. Jan-Sep 2026 YTD. Green at or above the group, red below.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by close month. Same-store, INEOS excluded (opened 2026). GMC Prescott body shop labor types excluded. Change in Internal ELR, Jan-Sep 2026 vs 2025, best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chart" Target="/ppt/charts/chart4.xml"/><Relationship Id="rId4" Type="http://schemas.openxmlformats.org/officeDocument/2006/relationships/chart" Target="/ppt/charts/chart5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chart" Target="/ppt/charts/chart8.xml"/><Relationship Id="rId4" Type="http://schemas.openxmlformats.org/officeDocument/2006/relationships/chart" Target="/ppt/charts/chart9.xml"/><Relationship Id="rId5" Type="http://schemas.openxmlformats.org/officeDocument/2006/relationships/chart" Target="/ppt/charts/chart10.xml"/><Relationship Id="rId6" Type="http://schemas.openxmlformats.org/officeDocument/2006/relationships/chart" Target="/ppt/charts/chart11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7200" dirty="0"/>
          </a:p>
        </p:txBody>
      </p:sp>
      <p:sp>
        <p:nvSpPr>
          <p:cNvPr id="4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ROs   ·   Warranty ELR   ·   Internal ELR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RO Count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135,764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126,891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−8,873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−6.5%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RO Count by month, 2025 against 2026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2889504"/>
          <a:ext cx="10945368" cy="300837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Shape 15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Down 8,873 to 126,891, behind 2025 in seven of nine months. Warranty volume follows OEM campaigns and recalls as much as store effort.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RO Count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RO COUNT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126,891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980944" y="1911860"/>
            <a:ext cx="182880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55464" y="184708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11,211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980944" y="2151755"/>
            <a:ext cx="172260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55464" y="208698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10,560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980944" y="2391651"/>
            <a:ext cx="140092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855464" y="232687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8,588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980944" y="2631546"/>
            <a:ext cx="128624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55464" y="256677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7,885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980944" y="2871442"/>
            <a:ext cx="126275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855464" y="280667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7,741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980944" y="3111337"/>
            <a:ext cx="119603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855464" y="304656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7,332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980944" y="3351233"/>
            <a:ext cx="103095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855464" y="328646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6,320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2980944" y="3591128"/>
            <a:ext cx="79898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855464" y="3526357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4,898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2980944" y="3831024"/>
            <a:ext cx="77207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855464" y="3766252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4,733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2980944" y="4070920"/>
            <a:ext cx="62509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855464" y="400614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3,832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2980944" y="4310815"/>
            <a:ext cx="61677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855464" y="4246043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3,781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2980944" y="4550711"/>
            <a:ext cx="59622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855464" y="448593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3,655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2980944" y="4790606"/>
            <a:ext cx="59557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855464" y="472583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3,651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2980944" y="5030502"/>
            <a:ext cx="55218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855464" y="496573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3,385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2980944" y="5270397"/>
            <a:ext cx="53064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855464" y="520562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3,253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2980944" y="5510293"/>
            <a:ext cx="50993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855464" y="544552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3,126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2980944" y="5750188"/>
            <a:ext cx="50063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855464" y="568541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3,069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31352" y="1911860"/>
            <a:ext cx="45707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405872" y="184708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2,802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31352" y="2151755"/>
            <a:ext cx="44451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405872" y="208698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2,725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31352" y="2391651"/>
            <a:ext cx="40846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405872" y="232687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2,504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31352" y="2631546"/>
            <a:ext cx="39933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405872" y="256677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2,448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31352" y="2871442"/>
            <a:ext cx="37502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405872" y="280667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2,299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31352" y="3111337"/>
            <a:ext cx="36915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405872" y="304656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2,263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31352" y="3351233"/>
            <a:ext cx="32820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405872" y="328646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2,012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31352" y="3591128"/>
            <a:ext cx="32576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405872" y="3526357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1,997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31352" y="3831024"/>
            <a:ext cx="29476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405872" y="3766252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1,807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31352" y="4070920"/>
            <a:ext cx="24664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405872" y="400614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1,512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31352" y="4310815"/>
            <a:ext cx="23539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405872" y="4246043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1,443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31352" y="4550711"/>
            <a:ext cx="22266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405872" y="448593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1,365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31352" y="4790606"/>
            <a:ext cx="21238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405872" y="472583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1,302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31352" y="5030502"/>
            <a:ext cx="20146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405872" y="496573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1,235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31352" y="5270397"/>
            <a:ext cx="18514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405872" y="520562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1,135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31352" y="5510293"/>
            <a:ext cx="16671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405872" y="544552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1,022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4" name="Shape 142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 leads at 11,211; LR Reno is smallest at 1,022.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RO Count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RO COUNT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−6.5%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85616" y="1911860"/>
            <a:ext cx="77724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17720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+47.9%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785616" y="2151755"/>
            <a:ext cx="77674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617720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+47.8%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785616" y="2391651"/>
            <a:ext cx="76745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17720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+47.3%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785616" y="2631546"/>
            <a:ext cx="58323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617720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+35.9%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785616" y="2871442"/>
            <a:ext cx="53085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617720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+32.7%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785616" y="3111337"/>
            <a:ext cx="48565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617720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+29.9%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785616" y="3351233"/>
            <a:ext cx="36844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617720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+22.7%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785616" y="3591128"/>
            <a:ext cx="33204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617720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+20.4%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785616" y="3831024"/>
            <a:ext cx="19401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617720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+11.9%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785616" y="4070920"/>
            <a:ext cx="18893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617720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+11.6%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785616" y="4310815"/>
            <a:ext cx="16479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617720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85616" y="4550711"/>
            <a:ext cx="14485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617720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+8.9%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785616" y="4790606"/>
            <a:ext cx="12062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617720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+7.4%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785616" y="5030502"/>
            <a:ext cx="11091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617720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+6.8%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785616" y="5270397"/>
            <a:ext cx="6589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617720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785616" y="5510293"/>
            <a:ext cx="5428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617720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+3.3%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785616" y="5750188"/>
            <a:ext cx="2176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617720" y="568541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+1.3%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9267349" y="1911860"/>
            <a:ext cx="68675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168128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−4.2%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9226847" y="2151755"/>
            <a:ext cx="109177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168128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−6.7%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9209036" y="2391651"/>
            <a:ext cx="126988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168128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−7.8%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9157295" y="2631546"/>
            <a:ext cx="178729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168128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−11.0%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9151411" y="2871442"/>
            <a:ext cx="184613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168128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−11.4%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9132099" y="3111337"/>
            <a:ext cx="203925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168128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−12.6%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9091020" y="3351233"/>
            <a:ext cx="24500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168128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−15.1%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9014543" y="3591128"/>
            <a:ext cx="321481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168128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−19.8%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9006870" y="3831024"/>
            <a:ext cx="32915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168128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−20.3%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967454" y="4070920"/>
            <a:ext cx="36857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168128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−22.7%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892133" y="4310815"/>
            <a:ext cx="443891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168128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−27.3%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853570" y="4550711"/>
            <a:ext cx="48245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168128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−29.7%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762298" y="4790606"/>
            <a:ext cx="573726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168128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−35.3%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694064" y="5030502"/>
            <a:ext cx="64196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168128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−39.5%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626252" y="5270397"/>
            <a:ext cx="70977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168128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−43.7%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83100" y="5510293"/>
            <a:ext cx="75292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168128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−46.4%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3780130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330538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of 33 stores grew warranty RO count, led by Hyundai Prescott at +47.9% to 2,802. 16 declined; Acura fell most at −46.4%.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$180.25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$197.17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+$16.93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+9.4%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 by month, 2025 against 2026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1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2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3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5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$16.93 to $197.17, ahead of 2025 in all nine months.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$197.17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1907062"/>
            <a:ext cx="169164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54880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$308.88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08376" y="2146957"/>
            <a:ext cx="150564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754880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$274.91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008376" y="2386853"/>
            <a:ext cx="1441456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54880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$263.19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008376" y="2626748"/>
            <a:ext cx="1284359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754880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$234.51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008376" y="2866644"/>
            <a:ext cx="1250858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754880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$228.39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106540"/>
            <a:ext cx="1187628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54880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$216.85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008376" y="3346435"/>
            <a:ext cx="116322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754880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$212.39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008376" y="3586331"/>
            <a:ext cx="1148321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754880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$209.67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008376" y="3826226"/>
            <a:ext cx="1147249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754880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$209.48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008376" y="4066122"/>
            <a:ext cx="1133466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754880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$206.96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4306017"/>
            <a:ext cx="1133414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754880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$206.95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008376" y="4545913"/>
            <a:ext cx="1082147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754880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$197.59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008376" y="4785808"/>
            <a:ext cx="107000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754880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$195.37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008376" y="5025704"/>
            <a:ext cx="106886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754880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$195.16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008376" y="5265599"/>
            <a:ext cx="101870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754880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$186.00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5505495"/>
            <a:ext cx="100204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754880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$182.96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008376" y="5745390"/>
            <a:ext cx="98941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754880" y="568541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$180.66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58784" y="1907062"/>
            <a:ext cx="98896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305288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$180.57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58784" y="2146957"/>
            <a:ext cx="97270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305288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$177.61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58784" y="2386853"/>
            <a:ext cx="96721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305288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$176.60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58784" y="2626748"/>
            <a:ext cx="95047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305288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$173.55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58784" y="2866644"/>
            <a:ext cx="93898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305288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$171.45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58784" y="3106540"/>
            <a:ext cx="937921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305288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$171.25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58784" y="3346435"/>
            <a:ext cx="93637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305288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$170.97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58784" y="3586331"/>
            <a:ext cx="93463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305288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$170.65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3826226"/>
            <a:ext cx="89907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305288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$164.16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58784" y="4066122"/>
            <a:ext cx="878217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305288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$160.35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58784" y="4306017"/>
            <a:ext cx="86428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305288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$157.81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58784" y="4545913"/>
            <a:ext cx="85370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305288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$155.88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58784" y="4785808"/>
            <a:ext cx="83002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305288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$151.55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5025704"/>
            <a:ext cx="78147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305288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$142.69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58784" y="5265599"/>
            <a:ext cx="71462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305288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$130.48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58784" y="5505495"/>
            <a:ext cx="665401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305288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$121.50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4080932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631340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of 33 stores at or above the $197.17 group, led by Audi Henderson at $308.88. Subaru Prescott is lowest at $121.50.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+$16.93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85616" y="1911860"/>
            <a:ext cx="77724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17720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+$57.74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785616" y="2151755"/>
            <a:ext cx="53645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617720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+$39.85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785616" y="2391651"/>
            <a:ext cx="36840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17720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+$27.37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785616" y="2631546"/>
            <a:ext cx="35513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617720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+$26.38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785616" y="2871442"/>
            <a:ext cx="27660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617720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+$20.55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785616" y="3111337"/>
            <a:ext cx="25852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617720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+$19.21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785616" y="3351233"/>
            <a:ext cx="25783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617720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+$19.15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785616" y="3591128"/>
            <a:ext cx="22818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617720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+$16.95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785616" y="3831024"/>
            <a:ext cx="22572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617720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+$16.77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785616" y="4070920"/>
            <a:ext cx="22568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617720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+$16.77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785616" y="4310815"/>
            <a:ext cx="21600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617720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+$16.05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85616" y="4550711"/>
            <a:ext cx="21466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617720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+$15.95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785616" y="4790606"/>
            <a:ext cx="18355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617720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+$13.64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785616" y="5030502"/>
            <a:ext cx="17351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617720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+$12.89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785616" y="5270397"/>
            <a:ext cx="16498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617720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+$12.26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785616" y="5510293"/>
            <a:ext cx="13001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617720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+$9.66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785616" y="5750188"/>
            <a:ext cx="12973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617720" y="568541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+$9.64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9336024" y="1911860"/>
            <a:ext cx="12398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168128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+$9.21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9336024" y="2151755"/>
            <a:ext cx="11550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168128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+$8.58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9336024" y="2391651"/>
            <a:ext cx="9359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168128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+$6.95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9336024" y="2631546"/>
            <a:ext cx="9154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168128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+$6.80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9336024" y="2871442"/>
            <a:ext cx="9085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168128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+$6.75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9336024" y="3111337"/>
            <a:ext cx="8371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168128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+$6.22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9336024" y="3351233"/>
            <a:ext cx="7134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168128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+$5.30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9336024" y="3591128"/>
            <a:ext cx="6118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168128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+$4.55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9336024" y="3831024"/>
            <a:ext cx="5748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168128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+$4.27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9336024" y="4070920"/>
            <a:ext cx="5006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168128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+$3.72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9336024" y="4310815"/>
            <a:ext cx="3318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168128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+$2.47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9336024" y="4550711"/>
            <a:ext cx="1381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168128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+$1.03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9336024" y="4790606"/>
            <a:ext cx="128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168128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+$0.95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9335137" y="5030502"/>
            <a:ext cx="1280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168128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−$0.07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9314711" y="5270397"/>
            <a:ext cx="21313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168128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−$1.58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9171193" y="5510293"/>
            <a:ext cx="164831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168128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−$12.25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3780130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330538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 of 33 stores raised warranty ELR, led by LR LV at +$57.74 to $274.91. 3 declined; Honda North fell most at −$12.25.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$126.09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$129.84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+$3.75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+3.0%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ELR by month, 2025 against 2026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1" name="Chart 4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22" name="Chart 5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3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4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5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6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9" name="Shape 21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$3.75 to $129.84, ahead of 2025 in seven of nine months.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ELR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$129.84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1907062"/>
            <a:ext cx="169164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54880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$207.05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08376" y="2146957"/>
            <a:ext cx="1676174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754880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$205.15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008376" y="2386853"/>
            <a:ext cx="1535097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54880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$187.89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008376" y="2626748"/>
            <a:ext cx="144095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754880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$176.36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008376" y="2866644"/>
            <a:ext cx="1416843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754880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$173.41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106540"/>
            <a:ext cx="136417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54880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$166.97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008376" y="3346435"/>
            <a:ext cx="1354753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754880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$165.81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008376" y="3586331"/>
            <a:ext cx="1334617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754880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$163.35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008376" y="3826226"/>
            <a:ext cx="132628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754880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$162.33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008376" y="4066122"/>
            <a:ext cx="1298491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754880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$158.93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4306017"/>
            <a:ext cx="1265243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754880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$154.86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008376" y="4545913"/>
            <a:ext cx="1238047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754880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$151.53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008376" y="4785808"/>
            <a:ext cx="119979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754880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$146.85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008376" y="5025704"/>
            <a:ext cx="1199589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754880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$146.82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008376" y="5265599"/>
            <a:ext cx="1158201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754880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$141.76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5505495"/>
            <a:ext cx="113863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754880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$139.36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008376" y="5745390"/>
            <a:ext cx="112261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754880" y="568541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$137.40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58784" y="1907062"/>
            <a:ext cx="1121023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305288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$137.21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58784" y="2146957"/>
            <a:ext cx="1118529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305288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$136.90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58784" y="2386853"/>
            <a:ext cx="1098819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305288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$134.49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58784" y="2626748"/>
            <a:ext cx="109858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305288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$134.46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58784" y="2866644"/>
            <a:ext cx="104755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305288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$128.21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58784" y="3106540"/>
            <a:ext cx="104098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305288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$127.41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58784" y="3346435"/>
            <a:ext cx="101683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305288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$124.45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58784" y="3586331"/>
            <a:ext cx="100231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305288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$122.68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3826226"/>
            <a:ext cx="97533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305288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$119.37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58784" y="4066122"/>
            <a:ext cx="95741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305288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$117.18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58784" y="4306017"/>
            <a:ext cx="93931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305288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$114.97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58784" y="4545913"/>
            <a:ext cx="89237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305288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$109.22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58784" y="4785808"/>
            <a:ext cx="85701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305288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$104.89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5025704"/>
            <a:ext cx="838677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305288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$102.65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58784" y="5265599"/>
            <a:ext cx="815241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305288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$99.78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58784" y="5505495"/>
            <a:ext cx="71252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305288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$87.21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4061880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612288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 of 33 stores at or above the $129.84 group, led by LR Reno at $207.05. Nissan is lowest at $87.21.</a:t>
            </a:r>
            <a:endParaRPr lang="en-US" sz="15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ELR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+$3.75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85616" y="1911860"/>
            <a:ext cx="60083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17720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+$46.71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785616" y="2151755"/>
            <a:ext cx="50922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617720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+$39.59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785616" y="2391651"/>
            <a:ext cx="34878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17720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+$27.12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785616" y="2631546"/>
            <a:ext cx="26770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617720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+$20.81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785616" y="2871442"/>
            <a:ext cx="22436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617720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+$17.44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785616" y="3111337"/>
            <a:ext cx="16313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617720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+$12.68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785616" y="3351233"/>
            <a:ext cx="15986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617720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+$12.43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785616" y="3591128"/>
            <a:ext cx="15483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617720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+$12.04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785616" y="3831024"/>
            <a:ext cx="14315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617720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+$11.13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785616" y="4070920"/>
            <a:ext cx="8225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617720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+$6.39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785616" y="4310815"/>
            <a:ext cx="8076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617720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+$6.28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85616" y="4550711"/>
            <a:ext cx="7359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617720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+$5.72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785616" y="4790606"/>
            <a:ext cx="7034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617720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+$5.47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785616" y="5030502"/>
            <a:ext cx="6610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617720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+$5.14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785616" y="5270397"/>
            <a:ext cx="5801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617720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+$4.51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785616" y="5510293"/>
            <a:ext cx="4914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617720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+$3.82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785616" y="5750188"/>
            <a:ext cx="4822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617720" y="568541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+$3.75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9336024" y="1911860"/>
            <a:ext cx="4601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168128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+$3.58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9336024" y="2151755"/>
            <a:ext cx="2496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168128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+$1.94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9336024" y="2391651"/>
            <a:ext cx="128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168128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+$0.34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9324019" y="2631546"/>
            <a:ext cx="1280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168128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−$0.93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9317348" y="2871442"/>
            <a:ext cx="18676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168128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−$1.45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9313515" y="3111337"/>
            <a:ext cx="22509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168128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−$1.75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9278246" y="3351233"/>
            <a:ext cx="57778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168128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−$4.49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9273152" y="3591128"/>
            <a:ext cx="6287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168128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−$4.89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9257842" y="3831024"/>
            <a:ext cx="7818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168128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−$6.08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9253717" y="4070920"/>
            <a:ext cx="82307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168128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−$6.40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9203894" y="4310815"/>
            <a:ext cx="13213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168128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−$10.27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9107808" y="4550711"/>
            <a:ext cx="228216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168128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−$17.74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9069070" y="4790606"/>
            <a:ext cx="26695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168128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−$20.75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916687" y="5030502"/>
            <a:ext cx="419337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168128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−$32.60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809839" y="5270397"/>
            <a:ext cx="526185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168128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−$40.91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58784" y="5510293"/>
            <a:ext cx="77724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168128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−$60.43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3780130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330538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 of 33 stores raised internal ELR, led by Hyundai St George at +$46.71 to $205.15. 13 declined; Kia LV fell most at −$60.43.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2026-10-21T21:13:51Z</dcterms:created>
  <dcterms:modified xsi:type="dcterms:W3CDTF">2026-10-21T21:13:51Z</dcterms:modified>
</cp:coreProperties>
</file>