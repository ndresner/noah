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three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three stores by change in Warranty ELR, Jan-Sep 2026 vs 2025. Moving now: Jul-Sep 2026 vs Jan-Mar 2026, each store against itself; the group moved +$1.73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three stores by change in Internal ELR, Jan-Sep 2026 vs 2025. Moving now: Jul-Sep 2026 vs Jan-Mar 2026, each store against itself; the group moved +4.1%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chart" Target="/ppt/charts/chart29.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chart" Target="/ppt/charts/chart31.xml"/><Relationship Id="rId3" Type="http://schemas.openxmlformats.org/officeDocument/2006/relationships/chart" Target="/ppt/charts/chart32.xml"/><Relationship Id="rId4" Type="http://schemas.openxmlformats.org/officeDocument/2006/relationships/chart" Target="/ppt/charts/chart33.xml"/><Relationship Id="rId5" Type="http://schemas.openxmlformats.org/officeDocument/2006/relationships/chart" Target="/ppt/charts/chart34.xml"/><Relationship Id="rId6" Type="http://schemas.openxmlformats.org/officeDocument/2006/relationships/chart" Target="/ppt/charts/chart35.xml"/><Relationship Id="rId7" Type="http://schemas.openxmlformats.org/officeDocument/2006/relationships/chart" Target="/ppt/charts/chart36.xml"/><Relationship Id="rId8" Type="http://schemas.openxmlformats.org/officeDocument/2006/relationships/chart" Target="/ppt/charts/chart37.xml"/><Relationship Id="rId9" Type="http://schemas.openxmlformats.org/officeDocument/2006/relationships/chart" Target="/ppt/charts/chart38.xml"/><Relationship Id="rId10" Type="http://schemas.openxmlformats.org/officeDocument/2006/relationships/chart" Target="/ppt/charts/chart39.xml"/><Relationship Id="rId11" Type="http://schemas.openxmlformats.org/officeDocument/2006/relationships/chart" Target="/ppt/charts/chart40.xml"/><Relationship Id="rId12" Type="http://schemas.openxmlformats.org/officeDocument/2006/relationships/chart" Target="/ppt/charts/chart41.xml"/><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31"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36"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42"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50"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1"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56"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7"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63"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161288" y="181051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LR LV</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$274.91</a:t>
            </a:r>
            <a:endParaRPr lang="en-US" sz="1700" dirty="0"/>
          </a:p>
        </p:txBody>
      </p:sp>
      <p:sp>
        <p:nvSpPr>
          <p:cNvPr id="12"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4" name="Text 12"/>
          <p:cNvSpPr txBox="1"/>
          <p:nvPr/>
        </p:nvSpPr>
        <p:spPr>
          <a:xfrm>
            <a:off x="1161288" y="328879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Audi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$308.88</a:t>
            </a:r>
            <a:endParaRPr lang="en-US" sz="1700" dirty="0"/>
          </a:p>
        </p:txBody>
      </p:sp>
      <p:sp>
        <p:nvSpPr>
          <p:cNvPr id="15"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4767072"/>
            <a:ext cx="3489960" cy="1478280"/>
          </a:xfrm>
          <a:prstGeom prst="rect">
            <a:avLst/>
          </a:prstGeom>
          <a:solidFill>
            <a:srgbClr val="F7F7F7"/>
          </a:solidFill>
          <a:ln/>
        </p:spPr>
      </p:sp>
      <p:sp>
        <p:nvSpPr>
          <p:cNvPr id="17"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18" name="Text 16"/>
          <p:cNvSpPr txBox="1"/>
          <p:nvPr/>
        </p:nvSpPr>
        <p:spPr>
          <a:xfrm>
            <a:off x="1161288" y="476707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Volvo</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$234.51</a:t>
            </a:r>
            <a:endParaRPr lang="en-US" sz="1700" dirty="0"/>
          </a:p>
        </p:txBody>
      </p:sp>
      <p:sp>
        <p:nvSpPr>
          <p:cNvPr id="19"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349496" y="1371600"/>
            <a:ext cx="3489960" cy="45720"/>
          </a:xfrm>
          <a:prstGeom prst="rect">
            <a:avLst/>
          </a:prstGeom>
          <a:solidFill>
            <a:srgbClr val="C2352F"/>
          </a:solidFill>
          <a:ln/>
        </p:spPr>
      </p:sp>
      <p:sp>
        <p:nvSpPr>
          <p:cNvPr id="21"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2" name="Shape 20"/>
          <p:cNvSpPr/>
          <p:nvPr/>
        </p:nvSpPr>
        <p:spPr>
          <a:xfrm>
            <a:off x="4349496" y="1810512"/>
            <a:ext cx="3489960" cy="1478280"/>
          </a:xfrm>
          <a:prstGeom prst="rect">
            <a:avLst/>
          </a:prstGeom>
          <a:solidFill>
            <a:srgbClr val="F7F7F7"/>
          </a:solidFill>
          <a:ln/>
        </p:spPr>
      </p:sp>
      <p:sp>
        <p:nvSpPr>
          <p:cNvPr id="23"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4" name="Text 22"/>
          <p:cNvSpPr txBox="1"/>
          <p:nvPr/>
        </p:nvSpPr>
        <p:spPr>
          <a:xfrm>
            <a:off x="4852416" y="181051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Honda North</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$130.48</a:t>
            </a:r>
            <a:endParaRPr lang="en-US" sz="1700" dirty="0"/>
          </a:p>
        </p:txBody>
      </p:sp>
      <p:sp>
        <p:nvSpPr>
          <p:cNvPr id="25"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26"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27" name="Text 25"/>
          <p:cNvSpPr txBox="1"/>
          <p:nvPr/>
        </p:nvSpPr>
        <p:spPr>
          <a:xfrm>
            <a:off x="4852416" y="328879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LR Reno</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$228.39</a:t>
            </a:r>
            <a:endParaRPr lang="en-US" sz="1700" dirty="0"/>
          </a:p>
        </p:txBody>
      </p:sp>
      <p:sp>
        <p:nvSpPr>
          <p:cNvPr id="28"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29" name="Shape 27"/>
          <p:cNvSpPr/>
          <p:nvPr/>
        </p:nvSpPr>
        <p:spPr>
          <a:xfrm>
            <a:off x="4349496" y="4767072"/>
            <a:ext cx="3489960" cy="1478280"/>
          </a:xfrm>
          <a:prstGeom prst="rect">
            <a:avLst/>
          </a:prstGeom>
          <a:solidFill>
            <a:srgbClr val="F7F7F7"/>
          </a:solidFill>
          <a:ln/>
        </p:spPr>
      </p:sp>
      <p:sp>
        <p:nvSpPr>
          <p:cNvPr id="30"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1" name="Text 29"/>
          <p:cNvSpPr txBox="1"/>
          <p:nvPr/>
        </p:nvSpPr>
        <p:spPr>
          <a:xfrm>
            <a:off x="4852416" y="476707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Cadillac</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$212.39</a:t>
            </a:r>
            <a:endParaRPr lang="en-US" sz="1700" dirty="0"/>
          </a:p>
        </p:txBody>
      </p:sp>
      <p:sp>
        <p:nvSpPr>
          <p:cNvPr id="32"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33" name="Shape 31"/>
          <p:cNvSpPr/>
          <p:nvPr/>
        </p:nvSpPr>
        <p:spPr>
          <a:xfrm>
            <a:off x="8040624" y="1371600"/>
            <a:ext cx="3489960" cy="45720"/>
          </a:xfrm>
          <a:prstGeom prst="rect">
            <a:avLst/>
          </a:prstGeom>
          <a:solidFill>
            <a:srgbClr val="2587C5"/>
          </a:solidFill>
          <a:ln/>
        </p:spPr>
      </p:sp>
      <p:sp>
        <p:nvSpPr>
          <p:cNvPr id="34"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35" name="Shape 33"/>
          <p:cNvSpPr/>
          <p:nvPr/>
        </p:nvSpPr>
        <p:spPr>
          <a:xfrm>
            <a:off x="8040624" y="1810512"/>
            <a:ext cx="3489960" cy="1478280"/>
          </a:xfrm>
          <a:prstGeom prst="rect">
            <a:avLst/>
          </a:prstGeom>
          <a:solidFill>
            <a:srgbClr val="F7F7F7"/>
          </a:solidFill>
          <a:ln/>
        </p:spPr>
      </p:sp>
      <p:sp>
        <p:nvSpPr>
          <p:cNvPr id="36"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37" name="Text 35"/>
          <p:cNvSpPr txBox="1"/>
          <p:nvPr/>
        </p:nvSpPr>
        <p:spPr>
          <a:xfrm>
            <a:off x="8543544" y="181051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Nissan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$190.66</a:t>
            </a:r>
            <a:endParaRPr lang="en-US" sz="1700" dirty="0"/>
          </a:p>
        </p:txBody>
      </p:sp>
      <p:sp>
        <p:nvSpPr>
          <p:cNvPr id="38"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39"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0" name="Text 38"/>
          <p:cNvSpPr txBox="1"/>
          <p:nvPr/>
        </p:nvSpPr>
        <p:spPr>
          <a:xfrm>
            <a:off x="8543544" y="328879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LR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$270.18</a:t>
            </a:r>
            <a:endParaRPr lang="en-US" sz="1700" dirty="0"/>
          </a:p>
        </p:txBody>
      </p:sp>
      <p:sp>
        <p:nvSpPr>
          <p:cNvPr id="4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42" name="Shape 40"/>
          <p:cNvSpPr/>
          <p:nvPr/>
        </p:nvSpPr>
        <p:spPr>
          <a:xfrm>
            <a:off x="8040624" y="4767072"/>
            <a:ext cx="3489960" cy="1478280"/>
          </a:xfrm>
          <a:prstGeom prst="rect">
            <a:avLst/>
          </a:prstGeom>
          <a:solidFill>
            <a:srgbClr val="F7F7F7"/>
          </a:solidFill>
          <a:ln/>
        </p:spPr>
      </p:sp>
      <p:sp>
        <p:nvSpPr>
          <p:cNvPr id="4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44" name="Text 42"/>
          <p:cNvSpPr txBox="1"/>
          <p:nvPr/>
        </p:nvSpPr>
        <p:spPr>
          <a:xfrm>
            <a:off x="8543544" y="4767072"/>
            <a:ext cx="1917192" cy="1478280"/>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Honda Flagstaff</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$180.92</a:t>
            </a:r>
            <a:endParaRPr lang="en-US" sz="1700" dirty="0"/>
          </a:p>
        </p:txBody>
      </p:sp>
      <p:sp>
        <p:nvSpPr>
          <p:cNvPr id="45"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32"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37"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43"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Text 41"/>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0" name="Text 42"/>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51"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2"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3" name="Text 43"/>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54" name="Text 44"/>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Shape 45"/>
          <p:cNvSpPr/>
          <p:nvPr/>
        </p:nvSpPr>
        <p:spPr>
          <a:xfrm>
            <a:off x="11466576" y="3325368"/>
            <a:ext cx="64008" cy="1405128"/>
          </a:xfrm>
          <a:prstGeom prst="rect">
            <a:avLst/>
          </a:prstGeom>
          <a:solidFill>
            <a:srgbClr val="12A566"/>
          </a:solidFill>
          <a:ln/>
        </p:spPr>
      </p:sp>
      <p:sp>
        <p:nvSpPr>
          <p:cNvPr id="56" name="Text 46"/>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7" name="Text 47"/>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58"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9"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60" name="Text 48"/>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61" name="Text 49"/>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62" name="Shape 50"/>
          <p:cNvSpPr/>
          <p:nvPr/>
        </p:nvSpPr>
        <p:spPr>
          <a:xfrm>
            <a:off x="8040624" y="4767072"/>
            <a:ext cx="3489960" cy="1478280"/>
          </a:xfrm>
          <a:prstGeom prst="rect">
            <a:avLst/>
          </a:prstGeom>
          <a:solidFill>
            <a:srgbClr val="F7F7F7"/>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6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2026-10-29T16:33:49Z</dcterms:created>
  <dcterms:modified xsi:type="dcterms:W3CDTF">2026-10-29T16:33:49Z</dcterms:modified>
</cp:coreProperties>
</file>