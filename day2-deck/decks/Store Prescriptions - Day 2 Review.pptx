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$911K a year. Store proficiency 67%. Each tech under 85% raised to 85% of their own clocked hours, valued at the store's labor + parts gross per flagged hour: $76K a month x 12.
2. Service gross - $584K a year. Service gross $1,887,657 vs $2,325,579 Jan–Sep 2025, x 12/9. Overlaps the CP lines.
3. CP hours per RO - $292K a year. 1.42 vs the non-luxury 1.75: gap x 3,671 CP ROs x $183 an hour x 12/9.
4. CP RO count - $109K a year. 239 fewer CP ROs than Jan–Sep 2025 x $342 a RO x 12/9.
5. Parts gross - $105K a year. Parts gross $1,005,492 vs $1,084,358 Jan–Sep 2025, x 12/9. Overlaps CP parts GP.
6. MPI completion - not priced. 83.4% of 1,611 CP &amp; W ROs Jul–Sep vs 90%: 425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$1.22M a year. Store proficiency 91%. Each tech under 85% raised to 85% of their own clocked hours, valued at the store's labor + parts gross per flagged hour: $102K a month x 12.
2. CP parts GP % - $284K a year. 33.6% vs the luxury 41.3% x $2.78M CP parts sale x 12/9.
3. Brake fluid - $74K a year. Brake fluid 2.5% vs 10%: 380 more a year (Jan–Sep x 12/9) x $196 gross a service.
4. MPI completion - not priced. 79.0% of 2,891 CP &amp; W ROs Jul–Sep vs 90%: 1,272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Parts gross - $437K a year. Parts gross $1,419,540 vs $1,747,458 Jan–Sep 2025, x 12/9. Overlaps CP parts GP.
2. Service gross - $256K a year. Service gross $3,040,297 vs $3,232,223 Jan–Sep 2025, x 12/9. Overlaps the CP lines.
3. Techs under 85% - $241K a year. Store proficiency 117%. Each tech under 85% raised to 85% of their own clocked hours, valued at the store's labor + parts gross per flagged hour: $20K a month x 12.
4. CP RO count - $211K a year. 462 fewer CP ROs than Jan–Sep 2025 x $342 a RO x 12/9.
5. CP hours per RO - $165K a year. 2.73 vs the luxury 2.90: gap x 3,917 CP ROs x $183 an hour x 12/9.
6. Brake fluid - $78K a year. Brake fluid 1.9% vs 10%: 378 more a year (Jan–Sep x 12/9) x $206 gross a service.
7. Alignment - $34K a year. Alignment 11.8% vs 15%: 149 more a year (Jan–Sep x 12/9) x $230 gross a service.
8. Fixed gross/head - not priced. $14,916 a month (Jan–Sep gross ÷ 299 head-months, ADP) vs the luxury $16,998: 4.1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$1.89M a year. Store proficiency 87%. Each tech under 85% raised to 85% of their own clocked hours, valued at the store's labor + parts gross per flagged hour: $158K a month x 12.
2. CP labor $ per RO - $939K a year. $464 vs the luxury $632: gap x 5,344 CP ROs x the store's 78.7% labor GP x 12/9. Overlaps hours per RO and ELR.
3. CP ELR - $411K a year. Jul–Sep CP ELR $175 vs 70% of the $285 door rate = $200; gap x 4,275 CP hours x 4.
4. CP hours per RO - $222K a year. 2.73 vs the luxury 2.90: gap x 5,344 CP ROs x $183 an hour x 12/9.
5. Brake fluid - $57K a year. Brake fluid 4.7% vs 10%: 379 more a year (Jan–Sep x 12/9) x $150 gross a service.
6. Fuel service - $46K a year. Fuel service 5.1% vs 7.5%: 170 more a year (Jan–Sep x 12/9) x $269 gross a service.
7. Service gross - $32K a year. Service gross $6,489,716 vs $6,513,640 Jan–Sep 2025, x 12/9. Overlaps the CP lines.
8. Tire balance - $14K a year. Tire balance 6.0% vs 15%: 643 more a year (Jan–Sep x 12/9) x $22 gross a service.
9. MPI completion - not priced. 40.5% of 3,311 CP &amp; W ROs Jul–Sep vs 90%: 6,556 more a year (x 4). Not priced.
10. Video completion - not priced. 42.7% vs the group's 57.8% on 3,311 CP &amp; W ROs Jul–Sep: 2,005 more a year (x 4). Not priced.
11. Fixed gross/head - not priced. $14,260 a month (Jan–Sep gross ÷ 673 head-months, ADP) vs the luxury $16,998: 12.0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$1.20M a year. Store proficiency 71%. Each tech under 85% raised to 85% of their own clocked hours, valued at the store's labor + parts gross per flagged hour: $100K a month x 12.
2. Parts gross - $195K a year. Parts gross $1,257,877 vs $1,403,787 Jan–Sep 2025, x 12/9. Overlaps CP parts GP.
3. CP RO count - $126K a year. 277 fewer CP ROs than Jan–Sep 2025 x $342 a RO x 12/9.
4. CP parts GP % - $114K a year. 35.6% vs the non-luxury 40.5% x $1.78M CP parts sale x 12/9.
5. Service gross - $77K a year. Service gross $2,295,272 vs $2,353,006 Jan–Sep 2025, x 12/9. Overlaps the CP lines.
6. Tire balance - $73K a year. Tire balance 1.3% vs 15%: 981 more a year (Jan–Sep x 12/9) x $75 gross a service.
7. Fuel service - $62K a year. Fuel service 3.0% vs 7.5%: 321 more a year (Jan–Sep x 12/9) x $192 gross a service.
8. Alignment - $57K a year. Alignment 4.2% vs 15%: 770 more a year (Jan–Sep x 12/9) x $74 gross a service.
9. Brake fluid - $53K a year. Brake fluid 4.2% vs 10%: 412 more a year (Jan–Sep x 12/9) x $128 gross a service.
10. Video completion - not priced. 16.0% vs the group's 57.8% on 3,168 CP &amp; W ROs Jul–Sep: 5,302 more a year (x 4). Not priced.
11. Fixed gross/head - not priced. $9,953 a month (Jan–Sep gross ÷ 357 head-months, ADP) vs the non-luxury $12,714: 8.6 heads over. Counted, not priced: no store personnel cost in the data.
12. MPI completion - not priced. 81.7% of 3,168 CP &amp; W ROs Jul–Sep vs 90%: 1,052 more a year (x 4). Not priced.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$1.35M a year. Store proficiency 68%. Each tech under 85% raised to 85% of their own clocked hours, valued at the store's labor + parts gross per flagged hour: $112K a month x 12.
2. CP parts GP % - $77K a year. 37.2% vs the non-luxury 40.5% x $1.74M CP parts sale x 12/9.
3. Fuel service - $65K a year. Fuel service 2.7% vs 7.5%: 400 more a year (Jan–Sep x 12/9) x $163 gross a service.
4. Alignment - $25K a year. Alignment 11.1% vs 15%: 324 more a year (Jan–Sep x 12/9) x $78 gross a service.
5. Brake fluid - $21K a year. Brake fluid 7.1% vs 10%: 245 more a year (Jan–Sep x 12/9) x $87 gross a service.
6. Tire balance - $21K a year. Tire balance 9.1% vs 15%: 496 more a year (Jan–Sep x 12/9) x $42 gross a service.
7. CP labor GP % - $17K a year. 77.3% vs 78% (bottom of the 78-80% range) x $1.73M CP labor sale x 12/9.
8. Video completion - not priced. 21.8% vs the group's 57.8% on 2,779 CP &amp; W ROs Jul–Sep: 4,006 more a year (x 4). Not priced.
9. Fixed gross/head - not priced. $10,391 a month (Jan–Sep gross ÷ 436 head-months, ADP) vs the non-luxury $12,714: 8.9 heads over. Counted, not priced: no store personnel cost in the data.
10. MPI completion - not priced. 87.6% of 2,779 CP &amp; W ROs Jul–Sep vs 90%: 267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$1.05M a year. Store proficiency 103%. Each tech under 85% raised to 85% of their own clocked hours, valued at the store's labor + parts gross per flagged hour: $87K a month x 12.
2. CP ELR - $671K a year. Jul–Sep CP ELR $146 vs 70% of the $225 door rate = $157; gap x 15,019 CP hours x 4.
3. Service gross - $526K a year. Service gross $10,497,259 vs $10,892,101 Jan–Sep 2025, x 12/9. Overlaps the CP lines.
4. CP RO count - $434K a year. 952 fewer CP ROs than Jan–Sep 2025 x $342 a RO x 12/9.
5. CP parts GP % - $314K a year. 36.2% vs the non-luxury 40.5% x $5.47M CP parts sale x 12/9.
6. Brake fluid - $151K a year. Brake fluid 5.8% vs 10%: 1,093 more a year (Jan–Sep x 12/9) x $138 gross a service.
7. Fuel service - $142K a year. Fuel service 5.3% vs 7.5%: 585 more a year (Jan–Sep x 12/9) x $243 gross a service.
8. Tire balance - $106K a year. Tire balance 7.3% vs 15%: 2,001 more a year (Jan–Sep x 12/9) x $53 gross a service.
9. Alignment - $75K a year. Alignment 12.9% vs 15%: 556 more a year (Jan–Sep x 12/9) x $136 gross a service.
10. Parts gross - $56K a year. Parts gross $6,047,818 vs $6,089,964 Jan–Sep 2025, x 12/9. Overlaps CP parts GP.
11. Video completion - not priced. 40.2% vs the group's 57.8% on 9,387 CP &amp; W ROs Jul–Sep: 6,624 more a year (x 4). Not priced.
12. MPI completion - not priced. 84.5% of 9,387 CP &amp; W ROs Jul–Sep vs 90%: 2,065 more a year (x 4). Not priced.
13. Fixed gross/head - not priced. $12,042 a month (Jan–Sep gross ÷ 1,374 head-months, ADP) vs the non-luxury $12,714: 8.1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$574K a year. Store proficiency 73%. Each tech under 85% raised to 85% of their own clocked hours, valued at the store's labor + parts gross per flagged hour: $48K a month x 12.
2. CP labor GP % - $67K a year. 72.2% vs 78% (bottom of the 78-80% range) x $870K CP labor sale x 12/9.
3. CP ELR - $63K a year. Jul–Sep CP ELR $147 vs 70% of the $220 door rate = $154; gap x 2,219 CP hours x 4.
4. CP parts GP % - $42K a year. 37.0% vs the non-luxury 40.5% x $902K CP parts sale x 12/9.
5. Tire balance - $27K a year. Tire balance 7.8% vs 15%: 300 more a year (Jan–Sep x 12/9) x $90 gross a service.
6. Fuel service - $21K a year. Fuel service 3.6% vs 7.5%: 160 more a year (Jan–Sep x 12/9) x $133 gross a service.
7. Brake fluid - $21K a year. Brake fluid 6.1% vs 10%: 162 more a year (Jan–Sep x 12/9) x $127 gross a service.
8. Alignment - $11K a year. Alignment 11.7% vs 15%: 135 more a year (Jan–Sep x 12/9) x $85 gross a service.
9. Video completion - not priced. 35.1% vs the group's 57.8% on 1,656 CP &amp; W ROs Jul–Sep: 1,506 more a year (x 4). Not priced.
10. Fixed gross/head - not priced. $9,498 a month (Jan–Sep gross ÷ 239 head-months, ADP) vs the non-luxury $12,714: 6.7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$473K a year. Store proficiency 78%. Each tech under 85% raised to 85% of their own clocked hours, valued at the store's labor + parts gross per flagged hour: $39K a month x 12.
2. CP hours per RO - $79K a year. 1.67 vs the non-luxury 1.75: gap x 4,030 CP ROs x $183 an hour x 12/9.
3. Brake fluid - $67K a year. Brake fluid 3.2% vs 10%: 367 more a year (Jan–Sep x 12/9) x $184 gross a service.
4. Fuel service - $60K a year. Fuel service 0.7% vs 7.5%: 364 more a year (Jan–Sep x 12/9) x $165 gross a service.
5. Tire balance - $52K a year. Tire balance 1.3% vs 15%: 735 more a year (Jan–Sep x 12/9) x $70 gross a service.
6. Service gross - $37K a year. Service gross $1,044,098 vs $1,071,808 Jan–Sep 2025, x 12/9. Overlaps the CP lines.
7. Alignment - $21K a year. Alignment 11.1% vs 15%: 210 more a year (Jan–Sep x 12/9) x $100 gross a service.
8. CP RO count - $14K a year. 30 fewer CP ROs than Jan–Sep 2025 x $342 a RO x 12/9.
9. Fixed gross/head - not priced. $9,149 a month (Jan–Sep gross ÷ 174 head-months, ADP) vs the non-luxury $12,714: 5.4 heads over. Counted, not priced: no store personnel cost in the data.
10. MPI completion - not priced. 86.3% of 1,655 CP &amp; W ROs Jul–Sep vs 90%: 245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$155K a year. Store proficiency 118%. Each tech under 85% raised to 85% of their own clocked hours, valued at the store's labor + parts gross per flagged hour: $13K a month x 12.
2. CP RO count - $87K a year. 190 fewer CP ROs than Jan–Sep 2025 x $342 a RO x 12/9.
3. MPI completion - not priced. 82.5% of 9,816 CP &amp; W ROs Jul–Sep vs 90%: 2,945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Service gross - $926K a year. Service gross $5,919,248 vs $6,613,864 Jan–Sep 2025, x 12/9. Overlaps the CP lines.
2. Parts gross - $194K a year. Parts gross $2,697,134 vs $2,842,409 Jan–Sep 2025, x 12/9. Overlaps CP parts GP.
3. Techs under 85% - $155K a year. Store proficiency 109%. Each tech under 85% raised to 85% of their own clocked hours, valued at the store's labor + parts gross per flagged hour: $13K a month x 12.
4. Tire balance - $38K a year. Tire balance 12.0% vs 15%: 600 more a year (Jan–Sep x 12/9) x $64 gross a service.
5. MPI completion - not priced. 81.4% of 7,325 CP &amp; W ROs Jul–Sep vs 90%: 2,520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RO count - $456K a year. 999 fewer CP ROs than Jan–Sep 2025 x $342 a RO x 12/9.
2. Tire balance - $80K a year. Tire balance 2.2% vs 15%: 1,526 more a year (Jan–Sep x 12/9) x $52 gross a service.
3. Fuel service - $75K a year. Fuel service 3.2% vs 7.5%: 509 more a year (Jan–Sep x 12/9) x $147 gross a service.
4. Alignment - $36K a year. Alignment 12.5% vs 15%: 294 more a year (Jan–Sep x 12/9) x $124 gross a service.
5. Parts gross - $15K a year. Parts gross $1,394,258 vs $1,405,777 Jan–Sep 2025, x 12/9. Overlaps CP parts GP.
6. Techs under 85% - $12K a year. Store proficiency 109%. Each tech under 85% raised to 85% of their own clocked hours, valued at the store's labor + parts gross per flagged hour: $1K a month x 12.
7. MPI completion - not priced. 49.6% of 3,553 CP &amp; W ROs Jul–Sep vs 90%: 5,742 more a year (x 4). Not priced.
8. Video completion - not priced. 49.6% vs the group's 57.8% on 3,553 CP &amp; W ROs Jul–Sep: 1,171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$412K a year. Store proficiency 78%. Each tech under 85% raised to 85% of their own clocked hours, valued at the store's labor + parts gross per flagged hour: $34K a month x 12.
2. CP labor $ per RO - $92K a year. $213 vs the non-luxury $264: gap x 2,010 CP ROs x the store's 67.7% labor GP x 12/9. Overlaps hours per RO and ELR.
3. CP labor GP % - $59K a year. 67.7% vs 78% (bottom of the 78-80% range) x $429K CP labor sale x 12/9.
4. CP hours per RO - $54K a year. 1.64 vs the non-luxury 1.75: gap x 2,010 CP ROs x $183 an hour x 12/9.
5. CP ELR - $51K a year. Jul–Sep CP ELR $136 vs 70% of the $210 door rate = $147; gap x 1,173 CP hours x 4.
6. Fixed gross/head - not priced. $11,631 a month (Jan–Sep gross ÷ 132 head-months, ADP) vs the non-luxury $12,714: 1.2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$1.06M a year. Store proficiency 69%. Each tech under 85% raised to 85% of their own clocked hours, valued at the store's labor + parts gross per flagged hour: $88K a month x 12.
2. Parts gross - $302K a year. Parts gross $826,662 vs $1,053,439 Jan–Sep 2025, x 12/9. Overlaps CP parts GP.
3. CP hours per RO - $259K a year. 1.43 vs the non-luxury 1.75: gap x 3,349 CP ROs x $183 an hour x 12/9.
4. CP RO count - $198K a year. 435 fewer CP ROs than Jan–Sep 2025 x $342 a RO x 12/9.
5. CP labor $ per RO - $98K a year. $238 vs the non-luxury $264: gap x 3,349 CP ROs x the store's 82.9% labor GP x 12/9. Overlaps hours per RO and ELR.
6. Tire balance - $36K a year. Tire balance 1.2% vs 15%: 615 more a year (Jan–Sep x 12/9) x $58 gross a service.
7. Brake fluid - $32K a year. Brake fluid 4.7% vs 10%: 235 more a year (Jan–Sep x 12/9) x $134 gross a service.
8. Fuel service - $13K a year. Fuel service 5.9% vs 7.5%: 72 more a year (Jan–Sep x 12/9) x $176 gross a service.
9. CP parts GP % - $10K a year. 39.4% vs the non-luxury 40.5% x $732K CP parts sale x 12/9.
10. MPI completion - not priced. 62.7% of 2,058 CP &amp; W ROs Jul–Sep vs 90%: 2,247 more a year (x 4). Not priced.
11. Fixed gross/head - not priced. $11,541 a month (Jan–Sep gross ÷ 198 head-months, ADP) vs the non-luxury $12,714: 2.0 heads over. Counted, not priced: no store personnel cost in the data.
12. Video completion - not priced. 53.1% vs the group's 57.8% on 2,058 CP &amp; W ROs Jul–Sep: 390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$891K a year. Store proficiency 76%. Each tech under 85% raised to 85% of their own clocked hours, valued at the store's labor + parts gross per flagged hour: $74K a month x 12.
2. CP hours per RO - $351K a year. 1.57 vs the non-luxury 1.75: gap x 8,133 CP ROs x $183 an hour x 12/9.
3. CP labor $ per RO - $259K a year. $234 vs the non-luxury $264: gap x 8,133 CP ROs x the store's 79.5% labor GP x 12/9. Overlaps hours per RO and ELR.
4. Parts gross - $223K a year. Parts gross $2,101,307 vs $2,268,483 Jan–Sep 2025, x 12/9. Overlaps CP parts GP.
5. Alignment - $77K a year. Alignment 9.8% vs 15%: 568 more a year (Jan–Sep x 12/9) x $135 gross a service.
6. Fuel service - $76K a year. Fuel service 3.2% vs 7.5%: 464 more a year (Jan–Sep x 12/9) x $163 gross a service.
7. Tire balance - $72K a year. Tire balance 5.2% vs 15%: 1,059 more a year (Jan–Sep x 12/9) x $68 gross a service.
8. CP ELR - $55K a year. Jul–Sep CP ELR $151 vs 70% of the $220 door rate = $154; gap x 4,292 CP hours x 4.
9. Brake fluid - $22K a year. Brake fluid 8.3% vs 10%: 187 more a year (Jan–Sep x 12/9) x $120 gross a service.
10. Video completion - not priced. 31.5% vs the group's 57.8% on 4,474 CP &amp; W ROs Jul–Sep: 4,714 more a year (x 4). Not priced.
11. MPI completion - not priced. 71.2% of 4,474 CP &amp; W ROs Jul–Sep vs 90%: 3,364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$919K a year. Store proficiency 67%. Each tech under 85% raised to 85% of their own clocked hours, valued at the store's labor + parts gross per flagged hour: $77K a month x 12.
2. CP hours per RO - $435K a year. 1.29 vs the non-luxury 1.75: gap x 3,912 CP ROs x $183 an hour x 12/9.
3. CP labor $ per RO - $340K a year. $182 vs the non-luxury $264: gap x 3,912 CP ROs x the store's 79.4% labor GP x 12/9. Overlaps hours per RO and ELR.
4. Alignment - $38K a year. Alignment 8.0% vs 15%: 365 more a year (Jan–Sep x 12/9) x $105 gross a service.
5. Brake fluid - $25K a year. Brake fluid 6.0% vs 10%: 211 more a year (Jan–Sep x 12/9) x $119 gross a service.
6. Tire balance - $18K a year. Tire balance 7.7% vs 15%: 380 more a year (Jan–Sep x 12/9) x $48 gross a service.
7. Video completion - not priced. 5.2% vs the group's 57.8% on 2,672 CP &amp; W ROs Jul–Sep: 5,626 more a year (x 4). Not priced.
8. MPI completion - not priced. 60.9% of 2,672 CP &amp; W ROs Jul–Sep vs 90%: 3,110 more a year (x 4). Not priced.
9. Fixed gross/head - not priced. $12,103 a month (Jan–Sep gross ÷ 193 head-months, ADP) vs the non-luxury $12,714: 1.0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labor $ per RO - $1.18M a year. $403 vs the luxury $632: gap x 4,567 CP ROs x the store's 85.0% labor GP x 12/9. Overlaps hours per RO and ELR.
2. CP hours per RO - $911K a year. 2.08 vs the luxury 2.90: gap x 4,567 CP ROs x $183 an hour x 12/9.
3. Techs under 85% - $379K a year. Store proficiency 104%. Each tech under 85% raised to 85% of their own clocked hours, valued at the store's labor + parts gross per flagged hour: $32K a month x 12.
4. Tire balance - $68K a year. Tire balance 0.1% vs 15%: 909 more a year (Jan–Sep x 12/9) x $75 gross a service.
5. Alignment - $33K a year. Alignment 11.4% vs 15%: 221 more a year (Jan–Sep x 12/9) x $147 gross a service.
6. Fuel service - $25K a year. Fuel service 4.3% vs 7.5%: 195 more a year (Jan–Sep x 12/9) x $128 gross a service.
7. Brake fluid - $15K a year. Brake fluid 8.4% vs 10%: 98 more a year (Jan–Sep x 12/9) x $154 gross a service.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labor $ per RO - $628K a year. $416 vs the luxury $632: gap x 2,630 CP ROs x the store's 83.2% labor GP x 12/9. Overlaps hours per RO and ELR.
2. Techs under 85% - $284K a year. Store proficiency 94%. Each tech under 85% raised to 85% of their own clocked hours, valued at the store's labor + parts gross per flagged hour: $24K a month x 12.
3. CP hours per RO - $267K a year. 2.48 vs the luxury 2.90: gap x 2,630 CP ROs x $183 an hour x 12/9.
4. CP parts GP % - $55K a year. 37.0% vs the luxury 41.3% x $954K CP parts sale x 12/9.
5. CP ELR - $36K a year. Jul–Sep CP ELR $167 vs 70% of the $245 door rate = $171; gap x 2,154 CP hours x 4.
6. Tire balance - $31K a year. Tire balance 1.7% vs 15%: 467 more a year (Jan–Sep x 12/9) x $66 gross a service.
7. Alignment - $26K a year. Alignment 8.4% vs 15%: 230 more a year (Jan–Sep x 12/9) x $114 gross a service.
8. Brake fluid - $11K a year. Brake fluid 7.5% vs 10%: 87 more a year (Jan–Sep x 12/9) x $126 gross a service.
9. Fixed gross/head - not priced. $10,963 a month (Jan–Sep gross ÷ 272 head-months, ADP) vs the luxury $16,998: 10.7 heads over. Counted, not priced: no store personnel cost in the data.
10. Video completion - not priced. 42.7% vs the group's 57.8% on 1,829 CP &amp; W ROs Jul–Sep: 1,108 more a year (x 4). Not priced.
11. MPI completion - not priced. 68.5% of 1,829 CP &amp; W ROs Jul–Sep vs 90%: 1,573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$179K a year. Store proficiency 106%. Each tech under 85% raised to 85% of their own clocked hours, valued at the store's labor + parts gross per flagged hour: $15K a month x 12.
2. Fuel service - $34K a year. Fuel service 2.6% vs 7.5%: 103 more a year (Jan–Sep x 12/9) x $329 gross a service.
3. MPI completion - not priced. 73.0% of 953 CP &amp; W ROs Jul–Sep vs 90%: 648 more a year (x 4). Not priced.
4. Video completion - not priced. 50.0% vs the group's 57.8% on 953 CP &amp; W ROs Jul–Sep: 299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$758K a year. Store proficiency 91%. Each tech under 85% raised to 85% of their own clocked hours, valued at the store's labor + parts gross per flagged hour: $63K a month x 12.
2. Parts gross - $81K a year. Parts gross $2,524,684 vs $2,585,236 Jan–Sep 2025, x 12/9. Overlaps CP parts GP.
3. Fuel service - $24K a year. Fuel service 5.5% vs 7.5%: 92 more a year (Jan–Sep x 12/9) x $258 gross a service.
4. MPI completion - not priced. 71.1% of 2,073 CP &amp; W ROs Jul–Sep vs 90%: 1,567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$247K a year. Store proficiency 81%. Each tech under 85% raised to 85% of their own clocked hours, valued at the store's labor + parts gross per flagged hour: $21K a month x 12.
2. Brake fluid - $20K a year. Brake fluid 7.2% vs 10%: 52 more a year (Jan–Sep x 12/9) x $377 gross a service.
3. Fuel service - $18K a year. Fuel service 4.6% vs 7.5%: 55 more a year (Jan–Sep x 12/9) x $329 gross a service.
4. Alignment - $10K a year. Alignment 12.9% vs 15%: 40 more a year (Jan–Sep x 12/9) x $259 gross a service.
5. Fixed gross/head - not priced. $15,226 a month (Jan–Sep gross ÷ 145 head-months, ADP) vs the luxury $16,998: 1.7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hours per RO - $403K a year. 1.46 vs the non-luxury 1.75: gap x 5,701 CP ROs x $183 an hour x 12/9.
2. CP labor $ per RO - $167K a year. $238 vs the non-luxury $264: gap x 5,701 CP ROs x the store's 84.4% labor GP x 12/9. Overlaps hours per RO and ELR.
3. Techs under 85% - $103K a year. Store proficiency 101%. Each tech under 85% raised to 85% of their own clocked hours, valued at the store's labor + parts gross per flagged hour: $9K a month x 12.
4. Fuel service - $26K a year. Fuel service 5.2% vs 7.5%: 174 more a year (Jan–Sep x 12/9) x $150 gross a service.
5. Brake fluid - $18K a year. Brake fluid 8.5% vs 10%: 115 more a year (Jan–Sep x 12/9) x $154 gross a service.
6. Tire balance - $11K a year. Tire balance 13.2% vs 15%: 138 more a year (Jan–Sep x 12/9) x $79 gross a service.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$509K a year. Store proficiency 91%. Each tech under 85% raised to 85% of their own clocked hours, valued at the store's labor + parts gross per flagged hour: $42K a month x 12.
2. CP RO count - $196K a year. 430 fewer CP ROs than Jan–Sep 2025 x $342 a RO x 12/9.
3. Alignment - $83K a year. Alignment 7.5% vs 15%: 700 more a year (Jan–Sep x 12/9) x $119 gross a service.
4. Tire balance - $77K a year. Tire balance 1.1% vs 15%: 1,296 more a year (Jan–Sep x 12/9) x $59 gross a service.
5. Fuel service - $64K a year. Fuel service 4.2% vs 7.5%: 308 more a year (Jan–Sep x 12/9) x $206 gross a service.
6. Video completion - not priced. 41.9% vs the group's 57.8% on 3,129 CP &amp; W ROs Jul–Sep: 1,995 more a year (x 4). Not priced.
7. Fixed gross/head - not priced. $11,957 a month (Jan–Sep gross ÷ 400 head-months, ADP) vs the non-luxury $12,714: 2.6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$524K a year. Store proficiency 96%. Each tech under 85% raised to 85% of their own clocked hours, valued at the store's labor + parts gross per flagged hour: $44K a month x 12.
2. Parts gross - $383K a year. Parts gross $3,825,122 vs $4,112,388 Jan–Sep 2025, x 12/9. Overlaps CP parts GP.
3. Service gross - $282K a year. Service gross $6,255,269 vs $6,466,581 Jan–Sep 2025, x 12/9. Overlaps the CP lines.
4. CP RO count - $262K a year. 574 fewer CP ROs than Jan–Sep 2025 x $342 a RO x 12/9.
5. Tire balance - $68K a year. Tire balance 10.2% vs 15%: 909 more a year (Jan–Sep x 12/9) x $75 gross a service.
6. CP parts GP % - $13K a year. 40.2% vs the non-luxury 40.5% x $3.09M CP parts sale x 12/9.
7. Fuel service - $10K a year. Fuel service 7.1% vs 7.5%: 78 more a year (Jan–Sep x 12/9) x $130 gross a service.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$691K a year. Store proficiency 98%. Each tech under 85% raised to 85% of their own clocked hours, valued at the store's labor + parts gross per flagged hour: $58K a month x 12.
2. CP labor $ per RO - $212K a year. $222 vs the non-luxury $264: gap x 5,105 CP ROs x the store's 74.1% labor GP x 12/9. Overlaps hours per RO and ELR.
3. CP hours per RO - $185K a year. 1.60 vs the non-luxury 1.75: gap x 5,105 CP ROs x $183 an hour x 12/9.
4. CP parts GP % - $81K a year. 34.8% vs the non-luxury 40.5% x $1.06M CP parts sale x 12/9.
5. CP ELR - $78K a year. Jul–Sep CP ELR $140 vs 70% of the $210 door rate = $147; gap x 2,722 CP hours x 4.
6. CP labor GP % - $58K a year. 74.1% vs 78% (bottom of the 78-80% range) x $1.13M CP labor sale x 12/9.
7. Alignment - $12K a year. Alignment 12.6% vs 15%: 165 more a year (Jan–Sep x 12/9) x $73 gross a service.
8. Video completion - not priced. 54.2% vs the group's 57.8% on 2,709 CP &amp; W ROs Jul–Sep: 395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$265K a year. Store proficiency 109%. Each tech under 85% raised to 85% of their own clocked hours, valued at the store's labor + parts gross per flagged hour: $22K a month x 12.
2. Tire balance - $125K a year. Tire balance 3.7% vs 15%: 837 more a year (Jan–Sep x 12/9) x $149 gross a service.
3. CP labor GP % - $98K a year. 73.9% vs 78% (bottom of the 78-80% range) x $1.77M CP labor sale x 12/9.
4. Alignment - $23K a year. Alignment 11.1% vs 15%: 291 more a year (Jan–Sep x 12/9) x $78 gross a service.
5. MPI completion - not priced. 89.0% of 2,659 CP &amp; W ROs Jul–Sep vs 90%: 106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hours per RO - $1.26M a year. 1.41 vs the non-luxury 1.75: gap x 15,141 CP ROs x $183 an hour x 12/9.
2. CP labor $ per RO - $1.01M a year. $201 vs the non-luxury $264: gap x 15,141 CP ROs x the store's 79.1% labor GP x 12/9. Overlaps hours per RO and ELR.
3. Techs under 85% - $126K a year. Store proficiency 102%. Each tech under 85% raised to 85% of their own clocked hours, valued at the store's labor + parts gross per flagged hour: $10K a month x 12.
4. Tire balance - $109K a year. Tire balance 4.9% vs 15%: 2,031 more a year (Jan–Sep x 12/9) x $54 gross a service.
5. Fuel service - $109K a year. Fuel service 1.7% vs 7.5%: 1,173 more a year (Jan–Sep x 12/9) x $93 gross a service.
6. CP parts GP % - $108K a year. 36.9% vs the non-luxury 40.5% x $2.25M CP parts sale x 12/9.
7. Alignment - $90K a year. Alignment 9.7% vs 15%: 1,066 more a year (Jan–Sep x 12/9) x $84 gross a service.
8. Brake fluid - $48K a year. Brake fluid 8.1% vs 10%: 389 more a year (Jan–Sep x 12/9) x $123 gross a service.
9. Fixed gross/head - not priced. $10,794 a month (Jan–Sep gross ÷ 414 head-months, ADP) vs the non-luxury $12,714: 6.9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hours per RO - $3.55M a year. 1.47 vs the non-luxury 1.75: gap x 53,084 CP ROs x $183 an hour x 12/9.
2. CP labor $ per RO - $2.07M a year. $227 vs the non-luxury $264: gap x 53,084 CP ROs x the store's 79.4% labor GP x 12/9. Overlaps hours per RO and ELR.
3. Techs under 85% - $842K a year. Store proficiency 104%. Each tech under 85% raised to 85% of their own clocked hours, valued at the store's labor + parts gross per flagged hour: $70K a month x 12.
4. Tire balance - $147K a year. Tire balance 11.2% vs 15%: 2,671 more a year (Jan–Sep x 12/9) x $55 gross a service.
5. Fuel service - $129K a year. Fuel service 6.0% vs 7.5%: 1,056 more a year (Jan–Sep x 12/9) x $122 gross a service.
6. Alignment - $33K a year. Alignment 14.5% vs 15%: 326 more a year (Jan–Sep x 12/9) x $102 gross a service.
7. CP parts GP % - $27K a year. 40.2% vs the non-luxury 40.5% x $8.12M CP parts sale x 12/9.
8. Video completion - not priced. 31.7% vs the group's 57.8% on 20,413 CP &amp; W ROs Jul–Sep: 21,344 more a year (x 4). Not priced.
9. MPI completion - not priced. 76.1% of 20,413 CP &amp; W ROs Jul–Sep vs 90%: 11,350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hours per RO - $1.19M a year. 1.38 vs the non-luxury 1.75: gap x 13,490 CP ROs x $183 an hour x 12/9.
2. Techs under 85% - $927K a year. Store proficiency 83%. Each tech under 85% raised to 85% of their own clocked hours, valued at the store's labor + parts gross per flagged hour: $77K a month x 12.
3. CP labor $ per RO - $617K a year. $220 vs the non-luxury $264: gap x 13,490 CP ROs x the store's 78.5% labor GP x 12/9. Overlaps hours per RO and ELR.
4. Tire balance - $132K a year. Tire balance 6.2% vs 15%: 1,590 more a year (Jan–Sep x 12/9) x $83 gross a service.
5. Alignment - $49K a year. Alignment 12.3% vs 15%: 478 more a year (Jan–Sep x 12/9) x $103 gross a service.
6. Parts gross - $44K a year. Parts gross $1,447,980 vs $1,481,187 Jan–Sep 2025, x 12/9. Overlaps CP parts GP.
7. CP RO count - $36K a year. 80 fewer CP ROs than Jan–Sep 2025 x $342 a RO x 12/9.
8. Brake fluid - $32K a year. Brake fluid 8.4% vs 10%: 287 more a year (Jan–Sep x 12/9) x $112 gross a service.
9. Fuel service - $19K a year. Fuel service 6.5% vs 7.5%: 186 more a year (Jan–Sep x 12/9) x $101 gross a service.
10. Fixed gross/head - not priced. $11,044 a month (Jan–Sep gross ÷ 460 head-months, ADP) vs the non-luxury $12,714: 6.7 heads over. Counted, not priced: no store personnel cost in the data.
11. MPI completion - not priced. 81.5% of 5,128 CP &amp; W ROs Jul–Sep vs 90%: 1,744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CP labor $ per RO - $1.35M a year. $187 vs the non-luxury $264: gap x 17,376 CP ROs x the store's 75.7% labor GP x 12/9. Overlaps hours per RO and ELR.
2. CP hours per RO - $1.12M a year. 1.48 vs the non-luxury 1.75: gap x 17,376 CP ROs x $183 an hour x 12/9.
3. Alignment - $225K a year. Alignment 4.3% vs 15%: 2,490 more a year (Jan–Sep x 12/9) x $90 gross a service.
4. Tire balance - $180K a year. Tire balance 0.5% vs 15%: 3,361 more a year (Jan–Sep x 12/9) x $53 gross a service.
5. CP ELR - $157K a year. Jul–Sep CP ELR $125 vs 70% of the $185 door rate = $130; gap x 8,601 CP hours x 4.
6. Techs under 85% - $136K a year. Store proficiency 108%. Each tech under 85% raised to 85% of their own clocked hours, valued at the store's labor + parts gross per flagged hour: $11K a month x 12.
7. CP labor GP % - $102K a year. 75.7% vs 78% (bottom of the 78-80% range) x $3.25M CP labor sale x 12/9.
8. Brake fluid - $80K a year. Brake fluid 7.0% vs 10%: 683 more a year (Jan–Sep x 12/9) x $117 gross a service.
9. Parts gross - $76K a year. Parts gross $2,250,197 vs $2,307,440 Jan–Sep 2025, x 12/9. Overlaps CP parts GP.
10. Fuel service - $56K a year. Fuel service 5.8% vs 7.5%: 387 more a year (Jan–Sep x 12/9) x $145 gross a service.
11. Fixed gross/head - not priced. $11,128 a month (Jan–Sep gross ÷ 533 head-months, ADP) vs the non-luxury $12,714: 7.4 heads over. Counted, not priced: no store personnel cost in the data.
12. MPI completion - not priced. 81.3% of 6,415 CP &amp; W ROs Jul–Sep vs 90%: 2,232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$743K a year. Store proficiency 72%. Each tech under 85% raised to 85% of their own clocked hours, valued at the store's labor + parts gross per flagged hour: $62K a month x 12.
2. CP hours per RO - $517K a year. 2.28 vs the luxury 2.90: gap x 3,402 CP ROs x $183 an hour x 12/9.
3. CP labor $ per RO - $505K a year. $506 vs the luxury $632: gap x 3,402 CP ROs x the store's 88.6% labor GP x 12/9. Overlaps hours per RO and ELR.
4. Parts gross - $67K a year. Parts gross $1,492,527 vs $1,542,570 Jan–Sep 2025, x 12/9. Overlaps CP parts GP.
5. Video completion - not priced. 52.5% vs the group's 57.8% on 1,711 CP &amp; W ROs Jul–Sep: 366 more a year (x 4). Not priced.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Service gross - $730K a year. Service gross $3,502,514 vs $4,049,724 Jan–Sep 2025, x 12/9. Overlaps the CP lines.
2. Techs under 85% - $295K a year. Store proficiency 92%. Each tech under 85% raised to 85% of their own clocked hours, valued at the store's labor + parts gross per flagged hour: $25K a month x 12.
3. Parts gross - $285K a year. Parts gross $1,287,787 vs $1,501,770 Jan–Sep 2025, x 12/9. Overlaps CP parts GP.
4. CP parts GP % - $69K a year. 36.9% vs the non-luxury 40.5% x $1.45M CP parts sale x 12/9.
5. Tire balance - $27K a year. Tire balance 8.3% vs 15%: 460 more a year (Jan–Sep x 12/9) x $60 gross a service.
6. Alignment - $23K a year. Alignment 13.6% vs 15%: 96 more a year (Jan–Sep x 12/9) x $245 gross a service.
7. Fixed gross/head - not priced. $12,006 a month (Jan–Sep gross ÷ 399 head-months, ADP) vs the non-luxury $12,714: 2.5 heads over. Counted, not priced: no store personnel cost in the data.
Where you lead: the store's best places among the 33 on the day's measures, levels and changes on 2025 - top three, else top five, else top ten. A change counts only when it went the right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 (customer pay, opcodes), Profit &amp; Loss (gross, net profit, absorption), Jan-Sep 2026 vs 2025, same-store, INEOS and GMC Prescott body shop out; CP ELR and door rate Jul-Sep; MPI and video store-reported Jul-Sep; proficiency Qlik hours flagged / ADP clocked hours; headcount ADP. The numbers on the Day 2 slides.
Every priced gap worth $10K a year or more, largest first; then the lines counted, not priced. Lines overlap and are never added. Method: the header of store-rx.mjs.
1. Techs under 85% - $248K a year. Store proficiency 70%. Each tech under 85% raised to 85% of their own clocked hours, valued at the store's labor + parts gross per flagged hour: $21K a month x 12.
2. Service gross - $180K a year. Service gross $588,480 vs $723,516 Jan–Sep 2025, x 12/9. Overlaps the CP lines.
3. CP RO count - $151K a year. 332 fewer CP ROs than Jan–Sep 2025 x $342 a RO x 12/9.
4. CP labor $ per RO - $68K a year. $231 vs the non-luxury $264: gap x 1,919 CP ROs x the store's 79.4% labor GP x 12/9. Overlaps hours per RO and ELR.
5. Parts gross - $37K a year. Parts gross $379,537 vs $407,348 Jan–Sep 2025, x 12/9. Overlaps CP parts GP.
6. Fuel service - $29K a year. Fuel service 2.7% vs 7.5%: 123 more a year (Jan–Sep x 12/9) x $236 gross a service.
7. Tire balance - $28K a year. Tire balance 0.4% vs 15%: 373 more a year (Jan–Sep x 12/9) x $75 gross a service.
8. CP hours per RO - $18K a year. 1.71 vs the non-luxury 1.75: gap x 1,919 CP ROs x $183 an hour x 12/9.
9. Alignment - $18K a year. Alignment 5.6% vs 15%: 240 more a year (Jan–Sep x 12/9) x $74 gross a service.
10. Brake fluid - $13K a year. Brake fluid 5.4% vs 10%: 117 more a year (Jan–Sep x 12/9) x $111 gross a service.
11. MPI completion - not priced. 45.7% of 978 CP &amp; W ROs Jul–Sep vs 90%: 1,733 more a year (x 4). Not priced.
12. Fixed gross/head - not priced. $9,878 a month (Jan–Sep gross ÷ 98 head-months, ADP) vs the non-luxury $12,714: 2.4 heads over. Counted, not priced: no store personnel cost in the data.
13. Video completion - not priced. 48.5% vs the group's 57.8% on 978 CP &amp; W ROs Jul–Sep: 365 more a year (x 4). Not priced.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66928"/>
            <a:ext cx="2194560" cy="66751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67512" y="237744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</a:t>
            </a:r>
            <a:endParaRPr lang="en-US" sz="6200" dirty="0"/>
          </a:p>
          <a:p>
            <a:pPr indent="0" marL="0">
              <a:buNone/>
            </a:pPr>
            <a:r>
              <a:rPr lang="en-US" sz="62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Prescriptions</a:t>
            </a:r>
            <a:endParaRPr lang="en-US" sz="6200" dirty="0"/>
          </a:p>
        </p:txBody>
      </p:sp>
      <p:sp>
        <p:nvSpPr>
          <p:cNvPr id="4" name="Shape 1"/>
          <p:cNvSpPr/>
          <p:nvPr/>
        </p:nvSpPr>
        <p:spPr>
          <a:xfrm>
            <a:off x="713232" y="4224528"/>
            <a:ext cx="1371600" cy="50292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94944" y="4462272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2587C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Day 2 Fixed Operations  ·  October 29, 2026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94944" y="4956048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January–September 2026 against 2025   ·   South Point, Las Vegas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Read Your Prescription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78231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536192"/>
            <a:ext cx="50292" cy="590702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1481328"/>
            <a:ext cx="21945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vitals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1481328"/>
            <a:ext cx="8321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2026 year to date, with the change on 2025. Absorption reads against the group.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13232" y="2401214"/>
            <a:ext cx="50292" cy="590702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14400" y="2346350"/>
            <a:ext cx="21945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2346350"/>
            <a:ext cx="8321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Our benchmarks; else your peers' average (luxury or non-luxury), the group, or your 2025.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713232" y="3266237"/>
            <a:ext cx="50292" cy="590702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14400" y="3211373"/>
            <a:ext cx="21945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3211373"/>
            <a:ext cx="8321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Jan–Sep gaps x 12/9; ELR, MPI and video Jul–Sep x 4. A CP RO is worth $342, an hour $183.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13232" y="4131259"/>
            <a:ext cx="50292" cy="590702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4400" y="4076395"/>
            <a:ext cx="21945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4076395"/>
            <a:ext cx="8321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Valued at your own gross per service, as the benchmark slides show them.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13232" y="4996282"/>
            <a:ext cx="50292" cy="590702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914400" y="4941418"/>
            <a:ext cx="21945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3200400" y="4941418"/>
            <a:ext cx="8321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Biggest first, down to $10K a year. Lines overlap: rank them, don't add them. A dash means counted, not priced.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Pick the two lines you will own by the next meeting.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$2.89M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−$517K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$476,154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+$217K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63.1%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3,671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−239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845560" y="658368"/>
            <a:ext cx="788619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973576" y="658368"/>
            <a:ext cx="763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Parts GP 44.9%   ·   4th · Brake fluid 12.7%   ·   4th · Fuel service 9.4%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11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$911K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$1.89M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$2.33M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$584K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1.42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$292K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+0.33 hr per RO.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3,671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3,910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$109K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319 more ROs.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$1.01M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$1.08M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$105K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500" dirty="0"/>
          </a:p>
        </p:txBody>
      </p:sp>
      <p:sp>
        <p:nvSpPr>
          <p:cNvPr id="59" name="Shape 57"/>
          <p:cNvSpPr/>
          <p:nvPr/>
        </p:nvSpPr>
        <p:spPr>
          <a:xfrm>
            <a:off x="658368" y="405445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5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83.4%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425 more a year.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$12.34M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+$1.70M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$4.94M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+$838K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106.6%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3,779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+126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034028" y="658368"/>
            <a:ext cx="769772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162044" y="658368"/>
            <a:ext cx="74416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Absorption 106.6%   ·   1st · CP ELR $266   ·   1st · Gross/head $23,461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of 23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$1.22M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13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33.6%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$284K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2.5%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380 more a year.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39608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79.0%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1,272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$4.46M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−$520K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$1.82M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−$178K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103.6%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3,917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−462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222496" y="658368"/>
            <a:ext cx="75092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50512" y="658368"/>
            <a:ext cx="72532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Absorption 103.6%   ·   2nd · CP ELR $235   ·   2nd · Proficiency 117%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$1.42M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$1.75M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$437K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$3.04M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$3.23M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$256K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10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$241K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3,917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4,379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$211K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616 more ROs.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$165K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+0.17 hr per RO.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1.9%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$78K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378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11.8%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149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$14,916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4.1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$9.60M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+$664K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$2.60M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+$766K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86.1%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5,344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+137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216898" y="658368"/>
            <a:ext cx="251485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44914" y="658368"/>
            <a:ext cx="2258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Net profit +$766K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$1.89M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16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$464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$939K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$175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$411K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2.73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+0.17 hr per RO.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379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5.1%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$46K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170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$6.49M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$6.51M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643 more a year.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6,556 more a year.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2,005 more a year.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$14,260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12.0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$3.55M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−$204K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$800,469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5,358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−277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24140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24140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990088" y="24140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14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087368" y="24140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24140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$1.20M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24140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" y="27378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27378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27378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990088" y="27378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$1.26M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087368" y="27378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$1.40M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989320" y="27378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$195K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59168" y="27378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0617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" y="30617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990088" y="30617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5,358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087368" y="30617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5,635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989320" y="30617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$126K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30617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369 more ROs.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58368" y="33855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33855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24128" y="33855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2990088" y="33855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35.6%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4087368" y="33855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989320" y="33855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$114K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059168" y="33855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7094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24128" y="37094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2990088" y="37094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$2.30M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087368" y="37094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5989320" y="37094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059168" y="37094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58368" y="40332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58368" y="40332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1024128" y="40332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2990088" y="40332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4087368" y="40332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5989320" y="40332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$73K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7059168" y="40332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981 more a year.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43571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1024128" y="43571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2990088" y="43571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3.0%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4087368" y="43571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5989320" y="43571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$62K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7059168" y="43571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321 more a year.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58368" y="46809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58368" y="46809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1024128" y="46809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2990088" y="46809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4087368" y="46809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5989320" y="46809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$57K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7059168" y="46809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770 more a year.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50048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1024128" y="50048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2990088" y="50048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4087368" y="50048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5989320" y="50048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$53K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7059168" y="50048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412 more a year.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58368" y="532318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58368" y="53286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1024128" y="53286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2990088" y="53286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16.0%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4087368" y="53286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5989320" y="53286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7059168" y="53286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5,302 more a year.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658368" y="56525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1024128" y="56525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2990088" y="56525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$9,953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4087368" y="56525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5989320" y="56525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7059168" y="56525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8.6 heads over peer avg.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658368" y="59763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658368" y="59763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1024128" y="59763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2990088" y="59763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81.7%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4087368" y="59763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5989320" y="59763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7059168" y="59763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1,052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$4.53M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+$39K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+$337K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65.1%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6,309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+212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955282" y="658368"/>
            <a:ext cx="4776470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083298" y="658368"/>
            <a:ext cx="452043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7th · Net profit +$337K   ·   8th · CP ROs +212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$1.35M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37.2%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$65K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400 more a year.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324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7.1%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245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9.1%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496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21.8%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4,006 more a year.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$10,391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8.9 heads over peer avg.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87.6%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267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$16.55M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−$437K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−$643K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68.9%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19,520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−952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89878" y="658368"/>
            <a:ext cx="534187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7894" y="658368"/>
            <a:ext cx="50858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9th · Hours per RO 2.30   ·   10th · Proficiency 103%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51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$1.05M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16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12954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1295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1295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1295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$146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1295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1295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$671K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1295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11893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11893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11893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$10.50M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11893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$10.89M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11893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$526K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11893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310831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31083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31083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31083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19,520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31083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20,472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31083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$434K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31083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1,269 more ROs.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609770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609770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609770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36.2%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609770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609770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$314K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609770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3908708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390870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390870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390870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390870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390870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390870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1,093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207647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207647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207647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5.3%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207647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207647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207647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585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506585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506585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506585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506585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7.3%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506585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506585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$106K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506585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2,001 more a year.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480552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480552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480552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12.9%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480552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480552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480552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556 more a year.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104462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104462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104462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104462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$6.05M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104462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$6.09M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104462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$56K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104462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658368" y="539791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58368" y="540340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1024128" y="540340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2990088" y="540340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4087368" y="540340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5989320" y="540340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7059168" y="540340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6,624 more a year.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58368" y="5702339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58368" y="5702339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1024128" y="5702339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2990088" y="5702339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84.5%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087368" y="5702339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5989320" y="5702339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7059168" y="5702339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2,065 more a year.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658368" y="600127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400" dirty="0"/>
          </a:p>
        </p:txBody>
      </p:sp>
      <p:sp>
        <p:nvSpPr>
          <p:cNvPr id="107" name="Text 105"/>
          <p:cNvSpPr txBox="1"/>
          <p:nvPr/>
        </p:nvSpPr>
        <p:spPr>
          <a:xfrm>
            <a:off x="1024128" y="600127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108" name="Text 106"/>
          <p:cNvSpPr txBox="1"/>
          <p:nvPr/>
        </p:nvSpPr>
        <p:spPr>
          <a:xfrm>
            <a:off x="2990088" y="600127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$12,042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4087368" y="600127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110" name="Text 108"/>
          <p:cNvSpPr txBox="1"/>
          <p:nvPr/>
        </p:nvSpPr>
        <p:spPr>
          <a:xfrm>
            <a:off x="5989320" y="600127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11" name="Text 109"/>
          <p:cNvSpPr txBox="1"/>
          <p:nvPr/>
        </p:nvSpPr>
        <p:spPr>
          <a:xfrm>
            <a:off x="7059168" y="600127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8.1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+$178K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$19,561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+$144K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3,107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+297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693666" y="658368"/>
            <a:ext cx="703808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21682" y="658368"/>
            <a:ext cx="678205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6th · CP ROs +297   ·   8th · Hours per RO +0.26   ·   10th · MPI 93.2%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of 12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$574K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72.2%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7.8%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300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3.6%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160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6.1%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162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11.7%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135 more a year.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35.1%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1,506 more a year.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$9,498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6.7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$1.59M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$79,496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63.7%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4,030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−30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Parts GP 45.1%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$473K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$79K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+0.08 hr per RO.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367 more a year.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0.7%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$60K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364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735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$1.04M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$1.07M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210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4,030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4,060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40 more ROs.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$9,149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5.4 heads over peer avg.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245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$14.42M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+$932K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$6.08M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+$692K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22,527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−190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389878" y="658368"/>
            <a:ext cx="534187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17894" y="658368"/>
            <a:ext cx="508584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Proficiency 118%   ·   2nd · Tire balance 18.4%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28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5 under 85%: dispatch, parts.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22,527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22,717</a:t>
            </a:r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$87K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253 more ROs.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58368" y="306689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82.5%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6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2,945 more a year.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$8.62M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−$840K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$3.32M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−$76K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89.9%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15,048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751326" y="658368"/>
            <a:ext cx="798042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879342" y="658368"/>
            <a:ext cx="772439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Absorption 89.9%   ·   4th · Proficiency 109%   ·   5th · Brake fluid 12.1%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$5.92M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$926K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$2.70M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$2.84M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$194K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22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12.0%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600 more a year.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81.4%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2,520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+$373K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87.6%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8,930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−999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237984" y="658368"/>
            <a:ext cx="449376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366000" y="658368"/>
            <a:ext cx="42377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Parts GP 47.0%   ·   3rd · CP ELR +$27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8,930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9,929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$456K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1,332 more ROs.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1,526 more a year.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509 more a year.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12.5%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294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$1.39M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15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2 under 85%: dispatch, parts.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58368" y="438363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5,742 more a year.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49.6%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1,171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+$404K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−$136,511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46.2%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2,010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+226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143750" y="658368"/>
            <a:ext cx="458800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271766" y="658368"/>
            <a:ext cx="433197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Video 91.2%   ·   3rd · Alignment 21.8%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$412K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67.7%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$59K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1.64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$54K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+0.11 hr per RO.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$51K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445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$11,631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1.2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$2.29M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+$88K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$107,886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−$96K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57.2%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3,349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−435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22664" y="658368"/>
            <a:ext cx="260908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50680" y="658368"/>
            <a:ext cx="235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Hours per RO +0.40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$1.06M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378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378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378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378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$827K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378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378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$302K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378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617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617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617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1.43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617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617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$259K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617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+0.32 hr per RO.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3855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3855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3855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3855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3,349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3855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3,784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3855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$198K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3855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580 more ROs.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094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094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094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094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094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$98K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094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332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332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332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332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332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332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332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615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571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571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571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4.7%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571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571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571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235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6809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6809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6809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6809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5.9%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6809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6809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6809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72 more a year.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50048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50048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50048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50048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50048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50048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32318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3286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3286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3286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62.7%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3286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3286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3286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2,247 more a year.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6525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1024128" y="56525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2990088" y="56525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$11,541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4087368" y="56525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5989320" y="56525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7059168" y="56525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2.0 heads over peer avg.</a:t>
            </a:r>
            <a:endParaRPr lang="en-US" sz="1400" dirty="0"/>
          </a:p>
        </p:txBody>
      </p:sp>
      <p:sp>
        <p:nvSpPr>
          <p:cNvPr id="98" name="Shape 96"/>
          <p:cNvSpPr/>
          <p:nvPr/>
        </p:nvSpPr>
        <p:spPr>
          <a:xfrm>
            <a:off x="658368" y="59763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658368" y="59763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1024128" y="59763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2990088" y="59763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53.1%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4087368" y="59763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5989320" y="59763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7059168" y="59763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390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$6.15M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+$125K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$1.80M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+$422K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8,133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+977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CP ROs +977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of 20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$891K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$351K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+0.18 hr per RO.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$234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$259K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$2.10M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$2.27M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$223K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9.8%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568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$76K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464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$72K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1,059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187 more a year.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37118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31.5%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4,714 more a year.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71.2%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3,364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+$216K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$502,109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−$147K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65.8%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3,912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+91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22664" y="658368"/>
            <a:ext cx="260908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250680" y="658368"/>
            <a:ext cx="235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Hours per RO +0.30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of 12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$919K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$435K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+0.46 hr per RO.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$182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$340K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8.0%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365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211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7.7%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380 more a year.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58368" y="438363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5,626 more a year.</a:t>
            </a:r>
            <a:endParaRPr lang="en-US" sz="1400" dirty="0"/>
          </a:p>
        </p:txBody>
      </p:sp>
      <p:sp>
        <p:nvSpPr>
          <p:cNvPr id="73" name="Shape 71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60.9%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3,110 more a year.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$12,103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1.0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$4.15M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+$764K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+$206K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4,567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+66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Parts GP 49.0%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$1.18M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2.08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$911K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+0.82 hr per RO.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11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$379K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0.1%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$68K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909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11.4%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221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195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98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+$717K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$94,430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+$484K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59.9%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2,630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+93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CP ELR +$28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$416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$628K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11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$284K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5 under 85%: dispatch, parts.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2.48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$267K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+0.42 hr per RO.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37.0%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$55K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$171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467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230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87 more a year.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$10,963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10.7 heads over peer avg.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58368" y="5376672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42.7%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1,108 more a year.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68.5%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1,573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$3.42M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$705,121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+$98K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74.4%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1,559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+26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374390" y="658368"/>
            <a:ext cx="835736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02406" y="658368"/>
            <a:ext cx="810133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Hours per RO 3.99   ·   1st · CP labor $/RO $933   ·   1st · Tire balance 27.0%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$179K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3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$34K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103 more a year.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58368" y="306689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73.0%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648 more a year.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50.0%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299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$6.61M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+$135K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$2.04M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+$152K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93.7%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3,496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+88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3468624" y="658368"/>
            <a:ext cx="826312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96640" y="658368"/>
            <a:ext cx="80070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Brake fluid 20.7%   ·   2nd · Hours per RO 3.99   ·   2nd · CP labor $/RO $931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$758K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8 under 85%: dispatch, parts.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$2.52M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$2.59M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$81K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5.5%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$24K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92 more a year.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8368" y="339608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71.1%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1,567 more a year.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+$157K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$427,953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+$292K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77.3%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1,421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+118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MPI 99.0%   ·   3rd · CP ELR $235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of 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$247K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7.2%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$20K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52 more a year.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4.6%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5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55 more a year.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12.9%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5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$10K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40 more a year.</a:t>
            </a:r>
            <a:endParaRPr lang="en-US" sz="1500" dirty="0"/>
          </a:p>
        </p:txBody>
      </p:sp>
      <p:sp>
        <p:nvSpPr>
          <p:cNvPr id="53" name="Shape 51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55" name="Text 53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$15,226</a:t>
            </a:r>
            <a:endParaRPr lang="en-US" sz="1500" dirty="0"/>
          </a:p>
        </p:txBody>
      </p:sp>
      <p:sp>
        <p:nvSpPr>
          <p:cNvPr id="57" name="Text 55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$16,998</a:t>
            </a:r>
            <a:pPr indent="0" marL="0">
              <a:buNone/>
            </a:pPr>
            <a:r>
              <a:rPr lang="en-US" sz="15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500" dirty="0"/>
          </a:p>
        </p:txBody>
      </p:sp>
      <p:sp>
        <p:nvSpPr>
          <p:cNvPr id="58" name="Text 56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500" dirty="0"/>
          </a:p>
        </p:txBody>
      </p:sp>
      <p:sp>
        <p:nvSpPr>
          <p:cNvPr id="59" name="Text 57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1.7 heads over peer avg.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$3.31M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+$120K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$985,141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−$87K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78.4%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5,701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+180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Video 89.0%   ·   5th · MPI 97.0%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$403K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+0.29 hr per RO.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$167K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11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$103K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5.2%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174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8.5%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115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13.2%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138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$4.78M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+$445K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$677,269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+$134K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6,973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−430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4th · CP ELR +$22   ·   5th · MPI 97.0%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17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$509K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8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6,973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7,403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$196K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573 more ROs.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$83K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700 more a year.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1.1%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$77K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1,296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4.2%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$64K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308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445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41.9%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1,995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$11,957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2.6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LV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$10.08M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−$499K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$2.94M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86.0%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14,250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−574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2nd · Video 92.0%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27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$524K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11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$3.83M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$4.11M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$383K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$6.26M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$6.47M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$282K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14,250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14,824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$262K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765 more ROs.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10.2%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$68K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909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7.1%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78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$2.70M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+$368K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$128,541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+$183K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51.4%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5,105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+367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216898" y="658368"/>
            <a:ext cx="2514854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344914" y="658368"/>
            <a:ext cx="225882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Fuel service 9.8%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$691K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$212K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$185K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+0.15 hr per RO.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34.8%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$81K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$140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$78K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74.1%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165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54.2%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395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$3.52M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+$472K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+$113K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84.5%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5,553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+511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01410" y="658368"/>
            <a:ext cx="553034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29426" y="658368"/>
            <a:ext cx="527431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Fuel service 13.8%   ·   1st · Hours per RO +0.55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of 12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$265K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3 under 85%: dispatch, parts.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3.7%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$125K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837 more a year.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73.9%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$98K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11.1%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291 more a year.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89.0%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106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Flagstaff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$4.47M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+$422K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$901,549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+$131K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15,141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+798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3rd · CP ROs +798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1.41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$1.26M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+0.34 hr per RO.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$201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$1.01M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18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$126K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4.9%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2,031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$109K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1,173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$108K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9.7%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$90K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1,066 more a year.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8.1%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$48K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389 more a year.</a:t>
            </a:r>
            <a:endParaRPr lang="en-US" sz="1400" dirty="0"/>
          </a:p>
        </p:txBody>
      </p:sp>
      <p:sp>
        <p:nvSpPr>
          <p:cNvPr id="79" name="Shape 77"/>
          <p:cNvSpPr/>
          <p:nvPr/>
        </p:nvSpPr>
        <p:spPr>
          <a:xfrm>
            <a:off x="658368" y="5042002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$10,794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6.9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$22.59M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+$1.77M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$7.83M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+$1.42M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79.6%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53,084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+65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107176" y="658368"/>
            <a:ext cx="562457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35192" y="658368"/>
            <a:ext cx="536854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Fixed gross +$1.77M   ·   1st · Net profit +$1.42M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$3.55M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+0.27 hr per RO.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$2.07M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of 59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$842K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20 under 85%: dispatch, parts.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11.2%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$147K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2,671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6.0%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$129K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1,056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14.5%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$33K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326 more a year.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40.2%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2818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31.7%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21,344 more a year.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76.1%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11,350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$5.08M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+$586K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$1.17M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+$285K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70.3%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13,490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−80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295644" y="658368"/>
            <a:ext cx="543610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23660" y="658368"/>
            <a:ext cx="51800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BEST PLACES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7th · Fixed gross +$586K   ·   9th · Net profit +$285K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1.38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$1.19M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+0.36 hr per RO.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of 22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$927K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$220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$617K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6.2%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$132K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1,590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12.3%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478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$1.45M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$1.48M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$44K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13,490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13,570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$36K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107 more ROs.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718304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71830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71830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71830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8.4%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7183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71830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$32K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71830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287 more a year.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504748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504748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50474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6.5%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50474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504748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$19K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504748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186 more a year.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37118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37667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37667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37667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$11,044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37667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37667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37667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6.7 heads over peer avg.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658368" y="570585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1024128" y="570585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2990088" y="5705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81.5%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4087368" y="5705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5989320" y="570585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7059168" y="570585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1,744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$5.93M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+$545K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$699,325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−$268K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73.3%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17,376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+1,008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404096" y="658368"/>
            <a:ext cx="2327656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532112" y="658368"/>
            <a:ext cx="207162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CP ROs +1,008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$187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$1.35M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378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378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378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378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1.48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378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378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$1.12M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378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+0.26 hr per RO.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617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617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617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4.3%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617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617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$225K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617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2,490 more a year.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3855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3855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3855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3855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0.5%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3855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3855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3855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3,361 more a year.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094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094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094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$125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094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70% of door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094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$157K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094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 the posted rate; control discounts.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332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332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332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332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of 28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332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332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332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4 under 85%: dispatch, parts.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658368" y="43571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1024128" y="43571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GP %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2990088" y="43571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75.7%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4087368" y="43571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5989320" y="43571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$102K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7059168" y="43571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tech, right work; review discounts.</a:t>
            </a:r>
            <a:endParaRPr lang="en-US" sz="1400" dirty="0"/>
          </a:p>
        </p:txBody>
      </p:sp>
      <p:sp>
        <p:nvSpPr>
          <p:cNvPr id="72" name="Shape 70"/>
          <p:cNvSpPr/>
          <p:nvPr/>
        </p:nvSpPr>
        <p:spPr>
          <a:xfrm>
            <a:off x="658368" y="46809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658368" y="46809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1024128" y="46809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2990088" y="46809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7.0%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4087368" y="46809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5989320" y="46809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$80K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7059168" y="46809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683 more a year.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658368" y="50048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1024128" y="50048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2990088" y="50048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$2.25M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4087368" y="50048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$2.31M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83" name="Text 81"/>
          <p:cNvSpPr txBox="1"/>
          <p:nvPr/>
        </p:nvSpPr>
        <p:spPr>
          <a:xfrm>
            <a:off x="5989320" y="50048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$76K</a:t>
            </a:r>
            <a:endParaRPr lang="en-US" sz="1400" dirty="0"/>
          </a:p>
        </p:txBody>
      </p:sp>
      <p:sp>
        <p:nvSpPr>
          <p:cNvPr id="84" name="Text 82"/>
          <p:cNvSpPr txBox="1"/>
          <p:nvPr/>
        </p:nvSpPr>
        <p:spPr>
          <a:xfrm>
            <a:off x="7059168" y="50048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85" name="Shape 83"/>
          <p:cNvSpPr/>
          <p:nvPr/>
        </p:nvSpPr>
        <p:spPr>
          <a:xfrm>
            <a:off x="658368" y="53286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658368" y="53286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1024128" y="53286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2990088" y="53286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5.8%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4087368" y="53286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0" name="Text 88"/>
          <p:cNvSpPr txBox="1"/>
          <p:nvPr/>
        </p:nvSpPr>
        <p:spPr>
          <a:xfrm>
            <a:off x="5989320" y="53286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$56K</a:t>
            </a:r>
            <a:endParaRPr lang="en-US" sz="1400" dirty="0"/>
          </a:p>
        </p:txBody>
      </p:sp>
      <p:sp>
        <p:nvSpPr>
          <p:cNvPr id="91" name="Text 89"/>
          <p:cNvSpPr txBox="1"/>
          <p:nvPr/>
        </p:nvSpPr>
        <p:spPr>
          <a:xfrm>
            <a:off x="7059168" y="53286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387 more a year.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658368" y="5647030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658368" y="565251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1024128" y="565251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2990088" y="565251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$11,128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4087368" y="565251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97" name="Text 95"/>
          <p:cNvSpPr txBox="1"/>
          <p:nvPr/>
        </p:nvSpPr>
        <p:spPr>
          <a:xfrm>
            <a:off x="5989320" y="565251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8" name="Text 96"/>
          <p:cNvSpPr txBox="1"/>
          <p:nvPr/>
        </p:nvSpPr>
        <p:spPr>
          <a:xfrm>
            <a:off x="7059168" y="565251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7.4 heads over peer avg.</a:t>
            </a:r>
            <a:endParaRPr lang="en-US" sz="1400" dirty="0"/>
          </a:p>
        </p:txBody>
      </p:sp>
      <p:sp>
        <p:nvSpPr>
          <p:cNvPr id="99" name="Shape 97"/>
          <p:cNvSpPr/>
          <p:nvPr/>
        </p:nvSpPr>
        <p:spPr>
          <a:xfrm>
            <a:off x="658368" y="5976366"/>
            <a:ext cx="10872216" cy="32385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658368" y="5976366"/>
            <a:ext cx="31089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1024128" y="5976366"/>
            <a:ext cx="187452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2990088" y="5976366"/>
            <a:ext cx="100584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81.3%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4087368" y="5976366"/>
            <a:ext cx="18288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5989320" y="5976366"/>
            <a:ext cx="86868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7059168" y="5976366"/>
            <a:ext cx="447141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2,232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$3.91M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+$63K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$1.33M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+$155K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81.8%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3,402</a:t>
            </a:r>
            <a:pPr indent="0" marL="0">
              <a:buNone/>
            </a:pPr>
            <a:r>
              <a:rPr lang="en-US" sz="14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+46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787900" y="658368"/>
            <a:ext cx="6943852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915916" y="658368"/>
            <a:ext cx="66878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CP ELR +$41   ·   2nd · Gross/head $18,549   ·   3rd · MPI 98.2%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of 9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$743K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2.28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2.90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$517K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+0.62 hr per RO.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$506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$632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$505K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$1.49M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$1.54M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$67K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658368" y="3725266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52.5%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366 more a year.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$4.79M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−$761K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$1.09M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−$457K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83.8%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5,145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−4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7709154" y="658368"/>
            <a:ext cx="4022598" cy="475488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837170" y="658368"/>
            <a:ext cx="376656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spc="80" kern="0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LEAD</a:t>
            </a:r>
            <a:endParaRPr lang="en-US" sz="14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1st · MPI 99.0%   ·   1st · Video 96.0%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8368" y="241401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1024128" y="241401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990088" y="241401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$3.50M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4087368" y="241401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$4.05M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5989320" y="241401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$730K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7059168" y="241401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58368" y="2743200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58368" y="274320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24128" y="274320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2990088" y="274320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of 19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4087368" y="2743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5989320" y="27432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$295K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7059168" y="274320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Lift the 6 under 85%: dispatch, parts.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658368" y="3072384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1024128" y="3072384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2990088" y="307238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$1.29M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4087368" y="307238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$1.50M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5989320" y="3072384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$285K</a:t>
            </a:r>
            <a:endParaRPr lang="en-US" sz="1400" dirty="0"/>
          </a:p>
        </p:txBody>
      </p:sp>
      <p:sp>
        <p:nvSpPr>
          <p:cNvPr id="45" name="Text 43"/>
          <p:cNvSpPr txBox="1"/>
          <p:nvPr/>
        </p:nvSpPr>
        <p:spPr>
          <a:xfrm>
            <a:off x="7059168" y="3072384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658368" y="3401568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58368" y="3401568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1024128" y="3401568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2990088" y="340156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36.9%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4087368" y="340156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5989320" y="3401568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$69K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7059168" y="3401568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Price to the matrix; watch overrides.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658368" y="3730752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1024128" y="3730752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2990088" y="3730752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8.3%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4087368" y="373075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57" name="Text 55"/>
          <p:cNvSpPr txBox="1"/>
          <p:nvPr/>
        </p:nvSpPr>
        <p:spPr>
          <a:xfrm>
            <a:off x="5989320" y="3730752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$27K</a:t>
            </a:r>
            <a:endParaRPr lang="en-US" sz="1400" dirty="0"/>
          </a:p>
        </p:txBody>
      </p:sp>
      <p:sp>
        <p:nvSpPr>
          <p:cNvPr id="58" name="Text 56"/>
          <p:cNvSpPr txBox="1"/>
          <p:nvPr/>
        </p:nvSpPr>
        <p:spPr>
          <a:xfrm>
            <a:off x="7059168" y="3730752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460 more a year.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658368" y="4059936"/>
            <a:ext cx="10872216" cy="329184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658368" y="4059936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1024128" y="4059936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2990088" y="405993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13.6%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4087368" y="405993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5989320" y="4059936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$23K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7059168" y="4059936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96 more a year.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58368" y="438363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658368" y="4389120"/>
            <a:ext cx="3108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1024128" y="4389120"/>
            <a:ext cx="1874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2990088" y="43891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$12,006</a:t>
            </a:r>
            <a:endParaRPr lang="en-US" sz="1400" dirty="0"/>
          </a:p>
        </p:txBody>
      </p:sp>
      <p:sp>
        <p:nvSpPr>
          <p:cNvPr id="70" name="Text 68"/>
          <p:cNvSpPr txBox="1"/>
          <p:nvPr/>
        </p:nvSpPr>
        <p:spPr>
          <a:xfrm>
            <a:off x="4087368" y="43891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1" name="Text 69"/>
          <p:cNvSpPr txBox="1"/>
          <p:nvPr/>
        </p:nvSpPr>
        <p:spPr>
          <a:xfrm>
            <a:off x="5989320" y="43891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7059168" y="4389120"/>
            <a:ext cx="44714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2.5 heads over peer avg.</a:t>
            </a:r>
            <a:endParaRPr lang="en-US" sz="14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 PRESCRIPTIONS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GROSS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$968,018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−$163K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55848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47288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NET PROFIT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47288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−$58,644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−$212K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117336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208776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ABSORPTION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6208776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54.1%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group 78.1%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878824" y="1316736"/>
            <a:ext cx="10973" cy="493776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970264" y="1280160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970264" y="1517904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1,919</a:t>
            </a:r>
            <a:pPr indent="0" marL="0">
              <a:buNone/>
            </a:pPr>
            <a:r>
              <a:rPr lang="en-US" sz="14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−332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457200" y="2011680"/>
            <a:ext cx="11274552" cy="43434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58368" y="2084832"/>
            <a:ext cx="3108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024128" y="2084832"/>
            <a:ext cx="1874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AREA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2990088" y="20848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4087368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BAR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989320" y="208483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YEAR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2084832"/>
            <a:ext cx="44714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PRESCRIPTION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58368" y="2368296"/>
            <a:ext cx="10872216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58368" y="2414016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2414016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Techs under 85%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2990088" y="2414016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of 5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4087368" y="2414016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989320" y="2414016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$248K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7059168" y="2414016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Dispatch, staging and approvals: flag 85%.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8368" y="2712954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8368" y="271295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1024128" y="271295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gross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2990088" y="271295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$588K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087368" y="271295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$724K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5989320" y="271295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$180K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7059168" y="271295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Sell the MPI; price menus to market.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58368" y="3011893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024128" y="3011893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400" dirty="0"/>
          </a:p>
        </p:txBody>
      </p:sp>
      <p:sp>
        <p:nvSpPr>
          <p:cNvPr id="40" name="Text 38"/>
          <p:cNvSpPr txBox="1"/>
          <p:nvPr/>
        </p:nvSpPr>
        <p:spPr>
          <a:xfrm>
            <a:off x="2990088" y="3011893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1,919</a:t>
            </a:r>
            <a:endParaRPr lang="en-US" sz="1400" dirty="0"/>
          </a:p>
        </p:txBody>
      </p:sp>
      <p:sp>
        <p:nvSpPr>
          <p:cNvPr id="41" name="Text 39"/>
          <p:cNvSpPr txBox="1"/>
          <p:nvPr/>
        </p:nvSpPr>
        <p:spPr>
          <a:xfrm>
            <a:off x="4087368" y="3011893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2,251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5989320" y="3011893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$151K</a:t>
            </a:r>
            <a:endParaRPr lang="en-US" sz="1400" dirty="0"/>
          </a:p>
        </p:txBody>
      </p:sp>
      <p:sp>
        <p:nvSpPr>
          <p:cNvPr id="43" name="Text 41"/>
          <p:cNvSpPr txBox="1"/>
          <p:nvPr/>
        </p:nvSpPr>
        <p:spPr>
          <a:xfrm>
            <a:off x="7059168" y="3011893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 back lapsed customers: 443 more ROs.</a:t>
            </a:r>
            <a:endParaRPr lang="en-US" sz="1400" dirty="0"/>
          </a:p>
        </p:txBody>
      </p:sp>
      <p:sp>
        <p:nvSpPr>
          <p:cNvPr id="44" name="Shape 42"/>
          <p:cNvSpPr/>
          <p:nvPr/>
        </p:nvSpPr>
        <p:spPr>
          <a:xfrm>
            <a:off x="658368" y="3310831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331083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1024128" y="331083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labor $ per RO</a:t>
            </a:r>
            <a:endParaRPr lang="en-US" sz="1400" dirty="0"/>
          </a:p>
        </p:txBody>
      </p:sp>
      <p:sp>
        <p:nvSpPr>
          <p:cNvPr id="47" name="Text 45"/>
          <p:cNvSpPr txBox="1"/>
          <p:nvPr/>
        </p:nvSpPr>
        <p:spPr>
          <a:xfrm>
            <a:off x="2990088" y="331083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$231</a:t>
            </a:r>
            <a:endParaRPr lang="en-US" sz="1400" dirty="0"/>
          </a:p>
        </p:txBody>
      </p:sp>
      <p:sp>
        <p:nvSpPr>
          <p:cNvPr id="48" name="Text 46"/>
          <p:cNvSpPr txBox="1"/>
          <p:nvPr/>
        </p:nvSpPr>
        <p:spPr>
          <a:xfrm>
            <a:off x="4087368" y="331083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$264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49" name="Text 47"/>
          <p:cNvSpPr txBox="1"/>
          <p:nvPr/>
        </p:nvSpPr>
        <p:spPr>
          <a:xfrm>
            <a:off x="5989320" y="331083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$68K</a:t>
            </a:r>
            <a:endParaRPr lang="en-US" sz="1400" dirty="0"/>
          </a:p>
        </p:txBody>
      </p:sp>
      <p:sp>
        <p:nvSpPr>
          <p:cNvPr id="50" name="Text 48"/>
          <p:cNvSpPr txBox="1"/>
          <p:nvPr/>
        </p:nvSpPr>
        <p:spPr>
          <a:xfrm>
            <a:off x="7059168" y="331083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Menu and MPI on every RO; track it daily.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58368" y="3609770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1024128" y="3609770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gross</a:t>
            </a:r>
            <a:endParaRPr lang="en-US" sz="1400" dirty="0"/>
          </a:p>
        </p:txBody>
      </p:sp>
      <p:sp>
        <p:nvSpPr>
          <p:cNvPr id="53" name="Text 51"/>
          <p:cNvSpPr txBox="1"/>
          <p:nvPr/>
        </p:nvSpPr>
        <p:spPr>
          <a:xfrm>
            <a:off x="2990088" y="3609770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$380K</a:t>
            </a:r>
            <a:endParaRPr lang="en-US" sz="1400" dirty="0"/>
          </a:p>
        </p:txBody>
      </p:sp>
      <p:sp>
        <p:nvSpPr>
          <p:cNvPr id="54" name="Text 52"/>
          <p:cNvSpPr txBox="1"/>
          <p:nvPr/>
        </p:nvSpPr>
        <p:spPr>
          <a:xfrm>
            <a:off x="4087368" y="3609770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$407K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2025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5989320" y="3609770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$37K</a:t>
            </a:r>
            <a:endParaRPr lang="en-US" sz="1400" dirty="0"/>
          </a:p>
        </p:txBody>
      </p:sp>
      <p:sp>
        <p:nvSpPr>
          <p:cNvPr id="56" name="Text 54"/>
          <p:cNvSpPr txBox="1"/>
          <p:nvPr/>
        </p:nvSpPr>
        <p:spPr>
          <a:xfrm>
            <a:off x="7059168" y="3609770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Parts on every RO; wholesale that pays.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658368" y="3908708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658368" y="390870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400" dirty="0"/>
          </a:p>
        </p:txBody>
      </p:sp>
      <p:sp>
        <p:nvSpPr>
          <p:cNvPr id="59" name="Text 57"/>
          <p:cNvSpPr txBox="1"/>
          <p:nvPr/>
        </p:nvSpPr>
        <p:spPr>
          <a:xfrm>
            <a:off x="1024128" y="390870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Fuel service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2990088" y="390870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2.7%</a:t>
            </a:r>
            <a:endParaRPr lang="en-US" sz="1400" dirty="0"/>
          </a:p>
        </p:txBody>
      </p:sp>
      <p:sp>
        <p:nvSpPr>
          <p:cNvPr id="61" name="Text 59"/>
          <p:cNvSpPr txBox="1"/>
          <p:nvPr/>
        </p:nvSpPr>
        <p:spPr>
          <a:xfrm>
            <a:off x="4087368" y="390870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7.5%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2" name="Text 60"/>
          <p:cNvSpPr txBox="1"/>
          <p:nvPr/>
        </p:nvSpPr>
        <p:spPr>
          <a:xfrm>
            <a:off x="5989320" y="390870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$29K</a:t>
            </a:r>
            <a:endParaRPr lang="en-US" sz="1400" dirty="0"/>
          </a:p>
        </p:txBody>
      </p:sp>
      <p:sp>
        <p:nvSpPr>
          <p:cNvPr id="63" name="Text 61"/>
          <p:cNvSpPr txBox="1"/>
          <p:nvPr/>
        </p:nvSpPr>
        <p:spPr>
          <a:xfrm>
            <a:off x="7059168" y="390870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123 more a year.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658368" y="4207647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400" dirty="0"/>
          </a:p>
        </p:txBody>
      </p:sp>
      <p:sp>
        <p:nvSpPr>
          <p:cNvPr id="65" name="Text 63"/>
          <p:cNvSpPr txBox="1"/>
          <p:nvPr/>
        </p:nvSpPr>
        <p:spPr>
          <a:xfrm>
            <a:off x="1024128" y="4207647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Tire balance</a:t>
            </a:r>
            <a:endParaRPr lang="en-US" sz="1400" dirty="0"/>
          </a:p>
        </p:txBody>
      </p:sp>
      <p:sp>
        <p:nvSpPr>
          <p:cNvPr id="66" name="Text 64"/>
          <p:cNvSpPr txBox="1"/>
          <p:nvPr/>
        </p:nvSpPr>
        <p:spPr>
          <a:xfrm>
            <a:off x="2990088" y="4207647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0.4%</a:t>
            </a:r>
            <a:endParaRPr lang="en-US" sz="1400" dirty="0"/>
          </a:p>
        </p:txBody>
      </p:sp>
      <p:sp>
        <p:nvSpPr>
          <p:cNvPr id="67" name="Text 65"/>
          <p:cNvSpPr txBox="1"/>
          <p:nvPr/>
        </p:nvSpPr>
        <p:spPr>
          <a:xfrm>
            <a:off x="4087368" y="4207647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68" name="Text 66"/>
          <p:cNvSpPr txBox="1"/>
          <p:nvPr/>
        </p:nvSpPr>
        <p:spPr>
          <a:xfrm>
            <a:off x="5989320" y="4207647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$28K</a:t>
            </a:r>
            <a:endParaRPr lang="en-US" sz="1400" dirty="0"/>
          </a:p>
        </p:txBody>
      </p:sp>
      <p:sp>
        <p:nvSpPr>
          <p:cNvPr id="69" name="Text 67"/>
          <p:cNvSpPr txBox="1"/>
          <p:nvPr/>
        </p:nvSpPr>
        <p:spPr>
          <a:xfrm>
            <a:off x="7059168" y="4207647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373 more a year.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658368" y="4506585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658368" y="4506585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400" dirty="0"/>
          </a:p>
        </p:txBody>
      </p:sp>
      <p:sp>
        <p:nvSpPr>
          <p:cNvPr id="72" name="Text 70"/>
          <p:cNvSpPr txBox="1"/>
          <p:nvPr/>
        </p:nvSpPr>
        <p:spPr>
          <a:xfrm>
            <a:off x="1024128" y="4506585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400" dirty="0"/>
          </a:p>
        </p:txBody>
      </p:sp>
      <p:sp>
        <p:nvSpPr>
          <p:cNvPr id="73" name="Text 71"/>
          <p:cNvSpPr txBox="1"/>
          <p:nvPr/>
        </p:nvSpPr>
        <p:spPr>
          <a:xfrm>
            <a:off x="2990088" y="4506585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1.71</a:t>
            </a:r>
            <a:endParaRPr lang="en-US" sz="1400" dirty="0"/>
          </a:p>
        </p:txBody>
      </p:sp>
      <p:sp>
        <p:nvSpPr>
          <p:cNvPr id="74" name="Text 72"/>
          <p:cNvSpPr txBox="1"/>
          <p:nvPr/>
        </p:nvSpPr>
        <p:spPr>
          <a:xfrm>
            <a:off x="4087368" y="4506585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1.75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75" name="Text 73"/>
          <p:cNvSpPr txBox="1"/>
          <p:nvPr/>
        </p:nvSpPr>
        <p:spPr>
          <a:xfrm>
            <a:off x="5989320" y="4506585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76" name="Text 74"/>
          <p:cNvSpPr txBox="1"/>
          <p:nvPr/>
        </p:nvSpPr>
        <p:spPr>
          <a:xfrm>
            <a:off x="7059168" y="4506585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 every MPI finding: +0.04 hr per RO.</a:t>
            </a:r>
            <a:endParaRPr lang="en-US" sz="1400" dirty="0"/>
          </a:p>
        </p:txBody>
      </p:sp>
      <p:sp>
        <p:nvSpPr>
          <p:cNvPr id="77" name="Text 75"/>
          <p:cNvSpPr txBox="1"/>
          <p:nvPr/>
        </p:nvSpPr>
        <p:spPr>
          <a:xfrm>
            <a:off x="658368" y="4805524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400" dirty="0"/>
          </a:p>
        </p:txBody>
      </p:sp>
      <p:sp>
        <p:nvSpPr>
          <p:cNvPr id="78" name="Text 76"/>
          <p:cNvSpPr txBox="1"/>
          <p:nvPr/>
        </p:nvSpPr>
        <p:spPr>
          <a:xfrm>
            <a:off x="1024128" y="4805524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Alignment</a:t>
            </a:r>
            <a:endParaRPr lang="en-US" sz="1400" dirty="0"/>
          </a:p>
        </p:txBody>
      </p:sp>
      <p:sp>
        <p:nvSpPr>
          <p:cNvPr id="79" name="Text 77"/>
          <p:cNvSpPr txBox="1"/>
          <p:nvPr/>
        </p:nvSpPr>
        <p:spPr>
          <a:xfrm>
            <a:off x="2990088" y="4805524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5.6%</a:t>
            </a:r>
            <a:endParaRPr lang="en-US" sz="1400" dirty="0"/>
          </a:p>
        </p:txBody>
      </p:sp>
      <p:sp>
        <p:nvSpPr>
          <p:cNvPr id="80" name="Text 78"/>
          <p:cNvSpPr txBox="1"/>
          <p:nvPr/>
        </p:nvSpPr>
        <p:spPr>
          <a:xfrm>
            <a:off x="4087368" y="4805524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1" name="Text 79"/>
          <p:cNvSpPr txBox="1"/>
          <p:nvPr/>
        </p:nvSpPr>
        <p:spPr>
          <a:xfrm>
            <a:off x="5989320" y="4805524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$18K</a:t>
            </a:r>
            <a:endParaRPr lang="en-US" sz="1400" dirty="0"/>
          </a:p>
        </p:txBody>
      </p:sp>
      <p:sp>
        <p:nvSpPr>
          <p:cNvPr id="82" name="Text 80"/>
          <p:cNvSpPr txBox="1"/>
          <p:nvPr/>
        </p:nvSpPr>
        <p:spPr>
          <a:xfrm>
            <a:off x="7059168" y="4805524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240 more a year.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658368" y="5104462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658368" y="5104462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400" dirty="0"/>
          </a:p>
        </p:txBody>
      </p:sp>
      <p:sp>
        <p:nvSpPr>
          <p:cNvPr id="85" name="Text 83"/>
          <p:cNvSpPr txBox="1"/>
          <p:nvPr/>
        </p:nvSpPr>
        <p:spPr>
          <a:xfrm>
            <a:off x="1024128" y="5104462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Brake fluid</a:t>
            </a:r>
            <a:endParaRPr lang="en-US" sz="1400" dirty="0"/>
          </a:p>
        </p:txBody>
      </p:sp>
      <p:sp>
        <p:nvSpPr>
          <p:cNvPr id="86" name="Text 84"/>
          <p:cNvSpPr txBox="1"/>
          <p:nvPr/>
        </p:nvSpPr>
        <p:spPr>
          <a:xfrm>
            <a:off x="2990088" y="5104462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5.4%</a:t>
            </a:r>
            <a:endParaRPr lang="en-US" sz="1400" dirty="0"/>
          </a:p>
        </p:txBody>
      </p:sp>
      <p:sp>
        <p:nvSpPr>
          <p:cNvPr id="87" name="Text 85"/>
          <p:cNvSpPr txBox="1"/>
          <p:nvPr/>
        </p:nvSpPr>
        <p:spPr>
          <a:xfrm>
            <a:off x="4087368" y="5104462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88" name="Text 86"/>
          <p:cNvSpPr txBox="1"/>
          <p:nvPr/>
        </p:nvSpPr>
        <p:spPr>
          <a:xfrm>
            <a:off x="5989320" y="5104462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$13K</a:t>
            </a:r>
            <a:endParaRPr lang="en-US" sz="1400" dirty="0"/>
          </a:p>
        </p:txBody>
      </p:sp>
      <p:sp>
        <p:nvSpPr>
          <p:cNvPr id="89" name="Text 87"/>
          <p:cNvSpPr txBox="1"/>
          <p:nvPr/>
        </p:nvSpPr>
        <p:spPr>
          <a:xfrm>
            <a:off x="7059168" y="5104462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Recommend it on every visit: 117 more a year.</a:t>
            </a:r>
            <a:endParaRPr lang="en-US" sz="1400" dirty="0"/>
          </a:p>
        </p:txBody>
      </p:sp>
      <p:sp>
        <p:nvSpPr>
          <p:cNvPr id="90" name="Shape 88"/>
          <p:cNvSpPr/>
          <p:nvPr/>
        </p:nvSpPr>
        <p:spPr>
          <a:xfrm>
            <a:off x="658368" y="5397914"/>
            <a:ext cx="10872216" cy="10973"/>
          </a:xfrm>
          <a:prstGeom prst="rect">
            <a:avLst/>
          </a:prstGeom>
          <a:solidFill>
            <a:srgbClr val="9AA3AD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58368" y="5403401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400" dirty="0"/>
          </a:p>
        </p:txBody>
      </p:sp>
      <p:sp>
        <p:nvSpPr>
          <p:cNvPr id="92" name="Text 90"/>
          <p:cNvSpPr txBox="1"/>
          <p:nvPr/>
        </p:nvSpPr>
        <p:spPr>
          <a:xfrm>
            <a:off x="1024128" y="5403401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completion</a:t>
            </a:r>
            <a:endParaRPr lang="en-US" sz="1400" dirty="0"/>
          </a:p>
        </p:txBody>
      </p:sp>
      <p:sp>
        <p:nvSpPr>
          <p:cNvPr id="93" name="Text 91"/>
          <p:cNvSpPr txBox="1"/>
          <p:nvPr/>
        </p:nvSpPr>
        <p:spPr>
          <a:xfrm>
            <a:off x="2990088" y="5403401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45.7%</a:t>
            </a:r>
            <a:endParaRPr lang="en-US" sz="1400" dirty="0"/>
          </a:p>
        </p:txBody>
      </p:sp>
      <p:sp>
        <p:nvSpPr>
          <p:cNvPr id="94" name="Text 92"/>
          <p:cNvSpPr txBox="1"/>
          <p:nvPr/>
        </p:nvSpPr>
        <p:spPr>
          <a:xfrm>
            <a:off x="4087368" y="5403401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90%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benchmark</a:t>
            </a:r>
            <a:endParaRPr lang="en-US" sz="1400" dirty="0"/>
          </a:p>
        </p:txBody>
      </p:sp>
      <p:sp>
        <p:nvSpPr>
          <p:cNvPr id="95" name="Text 93"/>
          <p:cNvSpPr txBox="1"/>
          <p:nvPr/>
        </p:nvSpPr>
        <p:spPr>
          <a:xfrm>
            <a:off x="5989320" y="5403401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96" name="Text 94"/>
          <p:cNvSpPr txBox="1"/>
          <p:nvPr/>
        </p:nvSpPr>
        <p:spPr>
          <a:xfrm>
            <a:off x="7059168" y="5403401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MPI every car: 1,733 more a year.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58368" y="5702339"/>
            <a:ext cx="10872216" cy="298938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658368" y="5702339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400" dirty="0"/>
          </a:p>
        </p:txBody>
      </p:sp>
      <p:sp>
        <p:nvSpPr>
          <p:cNvPr id="99" name="Text 97"/>
          <p:cNvSpPr txBox="1"/>
          <p:nvPr/>
        </p:nvSpPr>
        <p:spPr>
          <a:xfrm>
            <a:off x="1024128" y="5702339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gross/head</a:t>
            </a:r>
            <a:endParaRPr lang="en-US" sz="1400" dirty="0"/>
          </a:p>
        </p:txBody>
      </p:sp>
      <p:sp>
        <p:nvSpPr>
          <p:cNvPr id="100" name="Text 98"/>
          <p:cNvSpPr txBox="1"/>
          <p:nvPr/>
        </p:nvSpPr>
        <p:spPr>
          <a:xfrm>
            <a:off x="2990088" y="5702339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$9,878</a:t>
            </a:r>
            <a:endParaRPr lang="en-US" sz="1400" dirty="0"/>
          </a:p>
        </p:txBody>
      </p:sp>
      <p:sp>
        <p:nvSpPr>
          <p:cNvPr id="101" name="Text 99"/>
          <p:cNvSpPr txBox="1"/>
          <p:nvPr/>
        </p:nvSpPr>
        <p:spPr>
          <a:xfrm>
            <a:off x="4087368" y="5702339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$12,714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peer avg</a:t>
            </a:r>
            <a:endParaRPr lang="en-US" sz="1400" dirty="0"/>
          </a:p>
        </p:txBody>
      </p:sp>
      <p:sp>
        <p:nvSpPr>
          <p:cNvPr id="102" name="Text 100"/>
          <p:cNvSpPr txBox="1"/>
          <p:nvPr/>
        </p:nvSpPr>
        <p:spPr>
          <a:xfrm>
            <a:off x="5989320" y="5702339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3" name="Text 101"/>
          <p:cNvSpPr txBox="1"/>
          <p:nvPr/>
        </p:nvSpPr>
        <p:spPr>
          <a:xfrm>
            <a:off x="7059168" y="5702339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Staff to gross: 2.4 heads over peer avg.</a:t>
            </a:r>
            <a:endParaRPr lang="en-US" sz="1400" dirty="0"/>
          </a:p>
        </p:txBody>
      </p:sp>
      <p:sp>
        <p:nvSpPr>
          <p:cNvPr id="104" name="Text 102"/>
          <p:cNvSpPr txBox="1"/>
          <p:nvPr/>
        </p:nvSpPr>
        <p:spPr>
          <a:xfrm>
            <a:off x="658368" y="6001278"/>
            <a:ext cx="31089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B9BD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400" dirty="0"/>
          </a:p>
        </p:txBody>
      </p:sp>
      <p:sp>
        <p:nvSpPr>
          <p:cNvPr id="105" name="Text 103"/>
          <p:cNvSpPr txBox="1"/>
          <p:nvPr/>
        </p:nvSpPr>
        <p:spPr>
          <a:xfrm>
            <a:off x="1024128" y="6001278"/>
            <a:ext cx="187452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completion</a:t>
            </a:r>
            <a:endParaRPr lang="en-US" sz="1400" dirty="0"/>
          </a:p>
        </p:txBody>
      </p:sp>
      <p:sp>
        <p:nvSpPr>
          <p:cNvPr id="106" name="Text 104"/>
          <p:cNvSpPr txBox="1"/>
          <p:nvPr/>
        </p:nvSpPr>
        <p:spPr>
          <a:xfrm>
            <a:off x="2990088" y="6001278"/>
            <a:ext cx="100584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48.5%</a:t>
            </a:r>
            <a:endParaRPr lang="en-US" sz="1400" dirty="0"/>
          </a:p>
        </p:txBody>
      </p:sp>
      <p:sp>
        <p:nvSpPr>
          <p:cNvPr id="107" name="Text 105"/>
          <p:cNvSpPr txBox="1"/>
          <p:nvPr/>
        </p:nvSpPr>
        <p:spPr>
          <a:xfrm>
            <a:off x="4087368" y="6001278"/>
            <a:ext cx="182880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57.8%</a:t>
            </a:r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group</a:t>
            </a:r>
            <a:endParaRPr lang="en-US" sz="1400" dirty="0"/>
          </a:p>
        </p:txBody>
      </p:sp>
      <p:sp>
        <p:nvSpPr>
          <p:cNvPr id="108" name="Text 106"/>
          <p:cNvSpPr txBox="1"/>
          <p:nvPr/>
        </p:nvSpPr>
        <p:spPr>
          <a:xfrm>
            <a:off x="5989320" y="6001278"/>
            <a:ext cx="868680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400" dirty="0"/>
          </a:p>
        </p:txBody>
      </p:sp>
      <p:sp>
        <p:nvSpPr>
          <p:cNvPr id="109" name="Text 107"/>
          <p:cNvSpPr txBox="1"/>
          <p:nvPr/>
        </p:nvSpPr>
        <p:spPr>
          <a:xfrm>
            <a:off x="7059168" y="6001278"/>
            <a:ext cx="4471416" cy="2989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 on every MPI: 365 more a year.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2026-10-27T22:43:34Z</dcterms:created>
  <dcterms:modified xsi:type="dcterms:W3CDTF">2026-10-27T22:43:34Z</dcterms:modified>
</cp:coreProperties>
</file>