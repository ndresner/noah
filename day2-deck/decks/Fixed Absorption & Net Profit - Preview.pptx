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4.58</c:v>
                </c:pt>
                <c:pt idx="1">
                  <c:v>4.54</c:v>
                </c:pt>
                <c:pt idx="2">
                  <c:v>5.97</c:v>
                </c:pt>
                <c:pt idx="3">
                  <c:v>6.14</c:v>
                </c:pt>
                <c:pt idx="4">
                  <c:v>5.16</c:v>
                </c:pt>
                <c:pt idx="5">
                  <c:v>5.82</c:v>
                </c:pt>
                <c:pt idx="6">
                  <c:v>6.72</c:v>
                </c:pt>
                <c:pt idx="7">
                  <c:v>5.99</c:v>
                </c:pt>
                <c:pt idx="8">
                  <c:v>5.53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4.54</c:v>
                </c:pt>
                <c:pt idx="2">
                  <c:v>5.97</c:v>
                </c:pt>
                <c:pt idx="3">
                  <c:v>6.14</c:v>
                </c:pt>
                <c:pt idx="4">
                  <c:v/>
                </c:pt>
                <c:pt idx="5">
                  <c:v>5.82</c:v>
                </c:pt>
                <c:pt idx="6">
                  <c:v>6.72</c:v>
                </c:pt>
                <c:pt idx="7">
                  <c:v>5.99</c:v>
                </c:pt>
                <c:pt idx="8">
                  <c:v>5.53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4.58</c:v>
                </c:pt>
                <c:pt idx="1">
                  <c:v/>
                </c:pt>
                <c:pt idx="2">
                  <c:v/>
                </c:pt>
                <c:pt idx="3">
                  <c:v/>
                </c:pt>
                <c:pt idx="4">
                  <c:v>5.16</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5.05</c:v>
                </c:pt>
                <c:pt idx="1">
                  <c:v/>
                </c:pt>
                <c:pt idx="2">
                  <c:v/>
                </c:pt>
                <c:pt idx="3">
                  <c:v/>
                </c:pt>
                <c:pt idx="4">
                  <c:v>5.37</c:v>
                </c:pt>
                <c:pt idx="5">
                  <c:v/>
                </c:pt>
                <c:pt idx="6">
                  <c:v/>
                </c:pt>
                <c:pt idx="7">
                  <c:v/>
                </c:pt>
                <c:pt idx="8">
                  <c:v/>
                </c:pt>
                <c:pt idx="9">
                  <c:v>6.1</c:v>
                </c:pt>
                <c:pt idx="10">
                  <c:v/>
                </c:pt>
                <c:pt idx="11">
                  <c:v>4.32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4.4</c:v>
                </c:pt>
                <c:pt idx="2">
                  <c:v>5.19</c:v>
                </c:pt>
                <c:pt idx="3">
                  <c:v>5.55</c:v>
                </c:pt>
                <c:pt idx="4">
                  <c:v/>
                </c:pt>
                <c:pt idx="5">
                  <c:v>5.22</c:v>
                </c:pt>
                <c:pt idx="6">
                  <c:v>5.56</c:v>
                </c:pt>
                <c:pt idx="7">
                  <c:v>5.08</c:v>
                </c:pt>
                <c:pt idx="8">
                  <c:v>3.91</c:v>
                </c:pt>
                <c:pt idx="9">
                  <c:v/>
                </c:pt>
                <c:pt idx="10">
                  <c:v>3.67</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5.05</c:v>
                </c:pt>
                <c:pt idx="1">
                  <c:v>4.4</c:v>
                </c:pt>
                <c:pt idx="2">
                  <c:v>5.19</c:v>
                </c:pt>
                <c:pt idx="3">
                  <c:v>5.55</c:v>
                </c:pt>
                <c:pt idx="4">
                  <c:v>5.37</c:v>
                </c:pt>
                <c:pt idx="5">
                  <c:v>5.22</c:v>
                </c:pt>
                <c:pt idx="6">
                  <c:v>5.56</c:v>
                </c:pt>
                <c:pt idx="7">
                  <c:v>5.08</c:v>
                </c:pt>
                <c:pt idx="8">
                  <c:v>3.91</c:v>
                </c:pt>
                <c:pt idx="9">
                  <c:v>6.1</c:v>
                </c:pt>
                <c:pt idx="10">
                  <c:v>3.67</c:v>
                </c:pt>
                <c:pt idx="11">
                  <c:v>4.32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
          <c:min val="2"/>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GM statement. Jan-Sep 2026, same-store, INEOS excluded (opened 2026).PREVIEW (Noah, Oct 24). Title now "What Is Fixed Absorption?". The denominator is the P&amp;L's Fixed Expenses line on the GM statement: the whole store's expenses (new, used, service, parts, body shop) less the costs that move with each car sold: sales and F&amp;I commissions, delivery, policy, floorplan interest, and new and used vehicle advertising. That matches the standard dealer definition: fixed ops gross divided by total store overhead, excluding the variable costs of selling cars. Jan-Sep 2026 same-store: $242,850,782 of fixed expenses out of $305,051,366 total expense.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GM statement. Jan-Sep 2026, same-store, INEOS excluded (opened 2026). Fixed Expenses line by account class, every department of the store; categories reconcile to the line to the cent ($242,850,782).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Fixed ops net profit = service (Mechanical) + parts (P&amp;A) department profit: department gross less the department's own expenses; GMC Prescott body shop is its own department and is not included.PREVIEW (Noah, Oct 24). Department profit as the P&amp;L Detail statement reports it (DEPARTMENT PROFIT OR LOSS, Mechanical and P&amp;A). Jan-Sep 2026 gross $188,799,724, department expenses $138,349,830, profit $50,449,894; 2025 $181,331,157 / $135,995,022 / $45,336,135. Store-level costs the P&amp;L does not split by department (management fees, other income) sit outside it. Same basis as the service and parts net to gross slides. Revenue per $1 of net: service + parts net sales $347,806,562 (P&amp;L Detail NET SALES, Mechanical $182,131,162 + P&amp;A $165,675,400) / net profit $50,449,894 = $6.89; net profit is 14.5 cents of every sales dollar. Parts sales include parts sold to the service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Fixed ops net profit = service (Mechanical) + parts (P&amp;A) department profit: department gross less the department's own expenses; GMC Prescott body shop is its own department and is not included. Jan-Sep 2026 vs Jan-Sep 2025; 2025 shown January-December. Store rows reconcile to the group,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Fixed ops net profit = service (Mechanical) + parts (P&amp;A) department profit: department gross less the department's own expenses; GMC Prescott body shop is its own department and is not included. Jan-Sep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Fixed ops net profit = service (Mechanical) + parts (P&amp;A) department profit: department gross less the department's own expenses; GMC Prescott body shop is its own department and is not included. Ranked by dollar change, Jan-Sep 2026 vs Jan-Sep 2025; percent change alongside, top three and bottom three by percent marked. n/m: the store lost money in fixed ops in 2025, so a percent change has no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five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Fixed Absorption?</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total store 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How much of the whole store's fixed expenses, not just service and parts expenses, the service and parts gross pays for.</a:t>
            </a:r>
            <a:endParaRPr lang="en-US" sz="14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296063"/>
          </a:xfrm>
          <a:prstGeom prst="rect">
            <a:avLst/>
          </a:prstGeom>
          <a:solidFill>
            <a:srgbClr val="2587C5"/>
          </a:solidFill>
          <a:ln/>
        </p:spPr>
      </p:sp>
      <p:sp>
        <p:nvSpPr>
          <p:cNvPr id="19" name="Text 17"/>
          <p:cNvSpPr txBox="1"/>
          <p:nvPr/>
        </p:nvSpPr>
        <p:spPr>
          <a:xfrm>
            <a:off x="5266944" y="3410712"/>
            <a:ext cx="2962656" cy="129606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Fixed ops 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Everything on the customer-pay slides: ROs, hours, ELR, margin</a:t>
            </a:r>
            <a:endParaRPr lang="en-US" sz="1400" dirty="0"/>
          </a:p>
        </p:txBody>
      </p:sp>
      <p:sp>
        <p:nvSpPr>
          <p:cNvPr id="20" name="Shape 18"/>
          <p:cNvSpPr/>
          <p:nvPr/>
        </p:nvSpPr>
        <p:spPr>
          <a:xfrm>
            <a:off x="8394192" y="3410712"/>
            <a:ext cx="45720" cy="1296063"/>
          </a:xfrm>
          <a:prstGeom prst="rect">
            <a:avLst/>
          </a:prstGeom>
          <a:solidFill>
            <a:srgbClr val="2587C5"/>
          </a:solidFill>
          <a:ln/>
        </p:spPr>
      </p:sp>
      <p:sp>
        <p:nvSpPr>
          <p:cNvPr id="21" name="Text 19"/>
          <p:cNvSpPr txBox="1"/>
          <p:nvPr/>
        </p:nvSpPr>
        <p:spPr>
          <a:xfrm>
            <a:off x="8522208" y="3410712"/>
            <a:ext cx="2962656" cy="129606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Store 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department's people, rent and systems, carried whether or not a car sells</a:t>
            </a:r>
            <a:endParaRPr lang="en-US" sz="1400" dirty="0"/>
          </a:p>
        </p:txBody>
      </p:sp>
      <p:sp>
        <p:nvSpPr>
          <p:cNvPr id="22" name="Shape 20"/>
          <p:cNvSpPr/>
          <p:nvPr/>
        </p:nvSpPr>
        <p:spPr>
          <a:xfrm>
            <a:off x="5138928" y="4816503"/>
            <a:ext cx="45720" cy="971649"/>
          </a:xfrm>
          <a:prstGeom prst="rect">
            <a:avLst/>
          </a:prstGeom>
          <a:solidFill>
            <a:srgbClr val="2587C5"/>
          </a:solidFill>
          <a:ln/>
        </p:spPr>
      </p:sp>
      <p:sp>
        <p:nvSpPr>
          <p:cNvPr id="23" name="Text 21"/>
          <p:cNvSpPr txBox="1"/>
          <p:nvPr/>
        </p:nvSpPr>
        <p:spPr>
          <a:xfrm>
            <a:off x="5266944" y="4816503"/>
            <a:ext cx="2962656" cy="97164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Warranty and internal</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Gross from warranty and reconditioning counts too</a:t>
            </a:r>
            <a:endParaRPr lang="en-US" sz="1400" dirty="0"/>
          </a:p>
        </p:txBody>
      </p:sp>
      <p:sp>
        <p:nvSpPr>
          <p:cNvPr id="24" name="Shape 22"/>
          <p:cNvSpPr/>
          <p:nvPr/>
        </p:nvSpPr>
        <p:spPr>
          <a:xfrm>
            <a:off x="8394192" y="4816503"/>
            <a:ext cx="45720" cy="971649"/>
          </a:xfrm>
          <a:prstGeom prst="rect">
            <a:avLst/>
          </a:prstGeom>
          <a:solidFill>
            <a:srgbClr val="2587C5"/>
          </a:solidFill>
          <a:ln/>
        </p:spPr>
      </p:sp>
      <p:sp>
        <p:nvSpPr>
          <p:cNvPr id="25" name="Text 23"/>
          <p:cNvSpPr txBox="1"/>
          <p:nvPr/>
        </p:nvSpPr>
        <p:spPr>
          <a:xfrm>
            <a:off x="8522208" y="4816503"/>
            <a:ext cx="2962656" cy="97164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Counter and wholesale parts gross counts as well</a:t>
            </a:r>
            <a:endParaRPr lang="en-US" sz="1400" dirty="0"/>
          </a:p>
        </p:txBody>
      </p:sp>
      <p:sp>
        <p:nvSpPr>
          <p:cNvPr id="26" name="Shape 24"/>
          <p:cNvSpPr/>
          <p:nvPr/>
        </p:nvSpPr>
        <p:spPr>
          <a:xfrm>
            <a:off x="457200" y="6126480"/>
            <a:ext cx="11274552" cy="371856"/>
          </a:xfrm>
          <a:prstGeom prst="rect">
            <a:avLst/>
          </a:prstGeom>
          <a:solidFill>
            <a:srgbClr val="E6F6EE"/>
          </a:solidFill>
          <a:ln/>
        </p:spPr>
      </p:sp>
      <p:sp>
        <p:nvSpPr>
          <p:cNvPr id="27" name="Text 2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in Total Store Fixed Expenses?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2587C5"/>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PEOPLE</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$147.85M</a:t>
            </a:r>
            <a:endParaRPr lang="en-US" sz="36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61% · Salaries and wages, payroll taxes, benefits, PTO</a:t>
            </a:r>
            <a:endParaRPr lang="en-US" sz="14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2587C5"/>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BUILDING &amp; EQUIPMENT</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$39.08M</a:t>
            </a:r>
            <a:endParaRPr lang="en-US" sz="36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16% · Rent, depreciation, property taxes, utilities, insurance, building and equipment repairs</a:t>
            </a:r>
            <a:endParaRPr lang="en-US" sz="14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2587C5"/>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SYSTEMS &amp; SERVICES</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$36.40M</a:t>
            </a:r>
            <a:endParaRPr lang="en-US" sz="36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15% · DMS and IT, outside services, phones, legal and audit</a:t>
            </a:r>
            <a:endParaRPr lang="en-US" sz="14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2587C5"/>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EVERYTHING ELSE</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$19.52M</a:t>
            </a:r>
            <a:endParaRPr lang="en-US" sz="36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8% · Service and parts advertising, training, company vehicles, freight, supplies, travel, other taxes</a:t>
            </a:r>
            <a:endParaRPr lang="en-US" sz="14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Not included: sales and F&amp;I commissions, delivery, policy, floorplan interest and new and used vehicle advertising, the costs that rise and fall with each car sold.</a:t>
            </a:r>
            <a:endParaRPr lang="en-US" sz="1700" dirty="0"/>
          </a:p>
        </p:txBody>
      </p:sp>
      <p:sp>
        <p:nvSpPr>
          <p:cNvPr id="27" name="Shape 25"/>
          <p:cNvSpPr/>
          <p:nvPr/>
        </p:nvSpPr>
        <p:spPr>
          <a:xfrm>
            <a:off x="457200" y="6126480"/>
            <a:ext cx="11274552" cy="615696"/>
          </a:xfrm>
          <a:prstGeom prst="rect">
            <a:avLst/>
          </a:prstGeom>
          <a:solidFill>
            <a:srgbClr val="EDF4FA"/>
          </a:solidFill>
          <a:ln/>
        </p:spPr>
      </p:sp>
      <p:sp>
        <p:nvSpPr>
          <p:cNvPr id="28"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$242.85M of fixed expenses Jan-Sep 2026; fixed ops gross of $189.67M covers 78.1% of it. People are 61% of the total.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Fixed Ops Net Profit?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Fixed ops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What service and parts keep after paying their own people, building, systems and supplies.</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$188.80M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$138.35M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$50.45M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fixed ops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Adding that same $1 through sales takes about $6.89 of service and parts sales.</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lever in this deck: ROs, hours, ELR, margin</a:t>
            </a:r>
            <a:endParaRPr lang="en-US" sz="1400" dirty="0"/>
          </a:p>
        </p:txBody>
      </p:sp>
      <p:sp>
        <p:nvSpPr>
          <p:cNvPr id="22" name="Shape 20"/>
          <p:cNvSpPr/>
          <p:nvPr/>
        </p:nvSpPr>
        <p:spPr>
          <a:xfrm>
            <a:off x="8394192" y="3410712"/>
            <a:ext cx="45720" cy="1133856"/>
          </a:xfrm>
          <a:prstGeom prst="rect">
            <a:avLst/>
          </a:prstGeom>
          <a:solidFill>
            <a:srgbClr val="2587C5"/>
          </a:solidFill>
          <a:ln/>
        </p:spPr>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largest expense: staffing to the workload, pay plans tied to gross</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Productivity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More gross from the same team and the same stalls</a:t>
            </a:r>
            <a:endParaRPr lang="en-US" sz="1400" dirty="0"/>
          </a:p>
        </p:txBody>
      </p:sp>
      <p:sp>
        <p:nvSpPr>
          <p:cNvPr id="26" name="Shape 24"/>
          <p:cNvSpPr/>
          <p:nvPr/>
        </p:nvSpPr>
        <p:spPr>
          <a:xfrm>
            <a:off x="8394192" y="4654296"/>
            <a:ext cx="45720" cy="1133856"/>
          </a:xfrm>
          <a:prstGeom prst="rect">
            <a:avLst/>
          </a:prstGeom>
          <a:solidFill>
            <a:srgbClr val="2587C5"/>
          </a:solidFill>
          <a:ln/>
        </p:spPr>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outside services, policy and comebacks</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$50.45M fixed ops net profit, +11.3%. Gross grew +4.1%; department expenses +1.7%.</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$45.34M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$50.45M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+$5.11M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+11.3%</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ops net profit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+$5.11M (+11.3%) year to date; 7 of nine months ahead of 2025, best September at +$1.61M.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4993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NET PROFIT</a:t>
            </a:r>
            <a:endParaRPr lang="en-US" sz="1500" dirty="0"/>
          </a:p>
        </p:txBody>
      </p:sp>
      <p:sp>
        <p:nvSpPr>
          <p:cNvPr id="9" name="Text 7"/>
          <p:cNvSpPr txBox="1"/>
          <p:nvPr/>
        </p:nvSpPr>
        <p:spPr>
          <a:xfrm>
            <a:off x="3413760" y="1335024"/>
            <a:ext cx="463296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$50.45M</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1860"/>
            <a:ext cx="1828800" cy="110352"/>
          </a:xfrm>
          <a:prstGeom prst="rect">
            <a:avLst/>
          </a:prstGeom>
          <a:solidFill>
            <a:srgbClr val="2587C5"/>
          </a:solidFill>
          <a:ln/>
        </p:spPr>
      </p:sp>
      <p:sp>
        <p:nvSpPr>
          <p:cNvPr id="14" name="Text 12"/>
          <p:cNvSpPr txBox="1"/>
          <p:nvPr/>
        </p:nvSpPr>
        <p:spPr>
          <a:xfrm>
            <a:off x="4855464"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$7.83M</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2980944" y="2151755"/>
            <a:ext cx="1419699" cy="110352"/>
          </a:xfrm>
          <a:prstGeom prst="rect">
            <a:avLst/>
          </a:prstGeom>
          <a:solidFill>
            <a:srgbClr val="2587C5"/>
          </a:solidFill>
          <a:ln/>
        </p:spPr>
      </p:sp>
      <p:sp>
        <p:nvSpPr>
          <p:cNvPr id="18" name="Text 16"/>
          <p:cNvSpPr txBox="1"/>
          <p:nvPr/>
        </p:nvSpPr>
        <p:spPr>
          <a:xfrm>
            <a:off x="4855464"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$6.08M</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1" name="Shape 19"/>
          <p:cNvSpPr/>
          <p:nvPr/>
        </p:nvSpPr>
        <p:spPr>
          <a:xfrm>
            <a:off x="2980944" y="2391651"/>
            <a:ext cx="1154907" cy="110352"/>
          </a:xfrm>
          <a:prstGeom prst="rect">
            <a:avLst/>
          </a:prstGeom>
          <a:solidFill>
            <a:srgbClr val="2587C5"/>
          </a:solidFill>
          <a:ln/>
        </p:spPr>
      </p:sp>
      <p:sp>
        <p:nvSpPr>
          <p:cNvPr id="22" name="Text 20"/>
          <p:cNvSpPr txBox="1"/>
          <p:nvPr/>
        </p:nvSpPr>
        <p:spPr>
          <a:xfrm>
            <a:off x="4855464"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$4.94M</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2980944" y="2631546"/>
            <a:ext cx="775885" cy="110352"/>
          </a:xfrm>
          <a:prstGeom prst="rect">
            <a:avLst/>
          </a:prstGeom>
          <a:solidFill>
            <a:srgbClr val="2587C5"/>
          </a:solidFill>
          <a:ln/>
        </p:spPr>
      </p:sp>
      <p:sp>
        <p:nvSpPr>
          <p:cNvPr id="26" name="Text 24"/>
          <p:cNvSpPr txBox="1"/>
          <p:nvPr/>
        </p:nvSpPr>
        <p:spPr>
          <a:xfrm>
            <a:off x="4855464"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$3.32M</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29" name="Shape 27"/>
          <p:cNvSpPr/>
          <p:nvPr/>
        </p:nvSpPr>
        <p:spPr>
          <a:xfrm>
            <a:off x="2980944" y="2871442"/>
            <a:ext cx="686722" cy="110352"/>
          </a:xfrm>
          <a:prstGeom prst="rect">
            <a:avLst/>
          </a:prstGeom>
          <a:solidFill>
            <a:srgbClr val="2587C5"/>
          </a:solidFill>
          <a:ln/>
        </p:spPr>
      </p:sp>
      <p:sp>
        <p:nvSpPr>
          <p:cNvPr id="30" name="Text 28"/>
          <p:cNvSpPr txBox="1"/>
          <p:nvPr/>
        </p:nvSpPr>
        <p:spPr>
          <a:xfrm>
            <a:off x="4855464"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$2.94M</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3" name="Shape 31"/>
          <p:cNvSpPr/>
          <p:nvPr/>
        </p:nvSpPr>
        <p:spPr>
          <a:xfrm>
            <a:off x="2980944" y="3111337"/>
            <a:ext cx="606903" cy="110352"/>
          </a:xfrm>
          <a:prstGeom prst="rect">
            <a:avLst/>
          </a:prstGeom>
          <a:solidFill>
            <a:srgbClr val="2587C5"/>
          </a:solidFill>
          <a:ln/>
        </p:spPr>
      </p:sp>
      <p:sp>
        <p:nvSpPr>
          <p:cNvPr id="34" name="Text 32"/>
          <p:cNvSpPr txBox="1"/>
          <p:nvPr/>
        </p:nvSpPr>
        <p:spPr>
          <a:xfrm>
            <a:off x="4855464"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$2.60M</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37" name="Shape 35"/>
          <p:cNvSpPr/>
          <p:nvPr/>
        </p:nvSpPr>
        <p:spPr>
          <a:xfrm>
            <a:off x="2980944" y="3351233"/>
            <a:ext cx="529462" cy="110352"/>
          </a:xfrm>
          <a:prstGeom prst="rect">
            <a:avLst/>
          </a:prstGeom>
          <a:solidFill>
            <a:srgbClr val="2587C5"/>
          </a:solidFill>
          <a:ln/>
        </p:spPr>
      </p:sp>
      <p:sp>
        <p:nvSpPr>
          <p:cNvPr id="38" name="Text 36"/>
          <p:cNvSpPr txBox="1"/>
          <p:nvPr/>
        </p:nvSpPr>
        <p:spPr>
          <a:xfrm>
            <a:off x="4855464"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$2.27M</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41" name="Shape 39"/>
          <p:cNvSpPr/>
          <p:nvPr/>
        </p:nvSpPr>
        <p:spPr>
          <a:xfrm>
            <a:off x="2980944" y="3591128"/>
            <a:ext cx="477227" cy="110352"/>
          </a:xfrm>
          <a:prstGeom prst="rect">
            <a:avLst/>
          </a:prstGeom>
          <a:solidFill>
            <a:srgbClr val="2587C5"/>
          </a:solidFill>
          <a:ln/>
        </p:spPr>
      </p:sp>
      <p:sp>
        <p:nvSpPr>
          <p:cNvPr id="42" name="Text 40"/>
          <p:cNvSpPr txBox="1"/>
          <p:nvPr/>
        </p:nvSpPr>
        <p:spPr>
          <a:xfrm>
            <a:off x="4855464"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$2.04M</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45" name="Shape 43"/>
          <p:cNvSpPr/>
          <p:nvPr/>
        </p:nvSpPr>
        <p:spPr>
          <a:xfrm>
            <a:off x="2980944" y="3831024"/>
            <a:ext cx="424033" cy="110352"/>
          </a:xfrm>
          <a:prstGeom prst="rect">
            <a:avLst/>
          </a:prstGeom>
          <a:solidFill>
            <a:srgbClr val="2587C5"/>
          </a:solidFill>
          <a:ln/>
        </p:spPr>
      </p:sp>
      <p:sp>
        <p:nvSpPr>
          <p:cNvPr id="46" name="Text 44"/>
          <p:cNvSpPr txBox="1"/>
          <p:nvPr/>
        </p:nvSpPr>
        <p:spPr>
          <a:xfrm>
            <a:off x="4855464"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$1.82M</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9" name="Shape 47"/>
          <p:cNvSpPr/>
          <p:nvPr/>
        </p:nvSpPr>
        <p:spPr>
          <a:xfrm>
            <a:off x="2980944" y="4070920"/>
            <a:ext cx="421495" cy="110352"/>
          </a:xfrm>
          <a:prstGeom prst="rect">
            <a:avLst/>
          </a:prstGeom>
          <a:solidFill>
            <a:srgbClr val="2587C5"/>
          </a:solidFill>
          <a:ln/>
        </p:spPr>
      </p:sp>
      <p:sp>
        <p:nvSpPr>
          <p:cNvPr id="50" name="Text 48"/>
          <p:cNvSpPr txBox="1"/>
          <p:nvPr/>
        </p:nvSpPr>
        <p:spPr>
          <a:xfrm>
            <a:off x="4855464"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$1.80M</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53" name="Shape 51"/>
          <p:cNvSpPr/>
          <p:nvPr/>
        </p:nvSpPr>
        <p:spPr>
          <a:xfrm>
            <a:off x="2980944" y="4310815"/>
            <a:ext cx="310696" cy="110352"/>
          </a:xfrm>
          <a:prstGeom prst="rect">
            <a:avLst/>
          </a:prstGeom>
          <a:solidFill>
            <a:srgbClr val="2587C5"/>
          </a:solidFill>
          <a:ln/>
        </p:spPr>
      </p:sp>
      <p:sp>
        <p:nvSpPr>
          <p:cNvPr id="54" name="Text 52"/>
          <p:cNvSpPr txBox="1"/>
          <p:nvPr/>
        </p:nvSpPr>
        <p:spPr>
          <a:xfrm>
            <a:off x="4855464"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$1.33M</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57" name="Shape 55"/>
          <p:cNvSpPr/>
          <p:nvPr/>
        </p:nvSpPr>
        <p:spPr>
          <a:xfrm>
            <a:off x="2980944" y="4550711"/>
            <a:ext cx="308094" cy="110352"/>
          </a:xfrm>
          <a:prstGeom prst="rect">
            <a:avLst/>
          </a:prstGeom>
          <a:solidFill>
            <a:srgbClr val="2587C5"/>
          </a:solidFill>
          <a:ln/>
        </p:spPr>
      </p:sp>
      <p:sp>
        <p:nvSpPr>
          <p:cNvPr id="58" name="Text 56"/>
          <p:cNvSpPr txBox="1"/>
          <p:nvPr/>
        </p:nvSpPr>
        <p:spPr>
          <a:xfrm>
            <a:off x="4855464"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$1.32M</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1" name="Shape 59"/>
          <p:cNvSpPr/>
          <p:nvPr/>
        </p:nvSpPr>
        <p:spPr>
          <a:xfrm>
            <a:off x="2980944" y="4790606"/>
            <a:ext cx="279934" cy="110352"/>
          </a:xfrm>
          <a:prstGeom prst="rect">
            <a:avLst/>
          </a:prstGeom>
          <a:solidFill>
            <a:srgbClr val="2587C5"/>
          </a:solidFill>
          <a:ln/>
        </p:spPr>
      </p:sp>
      <p:sp>
        <p:nvSpPr>
          <p:cNvPr id="62" name="Text 60"/>
          <p:cNvSpPr txBox="1"/>
          <p:nvPr/>
        </p:nvSpPr>
        <p:spPr>
          <a:xfrm>
            <a:off x="4855464"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$1.20M</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5" name="Shape 63"/>
          <p:cNvSpPr/>
          <p:nvPr/>
        </p:nvSpPr>
        <p:spPr>
          <a:xfrm>
            <a:off x="2980944" y="5030502"/>
            <a:ext cx="273031" cy="110352"/>
          </a:xfrm>
          <a:prstGeom prst="rect">
            <a:avLst/>
          </a:prstGeom>
          <a:solidFill>
            <a:srgbClr val="2587C5"/>
          </a:solidFill>
          <a:ln/>
        </p:spPr>
      </p:sp>
      <p:sp>
        <p:nvSpPr>
          <p:cNvPr id="66" name="Text 64"/>
          <p:cNvSpPr txBox="1"/>
          <p:nvPr/>
        </p:nvSpPr>
        <p:spPr>
          <a:xfrm>
            <a:off x="4855464"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$1.17M</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9" name="Shape 67"/>
          <p:cNvSpPr/>
          <p:nvPr/>
        </p:nvSpPr>
        <p:spPr>
          <a:xfrm>
            <a:off x="2980944" y="5270397"/>
            <a:ext cx="272418" cy="110352"/>
          </a:xfrm>
          <a:prstGeom prst="rect">
            <a:avLst/>
          </a:prstGeom>
          <a:solidFill>
            <a:srgbClr val="2587C5"/>
          </a:solidFill>
          <a:ln/>
        </p:spPr>
      </p:sp>
      <p:sp>
        <p:nvSpPr>
          <p:cNvPr id="70" name="Text 68"/>
          <p:cNvSpPr txBox="1"/>
          <p:nvPr/>
        </p:nvSpPr>
        <p:spPr>
          <a:xfrm>
            <a:off x="4855464"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$1.17M</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73" name="Shape 71"/>
          <p:cNvSpPr/>
          <p:nvPr/>
        </p:nvSpPr>
        <p:spPr>
          <a:xfrm>
            <a:off x="2980944" y="5510293"/>
            <a:ext cx="261785" cy="110352"/>
          </a:xfrm>
          <a:prstGeom prst="rect">
            <a:avLst/>
          </a:prstGeom>
          <a:solidFill>
            <a:srgbClr val="2587C5"/>
          </a:solidFill>
          <a:ln/>
        </p:spPr>
      </p:sp>
      <p:sp>
        <p:nvSpPr>
          <p:cNvPr id="74" name="Text 72"/>
          <p:cNvSpPr txBox="1"/>
          <p:nvPr/>
        </p:nvSpPr>
        <p:spPr>
          <a:xfrm>
            <a:off x="4855464"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$1.12M</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77" name="Shape 75"/>
          <p:cNvSpPr/>
          <p:nvPr/>
        </p:nvSpPr>
        <p:spPr>
          <a:xfrm>
            <a:off x="2980944" y="5750188"/>
            <a:ext cx="254692" cy="110352"/>
          </a:xfrm>
          <a:prstGeom prst="rect">
            <a:avLst/>
          </a:prstGeom>
          <a:solidFill>
            <a:srgbClr val="2587C5"/>
          </a:solidFill>
          <a:ln/>
        </p:spPr>
      </p:sp>
      <p:sp>
        <p:nvSpPr>
          <p:cNvPr id="78" name="Text 76"/>
          <p:cNvSpPr txBox="1"/>
          <p:nvPr/>
        </p:nvSpPr>
        <p:spPr>
          <a:xfrm>
            <a:off x="4855464" y="568541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$1.09M</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1" name="Shape 79"/>
          <p:cNvSpPr/>
          <p:nvPr/>
        </p:nvSpPr>
        <p:spPr>
          <a:xfrm>
            <a:off x="8531352" y="1911860"/>
            <a:ext cx="230085" cy="110352"/>
          </a:xfrm>
          <a:prstGeom prst="rect">
            <a:avLst/>
          </a:prstGeom>
          <a:solidFill>
            <a:srgbClr val="2587C5"/>
          </a:solidFill>
          <a:ln/>
        </p:spPr>
      </p:sp>
      <p:sp>
        <p:nvSpPr>
          <p:cNvPr id="82" name="Text 80"/>
          <p:cNvSpPr txBox="1"/>
          <p:nvPr/>
        </p:nvSpPr>
        <p:spPr>
          <a:xfrm>
            <a:off x="10405872"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$985,141</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5" name="Shape 83"/>
          <p:cNvSpPr/>
          <p:nvPr/>
        </p:nvSpPr>
        <p:spPr>
          <a:xfrm>
            <a:off x="8531352" y="2151755"/>
            <a:ext cx="210561" cy="110352"/>
          </a:xfrm>
          <a:prstGeom prst="rect">
            <a:avLst/>
          </a:prstGeom>
          <a:solidFill>
            <a:srgbClr val="2587C5"/>
          </a:solidFill>
          <a:ln/>
        </p:spPr>
      </p:sp>
      <p:sp>
        <p:nvSpPr>
          <p:cNvPr id="86" name="Text 84"/>
          <p:cNvSpPr txBox="1"/>
          <p:nvPr/>
        </p:nvSpPr>
        <p:spPr>
          <a:xfrm>
            <a:off x="10405872"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$901,549</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8531352" y="2391651"/>
            <a:ext cx="186954" cy="110352"/>
          </a:xfrm>
          <a:prstGeom prst="rect">
            <a:avLst/>
          </a:prstGeom>
          <a:solidFill>
            <a:srgbClr val="2587C5"/>
          </a:solidFill>
          <a:ln/>
        </p:spPr>
      </p:sp>
      <p:sp>
        <p:nvSpPr>
          <p:cNvPr id="90" name="Text 88"/>
          <p:cNvSpPr txBox="1"/>
          <p:nvPr/>
        </p:nvSpPr>
        <p:spPr>
          <a:xfrm>
            <a:off x="10405872"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$800,469</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93" name="Shape 91"/>
          <p:cNvSpPr/>
          <p:nvPr/>
        </p:nvSpPr>
        <p:spPr>
          <a:xfrm>
            <a:off x="8531352" y="2631546"/>
            <a:ext cx="164685" cy="110352"/>
          </a:xfrm>
          <a:prstGeom prst="rect">
            <a:avLst/>
          </a:prstGeom>
          <a:solidFill>
            <a:srgbClr val="2587C5"/>
          </a:solidFill>
          <a:ln/>
        </p:spPr>
      </p:sp>
      <p:sp>
        <p:nvSpPr>
          <p:cNvPr id="94" name="Text 92"/>
          <p:cNvSpPr txBox="1"/>
          <p:nvPr/>
        </p:nvSpPr>
        <p:spPr>
          <a:xfrm>
            <a:off x="10405872"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$705,121</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97" name="Shape 95"/>
          <p:cNvSpPr/>
          <p:nvPr/>
        </p:nvSpPr>
        <p:spPr>
          <a:xfrm>
            <a:off x="8531352" y="2871442"/>
            <a:ext cx="163331" cy="110352"/>
          </a:xfrm>
          <a:prstGeom prst="rect">
            <a:avLst/>
          </a:prstGeom>
          <a:solidFill>
            <a:srgbClr val="2587C5"/>
          </a:solidFill>
          <a:ln/>
        </p:spPr>
      </p:sp>
      <p:sp>
        <p:nvSpPr>
          <p:cNvPr id="98" name="Text 96"/>
          <p:cNvSpPr txBox="1"/>
          <p:nvPr/>
        </p:nvSpPr>
        <p:spPr>
          <a:xfrm>
            <a:off x="10405872"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$699,325</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01" name="Shape 99"/>
          <p:cNvSpPr/>
          <p:nvPr/>
        </p:nvSpPr>
        <p:spPr>
          <a:xfrm>
            <a:off x="8531352" y="3111337"/>
            <a:ext cx="158180" cy="110352"/>
          </a:xfrm>
          <a:prstGeom prst="rect">
            <a:avLst/>
          </a:prstGeom>
          <a:solidFill>
            <a:srgbClr val="2587C5"/>
          </a:solidFill>
          <a:ln/>
        </p:spPr>
      </p:sp>
      <p:sp>
        <p:nvSpPr>
          <p:cNvPr id="102" name="Text 100"/>
          <p:cNvSpPr txBox="1"/>
          <p:nvPr/>
        </p:nvSpPr>
        <p:spPr>
          <a:xfrm>
            <a:off x="10405872"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$677,269</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5" name="Shape 103"/>
          <p:cNvSpPr/>
          <p:nvPr/>
        </p:nvSpPr>
        <p:spPr>
          <a:xfrm>
            <a:off x="8531352" y="3351233"/>
            <a:ext cx="117270" cy="110352"/>
          </a:xfrm>
          <a:prstGeom prst="rect">
            <a:avLst/>
          </a:prstGeom>
          <a:solidFill>
            <a:srgbClr val="2587C5"/>
          </a:solidFill>
          <a:ln/>
        </p:spPr>
      </p:sp>
      <p:sp>
        <p:nvSpPr>
          <p:cNvPr id="106" name="Text 104"/>
          <p:cNvSpPr txBox="1"/>
          <p:nvPr/>
        </p:nvSpPr>
        <p:spPr>
          <a:xfrm>
            <a:off x="10405872"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$502,109</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9" name="Shape 107"/>
          <p:cNvSpPr/>
          <p:nvPr/>
        </p:nvSpPr>
        <p:spPr>
          <a:xfrm>
            <a:off x="8531352" y="3591128"/>
            <a:ext cx="111208" cy="110352"/>
          </a:xfrm>
          <a:prstGeom prst="rect">
            <a:avLst/>
          </a:prstGeom>
          <a:solidFill>
            <a:srgbClr val="2587C5"/>
          </a:solidFill>
          <a:ln/>
        </p:spPr>
      </p:sp>
      <p:sp>
        <p:nvSpPr>
          <p:cNvPr id="110" name="Text 108"/>
          <p:cNvSpPr txBox="1"/>
          <p:nvPr/>
        </p:nvSpPr>
        <p:spPr>
          <a:xfrm>
            <a:off x="10405872"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$476,154</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3" name="Shape 111"/>
          <p:cNvSpPr/>
          <p:nvPr/>
        </p:nvSpPr>
        <p:spPr>
          <a:xfrm>
            <a:off x="8531352" y="3831024"/>
            <a:ext cx="99951" cy="110352"/>
          </a:xfrm>
          <a:prstGeom prst="rect">
            <a:avLst/>
          </a:prstGeom>
          <a:solidFill>
            <a:srgbClr val="2587C5"/>
          </a:solidFill>
          <a:ln/>
        </p:spPr>
      </p:sp>
      <p:sp>
        <p:nvSpPr>
          <p:cNvPr id="114" name="Text 112"/>
          <p:cNvSpPr txBox="1"/>
          <p:nvPr/>
        </p:nvSpPr>
        <p:spPr>
          <a:xfrm>
            <a:off x="10405872"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$427,953</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17" name="Shape 115"/>
          <p:cNvSpPr/>
          <p:nvPr/>
        </p:nvSpPr>
        <p:spPr>
          <a:xfrm>
            <a:off x="8531352" y="4070920"/>
            <a:ext cx="30021" cy="110352"/>
          </a:xfrm>
          <a:prstGeom prst="rect">
            <a:avLst/>
          </a:prstGeom>
          <a:solidFill>
            <a:srgbClr val="2587C5"/>
          </a:solidFill>
          <a:ln/>
        </p:spPr>
      </p:sp>
      <p:sp>
        <p:nvSpPr>
          <p:cNvPr id="118" name="Text 116"/>
          <p:cNvSpPr txBox="1"/>
          <p:nvPr/>
        </p:nvSpPr>
        <p:spPr>
          <a:xfrm>
            <a:off x="10405872"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$128,541</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1" name="Shape 119"/>
          <p:cNvSpPr/>
          <p:nvPr/>
        </p:nvSpPr>
        <p:spPr>
          <a:xfrm>
            <a:off x="8531352" y="4310815"/>
            <a:ext cx="25197" cy="110352"/>
          </a:xfrm>
          <a:prstGeom prst="rect">
            <a:avLst/>
          </a:prstGeom>
          <a:solidFill>
            <a:srgbClr val="2587C5"/>
          </a:solidFill>
          <a:ln/>
        </p:spPr>
      </p:sp>
      <p:sp>
        <p:nvSpPr>
          <p:cNvPr id="122" name="Text 120"/>
          <p:cNvSpPr txBox="1"/>
          <p:nvPr/>
        </p:nvSpPr>
        <p:spPr>
          <a:xfrm>
            <a:off x="10405872"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$107,886</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5" name="Shape 123"/>
          <p:cNvSpPr/>
          <p:nvPr/>
        </p:nvSpPr>
        <p:spPr>
          <a:xfrm>
            <a:off x="8531352" y="4550711"/>
            <a:ext cx="22055" cy="110352"/>
          </a:xfrm>
          <a:prstGeom prst="rect">
            <a:avLst/>
          </a:prstGeom>
          <a:solidFill>
            <a:srgbClr val="2587C5"/>
          </a:solidFill>
          <a:ln/>
        </p:spPr>
      </p:sp>
      <p:sp>
        <p:nvSpPr>
          <p:cNvPr id="126" name="Text 124"/>
          <p:cNvSpPr txBox="1"/>
          <p:nvPr/>
        </p:nvSpPr>
        <p:spPr>
          <a:xfrm>
            <a:off x="10405872"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$94,430</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9" name="Shape 127"/>
          <p:cNvSpPr/>
          <p:nvPr/>
        </p:nvSpPr>
        <p:spPr>
          <a:xfrm>
            <a:off x="8531352" y="4790606"/>
            <a:ext cx="18567" cy="110352"/>
          </a:xfrm>
          <a:prstGeom prst="rect">
            <a:avLst/>
          </a:prstGeom>
          <a:solidFill>
            <a:srgbClr val="2587C5"/>
          </a:solidFill>
          <a:ln/>
        </p:spPr>
      </p:sp>
      <p:sp>
        <p:nvSpPr>
          <p:cNvPr id="130" name="Text 128"/>
          <p:cNvSpPr txBox="1"/>
          <p:nvPr/>
        </p:nvSpPr>
        <p:spPr>
          <a:xfrm>
            <a:off x="10405872"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$79,496</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3" name="Shape 131"/>
          <p:cNvSpPr/>
          <p:nvPr/>
        </p:nvSpPr>
        <p:spPr>
          <a:xfrm>
            <a:off x="8531352" y="5030502"/>
            <a:ext cx="18288" cy="110352"/>
          </a:xfrm>
          <a:prstGeom prst="rect">
            <a:avLst/>
          </a:prstGeom>
          <a:solidFill>
            <a:srgbClr val="2587C5"/>
          </a:solidFill>
          <a:ln/>
        </p:spPr>
      </p:sp>
      <p:sp>
        <p:nvSpPr>
          <p:cNvPr id="134" name="Text 132"/>
          <p:cNvSpPr txBox="1"/>
          <p:nvPr/>
        </p:nvSpPr>
        <p:spPr>
          <a:xfrm>
            <a:off x="10405872"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$19,561</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7" name="Shape 135"/>
          <p:cNvSpPr/>
          <p:nvPr/>
        </p:nvSpPr>
        <p:spPr>
          <a:xfrm>
            <a:off x="8531352" y="5270397"/>
            <a:ext cx="18288" cy="110352"/>
          </a:xfrm>
          <a:prstGeom prst="rect">
            <a:avLst/>
          </a:prstGeom>
          <a:solidFill>
            <a:srgbClr val="C2352F"/>
          </a:solidFill>
          <a:ln/>
        </p:spPr>
      </p:sp>
      <p:sp>
        <p:nvSpPr>
          <p:cNvPr id="138" name="Text 136"/>
          <p:cNvSpPr txBox="1"/>
          <p:nvPr/>
        </p:nvSpPr>
        <p:spPr>
          <a:xfrm>
            <a:off x="10405872" y="5205625"/>
            <a:ext cx="109728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−$58,644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31352" y="5510293"/>
            <a:ext cx="31883" cy="110352"/>
          </a:xfrm>
          <a:prstGeom prst="rect">
            <a:avLst/>
          </a:prstGeom>
          <a:solidFill>
            <a:srgbClr val="C2352F"/>
          </a:solidFill>
          <a:ln/>
        </p:spPr>
      </p:sp>
      <p:sp>
        <p:nvSpPr>
          <p:cNvPr id="142" name="Text 140"/>
          <p:cNvSpPr txBox="1"/>
          <p:nvPr/>
        </p:nvSpPr>
        <p:spPr>
          <a:xfrm>
            <a:off x="10405872" y="5445521"/>
            <a:ext cx="109728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−$136,511</a:t>
            </a:r>
            <a:endParaRPr lang="en-US" sz="1200" dirty="0"/>
          </a:p>
        </p:txBody>
      </p:sp>
      <p:sp>
        <p:nvSpPr>
          <p:cNvPr id="143" name="Shape 141"/>
          <p:cNvSpPr/>
          <p:nvPr/>
        </p:nvSpPr>
        <p:spPr>
          <a:xfrm>
            <a:off x="6085332" y="1847088"/>
            <a:ext cx="10973" cy="4078224"/>
          </a:xfrm>
          <a:prstGeom prst="rect">
            <a:avLst/>
          </a:prstGeom>
          <a:solidFill>
            <a:srgbClr val="D9D9D9"/>
          </a:solidFill>
          <a:ln/>
        </p:spPr>
      </p:sp>
      <p:sp>
        <p:nvSpPr>
          <p:cNvPr id="144" name="Shape 142"/>
          <p:cNvSpPr/>
          <p:nvPr/>
        </p:nvSpPr>
        <p:spPr>
          <a:xfrm>
            <a:off x="457200" y="6126480"/>
            <a:ext cx="11274552" cy="615696"/>
          </a:xfrm>
          <a:prstGeom prst="rect">
            <a:avLst/>
          </a:prstGeom>
          <a:solidFill>
            <a:srgbClr val="EDF4FA"/>
          </a:solidFill>
          <a:ln/>
        </p:spPr>
      </p:sp>
      <p:sp>
        <p:nvSpPr>
          <p:cNvPr id="145" name="Text 143"/>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Toyota Henderson leads at $7.83M of the group's $50.45M. 2 stores are losing money in fixed ops, Hyundai Prescott the most at −$136,511.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4993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NET PROFIT</a:t>
            </a:r>
            <a:endParaRPr lang="en-US" sz="1500" dirty="0"/>
          </a:p>
        </p:txBody>
      </p:sp>
      <p:sp>
        <p:nvSpPr>
          <p:cNvPr id="9" name="Text 7"/>
          <p:cNvSpPr txBox="1"/>
          <p:nvPr/>
        </p:nvSpPr>
        <p:spPr>
          <a:xfrm>
            <a:off x="3413760" y="1335024"/>
            <a:ext cx="463296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+$5.11M  ·  +11.3%</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+$1.42M</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+22.1%</a:t>
            </a:r>
            <a:endParaRPr lang="en-US" sz="1200" dirty="0"/>
          </a:p>
        </p:txBody>
      </p:sp>
      <p:sp>
        <p:nvSpPr>
          <p:cNvPr id="20" name="Text 18"/>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2" name="Shape 20"/>
          <p:cNvSpPr/>
          <p:nvPr/>
        </p:nvSpPr>
        <p:spPr>
          <a:xfrm>
            <a:off x="3579876" y="2405582"/>
            <a:ext cx="338388" cy="102929"/>
          </a:xfrm>
          <a:prstGeom prst="rect">
            <a:avLst/>
          </a:prstGeom>
          <a:solidFill>
            <a:srgbClr val="12A566"/>
          </a:solidFill>
          <a:ln/>
        </p:spPr>
      </p:sp>
      <p:sp>
        <p:nvSpPr>
          <p:cNvPr id="23" name="Text 21"/>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+$838K</a:t>
            </a:r>
            <a:endParaRPr lang="en-US" sz="1200" dirty="0"/>
          </a:p>
        </p:txBody>
      </p:sp>
      <p:sp>
        <p:nvSpPr>
          <p:cNvPr id="24" name="Text 22"/>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+20.4%</a:t>
            </a:r>
            <a:endParaRPr lang="en-US" sz="1200" dirty="0"/>
          </a:p>
        </p:txBody>
      </p:sp>
      <p:sp>
        <p:nvSpPr>
          <p:cNvPr id="25" name="Text 23"/>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6" name="Text 24"/>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7" name="Shape 25"/>
          <p:cNvSpPr/>
          <p:nvPr/>
        </p:nvSpPr>
        <p:spPr>
          <a:xfrm>
            <a:off x="3579876" y="2629341"/>
            <a:ext cx="309104" cy="102929"/>
          </a:xfrm>
          <a:prstGeom prst="rect">
            <a:avLst/>
          </a:prstGeom>
          <a:solidFill>
            <a:srgbClr val="12A566"/>
          </a:solidFill>
          <a:ln/>
        </p:spPr>
      </p:sp>
      <p:sp>
        <p:nvSpPr>
          <p:cNvPr id="28" name="Text 26"/>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+$766K</a:t>
            </a:r>
            <a:endParaRPr lang="en-US" sz="1200" dirty="0"/>
          </a:p>
        </p:txBody>
      </p:sp>
      <p:sp>
        <p:nvSpPr>
          <p:cNvPr id="29" name="Text 27"/>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+41.8%</a:t>
            </a:r>
            <a:endParaRPr lang="en-US" sz="1200" dirty="0"/>
          </a:p>
        </p:txBody>
      </p:sp>
      <p:sp>
        <p:nvSpPr>
          <p:cNvPr id="30" name="Text 28"/>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2" name="Shape 30"/>
          <p:cNvSpPr/>
          <p:nvPr/>
        </p:nvSpPr>
        <p:spPr>
          <a:xfrm>
            <a:off x="3579876" y="2853100"/>
            <a:ext cx="279424" cy="102929"/>
          </a:xfrm>
          <a:prstGeom prst="rect">
            <a:avLst/>
          </a:prstGeom>
          <a:solidFill>
            <a:srgbClr val="12A566"/>
          </a:solidFill>
          <a:ln/>
        </p:spPr>
      </p:sp>
      <p:sp>
        <p:nvSpPr>
          <p:cNvPr id="33" name="Text 31"/>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+$692K</a:t>
            </a:r>
            <a:endParaRPr lang="en-US" sz="1200" dirty="0"/>
          </a:p>
        </p:txBody>
      </p:sp>
      <p:sp>
        <p:nvSpPr>
          <p:cNvPr id="34" name="Text 32"/>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+12.9%</a:t>
            </a:r>
            <a:endParaRPr lang="en-US" sz="1200" dirty="0"/>
          </a:p>
        </p:txBody>
      </p:sp>
      <p:sp>
        <p:nvSpPr>
          <p:cNvPr id="35" name="Text 33"/>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6" name="Text 34"/>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7" name="Shape 35"/>
          <p:cNvSpPr/>
          <p:nvPr/>
        </p:nvSpPr>
        <p:spPr>
          <a:xfrm>
            <a:off x="3579876" y="3076859"/>
            <a:ext cx="195258" cy="102929"/>
          </a:xfrm>
          <a:prstGeom prst="rect">
            <a:avLst/>
          </a:prstGeom>
          <a:solidFill>
            <a:srgbClr val="12A566"/>
          </a:solidFill>
          <a:ln/>
        </p:spPr>
      </p:sp>
      <p:sp>
        <p:nvSpPr>
          <p:cNvPr id="38" name="Text 36"/>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+$484K</a:t>
            </a:r>
            <a:endParaRPr lang="en-US" sz="1200" dirty="0"/>
          </a:p>
        </p:txBody>
      </p:sp>
      <p:sp>
        <p:nvSpPr>
          <p:cNvPr id="39" name="Text 37"/>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n/m</a:t>
            </a:r>
            <a:endParaRPr lang="en-US" sz="1200" dirty="0"/>
          </a:p>
        </p:txBody>
      </p:sp>
      <p:sp>
        <p:nvSpPr>
          <p:cNvPr id="40" name="Text 38"/>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1" name="Text 39"/>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2" name="Shape 40"/>
          <p:cNvSpPr/>
          <p:nvPr/>
        </p:nvSpPr>
        <p:spPr>
          <a:xfrm>
            <a:off x="3579876" y="3300618"/>
            <a:ext cx="170398" cy="102929"/>
          </a:xfrm>
          <a:prstGeom prst="rect">
            <a:avLst/>
          </a:prstGeom>
          <a:solidFill>
            <a:srgbClr val="12A566"/>
          </a:solidFill>
          <a:ln/>
        </p:spPr>
      </p:sp>
      <p:sp>
        <p:nvSpPr>
          <p:cNvPr id="43" name="Text 41"/>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+$422K</a:t>
            </a:r>
            <a:endParaRPr lang="en-US" sz="1200" dirty="0"/>
          </a:p>
        </p:txBody>
      </p:sp>
      <p:sp>
        <p:nvSpPr>
          <p:cNvPr id="44" name="Text 42"/>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+30.5%</a:t>
            </a:r>
            <a:endParaRPr lang="en-US" sz="1200" dirty="0"/>
          </a:p>
        </p:txBody>
      </p:sp>
      <p:sp>
        <p:nvSpPr>
          <p:cNvPr id="45" name="Text 43"/>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6" name="Text 44"/>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7" name="Shape 45"/>
          <p:cNvSpPr/>
          <p:nvPr/>
        </p:nvSpPr>
        <p:spPr>
          <a:xfrm>
            <a:off x="3579876" y="3524377"/>
            <a:ext cx="136037" cy="102929"/>
          </a:xfrm>
          <a:prstGeom prst="rect">
            <a:avLst/>
          </a:prstGeom>
          <a:solidFill>
            <a:srgbClr val="12A566"/>
          </a:solidFill>
          <a:ln/>
        </p:spPr>
      </p:sp>
      <p:sp>
        <p:nvSpPr>
          <p:cNvPr id="48" name="Text 46"/>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+$337K</a:t>
            </a:r>
            <a:endParaRPr lang="en-US" sz="1200" dirty="0"/>
          </a:p>
        </p:txBody>
      </p:sp>
      <p:sp>
        <p:nvSpPr>
          <p:cNvPr id="49" name="Text 47"/>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+43.0%</a:t>
            </a:r>
            <a:endParaRPr lang="en-US" sz="1200" dirty="0"/>
          </a:p>
        </p:txBody>
      </p:sp>
      <p:sp>
        <p:nvSpPr>
          <p:cNvPr id="50" name="Text 48"/>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1" name="Text 49"/>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52" name="Shape 50"/>
          <p:cNvSpPr/>
          <p:nvPr/>
        </p:nvSpPr>
        <p:spPr>
          <a:xfrm>
            <a:off x="3579876" y="3748136"/>
            <a:ext cx="117971" cy="102929"/>
          </a:xfrm>
          <a:prstGeom prst="rect">
            <a:avLst/>
          </a:prstGeom>
          <a:solidFill>
            <a:srgbClr val="12A566"/>
          </a:solidFill>
          <a:ln/>
        </p:spPr>
      </p:sp>
      <p:sp>
        <p:nvSpPr>
          <p:cNvPr id="53" name="Text 51"/>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+$292K</a:t>
            </a:r>
            <a:endParaRPr lang="en-US" sz="1200" dirty="0"/>
          </a:p>
        </p:txBody>
      </p:sp>
      <p:sp>
        <p:nvSpPr>
          <p:cNvPr id="54" name="Text 52"/>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+215.4%</a:t>
            </a:r>
            <a:endParaRPr lang="en-US" sz="1200" dirty="0"/>
          </a:p>
        </p:txBody>
      </p:sp>
      <p:sp>
        <p:nvSpPr>
          <p:cNvPr id="55" name="Shape 53"/>
          <p:cNvSpPr/>
          <p:nvPr/>
        </p:nvSpPr>
        <p:spPr>
          <a:xfrm>
            <a:off x="5907024" y="3733441"/>
            <a:ext cx="54864" cy="132319"/>
          </a:xfrm>
          <a:prstGeom prst="rect">
            <a:avLst/>
          </a:prstGeom>
          <a:solidFill>
            <a:srgbClr val="12A566"/>
          </a:solidFill>
          <a:ln/>
        </p:spPr>
      </p:sp>
      <p:sp>
        <p:nvSpPr>
          <p:cNvPr id="56" name="Text 54"/>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7" name="Text 55"/>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8" name="Shape 56"/>
          <p:cNvSpPr/>
          <p:nvPr/>
        </p:nvSpPr>
        <p:spPr>
          <a:xfrm>
            <a:off x="3579876" y="3971895"/>
            <a:ext cx="115044" cy="102929"/>
          </a:xfrm>
          <a:prstGeom prst="rect">
            <a:avLst/>
          </a:prstGeom>
          <a:solidFill>
            <a:srgbClr val="12A566"/>
          </a:solidFill>
          <a:ln/>
        </p:spPr>
      </p:sp>
      <p:sp>
        <p:nvSpPr>
          <p:cNvPr id="59" name="Text 57"/>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+$285K</a:t>
            </a:r>
            <a:endParaRPr lang="en-US" sz="1200" dirty="0"/>
          </a:p>
        </p:txBody>
      </p:sp>
      <p:sp>
        <p:nvSpPr>
          <p:cNvPr id="60" name="Text 58"/>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+32.3%</a:t>
            </a:r>
            <a:endParaRPr lang="en-US" sz="1200" dirty="0"/>
          </a:p>
        </p:txBody>
      </p:sp>
      <p:sp>
        <p:nvSpPr>
          <p:cNvPr id="61" name="Text 59"/>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2" name="Text 60"/>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63" name="Shape 61"/>
          <p:cNvSpPr/>
          <p:nvPr/>
        </p:nvSpPr>
        <p:spPr>
          <a:xfrm>
            <a:off x="3579876" y="4195654"/>
            <a:ext cx="87555" cy="102929"/>
          </a:xfrm>
          <a:prstGeom prst="rect">
            <a:avLst/>
          </a:prstGeom>
          <a:solidFill>
            <a:srgbClr val="12A566"/>
          </a:solidFill>
          <a:ln/>
        </p:spPr>
      </p:sp>
      <p:sp>
        <p:nvSpPr>
          <p:cNvPr id="64" name="Text 62"/>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+$217K</a:t>
            </a:r>
            <a:endParaRPr lang="en-US" sz="1200" dirty="0"/>
          </a:p>
        </p:txBody>
      </p:sp>
      <p:sp>
        <p:nvSpPr>
          <p:cNvPr id="65" name="Text 63"/>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+83.7%</a:t>
            </a:r>
            <a:endParaRPr lang="en-US" sz="1200" dirty="0"/>
          </a:p>
        </p:txBody>
      </p:sp>
      <p:sp>
        <p:nvSpPr>
          <p:cNvPr id="66" name="Shape 64"/>
          <p:cNvSpPr/>
          <p:nvPr/>
        </p:nvSpPr>
        <p:spPr>
          <a:xfrm>
            <a:off x="5907024" y="4180960"/>
            <a:ext cx="54864" cy="132319"/>
          </a:xfrm>
          <a:prstGeom prst="rect">
            <a:avLst/>
          </a:prstGeom>
          <a:solidFill>
            <a:srgbClr val="12A566"/>
          </a:solidFill>
          <a:ln/>
        </p:spPr>
      </p:sp>
      <p:sp>
        <p:nvSpPr>
          <p:cNvPr id="67" name="Text 65"/>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8" name="Text 66"/>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9" name="Shape 67"/>
          <p:cNvSpPr/>
          <p:nvPr/>
        </p:nvSpPr>
        <p:spPr>
          <a:xfrm>
            <a:off x="3579876" y="4419414"/>
            <a:ext cx="83153" cy="102929"/>
          </a:xfrm>
          <a:prstGeom prst="rect">
            <a:avLst/>
          </a:prstGeom>
          <a:solidFill>
            <a:srgbClr val="12A566"/>
          </a:solidFill>
          <a:ln/>
        </p:spPr>
      </p:sp>
      <p:sp>
        <p:nvSpPr>
          <p:cNvPr id="70" name="Text 68"/>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+$206K</a:t>
            </a:r>
            <a:endParaRPr lang="en-US" sz="1200" dirty="0"/>
          </a:p>
        </p:txBody>
      </p:sp>
      <p:sp>
        <p:nvSpPr>
          <p:cNvPr id="71" name="Text 69"/>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+20.8%</a:t>
            </a:r>
            <a:endParaRPr lang="en-US" sz="1200" dirty="0"/>
          </a:p>
        </p:txBody>
      </p:sp>
      <p:sp>
        <p:nvSpPr>
          <p:cNvPr id="72" name="Text 70"/>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3" name="Text 71"/>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74" name="Shape 72"/>
          <p:cNvSpPr/>
          <p:nvPr/>
        </p:nvSpPr>
        <p:spPr>
          <a:xfrm>
            <a:off x="3579876" y="4643173"/>
            <a:ext cx="73936" cy="102929"/>
          </a:xfrm>
          <a:prstGeom prst="rect">
            <a:avLst/>
          </a:prstGeom>
          <a:solidFill>
            <a:srgbClr val="12A566"/>
          </a:solidFill>
          <a:ln/>
        </p:spPr>
      </p:sp>
      <p:sp>
        <p:nvSpPr>
          <p:cNvPr id="75" name="Text 73"/>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+$183K</a:t>
            </a:r>
            <a:endParaRPr lang="en-US" sz="1200" dirty="0"/>
          </a:p>
        </p:txBody>
      </p:sp>
      <p:sp>
        <p:nvSpPr>
          <p:cNvPr id="76" name="Text 74"/>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n/m</a:t>
            </a:r>
            <a:endParaRPr lang="en-US" sz="1200" dirty="0"/>
          </a:p>
        </p:txBody>
      </p:sp>
      <p:sp>
        <p:nvSpPr>
          <p:cNvPr id="77" name="Text 75"/>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8" name="Text 76"/>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9" name="Shape 77"/>
          <p:cNvSpPr/>
          <p:nvPr/>
        </p:nvSpPr>
        <p:spPr>
          <a:xfrm>
            <a:off x="3579876" y="4866932"/>
            <a:ext cx="62602" cy="102929"/>
          </a:xfrm>
          <a:prstGeom prst="rect">
            <a:avLst/>
          </a:prstGeom>
          <a:solidFill>
            <a:srgbClr val="12A566"/>
          </a:solidFill>
          <a:ln/>
        </p:spPr>
      </p:sp>
      <p:sp>
        <p:nvSpPr>
          <p:cNvPr id="80" name="Text 78"/>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+$155K</a:t>
            </a:r>
            <a:endParaRPr lang="en-US" sz="1200" dirty="0"/>
          </a:p>
        </p:txBody>
      </p:sp>
      <p:sp>
        <p:nvSpPr>
          <p:cNvPr id="81" name="Text 79"/>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+13.2%</a:t>
            </a:r>
            <a:endParaRPr lang="en-US" sz="1200" dirty="0"/>
          </a:p>
        </p:txBody>
      </p:sp>
      <p:sp>
        <p:nvSpPr>
          <p:cNvPr id="82" name="Text 80"/>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3" name="Text 81"/>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4" name="Shape 82"/>
          <p:cNvSpPr/>
          <p:nvPr/>
        </p:nvSpPr>
        <p:spPr>
          <a:xfrm>
            <a:off x="3579876" y="5090691"/>
            <a:ext cx="61490" cy="102929"/>
          </a:xfrm>
          <a:prstGeom prst="rect">
            <a:avLst/>
          </a:prstGeom>
          <a:solidFill>
            <a:srgbClr val="12A566"/>
          </a:solidFill>
          <a:ln/>
        </p:spPr>
      </p:sp>
      <p:sp>
        <p:nvSpPr>
          <p:cNvPr id="85" name="Text 83"/>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+$152K</a:t>
            </a:r>
            <a:endParaRPr lang="en-US" sz="1200" dirty="0"/>
          </a:p>
        </p:txBody>
      </p:sp>
      <p:sp>
        <p:nvSpPr>
          <p:cNvPr id="86" name="Text 84"/>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a:t>
            </a:r>
            <a:endParaRPr lang="en-US" sz="1200" dirty="0"/>
          </a:p>
        </p:txBody>
      </p:sp>
      <p:sp>
        <p:nvSpPr>
          <p:cNvPr id="87" name="Text 85"/>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8" name="Text 86"/>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9" name="Shape 87"/>
          <p:cNvSpPr/>
          <p:nvPr/>
        </p:nvSpPr>
        <p:spPr>
          <a:xfrm>
            <a:off x="3579876" y="5314450"/>
            <a:ext cx="58162" cy="102929"/>
          </a:xfrm>
          <a:prstGeom prst="rect">
            <a:avLst/>
          </a:prstGeom>
          <a:solidFill>
            <a:srgbClr val="12A566"/>
          </a:solidFill>
          <a:ln/>
        </p:spPr>
      </p:sp>
      <p:sp>
        <p:nvSpPr>
          <p:cNvPr id="90" name="Text 88"/>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+$144K</a:t>
            </a:r>
            <a:endParaRPr lang="en-US" sz="1200" dirty="0"/>
          </a:p>
        </p:txBody>
      </p:sp>
      <p:sp>
        <p:nvSpPr>
          <p:cNvPr id="91" name="Text 89"/>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n/m</a:t>
            </a:r>
            <a:endParaRPr lang="en-US" sz="1200" dirty="0"/>
          </a:p>
        </p:txBody>
      </p:sp>
      <p:sp>
        <p:nvSpPr>
          <p:cNvPr id="92" name="Text 90"/>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3" name="Text 91"/>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94" name="Shape 92"/>
          <p:cNvSpPr/>
          <p:nvPr/>
        </p:nvSpPr>
        <p:spPr>
          <a:xfrm>
            <a:off x="3579876" y="5538209"/>
            <a:ext cx="54233" cy="102929"/>
          </a:xfrm>
          <a:prstGeom prst="rect">
            <a:avLst/>
          </a:prstGeom>
          <a:solidFill>
            <a:srgbClr val="12A566"/>
          </a:solidFill>
          <a:ln/>
        </p:spPr>
      </p:sp>
      <p:sp>
        <p:nvSpPr>
          <p:cNvPr id="95" name="Text 93"/>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+$134K</a:t>
            </a:r>
            <a:endParaRPr lang="en-US" sz="1200" dirty="0"/>
          </a:p>
        </p:txBody>
      </p:sp>
      <p:sp>
        <p:nvSpPr>
          <p:cNvPr id="96" name="Text 94"/>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+24.7%</a:t>
            </a:r>
            <a:endParaRPr lang="en-US" sz="1200" dirty="0"/>
          </a:p>
        </p:txBody>
      </p:sp>
      <p:sp>
        <p:nvSpPr>
          <p:cNvPr id="97" name="Text 95"/>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8" name="Text 96"/>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9" name="Shape 97"/>
          <p:cNvSpPr/>
          <p:nvPr/>
        </p:nvSpPr>
        <p:spPr>
          <a:xfrm>
            <a:off x="3579876" y="5761968"/>
            <a:ext cx="52684" cy="102929"/>
          </a:xfrm>
          <a:prstGeom prst="rect">
            <a:avLst/>
          </a:prstGeom>
          <a:solidFill>
            <a:srgbClr val="12A566"/>
          </a:solidFill>
          <a:ln/>
        </p:spPr>
      </p:sp>
      <p:sp>
        <p:nvSpPr>
          <p:cNvPr id="100" name="Text 98"/>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+$131K</a:t>
            </a:r>
            <a:endParaRPr lang="en-US" sz="1200" dirty="0"/>
          </a:p>
        </p:txBody>
      </p:sp>
      <p:sp>
        <p:nvSpPr>
          <p:cNvPr id="101" name="Text 99"/>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+16.9%</a:t>
            </a:r>
            <a:endParaRPr lang="en-US" sz="1200" dirty="0"/>
          </a:p>
        </p:txBody>
      </p:sp>
      <p:sp>
        <p:nvSpPr>
          <p:cNvPr id="102" name="Text 100"/>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3" name="Text 101"/>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04" name="Shape 102"/>
          <p:cNvSpPr/>
          <p:nvPr/>
        </p:nvSpPr>
        <p:spPr>
          <a:xfrm>
            <a:off x="9130284" y="2181823"/>
            <a:ext cx="45718" cy="102929"/>
          </a:xfrm>
          <a:prstGeom prst="rect">
            <a:avLst/>
          </a:prstGeom>
          <a:solidFill>
            <a:srgbClr val="12A566"/>
          </a:solidFill>
          <a:ln/>
        </p:spPr>
      </p:sp>
      <p:sp>
        <p:nvSpPr>
          <p:cNvPr id="105" name="Text 103"/>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+$113K</a:t>
            </a:r>
            <a:endParaRPr lang="en-US" sz="1200" dirty="0"/>
          </a:p>
        </p:txBody>
      </p:sp>
      <p:sp>
        <p:nvSpPr>
          <p:cNvPr id="106" name="Text 104"/>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+10.7%</a:t>
            </a:r>
            <a:endParaRPr lang="en-US" sz="1200" dirty="0"/>
          </a:p>
        </p:txBody>
      </p:sp>
      <p:sp>
        <p:nvSpPr>
          <p:cNvPr id="107" name="Text 105"/>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8" name="Text 106"/>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9" name="Shape 107"/>
          <p:cNvSpPr/>
          <p:nvPr/>
        </p:nvSpPr>
        <p:spPr>
          <a:xfrm>
            <a:off x="9130284" y="2405582"/>
            <a:ext cx="39446" cy="102929"/>
          </a:xfrm>
          <a:prstGeom prst="rect">
            <a:avLst/>
          </a:prstGeom>
          <a:solidFill>
            <a:srgbClr val="12A566"/>
          </a:solidFill>
          <a:ln/>
        </p:spPr>
      </p:sp>
      <p:sp>
        <p:nvSpPr>
          <p:cNvPr id="110" name="Text 108"/>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+$98K</a:t>
            </a:r>
            <a:endParaRPr lang="en-US" sz="1200" dirty="0"/>
          </a:p>
        </p:txBody>
      </p:sp>
      <p:sp>
        <p:nvSpPr>
          <p:cNvPr id="111" name="Text 109"/>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+16.1%</a:t>
            </a:r>
            <a:endParaRPr lang="en-US" sz="1200" dirty="0"/>
          </a:p>
        </p:txBody>
      </p:sp>
      <p:sp>
        <p:nvSpPr>
          <p:cNvPr id="112" name="Text 110"/>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3" name="Text 111"/>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14" name="Shape 112"/>
          <p:cNvSpPr/>
          <p:nvPr/>
        </p:nvSpPr>
        <p:spPr>
          <a:xfrm>
            <a:off x="9130284" y="2629341"/>
            <a:ext cx="38729" cy="102929"/>
          </a:xfrm>
          <a:prstGeom prst="rect">
            <a:avLst/>
          </a:prstGeom>
          <a:solidFill>
            <a:srgbClr val="12A566"/>
          </a:solidFill>
          <a:ln/>
        </p:spPr>
      </p:sp>
      <p:sp>
        <p:nvSpPr>
          <p:cNvPr id="115" name="Text 113"/>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+$96K</a:t>
            </a:r>
            <a:endParaRPr lang="en-US" sz="1200" dirty="0"/>
          </a:p>
        </p:txBody>
      </p:sp>
      <p:sp>
        <p:nvSpPr>
          <p:cNvPr id="116" name="Text 114"/>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n/m</a:t>
            </a:r>
            <a:endParaRPr lang="en-US" sz="1200" dirty="0"/>
          </a:p>
        </p:txBody>
      </p:sp>
      <p:sp>
        <p:nvSpPr>
          <p:cNvPr id="117" name="Text 115"/>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8" name="Text 116"/>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19" name="Shape 117"/>
          <p:cNvSpPr/>
          <p:nvPr/>
        </p:nvSpPr>
        <p:spPr>
          <a:xfrm>
            <a:off x="9130284" y="2853100"/>
            <a:ext cx="21715" cy="102929"/>
          </a:xfrm>
          <a:prstGeom prst="rect">
            <a:avLst/>
          </a:prstGeom>
          <a:solidFill>
            <a:srgbClr val="12A566"/>
          </a:solidFill>
          <a:ln/>
        </p:spPr>
      </p:sp>
      <p:sp>
        <p:nvSpPr>
          <p:cNvPr id="120" name="Text 118"/>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+$54K</a:t>
            </a:r>
            <a:endParaRPr lang="en-US" sz="1200" dirty="0"/>
          </a:p>
        </p:txBody>
      </p:sp>
      <p:sp>
        <p:nvSpPr>
          <p:cNvPr id="121" name="Text 119"/>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+7.2%</a:t>
            </a:r>
            <a:endParaRPr lang="en-US" sz="1200" dirty="0"/>
          </a:p>
        </p:txBody>
      </p:sp>
      <p:sp>
        <p:nvSpPr>
          <p:cNvPr id="122" name="Text 120"/>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3" name="Text 121"/>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4" name="Shape 122"/>
          <p:cNvSpPr/>
          <p:nvPr/>
        </p:nvSpPr>
        <p:spPr>
          <a:xfrm>
            <a:off x="9130284" y="3076859"/>
            <a:ext cx="21414" cy="102929"/>
          </a:xfrm>
          <a:prstGeom prst="rect">
            <a:avLst/>
          </a:prstGeom>
          <a:solidFill>
            <a:srgbClr val="12A566"/>
          </a:solidFill>
          <a:ln/>
        </p:spPr>
      </p:sp>
      <p:sp>
        <p:nvSpPr>
          <p:cNvPr id="125" name="Text 123"/>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+$53K</a:t>
            </a:r>
            <a:endParaRPr lang="en-US" sz="1200" dirty="0"/>
          </a:p>
        </p:txBody>
      </p:sp>
      <p:sp>
        <p:nvSpPr>
          <p:cNvPr id="126" name="Text 124"/>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+200.6%</a:t>
            </a:r>
            <a:endParaRPr lang="en-US" sz="1200" dirty="0"/>
          </a:p>
        </p:txBody>
      </p:sp>
      <p:sp>
        <p:nvSpPr>
          <p:cNvPr id="127" name="Shape 125"/>
          <p:cNvSpPr/>
          <p:nvPr/>
        </p:nvSpPr>
        <p:spPr>
          <a:xfrm>
            <a:off x="11457432" y="3062164"/>
            <a:ext cx="54864" cy="132319"/>
          </a:xfrm>
          <a:prstGeom prst="rect">
            <a:avLst/>
          </a:prstGeom>
          <a:solidFill>
            <a:srgbClr val="12A566"/>
          </a:solidFill>
          <a:ln/>
        </p:spPr>
      </p:sp>
      <p:sp>
        <p:nvSpPr>
          <p:cNvPr id="128" name="Text 126"/>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9" name="Text 127"/>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30" name="Shape 128"/>
          <p:cNvSpPr/>
          <p:nvPr/>
        </p:nvSpPr>
        <p:spPr>
          <a:xfrm>
            <a:off x="9130284" y="3300618"/>
            <a:ext cx="12802" cy="102929"/>
          </a:xfrm>
          <a:prstGeom prst="rect">
            <a:avLst/>
          </a:prstGeom>
          <a:solidFill>
            <a:srgbClr val="12A566"/>
          </a:solidFill>
          <a:ln/>
        </p:spPr>
      </p:sp>
      <p:sp>
        <p:nvSpPr>
          <p:cNvPr id="131" name="Text 129"/>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+$6K</a:t>
            </a:r>
            <a:endParaRPr lang="en-US" sz="1200" dirty="0"/>
          </a:p>
        </p:txBody>
      </p:sp>
      <p:sp>
        <p:nvSpPr>
          <p:cNvPr id="132" name="Text 130"/>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a:t>
            </a:r>
            <a:endParaRPr lang="en-US" sz="1200" dirty="0"/>
          </a:p>
        </p:txBody>
      </p:sp>
      <p:sp>
        <p:nvSpPr>
          <p:cNvPr id="133" name="Text 131"/>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4" name="Text 132"/>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35" name="Shape 133"/>
          <p:cNvSpPr/>
          <p:nvPr/>
        </p:nvSpPr>
        <p:spPr>
          <a:xfrm>
            <a:off x="9130284" y="3524377"/>
            <a:ext cx="12802" cy="102929"/>
          </a:xfrm>
          <a:prstGeom prst="rect">
            <a:avLst/>
          </a:prstGeom>
          <a:solidFill>
            <a:srgbClr val="12A566"/>
          </a:solidFill>
          <a:ln/>
        </p:spPr>
      </p:sp>
      <p:sp>
        <p:nvSpPr>
          <p:cNvPr id="136" name="Text 134"/>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+$3K</a:t>
            </a:r>
            <a:endParaRPr lang="en-US" sz="1200" dirty="0"/>
          </a:p>
        </p:txBody>
      </p:sp>
      <p:sp>
        <p:nvSpPr>
          <p:cNvPr id="137" name="Text 135"/>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a:t>
            </a:r>
            <a:endParaRPr lang="en-US" sz="1200" dirty="0"/>
          </a:p>
        </p:txBody>
      </p:sp>
      <p:sp>
        <p:nvSpPr>
          <p:cNvPr id="138" name="Text 136"/>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9" name="Text 137"/>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40" name="Shape 138"/>
          <p:cNvSpPr/>
          <p:nvPr/>
        </p:nvSpPr>
        <p:spPr>
          <a:xfrm>
            <a:off x="9099640" y="3748136"/>
            <a:ext cx="30644" cy="102929"/>
          </a:xfrm>
          <a:prstGeom prst="rect">
            <a:avLst/>
          </a:prstGeom>
          <a:solidFill>
            <a:srgbClr val="C2352F"/>
          </a:solidFill>
          <a:ln/>
        </p:spPr>
      </p:sp>
      <p:sp>
        <p:nvSpPr>
          <p:cNvPr id="141" name="Text 139"/>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−$76K</a:t>
            </a:r>
            <a:endParaRPr lang="en-US" sz="1200" dirty="0"/>
          </a:p>
        </p:txBody>
      </p:sp>
      <p:sp>
        <p:nvSpPr>
          <p:cNvPr id="142" name="Text 140"/>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a:t>
            </a:r>
            <a:endParaRPr lang="en-US" sz="1200" dirty="0"/>
          </a:p>
        </p:txBody>
      </p:sp>
      <p:sp>
        <p:nvSpPr>
          <p:cNvPr id="143" name="Text 141"/>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4" name="Text 142"/>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45" name="Shape 143"/>
          <p:cNvSpPr/>
          <p:nvPr/>
        </p:nvSpPr>
        <p:spPr>
          <a:xfrm>
            <a:off x="9095358" y="3971895"/>
            <a:ext cx="34926" cy="102929"/>
          </a:xfrm>
          <a:prstGeom prst="rect">
            <a:avLst/>
          </a:prstGeom>
          <a:solidFill>
            <a:srgbClr val="C2352F"/>
          </a:solidFill>
          <a:ln/>
        </p:spPr>
      </p:sp>
      <p:sp>
        <p:nvSpPr>
          <p:cNvPr id="146" name="Text 144"/>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−$87K</a:t>
            </a:r>
            <a:endParaRPr lang="en-US" sz="1200" dirty="0"/>
          </a:p>
        </p:txBody>
      </p:sp>
      <p:sp>
        <p:nvSpPr>
          <p:cNvPr id="147" name="Text 145"/>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−8.1%</a:t>
            </a:r>
            <a:endParaRPr lang="en-US" sz="1200" dirty="0"/>
          </a:p>
        </p:txBody>
      </p:sp>
      <p:sp>
        <p:nvSpPr>
          <p:cNvPr id="148" name="Text 146"/>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9" name="Text 147"/>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50" name="Shape 148"/>
          <p:cNvSpPr/>
          <p:nvPr/>
        </p:nvSpPr>
        <p:spPr>
          <a:xfrm>
            <a:off x="9091461" y="4195654"/>
            <a:ext cx="38823" cy="102929"/>
          </a:xfrm>
          <a:prstGeom prst="rect">
            <a:avLst/>
          </a:prstGeom>
          <a:solidFill>
            <a:srgbClr val="C2352F"/>
          </a:solidFill>
          <a:ln/>
        </p:spPr>
      </p:sp>
      <p:sp>
        <p:nvSpPr>
          <p:cNvPr id="151" name="Text 149"/>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−$96K</a:t>
            </a:r>
            <a:endParaRPr lang="en-US" sz="1200" dirty="0"/>
          </a:p>
        </p:txBody>
      </p:sp>
      <p:sp>
        <p:nvSpPr>
          <p:cNvPr id="152" name="Text 150"/>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−47.1%</a:t>
            </a:r>
            <a:endParaRPr lang="en-US" sz="1200" dirty="0"/>
          </a:p>
        </p:txBody>
      </p:sp>
      <p:sp>
        <p:nvSpPr>
          <p:cNvPr id="153" name="Shape 151"/>
          <p:cNvSpPr/>
          <p:nvPr/>
        </p:nvSpPr>
        <p:spPr>
          <a:xfrm>
            <a:off x="11457432" y="4180960"/>
            <a:ext cx="54864" cy="132319"/>
          </a:xfrm>
          <a:prstGeom prst="rect">
            <a:avLst/>
          </a:prstGeom>
          <a:solidFill>
            <a:srgbClr val="C2352F"/>
          </a:solidFill>
          <a:ln/>
        </p:spPr>
      </p:sp>
      <p:sp>
        <p:nvSpPr>
          <p:cNvPr id="154" name="Text 152"/>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5" name="Text 153"/>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56" name="Shape 154"/>
          <p:cNvSpPr/>
          <p:nvPr/>
        </p:nvSpPr>
        <p:spPr>
          <a:xfrm>
            <a:off x="9071103" y="4419414"/>
            <a:ext cx="59181" cy="102929"/>
          </a:xfrm>
          <a:prstGeom prst="rect">
            <a:avLst/>
          </a:prstGeom>
          <a:solidFill>
            <a:srgbClr val="C2352F"/>
          </a:solidFill>
          <a:ln/>
        </p:spPr>
      </p:sp>
      <p:sp>
        <p:nvSpPr>
          <p:cNvPr id="157" name="Text 155"/>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−$147K</a:t>
            </a:r>
            <a:endParaRPr lang="en-US" sz="1200" dirty="0"/>
          </a:p>
        </p:txBody>
      </p:sp>
      <p:sp>
        <p:nvSpPr>
          <p:cNvPr id="158" name="Text 156"/>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−22.6%</a:t>
            </a:r>
            <a:endParaRPr lang="en-US" sz="1200" dirty="0"/>
          </a:p>
        </p:txBody>
      </p:sp>
      <p:sp>
        <p:nvSpPr>
          <p:cNvPr id="159" name="Text 157"/>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60" name="Text 158"/>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1" name="Shape 159"/>
          <p:cNvSpPr/>
          <p:nvPr/>
        </p:nvSpPr>
        <p:spPr>
          <a:xfrm>
            <a:off x="9058567" y="4643173"/>
            <a:ext cx="71717" cy="102929"/>
          </a:xfrm>
          <a:prstGeom prst="rect">
            <a:avLst/>
          </a:prstGeom>
          <a:solidFill>
            <a:srgbClr val="C2352F"/>
          </a:solidFill>
          <a:ln/>
        </p:spPr>
      </p:sp>
      <p:sp>
        <p:nvSpPr>
          <p:cNvPr id="162" name="Text 160"/>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−$178K</a:t>
            </a:r>
            <a:endParaRPr lang="en-US" sz="1200" dirty="0"/>
          </a:p>
        </p:txBody>
      </p:sp>
      <p:sp>
        <p:nvSpPr>
          <p:cNvPr id="163" name="Text 161"/>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−8.9%</a:t>
            </a:r>
            <a:endParaRPr lang="en-US" sz="1200" dirty="0"/>
          </a:p>
        </p:txBody>
      </p:sp>
      <p:sp>
        <p:nvSpPr>
          <p:cNvPr id="164" name="Text 162"/>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5" name="Text 163"/>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66" name="Shape 164"/>
          <p:cNvSpPr/>
          <p:nvPr/>
        </p:nvSpPr>
        <p:spPr>
          <a:xfrm>
            <a:off x="9044670" y="4866932"/>
            <a:ext cx="85614" cy="102929"/>
          </a:xfrm>
          <a:prstGeom prst="rect">
            <a:avLst/>
          </a:prstGeom>
          <a:solidFill>
            <a:srgbClr val="C2352F"/>
          </a:solidFill>
          <a:ln/>
        </p:spPr>
      </p:sp>
      <p:sp>
        <p:nvSpPr>
          <p:cNvPr id="167" name="Text 165"/>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−$212K</a:t>
            </a:r>
            <a:endParaRPr lang="en-US" sz="1200" dirty="0"/>
          </a:p>
        </p:txBody>
      </p:sp>
      <p:sp>
        <p:nvSpPr>
          <p:cNvPr id="168" name="Text 166"/>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−138.2%</a:t>
            </a:r>
            <a:endParaRPr lang="en-US" sz="1200" dirty="0"/>
          </a:p>
        </p:txBody>
      </p:sp>
      <p:sp>
        <p:nvSpPr>
          <p:cNvPr id="169" name="Shape 167"/>
          <p:cNvSpPr/>
          <p:nvPr/>
        </p:nvSpPr>
        <p:spPr>
          <a:xfrm>
            <a:off x="11457432" y="4852237"/>
            <a:ext cx="54864" cy="132319"/>
          </a:xfrm>
          <a:prstGeom prst="rect">
            <a:avLst/>
          </a:prstGeom>
          <a:solidFill>
            <a:srgbClr val="C2352F"/>
          </a:solidFill>
          <a:ln/>
        </p:spPr>
      </p:sp>
      <p:sp>
        <p:nvSpPr>
          <p:cNvPr id="170" name="Text 168"/>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1" name="Text 169"/>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72" name="Shape 170"/>
          <p:cNvSpPr/>
          <p:nvPr/>
        </p:nvSpPr>
        <p:spPr>
          <a:xfrm>
            <a:off x="9022168" y="5090691"/>
            <a:ext cx="108116" cy="102929"/>
          </a:xfrm>
          <a:prstGeom prst="rect">
            <a:avLst/>
          </a:prstGeom>
          <a:solidFill>
            <a:srgbClr val="C2352F"/>
          </a:solidFill>
          <a:ln/>
        </p:spPr>
      </p:sp>
      <p:sp>
        <p:nvSpPr>
          <p:cNvPr id="173" name="Text 171"/>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−$268K</a:t>
            </a:r>
            <a:endParaRPr lang="en-US" sz="1200" dirty="0"/>
          </a:p>
        </p:txBody>
      </p:sp>
      <p:sp>
        <p:nvSpPr>
          <p:cNvPr id="174" name="Text 172"/>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−27.7%</a:t>
            </a:r>
            <a:endParaRPr lang="en-US" sz="1200" dirty="0"/>
          </a:p>
        </p:txBody>
      </p:sp>
      <p:sp>
        <p:nvSpPr>
          <p:cNvPr id="175" name="Text 173"/>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6" name="Text 174"/>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77" name="Shape 175"/>
          <p:cNvSpPr/>
          <p:nvPr/>
        </p:nvSpPr>
        <p:spPr>
          <a:xfrm>
            <a:off x="8945616" y="5314450"/>
            <a:ext cx="184668" cy="102929"/>
          </a:xfrm>
          <a:prstGeom prst="rect">
            <a:avLst/>
          </a:prstGeom>
          <a:solidFill>
            <a:srgbClr val="C2352F"/>
          </a:solidFill>
          <a:ln/>
        </p:spPr>
      </p:sp>
      <p:sp>
        <p:nvSpPr>
          <p:cNvPr id="178" name="Text 176"/>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−$457K</a:t>
            </a:r>
            <a:endParaRPr lang="en-US" sz="1200" dirty="0"/>
          </a:p>
        </p:txBody>
      </p:sp>
      <p:sp>
        <p:nvSpPr>
          <p:cNvPr id="179" name="Text 177"/>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−29.6%</a:t>
            </a:r>
            <a:endParaRPr lang="en-US" sz="1200" dirty="0"/>
          </a:p>
        </p:txBody>
      </p:sp>
      <p:sp>
        <p:nvSpPr>
          <p:cNvPr id="180" name="Shape 178"/>
          <p:cNvSpPr/>
          <p:nvPr/>
        </p:nvSpPr>
        <p:spPr>
          <a:xfrm>
            <a:off x="11457432" y="5299755"/>
            <a:ext cx="54864" cy="132319"/>
          </a:xfrm>
          <a:prstGeom prst="rect">
            <a:avLst/>
          </a:prstGeom>
          <a:solidFill>
            <a:srgbClr val="C2352F"/>
          </a:solidFill>
          <a:ln/>
        </p:spPr>
      </p:sp>
      <p:sp>
        <p:nvSpPr>
          <p:cNvPr id="181" name="Text 179"/>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2" name="Text 180"/>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83" name="Shape 181"/>
          <p:cNvSpPr/>
          <p:nvPr/>
        </p:nvSpPr>
        <p:spPr>
          <a:xfrm>
            <a:off x="8870602" y="5538209"/>
            <a:ext cx="259682" cy="102929"/>
          </a:xfrm>
          <a:prstGeom prst="rect">
            <a:avLst/>
          </a:prstGeom>
          <a:solidFill>
            <a:srgbClr val="C2352F"/>
          </a:solidFill>
          <a:ln/>
        </p:spPr>
      </p:sp>
      <p:sp>
        <p:nvSpPr>
          <p:cNvPr id="184" name="Text 182"/>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−$643K</a:t>
            </a:r>
            <a:endParaRPr lang="en-US" sz="1200" dirty="0"/>
          </a:p>
        </p:txBody>
      </p:sp>
      <p:sp>
        <p:nvSpPr>
          <p:cNvPr id="185" name="Text 183"/>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−22.1%</a:t>
            </a:r>
            <a:endParaRPr lang="en-US" sz="1200" dirty="0"/>
          </a:p>
        </p:txBody>
      </p:sp>
      <p:sp>
        <p:nvSpPr>
          <p:cNvPr id="186" name="Shape 184"/>
          <p:cNvSpPr/>
          <p:nvPr/>
        </p:nvSpPr>
        <p:spPr>
          <a:xfrm>
            <a:off x="3574390" y="2121408"/>
            <a:ext cx="10973" cy="3803904"/>
          </a:xfrm>
          <a:prstGeom prst="rect">
            <a:avLst/>
          </a:prstGeom>
          <a:solidFill>
            <a:srgbClr val="9AA3AD"/>
          </a:solidFill>
          <a:ln/>
        </p:spPr>
      </p:sp>
      <p:sp>
        <p:nvSpPr>
          <p:cNvPr id="187" name="Shape 185"/>
          <p:cNvSpPr/>
          <p:nvPr/>
        </p:nvSpPr>
        <p:spPr>
          <a:xfrm>
            <a:off x="9124798" y="2121408"/>
            <a:ext cx="10973" cy="3803904"/>
          </a:xfrm>
          <a:prstGeom prst="rect">
            <a:avLst/>
          </a:prstGeom>
          <a:solidFill>
            <a:srgbClr val="9AA3AD"/>
          </a:solidFill>
          <a:ln/>
        </p:spPr>
      </p:sp>
      <p:sp>
        <p:nvSpPr>
          <p:cNvPr id="188" name="Shape 186"/>
          <p:cNvSpPr/>
          <p:nvPr/>
        </p:nvSpPr>
        <p:spPr>
          <a:xfrm>
            <a:off x="6085332" y="2121408"/>
            <a:ext cx="10973" cy="3803904"/>
          </a:xfrm>
          <a:prstGeom prst="rect">
            <a:avLst/>
          </a:prstGeom>
          <a:solidFill>
            <a:srgbClr val="D9D9D9"/>
          </a:solidFill>
          <a:ln/>
        </p:spPr>
      </p:sp>
      <p:sp>
        <p:nvSpPr>
          <p:cNvPr id="189" name="Shape 187"/>
          <p:cNvSpPr/>
          <p:nvPr/>
        </p:nvSpPr>
        <p:spPr>
          <a:xfrm>
            <a:off x="457200" y="6126480"/>
            <a:ext cx="11274552" cy="615696"/>
          </a:xfrm>
          <a:prstGeom prst="rect">
            <a:avLst/>
          </a:prstGeom>
          <a:solidFill>
            <a:srgbClr val="E6F6EE"/>
          </a:solidFill>
          <a:ln/>
        </p:spPr>
      </p:sp>
      <p:sp>
        <p:nvSpPr>
          <p:cNvPr id="190" name="Text 18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grew fixed ops net profit. Toyota Henderson added the most at +$1.42M; Chevy LV fell most at −$643K.</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Shape 8"/>
          <p:cNvSpPr/>
          <p:nvPr/>
        </p:nvSpPr>
        <p:spPr>
          <a:xfrm>
            <a:off x="4084320" y="2139696"/>
            <a:ext cx="64008" cy="682142"/>
          </a:xfrm>
          <a:prstGeom prst="rect">
            <a:avLst/>
          </a:prstGeom>
          <a:solidFill>
            <a:srgbClr val="12A566"/>
          </a:solidFill>
          <a:ln/>
        </p:spPr>
      </p:sp>
      <p:sp>
        <p:nvSpPr>
          <p:cNvPr id="11" name="Text 9"/>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sp>
        <p:nvSpPr>
          <p:cNvPr id="13" name="Text 11"/>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4" name="Text 12"/>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sp>
        <p:nvSpPr>
          <p:cNvPr id="16" name="Text 14"/>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17" name="Shape 15"/>
          <p:cNvSpPr/>
          <p:nvPr/>
        </p:nvSpPr>
        <p:spPr>
          <a:xfrm>
            <a:off x="658368" y="3613709"/>
            <a:ext cx="3489960" cy="755294"/>
          </a:xfrm>
          <a:prstGeom prst="rect">
            <a:avLst/>
          </a:prstGeom>
          <a:solidFill>
            <a:srgbClr val="F7F7F7"/>
          </a:solidFill>
          <a:ln/>
        </p:spPr>
      </p:sp>
      <p:sp>
        <p:nvSpPr>
          <p:cNvPr id="18" name="Text 16"/>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sp>
        <p:nvSpPr>
          <p:cNvPr id="20" name="Text 18"/>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1" name="Shape 19"/>
          <p:cNvSpPr/>
          <p:nvPr/>
        </p:nvSpPr>
        <p:spPr>
          <a:xfrm>
            <a:off x="4084320" y="4405579"/>
            <a:ext cx="64008" cy="682142"/>
          </a:xfrm>
          <a:prstGeom prst="rect">
            <a:avLst/>
          </a:prstGeom>
          <a:solidFill>
            <a:srgbClr val="12A566"/>
          </a:solidFill>
          <a:ln/>
        </p:spPr>
      </p:sp>
      <p:sp>
        <p:nvSpPr>
          <p:cNvPr id="22" name="Text 20"/>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3" name="Text 21"/>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$5.39M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$6.08M</a:t>
            </a:r>
            <a:endParaRPr lang="en-US" sz="1400" dirty="0"/>
          </a:p>
        </p:txBody>
      </p:sp>
      <p:sp>
        <p:nvSpPr>
          <p:cNvPr id="24" name="Text 22"/>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+$692K</a:t>
            </a:r>
            <a:endParaRPr lang="en-US" sz="1600" dirty="0"/>
          </a:p>
        </p:txBody>
      </p:sp>
      <p:sp>
        <p:nvSpPr>
          <p:cNvPr id="25" name="Shape 23"/>
          <p:cNvSpPr/>
          <p:nvPr/>
        </p:nvSpPr>
        <p:spPr>
          <a:xfrm>
            <a:off x="658368" y="5124298"/>
            <a:ext cx="3489960" cy="755294"/>
          </a:xfrm>
          <a:prstGeom prst="rect">
            <a:avLst/>
          </a:prstGeom>
          <a:solidFill>
            <a:srgbClr val="F7F7F7"/>
          </a:solidFill>
          <a:ln/>
        </p:spPr>
      </p:sp>
      <p:sp>
        <p:nvSpPr>
          <p:cNvPr id="26" name="Text 24"/>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7" name="Text 25"/>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sp>
        <p:nvSpPr>
          <p:cNvPr id="28" name="Text 26"/>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+$484K</a:t>
            </a:r>
            <a:endParaRPr lang="en-US" sz="1600" dirty="0"/>
          </a:p>
        </p:txBody>
      </p:sp>
      <p:sp>
        <p:nvSpPr>
          <p:cNvPr id="29" name="Shape 27"/>
          <p:cNvSpPr/>
          <p:nvPr/>
        </p:nvSpPr>
        <p:spPr>
          <a:xfrm>
            <a:off x="4349496" y="1371600"/>
            <a:ext cx="3489960" cy="45720"/>
          </a:xfrm>
          <a:prstGeom prst="rect">
            <a:avLst/>
          </a:prstGeom>
          <a:solidFill>
            <a:srgbClr val="C2352F"/>
          </a:solidFill>
          <a:ln/>
        </p:spPr>
      </p:sp>
      <p:sp>
        <p:nvSpPr>
          <p:cNvPr id="30"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1" name="Text 29"/>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2" name="Shape 30"/>
          <p:cNvSpPr/>
          <p:nvPr/>
        </p:nvSpPr>
        <p:spPr>
          <a:xfrm>
            <a:off x="4349496" y="2103120"/>
            <a:ext cx="3489960" cy="755294"/>
          </a:xfrm>
          <a:prstGeom prst="rect">
            <a:avLst/>
          </a:prstGeom>
          <a:solidFill>
            <a:srgbClr val="F7F7F7"/>
          </a:solidFill>
          <a:ln/>
        </p:spPr>
      </p:sp>
      <p:sp>
        <p:nvSpPr>
          <p:cNvPr id="33" name="Text 31"/>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4" name="Text 32"/>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sp>
        <p:nvSpPr>
          <p:cNvPr id="35" name="Text 33"/>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36" name="Text 34"/>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sp>
        <p:nvSpPr>
          <p:cNvPr id="38" name="Text 36"/>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39" name="Shape 37"/>
          <p:cNvSpPr/>
          <p:nvPr/>
        </p:nvSpPr>
        <p:spPr>
          <a:xfrm>
            <a:off x="4349496" y="3613709"/>
            <a:ext cx="3489960" cy="755294"/>
          </a:xfrm>
          <a:prstGeom prst="rect">
            <a:avLst/>
          </a:prstGeom>
          <a:solidFill>
            <a:srgbClr val="F7F7F7"/>
          </a:solidFill>
          <a:ln/>
        </p:spPr>
      </p:sp>
      <p:sp>
        <p:nvSpPr>
          <p:cNvPr id="40" name="Text 38"/>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sp>
        <p:nvSpPr>
          <p:cNvPr id="42" name="Text 40"/>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43" name="Text 41"/>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−$59K</a:t>
            </a:r>
            <a:endParaRPr lang="en-US" sz="1400" dirty="0"/>
          </a:p>
        </p:txBody>
      </p:sp>
      <p:sp>
        <p:nvSpPr>
          <p:cNvPr id="45" name="Text 43"/>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−$212K</a:t>
            </a:r>
            <a:endParaRPr lang="en-US" sz="1600" dirty="0"/>
          </a:p>
        </p:txBody>
      </p:sp>
      <p:sp>
        <p:nvSpPr>
          <p:cNvPr id="46" name="Shape 44"/>
          <p:cNvSpPr/>
          <p:nvPr/>
        </p:nvSpPr>
        <p:spPr>
          <a:xfrm>
            <a:off x="4349496" y="5124298"/>
            <a:ext cx="3489960" cy="755294"/>
          </a:xfrm>
          <a:prstGeom prst="rect">
            <a:avLst/>
          </a:prstGeom>
          <a:solidFill>
            <a:srgbClr val="F7F7F7"/>
          </a:solidFill>
          <a:ln/>
        </p:spPr>
      </p:sp>
      <p:sp>
        <p:nvSpPr>
          <p:cNvPr id="47" name="Text 45"/>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$1.82M</a:t>
            </a:r>
            <a:endParaRPr lang="en-US" sz="1400" dirty="0"/>
          </a:p>
        </p:txBody>
      </p:sp>
      <p:sp>
        <p:nvSpPr>
          <p:cNvPr id="49" name="Text 47"/>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−$178K</a:t>
            </a:r>
            <a:endParaRPr lang="en-US" sz="1600" dirty="0"/>
          </a:p>
        </p:txBody>
      </p:sp>
      <p:sp>
        <p:nvSpPr>
          <p:cNvPr id="50" name="Shape 48"/>
          <p:cNvSpPr/>
          <p:nvPr/>
        </p:nvSpPr>
        <p:spPr>
          <a:xfrm>
            <a:off x="8040624" y="1371600"/>
            <a:ext cx="3489960" cy="45720"/>
          </a:xfrm>
          <a:prstGeom prst="rect">
            <a:avLst/>
          </a:prstGeom>
          <a:solidFill>
            <a:srgbClr val="2587C5"/>
          </a:solidFill>
          <a:ln/>
        </p:spPr>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 per month</a:t>
            </a:r>
            <a:endParaRPr lang="en-US" sz="1200" dirty="0"/>
          </a:p>
        </p:txBody>
      </p:sp>
      <p:sp>
        <p:nvSpPr>
          <p:cNvPr id="53" name="Shape 51"/>
          <p:cNvSpPr/>
          <p:nvPr/>
        </p:nvSpPr>
        <p:spPr>
          <a:xfrm>
            <a:off x="8040624" y="2103120"/>
            <a:ext cx="3489960" cy="755294"/>
          </a:xfrm>
          <a:prstGeom prst="rect">
            <a:avLst/>
          </a:prstGeom>
          <a:solidFill>
            <a:srgbClr val="F7F7F7"/>
          </a:solidFill>
          <a:ln/>
        </p:spPr>
      </p:sp>
      <p:sp>
        <p:nvSpPr>
          <p:cNvPr id="54" name="Shape 52"/>
          <p:cNvSpPr/>
          <p:nvPr/>
        </p:nvSpPr>
        <p:spPr>
          <a:xfrm>
            <a:off x="11466576" y="2139696"/>
            <a:ext cx="64008" cy="682142"/>
          </a:xfrm>
          <a:prstGeom prst="rect">
            <a:avLst/>
          </a:prstGeom>
          <a:solidFill>
            <a:srgbClr val="12A566"/>
          </a:solidFill>
          <a:ln/>
        </p:spPr>
      </p:sp>
      <p:sp>
        <p:nvSpPr>
          <p:cNvPr id="55" name="Text 53"/>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sp>
        <p:nvSpPr>
          <p:cNvPr id="57" name="Text 55"/>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58" name="Shape 56"/>
          <p:cNvSpPr/>
          <p:nvPr/>
        </p:nvSpPr>
        <p:spPr>
          <a:xfrm>
            <a:off x="11466576" y="2894990"/>
            <a:ext cx="64008" cy="682142"/>
          </a:xfrm>
          <a:prstGeom prst="rect">
            <a:avLst/>
          </a:prstGeom>
          <a:solidFill>
            <a:srgbClr val="12A566"/>
          </a:solidFill>
          <a:ln/>
        </p:spPr>
      </p:sp>
      <p:sp>
        <p:nvSpPr>
          <p:cNvPr id="59" name="Text 57"/>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0" name="Text 58"/>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sp>
        <p:nvSpPr>
          <p:cNvPr id="61" name="Text 59"/>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62" name="Shape 60"/>
          <p:cNvSpPr/>
          <p:nvPr/>
        </p:nvSpPr>
        <p:spPr>
          <a:xfrm>
            <a:off x="8040624" y="3613709"/>
            <a:ext cx="3489960" cy="755294"/>
          </a:xfrm>
          <a:prstGeom prst="rect">
            <a:avLst/>
          </a:prstGeom>
          <a:solidFill>
            <a:srgbClr val="F7F7F7"/>
          </a:solidFill>
          <a:ln/>
        </p:spPr>
      </p:sp>
      <p:sp>
        <p:nvSpPr>
          <p:cNvPr id="63" name="Text 61"/>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sp>
        <p:nvSpPr>
          <p:cNvPr id="65" name="Text 63"/>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66" name="Text 64"/>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7" name="Text 65"/>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$408K</a:t>
            </a:r>
            <a:endParaRPr lang="en-US" sz="1400" dirty="0"/>
          </a:p>
        </p:txBody>
      </p:sp>
      <p:sp>
        <p:nvSpPr>
          <p:cNvPr id="68" name="Text 66"/>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+$92K</a:t>
            </a:r>
            <a:endParaRPr lang="en-US" sz="1600" dirty="0"/>
          </a:p>
        </p:txBody>
      </p:sp>
      <p:sp>
        <p:nvSpPr>
          <p:cNvPr id="69" name="Shape 67"/>
          <p:cNvSpPr/>
          <p:nvPr/>
        </p:nvSpPr>
        <p:spPr>
          <a:xfrm>
            <a:off x="8040624" y="5124298"/>
            <a:ext cx="3489960" cy="755294"/>
          </a:xfrm>
          <a:prstGeom prst="rect">
            <a:avLst/>
          </a:prstGeom>
          <a:solidFill>
            <a:srgbClr val="F7F7F7"/>
          </a:solidFill>
          <a:ln/>
        </p:spPr>
      </p:sp>
      <p:sp>
        <p:nvSpPr>
          <p:cNvPr id="70" name="Text 68"/>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$155K</a:t>
            </a:r>
            <a:endParaRPr lang="en-US" sz="1400" dirty="0"/>
          </a:p>
        </p:txBody>
      </p:sp>
      <p:sp>
        <p:nvSpPr>
          <p:cNvPr id="72" name="Text 70"/>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+$84K</a:t>
            </a:r>
            <a:endParaRPr lang="en-US" sz="1600" dirty="0"/>
          </a:p>
        </p:txBody>
      </p:sp>
      <p:sp>
        <p:nvSpPr>
          <p:cNvPr id="73" name="Shape 71"/>
          <p:cNvSpPr/>
          <p:nvPr/>
        </p:nvSpPr>
        <p:spPr>
          <a:xfrm>
            <a:off x="457200" y="6126480"/>
            <a:ext cx="11274552" cy="585216"/>
          </a:xfrm>
          <a:prstGeom prst="rect">
            <a:avLst/>
          </a:prstGeom>
          <a:solidFill>
            <a:srgbClr val="EDF4FA"/>
          </a:solidFill>
          <a:ln/>
        </p:spPr>
      </p:sp>
      <p:sp>
        <p:nvSpPr>
          <p:cNvPr id="74" name="Text 72"/>
          <p:cNvSpPr txBox="1"/>
          <p:nvPr/>
        </p:nvSpPr>
        <p:spPr>
          <a:xfrm>
            <a:off x="658368" y="6144768"/>
            <a:ext cx="109270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Ask Toyota Henderson, Audi Henderson and Cadillac what changed. Ask Chevy LV, VW Henderson and Toyota Spokane what got in the way. Ask Honda Henderson, Toyota Henderson and Chevy LV what they started this year.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2026-10-24T22:20:20Z</dcterms:created>
  <dcterms:modified xsi:type="dcterms:W3CDTF">2026-10-24T22:20:20Z</dcterms:modified>
</cp:coreProperties>
</file>