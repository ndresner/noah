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2026).PREVIEW (Noah, Oct 24). Title now "What Is Fixed Absorption?".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included.PREVIEW (Noah, Oct 24).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n/m: the store lost money in fixed ops in 2025, so a percent change has no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296063"/>
          </a:xfrm>
          <a:prstGeom prst="rect">
            <a:avLst/>
          </a:prstGeom>
          <a:solidFill>
            <a:srgbClr val="2587C5"/>
          </a:solidFill>
          <a:ln/>
        </p:spPr>
      </p:sp>
      <p:sp>
        <p:nvSpPr>
          <p:cNvPr id="19" name="Text 17"/>
          <p:cNvSpPr txBox="1"/>
          <p:nvPr/>
        </p:nvSpPr>
        <p:spPr>
          <a:xfrm>
            <a:off x="5266944"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296063"/>
          </a:xfrm>
          <a:prstGeom prst="rect">
            <a:avLst/>
          </a:prstGeom>
          <a:solidFill>
            <a:srgbClr val="2587C5"/>
          </a:solidFill>
          <a:ln/>
        </p:spPr>
      </p:sp>
      <p:sp>
        <p:nvSpPr>
          <p:cNvPr id="21" name="Text 19"/>
          <p:cNvSpPr txBox="1"/>
          <p:nvPr/>
        </p:nvSpPr>
        <p:spPr>
          <a:xfrm>
            <a:off x="8522208"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department's people, rent and systems, carried whether or not a car sells</a:t>
            </a:r>
            <a:endParaRPr lang="en-US" sz="1400" dirty="0"/>
          </a:p>
        </p:txBody>
      </p:sp>
      <p:sp>
        <p:nvSpPr>
          <p:cNvPr id="22" name="Shape 20"/>
          <p:cNvSpPr/>
          <p:nvPr/>
        </p:nvSpPr>
        <p:spPr>
          <a:xfrm>
            <a:off x="5138928" y="4816503"/>
            <a:ext cx="45720" cy="971649"/>
          </a:xfrm>
          <a:prstGeom prst="rect">
            <a:avLst/>
          </a:prstGeom>
          <a:solidFill>
            <a:srgbClr val="2587C5"/>
          </a:solidFill>
          <a:ln/>
        </p:spPr>
      </p:sp>
      <p:sp>
        <p:nvSpPr>
          <p:cNvPr id="23" name="Text 21"/>
          <p:cNvSpPr txBox="1"/>
          <p:nvPr/>
        </p:nvSpPr>
        <p:spPr>
          <a:xfrm>
            <a:off x="5266944"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816503"/>
            <a:ext cx="45720" cy="971649"/>
          </a:xfrm>
          <a:prstGeom prst="rect">
            <a:avLst/>
          </a:prstGeom>
          <a:solidFill>
            <a:srgbClr val="2587C5"/>
          </a:solidFill>
          <a:ln/>
        </p:spPr>
      </p:sp>
      <p:sp>
        <p:nvSpPr>
          <p:cNvPr id="25" name="Text 23"/>
          <p:cNvSpPr txBox="1"/>
          <p:nvPr/>
        </p:nvSpPr>
        <p:spPr>
          <a:xfrm>
            <a:off x="8522208"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in 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$147.85M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61% · Salaries and wages (managers, advisors, techs, porters, office), payroll taxes, benefits, PTO</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$39.08M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$36.40M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 · DMS and IT, outside services, phones, legal and audit</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$19.52M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$242.85M of fixed expenses Jan-Sep 2026; fixed ops gross of $189.67M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in this deck: ROs, hours, ELR,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policy and comebacks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579876" y="3076859"/>
            <a:ext cx="195258"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n/m</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2" name="Shape 40"/>
          <p:cNvSpPr/>
          <p:nvPr/>
        </p:nvSpPr>
        <p:spPr>
          <a:xfrm>
            <a:off x="3579876" y="3300618"/>
            <a:ext cx="170398"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7" name="Shape 45"/>
          <p:cNvSpPr/>
          <p:nvPr/>
        </p:nvSpPr>
        <p:spPr>
          <a:xfrm>
            <a:off x="3579876" y="3524377"/>
            <a:ext cx="13603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2" name="Shape 50"/>
          <p:cNvSpPr/>
          <p:nvPr/>
        </p:nvSpPr>
        <p:spPr>
          <a:xfrm>
            <a:off x="3579876" y="3748136"/>
            <a:ext cx="117971"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5" name="Shape 53"/>
          <p:cNvSpPr/>
          <p:nvPr/>
        </p:nvSpPr>
        <p:spPr>
          <a:xfrm>
            <a:off x="5907024" y="3733441"/>
            <a:ext cx="54864" cy="132319"/>
          </a:xfrm>
          <a:prstGeom prst="rect">
            <a:avLst/>
          </a:prstGeom>
          <a:solidFill>
            <a:srgbClr val="12A566"/>
          </a:solidFill>
          <a:ln/>
        </p:spPr>
      </p:sp>
      <p:sp>
        <p:nvSpPr>
          <p:cNvPr id="56" name="Text 54"/>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7" name="Text 55"/>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8" name="Shape 56"/>
          <p:cNvSpPr/>
          <p:nvPr/>
        </p:nvSpPr>
        <p:spPr>
          <a:xfrm>
            <a:off x="3579876" y="3971895"/>
            <a:ext cx="115044" cy="102929"/>
          </a:xfrm>
          <a:prstGeom prst="rect">
            <a:avLst/>
          </a:prstGeom>
          <a:solidFill>
            <a:srgbClr val="12A566"/>
          </a:solidFill>
          <a:ln/>
        </p:spPr>
      </p:sp>
      <p:sp>
        <p:nvSpPr>
          <p:cNvPr id="59" name="Text 57"/>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0" name="Text 58"/>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1" name="Text 59"/>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2" name="Text 60"/>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3" name="Shape 61"/>
          <p:cNvSpPr/>
          <p:nvPr/>
        </p:nvSpPr>
        <p:spPr>
          <a:xfrm>
            <a:off x="3579876" y="4195654"/>
            <a:ext cx="87555" cy="102929"/>
          </a:xfrm>
          <a:prstGeom prst="rect">
            <a:avLst/>
          </a:prstGeom>
          <a:solidFill>
            <a:srgbClr val="12A566"/>
          </a:solidFill>
          <a:ln/>
        </p:spPr>
      </p:sp>
      <p:sp>
        <p:nvSpPr>
          <p:cNvPr id="64" name="Text 62"/>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5" name="Text 63"/>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6" name="Shape 64"/>
          <p:cNvSpPr/>
          <p:nvPr/>
        </p:nvSpPr>
        <p:spPr>
          <a:xfrm>
            <a:off x="5907024" y="4180960"/>
            <a:ext cx="54864" cy="132319"/>
          </a:xfrm>
          <a:prstGeom prst="rect">
            <a:avLst/>
          </a:prstGeom>
          <a:solidFill>
            <a:srgbClr val="12A566"/>
          </a:solidFill>
          <a:ln/>
        </p:spPr>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579876" y="4643173"/>
            <a:ext cx="73936"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n/m</a:t>
            </a:r>
            <a:endParaRPr lang="en-US" sz="1200" dirty="0"/>
          </a:p>
        </p:txBody>
      </p:sp>
      <p:sp>
        <p:nvSpPr>
          <p:cNvPr id="77" name="Text 75"/>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8" name="Text 76"/>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9" name="Shape 77"/>
          <p:cNvSpPr/>
          <p:nvPr/>
        </p:nvSpPr>
        <p:spPr>
          <a:xfrm>
            <a:off x="3579876" y="4866932"/>
            <a:ext cx="62602" cy="102929"/>
          </a:xfrm>
          <a:prstGeom prst="rect">
            <a:avLst/>
          </a:prstGeom>
          <a:solidFill>
            <a:srgbClr val="12A566"/>
          </a:solidFill>
          <a:ln/>
        </p:spPr>
      </p:sp>
      <p:sp>
        <p:nvSpPr>
          <p:cNvPr id="80" name="Text 78"/>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1" name="Text 79"/>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2" name="Text 80"/>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4" name="Shape 82"/>
          <p:cNvSpPr/>
          <p:nvPr/>
        </p:nvSpPr>
        <p:spPr>
          <a:xfrm>
            <a:off x="3579876" y="5090691"/>
            <a:ext cx="61490" cy="102929"/>
          </a:xfrm>
          <a:prstGeom prst="rect">
            <a:avLst/>
          </a:prstGeom>
          <a:solidFill>
            <a:srgbClr val="12A566"/>
          </a:solidFill>
          <a:ln/>
        </p:spPr>
      </p:sp>
      <p:sp>
        <p:nvSpPr>
          <p:cNvPr id="85" name="Text 83"/>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6" name="Text 84"/>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7" name="Text 85"/>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8" name="Text 86"/>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3579876" y="5314450"/>
            <a:ext cx="58162" cy="102929"/>
          </a:xfrm>
          <a:prstGeom prst="rect">
            <a:avLst/>
          </a:prstGeom>
          <a:solidFill>
            <a:srgbClr val="12A566"/>
          </a:solidFill>
          <a:ln/>
        </p:spPr>
      </p:sp>
      <p:sp>
        <p:nvSpPr>
          <p:cNvPr id="90" name="Text 88"/>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1" name="Text 89"/>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n/m</a:t>
            </a:r>
            <a:endParaRPr lang="en-US" sz="1200" dirty="0"/>
          </a:p>
        </p:txBody>
      </p:sp>
      <p:sp>
        <p:nvSpPr>
          <p:cNvPr id="92" name="Text 90"/>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3" name="Text 91"/>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4" name="Shape 92"/>
          <p:cNvSpPr/>
          <p:nvPr/>
        </p:nvSpPr>
        <p:spPr>
          <a:xfrm>
            <a:off x="3579876" y="5538209"/>
            <a:ext cx="54233" cy="102929"/>
          </a:xfrm>
          <a:prstGeom prst="rect">
            <a:avLst/>
          </a:prstGeom>
          <a:solidFill>
            <a:srgbClr val="12A566"/>
          </a:solidFill>
          <a:ln/>
        </p:spPr>
      </p:sp>
      <p:sp>
        <p:nvSpPr>
          <p:cNvPr id="95" name="Text 93"/>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6" name="Text 94"/>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97" name="Text 9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8" name="Text 9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9" name="Shape 97"/>
          <p:cNvSpPr/>
          <p:nvPr/>
        </p:nvSpPr>
        <p:spPr>
          <a:xfrm>
            <a:off x="3579876" y="5761968"/>
            <a:ext cx="52684" cy="102929"/>
          </a:xfrm>
          <a:prstGeom prst="rect">
            <a:avLst/>
          </a:prstGeom>
          <a:solidFill>
            <a:srgbClr val="12A566"/>
          </a:solidFill>
          <a:ln/>
        </p:spPr>
      </p:sp>
      <p:sp>
        <p:nvSpPr>
          <p:cNvPr id="100" name="Text 98"/>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1" name="Text 99"/>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2" name="Text 100"/>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3" name="Text 101"/>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4" name="Shape 102"/>
          <p:cNvSpPr/>
          <p:nvPr/>
        </p:nvSpPr>
        <p:spPr>
          <a:xfrm>
            <a:off x="9130284" y="2181823"/>
            <a:ext cx="45718" cy="102929"/>
          </a:xfrm>
          <a:prstGeom prst="rect">
            <a:avLst/>
          </a:prstGeom>
          <a:solidFill>
            <a:srgbClr val="12A566"/>
          </a:solidFill>
          <a:ln/>
        </p:spPr>
      </p:sp>
      <p:sp>
        <p:nvSpPr>
          <p:cNvPr id="105" name="Text 103"/>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6" name="Text 104"/>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07" name="Text 105"/>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8" name="Text 106"/>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30284" y="2405582"/>
            <a:ext cx="39446" cy="102929"/>
          </a:xfrm>
          <a:prstGeom prst="rect">
            <a:avLst/>
          </a:prstGeom>
          <a:solidFill>
            <a:srgbClr val="12A566"/>
          </a:solidFill>
          <a:ln/>
        </p:spPr>
      </p:sp>
      <p:sp>
        <p:nvSpPr>
          <p:cNvPr id="110" name="Text 108"/>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1" name="Text 109"/>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2" name="Text 110"/>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3" name="Text 111"/>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4" name="Shape 112"/>
          <p:cNvSpPr/>
          <p:nvPr/>
        </p:nvSpPr>
        <p:spPr>
          <a:xfrm>
            <a:off x="9130284" y="2629341"/>
            <a:ext cx="38729" cy="102929"/>
          </a:xfrm>
          <a:prstGeom prst="rect">
            <a:avLst/>
          </a:prstGeom>
          <a:solidFill>
            <a:srgbClr val="12A566"/>
          </a:solidFill>
          <a:ln/>
        </p:spPr>
      </p:sp>
      <p:sp>
        <p:nvSpPr>
          <p:cNvPr id="115" name="Text 113"/>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6" name="Text 114"/>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n/m</a:t>
            </a:r>
            <a:endParaRPr lang="en-US" sz="1200" dirty="0"/>
          </a:p>
        </p:txBody>
      </p:sp>
      <p:sp>
        <p:nvSpPr>
          <p:cNvPr id="117" name="Text 115"/>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9" name="Shape 117"/>
          <p:cNvSpPr/>
          <p:nvPr/>
        </p:nvSpPr>
        <p:spPr>
          <a:xfrm>
            <a:off x="9130284" y="2853100"/>
            <a:ext cx="21715" cy="102929"/>
          </a:xfrm>
          <a:prstGeom prst="rect">
            <a:avLst/>
          </a:prstGeom>
          <a:solidFill>
            <a:srgbClr val="12A566"/>
          </a:solidFill>
          <a:ln/>
        </p:spPr>
      </p:sp>
      <p:sp>
        <p:nvSpPr>
          <p:cNvPr id="120" name="Text 118"/>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1" name="Text 119"/>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2" name="Text 120"/>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9130284" y="3076859"/>
            <a:ext cx="21414" cy="102929"/>
          </a:xfrm>
          <a:prstGeom prst="rect">
            <a:avLst/>
          </a:prstGeom>
          <a:solidFill>
            <a:srgbClr val="12A566"/>
          </a:solidFill>
          <a:ln/>
        </p:spPr>
      </p:sp>
      <p:sp>
        <p:nvSpPr>
          <p:cNvPr id="125" name="Text 123"/>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6" name="Text 124"/>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27" name="Shape 125"/>
          <p:cNvSpPr/>
          <p:nvPr/>
        </p:nvSpPr>
        <p:spPr>
          <a:xfrm>
            <a:off x="11457432" y="3062164"/>
            <a:ext cx="54864" cy="132319"/>
          </a:xfrm>
          <a:prstGeom prst="rect">
            <a:avLst/>
          </a:prstGeom>
          <a:solidFill>
            <a:srgbClr val="12A566"/>
          </a:solidFill>
          <a:ln/>
        </p:spPr>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0" name="Shape 138"/>
          <p:cNvSpPr/>
          <p:nvPr/>
        </p:nvSpPr>
        <p:spPr>
          <a:xfrm>
            <a:off x="9099640" y="3748136"/>
            <a:ext cx="30644"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5" name="Shape 143"/>
          <p:cNvSpPr/>
          <p:nvPr/>
        </p:nvSpPr>
        <p:spPr>
          <a:xfrm>
            <a:off x="9095358" y="3971895"/>
            <a:ext cx="34926"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0" name="Shape 148"/>
          <p:cNvSpPr/>
          <p:nvPr/>
        </p:nvSpPr>
        <p:spPr>
          <a:xfrm>
            <a:off x="9091461" y="4195654"/>
            <a:ext cx="38823"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6" name="Shape 154"/>
          <p:cNvSpPr/>
          <p:nvPr/>
        </p:nvSpPr>
        <p:spPr>
          <a:xfrm>
            <a:off x="9071103" y="4419414"/>
            <a:ext cx="5918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1" name="Shape 159"/>
          <p:cNvSpPr/>
          <p:nvPr/>
        </p:nvSpPr>
        <p:spPr>
          <a:xfrm>
            <a:off x="9058567" y="4643173"/>
            <a:ext cx="71717"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6" name="Shape 164"/>
          <p:cNvSpPr/>
          <p:nvPr/>
        </p:nvSpPr>
        <p:spPr>
          <a:xfrm>
            <a:off x="9044670" y="4866932"/>
            <a:ext cx="85614"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2" name="Shape 170"/>
          <p:cNvSpPr/>
          <p:nvPr/>
        </p:nvSpPr>
        <p:spPr>
          <a:xfrm>
            <a:off x="9022168" y="5090691"/>
            <a:ext cx="108116"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45616" y="5314450"/>
            <a:ext cx="184668"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3" name="Shape 181"/>
          <p:cNvSpPr/>
          <p:nvPr/>
        </p:nvSpPr>
        <p:spPr>
          <a:xfrm>
            <a:off x="8870602" y="5538209"/>
            <a:ext cx="2596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grew fixed ops net profit. Toyota Henderson added the most at +$1.42M; Chevy LV fell most at −$643K.</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2026-10-24T21:55:32Z</dcterms:created>
  <dcterms:modified xsi:type="dcterms:W3CDTF">2026-10-24T21:55:32Z</dcterms:modified>
</cp:coreProperties>
</file>