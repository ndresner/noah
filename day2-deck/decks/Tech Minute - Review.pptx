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Value of a minute = each store's counted technicians' labor gross + parts gross per sold hour, divided by 60 (Qlik - Closed Repair Orders, all pay types, same rates as the proficiency opportunity slides). Tech-days = counted techs' worked hours (ADP) / 8 per day. Assumes each minute saved becomes a minute of flagged work. 583 counted technicians, same-store, INEOS excluded. Month = Dec 25, 2025 - Oct 9, 2026 / 9.49; year = month x 12.Talk track: staged parts delivered to the bay (Roundtable: 'Stage parts, deliver and retrieve'), dispatch with the next job ready, fast MPI approvals, tools and keys where they belong. Ten minutes a day is less than two parts-counter trips.
Assumption to say out loud: a minute saved only counts if it turns into flagged time, so the store needs the work waiting.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One minute a day per tech: Toyota Henderson $43,256 a year. Volvo techs are worth the most per minute at $4.99.Source: Value of a minute = each store's counted technicians' labor gross + parts gross per sold hour, divided by 60 (Qlik - Closed Repair Orders, all pay types, same rates as the proficiency opportunity slides). Tech-days = counted techs' worked hours (ADP) / 8 per day. Assumes each minute saved becomes a minute of flagged work. 583 counted technicians, same-store, INEOS excluded. Month = Dec 25, 2025 - Oct 9, 2026 / 9.49; year = month x 12. A year = one minute a day for every counted tech at the store, for a year. Per min = gross per tech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TECHNICIAN PROFICIENCY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 Tech Minute Is Worth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4572000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166360" y="1207008"/>
            <a:ext cx="656539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417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TECHNICIAN HOUR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17373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$188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5603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labor and parts gross, group average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3232" y="3063240"/>
            <a:ext cx="4069080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3246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TECHNICIAN MINUTE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5661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$3.13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" y="43891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$762 a year for each tech, one minute a day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22392" y="141732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MINUTES SAVED PER TECH, EVERY DAY · 583 TECHNICIANS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22392" y="1828800"/>
          <a:ext cx="6053328" cy="914400"/>
        </p:xfrm>
        <a:graphic>
          <a:graphicData uri="http://schemas.openxmlformats.org/drawingml/2006/table">
            <a:tbl>
              <a:tblPr/>
              <a:tblGrid>
                <a:gridCol w="2212848"/>
                <a:gridCol w="1920240"/>
                <a:gridCol w="19202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Minutes a day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month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C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year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C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 minute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$37K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$444K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 minutes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$185K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$2.22M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 minutes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$370K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$4.44M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7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 minutes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$555K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000" b="1" dirty="0">
                          <a:solidFill>
                            <a:srgbClr val="0B7A4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$6.67M</a:t>
                      </a:r>
                      <a:endParaRPr lang="en-US" sz="2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5422392" y="4434840"/>
            <a:ext cx="60533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minutes go: walking to the parts counter, waiting on dispatch or a customer approval, hunting for tools, chasing a key or a car.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57200" y="6126480"/>
            <a:ext cx="11274552" cy="36423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8368" y="6144768"/>
            <a:ext cx="109270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minute a day for every tech is worth $37,032 a month, $444,380 a year. No new techs, no new bays.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TECHNICIAN PROFICIENCY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a Tech Minute Is Worth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74720" y="1316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131673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13167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min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025128" y="1316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985248" y="1316736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716768" y="1316736"/>
            <a:ext cx="749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min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1700784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" y="1700784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71216" y="1761538"/>
            <a:ext cx="548640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74720" y="1700784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$43,256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1700784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1700784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$2.74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1970801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1970801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71216" y="2031555"/>
            <a:ext cx="428287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74720" y="1970801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$33,767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1970801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1970801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$2.71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" y="2240818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14984" y="2240818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871216" y="2301572"/>
            <a:ext cx="359802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474720" y="2240818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$28,367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434840" y="2240818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166360" y="2240818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$3.72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2510835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2510835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871216" y="2571589"/>
            <a:ext cx="345673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474720" y="2510835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$27,253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434840" y="2510835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166360" y="2510835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$4.69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58368" y="2780852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14984" y="2780852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871216" y="2841606"/>
            <a:ext cx="316030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474720" y="2780852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$24,916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4434840" y="2780852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166360" y="2780852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$3.06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050869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" y="3050869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871216" y="3111623"/>
            <a:ext cx="288890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474720" y="3050869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$22,777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4434840" y="3050869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5166360" y="3050869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$3.37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658368" y="3320886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1014984" y="3320886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871216" y="3381639"/>
            <a:ext cx="206935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474720" y="3320886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$16,315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4434840" y="3320886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5166360" y="3320886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$4.64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58368" y="3590903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1014984" y="3590903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871216" y="3651656"/>
            <a:ext cx="205982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3474720" y="3590903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$16,240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4434840" y="3590903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5166360" y="3590903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$2.93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58368" y="3860920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014984" y="3860920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2871216" y="3921673"/>
            <a:ext cx="193357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3474720" y="3860920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$15,245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4434840" y="3860920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5166360" y="3860920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$2.68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130936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1014984" y="4130936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871216" y="4191690"/>
            <a:ext cx="186973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3474720" y="4130936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$14,741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4434840" y="4130936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5166360" y="4130936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$3.47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658368" y="4400953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1014984" y="4400953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2871216" y="4461707"/>
            <a:ext cx="178245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3474720" y="4400953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$14,053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4434840" y="4400953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5166360" y="4400953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$3.06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658368" y="4670970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1014984" y="4670970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2871216" y="4731724"/>
            <a:ext cx="160884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3474720" y="4670970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$12,684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4434840" y="4670970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300" dirty="0"/>
          </a:p>
        </p:txBody>
      </p:sp>
      <p:sp>
        <p:nvSpPr>
          <p:cNvPr id="83" name="Text 81"/>
          <p:cNvSpPr txBox="1"/>
          <p:nvPr/>
        </p:nvSpPr>
        <p:spPr>
          <a:xfrm>
            <a:off x="5166360" y="4670970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$2.41</a:t>
            </a:r>
            <a:endParaRPr lang="en-US" sz="1300" dirty="0"/>
          </a:p>
        </p:txBody>
      </p:sp>
      <p:sp>
        <p:nvSpPr>
          <p:cNvPr id="84" name="Text 82"/>
          <p:cNvSpPr txBox="1"/>
          <p:nvPr/>
        </p:nvSpPr>
        <p:spPr>
          <a:xfrm>
            <a:off x="658368" y="4940987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1014984" y="4940987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2871216" y="5001741"/>
            <a:ext cx="159478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3474720" y="4940987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$12,574</a:t>
            </a:r>
            <a:endParaRPr lang="en-US" sz="1300" dirty="0"/>
          </a:p>
        </p:txBody>
      </p:sp>
      <p:sp>
        <p:nvSpPr>
          <p:cNvPr id="88" name="Text 86"/>
          <p:cNvSpPr txBox="1"/>
          <p:nvPr/>
        </p:nvSpPr>
        <p:spPr>
          <a:xfrm>
            <a:off x="4434840" y="4940987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5166360" y="4940987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$2.93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658368" y="5211004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1014984" y="5211004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2871216" y="5271758"/>
            <a:ext cx="156386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3474720" y="5211004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$12,330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4434840" y="5211004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300" dirty="0"/>
          </a:p>
        </p:txBody>
      </p:sp>
      <p:sp>
        <p:nvSpPr>
          <p:cNvPr id="95" name="Text 93"/>
          <p:cNvSpPr txBox="1"/>
          <p:nvPr/>
        </p:nvSpPr>
        <p:spPr>
          <a:xfrm>
            <a:off x="5166360" y="5211004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$2.50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658368" y="5481021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1014984" y="5481021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2871216" y="5541775"/>
            <a:ext cx="151472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3474720" y="5481021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$11,942</a:t>
            </a:r>
            <a:endParaRPr lang="en-US" sz="1300" dirty="0"/>
          </a:p>
        </p:txBody>
      </p:sp>
      <p:sp>
        <p:nvSpPr>
          <p:cNvPr id="100" name="Text 98"/>
          <p:cNvSpPr txBox="1"/>
          <p:nvPr/>
        </p:nvSpPr>
        <p:spPr>
          <a:xfrm>
            <a:off x="4434840" y="5481021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300" dirty="0"/>
          </a:p>
        </p:txBody>
      </p:sp>
      <p:sp>
        <p:nvSpPr>
          <p:cNvPr id="101" name="Text 99"/>
          <p:cNvSpPr txBox="1"/>
          <p:nvPr/>
        </p:nvSpPr>
        <p:spPr>
          <a:xfrm>
            <a:off x="5166360" y="5481021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$2.75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658368" y="5751038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1014984" y="5751038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2871216" y="5811792"/>
            <a:ext cx="144704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3474720" y="5751038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$11,409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4434840" y="5751038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sp>
        <p:nvSpPr>
          <p:cNvPr id="107" name="Text 105"/>
          <p:cNvSpPr txBox="1"/>
          <p:nvPr/>
        </p:nvSpPr>
        <p:spPr>
          <a:xfrm>
            <a:off x="5166360" y="5751038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$4.99</a:t>
            </a:r>
            <a:endParaRPr lang="en-US" sz="1300" dirty="0"/>
          </a:p>
        </p:txBody>
      </p:sp>
      <p:sp>
        <p:nvSpPr>
          <p:cNvPr id="108" name="Text 106"/>
          <p:cNvSpPr txBox="1"/>
          <p:nvPr/>
        </p:nvSpPr>
        <p:spPr>
          <a:xfrm>
            <a:off x="658368" y="6021055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1014984" y="6021055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2871216" y="6081809"/>
            <a:ext cx="136953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3474720" y="6021055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$10,798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4434840" y="6021055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300" dirty="0"/>
          </a:p>
        </p:txBody>
      </p:sp>
      <p:sp>
        <p:nvSpPr>
          <p:cNvPr id="113" name="Text 111"/>
          <p:cNvSpPr txBox="1"/>
          <p:nvPr/>
        </p:nvSpPr>
        <p:spPr>
          <a:xfrm>
            <a:off x="5166360" y="6021055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$4.06</a:t>
            </a: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6208776" y="1700784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6565392" y="1700784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16" name="Shape 114"/>
          <p:cNvSpPr/>
          <p:nvPr/>
        </p:nvSpPr>
        <p:spPr>
          <a:xfrm>
            <a:off x="8421624" y="1761538"/>
            <a:ext cx="129525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7" name="Text 115"/>
          <p:cNvSpPr txBox="1"/>
          <p:nvPr/>
        </p:nvSpPr>
        <p:spPr>
          <a:xfrm>
            <a:off x="9025128" y="1700784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$10,212</a:t>
            </a:r>
            <a:endParaRPr lang="en-US" sz="1300" dirty="0"/>
          </a:p>
        </p:txBody>
      </p:sp>
      <p:sp>
        <p:nvSpPr>
          <p:cNvPr id="118" name="Text 116"/>
          <p:cNvSpPr txBox="1"/>
          <p:nvPr/>
        </p:nvSpPr>
        <p:spPr>
          <a:xfrm>
            <a:off x="9985248" y="1700784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300" dirty="0"/>
          </a:p>
        </p:txBody>
      </p:sp>
      <p:sp>
        <p:nvSpPr>
          <p:cNvPr id="119" name="Text 117"/>
          <p:cNvSpPr txBox="1"/>
          <p:nvPr/>
        </p:nvSpPr>
        <p:spPr>
          <a:xfrm>
            <a:off x="10716768" y="1700784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$3.17</a:t>
            </a:r>
            <a:endParaRPr lang="en-US" sz="1300" dirty="0"/>
          </a:p>
        </p:txBody>
      </p:sp>
      <p:sp>
        <p:nvSpPr>
          <p:cNvPr id="120" name="Text 118"/>
          <p:cNvSpPr txBox="1"/>
          <p:nvPr/>
        </p:nvSpPr>
        <p:spPr>
          <a:xfrm>
            <a:off x="6208776" y="1970801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565392" y="1970801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8421624" y="2031555"/>
            <a:ext cx="116104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9025128" y="1970801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$9,154</a:t>
            </a:r>
            <a:endParaRPr lang="en-US" sz="1300" dirty="0"/>
          </a:p>
        </p:txBody>
      </p:sp>
      <p:sp>
        <p:nvSpPr>
          <p:cNvPr id="124" name="Text 122"/>
          <p:cNvSpPr txBox="1"/>
          <p:nvPr/>
        </p:nvSpPr>
        <p:spPr>
          <a:xfrm>
            <a:off x="9985248" y="1970801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300" dirty="0"/>
          </a:p>
        </p:txBody>
      </p:sp>
      <p:sp>
        <p:nvSpPr>
          <p:cNvPr id="125" name="Text 123"/>
          <p:cNvSpPr txBox="1"/>
          <p:nvPr/>
        </p:nvSpPr>
        <p:spPr>
          <a:xfrm>
            <a:off x="10716768" y="1970801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$3.27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6208776" y="2240818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6565392" y="2240818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128" name="Shape 126"/>
          <p:cNvSpPr/>
          <p:nvPr/>
        </p:nvSpPr>
        <p:spPr>
          <a:xfrm>
            <a:off x="8421624" y="2301572"/>
            <a:ext cx="111671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9025128" y="2240818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$8,804</a:t>
            </a:r>
            <a:endParaRPr lang="en-US" sz="1300" dirty="0"/>
          </a:p>
        </p:txBody>
      </p:sp>
      <p:sp>
        <p:nvSpPr>
          <p:cNvPr id="130" name="Text 128"/>
          <p:cNvSpPr txBox="1"/>
          <p:nvPr/>
        </p:nvSpPr>
        <p:spPr>
          <a:xfrm>
            <a:off x="9985248" y="2240818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300" dirty="0"/>
          </a:p>
        </p:txBody>
      </p:sp>
      <p:sp>
        <p:nvSpPr>
          <p:cNvPr id="131" name="Text 129"/>
          <p:cNvSpPr txBox="1"/>
          <p:nvPr/>
        </p:nvSpPr>
        <p:spPr>
          <a:xfrm>
            <a:off x="10716768" y="2240818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$3.45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6208776" y="2510835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6565392" y="2510835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134" name="Shape 132"/>
          <p:cNvSpPr/>
          <p:nvPr/>
        </p:nvSpPr>
        <p:spPr>
          <a:xfrm>
            <a:off x="8421624" y="2571589"/>
            <a:ext cx="107204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35" name="Text 133"/>
          <p:cNvSpPr txBox="1"/>
          <p:nvPr/>
        </p:nvSpPr>
        <p:spPr>
          <a:xfrm>
            <a:off x="9025128" y="2510835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$8,452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9985248" y="2510835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300" dirty="0"/>
          </a:p>
        </p:txBody>
      </p:sp>
      <p:sp>
        <p:nvSpPr>
          <p:cNvPr id="137" name="Text 135"/>
          <p:cNvSpPr txBox="1"/>
          <p:nvPr/>
        </p:nvSpPr>
        <p:spPr>
          <a:xfrm>
            <a:off x="10716768" y="2510835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$2.80</a:t>
            </a:r>
            <a:endParaRPr lang="en-US" sz="1300" dirty="0"/>
          </a:p>
        </p:txBody>
      </p:sp>
      <p:sp>
        <p:nvSpPr>
          <p:cNvPr id="138" name="Text 136"/>
          <p:cNvSpPr txBox="1"/>
          <p:nvPr/>
        </p:nvSpPr>
        <p:spPr>
          <a:xfrm>
            <a:off x="6208776" y="2780852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39" name="Text 137"/>
          <p:cNvSpPr txBox="1"/>
          <p:nvPr/>
        </p:nvSpPr>
        <p:spPr>
          <a:xfrm>
            <a:off x="6565392" y="2780852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140" name="Shape 138"/>
          <p:cNvSpPr/>
          <p:nvPr/>
        </p:nvSpPr>
        <p:spPr>
          <a:xfrm>
            <a:off x="8421624" y="2841606"/>
            <a:ext cx="105090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41" name="Text 139"/>
          <p:cNvSpPr txBox="1"/>
          <p:nvPr/>
        </p:nvSpPr>
        <p:spPr>
          <a:xfrm>
            <a:off x="9025128" y="2780852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$8,285</a:t>
            </a:r>
            <a:endParaRPr lang="en-US" sz="1300" dirty="0"/>
          </a:p>
        </p:txBody>
      </p:sp>
      <p:sp>
        <p:nvSpPr>
          <p:cNvPr id="142" name="Text 140"/>
          <p:cNvSpPr txBox="1"/>
          <p:nvPr/>
        </p:nvSpPr>
        <p:spPr>
          <a:xfrm>
            <a:off x="9985248" y="2780852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300" dirty="0"/>
          </a:p>
        </p:txBody>
      </p:sp>
      <p:sp>
        <p:nvSpPr>
          <p:cNvPr id="143" name="Text 141"/>
          <p:cNvSpPr txBox="1"/>
          <p:nvPr/>
        </p:nvSpPr>
        <p:spPr>
          <a:xfrm>
            <a:off x="10716768" y="2780852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$3.84</a:t>
            </a:r>
            <a:endParaRPr lang="en-US" sz="1300" dirty="0"/>
          </a:p>
        </p:txBody>
      </p:sp>
      <p:sp>
        <p:nvSpPr>
          <p:cNvPr id="144" name="Text 142"/>
          <p:cNvSpPr txBox="1"/>
          <p:nvPr/>
        </p:nvSpPr>
        <p:spPr>
          <a:xfrm>
            <a:off x="6208776" y="3050869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6565392" y="3050869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146" name="Shape 144"/>
          <p:cNvSpPr/>
          <p:nvPr/>
        </p:nvSpPr>
        <p:spPr>
          <a:xfrm>
            <a:off x="8421624" y="3111623"/>
            <a:ext cx="102344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47" name="Text 145"/>
          <p:cNvSpPr txBox="1"/>
          <p:nvPr/>
        </p:nvSpPr>
        <p:spPr>
          <a:xfrm>
            <a:off x="9025128" y="3050869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$8,069</a:t>
            </a:r>
            <a:endParaRPr lang="en-US" sz="1300" dirty="0"/>
          </a:p>
        </p:txBody>
      </p:sp>
      <p:sp>
        <p:nvSpPr>
          <p:cNvPr id="148" name="Text 146"/>
          <p:cNvSpPr txBox="1"/>
          <p:nvPr/>
        </p:nvSpPr>
        <p:spPr>
          <a:xfrm>
            <a:off x="9985248" y="3050869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300" dirty="0"/>
          </a:p>
        </p:txBody>
      </p:sp>
      <p:sp>
        <p:nvSpPr>
          <p:cNvPr id="149" name="Text 147"/>
          <p:cNvSpPr txBox="1"/>
          <p:nvPr/>
        </p:nvSpPr>
        <p:spPr>
          <a:xfrm>
            <a:off x="10716768" y="3050869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$3.03</a:t>
            </a:r>
            <a:endParaRPr lang="en-US" sz="1300" dirty="0"/>
          </a:p>
        </p:txBody>
      </p:sp>
      <p:sp>
        <p:nvSpPr>
          <p:cNvPr id="150" name="Text 148"/>
          <p:cNvSpPr txBox="1"/>
          <p:nvPr/>
        </p:nvSpPr>
        <p:spPr>
          <a:xfrm>
            <a:off x="6208776" y="3320886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51" name="Text 149"/>
          <p:cNvSpPr txBox="1"/>
          <p:nvPr/>
        </p:nvSpPr>
        <p:spPr>
          <a:xfrm>
            <a:off x="6565392" y="3320886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52" name="Shape 150"/>
          <p:cNvSpPr/>
          <p:nvPr/>
        </p:nvSpPr>
        <p:spPr>
          <a:xfrm>
            <a:off x="8421624" y="3381639"/>
            <a:ext cx="95727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53" name="Text 151"/>
          <p:cNvSpPr txBox="1"/>
          <p:nvPr/>
        </p:nvSpPr>
        <p:spPr>
          <a:xfrm>
            <a:off x="9025128" y="3320886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$7,547</a:t>
            </a:r>
            <a:endParaRPr lang="en-US" sz="1300" dirty="0"/>
          </a:p>
        </p:txBody>
      </p:sp>
      <p:sp>
        <p:nvSpPr>
          <p:cNvPr id="154" name="Text 152"/>
          <p:cNvSpPr txBox="1"/>
          <p:nvPr/>
        </p:nvSpPr>
        <p:spPr>
          <a:xfrm>
            <a:off x="9985248" y="3320886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300" dirty="0"/>
          </a:p>
        </p:txBody>
      </p:sp>
      <p:sp>
        <p:nvSpPr>
          <p:cNvPr id="155" name="Text 153"/>
          <p:cNvSpPr txBox="1"/>
          <p:nvPr/>
        </p:nvSpPr>
        <p:spPr>
          <a:xfrm>
            <a:off x="10716768" y="3320886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$3.53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6208776" y="3590903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57" name="Text 155"/>
          <p:cNvSpPr txBox="1"/>
          <p:nvPr/>
        </p:nvSpPr>
        <p:spPr>
          <a:xfrm>
            <a:off x="6565392" y="3590903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158" name="Shape 156"/>
          <p:cNvSpPr/>
          <p:nvPr/>
        </p:nvSpPr>
        <p:spPr>
          <a:xfrm>
            <a:off x="8421624" y="3651656"/>
            <a:ext cx="93782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59" name="Text 157"/>
          <p:cNvSpPr txBox="1"/>
          <p:nvPr/>
        </p:nvSpPr>
        <p:spPr>
          <a:xfrm>
            <a:off x="9025128" y="3590903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$7,394</a:t>
            </a:r>
            <a:endParaRPr lang="en-US" sz="1300" dirty="0"/>
          </a:p>
        </p:txBody>
      </p:sp>
      <p:sp>
        <p:nvSpPr>
          <p:cNvPr id="160" name="Text 158"/>
          <p:cNvSpPr txBox="1"/>
          <p:nvPr/>
        </p:nvSpPr>
        <p:spPr>
          <a:xfrm>
            <a:off x="9985248" y="3590903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10716768" y="3590903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$3.27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6208776" y="3860920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63" name="Text 161"/>
          <p:cNvSpPr txBox="1"/>
          <p:nvPr/>
        </p:nvSpPr>
        <p:spPr>
          <a:xfrm>
            <a:off x="6565392" y="3860920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64" name="Shape 162"/>
          <p:cNvSpPr/>
          <p:nvPr/>
        </p:nvSpPr>
        <p:spPr>
          <a:xfrm>
            <a:off x="8421624" y="3921673"/>
            <a:ext cx="91945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65" name="Text 163"/>
          <p:cNvSpPr txBox="1"/>
          <p:nvPr/>
        </p:nvSpPr>
        <p:spPr>
          <a:xfrm>
            <a:off x="9025128" y="3860920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$7,249</a:t>
            </a:r>
            <a:endParaRPr lang="en-US" sz="1300" dirty="0"/>
          </a:p>
        </p:txBody>
      </p:sp>
      <p:sp>
        <p:nvSpPr>
          <p:cNvPr id="166" name="Text 164"/>
          <p:cNvSpPr txBox="1"/>
          <p:nvPr/>
        </p:nvSpPr>
        <p:spPr>
          <a:xfrm>
            <a:off x="9985248" y="3860920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10716768" y="3860920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$2.59</a:t>
            </a:r>
            <a:endParaRPr lang="en-US" sz="1300" dirty="0"/>
          </a:p>
        </p:txBody>
      </p:sp>
      <p:sp>
        <p:nvSpPr>
          <p:cNvPr id="168" name="Text 166"/>
          <p:cNvSpPr txBox="1"/>
          <p:nvPr/>
        </p:nvSpPr>
        <p:spPr>
          <a:xfrm>
            <a:off x="6208776" y="4130936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69" name="Text 167"/>
          <p:cNvSpPr txBox="1"/>
          <p:nvPr/>
        </p:nvSpPr>
        <p:spPr>
          <a:xfrm>
            <a:off x="6565392" y="4130936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70" name="Shape 168"/>
          <p:cNvSpPr/>
          <p:nvPr/>
        </p:nvSpPr>
        <p:spPr>
          <a:xfrm>
            <a:off x="8421624" y="4191690"/>
            <a:ext cx="91642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71" name="Text 169"/>
          <p:cNvSpPr txBox="1"/>
          <p:nvPr/>
        </p:nvSpPr>
        <p:spPr>
          <a:xfrm>
            <a:off x="9025128" y="4130936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$7,225</a:t>
            </a:r>
            <a:endParaRPr lang="en-US" sz="1300" dirty="0"/>
          </a:p>
        </p:txBody>
      </p:sp>
      <p:sp>
        <p:nvSpPr>
          <p:cNvPr id="172" name="Text 170"/>
          <p:cNvSpPr txBox="1"/>
          <p:nvPr/>
        </p:nvSpPr>
        <p:spPr>
          <a:xfrm>
            <a:off x="9985248" y="4130936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300" dirty="0"/>
          </a:p>
        </p:txBody>
      </p:sp>
      <p:sp>
        <p:nvSpPr>
          <p:cNvPr id="173" name="Text 171"/>
          <p:cNvSpPr txBox="1"/>
          <p:nvPr/>
        </p:nvSpPr>
        <p:spPr>
          <a:xfrm>
            <a:off x="10716768" y="4130936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$2.83</a:t>
            </a:r>
            <a:endParaRPr lang="en-US" sz="1300" dirty="0"/>
          </a:p>
        </p:txBody>
      </p:sp>
      <p:sp>
        <p:nvSpPr>
          <p:cNvPr id="174" name="Text 172"/>
          <p:cNvSpPr txBox="1"/>
          <p:nvPr/>
        </p:nvSpPr>
        <p:spPr>
          <a:xfrm>
            <a:off x="6208776" y="4400953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75" name="Text 173"/>
          <p:cNvSpPr txBox="1"/>
          <p:nvPr/>
        </p:nvSpPr>
        <p:spPr>
          <a:xfrm>
            <a:off x="6565392" y="4400953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176" name="Shape 174"/>
          <p:cNvSpPr/>
          <p:nvPr/>
        </p:nvSpPr>
        <p:spPr>
          <a:xfrm>
            <a:off x="8421624" y="4461707"/>
            <a:ext cx="90578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77" name="Text 175"/>
          <p:cNvSpPr txBox="1"/>
          <p:nvPr/>
        </p:nvSpPr>
        <p:spPr>
          <a:xfrm>
            <a:off x="9025128" y="4400953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$7,141</a:t>
            </a:r>
            <a:endParaRPr lang="en-US" sz="1300" dirty="0"/>
          </a:p>
        </p:txBody>
      </p:sp>
      <p:sp>
        <p:nvSpPr>
          <p:cNvPr id="178" name="Text 176"/>
          <p:cNvSpPr txBox="1"/>
          <p:nvPr/>
        </p:nvSpPr>
        <p:spPr>
          <a:xfrm>
            <a:off x="9985248" y="4400953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300" dirty="0"/>
          </a:p>
        </p:txBody>
      </p:sp>
      <p:sp>
        <p:nvSpPr>
          <p:cNvPr id="179" name="Text 177"/>
          <p:cNvSpPr txBox="1"/>
          <p:nvPr/>
        </p:nvSpPr>
        <p:spPr>
          <a:xfrm>
            <a:off x="10716768" y="4400953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$4.17</a:t>
            </a:r>
            <a:endParaRPr lang="en-US" sz="1300" dirty="0"/>
          </a:p>
        </p:txBody>
      </p:sp>
      <p:sp>
        <p:nvSpPr>
          <p:cNvPr id="180" name="Text 178"/>
          <p:cNvSpPr txBox="1"/>
          <p:nvPr/>
        </p:nvSpPr>
        <p:spPr>
          <a:xfrm>
            <a:off x="6208776" y="4670970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81" name="Text 179"/>
          <p:cNvSpPr txBox="1"/>
          <p:nvPr/>
        </p:nvSpPr>
        <p:spPr>
          <a:xfrm>
            <a:off x="6565392" y="4670970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182" name="Shape 180"/>
          <p:cNvSpPr/>
          <p:nvPr/>
        </p:nvSpPr>
        <p:spPr>
          <a:xfrm>
            <a:off x="8421624" y="4731724"/>
            <a:ext cx="83490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83" name="Text 181"/>
          <p:cNvSpPr txBox="1"/>
          <p:nvPr/>
        </p:nvSpPr>
        <p:spPr>
          <a:xfrm>
            <a:off x="9025128" y="4670970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$6,583</a:t>
            </a:r>
            <a:endParaRPr lang="en-US" sz="1300" dirty="0"/>
          </a:p>
        </p:txBody>
      </p:sp>
      <p:sp>
        <p:nvSpPr>
          <p:cNvPr id="184" name="Text 182"/>
          <p:cNvSpPr txBox="1"/>
          <p:nvPr/>
        </p:nvSpPr>
        <p:spPr>
          <a:xfrm>
            <a:off x="9985248" y="4670970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185" name="Text 183"/>
          <p:cNvSpPr txBox="1"/>
          <p:nvPr/>
        </p:nvSpPr>
        <p:spPr>
          <a:xfrm>
            <a:off x="10716768" y="4670970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$4.49</a:t>
            </a:r>
            <a:endParaRPr lang="en-US" sz="1300" dirty="0"/>
          </a:p>
        </p:txBody>
      </p:sp>
      <p:sp>
        <p:nvSpPr>
          <p:cNvPr id="186" name="Text 184"/>
          <p:cNvSpPr txBox="1"/>
          <p:nvPr/>
        </p:nvSpPr>
        <p:spPr>
          <a:xfrm>
            <a:off x="6208776" y="4940987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87" name="Text 185"/>
          <p:cNvSpPr txBox="1"/>
          <p:nvPr/>
        </p:nvSpPr>
        <p:spPr>
          <a:xfrm>
            <a:off x="6565392" y="4940987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88" name="Shape 186"/>
          <p:cNvSpPr/>
          <p:nvPr/>
        </p:nvSpPr>
        <p:spPr>
          <a:xfrm>
            <a:off x="8421624" y="5001741"/>
            <a:ext cx="82594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89" name="Text 187"/>
          <p:cNvSpPr txBox="1"/>
          <p:nvPr/>
        </p:nvSpPr>
        <p:spPr>
          <a:xfrm>
            <a:off x="9025128" y="4940987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$6,512</a:t>
            </a:r>
            <a:endParaRPr lang="en-US" sz="1300" dirty="0"/>
          </a:p>
        </p:txBody>
      </p:sp>
      <p:sp>
        <p:nvSpPr>
          <p:cNvPr id="190" name="Text 188"/>
          <p:cNvSpPr txBox="1"/>
          <p:nvPr/>
        </p:nvSpPr>
        <p:spPr>
          <a:xfrm>
            <a:off x="9985248" y="4940987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300" dirty="0"/>
          </a:p>
        </p:txBody>
      </p:sp>
      <p:sp>
        <p:nvSpPr>
          <p:cNvPr id="191" name="Text 189"/>
          <p:cNvSpPr txBox="1"/>
          <p:nvPr/>
        </p:nvSpPr>
        <p:spPr>
          <a:xfrm>
            <a:off x="10716768" y="4940987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$2.76</a:t>
            </a:r>
            <a:endParaRPr lang="en-US" sz="1300" dirty="0"/>
          </a:p>
        </p:txBody>
      </p:sp>
      <p:sp>
        <p:nvSpPr>
          <p:cNvPr id="192" name="Text 190"/>
          <p:cNvSpPr txBox="1"/>
          <p:nvPr/>
        </p:nvSpPr>
        <p:spPr>
          <a:xfrm>
            <a:off x="6208776" y="5211004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93" name="Text 191"/>
          <p:cNvSpPr txBox="1"/>
          <p:nvPr/>
        </p:nvSpPr>
        <p:spPr>
          <a:xfrm>
            <a:off x="6565392" y="5211004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94" name="Shape 192"/>
          <p:cNvSpPr/>
          <p:nvPr/>
        </p:nvSpPr>
        <p:spPr>
          <a:xfrm>
            <a:off x="8421624" y="5271758"/>
            <a:ext cx="67141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95" name="Text 193"/>
          <p:cNvSpPr txBox="1"/>
          <p:nvPr/>
        </p:nvSpPr>
        <p:spPr>
          <a:xfrm>
            <a:off x="9025128" y="5211004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$5,294</a:t>
            </a:r>
            <a:endParaRPr lang="en-US" sz="1300" dirty="0"/>
          </a:p>
        </p:txBody>
      </p:sp>
      <p:sp>
        <p:nvSpPr>
          <p:cNvPr id="196" name="Text 194"/>
          <p:cNvSpPr txBox="1"/>
          <p:nvPr/>
        </p:nvSpPr>
        <p:spPr>
          <a:xfrm>
            <a:off x="9985248" y="5211004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300" dirty="0"/>
          </a:p>
        </p:txBody>
      </p:sp>
      <p:sp>
        <p:nvSpPr>
          <p:cNvPr id="197" name="Text 195"/>
          <p:cNvSpPr txBox="1"/>
          <p:nvPr/>
        </p:nvSpPr>
        <p:spPr>
          <a:xfrm>
            <a:off x="10716768" y="5211004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$2.90</a:t>
            </a:r>
            <a:endParaRPr lang="en-US" sz="1300" dirty="0"/>
          </a:p>
        </p:txBody>
      </p:sp>
      <p:sp>
        <p:nvSpPr>
          <p:cNvPr id="198" name="Text 196"/>
          <p:cNvSpPr txBox="1"/>
          <p:nvPr/>
        </p:nvSpPr>
        <p:spPr>
          <a:xfrm>
            <a:off x="6208776" y="5481021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99" name="Text 197"/>
          <p:cNvSpPr txBox="1"/>
          <p:nvPr/>
        </p:nvSpPr>
        <p:spPr>
          <a:xfrm>
            <a:off x="6565392" y="5481021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200" name="Shape 198"/>
          <p:cNvSpPr/>
          <p:nvPr/>
        </p:nvSpPr>
        <p:spPr>
          <a:xfrm>
            <a:off x="8421624" y="5541775"/>
            <a:ext cx="54968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01" name="Text 199"/>
          <p:cNvSpPr txBox="1"/>
          <p:nvPr/>
        </p:nvSpPr>
        <p:spPr>
          <a:xfrm>
            <a:off x="9025128" y="5481021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$4,334</a:t>
            </a:r>
            <a:endParaRPr lang="en-US" sz="1300" dirty="0"/>
          </a:p>
        </p:txBody>
      </p:sp>
      <p:sp>
        <p:nvSpPr>
          <p:cNvPr id="202" name="Text 200"/>
          <p:cNvSpPr txBox="1"/>
          <p:nvPr/>
        </p:nvSpPr>
        <p:spPr>
          <a:xfrm>
            <a:off x="9985248" y="5481021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300" dirty="0"/>
          </a:p>
        </p:txBody>
      </p:sp>
      <p:sp>
        <p:nvSpPr>
          <p:cNvPr id="203" name="Text 201"/>
          <p:cNvSpPr txBox="1"/>
          <p:nvPr/>
        </p:nvSpPr>
        <p:spPr>
          <a:xfrm>
            <a:off x="10716768" y="5481021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$2.82</a:t>
            </a:r>
            <a:endParaRPr lang="en-US" sz="1300" dirty="0"/>
          </a:p>
        </p:txBody>
      </p:sp>
      <p:sp>
        <p:nvSpPr>
          <p:cNvPr id="204" name="Text 202"/>
          <p:cNvSpPr txBox="1"/>
          <p:nvPr/>
        </p:nvSpPr>
        <p:spPr>
          <a:xfrm>
            <a:off x="6208776" y="5751038"/>
            <a:ext cx="310896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205" name="Text 203"/>
          <p:cNvSpPr txBox="1"/>
          <p:nvPr/>
        </p:nvSpPr>
        <p:spPr>
          <a:xfrm>
            <a:off x="6565392" y="5751038"/>
            <a:ext cx="178308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206" name="Shape 204"/>
          <p:cNvSpPr/>
          <p:nvPr/>
        </p:nvSpPr>
        <p:spPr>
          <a:xfrm>
            <a:off x="8421624" y="5811792"/>
            <a:ext cx="43862" cy="14850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07" name="Text 205"/>
          <p:cNvSpPr txBox="1"/>
          <p:nvPr/>
        </p:nvSpPr>
        <p:spPr>
          <a:xfrm>
            <a:off x="9025128" y="5751038"/>
            <a:ext cx="9601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$3,458</a:t>
            </a:r>
            <a:endParaRPr lang="en-US" sz="1300" dirty="0"/>
          </a:p>
        </p:txBody>
      </p:sp>
      <p:sp>
        <p:nvSpPr>
          <p:cNvPr id="208" name="Text 206"/>
          <p:cNvSpPr txBox="1"/>
          <p:nvPr/>
        </p:nvSpPr>
        <p:spPr>
          <a:xfrm>
            <a:off x="9985248" y="5751038"/>
            <a:ext cx="731520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209" name="Text 207"/>
          <p:cNvSpPr txBox="1"/>
          <p:nvPr/>
        </p:nvSpPr>
        <p:spPr>
          <a:xfrm>
            <a:off x="10716768" y="5751038"/>
            <a:ext cx="749808" cy="2700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$2.85</a:t>
            </a:r>
            <a:endParaRPr lang="en-US" sz="1300" dirty="0"/>
          </a:p>
        </p:txBody>
      </p:sp>
      <p:sp>
        <p:nvSpPr>
          <p:cNvPr id="210" name="Shape 208"/>
          <p:cNvSpPr/>
          <p:nvPr/>
        </p:nvSpPr>
        <p:spPr>
          <a:xfrm>
            <a:off x="6085332" y="1700784"/>
            <a:ext cx="10973" cy="4590288"/>
          </a:xfrm>
          <a:prstGeom prst="rect">
            <a:avLst/>
          </a:prstGeom>
          <a:solidFill>
            <a:srgbClr val="D9D9D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2026-10-27T21:57:50Z</dcterms:created>
  <dcterms:modified xsi:type="dcterms:W3CDTF">2026-10-27T21:57:50Z</dcterms:modified>
</cp:coreProperties>
</file>