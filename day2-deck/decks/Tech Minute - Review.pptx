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12.Talk track: staged parts delivered to the bay (Roundtable: 'Stage parts, deliver and retrieve'), dispatch with the next job ready, fast MPI approvals, tools and keys where they belong. Ten minutes a day is less than two parts-counter trips.
Assumption to say out loud: a minute saved only counts if it turns into flagged time, so the store needs the work waiting.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One minute a day per tech: Toyota Henderson $43,256 a year. Volvo techs are worth the most per minute at $4.99.Source: Value of a minute = each store's counted technicians' labor gross + parts gross per sold hour, divided by 60 (Qlik - Closed Repair Orders, all pay types, same rates as the proficiency opportunity slides). Tech-days = counted techs' worked hours (ADP) / 8 per day. Assumes each minute saved becomes a minute of flagged work. 583 counted technicians, same-store, INEOS excluded. Month = Dec 25, 2025 - Oct 9, 2026 / 9.49; year = month x 12. A year = one minute a day for every counted tech at the store, for a year. Per min = gross per tech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4572000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166360" y="1207008"/>
            <a:ext cx="656539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HOUR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17373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$188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13232" y="256032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labor and parts gross, group average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063240"/>
            <a:ext cx="4069080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3246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TECHNICIAN MINUTE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$3.13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8912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About $762 a year for each tech, one minute a day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22392" y="1417320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 SAVED PER TECH, EVERY DAY · 583 TECHNICIANS</a:t>
            </a:r>
            <a:endParaRPr lang="en-US" sz="14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22392" y="1828800"/>
          <a:ext cx="6053328" cy="914400"/>
        </p:xfrm>
        <a:graphic>
          <a:graphicData uri="http://schemas.openxmlformats.org/drawingml/2006/table">
            <a:tbl>
              <a:tblPr/>
              <a:tblGrid>
                <a:gridCol w="2212848"/>
                <a:gridCol w="1920240"/>
                <a:gridCol w="19202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 a day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month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year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C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minute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$444K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$185K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$2.22M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10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$370K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$4.44M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minutes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$555K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000" b="1" dirty="0">
                          <a:solidFill>
                            <a:srgbClr val="0B7A4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$6.67M</a:t>
                      </a:r>
                      <a:endParaRPr lang="en-US" sz="2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109728" marR="109728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5422392" y="4434840"/>
            <a:ext cx="605332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minutes go: walking to the parts counter, waiting on dispatch or a customer approval, hunting for tools, chasing a key or a car.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minute a day for every tech is worth $37,032 a month, $444,380 a year. No new techs, no new bays.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 Tech Minute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474720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34840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25128" y="131673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year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8524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min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61538"/>
            <a:ext cx="54864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474720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$43,256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34840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31555"/>
            <a:ext cx="42828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474720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$33,767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34840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51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301572"/>
            <a:ext cx="35980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$28,367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34840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$3.72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71589"/>
            <a:ext cx="3456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474720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$27,253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34840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$4.69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841606"/>
            <a:ext cx="31603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474720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$24,916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34840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3111623"/>
            <a:ext cx="2888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474720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$22,777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34840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$3.37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381639"/>
            <a:ext cx="20693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474720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$16,315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34840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$4.64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651656"/>
            <a:ext cx="2059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474720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$16,240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34840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921673"/>
            <a:ext cx="19335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474720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$15,245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34840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$2.68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4191690"/>
            <a:ext cx="18697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474720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$14,741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34840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$3.47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461707"/>
            <a:ext cx="1782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474720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$14,053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34840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$3.06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731724"/>
            <a:ext cx="16088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474720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$12,684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34840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$2.41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5001741"/>
            <a:ext cx="1594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474720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$12,574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34840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$2.93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5271758"/>
            <a:ext cx="156386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474720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$12,330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34840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$2.50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541775"/>
            <a:ext cx="15147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474720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$11,942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34840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$2.75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811792"/>
            <a:ext cx="1447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474720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$11,409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34840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$4.99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602105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602105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6081809"/>
            <a:ext cx="136953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474720" y="602105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$10,798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34840" y="602105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602105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$4.06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61538"/>
            <a:ext cx="12952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25128" y="170078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$10,212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85248" y="170078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$3.17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7080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7080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31555"/>
            <a:ext cx="1161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25128" y="197080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$9,154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85248" y="197080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7080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24081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24081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301572"/>
            <a:ext cx="11167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25128" y="224081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$8,804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85248" y="224081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24081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$3.45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510835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510835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71589"/>
            <a:ext cx="10720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25128" y="2510835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$8,452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85248" y="2510835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510835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$2.80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780852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780852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841606"/>
            <a:ext cx="1050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25128" y="2780852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$8,285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85248" y="2780852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780852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$3.84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3050869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3050869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3111623"/>
            <a:ext cx="10234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25128" y="3050869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$8,069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85248" y="3050869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3050869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$3.03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32088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32088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381639"/>
            <a:ext cx="95727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25128" y="332088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$7,547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85248" y="332088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32088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$3.53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59090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59090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651656"/>
            <a:ext cx="9378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25128" y="359090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$7,394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85248" y="359090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59090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$3.27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86092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86092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921673"/>
            <a:ext cx="91945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25128" y="386092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$7,249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85248" y="386092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86092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$2.59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4130936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4130936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4191690"/>
            <a:ext cx="9164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25128" y="4130936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$7,225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85248" y="4130936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4130936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$2.83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400953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400953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461707"/>
            <a:ext cx="9057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25128" y="4400953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$7,141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85248" y="4400953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400953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$4.17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670970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670970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731724"/>
            <a:ext cx="83490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25128" y="4670970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$6,583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85248" y="4670970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670970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$4.49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940987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940987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5001741"/>
            <a:ext cx="82594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25128" y="4940987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$6,512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85248" y="4940987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940987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$2.76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5211004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5211004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5271758"/>
            <a:ext cx="67141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25128" y="5211004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$5,294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85248" y="5211004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5211004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$2.90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481021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481021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541775"/>
            <a:ext cx="54968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25128" y="5481021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$4,334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85248" y="5481021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481021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$2.82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751038"/>
            <a:ext cx="310896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751038"/>
            <a:ext cx="178308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811792"/>
            <a:ext cx="43862" cy="148509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25128" y="5751038"/>
            <a:ext cx="9601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$3,458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85248" y="5751038"/>
            <a:ext cx="731520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751038"/>
            <a:ext cx="749808" cy="270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$2.85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590288"/>
          </a:xfrm>
          <a:prstGeom prst="rect">
            <a:avLst/>
          </a:prstGeom>
          <a:solidFill>
            <a:srgbClr val="D9D9D9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2026-10-29T06:37:50Z</dcterms:created>
  <dcterms:modified xsi:type="dcterms:W3CDTF">2026-10-29T06:37:50Z</dcterms:modified>
</cp:coreProperties>
</file>