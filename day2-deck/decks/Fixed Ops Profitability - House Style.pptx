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15 of 33 stores at or above the 78.1% group, led by Audi Henderson at 106.6%. Hyundai Prescott is lowest at 46.2%.Source: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23 of 33 stores raised absorption, led by Lincoln at +16.1 pts to 59.9%. 10 declined; VW St George fell most at −17.4 pts.Source: Qlik - Profit &amp; Loss. Jan-Sep. Same-store, INEOS excluded (opened 2026). Change in Fixed Ops Absorption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Lincoln, Cadillac and LR Reno what changed. Ask VW St George, Kia St George and VW Henderson what got in the way. Ask LR Henderson, LR Reno and Kia St George what they started this year.Source: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 Moving now: Jul-Sep 2026 vs Jan-Mar 2026, each store against itself; the group moved +4.2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10 of 33 stores at or above the 21.8% group, led by Honda Henderson at 43.0%. GMC Prescott is lowest at -38.1%.Source: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24 of 33 stores raised service net to gross, led by Hyundai Prescott at +33.5 pts to -19.2%. 9 declined; VW St George fell most at −26.8 pts.Source: Qlik - Profit &amp; Loss. Jan-Sep. Same-store, INEOS excluded (opened 2026). Change in Service Net to Gross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Prescott, Lincoln and LR Reno what changed. Ask VW St George, Kia St George and Mazda what got in the way. Ask Hyundai Prescott, LR Henderson and LR Reno what they started this year.Source: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15 of 33 stores at or above the 36.7% group, led by Subaru St George at 58.7%. Hyundai Prescott is lowest at 10.0%.Source: Qlik - Profit &amp; Loss. Jan-Sep. Same-store, INEOS excluded (opened 2026). P&amp;A department profit / P&amp;A department gross (P&amp;L Detail statement).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15 of 33 stores raised parts net to gross, led by Lincoln at +14.2 pts to 17.9%. 18 declined; Hyundai Prescott fell most at −12.5 pts.Source: Qlik - Profit &amp; Loss. Jan-Sep. Same-store, INEOS excluded (opened 2026). Change in Parts Net to Gross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Lincoln, Acura and Nissan what changed. Ask Hyundai Prescott, Hyundai St George and VW St George what got in the way. Ask LR Reno, VW St George and Mazda what they started this year.Source: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chart" Target="/ppt/charts/chart13.xml"/><Relationship Id="rId3" Type="http://schemas.openxmlformats.org/officeDocument/2006/relationships/chart" Target="/ppt/charts/chart14.xml"/><Relationship Id="rId4" Type="http://schemas.openxmlformats.org/officeDocument/2006/relationships/chart" Target="/ppt/charts/chart15.xml"/><Relationship Id="rId5" Type="http://schemas.openxmlformats.org/officeDocument/2006/relationships/chart" Target="/ppt/charts/chart16.xml"/><Relationship Id="rId6" Type="http://schemas.openxmlformats.org/officeDocument/2006/relationships/chart" Target="/ppt/charts/chart17.xml"/><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10 declined.</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+16.3 pts</a:t>
            </a:r>
            <a:endParaRPr lang="en-US" sz="1600" dirty="0"/>
          </a:p>
        </p:txBody>
      </p:sp>
      <p:sp>
        <p:nvSpPr>
          <p:cNvPr id="56" name="Shape 54"/>
          <p:cNvSpPr/>
          <p:nvPr/>
        </p:nvSpPr>
        <p:spPr>
          <a:xfrm>
            <a:off x="11466576" y="2968142"/>
            <a:ext cx="64008" cy="755294"/>
          </a:xfrm>
          <a:prstGeom prst="rect">
            <a:avLst/>
          </a:prstGeom>
          <a:solidFill>
            <a:srgbClr val="12A566"/>
          </a:solidFill>
          <a:ln/>
        </p:spPr>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9" name="Shape 146"/>
          <p:cNvSpPr/>
          <p:nvPr/>
        </p:nvSpPr>
        <p:spPr>
          <a:xfrm>
            <a:off x="457200" y="6126480"/>
            <a:ext cx="11274552" cy="371856"/>
          </a:xfrm>
          <a:prstGeom prst="rect">
            <a:avLst/>
          </a:prstGeom>
          <a:solidFill>
            <a:srgbClr val="EDF4FA"/>
          </a:solidFill>
          <a:ln/>
        </p:spPr>
      </p:sp>
      <p:sp>
        <p:nvSpPr>
          <p:cNvPr id="150" name="Text 14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33 stores at or above the 21.8% group.</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9 declined.</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4" name="Shape 12"/>
          <p:cNvSpPr/>
          <p:nvPr/>
        </p:nvSpPr>
        <p:spPr>
          <a:xfrm>
            <a:off x="4084320" y="2968142"/>
            <a:ext cx="64008" cy="755294"/>
          </a:xfrm>
          <a:prstGeom prst="rect">
            <a:avLst/>
          </a:prstGeom>
          <a:solidFill>
            <a:srgbClr val="12A566"/>
          </a:solidFill>
          <a:ln/>
        </p:spPr>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7" name="Text 15"/>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8" name="Shape 16"/>
          <p:cNvSpPr/>
          <p:nvPr/>
        </p:nvSpPr>
        <p:spPr>
          <a:xfrm>
            <a:off x="658368" y="3760013"/>
            <a:ext cx="3489960" cy="828446"/>
          </a:xfrm>
          <a:prstGeom prst="rect">
            <a:avLst/>
          </a:prstGeom>
          <a:solidFill>
            <a:srgbClr val="F7F7F7"/>
          </a:solidFill>
          <a:ln/>
        </p:spPr>
      </p:sp>
      <p:sp>
        <p:nvSpPr>
          <p:cNvPr id="19" name="Shape 17"/>
          <p:cNvSpPr/>
          <p:nvPr/>
        </p:nvSpPr>
        <p:spPr>
          <a:xfrm>
            <a:off x="4084320" y="3796589"/>
            <a:ext cx="64008" cy="755294"/>
          </a:xfrm>
          <a:prstGeom prst="rect">
            <a:avLst/>
          </a:prstGeom>
          <a:solidFill>
            <a:srgbClr val="12A566"/>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2" name="Text 20"/>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5" name="Text 23"/>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6" name="Shape 24"/>
          <p:cNvSpPr/>
          <p:nvPr/>
        </p:nvSpPr>
        <p:spPr>
          <a:xfrm>
            <a:off x="658368" y="5416906"/>
            <a:ext cx="3489960" cy="828446"/>
          </a:xfrm>
          <a:prstGeom prst="rect">
            <a:avLst/>
          </a:prstGeom>
          <a:solidFill>
            <a:srgbClr val="F7F7F7"/>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Shape 53"/>
          <p:cNvSpPr/>
          <p:nvPr/>
        </p:nvSpPr>
        <p:spPr>
          <a:xfrm>
            <a:off x="11466576" y="2139696"/>
            <a:ext cx="64008" cy="755294"/>
          </a:xfrm>
          <a:prstGeom prst="rect">
            <a:avLst/>
          </a:prstGeom>
          <a:solidFill>
            <a:srgbClr val="12A566"/>
          </a:solidFill>
          <a:ln/>
        </p:spPr>
      </p:sp>
      <p:sp>
        <p:nvSpPr>
          <p:cNvPr id="56" name="Text 5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8" name="Text 56"/>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+23.6 pts</a:t>
            </a:r>
            <a:endParaRPr lang="en-US" sz="1600" dirty="0"/>
          </a:p>
        </p:txBody>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Shape 61"/>
          <p:cNvSpPr/>
          <p:nvPr/>
        </p:nvSpPr>
        <p:spPr>
          <a:xfrm>
            <a:off x="11466576" y="3796589"/>
            <a:ext cx="64008" cy="755294"/>
          </a:xfrm>
          <a:prstGeom prst="rect">
            <a:avLst/>
          </a:prstGeom>
          <a:solidFill>
            <a:srgbClr val="12A566"/>
          </a:solidFill>
          <a:ln/>
        </p:spPr>
      </p:sp>
      <p:sp>
        <p:nvSpPr>
          <p:cNvPr id="64" name="Text 6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6" name="Text 64"/>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12A566"/>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18 declined.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Shape 11"/>
          <p:cNvSpPr/>
          <p:nvPr/>
        </p:nvSpPr>
        <p:spPr>
          <a:xfrm>
            <a:off x="4084320" y="2968142"/>
            <a:ext cx="64008" cy="755294"/>
          </a:xfrm>
          <a:prstGeom prst="rect">
            <a:avLst/>
          </a:prstGeom>
          <a:solidFill>
            <a:srgbClr val="12A566"/>
          </a:solidFill>
          <a:ln/>
        </p:spPr>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+16.5 pts</a:t>
            </a:r>
            <a:endParaRPr lang="en-US" sz="1600" dirty="0"/>
          </a:p>
        </p:txBody>
      </p:sp>
      <p:sp>
        <p:nvSpPr>
          <p:cNvPr id="63" name="Shape 61"/>
          <p:cNvSpPr/>
          <p:nvPr/>
        </p:nvSpPr>
        <p:spPr>
          <a:xfrm>
            <a:off x="11466576" y="4625035"/>
            <a:ext cx="64008" cy="755294"/>
          </a:xfrm>
          <a:prstGeom prst="rect">
            <a:avLst/>
          </a:prstGeom>
          <a:solidFill>
            <a:srgbClr val="12A566"/>
          </a:solidFill>
          <a:ln/>
        </p:spPr>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2026-10-27T17:17:47Z</dcterms:created>
  <dcterms:modified xsi:type="dcterms:W3CDTF">2026-10-27T17:17:47Z</dcterms:modified>
</cp:coreProperties>
</file>