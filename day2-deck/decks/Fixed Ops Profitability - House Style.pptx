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74.8</c:v>
                </c:pt>
                <c:pt idx="1">
                  <c:v>74.5</c:v>
                </c:pt>
                <c:pt idx="2">
                  <c:v>78.5</c:v>
                </c:pt>
                <c:pt idx="3">
                  <c:v>79.6</c:v>
                </c:pt>
                <c:pt idx="4">
                  <c:v>75.4</c:v>
                </c:pt>
                <c:pt idx="5">
                  <c:v>79.2</c:v>
                </c:pt>
                <c:pt idx="6">
                  <c:v>83</c:v>
                </c:pt>
                <c:pt idx="7">
                  <c:v>79.9</c:v>
                </c:pt>
                <c:pt idx="8">
                  <c:v>77.6</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0"/>
          <c:min val="6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
                </c:pt>
                <c:pt idx="1">
                  <c:v/>
                </c:pt>
                <c:pt idx="2">
                  <c:v>78.5</c:v>
                </c:pt>
                <c:pt idx="3">
                  <c:v>79.6</c:v>
                </c:pt>
                <c:pt idx="4">
                  <c:v/>
                </c:pt>
                <c:pt idx="5">
                  <c:v>79.2</c:v>
                </c:pt>
                <c:pt idx="6">
                  <c:v>83</c:v>
                </c:pt>
                <c:pt idx="7">
                  <c:v>79.9</c:v>
                </c:pt>
                <c:pt idx="8">
                  <c:v>77.6</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0"/>
          <c:min val="6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74.8</c:v>
                </c:pt>
                <c:pt idx="1">
                  <c:v>74.5</c:v>
                </c:pt>
                <c:pt idx="2">
                  <c:v/>
                </c:pt>
                <c:pt idx="3">
                  <c:v/>
                </c:pt>
                <c:pt idx="4">
                  <c:v>75.4</c:v>
                </c:pt>
                <c:pt idx="5">
                  <c:v/>
                </c:pt>
                <c:pt idx="6">
                  <c:v/>
                </c:pt>
                <c:pt idx="7">
                  <c:v/>
                </c:pt>
                <c:pt idx="8">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0"/>
          <c:min val="6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77</c:v>
                </c:pt>
                <c:pt idx="1">
                  <c:v>75.1</c:v>
                </c:pt>
                <c:pt idx="2">
                  <c:v/>
                </c:pt>
                <c:pt idx="3">
                  <c:v/>
                </c:pt>
                <c:pt idx="4">
                  <c:v>76.9</c:v>
                </c:pt>
                <c:pt idx="5">
                  <c:v/>
                </c:pt>
                <c:pt idx="6">
                  <c:v/>
                </c:pt>
                <c:pt idx="7">
                  <c:v/>
                </c:pt>
                <c:pt idx="8">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0"/>
          <c:min val="6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
                </c:pt>
                <c:pt idx="1">
                  <c:v/>
                </c:pt>
                <c:pt idx="2">
                  <c:v>74.1</c:v>
                </c:pt>
                <c:pt idx="3">
                  <c:v>76.3</c:v>
                </c:pt>
                <c:pt idx="4">
                  <c:v/>
                </c:pt>
                <c:pt idx="5">
                  <c:v>77.8</c:v>
                </c:pt>
                <c:pt idx="6">
                  <c:v>78.4</c:v>
                </c:pt>
                <c:pt idx="7">
                  <c:v>75.9</c:v>
                </c:pt>
                <c:pt idx="8">
                  <c:v>72.7</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0"/>
          <c:min val="6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77</c:v>
                </c:pt>
                <c:pt idx="1">
                  <c:v>75.1</c:v>
                </c:pt>
                <c:pt idx="2">
                  <c:v>74.1</c:v>
                </c:pt>
                <c:pt idx="3">
                  <c:v>76.3</c:v>
                </c:pt>
                <c:pt idx="4">
                  <c:v>76.9</c:v>
                </c:pt>
                <c:pt idx="5">
                  <c:v>77.8</c:v>
                </c:pt>
                <c:pt idx="6">
                  <c:v>78.4</c:v>
                </c:pt>
                <c:pt idx="7">
                  <c:v>75.9</c:v>
                </c:pt>
                <c:pt idx="8">
                  <c:v>72.7</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90"/>
          <c:min val="65"/>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18.1</c:v>
                </c:pt>
                <c:pt idx="1">
                  <c:v>20.3</c:v>
                </c:pt>
                <c:pt idx="2">
                  <c:v>24.5</c:v>
                </c:pt>
                <c:pt idx="3">
                  <c:v>23.3</c:v>
                </c:pt>
                <c:pt idx="4">
                  <c:v>21.9</c:v>
                </c:pt>
                <c:pt idx="5">
                  <c:v>21.9</c:v>
                </c:pt>
                <c:pt idx="6">
                  <c:v>23.8</c:v>
                </c:pt>
                <c:pt idx="7">
                  <c:v>22.5</c:v>
                </c:pt>
                <c:pt idx="8">
                  <c:v>19.7</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0"/>
          <c:min val="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18.1</c:v>
                </c:pt>
                <c:pt idx="1">
                  <c:v>20.3</c:v>
                </c:pt>
                <c:pt idx="2">
                  <c:v>24.5</c:v>
                </c:pt>
                <c:pt idx="3">
                  <c:v>23.3</c:v>
                </c:pt>
                <c:pt idx="4">
                  <c:v>21.9</c:v>
                </c:pt>
                <c:pt idx="5">
                  <c:v>21.9</c:v>
                </c:pt>
                <c:pt idx="6">
                  <c:v>23.8</c:v>
                </c:pt>
                <c:pt idx="7">
                  <c:v>22.5</c:v>
                </c:pt>
                <c:pt idx="8">
                  <c:v>19.7</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0"/>
          <c:min val="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16.9</c:v>
                </c:pt>
                <c:pt idx="1">
                  <c:v>16.1</c:v>
                </c:pt>
                <c:pt idx="2">
                  <c:v>21.2</c:v>
                </c:pt>
                <c:pt idx="3">
                  <c:v>21.2</c:v>
                </c:pt>
                <c:pt idx="4">
                  <c:v>21.5</c:v>
                </c:pt>
                <c:pt idx="5">
                  <c:v>19.4</c:v>
                </c:pt>
                <c:pt idx="6">
                  <c:v>20.3</c:v>
                </c:pt>
                <c:pt idx="7">
                  <c:v>19.6</c:v>
                </c:pt>
                <c:pt idx="8">
                  <c:v>13.1</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0"/>
          <c:min val="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16.9</c:v>
                </c:pt>
                <c:pt idx="1">
                  <c:v>16.1</c:v>
                </c:pt>
                <c:pt idx="2">
                  <c:v>21.2</c:v>
                </c:pt>
                <c:pt idx="3">
                  <c:v>21.2</c:v>
                </c:pt>
                <c:pt idx="4">
                  <c:v>21.5</c:v>
                </c:pt>
                <c:pt idx="5">
                  <c:v>19.4</c:v>
                </c:pt>
                <c:pt idx="6">
                  <c:v>20.3</c:v>
                </c:pt>
                <c:pt idx="7">
                  <c:v>19.6</c:v>
                </c:pt>
                <c:pt idx="8">
                  <c:v>13.1</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30"/>
          <c:min val="5"/>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33.5</c:v>
                </c:pt>
                <c:pt idx="1">
                  <c:v>32</c:v>
                </c:pt>
                <c:pt idx="2">
                  <c:v>36.3</c:v>
                </c:pt>
                <c:pt idx="3">
                  <c:v>38</c:v>
                </c:pt>
                <c:pt idx="4">
                  <c:v>33.6</c:v>
                </c:pt>
                <c:pt idx="5">
                  <c:v>37.7</c:v>
                </c:pt>
                <c:pt idx="6">
                  <c:v>41</c:v>
                </c:pt>
                <c:pt idx="7">
                  <c:v>38.1</c:v>
                </c:pt>
                <c:pt idx="8">
                  <c:v>38.8</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5"/>
          <c:min val="2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
                </c:pt>
                <c:pt idx="1">
                  <c:v/>
                </c:pt>
                <c:pt idx="2">
                  <c:v>36.3</c:v>
                </c:pt>
                <c:pt idx="3">
                  <c:v>38</c:v>
                </c:pt>
                <c:pt idx="4">
                  <c:v/>
                </c:pt>
                <c:pt idx="5">
                  <c:v/>
                </c:pt>
                <c:pt idx="6">
                  <c:v>41</c:v>
                </c:pt>
                <c:pt idx="7">
                  <c:v>38.1</c:v>
                </c:pt>
                <c:pt idx="8">
                  <c:v>38.8</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5"/>
          <c:min val="2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33.5</c:v>
                </c:pt>
                <c:pt idx="1">
                  <c:v>32</c:v>
                </c:pt>
                <c:pt idx="2">
                  <c:v/>
                </c:pt>
                <c:pt idx="3">
                  <c:v/>
                </c:pt>
                <c:pt idx="4">
                  <c:v>33.6</c:v>
                </c:pt>
                <c:pt idx="5">
                  <c:v>37.7</c:v>
                </c:pt>
                <c:pt idx="6">
                  <c:v/>
                </c:pt>
                <c:pt idx="7">
                  <c:v/>
                </c:pt>
                <c:pt idx="8">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5"/>
          <c:min val="2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39.6</c:v>
                </c:pt>
                <c:pt idx="1">
                  <c:v>36.6</c:v>
                </c:pt>
                <c:pt idx="2">
                  <c:v/>
                </c:pt>
                <c:pt idx="3">
                  <c:v/>
                </c:pt>
                <c:pt idx="4">
                  <c:v>36.7</c:v>
                </c:pt>
                <c:pt idx="5">
                  <c:v>38.1</c:v>
                </c:pt>
                <c:pt idx="6">
                  <c:v/>
                </c:pt>
                <c:pt idx="7">
                  <c:v/>
                </c:pt>
                <c:pt idx="8">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5"/>
          <c:min val="2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
                </c:pt>
                <c:pt idx="1">
                  <c:v/>
                </c:pt>
                <c:pt idx="2">
                  <c:v>35</c:v>
                </c:pt>
                <c:pt idx="3">
                  <c:v>37.7</c:v>
                </c:pt>
                <c:pt idx="4">
                  <c:v/>
                </c:pt>
                <c:pt idx="5">
                  <c:v/>
                </c:pt>
                <c:pt idx="6">
                  <c:v>39.7</c:v>
                </c:pt>
                <c:pt idx="7">
                  <c:v>35.7</c:v>
                </c:pt>
                <c:pt idx="8">
                  <c:v>34.8</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5"/>
          <c:min val="2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39.6</c:v>
                </c:pt>
                <c:pt idx="1">
                  <c:v>36.6</c:v>
                </c:pt>
                <c:pt idx="2">
                  <c:v>35</c:v>
                </c:pt>
                <c:pt idx="3">
                  <c:v>37.7</c:v>
                </c:pt>
                <c:pt idx="4">
                  <c:v>36.7</c:v>
                </c:pt>
                <c:pt idx="5">
                  <c:v>38.1</c:v>
                </c:pt>
                <c:pt idx="6">
                  <c:v>39.7</c:v>
                </c:pt>
                <c:pt idx="7">
                  <c:v>35.7</c:v>
                </c:pt>
                <c:pt idx="8">
                  <c:v>34.8</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45"/>
          <c:min val="25"/>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P&amp;L line Fixed Ops Absorption % = Total Gross Profit - Fixed Ops / Fixed Expenses. GMC Prescott includes its body shop, as on the P&amp;L.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P&amp;L line Fixed Ops Absorption % = Total Gross Profit - Fixed Ops / Fixed Expenses. GMC Prescott includes its body shop, as on the P&amp;L. Jan-Sep 2026 YTD. Green at or above the group, red below. Bars start at 30.0% so differences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Change in Fixed Ops Absorption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Mechanical department profit / mechanical department gross (P&amp;L Detail statement). Body shop is its own department and is not included.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Mechanical department profit / mechanical department gross (P&amp;L Detail statement). Body shop is its own department and is not included. Jan-Sep 2026 YTD. Green at or above the group, red below. Bars start at -45.0% so differences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Change in Service Net to Gross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P&amp;A department profit / P&amp;A department gross (P&amp;L Detail statement).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P&amp;A department profit / P&amp;A department gross (P&amp;L Detail statement). Jan-Sep 2026 YTD. Green at or above the group, red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Change in Parts Net to Gross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chart" Target="/ppt/charts/chart5.xml"/><Relationship Id="rId6" Type="http://schemas.openxmlformats.org/officeDocument/2006/relationships/chart" Target="/ppt/charts/chart6.xml"/><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chart" Target="/ppt/charts/chart9.xml"/><Relationship Id="rId4" Type="http://schemas.openxmlformats.org/officeDocument/2006/relationships/chart" Target="/ppt/charts/chart10.xm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chart" Target="/ppt/charts/chart12.xml"/><Relationship Id="rId3" Type="http://schemas.openxmlformats.org/officeDocument/2006/relationships/chart" Target="/ppt/charts/chart13.xml"/><Relationship Id="rId4" Type="http://schemas.openxmlformats.org/officeDocument/2006/relationships/chart" Target="/ppt/charts/chart14.xml"/><Relationship Id="rId5" Type="http://schemas.openxmlformats.org/officeDocument/2006/relationships/chart" Target="/ppt/charts/chart15.xml"/><Relationship Id="rId6" Type="http://schemas.openxmlformats.org/officeDocument/2006/relationships/chart" Target="/ppt/charts/chart16.xml"/><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121408"/>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487168"/>
            <a:ext cx="10789920" cy="1188720"/>
          </a:xfrm>
          <a:prstGeom prst="rect">
            <a:avLst/>
          </a:prstGeom>
          <a:noFill/>
          <a:ln/>
        </p:spPr>
        <p:txBody>
          <a:bodyPr wrap="none" lIns="0" tIns="0" rIns="0" bIns="0" rtlCol="0" anchor="ctr"/>
          <a:lstStyle/>
          <a:p>
            <a:pPr indent="0" marL="0">
              <a:buNone/>
            </a:pPr>
            <a:r>
              <a:rPr lang="en-US" sz="7600" b="1" dirty="0">
                <a:solidFill>
                  <a:srgbClr val="1A1A1A"/>
                </a:solidFill>
                <a:latin typeface="Inter" pitchFamily="34" charset="0"/>
                <a:ea typeface="Inter" pitchFamily="34" charset="-122"/>
                <a:cs typeface="Inter" pitchFamily="34" charset="-120"/>
              </a:rPr>
              <a:t>Profitability</a:t>
            </a:r>
            <a:endParaRPr lang="en-US" sz="7600" dirty="0"/>
          </a:p>
        </p:txBody>
      </p:sp>
      <p:sp>
        <p:nvSpPr>
          <p:cNvPr id="4" name="Text 2"/>
          <p:cNvSpPr txBox="1"/>
          <p:nvPr/>
        </p:nvSpPr>
        <p:spPr>
          <a:xfrm>
            <a:off x="694944" y="376732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Absorption   ·   Service net to gross   ·   Parts net to gross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76.0%</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78.1%</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+2.1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+2.7%</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Fixed Ops Absorption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graphicFrame>
        <p:nvGraphicFramePr>
          <p:cNvPr id="22" name="Chart 5"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6"/>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64236"/>
          </a:xfrm>
          <a:prstGeom prst="rect">
            <a:avLst/>
          </a:prstGeom>
          <a:solidFill>
            <a:srgbClr val="E6F6EE"/>
          </a:solidFill>
          <a:ln/>
        </p:spPr>
      </p:sp>
      <p:sp>
        <p:nvSpPr>
          <p:cNvPr id="30" name="Text 22"/>
          <p:cNvSpPr txBox="1"/>
          <p:nvPr/>
        </p:nvSpPr>
        <p:spPr>
          <a:xfrm>
            <a:off x="658368" y="6144768"/>
            <a:ext cx="10927080" cy="327660"/>
          </a:xfrm>
          <a:prstGeom prst="rect">
            <a:avLst/>
          </a:prstGeom>
          <a:noFill/>
          <a:ln/>
        </p:spPr>
        <p:txBody>
          <a:bodyPr wrap="square" lIns="0" tIns="0" rIns="0" bIns="0" rtlCol="0" anchor="ctr"/>
          <a:lstStyle/>
          <a:p>
            <a:pPr indent="0" marL="0">
              <a:buNone/>
            </a:pPr>
            <a:r>
              <a:rPr lang="en-US" sz="1550" b="1" dirty="0">
                <a:solidFill>
                  <a:srgbClr val="0B7A4A"/>
                </a:solidFill>
                <a:latin typeface="Inter" pitchFamily="34" charset="0"/>
                <a:ea typeface="Inter" pitchFamily="34" charset="-122"/>
                <a:cs typeface="Inter" pitchFamily="34" charset="-120"/>
              </a:rPr>
              <a:t>Up 2.1 pts to 78.1%, ahead of 2025 in six of nine months. Fixed gross grew 4.1%; fixed expenses 1.3%.</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7355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FIXED OPS ABSORPTION %</a:t>
            </a:r>
            <a:endParaRPr lang="en-US" sz="1500" dirty="0"/>
          </a:p>
        </p:txBody>
      </p:sp>
      <p:sp>
        <p:nvSpPr>
          <p:cNvPr id="9" name="Text 7"/>
          <p:cNvSpPr txBox="1"/>
          <p:nvPr/>
        </p:nvSpPr>
        <p:spPr>
          <a:xfrm>
            <a:off x="3649980" y="1335024"/>
            <a:ext cx="43967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78.1%</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3" name="Shape 11"/>
          <p:cNvSpPr/>
          <p:nvPr/>
        </p:nvSpPr>
        <p:spPr>
          <a:xfrm>
            <a:off x="3008376" y="1907062"/>
            <a:ext cx="1691640" cy="119948"/>
          </a:xfrm>
          <a:prstGeom prst="rect">
            <a:avLst/>
          </a:prstGeom>
          <a:solidFill>
            <a:srgbClr val="12A566"/>
          </a:solidFill>
          <a:ln/>
        </p:spPr>
      </p:sp>
      <p:sp>
        <p:nvSpPr>
          <p:cNvPr id="14" name="Text 12"/>
          <p:cNvSpPr txBox="1"/>
          <p:nvPr/>
        </p:nvSpPr>
        <p:spPr>
          <a:xfrm>
            <a:off x="4754880"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106.6%</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7" name="Shape 15"/>
          <p:cNvSpPr/>
          <p:nvPr/>
        </p:nvSpPr>
        <p:spPr>
          <a:xfrm>
            <a:off x="3008376" y="2146957"/>
            <a:ext cx="1625327" cy="119948"/>
          </a:xfrm>
          <a:prstGeom prst="rect">
            <a:avLst/>
          </a:prstGeom>
          <a:solidFill>
            <a:srgbClr val="12A566"/>
          </a:solidFill>
          <a:ln/>
        </p:spPr>
      </p:sp>
      <p:sp>
        <p:nvSpPr>
          <p:cNvPr id="18" name="Text 16"/>
          <p:cNvSpPr txBox="1"/>
          <p:nvPr/>
        </p:nvSpPr>
        <p:spPr>
          <a:xfrm>
            <a:off x="4754880"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103.6%</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21" name="Shape 19"/>
          <p:cNvSpPr/>
          <p:nvPr/>
        </p:nvSpPr>
        <p:spPr>
          <a:xfrm>
            <a:off x="3008376" y="2386853"/>
            <a:ext cx="1406928" cy="119948"/>
          </a:xfrm>
          <a:prstGeom prst="rect">
            <a:avLst/>
          </a:prstGeom>
          <a:solidFill>
            <a:srgbClr val="12A566"/>
          </a:solidFill>
          <a:ln/>
        </p:spPr>
      </p:sp>
      <p:sp>
        <p:nvSpPr>
          <p:cNvPr id="22" name="Text 20"/>
          <p:cNvSpPr txBox="1"/>
          <p:nvPr/>
        </p:nvSpPr>
        <p:spPr>
          <a:xfrm>
            <a:off x="4754880" y="232687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93.7%</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25" name="Shape 23"/>
          <p:cNvSpPr/>
          <p:nvPr/>
        </p:nvSpPr>
        <p:spPr>
          <a:xfrm>
            <a:off x="3008376" y="2626748"/>
            <a:ext cx="1323114" cy="119948"/>
          </a:xfrm>
          <a:prstGeom prst="rect">
            <a:avLst/>
          </a:prstGeom>
          <a:solidFill>
            <a:srgbClr val="12A566"/>
          </a:solidFill>
          <a:ln/>
        </p:spPr>
      </p:sp>
      <p:sp>
        <p:nvSpPr>
          <p:cNvPr id="26" name="Text 24"/>
          <p:cNvSpPr txBox="1"/>
          <p:nvPr/>
        </p:nvSpPr>
        <p:spPr>
          <a:xfrm>
            <a:off x="4754880" y="256677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89.9%</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29" name="Shape 27"/>
          <p:cNvSpPr/>
          <p:nvPr/>
        </p:nvSpPr>
        <p:spPr>
          <a:xfrm>
            <a:off x="3008376" y="2866644"/>
            <a:ext cx="1271788" cy="119948"/>
          </a:xfrm>
          <a:prstGeom prst="rect">
            <a:avLst/>
          </a:prstGeom>
          <a:solidFill>
            <a:srgbClr val="12A566"/>
          </a:solidFill>
          <a:ln/>
        </p:spPr>
      </p:sp>
      <p:sp>
        <p:nvSpPr>
          <p:cNvPr id="30" name="Text 28"/>
          <p:cNvSpPr txBox="1"/>
          <p:nvPr/>
        </p:nvSpPr>
        <p:spPr>
          <a:xfrm>
            <a:off x="4754880" y="280667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87.6%</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33" name="Shape 31"/>
          <p:cNvSpPr/>
          <p:nvPr/>
        </p:nvSpPr>
        <p:spPr>
          <a:xfrm>
            <a:off x="3008376" y="3106540"/>
            <a:ext cx="1243905" cy="119948"/>
          </a:xfrm>
          <a:prstGeom prst="rect">
            <a:avLst/>
          </a:prstGeom>
          <a:solidFill>
            <a:srgbClr val="12A566"/>
          </a:solidFill>
          <a:ln/>
        </p:spPr>
      </p:sp>
      <p:sp>
        <p:nvSpPr>
          <p:cNvPr id="34" name="Text 32"/>
          <p:cNvSpPr txBox="1"/>
          <p:nvPr/>
        </p:nvSpPr>
        <p:spPr>
          <a:xfrm>
            <a:off x="4754880" y="304656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86.3%</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37" name="Shape 35"/>
          <p:cNvSpPr/>
          <p:nvPr/>
        </p:nvSpPr>
        <p:spPr>
          <a:xfrm>
            <a:off x="3008376" y="3346435"/>
            <a:ext cx="1238289" cy="119948"/>
          </a:xfrm>
          <a:prstGeom prst="rect">
            <a:avLst/>
          </a:prstGeom>
          <a:solidFill>
            <a:srgbClr val="12A566"/>
          </a:solidFill>
          <a:ln/>
        </p:spPr>
      </p:sp>
      <p:sp>
        <p:nvSpPr>
          <p:cNvPr id="38" name="Text 36"/>
          <p:cNvSpPr txBox="1"/>
          <p:nvPr/>
        </p:nvSpPr>
        <p:spPr>
          <a:xfrm>
            <a:off x="4754880" y="328646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86.1%</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41" name="Shape 39"/>
          <p:cNvSpPr/>
          <p:nvPr/>
        </p:nvSpPr>
        <p:spPr>
          <a:xfrm>
            <a:off x="3008376" y="3586331"/>
            <a:ext cx="1236225" cy="119948"/>
          </a:xfrm>
          <a:prstGeom prst="rect">
            <a:avLst/>
          </a:prstGeom>
          <a:solidFill>
            <a:srgbClr val="12A566"/>
          </a:solidFill>
          <a:ln/>
        </p:spPr>
      </p:sp>
      <p:sp>
        <p:nvSpPr>
          <p:cNvPr id="42" name="Text 40"/>
          <p:cNvSpPr txBox="1"/>
          <p:nvPr/>
        </p:nvSpPr>
        <p:spPr>
          <a:xfrm>
            <a:off x="4754880" y="3526357"/>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86.0%</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45" name="Shape 43"/>
          <p:cNvSpPr/>
          <p:nvPr/>
        </p:nvSpPr>
        <p:spPr>
          <a:xfrm>
            <a:off x="3008376" y="3826226"/>
            <a:ext cx="1203167" cy="119948"/>
          </a:xfrm>
          <a:prstGeom prst="rect">
            <a:avLst/>
          </a:prstGeom>
          <a:solidFill>
            <a:srgbClr val="12A566"/>
          </a:solidFill>
          <a:ln/>
        </p:spPr>
      </p:sp>
      <p:sp>
        <p:nvSpPr>
          <p:cNvPr id="46" name="Text 44"/>
          <p:cNvSpPr txBox="1"/>
          <p:nvPr/>
        </p:nvSpPr>
        <p:spPr>
          <a:xfrm>
            <a:off x="4754880" y="3766252"/>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84.5%</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49" name="Shape 47"/>
          <p:cNvSpPr/>
          <p:nvPr/>
        </p:nvSpPr>
        <p:spPr>
          <a:xfrm>
            <a:off x="3008376" y="4066122"/>
            <a:ext cx="1188815" cy="119948"/>
          </a:xfrm>
          <a:prstGeom prst="rect">
            <a:avLst/>
          </a:prstGeom>
          <a:solidFill>
            <a:srgbClr val="12A566"/>
          </a:solidFill>
          <a:ln/>
        </p:spPr>
      </p:sp>
      <p:sp>
        <p:nvSpPr>
          <p:cNvPr id="50" name="Text 48"/>
          <p:cNvSpPr txBox="1"/>
          <p:nvPr/>
        </p:nvSpPr>
        <p:spPr>
          <a:xfrm>
            <a:off x="4754880" y="400614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83.8%</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53" name="Shape 51"/>
          <p:cNvSpPr/>
          <p:nvPr/>
        </p:nvSpPr>
        <p:spPr>
          <a:xfrm>
            <a:off x="3008376" y="4306017"/>
            <a:ext cx="1143609" cy="119948"/>
          </a:xfrm>
          <a:prstGeom prst="rect">
            <a:avLst/>
          </a:prstGeom>
          <a:solidFill>
            <a:srgbClr val="12A566"/>
          </a:solidFill>
          <a:ln/>
        </p:spPr>
      </p:sp>
      <p:sp>
        <p:nvSpPr>
          <p:cNvPr id="54" name="Text 52"/>
          <p:cNvSpPr txBox="1"/>
          <p:nvPr/>
        </p:nvSpPr>
        <p:spPr>
          <a:xfrm>
            <a:off x="4754880" y="4246043"/>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81.8%</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57" name="Shape 55"/>
          <p:cNvSpPr/>
          <p:nvPr/>
        </p:nvSpPr>
        <p:spPr>
          <a:xfrm>
            <a:off x="3008376" y="4545913"/>
            <a:ext cx="1136929" cy="119948"/>
          </a:xfrm>
          <a:prstGeom prst="rect">
            <a:avLst/>
          </a:prstGeom>
          <a:solidFill>
            <a:srgbClr val="12A566"/>
          </a:solidFill>
          <a:ln/>
        </p:spPr>
      </p:sp>
      <p:sp>
        <p:nvSpPr>
          <p:cNvPr id="58" name="Text 56"/>
          <p:cNvSpPr txBox="1"/>
          <p:nvPr/>
        </p:nvSpPr>
        <p:spPr>
          <a:xfrm>
            <a:off x="4754880" y="448593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81.5%</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61" name="Shape 59"/>
          <p:cNvSpPr/>
          <p:nvPr/>
        </p:nvSpPr>
        <p:spPr>
          <a:xfrm>
            <a:off x="3008376" y="4785808"/>
            <a:ext cx="1094886" cy="119948"/>
          </a:xfrm>
          <a:prstGeom prst="rect">
            <a:avLst/>
          </a:prstGeom>
          <a:solidFill>
            <a:srgbClr val="12A566"/>
          </a:solidFill>
          <a:ln/>
        </p:spPr>
      </p:sp>
      <p:sp>
        <p:nvSpPr>
          <p:cNvPr id="62" name="Text 60"/>
          <p:cNvSpPr txBox="1"/>
          <p:nvPr/>
        </p:nvSpPr>
        <p:spPr>
          <a:xfrm>
            <a:off x="4754880" y="472583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79.6%</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65" name="Shape 63"/>
          <p:cNvSpPr/>
          <p:nvPr/>
        </p:nvSpPr>
        <p:spPr>
          <a:xfrm>
            <a:off x="3008376" y="5025704"/>
            <a:ext cx="1073984" cy="119948"/>
          </a:xfrm>
          <a:prstGeom prst="rect">
            <a:avLst/>
          </a:prstGeom>
          <a:solidFill>
            <a:srgbClr val="12A566"/>
          </a:solidFill>
          <a:ln/>
        </p:spPr>
      </p:sp>
      <p:sp>
        <p:nvSpPr>
          <p:cNvPr id="66" name="Text 64"/>
          <p:cNvSpPr txBox="1"/>
          <p:nvPr/>
        </p:nvSpPr>
        <p:spPr>
          <a:xfrm>
            <a:off x="4754880" y="496573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78.6%</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69" name="Shape 67"/>
          <p:cNvSpPr/>
          <p:nvPr/>
        </p:nvSpPr>
        <p:spPr>
          <a:xfrm>
            <a:off x="3008376" y="5265599"/>
            <a:ext cx="1069793" cy="119948"/>
          </a:xfrm>
          <a:prstGeom prst="rect">
            <a:avLst/>
          </a:prstGeom>
          <a:solidFill>
            <a:srgbClr val="12A566"/>
          </a:solidFill>
          <a:ln/>
        </p:spPr>
      </p:sp>
      <p:sp>
        <p:nvSpPr>
          <p:cNvPr id="70" name="Text 68"/>
          <p:cNvSpPr txBox="1"/>
          <p:nvPr/>
        </p:nvSpPr>
        <p:spPr>
          <a:xfrm>
            <a:off x="4754880" y="520562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78.4%</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73" name="Shape 71"/>
          <p:cNvSpPr/>
          <p:nvPr/>
        </p:nvSpPr>
        <p:spPr>
          <a:xfrm>
            <a:off x="3008376" y="5505495"/>
            <a:ext cx="1044916" cy="119948"/>
          </a:xfrm>
          <a:prstGeom prst="rect">
            <a:avLst/>
          </a:prstGeom>
          <a:solidFill>
            <a:srgbClr val="C2352F"/>
          </a:solidFill>
          <a:ln/>
        </p:spPr>
      </p:sp>
      <p:sp>
        <p:nvSpPr>
          <p:cNvPr id="74" name="Text 72"/>
          <p:cNvSpPr txBox="1"/>
          <p:nvPr/>
        </p:nvSpPr>
        <p:spPr>
          <a:xfrm>
            <a:off x="4754880"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77.3%</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77" name="Shape 75"/>
          <p:cNvSpPr/>
          <p:nvPr/>
        </p:nvSpPr>
        <p:spPr>
          <a:xfrm>
            <a:off x="3008376" y="5745390"/>
            <a:ext cx="1007984" cy="119948"/>
          </a:xfrm>
          <a:prstGeom prst="rect">
            <a:avLst/>
          </a:prstGeom>
          <a:solidFill>
            <a:srgbClr val="C2352F"/>
          </a:solidFill>
          <a:ln/>
        </p:spPr>
      </p:sp>
      <p:sp>
        <p:nvSpPr>
          <p:cNvPr id="78" name="Text 76"/>
          <p:cNvSpPr txBox="1"/>
          <p:nvPr/>
        </p:nvSpPr>
        <p:spPr>
          <a:xfrm>
            <a:off x="4754880" y="568541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75.6%</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81" name="Shape 79"/>
          <p:cNvSpPr/>
          <p:nvPr/>
        </p:nvSpPr>
        <p:spPr>
          <a:xfrm>
            <a:off x="8558784" y="1907062"/>
            <a:ext cx="1007915" cy="119948"/>
          </a:xfrm>
          <a:prstGeom prst="rect">
            <a:avLst/>
          </a:prstGeom>
          <a:solidFill>
            <a:srgbClr val="C2352F"/>
          </a:solidFill>
          <a:ln/>
        </p:spPr>
      </p:sp>
      <p:sp>
        <p:nvSpPr>
          <p:cNvPr id="82" name="Text 80"/>
          <p:cNvSpPr txBox="1"/>
          <p:nvPr/>
        </p:nvSpPr>
        <p:spPr>
          <a:xfrm>
            <a:off x="10305288" y="184708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75.6%</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85" name="Shape 83"/>
          <p:cNvSpPr/>
          <p:nvPr/>
        </p:nvSpPr>
        <p:spPr>
          <a:xfrm>
            <a:off x="8558784" y="2146957"/>
            <a:ext cx="979751" cy="119948"/>
          </a:xfrm>
          <a:prstGeom prst="rect">
            <a:avLst/>
          </a:prstGeom>
          <a:solidFill>
            <a:srgbClr val="C2352F"/>
          </a:solidFill>
          <a:ln/>
        </p:spPr>
      </p:sp>
      <p:sp>
        <p:nvSpPr>
          <p:cNvPr id="86" name="Text 84"/>
          <p:cNvSpPr txBox="1"/>
          <p:nvPr/>
        </p:nvSpPr>
        <p:spPr>
          <a:xfrm>
            <a:off x="10305288" y="208698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74.4%</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89" name="Shape 87"/>
          <p:cNvSpPr/>
          <p:nvPr/>
        </p:nvSpPr>
        <p:spPr>
          <a:xfrm>
            <a:off x="8558784" y="2386853"/>
            <a:ext cx="956432" cy="119948"/>
          </a:xfrm>
          <a:prstGeom prst="rect">
            <a:avLst/>
          </a:prstGeom>
          <a:solidFill>
            <a:srgbClr val="C2352F"/>
          </a:solidFill>
          <a:ln/>
        </p:spPr>
      </p:sp>
      <p:sp>
        <p:nvSpPr>
          <p:cNvPr id="90" name="Text 88"/>
          <p:cNvSpPr txBox="1"/>
          <p:nvPr/>
        </p:nvSpPr>
        <p:spPr>
          <a:xfrm>
            <a:off x="10305288" y="232687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73.3%</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93" name="Shape 91"/>
          <p:cNvSpPr/>
          <p:nvPr/>
        </p:nvSpPr>
        <p:spPr>
          <a:xfrm>
            <a:off x="8558784" y="2626748"/>
            <a:ext cx="897553" cy="119948"/>
          </a:xfrm>
          <a:prstGeom prst="rect">
            <a:avLst/>
          </a:prstGeom>
          <a:solidFill>
            <a:srgbClr val="C2352F"/>
          </a:solidFill>
          <a:ln/>
        </p:spPr>
      </p:sp>
      <p:sp>
        <p:nvSpPr>
          <p:cNvPr id="94" name="Text 92"/>
          <p:cNvSpPr txBox="1"/>
          <p:nvPr/>
        </p:nvSpPr>
        <p:spPr>
          <a:xfrm>
            <a:off x="10305288" y="256677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70.6%</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97" name="Shape 95"/>
          <p:cNvSpPr/>
          <p:nvPr/>
        </p:nvSpPr>
        <p:spPr>
          <a:xfrm>
            <a:off x="8558784" y="2866644"/>
            <a:ext cx="890311" cy="119948"/>
          </a:xfrm>
          <a:prstGeom prst="rect">
            <a:avLst/>
          </a:prstGeom>
          <a:solidFill>
            <a:srgbClr val="C2352F"/>
          </a:solidFill>
          <a:ln/>
        </p:spPr>
      </p:sp>
      <p:sp>
        <p:nvSpPr>
          <p:cNvPr id="98" name="Text 96"/>
          <p:cNvSpPr txBox="1"/>
          <p:nvPr/>
        </p:nvSpPr>
        <p:spPr>
          <a:xfrm>
            <a:off x="10305288" y="280667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70.3%</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01" name="Shape 99"/>
          <p:cNvSpPr/>
          <p:nvPr/>
        </p:nvSpPr>
        <p:spPr>
          <a:xfrm>
            <a:off x="8558784" y="3106540"/>
            <a:ext cx="883510" cy="119948"/>
          </a:xfrm>
          <a:prstGeom prst="rect">
            <a:avLst/>
          </a:prstGeom>
          <a:solidFill>
            <a:srgbClr val="C2352F"/>
          </a:solidFill>
          <a:ln/>
        </p:spPr>
      </p:sp>
      <p:sp>
        <p:nvSpPr>
          <p:cNvPr id="102" name="Text 100"/>
          <p:cNvSpPr txBox="1"/>
          <p:nvPr/>
        </p:nvSpPr>
        <p:spPr>
          <a:xfrm>
            <a:off x="10305288" y="304656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70.0%</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05" name="Shape 103"/>
          <p:cNvSpPr/>
          <p:nvPr/>
        </p:nvSpPr>
        <p:spPr>
          <a:xfrm>
            <a:off x="8558784" y="3346435"/>
            <a:ext cx="860120" cy="119948"/>
          </a:xfrm>
          <a:prstGeom prst="rect">
            <a:avLst/>
          </a:prstGeom>
          <a:solidFill>
            <a:srgbClr val="C2352F"/>
          </a:solidFill>
          <a:ln/>
        </p:spPr>
      </p:sp>
      <p:sp>
        <p:nvSpPr>
          <p:cNvPr id="106" name="Text 104"/>
          <p:cNvSpPr txBox="1"/>
          <p:nvPr/>
        </p:nvSpPr>
        <p:spPr>
          <a:xfrm>
            <a:off x="10305288" y="328646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68.9%</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09" name="Shape 107"/>
          <p:cNvSpPr/>
          <p:nvPr/>
        </p:nvSpPr>
        <p:spPr>
          <a:xfrm>
            <a:off x="8558784" y="3586331"/>
            <a:ext cx="791399" cy="119948"/>
          </a:xfrm>
          <a:prstGeom prst="rect">
            <a:avLst/>
          </a:prstGeom>
          <a:solidFill>
            <a:srgbClr val="C2352F"/>
          </a:solidFill>
          <a:ln/>
        </p:spPr>
      </p:sp>
      <p:sp>
        <p:nvSpPr>
          <p:cNvPr id="110" name="Text 108"/>
          <p:cNvSpPr txBox="1"/>
          <p:nvPr/>
        </p:nvSpPr>
        <p:spPr>
          <a:xfrm>
            <a:off x="10305288" y="3526357"/>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65.8%</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13" name="Shape 111"/>
          <p:cNvSpPr/>
          <p:nvPr/>
        </p:nvSpPr>
        <p:spPr>
          <a:xfrm>
            <a:off x="8558784" y="3826226"/>
            <a:ext cx="774373" cy="119948"/>
          </a:xfrm>
          <a:prstGeom prst="rect">
            <a:avLst/>
          </a:prstGeom>
          <a:solidFill>
            <a:srgbClr val="C2352F"/>
          </a:solidFill>
          <a:ln/>
        </p:spPr>
      </p:sp>
      <p:sp>
        <p:nvSpPr>
          <p:cNvPr id="114" name="Text 112"/>
          <p:cNvSpPr txBox="1"/>
          <p:nvPr/>
        </p:nvSpPr>
        <p:spPr>
          <a:xfrm>
            <a:off x="10305288" y="3766252"/>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65.1%</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17" name="Shape 115"/>
          <p:cNvSpPr/>
          <p:nvPr/>
        </p:nvSpPr>
        <p:spPr>
          <a:xfrm>
            <a:off x="8558784" y="4066122"/>
            <a:ext cx="743729" cy="119948"/>
          </a:xfrm>
          <a:prstGeom prst="rect">
            <a:avLst/>
          </a:prstGeom>
          <a:solidFill>
            <a:srgbClr val="C2352F"/>
          </a:solidFill>
          <a:ln/>
        </p:spPr>
      </p:sp>
      <p:sp>
        <p:nvSpPr>
          <p:cNvPr id="118" name="Text 116"/>
          <p:cNvSpPr txBox="1"/>
          <p:nvPr/>
        </p:nvSpPr>
        <p:spPr>
          <a:xfrm>
            <a:off x="10305288" y="400614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63.7%</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21" name="Shape 119"/>
          <p:cNvSpPr/>
          <p:nvPr/>
        </p:nvSpPr>
        <p:spPr>
          <a:xfrm>
            <a:off x="8558784" y="4306017"/>
            <a:ext cx="730224" cy="119948"/>
          </a:xfrm>
          <a:prstGeom prst="rect">
            <a:avLst/>
          </a:prstGeom>
          <a:solidFill>
            <a:srgbClr val="C2352F"/>
          </a:solidFill>
          <a:ln/>
        </p:spPr>
      </p:sp>
      <p:sp>
        <p:nvSpPr>
          <p:cNvPr id="122" name="Text 120"/>
          <p:cNvSpPr txBox="1"/>
          <p:nvPr/>
        </p:nvSpPr>
        <p:spPr>
          <a:xfrm>
            <a:off x="10305288"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63.1%</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25" name="Shape 123"/>
          <p:cNvSpPr/>
          <p:nvPr/>
        </p:nvSpPr>
        <p:spPr>
          <a:xfrm>
            <a:off x="8558784" y="4545913"/>
            <a:ext cx="660247" cy="119948"/>
          </a:xfrm>
          <a:prstGeom prst="rect">
            <a:avLst/>
          </a:prstGeom>
          <a:solidFill>
            <a:srgbClr val="C2352F"/>
          </a:solidFill>
          <a:ln/>
        </p:spPr>
      </p:sp>
      <p:sp>
        <p:nvSpPr>
          <p:cNvPr id="126" name="Text 124"/>
          <p:cNvSpPr txBox="1"/>
          <p:nvPr/>
        </p:nvSpPr>
        <p:spPr>
          <a:xfrm>
            <a:off x="10305288"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59.9%</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29" name="Shape 127"/>
          <p:cNvSpPr/>
          <p:nvPr/>
        </p:nvSpPr>
        <p:spPr>
          <a:xfrm>
            <a:off x="8558784" y="4785808"/>
            <a:ext cx="601492" cy="119948"/>
          </a:xfrm>
          <a:prstGeom prst="rect">
            <a:avLst/>
          </a:prstGeom>
          <a:solidFill>
            <a:srgbClr val="C2352F"/>
          </a:solidFill>
          <a:ln/>
        </p:spPr>
      </p:sp>
      <p:sp>
        <p:nvSpPr>
          <p:cNvPr id="130" name="Text 128"/>
          <p:cNvSpPr txBox="1"/>
          <p:nvPr/>
        </p:nvSpPr>
        <p:spPr>
          <a:xfrm>
            <a:off x="10305288"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57.2%</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33" name="Shape 131"/>
          <p:cNvSpPr/>
          <p:nvPr/>
        </p:nvSpPr>
        <p:spPr>
          <a:xfrm>
            <a:off x="8558784" y="5025704"/>
            <a:ext cx="531644" cy="119948"/>
          </a:xfrm>
          <a:prstGeom prst="rect">
            <a:avLst/>
          </a:prstGeom>
          <a:solidFill>
            <a:srgbClr val="C2352F"/>
          </a:solidFill>
          <a:ln/>
        </p:spPr>
      </p:sp>
      <p:sp>
        <p:nvSpPr>
          <p:cNvPr id="134" name="Text 132"/>
          <p:cNvSpPr txBox="1"/>
          <p:nvPr/>
        </p:nvSpPr>
        <p:spPr>
          <a:xfrm>
            <a:off x="10305288"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54.1%</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37" name="Shape 135"/>
          <p:cNvSpPr/>
          <p:nvPr/>
        </p:nvSpPr>
        <p:spPr>
          <a:xfrm>
            <a:off x="8558784" y="5265599"/>
            <a:ext cx="471852" cy="119948"/>
          </a:xfrm>
          <a:prstGeom prst="rect">
            <a:avLst/>
          </a:prstGeom>
          <a:solidFill>
            <a:srgbClr val="C2352F"/>
          </a:solidFill>
          <a:ln/>
        </p:spPr>
      </p:sp>
      <p:sp>
        <p:nvSpPr>
          <p:cNvPr id="138" name="Text 136"/>
          <p:cNvSpPr txBox="1"/>
          <p:nvPr/>
        </p:nvSpPr>
        <p:spPr>
          <a:xfrm>
            <a:off x="10305288"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51.4%</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41" name="Shape 139"/>
          <p:cNvSpPr/>
          <p:nvPr/>
        </p:nvSpPr>
        <p:spPr>
          <a:xfrm>
            <a:off x="8558784" y="5505495"/>
            <a:ext cx="358005" cy="119948"/>
          </a:xfrm>
          <a:prstGeom prst="rect">
            <a:avLst/>
          </a:prstGeom>
          <a:solidFill>
            <a:srgbClr val="C2352F"/>
          </a:solidFill>
          <a:ln/>
        </p:spPr>
      </p:sp>
      <p:sp>
        <p:nvSpPr>
          <p:cNvPr id="142" name="Text 140"/>
          <p:cNvSpPr txBox="1"/>
          <p:nvPr/>
        </p:nvSpPr>
        <p:spPr>
          <a:xfrm>
            <a:off x="10305288"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46.2%</a:t>
            </a:r>
            <a:endParaRPr lang="en-US" sz="1200" dirty="0"/>
          </a:p>
        </p:txBody>
      </p:sp>
      <p:sp>
        <p:nvSpPr>
          <p:cNvPr id="143" name="Shape 141"/>
          <p:cNvSpPr/>
          <p:nvPr/>
        </p:nvSpPr>
        <p:spPr>
          <a:xfrm>
            <a:off x="4063635" y="1847088"/>
            <a:ext cx="14630" cy="4078224"/>
          </a:xfrm>
          <a:prstGeom prst="rect">
            <a:avLst/>
          </a:prstGeom>
          <a:solidFill>
            <a:srgbClr val="0B2C4A"/>
          </a:solidFill>
          <a:ln/>
        </p:spPr>
      </p:sp>
      <p:sp>
        <p:nvSpPr>
          <p:cNvPr id="144" name="Shape 142"/>
          <p:cNvSpPr/>
          <p:nvPr/>
        </p:nvSpPr>
        <p:spPr>
          <a:xfrm>
            <a:off x="9614043" y="1847088"/>
            <a:ext cx="14630" cy="4078224"/>
          </a:xfrm>
          <a:prstGeom prst="rect">
            <a:avLst/>
          </a:prstGeom>
          <a:solidFill>
            <a:srgbClr val="0B2C4A"/>
          </a:solidFill>
          <a:ln/>
        </p:spPr>
      </p:sp>
      <p:sp>
        <p:nvSpPr>
          <p:cNvPr id="145" name="Shape 143"/>
          <p:cNvSpPr/>
          <p:nvPr/>
        </p:nvSpPr>
        <p:spPr>
          <a:xfrm>
            <a:off x="6085332" y="1847088"/>
            <a:ext cx="10973" cy="4078224"/>
          </a:xfrm>
          <a:prstGeom prst="rect">
            <a:avLst/>
          </a:prstGeom>
          <a:solidFill>
            <a:srgbClr val="D9D9D9"/>
          </a:solidFill>
          <a:ln/>
        </p:spPr>
      </p:sp>
      <p:sp>
        <p:nvSpPr>
          <p:cNvPr id="146" name="Shape 144"/>
          <p:cNvSpPr/>
          <p:nvPr/>
        </p:nvSpPr>
        <p:spPr>
          <a:xfrm>
            <a:off x="457200" y="6126480"/>
            <a:ext cx="11274552" cy="615696"/>
          </a:xfrm>
          <a:prstGeom prst="rect">
            <a:avLst/>
          </a:prstGeom>
          <a:solidFill>
            <a:srgbClr val="EDF4FA"/>
          </a:solidFill>
          <a:ln/>
        </p:spPr>
      </p:sp>
      <p:sp>
        <p:nvSpPr>
          <p:cNvPr id="147" name="Text 145"/>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15 of 33 stores at or above the 78.1% group, led by Audi Henderson at 106.6%. Hyundai Prescott is lowest at 46.2%.</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7355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FIXED OPS ABSORPTION %</a:t>
            </a:r>
            <a:endParaRPr lang="en-US" sz="1500" dirty="0"/>
          </a:p>
        </p:txBody>
      </p:sp>
      <p:sp>
        <p:nvSpPr>
          <p:cNvPr id="9" name="Text 7"/>
          <p:cNvSpPr txBox="1"/>
          <p:nvPr/>
        </p:nvSpPr>
        <p:spPr>
          <a:xfrm>
            <a:off x="3649980" y="1335024"/>
            <a:ext cx="439674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+2.1 pts</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3" name="Shape 11"/>
          <p:cNvSpPr/>
          <p:nvPr/>
        </p:nvSpPr>
        <p:spPr>
          <a:xfrm>
            <a:off x="3785616" y="1911860"/>
            <a:ext cx="716268"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+16.1 pts</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7" name="Shape 15"/>
          <p:cNvSpPr/>
          <p:nvPr/>
        </p:nvSpPr>
        <p:spPr>
          <a:xfrm>
            <a:off x="3785616" y="2151755"/>
            <a:ext cx="425726"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+9.5 pts</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21" name="Shape 19"/>
          <p:cNvSpPr/>
          <p:nvPr/>
        </p:nvSpPr>
        <p:spPr>
          <a:xfrm>
            <a:off x="3785616" y="2391651"/>
            <a:ext cx="423929"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+9.5 pts</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25" name="Shape 23"/>
          <p:cNvSpPr/>
          <p:nvPr/>
        </p:nvSpPr>
        <p:spPr>
          <a:xfrm>
            <a:off x="3785616" y="2631546"/>
            <a:ext cx="249780"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+5.6 pts</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29" name="Shape 27"/>
          <p:cNvSpPr/>
          <p:nvPr/>
        </p:nvSpPr>
        <p:spPr>
          <a:xfrm>
            <a:off x="3785616" y="2871442"/>
            <a:ext cx="241902"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+5.4 pts</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33" name="Shape 31"/>
          <p:cNvSpPr/>
          <p:nvPr/>
        </p:nvSpPr>
        <p:spPr>
          <a:xfrm>
            <a:off x="3785616" y="3111337"/>
            <a:ext cx="234433"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+5.3 pts</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37" name="Shape 35"/>
          <p:cNvSpPr/>
          <p:nvPr/>
        </p:nvSpPr>
        <p:spPr>
          <a:xfrm>
            <a:off x="3785616" y="3351233"/>
            <a:ext cx="234127"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+5.2 pts</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41" name="Shape 39"/>
          <p:cNvSpPr/>
          <p:nvPr/>
        </p:nvSpPr>
        <p:spPr>
          <a:xfrm>
            <a:off x="3785616" y="3591128"/>
            <a:ext cx="230514"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+5.2 pts</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45" name="Shape 43"/>
          <p:cNvSpPr/>
          <p:nvPr/>
        </p:nvSpPr>
        <p:spPr>
          <a:xfrm>
            <a:off x="3785616" y="3831024"/>
            <a:ext cx="227415"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+5.1 pts</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49" name="Shape 47"/>
          <p:cNvSpPr/>
          <p:nvPr/>
        </p:nvSpPr>
        <p:spPr>
          <a:xfrm>
            <a:off x="3785616" y="4070920"/>
            <a:ext cx="222558"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+5.0 pts</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53" name="Shape 51"/>
          <p:cNvSpPr/>
          <p:nvPr/>
        </p:nvSpPr>
        <p:spPr>
          <a:xfrm>
            <a:off x="3785616" y="4310815"/>
            <a:ext cx="220801"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+4.9 pts</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57" name="Shape 55"/>
          <p:cNvSpPr/>
          <p:nvPr/>
        </p:nvSpPr>
        <p:spPr>
          <a:xfrm>
            <a:off x="3785616" y="4550711"/>
            <a:ext cx="212368"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+4.8 pts</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61" name="Shape 59"/>
          <p:cNvSpPr/>
          <p:nvPr/>
        </p:nvSpPr>
        <p:spPr>
          <a:xfrm>
            <a:off x="3785616" y="4790606"/>
            <a:ext cx="178083"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+4.0 pts</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65" name="Shape 63"/>
          <p:cNvSpPr/>
          <p:nvPr/>
        </p:nvSpPr>
        <p:spPr>
          <a:xfrm>
            <a:off x="3785616" y="5030502"/>
            <a:ext cx="171975"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+3.9 pts</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69" name="Shape 67"/>
          <p:cNvSpPr/>
          <p:nvPr/>
        </p:nvSpPr>
        <p:spPr>
          <a:xfrm>
            <a:off x="3785616" y="5270397"/>
            <a:ext cx="170724"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+3.8 pts</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73" name="Shape 71"/>
          <p:cNvSpPr/>
          <p:nvPr/>
        </p:nvSpPr>
        <p:spPr>
          <a:xfrm>
            <a:off x="3785616" y="5510293"/>
            <a:ext cx="145782" cy="110352"/>
          </a:xfrm>
          <a:prstGeom prst="rect">
            <a:avLst/>
          </a:prstGeom>
          <a:solidFill>
            <a:srgbClr val="12A566"/>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+3.3 pts</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77" name="Shape 75"/>
          <p:cNvSpPr/>
          <p:nvPr/>
        </p:nvSpPr>
        <p:spPr>
          <a:xfrm>
            <a:off x="3785616" y="5750188"/>
            <a:ext cx="144022" cy="110352"/>
          </a:xfrm>
          <a:prstGeom prst="rect">
            <a:avLst/>
          </a:prstGeom>
          <a:solidFill>
            <a:srgbClr val="12A566"/>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+3.2 pts</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81" name="Shape 79"/>
          <p:cNvSpPr/>
          <p:nvPr/>
        </p:nvSpPr>
        <p:spPr>
          <a:xfrm>
            <a:off x="9336024" y="1911860"/>
            <a:ext cx="111949" cy="110352"/>
          </a:xfrm>
          <a:prstGeom prst="rect">
            <a:avLst/>
          </a:prstGeom>
          <a:solidFill>
            <a:srgbClr val="12A566"/>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+2.5 pts</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85" name="Shape 83"/>
          <p:cNvSpPr/>
          <p:nvPr/>
        </p:nvSpPr>
        <p:spPr>
          <a:xfrm>
            <a:off x="9336024" y="2151755"/>
            <a:ext cx="76399" cy="110352"/>
          </a:xfrm>
          <a:prstGeom prst="rect">
            <a:avLst/>
          </a:prstGeom>
          <a:solidFill>
            <a:srgbClr val="12A566"/>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+1.7 pts</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89" name="Shape 87"/>
          <p:cNvSpPr/>
          <p:nvPr/>
        </p:nvSpPr>
        <p:spPr>
          <a:xfrm>
            <a:off x="9336024" y="2391651"/>
            <a:ext cx="71229" cy="110352"/>
          </a:xfrm>
          <a:prstGeom prst="rect">
            <a:avLst/>
          </a:prstGeom>
          <a:solidFill>
            <a:srgbClr val="12A566"/>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 pts</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93" name="Shape 91"/>
          <p:cNvSpPr/>
          <p:nvPr/>
        </p:nvSpPr>
        <p:spPr>
          <a:xfrm>
            <a:off x="9336024" y="2631546"/>
            <a:ext cx="27863" cy="110352"/>
          </a:xfrm>
          <a:prstGeom prst="rect">
            <a:avLst/>
          </a:prstGeom>
          <a:solidFill>
            <a:srgbClr val="12A566"/>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+0.6 pts</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97" name="Shape 95"/>
          <p:cNvSpPr/>
          <p:nvPr/>
        </p:nvSpPr>
        <p:spPr>
          <a:xfrm>
            <a:off x="9336024" y="2871442"/>
            <a:ext cx="13338" cy="110352"/>
          </a:xfrm>
          <a:prstGeom prst="rect">
            <a:avLst/>
          </a:prstGeom>
          <a:solidFill>
            <a:srgbClr val="12A566"/>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+0.3 pts</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01" name="Shape 99"/>
          <p:cNvSpPr/>
          <p:nvPr/>
        </p:nvSpPr>
        <p:spPr>
          <a:xfrm>
            <a:off x="9336024" y="3111337"/>
            <a:ext cx="12802" cy="110352"/>
          </a:xfrm>
          <a:prstGeom prst="rect">
            <a:avLst/>
          </a:prstGeom>
          <a:solidFill>
            <a:srgbClr val="12A566"/>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+0.0 pts</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05" name="Shape 103"/>
          <p:cNvSpPr/>
          <p:nvPr/>
        </p:nvSpPr>
        <p:spPr>
          <a:xfrm>
            <a:off x="9330933" y="3351233"/>
            <a:ext cx="12802" cy="110352"/>
          </a:xfrm>
          <a:prstGeom prst="rect">
            <a:avLst/>
          </a:prstGeom>
          <a:solidFill>
            <a:srgbClr val="C2352F"/>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−0.1 pts</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09" name="Shape 107"/>
          <p:cNvSpPr/>
          <p:nvPr/>
        </p:nvSpPr>
        <p:spPr>
          <a:xfrm>
            <a:off x="9329910" y="3591128"/>
            <a:ext cx="12802" cy="110352"/>
          </a:xfrm>
          <a:prstGeom prst="rect">
            <a:avLst/>
          </a:prstGeom>
          <a:solidFill>
            <a:srgbClr val="C2352F"/>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−0.1 pts</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13" name="Shape 111"/>
          <p:cNvSpPr/>
          <p:nvPr/>
        </p:nvSpPr>
        <p:spPr>
          <a:xfrm>
            <a:off x="9325626" y="3831024"/>
            <a:ext cx="12802" cy="110352"/>
          </a:xfrm>
          <a:prstGeom prst="rect">
            <a:avLst/>
          </a:prstGeom>
          <a:solidFill>
            <a:srgbClr val="C2352F"/>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−0.2 pts</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17" name="Shape 115"/>
          <p:cNvSpPr/>
          <p:nvPr/>
        </p:nvSpPr>
        <p:spPr>
          <a:xfrm>
            <a:off x="9288072" y="4070920"/>
            <a:ext cx="47952" cy="110352"/>
          </a:xfrm>
          <a:prstGeom prst="rect">
            <a:avLst/>
          </a:prstGeom>
          <a:solidFill>
            <a:srgbClr val="C2352F"/>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 pts</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21" name="Shape 119"/>
          <p:cNvSpPr/>
          <p:nvPr/>
        </p:nvSpPr>
        <p:spPr>
          <a:xfrm>
            <a:off x="9286667" y="4310815"/>
            <a:ext cx="49357" cy="110352"/>
          </a:xfrm>
          <a:prstGeom prst="rect">
            <a:avLst/>
          </a:prstGeom>
          <a:solidFill>
            <a:srgbClr val="C2352F"/>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 pts</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25" name="Shape 123"/>
          <p:cNvSpPr/>
          <p:nvPr/>
        </p:nvSpPr>
        <p:spPr>
          <a:xfrm>
            <a:off x="9232720" y="4550711"/>
            <a:ext cx="103304"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−2.3 pts</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29" name="Shape 127"/>
          <p:cNvSpPr/>
          <p:nvPr/>
        </p:nvSpPr>
        <p:spPr>
          <a:xfrm>
            <a:off x="9063013" y="4790606"/>
            <a:ext cx="273011"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−6.1 pts</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33" name="Shape 131"/>
          <p:cNvSpPr/>
          <p:nvPr/>
        </p:nvSpPr>
        <p:spPr>
          <a:xfrm>
            <a:off x="8903742" y="5030502"/>
            <a:ext cx="432282"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−9.7 pts</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37" name="Shape 135"/>
          <p:cNvSpPr/>
          <p:nvPr/>
        </p:nvSpPr>
        <p:spPr>
          <a:xfrm>
            <a:off x="8884924" y="5270397"/>
            <a:ext cx="451100"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−10.1 pts</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41" name="Shape 139"/>
          <p:cNvSpPr/>
          <p:nvPr/>
        </p:nvSpPr>
        <p:spPr>
          <a:xfrm>
            <a:off x="8558784" y="5510293"/>
            <a:ext cx="777240"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−17.4 pts</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6" name="Shape 144"/>
          <p:cNvSpPr/>
          <p:nvPr/>
        </p:nvSpPr>
        <p:spPr>
          <a:xfrm>
            <a:off x="457200" y="6126480"/>
            <a:ext cx="11274552" cy="615696"/>
          </a:xfrm>
          <a:prstGeom prst="rect">
            <a:avLst/>
          </a:prstGeom>
          <a:solidFill>
            <a:srgbClr val="E6F6EE"/>
          </a:solidFill>
          <a:ln/>
        </p:spPr>
      </p:sp>
      <p:sp>
        <p:nvSpPr>
          <p:cNvPr id="147" name="Text 145"/>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23 of 33 stores raised absorption, led by Lincoln at +16.1 pts to 59.9%. 10 declined; VW St George fell most at −17.4 pts.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to Gross %</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18.9%</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21.8%</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+2.9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+15.6%</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Service Net to Gross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sp>
        <p:nvSpPr>
          <p:cNvPr id="21" name="Shape 15"/>
          <p:cNvSpPr/>
          <p:nvPr/>
        </p:nvSpPr>
        <p:spPr>
          <a:xfrm>
            <a:off x="4951476" y="3049524"/>
            <a:ext cx="310896" cy="45720"/>
          </a:xfrm>
          <a:prstGeom prst="rect">
            <a:avLst/>
          </a:prstGeom>
          <a:solidFill>
            <a:srgbClr val="9AA3AD"/>
          </a:solidFill>
          <a:ln/>
        </p:spPr>
      </p:sp>
      <p:sp>
        <p:nvSpPr>
          <p:cNvPr id="22" name="Shape 16"/>
          <p:cNvSpPr/>
          <p:nvPr/>
        </p:nvSpPr>
        <p:spPr>
          <a:xfrm>
            <a:off x="5052060" y="3017520"/>
            <a:ext cx="109728" cy="109728"/>
          </a:xfrm>
          <a:prstGeom prst="ellipse">
            <a:avLst/>
          </a:prstGeom>
          <a:solidFill>
            <a:srgbClr val="9AA3AD"/>
          </a:solidFill>
          <a:ln/>
        </p:spPr>
      </p:sp>
      <p:sp>
        <p:nvSpPr>
          <p:cNvPr id="23"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4" name="Shape 18"/>
          <p:cNvSpPr/>
          <p:nvPr/>
        </p:nvSpPr>
        <p:spPr>
          <a:xfrm>
            <a:off x="6185916" y="3049524"/>
            <a:ext cx="310896" cy="45720"/>
          </a:xfrm>
          <a:prstGeom prst="rect">
            <a:avLst/>
          </a:prstGeom>
          <a:solidFill>
            <a:srgbClr val="2587C5"/>
          </a:solidFill>
          <a:ln/>
        </p:spPr>
      </p:sp>
      <p:sp>
        <p:nvSpPr>
          <p:cNvPr id="25" name="Shape 19"/>
          <p:cNvSpPr/>
          <p:nvPr/>
        </p:nvSpPr>
        <p:spPr>
          <a:xfrm>
            <a:off x="6286500" y="3017520"/>
            <a:ext cx="109728" cy="109728"/>
          </a:xfrm>
          <a:prstGeom prst="ellipse">
            <a:avLst/>
          </a:prstGeom>
          <a:solidFill>
            <a:srgbClr val="2587C5"/>
          </a:solidFill>
          <a:ln/>
        </p:spPr>
      </p:sp>
      <p:sp>
        <p:nvSpPr>
          <p:cNvPr id="26"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7" name="Shape 21"/>
          <p:cNvSpPr/>
          <p:nvPr/>
        </p:nvSpPr>
        <p:spPr>
          <a:xfrm>
            <a:off x="457200" y="6126480"/>
            <a:ext cx="11274552" cy="356616"/>
          </a:xfrm>
          <a:prstGeom prst="rect">
            <a:avLst/>
          </a:prstGeom>
          <a:solidFill>
            <a:srgbClr val="E6F6EE"/>
          </a:solidFill>
          <a:ln/>
        </p:spPr>
      </p:sp>
      <p:sp>
        <p:nvSpPr>
          <p:cNvPr id="28" name="Text 22"/>
          <p:cNvSpPr txBox="1"/>
          <p:nvPr/>
        </p:nvSpPr>
        <p:spPr>
          <a:xfrm>
            <a:off x="658368" y="6144768"/>
            <a:ext cx="10927080" cy="3200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Up 2.9 pts to 21.8%, ahead of 2025 in all nine months. Department profit grew 21.6% on 5.2% more gross.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to Gross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7355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SERVICE NET TO GROSS %</a:t>
            </a:r>
            <a:endParaRPr lang="en-US" sz="1500" dirty="0"/>
          </a:p>
        </p:txBody>
      </p:sp>
      <p:sp>
        <p:nvSpPr>
          <p:cNvPr id="9" name="Text 7"/>
          <p:cNvSpPr txBox="1"/>
          <p:nvPr/>
        </p:nvSpPr>
        <p:spPr>
          <a:xfrm>
            <a:off x="3649980" y="1335024"/>
            <a:ext cx="43967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21.8%</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3" name="Shape 11"/>
          <p:cNvSpPr/>
          <p:nvPr/>
        </p:nvSpPr>
        <p:spPr>
          <a:xfrm>
            <a:off x="3872946" y="1907062"/>
            <a:ext cx="827070" cy="119948"/>
          </a:xfrm>
          <a:prstGeom prst="rect">
            <a:avLst/>
          </a:prstGeom>
          <a:solidFill>
            <a:srgbClr val="12A566"/>
          </a:solidFill>
          <a:ln/>
        </p:spPr>
      </p:sp>
      <p:sp>
        <p:nvSpPr>
          <p:cNvPr id="14" name="Text 12"/>
          <p:cNvSpPr txBox="1"/>
          <p:nvPr/>
        </p:nvSpPr>
        <p:spPr>
          <a:xfrm>
            <a:off x="4754880"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43.0%</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7" name="Shape 15"/>
          <p:cNvSpPr/>
          <p:nvPr/>
        </p:nvSpPr>
        <p:spPr>
          <a:xfrm>
            <a:off x="3872946" y="2146957"/>
            <a:ext cx="741210" cy="119948"/>
          </a:xfrm>
          <a:prstGeom prst="rect">
            <a:avLst/>
          </a:prstGeom>
          <a:solidFill>
            <a:srgbClr val="12A566"/>
          </a:solidFill>
          <a:ln/>
        </p:spPr>
      </p:sp>
      <p:sp>
        <p:nvSpPr>
          <p:cNvPr id="18" name="Text 16"/>
          <p:cNvSpPr txBox="1"/>
          <p:nvPr/>
        </p:nvSpPr>
        <p:spPr>
          <a:xfrm>
            <a:off x="4754880"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38.6%</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21" name="Shape 19"/>
          <p:cNvSpPr/>
          <p:nvPr/>
        </p:nvSpPr>
        <p:spPr>
          <a:xfrm>
            <a:off x="3872946" y="2386853"/>
            <a:ext cx="733821" cy="119948"/>
          </a:xfrm>
          <a:prstGeom prst="rect">
            <a:avLst/>
          </a:prstGeom>
          <a:solidFill>
            <a:srgbClr val="12A566"/>
          </a:solidFill>
          <a:ln/>
        </p:spPr>
      </p:sp>
      <p:sp>
        <p:nvSpPr>
          <p:cNvPr id="22" name="Text 20"/>
          <p:cNvSpPr txBox="1"/>
          <p:nvPr/>
        </p:nvSpPr>
        <p:spPr>
          <a:xfrm>
            <a:off x="4754880" y="232687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38.2%</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25" name="Shape 23"/>
          <p:cNvSpPr/>
          <p:nvPr/>
        </p:nvSpPr>
        <p:spPr>
          <a:xfrm>
            <a:off x="3872946" y="2626748"/>
            <a:ext cx="712087" cy="119948"/>
          </a:xfrm>
          <a:prstGeom prst="rect">
            <a:avLst/>
          </a:prstGeom>
          <a:solidFill>
            <a:srgbClr val="12A566"/>
          </a:solidFill>
          <a:ln/>
        </p:spPr>
      </p:sp>
      <p:sp>
        <p:nvSpPr>
          <p:cNvPr id="26" name="Text 24"/>
          <p:cNvSpPr txBox="1"/>
          <p:nvPr/>
        </p:nvSpPr>
        <p:spPr>
          <a:xfrm>
            <a:off x="4754880" y="256677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37.1%</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29" name="Shape 27"/>
          <p:cNvSpPr/>
          <p:nvPr/>
        </p:nvSpPr>
        <p:spPr>
          <a:xfrm>
            <a:off x="3872946" y="2866644"/>
            <a:ext cx="655726" cy="119948"/>
          </a:xfrm>
          <a:prstGeom prst="rect">
            <a:avLst/>
          </a:prstGeom>
          <a:solidFill>
            <a:srgbClr val="12A566"/>
          </a:solidFill>
          <a:ln/>
        </p:spPr>
      </p:sp>
      <p:sp>
        <p:nvSpPr>
          <p:cNvPr id="30" name="Text 28"/>
          <p:cNvSpPr txBox="1"/>
          <p:nvPr/>
        </p:nvSpPr>
        <p:spPr>
          <a:xfrm>
            <a:off x="4754880" y="280667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34.1%</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33" name="Shape 31"/>
          <p:cNvSpPr/>
          <p:nvPr/>
        </p:nvSpPr>
        <p:spPr>
          <a:xfrm>
            <a:off x="3872946" y="3106540"/>
            <a:ext cx="566887" cy="119948"/>
          </a:xfrm>
          <a:prstGeom prst="rect">
            <a:avLst/>
          </a:prstGeom>
          <a:solidFill>
            <a:srgbClr val="12A566"/>
          </a:solidFill>
          <a:ln/>
        </p:spPr>
      </p:sp>
      <p:sp>
        <p:nvSpPr>
          <p:cNvPr id="34" name="Text 32"/>
          <p:cNvSpPr txBox="1"/>
          <p:nvPr/>
        </p:nvSpPr>
        <p:spPr>
          <a:xfrm>
            <a:off x="4754880" y="304656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29.5%</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37" name="Shape 35"/>
          <p:cNvSpPr/>
          <p:nvPr/>
        </p:nvSpPr>
        <p:spPr>
          <a:xfrm>
            <a:off x="3872946" y="3346435"/>
            <a:ext cx="539181" cy="119948"/>
          </a:xfrm>
          <a:prstGeom prst="rect">
            <a:avLst/>
          </a:prstGeom>
          <a:solidFill>
            <a:srgbClr val="12A566"/>
          </a:solidFill>
          <a:ln/>
        </p:spPr>
      </p:sp>
      <p:sp>
        <p:nvSpPr>
          <p:cNvPr id="38" name="Text 36"/>
          <p:cNvSpPr txBox="1"/>
          <p:nvPr/>
        </p:nvSpPr>
        <p:spPr>
          <a:xfrm>
            <a:off x="4754880" y="328646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28.1%</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41" name="Shape 39"/>
          <p:cNvSpPr/>
          <p:nvPr/>
        </p:nvSpPr>
        <p:spPr>
          <a:xfrm>
            <a:off x="3872946" y="3586331"/>
            <a:ext cx="521670" cy="119948"/>
          </a:xfrm>
          <a:prstGeom prst="rect">
            <a:avLst/>
          </a:prstGeom>
          <a:solidFill>
            <a:srgbClr val="12A566"/>
          </a:solidFill>
          <a:ln/>
        </p:spPr>
      </p:sp>
      <p:sp>
        <p:nvSpPr>
          <p:cNvPr id="42" name="Text 40"/>
          <p:cNvSpPr txBox="1"/>
          <p:nvPr/>
        </p:nvSpPr>
        <p:spPr>
          <a:xfrm>
            <a:off x="4754880" y="3526357"/>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27.2%</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45" name="Shape 43"/>
          <p:cNvSpPr/>
          <p:nvPr/>
        </p:nvSpPr>
        <p:spPr>
          <a:xfrm>
            <a:off x="3872946" y="3826226"/>
            <a:ext cx="516222" cy="119948"/>
          </a:xfrm>
          <a:prstGeom prst="rect">
            <a:avLst/>
          </a:prstGeom>
          <a:solidFill>
            <a:srgbClr val="12A566"/>
          </a:solidFill>
          <a:ln/>
        </p:spPr>
      </p:sp>
      <p:sp>
        <p:nvSpPr>
          <p:cNvPr id="46" name="Text 44"/>
          <p:cNvSpPr txBox="1"/>
          <p:nvPr/>
        </p:nvSpPr>
        <p:spPr>
          <a:xfrm>
            <a:off x="4754880" y="3766252"/>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26.9%</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49" name="Shape 47"/>
          <p:cNvSpPr/>
          <p:nvPr/>
        </p:nvSpPr>
        <p:spPr>
          <a:xfrm>
            <a:off x="3872946" y="4066122"/>
            <a:ext cx="486582" cy="119948"/>
          </a:xfrm>
          <a:prstGeom prst="rect">
            <a:avLst/>
          </a:prstGeom>
          <a:solidFill>
            <a:srgbClr val="12A566"/>
          </a:solidFill>
          <a:ln/>
        </p:spPr>
      </p:sp>
      <p:sp>
        <p:nvSpPr>
          <p:cNvPr id="50" name="Text 48"/>
          <p:cNvSpPr txBox="1"/>
          <p:nvPr/>
        </p:nvSpPr>
        <p:spPr>
          <a:xfrm>
            <a:off x="4754880" y="400614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25.3%</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53" name="Shape 51"/>
          <p:cNvSpPr/>
          <p:nvPr/>
        </p:nvSpPr>
        <p:spPr>
          <a:xfrm>
            <a:off x="3872946" y="4306017"/>
            <a:ext cx="419144" cy="119948"/>
          </a:xfrm>
          <a:prstGeom prst="rect">
            <a:avLst/>
          </a:prstGeom>
          <a:solidFill>
            <a:srgbClr val="C2352F"/>
          </a:solidFill>
          <a:ln/>
        </p:spPr>
      </p:sp>
      <p:sp>
        <p:nvSpPr>
          <p:cNvPr id="54" name="Text 52"/>
          <p:cNvSpPr txBox="1"/>
          <p:nvPr/>
        </p:nvSpPr>
        <p:spPr>
          <a:xfrm>
            <a:off x="4754880"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21.8%</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57" name="Shape 55"/>
          <p:cNvSpPr/>
          <p:nvPr/>
        </p:nvSpPr>
        <p:spPr>
          <a:xfrm>
            <a:off x="3872946" y="4545913"/>
            <a:ext cx="413606" cy="119948"/>
          </a:xfrm>
          <a:prstGeom prst="rect">
            <a:avLst/>
          </a:prstGeom>
          <a:solidFill>
            <a:srgbClr val="C2352F"/>
          </a:solidFill>
          <a:ln/>
        </p:spPr>
      </p:sp>
      <p:sp>
        <p:nvSpPr>
          <p:cNvPr id="58" name="Text 56"/>
          <p:cNvSpPr txBox="1"/>
          <p:nvPr/>
        </p:nvSpPr>
        <p:spPr>
          <a:xfrm>
            <a:off x="4754880"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21.5%</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61" name="Shape 59"/>
          <p:cNvSpPr/>
          <p:nvPr/>
        </p:nvSpPr>
        <p:spPr>
          <a:xfrm>
            <a:off x="3872946" y="4785808"/>
            <a:ext cx="387517" cy="119948"/>
          </a:xfrm>
          <a:prstGeom prst="rect">
            <a:avLst/>
          </a:prstGeom>
          <a:solidFill>
            <a:srgbClr val="C2352F"/>
          </a:solidFill>
          <a:ln/>
        </p:spPr>
      </p:sp>
      <p:sp>
        <p:nvSpPr>
          <p:cNvPr id="62" name="Text 60"/>
          <p:cNvSpPr txBox="1"/>
          <p:nvPr/>
        </p:nvSpPr>
        <p:spPr>
          <a:xfrm>
            <a:off x="4754880"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20.2%</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65" name="Shape 63"/>
          <p:cNvSpPr/>
          <p:nvPr/>
        </p:nvSpPr>
        <p:spPr>
          <a:xfrm>
            <a:off x="3872946" y="5025704"/>
            <a:ext cx="372520" cy="119948"/>
          </a:xfrm>
          <a:prstGeom prst="rect">
            <a:avLst/>
          </a:prstGeom>
          <a:solidFill>
            <a:srgbClr val="C2352F"/>
          </a:solidFill>
          <a:ln/>
        </p:spPr>
      </p:sp>
      <p:sp>
        <p:nvSpPr>
          <p:cNvPr id="66" name="Text 64"/>
          <p:cNvSpPr txBox="1"/>
          <p:nvPr/>
        </p:nvSpPr>
        <p:spPr>
          <a:xfrm>
            <a:off x="4754880"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19.4%</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69" name="Shape 67"/>
          <p:cNvSpPr/>
          <p:nvPr/>
        </p:nvSpPr>
        <p:spPr>
          <a:xfrm>
            <a:off x="3872946" y="5265599"/>
            <a:ext cx="370433" cy="119948"/>
          </a:xfrm>
          <a:prstGeom prst="rect">
            <a:avLst/>
          </a:prstGeom>
          <a:solidFill>
            <a:srgbClr val="C2352F"/>
          </a:solidFill>
          <a:ln/>
        </p:spPr>
      </p:sp>
      <p:sp>
        <p:nvSpPr>
          <p:cNvPr id="70" name="Text 68"/>
          <p:cNvSpPr txBox="1"/>
          <p:nvPr/>
        </p:nvSpPr>
        <p:spPr>
          <a:xfrm>
            <a:off x="4754880"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19.3%</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73" name="Shape 71"/>
          <p:cNvSpPr/>
          <p:nvPr/>
        </p:nvSpPr>
        <p:spPr>
          <a:xfrm>
            <a:off x="3872946" y="5505495"/>
            <a:ext cx="362889" cy="119948"/>
          </a:xfrm>
          <a:prstGeom prst="rect">
            <a:avLst/>
          </a:prstGeom>
          <a:solidFill>
            <a:srgbClr val="C2352F"/>
          </a:solidFill>
          <a:ln/>
        </p:spPr>
      </p:sp>
      <p:sp>
        <p:nvSpPr>
          <p:cNvPr id="74" name="Text 72"/>
          <p:cNvSpPr txBox="1"/>
          <p:nvPr/>
        </p:nvSpPr>
        <p:spPr>
          <a:xfrm>
            <a:off x="4754880"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18.9%</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77" name="Shape 75"/>
          <p:cNvSpPr/>
          <p:nvPr/>
        </p:nvSpPr>
        <p:spPr>
          <a:xfrm>
            <a:off x="3872946" y="5745390"/>
            <a:ext cx="347211" cy="119948"/>
          </a:xfrm>
          <a:prstGeom prst="rect">
            <a:avLst/>
          </a:prstGeom>
          <a:solidFill>
            <a:srgbClr val="C2352F"/>
          </a:solidFill>
          <a:ln/>
        </p:spPr>
      </p:sp>
      <p:sp>
        <p:nvSpPr>
          <p:cNvPr id="78" name="Text 76"/>
          <p:cNvSpPr txBox="1"/>
          <p:nvPr/>
        </p:nvSpPr>
        <p:spPr>
          <a:xfrm>
            <a:off x="4754880" y="568541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18.1%</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81" name="Shape 79"/>
          <p:cNvSpPr/>
          <p:nvPr/>
        </p:nvSpPr>
        <p:spPr>
          <a:xfrm>
            <a:off x="9423354" y="1907062"/>
            <a:ext cx="307434" cy="119948"/>
          </a:xfrm>
          <a:prstGeom prst="rect">
            <a:avLst/>
          </a:prstGeom>
          <a:solidFill>
            <a:srgbClr val="C2352F"/>
          </a:solidFill>
          <a:ln/>
        </p:spPr>
      </p:sp>
      <p:sp>
        <p:nvSpPr>
          <p:cNvPr id="82" name="Text 80"/>
          <p:cNvSpPr txBox="1"/>
          <p:nvPr/>
        </p:nvSpPr>
        <p:spPr>
          <a:xfrm>
            <a:off x="10305288" y="184708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16.0%</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85" name="Shape 83"/>
          <p:cNvSpPr/>
          <p:nvPr/>
        </p:nvSpPr>
        <p:spPr>
          <a:xfrm>
            <a:off x="9423354" y="2146957"/>
            <a:ext cx="299427" cy="119948"/>
          </a:xfrm>
          <a:prstGeom prst="rect">
            <a:avLst/>
          </a:prstGeom>
          <a:solidFill>
            <a:srgbClr val="C2352F"/>
          </a:solidFill>
          <a:ln/>
        </p:spPr>
      </p:sp>
      <p:sp>
        <p:nvSpPr>
          <p:cNvPr id="86" name="Text 84"/>
          <p:cNvSpPr txBox="1"/>
          <p:nvPr/>
        </p:nvSpPr>
        <p:spPr>
          <a:xfrm>
            <a:off x="10305288" y="208698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15.6%</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89" name="Shape 87"/>
          <p:cNvSpPr/>
          <p:nvPr/>
        </p:nvSpPr>
        <p:spPr>
          <a:xfrm>
            <a:off x="9423354" y="2386853"/>
            <a:ext cx="228054" cy="119948"/>
          </a:xfrm>
          <a:prstGeom prst="rect">
            <a:avLst/>
          </a:prstGeom>
          <a:solidFill>
            <a:srgbClr val="C2352F"/>
          </a:solidFill>
          <a:ln/>
        </p:spPr>
      </p:sp>
      <p:sp>
        <p:nvSpPr>
          <p:cNvPr id="90" name="Text 88"/>
          <p:cNvSpPr txBox="1"/>
          <p:nvPr/>
        </p:nvSpPr>
        <p:spPr>
          <a:xfrm>
            <a:off x="10305288" y="232687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11.9%</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93" name="Shape 91"/>
          <p:cNvSpPr/>
          <p:nvPr/>
        </p:nvSpPr>
        <p:spPr>
          <a:xfrm>
            <a:off x="9423354" y="2626748"/>
            <a:ext cx="226811" cy="119948"/>
          </a:xfrm>
          <a:prstGeom prst="rect">
            <a:avLst/>
          </a:prstGeom>
          <a:solidFill>
            <a:srgbClr val="C2352F"/>
          </a:solidFill>
          <a:ln/>
        </p:spPr>
      </p:sp>
      <p:sp>
        <p:nvSpPr>
          <p:cNvPr id="94" name="Text 92"/>
          <p:cNvSpPr txBox="1"/>
          <p:nvPr/>
        </p:nvSpPr>
        <p:spPr>
          <a:xfrm>
            <a:off x="10305288" y="256677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11.8%</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97" name="Shape 95"/>
          <p:cNvSpPr/>
          <p:nvPr/>
        </p:nvSpPr>
        <p:spPr>
          <a:xfrm>
            <a:off x="9423354" y="2866644"/>
            <a:ext cx="150781" cy="119948"/>
          </a:xfrm>
          <a:prstGeom prst="rect">
            <a:avLst/>
          </a:prstGeom>
          <a:solidFill>
            <a:srgbClr val="C2352F"/>
          </a:solidFill>
          <a:ln/>
        </p:spPr>
      </p:sp>
      <p:sp>
        <p:nvSpPr>
          <p:cNvPr id="98" name="Text 96"/>
          <p:cNvSpPr txBox="1"/>
          <p:nvPr/>
        </p:nvSpPr>
        <p:spPr>
          <a:xfrm>
            <a:off x="10305288" y="280667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7.8%</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01" name="Shape 99"/>
          <p:cNvSpPr/>
          <p:nvPr/>
        </p:nvSpPr>
        <p:spPr>
          <a:xfrm>
            <a:off x="9423354" y="3106540"/>
            <a:ext cx="98956" cy="119948"/>
          </a:xfrm>
          <a:prstGeom prst="rect">
            <a:avLst/>
          </a:prstGeom>
          <a:solidFill>
            <a:srgbClr val="C2352F"/>
          </a:solidFill>
          <a:ln/>
        </p:spPr>
      </p:sp>
      <p:sp>
        <p:nvSpPr>
          <p:cNvPr id="102" name="Text 100"/>
          <p:cNvSpPr txBox="1"/>
          <p:nvPr/>
        </p:nvSpPr>
        <p:spPr>
          <a:xfrm>
            <a:off x="10305288" y="304656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5.2%</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05" name="Shape 103"/>
          <p:cNvSpPr/>
          <p:nvPr/>
        </p:nvSpPr>
        <p:spPr>
          <a:xfrm>
            <a:off x="9423354" y="3346435"/>
            <a:ext cx="92745" cy="119948"/>
          </a:xfrm>
          <a:prstGeom prst="rect">
            <a:avLst/>
          </a:prstGeom>
          <a:solidFill>
            <a:srgbClr val="C2352F"/>
          </a:solidFill>
          <a:ln/>
        </p:spPr>
      </p:sp>
      <p:sp>
        <p:nvSpPr>
          <p:cNvPr id="106" name="Text 104"/>
          <p:cNvSpPr txBox="1"/>
          <p:nvPr/>
        </p:nvSpPr>
        <p:spPr>
          <a:xfrm>
            <a:off x="10305288" y="328646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4.8%</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09" name="Shape 107"/>
          <p:cNvSpPr/>
          <p:nvPr/>
        </p:nvSpPr>
        <p:spPr>
          <a:xfrm>
            <a:off x="9423354" y="3586331"/>
            <a:ext cx="72080" cy="119948"/>
          </a:xfrm>
          <a:prstGeom prst="rect">
            <a:avLst/>
          </a:prstGeom>
          <a:solidFill>
            <a:srgbClr val="C2352F"/>
          </a:solidFill>
          <a:ln/>
        </p:spPr>
      </p:sp>
      <p:sp>
        <p:nvSpPr>
          <p:cNvPr id="110" name="Text 108"/>
          <p:cNvSpPr txBox="1"/>
          <p:nvPr/>
        </p:nvSpPr>
        <p:spPr>
          <a:xfrm>
            <a:off x="10305288" y="3526357"/>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3.8%</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13" name="Shape 111"/>
          <p:cNvSpPr/>
          <p:nvPr/>
        </p:nvSpPr>
        <p:spPr>
          <a:xfrm>
            <a:off x="9423354" y="3826226"/>
            <a:ext cx="68131" cy="119948"/>
          </a:xfrm>
          <a:prstGeom prst="rect">
            <a:avLst/>
          </a:prstGeom>
          <a:solidFill>
            <a:srgbClr val="C2352F"/>
          </a:solidFill>
          <a:ln/>
        </p:spPr>
      </p:sp>
      <p:sp>
        <p:nvSpPr>
          <p:cNvPr id="114" name="Text 112"/>
          <p:cNvSpPr txBox="1"/>
          <p:nvPr/>
        </p:nvSpPr>
        <p:spPr>
          <a:xfrm>
            <a:off x="10305288" y="3766252"/>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3.5%</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17" name="Shape 115"/>
          <p:cNvSpPr/>
          <p:nvPr/>
        </p:nvSpPr>
        <p:spPr>
          <a:xfrm>
            <a:off x="9362469" y="4066122"/>
            <a:ext cx="60885" cy="119948"/>
          </a:xfrm>
          <a:prstGeom prst="rect">
            <a:avLst/>
          </a:prstGeom>
          <a:solidFill>
            <a:srgbClr val="C2352F"/>
          </a:solidFill>
          <a:ln/>
        </p:spPr>
      </p:sp>
      <p:sp>
        <p:nvSpPr>
          <p:cNvPr id="118" name="Text 116"/>
          <p:cNvSpPr txBox="1"/>
          <p:nvPr/>
        </p:nvSpPr>
        <p:spPr>
          <a:xfrm>
            <a:off x="10305288" y="400614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-3.2%</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21" name="Shape 119"/>
          <p:cNvSpPr/>
          <p:nvPr/>
        </p:nvSpPr>
        <p:spPr>
          <a:xfrm>
            <a:off x="9301150" y="4306017"/>
            <a:ext cx="122204" cy="119948"/>
          </a:xfrm>
          <a:prstGeom prst="rect">
            <a:avLst/>
          </a:prstGeom>
          <a:solidFill>
            <a:srgbClr val="C2352F"/>
          </a:solidFill>
          <a:ln/>
        </p:spPr>
      </p:sp>
      <p:sp>
        <p:nvSpPr>
          <p:cNvPr id="122" name="Text 120"/>
          <p:cNvSpPr txBox="1"/>
          <p:nvPr/>
        </p:nvSpPr>
        <p:spPr>
          <a:xfrm>
            <a:off x="10305288"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-6.4%</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25" name="Shape 123"/>
          <p:cNvSpPr/>
          <p:nvPr/>
        </p:nvSpPr>
        <p:spPr>
          <a:xfrm>
            <a:off x="9157477" y="4545913"/>
            <a:ext cx="265877" cy="119948"/>
          </a:xfrm>
          <a:prstGeom prst="rect">
            <a:avLst/>
          </a:prstGeom>
          <a:solidFill>
            <a:srgbClr val="C2352F"/>
          </a:solidFill>
          <a:ln/>
        </p:spPr>
      </p:sp>
      <p:sp>
        <p:nvSpPr>
          <p:cNvPr id="126" name="Text 124"/>
          <p:cNvSpPr txBox="1"/>
          <p:nvPr/>
        </p:nvSpPr>
        <p:spPr>
          <a:xfrm>
            <a:off x="10305288"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-13.8%</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29" name="Shape 127"/>
          <p:cNvSpPr/>
          <p:nvPr/>
        </p:nvSpPr>
        <p:spPr>
          <a:xfrm>
            <a:off x="9147151" y="4785808"/>
            <a:ext cx="276203" cy="119948"/>
          </a:xfrm>
          <a:prstGeom prst="rect">
            <a:avLst/>
          </a:prstGeom>
          <a:solidFill>
            <a:srgbClr val="C2352F"/>
          </a:solidFill>
          <a:ln/>
        </p:spPr>
      </p:sp>
      <p:sp>
        <p:nvSpPr>
          <p:cNvPr id="130" name="Text 128"/>
          <p:cNvSpPr txBox="1"/>
          <p:nvPr/>
        </p:nvSpPr>
        <p:spPr>
          <a:xfrm>
            <a:off x="10305288"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-14.4%</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33" name="Shape 131"/>
          <p:cNvSpPr/>
          <p:nvPr/>
        </p:nvSpPr>
        <p:spPr>
          <a:xfrm>
            <a:off x="9054444" y="5025704"/>
            <a:ext cx="368910" cy="119948"/>
          </a:xfrm>
          <a:prstGeom prst="rect">
            <a:avLst/>
          </a:prstGeom>
          <a:solidFill>
            <a:srgbClr val="C2352F"/>
          </a:solidFill>
          <a:ln/>
        </p:spPr>
      </p:sp>
      <p:sp>
        <p:nvSpPr>
          <p:cNvPr id="134" name="Text 132"/>
          <p:cNvSpPr txBox="1"/>
          <p:nvPr/>
        </p:nvSpPr>
        <p:spPr>
          <a:xfrm>
            <a:off x="10305288"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-19.2%</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37" name="Shape 135"/>
          <p:cNvSpPr/>
          <p:nvPr/>
        </p:nvSpPr>
        <p:spPr>
          <a:xfrm>
            <a:off x="8939232" y="5265599"/>
            <a:ext cx="484122" cy="119948"/>
          </a:xfrm>
          <a:prstGeom prst="rect">
            <a:avLst/>
          </a:prstGeom>
          <a:solidFill>
            <a:srgbClr val="C2352F"/>
          </a:solidFill>
          <a:ln/>
        </p:spPr>
      </p:sp>
      <p:sp>
        <p:nvSpPr>
          <p:cNvPr id="138" name="Text 136"/>
          <p:cNvSpPr txBox="1"/>
          <p:nvPr/>
        </p:nvSpPr>
        <p:spPr>
          <a:xfrm>
            <a:off x="10305288"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-25.2%</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41" name="Shape 139"/>
          <p:cNvSpPr/>
          <p:nvPr/>
        </p:nvSpPr>
        <p:spPr>
          <a:xfrm>
            <a:off x="8691149" y="5505495"/>
            <a:ext cx="732205" cy="119948"/>
          </a:xfrm>
          <a:prstGeom prst="rect">
            <a:avLst/>
          </a:prstGeom>
          <a:solidFill>
            <a:srgbClr val="C2352F"/>
          </a:solidFill>
          <a:ln/>
        </p:spPr>
      </p:sp>
      <p:sp>
        <p:nvSpPr>
          <p:cNvPr id="142" name="Text 140"/>
          <p:cNvSpPr txBox="1"/>
          <p:nvPr/>
        </p:nvSpPr>
        <p:spPr>
          <a:xfrm>
            <a:off x="10305288"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-38.1%</a:t>
            </a:r>
            <a:endParaRPr lang="en-US" sz="1200" dirty="0"/>
          </a:p>
        </p:txBody>
      </p:sp>
      <p:sp>
        <p:nvSpPr>
          <p:cNvPr id="143" name="Shape 141"/>
          <p:cNvSpPr/>
          <p:nvPr/>
        </p:nvSpPr>
        <p:spPr>
          <a:xfrm>
            <a:off x="3868374" y="1847088"/>
            <a:ext cx="9144" cy="4078224"/>
          </a:xfrm>
          <a:prstGeom prst="rect">
            <a:avLst/>
          </a:prstGeom>
          <a:solidFill>
            <a:srgbClr val="9AA3AD"/>
          </a:solidFill>
          <a:ln/>
        </p:spPr>
      </p:sp>
      <p:sp>
        <p:nvSpPr>
          <p:cNvPr id="144" name="Shape 142"/>
          <p:cNvSpPr/>
          <p:nvPr/>
        </p:nvSpPr>
        <p:spPr>
          <a:xfrm>
            <a:off x="4285058" y="1847088"/>
            <a:ext cx="14630" cy="4078224"/>
          </a:xfrm>
          <a:prstGeom prst="rect">
            <a:avLst/>
          </a:prstGeom>
          <a:solidFill>
            <a:srgbClr val="0B2C4A"/>
          </a:solidFill>
          <a:ln/>
        </p:spPr>
      </p:sp>
      <p:sp>
        <p:nvSpPr>
          <p:cNvPr id="145" name="Shape 143"/>
          <p:cNvSpPr/>
          <p:nvPr/>
        </p:nvSpPr>
        <p:spPr>
          <a:xfrm>
            <a:off x="9418782" y="1847088"/>
            <a:ext cx="9144" cy="4078224"/>
          </a:xfrm>
          <a:prstGeom prst="rect">
            <a:avLst/>
          </a:prstGeom>
          <a:solidFill>
            <a:srgbClr val="9AA3AD"/>
          </a:solidFill>
          <a:ln/>
        </p:spPr>
      </p:sp>
      <p:sp>
        <p:nvSpPr>
          <p:cNvPr id="146" name="Shape 144"/>
          <p:cNvSpPr/>
          <p:nvPr/>
        </p:nvSpPr>
        <p:spPr>
          <a:xfrm>
            <a:off x="9835466" y="1847088"/>
            <a:ext cx="14630" cy="4078224"/>
          </a:xfrm>
          <a:prstGeom prst="rect">
            <a:avLst/>
          </a:prstGeom>
          <a:solidFill>
            <a:srgbClr val="0B2C4A"/>
          </a:solidFill>
          <a:ln/>
        </p:spPr>
      </p:sp>
      <p:sp>
        <p:nvSpPr>
          <p:cNvPr id="147" name="Shape 145"/>
          <p:cNvSpPr/>
          <p:nvPr/>
        </p:nvSpPr>
        <p:spPr>
          <a:xfrm>
            <a:off x="6085332" y="1847088"/>
            <a:ext cx="10973" cy="4078224"/>
          </a:xfrm>
          <a:prstGeom prst="rect">
            <a:avLst/>
          </a:prstGeom>
          <a:solidFill>
            <a:srgbClr val="D9D9D9"/>
          </a:solidFill>
          <a:ln/>
        </p:spPr>
      </p:sp>
      <p:sp>
        <p:nvSpPr>
          <p:cNvPr id="148" name="Shape 146"/>
          <p:cNvSpPr/>
          <p:nvPr/>
        </p:nvSpPr>
        <p:spPr>
          <a:xfrm>
            <a:off x="457200" y="6126480"/>
            <a:ext cx="11274552" cy="341376"/>
          </a:xfrm>
          <a:prstGeom prst="rect">
            <a:avLst/>
          </a:prstGeom>
          <a:solidFill>
            <a:srgbClr val="EDF4FA"/>
          </a:solidFill>
          <a:ln/>
        </p:spPr>
      </p:sp>
      <p:sp>
        <p:nvSpPr>
          <p:cNvPr id="149" name="Text 147"/>
          <p:cNvSpPr txBox="1"/>
          <p:nvPr/>
        </p:nvSpPr>
        <p:spPr>
          <a:xfrm>
            <a:off x="658368" y="6144768"/>
            <a:ext cx="10927080" cy="30480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10 of 33 stores at or above the 21.8% group, led by Honda Henderson at 43.0%. GMC Prescott is lowest at -38.1%.</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to Gross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7355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SERVICE NET TO GROSS %</a:t>
            </a:r>
            <a:endParaRPr lang="en-US" sz="1500" dirty="0"/>
          </a:p>
        </p:txBody>
      </p:sp>
      <p:sp>
        <p:nvSpPr>
          <p:cNvPr id="9" name="Text 7"/>
          <p:cNvSpPr txBox="1"/>
          <p:nvPr/>
        </p:nvSpPr>
        <p:spPr>
          <a:xfrm>
            <a:off x="3649980" y="1335024"/>
            <a:ext cx="439674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+2.9 pts</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3" name="Shape 11"/>
          <p:cNvSpPr/>
          <p:nvPr/>
        </p:nvSpPr>
        <p:spPr>
          <a:xfrm>
            <a:off x="3785616" y="1911860"/>
            <a:ext cx="777240"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+33.5 pts</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7" name="Shape 15"/>
          <p:cNvSpPr/>
          <p:nvPr/>
        </p:nvSpPr>
        <p:spPr>
          <a:xfrm>
            <a:off x="3785616" y="2151755"/>
            <a:ext cx="522301"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+22.5 pts</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21" name="Shape 19"/>
          <p:cNvSpPr/>
          <p:nvPr/>
        </p:nvSpPr>
        <p:spPr>
          <a:xfrm>
            <a:off x="3785616" y="2391651"/>
            <a:ext cx="466019"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+20.1 pts</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25" name="Shape 23"/>
          <p:cNvSpPr/>
          <p:nvPr/>
        </p:nvSpPr>
        <p:spPr>
          <a:xfrm>
            <a:off x="3785616" y="2631546"/>
            <a:ext cx="318357"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+13.7 pts</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29" name="Shape 27"/>
          <p:cNvSpPr/>
          <p:nvPr/>
        </p:nvSpPr>
        <p:spPr>
          <a:xfrm>
            <a:off x="3785616" y="2871442"/>
            <a:ext cx="277139"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+11.9 pts</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33" name="Shape 31"/>
          <p:cNvSpPr/>
          <p:nvPr/>
        </p:nvSpPr>
        <p:spPr>
          <a:xfrm>
            <a:off x="3785616" y="3111337"/>
            <a:ext cx="194030"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+8.4 pts</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37" name="Shape 35"/>
          <p:cNvSpPr/>
          <p:nvPr/>
        </p:nvSpPr>
        <p:spPr>
          <a:xfrm>
            <a:off x="3785616" y="3351233"/>
            <a:ext cx="183450"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+7.9 pts</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1" name="Shape 39"/>
          <p:cNvSpPr/>
          <p:nvPr/>
        </p:nvSpPr>
        <p:spPr>
          <a:xfrm>
            <a:off x="3785616" y="3591128"/>
            <a:ext cx="169078"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+7.3 pts</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45" name="Shape 43"/>
          <p:cNvSpPr/>
          <p:nvPr/>
        </p:nvSpPr>
        <p:spPr>
          <a:xfrm>
            <a:off x="3785616" y="3831024"/>
            <a:ext cx="164481"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+7.1 pts</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49" name="Shape 47"/>
          <p:cNvSpPr/>
          <p:nvPr/>
        </p:nvSpPr>
        <p:spPr>
          <a:xfrm>
            <a:off x="3785616" y="4070920"/>
            <a:ext cx="146713"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+6.3 pts</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53" name="Shape 51"/>
          <p:cNvSpPr/>
          <p:nvPr/>
        </p:nvSpPr>
        <p:spPr>
          <a:xfrm>
            <a:off x="3785616" y="4310815"/>
            <a:ext cx="143918"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+6.2 pts</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57" name="Shape 55"/>
          <p:cNvSpPr/>
          <p:nvPr/>
        </p:nvSpPr>
        <p:spPr>
          <a:xfrm>
            <a:off x="3785616" y="4550711"/>
            <a:ext cx="139313"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+6.0 pts</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61" name="Shape 59"/>
          <p:cNvSpPr/>
          <p:nvPr/>
        </p:nvSpPr>
        <p:spPr>
          <a:xfrm>
            <a:off x="3785616" y="4790606"/>
            <a:ext cx="111722"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+4.8 pts</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65" name="Shape 63"/>
          <p:cNvSpPr/>
          <p:nvPr/>
        </p:nvSpPr>
        <p:spPr>
          <a:xfrm>
            <a:off x="3785616" y="5030502"/>
            <a:ext cx="108452"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+4.7 pts</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69" name="Shape 67"/>
          <p:cNvSpPr/>
          <p:nvPr/>
        </p:nvSpPr>
        <p:spPr>
          <a:xfrm>
            <a:off x="3785616" y="5270397"/>
            <a:ext cx="104888"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+4.5 pts</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73" name="Shape 71"/>
          <p:cNvSpPr/>
          <p:nvPr/>
        </p:nvSpPr>
        <p:spPr>
          <a:xfrm>
            <a:off x="3785616" y="5510293"/>
            <a:ext cx="95711" cy="110352"/>
          </a:xfrm>
          <a:prstGeom prst="rect">
            <a:avLst/>
          </a:prstGeom>
          <a:solidFill>
            <a:srgbClr val="12A566"/>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+4.1 pts</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77" name="Shape 75"/>
          <p:cNvSpPr/>
          <p:nvPr/>
        </p:nvSpPr>
        <p:spPr>
          <a:xfrm>
            <a:off x="3785616" y="5750188"/>
            <a:ext cx="95177" cy="110352"/>
          </a:xfrm>
          <a:prstGeom prst="rect">
            <a:avLst/>
          </a:prstGeom>
          <a:solidFill>
            <a:srgbClr val="12A566"/>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+4.1 pts</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81" name="Shape 79"/>
          <p:cNvSpPr/>
          <p:nvPr/>
        </p:nvSpPr>
        <p:spPr>
          <a:xfrm>
            <a:off x="9336024" y="1911860"/>
            <a:ext cx="90237" cy="110352"/>
          </a:xfrm>
          <a:prstGeom prst="rect">
            <a:avLst/>
          </a:prstGeom>
          <a:solidFill>
            <a:srgbClr val="12A566"/>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+3.9 pts</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85" name="Shape 83"/>
          <p:cNvSpPr/>
          <p:nvPr/>
        </p:nvSpPr>
        <p:spPr>
          <a:xfrm>
            <a:off x="9336024" y="2151755"/>
            <a:ext cx="87077" cy="110352"/>
          </a:xfrm>
          <a:prstGeom prst="rect">
            <a:avLst/>
          </a:prstGeom>
          <a:solidFill>
            <a:srgbClr val="12A566"/>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+3.7 pts</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89" name="Shape 87"/>
          <p:cNvSpPr/>
          <p:nvPr/>
        </p:nvSpPr>
        <p:spPr>
          <a:xfrm>
            <a:off x="9336024" y="2391651"/>
            <a:ext cx="54978" cy="110352"/>
          </a:xfrm>
          <a:prstGeom prst="rect">
            <a:avLst/>
          </a:prstGeom>
          <a:solidFill>
            <a:srgbClr val="12A566"/>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+2.4 pts</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93" name="Shape 91"/>
          <p:cNvSpPr/>
          <p:nvPr/>
        </p:nvSpPr>
        <p:spPr>
          <a:xfrm>
            <a:off x="9336024" y="2631546"/>
            <a:ext cx="52170" cy="110352"/>
          </a:xfrm>
          <a:prstGeom prst="rect">
            <a:avLst/>
          </a:prstGeom>
          <a:solidFill>
            <a:srgbClr val="12A566"/>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+2.2 pts</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97" name="Shape 95"/>
          <p:cNvSpPr/>
          <p:nvPr/>
        </p:nvSpPr>
        <p:spPr>
          <a:xfrm>
            <a:off x="9336024" y="2871442"/>
            <a:ext cx="24496" cy="110352"/>
          </a:xfrm>
          <a:prstGeom prst="rect">
            <a:avLst/>
          </a:prstGeom>
          <a:solidFill>
            <a:srgbClr val="12A566"/>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+1.1 pts</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01" name="Shape 99"/>
          <p:cNvSpPr/>
          <p:nvPr/>
        </p:nvSpPr>
        <p:spPr>
          <a:xfrm>
            <a:off x="9336024" y="3111337"/>
            <a:ext cx="12802" cy="110352"/>
          </a:xfrm>
          <a:prstGeom prst="rect">
            <a:avLst/>
          </a:prstGeom>
          <a:solidFill>
            <a:srgbClr val="12A566"/>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+0.2 pts</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05" name="Shape 103"/>
          <p:cNvSpPr/>
          <p:nvPr/>
        </p:nvSpPr>
        <p:spPr>
          <a:xfrm>
            <a:off x="9336024" y="3351233"/>
            <a:ext cx="12802" cy="110352"/>
          </a:xfrm>
          <a:prstGeom prst="rect">
            <a:avLst/>
          </a:prstGeom>
          <a:solidFill>
            <a:srgbClr val="12A566"/>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+0.0 pts</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09" name="Shape 107"/>
          <p:cNvSpPr/>
          <p:nvPr/>
        </p:nvSpPr>
        <p:spPr>
          <a:xfrm>
            <a:off x="9326258" y="3591128"/>
            <a:ext cx="12802" cy="110352"/>
          </a:xfrm>
          <a:prstGeom prst="rect">
            <a:avLst/>
          </a:prstGeom>
          <a:solidFill>
            <a:srgbClr val="C2352F"/>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−0.4 pts</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13" name="Shape 111"/>
          <p:cNvSpPr/>
          <p:nvPr/>
        </p:nvSpPr>
        <p:spPr>
          <a:xfrm>
            <a:off x="9301116" y="3831024"/>
            <a:ext cx="34908" cy="110352"/>
          </a:xfrm>
          <a:prstGeom prst="rect">
            <a:avLst/>
          </a:prstGeom>
          <a:solidFill>
            <a:srgbClr val="C2352F"/>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−1.5 pts</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17" name="Shape 115"/>
          <p:cNvSpPr/>
          <p:nvPr/>
        </p:nvSpPr>
        <p:spPr>
          <a:xfrm>
            <a:off x="9283123" y="4070920"/>
            <a:ext cx="52901" cy="110352"/>
          </a:xfrm>
          <a:prstGeom prst="rect">
            <a:avLst/>
          </a:prstGeom>
          <a:solidFill>
            <a:srgbClr val="C2352F"/>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−2.3 pts</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21" name="Shape 119"/>
          <p:cNvSpPr/>
          <p:nvPr/>
        </p:nvSpPr>
        <p:spPr>
          <a:xfrm>
            <a:off x="9263086" y="4310815"/>
            <a:ext cx="72938" cy="110352"/>
          </a:xfrm>
          <a:prstGeom prst="rect">
            <a:avLst/>
          </a:prstGeom>
          <a:solidFill>
            <a:srgbClr val="C2352F"/>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−3.1 pts</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25" name="Shape 123"/>
          <p:cNvSpPr/>
          <p:nvPr/>
        </p:nvSpPr>
        <p:spPr>
          <a:xfrm>
            <a:off x="9244126" y="4550711"/>
            <a:ext cx="91898"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−4.0 pts</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29" name="Shape 127"/>
          <p:cNvSpPr/>
          <p:nvPr/>
        </p:nvSpPr>
        <p:spPr>
          <a:xfrm>
            <a:off x="9216373" y="4790606"/>
            <a:ext cx="119651"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−5.2 pts</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33" name="Shape 131"/>
          <p:cNvSpPr/>
          <p:nvPr/>
        </p:nvSpPr>
        <p:spPr>
          <a:xfrm>
            <a:off x="9139860" y="5030502"/>
            <a:ext cx="196164"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−8.4 pts</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37" name="Shape 135"/>
          <p:cNvSpPr/>
          <p:nvPr/>
        </p:nvSpPr>
        <p:spPr>
          <a:xfrm>
            <a:off x="9081728" y="5270397"/>
            <a:ext cx="254296"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−10.9 pts</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41" name="Shape 139"/>
          <p:cNvSpPr/>
          <p:nvPr/>
        </p:nvSpPr>
        <p:spPr>
          <a:xfrm>
            <a:off x="8713274" y="5510293"/>
            <a:ext cx="622750"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−26.8 pts</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6" name="Shape 144"/>
          <p:cNvSpPr/>
          <p:nvPr/>
        </p:nvSpPr>
        <p:spPr>
          <a:xfrm>
            <a:off x="457200" y="6126480"/>
            <a:ext cx="11274552" cy="615696"/>
          </a:xfrm>
          <a:prstGeom prst="rect">
            <a:avLst/>
          </a:prstGeom>
          <a:solidFill>
            <a:srgbClr val="E6F6EE"/>
          </a:solidFill>
          <a:ln/>
        </p:spPr>
      </p:sp>
      <p:sp>
        <p:nvSpPr>
          <p:cNvPr id="147" name="Text 145"/>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24 of 33 stores raised service net to gross, led by Hyundai Prescott at +33.5 pts to -19.2%. 9 declined; VW St George fell most at −26.8 pts.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to Gross %</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37.1%</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36.7%</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−0.4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−1.1%</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Parts Net to Gross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graphicFrame>
        <p:nvGraphicFramePr>
          <p:cNvPr id="22" name="Chart 5"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6"/>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48996"/>
          </a:xfrm>
          <a:prstGeom prst="rect">
            <a:avLst/>
          </a:prstGeom>
          <a:solidFill>
            <a:srgbClr val="FBEBEA"/>
          </a:solidFill>
          <a:ln/>
        </p:spPr>
      </p:sp>
      <p:sp>
        <p:nvSpPr>
          <p:cNvPr id="30" name="Text 22"/>
          <p:cNvSpPr txBox="1"/>
          <p:nvPr/>
        </p:nvSpPr>
        <p:spPr>
          <a:xfrm>
            <a:off x="658368" y="6144768"/>
            <a:ext cx="10927080" cy="312420"/>
          </a:xfrm>
          <a:prstGeom prst="rect">
            <a:avLst/>
          </a:prstGeom>
          <a:noFill/>
          <a:ln/>
        </p:spPr>
        <p:txBody>
          <a:bodyPr wrap="square" lIns="0" tIns="0" rIns="0" bIns="0" rtlCol="0" anchor="ctr"/>
          <a:lstStyle/>
          <a:p>
            <a:pPr indent="0" marL="0">
              <a:buNone/>
            </a:pPr>
            <a:r>
              <a:rPr lang="en-US" sz="1450" b="1" dirty="0">
                <a:solidFill>
                  <a:srgbClr val="A82B26"/>
                </a:solidFill>
                <a:latin typeface="Inter" pitchFamily="34" charset="0"/>
                <a:ea typeface="Inter" pitchFamily="34" charset="-122"/>
                <a:cs typeface="Inter" pitchFamily="34" charset="-120"/>
              </a:rPr>
              <a:t>Down 0.4 pts to 36.7%, behind 2025 in four of nine months. Gross grew 1.9% but department profit grew 0.8%.</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to Gross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49936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PARTS NET TO GROSS %</a:t>
            </a:r>
            <a:endParaRPr lang="en-US" sz="1500" dirty="0"/>
          </a:p>
        </p:txBody>
      </p:sp>
      <p:sp>
        <p:nvSpPr>
          <p:cNvPr id="9" name="Text 7"/>
          <p:cNvSpPr txBox="1"/>
          <p:nvPr/>
        </p:nvSpPr>
        <p:spPr>
          <a:xfrm>
            <a:off x="3413760" y="1335024"/>
            <a:ext cx="463296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36.7%</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3" name="Shape 11"/>
          <p:cNvSpPr/>
          <p:nvPr/>
        </p:nvSpPr>
        <p:spPr>
          <a:xfrm>
            <a:off x="3008376" y="1907062"/>
            <a:ext cx="1691640" cy="119948"/>
          </a:xfrm>
          <a:prstGeom prst="rect">
            <a:avLst/>
          </a:prstGeom>
          <a:solidFill>
            <a:srgbClr val="12A566"/>
          </a:solidFill>
          <a:ln/>
        </p:spPr>
      </p:sp>
      <p:sp>
        <p:nvSpPr>
          <p:cNvPr id="14" name="Text 12"/>
          <p:cNvSpPr txBox="1"/>
          <p:nvPr/>
        </p:nvSpPr>
        <p:spPr>
          <a:xfrm>
            <a:off x="4754880"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58.7%</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7" name="Shape 15"/>
          <p:cNvSpPr/>
          <p:nvPr/>
        </p:nvSpPr>
        <p:spPr>
          <a:xfrm>
            <a:off x="3008376" y="2146957"/>
            <a:ext cx="1429353" cy="119948"/>
          </a:xfrm>
          <a:prstGeom prst="rect">
            <a:avLst/>
          </a:prstGeom>
          <a:solidFill>
            <a:srgbClr val="12A566"/>
          </a:solidFill>
          <a:ln/>
        </p:spPr>
      </p:sp>
      <p:sp>
        <p:nvSpPr>
          <p:cNvPr id="18" name="Text 16"/>
          <p:cNvSpPr txBox="1"/>
          <p:nvPr/>
        </p:nvSpPr>
        <p:spPr>
          <a:xfrm>
            <a:off x="4754880"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49.6%</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21" name="Shape 19"/>
          <p:cNvSpPr/>
          <p:nvPr/>
        </p:nvSpPr>
        <p:spPr>
          <a:xfrm>
            <a:off x="3008376" y="2386853"/>
            <a:ext cx="1412066" cy="119948"/>
          </a:xfrm>
          <a:prstGeom prst="rect">
            <a:avLst/>
          </a:prstGeom>
          <a:solidFill>
            <a:srgbClr val="12A566"/>
          </a:solidFill>
          <a:ln/>
        </p:spPr>
      </p:sp>
      <p:sp>
        <p:nvSpPr>
          <p:cNvPr id="22" name="Text 20"/>
          <p:cNvSpPr txBox="1"/>
          <p:nvPr/>
        </p:nvSpPr>
        <p:spPr>
          <a:xfrm>
            <a:off x="4754880" y="232687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49.0%</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25" name="Shape 23"/>
          <p:cNvSpPr/>
          <p:nvPr/>
        </p:nvSpPr>
        <p:spPr>
          <a:xfrm>
            <a:off x="3008376" y="2626748"/>
            <a:ext cx="1398451" cy="119948"/>
          </a:xfrm>
          <a:prstGeom prst="rect">
            <a:avLst/>
          </a:prstGeom>
          <a:solidFill>
            <a:srgbClr val="12A566"/>
          </a:solidFill>
          <a:ln/>
        </p:spPr>
      </p:sp>
      <p:sp>
        <p:nvSpPr>
          <p:cNvPr id="26" name="Text 24"/>
          <p:cNvSpPr txBox="1"/>
          <p:nvPr/>
        </p:nvSpPr>
        <p:spPr>
          <a:xfrm>
            <a:off x="4754880" y="256677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48.5%</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29" name="Shape 27"/>
          <p:cNvSpPr/>
          <p:nvPr/>
        </p:nvSpPr>
        <p:spPr>
          <a:xfrm>
            <a:off x="3008376" y="2866644"/>
            <a:ext cx="1317467" cy="119948"/>
          </a:xfrm>
          <a:prstGeom prst="rect">
            <a:avLst/>
          </a:prstGeom>
          <a:solidFill>
            <a:srgbClr val="12A566"/>
          </a:solidFill>
          <a:ln/>
        </p:spPr>
      </p:sp>
      <p:sp>
        <p:nvSpPr>
          <p:cNvPr id="30" name="Text 28"/>
          <p:cNvSpPr txBox="1"/>
          <p:nvPr/>
        </p:nvSpPr>
        <p:spPr>
          <a:xfrm>
            <a:off x="4754880" y="280667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45.7%</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33" name="Shape 31"/>
          <p:cNvSpPr/>
          <p:nvPr/>
        </p:nvSpPr>
        <p:spPr>
          <a:xfrm>
            <a:off x="3008376" y="3106540"/>
            <a:ext cx="1312721" cy="119948"/>
          </a:xfrm>
          <a:prstGeom prst="rect">
            <a:avLst/>
          </a:prstGeom>
          <a:solidFill>
            <a:srgbClr val="12A566"/>
          </a:solidFill>
          <a:ln/>
        </p:spPr>
      </p:sp>
      <p:sp>
        <p:nvSpPr>
          <p:cNvPr id="34" name="Text 32"/>
          <p:cNvSpPr txBox="1"/>
          <p:nvPr/>
        </p:nvSpPr>
        <p:spPr>
          <a:xfrm>
            <a:off x="4754880" y="304656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45.5%</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37" name="Shape 35"/>
          <p:cNvSpPr/>
          <p:nvPr/>
        </p:nvSpPr>
        <p:spPr>
          <a:xfrm>
            <a:off x="3008376" y="3346435"/>
            <a:ext cx="1306825" cy="119948"/>
          </a:xfrm>
          <a:prstGeom prst="rect">
            <a:avLst/>
          </a:prstGeom>
          <a:solidFill>
            <a:srgbClr val="12A566"/>
          </a:solidFill>
          <a:ln/>
        </p:spPr>
      </p:sp>
      <p:sp>
        <p:nvSpPr>
          <p:cNvPr id="38" name="Text 36"/>
          <p:cNvSpPr txBox="1"/>
          <p:nvPr/>
        </p:nvSpPr>
        <p:spPr>
          <a:xfrm>
            <a:off x="4754880" y="328646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45.3%</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1" name="Shape 39"/>
          <p:cNvSpPr/>
          <p:nvPr/>
        </p:nvSpPr>
        <p:spPr>
          <a:xfrm>
            <a:off x="3008376" y="3586331"/>
            <a:ext cx="1279067" cy="119948"/>
          </a:xfrm>
          <a:prstGeom prst="rect">
            <a:avLst/>
          </a:prstGeom>
          <a:solidFill>
            <a:srgbClr val="12A566"/>
          </a:solidFill>
          <a:ln/>
        </p:spPr>
      </p:sp>
      <p:sp>
        <p:nvSpPr>
          <p:cNvPr id="42" name="Text 40"/>
          <p:cNvSpPr txBox="1"/>
          <p:nvPr/>
        </p:nvSpPr>
        <p:spPr>
          <a:xfrm>
            <a:off x="4754880" y="3526357"/>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44.4%</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45" name="Shape 43"/>
          <p:cNvSpPr/>
          <p:nvPr/>
        </p:nvSpPr>
        <p:spPr>
          <a:xfrm>
            <a:off x="3008376" y="3826226"/>
            <a:ext cx="1273414" cy="119948"/>
          </a:xfrm>
          <a:prstGeom prst="rect">
            <a:avLst/>
          </a:prstGeom>
          <a:solidFill>
            <a:srgbClr val="12A566"/>
          </a:solidFill>
          <a:ln/>
        </p:spPr>
      </p:sp>
      <p:sp>
        <p:nvSpPr>
          <p:cNvPr id="46" name="Text 44"/>
          <p:cNvSpPr txBox="1"/>
          <p:nvPr/>
        </p:nvSpPr>
        <p:spPr>
          <a:xfrm>
            <a:off x="4754880" y="3766252"/>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44.2%</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49" name="Shape 47"/>
          <p:cNvSpPr/>
          <p:nvPr/>
        </p:nvSpPr>
        <p:spPr>
          <a:xfrm>
            <a:off x="3008376" y="4066122"/>
            <a:ext cx="1261946" cy="119948"/>
          </a:xfrm>
          <a:prstGeom prst="rect">
            <a:avLst/>
          </a:prstGeom>
          <a:solidFill>
            <a:srgbClr val="12A566"/>
          </a:solidFill>
          <a:ln/>
        </p:spPr>
      </p:sp>
      <p:sp>
        <p:nvSpPr>
          <p:cNvPr id="50" name="Text 48"/>
          <p:cNvSpPr txBox="1"/>
          <p:nvPr/>
        </p:nvSpPr>
        <p:spPr>
          <a:xfrm>
            <a:off x="4754880" y="400614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43.8%</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53" name="Shape 51"/>
          <p:cNvSpPr/>
          <p:nvPr/>
        </p:nvSpPr>
        <p:spPr>
          <a:xfrm>
            <a:off x="3008376" y="4306017"/>
            <a:ext cx="1239549" cy="119948"/>
          </a:xfrm>
          <a:prstGeom prst="rect">
            <a:avLst/>
          </a:prstGeom>
          <a:solidFill>
            <a:srgbClr val="12A566"/>
          </a:solidFill>
          <a:ln/>
        </p:spPr>
      </p:sp>
      <p:sp>
        <p:nvSpPr>
          <p:cNvPr id="54" name="Text 52"/>
          <p:cNvSpPr txBox="1"/>
          <p:nvPr/>
        </p:nvSpPr>
        <p:spPr>
          <a:xfrm>
            <a:off x="4754880" y="4246043"/>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43.0%</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57" name="Shape 55"/>
          <p:cNvSpPr/>
          <p:nvPr/>
        </p:nvSpPr>
        <p:spPr>
          <a:xfrm>
            <a:off x="3008376" y="4545913"/>
            <a:ext cx="1209944" cy="119948"/>
          </a:xfrm>
          <a:prstGeom prst="rect">
            <a:avLst/>
          </a:prstGeom>
          <a:solidFill>
            <a:srgbClr val="12A566"/>
          </a:solidFill>
          <a:ln/>
        </p:spPr>
      </p:sp>
      <p:sp>
        <p:nvSpPr>
          <p:cNvPr id="58" name="Text 56"/>
          <p:cNvSpPr txBox="1"/>
          <p:nvPr/>
        </p:nvSpPr>
        <p:spPr>
          <a:xfrm>
            <a:off x="4754880" y="448593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42.0%</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61" name="Shape 59"/>
          <p:cNvSpPr/>
          <p:nvPr/>
        </p:nvSpPr>
        <p:spPr>
          <a:xfrm>
            <a:off x="3008376" y="4785808"/>
            <a:ext cx="1143812" cy="119948"/>
          </a:xfrm>
          <a:prstGeom prst="rect">
            <a:avLst/>
          </a:prstGeom>
          <a:solidFill>
            <a:srgbClr val="12A566"/>
          </a:solidFill>
          <a:ln/>
        </p:spPr>
      </p:sp>
      <p:sp>
        <p:nvSpPr>
          <p:cNvPr id="62" name="Text 60"/>
          <p:cNvSpPr txBox="1"/>
          <p:nvPr/>
        </p:nvSpPr>
        <p:spPr>
          <a:xfrm>
            <a:off x="4754880" y="472583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39.7%</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65" name="Shape 63"/>
          <p:cNvSpPr/>
          <p:nvPr/>
        </p:nvSpPr>
        <p:spPr>
          <a:xfrm>
            <a:off x="3008376" y="5025704"/>
            <a:ext cx="1134120" cy="119948"/>
          </a:xfrm>
          <a:prstGeom prst="rect">
            <a:avLst/>
          </a:prstGeom>
          <a:solidFill>
            <a:srgbClr val="12A566"/>
          </a:solidFill>
          <a:ln/>
        </p:spPr>
      </p:sp>
      <p:sp>
        <p:nvSpPr>
          <p:cNvPr id="66" name="Text 64"/>
          <p:cNvSpPr txBox="1"/>
          <p:nvPr/>
        </p:nvSpPr>
        <p:spPr>
          <a:xfrm>
            <a:off x="4754880" y="496573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39.3%</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69" name="Shape 67"/>
          <p:cNvSpPr/>
          <p:nvPr/>
        </p:nvSpPr>
        <p:spPr>
          <a:xfrm>
            <a:off x="3008376" y="5265599"/>
            <a:ext cx="1079936" cy="119948"/>
          </a:xfrm>
          <a:prstGeom prst="rect">
            <a:avLst/>
          </a:prstGeom>
          <a:solidFill>
            <a:srgbClr val="12A566"/>
          </a:solidFill>
          <a:ln/>
        </p:spPr>
      </p:sp>
      <p:sp>
        <p:nvSpPr>
          <p:cNvPr id="70" name="Text 68"/>
          <p:cNvSpPr txBox="1"/>
          <p:nvPr/>
        </p:nvSpPr>
        <p:spPr>
          <a:xfrm>
            <a:off x="4754880" y="520562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37.5%</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73" name="Shape 71"/>
          <p:cNvSpPr/>
          <p:nvPr/>
        </p:nvSpPr>
        <p:spPr>
          <a:xfrm>
            <a:off x="3008376" y="5505495"/>
            <a:ext cx="1039071" cy="119948"/>
          </a:xfrm>
          <a:prstGeom prst="rect">
            <a:avLst/>
          </a:prstGeom>
          <a:solidFill>
            <a:srgbClr val="C2352F"/>
          </a:solidFill>
          <a:ln/>
        </p:spPr>
      </p:sp>
      <p:sp>
        <p:nvSpPr>
          <p:cNvPr id="74" name="Text 72"/>
          <p:cNvSpPr txBox="1"/>
          <p:nvPr/>
        </p:nvSpPr>
        <p:spPr>
          <a:xfrm>
            <a:off x="4754880"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36.0%</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77" name="Shape 75"/>
          <p:cNvSpPr/>
          <p:nvPr/>
        </p:nvSpPr>
        <p:spPr>
          <a:xfrm>
            <a:off x="3008376" y="5745390"/>
            <a:ext cx="1026056" cy="119948"/>
          </a:xfrm>
          <a:prstGeom prst="rect">
            <a:avLst/>
          </a:prstGeom>
          <a:solidFill>
            <a:srgbClr val="C2352F"/>
          </a:solidFill>
          <a:ln/>
        </p:spPr>
      </p:sp>
      <p:sp>
        <p:nvSpPr>
          <p:cNvPr id="78" name="Text 76"/>
          <p:cNvSpPr txBox="1"/>
          <p:nvPr/>
        </p:nvSpPr>
        <p:spPr>
          <a:xfrm>
            <a:off x="4754880" y="568541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35.6%</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81" name="Shape 79"/>
          <p:cNvSpPr/>
          <p:nvPr/>
        </p:nvSpPr>
        <p:spPr>
          <a:xfrm>
            <a:off x="8558784" y="1907062"/>
            <a:ext cx="994650" cy="119948"/>
          </a:xfrm>
          <a:prstGeom prst="rect">
            <a:avLst/>
          </a:prstGeom>
          <a:solidFill>
            <a:srgbClr val="C2352F"/>
          </a:solidFill>
          <a:ln/>
        </p:spPr>
      </p:sp>
      <p:sp>
        <p:nvSpPr>
          <p:cNvPr id="82" name="Text 80"/>
          <p:cNvSpPr txBox="1"/>
          <p:nvPr/>
        </p:nvSpPr>
        <p:spPr>
          <a:xfrm>
            <a:off x="10305288" y="184708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34.5%</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85" name="Shape 83"/>
          <p:cNvSpPr/>
          <p:nvPr/>
        </p:nvSpPr>
        <p:spPr>
          <a:xfrm>
            <a:off x="8558784" y="2146957"/>
            <a:ext cx="946998" cy="119948"/>
          </a:xfrm>
          <a:prstGeom prst="rect">
            <a:avLst/>
          </a:prstGeom>
          <a:solidFill>
            <a:srgbClr val="C2352F"/>
          </a:solidFill>
          <a:ln/>
        </p:spPr>
      </p:sp>
      <p:sp>
        <p:nvSpPr>
          <p:cNvPr id="86" name="Text 84"/>
          <p:cNvSpPr txBox="1"/>
          <p:nvPr/>
        </p:nvSpPr>
        <p:spPr>
          <a:xfrm>
            <a:off x="10305288" y="208698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32.9%</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89" name="Shape 87"/>
          <p:cNvSpPr/>
          <p:nvPr/>
        </p:nvSpPr>
        <p:spPr>
          <a:xfrm>
            <a:off x="8558784" y="2386853"/>
            <a:ext cx="941033" cy="119948"/>
          </a:xfrm>
          <a:prstGeom prst="rect">
            <a:avLst/>
          </a:prstGeom>
          <a:solidFill>
            <a:srgbClr val="C2352F"/>
          </a:solidFill>
          <a:ln/>
        </p:spPr>
      </p:sp>
      <p:sp>
        <p:nvSpPr>
          <p:cNvPr id="90" name="Text 88"/>
          <p:cNvSpPr txBox="1"/>
          <p:nvPr/>
        </p:nvSpPr>
        <p:spPr>
          <a:xfrm>
            <a:off x="10305288" y="232687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32.6%</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93" name="Shape 91"/>
          <p:cNvSpPr/>
          <p:nvPr/>
        </p:nvSpPr>
        <p:spPr>
          <a:xfrm>
            <a:off x="8558784" y="2626748"/>
            <a:ext cx="900852" cy="119948"/>
          </a:xfrm>
          <a:prstGeom prst="rect">
            <a:avLst/>
          </a:prstGeom>
          <a:solidFill>
            <a:srgbClr val="C2352F"/>
          </a:solidFill>
          <a:ln/>
        </p:spPr>
      </p:sp>
      <p:sp>
        <p:nvSpPr>
          <p:cNvPr id="94" name="Text 92"/>
          <p:cNvSpPr txBox="1"/>
          <p:nvPr/>
        </p:nvSpPr>
        <p:spPr>
          <a:xfrm>
            <a:off x="10305288" y="256677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31.3%</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97" name="Shape 95"/>
          <p:cNvSpPr/>
          <p:nvPr/>
        </p:nvSpPr>
        <p:spPr>
          <a:xfrm>
            <a:off x="8558784" y="2866644"/>
            <a:ext cx="894005" cy="119948"/>
          </a:xfrm>
          <a:prstGeom prst="rect">
            <a:avLst/>
          </a:prstGeom>
          <a:solidFill>
            <a:srgbClr val="C2352F"/>
          </a:solidFill>
          <a:ln/>
        </p:spPr>
      </p:sp>
      <p:sp>
        <p:nvSpPr>
          <p:cNvPr id="98" name="Text 96"/>
          <p:cNvSpPr txBox="1"/>
          <p:nvPr/>
        </p:nvSpPr>
        <p:spPr>
          <a:xfrm>
            <a:off x="10305288" y="280667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31.0%</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01" name="Shape 99"/>
          <p:cNvSpPr/>
          <p:nvPr/>
        </p:nvSpPr>
        <p:spPr>
          <a:xfrm>
            <a:off x="8558784" y="3106540"/>
            <a:ext cx="887363" cy="119948"/>
          </a:xfrm>
          <a:prstGeom prst="rect">
            <a:avLst/>
          </a:prstGeom>
          <a:solidFill>
            <a:srgbClr val="C2352F"/>
          </a:solidFill>
          <a:ln/>
        </p:spPr>
      </p:sp>
      <p:sp>
        <p:nvSpPr>
          <p:cNvPr id="102" name="Text 100"/>
          <p:cNvSpPr txBox="1"/>
          <p:nvPr/>
        </p:nvSpPr>
        <p:spPr>
          <a:xfrm>
            <a:off x="10305288" y="304656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30.8%</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05" name="Shape 103"/>
          <p:cNvSpPr/>
          <p:nvPr/>
        </p:nvSpPr>
        <p:spPr>
          <a:xfrm>
            <a:off x="8558784" y="3346435"/>
            <a:ext cx="863472" cy="119948"/>
          </a:xfrm>
          <a:prstGeom prst="rect">
            <a:avLst/>
          </a:prstGeom>
          <a:solidFill>
            <a:srgbClr val="C2352F"/>
          </a:solidFill>
          <a:ln/>
        </p:spPr>
      </p:sp>
      <p:sp>
        <p:nvSpPr>
          <p:cNvPr id="106" name="Text 104"/>
          <p:cNvSpPr txBox="1"/>
          <p:nvPr/>
        </p:nvSpPr>
        <p:spPr>
          <a:xfrm>
            <a:off x="10305288" y="328646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30.0%</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09" name="Shape 107"/>
          <p:cNvSpPr/>
          <p:nvPr/>
        </p:nvSpPr>
        <p:spPr>
          <a:xfrm>
            <a:off x="8558784" y="3586331"/>
            <a:ext cx="767637" cy="119948"/>
          </a:xfrm>
          <a:prstGeom prst="rect">
            <a:avLst/>
          </a:prstGeom>
          <a:solidFill>
            <a:srgbClr val="C2352F"/>
          </a:solidFill>
          <a:ln/>
        </p:spPr>
      </p:sp>
      <p:sp>
        <p:nvSpPr>
          <p:cNvPr id="110" name="Text 108"/>
          <p:cNvSpPr txBox="1"/>
          <p:nvPr/>
        </p:nvSpPr>
        <p:spPr>
          <a:xfrm>
            <a:off x="10305288" y="3526357"/>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26.6%</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13" name="Shape 111"/>
          <p:cNvSpPr/>
          <p:nvPr/>
        </p:nvSpPr>
        <p:spPr>
          <a:xfrm>
            <a:off x="8558784" y="3826226"/>
            <a:ext cx="740911" cy="119948"/>
          </a:xfrm>
          <a:prstGeom prst="rect">
            <a:avLst/>
          </a:prstGeom>
          <a:solidFill>
            <a:srgbClr val="C2352F"/>
          </a:solidFill>
          <a:ln/>
        </p:spPr>
      </p:sp>
      <p:sp>
        <p:nvSpPr>
          <p:cNvPr id="114" name="Text 112"/>
          <p:cNvSpPr txBox="1"/>
          <p:nvPr/>
        </p:nvSpPr>
        <p:spPr>
          <a:xfrm>
            <a:off x="10305288" y="3766252"/>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25.7%</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17" name="Shape 115"/>
          <p:cNvSpPr/>
          <p:nvPr/>
        </p:nvSpPr>
        <p:spPr>
          <a:xfrm>
            <a:off x="8558784" y="4066122"/>
            <a:ext cx="728589" cy="119948"/>
          </a:xfrm>
          <a:prstGeom prst="rect">
            <a:avLst/>
          </a:prstGeom>
          <a:solidFill>
            <a:srgbClr val="C2352F"/>
          </a:solidFill>
          <a:ln/>
        </p:spPr>
      </p:sp>
      <p:sp>
        <p:nvSpPr>
          <p:cNvPr id="118" name="Text 116"/>
          <p:cNvSpPr txBox="1"/>
          <p:nvPr/>
        </p:nvSpPr>
        <p:spPr>
          <a:xfrm>
            <a:off x="10305288" y="400614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25.3%</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21" name="Shape 119"/>
          <p:cNvSpPr/>
          <p:nvPr/>
        </p:nvSpPr>
        <p:spPr>
          <a:xfrm>
            <a:off x="8558784" y="4306017"/>
            <a:ext cx="726153" cy="119948"/>
          </a:xfrm>
          <a:prstGeom prst="rect">
            <a:avLst/>
          </a:prstGeom>
          <a:solidFill>
            <a:srgbClr val="C2352F"/>
          </a:solidFill>
          <a:ln/>
        </p:spPr>
      </p:sp>
      <p:sp>
        <p:nvSpPr>
          <p:cNvPr id="122" name="Text 120"/>
          <p:cNvSpPr txBox="1"/>
          <p:nvPr/>
        </p:nvSpPr>
        <p:spPr>
          <a:xfrm>
            <a:off x="10305288"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25.2%</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25" name="Shape 123"/>
          <p:cNvSpPr/>
          <p:nvPr/>
        </p:nvSpPr>
        <p:spPr>
          <a:xfrm>
            <a:off x="8558784" y="4545913"/>
            <a:ext cx="687804" cy="119948"/>
          </a:xfrm>
          <a:prstGeom prst="rect">
            <a:avLst/>
          </a:prstGeom>
          <a:solidFill>
            <a:srgbClr val="C2352F"/>
          </a:solidFill>
          <a:ln/>
        </p:spPr>
      </p:sp>
      <p:sp>
        <p:nvSpPr>
          <p:cNvPr id="126" name="Text 124"/>
          <p:cNvSpPr txBox="1"/>
          <p:nvPr/>
        </p:nvSpPr>
        <p:spPr>
          <a:xfrm>
            <a:off x="10305288"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23.9%</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29" name="Shape 127"/>
          <p:cNvSpPr/>
          <p:nvPr/>
        </p:nvSpPr>
        <p:spPr>
          <a:xfrm>
            <a:off x="8558784" y="4785808"/>
            <a:ext cx="680786" cy="119948"/>
          </a:xfrm>
          <a:prstGeom prst="rect">
            <a:avLst/>
          </a:prstGeom>
          <a:solidFill>
            <a:srgbClr val="C2352F"/>
          </a:solidFill>
          <a:ln/>
        </p:spPr>
      </p:sp>
      <p:sp>
        <p:nvSpPr>
          <p:cNvPr id="130" name="Text 128"/>
          <p:cNvSpPr txBox="1"/>
          <p:nvPr/>
        </p:nvSpPr>
        <p:spPr>
          <a:xfrm>
            <a:off x="10305288"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23.6%</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33" name="Shape 131"/>
          <p:cNvSpPr/>
          <p:nvPr/>
        </p:nvSpPr>
        <p:spPr>
          <a:xfrm>
            <a:off x="8558784" y="5025704"/>
            <a:ext cx="516128" cy="119948"/>
          </a:xfrm>
          <a:prstGeom prst="rect">
            <a:avLst/>
          </a:prstGeom>
          <a:solidFill>
            <a:srgbClr val="C2352F"/>
          </a:solidFill>
          <a:ln/>
        </p:spPr>
      </p:sp>
      <p:sp>
        <p:nvSpPr>
          <p:cNvPr id="134" name="Text 132"/>
          <p:cNvSpPr txBox="1"/>
          <p:nvPr/>
        </p:nvSpPr>
        <p:spPr>
          <a:xfrm>
            <a:off x="10305288"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17.9%</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37" name="Shape 135"/>
          <p:cNvSpPr/>
          <p:nvPr/>
        </p:nvSpPr>
        <p:spPr>
          <a:xfrm>
            <a:off x="8558784" y="5265599"/>
            <a:ext cx="455373" cy="119948"/>
          </a:xfrm>
          <a:prstGeom prst="rect">
            <a:avLst/>
          </a:prstGeom>
          <a:solidFill>
            <a:srgbClr val="C2352F"/>
          </a:solidFill>
          <a:ln/>
        </p:spPr>
      </p:sp>
      <p:sp>
        <p:nvSpPr>
          <p:cNvPr id="138" name="Text 136"/>
          <p:cNvSpPr txBox="1"/>
          <p:nvPr/>
        </p:nvSpPr>
        <p:spPr>
          <a:xfrm>
            <a:off x="10305288"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15.8%</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41" name="Shape 139"/>
          <p:cNvSpPr/>
          <p:nvPr/>
        </p:nvSpPr>
        <p:spPr>
          <a:xfrm>
            <a:off x="8558784" y="5505495"/>
            <a:ext cx="287195" cy="119948"/>
          </a:xfrm>
          <a:prstGeom prst="rect">
            <a:avLst/>
          </a:prstGeom>
          <a:solidFill>
            <a:srgbClr val="C2352F"/>
          </a:solidFill>
          <a:ln/>
        </p:spPr>
      </p:sp>
      <p:sp>
        <p:nvSpPr>
          <p:cNvPr id="142" name="Text 140"/>
          <p:cNvSpPr txBox="1"/>
          <p:nvPr/>
        </p:nvSpPr>
        <p:spPr>
          <a:xfrm>
            <a:off x="10305288"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10.0%</a:t>
            </a:r>
            <a:endParaRPr lang="en-US" sz="1200" dirty="0"/>
          </a:p>
        </p:txBody>
      </p:sp>
      <p:sp>
        <p:nvSpPr>
          <p:cNvPr id="143" name="Shape 141"/>
          <p:cNvSpPr/>
          <p:nvPr/>
        </p:nvSpPr>
        <p:spPr>
          <a:xfrm>
            <a:off x="4060077" y="1847088"/>
            <a:ext cx="14630" cy="4078224"/>
          </a:xfrm>
          <a:prstGeom prst="rect">
            <a:avLst/>
          </a:prstGeom>
          <a:solidFill>
            <a:srgbClr val="0B2C4A"/>
          </a:solidFill>
          <a:ln/>
        </p:spPr>
      </p:sp>
      <p:sp>
        <p:nvSpPr>
          <p:cNvPr id="144" name="Shape 142"/>
          <p:cNvSpPr/>
          <p:nvPr/>
        </p:nvSpPr>
        <p:spPr>
          <a:xfrm>
            <a:off x="9610485" y="1847088"/>
            <a:ext cx="14630" cy="4078224"/>
          </a:xfrm>
          <a:prstGeom prst="rect">
            <a:avLst/>
          </a:prstGeom>
          <a:solidFill>
            <a:srgbClr val="0B2C4A"/>
          </a:solidFill>
          <a:ln/>
        </p:spPr>
      </p:sp>
      <p:sp>
        <p:nvSpPr>
          <p:cNvPr id="145" name="Shape 143"/>
          <p:cNvSpPr/>
          <p:nvPr/>
        </p:nvSpPr>
        <p:spPr>
          <a:xfrm>
            <a:off x="6085332" y="1847088"/>
            <a:ext cx="10973" cy="4078224"/>
          </a:xfrm>
          <a:prstGeom prst="rect">
            <a:avLst/>
          </a:prstGeom>
          <a:solidFill>
            <a:srgbClr val="D9D9D9"/>
          </a:solidFill>
          <a:ln/>
        </p:spPr>
      </p:sp>
      <p:sp>
        <p:nvSpPr>
          <p:cNvPr id="146" name="Shape 144"/>
          <p:cNvSpPr/>
          <p:nvPr/>
        </p:nvSpPr>
        <p:spPr>
          <a:xfrm>
            <a:off x="457200" y="6126480"/>
            <a:ext cx="11274552" cy="615696"/>
          </a:xfrm>
          <a:prstGeom prst="rect">
            <a:avLst/>
          </a:prstGeom>
          <a:solidFill>
            <a:srgbClr val="EDF4FA"/>
          </a:solidFill>
          <a:ln/>
        </p:spPr>
      </p:sp>
      <p:sp>
        <p:nvSpPr>
          <p:cNvPr id="147" name="Text 145"/>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15 of 33 stores at or above the 36.7% group, led by Subaru St George at 58.7%. Hyundai Prescott is lowest at 10.0%.</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to Gross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49936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PARTS NET TO GROSS %</a:t>
            </a:r>
            <a:endParaRPr lang="en-US" sz="1500" dirty="0"/>
          </a:p>
        </p:txBody>
      </p:sp>
      <p:sp>
        <p:nvSpPr>
          <p:cNvPr id="9" name="Text 7"/>
          <p:cNvSpPr txBox="1"/>
          <p:nvPr/>
        </p:nvSpPr>
        <p:spPr>
          <a:xfrm>
            <a:off x="3413760" y="1335024"/>
            <a:ext cx="463296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A82B26"/>
                </a:solidFill>
                <a:latin typeface="Inter" pitchFamily="34" charset="0"/>
                <a:ea typeface="Inter" pitchFamily="34" charset="-122"/>
                <a:cs typeface="Inter" pitchFamily="34" charset="-120"/>
              </a:rPr>
              <a:t>−0.4 pts</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3" name="Shape 11"/>
          <p:cNvSpPr/>
          <p:nvPr/>
        </p:nvSpPr>
        <p:spPr>
          <a:xfrm>
            <a:off x="3785616" y="1911860"/>
            <a:ext cx="777240"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+14.2 pts</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7" name="Shape 15"/>
          <p:cNvSpPr/>
          <p:nvPr/>
        </p:nvSpPr>
        <p:spPr>
          <a:xfrm>
            <a:off x="3785616" y="2151755"/>
            <a:ext cx="712549"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+13.1 pts</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21" name="Shape 19"/>
          <p:cNvSpPr/>
          <p:nvPr/>
        </p:nvSpPr>
        <p:spPr>
          <a:xfrm>
            <a:off x="3785616" y="2391651"/>
            <a:ext cx="579309"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+10.6 pts</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25" name="Shape 23"/>
          <p:cNvSpPr/>
          <p:nvPr/>
        </p:nvSpPr>
        <p:spPr>
          <a:xfrm>
            <a:off x="3785616" y="2631546"/>
            <a:ext cx="412524"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+7.6 pts</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29" name="Shape 27"/>
          <p:cNvSpPr/>
          <p:nvPr/>
        </p:nvSpPr>
        <p:spPr>
          <a:xfrm>
            <a:off x="3785616" y="2871442"/>
            <a:ext cx="384335"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+7.0 pts</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33" name="Shape 31"/>
          <p:cNvSpPr/>
          <p:nvPr/>
        </p:nvSpPr>
        <p:spPr>
          <a:xfrm>
            <a:off x="3785616" y="3111337"/>
            <a:ext cx="345136"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+6.3 pts</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37" name="Shape 35"/>
          <p:cNvSpPr/>
          <p:nvPr/>
        </p:nvSpPr>
        <p:spPr>
          <a:xfrm>
            <a:off x="3785616" y="3351233"/>
            <a:ext cx="344254"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+6.3 pts</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41" name="Shape 39"/>
          <p:cNvSpPr/>
          <p:nvPr/>
        </p:nvSpPr>
        <p:spPr>
          <a:xfrm>
            <a:off x="3785616" y="3591128"/>
            <a:ext cx="326556"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+6.0 pts</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45" name="Shape 43"/>
          <p:cNvSpPr/>
          <p:nvPr/>
        </p:nvSpPr>
        <p:spPr>
          <a:xfrm>
            <a:off x="3785616" y="3831024"/>
            <a:ext cx="248228"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+4.5 pts</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49" name="Shape 47"/>
          <p:cNvSpPr/>
          <p:nvPr/>
        </p:nvSpPr>
        <p:spPr>
          <a:xfrm>
            <a:off x="3785616" y="4070920"/>
            <a:ext cx="176703"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+3.2 pts</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53" name="Shape 51"/>
          <p:cNvSpPr/>
          <p:nvPr/>
        </p:nvSpPr>
        <p:spPr>
          <a:xfrm>
            <a:off x="3785616" y="4310815"/>
            <a:ext cx="172791"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+3.2 pts</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57" name="Shape 55"/>
          <p:cNvSpPr/>
          <p:nvPr/>
        </p:nvSpPr>
        <p:spPr>
          <a:xfrm>
            <a:off x="3785616" y="4550711"/>
            <a:ext cx="120839"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+2.2 pts</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61" name="Shape 59"/>
          <p:cNvSpPr/>
          <p:nvPr/>
        </p:nvSpPr>
        <p:spPr>
          <a:xfrm>
            <a:off x="3785616" y="4790606"/>
            <a:ext cx="109670"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+2.0 pts</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65" name="Shape 63"/>
          <p:cNvSpPr/>
          <p:nvPr/>
        </p:nvSpPr>
        <p:spPr>
          <a:xfrm>
            <a:off x="3785616" y="5030502"/>
            <a:ext cx="81021"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 pts</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69" name="Shape 67"/>
          <p:cNvSpPr/>
          <p:nvPr/>
        </p:nvSpPr>
        <p:spPr>
          <a:xfrm>
            <a:off x="3785616" y="5270397"/>
            <a:ext cx="69580"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+1.3 pts</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73" name="Shape 71"/>
          <p:cNvSpPr/>
          <p:nvPr/>
        </p:nvSpPr>
        <p:spPr>
          <a:xfrm>
            <a:off x="3783808" y="5510293"/>
            <a:ext cx="12802" cy="110352"/>
          </a:xfrm>
          <a:prstGeom prst="rect">
            <a:avLst/>
          </a:prstGeom>
          <a:solidFill>
            <a:srgbClr val="C2352F"/>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−0.0 pts</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77" name="Shape 75"/>
          <p:cNvSpPr/>
          <p:nvPr/>
        </p:nvSpPr>
        <p:spPr>
          <a:xfrm>
            <a:off x="3782938" y="5750188"/>
            <a:ext cx="12802" cy="110352"/>
          </a:xfrm>
          <a:prstGeom prst="rect">
            <a:avLst/>
          </a:prstGeom>
          <a:solidFill>
            <a:srgbClr val="C2352F"/>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−0.0 pts</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81" name="Shape 79"/>
          <p:cNvSpPr/>
          <p:nvPr/>
        </p:nvSpPr>
        <p:spPr>
          <a:xfrm>
            <a:off x="9279706" y="1911860"/>
            <a:ext cx="56318" cy="110352"/>
          </a:xfrm>
          <a:prstGeom prst="rect">
            <a:avLst/>
          </a:prstGeom>
          <a:solidFill>
            <a:srgbClr val="C2352F"/>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−1.0 pts</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85" name="Shape 83"/>
          <p:cNvSpPr/>
          <p:nvPr/>
        </p:nvSpPr>
        <p:spPr>
          <a:xfrm>
            <a:off x="9261209" y="2151755"/>
            <a:ext cx="74815" cy="110352"/>
          </a:xfrm>
          <a:prstGeom prst="rect">
            <a:avLst/>
          </a:prstGeom>
          <a:solidFill>
            <a:srgbClr val="C2352F"/>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 pts</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89" name="Shape 87"/>
          <p:cNvSpPr/>
          <p:nvPr/>
        </p:nvSpPr>
        <p:spPr>
          <a:xfrm>
            <a:off x="9182825" y="2391651"/>
            <a:ext cx="153199" cy="110352"/>
          </a:xfrm>
          <a:prstGeom prst="rect">
            <a:avLst/>
          </a:prstGeom>
          <a:solidFill>
            <a:srgbClr val="C2352F"/>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−2.8 pts</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93" name="Shape 91"/>
          <p:cNvSpPr/>
          <p:nvPr/>
        </p:nvSpPr>
        <p:spPr>
          <a:xfrm>
            <a:off x="9150574" y="2631546"/>
            <a:ext cx="185450" cy="110352"/>
          </a:xfrm>
          <a:prstGeom prst="rect">
            <a:avLst/>
          </a:prstGeom>
          <a:solidFill>
            <a:srgbClr val="C2352F"/>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−3.4 pts</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97" name="Shape 95"/>
          <p:cNvSpPr/>
          <p:nvPr/>
        </p:nvSpPr>
        <p:spPr>
          <a:xfrm>
            <a:off x="9107949" y="2871442"/>
            <a:ext cx="228075" cy="110352"/>
          </a:xfrm>
          <a:prstGeom prst="rect">
            <a:avLst/>
          </a:prstGeom>
          <a:solidFill>
            <a:srgbClr val="C2352F"/>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−4.2 pts</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01" name="Shape 99"/>
          <p:cNvSpPr/>
          <p:nvPr/>
        </p:nvSpPr>
        <p:spPr>
          <a:xfrm>
            <a:off x="9106168" y="3111337"/>
            <a:ext cx="229856" cy="110352"/>
          </a:xfrm>
          <a:prstGeom prst="rect">
            <a:avLst/>
          </a:prstGeom>
          <a:solidFill>
            <a:srgbClr val="C2352F"/>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−4.2 pts</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05" name="Shape 103"/>
          <p:cNvSpPr/>
          <p:nvPr/>
        </p:nvSpPr>
        <p:spPr>
          <a:xfrm>
            <a:off x="9076473" y="3351233"/>
            <a:ext cx="259551" cy="110352"/>
          </a:xfrm>
          <a:prstGeom prst="rect">
            <a:avLst/>
          </a:prstGeom>
          <a:solidFill>
            <a:srgbClr val="C2352F"/>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−4.8 pts</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09" name="Shape 107"/>
          <p:cNvSpPr/>
          <p:nvPr/>
        </p:nvSpPr>
        <p:spPr>
          <a:xfrm>
            <a:off x="9037703" y="3591128"/>
            <a:ext cx="298321" cy="110352"/>
          </a:xfrm>
          <a:prstGeom prst="rect">
            <a:avLst/>
          </a:prstGeom>
          <a:solidFill>
            <a:srgbClr val="C2352F"/>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−5.5 pts</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13" name="Shape 111"/>
          <p:cNvSpPr/>
          <p:nvPr/>
        </p:nvSpPr>
        <p:spPr>
          <a:xfrm>
            <a:off x="9035179" y="3831024"/>
            <a:ext cx="300845" cy="110352"/>
          </a:xfrm>
          <a:prstGeom prst="rect">
            <a:avLst/>
          </a:prstGeom>
          <a:solidFill>
            <a:srgbClr val="C2352F"/>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−5.5 pts</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17" name="Shape 115"/>
          <p:cNvSpPr/>
          <p:nvPr/>
        </p:nvSpPr>
        <p:spPr>
          <a:xfrm>
            <a:off x="9018589" y="4070920"/>
            <a:ext cx="317435" cy="110352"/>
          </a:xfrm>
          <a:prstGeom prst="rect">
            <a:avLst/>
          </a:prstGeom>
          <a:solidFill>
            <a:srgbClr val="C2352F"/>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−5.8 pts</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21" name="Shape 119"/>
          <p:cNvSpPr/>
          <p:nvPr/>
        </p:nvSpPr>
        <p:spPr>
          <a:xfrm>
            <a:off x="8963304" y="4310815"/>
            <a:ext cx="372720" cy="110352"/>
          </a:xfrm>
          <a:prstGeom prst="rect">
            <a:avLst/>
          </a:prstGeom>
          <a:solidFill>
            <a:srgbClr val="C2352F"/>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−6.8 pts</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25" name="Shape 123"/>
          <p:cNvSpPr/>
          <p:nvPr/>
        </p:nvSpPr>
        <p:spPr>
          <a:xfrm>
            <a:off x="8882230" y="4550711"/>
            <a:ext cx="453794"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−8.3 pts</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29" name="Shape 127"/>
          <p:cNvSpPr/>
          <p:nvPr/>
        </p:nvSpPr>
        <p:spPr>
          <a:xfrm>
            <a:off x="8795705" y="4790606"/>
            <a:ext cx="540319"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−9.9 pts</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33" name="Shape 131"/>
          <p:cNvSpPr/>
          <p:nvPr/>
        </p:nvSpPr>
        <p:spPr>
          <a:xfrm>
            <a:off x="8725604" y="5030502"/>
            <a:ext cx="610420"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−11.2 pts</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37" name="Shape 135"/>
          <p:cNvSpPr/>
          <p:nvPr/>
        </p:nvSpPr>
        <p:spPr>
          <a:xfrm>
            <a:off x="8691636" y="5270397"/>
            <a:ext cx="644388"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−11.8 pts</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41" name="Shape 139"/>
          <p:cNvSpPr/>
          <p:nvPr/>
        </p:nvSpPr>
        <p:spPr>
          <a:xfrm>
            <a:off x="8652415" y="5510293"/>
            <a:ext cx="683609"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−12.5 pts</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6" name="Shape 144"/>
          <p:cNvSpPr/>
          <p:nvPr/>
        </p:nvSpPr>
        <p:spPr>
          <a:xfrm>
            <a:off x="457200" y="6126480"/>
            <a:ext cx="11274552" cy="615696"/>
          </a:xfrm>
          <a:prstGeom prst="rect">
            <a:avLst/>
          </a:prstGeom>
          <a:solidFill>
            <a:srgbClr val="FBEBEA"/>
          </a:solidFill>
          <a:ln/>
        </p:spPr>
      </p:sp>
      <p:sp>
        <p:nvSpPr>
          <p:cNvPr id="147" name="Text 145"/>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15 of 33 stores raised parts net to gross, led by Lincoln at +14.2 pts to 17.9%. 18 declined; Hyundai Prescott fell most at −12.5 pts.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2026-10-21T21:13:49Z</dcterms:created>
  <dcterms:modified xsi:type="dcterms:W3CDTF">2026-10-21T21:13:49Z</dcterms:modified>
</cp:coreProperties>
</file>