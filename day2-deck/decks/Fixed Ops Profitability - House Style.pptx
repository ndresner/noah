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82</c:v>
                </c:pt>
                <c:pt idx="10">
                  <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
                </c:pt>
                <c:pt idx="10">
                  <c:v>73.4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21.1</c:v>
                </c:pt>
                <c:pt idx="10">
                  <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
                </c:pt>
                <c:pt idx="10">
                  <c:v>14.4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33.3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Change in Fixed Ops Absorption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P&amp;L line Fixed Ops Absorption % = Total Gross Profit - Fixed Ops / Fixed Expenses. GMC Prescott includes its body shop, as on the P&amp;L. Top and bottom five stores by change in Fixed Ops Absorption %, Jan-Sep 2026 vs 2025. Moving now: Jul-Sep 2026 vs Jan-Mar 2026, each store against itself; the group moved +4.2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Change in Service Net to Gross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P&amp;A department profit / P&amp;A department gross (P&amp;L Detail statement). Jan-Sep 2026 YTD. Green at or above the group, red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Change in Parts Net to Gross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chart" Target="/ppt/charts/chart13.xml"/><Relationship Id="rId3" Type="http://schemas.openxmlformats.org/officeDocument/2006/relationships/chart" Target="/ppt/charts/chart14.xml"/><Relationship Id="rId4" Type="http://schemas.openxmlformats.org/officeDocument/2006/relationships/chart" Target="/ppt/charts/chart15.xml"/><Relationship Id="rId5" Type="http://schemas.openxmlformats.org/officeDocument/2006/relationships/chart" Target="/ppt/charts/chart16.xml"/><Relationship Id="rId6" Type="http://schemas.openxmlformats.org/officeDocument/2006/relationships/chart" Target="/ppt/charts/chart17.xml"/><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 led by Audi Henderson at 106.6%. Hyundai Prescott is lowest at 46.2%.</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led by Lincoln at +16.1 pts to 59.9%. 10 declined; VW St George fell most at −17.4 pts.</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+16.3 pts</a:t>
            </a:r>
            <a:endParaRPr lang="en-US" sz="1600" dirty="0"/>
          </a:p>
        </p:txBody>
      </p:sp>
      <p:sp>
        <p:nvSpPr>
          <p:cNvPr id="56" name="Shape 54"/>
          <p:cNvSpPr/>
          <p:nvPr/>
        </p:nvSpPr>
        <p:spPr>
          <a:xfrm>
            <a:off x="11466576" y="2894990"/>
            <a:ext cx="64008" cy="682142"/>
          </a:xfrm>
          <a:prstGeom prst="rect">
            <a:avLst/>
          </a:prstGeom>
          <a:solidFill>
            <a:srgbClr val="12A566"/>
          </a:solidFill>
          <a:ln/>
        </p:spPr>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Cadillac and LR Reno what changed. Ask VW St George, Kia St George and VW Henderson what got in the way. Ask LR Henderson, LR Reno and Kia St George what they started this year.</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8" name="Shape 146"/>
          <p:cNvSpPr/>
          <p:nvPr/>
        </p:nvSpPr>
        <p:spPr>
          <a:xfrm>
            <a:off x="457200" y="6126480"/>
            <a:ext cx="11274552" cy="341376"/>
          </a:xfrm>
          <a:prstGeom prst="rect">
            <a:avLst/>
          </a:prstGeom>
          <a:solidFill>
            <a:srgbClr val="EDF4FA"/>
          </a:solidFill>
          <a:ln/>
        </p:spPr>
      </p:sp>
      <p:sp>
        <p:nvSpPr>
          <p:cNvPr id="149" name="Text 14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33 stores at or above the 21.8% group, led by Honda Henderson at 43.0%. GMC Prescott is lowest at -38.1%.</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led by Hyundai Prescott at +33.5 pts to -19.2%. 9 declined; VW St George fell most at −26.8 pts.</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4" name="Shape 12"/>
          <p:cNvSpPr/>
          <p:nvPr/>
        </p:nvSpPr>
        <p:spPr>
          <a:xfrm>
            <a:off x="4084320" y="2894990"/>
            <a:ext cx="64008" cy="682142"/>
          </a:xfrm>
          <a:prstGeom prst="rect">
            <a:avLst/>
          </a:prstGeom>
          <a:solidFill>
            <a:srgbClr val="12A566"/>
          </a:solidFill>
          <a:ln/>
        </p:spPr>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sp>
        <p:nvSpPr>
          <p:cNvPr id="17" name="Text 15"/>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18" name="Shape 16"/>
          <p:cNvSpPr/>
          <p:nvPr/>
        </p:nvSpPr>
        <p:spPr>
          <a:xfrm>
            <a:off x="658368" y="3613709"/>
            <a:ext cx="3489960" cy="755294"/>
          </a:xfrm>
          <a:prstGeom prst="rect">
            <a:avLst/>
          </a:prstGeom>
          <a:solidFill>
            <a:srgbClr val="F7F7F7"/>
          </a:solidFill>
          <a:ln/>
        </p:spPr>
      </p:sp>
      <p:sp>
        <p:nvSpPr>
          <p:cNvPr id="19" name="Shape 17"/>
          <p:cNvSpPr/>
          <p:nvPr/>
        </p:nvSpPr>
        <p:spPr>
          <a:xfrm>
            <a:off x="4084320" y="3650285"/>
            <a:ext cx="64008" cy="682142"/>
          </a:xfrm>
          <a:prstGeom prst="rect">
            <a:avLst/>
          </a:prstGeom>
          <a:solidFill>
            <a:srgbClr val="12A566"/>
          </a:solidFill>
          <a:ln/>
        </p:spPr>
      </p:sp>
      <p:sp>
        <p:nvSpPr>
          <p:cNvPr id="20" name="Text 18"/>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2" name="Text 20"/>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3" name="Text 21"/>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25" name="Text 23"/>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6" name="Shape 24"/>
          <p:cNvSpPr/>
          <p:nvPr/>
        </p:nvSpPr>
        <p:spPr>
          <a:xfrm>
            <a:off x="658368" y="5124298"/>
            <a:ext cx="3489960" cy="755294"/>
          </a:xfrm>
          <a:prstGeom prst="rect">
            <a:avLst/>
          </a:prstGeom>
          <a:solidFill>
            <a:srgbClr val="F7F7F7"/>
          </a:solidFill>
          <a:ln/>
        </p:spPr>
      </p:sp>
      <p:sp>
        <p:nvSpPr>
          <p:cNvPr id="27" name="Text 25"/>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29" name="Text 27"/>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3" name="Shape 31"/>
          <p:cNvSpPr/>
          <p:nvPr/>
        </p:nvSpPr>
        <p:spPr>
          <a:xfrm>
            <a:off x="4349496" y="2103120"/>
            <a:ext cx="3489960" cy="755294"/>
          </a:xfrm>
          <a:prstGeom prst="rect">
            <a:avLst/>
          </a:prstGeom>
          <a:solidFill>
            <a:srgbClr val="F7F7F7"/>
          </a:solidFill>
          <a:ln/>
        </p:spPr>
      </p:sp>
      <p:sp>
        <p:nvSpPr>
          <p:cNvPr id="34" name="Text 32"/>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36" name="Text 34"/>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37" name="Text 35"/>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39" name="Text 37"/>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0" name="Shape 38"/>
          <p:cNvSpPr/>
          <p:nvPr/>
        </p:nvSpPr>
        <p:spPr>
          <a:xfrm>
            <a:off x="4349496" y="3613709"/>
            <a:ext cx="3489960" cy="755294"/>
          </a:xfrm>
          <a:prstGeom prst="rect">
            <a:avLst/>
          </a:prstGeom>
          <a:solidFill>
            <a:srgbClr val="F7F7F7"/>
          </a:solidFill>
          <a:ln/>
        </p:spPr>
      </p:sp>
      <p:sp>
        <p:nvSpPr>
          <p:cNvPr id="41" name="Text 39"/>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sp>
        <p:nvSpPr>
          <p:cNvPr id="43" name="Text 41"/>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44" name="Text 42"/>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sp>
        <p:nvSpPr>
          <p:cNvPr id="46" name="Text 44"/>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7" name="Shape 45"/>
          <p:cNvSpPr/>
          <p:nvPr/>
        </p:nvSpPr>
        <p:spPr>
          <a:xfrm>
            <a:off x="4349496" y="5124298"/>
            <a:ext cx="3489960" cy="755294"/>
          </a:xfrm>
          <a:prstGeom prst="rect">
            <a:avLst/>
          </a:prstGeom>
          <a:solidFill>
            <a:srgbClr val="F7F7F7"/>
          </a:solidFill>
          <a:ln/>
        </p:spPr>
      </p:sp>
      <p:sp>
        <p:nvSpPr>
          <p:cNvPr id="48" name="Text 46"/>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50" name="Text 48"/>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4" name="Shape 52"/>
          <p:cNvSpPr/>
          <p:nvPr/>
        </p:nvSpPr>
        <p:spPr>
          <a:xfrm>
            <a:off x="8040624" y="2103120"/>
            <a:ext cx="3489960" cy="755294"/>
          </a:xfrm>
          <a:prstGeom prst="rect">
            <a:avLst/>
          </a:prstGeom>
          <a:solidFill>
            <a:srgbClr val="F7F7F7"/>
          </a:solidFill>
          <a:ln/>
        </p:spPr>
      </p:sp>
      <p:sp>
        <p:nvSpPr>
          <p:cNvPr id="55" name="Shape 53"/>
          <p:cNvSpPr/>
          <p:nvPr/>
        </p:nvSpPr>
        <p:spPr>
          <a:xfrm>
            <a:off x="11466576" y="2139696"/>
            <a:ext cx="64008" cy="682142"/>
          </a:xfrm>
          <a:prstGeom prst="rect">
            <a:avLst/>
          </a:prstGeom>
          <a:solidFill>
            <a:srgbClr val="12A566"/>
          </a:solidFill>
          <a:ln/>
        </p:spPr>
      </p:sp>
      <p:sp>
        <p:nvSpPr>
          <p:cNvPr id="56" name="Text 54"/>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sp>
        <p:nvSpPr>
          <p:cNvPr id="58" name="Text 56"/>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+23.6 pts</a:t>
            </a:r>
            <a:endParaRPr lang="en-US" sz="1600" dirty="0"/>
          </a:p>
        </p:txBody>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Shape 61"/>
          <p:cNvSpPr/>
          <p:nvPr/>
        </p:nvSpPr>
        <p:spPr>
          <a:xfrm>
            <a:off x="11466576" y="3650285"/>
            <a:ext cx="64008" cy="682142"/>
          </a:xfrm>
          <a:prstGeom prst="rect">
            <a:avLst/>
          </a:prstGeom>
          <a:solidFill>
            <a:srgbClr val="12A566"/>
          </a:solidFill>
          <a:ln/>
        </p:spPr>
      </p:sp>
      <p:sp>
        <p:nvSpPr>
          <p:cNvPr id="64" name="Text 62"/>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sp>
        <p:nvSpPr>
          <p:cNvPr id="66" name="Text 64"/>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7" name="Text 6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69" name="Text 67"/>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70" name="Shape 68"/>
          <p:cNvSpPr/>
          <p:nvPr/>
        </p:nvSpPr>
        <p:spPr>
          <a:xfrm>
            <a:off x="8040624" y="5124298"/>
            <a:ext cx="3489960" cy="755294"/>
          </a:xfrm>
          <a:prstGeom prst="rect">
            <a:avLst/>
          </a:prstGeom>
          <a:solidFill>
            <a:srgbClr val="F7F7F7"/>
          </a:solidFill>
          <a:ln/>
        </p:spPr>
      </p:sp>
      <p:sp>
        <p:nvSpPr>
          <p:cNvPr id="71" name="Shape 69"/>
          <p:cNvSpPr/>
          <p:nvPr/>
        </p:nvSpPr>
        <p:spPr>
          <a:xfrm>
            <a:off x="11466576" y="5160874"/>
            <a:ext cx="64008" cy="682142"/>
          </a:xfrm>
          <a:prstGeom prst="rect">
            <a:avLst/>
          </a:prstGeom>
          <a:solidFill>
            <a:srgbClr val="12A566"/>
          </a:solidFill>
          <a:ln/>
        </p:spPr>
      </p:sp>
      <p:sp>
        <p:nvSpPr>
          <p:cNvPr id="72" name="Text 7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74" name="Text 72"/>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
        <p:nvSpPr>
          <p:cNvPr id="75" name="Shape 73"/>
          <p:cNvSpPr/>
          <p:nvPr/>
        </p:nvSpPr>
        <p:spPr>
          <a:xfrm>
            <a:off x="457200" y="6126480"/>
            <a:ext cx="11274552" cy="615696"/>
          </a:xfrm>
          <a:prstGeom prst="rect">
            <a:avLst/>
          </a:prstGeom>
          <a:solidFill>
            <a:srgbClr val="EDF4FA"/>
          </a:solidFill>
          <a:ln/>
        </p:spPr>
      </p:sp>
      <p:sp>
        <p:nvSpPr>
          <p:cNvPr id="76" name="Text 74"/>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LR Reno what changed. Ask VW St George, Kia St George and Mazda what got in the way. Ask Hyundai Prescott, LR Henderson and LR Reno what they started this year.</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 led by Subaru St George at 58.7%. Hyundai Prescott is lowest at 10.0%.</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led by Lincoln at +14.2 pts to 17.9%. 18 declined; Hyundai Prescott fell most at −12.5 pts.</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3" name="Shape 11"/>
          <p:cNvSpPr/>
          <p:nvPr/>
        </p:nvSpPr>
        <p:spPr>
          <a:xfrm>
            <a:off x="4084320" y="2894990"/>
            <a:ext cx="64008" cy="682142"/>
          </a:xfrm>
          <a:prstGeom prst="rect">
            <a:avLst/>
          </a:prstGeom>
          <a:solidFill>
            <a:srgbClr val="12A566"/>
          </a:solidFill>
          <a:ln/>
        </p:spPr>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+16.5 pts</a:t>
            </a:r>
            <a:endParaRPr lang="en-US" sz="1600" dirty="0"/>
          </a:p>
        </p:txBody>
      </p:sp>
      <p:sp>
        <p:nvSpPr>
          <p:cNvPr id="63" name="Shape 61"/>
          <p:cNvSpPr/>
          <p:nvPr/>
        </p:nvSpPr>
        <p:spPr>
          <a:xfrm>
            <a:off x="11466576" y="4405579"/>
            <a:ext cx="64008" cy="682142"/>
          </a:xfrm>
          <a:prstGeom prst="rect">
            <a:avLst/>
          </a:prstGeom>
          <a:solidFill>
            <a:srgbClr val="12A566"/>
          </a:solidFill>
          <a:ln/>
        </p:spPr>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Acura and Nissan what changed. Ask Hyundai Prescott, Hyundai St George and VW St George what got in the way. Ask LR Reno, VW St George and Mazda what they started this year.</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2026-10-25T23:10:59Z</dcterms:created>
  <dcterms:modified xsi:type="dcterms:W3CDTF">2026-10-25T23:10:59Z</dcterms:modified>
</cp:coreProperties>
</file>