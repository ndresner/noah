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Profit &amp; Loss. Same-store, INEOS excluded (opened 2026). Fixed ops = service + parts; GMC Prescott body shop gross excluded. Ranked by percent change, Jan-Sep 2026 vs Jan-Sep 2025, so store size does not set the order; dollar change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  ·  +$7.47M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+$404K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5061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+31.7%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+$717K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6085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+22.6%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+$764K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561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5212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+$368K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480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8279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+$586K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6676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+$422K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37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+$445K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627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+$216K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614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+$545K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56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+9.8%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+$373K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362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+$178K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3602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12204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+$157K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1187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+$664K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103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+6.9%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+$932K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6413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600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+$120K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4576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+$95K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3337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+$135K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3313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+$125K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2605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30284" y="3524377"/>
            <a:ext cx="2306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30284" y="3748136"/>
            <a:ext cx="1385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89172" y="3971895"/>
            <a:ext cx="4111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−$437K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54987" y="4195654"/>
            <a:ext cx="7529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−$499K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43679" y="4419414"/>
            <a:ext cx="866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−5.4%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−$204K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8988381" y="4643173"/>
            <a:ext cx="14190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−$840K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63498" y="4866932"/>
            <a:ext cx="16678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−$520K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1219" y="5090691"/>
            <a:ext cx="21906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−13.7%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−$761K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00217" y="5314450"/>
            <a:ext cx="23006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−14.4%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−$163K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888151" y="5538209"/>
            <a:ext cx="2421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−15.2%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−$517K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grew. Hyundai Prescott grew most at +35.8% (+$404K); Acura fell most at −15.2% (−$517K).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  ·  +$6.30M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+53.3%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+$345K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31638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+29.5%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+$475K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29691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+27.7%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+$639K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9559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+27.5%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+$315K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2051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+20.5%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+$619K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097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+19.5%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+$602K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2059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+19.2%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+$1.42M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160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+$384K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6796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+$217K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5097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+14.1%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+$390K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4809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+$169K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3584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+12.7%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+$162K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10821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+$202K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10810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+$1.50M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8490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+7.9%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+$234K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8340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+7.8%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+$292K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6594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+$611K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30284" y="2181823"/>
            <a:ext cx="54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+$196K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30284" y="2405582"/>
            <a:ext cx="5246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+$113K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30284" y="2629341"/>
            <a:ext cx="3528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130284" y="2853100"/>
            <a:ext cx="1862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130284" y="3076859"/>
            <a:ext cx="1608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+1.5%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130284" y="3300618"/>
            <a:ext cx="1280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126342" y="3524377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−$24K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103951" y="3748136"/>
            <a:ext cx="2633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−$58K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102538" y="3971895"/>
            <a:ext cx="277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95214" y="4195654"/>
            <a:ext cx="3507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−$211K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91379" y="4419414"/>
            <a:ext cx="3890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−3.6%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−$395K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66557" y="4643173"/>
            <a:ext cx="637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−$192K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9017570" y="4866932"/>
            <a:ext cx="11271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−$695K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85267" y="5090691"/>
            <a:ext cx="14501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−13.5%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−$547K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929980" y="5314450"/>
            <a:ext cx="20030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−18.7%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−$135K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928189" y="5538209"/>
            <a:ext cx="202095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−$438K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grew. Hyundai Prescott grew most at +53.3% (+$345K); Acura fell most at −18.8% (−$438K).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Parts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  ·  +$1.17M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83480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756648" y="182880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33888" y="1828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79876" y="2181823"/>
            <a:ext cx="5715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+37.1%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983480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+$243K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579876" y="2405582"/>
            <a:ext cx="438224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206240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+28.4%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+$688K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14984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579876" y="2629341"/>
            <a:ext cx="39984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206240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+26.0%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983480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+$271K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579876" y="2853100"/>
            <a:ext cx="26142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206240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+17.0%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4983480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+$158K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79876" y="3076859"/>
            <a:ext cx="24609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206240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4983480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+$151K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579876" y="3300618"/>
            <a:ext cx="23491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206240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+15.2%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983480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+$211K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8368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14984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579876" y="3524377"/>
            <a:ext cx="190077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06240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4983480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+$60K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1014984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579876" y="3748136"/>
            <a:ext cx="17905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206240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4983480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+$124K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579876" y="3971895"/>
            <a:ext cx="155972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206240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4983480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+$50K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3579876" y="4195654"/>
            <a:ext cx="13936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06240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+9.0%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4983480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+$321K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14984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3579876" y="4419414"/>
            <a:ext cx="136341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206240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+8.8%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4983480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+$288K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658368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72" name="Shape 70"/>
          <p:cNvSpPr/>
          <p:nvPr/>
        </p:nvSpPr>
        <p:spPr>
          <a:xfrm>
            <a:off x="3579876" y="4643173"/>
            <a:ext cx="12340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206240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+8.0%</a:t>
            </a:r>
            <a:endParaRPr lang="en-US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4983480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+$88K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579876" y="4866932"/>
            <a:ext cx="80616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06240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4983480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+$47K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8368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1014984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3579876" y="5090691"/>
            <a:ext cx="70968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206240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+4.6%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4983480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+$273K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8368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014984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3579876" y="5314450"/>
            <a:ext cx="39483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206240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+2.6%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4983480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+$33K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3579876" y="5538209"/>
            <a:ext cx="33295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06240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+2.2%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4983480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+$27K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58368" y="570155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1014984" y="570155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3579876" y="5761968"/>
            <a:ext cx="19780" cy="10292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4206240" y="570155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4983480" y="570155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+$19K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212140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212140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02" name="Shape 100"/>
          <p:cNvSpPr/>
          <p:nvPr/>
        </p:nvSpPr>
        <p:spPr>
          <a:xfrm>
            <a:off x="9120504" y="2181823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9756648" y="212140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−0.6%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10533888" y="212140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−$5K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208776" y="234516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6565392" y="234516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9119621" y="2405582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56648" y="234516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−0.7%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533888" y="234516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−$42K</a:t>
            </a:r>
            <a:endParaRPr lang="en-US" sz="1200" dirty="0"/>
          </a:p>
        </p:txBody>
      </p:sp>
      <p:sp>
        <p:nvSpPr>
          <p:cNvPr id="110" name="Text 108"/>
          <p:cNvSpPr txBox="1"/>
          <p:nvPr/>
        </p:nvSpPr>
        <p:spPr>
          <a:xfrm>
            <a:off x="6208776" y="256892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565392" y="256892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9117659" y="2629341"/>
            <a:ext cx="1280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9756648" y="256892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−0.8%</a:t>
            </a:r>
            <a:endParaRPr lang="en-US" sz="1200" dirty="0"/>
          </a:p>
        </p:txBody>
      </p:sp>
      <p:sp>
        <p:nvSpPr>
          <p:cNvPr id="114" name="Text 112"/>
          <p:cNvSpPr txBox="1"/>
          <p:nvPr/>
        </p:nvSpPr>
        <p:spPr>
          <a:xfrm>
            <a:off x="10533888" y="256892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−$12K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279268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279268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095741" y="2853100"/>
            <a:ext cx="3454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9756648" y="279268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10533888" y="279268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−$33K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301644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301644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9094197" y="3076859"/>
            <a:ext cx="3608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756648" y="301644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10533888" y="301644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−$61K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3240203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26" name="Text 124"/>
          <p:cNvSpPr txBox="1"/>
          <p:nvPr/>
        </p:nvSpPr>
        <p:spPr>
          <a:xfrm>
            <a:off x="6565392" y="3240203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27" name="Shape 125"/>
          <p:cNvSpPr/>
          <p:nvPr/>
        </p:nvSpPr>
        <p:spPr>
          <a:xfrm>
            <a:off x="9092061" y="3300618"/>
            <a:ext cx="38223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9756648" y="3240203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−2.5%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10533888" y="3240203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−$57K</a:t>
            </a:r>
            <a:endParaRPr lang="en-US" sz="1200" dirty="0"/>
          </a:p>
        </p:txBody>
      </p:sp>
      <p:sp>
        <p:nvSpPr>
          <p:cNvPr id="130" name="Text 128"/>
          <p:cNvSpPr txBox="1"/>
          <p:nvPr/>
        </p:nvSpPr>
        <p:spPr>
          <a:xfrm>
            <a:off x="6208776" y="3463962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565392" y="3463962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2" name="Shape 130"/>
          <p:cNvSpPr/>
          <p:nvPr/>
        </p:nvSpPr>
        <p:spPr>
          <a:xfrm>
            <a:off x="9080300" y="3524377"/>
            <a:ext cx="49984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756648" y="3463962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−3.2%</a:t>
            </a:r>
            <a:endParaRPr lang="en-US" sz="1200" dirty="0"/>
          </a:p>
        </p:txBody>
      </p:sp>
      <p:sp>
        <p:nvSpPr>
          <p:cNvPr id="134" name="Text 132"/>
          <p:cNvSpPr txBox="1"/>
          <p:nvPr/>
        </p:nvSpPr>
        <p:spPr>
          <a:xfrm>
            <a:off x="10533888" y="3463962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−$50K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3687721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3687721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51537" y="3748136"/>
            <a:ext cx="7874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756648" y="3687721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−5.1%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10533888" y="3687721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−$145K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208776" y="391148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41" name="Text 139"/>
          <p:cNvSpPr txBox="1"/>
          <p:nvPr/>
        </p:nvSpPr>
        <p:spPr>
          <a:xfrm>
            <a:off x="6565392" y="391148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2" name="Shape 140"/>
          <p:cNvSpPr/>
          <p:nvPr/>
        </p:nvSpPr>
        <p:spPr>
          <a:xfrm>
            <a:off x="9025094" y="3971895"/>
            <a:ext cx="105190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9756648" y="391148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−6.8%</a:t>
            </a:r>
            <a:endParaRPr lang="en-US" sz="1200" dirty="0"/>
          </a:p>
        </p:txBody>
      </p:sp>
      <p:sp>
        <p:nvSpPr>
          <p:cNvPr id="144" name="Text 142"/>
          <p:cNvSpPr txBox="1"/>
          <p:nvPr/>
        </p:nvSpPr>
        <p:spPr>
          <a:xfrm>
            <a:off x="10533888" y="391148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−$28K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208776" y="4135240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46" name="Text 144"/>
          <p:cNvSpPr txBox="1"/>
          <p:nvPr/>
        </p:nvSpPr>
        <p:spPr>
          <a:xfrm>
            <a:off x="6565392" y="4135240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47" name="Shape 145"/>
          <p:cNvSpPr/>
          <p:nvPr/>
        </p:nvSpPr>
        <p:spPr>
          <a:xfrm>
            <a:off x="9022657" y="4195654"/>
            <a:ext cx="107627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756648" y="4135240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−7.0%</a:t>
            </a:r>
            <a:endParaRPr lang="en-US" sz="1200" dirty="0"/>
          </a:p>
        </p:txBody>
      </p:sp>
      <p:sp>
        <p:nvSpPr>
          <p:cNvPr id="149" name="Text 147"/>
          <p:cNvSpPr txBox="1"/>
          <p:nvPr/>
        </p:nvSpPr>
        <p:spPr>
          <a:xfrm>
            <a:off x="10533888" y="4135240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−$287K</a:t>
            </a:r>
            <a:endParaRPr lang="en-US" sz="12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4358999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4358999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9018226" y="4419414"/>
            <a:ext cx="112058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756648" y="4358999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−7.3%</a:t>
            </a:r>
            <a:endParaRPr lang="en-US" sz="1200" dirty="0"/>
          </a:p>
        </p:txBody>
      </p:sp>
      <p:sp>
        <p:nvSpPr>
          <p:cNvPr id="154" name="Text 152"/>
          <p:cNvSpPr txBox="1"/>
          <p:nvPr/>
        </p:nvSpPr>
        <p:spPr>
          <a:xfrm>
            <a:off x="10533888" y="4358999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−$79K</a:t>
            </a:r>
            <a:endParaRPr lang="en-US" sz="1200" dirty="0"/>
          </a:p>
        </p:txBody>
      </p:sp>
      <p:sp>
        <p:nvSpPr>
          <p:cNvPr id="155" name="Text 153"/>
          <p:cNvSpPr txBox="1"/>
          <p:nvPr/>
        </p:nvSpPr>
        <p:spPr>
          <a:xfrm>
            <a:off x="6208776" y="4582758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56" name="Text 154"/>
          <p:cNvSpPr txBox="1"/>
          <p:nvPr/>
        </p:nvSpPr>
        <p:spPr>
          <a:xfrm>
            <a:off x="6565392" y="4582758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57" name="Shape 155"/>
          <p:cNvSpPr/>
          <p:nvPr/>
        </p:nvSpPr>
        <p:spPr>
          <a:xfrm>
            <a:off x="9016738" y="4643173"/>
            <a:ext cx="1135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9756648" y="4582758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59" name="Text 157"/>
          <p:cNvSpPr txBox="1"/>
          <p:nvPr/>
        </p:nvSpPr>
        <p:spPr>
          <a:xfrm>
            <a:off x="10533888" y="4582758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−$167K</a:t>
            </a:r>
            <a:endParaRPr lang="en-US" sz="1200" dirty="0"/>
          </a:p>
        </p:txBody>
      </p:sp>
      <p:sp>
        <p:nvSpPr>
          <p:cNvPr id="160" name="Text 158"/>
          <p:cNvSpPr txBox="1"/>
          <p:nvPr/>
        </p:nvSpPr>
        <p:spPr>
          <a:xfrm>
            <a:off x="6208776" y="4806517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61" name="Text 159"/>
          <p:cNvSpPr txBox="1"/>
          <p:nvPr/>
        </p:nvSpPr>
        <p:spPr>
          <a:xfrm>
            <a:off x="6565392" y="4806517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62" name="Shape 160"/>
          <p:cNvSpPr/>
          <p:nvPr/>
        </p:nvSpPr>
        <p:spPr>
          <a:xfrm>
            <a:off x="8970138" y="4866932"/>
            <a:ext cx="16014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756648" y="4806517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−10.4%</a:t>
            </a:r>
            <a:endParaRPr lang="en-US" sz="1200" dirty="0"/>
          </a:p>
        </p:txBody>
      </p:sp>
      <p:sp>
        <p:nvSpPr>
          <p:cNvPr id="164" name="Text 162"/>
          <p:cNvSpPr txBox="1"/>
          <p:nvPr/>
        </p:nvSpPr>
        <p:spPr>
          <a:xfrm>
            <a:off x="10533888" y="4806517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−$146K</a:t>
            </a:r>
            <a:endParaRPr lang="en-US" sz="12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5030276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66" name="Text 164"/>
          <p:cNvSpPr txBox="1"/>
          <p:nvPr/>
        </p:nvSpPr>
        <p:spPr>
          <a:xfrm>
            <a:off x="6565392" y="5030276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67" name="Shape 165"/>
          <p:cNvSpPr/>
          <p:nvPr/>
        </p:nvSpPr>
        <p:spPr>
          <a:xfrm>
            <a:off x="8910748" y="5090691"/>
            <a:ext cx="219536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9756648" y="5030276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−14.2%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10533888" y="5030276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−$214K</a:t>
            </a:r>
            <a:endParaRPr lang="en-US" sz="12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5254035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71" name="Text 169"/>
          <p:cNvSpPr txBox="1"/>
          <p:nvPr/>
        </p:nvSpPr>
        <p:spPr>
          <a:xfrm>
            <a:off x="6565392" y="5254035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72" name="Shape 170"/>
          <p:cNvSpPr/>
          <p:nvPr/>
        </p:nvSpPr>
        <p:spPr>
          <a:xfrm>
            <a:off x="8841155" y="5314450"/>
            <a:ext cx="289129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756648" y="5254035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−18.8%</a:t>
            </a:r>
            <a:endParaRPr lang="en-US" sz="1200" dirty="0"/>
          </a:p>
        </p:txBody>
      </p:sp>
      <p:sp>
        <p:nvSpPr>
          <p:cNvPr id="174" name="Text 172"/>
          <p:cNvSpPr txBox="1"/>
          <p:nvPr/>
        </p:nvSpPr>
        <p:spPr>
          <a:xfrm>
            <a:off x="10533888" y="5254035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−$328K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208776" y="5477794"/>
            <a:ext cx="310896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76" name="Text 174"/>
          <p:cNvSpPr txBox="1"/>
          <p:nvPr/>
        </p:nvSpPr>
        <p:spPr>
          <a:xfrm>
            <a:off x="6565392" y="5477794"/>
            <a:ext cx="1920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7" name="Shape 175"/>
          <p:cNvSpPr/>
          <p:nvPr/>
        </p:nvSpPr>
        <p:spPr>
          <a:xfrm>
            <a:off x="8798602" y="5538209"/>
            <a:ext cx="331682" cy="10292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756648" y="5477794"/>
            <a:ext cx="77724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−21.5%</a:t>
            </a:r>
            <a:endParaRPr lang="en-US" sz="1200" dirty="0"/>
          </a:p>
        </p:txBody>
      </p:sp>
      <p:sp>
        <p:nvSpPr>
          <p:cNvPr id="179" name="Text 177"/>
          <p:cNvSpPr txBox="1"/>
          <p:nvPr/>
        </p:nvSpPr>
        <p:spPr>
          <a:xfrm>
            <a:off x="10533888" y="5477794"/>
            <a:ext cx="868680" cy="2237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−$227K</a:t>
            </a:r>
            <a:endParaRPr lang="en-US" sz="1200" dirty="0"/>
          </a:p>
        </p:txBody>
      </p:sp>
      <p:sp>
        <p:nvSpPr>
          <p:cNvPr id="180" name="Shape 178"/>
          <p:cNvSpPr/>
          <p:nvPr/>
        </p:nvSpPr>
        <p:spPr>
          <a:xfrm>
            <a:off x="3574390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124798" y="2121408"/>
            <a:ext cx="10973" cy="380390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085332" y="2121408"/>
            <a:ext cx="10973" cy="380390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3" name="Shape 181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grew. Lincoln grew most at +37.1% (+$243K); Hyundai St George fell most at −21.5% (−$227K).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2026-10-24T20:52:23Z</dcterms:created>
  <dcterms:modified xsi:type="dcterms:W3CDTF">2026-10-24T20:52:23Z</dcterms:modified>
</cp:coreProperties>
</file>