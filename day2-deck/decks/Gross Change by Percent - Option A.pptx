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Qlik - Profit &amp; Loss. Same-store, INEOS excluded (opened 2026). Fixed ops = service + parts; GMC Prescott body shop gross excluded. Ranked by percent change, Jan-Sep 2026 vs Jan-Sep 2025, so store size does not set the order; dollar change alongside.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Qlik - Profit &amp; Loss. Same-store, INEOS excluded (opened 2026). Fixed ops = service + parts; GMC Prescott body shop gross excluded. Ranked by percent change, Jan-Sep 2026 vs Jan-Sep 2025, so store size does not set the order; dollar change alongside.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Qlik - Profit &amp; Loss. Same-store, INEOS excluded (opened 2026). Fixed ops = service + parts; GMC Prescott body shop gross excluded. Ranked by percent change, Jan-Sep 2026 vs Jan-Sep 2025, so store size does not set the order; dollar change alongside.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DED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02336"/>
            <a:ext cx="50292" cy="192024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21792" y="3383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1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FIXED OPS GROSS · OPTION A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0080"/>
            <a:ext cx="11338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Total Gross Profit - Fixed Ops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07008"/>
            <a:ext cx="11274552" cy="47823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658368" y="1335024"/>
            <a:ext cx="10872216" cy="420624"/>
          </a:xfrm>
          <a:prstGeom prst="rect">
            <a:avLst/>
          </a:prstGeom>
          <a:solidFill>
            <a:srgbClr val="EDF4FA"/>
          </a:solidFill>
          <a:ln/>
        </p:spPr>
      </p:sp>
      <p:sp>
        <p:nvSpPr>
          <p:cNvPr id="7" name="Shape 5"/>
          <p:cNvSpPr/>
          <p:nvPr/>
        </p:nvSpPr>
        <p:spPr>
          <a:xfrm>
            <a:off x="658368" y="1335024"/>
            <a:ext cx="59436" cy="420624"/>
          </a:xfrm>
          <a:prstGeom prst="rect">
            <a:avLst/>
          </a:prstGeom>
          <a:solidFill>
            <a:srgbClr val="0B2C4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59536" y="1335024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FIXED OPS GROSS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3291840" y="1335024"/>
            <a:ext cx="4754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90" kern="0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YEAR-OVER-YEAR CHANGE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138160" y="1335024"/>
            <a:ext cx="3291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+4.1%  ·  +$7.47M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4206240" y="1828800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Change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4983480" y="1828800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9756648" y="1828800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Change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0533888" y="1828800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658368" y="2121408"/>
            <a:ext cx="310896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1014984" y="2121408"/>
            <a:ext cx="192024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HYUNDAI PRESCOTT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579876" y="2181823"/>
            <a:ext cx="571500" cy="102929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4206240" y="2121408"/>
            <a:ext cx="77724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+35.8%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4983480" y="2121408"/>
            <a:ext cx="86868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+$404K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658368" y="2345167"/>
            <a:ext cx="310896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1014984" y="2345167"/>
            <a:ext cx="192024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LINCOLN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579876" y="2405582"/>
            <a:ext cx="506111" cy="102929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4206240" y="2345167"/>
            <a:ext cx="77724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+31.7%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4983480" y="2345167"/>
            <a:ext cx="86868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+$717K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658368" y="2568926"/>
            <a:ext cx="310896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1014984" y="2568926"/>
            <a:ext cx="192024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LEXUS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579876" y="2629341"/>
            <a:ext cx="360850" cy="102929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4206240" y="2568926"/>
            <a:ext cx="77724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+22.6%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4983480" y="2568926"/>
            <a:ext cx="86868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+$764K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658368" y="2792685"/>
            <a:ext cx="310896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1014984" y="2792685"/>
            <a:ext cx="192024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AUDI HENDERSON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3579876" y="2853100"/>
            <a:ext cx="256108" cy="102929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4206240" y="2792685"/>
            <a:ext cx="77724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+16.0%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4983480" y="2792685"/>
            <a:ext cx="86868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+$1.70M</a:t>
            </a:r>
            <a:endParaRPr lang="en-US" sz="1200" dirty="0"/>
          </a:p>
        </p:txBody>
      </p:sp>
      <p:sp>
        <p:nvSpPr>
          <p:cNvPr id="35" name="Text 33"/>
          <p:cNvSpPr txBox="1"/>
          <p:nvPr/>
        </p:nvSpPr>
        <p:spPr>
          <a:xfrm>
            <a:off x="658368" y="3016444"/>
            <a:ext cx="310896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1200" dirty="0"/>
          </a:p>
        </p:txBody>
      </p:sp>
      <p:sp>
        <p:nvSpPr>
          <p:cNvPr id="36" name="Text 34"/>
          <p:cNvSpPr txBox="1"/>
          <p:nvPr/>
        </p:nvSpPr>
        <p:spPr>
          <a:xfrm>
            <a:off x="1014984" y="3016444"/>
            <a:ext cx="192024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SUBARU PRESCOTT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3579876" y="3076859"/>
            <a:ext cx="252129" cy="102929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4206240" y="3016444"/>
            <a:ext cx="77724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+15.8%</a:t>
            </a:r>
            <a:endParaRPr lang="en-US" sz="1200" dirty="0"/>
          </a:p>
        </p:txBody>
      </p:sp>
      <p:sp>
        <p:nvSpPr>
          <p:cNvPr id="39" name="Text 37"/>
          <p:cNvSpPr txBox="1"/>
          <p:nvPr/>
        </p:nvSpPr>
        <p:spPr>
          <a:xfrm>
            <a:off x="4983480" y="3016444"/>
            <a:ext cx="86868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+$368K</a:t>
            </a:r>
            <a:endParaRPr lang="en-US" sz="1200" dirty="0"/>
          </a:p>
        </p:txBody>
      </p:sp>
      <p:sp>
        <p:nvSpPr>
          <p:cNvPr id="40" name="Text 38"/>
          <p:cNvSpPr txBox="1"/>
          <p:nvPr/>
        </p:nvSpPr>
        <p:spPr>
          <a:xfrm>
            <a:off x="658368" y="3240203"/>
            <a:ext cx="310896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</a:t>
            </a:r>
            <a:endParaRPr lang="en-US" sz="1200" dirty="0"/>
          </a:p>
        </p:txBody>
      </p:sp>
      <p:sp>
        <p:nvSpPr>
          <p:cNvPr id="41" name="Text 39"/>
          <p:cNvSpPr txBox="1"/>
          <p:nvPr/>
        </p:nvSpPr>
        <p:spPr>
          <a:xfrm>
            <a:off x="1014984" y="3240203"/>
            <a:ext cx="192024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SUBARU ST GEORGE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3579876" y="3300618"/>
            <a:ext cx="248007" cy="102929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43" name="Text 41"/>
          <p:cNvSpPr txBox="1"/>
          <p:nvPr/>
        </p:nvSpPr>
        <p:spPr>
          <a:xfrm>
            <a:off x="4206240" y="3240203"/>
            <a:ext cx="77724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+15.5%</a:t>
            </a:r>
            <a:endParaRPr lang="en-US" sz="1200" dirty="0"/>
          </a:p>
        </p:txBody>
      </p:sp>
      <p:sp>
        <p:nvSpPr>
          <p:cNvPr id="44" name="Text 42"/>
          <p:cNvSpPr txBox="1"/>
          <p:nvPr/>
        </p:nvSpPr>
        <p:spPr>
          <a:xfrm>
            <a:off x="4983480" y="3240203"/>
            <a:ext cx="86868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+$472K</a:t>
            </a:r>
            <a:endParaRPr lang="en-US" sz="1200" dirty="0"/>
          </a:p>
        </p:txBody>
      </p:sp>
      <p:sp>
        <p:nvSpPr>
          <p:cNvPr id="45" name="Text 43"/>
          <p:cNvSpPr txBox="1"/>
          <p:nvPr/>
        </p:nvSpPr>
        <p:spPr>
          <a:xfrm>
            <a:off x="658368" y="3463962"/>
            <a:ext cx="310896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</a:t>
            </a:r>
            <a:endParaRPr lang="en-US" sz="1200" dirty="0"/>
          </a:p>
        </p:txBody>
      </p:sp>
      <p:sp>
        <p:nvSpPr>
          <p:cNvPr id="46" name="Text 44"/>
          <p:cNvSpPr txBox="1"/>
          <p:nvPr/>
        </p:nvSpPr>
        <p:spPr>
          <a:xfrm>
            <a:off x="1014984" y="3463962"/>
            <a:ext cx="192024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TOYOTA PRESCOTT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3579876" y="3524377"/>
            <a:ext cx="208279" cy="102929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48" name="Text 46"/>
          <p:cNvSpPr txBox="1"/>
          <p:nvPr/>
        </p:nvSpPr>
        <p:spPr>
          <a:xfrm>
            <a:off x="4206240" y="3463962"/>
            <a:ext cx="77724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+13.0%</a:t>
            </a:r>
            <a:endParaRPr lang="en-US" sz="1200" dirty="0"/>
          </a:p>
        </p:txBody>
      </p:sp>
      <p:sp>
        <p:nvSpPr>
          <p:cNvPr id="49" name="Text 47"/>
          <p:cNvSpPr txBox="1"/>
          <p:nvPr/>
        </p:nvSpPr>
        <p:spPr>
          <a:xfrm>
            <a:off x="4983480" y="3463962"/>
            <a:ext cx="86868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+$586K</a:t>
            </a:r>
            <a:endParaRPr lang="en-US" sz="1200" dirty="0"/>
          </a:p>
        </p:txBody>
      </p:sp>
      <p:sp>
        <p:nvSpPr>
          <p:cNvPr id="50" name="Text 48"/>
          <p:cNvSpPr txBox="1"/>
          <p:nvPr/>
        </p:nvSpPr>
        <p:spPr>
          <a:xfrm>
            <a:off x="658368" y="3687721"/>
            <a:ext cx="310896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</a:t>
            </a:r>
            <a:endParaRPr lang="en-US" sz="1200" dirty="0"/>
          </a:p>
        </p:txBody>
      </p:sp>
      <p:sp>
        <p:nvSpPr>
          <p:cNvPr id="51" name="Text 49"/>
          <p:cNvSpPr txBox="1"/>
          <p:nvPr/>
        </p:nvSpPr>
        <p:spPr>
          <a:xfrm>
            <a:off x="1014984" y="3687721"/>
            <a:ext cx="192024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TOYOTA FLAGSTAFF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3579876" y="3748136"/>
            <a:ext cx="166767" cy="102929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53" name="Text 51"/>
          <p:cNvSpPr txBox="1"/>
          <p:nvPr/>
        </p:nvSpPr>
        <p:spPr>
          <a:xfrm>
            <a:off x="4206240" y="3687721"/>
            <a:ext cx="77724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+10.4%</a:t>
            </a:r>
            <a:endParaRPr lang="en-US" sz="1200" dirty="0"/>
          </a:p>
        </p:txBody>
      </p:sp>
      <p:sp>
        <p:nvSpPr>
          <p:cNvPr id="54" name="Text 52"/>
          <p:cNvSpPr txBox="1"/>
          <p:nvPr/>
        </p:nvSpPr>
        <p:spPr>
          <a:xfrm>
            <a:off x="4983480" y="3687721"/>
            <a:ext cx="86868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+$422K</a:t>
            </a:r>
            <a:endParaRPr lang="en-US" sz="1200" dirty="0"/>
          </a:p>
        </p:txBody>
      </p:sp>
      <p:sp>
        <p:nvSpPr>
          <p:cNvPr id="55" name="Text 53"/>
          <p:cNvSpPr txBox="1"/>
          <p:nvPr/>
        </p:nvSpPr>
        <p:spPr>
          <a:xfrm>
            <a:off x="658368" y="3911480"/>
            <a:ext cx="310896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</a:t>
            </a:r>
            <a:endParaRPr lang="en-US" sz="1200" dirty="0"/>
          </a:p>
        </p:txBody>
      </p:sp>
      <p:sp>
        <p:nvSpPr>
          <p:cNvPr id="56" name="Text 54"/>
          <p:cNvSpPr txBox="1"/>
          <p:nvPr/>
        </p:nvSpPr>
        <p:spPr>
          <a:xfrm>
            <a:off x="1014984" y="3911480"/>
            <a:ext cx="192024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NISSAN</a:t>
            </a:r>
            <a:endParaRPr lang="en-US" sz="1200" dirty="0"/>
          </a:p>
        </p:txBody>
      </p:sp>
      <p:sp>
        <p:nvSpPr>
          <p:cNvPr id="57" name="Shape 55"/>
          <p:cNvSpPr/>
          <p:nvPr/>
        </p:nvSpPr>
        <p:spPr>
          <a:xfrm>
            <a:off x="3579876" y="3971895"/>
            <a:ext cx="163731" cy="102929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58" name="Text 56"/>
          <p:cNvSpPr txBox="1"/>
          <p:nvPr/>
        </p:nvSpPr>
        <p:spPr>
          <a:xfrm>
            <a:off x="4206240" y="3911480"/>
            <a:ext cx="77724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+10.2%</a:t>
            </a:r>
            <a:endParaRPr lang="en-US" sz="1200" dirty="0"/>
          </a:p>
        </p:txBody>
      </p:sp>
      <p:sp>
        <p:nvSpPr>
          <p:cNvPr id="59" name="Text 57"/>
          <p:cNvSpPr txBox="1"/>
          <p:nvPr/>
        </p:nvSpPr>
        <p:spPr>
          <a:xfrm>
            <a:off x="4983480" y="3911480"/>
            <a:ext cx="86868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+$445K</a:t>
            </a:r>
            <a:endParaRPr lang="en-US" sz="1200" dirty="0"/>
          </a:p>
        </p:txBody>
      </p:sp>
      <p:sp>
        <p:nvSpPr>
          <p:cNvPr id="60" name="Text 58"/>
          <p:cNvSpPr txBox="1"/>
          <p:nvPr/>
        </p:nvSpPr>
        <p:spPr>
          <a:xfrm>
            <a:off x="658368" y="4135240"/>
            <a:ext cx="310896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</a:t>
            </a:r>
            <a:endParaRPr lang="en-US" sz="1200" dirty="0"/>
          </a:p>
        </p:txBody>
      </p:sp>
      <p:sp>
        <p:nvSpPr>
          <p:cNvPr id="61" name="Text 59"/>
          <p:cNvSpPr txBox="1"/>
          <p:nvPr/>
        </p:nvSpPr>
        <p:spPr>
          <a:xfrm>
            <a:off x="1014984" y="4135240"/>
            <a:ext cx="192024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KIA ST GEORGE</a:t>
            </a:r>
            <a:endParaRPr lang="en-US" sz="1200" dirty="0"/>
          </a:p>
        </p:txBody>
      </p:sp>
      <p:sp>
        <p:nvSpPr>
          <p:cNvPr id="62" name="Shape 60"/>
          <p:cNvSpPr/>
          <p:nvPr/>
        </p:nvSpPr>
        <p:spPr>
          <a:xfrm>
            <a:off x="3579876" y="4195654"/>
            <a:ext cx="162710" cy="102929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63" name="Text 61"/>
          <p:cNvSpPr txBox="1"/>
          <p:nvPr/>
        </p:nvSpPr>
        <p:spPr>
          <a:xfrm>
            <a:off x="4206240" y="4135240"/>
            <a:ext cx="77724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+10.2%</a:t>
            </a:r>
            <a:endParaRPr lang="en-US" sz="1200" dirty="0"/>
          </a:p>
        </p:txBody>
      </p:sp>
      <p:sp>
        <p:nvSpPr>
          <p:cNvPr id="64" name="Text 62"/>
          <p:cNvSpPr txBox="1"/>
          <p:nvPr/>
        </p:nvSpPr>
        <p:spPr>
          <a:xfrm>
            <a:off x="4983480" y="4135240"/>
            <a:ext cx="86868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+$216K</a:t>
            </a:r>
            <a:endParaRPr lang="en-US" sz="1200" dirty="0"/>
          </a:p>
        </p:txBody>
      </p:sp>
      <p:sp>
        <p:nvSpPr>
          <p:cNvPr id="65" name="Text 63"/>
          <p:cNvSpPr txBox="1"/>
          <p:nvPr/>
        </p:nvSpPr>
        <p:spPr>
          <a:xfrm>
            <a:off x="658368" y="4358999"/>
            <a:ext cx="310896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</a:t>
            </a:r>
            <a:endParaRPr lang="en-US" sz="1200" dirty="0"/>
          </a:p>
        </p:txBody>
      </p:sp>
      <p:sp>
        <p:nvSpPr>
          <p:cNvPr id="66" name="Text 64"/>
          <p:cNvSpPr txBox="1"/>
          <p:nvPr/>
        </p:nvSpPr>
        <p:spPr>
          <a:xfrm>
            <a:off x="1014984" y="4358999"/>
            <a:ext cx="192024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TOYOTA SPOKANE</a:t>
            </a:r>
            <a:endParaRPr lang="en-US" sz="1200" dirty="0"/>
          </a:p>
        </p:txBody>
      </p:sp>
      <p:sp>
        <p:nvSpPr>
          <p:cNvPr id="67" name="Shape 65"/>
          <p:cNvSpPr/>
          <p:nvPr/>
        </p:nvSpPr>
        <p:spPr>
          <a:xfrm>
            <a:off x="3579876" y="4419414"/>
            <a:ext cx="161498" cy="102929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68" name="Text 66"/>
          <p:cNvSpPr txBox="1"/>
          <p:nvPr/>
        </p:nvSpPr>
        <p:spPr>
          <a:xfrm>
            <a:off x="4206240" y="4358999"/>
            <a:ext cx="77724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+10.1%</a:t>
            </a:r>
            <a:endParaRPr lang="en-US" sz="1200" dirty="0"/>
          </a:p>
        </p:txBody>
      </p:sp>
      <p:sp>
        <p:nvSpPr>
          <p:cNvPr id="69" name="Text 67"/>
          <p:cNvSpPr txBox="1"/>
          <p:nvPr/>
        </p:nvSpPr>
        <p:spPr>
          <a:xfrm>
            <a:off x="4983480" y="4358999"/>
            <a:ext cx="86868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+$545K</a:t>
            </a:r>
            <a:endParaRPr lang="en-US" sz="1200" dirty="0"/>
          </a:p>
        </p:txBody>
      </p:sp>
      <p:sp>
        <p:nvSpPr>
          <p:cNvPr id="70" name="Text 68"/>
          <p:cNvSpPr txBox="1"/>
          <p:nvPr/>
        </p:nvSpPr>
        <p:spPr>
          <a:xfrm>
            <a:off x="658368" y="4582758"/>
            <a:ext cx="310896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</a:t>
            </a:r>
            <a:endParaRPr lang="en-US" sz="1200" dirty="0"/>
          </a:p>
        </p:txBody>
      </p:sp>
      <p:sp>
        <p:nvSpPr>
          <p:cNvPr id="71" name="Text 69"/>
          <p:cNvSpPr txBox="1"/>
          <p:nvPr/>
        </p:nvSpPr>
        <p:spPr>
          <a:xfrm>
            <a:off x="1014984" y="4582758"/>
            <a:ext cx="192024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HONDA SPOKANE</a:t>
            </a:r>
            <a:endParaRPr lang="en-US" sz="1200" dirty="0"/>
          </a:p>
        </p:txBody>
      </p:sp>
      <p:sp>
        <p:nvSpPr>
          <p:cNvPr id="72" name="Shape 70"/>
          <p:cNvSpPr/>
          <p:nvPr/>
        </p:nvSpPr>
        <p:spPr>
          <a:xfrm>
            <a:off x="3579876" y="4643173"/>
            <a:ext cx="156373" cy="102929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73" name="Text 71"/>
          <p:cNvSpPr txBox="1"/>
          <p:nvPr/>
        </p:nvSpPr>
        <p:spPr>
          <a:xfrm>
            <a:off x="4206240" y="4582758"/>
            <a:ext cx="77724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+9.8%</a:t>
            </a:r>
            <a:endParaRPr lang="en-US" sz="1200" dirty="0"/>
          </a:p>
        </p:txBody>
      </p:sp>
      <p:sp>
        <p:nvSpPr>
          <p:cNvPr id="74" name="Text 72"/>
          <p:cNvSpPr txBox="1"/>
          <p:nvPr/>
        </p:nvSpPr>
        <p:spPr>
          <a:xfrm>
            <a:off x="4983480" y="4582758"/>
            <a:ext cx="86868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+$373K</a:t>
            </a:r>
            <a:endParaRPr lang="en-US" sz="1200" dirty="0"/>
          </a:p>
        </p:txBody>
      </p:sp>
      <p:sp>
        <p:nvSpPr>
          <p:cNvPr id="75" name="Text 73"/>
          <p:cNvSpPr txBox="1"/>
          <p:nvPr/>
        </p:nvSpPr>
        <p:spPr>
          <a:xfrm>
            <a:off x="658368" y="4806517"/>
            <a:ext cx="310896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13</a:t>
            </a:r>
            <a:endParaRPr lang="en-US" sz="1200" dirty="0"/>
          </a:p>
        </p:txBody>
      </p:sp>
      <p:sp>
        <p:nvSpPr>
          <p:cNvPr id="76" name="Text 74"/>
          <p:cNvSpPr txBox="1"/>
          <p:nvPr/>
        </p:nvSpPr>
        <p:spPr>
          <a:xfrm>
            <a:off x="1014984" y="4806517"/>
            <a:ext cx="192024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GMC PRESCOTT</a:t>
            </a:r>
            <a:endParaRPr lang="en-US" sz="1200" dirty="0"/>
          </a:p>
        </p:txBody>
      </p:sp>
      <p:sp>
        <p:nvSpPr>
          <p:cNvPr id="77" name="Shape 75"/>
          <p:cNvSpPr/>
          <p:nvPr/>
        </p:nvSpPr>
        <p:spPr>
          <a:xfrm>
            <a:off x="3579876" y="4866932"/>
            <a:ext cx="136210" cy="102929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78" name="Text 76"/>
          <p:cNvSpPr txBox="1"/>
          <p:nvPr/>
        </p:nvSpPr>
        <p:spPr>
          <a:xfrm>
            <a:off x="4206240" y="4806517"/>
            <a:ext cx="77724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+8.5%</a:t>
            </a:r>
            <a:endParaRPr lang="en-US" sz="1200" dirty="0"/>
          </a:p>
        </p:txBody>
      </p:sp>
      <p:sp>
        <p:nvSpPr>
          <p:cNvPr id="79" name="Text 77"/>
          <p:cNvSpPr txBox="1"/>
          <p:nvPr/>
        </p:nvSpPr>
        <p:spPr>
          <a:xfrm>
            <a:off x="4983480" y="4806517"/>
            <a:ext cx="86868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+$178K</a:t>
            </a:r>
            <a:endParaRPr lang="en-US" sz="1200" dirty="0"/>
          </a:p>
        </p:txBody>
      </p:sp>
      <p:sp>
        <p:nvSpPr>
          <p:cNvPr id="80" name="Text 78"/>
          <p:cNvSpPr txBox="1"/>
          <p:nvPr/>
        </p:nvSpPr>
        <p:spPr>
          <a:xfrm>
            <a:off x="658368" y="5030276"/>
            <a:ext cx="310896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14</a:t>
            </a:r>
            <a:endParaRPr lang="en-US" sz="1200" dirty="0"/>
          </a:p>
        </p:txBody>
      </p:sp>
      <p:sp>
        <p:nvSpPr>
          <p:cNvPr id="81" name="Text 79"/>
          <p:cNvSpPr txBox="1"/>
          <p:nvPr/>
        </p:nvSpPr>
        <p:spPr>
          <a:xfrm>
            <a:off x="1014984" y="5030276"/>
            <a:ext cx="192024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TOYOTA HENDERSON</a:t>
            </a:r>
            <a:endParaRPr lang="en-US" sz="1200" dirty="0"/>
          </a:p>
        </p:txBody>
      </p:sp>
      <p:sp>
        <p:nvSpPr>
          <p:cNvPr id="82" name="Shape 80"/>
          <p:cNvSpPr/>
          <p:nvPr/>
        </p:nvSpPr>
        <p:spPr>
          <a:xfrm>
            <a:off x="3579876" y="5090691"/>
            <a:ext cx="136028" cy="102929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83" name="Text 81"/>
          <p:cNvSpPr txBox="1"/>
          <p:nvPr/>
        </p:nvSpPr>
        <p:spPr>
          <a:xfrm>
            <a:off x="4206240" y="5030276"/>
            <a:ext cx="77724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+8.5%</a:t>
            </a:r>
            <a:endParaRPr lang="en-US" sz="1200" dirty="0"/>
          </a:p>
        </p:txBody>
      </p:sp>
      <p:sp>
        <p:nvSpPr>
          <p:cNvPr id="84" name="Text 82"/>
          <p:cNvSpPr txBox="1"/>
          <p:nvPr/>
        </p:nvSpPr>
        <p:spPr>
          <a:xfrm>
            <a:off x="4983480" y="5030276"/>
            <a:ext cx="86868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+$1.77M</a:t>
            </a:r>
            <a:endParaRPr lang="en-US" sz="1200" dirty="0"/>
          </a:p>
        </p:txBody>
      </p:sp>
      <p:sp>
        <p:nvSpPr>
          <p:cNvPr id="85" name="Text 83"/>
          <p:cNvSpPr txBox="1"/>
          <p:nvPr/>
        </p:nvSpPr>
        <p:spPr>
          <a:xfrm>
            <a:off x="658368" y="5254035"/>
            <a:ext cx="310896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</a:t>
            </a:r>
            <a:endParaRPr lang="en-US" sz="1200" dirty="0"/>
          </a:p>
        </p:txBody>
      </p:sp>
      <p:sp>
        <p:nvSpPr>
          <p:cNvPr id="86" name="Text 84"/>
          <p:cNvSpPr txBox="1"/>
          <p:nvPr/>
        </p:nvSpPr>
        <p:spPr>
          <a:xfrm>
            <a:off x="1014984" y="5254035"/>
            <a:ext cx="192024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LR RENO</a:t>
            </a:r>
            <a:endParaRPr lang="en-US" sz="1200" dirty="0"/>
          </a:p>
        </p:txBody>
      </p:sp>
      <p:sp>
        <p:nvSpPr>
          <p:cNvPr id="87" name="Shape 85"/>
          <p:cNvSpPr/>
          <p:nvPr/>
        </p:nvSpPr>
        <p:spPr>
          <a:xfrm>
            <a:off x="3579876" y="5314450"/>
            <a:ext cx="122042" cy="102929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88" name="Text 86"/>
          <p:cNvSpPr txBox="1"/>
          <p:nvPr/>
        </p:nvSpPr>
        <p:spPr>
          <a:xfrm>
            <a:off x="4206240" y="5254035"/>
            <a:ext cx="77724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+7.6%</a:t>
            </a:r>
            <a:endParaRPr lang="en-US" sz="1200" dirty="0"/>
          </a:p>
        </p:txBody>
      </p:sp>
      <p:sp>
        <p:nvSpPr>
          <p:cNvPr id="89" name="Text 87"/>
          <p:cNvSpPr txBox="1"/>
          <p:nvPr/>
        </p:nvSpPr>
        <p:spPr>
          <a:xfrm>
            <a:off x="4983480" y="5254035"/>
            <a:ext cx="86868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+$157K</a:t>
            </a:r>
            <a:endParaRPr lang="en-US" sz="1200" dirty="0"/>
          </a:p>
        </p:txBody>
      </p:sp>
      <p:sp>
        <p:nvSpPr>
          <p:cNvPr id="90" name="Text 88"/>
          <p:cNvSpPr txBox="1"/>
          <p:nvPr/>
        </p:nvSpPr>
        <p:spPr>
          <a:xfrm>
            <a:off x="658368" y="5477794"/>
            <a:ext cx="310896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16</a:t>
            </a:r>
            <a:endParaRPr lang="en-US" sz="1200" dirty="0"/>
          </a:p>
        </p:txBody>
      </p:sp>
      <p:sp>
        <p:nvSpPr>
          <p:cNvPr id="91" name="Text 89"/>
          <p:cNvSpPr txBox="1"/>
          <p:nvPr/>
        </p:nvSpPr>
        <p:spPr>
          <a:xfrm>
            <a:off x="1014984" y="5477794"/>
            <a:ext cx="192024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CADILLAC</a:t>
            </a:r>
            <a:endParaRPr lang="en-US" sz="1200" dirty="0"/>
          </a:p>
        </p:txBody>
      </p:sp>
      <p:sp>
        <p:nvSpPr>
          <p:cNvPr id="92" name="Shape 90"/>
          <p:cNvSpPr/>
          <p:nvPr/>
        </p:nvSpPr>
        <p:spPr>
          <a:xfrm>
            <a:off x="3579876" y="5538209"/>
            <a:ext cx="118786" cy="102929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93" name="Text 91"/>
          <p:cNvSpPr txBox="1"/>
          <p:nvPr/>
        </p:nvSpPr>
        <p:spPr>
          <a:xfrm>
            <a:off x="4206240" y="5477794"/>
            <a:ext cx="77724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+7.4%</a:t>
            </a:r>
            <a:endParaRPr lang="en-US" sz="1200" dirty="0"/>
          </a:p>
        </p:txBody>
      </p:sp>
      <p:sp>
        <p:nvSpPr>
          <p:cNvPr id="94" name="Text 92"/>
          <p:cNvSpPr txBox="1"/>
          <p:nvPr/>
        </p:nvSpPr>
        <p:spPr>
          <a:xfrm>
            <a:off x="4983480" y="5477794"/>
            <a:ext cx="86868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+$664K</a:t>
            </a:r>
            <a:endParaRPr lang="en-US" sz="1200" dirty="0"/>
          </a:p>
        </p:txBody>
      </p:sp>
      <p:sp>
        <p:nvSpPr>
          <p:cNvPr id="95" name="Text 93"/>
          <p:cNvSpPr txBox="1"/>
          <p:nvPr/>
        </p:nvSpPr>
        <p:spPr>
          <a:xfrm>
            <a:off x="658368" y="5701553"/>
            <a:ext cx="310896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17</a:t>
            </a:r>
            <a:endParaRPr lang="en-US" sz="1200" dirty="0"/>
          </a:p>
        </p:txBody>
      </p:sp>
      <p:sp>
        <p:nvSpPr>
          <p:cNvPr id="96" name="Text 94"/>
          <p:cNvSpPr txBox="1"/>
          <p:nvPr/>
        </p:nvSpPr>
        <p:spPr>
          <a:xfrm>
            <a:off x="1014984" y="5701553"/>
            <a:ext cx="192024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HONDA HENDERSON</a:t>
            </a:r>
            <a:endParaRPr lang="en-US" sz="1200" dirty="0"/>
          </a:p>
        </p:txBody>
      </p:sp>
      <p:sp>
        <p:nvSpPr>
          <p:cNvPr id="97" name="Shape 95"/>
          <p:cNvSpPr/>
          <p:nvPr/>
        </p:nvSpPr>
        <p:spPr>
          <a:xfrm>
            <a:off x="3579876" y="5761968"/>
            <a:ext cx="110352" cy="102929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98" name="Text 96"/>
          <p:cNvSpPr txBox="1"/>
          <p:nvPr/>
        </p:nvSpPr>
        <p:spPr>
          <a:xfrm>
            <a:off x="4206240" y="5701553"/>
            <a:ext cx="77724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+6.9%</a:t>
            </a:r>
            <a:endParaRPr lang="en-US" sz="1200" dirty="0"/>
          </a:p>
        </p:txBody>
      </p:sp>
      <p:sp>
        <p:nvSpPr>
          <p:cNvPr id="99" name="Text 97"/>
          <p:cNvSpPr txBox="1"/>
          <p:nvPr/>
        </p:nvSpPr>
        <p:spPr>
          <a:xfrm>
            <a:off x="4983480" y="5701553"/>
            <a:ext cx="86868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+$932K</a:t>
            </a:r>
            <a:endParaRPr lang="en-US" sz="1200" dirty="0"/>
          </a:p>
        </p:txBody>
      </p:sp>
      <p:sp>
        <p:nvSpPr>
          <p:cNvPr id="100" name="Text 98"/>
          <p:cNvSpPr txBox="1"/>
          <p:nvPr/>
        </p:nvSpPr>
        <p:spPr>
          <a:xfrm>
            <a:off x="6208776" y="2121408"/>
            <a:ext cx="310896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18</a:t>
            </a:r>
            <a:endParaRPr lang="en-US" sz="1200" dirty="0"/>
          </a:p>
        </p:txBody>
      </p:sp>
      <p:sp>
        <p:nvSpPr>
          <p:cNvPr id="101" name="Text 99"/>
          <p:cNvSpPr txBox="1"/>
          <p:nvPr/>
        </p:nvSpPr>
        <p:spPr>
          <a:xfrm>
            <a:off x="6565392" y="2121408"/>
            <a:ext cx="192024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HYUNDAI ST GEORGE</a:t>
            </a:r>
            <a:endParaRPr lang="en-US" sz="1200" dirty="0"/>
          </a:p>
        </p:txBody>
      </p:sp>
      <p:sp>
        <p:nvSpPr>
          <p:cNvPr id="102" name="Shape 100"/>
          <p:cNvSpPr/>
          <p:nvPr/>
        </p:nvSpPr>
        <p:spPr>
          <a:xfrm>
            <a:off x="9130284" y="2181823"/>
            <a:ext cx="64131" cy="102929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103" name="Text 101"/>
          <p:cNvSpPr txBox="1"/>
          <p:nvPr/>
        </p:nvSpPr>
        <p:spPr>
          <a:xfrm>
            <a:off x="9756648" y="2121408"/>
            <a:ext cx="77724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+4.0%</a:t>
            </a:r>
            <a:endParaRPr lang="en-US" sz="1200" dirty="0"/>
          </a:p>
        </p:txBody>
      </p:sp>
      <p:sp>
        <p:nvSpPr>
          <p:cNvPr id="104" name="Text 102"/>
          <p:cNvSpPr txBox="1"/>
          <p:nvPr/>
        </p:nvSpPr>
        <p:spPr>
          <a:xfrm>
            <a:off x="10533888" y="2121408"/>
            <a:ext cx="86868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+$88K</a:t>
            </a:r>
            <a:endParaRPr lang="en-US" sz="1200" dirty="0"/>
          </a:p>
        </p:txBody>
      </p:sp>
      <p:sp>
        <p:nvSpPr>
          <p:cNvPr id="105" name="Text 103"/>
          <p:cNvSpPr txBox="1"/>
          <p:nvPr/>
        </p:nvSpPr>
        <p:spPr>
          <a:xfrm>
            <a:off x="6208776" y="2345167"/>
            <a:ext cx="310896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19</a:t>
            </a:r>
            <a:endParaRPr lang="en-US" sz="1200" dirty="0"/>
          </a:p>
        </p:txBody>
      </p:sp>
      <p:sp>
        <p:nvSpPr>
          <p:cNvPr id="106" name="Text 104"/>
          <p:cNvSpPr txBox="1"/>
          <p:nvPr/>
        </p:nvSpPr>
        <p:spPr>
          <a:xfrm>
            <a:off x="6565392" y="2345167"/>
            <a:ext cx="192024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MAZDA</a:t>
            </a:r>
            <a:endParaRPr lang="en-US" sz="1200" dirty="0"/>
          </a:p>
        </p:txBody>
      </p:sp>
      <p:sp>
        <p:nvSpPr>
          <p:cNvPr id="107" name="Shape 105"/>
          <p:cNvSpPr/>
          <p:nvPr/>
        </p:nvSpPr>
        <p:spPr>
          <a:xfrm>
            <a:off x="9130284" y="2405582"/>
            <a:ext cx="60011" cy="102929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108" name="Text 106"/>
          <p:cNvSpPr txBox="1"/>
          <p:nvPr/>
        </p:nvSpPr>
        <p:spPr>
          <a:xfrm>
            <a:off x="9756648" y="2345167"/>
            <a:ext cx="77724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+3.8%</a:t>
            </a:r>
            <a:endParaRPr lang="en-US" sz="1200" dirty="0"/>
          </a:p>
        </p:txBody>
      </p:sp>
      <p:sp>
        <p:nvSpPr>
          <p:cNvPr id="109" name="Text 107"/>
          <p:cNvSpPr txBox="1"/>
          <p:nvPr/>
        </p:nvSpPr>
        <p:spPr>
          <a:xfrm>
            <a:off x="10533888" y="2345167"/>
            <a:ext cx="86868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+$120K</a:t>
            </a:r>
            <a:endParaRPr lang="en-US" sz="1200" dirty="0"/>
          </a:p>
        </p:txBody>
      </p:sp>
      <p:sp>
        <p:nvSpPr>
          <p:cNvPr id="110" name="Text 108"/>
          <p:cNvSpPr txBox="1"/>
          <p:nvPr/>
        </p:nvSpPr>
        <p:spPr>
          <a:xfrm>
            <a:off x="6208776" y="2568926"/>
            <a:ext cx="310896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</a:t>
            </a:r>
            <a:endParaRPr lang="en-US" sz="1200" dirty="0"/>
          </a:p>
        </p:txBody>
      </p:sp>
      <p:sp>
        <p:nvSpPr>
          <p:cNvPr id="111" name="Text 109"/>
          <p:cNvSpPr txBox="1"/>
          <p:nvPr/>
        </p:nvSpPr>
        <p:spPr>
          <a:xfrm>
            <a:off x="6565392" y="2568926"/>
            <a:ext cx="192024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LR HENDERSON</a:t>
            </a:r>
            <a:endParaRPr lang="en-US" sz="1200" dirty="0"/>
          </a:p>
        </p:txBody>
      </p:sp>
      <p:sp>
        <p:nvSpPr>
          <p:cNvPr id="112" name="Shape 110"/>
          <p:cNvSpPr/>
          <p:nvPr/>
        </p:nvSpPr>
        <p:spPr>
          <a:xfrm>
            <a:off x="9130284" y="2629341"/>
            <a:ext cx="45763" cy="102929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113" name="Text 111"/>
          <p:cNvSpPr txBox="1"/>
          <p:nvPr/>
        </p:nvSpPr>
        <p:spPr>
          <a:xfrm>
            <a:off x="9756648" y="2568926"/>
            <a:ext cx="77724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+2.9%</a:t>
            </a:r>
            <a:endParaRPr lang="en-US" sz="1200" dirty="0"/>
          </a:p>
        </p:txBody>
      </p:sp>
      <p:sp>
        <p:nvSpPr>
          <p:cNvPr id="114" name="Text 112"/>
          <p:cNvSpPr txBox="1"/>
          <p:nvPr/>
        </p:nvSpPr>
        <p:spPr>
          <a:xfrm>
            <a:off x="10533888" y="2568926"/>
            <a:ext cx="86868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+$95K</a:t>
            </a:r>
            <a:endParaRPr lang="en-US" sz="1200" dirty="0"/>
          </a:p>
        </p:txBody>
      </p:sp>
      <p:sp>
        <p:nvSpPr>
          <p:cNvPr id="115" name="Text 113"/>
          <p:cNvSpPr txBox="1"/>
          <p:nvPr/>
        </p:nvSpPr>
        <p:spPr>
          <a:xfrm>
            <a:off x="6208776" y="2792685"/>
            <a:ext cx="310896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21</a:t>
            </a:r>
            <a:endParaRPr lang="en-US" sz="1200" dirty="0"/>
          </a:p>
        </p:txBody>
      </p:sp>
      <p:sp>
        <p:nvSpPr>
          <p:cNvPr id="116" name="Text 114"/>
          <p:cNvSpPr txBox="1"/>
          <p:nvPr/>
        </p:nvSpPr>
        <p:spPr>
          <a:xfrm>
            <a:off x="6565392" y="2792685"/>
            <a:ext cx="192024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LR LV</a:t>
            </a:r>
            <a:endParaRPr lang="en-US" sz="1200" dirty="0"/>
          </a:p>
        </p:txBody>
      </p:sp>
      <p:sp>
        <p:nvSpPr>
          <p:cNvPr id="117" name="Shape 115"/>
          <p:cNvSpPr/>
          <p:nvPr/>
        </p:nvSpPr>
        <p:spPr>
          <a:xfrm>
            <a:off x="9130284" y="2853100"/>
            <a:ext cx="33373" cy="102929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118" name="Text 116"/>
          <p:cNvSpPr txBox="1"/>
          <p:nvPr/>
        </p:nvSpPr>
        <p:spPr>
          <a:xfrm>
            <a:off x="9756648" y="2792685"/>
            <a:ext cx="77724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+2.1%</a:t>
            </a:r>
            <a:endParaRPr lang="en-US" sz="1200" dirty="0"/>
          </a:p>
        </p:txBody>
      </p:sp>
      <p:sp>
        <p:nvSpPr>
          <p:cNvPr id="119" name="Text 117"/>
          <p:cNvSpPr txBox="1"/>
          <p:nvPr/>
        </p:nvSpPr>
        <p:spPr>
          <a:xfrm>
            <a:off x="10533888" y="2792685"/>
            <a:ext cx="86868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+$135K</a:t>
            </a:r>
            <a:endParaRPr lang="en-US" sz="1200" dirty="0"/>
          </a:p>
        </p:txBody>
      </p:sp>
      <p:sp>
        <p:nvSpPr>
          <p:cNvPr id="120" name="Text 118"/>
          <p:cNvSpPr txBox="1"/>
          <p:nvPr/>
        </p:nvSpPr>
        <p:spPr>
          <a:xfrm>
            <a:off x="6208776" y="3016444"/>
            <a:ext cx="310896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22</a:t>
            </a:r>
            <a:endParaRPr lang="en-US" sz="1200" dirty="0"/>
          </a:p>
        </p:txBody>
      </p:sp>
      <p:sp>
        <p:nvSpPr>
          <p:cNvPr id="121" name="Text 119"/>
          <p:cNvSpPr txBox="1"/>
          <p:nvPr/>
        </p:nvSpPr>
        <p:spPr>
          <a:xfrm>
            <a:off x="6565392" y="3016444"/>
            <a:ext cx="192024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KIA LV</a:t>
            </a:r>
            <a:endParaRPr lang="en-US" sz="1200" dirty="0"/>
          </a:p>
        </p:txBody>
      </p:sp>
      <p:sp>
        <p:nvSpPr>
          <p:cNvPr id="122" name="Shape 120"/>
          <p:cNvSpPr/>
          <p:nvPr/>
        </p:nvSpPr>
        <p:spPr>
          <a:xfrm>
            <a:off x="9130284" y="3076859"/>
            <a:ext cx="33130" cy="102929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123" name="Text 121"/>
          <p:cNvSpPr txBox="1"/>
          <p:nvPr/>
        </p:nvSpPr>
        <p:spPr>
          <a:xfrm>
            <a:off x="9756648" y="3016444"/>
            <a:ext cx="77724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+2.1%</a:t>
            </a:r>
            <a:endParaRPr lang="en-US" sz="1200" dirty="0"/>
          </a:p>
        </p:txBody>
      </p:sp>
      <p:sp>
        <p:nvSpPr>
          <p:cNvPr id="124" name="Text 122"/>
          <p:cNvSpPr txBox="1"/>
          <p:nvPr/>
        </p:nvSpPr>
        <p:spPr>
          <a:xfrm>
            <a:off x="10533888" y="3016444"/>
            <a:ext cx="86868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+$125K</a:t>
            </a:r>
            <a:endParaRPr lang="en-US" sz="1200" dirty="0"/>
          </a:p>
        </p:txBody>
      </p:sp>
      <p:sp>
        <p:nvSpPr>
          <p:cNvPr id="125" name="Text 123"/>
          <p:cNvSpPr txBox="1"/>
          <p:nvPr/>
        </p:nvSpPr>
        <p:spPr>
          <a:xfrm>
            <a:off x="6208776" y="3240203"/>
            <a:ext cx="310896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23</a:t>
            </a:r>
            <a:endParaRPr lang="en-US" sz="1200" dirty="0"/>
          </a:p>
        </p:txBody>
      </p:sp>
      <p:sp>
        <p:nvSpPr>
          <p:cNvPr id="126" name="Text 124"/>
          <p:cNvSpPr txBox="1"/>
          <p:nvPr/>
        </p:nvSpPr>
        <p:spPr>
          <a:xfrm>
            <a:off x="6565392" y="3240203"/>
            <a:ext cx="192024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VOLVO</a:t>
            </a:r>
            <a:endParaRPr lang="en-US" sz="1200" dirty="0"/>
          </a:p>
        </p:txBody>
      </p:sp>
      <p:sp>
        <p:nvSpPr>
          <p:cNvPr id="127" name="Shape 125"/>
          <p:cNvSpPr/>
          <p:nvPr/>
        </p:nvSpPr>
        <p:spPr>
          <a:xfrm>
            <a:off x="9130284" y="3300618"/>
            <a:ext cx="26052" cy="102929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128" name="Text 126"/>
          <p:cNvSpPr txBox="1"/>
          <p:nvPr/>
        </p:nvSpPr>
        <p:spPr>
          <a:xfrm>
            <a:off x="9756648" y="3240203"/>
            <a:ext cx="77724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+1.6%</a:t>
            </a:r>
            <a:endParaRPr lang="en-US" sz="1200" dirty="0"/>
          </a:p>
        </p:txBody>
      </p:sp>
      <p:sp>
        <p:nvSpPr>
          <p:cNvPr id="129" name="Text 127"/>
          <p:cNvSpPr txBox="1"/>
          <p:nvPr/>
        </p:nvSpPr>
        <p:spPr>
          <a:xfrm>
            <a:off x="10533888" y="3240203"/>
            <a:ext cx="86868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+$63K</a:t>
            </a:r>
            <a:endParaRPr lang="en-US" sz="1200" dirty="0"/>
          </a:p>
        </p:txBody>
      </p:sp>
      <p:sp>
        <p:nvSpPr>
          <p:cNvPr id="130" name="Text 128"/>
          <p:cNvSpPr txBox="1"/>
          <p:nvPr/>
        </p:nvSpPr>
        <p:spPr>
          <a:xfrm>
            <a:off x="6208776" y="3463962"/>
            <a:ext cx="310896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24</a:t>
            </a:r>
            <a:endParaRPr lang="en-US" sz="1200" dirty="0"/>
          </a:p>
        </p:txBody>
      </p:sp>
      <p:sp>
        <p:nvSpPr>
          <p:cNvPr id="131" name="Text 129"/>
          <p:cNvSpPr txBox="1"/>
          <p:nvPr/>
        </p:nvSpPr>
        <p:spPr>
          <a:xfrm>
            <a:off x="6565392" y="3463962"/>
            <a:ext cx="192024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HONDA FLAGSTAFF</a:t>
            </a:r>
            <a:endParaRPr lang="en-US" sz="1200" dirty="0"/>
          </a:p>
        </p:txBody>
      </p:sp>
      <p:sp>
        <p:nvSpPr>
          <p:cNvPr id="132" name="Shape 130"/>
          <p:cNvSpPr/>
          <p:nvPr/>
        </p:nvSpPr>
        <p:spPr>
          <a:xfrm>
            <a:off x="9130284" y="3524377"/>
            <a:ext cx="23062" cy="102929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133" name="Text 131"/>
          <p:cNvSpPr txBox="1"/>
          <p:nvPr/>
        </p:nvSpPr>
        <p:spPr>
          <a:xfrm>
            <a:off x="9756648" y="3463962"/>
            <a:ext cx="77724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+1.4%</a:t>
            </a:r>
            <a:endParaRPr lang="en-US" sz="1200" dirty="0"/>
          </a:p>
        </p:txBody>
      </p:sp>
      <p:sp>
        <p:nvSpPr>
          <p:cNvPr id="134" name="Text 132"/>
          <p:cNvSpPr txBox="1"/>
          <p:nvPr/>
        </p:nvSpPr>
        <p:spPr>
          <a:xfrm>
            <a:off x="10533888" y="3463962"/>
            <a:ext cx="86868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+$23K</a:t>
            </a:r>
            <a:endParaRPr lang="en-US" sz="1200" dirty="0"/>
          </a:p>
        </p:txBody>
      </p:sp>
      <p:sp>
        <p:nvSpPr>
          <p:cNvPr id="135" name="Text 133"/>
          <p:cNvSpPr txBox="1"/>
          <p:nvPr/>
        </p:nvSpPr>
        <p:spPr>
          <a:xfrm>
            <a:off x="6208776" y="3687721"/>
            <a:ext cx="310896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25</a:t>
            </a:r>
            <a:endParaRPr lang="en-US" sz="1200" dirty="0"/>
          </a:p>
        </p:txBody>
      </p:sp>
      <p:sp>
        <p:nvSpPr>
          <p:cNvPr id="136" name="Text 134"/>
          <p:cNvSpPr txBox="1"/>
          <p:nvPr/>
        </p:nvSpPr>
        <p:spPr>
          <a:xfrm>
            <a:off x="6565392" y="3687721"/>
            <a:ext cx="192024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CHEVY GMC BULLHEAD</a:t>
            </a:r>
            <a:endParaRPr lang="en-US" sz="1200" dirty="0"/>
          </a:p>
        </p:txBody>
      </p:sp>
      <p:sp>
        <p:nvSpPr>
          <p:cNvPr id="137" name="Shape 135"/>
          <p:cNvSpPr/>
          <p:nvPr/>
        </p:nvSpPr>
        <p:spPr>
          <a:xfrm>
            <a:off x="9130284" y="3748136"/>
            <a:ext cx="13857" cy="102929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138" name="Text 136"/>
          <p:cNvSpPr txBox="1"/>
          <p:nvPr/>
        </p:nvSpPr>
        <p:spPr>
          <a:xfrm>
            <a:off x="9756648" y="3687721"/>
            <a:ext cx="77724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+0.9%</a:t>
            </a:r>
            <a:endParaRPr lang="en-US" sz="1200" dirty="0"/>
          </a:p>
        </p:txBody>
      </p:sp>
      <p:sp>
        <p:nvSpPr>
          <p:cNvPr id="139" name="Text 137"/>
          <p:cNvSpPr txBox="1"/>
          <p:nvPr/>
        </p:nvSpPr>
        <p:spPr>
          <a:xfrm>
            <a:off x="10533888" y="3687721"/>
            <a:ext cx="86868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+$39K</a:t>
            </a:r>
            <a:endParaRPr lang="en-US" sz="1200" dirty="0"/>
          </a:p>
        </p:txBody>
      </p:sp>
      <p:sp>
        <p:nvSpPr>
          <p:cNvPr id="140" name="Text 138"/>
          <p:cNvSpPr txBox="1"/>
          <p:nvPr/>
        </p:nvSpPr>
        <p:spPr>
          <a:xfrm>
            <a:off x="6208776" y="3911480"/>
            <a:ext cx="310896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26</a:t>
            </a:r>
            <a:endParaRPr lang="en-US" sz="1200" dirty="0"/>
          </a:p>
        </p:txBody>
      </p:sp>
      <p:sp>
        <p:nvSpPr>
          <p:cNvPr id="141" name="Text 139"/>
          <p:cNvSpPr txBox="1"/>
          <p:nvPr/>
        </p:nvSpPr>
        <p:spPr>
          <a:xfrm>
            <a:off x="6565392" y="3911480"/>
            <a:ext cx="192024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CHEVY LV</a:t>
            </a:r>
            <a:endParaRPr lang="en-US" sz="1200" dirty="0"/>
          </a:p>
        </p:txBody>
      </p:sp>
      <p:sp>
        <p:nvSpPr>
          <p:cNvPr id="142" name="Shape 140"/>
          <p:cNvSpPr/>
          <p:nvPr/>
        </p:nvSpPr>
        <p:spPr>
          <a:xfrm>
            <a:off x="9089172" y="3971895"/>
            <a:ext cx="41112" cy="102929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43" name="Text 141"/>
          <p:cNvSpPr txBox="1"/>
          <p:nvPr/>
        </p:nvSpPr>
        <p:spPr>
          <a:xfrm>
            <a:off x="9756648" y="3911480"/>
            <a:ext cx="77724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−2.6%</a:t>
            </a:r>
            <a:endParaRPr lang="en-US" sz="1200" dirty="0"/>
          </a:p>
        </p:txBody>
      </p:sp>
      <p:sp>
        <p:nvSpPr>
          <p:cNvPr id="144" name="Text 142"/>
          <p:cNvSpPr txBox="1"/>
          <p:nvPr/>
        </p:nvSpPr>
        <p:spPr>
          <a:xfrm>
            <a:off x="10533888" y="3911480"/>
            <a:ext cx="86868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−$437K</a:t>
            </a:r>
            <a:endParaRPr lang="en-US" sz="1200" dirty="0"/>
          </a:p>
        </p:txBody>
      </p:sp>
      <p:sp>
        <p:nvSpPr>
          <p:cNvPr id="145" name="Text 143"/>
          <p:cNvSpPr txBox="1"/>
          <p:nvPr/>
        </p:nvSpPr>
        <p:spPr>
          <a:xfrm>
            <a:off x="6208776" y="4135240"/>
            <a:ext cx="310896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27</a:t>
            </a:r>
            <a:endParaRPr lang="en-US" sz="1200" dirty="0"/>
          </a:p>
        </p:txBody>
      </p:sp>
      <p:sp>
        <p:nvSpPr>
          <p:cNvPr id="146" name="Text 144"/>
          <p:cNvSpPr txBox="1"/>
          <p:nvPr/>
        </p:nvSpPr>
        <p:spPr>
          <a:xfrm>
            <a:off x="6565392" y="4135240"/>
            <a:ext cx="192024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SUBARU LV</a:t>
            </a:r>
            <a:endParaRPr lang="en-US" sz="1200" dirty="0"/>
          </a:p>
        </p:txBody>
      </p:sp>
      <p:sp>
        <p:nvSpPr>
          <p:cNvPr id="147" name="Shape 145"/>
          <p:cNvSpPr/>
          <p:nvPr/>
        </p:nvSpPr>
        <p:spPr>
          <a:xfrm>
            <a:off x="9054987" y="4195654"/>
            <a:ext cx="75297" cy="102929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48" name="Text 146"/>
          <p:cNvSpPr txBox="1"/>
          <p:nvPr/>
        </p:nvSpPr>
        <p:spPr>
          <a:xfrm>
            <a:off x="9756648" y="4135240"/>
            <a:ext cx="77724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−4.7%</a:t>
            </a:r>
            <a:endParaRPr lang="en-US" sz="1200" dirty="0"/>
          </a:p>
        </p:txBody>
      </p:sp>
      <p:sp>
        <p:nvSpPr>
          <p:cNvPr id="149" name="Text 147"/>
          <p:cNvSpPr txBox="1"/>
          <p:nvPr/>
        </p:nvSpPr>
        <p:spPr>
          <a:xfrm>
            <a:off x="10533888" y="4135240"/>
            <a:ext cx="86868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−$499K</a:t>
            </a:r>
            <a:endParaRPr lang="en-US" sz="1200" dirty="0"/>
          </a:p>
        </p:txBody>
      </p:sp>
      <p:sp>
        <p:nvSpPr>
          <p:cNvPr id="150" name="Text 148"/>
          <p:cNvSpPr txBox="1"/>
          <p:nvPr/>
        </p:nvSpPr>
        <p:spPr>
          <a:xfrm>
            <a:off x="6208776" y="4358999"/>
            <a:ext cx="310896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28</a:t>
            </a:r>
            <a:endParaRPr lang="en-US" sz="1200" dirty="0"/>
          </a:p>
        </p:txBody>
      </p:sp>
      <p:sp>
        <p:nvSpPr>
          <p:cNvPr id="151" name="Text 149"/>
          <p:cNvSpPr txBox="1"/>
          <p:nvPr/>
        </p:nvSpPr>
        <p:spPr>
          <a:xfrm>
            <a:off x="6565392" y="4358999"/>
            <a:ext cx="192024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CDJR POST FALLS</a:t>
            </a:r>
            <a:endParaRPr lang="en-US" sz="1200" dirty="0"/>
          </a:p>
        </p:txBody>
      </p:sp>
      <p:sp>
        <p:nvSpPr>
          <p:cNvPr id="152" name="Shape 150"/>
          <p:cNvSpPr/>
          <p:nvPr/>
        </p:nvSpPr>
        <p:spPr>
          <a:xfrm>
            <a:off x="9043679" y="4419414"/>
            <a:ext cx="86605" cy="102929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53" name="Text 151"/>
          <p:cNvSpPr txBox="1"/>
          <p:nvPr/>
        </p:nvSpPr>
        <p:spPr>
          <a:xfrm>
            <a:off x="9756648" y="4358999"/>
            <a:ext cx="77724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−5.4%</a:t>
            </a:r>
            <a:endParaRPr lang="en-US" sz="1200" dirty="0"/>
          </a:p>
        </p:txBody>
      </p:sp>
      <p:sp>
        <p:nvSpPr>
          <p:cNvPr id="154" name="Text 152"/>
          <p:cNvSpPr txBox="1"/>
          <p:nvPr/>
        </p:nvSpPr>
        <p:spPr>
          <a:xfrm>
            <a:off x="10533888" y="4358999"/>
            <a:ext cx="86868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−$204K</a:t>
            </a:r>
            <a:endParaRPr lang="en-US" sz="1200" dirty="0"/>
          </a:p>
        </p:txBody>
      </p:sp>
      <p:sp>
        <p:nvSpPr>
          <p:cNvPr id="155" name="Text 153"/>
          <p:cNvSpPr txBox="1"/>
          <p:nvPr/>
        </p:nvSpPr>
        <p:spPr>
          <a:xfrm>
            <a:off x="6208776" y="4582758"/>
            <a:ext cx="310896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29</a:t>
            </a:r>
            <a:endParaRPr lang="en-US" sz="1200" dirty="0"/>
          </a:p>
        </p:txBody>
      </p:sp>
      <p:sp>
        <p:nvSpPr>
          <p:cNvPr id="156" name="Text 154"/>
          <p:cNvSpPr txBox="1"/>
          <p:nvPr/>
        </p:nvSpPr>
        <p:spPr>
          <a:xfrm>
            <a:off x="6565392" y="4582758"/>
            <a:ext cx="192024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HONDA NORTH</a:t>
            </a:r>
            <a:endParaRPr lang="en-US" sz="1200" dirty="0"/>
          </a:p>
        </p:txBody>
      </p:sp>
      <p:sp>
        <p:nvSpPr>
          <p:cNvPr id="157" name="Shape 155"/>
          <p:cNvSpPr/>
          <p:nvPr/>
        </p:nvSpPr>
        <p:spPr>
          <a:xfrm>
            <a:off x="8988381" y="4643173"/>
            <a:ext cx="141903" cy="102929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58" name="Text 156"/>
          <p:cNvSpPr txBox="1"/>
          <p:nvPr/>
        </p:nvSpPr>
        <p:spPr>
          <a:xfrm>
            <a:off x="9756648" y="4582758"/>
            <a:ext cx="77724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−8.9%</a:t>
            </a:r>
            <a:endParaRPr lang="en-US" sz="1200" dirty="0"/>
          </a:p>
        </p:txBody>
      </p:sp>
      <p:sp>
        <p:nvSpPr>
          <p:cNvPr id="159" name="Text 157"/>
          <p:cNvSpPr txBox="1"/>
          <p:nvPr/>
        </p:nvSpPr>
        <p:spPr>
          <a:xfrm>
            <a:off x="10533888" y="4582758"/>
            <a:ext cx="86868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−$840K</a:t>
            </a:r>
            <a:endParaRPr lang="en-US" sz="1200" dirty="0"/>
          </a:p>
        </p:txBody>
      </p:sp>
      <p:sp>
        <p:nvSpPr>
          <p:cNvPr id="160" name="Text 158"/>
          <p:cNvSpPr txBox="1"/>
          <p:nvPr/>
        </p:nvSpPr>
        <p:spPr>
          <a:xfrm>
            <a:off x="6208776" y="4806517"/>
            <a:ext cx="310896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30</a:t>
            </a:r>
            <a:endParaRPr lang="en-US" sz="1200" dirty="0"/>
          </a:p>
        </p:txBody>
      </p:sp>
      <p:sp>
        <p:nvSpPr>
          <p:cNvPr id="161" name="Text 159"/>
          <p:cNvSpPr txBox="1"/>
          <p:nvPr/>
        </p:nvSpPr>
        <p:spPr>
          <a:xfrm>
            <a:off x="6565392" y="4806517"/>
            <a:ext cx="192024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AUDI RENO</a:t>
            </a:r>
            <a:endParaRPr lang="en-US" sz="1200" dirty="0"/>
          </a:p>
        </p:txBody>
      </p:sp>
      <p:sp>
        <p:nvSpPr>
          <p:cNvPr id="162" name="Shape 160"/>
          <p:cNvSpPr/>
          <p:nvPr/>
        </p:nvSpPr>
        <p:spPr>
          <a:xfrm>
            <a:off x="8963498" y="4866932"/>
            <a:ext cx="166786" cy="102929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63" name="Text 161"/>
          <p:cNvSpPr txBox="1"/>
          <p:nvPr/>
        </p:nvSpPr>
        <p:spPr>
          <a:xfrm>
            <a:off x="9756648" y="4806517"/>
            <a:ext cx="77724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−10.4%</a:t>
            </a:r>
            <a:endParaRPr lang="en-US" sz="1200" dirty="0"/>
          </a:p>
        </p:txBody>
      </p:sp>
      <p:sp>
        <p:nvSpPr>
          <p:cNvPr id="164" name="Text 162"/>
          <p:cNvSpPr txBox="1"/>
          <p:nvPr/>
        </p:nvSpPr>
        <p:spPr>
          <a:xfrm>
            <a:off x="10533888" y="4806517"/>
            <a:ext cx="86868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−$520K</a:t>
            </a:r>
            <a:endParaRPr lang="en-US" sz="1200" dirty="0"/>
          </a:p>
        </p:txBody>
      </p:sp>
      <p:sp>
        <p:nvSpPr>
          <p:cNvPr id="165" name="Text 163"/>
          <p:cNvSpPr txBox="1"/>
          <p:nvPr/>
        </p:nvSpPr>
        <p:spPr>
          <a:xfrm>
            <a:off x="6208776" y="5030276"/>
            <a:ext cx="310896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31</a:t>
            </a:r>
            <a:endParaRPr lang="en-US" sz="1200" dirty="0"/>
          </a:p>
        </p:txBody>
      </p:sp>
      <p:sp>
        <p:nvSpPr>
          <p:cNvPr id="166" name="Text 164"/>
          <p:cNvSpPr txBox="1"/>
          <p:nvPr/>
        </p:nvSpPr>
        <p:spPr>
          <a:xfrm>
            <a:off x="6565392" y="5030276"/>
            <a:ext cx="192024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VW HENDERSON</a:t>
            </a:r>
            <a:endParaRPr lang="en-US" sz="1200" dirty="0"/>
          </a:p>
        </p:txBody>
      </p:sp>
      <p:sp>
        <p:nvSpPr>
          <p:cNvPr id="167" name="Shape 165"/>
          <p:cNvSpPr/>
          <p:nvPr/>
        </p:nvSpPr>
        <p:spPr>
          <a:xfrm>
            <a:off x="8911219" y="5090691"/>
            <a:ext cx="219065" cy="102929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68" name="Text 166"/>
          <p:cNvSpPr txBox="1"/>
          <p:nvPr/>
        </p:nvSpPr>
        <p:spPr>
          <a:xfrm>
            <a:off x="9756648" y="5030276"/>
            <a:ext cx="77724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−13.7%</a:t>
            </a:r>
            <a:endParaRPr lang="en-US" sz="1200" dirty="0"/>
          </a:p>
        </p:txBody>
      </p:sp>
      <p:sp>
        <p:nvSpPr>
          <p:cNvPr id="169" name="Text 167"/>
          <p:cNvSpPr txBox="1"/>
          <p:nvPr/>
        </p:nvSpPr>
        <p:spPr>
          <a:xfrm>
            <a:off x="10533888" y="5030276"/>
            <a:ext cx="86868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−$761K</a:t>
            </a:r>
            <a:endParaRPr lang="en-US" sz="1200" dirty="0"/>
          </a:p>
        </p:txBody>
      </p:sp>
      <p:sp>
        <p:nvSpPr>
          <p:cNvPr id="170" name="Text 168"/>
          <p:cNvSpPr txBox="1"/>
          <p:nvPr/>
        </p:nvSpPr>
        <p:spPr>
          <a:xfrm>
            <a:off x="6208776" y="5254035"/>
            <a:ext cx="310896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32</a:t>
            </a:r>
            <a:endParaRPr lang="en-US" sz="1200" dirty="0"/>
          </a:p>
        </p:txBody>
      </p:sp>
      <p:sp>
        <p:nvSpPr>
          <p:cNvPr id="171" name="Text 169"/>
          <p:cNvSpPr txBox="1"/>
          <p:nvPr/>
        </p:nvSpPr>
        <p:spPr>
          <a:xfrm>
            <a:off x="6565392" y="5254035"/>
            <a:ext cx="192024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VW ST GEORGE</a:t>
            </a:r>
            <a:endParaRPr lang="en-US" sz="1200" dirty="0"/>
          </a:p>
        </p:txBody>
      </p:sp>
      <p:sp>
        <p:nvSpPr>
          <p:cNvPr id="172" name="Shape 170"/>
          <p:cNvSpPr/>
          <p:nvPr/>
        </p:nvSpPr>
        <p:spPr>
          <a:xfrm>
            <a:off x="8900217" y="5314450"/>
            <a:ext cx="230067" cy="102929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73" name="Text 171"/>
          <p:cNvSpPr txBox="1"/>
          <p:nvPr/>
        </p:nvSpPr>
        <p:spPr>
          <a:xfrm>
            <a:off x="9756648" y="5254035"/>
            <a:ext cx="77724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−14.4%</a:t>
            </a:r>
            <a:endParaRPr lang="en-US" sz="1200" dirty="0"/>
          </a:p>
        </p:txBody>
      </p:sp>
      <p:sp>
        <p:nvSpPr>
          <p:cNvPr id="174" name="Text 172"/>
          <p:cNvSpPr txBox="1"/>
          <p:nvPr/>
        </p:nvSpPr>
        <p:spPr>
          <a:xfrm>
            <a:off x="10533888" y="5254035"/>
            <a:ext cx="86868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−$163K</a:t>
            </a:r>
            <a:endParaRPr lang="en-US" sz="1200" dirty="0"/>
          </a:p>
        </p:txBody>
      </p:sp>
      <p:sp>
        <p:nvSpPr>
          <p:cNvPr id="175" name="Text 173"/>
          <p:cNvSpPr txBox="1"/>
          <p:nvPr/>
        </p:nvSpPr>
        <p:spPr>
          <a:xfrm>
            <a:off x="6208776" y="5477794"/>
            <a:ext cx="310896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33</a:t>
            </a:r>
            <a:endParaRPr lang="en-US" sz="1200" dirty="0"/>
          </a:p>
        </p:txBody>
      </p:sp>
      <p:sp>
        <p:nvSpPr>
          <p:cNvPr id="176" name="Text 174"/>
          <p:cNvSpPr txBox="1"/>
          <p:nvPr/>
        </p:nvSpPr>
        <p:spPr>
          <a:xfrm>
            <a:off x="6565392" y="5477794"/>
            <a:ext cx="192024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ACURA</a:t>
            </a:r>
            <a:endParaRPr lang="en-US" sz="1200" dirty="0"/>
          </a:p>
        </p:txBody>
      </p:sp>
      <p:sp>
        <p:nvSpPr>
          <p:cNvPr id="177" name="Shape 175"/>
          <p:cNvSpPr/>
          <p:nvPr/>
        </p:nvSpPr>
        <p:spPr>
          <a:xfrm>
            <a:off x="8888151" y="5538209"/>
            <a:ext cx="242133" cy="102929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78" name="Text 176"/>
          <p:cNvSpPr txBox="1"/>
          <p:nvPr/>
        </p:nvSpPr>
        <p:spPr>
          <a:xfrm>
            <a:off x="9756648" y="5477794"/>
            <a:ext cx="77724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−15.2%</a:t>
            </a:r>
            <a:endParaRPr lang="en-US" sz="1200" dirty="0"/>
          </a:p>
        </p:txBody>
      </p:sp>
      <p:sp>
        <p:nvSpPr>
          <p:cNvPr id="179" name="Text 177"/>
          <p:cNvSpPr txBox="1"/>
          <p:nvPr/>
        </p:nvSpPr>
        <p:spPr>
          <a:xfrm>
            <a:off x="10533888" y="5477794"/>
            <a:ext cx="86868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−$517K</a:t>
            </a:r>
            <a:endParaRPr lang="en-US" sz="1200" dirty="0"/>
          </a:p>
        </p:txBody>
      </p:sp>
      <p:sp>
        <p:nvSpPr>
          <p:cNvPr id="180" name="Shape 178"/>
          <p:cNvSpPr/>
          <p:nvPr/>
        </p:nvSpPr>
        <p:spPr>
          <a:xfrm>
            <a:off x="3574390" y="2121408"/>
            <a:ext cx="10973" cy="3803904"/>
          </a:xfrm>
          <a:prstGeom prst="rect">
            <a:avLst/>
          </a:prstGeom>
          <a:solidFill>
            <a:srgbClr val="9AA3AD"/>
          </a:solidFill>
          <a:ln/>
        </p:spPr>
      </p:sp>
      <p:sp>
        <p:nvSpPr>
          <p:cNvPr id="181" name="Shape 179"/>
          <p:cNvSpPr/>
          <p:nvPr/>
        </p:nvSpPr>
        <p:spPr>
          <a:xfrm>
            <a:off x="9124798" y="2121408"/>
            <a:ext cx="10973" cy="3803904"/>
          </a:xfrm>
          <a:prstGeom prst="rect">
            <a:avLst/>
          </a:prstGeom>
          <a:solidFill>
            <a:srgbClr val="9AA3AD"/>
          </a:solidFill>
          <a:ln/>
        </p:spPr>
      </p:sp>
      <p:sp>
        <p:nvSpPr>
          <p:cNvPr id="182" name="Shape 180"/>
          <p:cNvSpPr/>
          <p:nvPr/>
        </p:nvSpPr>
        <p:spPr>
          <a:xfrm>
            <a:off x="6085332" y="2121408"/>
            <a:ext cx="10973" cy="3803904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183" name="Shape 181"/>
          <p:cNvSpPr/>
          <p:nvPr/>
        </p:nvSpPr>
        <p:spPr>
          <a:xfrm>
            <a:off x="457200" y="6126480"/>
            <a:ext cx="11274552" cy="356616"/>
          </a:xfrm>
          <a:prstGeom prst="rect">
            <a:avLst/>
          </a:prstGeom>
          <a:solidFill>
            <a:srgbClr val="E6F6EE"/>
          </a:solidFill>
          <a:ln/>
        </p:spPr>
      </p:sp>
      <p:sp>
        <p:nvSpPr>
          <p:cNvPr id="184" name="Text 182"/>
          <p:cNvSpPr txBox="1"/>
          <p:nvPr/>
        </p:nvSpPr>
        <p:spPr>
          <a:xfrm>
            <a:off x="658368" y="6144768"/>
            <a:ext cx="10927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25 of 33 stores grew. Hyundai Prescott grew most at +35.8% (+$404K); Acura fell most at −15.2% (−$517K).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DED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02336"/>
            <a:ext cx="50292" cy="192024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21792" y="3383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1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FIXED OPS GROSS · OPTION A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0080"/>
            <a:ext cx="11338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Total Gross Profit - Service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07008"/>
            <a:ext cx="11274552" cy="47823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658368" y="1335024"/>
            <a:ext cx="10872216" cy="420624"/>
          </a:xfrm>
          <a:prstGeom prst="rect">
            <a:avLst/>
          </a:prstGeom>
          <a:solidFill>
            <a:srgbClr val="EDF4FA"/>
          </a:solidFill>
          <a:ln/>
        </p:spPr>
      </p:sp>
      <p:sp>
        <p:nvSpPr>
          <p:cNvPr id="7" name="Shape 5"/>
          <p:cNvSpPr/>
          <p:nvPr/>
        </p:nvSpPr>
        <p:spPr>
          <a:xfrm>
            <a:off x="658368" y="1335024"/>
            <a:ext cx="59436" cy="420624"/>
          </a:xfrm>
          <a:prstGeom prst="rect">
            <a:avLst/>
          </a:prstGeom>
          <a:solidFill>
            <a:srgbClr val="0B2C4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59536" y="1335024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SERVICE GROSS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3291840" y="1335024"/>
            <a:ext cx="4754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90" kern="0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YEAR-OVER-YEAR CHANGE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138160" y="1335024"/>
            <a:ext cx="3291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+5.2%  ·  +$6.30M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4206240" y="1828800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Change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4983480" y="1828800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9756648" y="1828800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Change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0533888" y="1828800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658368" y="2121408"/>
            <a:ext cx="310896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1014984" y="2121408"/>
            <a:ext cx="192024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HYUNDAI PRESCOTT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579876" y="2181823"/>
            <a:ext cx="571500" cy="102929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4206240" y="2121408"/>
            <a:ext cx="77724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+53.3%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4983480" y="2121408"/>
            <a:ext cx="86868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+$345K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658368" y="2345167"/>
            <a:ext cx="310896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1014984" y="2345167"/>
            <a:ext cx="192024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LINCOLN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579876" y="2405582"/>
            <a:ext cx="316386" cy="102929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4206240" y="2345167"/>
            <a:ext cx="77724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+29.5%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4983480" y="2345167"/>
            <a:ext cx="86868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+$475K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658368" y="2568926"/>
            <a:ext cx="310896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1014984" y="2568926"/>
            <a:ext cx="192024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LEXUS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579876" y="2629341"/>
            <a:ext cx="296910" cy="102929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4206240" y="2568926"/>
            <a:ext cx="77724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+27.7%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4983480" y="2568926"/>
            <a:ext cx="86868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+$639K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658368" y="2792685"/>
            <a:ext cx="310896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1014984" y="2792685"/>
            <a:ext cx="192024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HYUNDAI ST GEORGE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3579876" y="2853100"/>
            <a:ext cx="295598" cy="102929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4206240" y="2792685"/>
            <a:ext cx="77724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+27.5%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4983480" y="2792685"/>
            <a:ext cx="86868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+$315K</a:t>
            </a:r>
            <a:endParaRPr lang="en-US" sz="1200" dirty="0"/>
          </a:p>
        </p:txBody>
      </p:sp>
      <p:sp>
        <p:nvSpPr>
          <p:cNvPr id="35" name="Text 33"/>
          <p:cNvSpPr txBox="1"/>
          <p:nvPr/>
        </p:nvSpPr>
        <p:spPr>
          <a:xfrm>
            <a:off x="658368" y="3016444"/>
            <a:ext cx="310896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1200" dirty="0"/>
          </a:p>
        </p:txBody>
      </p:sp>
      <p:sp>
        <p:nvSpPr>
          <p:cNvPr id="36" name="Text 34"/>
          <p:cNvSpPr txBox="1"/>
          <p:nvPr/>
        </p:nvSpPr>
        <p:spPr>
          <a:xfrm>
            <a:off x="1014984" y="3016444"/>
            <a:ext cx="192024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TOYOTA PRESCOTT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3579876" y="3076859"/>
            <a:ext cx="220512" cy="102929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4206240" y="3016444"/>
            <a:ext cx="77724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+20.5%</a:t>
            </a:r>
            <a:endParaRPr lang="en-US" sz="1200" dirty="0"/>
          </a:p>
        </p:txBody>
      </p:sp>
      <p:sp>
        <p:nvSpPr>
          <p:cNvPr id="39" name="Text 37"/>
          <p:cNvSpPr txBox="1"/>
          <p:nvPr/>
        </p:nvSpPr>
        <p:spPr>
          <a:xfrm>
            <a:off x="4983480" y="3016444"/>
            <a:ext cx="86868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+$619K</a:t>
            </a:r>
            <a:endParaRPr lang="en-US" sz="1200" dirty="0"/>
          </a:p>
        </p:txBody>
      </p:sp>
      <p:sp>
        <p:nvSpPr>
          <p:cNvPr id="40" name="Text 38"/>
          <p:cNvSpPr txBox="1"/>
          <p:nvPr/>
        </p:nvSpPr>
        <p:spPr>
          <a:xfrm>
            <a:off x="658368" y="3240203"/>
            <a:ext cx="310896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</a:t>
            </a:r>
            <a:endParaRPr lang="en-US" sz="1200" dirty="0"/>
          </a:p>
        </p:txBody>
      </p:sp>
      <p:sp>
        <p:nvSpPr>
          <p:cNvPr id="41" name="Text 39"/>
          <p:cNvSpPr txBox="1"/>
          <p:nvPr/>
        </p:nvSpPr>
        <p:spPr>
          <a:xfrm>
            <a:off x="1014984" y="3240203"/>
            <a:ext cx="192024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TOYOTA SPOKANE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3579876" y="3300618"/>
            <a:ext cx="209724" cy="102929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43" name="Text 41"/>
          <p:cNvSpPr txBox="1"/>
          <p:nvPr/>
        </p:nvSpPr>
        <p:spPr>
          <a:xfrm>
            <a:off x="4206240" y="3240203"/>
            <a:ext cx="77724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+19.5%</a:t>
            </a:r>
            <a:endParaRPr lang="en-US" sz="1200" dirty="0"/>
          </a:p>
        </p:txBody>
      </p:sp>
      <p:sp>
        <p:nvSpPr>
          <p:cNvPr id="44" name="Text 42"/>
          <p:cNvSpPr txBox="1"/>
          <p:nvPr/>
        </p:nvSpPr>
        <p:spPr>
          <a:xfrm>
            <a:off x="4983480" y="3240203"/>
            <a:ext cx="86868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+$602K</a:t>
            </a:r>
            <a:endParaRPr lang="en-US" sz="1200" dirty="0"/>
          </a:p>
        </p:txBody>
      </p:sp>
      <p:sp>
        <p:nvSpPr>
          <p:cNvPr id="45" name="Text 43"/>
          <p:cNvSpPr txBox="1"/>
          <p:nvPr/>
        </p:nvSpPr>
        <p:spPr>
          <a:xfrm>
            <a:off x="658368" y="3463962"/>
            <a:ext cx="310896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</a:t>
            </a:r>
            <a:endParaRPr lang="en-US" sz="1200" dirty="0"/>
          </a:p>
        </p:txBody>
      </p:sp>
      <p:sp>
        <p:nvSpPr>
          <p:cNvPr id="46" name="Text 44"/>
          <p:cNvSpPr txBox="1"/>
          <p:nvPr/>
        </p:nvSpPr>
        <p:spPr>
          <a:xfrm>
            <a:off x="1014984" y="3463962"/>
            <a:ext cx="192024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AUDI HENDERSON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3579876" y="3524377"/>
            <a:ext cx="205980" cy="102929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48" name="Text 46"/>
          <p:cNvSpPr txBox="1"/>
          <p:nvPr/>
        </p:nvSpPr>
        <p:spPr>
          <a:xfrm>
            <a:off x="4206240" y="3463962"/>
            <a:ext cx="77724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+19.2%</a:t>
            </a:r>
            <a:endParaRPr lang="en-US" sz="1200" dirty="0"/>
          </a:p>
        </p:txBody>
      </p:sp>
      <p:sp>
        <p:nvSpPr>
          <p:cNvPr id="49" name="Text 47"/>
          <p:cNvSpPr txBox="1"/>
          <p:nvPr/>
        </p:nvSpPr>
        <p:spPr>
          <a:xfrm>
            <a:off x="4983480" y="3463962"/>
            <a:ext cx="86868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+$1.42M</a:t>
            </a:r>
            <a:endParaRPr lang="en-US" sz="1200" dirty="0"/>
          </a:p>
        </p:txBody>
      </p:sp>
      <p:sp>
        <p:nvSpPr>
          <p:cNvPr id="50" name="Text 48"/>
          <p:cNvSpPr txBox="1"/>
          <p:nvPr/>
        </p:nvSpPr>
        <p:spPr>
          <a:xfrm>
            <a:off x="658368" y="3687721"/>
            <a:ext cx="310896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</a:t>
            </a:r>
            <a:endParaRPr lang="en-US" sz="1200" dirty="0"/>
          </a:p>
        </p:txBody>
      </p:sp>
      <p:sp>
        <p:nvSpPr>
          <p:cNvPr id="51" name="Text 49"/>
          <p:cNvSpPr txBox="1"/>
          <p:nvPr/>
        </p:nvSpPr>
        <p:spPr>
          <a:xfrm>
            <a:off x="1014984" y="3687721"/>
            <a:ext cx="192024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HONDA SPOKANE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3579876" y="3748136"/>
            <a:ext cx="171603" cy="102929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53" name="Text 51"/>
          <p:cNvSpPr txBox="1"/>
          <p:nvPr/>
        </p:nvSpPr>
        <p:spPr>
          <a:xfrm>
            <a:off x="4206240" y="3687721"/>
            <a:ext cx="77724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+16.0%</a:t>
            </a:r>
            <a:endParaRPr lang="en-US" sz="1200" dirty="0"/>
          </a:p>
        </p:txBody>
      </p:sp>
      <p:sp>
        <p:nvSpPr>
          <p:cNvPr id="54" name="Text 52"/>
          <p:cNvSpPr txBox="1"/>
          <p:nvPr/>
        </p:nvSpPr>
        <p:spPr>
          <a:xfrm>
            <a:off x="4983480" y="3687721"/>
            <a:ext cx="86868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+$384K</a:t>
            </a:r>
            <a:endParaRPr lang="en-US" sz="1200" dirty="0"/>
          </a:p>
        </p:txBody>
      </p:sp>
      <p:sp>
        <p:nvSpPr>
          <p:cNvPr id="55" name="Text 53"/>
          <p:cNvSpPr txBox="1"/>
          <p:nvPr/>
        </p:nvSpPr>
        <p:spPr>
          <a:xfrm>
            <a:off x="658368" y="3911480"/>
            <a:ext cx="310896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</a:t>
            </a:r>
            <a:endParaRPr lang="en-US" sz="1200" dirty="0"/>
          </a:p>
        </p:txBody>
      </p:sp>
      <p:sp>
        <p:nvSpPr>
          <p:cNvPr id="56" name="Text 54"/>
          <p:cNvSpPr txBox="1"/>
          <p:nvPr/>
        </p:nvSpPr>
        <p:spPr>
          <a:xfrm>
            <a:off x="1014984" y="3911480"/>
            <a:ext cx="192024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SUBARU PRESCOTT</a:t>
            </a:r>
            <a:endParaRPr lang="en-US" sz="1200" dirty="0"/>
          </a:p>
        </p:txBody>
      </p:sp>
      <p:sp>
        <p:nvSpPr>
          <p:cNvPr id="57" name="Shape 55"/>
          <p:cNvSpPr/>
          <p:nvPr/>
        </p:nvSpPr>
        <p:spPr>
          <a:xfrm>
            <a:off x="3579876" y="3971895"/>
            <a:ext cx="167960" cy="102929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58" name="Text 56"/>
          <p:cNvSpPr txBox="1"/>
          <p:nvPr/>
        </p:nvSpPr>
        <p:spPr>
          <a:xfrm>
            <a:off x="4206240" y="3911480"/>
            <a:ext cx="77724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+15.7%</a:t>
            </a:r>
            <a:endParaRPr lang="en-US" sz="1200" dirty="0"/>
          </a:p>
        </p:txBody>
      </p:sp>
      <p:sp>
        <p:nvSpPr>
          <p:cNvPr id="59" name="Text 57"/>
          <p:cNvSpPr txBox="1"/>
          <p:nvPr/>
        </p:nvSpPr>
        <p:spPr>
          <a:xfrm>
            <a:off x="4983480" y="3911480"/>
            <a:ext cx="86868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+$217K</a:t>
            </a:r>
            <a:endParaRPr lang="en-US" sz="1200" dirty="0"/>
          </a:p>
        </p:txBody>
      </p:sp>
      <p:sp>
        <p:nvSpPr>
          <p:cNvPr id="60" name="Text 58"/>
          <p:cNvSpPr txBox="1"/>
          <p:nvPr/>
        </p:nvSpPr>
        <p:spPr>
          <a:xfrm>
            <a:off x="658368" y="4135240"/>
            <a:ext cx="310896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</a:t>
            </a:r>
            <a:endParaRPr lang="en-US" sz="1200" dirty="0"/>
          </a:p>
        </p:txBody>
      </p:sp>
      <p:sp>
        <p:nvSpPr>
          <p:cNvPr id="61" name="Text 59"/>
          <p:cNvSpPr txBox="1"/>
          <p:nvPr/>
        </p:nvSpPr>
        <p:spPr>
          <a:xfrm>
            <a:off x="1014984" y="4135240"/>
            <a:ext cx="192024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TOYOTA FLAGSTAFF</a:t>
            </a:r>
            <a:endParaRPr lang="en-US" sz="1200" dirty="0"/>
          </a:p>
        </p:txBody>
      </p:sp>
      <p:sp>
        <p:nvSpPr>
          <p:cNvPr id="62" name="Shape 60"/>
          <p:cNvSpPr/>
          <p:nvPr/>
        </p:nvSpPr>
        <p:spPr>
          <a:xfrm>
            <a:off x="3579876" y="4195654"/>
            <a:ext cx="150975" cy="102929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63" name="Text 61"/>
          <p:cNvSpPr txBox="1"/>
          <p:nvPr/>
        </p:nvSpPr>
        <p:spPr>
          <a:xfrm>
            <a:off x="4206240" y="4135240"/>
            <a:ext cx="77724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+14.1%</a:t>
            </a:r>
            <a:endParaRPr lang="en-US" sz="1200" dirty="0"/>
          </a:p>
        </p:txBody>
      </p:sp>
      <p:sp>
        <p:nvSpPr>
          <p:cNvPr id="64" name="Text 62"/>
          <p:cNvSpPr txBox="1"/>
          <p:nvPr/>
        </p:nvSpPr>
        <p:spPr>
          <a:xfrm>
            <a:off x="4983480" y="4135240"/>
            <a:ext cx="86868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+$390K</a:t>
            </a:r>
            <a:endParaRPr lang="en-US" sz="1200" dirty="0"/>
          </a:p>
        </p:txBody>
      </p:sp>
      <p:sp>
        <p:nvSpPr>
          <p:cNvPr id="65" name="Text 63"/>
          <p:cNvSpPr txBox="1"/>
          <p:nvPr/>
        </p:nvSpPr>
        <p:spPr>
          <a:xfrm>
            <a:off x="658368" y="4358999"/>
            <a:ext cx="310896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</a:t>
            </a:r>
            <a:endParaRPr lang="en-US" sz="1200" dirty="0"/>
          </a:p>
        </p:txBody>
      </p:sp>
      <p:sp>
        <p:nvSpPr>
          <p:cNvPr id="66" name="Text 64"/>
          <p:cNvSpPr txBox="1"/>
          <p:nvPr/>
        </p:nvSpPr>
        <p:spPr>
          <a:xfrm>
            <a:off x="1014984" y="4358999"/>
            <a:ext cx="192024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KIA ST GEORGE</a:t>
            </a:r>
            <a:endParaRPr lang="en-US" sz="1200" dirty="0"/>
          </a:p>
        </p:txBody>
      </p:sp>
      <p:sp>
        <p:nvSpPr>
          <p:cNvPr id="67" name="Shape 65"/>
          <p:cNvSpPr/>
          <p:nvPr/>
        </p:nvSpPr>
        <p:spPr>
          <a:xfrm>
            <a:off x="3579876" y="4419414"/>
            <a:ext cx="148094" cy="102929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68" name="Text 66"/>
          <p:cNvSpPr txBox="1"/>
          <p:nvPr/>
        </p:nvSpPr>
        <p:spPr>
          <a:xfrm>
            <a:off x="4206240" y="4358999"/>
            <a:ext cx="77724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+13.8%</a:t>
            </a:r>
            <a:endParaRPr lang="en-US" sz="1200" dirty="0"/>
          </a:p>
        </p:txBody>
      </p:sp>
      <p:sp>
        <p:nvSpPr>
          <p:cNvPr id="69" name="Text 67"/>
          <p:cNvSpPr txBox="1"/>
          <p:nvPr/>
        </p:nvSpPr>
        <p:spPr>
          <a:xfrm>
            <a:off x="4983480" y="4358999"/>
            <a:ext cx="86868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+$169K</a:t>
            </a:r>
            <a:endParaRPr lang="en-US" sz="1200" dirty="0"/>
          </a:p>
        </p:txBody>
      </p:sp>
      <p:sp>
        <p:nvSpPr>
          <p:cNvPr id="70" name="Text 68"/>
          <p:cNvSpPr txBox="1"/>
          <p:nvPr/>
        </p:nvSpPr>
        <p:spPr>
          <a:xfrm>
            <a:off x="658368" y="4582758"/>
            <a:ext cx="310896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</a:t>
            </a:r>
            <a:endParaRPr lang="en-US" sz="1200" dirty="0"/>
          </a:p>
        </p:txBody>
      </p:sp>
      <p:sp>
        <p:nvSpPr>
          <p:cNvPr id="71" name="Text 69"/>
          <p:cNvSpPr txBox="1"/>
          <p:nvPr/>
        </p:nvSpPr>
        <p:spPr>
          <a:xfrm>
            <a:off x="1014984" y="4582758"/>
            <a:ext cx="192024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LR RENO</a:t>
            </a:r>
            <a:endParaRPr lang="en-US" sz="1200" dirty="0"/>
          </a:p>
        </p:txBody>
      </p:sp>
      <p:sp>
        <p:nvSpPr>
          <p:cNvPr id="72" name="Shape 70"/>
          <p:cNvSpPr/>
          <p:nvPr/>
        </p:nvSpPr>
        <p:spPr>
          <a:xfrm>
            <a:off x="3579876" y="4643173"/>
            <a:ext cx="135843" cy="102929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73" name="Text 71"/>
          <p:cNvSpPr txBox="1"/>
          <p:nvPr/>
        </p:nvSpPr>
        <p:spPr>
          <a:xfrm>
            <a:off x="4206240" y="4582758"/>
            <a:ext cx="77724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+12.7%</a:t>
            </a:r>
            <a:endParaRPr lang="en-US" sz="1200" dirty="0"/>
          </a:p>
        </p:txBody>
      </p:sp>
      <p:sp>
        <p:nvSpPr>
          <p:cNvPr id="74" name="Text 72"/>
          <p:cNvSpPr txBox="1"/>
          <p:nvPr/>
        </p:nvSpPr>
        <p:spPr>
          <a:xfrm>
            <a:off x="4983480" y="4582758"/>
            <a:ext cx="86868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+$162K</a:t>
            </a:r>
            <a:endParaRPr lang="en-US" sz="1200" dirty="0"/>
          </a:p>
        </p:txBody>
      </p:sp>
      <p:sp>
        <p:nvSpPr>
          <p:cNvPr id="75" name="Text 73"/>
          <p:cNvSpPr txBox="1"/>
          <p:nvPr/>
        </p:nvSpPr>
        <p:spPr>
          <a:xfrm>
            <a:off x="658368" y="4806517"/>
            <a:ext cx="310896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13</a:t>
            </a:r>
            <a:endParaRPr lang="en-US" sz="1200" dirty="0"/>
          </a:p>
        </p:txBody>
      </p:sp>
      <p:sp>
        <p:nvSpPr>
          <p:cNvPr id="76" name="Text 74"/>
          <p:cNvSpPr txBox="1"/>
          <p:nvPr/>
        </p:nvSpPr>
        <p:spPr>
          <a:xfrm>
            <a:off x="1014984" y="4806517"/>
            <a:ext cx="192024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SUBARU ST GEORGE</a:t>
            </a:r>
            <a:endParaRPr lang="en-US" sz="1200" dirty="0"/>
          </a:p>
        </p:txBody>
      </p:sp>
      <p:sp>
        <p:nvSpPr>
          <p:cNvPr id="77" name="Shape 75"/>
          <p:cNvSpPr/>
          <p:nvPr/>
        </p:nvSpPr>
        <p:spPr>
          <a:xfrm>
            <a:off x="3579876" y="4866932"/>
            <a:ext cx="108217" cy="102929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78" name="Text 76"/>
          <p:cNvSpPr txBox="1"/>
          <p:nvPr/>
        </p:nvSpPr>
        <p:spPr>
          <a:xfrm>
            <a:off x="4206240" y="4806517"/>
            <a:ext cx="77724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+10.1%</a:t>
            </a:r>
            <a:endParaRPr lang="en-US" sz="1200" dirty="0"/>
          </a:p>
        </p:txBody>
      </p:sp>
      <p:sp>
        <p:nvSpPr>
          <p:cNvPr id="79" name="Text 77"/>
          <p:cNvSpPr txBox="1"/>
          <p:nvPr/>
        </p:nvSpPr>
        <p:spPr>
          <a:xfrm>
            <a:off x="4983480" y="4806517"/>
            <a:ext cx="86868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+$202K</a:t>
            </a:r>
            <a:endParaRPr lang="en-US" sz="1200" dirty="0"/>
          </a:p>
        </p:txBody>
      </p:sp>
      <p:sp>
        <p:nvSpPr>
          <p:cNvPr id="80" name="Text 78"/>
          <p:cNvSpPr txBox="1"/>
          <p:nvPr/>
        </p:nvSpPr>
        <p:spPr>
          <a:xfrm>
            <a:off x="658368" y="5030276"/>
            <a:ext cx="310896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14</a:t>
            </a:r>
            <a:endParaRPr lang="en-US" sz="1200" dirty="0"/>
          </a:p>
        </p:txBody>
      </p:sp>
      <p:sp>
        <p:nvSpPr>
          <p:cNvPr id="81" name="Text 79"/>
          <p:cNvSpPr txBox="1"/>
          <p:nvPr/>
        </p:nvSpPr>
        <p:spPr>
          <a:xfrm>
            <a:off x="1014984" y="5030276"/>
            <a:ext cx="192024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TOYOTA HENDERSON</a:t>
            </a:r>
            <a:endParaRPr lang="en-US" sz="1200" dirty="0"/>
          </a:p>
        </p:txBody>
      </p:sp>
      <p:sp>
        <p:nvSpPr>
          <p:cNvPr id="82" name="Shape 80"/>
          <p:cNvSpPr/>
          <p:nvPr/>
        </p:nvSpPr>
        <p:spPr>
          <a:xfrm>
            <a:off x="3579876" y="5090691"/>
            <a:ext cx="108105" cy="102929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83" name="Text 81"/>
          <p:cNvSpPr txBox="1"/>
          <p:nvPr/>
        </p:nvSpPr>
        <p:spPr>
          <a:xfrm>
            <a:off x="4206240" y="5030276"/>
            <a:ext cx="77724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+10.1%</a:t>
            </a:r>
            <a:endParaRPr lang="en-US" sz="1200" dirty="0"/>
          </a:p>
        </p:txBody>
      </p:sp>
      <p:sp>
        <p:nvSpPr>
          <p:cNvPr id="84" name="Text 82"/>
          <p:cNvSpPr txBox="1"/>
          <p:nvPr/>
        </p:nvSpPr>
        <p:spPr>
          <a:xfrm>
            <a:off x="4983480" y="5030276"/>
            <a:ext cx="86868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+$1.50M</a:t>
            </a:r>
            <a:endParaRPr lang="en-US" sz="1200" dirty="0"/>
          </a:p>
        </p:txBody>
      </p:sp>
      <p:sp>
        <p:nvSpPr>
          <p:cNvPr id="85" name="Text 83"/>
          <p:cNvSpPr txBox="1"/>
          <p:nvPr/>
        </p:nvSpPr>
        <p:spPr>
          <a:xfrm>
            <a:off x="658368" y="5254035"/>
            <a:ext cx="310896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</a:t>
            </a:r>
            <a:endParaRPr lang="en-US" sz="1200" dirty="0"/>
          </a:p>
        </p:txBody>
      </p:sp>
      <p:sp>
        <p:nvSpPr>
          <p:cNvPr id="86" name="Text 84"/>
          <p:cNvSpPr txBox="1"/>
          <p:nvPr/>
        </p:nvSpPr>
        <p:spPr>
          <a:xfrm>
            <a:off x="1014984" y="5254035"/>
            <a:ext cx="192024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NISSAN</a:t>
            </a:r>
            <a:endParaRPr lang="en-US" sz="1200" dirty="0"/>
          </a:p>
        </p:txBody>
      </p:sp>
      <p:sp>
        <p:nvSpPr>
          <p:cNvPr id="87" name="Shape 85"/>
          <p:cNvSpPr/>
          <p:nvPr/>
        </p:nvSpPr>
        <p:spPr>
          <a:xfrm>
            <a:off x="3579876" y="5314450"/>
            <a:ext cx="84908" cy="102929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88" name="Text 86"/>
          <p:cNvSpPr txBox="1"/>
          <p:nvPr/>
        </p:nvSpPr>
        <p:spPr>
          <a:xfrm>
            <a:off x="4206240" y="5254035"/>
            <a:ext cx="77724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+7.9%</a:t>
            </a:r>
            <a:endParaRPr lang="en-US" sz="1200" dirty="0"/>
          </a:p>
        </p:txBody>
      </p:sp>
      <p:sp>
        <p:nvSpPr>
          <p:cNvPr id="89" name="Text 87"/>
          <p:cNvSpPr txBox="1"/>
          <p:nvPr/>
        </p:nvSpPr>
        <p:spPr>
          <a:xfrm>
            <a:off x="4983480" y="5254035"/>
            <a:ext cx="86868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+$234K</a:t>
            </a:r>
            <a:endParaRPr lang="en-US" sz="1200" dirty="0"/>
          </a:p>
        </p:txBody>
      </p:sp>
      <p:sp>
        <p:nvSpPr>
          <p:cNvPr id="90" name="Text 88"/>
          <p:cNvSpPr txBox="1"/>
          <p:nvPr/>
        </p:nvSpPr>
        <p:spPr>
          <a:xfrm>
            <a:off x="658368" y="5477794"/>
            <a:ext cx="310896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16</a:t>
            </a:r>
            <a:endParaRPr lang="en-US" sz="1200" dirty="0"/>
          </a:p>
        </p:txBody>
      </p:sp>
      <p:sp>
        <p:nvSpPr>
          <p:cNvPr id="91" name="Text 89"/>
          <p:cNvSpPr txBox="1"/>
          <p:nvPr/>
        </p:nvSpPr>
        <p:spPr>
          <a:xfrm>
            <a:off x="1014984" y="5477794"/>
            <a:ext cx="192024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KIA LV</a:t>
            </a:r>
            <a:endParaRPr lang="en-US" sz="1200" dirty="0"/>
          </a:p>
        </p:txBody>
      </p:sp>
      <p:sp>
        <p:nvSpPr>
          <p:cNvPr id="92" name="Shape 90"/>
          <p:cNvSpPr/>
          <p:nvPr/>
        </p:nvSpPr>
        <p:spPr>
          <a:xfrm>
            <a:off x="3579876" y="5538209"/>
            <a:ext cx="83407" cy="102929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93" name="Text 91"/>
          <p:cNvSpPr txBox="1"/>
          <p:nvPr/>
        </p:nvSpPr>
        <p:spPr>
          <a:xfrm>
            <a:off x="4206240" y="5477794"/>
            <a:ext cx="77724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+7.8%</a:t>
            </a:r>
            <a:endParaRPr lang="en-US" sz="1200" dirty="0"/>
          </a:p>
        </p:txBody>
      </p:sp>
      <p:sp>
        <p:nvSpPr>
          <p:cNvPr id="94" name="Text 92"/>
          <p:cNvSpPr txBox="1"/>
          <p:nvPr/>
        </p:nvSpPr>
        <p:spPr>
          <a:xfrm>
            <a:off x="4983480" y="5477794"/>
            <a:ext cx="86868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+$292K</a:t>
            </a:r>
            <a:endParaRPr lang="en-US" sz="1200" dirty="0"/>
          </a:p>
        </p:txBody>
      </p:sp>
      <p:sp>
        <p:nvSpPr>
          <p:cNvPr id="95" name="Text 93"/>
          <p:cNvSpPr txBox="1"/>
          <p:nvPr/>
        </p:nvSpPr>
        <p:spPr>
          <a:xfrm>
            <a:off x="658368" y="5701553"/>
            <a:ext cx="310896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17</a:t>
            </a:r>
            <a:endParaRPr lang="en-US" sz="1200" dirty="0"/>
          </a:p>
        </p:txBody>
      </p:sp>
      <p:sp>
        <p:nvSpPr>
          <p:cNvPr id="96" name="Text 94"/>
          <p:cNvSpPr txBox="1"/>
          <p:nvPr/>
        </p:nvSpPr>
        <p:spPr>
          <a:xfrm>
            <a:off x="1014984" y="5701553"/>
            <a:ext cx="192024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HONDA HENDERSON</a:t>
            </a:r>
            <a:endParaRPr lang="en-US" sz="1200" dirty="0"/>
          </a:p>
        </p:txBody>
      </p:sp>
      <p:sp>
        <p:nvSpPr>
          <p:cNvPr id="97" name="Shape 95"/>
          <p:cNvSpPr/>
          <p:nvPr/>
        </p:nvSpPr>
        <p:spPr>
          <a:xfrm>
            <a:off x="3579876" y="5761968"/>
            <a:ext cx="65940" cy="102929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98" name="Text 96"/>
          <p:cNvSpPr txBox="1"/>
          <p:nvPr/>
        </p:nvSpPr>
        <p:spPr>
          <a:xfrm>
            <a:off x="4206240" y="5701553"/>
            <a:ext cx="77724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+6.1%</a:t>
            </a:r>
            <a:endParaRPr lang="en-US" sz="1200" dirty="0"/>
          </a:p>
        </p:txBody>
      </p:sp>
      <p:sp>
        <p:nvSpPr>
          <p:cNvPr id="99" name="Text 97"/>
          <p:cNvSpPr txBox="1"/>
          <p:nvPr/>
        </p:nvSpPr>
        <p:spPr>
          <a:xfrm>
            <a:off x="4983480" y="5701553"/>
            <a:ext cx="86868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+$611K</a:t>
            </a:r>
            <a:endParaRPr lang="en-US" sz="1200" dirty="0"/>
          </a:p>
        </p:txBody>
      </p:sp>
      <p:sp>
        <p:nvSpPr>
          <p:cNvPr id="100" name="Text 98"/>
          <p:cNvSpPr txBox="1"/>
          <p:nvPr/>
        </p:nvSpPr>
        <p:spPr>
          <a:xfrm>
            <a:off x="6208776" y="2121408"/>
            <a:ext cx="310896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18</a:t>
            </a:r>
            <a:endParaRPr lang="en-US" sz="1200" dirty="0"/>
          </a:p>
        </p:txBody>
      </p:sp>
      <p:sp>
        <p:nvSpPr>
          <p:cNvPr id="101" name="Text 99"/>
          <p:cNvSpPr txBox="1"/>
          <p:nvPr/>
        </p:nvSpPr>
        <p:spPr>
          <a:xfrm>
            <a:off x="6565392" y="2121408"/>
            <a:ext cx="192024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LR LV</a:t>
            </a:r>
            <a:endParaRPr lang="en-US" sz="1200" dirty="0"/>
          </a:p>
        </p:txBody>
      </p:sp>
      <p:sp>
        <p:nvSpPr>
          <p:cNvPr id="102" name="Shape 100"/>
          <p:cNvSpPr/>
          <p:nvPr/>
        </p:nvSpPr>
        <p:spPr>
          <a:xfrm>
            <a:off x="9130284" y="2181823"/>
            <a:ext cx="54058" cy="102929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103" name="Text 101"/>
          <p:cNvSpPr txBox="1"/>
          <p:nvPr/>
        </p:nvSpPr>
        <p:spPr>
          <a:xfrm>
            <a:off x="9756648" y="2121408"/>
            <a:ext cx="77724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+5.0%</a:t>
            </a:r>
            <a:endParaRPr lang="en-US" sz="1200" dirty="0"/>
          </a:p>
        </p:txBody>
      </p:sp>
      <p:sp>
        <p:nvSpPr>
          <p:cNvPr id="104" name="Text 102"/>
          <p:cNvSpPr txBox="1"/>
          <p:nvPr/>
        </p:nvSpPr>
        <p:spPr>
          <a:xfrm>
            <a:off x="10533888" y="2121408"/>
            <a:ext cx="86868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+$196K</a:t>
            </a:r>
            <a:endParaRPr lang="en-US" sz="1200" dirty="0"/>
          </a:p>
        </p:txBody>
      </p:sp>
      <p:sp>
        <p:nvSpPr>
          <p:cNvPr id="105" name="Text 103"/>
          <p:cNvSpPr txBox="1"/>
          <p:nvPr/>
        </p:nvSpPr>
        <p:spPr>
          <a:xfrm>
            <a:off x="6208776" y="2345167"/>
            <a:ext cx="310896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19</a:t>
            </a:r>
            <a:endParaRPr lang="en-US" sz="1200" dirty="0"/>
          </a:p>
        </p:txBody>
      </p:sp>
      <p:sp>
        <p:nvSpPr>
          <p:cNvPr id="106" name="Text 104"/>
          <p:cNvSpPr txBox="1"/>
          <p:nvPr/>
        </p:nvSpPr>
        <p:spPr>
          <a:xfrm>
            <a:off x="6565392" y="2345167"/>
            <a:ext cx="192024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VOLVO</a:t>
            </a:r>
            <a:endParaRPr lang="en-US" sz="1200" dirty="0"/>
          </a:p>
        </p:txBody>
      </p:sp>
      <p:sp>
        <p:nvSpPr>
          <p:cNvPr id="107" name="Shape 105"/>
          <p:cNvSpPr/>
          <p:nvPr/>
        </p:nvSpPr>
        <p:spPr>
          <a:xfrm>
            <a:off x="9130284" y="2405582"/>
            <a:ext cx="52461" cy="102929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108" name="Text 106"/>
          <p:cNvSpPr txBox="1"/>
          <p:nvPr/>
        </p:nvSpPr>
        <p:spPr>
          <a:xfrm>
            <a:off x="9756648" y="2345167"/>
            <a:ext cx="77724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+4.9%</a:t>
            </a:r>
            <a:endParaRPr lang="en-US" sz="1200" dirty="0"/>
          </a:p>
        </p:txBody>
      </p:sp>
      <p:sp>
        <p:nvSpPr>
          <p:cNvPr id="109" name="Text 107"/>
          <p:cNvSpPr txBox="1"/>
          <p:nvPr/>
        </p:nvSpPr>
        <p:spPr>
          <a:xfrm>
            <a:off x="10533888" y="2345167"/>
            <a:ext cx="86868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+$113K</a:t>
            </a:r>
            <a:endParaRPr lang="en-US" sz="1200" dirty="0"/>
          </a:p>
        </p:txBody>
      </p:sp>
      <p:sp>
        <p:nvSpPr>
          <p:cNvPr id="110" name="Text 108"/>
          <p:cNvSpPr txBox="1"/>
          <p:nvPr/>
        </p:nvSpPr>
        <p:spPr>
          <a:xfrm>
            <a:off x="6208776" y="2568926"/>
            <a:ext cx="310896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</a:t>
            </a:r>
            <a:endParaRPr lang="en-US" sz="1200" dirty="0"/>
          </a:p>
        </p:txBody>
      </p:sp>
      <p:sp>
        <p:nvSpPr>
          <p:cNvPr id="111" name="Text 109"/>
          <p:cNvSpPr txBox="1"/>
          <p:nvPr/>
        </p:nvSpPr>
        <p:spPr>
          <a:xfrm>
            <a:off x="6565392" y="2568926"/>
            <a:ext cx="192024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LR HENDERSON</a:t>
            </a:r>
            <a:endParaRPr lang="en-US" sz="1200" dirty="0"/>
          </a:p>
        </p:txBody>
      </p:sp>
      <p:sp>
        <p:nvSpPr>
          <p:cNvPr id="112" name="Shape 110"/>
          <p:cNvSpPr/>
          <p:nvPr/>
        </p:nvSpPr>
        <p:spPr>
          <a:xfrm>
            <a:off x="9130284" y="2629341"/>
            <a:ext cx="35288" cy="102929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113" name="Text 111"/>
          <p:cNvSpPr txBox="1"/>
          <p:nvPr/>
        </p:nvSpPr>
        <p:spPr>
          <a:xfrm>
            <a:off x="9756648" y="2568926"/>
            <a:ext cx="77724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+3.3%</a:t>
            </a:r>
            <a:endParaRPr lang="en-US" sz="1200" dirty="0"/>
          </a:p>
        </p:txBody>
      </p:sp>
      <p:sp>
        <p:nvSpPr>
          <p:cNvPr id="114" name="Text 112"/>
          <p:cNvSpPr txBox="1"/>
          <p:nvPr/>
        </p:nvSpPr>
        <p:spPr>
          <a:xfrm>
            <a:off x="10533888" y="2568926"/>
            <a:ext cx="86868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+$68K</a:t>
            </a:r>
            <a:endParaRPr lang="en-US" sz="1200" dirty="0"/>
          </a:p>
        </p:txBody>
      </p:sp>
      <p:sp>
        <p:nvSpPr>
          <p:cNvPr id="115" name="Text 113"/>
          <p:cNvSpPr txBox="1"/>
          <p:nvPr/>
        </p:nvSpPr>
        <p:spPr>
          <a:xfrm>
            <a:off x="6208776" y="2792685"/>
            <a:ext cx="310896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21</a:t>
            </a:r>
            <a:endParaRPr lang="en-US" sz="1200" dirty="0"/>
          </a:p>
        </p:txBody>
      </p:sp>
      <p:sp>
        <p:nvSpPr>
          <p:cNvPr id="116" name="Text 114"/>
          <p:cNvSpPr txBox="1"/>
          <p:nvPr/>
        </p:nvSpPr>
        <p:spPr>
          <a:xfrm>
            <a:off x="6565392" y="2792685"/>
            <a:ext cx="192024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GMC PRESCOTT</a:t>
            </a:r>
            <a:endParaRPr lang="en-US" sz="1200" dirty="0"/>
          </a:p>
        </p:txBody>
      </p:sp>
      <p:sp>
        <p:nvSpPr>
          <p:cNvPr id="117" name="Shape 115"/>
          <p:cNvSpPr/>
          <p:nvPr/>
        </p:nvSpPr>
        <p:spPr>
          <a:xfrm>
            <a:off x="9130284" y="2853100"/>
            <a:ext cx="18626" cy="102929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118" name="Text 116"/>
          <p:cNvSpPr txBox="1"/>
          <p:nvPr/>
        </p:nvSpPr>
        <p:spPr>
          <a:xfrm>
            <a:off x="9756648" y="2792685"/>
            <a:ext cx="77724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+1.7%</a:t>
            </a:r>
            <a:endParaRPr lang="en-US" sz="1200" dirty="0"/>
          </a:p>
        </p:txBody>
      </p:sp>
      <p:sp>
        <p:nvSpPr>
          <p:cNvPr id="119" name="Text 117"/>
          <p:cNvSpPr txBox="1"/>
          <p:nvPr/>
        </p:nvSpPr>
        <p:spPr>
          <a:xfrm>
            <a:off x="10533888" y="2792685"/>
            <a:ext cx="86868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+$20K</a:t>
            </a:r>
            <a:endParaRPr lang="en-US" sz="1200" dirty="0"/>
          </a:p>
        </p:txBody>
      </p:sp>
      <p:sp>
        <p:nvSpPr>
          <p:cNvPr id="120" name="Text 118"/>
          <p:cNvSpPr txBox="1"/>
          <p:nvPr/>
        </p:nvSpPr>
        <p:spPr>
          <a:xfrm>
            <a:off x="6208776" y="3016444"/>
            <a:ext cx="310896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22</a:t>
            </a:r>
            <a:endParaRPr lang="en-US" sz="1200" dirty="0"/>
          </a:p>
        </p:txBody>
      </p:sp>
      <p:sp>
        <p:nvSpPr>
          <p:cNvPr id="121" name="Text 119"/>
          <p:cNvSpPr txBox="1"/>
          <p:nvPr/>
        </p:nvSpPr>
        <p:spPr>
          <a:xfrm>
            <a:off x="6565392" y="3016444"/>
            <a:ext cx="192024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MAZDA</a:t>
            </a:r>
            <a:endParaRPr lang="en-US" sz="1200" dirty="0"/>
          </a:p>
        </p:txBody>
      </p:sp>
      <p:sp>
        <p:nvSpPr>
          <p:cNvPr id="122" name="Shape 120"/>
          <p:cNvSpPr/>
          <p:nvPr/>
        </p:nvSpPr>
        <p:spPr>
          <a:xfrm>
            <a:off x="9130284" y="3076859"/>
            <a:ext cx="16084" cy="102929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123" name="Text 121"/>
          <p:cNvSpPr txBox="1"/>
          <p:nvPr/>
        </p:nvSpPr>
        <p:spPr>
          <a:xfrm>
            <a:off x="9756648" y="3016444"/>
            <a:ext cx="77724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+1.5%</a:t>
            </a:r>
            <a:endParaRPr lang="en-US" sz="1200" dirty="0"/>
          </a:p>
        </p:txBody>
      </p:sp>
      <p:sp>
        <p:nvSpPr>
          <p:cNvPr id="124" name="Text 122"/>
          <p:cNvSpPr txBox="1"/>
          <p:nvPr/>
        </p:nvSpPr>
        <p:spPr>
          <a:xfrm>
            <a:off x="10533888" y="3016444"/>
            <a:ext cx="86868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+$31K</a:t>
            </a:r>
            <a:endParaRPr lang="en-US" sz="1200" dirty="0"/>
          </a:p>
        </p:txBody>
      </p:sp>
      <p:sp>
        <p:nvSpPr>
          <p:cNvPr id="125" name="Text 123"/>
          <p:cNvSpPr txBox="1"/>
          <p:nvPr/>
        </p:nvSpPr>
        <p:spPr>
          <a:xfrm>
            <a:off x="6208776" y="3240203"/>
            <a:ext cx="310896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23</a:t>
            </a:r>
            <a:endParaRPr lang="en-US" sz="1200" dirty="0"/>
          </a:p>
        </p:txBody>
      </p:sp>
      <p:sp>
        <p:nvSpPr>
          <p:cNvPr id="126" name="Text 124"/>
          <p:cNvSpPr txBox="1"/>
          <p:nvPr/>
        </p:nvSpPr>
        <p:spPr>
          <a:xfrm>
            <a:off x="6565392" y="3240203"/>
            <a:ext cx="192024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CHEVY GMC BULLHEAD</a:t>
            </a:r>
            <a:endParaRPr lang="en-US" sz="1200" dirty="0"/>
          </a:p>
        </p:txBody>
      </p:sp>
      <p:sp>
        <p:nvSpPr>
          <p:cNvPr id="127" name="Shape 125"/>
          <p:cNvSpPr/>
          <p:nvPr/>
        </p:nvSpPr>
        <p:spPr>
          <a:xfrm>
            <a:off x="9130284" y="3300618"/>
            <a:ext cx="12802" cy="102929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128" name="Text 126"/>
          <p:cNvSpPr txBox="1"/>
          <p:nvPr/>
        </p:nvSpPr>
        <p:spPr>
          <a:xfrm>
            <a:off x="9756648" y="3240203"/>
            <a:ext cx="77724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+0.7%</a:t>
            </a:r>
            <a:endParaRPr lang="en-US" sz="1200" dirty="0"/>
          </a:p>
        </p:txBody>
      </p:sp>
      <p:sp>
        <p:nvSpPr>
          <p:cNvPr id="129" name="Text 127"/>
          <p:cNvSpPr txBox="1"/>
          <p:nvPr/>
        </p:nvSpPr>
        <p:spPr>
          <a:xfrm>
            <a:off x="10533888" y="3240203"/>
            <a:ext cx="86868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+$20K</a:t>
            </a:r>
            <a:endParaRPr lang="en-US" sz="1200" dirty="0"/>
          </a:p>
        </p:txBody>
      </p:sp>
      <p:sp>
        <p:nvSpPr>
          <p:cNvPr id="130" name="Text 128"/>
          <p:cNvSpPr txBox="1"/>
          <p:nvPr/>
        </p:nvSpPr>
        <p:spPr>
          <a:xfrm>
            <a:off x="6208776" y="3463962"/>
            <a:ext cx="310896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24</a:t>
            </a:r>
            <a:endParaRPr lang="en-US" sz="1200" dirty="0"/>
          </a:p>
        </p:txBody>
      </p:sp>
      <p:sp>
        <p:nvSpPr>
          <p:cNvPr id="131" name="Text 129"/>
          <p:cNvSpPr txBox="1"/>
          <p:nvPr/>
        </p:nvSpPr>
        <p:spPr>
          <a:xfrm>
            <a:off x="6565392" y="3463962"/>
            <a:ext cx="192024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CADILLAC</a:t>
            </a:r>
            <a:endParaRPr lang="en-US" sz="1200" dirty="0"/>
          </a:p>
        </p:txBody>
      </p:sp>
      <p:sp>
        <p:nvSpPr>
          <p:cNvPr id="132" name="Shape 130"/>
          <p:cNvSpPr/>
          <p:nvPr/>
        </p:nvSpPr>
        <p:spPr>
          <a:xfrm>
            <a:off x="9126342" y="3524377"/>
            <a:ext cx="12802" cy="102929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33" name="Text 131"/>
          <p:cNvSpPr txBox="1"/>
          <p:nvPr/>
        </p:nvSpPr>
        <p:spPr>
          <a:xfrm>
            <a:off x="9756648" y="3463962"/>
            <a:ext cx="77724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−0.4%</a:t>
            </a:r>
            <a:endParaRPr lang="en-US" sz="1200" dirty="0"/>
          </a:p>
        </p:txBody>
      </p:sp>
      <p:sp>
        <p:nvSpPr>
          <p:cNvPr id="134" name="Text 132"/>
          <p:cNvSpPr txBox="1"/>
          <p:nvPr/>
        </p:nvSpPr>
        <p:spPr>
          <a:xfrm>
            <a:off x="10533888" y="3463962"/>
            <a:ext cx="86868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−$24K</a:t>
            </a:r>
            <a:endParaRPr lang="en-US" sz="1200" dirty="0"/>
          </a:p>
        </p:txBody>
      </p:sp>
      <p:sp>
        <p:nvSpPr>
          <p:cNvPr id="135" name="Text 133"/>
          <p:cNvSpPr txBox="1"/>
          <p:nvPr/>
        </p:nvSpPr>
        <p:spPr>
          <a:xfrm>
            <a:off x="6208776" y="3687721"/>
            <a:ext cx="310896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25</a:t>
            </a:r>
            <a:endParaRPr lang="en-US" sz="1200" dirty="0"/>
          </a:p>
        </p:txBody>
      </p:sp>
      <p:sp>
        <p:nvSpPr>
          <p:cNvPr id="136" name="Text 134"/>
          <p:cNvSpPr txBox="1"/>
          <p:nvPr/>
        </p:nvSpPr>
        <p:spPr>
          <a:xfrm>
            <a:off x="6565392" y="3687721"/>
            <a:ext cx="192024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CDJR POST FALLS</a:t>
            </a:r>
            <a:endParaRPr lang="en-US" sz="1200" dirty="0"/>
          </a:p>
        </p:txBody>
      </p:sp>
      <p:sp>
        <p:nvSpPr>
          <p:cNvPr id="137" name="Shape 135"/>
          <p:cNvSpPr/>
          <p:nvPr/>
        </p:nvSpPr>
        <p:spPr>
          <a:xfrm>
            <a:off x="9103951" y="3748136"/>
            <a:ext cx="26333" cy="102929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38" name="Text 136"/>
          <p:cNvSpPr txBox="1"/>
          <p:nvPr/>
        </p:nvSpPr>
        <p:spPr>
          <a:xfrm>
            <a:off x="9756648" y="3687721"/>
            <a:ext cx="77724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−2.5%</a:t>
            </a:r>
            <a:endParaRPr lang="en-US" sz="1200" dirty="0"/>
          </a:p>
        </p:txBody>
      </p:sp>
      <p:sp>
        <p:nvSpPr>
          <p:cNvPr id="139" name="Text 137"/>
          <p:cNvSpPr txBox="1"/>
          <p:nvPr/>
        </p:nvSpPr>
        <p:spPr>
          <a:xfrm>
            <a:off x="10533888" y="3687721"/>
            <a:ext cx="86868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−$58K</a:t>
            </a:r>
            <a:endParaRPr lang="en-US" sz="1200" dirty="0"/>
          </a:p>
        </p:txBody>
      </p:sp>
      <p:sp>
        <p:nvSpPr>
          <p:cNvPr id="140" name="Text 138"/>
          <p:cNvSpPr txBox="1"/>
          <p:nvPr/>
        </p:nvSpPr>
        <p:spPr>
          <a:xfrm>
            <a:off x="6208776" y="3911480"/>
            <a:ext cx="310896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26</a:t>
            </a:r>
            <a:endParaRPr lang="en-US" sz="1200" dirty="0"/>
          </a:p>
        </p:txBody>
      </p:sp>
      <p:sp>
        <p:nvSpPr>
          <p:cNvPr id="141" name="Text 139"/>
          <p:cNvSpPr txBox="1"/>
          <p:nvPr/>
        </p:nvSpPr>
        <p:spPr>
          <a:xfrm>
            <a:off x="6565392" y="3911480"/>
            <a:ext cx="192024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HONDA FLAGSTAFF</a:t>
            </a:r>
            <a:endParaRPr lang="en-US" sz="1200" dirty="0"/>
          </a:p>
        </p:txBody>
      </p:sp>
      <p:sp>
        <p:nvSpPr>
          <p:cNvPr id="142" name="Shape 140"/>
          <p:cNvSpPr/>
          <p:nvPr/>
        </p:nvSpPr>
        <p:spPr>
          <a:xfrm>
            <a:off x="9102538" y="3971895"/>
            <a:ext cx="27746" cy="102929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43" name="Text 141"/>
          <p:cNvSpPr txBox="1"/>
          <p:nvPr/>
        </p:nvSpPr>
        <p:spPr>
          <a:xfrm>
            <a:off x="9756648" y="3911480"/>
            <a:ext cx="77724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−2.6%</a:t>
            </a:r>
            <a:endParaRPr lang="en-US" sz="1200" dirty="0"/>
          </a:p>
        </p:txBody>
      </p:sp>
      <p:sp>
        <p:nvSpPr>
          <p:cNvPr id="144" name="Text 142"/>
          <p:cNvSpPr txBox="1"/>
          <p:nvPr/>
        </p:nvSpPr>
        <p:spPr>
          <a:xfrm>
            <a:off x="10533888" y="3911480"/>
            <a:ext cx="86868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−$28K</a:t>
            </a:r>
            <a:endParaRPr lang="en-US" sz="1200" dirty="0"/>
          </a:p>
        </p:txBody>
      </p:sp>
      <p:sp>
        <p:nvSpPr>
          <p:cNvPr id="145" name="Text 143"/>
          <p:cNvSpPr txBox="1"/>
          <p:nvPr/>
        </p:nvSpPr>
        <p:spPr>
          <a:xfrm>
            <a:off x="6208776" y="4135240"/>
            <a:ext cx="310896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27</a:t>
            </a:r>
            <a:endParaRPr lang="en-US" sz="1200" dirty="0"/>
          </a:p>
        </p:txBody>
      </p:sp>
      <p:sp>
        <p:nvSpPr>
          <p:cNvPr id="146" name="Text 144"/>
          <p:cNvSpPr txBox="1"/>
          <p:nvPr/>
        </p:nvSpPr>
        <p:spPr>
          <a:xfrm>
            <a:off x="6565392" y="4135240"/>
            <a:ext cx="192024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SUBARU LV</a:t>
            </a:r>
            <a:endParaRPr lang="en-US" sz="1200" dirty="0"/>
          </a:p>
        </p:txBody>
      </p:sp>
      <p:sp>
        <p:nvSpPr>
          <p:cNvPr id="147" name="Shape 145"/>
          <p:cNvSpPr/>
          <p:nvPr/>
        </p:nvSpPr>
        <p:spPr>
          <a:xfrm>
            <a:off x="9095214" y="4195654"/>
            <a:ext cx="35070" cy="102929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48" name="Text 146"/>
          <p:cNvSpPr txBox="1"/>
          <p:nvPr/>
        </p:nvSpPr>
        <p:spPr>
          <a:xfrm>
            <a:off x="9756648" y="4135240"/>
            <a:ext cx="77724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−3.3%</a:t>
            </a:r>
            <a:endParaRPr lang="en-US" sz="1200" dirty="0"/>
          </a:p>
        </p:txBody>
      </p:sp>
      <p:sp>
        <p:nvSpPr>
          <p:cNvPr id="149" name="Text 147"/>
          <p:cNvSpPr txBox="1"/>
          <p:nvPr/>
        </p:nvSpPr>
        <p:spPr>
          <a:xfrm>
            <a:off x="10533888" y="4135240"/>
            <a:ext cx="86868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−$211K</a:t>
            </a:r>
            <a:endParaRPr lang="en-US" sz="1200" dirty="0"/>
          </a:p>
        </p:txBody>
      </p:sp>
      <p:sp>
        <p:nvSpPr>
          <p:cNvPr id="150" name="Text 148"/>
          <p:cNvSpPr txBox="1"/>
          <p:nvPr/>
        </p:nvSpPr>
        <p:spPr>
          <a:xfrm>
            <a:off x="6208776" y="4358999"/>
            <a:ext cx="310896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28</a:t>
            </a:r>
            <a:endParaRPr lang="en-US" sz="1200" dirty="0"/>
          </a:p>
        </p:txBody>
      </p:sp>
      <p:sp>
        <p:nvSpPr>
          <p:cNvPr id="151" name="Text 149"/>
          <p:cNvSpPr txBox="1"/>
          <p:nvPr/>
        </p:nvSpPr>
        <p:spPr>
          <a:xfrm>
            <a:off x="6565392" y="4358999"/>
            <a:ext cx="192024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CHEVY LV</a:t>
            </a:r>
            <a:endParaRPr lang="en-US" sz="1200" dirty="0"/>
          </a:p>
        </p:txBody>
      </p:sp>
      <p:sp>
        <p:nvSpPr>
          <p:cNvPr id="152" name="Shape 150"/>
          <p:cNvSpPr/>
          <p:nvPr/>
        </p:nvSpPr>
        <p:spPr>
          <a:xfrm>
            <a:off x="9091379" y="4419414"/>
            <a:ext cx="38905" cy="102929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53" name="Text 151"/>
          <p:cNvSpPr txBox="1"/>
          <p:nvPr/>
        </p:nvSpPr>
        <p:spPr>
          <a:xfrm>
            <a:off x="9756648" y="4358999"/>
            <a:ext cx="77724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−3.6%</a:t>
            </a:r>
            <a:endParaRPr lang="en-US" sz="1200" dirty="0"/>
          </a:p>
        </p:txBody>
      </p:sp>
      <p:sp>
        <p:nvSpPr>
          <p:cNvPr id="154" name="Text 152"/>
          <p:cNvSpPr txBox="1"/>
          <p:nvPr/>
        </p:nvSpPr>
        <p:spPr>
          <a:xfrm>
            <a:off x="10533888" y="4358999"/>
            <a:ext cx="86868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−$395K</a:t>
            </a:r>
            <a:endParaRPr lang="en-US" sz="1200" dirty="0"/>
          </a:p>
        </p:txBody>
      </p:sp>
      <p:sp>
        <p:nvSpPr>
          <p:cNvPr id="155" name="Text 153"/>
          <p:cNvSpPr txBox="1"/>
          <p:nvPr/>
        </p:nvSpPr>
        <p:spPr>
          <a:xfrm>
            <a:off x="6208776" y="4582758"/>
            <a:ext cx="310896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29</a:t>
            </a:r>
            <a:endParaRPr lang="en-US" sz="1200" dirty="0"/>
          </a:p>
        </p:txBody>
      </p:sp>
      <p:sp>
        <p:nvSpPr>
          <p:cNvPr id="156" name="Text 154"/>
          <p:cNvSpPr txBox="1"/>
          <p:nvPr/>
        </p:nvSpPr>
        <p:spPr>
          <a:xfrm>
            <a:off x="6565392" y="4582758"/>
            <a:ext cx="192024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AUDI RENO</a:t>
            </a:r>
            <a:endParaRPr lang="en-US" sz="1200" dirty="0"/>
          </a:p>
        </p:txBody>
      </p:sp>
      <p:sp>
        <p:nvSpPr>
          <p:cNvPr id="157" name="Shape 155"/>
          <p:cNvSpPr/>
          <p:nvPr/>
        </p:nvSpPr>
        <p:spPr>
          <a:xfrm>
            <a:off x="9066557" y="4643173"/>
            <a:ext cx="63727" cy="102929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58" name="Text 156"/>
          <p:cNvSpPr txBox="1"/>
          <p:nvPr/>
        </p:nvSpPr>
        <p:spPr>
          <a:xfrm>
            <a:off x="9756648" y="4582758"/>
            <a:ext cx="77724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−5.9%</a:t>
            </a:r>
            <a:endParaRPr lang="en-US" sz="1200" dirty="0"/>
          </a:p>
        </p:txBody>
      </p:sp>
      <p:sp>
        <p:nvSpPr>
          <p:cNvPr id="159" name="Text 157"/>
          <p:cNvSpPr txBox="1"/>
          <p:nvPr/>
        </p:nvSpPr>
        <p:spPr>
          <a:xfrm>
            <a:off x="10533888" y="4582758"/>
            <a:ext cx="86868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−$192K</a:t>
            </a:r>
            <a:endParaRPr lang="en-US" sz="1200" dirty="0"/>
          </a:p>
        </p:txBody>
      </p:sp>
      <p:sp>
        <p:nvSpPr>
          <p:cNvPr id="160" name="Text 158"/>
          <p:cNvSpPr txBox="1"/>
          <p:nvPr/>
        </p:nvSpPr>
        <p:spPr>
          <a:xfrm>
            <a:off x="6208776" y="4806517"/>
            <a:ext cx="310896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30</a:t>
            </a:r>
            <a:endParaRPr lang="en-US" sz="1200" dirty="0"/>
          </a:p>
        </p:txBody>
      </p:sp>
      <p:sp>
        <p:nvSpPr>
          <p:cNvPr id="161" name="Text 159"/>
          <p:cNvSpPr txBox="1"/>
          <p:nvPr/>
        </p:nvSpPr>
        <p:spPr>
          <a:xfrm>
            <a:off x="6565392" y="4806517"/>
            <a:ext cx="192024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HONDA NORTH</a:t>
            </a:r>
            <a:endParaRPr lang="en-US" sz="1200" dirty="0"/>
          </a:p>
        </p:txBody>
      </p:sp>
      <p:sp>
        <p:nvSpPr>
          <p:cNvPr id="162" name="Shape 160"/>
          <p:cNvSpPr/>
          <p:nvPr/>
        </p:nvSpPr>
        <p:spPr>
          <a:xfrm>
            <a:off x="9017570" y="4866932"/>
            <a:ext cx="112714" cy="102929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63" name="Text 161"/>
          <p:cNvSpPr txBox="1"/>
          <p:nvPr/>
        </p:nvSpPr>
        <p:spPr>
          <a:xfrm>
            <a:off x="9756648" y="4806517"/>
            <a:ext cx="77724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−10.5%</a:t>
            </a:r>
            <a:endParaRPr lang="en-US" sz="1200" dirty="0"/>
          </a:p>
        </p:txBody>
      </p:sp>
      <p:sp>
        <p:nvSpPr>
          <p:cNvPr id="164" name="Text 162"/>
          <p:cNvSpPr txBox="1"/>
          <p:nvPr/>
        </p:nvSpPr>
        <p:spPr>
          <a:xfrm>
            <a:off x="10533888" y="4806517"/>
            <a:ext cx="86868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−$695K</a:t>
            </a:r>
            <a:endParaRPr lang="en-US" sz="1200" dirty="0"/>
          </a:p>
        </p:txBody>
      </p:sp>
      <p:sp>
        <p:nvSpPr>
          <p:cNvPr id="165" name="Text 163"/>
          <p:cNvSpPr txBox="1"/>
          <p:nvPr/>
        </p:nvSpPr>
        <p:spPr>
          <a:xfrm>
            <a:off x="6208776" y="5030276"/>
            <a:ext cx="310896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31</a:t>
            </a:r>
            <a:endParaRPr lang="en-US" sz="1200" dirty="0"/>
          </a:p>
        </p:txBody>
      </p:sp>
      <p:sp>
        <p:nvSpPr>
          <p:cNvPr id="166" name="Text 164"/>
          <p:cNvSpPr txBox="1"/>
          <p:nvPr/>
        </p:nvSpPr>
        <p:spPr>
          <a:xfrm>
            <a:off x="6565392" y="5030276"/>
            <a:ext cx="192024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VW HENDERSON</a:t>
            </a:r>
            <a:endParaRPr lang="en-US" sz="1200" dirty="0"/>
          </a:p>
        </p:txBody>
      </p:sp>
      <p:sp>
        <p:nvSpPr>
          <p:cNvPr id="167" name="Shape 165"/>
          <p:cNvSpPr/>
          <p:nvPr/>
        </p:nvSpPr>
        <p:spPr>
          <a:xfrm>
            <a:off x="8985267" y="5090691"/>
            <a:ext cx="145017" cy="102929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68" name="Text 166"/>
          <p:cNvSpPr txBox="1"/>
          <p:nvPr/>
        </p:nvSpPr>
        <p:spPr>
          <a:xfrm>
            <a:off x="9756648" y="5030276"/>
            <a:ext cx="77724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−13.5%</a:t>
            </a:r>
            <a:endParaRPr lang="en-US" sz="1200" dirty="0"/>
          </a:p>
        </p:txBody>
      </p:sp>
      <p:sp>
        <p:nvSpPr>
          <p:cNvPr id="169" name="Text 167"/>
          <p:cNvSpPr txBox="1"/>
          <p:nvPr/>
        </p:nvSpPr>
        <p:spPr>
          <a:xfrm>
            <a:off x="10533888" y="5030276"/>
            <a:ext cx="86868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−$547K</a:t>
            </a:r>
            <a:endParaRPr lang="en-US" sz="1200" dirty="0"/>
          </a:p>
        </p:txBody>
      </p:sp>
      <p:sp>
        <p:nvSpPr>
          <p:cNvPr id="170" name="Text 168"/>
          <p:cNvSpPr txBox="1"/>
          <p:nvPr/>
        </p:nvSpPr>
        <p:spPr>
          <a:xfrm>
            <a:off x="6208776" y="5254035"/>
            <a:ext cx="310896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32</a:t>
            </a:r>
            <a:endParaRPr lang="en-US" sz="1200" dirty="0"/>
          </a:p>
        </p:txBody>
      </p:sp>
      <p:sp>
        <p:nvSpPr>
          <p:cNvPr id="171" name="Text 169"/>
          <p:cNvSpPr txBox="1"/>
          <p:nvPr/>
        </p:nvSpPr>
        <p:spPr>
          <a:xfrm>
            <a:off x="6565392" y="5254035"/>
            <a:ext cx="192024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VW ST GEORGE</a:t>
            </a:r>
            <a:endParaRPr lang="en-US" sz="1200" dirty="0"/>
          </a:p>
        </p:txBody>
      </p:sp>
      <p:sp>
        <p:nvSpPr>
          <p:cNvPr id="172" name="Shape 170"/>
          <p:cNvSpPr/>
          <p:nvPr/>
        </p:nvSpPr>
        <p:spPr>
          <a:xfrm>
            <a:off x="8929980" y="5314450"/>
            <a:ext cx="200304" cy="102929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73" name="Text 171"/>
          <p:cNvSpPr txBox="1"/>
          <p:nvPr/>
        </p:nvSpPr>
        <p:spPr>
          <a:xfrm>
            <a:off x="9756648" y="5254035"/>
            <a:ext cx="77724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−18.7%</a:t>
            </a:r>
            <a:endParaRPr lang="en-US" sz="1200" dirty="0"/>
          </a:p>
        </p:txBody>
      </p:sp>
      <p:sp>
        <p:nvSpPr>
          <p:cNvPr id="174" name="Text 172"/>
          <p:cNvSpPr txBox="1"/>
          <p:nvPr/>
        </p:nvSpPr>
        <p:spPr>
          <a:xfrm>
            <a:off x="10533888" y="5254035"/>
            <a:ext cx="86868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−$135K</a:t>
            </a:r>
            <a:endParaRPr lang="en-US" sz="1200" dirty="0"/>
          </a:p>
        </p:txBody>
      </p:sp>
      <p:sp>
        <p:nvSpPr>
          <p:cNvPr id="175" name="Text 173"/>
          <p:cNvSpPr txBox="1"/>
          <p:nvPr/>
        </p:nvSpPr>
        <p:spPr>
          <a:xfrm>
            <a:off x="6208776" y="5477794"/>
            <a:ext cx="310896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33</a:t>
            </a:r>
            <a:endParaRPr lang="en-US" sz="1200" dirty="0"/>
          </a:p>
        </p:txBody>
      </p:sp>
      <p:sp>
        <p:nvSpPr>
          <p:cNvPr id="176" name="Text 174"/>
          <p:cNvSpPr txBox="1"/>
          <p:nvPr/>
        </p:nvSpPr>
        <p:spPr>
          <a:xfrm>
            <a:off x="6565392" y="5477794"/>
            <a:ext cx="192024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ACURA</a:t>
            </a:r>
            <a:endParaRPr lang="en-US" sz="1200" dirty="0"/>
          </a:p>
        </p:txBody>
      </p:sp>
      <p:sp>
        <p:nvSpPr>
          <p:cNvPr id="177" name="Shape 175"/>
          <p:cNvSpPr/>
          <p:nvPr/>
        </p:nvSpPr>
        <p:spPr>
          <a:xfrm>
            <a:off x="8928189" y="5538209"/>
            <a:ext cx="202095" cy="102929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78" name="Text 176"/>
          <p:cNvSpPr txBox="1"/>
          <p:nvPr/>
        </p:nvSpPr>
        <p:spPr>
          <a:xfrm>
            <a:off x="9756648" y="5477794"/>
            <a:ext cx="77724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−18.8%</a:t>
            </a:r>
            <a:endParaRPr lang="en-US" sz="1200" dirty="0"/>
          </a:p>
        </p:txBody>
      </p:sp>
      <p:sp>
        <p:nvSpPr>
          <p:cNvPr id="179" name="Text 177"/>
          <p:cNvSpPr txBox="1"/>
          <p:nvPr/>
        </p:nvSpPr>
        <p:spPr>
          <a:xfrm>
            <a:off x="10533888" y="5477794"/>
            <a:ext cx="86868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−$438K</a:t>
            </a:r>
            <a:endParaRPr lang="en-US" sz="1200" dirty="0"/>
          </a:p>
        </p:txBody>
      </p:sp>
      <p:sp>
        <p:nvSpPr>
          <p:cNvPr id="180" name="Shape 178"/>
          <p:cNvSpPr/>
          <p:nvPr/>
        </p:nvSpPr>
        <p:spPr>
          <a:xfrm>
            <a:off x="3574390" y="2121408"/>
            <a:ext cx="10973" cy="3803904"/>
          </a:xfrm>
          <a:prstGeom prst="rect">
            <a:avLst/>
          </a:prstGeom>
          <a:solidFill>
            <a:srgbClr val="9AA3AD"/>
          </a:solidFill>
          <a:ln/>
        </p:spPr>
      </p:sp>
      <p:sp>
        <p:nvSpPr>
          <p:cNvPr id="181" name="Shape 179"/>
          <p:cNvSpPr/>
          <p:nvPr/>
        </p:nvSpPr>
        <p:spPr>
          <a:xfrm>
            <a:off x="9124798" y="2121408"/>
            <a:ext cx="10973" cy="3803904"/>
          </a:xfrm>
          <a:prstGeom prst="rect">
            <a:avLst/>
          </a:prstGeom>
          <a:solidFill>
            <a:srgbClr val="9AA3AD"/>
          </a:solidFill>
          <a:ln/>
        </p:spPr>
      </p:sp>
      <p:sp>
        <p:nvSpPr>
          <p:cNvPr id="182" name="Shape 180"/>
          <p:cNvSpPr/>
          <p:nvPr/>
        </p:nvSpPr>
        <p:spPr>
          <a:xfrm>
            <a:off x="6085332" y="2121408"/>
            <a:ext cx="10973" cy="3803904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183" name="Shape 181"/>
          <p:cNvSpPr/>
          <p:nvPr/>
        </p:nvSpPr>
        <p:spPr>
          <a:xfrm>
            <a:off x="457200" y="6126480"/>
            <a:ext cx="11274552" cy="356616"/>
          </a:xfrm>
          <a:prstGeom prst="rect">
            <a:avLst/>
          </a:prstGeom>
          <a:solidFill>
            <a:srgbClr val="E6F6EE"/>
          </a:solidFill>
          <a:ln/>
        </p:spPr>
      </p:sp>
      <p:sp>
        <p:nvSpPr>
          <p:cNvPr id="184" name="Text 182"/>
          <p:cNvSpPr txBox="1"/>
          <p:nvPr/>
        </p:nvSpPr>
        <p:spPr>
          <a:xfrm>
            <a:off x="658368" y="6144768"/>
            <a:ext cx="10927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23 of 33 stores grew. Hyundai Prescott grew most at +53.3% (+$345K); Acura fell most at −18.8% (−$438K).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DED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02336"/>
            <a:ext cx="50292" cy="192024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21792" y="3383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1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FIXED OPS GROSS · OPTION A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0080"/>
            <a:ext cx="11338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Total Gross Profit - Parts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07008"/>
            <a:ext cx="11274552" cy="47823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658368" y="1335024"/>
            <a:ext cx="10872216" cy="420624"/>
          </a:xfrm>
          <a:prstGeom prst="rect">
            <a:avLst/>
          </a:prstGeom>
          <a:solidFill>
            <a:srgbClr val="EDF4FA"/>
          </a:solidFill>
          <a:ln/>
        </p:spPr>
      </p:sp>
      <p:sp>
        <p:nvSpPr>
          <p:cNvPr id="7" name="Shape 5"/>
          <p:cNvSpPr/>
          <p:nvPr/>
        </p:nvSpPr>
        <p:spPr>
          <a:xfrm>
            <a:off x="658368" y="1335024"/>
            <a:ext cx="59436" cy="420624"/>
          </a:xfrm>
          <a:prstGeom prst="rect">
            <a:avLst/>
          </a:prstGeom>
          <a:solidFill>
            <a:srgbClr val="0B2C4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59536" y="1335024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PARTS GROSS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3291840" y="1335024"/>
            <a:ext cx="4754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90" kern="0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YEAR-OVER-YEAR CHANGE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138160" y="1335024"/>
            <a:ext cx="3291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+1.9%  ·  +$1.17M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4206240" y="1828800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Change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4983480" y="1828800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9756648" y="1828800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Change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0533888" y="1828800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658368" y="2121408"/>
            <a:ext cx="310896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1014984" y="2121408"/>
            <a:ext cx="192024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LINCOLN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579876" y="2181823"/>
            <a:ext cx="571500" cy="102929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4206240" y="2121408"/>
            <a:ext cx="77724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+37.1%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4983480" y="2121408"/>
            <a:ext cx="86868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+$243K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658368" y="2345167"/>
            <a:ext cx="310896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1014984" y="2345167"/>
            <a:ext cx="192024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CADILLAC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579876" y="2405582"/>
            <a:ext cx="438224" cy="102929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4206240" y="2345167"/>
            <a:ext cx="77724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+28.4%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4983480" y="2345167"/>
            <a:ext cx="86868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+$688K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658368" y="2568926"/>
            <a:ext cx="310896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1014984" y="2568926"/>
            <a:ext cx="192024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SUBARU ST GEORGE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579876" y="2629341"/>
            <a:ext cx="399845" cy="102929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4206240" y="2568926"/>
            <a:ext cx="77724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+26.0%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4983480" y="2568926"/>
            <a:ext cx="86868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+$271K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658368" y="2792685"/>
            <a:ext cx="310896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1014984" y="2792685"/>
            <a:ext cx="192024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GMC PRESCOTT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3579876" y="2853100"/>
            <a:ext cx="261421" cy="102929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4206240" y="2792685"/>
            <a:ext cx="77724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+17.0%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4983480" y="2792685"/>
            <a:ext cx="86868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+$158K</a:t>
            </a:r>
            <a:endParaRPr lang="en-US" sz="1200" dirty="0"/>
          </a:p>
        </p:txBody>
      </p:sp>
      <p:sp>
        <p:nvSpPr>
          <p:cNvPr id="35" name="Text 33"/>
          <p:cNvSpPr txBox="1"/>
          <p:nvPr/>
        </p:nvSpPr>
        <p:spPr>
          <a:xfrm>
            <a:off x="658368" y="3016444"/>
            <a:ext cx="310896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1200" dirty="0"/>
          </a:p>
        </p:txBody>
      </p:sp>
      <p:sp>
        <p:nvSpPr>
          <p:cNvPr id="36" name="Text 34"/>
          <p:cNvSpPr txBox="1"/>
          <p:nvPr/>
        </p:nvSpPr>
        <p:spPr>
          <a:xfrm>
            <a:off x="1014984" y="3016444"/>
            <a:ext cx="192024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SUBARU PRESCOTT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3579876" y="3076859"/>
            <a:ext cx="246093" cy="102929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4206240" y="3016444"/>
            <a:ext cx="77724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+16.0%</a:t>
            </a:r>
            <a:endParaRPr lang="en-US" sz="1200" dirty="0"/>
          </a:p>
        </p:txBody>
      </p:sp>
      <p:sp>
        <p:nvSpPr>
          <p:cNvPr id="39" name="Text 37"/>
          <p:cNvSpPr txBox="1"/>
          <p:nvPr/>
        </p:nvSpPr>
        <p:spPr>
          <a:xfrm>
            <a:off x="4983480" y="3016444"/>
            <a:ext cx="86868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+$151K</a:t>
            </a:r>
            <a:endParaRPr lang="en-US" sz="1200" dirty="0"/>
          </a:p>
        </p:txBody>
      </p:sp>
      <p:sp>
        <p:nvSpPr>
          <p:cNvPr id="40" name="Text 38"/>
          <p:cNvSpPr txBox="1"/>
          <p:nvPr/>
        </p:nvSpPr>
        <p:spPr>
          <a:xfrm>
            <a:off x="658368" y="3240203"/>
            <a:ext cx="310896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</a:t>
            </a:r>
            <a:endParaRPr lang="en-US" sz="1200" dirty="0"/>
          </a:p>
        </p:txBody>
      </p:sp>
      <p:sp>
        <p:nvSpPr>
          <p:cNvPr id="41" name="Text 39"/>
          <p:cNvSpPr txBox="1"/>
          <p:nvPr/>
        </p:nvSpPr>
        <p:spPr>
          <a:xfrm>
            <a:off x="1014984" y="3240203"/>
            <a:ext cx="192024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NISSAN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3579876" y="3300618"/>
            <a:ext cx="234911" cy="102929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43" name="Text 41"/>
          <p:cNvSpPr txBox="1"/>
          <p:nvPr/>
        </p:nvSpPr>
        <p:spPr>
          <a:xfrm>
            <a:off x="4206240" y="3240203"/>
            <a:ext cx="77724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+15.2%</a:t>
            </a:r>
            <a:endParaRPr lang="en-US" sz="1200" dirty="0"/>
          </a:p>
        </p:txBody>
      </p:sp>
      <p:sp>
        <p:nvSpPr>
          <p:cNvPr id="44" name="Text 42"/>
          <p:cNvSpPr txBox="1"/>
          <p:nvPr/>
        </p:nvSpPr>
        <p:spPr>
          <a:xfrm>
            <a:off x="4983480" y="3240203"/>
            <a:ext cx="86868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+$211K</a:t>
            </a:r>
            <a:endParaRPr lang="en-US" sz="1200" dirty="0"/>
          </a:p>
        </p:txBody>
      </p:sp>
      <p:sp>
        <p:nvSpPr>
          <p:cNvPr id="45" name="Text 43"/>
          <p:cNvSpPr txBox="1"/>
          <p:nvPr/>
        </p:nvSpPr>
        <p:spPr>
          <a:xfrm>
            <a:off x="658368" y="3463962"/>
            <a:ext cx="310896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</a:t>
            </a:r>
            <a:endParaRPr lang="en-US" sz="1200" dirty="0"/>
          </a:p>
        </p:txBody>
      </p:sp>
      <p:sp>
        <p:nvSpPr>
          <p:cNvPr id="46" name="Text 44"/>
          <p:cNvSpPr txBox="1"/>
          <p:nvPr/>
        </p:nvSpPr>
        <p:spPr>
          <a:xfrm>
            <a:off x="1014984" y="3463962"/>
            <a:ext cx="192024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HYUNDAI PRESCOTT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3579876" y="3524377"/>
            <a:ext cx="190077" cy="102929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48" name="Text 46"/>
          <p:cNvSpPr txBox="1"/>
          <p:nvPr/>
        </p:nvSpPr>
        <p:spPr>
          <a:xfrm>
            <a:off x="4206240" y="3463962"/>
            <a:ext cx="77724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+12.3%</a:t>
            </a:r>
            <a:endParaRPr lang="en-US" sz="1200" dirty="0"/>
          </a:p>
        </p:txBody>
      </p:sp>
      <p:sp>
        <p:nvSpPr>
          <p:cNvPr id="49" name="Text 47"/>
          <p:cNvSpPr txBox="1"/>
          <p:nvPr/>
        </p:nvSpPr>
        <p:spPr>
          <a:xfrm>
            <a:off x="4983480" y="3463962"/>
            <a:ext cx="86868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+$60K</a:t>
            </a:r>
            <a:endParaRPr lang="en-US" sz="1200" dirty="0"/>
          </a:p>
        </p:txBody>
      </p:sp>
      <p:sp>
        <p:nvSpPr>
          <p:cNvPr id="50" name="Text 48"/>
          <p:cNvSpPr txBox="1"/>
          <p:nvPr/>
        </p:nvSpPr>
        <p:spPr>
          <a:xfrm>
            <a:off x="658368" y="3687721"/>
            <a:ext cx="310896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</a:t>
            </a:r>
            <a:endParaRPr lang="en-US" sz="1200" dirty="0"/>
          </a:p>
        </p:txBody>
      </p:sp>
      <p:sp>
        <p:nvSpPr>
          <p:cNvPr id="51" name="Text 49"/>
          <p:cNvSpPr txBox="1"/>
          <p:nvPr/>
        </p:nvSpPr>
        <p:spPr>
          <a:xfrm>
            <a:off x="1014984" y="3687721"/>
            <a:ext cx="192024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LEXUS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3579876" y="3748136"/>
            <a:ext cx="179058" cy="102929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53" name="Text 51"/>
          <p:cNvSpPr txBox="1"/>
          <p:nvPr/>
        </p:nvSpPr>
        <p:spPr>
          <a:xfrm>
            <a:off x="4206240" y="3687721"/>
            <a:ext cx="77724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+11.6%</a:t>
            </a:r>
            <a:endParaRPr lang="en-US" sz="1200" dirty="0"/>
          </a:p>
        </p:txBody>
      </p:sp>
      <p:sp>
        <p:nvSpPr>
          <p:cNvPr id="54" name="Text 52"/>
          <p:cNvSpPr txBox="1"/>
          <p:nvPr/>
        </p:nvSpPr>
        <p:spPr>
          <a:xfrm>
            <a:off x="4983480" y="3687721"/>
            <a:ext cx="86868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+$124K</a:t>
            </a:r>
            <a:endParaRPr lang="en-US" sz="1200" dirty="0"/>
          </a:p>
        </p:txBody>
      </p:sp>
      <p:sp>
        <p:nvSpPr>
          <p:cNvPr id="55" name="Text 53"/>
          <p:cNvSpPr txBox="1"/>
          <p:nvPr/>
        </p:nvSpPr>
        <p:spPr>
          <a:xfrm>
            <a:off x="658368" y="3911480"/>
            <a:ext cx="310896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</a:t>
            </a:r>
            <a:endParaRPr lang="en-US" sz="1200" dirty="0"/>
          </a:p>
        </p:txBody>
      </p:sp>
      <p:sp>
        <p:nvSpPr>
          <p:cNvPr id="56" name="Text 54"/>
          <p:cNvSpPr txBox="1"/>
          <p:nvPr/>
        </p:nvSpPr>
        <p:spPr>
          <a:xfrm>
            <a:off x="1014984" y="3911480"/>
            <a:ext cx="192024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HONDA FLAGSTAFF</a:t>
            </a:r>
            <a:endParaRPr lang="en-US" sz="1200" dirty="0"/>
          </a:p>
        </p:txBody>
      </p:sp>
      <p:sp>
        <p:nvSpPr>
          <p:cNvPr id="57" name="Shape 55"/>
          <p:cNvSpPr/>
          <p:nvPr/>
        </p:nvSpPr>
        <p:spPr>
          <a:xfrm>
            <a:off x="3579876" y="3971895"/>
            <a:ext cx="155972" cy="102929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58" name="Text 56"/>
          <p:cNvSpPr txBox="1"/>
          <p:nvPr/>
        </p:nvSpPr>
        <p:spPr>
          <a:xfrm>
            <a:off x="4206240" y="3911480"/>
            <a:ext cx="77724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+10.1%</a:t>
            </a:r>
            <a:endParaRPr lang="en-US" sz="1200" dirty="0"/>
          </a:p>
        </p:txBody>
      </p:sp>
      <p:sp>
        <p:nvSpPr>
          <p:cNvPr id="59" name="Text 57"/>
          <p:cNvSpPr txBox="1"/>
          <p:nvPr/>
        </p:nvSpPr>
        <p:spPr>
          <a:xfrm>
            <a:off x="4983480" y="3911480"/>
            <a:ext cx="86868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+$50K</a:t>
            </a:r>
            <a:endParaRPr lang="en-US" sz="1200" dirty="0"/>
          </a:p>
        </p:txBody>
      </p:sp>
      <p:sp>
        <p:nvSpPr>
          <p:cNvPr id="60" name="Text 58"/>
          <p:cNvSpPr txBox="1"/>
          <p:nvPr/>
        </p:nvSpPr>
        <p:spPr>
          <a:xfrm>
            <a:off x="658368" y="4135240"/>
            <a:ext cx="310896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</a:t>
            </a:r>
            <a:endParaRPr lang="en-US" sz="1200" dirty="0"/>
          </a:p>
        </p:txBody>
      </p:sp>
      <p:sp>
        <p:nvSpPr>
          <p:cNvPr id="61" name="Text 59"/>
          <p:cNvSpPr txBox="1"/>
          <p:nvPr/>
        </p:nvSpPr>
        <p:spPr>
          <a:xfrm>
            <a:off x="1014984" y="4135240"/>
            <a:ext cx="192024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HONDA HENDERSON</a:t>
            </a:r>
            <a:endParaRPr lang="en-US" sz="1200" dirty="0"/>
          </a:p>
        </p:txBody>
      </p:sp>
      <p:sp>
        <p:nvSpPr>
          <p:cNvPr id="62" name="Shape 60"/>
          <p:cNvSpPr/>
          <p:nvPr/>
        </p:nvSpPr>
        <p:spPr>
          <a:xfrm>
            <a:off x="3579876" y="4195654"/>
            <a:ext cx="139366" cy="102929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63" name="Text 61"/>
          <p:cNvSpPr txBox="1"/>
          <p:nvPr/>
        </p:nvSpPr>
        <p:spPr>
          <a:xfrm>
            <a:off x="4206240" y="4135240"/>
            <a:ext cx="77724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+9.0%</a:t>
            </a:r>
            <a:endParaRPr lang="en-US" sz="1200" dirty="0"/>
          </a:p>
        </p:txBody>
      </p:sp>
      <p:sp>
        <p:nvSpPr>
          <p:cNvPr id="64" name="Text 62"/>
          <p:cNvSpPr txBox="1"/>
          <p:nvPr/>
        </p:nvSpPr>
        <p:spPr>
          <a:xfrm>
            <a:off x="4983480" y="4135240"/>
            <a:ext cx="86868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+$321K</a:t>
            </a:r>
            <a:endParaRPr lang="en-US" sz="1200" dirty="0"/>
          </a:p>
        </p:txBody>
      </p:sp>
      <p:sp>
        <p:nvSpPr>
          <p:cNvPr id="65" name="Text 63"/>
          <p:cNvSpPr txBox="1"/>
          <p:nvPr/>
        </p:nvSpPr>
        <p:spPr>
          <a:xfrm>
            <a:off x="658368" y="4358999"/>
            <a:ext cx="310896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</a:t>
            </a:r>
            <a:endParaRPr lang="en-US" sz="1200" dirty="0"/>
          </a:p>
        </p:txBody>
      </p:sp>
      <p:sp>
        <p:nvSpPr>
          <p:cNvPr id="66" name="Text 64"/>
          <p:cNvSpPr txBox="1"/>
          <p:nvPr/>
        </p:nvSpPr>
        <p:spPr>
          <a:xfrm>
            <a:off x="1014984" y="4358999"/>
            <a:ext cx="192024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AUDI HENDERSON</a:t>
            </a:r>
            <a:endParaRPr lang="en-US" sz="1200" dirty="0"/>
          </a:p>
        </p:txBody>
      </p:sp>
      <p:sp>
        <p:nvSpPr>
          <p:cNvPr id="67" name="Shape 65"/>
          <p:cNvSpPr/>
          <p:nvPr/>
        </p:nvSpPr>
        <p:spPr>
          <a:xfrm>
            <a:off x="3579876" y="4419414"/>
            <a:ext cx="136341" cy="102929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68" name="Text 66"/>
          <p:cNvSpPr txBox="1"/>
          <p:nvPr/>
        </p:nvSpPr>
        <p:spPr>
          <a:xfrm>
            <a:off x="4206240" y="4358999"/>
            <a:ext cx="77724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+8.8%</a:t>
            </a:r>
            <a:endParaRPr lang="en-US" sz="1200" dirty="0"/>
          </a:p>
        </p:txBody>
      </p:sp>
      <p:sp>
        <p:nvSpPr>
          <p:cNvPr id="69" name="Text 67"/>
          <p:cNvSpPr txBox="1"/>
          <p:nvPr/>
        </p:nvSpPr>
        <p:spPr>
          <a:xfrm>
            <a:off x="4983480" y="4358999"/>
            <a:ext cx="86868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+$288K</a:t>
            </a:r>
            <a:endParaRPr lang="en-US" sz="1200" dirty="0"/>
          </a:p>
        </p:txBody>
      </p:sp>
      <p:sp>
        <p:nvSpPr>
          <p:cNvPr id="70" name="Text 68"/>
          <p:cNvSpPr txBox="1"/>
          <p:nvPr/>
        </p:nvSpPr>
        <p:spPr>
          <a:xfrm>
            <a:off x="658368" y="4582758"/>
            <a:ext cx="310896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</a:t>
            </a:r>
            <a:endParaRPr lang="en-US" sz="1200" dirty="0"/>
          </a:p>
        </p:txBody>
      </p:sp>
      <p:sp>
        <p:nvSpPr>
          <p:cNvPr id="71" name="Text 69"/>
          <p:cNvSpPr txBox="1"/>
          <p:nvPr/>
        </p:nvSpPr>
        <p:spPr>
          <a:xfrm>
            <a:off x="1014984" y="4582758"/>
            <a:ext cx="192024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MAZDA</a:t>
            </a:r>
            <a:endParaRPr lang="en-US" sz="1200" dirty="0"/>
          </a:p>
        </p:txBody>
      </p:sp>
      <p:sp>
        <p:nvSpPr>
          <p:cNvPr id="72" name="Shape 70"/>
          <p:cNvSpPr/>
          <p:nvPr/>
        </p:nvSpPr>
        <p:spPr>
          <a:xfrm>
            <a:off x="3579876" y="4643173"/>
            <a:ext cx="123400" cy="102929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73" name="Text 71"/>
          <p:cNvSpPr txBox="1"/>
          <p:nvPr/>
        </p:nvSpPr>
        <p:spPr>
          <a:xfrm>
            <a:off x="4206240" y="4582758"/>
            <a:ext cx="77724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+8.0%</a:t>
            </a:r>
            <a:endParaRPr lang="en-US" sz="1200" dirty="0"/>
          </a:p>
        </p:txBody>
      </p:sp>
      <p:sp>
        <p:nvSpPr>
          <p:cNvPr id="74" name="Text 72"/>
          <p:cNvSpPr txBox="1"/>
          <p:nvPr/>
        </p:nvSpPr>
        <p:spPr>
          <a:xfrm>
            <a:off x="4983480" y="4582758"/>
            <a:ext cx="86868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+$88K</a:t>
            </a:r>
            <a:endParaRPr lang="en-US" sz="1200" dirty="0"/>
          </a:p>
        </p:txBody>
      </p:sp>
      <p:sp>
        <p:nvSpPr>
          <p:cNvPr id="75" name="Text 73"/>
          <p:cNvSpPr txBox="1"/>
          <p:nvPr/>
        </p:nvSpPr>
        <p:spPr>
          <a:xfrm>
            <a:off x="658368" y="4806517"/>
            <a:ext cx="310896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13</a:t>
            </a:r>
            <a:endParaRPr lang="en-US" sz="1200" dirty="0"/>
          </a:p>
        </p:txBody>
      </p:sp>
      <p:sp>
        <p:nvSpPr>
          <p:cNvPr id="76" name="Text 74"/>
          <p:cNvSpPr txBox="1"/>
          <p:nvPr/>
        </p:nvSpPr>
        <p:spPr>
          <a:xfrm>
            <a:off x="1014984" y="4806517"/>
            <a:ext cx="192024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KIA ST GEORGE</a:t>
            </a:r>
            <a:endParaRPr lang="en-US" sz="1200" dirty="0"/>
          </a:p>
        </p:txBody>
      </p:sp>
      <p:sp>
        <p:nvSpPr>
          <p:cNvPr id="77" name="Shape 75"/>
          <p:cNvSpPr/>
          <p:nvPr/>
        </p:nvSpPr>
        <p:spPr>
          <a:xfrm>
            <a:off x="3579876" y="4866932"/>
            <a:ext cx="80616" cy="102929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78" name="Text 76"/>
          <p:cNvSpPr txBox="1"/>
          <p:nvPr/>
        </p:nvSpPr>
        <p:spPr>
          <a:xfrm>
            <a:off x="4206240" y="4806517"/>
            <a:ext cx="77724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+5.2%</a:t>
            </a:r>
            <a:endParaRPr lang="en-US" sz="1200" dirty="0"/>
          </a:p>
        </p:txBody>
      </p:sp>
      <p:sp>
        <p:nvSpPr>
          <p:cNvPr id="79" name="Text 77"/>
          <p:cNvSpPr txBox="1"/>
          <p:nvPr/>
        </p:nvSpPr>
        <p:spPr>
          <a:xfrm>
            <a:off x="4983480" y="4806517"/>
            <a:ext cx="86868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+$47K</a:t>
            </a:r>
            <a:endParaRPr lang="en-US" sz="1200" dirty="0"/>
          </a:p>
        </p:txBody>
      </p:sp>
      <p:sp>
        <p:nvSpPr>
          <p:cNvPr id="80" name="Text 78"/>
          <p:cNvSpPr txBox="1"/>
          <p:nvPr/>
        </p:nvSpPr>
        <p:spPr>
          <a:xfrm>
            <a:off x="658368" y="5030276"/>
            <a:ext cx="310896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14</a:t>
            </a:r>
            <a:endParaRPr lang="en-US" sz="1200" dirty="0"/>
          </a:p>
        </p:txBody>
      </p:sp>
      <p:sp>
        <p:nvSpPr>
          <p:cNvPr id="81" name="Text 79"/>
          <p:cNvSpPr txBox="1"/>
          <p:nvPr/>
        </p:nvSpPr>
        <p:spPr>
          <a:xfrm>
            <a:off x="1014984" y="5030276"/>
            <a:ext cx="192024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TOYOTA HENDERSON</a:t>
            </a:r>
            <a:endParaRPr lang="en-US" sz="1200" dirty="0"/>
          </a:p>
        </p:txBody>
      </p:sp>
      <p:sp>
        <p:nvSpPr>
          <p:cNvPr id="82" name="Shape 80"/>
          <p:cNvSpPr/>
          <p:nvPr/>
        </p:nvSpPr>
        <p:spPr>
          <a:xfrm>
            <a:off x="3579876" y="5090691"/>
            <a:ext cx="70968" cy="102929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83" name="Text 81"/>
          <p:cNvSpPr txBox="1"/>
          <p:nvPr/>
        </p:nvSpPr>
        <p:spPr>
          <a:xfrm>
            <a:off x="4206240" y="5030276"/>
            <a:ext cx="77724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+4.6%</a:t>
            </a:r>
            <a:endParaRPr lang="en-US" sz="1200" dirty="0"/>
          </a:p>
        </p:txBody>
      </p:sp>
      <p:sp>
        <p:nvSpPr>
          <p:cNvPr id="84" name="Text 82"/>
          <p:cNvSpPr txBox="1"/>
          <p:nvPr/>
        </p:nvSpPr>
        <p:spPr>
          <a:xfrm>
            <a:off x="4983480" y="5030276"/>
            <a:ext cx="86868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+$273K</a:t>
            </a:r>
            <a:endParaRPr lang="en-US" sz="1200" dirty="0"/>
          </a:p>
        </p:txBody>
      </p:sp>
      <p:sp>
        <p:nvSpPr>
          <p:cNvPr id="85" name="Text 83"/>
          <p:cNvSpPr txBox="1"/>
          <p:nvPr/>
        </p:nvSpPr>
        <p:spPr>
          <a:xfrm>
            <a:off x="658368" y="5254035"/>
            <a:ext cx="310896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</a:t>
            </a:r>
            <a:endParaRPr lang="en-US" sz="1200" dirty="0"/>
          </a:p>
        </p:txBody>
      </p:sp>
      <p:sp>
        <p:nvSpPr>
          <p:cNvPr id="86" name="Text 84"/>
          <p:cNvSpPr txBox="1"/>
          <p:nvPr/>
        </p:nvSpPr>
        <p:spPr>
          <a:xfrm>
            <a:off x="1014984" y="5254035"/>
            <a:ext cx="192024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TOYOTA FLAGSTAFF</a:t>
            </a:r>
            <a:endParaRPr lang="en-US" sz="1200" dirty="0"/>
          </a:p>
        </p:txBody>
      </p:sp>
      <p:sp>
        <p:nvSpPr>
          <p:cNvPr id="87" name="Shape 85"/>
          <p:cNvSpPr/>
          <p:nvPr/>
        </p:nvSpPr>
        <p:spPr>
          <a:xfrm>
            <a:off x="3579876" y="5314450"/>
            <a:ext cx="39483" cy="102929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88" name="Text 86"/>
          <p:cNvSpPr txBox="1"/>
          <p:nvPr/>
        </p:nvSpPr>
        <p:spPr>
          <a:xfrm>
            <a:off x="4206240" y="5254035"/>
            <a:ext cx="77724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+2.6%</a:t>
            </a:r>
            <a:endParaRPr lang="en-US" sz="1200" dirty="0"/>
          </a:p>
        </p:txBody>
      </p:sp>
      <p:sp>
        <p:nvSpPr>
          <p:cNvPr id="89" name="Text 87"/>
          <p:cNvSpPr txBox="1"/>
          <p:nvPr/>
        </p:nvSpPr>
        <p:spPr>
          <a:xfrm>
            <a:off x="4983480" y="5254035"/>
            <a:ext cx="86868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+$33K</a:t>
            </a:r>
            <a:endParaRPr lang="en-US" sz="1200" dirty="0"/>
          </a:p>
        </p:txBody>
      </p:sp>
      <p:sp>
        <p:nvSpPr>
          <p:cNvPr id="90" name="Text 88"/>
          <p:cNvSpPr txBox="1"/>
          <p:nvPr/>
        </p:nvSpPr>
        <p:spPr>
          <a:xfrm>
            <a:off x="658368" y="5477794"/>
            <a:ext cx="310896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16</a:t>
            </a:r>
            <a:endParaRPr lang="en-US" sz="1200" dirty="0"/>
          </a:p>
        </p:txBody>
      </p:sp>
      <p:sp>
        <p:nvSpPr>
          <p:cNvPr id="91" name="Text 89"/>
          <p:cNvSpPr txBox="1"/>
          <p:nvPr/>
        </p:nvSpPr>
        <p:spPr>
          <a:xfrm>
            <a:off x="1014984" y="5477794"/>
            <a:ext cx="192024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LR HENDERSON</a:t>
            </a:r>
            <a:endParaRPr lang="en-US" sz="1200" dirty="0"/>
          </a:p>
        </p:txBody>
      </p:sp>
      <p:sp>
        <p:nvSpPr>
          <p:cNvPr id="92" name="Shape 90"/>
          <p:cNvSpPr/>
          <p:nvPr/>
        </p:nvSpPr>
        <p:spPr>
          <a:xfrm>
            <a:off x="3579876" y="5538209"/>
            <a:ext cx="33295" cy="102929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93" name="Text 91"/>
          <p:cNvSpPr txBox="1"/>
          <p:nvPr/>
        </p:nvSpPr>
        <p:spPr>
          <a:xfrm>
            <a:off x="4206240" y="5477794"/>
            <a:ext cx="77724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+2.2%</a:t>
            </a:r>
            <a:endParaRPr lang="en-US" sz="1200" dirty="0"/>
          </a:p>
        </p:txBody>
      </p:sp>
      <p:sp>
        <p:nvSpPr>
          <p:cNvPr id="94" name="Text 92"/>
          <p:cNvSpPr txBox="1"/>
          <p:nvPr/>
        </p:nvSpPr>
        <p:spPr>
          <a:xfrm>
            <a:off x="4983480" y="5477794"/>
            <a:ext cx="86868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+$27K</a:t>
            </a:r>
            <a:endParaRPr lang="en-US" sz="1200" dirty="0"/>
          </a:p>
        </p:txBody>
      </p:sp>
      <p:sp>
        <p:nvSpPr>
          <p:cNvPr id="95" name="Text 93"/>
          <p:cNvSpPr txBox="1"/>
          <p:nvPr/>
        </p:nvSpPr>
        <p:spPr>
          <a:xfrm>
            <a:off x="658368" y="5701553"/>
            <a:ext cx="310896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17</a:t>
            </a:r>
            <a:endParaRPr lang="en-US" sz="1200" dirty="0"/>
          </a:p>
        </p:txBody>
      </p:sp>
      <p:sp>
        <p:nvSpPr>
          <p:cNvPr id="96" name="Text 94"/>
          <p:cNvSpPr txBox="1"/>
          <p:nvPr/>
        </p:nvSpPr>
        <p:spPr>
          <a:xfrm>
            <a:off x="1014984" y="5701553"/>
            <a:ext cx="192024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CHEVY GMC BULLHEAD</a:t>
            </a:r>
            <a:endParaRPr lang="en-US" sz="1200" dirty="0"/>
          </a:p>
        </p:txBody>
      </p:sp>
      <p:sp>
        <p:nvSpPr>
          <p:cNvPr id="97" name="Shape 95"/>
          <p:cNvSpPr/>
          <p:nvPr/>
        </p:nvSpPr>
        <p:spPr>
          <a:xfrm>
            <a:off x="3579876" y="5761968"/>
            <a:ext cx="19780" cy="102929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98" name="Text 96"/>
          <p:cNvSpPr txBox="1"/>
          <p:nvPr/>
        </p:nvSpPr>
        <p:spPr>
          <a:xfrm>
            <a:off x="4206240" y="5701553"/>
            <a:ext cx="77724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+1.3%</a:t>
            </a:r>
            <a:endParaRPr lang="en-US" sz="1200" dirty="0"/>
          </a:p>
        </p:txBody>
      </p:sp>
      <p:sp>
        <p:nvSpPr>
          <p:cNvPr id="99" name="Text 97"/>
          <p:cNvSpPr txBox="1"/>
          <p:nvPr/>
        </p:nvSpPr>
        <p:spPr>
          <a:xfrm>
            <a:off x="4983480" y="5701553"/>
            <a:ext cx="86868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+$19K</a:t>
            </a:r>
            <a:endParaRPr lang="en-US" sz="1200" dirty="0"/>
          </a:p>
        </p:txBody>
      </p:sp>
      <p:sp>
        <p:nvSpPr>
          <p:cNvPr id="100" name="Text 98"/>
          <p:cNvSpPr txBox="1"/>
          <p:nvPr/>
        </p:nvSpPr>
        <p:spPr>
          <a:xfrm>
            <a:off x="6208776" y="2121408"/>
            <a:ext cx="310896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18</a:t>
            </a:r>
            <a:endParaRPr lang="en-US" sz="1200" dirty="0"/>
          </a:p>
        </p:txBody>
      </p:sp>
      <p:sp>
        <p:nvSpPr>
          <p:cNvPr id="101" name="Text 99"/>
          <p:cNvSpPr txBox="1"/>
          <p:nvPr/>
        </p:nvSpPr>
        <p:spPr>
          <a:xfrm>
            <a:off x="6565392" y="2121408"/>
            <a:ext cx="192024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LR RENO</a:t>
            </a:r>
            <a:endParaRPr lang="en-US" sz="1200" dirty="0"/>
          </a:p>
        </p:txBody>
      </p:sp>
      <p:sp>
        <p:nvSpPr>
          <p:cNvPr id="102" name="Shape 100"/>
          <p:cNvSpPr/>
          <p:nvPr/>
        </p:nvSpPr>
        <p:spPr>
          <a:xfrm>
            <a:off x="9120504" y="2181823"/>
            <a:ext cx="12802" cy="102929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03" name="Text 101"/>
          <p:cNvSpPr txBox="1"/>
          <p:nvPr/>
        </p:nvSpPr>
        <p:spPr>
          <a:xfrm>
            <a:off x="9756648" y="2121408"/>
            <a:ext cx="77724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−0.6%</a:t>
            </a:r>
            <a:endParaRPr lang="en-US" sz="1200" dirty="0"/>
          </a:p>
        </p:txBody>
      </p:sp>
      <p:sp>
        <p:nvSpPr>
          <p:cNvPr id="104" name="Text 102"/>
          <p:cNvSpPr txBox="1"/>
          <p:nvPr/>
        </p:nvSpPr>
        <p:spPr>
          <a:xfrm>
            <a:off x="10533888" y="2121408"/>
            <a:ext cx="86868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−$5K</a:t>
            </a:r>
            <a:endParaRPr lang="en-US" sz="1200" dirty="0"/>
          </a:p>
        </p:txBody>
      </p:sp>
      <p:sp>
        <p:nvSpPr>
          <p:cNvPr id="105" name="Text 103"/>
          <p:cNvSpPr txBox="1"/>
          <p:nvPr/>
        </p:nvSpPr>
        <p:spPr>
          <a:xfrm>
            <a:off x="6208776" y="2345167"/>
            <a:ext cx="310896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19</a:t>
            </a:r>
            <a:endParaRPr lang="en-US" sz="1200" dirty="0"/>
          </a:p>
        </p:txBody>
      </p:sp>
      <p:sp>
        <p:nvSpPr>
          <p:cNvPr id="106" name="Text 104"/>
          <p:cNvSpPr txBox="1"/>
          <p:nvPr/>
        </p:nvSpPr>
        <p:spPr>
          <a:xfrm>
            <a:off x="6565392" y="2345167"/>
            <a:ext cx="192024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CHEVY LV</a:t>
            </a:r>
            <a:endParaRPr lang="en-US" sz="1200" dirty="0"/>
          </a:p>
        </p:txBody>
      </p:sp>
      <p:sp>
        <p:nvSpPr>
          <p:cNvPr id="107" name="Shape 105"/>
          <p:cNvSpPr/>
          <p:nvPr/>
        </p:nvSpPr>
        <p:spPr>
          <a:xfrm>
            <a:off x="9119621" y="2405582"/>
            <a:ext cx="12802" cy="102929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08" name="Text 106"/>
          <p:cNvSpPr txBox="1"/>
          <p:nvPr/>
        </p:nvSpPr>
        <p:spPr>
          <a:xfrm>
            <a:off x="9756648" y="2345167"/>
            <a:ext cx="77724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−0.7%</a:t>
            </a:r>
            <a:endParaRPr lang="en-US" sz="1200" dirty="0"/>
          </a:p>
        </p:txBody>
      </p:sp>
      <p:sp>
        <p:nvSpPr>
          <p:cNvPr id="109" name="Text 107"/>
          <p:cNvSpPr txBox="1"/>
          <p:nvPr/>
        </p:nvSpPr>
        <p:spPr>
          <a:xfrm>
            <a:off x="10533888" y="2345167"/>
            <a:ext cx="86868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−$42K</a:t>
            </a:r>
            <a:endParaRPr lang="en-US" sz="1200" dirty="0"/>
          </a:p>
        </p:txBody>
      </p:sp>
      <p:sp>
        <p:nvSpPr>
          <p:cNvPr id="110" name="Text 108"/>
          <p:cNvSpPr txBox="1"/>
          <p:nvPr/>
        </p:nvSpPr>
        <p:spPr>
          <a:xfrm>
            <a:off x="6208776" y="2568926"/>
            <a:ext cx="310896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</a:t>
            </a:r>
            <a:endParaRPr lang="en-US" sz="1200" dirty="0"/>
          </a:p>
        </p:txBody>
      </p:sp>
      <p:sp>
        <p:nvSpPr>
          <p:cNvPr id="111" name="Text 109"/>
          <p:cNvSpPr txBox="1"/>
          <p:nvPr/>
        </p:nvSpPr>
        <p:spPr>
          <a:xfrm>
            <a:off x="6565392" y="2568926"/>
            <a:ext cx="192024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HONDA SPOKANE</a:t>
            </a:r>
            <a:endParaRPr lang="en-US" sz="1200" dirty="0"/>
          </a:p>
        </p:txBody>
      </p:sp>
      <p:sp>
        <p:nvSpPr>
          <p:cNvPr id="112" name="Shape 110"/>
          <p:cNvSpPr/>
          <p:nvPr/>
        </p:nvSpPr>
        <p:spPr>
          <a:xfrm>
            <a:off x="9117659" y="2629341"/>
            <a:ext cx="12802" cy="102929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13" name="Text 111"/>
          <p:cNvSpPr txBox="1"/>
          <p:nvPr/>
        </p:nvSpPr>
        <p:spPr>
          <a:xfrm>
            <a:off x="9756648" y="2568926"/>
            <a:ext cx="77724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−0.8%</a:t>
            </a:r>
            <a:endParaRPr lang="en-US" sz="1200" dirty="0"/>
          </a:p>
        </p:txBody>
      </p:sp>
      <p:sp>
        <p:nvSpPr>
          <p:cNvPr id="114" name="Text 112"/>
          <p:cNvSpPr txBox="1"/>
          <p:nvPr/>
        </p:nvSpPr>
        <p:spPr>
          <a:xfrm>
            <a:off x="10533888" y="2568926"/>
            <a:ext cx="86868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−$12K</a:t>
            </a:r>
            <a:endParaRPr lang="en-US" sz="1200" dirty="0"/>
          </a:p>
        </p:txBody>
      </p:sp>
      <p:sp>
        <p:nvSpPr>
          <p:cNvPr id="115" name="Text 113"/>
          <p:cNvSpPr txBox="1"/>
          <p:nvPr/>
        </p:nvSpPr>
        <p:spPr>
          <a:xfrm>
            <a:off x="6208776" y="2792685"/>
            <a:ext cx="310896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21</a:t>
            </a:r>
            <a:endParaRPr lang="en-US" sz="1200" dirty="0"/>
          </a:p>
        </p:txBody>
      </p:sp>
      <p:sp>
        <p:nvSpPr>
          <p:cNvPr id="116" name="Text 114"/>
          <p:cNvSpPr txBox="1"/>
          <p:nvPr/>
        </p:nvSpPr>
        <p:spPr>
          <a:xfrm>
            <a:off x="6565392" y="2792685"/>
            <a:ext cx="192024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TOYOTA PRESCOTT</a:t>
            </a:r>
            <a:endParaRPr lang="en-US" sz="1200" dirty="0"/>
          </a:p>
        </p:txBody>
      </p:sp>
      <p:sp>
        <p:nvSpPr>
          <p:cNvPr id="117" name="Shape 115"/>
          <p:cNvSpPr/>
          <p:nvPr/>
        </p:nvSpPr>
        <p:spPr>
          <a:xfrm>
            <a:off x="9095741" y="2853100"/>
            <a:ext cx="34543" cy="102929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18" name="Text 116"/>
          <p:cNvSpPr txBox="1"/>
          <p:nvPr/>
        </p:nvSpPr>
        <p:spPr>
          <a:xfrm>
            <a:off x="9756648" y="2792685"/>
            <a:ext cx="77724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−2.2%</a:t>
            </a:r>
            <a:endParaRPr lang="en-US" sz="1200" dirty="0"/>
          </a:p>
        </p:txBody>
      </p:sp>
      <p:sp>
        <p:nvSpPr>
          <p:cNvPr id="119" name="Text 117"/>
          <p:cNvSpPr txBox="1"/>
          <p:nvPr/>
        </p:nvSpPr>
        <p:spPr>
          <a:xfrm>
            <a:off x="10533888" y="2792685"/>
            <a:ext cx="86868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−$33K</a:t>
            </a:r>
            <a:endParaRPr lang="en-US" sz="1200" dirty="0"/>
          </a:p>
        </p:txBody>
      </p:sp>
      <p:sp>
        <p:nvSpPr>
          <p:cNvPr id="120" name="Text 118"/>
          <p:cNvSpPr txBox="1"/>
          <p:nvPr/>
        </p:nvSpPr>
        <p:spPr>
          <a:xfrm>
            <a:off x="6208776" y="3016444"/>
            <a:ext cx="310896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22</a:t>
            </a:r>
            <a:endParaRPr lang="en-US" sz="1200" dirty="0"/>
          </a:p>
        </p:txBody>
      </p:sp>
      <p:sp>
        <p:nvSpPr>
          <p:cNvPr id="121" name="Text 119"/>
          <p:cNvSpPr txBox="1"/>
          <p:nvPr/>
        </p:nvSpPr>
        <p:spPr>
          <a:xfrm>
            <a:off x="6565392" y="3016444"/>
            <a:ext cx="192024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LR LV</a:t>
            </a:r>
            <a:endParaRPr lang="en-US" sz="1200" dirty="0"/>
          </a:p>
        </p:txBody>
      </p:sp>
      <p:sp>
        <p:nvSpPr>
          <p:cNvPr id="122" name="Shape 120"/>
          <p:cNvSpPr/>
          <p:nvPr/>
        </p:nvSpPr>
        <p:spPr>
          <a:xfrm>
            <a:off x="9094197" y="3076859"/>
            <a:ext cx="36087" cy="102929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23" name="Text 121"/>
          <p:cNvSpPr txBox="1"/>
          <p:nvPr/>
        </p:nvSpPr>
        <p:spPr>
          <a:xfrm>
            <a:off x="9756648" y="3016444"/>
            <a:ext cx="77724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−2.3%</a:t>
            </a:r>
            <a:endParaRPr lang="en-US" sz="1200" dirty="0"/>
          </a:p>
        </p:txBody>
      </p:sp>
      <p:sp>
        <p:nvSpPr>
          <p:cNvPr id="124" name="Text 122"/>
          <p:cNvSpPr txBox="1"/>
          <p:nvPr/>
        </p:nvSpPr>
        <p:spPr>
          <a:xfrm>
            <a:off x="10533888" y="3016444"/>
            <a:ext cx="86868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−$61K</a:t>
            </a:r>
            <a:endParaRPr lang="en-US" sz="1200" dirty="0"/>
          </a:p>
        </p:txBody>
      </p:sp>
      <p:sp>
        <p:nvSpPr>
          <p:cNvPr id="125" name="Text 123"/>
          <p:cNvSpPr txBox="1"/>
          <p:nvPr/>
        </p:nvSpPr>
        <p:spPr>
          <a:xfrm>
            <a:off x="6208776" y="3240203"/>
            <a:ext cx="310896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23</a:t>
            </a:r>
            <a:endParaRPr lang="en-US" sz="1200" dirty="0"/>
          </a:p>
        </p:txBody>
      </p:sp>
      <p:sp>
        <p:nvSpPr>
          <p:cNvPr id="126" name="Text 124"/>
          <p:cNvSpPr txBox="1"/>
          <p:nvPr/>
        </p:nvSpPr>
        <p:spPr>
          <a:xfrm>
            <a:off x="6565392" y="3240203"/>
            <a:ext cx="192024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TOYOTA SPOKANE</a:t>
            </a:r>
            <a:endParaRPr lang="en-US" sz="1200" dirty="0"/>
          </a:p>
        </p:txBody>
      </p:sp>
      <p:sp>
        <p:nvSpPr>
          <p:cNvPr id="127" name="Shape 125"/>
          <p:cNvSpPr/>
          <p:nvPr/>
        </p:nvSpPr>
        <p:spPr>
          <a:xfrm>
            <a:off x="9092061" y="3300618"/>
            <a:ext cx="38223" cy="102929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28" name="Text 126"/>
          <p:cNvSpPr txBox="1"/>
          <p:nvPr/>
        </p:nvSpPr>
        <p:spPr>
          <a:xfrm>
            <a:off x="9756648" y="3240203"/>
            <a:ext cx="77724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−2.5%</a:t>
            </a:r>
            <a:endParaRPr lang="en-US" sz="1200" dirty="0"/>
          </a:p>
        </p:txBody>
      </p:sp>
      <p:sp>
        <p:nvSpPr>
          <p:cNvPr id="129" name="Text 127"/>
          <p:cNvSpPr txBox="1"/>
          <p:nvPr/>
        </p:nvSpPr>
        <p:spPr>
          <a:xfrm>
            <a:off x="10533888" y="3240203"/>
            <a:ext cx="86868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−$57K</a:t>
            </a:r>
            <a:endParaRPr lang="en-US" sz="1200" dirty="0"/>
          </a:p>
        </p:txBody>
      </p:sp>
      <p:sp>
        <p:nvSpPr>
          <p:cNvPr id="130" name="Text 128"/>
          <p:cNvSpPr txBox="1"/>
          <p:nvPr/>
        </p:nvSpPr>
        <p:spPr>
          <a:xfrm>
            <a:off x="6208776" y="3463962"/>
            <a:ext cx="310896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24</a:t>
            </a:r>
            <a:endParaRPr lang="en-US" sz="1200" dirty="0"/>
          </a:p>
        </p:txBody>
      </p:sp>
      <p:sp>
        <p:nvSpPr>
          <p:cNvPr id="131" name="Text 129"/>
          <p:cNvSpPr txBox="1"/>
          <p:nvPr/>
        </p:nvSpPr>
        <p:spPr>
          <a:xfrm>
            <a:off x="6565392" y="3463962"/>
            <a:ext cx="192024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VOLVO</a:t>
            </a:r>
            <a:endParaRPr lang="en-US" sz="1200" dirty="0"/>
          </a:p>
        </p:txBody>
      </p:sp>
      <p:sp>
        <p:nvSpPr>
          <p:cNvPr id="132" name="Shape 130"/>
          <p:cNvSpPr/>
          <p:nvPr/>
        </p:nvSpPr>
        <p:spPr>
          <a:xfrm>
            <a:off x="9080300" y="3524377"/>
            <a:ext cx="49984" cy="102929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33" name="Text 131"/>
          <p:cNvSpPr txBox="1"/>
          <p:nvPr/>
        </p:nvSpPr>
        <p:spPr>
          <a:xfrm>
            <a:off x="9756648" y="3463962"/>
            <a:ext cx="77724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−3.2%</a:t>
            </a:r>
            <a:endParaRPr lang="en-US" sz="1200" dirty="0"/>
          </a:p>
        </p:txBody>
      </p:sp>
      <p:sp>
        <p:nvSpPr>
          <p:cNvPr id="134" name="Text 132"/>
          <p:cNvSpPr txBox="1"/>
          <p:nvPr/>
        </p:nvSpPr>
        <p:spPr>
          <a:xfrm>
            <a:off x="10533888" y="3463962"/>
            <a:ext cx="86868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−$50K</a:t>
            </a:r>
            <a:endParaRPr lang="en-US" sz="1200" dirty="0"/>
          </a:p>
        </p:txBody>
      </p:sp>
      <p:sp>
        <p:nvSpPr>
          <p:cNvPr id="135" name="Text 133"/>
          <p:cNvSpPr txBox="1"/>
          <p:nvPr/>
        </p:nvSpPr>
        <p:spPr>
          <a:xfrm>
            <a:off x="6208776" y="3687721"/>
            <a:ext cx="310896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25</a:t>
            </a:r>
            <a:endParaRPr lang="en-US" sz="1200" dirty="0"/>
          </a:p>
        </p:txBody>
      </p:sp>
      <p:sp>
        <p:nvSpPr>
          <p:cNvPr id="136" name="Text 134"/>
          <p:cNvSpPr txBox="1"/>
          <p:nvPr/>
        </p:nvSpPr>
        <p:spPr>
          <a:xfrm>
            <a:off x="6565392" y="3687721"/>
            <a:ext cx="192024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HONDA NORTH</a:t>
            </a:r>
            <a:endParaRPr lang="en-US" sz="1200" dirty="0"/>
          </a:p>
        </p:txBody>
      </p:sp>
      <p:sp>
        <p:nvSpPr>
          <p:cNvPr id="137" name="Shape 135"/>
          <p:cNvSpPr/>
          <p:nvPr/>
        </p:nvSpPr>
        <p:spPr>
          <a:xfrm>
            <a:off x="9051537" y="3748136"/>
            <a:ext cx="78747" cy="102929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38" name="Text 136"/>
          <p:cNvSpPr txBox="1"/>
          <p:nvPr/>
        </p:nvSpPr>
        <p:spPr>
          <a:xfrm>
            <a:off x="9756648" y="3687721"/>
            <a:ext cx="77724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−5.1%</a:t>
            </a:r>
            <a:endParaRPr lang="en-US" sz="1200" dirty="0"/>
          </a:p>
        </p:txBody>
      </p:sp>
      <p:sp>
        <p:nvSpPr>
          <p:cNvPr id="139" name="Text 137"/>
          <p:cNvSpPr txBox="1"/>
          <p:nvPr/>
        </p:nvSpPr>
        <p:spPr>
          <a:xfrm>
            <a:off x="10533888" y="3687721"/>
            <a:ext cx="86868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−$145K</a:t>
            </a:r>
            <a:endParaRPr lang="en-US" sz="1200" dirty="0"/>
          </a:p>
        </p:txBody>
      </p:sp>
      <p:sp>
        <p:nvSpPr>
          <p:cNvPr id="140" name="Text 138"/>
          <p:cNvSpPr txBox="1"/>
          <p:nvPr/>
        </p:nvSpPr>
        <p:spPr>
          <a:xfrm>
            <a:off x="6208776" y="3911480"/>
            <a:ext cx="310896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26</a:t>
            </a:r>
            <a:endParaRPr lang="en-US" sz="1200" dirty="0"/>
          </a:p>
        </p:txBody>
      </p:sp>
      <p:sp>
        <p:nvSpPr>
          <p:cNvPr id="141" name="Text 139"/>
          <p:cNvSpPr txBox="1"/>
          <p:nvPr/>
        </p:nvSpPr>
        <p:spPr>
          <a:xfrm>
            <a:off x="6565392" y="3911480"/>
            <a:ext cx="192024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VW ST GEORGE</a:t>
            </a:r>
            <a:endParaRPr lang="en-US" sz="1200" dirty="0"/>
          </a:p>
        </p:txBody>
      </p:sp>
      <p:sp>
        <p:nvSpPr>
          <p:cNvPr id="142" name="Shape 140"/>
          <p:cNvSpPr/>
          <p:nvPr/>
        </p:nvSpPr>
        <p:spPr>
          <a:xfrm>
            <a:off x="9025094" y="3971895"/>
            <a:ext cx="105190" cy="102929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43" name="Text 141"/>
          <p:cNvSpPr txBox="1"/>
          <p:nvPr/>
        </p:nvSpPr>
        <p:spPr>
          <a:xfrm>
            <a:off x="9756648" y="3911480"/>
            <a:ext cx="77724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−6.8%</a:t>
            </a:r>
            <a:endParaRPr lang="en-US" sz="1200" dirty="0"/>
          </a:p>
        </p:txBody>
      </p:sp>
      <p:sp>
        <p:nvSpPr>
          <p:cNvPr id="144" name="Text 142"/>
          <p:cNvSpPr txBox="1"/>
          <p:nvPr/>
        </p:nvSpPr>
        <p:spPr>
          <a:xfrm>
            <a:off x="10533888" y="3911480"/>
            <a:ext cx="86868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−$28K</a:t>
            </a:r>
            <a:endParaRPr lang="en-US" sz="1200" dirty="0"/>
          </a:p>
        </p:txBody>
      </p:sp>
      <p:sp>
        <p:nvSpPr>
          <p:cNvPr id="145" name="Text 143"/>
          <p:cNvSpPr txBox="1"/>
          <p:nvPr/>
        </p:nvSpPr>
        <p:spPr>
          <a:xfrm>
            <a:off x="6208776" y="4135240"/>
            <a:ext cx="310896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27</a:t>
            </a:r>
            <a:endParaRPr lang="en-US" sz="1200" dirty="0"/>
          </a:p>
        </p:txBody>
      </p:sp>
      <p:sp>
        <p:nvSpPr>
          <p:cNvPr id="146" name="Text 144"/>
          <p:cNvSpPr txBox="1"/>
          <p:nvPr/>
        </p:nvSpPr>
        <p:spPr>
          <a:xfrm>
            <a:off x="6565392" y="4135240"/>
            <a:ext cx="192024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SUBARU LV</a:t>
            </a:r>
            <a:endParaRPr lang="en-US" sz="1200" dirty="0"/>
          </a:p>
        </p:txBody>
      </p:sp>
      <p:sp>
        <p:nvSpPr>
          <p:cNvPr id="147" name="Shape 145"/>
          <p:cNvSpPr/>
          <p:nvPr/>
        </p:nvSpPr>
        <p:spPr>
          <a:xfrm>
            <a:off x="9022657" y="4195654"/>
            <a:ext cx="107627" cy="102929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48" name="Text 146"/>
          <p:cNvSpPr txBox="1"/>
          <p:nvPr/>
        </p:nvSpPr>
        <p:spPr>
          <a:xfrm>
            <a:off x="9756648" y="4135240"/>
            <a:ext cx="77724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−7.0%</a:t>
            </a:r>
            <a:endParaRPr lang="en-US" sz="1200" dirty="0"/>
          </a:p>
        </p:txBody>
      </p:sp>
      <p:sp>
        <p:nvSpPr>
          <p:cNvPr id="149" name="Text 147"/>
          <p:cNvSpPr txBox="1"/>
          <p:nvPr/>
        </p:nvSpPr>
        <p:spPr>
          <a:xfrm>
            <a:off x="10533888" y="4135240"/>
            <a:ext cx="86868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−$287K</a:t>
            </a:r>
            <a:endParaRPr lang="en-US" sz="1200" dirty="0"/>
          </a:p>
        </p:txBody>
      </p:sp>
      <p:sp>
        <p:nvSpPr>
          <p:cNvPr id="150" name="Text 148"/>
          <p:cNvSpPr txBox="1"/>
          <p:nvPr/>
        </p:nvSpPr>
        <p:spPr>
          <a:xfrm>
            <a:off x="6208776" y="4358999"/>
            <a:ext cx="310896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28</a:t>
            </a:r>
            <a:endParaRPr lang="en-US" sz="1200" dirty="0"/>
          </a:p>
        </p:txBody>
      </p:sp>
      <p:sp>
        <p:nvSpPr>
          <p:cNvPr id="151" name="Text 149"/>
          <p:cNvSpPr txBox="1"/>
          <p:nvPr/>
        </p:nvSpPr>
        <p:spPr>
          <a:xfrm>
            <a:off x="6565392" y="4358999"/>
            <a:ext cx="192024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ACURA</a:t>
            </a:r>
            <a:endParaRPr lang="en-US" sz="1200" dirty="0"/>
          </a:p>
        </p:txBody>
      </p:sp>
      <p:sp>
        <p:nvSpPr>
          <p:cNvPr id="152" name="Shape 150"/>
          <p:cNvSpPr/>
          <p:nvPr/>
        </p:nvSpPr>
        <p:spPr>
          <a:xfrm>
            <a:off x="9018226" y="4419414"/>
            <a:ext cx="112058" cy="102929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53" name="Text 151"/>
          <p:cNvSpPr txBox="1"/>
          <p:nvPr/>
        </p:nvSpPr>
        <p:spPr>
          <a:xfrm>
            <a:off x="9756648" y="4358999"/>
            <a:ext cx="77724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−7.3%</a:t>
            </a:r>
            <a:endParaRPr lang="en-US" sz="1200" dirty="0"/>
          </a:p>
        </p:txBody>
      </p:sp>
      <p:sp>
        <p:nvSpPr>
          <p:cNvPr id="154" name="Text 152"/>
          <p:cNvSpPr txBox="1"/>
          <p:nvPr/>
        </p:nvSpPr>
        <p:spPr>
          <a:xfrm>
            <a:off x="10533888" y="4358999"/>
            <a:ext cx="86868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−$79K</a:t>
            </a:r>
            <a:endParaRPr lang="en-US" sz="1200" dirty="0"/>
          </a:p>
        </p:txBody>
      </p:sp>
      <p:sp>
        <p:nvSpPr>
          <p:cNvPr id="155" name="Text 153"/>
          <p:cNvSpPr txBox="1"/>
          <p:nvPr/>
        </p:nvSpPr>
        <p:spPr>
          <a:xfrm>
            <a:off x="6208776" y="4582758"/>
            <a:ext cx="310896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29</a:t>
            </a:r>
            <a:endParaRPr lang="en-US" sz="1200" dirty="0"/>
          </a:p>
        </p:txBody>
      </p:sp>
      <p:sp>
        <p:nvSpPr>
          <p:cNvPr id="156" name="Text 154"/>
          <p:cNvSpPr txBox="1"/>
          <p:nvPr/>
        </p:nvSpPr>
        <p:spPr>
          <a:xfrm>
            <a:off x="6565392" y="4582758"/>
            <a:ext cx="192024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KIA LV</a:t>
            </a:r>
            <a:endParaRPr lang="en-US" sz="1200" dirty="0"/>
          </a:p>
        </p:txBody>
      </p:sp>
      <p:sp>
        <p:nvSpPr>
          <p:cNvPr id="157" name="Shape 155"/>
          <p:cNvSpPr/>
          <p:nvPr/>
        </p:nvSpPr>
        <p:spPr>
          <a:xfrm>
            <a:off x="9016738" y="4643173"/>
            <a:ext cx="113546" cy="102929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58" name="Text 156"/>
          <p:cNvSpPr txBox="1"/>
          <p:nvPr/>
        </p:nvSpPr>
        <p:spPr>
          <a:xfrm>
            <a:off x="9756648" y="4582758"/>
            <a:ext cx="77724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−7.4%</a:t>
            </a:r>
            <a:endParaRPr lang="en-US" sz="1200" dirty="0"/>
          </a:p>
        </p:txBody>
      </p:sp>
      <p:sp>
        <p:nvSpPr>
          <p:cNvPr id="159" name="Text 157"/>
          <p:cNvSpPr txBox="1"/>
          <p:nvPr/>
        </p:nvSpPr>
        <p:spPr>
          <a:xfrm>
            <a:off x="10533888" y="4582758"/>
            <a:ext cx="86868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−$167K</a:t>
            </a:r>
            <a:endParaRPr lang="en-US" sz="1200" dirty="0"/>
          </a:p>
        </p:txBody>
      </p:sp>
      <p:sp>
        <p:nvSpPr>
          <p:cNvPr id="160" name="Text 158"/>
          <p:cNvSpPr txBox="1"/>
          <p:nvPr/>
        </p:nvSpPr>
        <p:spPr>
          <a:xfrm>
            <a:off x="6208776" y="4806517"/>
            <a:ext cx="310896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30</a:t>
            </a:r>
            <a:endParaRPr lang="en-US" sz="1200" dirty="0"/>
          </a:p>
        </p:txBody>
      </p:sp>
      <p:sp>
        <p:nvSpPr>
          <p:cNvPr id="161" name="Text 159"/>
          <p:cNvSpPr txBox="1"/>
          <p:nvPr/>
        </p:nvSpPr>
        <p:spPr>
          <a:xfrm>
            <a:off x="6565392" y="4806517"/>
            <a:ext cx="192024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CDJR POST FALLS</a:t>
            </a:r>
            <a:endParaRPr lang="en-US" sz="1200" dirty="0"/>
          </a:p>
        </p:txBody>
      </p:sp>
      <p:sp>
        <p:nvSpPr>
          <p:cNvPr id="162" name="Shape 160"/>
          <p:cNvSpPr/>
          <p:nvPr/>
        </p:nvSpPr>
        <p:spPr>
          <a:xfrm>
            <a:off x="8970138" y="4866932"/>
            <a:ext cx="160146" cy="102929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63" name="Text 161"/>
          <p:cNvSpPr txBox="1"/>
          <p:nvPr/>
        </p:nvSpPr>
        <p:spPr>
          <a:xfrm>
            <a:off x="9756648" y="4806517"/>
            <a:ext cx="77724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−10.4%</a:t>
            </a:r>
            <a:endParaRPr lang="en-US" sz="1200" dirty="0"/>
          </a:p>
        </p:txBody>
      </p:sp>
      <p:sp>
        <p:nvSpPr>
          <p:cNvPr id="164" name="Text 162"/>
          <p:cNvSpPr txBox="1"/>
          <p:nvPr/>
        </p:nvSpPr>
        <p:spPr>
          <a:xfrm>
            <a:off x="10533888" y="4806517"/>
            <a:ext cx="86868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−$146K</a:t>
            </a:r>
            <a:endParaRPr lang="en-US" sz="1200" dirty="0"/>
          </a:p>
        </p:txBody>
      </p:sp>
      <p:sp>
        <p:nvSpPr>
          <p:cNvPr id="165" name="Text 163"/>
          <p:cNvSpPr txBox="1"/>
          <p:nvPr/>
        </p:nvSpPr>
        <p:spPr>
          <a:xfrm>
            <a:off x="6208776" y="5030276"/>
            <a:ext cx="310896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31</a:t>
            </a:r>
            <a:endParaRPr lang="en-US" sz="1200" dirty="0"/>
          </a:p>
        </p:txBody>
      </p:sp>
      <p:sp>
        <p:nvSpPr>
          <p:cNvPr id="166" name="Text 164"/>
          <p:cNvSpPr txBox="1"/>
          <p:nvPr/>
        </p:nvSpPr>
        <p:spPr>
          <a:xfrm>
            <a:off x="6565392" y="5030276"/>
            <a:ext cx="192024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VW HENDERSON</a:t>
            </a:r>
            <a:endParaRPr lang="en-US" sz="1200" dirty="0"/>
          </a:p>
        </p:txBody>
      </p:sp>
      <p:sp>
        <p:nvSpPr>
          <p:cNvPr id="167" name="Shape 165"/>
          <p:cNvSpPr/>
          <p:nvPr/>
        </p:nvSpPr>
        <p:spPr>
          <a:xfrm>
            <a:off x="8910748" y="5090691"/>
            <a:ext cx="219536" cy="102929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68" name="Text 166"/>
          <p:cNvSpPr txBox="1"/>
          <p:nvPr/>
        </p:nvSpPr>
        <p:spPr>
          <a:xfrm>
            <a:off x="9756648" y="5030276"/>
            <a:ext cx="77724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−14.2%</a:t>
            </a:r>
            <a:endParaRPr lang="en-US" sz="1200" dirty="0"/>
          </a:p>
        </p:txBody>
      </p:sp>
      <p:sp>
        <p:nvSpPr>
          <p:cNvPr id="169" name="Text 167"/>
          <p:cNvSpPr txBox="1"/>
          <p:nvPr/>
        </p:nvSpPr>
        <p:spPr>
          <a:xfrm>
            <a:off x="10533888" y="5030276"/>
            <a:ext cx="86868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−$214K</a:t>
            </a:r>
            <a:endParaRPr lang="en-US" sz="1200" dirty="0"/>
          </a:p>
        </p:txBody>
      </p:sp>
      <p:sp>
        <p:nvSpPr>
          <p:cNvPr id="170" name="Text 168"/>
          <p:cNvSpPr txBox="1"/>
          <p:nvPr/>
        </p:nvSpPr>
        <p:spPr>
          <a:xfrm>
            <a:off x="6208776" y="5254035"/>
            <a:ext cx="310896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32</a:t>
            </a:r>
            <a:endParaRPr lang="en-US" sz="1200" dirty="0"/>
          </a:p>
        </p:txBody>
      </p:sp>
      <p:sp>
        <p:nvSpPr>
          <p:cNvPr id="171" name="Text 169"/>
          <p:cNvSpPr txBox="1"/>
          <p:nvPr/>
        </p:nvSpPr>
        <p:spPr>
          <a:xfrm>
            <a:off x="6565392" y="5254035"/>
            <a:ext cx="192024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AUDI RENO</a:t>
            </a:r>
            <a:endParaRPr lang="en-US" sz="1200" dirty="0"/>
          </a:p>
        </p:txBody>
      </p:sp>
      <p:sp>
        <p:nvSpPr>
          <p:cNvPr id="172" name="Shape 170"/>
          <p:cNvSpPr/>
          <p:nvPr/>
        </p:nvSpPr>
        <p:spPr>
          <a:xfrm>
            <a:off x="8841155" y="5314450"/>
            <a:ext cx="289129" cy="102929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73" name="Text 171"/>
          <p:cNvSpPr txBox="1"/>
          <p:nvPr/>
        </p:nvSpPr>
        <p:spPr>
          <a:xfrm>
            <a:off x="9756648" y="5254035"/>
            <a:ext cx="77724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−18.8%</a:t>
            </a:r>
            <a:endParaRPr lang="en-US" sz="1200" dirty="0"/>
          </a:p>
        </p:txBody>
      </p:sp>
      <p:sp>
        <p:nvSpPr>
          <p:cNvPr id="174" name="Text 172"/>
          <p:cNvSpPr txBox="1"/>
          <p:nvPr/>
        </p:nvSpPr>
        <p:spPr>
          <a:xfrm>
            <a:off x="10533888" y="5254035"/>
            <a:ext cx="86868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−$328K</a:t>
            </a:r>
            <a:endParaRPr lang="en-US" sz="1200" dirty="0"/>
          </a:p>
        </p:txBody>
      </p:sp>
      <p:sp>
        <p:nvSpPr>
          <p:cNvPr id="175" name="Text 173"/>
          <p:cNvSpPr txBox="1"/>
          <p:nvPr/>
        </p:nvSpPr>
        <p:spPr>
          <a:xfrm>
            <a:off x="6208776" y="5477794"/>
            <a:ext cx="310896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33</a:t>
            </a:r>
            <a:endParaRPr lang="en-US" sz="1200" dirty="0"/>
          </a:p>
        </p:txBody>
      </p:sp>
      <p:sp>
        <p:nvSpPr>
          <p:cNvPr id="176" name="Text 174"/>
          <p:cNvSpPr txBox="1"/>
          <p:nvPr/>
        </p:nvSpPr>
        <p:spPr>
          <a:xfrm>
            <a:off x="6565392" y="5477794"/>
            <a:ext cx="192024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HYUNDAI ST GEORGE</a:t>
            </a:r>
            <a:endParaRPr lang="en-US" sz="1200" dirty="0"/>
          </a:p>
        </p:txBody>
      </p:sp>
      <p:sp>
        <p:nvSpPr>
          <p:cNvPr id="177" name="Shape 175"/>
          <p:cNvSpPr/>
          <p:nvPr/>
        </p:nvSpPr>
        <p:spPr>
          <a:xfrm>
            <a:off x="8798602" y="5538209"/>
            <a:ext cx="331682" cy="102929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78" name="Text 176"/>
          <p:cNvSpPr txBox="1"/>
          <p:nvPr/>
        </p:nvSpPr>
        <p:spPr>
          <a:xfrm>
            <a:off x="9756648" y="5477794"/>
            <a:ext cx="77724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−21.5%</a:t>
            </a:r>
            <a:endParaRPr lang="en-US" sz="1200" dirty="0"/>
          </a:p>
        </p:txBody>
      </p:sp>
      <p:sp>
        <p:nvSpPr>
          <p:cNvPr id="179" name="Text 177"/>
          <p:cNvSpPr txBox="1"/>
          <p:nvPr/>
        </p:nvSpPr>
        <p:spPr>
          <a:xfrm>
            <a:off x="10533888" y="5477794"/>
            <a:ext cx="86868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−$227K</a:t>
            </a:r>
            <a:endParaRPr lang="en-US" sz="1200" dirty="0"/>
          </a:p>
        </p:txBody>
      </p:sp>
      <p:sp>
        <p:nvSpPr>
          <p:cNvPr id="180" name="Shape 178"/>
          <p:cNvSpPr/>
          <p:nvPr/>
        </p:nvSpPr>
        <p:spPr>
          <a:xfrm>
            <a:off x="3574390" y="2121408"/>
            <a:ext cx="10973" cy="3803904"/>
          </a:xfrm>
          <a:prstGeom prst="rect">
            <a:avLst/>
          </a:prstGeom>
          <a:solidFill>
            <a:srgbClr val="9AA3AD"/>
          </a:solidFill>
          <a:ln/>
        </p:spPr>
      </p:sp>
      <p:sp>
        <p:nvSpPr>
          <p:cNvPr id="181" name="Shape 179"/>
          <p:cNvSpPr/>
          <p:nvPr/>
        </p:nvSpPr>
        <p:spPr>
          <a:xfrm>
            <a:off x="9124798" y="2121408"/>
            <a:ext cx="10973" cy="3803904"/>
          </a:xfrm>
          <a:prstGeom prst="rect">
            <a:avLst/>
          </a:prstGeom>
          <a:solidFill>
            <a:srgbClr val="9AA3AD"/>
          </a:solidFill>
          <a:ln/>
        </p:spPr>
      </p:sp>
      <p:sp>
        <p:nvSpPr>
          <p:cNvPr id="182" name="Shape 180"/>
          <p:cNvSpPr/>
          <p:nvPr/>
        </p:nvSpPr>
        <p:spPr>
          <a:xfrm>
            <a:off x="6085332" y="2121408"/>
            <a:ext cx="10973" cy="3803904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183" name="Shape 181"/>
          <p:cNvSpPr/>
          <p:nvPr/>
        </p:nvSpPr>
        <p:spPr>
          <a:xfrm>
            <a:off x="457200" y="6126480"/>
            <a:ext cx="11274552" cy="348996"/>
          </a:xfrm>
          <a:prstGeom prst="rect">
            <a:avLst/>
          </a:prstGeom>
          <a:solidFill>
            <a:srgbClr val="E6F6EE"/>
          </a:solidFill>
          <a:ln/>
        </p:spPr>
      </p:sp>
      <p:sp>
        <p:nvSpPr>
          <p:cNvPr id="184" name="Text 182"/>
          <p:cNvSpPr txBox="1"/>
          <p:nvPr/>
        </p:nvSpPr>
        <p:spPr>
          <a:xfrm>
            <a:off x="658368" y="6144768"/>
            <a:ext cx="10927080" cy="3124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17 of 33 stores grew. Lincoln grew most at +37.1% (+$243K); Hyundai St George fell most at −21.5% (−$227K).</a:t>
            </a:r>
            <a:endParaRPr lang="en-US" sz="1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Inte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2026-10-22T21:36:32Z</dcterms:created>
  <dcterms:modified xsi:type="dcterms:W3CDTF">2026-10-22T21:36:32Z</dcterms:modified>
</cp:coreProperties>
</file>