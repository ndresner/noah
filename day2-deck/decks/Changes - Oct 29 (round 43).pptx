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32"/>
    <p:sldId id="282" r:id="rId33"/>
    <p:sldId id="283" r:id="rId34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Fixed Ops Accounting TB, fixed gross (service and parts), monthly by store, January 2021 - September 2026. A record = the store's highest month on file; months before a store opened are ignored. GMC Prescott service on the TB includes body shop gross. Net: best January–September fixed ops net profit ever = service + parts department profit (Qlik - Profit &amp; Loss, Detail statement), Jan-Sep 2026 above every Jan-Sep 2021-2025 on file; Honda Spokane and Nissan from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with the store call-outs (off the slide): 23 stores set 98 all-time monthly records in 2026. Honda Spokane and Nissan lead with 9 each.Source: Qlik - Fixed Ops Accounting TB, fixed gross (service and parts), monthly by store, January 2021 - September 2026. A record = the store's highest month on file; months before a store opened are ignored. GMC Prescott service on the TB includes body shop gross. Records = each month a store beat its best-ever service, parts or combined month; one month can count up to three.Records by store (month: service / parts / combined, with the record it beat):</a:t>
            </a:r>
          </a:p>
          <a:p>
            <a:r>
              <a:t>Toyota Henderson: service Apr 2026 $1.86M (beat $1.78M, Apr 2025); service Jul 2026 $1.98M (beat $1.86M, Apr 2026); parts Jun 2026 $747K (beat $734K, Dec 2024); parts Aug 2026 $748K (beat $747K, Jun 2026); parts Sep 2026 $803K (beat $748K, Aug 2026); combined Apr 2026 $2.52M (beat $2.45M, Apr 2025); combined Jun 2026 $2.55M (beat $2.52M, Apr 2026); combined Jul 2026 $2.72M (beat $2.55M, Jun 2026)</a:t>
            </a:r>
          </a:p>
          <a:p>
            <a:r>
              <a:t>Honda Spokane: service Mar 2026 $309K (beat $290K, May 2025); service Apr 2026 $316K (beat $309K, Mar 2026); service Jun 2026 $343K (beat $316K, Apr 2026); service Jul 2026 $360K (beat $343K, Jun 2026); parts Jul 2026 $182K (beat $168K, Aug 2025); combined Mar 2026 $457K (beat $448K, May 2025); combined Apr 2026 $473K (beat $457K, Mar 2026); combined Jun 2026 $503K (beat $473K, Apr 2026); combined Jul 2026 $542K (beat $503K, Jun 2026)</a:t>
            </a:r>
          </a:p>
          <a:p>
            <a:r>
              <a:t>Nissan: service Mar 2026 $374K (beat $374K, May 2025); service Jun 2026 $379K (beat $374K, Mar 2026); service Sep 2026 $393K (beat $379K, Jun 2026); parts Jun 2026 $191K (beat $187K, Aug 2024); parts Jul 2026 $210K (beat $191K, Jun 2026); combined Mar 2026 $546K (beat $535K, May 2025); combined Jun 2026 $570K (beat $546K, Mar 2026); combined Jul 2026 $580K (beat $570K, Jun 2026); combined Sep 2026 $593K (beat $580K, Jul 2026)</a:t>
            </a:r>
          </a:p>
          <a:p>
            <a:r>
              <a:t>Subaru St George: service Jan 2026 $256K (beat $246K, Apr 2025); service Mar 2026 $270K (beat $256K, Jan 2026); parts Mar 2026 $146K (beat $144K, Apr 2025); parts Apr 2026 $156K (beat $146K, Mar 2026); parts Jun 2026 $174K (beat $156K, Apr 2026); combined Mar 2026 $416K (beat $391K, Apr 2025); combined Jun 2026 $438K (beat $416K, Mar 2026)</a:t>
            </a:r>
          </a:p>
          <a:p>
            <a:r>
              <a:t>Hyundai St George: service Jan 2026 $155K (beat $152K, Dec 2025); service Mar 2026 $170K (beat $155K, Jan 2026); service Jul 2026 $173K (beat $170K, Mar 2026); service Sep 2026 $179K (beat $173K, Jul 2026)</a:t>
            </a:r>
          </a:p>
          <a:p>
            <a:r>
              <a:t>Honda Henderson: service Mar 2026 $1.26M (beat $1.23M, Mar 2025); service Jun 2026 $1.29M (beat $1.26M, Mar 2026); service Jul 2026 $1.30M (beat $1.29M, Jun 2026); parts Jul 2026 $495K (beat $475K, Apr 2024); combined Mar 2026 $1.72M (beat $1.67M, Apr 2024); combined Jun 2026 $1.75M (beat $1.72M, Mar 2026); combined Jul 2026 $1.79M (beat $1.75M, Jun 2026)</a:t>
            </a:r>
          </a:p>
          <a:p>
            <a:r>
              <a:t>Hyundai Prescott: service Mar 2026 $125K (beat $96K, Jul 2025); service Jul 2026 $142K (beat $125K, Mar 2026); parts Feb 2026 $78K (beat $72K, Jul 2025); combined Feb 2026 $170K (beat $168K, Jul 2025); combined Mar 2026 $182K (beat $170K, Feb 2026); combined Jul 2026 $206K (beat $182K, Mar 2026)</a:t>
            </a:r>
          </a:p>
          <a:p>
            <a:r>
              <a:t>Lincoln: service Aug 2026 $247K (beat $243K, Dec 2025); service Sep 2026 $262K (beat $247K, Aug 2026); parts Mar 2026 $116K (beat $105K, Dec 2025); combined Mar 2026 $358K (beat $349K, Dec 2025); combined Aug 2026 $359K (beat $358K, Mar 2026); combined Sep 2026 $369K (beat $359K, Aug 2026)</a:t>
            </a:r>
          </a:p>
          <a:p>
            <a:r>
              <a:t>LR Henderson: service Aug 2026 $276K (beat $270K, Dec 2024); service Sep 2026 $281K (beat $276K, Aug 2026); parts Jul 2026 $173K (beat $168K, Feb 2025); combined Jul 2026 $434K (beat $420K, Feb 2025)</a:t>
            </a:r>
          </a:p>
          <a:p>
            <a:r>
              <a:t>Toyota Flagstaff: service Mar 2026 $374K (beat $358K, Oct 2024); service Apr 2026 $377K (beat $374K, Mar 2026); service May 2026 $382K (beat $377K, Apr 2026); combined Mar 2026 $532K (beat $497K, Jan 2025)</a:t>
            </a:r>
          </a:p>
          <a:p>
            <a:r>
              <a:t>Audi Henderson: parts Jul 2026 $591K (beat $524K, Dec 2024); combined Apr 2026 $1.45M (beat $1.39M, Dec 2025); combined Jul 2026 $1.60M (beat $1.45M, Apr 2026)</a:t>
            </a:r>
          </a:p>
          <a:p>
            <a:r>
              <a:t>Mazda: service Aug 2026 $285K (beat $256K, Mar 2025); service Sep 2026 $302K (beat $285K, Aug 2026); parts Sep 2026 $200K (beat $172K, Jun 2025); combined Aug 2026 $417K (beat $412K, Jun 2025); combined Sep 2026 $503K (beat $417K, Aug 2026)</a:t>
            </a:r>
          </a:p>
          <a:p>
            <a:r>
              <a:t>Kia St George: service Apr 2026 $158K (beat $153K, Sep 2025); service Jul 2026 $187K (beat $158K, Apr 2026); parts Jul 2026 $134K (beat $120K, Oct 2025); combined Jul 2026 $321K (beat $270K, Sep 2025)</a:t>
            </a:r>
          </a:p>
          <a:p>
            <a:r>
              <a:t>Lexus: service Mar 2026 $341K (beat $341K, Oct 2025); service May 2026 $342K (beat $341K, Mar 2026); parts May 2026 $154K (beat $149K, Oct 2025); combined May 2026 $497K (beat $490K, Oct 2025)</a:t>
            </a:r>
          </a:p>
          <a:p>
            <a:r>
              <a:t>Toyota Prescott: service Mar 2026 $397K (beat $377K, Dec 2025); service Apr 2026 $463K (beat $397K, Mar 2026); parts Apr 2026 $204K (beat $203K, Apr 2025); combined Apr 2026 $667K (beat $563K, Aug 2023)</a:t>
            </a:r>
          </a:p>
          <a:p>
            <a:r>
              <a:t>Volvo: service Apr 2026 $294K (beat $288K, Aug 2024); service Jun 2026 $305K (beat $294K, Apr 2026)</a:t>
            </a:r>
          </a:p>
          <a:p>
            <a:r>
              <a:t>CDJR Post Falls: service Jul 2026 $312K (beat $305K, Apr 2025); combined Jul 2026 $481K (beat $468K, Aug 2024)</a:t>
            </a:r>
          </a:p>
          <a:p>
            <a:r>
              <a:t>GMC Prescott: parts Apr 2026 $148K (beat $123K, Oct 2024); combined Apr 2026 $314K (beat $304K, Oct 2024)</a:t>
            </a:r>
          </a:p>
          <a:p>
            <a:r>
              <a:t>LR LV: service Jul 2026 $544K (beat $509K, May 2024); combined Jul 2026 $845K (beat $817K, May 2024)</a:t>
            </a:r>
          </a:p>
          <a:p>
            <a:r>
              <a:t>LR Reno: service Aug 2026 $204K (beat $190K, Jan 2025); combined Aug 2026 $312K (beat $294K, Aug 2024)</a:t>
            </a:r>
          </a:p>
          <a:p>
            <a:r>
              <a:t>Subaru Prescott: combined Apr 2026 $354K (beat $349K, Apr 2025)</a:t>
            </a:r>
          </a:p>
          <a:p>
            <a:r>
              <a:t>Toyota Spokane: service Jul 2026 $470K (beat $450K, Oct 2025); combined Jul 2026 $777K (beat $760K, Oct 2025)</a:t>
            </a:r>
          </a:p>
          <a:p>
            <a:r>
              <a:t>Kia LV: service Sep 2026 $492K (beat $472K, Oct 2024)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Gross: Qlik - Fixed Ops Accounting TB, combined service + parts fixed gross, Jan-Sep 2026 above every Jan-Sep on file (2021-2025). Net: best January–September fixed ops net profit ever = service + parts department profit (Qlik - Profit &amp; Loss, Detail statement), Jan-Sep 2026 above every Jan-Sep 2021-2025 on file; Honda Spokane and Nissan from 2024.Net profit, Jan-Sep 2026 vs the best prior Jan-Sep:</a:t>
            </a:r>
          </a:p>
          <a:p>
            <a:r>
              <a:t>Acura: $476K vs $259K (2025)</a:t>
            </a:r>
          </a:p>
          <a:p>
            <a:r>
              <a:t>Audi Henderson: $4.94M vs $4.11M (2025)</a:t>
            </a:r>
          </a:p>
          <a:p>
            <a:r>
              <a:t>Cadillac: $2.60M vs $1.83M (2025)</a:t>
            </a:r>
          </a:p>
          <a:p>
            <a:r>
              <a:t>CDJR Post Falls: $800K vs $747K (2025)</a:t>
            </a:r>
          </a:p>
          <a:p>
            <a:r>
              <a:t>Chevy GMC Bullhead: $1.12M vs $784K (2025)</a:t>
            </a:r>
          </a:p>
          <a:p>
            <a:r>
              <a:t>Honda Henderson: $6.08M vs $5.84M (2024)</a:t>
            </a:r>
          </a:p>
          <a:p>
            <a:r>
              <a:t>Honda Spokane: $1.32M vs $1.32M (2025)</a:t>
            </a:r>
          </a:p>
          <a:p>
            <a:r>
              <a:t>Kia LV: $1.80M vs $1.38M (2025)</a:t>
            </a:r>
          </a:p>
          <a:p>
            <a:r>
              <a:t>Lexus: $1.20M vs $993K (2025)</a:t>
            </a:r>
          </a:p>
          <a:p>
            <a:r>
              <a:t>Lincoln: $94K vs −$61K (2023)</a:t>
            </a:r>
          </a:p>
          <a:p>
            <a:r>
              <a:t>LR Henderson: $705K vs $607K (2025)</a:t>
            </a:r>
          </a:p>
          <a:p>
            <a:r>
              <a:t>LR LV: $2.04M vs $1.89M (2025)</a:t>
            </a:r>
          </a:p>
          <a:p>
            <a:r>
              <a:t>LR Reno: $428K vs $244K (2023)</a:t>
            </a:r>
          </a:p>
          <a:p>
            <a:r>
              <a:t>Nissan: $677K vs $543K (2025)</a:t>
            </a:r>
          </a:p>
          <a:p>
            <a:r>
              <a:t>Subaru LV: $2.94M vs $2.93M (2025)</a:t>
            </a:r>
          </a:p>
          <a:p>
            <a:r>
              <a:t>Subaru Prescott: $129K vs $110K (2023)</a:t>
            </a:r>
          </a:p>
          <a:p>
            <a:r>
              <a:t>Subaru St George: $1.17M vs $1.06M (2025)</a:t>
            </a:r>
          </a:p>
          <a:p>
            <a:r>
              <a:t>Toyota Flagstaff: $902K vs $771K (2025)</a:t>
            </a:r>
          </a:p>
          <a:p>
            <a:r>
              <a:t>Toyota Henderson: $7.83M vs $6.41M (2025)</a:t>
            </a:r>
          </a:p>
          <a:p>
            <a:r>
              <a:t>Toyota Prescott: $1.17M vs $881K (2025)</a:t>
            </a:r>
          </a:p>
          <a:p>
            <a:r>
              <a:t>Volvo: $1.33M vs $1.18M (2025)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Record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13232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96112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WITH A RECORD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33 had their best gross profit month ever in 2026.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05963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905963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088843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SET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88843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088843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profit records in service, parts and combined.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98694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98694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281574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JAN–SEP GROSS PROFIT EVER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81574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281574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stores, service and parts combined.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91426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91426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474306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BROKEN TWICE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474306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474306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set a gross profit record, then beat it again.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484157" y="1481328"/>
            <a:ext cx="1991563" cy="301752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484157" y="1481328"/>
            <a:ext cx="1991563" cy="64008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9667037" y="1691640"/>
            <a:ext cx="16258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JAN–SEP NET PROFIT EVER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667037" y="2286000"/>
            <a:ext cx="16258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9667037" y="3200400"/>
            <a:ext cx="16258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stores; 18 also set the gross profit record.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4709160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records set this year: Honda Spokane 9, Nissan 9, Toyota Henderson 8, Honda Henderson 7 and Subaru St George 7.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alone brought 11 combined store records.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Records Set in 2026: Gross Profit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026664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13048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471416" y="13167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84648" y="1316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77072" y="131673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363456" y="1316736"/>
            <a:ext cx="65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21824" y="131673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735056" y="1316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170078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170078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71216" y="1779994"/>
            <a:ext cx="100584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026664" y="170078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13048" y="170078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170078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170078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05282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4984" y="205282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71216" y="2132038"/>
            <a:ext cx="100584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3026664" y="205282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813048" y="205282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471416" y="205282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84648" y="205282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240487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" y="240487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71216" y="2484082"/>
            <a:ext cx="89408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3026664" y="240487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813048" y="240487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471416" y="240487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184648" y="240487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275691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275691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71216" y="2836126"/>
            <a:ext cx="78232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3026664" y="275691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813048" y="275691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471416" y="275691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84648" y="275691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10896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10896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71216" y="3188170"/>
            <a:ext cx="78232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3026664" y="310896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813048" y="310896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471416" y="310896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184648" y="310896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58368" y="346100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14984" y="346100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871216" y="3540214"/>
            <a:ext cx="67056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52" name="Text 50"/>
          <p:cNvSpPr txBox="1"/>
          <p:nvPr/>
        </p:nvSpPr>
        <p:spPr>
          <a:xfrm>
            <a:off x="3026664" y="346100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3813048" y="346100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471416" y="346100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184648" y="346100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381304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381304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871216" y="3892258"/>
            <a:ext cx="67056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59" name="Text 57"/>
          <p:cNvSpPr txBox="1"/>
          <p:nvPr/>
        </p:nvSpPr>
        <p:spPr>
          <a:xfrm>
            <a:off x="3026664" y="381304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3813048" y="381304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471416" y="381304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5184648" y="381304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416509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416509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871216" y="4244302"/>
            <a:ext cx="55880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66" name="Text 64"/>
          <p:cNvSpPr txBox="1"/>
          <p:nvPr/>
        </p:nvSpPr>
        <p:spPr>
          <a:xfrm>
            <a:off x="3026664" y="416509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3813048" y="416509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471416" y="416509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5184648" y="416509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58368" y="451713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1014984" y="451713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871216" y="4596346"/>
            <a:ext cx="44704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73" name="Text 71"/>
          <p:cNvSpPr txBox="1"/>
          <p:nvPr/>
        </p:nvSpPr>
        <p:spPr>
          <a:xfrm>
            <a:off x="3026664" y="451713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3813048" y="451713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471416" y="451713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184648" y="451713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86918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86918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2871216" y="4948390"/>
            <a:ext cx="44704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80" name="Text 78"/>
          <p:cNvSpPr txBox="1"/>
          <p:nvPr/>
        </p:nvSpPr>
        <p:spPr>
          <a:xfrm>
            <a:off x="3026664" y="486918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3813048" y="486918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471416" y="486918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5184648" y="486918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522122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14984" y="522122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2871216" y="5300434"/>
            <a:ext cx="44704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87" name="Text 85"/>
          <p:cNvSpPr txBox="1"/>
          <p:nvPr/>
        </p:nvSpPr>
        <p:spPr>
          <a:xfrm>
            <a:off x="3026664" y="522122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3813048" y="522122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4471416" y="522122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5184648" y="522122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658368" y="557326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1014984" y="557326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2871216" y="5652478"/>
            <a:ext cx="44704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94" name="Text 92"/>
          <p:cNvSpPr txBox="1"/>
          <p:nvPr/>
        </p:nvSpPr>
        <p:spPr>
          <a:xfrm>
            <a:off x="3026664" y="557326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3813048" y="557326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71416" y="557326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5184648" y="557326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208776" y="170078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565392" y="170078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8421624" y="1779994"/>
            <a:ext cx="44704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01" name="Text 99"/>
          <p:cNvSpPr txBox="1"/>
          <p:nvPr/>
        </p:nvSpPr>
        <p:spPr>
          <a:xfrm>
            <a:off x="8577072" y="170078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9363456" y="170078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10021824" y="170078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10735056" y="170078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205282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205282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8421624" y="2132038"/>
            <a:ext cx="44704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08" name="Text 106"/>
          <p:cNvSpPr txBox="1"/>
          <p:nvPr/>
        </p:nvSpPr>
        <p:spPr>
          <a:xfrm>
            <a:off x="8577072" y="205282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9363456" y="205282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10021824" y="205282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735056" y="205282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40487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240487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421624" y="2484082"/>
            <a:ext cx="33528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15" name="Text 113"/>
          <p:cNvSpPr txBox="1"/>
          <p:nvPr/>
        </p:nvSpPr>
        <p:spPr>
          <a:xfrm>
            <a:off x="8577072" y="240487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9363456" y="240487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10021824" y="240487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735056" y="240487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275691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275691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421624" y="2836126"/>
            <a:ext cx="22352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22" name="Text 120"/>
          <p:cNvSpPr txBox="1"/>
          <p:nvPr/>
        </p:nvSpPr>
        <p:spPr>
          <a:xfrm>
            <a:off x="8577072" y="275691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363456" y="275691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021824" y="275691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735056" y="275691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310896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310896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421624" y="3188170"/>
            <a:ext cx="22352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29" name="Text 127"/>
          <p:cNvSpPr txBox="1"/>
          <p:nvPr/>
        </p:nvSpPr>
        <p:spPr>
          <a:xfrm>
            <a:off x="8577072" y="310896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363456" y="310896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021824" y="310896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10735056" y="310896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3" name="Text 131"/>
          <p:cNvSpPr txBox="1"/>
          <p:nvPr/>
        </p:nvSpPr>
        <p:spPr>
          <a:xfrm>
            <a:off x="6208776" y="346100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34" name="Text 132"/>
          <p:cNvSpPr txBox="1"/>
          <p:nvPr/>
        </p:nvSpPr>
        <p:spPr>
          <a:xfrm>
            <a:off x="6565392" y="346100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135" name="Shape 133"/>
          <p:cNvSpPr/>
          <p:nvPr/>
        </p:nvSpPr>
        <p:spPr>
          <a:xfrm>
            <a:off x="8421624" y="3540214"/>
            <a:ext cx="22352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36" name="Text 134"/>
          <p:cNvSpPr txBox="1"/>
          <p:nvPr/>
        </p:nvSpPr>
        <p:spPr>
          <a:xfrm>
            <a:off x="8577072" y="346100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9363456" y="346100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10021824" y="346100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10735056" y="346100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3813048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3813048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421624" y="3892258"/>
            <a:ext cx="22352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43" name="Text 141"/>
          <p:cNvSpPr txBox="1"/>
          <p:nvPr/>
        </p:nvSpPr>
        <p:spPr>
          <a:xfrm>
            <a:off x="8577072" y="3813048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9363456" y="3813048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10021824" y="3813048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735056" y="3813048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165092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6565392" y="4165092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8421624" y="4244302"/>
            <a:ext cx="22352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50" name="Text 148"/>
          <p:cNvSpPr txBox="1"/>
          <p:nvPr/>
        </p:nvSpPr>
        <p:spPr>
          <a:xfrm>
            <a:off x="8577072" y="4165092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9363456" y="4165092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10021824" y="4165092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53" name="Text 151"/>
          <p:cNvSpPr txBox="1"/>
          <p:nvPr/>
        </p:nvSpPr>
        <p:spPr>
          <a:xfrm>
            <a:off x="10735056" y="4165092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6208776" y="4517136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6565392" y="4517136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8421624" y="4596346"/>
            <a:ext cx="22352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57" name="Text 155"/>
          <p:cNvSpPr txBox="1"/>
          <p:nvPr/>
        </p:nvSpPr>
        <p:spPr>
          <a:xfrm>
            <a:off x="8577072" y="4517136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9363456" y="4517136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10021824" y="4517136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10735056" y="4517136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6208776" y="4869180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62" name="Text 160"/>
          <p:cNvSpPr txBox="1"/>
          <p:nvPr/>
        </p:nvSpPr>
        <p:spPr>
          <a:xfrm>
            <a:off x="6565392" y="4869180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8421624" y="4948390"/>
            <a:ext cx="18288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64" name="Text 162"/>
          <p:cNvSpPr txBox="1"/>
          <p:nvPr/>
        </p:nvSpPr>
        <p:spPr>
          <a:xfrm>
            <a:off x="8577072" y="4869180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9363456" y="4869180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021824" y="4869180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10735056" y="4869180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6208776" y="5221224"/>
            <a:ext cx="310896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6565392" y="5221224"/>
            <a:ext cx="178308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8421624" y="5300434"/>
            <a:ext cx="18288" cy="193624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171" name="Text 169"/>
          <p:cNvSpPr txBox="1"/>
          <p:nvPr/>
        </p:nvSpPr>
        <p:spPr>
          <a:xfrm>
            <a:off x="8577072" y="5221224"/>
            <a:ext cx="786384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363456" y="5221224"/>
            <a:ext cx="65836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021824" y="5221224"/>
            <a:ext cx="71323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10735056" y="5221224"/>
            <a:ext cx="7315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p/>
        </p:txBody>
      </p:sp>
      <p:sp>
        <p:nvSpPr>
          <p:cNvPr id="177" name="Shape 17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178" name="Text 17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stores set 98 all-time monthly records in 2026.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1371600"/>
            <a:ext cx="5234940" cy="45720"/>
          </a:xfrm>
          <a:prstGeom prst="rect">
            <a:avLst/>
          </a:prstGeom>
          <a:solidFill>
            <a:srgbClr val="12A566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49808" y="1463040"/>
            <a:ext cx="45491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40" kern="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AND NET PROFIT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26380" y="14081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920240"/>
            <a:ext cx="252603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75838" y="1920240"/>
            <a:ext cx="252603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4476" y="1371600"/>
            <a:ext cx="2617470" cy="45720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85916" y="1463040"/>
            <a:ext cx="193167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4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PROFIT ONLY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93892" y="1371600"/>
            <a:ext cx="0" cy="45262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145018" y="14081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85916" y="1920240"/>
            <a:ext cx="243459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13114" y="1371600"/>
            <a:ext cx="2617470" cy="45720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004554" y="1463040"/>
            <a:ext cx="193167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spc="4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ONLY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12530" y="1371600"/>
            <a:ext cx="0" cy="452628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0963656" y="14081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004554" y="1920240"/>
            <a:ext cx="243459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stores set a January–September record in gross profit and 21 in net profit; 18 did both.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2026-10-29T04:52:04Z</dcterms:created>
  <dcterms:modified xsi:type="dcterms:W3CDTF">2026-10-29T04:52:04Z</dcterms:modified>
</cp:coreProperties>
</file>