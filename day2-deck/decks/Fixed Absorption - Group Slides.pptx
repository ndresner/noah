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40"/>
    <p:sldId id="290" r:id="rId41"/>
    <p:sldId id="291" r:id="rId42"/>
    <p:sldId id="292" r:id="rId43"/>
    <p:sldId id="293" r:id="rId44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810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74.8</c:v>
                </c:pt>
                <c:pt idx="1">
                  <c:v>74.5</c:v>
                </c:pt>
                <c:pt idx="2">
                  <c:v>78.5</c:v>
                </c:pt>
                <c:pt idx="3">
                  <c:v>79.6</c:v>
                </c:pt>
                <c:pt idx="4">
                  <c:v>75.4</c:v>
                </c:pt>
                <c:pt idx="5">
                  <c:v>79.2</c:v>
                </c:pt>
                <c:pt idx="6">
                  <c:v>83</c:v>
                </c:pt>
                <c:pt idx="7">
                  <c:v>79.9</c:v>
                </c:pt>
                <c:pt idx="8">
                  <c:v>77.6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90"/>
          <c:min val="65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>78.5</c:v>
                </c:pt>
                <c:pt idx="3">
                  <c:v>79.6</c:v>
                </c:pt>
                <c:pt idx="4">
                  <c:v/>
                </c:pt>
                <c:pt idx="5">
                  <c:v>79.2</c:v>
                </c:pt>
                <c:pt idx="6">
                  <c:v>83</c:v>
                </c:pt>
                <c:pt idx="7">
                  <c:v>79.9</c:v>
                </c:pt>
                <c:pt idx="8">
                  <c:v>77.6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90"/>
          <c:min val="65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74.8</c:v>
                </c:pt>
                <c:pt idx="1">
                  <c:v>74.5</c:v>
                </c:pt>
                <c:pt idx="2">
                  <c:v/>
                </c:pt>
                <c:pt idx="3">
                  <c:v/>
                </c:pt>
                <c:pt idx="4">
                  <c:v>75.4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90"/>
          <c:min val="65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77</c:v>
                </c:pt>
                <c:pt idx="1">
                  <c:v>75.1</c:v>
                </c:pt>
                <c:pt idx="2">
                  <c:v/>
                </c:pt>
                <c:pt idx="3">
                  <c:v/>
                </c:pt>
                <c:pt idx="4">
                  <c:v>76.9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82</c:v>
                </c:pt>
                <c:pt idx="10">
                  <c:v/>
                </c:pt>
                <c:pt idx="11">
                  <c:v>74.6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90"/>
          <c:min val="65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>74.1</c:v>
                </c:pt>
                <c:pt idx="3">
                  <c:v>76.3</c:v>
                </c:pt>
                <c:pt idx="4">
                  <c:v/>
                </c:pt>
                <c:pt idx="5">
                  <c:v>77.8</c:v>
                </c:pt>
                <c:pt idx="6">
                  <c:v>78.4</c:v>
                </c:pt>
                <c:pt idx="7">
                  <c:v>75.9</c:v>
                </c:pt>
                <c:pt idx="8">
                  <c:v>72.7</c:v>
                </c:pt>
                <c:pt idx="9">
                  <c:v/>
                </c:pt>
                <c:pt idx="10">
                  <c:v>73.4</c:v>
                </c:pt>
                <c:pt idx="11">
                  <c:v/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90"/>
          <c:min val="65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77</c:v>
                </c:pt>
                <c:pt idx="1">
                  <c:v>75.1</c:v>
                </c:pt>
                <c:pt idx="2">
                  <c:v>74.1</c:v>
                </c:pt>
                <c:pt idx="3">
                  <c:v>76.3</c:v>
                </c:pt>
                <c:pt idx="4">
                  <c:v>76.9</c:v>
                </c:pt>
                <c:pt idx="5">
                  <c:v>77.8</c:v>
                </c:pt>
                <c:pt idx="6">
                  <c:v>78.4</c:v>
                </c:pt>
                <c:pt idx="7">
                  <c:v>75.9</c:v>
                </c:pt>
                <c:pt idx="8">
                  <c:v>72.7</c:v>
                </c:pt>
                <c:pt idx="9">
                  <c:v>82</c:v>
                </c:pt>
                <c:pt idx="10">
                  <c:v>73.4</c:v>
                </c:pt>
                <c:pt idx="11">
                  <c:v>74.6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90"/>
          <c:min val="65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Profit &amp; Loss (GM statement), January-September 2026 vs 2025. Fixed ops absorption = total gross profit, fixed ops (service + parts) / total store fixed expenses. 33 stores (INEOS excluded, opened 2026); GMC Prescott includes its body shop, as on the P&amp;L.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Profit &amp; Loss (GM statement), January-September 2026 vs 2025. Fixed ops absorption = total gross profit, fixed ops (service + parts) / total store fixed expenses. 33 stores (INEOS excluded, opened 2026); GMC Prescott includes its body shop, as on the P&amp;L.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Profit &amp; Loss (GM statement), January-September 2026 vs 2025. Fixed ops absorption = total gross profit, fixed ops (service + parts) / total store fixed expenses. 33 stores (INEOS excluded, opened 2026); GMC Prescott includes its body shop, as on the P&amp;L.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Profit &amp; Loss (GM statement), January-September 2026 vs 2025. Fixed ops absorption = total gross profit, fixed ops (service + parts) / total store fixed expenses. 33 stores (INEOS excluded, opened 2026); GMC Prescott includes its body shop, as on the P&amp;L.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Profit &amp; Loss (GM statement), January-September 2026 vs 2025. Fixed ops absorption = total gross profit, fixed ops (service + parts) / total store fixed expenses. 33 stores (INEOS excluded, opened 2026); GMC Prescott includes its body shop, as on the P&amp;L.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4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Relationship Id="rId5" Type="http://schemas.openxmlformats.org/officeDocument/2006/relationships/chart" Target="../charts/chart27.xml"/><Relationship Id="rId6" Type="http://schemas.openxmlformats.org/officeDocument/2006/relationships/chart" Target="../charts/chart28.xml"/><Relationship Id="rId7" Type="http://schemas.openxmlformats.org/officeDocument/2006/relationships/chart" Target="../charts/chart29.xml"/><Relationship Id="rId8" Type="http://schemas.openxmlformats.org/officeDocument/2006/relationships/notesSlide" Target="../notesSlides/notesSlide3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PROFITABILITY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Absorption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2412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43584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absorption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÷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store fixed expenses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much of the dealership's fixed expenses are covered by parts and service gross profit.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2340864"/>
            <a:ext cx="46680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59152" y="2340864"/>
            <a:ext cx="4521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100%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covers every fixed expense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63740" y="2340864"/>
            <a:ext cx="46680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6892" y="2340864"/>
            <a:ext cx="4521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today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78.1%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4343400" cy="30815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2907792"/>
            <a:ext cx="6793992" cy="30815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0358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IN TOTAL STORE FIXED EXPENSES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3410712"/>
            <a:ext cx="39776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100%, the store covers its fixed costs before it sells a car.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protects the store when car sales slow.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the clearest measure of fixed ops' value to the dealership.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38928" y="3410712"/>
            <a:ext cx="45720" cy="1020803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66944" y="3410712"/>
            <a:ext cx="2962656" cy="102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Included: people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Salaries and wages, payroll taxes, benefits, PTO: every department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94192" y="3410712"/>
            <a:ext cx="45720" cy="1020803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22208" y="3410712"/>
            <a:ext cx="2962656" cy="102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Included: building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Rent, depreciation, property taxes, utilities, insurance, repairs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38928" y="4541243"/>
            <a:ext cx="45720" cy="12469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66944" y="4541243"/>
            <a:ext cx="2962656" cy="1246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Included: systems and other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DMS and IT, outside services, phones, training, supplies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94192" y="4541243"/>
            <a:ext cx="45720" cy="12469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22208" y="4541243"/>
            <a:ext cx="2962656" cy="1246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included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and F&amp;I commissions, delivery, floorplan interest, new and used vehicle advertising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Group: 78.1% absorption, up 2.1 pts. Fixed gross grew 4.1%; fixed expenses 1.3%.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PROFITABILITY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Absorption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YTD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76.0%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YTD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78.1%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+2.1 pts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+2.7%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11274552" cy="3666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45973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Absorption % by month, 2025 against 2026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2807208"/>
            <a:ext cx="10817352" cy="10973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17" name="Chart 0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Chart 1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9" name="Chart 2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0" name="Chart 3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1" name="Chart 4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2" name="Chart 5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3" name="Shape 15"/>
          <p:cNvSpPr/>
          <p:nvPr/>
        </p:nvSpPr>
        <p:spPr>
          <a:xfrm>
            <a:off x="4951476" y="3049524"/>
            <a:ext cx="310896" cy="4572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24" name="Shape 16"/>
          <p:cNvSpPr/>
          <p:nvPr/>
        </p:nvSpPr>
        <p:spPr>
          <a:xfrm>
            <a:off x="5052060" y="3017520"/>
            <a:ext cx="109728" cy="109728"/>
          </a:xfrm>
          <a:prstGeom prst="ellipse">
            <a:avLst/>
          </a:prstGeom>
          <a:solidFill>
            <a:srgbClr val="9AA3AD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5335524" y="2926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6185916" y="3049524"/>
            <a:ext cx="310896" cy="4572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7" name="Shape 19"/>
          <p:cNvSpPr/>
          <p:nvPr/>
        </p:nvSpPr>
        <p:spPr>
          <a:xfrm>
            <a:off x="6286500" y="3017520"/>
            <a:ext cx="109728" cy="109728"/>
          </a:xfrm>
          <a:prstGeom prst="ellipse">
            <a:avLst/>
          </a:prstGeom>
          <a:solidFill>
            <a:srgbClr val="2587C5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6569964" y="2926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457200" y="6126480"/>
            <a:ext cx="11274552" cy="36423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658368" y="6144768"/>
            <a:ext cx="109270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2.1 pts to 78.1%, ahead of 2025 in six of nine months. Fixed gross grew 4.1%; fixed expenses 1.3%.</a:t>
            </a:r>
            <a:endParaRPr lang="en-US" sz="1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PROFITABILITY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Absorption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735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ABSORPTION %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49980" y="1335024"/>
            <a:ext cx="43967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78.1%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08376" y="1907062"/>
            <a:ext cx="1691640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1847088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106.6%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08376" y="2146957"/>
            <a:ext cx="1625327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2086984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103.6%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08376" y="2386853"/>
            <a:ext cx="1406928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0" y="2326879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93.7%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08376" y="2626748"/>
            <a:ext cx="1323114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0" y="2566775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89.9%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08376" y="2866644"/>
            <a:ext cx="1271788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54880" y="2806670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87.6%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08376" y="3106540"/>
            <a:ext cx="1243905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754880" y="3046566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86.3%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08376" y="3346435"/>
            <a:ext cx="1238289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754880" y="3286461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86.1%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14984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08376" y="3586331"/>
            <a:ext cx="1236225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754880" y="3526357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86.0%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008376" y="3826226"/>
            <a:ext cx="1203167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754880" y="3766252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84.5%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008376" y="4066122"/>
            <a:ext cx="1188815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754880" y="4006148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83.8%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008376" y="4306017"/>
            <a:ext cx="1143609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754880" y="4246043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81.8%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14984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008376" y="4545913"/>
            <a:ext cx="1136929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754880" y="4485939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81.5%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58368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1014984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008376" y="4785808"/>
            <a:ext cx="1094886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4754880" y="4725834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79.6%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58368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1014984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008376" y="5025704"/>
            <a:ext cx="1073984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754880" y="4965730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78.6%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008376" y="5265599"/>
            <a:ext cx="1069793" cy="11994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754880" y="5205625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78.4%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1014984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008376" y="5505495"/>
            <a:ext cx="1044916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754880" y="5445521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77.3%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658368" y="568541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1014984" y="568541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008376" y="5745390"/>
            <a:ext cx="1007984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754880" y="5685416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75.6%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6208776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565392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8558784" y="1907062"/>
            <a:ext cx="1007915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305288" y="1847088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75.6%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6208776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565392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558784" y="2146957"/>
            <a:ext cx="979751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305288" y="2086984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74.4%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208776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565392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558784" y="2386853"/>
            <a:ext cx="956432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305288" y="2326879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73.3%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565392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558784" y="2626748"/>
            <a:ext cx="897553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0305288" y="2566775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70.6%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208776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565392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558784" y="2866644"/>
            <a:ext cx="890311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10305288" y="2806670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70.3%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6208776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565392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8558784" y="3106540"/>
            <a:ext cx="883510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305288" y="3046566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70.0%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208776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565392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8558784" y="3346435"/>
            <a:ext cx="860120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0305288" y="3286461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68.9%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565392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8558784" y="3586331"/>
            <a:ext cx="791399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10305288" y="3526357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65.8%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208776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565392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558784" y="3826226"/>
            <a:ext cx="774373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10305288" y="3766252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65.1%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565392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8558784" y="4066122"/>
            <a:ext cx="743729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10305288" y="4006148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63.7%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6208776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565392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8558784" y="4306017"/>
            <a:ext cx="730224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10305288" y="4246043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63.1%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208776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6565392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8558784" y="4545913"/>
            <a:ext cx="660247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10305288" y="4485939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59.9%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565392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8558784" y="4785808"/>
            <a:ext cx="601492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10305288" y="4725834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57.2%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208776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565392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8558784" y="5025704"/>
            <a:ext cx="531644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10305288" y="4965730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54.1%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565392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8558784" y="5265599"/>
            <a:ext cx="471852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10305288" y="5205625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51.4%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6208776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6565392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8558784" y="5505495"/>
            <a:ext cx="358005" cy="11994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10305288" y="5445521"/>
            <a:ext cx="114300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46.2%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4063635" y="1847088"/>
            <a:ext cx="14630" cy="40782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614043" y="1847088"/>
            <a:ext cx="14630" cy="40782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5" name="Shape 143"/>
          <p:cNvSpPr/>
          <p:nvPr/>
        </p:nvSpPr>
        <p:spPr>
          <a:xfrm>
            <a:off x="6085332" y="1847088"/>
            <a:ext cx="10973" cy="407822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7" name="Shape 144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of 33 stores at or above the 78.1% group.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PROFITABILITY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Absorption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735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ABSORPTION %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49980" y="1335024"/>
            <a:ext cx="43967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YEAR-OVER-YEAR CHANGE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+2.1 pts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85616" y="1911860"/>
            <a:ext cx="719170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184708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+16.1 pts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85616" y="2151755"/>
            <a:ext cx="428822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7720" y="208698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+9.6 pts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85616" y="2391651"/>
            <a:ext cx="424355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17720" y="232687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+9.5 pts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85616" y="2631546"/>
            <a:ext cx="25014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256677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+5.6 pts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85616" y="2871442"/>
            <a:ext cx="241212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17720" y="280667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+5.4 pts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785616" y="3111337"/>
            <a:ext cx="23674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17720" y="3046566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+5.3 pts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785616" y="3351233"/>
            <a:ext cx="232279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617720" y="328646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+5.2 pts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14984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785616" y="3591128"/>
            <a:ext cx="232279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617720" y="3526357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+5.2 pts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785616" y="3831024"/>
            <a:ext cx="227812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617720" y="3766252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+5.1 pts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785616" y="4070920"/>
            <a:ext cx="223345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617720" y="400614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+5.0 pts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785616" y="4310815"/>
            <a:ext cx="218878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617720" y="4246043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+4.9 pts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14984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785616" y="4550711"/>
            <a:ext cx="214411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617720" y="448593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+4.8 pts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58368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1014984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785616" y="4790606"/>
            <a:ext cx="178676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4617720" y="472583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+4.0 pts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58368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1014984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785616" y="5030502"/>
            <a:ext cx="174209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617720" y="496573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785616" y="5270397"/>
            <a:ext cx="174209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617720" y="520562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1014984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785616" y="5510293"/>
            <a:ext cx="147408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617720" y="544552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+3.3 pts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658368" y="568541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1014984" y="568541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785616" y="5750188"/>
            <a:ext cx="142941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617720" y="5685416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+3.2 pts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6208776" y="184708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565392" y="184708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9336024" y="1911860"/>
            <a:ext cx="111672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168128" y="184708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+2.5 pts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6208776" y="208698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565392" y="208698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9336024" y="2151755"/>
            <a:ext cx="75937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168128" y="208698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+1.7 pts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208776" y="232687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565392" y="232687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9336024" y="2391651"/>
            <a:ext cx="71470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168128" y="232687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+1.6 pts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256677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565392" y="256677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9336024" y="2631546"/>
            <a:ext cx="26801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0168128" y="256677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+0.6 pts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208776" y="280667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565392" y="280667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9336024" y="2871442"/>
            <a:ext cx="13401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10168128" y="280667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+0.3 pts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6208776" y="3046566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565392" y="3046566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9336024" y="3111337"/>
            <a:ext cx="12802" cy="11035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168128" y="3046566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+0.1 pts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208776" y="328646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565392" y="328646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9331557" y="3351233"/>
            <a:ext cx="12802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0168128" y="328646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−0.1 pts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3526357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565392" y="3526357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9331557" y="3591128"/>
            <a:ext cx="12802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10168128" y="3526357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−0.1 pts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208776" y="3766252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565392" y="3766252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9327090" y="3831024"/>
            <a:ext cx="12802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10168128" y="3766252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−0.2 pts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4006148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565392" y="4006148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9286888" y="4070920"/>
            <a:ext cx="49136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10168128" y="4006148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−1.1 pts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6208776" y="4246043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565392" y="4246043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9286888" y="4310815"/>
            <a:ext cx="49136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10168128" y="4246043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−1.1 pts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208776" y="4485939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6565392" y="4485939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9233285" y="4550711"/>
            <a:ext cx="102739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10168128" y="4485939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−2.3 pts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4725834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565392" y="4725834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9063543" y="4790606"/>
            <a:ext cx="272481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10168128" y="4725834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−6.1 pts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208776" y="4965730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565392" y="4965730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8902735" y="5030502"/>
            <a:ext cx="433289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10168128" y="4965730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−9.7 pts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5205625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565392" y="5205625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8884867" y="5270397"/>
            <a:ext cx="451157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10168128" y="5205625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−10.1 pts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6208776" y="5445521"/>
            <a:ext cx="310896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6565392" y="5445521"/>
            <a:ext cx="19202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8558784" y="5510293"/>
            <a:ext cx="777240" cy="11035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10168128" y="5445521"/>
            <a:ext cx="1234440" cy="2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−17.4 pts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3780130" y="1847088"/>
            <a:ext cx="10973" cy="407822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330538" y="1847088"/>
            <a:ext cx="10973" cy="407822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5" name="Shape 143"/>
          <p:cNvSpPr/>
          <p:nvPr/>
        </p:nvSpPr>
        <p:spPr>
          <a:xfrm>
            <a:off x="6085332" y="1847088"/>
            <a:ext cx="10973" cy="407822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7" name="Shape 144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of 33 stores raised absorption. 10 declined.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PROFITABILITY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Absorption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71600"/>
            <a:ext cx="348996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444752"/>
            <a:ext cx="330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 VS LAST YEAR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737360"/>
            <a:ext cx="330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Jan–Sep, this year vs last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103120"/>
            <a:ext cx="3489960" cy="82844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103120"/>
            <a:ext cx="3657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103120"/>
            <a:ext cx="1825752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43.8%  →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59.9%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41320" y="2103120"/>
            <a:ext cx="1115568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+16.1 pts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931566"/>
            <a:ext cx="3657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931566"/>
            <a:ext cx="1825752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76.5%  →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86.1%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41320" y="2931566"/>
            <a:ext cx="1115568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+9.6 pts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3760013"/>
            <a:ext cx="3489960" cy="82844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4084320" y="3796589"/>
            <a:ext cx="64008" cy="75529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3760013"/>
            <a:ext cx="3657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760013"/>
            <a:ext cx="1825752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67.8%  →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77.3%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941320" y="3760013"/>
            <a:ext cx="1115568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+9.5 pts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588459"/>
            <a:ext cx="3657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588459"/>
            <a:ext cx="1825752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72.8%  →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78.4%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941320" y="4588459"/>
            <a:ext cx="1115568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+5.6 pts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" y="5416906"/>
            <a:ext cx="3489960" cy="82844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" y="5416906"/>
            <a:ext cx="3657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416906"/>
            <a:ext cx="1825752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70.2%  →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75.6%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941320" y="5416906"/>
            <a:ext cx="1115568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+5.4 pts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49496" y="1371600"/>
            <a:ext cx="3489960" cy="4572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40936" y="1444752"/>
            <a:ext cx="330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 5 VS LAST YEAR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440936" y="1737360"/>
            <a:ext cx="330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Jan–Sep, this year vs last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49496" y="2103120"/>
            <a:ext cx="3489960" cy="82844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440936" y="2103120"/>
            <a:ext cx="3657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788408" y="2103120"/>
            <a:ext cx="1825752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71.5%  →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54.1%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632448" y="2103120"/>
            <a:ext cx="1115568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−17.4 pts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775448" y="2968142"/>
            <a:ext cx="64008" cy="75529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440936" y="2931566"/>
            <a:ext cx="3657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788408" y="2931566"/>
            <a:ext cx="1825752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75.9%  →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65.8%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632448" y="2931566"/>
            <a:ext cx="1115568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−10.1 pts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349496" y="3760013"/>
            <a:ext cx="3489960" cy="82844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440936" y="3760013"/>
            <a:ext cx="3657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4788408" y="3760013"/>
            <a:ext cx="1825752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93.5%  →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83.8%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632448" y="3760013"/>
            <a:ext cx="1115568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−9.7 pts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4440936" y="4588459"/>
            <a:ext cx="3657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4788408" y="4588459"/>
            <a:ext cx="1825752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109.7%  →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103.6%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632448" y="4588459"/>
            <a:ext cx="1115568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−6.1 pts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49496" y="5416906"/>
            <a:ext cx="3489960" cy="82844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40936" y="5416906"/>
            <a:ext cx="3657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4788408" y="5416906"/>
            <a:ext cx="1825752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65.4%  →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63.1%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6632448" y="5416906"/>
            <a:ext cx="1115568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−2.3 pts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040624" y="1371600"/>
            <a:ext cx="3489960" cy="4572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132064" y="1444752"/>
            <a:ext cx="330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 MOVING NOW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8132064" y="1737360"/>
            <a:ext cx="330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vs Q1, this year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040624" y="2103120"/>
            <a:ext cx="3489960" cy="82844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132064" y="2103120"/>
            <a:ext cx="3657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8479536" y="2103120"/>
            <a:ext cx="1825752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66.7%  →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82.9%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323576" y="2103120"/>
            <a:ext cx="1115568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+16.2 pts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466576" y="2968142"/>
            <a:ext cx="64008" cy="75529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132064" y="2931566"/>
            <a:ext cx="3657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8479536" y="2931566"/>
            <a:ext cx="1825752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69.5%  →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84.8%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10323576" y="2931566"/>
            <a:ext cx="1115568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+15.3 pts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040624" y="3760013"/>
            <a:ext cx="3489960" cy="82844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Shape 60"/>
          <p:cNvSpPr/>
          <p:nvPr/>
        </p:nvSpPr>
        <p:spPr>
          <a:xfrm>
            <a:off x="11466576" y="3796589"/>
            <a:ext cx="64008" cy="75529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132064" y="3760013"/>
            <a:ext cx="3657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64" name="Text 62"/>
          <p:cNvSpPr txBox="1"/>
          <p:nvPr/>
        </p:nvSpPr>
        <p:spPr>
          <a:xfrm>
            <a:off x="8479536" y="3760013"/>
            <a:ext cx="1825752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62.0%  →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73.1%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10323576" y="3760013"/>
            <a:ext cx="1115568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+11.1 pts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8132064" y="4588459"/>
            <a:ext cx="3657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67" name="Text 65"/>
          <p:cNvSpPr txBox="1"/>
          <p:nvPr/>
        </p:nvSpPr>
        <p:spPr>
          <a:xfrm>
            <a:off x="8479536" y="4588459"/>
            <a:ext cx="1825752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83.6%  →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94.4%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10323576" y="4588459"/>
            <a:ext cx="1115568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+10.8 pts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040624" y="5416906"/>
            <a:ext cx="3489960" cy="82844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132064" y="5416906"/>
            <a:ext cx="3657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71" name="Text 69"/>
          <p:cNvSpPr txBox="1"/>
          <p:nvPr/>
        </p:nvSpPr>
        <p:spPr>
          <a:xfrm>
            <a:off x="8479536" y="5416906"/>
            <a:ext cx="1825752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74.2%  →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84.2%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10323576" y="5416906"/>
            <a:ext cx="1115568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+10.0 pts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2026-10-28T18:18:10Z</dcterms:created>
  <dcterms:modified xsi:type="dcterms:W3CDTF">2026-10-28T18:18:10Z</dcterms:modified>
</cp:coreProperties>
</file>