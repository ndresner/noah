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9" r:id="rId40"/>
    <p:sldId id="290" r:id="rId41"/>
    <p:sldId id="291" r:id="rId42"/>
    <p:sldId id="292" r:id="rId43"/>
    <p:sldId id="293" r:id="rId44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74.5</c:v>
                </c:pt>
                <c:pt idx="1">
                  <c:v>74.2</c:v>
                </c:pt>
                <c:pt idx="2">
                  <c:v>78.2</c:v>
                </c:pt>
                <c:pt idx="3">
                  <c:v>79.2</c:v>
                </c:pt>
                <c:pt idx="4">
                  <c:v>75.2</c:v>
                </c:pt>
                <c:pt idx="5">
                  <c:v>79</c:v>
                </c:pt>
                <c:pt idx="6">
                  <c:v>82.9</c:v>
                </c:pt>
                <c:pt idx="7">
                  <c:v>79.8</c:v>
                </c:pt>
                <c:pt idx="8">
                  <c:v>77.5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0"/>
          <c:min val="6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78.2</c:v>
                </c:pt>
                <c:pt idx="3">
                  <c:v>79.2</c:v>
                </c:pt>
                <c:pt idx="4">
                  <c:v/>
                </c:pt>
                <c:pt idx="5">
                  <c:v>79</c:v>
                </c:pt>
                <c:pt idx="6">
                  <c:v>82.9</c:v>
                </c:pt>
                <c:pt idx="7">
                  <c:v>79.8</c:v>
                </c:pt>
                <c:pt idx="8">
                  <c:v>77.5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0"/>
          <c:min val="6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74.5</c:v>
                </c:pt>
                <c:pt idx="1">
                  <c:v>74.2</c:v>
                </c:pt>
                <c:pt idx="2">
                  <c:v/>
                </c:pt>
                <c:pt idx="3">
                  <c:v/>
                </c:pt>
                <c:pt idx="4">
                  <c:v>75.2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0"/>
          <c:min val="6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76.9</c:v>
                </c:pt>
                <c:pt idx="1">
                  <c:v>74.9</c:v>
                </c:pt>
                <c:pt idx="2">
                  <c:v/>
                </c:pt>
                <c:pt idx="3">
                  <c:v/>
                </c:pt>
                <c:pt idx="4">
                  <c:v>76.7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81.6</c:v>
                </c:pt>
                <c:pt idx="10">
                  <c:v/>
                </c:pt>
                <c:pt idx="11">
                  <c:v>74.5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0"/>
          <c:min val="6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74</c:v>
                </c:pt>
                <c:pt idx="3">
                  <c:v>76</c:v>
                </c:pt>
                <c:pt idx="4">
                  <c:v/>
                </c:pt>
                <c:pt idx="5">
                  <c:v>77.6</c:v>
                </c:pt>
                <c:pt idx="6">
                  <c:v>78.2</c:v>
                </c:pt>
                <c:pt idx="7">
                  <c:v>75.6</c:v>
                </c:pt>
                <c:pt idx="8">
                  <c:v>72.4</c:v>
                </c:pt>
                <c:pt idx="9">
                  <c:v/>
                </c:pt>
                <c:pt idx="10">
                  <c:v>73.1</c:v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0"/>
          <c:min val="6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76.9</c:v>
                </c:pt>
                <c:pt idx="1">
                  <c:v>74.9</c:v>
                </c:pt>
                <c:pt idx="2">
                  <c:v>74</c:v>
                </c:pt>
                <c:pt idx="3">
                  <c:v>76</c:v>
                </c:pt>
                <c:pt idx="4">
                  <c:v>76.7</c:v>
                </c:pt>
                <c:pt idx="5">
                  <c:v>77.6</c:v>
                </c:pt>
                <c:pt idx="6">
                  <c:v>78.2</c:v>
                </c:pt>
                <c:pt idx="7">
                  <c:v>75.6</c:v>
                </c:pt>
                <c:pt idx="8">
                  <c:v>72.4</c:v>
                </c:pt>
                <c:pt idx="9">
                  <c:v>81.6</c:v>
                </c:pt>
                <c:pt idx="10">
                  <c:v>73.1</c:v>
                </c:pt>
                <c:pt idx="11">
                  <c:v>74.5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0"/>
          <c:min val="6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Qlik - Profit &amp; Loss (GM statement), January-September 2026 vs 2025. Fixed ops absorption = total gross profit, fixed ops (service + parts) / total store fixed expenses. 33 stores (INEOS excluded, opened 2026); GMC Prescott body shop excluded from both gross and fixed expenses.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Qlik - Profit &amp; Loss (GM statement), January-September 2026 vs 2025. Fixed ops absorption = total gross profit, fixed ops (service + parts) / total store fixed expenses. 33 stores (INEOS excluded, opened 2026); GMC Prescott body shop excluded from both gross and fixed expenses.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Qlik - Profit &amp; Loss (GM statement), January-September 2026 vs 2025. Fixed ops absorption = total gross profit, fixed ops (service + parts) / total store fixed expenses. 33 stores (INEOS excluded, opened 2026); GMC Prescott body shop excluded from both gross and fixed expenses.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Qlik - Profit &amp; Loss (GM statement), January-September 2026 vs 2025. Fixed ops absorption = total gross profit, fixed ops (service + parts) / total store fixed expenses. 33 stores (INEOS excluded, opened 2026); GMC Prescott body shop excluded from both gross and fixed expenses.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Qlik - Profit &amp; Loss (GM statement), January-September 2026 vs 2025. Fixed ops absorption = total gross profit, fixed ops (service + parts) / total store fixed expenses. 33 stores (INEOS excluded, opened 2026); GMC Prescott body shop excluded from both gross and fixed expenses.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Relationship Id="rId6" Type="http://schemas.openxmlformats.org/officeDocument/2006/relationships/chart" Target="../charts/chart28.xml"/><Relationship Id="rId7" Type="http://schemas.openxmlformats.org/officeDocument/2006/relationships/chart" Target="../charts/chart29.xml"/><Relationship Id="rId8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PROFITABILITY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2412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4358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  </a:t>
            </a:r>
            <a:pPr indent="0" marL="0">
              <a:buNone/>
            </a:pPr>
            <a:r>
              <a:rPr lang="en-US" sz="24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 </a:t>
            </a:r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 </a:t>
            </a:r>
            <a:pPr indent="0" marL="0">
              <a:buNone/>
            </a:pPr>
            <a:r>
              <a:rPr lang="en-US" sz="24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÷  </a:t>
            </a:r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store fixed expenses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of the dealership's fixed expenses are covered by parts and service gross profit.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340864"/>
            <a:ext cx="466801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2340864"/>
            <a:ext cx="4521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100%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covers every fixed expense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63740" y="2340864"/>
            <a:ext cx="466801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6892" y="2340864"/>
            <a:ext cx="4521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today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07792"/>
            <a:ext cx="4343400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4937760" y="2907792"/>
            <a:ext cx="6793992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303580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IN TOTAL STORE FIXED EXPENSES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410712"/>
            <a:ext cx="3977640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100%, the store covers its fixed costs before it sells a car.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protects the store when car sales slow.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the clearest measure of fixed ops' value to the dealership.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138928" y="3410712"/>
            <a:ext cx="45720" cy="1020803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66944" y="3410712"/>
            <a:ext cx="2962656" cy="102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Included: people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Salaries and wages, payroll taxes, benefits, PTO: every department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94192" y="3410712"/>
            <a:ext cx="45720" cy="1020803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22208" y="3410712"/>
            <a:ext cx="2962656" cy="102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Included: building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Rent, depreciation, property taxes, utilities, insurance, repairs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38928" y="4541243"/>
            <a:ext cx="45720" cy="12469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266944" y="4541243"/>
            <a:ext cx="2962656" cy="1246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Included: systems and other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DMS and IT, outside services, phones, training, supplies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4192" y="4541243"/>
            <a:ext cx="45720" cy="12469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22208" y="4541243"/>
            <a:ext cx="2962656" cy="1246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included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and F&amp;I commissions, delivery, floorplan interest, new and used vehicle advertising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Group: 77.9% absorption, up 2.1 pts. Fixed gross grew 4.1%; fixed expenses 1.4%.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PROFITABILITY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+2.7%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2.1 pts to 77.9%, ahead of 2025 in six of nine months. Fixed gross grew 4.1%; fixed expenses 1.4%.</a:t>
            </a:r>
            <a:endParaRPr lang="en-US" sz="15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PROFITABILITY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735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49980" y="1335024"/>
            <a:ext cx="43967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2532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069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3231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717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24390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2382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23622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20316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8881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4360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369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9488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7398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6979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449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0079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975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564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89755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9031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835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86012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9139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7437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437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30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9829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61.6%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66024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6014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53164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4718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3580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590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094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7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of 33 stores at or above the 77.9% group.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PROFITABILITY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735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49980" y="1335024"/>
            <a:ext cx="43967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191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4288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424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501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456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+5.5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36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+5.3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322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322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781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33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88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4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786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4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74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47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29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1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759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714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2680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+0.6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340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1557" y="3351233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1557" y="3591128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27090" y="3831024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86888" y="4070920"/>
            <a:ext cx="491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86888" y="4310815"/>
            <a:ext cx="491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33285" y="4550711"/>
            <a:ext cx="10273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3543" y="4790606"/>
            <a:ext cx="272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02735" y="5030502"/>
            <a:ext cx="43328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84867" y="5270397"/>
            <a:ext cx="45115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7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raised absorption. 10 declined.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PROFITABILITY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348996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444752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 VS LAST YEAR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3736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Jan–Sep, this year vs last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2103120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808" y="2103120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03120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41320" y="2103120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931566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31566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76.5%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41320" y="2931566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58368" y="3760013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084320" y="3796589"/>
            <a:ext cx="64008" cy="75529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3760013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760013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41320" y="3760013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588459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588459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72.8%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941320" y="4588459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5416906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" y="5416906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5416906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56.1%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61.6%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41320" y="5416906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+5.5 pts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49496" y="1371600"/>
            <a:ext cx="3489960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40936" y="1444752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 VS LAST YEAR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40936" y="173736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Jan–Sep, this year vs last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349496" y="2103120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40936" y="2103120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788408" y="2103120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71.5%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632448" y="2103120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775448" y="2968142"/>
            <a:ext cx="64008" cy="75529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440936" y="2931566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788408" y="2931566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75.9%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632448" y="2931566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49496" y="3760013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440936" y="3760013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4788408" y="3760013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93.5%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632448" y="3760013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4440936" y="4588459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788408" y="4588459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109.7%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632448" y="4588459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349496" y="5416906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40936" y="5416906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4788408" y="5416906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65.4%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6632448" y="5416906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040624" y="1371600"/>
            <a:ext cx="348996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32064" y="1444752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 MOVING NOW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132064" y="173736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 vs Q1, this year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040624" y="2103120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132064" y="2103120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479536" y="2103120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66.7%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323576" y="2103120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+16.2 pts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1466576" y="2968142"/>
            <a:ext cx="64008" cy="75529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132064" y="2931566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479536" y="2931566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69.5%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323576" y="2931566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+15.3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040624" y="3760013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Shape 60"/>
          <p:cNvSpPr/>
          <p:nvPr/>
        </p:nvSpPr>
        <p:spPr>
          <a:xfrm>
            <a:off x="11466576" y="3796589"/>
            <a:ext cx="64008" cy="75529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132064" y="3760013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8479536" y="3760013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62.0%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323576" y="3760013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+11.1 pts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8132064" y="4588459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8479536" y="4588459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83.6%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94.4%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323576" y="4588459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+10.8 pts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8040624" y="5416906"/>
            <a:ext cx="3489960" cy="82844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132064" y="5416906"/>
            <a:ext cx="3657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8479536" y="5416906"/>
            <a:ext cx="1825752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  →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84.2%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323576" y="5416906"/>
            <a:ext cx="1115568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+10.0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2026-10-28T15:29:21Z</dcterms:created>
  <dcterms:modified xsi:type="dcterms:W3CDTF">2026-10-28T15:29:21Z</dcterms:modified>
</cp:coreProperties>
</file>