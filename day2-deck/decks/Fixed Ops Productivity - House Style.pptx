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18.xml" ContentType="application/vnd.openxmlformats-officedocument.drawingml.chart+xml"/>
  <Override PartName="/ppt/charts/chart19.xml" ContentType="application/vnd.openxmlformats-officedocument.drawingml.chart+xml"/>
  <Override PartName="/ppt/charts/chart20.xml" ContentType="application/vnd.openxmlformats-officedocument.drawingml.chart+xml"/>
  <Override PartName="/ppt/charts/chart21.xml" ContentType="application/vnd.openxmlformats-officedocument.drawingml.chart+xml"/>
  <Override PartName="/ppt/charts/chart22.xml" ContentType="application/vnd.openxmlformats-officedocument.drawingml.chart+xml"/>
  <Override PartName="/ppt/charts/chart23.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charts/chart24.xml" ContentType="application/vnd.openxmlformats-officedocument.drawingml.chart+xml"/>
  <Override PartName="/ppt/charts/chart25.xml" ContentType="application/vnd.openxmlformats-officedocument.drawingml.chart+xml"/>
  <Override PartName="/ppt/charts/chart26.xml" ContentType="application/vnd.openxmlformats-officedocument.drawingml.chart+xml"/>
  <Override PartName="/ppt/charts/chart27.xml" ContentType="application/vnd.openxmlformats-officedocument.drawingml.chart+xml"/>
  <Override PartName="/ppt/charts/chart28.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Relationships xmlns="http://schemas.openxmlformats.org/package/2006/relationships"><Relationship Id="rId1" Type="http://schemas.openxmlformats.org/officeDocument/2006/relationships/package" Target="../embeddings/Microsoft_Excel_Worksheet24.xlsx"/></Relationships>
</file>

<file path=ppt/charts/_rels/chart25.xml.rels><?xml version="1.0" encoding="UTF-8" standalone="yes"?><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Relationships xmlns="http://schemas.openxmlformats.org/package/2006/relationships"><Relationship Id="rId1" Type="http://schemas.openxmlformats.org/officeDocument/2006/relationships/package" Target="../embeddings/Microsoft_Excel_Worksheet26.xlsx"/></Relationships>
</file>

<file path=ppt/charts/_rels/chart27.xml.rels><?xml version="1.0" encoding="UTF-8" standalone="yes"?><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Relationships xmlns="http://schemas.openxmlformats.org/package/2006/relationships"><Relationship Id="rId1" Type="http://schemas.openxmlformats.org/officeDocument/2006/relationships/package" Target="../embeddings/Microsoft_Excel_Worksheet28.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12996</c:v>
                </c:pt>
                <c:pt idx="1">
                  <c:v>12334</c:v>
                </c:pt>
                <c:pt idx="2">
                  <c:v>13714</c:v>
                </c:pt>
                <c:pt idx="3">
                  <c:v>14108</c:v>
                </c:pt>
                <c:pt idx="4">
                  <c:v>13092</c:v>
                </c:pt>
                <c:pt idx="5">
                  <c:v>13919</c:v>
                </c:pt>
                <c:pt idx="6">
                  <c:v>14673</c:v>
                </c:pt>
                <c:pt idx="7">
                  <c:v>13972</c:v>
                </c:pt>
                <c:pt idx="8">
                  <c:v>13721</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12996</c:v>
                </c:pt>
                <c:pt idx="1">
                  <c:v>12334</c:v>
                </c:pt>
                <c:pt idx="2">
                  <c:v>13714</c:v>
                </c:pt>
                <c:pt idx="3">
                  <c:v>14108</c:v>
                </c:pt>
                <c:pt idx="4">
                  <c:v>13092</c:v>
                </c:pt>
                <c:pt idx="5">
                  <c:v>13919</c:v>
                </c:pt>
                <c:pt idx="6">
                  <c:v>14673</c:v>
                </c:pt>
                <c:pt idx="7">
                  <c:v>13972</c:v>
                </c:pt>
                <c:pt idx="8">
                  <c:v>13721</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13262</c:v>
                </c:pt>
                <c:pt idx="10">
                  <c:v/>
                </c:pt>
                <c:pt idx="11">
                  <c:v>12359</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12592</c:v>
                </c:pt>
                <c:pt idx="1">
                  <c:v>11705</c:v>
                </c:pt>
                <c:pt idx="2">
                  <c:v>12397</c:v>
                </c:pt>
                <c:pt idx="3">
                  <c:v>12913</c:v>
                </c:pt>
                <c:pt idx="4">
                  <c:v>12494</c:v>
                </c:pt>
                <c:pt idx="5">
                  <c:v>12584</c:v>
                </c:pt>
                <c:pt idx="6">
                  <c:v>12740</c:v>
                </c:pt>
                <c:pt idx="7">
                  <c:v>12488</c:v>
                </c:pt>
                <c:pt idx="8">
                  <c:v>11778</c:v>
                </c:pt>
                <c:pt idx="9">
                  <c:v/>
                </c:pt>
                <c:pt idx="10">
                  <c:v>11216</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12592</c:v>
                </c:pt>
                <c:pt idx="1">
                  <c:v>11705</c:v>
                </c:pt>
                <c:pt idx="2">
                  <c:v>12397</c:v>
                </c:pt>
                <c:pt idx="3">
                  <c:v>12913</c:v>
                </c:pt>
                <c:pt idx="4">
                  <c:v>12494</c:v>
                </c:pt>
                <c:pt idx="5">
                  <c:v>12584</c:v>
                </c:pt>
                <c:pt idx="6">
                  <c:v>12740</c:v>
                </c:pt>
                <c:pt idx="7">
                  <c:v>12488</c:v>
                </c:pt>
                <c:pt idx="8">
                  <c:v>11778</c:v>
                </c:pt>
                <c:pt idx="9">
                  <c:v>13262</c:v>
                </c:pt>
                <c:pt idx="10">
                  <c:v>11216</c:v>
                </c:pt>
                <c:pt idx="11">
                  <c:v>12359</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165.0483870967742</c:v>
                </c:pt>
                <c:pt idx="1">
                  <c:v>148.57142857142858</c:v>
                </c:pt>
                <c:pt idx="2">
                  <c:v>165.3531746031746</c:v>
                </c:pt>
                <c:pt idx="3">
                  <c:v>163.812</c:v>
                </c:pt>
                <c:pt idx="4">
                  <c:v>157.87007874015748</c:v>
                </c:pt>
                <c:pt idx="5">
                  <c:v>171.412</c:v>
                </c:pt>
                <c:pt idx="6">
                  <c:v>174.588</c:v>
                </c:pt>
                <c:pt idx="7">
                  <c:v>176.49180327868854</c:v>
                </c:pt>
                <c:pt idx="8">
                  <c:v>172.46058091286307</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171.412</c:v>
                </c:pt>
                <c:pt idx="6">
                  <c:v/>
                </c:pt>
                <c:pt idx="7">
                  <c:v>176.49180327868854</c:v>
                </c:pt>
                <c:pt idx="8">
                  <c:v>172.46058091286307</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165.0483870967742</c:v>
                </c:pt>
                <c:pt idx="1">
                  <c:v>148.57142857142858</c:v>
                </c:pt>
                <c:pt idx="2">
                  <c:v>165.3531746031746</c:v>
                </c:pt>
                <c:pt idx="3">
                  <c:v>163.812</c:v>
                </c:pt>
                <c:pt idx="4">
                  <c:v>157.87007874015748</c:v>
                </c:pt>
                <c:pt idx="5">
                  <c:v/>
                </c:pt>
                <c:pt idx="6">
                  <c:v>174.588</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181.76470588235293</c:v>
                </c:pt>
                <c:pt idx="1">
                  <c:v>167.49789029535864</c:v>
                </c:pt>
                <c:pt idx="2">
                  <c:v>178.79166666666666</c:v>
                </c:pt>
                <c:pt idx="3">
                  <c:v>176.42561983471074</c:v>
                </c:pt>
                <c:pt idx="4">
                  <c:v>169.248</c:v>
                </c:pt>
                <c:pt idx="5">
                  <c:v/>
                </c:pt>
                <c:pt idx="6">
                  <c:v>177.77732793522267</c:v>
                </c:pt>
                <c:pt idx="7">
                  <c:v/>
                </c:pt>
                <c:pt idx="8">
                  <c:v/>
                </c:pt>
                <c:pt idx="9">
                  <c:v>173.3413654618474</c:v>
                </c:pt>
                <c:pt idx="10">
                  <c:v/>
                </c:pt>
                <c:pt idx="11">
                  <c:v>159.43373493975903</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171.10526315789474</c:v>
                </c:pt>
                <c:pt idx="6">
                  <c:v/>
                </c:pt>
                <c:pt idx="7">
                  <c:v>171.31075697211156</c:v>
                </c:pt>
                <c:pt idx="8">
                  <c:v>160.78225806451613</c:v>
                </c:pt>
                <c:pt idx="9">
                  <c:v/>
                </c:pt>
                <c:pt idx="10">
                  <c:v>152.834008097166</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181.76470588235293</c:v>
                </c:pt>
                <c:pt idx="1">
                  <c:v>167.49789029535864</c:v>
                </c:pt>
                <c:pt idx="2">
                  <c:v>178.79166666666666</c:v>
                </c:pt>
                <c:pt idx="3">
                  <c:v>176.42561983471074</c:v>
                </c:pt>
                <c:pt idx="4">
                  <c:v>169.248</c:v>
                </c:pt>
                <c:pt idx="5">
                  <c:v>171.10526315789474</c:v>
                </c:pt>
                <c:pt idx="6">
                  <c:v>177.77732793522267</c:v>
                </c:pt>
                <c:pt idx="7">
                  <c:v>171.31075697211156</c:v>
                </c:pt>
                <c:pt idx="8">
                  <c:v>160.78225806451613</c:v>
                </c:pt>
                <c:pt idx="9">
                  <c:v>173.3413654618474</c:v>
                </c:pt>
                <c:pt idx="10">
                  <c:v>152.834008097166</c:v>
                </c:pt>
                <c:pt idx="11">
                  <c:v>159.43373493975903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26.75294117647059</c:v>
                </c:pt>
                <c:pt idx="1">
                  <c:v>23.790849673202615</c:v>
                </c:pt>
                <c:pt idx="2">
                  <c:v>27.057792207792208</c:v>
                </c:pt>
                <c:pt idx="3">
                  <c:v>26.506796116504855</c:v>
                </c:pt>
                <c:pt idx="4">
                  <c:v>26.089134677944045</c:v>
                </c:pt>
                <c:pt idx="5">
                  <c:v>27.71862871927555</c:v>
                </c:pt>
                <c:pt idx="6">
                  <c:v>28.19573643410853</c:v>
                </c:pt>
                <c:pt idx="7">
                  <c:v>27.801162040025822</c:v>
                </c:pt>
                <c:pt idx="8">
                  <c:v>26.98896103896104</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26.75294117647059</c:v>
                </c:pt>
                <c:pt idx="1">
                  <c:v/>
                </c:pt>
                <c:pt idx="2">
                  <c:v>27.057792207792208</c:v>
                </c:pt>
                <c:pt idx="3">
                  <c:v>26.506796116504855</c:v>
                </c:pt>
                <c:pt idx="4">
                  <c:v>26.089134677944045</c:v>
                </c:pt>
                <c:pt idx="5">
                  <c:v>27.71862871927555</c:v>
                </c:pt>
                <c:pt idx="6">
                  <c:v>28.19573643410853</c:v>
                </c:pt>
                <c:pt idx="7">
                  <c:v>27.801162040025822</c:v>
                </c:pt>
                <c:pt idx="8">
                  <c:v>26.98896103896104</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23.790849673202615</c:v>
                </c:pt>
                <c:pt idx="2">
                  <c:v/>
                </c:pt>
                <c:pt idx="3">
                  <c:v/>
                </c:pt>
                <c:pt idx="4">
                  <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24.324142156862745</c:v>
                </c:pt>
                <c:pt idx="2">
                  <c:v/>
                </c:pt>
                <c:pt idx="3">
                  <c:v/>
                </c:pt>
                <c:pt idx="4">
                  <c:v/>
                </c:pt>
                <c:pt idx="5">
                  <c:v/>
                </c:pt>
                <c:pt idx="6">
                  <c:v/>
                </c:pt>
                <c:pt idx="7">
                  <c:v/>
                </c:pt>
                <c:pt idx="8">
                  <c:v/>
                </c:pt>
                <c:pt idx="9">
                  <c:v>26.908977556109726</c:v>
                </c:pt>
                <c:pt idx="10">
                  <c:v/>
                </c:pt>
                <c:pt idx="11">
                  <c:v>25.399232245681382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26.62153846153846</c:v>
                </c:pt>
                <c:pt idx="1">
                  <c:v/>
                </c:pt>
                <c:pt idx="2">
                  <c:v>26.341313689379987</c:v>
                </c:pt>
                <c:pt idx="3">
                  <c:v>26.436532507739937</c:v>
                </c:pt>
                <c:pt idx="4">
                  <c:v>26.070240295748615</c:v>
                </c:pt>
                <c:pt idx="5">
                  <c:v>26.152846534653467</c:v>
                </c:pt>
                <c:pt idx="6">
                  <c:v>26.955801104972377</c:v>
                </c:pt>
                <c:pt idx="7">
                  <c:v>26.42839582052858</c:v>
                </c:pt>
                <c:pt idx="8">
                  <c:v>24.67450495049505</c:v>
                </c:pt>
                <c:pt idx="9">
                  <c:v/>
                </c:pt>
                <c:pt idx="10">
                  <c:v>23.8621997471555</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26.62153846153846</c:v>
                </c:pt>
                <c:pt idx="1">
                  <c:v>24.324142156862745</c:v>
                </c:pt>
                <c:pt idx="2">
                  <c:v>26.341313689379987</c:v>
                </c:pt>
                <c:pt idx="3">
                  <c:v>26.436532507739937</c:v>
                </c:pt>
                <c:pt idx="4">
                  <c:v>26.070240295748615</c:v>
                </c:pt>
                <c:pt idx="5">
                  <c:v>26.152846534653467</c:v>
                </c:pt>
                <c:pt idx="6">
                  <c:v>26.955801104972377</c:v>
                </c:pt>
                <c:pt idx="7">
                  <c:v>26.42839582052858</c:v>
                </c:pt>
                <c:pt idx="8">
                  <c:v>24.67450495049505</c:v>
                </c:pt>
                <c:pt idx="9">
                  <c:v>26.908977556109726</c:v>
                </c:pt>
                <c:pt idx="10">
                  <c:v>23.8621997471555</c:v>
                </c:pt>
                <c:pt idx="11">
                  <c:v>25.399232245681382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386.1509433962264</c:v>
                </c:pt>
                <c:pt idx="1">
                  <c:v>337.037037037037</c:v>
                </c:pt>
                <c:pt idx="2">
                  <c:v>389.4299065420561</c:v>
                </c:pt>
                <c:pt idx="3">
                  <c:v>386.3490566037736</c:v>
                </c:pt>
                <c:pt idx="4">
                  <c:v>381.8952380952381</c:v>
                </c:pt>
                <c:pt idx="5">
                  <c:v>408.12380952380954</c:v>
                </c:pt>
                <c:pt idx="6">
                  <c:v>411.7641509433962</c:v>
                </c:pt>
                <c:pt idx="7">
                  <c:v>414.0769230769231</c:v>
                </c:pt>
                <c:pt idx="8">
                  <c:v>399.6442307692308</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386.1509433962264</c:v>
                </c:pt>
                <c:pt idx="1">
                  <c:v/>
                </c:pt>
                <c:pt idx="2">
                  <c:v>389.4299065420561</c:v>
                </c:pt>
                <c:pt idx="3">
                  <c:v>386.3490566037736</c:v>
                </c:pt>
                <c:pt idx="4">
                  <c:v>381.8952380952381</c:v>
                </c:pt>
                <c:pt idx="5">
                  <c:v>408.12380952380954</c:v>
                </c:pt>
                <c:pt idx="6">
                  <c:v>411.7641509433962</c:v>
                </c:pt>
                <c:pt idx="7">
                  <c:v>414.0769230769231</c:v>
                </c:pt>
                <c:pt idx="8">
                  <c:v>399.6442307692308</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337.037037037037</c:v>
                </c:pt>
                <c:pt idx="2">
                  <c:v/>
                </c:pt>
                <c:pt idx="3">
                  <c:v/>
                </c:pt>
                <c:pt idx="4">
                  <c:v/>
                </c:pt>
                <c:pt idx="5">
                  <c:v/>
                </c:pt>
                <c:pt idx="6">
                  <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342.2155172413793</c:v>
                </c:pt>
                <c:pt idx="2">
                  <c:v/>
                </c:pt>
                <c:pt idx="3">
                  <c:v/>
                </c:pt>
                <c:pt idx="4">
                  <c:v/>
                </c:pt>
                <c:pt idx="5">
                  <c:v/>
                </c:pt>
                <c:pt idx="6">
                  <c:v/>
                </c:pt>
                <c:pt idx="7">
                  <c:v/>
                </c:pt>
                <c:pt idx="8">
                  <c:v/>
                </c:pt>
                <c:pt idx="9">
                  <c:v>395.9816513761468</c:v>
                </c:pt>
                <c:pt idx="10">
                  <c:v/>
                </c:pt>
                <c:pt idx="11">
                  <c:v>371.01869158878503</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369.7435897435897</c:v>
                </c:pt>
                <c:pt idx="1">
                  <c:v/>
                </c:pt>
                <c:pt idx="2">
                  <c:v>369.91379310344826</c:v>
                </c:pt>
                <c:pt idx="3">
                  <c:v>384.63963963963965</c:v>
                </c:pt>
                <c:pt idx="4">
                  <c:v>381.18918918918916</c:v>
                </c:pt>
                <c:pt idx="5">
                  <c:v>387.73394495412845</c:v>
                </c:pt>
                <c:pt idx="6">
                  <c:v>399.1909090909091</c:v>
                </c:pt>
                <c:pt idx="7">
                  <c:v>390.9</c:v>
                </c:pt>
                <c:pt idx="8">
                  <c:v>372.6542056074766</c:v>
                </c:pt>
                <c:pt idx="9">
                  <c:v/>
                </c:pt>
                <c:pt idx="10">
                  <c:v>352.803738317757</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369.7435897435897</c:v>
                </c:pt>
                <c:pt idx="1">
                  <c:v>342.2155172413793</c:v>
                </c:pt>
                <c:pt idx="2">
                  <c:v>369.91379310344826</c:v>
                </c:pt>
                <c:pt idx="3">
                  <c:v>384.63963963963965</c:v>
                </c:pt>
                <c:pt idx="4">
                  <c:v>381.18918918918916</c:v>
                </c:pt>
                <c:pt idx="5">
                  <c:v>387.73394495412845</c:v>
                </c:pt>
                <c:pt idx="6">
                  <c:v>399.1909090909091</c:v>
                </c:pt>
                <c:pt idx="7">
                  <c:v>390.9</c:v>
                </c:pt>
                <c:pt idx="8">
                  <c:v>372.6542056074766</c:v>
                </c:pt>
                <c:pt idx="9">
                  <c:v>395.9816513761468</c:v>
                </c:pt>
                <c:pt idx="10">
                  <c:v>352.803738317757</c:v>
                </c:pt>
                <c:pt idx="11">
                  <c:v>371.01869158878503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1530</c:v>
                </c:pt>
                <c:pt idx="1">
                  <c:v>1530</c:v>
                </c:pt>
                <c:pt idx="2">
                  <c:v>1540</c:v>
                </c:pt>
                <c:pt idx="3">
                  <c:v>1545</c:v>
                </c:pt>
                <c:pt idx="4">
                  <c:v>1537</c:v>
                </c:pt>
                <c:pt idx="5">
                  <c:v>1546</c:v>
                </c:pt>
                <c:pt idx="6">
                  <c:v>1548</c:v>
                </c:pt>
                <c:pt idx="7">
                  <c:v>1549</c:v>
                </c:pt>
                <c:pt idx="8">
                  <c:v>1540</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1530</c:v>
                </c:pt>
                <c:pt idx="1">
                  <c:v>1530</c:v>
                </c:pt>
                <c:pt idx="2">
                  <c:v>1540</c:v>
                </c:pt>
                <c:pt idx="3">
                  <c:v>1545</c:v>
                </c:pt>
                <c:pt idx="4">
                  <c:v>1537</c:v>
                </c:pt>
                <c:pt idx="5">
                  <c:v>1546</c:v>
                </c:pt>
                <c:pt idx="6">
                  <c:v>1548</c:v>
                </c:pt>
                <c:pt idx="7">
                  <c:v>1549</c:v>
                </c:pt>
                <c:pt idx="8">
                  <c:v>1540</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1625</c:v>
                </c:pt>
                <c:pt idx="1">
                  <c:v>1632</c:v>
                </c:pt>
                <c:pt idx="2">
                  <c:v>1629</c:v>
                </c:pt>
                <c:pt idx="3">
                  <c:v>1615</c:v>
                </c:pt>
                <c:pt idx="4">
                  <c:v>1623</c:v>
                </c:pt>
                <c:pt idx="5">
                  <c:v>1616</c:v>
                </c:pt>
                <c:pt idx="6">
                  <c:v>1629</c:v>
                </c:pt>
                <c:pt idx="7">
                  <c:v>1627</c:v>
                </c:pt>
                <c:pt idx="8">
                  <c:v>1616</c:v>
                </c:pt>
                <c:pt idx="9">
                  <c:v>1604</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1582</c:v>
                </c:pt>
                <c:pt idx="11">
                  <c:v>1563</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1625</c:v>
                </c:pt>
                <c:pt idx="1">
                  <c:v>1632</c:v>
                </c:pt>
                <c:pt idx="2">
                  <c:v>1629</c:v>
                </c:pt>
                <c:pt idx="3">
                  <c:v>1615</c:v>
                </c:pt>
                <c:pt idx="4">
                  <c:v>1623</c:v>
                </c:pt>
                <c:pt idx="5">
                  <c:v>1616</c:v>
                </c:pt>
                <c:pt idx="6">
                  <c:v>1629</c:v>
                </c:pt>
                <c:pt idx="7">
                  <c:v>1627</c:v>
                </c:pt>
                <c:pt idx="8">
                  <c:v>1616</c:v>
                </c:pt>
                <c:pt idx="9">
                  <c:v>1604</c:v>
                </c:pt>
                <c:pt idx="10">
                  <c:v>1582</c:v>
                </c:pt>
                <c:pt idx="11">
                  <c:v>1563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13 of 33 stores at or above the $13,617 group, led by Audi Henderson at $23,461. Honda Flagstaff is lowest at $9,149.Source: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Jan-Sep 2026 YTD. Green at or above the group, red below.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27 of 33 stores raised gross per employee, led by Subaru St George at +$4,158 to $15,556. 6 declined; VW St George fell most at −$1,319.Source: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Gross per Fixed Employee,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Subaru St George, Hyundai Prescott and Lincoln what changed. Ask VW St George, Kia St George and Cadillac what got in the way. Ask LR Henderson, Subaru St George and LR Reno what they started this year.Source: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Top and bottom five stores by change in Fixed Gross per Fixed Employee, Jan-Sep 2026 vs 2025. Moving now: Jul-Sep 2026 vs Jan-Mar 2026, each store against itself; the group moved +$1,107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Against their own segment, 5 of 9 luxury stores beat 123 and 12 of 24 others beat 176. Toyota Flagstaff leads non-luxury at 253.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Jan-Sep 2026 YTD. Green at or above own segment average, red below. Segment averages from segment totals. Luxury = Lexus, Lincoln, Cadillac, Volvo, Audi Reno, Audi Henderson, LR Reno, LR LV, LR Henderson; Acura counted as non-luxury.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17 of 33 stores raised ROs per advisor, led by Honda Flagstaff at +40 to 175. 16 declined; Toyota Spokane fell most at −59.Source: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Service Advisor,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Honda Flagstaff, Hyundai Prescott and Toyota Flagstaff what changed. Ask Toyota Spokane, VW St George and Nissan what got in the way. Ask Mazda, Honda North and Honda Spokane what they started this year.Source: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Top and bottom five stores by change in CP &amp; W ROs per Service Advisor, Jan-Sep 2026 vs 2025. Moving now: Jul-Sep 2026 vs Jan-Mar 2026, each store against itself; the group moved +15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Against their own segment, 4 of 9 luxury stores beat 17.4 and 14 of 24 others beat 29.3. Kia St George leads non-luxury at 39.8.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Jan-Sep 2026 YTD. Green at or above own segment average, red below. Segment averages from segment totals. Luxury = Lexus, Lincoln, Cadillac, Volvo, Audi Reno, Audi Henderson, LR Reno, LR LV, LR Henderson; Acura counted as non-luxury.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22 of 33 stores raised ROs per fixed employee, led by Hyundai Prescott at +6.9 to 31.4. 11 declined; Kia St George fell most at −6.6.Source: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Employee,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Hyundai Prescott, Kia LV and Hyundai St George what changed. Ask Kia St George, Mazda and VW St George what got in the way. Ask Subaru St George, CDJR Post Falls and Hyundai Prescott what they started this year.Source: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Top and bottom five stores by change in CP &amp; W ROs per Fixed Employee, Jan-Sep 2026 vs 2025. Moving now: Jul-Sep 2026 vs Jan-Mar 2026, each store against itself; the group moved +1.8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Against their own segment, 5 of 9 luxury stores beat 276 and 7 of 24 others beat 418. Toyota Henderson leads non-luxury at 1,022.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Jan-Sep 2026 YTD. Green at or above own segment average, red below. Segment averages from segment totals. Luxury = Lexus, Lincoln, Cadillac, Volvo, Audi Reno, Audi Henderson, LR Reno, LR LV, LR Henderson; Acura counted as non-luxury.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22 of 33 stores raised ROs per manager, led by Toyota Henderson at +182 to 1,022. 11 declined; Mazda fell most at −281.Source: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Manager,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Toyota Henderson, Toyota Spokane and Toyota Prescott what changed. Ask Mazda, Subaru St George and Honda Spokane what got in the way. Ask Toyota Prescott, Toyota Henderson and VW St George what they started this year.Source: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Top and bottom five stores by change in CP &amp; W ROs per Fixed Manager, Jan-Sep 2026 vs 2025. Moving now: Jul-Sep 2026 vs Jan-Mar 2026, each store against itself; the group moved +38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YTD = average month-end fixed headcount, Jan-Sep. Fixed employees include managers; technicians = service, express, foreman and team-leader titles. 2025 shown January-December.
Jan 25: 1625 fixed, 703 techs, 238 advisors, 117 managers
Feb 25: 1632 fixed, 705 techs, 237 advisors, 116 managers
Mar 25: 1629 fixed, 702 techs, 240 advisors, 116 managers
Apr 25: 1615 fixed, 695 techs, 242 advisors, 111 managers
May 25: 1623 fixed, 699 techs, 250 advisors, 111 managers
Jun 25: 1616 fixed, 695 techs, 247 advisors, 109 managers
Jul 25: 1629 fixed, 705 techs, 247 advisors, 110 managers
Aug 25: 1627 fixed, 701 techs, 251 advisors, 110 managers
Sep 25: 1616 fixed, 701 techs, 248 advisors, 107 managers
Oct 25: 1604 fixed, 688 techs, 249 advisors, 109 managers
Nov 25: 1582 fixed, 685 techs, 247 advisors, 107 managers
Dec 25: 1563 fixed, 674 techs, 249 advisors, 107 managers
Jan 26: 1530 fixed, 657 techs, 248 advisors, 106 managers
Feb 26: 1530 fixed, 670 techs, 245 advisors, 108 managers
Mar 26: 1540 fixed, 669 techs, 252 advisors, 107 managers
Apr 26: 1545 fixed, 687 techs, 250 advisors, 106 managers
May 26: 1537 fixed, 680 techs, 254 advisors, 105 managers
Jun 26: 1546 fixed, 684 techs, 250 advisors, 105 managers
Jul 26: 1548 fixed, 682 techs, 250 advisors, 106 managers
Aug 26: 1549 fixed, 684 techs, 244 advisors, 104 managers
Sep 26: 1540 fixed, 684 techs, 241 advisors, 104 managers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10 stores added fixed staff, led by Mazda (+5); 23 reduced, led by Chevy LV (−21).Source: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ops headcount, Sep 2026 vs Sep 2025, most added first. Neutral colour: added staff can be growth or excess.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chart" Target="/ppt/charts/chart3.xml"/><Relationship Id="rId4" Type="http://schemas.openxmlformats.org/officeDocument/2006/relationships/chart" Target="/ppt/charts/chart4.xml"/><Relationship Id="rId5" Type="http://schemas.openxmlformats.org/officeDocument/2006/relationships/chart" Target="/ppt/charts/chart5.xml"/><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chart" Target="/ppt/charts/chart7.xml"/><Relationship Id="rId3" Type="http://schemas.openxmlformats.org/officeDocument/2006/relationships/chart" Target="/ppt/charts/chart8.xml"/><Relationship Id="rId4" Type="http://schemas.openxmlformats.org/officeDocument/2006/relationships/chart" Target="/ppt/charts/chart9.xml"/><Relationship Id="rId5" Type="http://schemas.openxmlformats.org/officeDocument/2006/relationships/chart" Target="/ppt/charts/chart10.xml"/><Relationship Id="rId6" Type="http://schemas.openxmlformats.org/officeDocument/2006/relationships/chart" Target="/ppt/charts/chart11.xml"/><Relationship Id="rId7" Type="http://schemas.openxmlformats.org/officeDocument/2006/relationships/slideLayout" Target="../slideLayouts/slideLayout1.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chart" Target="/ppt/charts/chart13.xml"/><Relationship Id="rId3" Type="http://schemas.openxmlformats.org/officeDocument/2006/relationships/chart" Target="/ppt/charts/chart14.xml"/><Relationship Id="rId4" Type="http://schemas.openxmlformats.org/officeDocument/2006/relationships/chart" Target="/ppt/charts/chart15.xml"/><Relationship Id="rId5" Type="http://schemas.openxmlformats.org/officeDocument/2006/relationships/chart" Target="/ppt/charts/chart16.xml"/><Relationship Id="rId6" Type="http://schemas.openxmlformats.org/officeDocument/2006/relationships/chart" Target="/ppt/charts/chart17.xml"/><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18.xml"/><Relationship Id="rId2" Type="http://schemas.openxmlformats.org/officeDocument/2006/relationships/chart" Target="/ppt/charts/chart19.xml"/><Relationship Id="rId3" Type="http://schemas.openxmlformats.org/officeDocument/2006/relationships/chart" Target="/ppt/charts/chart20.xml"/><Relationship Id="rId4" Type="http://schemas.openxmlformats.org/officeDocument/2006/relationships/chart" Target="/ppt/charts/chart21.xml"/><Relationship Id="rId5" Type="http://schemas.openxmlformats.org/officeDocument/2006/relationships/chart" Target="/ppt/charts/chart22.xml"/><Relationship Id="rId6" Type="http://schemas.openxmlformats.org/officeDocument/2006/relationships/chart" Target="/ppt/charts/chart23.xml"/><Relationship Id="rId7" Type="http://schemas.openxmlformats.org/officeDocument/2006/relationships/slideLayout" Target="../slideLayouts/slideLayout1.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24.xml"/><Relationship Id="rId2" Type="http://schemas.openxmlformats.org/officeDocument/2006/relationships/chart" Target="/ppt/charts/chart25.xml"/><Relationship Id="rId3" Type="http://schemas.openxmlformats.org/officeDocument/2006/relationships/chart" Target="/ppt/charts/chart26.xml"/><Relationship Id="rId4" Type="http://schemas.openxmlformats.org/officeDocument/2006/relationships/chart" Target="/ppt/charts/chart27.xml"/><Relationship Id="rId5" Type="http://schemas.openxmlformats.org/officeDocument/2006/relationships/chart" Target="/ppt/charts/chart28.xml"/><Relationship Id="rId6" Type="http://schemas.openxmlformats.org/officeDocument/2006/relationships/slideLayout" Target="../slideLayouts/slideLayout1.xml"/><Relationship Id="rId7"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FIXED OPS</a:t>
            </a:r>
            <a:endParaRPr lang="en-US" sz="2000" dirty="0"/>
          </a:p>
        </p:txBody>
      </p:sp>
      <p:sp>
        <p:nvSpPr>
          <p:cNvPr id="3"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Productivity</a:t>
            </a:r>
            <a:endParaRPr lang="en-US" sz="7600" dirty="0"/>
          </a:p>
        </p:txBody>
      </p:sp>
      <p:sp>
        <p:nvSpPr>
          <p:cNvPr id="4"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Gross per employee   ·   ROs per person   ·   Headcount</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$12,410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$13,617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Gross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$1,207 to $13,617, ahead of 2025 in all nine months. Gross grew 4.1%; headcount fell 5.1%.</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$13,617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$23,461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45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$18,549</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31724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$18,268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5" name="Shape 23"/>
          <p:cNvSpPr/>
          <p:nvPr/>
        </p:nvSpPr>
        <p:spPr>
          <a:xfrm>
            <a:off x="3008376" y="2626748"/>
            <a:ext cx="130860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$18,148</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9" name="Shape 27"/>
          <p:cNvSpPr/>
          <p:nvPr/>
        </p:nvSpPr>
        <p:spPr>
          <a:xfrm>
            <a:off x="3008376" y="2866644"/>
            <a:ext cx="121996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$16,919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158109"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$16,061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15126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1121653"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008376" y="3826226"/>
            <a:ext cx="1097901"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$15,226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9" name="Shape 47"/>
          <p:cNvSpPr/>
          <p:nvPr/>
        </p:nvSpPr>
        <p:spPr>
          <a:xfrm>
            <a:off x="3008376" y="4066122"/>
            <a:ext cx="1075517"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$14,916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008376" y="4306017"/>
            <a:ext cx="105303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$14,604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102822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$14,260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2202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$14,174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958239"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$13,289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008376" y="5265599"/>
            <a:ext cx="92829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008376" y="5505495"/>
            <a:ext cx="928044"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90140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$12,501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1" name="Shape 79"/>
          <p:cNvSpPr/>
          <p:nvPr/>
        </p:nvSpPr>
        <p:spPr>
          <a:xfrm>
            <a:off x="8558784" y="1907062"/>
            <a:ext cx="891506"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$12,364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87272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$12,103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8558784" y="2386853"/>
            <a:ext cx="86826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$12,042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8558784" y="2626748"/>
            <a:ext cx="86568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7" name="Shape 95"/>
          <p:cNvSpPr/>
          <p:nvPr/>
        </p:nvSpPr>
        <p:spPr>
          <a:xfrm>
            <a:off x="8558784" y="2866644"/>
            <a:ext cx="862196"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$11,957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86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$11,631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5" name="Shape 103"/>
          <p:cNvSpPr/>
          <p:nvPr/>
        </p:nvSpPr>
        <p:spPr>
          <a:xfrm>
            <a:off x="8558784" y="3346435"/>
            <a:ext cx="83218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$11,541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9" name="Shape 107"/>
          <p:cNvSpPr/>
          <p:nvPr/>
        </p:nvSpPr>
        <p:spPr>
          <a:xfrm>
            <a:off x="8558784" y="3586331"/>
            <a:ext cx="80240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796340"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$11,044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905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$10,963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7782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$10,794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8558784" y="4545913"/>
            <a:ext cx="74925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$10,391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71765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$9,953</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71224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$9,878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68485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$9,498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1" name="Shape 139"/>
          <p:cNvSpPr/>
          <p:nvPr/>
        </p:nvSpPr>
        <p:spPr>
          <a:xfrm>
            <a:off x="8558784" y="5505495"/>
            <a:ext cx="659710"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$9,149</a:t>
            </a:r>
            <a:endParaRPr lang="en-US" sz="1200" dirty="0"/>
          </a:p>
        </p:txBody>
      </p:sp>
      <p:sp>
        <p:nvSpPr>
          <p:cNvPr id="143" name="Shape 141"/>
          <p:cNvSpPr/>
          <p:nvPr/>
        </p:nvSpPr>
        <p:spPr>
          <a:xfrm>
            <a:off x="3982924" y="1847088"/>
            <a:ext cx="14630" cy="4078224"/>
          </a:xfrm>
          <a:prstGeom prst="rect">
            <a:avLst/>
          </a:prstGeom>
          <a:solidFill>
            <a:srgbClr val="0B2C4A"/>
          </a:solidFill>
          <a:ln/>
        </p:spPr>
      </p:sp>
      <p:sp>
        <p:nvSpPr>
          <p:cNvPr id="144" name="Shape 142"/>
          <p:cNvSpPr/>
          <p:nvPr/>
        </p:nvSpPr>
        <p:spPr>
          <a:xfrm>
            <a:off x="9533332"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13 of 33 stores at or above the $13,617 group.</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+$1,207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+$4,158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548170"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+$2,933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1" name="Shape 19"/>
          <p:cNvSpPr/>
          <p:nvPr/>
        </p:nvSpPr>
        <p:spPr>
          <a:xfrm>
            <a:off x="3785616" y="2391651"/>
            <a:ext cx="475660"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+$2,545</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5" name="Shape 23"/>
          <p:cNvSpPr/>
          <p:nvPr/>
        </p:nvSpPr>
        <p:spPr>
          <a:xfrm>
            <a:off x="3785616" y="2631546"/>
            <a:ext cx="450223"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+$2,409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3785616" y="2871442"/>
            <a:ext cx="44088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+$2,359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42753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+$2,287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7" name="Shape 35"/>
          <p:cNvSpPr/>
          <p:nvPr/>
        </p:nvSpPr>
        <p:spPr>
          <a:xfrm>
            <a:off x="3785616" y="3351233"/>
            <a:ext cx="39096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+$2,092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30873"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+$1,770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3785616" y="3831024"/>
            <a:ext cx="31945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307782"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+$1,647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29964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+$1,603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7" name="Shape 55"/>
          <p:cNvSpPr/>
          <p:nvPr/>
        </p:nvSpPr>
        <p:spPr>
          <a:xfrm>
            <a:off x="3785616" y="4550711"/>
            <a:ext cx="27694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+$1,482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27496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+$1,471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5" name="Shape 63"/>
          <p:cNvSpPr/>
          <p:nvPr/>
        </p:nvSpPr>
        <p:spPr>
          <a:xfrm>
            <a:off x="3785616" y="5030502"/>
            <a:ext cx="23632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+$1,264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785616" y="5270397"/>
            <a:ext cx="22022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+$1,178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3" name="Shape 71"/>
          <p:cNvSpPr/>
          <p:nvPr/>
        </p:nvSpPr>
        <p:spPr>
          <a:xfrm>
            <a:off x="3785616" y="5510293"/>
            <a:ext cx="205895"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+$1,101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7" name="Shape 75"/>
          <p:cNvSpPr/>
          <p:nvPr/>
        </p:nvSpPr>
        <p:spPr>
          <a:xfrm>
            <a:off x="3785616" y="5750188"/>
            <a:ext cx="20198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9758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+$1,057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184443"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+$987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9336024" y="2391651"/>
            <a:ext cx="17339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9336024" y="2631546"/>
            <a:ext cx="172997"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+$925</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7218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6461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+$881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336024" y="3351233"/>
            <a:ext cx="136163"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+$728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9336024" y="3591128"/>
            <a:ext cx="126601"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36024" y="3831024"/>
            <a:ext cx="78291"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336024" y="4070920"/>
            <a:ext cx="34218"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333892" y="4310815"/>
            <a:ext cx="1280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9313319" y="4550711"/>
            <a:ext cx="2270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9" name="Shape 127"/>
          <p:cNvSpPr/>
          <p:nvPr/>
        </p:nvSpPr>
        <p:spPr>
          <a:xfrm>
            <a:off x="9258696" y="4790606"/>
            <a:ext cx="77328"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−$414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3" name="Shape 131"/>
          <p:cNvSpPr/>
          <p:nvPr/>
        </p:nvSpPr>
        <p:spPr>
          <a:xfrm>
            <a:off x="9241624" y="5030502"/>
            <a:ext cx="9440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106061" y="5270397"/>
            <a:ext cx="22996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−$1,230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9089478" y="5510293"/>
            <a:ext cx="246546"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−$1,319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27 of 33 stores raised gross per employee. 6 declined.</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$15,556</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+$4,158</a:t>
            </a:r>
            <a:endParaRPr lang="en-US" sz="16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$8,698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$11,631</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+$2,933</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$8,419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$10,963</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+$2,545</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$10,881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$13,289</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+$2,409</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$21,102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$23,461</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+$2,359</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$11,197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$9,878</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−$1,319</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$13,334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$12,103</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−$1,230</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$14,765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$14,260</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−$505</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$12,419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$12,006</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−$414</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Shape 44"/>
          <p:cNvSpPr/>
          <p:nvPr/>
        </p:nvSpPr>
        <p:spPr>
          <a:xfrm>
            <a:off x="7775448" y="5453482"/>
            <a:ext cx="64008" cy="755294"/>
          </a:xfrm>
          <a:prstGeom prst="rect">
            <a:avLst/>
          </a:prstGeom>
          <a:solidFill>
            <a:srgbClr val="2587C5"/>
          </a:solidFill>
          <a:ln/>
        </p:spPr>
      </p:sp>
      <p:sp>
        <p:nvSpPr>
          <p:cNvPr id="47" name="Text 45"/>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$16,088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$15,966</a:t>
            </a:r>
            <a:endParaRPr lang="en-US" sz="1400" dirty="0"/>
          </a:p>
        </p:txBody>
      </p:sp>
      <p:sp>
        <p:nvSpPr>
          <p:cNvPr id="49" name="Text 47"/>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−$121</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3" name="Shape 51"/>
          <p:cNvSpPr/>
          <p:nvPr/>
        </p:nvSpPr>
        <p:spPr>
          <a:xfrm>
            <a:off x="8040624" y="2103120"/>
            <a:ext cx="3489960" cy="828446"/>
          </a:xfrm>
          <a:prstGeom prst="rect">
            <a:avLst/>
          </a:prstGeom>
          <a:solidFill>
            <a:srgbClr val="F7F7F7"/>
          </a:solidFill>
          <a:ln/>
        </p:spPr>
      </p:sp>
      <p:sp>
        <p:nvSpPr>
          <p:cNvPr id="54" name="Text 52"/>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5" name="Text 53"/>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$20,761</a:t>
            </a:r>
            <a:endParaRPr lang="en-US" sz="1400" dirty="0"/>
          </a:p>
        </p:txBody>
      </p:sp>
      <p:sp>
        <p:nvSpPr>
          <p:cNvPr id="56" name="Text 54"/>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+$4,936</a:t>
            </a:r>
            <a:endParaRPr lang="en-US" sz="1600" dirty="0"/>
          </a:p>
        </p:txBody>
      </p:sp>
      <p:sp>
        <p:nvSpPr>
          <p:cNvPr id="57" name="Shape 55"/>
          <p:cNvSpPr/>
          <p:nvPr/>
        </p:nvSpPr>
        <p:spPr>
          <a:xfrm>
            <a:off x="11466576" y="2968142"/>
            <a:ext cx="64008" cy="755294"/>
          </a:xfrm>
          <a:prstGeom prst="rect">
            <a:avLst/>
          </a:prstGeom>
          <a:solidFill>
            <a:srgbClr val="12A566"/>
          </a:solidFill>
          <a:ln/>
        </p:spPr>
      </p:sp>
      <p:sp>
        <p:nvSpPr>
          <p:cNvPr id="58" name="Text 56"/>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9" name="Text 57"/>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$12,440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$17,296</a:t>
            </a:r>
            <a:endParaRPr lang="en-US" sz="1400" dirty="0"/>
          </a:p>
        </p:txBody>
      </p:sp>
      <p:sp>
        <p:nvSpPr>
          <p:cNvPr id="60" name="Text 58"/>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+$4,856</a:t>
            </a:r>
            <a:endParaRPr lang="en-US" sz="1600" dirty="0"/>
          </a:p>
        </p:txBody>
      </p:sp>
      <p:sp>
        <p:nvSpPr>
          <p:cNvPr id="61" name="Shape 59"/>
          <p:cNvSpPr/>
          <p:nvPr/>
        </p:nvSpPr>
        <p:spPr>
          <a:xfrm>
            <a:off x="8040624" y="3760013"/>
            <a:ext cx="3489960" cy="828446"/>
          </a:xfrm>
          <a:prstGeom prst="rect">
            <a:avLst/>
          </a:prstGeom>
          <a:solidFill>
            <a:srgbClr val="F7F7F7"/>
          </a:solidFill>
          <a:ln/>
        </p:spPr>
      </p:sp>
      <p:sp>
        <p:nvSpPr>
          <p:cNvPr id="62" name="Text 60"/>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3" name="Text 61"/>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$13,709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$17,296</a:t>
            </a:r>
            <a:endParaRPr lang="en-US" sz="1400" dirty="0"/>
          </a:p>
        </p:txBody>
      </p:sp>
      <p:sp>
        <p:nvSpPr>
          <p:cNvPr id="64" name="Text 62"/>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+$3,587</a:t>
            </a:r>
            <a:endParaRPr lang="en-US" sz="1600" dirty="0"/>
          </a:p>
        </p:txBody>
      </p:sp>
      <p:sp>
        <p:nvSpPr>
          <p:cNvPr id="65" name="Text 63"/>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6" name="Text 64"/>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$12,004</a:t>
            </a:r>
            <a:endParaRPr lang="en-US" sz="1400" dirty="0"/>
          </a:p>
        </p:txBody>
      </p:sp>
      <p:sp>
        <p:nvSpPr>
          <p:cNvPr id="67" name="Text 65"/>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+$3,479</a:t>
            </a:r>
            <a:endParaRPr lang="en-US" sz="1600" dirty="0"/>
          </a:p>
        </p:txBody>
      </p:sp>
      <p:sp>
        <p:nvSpPr>
          <p:cNvPr id="68" name="Shape 66"/>
          <p:cNvSpPr/>
          <p:nvPr/>
        </p:nvSpPr>
        <p:spPr>
          <a:xfrm>
            <a:off x="8040624" y="5416906"/>
            <a:ext cx="3489960" cy="828446"/>
          </a:xfrm>
          <a:prstGeom prst="rect">
            <a:avLst/>
          </a:prstGeom>
          <a:solidFill>
            <a:srgbClr val="F7F7F7"/>
          </a:solidFill>
          <a:ln/>
        </p:spPr>
      </p:sp>
      <p:sp>
        <p:nvSpPr>
          <p:cNvPr id="69" name="Shape 67"/>
          <p:cNvSpPr/>
          <p:nvPr/>
        </p:nvSpPr>
        <p:spPr>
          <a:xfrm>
            <a:off x="11466576" y="5453482"/>
            <a:ext cx="64008" cy="755294"/>
          </a:xfrm>
          <a:prstGeom prst="rect">
            <a:avLst/>
          </a:prstGeom>
          <a:solidFill>
            <a:srgbClr val="2587C5"/>
          </a:solidFill>
          <a:ln/>
        </p:spPr>
      </p:sp>
      <p:sp>
        <p:nvSpPr>
          <p:cNvPr id="70" name="Text 68"/>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$16,995</a:t>
            </a:r>
            <a:endParaRPr lang="en-US" sz="1400" dirty="0"/>
          </a:p>
        </p:txBody>
      </p:sp>
      <p:sp>
        <p:nvSpPr>
          <p:cNvPr id="72" name="Text 70"/>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+$2,972</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173</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Service Advisor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FBEBEA"/>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7 to 166, behind 2025 in six of nine months. Advisors grew 1.5%; ROs fell 2.3%.</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166</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123</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5" name="Shape 13"/>
          <p:cNvSpPr/>
          <p:nvPr/>
        </p:nvSpPr>
        <p:spPr>
          <a:xfrm>
            <a:off x="3008376" y="2155698"/>
            <a:ext cx="1658471"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9" name="Shape 17"/>
          <p:cNvSpPr/>
          <p:nvPr/>
        </p:nvSpPr>
        <p:spPr>
          <a:xfrm>
            <a:off x="3008376" y="2402586"/>
            <a:ext cx="1636341"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3" name="Shape 21"/>
          <p:cNvSpPr/>
          <p:nvPr/>
        </p:nvSpPr>
        <p:spPr>
          <a:xfrm>
            <a:off x="3008376" y="2649474"/>
            <a:ext cx="1373312"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3008376" y="2896362"/>
            <a:ext cx="1136397"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133</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1" name="Shape 29"/>
          <p:cNvSpPr/>
          <p:nvPr/>
        </p:nvSpPr>
        <p:spPr>
          <a:xfrm>
            <a:off x="3008376" y="3143250"/>
            <a:ext cx="1062404"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5" name="Shape 33"/>
          <p:cNvSpPr/>
          <p:nvPr/>
        </p:nvSpPr>
        <p:spPr>
          <a:xfrm>
            <a:off x="3008376" y="3390138"/>
            <a:ext cx="949294"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637026"/>
            <a:ext cx="762245"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883914"/>
            <a:ext cx="728956"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85</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7" name="Shape 45"/>
          <p:cNvSpPr/>
          <p:nvPr/>
        </p:nvSpPr>
        <p:spPr>
          <a:xfrm>
            <a:off x="3008376" y="4130802"/>
            <a:ext cx="605092"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176</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4" name="Shape 52"/>
          <p:cNvSpPr/>
          <p:nvPr/>
        </p:nvSpPr>
        <p:spPr>
          <a:xfrm>
            <a:off x="3008376" y="4624578"/>
            <a:ext cx="1503240"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8" name="Shape 56"/>
          <p:cNvSpPr/>
          <p:nvPr/>
        </p:nvSpPr>
        <p:spPr>
          <a:xfrm>
            <a:off x="3008376" y="4871466"/>
            <a:ext cx="1447357"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2" name="Shape 60"/>
          <p:cNvSpPr/>
          <p:nvPr/>
        </p:nvSpPr>
        <p:spPr>
          <a:xfrm>
            <a:off x="3008376" y="5118354"/>
            <a:ext cx="1373578"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231</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6" name="Shape 64"/>
          <p:cNvSpPr/>
          <p:nvPr/>
        </p:nvSpPr>
        <p:spPr>
          <a:xfrm>
            <a:off x="3008376" y="5365242"/>
            <a:ext cx="1343443"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0" name="Shape 68"/>
          <p:cNvSpPr/>
          <p:nvPr/>
        </p:nvSpPr>
        <p:spPr>
          <a:xfrm>
            <a:off x="3008376" y="5612130"/>
            <a:ext cx="1341602"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4" name="Shape 72"/>
          <p:cNvSpPr/>
          <p:nvPr/>
        </p:nvSpPr>
        <p:spPr>
          <a:xfrm>
            <a:off x="3008376" y="5859018"/>
            <a:ext cx="1333815"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225</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6105906"/>
            <a:ext cx="1164283"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176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4" name="Shape 82"/>
          <p:cNvSpPr/>
          <p:nvPr/>
        </p:nvSpPr>
        <p:spPr>
          <a:xfrm>
            <a:off x="8558784" y="2155698"/>
            <a:ext cx="1134268"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191</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8" name="Shape 86"/>
          <p:cNvSpPr/>
          <p:nvPr/>
        </p:nvSpPr>
        <p:spPr>
          <a:xfrm>
            <a:off x="8558784" y="2402586"/>
            <a:ext cx="1095681"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2" name="Shape 90"/>
          <p:cNvSpPr/>
          <p:nvPr/>
        </p:nvSpPr>
        <p:spPr>
          <a:xfrm>
            <a:off x="8558784" y="2649474"/>
            <a:ext cx="1073173"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6" name="Shape 94"/>
          <p:cNvSpPr/>
          <p:nvPr/>
        </p:nvSpPr>
        <p:spPr>
          <a:xfrm>
            <a:off x="8558784" y="2896362"/>
            <a:ext cx="1070012"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180</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0" name="Shape 98"/>
          <p:cNvSpPr/>
          <p:nvPr/>
        </p:nvSpPr>
        <p:spPr>
          <a:xfrm>
            <a:off x="8558784" y="3143250"/>
            <a:ext cx="1057284"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178</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4" name="Shape 102"/>
          <p:cNvSpPr/>
          <p:nvPr/>
        </p:nvSpPr>
        <p:spPr>
          <a:xfrm>
            <a:off x="8558784" y="3390138"/>
            <a:ext cx="1042010"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175</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8" name="Shape 106"/>
          <p:cNvSpPr/>
          <p:nvPr/>
        </p:nvSpPr>
        <p:spPr>
          <a:xfrm>
            <a:off x="8558784" y="3637026"/>
            <a:ext cx="1021645"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172</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2" name="Shape 110"/>
          <p:cNvSpPr/>
          <p:nvPr/>
        </p:nvSpPr>
        <p:spPr>
          <a:xfrm>
            <a:off x="8558784" y="3883914"/>
            <a:ext cx="981754"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165</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6" name="Shape 114"/>
          <p:cNvSpPr/>
          <p:nvPr/>
        </p:nvSpPr>
        <p:spPr>
          <a:xfrm>
            <a:off x="8558784" y="4130802"/>
            <a:ext cx="943933"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159</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0" name="Shape 118"/>
          <p:cNvSpPr/>
          <p:nvPr/>
        </p:nvSpPr>
        <p:spPr>
          <a:xfrm>
            <a:off x="8558784" y="4377690"/>
            <a:ext cx="912089"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4" name="Shape 122"/>
          <p:cNvSpPr/>
          <p:nvPr/>
        </p:nvSpPr>
        <p:spPr>
          <a:xfrm>
            <a:off x="8558784" y="4624578"/>
            <a:ext cx="848886"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8" name="Shape 126"/>
          <p:cNvSpPr/>
          <p:nvPr/>
        </p:nvSpPr>
        <p:spPr>
          <a:xfrm>
            <a:off x="8558784" y="4871466"/>
            <a:ext cx="823202"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2" name="Shape 130"/>
          <p:cNvSpPr/>
          <p:nvPr/>
        </p:nvSpPr>
        <p:spPr>
          <a:xfrm>
            <a:off x="8558784" y="5118354"/>
            <a:ext cx="759533"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6" name="Shape 134"/>
          <p:cNvSpPr/>
          <p:nvPr/>
        </p:nvSpPr>
        <p:spPr>
          <a:xfrm>
            <a:off x="8558784" y="5365242"/>
            <a:ext cx="729747"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0" name="Shape 138"/>
          <p:cNvSpPr/>
          <p:nvPr/>
        </p:nvSpPr>
        <p:spPr>
          <a:xfrm>
            <a:off x="8558784" y="5612130"/>
            <a:ext cx="709976"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4" name="Shape 142"/>
          <p:cNvSpPr/>
          <p:nvPr/>
        </p:nvSpPr>
        <p:spPr>
          <a:xfrm>
            <a:off x="8558784" y="5859018"/>
            <a:ext cx="703612"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8" name="Shape 146"/>
          <p:cNvSpPr/>
          <p:nvPr/>
        </p:nvSpPr>
        <p:spPr>
          <a:xfrm>
            <a:off x="8558784" y="6105906"/>
            <a:ext cx="692411"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150" name="Shape 148"/>
          <p:cNvSpPr/>
          <p:nvPr/>
        </p:nvSpPr>
        <p:spPr>
          <a:xfrm>
            <a:off x="4047207" y="2093976"/>
            <a:ext cx="14630" cy="2221992"/>
          </a:xfrm>
          <a:prstGeom prst="rect">
            <a:avLst/>
          </a:prstGeom>
          <a:solidFill>
            <a:srgbClr val="0B2C4A"/>
          </a:solidFill>
          <a:ln/>
        </p:spPr>
      </p:sp>
      <p:sp>
        <p:nvSpPr>
          <p:cNvPr id="151" name="Shape 149"/>
          <p:cNvSpPr/>
          <p:nvPr/>
        </p:nvSpPr>
        <p:spPr>
          <a:xfrm>
            <a:off x="4047207" y="4562856"/>
            <a:ext cx="14630" cy="1728216"/>
          </a:xfrm>
          <a:prstGeom prst="rect">
            <a:avLst/>
          </a:prstGeom>
          <a:solidFill>
            <a:srgbClr val="0B2C4A"/>
          </a:solidFill>
          <a:ln/>
        </p:spPr>
      </p:sp>
      <p:sp>
        <p:nvSpPr>
          <p:cNvPr id="152" name="Shape 150"/>
          <p:cNvSpPr/>
          <p:nvPr/>
        </p:nvSpPr>
        <p:spPr>
          <a:xfrm>
            <a:off x="9597615"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 name="Shape 11"/>
          <p:cNvSpPr/>
          <p:nvPr/>
        </p:nvSpPr>
        <p:spPr>
          <a:xfrm>
            <a:off x="3785616" y="1911860"/>
            <a:ext cx="52524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46752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1" name="Shape 19"/>
          <p:cNvSpPr/>
          <p:nvPr/>
        </p:nvSpPr>
        <p:spPr>
          <a:xfrm>
            <a:off x="3785616" y="2391651"/>
            <a:ext cx="41561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5" name="Shape 23"/>
          <p:cNvSpPr/>
          <p:nvPr/>
        </p:nvSpPr>
        <p:spPr>
          <a:xfrm>
            <a:off x="3785616" y="2631546"/>
            <a:ext cx="26519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9" name="Shape 27"/>
          <p:cNvSpPr/>
          <p:nvPr/>
        </p:nvSpPr>
        <p:spPr>
          <a:xfrm>
            <a:off x="3785616" y="2871442"/>
            <a:ext cx="19054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785616" y="3111337"/>
            <a:ext cx="17953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17490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1" name="Shape 39"/>
          <p:cNvSpPr/>
          <p:nvPr/>
        </p:nvSpPr>
        <p:spPr>
          <a:xfrm>
            <a:off x="3785616" y="3591128"/>
            <a:ext cx="157180"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785616" y="3831024"/>
            <a:ext cx="146799"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785616" y="4070920"/>
            <a:ext cx="13696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785616" y="4310815"/>
            <a:ext cx="769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7" name="Shape 55"/>
          <p:cNvSpPr/>
          <p:nvPr/>
        </p:nvSpPr>
        <p:spPr>
          <a:xfrm>
            <a:off x="3785616" y="4550711"/>
            <a:ext cx="75062"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1" name="Shape 59"/>
          <p:cNvSpPr/>
          <p:nvPr/>
        </p:nvSpPr>
        <p:spPr>
          <a:xfrm>
            <a:off x="3785616" y="4790606"/>
            <a:ext cx="6032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5" name="Shape 63"/>
          <p:cNvSpPr/>
          <p:nvPr/>
        </p:nvSpPr>
        <p:spPr>
          <a:xfrm>
            <a:off x="3785616" y="5030502"/>
            <a:ext cx="3557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2143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785616" y="5510293"/>
            <a:ext cx="1280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06884" y="1911860"/>
            <a:ext cx="29140"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9216705" y="2151755"/>
            <a:ext cx="119319"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155707" y="2391651"/>
            <a:ext cx="180317"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9144900" y="2631546"/>
            <a:ext cx="19112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9113369" y="2871442"/>
            <a:ext cx="2226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1" name="Shape 99"/>
          <p:cNvSpPr/>
          <p:nvPr/>
        </p:nvSpPr>
        <p:spPr>
          <a:xfrm>
            <a:off x="9069301" y="3111337"/>
            <a:ext cx="266723"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5" name="Shape 103"/>
          <p:cNvSpPr/>
          <p:nvPr/>
        </p:nvSpPr>
        <p:spPr>
          <a:xfrm>
            <a:off x="9051012" y="3351233"/>
            <a:ext cx="28501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963630" y="3591128"/>
            <a:ext cx="372394"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13" name="Shape 111"/>
          <p:cNvSpPr/>
          <p:nvPr/>
        </p:nvSpPr>
        <p:spPr>
          <a:xfrm>
            <a:off x="8947862" y="3831024"/>
            <a:ext cx="38816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7" name="Shape 115"/>
          <p:cNvSpPr/>
          <p:nvPr/>
        </p:nvSpPr>
        <p:spPr>
          <a:xfrm>
            <a:off x="8941405" y="4070920"/>
            <a:ext cx="39461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1" name="Shape 119"/>
          <p:cNvSpPr/>
          <p:nvPr/>
        </p:nvSpPr>
        <p:spPr>
          <a:xfrm>
            <a:off x="8905154" y="4310815"/>
            <a:ext cx="43087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5" name="Shape 123"/>
          <p:cNvSpPr/>
          <p:nvPr/>
        </p:nvSpPr>
        <p:spPr>
          <a:xfrm>
            <a:off x="8863913" y="4550711"/>
            <a:ext cx="47211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8798725" y="4790606"/>
            <a:ext cx="53729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3" name="Shape 131"/>
          <p:cNvSpPr/>
          <p:nvPr/>
        </p:nvSpPr>
        <p:spPr>
          <a:xfrm>
            <a:off x="8761661" y="5030502"/>
            <a:ext cx="5743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66984" y="5270397"/>
            <a:ext cx="76904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FBEBE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17 of 33 stores raised ROs per advisor. 16 declined.</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175</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Text 15"/>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253</a:t>
            </a:r>
            <a:endParaRPr lang="en-US" sz="1400" dirty="0"/>
          </a:p>
        </p:txBody>
      </p:sp>
      <p:sp>
        <p:nvSpPr>
          <p:cNvPr id="19" name="Text 17"/>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a:t>
            </a:r>
            <a:endParaRPr lang="en-US" sz="1600" dirty="0"/>
          </a:p>
        </p:txBody>
      </p:sp>
      <p:sp>
        <p:nvSpPr>
          <p:cNvPr id="20" name="Text 18"/>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194</a:t>
            </a:r>
            <a:endParaRPr lang="en-US" sz="1400" dirty="0"/>
          </a:p>
        </p:txBody>
      </p:sp>
      <p:sp>
        <p:nvSpPr>
          <p:cNvPr id="22" name="Text 20"/>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a:t>
            </a:r>
            <a:endParaRPr lang="en-US" sz="1600" dirty="0"/>
          </a:p>
        </p:txBody>
      </p:sp>
      <p:sp>
        <p:nvSpPr>
          <p:cNvPr id="23" name="Shape 21"/>
          <p:cNvSpPr/>
          <p:nvPr/>
        </p:nvSpPr>
        <p:spPr>
          <a:xfrm>
            <a:off x="658368" y="5416906"/>
            <a:ext cx="3489960" cy="828446"/>
          </a:xfrm>
          <a:prstGeom prst="rect">
            <a:avLst/>
          </a:prstGeom>
          <a:solidFill>
            <a:srgbClr val="F7F7F7"/>
          </a:solidFill>
          <a:ln/>
        </p:spPr>
      </p:sp>
      <p:sp>
        <p:nvSpPr>
          <p:cNvPr id="24" name="Text 22"/>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180</a:t>
            </a:r>
            <a:endParaRPr lang="en-US" sz="1400" dirty="0"/>
          </a:p>
        </p:txBody>
      </p:sp>
      <p:sp>
        <p:nvSpPr>
          <p:cNvPr id="26" name="Text 24"/>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0" name="Shape 28"/>
          <p:cNvSpPr/>
          <p:nvPr/>
        </p:nvSpPr>
        <p:spPr>
          <a:xfrm>
            <a:off x="4349496" y="2103120"/>
            <a:ext cx="3489960" cy="828446"/>
          </a:xfrm>
          <a:prstGeom prst="rect">
            <a:avLst/>
          </a:prstGeom>
          <a:solidFill>
            <a:srgbClr val="F7F7F7"/>
          </a:solidFill>
          <a:ln/>
        </p:spPr>
      </p:sp>
      <p:sp>
        <p:nvSpPr>
          <p:cNvPr id="31" name="Text 29"/>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244</a:t>
            </a:r>
            <a:endParaRPr lang="en-US" sz="1400" dirty="0"/>
          </a:p>
        </p:txBody>
      </p:sp>
      <p:sp>
        <p:nvSpPr>
          <p:cNvPr id="33" name="Text 31"/>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−59</a:t>
            </a:r>
            <a:endParaRPr lang="en-US" sz="1600" dirty="0"/>
          </a:p>
        </p:txBody>
      </p:sp>
      <p:sp>
        <p:nvSpPr>
          <p:cNvPr id="34" name="Text 32"/>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139</a:t>
            </a:r>
            <a:endParaRPr lang="en-US" sz="1400" dirty="0"/>
          </a:p>
        </p:txBody>
      </p:sp>
      <p:sp>
        <p:nvSpPr>
          <p:cNvPr id="36" name="Text 34"/>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−58</a:t>
            </a:r>
            <a:endParaRPr lang="en-US" sz="1600" dirty="0"/>
          </a:p>
        </p:txBody>
      </p:sp>
      <p:sp>
        <p:nvSpPr>
          <p:cNvPr id="37" name="Shape 35"/>
          <p:cNvSpPr/>
          <p:nvPr/>
        </p:nvSpPr>
        <p:spPr>
          <a:xfrm>
            <a:off x="4349496" y="3760013"/>
            <a:ext cx="3489960" cy="828446"/>
          </a:xfrm>
          <a:prstGeom prst="rect">
            <a:avLst/>
          </a:prstGeom>
          <a:solidFill>
            <a:srgbClr val="F7F7F7"/>
          </a:solidFill>
          <a:ln/>
        </p:spPr>
      </p:sp>
      <p:sp>
        <p:nvSpPr>
          <p:cNvPr id="38" name="Text 36"/>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123</a:t>
            </a:r>
            <a:endParaRPr lang="en-US" sz="1400" dirty="0"/>
          </a:p>
        </p:txBody>
      </p:sp>
      <p:sp>
        <p:nvSpPr>
          <p:cNvPr id="40" name="Text 38"/>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−43</a:t>
            </a:r>
            <a:endParaRPr lang="en-US" sz="1600" dirty="0"/>
          </a:p>
        </p:txBody>
      </p:sp>
      <p:sp>
        <p:nvSpPr>
          <p:cNvPr id="41" name="Text 39"/>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161</a:t>
            </a:r>
            <a:endParaRPr lang="en-US" sz="1400" dirty="0"/>
          </a:p>
        </p:txBody>
      </p:sp>
      <p:sp>
        <p:nvSpPr>
          <p:cNvPr id="43" name="Text 41"/>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a:t>
            </a:r>
            <a:endParaRPr lang="en-US" sz="1600" dirty="0"/>
          </a:p>
        </p:txBody>
      </p:sp>
      <p:sp>
        <p:nvSpPr>
          <p:cNvPr id="44" name="Shape 42"/>
          <p:cNvSpPr/>
          <p:nvPr/>
        </p:nvSpPr>
        <p:spPr>
          <a:xfrm>
            <a:off x="4349496" y="5416906"/>
            <a:ext cx="3489960" cy="828446"/>
          </a:xfrm>
          <a:prstGeom prst="rect">
            <a:avLst/>
          </a:prstGeom>
          <a:solidFill>
            <a:srgbClr val="F7F7F7"/>
          </a:solidFill>
          <a:ln/>
        </p:spPr>
      </p:sp>
      <p:sp>
        <p:nvSpPr>
          <p:cNvPr id="45" name="Text 43"/>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225</a:t>
            </a:r>
            <a:endParaRPr lang="en-US" sz="1400" dirty="0"/>
          </a:p>
        </p:txBody>
      </p:sp>
      <p:sp>
        <p:nvSpPr>
          <p:cNvPr id="47" name="Text 45"/>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−36</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1" name="Shape 49"/>
          <p:cNvSpPr/>
          <p:nvPr/>
        </p:nvSpPr>
        <p:spPr>
          <a:xfrm>
            <a:off x="8040624" y="2103120"/>
            <a:ext cx="3489960" cy="828446"/>
          </a:xfrm>
          <a:prstGeom prst="rect">
            <a:avLst/>
          </a:prstGeom>
          <a:solidFill>
            <a:srgbClr val="F7F7F7"/>
          </a:solidFill>
          <a:ln/>
        </p:spPr>
      </p:sp>
      <p:sp>
        <p:nvSpPr>
          <p:cNvPr id="52" name="Text 50"/>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175</a:t>
            </a:r>
            <a:endParaRPr lang="en-US" sz="1400" dirty="0"/>
          </a:p>
        </p:txBody>
      </p:sp>
      <p:sp>
        <p:nvSpPr>
          <p:cNvPr id="54" name="Text 52"/>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55" name="Text 53"/>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203</a:t>
            </a:r>
            <a:endParaRPr lang="en-US" sz="1400" dirty="0"/>
          </a:p>
        </p:txBody>
      </p:sp>
      <p:sp>
        <p:nvSpPr>
          <p:cNvPr id="57" name="Text 55"/>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a:t>
            </a:r>
            <a:endParaRPr lang="en-US" sz="1600" dirty="0"/>
          </a:p>
        </p:txBody>
      </p:sp>
      <p:sp>
        <p:nvSpPr>
          <p:cNvPr id="58" name="Shape 56"/>
          <p:cNvSpPr/>
          <p:nvPr/>
        </p:nvSpPr>
        <p:spPr>
          <a:xfrm>
            <a:off x="8040624" y="3760013"/>
            <a:ext cx="3489960" cy="828446"/>
          </a:xfrm>
          <a:prstGeom prst="rect">
            <a:avLst/>
          </a:prstGeom>
          <a:solidFill>
            <a:srgbClr val="F7F7F7"/>
          </a:solidFill>
          <a:ln/>
        </p:spPr>
      </p:sp>
      <p:sp>
        <p:nvSpPr>
          <p:cNvPr id="59" name="Text 57"/>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237</a:t>
            </a:r>
            <a:endParaRPr lang="en-US" sz="1400" dirty="0"/>
          </a:p>
        </p:txBody>
      </p:sp>
      <p:sp>
        <p:nvSpPr>
          <p:cNvPr id="61" name="Text 59"/>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
        <p:nvSpPr>
          <p:cNvPr id="62" name="Text 60"/>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186</a:t>
            </a:r>
            <a:endParaRPr lang="en-US" sz="1400" dirty="0"/>
          </a:p>
        </p:txBody>
      </p:sp>
      <p:sp>
        <p:nvSpPr>
          <p:cNvPr id="64" name="Text 62"/>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
        <p:nvSpPr>
          <p:cNvPr id="65" name="Shape 63"/>
          <p:cNvSpPr/>
          <p:nvPr/>
        </p:nvSpPr>
        <p:spPr>
          <a:xfrm>
            <a:off x="8040624" y="5416906"/>
            <a:ext cx="3489960" cy="828446"/>
          </a:xfrm>
          <a:prstGeom prst="rect">
            <a:avLst/>
          </a:prstGeom>
          <a:solidFill>
            <a:srgbClr val="F7F7F7"/>
          </a:solidFill>
          <a:ln/>
        </p:spPr>
      </p:sp>
      <p:sp>
        <p:nvSpPr>
          <p:cNvPr id="66" name="Text 64"/>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187</a:t>
            </a:r>
            <a:endParaRPr lang="en-US" sz="1400" dirty="0"/>
          </a:p>
        </p:txBody>
      </p:sp>
      <p:sp>
        <p:nvSpPr>
          <p:cNvPr id="68" name="Text 66"/>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+0.8</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0.8 to 26.8, ahead of 2025 in eight of nine months. Headcount fell 5.1%; ROs fell 2.3%.</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26.8</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17.4</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5" name="Shape 13"/>
          <p:cNvSpPr/>
          <p:nvPr/>
        </p:nvSpPr>
        <p:spPr>
          <a:xfrm>
            <a:off x="3008376" y="2155698"/>
            <a:ext cx="1658471"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9" name="Shape 17"/>
          <p:cNvSpPr/>
          <p:nvPr/>
        </p:nvSpPr>
        <p:spPr>
          <a:xfrm>
            <a:off x="3008376" y="2402586"/>
            <a:ext cx="1631155"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24.5</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3" name="Shape 21"/>
          <p:cNvSpPr/>
          <p:nvPr/>
        </p:nvSpPr>
        <p:spPr>
          <a:xfrm>
            <a:off x="3008376" y="2649474"/>
            <a:ext cx="1292169"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7" name="Shape 25"/>
          <p:cNvSpPr/>
          <p:nvPr/>
        </p:nvSpPr>
        <p:spPr>
          <a:xfrm>
            <a:off x="3008376" y="2896362"/>
            <a:ext cx="1269367"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19.0</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1" name="Shape 29"/>
          <p:cNvSpPr/>
          <p:nvPr/>
        </p:nvSpPr>
        <p:spPr>
          <a:xfrm>
            <a:off x="3008376" y="3143250"/>
            <a:ext cx="1120679" cy="123444"/>
          </a:xfrm>
          <a:prstGeom prst="rect">
            <a:avLst/>
          </a:prstGeom>
          <a:solidFill>
            <a:srgbClr val="C2352F"/>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16.8</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5" name="Shape 33"/>
          <p:cNvSpPr/>
          <p:nvPr/>
        </p:nvSpPr>
        <p:spPr>
          <a:xfrm>
            <a:off x="3008376" y="3390138"/>
            <a:ext cx="982182"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637026"/>
            <a:ext cx="981891"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3" name="Shape 41"/>
          <p:cNvSpPr/>
          <p:nvPr/>
        </p:nvSpPr>
        <p:spPr>
          <a:xfrm>
            <a:off x="3008376" y="3883914"/>
            <a:ext cx="981057"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7" name="Shape 45"/>
          <p:cNvSpPr/>
          <p:nvPr/>
        </p:nvSpPr>
        <p:spPr>
          <a:xfrm>
            <a:off x="3008376" y="4130802"/>
            <a:ext cx="910335"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29.3</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4" name="Shape 52"/>
          <p:cNvSpPr/>
          <p:nvPr/>
        </p:nvSpPr>
        <p:spPr>
          <a:xfrm>
            <a:off x="3008376" y="4624578"/>
            <a:ext cx="1584948"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39.8</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8" name="Shape 56"/>
          <p:cNvSpPr/>
          <p:nvPr/>
        </p:nvSpPr>
        <p:spPr>
          <a:xfrm>
            <a:off x="3008376" y="4871466"/>
            <a:ext cx="1531944"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38.5</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2" name="Shape 60"/>
          <p:cNvSpPr/>
          <p:nvPr/>
        </p:nvSpPr>
        <p:spPr>
          <a:xfrm>
            <a:off x="3008376" y="5118354"/>
            <a:ext cx="1488739"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37.4</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6" name="Shape 64"/>
          <p:cNvSpPr/>
          <p:nvPr/>
        </p:nvSpPr>
        <p:spPr>
          <a:xfrm>
            <a:off x="3008376" y="5365242"/>
            <a:ext cx="1465284"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0" name="Shape 68"/>
          <p:cNvSpPr/>
          <p:nvPr/>
        </p:nvSpPr>
        <p:spPr>
          <a:xfrm>
            <a:off x="3008376" y="5612130"/>
            <a:ext cx="1453454"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36.5</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4" name="Shape 72"/>
          <p:cNvSpPr/>
          <p:nvPr/>
        </p:nvSpPr>
        <p:spPr>
          <a:xfrm>
            <a:off x="3008376" y="5859018"/>
            <a:ext cx="1392914"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35.0</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8" name="Shape 76"/>
          <p:cNvSpPr/>
          <p:nvPr/>
        </p:nvSpPr>
        <p:spPr>
          <a:xfrm>
            <a:off x="3008376" y="6105906"/>
            <a:ext cx="1382090"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34.7</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29.3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4" name="Shape 82"/>
          <p:cNvSpPr/>
          <p:nvPr/>
        </p:nvSpPr>
        <p:spPr>
          <a:xfrm>
            <a:off x="8558784" y="2155698"/>
            <a:ext cx="1290776"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32.4</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8" name="Shape 86"/>
          <p:cNvSpPr/>
          <p:nvPr/>
        </p:nvSpPr>
        <p:spPr>
          <a:xfrm>
            <a:off x="8558784" y="2402586"/>
            <a:ext cx="1250314"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2" name="Shape 90"/>
          <p:cNvSpPr/>
          <p:nvPr/>
        </p:nvSpPr>
        <p:spPr>
          <a:xfrm>
            <a:off x="8558784" y="2649474"/>
            <a:ext cx="1249903"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6" name="Shape 94"/>
          <p:cNvSpPr/>
          <p:nvPr/>
        </p:nvSpPr>
        <p:spPr>
          <a:xfrm>
            <a:off x="8558784" y="2896362"/>
            <a:ext cx="1249400"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0" name="Shape 98"/>
          <p:cNvSpPr/>
          <p:nvPr/>
        </p:nvSpPr>
        <p:spPr>
          <a:xfrm>
            <a:off x="8558784" y="3143250"/>
            <a:ext cx="1244020"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31.3</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4" name="Shape 102"/>
          <p:cNvSpPr/>
          <p:nvPr/>
        </p:nvSpPr>
        <p:spPr>
          <a:xfrm>
            <a:off x="8558784" y="3390138"/>
            <a:ext cx="1237592" cy="123444"/>
          </a:xfrm>
          <a:prstGeom prst="rect">
            <a:avLst/>
          </a:prstGeom>
          <a:solidFill>
            <a:srgbClr val="12A566"/>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8" name="Shape 106"/>
          <p:cNvSpPr/>
          <p:nvPr/>
        </p:nvSpPr>
        <p:spPr>
          <a:xfrm>
            <a:off x="8558784" y="3637026"/>
            <a:ext cx="1215849" cy="123444"/>
          </a:xfrm>
          <a:prstGeom prst="rect">
            <a:avLst/>
          </a:prstGeom>
          <a:solidFill>
            <a:srgbClr val="12A566"/>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30.6</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2" name="Shape 110"/>
          <p:cNvSpPr/>
          <p:nvPr/>
        </p:nvSpPr>
        <p:spPr>
          <a:xfrm>
            <a:off x="8558784" y="3883914"/>
            <a:ext cx="1146869"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28.8</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6" name="Shape 114"/>
          <p:cNvSpPr/>
          <p:nvPr/>
        </p:nvSpPr>
        <p:spPr>
          <a:xfrm>
            <a:off x="8558784" y="4130802"/>
            <a:ext cx="1122936"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28.2</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0" name="Shape 118"/>
          <p:cNvSpPr/>
          <p:nvPr/>
        </p:nvSpPr>
        <p:spPr>
          <a:xfrm>
            <a:off x="8558784" y="4377690"/>
            <a:ext cx="1013406"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25.5</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4" name="Shape 122"/>
          <p:cNvSpPr/>
          <p:nvPr/>
        </p:nvSpPr>
        <p:spPr>
          <a:xfrm>
            <a:off x="8558784" y="4624578"/>
            <a:ext cx="940756"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8" name="Shape 126"/>
          <p:cNvSpPr/>
          <p:nvPr/>
        </p:nvSpPr>
        <p:spPr>
          <a:xfrm>
            <a:off x="8558784" y="4871466"/>
            <a:ext cx="900750"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22.6</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2" name="Shape 130"/>
          <p:cNvSpPr/>
          <p:nvPr/>
        </p:nvSpPr>
        <p:spPr>
          <a:xfrm>
            <a:off x="8558784" y="5118354"/>
            <a:ext cx="880007"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22.1</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6" name="Shape 134"/>
          <p:cNvSpPr/>
          <p:nvPr/>
        </p:nvSpPr>
        <p:spPr>
          <a:xfrm>
            <a:off x="8558784" y="5365242"/>
            <a:ext cx="832284"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20.9</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0" name="Shape 138"/>
          <p:cNvSpPr/>
          <p:nvPr/>
        </p:nvSpPr>
        <p:spPr>
          <a:xfrm>
            <a:off x="8558784" y="5612130"/>
            <a:ext cx="808680"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4" name="Shape 142"/>
          <p:cNvSpPr/>
          <p:nvPr/>
        </p:nvSpPr>
        <p:spPr>
          <a:xfrm>
            <a:off x="8558784" y="5859018"/>
            <a:ext cx="763360"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6105906"/>
            <a:ext cx="690045"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17.3</a:t>
            </a:r>
            <a:endParaRPr lang="en-US" sz="1200" dirty="0"/>
          </a:p>
        </p:txBody>
      </p:sp>
      <p:sp>
        <p:nvSpPr>
          <p:cNvPr id="150" name="Shape 148"/>
          <p:cNvSpPr/>
          <p:nvPr/>
        </p:nvSpPr>
        <p:spPr>
          <a:xfrm>
            <a:off x="4164984" y="2093976"/>
            <a:ext cx="14630" cy="2221992"/>
          </a:xfrm>
          <a:prstGeom prst="rect">
            <a:avLst/>
          </a:prstGeom>
          <a:solidFill>
            <a:srgbClr val="0B2C4A"/>
          </a:solidFill>
          <a:ln/>
        </p:spPr>
      </p:sp>
      <p:sp>
        <p:nvSpPr>
          <p:cNvPr id="151" name="Shape 149"/>
          <p:cNvSpPr/>
          <p:nvPr/>
        </p:nvSpPr>
        <p:spPr>
          <a:xfrm>
            <a:off x="4164984" y="4562856"/>
            <a:ext cx="14630" cy="1728216"/>
          </a:xfrm>
          <a:prstGeom prst="rect">
            <a:avLst/>
          </a:prstGeom>
          <a:solidFill>
            <a:srgbClr val="0B2C4A"/>
          </a:solidFill>
          <a:ln/>
        </p:spPr>
      </p:sp>
      <p:sp>
        <p:nvSpPr>
          <p:cNvPr id="152" name="Shape 150"/>
          <p:cNvSpPr/>
          <p:nvPr/>
        </p:nvSpPr>
        <p:spPr>
          <a:xfrm>
            <a:off x="9715392"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54493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1" name="Shape 19"/>
          <p:cNvSpPr/>
          <p:nvPr/>
        </p:nvSpPr>
        <p:spPr>
          <a:xfrm>
            <a:off x="3785616" y="2391651"/>
            <a:ext cx="43004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412371"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785616" y="2871442"/>
            <a:ext cx="36872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3" name="Shape 31"/>
          <p:cNvSpPr/>
          <p:nvPr/>
        </p:nvSpPr>
        <p:spPr>
          <a:xfrm>
            <a:off x="3785616" y="3111337"/>
            <a:ext cx="31398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785616" y="3351233"/>
            <a:ext cx="24616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1" name="Shape 39"/>
          <p:cNvSpPr/>
          <p:nvPr/>
        </p:nvSpPr>
        <p:spPr>
          <a:xfrm>
            <a:off x="3785616" y="3591128"/>
            <a:ext cx="24324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785616" y="3831024"/>
            <a:ext cx="20206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7851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785616" y="4310815"/>
            <a:ext cx="170934"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11618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1" name="Shape 59"/>
          <p:cNvSpPr/>
          <p:nvPr/>
        </p:nvSpPr>
        <p:spPr>
          <a:xfrm>
            <a:off x="3785616" y="4790606"/>
            <a:ext cx="10925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5" name="Shape 63"/>
          <p:cNvSpPr/>
          <p:nvPr/>
        </p:nvSpPr>
        <p:spPr>
          <a:xfrm>
            <a:off x="3785616" y="5030502"/>
            <a:ext cx="9989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85616" y="5270397"/>
            <a:ext cx="8978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785616" y="5510293"/>
            <a:ext cx="81310"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7346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1" name="Shape 79"/>
          <p:cNvSpPr/>
          <p:nvPr/>
        </p:nvSpPr>
        <p:spPr>
          <a:xfrm>
            <a:off x="9336024" y="1911860"/>
            <a:ext cx="615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5" name="Shape 83"/>
          <p:cNvSpPr/>
          <p:nvPr/>
        </p:nvSpPr>
        <p:spPr>
          <a:xfrm>
            <a:off x="9336024" y="2151755"/>
            <a:ext cx="55474"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45730"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3" name="Shape 91"/>
          <p:cNvSpPr/>
          <p:nvPr/>
        </p:nvSpPr>
        <p:spPr>
          <a:xfrm>
            <a:off x="9336024" y="2631546"/>
            <a:ext cx="33279"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336024" y="2871442"/>
            <a:ext cx="2831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9331623" y="3111337"/>
            <a:ext cx="12802"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320203" y="3351233"/>
            <a:ext cx="1582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9316313" y="3591128"/>
            <a:ext cx="1971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3" name="Shape 111"/>
          <p:cNvSpPr/>
          <p:nvPr/>
        </p:nvSpPr>
        <p:spPr>
          <a:xfrm>
            <a:off x="9221677" y="3831024"/>
            <a:ext cx="11434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7" name="Shape 115"/>
          <p:cNvSpPr/>
          <p:nvPr/>
        </p:nvSpPr>
        <p:spPr>
          <a:xfrm>
            <a:off x="9212713" y="4070920"/>
            <a:ext cx="12331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1" name="Shape 119"/>
          <p:cNvSpPr/>
          <p:nvPr/>
        </p:nvSpPr>
        <p:spPr>
          <a:xfrm>
            <a:off x="9201004" y="4310815"/>
            <a:ext cx="13502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5" name="Shape 123"/>
          <p:cNvSpPr/>
          <p:nvPr/>
        </p:nvSpPr>
        <p:spPr>
          <a:xfrm>
            <a:off x="9180928" y="4550711"/>
            <a:ext cx="155096"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011951" y="4790606"/>
            <a:ext cx="324073"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887261" y="5030502"/>
            <a:ext cx="4487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7" name="Shape 135"/>
          <p:cNvSpPr/>
          <p:nvPr/>
        </p:nvSpPr>
        <p:spPr>
          <a:xfrm>
            <a:off x="8683531" y="5270397"/>
            <a:ext cx="65249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1" name="Shape 139"/>
          <p:cNvSpPr/>
          <p:nvPr/>
        </p:nvSpPr>
        <p:spPr>
          <a:xfrm>
            <a:off x="8594867" y="5510293"/>
            <a:ext cx="74115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−6.6</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fixed employee. 11 declined.</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31.4</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+6.9</a:t>
            </a:r>
            <a:endParaRPr lang="en-US" sz="16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28.8</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30.6</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a:t>
            </a:r>
            <a:endParaRPr lang="en-US" sz="1600" dirty="0"/>
          </a:p>
        </p:txBody>
      </p:sp>
      <p:sp>
        <p:nvSpPr>
          <p:cNvPr id="21" name="Shape 19"/>
          <p:cNvSpPr/>
          <p:nvPr/>
        </p:nvSpPr>
        <p:spPr>
          <a:xfrm>
            <a:off x="4084320" y="4625035"/>
            <a:ext cx="64008" cy="755294"/>
          </a:xfrm>
          <a:prstGeom prst="rect">
            <a:avLst/>
          </a:prstGeom>
          <a:solidFill>
            <a:srgbClr val="12A566"/>
          </a:solidFill>
          <a:ln/>
        </p:spPr>
      </p:sp>
      <p:sp>
        <p:nvSpPr>
          <p:cNvPr id="22" name="Text 20"/>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3" name="Text 21"/>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36.8</a:t>
            </a:r>
            <a:endParaRPr lang="en-US" sz="1400" dirty="0"/>
          </a:p>
        </p:txBody>
      </p:sp>
      <p:sp>
        <p:nvSpPr>
          <p:cNvPr id="24" name="Text 22"/>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+3.6</a:t>
            </a:r>
            <a:endParaRPr lang="en-US" sz="1600" dirty="0"/>
          </a:p>
        </p:txBody>
      </p:sp>
      <p:sp>
        <p:nvSpPr>
          <p:cNvPr id="25" name="Shape 23"/>
          <p:cNvSpPr/>
          <p:nvPr/>
        </p:nvSpPr>
        <p:spPr>
          <a:xfrm>
            <a:off x="658368" y="5416906"/>
            <a:ext cx="3489960" cy="828446"/>
          </a:xfrm>
          <a:prstGeom prst="rect">
            <a:avLst/>
          </a:prstGeom>
          <a:solidFill>
            <a:srgbClr val="F7F7F7"/>
          </a:solidFill>
          <a:ln/>
        </p:spPr>
      </p:sp>
      <p:sp>
        <p:nvSpPr>
          <p:cNvPr id="26" name="Text 24"/>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19.2</a:t>
            </a:r>
            <a:endParaRPr lang="en-US" sz="1400" dirty="0"/>
          </a:p>
        </p:txBody>
      </p:sp>
      <p:sp>
        <p:nvSpPr>
          <p:cNvPr id="28" name="Text 26"/>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2" name="Shape 30"/>
          <p:cNvSpPr/>
          <p:nvPr/>
        </p:nvSpPr>
        <p:spPr>
          <a:xfrm>
            <a:off x="4349496" y="2103120"/>
            <a:ext cx="3489960" cy="828446"/>
          </a:xfrm>
          <a:prstGeom prst="rect">
            <a:avLst/>
          </a:prstGeom>
          <a:solidFill>
            <a:srgbClr val="F7F7F7"/>
          </a:solidFill>
          <a:ln/>
        </p:spPr>
      </p:sp>
      <p:sp>
        <p:nvSpPr>
          <p:cNvPr id="33" name="Text 31"/>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4" name="Text 32"/>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46.4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39.8</a:t>
            </a:r>
            <a:endParaRPr lang="en-US" sz="1400" dirty="0"/>
          </a:p>
        </p:txBody>
      </p:sp>
      <p:sp>
        <p:nvSpPr>
          <p:cNvPr id="35" name="Text 33"/>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−6.6</a:t>
            </a:r>
            <a:endParaRPr lang="en-US" sz="1600" dirty="0"/>
          </a:p>
        </p:txBody>
      </p:sp>
      <p:sp>
        <p:nvSpPr>
          <p:cNvPr id="36" name="Text 34"/>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32.4</a:t>
            </a:r>
            <a:endParaRPr lang="en-US" sz="1400" dirty="0"/>
          </a:p>
        </p:txBody>
      </p:sp>
      <p:sp>
        <p:nvSpPr>
          <p:cNvPr id="38" name="Text 36"/>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−5.8</a:t>
            </a:r>
            <a:endParaRPr lang="en-US" sz="1600" dirty="0"/>
          </a:p>
        </p:txBody>
      </p:sp>
      <p:sp>
        <p:nvSpPr>
          <p:cNvPr id="39" name="Shape 37"/>
          <p:cNvSpPr/>
          <p:nvPr/>
        </p:nvSpPr>
        <p:spPr>
          <a:xfrm>
            <a:off x="4349496" y="3760013"/>
            <a:ext cx="3489960" cy="828446"/>
          </a:xfrm>
          <a:prstGeom prst="rect">
            <a:avLst/>
          </a:prstGeom>
          <a:solidFill>
            <a:srgbClr val="F7F7F7"/>
          </a:solidFill>
          <a:ln/>
        </p:spPr>
      </p:sp>
      <p:sp>
        <p:nvSpPr>
          <p:cNvPr id="40" name="Text 38"/>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31.1</a:t>
            </a:r>
            <a:endParaRPr lang="en-US" sz="1400" dirty="0"/>
          </a:p>
        </p:txBody>
      </p:sp>
      <p:sp>
        <p:nvSpPr>
          <p:cNvPr id="42" name="Text 40"/>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−4.0</a:t>
            </a:r>
            <a:endParaRPr lang="en-US" sz="1600" dirty="0"/>
          </a:p>
        </p:txBody>
      </p:sp>
      <p:sp>
        <p:nvSpPr>
          <p:cNvPr id="43" name="Text 41"/>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31.4</a:t>
            </a:r>
            <a:endParaRPr lang="en-US" sz="1400" dirty="0"/>
          </a:p>
        </p:txBody>
      </p:sp>
      <p:sp>
        <p:nvSpPr>
          <p:cNvPr id="45" name="Text 43"/>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a:t>
            </a:r>
            <a:endParaRPr lang="en-US" sz="1600" dirty="0"/>
          </a:p>
        </p:txBody>
      </p:sp>
      <p:sp>
        <p:nvSpPr>
          <p:cNvPr id="46" name="Shape 44"/>
          <p:cNvSpPr/>
          <p:nvPr/>
        </p:nvSpPr>
        <p:spPr>
          <a:xfrm>
            <a:off x="4349496" y="5416906"/>
            <a:ext cx="3489960" cy="828446"/>
          </a:xfrm>
          <a:prstGeom prst="rect">
            <a:avLst/>
          </a:prstGeom>
          <a:solidFill>
            <a:srgbClr val="F7F7F7"/>
          </a:solidFill>
          <a:ln/>
        </p:spPr>
      </p:sp>
      <p:sp>
        <p:nvSpPr>
          <p:cNvPr id="47" name="Text 45"/>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24.5</a:t>
            </a:r>
            <a:endParaRPr lang="en-US" sz="1400" dirty="0"/>
          </a:p>
        </p:txBody>
      </p:sp>
      <p:sp>
        <p:nvSpPr>
          <p:cNvPr id="49" name="Text 47"/>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3" name="Shape 51"/>
          <p:cNvSpPr/>
          <p:nvPr/>
        </p:nvSpPr>
        <p:spPr>
          <a:xfrm>
            <a:off x="8040624" y="2103120"/>
            <a:ext cx="3489960" cy="828446"/>
          </a:xfrm>
          <a:prstGeom prst="rect">
            <a:avLst/>
          </a:prstGeom>
          <a:solidFill>
            <a:srgbClr val="F7F7F7"/>
          </a:solidFill>
          <a:ln/>
        </p:spPr>
      </p:sp>
      <p:sp>
        <p:nvSpPr>
          <p:cNvPr id="54" name="Shape 52"/>
          <p:cNvSpPr/>
          <p:nvPr/>
        </p:nvSpPr>
        <p:spPr>
          <a:xfrm>
            <a:off x="11466576" y="2139696"/>
            <a:ext cx="64008" cy="755294"/>
          </a:xfrm>
          <a:prstGeom prst="rect">
            <a:avLst/>
          </a:prstGeom>
          <a:solidFill>
            <a:srgbClr val="12A566"/>
          </a:solidFill>
          <a:ln/>
        </p:spPr>
      </p:sp>
      <p:sp>
        <p:nvSpPr>
          <p:cNvPr id="55" name="Text 53"/>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40.3</a:t>
            </a:r>
            <a:endParaRPr lang="en-US" sz="1400" dirty="0"/>
          </a:p>
        </p:txBody>
      </p:sp>
      <p:sp>
        <p:nvSpPr>
          <p:cNvPr id="57" name="Text 55"/>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+10.4</a:t>
            </a:r>
            <a:endParaRPr lang="en-US" sz="1600" dirty="0"/>
          </a:p>
        </p:txBody>
      </p:sp>
      <p:sp>
        <p:nvSpPr>
          <p:cNvPr id="58" name="Text 56"/>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9" name="Text 57"/>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28.3</a:t>
            </a:r>
            <a:endParaRPr lang="en-US" sz="1400" dirty="0"/>
          </a:p>
        </p:txBody>
      </p:sp>
      <p:sp>
        <p:nvSpPr>
          <p:cNvPr id="60" name="Text 58"/>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+9.4</a:t>
            </a:r>
            <a:endParaRPr lang="en-US" sz="1600" dirty="0"/>
          </a:p>
        </p:txBody>
      </p:sp>
      <p:sp>
        <p:nvSpPr>
          <p:cNvPr id="61" name="Shape 59"/>
          <p:cNvSpPr/>
          <p:nvPr/>
        </p:nvSpPr>
        <p:spPr>
          <a:xfrm>
            <a:off x="8040624" y="3760013"/>
            <a:ext cx="3489960" cy="828446"/>
          </a:xfrm>
          <a:prstGeom prst="rect">
            <a:avLst/>
          </a:prstGeom>
          <a:solidFill>
            <a:srgbClr val="F7F7F7"/>
          </a:solidFill>
          <a:ln/>
        </p:spPr>
      </p:sp>
      <p:sp>
        <p:nvSpPr>
          <p:cNvPr id="62" name="Shape 60"/>
          <p:cNvSpPr/>
          <p:nvPr/>
        </p:nvSpPr>
        <p:spPr>
          <a:xfrm>
            <a:off x="11466576" y="3796589"/>
            <a:ext cx="64008" cy="755294"/>
          </a:xfrm>
          <a:prstGeom prst="rect">
            <a:avLst/>
          </a:prstGeom>
          <a:solidFill>
            <a:srgbClr val="12A566"/>
          </a:solidFill>
          <a:ln/>
        </p:spPr>
      </p:sp>
      <p:sp>
        <p:nvSpPr>
          <p:cNvPr id="63" name="Text 61"/>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4" name="Text 62"/>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33.1</a:t>
            </a:r>
            <a:endParaRPr lang="en-US" sz="1400" dirty="0"/>
          </a:p>
        </p:txBody>
      </p:sp>
      <p:sp>
        <p:nvSpPr>
          <p:cNvPr id="65" name="Text 63"/>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+6.0</a:t>
            </a:r>
            <a:endParaRPr lang="en-US" sz="1600" dirty="0"/>
          </a:p>
        </p:txBody>
      </p:sp>
      <p:sp>
        <p:nvSpPr>
          <p:cNvPr id="66" name="Text 64"/>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37.4</a:t>
            </a:r>
            <a:endParaRPr lang="en-US" sz="1400" dirty="0"/>
          </a:p>
        </p:txBody>
      </p:sp>
      <p:sp>
        <p:nvSpPr>
          <p:cNvPr id="68" name="Text 66"/>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a:t>
            </a:r>
            <a:endParaRPr lang="en-US" sz="1600" dirty="0"/>
          </a:p>
        </p:txBody>
      </p:sp>
      <p:sp>
        <p:nvSpPr>
          <p:cNvPr id="69" name="Shape 67"/>
          <p:cNvSpPr/>
          <p:nvPr/>
        </p:nvSpPr>
        <p:spPr>
          <a:xfrm>
            <a:off x="8040624" y="5416906"/>
            <a:ext cx="3489960" cy="828446"/>
          </a:xfrm>
          <a:prstGeom prst="rect">
            <a:avLst/>
          </a:prstGeom>
          <a:solidFill>
            <a:srgbClr val="F7F7F7"/>
          </a:solidFill>
          <a:ln/>
        </p:spPr>
      </p:sp>
      <p:sp>
        <p:nvSpPr>
          <p:cNvPr id="70" name="Text 68"/>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a:t>
            </a:r>
            <a:endParaRPr lang="en-US" sz="1400" dirty="0"/>
          </a:p>
        </p:txBody>
      </p:sp>
      <p:sp>
        <p:nvSpPr>
          <p:cNvPr id="72" name="Text 70"/>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390</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Manager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13 to 390, ahead of 2025 in eight of nine months. Managers fell 5.6%.</a:t>
            </a:r>
            <a:endParaRPr lang="en-US" sz="1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390</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276</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 name="Shape 13"/>
          <p:cNvSpPr/>
          <p:nvPr/>
        </p:nvSpPr>
        <p:spPr>
          <a:xfrm>
            <a:off x="3008376" y="2155698"/>
            <a:ext cx="1208610"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491</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9" name="Shape 17"/>
          <p:cNvSpPr/>
          <p:nvPr/>
        </p:nvSpPr>
        <p:spPr>
          <a:xfrm>
            <a:off x="3008376" y="2402586"/>
            <a:ext cx="902480"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367</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3" name="Shape 21"/>
          <p:cNvSpPr/>
          <p:nvPr/>
        </p:nvSpPr>
        <p:spPr>
          <a:xfrm>
            <a:off x="3008376" y="2649474"/>
            <a:ext cx="819371"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333</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7" name="Shape 25"/>
          <p:cNvSpPr/>
          <p:nvPr/>
        </p:nvSpPr>
        <p:spPr>
          <a:xfrm>
            <a:off x="3008376" y="2896362"/>
            <a:ext cx="717480"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291</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1" name="Shape 29"/>
          <p:cNvSpPr/>
          <p:nvPr/>
        </p:nvSpPr>
        <p:spPr>
          <a:xfrm>
            <a:off x="3008376" y="3143250"/>
            <a:ext cx="707906"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288</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5" name="Shape 33"/>
          <p:cNvSpPr/>
          <p:nvPr/>
        </p:nvSpPr>
        <p:spPr>
          <a:xfrm>
            <a:off x="3008376" y="3390138"/>
            <a:ext cx="619947"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637026"/>
            <a:ext cx="488532"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198</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3" name="Shape 41"/>
          <p:cNvSpPr/>
          <p:nvPr/>
        </p:nvSpPr>
        <p:spPr>
          <a:xfrm>
            <a:off x="3008376" y="3883914"/>
            <a:ext cx="349030"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7" name="Shape 45"/>
          <p:cNvSpPr/>
          <p:nvPr/>
        </p:nvSpPr>
        <p:spPr>
          <a:xfrm>
            <a:off x="3008376" y="4130802"/>
            <a:ext cx="291998"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418</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4" name="Shape 52"/>
          <p:cNvSpPr/>
          <p:nvPr/>
        </p:nvSpPr>
        <p:spPr>
          <a:xfrm>
            <a:off x="3008376" y="4624578"/>
            <a:ext cx="1658471"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1,022</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8" name="Shape 56"/>
          <p:cNvSpPr/>
          <p:nvPr/>
        </p:nvSpPr>
        <p:spPr>
          <a:xfrm>
            <a:off x="3008376" y="4871466"/>
            <a:ext cx="1241954"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765</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2" name="Shape 60"/>
          <p:cNvSpPr/>
          <p:nvPr/>
        </p:nvSpPr>
        <p:spPr>
          <a:xfrm>
            <a:off x="3008376" y="5118354"/>
            <a:ext cx="1113250"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686</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6" name="Shape 64"/>
          <p:cNvSpPr/>
          <p:nvPr/>
        </p:nvSpPr>
        <p:spPr>
          <a:xfrm>
            <a:off x="3008376" y="5365242"/>
            <a:ext cx="1066361"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657</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0" name="Shape 68"/>
          <p:cNvSpPr/>
          <p:nvPr/>
        </p:nvSpPr>
        <p:spPr>
          <a:xfrm>
            <a:off x="3008376" y="5612130"/>
            <a:ext cx="958457"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591</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4" name="Shape 72"/>
          <p:cNvSpPr/>
          <p:nvPr/>
        </p:nvSpPr>
        <p:spPr>
          <a:xfrm>
            <a:off x="3008376" y="5859018"/>
            <a:ext cx="908517"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560</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8" name="Shape 76"/>
          <p:cNvSpPr/>
          <p:nvPr/>
        </p:nvSpPr>
        <p:spPr>
          <a:xfrm>
            <a:off x="3008376" y="6105906"/>
            <a:ext cx="693414"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418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4" name="Shape 82"/>
          <p:cNvSpPr/>
          <p:nvPr/>
        </p:nvSpPr>
        <p:spPr>
          <a:xfrm>
            <a:off x="8558784" y="2155698"/>
            <a:ext cx="647677" cy="123444"/>
          </a:xfrm>
          <a:prstGeom prst="rect">
            <a:avLst/>
          </a:prstGeom>
          <a:solidFill>
            <a:srgbClr val="C2352F"/>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399</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8" name="Shape 86"/>
          <p:cNvSpPr/>
          <p:nvPr/>
        </p:nvSpPr>
        <p:spPr>
          <a:xfrm>
            <a:off x="8558784" y="2402586"/>
            <a:ext cx="636291" cy="123444"/>
          </a:xfrm>
          <a:prstGeom prst="rect">
            <a:avLst/>
          </a:prstGeom>
          <a:solidFill>
            <a:srgbClr val="C2352F"/>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392</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2" name="Shape 90"/>
          <p:cNvSpPr/>
          <p:nvPr/>
        </p:nvSpPr>
        <p:spPr>
          <a:xfrm>
            <a:off x="8558784" y="2649474"/>
            <a:ext cx="610998" cy="123444"/>
          </a:xfrm>
          <a:prstGeom prst="rect">
            <a:avLst/>
          </a:prstGeom>
          <a:solidFill>
            <a:srgbClr val="C2352F"/>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376</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6" name="Shape 94"/>
          <p:cNvSpPr/>
          <p:nvPr/>
        </p:nvSpPr>
        <p:spPr>
          <a:xfrm>
            <a:off x="8558784" y="2896362"/>
            <a:ext cx="599576" cy="123444"/>
          </a:xfrm>
          <a:prstGeom prst="rect">
            <a:avLst/>
          </a:prstGeom>
          <a:solidFill>
            <a:srgbClr val="C2352F"/>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0" name="Shape 98"/>
          <p:cNvSpPr/>
          <p:nvPr/>
        </p:nvSpPr>
        <p:spPr>
          <a:xfrm>
            <a:off x="8558784" y="3143250"/>
            <a:ext cx="577815" cy="123444"/>
          </a:xfrm>
          <a:prstGeom prst="rect">
            <a:avLst/>
          </a:prstGeom>
          <a:solidFill>
            <a:srgbClr val="C2352F"/>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4" name="Shape 102"/>
          <p:cNvSpPr/>
          <p:nvPr/>
        </p:nvSpPr>
        <p:spPr>
          <a:xfrm>
            <a:off x="8558784" y="3390138"/>
            <a:ext cx="570170"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08" name="Shape 106"/>
          <p:cNvSpPr/>
          <p:nvPr/>
        </p:nvSpPr>
        <p:spPr>
          <a:xfrm>
            <a:off x="8558784" y="3637026"/>
            <a:ext cx="530626"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327</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12" name="Shape 110"/>
          <p:cNvSpPr/>
          <p:nvPr/>
        </p:nvSpPr>
        <p:spPr>
          <a:xfrm>
            <a:off x="8558784" y="3883914"/>
            <a:ext cx="500448"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6" name="Shape 114"/>
          <p:cNvSpPr/>
          <p:nvPr/>
        </p:nvSpPr>
        <p:spPr>
          <a:xfrm>
            <a:off x="8558784" y="4130802"/>
            <a:ext cx="485961"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299</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0" name="Shape 118"/>
          <p:cNvSpPr/>
          <p:nvPr/>
        </p:nvSpPr>
        <p:spPr>
          <a:xfrm>
            <a:off x="8558784" y="4377690"/>
            <a:ext cx="442919"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4" name="Shape 122"/>
          <p:cNvSpPr/>
          <p:nvPr/>
        </p:nvSpPr>
        <p:spPr>
          <a:xfrm>
            <a:off x="8558784" y="4624578"/>
            <a:ext cx="441477"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272</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8" name="Shape 126"/>
          <p:cNvSpPr/>
          <p:nvPr/>
        </p:nvSpPr>
        <p:spPr>
          <a:xfrm>
            <a:off x="8558784" y="4871466"/>
            <a:ext cx="377230"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232</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2" name="Shape 130"/>
          <p:cNvSpPr/>
          <p:nvPr/>
        </p:nvSpPr>
        <p:spPr>
          <a:xfrm>
            <a:off x="8558784" y="5118354"/>
            <a:ext cx="373849"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230</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6" name="Shape 134"/>
          <p:cNvSpPr/>
          <p:nvPr/>
        </p:nvSpPr>
        <p:spPr>
          <a:xfrm>
            <a:off x="8558784" y="5365242"/>
            <a:ext cx="357077"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0" name="Shape 138"/>
          <p:cNvSpPr/>
          <p:nvPr/>
        </p:nvSpPr>
        <p:spPr>
          <a:xfrm>
            <a:off x="8558784" y="5612130"/>
            <a:ext cx="329917"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4" name="Shape 142"/>
          <p:cNvSpPr/>
          <p:nvPr/>
        </p:nvSpPr>
        <p:spPr>
          <a:xfrm>
            <a:off x="8558784" y="5859018"/>
            <a:ext cx="312404"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6105906"/>
            <a:ext cx="249232"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50" name="Shape 148"/>
          <p:cNvSpPr/>
          <p:nvPr/>
        </p:nvSpPr>
        <p:spPr>
          <a:xfrm>
            <a:off x="3679521" y="2093976"/>
            <a:ext cx="14630" cy="2221992"/>
          </a:xfrm>
          <a:prstGeom prst="rect">
            <a:avLst/>
          </a:prstGeom>
          <a:solidFill>
            <a:srgbClr val="0B2C4A"/>
          </a:solidFill>
          <a:ln/>
        </p:spPr>
      </p:sp>
      <p:sp>
        <p:nvSpPr>
          <p:cNvPr id="151" name="Shape 149"/>
          <p:cNvSpPr/>
          <p:nvPr/>
        </p:nvSpPr>
        <p:spPr>
          <a:xfrm>
            <a:off x="3679521" y="4562856"/>
            <a:ext cx="14630" cy="1728216"/>
          </a:xfrm>
          <a:prstGeom prst="rect">
            <a:avLst/>
          </a:prstGeom>
          <a:solidFill>
            <a:srgbClr val="0B2C4A"/>
          </a:solidFill>
          <a:ln/>
        </p:spPr>
      </p:sp>
      <p:sp>
        <p:nvSpPr>
          <p:cNvPr id="152" name="Shape 150"/>
          <p:cNvSpPr/>
          <p:nvPr/>
        </p:nvSpPr>
        <p:spPr>
          <a:xfrm>
            <a:off x="9229929"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3785616" y="1911860"/>
            <a:ext cx="50319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+182</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 name="Shape 15"/>
          <p:cNvSpPr/>
          <p:nvPr/>
        </p:nvSpPr>
        <p:spPr>
          <a:xfrm>
            <a:off x="3785616" y="2151755"/>
            <a:ext cx="46961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1" name="Shape 19"/>
          <p:cNvSpPr/>
          <p:nvPr/>
        </p:nvSpPr>
        <p:spPr>
          <a:xfrm>
            <a:off x="3785616" y="2391651"/>
            <a:ext cx="335572"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5" name="Shape 23"/>
          <p:cNvSpPr/>
          <p:nvPr/>
        </p:nvSpPr>
        <p:spPr>
          <a:xfrm>
            <a:off x="3785616" y="2631546"/>
            <a:ext cx="33081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785616" y="2871442"/>
            <a:ext cx="32212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3" name="Shape 31"/>
          <p:cNvSpPr/>
          <p:nvPr/>
        </p:nvSpPr>
        <p:spPr>
          <a:xfrm>
            <a:off x="3785616" y="3111337"/>
            <a:ext cx="14689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785616" y="3351233"/>
            <a:ext cx="13212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785616" y="3591128"/>
            <a:ext cx="129359"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5" name="Shape 43"/>
          <p:cNvSpPr/>
          <p:nvPr/>
        </p:nvSpPr>
        <p:spPr>
          <a:xfrm>
            <a:off x="3785616" y="3831024"/>
            <a:ext cx="12241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785616" y="4070920"/>
            <a:ext cx="10595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6345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785616" y="4550711"/>
            <a:ext cx="4809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1" name="Shape 59"/>
          <p:cNvSpPr/>
          <p:nvPr/>
        </p:nvSpPr>
        <p:spPr>
          <a:xfrm>
            <a:off x="3785616" y="4790606"/>
            <a:ext cx="39795"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5" name="Shape 63"/>
          <p:cNvSpPr/>
          <p:nvPr/>
        </p:nvSpPr>
        <p:spPr>
          <a:xfrm>
            <a:off x="3785616" y="5030502"/>
            <a:ext cx="29040"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28477"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14904"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93" name="Shape 91"/>
          <p:cNvSpPr/>
          <p:nvPr/>
        </p:nvSpPr>
        <p:spPr>
          <a:xfrm>
            <a:off x="9336024" y="2631546"/>
            <a:ext cx="1280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9321794" y="3111337"/>
            <a:ext cx="14230"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9260296" y="3351233"/>
            <a:ext cx="75728"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258738" y="3591128"/>
            <a:ext cx="77286"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3" name="Shape 111"/>
          <p:cNvSpPr/>
          <p:nvPr/>
        </p:nvSpPr>
        <p:spPr>
          <a:xfrm>
            <a:off x="9257048" y="3831024"/>
            <a:ext cx="78976"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246915" y="4070920"/>
            <a:ext cx="8910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9238712" y="4310815"/>
            <a:ext cx="9731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5" name="Shape 123"/>
          <p:cNvSpPr/>
          <p:nvPr/>
        </p:nvSpPr>
        <p:spPr>
          <a:xfrm>
            <a:off x="9192589" y="4550711"/>
            <a:ext cx="14343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181874" y="4790606"/>
            <a:ext cx="154150"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33" name="Shape 131"/>
          <p:cNvSpPr/>
          <p:nvPr/>
        </p:nvSpPr>
        <p:spPr>
          <a:xfrm>
            <a:off x="9137803" y="5030502"/>
            <a:ext cx="19822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7" name="Shape 135"/>
          <p:cNvSpPr/>
          <p:nvPr/>
        </p:nvSpPr>
        <p:spPr>
          <a:xfrm>
            <a:off x="9074707" y="5270397"/>
            <a:ext cx="261317"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manager. 11 declined.</a:t>
            </a:r>
            <a:endParaRPr lang="en-US" sz="16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1,022</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+182</a:t>
            </a:r>
            <a:endParaRPr lang="en-US" sz="16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686</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+170</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Shape 16"/>
          <p:cNvSpPr/>
          <p:nvPr/>
        </p:nvSpPr>
        <p:spPr>
          <a:xfrm>
            <a:off x="4084320" y="3796589"/>
            <a:ext cx="64008" cy="755294"/>
          </a:xfrm>
          <a:prstGeom prst="rect">
            <a:avLst/>
          </a:prstGeom>
          <a:solidFill>
            <a:srgbClr val="12A566"/>
          </a:solidFill>
          <a:ln/>
        </p:spPr>
      </p:sp>
      <p:sp>
        <p:nvSpPr>
          <p:cNvPr id="19" name="Text 17"/>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8"/>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657</a:t>
            </a:r>
            <a:endParaRPr lang="en-US" sz="1400" dirty="0"/>
          </a:p>
        </p:txBody>
      </p:sp>
      <p:sp>
        <p:nvSpPr>
          <p:cNvPr id="21" name="Text 19"/>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+121</a:t>
            </a:r>
            <a:endParaRPr lang="en-US" sz="1600" dirty="0"/>
          </a:p>
        </p:txBody>
      </p:sp>
      <p:sp>
        <p:nvSpPr>
          <p:cNvPr id="22" name="Text 20"/>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3" name="Text 21"/>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591</a:t>
            </a:r>
            <a:endParaRPr lang="en-US" sz="1400" dirty="0"/>
          </a:p>
        </p:txBody>
      </p:sp>
      <p:sp>
        <p:nvSpPr>
          <p:cNvPr id="24" name="Text 22"/>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+120</a:t>
            </a:r>
            <a:endParaRPr lang="en-US" sz="1600" dirty="0"/>
          </a:p>
        </p:txBody>
      </p:sp>
      <p:sp>
        <p:nvSpPr>
          <p:cNvPr id="25" name="Shape 23"/>
          <p:cNvSpPr/>
          <p:nvPr/>
        </p:nvSpPr>
        <p:spPr>
          <a:xfrm>
            <a:off x="658368" y="5416906"/>
            <a:ext cx="3489960" cy="828446"/>
          </a:xfrm>
          <a:prstGeom prst="rect">
            <a:avLst/>
          </a:prstGeom>
          <a:solidFill>
            <a:srgbClr val="F7F7F7"/>
          </a:solidFill>
          <a:ln/>
        </p:spPr>
      </p:sp>
      <p:sp>
        <p:nvSpPr>
          <p:cNvPr id="26" name="Shape 24"/>
          <p:cNvSpPr/>
          <p:nvPr/>
        </p:nvSpPr>
        <p:spPr>
          <a:xfrm>
            <a:off x="4084320" y="5453482"/>
            <a:ext cx="64008" cy="755294"/>
          </a:xfrm>
          <a:prstGeom prst="rect">
            <a:avLst/>
          </a:prstGeom>
          <a:solidFill>
            <a:srgbClr val="12A566"/>
          </a:solidFill>
          <a:ln/>
        </p:spPr>
      </p:sp>
      <p:sp>
        <p:nvSpPr>
          <p:cNvPr id="27" name="Text 25"/>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8" name="Text 26"/>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765</a:t>
            </a:r>
            <a:endParaRPr lang="en-US" sz="1400" dirty="0"/>
          </a:p>
        </p:txBody>
      </p:sp>
      <p:sp>
        <p:nvSpPr>
          <p:cNvPr id="29" name="Text 27"/>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+116</a:t>
            </a:r>
            <a:endParaRPr lang="en-US" sz="1600" dirty="0"/>
          </a:p>
        </p:txBody>
      </p:sp>
      <p:sp>
        <p:nvSpPr>
          <p:cNvPr id="30" name="Shape 28"/>
          <p:cNvSpPr/>
          <p:nvPr/>
        </p:nvSpPr>
        <p:spPr>
          <a:xfrm>
            <a:off x="4349496" y="1371600"/>
            <a:ext cx="3489960" cy="45720"/>
          </a:xfrm>
          <a:prstGeom prst="rect">
            <a:avLst/>
          </a:prstGeom>
          <a:solidFill>
            <a:srgbClr val="C2352F"/>
          </a:solidFill>
          <a:ln/>
        </p:spPr>
      </p:sp>
      <p:sp>
        <p:nvSpPr>
          <p:cNvPr id="31" name="Text 29"/>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2" name="Text 30"/>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3" name="Shape 31"/>
          <p:cNvSpPr/>
          <p:nvPr/>
        </p:nvSpPr>
        <p:spPr>
          <a:xfrm>
            <a:off x="4349496" y="2103120"/>
            <a:ext cx="3489960" cy="828446"/>
          </a:xfrm>
          <a:prstGeom prst="rect">
            <a:avLst/>
          </a:prstGeom>
          <a:solidFill>
            <a:srgbClr val="F7F7F7"/>
          </a:solidFill>
          <a:ln/>
        </p:spPr>
      </p:sp>
      <p:sp>
        <p:nvSpPr>
          <p:cNvPr id="34" name="Text 32"/>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5" name="Text 33"/>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560</a:t>
            </a:r>
            <a:endParaRPr lang="en-US" sz="1400" dirty="0"/>
          </a:p>
        </p:txBody>
      </p:sp>
      <p:sp>
        <p:nvSpPr>
          <p:cNvPr id="36" name="Text 34"/>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−281</a:t>
            </a:r>
            <a:endParaRPr lang="en-US" sz="1600" dirty="0"/>
          </a:p>
        </p:txBody>
      </p:sp>
      <p:sp>
        <p:nvSpPr>
          <p:cNvPr id="37" name="Text 35"/>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8" name="Text 36"/>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308</a:t>
            </a:r>
            <a:endParaRPr lang="en-US" sz="1400" dirty="0"/>
          </a:p>
        </p:txBody>
      </p:sp>
      <p:sp>
        <p:nvSpPr>
          <p:cNvPr id="39" name="Text 37"/>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−94</a:t>
            </a:r>
            <a:endParaRPr lang="en-US" sz="1600" dirty="0"/>
          </a:p>
        </p:txBody>
      </p:sp>
      <p:sp>
        <p:nvSpPr>
          <p:cNvPr id="40" name="Shape 38"/>
          <p:cNvSpPr/>
          <p:nvPr/>
        </p:nvSpPr>
        <p:spPr>
          <a:xfrm>
            <a:off x="4349496" y="3760013"/>
            <a:ext cx="3489960" cy="828446"/>
          </a:xfrm>
          <a:prstGeom prst="rect">
            <a:avLst/>
          </a:prstGeom>
          <a:solidFill>
            <a:srgbClr val="F7F7F7"/>
          </a:solidFill>
          <a:ln/>
        </p:spPr>
      </p:sp>
      <p:sp>
        <p:nvSpPr>
          <p:cNvPr id="41" name="Text 39"/>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2" name="Text 40"/>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376</a:t>
            </a:r>
            <a:endParaRPr lang="en-US" sz="1400" dirty="0"/>
          </a:p>
        </p:txBody>
      </p:sp>
      <p:sp>
        <p:nvSpPr>
          <p:cNvPr id="43" name="Text 41"/>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−72</a:t>
            </a:r>
            <a:endParaRPr lang="en-US" sz="1600" dirty="0"/>
          </a:p>
        </p:txBody>
      </p:sp>
      <p:sp>
        <p:nvSpPr>
          <p:cNvPr id="44" name="Text 42"/>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5" name="Text 43"/>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392</a:t>
            </a:r>
            <a:endParaRPr lang="en-US" sz="1400" dirty="0"/>
          </a:p>
        </p:txBody>
      </p:sp>
      <p:sp>
        <p:nvSpPr>
          <p:cNvPr id="46" name="Text 44"/>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−56</a:t>
            </a:r>
            <a:endParaRPr lang="en-US" sz="1600" dirty="0"/>
          </a:p>
        </p:txBody>
      </p:sp>
      <p:sp>
        <p:nvSpPr>
          <p:cNvPr id="47" name="Shape 45"/>
          <p:cNvSpPr/>
          <p:nvPr/>
        </p:nvSpPr>
        <p:spPr>
          <a:xfrm>
            <a:off x="4349496" y="5416906"/>
            <a:ext cx="3489960" cy="828446"/>
          </a:xfrm>
          <a:prstGeom prst="rect">
            <a:avLst/>
          </a:prstGeom>
          <a:solidFill>
            <a:srgbClr val="F7F7F7"/>
          </a:solidFill>
          <a:ln/>
        </p:spPr>
      </p:sp>
      <p:sp>
        <p:nvSpPr>
          <p:cNvPr id="48" name="Text 46"/>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9" name="Text 47"/>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351</a:t>
            </a:r>
            <a:endParaRPr lang="en-US" sz="1400" dirty="0"/>
          </a:p>
        </p:txBody>
      </p:sp>
      <p:sp>
        <p:nvSpPr>
          <p:cNvPr id="50" name="Text 48"/>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a:t>
            </a:r>
            <a:endParaRPr lang="en-US" sz="1600" dirty="0"/>
          </a:p>
        </p:txBody>
      </p:sp>
      <p:sp>
        <p:nvSpPr>
          <p:cNvPr id="51" name="Shape 49"/>
          <p:cNvSpPr/>
          <p:nvPr/>
        </p:nvSpPr>
        <p:spPr>
          <a:xfrm>
            <a:off x="8040624" y="1371600"/>
            <a:ext cx="3489960" cy="45720"/>
          </a:xfrm>
          <a:prstGeom prst="rect">
            <a:avLst/>
          </a:prstGeom>
          <a:solidFill>
            <a:srgbClr val="2587C5"/>
          </a:solidFill>
          <a:ln/>
        </p:spPr>
      </p:sp>
      <p:sp>
        <p:nvSpPr>
          <p:cNvPr id="52" name="Text 5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3" name="Text 51"/>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4" name="Shape 52"/>
          <p:cNvSpPr/>
          <p:nvPr/>
        </p:nvSpPr>
        <p:spPr>
          <a:xfrm>
            <a:off x="8040624" y="2103120"/>
            <a:ext cx="3489960" cy="828446"/>
          </a:xfrm>
          <a:prstGeom prst="rect">
            <a:avLst/>
          </a:prstGeom>
          <a:solidFill>
            <a:srgbClr val="F7F7F7"/>
          </a:solidFill>
          <a:ln/>
        </p:spPr>
      </p:sp>
      <p:sp>
        <p:nvSpPr>
          <p:cNvPr id="55" name="Shape 53"/>
          <p:cNvSpPr/>
          <p:nvPr/>
        </p:nvSpPr>
        <p:spPr>
          <a:xfrm>
            <a:off x="11466576" y="2139696"/>
            <a:ext cx="64008" cy="755294"/>
          </a:xfrm>
          <a:prstGeom prst="rect">
            <a:avLst/>
          </a:prstGeom>
          <a:solidFill>
            <a:srgbClr val="12A566"/>
          </a:solidFill>
          <a:ln/>
        </p:spPr>
      </p:sp>
      <p:sp>
        <p:nvSpPr>
          <p:cNvPr id="56" name="Text 54"/>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7" name="Text 55"/>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854</a:t>
            </a:r>
            <a:endParaRPr lang="en-US" sz="1400" dirty="0"/>
          </a:p>
        </p:txBody>
      </p:sp>
      <p:sp>
        <p:nvSpPr>
          <p:cNvPr id="58" name="Text 56"/>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+339</a:t>
            </a:r>
            <a:endParaRPr lang="en-US" sz="1600" dirty="0"/>
          </a:p>
        </p:txBody>
      </p:sp>
      <p:sp>
        <p:nvSpPr>
          <p:cNvPr id="59" name="Shape 57"/>
          <p:cNvSpPr/>
          <p:nvPr/>
        </p:nvSpPr>
        <p:spPr>
          <a:xfrm>
            <a:off x="11466576" y="2968142"/>
            <a:ext cx="64008" cy="755294"/>
          </a:xfrm>
          <a:prstGeom prst="rect">
            <a:avLst/>
          </a:prstGeom>
          <a:solidFill>
            <a:srgbClr val="12A566"/>
          </a:solidFill>
          <a:ln/>
        </p:spPr>
      </p:sp>
      <p:sp>
        <p:nvSpPr>
          <p:cNvPr id="60" name="Text 58"/>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1" name="Text 59"/>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1,134</a:t>
            </a:r>
            <a:endParaRPr lang="en-US" sz="1400" dirty="0"/>
          </a:p>
        </p:txBody>
      </p:sp>
      <p:sp>
        <p:nvSpPr>
          <p:cNvPr id="62" name="Text 60"/>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+235</a:t>
            </a:r>
            <a:endParaRPr lang="en-US" sz="1600" dirty="0"/>
          </a:p>
        </p:txBody>
      </p:sp>
      <p:sp>
        <p:nvSpPr>
          <p:cNvPr id="63" name="Shape 61"/>
          <p:cNvSpPr/>
          <p:nvPr/>
        </p:nvSpPr>
        <p:spPr>
          <a:xfrm>
            <a:off x="8040624" y="3760013"/>
            <a:ext cx="3489960" cy="828446"/>
          </a:xfrm>
          <a:prstGeom prst="rect">
            <a:avLst/>
          </a:prstGeom>
          <a:solidFill>
            <a:srgbClr val="F7F7F7"/>
          </a:solidFill>
          <a:ln/>
        </p:spPr>
      </p:sp>
      <p:sp>
        <p:nvSpPr>
          <p:cNvPr id="64" name="Text 62"/>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5" name="Text 63"/>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326</a:t>
            </a:r>
            <a:endParaRPr lang="en-US" sz="1400" dirty="0"/>
          </a:p>
        </p:txBody>
      </p:sp>
      <p:sp>
        <p:nvSpPr>
          <p:cNvPr id="66" name="Text 64"/>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+168</a:t>
            </a:r>
            <a:endParaRPr lang="en-US" sz="1600" dirty="0"/>
          </a:p>
        </p:txBody>
      </p:sp>
      <p:sp>
        <p:nvSpPr>
          <p:cNvPr id="67" name="Text 65"/>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8" name="Text 66"/>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264</a:t>
            </a:r>
            <a:endParaRPr lang="en-US" sz="1400" dirty="0"/>
          </a:p>
        </p:txBody>
      </p:sp>
      <p:sp>
        <p:nvSpPr>
          <p:cNvPr id="69" name="Text 67"/>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70" name="Shape 68"/>
          <p:cNvSpPr/>
          <p:nvPr/>
        </p:nvSpPr>
        <p:spPr>
          <a:xfrm>
            <a:off x="8040624" y="5416906"/>
            <a:ext cx="3489960" cy="828446"/>
          </a:xfrm>
          <a:prstGeom prst="rect">
            <a:avLst/>
          </a:prstGeom>
          <a:solidFill>
            <a:srgbClr val="F7F7F7"/>
          </a:solidFill>
          <a:ln/>
        </p:spPr>
      </p:sp>
      <p:sp>
        <p:nvSpPr>
          <p:cNvPr id="71" name="Shape 69"/>
          <p:cNvSpPr/>
          <p:nvPr/>
        </p:nvSpPr>
        <p:spPr>
          <a:xfrm>
            <a:off x="11466576" y="5453482"/>
            <a:ext cx="64008" cy="755294"/>
          </a:xfrm>
          <a:prstGeom prst="rect">
            <a:avLst/>
          </a:prstGeom>
          <a:solidFill>
            <a:srgbClr val="12A566"/>
          </a:solidFill>
          <a:ln/>
        </p:spPr>
      </p:sp>
      <p:sp>
        <p:nvSpPr>
          <p:cNvPr id="72" name="Text 70"/>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3" name="Text 71"/>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814</a:t>
            </a:r>
            <a:endParaRPr lang="en-US" sz="1400" dirty="0"/>
          </a:p>
        </p:txBody>
      </p:sp>
      <p:sp>
        <p:nvSpPr>
          <p:cNvPr id="74" name="Text 72"/>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+97</a:t>
            </a:r>
            <a:endParaRPr lang="en-US" sz="16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1,541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−83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−5.1%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employees at month end,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DF4FA"/>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Fixed ops headcount fell 76 to 1,540 (−4.7%), Sep to Sep; CP &amp; W ROs fell 2.3% year to date.</a:t>
            </a:r>
            <a:endParaRPr lang="en-US" sz="16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812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HEADCOUNT</a:t>
            </a:r>
            <a:endParaRPr lang="en-US" sz="1500" dirty="0"/>
          </a:p>
        </p:txBody>
      </p:sp>
      <p:sp>
        <p:nvSpPr>
          <p:cNvPr id="9" name="Text 7"/>
          <p:cNvSpPr txBox="1"/>
          <p:nvPr/>
        </p:nvSpPr>
        <p:spPr>
          <a:xfrm>
            <a:off x="3295650" y="1335024"/>
            <a:ext cx="47510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 2026 VS SEP 2025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 name="Shape 11"/>
          <p:cNvSpPr/>
          <p:nvPr/>
        </p:nvSpPr>
        <p:spPr>
          <a:xfrm>
            <a:off x="3785616" y="1911860"/>
            <a:ext cx="185057" cy="110352"/>
          </a:xfrm>
          <a:prstGeom prst="rect">
            <a:avLst/>
          </a:prstGeom>
          <a:solidFill>
            <a:srgbClr val="2587C5"/>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785616" y="2151755"/>
            <a:ext cx="148046" cy="110352"/>
          </a:xfrm>
          <a:prstGeom prst="rect">
            <a:avLst/>
          </a:prstGeom>
          <a:solidFill>
            <a:srgbClr val="2587C5"/>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 name="Shape 19"/>
          <p:cNvSpPr/>
          <p:nvPr/>
        </p:nvSpPr>
        <p:spPr>
          <a:xfrm>
            <a:off x="3785616" y="2391651"/>
            <a:ext cx="148046" cy="110352"/>
          </a:xfrm>
          <a:prstGeom prst="rect">
            <a:avLst/>
          </a:prstGeom>
          <a:solidFill>
            <a:srgbClr val="2587C5"/>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5" name="Shape 23"/>
          <p:cNvSpPr/>
          <p:nvPr/>
        </p:nvSpPr>
        <p:spPr>
          <a:xfrm>
            <a:off x="3785616" y="2631546"/>
            <a:ext cx="111034" cy="110352"/>
          </a:xfrm>
          <a:prstGeom prst="rect">
            <a:avLst/>
          </a:prstGeom>
          <a:solidFill>
            <a:srgbClr val="2587C5"/>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785616" y="2871442"/>
            <a:ext cx="111034" cy="110352"/>
          </a:xfrm>
          <a:prstGeom prst="rect">
            <a:avLst/>
          </a:prstGeom>
          <a:solidFill>
            <a:srgbClr val="2587C5"/>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3" name="Shape 31"/>
          <p:cNvSpPr/>
          <p:nvPr/>
        </p:nvSpPr>
        <p:spPr>
          <a:xfrm>
            <a:off x="3785616" y="3111337"/>
            <a:ext cx="74023" cy="110352"/>
          </a:xfrm>
          <a:prstGeom prst="rect">
            <a:avLst/>
          </a:prstGeom>
          <a:solidFill>
            <a:srgbClr val="2587C5"/>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785616" y="3351233"/>
            <a:ext cx="37011" cy="110352"/>
          </a:xfrm>
          <a:prstGeom prst="rect">
            <a:avLst/>
          </a:prstGeom>
          <a:solidFill>
            <a:srgbClr val="2587C5"/>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785616" y="3591128"/>
            <a:ext cx="37011" cy="110352"/>
          </a:xfrm>
          <a:prstGeom prst="rect">
            <a:avLst/>
          </a:prstGeom>
          <a:solidFill>
            <a:srgbClr val="2587C5"/>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37011" cy="110352"/>
          </a:xfrm>
          <a:prstGeom prst="rect">
            <a:avLst/>
          </a:prstGeom>
          <a:solidFill>
            <a:srgbClr val="2587C5"/>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9" name="Shape 47"/>
          <p:cNvSpPr/>
          <p:nvPr/>
        </p:nvSpPr>
        <p:spPr>
          <a:xfrm>
            <a:off x="3785616" y="4070920"/>
            <a:ext cx="37011" cy="110352"/>
          </a:xfrm>
          <a:prstGeom prst="rect">
            <a:avLst/>
          </a:prstGeom>
          <a:solidFill>
            <a:srgbClr val="2587C5"/>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53" name="Shape 51"/>
          <p:cNvSpPr/>
          <p:nvPr/>
        </p:nvSpPr>
        <p:spPr>
          <a:xfrm>
            <a:off x="3748605" y="4310815"/>
            <a:ext cx="37011" cy="110352"/>
          </a:xfrm>
          <a:prstGeom prst="rect">
            <a:avLst/>
          </a:prstGeom>
          <a:solidFill>
            <a:srgbClr val="2587C5"/>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48605" y="4550711"/>
            <a:ext cx="37011" cy="110352"/>
          </a:xfrm>
          <a:prstGeom prst="rect">
            <a:avLst/>
          </a:prstGeom>
          <a:solidFill>
            <a:srgbClr val="2587C5"/>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748605" y="4790606"/>
            <a:ext cx="37011" cy="110352"/>
          </a:xfrm>
          <a:prstGeom prst="rect">
            <a:avLst/>
          </a:prstGeom>
          <a:solidFill>
            <a:srgbClr val="2587C5"/>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5" name="Shape 63"/>
          <p:cNvSpPr/>
          <p:nvPr/>
        </p:nvSpPr>
        <p:spPr>
          <a:xfrm>
            <a:off x="3748605" y="5030502"/>
            <a:ext cx="37011" cy="110352"/>
          </a:xfrm>
          <a:prstGeom prst="rect">
            <a:avLst/>
          </a:prstGeom>
          <a:solidFill>
            <a:srgbClr val="2587C5"/>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48605" y="5270397"/>
            <a:ext cx="37011" cy="110352"/>
          </a:xfrm>
          <a:prstGeom prst="rect">
            <a:avLst/>
          </a:prstGeom>
          <a:solidFill>
            <a:srgbClr val="2587C5"/>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748605" y="5510293"/>
            <a:ext cx="37011" cy="110352"/>
          </a:xfrm>
          <a:prstGeom prst="rect">
            <a:avLst/>
          </a:prstGeom>
          <a:solidFill>
            <a:srgbClr val="2587C5"/>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48605" y="5750188"/>
            <a:ext cx="37011" cy="110352"/>
          </a:xfrm>
          <a:prstGeom prst="rect">
            <a:avLst/>
          </a:prstGeom>
          <a:solidFill>
            <a:srgbClr val="2587C5"/>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9299013" y="1911860"/>
            <a:ext cx="37011" cy="110352"/>
          </a:xfrm>
          <a:prstGeom prst="rect">
            <a:avLst/>
          </a:prstGeom>
          <a:solidFill>
            <a:srgbClr val="2587C5"/>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85" name="Shape 83"/>
          <p:cNvSpPr/>
          <p:nvPr/>
        </p:nvSpPr>
        <p:spPr>
          <a:xfrm>
            <a:off x="9299013" y="2151755"/>
            <a:ext cx="37011" cy="110352"/>
          </a:xfrm>
          <a:prstGeom prst="rect">
            <a:avLst/>
          </a:prstGeom>
          <a:solidFill>
            <a:srgbClr val="2587C5"/>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9" name="Shape 87"/>
          <p:cNvSpPr/>
          <p:nvPr/>
        </p:nvSpPr>
        <p:spPr>
          <a:xfrm>
            <a:off x="9262001" y="2391651"/>
            <a:ext cx="74023" cy="110352"/>
          </a:xfrm>
          <a:prstGeom prst="rect">
            <a:avLst/>
          </a:prstGeom>
          <a:solidFill>
            <a:srgbClr val="2587C5"/>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3" name="Shape 91"/>
          <p:cNvSpPr/>
          <p:nvPr/>
        </p:nvSpPr>
        <p:spPr>
          <a:xfrm>
            <a:off x="9262001" y="2631546"/>
            <a:ext cx="74023" cy="110352"/>
          </a:xfrm>
          <a:prstGeom prst="rect">
            <a:avLst/>
          </a:prstGeom>
          <a:solidFill>
            <a:srgbClr val="2587C5"/>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7" name="Shape 95"/>
          <p:cNvSpPr/>
          <p:nvPr/>
        </p:nvSpPr>
        <p:spPr>
          <a:xfrm>
            <a:off x="9224990" y="2871442"/>
            <a:ext cx="111034" cy="110352"/>
          </a:xfrm>
          <a:prstGeom prst="rect">
            <a:avLst/>
          </a:prstGeom>
          <a:solidFill>
            <a:srgbClr val="2587C5"/>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224990" y="3111337"/>
            <a:ext cx="111034" cy="110352"/>
          </a:xfrm>
          <a:prstGeom prst="rect">
            <a:avLst/>
          </a:prstGeom>
          <a:solidFill>
            <a:srgbClr val="2587C5"/>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224990" y="3351233"/>
            <a:ext cx="111034" cy="110352"/>
          </a:xfrm>
          <a:prstGeom prst="rect">
            <a:avLst/>
          </a:prstGeom>
          <a:solidFill>
            <a:srgbClr val="2587C5"/>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187978" y="3591128"/>
            <a:ext cx="148046" cy="110352"/>
          </a:xfrm>
          <a:prstGeom prst="rect">
            <a:avLst/>
          </a:prstGeom>
          <a:solidFill>
            <a:srgbClr val="2587C5"/>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3" name="Shape 111"/>
          <p:cNvSpPr/>
          <p:nvPr/>
        </p:nvSpPr>
        <p:spPr>
          <a:xfrm>
            <a:off x="9187978" y="3831024"/>
            <a:ext cx="148046" cy="110352"/>
          </a:xfrm>
          <a:prstGeom prst="rect">
            <a:avLst/>
          </a:prstGeom>
          <a:solidFill>
            <a:srgbClr val="2587C5"/>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7" name="Shape 115"/>
          <p:cNvSpPr/>
          <p:nvPr/>
        </p:nvSpPr>
        <p:spPr>
          <a:xfrm>
            <a:off x="9113955" y="4070920"/>
            <a:ext cx="222069" cy="110352"/>
          </a:xfrm>
          <a:prstGeom prst="rect">
            <a:avLst/>
          </a:prstGeom>
          <a:solidFill>
            <a:srgbClr val="2587C5"/>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−6</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9076944" y="4310815"/>
            <a:ext cx="259080" cy="110352"/>
          </a:xfrm>
          <a:prstGeom prst="rect">
            <a:avLst/>
          </a:prstGeom>
          <a:solidFill>
            <a:srgbClr val="2587C5"/>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9039933" y="4550711"/>
            <a:ext cx="296091" cy="110352"/>
          </a:xfrm>
          <a:prstGeom prst="rect">
            <a:avLst/>
          </a:prstGeom>
          <a:solidFill>
            <a:srgbClr val="2587C5"/>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039933" y="4790606"/>
            <a:ext cx="296091" cy="110352"/>
          </a:xfrm>
          <a:prstGeom prst="rect">
            <a:avLst/>
          </a:prstGeom>
          <a:solidFill>
            <a:srgbClr val="2587C5"/>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−8</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9002921" y="5030502"/>
            <a:ext cx="333103" cy="110352"/>
          </a:xfrm>
          <a:prstGeom prst="rect">
            <a:avLst/>
          </a:prstGeom>
          <a:solidFill>
            <a:srgbClr val="2587C5"/>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7" name="Shape 135"/>
          <p:cNvSpPr/>
          <p:nvPr/>
        </p:nvSpPr>
        <p:spPr>
          <a:xfrm>
            <a:off x="8891887" y="5270397"/>
            <a:ext cx="444137" cy="110352"/>
          </a:xfrm>
          <a:prstGeom prst="rect">
            <a:avLst/>
          </a:prstGeom>
          <a:solidFill>
            <a:srgbClr val="2587C5"/>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1" name="Shape 139"/>
          <p:cNvSpPr/>
          <p:nvPr/>
        </p:nvSpPr>
        <p:spPr>
          <a:xfrm>
            <a:off x="8558784" y="5510293"/>
            <a:ext cx="777240" cy="110352"/>
          </a:xfrm>
          <a:prstGeom prst="rect">
            <a:avLst/>
          </a:prstGeom>
          <a:solidFill>
            <a:srgbClr val="2587C5"/>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10 stores added fixed staff; 23 reduced.</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2026-10-28T15:31:24Z</dcterms:created>
  <dcterms:modified xsi:type="dcterms:W3CDTF">2026-10-28T15:31:24Z</dcterms:modified>
</cp:coreProperties>
</file>