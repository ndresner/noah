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8.xml" ContentType="application/vnd.openxmlformats-officedocument.drawingml.chart+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23.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24.xml" ContentType="application/vnd.openxmlformats-officedocument.drawingml.chart+xml"/>
  <Override PartName="/ppt/charts/chart25.xml" ContentType="application/vnd.openxmlformats-officedocument.drawingml.chart+xml"/>
  <Override PartName="/ppt/charts/chart26.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Relationships xmlns="http://schemas.openxmlformats.org/package/2006/relationships"><Relationship Id="rId1" Type="http://schemas.openxmlformats.org/officeDocument/2006/relationships/package" Target="../embeddings/Microsoft_Excel_Worksheet28.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13262</c:v>
                </c:pt>
                <c:pt idx="10">
                  <c:v/>
                </c:pt>
                <c:pt idx="11">
                  <c:v>12359</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
                </c:pt>
                <c:pt idx="10">
                  <c:v>11216</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171.412</c:v>
                </c:pt>
                <c:pt idx="6">
                  <c:v>174.588</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171.412</c:v>
                </c:pt>
                <c:pt idx="6">
                  <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
                </c:pt>
                <c:pt idx="6">
                  <c:v>174.588</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
                </c:pt>
                <c:pt idx="6">
                  <c:v>177.77732793522267</c:v>
                </c:pt>
                <c:pt idx="7">
                  <c:v/>
                </c:pt>
                <c:pt idx="8">
                  <c:v/>
                </c:pt>
                <c:pt idx="9">
                  <c:v>173.3413654618474</c:v>
                </c:pt>
                <c:pt idx="10">
                  <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171.10526315789474</c:v>
                </c:pt>
                <c:pt idx="6">
                  <c:v/>
                </c:pt>
                <c:pt idx="7">
                  <c:v>171.31075697211156</c:v>
                </c:pt>
                <c:pt idx="8">
                  <c:v>160.78225806451613</c:v>
                </c:pt>
                <c:pt idx="9">
                  <c:v/>
                </c:pt>
                <c:pt idx="10">
                  <c:v>152.834008097166</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171.10526315789474</c:v>
                </c:pt>
                <c:pt idx="6">
                  <c:v>177.77732793522267</c:v>
                </c:pt>
                <c:pt idx="7">
                  <c:v>171.31075697211156</c:v>
                </c:pt>
                <c:pt idx="8">
                  <c:v>160.78225806451613</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23.790849673202615</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23.790849673202615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24.324142156862745</c:v>
                </c:pt>
                <c:pt idx="2">
                  <c:v/>
                </c:pt>
                <c:pt idx="3">
                  <c:v/>
                </c:pt>
                <c:pt idx="4">
                  <c:v/>
                </c:pt>
                <c:pt idx="5">
                  <c:v/>
                </c:pt>
                <c:pt idx="6">
                  <c:v/>
                </c:pt>
                <c:pt idx="7">
                  <c:v/>
                </c:pt>
                <c:pt idx="8">
                  <c:v/>
                </c:pt>
                <c:pt idx="9">
                  <c:v>26.908977556109726</c:v>
                </c:pt>
                <c:pt idx="10">
                  <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
                </c:pt>
                <c:pt idx="2">
                  <c:v>26.341313689379987</c:v>
                </c:pt>
                <c:pt idx="3">
                  <c:v>26.436532507739937</c:v>
                </c:pt>
                <c:pt idx="4">
                  <c:v>26.070240295748615</c:v>
                </c:pt>
                <c:pt idx="5">
                  <c:v>26.152846534653467</c:v>
                </c:pt>
                <c:pt idx="6">
                  <c:v>26.955801104972377</c:v>
                </c:pt>
                <c:pt idx="7">
                  <c:v>26.42839582052858</c:v>
                </c:pt>
                <c:pt idx="8">
                  <c:v>24.67450495049505</c:v>
                </c:pt>
                <c:pt idx="9">
                  <c:v/>
                </c:pt>
                <c:pt idx="10">
                  <c:v>23.8621997471555</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24.324142156862745</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337.037037037037</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337.037037037037</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342.2155172413793</c:v>
                </c:pt>
                <c:pt idx="2">
                  <c:v/>
                </c:pt>
                <c:pt idx="3">
                  <c:v/>
                </c:pt>
                <c:pt idx="4">
                  <c:v/>
                </c:pt>
                <c:pt idx="5">
                  <c:v/>
                </c:pt>
                <c:pt idx="6">
                  <c:v/>
                </c:pt>
                <c:pt idx="7">
                  <c:v/>
                </c:pt>
                <c:pt idx="8">
                  <c:v/>
                </c:pt>
                <c:pt idx="9">
                  <c:v>395.9816513761468</c:v>
                </c:pt>
                <c:pt idx="10">
                  <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
                </c:pt>
                <c:pt idx="2">
                  <c:v>369.91379310344826</c:v>
                </c:pt>
                <c:pt idx="3">
                  <c:v>384.63963963963965</c:v>
                </c:pt>
                <c:pt idx="4">
                  <c:v>381.18918918918916</c:v>
                </c:pt>
                <c:pt idx="5">
                  <c:v>387.73394495412845</c:v>
                </c:pt>
                <c:pt idx="6">
                  <c:v>399.1909090909091</c:v>
                </c:pt>
                <c:pt idx="7">
                  <c:v>390.9</c:v>
                </c:pt>
                <c:pt idx="8">
                  <c:v>372.6542056074766</c:v>
                </c:pt>
                <c:pt idx="9">
                  <c:v/>
                </c:pt>
                <c:pt idx="10">
                  <c:v>352.803738317757</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342.2155172413793</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Top and bottom five stores by change in Fixed Gross per Fixed Employee, Jan-Sep 2026 vs 2025. Moving now: Jul-Sep 2026 vs Jan-Mar 2026, each store against itself; the group moved +$1,107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Against their own segment, 5 of 9 luxury stores beat 123 and 12 of 24 others beat 176. Toyota Flagstaff leads non-luxury at 253.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Service Advisor,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Top and bottom five stores by change in CP &amp; W ROs per Service Advisor, Jan-Sep 2026 vs 2025. Moving now: Jul-Sep 2026 vs Jan-Mar 2026, each store against itself; the group moved +15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Against their own segment, 4 of 9 luxury stores beat 17.4 and 14 of 24 others beat 29.3. Kia St George leads non-luxury at 39.8.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Employee,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Top and bottom five stores by change in CP &amp; W ROs per Fixed Employee, Jan-Sep 2026 vs 2025. Moving now: Jul-Sep 2026 vs Jan-Mar 2026, each store against itself; the group moved +1.8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Against their own segment, 5 of 9 luxury stores beat 276 and 7 of 24 others beat 418. Toyota Henderson leads non-luxury at 1,022.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Manager,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Top and bottom five stores by change in CP &amp; W ROs per Fixed Manager, Jan-Sep 2026 vs 2025. Moving now: Jul-Sep 2026 vs Jan-Mar 2026, each store against itself; the group moved +38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YTD = average month-end fixed headcount, Jan-Sep. Fixed employees include managers; technicians = service, express, foreman and team-leader titles. 2025 shown January-December.
Jan 25: 1625 fixed, 703 techs, 238 advisors, 117 managers
Feb 25: 1632 fixed, 705 techs, 237 advisors, 116 managers
Mar 25: 1629 fixed, 702 techs, 240 advisors, 116 managers
Apr 25: 1615 fixed, 695 techs, 242 advisors, 111 managers
May 25: 1623 fixed, 699 techs, 250 advisors, 111 managers
Jun 25: 1616 fixed, 695 techs, 247 advisors, 109 managers
Jul 25: 1629 fixed, 705 techs, 247 advisors, 110 managers
Aug 25: 1627 fixed, 701 techs, 251 advisors, 110 managers
Sep 25: 1616 fixed, 701 techs, 248 advisors, 107 managers
Oct 25: 1604 fixed, 688 techs, 249 advisors, 109 managers
Nov 25: 1582 fixed, 685 techs, 247 advisors, 107 managers
Dec 25: 1563 fixed, 674 techs, 249 advisors, 107 managers
Jan 26: 1530 fixed, 657 techs, 248 advisors, 106 managers
Feb 26: 1530 fixed, 670 techs, 245 advisors, 108 managers
Mar 26: 1540 fixed, 669 techs, 252 advisors, 107 managers
Apr 26: 1545 fixed, 687 techs, 250 advisors, 106 managers
May 26: 1537 fixed, 680 techs, 254 advisors, 105 managers
Jun 26: 1546 fixed, 684 techs, 250 advisors, 105 managers
Jul 26: 1548 fixed, 682 techs, 250 advisors, 106 managers
Aug 26: 1549 fixed, 684 techs, 244 advisors, 104 managers
Sep 26: 1540 fixed, 684 techs, 241 advisors, 104 managers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chart" Target="/ppt/charts/chart7.xml"/><Relationship Id="rId3" Type="http://schemas.openxmlformats.org/officeDocument/2006/relationships/chart" Target="/ppt/charts/chart8.xml"/><Relationship Id="rId4" Type="http://schemas.openxmlformats.org/officeDocument/2006/relationships/chart" Target="/ppt/charts/chart9.xml"/><Relationship Id="rId5" Type="http://schemas.openxmlformats.org/officeDocument/2006/relationships/chart" Target="/ppt/charts/chart10.xml"/><Relationship Id="rId6" Type="http://schemas.openxmlformats.org/officeDocument/2006/relationships/chart" Target="/ppt/charts/chart11.xml"/><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chart" Target="/ppt/charts/chart13.xml"/><Relationship Id="rId3" Type="http://schemas.openxmlformats.org/officeDocument/2006/relationships/chart" Target="/ppt/charts/chart14.xml"/><Relationship Id="rId4" Type="http://schemas.openxmlformats.org/officeDocument/2006/relationships/chart" Target="/ppt/charts/chart15.xml"/><Relationship Id="rId5" Type="http://schemas.openxmlformats.org/officeDocument/2006/relationships/chart" Target="/ppt/charts/chart16.xml"/><Relationship Id="rId6" Type="http://schemas.openxmlformats.org/officeDocument/2006/relationships/chart" Target="/ppt/charts/chart17.xml"/><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chart" Target="/ppt/charts/chart19.xml"/><Relationship Id="rId3" Type="http://schemas.openxmlformats.org/officeDocument/2006/relationships/chart" Target="/ppt/charts/chart20.xml"/><Relationship Id="rId4" Type="http://schemas.openxmlformats.org/officeDocument/2006/relationships/chart" Target="/ppt/charts/chart21.xml"/><Relationship Id="rId5" Type="http://schemas.openxmlformats.org/officeDocument/2006/relationships/chart" Target="/ppt/charts/chart22.xml"/><Relationship Id="rId6" Type="http://schemas.openxmlformats.org/officeDocument/2006/relationships/chart" Target="/ppt/charts/chart23.xml"/><Relationship Id="rId7" Type="http://schemas.openxmlformats.org/officeDocument/2006/relationships/slideLayout" Target="../slideLayouts/slideLayout1.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24.xml"/><Relationship Id="rId2" Type="http://schemas.openxmlformats.org/officeDocument/2006/relationships/chart" Target="/ppt/charts/chart25.xml"/><Relationship Id="rId3" Type="http://schemas.openxmlformats.org/officeDocument/2006/relationships/chart" Target="/ppt/charts/chart26.xml"/><Relationship Id="rId4" Type="http://schemas.openxmlformats.org/officeDocument/2006/relationships/chart" Target="/ppt/charts/chart27.xml"/><Relationship Id="rId5" Type="http://schemas.openxmlformats.org/officeDocument/2006/relationships/chart" Target="/ppt/charts/chart28.xml"/><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Productivity</a:t>
            </a:r>
            <a:endParaRPr lang="en-US" sz="76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Gross per employee   ·   ROs per person   ·   Headcount</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Gross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$13,617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$23,461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45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$18,549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31724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$18,268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5" name="Shape 23"/>
          <p:cNvSpPr/>
          <p:nvPr/>
        </p:nvSpPr>
        <p:spPr>
          <a:xfrm>
            <a:off x="3008376" y="2626748"/>
            <a:ext cx="130860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$18,148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9" name="Shape 27"/>
          <p:cNvSpPr/>
          <p:nvPr/>
        </p:nvSpPr>
        <p:spPr>
          <a:xfrm>
            <a:off x="3008376" y="2866644"/>
            <a:ext cx="121996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158109"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15126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112165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008376" y="3826226"/>
            <a:ext cx="1097901"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9" name="Shape 47"/>
          <p:cNvSpPr/>
          <p:nvPr/>
        </p:nvSpPr>
        <p:spPr>
          <a:xfrm>
            <a:off x="3008376" y="4066122"/>
            <a:ext cx="10755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008376" y="4306017"/>
            <a:ext cx="105303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$14,604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102822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$14,260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2202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95823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92829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008376" y="5505495"/>
            <a:ext cx="928044"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90140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$12,501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8558784" y="1907062"/>
            <a:ext cx="891506"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87272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$12,103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8558784" y="2386853"/>
            <a:ext cx="86826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$12,042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8558784" y="2626748"/>
            <a:ext cx="86568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8558784" y="2866644"/>
            <a:ext cx="8621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$11,957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86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$11,631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8558784" y="3346435"/>
            <a:ext cx="83218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$11,541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9" name="Shape 107"/>
          <p:cNvSpPr/>
          <p:nvPr/>
        </p:nvSpPr>
        <p:spPr>
          <a:xfrm>
            <a:off x="8558784" y="3586331"/>
            <a:ext cx="80240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796340"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$11,044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905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$10,963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7782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$10,794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8558784" y="4545913"/>
            <a:ext cx="74925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$10,391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71765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71224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$9,878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68485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$9,498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58784" y="5505495"/>
            <a:ext cx="65971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$9,149</a:t>
            </a:r>
            <a:endParaRPr lang="en-US" sz="1200" dirty="0"/>
          </a:p>
        </p:txBody>
      </p:sp>
      <p:sp>
        <p:nvSpPr>
          <p:cNvPr id="143" name="Shape 141"/>
          <p:cNvSpPr/>
          <p:nvPr/>
        </p:nvSpPr>
        <p:spPr>
          <a:xfrm>
            <a:off x="3982924" y="1847088"/>
            <a:ext cx="14630" cy="4078224"/>
          </a:xfrm>
          <a:prstGeom prst="rect">
            <a:avLst/>
          </a:prstGeom>
          <a:solidFill>
            <a:srgbClr val="0B2C4A"/>
          </a:solidFill>
          <a:ln/>
        </p:spPr>
      </p:sp>
      <p:sp>
        <p:nvSpPr>
          <p:cNvPr id="144" name="Shape 142"/>
          <p:cNvSpPr/>
          <p:nvPr/>
        </p:nvSpPr>
        <p:spPr>
          <a:xfrm>
            <a:off x="9533332"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$13,617 group, led by Audi Henderson at $23,461. Honda Flagstaff is lowest at $9,149.</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+$4,158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548170"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47566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+$2,545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5" name="Shape 23"/>
          <p:cNvSpPr/>
          <p:nvPr/>
        </p:nvSpPr>
        <p:spPr>
          <a:xfrm>
            <a:off x="3785616" y="2631546"/>
            <a:ext cx="45022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+$2,409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3785616" y="2871442"/>
            <a:ext cx="44088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+$2,359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4275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+$2,287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7" name="Shape 35"/>
          <p:cNvSpPr/>
          <p:nvPr/>
        </p:nvSpPr>
        <p:spPr>
          <a:xfrm>
            <a:off x="3785616" y="3351233"/>
            <a:ext cx="3909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+$2,092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3087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31945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30778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9964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+$1,603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7" name="Shape 55"/>
          <p:cNvSpPr/>
          <p:nvPr/>
        </p:nvSpPr>
        <p:spPr>
          <a:xfrm>
            <a:off x="3785616" y="4550711"/>
            <a:ext cx="27694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+$1,482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7496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785616" y="5030502"/>
            <a:ext cx="2363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785616" y="5270397"/>
            <a:ext cx="22022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3" name="Shape 71"/>
          <p:cNvSpPr/>
          <p:nvPr/>
        </p:nvSpPr>
        <p:spPr>
          <a:xfrm>
            <a:off x="3785616" y="5510293"/>
            <a:ext cx="20589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+$1,101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20198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9758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184443"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9336024" y="2391651"/>
            <a:ext cx="1733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9336024" y="2631546"/>
            <a:ext cx="17299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7218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6461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336024" y="3351233"/>
            <a:ext cx="13616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+$728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9336024" y="3591128"/>
            <a:ext cx="126601"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36024" y="3831024"/>
            <a:ext cx="78291"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336024" y="4070920"/>
            <a:ext cx="3421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333892" y="4310815"/>
            <a:ext cx="1280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313319" y="4550711"/>
            <a:ext cx="227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258696" y="4790606"/>
            <a:ext cx="7732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241624" y="5030502"/>
            <a:ext cx="9440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106061" y="5270397"/>
            <a:ext cx="22996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9089478" y="5510293"/>
            <a:ext cx="246546"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 of 33 stores raised gross per employee, led by Subaru St George at +$4,158 to $15,556. 6 declined; VW St George fell most at −$1,319.</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$15,556</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+$4,158</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$11,631</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+$2,933</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$10,963</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+$2,545</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$13,289</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+$2,409</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$23,461</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+$2,359</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$9,878</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−$1,319</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$12,103</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−$1,230</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$14,765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$14,260</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−$505</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$12,006</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−$414</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$15,966</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−$121</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$20,761</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+$4,936</a:t>
            </a:r>
            <a:endParaRPr lang="en-US" sz="1600" dirty="0"/>
          </a:p>
        </p:txBody>
      </p:sp>
      <p:sp>
        <p:nvSpPr>
          <p:cNvPr id="56" name="Shape 54"/>
          <p:cNvSpPr/>
          <p:nvPr/>
        </p:nvSpPr>
        <p:spPr>
          <a:xfrm>
            <a:off x="11466576" y="2894990"/>
            <a:ext cx="64008" cy="682142"/>
          </a:xfrm>
          <a:prstGeom prst="rect">
            <a:avLst/>
          </a:prstGeom>
          <a:solidFill>
            <a:srgbClr val="12A566"/>
          </a:solidFill>
          <a:ln/>
        </p:spPr>
      </p:sp>
      <p:sp>
        <p:nvSpPr>
          <p:cNvPr id="57" name="Text 55"/>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59" name="Text 57"/>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+$4,856</a:t>
            </a:r>
            <a:endParaRPr lang="en-US" sz="1600" dirty="0"/>
          </a:p>
        </p:txBody>
      </p:sp>
      <p:sp>
        <p:nvSpPr>
          <p:cNvPr id="60" name="Shape 58"/>
          <p:cNvSpPr/>
          <p:nvPr/>
        </p:nvSpPr>
        <p:spPr>
          <a:xfrm>
            <a:off x="8040624" y="3613709"/>
            <a:ext cx="3489960" cy="755294"/>
          </a:xfrm>
          <a:prstGeom prst="rect">
            <a:avLst/>
          </a:prstGeom>
          <a:solidFill>
            <a:srgbClr val="F7F7F7"/>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$13,709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+$3,587</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$12,004</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+$3,479</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$16,995</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+$2,972</a:t>
            </a:r>
            <a:endParaRPr lang="en-US" sz="1600" dirty="0"/>
          </a:p>
        </p:txBody>
      </p:sp>
      <p:sp>
        <p:nvSpPr>
          <p:cNvPr id="71" name="Shape 69"/>
          <p:cNvSpPr/>
          <p:nvPr/>
        </p:nvSpPr>
        <p:spPr>
          <a:xfrm>
            <a:off x="457200" y="6126480"/>
            <a:ext cx="11274552" cy="585216"/>
          </a:xfrm>
          <a:prstGeom prst="rect">
            <a:avLst/>
          </a:prstGeom>
          <a:solidFill>
            <a:srgbClr val="EDF4FA"/>
          </a:solidFill>
          <a:ln/>
        </p:spPr>
      </p:sp>
      <p:sp>
        <p:nvSpPr>
          <p:cNvPr id="72" name="Text 70"/>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Subaru St George, Hyundai Prescott and Lincoln what changed. Ask VW St George, Kia St George and Cadillac what got in the way. Ask LR Henderson, Subaru St George and LR Reno what they started this year.</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173</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Service Advisor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7 to 166, behind 2025 in six of nine months. Advisors grew 1.5%; ROs fell 2.3%.</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166</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123</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9" name="Shape 17"/>
          <p:cNvSpPr/>
          <p:nvPr/>
        </p:nvSpPr>
        <p:spPr>
          <a:xfrm>
            <a:off x="3008376" y="2402586"/>
            <a:ext cx="1636341"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373312"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008376" y="2896362"/>
            <a:ext cx="113639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133</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062404"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5" name="Shape 33"/>
          <p:cNvSpPr/>
          <p:nvPr/>
        </p:nvSpPr>
        <p:spPr>
          <a:xfrm>
            <a:off x="3008376" y="3390138"/>
            <a:ext cx="949294"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76224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883914"/>
            <a:ext cx="72895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85</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605092"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008376" y="4624578"/>
            <a:ext cx="1503240"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871466"/>
            <a:ext cx="1447357"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373578"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231</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6" name="Shape 64"/>
          <p:cNvSpPr/>
          <p:nvPr/>
        </p:nvSpPr>
        <p:spPr>
          <a:xfrm>
            <a:off x="3008376" y="5365242"/>
            <a:ext cx="1343443"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0" name="Shape 68"/>
          <p:cNvSpPr/>
          <p:nvPr/>
        </p:nvSpPr>
        <p:spPr>
          <a:xfrm>
            <a:off x="3008376" y="5612130"/>
            <a:ext cx="1341602"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4" name="Shape 72"/>
          <p:cNvSpPr/>
          <p:nvPr/>
        </p:nvSpPr>
        <p:spPr>
          <a:xfrm>
            <a:off x="3008376" y="5859018"/>
            <a:ext cx="1333815"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164283"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4" name="Shape 82"/>
          <p:cNvSpPr/>
          <p:nvPr/>
        </p:nvSpPr>
        <p:spPr>
          <a:xfrm>
            <a:off x="8558784" y="2155698"/>
            <a:ext cx="113426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8" name="Shape 86"/>
          <p:cNvSpPr/>
          <p:nvPr/>
        </p:nvSpPr>
        <p:spPr>
          <a:xfrm>
            <a:off x="8558784" y="2402586"/>
            <a:ext cx="1095681"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07317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6" name="Shape 94"/>
          <p:cNvSpPr/>
          <p:nvPr/>
        </p:nvSpPr>
        <p:spPr>
          <a:xfrm>
            <a:off x="8558784" y="2896362"/>
            <a:ext cx="1070012"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105728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04201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8" name="Shape 106"/>
          <p:cNvSpPr/>
          <p:nvPr/>
        </p:nvSpPr>
        <p:spPr>
          <a:xfrm>
            <a:off x="8558784" y="3637026"/>
            <a:ext cx="1021645"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172</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98175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165</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43933"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0" name="Shape 118"/>
          <p:cNvSpPr/>
          <p:nvPr/>
        </p:nvSpPr>
        <p:spPr>
          <a:xfrm>
            <a:off x="8558784" y="4377690"/>
            <a:ext cx="91208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4" name="Shape 122"/>
          <p:cNvSpPr/>
          <p:nvPr/>
        </p:nvSpPr>
        <p:spPr>
          <a:xfrm>
            <a:off x="8558784" y="4624578"/>
            <a:ext cx="84888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8" name="Shape 126"/>
          <p:cNvSpPr/>
          <p:nvPr/>
        </p:nvSpPr>
        <p:spPr>
          <a:xfrm>
            <a:off x="8558784" y="4871466"/>
            <a:ext cx="823202"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2" name="Shape 130"/>
          <p:cNvSpPr/>
          <p:nvPr/>
        </p:nvSpPr>
        <p:spPr>
          <a:xfrm>
            <a:off x="8558784" y="5118354"/>
            <a:ext cx="75953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7297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0" name="Shape 138"/>
          <p:cNvSpPr/>
          <p:nvPr/>
        </p:nvSpPr>
        <p:spPr>
          <a:xfrm>
            <a:off x="8558784" y="5612130"/>
            <a:ext cx="709976"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4" name="Shape 142"/>
          <p:cNvSpPr/>
          <p:nvPr/>
        </p:nvSpPr>
        <p:spPr>
          <a:xfrm>
            <a:off x="8558784" y="5859018"/>
            <a:ext cx="703612"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8" name="Shape 146"/>
          <p:cNvSpPr/>
          <p:nvPr/>
        </p:nvSpPr>
        <p:spPr>
          <a:xfrm>
            <a:off x="8558784" y="6105906"/>
            <a:ext cx="692411"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50" name="Shape 148"/>
          <p:cNvSpPr/>
          <p:nvPr/>
        </p:nvSpPr>
        <p:spPr>
          <a:xfrm>
            <a:off x="4047207" y="2093976"/>
            <a:ext cx="14630" cy="2221992"/>
          </a:xfrm>
          <a:prstGeom prst="rect">
            <a:avLst/>
          </a:prstGeom>
          <a:solidFill>
            <a:srgbClr val="0B2C4A"/>
          </a:solidFill>
          <a:ln/>
        </p:spPr>
      </p:sp>
      <p:sp>
        <p:nvSpPr>
          <p:cNvPr id="151" name="Shape 149"/>
          <p:cNvSpPr/>
          <p:nvPr/>
        </p:nvSpPr>
        <p:spPr>
          <a:xfrm>
            <a:off x="4047207" y="4562856"/>
            <a:ext cx="14630" cy="1728216"/>
          </a:xfrm>
          <a:prstGeom prst="rect">
            <a:avLst/>
          </a:prstGeom>
          <a:solidFill>
            <a:srgbClr val="0B2C4A"/>
          </a:solidFill>
          <a:ln/>
        </p:spPr>
      </p:sp>
      <p:sp>
        <p:nvSpPr>
          <p:cNvPr id="152" name="Shape 150"/>
          <p:cNvSpPr/>
          <p:nvPr/>
        </p:nvSpPr>
        <p:spPr>
          <a:xfrm>
            <a:off x="9597615"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 name="Shape 11"/>
          <p:cNvSpPr/>
          <p:nvPr/>
        </p:nvSpPr>
        <p:spPr>
          <a:xfrm>
            <a:off x="3785616" y="1911860"/>
            <a:ext cx="52524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4675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1" name="Shape 19"/>
          <p:cNvSpPr/>
          <p:nvPr/>
        </p:nvSpPr>
        <p:spPr>
          <a:xfrm>
            <a:off x="3785616" y="2391651"/>
            <a:ext cx="4156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785616" y="2631546"/>
            <a:ext cx="2651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19054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17953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7490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1" name="Shape 39"/>
          <p:cNvSpPr/>
          <p:nvPr/>
        </p:nvSpPr>
        <p:spPr>
          <a:xfrm>
            <a:off x="3785616" y="3591128"/>
            <a:ext cx="157180"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785616" y="3831024"/>
            <a:ext cx="14679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785616" y="4070920"/>
            <a:ext cx="13696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769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7" name="Shape 55"/>
          <p:cNvSpPr/>
          <p:nvPr/>
        </p:nvSpPr>
        <p:spPr>
          <a:xfrm>
            <a:off x="3785616" y="4550711"/>
            <a:ext cx="7506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6032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3557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2143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06884" y="1911860"/>
            <a:ext cx="29140"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9216705" y="2151755"/>
            <a:ext cx="119319"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155707" y="2391651"/>
            <a:ext cx="180317"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9144900" y="2631546"/>
            <a:ext cx="191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9113369" y="2871442"/>
            <a:ext cx="2226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9069301" y="3111337"/>
            <a:ext cx="266723"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5" name="Shape 103"/>
          <p:cNvSpPr/>
          <p:nvPr/>
        </p:nvSpPr>
        <p:spPr>
          <a:xfrm>
            <a:off x="9051012" y="3351233"/>
            <a:ext cx="28501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963630" y="3591128"/>
            <a:ext cx="372394"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3" name="Shape 111"/>
          <p:cNvSpPr/>
          <p:nvPr/>
        </p:nvSpPr>
        <p:spPr>
          <a:xfrm>
            <a:off x="8947862" y="3831024"/>
            <a:ext cx="38816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8941405" y="4070920"/>
            <a:ext cx="3946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1" name="Shape 119"/>
          <p:cNvSpPr/>
          <p:nvPr/>
        </p:nvSpPr>
        <p:spPr>
          <a:xfrm>
            <a:off x="8905154" y="4310815"/>
            <a:ext cx="43087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5" name="Shape 123"/>
          <p:cNvSpPr/>
          <p:nvPr/>
        </p:nvSpPr>
        <p:spPr>
          <a:xfrm>
            <a:off x="8863913" y="4550711"/>
            <a:ext cx="47211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8798725" y="4790606"/>
            <a:ext cx="53729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761661" y="5030502"/>
            <a:ext cx="5743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66984" y="5270397"/>
            <a:ext cx="76904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raised ROs per advisor, led by Honda Flagstaff at +40 to 175. 16 declined; Toyota Spokane fell most at −59.</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194</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180</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244</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123</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161</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237</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186</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9" name="Shape 67"/>
          <p:cNvSpPr/>
          <p:nvPr/>
        </p:nvSpPr>
        <p:spPr>
          <a:xfrm>
            <a:off x="457200" y="6126480"/>
            <a:ext cx="11274552" cy="585216"/>
          </a:xfrm>
          <a:prstGeom prst="rect">
            <a:avLst/>
          </a:prstGeom>
          <a:solidFill>
            <a:srgbClr val="EDF4FA"/>
          </a:solidFill>
          <a:ln/>
        </p:spPr>
      </p:sp>
      <p:sp>
        <p:nvSpPr>
          <p:cNvPr id="70" name="Text 68"/>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Honda Flagstaff, Hyundai Prescott and Toyota Flagstaff what changed. Ask Toyota Spokane, VW St George and Nissan what got in the way. Ask Mazda, Honda North and Honda Spokane what they started this year.</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0.8 to 26.8, ahead of 2025 in eight of nine months. Headcount fell 5.1%; ROs fell 2.3%.</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26.8</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17.4</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9" name="Shape 17"/>
          <p:cNvSpPr/>
          <p:nvPr/>
        </p:nvSpPr>
        <p:spPr>
          <a:xfrm>
            <a:off x="3008376" y="2402586"/>
            <a:ext cx="1631155"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29216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008376" y="2896362"/>
            <a:ext cx="126936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19.0</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120679"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5" name="Shape 33"/>
          <p:cNvSpPr/>
          <p:nvPr/>
        </p:nvSpPr>
        <p:spPr>
          <a:xfrm>
            <a:off x="3008376" y="3390138"/>
            <a:ext cx="982182"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981891"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81057"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910335"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4" name="Shape 52"/>
          <p:cNvSpPr/>
          <p:nvPr/>
        </p:nvSpPr>
        <p:spPr>
          <a:xfrm>
            <a:off x="3008376" y="4624578"/>
            <a:ext cx="1584948"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8" name="Shape 56"/>
          <p:cNvSpPr/>
          <p:nvPr/>
        </p:nvSpPr>
        <p:spPr>
          <a:xfrm>
            <a:off x="3008376" y="4871466"/>
            <a:ext cx="153194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008376" y="5118354"/>
            <a:ext cx="1488739"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5365242"/>
            <a:ext cx="1465284"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0" name="Shape 68"/>
          <p:cNvSpPr/>
          <p:nvPr/>
        </p:nvSpPr>
        <p:spPr>
          <a:xfrm>
            <a:off x="3008376" y="5612130"/>
            <a:ext cx="1453454"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92914"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8" name="Shape 76"/>
          <p:cNvSpPr/>
          <p:nvPr/>
        </p:nvSpPr>
        <p:spPr>
          <a:xfrm>
            <a:off x="3008376" y="6105906"/>
            <a:ext cx="138209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4" name="Shape 82"/>
          <p:cNvSpPr/>
          <p:nvPr/>
        </p:nvSpPr>
        <p:spPr>
          <a:xfrm>
            <a:off x="8558784" y="2155698"/>
            <a:ext cx="1290776"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32.4</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1250314"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24990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6" name="Shape 94"/>
          <p:cNvSpPr/>
          <p:nvPr/>
        </p:nvSpPr>
        <p:spPr>
          <a:xfrm>
            <a:off x="8558784" y="2896362"/>
            <a:ext cx="124940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0" name="Shape 98"/>
          <p:cNvSpPr/>
          <p:nvPr/>
        </p:nvSpPr>
        <p:spPr>
          <a:xfrm>
            <a:off x="8558784" y="3143250"/>
            <a:ext cx="1244020"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4" name="Shape 102"/>
          <p:cNvSpPr/>
          <p:nvPr/>
        </p:nvSpPr>
        <p:spPr>
          <a:xfrm>
            <a:off x="8558784" y="3390138"/>
            <a:ext cx="123759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8" name="Shape 106"/>
          <p:cNvSpPr/>
          <p:nvPr/>
        </p:nvSpPr>
        <p:spPr>
          <a:xfrm>
            <a:off x="8558784" y="3637026"/>
            <a:ext cx="1215849" cy="123444"/>
          </a:xfrm>
          <a:prstGeom prst="rect">
            <a:avLst/>
          </a:prstGeom>
          <a:solidFill>
            <a:srgbClr val="12A566"/>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30.6</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2" name="Shape 110"/>
          <p:cNvSpPr/>
          <p:nvPr/>
        </p:nvSpPr>
        <p:spPr>
          <a:xfrm>
            <a:off x="8558784" y="3883914"/>
            <a:ext cx="114686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558784" y="4130802"/>
            <a:ext cx="112293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28.2</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0" name="Shape 118"/>
          <p:cNvSpPr/>
          <p:nvPr/>
        </p:nvSpPr>
        <p:spPr>
          <a:xfrm>
            <a:off x="8558784" y="4377690"/>
            <a:ext cx="1013406"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25.5</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4" name="Shape 122"/>
          <p:cNvSpPr/>
          <p:nvPr/>
        </p:nvSpPr>
        <p:spPr>
          <a:xfrm>
            <a:off x="8558784" y="4624578"/>
            <a:ext cx="94075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8" name="Shape 126"/>
          <p:cNvSpPr/>
          <p:nvPr/>
        </p:nvSpPr>
        <p:spPr>
          <a:xfrm>
            <a:off x="8558784" y="4871466"/>
            <a:ext cx="90075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2" name="Shape 130"/>
          <p:cNvSpPr/>
          <p:nvPr/>
        </p:nvSpPr>
        <p:spPr>
          <a:xfrm>
            <a:off x="8558784" y="5118354"/>
            <a:ext cx="880007"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83228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20.9</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558784" y="5612130"/>
            <a:ext cx="808680"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4" name="Shape 142"/>
          <p:cNvSpPr/>
          <p:nvPr/>
        </p:nvSpPr>
        <p:spPr>
          <a:xfrm>
            <a:off x="8558784" y="5859018"/>
            <a:ext cx="763360"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690045"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a:t>
            </a:r>
            <a:endParaRPr lang="en-US" sz="1200" dirty="0"/>
          </a:p>
        </p:txBody>
      </p:sp>
      <p:sp>
        <p:nvSpPr>
          <p:cNvPr id="150" name="Shape 148"/>
          <p:cNvSpPr/>
          <p:nvPr/>
        </p:nvSpPr>
        <p:spPr>
          <a:xfrm>
            <a:off x="4164984" y="2093976"/>
            <a:ext cx="14630" cy="2221992"/>
          </a:xfrm>
          <a:prstGeom prst="rect">
            <a:avLst/>
          </a:prstGeom>
          <a:solidFill>
            <a:srgbClr val="0B2C4A"/>
          </a:solidFill>
          <a:ln/>
        </p:spPr>
      </p:sp>
      <p:sp>
        <p:nvSpPr>
          <p:cNvPr id="151" name="Shape 149"/>
          <p:cNvSpPr/>
          <p:nvPr/>
        </p:nvSpPr>
        <p:spPr>
          <a:xfrm>
            <a:off x="4164984" y="4562856"/>
            <a:ext cx="14630" cy="1728216"/>
          </a:xfrm>
          <a:prstGeom prst="rect">
            <a:avLst/>
          </a:prstGeom>
          <a:solidFill>
            <a:srgbClr val="0B2C4A"/>
          </a:solidFill>
          <a:ln/>
        </p:spPr>
      </p:sp>
      <p:sp>
        <p:nvSpPr>
          <p:cNvPr id="152" name="Shape 150"/>
          <p:cNvSpPr/>
          <p:nvPr/>
        </p:nvSpPr>
        <p:spPr>
          <a:xfrm>
            <a:off x="9715392"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54493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43004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412371"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785616" y="2871442"/>
            <a:ext cx="36872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3" name="Shape 31"/>
          <p:cNvSpPr/>
          <p:nvPr/>
        </p:nvSpPr>
        <p:spPr>
          <a:xfrm>
            <a:off x="3785616" y="3111337"/>
            <a:ext cx="31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2461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1" name="Shape 39"/>
          <p:cNvSpPr/>
          <p:nvPr/>
        </p:nvSpPr>
        <p:spPr>
          <a:xfrm>
            <a:off x="3785616" y="3591128"/>
            <a:ext cx="2432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785616" y="3831024"/>
            <a:ext cx="2020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7851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785616" y="4310815"/>
            <a:ext cx="17093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11618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785616" y="4790606"/>
            <a:ext cx="10925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3785616" y="5030502"/>
            <a:ext cx="9989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85616" y="5270397"/>
            <a:ext cx="8978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8131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7346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9336024" y="1911860"/>
            <a:ext cx="615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5" name="Shape 83"/>
          <p:cNvSpPr/>
          <p:nvPr/>
        </p:nvSpPr>
        <p:spPr>
          <a:xfrm>
            <a:off x="9336024" y="2151755"/>
            <a:ext cx="5547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4573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3" name="Shape 91"/>
          <p:cNvSpPr/>
          <p:nvPr/>
        </p:nvSpPr>
        <p:spPr>
          <a:xfrm>
            <a:off x="9336024" y="2631546"/>
            <a:ext cx="3327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336024" y="2871442"/>
            <a:ext cx="2831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331623" y="3111337"/>
            <a:ext cx="1280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320203" y="3351233"/>
            <a:ext cx="1582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9316313" y="3591128"/>
            <a:ext cx="1971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3" name="Shape 111"/>
          <p:cNvSpPr/>
          <p:nvPr/>
        </p:nvSpPr>
        <p:spPr>
          <a:xfrm>
            <a:off x="9221677" y="3831024"/>
            <a:ext cx="11434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7" name="Shape 115"/>
          <p:cNvSpPr/>
          <p:nvPr/>
        </p:nvSpPr>
        <p:spPr>
          <a:xfrm>
            <a:off x="9212713" y="4070920"/>
            <a:ext cx="12331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1004" y="4310815"/>
            <a:ext cx="1350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5" name="Shape 123"/>
          <p:cNvSpPr/>
          <p:nvPr/>
        </p:nvSpPr>
        <p:spPr>
          <a:xfrm>
            <a:off x="9180928" y="4550711"/>
            <a:ext cx="15509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011951" y="4790606"/>
            <a:ext cx="3240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887261" y="5030502"/>
            <a:ext cx="4487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83531" y="5270397"/>
            <a:ext cx="6524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1" name="Shape 139"/>
          <p:cNvSpPr/>
          <p:nvPr/>
        </p:nvSpPr>
        <p:spPr>
          <a:xfrm>
            <a:off x="8594867" y="5510293"/>
            <a:ext cx="7411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fixed employee, led by Hyundai Prescott at +6.9 to 31.4. 11 declined; Kia St George fell most at −6.6.</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31.4</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28.8</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30.6</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21" name="Shape 19"/>
          <p:cNvSpPr/>
          <p:nvPr/>
        </p:nvSpPr>
        <p:spPr>
          <a:xfrm>
            <a:off x="4084320" y="4405579"/>
            <a:ext cx="64008" cy="682142"/>
          </a:xfrm>
          <a:prstGeom prst="rect">
            <a:avLst/>
          </a:prstGeom>
          <a:solidFill>
            <a:srgbClr val="12A566"/>
          </a:solidFill>
          <a:ln/>
        </p:spPr>
      </p:sp>
      <p:sp>
        <p:nvSpPr>
          <p:cNvPr id="22" name="Text 20"/>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36.8</a:t>
            </a:r>
            <a:endParaRPr lang="en-US" sz="1400" dirty="0"/>
          </a:p>
        </p:txBody>
      </p:sp>
      <p:sp>
        <p:nvSpPr>
          <p:cNvPr id="24" name="Text 22"/>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a:t>
            </a:r>
            <a:endParaRPr lang="en-US" sz="1600" dirty="0"/>
          </a:p>
        </p:txBody>
      </p:sp>
      <p:sp>
        <p:nvSpPr>
          <p:cNvPr id="25" name="Shape 23"/>
          <p:cNvSpPr/>
          <p:nvPr/>
        </p:nvSpPr>
        <p:spPr>
          <a:xfrm>
            <a:off x="658368" y="5124298"/>
            <a:ext cx="3489960" cy="755294"/>
          </a:xfrm>
          <a:prstGeom prst="rect">
            <a:avLst/>
          </a:prstGeom>
          <a:solidFill>
            <a:srgbClr val="F7F7F7"/>
          </a:solidFill>
          <a:ln/>
        </p:spPr>
      </p:sp>
      <p:sp>
        <p:nvSpPr>
          <p:cNvPr id="26" name="Text 24"/>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28" name="Text 26"/>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2" name="Shape 30"/>
          <p:cNvSpPr/>
          <p:nvPr/>
        </p:nvSpPr>
        <p:spPr>
          <a:xfrm>
            <a:off x="4349496" y="2103120"/>
            <a:ext cx="3489960" cy="755294"/>
          </a:xfrm>
          <a:prstGeom prst="rect">
            <a:avLst/>
          </a:prstGeom>
          <a:solidFill>
            <a:srgbClr val="F7F7F7"/>
          </a:solidFill>
          <a:ln/>
        </p:spPr>
      </p:sp>
      <p:sp>
        <p:nvSpPr>
          <p:cNvPr id="33" name="Text 31"/>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46.4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39.8</a:t>
            </a:r>
            <a:endParaRPr lang="en-US" sz="1400" dirty="0"/>
          </a:p>
        </p:txBody>
      </p:sp>
      <p:sp>
        <p:nvSpPr>
          <p:cNvPr id="35" name="Text 33"/>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−6.6</a:t>
            </a:r>
            <a:endParaRPr lang="en-US" sz="1600" dirty="0"/>
          </a:p>
        </p:txBody>
      </p:sp>
      <p:sp>
        <p:nvSpPr>
          <p:cNvPr id="36" name="Text 34"/>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32.4</a:t>
            </a:r>
            <a:endParaRPr lang="en-US" sz="1400" dirty="0"/>
          </a:p>
        </p:txBody>
      </p:sp>
      <p:sp>
        <p:nvSpPr>
          <p:cNvPr id="38" name="Text 36"/>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9" name="Shape 37"/>
          <p:cNvSpPr/>
          <p:nvPr/>
        </p:nvSpPr>
        <p:spPr>
          <a:xfrm>
            <a:off x="4349496" y="3613709"/>
            <a:ext cx="3489960" cy="755294"/>
          </a:xfrm>
          <a:prstGeom prst="rect">
            <a:avLst/>
          </a:prstGeom>
          <a:solidFill>
            <a:srgbClr val="F7F7F7"/>
          </a:solidFill>
          <a:ln/>
        </p:spPr>
      </p:sp>
      <p:sp>
        <p:nvSpPr>
          <p:cNvPr id="40" name="Text 38"/>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31.1</a:t>
            </a:r>
            <a:endParaRPr lang="en-US" sz="1400" dirty="0"/>
          </a:p>
        </p:txBody>
      </p:sp>
      <p:sp>
        <p:nvSpPr>
          <p:cNvPr id="42" name="Text 40"/>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a:t>
            </a:r>
            <a:endParaRPr lang="en-US" sz="1600" dirty="0"/>
          </a:p>
        </p:txBody>
      </p:sp>
      <p:sp>
        <p:nvSpPr>
          <p:cNvPr id="43" name="Text 41"/>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31.4</a:t>
            </a:r>
            <a:endParaRPr lang="en-US" sz="1400" dirty="0"/>
          </a:p>
        </p:txBody>
      </p:sp>
      <p:sp>
        <p:nvSpPr>
          <p:cNvPr id="45" name="Text 43"/>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46" name="Shape 44"/>
          <p:cNvSpPr/>
          <p:nvPr/>
        </p:nvSpPr>
        <p:spPr>
          <a:xfrm>
            <a:off x="4349496" y="5124298"/>
            <a:ext cx="3489960" cy="755294"/>
          </a:xfrm>
          <a:prstGeom prst="rect">
            <a:avLst/>
          </a:prstGeom>
          <a:solidFill>
            <a:srgbClr val="F7F7F7"/>
          </a:solidFill>
          <a:ln/>
        </p:spPr>
      </p:sp>
      <p:sp>
        <p:nvSpPr>
          <p:cNvPr id="47" name="Text 45"/>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24.5</a:t>
            </a:r>
            <a:endParaRPr lang="en-US" sz="1400" dirty="0"/>
          </a:p>
        </p:txBody>
      </p:sp>
      <p:sp>
        <p:nvSpPr>
          <p:cNvPr id="49" name="Text 47"/>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3" name="Shape 51"/>
          <p:cNvSpPr/>
          <p:nvPr/>
        </p:nvSpPr>
        <p:spPr>
          <a:xfrm>
            <a:off x="8040624" y="2103120"/>
            <a:ext cx="3489960" cy="755294"/>
          </a:xfrm>
          <a:prstGeom prst="rect">
            <a:avLst/>
          </a:prstGeom>
          <a:solidFill>
            <a:srgbClr val="F7F7F7"/>
          </a:solidFill>
          <a:ln/>
        </p:spPr>
      </p:sp>
      <p:sp>
        <p:nvSpPr>
          <p:cNvPr id="54" name="Shape 52"/>
          <p:cNvSpPr/>
          <p:nvPr/>
        </p:nvSpPr>
        <p:spPr>
          <a:xfrm>
            <a:off x="11466576" y="2139696"/>
            <a:ext cx="64008" cy="682142"/>
          </a:xfrm>
          <a:prstGeom prst="rect">
            <a:avLst/>
          </a:prstGeom>
          <a:solidFill>
            <a:srgbClr val="12A566"/>
          </a:solidFill>
          <a:ln/>
        </p:spPr>
      </p:sp>
      <p:sp>
        <p:nvSpPr>
          <p:cNvPr id="55" name="Text 53"/>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40.3</a:t>
            </a:r>
            <a:endParaRPr lang="en-US" sz="1400" dirty="0"/>
          </a:p>
        </p:txBody>
      </p:sp>
      <p:sp>
        <p:nvSpPr>
          <p:cNvPr id="57" name="Text 55"/>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+10.4</a:t>
            </a:r>
            <a:endParaRPr lang="en-US" sz="1600" dirty="0"/>
          </a:p>
        </p:txBody>
      </p:sp>
      <p:sp>
        <p:nvSpPr>
          <p:cNvPr id="58" name="Text 5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28.3</a:t>
            </a:r>
            <a:endParaRPr lang="en-US" sz="1400" dirty="0"/>
          </a:p>
        </p:txBody>
      </p:sp>
      <p:sp>
        <p:nvSpPr>
          <p:cNvPr id="60" name="Text 58"/>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+9.4</a:t>
            </a:r>
            <a:endParaRPr lang="en-US" sz="1600" dirty="0"/>
          </a:p>
        </p:txBody>
      </p:sp>
      <p:sp>
        <p:nvSpPr>
          <p:cNvPr id="61" name="Shape 59"/>
          <p:cNvSpPr/>
          <p:nvPr/>
        </p:nvSpPr>
        <p:spPr>
          <a:xfrm>
            <a:off x="8040624" y="3613709"/>
            <a:ext cx="3489960" cy="755294"/>
          </a:xfrm>
          <a:prstGeom prst="rect">
            <a:avLst/>
          </a:prstGeom>
          <a:solidFill>
            <a:srgbClr val="F7F7F7"/>
          </a:solidFill>
          <a:ln/>
        </p:spPr>
      </p:sp>
      <p:sp>
        <p:nvSpPr>
          <p:cNvPr id="62" name="Shape 60"/>
          <p:cNvSpPr/>
          <p:nvPr/>
        </p:nvSpPr>
        <p:spPr>
          <a:xfrm>
            <a:off x="11466576" y="3650285"/>
            <a:ext cx="64008" cy="682142"/>
          </a:xfrm>
          <a:prstGeom prst="rect">
            <a:avLst/>
          </a:prstGeom>
          <a:solidFill>
            <a:srgbClr val="12A566"/>
          </a:solidFill>
          <a:ln/>
        </p:spPr>
      </p:sp>
      <p:sp>
        <p:nvSpPr>
          <p:cNvPr id="63" name="Text 6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33.1</a:t>
            </a:r>
            <a:endParaRPr lang="en-US" sz="1400" dirty="0"/>
          </a:p>
        </p:txBody>
      </p:sp>
      <p:sp>
        <p:nvSpPr>
          <p:cNvPr id="65" name="Text 63"/>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a:t>
            </a:r>
            <a:endParaRPr lang="en-US" sz="1600" dirty="0"/>
          </a:p>
        </p:txBody>
      </p:sp>
      <p:sp>
        <p:nvSpPr>
          <p:cNvPr id="66" name="Text 64"/>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37.4</a:t>
            </a:r>
            <a:endParaRPr lang="en-US" sz="1400" dirty="0"/>
          </a:p>
        </p:txBody>
      </p:sp>
      <p:sp>
        <p:nvSpPr>
          <p:cNvPr id="68" name="Text 66"/>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69" name="Shape 67"/>
          <p:cNvSpPr/>
          <p:nvPr/>
        </p:nvSpPr>
        <p:spPr>
          <a:xfrm>
            <a:off x="8040624" y="5124298"/>
            <a:ext cx="3489960" cy="755294"/>
          </a:xfrm>
          <a:prstGeom prst="rect">
            <a:avLst/>
          </a:prstGeom>
          <a:solidFill>
            <a:srgbClr val="F7F7F7"/>
          </a:solidFill>
          <a:ln/>
        </p:spPr>
      </p:sp>
      <p:sp>
        <p:nvSpPr>
          <p:cNvPr id="70" name="Text 68"/>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a:t>
            </a:r>
            <a:endParaRPr lang="en-US" sz="1400" dirty="0"/>
          </a:p>
        </p:txBody>
      </p:sp>
      <p:sp>
        <p:nvSpPr>
          <p:cNvPr id="72" name="Text 70"/>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73" name="Shape 71"/>
          <p:cNvSpPr/>
          <p:nvPr/>
        </p:nvSpPr>
        <p:spPr>
          <a:xfrm>
            <a:off x="457200" y="6126480"/>
            <a:ext cx="11274552" cy="569976"/>
          </a:xfrm>
          <a:prstGeom prst="rect">
            <a:avLst/>
          </a:prstGeom>
          <a:solidFill>
            <a:srgbClr val="EDF4FA"/>
          </a:solidFill>
          <a:ln/>
        </p:spPr>
      </p:sp>
      <p:sp>
        <p:nvSpPr>
          <p:cNvPr id="74" name="Text 72"/>
          <p:cNvSpPr txBox="1"/>
          <p:nvPr/>
        </p:nvSpPr>
        <p:spPr>
          <a:xfrm>
            <a:off x="658368" y="6144768"/>
            <a:ext cx="10927080" cy="53340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Ask Hyundai Prescott, Kia LV and Hyundai St George what changed. Ask Kia St George, Mazda and VW St George what got in the way. Ask Subaru St George, CDJR Post Falls and Hyundai Prescott what they started this year.</a:t>
            </a:r>
            <a:endParaRPr lang="en-US" sz="14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390</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Manager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to 390, ahead of 2025 in eight of nine months. Managers fell 5.6%.</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390</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276</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208610"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491</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9" name="Shape 17"/>
          <p:cNvSpPr/>
          <p:nvPr/>
        </p:nvSpPr>
        <p:spPr>
          <a:xfrm>
            <a:off x="3008376" y="2402586"/>
            <a:ext cx="90248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3" name="Shape 21"/>
          <p:cNvSpPr/>
          <p:nvPr/>
        </p:nvSpPr>
        <p:spPr>
          <a:xfrm>
            <a:off x="3008376" y="2649474"/>
            <a:ext cx="81937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333</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7" name="Shape 25"/>
          <p:cNvSpPr/>
          <p:nvPr/>
        </p:nvSpPr>
        <p:spPr>
          <a:xfrm>
            <a:off x="3008376" y="2896362"/>
            <a:ext cx="717480"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291</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1" name="Shape 29"/>
          <p:cNvSpPr/>
          <p:nvPr/>
        </p:nvSpPr>
        <p:spPr>
          <a:xfrm>
            <a:off x="3008376" y="3143250"/>
            <a:ext cx="707906"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619947"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488532"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3" name="Shape 41"/>
          <p:cNvSpPr/>
          <p:nvPr/>
        </p:nvSpPr>
        <p:spPr>
          <a:xfrm>
            <a:off x="3008376" y="3883914"/>
            <a:ext cx="3490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7" name="Shape 45"/>
          <p:cNvSpPr/>
          <p:nvPr/>
        </p:nvSpPr>
        <p:spPr>
          <a:xfrm>
            <a:off x="3008376" y="4130802"/>
            <a:ext cx="291998"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1,022</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8" name="Shape 56"/>
          <p:cNvSpPr/>
          <p:nvPr/>
        </p:nvSpPr>
        <p:spPr>
          <a:xfrm>
            <a:off x="3008376" y="4871466"/>
            <a:ext cx="124195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008376" y="5118354"/>
            <a:ext cx="1113250"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6" name="Shape 64"/>
          <p:cNvSpPr/>
          <p:nvPr/>
        </p:nvSpPr>
        <p:spPr>
          <a:xfrm>
            <a:off x="3008376" y="5365242"/>
            <a:ext cx="106636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657</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008376" y="5612130"/>
            <a:ext cx="95845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4" name="Shape 72"/>
          <p:cNvSpPr/>
          <p:nvPr/>
        </p:nvSpPr>
        <p:spPr>
          <a:xfrm>
            <a:off x="3008376" y="5859018"/>
            <a:ext cx="908517"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8" name="Shape 76"/>
          <p:cNvSpPr/>
          <p:nvPr/>
        </p:nvSpPr>
        <p:spPr>
          <a:xfrm>
            <a:off x="3008376" y="6105906"/>
            <a:ext cx="693414"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4" name="Shape 82"/>
          <p:cNvSpPr/>
          <p:nvPr/>
        </p:nvSpPr>
        <p:spPr>
          <a:xfrm>
            <a:off x="8558784" y="2155698"/>
            <a:ext cx="647677" cy="123444"/>
          </a:xfrm>
          <a:prstGeom prst="rect">
            <a:avLst/>
          </a:prstGeom>
          <a:solidFill>
            <a:srgbClr val="C2352F"/>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636291" cy="123444"/>
          </a:xfrm>
          <a:prstGeom prst="rect">
            <a:avLst/>
          </a:prstGeom>
          <a:solidFill>
            <a:srgbClr val="C2352F"/>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392</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610998" cy="123444"/>
          </a:xfrm>
          <a:prstGeom prst="rect">
            <a:avLst/>
          </a:prstGeom>
          <a:solidFill>
            <a:srgbClr val="C2352F"/>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6" name="Shape 94"/>
          <p:cNvSpPr/>
          <p:nvPr/>
        </p:nvSpPr>
        <p:spPr>
          <a:xfrm>
            <a:off x="8558784" y="2896362"/>
            <a:ext cx="599576"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577815"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57017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8" name="Shape 106"/>
          <p:cNvSpPr/>
          <p:nvPr/>
        </p:nvSpPr>
        <p:spPr>
          <a:xfrm>
            <a:off x="8558784" y="3637026"/>
            <a:ext cx="530626"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2" name="Shape 110"/>
          <p:cNvSpPr/>
          <p:nvPr/>
        </p:nvSpPr>
        <p:spPr>
          <a:xfrm>
            <a:off x="8558784" y="3883914"/>
            <a:ext cx="500448"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6" name="Shape 114"/>
          <p:cNvSpPr/>
          <p:nvPr/>
        </p:nvSpPr>
        <p:spPr>
          <a:xfrm>
            <a:off x="8558784" y="4130802"/>
            <a:ext cx="485961"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0" name="Shape 118"/>
          <p:cNvSpPr/>
          <p:nvPr/>
        </p:nvSpPr>
        <p:spPr>
          <a:xfrm>
            <a:off x="8558784" y="4377690"/>
            <a:ext cx="44291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4" name="Shape 122"/>
          <p:cNvSpPr/>
          <p:nvPr/>
        </p:nvSpPr>
        <p:spPr>
          <a:xfrm>
            <a:off x="8558784" y="4624578"/>
            <a:ext cx="441477"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272</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558784" y="4871466"/>
            <a:ext cx="37723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2" name="Shape 130"/>
          <p:cNvSpPr/>
          <p:nvPr/>
        </p:nvSpPr>
        <p:spPr>
          <a:xfrm>
            <a:off x="8558784" y="5118354"/>
            <a:ext cx="373849"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35707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32991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4" name="Shape 142"/>
          <p:cNvSpPr/>
          <p:nvPr/>
        </p:nvSpPr>
        <p:spPr>
          <a:xfrm>
            <a:off x="8558784" y="5859018"/>
            <a:ext cx="312404"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249232"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50" name="Shape 148"/>
          <p:cNvSpPr/>
          <p:nvPr/>
        </p:nvSpPr>
        <p:spPr>
          <a:xfrm>
            <a:off x="3679521" y="2093976"/>
            <a:ext cx="14630" cy="2221992"/>
          </a:xfrm>
          <a:prstGeom prst="rect">
            <a:avLst/>
          </a:prstGeom>
          <a:solidFill>
            <a:srgbClr val="0B2C4A"/>
          </a:solidFill>
          <a:ln/>
        </p:spPr>
      </p:sp>
      <p:sp>
        <p:nvSpPr>
          <p:cNvPr id="151" name="Shape 149"/>
          <p:cNvSpPr/>
          <p:nvPr/>
        </p:nvSpPr>
        <p:spPr>
          <a:xfrm>
            <a:off x="3679521" y="4562856"/>
            <a:ext cx="14630" cy="1728216"/>
          </a:xfrm>
          <a:prstGeom prst="rect">
            <a:avLst/>
          </a:prstGeom>
          <a:solidFill>
            <a:srgbClr val="0B2C4A"/>
          </a:solidFill>
          <a:ln/>
        </p:spPr>
      </p:sp>
      <p:sp>
        <p:nvSpPr>
          <p:cNvPr id="152" name="Shape 150"/>
          <p:cNvSpPr/>
          <p:nvPr/>
        </p:nvSpPr>
        <p:spPr>
          <a:xfrm>
            <a:off x="9229929"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50319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 name="Shape 15"/>
          <p:cNvSpPr/>
          <p:nvPr/>
        </p:nvSpPr>
        <p:spPr>
          <a:xfrm>
            <a:off x="3785616" y="2151755"/>
            <a:ext cx="46961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785616" y="2391651"/>
            <a:ext cx="335572"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5" name="Shape 23"/>
          <p:cNvSpPr/>
          <p:nvPr/>
        </p:nvSpPr>
        <p:spPr>
          <a:xfrm>
            <a:off x="3785616" y="2631546"/>
            <a:ext cx="33081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785616" y="2871442"/>
            <a:ext cx="32212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3" name="Shape 31"/>
          <p:cNvSpPr/>
          <p:nvPr/>
        </p:nvSpPr>
        <p:spPr>
          <a:xfrm>
            <a:off x="3785616" y="3111337"/>
            <a:ext cx="146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13212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785616" y="3591128"/>
            <a:ext cx="12935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785616" y="3831024"/>
            <a:ext cx="12241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785616" y="4070920"/>
            <a:ext cx="1059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6345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4809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1" name="Shape 59"/>
          <p:cNvSpPr/>
          <p:nvPr/>
        </p:nvSpPr>
        <p:spPr>
          <a:xfrm>
            <a:off x="3785616" y="4790606"/>
            <a:ext cx="3979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5" name="Shape 63"/>
          <p:cNvSpPr/>
          <p:nvPr/>
        </p:nvSpPr>
        <p:spPr>
          <a:xfrm>
            <a:off x="3785616" y="5030502"/>
            <a:ext cx="2904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284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1490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3" name="Shape 91"/>
          <p:cNvSpPr/>
          <p:nvPr/>
        </p:nvSpPr>
        <p:spPr>
          <a:xfrm>
            <a:off x="9336024" y="2631546"/>
            <a:ext cx="1280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321794" y="3111337"/>
            <a:ext cx="1423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9260296" y="3351233"/>
            <a:ext cx="757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258738" y="3591128"/>
            <a:ext cx="7728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048" y="3831024"/>
            <a:ext cx="78976"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246915" y="4070920"/>
            <a:ext cx="8910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9238712" y="4310815"/>
            <a:ext cx="9731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92589" y="4550711"/>
            <a:ext cx="14343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181874" y="4790606"/>
            <a:ext cx="154150"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3" name="Shape 131"/>
          <p:cNvSpPr/>
          <p:nvPr/>
        </p:nvSpPr>
        <p:spPr>
          <a:xfrm>
            <a:off x="9137803" y="5030502"/>
            <a:ext cx="19822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7" name="Shape 135"/>
          <p:cNvSpPr/>
          <p:nvPr/>
        </p:nvSpPr>
        <p:spPr>
          <a:xfrm>
            <a:off x="9074707" y="5270397"/>
            <a:ext cx="26131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manager, led by Toyota Henderson at +182 to 1,022. 11 declined; Mazda fell most at −281.</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1,022</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+182</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686</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Shape 16"/>
          <p:cNvSpPr/>
          <p:nvPr/>
        </p:nvSpPr>
        <p:spPr>
          <a:xfrm>
            <a:off x="4084320" y="3650285"/>
            <a:ext cx="64008" cy="682142"/>
          </a:xfrm>
          <a:prstGeom prst="rect">
            <a:avLst/>
          </a:prstGeom>
          <a:solidFill>
            <a:srgbClr val="12A566"/>
          </a:solidFill>
          <a:ln/>
        </p:spPr>
      </p:sp>
      <p:sp>
        <p:nvSpPr>
          <p:cNvPr id="19" name="Text 17"/>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657</a:t>
            </a:r>
            <a:endParaRPr lang="en-US" sz="1400" dirty="0"/>
          </a:p>
        </p:txBody>
      </p:sp>
      <p:sp>
        <p:nvSpPr>
          <p:cNvPr id="21" name="Text 19"/>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+121</a:t>
            </a:r>
            <a:endParaRPr lang="en-US" sz="1600" dirty="0"/>
          </a:p>
        </p:txBody>
      </p:sp>
      <p:sp>
        <p:nvSpPr>
          <p:cNvPr id="22" name="Text 20"/>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591</a:t>
            </a:r>
            <a:endParaRPr lang="en-US" sz="1400" dirty="0"/>
          </a:p>
        </p:txBody>
      </p:sp>
      <p:sp>
        <p:nvSpPr>
          <p:cNvPr id="24" name="Text 22"/>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+120</a:t>
            </a:r>
            <a:endParaRPr lang="en-US" sz="1600" dirty="0"/>
          </a:p>
        </p:txBody>
      </p:sp>
      <p:sp>
        <p:nvSpPr>
          <p:cNvPr id="25" name="Shape 23"/>
          <p:cNvSpPr/>
          <p:nvPr/>
        </p:nvSpPr>
        <p:spPr>
          <a:xfrm>
            <a:off x="658368" y="5124298"/>
            <a:ext cx="3489960" cy="755294"/>
          </a:xfrm>
          <a:prstGeom prst="rect">
            <a:avLst/>
          </a:prstGeom>
          <a:solidFill>
            <a:srgbClr val="F7F7F7"/>
          </a:solidFill>
          <a:ln/>
        </p:spPr>
      </p:sp>
      <p:sp>
        <p:nvSpPr>
          <p:cNvPr id="26" name="Shape 24"/>
          <p:cNvSpPr/>
          <p:nvPr/>
        </p:nvSpPr>
        <p:spPr>
          <a:xfrm>
            <a:off x="4084320" y="5160874"/>
            <a:ext cx="64008" cy="682142"/>
          </a:xfrm>
          <a:prstGeom prst="rect">
            <a:avLst/>
          </a:prstGeom>
          <a:solidFill>
            <a:srgbClr val="12A566"/>
          </a:solidFill>
          <a:ln/>
        </p:spPr>
      </p:sp>
      <p:sp>
        <p:nvSpPr>
          <p:cNvPr id="27" name="Text 25"/>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765</a:t>
            </a:r>
            <a:endParaRPr lang="en-US" sz="1400" dirty="0"/>
          </a:p>
        </p:txBody>
      </p:sp>
      <p:sp>
        <p:nvSpPr>
          <p:cNvPr id="29" name="Text 27"/>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+116</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3" name="Shape 31"/>
          <p:cNvSpPr/>
          <p:nvPr/>
        </p:nvSpPr>
        <p:spPr>
          <a:xfrm>
            <a:off x="4349496" y="2103120"/>
            <a:ext cx="3489960" cy="755294"/>
          </a:xfrm>
          <a:prstGeom prst="rect">
            <a:avLst/>
          </a:prstGeom>
          <a:solidFill>
            <a:srgbClr val="F7F7F7"/>
          </a:solidFill>
          <a:ln/>
        </p:spPr>
      </p:sp>
      <p:sp>
        <p:nvSpPr>
          <p:cNvPr id="34" name="Text 32"/>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560</a:t>
            </a:r>
            <a:endParaRPr lang="en-US" sz="1400" dirty="0"/>
          </a:p>
        </p:txBody>
      </p:sp>
      <p:sp>
        <p:nvSpPr>
          <p:cNvPr id="36" name="Text 34"/>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−281</a:t>
            </a:r>
            <a:endParaRPr lang="en-US" sz="1600" dirty="0"/>
          </a:p>
        </p:txBody>
      </p:sp>
      <p:sp>
        <p:nvSpPr>
          <p:cNvPr id="37" name="Text 35"/>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39" name="Text 37"/>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−94</a:t>
            </a:r>
            <a:endParaRPr lang="en-US" sz="1600" dirty="0"/>
          </a:p>
        </p:txBody>
      </p:sp>
      <p:sp>
        <p:nvSpPr>
          <p:cNvPr id="40" name="Shape 38"/>
          <p:cNvSpPr/>
          <p:nvPr/>
        </p:nvSpPr>
        <p:spPr>
          <a:xfrm>
            <a:off x="4349496" y="3613709"/>
            <a:ext cx="3489960" cy="755294"/>
          </a:xfrm>
          <a:prstGeom prst="rect">
            <a:avLst/>
          </a:prstGeom>
          <a:solidFill>
            <a:srgbClr val="F7F7F7"/>
          </a:solidFill>
          <a:ln/>
        </p:spPr>
      </p:sp>
      <p:sp>
        <p:nvSpPr>
          <p:cNvPr id="41" name="Text 39"/>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376</a:t>
            </a:r>
            <a:endParaRPr lang="en-US" sz="1400" dirty="0"/>
          </a:p>
        </p:txBody>
      </p:sp>
      <p:sp>
        <p:nvSpPr>
          <p:cNvPr id="43" name="Text 41"/>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−72</a:t>
            </a:r>
            <a:endParaRPr lang="en-US" sz="1600" dirty="0"/>
          </a:p>
        </p:txBody>
      </p:sp>
      <p:sp>
        <p:nvSpPr>
          <p:cNvPr id="44" name="Text 42"/>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392</a:t>
            </a:r>
            <a:endParaRPr lang="en-US" sz="1400" dirty="0"/>
          </a:p>
        </p:txBody>
      </p:sp>
      <p:sp>
        <p:nvSpPr>
          <p:cNvPr id="46" name="Text 44"/>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a:t>
            </a:r>
            <a:endParaRPr lang="en-US" sz="1600" dirty="0"/>
          </a:p>
        </p:txBody>
      </p:sp>
      <p:sp>
        <p:nvSpPr>
          <p:cNvPr id="47" name="Shape 45"/>
          <p:cNvSpPr/>
          <p:nvPr/>
        </p:nvSpPr>
        <p:spPr>
          <a:xfrm>
            <a:off x="4349496" y="5124298"/>
            <a:ext cx="3489960" cy="755294"/>
          </a:xfrm>
          <a:prstGeom prst="rect">
            <a:avLst/>
          </a:prstGeom>
          <a:solidFill>
            <a:srgbClr val="F7F7F7"/>
          </a:solidFill>
          <a:ln/>
        </p:spPr>
      </p:sp>
      <p:sp>
        <p:nvSpPr>
          <p:cNvPr id="48" name="Text 46"/>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351</a:t>
            </a:r>
            <a:endParaRPr lang="en-US" sz="1400" dirty="0"/>
          </a:p>
        </p:txBody>
      </p:sp>
      <p:sp>
        <p:nvSpPr>
          <p:cNvPr id="50" name="Text 48"/>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4" name="Shape 52"/>
          <p:cNvSpPr/>
          <p:nvPr/>
        </p:nvSpPr>
        <p:spPr>
          <a:xfrm>
            <a:off x="8040624" y="2103120"/>
            <a:ext cx="3489960" cy="755294"/>
          </a:xfrm>
          <a:prstGeom prst="rect">
            <a:avLst/>
          </a:prstGeom>
          <a:solidFill>
            <a:srgbClr val="F7F7F7"/>
          </a:solidFill>
          <a:ln/>
        </p:spPr>
      </p:sp>
      <p:sp>
        <p:nvSpPr>
          <p:cNvPr id="55" name="Shape 53"/>
          <p:cNvSpPr/>
          <p:nvPr/>
        </p:nvSpPr>
        <p:spPr>
          <a:xfrm>
            <a:off x="11466576" y="2139696"/>
            <a:ext cx="64008" cy="682142"/>
          </a:xfrm>
          <a:prstGeom prst="rect">
            <a:avLst/>
          </a:prstGeom>
          <a:solidFill>
            <a:srgbClr val="12A566"/>
          </a:solidFill>
          <a:ln/>
        </p:spPr>
      </p:sp>
      <p:sp>
        <p:nvSpPr>
          <p:cNvPr id="56" name="Text 54"/>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7" name="Text 55"/>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854</a:t>
            </a:r>
            <a:endParaRPr lang="en-US" sz="1400" dirty="0"/>
          </a:p>
        </p:txBody>
      </p:sp>
      <p:sp>
        <p:nvSpPr>
          <p:cNvPr id="58" name="Text 56"/>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59" name="Shape 57"/>
          <p:cNvSpPr/>
          <p:nvPr/>
        </p:nvSpPr>
        <p:spPr>
          <a:xfrm>
            <a:off x="11466576" y="2894990"/>
            <a:ext cx="64008" cy="682142"/>
          </a:xfrm>
          <a:prstGeom prst="rect">
            <a:avLst/>
          </a:prstGeom>
          <a:solidFill>
            <a:srgbClr val="12A566"/>
          </a:solidFill>
          <a:ln/>
        </p:spPr>
      </p:sp>
      <p:sp>
        <p:nvSpPr>
          <p:cNvPr id="60" name="Text 58"/>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1" name="Text 59"/>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1,134</a:t>
            </a:r>
            <a:endParaRPr lang="en-US" sz="1400" dirty="0"/>
          </a:p>
        </p:txBody>
      </p:sp>
      <p:sp>
        <p:nvSpPr>
          <p:cNvPr id="62" name="Text 60"/>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a:t>
            </a:r>
            <a:endParaRPr lang="en-US" sz="1600" dirty="0"/>
          </a:p>
        </p:txBody>
      </p:sp>
      <p:sp>
        <p:nvSpPr>
          <p:cNvPr id="63" name="Shape 61"/>
          <p:cNvSpPr/>
          <p:nvPr/>
        </p:nvSpPr>
        <p:spPr>
          <a:xfrm>
            <a:off x="8040624" y="3613709"/>
            <a:ext cx="3489960" cy="755294"/>
          </a:xfrm>
          <a:prstGeom prst="rect">
            <a:avLst/>
          </a:prstGeom>
          <a:solidFill>
            <a:srgbClr val="F7F7F7"/>
          </a:solidFill>
          <a:ln/>
        </p:spPr>
      </p:sp>
      <p:sp>
        <p:nvSpPr>
          <p:cNvPr id="64" name="Text 62"/>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5" name="Text 63"/>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326</a:t>
            </a:r>
            <a:endParaRPr lang="en-US" sz="1400" dirty="0"/>
          </a:p>
        </p:txBody>
      </p:sp>
      <p:sp>
        <p:nvSpPr>
          <p:cNvPr id="66" name="Text 64"/>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+168</a:t>
            </a:r>
            <a:endParaRPr lang="en-US" sz="1600" dirty="0"/>
          </a:p>
        </p:txBody>
      </p:sp>
      <p:sp>
        <p:nvSpPr>
          <p:cNvPr id="67" name="Text 6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69" name="Text 67"/>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70" name="Shape 68"/>
          <p:cNvSpPr/>
          <p:nvPr/>
        </p:nvSpPr>
        <p:spPr>
          <a:xfrm>
            <a:off x="8040624" y="5124298"/>
            <a:ext cx="3489960" cy="755294"/>
          </a:xfrm>
          <a:prstGeom prst="rect">
            <a:avLst/>
          </a:prstGeom>
          <a:solidFill>
            <a:srgbClr val="F7F7F7"/>
          </a:solidFill>
          <a:ln/>
        </p:spPr>
      </p:sp>
      <p:sp>
        <p:nvSpPr>
          <p:cNvPr id="71" name="Shape 69"/>
          <p:cNvSpPr/>
          <p:nvPr/>
        </p:nvSpPr>
        <p:spPr>
          <a:xfrm>
            <a:off x="11466576" y="5160874"/>
            <a:ext cx="64008" cy="682142"/>
          </a:xfrm>
          <a:prstGeom prst="rect">
            <a:avLst/>
          </a:prstGeom>
          <a:solidFill>
            <a:srgbClr val="12A566"/>
          </a:solidFill>
          <a:ln/>
        </p:spPr>
      </p:sp>
      <p:sp>
        <p:nvSpPr>
          <p:cNvPr id="72" name="Text 7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814</a:t>
            </a:r>
            <a:endParaRPr lang="en-US" sz="1400" dirty="0"/>
          </a:p>
        </p:txBody>
      </p:sp>
      <p:sp>
        <p:nvSpPr>
          <p:cNvPr id="74" name="Text 72"/>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a:t>
            </a:r>
            <a:endParaRPr lang="en-US" sz="1600" dirty="0"/>
          </a:p>
        </p:txBody>
      </p:sp>
      <p:sp>
        <p:nvSpPr>
          <p:cNvPr id="75" name="Shape 73"/>
          <p:cNvSpPr/>
          <p:nvPr/>
        </p:nvSpPr>
        <p:spPr>
          <a:xfrm>
            <a:off x="457200" y="6126480"/>
            <a:ext cx="11274552" cy="554736"/>
          </a:xfrm>
          <a:prstGeom prst="rect">
            <a:avLst/>
          </a:prstGeom>
          <a:solidFill>
            <a:srgbClr val="EDF4FA"/>
          </a:solidFill>
          <a:ln/>
        </p:spPr>
      </p:sp>
      <p:sp>
        <p:nvSpPr>
          <p:cNvPr id="76" name="Text 74"/>
          <p:cNvSpPr txBox="1"/>
          <p:nvPr/>
        </p:nvSpPr>
        <p:spPr>
          <a:xfrm>
            <a:off x="658368" y="6144768"/>
            <a:ext cx="10927080" cy="51816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Ask Toyota Henderson, Toyota Spokane and Toyota Prescott what changed. Ask Mazda, Subaru St George and Honda Spokane what got in the way. Ask Toyota Prescott, Toyota Henderson and VW St George what they started this year.</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1,541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−83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at month end,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DF4FA"/>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 to Sep; CP &amp; W ROs fell 2.3% year to date.</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812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HEADCOUNT</a:t>
            </a:r>
            <a:endParaRPr lang="en-US" sz="1500" dirty="0"/>
          </a:p>
        </p:txBody>
      </p:sp>
      <p:sp>
        <p:nvSpPr>
          <p:cNvPr id="9" name="Text 7"/>
          <p:cNvSpPr txBox="1"/>
          <p:nvPr/>
        </p:nvSpPr>
        <p:spPr>
          <a:xfrm>
            <a:off x="3295650" y="1335024"/>
            <a:ext cx="47510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185057" cy="110352"/>
          </a:xfrm>
          <a:prstGeom prst="rect">
            <a:avLst/>
          </a:prstGeom>
          <a:solidFill>
            <a:srgbClr val="2587C5"/>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785616" y="2151755"/>
            <a:ext cx="148046" cy="110352"/>
          </a:xfrm>
          <a:prstGeom prst="rect">
            <a:avLst/>
          </a:prstGeom>
          <a:solidFill>
            <a:srgbClr val="2587C5"/>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 name="Shape 19"/>
          <p:cNvSpPr/>
          <p:nvPr/>
        </p:nvSpPr>
        <p:spPr>
          <a:xfrm>
            <a:off x="3785616" y="2391651"/>
            <a:ext cx="148046" cy="110352"/>
          </a:xfrm>
          <a:prstGeom prst="rect">
            <a:avLst/>
          </a:prstGeom>
          <a:solidFill>
            <a:srgbClr val="2587C5"/>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5" name="Shape 23"/>
          <p:cNvSpPr/>
          <p:nvPr/>
        </p:nvSpPr>
        <p:spPr>
          <a:xfrm>
            <a:off x="3785616" y="2631546"/>
            <a:ext cx="111034" cy="110352"/>
          </a:xfrm>
          <a:prstGeom prst="rect">
            <a:avLst/>
          </a:prstGeom>
          <a:solidFill>
            <a:srgbClr val="2587C5"/>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785616" y="2871442"/>
            <a:ext cx="111034" cy="110352"/>
          </a:xfrm>
          <a:prstGeom prst="rect">
            <a:avLst/>
          </a:prstGeom>
          <a:solidFill>
            <a:srgbClr val="2587C5"/>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785616" y="3111337"/>
            <a:ext cx="74023" cy="110352"/>
          </a:xfrm>
          <a:prstGeom prst="rect">
            <a:avLst/>
          </a:prstGeom>
          <a:solidFill>
            <a:srgbClr val="2587C5"/>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785616" y="3351233"/>
            <a:ext cx="37011" cy="110352"/>
          </a:xfrm>
          <a:prstGeom prst="rect">
            <a:avLst/>
          </a:prstGeom>
          <a:solidFill>
            <a:srgbClr val="2587C5"/>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37011" cy="110352"/>
          </a:xfrm>
          <a:prstGeom prst="rect">
            <a:avLst/>
          </a:prstGeom>
          <a:solidFill>
            <a:srgbClr val="2587C5"/>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7011" cy="110352"/>
          </a:xfrm>
          <a:prstGeom prst="rect">
            <a:avLst/>
          </a:prstGeom>
          <a:solidFill>
            <a:srgbClr val="2587C5"/>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9" name="Shape 47"/>
          <p:cNvSpPr/>
          <p:nvPr/>
        </p:nvSpPr>
        <p:spPr>
          <a:xfrm>
            <a:off x="3785616" y="4070920"/>
            <a:ext cx="37011" cy="110352"/>
          </a:xfrm>
          <a:prstGeom prst="rect">
            <a:avLst/>
          </a:prstGeom>
          <a:solidFill>
            <a:srgbClr val="2587C5"/>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3748605" y="4310815"/>
            <a:ext cx="37011" cy="110352"/>
          </a:xfrm>
          <a:prstGeom prst="rect">
            <a:avLst/>
          </a:prstGeom>
          <a:solidFill>
            <a:srgbClr val="2587C5"/>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48605" y="4550711"/>
            <a:ext cx="37011" cy="110352"/>
          </a:xfrm>
          <a:prstGeom prst="rect">
            <a:avLst/>
          </a:prstGeom>
          <a:solidFill>
            <a:srgbClr val="2587C5"/>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48605" y="4790606"/>
            <a:ext cx="37011" cy="110352"/>
          </a:xfrm>
          <a:prstGeom prst="rect">
            <a:avLst/>
          </a:prstGeom>
          <a:solidFill>
            <a:srgbClr val="2587C5"/>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748605" y="5030502"/>
            <a:ext cx="37011" cy="110352"/>
          </a:xfrm>
          <a:prstGeom prst="rect">
            <a:avLst/>
          </a:prstGeom>
          <a:solidFill>
            <a:srgbClr val="2587C5"/>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48605" y="5270397"/>
            <a:ext cx="37011" cy="110352"/>
          </a:xfrm>
          <a:prstGeom prst="rect">
            <a:avLst/>
          </a:prstGeom>
          <a:solidFill>
            <a:srgbClr val="2587C5"/>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748605" y="5510293"/>
            <a:ext cx="37011" cy="110352"/>
          </a:xfrm>
          <a:prstGeom prst="rect">
            <a:avLst/>
          </a:prstGeom>
          <a:solidFill>
            <a:srgbClr val="2587C5"/>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48605" y="5750188"/>
            <a:ext cx="37011" cy="110352"/>
          </a:xfrm>
          <a:prstGeom prst="rect">
            <a:avLst/>
          </a:prstGeom>
          <a:solidFill>
            <a:srgbClr val="2587C5"/>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9299013" y="1911860"/>
            <a:ext cx="37011" cy="110352"/>
          </a:xfrm>
          <a:prstGeom prst="rect">
            <a:avLst/>
          </a:prstGeom>
          <a:solidFill>
            <a:srgbClr val="2587C5"/>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5" name="Shape 83"/>
          <p:cNvSpPr/>
          <p:nvPr/>
        </p:nvSpPr>
        <p:spPr>
          <a:xfrm>
            <a:off x="9299013" y="2151755"/>
            <a:ext cx="37011" cy="110352"/>
          </a:xfrm>
          <a:prstGeom prst="rect">
            <a:avLst/>
          </a:prstGeom>
          <a:solidFill>
            <a:srgbClr val="2587C5"/>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9" name="Shape 87"/>
          <p:cNvSpPr/>
          <p:nvPr/>
        </p:nvSpPr>
        <p:spPr>
          <a:xfrm>
            <a:off x="9262001" y="2391651"/>
            <a:ext cx="74023" cy="110352"/>
          </a:xfrm>
          <a:prstGeom prst="rect">
            <a:avLst/>
          </a:prstGeom>
          <a:solidFill>
            <a:srgbClr val="2587C5"/>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3" name="Shape 91"/>
          <p:cNvSpPr/>
          <p:nvPr/>
        </p:nvSpPr>
        <p:spPr>
          <a:xfrm>
            <a:off x="9262001" y="2631546"/>
            <a:ext cx="74023" cy="110352"/>
          </a:xfrm>
          <a:prstGeom prst="rect">
            <a:avLst/>
          </a:prstGeom>
          <a:solidFill>
            <a:srgbClr val="2587C5"/>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9224990" y="2871442"/>
            <a:ext cx="111034" cy="110352"/>
          </a:xfrm>
          <a:prstGeom prst="rect">
            <a:avLst/>
          </a:prstGeom>
          <a:solidFill>
            <a:srgbClr val="2587C5"/>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224990" y="3111337"/>
            <a:ext cx="111034" cy="110352"/>
          </a:xfrm>
          <a:prstGeom prst="rect">
            <a:avLst/>
          </a:prstGeom>
          <a:solidFill>
            <a:srgbClr val="2587C5"/>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224990" y="3351233"/>
            <a:ext cx="111034" cy="110352"/>
          </a:xfrm>
          <a:prstGeom prst="rect">
            <a:avLst/>
          </a:prstGeom>
          <a:solidFill>
            <a:srgbClr val="2587C5"/>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187978" y="3591128"/>
            <a:ext cx="148046" cy="110352"/>
          </a:xfrm>
          <a:prstGeom prst="rect">
            <a:avLst/>
          </a:prstGeom>
          <a:solidFill>
            <a:srgbClr val="2587C5"/>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187978" y="3831024"/>
            <a:ext cx="148046" cy="110352"/>
          </a:xfrm>
          <a:prstGeom prst="rect">
            <a:avLst/>
          </a:prstGeom>
          <a:solidFill>
            <a:srgbClr val="2587C5"/>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113955" y="4070920"/>
            <a:ext cx="222069" cy="110352"/>
          </a:xfrm>
          <a:prstGeom prst="rect">
            <a:avLst/>
          </a:prstGeom>
          <a:solidFill>
            <a:srgbClr val="2587C5"/>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9076944" y="4310815"/>
            <a:ext cx="259080" cy="110352"/>
          </a:xfrm>
          <a:prstGeom prst="rect">
            <a:avLst/>
          </a:prstGeom>
          <a:solidFill>
            <a:srgbClr val="2587C5"/>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039933" y="4550711"/>
            <a:ext cx="296091" cy="110352"/>
          </a:xfrm>
          <a:prstGeom prst="rect">
            <a:avLst/>
          </a:prstGeom>
          <a:solidFill>
            <a:srgbClr val="2587C5"/>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9933" y="4790606"/>
            <a:ext cx="296091" cy="110352"/>
          </a:xfrm>
          <a:prstGeom prst="rect">
            <a:avLst/>
          </a:prstGeom>
          <a:solidFill>
            <a:srgbClr val="2587C5"/>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9002921" y="5030502"/>
            <a:ext cx="333103" cy="110352"/>
          </a:xfrm>
          <a:prstGeom prst="rect">
            <a:avLst/>
          </a:prstGeom>
          <a:solidFill>
            <a:srgbClr val="2587C5"/>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891887" y="5270397"/>
            <a:ext cx="444137" cy="110352"/>
          </a:xfrm>
          <a:prstGeom prst="rect">
            <a:avLst/>
          </a:prstGeom>
          <a:solidFill>
            <a:srgbClr val="2587C5"/>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1" name="Shape 139"/>
          <p:cNvSpPr/>
          <p:nvPr/>
        </p:nvSpPr>
        <p:spPr>
          <a:xfrm>
            <a:off x="8558784" y="5510293"/>
            <a:ext cx="777240" cy="110352"/>
          </a:xfrm>
          <a:prstGeom prst="rect">
            <a:avLst/>
          </a:prstGeom>
          <a:solidFill>
            <a:srgbClr val="2587C5"/>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stores added fixed staff, led by Mazda (+5); 23 reduced, led by Chevy LV (−21).</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2026-10-25T23:10:59Z</dcterms:created>
  <dcterms:modified xsi:type="dcterms:W3CDTF">2026-10-25T23:10:59Z</dcterms:modified>
</cp:coreProperties>
</file>