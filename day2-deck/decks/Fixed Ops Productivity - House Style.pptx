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charts/chart1.xml" ContentType="application/vnd.openxmlformats-officedocument.drawingml.chart+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Fixed employees, trailing 12 months</c:v>
                </c:pt>
              </c:strCache>
            </c:strRef>
          </c:tx>
          <c:spPr>
            <a:solidFill>
              <a:srgbClr val="2587C5"/>
            </a:solidFill>
            <a:ln w="38100" cap="flat">
              <a:solidFill>
                <a:srgbClr val="2587C5"/>
              </a:solidFill>
              <a:prstDash val="solid"/>
              <a:round/>
            </a:ln>
            <a:effectLst/>
          </c:spPr>
          <c:invertIfNegative val="0"/>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circle"/>
            <c:size val="8"/>
            <c:spPr>
              <a:solidFill>
                <a:srgbClr val="2587C5"/>
              </a:solidFill>
              <a:ln w="12700" cap="flat">
                <a:solidFill>
                  <a:srgbClr val="2587C5"/>
                </a:solidFill>
                <a:prstDash val="solid"/>
                <a:round/>
              </a:ln>
              <a:effectLst/>
            </c:spPr>
          </c:marker>
          <c:cat>
            <c:multiLvlStrRef>
              <c:f>Sheet1!$A$2:$A$13</c:f>
              <c:multiLvlStrCache>
                <c:ptCount val="12"/>
                <c:lvl>
                  <c:pt idx="0">
                    <c:v>Oct '25</c:v>
                  </c:pt>
                  <c:pt idx="1">
                    <c:v>Nov '25</c:v>
                  </c:pt>
                  <c:pt idx="2">
                    <c:v>Dec '25</c:v>
                  </c:pt>
                  <c:pt idx="3">
                    <c:v>Jan '26</c:v>
                  </c:pt>
                  <c:pt idx="4">
                    <c:v>Feb '26</c:v>
                  </c:pt>
                  <c:pt idx="5">
                    <c:v>Mar '26</c:v>
                  </c:pt>
                  <c:pt idx="6">
                    <c:v>Apr '26</c:v>
                  </c:pt>
                  <c:pt idx="7">
                    <c:v>May '26</c:v>
                  </c:pt>
                  <c:pt idx="8">
                    <c:v>Jun '26</c:v>
                  </c:pt>
                  <c:pt idx="9">
                    <c:v>Jul '26</c:v>
                  </c:pt>
                  <c:pt idx="10">
                    <c:v>Aug '26</c:v>
                  </c:pt>
                  <c:pt idx="11">
                    <c:v>Sep '26</c:v>
                  </c:pt>
                </c:lvl>
              </c:multiLvlStrCache>
            </c:multiLvlStrRef>
          </c:cat>
          <c:val>
            <c:numRef>
              <c:f>Sheet1!$B$2:$B$13</c:f>
              <c:numCache>
                <c:formatCode>General</c:formatCode>
                <c:ptCount val="12"/>
                <c:pt idx="0">
                  <c:v>1604</c:v>
                </c:pt>
                <c:pt idx="1">
                  <c:v>1582</c:v>
                </c:pt>
                <c:pt idx="2">
                  <c:v>1563</c:v>
                </c:pt>
                <c:pt idx="3">
                  <c:v>1530</c:v>
                </c:pt>
                <c:pt idx="4">
                  <c:v>1530</c:v>
                </c:pt>
                <c:pt idx="5">
                  <c:v>1540</c:v>
                </c:pt>
                <c:pt idx="6">
                  <c:v>1545</c:v>
                </c:pt>
                <c:pt idx="7">
                  <c:v>1537</c:v>
                </c:pt>
                <c:pt idx="8">
                  <c:v>1546</c:v>
                </c:pt>
                <c:pt idx="9">
                  <c:v>1548</c:v>
                </c:pt>
                <c:pt idx="10">
                  <c:v>1549</c:v>
                </c:pt>
                <c:pt idx="11">
                  <c:v>1540</c:v>
                </c:pt>
              </c:numCache>
            </c:numRef>
          </c:val>
          <c:smooth val="0"/>
        </c:ser>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autoZero"/>
        <c:auto val="1"/>
        <c:lblAlgn val="ctr"/>
        <c:noMultiLvlLbl val="1"/>
      </c:catAx>
      <c:valAx>
        <c:axId val="2094734552"/>
        <c:scaling>
          <c:orientation val="minMax"/>
          <c:max val="1620"/>
          <c:min val="1520"/>
        </c:scaling>
        <c:delete val="0"/>
        <c:axPos val="l"/>
        <c:majorGridlines>
          <c:spPr>
            <a:ln w="9525" cap="flat">
              <a:solidFill>
                <a:srgbClr val="D9D9D9"/>
              </a:solidFill>
              <a:prstDash val="solid"/>
              <a:round/>
            </a:ln>
          </c:spPr>
        </c:majorGridlines>
        <c:numFmt formatCode="#,##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0"/>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fixed ops gross / fixed employees. YTD from YTD totals, not the mean of months. Store rows reconcile to the group on every input, both years.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fixed ops gross / fixed employees. Jan-Sep 2026 YTD. Green at or above the group, red below.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Change in Fixed Gross per Fixed Employee, Jan-Sep 2026 vs 2025, best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service advisors. YTD from YTD totals, not the mean of months. Store rows reconcile to the group on every input, both years.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service advisors. Jan-Sep 2026 YTD. Green at or above own segment average, red below. Segment averages from segment totals. Luxury = Lexus, Lincoln, Cadillac, Volvo, Audi Reno, Audi Henderson, LR Reno, LR LV, LR Henderson; Acura counted as non-luxury.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Change in CP &amp; W ROs per Service Advisor, Jan-Sep 2026 vs 2025, best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fixed employees. YTD from YTD totals, not the mean of months. Store rows reconcile to the group on every input, both years.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fixed employees. Jan-Sep 2026 YTD. Green at or above own segment average, red below. Segment averages from segment totals. Luxury = Lexus, Lincoln, Cadillac, Volvo, Audi Reno, Audi Henderson, LR Reno, LR LV, LR Henderson; Acura counted as non-luxury.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Change in CP &amp; W ROs per Fixed Employee, Jan-Sep 2026 vs 2025, best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fixed managers. Small stores carry one to three managers, so one hire moves the ratio sharply. YTD from YTD totals, not the mean of months. Store rows reconcile to the group on every input, both years.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fixed managers. Small stores carry one to three managers, so one hire moves the ratio sharply. Jan-Sep 2026 YTD. Green at or above own segment average, red below. Segment averages from segment totals. Luxury = Lexus, Lincoln, Cadillac, Volvo, Audi Reno, Audi Henderson, LR Reno, LR LV, LR Henderson; Acura counted as non-luxury.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Change in CP &amp; W ROs per Fixed Manager, Jan-Sep 2026 vs 2025, best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Fixed employees include managers; technicians = service, express, foreman and team-leader titles.
Jan 25: 1625 fixed, 703 techs, 238 advisors, 117 managers
Feb 25: 1632 fixed, 705 techs, 237 advisors, 116 managers
Mar 25: 1629 fixed, 702 techs, 240 advisors, 116 managers
Apr 25: 1615 fixed, 695 techs, 242 advisors, 111 managers
May 25: 1623 fixed, 699 techs, 250 advisors, 111 managers
Jun 25: 1616 fixed, 695 techs, 247 advisors, 109 managers
Jul 25: 1629 fixed, 705 techs, 247 advisors, 110 managers
Aug 25: 1627 fixed, 701 techs, 251 advisors, 110 managers
Sep 25: 1616 fixed, 701 techs, 248 advisors, 107 managers
Oct 25: 1604 fixed, 688 techs, 249 advisors, 109 managers
Nov 25: 1582 fixed, 685 techs, 247 advisors, 107 managers
Dec 25: 1563 fixed, 674 techs, 249 advisors, 107 managers
Jan 26: 1530 fixed, 657 techs, 248 advisors, 106 managers
Feb 26: 1530 fixed, 670 techs, 245 advisors, 108 managers
Mar 26: 1540 fixed, 669 techs, 252 advisors, 107 managers
Apr 26: 1545 fixed, 687 techs, 250 advisors, 106 managers
May 26: 1537 fixed, 680 techs, 254 advisors, 105 managers
Jun 26: 1546 fixed, 684 techs, 250 advisors, 105 managers
Jul 26: 1548 fixed, 682 techs, 250 advisors, 106 managers
Aug 26: 1549 fixed, 684 techs, 244 advisors, 104 managers
Sep 26: 1540 fixed, 684 techs, 241 advisors, 104 managers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Change in fixed ops headcount, Sep 2026 vs Sep 2025, most added first. Neutral colour: added staff can be growth or excess.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713232" y="2377440"/>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FIXED OPS</a:t>
            </a:r>
            <a:endParaRPr lang="en-US" sz="2000" dirty="0"/>
          </a:p>
        </p:txBody>
      </p:sp>
      <p:sp>
        <p:nvSpPr>
          <p:cNvPr id="3" name="Text 1"/>
          <p:cNvSpPr txBox="1"/>
          <p:nvPr/>
        </p:nvSpPr>
        <p:spPr>
          <a:xfrm>
            <a:off x="667512" y="2743200"/>
            <a:ext cx="10789920" cy="1234440"/>
          </a:xfrm>
          <a:prstGeom prst="rect">
            <a:avLst/>
          </a:prstGeom>
          <a:noFill/>
          <a:ln/>
        </p:spPr>
        <p:txBody>
          <a:bodyPr wrap="none" lIns="0" tIns="0" rIns="0" bIns="0" rtlCol="0" anchor="ctr"/>
          <a:lstStyle/>
          <a:p>
            <a:pPr indent="0" marL="0">
              <a:buNone/>
            </a:pPr>
            <a:r>
              <a:rPr lang="en-US" sz="8200" b="1" dirty="0">
                <a:solidFill>
                  <a:srgbClr val="1A1A1A"/>
                </a:solidFill>
                <a:latin typeface="Inter" pitchFamily="34" charset="0"/>
                <a:ea typeface="Inter" pitchFamily="34" charset="-122"/>
                <a:cs typeface="Inter" pitchFamily="34" charset="-120"/>
              </a:rPr>
              <a:t>Productivity</a:t>
            </a:r>
            <a:endParaRPr lang="en-US" sz="8200" dirty="0"/>
          </a:p>
        </p:txBody>
      </p:sp>
      <p:sp>
        <p:nvSpPr>
          <p:cNvPr id="4" name="Text 2"/>
          <p:cNvSpPr txBox="1"/>
          <p:nvPr/>
        </p:nvSpPr>
        <p:spPr>
          <a:xfrm>
            <a:off x="694944" y="404164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Gross per employee   ·   ROs per person   ·   Headcount</a:t>
            </a:r>
            <a:endParaRPr lang="en-US" sz="2200" dirty="0"/>
          </a:p>
        </p:txBody>
      </p:sp>
      <p:sp>
        <p:nvSpPr>
          <p:cNvPr id="5" name="Shape 3"/>
          <p:cNvSpPr/>
          <p:nvPr/>
        </p:nvSpPr>
        <p:spPr>
          <a:xfrm>
            <a:off x="685800" y="5257800"/>
            <a:ext cx="1340249" cy="45720"/>
          </a:xfrm>
          <a:prstGeom prst="rect">
            <a:avLst/>
          </a:prstGeom>
          <a:solidFill>
            <a:srgbClr val="5B9BD5"/>
          </a:solidFill>
          <a:ln/>
        </p:spPr>
      </p:sp>
      <p:sp>
        <p:nvSpPr>
          <p:cNvPr id="6" name="Text 4"/>
          <p:cNvSpPr txBox="1"/>
          <p:nvPr/>
        </p:nvSpPr>
        <p:spPr>
          <a:xfrm>
            <a:off x="685800" y="5440680"/>
            <a:ext cx="1340249" cy="365760"/>
          </a:xfrm>
          <a:prstGeom prst="rect">
            <a:avLst/>
          </a:prstGeom>
          <a:noFill/>
          <a:ln/>
        </p:spPr>
        <p:txBody>
          <a:bodyPr wrap="square" lIns="0" tIns="0" rIns="0" bIns="0" rtlCol="0" anchor="ctr"/>
          <a:lstStyle/>
          <a:p>
            <a:pPr indent="0" marL="0">
              <a:buNone/>
            </a:pPr>
            <a:r>
              <a:rPr lang="en-US" sz="1550" dirty="0">
                <a:solidFill>
                  <a:srgbClr val="595959"/>
                </a:solidFill>
                <a:latin typeface="Inter" pitchFamily="34" charset="0"/>
                <a:ea typeface="Inter" pitchFamily="34" charset="-122"/>
                <a:cs typeface="Inter" pitchFamily="34" charset="-120"/>
              </a:rPr>
              <a:t>Gross</a:t>
            </a:r>
            <a:endParaRPr lang="en-US" sz="1550" dirty="0"/>
          </a:p>
        </p:txBody>
      </p:sp>
      <p:sp>
        <p:nvSpPr>
          <p:cNvPr id="7" name="Shape 5"/>
          <p:cNvSpPr/>
          <p:nvPr/>
        </p:nvSpPr>
        <p:spPr>
          <a:xfrm>
            <a:off x="2227217" y="5257800"/>
            <a:ext cx="1340249" cy="45720"/>
          </a:xfrm>
          <a:prstGeom prst="rect">
            <a:avLst/>
          </a:prstGeom>
          <a:solidFill>
            <a:srgbClr val="5B9BD5"/>
          </a:solidFill>
          <a:ln/>
        </p:spPr>
      </p:sp>
      <p:sp>
        <p:nvSpPr>
          <p:cNvPr id="8" name="Text 6"/>
          <p:cNvSpPr txBox="1"/>
          <p:nvPr/>
        </p:nvSpPr>
        <p:spPr>
          <a:xfrm>
            <a:off x="2227217" y="5440680"/>
            <a:ext cx="1340249" cy="365760"/>
          </a:xfrm>
          <a:prstGeom prst="rect">
            <a:avLst/>
          </a:prstGeom>
          <a:noFill/>
          <a:ln/>
        </p:spPr>
        <p:txBody>
          <a:bodyPr wrap="square" lIns="0" tIns="0" rIns="0" bIns="0" rtlCol="0" anchor="ctr"/>
          <a:lstStyle/>
          <a:p>
            <a:pPr indent="0" marL="0">
              <a:buNone/>
            </a:pPr>
            <a:r>
              <a:rPr lang="en-US" sz="1550" dirty="0">
                <a:solidFill>
                  <a:srgbClr val="595959"/>
                </a:solidFill>
                <a:latin typeface="Inter" pitchFamily="34" charset="0"/>
                <a:ea typeface="Inter" pitchFamily="34" charset="-122"/>
                <a:cs typeface="Inter" pitchFamily="34" charset="-120"/>
              </a:rPr>
              <a:t>Profitability</a:t>
            </a:r>
            <a:endParaRPr lang="en-US" sz="1550" dirty="0"/>
          </a:p>
        </p:txBody>
      </p:sp>
      <p:sp>
        <p:nvSpPr>
          <p:cNvPr id="9" name="Shape 7"/>
          <p:cNvSpPr/>
          <p:nvPr/>
        </p:nvSpPr>
        <p:spPr>
          <a:xfrm>
            <a:off x="3768634" y="5257800"/>
            <a:ext cx="1340249" cy="45720"/>
          </a:xfrm>
          <a:prstGeom prst="rect">
            <a:avLst/>
          </a:prstGeom>
          <a:solidFill>
            <a:srgbClr val="5B9BD5"/>
          </a:solidFill>
          <a:ln/>
        </p:spPr>
      </p:sp>
      <p:sp>
        <p:nvSpPr>
          <p:cNvPr id="10" name="Text 8"/>
          <p:cNvSpPr txBox="1"/>
          <p:nvPr/>
        </p:nvSpPr>
        <p:spPr>
          <a:xfrm>
            <a:off x="3768634" y="5440680"/>
            <a:ext cx="1340249" cy="365760"/>
          </a:xfrm>
          <a:prstGeom prst="rect">
            <a:avLst/>
          </a:prstGeom>
          <a:noFill/>
          <a:ln/>
        </p:spPr>
        <p:txBody>
          <a:bodyPr wrap="square" lIns="0" tIns="0" rIns="0" bIns="0" rtlCol="0" anchor="ctr"/>
          <a:lstStyle/>
          <a:p>
            <a:pPr indent="0" marL="0">
              <a:buNone/>
            </a:pPr>
            <a:r>
              <a:rPr lang="en-US" sz="1550" dirty="0">
                <a:solidFill>
                  <a:srgbClr val="595959"/>
                </a:solidFill>
                <a:latin typeface="Inter" pitchFamily="34" charset="0"/>
                <a:ea typeface="Inter" pitchFamily="34" charset="-122"/>
                <a:cs typeface="Inter" pitchFamily="34" charset="-120"/>
              </a:rPr>
              <a:t>CP Engine</a:t>
            </a:r>
            <a:endParaRPr lang="en-US" sz="1550" dirty="0"/>
          </a:p>
        </p:txBody>
      </p:sp>
      <p:sp>
        <p:nvSpPr>
          <p:cNvPr id="11" name="Shape 9"/>
          <p:cNvSpPr/>
          <p:nvPr/>
        </p:nvSpPr>
        <p:spPr>
          <a:xfrm>
            <a:off x="5310051" y="5257800"/>
            <a:ext cx="1340249" cy="45720"/>
          </a:xfrm>
          <a:prstGeom prst="rect">
            <a:avLst/>
          </a:prstGeom>
          <a:solidFill>
            <a:srgbClr val="5B9BD5"/>
          </a:solidFill>
          <a:ln/>
        </p:spPr>
      </p:sp>
      <p:sp>
        <p:nvSpPr>
          <p:cNvPr id="12" name="Text 10"/>
          <p:cNvSpPr txBox="1"/>
          <p:nvPr/>
        </p:nvSpPr>
        <p:spPr>
          <a:xfrm>
            <a:off x="5310051" y="5440680"/>
            <a:ext cx="1340249" cy="365760"/>
          </a:xfrm>
          <a:prstGeom prst="rect">
            <a:avLst/>
          </a:prstGeom>
          <a:noFill/>
          <a:ln/>
        </p:spPr>
        <p:txBody>
          <a:bodyPr wrap="square" lIns="0" tIns="0" rIns="0" bIns="0" rtlCol="0" anchor="ctr"/>
          <a:lstStyle/>
          <a:p>
            <a:pPr indent="0" marL="0">
              <a:buNone/>
            </a:pPr>
            <a:r>
              <a:rPr lang="en-US" sz="1550" dirty="0">
                <a:solidFill>
                  <a:srgbClr val="595959"/>
                </a:solidFill>
                <a:latin typeface="Inter" pitchFamily="34" charset="0"/>
                <a:ea typeface="Inter" pitchFamily="34" charset="-122"/>
                <a:cs typeface="Inter" pitchFamily="34" charset="-120"/>
              </a:rPr>
              <a:t>Labor Mix</a:t>
            </a:r>
            <a:endParaRPr lang="en-US" sz="1550" dirty="0"/>
          </a:p>
        </p:txBody>
      </p:sp>
      <p:sp>
        <p:nvSpPr>
          <p:cNvPr id="13" name="Shape 11"/>
          <p:cNvSpPr/>
          <p:nvPr/>
        </p:nvSpPr>
        <p:spPr>
          <a:xfrm>
            <a:off x="6851469" y="5257800"/>
            <a:ext cx="1340249" cy="45720"/>
          </a:xfrm>
          <a:prstGeom prst="rect">
            <a:avLst/>
          </a:prstGeom>
          <a:solidFill>
            <a:srgbClr val="5B9BD5"/>
          </a:solidFill>
          <a:ln/>
        </p:spPr>
      </p:sp>
      <p:sp>
        <p:nvSpPr>
          <p:cNvPr id="14" name="Text 12"/>
          <p:cNvSpPr txBox="1"/>
          <p:nvPr/>
        </p:nvSpPr>
        <p:spPr>
          <a:xfrm>
            <a:off x="6851469" y="5440680"/>
            <a:ext cx="1340249" cy="365760"/>
          </a:xfrm>
          <a:prstGeom prst="rect">
            <a:avLst/>
          </a:prstGeom>
          <a:noFill/>
          <a:ln/>
        </p:spPr>
        <p:txBody>
          <a:bodyPr wrap="square" lIns="0" tIns="0" rIns="0" bIns="0" rtlCol="0" anchor="ctr"/>
          <a:lstStyle/>
          <a:p>
            <a:pPr indent="0" marL="0">
              <a:buNone/>
            </a:pPr>
            <a:r>
              <a:rPr lang="en-US" sz="1550" dirty="0">
                <a:solidFill>
                  <a:srgbClr val="595959"/>
                </a:solidFill>
                <a:latin typeface="Inter" pitchFamily="34" charset="0"/>
                <a:ea typeface="Inter" pitchFamily="34" charset="-122"/>
                <a:cs typeface="Inter" pitchFamily="34" charset="-120"/>
              </a:rPr>
              <a:t>Opcodes</a:t>
            </a:r>
            <a:endParaRPr lang="en-US" sz="1550" dirty="0"/>
          </a:p>
        </p:txBody>
      </p:sp>
      <p:sp>
        <p:nvSpPr>
          <p:cNvPr id="15" name="Shape 13"/>
          <p:cNvSpPr/>
          <p:nvPr/>
        </p:nvSpPr>
        <p:spPr>
          <a:xfrm>
            <a:off x="8392886" y="5257800"/>
            <a:ext cx="1340249" cy="45720"/>
          </a:xfrm>
          <a:prstGeom prst="rect">
            <a:avLst/>
          </a:prstGeom>
          <a:solidFill>
            <a:srgbClr val="5B9BD5"/>
          </a:solidFill>
          <a:ln/>
        </p:spPr>
      </p:sp>
      <p:sp>
        <p:nvSpPr>
          <p:cNvPr id="16" name="Text 14"/>
          <p:cNvSpPr txBox="1"/>
          <p:nvPr/>
        </p:nvSpPr>
        <p:spPr>
          <a:xfrm>
            <a:off x="8392886" y="5440680"/>
            <a:ext cx="1340249" cy="365760"/>
          </a:xfrm>
          <a:prstGeom prst="rect">
            <a:avLst/>
          </a:prstGeom>
          <a:noFill/>
          <a:ln/>
        </p:spPr>
        <p:txBody>
          <a:bodyPr wrap="square" lIns="0" tIns="0" rIns="0" bIns="0" rtlCol="0" anchor="ctr"/>
          <a:lstStyle/>
          <a:p>
            <a:pPr indent="0" marL="0">
              <a:buNone/>
            </a:pPr>
            <a:r>
              <a:rPr lang="en-US" sz="1550" dirty="0">
                <a:solidFill>
                  <a:srgbClr val="595959"/>
                </a:solidFill>
                <a:latin typeface="Inter" pitchFamily="34" charset="0"/>
                <a:ea typeface="Inter" pitchFamily="34" charset="-122"/>
                <a:cs typeface="Inter" pitchFamily="34" charset="-120"/>
              </a:rPr>
              <a:t>Warranty</a:t>
            </a:r>
            <a:endParaRPr lang="en-US" sz="1550" dirty="0"/>
          </a:p>
        </p:txBody>
      </p:sp>
      <p:sp>
        <p:nvSpPr>
          <p:cNvPr id="17" name="Shape 15"/>
          <p:cNvSpPr/>
          <p:nvPr/>
        </p:nvSpPr>
        <p:spPr>
          <a:xfrm>
            <a:off x="9934303" y="5257800"/>
            <a:ext cx="1340249" cy="91440"/>
          </a:xfrm>
          <a:prstGeom prst="rect">
            <a:avLst/>
          </a:prstGeom>
          <a:solidFill>
            <a:srgbClr val="2587C5"/>
          </a:solidFill>
          <a:ln/>
        </p:spPr>
      </p:sp>
      <p:sp>
        <p:nvSpPr>
          <p:cNvPr id="18" name="Text 16"/>
          <p:cNvSpPr txBox="1"/>
          <p:nvPr/>
        </p:nvSpPr>
        <p:spPr>
          <a:xfrm>
            <a:off x="9934303" y="5440680"/>
            <a:ext cx="1340249" cy="365760"/>
          </a:xfrm>
          <a:prstGeom prst="rect">
            <a:avLst/>
          </a:prstGeom>
          <a:noFill/>
          <a:ln/>
        </p:spPr>
        <p:txBody>
          <a:bodyPr wrap="square" lIns="0" tIns="0" rIns="0" bIns="0" rtlCol="0" anchor="ctr"/>
          <a:lstStyle/>
          <a:p>
            <a:pPr indent="0" marL="0">
              <a:buNone/>
            </a:pPr>
            <a:r>
              <a:rPr lang="en-US" sz="1550" b="1" dirty="0">
                <a:solidFill>
                  <a:srgbClr val="1A1A1A"/>
                </a:solidFill>
                <a:latin typeface="Inter" pitchFamily="34" charset="0"/>
                <a:ea typeface="Inter" pitchFamily="34" charset="-122"/>
                <a:cs typeface="Inter" pitchFamily="34" charset="-120"/>
              </a:rPr>
              <a:t>Productivity</a:t>
            </a:r>
            <a:endParaRPr lang="en-US" sz="15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Gross per Fixed Employee</a:t>
            </a:r>
            <a:endParaRPr lang="en-US" sz="2800" dirty="0"/>
          </a:p>
        </p:txBody>
      </p:sp>
      <p:sp>
        <p:nvSpPr>
          <p:cNvPr id="5" name="Shape 3"/>
          <p:cNvSpPr/>
          <p:nvPr/>
        </p:nvSpPr>
        <p:spPr>
          <a:xfrm>
            <a:off x="457200" y="1207008"/>
            <a:ext cx="11274552" cy="1517904"/>
          </a:xfrm>
          <a:prstGeom prst="rect">
            <a:avLst/>
          </a:prstGeom>
          <a:solidFill>
            <a:srgbClr val="FFFFFF"/>
          </a:solidFill>
          <a:ln/>
        </p:spPr>
      </p:sp>
      <p:sp>
        <p:nvSpPr>
          <p:cNvPr id="6" name="Text 4"/>
          <p:cNvSpPr txBox="1"/>
          <p:nvPr/>
        </p:nvSpPr>
        <p:spPr>
          <a:xfrm>
            <a:off x="685800" y="1316736"/>
            <a:ext cx="10789920" cy="274320"/>
          </a:xfrm>
          <a:prstGeom prst="rect">
            <a:avLst/>
          </a:prstGeom>
          <a:noFill/>
          <a:ln/>
        </p:spPr>
        <p:txBody>
          <a:bodyPr wrap="square" lIns="0" tIns="0" rIns="0" bIns="0" rtlCol="0" anchor="ctr"/>
          <a:lstStyle/>
          <a:p>
            <a:pPr indent="0" marL="0">
              <a:buNone/>
            </a:pPr>
            <a:r>
              <a:rPr lang="en-US" sz="1400" spc="100" kern="0" dirty="0">
                <a:solidFill>
                  <a:srgbClr val="595959"/>
                </a:solidFill>
                <a:latin typeface="Inter" pitchFamily="34" charset="0"/>
                <a:ea typeface="Inter" pitchFamily="34" charset="-122"/>
                <a:cs typeface="Inter" pitchFamily="34" charset="-120"/>
              </a:rPr>
              <a:t>GROUP · JANUARY–SEPTEMBER · MONTHLY AVG · SAME-STORE, 33 STORES</a:t>
            </a:r>
            <a:endParaRPr lang="en-US" sz="1400" dirty="0"/>
          </a:p>
        </p:txBody>
      </p:sp>
      <p:sp>
        <p:nvSpPr>
          <p:cNvPr id="7" name="Text 5"/>
          <p:cNvSpPr txBox="1"/>
          <p:nvPr/>
        </p:nvSpPr>
        <p:spPr>
          <a:xfrm>
            <a:off x="685800" y="1627632"/>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a:t>
            </a:r>
            <a:endParaRPr lang="en-US" sz="1400" dirty="0"/>
          </a:p>
        </p:txBody>
      </p:sp>
      <p:sp>
        <p:nvSpPr>
          <p:cNvPr id="8" name="Text 6"/>
          <p:cNvSpPr txBox="1"/>
          <p:nvPr/>
        </p:nvSpPr>
        <p:spPr>
          <a:xfrm>
            <a:off x="685800" y="1865376"/>
            <a:ext cx="2697480" cy="603504"/>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$12,410</a:t>
            </a:r>
            <a:endParaRPr lang="en-US" sz="3000" dirty="0"/>
          </a:p>
        </p:txBody>
      </p:sp>
      <p:sp>
        <p:nvSpPr>
          <p:cNvPr id="9" name="Text 7"/>
          <p:cNvSpPr txBox="1"/>
          <p:nvPr/>
        </p:nvSpPr>
        <p:spPr>
          <a:xfrm>
            <a:off x="3474720" y="1627632"/>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a:t>
            </a:r>
            <a:endParaRPr lang="en-US" sz="1400" dirty="0"/>
          </a:p>
        </p:txBody>
      </p:sp>
      <p:sp>
        <p:nvSpPr>
          <p:cNvPr id="10" name="Text 8"/>
          <p:cNvSpPr txBox="1"/>
          <p:nvPr/>
        </p:nvSpPr>
        <p:spPr>
          <a:xfrm>
            <a:off x="3474720" y="1865376"/>
            <a:ext cx="2697480" cy="603504"/>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$13,617</a:t>
            </a:r>
            <a:endParaRPr lang="en-US" sz="3000" dirty="0"/>
          </a:p>
        </p:txBody>
      </p:sp>
      <p:sp>
        <p:nvSpPr>
          <p:cNvPr id="11" name="Text 9"/>
          <p:cNvSpPr txBox="1"/>
          <p:nvPr/>
        </p:nvSpPr>
        <p:spPr>
          <a:xfrm>
            <a:off x="6263640" y="1627632"/>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2" name="Text 10"/>
          <p:cNvSpPr txBox="1"/>
          <p:nvPr/>
        </p:nvSpPr>
        <p:spPr>
          <a:xfrm>
            <a:off x="6263640" y="1865376"/>
            <a:ext cx="2697480" cy="603504"/>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+$1,207</a:t>
            </a:r>
            <a:endParaRPr lang="en-US" sz="3000" dirty="0"/>
          </a:p>
        </p:txBody>
      </p:sp>
      <p:sp>
        <p:nvSpPr>
          <p:cNvPr id="13" name="Text 11"/>
          <p:cNvSpPr txBox="1"/>
          <p:nvPr/>
        </p:nvSpPr>
        <p:spPr>
          <a:xfrm>
            <a:off x="9052560" y="1627632"/>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4" name="Text 12"/>
          <p:cNvSpPr txBox="1"/>
          <p:nvPr/>
        </p:nvSpPr>
        <p:spPr>
          <a:xfrm>
            <a:off x="9052560" y="1865376"/>
            <a:ext cx="2697480" cy="603504"/>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+9.7%</a:t>
            </a:r>
            <a:endParaRPr lang="en-US" sz="30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7200" y="2816352"/>
          <a:ext cx="11274552" cy="914400"/>
        </p:xfrm>
        <a:graphic>
          <a:graphicData uri="http://schemas.openxmlformats.org/drawingml/2006/table">
            <a:tbl>
              <a:tblPr/>
              <a:tblGrid>
                <a:gridCol w="3118104"/>
                <a:gridCol w="2039112"/>
                <a:gridCol w="2039112"/>
                <a:gridCol w="2039112"/>
                <a:gridCol w="2039112"/>
              </a:tblGrid>
              <a:tr h="274320">
                <a:tc>
                  <a:txBody>
                    <a:bodyPr/>
                    <a:lstStyle/>
                    <a:p>
                      <a:pPr algn="l" indent="0" marL="0">
                        <a:buNone/>
                      </a:pPr>
                      <a:r>
                        <a:rPr lang="en-US" sz="1400" b="1" dirty="0">
                          <a:solidFill>
                            <a:srgbClr val="FFFFFF"/>
                          </a:solidFill>
                          <a:latin typeface="Inter" pitchFamily="34" charset="0"/>
                          <a:ea typeface="Inter" pitchFamily="34" charset="-122"/>
                          <a:cs typeface="Inter" pitchFamily="34" charset="-120"/>
                        </a:rPr>
                        <a:t>MONTH</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5B9BD5"/>
                    </a:solidFill>
                  </a:tcPr>
                </a:tc>
                <a:tc>
                  <a:txBody>
                    <a:bodyPr/>
                    <a:lstStyle/>
                    <a:p>
                      <a:pPr algn="r" indent="0" marL="0">
                        <a:buNone/>
                      </a:pPr>
                      <a:r>
                        <a:rPr lang="en-US" sz="1400" b="1" dirty="0">
                          <a:solidFill>
                            <a:srgbClr val="FFFFFF"/>
                          </a:solidFill>
                          <a:latin typeface="Inter" pitchFamily="34" charset="0"/>
                          <a:ea typeface="Inter" pitchFamily="34" charset="-122"/>
                          <a:cs typeface="Inter" pitchFamily="34" charset="-120"/>
                        </a:rPr>
                        <a:t>2025</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5B9BD5"/>
                    </a:solidFill>
                  </a:tcPr>
                </a:tc>
                <a:tc>
                  <a:txBody>
                    <a:bodyPr/>
                    <a:lstStyle/>
                    <a:p>
                      <a:pPr algn="r" indent="0" marL="0">
                        <a:buNone/>
                      </a:pPr>
                      <a:r>
                        <a:rPr lang="en-US" sz="1400" b="1" dirty="0">
                          <a:solidFill>
                            <a:srgbClr val="FFFFFF"/>
                          </a:solidFill>
                          <a:latin typeface="Inter" pitchFamily="34" charset="0"/>
                          <a:ea typeface="Inter" pitchFamily="34" charset="-122"/>
                          <a:cs typeface="Inter" pitchFamily="34" charset="-120"/>
                        </a:rPr>
                        <a:t>2026</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5B9BD5"/>
                    </a:solidFill>
                  </a:tcPr>
                </a:tc>
                <a:tc>
                  <a:txBody>
                    <a:bodyPr/>
                    <a:lstStyle/>
                    <a:p>
                      <a:pPr algn="r" indent="0" marL="0">
                        <a:buNone/>
                      </a:pPr>
                      <a:r>
                        <a:rPr lang="en-US" sz="1400" b="1" dirty="0">
                          <a:solidFill>
                            <a:srgbClr val="FFFFFF"/>
                          </a:solidFill>
                          <a:latin typeface="Inter" pitchFamily="34" charset="0"/>
                          <a:ea typeface="Inter" pitchFamily="34" charset="-122"/>
                          <a:cs typeface="Inter" pitchFamily="34" charset="-120"/>
                        </a:rPr>
                        <a:t>VARIANCE</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5B9BD5"/>
                    </a:solidFill>
                  </a:tcPr>
                </a:tc>
                <a:tc>
                  <a:txBody>
                    <a:bodyPr/>
                    <a:lstStyle/>
                    <a:p>
                      <a:pPr algn="r" indent="0" marL="0">
                        <a:buNone/>
                      </a:pPr>
                      <a:r>
                        <a:rPr lang="en-US" sz="1400" b="1" dirty="0">
                          <a:solidFill>
                            <a:srgbClr val="FFFFFF"/>
                          </a:solidFill>
                          <a:latin typeface="Inter" pitchFamily="34" charset="0"/>
                          <a:ea typeface="Inter" pitchFamily="34" charset="-122"/>
                          <a:cs typeface="Inter" pitchFamily="34" charset="-120"/>
                        </a:rPr>
                        <a:t>VAR %</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5B9BD5"/>
                    </a:solidFill>
                  </a:tcPr>
                </a:tc>
              </a:tr>
              <a:tr h="274320">
                <a:tc>
                  <a:txBody>
                    <a:bodyPr/>
                    <a:lstStyle/>
                    <a:p>
                      <a:pPr indent="0" marL="0">
                        <a:buNone/>
                      </a:pPr>
                      <a:r>
                        <a:rPr lang="en-US" sz="1400" dirty="0">
                          <a:solidFill>
                            <a:srgbClr val="1A1A1A"/>
                          </a:solidFill>
                          <a:latin typeface="Inter" pitchFamily="34" charset="0"/>
                          <a:ea typeface="Inter" pitchFamily="34" charset="-122"/>
                          <a:cs typeface="Inter" pitchFamily="34" charset="-120"/>
                        </a:rPr>
                        <a:t>JAN</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$12,592</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$12,996</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+$404</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+3.2%</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indent="0" marL="0">
                        <a:buNone/>
                      </a:pPr>
                      <a:r>
                        <a:rPr lang="en-US" sz="1400" dirty="0">
                          <a:solidFill>
                            <a:srgbClr val="1A1A1A"/>
                          </a:solidFill>
                          <a:latin typeface="Inter" pitchFamily="34" charset="0"/>
                          <a:ea typeface="Inter" pitchFamily="34" charset="-122"/>
                          <a:cs typeface="Inter" pitchFamily="34" charset="-120"/>
                        </a:rPr>
                        <a:t>FEB</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$11,705</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$12,334</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+$629</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+5.4%</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r>
              <a:tr h="274320">
                <a:tc>
                  <a:txBody>
                    <a:bodyPr/>
                    <a:lstStyle/>
                    <a:p>
                      <a:pPr indent="0" marL="0">
                        <a:buNone/>
                      </a:pPr>
                      <a:r>
                        <a:rPr lang="en-US" sz="1400" dirty="0">
                          <a:solidFill>
                            <a:srgbClr val="1A1A1A"/>
                          </a:solidFill>
                          <a:latin typeface="Inter" pitchFamily="34" charset="0"/>
                          <a:ea typeface="Inter" pitchFamily="34" charset="-122"/>
                          <a:cs typeface="Inter" pitchFamily="34" charset="-120"/>
                        </a:rPr>
                        <a:t>MAR</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$12,397</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$13,714</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+$1,317</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+10.6%</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indent="0" marL="0">
                        <a:buNone/>
                      </a:pPr>
                      <a:r>
                        <a:rPr lang="en-US" sz="1400" dirty="0">
                          <a:solidFill>
                            <a:srgbClr val="1A1A1A"/>
                          </a:solidFill>
                          <a:latin typeface="Inter" pitchFamily="34" charset="0"/>
                          <a:ea typeface="Inter" pitchFamily="34" charset="-122"/>
                          <a:cs typeface="Inter" pitchFamily="34" charset="-120"/>
                        </a:rPr>
                        <a:t>APR</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$12,913</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$14,108</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+$1,196</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+9.3%</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r>
              <a:tr h="274320">
                <a:tc>
                  <a:txBody>
                    <a:bodyPr/>
                    <a:lstStyle/>
                    <a:p>
                      <a:pPr indent="0" marL="0">
                        <a:buNone/>
                      </a:pPr>
                      <a:r>
                        <a:rPr lang="en-US" sz="1400" dirty="0">
                          <a:solidFill>
                            <a:srgbClr val="1A1A1A"/>
                          </a:solidFill>
                          <a:latin typeface="Inter" pitchFamily="34" charset="0"/>
                          <a:ea typeface="Inter" pitchFamily="34" charset="-122"/>
                          <a:cs typeface="Inter" pitchFamily="34" charset="-120"/>
                        </a:rPr>
                        <a:t>MAY</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$12,494</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$13,092</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+$598</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+4.8%</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indent="0" marL="0">
                        <a:buNone/>
                      </a:pPr>
                      <a:r>
                        <a:rPr lang="en-US" sz="1400" dirty="0">
                          <a:solidFill>
                            <a:srgbClr val="1A1A1A"/>
                          </a:solidFill>
                          <a:latin typeface="Inter" pitchFamily="34" charset="0"/>
                          <a:ea typeface="Inter" pitchFamily="34" charset="-122"/>
                          <a:cs typeface="Inter" pitchFamily="34" charset="-120"/>
                        </a:rPr>
                        <a:t>JUN</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$12,584</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$13,919</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+$1,335</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+10.6%</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r>
              <a:tr h="274320">
                <a:tc>
                  <a:txBody>
                    <a:bodyPr/>
                    <a:lstStyle/>
                    <a:p>
                      <a:pPr indent="0" marL="0">
                        <a:buNone/>
                      </a:pPr>
                      <a:r>
                        <a:rPr lang="en-US" sz="1400" dirty="0">
                          <a:solidFill>
                            <a:srgbClr val="1A1A1A"/>
                          </a:solidFill>
                          <a:latin typeface="Inter" pitchFamily="34" charset="0"/>
                          <a:ea typeface="Inter" pitchFamily="34" charset="-122"/>
                          <a:cs typeface="Inter" pitchFamily="34" charset="-120"/>
                        </a:rPr>
                        <a:t>JUL</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$12,740</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$14,673</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+$1,933</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+15.2%</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indent="0" marL="0">
                        <a:buNone/>
                      </a:pPr>
                      <a:r>
                        <a:rPr lang="en-US" sz="1400" dirty="0">
                          <a:solidFill>
                            <a:srgbClr val="1A1A1A"/>
                          </a:solidFill>
                          <a:latin typeface="Inter" pitchFamily="34" charset="0"/>
                          <a:ea typeface="Inter" pitchFamily="34" charset="-122"/>
                          <a:cs typeface="Inter" pitchFamily="34" charset="-120"/>
                        </a:rPr>
                        <a:t>AUG</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$12,488</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$13,972</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+$1,483</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+11.9%</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r>
              <a:tr h="274320">
                <a:tc>
                  <a:txBody>
                    <a:bodyPr/>
                    <a:lstStyle/>
                    <a:p>
                      <a:pPr indent="0" marL="0">
                        <a:buNone/>
                      </a:pPr>
                      <a:r>
                        <a:rPr lang="en-US" sz="1400" dirty="0">
                          <a:solidFill>
                            <a:srgbClr val="1A1A1A"/>
                          </a:solidFill>
                          <a:latin typeface="Inter" pitchFamily="34" charset="0"/>
                          <a:ea typeface="Inter" pitchFamily="34" charset="-122"/>
                          <a:cs typeface="Inter" pitchFamily="34" charset="-120"/>
                        </a:rPr>
                        <a:t>SEP</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$11,778</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$13,721</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+$1,944</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+16.5%</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16" name="Shape 13"/>
          <p:cNvSpPr/>
          <p:nvPr/>
        </p:nvSpPr>
        <p:spPr>
          <a:xfrm>
            <a:off x="457200" y="5961888"/>
            <a:ext cx="11274552" cy="548640"/>
          </a:xfrm>
          <a:prstGeom prst="rect">
            <a:avLst/>
          </a:prstGeom>
          <a:solidFill>
            <a:srgbClr val="E6F6EE"/>
          </a:solidFill>
          <a:ln/>
        </p:spPr>
      </p:sp>
      <p:sp>
        <p:nvSpPr>
          <p:cNvPr id="17" name="Text 14"/>
          <p:cNvSpPr txBox="1"/>
          <p:nvPr/>
        </p:nvSpPr>
        <p:spPr>
          <a:xfrm>
            <a:off x="658368" y="5980176"/>
            <a:ext cx="10927080" cy="512064"/>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$1,207 to $13,617, ahead of 2025 in all nine months. Gross grew 4.1%; headcount fell 5.1%.</a:t>
            </a:r>
            <a:endParaRPr lang="en-US" sz="16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Gross per Fixed Employee</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658368" y="1389888"/>
            <a:ext cx="2240280" cy="25388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7" name="Shape 5"/>
          <p:cNvSpPr/>
          <p:nvPr/>
        </p:nvSpPr>
        <p:spPr>
          <a:xfrm>
            <a:off x="2971800" y="1453358"/>
            <a:ext cx="1828800" cy="126940"/>
          </a:xfrm>
          <a:prstGeom prst="rect">
            <a:avLst/>
          </a:prstGeom>
          <a:solidFill>
            <a:srgbClr val="12A566"/>
          </a:solidFill>
          <a:ln/>
        </p:spPr>
      </p:sp>
      <p:sp>
        <p:nvSpPr>
          <p:cNvPr id="8" name="Text 6"/>
          <p:cNvSpPr txBox="1"/>
          <p:nvPr/>
        </p:nvSpPr>
        <p:spPr>
          <a:xfrm>
            <a:off x="4855464" y="1389888"/>
            <a:ext cx="1088136" cy="253880"/>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$23,461</a:t>
            </a:r>
            <a:endParaRPr lang="en-US" sz="1300" dirty="0"/>
          </a:p>
        </p:txBody>
      </p:sp>
      <p:sp>
        <p:nvSpPr>
          <p:cNvPr id="9" name="Text 7"/>
          <p:cNvSpPr txBox="1"/>
          <p:nvPr/>
        </p:nvSpPr>
        <p:spPr>
          <a:xfrm>
            <a:off x="658368" y="1643768"/>
            <a:ext cx="2240280" cy="25388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10" name="Shape 8"/>
          <p:cNvSpPr/>
          <p:nvPr/>
        </p:nvSpPr>
        <p:spPr>
          <a:xfrm>
            <a:off x="2971800" y="1707239"/>
            <a:ext cx="1445900" cy="126940"/>
          </a:xfrm>
          <a:prstGeom prst="rect">
            <a:avLst/>
          </a:prstGeom>
          <a:solidFill>
            <a:srgbClr val="12A566"/>
          </a:solidFill>
          <a:ln/>
        </p:spPr>
      </p:sp>
      <p:sp>
        <p:nvSpPr>
          <p:cNvPr id="11" name="Text 9"/>
          <p:cNvSpPr txBox="1"/>
          <p:nvPr/>
        </p:nvSpPr>
        <p:spPr>
          <a:xfrm>
            <a:off x="4855464" y="1643768"/>
            <a:ext cx="1088136" cy="253880"/>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$18,549</a:t>
            </a:r>
            <a:endParaRPr lang="en-US" sz="1300" dirty="0"/>
          </a:p>
        </p:txBody>
      </p:sp>
      <p:sp>
        <p:nvSpPr>
          <p:cNvPr id="12" name="Text 10"/>
          <p:cNvSpPr txBox="1"/>
          <p:nvPr/>
        </p:nvSpPr>
        <p:spPr>
          <a:xfrm>
            <a:off x="658368" y="1897649"/>
            <a:ext cx="2240280" cy="25388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3" name="Shape 11"/>
          <p:cNvSpPr/>
          <p:nvPr/>
        </p:nvSpPr>
        <p:spPr>
          <a:xfrm>
            <a:off x="2971800" y="1961119"/>
            <a:ext cx="1424044" cy="126940"/>
          </a:xfrm>
          <a:prstGeom prst="rect">
            <a:avLst/>
          </a:prstGeom>
          <a:solidFill>
            <a:srgbClr val="12A566"/>
          </a:solidFill>
          <a:ln/>
        </p:spPr>
      </p:sp>
      <p:sp>
        <p:nvSpPr>
          <p:cNvPr id="14" name="Text 12"/>
          <p:cNvSpPr txBox="1"/>
          <p:nvPr/>
        </p:nvSpPr>
        <p:spPr>
          <a:xfrm>
            <a:off x="4855464" y="1897649"/>
            <a:ext cx="1088136" cy="253880"/>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$18,268</a:t>
            </a:r>
            <a:endParaRPr lang="en-US" sz="1300" dirty="0"/>
          </a:p>
        </p:txBody>
      </p:sp>
      <p:sp>
        <p:nvSpPr>
          <p:cNvPr id="15" name="Text 13"/>
          <p:cNvSpPr txBox="1"/>
          <p:nvPr/>
        </p:nvSpPr>
        <p:spPr>
          <a:xfrm>
            <a:off x="658368" y="2151529"/>
            <a:ext cx="2240280" cy="25388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6" name="Shape 14"/>
          <p:cNvSpPr/>
          <p:nvPr/>
        </p:nvSpPr>
        <p:spPr>
          <a:xfrm>
            <a:off x="2971800" y="2215000"/>
            <a:ext cx="1414711" cy="126940"/>
          </a:xfrm>
          <a:prstGeom prst="rect">
            <a:avLst/>
          </a:prstGeom>
          <a:solidFill>
            <a:srgbClr val="12A566"/>
          </a:solidFill>
          <a:ln/>
        </p:spPr>
      </p:sp>
      <p:sp>
        <p:nvSpPr>
          <p:cNvPr id="17" name="Text 15"/>
          <p:cNvSpPr txBox="1"/>
          <p:nvPr/>
        </p:nvSpPr>
        <p:spPr>
          <a:xfrm>
            <a:off x="4855464" y="2151529"/>
            <a:ext cx="1088136" cy="253880"/>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$18,148</a:t>
            </a:r>
            <a:endParaRPr lang="en-US" sz="1300" dirty="0"/>
          </a:p>
        </p:txBody>
      </p:sp>
      <p:sp>
        <p:nvSpPr>
          <p:cNvPr id="18" name="Text 16"/>
          <p:cNvSpPr txBox="1"/>
          <p:nvPr/>
        </p:nvSpPr>
        <p:spPr>
          <a:xfrm>
            <a:off x="658368" y="2405410"/>
            <a:ext cx="2240280" cy="25388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9" name="Shape 17"/>
          <p:cNvSpPr/>
          <p:nvPr/>
        </p:nvSpPr>
        <p:spPr>
          <a:xfrm>
            <a:off x="2971800" y="2468880"/>
            <a:ext cx="1318885" cy="126940"/>
          </a:xfrm>
          <a:prstGeom prst="rect">
            <a:avLst/>
          </a:prstGeom>
          <a:solidFill>
            <a:srgbClr val="12A566"/>
          </a:solidFill>
          <a:ln/>
        </p:spPr>
      </p:sp>
      <p:sp>
        <p:nvSpPr>
          <p:cNvPr id="20" name="Text 18"/>
          <p:cNvSpPr txBox="1"/>
          <p:nvPr/>
        </p:nvSpPr>
        <p:spPr>
          <a:xfrm>
            <a:off x="4855464" y="2405410"/>
            <a:ext cx="1088136" cy="253880"/>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$16,919</a:t>
            </a:r>
            <a:endParaRPr lang="en-US" sz="1300" dirty="0"/>
          </a:p>
        </p:txBody>
      </p:sp>
      <p:sp>
        <p:nvSpPr>
          <p:cNvPr id="21" name="Text 19"/>
          <p:cNvSpPr txBox="1"/>
          <p:nvPr/>
        </p:nvSpPr>
        <p:spPr>
          <a:xfrm>
            <a:off x="658368" y="2659290"/>
            <a:ext cx="2240280" cy="25388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22" name="Shape 20"/>
          <p:cNvSpPr/>
          <p:nvPr/>
        </p:nvSpPr>
        <p:spPr>
          <a:xfrm>
            <a:off x="2971800" y="2722760"/>
            <a:ext cx="1252010" cy="126940"/>
          </a:xfrm>
          <a:prstGeom prst="rect">
            <a:avLst/>
          </a:prstGeom>
          <a:solidFill>
            <a:srgbClr val="12A566"/>
          </a:solidFill>
          <a:ln/>
        </p:spPr>
      </p:sp>
      <p:sp>
        <p:nvSpPr>
          <p:cNvPr id="23" name="Text 21"/>
          <p:cNvSpPr txBox="1"/>
          <p:nvPr/>
        </p:nvSpPr>
        <p:spPr>
          <a:xfrm>
            <a:off x="4855464" y="2659290"/>
            <a:ext cx="1088136" cy="253880"/>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$16,061</a:t>
            </a:r>
            <a:endParaRPr lang="en-US" sz="1300" dirty="0"/>
          </a:p>
        </p:txBody>
      </p:sp>
      <p:sp>
        <p:nvSpPr>
          <p:cNvPr id="24" name="Text 22"/>
          <p:cNvSpPr txBox="1"/>
          <p:nvPr/>
        </p:nvSpPr>
        <p:spPr>
          <a:xfrm>
            <a:off x="658368" y="2913171"/>
            <a:ext cx="2240280" cy="25388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25" name="Shape 23"/>
          <p:cNvSpPr/>
          <p:nvPr/>
        </p:nvSpPr>
        <p:spPr>
          <a:xfrm>
            <a:off x="2971800" y="2976641"/>
            <a:ext cx="1244606" cy="126940"/>
          </a:xfrm>
          <a:prstGeom prst="rect">
            <a:avLst/>
          </a:prstGeom>
          <a:solidFill>
            <a:srgbClr val="12A566"/>
          </a:solidFill>
          <a:ln/>
        </p:spPr>
      </p:sp>
      <p:sp>
        <p:nvSpPr>
          <p:cNvPr id="26" name="Text 24"/>
          <p:cNvSpPr txBox="1"/>
          <p:nvPr/>
        </p:nvSpPr>
        <p:spPr>
          <a:xfrm>
            <a:off x="4855464" y="2913171"/>
            <a:ext cx="1088136" cy="253880"/>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$15,966</a:t>
            </a:r>
            <a:endParaRPr lang="en-US" sz="1300" dirty="0"/>
          </a:p>
        </p:txBody>
      </p:sp>
      <p:sp>
        <p:nvSpPr>
          <p:cNvPr id="27" name="Text 25"/>
          <p:cNvSpPr txBox="1"/>
          <p:nvPr/>
        </p:nvSpPr>
        <p:spPr>
          <a:xfrm>
            <a:off x="658368" y="3167051"/>
            <a:ext cx="2240280" cy="25388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28" name="Shape 26"/>
          <p:cNvSpPr/>
          <p:nvPr/>
        </p:nvSpPr>
        <p:spPr>
          <a:xfrm>
            <a:off x="2971800" y="3230521"/>
            <a:ext cx="1212598" cy="126940"/>
          </a:xfrm>
          <a:prstGeom prst="rect">
            <a:avLst/>
          </a:prstGeom>
          <a:solidFill>
            <a:srgbClr val="12A566"/>
          </a:solidFill>
          <a:ln/>
        </p:spPr>
      </p:sp>
      <p:sp>
        <p:nvSpPr>
          <p:cNvPr id="29" name="Text 27"/>
          <p:cNvSpPr txBox="1"/>
          <p:nvPr/>
        </p:nvSpPr>
        <p:spPr>
          <a:xfrm>
            <a:off x="4855464" y="3167051"/>
            <a:ext cx="1088136" cy="253880"/>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$15,556</a:t>
            </a:r>
            <a:endParaRPr lang="en-US" sz="1300" dirty="0"/>
          </a:p>
        </p:txBody>
      </p:sp>
      <p:sp>
        <p:nvSpPr>
          <p:cNvPr id="30" name="Text 28"/>
          <p:cNvSpPr txBox="1"/>
          <p:nvPr/>
        </p:nvSpPr>
        <p:spPr>
          <a:xfrm>
            <a:off x="658368" y="3420932"/>
            <a:ext cx="2240280" cy="25388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31" name="Shape 29"/>
          <p:cNvSpPr/>
          <p:nvPr/>
        </p:nvSpPr>
        <p:spPr>
          <a:xfrm>
            <a:off x="2971800" y="3484402"/>
            <a:ext cx="1186920" cy="126940"/>
          </a:xfrm>
          <a:prstGeom prst="rect">
            <a:avLst/>
          </a:prstGeom>
          <a:solidFill>
            <a:srgbClr val="12A566"/>
          </a:solidFill>
          <a:ln/>
        </p:spPr>
      </p:sp>
      <p:sp>
        <p:nvSpPr>
          <p:cNvPr id="32" name="Text 30"/>
          <p:cNvSpPr txBox="1"/>
          <p:nvPr/>
        </p:nvSpPr>
        <p:spPr>
          <a:xfrm>
            <a:off x="4855464" y="3420932"/>
            <a:ext cx="1088136" cy="253880"/>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$15,226</a:t>
            </a:r>
            <a:endParaRPr lang="en-US" sz="1300" dirty="0"/>
          </a:p>
        </p:txBody>
      </p:sp>
      <p:sp>
        <p:nvSpPr>
          <p:cNvPr id="33" name="Text 31"/>
          <p:cNvSpPr txBox="1"/>
          <p:nvPr/>
        </p:nvSpPr>
        <p:spPr>
          <a:xfrm>
            <a:off x="658368" y="3674812"/>
            <a:ext cx="2240280" cy="25388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34" name="Shape 32"/>
          <p:cNvSpPr/>
          <p:nvPr/>
        </p:nvSpPr>
        <p:spPr>
          <a:xfrm>
            <a:off x="2971800" y="3738282"/>
            <a:ext cx="1162721" cy="126940"/>
          </a:xfrm>
          <a:prstGeom prst="rect">
            <a:avLst/>
          </a:prstGeom>
          <a:solidFill>
            <a:srgbClr val="12A566"/>
          </a:solidFill>
          <a:ln/>
        </p:spPr>
      </p:sp>
      <p:sp>
        <p:nvSpPr>
          <p:cNvPr id="35" name="Text 33"/>
          <p:cNvSpPr txBox="1"/>
          <p:nvPr/>
        </p:nvSpPr>
        <p:spPr>
          <a:xfrm>
            <a:off x="4855464" y="3674812"/>
            <a:ext cx="1088136" cy="253880"/>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$14,916</a:t>
            </a:r>
            <a:endParaRPr lang="en-US" sz="1300" dirty="0"/>
          </a:p>
        </p:txBody>
      </p:sp>
      <p:sp>
        <p:nvSpPr>
          <p:cNvPr id="36" name="Text 34"/>
          <p:cNvSpPr txBox="1"/>
          <p:nvPr/>
        </p:nvSpPr>
        <p:spPr>
          <a:xfrm>
            <a:off x="658368" y="3928693"/>
            <a:ext cx="2240280" cy="25388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37" name="Shape 35"/>
          <p:cNvSpPr/>
          <p:nvPr/>
        </p:nvSpPr>
        <p:spPr>
          <a:xfrm>
            <a:off x="2971800" y="3992163"/>
            <a:ext cx="1138415" cy="126940"/>
          </a:xfrm>
          <a:prstGeom prst="rect">
            <a:avLst/>
          </a:prstGeom>
          <a:solidFill>
            <a:srgbClr val="12A566"/>
          </a:solidFill>
          <a:ln/>
        </p:spPr>
      </p:sp>
      <p:sp>
        <p:nvSpPr>
          <p:cNvPr id="38" name="Text 36"/>
          <p:cNvSpPr txBox="1"/>
          <p:nvPr/>
        </p:nvSpPr>
        <p:spPr>
          <a:xfrm>
            <a:off x="4855464" y="3928693"/>
            <a:ext cx="1088136" cy="253880"/>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$14,604</a:t>
            </a:r>
            <a:endParaRPr lang="en-US" sz="1300" dirty="0"/>
          </a:p>
        </p:txBody>
      </p:sp>
      <p:sp>
        <p:nvSpPr>
          <p:cNvPr id="39" name="Text 37"/>
          <p:cNvSpPr txBox="1"/>
          <p:nvPr/>
        </p:nvSpPr>
        <p:spPr>
          <a:xfrm>
            <a:off x="658368" y="4182573"/>
            <a:ext cx="2240280" cy="25388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40" name="Shape 38"/>
          <p:cNvSpPr/>
          <p:nvPr/>
        </p:nvSpPr>
        <p:spPr>
          <a:xfrm>
            <a:off x="2971800" y="4246043"/>
            <a:ext cx="1111597" cy="126940"/>
          </a:xfrm>
          <a:prstGeom prst="rect">
            <a:avLst/>
          </a:prstGeom>
          <a:solidFill>
            <a:srgbClr val="12A566"/>
          </a:solidFill>
          <a:ln/>
        </p:spPr>
      </p:sp>
      <p:sp>
        <p:nvSpPr>
          <p:cNvPr id="41" name="Text 39"/>
          <p:cNvSpPr txBox="1"/>
          <p:nvPr/>
        </p:nvSpPr>
        <p:spPr>
          <a:xfrm>
            <a:off x="4855464" y="4182573"/>
            <a:ext cx="1088136" cy="253880"/>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$14,260</a:t>
            </a:r>
            <a:endParaRPr lang="en-US" sz="1300" dirty="0"/>
          </a:p>
        </p:txBody>
      </p:sp>
      <p:sp>
        <p:nvSpPr>
          <p:cNvPr id="42" name="Text 40"/>
          <p:cNvSpPr txBox="1"/>
          <p:nvPr/>
        </p:nvSpPr>
        <p:spPr>
          <a:xfrm>
            <a:off x="658368" y="4436454"/>
            <a:ext cx="2240280" cy="25388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43" name="Shape 41"/>
          <p:cNvSpPr/>
          <p:nvPr/>
        </p:nvSpPr>
        <p:spPr>
          <a:xfrm>
            <a:off x="2971800" y="4499924"/>
            <a:ext cx="1104894" cy="126940"/>
          </a:xfrm>
          <a:prstGeom prst="rect">
            <a:avLst/>
          </a:prstGeom>
          <a:solidFill>
            <a:srgbClr val="12A566"/>
          </a:solidFill>
          <a:ln/>
        </p:spPr>
      </p:sp>
      <p:sp>
        <p:nvSpPr>
          <p:cNvPr id="44" name="Text 42"/>
          <p:cNvSpPr txBox="1"/>
          <p:nvPr/>
        </p:nvSpPr>
        <p:spPr>
          <a:xfrm>
            <a:off x="4855464" y="4436454"/>
            <a:ext cx="1088136" cy="253880"/>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$14,174</a:t>
            </a:r>
            <a:endParaRPr lang="en-US" sz="1300" dirty="0"/>
          </a:p>
        </p:txBody>
      </p:sp>
      <p:sp>
        <p:nvSpPr>
          <p:cNvPr id="45" name="Shape 43"/>
          <p:cNvSpPr/>
          <p:nvPr/>
        </p:nvSpPr>
        <p:spPr>
          <a:xfrm>
            <a:off x="585216" y="4685762"/>
            <a:ext cx="5413248" cy="244736"/>
          </a:xfrm>
          <a:prstGeom prst="rect">
            <a:avLst/>
          </a:prstGeom>
          <a:solidFill>
            <a:srgbClr val="EDF4FA"/>
          </a:solidFill>
          <a:ln/>
        </p:spPr>
      </p:sp>
      <p:sp>
        <p:nvSpPr>
          <p:cNvPr id="46" name="Text 44"/>
          <p:cNvSpPr txBox="1"/>
          <p:nvPr/>
        </p:nvSpPr>
        <p:spPr>
          <a:xfrm>
            <a:off x="658368" y="4690334"/>
            <a:ext cx="2240280" cy="253880"/>
          </a:xfrm>
          <a:prstGeom prst="rect">
            <a:avLst/>
          </a:prstGeom>
          <a:noFill/>
          <a:ln/>
        </p:spPr>
        <p:txBody>
          <a:bodyPr wrap="square" lIns="0" tIns="0" rIns="0" bIns="0" rtlCol="0" anchor="ctr"/>
          <a:lstStyle/>
          <a:p>
            <a:pPr indent="0" marL="0">
              <a:buNone/>
            </a:pPr>
            <a:r>
              <a:rPr lang="en-US" sz="1300" b="1" dirty="0">
                <a:solidFill>
                  <a:srgbClr val="0B2C4A"/>
                </a:solidFill>
                <a:latin typeface="Inter" pitchFamily="34" charset="0"/>
                <a:ea typeface="Inter" pitchFamily="34" charset="-122"/>
                <a:cs typeface="Inter" pitchFamily="34" charset="-120"/>
              </a:rPr>
              <a:t>GROUP</a:t>
            </a:r>
            <a:endParaRPr lang="en-US" sz="1300" dirty="0"/>
          </a:p>
        </p:txBody>
      </p:sp>
      <p:sp>
        <p:nvSpPr>
          <p:cNvPr id="47" name="Shape 45"/>
          <p:cNvSpPr/>
          <p:nvPr/>
        </p:nvSpPr>
        <p:spPr>
          <a:xfrm>
            <a:off x="2971800" y="4753804"/>
            <a:ext cx="1061474" cy="126940"/>
          </a:xfrm>
          <a:prstGeom prst="rect">
            <a:avLst/>
          </a:prstGeom>
          <a:solidFill>
            <a:srgbClr val="0B2C4A"/>
          </a:solidFill>
          <a:ln/>
        </p:spPr>
      </p:sp>
      <p:sp>
        <p:nvSpPr>
          <p:cNvPr id="48" name="Text 46"/>
          <p:cNvSpPr txBox="1"/>
          <p:nvPr/>
        </p:nvSpPr>
        <p:spPr>
          <a:xfrm>
            <a:off x="4855464" y="4690334"/>
            <a:ext cx="1088136" cy="253880"/>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$13,617</a:t>
            </a:r>
            <a:endParaRPr lang="en-US" sz="1300" dirty="0"/>
          </a:p>
        </p:txBody>
      </p:sp>
      <p:sp>
        <p:nvSpPr>
          <p:cNvPr id="49" name="Text 47"/>
          <p:cNvSpPr txBox="1"/>
          <p:nvPr/>
        </p:nvSpPr>
        <p:spPr>
          <a:xfrm>
            <a:off x="658368" y="4944215"/>
            <a:ext cx="2240280" cy="25388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50" name="Shape 48"/>
          <p:cNvSpPr/>
          <p:nvPr/>
        </p:nvSpPr>
        <p:spPr>
          <a:xfrm>
            <a:off x="2971800" y="5007685"/>
            <a:ext cx="1035934" cy="126940"/>
          </a:xfrm>
          <a:prstGeom prst="rect">
            <a:avLst/>
          </a:prstGeom>
          <a:solidFill>
            <a:srgbClr val="C2352F"/>
          </a:solidFill>
          <a:ln/>
        </p:spPr>
      </p:sp>
      <p:sp>
        <p:nvSpPr>
          <p:cNvPr id="51" name="Text 49"/>
          <p:cNvSpPr txBox="1"/>
          <p:nvPr/>
        </p:nvSpPr>
        <p:spPr>
          <a:xfrm>
            <a:off x="4855464" y="4944215"/>
            <a:ext cx="1088136" cy="253880"/>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$13,289</a:t>
            </a:r>
            <a:endParaRPr lang="en-US" sz="1300" dirty="0"/>
          </a:p>
        </p:txBody>
      </p:sp>
      <p:sp>
        <p:nvSpPr>
          <p:cNvPr id="52" name="Text 50"/>
          <p:cNvSpPr txBox="1"/>
          <p:nvPr/>
        </p:nvSpPr>
        <p:spPr>
          <a:xfrm>
            <a:off x="658368" y="5198095"/>
            <a:ext cx="2240280" cy="25388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53" name="Shape 51"/>
          <p:cNvSpPr/>
          <p:nvPr/>
        </p:nvSpPr>
        <p:spPr>
          <a:xfrm>
            <a:off x="2971800" y="5261565"/>
            <a:ext cx="1003560" cy="126940"/>
          </a:xfrm>
          <a:prstGeom prst="rect">
            <a:avLst/>
          </a:prstGeom>
          <a:solidFill>
            <a:srgbClr val="C2352F"/>
          </a:solidFill>
          <a:ln/>
        </p:spPr>
      </p:sp>
      <p:sp>
        <p:nvSpPr>
          <p:cNvPr id="54" name="Text 52"/>
          <p:cNvSpPr txBox="1"/>
          <p:nvPr/>
        </p:nvSpPr>
        <p:spPr>
          <a:xfrm>
            <a:off x="4855464" y="5198095"/>
            <a:ext cx="1088136" cy="253880"/>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$12,874</a:t>
            </a:r>
            <a:endParaRPr lang="en-US" sz="1300" dirty="0"/>
          </a:p>
        </p:txBody>
      </p:sp>
      <p:sp>
        <p:nvSpPr>
          <p:cNvPr id="55" name="Text 53"/>
          <p:cNvSpPr txBox="1"/>
          <p:nvPr/>
        </p:nvSpPr>
        <p:spPr>
          <a:xfrm>
            <a:off x="658368" y="5451976"/>
            <a:ext cx="2240280" cy="25388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56" name="Shape 54"/>
          <p:cNvSpPr/>
          <p:nvPr/>
        </p:nvSpPr>
        <p:spPr>
          <a:xfrm>
            <a:off x="2971800" y="5515446"/>
            <a:ext cx="1003290" cy="126940"/>
          </a:xfrm>
          <a:prstGeom prst="rect">
            <a:avLst/>
          </a:prstGeom>
          <a:solidFill>
            <a:srgbClr val="C2352F"/>
          </a:solidFill>
          <a:ln/>
        </p:spPr>
      </p:sp>
      <p:sp>
        <p:nvSpPr>
          <p:cNvPr id="57" name="Text 55"/>
          <p:cNvSpPr txBox="1"/>
          <p:nvPr/>
        </p:nvSpPr>
        <p:spPr>
          <a:xfrm>
            <a:off x="4855464" y="5451976"/>
            <a:ext cx="1088136" cy="253880"/>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$12,871</a:t>
            </a:r>
            <a:endParaRPr lang="en-US" sz="1300" dirty="0"/>
          </a:p>
        </p:txBody>
      </p:sp>
      <p:sp>
        <p:nvSpPr>
          <p:cNvPr id="58" name="Text 56"/>
          <p:cNvSpPr txBox="1"/>
          <p:nvPr/>
        </p:nvSpPr>
        <p:spPr>
          <a:xfrm>
            <a:off x="6208776" y="1389888"/>
            <a:ext cx="2240280" cy="25388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59" name="Shape 57"/>
          <p:cNvSpPr/>
          <p:nvPr/>
        </p:nvSpPr>
        <p:spPr>
          <a:xfrm>
            <a:off x="8522208" y="1453358"/>
            <a:ext cx="974487" cy="126940"/>
          </a:xfrm>
          <a:prstGeom prst="rect">
            <a:avLst/>
          </a:prstGeom>
          <a:solidFill>
            <a:srgbClr val="C2352F"/>
          </a:solidFill>
          <a:ln/>
        </p:spPr>
      </p:sp>
      <p:sp>
        <p:nvSpPr>
          <p:cNvPr id="60" name="Text 58"/>
          <p:cNvSpPr txBox="1"/>
          <p:nvPr/>
        </p:nvSpPr>
        <p:spPr>
          <a:xfrm>
            <a:off x="10405872" y="1389888"/>
            <a:ext cx="1088136" cy="253880"/>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$12,501</a:t>
            </a:r>
            <a:endParaRPr lang="en-US" sz="1300" dirty="0"/>
          </a:p>
        </p:txBody>
      </p:sp>
      <p:sp>
        <p:nvSpPr>
          <p:cNvPr id="61" name="Text 59"/>
          <p:cNvSpPr txBox="1"/>
          <p:nvPr/>
        </p:nvSpPr>
        <p:spPr>
          <a:xfrm>
            <a:off x="6208776" y="1643768"/>
            <a:ext cx="2240280" cy="25388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62" name="Shape 60"/>
          <p:cNvSpPr/>
          <p:nvPr/>
        </p:nvSpPr>
        <p:spPr>
          <a:xfrm>
            <a:off x="8522208" y="1707239"/>
            <a:ext cx="963791" cy="126940"/>
          </a:xfrm>
          <a:prstGeom prst="rect">
            <a:avLst/>
          </a:prstGeom>
          <a:solidFill>
            <a:srgbClr val="C2352F"/>
          </a:solidFill>
          <a:ln/>
        </p:spPr>
      </p:sp>
      <p:sp>
        <p:nvSpPr>
          <p:cNvPr id="63" name="Text 61"/>
          <p:cNvSpPr txBox="1"/>
          <p:nvPr/>
        </p:nvSpPr>
        <p:spPr>
          <a:xfrm>
            <a:off x="10405872" y="1643768"/>
            <a:ext cx="1088136" cy="253880"/>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$12,364</a:t>
            </a:r>
            <a:endParaRPr lang="en-US" sz="1300" dirty="0"/>
          </a:p>
        </p:txBody>
      </p:sp>
      <p:sp>
        <p:nvSpPr>
          <p:cNvPr id="64" name="Text 62"/>
          <p:cNvSpPr txBox="1"/>
          <p:nvPr/>
        </p:nvSpPr>
        <p:spPr>
          <a:xfrm>
            <a:off x="6208776" y="1897649"/>
            <a:ext cx="2240280" cy="25388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65" name="Shape 63"/>
          <p:cNvSpPr/>
          <p:nvPr/>
        </p:nvSpPr>
        <p:spPr>
          <a:xfrm>
            <a:off x="8522208" y="1961119"/>
            <a:ext cx="943482" cy="126940"/>
          </a:xfrm>
          <a:prstGeom prst="rect">
            <a:avLst/>
          </a:prstGeom>
          <a:solidFill>
            <a:srgbClr val="C2352F"/>
          </a:solidFill>
          <a:ln/>
        </p:spPr>
      </p:sp>
      <p:sp>
        <p:nvSpPr>
          <p:cNvPr id="66" name="Text 64"/>
          <p:cNvSpPr txBox="1"/>
          <p:nvPr/>
        </p:nvSpPr>
        <p:spPr>
          <a:xfrm>
            <a:off x="10405872" y="1897649"/>
            <a:ext cx="1088136" cy="253880"/>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$12,103</a:t>
            </a:r>
            <a:endParaRPr lang="en-US" sz="1300" dirty="0"/>
          </a:p>
        </p:txBody>
      </p:sp>
      <p:sp>
        <p:nvSpPr>
          <p:cNvPr id="67" name="Text 65"/>
          <p:cNvSpPr txBox="1"/>
          <p:nvPr/>
        </p:nvSpPr>
        <p:spPr>
          <a:xfrm>
            <a:off x="6208776" y="2151529"/>
            <a:ext cx="2240280" cy="25388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68" name="Shape 66"/>
          <p:cNvSpPr/>
          <p:nvPr/>
        </p:nvSpPr>
        <p:spPr>
          <a:xfrm>
            <a:off x="8522208" y="2215000"/>
            <a:ext cx="938663" cy="126940"/>
          </a:xfrm>
          <a:prstGeom prst="rect">
            <a:avLst/>
          </a:prstGeom>
          <a:solidFill>
            <a:srgbClr val="C2352F"/>
          </a:solidFill>
          <a:ln/>
        </p:spPr>
      </p:sp>
      <p:sp>
        <p:nvSpPr>
          <p:cNvPr id="69" name="Text 67"/>
          <p:cNvSpPr txBox="1"/>
          <p:nvPr/>
        </p:nvSpPr>
        <p:spPr>
          <a:xfrm>
            <a:off x="10405872" y="2151529"/>
            <a:ext cx="1088136" cy="253880"/>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$12,042</a:t>
            </a:r>
            <a:endParaRPr lang="en-US" sz="1300" dirty="0"/>
          </a:p>
        </p:txBody>
      </p:sp>
      <p:sp>
        <p:nvSpPr>
          <p:cNvPr id="70" name="Text 68"/>
          <p:cNvSpPr txBox="1"/>
          <p:nvPr/>
        </p:nvSpPr>
        <p:spPr>
          <a:xfrm>
            <a:off x="6208776" y="2405410"/>
            <a:ext cx="2240280" cy="25388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71" name="Shape 69"/>
          <p:cNvSpPr/>
          <p:nvPr/>
        </p:nvSpPr>
        <p:spPr>
          <a:xfrm>
            <a:off x="8522208" y="2468880"/>
            <a:ext cx="935875" cy="126940"/>
          </a:xfrm>
          <a:prstGeom prst="rect">
            <a:avLst/>
          </a:prstGeom>
          <a:solidFill>
            <a:srgbClr val="C2352F"/>
          </a:solidFill>
          <a:ln/>
        </p:spPr>
      </p:sp>
      <p:sp>
        <p:nvSpPr>
          <p:cNvPr id="72" name="Text 70"/>
          <p:cNvSpPr txBox="1"/>
          <p:nvPr/>
        </p:nvSpPr>
        <p:spPr>
          <a:xfrm>
            <a:off x="10405872" y="2405410"/>
            <a:ext cx="1088136" cy="253880"/>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$12,006</a:t>
            </a:r>
            <a:endParaRPr lang="en-US" sz="1300" dirty="0"/>
          </a:p>
        </p:txBody>
      </p:sp>
      <p:sp>
        <p:nvSpPr>
          <p:cNvPr id="73" name="Text 71"/>
          <p:cNvSpPr txBox="1"/>
          <p:nvPr/>
        </p:nvSpPr>
        <p:spPr>
          <a:xfrm>
            <a:off x="6208776" y="2659290"/>
            <a:ext cx="2240280" cy="25388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74" name="Shape 72"/>
          <p:cNvSpPr/>
          <p:nvPr/>
        </p:nvSpPr>
        <p:spPr>
          <a:xfrm>
            <a:off x="8522208" y="2722760"/>
            <a:ext cx="932104" cy="126940"/>
          </a:xfrm>
          <a:prstGeom prst="rect">
            <a:avLst/>
          </a:prstGeom>
          <a:solidFill>
            <a:srgbClr val="C2352F"/>
          </a:solidFill>
          <a:ln/>
        </p:spPr>
      </p:sp>
      <p:sp>
        <p:nvSpPr>
          <p:cNvPr id="75" name="Text 73"/>
          <p:cNvSpPr txBox="1"/>
          <p:nvPr/>
        </p:nvSpPr>
        <p:spPr>
          <a:xfrm>
            <a:off x="10405872" y="2659290"/>
            <a:ext cx="1088136" cy="253880"/>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$11,957</a:t>
            </a:r>
            <a:endParaRPr lang="en-US" sz="1300" dirty="0"/>
          </a:p>
        </p:txBody>
      </p:sp>
      <p:sp>
        <p:nvSpPr>
          <p:cNvPr id="76" name="Text 74"/>
          <p:cNvSpPr txBox="1"/>
          <p:nvPr/>
        </p:nvSpPr>
        <p:spPr>
          <a:xfrm>
            <a:off x="6208776" y="2913171"/>
            <a:ext cx="2240280" cy="25388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77" name="Shape 75"/>
          <p:cNvSpPr/>
          <p:nvPr/>
        </p:nvSpPr>
        <p:spPr>
          <a:xfrm>
            <a:off x="8522208" y="2976641"/>
            <a:ext cx="906649" cy="126940"/>
          </a:xfrm>
          <a:prstGeom prst="rect">
            <a:avLst/>
          </a:prstGeom>
          <a:solidFill>
            <a:srgbClr val="C2352F"/>
          </a:solidFill>
          <a:ln/>
        </p:spPr>
      </p:sp>
      <p:sp>
        <p:nvSpPr>
          <p:cNvPr id="78" name="Text 76"/>
          <p:cNvSpPr txBox="1"/>
          <p:nvPr/>
        </p:nvSpPr>
        <p:spPr>
          <a:xfrm>
            <a:off x="10405872" y="2913171"/>
            <a:ext cx="1088136" cy="253880"/>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$11,631</a:t>
            </a:r>
            <a:endParaRPr lang="en-US" sz="1300" dirty="0"/>
          </a:p>
        </p:txBody>
      </p:sp>
      <p:sp>
        <p:nvSpPr>
          <p:cNvPr id="79" name="Text 77"/>
          <p:cNvSpPr txBox="1"/>
          <p:nvPr/>
        </p:nvSpPr>
        <p:spPr>
          <a:xfrm>
            <a:off x="6208776" y="3167051"/>
            <a:ext cx="2240280" cy="25388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80" name="Shape 78"/>
          <p:cNvSpPr/>
          <p:nvPr/>
        </p:nvSpPr>
        <p:spPr>
          <a:xfrm>
            <a:off x="8522208" y="3230521"/>
            <a:ext cx="899660" cy="126940"/>
          </a:xfrm>
          <a:prstGeom prst="rect">
            <a:avLst/>
          </a:prstGeom>
          <a:solidFill>
            <a:srgbClr val="C2352F"/>
          </a:solidFill>
          <a:ln/>
        </p:spPr>
      </p:sp>
      <p:sp>
        <p:nvSpPr>
          <p:cNvPr id="81" name="Text 79"/>
          <p:cNvSpPr txBox="1"/>
          <p:nvPr/>
        </p:nvSpPr>
        <p:spPr>
          <a:xfrm>
            <a:off x="10405872" y="3167051"/>
            <a:ext cx="1088136" cy="253880"/>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$11,541</a:t>
            </a:r>
            <a:endParaRPr lang="en-US" sz="1300" dirty="0"/>
          </a:p>
        </p:txBody>
      </p:sp>
      <p:sp>
        <p:nvSpPr>
          <p:cNvPr id="82" name="Text 80"/>
          <p:cNvSpPr txBox="1"/>
          <p:nvPr/>
        </p:nvSpPr>
        <p:spPr>
          <a:xfrm>
            <a:off x="6208776" y="3420932"/>
            <a:ext cx="2240280" cy="25388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83" name="Shape 81"/>
          <p:cNvSpPr/>
          <p:nvPr/>
        </p:nvSpPr>
        <p:spPr>
          <a:xfrm>
            <a:off x="8522208" y="3484402"/>
            <a:ext cx="867469" cy="126940"/>
          </a:xfrm>
          <a:prstGeom prst="rect">
            <a:avLst/>
          </a:prstGeom>
          <a:solidFill>
            <a:srgbClr val="C2352F"/>
          </a:solidFill>
          <a:ln/>
        </p:spPr>
      </p:sp>
      <p:sp>
        <p:nvSpPr>
          <p:cNvPr id="84" name="Text 82"/>
          <p:cNvSpPr txBox="1"/>
          <p:nvPr/>
        </p:nvSpPr>
        <p:spPr>
          <a:xfrm>
            <a:off x="10405872" y="3420932"/>
            <a:ext cx="1088136" cy="253880"/>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$11,128</a:t>
            </a:r>
            <a:endParaRPr lang="en-US" sz="1300" dirty="0"/>
          </a:p>
        </p:txBody>
      </p:sp>
      <p:sp>
        <p:nvSpPr>
          <p:cNvPr id="85" name="Text 83"/>
          <p:cNvSpPr txBox="1"/>
          <p:nvPr/>
        </p:nvSpPr>
        <p:spPr>
          <a:xfrm>
            <a:off x="6208776" y="3674812"/>
            <a:ext cx="2240280" cy="25388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86" name="Shape 84"/>
          <p:cNvSpPr/>
          <p:nvPr/>
        </p:nvSpPr>
        <p:spPr>
          <a:xfrm>
            <a:off x="8522208" y="3738282"/>
            <a:ext cx="860908" cy="126940"/>
          </a:xfrm>
          <a:prstGeom prst="rect">
            <a:avLst/>
          </a:prstGeom>
          <a:solidFill>
            <a:srgbClr val="C2352F"/>
          </a:solidFill>
          <a:ln/>
        </p:spPr>
      </p:sp>
      <p:sp>
        <p:nvSpPr>
          <p:cNvPr id="87" name="Text 85"/>
          <p:cNvSpPr txBox="1"/>
          <p:nvPr/>
        </p:nvSpPr>
        <p:spPr>
          <a:xfrm>
            <a:off x="10405872" y="3674812"/>
            <a:ext cx="1088136" cy="253880"/>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$11,044</a:t>
            </a:r>
            <a:endParaRPr lang="en-US" sz="1300" dirty="0"/>
          </a:p>
        </p:txBody>
      </p:sp>
      <p:sp>
        <p:nvSpPr>
          <p:cNvPr id="88" name="Text 86"/>
          <p:cNvSpPr txBox="1"/>
          <p:nvPr/>
        </p:nvSpPr>
        <p:spPr>
          <a:xfrm>
            <a:off x="6208776" y="3928693"/>
            <a:ext cx="2240280" cy="25388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89" name="Shape 87"/>
          <p:cNvSpPr/>
          <p:nvPr/>
        </p:nvSpPr>
        <p:spPr>
          <a:xfrm>
            <a:off x="8522208" y="3992163"/>
            <a:ext cx="854614" cy="126940"/>
          </a:xfrm>
          <a:prstGeom prst="rect">
            <a:avLst/>
          </a:prstGeom>
          <a:solidFill>
            <a:srgbClr val="C2352F"/>
          </a:solidFill>
          <a:ln/>
        </p:spPr>
      </p:sp>
      <p:sp>
        <p:nvSpPr>
          <p:cNvPr id="90" name="Text 88"/>
          <p:cNvSpPr txBox="1"/>
          <p:nvPr/>
        </p:nvSpPr>
        <p:spPr>
          <a:xfrm>
            <a:off x="10405872" y="3928693"/>
            <a:ext cx="1088136" cy="253880"/>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$10,963</a:t>
            </a:r>
            <a:endParaRPr lang="en-US" sz="1300" dirty="0"/>
          </a:p>
        </p:txBody>
      </p:sp>
      <p:sp>
        <p:nvSpPr>
          <p:cNvPr id="91" name="Text 89"/>
          <p:cNvSpPr txBox="1"/>
          <p:nvPr/>
        </p:nvSpPr>
        <p:spPr>
          <a:xfrm>
            <a:off x="6208776" y="4182573"/>
            <a:ext cx="2240280" cy="25388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92" name="Shape 90"/>
          <p:cNvSpPr/>
          <p:nvPr/>
        </p:nvSpPr>
        <p:spPr>
          <a:xfrm>
            <a:off x="8522208" y="4246043"/>
            <a:ext cx="841392" cy="126940"/>
          </a:xfrm>
          <a:prstGeom prst="rect">
            <a:avLst/>
          </a:prstGeom>
          <a:solidFill>
            <a:srgbClr val="C2352F"/>
          </a:solidFill>
          <a:ln/>
        </p:spPr>
      </p:sp>
      <p:sp>
        <p:nvSpPr>
          <p:cNvPr id="93" name="Text 91"/>
          <p:cNvSpPr txBox="1"/>
          <p:nvPr/>
        </p:nvSpPr>
        <p:spPr>
          <a:xfrm>
            <a:off x="10405872" y="4182573"/>
            <a:ext cx="1088136" cy="253880"/>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$10,794</a:t>
            </a:r>
            <a:endParaRPr lang="en-US" sz="1300" dirty="0"/>
          </a:p>
        </p:txBody>
      </p:sp>
      <p:sp>
        <p:nvSpPr>
          <p:cNvPr id="94" name="Text 92"/>
          <p:cNvSpPr txBox="1"/>
          <p:nvPr/>
        </p:nvSpPr>
        <p:spPr>
          <a:xfrm>
            <a:off x="6208776" y="4436454"/>
            <a:ext cx="2240280" cy="25388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95" name="Shape 93"/>
          <p:cNvSpPr/>
          <p:nvPr/>
        </p:nvSpPr>
        <p:spPr>
          <a:xfrm>
            <a:off x="8522208" y="4499924"/>
            <a:ext cx="810008" cy="126940"/>
          </a:xfrm>
          <a:prstGeom prst="rect">
            <a:avLst/>
          </a:prstGeom>
          <a:solidFill>
            <a:srgbClr val="C2352F"/>
          </a:solidFill>
          <a:ln/>
        </p:spPr>
      </p:sp>
      <p:sp>
        <p:nvSpPr>
          <p:cNvPr id="96" name="Text 94"/>
          <p:cNvSpPr txBox="1"/>
          <p:nvPr/>
        </p:nvSpPr>
        <p:spPr>
          <a:xfrm>
            <a:off x="10405872" y="4436454"/>
            <a:ext cx="1088136" cy="253880"/>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$10,391</a:t>
            </a:r>
            <a:endParaRPr lang="en-US" sz="1300" dirty="0"/>
          </a:p>
        </p:txBody>
      </p:sp>
      <p:sp>
        <p:nvSpPr>
          <p:cNvPr id="97" name="Text 95"/>
          <p:cNvSpPr txBox="1"/>
          <p:nvPr/>
        </p:nvSpPr>
        <p:spPr>
          <a:xfrm>
            <a:off x="6208776" y="4690334"/>
            <a:ext cx="2240280" cy="25388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98" name="Shape 96"/>
          <p:cNvSpPr/>
          <p:nvPr/>
        </p:nvSpPr>
        <p:spPr>
          <a:xfrm>
            <a:off x="8522208" y="4753804"/>
            <a:ext cx="775841" cy="126940"/>
          </a:xfrm>
          <a:prstGeom prst="rect">
            <a:avLst/>
          </a:prstGeom>
          <a:solidFill>
            <a:srgbClr val="C2352F"/>
          </a:solidFill>
          <a:ln/>
        </p:spPr>
      </p:sp>
      <p:sp>
        <p:nvSpPr>
          <p:cNvPr id="99" name="Text 97"/>
          <p:cNvSpPr txBox="1"/>
          <p:nvPr/>
        </p:nvSpPr>
        <p:spPr>
          <a:xfrm>
            <a:off x="10405872" y="4690334"/>
            <a:ext cx="1088136" cy="253880"/>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$9,953</a:t>
            </a:r>
            <a:endParaRPr lang="en-US" sz="1300" dirty="0"/>
          </a:p>
        </p:txBody>
      </p:sp>
      <p:sp>
        <p:nvSpPr>
          <p:cNvPr id="100" name="Text 98"/>
          <p:cNvSpPr txBox="1"/>
          <p:nvPr/>
        </p:nvSpPr>
        <p:spPr>
          <a:xfrm>
            <a:off x="6208776" y="4944215"/>
            <a:ext cx="2240280" cy="25388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101" name="Shape 99"/>
          <p:cNvSpPr/>
          <p:nvPr/>
        </p:nvSpPr>
        <p:spPr>
          <a:xfrm>
            <a:off x="8522208" y="5007685"/>
            <a:ext cx="769990" cy="126940"/>
          </a:xfrm>
          <a:prstGeom prst="rect">
            <a:avLst/>
          </a:prstGeom>
          <a:solidFill>
            <a:srgbClr val="C2352F"/>
          </a:solidFill>
          <a:ln/>
        </p:spPr>
      </p:sp>
      <p:sp>
        <p:nvSpPr>
          <p:cNvPr id="102" name="Text 100"/>
          <p:cNvSpPr txBox="1"/>
          <p:nvPr/>
        </p:nvSpPr>
        <p:spPr>
          <a:xfrm>
            <a:off x="10405872" y="4944215"/>
            <a:ext cx="1088136" cy="253880"/>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$9,878</a:t>
            </a:r>
            <a:endParaRPr lang="en-US" sz="1300" dirty="0"/>
          </a:p>
        </p:txBody>
      </p:sp>
      <p:sp>
        <p:nvSpPr>
          <p:cNvPr id="103" name="Text 101"/>
          <p:cNvSpPr txBox="1"/>
          <p:nvPr/>
        </p:nvSpPr>
        <p:spPr>
          <a:xfrm>
            <a:off x="6208776" y="5198095"/>
            <a:ext cx="2240280" cy="25388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04" name="Shape 102"/>
          <p:cNvSpPr/>
          <p:nvPr/>
        </p:nvSpPr>
        <p:spPr>
          <a:xfrm>
            <a:off x="8522208" y="5261565"/>
            <a:ext cx="740383" cy="126940"/>
          </a:xfrm>
          <a:prstGeom prst="rect">
            <a:avLst/>
          </a:prstGeom>
          <a:solidFill>
            <a:srgbClr val="C2352F"/>
          </a:solidFill>
          <a:ln/>
        </p:spPr>
      </p:sp>
      <p:sp>
        <p:nvSpPr>
          <p:cNvPr id="105" name="Text 103"/>
          <p:cNvSpPr txBox="1"/>
          <p:nvPr/>
        </p:nvSpPr>
        <p:spPr>
          <a:xfrm>
            <a:off x="10405872" y="5198095"/>
            <a:ext cx="1088136" cy="253880"/>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$9,498</a:t>
            </a:r>
            <a:endParaRPr lang="en-US" sz="1300" dirty="0"/>
          </a:p>
        </p:txBody>
      </p:sp>
      <p:sp>
        <p:nvSpPr>
          <p:cNvPr id="106" name="Text 104"/>
          <p:cNvSpPr txBox="1"/>
          <p:nvPr/>
        </p:nvSpPr>
        <p:spPr>
          <a:xfrm>
            <a:off x="6208776" y="5451976"/>
            <a:ext cx="2240280" cy="25388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07" name="Shape 105"/>
          <p:cNvSpPr/>
          <p:nvPr/>
        </p:nvSpPr>
        <p:spPr>
          <a:xfrm>
            <a:off x="8522208" y="5515446"/>
            <a:ext cx="713200" cy="126940"/>
          </a:xfrm>
          <a:prstGeom prst="rect">
            <a:avLst/>
          </a:prstGeom>
          <a:solidFill>
            <a:srgbClr val="C2352F"/>
          </a:solidFill>
          <a:ln/>
        </p:spPr>
      </p:sp>
      <p:sp>
        <p:nvSpPr>
          <p:cNvPr id="108" name="Text 106"/>
          <p:cNvSpPr txBox="1"/>
          <p:nvPr/>
        </p:nvSpPr>
        <p:spPr>
          <a:xfrm>
            <a:off x="10405872" y="5451976"/>
            <a:ext cx="1088136" cy="253880"/>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$9,149</a:t>
            </a:r>
            <a:endParaRPr lang="en-US" sz="1300" dirty="0"/>
          </a:p>
        </p:txBody>
      </p:sp>
      <p:sp>
        <p:nvSpPr>
          <p:cNvPr id="109" name="Shape 107"/>
          <p:cNvSpPr/>
          <p:nvPr/>
        </p:nvSpPr>
        <p:spPr>
          <a:xfrm>
            <a:off x="4025958" y="1389888"/>
            <a:ext cx="14630" cy="4315968"/>
          </a:xfrm>
          <a:prstGeom prst="rect">
            <a:avLst/>
          </a:prstGeom>
          <a:solidFill>
            <a:srgbClr val="0B2C4A"/>
          </a:solidFill>
          <a:ln/>
        </p:spPr>
      </p:sp>
      <p:sp>
        <p:nvSpPr>
          <p:cNvPr id="110" name="Shape 108"/>
          <p:cNvSpPr/>
          <p:nvPr/>
        </p:nvSpPr>
        <p:spPr>
          <a:xfrm>
            <a:off x="9576366" y="1389888"/>
            <a:ext cx="14630" cy="4315968"/>
          </a:xfrm>
          <a:prstGeom prst="rect">
            <a:avLst/>
          </a:prstGeom>
          <a:solidFill>
            <a:srgbClr val="0B2C4A"/>
          </a:solidFill>
          <a:ln/>
        </p:spPr>
      </p:sp>
      <p:sp>
        <p:nvSpPr>
          <p:cNvPr id="111" name="Shape 109"/>
          <p:cNvSpPr/>
          <p:nvPr/>
        </p:nvSpPr>
        <p:spPr>
          <a:xfrm>
            <a:off x="457200" y="5961888"/>
            <a:ext cx="11274552" cy="548640"/>
          </a:xfrm>
          <a:prstGeom prst="rect">
            <a:avLst/>
          </a:prstGeom>
          <a:solidFill>
            <a:srgbClr val="EDF4FA"/>
          </a:solidFill>
          <a:ln/>
        </p:spPr>
      </p:sp>
      <p:sp>
        <p:nvSpPr>
          <p:cNvPr id="112" name="Text 110"/>
          <p:cNvSpPr txBox="1"/>
          <p:nvPr/>
        </p:nvSpPr>
        <p:spPr>
          <a:xfrm>
            <a:off x="658368" y="5980176"/>
            <a:ext cx="10927080" cy="512064"/>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13 of 33 stores at or above the $13,617 group, led by AUDI HENDERSON at $23,461. HONDA FLAGSTAFF is lowest at $9,149.</a:t>
            </a:r>
            <a:endParaRPr lang="en-US" sz="16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Gross per Fixed Employee</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01168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GROUP</a:t>
            </a:r>
            <a:endParaRPr lang="en-US" sz="1500" dirty="0"/>
          </a:p>
        </p:txBody>
      </p:sp>
      <p:sp>
        <p:nvSpPr>
          <p:cNvPr id="9" name="Text 7"/>
          <p:cNvSpPr txBox="1"/>
          <p:nvPr/>
        </p:nvSpPr>
        <p:spPr>
          <a:xfrm>
            <a:off x="2834640" y="1335024"/>
            <a:ext cx="420624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SAME-STORE, 33 STORES</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+$1,207</a:t>
            </a:r>
            <a:endParaRPr lang="en-US" sz="2000" dirty="0"/>
          </a:p>
        </p:txBody>
      </p:sp>
      <p:sp>
        <p:nvSpPr>
          <p:cNvPr id="11" name="Text 9"/>
          <p:cNvSpPr txBox="1"/>
          <p:nvPr/>
        </p:nvSpPr>
        <p:spPr>
          <a:xfrm>
            <a:off x="658368" y="1847088"/>
            <a:ext cx="2240280" cy="23021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2" name="Shape 10"/>
          <p:cNvSpPr/>
          <p:nvPr/>
        </p:nvSpPr>
        <p:spPr>
          <a:xfrm>
            <a:off x="3813048" y="1909246"/>
            <a:ext cx="822960" cy="105898"/>
          </a:xfrm>
          <a:prstGeom prst="rect">
            <a:avLst/>
          </a:prstGeom>
          <a:solidFill>
            <a:srgbClr val="12A566"/>
          </a:solidFill>
          <a:ln/>
        </p:spPr>
      </p:sp>
      <p:sp>
        <p:nvSpPr>
          <p:cNvPr id="13" name="Text 11"/>
          <p:cNvSpPr txBox="1"/>
          <p:nvPr/>
        </p:nvSpPr>
        <p:spPr>
          <a:xfrm>
            <a:off x="4709160" y="1847088"/>
            <a:ext cx="1271016" cy="230214"/>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+$4,158</a:t>
            </a:r>
            <a:endParaRPr lang="en-US" sz="1300" dirty="0"/>
          </a:p>
        </p:txBody>
      </p:sp>
      <p:sp>
        <p:nvSpPr>
          <p:cNvPr id="14" name="Text 12"/>
          <p:cNvSpPr txBox="1"/>
          <p:nvPr/>
        </p:nvSpPr>
        <p:spPr>
          <a:xfrm>
            <a:off x="658368" y="2077302"/>
            <a:ext cx="2240280" cy="23021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5" name="Shape 13"/>
          <p:cNvSpPr/>
          <p:nvPr/>
        </p:nvSpPr>
        <p:spPr>
          <a:xfrm>
            <a:off x="3813048" y="2139459"/>
            <a:ext cx="580415" cy="105898"/>
          </a:xfrm>
          <a:prstGeom prst="rect">
            <a:avLst/>
          </a:prstGeom>
          <a:solidFill>
            <a:srgbClr val="12A566"/>
          </a:solidFill>
          <a:ln/>
        </p:spPr>
      </p:sp>
      <p:sp>
        <p:nvSpPr>
          <p:cNvPr id="16" name="Text 14"/>
          <p:cNvSpPr txBox="1"/>
          <p:nvPr/>
        </p:nvSpPr>
        <p:spPr>
          <a:xfrm>
            <a:off x="4709160" y="2077302"/>
            <a:ext cx="1271016" cy="230214"/>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+$2,933</a:t>
            </a:r>
            <a:endParaRPr lang="en-US" sz="1300" dirty="0"/>
          </a:p>
        </p:txBody>
      </p:sp>
      <p:sp>
        <p:nvSpPr>
          <p:cNvPr id="17" name="Text 15"/>
          <p:cNvSpPr txBox="1"/>
          <p:nvPr/>
        </p:nvSpPr>
        <p:spPr>
          <a:xfrm>
            <a:off x="658368" y="2307515"/>
            <a:ext cx="2240280" cy="23021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18" name="Shape 16"/>
          <p:cNvSpPr/>
          <p:nvPr/>
        </p:nvSpPr>
        <p:spPr>
          <a:xfrm>
            <a:off x="3813048" y="2369673"/>
            <a:ext cx="503640" cy="105898"/>
          </a:xfrm>
          <a:prstGeom prst="rect">
            <a:avLst/>
          </a:prstGeom>
          <a:solidFill>
            <a:srgbClr val="12A566"/>
          </a:solidFill>
          <a:ln/>
        </p:spPr>
      </p:sp>
      <p:sp>
        <p:nvSpPr>
          <p:cNvPr id="19" name="Text 17"/>
          <p:cNvSpPr txBox="1"/>
          <p:nvPr/>
        </p:nvSpPr>
        <p:spPr>
          <a:xfrm>
            <a:off x="4709160" y="2307515"/>
            <a:ext cx="1271016" cy="230214"/>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+$2,545</a:t>
            </a:r>
            <a:endParaRPr lang="en-US" sz="1300" dirty="0"/>
          </a:p>
        </p:txBody>
      </p:sp>
      <p:sp>
        <p:nvSpPr>
          <p:cNvPr id="20" name="Text 18"/>
          <p:cNvSpPr txBox="1"/>
          <p:nvPr/>
        </p:nvSpPr>
        <p:spPr>
          <a:xfrm>
            <a:off x="658368" y="2537729"/>
            <a:ext cx="2240280" cy="23021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21" name="Shape 19"/>
          <p:cNvSpPr/>
          <p:nvPr/>
        </p:nvSpPr>
        <p:spPr>
          <a:xfrm>
            <a:off x="3813048" y="2599887"/>
            <a:ext cx="476707" cy="105898"/>
          </a:xfrm>
          <a:prstGeom prst="rect">
            <a:avLst/>
          </a:prstGeom>
          <a:solidFill>
            <a:srgbClr val="12A566"/>
          </a:solidFill>
          <a:ln/>
        </p:spPr>
      </p:sp>
      <p:sp>
        <p:nvSpPr>
          <p:cNvPr id="22" name="Text 20"/>
          <p:cNvSpPr txBox="1"/>
          <p:nvPr/>
        </p:nvSpPr>
        <p:spPr>
          <a:xfrm>
            <a:off x="4709160" y="2537729"/>
            <a:ext cx="1271016" cy="230214"/>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+$2,409</a:t>
            </a:r>
            <a:endParaRPr lang="en-US" sz="1300" dirty="0"/>
          </a:p>
        </p:txBody>
      </p:sp>
      <p:sp>
        <p:nvSpPr>
          <p:cNvPr id="23" name="Text 21"/>
          <p:cNvSpPr txBox="1"/>
          <p:nvPr/>
        </p:nvSpPr>
        <p:spPr>
          <a:xfrm>
            <a:off x="658368" y="2767943"/>
            <a:ext cx="2240280" cy="23021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24" name="Shape 22"/>
          <p:cNvSpPr/>
          <p:nvPr/>
        </p:nvSpPr>
        <p:spPr>
          <a:xfrm>
            <a:off x="3813048" y="2830100"/>
            <a:ext cx="466821" cy="105898"/>
          </a:xfrm>
          <a:prstGeom prst="rect">
            <a:avLst/>
          </a:prstGeom>
          <a:solidFill>
            <a:srgbClr val="12A566"/>
          </a:solidFill>
          <a:ln/>
        </p:spPr>
      </p:sp>
      <p:sp>
        <p:nvSpPr>
          <p:cNvPr id="25" name="Text 23"/>
          <p:cNvSpPr txBox="1"/>
          <p:nvPr/>
        </p:nvSpPr>
        <p:spPr>
          <a:xfrm>
            <a:off x="4709160" y="2767943"/>
            <a:ext cx="1271016" cy="230214"/>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+$2,359</a:t>
            </a:r>
            <a:endParaRPr lang="en-US" sz="1300" dirty="0"/>
          </a:p>
        </p:txBody>
      </p:sp>
      <p:sp>
        <p:nvSpPr>
          <p:cNvPr id="26" name="Text 24"/>
          <p:cNvSpPr txBox="1"/>
          <p:nvPr/>
        </p:nvSpPr>
        <p:spPr>
          <a:xfrm>
            <a:off x="658368" y="2998156"/>
            <a:ext cx="2240280" cy="23021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27" name="Shape 25"/>
          <p:cNvSpPr/>
          <p:nvPr/>
        </p:nvSpPr>
        <p:spPr>
          <a:xfrm>
            <a:off x="3813048" y="3060314"/>
            <a:ext cx="452685" cy="105898"/>
          </a:xfrm>
          <a:prstGeom prst="rect">
            <a:avLst/>
          </a:prstGeom>
          <a:solidFill>
            <a:srgbClr val="12A566"/>
          </a:solidFill>
          <a:ln/>
        </p:spPr>
      </p:sp>
      <p:sp>
        <p:nvSpPr>
          <p:cNvPr id="28" name="Text 26"/>
          <p:cNvSpPr txBox="1"/>
          <p:nvPr/>
        </p:nvSpPr>
        <p:spPr>
          <a:xfrm>
            <a:off x="4709160" y="2998156"/>
            <a:ext cx="1271016" cy="230214"/>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+$2,287</a:t>
            </a:r>
            <a:endParaRPr lang="en-US" sz="1300" dirty="0"/>
          </a:p>
        </p:txBody>
      </p:sp>
      <p:sp>
        <p:nvSpPr>
          <p:cNvPr id="29" name="Text 27"/>
          <p:cNvSpPr txBox="1"/>
          <p:nvPr/>
        </p:nvSpPr>
        <p:spPr>
          <a:xfrm>
            <a:off x="658368" y="3228370"/>
            <a:ext cx="2240280" cy="23021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30" name="Shape 28"/>
          <p:cNvSpPr/>
          <p:nvPr/>
        </p:nvSpPr>
        <p:spPr>
          <a:xfrm>
            <a:off x="3813048" y="3290528"/>
            <a:ext cx="413958" cy="105898"/>
          </a:xfrm>
          <a:prstGeom prst="rect">
            <a:avLst/>
          </a:prstGeom>
          <a:solidFill>
            <a:srgbClr val="12A566"/>
          </a:solidFill>
          <a:ln/>
        </p:spPr>
      </p:sp>
      <p:sp>
        <p:nvSpPr>
          <p:cNvPr id="31" name="Text 29"/>
          <p:cNvSpPr txBox="1"/>
          <p:nvPr/>
        </p:nvSpPr>
        <p:spPr>
          <a:xfrm>
            <a:off x="4709160" y="3228370"/>
            <a:ext cx="1271016" cy="230214"/>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+$2,092</a:t>
            </a:r>
            <a:endParaRPr lang="en-US" sz="1300" dirty="0"/>
          </a:p>
        </p:txBody>
      </p:sp>
      <p:sp>
        <p:nvSpPr>
          <p:cNvPr id="32" name="Text 30"/>
          <p:cNvSpPr txBox="1"/>
          <p:nvPr/>
        </p:nvSpPr>
        <p:spPr>
          <a:xfrm>
            <a:off x="658368" y="3458584"/>
            <a:ext cx="2240280" cy="23021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33" name="Shape 31"/>
          <p:cNvSpPr/>
          <p:nvPr/>
        </p:nvSpPr>
        <p:spPr>
          <a:xfrm>
            <a:off x="3813048" y="3520741"/>
            <a:ext cx="350336" cy="105898"/>
          </a:xfrm>
          <a:prstGeom prst="rect">
            <a:avLst/>
          </a:prstGeom>
          <a:solidFill>
            <a:srgbClr val="12A566"/>
          </a:solidFill>
          <a:ln/>
        </p:spPr>
      </p:sp>
      <p:sp>
        <p:nvSpPr>
          <p:cNvPr id="34" name="Text 32"/>
          <p:cNvSpPr txBox="1"/>
          <p:nvPr/>
        </p:nvSpPr>
        <p:spPr>
          <a:xfrm>
            <a:off x="4709160" y="3458584"/>
            <a:ext cx="1271016" cy="230214"/>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+$1,770</a:t>
            </a:r>
            <a:endParaRPr lang="en-US" sz="1300" dirty="0"/>
          </a:p>
        </p:txBody>
      </p:sp>
      <p:sp>
        <p:nvSpPr>
          <p:cNvPr id="35" name="Text 33"/>
          <p:cNvSpPr txBox="1"/>
          <p:nvPr/>
        </p:nvSpPr>
        <p:spPr>
          <a:xfrm>
            <a:off x="658368" y="3688797"/>
            <a:ext cx="2240280" cy="23021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36" name="Shape 34"/>
          <p:cNvSpPr/>
          <p:nvPr/>
        </p:nvSpPr>
        <p:spPr>
          <a:xfrm>
            <a:off x="3813048" y="3750955"/>
            <a:ext cx="338242" cy="105898"/>
          </a:xfrm>
          <a:prstGeom prst="rect">
            <a:avLst/>
          </a:prstGeom>
          <a:solidFill>
            <a:srgbClr val="12A566"/>
          </a:solidFill>
          <a:ln/>
        </p:spPr>
      </p:sp>
      <p:sp>
        <p:nvSpPr>
          <p:cNvPr id="37" name="Text 35"/>
          <p:cNvSpPr txBox="1"/>
          <p:nvPr/>
        </p:nvSpPr>
        <p:spPr>
          <a:xfrm>
            <a:off x="4709160" y="3688797"/>
            <a:ext cx="1271016" cy="230214"/>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+$1,709</a:t>
            </a:r>
            <a:endParaRPr lang="en-US" sz="1300" dirty="0"/>
          </a:p>
        </p:txBody>
      </p:sp>
      <p:sp>
        <p:nvSpPr>
          <p:cNvPr id="38" name="Text 36"/>
          <p:cNvSpPr txBox="1"/>
          <p:nvPr/>
        </p:nvSpPr>
        <p:spPr>
          <a:xfrm>
            <a:off x="658368" y="3919011"/>
            <a:ext cx="2240280" cy="23021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39" name="Shape 37"/>
          <p:cNvSpPr/>
          <p:nvPr/>
        </p:nvSpPr>
        <p:spPr>
          <a:xfrm>
            <a:off x="3813048" y="3981169"/>
            <a:ext cx="325887" cy="105898"/>
          </a:xfrm>
          <a:prstGeom prst="rect">
            <a:avLst/>
          </a:prstGeom>
          <a:solidFill>
            <a:srgbClr val="12A566"/>
          </a:solidFill>
          <a:ln/>
        </p:spPr>
      </p:sp>
      <p:sp>
        <p:nvSpPr>
          <p:cNvPr id="40" name="Text 38"/>
          <p:cNvSpPr txBox="1"/>
          <p:nvPr/>
        </p:nvSpPr>
        <p:spPr>
          <a:xfrm>
            <a:off x="4709160" y="3919011"/>
            <a:ext cx="1271016" cy="230214"/>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+$1,647</a:t>
            </a:r>
            <a:endParaRPr lang="en-US" sz="1300" dirty="0"/>
          </a:p>
        </p:txBody>
      </p:sp>
      <p:sp>
        <p:nvSpPr>
          <p:cNvPr id="41" name="Text 39"/>
          <p:cNvSpPr txBox="1"/>
          <p:nvPr/>
        </p:nvSpPr>
        <p:spPr>
          <a:xfrm>
            <a:off x="658368" y="4149224"/>
            <a:ext cx="2240280" cy="23021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42" name="Shape 40"/>
          <p:cNvSpPr/>
          <p:nvPr/>
        </p:nvSpPr>
        <p:spPr>
          <a:xfrm>
            <a:off x="3813048" y="4211382"/>
            <a:ext cx="317271" cy="105898"/>
          </a:xfrm>
          <a:prstGeom prst="rect">
            <a:avLst/>
          </a:prstGeom>
          <a:solidFill>
            <a:srgbClr val="12A566"/>
          </a:solidFill>
          <a:ln/>
        </p:spPr>
      </p:sp>
      <p:sp>
        <p:nvSpPr>
          <p:cNvPr id="43" name="Text 41"/>
          <p:cNvSpPr txBox="1"/>
          <p:nvPr/>
        </p:nvSpPr>
        <p:spPr>
          <a:xfrm>
            <a:off x="4709160" y="4149224"/>
            <a:ext cx="1271016" cy="230214"/>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+$1,603</a:t>
            </a:r>
            <a:endParaRPr lang="en-US" sz="1300" dirty="0"/>
          </a:p>
        </p:txBody>
      </p:sp>
      <p:sp>
        <p:nvSpPr>
          <p:cNvPr id="44" name="Text 42"/>
          <p:cNvSpPr txBox="1"/>
          <p:nvPr/>
        </p:nvSpPr>
        <p:spPr>
          <a:xfrm>
            <a:off x="658368" y="4379438"/>
            <a:ext cx="2240280" cy="23021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45" name="Shape 43"/>
          <p:cNvSpPr/>
          <p:nvPr/>
        </p:nvSpPr>
        <p:spPr>
          <a:xfrm>
            <a:off x="3813048" y="4441596"/>
            <a:ext cx="293240" cy="105898"/>
          </a:xfrm>
          <a:prstGeom prst="rect">
            <a:avLst/>
          </a:prstGeom>
          <a:solidFill>
            <a:srgbClr val="12A566"/>
          </a:solidFill>
          <a:ln/>
        </p:spPr>
      </p:sp>
      <p:sp>
        <p:nvSpPr>
          <p:cNvPr id="46" name="Text 44"/>
          <p:cNvSpPr txBox="1"/>
          <p:nvPr/>
        </p:nvSpPr>
        <p:spPr>
          <a:xfrm>
            <a:off x="4709160" y="4379438"/>
            <a:ext cx="1271016" cy="230214"/>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+$1,482</a:t>
            </a:r>
            <a:endParaRPr lang="en-US" sz="1300" dirty="0"/>
          </a:p>
        </p:txBody>
      </p:sp>
      <p:sp>
        <p:nvSpPr>
          <p:cNvPr id="47" name="Text 45"/>
          <p:cNvSpPr txBox="1"/>
          <p:nvPr/>
        </p:nvSpPr>
        <p:spPr>
          <a:xfrm>
            <a:off x="658368" y="4609652"/>
            <a:ext cx="2240280" cy="23021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48" name="Shape 46"/>
          <p:cNvSpPr/>
          <p:nvPr/>
        </p:nvSpPr>
        <p:spPr>
          <a:xfrm>
            <a:off x="3813048" y="4671809"/>
            <a:ext cx="291137" cy="105898"/>
          </a:xfrm>
          <a:prstGeom prst="rect">
            <a:avLst/>
          </a:prstGeom>
          <a:solidFill>
            <a:srgbClr val="12A566"/>
          </a:solidFill>
          <a:ln/>
        </p:spPr>
      </p:sp>
      <p:sp>
        <p:nvSpPr>
          <p:cNvPr id="49" name="Text 47"/>
          <p:cNvSpPr txBox="1"/>
          <p:nvPr/>
        </p:nvSpPr>
        <p:spPr>
          <a:xfrm>
            <a:off x="4709160" y="4609652"/>
            <a:ext cx="1271016" cy="230214"/>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+$1,471</a:t>
            </a:r>
            <a:endParaRPr lang="en-US" sz="1300" dirty="0"/>
          </a:p>
        </p:txBody>
      </p:sp>
      <p:sp>
        <p:nvSpPr>
          <p:cNvPr id="50" name="Text 48"/>
          <p:cNvSpPr txBox="1"/>
          <p:nvPr/>
        </p:nvSpPr>
        <p:spPr>
          <a:xfrm>
            <a:off x="658368" y="4839865"/>
            <a:ext cx="2240280" cy="23021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51" name="Shape 49"/>
          <p:cNvSpPr/>
          <p:nvPr/>
        </p:nvSpPr>
        <p:spPr>
          <a:xfrm>
            <a:off x="3813048" y="4902023"/>
            <a:ext cx="250227" cy="105898"/>
          </a:xfrm>
          <a:prstGeom prst="rect">
            <a:avLst/>
          </a:prstGeom>
          <a:solidFill>
            <a:srgbClr val="12A566"/>
          </a:solidFill>
          <a:ln/>
        </p:spPr>
      </p:sp>
      <p:sp>
        <p:nvSpPr>
          <p:cNvPr id="52" name="Text 50"/>
          <p:cNvSpPr txBox="1"/>
          <p:nvPr/>
        </p:nvSpPr>
        <p:spPr>
          <a:xfrm>
            <a:off x="4709160" y="4839865"/>
            <a:ext cx="1271016" cy="230214"/>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+$1,264</a:t>
            </a:r>
            <a:endParaRPr lang="en-US" sz="1300" dirty="0"/>
          </a:p>
        </p:txBody>
      </p:sp>
      <p:sp>
        <p:nvSpPr>
          <p:cNvPr id="53" name="Text 51"/>
          <p:cNvSpPr txBox="1"/>
          <p:nvPr/>
        </p:nvSpPr>
        <p:spPr>
          <a:xfrm>
            <a:off x="658368" y="5070079"/>
            <a:ext cx="2240280" cy="23021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54" name="Shape 52"/>
          <p:cNvSpPr/>
          <p:nvPr/>
        </p:nvSpPr>
        <p:spPr>
          <a:xfrm>
            <a:off x="3813048" y="5132237"/>
            <a:ext cx="233179" cy="105898"/>
          </a:xfrm>
          <a:prstGeom prst="rect">
            <a:avLst/>
          </a:prstGeom>
          <a:solidFill>
            <a:srgbClr val="12A566"/>
          </a:solidFill>
          <a:ln/>
        </p:spPr>
      </p:sp>
      <p:sp>
        <p:nvSpPr>
          <p:cNvPr id="55" name="Text 53"/>
          <p:cNvSpPr txBox="1"/>
          <p:nvPr/>
        </p:nvSpPr>
        <p:spPr>
          <a:xfrm>
            <a:off x="4709160" y="5070079"/>
            <a:ext cx="1271016" cy="230214"/>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+$1,178</a:t>
            </a:r>
            <a:endParaRPr lang="en-US" sz="1300" dirty="0"/>
          </a:p>
        </p:txBody>
      </p:sp>
      <p:sp>
        <p:nvSpPr>
          <p:cNvPr id="56" name="Text 54"/>
          <p:cNvSpPr txBox="1"/>
          <p:nvPr/>
        </p:nvSpPr>
        <p:spPr>
          <a:xfrm>
            <a:off x="658368" y="5300293"/>
            <a:ext cx="2240280" cy="23021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57" name="Shape 55"/>
          <p:cNvSpPr/>
          <p:nvPr/>
        </p:nvSpPr>
        <p:spPr>
          <a:xfrm>
            <a:off x="3813048" y="5362450"/>
            <a:ext cx="218007" cy="105898"/>
          </a:xfrm>
          <a:prstGeom prst="rect">
            <a:avLst/>
          </a:prstGeom>
          <a:solidFill>
            <a:srgbClr val="12A566"/>
          </a:solidFill>
          <a:ln/>
        </p:spPr>
      </p:sp>
      <p:sp>
        <p:nvSpPr>
          <p:cNvPr id="58" name="Text 56"/>
          <p:cNvSpPr txBox="1"/>
          <p:nvPr/>
        </p:nvSpPr>
        <p:spPr>
          <a:xfrm>
            <a:off x="4709160" y="5300293"/>
            <a:ext cx="1271016" cy="230214"/>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+$1,101</a:t>
            </a:r>
            <a:endParaRPr lang="en-US" sz="1300" dirty="0"/>
          </a:p>
        </p:txBody>
      </p:sp>
      <p:sp>
        <p:nvSpPr>
          <p:cNvPr id="59" name="Text 57"/>
          <p:cNvSpPr txBox="1"/>
          <p:nvPr/>
        </p:nvSpPr>
        <p:spPr>
          <a:xfrm>
            <a:off x="658368" y="5530506"/>
            <a:ext cx="2240280" cy="23021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60" name="Shape 58"/>
          <p:cNvSpPr/>
          <p:nvPr/>
        </p:nvSpPr>
        <p:spPr>
          <a:xfrm>
            <a:off x="3813048" y="5592664"/>
            <a:ext cx="213868" cy="105898"/>
          </a:xfrm>
          <a:prstGeom prst="rect">
            <a:avLst/>
          </a:prstGeom>
          <a:solidFill>
            <a:srgbClr val="12A566"/>
          </a:solidFill>
          <a:ln/>
        </p:spPr>
      </p:sp>
      <p:sp>
        <p:nvSpPr>
          <p:cNvPr id="61" name="Text 59"/>
          <p:cNvSpPr txBox="1"/>
          <p:nvPr/>
        </p:nvSpPr>
        <p:spPr>
          <a:xfrm>
            <a:off x="4709160" y="5530506"/>
            <a:ext cx="1271016" cy="230214"/>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+$1,081</a:t>
            </a:r>
            <a:endParaRPr lang="en-US" sz="1300" dirty="0"/>
          </a:p>
        </p:txBody>
      </p:sp>
      <p:sp>
        <p:nvSpPr>
          <p:cNvPr id="62" name="Text 60"/>
          <p:cNvSpPr txBox="1"/>
          <p:nvPr/>
        </p:nvSpPr>
        <p:spPr>
          <a:xfrm>
            <a:off x="6208776" y="1847088"/>
            <a:ext cx="2240280" cy="23021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63" name="Shape 61"/>
          <p:cNvSpPr/>
          <p:nvPr/>
        </p:nvSpPr>
        <p:spPr>
          <a:xfrm>
            <a:off x="9363456" y="1909246"/>
            <a:ext cx="209204" cy="105898"/>
          </a:xfrm>
          <a:prstGeom prst="rect">
            <a:avLst/>
          </a:prstGeom>
          <a:solidFill>
            <a:srgbClr val="12A566"/>
          </a:solidFill>
          <a:ln/>
        </p:spPr>
      </p:sp>
      <p:sp>
        <p:nvSpPr>
          <p:cNvPr id="64" name="Text 62"/>
          <p:cNvSpPr txBox="1"/>
          <p:nvPr/>
        </p:nvSpPr>
        <p:spPr>
          <a:xfrm>
            <a:off x="10259568" y="1847088"/>
            <a:ext cx="1271016" cy="230214"/>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+$1,057</a:t>
            </a:r>
            <a:endParaRPr lang="en-US" sz="1300" dirty="0"/>
          </a:p>
        </p:txBody>
      </p:sp>
      <p:sp>
        <p:nvSpPr>
          <p:cNvPr id="65" name="Text 63"/>
          <p:cNvSpPr txBox="1"/>
          <p:nvPr/>
        </p:nvSpPr>
        <p:spPr>
          <a:xfrm>
            <a:off x="6208776" y="2077302"/>
            <a:ext cx="2240280" cy="23021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66" name="Shape 64"/>
          <p:cNvSpPr/>
          <p:nvPr/>
        </p:nvSpPr>
        <p:spPr>
          <a:xfrm>
            <a:off x="9363456" y="2139459"/>
            <a:ext cx="195292" cy="105898"/>
          </a:xfrm>
          <a:prstGeom prst="rect">
            <a:avLst/>
          </a:prstGeom>
          <a:solidFill>
            <a:srgbClr val="12A566"/>
          </a:solidFill>
          <a:ln/>
        </p:spPr>
      </p:sp>
      <p:sp>
        <p:nvSpPr>
          <p:cNvPr id="67" name="Text 65"/>
          <p:cNvSpPr txBox="1"/>
          <p:nvPr/>
        </p:nvSpPr>
        <p:spPr>
          <a:xfrm>
            <a:off x="10259568" y="2077302"/>
            <a:ext cx="1271016" cy="230214"/>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+$987</a:t>
            </a:r>
            <a:endParaRPr lang="en-US" sz="1300" dirty="0"/>
          </a:p>
        </p:txBody>
      </p:sp>
      <p:sp>
        <p:nvSpPr>
          <p:cNvPr id="68" name="Text 66"/>
          <p:cNvSpPr txBox="1"/>
          <p:nvPr/>
        </p:nvSpPr>
        <p:spPr>
          <a:xfrm>
            <a:off x="6208776" y="2307515"/>
            <a:ext cx="2240280" cy="23021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69" name="Shape 67"/>
          <p:cNvSpPr/>
          <p:nvPr/>
        </p:nvSpPr>
        <p:spPr>
          <a:xfrm>
            <a:off x="9363456" y="2369673"/>
            <a:ext cx="183599" cy="105898"/>
          </a:xfrm>
          <a:prstGeom prst="rect">
            <a:avLst/>
          </a:prstGeom>
          <a:solidFill>
            <a:srgbClr val="12A566"/>
          </a:solidFill>
          <a:ln/>
        </p:spPr>
      </p:sp>
      <p:sp>
        <p:nvSpPr>
          <p:cNvPr id="70" name="Text 68"/>
          <p:cNvSpPr txBox="1"/>
          <p:nvPr/>
        </p:nvSpPr>
        <p:spPr>
          <a:xfrm>
            <a:off x="10259568" y="2307515"/>
            <a:ext cx="1271016" cy="230214"/>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+$928</a:t>
            </a:r>
            <a:endParaRPr lang="en-US" sz="1300" dirty="0"/>
          </a:p>
        </p:txBody>
      </p:sp>
      <p:sp>
        <p:nvSpPr>
          <p:cNvPr id="71" name="Text 69"/>
          <p:cNvSpPr txBox="1"/>
          <p:nvPr/>
        </p:nvSpPr>
        <p:spPr>
          <a:xfrm>
            <a:off x="6208776" y="2537729"/>
            <a:ext cx="2240280" cy="23021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72" name="Shape 70"/>
          <p:cNvSpPr/>
          <p:nvPr/>
        </p:nvSpPr>
        <p:spPr>
          <a:xfrm>
            <a:off x="9363456" y="2599887"/>
            <a:ext cx="183173" cy="105898"/>
          </a:xfrm>
          <a:prstGeom prst="rect">
            <a:avLst/>
          </a:prstGeom>
          <a:solidFill>
            <a:srgbClr val="12A566"/>
          </a:solidFill>
          <a:ln/>
        </p:spPr>
      </p:sp>
      <p:sp>
        <p:nvSpPr>
          <p:cNvPr id="73" name="Text 71"/>
          <p:cNvSpPr txBox="1"/>
          <p:nvPr/>
        </p:nvSpPr>
        <p:spPr>
          <a:xfrm>
            <a:off x="10259568" y="2537729"/>
            <a:ext cx="1271016" cy="230214"/>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+$925</a:t>
            </a:r>
            <a:endParaRPr lang="en-US" sz="1300" dirty="0"/>
          </a:p>
        </p:txBody>
      </p:sp>
      <p:sp>
        <p:nvSpPr>
          <p:cNvPr id="74" name="Text 72"/>
          <p:cNvSpPr txBox="1"/>
          <p:nvPr/>
        </p:nvSpPr>
        <p:spPr>
          <a:xfrm>
            <a:off x="6208776" y="2767943"/>
            <a:ext cx="2240280" cy="23021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75" name="Shape 73"/>
          <p:cNvSpPr/>
          <p:nvPr/>
        </p:nvSpPr>
        <p:spPr>
          <a:xfrm>
            <a:off x="9363456" y="2830100"/>
            <a:ext cx="182316" cy="105898"/>
          </a:xfrm>
          <a:prstGeom prst="rect">
            <a:avLst/>
          </a:prstGeom>
          <a:solidFill>
            <a:srgbClr val="12A566"/>
          </a:solidFill>
          <a:ln/>
        </p:spPr>
      </p:sp>
      <p:sp>
        <p:nvSpPr>
          <p:cNvPr id="76" name="Text 74"/>
          <p:cNvSpPr txBox="1"/>
          <p:nvPr/>
        </p:nvSpPr>
        <p:spPr>
          <a:xfrm>
            <a:off x="10259568" y="2767943"/>
            <a:ext cx="1271016" cy="230214"/>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+$921</a:t>
            </a:r>
            <a:endParaRPr lang="en-US" sz="1300" dirty="0"/>
          </a:p>
        </p:txBody>
      </p:sp>
      <p:sp>
        <p:nvSpPr>
          <p:cNvPr id="77" name="Text 75"/>
          <p:cNvSpPr txBox="1"/>
          <p:nvPr/>
        </p:nvSpPr>
        <p:spPr>
          <a:xfrm>
            <a:off x="6208776" y="2998156"/>
            <a:ext cx="2240280" cy="23021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78" name="Shape 76"/>
          <p:cNvSpPr/>
          <p:nvPr/>
        </p:nvSpPr>
        <p:spPr>
          <a:xfrm>
            <a:off x="9363456" y="3060314"/>
            <a:ext cx="174295" cy="105898"/>
          </a:xfrm>
          <a:prstGeom prst="rect">
            <a:avLst/>
          </a:prstGeom>
          <a:solidFill>
            <a:srgbClr val="12A566"/>
          </a:solidFill>
          <a:ln/>
        </p:spPr>
      </p:sp>
      <p:sp>
        <p:nvSpPr>
          <p:cNvPr id="79" name="Text 77"/>
          <p:cNvSpPr txBox="1"/>
          <p:nvPr/>
        </p:nvSpPr>
        <p:spPr>
          <a:xfrm>
            <a:off x="10259568" y="2998156"/>
            <a:ext cx="1271016" cy="230214"/>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+$881</a:t>
            </a:r>
            <a:endParaRPr lang="en-US" sz="1300" dirty="0"/>
          </a:p>
        </p:txBody>
      </p:sp>
      <p:sp>
        <p:nvSpPr>
          <p:cNvPr id="80" name="Text 78"/>
          <p:cNvSpPr txBox="1"/>
          <p:nvPr/>
        </p:nvSpPr>
        <p:spPr>
          <a:xfrm>
            <a:off x="6208776" y="3228370"/>
            <a:ext cx="2240280" cy="23021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81" name="Shape 79"/>
          <p:cNvSpPr/>
          <p:nvPr/>
        </p:nvSpPr>
        <p:spPr>
          <a:xfrm>
            <a:off x="9363456" y="3290528"/>
            <a:ext cx="144173" cy="105898"/>
          </a:xfrm>
          <a:prstGeom prst="rect">
            <a:avLst/>
          </a:prstGeom>
          <a:solidFill>
            <a:srgbClr val="12A566"/>
          </a:solidFill>
          <a:ln/>
        </p:spPr>
      </p:sp>
      <p:sp>
        <p:nvSpPr>
          <p:cNvPr id="82" name="Text 80"/>
          <p:cNvSpPr txBox="1"/>
          <p:nvPr/>
        </p:nvSpPr>
        <p:spPr>
          <a:xfrm>
            <a:off x="10259568" y="3228370"/>
            <a:ext cx="1271016" cy="230214"/>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+$728</a:t>
            </a:r>
            <a:endParaRPr lang="en-US" sz="1300" dirty="0"/>
          </a:p>
        </p:txBody>
      </p:sp>
      <p:sp>
        <p:nvSpPr>
          <p:cNvPr id="83" name="Text 81"/>
          <p:cNvSpPr txBox="1"/>
          <p:nvPr/>
        </p:nvSpPr>
        <p:spPr>
          <a:xfrm>
            <a:off x="6208776" y="3458584"/>
            <a:ext cx="2240280" cy="23021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84" name="Shape 82"/>
          <p:cNvSpPr/>
          <p:nvPr/>
        </p:nvSpPr>
        <p:spPr>
          <a:xfrm>
            <a:off x="9363456" y="3520741"/>
            <a:ext cx="134048" cy="105898"/>
          </a:xfrm>
          <a:prstGeom prst="rect">
            <a:avLst/>
          </a:prstGeom>
          <a:solidFill>
            <a:srgbClr val="12A566"/>
          </a:solidFill>
          <a:ln/>
        </p:spPr>
      </p:sp>
      <p:sp>
        <p:nvSpPr>
          <p:cNvPr id="85" name="Text 83"/>
          <p:cNvSpPr txBox="1"/>
          <p:nvPr/>
        </p:nvSpPr>
        <p:spPr>
          <a:xfrm>
            <a:off x="10259568" y="3458584"/>
            <a:ext cx="1271016" cy="230214"/>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+$677</a:t>
            </a:r>
            <a:endParaRPr lang="en-US" sz="1300" dirty="0"/>
          </a:p>
        </p:txBody>
      </p:sp>
      <p:sp>
        <p:nvSpPr>
          <p:cNvPr id="86" name="Text 84"/>
          <p:cNvSpPr txBox="1"/>
          <p:nvPr/>
        </p:nvSpPr>
        <p:spPr>
          <a:xfrm>
            <a:off x="6208776" y="3688797"/>
            <a:ext cx="2240280" cy="23021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87" name="Shape 85"/>
          <p:cNvSpPr/>
          <p:nvPr/>
        </p:nvSpPr>
        <p:spPr>
          <a:xfrm>
            <a:off x="9363456" y="3750955"/>
            <a:ext cx="82896" cy="105898"/>
          </a:xfrm>
          <a:prstGeom prst="rect">
            <a:avLst/>
          </a:prstGeom>
          <a:solidFill>
            <a:srgbClr val="12A566"/>
          </a:solidFill>
          <a:ln/>
        </p:spPr>
      </p:sp>
      <p:sp>
        <p:nvSpPr>
          <p:cNvPr id="88" name="Text 86"/>
          <p:cNvSpPr txBox="1"/>
          <p:nvPr/>
        </p:nvSpPr>
        <p:spPr>
          <a:xfrm>
            <a:off x="10259568" y="3688797"/>
            <a:ext cx="1271016" cy="230214"/>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+$419</a:t>
            </a:r>
            <a:endParaRPr lang="en-US" sz="1300" dirty="0"/>
          </a:p>
        </p:txBody>
      </p:sp>
      <p:sp>
        <p:nvSpPr>
          <p:cNvPr id="89" name="Text 87"/>
          <p:cNvSpPr txBox="1"/>
          <p:nvPr/>
        </p:nvSpPr>
        <p:spPr>
          <a:xfrm>
            <a:off x="6208776" y="3919011"/>
            <a:ext cx="2240280" cy="23021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90" name="Shape 88"/>
          <p:cNvSpPr/>
          <p:nvPr/>
        </p:nvSpPr>
        <p:spPr>
          <a:xfrm>
            <a:off x="9363456" y="3981169"/>
            <a:ext cx="36231" cy="105898"/>
          </a:xfrm>
          <a:prstGeom prst="rect">
            <a:avLst/>
          </a:prstGeom>
          <a:solidFill>
            <a:srgbClr val="12A566"/>
          </a:solidFill>
          <a:ln/>
        </p:spPr>
      </p:sp>
      <p:sp>
        <p:nvSpPr>
          <p:cNvPr id="91" name="Text 89"/>
          <p:cNvSpPr txBox="1"/>
          <p:nvPr/>
        </p:nvSpPr>
        <p:spPr>
          <a:xfrm>
            <a:off x="10259568" y="3919011"/>
            <a:ext cx="1271016" cy="230214"/>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+$183</a:t>
            </a:r>
            <a:endParaRPr lang="en-US" sz="1300" dirty="0"/>
          </a:p>
        </p:txBody>
      </p:sp>
      <p:sp>
        <p:nvSpPr>
          <p:cNvPr id="92" name="Text 90"/>
          <p:cNvSpPr txBox="1"/>
          <p:nvPr/>
        </p:nvSpPr>
        <p:spPr>
          <a:xfrm>
            <a:off x="6208776" y="4149224"/>
            <a:ext cx="2240280" cy="23021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93" name="Shape 91"/>
          <p:cNvSpPr/>
          <p:nvPr/>
        </p:nvSpPr>
        <p:spPr>
          <a:xfrm>
            <a:off x="9361199" y="4211382"/>
            <a:ext cx="12802" cy="105898"/>
          </a:xfrm>
          <a:prstGeom prst="rect">
            <a:avLst/>
          </a:prstGeom>
          <a:solidFill>
            <a:srgbClr val="C2352F"/>
          </a:solidFill>
          <a:ln/>
        </p:spPr>
      </p:sp>
      <p:sp>
        <p:nvSpPr>
          <p:cNvPr id="94" name="Text 92"/>
          <p:cNvSpPr txBox="1"/>
          <p:nvPr/>
        </p:nvSpPr>
        <p:spPr>
          <a:xfrm>
            <a:off x="10259568" y="4149224"/>
            <a:ext cx="1271016" cy="230214"/>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−$11</a:t>
            </a:r>
            <a:endParaRPr lang="en-US" sz="1300" dirty="0"/>
          </a:p>
        </p:txBody>
      </p:sp>
      <p:sp>
        <p:nvSpPr>
          <p:cNvPr id="95" name="Text 93"/>
          <p:cNvSpPr txBox="1"/>
          <p:nvPr/>
        </p:nvSpPr>
        <p:spPr>
          <a:xfrm>
            <a:off x="6208776" y="4379438"/>
            <a:ext cx="2240280" cy="23021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96" name="Shape 94"/>
          <p:cNvSpPr/>
          <p:nvPr/>
        </p:nvSpPr>
        <p:spPr>
          <a:xfrm>
            <a:off x="9339416" y="4441596"/>
            <a:ext cx="24040" cy="105898"/>
          </a:xfrm>
          <a:prstGeom prst="rect">
            <a:avLst/>
          </a:prstGeom>
          <a:solidFill>
            <a:srgbClr val="C2352F"/>
          </a:solidFill>
          <a:ln/>
        </p:spPr>
      </p:sp>
      <p:sp>
        <p:nvSpPr>
          <p:cNvPr id="97" name="Text 95"/>
          <p:cNvSpPr txBox="1"/>
          <p:nvPr/>
        </p:nvSpPr>
        <p:spPr>
          <a:xfrm>
            <a:off x="10259568" y="4379438"/>
            <a:ext cx="1271016" cy="230214"/>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−$121</a:t>
            </a:r>
            <a:endParaRPr lang="en-US" sz="1300" dirty="0"/>
          </a:p>
        </p:txBody>
      </p:sp>
      <p:sp>
        <p:nvSpPr>
          <p:cNvPr id="98" name="Text 96"/>
          <p:cNvSpPr txBox="1"/>
          <p:nvPr/>
        </p:nvSpPr>
        <p:spPr>
          <a:xfrm>
            <a:off x="6208776" y="4609652"/>
            <a:ext cx="2240280" cy="23021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99" name="Shape 97"/>
          <p:cNvSpPr/>
          <p:nvPr/>
        </p:nvSpPr>
        <p:spPr>
          <a:xfrm>
            <a:off x="9281579" y="4671809"/>
            <a:ext cx="81877" cy="105898"/>
          </a:xfrm>
          <a:prstGeom prst="rect">
            <a:avLst/>
          </a:prstGeom>
          <a:solidFill>
            <a:srgbClr val="C2352F"/>
          </a:solidFill>
          <a:ln/>
        </p:spPr>
      </p:sp>
      <p:sp>
        <p:nvSpPr>
          <p:cNvPr id="100" name="Text 98"/>
          <p:cNvSpPr txBox="1"/>
          <p:nvPr/>
        </p:nvSpPr>
        <p:spPr>
          <a:xfrm>
            <a:off x="10259568" y="4609652"/>
            <a:ext cx="1271016" cy="230214"/>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−$414</a:t>
            </a:r>
            <a:endParaRPr lang="en-US" sz="1300" dirty="0"/>
          </a:p>
        </p:txBody>
      </p:sp>
      <p:sp>
        <p:nvSpPr>
          <p:cNvPr id="101" name="Text 99"/>
          <p:cNvSpPr txBox="1"/>
          <p:nvPr/>
        </p:nvSpPr>
        <p:spPr>
          <a:xfrm>
            <a:off x="6208776" y="4839865"/>
            <a:ext cx="2240280" cy="23021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102" name="Shape 100"/>
          <p:cNvSpPr/>
          <p:nvPr/>
        </p:nvSpPr>
        <p:spPr>
          <a:xfrm>
            <a:off x="9263503" y="4902023"/>
            <a:ext cx="99953" cy="105898"/>
          </a:xfrm>
          <a:prstGeom prst="rect">
            <a:avLst/>
          </a:prstGeom>
          <a:solidFill>
            <a:srgbClr val="C2352F"/>
          </a:solidFill>
          <a:ln/>
        </p:spPr>
      </p:sp>
      <p:sp>
        <p:nvSpPr>
          <p:cNvPr id="103" name="Text 101"/>
          <p:cNvSpPr txBox="1"/>
          <p:nvPr/>
        </p:nvSpPr>
        <p:spPr>
          <a:xfrm>
            <a:off x="10259568" y="4839865"/>
            <a:ext cx="1271016" cy="230214"/>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−$505</a:t>
            </a:r>
            <a:endParaRPr lang="en-US" sz="1300" dirty="0"/>
          </a:p>
        </p:txBody>
      </p:sp>
      <p:sp>
        <p:nvSpPr>
          <p:cNvPr id="104" name="Text 102"/>
          <p:cNvSpPr txBox="1"/>
          <p:nvPr/>
        </p:nvSpPr>
        <p:spPr>
          <a:xfrm>
            <a:off x="6208776" y="5070079"/>
            <a:ext cx="2240280" cy="23021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05" name="Shape 103"/>
          <p:cNvSpPr/>
          <p:nvPr/>
        </p:nvSpPr>
        <p:spPr>
          <a:xfrm>
            <a:off x="9119966" y="5132237"/>
            <a:ext cx="243490" cy="105898"/>
          </a:xfrm>
          <a:prstGeom prst="rect">
            <a:avLst/>
          </a:prstGeom>
          <a:solidFill>
            <a:srgbClr val="C2352F"/>
          </a:solidFill>
          <a:ln/>
        </p:spPr>
      </p:sp>
      <p:sp>
        <p:nvSpPr>
          <p:cNvPr id="106" name="Text 104"/>
          <p:cNvSpPr txBox="1"/>
          <p:nvPr/>
        </p:nvSpPr>
        <p:spPr>
          <a:xfrm>
            <a:off x="10259568" y="5070079"/>
            <a:ext cx="1271016" cy="230214"/>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−$1,230</a:t>
            </a:r>
            <a:endParaRPr lang="en-US" sz="1300" dirty="0"/>
          </a:p>
        </p:txBody>
      </p:sp>
      <p:sp>
        <p:nvSpPr>
          <p:cNvPr id="107" name="Text 105"/>
          <p:cNvSpPr txBox="1"/>
          <p:nvPr/>
        </p:nvSpPr>
        <p:spPr>
          <a:xfrm>
            <a:off x="6208776" y="5300293"/>
            <a:ext cx="2240280" cy="23021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108" name="Shape 106"/>
          <p:cNvSpPr/>
          <p:nvPr/>
        </p:nvSpPr>
        <p:spPr>
          <a:xfrm>
            <a:off x="9102407" y="5362450"/>
            <a:ext cx="261049" cy="105898"/>
          </a:xfrm>
          <a:prstGeom prst="rect">
            <a:avLst/>
          </a:prstGeom>
          <a:solidFill>
            <a:srgbClr val="C2352F"/>
          </a:solidFill>
          <a:ln/>
        </p:spPr>
      </p:sp>
      <p:sp>
        <p:nvSpPr>
          <p:cNvPr id="109" name="Text 107"/>
          <p:cNvSpPr txBox="1"/>
          <p:nvPr/>
        </p:nvSpPr>
        <p:spPr>
          <a:xfrm>
            <a:off x="10259568" y="5300293"/>
            <a:ext cx="1271016" cy="230214"/>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−$1,319</a:t>
            </a:r>
            <a:endParaRPr lang="en-US" sz="1300" dirty="0"/>
          </a:p>
        </p:txBody>
      </p:sp>
      <p:sp>
        <p:nvSpPr>
          <p:cNvPr id="110" name="Shape 108"/>
          <p:cNvSpPr/>
          <p:nvPr/>
        </p:nvSpPr>
        <p:spPr>
          <a:xfrm>
            <a:off x="3807562" y="1847088"/>
            <a:ext cx="10973" cy="3913632"/>
          </a:xfrm>
          <a:prstGeom prst="rect">
            <a:avLst/>
          </a:prstGeom>
          <a:solidFill>
            <a:srgbClr val="9AA3AD"/>
          </a:solidFill>
          <a:ln/>
        </p:spPr>
      </p:sp>
      <p:sp>
        <p:nvSpPr>
          <p:cNvPr id="111" name="Shape 109"/>
          <p:cNvSpPr/>
          <p:nvPr/>
        </p:nvSpPr>
        <p:spPr>
          <a:xfrm>
            <a:off x="9357970" y="1847088"/>
            <a:ext cx="10973" cy="3913632"/>
          </a:xfrm>
          <a:prstGeom prst="rect">
            <a:avLst/>
          </a:prstGeom>
          <a:solidFill>
            <a:srgbClr val="9AA3AD"/>
          </a:solidFill>
          <a:ln/>
        </p:spPr>
      </p:sp>
      <p:sp>
        <p:nvSpPr>
          <p:cNvPr id="112" name="Shape 110"/>
          <p:cNvSpPr/>
          <p:nvPr/>
        </p:nvSpPr>
        <p:spPr>
          <a:xfrm>
            <a:off x="457200" y="5961888"/>
            <a:ext cx="11274552" cy="548640"/>
          </a:xfrm>
          <a:prstGeom prst="rect">
            <a:avLst/>
          </a:prstGeom>
          <a:solidFill>
            <a:srgbClr val="E6F6EE"/>
          </a:solidFill>
          <a:ln/>
        </p:spPr>
      </p:sp>
      <p:sp>
        <p:nvSpPr>
          <p:cNvPr id="113" name="Text 111"/>
          <p:cNvSpPr txBox="1"/>
          <p:nvPr/>
        </p:nvSpPr>
        <p:spPr>
          <a:xfrm>
            <a:off x="658368" y="5980176"/>
            <a:ext cx="10927080" cy="512064"/>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27 of 33 stores raised gross per employee, led by SUBARU ST GEORGE at +$4,158 to $15,556. 6 declined; VW ST GEORGE fell most at −$1,319.</a:t>
            </a:r>
            <a:endParaRPr lang="en-US" sz="16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Service Advisor</a:t>
            </a:r>
            <a:endParaRPr lang="en-US" sz="2800" dirty="0"/>
          </a:p>
        </p:txBody>
      </p:sp>
      <p:sp>
        <p:nvSpPr>
          <p:cNvPr id="5" name="Shape 3"/>
          <p:cNvSpPr/>
          <p:nvPr/>
        </p:nvSpPr>
        <p:spPr>
          <a:xfrm>
            <a:off x="457200" y="1207008"/>
            <a:ext cx="11274552" cy="1517904"/>
          </a:xfrm>
          <a:prstGeom prst="rect">
            <a:avLst/>
          </a:prstGeom>
          <a:solidFill>
            <a:srgbClr val="FFFFFF"/>
          </a:solidFill>
          <a:ln/>
        </p:spPr>
      </p:sp>
      <p:sp>
        <p:nvSpPr>
          <p:cNvPr id="6" name="Text 4"/>
          <p:cNvSpPr txBox="1"/>
          <p:nvPr/>
        </p:nvSpPr>
        <p:spPr>
          <a:xfrm>
            <a:off x="685800" y="1316736"/>
            <a:ext cx="10789920" cy="274320"/>
          </a:xfrm>
          <a:prstGeom prst="rect">
            <a:avLst/>
          </a:prstGeom>
          <a:noFill/>
          <a:ln/>
        </p:spPr>
        <p:txBody>
          <a:bodyPr wrap="square" lIns="0" tIns="0" rIns="0" bIns="0" rtlCol="0" anchor="ctr"/>
          <a:lstStyle/>
          <a:p>
            <a:pPr indent="0" marL="0">
              <a:buNone/>
            </a:pPr>
            <a:r>
              <a:rPr lang="en-US" sz="1400" spc="100" kern="0" dirty="0">
                <a:solidFill>
                  <a:srgbClr val="595959"/>
                </a:solidFill>
                <a:latin typeface="Inter" pitchFamily="34" charset="0"/>
                <a:ea typeface="Inter" pitchFamily="34" charset="-122"/>
                <a:cs typeface="Inter" pitchFamily="34" charset="-120"/>
              </a:rPr>
              <a:t>GROUP · JANUARY–SEPTEMBER · MONTHLY AVG · SAME-STORE, 33 STORES</a:t>
            </a:r>
            <a:endParaRPr lang="en-US" sz="1400" dirty="0"/>
          </a:p>
        </p:txBody>
      </p:sp>
      <p:sp>
        <p:nvSpPr>
          <p:cNvPr id="7" name="Text 5"/>
          <p:cNvSpPr txBox="1"/>
          <p:nvPr/>
        </p:nvSpPr>
        <p:spPr>
          <a:xfrm>
            <a:off x="685800" y="1627632"/>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a:t>
            </a:r>
            <a:endParaRPr lang="en-US" sz="1400" dirty="0"/>
          </a:p>
        </p:txBody>
      </p:sp>
      <p:sp>
        <p:nvSpPr>
          <p:cNvPr id="8" name="Text 6"/>
          <p:cNvSpPr txBox="1"/>
          <p:nvPr/>
        </p:nvSpPr>
        <p:spPr>
          <a:xfrm>
            <a:off x="685800" y="1865376"/>
            <a:ext cx="2697480" cy="603504"/>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173</a:t>
            </a:r>
            <a:endParaRPr lang="en-US" sz="3000" dirty="0"/>
          </a:p>
        </p:txBody>
      </p:sp>
      <p:sp>
        <p:nvSpPr>
          <p:cNvPr id="9" name="Text 7"/>
          <p:cNvSpPr txBox="1"/>
          <p:nvPr/>
        </p:nvSpPr>
        <p:spPr>
          <a:xfrm>
            <a:off x="3474720" y="1627632"/>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a:t>
            </a:r>
            <a:endParaRPr lang="en-US" sz="1400" dirty="0"/>
          </a:p>
        </p:txBody>
      </p:sp>
      <p:sp>
        <p:nvSpPr>
          <p:cNvPr id="10" name="Text 8"/>
          <p:cNvSpPr txBox="1"/>
          <p:nvPr/>
        </p:nvSpPr>
        <p:spPr>
          <a:xfrm>
            <a:off x="3474720" y="1865376"/>
            <a:ext cx="2697480" cy="603504"/>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166</a:t>
            </a:r>
            <a:endParaRPr lang="en-US" sz="3000" dirty="0"/>
          </a:p>
        </p:txBody>
      </p:sp>
      <p:sp>
        <p:nvSpPr>
          <p:cNvPr id="11" name="Text 9"/>
          <p:cNvSpPr txBox="1"/>
          <p:nvPr/>
        </p:nvSpPr>
        <p:spPr>
          <a:xfrm>
            <a:off x="6263640" y="1627632"/>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2" name="Text 10"/>
          <p:cNvSpPr txBox="1"/>
          <p:nvPr/>
        </p:nvSpPr>
        <p:spPr>
          <a:xfrm>
            <a:off x="6263640" y="1865376"/>
            <a:ext cx="2697480" cy="603504"/>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−7</a:t>
            </a:r>
            <a:endParaRPr lang="en-US" sz="3000" dirty="0"/>
          </a:p>
        </p:txBody>
      </p:sp>
      <p:sp>
        <p:nvSpPr>
          <p:cNvPr id="13" name="Text 11"/>
          <p:cNvSpPr txBox="1"/>
          <p:nvPr/>
        </p:nvSpPr>
        <p:spPr>
          <a:xfrm>
            <a:off x="9052560" y="1627632"/>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4" name="Text 12"/>
          <p:cNvSpPr txBox="1"/>
          <p:nvPr/>
        </p:nvSpPr>
        <p:spPr>
          <a:xfrm>
            <a:off x="9052560" y="1865376"/>
            <a:ext cx="2697480" cy="603504"/>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−3.8%</a:t>
            </a:r>
            <a:endParaRPr lang="en-US" sz="30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457200" y="2816352"/>
          <a:ext cx="11274552" cy="914400"/>
        </p:xfrm>
        <a:graphic>
          <a:graphicData uri="http://schemas.openxmlformats.org/drawingml/2006/table">
            <a:tbl>
              <a:tblPr/>
              <a:tblGrid>
                <a:gridCol w="3118104"/>
                <a:gridCol w="2039112"/>
                <a:gridCol w="2039112"/>
                <a:gridCol w="2039112"/>
                <a:gridCol w="2039112"/>
              </a:tblGrid>
              <a:tr h="274320">
                <a:tc>
                  <a:txBody>
                    <a:bodyPr/>
                    <a:lstStyle/>
                    <a:p>
                      <a:pPr algn="l" indent="0" marL="0">
                        <a:buNone/>
                      </a:pPr>
                      <a:r>
                        <a:rPr lang="en-US" sz="1400" b="1" dirty="0">
                          <a:solidFill>
                            <a:srgbClr val="FFFFFF"/>
                          </a:solidFill>
                          <a:latin typeface="Inter" pitchFamily="34" charset="0"/>
                          <a:ea typeface="Inter" pitchFamily="34" charset="-122"/>
                          <a:cs typeface="Inter" pitchFamily="34" charset="-120"/>
                        </a:rPr>
                        <a:t>MONTH</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5B9BD5"/>
                    </a:solidFill>
                  </a:tcPr>
                </a:tc>
                <a:tc>
                  <a:txBody>
                    <a:bodyPr/>
                    <a:lstStyle/>
                    <a:p>
                      <a:pPr algn="r" indent="0" marL="0">
                        <a:buNone/>
                      </a:pPr>
                      <a:r>
                        <a:rPr lang="en-US" sz="1400" b="1" dirty="0">
                          <a:solidFill>
                            <a:srgbClr val="FFFFFF"/>
                          </a:solidFill>
                          <a:latin typeface="Inter" pitchFamily="34" charset="0"/>
                          <a:ea typeface="Inter" pitchFamily="34" charset="-122"/>
                          <a:cs typeface="Inter" pitchFamily="34" charset="-120"/>
                        </a:rPr>
                        <a:t>2025</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5B9BD5"/>
                    </a:solidFill>
                  </a:tcPr>
                </a:tc>
                <a:tc>
                  <a:txBody>
                    <a:bodyPr/>
                    <a:lstStyle/>
                    <a:p>
                      <a:pPr algn="r" indent="0" marL="0">
                        <a:buNone/>
                      </a:pPr>
                      <a:r>
                        <a:rPr lang="en-US" sz="1400" b="1" dirty="0">
                          <a:solidFill>
                            <a:srgbClr val="FFFFFF"/>
                          </a:solidFill>
                          <a:latin typeface="Inter" pitchFamily="34" charset="0"/>
                          <a:ea typeface="Inter" pitchFamily="34" charset="-122"/>
                          <a:cs typeface="Inter" pitchFamily="34" charset="-120"/>
                        </a:rPr>
                        <a:t>2026</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5B9BD5"/>
                    </a:solidFill>
                  </a:tcPr>
                </a:tc>
                <a:tc>
                  <a:txBody>
                    <a:bodyPr/>
                    <a:lstStyle/>
                    <a:p>
                      <a:pPr algn="r" indent="0" marL="0">
                        <a:buNone/>
                      </a:pPr>
                      <a:r>
                        <a:rPr lang="en-US" sz="1400" b="1" dirty="0">
                          <a:solidFill>
                            <a:srgbClr val="FFFFFF"/>
                          </a:solidFill>
                          <a:latin typeface="Inter" pitchFamily="34" charset="0"/>
                          <a:ea typeface="Inter" pitchFamily="34" charset="-122"/>
                          <a:cs typeface="Inter" pitchFamily="34" charset="-120"/>
                        </a:rPr>
                        <a:t>VARIANCE</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5B9BD5"/>
                    </a:solidFill>
                  </a:tcPr>
                </a:tc>
                <a:tc>
                  <a:txBody>
                    <a:bodyPr/>
                    <a:lstStyle/>
                    <a:p>
                      <a:pPr algn="r" indent="0" marL="0">
                        <a:buNone/>
                      </a:pPr>
                      <a:r>
                        <a:rPr lang="en-US" sz="1400" b="1" dirty="0">
                          <a:solidFill>
                            <a:srgbClr val="FFFFFF"/>
                          </a:solidFill>
                          <a:latin typeface="Inter" pitchFamily="34" charset="0"/>
                          <a:ea typeface="Inter" pitchFamily="34" charset="-122"/>
                          <a:cs typeface="Inter" pitchFamily="34" charset="-120"/>
                        </a:rPr>
                        <a:t>VAR %</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5B9BD5"/>
                    </a:solidFill>
                  </a:tcPr>
                </a:tc>
              </a:tr>
              <a:tr h="274320">
                <a:tc>
                  <a:txBody>
                    <a:bodyPr/>
                    <a:lstStyle/>
                    <a:p>
                      <a:pPr indent="0" marL="0">
                        <a:buNone/>
                      </a:pPr>
                      <a:r>
                        <a:rPr lang="en-US" sz="1400" dirty="0">
                          <a:solidFill>
                            <a:srgbClr val="1A1A1A"/>
                          </a:solidFill>
                          <a:latin typeface="Inter" pitchFamily="34" charset="0"/>
                          <a:ea typeface="Inter" pitchFamily="34" charset="-122"/>
                          <a:cs typeface="Inter" pitchFamily="34" charset="-120"/>
                        </a:rPr>
                        <a:t>JAN</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182</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165</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b="1" dirty="0">
                          <a:solidFill>
                            <a:srgbClr val="A82B26"/>
                          </a:solidFill>
                          <a:latin typeface="Inter" pitchFamily="34" charset="0"/>
                          <a:ea typeface="Inter" pitchFamily="34" charset="-122"/>
                          <a:cs typeface="Inter" pitchFamily="34" charset="-120"/>
                        </a:rPr>
                        <a:t>−17</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b="1" dirty="0">
                          <a:solidFill>
                            <a:srgbClr val="A82B26"/>
                          </a:solidFill>
                          <a:latin typeface="Inter" pitchFamily="34" charset="0"/>
                          <a:ea typeface="Inter" pitchFamily="34" charset="-122"/>
                          <a:cs typeface="Inter" pitchFamily="34" charset="-120"/>
                        </a:rPr>
                        <a:t>−9.2%</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indent="0" marL="0">
                        <a:buNone/>
                      </a:pPr>
                      <a:r>
                        <a:rPr lang="en-US" sz="1400" dirty="0">
                          <a:solidFill>
                            <a:srgbClr val="1A1A1A"/>
                          </a:solidFill>
                          <a:latin typeface="Inter" pitchFamily="34" charset="0"/>
                          <a:ea typeface="Inter" pitchFamily="34" charset="-122"/>
                          <a:cs typeface="Inter" pitchFamily="34" charset="-120"/>
                        </a:rPr>
                        <a:t>FEB</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167</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149</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b="1" dirty="0">
                          <a:solidFill>
                            <a:srgbClr val="A82B26"/>
                          </a:solidFill>
                          <a:latin typeface="Inter" pitchFamily="34" charset="0"/>
                          <a:ea typeface="Inter" pitchFamily="34" charset="-122"/>
                          <a:cs typeface="Inter" pitchFamily="34" charset="-120"/>
                        </a:rPr>
                        <a:t>−19</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b="1" dirty="0">
                          <a:solidFill>
                            <a:srgbClr val="A82B26"/>
                          </a:solidFill>
                          <a:latin typeface="Inter" pitchFamily="34" charset="0"/>
                          <a:ea typeface="Inter" pitchFamily="34" charset="-122"/>
                          <a:cs typeface="Inter" pitchFamily="34" charset="-120"/>
                        </a:rPr>
                        <a:t>−11.3%</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r>
              <a:tr h="274320">
                <a:tc>
                  <a:txBody>
                    <a:bodyPr/>
                    <a:lstStyle/>
                    <a:p>
                      <a:pPr indent="0" marL="0">
                        <a:buNone/>
                      </a:pPr>
                      <a:r>
                        <a:rPr lang="en-US" sz="1400" dirty="0">
                          <a:solidFill>
                            <a:srgbClr val="1A1A1A"/>
                          </a:solidFill>
                          <a:latin typeface="Inter" pitchFamily="34" charset="0"/>
                          <a:ea typeface="Inter" pitchFamily="34" charset="-122"/>
                          <a:cs typeface="Inter" pitchFamily="34" charset="-120"/>
                        </a:rPr>
                        <a:t>MAR</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179</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165</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b="1" dirty="0">
                          <a:solidFill>
                            <a:srgbClr val="A82B26"/>
                          </a:solidFill>
                          <a:latin typeface="Inter" pitchFamily="34" charset="0"/>
                          <a:ea typeface="Inter" pitchFamily="34" charset="-122"/>
                          <a:cs typeface="Inter" pitchFamily="34" charset="-120"/>
                        </a:rPr>
                        <a:t>−13</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b="1" dirty="0">
                          <a:solidFill>
                            <a:srgbClr val="A82B26"/>
                          </a:solidFill>
                          <a:latin typeface="Inter" pitchFamily="34" charset="0"/>
                          <a:ea typeface="Inter" pitchFamily="34" charset="-122"/>
                          <a:cs typeface="Inter" pitchFamily="34" charset="-120"/>
                        </a:rPr>
                        <a:t>−7.5%</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indent="0" marL="0">
                        <a:buNone/>
                      </a:pPr>
                      <a:r>
                        <a:rPr lang="en-US" sz="1400" dirty="0">
                          <a:solidFill>
                            <a:srgbClr val="1A1A1A"/>
                          </a:solidFill>
                          <a:latin typeface="Inter" pitchFamily="34" charset="0"/>
                          <a:ea typeface="Inter" pitchFamily="34" charset="-122"/>
                          <a:cs typeface="Inter" pitchFamily="34" charset="-120"/>
                        </a:rPr>
                        <a:t>APR</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176</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164</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b="1" dirty="0">
                          <a:solidFill>
                            <a:srgbClr val="A82B26"/>
                          </a:solidFill>
                          <a:latin typeface="Inter" pitchFamily="34" charset="0"/>
                          <a:ea typeface="Inter" pitchFamily="34" charset="-122"/>
                          <a:cs typeface="Inter" pitchFamily="34" charset="-120"/>
                        </a:rPr>
                        <a:t>−13</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b="1" dirty="0">
                          <a:solidFill>
                            <a:srgbClr val="A82B26"/>
                          </a:solidFill>
                          <a:latin typeface="Inter" pitchFamily="34" charset="0"/>
                          <a:ea typeface="Inter" pitchFamily="34" charset="-122"/>
                          <a:cs typeface="Inter" pitchFamily="34" charset="-120"/>
                        </a:rPr>
                        <a:t>−7.1%</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r>
              <a:tr h="274320">
                <a:tc>
                  <a:txBody>
                    <a:bodyPr/>
                    <a:lstStyle/>
                    <a:p>
                      <a:pPr indent="0" marL="0">
                        <a:buNone/>
                      </a:pPr>
                      <a:r>
                        <a:rPr lang="en-US" sz="1400" dirty="0">
                          <a:solidFill>
                            <a:srgbClr val="1A1A1A"/>
                          </a:solidFill>
                          <a:latin typeface="Inter" pitchFamily="34" charset="0"/>
                          <a:ea typeface="Inter" pitchFamily="34" charset="-122"/>
                          <a:cs typeface="Inter" pitchFamily="34" charset="-120"/>
                        </a:rPr>
                        <a:t>MAY</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169</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158</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b="1" dirty="0">
                          <a:solidFill>
                            <a:srgbClr val="A82B26"/>
                          </a:solidFill>
                          <a:latin typeface="Inter" pitchFamily="34" charset="0"/>
                          <a:ea typeface="Inter" pitchFamily="34" charset="-122"/>
                          <a:cs typeface="Inter" pitchFamily="34" charset="-120"/>
                        </a:rPr>
                        <a:t>−11</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b="1" dirty="0">
                          <a:solidFill>
                            <a:srgbClr val="A82B26"/>
                          </a:solidFill>
                          <a:latin typeface="Inter" pitchFamily="34" charset="0"/>
                          <a:ea typeface="Inter" pitchFamily="34" charset="-122"/>
                          <a:cs typeface="Inter" pitchFamily="34" charset="-120"/>
                        </a:rPr>
                        <a:t>−6.7%</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indent="0" marL="0">
                        <a:buNone/>
                      </a:pPr>
                      <a:r>
                        <a:rPr lang="en-US" sz="1400" dirty="0">
                          <a:solidFill>
                            <a:srgbClr val="1A1A1A"/>
                          </a:solidFill>
                          <a:latin typeface="Inter" pitchFamily="34" charset="0"/>
                          <a:ea typeface="Inter" pitchFamily="34" charset="-122"/>
                          <a:cs typeface="Inter" pitchFamily="34" charset="-120"/>
                        </a:rPr>
                        <a:t>JUN</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171</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171</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+0</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+0.2%</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r>
              <a:tr h="274320">
                <a:tc>
                  <a:txBody>
                    <a:bodyPr/>
                    <a:lstStyle/>
                    <a:p>
                      <a:pPr indent="0" marL="0">
                        <a:buNone/>
                      </a:pPr>
                      <a:r>
                        <a:rPr lang="en-US" sz="1400" dirty="0">
                          <a:solidFill>
                            <a:srgbClr val="1A1A1A"/>
                          </a:solidFill>
                          <a:latin typeface="Inter" pitchFamily="34" charset="0"/>
                          <a:ea typeface="Inter" pitchFamily="34" charset="-122"/>
                          <a:cs typeface="Inter" pitchFamily="34" charset="-120"/>
                        </a:rPr>
                        <a:t>JUL</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178</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175</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b="1" dirty="0">
                          <a:solidFill>
                            <a:srgbClr val="A82B26"/>
                          </a:solidFill>
                          <a:latin typeface="Inter" pitchFamily="34" charset="0"/>
                          <a:ea typeface="Inter" pitchFamily="34" charset="-122"/>
                          <a:cs typeface="Inter" pitchFamily="34" charset="-120"/>
                        </a:rPr>
                        <a:t>−3</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b="1" dirty="0">
                          <a:solidFill>
                            <a:srgbClr val="A82B26"/>
                          </a:solidFill>
                          <a:latin typeface="Inter" pitchFamily="34" charset="0"/>
                          <a:ea typeface="Inter" pitchFamily="34" charset="-122"/>
                          <a:cs typeface="Inter" pitchFamily="34" charset="-120"/>
                        </a:rPr>
                        <a:t>−1.8%</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indent="0" marL="0">
                        <a:buNone/>
                      </a:pPr>
                      <a:r>
                        <a:rPr lang="en-US" sz="1400" dirty="0">
                          <a:solidFill>
                            <a:srgbClr val="1A1A1A"/>
                          </a:solidFill>
                          <a:latin typeface="Inter" pitchFamily="34" charset="0"/>
                          <a:ea typeface="Inter" pitchFamily="34" charset="-122"/>
                          <a:cs typeface="Inter" pitchFamily="34" charset="-120"/>
                        </a:rPr>
                        <a:t>AUG</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171</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176</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+5</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+3.0%</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r>
              <a:tr h="274320">
                <a:tc>
                  <a:txBody>
                    <a:bodyPr/>
                    <a:lstStyle/>
                    <a:p>
                      <a:pPr indent="0" marL="0">
                        <a:buNone/>
                      </a:pPr>
                      <a:r>
                        <a:rPr lang="en-US" sz="1400" dirty="0">
                          <a:solidFill>
                            <a:srgbClr val="1A1A1A"/>
                          </a:solidFill>
                          <a:latin typeface="Inter" pitchFamily="34" charset="0"/>
                          <a:ea typeface="Inter" pitchFamily="34" charset="-122"/>
                          <a:cs typeface="Inter" pitchFamily="34" charset="-120"/>
                        </a:rPr>
                        <a:t>SEP</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161</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172</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+12</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+7.3%</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16" name="Shape 13"/>
          <p:cNvSpPr/>
          <p:nvPr/>
        </p:nvSpPr>
        <p:spPr>
          <a:xfrm>
            <a:off x="457200" y="5961888"/>
            <a:ext cx="11274552" cy="548640"/>
          </a:xfrm>
          <a:prstGeom prst="rect">
            <a:avLst/>
          </a:prstGeom>
          <a:solidFill>
            <a:srgbClr val="FBEBEA"/>
          </a:solidFill>
          <a:ln/>
        </p:spPr>
      </p:sp>
      <p:sp>
        <p:nvSpPr>
          <p:cNvPr id="17" name="Text 14"/>
          <p:cNvSpPr txBox="1"/>
          <p:nvPr/>
        </p:nvSpPr>
        <p:spPr>
          <a:xfrm>
            <a:off x="658368" y="5980176"/>
            <a:ext cx="10927080" cy="512064"/>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Down 7 to 166, behind 2025 in six of nine months. Advisors grew 1.5%; ROs fell 2.3%.</a:t>
            </a:r>
            <a:endParaRPr lang="en-US" sz="16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Service Advisor</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658368" y="1316736"/>
            <a:ext cx="3383280" cy="32918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LUXURY · 9 STORES</a:t>
            </a:r>
            <a:endParaRPr lang="en-US" sz="1400" dirty="0"/>
          </a:p>
        </p:txBody>
      </p:sp>
      <p:sp>
        <p:nvSpPr>
          <p:cNvPr id="7" name="Text 5"/>
          <p:cNvSpPr txBox="1"/>
          <p:nvPr/>
        </p:nvSpPr>
        <p:spPr>
          <a:xfrm>
            <a:off x="658368" y="1755648"/>
            <a:ext cx="1554480" cy="306676"/>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8" name="Shape 6"/>
          <p:cNvSpPr/>
          <p:nvPr/>
        </p:nvSpPr>
        <p:spPr>
          <a:xfrm>
            <a:off x="2267712" y="1832317"/>
            <a:ext cx="1030941" cy="153338"/>
          </a:xfrm>
          <a:prstGeom prst="rect">
            <a:avLst/>
          </a:prstGeom>
          <a:solidFill>
            <a:srgbClr val="12A566"/>
          </a:solidFill>
          <a:ln/>
        </p:spPr>
      </p:sp>
      <p:sp>
        <p:nvSpPr>
          <p:cNvPr id="9" name="Text 7"/>
          <p:cNvSpPr txBox="1"/>
          <p:nvPr/>
        </p:nvSpPr>
        <p:spPr>
          <a:xfrm>
            <a:off x="3355848" y="1755648"/>
            <a:ext cx="777240" cy="306676"/>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194</a:t>
            </a:r>
            <a:endParaRPr lang="en-US" sz="1300" dirty="0"/>
          </a:p>
        </p:txBody>
      </p:sp>
      <p:sp>
        <p:nvSpPr>
          <p:cNvPr id="10" name="Text 8"/>
          <p:cNvSpPr txBox="1"/>
          <p:nvPr/>
        </p:nvSpPr>
        <p:spPr>
          <a:xfrm>
            <a:off x="658368" y="2062324"/>
            <a:ext cx="1554480" cy="306676"/>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11" name="Shape 9"/>
          <p:cNvSpPr/>
          <p:nvPr/>
        </p:nvSpPr>
        <p:spPr>
          <a:xfrm>
            <a:off x="2267712" y="2138993"/>
            <a:ext cx="1017185" cy="153338"/>
          </a:xfrm>
          <a:prstGeom prst="rect">
            <a:avLst/>
          </a:prstGeom>
          <a:solidFill>
            <a:srgbClr val="12A566"/>
          </a:solidFill>
          <a:ln/>
        </p:spPr>
      </p:sp>
      <p:sp>
        <p:nvSpPr>
          <p:cNvPr id="12" name="Text 10"/>
          <p:cNvSpPr txBox="1"/>
          <p:nvPr/>
        </p:nvSpPr>
        <p:spPr>
          <a:xfrm>
            <a:off x="3355848" y="2062324"/>
            <a:ext cx="777240" cy="306676"/>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192</a:t>
            </a:r>
            <a:endParaRPr lang="en-US" sz="1300" dirty="0"/>
          </a:p>
        </p:txBody>
      </p:sp>
      <p:sp>
        <p:nvSpPr>
          <p:cNvPr id="13" name="Text 11"/>
          <p:cNvSpPr txBox="1"/>
          <p:nvPr/>
        </p:nvSpPr>
        <p:spPr>
          <a:xfrm>
            <a:off x="658368" y="2368999"/>
            <a:ext cx="1554480" cy="306676"/>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14" name="Shape 12"/>
          <p:cNvSpPr/>
          <p:nvPr/>
        </p:nvSpPr>
        <p:spPr>
          <a:xfrm>
            <a:off x="2267712" y="2445668"/>
            <a:ext cx="853681" cy="153338"/>
          </a:xfrm>
          <a:prstGeom prst="rect">
            <a:avLst/>
          </a:prstGeom>
          <a:solidFill>
            <a:srgbClr val="12A566"/>
          </a:solidFill>
          <a:ln/>
        </p:spPr>
      </p:sp>
      <p:sp>
        <p:nvSpPr>
          <p:cNvPr id="15" name="Text 13"/>
          <p:cNvSpPr txBox="1"/>
          <p:nvPr/>
        </p:nvSpPr>
        <p:spPr>
          <a:xfrm>
            <a:off x="3355848" y="2368999"/>
            <a:ext cx="777240" cy="306676"/>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161</a:t>
            </a:r>
            <a:endParaRPr lang="en-US" sz="1300" dirty="0"/>
          </a:p>
        </p:txBody>
      </p:sp>
      <p:sp>
        <p:nvSpPr>
          <p:cNvPr id="16" name="Text 14"/>
          <p:cNvSpPr txBox="1"/>
          <p:nvPr/>
        </p:nvSpPr>
        <p:spPr>
          <a:xfrm>
            <a:off x="658368" y="2675675"/>
            <a:ext cx="1554480" cy="306676"/>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7" name="Shape 15"/>
          <p:cNvSpPr/>
          <p:nvPr/>
        </p:nvSpPr>
        <p:spPr>
          <a:xfrm>
            <a:off x="2267712" y="2752344"/>
            <a:ext cx="706409" cy="153338"/>
          </a:xfrm>
          <a:prstGeom prst="rect">
            <a:avLst/>
          </a:prstGeom>
          <a:solidFill>
            <a:srgbClr val="12A566"/>
          </a:solidFill>
          <a:ln/>
        </p:spPr>
      </p:sp>
      <p:sp>
        <p:nvSpPr>
          <p:cNvPr id="18" name="Text 16"/>
          <p:cNvSpPr txBox="1"/>
          <p:nvPr/>
        </p:nvSpPr>
        <p:spPr>
          <a:xfrm>
            <a:off x="3355848" y="2675675"/>
            <a:ext cx="777240" cy="306676"/>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133</a:t>
            </a:r>
            <a:endParaRPr lang="en-US" sz="1300" dirty="0"/>
          </a:p>
        </p:txBody>
      </p:sp>
      <p:sp>
        <p:nvSpPr>
          <p:cNvPr id="19" name="Text 17"/>
          <p:cNvSpPr txBox="1"/>
          <p:nvPr/>
        </p:nvSpPr>
        <p:spPr>
          <a:xfrm>
            <a:off x="658368" y="2982351"/>
            <a:ext cx="1554480" cy="306676"/>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20" name="Shape 18"/>
          <p:cNvSpPr/>
          <p:nvPr/>
        </p:nvSpPr>
        <p:spPr>
          <a:xfrm>
            <a:off x="2267712" y="3059020"/>
            <a:ext cx="660413" cy="153338"/>
          </a:xfrm>
          <a:prstGeom prst="rect">
            <a:avLst/>
          </a:prstGeom>
          <a:solidFill>
            <a:srgbClr val="12A566"/>
          </a:solidFill>
          <a:ln/>
        </p:spPr>
      </p:sp>
      <p:sp>
        <p:nvSpPr>
          <p:cNvPr id="21" name="Text 19"/>
          <p:cNvSpPr txBox="1"/>
          <p:nvPr/>
        </p:nvSpPr>
        <p:spPr>
          <a:xfrm>
            <a:off x="3355848" y="2982351"/>
            <a:ext cx="777240" cy="306676"/>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124</a:t>
            </a:r>
            <a:endParaRPr lang="en-US" sz="1300" dirty="0"/>
          </a:p>
        </p:txBody>
      </p:sp>
      <p:sp>
        <p:nvSpPr>
          <p:cNvPr id="22" name="Shape 20"/>
          <p:cNvSpPr/>
          <p:nvPr/>
        </p:nvSpPr>
        <p:spPr>
          <a:xfrm>
            <a:off x="603504" y="3289026"/>
            <a:ext cx="3566160" cy="297532"/>
          </a:xfrm>
          <a:prstGeom prst="rect">
            <a:avLst/>
          </a:prstGeom>
          <a:solidFill>
            <a:srgbClr val="EDF4FA"/>
          </a:solidFill>
          <a:ln/>
        </p:spPr>
      </p:sp>
      <p:sp>
        <p:nvSpPr>
          <p:cNvPr id="23" name="Text 21"/>
          <p:cNvSpPr txBox="1"/>
          <p:nvPr/>
        </p:nvSpPr>
        <p:spPr>
          <a:xfrm>
            <a:off x="658368" y="3289026"/>
            <a:ext cx="1554480" cy="306676"/>
          </a:xfrm>
          <a:prstGeom prst="rect">
            <a:avLst/>
          </a:prstGeom>
          <a:noFill/>
          <a:ln/>
        </p:spPr>
        <p:txBody>
          <a:bodyPr wrap="square" lIns="0" tIns="0" rIns="0" bIns="0" rtlCol="0" anchor="ctr"/>
          <a:lstStyle/>
          <a:p>
            <a:pPr indent="0" marL="0">
              <a:buNone/>
            </a:pPr>
            <a:r>
              <a:rPr lang="en-US" sz="1300" b="1" dirty="0">
                <a:solidFill>
                  <a:srgbClr val="0B2C4A"/>
                </a:solidFill>
                <a:latin typeface="Inter" pitchFamily="34" charset="0"/>
                <a:ea typeface="Inter" pitchFamily="34" charset="-122"/>
                <a:cs typeface="Inter" pitchFamily="34" charset="-120"/>
              </a:rPr>
              <a:t>LUXURY</a:t>
            </a:r>
            <a:endParaRPr lang="en-US" sz="1300" dirty="0"/>
          </a:p>
        </p:txBody>
      </p:sp>
      <p:sp>
        <p:nvSpPr>
          <p:cNvPr id="24" name="Shape 22"/>
          <p:cNvSpPr/>
          <p:nvPr/>
        </p:nvSpPr>
        <p:spPr>
          <a:xfrm>
            <a:off x="2267712" y="3365695"/>
            <a:ext cx="650307" cy="153338"/>
          </a:xfrm>
          <a:prstGeom prst="rect">
            <a:avLst/>
          </a:prstGeom>
          <a:solidFill>
            <a:srgbClr val="0B2C4A"/>
          </a:solidFill>
          <a:ln/>
        </p:spPr>
      </p:sp>
      <p:sp>
        <p:nvSpPr>
          <p:cNvPr id="25" name="Text 23"/>
          <p:cNvSpPr txBox="1"/>
          <p:nvPr/>
        </p:nvSpPr>
        <p:spPr>
          <a:xfrm>
            <a:off x="3355848" y="3289026"/>
            <a:ext cx="777240" cy="306676"/>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123</a:t>
            </a:r>
            <a:endParaRPr lang="en-US" sz="1300" dirty="0"/>
          </a:p>
        </p:txBody>
      </p:sp>
      <p:sp>
        <p:nvSpPr>
          <p:cNvPr id="26" name="Text 24"/>
          <p:cNvSpPr txBox="1"/>
          <p:nvPr/>
        </p:nvSpPr>
        <p:spPr>
          <a:xfrm>
            <a:off x="658368" y="3595702"/>
            <a:ext cx="1554480" cy="306676"/>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27" name="Shape 25"/>
          <p:cNvSpPr/>
          <p:nvPr/>
        </p:nvSpPr>
        <p:spPr>
          <a:xfrm>
            <a:off x="2267712" y="3672371"/>
            <a:ext cx="590102" cy="153338"/>
          </a:xfrm>
          <a:prstGeom prst="rect">
            <a:avLst/>
          </a:prstGeom>
          <a:solidFill>
            <a:srgbClr val="C2352F"/>
          </a:solidFill>
          <a:ln/>
        </p:spPr>
      </p:sp>
      <p:sp>
        <p:nvSpPr>
          <p:cNvPr id="28" name="Text 26"/>
          <p:cNvSpPr txBox="1"/>
          <p:nvPr/>
        </p:nvSpPr>
        <p:spPr>
          <a:xfrm>
            <a:off x="3355848" y="3595702"/>
            <a:ext cx="777240" cy="306676"/>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111</a:t>
            </a:r>
            <a:endParaRPr lang="en-US" sz="1300" dirty="0"/>
          </a:p>
        </p:txBody>
      </p:sp>
      <p:sp>
        <p:nvSpPr>
          <p:cNvPr id="29" name="Text 27"/>
          <p:cNvSpPr txBox="1"/>
          <p:nvPr/>
        </p:nvSpPr>
        <p:spPr>
          <a:xfrm>
            <a:off x="658368" y="3902378"/>
            <a:ext cx="1554480" cy="306676"/>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30" name="Shape 28"/>
          <p:cNvSpPr/>
          <p:nvPr/>
        </p:nvSpPr>
        <p:spPr>
          <a:xfrm>
            <a:off x="2267712" y="3979047"/>
            <a:ext cx="473828" cy="153338"/>
          </a:xfrm>
          <a:prstGeom prst="rect">
            <a:avLst/>
          </a:prstGeom>
          <a:solidFill>
            <a:srgbClr val="C2352F"/>
          </a:solidFill>
          <a:ln/>
        </p:spPr>
      </p:sp>
      <p:sp>
        <p:nvSpPr>
          <p:cNvPr id="31" name="Text 29"/>
          <p:cNvSpPr txBox="1"/>
          <p:nvPr/>
        </p:nvSpPr>
        <p:spPr>
          <a:xfrm>
            <a:off x="3355848" y="3902378"/>
            <a:ext cx="777240" cy="306676"/>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89</a:t>
            </a:r>
            <a:endParaRPr lang="en-US" sz="1300" dirty="0"/>
          </a:p>
        </p:txBody>
      </p:sp>
      <p:sp>
        <p:nvSpPr>
          <p:cNvPr id="32" name="Text 30"/>
          <p:cNvSpPr txBox="1"/>
          <p:nvPr/>
        </p:nvSpPr>
        <p:spPr>
          <a:xfrm>
            <a:off x="658368" y="4209054"/>
            <a:ext cx="1554480" cy="306676"/>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33" name="Shape 31"/>
          <p:cNvSpPr/>
          <p:nvPr/>
        </p:nvSpPr>
        <p:spPr>
          <a:xfrm>
            <a:off x="2267712" y="4285722"/>
            <a:ext cx="453135" cy="153338"/>
          </a:xfrm>
          <a:prstGeom prst="rect">
            <a:avLst/>
          </a:prstGeom>
          <a:solidFill>
            <a:srgbClr val="C2352F"/>
          </a:solidFill>
          <a:ln/>
        </p:spPr>
      </p:sp>
      <p:sp>
        <p:nvSpPr>
          <p:cNvPr id="34" name="Text 32"/>
          <p:cNvSpPr txBox="1"/>
          <p:nvPr/>
        </p:nvSpPr>
        <p:spPr>
          <a:xfrm>
            <a:off x="3355848" y="4209054"/>
            <a:ext cx="777240" cy="306676"/>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85</a:t>
            </a:r>
            <a:endParaRPr lang="en-US" sz="1300" dirty="0"/>
          </a:p>
        </p:txBody>
      </p:sp>
      <p:sp>
        <p:nvSpPr>
          <p:cNvPr id="35" name="Text 33"/>
          <p:cNvSpPr txBox="1"/>
          <p:nvPr/>
        </p:nvSpPr>
        <p:spPr>
          <a:xfrm>
            <a:off x="658368" y="4515729"/>
            <a:ext cx="1554480" cy="306676"/>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36" name="Shape 34"/>
          <p:cNvSpPr/>
          <p:nvPr/>
        </p:nvSpPr>
        <p:spPr>
          <a:xfrm>
            <a:off x="2267712" y="4592398"/>
            <a:ext cx="376138" cy="153338"/>
          </a:xfrm>
          <a:prstGeom prst="rect">
            <a:avLst/>
          </a:prstGeom>
          <a:solidFill>
            <a:srgbClr val="C2352F"/>
          </a:solidFill>
          <a:ln/>
        </p:spPr>
      </p:sp>
      <p:sp>
        <p:nvSpPr>
          <p:cNvPr id="37" name="Text 35"/>
          <p:cNvSpPr txBox="1"/>
          <p:nvPr/>
        </p:nvSpPr>
        <p:spPr>
          <a:xfrm>
            <a:off x="3355848" y="4515729"/>
            <a:ext cx="777240" cy="306676"/>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71</a:t>
            </a:r>
            <a:endParaRPr lang="en-US" sz="1300" dirty="0"/>
          </a:p>
        </p:txBody>
      </p:sp>
      <p:sp>
        <p:nvSpPr>
          <p:cNvPr id="38" name="Text 36"/>
          <p:cNvSpPr txBox="1"/>
          <p:nvPr/>
        </p:nvSpPr>
        <p:spPr>
          <a:xfrm>
            <a:off x="658368" y="4950421"/>
            <a:ext cx="3383280" cy="36576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LUXURY AVG  </a:t>
            </a:r>
            <a:pPr indent="0" marL="0">
              <a:buNone/>
            </a:pPr>
            <a:r>
              <a:rPr lang="en-US" sz="1800" b="1" dirty="0">
                <a:solidFill>
                  <a:srgbClr val="0B2C4A"/>
                </a:solidFill>
                <a:latin typeface="Inter" pitchFamily="34" charset="0"/>
                <a:ea typeface="Inter" pitchFamily="34" charset="-122"/>
                <a:cs typeface="Inter" pitchFamily="34" charset="-120"/>
              </a:rPr>
              <a:t>123  </a:t>
            </a:r>
            <a:pPr indent="0" marL="0">
              <a:buNone/>
            </a:pPr>
            <a:r>
              <a:rPr lang="en-US" sz="1400" b="1" dirty="0">
                <a:solidFill>
                  <a:srgbClr val="A82B26"/>
                </a:solidFill>
                <a:latin typeface="Inter" pitchFamily="34" charset="0"/>
                <a:ea typeface="Inter" pitchFamily="34" charset="-122"/>
                <a:cs typeface="Inter" pitchFamily="34" charset="-120"/>
              </a:rPr>
              <a:t>(−9)</a:t>
            </a:r>
            <a:endParaRPr lang="en-US" sz="1400" dirty="0"/>
          </a:p>
        </p:txBody>
      </p:sp>
      <p:sp>
        <p:nvSpPr>
          <p:cNvPr id="39" name="Text 37"/>
          <p:cNvSpPr txBox="1"/>
          <p:nvPr/>
        </p:nvSpPr>
        <p:spPr>
          <a:xfrm>
            <a:off x="658368" y="5334469"/>
            <a:ext cx="3383280" cy="36576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NON-LUXURY AVG  </a:t>
            </a:r>
            <a:pPr indent="0" marL="0">
              <a:buNone/>
            </a:pPr>
            <a:r>
              <a:rPr lang="en-US" sz="1800" b="1" dirty="0">
                <a:solidFill>
                  <a:srgbClr val="0B2C4A"/>
                </a:solidFill>
                <a:latin typeface="Inter" pitchFamily="34" charset="0"/>
                <a:ea typeface="Inter" pitchFamily="34" charset="-122"/>
                <a:cs typeface="Inter" pitchFamily="34" charset="-120"/>
              </a:rPr>
              <a:t>176  </a:t>
            </a:r>
            <a:pPr indent="0" marL="0">
              <a:buNone/>
            </a:pPr>
            <a:r>
              <a:rPr lang="en-US" sz="1400" b="1" dirty="0">
                <a:solidFill>
                  <a:srgbClr val="A82B26"/>
                </a:solidFill>
                <a:latin typeface="Inter" pitchFamily="34" charset="0"/>
                <a:ea typeface="Inter" pitchFamily="34" charset="-122"/>
                <a:cs typeface="Inter" pitchFamily="34" charset="-120"/>
              </a:rPr>
              <a:t>(−5)</a:t>
            </a:r>
            <a:endParaRPr lang="en-US" sz="1400" dirty="0"/>
          </a:p>
        </p:txBody>
      </p:sp>
      <p:sp>
        <p:nvSpPr>
          <p:cNvPr id="40" name="Text 38"/>
          <p:cNvSpPr txBox="1"/>
          <p:nvPr/>
        </p:nvSpPr>
        <p:spPr>
          <a:xfrm>
            <a:off x="4315968" y="1316736"/>
            <a:ext cx="7132320" cy="32918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NON-LUXURY · 24 STORES</a:t>
            </a:r>
            <a:endParaRPr lang="en-US" sz="1400" dirty="0"/>
          </a:p>
        </p:txBody>
      </p:sp>
      <p:sp>
        <p:nvSpPr>
          <p:cNvPr id="41" name="Text 39"/>
          <p:cNvSpPr txBox="1"/>
          <p:nvPr/>
        </p:nvSpPr>
        <p:spPr>
          <a:xfrm>
            <a:off x="4315968" y="1755648"/>
            <a:ext cx="1920240" cy="306676"/>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42" name="Shape 40"/>
          <p:cNvSpPr/>
          <p:nvPr/>
        </p:nvSpPr>
        <p:spPr>
          <a:xfrm>
            <a:off x="6291072" y="1832317"/>
            <a:ext cx="627529" cy="153338"/>
          </a:xfrm>
          <a:prstGeom prst="rect">
            <a:avLst/>
          </a:prstGeom>
          <a:solidFill>
            <a:srgbClr val="12A566"/>
          </a:solidFill>
          <a:ln/>
        </p:spPr>
      </p:sp>
      <p:sp>
        <p:nvSpPr>
          <p:cNvPr id="43" name="Text 41"/>
          <p:cNvSpPr txBox="1"/>
          <p:nvPr/>
        </p:nvSpPr>
        <p:spPr>
          <a:xfrm>
            <a:off x="6967728" y="1755648"/>
            <a:ext cx="786384" cy="306676"/>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253</a:t>
            </a:r>
            <a:endParaRPr lang="en-US" sz="1300" dirty="0"/>
          </a:p>
        </p:txBody>
      </p:sp>
      <p:sp>
        <p:nvSpPr>
          <p:cNvPr id="44" name="Text 42"/>
          <p:cNvSpPr txBox="1"/>
          <p:nvPr/>
        </p:nvSpPr>
        <p:spPr>
          <a:xfrm>
            <a:off x="4315968" y="2062324"/>
            <a:ext cx="1920240" cy="306676"/>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45" name="Shape 43"/>
          <p:cNvSpPr/>
          <p:nvPr/>
        </p:nvSpPr>
        <p:spPr>
          <a:xfrm>
            <a:off x="6291072" y="2138993"/>
            <a:ext cx="604201" cy="153338"/>
          </a:xfrm>
          <a:prstGeom prst="rect">
            <a:avLst/>
          </a:prstGeom>
          <a:solidFill>
            <a:srgbClr val="12A566"/>
          </a:solidFill>
          <a:ln/>
        </p:spPr>
      </p:sp>
      <p:sp>
        <p:nvSpPr>
          <p:cNvPr id="46" name="Text 44"/>
          <p:cNvSpPr txBox="1"/>
          <p:nvPr/>
        </p:nvSpPr>
        <p:spPr>
          <a:xfrm>
            <a:off x="6967728" y="2062324"/>
            <a:ext cx="786384" cy="306676"/>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244</a:t>
            </a:r>
            <a:endParaRPr lang="en-US" sz="1300" dirty="0"/>
          </a:p>
        </p:txBody>
      </p:sp>
      <p:sp>
        <p:nvSpPr>
          <p:cNvPr id="47" name="Text 45"/>
          <p:cNvSpPr txBox="1"/>
          <p:nvPr/>
        </p:nvSpPr>
        <p:spPr>
          <a:xfrm>
            <a:off x="4315968" y="2368999"/>
            <a:ext cx="1920240" cy="306676"/>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48" name="Shape 46"/>
          <p:cNvSpPr/>
          <p:nvPr/>
        </p:nvSpPr>
        <p:spPr>
          <a:xfrm>
            <a:off x="6291072" y="2445668"/>
            <a:ext cx="573402" cy="153338"/>
          </a:xfrm>
          <a:prstGeom prst="rect">
            <a:avLst/>
          </a:prstGeom>
          <a:solidFill>
            <a:srgbClr val="12A566"/>
          </a:solidFill>
          <a:ln/>
        </p:spPr>
      </p:sp>
      <p:sp>
        <p:nvSpPr>
          <p:cNvPr id="49" name="Text 47"/>
          <p:cNvSpPr txBox="1"/>
          <p:nvPr/>
        </p:nvSpPr>
        <p:spPr>
          <a:xfrm>
            <a:off x="6967728" y="2368999"/>
            <a:ext cx="786384" cy="306676"/>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231</a:t>
            </a:r>
            <a:endParaRPr lang="en-US" sz="1300" dirty="0"/>
          </a:p>
        </p:txBody>
      </p:sp>
      <p:sp>
        <p:nvSpPr>
          <p:cNvPr id="50" name="Text 48"/>
          <p:cNvSpPr txBox="1"/>
          <p:nvPr/>
        </p:nvSpPr>
        <p:spPr>
          <a:xfrm>
            <a:off x="4315968" y="2675675"/>
            <a:ext cx="1920240" cy="306676"/>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51" name="Shape 49"/>
          <p:cNvSpPr/>
          <p:nvPr/>
        </p:nvSpPr>
        <p:spPr>
          <a:xfrm>
            <a:off x="6291072" y="2752344"/>
            <a:ext cx="560822" cy="153338"/>
          </a:xfrm>
          <a:prstGeom prst="rect">
            <a:avLst/>
          </a:prstGeom>
          <a:solidFill>
            <a:srgbClr val="12A566"/>
          </a:solidFill>
          <a:ln/>
        </p:spPr>
      </p:sp>
      <p:sp>
        <p:nvSpPr>
          <p:cNvPr id="52" name="Text 50"/>
          <p:cNvSpPr txBox="1"/>
          <p:nvPr/>
        </p:nvSpPr>
        <p:spPr>
          <a:xfrm>
            <a:off x="6967728" y="2675675"/>
            <a:ext cx="786384" cy="306676"/>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226</a:t>
            </a:r>
            <a:endParaRPr lang="en-US" sz="1300" dirty="0"/>
          </a:p>
        </p:txBody>
      </p:sp>
      <p:sp>
        <p:nvSpPr>
          <p:cNvPr id="53" name="Text 51"/>
          <p:cNvSpPr txBox="1"/>
          <p:nvPr/>
        </p:nvSpPr>
        <p:spPr>
          <a:xfrm>
            <a:off x="4315968" y="2982351"/>
            <a:ext cx="1920240" cy="306676"/>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54" name="Shape 52"/>
          <p:cNvSpPr/>
          <p:nvPr/>
        </p:nvSpPr>
        <p:spPr>
          <a:xfrm>
            <a:off x="6291072" y="3059020"/>
            <a:ext cx="560053" cy="153338"/>
          </a:xfrm>
          <a:prstGeom prst="rect">
            <a:avLst/>
          </a:prstGeom>
          <a:solidFill>
            <a:srgbClr val="12A566"/>
          </a:solidFill>
          <a:ln/>
        </p:spPr>
      </p:sp>
      <p:sp>
        <p:nvSpPr>
          <p:cNvPr id="55" name="Text 53"/>
          <p:cNvSpPr txBox="1"/>
          <p:nvPr/>
        </p:nvSpPr>
        <p:spPr>
          <a:xfrm>
            <a:off x="6967728" y="2982351"/>
            <a:ext cx="786384" cy="306676"/>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226</a:t>
            </a:r>
            <a:endParaRPr lang="en-US" sz="1300" dirty="0"/>
          </a:p>
        </p:txBody>
      </p:sp>
      <p:sp>
        <p:nvSpPr>
          <p:cNvPr id="56" name="Text 54"/>
          <p:cNvSpPr txBox="1"/>
          <p:nvPr/>
        </p:nvSpPr>
        <p:spPr>
          <a:xfrm>
            <a:off x="4315968" y="3289026"/>
            <a:ext cx="1920240" cy="306676"/>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57" name="Shape 55"/>
          <p:cNvSpPr/>
          <p:nvPr/>
        </p:nvSpPr>
        <p:spPr>
          <a:xfrm>
            <a:off x="6291072" y="3365695"/>
            <a:ext cx="556802" cy="153338"/>
          </a:xfrm>
          <a:prstGeom prst="rect">
            <a:avLst/>
          </a:prstGeom>
          <a:solidFill>
            <a:srgbClr val="12A566"/>
          </a:solidFill>
          <a:ln/>
        </p:spPr>
      </p:sp>
      <p:sp>
        <p:nvSpPr>
          <p:cNvPr id="58" name="Text 56"/>
          <p:cNvSpPr txBox="1"/>
          <p:nvPr/>
        </p:nvSpPr>
        <p:spPr>
          <a:xfrm>
            <a:off x="6967728" y="3289026"/>
            <a:ext cx="786384" cy="306676"/>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225</a:t>
            </a:r>
            <a:endParaRPr lang="en-US" sz="1300" dirty="0"/>
          </a:p>
        </p:txBody>
      </p:sp>
      <p:sp>
        <p:nvSpPr>
          <p:cNvPr id="59" name="Text 57"/>
          <p:cNvSpPr txBox="1"/>
          <p:nvPr/>
        </p:nvSpPr>
        <p:spPr>
          <a:xfrm>
            <a:off x="4315968" y="3595702"/>
            <a:ext cx="1920240" cy="306676"/>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60" name="Shape 58"/>
          <p:cNvSpPr/>
          <p:nvPr/>
        </p:nvSpPr>
        <p:spPr>
          <a:xfrm>
            <a:off x="6291072" y="3672371"/>
            <a:ext cx="486031" cy="153338"/>
          </a:xfrm>
          <a:prstGeom prst="rect">
            <a:avLst/>
          </a:prstGeom>
          <a:solidFill>
            <a:srgbClr val="12A566"/>
          </a:solidFill>
          <a:ln/>
        </p:spPr>
      </p:sp>
      <p:sp>
        <p:nvSpPr>
          <p:cNvPr id="61" name="Text 59"/>
          <p:cNvSpPr txBox="1"/>
          <p:nvPr/>
        </p:nvSpPr>
        <p:spPr>
          <a:xfrm>
            <a:off x="6967728" y="3595702"/>
            <a:ext cx="786384" cy="306676"/>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196</a:t>
            </a:r>
            <a:endParaRPr lang="en-US" sz="1300" dirty="0"/>
          </a:p>
        </p:txBody>
      </p:sp>
      <p:sp>
        <p:nvSpPr>
          <p:cNvPr id="62" name="Text 60"/>
          <p:cNvSpPr txBox="1"/>
          <p:nvPr/>
        </p:nvSpPr>
        <p:spPr>
          <a:xfrm>
            <a:off x="4315968" y="3902378"/>
            <a:ext cx="1920240" cy="306676"/>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63" name="Shape 61"/>
          <p:cNvSpPr/>
          <p:nvPr/>
        </p:nvSpPr>
        <p:spPr>
          <a:xfrm>
            <a:off x="6291072" y="3979047"/>
            <a:ext cx="473501" cy="153338"/>
          </a:xfrm>
          <a:prstGeom prst="rect">
            <a:avLst/>
          </a:prstGeom>
          <a:solidFill>
            <a:srgbClr val="12A566"/>
          </a:solidFill>
          <a:ln/>
        </p:spPr>
      </p:sp>
      <p:sp>
        <p:nvSpPr>
          <p:cNvPr id="64" name="Text 62"/>
          <p:cNvSpPr txBox="1"/>
          <p:nvPr/>
        </p:nvSpPr>
        <p:spPr>
          <a:xfrm>
            <a:off x="6967728" y="3902378"/>
            <a:ext cx="786384" cy="306676"/>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191</a:t>
            </a:r>
            <a:endParaRPr lang="en-US" sz="1300" dirty="0"/>
          </a:p>
        </p:txBody>
      </p:sp>
      <p:sp>
        <p:nvSpPr>
          <p:cNvPr id="65" name="Text 63"/>
          <p:cNvSpPr txBox="1"/>
          <p:nvPr/>
        </p:nvSpPr>
        <p:spPr>
          <a:xfrm>
            <a:off x="4315968" y="4209054"/>
            <a:ext cx="1920240" cy="306676"/>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66" name="Shape 64"/>
          <p:cNvSpPr/>
          <p:nvPr/>
        </p:nvSpPr>
        <p:spPr>
          <a:xfrm>
            <a:off x="6291072" y="4285722"/>
            <a:ext cx="457393" cy="153338"/>
          </a:xfrm>
          <a:prstGeom prst="rect">
            <a:avLst/>
          </a:prstGeom>
          <a:solidFill>
            <a:srgbClr val="12A566"/>
          </a:solidFill>
          <a:ln/>
        </p:spPr>
      </p:sp>
      <p:sp>
        <p:nvSpPr>
          <p:cNvPr id="67" name="Text 65"/>
          <p:cNvSpPr txBox="1"/>
          <p:nvPr/>
        </p:nvSpPr>
        <p:spPr>
          <a:xfrm>
            <a:off x="6967728" y="4209054"/>
            <a:ext cx="786384" cy="306676"/>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184</a:t>
            </a:r>
            <a:endParaRPr lang="en-US" sz="1300" dirty="0"/>
          </a:p>
        </p:txBody>
      </p:sp>
      <p:sp>
        <p:nvSpPr>
          <p:cNvPr id="68" name="Text 66"/>
          <p:cNvSpPr txBox="1"/>
          <p:nvPr/>
        </p:nvSpPr>
        <p:spPr>
          <a:xfrm>
            <a:off x="4315968" y="4515729"/>
            <a:ext cx="1920240" cy="306676"/>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69" name="Shape 67"/>
          <p:cNvSpPr/>
          <p:nvPr/>
        </p:nvSpPr>
        <p:spPr>
          <a:xfrm>
            <a:off x="6291072" y="4592398"/>
            <a:ext cx="447997" cy="153338"/>
          </a:xfrm>
          <a:prstGeom prst="rect">
            <a:avLst/>
          </a:prstGeom>
          <a:solidFill>
            <a:srgbClr val="12A566"/>
          </a:solidFill>
          <a:ln/>
        </p:spPr>
      </p:sp>
      <p:sp>
        <p:nvSpPr>
          <p:cNvPr id="70" name="Text 68"/>
          <p:cNvSpPr txBox="1"/>
          <p:nvPr/>
        </p:nvSpPr>
        <p:spPr>
          <a:xfrm>
            <a:off x="6967728" y="4515729"/>
            <a:ext cx="786384" cy="306676"/>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181</a:t>
            </a:r>
            <a:endParaRPr lang="en-US" sz="1300" dirty="0"/>
          </a:p>
        </p:txBody>
      </p:sp>
      <p:sp>
        <p:nvSpPr>
          <p:cNvPr id="71" name="Text 69"/>
          <p:cNvSpPr txBox="1"/>
          <p:nvPr/>
        </p:nvSpPr>
        <p:spPr>
          <a:xfrm>
            <a:off x="4315968" y="4822405"/>
            <a:ext cx="1920240" cy="306676"/>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72" name="Shape 70"/>
          <p:cNvSpPr/>
          <p:nvPr/>
        </p:nvSpPr>
        <p:spPr>
          <a:xfrm>
            <a:off x="6291072" y="4899074"/>
            <a:ext cx="446678" cy="153338"/>
          </a:xfrm>
          <a:prstGeom prst="rect">
            <a:avLst/>
          </a:prstGeom>
          <a:solidFill>
            <a:srgbClr val="12A566"/>
          </a:solidFill>
          <a:ln/>
        </p:spPr>
      </p:sp>
      <p:sp>
        <p:nvSpPr>
          <p:cNvPr id="73" name="Text 71"/>
          <p:cNvSpPr txBox="1"/>
          <p:nvPr/>
        </p:nvSpPr>
        <p:spPr>
          <a:xfrm>
            <a:off x="6967728" y="4822405"/>
            <a:ext cx="786384" cy="306676"/>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180</a:t>
            </a:r>
            <a:endParaRPr lang="en-US" sz="1300" dirty="0"/>
          </a:p>
        </p:txBody>
      </p:sp>
      <p:sp>
        <p:nvSpPr>
          <p:cNvPr id="74" name="Text 72"/>
          <p:cNvSpPr txBox="1"/>
          <p:nvPr/>
        </p:nvSpPr>
        <p:spPr>
          <a:xfrm>
            <a:off x="4315968" y="5129081"/>
            <a:ext cx="1920240" cy="306676"/>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75" name="Shape 73"/>
          <p:cNvSpPr/>
          <p:nvPr/>
        </p:nvSpPr>
        <p:spPr>
          <a:xfrm>
            <a:off x="6291072" y="5205750"/>
            <a:ext cx="441364" cy="153338"/>
          </a:xfrm>
          <a:prstGeom prst="rect">
            <a:avLst/>
          </a:prstGeom>
          <a:solidFill>
            <a:srgbClr val="12A566"/>
          </a:solidFill>
          <a:ln/>
        </p:spPr>
      </p:sp>
      <p:sp>
        <p:nvSpPr>
          <p:cNvPr id="76" name="Text 74"/>
          <p:cNvSpPr txBox="1"/>
          <p:nvPr/>
        </p:nvSpPr>
        <p:spPr>
          <a:xfrm>
            <a:off x="6967728" y="5129081"/>
            <a:ext cx="786384" cy="306676"/>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178</a:t>
            </a:r>
            <a:endParaRPr lang="en-US" sz="1300" dirty="0"/>
          </a:p>
        </p:txBody>
      </p:sp>
      <p:sp>
        <p:nvSpPr>
          <p:cNvPr id="77" name="Shape 75"/>
          <p:cNvSpPr/>
          <p:nvPr/>
        </p:nvSpPr>
        <p:spPr>
          <a:xfrm>
            <a:off x="4261104" y="5435756"/>
            <a:ext cx="3529584" cy="297532"/>
          </a:xfrm>
          <a:prstGeom prst="rect">
            <a:avLst/>
          </a:prstGeom>
          <a:solidFill>
            <a:srgbClr val="EDF4FA"/>
          </a:solidFill>
          <a:ln/>
        </p:spPr>
      </p:sp>
      <p:sp>
        <p:nvSpPr>
          <p:cNvPr id="78" name="Text 76"/>
          <p:cNvSpPr txBox="1"/>
          <p:nvPr/>
        </p:nvSpPr>
        <p:spPr>
          <a:xfrm>
            <a:off x="4315968" y="5435756"/>
            <a:ext cx="1920240" cy="306676"/>
          </a:xfrm>
          <a:prstGeom prst="rect">
            <a:avLst/>
          </a:prstGeom>
          <a:noFill/>
          <a:ln/>
        </p:spPr>
        <p:txBody>
          <a:bodyPr wrap="square" lIns="0" tIns="0" rIns="0" bIns="0" rtlCol="0" anchor="ctr"/>
          <a:lstStyle/>
          <a:p>
            <a:pPr indent="0" marL="0">
              <a:buNone/>
            </a:pPr>
            <a:r>
              <a:rPr lang="en-US" sz="1300" b="1" dirty="0">
                <a:solidFill>
                  <a:srgbClr val="0B2C4A"/>
                </a:solidFill>
                <a:latin typeface="Inter" pitchFamily="34" charset="0"/>
                <a:ea typeface="Inter" pitchFamily="34" charset="-122"/>
                <a:cs typeface="Inter" pitchFamily="34" charset="-120"/>
              </a:rPr>
              <a:t>NON-LUXURY</a:t>
            </a:r>
            <a:endParaRPr lang="en-US" sz="1300" dirty="0"/>
          </a:p>
        </p:txBody>
      </p:sp>
      <p:sp>
        <p:nvSpPr>
          <p:cNvPr id="79" name="Shape 77"/>
          <p:cNvSpPr/>
          <p:nvPr/>
        </p:nvSpPr>
        <p:spPr>
          <a:xfrm>
            <a:off x="6291072" y="5512425"/>
            <a:ext cx="436715" cy="153338"/>
          </a:xfrm>
          <a:prstGeom prst="rect">
            <a:avLst/>
          </a:prstGeom>
          <a:solidFill>
            <a:srgbClr val="0B2C4A"/>
          </a:solidFill>
          <a:ln/>
        </p:spPr>
      </p:sp>
      <p:sp>
        <p:nvSpPr>
          <p:cNvPr id="80" name="Text 78"/>
          <p:cNvSpPr txBox="1"/>
          <p:nvPr/>
        </p:nvSpPr>
        <p:spPr>
          <a:xfrm>
            <a:off x="6967728" y="5435756"/>
            <a:ext cx="786384" cy="306676"/>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176</a:t>
            </a:r>
            <a:endParaRPr lang="en-US" sz="1300" dirty="0"/>
          </a:p>
        </p:txBody>
      </p:sp>
      <p:sp>
        <p:nvSpPr>
          <p:cNvPr id="81" name="Text 79"/>
          <p:cNvSpPr txBox="1"/>
          <p:nvPr/>
        </p:nvSpPr>
        <p:spPr>
          <a:xfrm>
            <a:off x="7918704" y="1755648"/>
            <a:ext cx="1920240" cy="306676"/>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82" name="Shape 80"/>
          <p:cNvSpPr/>
          <p:nvPr/>
        </p:nvSpPr>
        <p:spPr>
          <a:xfrm>
            <a:off x="9893808" y="1832317"/>
            <a:ext cx="434988" cy="153338"/>
          </a:xfrm>
          <a:prstGeom prst="rect">
            <a:avLst/>
          </a:prstGeom>
          <a:solidFill>
            <a:srgbClr val="C2352F"/>
          </a:solidFill>
          <a:ln/>
        </p:spPr>
      </p:sp>
      <p:sp>
        <p:nvSpPr>
          <p:cNvPr id="83" name="Text 81"/>
          <p:cNvSpPr txBox="1"/>
          <p:nvPr/>
        </p:nvSpPr>
        <p:spPr>
          <a:xfrm>
            <a:off x="10570464" y="1755648"/>
            <a:ext cx="786384" cy="306676"/>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175</a:t>
            </a:r>
            <a:endParaRPr lang="en-US" sz="1300" dirty="0"/>
          </a:p>
        </p:txBody>
      </p:sp>
      <p:sp>
        <p:nvSpPr>
          <p:cNvPr id="84" name="Text 82"/>
          <p:cNvSpPr txBox="1"/>
          <p:nvPr/>
        </p:nvSpPr>
        <p:spPr>
          <a:xfrm>
            <a:off x="7918704" y="2062324"/>
            <a:ext cx="1920240" cy="306676"/>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85" name="Shape 83"/>
          <p:cNvSpPr/>
          <p:nvPr/>
        </p:nvSpPr>
        <p:spPr>
          <a:xfrm>
            <a:off x="9893808" y="2138993"/>
            <a:ext cx="426487" cy="153338"/>
          </a:xfrm>
          <a:prstGeom prst="rect">
            <a:avLst/>
          </a:prstGeom>
          <a:solidFill>
            <a:srgbClr val="C2352F"/>
          </a:solidFill>
          <a:ln/>
        </p:spPr>
      </p:sp>
      <p:sp>
        <p:nvSpPr>
          <p:cNvPr id="86" name="Text 84"/>
          <p:cNvSpPr txBox="1"/>
          <p:nvPr/>
        </p:nvSpPr>
        <p:spPr>
          <a:xfrm>
            <a:off x="10570464" y="2062324"/>
            <a:ext cx="786384" cy="306676"/>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172</a:t>
            </a:r>
            <a:endParaRPr lang="en-US" sz="1300" dirty="0"/>
          </a:p>
        </p:txBody>
      </p:sp>
      <p:sp>
        <p:nvSpPr>
          <p:cNvPr id="87" name="Text 85"/>
          <p:cNvSpPr txBox="1"/>
          <p:nvPr/>
        </p:nvSpPr>
        <p:spPr>
          <a:xfrm>
            <a:off x="7918704" y="2368999"/>
            <a:ext cx="1920240" cy="306676"/>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88" name="Shape 86"/>
          <p:cNvSpPr/>
          <p:nvPr/>
        </p:nvSpPr>
        <p:spPr>
          <a:xfrm>
            <a:off x="9893808" y="2445668"/>
            <a:ext cx="409834" cy="153338"/>
          </a:xfrm>
          <a:prstGeom prst="rect">
            <a:avLst/>
          </a:prstGeom>
          <a:solidFill>
            <a:srgbClr val="C2352F"/>
          </a:solidFill>
          <a:ln/>
        </p:spPr>
      </p:sp>
      <p:sp>
        <p:nvSpPr>
          <p:cNvPr id="89" name="Text 87"/>
          <p:cNvSpPr txBox="1"/>
          <p:nvPr/>
        </p:nvSpPr>
        <p:spPr>
          <a:xfrm>
            <a:off x="10570464" y="2368999"/>
            <a:ext cx="786384" cy="306676"/>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165</a:t>
            </a:r>
            <a:endParaRPr lang="en-US" sz="1300" dirty="0"/>
          </a:p>
        </p:txBody>
      </p:sp>
      <p:sp>
        <p:nvSpPr>
          <p:cNvPr id="90" name="Text 88"/>
          <p:cNvSpPr txBox="1"/>
          <p:nvPr/>
        </p:nvSpPr>
        <p:spPr>
          <a:xfrm>
            <a:off x="7918704" y="2675675"/>
            <a:ext cx="1920240" cy="306676"/>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91" name="Shape 89"/>
          <p:cNvSpPr/>
          <p:nvPr/>
        </p:nvSpPr>
        <p:spPr>
          <a:xfrm>
            <a:off x="9893808" y="2752344"/>
            <a:ext cx="394046" cy="153338"/>
          </a:xfrm>
          <a:prstGeom prst="rect">
            <a:avLst/>
          </a:prstGeom>
          <a:solidFill>
            <a:srgbClr val="C2352F"/>
          </a:solidFill>
          <a:ln/>
        </p:spPr>
      </p:sp>
      <p:sp>
        <p:nvSpPr>
          <p:cNvPr id="92" name="Text 90"/>
          <p:cNvSpPr txBox="1"/>
          <p:nvPr/>
        </p:nvSpPr>
        <p:spPr>
          <a:xfrm>
            <a:off x="10570464" y="2675675"/>
            <a:ext cx="786384" cy="306676"/>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159</a:t>
            </a:r>
            <a:endParaRPr lang="en-US" sz="1300" dirty="0"/>
          </a:p>
        </p:txBody>
      </p:sp>
      <p:sp>
        <p:nvSpPr>
          <p:cNvPr id="93" name="Text 91"/>
          <p:cNvSpPr txBox="1"/>
          <p:nvPr/>
        </p:nvSpPr>
        <p:spPr>
          <a:xfrm>
            <a:off x="7918704" y="2982351"/>
            <a:ext cx="1920240" cy="306676"/>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94" name="Shape 92"/>
          <p:cNvSpPr/>
          <p:nvPr/>
        </p:nvSpPr>
        <p:spPr>
          <a:xfrm>
            <a:off x="9893808" y="3059020"/>
            <a:ext cx="380753" cy="153338"/>
          </a:xfrm>
          <a:prstGeom prst="rect">
            <a:avLst/>
          </a:prstGeom>
          <a:solidFill>
            <a:srgbClr val="C2352F"/>
          </a:solidFill>
          <a:ln/>
        </p:spPr>
      </p:sp>
      <p:sp>
        <p:nvSpPr>
          <p:cNvPr id="95" name="Text 93"/>
          <p:cNvSpPr txBox="1"/>
          <p:nvPr/>
        </p:nvSpPr>
        <p:spPr>
          <a:xfrm>
            <a:off x="10570464" y="2982351"/>
            <a:ext cx="786384" cy="306676"/>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154</a:t>
            </a:r>
            <a:endParaRPr lang="en-US" sz="1300" dirty="0"/>
          </a:p>
        </p:txBody>
      </p:sp>
      <p:sp>
        <p:nvSpPr>
          <p:cNvPr id="96" name="Text 94"/>
          <p:cNvSpPr txBox="1"/>
          <p:nvPr/>
        </p:nvSpPr>
        <p:spPr>
          <a:xfrm>
            <a:off x="7918704" y="3289026"/>
            <a:ext cx="1920240" cy="306676"/>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97" name="Shape 95"/>
          <p:cNvSpPr/>
          <p:nvPr/>
        </p:nvSpPr>
        <p:spPr>
          <a:xfrm>
            <a:off x="9893808" y="3365695"/>
            <a:ext cx="354368" cy="153338"/>
          </a:xfrm>
          <a:prstGeom prst="rect">
            <a:avLst/>
          </a:prstGeom>
          <a:solidFill>
            <a:srgbClr val="C2352F"/>
          </a:solidFill>
          <a:ln/>
        </p:spPr>
      </p:sp>
      <p:sp>
        <p:nvSpPr>
          <p:cNvPr id="98" name="Text 96"/>
          <p:cNvSpPr txBox="1"/>
          <p:nvPr/>
        </p:nvSpPr>
        <p:spPr>
          <a:xfrm>
            <a:off x="10570464" y="3289026"/>
            <a:ext cx="786384" cy="306676"/>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143</a:t>
            </a:r>
            <a:endParaRPr lang="en-US" sz="1300" dirty="0"/>
          </a:p>
        </p:txBody>
      </p:sp>
      <p:sp>
        <p:nvSpPr>
          <p:cNvPr id="99" name="Text 97"/>
          <p:cNvSpPr txBox="1"/>
          <p:nvPr/>
        </p:nvSpPr>
        <p:spPr>
          <a:xfrm>
            <a:off x="7918704" y="3595702"/>
            <a:ext cx="1920240" cy="306676"/>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100" name="Shape 98"/>
          <p:cNvSpPr/>
          <p:nvPr/>
        </p:nvSpPr>
        <p:spPr>
          <a:xfrm>
            <a:off x="9893808" y="3672371"/>
            <a:ext cx="343647" cy="153338"/>
          </a:xfrm>
          <a:prstGeom prst="rect">
            <a:avLst/>
          </a:prstGeom>
          <a:solidFill>
            <a:srgbClr val="C2352F"/>
          </a:solidFill>
          <a:ln/>
        </p:spPr>
      </p:sp>
      <p:sp>
        <p:nvSpPr>
          <p:cNvPr id="101" name="Text 99"/>
          <p:cNvSpPr txBox="1"/>
          <p:nvPr/>
        </p:nvSpPr>
        <p:spPr>
          <a:xfrm>
            <a:off x="10570464" y="3595702"/>
            <a:ext cx="786384" cy="306676"/>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139</a:t>
            </a:r>
            <a:endParaRPr lang="en-US" sz="1300" dirty="0"/>
          </a:p>
        </p:txBody>
      </p:sp>
      <p:sp>
        <p:nvSpPr>
          <p:cNvPr id="102" name="Text 100"/>
          <p:cNvSpPr txBox="1"/>
          <p:nvPr/>
        </p:nvSpPr>
        <p:spPr>
          <a:xfrm>
            <a:off x="7918704" y="3902378"/>
            <a:ext cx="1920240" cy="306676"/>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103" name="Shape 101"/>
          <p:cNvSpPr/>
          <p:nvPr/>
        </p:nvSpPr>
        <p:spPr>
          <a:xfrm>
            <a:off x="9893808" y="3979047"/>
            <a:ext cx="317068" cy="153338"/>
          </a:xfrm>
          <a:prstGeom prst="rect">
            <a:avLst/>
          </a:prstGeom>
          <a:solidFill>
            <a:srgbClr val="C2352F"/>
          </a:solidFill>
          <a:ln/>
        </p:spPr>
      </p:sp>
      <p:sp>
        <p:nvSpPr>
          <p:cNvPr id="104" name="Text 102"/>
          <p:cNvSpPr txBox="1"/>
          <p:nvPr/>
        </p:nvSpPr>
        <p:spPr>
          <a:xfrm>
            <a:off x="10570464" y="3902378"/>
            <a:ext cx="786384" cy="306676"/>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128</a:t>
            </a:r>
            <a:endParaRPr lang="en-US" sz="1300" dirty="0"/>
          </a:p>
        </p:txBody>
      </p:sp>
      <p:sp>
        <p:nvSpPr>
          <p:cNvPr id="105" name="Text 103"/>
          <p:cNvSpPr txBox="1"/>
          <p:nvPr/>
        </p:nvSpPr>
        <p:spPr>
          <a:xfrm>
            <a:off x="7918704" y="4209054"/>
            <a:ext cx="1920240" cy="306676"/>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106" name="Shape 104"/>
          <p:cNvSpPr/>
          <p:nvPr/>
        </p:nvSpPr>
        <p:spPr>
          <a:xfrm>
            <a:off x="9893808" y="4285722"/>
            <a:ext cx="304634" cy="153338"/>
          </a:xfrm>
          <a:prstGeom prst="rect">
            <a:avLst/>
          </a:prstGeom>
          <a:solidFill>
            <a:srgbClr val="C2352F"/>
          </a:solidFill>
          <a:ln/>
        </p:spPr>
      </p:sp>
      <p:sp>
        <p:nvSpPr>
          <p:cNvPr id="107" name="Text 105"/>
          <p:cNvSpPr txBox="1"/>
          <p:nvPr/>
        </p:nvSpPr>
        <p:spPr>
          <a:xfrm>
            <a:off x="10570464" y="4209054"/>
            <a:ext cx="786384" cy="306676"/>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123</a:t>
            </a:r>
            <a:endParaRPr lang="en-US" sz="1300" dirty="0"/>
          </a:p>
        </p:txBody>
      </p:sp>
      <p:sp>
        <p:nvSpPr>
          <p:cNvPr id="108" name="Text 106"/>
          <p:cNvSpPr txBox="1"/>
          <p:nvPr/>
        </p:nvSpPr>
        <p:spPr>
          <a:xfrm>
            <a:off x="7918704" y="4515729"/>
            <a:ext cx="1920240" cy="306676"/>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109" name="Shape 107"/>
          <p:cNvSpPr/>
          <p:nvPr/>
        </p:nvSpPr>
        <p:spPr>
          <a:xfrm>
            <a:off x="9893808" y="4592398"/>
            <a:ext cx="296380" cy="153338"/>
          </a:xfrm>
          <a:prstGeom prst="rect">
            <a:avLst/>
          </a:prstGeom>
          <a:solidFill>
            <a:srgbClr val="C2352F"/>
          </a:solidFill>
          <a:ln/>
        </p:spPr>
      </p:sp>
      <p:sp>
        <p:nvSpPr>
          <p:cNvPr id="110" name="Text 108"/>
          <p:cNvSpPr txBox="1"/>
          <p:nvPr/>
        </p:nvSpPr>
        <p:spPr>
          <a:xfrm>
            <a:off x="10570464" y="4515729"/>
            <a:ext cx="786384" cy="306676"/>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120</a:t>
            </a:r>
            <a:endParaRPr lang="en-US" sz="1300" dirty="0"/>
          </a:p>
        </p:txBody>
      </p:sp>
      <p:sp>
        <p:nvSpPr>
          <p:cNvPr id="111" name="Text 109"/>
          <p:cNvSpPr txBox="1"/>
          <p:nvPr/>
        </p:nvSpPr>
        <p:spPr>
          <a:xfrm>
            <a:off x="7918704" y="4822405"/>
            <a:ext cx="1920240" cy="306676"/>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12" name="Shape 110"/>
          <p:cNvSpPr/>
          <p:nvPr/>
        </p:nvSpPr>
        <p:spPr>
          <a:xfrm>
            <a:off x="9893808" y="4899074"/>
            <a:ext cx="293723" cy="153338"/>
          </a:xfrm>
          <a:prstGeom prst="rect">
            <a:avLst/>
          </a:prstGeom>
          <a:solidFill>
            <a:srgbClr val="C2352F"/>
          </a:solidFill>
          <a:ln/>
        </p:spPr>
      </p:sp>
      <p:sp>
        <p:nvSpPr>
          <p:cNvPr id="113" name="Text 111"/>
          <p:cNvSpPr txBox="1"/>
          <p:nvPr/>
        </p:nvSpPr>
        <p:spPr>
          <a:xfrm>
            <a:off x="10570464" y="4822405"/>
            <a:ext cx="786384" cy="306676"/>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118</a:t>
            </a:r>
            <a:endParaRPr lang="en-US" sz="1300" dirty="0"/>
          </a:p>
        </p:txBody>
      </p:sp>
      <p:sp>
        <p:nvSpPr>
          <p:cNvPr id="114" name="Text 112"/>
          <p:cNvSpPr txBox="1"/>
          <p:nvPr/>
        </p:nvSpPr>
        <p:spPr>
          <a:xfrm>
            <a:off x="7918704" y="5129081"/>
            <a:ext cx="1920240" cy="306676"/>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115" name="Shape 113"/>
          <p:cNvSpPr/>
          <p:nvPr/>
        </p:nvSpPr>
        <p:spPr>
          <a:xfrm>
            <a:off x="9893808" y="5205750"/>
            <a:ext cx="289048" cy="153338"/>
          </a:xfrm>
          <a:prstGeom prst="rect">
            <a:avLst/>
          </a:prstGeom>
          <a:solidFill>
            <a:srgbClr val="C2352F"/>
          </a:solidFill>
          <a:ln/>
        </p:spPr>
      </p:sp>
      <p:sp>
        <p:nvSpPr>
          <p:cNvPr id="116" name="Text 114"/>
          <p:cNvSpPr txBox="1"/>
          <p:nvPr/>
        </p:nvSpPr>
        <p:spPr>
          <a:xfrm>
            <a:off x="10570464" y="5129081"/>
            <a:ext cx="786384" cy="306676"/>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117</a:t>
            </a:r>
            <a:endParaRPr lang="en-US" sz="1300" dirty="0"/>
          </a:p>
        </p:txBody>
      </p:sp>
      <p:sp>
        <p:nvSpPr>
          <p:cNvPr id="117" name="Shape 115"/>
          <p:cNvSpPr/>
          <p:nvPr/>
        </p:nvSpPr>
        <p:spPr>
          <a:xfrm>
            <a:off x="457200" y="5961888"/>
            <a:ext cx="11274552" cy="548640"/>
          </a:xfrm>
          <a:prstGeom prst="rect">
            <a:avLst/>
          </a:prstGeom>
          <a:solidFill>
            <a:srgbClr val="EDF4FA"/>
          </a:solidFill>
          <a:ln/>
        </p:spPr>
      </p:sp>
      <p:sp>
        <p:nvSpPr>
          <p:cNvPr id="118" name="Text 116"/>
          <p:cNvSpPr txBox="1"/>
          <p:nvPr/>
        </p:nvSpPr>
        <p:spPr>
          <a:xfrm>
            <a:off x="658368" y="5980176"/>
            <a:ext cx="10927080" cy="512064"/>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Against their own segment, 5 of 9 luxury stores beat 123 and 12 of 24 others beat 176. TOYOTA FLAGSTAFF leads non-luxury at 253.</a:t>
            </a:r>
            <a:endParaRPr lang="en-US" sz="16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Service Advisor</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01168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GROUP</a:t>
            </a:r>
            <a:endParaRPr lang="en-US" sz="1500" dirty="0"/>
          </a:p>
        </p:txBody>
      </p:sp>
      <p:sp>
        <p:nvSpPr>
          <p:cNvPr id="9" name="Text 7"/>
          <p:cNvSpPr txBox="1"/>
          <p:nvPr/>
        </p:nvSpPr>
        <p:spPr>
          <a:xfrm>
            <a:off x="2834640" y="1335024"/>
            <a:ext cx="420624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SAME-STORE, 33 STORES</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−7</a:t>
            </a:r>
            <a:endParaRPr lang="en-US" sz="2000" dirty="0"/>
          </a:p>
        </p:txBody>
      </p:sp>
      <p:sp>
        <p:nvSpPr>
          <p:cNvPr id="11" name="Text 9"/>
          <p:cNvSpPr txBox="1"/>
          <p:nvPr/>
        </p:nvSpPr>
        <p:spPr>
          <a:xfrm>
            <a:off x="658368" y="1847088"/>
            <a:ext cx="2240280" cy="23021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2" name="Shape 10"/>
          <p:cNvSpPr/>
          <p:nvPr/>
        </p:nvSpPr>
        <p:spPr>
          <a:xfrm>
            <a:off x="3813048" y="1909246"/>
            <a:ext cx="556138" cy="105898"/>
          </a:xfrm>
          <a:prstGeom prst="rect">
            <a:avLst/>
          </a:prstGeom>
          <a:solidFill>
            <a:srgbClr val="12A566"/>
          </a:solidFill>
          <a:ln/>
        </p:spPr>
      </p:sp>
      <p:sp>
        <p:nvSpPr>
          <p:cNvPr id="13" name="Text 11"/>
          <p:cNvSpPr txBox="1"/>
          <p:nvPr/>
        </p:nvSpPr>
        <p:spPr>
          <a:xfrm>
            <a:off x="4709160" y="1847088"/>
            <a:ext cx="1271016" cy="230214"/>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+40</a:t>
            </a:r>
            <a:endParaRPr lang="en-US" sz="1300" dirty="0"/>
          </a:p>
        </p:txBody>
      </p:sp>
      <p:sp>
        <p:nvSpPr>
          <p:cNvPr id="14" name="Text 12"/>
          <p:cNvSpPr txBox="1"/>
          <p:nvPr/>
        </p:nvSpPr>
        <p:spPr>
          <a:xfrm>
            <a:off x="658368" y="2077302"/>
            <a:ext cx="2240280" cy="23021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5" name="Shape 13"/>
          <p:cNvSpPr/>
          <p:nvPr/>
        </p:nvSpPr>
        <p:spPr>
          <a:xfrm>
            <a:off x="3813048" y="2139459"/>
            <a:ext cx="495025" cy="105898"/>
          </a:xfrm>
          <a:prstGeom prst="rect">
            <a:avLst/>
          </a:prstGeom>
          <a:solidFill>
            <a:srgbClr val="12A566"/>
          </a:solidFill>
          <a:ln/>
        </p:spPr>
      </p:sp>
      <p:sp>
        <p:nvSpPr>
          <p:cNvPr id="16" name="Text 14"/>
          <p:cNvSpPr txBox="1"/>
          <p:nvPr/>
        </p:nvSpPr>
        <p:spPr>
          <a:xfrm>
            <a:off x="4709160" y="2077302"/>
            <a:ext cx="1271016" cy="230214"/>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+35</a:t>
            </a:r>
            <a:endParaRPr lang="en-US" sz="1300" dirty="0"/>
          </a:p>
        </p:txBody>
      </p:sp>
      <p:sp>
        <p:nvSpPr>
          <p:cNvPr id="17" name="Text 15"/>
          <p:cNvSpPr txBox="1"/>
          <p:nvPr/>
        </p:nvSpPr>
        <p:spPr>
          <a:xfrm>
            <a:off x="658368" y="2307515"/>
            <a:ext cx="2240280" cy="23021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18" name="Shape 16"/>
          <p:cNvSpPr/>
          <p:nvPr/>
        </p:nvSpPr>
        <p:spPr>
          <a:xfrm>
            <a:off x="3813048" y="2369673"/>
            <a:ext cx="440067" cy="105898"/>
          </a:xfrm>
          <a:prstGeom prst="rect">
            <a:avLst/>
          </a:prstGeom>
          <a:solidFill>
            <a:srgbClr val="12A566"/>
          </a:solidFill>
          <a:ln/>
        </p:spPr>
      </p:sp>
      <p:sp>
        <p:nvSpPr>
          <p:cNvPr id="19" name="Text 17"/>
          <p:cNvSpPr txBox="1"/>
          <p:nvPr/>
        </p:nvSpPr>
        <p:spPr>
          <a:xfrm>
            <a:off x="4709160" y="2307515"/>
            <a:ext cx="1271016" cy="230214"/>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+31</a:t>
            </a:r>
            <a:endParaRPr lang="en-US" sz="1300" dirty="0"/>
          </a:p>
        </p:txBody>
      </p:sp>
      <p:sp>
        <p:nvSpPr>
          <p:cNvPr id="20" name="Text 18"/>
          <p:cNvSpPr txBox="1"/>
          <p:nvPr/>
        </p:nvSpPr>
        <p:spPr>
          <a:xfrm>
            <a:off x="658368" y="2537729"/>
            <a:ext cx="2240280" cy="23021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21" name="Shape 19"/>
          <p:cNvSpPr/>
          <p:nvPr/>
        </p:nvSpPr>
        <p:spPr>
          <a:xfrm>
            <a:off x="3813048" y="2599887"/>
            <a:ext cx="280794" cy="105898"/>
          </a:xfrm>
          <a:prstGeom prst="rect">
            <a:avLst/>
          </a:prstGeom>
          <a:solidFill>
            <a:srgbClr val="12A566"/>
          </a:solidFill>
          <a:ln/>
        </p:spPr>
      </p:sp>
      <p:sp>
        <p:nvSpPr>
          <p:cNvPr id="22" name="Text 20"/>
          <p:cNvSpPr txBox="1"/>
          <p:nvPr/>
        </p:nvSpPr>
        <p:spPr>
          <a:xfrm>
            <a:off x="4709160" y="2537729"/>
            <a:ext cx="1271016" cy="230214"/>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+20</a:t>
            </a:r>
            <a:endParaRPr lang="en-US" sz="1300" dirty="0"/>
          </a:p>
        </p:txBody>
      </p:sp>
      <p:sp>
        <p:nvSpPr>
          <p:cNvPr id="23" name="Text 21"/>
          <p:cNvSpPr txBox="1"/>
          <p:nvPr/>
        </p:nvSpPr>
        <p:spPr>
          <a:xfrm>
            <a:off x="658368" y="2767943"/>
            <a:ext cx="2240280" cy="23021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24" name="Shape 22"/>
          <p:cNvSpPr/>
          <p:nvPr/>
        </p:nvSpPr>
        <p:spPr>
          <a:xfrm>
            <a:off x="3813048" y="2830100"/>
            <a:ext cx="201757" cy="105898"/>
          </a:xfrm>
          <a:prstGeom prst="rect">
            <a:avLst/>
          </a:prstGeom>
          <a:solidFill>
            <a:srgbClr val="12A566"/>
          </a:solidFill>
          <a:ln/>
        </p:spPr>
      </p:sp>
      <p:sp>
        <p:nvSpPr>
          <p:cNvPr id="25" name="Text 23"/>
          <p:cNvSpPr txBox="1"/>
          <p:nvPr/>
        </p:nvSpPr>
        <p:spPr>
          <a:xfrm>
            <a:off x="4709160" y="2767943"/>
            <a:ext cx="1271016" cy="230214"/>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+14</a:t>
            </a:r>
            <a:endParaRPr lang="en-US" sz="1300" dirty="0"/>
          </a:p>
        </p:txBody>
      </p:sp>
      <p:sp>
        <p:nvSpPr>
          <p:cNvPr id="26" name="Text 24"/>
          <p:cNvSpPr txBox="1"/>
          <p:nvPr/>
        </p:nvSpPr>
        <p:spPr>
          <a:xfrm>
            <a:off x="658368" y="2998156"/>
            <a:ext cx="2240280" cy="23021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27" name="Shape 25"/>
          <p:cNvSpPr/>
          <p:nvPr/>
        </p:nvSpPr>
        <p:spPr>
          <a:xfrm>
            <a:off x="3813048" y="3060314"/>
            <a:ext cx="190091" cy="105898"/>
          </a:xfrm>
          <a:prstGeom prst="rect">
            <a:avLst/>
          </a:prstGeom>
          <a:solidFill>
            <a:srgbClr val="12A566"/>
          </a:solidFill>
          <a:ln/>
        </p:spPr>
      </p:sp>
      <p:sp>
        <p:nvSpPr>
          <p:cNvPr id="28" name="Text 26"/>
          <p:cNvSpPr txBox="1"/>
          <p:nvPr/>
        </p:nvSpPr>
        <p:spPr>
          <a:xfrm>
            <a:off x="4709160" y="2998156"/>
            <a:ext cx="1271016" cy="230214"/>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+14</a:t>
            </a:r>
            <a:endParaRPr lang="en-US" sz="1300" dirty="0"/>
          </a:p>
        </p:txBody>
      </p:sp>
      <p:sp>
        <p:nvSpPr>
          <p:cNvPr id="29" name="Text 27"/>
          <p:cNvSpPr txBox="1"/>
          <p:nvPr/>
        </p:nvSpPr>
        <p:spPr>
          <a:xfrm>
            <a:off x="658368" y="3228370"/>
            <a:ext cx="2240280" cy="23021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30" name="Shape 28"/>
          <p:cNvSpPr/>
          <p:nvPr/>
        </p:nvSpPr>
        <p:spPr>
          <a:xfrm>
            <a:off x="3813048" y="3290528"/>
            <a:ext cx="185192" cy="105898"/>
          </a:xfrm>
          <a:prstGeom prst="rect">
            <a:avLst/>
          </a:prstGeom>
          <a:solidFill>
            <a:srgbClr val="12A566"/>
          </a:solidFill>
          <a:ln/>
        </p:spPr>
      </p:sp>
      <p:sp>
        <p:nvSpPr>
          <p:cNvPr id="31" name="Text 29"/>
          <p:cNvSpPr txBox="1"/>
          <p:nvPr/>
        </p:nvSpPr>
        <p:spPr>
          <a:xfrm>
            <a:off x="4709160" y="3228370"/>
            <a:ext cx="1271016" cy="230214"/>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+13</a:t>
            </a:r>
            <a:endParaRPr lang="en-US" sz="1300" dirty="0"/>
          </a:p>
        </p:txBody>
      </p:sp>
      <p:sp>
        <p:nvSpPr>
          <p:cNvPr id="32" name="Text 30"/>
          <p:cNvSpPr txBox="1"/>
          <p:nvPr/>
        </p:nvSpPr>
        <p:spPr>
          <a:xfrm>
            <a:off x="658368" y="3458584"/>
            <a:ext cx="2240280" cy="23021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33" name="Shape 31"/>
          <p:cNvSpPr/>
          <p:nvPr/>
        </p:nvSpPr>
        <p:spPr>
          <a:xfrm>
            <a:off x="3813048" y="3520741"/>
            <a:ext cx="166426" cy="105898"/>
          </a:xfrm>
          <a:prstGeom prst="rect">
            <a:avLst/>
          </a:prstGeom>
          <a:solidFill>
            <a:srgbClr val="12A566"/>
          </a:solidFill>
          <a:ln/>
        </p:spPr>
      </p:sp>
      <p:sp>
        <p:nvSpPr>
          <p:cNvPr id="34" name="Text 32"/>
          <p:cNvSpPr txBox="1"/>
          <p:nvPr/>
        </p:nvSpPr>
        <p:spPr>
          <a:xfrm>
            <a:off x="4709160" y="3458584"/>
            <a:ext cx="1271016" cy="230214"/>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+12</a:t>
            </a:r>
            <a:endParaRPr lang="en-US" sz="1300" dirty="0"/>
          </a:p>
        </p:txBody>
      </p:sp>
      <p:sp>
        <p:nvSpPr>
          <p:cNvPr id="35" name="Text 33"/>
          <p:cNvSpPr txBox="1"/>
          <p:nvPr/>
        </p:nvSpPr>
        <p:spPr>
          <a:xfrm>
            <a:off x="658368" y="3688797"/>
            <a:ext cx="2240280" cy="23021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36" name="Shape 34"/>
          <p:cNvSpPr/>
          <p:nvPr/>
        </p:nvSpPr>
        <p:spPr>
          <a:xfrm>
            <a:off x="3813048" y="3750955"/>
            <a:ext cx="155434" cy="105898"/>
          </a:xfrm>
          <a:prstGeom prst="rect">
            <a:avLst/>
          </a:prstGeom>
          <a:solidFill>
            <a:srgbClr val="12A566"/>
          </a:solidFill>
          <a:ln/>
        </p:spPr>
      </p:sp>
      <p:sp>
        <p:nvSpPr>
          <p:cNvPr id="37" name="Text 35"/>
          <p:cNvSpPr txBox="1"/>
          <p:nvPr/>
        </p:nvSpPr>
        <p:spPr>
          <a:xfrm>
            <a:off x="4709160" y="3688797"/>
            <a:ext cx="1271016" cy="230214"/>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+11</a:t>
            </a:r>
            <a:endParaRPr lang="en-US" sz="1300" dirty="0"/>
          </a:p>
        </p:txBody>
      </p:sp>
      <p:sp>
        <p:nvSpPr>
          <p:cNvPr id="38" name="Text 36"/>
          <p:cNvSpPr txBox="1"/>
          <p:nvPr/>
        </p:nvSpPr>
        <p:spPr>
          <a:xfrm>
            <a:off x="658368" y="3919011"/>
            <a:ext cx="2240280" cy="23021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39" name="Shape 37"/>
          <p:cNvSpPr/>
          <p:nvPr/>
        </p:nvSpPr>
        <p:spPr>
          <a:xfrm>
            <a:off x="3813048" y="3981169"/>
            <a:ext cx="145024" cy="105898"/>
          </a:xfrm>
          <a:prstGeom prst="rect">
            <a:avLst/>
          </a:prstGeom>
          <a:solidFill>
            <a:srgbClr val="12A566"/>
          </a:solidFill>
          <a:ln/>
        </p:spPr>
      </p:sp>
      <p:sp>
        <p:nvSpPr>
          <p:cNvPr id="40" name="Text 38"/>
          <p:cNvSpPr txBox="1"/>
          <p:nvPr/>
        </p:nvSpPr>
        <p:spPr>
          <a:xfrm>
            <a:off x="4709160" y="3919011"/>
            <a:ext cx="1271016" cy="230214"/>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+10</a:t>
            </a:r>
            <a:endParaRPr lang="en-US" sz="1300" dirty="0"/>
          </a:p>
        </p:txBody>
      </p:sp>
      <p:sp>
        <p:nvSpPr>
          <p:cNvPr id="41" name="Text 39"/>
          <p:cNvSpPr txBox="1"/>
          <p:nvPr/>
        </p:nvSpPr>
        <p:spPr>
          <a:xfrm>
            <a:off x="658368" y="4149224"/>
            <a:ext cx="2240280" cy="23021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42" name="Shape 40"/>
          <p:cNvSpPr/>
          <p:nvPr/>
        </p:nvSpPr>
        <p:spPr>
          <a:xfrm>
            <a:off x="3813048" y="4211382"/>
            <a:ext cx="81507" cy="105898"/>
          </a:xfrm>
          <a:prstGeom prst="rect">
            <a:avLst/>
          </a:prstGeom>
          <a:solidFill>
            <a:srgbClr val="12A566"/>
          </a:solidFill>
          <a:ln/>
        </p:spPr>
      </p:sp>
      <p:sp>
        <p:nvSpPr>
          <p:cNvPr id="43" name="Text 41"/>
          <p:cNvSpPr txBox="1"/>
          <p:nvPr/>
        </p:nvSpPr>
        <p:spPr>
          <a:xfrm>
            <a:off x="4709160" y="4149224"/>
            <a:ext cx="1271016" cy="230214"/>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+6</a:t>
            </a:r>
            <a:endParaRPr lang="en-US" sz="1300" dirty="0"/>
          </a:p>
        </p:txBody>
      </p:sp>
      <p:sp>
        <p:nvSpPr>
          <p:cNvPr id="44" name="Text 42"/>
          <p:cNvSpPr txBox="1"/>
          <p:nvPr/>
        </p:nvSpPr>
        <p:spPr>
          <a:xfrm>
            <a:off x="658368" y="4379438"/>
            <a:ext cx="2240280" cy="23021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45" name="Shape 43"/>
          <p:cNvSpPr/>
          <p:nvPr/>
        </p:nvSpPr>
        <p:spPr>
          <a:xfrm>
            <a:off x="3813048" y="4441596"/>
            <a:ext cx="79478" cy="105898"/>
          </a:xfrm>
          <a:prstGeom prst="rect">
            <a:avLst/>
          </a:prstGeom>
          <a:solidFill>
            <a:srgbClr val="12A566"/>
          </a:solidFill>
          <a:ln/>
        </p:spPr>
      </p:sp>
      <p:sp>
        <p:nvSpPr>
          <p:cNvPr id="46" name="Text 44"/>
          <p:cNvSpPr txBox="1"/>
          <p:nvPr/>
        </p:nvSpPr>
        <p:spPr>
          <a:xfrm>
            <a:off x="4709160" y="4379438"/>
            <a:ext cx="1271016" cy="230214"/>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+6</a:t>
            </a:r>
            <a:endParaRPr lang="en-US" sz="1300" dirty="0"/>
          </a:p>
        </p:txBody>
      </p:sp>
      <p:sp>
        <p:nvSpPr>
          <p:cNvPr id="47" name="Text 45"/>
          <p:cNvSpPr txBox="1"/>
          <p:nvPr/>
        </p:nvSpPr>
        <p:spPr>
          <a:xfrm>
            <a:off x="658368" y="4609652"/>
            <a:ext cx="2240280" cy="23021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48" name="Shape 46"/>
          <p:cNvSpPr/>
          <p:nvPr/>
        </p:nvSpPr>
        <p:spPr>
          <a:xfrm>
            <a:off x="3813048" y="4671809"/>
            <a:ext cx="63868" cy="105898"/>
          </a:xfrm>
          <a:prstGeom prst="rect">
            <a:avLst/>
          </a:prstGeom>
          <a:solidFill>
            <a:srgbClr val="12A566"/>
          </a:solidFill>
          <a:ln/>
        </p:spPr>
      </p:sp>
      <p:sp>
        <p:nvSpPr>
          <p:cNvPr id="49" name="Text 47"/>
          <p:cNvSpPr txBox="1"/>
          <p:nvPr/>
        </p:nvSpPr>
        <p:spPr>
          <a:xfrm>
            <a:off x="4709160" y="4609652"/>
            <a:ext cx="1271016" cy="230214"/>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+5</a:t>
            </a:r>
            <a:endParaRPr lang="en-US" sz="1300" dirty="0"/>
          </a:p>
        </p:txBody>
      </p:sp>
      <p:sp>
        <p:nvSpPr>
          <p:cNvPr id="50" name="Text 48"/>
          <p:cNvSpPr txBox="1"/>
          <p:nvPr/>
        </p:nvSpPr>
        <p:spPr>
          <a:xfrm>
            <a:off x="658368" y="4839865"/>
            <a:ext cx="2240280" cy="23021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51" name="Shape 49"/>
          <p:cNvSpPr/>
          <p:nvPr/>
        </p:nvSpPr>
        <p:spPr>
          <a:xfrm>
            <a:off x="3813048" y="4902023"/>
            <a:ext cx="37671" cy="105898"/>
          </a:xfrm>
          <a:prstGeom prst="rect">
            <a:avLst/>
          </a:prstGeom>
          <a:solidFill>
            <a:srgbClr val="12A566"/>
          </a:solidFill>
          <a:ln/>
        </p:spPr>
      </p:sp>
      <p:sp>
        <p:nvSpPr>
          <p:cNvPr id="52" name="Text 50"/>
          <p:cNvSpPr txBox="1"/>
          <p:nvPr/>
        </p:nvSpPr>
        <p:spPr>
          <a:xfrm>
            <a:off x="4709160" y="4839865"/>
            <a:ext cx="1271016" cy="230214"/>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+3</a:t>
            </a:r>
            <a:endParaRPr lang="en-US" sz="1300" dirty="0"/>
          </a:p>
        </p:txBody>
      </p:sp>
      <p:sp>
        <p:nvSpPr>
          <p:cNvPr id="53" name="Text 51"/>
          <p:cNvSpPr txBox="1"/>
          <p:nvPr/>
        </p:nvSpPr>
        <p:spPr>
          <a:xfrm>
            <a:off x="658368" y="5070079"/>
            <a:ext cx="2240280" cy="23021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54" name="Shape 52"/>
          <p:cNvSpPr/>
          <p:nvPr/>
        </p:nvSpPr>
        <p:spPr>
          <a:xfrm>
            <a:off x="3813048" y="5132237"/>
            <a:ext cx="22696" cy="105898"/>
          </a:xfrm>
          <a:prstGeom prst="rect">
            <a:avLst/>
          </a:prstGeom>
          <a:solidFill>
            <a:srgbClr val="12A566"/>
          </a:solidFill>
          <a:ln/>
        </p:spPr>
      </p:sp>
      <p:sp>
        <p:nvSpPr>
          <p:cNvPr id="55" name="Text 53"/>
          <p:cNvSpPr txBox="1"/>
          <p:nvPr/>
        </p:nvSpPr>
        <p:spPr>
          <a:xfrm>
            <a:off x="4709160" y="5070079"/>
            <a:ext cx="1271016" cy="230214"/>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+2</a:t>
            </a:r>
            <a:endParaRPr lang="en-US" sz="1300" dirty="0"/>
          </a:p>
        </p:txBody>
      </p:sp>
      <p:sp>
        <p:nvSpPr>
          <p:cNvPr id="56" name="Text 54"/>
          <p:cNvSpPr txBox="1"/>
          <p:nvPr/>
        </p:nvSpPr>
        <p:spPr>
          <a:xfrm>
            <a:off x="658368" y="5300293"/>
            <a:ext cx="2240280" cy="23021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57" name="Shape 55"/>
          <p:cNvSpPr/>
          <p:nvPr/>
        </p:nvSpPr>
        <p:spPr>
          <a:xfrm>
            <a:off x="3813048" y="5362450"/>
            <a:ext cx="12802" cy="105898"/>
          </a:xfrm>
          <a:prstGeom prst="rect">
            <a:avLst/>
          </a:prstGeom>
          <a:solidFill>
            <a:srgbClr val="12A566"/>
          </a:solidFill>
          <a:ln/>
        </p:spPr>
      </p:sp>
      <p:sp>
        <p:nvSpPr>
          <p:cNvPr id="58" name="Text 56"/>
          <p:cNvSpPr txBox="1"/>
          <p:nvPr/>
        </p:nvSpPr>
        <p:spPr>
          <a:xfrm>
            <a:off x="4709160" y="5300293"/>
            <a:ext cx="1271016" cy="230214"/>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+1</a:t>
            </a:r>
            <a:endParaRPr lang="en-US" sz="1300" dirty="0"/>
          </a:p>
        </p:txBody>
      </p:sp>
      <p:sp>
        <p:nvSpPr>
          <p:cNvPr id="59" name="Text 57"/>
          <p:cNvSpPr txBox="1"/>
          <p:nvPr/>
        </p:nvSpPr>
        <p:spPr>
          <a:xfrm>
            <a:off x="658368" y="5530506"/>
            <a:ext cx="2240280" cy="23021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60" name="Shape 58"/>
          <p:cNvSpPr/>
          <p:nvPr/>
        </p:nvSpPr>
        <p:spPr>
          <a:xfrm>
            <a:off x="3813048" y="5592664"/>
            <a:ext cx="12802" cy="105898"/>
          </a:xfrm>
          <a:prstGeom prst="rect">
            <a:avLst/>
          </a:prstGeom>
          <a:solidFill>
            <a:srgbClr val="12A566"/>
          </a:solidFill>
          <a:ln/>
        </p:spPr>
      </p:sp>
      <p:sp>
        <p:nvSpPr>
          <p:cNvPr id="61" name="Text 59"/>
          <p:cNvSpPr txBox="1"/>
          <p:nvPr/>
        </p:nvSpPr>
        <p:spPr>
          <a:xfrm>
            <a:off x="4709160" y="5530506"/>
            <a:ext cx="1271016" cy="230214"/>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+0</a:t>
            </a:r>
            <a:endParaRPr lang="en-US" sz="1300" dirty="0"/>
          </a:p>
        </p:txBody>
      </p:sp>
      <p:sp>
        <p:nvSpPr>
          <p:cNvPr id="62" name="Text 60"/>
          <p:cNvSpPr txBox="1"/>
          <p:nvPr/>
        </p:nvSpPr>
        <p:spPr>
          <a:xfrm>
            <a:off x="6208776" y="1847088"/>
            <a:ext cx="2240280" cy="23021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63" name="Shape 61"/>
          <p:cNvSpPr/>
          <p:nvPr/>
        </p:nvSpPr>
        <p:spPr>
          <a:xfrm>
            <a:off x="9332602" y="1909246"/>
            <a:ext cx="30854" cy="105898"/>
          </a:xfrm>
          <a:prstGeom prst="rect">
            <a:avLst/>
          </a:prstGeom>
          <a:solidFill>
            <a:srgbClr val="C2352F"/>
          </a:solidFill>
          <a:ln/>
        </p:spPr>
      </p:sp>
      <p:sp>
        <p:nvSpPr>
          <p:cNvPr id="64" name="Text 62"/>
          <p:cNvSpPr txBox="1"/>
          <p:nvPr/>
        </p:nvSpPr>
        <p:spPr>
          <a:xfrm>
            <a:off x="10259568" y="1847088"/>
            <a:ext cx="1271016" cy="230214"/>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−2</a:t>
            </a:r>
            <a:endParaRPr lang="en-US" sz="1300" dirty="0"/>
          </a:p>
        </p:txBody>
      </p:sp>
      <p:sp>
        <p:nvSpPr>
          <p:cNvPr id="65" name="Text 63"/>
          <p:cNvSpPr txBox="1"/>
          <p:nvPr/>
        </p:nvSpPr>
        <p:spPr>
          <a:xfrm>
            <a:off x="6208776" y="2077302"/>
            <a:ext cx="2240280" cy="23021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66" name="Shape 64"/>
          <p:cNvSpPr/>
          <p:nvPr/>
        </p:nvSpPr>
        <p:spPr>
          <a:xfrm>
            <a:off x="9237118" y="2139459"/>
            <a:ext cx="126338" cy="105898"/>
          </a:xfrm>
          <a:prstGeom prst="rect">
            <a:avLst/>
          </a:prstGeom>
          <a:solidFill>
            <a:srgbClr val="C2352F"/>
          </a:solidFill>
          <a:ln/>
        </p:spPr>
      </p:sp>
      <p:sp>
        <p:nvSpPr>
          <p:cNvPr id="67" name="Text 65"/>
          <p:cNvSpPr txBox="1"/>
          <p:nvPr/>
        </p:nvSpPr>
        <p:spPr>
          <a:xfrm>
            <a:off x="10259568" y="2077302"/>
            <a:ext cx="1271016" cy="230214"/>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−9</a:t>
            </a:r>
            <a:endParaRPr lang="en-US" sz="1300" dirty="0"/>
          </a:p>
        </p:txBody>
      </p:sp>
      <p:sp>
        <p:nvSpPr>
          <p:cNvPr id="68" name="Text 66"/>
          <p:cNvSpPr txBox="1"/>
          <p:nvPr/>
        </p:nvSpPr>
        <p:spPr>
          <a:xfrm>
            <a:off x="6208776" y="2307515"/>
            <a:ext cx="2240280" cy="23021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69" name="Shape 67"/>
          <p:cNvSpPr/>
          <p:nvPr/>
        </p:nvSpPr>
        <p:spPr>
          <a:xfrm>
            <a:off x="9172532" y="2369673"/>
            <a:ext cx="190924" cy="105898"/>
          </a:xfrm>
          <a:prstGeom prst="rect">
            <a:avLst/>
          </a:prstGeom>
          <a:solidFill>
            <a:srgbClr val="C2352F"/>
          </a:solidFill>
          <a:ln/>
        </p:spPr>
      </p:sp>
      <p:sp>
        <p:nvSpPr>
          <p:cNvPr id="70" name="Text 68"/>
          <p:cNvSpPr txBox="1"/>
          <p:nvPr/>
        </p:nvSpPr>
        <p:spPr>
          <a:xfrm>
            <a:off x="10259568" y="2307515"/>
            <a:ext cx="1271016" cy="230214"/>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−14</a:t>
            </a:r>
            <a:endParaRPr lang="en-US" sz="1300" dirty="0"/>
          </a:p>
        </p:txBody>
      </p:sp>
      <p:sp>
        <p:nvSpPr>
          <p:cNvPr id="71" name="Text 69"/>
          <p:cNvSpPr txBox="1"/>
          <p:nvPr/>
        </p:nvSpPr>
        <p:spPr>
          <a:xfrm>
            <a:off x="6208776" y="2537729"/>
            <a:ext cx="2240280" cy="23021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72" name="Shape 70"/>
          <p:cNvSpPr/>
          <p:nvPr/>
        </p:nvSpPr>
        <p:spPr>
          <a:xfrm>
            <a:off x="9161089" y="2599887"/>
            <a:ext cx="202367" cy="105898"/>
          </a:xfrm>
          <a:prstGeom prst="rect">
            <a:avLst/>
          </a:prstGeom>
          <a:solidFill>
            <a:srgbClr val="C2352F"/>
          </a:solidFill>
          <a:ln/>
        </p:spPr>
      </p:sp>
      <p:sp>
        <p:nvSpPr>
          <p:cNvPr id="73" name="Text 71"/>
          <p:cNvSpPr txBox="1"/>
          <p:nvPr/>
        </p:nvSpPr>
        <p:spPr>
          <a:xfrm>
            <a:off x="10259568" y="2537729"/>
            <a:ext cx="1271016" cy="230214"/>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−14</a:t>
            </a:r>
            <a:endParaRPr lang="en-US" sz="1300" dirty="0"/>
          </a:p>
        </p:txBody>
      </p:sp>
      <p:sp>
        <p:nvSpPr>
          <p:cNvPr id="74" name="Text 72"/>
          <p:cNvSpPr txBox="1"/>
          <p:nvPr/>
        </p:nvSpPr>
        <p:spPr>
          <a:xfrm>
            <a:off x="6208776" y="2767943"/>
            <a:ext cx="2240280" cy="23021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75" name="Shape 73"/>
          <p:cNvSpPr/>
          <p:nvPr/>
        </p:nvSpPr>
        <p:spPr>
          <a:xfrm>
            <a:off x="9127704" y="2830100"/>
            <a:ext cx="235752" cy="105898"/>
          </a:xfrm>
          <a:prstGeom prst="rect">
            <a:avLst/>
          </a:prstGeom>
          <a:solidFill>
            <a:srgbClr val="C2352F"/>
          </a:solidFill>
          <a:ln/>
        </p:spPr>
      </p:sp>
      <p:sp>
        <p:nvSpPr>
          <p:cNvPr id="76" name="Text 74"/>
          <p:cNvSpPr txBox="1"/>
          <p:nvPr/>
        </p:nvSpPr>
        <p:spPr>
          <a:xfrm>
            <a:off x="10259568" y="2767943"/>
            <a:ext cx="1271016" cy="230214"/>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−17</a:t>
            </a:r>
            <a:endParaRPr lang="en-US" sz="1300" dirty="0"/>
          </a:p>
        </p:txBody>
      </p:sp>
      <p:sp>
        <p:nvSpPr>
          <p:cNvPr id="77" name="Text 75"/>
          <p:cNvSpPr txBox="1"/>
          <p:nvPr/>
        </p:nvSpPr>
        <p:spPr>
          <a:xfrm>
            <a:off x="6208776" y="2998156"/>
            <a:ext cx="2240280" cy="23021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78" name="Shape 76"/>
          <p:cNvSpPr/>
          <p:nvPr/>
        </p:nvSpPr>
        <p:spPr>
          <a:xfrm>
            <a:off x="9081043" y="3060314"/>
            <a:ext cx="282413" cy="105898"/>
          </a:xfrm>
          <a:prstGeom prst="rect">
            <a:avLst/>
          </a:prstGeom>
          <a:solidFill>
            <a:srgbClr val="C2352F"/>
          </a:solidFill>
          <a:ln/>
        </p:spPr>
      </p:sp>
      <p:sp>
        <p:nvSpPr>
          <p:cNvPr id="79" name="Text 77"/>
          <p:cNvSpPr txBox="1"/>
          <p:nvPr/>
        </p:nvSpPr>
        <p:spPr>
          <a:xfrm>
            <a:off x="10259568" y="2998156"/>
            <a:ext cx="1271016" cy="230214"/>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−20</a:t>
            </a:r>
            <a:endParaRPr lang="en-US" sz="1300" dirty="0"/>
          </a:p>
        </p:txBody>
      </p:sp>
      <p:sp>
        <p:nvSpPr>
          <p:cNvPr id="80" name="Text 78"/>
          <p:cNvSpPr txBox="1"/>
          <p:nvPr/>
        </p:nvSpPr>
        <p:spPr>
          <a:xfrm>
            <a:off x="6208776" y="3228370"/>
            <a:ext cx="2240280" cy="23021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81" name="Shape 79"/>
          <p:cNvSpPr/>
          <p:nvPr/>
        </p:nvSpPr>
        <p:spPr>
          <a:xfrm>
            <a:off x="9061678" y="3290528"/>
            <a:ext cx="301778" cy="105898"/>
          </a:xfrm>
          <a:prstGeom prst="rect">
            <a:avLst/>
          </a:prstGeom>
          <a:solidFill>
            <a:srgbClr val="C2352F"/>
          </a:solidFill>
          <a:ln/>
        </p:spPr>
      </p:sp>
      <p:sp>
        <p:nvSpPr>
          <p:cNvPr id="82" name="Text 80"/>
          <p:cNvSpPr txBox="1"/>
          <p:nvPr/>
        </p:nvSpPr>
        <p:spPr>
          <a:xfrm>
            <a:off x="10259568" y="3228370"/>
            <a:ext cx="1271016" cy="230214"/>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−22</a:t>
            </a:r>
            <a:endParaRPr lang="en-US" sz="1300" dirty="0"/>
          </a:p>
        </p:txBody>
      </p:sp>
      <p:sp>
        <p:nvSpPr>
          <p:cNvPr id="83" name="Text 81"/>
          <p:cNvSpPr txBox="1"/>
          <p:nvPr/>
        </p:nvSpPr>
        <p:spPr>
          <a:xfrm>
            <a:off x="6208776" y="3458584"/>
            <a:ext cx="2240280" cy="23021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84" name="Shape 82"/>
          <p:cNvSpPr/>
          <p:nvPr/>
        </p:nvSpPr>
        <p:spPr>
          <a:xfrm>
            <a:off x="8969157" y="3520741"/>
            <a:ext cx="394299" cy="105898"/>
          </a:xfrm>
          <a:prstGeom prst="rect">
            <a:avLst/>
          </a:prstGeom>
          <a:solidFill>
            <a:srgbClr val="C2352F"/>
          </a:solidFill>
          <a:ln/>
        </p:spPr>
      </p:sp>
      <p:sp>
        <p:nvSpPr>
          <p:cNvPr id="85" name="Text 83"/>
          <p:cNvSpPr txBox="1"/>
          <p:nvPr/>
        </p:nvSpPr>
        <p:spPr>
          <a:xfrm>
            <a:off x="10259568" y="3458584"/>
            <a:ext cx="1271016" cy="230214"/>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−28</a:t>
            </a:r>
            <a:endParaRPr lang="en-US" sz="1300" dirty="0"/>
          </a:p>
        </p:txBody>
      </p:sp>
      <p:sp>
        <p:nvSpPr>
          <p:cNvPr id="86" name="Text 84"/>
          <p:cNvSpPr txBox="1"/>
          <p:nvPr/>
        </p:nvSpPr>
        <p:spPr>
          <a:xfrm>
            <a:off x="6208776" y="3688797"/>
            <a:ext cx="2240280" cy="23021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87" name="Shape 85"/>
          <p:cNvSpPr/>
          <p:nvPr/>
        </p:nvSpPr>
        <p:spPr>
          <a:xfrm>
            <a:off x="8952461" y="3750955"/>
            <a:ext cx="410995" cy="105898"/>
          </a:xfrm>
          <a:prstGeom prst="rect">
            <a:avLst/>
          </a:prstGeom>
          <a:solidFill>
            <a:srgbClr val="C2352F"/>
          </a:solidFill>
          <a:ln/>
        </p:spPr>
      </p:sp>
      <p:sp>
        <p:nvSpPr>
          <p:cNvPr id="88" name="Text 86"/>
          <p:cNvSpPr txBox="1"/>
          <p:nvPr/>
        </p:nvSpPr>
        <p:spPr>
          <a:xfrm>
            <a:off x="10259568" y="3688797"/>
            <a:ext cx="1271016" cy="230214"/>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−29</a:t>
            </a:r>
            <a:endParaRPr lang="en-US" sz="1300" dirty="0"/>
          </a:p>
        </p:txBody>
      </p:sp>
      <p:sp>
        <p:nvSpPr>
          <p:cNvPr id="89" name="Text 87"/>
          <p:cNvSpPr txBox="1"/>
          <p:nvPr/>
        </p:nvSpPr>
        <p:spPr>
          <a:xfrm>
            <a:off x="6208776" y="3919011"/>
            <a:ext cx="2240280" cy="23021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90" name="Shape 88"/>
          <p:cNvSpPr/>
          <p:nvPr/>
        </p:nvSpPr>
        <p:spPr>
          <a:xfrm>
            <a:off x="8945624" y="3981169"/>
            <a:ext cx="417832" cy="105898"/>
          </a:xfrm>
          <a:prstGeom prst="rect">
            <a:avLst/>
          </a:prstGeom>
          <a:solidFill>
            <a:srgbClr val="C2352F"/>
          </a:solidFill>
          <a:ln/>
        </p:spPr>
      </p:sp>
      <p:sp>
        <p:nvSpPr>
          <p:cNvPr id="91" name="Text 89"/>
          <p:cNvSpPr txBox="1"/>
          <p:nvPr/>
        </p:nvSpPr>
        <p:spPr>
          <a:xfrm>
            <a:off x="10259568" y="3919011"/>
            <a:ext cx="1271016" cy="230214"/>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−30</a:t>
            </a:r>
            <a:endParaRPr lang="en-US" sz="1300" dirty="0"/>
          </a:p>
        </p:txBody>
      </p:sp>
      <p:sp>
        <p:nvSpPr>
          <p:cNvPr id="92" name="Text 90"/>
          <p:cNvSpPr txBox="1"/>
          <p:nvPr/>
        </p:nvSpPr>
        <p:spPr>
          <a:xfrm>
            <a:off x="6208776" y="4149224"/>
            <a:ext cx="2240280" cy="23021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93" name="Shape 91"/>
          <p:cNvSpPr/>
          <p:nvPr/>
        </p:nvSpPr>
        <p:spPr>
          <a:xfrm>
            <a:off x="8907240" y="4211382"/>
            <a:ext cx="456216" cy="105898"/>
          </a:xfrm>
          <a:prstGeom prst="rect">
            <a:avLst/>
          </a:prstGeom>
          <a:solidFill>
            <a:srgbClr val="C2352F"/>
          </a:solidFill>
          <a:ln/>
        </p:spPr>
      </p:sp>
      <p:sp>
        <p:nvSpPr>
          <p:cNvPr id="94" name="Text 92"/>
          <p:cNvSpPr txBox="1"/>
          <p:nvPr/>
        </p:nvSpPr>
        <p:spPr>
          <a:xfrm>
            <a:off x="10259568" y="4149224"/>
            <a:ext cx="1271016" cy="230214"/>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−33</a:t>
            </a:r>
            <a:endParaRPr lang="en-US" sz="1300" dirty="0"/>
          </a:p>
        </p:txBody>
      </p:sp>
      <p:sp>
        <p:nvSpPr>
          <p:cNvPr id="95" name="Text 93"/>
          <p:cNvSpPr txBox="1"/>
          <p:nvPr/>
        </p:nvSpPr>
        <p:spPr>
          <a:xfrm>
            <a:off x="6208776" y="4379438"/>
            <a:ext cx="2240280" cy="23021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96" name="Shape 94"/>
          <p:cNvSpPr/>
          <p:nvPr/>
        </p:nvSpPr>
        <p:spPr>
          <a:xfrm>
            <a:off x="8863574" y="4441596"/>
            <a:ext cx="499882" cy="105898"/>
          </a:xfrm>
          <a:prstGeom prst="rect">
            <a:avLst/>
          </a:prstGeom>
          <a:solidFill>
            <a:srgbClr val="C2352F"/>
          </a:solidFill>
          <a:ln/>
        </p:spPr>
      </p:sp>
      <p:sp>
        <p:nvSpPr>
          <p:cNvPr id="97" name="Text 95"/>
          <p:cNvSpPr txBox="1"/>
          <p:nvPr/>
        </p:nvSpPr>
        <p:spPr>
          <a:xfrm>
            <a:off x="10259568" y="4379438"/>
            <a:ext cx="1271016" cy="230214"/>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−36</a:t>
            </a:r>
            <a:endParaRPr lang="en-US" sz="1300" dirty="0"/>
          </a:p>
        </p:txBody>
      </p:sp>
      <p:sp>
        <p:nvSpPr>
          <p:cNvPr id="98" name="Text 96"/>
          <p:cNvSpPr txBox="1"/>
          <p:nvPr/>
        </p:nvSpPr>
        <p:spPr>
          <a:xfrm>
            <a:off x="6208776" y="4609652"/>
            <a:ext cx="2240280" cy="23021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99" name="Shape 97"/>
          <p:cNvSpPr/>
          <p:nvPr/>
        </p:nvSpPr>
        <p:spPr>
          <a:xfrm>
            <a:off x="8794551" y="4671809"/>
            <a:ext cx="568905" cy="105898"/>
          </a:xfrm>
          <a:prstGeom prst="rect">
            <a:avLst/>
          </a:prstGeom>
          <a:solidFill>
            <a:srgbClr val="C2352F"/>
          </a:solidFill>
          <a:ln/>
        </p:spPr>
      </p:sp>
      <p:sp>
        <p:nvSpPr>
          <p:cNvPr id="100" name="Text 98"/>
          <p:cNvSpPr txBox="1"/>
          <p:nvPr/>
        </p:nvSpPr>
        <p:spPr>
          <a:xfrm>
            <a:off x="10259568" y="4609652"/>
            <a:ext cx="1271016" cy="230214"/>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−41</a:t>
            </a:r>
            <a:endParaRPr lang="en-US" sz="1300" dirty="0"/>
          </a:p>
        </p:txBody>
      </p:sp>
      <p:sp>
        <p:nvSpPr>
          <p:cNvPr id="101" name="Text 99"/>
          <p:cNvSpPr txBox="1"/>
          <p:nvPr/>
        </p:nvSpPr>
        <p:spPr>
          <a:xfrm>
            <a:off x="6208776" y="4839865"/>
            <a:ext cx="2240280" cy="23021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102" name="Shape 100"/>
          <p:cNvSpPr/>
          <p:nvPr/>
        </p:nvSpPr>
        <p:spPr>
          <a:xfrm>
            <a:off x="8755307" y="4902023"/>
            <a:ext cx="608149" cy="105898"/>
          </a:xfrm>
          <a:prstGeom prst="rect">
            <a:avLst/>
          </a:prstGeom>
          <a:solidFill>
            <a:srgbClr val="C2352F"/>
          </a:solidFill>
          <a:ln/>
        </p:spPr>
      </p:sp>
      <p:sp>
        <p:nvSpPr>
          <p:cNvPr id="103" name="Text 101"/>
          <p:cNvSpPr txBox="1"/>
          <p:nvPr/>
        </p:nvSpPr>
        <p:spPr>
          <a:xfrm>
            <a:off x="10259568" y="4839865"/>
            <a:ext cx="1271016" cy="230214"/>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−43</a:t>
            </a:r>
            <a:endParaRPr lang="en-US" sz="1300" dirty="0"/>
          </a:p>
        </p:txBody>
      </p:sp>
      <p:sp>
        <p:nvSpPr>
          <p:cNvPr id="104" name="Text 102"/>
          <p:cNvSpPr txBox="1"/>
          <p:nvPr/>
        </p:nvSpPr>
        <p:spPr>
          <a:xfrm>
            <a:off x="6208776" y="5070079"/>
            <a:ext cx="2240280" cy="23021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105" name="Shape 103"/>
          <p:cNvSpPr/>
          <p:nvPr/>
        </p:nvSpPr>
        <p:spPr>
          <a:xfrm>
            <a:off x="8549178" y="5132237"/>
            <a:ext cx="814278" cy="105898"/>
          </a:xfrm>
          <a:prstGeom prst="rect">
            <a:avLst/>
          </a:prstGeom>
          <a:solidFill>
            <a:srgbClr val="C2352F"/>
          </a:solidFill>
          <a:ln/>
        </p:spPr>
      </p:sp>
      <p:sp>
        <p:nvSpPr>
          <p:cNvPr id="106" name="Text 104"/>
          <p:cNvSpPr txBox="1"/>
          <p:nvPr/>
        </p:nvSpPr>
        <p:spPr>
          <a:xfrm>
            <a:off x="10259568" y="5070079"/>
            <a:ext cx="1271016" cy="230214"/>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−58</a:t>
            </a:r>
            <a:endParaRPr lang="en-US" sz="1300" dirty="0"/>
          </a:p>
        </p:txBody>
      </p:sp>
      <p:sp>
        <p:nvSpPr>
          <p:cNvPr id="107" name="Text 105"/>
          <p:cNvSpPr txBox="1"/>
          <p:nvPr/>
        </p:nvSpPr>
        <p:spPr>
          <a:xfrm>
            <a:off x="6208776" y="5300293"/>
            <a:ext cx="2240280" cy="23021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08" name="Shape 106"/>
          <p:cNvSpPr/>
          <p:nvPr/>
        </p:nvSpPr>
        <p:spPr>
          <a:xfrm>
            <a:off x="8540496" y="5362450"/>
            <a:ext cx="822960" cy="105898"/>
          </a:xfrm>
          <a:prstGeom prst="rect">
            <a:avLst/>
          </a:prstGeom>
          <a:solidFill>
            <a:srgbClr val="C2352F"/>
          </a:solidFill>
          <a:ln/>
        </p:spPr>
      </p:sp>
      <p:sp>
        <p:nvSpPr>
          <p:cNvPr id="109" name="Text 107"/>
          <p:cNvSpPr txBox="1"/>
          <p:nvPr/>
        </p:nvSpPr>
        <p:spPr>
          <a:xfrm>
            <a:off x="10259568" y="5300293"/>
            <a:ext cx="1271016" cy="230214"/>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−59</a:t>
            </a:r>
            <a:endParaRPr lang="en-US" sz="1300" dirty="0"/>
          </a:p>
        </p:txBody>
      </p:sp>
      <p:sp>
        <p:nvSpPr>
          <p:cNvPr id="110" name="Shape 108"/>
          <p:cNvSpPr/>
          <p:nvPr/>
        </p:nvSpPr>
        <p:spPr>
          <a:xfrm>
            <a:off x="3807562" y="1847088"/>
            <a:ext cx="10973" cy="3913632"/>
          </a:xfrm>
          <a:prstGeom prst="rect">
            <a:avLst/>
          </a:prstGeom>
          <a:solidFill>
            <a:srgbClr val="9AA3AD"/>
          </a:solidFill>
          <a:ln/>
        </p:spPr>
      </p:sp>
      <p:sp>
        <p:nvSpPr>
          <p:cNvPr id="111" name="Shape 109"/>
          <p:cNvSpPr/>
          <p:nvPr/>
        </p:nvSpPr>
        <p:spPr>
          <a:xfrm>
            <a:off x="9357970" y="1847088"/>
            <a:ext cx="10973" cy="3913632"/>
          </a:xfrm>
          <a:prstGeom prst="rect">
            <a:avLst/>
          </a:prstGeom>
          <a:solidFill>
            <a:srgbClr val="9AA3AD"/>
          </a:solidFill>
          <a:ln/>
        </p:spPr>
      </p:sp>
      <p:sp>
        <p:nvSpPr>
          <p:cNvPr id="112" name="Shape 110"/>
          <p:cNvSpPr/>
          <p:nvPr/>
        </p:nvSpPr>
        <p:spPr>
          <a:xfrm>
            <a:off x="457200" y="5961888"/>
            <a:ext cx="11274552" cy="548640"/>
          </a:xfrm>
          <a:prstGeom prst="rect">
            <a:avLst/>
          </a:prstGeom>
          <a:solidFill>
            <a:srgbClr val="FBEBEA"/>
          </a:solidFill>
          <a:ln/>
        </p:spPr>
      </p:sp>
      <p:sp>
        <p:nvSpPr>
          <p:cNvPr id="113" name="Text 111"/>
          <p:cNvSpPr txBox="1"/>
          <p:nvPr/>
        </p:nvSpPr>
        <p:spPr>
          <a:xfrm>
            <a:off x="658368" y="5980176"/>
            <a:ext cx="10927080" cy="512064"/>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17 of 33 stores raised ROs per advisor, led by HONDA FLAGSTAFF at +40 to 175. 16 declined; TOYOTA SPOKANE fell most at −59.</a:t>
            </a:r>
            <a:endParaRPr lang="en-US" sz="16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Employee</a:t>
            </a:r>
            <a:endParaRPr lang="en-US" sz="2800" dirty="0"/>
          </a:p>
        </p:txBody>
      </p:sp>
      <p:sp>
        <p:nvSpPr>
          <p:cNvPr id="5" name="Shape 3"/>
          <p:cNvSpPr/>
          <p:nvPr/>
        </p:nvSpPr>
        <p:spPr>
          <a:xfrm>
            <a:off x="457200" y="1207008"/>
            <a:ext cx="11274552" cy="1517904"/>
          </a:xfrm>
          <a:prstGeom prst="rect">
            <a:avLst/>
          </a:prstGeom>
          <a:solidFill>
            <a:srgbClr val="FFFFFF"/>
          </a:solidFill>
          <a:ln/>
        </p:spPr>
      </p:sp>
      <p:sp>
        <p:nvSpPr>
          <p:cNvPr id="6" name="Text 4"/>
          <p:cNvSpPr txBox="1"/>
          <p:nvPr/>
        </p:nvSpPr>
        <p:spPr>
          <a:xfrm>
            <a:off x="685800" y="1316736"/>
            <a:ext cx="10789920" cy="274320"/>
          </a:xfrm>
          <a:prstGeom prst="rect">
            <a:avLst/>
          </a:prstGeom>
          <a:noFill/>
          <a:ln/>
        </p:spPr>
        <p:txBody>
          <a:bodyPr wrap="square" lIns="0" tIns="0" rIns="0" bIns="0" rtlCol="0" anchor="ctr"/>
          <a:lstStyle/>
          <a:p>
            <a:pPr indent="0" marL="0">
              <a:buNone/>
            </a:pPr>
            <a:r>
              <a:rPr lang="en-US" sz="1400" spc="100" kern="0" dirty="0">
                <a:solidFill>
                  <a:srgbClr val="595959"/>
                </a:solidFill>
                <a:latin typeface="Inter" pitchFamily="34" charset="0"/>
                <a:ea typeface="Inter" pitchFamily="34" charset="-122"/>
                <a:cs typeface="Inter" pitchFamily="34" charset="-120"/>
              </a:rPr>
              <a:t>GROUP · JANUARY–SEPTEMBER · MONTHLY AVG · SAME-STORE, 33 STORES</a:t>
            </a:r>
            <a:endParaRPr lang="en-US" sz="1400" dirty="0"/>
          </a:p>
        </p:txBody>
      </p:sp>
      <p:sp>
        <p:nvSpPr>
          <p:cNvPr id="7" name="Text 5"/>
          <p:cNvSpPr txBox="1"/>
          <p:nvPr/>
        </p:nvSpPr>
        <p:spPr>
          <a:xfrm>
            <a:off x="685800" y="1627632"/>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a:t>
            </a:r>
            <a:endParaRPr lang="en-US" sz="1400" dirty="0"/>
          </a:p>
        </p:txBody>
      </p:sp>
      <p:sp>
        <p:nvSpPr>
          <p:cNvPr id="8" name="Text 6"/>
          <p:cNvSpPr txBox="1"/>
          <p:nvPr/>
        </p:nvSpPr>
        <p:spPr>
          <a:xfrm>
            <a:off x="685800" y="1865376"/>
            <a:ext cx="2697480" cy="603504"/>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26.0</a:t>
            </a:r>
            <a:endParaRPr lang="en-US" sz="3000" dirty="0"/>
          </a:p>
        </p:txBody>
      </p:sp>
      <p:sp>
        <p:nvSpPr>
          <p:cNvPr id="9" name="Text 7"/>
          <p:cNvSpPr txBox="1"/>
          <p:nvPr/>
        </p:nvSpPr>
        <p:spPr>
          <a:xfrm>
            <a:off x="3474720" y="1627632"/>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a:t>
            </a:r>
            <a:endParaRPr lang="en-US" sz="1400" dirty="0"/>
          </a:p>
        </p:txBody>
      </p:sp>
      <p:sp>
        <p:nvSpPr>
          <p:cNvPr id="10" name="Text 8"/>
          <p:cNvSpPr txBox="1"/>
          <p:nvPr/>
        </p:nvSpPr>
        <p:spPr>
          <a:xfrm>
            <a:off x="3474720" y="1865376"/>
            <a:ext cx="2697480" cy="603504"/>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26.8</a:t>
            </a:r>
            <a:endParaRPr lang="en-US" sz="3000" dirty="0"/>
          </a:p>
        </p:txBody>
      </p:sp>
      <p:sp>
        <p:nvSpPr>
          <p:cNvPr id="11" name="Text 9"/>
          <p:cNvSpPr txBox="1"/>
          <p:nvPr/>
        </p:nvSpPr>
        <p:spPr>
          <a:xfrm>
            <a:off x="6263640" y="1627632"/>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2" name="Text 10"/>
          <p:cNvSpPr txBox="1"/>
          <p:nvPr/>
        </p:nvSpPr>
        <p:spPr>
          <a:xfrm>
            <a:off x="6263640" y="1865376"/>
            <a:ext cx="2697480" cy="603504"/>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+0.8</a:t>
            </a:r>
            <a:endParaRPr lang="en-US" sz="3000" dirty="0"/>
          </a:p>
        </p:txBody>
      </p:sp>
      <p:sp>
        <p:nvSpPr>
          <p:cNvPr id="13" name="Text 11"/>
          <p:cNvSpPr txBox="1"/>
          <p:nvPr/>
        </p:nvSpPr>
        <p:spPr>
          <a:xfrm>
            <a:off x="9052560" y="1627632"/>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4" name="Text 12"/>
          <p:cNvSpPr txBox="1"/>
          <p:nvPr/>
        </p:nvSpPr>
        <p:spPr>
          <a:xfrm>
            <a:off x="9052560" y="1865376"/>
            <a:ext cx="2697480" cy="603504"/>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+3.0%</a:t>
            </a:r>
            <a:endParaRPr lang="en-US" sz="30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457200" y="2816352"/>
          <a:ext cx="11274552" cy="914400"/>
        </p:xfrm>
        <a:graphic>
          <a:graphicData uri="http://schemas.openxmlformats.org/drawingml/2006/table">
            <a:tbl>
              <a:tblPr/>
              <a:tblGrid>
                <a:gridCol w="3118104"/>
                <a:gridCol w="2039112"/>
                <a:gridCol w="2039112"/>
                <a:gridCol w="2039112"/>
                <a:gridCol w="2039112"/>
              </a:tblGrid>
              <a:tr h="274320">
                <a:tc>
                  <a:txBody>
                    <a:bodyPr/>
                    <a:lstStyle/>
                    <a:p>
                      <a:pPr algn="l" indent="0" marL="0">
                        <a:buNone/>
                      </a:pPr>
                      <a:r>
                        <a:rPr lang="en-US" sz="1400" b="1" dirty="0">
                          <a:solidFill>
                            <a:srgbClr val="FFFFFF"/>
                          </a:solidFill>
                          <a:latin typeface="Inter" pitchFamily="34" charset="0"/>
                          <a:ea typeface="Inter" pitchFamily="34" charset="-122"/>
                          <a:cs typeface="Inter" pitchFamily="34" charset="-120"/>
                        </a:rPr>
                        <a:t>MONTH</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5B9BD5"/>
                    </a:solidFill>
                  </a:tcPr>
                </a:tc>
                <a:tc>
                  <a:txBody>
                    <a:bodyPr/>
                    <a:lstStyle/>
                    <a:p>
                      <a:pPr algn="r" indent="0" marL="0">
                        <a:buNone/>
                      </a:pPr>
                      <a:r>
                        <a:rPr lang="en-US" sz="1400" b="1" dirty="0">
                          <a:solidFill>
                            <a:srgbClr val="FFFFFF"/>
                          </a:solidFill>
                          <a:latin typeface="Inter" pitchFamily="34" charset="0"/>
                          <a:ea typeface="Inter" pitchFamily="34" charset="-122"/>
                          <a:cs typeface="Inter" pitchFamily="34" charset="-120"/>
                        </a:rPr>
                        <a:t>2025</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5B9BD5"/>
                    </a:solidFill>
                  </a:tcPr>
                </a:tc>
                <a:tc>
                  <a:txBody>
                    <a:bodyPr/>
                    <a:lstStyle/>
                    <a:p>
                      <a:pPr algn="r" indent="0" marL="0">
                        <a:buNone/>
                      </a:pPr>
                      <a:r>
                        <a:rPr lang="en-US" sz="1400" b="1" dirty="0">
                          <a:solidFill>
                            <a:srgbClr val="FFFFFF"/>
                          </a:solidFill>
                          <a:latin typeface="Inter" pitchFamily="34" charset="0"/>
                          <a:ea typeface="Inter" pitchFamily="34" charset="-122"/>
                          <a:cs typeface="Inter" pitchFamily="34" charset="-120"/>
                        </a:rPr>
                        <a:t>2026</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5B9BD5"/>
                    </a:solidFill>
                  </a:tcPr>
                </a:tc>
                <a:tc>
                  <a:txBody>
                    <a:bodyPr/>
                    <a:lstStyle/>
                    <a:p>
                      <a:pPr algn="r" indent="0" marL="0">
                        <a:buNone/>
                      </a:pPr>
                      <a:r>
                        <a:rPr lang="en-US" sz="1400" b="1" dirty="0">
                          <a:solidFill>
                            <a:srgbClr val="FFFFFF"/>
                          </a:solidFill>
                          <a:latin typeface="Inter" pitchFamily="34" charset="0"/>
                          <a:ea typeface="Inter" pitchFamily="34" charset="-122"/>
                          <a:cs typeface="Inter" pitchFamily="34" charset="-120"/>
                        </a:rPr>
                        <a:t>VARIANCE</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5B9BD5"/>
                    </a:solidFill>
                  </a:tcPr>
                </a:tc>
                <a:tc>
                  <a:txBody>
                    <a:bodyPr/>
                    <a:lstStyle/>
                    <a:p>
                      <a:pPr algn="r" indent="0" marL="0">
                        <a:buNone/>
                      </a:pPr>
                      <a:r>
                        <a:rPr lang="en-US" sz="1400" b="1" dirty="0">
                          <a:solidFill>
                            <a:srgbClr val="FFFFFF"/>
                          </a:solidFill>
                          <a:latin typeface="Inter" pitchFamily="34" charset="0"/>
                          <a:ea typeface="Inter" pitchFamily="34" charset="-122"/>
                          <a:cs typeface="Inter" pitchFamily="34" charset="-120"/>
                        </a:rPr>
                        <a:t>VAR %</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5B9BD5"/>
                    </a:solidFill>
                  </a:tcPr>
                </a:tc>
              </a:tr>
              <a:tr h="274320">
                <a:tc>
                  <a:txBody>
                    <a:bodyPr/>
                    <a:lstStyle/>
                    <a:p>
                      <a:pPr indent="0" marL="0">
                        <a:buNone/>
                      </a:pPr>
                      <a:r>
                        <a:rPr lang="en-US" sz="1400" dirty="0">
                          <a:solidFill>
                            <a:srgbClr val="1A1A1A"/>
                          </a:solidFill>
                          <a:latin typeface="Inter" pitchFamily="34" charset="0"/>
                          <a:ea typeface="Inter" pitchFamily="34" charset="-122"/>
                          <a:cs typeface="Inter" pitchFamily="34" charset="-120"/>
                        </a:rPr>
                        <a:t>JAN</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26.6</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26.8</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+0.1</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+0.5%</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indent="0" marL="0">
                        <a:buNone/>
                      </a:pPr>
                      <a:r>
                        <a:rPr lang="en-US" sz="1400" dirty="0">
                          <a:solidFill>
                            <a:srgbClr val="1A1A1A"/>
                          </a:solidFill>
                          <a:latin typeface="Inter" pitchFamily="34" charset="0"/>
                          <a:ea typeface="Inter" pitchFamily="34" charset="-122"/>
                          <a:cs typeface="Inter" pitchFamily="34" charset="-120"/>
                        </a:rPr>
                        <a:t>FEB</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24.3</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23.8</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b="1" dirty="0">
                          <a:solidFill>
                            <a:srgbClr val="A82B26"/>
                          </a:solidFill>
                          <a:latin typeface="Inter" pitchFamily="34" charset="0"/>
                          <a:ea typeface="Inter" pitchFamily="34" charset="-122"/>
                          <a:cs typeface="Inter" pitchFamily="34" charset="-120"/>
                        </a:rPr>
                        <a:t>−0.5</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b="1" dirty="0">
                          <a:solidFill>
                            <a:srgbClr val="A82B26"/>
                          </a:solidFill>
                          <a:latin typeface="Inter" pitchFamily="34" charset="0"/>
                          <a:ea typeface="Inter" pitchFamily="34" charset="-122"/>
                          <a:cs typeface="Inter" pitchFamily="34" charset="-120"/>
                        </a:rPr>
                        <a:t>−2.2%</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r>
              <a:tr h="274320">
                <a:tc>
                  <a:txBody>
                    <a:bodyPr/>
                    <a:lstStyle/>
                    <a:p>
                      <a:pPr indent="0" marL="0">
                        <a:buNone/>
                      </a:pPr>
                      <a:r>
                        <a:rPr lang="en-US" sz="1400" dirty="0">
                          <a:solidFill>
                            <a:srgbClr val="1A1A1A"/>
                          </a:solidFill>
                          <a:latin typeface="Inter" pitchFamily="34" charset="0"/>
                          <a:ea typeface="Inter" pitchFamily="34" charset="-122"/>
                          <a:cs typeface="Inter" pitchFamily="34" charset="-120"/>
                        </a:rPr>
                        <a:t>MAR</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26.3</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27.1</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+0.7</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+2.7%</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indent="0" marL="0">
                        <a:buNone/>
                      </a:pPr>
                      <a:r>
                        <a:rPr lang="en-US" sz="1400" dirty="0">
                          <a:solidFill>
                            <a:srgbClr val="1A1A1A"/>
                          </a:solidFill>
                          <a:latin typeface="Inter" pitchFamily="34" charset="0"/>
                          <a:ea typeface="Inter" pitchFamily="34" charset="-122"/>
                          <a:cs typeface="Inter" pitchFamily="34" charset="-120"/>
                        </a:rPr>
                        <a:t>APR</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26.4</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26.5</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+0.1</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+0.3%</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r>
              <a:tr h="274320">
                <a:tc>
                  <a:txBody>
                    <a:bodyPr/>
                    <a:lstStyle/>
                    <a:p>
                      <a:pPr indent="0" marL="0">
                        <a:buNone/>
                      </a:pPr>
                      <a:r>
                        <a:rPr lang="en-US" sz="1400" dirty="0">
                          <a:solidFill>
                            <a:srgbClr val="1A1A1A"/>
                          </a:solidFill>
                          <a:latin typeface="Inter" pitchFamily="34" charset="0"/>
                          <a:ea typeface="Inter" pitchFamily="34" charset="-122"/>
                          <a:cs typeface="Inter" pitchFamily="34" charset="-120"/>
                        </a:rPr>
                        <a:t>MAY</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26.1</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26.1</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+0.0</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+0.1%</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indent="0" marL="0">
                        <a:buNone/>
                      </a:pPr>
                      <a:r>
                        <a:rPr lang="en-US" sz="1400" dirty="0">
                          <a:solidFill>
                            <a:srgbClr val="1A1A1A"/>
                          </a:solidFill>
                          <a:latin typeface="Inter" pitchFamily="34" charset="0"/>
                          <a:ea typeface="Inter" pitchFamily="34" charset="-122"/>
                          <a:cs typeface="Inter" pitchFamily="34" charset="-120"/>
                        </a:rPr>
                        <a:t>JUN</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26.2</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27.7</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+1.6</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+6.0%</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r>
              <a:tr h="274320">
                <a:tc>
                  <a:txBody>
                    <a:bodyPr/>
                    <a:lstStyle/>
                    <a:p>
                      <a:pPr indent="0" marL="0">
                        <a:buNone/>
                      </a:pPr>
                      <a:r>
                        <a:rPr lang="en-US" sz="1400" dirty="0">
                          <a:solidFill>
                            <a:srgbClr val="1A1A1A"/>
                          </a:solidFill>
                          <a:latin typeface="Inter" pitchFamily="34" charset="0"/>
                          <a:ea typeface="Inter" pitchFamily="34" charset="-122"/>
                          <a:cs typeface="Inter" pitchFamily="34" charset="-120"/>
                        </a:rPr>
                        <a:t>JUL</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27.0</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28.2</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+1.2</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+4.6%</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indent="0" marL="0">
                        <a:buNone/>
                      </a:pPr>
                      <a:r>
                        <a:rPr lang="en-US" sz="1400" dirty="0">
                          <a:solidFill>
                            <a:srgbClr val="1A1A1A"/>
                          </a:solidFill>
                          <a:latin typeface="Inter" pitchFamily="34" charset="0"/>
                          <a:ea typeface="Inter" pitchFamily="34" charset="-122"/>
                          <a:cs typeface="Inter" pitchFamily="34" charset="-120"/>
                        </a:rPr>
                        <a:t>AUG</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26.4</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27.8</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+1.4</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+5.2%</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r>
              <a:tr h="274320">
                <a:tc>
                  <a:txBody>
                    <a:bodyPr/>
                    <a:lstStyle/>
                    <a:p>
                      <a:pPr indent="0" marL="0">
                        <a:buNone/>
                      </a:pPr>
                      <a:r>
                        <a:rPr lang="en-US" sz="1400" dirty="0">
                          <a:solidFill>
                            <a:srgbClr val="1A1A1A"/>
                          </a:solidFill>
                          <a:latin typeface="Inter" pitchFamily="34" charset="0"/>
                          <a:ea typeface="Inter" pitchFamily="34" charset="-122"/>
                          <a:cs typeface="Inter" pitchFamily="34" charset="-120"/>
                        </a:rPr>
                        <a:t>SEP</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24.7</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27.0</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+2.3</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+9.4%</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16" name="Shape 13"/>
          <p:cNvSpPr/>
          <p:nvPr/>
        </p:nvSpPr>
        <p:spPr>
          <a:xfrm>
            <a:off x="457200" y="5961888"/>
            <a:ext cx="11274552" cy="548640"/>
          </a:xfrm>
          <a:prstGeom prst="rect">
            <a:avLst/>
          </a:prstGeom>
          <a:solidFill>
            <a:srgbClr val="E6F6EE"/>
          </a:solidFill>
          <a:ln/>
        </p:spPr>
      </p:sp>
      <p:sp>
        <p:nvSpPr>
          <p:cNvPr id="17" name="Text 14"/>
          <p:cNvSpPr txBox="1"/>
          <p:nvPr/>
        </p:nvSpPr>
        <p:spPr>
          <a:xfrm>
            <a:off x="658368" y="5980176"/>
            <a:ext cx="10927080" cy="512064"/>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0.8 to 26.8, ahead of 2025 in eight of nine months. Headcount fell 5.1%; ROs fell 2.3%.</a:t>
            </a:r>
            <a:endParaRPr lang="en-US" sz="16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Employee</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658368" y="1316736"/>
            <a:ext cx="3383280" cy="32918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LUXURY · 9 STORES</a:t>
            </a:r>
            <a:endParaRPr lang="en-US" sz="1400" dirty="0"/>
          </a:p>
        </p:txBody>
      </p:sp>
      <p:sp>
        <p:nvSpPr>
          <p:cNvPr id="7" name="Text 5"/>
          <p:cNvSpPr txBox="1"/>
          <p:nvPr/>
        </p:nvSpPr>
        <p:spPr>
          <a:xfrm>
            <a:off x="658368" y="1755648"/>
            <a:ext cx="1554480" cy="306676"/>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8" name="Shape 6"/>
          <p:cNvSpPr/>
          <p:nvPr/>
        </p:nvSpPr>
        <p:spPr>
          <a:xfrm>
            <a:off x="2267712" y="1832317"/>
            <a:ext cx="1030941" cy="153338"/>
          </a:xfrm>
          <a:prstGeom prst="rect">
            <a:avLst/>
          </a:prstGeom>
          <a:solidFill>
            <a:srgbClr val="12A566"/>
          </a:solidFill>
          <a:ln/>
        </p:spPr>
      </p:sp>
      <p:sp>
        <p:nvSpPr>
          <p:cNvPr id="9" name="Text 7"/>
          <p:cNvSpPr txBox="1"/>
          <p:nvPr/>
        </p:nvSpPr>
        <p:spPr>
          <a:xfrm>
            <a:off x="3355848" y="1755648"/>
            <a:ext cx="777240" cy="306676"/>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24.9</a:t>
            </a:r>
            <a:endParaRPr lang="en-US" sz="1300" dirty="0"/>
          </a:p>
        </p:txBody>
      </p:sp>
      <p:sp>
        <p:nvSpPr>
          <p:cNvPr id="10" name="Text 8"/>
          <p:cNvSpPr txBox="1"/>
          <p:nvPr/>
        </p:nvSpPr>
        <p:spPr>
          <a:xfrm>
            <a:off x="658368" y="2062324"/>
            <a:ext cx="1554480" cy="306676"/>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1" name="Shape 9"/>
          <p:cNvSpPr/>
          <p:nvPr/>
        </p:nvSpPr>
        <p:spPr>
          <a:xfrm>
            <a:off x="2267712" y="2138993"/>
            <a:ext cx="1013961" cy="153338"/>
          </a:xfrm>
          <a:prstGeom prst="rect">
            <a:avLst/>
          </a:prstGeom>
          <a:solidFill>
            <a:srgbClr val="12A566"/>
          </a:solidFill>
          <a:ln/>
        </p:spPr>
      </p:sp>
      <p:sp>
        <p:nvSpPr>
          <p:cNvPr id="12" name="Text 10"/>
          <p:cNvSpPr txBox="1"/>
          <p:nvPr/>
        </p:nvSpPr>
        <p:spPr>
          <a:xfrm>
            <a:off x="3355848" y="2062324"/>
            <a:ext cx="777240" cy="306676"/>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24.5</a:t>
            </a:r>
            <a:endParaRPr lang="en-US" sz="1300" dirty="0"/>
          </a:p>
        </p:txBody>
      </p:sp>
      <p:sp>
        <p:nvSpPr>
          <p:cNvPr id="13" name="Text 11"/>
          <p:cNvSpPr txBox="1"/>
          <p:nvPr/>
        </p:nvSpPr>
        <p:spPr>
          <a:xfrm>
            <a:off x="658368" y="2368999"/>
            <a:ext cx="1554480" cy="306676"/>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14" name="Shape 12"/>
          <p:cNvSpPr/>
          <p:nvPr/>
        </p:nvSpPr>
        <p:spPr>
          <a:xfrm>
            <a:off x="2267712" y="2445668"/>
            <a:ext cx="803240" cy="153338"/>
          </a:xfrm>
          <a:prstGeom prst="rect">
            <a:avLst/>
          </a:prstGeom>
          <a:solidFill>
            <a:srgbClr val="12A566"/>
          </a:solidFill>
          <a:ln/>
        </p:spPr>
      </p:sp>
      <p:sp>
        <p:nvSpPr>
          <p:cNvPr id="15" name="Text 13"/>
          <p:cNvSpPr txBox="1"/>
          <p:nvPr/>
        </p:nvSpPr>
        <p:spPr>
          <a:xfrm>
            <a:off x="3355848" y="2368999"/>
            <a:ext cx="777240" cy="306676"/>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19.4</a:t>
            </a:r>
            <a:endParaRPr lang="en-US" sz="1300" dirty="0"/>
          </a:p>
        </p:txBody>
      </p:sp>
      <p:sp>
        <p:nvSpPr>
          <p:cNvPr id="16" name="Text 14"/>
          <p:cNvSpPr txBox="1"/>
          <p:nvPr/>
        </p:nvSpPr>
        <p:spPr>
          <a:xfrm>
            <a:off x="658368" y="2675675"/>
            <a:ext cx="1554480" cy="306676"/>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17" name="Shape 15"/>
          <p:cNvSpPr/>
          <p:nvPr/>
        </p:nvSpPr>
        <p:spPr>
          <a:xfrm>
            <a:off x="2267712" y="2752344"/>
            <a:ext cx="789066" cy="153338"/>
          </a:xfrm>
          <a:prstGeom prst="rect">
            <a:avLst/>
          </a:prstGeom>
          <a:solidFill>
            <a:srgbClr val="12A566"/>
          </a:solidFill>
          <a:ln/>
        </p:spPr>
      </p:sp>
      <p:sp>
        <p:nvSpPr>
          <p:cNvPr id="18" name="Text 16"/>
          <p:cNvSpPr txBox="1"/>
          <p:nvPr/>
        </p:nvSpPr>
        <p:spPr>
          <a:xfrm>
            <a:off x="3355848" y="2675675"/>
            <a:ext cx="777240" cy="306676"/>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19.0</a:t>
            </a:r>
            <a:endParaRPr lang="en-US" sz="1300" dirty="0"/>
          </a:p>
        </p:txBody>
      </p:sp>
      <p:sp>
        <p:nvSpPr>
          <p:cNvPr id="19" name="Shape 17"/>
          <p:cNvSpPr/>
          <p:nvPr/>
        </p:nvSpPr>
        <p:spPr>
          <a:xfrm>
            <a:off x="603504" y="2982351"/>
            <a:ext cx="3566160" cy="297532"/>
          </a:xfrm>
          <a:prstGeom prst="rect">
            <a:avLst/>
          </a:prstGeom>
          <a:solidFill>
            <a:srgbClr val="EDF4FA"/>
          </a:solidFill>
          <a:ln/>
        </p:spPr>
      </p:sp>
      <p:sp>
        <p:nvSpPr>
          <p:cNvPr id="20" name="Text 18"/>
          <p:cNvSpPr txBox="1"/>
          <p:nvPr/>
        </p:nvSpPr>
        <p:spPr>
          <a:xfrm>
            <a:off x="658368" y="2982351"/>
            <a:ext cx="1554480" cy="306676"/>
          </a:xfrm>
          <a:prstGeom prst="rect">
            <a:avLst/>
          </a:prstGeom>
          <a:noFill/>
          <a:ln/>
        </p:spPr>
        <p:txBody>
          <a:bodyPr wrap="square" lIns="0" tIns="0" rIns="0" bIns="0" rtlCol="0" anchor="ctr"/>
          <a:lstStyle/>
          <a:p>
            <a:pPr indent="0" marL="0">
              <a:buNone/>
            </a:pPr>
            <a:r>
              <a:rPr lang="en-US" sz="1300" b="1" dirty="0">
                <a:solidFill>
                  <a:srgbClr val="0B2C4A"/>
                </a:solidFill>
                <a:latin typeface="Inter" pitchFamily="34" charset="0"/>
                <a:ea typeface="Inter" pitchFamily="34" charset="-122"/>
                <a:cs typeface="Inter" pitchFamily="34" charset="-120"/>
              </a:rPr>
              <a:t>LUXURY</a:t>
            </a:r>
            <a:endParaRPr lang="en-US" sz="1300" dirty="0"/>
          </a:p>
        </p:txBody>
      </p:sp>
      <p:sp>
        <p:nvSpPr>
          <p:cNvPr id="21" name="Shape 19"/>
          <p:cNvSpPr/>
          <p:nvPr/>
        </p:nvSpPr>
        <p:spPr>
          <a:xfrm>
            <a:off x="2267712" y="3059020"/>
            <a:ext cx="723520" cy="153338"/>
          </a:xfrm>
          <a:prstGeom prst="rect">
            <a:avLst/>
          </a:prstGeom>
          <a:solidFill>
            <a:srgbClr val="0B2C4A"/>
          </a:solidFill>
          <a:ln/>
        </p:spPr>
      </p:sp>
      <p:sp>
        <p:nvSpPr>
          <p:cNvPr id="22" name="Text 20"/>
          <p:cNvSpPr txBox="1"/>
          <p:nvPr/>
        </p:nvSpPr>
        <p:spPr>
          <a:xfrm>
            <a:off x="3355848" y="2982351"/>
            <a:ext cx="777240" cy="306676"/>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17.4</a:t>
            </a:r>
            <a:endParaRPr lang="en-US" sz="1300" dirty="0"/>
          </a:p>
        </p:txBody>
      </p:sp>
      <p:sp>
        <p:nvSpPr>
          <p:cNvPr id="23" name="Text 21"/>
          <p:cNvSpPr txBox="1"/>
          <p:nvPr/>
        </p:nvSpPr>
        <p:spPr>
          <a:xfrm>
            <a:off x="658368" y="3289026"/>
            <a:ext cx="1554480" cy="306676"/>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24" name="Shape 22"/>
          <p:cNvSpPr/>
          <p:nvPr/>
        </p:nvSpPr>
        <p:spPr>
          <a:xfrm>
            <a:off x="2267712" y="3365695"/>
            <a:ext cx="696638" cy="153338"/>
          </a:xfrm>
          <a:prstGeom prst="rect">
            <a:avLst/>
          </a:prstGeom>
          <a:solidFill>
            <a:srgbClr val="C2352F"/>
          </a:solidFill>
          <a:ln/>
        </p:spPr>
      </p:sp>
      <p:sp>
        <p:nvSpPr>
          <p:cNvPr id="25" name="Text 23"/>
          <p:cNvSpPr txBox="1"/>
          <p:nvPr/>
        </p:nvSpPr>
        <p:spPr>
          <a:xfrm>
            <a:off x="3355848" y="3289026"/>
            <a:ext cx="777240" cy="306676"/>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16.8</a:t>
            </a:r>
            <a:endParaRPr lang="en-US" sz="1300" dirty="0"/>
          </a:p>
        </p:txBody>
      </p:sp>
      <p:sp>
        <p:nvSpPr>
          <p:cNvPr id="26" name="Text 24"/>
          <p:cNvSpPr txBox="1"/>
          <p:nvPr/>
        </p:nvSpPr>
        <p:spPr>
          <a:xfrm>
            <a:off x="658368" y="3595702"/>
            <a:ext cx="1554480" cy="306676"/>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27" name="Shape 25"/>
          <p:cNvSpPr/>
          <p:nvPr/>
        </p:nvSpPr>
        <p:spPr>
          <a:xfrm>
            <a:off x="2267712" y="3672371"/>
            <a:ext cx="610545" cy="153338"/>
          </a:xfrm>
          <a:prstGeom prst="rect">
            <a:avLst/>
          </a:prstGeom>
          <a:solidFill>
            <a:srgbClr val="C2352F"/>
          </a:solidFill>
          <a:ln/>
        </p:spPr>
      </p:sp>
      <p:sp>
        <p:nvSpPr>
          <p:cNvPr id="28" name="Text 26"/>
          <p:cNvSpPr txBox="1"/>
          <p:nvPr/>
        </p:nvSpPr>
        <p:spPr>
          <a:xfrm>
            <a:off x="3355848" y="3595702"/>
            <a:ext cx="777240" cy="306676"/>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14.7</a:t>
            </a:r>
            <a:endParaRPr lang="en-US" sz="1300" dirty="0"/>
          </a:p>
        </p:txBody>
      </p:sp>
      <p:sp>
        <p:nvSpPr>
          <p:cNvPr id="29" name="Text 27"/>
          <p:cNvSpPr txBox="1"/>
          <p:nvPr/>
        </p:nvSpPr>
        <p:spPr>
          <a:xfrm>
            <a:off x="658368" y="3902378"/>
            <a:ext cx="1554480" cy="306676"/>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30" name="Shape 28"/>
          <p:cNvSpPr/>
          <p:nvPr/>
        </p:nvSpPr>
        <p:spPr>
          <a:xfrm>
            <a:off x="2267712" y="3979047"/>
            <a:ext cx="610365" cy="153338"/>
          </a:xfrm>
          <a:prstGeom prst="rect">
            <a:avLst/>
          </a:prstGeom>
          <a:solidFill>
            <a:srgbClr val="C2352F"/>
          </a:solidFill>
          <a:ln/>
        </p:spPr>
      </p:sp>
      <p:sp>
        <p:nvSpPr>
          <p:cNvPr id="31" name="Text 29"/>
          <p:cNvSpPr txBox="1"/>
          <p:nvPr/>
        </p:nvSpPr>
        <p:spPr>
          <a:xfrm>
            <a:off x="3355848" y="3902378"/>
            <a:ext cx="777240" cy="306676"/>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14.7</a:t>
            </a:r>
            <a:endParaRPr lang="en-US" sz="1300" dirty="0"/>
          </a:p>
        </p:txBody>
      </p:sp>
      <p:sp>
        <p:nvSpPr>
          <p:cNvPr id="32" name="Text 30"/>
          <p:cNvSpPr txBox="1"/>
          <p:nvPr/>
        </p:nvSpPr>
        <p:spPr>
          <a:xfrm>
            <a:off x="658368" y="4209054"/>
            <a:ext cx="1554480" cy="306676"/>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33" name="Shape 31"/>
          <p:cNvSpPr/>
          <p:nvPr/>
        </p:nvSpPr>
        <p:spPr>
          <a:xfrm>
            <a:off x="2267712" y="4285722"/>
            <a:ext cx="609846" cy="153338"/>
          </a:xfrm>
          <a:prstGeom prst="rect">
            <a:avLst/>
          </a:prstGeom>
          <a:solidFill>
            <a:srgbClr val="C2352F"/>
          </a:solidFill>
          <a:ln/>
        </p:spPr>
      </p:sp>
      <p:sp>
        <p:nvSpPr>
          <p:cNvPr id="34" name="Text 32"/>
          <p:cNvSpPr txBox="1"/>
          <p:nvPr/>
        </p:nvSpPr>
        <p:spPr>
          <a:xfrm>
            <a:off x="3355848" y="4209054"/>
            <a:ext cx="777240" cy="306676"/>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14.7</a:t>
            </a:r>
            <a:endParaRPr lang="en-US" sz="1300" dirty="0"/>
          </a:p>
        </p:txBody>
      </p:sp>
      <p:sp>
        <p:nvSpPr>
          <p:cNvPr id="35" name="Text 33"/>
          <p:cNvSpPr txBox="1"/>
          <p:nvPr/>
        </p:nvSpPr>
        <p:spPr>
          <a:xfrm>
            <a:off x="658368" y="4515729"/>
            <a:ext cx="1554480" cy="306676"/>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36" name="Shape 34"/>
          <p:cNvSpPr/>
          <p:nvPr/>
        </p:nvSpPr>
        <p:spPr>
          <a:xfrm>
            <a:off x="2267712" y="4592398"/>
            <a:ext cx="565884" cy="153338"/>
          </a:xfrm>
          <a:prstGeom prst="rect">
            <a:avLst/>
          </a:prstGeom>
          <a:solidFill>
            <a:srgbClr val="C2352F"/>
          </a:solidFill>
          <a:ln/>
        </p:spPr>
      </p:sp>
      <p:sp>
        <p:nvSpPr>
          <p:cNvPr id="37" name="Text 35"/>
          <p:cNvSpPr txBox="1"/>
          <p:nvPr/>
        </p:nvSpPr>
        <p:spPr>
          <a:xfrm>
            <a:off x="3355848" y="4515729"/>
            <a:ext cx="777240" cy="306676"/>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13.6</a:t>
            </a:r>
            <a:endParaRPr lang="en-US" sz="1300" dirty="0"/>
          </a:p>
        </p:txBody>
      </p:sp>
      <p:sp>
        <p:nvSpPr>
          <p:cNvPr id="38" name="Text 36"/>
          <p:cNvSpPr txBox="1"/>
          <p:nvPr/>
        </p:nvSpPr>
        <p:spPr>
          <a:xfrm>
            <a:off x="658368" y="4950421"/>
            <a:ext cx="3383280" cy="36576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LUXURY AVG  </a:t>
            </a:r>
            <a:pPr indent="0" marL="0">
              <a:buNone/>
            </a:pPr>
            <a:r>
              <a:rPr lang="en-US" sz="1800" b="1" dirty="0">
                <a:solidFill>
                  <a:srgbClr val="0B2C4A"/>
                </a:solidFill>
                <a:latin typeface="Inter" pitchFamily="34" charset="0"/>
                <a:ea typeface="Inter" pitchFamily="34" charset="-122"/>
                <a:cs typeface="Inter" pitchFamily="34" charset="-120"/>
              </a:rPr>
              <a:t>17.4  </a:t>
            </a:r>
            <a:pPr indent="0" marL="0">
              <a:buNone/>
            </a:pPr>
            <a:r>
              <a:rPr lang="en-US" sz="1400" b="1" dirty="0">
                <a:solidFill>
                  <a:srgbClr val="0B7A4A"/>
                </a:solidFill>
                <a:latin typeface="Inter" pitchFamily="34" charset="0"/>
                <a:ea typeface="Inter" pitchFamily="34" charset="-122"/>
                <a:cs typeface="Inter" pitchFamily="34" charset="-120"/>
              </a:rPr>
              <a:t>(+0.1)</a:t>
            </a:r>
            <a:endParaRPr lang="en-US" sz="1400" dirty="0"/>
          </a:p>
        </p:txBody>
      </p:sp>
      <p:sp>
        <p:nvSpPr>
          <p:cNvPr id="39" name="Text 37"/>
          <p:cNvSpPr txBox="1"/>
          <p:nvPr/>
        </p:nvSpPr>
        <p:spPr>
          <a:xfrm>
            <a:off x="658368" y="5334469"/>
            <a:ext cx="3383280" cy="36576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NON-LUXURY AVG  </a:t>
            </a:r>
            <a:pPr indent="0" marL="0">
              <a:buNone/>
            </a:pPr>
            <a:r>
              <a:rPr lang="en-US" sz="1800" b="1" dirty="0">
                <a:solidFill>
                  <a:srgbClr val="0B2C4A"/>
                </a:solidFill>
                <a:latin typeface="Inter" pitchFamily="34" charset="0"/>
                <a:ea typeface="Inter" pitchFamily="34" charset="-122"/>
                <a:cs typeface="Inter" pitchFamily="34" charset="-120"/>
              </a:rPr>
              <a:t>29.3  </a:t>
            </a:r>
            <a:pPr indent="0" marL="0">
              <a:buNone/>
            </a:pPr>
            <a:r>
              <a:rPr lang="en-US" sz="1400" b="1" dirty="0">
                <a:solidFill>
                  <a:srgbClr val="0B7A4A"/>
                </a:solidFill>
                <a:latin typeface="Inter" pitchFamily="34" charset="0"/>
                <a:ea typeface="Inter" pitchFamily="34" charset="-122"/>
                <a:cs typeface="Inter" pitchFamily="34" charset="-120"/>
              </a:rPr>
              <a:t>(+1.1)</a:t>
            </a:r>
            <a:endParaRPr lang="en-US" sz="1400" dirty="0"/>
          </a:p>
        </p:txBody>
      </p:sp>
      <p:sp>
        <p:nvSpPr>
          <p:cNvPr id="40" name="Text 38"/>
          <p:cNvSpPr txBox="1"/>
          <p:nvPr/>
        </p:nvSpPr>
        <p:spPr>
          <a:xfrm>
            <a:off x="4315968" y="1316736"/>
            <a:ext cx="7132320" cy="32918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NON-LUXURY · 24 STORES</a:t>
            </a:r>
            <a:endParaRPr lang="en-US" sz="1400" dirty="0"/>
          </a:p>
        </p:txBody>
      </p:sp>
      <p:sp>
        <p:nvSpPr>
          <p:cNvPr id="41" name="Text 39"/>
          <p:cNvSpPr txBox="1"/>
          <p:nvPr/>
        </p:nvSpPr>
        <p:spPr>
          <a:xfrm>
            <a:off x="4315968" y="1755648"/>
            <a:ext cx="1920240" cy="306676"/>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42" name="Shape 40"/>
          <p:cNvSpPr/>
          <p:nvPr/>
        </p:nvSpPr>
        <p:spPr>
          <a:xfrm>
            <a:off x="6291072" y="1832317"/>
            <a:ext cx="627529" cy="153338"/>
          </a:xfrm>
          <a:prstGeom prst="rect">
            <a:avLst/>
          </a:prstGeom>
          <a:solidFill>
            <a:srgbClr val="12A566"/>
          </a:solidFill>
          <a:ln/>
        </p:spPr>
      </p:sp>
      <p:sp>
        <p:nvSpPr>
          <p:cNvPr id="43" name="Text 41"/>
          <p:cNvSpPr txBox="1"/>
          <p:nvPr/>
        </p:nvSpPr>
        <p:spPr>
          <a:xfrm>
            <a:off x="6967728" y="1755648"/>
            <a:ext cx="786384" cy="306676"/>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39.8</a:t>
            </a:r>
            <a:endParaRPr lang="en-US" sz="1300" dirty="0"/>
          </a:p>
        </p:txBody>
      </p:sp>
      <p:sp>
        <p:nvSpPr>
          <p:cNvPr id="44" name="Text 42"/>
          <p:cNvSpPr txBox="1"/>
          <p:nvPr/>
        </p:nvSpPr>
        <p:spPr>
          <a:xfrm>
            <a:off x="4315968" y="2062324"/>
            <a:ext cx="1920240" cy="306676"/>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45" name="Shape 43"/>
          <p:cNvSpPr/>
          <p:nvPr/>
        </p:nvSpPr>
        <p:spPr>
          <a:xfrm>
            <a:off x="6291072" y="2138993"/>
            <a:ext cx="606544" cy="153338"/>
          </a:xfrm>
          <a:prstGeom prst="rect">
            <a:avLst/>
          </a:prstGeom>
          <a:solidFill>
            <a:srgbClr val="12A566"/>
          </a:solidFill>
          <a:ln/>
        </p:spPr>
      </p:sp>
      <p:sp>
        <p:nvSpPr>
          <p:cNvPr id="46" name="Text 44"/>
          <p:cNvSpPr txBox="1"/>
          <p:nvPr/>
        </p:nvSpPr>
        <p:spPr>
          <a:xfrm>
            <a:off x="6967728" y="2062324"/>
            <a:ext cx="786384" cy="306676"/>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38.5</a:t>
            </a:r>
            <a:endParaRPr lang="en-US" sz="1300" dirty="0"/>
          </a:p>
        </p:txBody>
      </p:sp>
      <p:sp>
        <p:nvSpPr>
          <p:cNvPr id="47" name="Text 45"/>
          <p:cNvSpPr txBox="1"/>
          <p:nvPr/>
        </p:nvSpPr>
        <p:spPr>
          <a:xfrm>
            <a:off x="4315968" y="2368999"/>
            <a:ext cx="1920240" cy="306676"/>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48" name="Shape 46"/>
          <p:cNvSpPr/>
          <p:nvPr/>
        </p:nvSpPr>
        <p:spPr>
          <a:xfrm>
            <a:off x="6291072" y="2445668"/>
            <a:ext cx="589437" cy="153338"/>
          </a:xfrm>
          <a:prstGeom prst="rect">
            <a:avLst/>
          </a:prstGeom>
          <a:solidFill>
            <a:srgbClr val="12A566"/>
          </a:solidFill>
          <a:ln/>
        </p:spPr>
      </p:sp>
      <p:sp>
        <p:nvSpPr>
          <p:cNvPr id="49" name="Text 47"/>
          <p:cNvSpPr txBox="1"/>
          <p:nvPr/>
        </p:nvSpPr>
        <p:spPr>
          <a:xfrm>
            <a:off x="6967728" y="2368999"/>
            <a:ext cx="786384" cy="306676"/>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37.4</a:t>
            </a:r>
            <a:endParaRPr lang="en-US" sz="1300" dirty="0"/>
          </a:p>
        </p:txBody>
      </p:sp>
      <p:sp>
        <p:nvSpPr>
          <p:cNvPr id="50" name="Text 48"/>
          <p:cNvSpPr txBox="1"/>
          <p:nvPr/>
        </p:nvSpPr>
        <p:spPr>
          <a:xfrm>
            <a:off x="4315968" y="2675675"/>
            <a:ext cx="1920240" cy="306676"/>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51" name="Shape 49"/>
          <p:cNvSpPr/>
          <p:nvPr/>
        </p:nvSpPr>
        <p:spPr>
          <a:xfrm>
            <a:off x="6291072" y="2752344"/>
            <a:ext cx="580151" cy="153338"/>
          </a:xfrm>
          <a:prstGeom prst="rect">
            <a:avLst/>
          </a:prstGeom>
          <a:solidFill>
            <a:srgbClr val="12A566"/>
          </a:solidFill>
          <a:ln/>
        </p:spPr>
      </p:sp>
      <p:sp>
        <p:nvSpPr>
          <p:cNvPr id="52" name="Text 50"/>
          <p:cNvSpPr txBox="1"/>
          <p:nvPr/>
        </p:nvSpPr>
        <p:spPr>
          <a:xfrm>
            <a:off x="6967728" y="2675675"/>
            <a:ext cx="786384" cy="306676"/>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36.8</a:t>
            </a:r>
            <a:endParaRPr lang="en-US" sz="1300" dirty="0"/>
          </a:p>
        </p:txBody>
      </p:sp>
      <p:sp>
        <p:nvSpPr>
          <p:cNvPr id="53" name="Text 51"/>
          <p:cNvSpPr txBox="1"/>
          <p:nvPr/>
        </p:nvSpPr>
        <p:spPr>
          <a:xfrm>
            <a:off x="4315968" y="2982351"/>
            <a:ext cx="1920240" cy="306676"/>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54" name="Shape 52"/>
          <p:cNvSpPr/>
          <p:nvPr/>
        </p:nvSpPr>
        <p:spPr>
          <a:xfrm>
            <a:off x="6291072" y="3059020"/>
            <a:ext cx="575467" cy="153338"/>
          </a:xfrm>
          <a:prstGeom prst="rect">
            <a:avLst/>
          </a:prstGeom>
          <a:solidFill>
            <a:srgbClr val="12A566"/>
          </a:solidFill>
          <a:ln/>
        </p:spPr>
      </p:sp>
      <p:sp>
        <p:nvSpPr>
          <p:cNvPr id="55" name="Text 53"/>
          <p:cNvSpPr txBox="1"/>
          <p:nvPr/>
        </p:nvSpPr>
        <p:spPr>
          <a:xfrm>
            <a:off x="6967728" y="2982351"/>
            <a:ext cx="786384" cy="306676"/>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36.5</a:t>
            </a:r>
            <a:endParaRPr lang="en-US" sz="1300" dirty="0"/>
          </a:p>
        </p:txBody>
      </p:sp>
      <p:sp>
        <p:nvSpPr>
          <p:cNvPr id="56" name="Text 54"/>
          <p:cNvSpPr txBox="1"/>
          <p:nvPr/>
        </p:nvSpPr>
        <p:spPr>
          <a:xfrm>
            <a:off x="4315968" y="3289026"/>
            <a:ext cx="1920240" cy="306676"/>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57" name="Shape 55"/>
          <p:cNvSpPr/>
          <p:nvPr/>
        </p:nvSpPr>
        <p:spPr>
          <a:xfrm>
            <a:off x="6291072" y="3365695"/>
            <a:ext cx="551497" cy="153338"/>
          </a:xfrm>
          <a:prstGeom prst="rect">
            <a:avLst/>
          </a:prstGeom>
          <a:solidFill>
            <a:srgbClr val="12A566"/>
          </a:solidFill>
          <a:ln/>
        </p:spPr>
      </p:sp>
      <p:sp>
        <p:nvSpPr>
          <p:cNvPr id="58" name="Text 56"/>
          <p:cNvSpPr txBox="1"/>
          <p:nvPr/>
        </p:nvSpPr>
        <p:spPr>
          <a:xfrm>
            <a:off x="6967728" y="3289026"/>
            <a:ext cx="786384" cy="306676"/>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35.0</a:t>
            </a:r>
            <a:endParaRPr lang="en-US" sz="1300" dirty="0"/>
          </a:p>
        </p:txBody>
      </p:sp>
      <p:sp>
        <p:nvSpPr>
          <p:cNvPr id="59" name="Text 57"/>
          <p:cNvSpPr txBox="1"/>
          <p:nvPr/>
        </p:nvSpPr>
        <p:spPr>
          <a:xfrm>
            <a:off x="4315968" y="3595702"/>
            <a:ext cx="1920240" cy="306676"/>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60" name="Shape 58"/>
          <p:cNvSpPr/>
          <p:nvPr/>
        </p:nvSpPr>
        <p:spPr>
          <a:xfrm>
            <a:off x="6291072" y="3672371"/>
            <a:ext cx="547212" cy="153338"/>
          </a:xfrm>
          <a:prstGeom prst="rect">
            <a:avLst/>
          </a:prstGeom>
          <a:solidFill>
            <a:srgbClr val="12A566"/>
          </a:solidFill>
          <a:ln/>
        </p:spPr>
      </p:sp>
      <p:sp>
        <p:nvSpPr>
          <p:cNvPr id="61" name="Text 59"/>
          <p:cNvSpPr txBox="1"/>
          <p:nvPr/>
        </p:nvSpPr>
        <p:spPr>
          <a:xfrm>
            <a:off x="6967728" y="3595702"/>
            <a:ext cx="786384" cy="306676"/>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34.7</a:t>
            </a:r>
            <a:endParaRPr lang="en-US" sz="1300" dirty="0"/>
          </a:p>
        </p:txBody>
      </p:sp>
      <p:sp>
        <p:nvSpPr>
          <p:cNvPr id="62" name="Text 60"/>
          <p:cNvSpPr txBox="1"/>
          <p:nvPr/>
        </p:nvSpPr>
        <p:spPr>
          <a:xfrm>
            <a:off x="4315968" y="3902378"/>
            <a:ext cx="1920240" cy="306676"/>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63" name="Shape 61"/>
          <p:cNvSpPr/>
          <p:nvPr/>
        </p:nvSpPr>
        <p:spPr>
          <a:xfrm>
            <a:off x="6291072" y="3979047"/>
            <a:ext cx="511058" cy="153338"/>
          </a:xfrm>
          <a:prstGeom prst="rect">
            <a:avLst/>
          </a:prstGeom>
          <a:solidFill>
            <a:srgbClr val="12A566"/>
          </a:solidFill>
          <a:ln/>
        </p:spPr>
      </p:sp>
      <p:sp>
        <p:nvSpPr>
          <p:cNvPr id="64" name="Text 62"/>
          <p:cNvSpPr txBox="1"/>
          <p:nvPr/>
        </p:nvSpPr>
        <p:spPr>
          <a:xfrm>
            <a:off x="6967728" y="3902378"/>
            <a:ext cx="786384" cy="306676"/>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32.4</a:t>
            </a:r>
            <a:endParaRPr lang="en-US" sz="1300" dirty="0"/>
          </a:p>
        </p:txBody>
      </p:sp>
      <p:sp>
        <p:nvSpPr>
          <p:cNvPr id="65" name="Text 63"/>
          <p:cNvSpPr txBox="1"/>
          <p:nvPr/>
        </p:nvSpPr>
        <p:spPr>
          <a:xfrm>
            <a:off x="4315968" y="4209054"/>
            <a:ext cx="1920240" cy="306676"/>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66" name="Shape 64"/>
          <p:cNvSpPr/>
          <p:nvPr/>
        </p:nvSpPr>
        <p:spPr>
          <a:xfrm>
            <a:off x="6291072" y="4285722"/>
            <a:ext cx="495037" cy="153338"/>
          </a:xfrm>
          <a:prstGeom prst="rect">
            <a:avLst/>
          </a:prstGeom>
          <a:solidFill>
            <a:srgbClr val="12A566"/>
          </a:solidFill>
          <a:ln/>
        </p:spPr>
      </p:sp>
      <p:sp>
        <p:nvSpPr>
          <p:cNvPr id="67" name="Text 65"/>
          <p:cNvSpPr txBox="1"/>
          <p:nvPr/>
        </p:nvSpPr>
        <p:spPr>
          <a:xfrm>
            <a:off x="6967728" y="4209054"/>
            <a:ext cx="786384" cy="306676"/>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31.4</a:t>
            </a:r>
            <a:endParaRPr lang="en-US" sz="1300" dirty="0"/>
          </a:p>
        </p:txBody>
      </p:sp>
      <p:sp>
        <p:nvSpPr>
          <p:cNvPr id="68" name="Text 66"/>
          <p:cNvSpPr txBox="1"/>
          <p:nvPr/>
        </p:nvSpPr>
        <p:spPr>
          <a:xfrm>
            <a:off x="4315968" y="4515729"/>
            <a:ext cx="1920240" cy="306676"/>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69" name="Shape 67"/>
          <p:cNvSpPr/>
          <p:nvPr/>
        </p:nvSpPr>
        <p:spPr>
          <a:xfrm>
            <a:off x="6291072" y="4592398"/>
            <a:ext cx="494875" cy="153338"/>
          </a:xfrm>
          <a:prstGeom prst="rect">
            <a:avLst/>
          </a:prstGeom>
          <a:solidFill>
            <a:srgbClr val="12A566"/>
          </a:solidFill>
          <a:ln/>
        </p:spPr>
      </p:sp>
      <p:sp>
        <p:nvSpPr>
          <p:cNvPr id="70" name="Text 68"/>
          <p:cNvSpPr txBox="1"/>
          <p:nvPr/>
        </p:nvSpPr>
        <p:spPr>
          <a:xfrm>
            <a:off x="6967728" y="4515729"/>
            <a:ext cx="786384" cy="306676"/>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31.4</a:t>
            </a:r>
            <a:endParaRPr lang="en-US" sz="1300" dirty="0"/>
          </a:p>
        </p:txBody>
      </p:sp>
      <p:sp>
        <p:nvSpPr>
          <p:cNvPr id="71" name="Text 69"/>
          <p:cNvSpPr txBox="1"/>
          <p:nvPr/>
        </p:nvSpPr>
        <p:spPr>
          <a:xfrm>
            <a:off x="4315968" y="4822405"/>
            <a:ext cx="1920240" cy="306676"/>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72" name="Shape 70"/>
          <p:cNvSpPr/>
          <p:nvPr/>
        </p:nvSpPr>
        <p:spPr>
          <a:xfrm>
            <a:off x="6291072" y="4899074"/>
            <a:ext cx="494676" cy="153338"/>
          </a:xfrm>
          <a:prstGeom prst="rect">
            <a:avLst/>
          </a:prstGeom>
          <a:solidFill>
            <a:srgbClr val="12A566"/>
          </a:solidFill>
          <a:ln/>
        </p:spPr>
      </p:sp>
      <p:sp>
        <p:nvSpPr>
          <p:cNvPr id="73" name="Text 71"/>
          <p:cNvSpPr txBox="1"/>
          <p:nvPr/>
        </p:nvSpPr>
        <p:spPr>
          <a:xfrm>
            <a:off x="6967728" y="4822405"/>
            <a:ext cx="786384" cy="306676"/>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31.4</a:t>
            </a:r>
            <a:endParaRPr lang="en-US" sz="1300" dirty="0"/>
          </a:p>
        </p:txBody>
      </p:sp>
      <p:sp>
        <p:nvSpPr>
          <p:cNvPr id="74" name="Text 72"/>
          <p:cNvSpPr txBox="1"/>
          <p:nvPr/>
        </p:nvSpPr>
        <p:spPr>
          <a:xfrm>
            <a:off x="4315968" y="5129081"/>
            <a:ext cx="1920240" cy="306676"/>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75" name="Shape 73"/>
          <p:cNvSpPr/>
          <p:nvPr/>
        </p:nvSpPr>
        <p:spPr>
          <a:xfrm>
            <a:off x="6291072" y="5205750"/>
            <a:ext cx="492545" cy="153338"/>
          </a:xfrm>
          <a:prstGeom prst="rect">
            <a:avLst/>
          </a:prstGeom>
          <a:solidFill>
            <a:srgbClr val="12A566"/>
          </a:solidFill>
          <a:ln/>
        </p:spPr>
      </p:sp>
      <p:sp>
        <p:nvSpPr>
          <p:cNvPr id="76" name="Text 74"/>
          <p:cNvSpPr txBox="1"/>
          <p:nvPr/>
        </p:nvSpPr>
        <p:spPr>
          <a:xfrm>
            <a:off x="6967728" y="5129081"/>
            <a:ext cx="786384" cy="306676"/>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31.3</a:t>
            </a:r>
            <a:endParaRPr lang="en-US" sz="1300" dirty="0"/>
          </a:p>
        </p:txBody>
      </p:sp>
      <p:sp>
        <p:nvSpPr>
          <p:cNvPr id="77" name="Text 75"/>
          <p:cNvSpPr txBox="1"/>
          <p:nvPr/>
        </p:nvSpPr>
        <p:spPr>
          <a:xfrm>
            <a:off x="4315968" y="5435756"/>
            <a:ext cx="1920240" cy="306676"/>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78" name="Shape 76"/>
          <p:cNvSpPr/>
          <p:nvPr/>
        </p:nvSpPr>
        <p:spPr>
          <a:xfrm>
            <a:off x="6291072" y="5512425"/>
            <a:ext cx="490000" cy="153338"/>
          </a:xfrm>
          <a:prstGeom prst="rect">
            <a:avLst/>
          </a:prstGeom>
          <a:solidFill>
            <a:srgbClr val="12A566"/>
          </a:solidFill>
          <a:ln/>
        </p:spPr>
      </p:sp>
      <p:sp>
        <p:nvSpPr>
          <p:cNvPr id="79" name="Text 77"/>
          <p:cNvSpPr txBox="1"/>
          <p:nvPr/>
        </p:nvSpPr>
        <p:spPr>
          <a:xfrm>
            <a:off x="6967728" y="5435756"/>
            <a:ext cx="786384" cy="306676"/>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31.1</a:t>
            </a:r>
            <a:endParaRPr lang="en-US" sz="1300" dirty="0"/>
          </a:p>
        </p:txBody>
      </p:sp>
      <p:sp>
        <p:nvSpPr>
          <p:cNvPr id="80" name="Text 78"/>
          <p:cNvSpPr txBox="1"/>
          <p:nvPr/>
        </p:nvSpPr>
        <p:spPr>
          <a:xfrm>
            <a:off x="7918704" y="1755648"/>
            <a:ext cx="1920240" cy="306676"/>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81" name="Shape 79"/>
          <p:cNvSpPr/>
          <p:nvPr/>
        </p:nvSpPr>
        <p:spPr>
          <a:xfrm>
            <a:off x="9893808" y="1832317"/>
            <a:ext cx="481392" cy="153338"/>
          </a:xfrm>
          <a:prstGeom prst="rect">
            <a:avLst/>
          </a:prstGeom>
          <a:solidFill>
            <a:srgbClr val="12A566"/>
          </a:solidFill>
          <a:ln/>
        </p:spPr>
      </p:sp>
      <p:sp>
        <p:nvSpPr>
          <p:cNvPr id="82" name="Text 80"/>
          <p:cNvSpPr txBox="1"/>
          <p:nvPr/>
        </p:nvSpPr>
        <p:spPr>
          <a:xfrm>
            <a:off x="10570464" y="1755648"/>
            <a:ext cx="786384" cy="306676"/>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30.6</a:t>
            </a:r>
            <a:endParaRPr lang="en-US" sz="1300" dirty="0"/>
          </a:p>
        </p:txBody>
      </p:sp>
      <p:sp>
        <p:nvSpPr>
          <p:cNvPr id="83" name="Shape 81"/>
          <p:cNvSpPr/>
          <p:nvPr/>
        </p:nvSpPr>
        <p:spPr>
          <a:xfrm>
            <a:off x="7863840" y="2062324"/>
            <a:ext cx="3529584" cy="297532"/>
          </a:xfrm>
          <a:prstGeom prst="rect">
            <a:avLst/>
          </a:prstGeom>
          <a:solidFill>
            <a:srgbClr val="EDF4FA"/>
          </a:solidFill>
          <a:ln/>
        </p:spPr>
      </p:sp>
      <p:sp>
        <p:nvSpPr>
          <p:cNvPr id="84" name="Text 82"/>
          <p:cNvSpPr txBox="1"/>
          <p:nvPr/>
        </p:nvSpPr>
        <p:spPr>
          <a:xfrm>
            <a:off x="7918704" y="2062324"/>
            <a:ext cx="1920240" cy="306676"/>
          </a:xfrm>
          <a:prstGeom prst="rect">
            <a:avLst/>
          </a:prstGeom>
          <a:noFill/>
          <a:ln/>
        </p:spPr>
        <p:txBody>
          <a:bodyPr wrap="square" lIns="0" tIns="0" rIns="0" bIns="0" rtlCol="0" anchor="ctr"/>
          <a:lstStyle/>
          <a:p>
            <a:pPr indent="0" marL="0">
              <a:buNone/>
            </a:pPr>
            <a:r>
              <a:rPr lang="en-US" sz="1300" b="1" dirty="0">
                <a:solidFill>
                  <a:srgbClr val="0B2C4A"/>
                </a:solidFill>
                <a:latin typeface="Inter" pitchFamily="34" charset="0"/>
                <a:ea typeface="Inter" pitchFamily="34" charset="-122"/>
                <a:cs typeface="Inter" pitchFamily="34" charset="-120"/>
              </a:rPr>
              <a:t>NON-LUXURY</a:t>
            </a:r>
            <a:endParaRPr lang="en-US" sz="1300" dirty="0"/>
          </a:p>
        </p:txBody>
      </p:sp>
      <p:sp>
        <p:nvSpPr>
          <p:cNvPr id="85" name="Shape 83"/>
          <p:cNvSpPr/>
          <p:nvPr/>
        </p:nvSpPr>
        <p:spPr>
          <a:xfrm>
            <a:off x="9893808" y="2138993"/>
            <a:ext cx="460833" cy="153338"/>
          </a:xfrm>
          <a:prstGeom prst="rect">
            <a:avLst/>
          </a:prstGeom>
          <a:solidFill>
            <a:srgbClr val="0B2C4A"/>
          </a:solidFill>
          <a:ln/>
        </p:spPr>
      </p:sp>
      <p:sp>
        <p:nvSpPr>
          <p:cNvPr id="86" name="Text 84"/>
          <p:cNvSpPr txBox="1"/>
          <p:nvPr/>
        </p:nvSpPr>
        <p:spPr>
          <a:xfrm>
            <a:off x="10570464" y="2062324"/>
            <a:ext cx="786384" cy="306676"/>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29.3</a:t>
            </a:r>
            <a:endParaRPr lang="en-US" sz="1300" dirty="0"/>
          </a:p>
        </p:txBody>
      </p:sp>
      <p:sp>
        <p:nvSpPr>
          <p:cNvPr id="87" name="Text 85"/>
          <p:cNvSpPr txBox="1"/>
          <p:nvPr/>
        </p:nvSpPr>
        <p:spPr>
          <a:xfrm>
            <a:off x="7918704" y="2368999"/>
            <a:ext cx="1920240" cy="306676"/>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88" name="Shape 86"/>
          <p:cNvSpPr/>
          <p:nvPr/>
        </p:nvSpPr>
        <p:spPr>
          <a:xfrm>
            <a:off x="9893808" y="2445668"/>
            <a:ext cx="454080" cy="153338"/>
          </a:xfrm>
          <a:prstGeom prst="rect">
            <a:avLst/>
          </a:prstGeom>
          <a:solidFill>
            <a:srgbClr val="C2352F"/>
          </a:solidFill>
          <a:ln/>
        </p:spPr>
      </p:sp>
      <p:sp>
        <p:nvSpPr>
          <p:cNvPr id="89" name="Text 87"/>
          <p:cNvSpPr txBox="1"/>
          <p:nvPr/>
        </p:nvSpPr>
        <p:spPr>
          <a:xfrm>
            <a:off x="10570464" y="2368999"/>
            <a:ext cx="786384" cy="306676"/>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28.8</a:t>
            </a:r>
            <a:endParaRPr lang="en-US" sz="1300" dirty="0"/>
          </a:p>
        </p:txBody>
      </p:sp>
      <p:sp>
        <p:nvSpPr>
          <p:cNvPr id="90" name="Text 88"/>
          <p:cNvSpPr txBox="1"/>
          <p:nvPr/>
        </p:nvSpPr>
        <p:spPr>
          <a:xfrm>
            <a:off x="7918704" y="2675675"/>
            <a:ext cx="1920240" cy="306676"/>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91" name="Shape 89"/>
          <p:cNvSpPr/>
          <p:nvPr/>
        </p:nvSpPr>
        <p:spPr>
          <a:xfrm>
            <a:off x="9893808" y="2752344"/>
            <a:ext cx="444605" cy="153338"/>
          </a:xfrm>
          <a:prstGeom prst="rect">
            <a:avLst/>
          </a:prstGeom>
          <a:solidFill>
            <a:srgbClr val="C2352F"/>
          </a:solidFill>
          <a:ln/>
        </p:spPr>
      </p:sp>
      <p:sp>
        <p:nvSpPr>
          <p:cNvPr id="92" name="Text 90"/>
          <p:cNvSpPr txBox="1"/>
          <p:nvPr/>
        </p:nvSpPr>
        <p:spPr>
          <a:xfrm>
            <a:off x="10570464" y="2675675"/>
            <a:ext cx="786384" cy="306676"/>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28.2</a:t>
            </a:r>
            <a:endParaRPr lang="en-US" sz="1300" dirty="0"/>
          </a:p>
        </p:txBody>
      </p:sp>
      <p:sp>
        <p:nvSpPr>
          <p:cNvPr id="93" name="Text 91"/>
          <p:cNvSpPr txBox="1"/>
          <p:nvPr/>
        </p:nvSpPr>
        <p:spPr>
          <a:xfrm>
            <a:off x="7918704" y="2982351"/>
            <a:ext cx="1920240" cy="306676"/>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94" name="Shape 92"/>
          <p:cNvSpPr/>
          <p:nvPr/>
        </p:nvSpPr>
        <p:spPr>
          <a:xfrm>
            <a:off x="9893808" y="3059020"/>
            <a:ext cx="401239" cy="153338"/>
          </a:xfrm>
          <a:prstGeom prst="rect">
            <a:avLst/>
          </a:prstGeom>
          <a:solidFill>
            <a:srgbClr val="C2352F"/>
          </a:solidFill>
          <a:ln/>
        </p:spPr>
      </p:sp>
      <p:sp>
        <p:nvSpPr>
          <p:cNvPr id="95" name="Text 93"/>
          <p:cNvSpPr txBox="1"/>
          <p:nvPr/>
        </p:nvSpPr>
        <p:spPr>
          <a:xfrm>
            <a:off x="10570464" y="2982351"/>
            <a:ext cx="786384" cy="306676"/>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25.5</a:t>
            </a:r>
            <a:endParaRPr lang="en-US" sz="1300" dirty="0"/>
          </a:p>
        </p:txBody>
      </p:sp>
      <p:sp>
        <p:nvSpPr>
          <p:cNvPr id="96" name="Text 94"/>
          <p:cNvSpPr txBox="1"/>
          <p:nvPr/>
        </p:nvSpPr>
        <p:spPr>
          <a:xfrm>
            <a:off x="7918704" y="3289026"/>
            <a:ext cx="1920240" cy="306676"/>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97" name="Shape 95"/>
          <p:cNvSpPr/>
          <p:nvPr/>
        </p:nvSpPr>
        <p:spPr>
          <a:xfrm>
            <a:off x="9893808" y="3365695"/>
            <a:ext cx="372474" cy="153338"/>
          </a:xfrm>
          <a:prstGeom prst="rect">
            <a:avLst/>
          </a:prstGeom>
          <a:solidFill>
            <a:srgbClr val="C2352F"/>
          </a:solidFill>
          <a:ln/>
        </p:spPr>
      </p:sp>
      <p:sp>
        <p:nvSpPr>
          <p:cNvPr id="98" name="Text 96"/>
          <p:cNvSpPr txBox="1"/>
          <p:nvPr/>
        </p:nvSpPr>
        <p:spPr>
          <a:xfrm>
            <a:off x="10570464" y="3289026"/>
            <a:ext cx="786384" cy="306676"/>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23.6</a:t>
            </a:r>
            <a:endParaRPr lang="en-US" sz="1300" dirty="0"/>
          </a:p>
        </p:txBody>
      </p:sp>
      <p:sp>
        <p:nvSpPr>
          <p:cNvPr id="99" name="Text 97"/>
          <p:cNvSpPr txBox="1"/>
          <p:nvPr/>
        </p:nvSpPr>
        <p:spPr>
          <a:xfrm>
            <a:off x="7918704" y="3595702"/>
            <a:ext cx="1920240" cy="306676"/>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100" name="Shape 98"/>
          <p:cNvSpPr/>
          <p:nvPr/>
        </p:nvSpPr>
        <p:spPr>
          <a:xfrm>
            <a:off x="9893808" y="3672371"/>
            <a:ext cx="356634" cy="153338"/>
          </a:xfrm>
          <a:prstGeom prst="rect">
            <a:avLst/>
          </a:prstGeom>
          <a:solidFill>
            <a:srgbClr val="C2352F"/>
          </a:solidFill>
          <a:ln/>
        </p:spPr>
      </p:sp>
      <p:sp>
        <p:nvSpPr>
          <p:cNvPr id="101" name="Text 99"/>
          <p:cNvSpPr txBox="1"/>
          <p:nvPr/>
        </p:nvSpPr>
        <p:spPr>
          <a:xfrm>
            <a:off x="10570464" y="3595702"/>
            <a:ext cx="786384" cy="306676"/>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22.6</a:t>
            </a:r>
            <a:endParaRPr lang="en-US" sz="1300" dirty="0"/>
          </a:p>
        </p:txBody>
      </p:sp>
      <p:sp>
        <p:nvSpPr>
          <p:cNvPr id="102" name="Text 100"/>
          <p:cNvSpPr txBox="1"/>
          <p:nvPr/>
        </p:nvSpPr>
        <p:spPr>
          <a:xfrm>
            <a:off x="7918704" y="3902378"/>
            <a:ext cx="1920240" cy="306676"/>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03" name="Shape 101"/>
          <p:cNvSpPr/>
          <p:nvPr/>
        </p:nvSpPr>
        <p:spPr>
          <a:xfrm>
            <a:off x="9893808" y="3979047"/>
            <a:ext cx="348422" cy="153338"/>
          </a:xfrm>
          <a:prstGeom prst="rect">
            <a:avLst/>
          </a:prstGeom>
          <a:solidFill>
            <a:srgbClr val="C2352F"/>
          </a:solidFill>
          <a:ln/>
        </p:spPr>
      </p:sp>
      <p:sp>
        <p:nvSpPr>
          <p:cNvPr id="104" name="Text 102"/>
          <p:cNvSpPr txBox="1"/>
          <p:nvPr/>
        </p:nvSpPr>
        <p:spPr>
          <a:xfrm>
            <a:off x="10570464" y="3902378"/>
            <a:ext cx="786384" cy="306676"/>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22.1</a:t>
            </a:r>
            <a:endParaRPr lang="en-US" sz="1300" dirty="0"/>
          </a:p>
        </p:txBody>
      </p:sp>
      <p:sp>
        <p:nvSpPr>
          <p:cNvPr id="105" name="Text 103"/>
          <p:cNvSpPr txBox="1"/>
          <p:nvPr/>
        </p:nvSpPr>
        <p:spPr>
          <a:xfrm>
            <a:off x="7918704" y="4209054"/>
            <a:ext cx="1920240" cy="306676"/>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106" name="Shape 104"/>
          <p:cNvSpPr/>
          <p:nvPr/>
        </p:nvSpPr>
        <p:spPr>
          <a:xfrm>
            <a:off x="9893808" y="4285722"/>
            <a:ext cx="329527" cy="153338"/>
          </a:xfrm>
          <a:prstGeom prst="rect">
            <a:avLst/>
          </a:prstGeom>
          <a:solidFill>
            <a:srgbClr val="C2352F"/>
          </a:solidFill>
          <a:ln/>
        </p:spPr>
      </p:sp>
      <p:sp>
        <p:nvSpPr>
          <p:cNvPr id="107" name="Text 105"/>
          <p:cNvSpPr txBox="1"/>
          <p:nvPr/>
        </p:nvSpPr>
        <p:spPr>
          <a:xfrm>
            <a:off x="10570464" y="4209054"/>
            <a:ext cx="786384" cy="306676"/>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20.9</a:t>
            </a:r>
            <a:endParaRPr lang="en-US" sz="1300" dirty="0"/>
          </a:p>
        </p:txBody>
      </p:sp>
      <p:sp>
        <p:nvSpPr>
          <p:cNvPr id="108" name="Text 106"/>
          <p:cNvSpPr txBox="1"/>
          <p:nvPr/>
        </p:nvSpPr>
        <p:spPr>
          <a:xfrm>
            <a:off x="7918704" y="4515729"/>
            <a:ext cx="1920240" cy="306676"/>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09" name="Shape 107"/>
          <p:cNvSpPr/>
          <p:nvPr/>
        </p:nvSpPr>
        <p:spPr>
          <a:xfrm>
            <a:off x="9893808" y="4592398"/>
            <a:ext cx="320181" cy="153338"/>
          </a:xfrm>
          <a:prstGeom prst="rect">
            <a:avLst/>
          </a:prstGeom>
          <a:solidFill>
            <a:srgbClr val="C2352F"/>
          </a:solidFill>
          <a:ln/>
        </p:spPr>
      </p:sp>
      <p:sp>
        <p:nvSpPr>
          <p:cNvPr id="110" name="Text 108"/>
          <p:cNvSpPr txBox="1"/>
          <p:nvPr/>
        </p:nvSpPr>
        <p:spPr>
          <a:xfrm>
            <a:off x="10570464" y="4515729"/>
            <a:ext cx="786384" cy="306676"/>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20.3</a:t>
            </a:r>
            <a:endParaRPr lang="en-US" sz="1300" dirty="0"/>
          </a:p>
        </p:txBody>
      </p:sp>
      <p:sp>
        <p:nvSpPr>
          <p:cNvPr id="111" name="Text 109"/>
          <p:cNvSpPr txBox="1"/>
          <p:nvPr/>
        </p:nvSpPr>
        <p:spPr>
          <a:xfrm>
            <a:off x="7918704" y="4822405"/>
            <a:ext cx="1920240" cy="306676"/>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112" name="Shape 110"/>
          <p:cNvSpPr/>
          <p:nvPr/>
        </p:nvSpPr>
        <p:spPr>
          <a:xfrm>
            <a:off x="9893808" y="4899074"/>
            <a:ext cx="302237" cy="153338"/>
          </a:xfrm>
          <a:prstGeom prst="rect">
            <a:avLst/>
          </a:prstGeom>
          <a:solidFill>
            <a:srgbClr val="C2352F"/>
          </a:solidFill>
          <a:ln/>
        </p:spPr>
      </p:sp>
      <p:sp>
        <p:nvSpPr>
          <p:cNvPr id="113" name="Text 111"/>
          <p:cNvSpPr txBox="1"/>
          <p:nvPr/>
        </p:nvSpPr>
        <p:spPr>
          <a:xfrm>
            <a:off x="10570464" y="4822405"/>
            <a:ext cx="786384" cy="306676"/>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19.2</a:t>
            </a:r>
            <a:endParaRPr lang="en-US" sz="1300" dirty="0"/>
          </a:p>
        </p:txBody>
      </p:sp>
      <p:sp>
        <p:nvSpPr>
          <p:cNvPr id="114" name="Text 112"/>
          <p:cNvSpPr txBox="1"/>
          <p:nvPr/>
        </p:nvSpPr>
        <p:spPr>
          <a:xfrm>
            <a:off x="7918704" y="5129081"/>
            <a:ext cx="1920240" cy="306676"/>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15" name="Shape 113"/>
          <p:cNvSpPr/>
          <p:nvPr/>
        </p:nvSpPr>
        <p:spPr>
          <a:xfrm>
            <a:off x="9893808" y="5205750"/>
            <a:ext cx="273210" cy="153338"/>
          </a:xfrm>
          <a:prstGeom prst="rect">
            <a:avLst/>
          </a:prstGeom>
          <a:solidFill>
            <a:srgbClr val="C2352F"/>
          </a:solidFill>
          <a:ln/>
        </p:spPr>
      </p:sp>
      <p:sp>
        <p:nvSpPr>
          <p:cNvPr id="116" name="Text 114"/>
          <p:cNvSpPr txBox="1"/>
          <p:nvPr/>
        </p:nvSpPr>
        <p:spPr>
          <a:xfrm>
            <a:off x="10570464" y="5129081"/>
            <a:ext cx="786384" cy="306676"/>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17.3</a:t>
            </a:r>
            <a:endParaRPr lang="en-US" sz="1300" dirty="0"/>
          </a:p>
        </p:txBody>
      </p:sp>
      <p:sp>
        <p:nvSpPr>
          <p:cNvPr id="117" name="Shape 115"/>
          <p:cNvSpPr/>
          <p:nvPr/>
        </p:nvSpPr>
        <p:spPr>
          <a:xfrm>
            <a:off x="457200" y="5961888"/>
            <a:ext cx="11274552" cy="548640"/>
          </a:xfrm>
          <a:prstGeom prst="rect">
            <a:avLst/>
          </a:prstGeom>
          <a:solidFill>
            <a:srgbClr val="EDF4FA"/>
          </a:solidFill>
          <a:ln/>
        </p:spPr>
      </p:sp>
      <p:sp>
        <p:nvSpPr>
          <p:cNvPr id="118" name="Text 116"/>
          <p:cNvSpPr txBox="1"/>
          <p:nvPr/>
        </p:nvSpPr>
        <p:spPr>
          <a:xfrm>
            <a:off x="658368" y="5980176"/>
            <a:ext cx="10927080" cy="512064"/>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Against their own segment, 4 of 9 luxury stores beat 17.4 and 14 of 24 others beat 29.3. KIA ST GEORGE leads non-luxury at 39.8.</a:t>
            </a:r>
            <a:endParaRPr lang="en-US" sz="16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Employee</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01168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GROUP</a:t>
            </a:r>
            <a:endParaRPr lang="en-US" sz="1500" dirty="0"/>
          </a:p>
        </p:txBody>
      </p:sp>
      <p:sp>
        <p:nvSpPr>
          <p:cNvPr id="9" name="Text 7"/>
          <p:cNvSpPr txBox="1"/>
          <p:nvPr/>
        </p:nvSpPr>
        <p:spPr>
          <a:xfrm>
            <a:off x="2834640" y="1335024"/>
            <a:ext cx="420624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SAME-STORE, 33 STORES</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+0.8</a:t>
            </a:r>
            <a:endParaRPr lang="en-US" sz="2000" dirty="0"/>
          </a:p>
        </p:txBody>
      </p:sp>
      <p:sp>
        <p:nvSpPr>
          <p:cNvPr id="11" name="Text 9"/>
          <p:cNvSpPr txBox="1"/>
          <p:nvPr/>
        </p:nvSpPr>
        <p:spPr>
          <a:xfrm>
            <a:off x="658368" y="1847088"/>
            <a:ext cx="2240280" cy="23021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2" name="Shape 10"/>
          <p:cNvSpPr/>
          <p:nvPr/>
        </p:nvSpPr>
        <p:spPr>
          <a:xfrm>
            <a:off x="3813048" y="1909246"/>
            <a:ext cx="822960" cy="105898"/>
          </a:xfrm>
          <a:prstGeom prst="rect">
            <a:avLst/>
          </a:prstGeom>
          <a:solidFill>
            <a:srgbClr val="12A566"/>
          </a:solidFill>
          <a:ln/>
        </p:spPr>
      </p:sp>
      <p:sp>
        <p:nvSpPr>
          <p:cNvPr id="13" name="Text 11"/>
          <p:cNvSpPr txBox="1"/>
          <p:nvPr/>
        </p:nvSpPr>
        <p:spPr>
          <a:xfrm>
            <a:off x="4709160" y="1847088"/>
            <a:ext cx="1271016" cy="230214"/>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+6.9</a:t>
            </a:r>
            <a:endParaRPr lang="en-US" sz="1300" dirty="0"/>
          </a:p>
        </p:txBody>
      </p:sp>
      <p:sp>
        <p:nvSpPr>
          <p:cNvPr id="14" name="Text 12"/>
          <p:cNvSpPr txBox="1"/>
          <p:nvPr/>
        </p:nvSpPr>
        <p:spPr>
          <a:xfrm>
            <a:off x="658368" y="2077302"/>
            <a:ext cx="2240280" cy="23021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15" name="Shape 13"/>
          <p:cNvSpPr/>
          <p:nvPr/>
        </p:nvSpPr>
        <p:spPr>
          <a:xfrm>
            <a:off x="3813048" y="2139459"/>
            <a:ext cx="576989" cy="105898"/>
          </a:xfrm>
          <a:prstGeom prst="rect">
            <a:avLst/>
          </a:prstGeom>
          <a:solidFill>
            <a:srgbClr val="12A566"/>
          </a:solidFill>
          <a:ln/>
        </p:spPr>
      </p:sp>
      <p:sp>
        <p:nvSpPr>
          <p:cNvPr id="16" name="Text 14"/>
          <p:cNvSpPr txBox="1"/>
          <p:nvPr/>
        </p:nvSpPr>
        <p:spPr>
          <a:xfrm>
            <a:off x="4709160" y="2077302"/>
            <a:ext cx="1271016" cy="230214"/>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+4.8</a:t>
            </a:r>
            <a:endParaRPr lang="en-US" sz="1300" dirty="0"/>
          </a:p>
        </p:txBody>
      </p:sp>
      <p:sp>
        <p:nvSpPr>
          <p:cNvPr id="17" name="Text 15"/>
          <p:cNvSpPr txBox="1"/>
          <p:nvPr/>
        </p:nvSpPr>
        <p:spPr>
          <a:xfrm>
            <a:off x="658368" y="2307515"/>
            <a:ext cx="2240280" cy="23021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8" name="Shape 16"/>
          <p:cNvSpPr/>
          <p:nvPr/>
        </p:nvSpPr>
        <p:spPr>
          <a:xfrm>
            <a:off x="3813048" y="2369673"/>
            <a:ext cx="455342" cy="105898"/>
          </a:xfrm>
          <a:prstGeom prst="rect">
            <a:avLst/>
          </a:prstGeom>
          <a:solidFill>
            <a:srgbClr val="12A566"/>
          </a:solidFill>
          <a:ln/>
        </p:spPr>
      </p:sp>
      <p:sp>
        <p:nvSpPr>
          <p:cNvPr id="19" name="Text 17"/>
          <p:cNvSpPr txBox="1"/>
          <p:nvPr/>
        </p:nvSpPr>
        <p:spPr>
          <a:xfrm>
            <a:off x="4709160" y="2307515"/>
            <a:ext cx="1271016" cy="230214"/>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+3.8</a:t>
            </a:r>
            <a:endParaRPr lang="en-US" sz="1300" dirty="0"/>
          </a:p>
        </p:txBody>
      </p:sp>
      <p:sp>
        <p:nvSpPr>
          <p:cNvPr id="20" name="Text 18"/>
          <p:cNvSpPr txBox="1"/>
          <p:nvPr/>
        </p:nvSpPr>
        <p:spPr>
          <a:xfrm>
            <a:off x="658368" y="2537729"/>
            <a:ext cx="2240280" cy="23021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21" name="Shape 19"/>
          <p:cNvSpPr/>
          <p:nvPr/>
        </p:nvSpPr>
        <p:spPr>
          <a:xfrm>
            <a:off x="3813048" y="2599887"/>
            <a:ext cx="436629" cy="105898"/>
          </a:xfrm>
          <a:prstGeom prst="rect">
            <a:avLst/>
          </a:prstGeom>
          <a:solidFill>
            <a:srgbClr val="12A566"/>
          </a:solidFill>
          <a:ln/>
        </p:spPr>
      </p:sp>
      <p:sp>
        <p:nvSpPr>
          <p:cNvPr id="22" name="Text 20"/>
          <p:cNvSpPr txBox="1"/>
          <p:nvPr/>
        </p:nvSpPr>
        <p:spPr>
          <a:xfrm>
            <a:off x="4709160" y="2537729"/>
            <a:ext cx="1271016" cy="230214"/>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+3.6</a:t>
            </a:r>
            <a:endParaRPr lang="en-US" sz="1300" dirty="0"/>
          </a:p>
        </p:txBody>
      </p:sp>
      <p:sp>
        <p:nvSpPr>
          <p:cNvPr id="23" name="Text 21"/>
          <p:cNvSpPr txBox="1"/>
          <p:nvPr/>
        </p:nvSpPr>
        <p:spPr>
          <a:xfrm>
            <a:off x="658368" y="2767943"/>
            <a:ext cx="2240280" cy="23021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24" name="Shape 22"/>
          <p:cNvSpPr/>
          <p:nvPr/>
        </p:nvSpPr>
        <p:spPr>
          <a:xfrm>
            <a:off x="3813048" y="2830100"/>
            <a:ext cx="390417" cy="105898"/>
          </a:xfrm>
          <a:prstGeom prst="rect">
            <a:avLst/>
          </a:prstGeom>
          <a:solidFill>
            <a:srgbClr val="12A566"/>
          </a:solidFill>
          <a:ln/>
        </p:spPr>
      </p:sp>
      <p:sp>
        <p:nvSpPr>
          <p:cNvPr id="25" name="Text 23"/>
          <p:cNvSpPr txBox="1"/>
          <p:nvPr/>
        </p:nvSpPr>
        <p:spPr>
          <a:xfrm>
            <a:off x="4709160" y="2767943"/>
            <a:ext cx="1271016" cy="230214"/>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+3.3</a:t>
            </a:r>
            <a:endParaRPr lang="en-US" sz="1300" dirty="0"/>
          </a:p>
        </p:txBody>
      </p:sp>
      <p:sp>
        <p:nvSpPr>
          <p:cNvPr id="26" name="Text 24"/>
          <p:cNvSpPr txBox="1"/>
          <p:nvPr/>
        </p:nvSpPr>
        <p:spPr>
          <a:xfrm>
            <a:off x="658368" y="2998156"/>
            <a:ext cx="2240280" cy="23021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27" name="Shape 25"/>
          <p:cNvSpPr/>
          <p:nvPr/>
        </p:nvSpPr>
        <p:spPr>
          <a:xfrm>
            <a:off x="3813048" y="3060314"/>
            <a:ext cx="332450" cy="105898"/>
          </a:xfrm>
          <a:prstGeom prst="rect">
            <a:avLst/>
          </a:prstGeom>
          <a:solidFill>
            <a:srgbClr val="12A566"/>
          </a:solidFill>
          <a:ln/>
        </p:spPr>
      </p:sp>
      <p:sp>
        <p:nvSpPr>
          <p:cNvPr id="28" name="Text 26"/>
          <p:cNvSpPr txBox="1"/>
          <p:nvPr/>
        </p:nvSpPr>
        <p:spPr>
          <a:xfrm>
            <a:off x="4709160" y="2998156"/>
            <a:ext cx="1271016" cy="230214"/>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+2.8</a:t>
            </a:r>
            <a:endParaRPr lang="en-US" sz="1300" dirty="0"/>
          </a:p>
        </p:txBody>
      </p:sp>
      <p:sp>
        <p:nvSpPr>
          <p:cNvPr id="29" name="Text 27"/>
          <p:cNvSpPr txBox="1"/>
          <p:nvPr/>
        </p:nvSpPr>
        <p:spPr>
          <a:xfrm>
            <a:off x="658368" y="3228370"/>
            <a:ext cx="2240280" cy="23021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30" name="Shape 28"/>
          <p:cNvSpPr/>
          <p:nvPr/>
        </p:nvSpPr>
        <p:spPr>
          <a:xfrm>
            <a:off x="3813048" y="3290528"/>
            <a:ext cx="260650" cy="105898"/>
          </a:xfrm>
          <a:prstGeom prst="rect">
            <a:avLst/>
          </a:prstGeom>
          <a:solidFill>
            <a:srgbClr val="12A566"/>
          </a:solidFill>
          <a:ln/>
        </p:spPr>
      </p:sp>
      <p:sp>
        <p:nvSpPr>
          <p:cNvPr id="31" name="Text 29"/>
          <p:cNvSpPr txBox="1"/>
          <p:nvPr/>
        </p:nvSpPr>
        <p:spPr>
          <a:xfrm>
            <a:off x="4709160" y="3228370"/>
            <a:ext cx="1271016" cy="230214"/>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+2.2</a:t>
            </a:r>
            <a:endParaRPr lang="en-US" sz="1300" dirty="0"/>
          </a:p>
        </p:txBody>
      </p:sp>
      <p:sp>
        <p:nvSpPr>
          <p:cNvPr id="32" name="Text 30"/>
          <p:cNvSpPr txBox="1"/>
          <p:nvPr/>
        </p:nvSpPr>
        <p:spPr>
          <a:xfrm>
            <a:off x="658368" y="3458584"/>
            <a:ext cx="2240280" cy="23021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33" name="Shape 31"/>
          <p:cNvSpPr/>
          <p:nvPr/>
        </p:nvSpPr>
        <p:spPr>
          <a:xfrm>
            <a:off x="3813048" y="3520741"/>
            <a:ext cx="257553" cy="105898"/>
          </a:xfrm>
          <a:prstGeom prst="rect">
            <a:avLst/>
          </a:prstGeom>
          <a:solidFill>
            <a:srgbClr val="12A566"/>
          </a:solidFill>
          <a:ln/>
        </p:spPr>
      </p:sp>
      <p:sp>
        <p:nvSpPr>
          <p:cNvPr id="34" name="Text 32"/>
          <p:cNvSpPr txBox="1"/>
          <p:nvPr/>
        </p:nvSpPr>
        <p:spPr>
          <a:xfrm>
            <a:off x="4709160" y="3458584"/>
            <a:ext cx="1271016" cy="230214"/>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+2.2</a:t>
            </a:r>
            <a:endParaRPr lang="en-US" sz="1300" dirty="0"/>
          </a:p>
        </p:txBody>
      </p:sp>
      <p:sp>
        <p:nvSpPr>
          <p:cNvPr id="35" name="Text 33"/>
          <p:cNvSpPr txBox="1"/>
          <p:nvPr/>
        </p:nvSpPr>
        <p:spPr>
          <a:xfrm>
            <a:off x="658368" y="3688797"/>
            <a:ext cx="2240280" cy="23021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36" name="Shape 34"/>
          <p:cNvSpPr/>
          <p:nvPr/>
        </p:nvSpPr>
        <p:spPr>
          <a:xfrm>
            <a:off x="3813048" y="3750955"/>
            <a:ext cx="213951" cy="105898"/>
          </a:xfrm>
          <a:prstGeom prst="rect">
            <a:avLst/>
          </a:prstGeom>
          <a:solidFill>
            <a:srgbClr val="12A566"/>
          </a:solidFill>
          <a:ln/>
        </p:spPr>
      </p:sp>
      <p:sp>
        <p:nvSpPr>
          <p:cNvPr id="37" name="Text 35"/>
          <p:cNvSpPr txBox="1"/>
          <p:nvPr/>
        </p:nvSpPr>
        <p:spPr>
          <a:xfrm>
            <a:off x="4709160" y="3688797"/>
            <a:ext cx="1271016" cy="230214"/>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+1.8</a:t>
            </a:r>
            <a:endParaRPr lang="en-US" sz="1300" dirty="0"/>
          </a:p>
        </p:txBody>
      </p:sp>
      <p:sp>
        <p:nvSpPr>
          <p:cNvPr id="38" name="Text 36"/>
          <p:cNvSpPr txBox="1"/>
          <p:nvPr/>
        </p:nvSpPr>
        <p:spPr>
          <a:xfrm>
            <a:off x="658368" y="3919011"/>
            <a:ext cx="2240280" cy="23021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39" name="Shape 37"/>
          <p:cNvSpPr/>
          <p:nvPr/>
        </p:nvSpPr>
        <p:spPr>
          <a:xfrm>
            <a:off x="3813048" y="3981169"/>
            <a:ext cx="189020" cy="105898"/>
          </a:xfrm>
          <a:prstGeom prst="rect">
            <a:avLst/>
          </a:prstGeom>
          <a:solidFill>
            <a:srgbClr val="12A566"/>
          </a:solidFill>
          <a:ln/>
        </p:spPr>
      </p:sp>
      <p:sp>
        <p:nvSpPr>
          <p:cNvPr id="40" name="Text 38"/>
          <p:cNvSpPr txBox="1"/>
          <p:nvPr/>
        </p:nvSpPr>
        <p:spPr>
          <a:xfrm>
            <a:off x="4709160" y="3919011"/>
            <a:ext cx="1271016" cy="230214"/>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+1.6</a:t>
            </a:r>
            <a:endParaRPr lang="en-US" sz="1300" dirty="0"/>
          </a:p>
        </p:txBody>
      </p:sp>
      <p:sp>
        <p:nvSpPr>
          <p:cNvPr id="41" name="Text 39"/>
          <p:cNvSpPr txBox="1"/>
          <p:nvPr/>
        </p:nvSpPr>
        <p:spPr>
          <a:xfrm>
            <a:off x="658368" y="4149224"/>
            <a:ext cx="2240280" cy="23021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42" name="Shape 40"/>
          <p:cNvSpPr/>
          <p:nvPr/>
        </p:nvSpPr>
        <p:spPr>
          <a:xfrm>
            <a:off x="3813048" y="4211382"/>
            <a:ext cx="180989" cy="105898"/>
          </a:xfrm>
          <a:prstGeom prst="rect">
            <a:avLst/>
          </a:prstGeom>
          <a:solidFill>
            <a:srgbClr val="12A566"/>
          </a:solidFill>
          <a:ln/>
        </p:spPr>
      </p:sp>
      <p:sp>
        <p:nvSpPr>
          <p:cNvPr id="43" name="Text 41"/>
          <p:cNvSpPr txBox="1"/>
          <p:nvPr/>
        </p:nvSpPr>
        <p:spPr>
          <a:xfrm>
            <a:off x="4709160" y="4149224"/>
            <a:ext cx="1271016" cy="230214"/>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+1.5</a:t>
            </a:r>
            <a:endParaRPr lang="en-US" sz="1300" dirty="0"/>
          </a:p>
        </p:txBody>
      </p:sp>
      <p:sp>
        <p:nvSpPr>
          <p:cNvPr id="44" name="Text 42"/>
          <p:cNvSpPr txBox="1"/>
          <p:nvPr/>
        </p:nvSpPr>
        <p:spPr>
          <a:xfrm>
            <a:off x="658368" y="4379438"/>
            <a:ext cx="2240280" cy="23021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45" name="Shape 43"/>
          <p:cNvSpPr/>
          <p:nvPr/>
        </p:nvSpPr>
        <p:spPr>
          <a:xfrm>
            <a:off x="3813048" y="4441596"/>
            <a:ext cx="123014" cy="105898"/>
          </a:xfrm>
          <a:prstGeom prst="rect">
            <a:avLst/>
          </a:prstGeom>
          <a:solidFill>
            <a:srgbClr val="12A566"/>
          </a:solidFill>
          <a:ln/>
        </p:spPr>
      </p:sp>
      <p:sp>
        <p:nvSpPr>
          <p:cNvPr id="46" name="Text 44"/>
          <p:cNvSpPr txBox="1"/>
          <p:nvPr/>
        </p:nvSpPr>
        <p:spPr>
          <a:xfrm>
            <a:off x="4709160" y="4379438"/>
            <a:ext cx="1271016" cy="230214"/>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+1.0</a:t>
            </a:r>
            <a:endParaRPr lang="en-US" sz="1300" dirty="0"/>
          </a:p>
        </p:txBody>
      </p:sp>
      <p:sp>
        <p:nvSpPr>
          <p:cNvPr id="47" name="Text 45"/>
          <p:cNvSpPr txBox="1"/>
          <p:nvPr/>
        </p:nvSpPr>
        <p:spPr>
          <a:xfrm>
            <a:off x="658368" y="4609652"/>
            <a:ext cx="2240280" cy="23021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48" name="Shape 46"/>
          <p:cNvSpPr/>
          <p:nvPr/>
        </p:nvSpPr>
        <p:spPr>
          <a:xfrm>
            <a:off x="3813048" y="4671809"/>
            <a:ext cx="115685" cy="105898"/>
          </a:xfrm>
          <a:prstGeom prst="rect">
            <a:avLst/>
          </a:prstGeom>
          <a:solidFill>
            <a:srgbClr val="12A566"/>
          </a:solidFill>
          <a:ln/>
        </p:spPr>
      </p:sp>
      <p:sp>
        <p:nvSpPr>
          <p:cNvPr id="49" name="Text 47"/>
          <p:cNvSpPr txBox="1"/>
          <p:nvPr/>
        </p:nvSpPr>
        <p:spPr>
          <a:xfrm>
            <a:off x="4709160" y="4609652"/>
            <a:ext cx="1271016" cy="230214"/>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+1.0</a:t>
            </a:r>
            <a:endParaRPr lang="en-US" sz="1300" dirty="0"/>
          </a:p>
        </p:txBody>
      </p:sp>
      <p:sp>
        <p:nvSpPr>
          <p:cNvPr id="50" name="Text 48"/>
          <p:cNvSpPr txBox="1"/>
          <p:nvPr/>
        </p:nvSpPr>
        <p:spPr>
          <a:xfrm>
            <a:off x="658368" y="4839865"/>
            <a:ext cx="2240280" cy="23021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51" name="Shape 49"/>
          <p:cNvSpPr/>
          <p:nvPr/>
        </p:nvSpPr>
        <p:spPr>
          <a:xfrm>
            <a:off x="3813048" y="4902023"/>
            <a:ext cx="105774" cy="105898"/>
          </a:xfrm>
          <a:prstGeom prst="rect">
            <a:avLst/>
          </a:prstGeom>
          <a:solidFill>
            <a:srgbClr val="12A566"/>
          </a:solidFill>
          <a:ln/>
        </p:spPr>
      </p:sp>
      <p:sp>
        <p:nvSpPr>
          <p:cNvPr id="52" name="Text 50"/>
          <p:cNvSpPr txBox="1"/>
          <p:nvPr/>
        </p:nvSpPr>
        <p:spPr>
          <a:xfrm>
            <a:off x="4709160" y="4839865"/>
            <a:ext cx="1271016" cy="230214"/>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+0.9</a:t>
            </a:r>
            <a:endParaRPr lang="en-US" sz="1300" dirty="0"/>
          </a:p>
        </p:txBody>
      </p:sp>
      <p:sp>
        <p:nvSpPr>
          <p:cNvPr id="53" name="Text 51"/>
          <p:cNvSpPr txBox="1"/>
          <p:nvPr/>
        </p:nvSpPr>
        <p:spPr>
          <a:xfrm>
            <a:off x="658368" y="5070079"/>
            <a:ext cx="2240280" cy="23021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54" name="Shape 52"/>
          <p:cNvSpPr/>
          <p:nvPr/>
        </p:nvSpPr>
        <p:spPr>
          <a:xfrm>
            <a:off x="3813048" y="5132237"/>
            <a:ext cx="95064" cy="105898"/>
          </a:xfrm>
          <a:prstGeom prst="rect">
            <a:avLst/>
          </a:prstGeom>
          <a:solidFill>
            <a:srgbClr val="12A566"/>
          </a:solidFill>
          <a:ln/>
        </p:spPr>
      </p:sp>
      <p:sp>
        <p:nvSpPr>
          <p:cNvPr id="55" name="Text 53"/>
          <p:cNvSpPr txBox="1"/>
          <p:nvPr/>
        </p:nvSpPr>
        <p:spPr>
          <a:xfrm>
            <a:off x="4709160" y="5070079"/>
            <a:ext cx="1271016" cy="230214"/>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+0.8</a:t>
            </a:r>
            <a:endParaRPr lang="en-US" sz="1300" dirty="0"/>
          </a:p>
        </p:txBody>
      </p:sp>
      <p:sp>
        <p:nvSpPr>
          <p:cNvPr id="56" name="Text 54"/>
          <p:cNvSpPr txBox="1"/>
          <p:nvPr/>
        </p:nvSpPr>
        <p:spPr>
          <a:xfrm>
            <a:off x="658368" y="5300293"/>
            <a:ext cx="2240280" cy="23021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57" name="Shape 55"/>
          <p:cNvSpPr/>
          <p:nvPr/>
        </p:nvSpPr>
        <p:spPr>
          <a:xfrm>
            <a:off x="3813048" y="5362450"/>
            <a:ext cx="86093" cy="105898"/>
          </a:xfrm>
          <a:prstGeom prst="rect">
            <a:avLst/>
          </a:prstGeom>
          <a:solidFill>
            <a:srgbClr val="12A566"/>
          </a:solidFill>
          <a:ln/>
        </p:spPr>
      </p:sp>
      <p:sp>
        <p:nvSpPr>
          <p:cNvPr id="58" name="Text 56"/>
          <p:cNvSpPr txBox="1"/>
          <p:nvPr/>
        </p:nvSpPr>
        <p:spPr>
          <a:xfrm>
            <a:off x="4709160" y="5300293"/>
            <a:ext cx="1271016" cy="230214"/>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+0.7</a:t>
            </a:r>
            <a:endParaRPr lang="en-US" sz="1300" dirty="0"/>
          </a:p>
        </p:txBody>
      </p:sp>
      <p:sp>
        <p:nvSpPr>
          <p:cNvPr id="59" name="Text 57"/>
          <p:cNvSpPr txBox="1"/>
          <p:nvPr/>
        </p:nvSpPr>
        <p:spPr>
          <a:xfrm>
            <a:off x="658368" y="5530506"/>
            <a:ext cx="2240280" cy="23021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60" name="Shape 58"/>
          <p:cNvSpPr/>
          <p:nvPr/>
        </p:nvSpPr>
        <p:spPr>
          <a:xfrm>
            <a:off x="3813048" y="5592664"/>
            <a:ext cx="77785" cy="105898"/>
          </a:xfrm>
          <a:prstGeom prst="rect">
            <a:avLst/>
          </a:prstGeom>
          <a:solidFill>
            <a:srgbClr val="12A566"/>
          </a:solidFill>
          <a:ln/>
        </p:spPr>
      </p:sp>
      <p:sp>
        <p:nvSpPr>
          <p:cNvPr id="61" name="Text 59"/>
          <p:cNvSpPr txBox="1"/>
          <p:nvPr/>
        </p:nvSpPr>
        <p:spPr>
          <a:xfrm>
            <a:off x="4709160" y="5530506"/>
            <a:ext cx="1271016" cy="230214"/>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+0.6</a:t>
            </a:r>
            <a:endParaRPr lang="en-US" sz="1300" dirty="0"/>
          </a:p>
        </p:txBody>
      </p:sp>
      <p:sp>
        <p:nvSpPr>
          <p:cNvPr id="62" name="Text 60"/>
          <p:cNvSpPr txBox="1"/>
          <p:nvPr/>
        </p:nvSpPr>
        <p:spPr>
          <a:xfrm>
            <a:off x="6208776" y="1847088"/>
            <a:ext cx="2240280" cy="23021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63" name="Shape 61"/>
          <p:cNvSpPr/>
          <p:nvPr/>
        </p:nvSpPr>
        <p:spPr>
          <a:xfrm>
            <a:off x="9363456" y="1909246"/>
            <a:ext cx="65160" cy="105898"/>
          </a:xfrm>
          <a:prstGeom prst="rect">
            <a:avLst/>
          </a:prstGeom>
          <a:solidFill>
            <a:srgbClr val="12A566"/>
          </a:solidFill>
          <a:ln/>
        </p:spPr>
      </p:sp>
      <p:sp>
        <p:nvSpPr>
          <p:cNvPr id="64" name="Text 62"/>
          <p:cNvSpPr txBox="1"/>
          <p:nvPr/>
        </p:nvSpPr>
        <p:spPr>
          <a:xfrm>
            <a:off x="10259568" y="1847088"/>
            <a:ext cx="1271016" cy="230214"/>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+0.5</a:t>
            </a:r>
            <a:endParaRPr lang="en-US" sz="1300" dirty="0"/>
          </a:p>
        </p:txBody>
      </p:sp>
      <p:sp>
        <p:nvSpPr>
          <p:cNvPr id="65" name="Text 63"/>
          <p:cNvSpPr txBox="1"/>
          <p:nvPr/>
        </p:nvSpPr>
        <p:spPr>
          <a:xfrm>
            <a:off x="6208776" y="2077302"/>
            <a:ext cx="2240280" cy="23021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66" name="Shape 64"/>
          <p:cNvSpPr/>
          <p:nvPr/>
        </p:nvSpPr>
        <p:spPr>
          <a:xfrm>
            <a:off x="9363456" y="2139459"/>
            <a:ext cx="58737" cy="105898"/>
          </a:xfrm>
          <a:prstGeom prst="rect">
            <a:avLst/>
          </a:prstGeom>
          <a:solidFill>
            <a:srgbClr val="12A566"/>
          </a:solidFill>
          <a:ln/>
        </p:spPr>
      </p:sp>
      <p:sp>
        <p:nvSpPr>
          <p:cNvPr id="67" name="Text 65"/>
          <p:cNvSpPr txBox="1"/>
          <p:nvPr/>
        </p:nvSpPr>
        <p:spPr>
          <a:xfrm>
            <a:off x="10259568" y="2077302"/>
            <a:ext cx="1271016" cy="230214"/>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+0.5</a:t>
            </a:r>
            <a:endParaRPr lang="en-US" sz="1300" dirty="0"/>
          </a:p>
        </p:txBody>
      </p:sp>
      <p:sp>
        <p:nvSpPr>
          <p:cNvPr id="68" name="Text 66"/>
          <p:cNvSpPr txBox="1"/>
          <p:nvPr/>
        </p:nvSpPr>
        <p:spPr>
          <a:xfrm>
            <a:off x="6208776" y="2307515"/>
            <a:ext cx="2240280" cy="23021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69" name="Shape 67"/>
          <p:cNvSpPr/>
          <p:nvPr/>
        </p:nvSpPr>
        <p:spPr>
          <a:xfrm>
            <a:off x="9363456" y="2369673"/>
            <a:ext cx="48420" cy="105898"/>
          </a:xfrm>
          <a:prstGeom prst="rect">
            <a:avLst/>
          </a:prstGeom>
          <a:solidFill>
            <a:srgbClr val="12A566"/>
          </a:solidFill>
          <a:ln/>
        </p:spPr>
      </p:sp>
      <p:sp>
        <p:nvSpPr>
          <p:cNvPr id="70" name="Text 68"/>
          <p:cNvSpPr txBox="1"/>
          <p:nvPr/>
        </p:nvSpPr>
        <p:spPr>
          <a:xfrm>
            <a:off x="10259568" y="2307515"/>
            <a:ext cx="1271016" cy="230214"/>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+0.4</a:t>
            </a:r>
            <a:endParaRPr lang="en-US" sz="1300" dirty="0"/>
          </a:p>
        </p:txBody>
      </p:sp>
      <p:sp>
        <p:nvSpPr>
          <p:cNvPr id="71" name="Text 69"/>
          <p:cNvSpPr txBox="1"/>
          <p:nvPr/>
        </p:nvSpPr>
        <p:spPr>
          <a:xfrm>
            <a:off x="6208776" y="2537729"/>
            <a:ext cx="2240280" cy="23021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72" name="Shape 70"/>
          <p:cNvSpPr/>
          <p:nvPr/>
        </p:nvSpPr>
        <p:spPr>
          <a:xfrm>
            <a:off x="9363456" y="2599887"/>
            <a:ext cx="35237" cy="105898"/>
          </a:xfrm>
          <a:prstGeom prst="rect">
            <a:avLst/>
          </a:prstGeom>
          <a:solidFill>
            <a:srgbClr val="12A566"/>
          </a:solidFill>
          <a:ln/>
        </p:spPr>
      </p:sp>
      <p:sp>
        <p:nvSpPr>
          <p:cNvPr id="73" name="Text 71"/>
          <p:cNvSpPr txBox="1"/>
          <p:nvPr/>
        </p:nvSpPr>
        <p:spPr>
          <a:xfrm>
            <a:off x="10259568" y="2537729"/>
            <a:ext cx="1271016" cy="230214"/>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+0.3</a:t>
            </a:r>
            <a:endParaRPr lang="en-US" sz="1300" dirty="0"/>
          </a:p>
        </p:txBody>
      </p:sp>
      <p:sp>
        <p:nvSpPr>
          <p:cNvPr id="74" name="Text 72"/>
          <p:cNvSpPr txBox="1"/>
          <p:nvPr/>
        </p:nvSpPr>
        <p:spPr>
          <a:xfrm>
            <a:off x="6208776" y="2767943"/>
            <a:ext cx="2240280" cy="23021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75" name="Shape 73"/>
          <p:cNvSpPr/>
          <p:nvPr/>
        </p:nvSpPr>
        <p:spPr>
          <a:xfrm>
            <a:off x="9363456" y="2830100"/>
            <a:ext cx="29984" cy="105898"/>
          </a:xfrm>
          <a:prstGeom prst="rect">
            <a:avLst/>
          </a:prstGeom>
          <a:solidFill>
            <a:srgbClr val="12A566"/>
          </a:solidFill>
          <a:ln/>
        </p:spPr>
      </p:sp>
      <p:sp>
        <p:nvSpPr>
          <p:cNvPr id="76" name="Text 74"/>
          <p:cNvSpPr txBox="1"/>
          <p:nvPr/>
        </p:nvSpPr>
        <p:spPr>
          <a:xfrm>
            <a:off x="10259568" y="2767943"/>
            <a:ext cx="1271016" cy="230214"/>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+0.3</a:t>
            </a:r>
            <a:endParaRPr lang="en-US" sz="1300" dirty="0"/>
          </a:p>
        </p:txBody>
      </p:sp>
      <p:sp>
        <p:nvSpPr>
          <p:cNvPr id="77" name="Text 75"/>
          <p:cNvSpPr txBox="1"/>
          <p:nvPr/>
        </p:nvSpPr>
        <p:spPr>
          <a:xfrm>
            <a:off x="6208776" y="2998156"/>
            <a:ext cx="2240280" cy="23021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78" name="Shape 76"/>
          <p:cNvSpPr/>
          <p:nvPr/>
        </p:nvSpPr>
        <p:spPr>
          <a:xfrm>
            <a:off x="9358796" y="3060314"/>
            <a:ext cx="12802" cy="105898"/>
          </a:xfrm>
          <a:prstGeom prst="rect">
            <a:avLst/>
          </a:prstGeom>
          <a:solidFill>
            <a:srgbClr val="C2352F"/>
          </a:solidFill>
          <a:ln/>
        </p:spPr>
      </p:sp>
      <p:sp>
        <p:nvSpPr>
          <p:cNvPr id="79" name="Text 77"/>
          <p:cNvSpPr txBox="1"/>
          <p:nvPr/>
        </p:nvSpPr>
        <p:spPr>
          <a:xfrm>
            <a:off x="10259568" y="2998156"/>
            <a:ext cx="1271016" cy="230214"/>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−0.0</a:t>
            </a:r>
            <a:endParaRPr lang="en-US" sz="1300" dirty="0"/>
          </a:p>
        </p:txBody>
      </p:sp>
      <p:sp>
        <p:nvSpPr>
          <p:cNvPr id="80" name="Text 78"/>
          <p:cNvSpPr txBox="1"/>
          <p:nvPr/>
        </p:nvSpPr>
        <p:spPr>
          <a:xfrm>
            <a:off x="6208776" y="3228370"/>
            <a:ext cx="2240280" cy="23021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81" name="Shape 79"/>
          <p:cNvSpPr/>
          <p:nvPr/>
        </p:nvSpPr>
        <p:spPr>
          <a:xfrm>
            <a:off x="9346705" y="3290528"/>
            <a:ext cx="16751" cy="105898"/>
          </a:xfrm>
          <a:prstGeom prst="rect">
            <a:avLst/>
          </a:prstGeom>
          <a:solidFill>
            <a:srgbClr val="C2352F"/>
          </a:solidFill>
          <a:ln/>
        </p:spPr>
      </p:sp>
      <p:sp>
        <p:nvSpPr>
          <p:cNvPr id="82" name="Text 80"/>
          <p:cNvSpPr txBox="1"/>
          <p:nvPr/>
        </p:nvSpPr>
        <p:spPr>
          <a:xfrm>
            <a:off x="10259568" y="3228370"/>
            <a:ext cx="1271016" cy="230214"/>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−0.1</a:t>
            </a:r>
            <a:endParaRPr lang="en-US" sz="1300" dirty="0"/>
          </a:p>
        </p:txBody>
      </p:sp>
      <p:sp>
        <p:nvSpPr>
          <p:cNvPr id="83" name="Text 81"/>
          <p:cNvSpPr txBox="1"/>
          <p:nvPr/>
        </p:nvSpPr>
        <p:spPr>
          <a:xfrm>
            <a:off x="6208776" y="3458584"/>
            <a:ext cx="2240280" cy="23021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84" name="Shape 82"/>
          <p:cNvSpPr/>
          <p:nvPr/>
        </p:nvSpPr>
        <p:spPr>
          <a:xfrm>
            <a:off x="9342586" y="3520741"/>
            <a:ext cx="20870" cy="105898"/>
          </a:xfrm>
          <a:prstGeom prst="rect">
            <a:avLst/>
          </a:prstGeom>
          <a:solidFill>
            <a:srgbClr val="C2352F"/>
          </a:solidFill>
          <a:ln/>
        </p:spPr>
      </p:sp>
      <p:sp>
        <p:nvSpPr>
          <p:cNvPr id="85" name="Text 83"/>
          <p:cNvSpPr txBox="1"/>
          <p:nvPr/>
        </p:nvSpPr>
        <p:spPr>
          <a:xfrm>
            <a:off x="10259568" y="3458584"/>
            <a:ext cx="1271016" cy="230214"/>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−0.2</a:t>
            </a:r>
            <a:endParaRPr lang="en-US" sz="1300" dirty="0"/>
          </a:p>
        </p:txBody>
      </p:sp>
      <p:sp>
        <p:nvSpPr>
          <p:cNvPr id="86" name="Text 84"/>
          <p:cNvSpPr txBox="1"/>
          <p:nvPr/>
        </p:nvSpPr>
        <p:spPr>
          <a:xfrm>
            <a:off x="6208776" y="3688797"/>
            <a:ext cx="2240280" cy="23021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87" name="Shape 85"/>
          <p:cNvSpPr/>
          <p:nvPr/>
        </p:nvSpPr>
        <p:spPr>
          <a:xfrm>
            <a:off x="9242382" y="3750955"/>
            <a:ext cx="121074" cy="105898"/>
          </a:xfrm>
          <a:prstGeom prst="rect">
            <a:avLst/>
          </a:prstGeom>
          <a:solidFill>
            <a:srgbClr val="C2352F"/>
          </a:solidFill>
          <a:ln/>
        </p:spPr>
      </p:sp>
      <p:sp>
        <p:nvSpPr>
          <p:cNvPr id="88" name="Text 86"/>
          <p:cNvSpPr txBox="1"/>
          <p:nvPr/>
        </p:nvSpPr>
        <p:spPr>
          <a:xfrm>
            <a:off x="10259568" y="3688797"/>
            <a:ext cx="1271016" cy="230214"/>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−1.0</a:t>
            </a:r>
            <a:endParaRPr lang="en-US" sz="1300" dirty="0"/>
          </a:p>
        </p:txBody>
      </p:sp>
      <p:sp>
        <p:nvSpPr>
          <p:cNvPr id="89" name="Text 87"/>
          <p:cNvSpPr txBox="1"/>
          <p:nvPr/>
        </p:nvSpPr>
        <p:spPr>
          <a:xfrm>
            <a:off x="6208776" y="3919011"/>
            <a:ext cx="2240280" cy="23021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90" name="Shape 88"/>
          <p:cNvSpPr/>
          <p:nvPr/>
        </p:nvSpPr>
        <p:spPr>
          <a:xfrm>
            <a:off x="9232891" y="3981169"/>
            <a:ext cx="130565" cy="105898"/>
          </a:xfrm>
          <a:prstGeom prst="rect">
            <a:avLst/>
          </a:prstGeom>
          <a:solidFill>
            <a:srgbClr val="C2352F"/>
          </a:solidFill>
          <a:ln/>
        </p:spPr>
      </p:sp>
      <p:sp>
        <p:nvSpPr>
          <p:cNvPr id="91" name="Text 89"/>
          <p:cNvSpPr txBox="1"/>
          <p:nvPr/>
        </p:nvSpPr>
        <p:spPr>
          <a:xfrm>
            <a:off x="10259568" y="3919011"/>
            <a:ext cx="1271016" cy="230214"/>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−1.1</a:t>
            </a:r>
            <a:endParaRPr lang="en-US" sz="1300" dirty="0"/>
          </a:p>
        </p:txBody>
      </p:sp>
      <p:sp>
        <p:nvSpPr>
          <p:cNvPr id="92" name="Text 90"/>
          <p:cNvSpPr txBox="1"/>
          <p:nvPr/>
        </p:nvSpPr>
        <p:spPr>
          <a:xfrm>
            <a:off x="6208776" y="4149224"/>
            <a:ext cx="2240280" cy="23021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93" name="Shape 91"/>
          <p:cNvSpPr/>
          <p:nvPr/>
        </p:nvSpPr>
        <p:spPr>
          <a:xfrm>
            <a:off x="9220494" y="4211382"/>
            <a:ext cx="142962" cy="105898"/>
          </a:xfrm>
          <a:prstGeom prst="rect">
            <a:avLst/>
          </a:prstGeom>
          <a:solidFill>
            <a:srgbClr val="C2352F"/>
          </a:solidFill>
          <a:ln/>
        </p:spPr>
      </p:sp>
      <p:sp>
        <p:nvSpPr>
          <p:cNvPr id="94" name="Text 92"/>
          <p:cNvSpPr txBox="1"/>
          <p:nvPr/>
        </p:nvSpPr>
        <p:spPr>
          <a:xfrm>
            <a:off x="10259568" y="4149224"/>
            <a:ext cx="1271016" cy="230214"/>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−1.2</a:t>
            </a:r>
            <a:endParaRPr lang="en-US" sz="1300" dirty="0"/>
          </a:p>
        </p:txBody>
      </p:sp>
      <p:sp>
        <p:nvSpPr>
          <p:cNvPr id="95" name="Text 93"/>
          <p:cNvSpPr txBox="1"/>
          <p:nvPr/>
        </p:nvSpPr>
        <p:spPr>
          <a:xfrm>
            <a:off x="6208776" y="4379438"/>
            <a:ext cx="2240280" cy="23021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96" name="Shape 94"/>
          <p:cNvSpPr/>
          <p:nvPr/>
        </p:nvSpPr>
        <p:spPr>
          <a:xfrm>
            <a:off x="9199237" y="4441596"/>
            <a:ext cx="164219" cy="105898"/>
          </a:xfrm>
          <a:prstGeom prst="rect">
            <a:avLst/>
          </a:prstGeom>
          <a:solidFill>
            <a:srgbClr val="C2352F"/>
          </a:solidFill>
          <a:ln/>
        </p:spPr>
      </p:sp>
      <p:sp>
        <p:nvSpPr>
          <p:cNvPr id="97" name="Text 95"/>
          <p:cNvSpPr txBox="1"/>
          <p:nvPr/>
        </p:nvSpPr>
        <p:spPr>
          <a:xfrm>
            <a:off x="10259568" y="4379438"/>
            <a:ext cx="1271016" cy="230214"/>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−1.4</a:t>
            </a:r>
            <a:endParaRPr lang="en-US" sz="1300" dirty="0"/>
          </a:p>
        </p:txBody>
      </p:sp>
      <p:sp>
        <p:nvSpPr>
          <p:cNvPr id="98" name="Text 96"/>
          <p:cNvSpPr txBox="1"/>
          <p:nvPr/>
        </p:nvSpPr>
        <p:spPr>
          <a:xfrm>
            <a:off x="6208776" y="4609652"/>
            <a:ext cx="2240280" cy="23021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99" name="Shape 97"/>
          <p:cNvSpPr/>
          <p:nvPr/>
        </p:nvSpPr>
        <p:spPr>
          <a:xfrm>
            <a:off x="9020319" y="4671809"/>
            <a:ext cx="343137" cy="105898"/>
          </a:xfrm>
          <a:prstGeom prst="rect">
            <a:avLst/>
          </a:prstGeom>
          <a:solidFill>
            <a:srgbClr val="C2352F"/>
          </a:solidFill>
          <a:ln/>
        </p:spPr>
      </p:sp>
      <p:sp>
        <p:nvSpPr>
          <p:cNvPr id="100" name="Text 98"/>
          <p:cNvSpPr txBox="1"/>
          <p:nvPr/>
        </p:nvSpPr>
        <p:spPr>
          <a:xfrm>
            <a:off x="10259568" y="4609652"/>
            <a:ext cx="1271016" cy="230214"/>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−2.9</a:t>
            </a:r>
            <a:endParaRPr lang="en-US" sz="1300" dirty="0"/>
          </a:p>
        </p:txBody>
      </p:sp>
      <p:sp>
        <p:nvSpPr>
          <p:cNvPr id="101" name="Text 99"/>
          <p:cNvSpPr txBox="1"/>
          <p:nvPr/>
        </p:nvSpPr>
        <p:spPr>
          <a:xfrm>
            <a:off x="6208776" y="4839865"/>
            <a:ext cx="2240280" cy="23021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102" name="Shape 100"/>
          <p:cNvSpPr/>
          <p:nvPr/>
        </p:nvSpPr>
        <p:spPr>
          <a:xfrm>
            <a:off x="8888295" y="4902023"/>
            <a:ext cx="475161" cy="105898"/>
          </a:xfrm>
          <a:prstGeom prst="rect">
            <a:avLst/>
          </a:prstGeom>
          <a:solidFill>
            <a:srgbClr val="C2352F"/>
          </a:solidFill>
          <a:ln/>
        </p:spPr>
      </p:sp>
      <p:sp>
        <p:nvSpPr>
          <p:cNvPr id="103" name="Text 101"/>
          <p:cNvSpPr txBox="1"/>
          <p:nvPr/>
        </p:nvSpPr>
        <p:spPr>
          <a:xfrm>
            <a:off x="10259568" y="4839865"/>
            <a:ext cx="1271016" cy="230214"/>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−4.0</a:t>
            </a:r>
            <a:endParaRPr lang="en-US" sz="1300" dirty="0"/>
          </a:p>
        </p:txBody>
      </p:sp>
      <p:sp>
        <p:nvSpPr>
          <p:cNvPr id="104" name="Text 102"/>
          <p:cNvSpPr txBox="1"/>
          <p:nvPr/>
        </p:nvSpPr>
        <p:spPr>
          <a:xfrm>
            <a:off x="6208776" y="5070079"/>
            <a:ext cx="2240280" cy="23021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105" name="Shape 103"/>
          <p:cNvSpPr/>
          <p:nvPr/>
        </p:nvSpPr>
        <p:spPr>
          <a:xfrm>
            <a:off x="8672581" y="5132237"/>
            <a:ext cx="690875" cy="105898"/>
          </a:xfrm>
          <a:prstGeom prst="rect">
            <a:avLst/>
          </a:prstGeom>
          <a:solidFill>
            <a:srgbClr val="C2352F"/>
          </a:solidFill>
          <a:ln/>
        </p:spPr>
      </p:sp>
      <p:sp>
        <p:nvSpPr>
          <p:cNvPr id="106" name="Text 104"/>
          <p:cNvSpPr txBox="1"/>
          <p:nvPr/>
        </p:nvSpPr>
        <p:spPr>
          <a:xfrm>
            <a:off x="10259568" y="5070079"/>
            <a:ext cx="1271016" cy="230214"/>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−5.8</a:t>
            </a:r>
            <a:endParaRPr lang="en-US" sz="1300" dirty="0"/>
          </a:p>
        </p:txBody>
      </p:sp>
      <p:sp>
        <p:nvSpPr>
          <p:cNvPr id="107" name="Text 105"/>
          <p:cNvSpPr txBox="1"/>
          <p:nvPr/>
        </p:nvSpPr>
        <p:spPr>
          <a:xfrm>
            <a:off x="6208776" y="5300293"/>
            <a:ext cx="2240280" cy="23021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08" name="Shape 106"/>
          <p:cNvSpPr/>
          <p:nvPr/>
        </p:nvSpPr>
        <p:spPr>
          <a:xfrm>
            <a:off x="8578701" y="5362450"/>
            <a:ext cx="784755" cy="105898"/>
          </a:xfrm>
          <a:prstGeom prst="rect">
            <a:avLst/>
          </a:prstGeom>
          <a:solidFill>
            <a:srgbClr val="C2352F"/>
          </a:solidFill>
          <a:ln/>
        </p:spPr>
      </p:sp>
      <p:sp>
        <p:nvSpPr>
          <p:cNvPr id="109" name="Text 107"/>
          <p:cNvSpPr txBox="1"/>
          <p:nvPr/>
        </p:nvSpPr>
        <p:spPr>
          <a:xfrm>
            <a:off x="10259568" y="5300293"/>
            <a:ext cx="1271016" cy="230214"/>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−6.6</a:t>
            </a:r>
            <a:endParaRPr lang="en-US" sz="1300" dirty="0"/>
          </a:p>
        </p:txBody>
      </p:sp>
      <p:sp>
        <p:nvSpPr>
          <p:cNvPr id="110" name="Shape 108"/>
          <p:cNvSpPr/>
          <p:nvPr/>
        </p:nvSpPr>
        <p:spPr>
          <a:xfrm>
            <a:off x="3807562" y="1847088"/>
            <a:ext cx="10973" cy="3913632"/>
          </a:xfrm>
          <a:prstGeom prst="rect">
            <a:avLst/>
          </a:prstGeom>
          <a:solidFill>
            <a:srgbClr val="9AA3AD"/>
          </a:solidFill>
          <a:ln/>
        </p:spPr>
      </p:sp>
      <p:sp>
        <p:nvSpPr>
          <p:cNvPr id="111" name="Shape 109"/>
          <p:cNvSpPr/>
          <p:nvPr/>
        </p:nvSpPr>
        <p:spPr>
          <a:xfrm>
            <a:off x="9357970" y="1847088"/>
            <a:ext cx="10973" cy="3913632"/>
          </a:xfrm>
          <a:prstGeom prst="rect">
            <a:avLst/>
          </a:prstGeom>
          <a:solidFill>
            <a:srgbClr val="9AA3AD"/>
          </a:solidFill>
          <a:ln/>
        </p:spPr>
      </p:sp>
      <p:sp>
        <p:nvSpPr>
          <p:cNvPr id="112" name="Shape 110"/>
          <p:cNvSpPr/>
          <p:nvPr/>
        </p:nvSpPr>
        <p:spPr>
          <a:xfrm>
            <a:off x="457200" y="5961888"/>
            <a:ext cx="11274552" cy="548640"/>
          </a:xfrm>
          <a:prstGeom prst="rect">
            <a:avLst/>
          </a:prstGeom>
          <a:solidFill>
            <a:srgbClr val="E6F6EE"/>
          </a:solidFill>
          <a:ln/>
        </p:spPr>
      </p:sp>
      <p:sp>
        <p:nvSpPr>
          <p:cNvPr id="113" name="Text 111"/>
          <p:cNvSpPr txBox="1"/>
          <p:nvPr/>
        </p:nvSpPr>
        <p:spPr>
          <a:xfrm>
            <a:off x="658368" y="5980176"/>
            <a:ext cx="10927080" cy="512064"/>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22 of 33 stores raised ROs per fixed employee, led by HYUNDAI PRESCOTT at +6.9 to 31.4. 11 declined; KIA ST GEORGE fell most at −6.6.</a:t>
            </a:r>
            <a:endParaRPr lang="en-US" sz="16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Manager</a:t>
            </a:r>
            <a:endParaRPr lang="en-US" sz="2800" dirty="0"/>
          </a:p>
        </p:txBody>
      </p:sp>
      <p:sp>
        <p:nvSpPr>
          <p:cNvPr id="5" name="Shape 3"/>
          <p:cNvSpPr/>
          <p:nvPr/>
        </p:nvSpPr>
        <p:spPr>
          <a:xfrm>
            <a:off x="457200" y="1207008"/>
            <a:ext cx="11274552" cy="1517904"/>
          </a:xfrm>
          <a:prstGeom prst="rect">
            <a:avLst/>
          </a:prstGeom>
          <a:solidFill>
            <a:srgbClr val="FFFFFF"/>
          </a:solidFill>
          <a:ln/>
        </p:spPr>
      </p:sp>
      <p:sp>
        <p:nvSpPr>
          <p:cNvPr id="6" name="Text 4"/>
          <p:cNvSpPr txBox="1"/>
          <p:nvPr/>
        </p:nvSpPr>
        <p:spPr>
          <a:xfrm>
            <a:off x="685800" y="1316736"/>
            <a:ext cx="10789920" cy="274320"/>
          </a:xfrm>
          <a:prstGeom prst="rect">
            <a:avLst/>
          </a:prstGeom>
          <a:noFill/>
          <a:ln/>
        </p:spPr>
        <p:txBody>
          <a:bodyPr wrap="square" lIns="0" tIns="0" rIns="0" bIns="0" rtlCol="0" anchor="ctr"/>
          <a:lstStyle/>
          <a:p>
            <a:pPr indent="0" marL="0">
              <a:buNone/>
            </a:pPr>
            <a:r>
              <a:rPr lang="en-US" sz="1400" spc="100" kern="0" dirty="0">
                <a:solidFill>
                  <a:srgbClr val="595959"/>
                </a:solidFill>
                <a:latin typeface="Inter" pitchFamily="34" charset="0"/>
                <a:ea typeface="Inter" pitchFamily="34" charset="-122"/>
                <a:cs typeface="Inter" pitchFamily="34" charset="-120"/>
              </a:rPr>
              <a:t>GROUP · JANUARY–SEPTEMBER · MONTHLY AVG · SAME-STORE, 33 STORES</a:t>
            </a:r>
            <a:endParaRPr lang="en-US" sz="1400" dirty="0"/>
          </a:p>
        </p:txBody>
      </p:sp>
      <p:sp>
        <p:nvSpPr>
          <p:cNvPr id="7" name="Text 5"/>
          <p:cNvSpPr txBox="1"/>
          <p:nvPr/>
        </p:nvSpPr>
        <p:spPr>
          <a:xfrm>
            <a:off x="685800" y="1627632"/>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a:t>
            </a:r>
            <a:endParaRPr lang="en-US" sz="1400" dirty="0"/>
          </a:p>
        </p:txBody>
      </p:sp>
      <p:sp>
        <p:nvSpPr>
          <p:cNvPr id="8" name="Text 6"/>
          <p:cNvSpPr txBox="1"/>
          <p:nvPr/>
        </p:nvSpPr>
        <p:spPr>
          <a:xfrm>
            <a:off x="685800" y="1865376"/>
            <a:ext cx="2697480" cy="603504"/>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377</a:t>
            </a:r>
            <a:endParaRPr lang="en-US" sz="3000" dirty="0"/>
          </a:p>
        </p:txBody>
      </p:sp>
      <p:sp>
        <p:nvSpPr>
          <p:cNvPr id="9" name="Text 7"/>
          <p:cNvSpPr txBox="1"/>
          <p:nvPr/>
        </p:nvSpPr>
        <p:spPr>
          <a:xfrm>
            <a:off x="3474720" y="1627632"/>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a:t>
            </a:r>
            <a:endParaRPr lang="en-US" sz="1400" dirty="0"/>
          </a:p>
        </p:txBody>
      </p:sp>
      <p:sp>
        <p:nvSpPr>
          <p:cNvPr id="10" name="Text 8"/>
          <p:cNvSpPr txBox="1"/>
          <p:nvPr/>
        </p:nvSpPr>
        <p:spPr>
          <a:xfrm>
            <a:off x="3474720" y="1865376"/>
            <a:ext cx="2697480" cy="603504"/>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390</a:t>
            </a:r>
            <a:endParaRPr lang="en-US" sz="3000" dirty="0"/>
          </a:p>
        </p:txBody>
      </p:sp>
      <p:sp>
        <p:nvSpPr>
          <p:cNvPr id="11" name="Text 9"/>
          <p:cNvSpPr txBox="1"/>
          <p:nvPr/>
        </p:nvSpPr>
        <p:spPr>
          <a:xfrm>
            <a:off x="6263640" y="1627632"/>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2" name="Text 10"/>
          <p:cNvSpPr txBox="1"/>
          <p:nvPr/>
        </p:nvSpPr>
        <p:spPr>
          <a:xfrm>
            <a:off x="6263640" y="1865376"/>
            <a:ext cx="2697480" cy="603504"/>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+13</a:t>
            </a:r>
            <a:endParaRPr lang="en-US" sz="3000" dirty="0"/>
          </a:p>
        </p:txBody>
      </p:sp>
      <p:sp>
        <p:nvSpPr>
          <p:cNvPr id="13" name="Text 11"/>
          <p:cNvSpPr txBox="1"/>
          <p:nvPr/>
        </p:nvSpPr>
        <p:spPr>
          <a:xfrm>
            <a:off x="9052560" y="1627632"/>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4" name="Text 12"/>
          <p:cNvSpPr txBox="1"/>
          <p:nvPr/>
        </p:nvSpPr>
        <p:spPr>
          <a:xfrm>
            <a:off x="9052560" y="1865376"/>
            <a:ext cx="2697480" cy="603504"/>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+3.5%</a:t>
            </a:r>
            <a:endParaRPr lang="en-US" sz="300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457200" y="2816352"/>
          <a:ext cx="11274552" cy="914400"/>
        </p:xfrm>
        <a:graphic>
          <a:graphicData uri="http://schemas.openxmlformats.org/drawingml/2006/table">
            <a:tbl>
              <a:tblPr/>
              <a:tblGrid>
                <a:gridCol w="3118104"/>
                <a:gridCol w="2039112"/>
                <a:gridCol w="2039112"/>
                <a:gridCol w="2039112"/>
                <a:gridCol w="2039112"/>
              </a:tblGrid>
              <a:tr h="274320">
                <a:tc>
                  <a:txBody>
                    <a:bodyPr/>
                    <a:lstStyle/>
                    <a:p>
                      <a:pPr algn="l" indent="0" marL="0">
                        <a:buNone/>
                      </a:pPr>
                      <a:r>
                        <a:rPr lang="en-US" sz="1400" b="1" dirty="0">
                          <a:solidFill>
                            <a:srgbClr val="FFFFFF"/>
                          </a:solidFill>
                          <a:latin typeface="Inter" pitchFamily="34" charset="0"/>
                          <a:ea typeface="Inter" pitchFamily="34" charset="-122"/>
                          <a:cs typeface="Inter" pitchFamily="34" charset="-120"/>
                        </a:rPr>
                        <a:t>MONTH</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5B9BD5"/>
                    </a:solidFill>
                  </a:tcPr>
                </a:tc>
                <a:tc>
                  <a:txBody>
                    <a:bodyPr/>
                    <a:lstStyle/>
                    <a:p>
                      <a:pPr algn="r" indent="0" marL="0">
                        <a:buNone/>
                      </a:pPr>
                      <a:r>
                        <a:rPr lang="en-US" sz="1400" b="1" dirty="0">
                          <a:solidFill>
                            <a:srgbClr val="FFFFFF"/>
                          </a:solidFill>
                          <a:latin typeface="Inter" pitchFamily="34" charset="0"/>
                          <a:ea typeface="Inter" pitchFamily="34" charset="-122"/>
                          <a:cs typeface="Inter" pitchFamily="34" charset="-120"/>
                        </a:rPr>
                        <a:t>2025</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5B9BD5"/>
                    </a:solidFill>
                  </a:tcPr>
                </a:tc>
                <a:tc>
                  <a:txBody>
                    <a:bodyPr/>
                    <a:lstStyle/>
                    <a:p>
                      <a:pPr algn="r" indent="0" marL="0">
                        <a:buNone/>
                      </a:pPr>
                      <a:r>
                        <a:rPr lang="en-US" sz="1400" b="1" dirty="0">
                          <a:solidFill>
                            <a:srgbClr val="FFFFFF"/>
                          </a:solidFill>
                          <a:latin typeface="Inter" pitchFamily="34" charset="0"/>
                          <a:ea typeface="Inter" pitchFamily="34" charset="-122"/>
                          <a:cs typeface="Inter" pitchFamily="34" charset="-120"/>
                        </a:rPr>
                        <a:t>2026</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5B9BD5"/>
                    </a:solidFill>
                  </a:tcPr>
                </a:tc>
                <a:tc>
                  <a:txBody>
                    <a:bodyPr/>
                    <a:lstStyle/>
                    <a:p>
                      <a:pPr algn="r" indent="0" marL="0">
                        <a:buNone/>
                      </a:pPr>
                      <a:r>
                        <a:rPr lang="en-US" sz="1400" b="1" dirty="0">
                          <a:solidFill>
                            <a:srgbClr val="FFFFFF"/>
                          </a:solidFill>
                          <a:latin typeface="Inter" pitchFamily="34" charset="0"/>
                          <a:ea typeface="Inter" pitchFamily="34" charset="-122"/>
                          <a:cs typeface="Inter" pitchFamily="34" charset="-120"/>
                        </a:rPr>
                        <a:t>VARIANCE</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5B9BD5"/>
                    </a:solidFill>
                  </a:tcPr>
                </a:tc>
                <a:tc>
                  <a:txBody>
                    <a:bodyPr/>
                    <a:lstStyle/>
                    <a:p>
                      <a:pPr algn="r" indent="0" marL="0">
                        <a:buNone/>
                      </a:pPr>
                      <a:r>
                        <a:rPr lang="en-US" sz="1400" b="1" dirty="0">
                          <a:solidFill>
                            <a:srgbClr val="FFFFFF"/>
                          </a:solidFill>
                          <a:latin typeface="Inter" pitchFamily="34" charset="0"/>
                          <a:ea typeface="Inter" pitchFamily="34" charset="-122"/>
                          <a:cs typeface="Inter" pitchFamily="34" charset="-120"/>
                        </a:rPr>
                        <a:t>VAR %</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5B9BD5"/>
                    </a:solidFill>
                  </a:tcPr>
                </a:tc>
              </a:tr>
              <a:tr h="274320">
                <a:tc>
                  <a:txBody>
                    <a:bodyPr/>
                    <a:lstStyle/>
                    <a:p>
                      <a:pPr indent="0" marL="0">
                        <a:buNone/>
                      </a:pPr>
                      <a:r>
                        <a:rPr lang="en-US" sz="1400" dirty="0">
                          <a:solidFill>
                            <a:srgbClr val="1A1A1A"/>
                          </a:solidFill>
                          <a:latin typeface="Inter" pitchFamily="34" charset="0"/>
                          <a:ea typeface="Inter" pitchFamily="34" charset="-122"/>
                          <a:cs typeface="Inter" pitchFamily="34" charset="-120"/>
                        </a:rPr>
                        <a:t>JAN</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370</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386</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+16</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+4.4%</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indent="0" marL="0">
                        <a:buNone/>
                      </a:pPr>
                      <a:r>
                        <a:rPr lang="en-US" sz="1400" dirty="0">
                          <a:solidFill>
                            <a:srgbClr val="1A1A1A"/>
                          </a:solidFill>
                          <a:latin typeface="Inter" pitchFamily="34" charset="0"/>
                          <a:ea typeface="Inter" pitchFamily="34" charset="-122"/>
                          <a:cs typeface="Inter" pitchFamily="34" charset="-120"/>
                        </a:rPr>
                        <a:t>FEB</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342</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337</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b="1" dirty="0">
                          <a:solidFill>
                            <a:srgbClr val="A82B26"/>
                          </a:solidFill>
                          <a:latin typeface="Inter" pitchFamily="34" charset="0"/>
                          <a:ea typeface="Inter" pitchFamily="34" charset="-122"/>
                          <a:cs typeface="Inter" pitchFamily="34" charset="-120"/>
                        </a:rPr>
                        <a:t>−5</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b="1" dirty="0">
                          <a:solidFill>
                            <a:srgbClr val="A82B26"/>
                          </a:solidFill>
                          <a:latin typeface="Inter" pitchFamily="34" charset="0"/>
                          <a:ea typeface="Inter" pitchFamily="34" charset="-122"/>
                          <a:cs typeface="Inter" pitchFamily="34" charset="-120"/>
                        </a:rPr>
                        <a:t>−1.5%</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r>
              <a:tr h="274320">
                <a:tc>
                  <a:txBody>
                    <a:bodyPr/>
                    <a:lstStyle/>
                    <a:p>
                      <a:pPr indent="0" marL="0">
                        <a:buNone/>
                      </a:pPr>
                      <a:r>
                        <a:rPr lang="en-US" sz="1400" dirty="0">
                          <a:solidFill>
                            <a:srgbClr val="1A1A1A"/>
                          </a:solidFill>
                          <a:latin typeface="Inter" pitchFamily="34" charset="0"/>
                          <a:ea typeface="Inter" pitchFamily="34" charset="-122"/>
                          <a:cs typeface="Inter" pitchFamily="34" charset="-120"/>
                        </a:rPr>
                        <a:t>MAR</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370</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389</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+20</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+5.3%</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indent="0" marL="0">
                        <a:buNone/>
                      </a:pPr>
                      <a:r>
                        <a:rPr lang="en-US" sz="1400" dirty="0">
                          <a:solidFill>
                            <a:srgbClr val="1A1A1A"/>
                          </a:solidFill>
                          <a:latin typeface="Inter" pitchFamily="34" charset="0"/>
                          <a:ea typeface="Inter" pitchFamily="34" charset="-122"/>
                          <a:cs typeface="Inter" pitchFamily="34" charset="-120"/>
                        </a:rPr>
                        <a:t>APR</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385</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386</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+2</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+0.4%</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r>
              <a:tr h="274320">
                <a:tc>
                  <a:txBody>
                    <a:bodyPr/>
                    <a:lstStyle/>
                    <a:p>
                      <a:pPr indent="0" marL="0">
                        <a:buNone/>
                      </a:pPr>
                      <a:r>
                        <a:rPr lang="en-US" sz="1400" dirty="0">
                          <a:solidFill>
                            <a:srgbClr val="1A1A1A"/>
                          </a:solidFill>
                          <a:latin typeface="Inter" pitchFamily="34" charset="0"/>
                          <a:ea typeface="Inter" pitchFamily="34" charset="-122"/>
                          <a:cs typeface="Inter" pitchFamily="34" charset="-120"/>
                        </a:rPr>
                        <a:t>MAY</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381</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382</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+1</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+0.2%</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indent="0" marL="0">
                        <a:buNone/>
                      </a:pPr>
                      <a:r>
                        <a:rPr lang="en-US" sz="1400" dirty="0">
                          <a:solidFill>
                            <a:srgbClr val="1A1A1A"/>
                          </a:solidFill>
                          <a:latin typeface="Inter" pitchFamily="34" charset="0"/>
                          <a:ea typeface="Inter" pitchFamily="34" charset="-122"/>
                          <a:cs typeface="Inter" pitchFamily="34" charset="-120"/>
                        </a:rPr>
                        <a:t>JUN</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388</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408</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+20</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+5.3%</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r>
              <a:tr h="274320">
                <a:tc>
                  <a:txBody>
                    <a:bodyPr/>
                    <a:lstStyle/>
                    <a:p>
                      <a:pPr indent="0" marL="0">
                        <a:buNone/>
                      </a:pPr>
                      <a:r>
                        <a:rPr lang="en-US" sz="1400" dirty="0">
                          <a:solidFill>
                            <a:srgbClr val="1A1A1A"/>
                          </a:solidFill>
                          <a:latin typeface="Inter" pitchFamily="34" charset="0"/>
                          <a:ea typeface="Inter" pitchFamily="34" charset="-122"/>
                          <a:cs typeface="Inter" pitchFamily="34" charset="-120"/>
                        </a:rPr>
                        <a:t>JUL</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399</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412</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+13</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+3.1%</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indent="0" marL="0">
                        <a:buNone/>
                      </a:pPr>
                      <a:r>
                        <a:rPr lang="en-US" sz="1400" dirty="0">
                          <a:solidFill>
                            <a:srgbClr val="1A1A1A"/>
                          </a:solidFill>
                          <a:latin typeface="Inter" pitchFamily="34" charset="0"/>
                          <a:ea typeface="Inter" pitchFamily="34" charset="-122"/>
                          <a:cs typeface="Inter" pitchFamily="34" charset="-120"/>
                        </a:rPr>
                        <a:t>AUG</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391</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414</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+23</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+5.9%</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r>
              <a:tr h="274320">
                <a:tc>
                  <a:txBody>
                    <a:bodyPr/>
                    <a:lstStyle/>
                    <a:p>
                      <a:pPr indent="0" marL="0">
                        <a:buNone/>
                      </a:pPr>
                      <a:r>
                        <a:rPr lang="en-US" sz="1400" dirty="0">
                          <a:solidFill>
                            <a:srgbClr val="1A1A1A"/>
                          </a:solidFill>
                          <a:latin typeface="Inter" pitchFamily="34" charset="0"/>
                          <a:ea typeface="Inter" pitchFamily="34" charset="-122"/>
                          <a:cs typeface="Inter" pitchFamily="34" charset="-120"/>
                        </a:rPr>
                        <a:t>SEP</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373</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400</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+27</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+7.2%</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16" name="Shape 13"/>
          <p:cNvSpPr/>
          <p:nvPr/>
        </p:nvSpPr>
        <p:spPr>
          <a:xfrm>
            <a:off x="457200" y="5961888"/>
            <a:ext cx="11274552" cy="548640"/>
          </a:xfrm>
          <a:prstGeom prst="rect">
            <a:avLst/>
          </a:prstGeom>
          <a:solidFill>
            <a:srgbClr val="E6F6EE"/>
          </a:solidFill>
          <a:ln/>
        </p:spPr>
      </p:sp>
      <p:sp>
        <p:nvSpPr>
          <p:cNvPr id="17" name="Text 14"/>
          <p:cNvSpPr txBox="1"/>
          <p:nvPr/>
        </p:nvSpPr>
        <p:spPr>
          <a:xfrm>
            <a:off x="658368" y="5980176"/>
            <a:ext cx="10927080" cy="512064"/>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13 to 390, ahead of 2025 in eight of nine months. Managers fell 5.6%.</a:t>
            </a:r>
            <a:endParaRPr lang="en-US" sz="16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Manager</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658368" y="1316736"/>
            <a:ext cx="3383280" cy="32918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LUXURY · 9 STORES</a:t>
            </a:r>
            <a:endParaRPr lang="en-US" sz="1400" dirty="0"/>
          </a:p>
        </p:txBody>
      </p:sp>
      <p:sp>
        <p:nvSpPr>
          <p:cNvPr id="7" name="Text 5"/>
          <p:cNvSpPr txBox="1"/>
          <p:nvPr/>
        </p:nvSpPr>
        <p:spPr>
          <a:xfrm>
            <a:off x="658368" y="1755648"/>
            <a:ext cx="1554480" cy="306676"/>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8" name="Shape 6"/>
          <p:cNvSpPr/>
          <p:nvPr/>
        </p:nvSpPr>
        <p:spPr>
          <a:xfrm>
            <a:off x="2267712" y="1832317"/>
            <a:ext cx="1030941" cy="153338"/>
          </a:xfrm>
          <a:prstGeom prst="rect">
            <a:avLst/>
          </a:prstGeom>
          <a:solidFill>
            <a:srgbClr val="12A566"/>
          </a:solidFill>
          <a:ln/>
        </p:spPr>
      </p:sp>
      <p:sp>
        <p:nvSpPr>
          <p:cNvPr id="9" name="Text 7"/>
          <p:cNvSpPr txBox="1"/>
          <p:nvPr/>
        </p:nvSpPr>
        <p:spPr>
          <a:xfrm>
            <a:off x="3355848" y="1755648"/>
            <a:ext cx="777240" cy="306676"/>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491</a:t>
            </a:r>
            <a:endParaRPr lang="en-US" sz="1300" dirty="0"/>
          </a:p>
        </p:txBody>
      </p:sp>
      <p:sp>
        <p:nvSpPr>
          <p:cNvPr id="10" name="Text 8"/>
          <p:cNvSpPr txBox="1"/>
          <p:nvPr/>
        </p:nvSpPr>
        <p:spPr>
          <a:xfrm>
            <a:off x="658368" y="2062324"/>
            <a:ext cx="1554480" cy="306676"/>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11" name="Shape 9"/>
          <p:cNvSpPr/>
          <p:nvPr/>
        </p:nvSpPr>
        <p:spPr>
          <a:xfrm>
            <a:off x="2267712" y="2138993"/>
            <a:ext cx="769813" cy="153338"/>
          </a:xfrm>
          <a:prstGeom prst="rect">
            <a:avLst/>
          </a:prstGeom>
          <a:solidFill>
            <a:srgbClr val="12A566"/>
          </a:solidFill>
          <a:ln/>
        </p:spPr>
      </p:sp>
      <p:sp>
        <p:nvSpPr>
          <p:cNvPr id="12" name="Text 10"/>
          <p:cNvSpPr txBox="1"/>
          <p:nvPr/>
        </p:nvSpPr>
        <p:spPr>
          <a:xfrm>
            <a:off x="3355848" y="2062324"/>
            <a:ext cx="777240" cy="306676"/>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367</a:t>
            </a:r>
            <a:endParaRPr lang="en-US" sz="1300" dirty="0"/>
          </a:p>
        </p:txBody>
      </p:sp>
      <p:sp>
        <p:nvSpPr>
          <p:cNvPr id="13" name="Text 11"/>
          <p:cNvSpPr txBox="1"/>
          <p:nvPr/>
        </p:nvSpPr>
        <p:spPr>
          <a:xfrm>
            <a:off x="658368" y="2368999"/>
            <a:ext cx="1554480" cy="306676"/>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4" name="Shape 12"/>
          <p:cNvSpPr/>
          <p:nvPr/>
        </p:nvSpPr>
        <p:spPr>
          <a:xfrm>
            <a:off x="2267712" y="2445668"/>
            <a:ext cx="698921" cy="153338"/>
          </a:xfrm>
          <a:prstGeom prst="rect">
            <a:avLst/>
          </a:prstGeom>
          <a:solidFill>
            <a:srgbClr val="12A566"/>
          </a:solidFill>
          <a:ln/>
        </p:spPr>
      </p:sp>
      <p:sp>
        <p:nvSpPr>
          <p:cNvPr id="15" name="Text 13"/>
          <p:cNvSpPr txBox="1"/>
          <p:nvPr/>
        </p:nvSpPr>
        <p:spPr>
          <a:xfrm>
            <a:off x="3355848" y="2368999"/>
            <a:ext cx="777240" cy="306676"/>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333</a:t>
            </a:r>
            <a:endParaRPr lang="en-US" sz="1300" dirty="0"/>
          </a:p>
        </p:txBody>
      </p:sp>
      <p:sp>
        <p:nvSpPr>
          <p:cNvPr id="16" name="Text 14"/>
          <p:cNvSpPr txBox="1"/>
          <p:nvPr/>
        </p:nvSpPr>
        <p:spPr>
          <a:xfrm>
            <a:off x="658368" y="2675675"/>
            <a:ext cx="1554480" cy="306676"/>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17" name="Shape 15"/>
          <p:cNvSpPr/>
          <p:nvPr/>
        </p:nvSpPr>
        <p:spPr>
          <a:xfrm>
            <a:off x="2267712" y="2752344"/>
            <a:ext cx="612008" cy="153338"/>
          </a:xfrm>
          <a:prstGeom prst="rect">
            <a:avLst/>
          </a:prstGeom>
          <a:solidFill>
            <a:srgbClr val="12A566"/>
          </a:solidFill>
          <a:ln/>
        </p:spPr>
      </p:sp>
      <p:sp>
        <p:nvSpPr>
          <p:cNvPr id="18" name="Text 16"/>
          <p:cNvSpPr txBox="1"/>
          <p:nvPr/>
        </p:nvSpPr>
        <p:spPr>
          <a:xfrm>
            <a:off x="3355848" y="2675675"/>
            <a:ext cx="777240" cy="306676"/>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291</a:t>
            </a:r>
            <a:endParaRPr lang="en-US" sz="1300" dirty="0"/>
          </a:p>
        </p:txBody>
      </p:sp>
      <p:sp>
        <p:nvSpPr>
          <p:cNvPr id="19" name="Text 17"/>
          <p:cNvSpPr txBox="1"/>
          <p:nvPr/>
        </p:nvSpPr>
        <p:spPr>
          <a:xfrm>
            <a:off x="658368" y="2982351"/>
            <a:ext cx="1554480" cy="306676"/>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20" name="Shape 18"/>
          <p:cNvSpPr/>
          <p:nvPr/>
        </p:nvSpPr>
        <p:spPr>
          <a:xfrm>
            <a:off x="2267712" y="3059020"/>
            <a:ext cx="603842" cy="153338"/>
          </a:xfrm>
          <a:prstGeom prst="rect">
            <a:avLst/>
          </a:prstGeom>
          <a:solidFill>
            <a:srgbClr val="12A566"/>
          </a:solidFill>
          <a:ln/>
        </p:spPr>
      </p:sp>
      <p:sp>
        <p:nvSpPr>
          <p:cNvPr id="21" name="Text 19"/>
          <p:cNvSpPr txBox="1"/>
          <p:nvPr/>
        </p:nvSpPr>
        <p:spPr>
          <a:xfrm>
            <a:off x="3355848" y="2982351"/>
            <a:ext cx="777240" cy="306676"/>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288</a:t>
            </a:r>
            <a:endParaRPr lang="en-US" sz="1300" dirty="0"/>
          </a:p>
        </p:txBody>
      </p:sp>
      <p:sp>
        <p:nvSpPr>
          <p:cNvPr id="22" name="Shape 20"/>
          <p:cNvSpPr/>
          <p:nvPr/>
        </p:nvSpPr>
        <p:spPr>
          <a:xfrm>
            <a:off x="603504" y="3289026"/>
            <a:ext cx="3566160" cy="297532"/>
          </a:xfrm>
          <a:prstGeom prst="rect">
            <a:avLst/>
          </a:prstGeom>
          <a:solidFill>
            <a:srgbClr val="EDF4FA"/>
          </a:solidFill>
          <a:ln/>
        </p:spPr>
      </p:sp>
      <p:sp>
        <p:nvSpPr>
          <p:cNvPr id="23" name="Text 21"/>
          <p:cNvSpPr txBox="1"/>
          <p:nvPr/>
        </p:nvSpPr>
        <p:spPr>
          <a:xfrm>
            <a:off x="658368" y="3289026"/>
            <a:ext cx="1554480" cy="306676"/>
          </a:xfrm>
          <a:prstGeom prst="rect">
            <a:avLst/>
          </a:prstGeom>
          <a:noFill/>
          <a:ln/>
        </p:spPr>
        <p:txBody>
          <a:bodyPr wrap="square" lIns="0" tIns="0" rIns="0" bIns="0" rtlCol="0" anchor="ctr"/>
          <a:lstStyle/>
          <a:p>
            <a:pPr indent="0" marL="0">
              <a:buNone/>
            </a:pPr>
            <a:r>
              <a:rPr lang="en-US" sz="1300" b="1" dirty="0">
                <a:solidFill>
                  <a:srgbClr val="0B2C4A"/>
                </a:solidFill>
                <a:latin typeface="Inter" pitchFamily="34" charset="0"/>
                <a:ea typeface="Inter" pitchFamily="34" charset="-122"/>
                <a:cs typeface="Inter" pitchFamily="34" charset="-120"/>
              </a:rPr>
              <a:t>LUXURY</a:t>
            </a:r>
            <a:endParaRPr lang="en-US" sz="1300" dirty="0"/>
          </a:p>
        </p:txBody>
      </p:sp>
      <p:sp>
        <p:nvSpPr>
          <p:cNvPr id="24" name="Shape 22"/>
          <p:cNvSpPr/>
          <p:nvPr/>
        </p:nvSpPr>
        <p:spPr>
          <a:xfrm>
            <a:off x="2267712" y="3365695"/>
            <a:ext cx="578725" cy="153338"/>
          </a:xfrm>
          <a:prstGeom prst="rect">
            <a:avLst/>
          </a:prstGeom>
          <a:solidFill>
            <a:srgbClr val="0B2C4A"/>
          </a:solidFill>
          <a:ln/>
        </p:spPr>
      </p:sp>
      <p:sp>
        <p:nvSpPr>
          <p:cNvPr id="25" name="Text 23"/>
          <p:cNvSpPr txBox="1"/>
          <p:nvPr/>
        </p:nvSpPr>
        <p:spPr>
          <a:xfrm>
            <a:off x="3355848" y="3289026"/>
            <a:ext cx="777240" cy="306676"/>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276</a:t>
            </a:r>
            <a:endParaRPr lang="en-US" sz="1300" dirty="0"/>
          </a:p>
        </p:txBody>
      </p:sp>
      <p:sp>
        <p:nvSpPr>
          <p:cNvPr id="26" name="Text 24"/>
          <p:cNvSpPr txBox="1"/>
          <p:nvPr/>
        </p:nvSpPr>
        <p:spPr>
          <a:xfrm>
            <a:off x="658368" y="3595702"/>
            <a:ext cx="1554480" cy="306676"/>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27" name="Shape 25"/>
          <p:cNvSpPr/>
          <p:nvPr/>
        </p:nvSpPr>
        <p:spPr>
          <a:xfrm>
            <a:off x="2267712" y="3672371"/>
            <a:ext cx="528813" cy="153338"/>
          </a:xfrm>
          <a:prstGeom prst="rect">
            <a:avLst/>
          </a:prstGeom>
          <a:solidFill>
            <a:srgbClr val="C2352F"/>
          </a:solidFill>
          <a:ln/>
        </p:spPr>
      </p:sp>
      <p:sp>
        <p:nvSpPr>
          <p:cNvPr id="28" name="Text 26"/>
          <p:cNvSpPr txBox="1"/>
          <p:nvPr/>
        </p:nvSpPr>
        <p:spPr>
          <a:xfrm>
            <a:off x="3355848" y="3595702"/>
            <a:ext cx="777240" cy="306676"/>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252</a:t>
            </a:r>
            <a:endParaRPr lang="en-US" sz="1300" dirty="0"/>
          </a:p>
        </p:txBody>
      </p:sp>
      <p:sp>
        <p:nvSpPr>
          <p:cNvPr id="29" name="Text 27"/>
          <p:cNvSpPr txBox="1"/>
          <p:nvPr/>
        </p:nvSpPr>
        <p:spPr>
          <a:xfrm>
            <a:off x="658368" y="3902378"/>
            <a:ext cx="1554480" cy="306676"/>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30" name="Shape 28"/>
          <p:cNvSpPr/>
          <p:nvPr/>
        </p:nvSpPr>
        <p:spPr>
          <a:xfrm>
            <a:off x="2267712" y="3979047"/>
            <a:ext cx="416716" cy="153338"/>
          </a:xfrm>
          <a:prstGeom prst="rect">
            <a:avLst/>
          </a:prstGeom>
          <a:solidFill>
            <a:srgbClr val="C2352F"/>
          </a:solidFill>
          <a:ln/>
        </p:spPr>
      </p:sp>
      <p:sp>
        <p:nvSpPr>
          <p:cNvPr id="31" name="Text 29"/>
          <p:cNvSpPr txBox="1"/>
          <p:nvPr/>
        </p:nvSpPr>
        <p:spPr>
          <a:xfrm>
            <a:off x="3355848" y="3902378"/>
            <a:ext cx="777240" cy="306676"/>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198</a:t>
            </a:r>
            <a:endParaRPr lang="en-US" sz="1300" dirty="0"/>
          </a:p>
        </p:txBody>
      </p:sp>
      <p:sp>
        <p:nvSpPr>
          <p:cNvPr id="32" name="Text 30"/>
          <p:cNvSpPr txBox="1"/>
          <p:nvPr/>
        </p:nvSpPr>
        <p:spPr>
          <a:xfrm>
            <a:off x="658368" y="4209054"/>
            <a:ext cx="1554480" cy="306676"/>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33" name="Shape 31"/>
          <p:cNvSpPr/>
          <p:nvPr/>
        </p:nvSpPr>
        <p:spPr>
          <a:xfrm>
            <a:off x="2267712" y="4285722"/>
            <a:ext cx="297721" cy="153338"/>
          </a:xfrm>
          <a:prstGeom prst="rect">
            <a:avLst/>
          </a:prstGeom>
          <a:solidFill>
            <a:srgbClr val="C2352F"/>
          </a:solidFill>
          <a:ln/>
        </p:spPr>
      </p:sp>
      <p:sp>
        <p:nvSpPr>
          <p:cNvPr id="34" name="Text 32"/>
          <p:cNvSpPr txBox="1"/>
          <p:nvPr/>
        </p:nvSpPr>
        <p:spPr>
          <a:xfrm>
            <a:off x="3355848" y="4209054"/>
            <a:ext cx="777240" cy="306676"/>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142</a:t>
            </a:r>
            <a:endParaRPr lang="en-US" sz="1300" dirty="0"/>
          </a:p>
        </p:txBody>
      </p:sp>
      <p:sp>
        <p:nvSpPr>
          <p:cNvPr id="35" name="Text 33"/>
          <p:cNvSpPr txBox="1"/>
          <p:nvPr/>
        </p:nvSpPr>
        <p:spPr>
          <a:xfrm>
            <a:off x="658368" y="4515729"/>
            <a:ext cx="1554480" cy="306676"/>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36" name="Shape 34"/>
          <p:cNvSpPr/>
          <p:nvPr/>
        </p:nvSpPr>
        <p:spPr>
          <a:xfrm>
            <a:off x="2267712" y="4592398"/>
            <a:ext cx="249073" cy="153338"/>
          </a:xfrm>
          <a:prstGeom prst="rect">
            <a:avLst/>
          </a:prstGeom>
          <a:solidFill>
            <a:srgbClr val="C2352F"/>
          </a:solidFill>
          <a:ln/>
        </p:spPr>
      </p:sp>
      <p:sp>
        <p:nvSpPr>
          <p:cNvPr id="37" name="Text 35"/>
          <p:cNvSpPr txBox="1"/>
          <p:nvPr/>
        </p:nvSpPr>
        <p:spPr>
          <a:xfrm>
            <a:off x="3355848" y="4515729"/>
            <a:ext cx="777240" cy="306676"/>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119</a:t>
            </a:r>
            <a:endParaRPr lang="en-US" sz="1300" dirty="0"/>
          </a:p>
        </p:txBody>
      </p:sp>
      <p:sp>
        <p:nvSpPr>
          <p:cNvPr id="38" name="Text 36"/>
          <p:cNvSpPr txBox="1"/>
          <p:nvPr/>
        </p:nvSpPr>
        <p:spPr>
          <a:xfrm>
            <a:off x="658368" y="4950421"/>
            <a:ext cx="3383280" cy="36576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LUXURY AVG  </a:t>
            </a:r>
            <a:pPr indent="0" marL="0">
              <a:buNone/>
            </a:pPr>
            <a:r>
              <a:rPr lang="en-US" sz="1800" b="1" dirty="0">
                <a:solidFill>
                  <a:srgbClr val="0B2C4A"/>
                </a:solidFill>
                <a:latin typeface="Inter" pitchFamily="34" charset="0"/>
                <a:ea typeface="Inter" pitchFamily="34" charset="-122"/>
                <a:cs typeface="Inter" pitchFamily="34" charset="-120"/>
              </a:rPr>
              <a:t>276  </a:t>
            </a:r>
            <a:pPr indent="0" marL="0">
              <a:buNone/>
            </a:pPr>
            <a:r>
              <a:rPr lang="en-US" sz="1400" b="1" dirty="0">
                <a:solidFill>
                  <a:srgbClr val="0B7A4A"/>
                </a:solidFill>
                <a:latin typeface="Inter" pitchFamily="34" charset="0"/>
                <a:ea typeface="Inter" pitchFamily="34" charset="-122"/>
                <a:cs typeface="Inter" pitchFamily="34" charset="-120"/>
              </a:rPr>
              <a:t>(+3)</a:t>
            </a:r>
            <a:endParaRPr lang="en-US" sz="1400" dirty="0"/>
          </a:p>
        </p:txBody>
      </p:sp>
      <p:sp>
        <p:nvSpPr>
          <p:cNvPr id="39" name="Text 37"/>
          <p:cNvSpPr txBox="1"/>
          <p:nvPr/>
        </p:nvSpPr>
        <p:spPr>
          <a:xfrm>
            <a:off x="658368" y="5334469"/>
            <a:ext cx="3383280" cy="36576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NON-LUXURY AVG  </a:t>
            </a:r>
            <a:pPr indent="0" marL="0">
              <a:buNone/>
            </a:pPr>
            <a:r>
              <a:rPr lang="en-US" sz="1800" b="1" dirty="0">
                <a:solidFill>
                  <a:srgbClr val="0B2C4A"/>
                </a:solidFill>
                <a:latin typeface="Inter" pitchFamily="34" charset="0"/>
                <a:ea typeface="Inter" pitchFamily="34" charset="-122"/>
                <a:cs typeface="Inter" pitchFamily="34" charset="-120"/>
              </a:rPr>
              <a:t>418  </a:t>
            </a:r>
            <a:pPr indent="0" marL="0">
              <a:buNone/>
            </a:pPr>
            <a:r>
              <a:rPr lang="en-US" sz="1400" b="1" dirty="0">
                <a:solidFill>
                  <a:srgbClr val="0B7A4A"/>
                </a:solidFill>
                <a:latin typeface="Inter" pitchFamily="34" charset="0"/>
                <a:ea typeface="Inter" pitchFamily="34" charset="-122"/>
                <a:cs typeface="Inter" pitchFamily="34" charset="-120"/>
              </a:rPr>
              <a:t>(+17)</a:t>
            </a:r>
            <a:endParaRPr lang="en-US" sz="1400" dirty="0"/>
          </a:p>
        </p:txBody>
      </p:sp>
      <p:sp>
        <p:nvSpPr>
          <p:cNvPr id="40" name="Text 38"/>
          <p:cNvSpPr txBox="1"/>
          <p:nvPr/>
        </p:nvSpPr>
        <p:spPr>
          <a:xfrm>
            <a:off x="4315968" y="1316736"/>
            <a:ext cx="7132320" cy="32918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NON-LUXURY · 24 STORES</a:t>
            </a:r>
            <a:endParaRPr lang="en-US" sz="1400" dirty="0"/>
          </a:p>
        </p:txBody>
      </p:sp>
      <p:sp>
        <p:nvSpPr>
          <p:cNvPr id="41" name="Text 39"/>
          <p:cNvSpPr txBox="1"/>
          <p:nvPr/>
        </p:nvSpPr>
        <p:spPr>
          <a:xfrm>
            <a:off x="4315968" y="1755648"/>
            <a:ext cx="1920240" cy="306676"/>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42" name="Shape 40"/>
          <p:cNvSpPr/>
          <p:nvPr/>
        </p:nvSpPr>
        <p:spPr>
          <a:xfrm>
            <a:off x="6291072" y="1832317"/>
            <a:ext cx="627529" cy="153338"/>
          </a:xfrm>
          <a:prstGeom prst="rect">
            <a:avLst/>
          </a:prstGeom>
          <a:solidFill>
            <a:srgbClr val="12A566"/>
          </a:solidFill>
          <a:ln/>
        </p:spPr>
      </p:sp>
      <p:sp>
        <p:nvSpPr>
          <p:cNvPr id="43" name="Text 41"/>
          <p:cNvSpPr txBox="1"/>
          <p:nvPr/>
        </p:nvSpPr>
        <p:spPr>
          <a:xfrm>
            <a:off x="6967728" y="1755648"/>
            <a:ext cx="786384" cy="306676"/>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1,022</a:t>
            </a:r>
            <a:endParaRPr lang="en-US" sz="1300" dirty="0"/>
          </a:p>
        </p:txBody>
      </p:sp>
      <p:sp>
        <p:nvSpPr>
          <p:cNvPr id="44" name="Text 42"/>
          <p:cNvSpPr txBox="1"/>
          <p:nvPr/>
        </p:nvSpPr>
        <p:spPr>
          <a:xfrm>
            <a:off x="4315968" y="2062324"/>
            <a:ext cx="1920240" cy="306676"/>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45" name="Shape 43"/>
          <p:cNvSpPr/>
          <p:nvPr/>
        </p:nvSpPr>
        <p:spPr>
          <a:xfrm>
            <a:off x="6291072" y="2138993"/>
            <a:ext cx="469928" cy="153338"/>
          </a:xfrm>
          <a:prstGeom prst="rect">
            <a:avLst/>
          </a:prstGeom>
          <a:solidFill>
            <a:srgbClr val="12A566"/>
          </a:solidFill>
          <a:ln/>
        </p:spPr>
      </p:sp>
      <p:sp>
        <p:nvSpPr>
          <p:cNvPr id="46" name="Text 44"/>
          <p:cNvSpPr txBox="1"/>
          <p:nvPr/>
        </p:nvSpPr>
        <p:spPr>
          <a:xfrm>
            <a:off x="6967728" y="2062324"/>
            <a:ext cx="786384" cy="306676"/>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765</a:t>
            </a:r>
            <a:endParaRPr lang="en-US" sz="1300" dirty="0"/>
          </a:p>
        </p:txBody>
      </p:sp>
      <p:sp>
        <p:nvSpPr>
          <p:cNvPr id="47" name="Text 45"/>
          <p:cNvSpPr txBox="1"/>
          <p:nvPr/>
        </p:nvSpPr>
        <p:spPr>
          <a:xfrm>
            <a:off x="4315968" y="2368999"/>
            <a:ext cx="1920240" cy="306676"/>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48" name="Shape 46"/>
          <p:cNvSpPr/>
          <p:nvPr/>
        </p:nvSpPr>
        <p:spPr>
          <a:xfrm>
            <a:off x="6291072" y="2445668"/>
            <a:ext cx="421230" cy="153338"/>
          </a:xfrm>
          <a:prstGeom prst="rect">
            <a:avLst/>
          </a:prstGeom>
          <a:solidFill>
            <a:srgbClr val="12A566"/>
          </a:solidFill>
          <a:ln/>
        </p:spPr>
      </p:sp>
      <p:sp>
        <p:nvSpPr>
          <p:cNvPr id="49" name="Text 47"/>
          <p:cNvSpPr txBox="1"/>
          <p:nvPr/>
        </p:nvSpPr>
        <p:spPr>
          <a:xfrm>
            <a:off x="6967728" y="2368999"/>
            <a:ext cx="786384" cy="306676"/>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686</a:t>
            </a:r>
            <a:endParaRPr lang="en-US" sz="1300" dirty="0"/>
          </a:p>
        </p:txBody>
      </p:sp>
      <p:sp>
        <p:nvSpPr>
          <p:cNvPr id="50" name="Text 48"/>
          <p:cNvSpPr txBox="1"/>
          <p:nvPr/>
        </p:nvSpPr>
        <p:spPr>
          <a:xfrm>
            <a:off x="4315968" y="2675675"/>
            <a:ext cx="1920240" cy="306676"/>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51" name="Shape 49"/>
          <p:cNvSpPr/>
          <p:nvPr/>
        </p:nvSpPr>
        <p:spPr>
          <a:xfrm>
            <a:off x="6291072" y="2752344"/>
            <a:ext cx="403488" cy="153338"/>
          </a:xfrm>
          <a:prstGeom prst="rect">
            <a:avLst/>
          </a:prstGeom>
          <a:solidFill>
            <a:srgbClr val="12A566"/>
          </a:solidFill>
          <a:ln/>
        </p:spPr>
      </p:sp>
      <p:sp>
        <p:nvSpPr>
          <p:cNvPr id="52" name="Text 50"/>
          <p:cNvSpPr txBox="1"/>
          <p:nvPr/>
        </p:nvSpPr>
        <p:spPr>
          <a:xfrm>
            <a:off x="6967728" y="2675675"/>
            <a:ext cx="786384" cy="306676"/>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657</a:t>
            </a:r>
            <a:endParaRPr lang="en-US" sz="1300" dirty="0"/>
          </a:p>
        </p:txBody>
      </p:sp>
      <p:sp>
        <p:nvSpPr>
          <p:cNvPr id="53" name="Text 51"/>
          <p:cNvSpPr txBox="1"/>
          <p:nvPr/>
        </p:nvSpPr>
        <p:spPr>
          <a:xfrm>
            <a:off x="4315968" y="2982351"/>
            <a:ext cx="1920240" cy="306676"/>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54" name="Shape 52"/>
          <p:cNvSpPr/>
          <p:nvPr/>
        </p:nvSpPr>
        <p:spPr>
          <a:xfrm>
            <a:off x="6291072" y="3059020"/>
            <a:ext cx="362659" cy="153338"/>
          </a:xfrm>
          <a:prstGeom prst="rect">
            <a:avLst/>
          </a:prstGeom>
          <a:solidFill>
            <a:srgbClr val="12A566"/>
          </a:solidFill>
          <a:ln/>
        </p:spPr>
      </p:sp>
      <p:sp>
        <p:nvSpPr>
          <p:cNvPr id="55" name="Text 53"/>
          <p:cNvSpPr txBox="1"/>
          <p:nvPr/>
        </p:nvSpPr>
        <p:spPr>
          <a:xfrm>
            <a:off x="6967728" y="2982351"/>
            <a:ext cx="786384" cy="306676"/>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591</a:t>
            </a:r>
            <a:endParaRPr lang="en-US" sz="1300" dirty="0"/>
          </a:p>
        </p:txBody>
      </p:sp>
      <p:sp>
        <p:nvSpPr>
          <p:cNvPr id="56" name="Text 54"/>
          <p:cNvSpPr txBox="1"/>
          <p:nvPr/>
        </p:nvSpPr>
        <p:spPr>
          <a:xfrm>
            <a:off x="4315968" y="3289026"/>
            <a:ext cx="1920240" cy="306676"/>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57" name="Shape 55"/>
          <p:cNvSpPr/>
          <p:nvPr/>
        </p:nvSpPr>
        <p:spPr>
          <a:xfrm>
            <a:off x="6291072" y="3365695"/>
            <a:ext cx="343763" cy="153338"/>
          </a:xfrm>
          <a:prstGeom prst="rect">
            <a:avLst/>
          </a:prstGeom>
          <a:solidFill>
            <a:srgbClr val="12A566"/>
          </a:solidFill>
          <a:ln/>
        </p:spPr>
      </p:sp>
      <p:sp>
        <p:nvSpPr>
          <p:cNvPr id="58" name="Text 56"/>
          <p:cNvSpPr txBox="1"/>
          <p:nvPr/>
        </p:nvSpPr>
        <p:spPr>
          <a:xfrm>
            <a:off x="6967728" y="3289026"/>
            <a:ext cx="786384" cy="306676"/>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560</a:t>
            </a:r>
            <a:endParaRPr lang="en-US" sz="1300" dirty="0"/>
          </a:p>
        </p:txBody>
      </p:sp>
      <p:sp>
        <p:nvSpPr>
          <p:cNvPr id="59" name="Text 57"/>
          <p:cNvSpPr txBox="1"/>
          <p:nvPr/>
        </p:nvSpPr>
        <p:spPr>
          <a:xfrm>
            <a:off x="4315968" y="3595702"/>
            <a:ext cx="1920240" cy="306676"/>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60" name="Shape 58"/>
          <p:cNvSpPr/>
          <p:nvPr/>
        </p:nvSpPr>
        <p:spPr>
          <a:xfrm>
            <a:off x="6291072" y="3672371"/>
            <a:ext cx="262373" cy="153338"/>
          </a:xfrm>
          <a:prstGeom prst="rect">
            <a:avLst/>
          </a:prstGeom>
          <a:solidFill>
            <a:srgbClr val="12A566"/>
          </a:solidFill>
          <a:ln/>
        </p:spPr>
      </p:sp>
      <p:sp>
        <p:nvSpPr>
          <p:cNvPr id="61" name="Text 59"/>
          <p:cNvSpPr txBox="1"/>
          <p:nvPr/>
        </p:nvSpPr>
        <p:spPr>
          <a:xfrm>
            <a:off x="6967728" y="3595702"/>
            <a:ext cx="786384" cy="306676"/>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427</a:t>
            </a:r>
            <a:endParaRPr lang="en-US" sz="1300" dirty="0"/>
          </a:p>
        </p:txBody>
      </p:sp>
      <p:sp>
        <p:nvSpPr>
          <p:cNvPr id="62" name="Shape 60"/>
          <p:cNvSpPr/>
          <p:nvPr/>
        </p:nvSpPr>
        <p:spPr>
          <a:xfrm>
            <a:off x="4261104" y="3902378"/>
            <a:ext cx="3529584" cy="297532"/>
          </a:xfrm>
          <a:prstGeom prst="rect">
            <a:avLst/>
          </a:prstGeom>
          <a:solidFill>
            <a:srgbClr val="EDF4FA"/>
          </a:solidFill>
          <a:ln/>
        </p:spPr>
      </p:sp>
      <p:sp>
        <p:nvSpPr>
          <p:cNvPr id="63" name="Text 61"/>
          <p:cNvSpPr txBox="1"/>
          <p:nvPr/>
        </p:nvSpPr>
        <p:spPr>
          <a:xfrm>
            <a:off x="4315968" y="3902378"/>
            <a:ext cx="1920240" cy="306676"/>
          </a:xfrm>
          <a:prstGeom prst="rect">
            <a:avLst/>
          </a:prstGeom>
          <a:noFill/>
          <a:ln/>
        </p:spPr>
        <p:txBody>
          <a:bodyPr wrap="square" lIns="0" tIns="0" rIns="0" bIns="0" rtlCol="0" anchor="ctr"/>
          <a:lstStyle/>
          <a:p>
            <a:pPr indent="0" marL="0">
              <a:buNone/>
            </a:pPr>
            <a:r>
              <a:rPr lang="en-US" sz="1300" b="1" dirty="0">
                <a:solidFill>
                  <a:srgbClr val="0B2C4A"/>
                </a:solidFill>
                <a:latin typeface="Inter" pitchFamily="34" charset="0"/>
                <a:ea typeface="Inter" pitchFamily="34" charset="-122"/>
                <a:cs typeface="Inter" pitchFamily="34" charset="-120"/>
              </a:rPr>
              <a:t>NON-LUXURY</a:t>
            </a:r>
            <a:endParaRPr lang="en-US" sz="1300" dirty="0"/>
          </a:p>
        </p:txBody>
      </p:sp>
      <p:sp>
        <p:nvSpPr>
          <p:cNvPr id="64" name="Shape 62"/>
          <p:cNvSpPr/>
          <p:nvPr/>
        </p:nvSpPr>
        <p:spPr>
          <a:xfrm>
            <a:off x="6291072" y="3979047"/>
            <a:ext cx="256715" cy="153338"/>
          </a:xfrm>
          <a:prstGeom prst="rect">
            <a:avLst/>
          </a:prstGeom>
          <a:solidFill>
            <a:srgbClr val="0B2C4A"/>
          </a:solidFill>
          <a:ln/>
        </p:spPr>
      </p:sp>
      <p:sp>
        <p:nvSpPr>
          <p:cNvPr id="65" name="Text 63"/>
          <p:cNvSpPr txBox="1"/>
          <p:nvPr/>
        </p:nvSpPr>
        <p:spPr>
          <a:xfrm>
            <a:off x="6967728" y="3902378"/>
            <a:ext cx="786384" cy="306676"/>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418</a:t>
            </a:r>
            <a:endParaRPr lang="en-US" sz="1300" dirty="0"/>
          </a:p>
        </p:txBody>
      </p:sp>
      <p:sp>
        <p:nvSpPr>
          <p:cNvPr id="66" name="Text 64"/>
          <p:cNvSpPr txBox="1"/>
          <p:nvPr/>
        </p:nvSpPr>
        <p:spPr>
          <a:xfrm>
            <a:off x="4315968" y="4209054"/>
            <a:ext cx="1920240" cy="306676"/>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67" name="Shape 65"/>
          <p:cNvSpPr/>
          <p:nvPr/>
        </p:nvSpPr>
        <p:spPr>
          <a:xfrm>
            <a:off x="6291072" y="4285722"/>
            <a:ext cx="245067" cy="153338"/>
          </a:xfrm>
          <a:prstGeom prst="rect">
            <a:avLst/>
          </a:prstGeom>
          <a:solidFill>
            <a:srgbClr val="C2352F"/>
          </a:solidFill>
          <a:ln/>
        </p:spPr>
      </p:sp>
      <p:sp>
        <p:nvSpPr>
          <p:cNvPr id="68" name="Text 66"/>
          <p:cNvSpPr txBox="1"/>
          <p:nvPr/>
        </p:nvSpPr>
        <p:spPr>
          <a:xfrm>
            <a:off x="6967728" y="4209054"/>
            <a:ext cx="786384" cy="306676"/>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399</a:t>
            </a:r>
            <a:endParaRPr lang="en-US" sz="1300" dirty="0"/>
          </a:p>
        </p:txBody>
      </p:sp>
      <p:sp>
        <p:nvSpPr>
          <p:cNvPr id="69" name="Text 67"/>
          <p:cNvSpPr txBox="1"/>
          <p:nvPr/>
        </p:nvSpPr>
        <p:spPr>
          <a:xfrm>
            <a:off x="4315968" y="4515729"/>
            <a:ext cx="1920240" cy="306676"/>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70" name="Shape 68"/>
          <p:cNvSpPr/>
          <p:nvPr/>
        </p:nvSpPr>
        <p:spPr>
          <a:xfrm>
            <a:off x="6291072" y="4592398"/>
            <a:ext cx="240759" cy="153338"/>
          </a:xfrm>
          <a:prstGeom prst="rect">
            <a:avLst/>
          </a:prstGeom>
          <a:solidFill>
            <a:srgbClr val="C2352F"/>
          </a:solidFill>
          <a:ln/>
        </p:spPr>
      </p:sp>
      <p:sp>
        <p:nvSpPr>
          <p:cNvPr id="71" name="Text 69"/>
          <p:cNvSpPr txBox="1"/>
          <p:nvPr/>
        </p:nvSpPr>
        <p:spPr>
          <a:xfrm>
            <a:off x="6967728" y="4515729"/>
            <a:ext cx="786384" cy="306676"/>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392</a:t>
            </a:r>
            <a:endParaRPr lang="en-US" sz="1300" dirty="0"/>
          </a:p>
        </p:txBody>
      </p:sp>
      <p:sp>
        <p:nvSpPr>
          <p:cNvPr id="72" name="Text 70"/>
          <p:cNvSpPr txBox="1"/>
          <p:nvPr/>
        </p:nvSpPr>
        <p:spPr>
          <a:xfrm>
            <a:off x="4315968" y="4822405"/>
            <a:ext cx="1920240" cy="306676"/>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73" name="Shape 71"/>
          <p:cNvSpPr/>
          <p:nvPr/>
        </p:nvSpPr>
        <p:spPr>
          <a:xfrm>
            <a:off x="6291072" y="4899074"/>
            <a:ext cx="231188" cy="153338"/>
          </a:xfrm>
          <a:prstGeom prst="rect">
            <a:avLst/>
          </a:prstGeom>
          <a:solidFill>
            <a:srgbClr val="C2352F"/>
          </a:solidFill>
          <a:ln/>
        </p:spPr>
      </p:sp>
      <p:sp>
        <p:nvSpPr>
          <p:cNvPr id="74" name="Text 72"/>
          <p:cNvSpPr txBox="1"/>
          <p:nvPr/>
        </p:nvSpPr>
        <p:spPr>
          <a:xfrm>
            <a:off x="6967728" y="4822405"/>
            <a:ext cx="786384" cy="306676"/>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376</a:t>
            </a:r>
            <a:endParaRPr lang="en-US" sz="1300" dirty="0"/>
          </a:p>
        </p:txBody>
      </p:sp>
      <p:sp>
        <p:nvSpPr>
          <p:cNvPr id="75" name="Text 73"/>
          <p:cNvSpPr txBox="1"/>
          <p:nvPr/>
        </p:nvSpPr>
        <p:spPr>
          <a:xfrm>
            <a:off x="4315968" y="5129081"/>
            <a:ext cx="1920240" cy="306676"/>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76" name="Shape 74"/>
          <p:cNvSpPr/>
          <p:nvPr/>
        </p:nvSpPr>
        <p:spPr>
          <a:xfrm>
            <a:off x="6291072" y="5205750"/>
            <a:ext cx="226867" cy="153338"/>
          </a:xfrm>
          <a:prstGeom prst="rect">
            <a:avLst/>
          </a:prstGeom>
          <a:solidFill>
            <a:srgbClr val="C2352F"/>
          </a:solidFill>
          <a:ln/>
        </p:spPr>
      </p:sp>
      <p:sp>
        <p:nvSpPr>
          <p:cNvPr id="77" name="Text 75"/>
          <p:cNvSpPr txBox="1"/>
          <p:nvPr/>
        </p:nvSpPr>
        <p:spPr>
          <a:xfrm>
            <a:off x="6967728" y="5129081"/>
            <a:ext cx="786384" cy="306676"/>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369</a:t>
            </a:r>
            <a:endParaRPr lang="en-US" sz="1300" dirty="0"/>
          </a:p>
        </p:txBody>
      </p:sp>
      <p:sp>
        <p:nvSpPr>
          <p:cNvPr id="78" name="Text 76"/>
          <p:cNvSpPr txBox="1"/>
          <p:nvPr/>
        </p:nvSpPr>
        <p:spPr>
          <a:xfrm>
            <a:off x="4315968" y="5435756"/>
            <a:ext cx="1920240" cy="306676"/>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79" name="Shape 77"/>
          <p:cNvSpPr/>
          <p:nvPr/>
        </p:nvSpPr>
        <p:spPr>
          <a:xfrm>
            <a:off x="6291072" y="5512425"/>
            <a:ext cx="218633" cy="153338"/>
          </a:xfrm>
          <a:prstGeom prst="rect">
            <a:avLst/>
          </a:prstGeom>
          <a:solidFill>
            <a:srgbClr val="C2352F"/>
          </a:solidFill>
          <a:ln/>
        </p:spPr>
      </p:sp>
      <p:sp>
        <p:nvSpPr>
          <p:cNvPr id="80" name="Text 78"/>
          <p:cNvSpPr txBox="1"/>
          <p:nvPr/>
        </p:nvSpPr>
        <p:spPr>
          <a:xfrm>
            <a:off x="6967728" y="5435756"/>
            <a:ext cx="786384" cy="306676"/>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356</a:t>
            </a:r>
            <a:endParaRPr lang="en-US" sz="1300" dirty="0"/>
          </a:p>
        </p:txBody>
      </p:sp>
      <p:sp>
        <p:nvSpPr>
          <p:cNvPr id="81" name="Text 79"/>
          <p:cNvSpPr txBox="1"/>
          <p:nvPr/>
        </p:nvSpPr>
        <p:spPr>
          <a:xfrm>
            <a:off x="7918704" y="1755648"/>
            <a:ext cx="1920240" cy="306676"/>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82" name="Shape 80"/>
          <p:cNvSpPr/>
          <p:nvPr/>
        </p:nvSpPr>
        <p:spPr>
          <a:xfrm>
            <a:off x="9893808" y="1832317"/>
            <a:ext cx="215740" cy="153338"/>
          </a:xfrm>
          <a:prstGeom prst="rect">
            <a:avLst/>
          </a:prstGeom>
          <a:solidFill>
            <a:srgbClr val="C2352F"/>
          </a:solidFill>
          <a:ln/>
        </p:spPr>
      </p:sp>
      <p:sp>
        <p:nvSpPr>
          <p:cNvPr id="83" name="Text 81"/>
          <p:cNvSpPr txBox="1"/>
          <p:nvPr/>
        </p:nvSpPr>
        <p:spPr>
          <a:xfrm>
            <a:off x="10570464" y="1755648"/>
            <a:ext cx="786384" cy="306676"/>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351</a:t>
            </a:r>
            <a:endParaRPr lang="en-US" sz="1300" dirty="0"/>
          </a:p>
        </p:txBody>
      </p:sp>
      <p:sp>
        <p:nvSpPr>
          <p:cNvPr id="84" name="Text 82"/>
          <p:cNvSpPr txBox="1"/>
          <p:nvPr/>
        </p:nvSpPr>
        <p:spPr>
          <a:xfrm>
            <a:off x="7918704" y="2062324"/>
            <a:ext cx="1920240" cy="306676"/>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85" name="Shape 83"/>
          <p:cNvSpPr/>
          <p:nvPr/>
        </p:nvSpPr>
        <p:spPr>
          <a:xfrm>
            <a:off x="9893808" y="2138993"/>
            <a:ext cx="200777" cy="153338"/>
          </a:xfrm>
          <a:prstGeom prst="rect">
            <a:avLst/>
          </a:prstGeom>
          <a:solidFill>
            <a:srgbClr val="C2352F"/>
          </a:solidFill>
          <a:ln/>
        </p:spPr>
      </p:sp>
      <p:sp>
        <p:nvSpPr>
          <p:cNvPr id="86" name="Text 84"/>
          <p:cNvSpPr txBox="1"/>
          <p:nvPr/>
        </p:nvSpPr>
        <p:spPr>
          <a:xfrm>
            <a:off x="10570464" y="2062324"/>
            <a:ext cx="786384" cy="306676"/>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327</a:t>
            </a:r>
            <a:endParaRPr lang="en-US" sz="1300" dirty="0"/>
          </a:p>
        </p:txBody>
      </p:sp>
      <p:sp>
        <p:nvSpPr>
          <p:cNvPr id="87" name="Text 85"/>
          <p:cNvSpPr txBox="1"/>
          <p:nvPr/>
        </p:nvSpPr>
        <p:spPr>
          <a:xfrm>
            <a:off x="7918704" y="2368999"/>
            <a:ext cx="1920240" cy="306676"/>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88" name="Shape 86"/>
          <p:cNvSpPr/>
          <p:nvPr/>
        </p:nvSpPr>
        <p:spPr>
          <a:xfrm>
            <a:off x="9893808" y="2445668"/>
            <a:ext cx="189359" cy="153338"/>
          </a:xfrm>
          <a:prstGeom prst="rect">
            <a:avLst/>
          </a:prstGeom>
          <a:solidFill>
            <a:srgbClr val="C2352F"/>
          </a:solidFill>
          <a:ln/>
        </p:spPr>
      </p:sp>
      <p:sp>
        <p:nvSpPr>
          <p:cNvPr id="89" name="Text 87"/>
          <p:cNvSpPr txBox="1"/>
          <p:nvPr/>
        </p:nvSpPr>
        <p:spPr>
          <a:xfrm>
            <a:off x="10570464" y="2368999"/>
            <a:ext cx="786384" cy="306676"/>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308</a:t>
            </a:r>
            <a:endParaRPr lang="en-US" sz="1300" dirty="0"/>
          </a:p>
        </p:txBody>
      </p:sp>
      <p:sp>
        <p:nvSpPr>
          <p:cNvPr id="90" name="Text 88"/>
          <p:cNvSpPr txBox="1"/>
          <p:nvPr/>
        </p:nvSpPr>
        <p:spPr>
          <a:xfrm>
            <a:off x="7918704" y="2675675"/>
            <a:ext cx="1920240" cy="306676"/>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91" name="Shape 89"/>
          <p:cNvSpPr/>
          <p:nvPr/>
        </p:nvSpPr>
        <p:spPr>
          <a:xfrm>
            <a:off x="9893808" y="2752344"/>
            <a:ext cx="183877" cy="153338"/>
          </a:xfrm>
          <a:prstGeom prst="rect">
            <a:avLst/>
          </a:prstGeom>
          <a:solidFill>
            <a:srgbClr val="C2352F"/>
          </a:solidFill>
          <a:ln/>
        </p:spPr>
      </p:sp>
      <p:sp>
        <p:nvSpPr>
          <p:cNvPr id="92" name="Text 90"/>
          <p:cNvSpPr txBox="1"/>
          <p:nvPr/>
        </p:nvSpPr>
        <p:spPr>
          <a:xfrm>
            <a:off x="10570464" y="2675675"/>
            <a:ext cx="786384" cy="306676"/>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299</a:t>
            </a:r>
            <a:endParaRPr lang="en-US" sz="1300" dirty="0"/>
          </a:p>
        </p:txBody>
      </p:sp>
      <p:sp>
        <p:nvSpPr>
          <p:cNvPr id="93" name="Text 91"/>
          <p:cNvSpPr txBox="1"/>
          <p:nvPr/>
        </p:nvSpPr>
        <p:spPr>
          <a:xfrm>
            <a:off x="7918704" y="2982351"/>
            <a:ext cx="1920240" cy="306676"/>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94" name="Shape 92"/>
          <p:cNvSpPr/>
          <p:nvPr/>
        </p:nvSpPr>
        <p:spPr>
          <a:xfrm>
            <a:off x="9893808" y="3059020"/>
            <a:ext cx="167591" cy="153338"/>
          </a:xfrm>
          <a:prstGeom prst="rect">
            <a:avLst/>
          </a:prstGeom>
          <a:solidFill>
            <a:srgbClr val="C2352F"/>
          </a:solidFill>
          <a:ln/>
        </p:spPr>
      </p:sp>
      <p:sp>
        <p:nvSpPr>
          <p:cNvPr id="95" name="Text 93"/>
          <p:cNvSpPr txBox="1"/>
          <p:nvPr/>
        </p:nvSpPr>
        <p:spPr>
          <a:xfrm>
            <a:off x="10570464" y="2982351"/>
            <a:ext cx="786384" cy="306676"/>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273</a:t>
            </a:r>
            <a:endParaRPr lang="en-US" sz="1300" dirty="0"/>
          </a:p>
        </p:txBody>
      </p:sp>
      <p:sp>
        <p:nvSpPr>
          <p:cNvPr id="96" name="Text 94"/>
          <p:cNvSpPr txBox="1"/>
          <p:nvPr/>
        </p:nvSpPr>
        <p:spPr>
          <a:xfrm>
            <a:off x="7918704" y="3289026"/>
            <a:ext cx="1920240" cy="306676"/>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97" name="Shape 95"/>
          <p:cNvSpPr/>
          <p:nvPr/>
        </p:nvSpPr>
        <p:spPr>
          <a:xfrm>
            <a:off x="9893808" y="3365695"/>
            <a:ext cx="167045" cy="153338"/>
          </a:xfrm>
          <a:prstGeom prst="rect">
            <a:avLst/>
          </a:prstGeom>
          <a:solidFill>
            <a:srgbClr val="C2352F"/>
          </a:solidFill>
          <a:ln/>
        </p:spPr>
      </p:sp>
      <p:sp>
        <p:nvSpPr>
          <p:cNvPr id="98" name="Text 96"/>
          <p:cNvSpPr txBox="1"/>
          <p:nvPr/>
        </p:nvSpPr>
        <p:spPr>
          <a:xfrm>
            <a:off x="10570464" y="3289026"/>
            <a:ext cx="786384" cy="306676"/>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272</a:t>
            </a:r>
            <a:endParaRPr lang="en-US" sz="1300" dirty="0"/>
          </a:p>
        </p:txBody>
      </p:sp>
      <p:sp>
        <p:nvSpPr>
          <p:cNvPr id="99" name="Text 97"/>
          <p:cNvSpPr txBox="1"/>
          <p:nvPr/>
        </p:nvSpPr>
        <p:spPr>
          <a:xfrm>
            <a:off x="7918704" y="3595702"/>
            <a:ext cx="1920240" cy="306676"/>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100" name="Shape 98"/>
          <p:cNvSpPr/>
          <p:nvPr/>
        </p:nvSpPr>
        <p:spPr>
          <a:xfrm>
            <a:off x="9893808" y="3672371"/>
            <a:ext cx="142736" cy="153338"/>
          </a:xfrm>
          <a:prstGeom prst="rect">
            <a:avLst/>
          </a:prstGeom>
          <a:solidFill>
            <a:srgbClr val="C2352F"/>
          </a:solidFill>
          <a:ln/>
        </p:spPr>
      </p:sp>
      <p:sp>
        <p:nvSpPr>
          <p:cNvPr id="101" name="Text 99"/>
          <p:cNvSpPr txBox="1"/>
          <p:nvPr/>
        </p:nvSpPr>
        <p:spPr>
          <a:xfrm>
            <a:off x="10570464" y="3595702"/>
            <a:ext cx="786384" cy="306676"/>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232</a:t>
            </a:r>
            <a:endParaRPr lang="en-US" sz="1300" dirty="0"/>
          </a:p>
        </p:txBody>
      </p:sp>
      <p:sp>
        <p:nvSpPr>
          <p:cNvPr id="102" name="Text 100"/>
          <p:cNvSpPr txBox="1"/>
          <p:nvPr/>
        </p:nvSpPr>
        <p:spPr>
          <a:xfrm>
            <a:off x="7918704" y="3902378"/>
            <a:ext cx="1920240" cy="306676"/>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03" name="Shape 101"/>
          <p:cNvSpPr/>
          <p:nvPr/>
        </p:nvSpPr>
        <p:spPr>
          <a:xfrm>
            <a:off x="9893808" y="3979047"/>
            <a:ext cx="141456" cy="153338"/>
          </a:xfrm>
          <a:prstGeom prst="rect">
            <a:avLst/>
          </a:prstGeom>
          <a:solidFill>
            <a:srgbClr val="C2352F"/>
          </a:solidFill>
          <a:ln/>
        </p:spPr>
      </p:sp>
      <p:sp>
        <p:nvSpPr>
          <p:cNvPr id="104" name="Text 102"/>
          <p:cNvSpPr txBox="1"/>
          <p:nvPr/>
        </p:nvSpPr>
        <p:spPr>
          <a:xfrm>
            <a:off x="10570464" y="3902378"/>
            <a:ext cx="786384" cy="306676"/>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230</a:t>
            </a:r>
            <a:endParaRPr lang="en-US" sz="1300" dirty="0"/>
          </a:p>
        </p:txBody>
      </p:sp>
      <p:sp>
        <p:nvSpPr>
          <p:cNvPr id="105" name="Text 103"/>
          <p:cNvSpPr txBox="1"/>
          <p:nvPr/>
        </p:nvSpPr>
        <p:spPr>
          <a:xfrm>
            <a:off x="7918704" y="4209054"/>
            <a:ext cx="1920240" cy="306676"/>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106" name="Shape 104"/>
          <p:cNvSpPr/>
          <p:nvPr/>
        </p:nvSpPr>
        <p:spPr>
          <a:xfrm>
            <a:off x="9893808" y="4285722"/>
            <a:ext cx="135110" cy="153338"/>
          </a:xfrm>
          <a:prstGeom prst="rect">
            <a:avLst/>
          </a:prstGeom>
          <a:solidFill>
            <a:srgbClr val="C2352F"/>
          </a:solidFill>
          <a:ln/>
        </p:spPr>
      </p:sp>
      <p:sp>
        <p:nvSpPr>
          <p:cNvPr id="107" name="Text 105"/>
          <p:cNvSpPr txBox="1"/>
          <p:nvPr/>
        </p:nvSpPr>
        <p:spPr>
          <a:xfrm>
            <a:off x="10570464" y="4209054"/>
            <a:ext cx="786384" cy="306676"/>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220</a:t>
            </a:r>
            <a:endParaRPr lang="en-US" sz="1300" dirty="0"/>
          </a:p>
        </p:txBody>
      </p:sp>
      <p:sp>
        <p:nvSpPr>
          <p:cNvPr id="108" name="Text 106"/>
          <p:cNvSpPr txBox="1"/>
          <p:nvPr/>
        </p:nvSpPr>
        <p:spPr>
          <a:xfrm>
            <a:off x="7918704" y="4515729"/>
            <a:ext cx="1920240" cy="306676"/>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109" name="Shape 107"/>
          <p:cNvSpPr/>
          <p:nvPr/>
        </p:nvSpPr>
        <p:spPr>
          <a:xfrm>
            <a:off x="9893808" y="4592398"/>
            <a:ext cx="124834" cy="153338"/>
          </a:xfrm>
          <a:prstGeom prst="rect">
            <a:avLst/>
          </a:prstGeom>
          <a:solidFill>
            <a:srgbClr val="C2352F"/>
          </a:solidFill>
          <a:ln/>
        </p:spPr>
      </p:sp>
      <p:sp>
        <p:nvSpPr>
          <p:cNvPr id="110" name="Text 108"/>
          <p:cNvSpPr txBox="1"/>
          <p:nvPr/>
        </p:nvSpPr>
        <p:spPr>
          <a:xfrm>
            <a:off x="10570464" y="4515729"/>
            <a:ext cx="786384" cy="306676"/>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203</a:t>
            </a:r>
            <a:endParaRPr lang="en-US" sz="1300" dirty="0"/>
          </a:p>
        </p:txBody>
      </p:sp>
      <p:sp>
        <p:nvSpPr>
          <p:cNvPr id="111" name="Text 109"/>
          <p:cNvSpPr txBox="1"/>
          <p:nvPr/>
        </p:nvSpPr>
        <p:spPr>
          <a:xfrm>
            <a:off x="7918704" y="4822405"/>
            <a:ext cx="1920240" cy="306676"/>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112" name="Shape 110"/>
          <p:cNvSpPr/>
          <p:nvPr/>
        </p:nvSpPr>
        <p:spPr>
          <a:xfrm>
            <a:off x="9893808" y="4899074"/>
            <a:ext cx="118207" cy="153338"/>
          </a:xfrm>
          <a:prstGeom prst="rect">
            <a:avLst/>
          </a:prstGeom>
          <a:solidFill>
            <a:srgbClr val="C2352F"/>
          </a:solidFill>
          <a:ln/>
        </p:spPr>
      </p:sp>
      <p:sp>
        <p:nvSpPr>
          <p:cNvPr id="113" name="Text 111"/>
          <p:cNvSpPr txBox="1"/>
          <p:nvPr/>
        </p:nvSpPr>
        <p:spPr>
          <a:xfrm>
            <a:off x="10570464" y="4822405"/>
            <a:ext cx="786384" cy="306676"/>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192</a:t>
            </a:r>
            <a:endParaRPr lang="en-US" sz="1300" dirty="0"/>
          </a:p>
        </p:txBody>
      </p:sp>
      <p:sp>
        <p:nvSpPr>
          <p:cNvPr id="114" name="Text 112"/>
          <p:cNvSpPr txBox="1"/>
          <p:nvPr/>
        </p:nvSpPr>
        <p:spPr>
          <a:xfrm>
            <a:off x="7918704" y="5129081"/>
            <a:ext cx="1920240" cy="306676"/>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15" name="Shape 113"/>
          <p:cNvSpPr/>
          <p:nvPr/>
        </p:nvSpPr>
        <p:spPr>
          <a:xfrm>
            <a:off x="9893808" y="5205750"/>
            <a:ext cx="94304" cy="153338"/>
          </a:xfrm>
          <a:prstGeom prst="rect">
            <a:avLst/>
          </a:prstGeom>
          <a:solidFill>
            <a:srgbClr val="C2352F"/>
          </a:solidFill>
          <a:ln/>
        </p:spPr>
      </p:sp>
      <p:sp>
        <p:nvSpPr>
          <p:cNvPr id="116" name="Text 114"/>
          <p:cNvSpPr txBox="1"/>
          <p:nvPr/>
        </p:nvSpPr>
        <p:spPr>
          <a:xfrm>
            <a:off x="10570464" y="5129081"/>
            <a:ext cx="786384" cy="306676"/>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154</a:t>
            </a:r>
            <a:endParaRPr lang="en-US" sz="1300" dirty="0"/>
          </a:p>
        </p:txBody>
      </p:sp>
      <p:sp>
        <p:nvSpPr>
          <p:cNvPr id="117" name="Shape 115"/>
          <p:cNvSpPr/>
          <p:nvPr/>
        </p:nvSpPr>
        <p:spPr>
          <a:xfrm>
            <a:off x="457200" y="5961888"/>
            <a:ext cx="11274552" cy="548640"/>
          </a:xfrm>
          <a:prstGeom prst="rect">
            <a:avLst/>
          </a:prstGeom>
          <a:solidFill>
            <a:srgbClr val="EDF4FA"/>
          </a:solidFill>
          <a:ln/>
        </p:spPr>
      </p:sp>
      <p:sp>
        <p:nvSpPr>
          <p:cNvPr id="118" name="Text 116"/>
          <p:cNvSpPr txBox="1"/>
          <p:nvPr/>
        </p:nvSpPr>
        <p:spPr>
          <a:xfrm>
            <a:off x="658368" y="5980176"/>
            <a:ext cx="10927080" cy="512064"/>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Against their own segment, 5 of 9 luxury stores beat 276 and 7 of 24 others beat 418. TOYOTA HENDERSON leads non-luxury at 1,022.</a:t>
            </a:r>
            <a:endParaRPr lang="en-US" sz="16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Manager</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01168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GROUP</a:t>
            </a:r>
            <a:endParaRPr lang="en-US" sz="1500" dirty="0"/>
          </a:p>
        </p:txBody>
      </p:sp>
      <p:sp>
        <p:nvSpPr>
          <p:cNvPr id="9" name="Text 7"/>
          <p:cNvSpPr txBox="1"/>
          <p:nvPr/>
        </p:nvSpPr>
        <p:spPr>
          <a:xfrm>
            <a:off x="2834640" y="1335024"/>
            <a:ext cx="420624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SAME-STORE, 33 STORES</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+13</a:t>
            </a:r>
            <a:endParaRPr lang="en-US" sz="2000" dirty="0"/>
          </a:p>
        </p:txBody>
      </p:sp>
      <p:sp>
        <p:nvSpPr>
          <p:cNvPr id="11" name="Text 9"/>
          <p:cNvSpPr txBox="1"/>
          <p:nvPr/>
        </p:nvSpPr>
        <p:spPr>
          <a:xfrm>
            <a:off x="658368" y="1847088"/>
            <a:ext cx="2240280" cy="23021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12" name="Shape 10"/>
          <p:cNvSpPr/>
          <p:nvPr/>
        </p:nvSpPr>
        <p:spPr>
          <a:xfrm>
            <a:off x="3813048" y="1909246"/>
            <a:ext cx="532790" cy="105898"/>
          </a:xfrm>
          <a:prstGeom prst="rect">
            <a:avLst/>
          </a:prstGeom>
          <a:solidFill>
            <a:srgbClr val="12A566"/>
          </a:solidFill>
          <a:ln/>
        </p:spPr>
      </p:sp>
      <p:sp>
        <p:nvSpPr>
          <p:cNvPr id="13" name="Text 11"/>
          <p:cNvSpPr txBox="1"/>
          <p:nvPr/>
        </p:nvSpPr>
        <p:spPr>
          <a:xfrm>
            <a:off x="4709160" y="1847088"/>
            <a:ext cx="1271016" cy="230214"/>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+182</a:t>
            </a:r>
            <a:endParaRPr lang="en-US" sz="1300" dirty="0"/>
          </a:p>
        </p:txBody>
      </p:sp>
      <p:sp>
        <p:nvSpPr>
          <p:cNvPr id="14" name="Text 12"/>
          <p:cNvSpPr txBox="1"/>
          <p:nvPr/>
        </p:nvSpPr>
        <p:spPr>
          <a:xfrm>
            <a:off x="658368" y="2077302"/>
            <a:ext cx="2240280" cy="23021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5" name="Shape 13"/>
          <p:cNvSpPr/>
          <p:nvPr/>
        </p:nvSpPr>
        <p:spPr>
          <a:xfrm>
            <a:off x="3813048" y="2139459"/>
            <a:ext cx="497243" cy="105898"/>
          </a:xfrm>
          <a:prstGeom prst="rect">
            <a:avLst/>
          </a:prstGeom>
          <a:solidFill>
            <a:srgbClr val="12A566"/>
          </a:solidFill>
          <a:ln/>
        </p:spPr>
      </p:sp>
      <p:sp>
        <p:nvSpPr>
          <p:cNvPr id="16" name="Text 14"/>
          <p:cNvSpPr txBox="1"/>
          <p:nvPr/>
        </p:nvSpPr>
        <p:spPr>
          <a:xfrm>
            <a:off x="4709160" y="2077302"/>
            <a:ext cx="1271016" cy="230214"/>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+170</a:t>
            </a:r>
            <a:endParaRPr lang="en-US" sz="1300" dirty="0"/>
          </a:p>
        </p:txBody>
      </p:sp>
      <p:sp>
        <p:nvSpPr>
          <p:cNvPr id="17" name="Text 15"/>
          <p:cNvSpPr txBox="1"/>
          <p:nvPr/>
        </p:nvSpPr>
        <p:spPr>
          <a:xfrm>
            <a:off x="658368" y="2307515"/>
            <a:ext cx="2240280" cy="23021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8" name="Shape 16"/>
          <p:cNvSpPr/>
          <p:nvPr/>
        </p:nvSpPr>
        <p:spPr>
          <a:xfrm>
            <a:off x="3813048" y="2369673"/>
            <a:ext cx="355312" cy="105898"/>
          </a:xfrm>
          <a:prstGeom prst="rect">
            <a:avLst/>
          </a:prstGeom>
          <a:solidFill>
            <a:srgbClr val="12A566"/>
          </a:solidFill>
          <a:ln/>
        </p:spPr>
      </p:sp>
      <p:sp>
        <p:nvSpPr>
          <p:cNvPr id="19" name="Text 17"/>
          <p:cNvSpPr txBox="1"/>
          <p:nvPr/>
        </p:nvSpPr>
        <p:spPr>
          <a:xfrm>
            <a:off x="4709160" y="2307515"/>
            <a:ext cx="1271016" cy="230214"/>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+121</a:t>
            </a:r>
            <a:endParaRPr lang="en-US" sz="1300" dirty="0"/>
          </a:p>
        </p:txBody>
      </p:sp>
      <p:sp>
        <p:nvSpPr>
          <p:cNvPr id="20" name="Text 18"/>
          <p:cNvSpPr txBox="1"/>
          <p:nvPr/>
        </p:nvSpPr>
        <p:spPr>
          <a:xfrm>
            <a:off x="658368" y="2537729"/>
            <a:ext cx="2240280" cy="23021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21" name="Shape 19"/>
          <p:cNvSpPr/>
          <p:nvPr/>
        </p:nvSpPr>
        <p:spPr>
          <a:xfrm>
            <a:off x="3813048" y="2599887"/>
            <a:ext cx="350272" cy="105898"/>
          </a:xfrm>
          <a:prstGeom prst="rect">
            <a:avLst/>
          </a:prstGeom>
          <a:solidFill>
            <a:srgbClr val="12A566"/>
          </a:solidFill>
          <a:ln/>
        </p:spPr>
      </p:sp>
      <p:sp>
        <p:nvSpPr>
          <p:cNvPr id="22" name="Text 20"/>
          <p:cNvSpPr txBox="1"/>
          <p:nvPr/>
        </p:nvSpPr>
        <p:spPr>
          <a:xfrm>
            <a:off x="4709160" y="2537729"/>
            <a:ext cx="1271016" cy="230214"/>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+120</a:t>
            </a:r>
            <a:endParaRPr lang="en-US" sz="1300" dirty="0"/>
          </a:p>
        </p:txBody>
      </p:sp>
      <p:sp>
        <p:nvSpPr>
          <p:cNvPr id="23" name="Text 21"/>
          <p:cNvSpPr txBox="1"/>
          <p:nvPr/>
        </p:nvSpPr>
        <p:spPr>
          <a:xfrm>
            <a:off x="658368" y="2767943"/>
            <a:ext cx="2240280" cy="23021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24" name="Shape 22"/>
          <p:cNvSpPr/>
          <p:nvPr/>
        </p:nvSpPr>
        <p:spPr>
          <a:xfrm>
            <a:off x="3813048" y="2830100"/>
            <a:ext cx="341073" cy="105898"/>
          </a:xfrm>
          <a:prstGeom prst="rect">
            <a:avLst/>
          </a:prstGeom>
          <a:solidFill>
            <a:srgbClr val="12A566"/>
          </a:solidFill>
          <a:ln/>
        </p:spPr>
      </p:sp>
      <p:sp>
        <p:nvSpPr>
          <p:cNvPr id="25" name="Text 23"/>
          <p:cNvSpPr txBox="1"/>
          <p:nvPr/>
        </p:nvSpPr>
        <p:spPr>
          <a:xfrm>
            <a:off x="4709160" y="2767943"/>
            <a:ext cx="1271016" cy="230214"/>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+116</a:t>
            </a:r>
            <a:endParaRPr lang="en-US" sz="1300" dirty="0"/>
          </a:p>
        </p:txBody>
      </p:sp>
      <p:sp>
        <p:nvSpPr>
          <p:cNvPr id="26" name="Text 24"/>
          <p:cNvSpPr txBox="1"/>
          <p:nvPr/>
        </p:nvSpPr>
        <p:spPr>
          <a:xfrm>
            <a:off x="658368" y="2998156"/>
            <a:ext cx="2240280" cy="23021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27" name="Shape 25"/>
          <p:cNvSpPr/>
          <p:nvPr/>
        </p:nvSpPr>
        <p:spPr>
          <a:xfrm>
            <a:off x="3813048" y="3060314"/>
            <a:ext cx="155530" cy="105898"/>
          </a:xfrm>
          <a:prstGeom prst="rect">
            <a:avLst/>
          </a:prstGeom>
          <a:solidFill>
            <a:srgbClr val="12A566"/>
          </a:solidFill>
          <a:ln/>
        </p:spPr>
      </p:sp>
      <p:sp>
        <p:nvSpPr>
          <p:cNvPr id="28" name="Text 26"/>
          <p:cNvSpPr txBox="1"/>
          <p:nvPr/>
        </p:nvSpPr>
        <p:spPr>
          <a:xfrm>
            <a:off x="4709160" y="2998156"/>
            <a:ext cx="1271016" cy="230214"/>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+53</a:t>
            </a:r>
            <a:endParaRPr lang="en-US" sz="1300" dirty="0"/>
          </a:p>
        </p:txBody>
      </p:sp>
      <p:sp>
        <p:nvSpPr>
          <p:cNvPr id="29" name="Text 27"/>
          <p:cNvSpPr txBox="1"/>
          <p:nvPr/>
        </p:nvSpPr>
        <p:spPr>
          <a:xfrm>
            <a:off x="658368" y="3228370"/>
            <a:ext cx="2240280" cy="23021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30" name="Shape 28"/>
          <p:cNvSpPr/>
          <p:nvPr/>
        </p:nvSpPr>
        <p:spPr>
          <a:xfrm>
            <a:off x="3813048" y="3290528"/>
            <a:ext cx="139901" cy="105898"/>
          </a:xfrm>
          <a:prstGeom prst="rect">
            <a:avLst/>
          </a:prstGeom>
          <a:solidFill>
            <a:srgbClr val="12A566"/>
          </a:solidFill>
          <a:ln/>
        </p:spPr>
      </p:sp>
      <p:sp>
        <p:nvSpPr>
          <p:cNvPr id="31" name="Text 29"/>
          <p:cNvSpPr txBox="1"/>
          <p:nvPr/>
        </p:nvSpPr>
        <p:spPr>
          <a:xfrm>
            <a:off x="4709160" y="3228370"/>
            <a:ext cx="1271016" cy="230214"/>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+48</a:t>
            </a:r>
            <a:endParaRPr lang="en-US" sz="1300" dirty="0"/>
          </a:p>
        </p:txBody>
      </p:sp>
      <p:sp>
        <p:nvSpPr>
          <p:cNvPr id="32" name="Text 30"/>
          <p:cNvSpPr txBox="1"/>
          <p:nvPr/>
        </p:nvSpPr>
        <p:spPr>
          <a:xfrm>
            <a:off x="658368" y="3458584"/>
            <a:ext cx="2240280" cy="23021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33" name="Shape 31"/>
          <p:cNvSpPr/>
          <p:nvPr/>
        </p:nvSpPr>
        <p:spPr>
          <a:xfrm>
            <a:off x="3813048" y="3520741"/>
            <a:ext cx="136968" cy="105898"/>
          </a:xfrm>
          <a:prstGeom prst="rect">
            <a:avLst/>
          </a:prstGeom>
          <a:solidFill>
            <a:srgbClr val="12A566"/>
          </a:solidFill>
          <a:ln/>
        </p:spPr>
      </p:sp>
      <p:sp>
        <p:nvSpPr>
          <p:cNvPr id="34" name="Text 32"/>
          <p:cNvSpPr txBox="1"/>
          <p:nvPr/>
        </p:nvSpPr>
        <p:spPr>
          <a:xfrm>
            <a:off x="4709160" y="3458584"/>
            <a:ext cx="1271016" cy="230214"/>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+47</a:t>
            </a:r>
            <a:endParaRPr lang="en-US" sz="1300" dirty="0"/>
          </a:p>
        </p:txBody>
      </p:sp>
      <p:sp>
        <p:nvSpPr>
          <p:cNvPr id="35" name="Text 33"/>
          <p:cNvSpPr txBox="1"/>
          <p:nvPr/>
        </p:nvSpPr>
        <p:spPr>
          <a:xfrm>
            <a:off x="658368" y="3688797"/>
            <a:ext cx="2240280" cy="23021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36" name="Shape 34"/>
          <p:cNvSpPr/>
          <p:nvPr/>
        </p:nvSpPr>
        <p:spPr>
          <a:xfrm>
            <a:off x="3813048" y="3750955"/>
            <a:ext cx="129611" cy="105898"/>
          </a:xfrm>
          <a:prstGeom prst="rect">
            <a:avLst/>
          </a:prstGeom>
          <a:solidFill>
            <a:srgbClr val="12A566"/>
          </a:solidFill>
          <a:ln/>
        </p:spPr>
      </p:sp>
      <p:sp>
        <p:nvSpPr>
          <p:cNvPr id="37" name="Text 35"/>
          <p:cNvSpPr txBox="1"/>
          <p:nvPr/>
        </p:nvSpPr>
        <p:spPr>
          <a:xfrm>
            <a:off x="4709160" y="3688797"/>
            <a:ext cx="1271016" cy="230214"/>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+44</a:t>
            </a:r>
            <a:endParaRPr lang="en-US" sz="1300" dirty="0"/>
          </a:p>
        </p:txBody>
      </p:sp>
      <p:sp>
        <p:nvSpPr>
          <p:cNvPr id="38" name="Text 36"/>
          <p:cNvSpPr txBox="1"/>
          <p:nvPr/>
        </p:nvSpPr>
        <p:spPr>
          <a:xfrm>
            <a:off x="658368" y="3919011"/>
            <a:ext cx="2240280" cy="23021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39" name="Shape 37"/>
          <p:cNvSpPr/>
          <p:nvPr/>
        </p:nvSpPr>
        <p:spPr>
          <a:xfrm>
            <a:off x="3813048" y="3981169"/>
            <a:ext cx="112185" cy="105898"/>
          </a:xfrm>
          <a:prstGeom prst="rect">
            <a:avLst/>
          </a:prstGeom>
          <a:solidFill>
            <a:srgbClr val="12A566"/>
          </a:solidFill>
          <a:ln/>
        </p:spPr>
      </p:sp>
      <p:sp>
        <p:nvSpPr>
          <p:cNvPr id="40" name="Text 38"/>
          <p:cNvSpPr txBox="1"/>
          <p:nvPr/>
        </p:nvSpPr>
        <p:spPr>
          <a:xfrm>
            <a:off x="4709160" y="3919011"/>
            <a:ext cx="1271016" cy="230214"/>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+38</a:t>
            </a:r>
            <a:endParaRPr lang="en-US" sz="1300" dirty="0"/>
          </a:p>
        </p:txBody>
      </p:sp>
      <p:sp>
        <p:nvSpPr>
          <p:cNvPr id="41" name="Text 39"/>
          <p:cNvSpPr txBox="1"/>
          <p:nvPr/>
        </p:nvSpPr>
        <p:spPr>
          <a:xfrm>
            <a:off x="658368" y="4149224"/>
            <a:ext cx="2240280" cy="23021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42" name="Shape 40"/>
          <p:cNvSpPr/>
          <p:nvPr/>
        </p:nvSpPr>
        <p:spPr>
          <a:xfrm>
            <a:off x="3813048" y="4211382"/>
            <a:ext cx="67190" cy="105898"/>
          </a:xfrm>
          <a:prstGeom prst="rect">
            <a:avLst/>
          </a:prstGeom>
          <a:solidFill>
            <a:srgbClr val="12A566"/>
          </a:solidFill>
          <a:ln/>
        </p:spPr>
      </p:sp>
      <p:sp>
        <p:nvSpPr>
          <p:cNvPr id="43" name="Text 41"/>
          <p:cNvSpPr txBox="1"/>
          <p:nvPr/>
        </p:nvSpPr>
        <p:spPr>
          <a:xfrm>
            <a:off x="4709160" y="4149224"/>
            <a:ext cx="1271016" cy="230214"/>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+23</a:t>
            </a:r>
            <a:endParaRPr lang="en-US" sz="1300" dirty="0"/>
          </a:p>
        </p:txBody>
      </p:sp>
      <p:sp>
        <p:nvSpPr>
          <p:cNvPr id="44" name="Text 42"/>
          <p:cNvSpPr txBox="1"/>
          <p:nvPr/>
        </p:nvSpPr>
        <p:spPr>
          <a:xfrm>
            <a:off x="658368" y="4379438"/>
            <a:ext cx="2240280" cy="23021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45" name="Shape 43"/>
          <p:cNvSpPr/>
          <p:nvPr/>
        </p:nvSpPr>
        <p:spPr>
          <a:xfrm>
            <a:off x="3813048" y="4441596"/>
            <a:ext cx="50922" cy="105898"/>
          </a:xfrm>
          <a:prstGeom prst="rect">
            <a:avLst/>
          </a:prstGeom>
          <a:solidFill>
            <a:srgbClr val="12A566"/>
          </a:solidFill>
          <a:ln/>
        </p:spPr>
      </p:sp>
      <p:sp>
        <p:nvSpPr>
          <p:cNvPr id="46" name="Text 44"/>
          <p:cNvSpPr txBox="1"/>
          <p:nvPr/>
        </p:nvSpPr>
        <p:spPr>
          <a:xfrm>
            <a:off x="4709160" y="4379438"/>
            <a:ext cx="1271016" cy="230214"/>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+17</a:t>
            </a:r>
            <a:endParaRPr lang="en-US" sz="1300" dirty="0"/>
          </a:p>
        </p:txBody>
      </p:sp>
      <p:sp>
        <p:nvSpPr>
          <p:cNvPr id="47" name="Text 45"/>
          <p:cNvSpPr txBox="1"/>
          <p:nvPr/>
        </p:nvSpPr>
        <p:spPr>
          <a:xfrm>
            <a:off x="658368" y="4609652"/>
            <a:ext cx="2240280" cy="23021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48" name="Shape 46"/>
          <p:cNvSpPr/>
          <p:nvPr/>
        </p:nvSpPr>
        <p:spPr>
          <a:xfrm>
            <a:off x="3813048" y="4671809"/>
            <a:ext cx="42136" cy="105898"/>
          </a:xfrm>
          <a:prstGeom prst="rect">
            <a:avLst/>
          </a:prstGeom>
          <a:solidFill>
            <a:srgbClr val="12A566"/>
          </a:solidFill>
          <a:ln/>
        </p:spPr>
      </p:sp>
      <p:sp>
        <p:nvSpPr>
          <p:cNvPr id="49" name="Text 47"/>
          <p:cNvSpPr txBox="1"/>
          <p:nvPr/>
        </p:nvSpPr>
        <p:spPr>
          <a:xfrm>
            <a:off x="4709160" y="4609652"/>
            <a:ext cx="1271016" cy="230214"/>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+14</a:t>
            </a:r>
            <a:endParaRPr lang="en-US" sz="1300" dirty="0"/>
          </a:p>
        </p:txBody>
      </p:sp>
      <p:sp>
        <p:nvSpPr>
          <p:cNvPr id="50" name="Text 48"/>
          <p:cNvSpPr txBox="1"/>
          <p:nvPr/>
        </p:nvSpPr>
        <p:spPr>
          <a:xfrm>
            <a:off x="658368" y="4839865"/>
            <a:ext cx="2240280" cy="23021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51" name="Shape 49"/>
          <p:cNvSpPr/>
          <p:nvPr/>
        </p:nvSpPr>
        <p:spPr>
          <a:xfrm>
            <a:off x="3813048" y="4902023"/>
            <a:ext cx="30748" cy="105898"/>
          </a:xfrm>
          <a:prstGeom prst="rect">
            <a:avLst/>
          </a:prstGeom>
          <a:solidFill>
            <a:srgbClr val="12A566"/>
          </a:solidFill>
          <a:ln/>
        </p:spPr>
      </p:sp>
      <p:sp>
        <p:nvSpPr>
          <p:cNvPr id="52" name="Text 50"/>
          <p:cNvSpPr txBox="1"/>
          <p:nvPr/>
        </p:nvSpPr>
        <p:spPr>
          <a:xfrm>
            <a:off x="4709160" y="4839865"/>
            <a:ext cx="1271016" cy="230214"/>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+11</a:t>
            </a:r>
            <a:endParaRPr lang="en-US" sz="1300" dirty="0"/>
          </a:p>
        </p:txBody>
      </p:sp>
      <p:sp>
        <p:nvSpPr>
          <p:cNvPr id="53" name="Text 51"/>
          <p:cNvSpPr txBox="1"/>
          <p:nvPr/>
        </p:nvSpPr>
        <p:spPr>
          <a:xfrm>
            <a:off x="658368" y="5070079"/>
            <a:ext cx="2240280" cy="23021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54" name="Shape 52"/>
          <p:cNvSpPr/>
          <p:nvPr/>
        </p:nvSpPr>
        <p:spPr>
          <a:xfrm>
            <a:off x="3813048" y="5132237"/>
            <a:ext cx="30152" cy="105898"/>
          </a:xfrm>
          <a:prstGeom prst="rect">
            <a:avLst/>
          </a:prstGeom>
          <a:solidFill>
            <a:srgbClr val="12A566"/>
          </a:solidFill>
          <a:ln/>
        </p:spPr>
      </p:sp>
      <p:sp>
        <p:nvSpPr>
          <p:cNvPr id="55" name="Text 53"/>
          <p:cNvSpPr txBox="1"/>
          <p:nvPr/>
        </p:nvSpPr>
        <p:spPr>
          <a:xfrm>
            <a:off x="4709160" y="5070079"/>
            <a:ext cx="1271016" cy="230214"/>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+10</a:t>
            </a:r>
            <a:endParaRPr lang="en-US" sz="1300" dirty="0"/>
          </a:p>
        </p:txBody>
      </p:sp>
      <p:sp>
        <p:nvSpPr>
          <p:cNvPr id="56" name="Text 54"/>
          <p:cNvSpPr txBox="1"/>
          <p:nvPr/>
        </p:nvSpPr>
        <p:spPr>
          <a:xfrm>
            <a:off x="658368" y="5300293"/>
            <a:ext cx="2240280" cy="23021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57" name="Shape 55"/>
          <p:cNvSpPr/>
          <p:nvPr/>
        </p:nvSpPr>
        <p:spPr>
          <a:xfrm>
            <a:off x="3813048" y="5362450"/>
            <a:ext cx="15781" cy="105898"/>
          </a:xfrm>
          <a:prstGeom prst="rect">
            <a:avLst/>
          </a:prstGeom>
          <a:solidFill>
            <a:srgbClr val="12A566"/>
          </a:solidFill>
          <a:ln/>
        </p:spPr>
      </p:sp>
      <p:sp>
        <p:nvSpPr>
          <p:cNvPr id="58" name="Text 56"/>
          <p:cNvSpPr txBox="1"/>
          <p:nvPr/>
        </p:nvSpPr>
        <p:spPr>
          <a:xfrm>
            <a:off x="4709160" y="5300293"/>
            <a:ext cx="1271016" cy="230214"/>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+5</a:t>
            </a:r>
            <a:endParaRPr lang="en-US" sz="1300" dirty="0"/>
          </a:p>
        </p:txBody>
      </p:sp>
      <p:sp>
        <p:nvSpPr>
          <p:cNvPr id="59" name="Text 57"/>
          <p:cNvSpPr txBox="1"/>
          <p:nvPr/>
        </p:nvSpPr>
        <p:spPr>
          <a:xfrm>
            <a:off x="658368" y="5530506"/>
            <a:ext cx="2240280" cy="23021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60" name="Shape 58"/>
          <p:cNvSpPr/>
          <p:nvPr/>
        </p:nvSpPr>
        <p:spPr>
          <a:xfrm>
            <a:off x="3813048" y="5592664"/>
            <a:ext cx="13284" cy="105898"/>
          </a:xfrm>
          <a:prstGeom prst="rect">
            <a:avLst/>
          </a:prstGeom>
          <a:solidFill>
            <a:srgbClr val="12A566"/>
          </a:solidFill>
          <a:ln/>
        </p:spPr>
      </p:sp>
      <p:sp>
        <p:nvSpPr>
          <p:cNvPr id="61" name="Text 59"/>
          <p:cNvSpPr txBox="1"/>
          <p:nvPr/>
        </p:nvSpPr>
        <p:spPr>
          <a:xfrm>
            <a:off x="4709160" y="5530506"/>
            <a:ext cx="1271016" cy="230214"/>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+5</a:t>
            </a:r>
            <a:endParaRPr lang="en-US" sz="1300" dirty="0"/>
          </a:p>
        </p:txBody>
      </p:sp>
      <p:sp>
        <p:nvSpPr>
          <p:cNvPr id="62" name="Text 60"/>
          <p:cNvSpPr txBox="1"/>
          <p:nvPr/>
        </p:nvSpPr>
        <p:spPr>
          <a:xfrm>
            <a:off x="6208776" y="1847088"/>
            <a:ext cx="2240280" cy="23021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63" name="Shape 61"/>
          <p:cNvSpPr/>
          <p:nvPr/>
        </p:nvSpPr>
        <p:spPr>
          <a:xfrm>
            <a:off x="9363456" y="1909246"/>
            <a:ext cx="12802" cy="105898"/>
          </a:xfrm>
          <a:prstGeom prst="rect">
            <a:avLst/>
          </a:prstGeom>
          <a:solidFill>
            <a:srgbClr val="12A566"/>
          </a:solidFill>
          <a:ln/>
        </p:spPr>
      </p:sp>
      <p:sp>
        <p:nvSpPr>
          <p:cNvPr id="64" name="Text 62"/>
          <p:cNvSpPr txBox="1"/>
          <p:nvPr/>
        </p:nvSpPr>
        <p:spPr>
          <a:xfrm>
            <a:off x="10259568" y="1847088"/>
            <a:ext cx="1271016" cy="230214"/>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+2</a:t>
            </a:r>
            <a:endParaRPr lang="en-US" sz="1300" dirty="0"/>
          </a:p>
        </p:txBody>
      </p:sp>
      <p:sp>
        <p:nvSpPr>
          <p:cNvPr id="65" name="Text 63"/>
          <p:cNvSpPr txBox="1"/>
          <p:nvPr/>
        </p:nvSpPr>
        <p:spPr>
          <a:xfrm>
            <a:off x="6208776" y="2077302"/>
            <a:ext cx="2240280" cy="23021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66" name="Shape 64"/>
          <p:cNvSpPr/>
          <p:nvPr/>
        </p:nvSpPr>
        <p:spPr>
          <a:xfrm>
            <a:off x="9363456" y="2139459"/>
            <a:ext cx="12802" cy="105898"/>
          </a:xfrm>
          <a:prstGeom prst="rect">
            <a:avLst/>
          </a:prstGeom>
          <a:solidFill>
            <a:srgbClr val="12A566"/>
          </a:solidFill>
          <a:ln/>
        </p:spPr>
      </p:sp>
      <p:sp>
        <p:nvSpPr>
          <p:cNvPr id="67" name="Text 65"/>
          <p:cNvSpPr txBox="1"/>
          <p:nvPr/>
        </p:nvSpPr>
        <p:spPr>
          <a:xfrm>
            <a:off x="10259568" y="2077302"/>
            <a:ext cx="1271016" cy="230214"/>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+2</a:t>
            </a:r>
            <a:endParaRPr lang="en-US" sz="1300" dirty="0"/>
          </a:p>
        </p:txBody>
      </p:sp>
      <p:sp>
        <p:nvSpPr>
          <p:cNvPr id="68" name="Text 66"/>
          <p:cNvSpPr txBox="1"/>
          <p:nvPr/>
        </p:nvSpPr>
        <p:spPr>
          <a:xfrm>
            <a:off x="6208776" y="2307515"/>
            <a:ext cx="2240280" cy="23021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69" name="Shape 67"/>
          <p:cNvSpPr/>
          <p:nvPr/>
        </p:nvSpPr>
        <p:spPr>
          <a:xfrm>
            <a:off x="9363456" y="2369673"/>
            <a:ext cx="12802" cy="105898"/>
          </a:xfrm>
          <a:prstGeom prst="rect">
            <a:avLst/>
          </a:prstGeom>
          <a:solidFill>
            <a:srgbClr val="12A566"/>
          </a:solidFill>
          <a:ln/>
        </p:spPr>
      </p:sp>
      <p:sp>
        <p:nvSpPr>
          <p:cNvPr id="70" name="Text 68"/>
          <p:cNvSpPr txBox="1"/>
          <p:nvPr/>
        </p:nvSpPr>
        <p:spPr>
          <a:xfrm>
            <a:off x="10259568" y="2307515"/>
            <a:ext cx="1271016" cy="230214"/>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+2</a:t>
            </a:r>
            <a:endParaRPr lang="en-US" sz="1300" dirty="0"/>
          </a:p>
        </p:txBody>
      </p:sp>
      <p:sp>
        <p:nvSpPr>
          <p:cNvPr id="71" name="Text 69"/>
          <p:cNvSpPr txBox="1"/>
          <p:nvPr/>
        </p:nvSpPr>
        <p:spPr>
          <a:xfrm>
            <a:off x="6208776" y="2537729"/>
            <a:ext cx="2240280" cy="23021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72" name="Shape 70"/>
          <p:cNvSpPr/>
          <p:nvPr/>
        </p:nvSpPr>
        <p:spPr>
          <a:xfrm>
            <a:off x="9363456" y="2599887"/>
            <a:ext cx="12802" cy="105898"/>
          </a:xfrm>
          <a:prstGeom prst="rect">
            <a:avLst/>
          </a:prstGeom>
          <a:solidFill>
            <a:srgbClr val="12A566"/>
          </a:solidFill>
          <a:ln/>
        </p:spPr>
      </p:sp>
      <p:sp>
        <p:nvSpPr>
          <p:cNvPr id="73" name="Text 71"/>
          <p:cNvSpPr txBox="1"/>
          <p:nvPr/>
        </p:nvSpPr>
        <p:spPr>
          <a:xfrm>
            <a:off x="10259568" y="2537729"/>
            <a:ext cx="1271016" cy="230214"/>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+1</a:t>
            </a:r>
            <a:endParaRPr lang="en-US" sz="1300" dirty="0"/>
          </a:p>
        </p:txBody>
      </p:sp>
      <p:sp>
        <p:nvSpPr>
          <p:cNvPr id="74" name="Text 72"/>
          <p:cNvSpPr txBox="1"/>
          <p:nvPr/>
        </p:nvSpPr>
        <p:spPr>
          <a:xfrm>
            <a:off x="6208776" y="2767943"/>
            <a:ext cx="2240280" cy="23021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75" name="Shape 73"/>
          <p:cNvSpPr/>
          <p:nvPr/>
        </p:nvSpPr>
        <p:spPr>
          <a:xfrm>
            <a:off x="9363456" y="2830100"/>
            <a:ext cx="12802" cy="105898"/>
          </a:xfrm>
          <a:prstGeom prst="rect">
            <a:avLst/>
          </a:prstGeom>
          <a:solidFill>
            <a:srgbClr val="12A566"/>
          </a:solidFill>
          <a:ln/>
        </p:spPr>
      </p:sp>
      <p:sp>
        <p:nvSpPr>
          <p:cNvPr id="76" name="Text 74"/>
          <p:cNvSpPr txBox="1"/>
          <p:nvPr/>
        </p:nvSpPr>
        <p:spPr>
          <a:xfrm>
            <a:off x="10259568" y="2767943"/>
            <a:ext cx="1271016" cy="230214"/>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+1</a:t>
            </a:r>
            <a:endParaRPr lang="en-US" sz="1300" dirty="0"/>
          </a:p>
        </p:txBody>
      </p:sp>
      <p:sp>
        <p:nvSpPr>
          <p:cNvPr id="77" name="Text 75"/>
          <p:cNvSpPr txBox="1"/>
          <p:nvPr/>
        </p:nvSpPr>
        <p:spPr>
          <a:xfrm>
            <a:off x="6208776" y="2998156"/>
            <a:ext cx="2240280" cy="23021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78" name="Shape 76"/>
          <p:cNvSpPr/>
          <p:nvPr/>
        </p:nvSpPr>
        <p:spPr>
          <a:xfrm>
            <a:off x="9348389" y="3060314"/>
            <a:ext cx="15067" cy="105898"/>
          </a:xfrm>
          <a:prstGeom prst="rect">
            <a:avLst/>
          </a:prstGeom>
          <a:solidFill>
            <a:srgbClr val="C2352F"/>
          </a:solidFill>
          <a:ln/>
        </p:spPr>
      </p:sp>
      <p:sp>
        <p:nvSpPr>
          <p:cNvPr id="79" name="Text 77"/>
          <p:cNvSpPr txBox="1"/>
          <p:nvPr/>
        </p:nvSpPr>
        <p:spPr>
          <a:xfrm>
            <a:off x="10259568" y="2998156"/>
            <a:ext cx="1271016" cy="230214"/>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−5</a:t>
            </a:r>
            <a:endParaRPr lang="en-US" sz="1300" dirty="0"/>
          </a:p>
        </p:txBody>
      </p:sp>
      <p:sp>
        <p:nvSpPr>
          <p:cNvPr id="80" name="Text 78"/>
          <p:cNvSpPr txBox="1"/>
          <p:nvPr/>
        </p:nvSpPr>
        <p:spPr>
          <a:xfrm>
            <a:off x="6208776" y="3228370"/>
            <a:ext cx="2240280" cy="23021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81" name="Shape 79"/>
          <p:cNvSpPr/>
          <p:nvPr/>
        </p:nvSpPr>
        <p:spPr>
          <a:xfrm>
            <a:off x="9283274" y="3290528"/>
            <a:ext cx="80182" cy="105898"/>
          </a:xfrm>
          <a:prstGeom prst="rect">
            <a:avLst/>
          </a:prstGeom>
          <a:solidFill>
            <a:srgbClr val="C2352F"/>
          </a:solidFill>
          <a:ln/>
        </p:spPr>
      </p:sp>
      <p:sp>
        <p:nvSpPr>
          <p:cNvPr id="82" name="Text 80"/>
          <p:cNvSpPr txBox="1"/>
          <p:nvPr/>
        </p:nvSpPr>
        <p:spPr>
          <a:xfrm>
            <a:off x="10259568" y="3228370"/>
            <a:ext cx="1271016" cy="230214"/>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−27</a:t>
            </a:r>
            <a:endParaRPr lang="en-US" sz="1300" dirty="0"/>
          </a:p>
        </p:txBody>
      </p:sp>
      <p:sp>
        <p:nvSpPr>
          <p:cNvPr id="83" name="Text 81"/>
          <p:cNvSpPr txBox="1"/>
          <p:nvPr/>
        </p:nvSpPr>
        <p:spPr>
          <a:xfrm>
            <a:off x="6208776" y="3458584"/>
            <a:ext cx="2240280" cy="23021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84" name="Shape 82"/>
          <p:cNvSpPr/>
          <p:nvPr/>
        </p:nvSpPr>
        <p:spPr>
          <a:xfrm>
            <a:off x="9281624" y="3520741"/>
            <a:ext cx="81832" cy="105898"/>
          </a:xfrm>
          <a:prstGeom prst="rect">
            <a:avLst/>
          </a:prstGeom>
          <a:solidFill>
            <a:srgbClr val="C2352F"/>
          </a:solidFill>
          <a:ln/>
        </p:spPr>
      </p:sp>
      <p:sp>
        <p:nvSpPr>
          <p:cNvPr id="85" name="Text 83"/>
          <p:cNvSpPr txBox="1"/>
          <p:nvPr/>
        </p:nvSpPr>
        <p:spPr>
          <a:xfrm>
            <a:off x="10259568" y="3458584"/>
            <a:ext cx="1271016" cy="230214"/>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−28</a:t>
            </a:r>
            <a:endParaRPr lang="en-US" sz="1300" dirty="0"/>
          </a:p>
        </p:txBody>
      </p:sp>
      <p:sp>
        <p:nvSpPr>
          <p:cNvPr id="86" name="Text 84"/>
          <p:cNvSpPr txBox="1"/>
          <p:nvPr/>
        </p:nvSpPr>
        <p:spPr>
          <a:xfrm>
            <a:off x="6208776" y="3688797"/>
            <a:ext cx="2240280" cy="23021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87" name="Shape 85"/>
          <p:cNvSpPr/>
          <p:nvPr/>
        </p:nvSpPr>
        <p:spPr>
          <a:xfrm>
            <a:off x="9279834" y="3750955"/>
            <a:ext cx="83622" cy="105898"/>
          </a:xfrm>
          <a:prstGeom prst="rect">
            <a:avLst/>
          </a:prstGeom>
          <a:solidFill>
            <a:srgbClr val="C2352F"/>
          </a:solidFill>
          <a:ln/>
        </p:spPr>
      </p:sp>
      <p:sp>
        <p:nvSpPr>
          <p:cNvPr id="88" name="Text 86"/>
          <p:cNvSpPr txBox="1"/>
          <p:nvPr/>
        </p:nvSpPr>
        <p:spPr>
          <a:xfrm>
            <a:off x="10259568" y="3688797"/>
            <a:ext cx="1271016" cy="230214"/>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−29</a:t>
            </a:r>
            <a:endParaRPr lang="en-US" sz="1300" dirty="0"/>
          </a:p>
        </p:txBody>
      </p:sp>
      <p:sp>
        <p:nvSpPr>
          <p:cNvPr id="89" name="Text 87"/>
          <p:cNvSpPr txBox="1"/>
          <p:nvPr/>
        </p:nvSpPr>
        <p:spPr>
          <a:xfrm>
            <a:off x="6208776" y="3919011"/>
            <a:ext cx="2240280" cy="23021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90" name="Shape 88"/>
          <p:cNvSpPr/>
          <p:nvPr/>
        </p:nvSpPr>
        <p:spPr>
          <a:xfrm>
            <a:off x="9269105" y="3981169"/>
            <a:ext cx="94351" cy="105898"/>
          </a:xfrm>
          <a:prstGeom prst="rect">
            <a:avLst/>
          </a:prstGeom>
          <a:solidFill>
            <a:srgbClr val="C2352F"/>
          </a:solidFill>
          <a:ln/>
        </p:spPr>
      </p:sp>
      <p:sp>
        <p:nvSpPr>
          <p:cNvPr id="91" name="Text 89"/>
          <p:cNvSpPr txBox="1"/>
          <p:nvPr/>
        </p:nvSpPr>
        <p:spPr>
          <a:xfrm>
            <a:off x="10259568" y="3919011"/>
            <a:ext cx="1271016" cy="230214"/>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−32</a:t>
            </a:r>
            <a:endParaRPr lang="en-US" sz="1300" dirty="0"/>
          </a:p>
        </p:txBody>
      </p:sp>
      <p:sp>
        <p:nvSpPr>
          <p:cNvPr id="92" name="Text 90"/>
          <p:cNvSpPr txBox="1"/>
          <p:nvPr/>
        </p:nvSpPr>
        <p:spPr>
          <a:xfrm>
            <a:off x="6208776" y="4149224"/>
            <a:ext cx="2240280" cy="23021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93" name="Shape 91"/>
          <p:cNvSpPr/>
          <p:nvPr/>
        </p:nvSpPr>
        <p:spPr>
          <a:xfrm>
            <a:off x="9260420" y="4211382"/>
            <a:ext cx="103036" cy="105898"/>
          </a:xfrm>
          <a:prstGeom prst="rect">
            <a:avLst/>
          </a:prstGeom>
          <a:solidFill>
            <a:srgbClr val="C2352F"/>
          </a:solidFill>
          <a:ln/>
        </p:spPr>
      </p:sp>
      <p:sp>
        <p:nvSpPr>
          <p:cNvPr id="94" name="Text 92"/>
          <p:cNvSpPr txBox="1"/>
          <p:nvPr/>
        </p:nvSpPr>
        <p:spPr>
          <a:xfrm>
            <a:off x="10259568" y="4149224"/>
            <a:ext cx="1271016" cy="230214"/>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−35</a:t>
            </a:r>
            <a:endParaRPr lang="en-US" sz="1300" dirty="0"/>
          </a:p>
        </p:txBody>
      </p:sp>
      <p:sp>
        <p:nvSpPr>
          <p:cNvPr id="95" name="Text 93"/>
          <p:cNvSpPr txBox="1"/>
          <p:nvPr/>
        </p:nvSpPr>
        <p:spPr>
          <a:xfrm>
            <a:off x="6208776" y="4379438"/>
            <a:ext cx="2240280" cy="23021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96" name="Shape 94"/>
          <p:cNvSpPr/>
          <p:nvPr/>
        </p:nvSpPr>
        <p:spPr>
          <a:xfrm>
            <a:off x="9211584" y="4441596"/>
            <a:ext cx="151872" cy="105898"/>
          </a:xfrm>
          <a:prstGeom prst="rect">
            <a:avLst/>
          </a:prstGeom>
          <a:solidFill>
            <a:srgbClr val="C2352F"/>
          </a:solidFill>
          <a:ln/>
        </p:spPr>
      </p:sp>
      <p:sp>
        <p:nvSpPr>
          <p:cNvPr id="97" name="Text 95"/>
          <p:cNvSpPr txBox="1"/>
          <p:nvPr/>
        </p:nvSpPr>
        <p:spPr>
          <a:xfrm>
            <a:off x="10259568" y="4379438"/>
            <a:ext cx="1271016" cy="230214"/>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−52</a:t>
            </a:r>
            <a:endParaRPr lang="en-US" sz="1300" dirty="0"/>
          </a:p>
        </p:txBody>
      </p:sp>
      <p:sp>
        <p:nvSpPr>
          <p:cNvPr id="98" name="Text 96"/>
          <p:cNvSpPr txBox="1"/>
          <p:nvPr/>
        </p:nvSpPr>
        <p:spPr>
          <a:xfrm>
            <a:off x="6208776" y="4609652"/>
            <a:ext cx="2240280" cy="23021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99" name="Shape 97"/>
          <p:cNvSpPr/>
          <p:nvPr/>
        </p:nvSpPr>
        <p:spPr>
          <a:xfrm>
            <a:off x="9200239" y="4671809"/>
            <a:ext cx="163217" cy="105898"/>
          </a:xfrm>
          <a:prstGeom prst="rect">
            <a:avLst/>
          </a:prstGeom>
          <a:solidFill>
            <a:srgbClr val="C2352F"/>
          </a:solidFill>
          <a:ln/>
        </p:spPr>
      </p:sp>
      <p:sp>
        <p:nvSpPr>
          <p:cNvPr id="100" name="Text 98"/>
          <p:cNvSpPr txBox="1"/>
          <p:nvPr/>
        </p:nvSpPr>
        <p:spPr>
          <a:xfrm>
            <a:off x="10259568" y="4609652"/>
            <a:ext cx="1271016" cy="230214"/>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−56</a:t>
            </a:r>
            <a:endParaRPr lang="en-US" sz="1300" dirty="0"/>
          </a:p>
        </p:txBody>
      </p:sp>
      <p:sp>
        <p:nvSpPr>
          <p:cNvPr id="101" name="Text 99"/>
          <p:cNvSpPr txBox="1"/>
          <p:nvPr/>
        </p:nvSpPr>
        <p:spPr>
          <a:xfrm>
            <a:off x="6208776" y="4839865"/>
            <a:ext cx="2240280" cy="23021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102" name="Shape 100"/>
          <p:cNvSpPr/>
          <p:nvPr/>
        </p:nvSpPr>
        <p:spPr>
          <a:xfrm>
            <a:off x="9153575" y="4902023"/>
            <a:ext cx="209881" cy="105898"/>
          </a:xfrm>
          <a:prstGeom prst="rect">
            <a:avLst/>
          </a:prstGeom>
          <a:solidFill>
            <a:srgbClr val="C2352F"/>
          </a:solidFill>
          <a:ln/>
        </p:spPr>
      </p:sp>
      <p:sp>
        <p:nvSpPr>
          <p:cNvPr id="103" name="Text 101"/>
          <p:cNvSpPr txBox="1"/>
          <p:nvPr/>
        </p:nvSpPr>
        <p:spPr>
          <a:xfrm>
            <a:off x="10259568" y="4839865"/>
            <a:ext cx="1271016" cy="230214"/>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−72</a:t>
            </a:r>
            <a:endParaRPr lang="en-US" sz="1300" dirty="0"/>
          </a:p>
        </p:txBody>
      </p:sp>
      <p:sp>
        <p:nvSpPr>
          <p:cNvPr id="104" name="Text 102"/>
          <p:cNvSpPr txBox="1"/>
          <p:nvPr/>
        </p:nvSpPr>
        <p:spPr>
          <a:xfrm>
            <a:off x="6208776" y="5070079"/>
            <a:ext cx="2240280" cy="23021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05" name="Shape 103"/>
          <p:cNvSpPr/>
          <p:nvPr/>
        </p:nvSpPr>
        <p:spPr>
          <a:xfrm>
            <a:off x="9086767" y="5132237"/>
            <a:ext cx="276689" cy="105898"/>
          </a:xfrm>
          <a:prstGeom prst="rect">
            <a:avLst/>
          </a:prstGeom>
          <a:solidFill>
            <a:srgbClr val="C2352F"/>
          </a:solidFill>
          <a:ln/>
        </p:spPr>
      </p:sp>
      <p:sp>
        <p:nvSpPr>
          <p:cNvPr id="106" name="Text 104"/>
          <p:cNvSpPr txBox="1"/>
          <p:nvPr/>
        </p:nvSpPr>
        <p:spPr>
          <a:xfrm>
            <a:off x="10259568" y="5070079"/>
            <a:ext cx="1271016" cy="230214"/>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−94</a:t>
            </a:r>
            <a:endParaRPr lang="en-US" sz="1300" dirty="0"/>
          </a:p>
        </p:txBody>
      </p:sp>
      <p:sp>
        <p:nvSpPr>
          <p:cNvPr id="107" name="Text 105"/>
          <p:cNvSpPr txBox="1"/>
          <p:nvPr/>
        </p:nvSpPr>
        <p:spPr>
          <a:xfrm>
            <a:off x="6208776" y="5300293"/>
            <a:ext cx="2240280" cy="23021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108" name="Shape 106"/>
          <p:cNvSpPr/>
          <p:nvPr/>
        </p:nvSpPr>
        <p:spPr>
          <a:xfrm>
            <a:off x="8540496" y="5362450"/>
            <a:ext cx="822960" cy="105898"/>
          </a:xfrm>
          <a:prstGeom prst="rect">
            <a:avLst/>
          </a:prstGeom>
          <a:solidFill>
            <a:srgbClr val="C2352F"/>
          </a:solidFill>
          <a:ln/>
        </p:spPr>
      </p:sp>
      <p:sp>
        <p:nvSpPr>
          <p:cNvPr id="109" name="Text 107"/>
          <p:cNvSpPr txBox="1"/>
          <p:nvPr/>
        </p:nvSpPr>
        <p:spPr>
          <a:xfrm>
            <a:off x="10259568" y="5300293"/>
            <a:ext cx="1271016" cy="230214"/>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−281</a:t>
            </a:r>
            <a:endParaRPr lang="en-US" sz="1300" dirty="0"/>
          </a:p>
        </p:txBody>
      </p:sp>
      <p:sp>
        <p:nvSpPr>
          <p:cNvPr id="110" name="Shape 108"/>
          <p:cNvSpPr/>
          <p:nvPr/>
        </p:nvSpPr>
        <p:spPr>
          <a:xfrm>
            <a:off x="3807562" y="1847088"/>
            <a:ext cx="10973" cy="3913632"/>
          </a:xfrm>
          <a:prstGeom prst="rect">
            <a:avLst/>
          </a:prstGeom>
          <a:solidFill>
            <a:srgbClr val="9AA3AD"/>
          </a:solidFill>
          <a:ln/>
        </p:spPr>
      </p:sp>
      <p:sp>
        <p:nvSpPr>
          <p:cNvPr id="111" name="Shape 109"/>
          <p:cNvSpPr/>
          <p:nvPr/>
        </p:nvSpPr>
        <p:spPr>
          <a:xfrm>
            <a:off x="9357970" y="1847088"/>
            <a:ext cx="10973" cy="3913632"/>
          </a:xfrm>
          <a:prstGeom prst="rect">
            <a:avLst/>
          </a:prstGeom>
          <a:solidFill>
            <a:srgbClr val="9AA3AD"/>
          </a:solidFill>
          <a:ln/>
        </p:spPr>
      </p:sp>
      <p:sp>
        <p:nvSpPr>
          <p:cNvPr id="112" name="Shape 110"/>
          <p:cNvSpPr/>
          <p:nvPr/>
        </p:nvSpPr>
        <p:spPr>
          <a:xfrm>
            <a:off x="457200" y="5961888"/>
            <a:ext cx="11274552" cy="548640"/>
          </a:xfrm>
          <a:prstGeom prst="rect">
            <a:avLst/>
          </a:prstGeom>
          <a:solidFill>
            <a:srgbClr val="E6F6EE"/>
          </a:solidFill>
          <a:ln/>
        </p:spPr>
      </p:sp>
      <p:sp>
        <p:nvSpPr>
          <p:cNvPr id="113" name="Text 111"/>
          <p:cNvSpPr txBox="1"/>
          <p:nvPr/>
        </p:nvSpPr>
        <p:spPr>
          <a:xfrm>
            <a:off x="658368" y="5980176"/>
            <a:ext cx="10927080" cy="512064"/>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22 of 33 stores raised ROs per manager, led by TOYOTA HENDERSON at +182 to 1,022. 11 declined; MAZDA fell most at −281.</a:t>
            </a:r>
            <a:endParaRPr lang="en-US" sz="16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Headcount</a:t>
            </a:r>
            <a:endParaRPr lang="en-US" sz="2800" dirty="0"/>
          </a:p>
        </p:txBody>
      </p:sp>
      <p:sp>
        <p:nvSpPr>
          <p:cNvPr id="5" name="Shape 3"/>
          <p:cNvSpPr/>
          <p:nvPr/>
        </p:nvSpPr>
        <p:spPr>
          <a:xfrm>
            <a:off x="457200" y="1207008"/>
            <a:ext cx="7589520" cy="4617720"/>
          </a:xfrm>
          <a:prstGeom prst="rect">
            <a:avLst/>
          </a:prstGeom>
          <a:solidFill>
            <a:srgbClr val="FFFFFF"/>
          </a:solidFill>
          <a:ln/>
        </p:spPr>
      </p:sp>
      <p:sp>
        <p:nvSpPr>
          <p:cNvPr id="6" name="Text 4"/>
          <p:cNvSpPr txBox="1"/>
          <p:nvPr/>
        </p:nvSpPr>
        <p:spPr>
          <a:xfrm>
            <a:off x="685800" y="1344168"/>
            <a:ext cx="7132320"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Fixed employees, trailing 12 months</a:t>
            </a:r>
            <a:endParaRPr lang="en-US" sz="1500" dirty="0"/>
          </a:p>
        </p:txBody>
      </p:sp>
      <p:sp>
        <p:nvSpPr>
          <p:cNvPr id="7" name="Shape 5"/>
          <p:cNvSpPr/>
          <p:nvPr/>
        </p:nvSpPr>
        <p:spPr>
          <a:xfrm>
            <a:off x="685800" y="1691640"/>
            <a:ext cx="7132320" cy="10973"/>
          </a:xfrm>
          <a:prstGeom prst="rect">
            <a:avLst/>
          </a:prstGeom>
          <a:solidFill>
            <a:srgbClr val="1A1A1A"/>
          </a:solidFill>
          <a:ln/>
        </p:spPr>
      </p:sp>
      <p:graphicFrame>
        <p:nvGraphicFramePr>
          <p:cNvPr id="8" name="Chart 0" descr=""/>
          <p:cNvGraphicFramePr/>
          <p:nvPr/>
        </p:nvGraphicFramePr>
        <p:xfrm>
          <a:off x="621792" y="1810512"/>
          <a:ext cx="6858000" cy="3858768"/>
        </p:xfrm>
        <a:graphic xmlns:a="http://schemas.openxmlformats.org/drawingml/2006/main">
          <a:graphicData uri="http://schemas.openxmlformats.org/drawingml/2006/chart">
            <c:chart xmlns:c="http://schemas.openxmlformats.org/drawingml/2006/chart" r:id="rId1"/>
          </a:graphicData>
        </a:graphic>
      </p:graphicFrame>
      <p:sp>
        <p:nvSpPr>
          <p:cNvPr id="9" name="Shape 6"/>
          <p:cNvSpPr/>
          <p:nvPr/>
        </p:nvSpPr>
        <p:spPr>
          <a:xfrm>
            <a:off x="8229600" y="1207008"/>
            <a:ext cx="3502152" cy="4617720"/>
          </a:xfrm>
          <a:prstGeom prst="rect">
            <a:avLst/>
          </a:prstGeom>
          <a:solidFill>
            <a:srgbClr val="FFFFFF"/>
          </a:solidFill>
          <a:ln/>
        </p:spPr>
      </p:sp>
      <p:sp>
        <p:nvSpPr>
          <p:cNvPr id="10" name="Text 7"/>
          <p:cNvSpPr txBox="1"/>
          <p:nvPr/>
        </p:nvSpPr>
        <p:spPr>
          <a:xfrm>
            <a:off x="8458200" y="1344168"/>
            <a:ext cx="30449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What it says</a:t>
            </a:r>
            <a:endParaRPr lang="en-US" sz="1500" dirty="0"/>
          </a:p>
        </p:txBody>
      </p:sp>
      <p:sp>
        <p:nvSpPr>
          <p:cNvPr id="11" name="Shape 8"/>
          <p:cNvSpPr/>
          <p:nvPr/>
        </p:nvSpPr>
        <p:spPr>
          <a:xfrm>
            <a:off x="8458200" y="1691640"/>
            <a:ext cx="3044952" cy="10973"/>
          </a:xfrm>
          <a:prstGeom prst="rect">
            <a:avLst/>
          </a:prstGeom>
          <a:solidFill>
            <a:srgbClr val="1A1A1A"/>
          </a:solidFill>
          <a:ln/>
        </p:spPr>
      </p:sp>
      <p:sp>
        <p:nvSpPr>
          <p:cNvPr id="12" name="Shape 9"/>
          <p:cNvSpPr/>
          <p:nvPr/>
        </p:nvSpPr>
        <p:spPr>
          <a:xfrm>
            <a:off x="8458200" y="1938528"/>
            <a:ext cx="100584" cy="100584"/>
          </a:xfrm>
          <a:prstGeom prst="ellipse">
            <a:avLst/>
          </a:prstGeom>
          <a:solidFill>
            <a:srgbClr val="2587C5"/>
          </a:solidFill>
          <a:ln/>
        </p:spPr>
      </p:sp>
      <p:sp>
        <p:nvSpPr>
          <p:cNvPr id="13" name="Text 10"/>
          <p:cNvSpPr txBox="1"/>
          <p:nvPr/>
        </p:nvSpPr>
        <p:spPr>
          <a:xfrm>
            <a:off x="8705088" y="1810512"/>
            <a:ext cx="2834640" cy="1051560"/>
          </a:xfrm>
          <a:prstGeom prst="rect">
            <a:avLst/>
          </a:prstGeom>
          <a:noFill/>
          <a:ln/>
        </p:spPr>
        <p:txBody>
          <a:bodyPr wrap="square" lIns="0" tIns="0" rIns="0" bIns="0" rtlCol="0" anchor="t"/>
          <a:lstStyle/>
          <a:p>
            <a:pPr indent="0" marL="0">
              <a:buNone/>
            </a:pPr>
            <a:r>
              <a:rPr lang="en-US" sz="1500" b="1" dirty="0">
                <a:solidFill>
                  <a:srgbClr val="2587C5"/>
                </a:solidFill>
                <a:latin typeface="Inter" pitchFamily="34" charset="0"/>
                <a:ea typeface="Inter" pitchFamily="34" charset="-122"/>
                <a:cs typeface="Inter" pitchFamily="34" charset="-120"/>
              </a:rPr>
              <a:t>−76 fixed staff, Sep to Sep, to 1,540.</a:t>
            </a:r>
            <a:endParaRPr lang="en-US" sz="1500" dirty="0"/>
          </a:p>
        </p:txBody>
      </p:sp>
      <p:sp>
        <p:nvSpPr>
          <p:cNvPr id="14" name="Shape 11"/>
          <p:cNvSpPr/>
          <p:nvPr/>
        </p:nvSpPr>
        <p:spPr>
          <a:xfrm>
            <a:off x="8458200" y="3072384"/>
            <a:ext cx="100584" cy="100584"/>
          </a:xfrm>
          <a:prstGeom prst="ellipse">
            <a:avLst/>
          </a:prstGeom>
          <a:solidFill>
            <a:srgbClr val="1A1A1A"/>
          </a:solidFill>
          <a:ln/>
        </p:spPr>
      </p:sp>
      <p:sp>
        <p:nvSpPr>
          <p:cNvPr id="15" name="Text 12"/>
          <p:cNvSpPr txBox="1"/>
          <p:nvPr/>
        </p:nvSpPr>
        <p:spPr>
          <a:xfrm>
            <a:off x="8705088" y="2944368"/>
            <a:ext cx="2834640" cy="105156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Technicians −17, advisors −7, managers −3.</a:t>
            </a:r>
            <a:endParaRPr lang="en-US" sz="1500" dirty="0"/>
          </a:p>
        </p:txBody>
      </p:sp>
      <p:sp>
        <p:nvSpPr>
          <p:cNvPr id="16" name="Shape 13"/>
          <p:cNvSpPr/>
          <p:nvPr/>
        </p:nvSpPr>
        <p:spPr>
          <a:xfrm>
            <a:off x="8458200" y="4206240"/>
            <a:ext cx="100584" cy="100584"/>
          </a:xfrm>
          <a:prstGeom prst="ellipse">
            <a:avLst/>
          </a:prstGeom>
          <a:solidFill>
            <a:srgbClr val="1A1A1A"/>
          </a:solidFill>
          <a:ln/>
        </p:spPr>
      </p:sp>
      <p:sp>
        <p:nvSpPr>
          <p:cNvPr id="17" name="Text 14"/>
          <p:cNvSpPr txBox="1"/>
          <p:nvPr/>
        </p:nvSpPr>
        <p:spPr>
          <a:xfrm>
            <a:off x="8705088" y="4078224"/>
            <a:ext cx="2834640" cy="105156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Low of 1,530 in Jan 26; up 10 since.</a:t>
            </a:r>
            <a:endParaRPr lang="en-US" sz="1500" dirty="0"/>
          </a:p>
        </p:txBody>
      </p:sp>
      <p:sp>
        <p:nvSpPr>
          <p:cNvPr id="18" name="Shape 15"/>
          <p:cNvSpPr/>
          <p:nvPr/>
        </p:nvSpPr>
        <p:spPr>
          <a:xfrm>
            <a:off x="457200" y="5961888"/>
            <a:ext cx="11274552" cy="548640"/>
          </a:xfrm>
          <a:prstGeom prst="rect">
            <a:avLst/>
          </a:prstGeom>
          <a:solidFill>
            <a:srgbClr val="EDF4FA"/>
          </a:solidFill>
          <a:ln/>
        </p:spPr>
      </p:sp>
      <p:sp>
        <p:nvSpPr>
          <p:cNvPr id="19" name="Text 16"/>
          <p:cNvSpPr txBox="1"/>
          <p:nvPr/>
        </p:nvSpPr>
        <p:spPr>
          <a:xfrm>
            <a:off x="658368" y="5980176"/>
            <a:ext cx="10927080" cy="512064"/>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Fixed ops headcount fell 76 to 1,540 (−4.7%), Sep to Sep; CP &amp; W ROs fell 2.3% year to date.</a:t>
            </a:r>
            <a:endParaRPr lang="en-US" sz="16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Headcount</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01168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GROUP</a:t>
            </a:r>
            <a:endParaRPr lang="en-US" sz="1500" dirty="0"/>
          </a:p>
        </p:txBody>
      </p:sp>
      <p:sp>
        <p:nvSpPr>
          <p:cNvPr id="9" name="Text 7"/>
          <p:cNvSpPr txBox="1"/>
          <p:nvPr/>
        </p:nvSpPr>
        <p:spPr>
          <a:xfrm>
            <a:off x="2834640" y="1335024"/>
            <a:ext cx="420624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 2026 VS SEP 2025</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−76</a:t>
            </a:r>
            <a:endParaRPr lang="en-US" sz="2000" dirty="0"/>
          </a:p>
        </p:txBody>
      </p:sp>
      <p:sp>
        <p:nvSpPr>
          <p:cNvPr id="11" name="Text 9"/>
          <p:cNvSpPr txBox="1"/>
          <p:nvPr/>
        </p:nvSpPr>
        <p:spPr>
          <a:xfrm>
            <a:off x="658368" y="1847088"/>
            <a:ext cx="2240280" cy="23021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12" name="Shape 10"/>
          <p:cNvSpPr/>
          <p:nvPr/>
        </p:nvSpPr>
        <p:spPr>
          <a:xfrm>
            <a:off x="3813048" y="1909246"/>
            <a:ext cx="195943" cy="105898"/>
          </a:xfrm>
          <a:prstGeom prst="rect">
            <a:avLst/>
          </a:prstGeom>
          <a:solidFill>
            <a:srgbClr val="2587C5"/>
          </a:solidFill>
          <a:ln/>
        </p:spPr>
      </p:sp>
      <p:sp>
        <p:nvSpPr>
          <p:cNvPr id="13" name="Text 11"/>
          <p:cNvSpPr txBox="1"/>
          <p:nvPr/>
        </p:nvSpPr>
        <p:spPr>
          <a:xfrm>
            <a:off x="4709160" y="1847088"/>
            <a:ext cx="1271016" cy="23021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+5</a:t>
            </a:r>
            <a:endParaRPr lang="en-US" sz="1300" dirty="0"/>
          </a:p>
        </p:txBody>
      </p:sp>
      <p:sp>
        <p:nvSpPr>
          <p:cNvPr id="14" name="Text 12"/>
          <p:cNvSpPr txBox="1"/>
          <p:nvPr/>
        </p:nvSpPr>
        <p:spPr>
          <a:xfrm>
            <a:off x="658368" y="2077302"/>
            <a:ext cx="2240280" cy="23021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5" name="Shape 13"/>
          <p:cNvSpPr/>
          <p:nvPr/>
        </p:nvSpPr>
        <p:spPr>
          <a:xfrm>
            <a:off x="3813048" y="2139459"/>
            <a:ext cx="156754" cy="105898"/>
          </a:xfrm>
          <a:prstGeom prst="rect">
            <a:avLst/>
          </a:prstGeom>
          <a:solidFill>
            <a:srgbClr val="2587C5"/>
          </a:solidFill>
          <a:ln/>
        </p:spPr>
      </p:sp>
      <p:sp>
        <p:nvSpPr>
          <p:cNvPr id="16" name="Text 14"/>
          <p:cNvSpPr txBox="1"/>
          <p:nvPr/>
        </p:nvSpPr>
        <p:spPr>
          <a:xfrm>
            <a:off x="4709160" y="2077302"/>
            <a:ext cx="1271016" cy="23021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a:t>
            </a:r>
            <a:endParaRPr lang="en-US" sz="1300" dirty="0"/>
          </a:p>
        </p:txBody>
      </p:sp>
      <p:sp>
        <p:nvSpPr>
          <p:cNvPr id="17" name="Text 15"/>
          <p:cNvSpPr txBox="1"/>
          <p:nvPr/>
        </p:nvSpPr>
        <p:spPr>
          <a:xfrm>
            <a:off x="658368" y="2307515"/>
            <a:ext cx="2240280" cy="23021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8" name="Shape 16"/>
          <p:cNvSpPr/>
          <p:nvPr/>
        </p:nvSpPr>
        <p:spPr>
          <a:xfrm>
            <a:off x="3813048" y="2369673"/>
            <a:ext cx="156754" cy="105898"/>
          </a:xfrm>
          <a:prstGeom prst="rect">
            <a:avLst/>
          </a:prstGeom>
          <a:solidFill>
            <a:srgbClr val="2587C5"/>
          </a:solidFill>
          <a:ln/>
        </p:spPr>
      </p:sp>
      <p:sp>
        <p:nvSpPr>
          <p:cNvPr id="19" name="Text 17"/>
          <p:cNvSpPr txBox="1"/>
          <p:nvPr/>
        </p:nvSpPr>
        <p:spPr>
          <a:xfrm>
            <a:off x="4709160" y="2307515"/>
            <a:ext cx="1271016" cy="23021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a:t>
            </a:r>
            <a:endParaRPr lang="en-US" sz="1300" dirty="0"/>
          </a:p>
        </p:txBody>
      </p:sp>
      <p:sp>
        <p:nvSpPr>
          <p:cNvPr id="20" name="Text 18"/>
          <p:cNvSpPr txBox="1"/>
          <p:nvPr/>
        </p:nvSpPr>
        <p:spPr>
          <a:xfrm>
            <a:off x="658368" y="2537729"/>
            <a:ext cx="2240280" cy="23021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21" name="Shape 19"/>
          <p:cNvSpPr/>
          <p:nvPr/>
        </p:nvSpPr>
        <p:spPr>
          <a:xfrm>
            <a:off x="3813048" y="2599887"/>
            <a:ext cx="117566" cy="105898"/>
          </a:xfrm>
          <a:prstGeom prst="rect">
            <a:avLst/>
          </a:prstGeom>
          <a:solidFill>
            <a:srgbClr val="2587C5"/>
          </a:solidFill>
          <a:ln/>
        </p:spPr>
      </p:sp>
      <p:sp>
        <p:nvSpPr>
          <p:cNvPr id="22" name="Text 20"/>
          <p:cNvSpPr txBox="1"/>
          <p:nvPr/>
        </p:nvSpPr>
        <p:spPr>
          <a:xfrm>
            <a:off x="4709160" y="2537729"/>
            <a:ext cx="1271016" cy="23021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a:t>
            </a:r>
            <a:endParaRPr lang="en-US" sz="1300" dirty="0"/>
          </a:p>
        </p:txBody>
      </p:sp>
      <p:sp>
        <p:nvSpPr>
          <p:cNvPr id="23" name="Text 21"/>
          <p:cNvSpPr txBox="1"/>
          <p:nvPr/>
        </p:nvSpPr>
        <p:spPr>
          <a:xfrm>
            <a:off x="658368" y="2767943"/>
            <a:ext cx="2240280" cy="23021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24" name="Shape 22"/>
          <p:cNvSpPr/>
          <p:nvPr/>
        </p:nvSpPr>
        <p:spPr>
          <a:xfrm>
            <a:off x="3813048" y="2830100"/>
            <a:ext cx="117566" cy="105898"/>
          </a:xfrm>
          <a:prstGeom prst="rect">
            <a:avLst/>
          </a:prstGeom>
          <a:solidFill>
            <a:srgbClr val="2587C5"/>
          </a:solidFill>
          <a:ln/>
        </p:spPr>
      </p:sp>
      <p:sp>
        <p:nvSpPr>
          <p:cNvPr id="25" name="Text 23"/>
          <p:cNvSpPr txBox="1"/>
          <p:nvPr/>
        </p:nvSpPr>
        <p:spPr>
          <a:xfrm>
            <a:off x="4709160" y="2767943"/>
            <a:ext cx="1271016" cy="23021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a:t>
            </a:r>
            <a:endParaRPr lang="en-US" sz="1300" dirty="0"/>
          </a:p>
        </p:txBody>
      </p:sp>
      <p:sp>
        <p:nvSpPr>
          <p:cNvPr id="26" name="Text 24"/>
          <p:cNvSpPr txBox="1"/>
          <p:nvPr/>
        </p:nvSpPr>
        <p:spPr>
          <a:xfrm>
            <a:off x="658368" y="2998156"/>
            <a:ext cx="2240280" cy="23021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27" name="Shape 25"/>
          <p:cNvSpPr/>
          <p:nvPr/>
        </p:nvSpPr>
        <p:spPr>
          <a:xfrm>
            <a:off x="3813048" y="3060314"/>
            <a:ext cx="78377" cy="105898"/>
          </a:xfrm>
          <a:prstGeom prst="rect">
            <a:avLst/>
          </a:prstGeom>
          <a:solidFill>
            <a:srgbClr val="2587C5"/>
          </a:solidFill>
          <a:ln/>
        </p:spPr>
      </p:sp>
      <p:sp>
        <p:nvSpPr>
          <p:cNvPr id="28" name="Text 26"/>
          <p:cNvSpPr txBox="1"/>
          <p:nvPr/>
        </p:nvSpPr>
        <p:spPr>
          <a:xfrm>
            <a:off x="4709160" y="2998156"/>
            <a:ext cx="1271016" cy="23021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a:t>
            </a:r>
            <a:endParaRPr lang="en-US" sz="1300" dirty="0"/>
          </a:p>
        </p:txBody>
      </p:sp>
      <p:sp>
        <p:nvSpPr>
          <p:cNvPr id="29" name="Text 27"/>
          <p:cNvSpPr txBox="1"/>
          <p:nvPr/>
        </p:nvSpPr>
        <p:spPr>
          <a:xfrm>
            <a:off x="658368" y="3228370"/>
            <a:ext cx="2240280" cy="23021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30" name="Shape 28"/>
          <p:cNvSpPr/>
          <p:nvPr/>
        </p:nvSpPr>
        <p:spPr>
          <a:xfrm>
            <a:off x="3813048" y="3290528"/>
            <a:ext cx="39189" cy="105898"/>
          </a:xfrm>
          <a:prstGeom prst="rect">
            <a:avLst/>
          </a:prstGeom>
          <a:solidFill>
            <a:srgbClr val="2587C5"/>
          </a:solidFill>
          <a:ln/>
        </p:spPr>
      </p:sp>
      <p:sp>
        <p:nvSpPr>
          <p:cNvPr id="31" name="Text 29"/>
          <p:cNvSpPr txBox="1"/>
          <p:nvPr/>
        </p:nvSpPr>
        <p:spPr>
          <a:xfrm>
            <a:off x="4709160" y="3228370"/>
            <a:ext cx="1271016" cy="23021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32" name="Text 30"/>
          <p:cNvSpPr txBox="1"/>
          <p:nvPr/>
        </p:nvSpPr>
        <p:spPr>
          <a:xfrm>
            <a:off x="658368" y="3458584"/>
            <a:ext cx="2240280" cy="23021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33" name="Shape 31"/>
          <p:cNvSpPr/>
          <p:nvPr/>
        </p:nvSpPr>
        <p:spPr>
          <a:xfrm>
            <a:off x="3813048" y="3520741"/>
            <a:ext cx="39189" cy="105898"/>
          </a:xfrm>
          <a:prstGeom prst="rect">
            <a:avLst/>
          </a:prstGeom>
          <a:solidFill>
            <a:srgbClr val="2587C5"/>
          </a:solidFill>
          <a:ln/>
        </p:spPr>
      </p:sp>
      <p:sp>
        <p:nvSpPr>
          <p:cNvPr id="34" name="Text 32"/>
          <p:cNvSpPr txBox="1"/>
          <p:nvPr/>
        </p:nvSpPr>
        <p:spPr>
          <a:xfrm>
            <a:off x="4709160" y="3458584"/>
            <a:ext cx="1271016" cy="23021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35" name="Text 33"/>
          <p:cNvSpPr txBox="1"/>
          <p:nvPr/>
        </p:nvSpPr>
        <p:spPr>
          <a:xfrm>
            <a:off x="658368" y="3688797"/>
            <a:ext cx="2240280" cy="23021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36" name="Shape 34"/>
          <p:cNvSpPr/>
          <p:nvPr/>
        </p:nvSpPr>
        <p:spPr>
          <a:xfrm>
            <a:off x="3813048" y="3750955"/>
            <a:ext cx="39189" cy="105898"/>
          </a:xfrm>
          <a:prstGeom prst="rect">
            <a:avLst/>
          </a:prstGeom>
          <a:solidFill>
            <a:srgbClr val="2587C5"/>
          </a:solidFill>
          <a:ln/>
        </p:spPr>
      </p:sp>
      <p:sp>
        <p:nvSpPr>
          <p:cNvPr id="37" name="Text 35"/>
          <p:cNvSpPr txBox="1"/>
          <p:nvPr/>
        </p:nvSpPr>
        <p:spPr>
          <a:xfrm>
            <a:off x="4709160" y="3688797"/>
            <a:ext cx="1271016" cy="23021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38" name="Text 36"/>
          <p:cNvSpPr txBox="1"/>
          <p:nvPr/>
        </p:nvSpPr>
        <p:spPr>
          <a:xfrm>
            <a:off x="658368" y="3919011"/>
            <a:ext cx="2240280" cy="23021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39" name="Shape 37"/>
          <p:cNvSpPr/>
          <p:nvPr/>
        </p:nvSpPr>
        <p:spPr>
          <a:xfrm>
            <a:off x="3813048" y="3981169"/>
            <a:ext cx="39189" cy="105898"/>
          </a:xfrm>
          <a:prstGeom prst="rect">
            <a:avLst/>
          </a:prstGeom>
          <a:solidFill>
            <a:srgbClr val="2587C5"/>
          </a:solidFill>
          <a:ln/>
        </p:spPr>
      </p:sp>
      <p:sp>
        <p:nvSpPr>
          <p:cNvPr id="40" name="Text 38"/>
          <p:cNvSpPr txBox="1"/>
          <p:nvPr/>
        </p:nvSpPr>
        <p:spPr>
          <a:xfrm>
            <a:off x="4709160" y="3919011"/>
            <a:ext cx="1271016" cy="23021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41" name="Text 39"/>
          <p:cNvSpPr txBox="1"/>
          <p:nvPr/>
        </p:nvSpPr>
        <p:spPr>
          <a:xfrm>
            <a:off x="658368" y="4149224"/>
            <a:ext cx="2240280" cy="23021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42" name="Shape 40"/>
          <p:cNvSpPr/>
          <p:nvPr/>
        </p:nvSpPr>
        <p:spPr>
          <a:xfrm>
            <a:off x="3773859" y="4211382"/>
            <a:ext cx="39189" cy="105898"/>
          </a:xfrm>
          <a:prstGeom prst="rect">
            <a:avLst/>
          </a:prstGeom>
          <a:solidFill>
            <a:srgbClr val="2587C5"/>
          </a:solidFill>
          <a:ln/>
        </p:spPr>
      </p:sp>
      <p:sp>
        <p:nvSpPr>
          <p:cNvPr id="43" name="Text 41"/>
          <p:cNvSpPr txBox="1"/>
          <p:nvPr/>
        </p:nvSpPr>
        <p:spPr>
          <a:xfrm>
            <a:off x="4709160" y="4149224"/>
            <a:ext cx="1271016" cy="23021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44" name="Text 42"/>
          <p:cNvSpPr txBox="1"/>
          <p:nvPr/>
        </p:nvSpPr>
        <p:spPr>
          <a:xfrm>
            <a:off x="658368" y="4379438"/>
            <a:ext cx="2240280" cy="23021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45" name="Shape 43"/>
          <p:cNvSpPr/>
          <p:nvPr/>
        </p:nvSpPr>
        <p:spPr>
          <a:xfrm>
            <a:off x="3773859" y="4441596"/>
            <a:ext cx="39189" cy="105898"/>
          </a:xfrm>
          <a:prstGeom prst="rect">
            <a:avLst/>
          </a:prstGeom>
          <a:solidFill>
            <a:srgbClr val="2587C5"/>
          </a:solidFill>
          <a:ln/>
        </p:spPr>
      </p:sp>
      <p:sp>
        <p:nvSpPr>
          <p:cNvPr id="46" name="Text 44"/>
          <p:cNvSpPr txBox="1"/>
          <p:nvPr/>
        </p:nvSpPr>
        <p:spPr>
          <a:xfrm>
            <a:off x="4709160" y="4379438"/>
            <a:ext cx="1271016" cy="23021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47" name="Text 45"/>
          <p:cNvSpPr txBox="1"/>
          <p:nvPr/>
        </p:nvSpPr>
        <p:spPr>
          <a:xfrm>
            <a:off x="658368" y="4609652"/>
            <a:ext cx="2240280" cy="23021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48" name="Shape 46"/>
          <p:cNvSpPr/>
          <p:nvPr/>
        </p:nvSpPr>
        <p:spPr>
          <a:xfrm>
            <a:off x="3773859" y="4671809"/>
            <a:ext cx="39189" cy="105898"/>
          </a:xfrm>
          <a:prstGeom prst="rect">
            <a:avLst/>
          </a:prstGeom>
          <a:solidFill>
            <a:srgbClr val="2587C5"/>
          </a:solidFill>
          <a:ln/>
        </p:spPr>
      </p:sp>
      <p:sp>
        <p:nvSpPr>
          <p:cNvPr id="49" name="Text 47"/>
          <p:cNvSpPr txBox="1"/>
          <p:nvPr/>
        </p:nvSpPr>
        <p:spPr>
          <a:xfrm>
            <a:off x="4709160" y="4609652"/>
            <a:ext cx="1271016" cy="23021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50" name="Text 48"/>
          <p:cNvSpPr txBox="1"/>
          <p:nvPr/>
        </p:nvSpPr>
        <p:spPr>
          <a:xfrm>
            <a:off x="658368" y="4839865"/>
            <a:ext cx="2240280" cy="23021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51" name="Shape 49"/>
          <p:cNvSpPr/>
          <p:nvPr/>
        </p:nvSpPr>
        <p:spPr>
          <a:xfrm>
            <a:off x="3773859" y="4902023"/>
            <a:ext cx="39189" cy="105898"/>
          </a:xfrm>
          <a:prstGeom prst="rect">
            <a:avLst/>
          </a:prstGeom>
          <a:solidFill>
            <a:srgbClr val="2587C5"/>
          </a:solidFill>
          <a:ln/>
        </p:spPr>
      </p:sp>
      <p:sp>
        <p:nvSpPr>
          <p:cNvPr id="52" name="Text 50"/>
          <p:cNvSpPr txBox="1"/>
          <p:nvPr/>
        </p:nvSpPr>
        <p:spPr>
          <a:xfrm>
            <a:off x="4709160" y="4839865"/>
            <a:ext cx="1271016" cy="23021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53" name="Text 51"/>
          <p:cNvSpPr txBox="1"/>
          <p:nvPr/>
        </p:nvSpPr>
        <p:spPr>
          <a:xfrm>
            <a:off x="658368" y="5070079"/>
            <a:ext cx="2240280" cy="23021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54" name="Shape 52"/>
          <p:cNvSpPr/>
          <p:nvPr/>
        </p:nvSpPr>
        <p:spPr>
          <a:xfrm>
            <a:off x="3773859" y="5132237"/>
            <a:ext cx="39189" cy="105898"/>
          </a:xfrm>
          <a:prstGeom prst="rect">
            <a:avLst/>
          </a:prstGeom>
          <a:solidFill>
            <a:srgbClr val="2587C5"/>
          </a:solidFill>
          <a:ln/>
        </p:spPr>
      </p:sp>
      <p:sp>
        <p:nvSpPr>
          <p:cNvPr id="55" name="Text 53"/>
          <p:cNvSpPr txBox="1"/>
          <p:nvPr/>
        </p:nvSpPr>
        <p:spPr>
          <a:xfrm>
            <a:off x="4709160" y="5070079"/>
            <a:ext cx="1271016" cy="23021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56" name="Text 54"/>
          <p:cNvSpPr txBox="1"/>
          <p:nvPr/>
        </p:nvSpPr>
        <p:spPr>
          <a:xfrm>
            <a:off x="658368" y="5300293"/>
            <a:ext cx="2240280" cy="23021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57" name="Shape 55"/>
          <p:cNvSpPr/>
          <p:nvPr/>
        </p:nvSpPr>
        <p:spPr>
          <a:xfrm>
            <a:off x="3773859" y="5362450"/>
            <a:ext cx="39189" cy="105898"/>
          </a:xfrm>
          <a:prstGeom prst="rect">
            <a:avLst/>
          </a:prstGeom>
          <a:solidFill>
            <a:srgbClr val="2587C5"/>
          </a:solidFill>
          <a:ln/>
        </p:spPr>
      </p:sp>
      <p:sp>
        <p:nvSpPr>
          <p:cNvPr id="58" name="Text 56"/>
          <p:cNvSpPr txBox="1"/>
          <p:nvPr/>
        </p:nvSpPr>
        <p:spPr>
          <a:xfrm>
            <a:off x="4709160" y="5300293"/>
            <a:ext cx="1271016" cy="23021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59" name="Text 57"/>
          <p:cNvSpPr txBox="1"/>
          <p:nvPr/>
        </p:nvSpPr>
        <p:spPr>
          <a:xfrm>
            <a:off x="658368" y="5530506"/>
            <a:ext cx="2240280" cy="23021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60" name="Shape 58"/>
          <p:cNvSpPr/>
          <p:nvPr/>
        </p:nvSpPr>
        <p:spPr>
          <a:xfrm>
            <a:off x="3773859" y="5592664"/>
            <a:ext cx="39189" cy="105898"/>
          </a:xfrm>
          <a:prstGeom prst="rect">
            <a:avLst/>
          </a:prstGeom>
          <a:solidFill>
            <a:srgbClr val="2587C5"/>
          </a:solidFill>
          <a:ln/>
        </p:spPr>
      </p:sp>
      <p:sp>
        <p:nvSpPr>
          <p:cNvPr id="61" name="Text 59"/>
          <p:cNvSpPr txBox="1"/>
          <p:nvPr/>
        </p:nvSpPr>
        <p:spPr>
          <a:xfrm>
            <a:off x="4709160" y="5530506"/>
            <a:ext cx="1271016" cy="23021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62" name="Text 60"/>
          <p:cNvSpPr txBox="1"/>
          <p:nvPr/>
        </p:nvSpPr>
        <p:spPr>
          <a:xfrm>
            <a:off x="6208776" y="1847088"/>
            <a:ext cx="2240280" cy="23021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63" name="Shape 61"/>
          <p:cNvSpPr/>
          <p:nvPr/>
        </p:nvSpPr>
        <p:spPr>
          <a:xfrm>
            <a:off x="9324267" y="1909246"/>
            <a:ext cx="39189" cy="105898"/>
          </a:xfrm>
          <a:prstGeom prst="rect">
            <a:avLst/>
          </a:prstGeom>
          <a:solidFill>
            <a:srgbClr val="2587C5"/>
          </a:solidFill>
          <a:ln/>
        </p:spPr>
      </p:sp>
      <p:sp>
        <p:nvSpPr>
          <p:cNvPr id="64" name="Text 62"/>
          <p:cNvSpPr txBox="1"/>
          <p:nvPr/>
        </p:nvSpPr>
        <p:spPr>
          <a:xfrm>
            <a:off x="10259568" y="1847088"/>
            <a:ext cx="1271016" cy="23021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65" name="Text 63"/>
          <p:cNvSpPr txBox="1"/>
          <p:nvPr/>
        </p:nvSpPr>
        <p:spPr>
          <a:xfrm>
            <a:off x="6208776" y="2077302"/>
            <a:ext cx="2240280" cy="23021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66" name="Shape 64"/>
          <p:cNvSpPr/>
          <p:nvPr/>
        </p:nvSpPr>
        <p:spPr>
          <a:xfrm>
            <a:off x="9324267" y="2139459"/>
            <a:ext cx="39189" cy="105898"/>
          </a:xfrm>
          <a:prstGeom prst="rect">
            <a:avLst/>
          </a:prstGeom>
          <a:solidFill>
            <a:srgbClr val="2587C5"/>
          </a:solidFill>
          <a:ln/>
        </p:spPr>
      </p:sp>
      <p:sp>
        <p:nvSpPr>
          <p:cNvPr id="67" name="Text 65"/>
          <p:cNvSpPr txBox="1"/>
          <p:nvPr/>
        </p:nvSpPr>
        <p:spPr>
          <a:xfrm>
            <a:off x="10259568" y="2077302"/>
            <a:ext cx="1271016" cy="23021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68" name="Text 66"/>
          <p:cNvSpPr txBox="1"/>
          <p:nvPr/>
        </p:nvSpPr>
        <p:spPr>
          <a:xfrm>
            <a:off x="6208776" y="2307515"/>
            <a:ext cx="2240280" cy="23021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69" name="Shape 67"/>
          <p:cNvSpPr/>
          <p:nvPr/>
        </p:nvSpPr>
        <p:spPr>
          <a:xfrm>
            <a:off x="9285079" y="2369673"/>
            <a:ext cx="78377" cy="105898"/>
          </a:xfrm>
          <a:prstGeom prst="rect">
            <a:avLst/>
          </a:prstGeom>
          <a:solidFill>
            <a:srgbClr val="2587C5"/>
          </a:solidFill>
          <a:ln/>
        </p:spPr>
      </p:sp>
      <p:sp>
        <p:nvSpPr>
          <p:cNvPr id="70" name="Text 68"/>
          <p:cNvSpPr txBox="1"/>
          <p:nvPr/>
        </p:nvSpPr>
        <p:spPr>
          <a:xfrm>
            <a:off x="10259568" y="2307515"/>
            <a:ext cx="1271016" cy="23021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a:t>
            </a:r>
            <a:endParaRPr lang="en-US" sz="1300" dirty="0"/>
          </a:p>
        </p:txBody>
      </p:sp>
      <p:sp>
        <p:nvSpPr>
          <p:cNvPr id="71" name="Text 69"/>
          <p:cNvSpPr txBox="1"/>
          <p:nvPr/>
        </p:nvSpPr>
        <p:spPr>
          <a:xfrm>
            <a:off x="6208776" y="2537729"/>
            <a:ext cx="2240280" cy="23021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72" name="Shape 70"/>
          <p:cNvSpPr/>
          <p:nvPr/>
        </p:nvSpPr>
        <p:spPr>
          <a:xfrm>
            <a:off x="9285079" y="2599887"/>
            <a:ext cx="78377" cy="105898"/>
          </a:xfrm>
          <a:prstGeom prst="rect">
            <a:avLst/>
          </a:prstGeom>
          <a:solidFill>
            <a:srgbClr val="2587C5"/>
          </a:solidFill>
          <a:ln/>
        </p:spPr>
      </p:sp>
      <p:sp>
        <p:nvSpPr>
          <p:cNvPr id="73" name="Text 71"/>
          <p:cNvSpPr txBox="1"/>
          <p:nvPr/>
        </p:nvSpPr>
        <p:spPr>
          <a:xfrm>
            <a:off x="10259568" y="2537729"/>
            <a:ext cx="1271016" cy="23021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a:t>
            </a:r>
            <a:endParaRPr lang="en-US" sz="1300" dirty="0"/>
          </a:p>
        </p:txBody>
      </p:sp>
      <p:sp>
        <p:nvSpPr>
          <p:cNvPr id="74" name="Text 72"/>
          <p:cNvSpPr txBox="1"/>
          <p:nvPr/>
        </p:nvSpPr>
        <p:spPr>
          <a:xfrm>
            <a:off x="6208776" y="2767943"/>
            <a:ext cx="2240280" cy="23021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75" name="Shape 73"/>
          <p:cNvSpPr/>
          <p:nvPr/>
        </p:nvSpPr>
        <p:spPr>
          <a:xfrm>
            <a:off x="9245890" y="2830100"/>
            <a:ext cx="117566" cy="105898"/>
          </a:xfrm>
          <a:prstGeom prst="rect">
            <a:avLst/>
          </a:prstGeom>
          <a:solidFill>
            <a:srgbClr val="2587C5"/>
          </a:solidFill>
          <a:ln/>
        </p:spPr>
      </p:sp>
      <p:sp>
        <p:nvSpPr>
          <p:cNvPr id="76" name="Text 74"/>
          <p:cNvSpPr txBox="1"/>
          <p:nvPr/>
        </p:nvSpPr>
        <p:spPr>
          <a:xfrm>
            <a:off x="10259568" y="2767943"/>
            <a:ext cx="1271016" cy="23021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a:t>
            </a:r>
            <a:endParaRPr lang="en-US" sz="1300" dirty="0"/>
          </a:p>
        </p:txBody>
      </p:sp>
      <p:sp>
        <p:nvSpPr>
          <p:cNvPr id="77" name="Text 75"/>
          <p:cNvSpPr txBox="1"/>
          <p:nvPr/>
        </p:nvSpPr>
        <p:spPr>
          <a:xfrm>
            <a:off x="6208776" y="2998156"/>
            <a:ext cx="2240280" cy="23021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78" name="Shape 76"/>
          <p:cNvSpPr/>
          <p:nvPr/>
        </p:nvSpPr>
        <p:spPr>
          <a:xfrm>
            <a:off x="9245890" y="3060314"/>
            <a:ext cx="117566" cy="105898"/>
          </a:xfrm>
          <a:prstGeom prst="rect">
            <a:avLst/>
          </a:prstGeom>
          <a:solidFill>
            <a:srgbClr val="2587C5"/>
          </a:solidFill>
          <a:ln/>
        </p:spPr>
      </p:sp>
      <p:sp>
        <p:nvSpPr>
          <p:cNvPr id="79" name="Text 77"/>
          <p:cNvSpPr txBox="1"/>
          <p:nvPr/>
        </p:nvSpPr>
        <p:spPr>
          <a:xfrm>
            <a:off x="10259568" y="2998156"/>
            <a:ext cx="1271016" cy="23021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a:t>
            </a:r>
            <a:endParaRPr lang="en-US" sz="1300" dirty="0"/>
          </a:p>
        </p:txBody>
      </p:sp>
      <p:sp>
        <p:nvSpPr>
          <p:cNvPr id="80" name="Text 78"/>
          <p:cNvSpPr txBox="1"/>
          <p:nvPr/>
        </p:nvSpPr>
        <p:spPr>
          <a:xfrm>
            <a:off x="6208776" y="3228370"/>
            <a:ext cx="2240280" cy="23021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81" name="Shape 79"/>
          <p:cNvSpPr/>
          <p:nvPr/>
        </p:nvSpPr>
        <p:spPr>
          <a:xfrm>
            <a:off x="9245890" y="3290528"/>
            <a:ext cx="117566" cy="105898"/>
          </a:xfrm>
          <a:prstGeom prst="rect">
            <a:avLst/>
          </a:prstGeom>
          <a:solidFill>
            <a:srgbClr val="2587C5"/>
          </a:solidFill>
          <a:ln/>
        </p:spPr>
      </p:sp>
      <p:sp>
        <p:nvSpPr>
          <p:cNvPr id="82" name="Text 80"/>
          <p:cNvSpPr txBox="1"/>
          <p:nvPr/>
        </p:nvSpPr>
        <p:spPr>
          <a:xfrm>
            <a:off x="10259568" y="3228370"/>
            <a:ext cx="1271016" cy="23021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a:t>
            </a:r>
            <a:endParaRPr lang="en-US" sz="1300" dirty="0"/>
          </a:p>
        </p:txBody>
      </p:sp>
      <p:sp>
        <p:nvSpPr>
          <p:cNvPr id="83" name="Text 81"/>
          <p:cNvSpPr txBox="1"/>
          <p:nvPr/>
        </p:nvSpPr>
        <p:spPr>
          <a:xfrm>
            <a:off x="6208776" y="3458584"/>
            <a:ext cx="2240280" cy="23021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84" name="Shape 82"/>
          <p:cNvSpPr/>
          <p:nvPr/>
        </p:nvSpPr>
        <p:spPr>
          <a:xfrm>
            <a:off x="9206702" y="3520741"/>
            <a:ext cx="156754" cy="105898"/>
          </a:xfrm>
          <a:prstGeom prst="rect">
            <a:avLst/>
          </a:prstGeom>
          <a:solidFill>
            <a:srgbClr val="2587C5"/>
          </a:solidFill>
          <a:ln/>
        </p:spPr>
      </p:sp>
      <p:sp>
        <p:nvSpPr>
          <p:cNvPr id="85" name="Text 83"/>
          <p:cNvSpPr txBox="1"/>
          <p:nvPr/>
        </p:nvSpPr>
        <p:spPr>
          <a:xfrm>
            <a:off x="10259568" y="3458584"/>
            <a:ext cx="1271016" cy="23021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a:t>
            </a:r>
            <a:endParaRPr lang="en-US" sz="1300" dirty="0"/>
          </a:p>
        </p:txBody>
      </p:sp>
      <p:sp>
        <p:nvSpPr>
          <p:cNvPr id="86" name="Text 84"/>
          <p:cNvSpPr txBox="1"/>
          <p:nvPr/>
        </p:nvSpPr>
        <p:spPr>
          <a:xfrm>
            <a:off x="6208776" y="3688797"/>
            <a:ext cx="2240280" cy="23021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87" name="Shape 85"/>
          <p:cNvSpPr/>
          <p:nvPr/>
        </p:nvSpPr>
        <p:spPr>
          <a:xfrm>
            <a:off x="9206702" y="3750955"/>
            <a:ext cx="156754" cy="105898"/>
          </a:xfrm>
          <a:prstGeom prst="rect">
            <a:avLst/>
          </a:prstGeom>
          <a:solidFill>
            <a:srgbClr val="2587C5"/>
          </a:solidFill>
          <a:ln/>
        </p:spPr>
      </p:sp>
      <p:sp>
        <p:nvSpPr>
          <p:cNvPr id="88" name="Text 86"/>
          <p:cNvSpPr txBox="1"/>
          <p:nvPr/>
        </p:nvSpPr>
        <p:spPr>
          <a:xfrm>
            <a:off x="10259568" y="3688797"/>
            <a:ext cx="1271016" cy="23021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a:t>
            </a:r>
            <a:endParaRPr lang="en-US" sz="1300" dirty="0"/>
          </a:p>
        </p:txBody>
      </p:sp>
      <p:sp>
        <p:nvSpPr>
          <p:cNvPr id="89" name="Text 87"/>
          <p:cNvSpPr txBox="1"/>
          <p:nvPr/>
        </p:nvSpPr>
        <p:spPr>
          <a:xfrm>
            <a:off x="6208776" y="3919011"/>
            <a:ext cx="2240280" cy="23021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90" name="Shape 88"/>
          <p:cNvSpPr/>
          <p:nvPr/>
        </p:nvSpPr>
        <p:spPr>
          <a:xfrm>
            <a:off x="9128325" y="3981169"/>
            <a:ext cx="235131" cy="105898"/>
          </a:xfrm>
          <a:prstGeom prst="rect">
            <a:avLst/>
          </a:prstGeom>
          <a:solidFill>
            <a:srgbClr val="2587C5"/>
          </a:solidFill>
          <a:ln/>
        </p:spPr>
      </p:sp>
      <p:sp>
        <p:nvSpPr>
          <p:cNvPr id="91" name="Text 89"/>
          <p:cNvSpPr txBox="1"/>
          <p:nvPr/>
        </p:nvSpPr>
        <p:spPr>
          <a:xfrm>
            <a:off x="10259568" y="3919011"/>
            <a:ext cx="1271016" cy="23021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−6</a:t>
            </a:r>
            <a:endParaRPr lang="en-US" sz="1300" dirty="0"/>
          </a:p>
        </p:txBody>
      </p:sp>
      <p:sp>
        <p:nvSpPr>
          <p:cNvPr id="92" name="Text 90"/>
          <p:cNvSpPr txBox="1"/>
          <p:nvPr/>
        </p:nvSpPr>
        <p:spPr>
          <a:xfrm>
            <a:off x="6208776" y="4149224"/>
            <a:ext cx="2240280" cy="23021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93" name="Shape 91"/>
          <p:cNvSpPr/>
          <p:nvPr/>
        </p:nvSpPr>
        <p:spPr>
          <a:xfrm>
            <a:off x="9089136" y="4211382"/>
            <a:ext cx="274320" cy="105898"/>
          </a:xfrm>
          <a:prstGeom prst="rect">
            <a:avLst/>
          </a:prstGeom>
          <a:solidFill>
            <a:srgbClr val="2587C5"/>
          </a:solidFill>
          <a:ln/>
        </p:spPr>
      </p:sp>
      <p:sp>
        <p:nvSpPr>
          <p:cNvPr id="94" name="Text 92"/>
          <p:cNvSpPr txBox="1"/>
          <p:nvPr/>
        </p:nvSpPr>
        <p:spPr>
          <a:xfrm>
            <a:off x="10259568" y="4149224"/>
            <a:ext cx="1271016" cy="23021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a:t>
            </a:r>
            <a:endParaRPr lang="en-US" sz="1300" dirty="0"/>
          </a:p>
        </p:txBody>
      </p:sp>
      <p:sp>
        <p:nvSpPr>
          <p:cNvPr id="95" name="Text 93"/>
          <p:cNvSpPr txBox="1"/>
          <p:nvPr/>
        </p:nvSpPr>
        <p:spPr>
          <a:xfrm>
            <a:off x="6208776" y="4379438"/>
            <a:ext cx="2240280" cy="23021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96" name="Shape 94"/>
          <p:cNvSpPr/>
          <p:nvPr/>
        </p:nvSpPr>
        <p:spPr>
          <a:xfrm>
            <a:off x="9049947" y="4441596"/>
            <a:ext cx="313509" cy="105898"/>
          </a:xfrm>
          <a:prstGeom prst="rect">
            <a:avLst/>
          </a:prstGeom>
          <a:solidFill>
            <a:srgbClr val="2587C5"/>
          </a:solidFill>
          <a:ln/>
        </p:spPr>
      </p:sp>
      <p:sp>
        <p:nvSpPr>
          <p:cNvPr id="97" name="Text 95"/>
          <p:cNvSpPr txBox="1"/>
          <p:nvPr/>
        </p:nvSpPr>
        <p:spPr>
          <a:xfrm>
            <a:off x="10259568" y="4379438"/>
            <a:ext cx="1271016" cy="23021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a:t>
            </a:r>
            <a:endParaRPr lang="en-US" sz="1300" dirty="0"/>
          </a:p>
        </p:txBody>
      </p:sp>
      <p:sp>
        <p:nvSpPr>
          <p:cNvPr id="98" name="Text 96"/>
          <p:cNvSpPr txBox="1"/>
          <p:nvPr/>
        </p:nvSpPr>
        <p:spPr>
          <a:xfrm>
            <a:off x="6208776" y="4609652"/>
            <a:ext cx="2240280" cy="23021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99" name="Shape 97"/>
          <p:cNvSpPr/>
          <p:nvPr/>
        </p:nvSpPr>
        <p:spPr>
          <a:xfrm>
            <a:off x="9049947" y="4671809"/>
            <a:ext cx="313509" cy="105898"/>
          </a:xfrm>
          <a:prstGeom prst="rect">
            <a:avLst/>
          </a:prstGeom>
          <a:solidFill>
            <a:srgbClr val="2587C5"/>
          </a:solidFill>
          <a:ln/>
        </p:spPr>
      </p:sp>
      <p:sp>
        <p:nvSpPr>
          <p:cNvPr id="100" name="Text 98"/>
          <p:cNvSpPr txBox="1"/>
          <p:nvPr/>
        </p:nvSpPr>
        <p:spPr>
          <a:xfrm>
            <a:off x="10259568" y="4609652"/>
            <a:ext cx="1271016" cy="23021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a:t>
            </a:r>
            <a:endParaRPr lang="en-US" sz="1300" dirty="0"/>
          </a:p>
        </p:txBody>
      </p:sp>
      <p:sp>
        <p:nvSpPr>
          <p:cNvPr id="101" name="Text 99"/>
          <p:cNvSpPr txBox="1"/>
          <p:nvPr/>
        </p:nvSpPr>
        <p:spPr>
          <a:xfrm>
            <a:off x="6208776" y="4839865"/>
            <a:ext cx="2240280" cy="23021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102" name="Shape 100"/>
          <p:cNvSpPr/>
          <p:nvPr/>
        </p:nvSpPr>
        <p:spPr>
          <a:xfrm>
            <a:off x="9010759" y="4902023"/>
            <a:ext cx="352697" cy="105898"/>
          </a:xfrm>
          <a:prstGeom prst="rect">
            <a:avLst/>
          </a:prstGeom>
          <a:solidFill>
            <a:srgbClr val="2587C5"/>
          </a:solidFill>
          <a:ln/>
        </p:spPr>
      </p:sp>
      <p:sp>
        <p:nvSpPr>
          <p:cNvPr id="103" name="Text 101"/>
          <p:cNvSpPr txBox="1"/>
          <p:nvPr/>
        </p:nvSpPr>
        <p:spPr>
          <a:xfrm>
            <a:off x="10259568" y="4839865"/>
            <a:ext cx="1271016" cy="23021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−9</a:t>
            </a:r>
            <a:endParaRPr lang="en-US" sz="1300" dirty="0"/>
          </a:p>
        </p:txBody>
      </p:sp>
      <p:sp>
        <p:nvSpPr>
          <p:cNvPr id="104" name="Text 102"/>
          <p:cNvSpPr txBox="1"/>
          <p:nvPr/>
        </p:nvSpPr>
        <p:spPr>
          <a:xfrm>
            <a:off x="6208776" y="5070079"/>
            <a:ext cx="2240280" cy="23021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105" name="Shape 103"/>
          <p:cNvSpPr/>
          <p:nvPr/>
        </p:nvSpPr>
        <p:spPr>
          <a:xfrm>
            <a:off x="8893193" y="5132237"/>
            <a:ext cx="470263" cy="105898"/>
          </a:xfrm>
          <a:prstGeom prst="rect">
            <a:avLst/>
          </a:prstGeom>
          <a:solidFill>
            <a:srgbClr val="2587C5"/>
          </a:solidFill>
          <a:ln/>
        </p:spPr>
      </p:sp>
      <p:sp>
        <p:nvSpPr>
          <p:cNvPr id="106" name="Text 104"/>
          <p:cNvSpPr txBox="1"/>
          <p:nvPr/>
        </p:nvSpPr>
        <p:spPr>
          <a:xfrm>
            <a:off x="10259568" y="5070079"/>
            <a:ext cx="1271016" cy="23021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−12</a:t>
            </a:r>
            <a:endParaRPr lang="en-US" sz="1300" dirty="0"/>
          </a:p>
        </p:txBody>
      </p:sp>
      <p:sp>
        <p:nvSpPr>
          <p:cNvPr id="107" name="Text 105"/>
          <p:cNvSpPr txBox="1"/>
          <p:nvPr/>
        </p:nvSpPr>
        <p:spPr>
          <a:xfrm>
            <a:off x="6208776" y="5300293"/>
            <a:ext cx="2240280" cy="23021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08" name="Shape 106"/>
          <p:cNvSpPr/>
          <p:nvPr/>
        </p:nvSpPr>
        <p:spPr>
          <a:xfrm>
            <a:off x="8540496" y="5362450"/>
            <a:ext cx="822960" cy="105898"/>
          </a:xfrm>
          <a:prstGeom prst="rect">
            <a:avLst/>
          </a:prstGeom>
          <a:solidFill>
            <a:srgbClr val="2587C5"/>
          </a:solidFill>
          <a:ln/>
        </p:spPr>
      </p:sp>
      <p:sp>
        <p:nvSpPr>
          <p:cNvPr id="109" name="Text 107"/>
          <p:cNvSpPr txBox="1"/>
          <p:nvPr/>
        </p:nvSpPr>
        <p:spPr>
          <a:xfrm>
            <a:off x="10259568" y="5300293"/>
            <a:ext cx="1271016" cy="23021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a:t>
            </a:r>
            <a:endParaRPr lang="en-US" sz="1300" dirty="0"/>
          </a:p>
        </p:txBody>
      </p:sp>
      <p:sp>
        <p:nvSpPr>
          <p:cNvPr id="110" name="Shape 108"/>
          <p:cNvSpPr/>
          <p:nvPr/>
        </p:nvSpPr>
        <p:spPr>
          <a:xfrm>
            <a:off x="3807562" y="1847088"/>
            <a:ext cx="10973" cy="3913632"/>
          </a:xfrm>
          <a:prstGeom prst="rect">
            <a:avLst/>
          </a:prstGeom>
          <a:solidFill>
            <a:srgbClr val="9AA3AD"/>
          </a:solidFill>
          <a:ln/>
        </p:spPr>
      </p:sp>
      <p:sp>
        <p:nvSpPr>
          <p:cNvPr id="111" name="Shape 109"/>
          <p:cNvSpPr/>
          <p:nvPr/>
        </p:nvSpPr>
        <p:spPr>
          <a:xfrm>
            <a:off x="9357970" y="1847088"/>
            <a:ext cx="10973" cy="3913632"/>
          </a:xfrm>
          <a:prstGeom prst="rect">
            <a:avLst/>
          </a:prstGeom>
          <a:solidFill>
            <a:srgbClr val="9AA3AD"/>
          </a:solidFill>
          <a:ln/>
        </p:spPr>
      </p:sp>
      <p:sp>
        <p:nvSpPr>
          <p:cNvPr id="112" name="Shape 110"/>
          <p:cNvSpPr/>
          <p:nvPr/>
        </p:nvSpPr>
        <p:spPr>
          <a:xfrm>
            <a:off x="457200" y="5961888"/>
            <a:ext cx="11274552" cy="548640"/>
          </a:xfrm>
          <a:prstGeom prst="rect">
            <a:avLst/>
          </a:prstGeom>
          <a:solidFill>
            <a:srgbClr val="EDF4FA"/>
          </a:solidFill>
          <a:ln/>
        </p:spPr>
      </p:sp>
      <p:sp>
        <p:nvSpPr>
          <p:cNvPr id="113" name="Text 111"/>
          <p:cNvSpPr txBox="1"/>
          <p:nvPr/>
        </p:nvSpPr>
        <p:spPr>
          <a:xfrm>
            <a:off x="658368" y="5980176"/>
            <a:ext cx="10927080" cy="512064"/>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10 stores added fixed staff, led by MAZDA (+5); 23 reduced, led by CHEVY LV (−21).</a:t>
            </a:r>
            <a:endParaRPr lang="en-US" sz="16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Inter"/>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Inter"/>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2026-10-20T16:29:57Z</dcterms:created>
  <dcterms:modified xsi:type="dcterms:W3CDTF">2026-10-20T16:29:57Z</dcterms:modified>
</cp:coreProperties>
</file>