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12996</c:v>
                </c:pt>
                <c:pt idx="1">
                  <c:v>12334</c:v>
                </c:pt>
                <c:pt idx="2">
                  <c:v>13714</c:v>
                </c:pt>
                <c:pt idx="3">
                  <c:v>14108</c:v>
                </c:pt>
                <c:pt idx="4">
                  <c:v>13092</c:v>
                </c:pt>
                <c:pt idx="5">
                  <c:v>13919</c:v>
                </c:pt>
                <c:pt idx="6">
                  <c:v>14673</c:v>
                </c:pt>
                <c:pt idx="7">
                  <c:v>13972</c:v>
                </c:pt>
                <c:pt idx="8">
                  <c:v>13721</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12996</c:v>
                </c:pt>
                <c:pt idx="1">
                  <c:v>12334</c:v>
                </c:pt>
                <c:pt idx="2">
                  <c:v>13714</c:v>
                </c:pt>
                <c:pt idx="3">
                  <c:v>14108</c:v>
                </c:pt>
                <c:pt idx="4">
                  <c:v>13092</c:v>
                </c:pt>
                <c:pt idx="5">
                  <c:v>13919</c:v>
                </c:pt>
                <c:pt idx="6">
                  <c:v>14673</c:v>
                </c:pt>
                <c:pt idx="7">
                  <c:v>13972</c:v>
                </c:pt>
                <c:pt idx="8">
                  <c:v>13721</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12592</c:v>
                </c:pt>
                <c:pt idx="1">
                  <c:v>11705</c:v>
                </c:pt>
                <c:pt idx="2">
                  <c:v>12397</c:v>
                </c:pt>
                <c:pt idx="3">
                  <c:v>12913</c:v>
                </c:pt>
                <c:pt idx="4">
                  <c:v>12494</c:v>
                </c:pt>
                <c:pt idx="5">
                  <c:v>12584</c:v>
                </c:pt>
                <c:pt idx="6">
                  <c:v>12740</c:v>
                </c:pt>
                <c:pt idx="7">
                  <c:v>12488</c:v>
                </c:pt>
                <c:pt idx="8">
                  <c:v>11778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12592</c:v>
                </c:pt>
                <c:pt idx="1">
                  <c:v>11705</c:v>
                </c:pt>
                <c:pt idx="2">
                  <c:v>12397</c:v>
                </c:pt>
                <c:pt idx="3">
                  <c:v>12913</c:v>
                </c:pt>
                <c:pt idx="4">
                  <c:v>12494</c:v>
                </c:pt>
                <c:pt idx="5">
                  <c:v>12584</c:v>
                </c:pt>
                <c:pt idx="6">
                  <c:v>12740</c:v>
                </c:pt>
                <c:pt idx="7">
                  <c:v>12488</c:v>
                </c:pt>
                <c:pt idx="8">
                  <c:v>11778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
                </c:pt>
                <c:pt idx="5">
                  <c:v>171.412</c:v>
                </c:pt>
                <c:pt idx="6">
                  <c:v/>
                </c:pt>
                <c:pt idx="7">
                  <c:v>176.49180327868854</c:v>
                </c:pt>
                <c:pt idx="8">
                  <c:v>172.46058091286307</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165.0483870967742</c:v>
                </c:pt>
                <c:pt idx="1">
                  <c:v>148.57142857142858</c:v>
                </c:pt>
                <c:pt idx="2">
                  <c:v>165.3531746031746</c:v>
                </c:pt>
                <c:pt idx="3">
                  <c:v>163.812</c:v>
                </c:pt>
                <c:pt idx="4">
                  <c:v>157.87007874015748</c:v>
                </c:pt>
                <c:pt idx="5">
                  <c:v/>
                </c:pt>
                <c:pt idx="6">
                  <c:v>174.588</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181.76470588235293</c:v>
                </c:pt>
                <c:pt idx="1">
                  <c:v>167.49789029535864</c:v>
                </c:pt>
                <c:pt idx="2">
                  <c:v>178.79166666666666</c:v>
                </c:pt>
                <c:pt idx="3">
                  <c:v>176.42561983471074</c:v>
                </c:pt>
                <c:pt idx="4">
                  <c:v>169.248</c:v>
                </c:pt>
                <c:pt idx="5">
                  <c:v/>
                </c:pt>
                <c:pt idx="6">
                  <c:v>177.77732793522267</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
                </c:pt>
                <c:pt idx="5">
                  <c:v>171.10526315789474</c:v>
                </c:pt>
                <c:pt idx="6">
                  <c:v/>
                </c:pt>
                <c:pt idx="7">
                  <c:v>171.31075697211156</c:v>
                </c:pt>
                <c:pt idx="8">
                  <c:v>160.78225806451613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23.790849673202615</c:v>
                </c:pt>
                <c:pt idx="2">
                  <c:v/>
                </c:pt>
                <c:pt idx="3">
                  <c:v/>
                </c:pt>
                <c:pt idx="4">
                  <c:v/>
                </c:pt>
                <c:pt idx="5">
                  <c:v/>
                </c:pt>
                <c:pt idx="6">
                  <c:v/>
                </c:pt>
                <c:pt idx="7">
                  <c:v/>
                </c:pt>
                <c:pt idx="8">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24.324142156862745</c:v>
                </c:pt>
                <c:pt idx="2">
                  <c:v/>
                </c:pt>
                <c:pt idx="3">
                  <c:v/>
                </c:pt>
                <c:pt idx="4">
                  <c:v/>
                </c:pt>
                <c:pt idx="5">
                  <c:v/>
                </c:pt>
                <c:pt idx="6">
                  <c:v/>
                </c:pt>
                <c:pt idx="7">
                  <c:v/>
                </c:pt>
                <c:pt idx="8">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337.037037037037</c:v>
                </c:pt>
                <c:pt idx="2">
                  <c:v/>
                </c:pt>
                <c:pt idx="3">
                  <c:v/>
                </c:pt>
                <c:pt idx="4">
                  <c:v/>
                </c:pt>
                <c:pt idx="5">
                  <c:v/>
                </c:pt>
                <c:pt idx="6">
                  <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342.2155172413793</c:v>
                </c:pt>
                <c:pt idx="2">
                  <c:v/>
                </c:pt>
                <c:pt idx="3">
                  <c:v/>
                </c:pt>
                <c:pt idx="4">
                  <c:v/>
                </c:pt>
                <c:pt idx="5">
                  <c:v/>
                </c:pt>
                <c:pt idx="6">
                  <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Fixed employees, trailing 12 months</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circle"/>
            <c:size val="8"/>
            <c:spPr>
              <a:solidFill>
                <a:srgbClr val="2587C5"/>
              </a:solidFill>
              <a:ln w="12700" cap="flat">
                <a:solidFill>
                  <a:srgbClr val="2587C5"/>
                </a:solidFill>
                <a:prstDash val="solid"/>
                <a:round/>
              </a:ln>
              <a:effectLst/>
            </c:spPr>
          </c:marker>
          <c:cat>
            <c:multiLvlStrRef>
              <c:f>Sheet1!$A$2:$A$13</c:f>
              <c:multiLvlStrCache>
                <c:ptCount val="12"/>
                <c:lvl>
                  <c:pt idx="0">
                    <c:v>Oct '25</c:v>
                  </c:pt>
                  <c:pt idx="1">
                    <c:v>Nov '25</c:v>
                  </c:pt>
                  <c:pt idx="2">
                    <c:v>Dec '25</c:v>
                  </c:pt>
                  <c:pt idx="3">
                    <c:v>Jan '26</c:v>
                  </c:pt>
                  <c:pt idx="4">
                    <c:v>Feb '26</c:v>
                  </c:pt>
                  <c:pt idx="5">
                    <c:v>Mar '26</c:v>
                  </c:pt>
                  <c:pt idx="6">
                    <c:v>Apr '26</c:v>
                  </c:pt>
                  <c:pt idx="7">
                    <c:v>May '26</c:v>
                  </c:pt>
                  <c:pt idx="8">
                    <c:v>Jun '26</c:v>
                  </c:pt>
                  <c:pt idx="9">
                    <c:v>Jul '26</c:v>
                  </c:pt>
                  <c:pt idx="10">
                    <c:v>Aug '26</c:v>
                  </c:pt>
                  <c:pt idx="11">
                    <c:v>Sep '26</c:v>
                  </c:pt>
                </c:lvl>
              </c:multiLvlStrCache>
            </c:multiLvlStrRef>
          </c:cat>
          <c:val>
            <c:numRef>
              <c:f>Sheet1!$B$2:$B$13</c:f>
              <c:numCache>
                <c:formatCode>General</c:formatCode>
                <c:ptCount val="12"/>
                <c:pt idx="0">
                  <c:v>1604</c:v>
                </c:pt>
                <c:pt idx="1">
                  <c:v>1582</c:v>
                </c:pt>
                <c:pt idx="2">
                  <c:v>1563</c:v>
                </c:pt>
                <c:pt idx="3">
                  <c:v>1530</c:v>
                </c:pt>
                <c:pt idx="4">
                  <c:v>1530</c:v>
                </c:pt>
                <c:pt idx="5">
                  <c:v>1540</c:v>
                </c:pt>
                <c:pt idx="6">
                  <c:v>1545</c:v>
                </c:pt>
                <c:pt idx="7">
                  <c:v>1537</c:v>
                </c:pt>
                <c:pt idx="8">
                  <c:v>1546</c:v>
                </c:pt>
                <c:pt idx="9">
                  <c:v>1548</c:v>
                </c:pt>
                <c:pt idx="10">
                  <c:v>1549</c:v>
                </c:pt>
                <c:pt idx="11">
                  <c:v>1540</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20"/>
          <c:min val="15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Fixed employees include managers; technicians = service, express, foreman and team-leader titles.
Jan 25: 1625 fixed, 703 techs, 238 advisors, 117 managers
Feb 25: 1632 fixed, 705 techs, 237 advisors, 116 managers
Mar 25: 1629 fixed, 702 techs, 240 advisors, 116 managers
Apr 25: 1615 fixed, 695 techs, 242 advisors, 111 managers
May 25: 1623 fixed, 699 techs, 250 advisors, 111 managers
Jun 25: 1616 fixed, 695 techs, 247 advisors, 109 managers
Jul 25: 1629 fixed, 705 techs, 247 advisors, 110 managers
Aug 25: 1627 fixed, 701 techs, 251 advisors, 110 managers
Sep 25: 1616 fixed, 701 techs, 248 advisors, 107 managers
Oct 25: 1604 fixed, 688 techs, 249 advisors, 109 managers
Nov 25: 1582 fixed, 685 techs, 247 advisors, 107 managers
Dec 25: 1563 fixed, 674 techs, 249 advisors, 107 managers
Jan 26: 1530 fixed, 657 techs, 248 advisors, 106 managers
Feb 26: 1530 fixed, 670 techs, 245 advisors, 108 managers
Mar 26: 1540 fixed, 669 techs, 252 advisors, 107 managers
Apr 26: 1545 fixed, 687 techs, 250 advisors, 106 managers
May 26: 1537 fixed, 680 techs, 254 advisors, 105 managers
Jun 26: 1546 fixed, 684 techs, 250 advisors, 105 managers
Jul 26: 1548 fixed, 682 techs, 250 advisors, 106 managers
Aug 26: 1549 fixed, 684 techs, 244 advisors, 104 managers
Sep 26: 1540 fixed, 684 techs, 241 advisors, 104 managers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chart" Target="/ppt/charts/chart7.xml"/><Relationship Id="rId4" Type="http://schemas.openxmlformats.org/officeDocument/2006/relationships/chart" Target="/ppt/charts/chart8.xml"/><Relationship Id="rId5" Type="http://schemas.openxmlformats.org/officeDocument/2006/relationships/chart" Target="/ppt/charts/chart9.xml"/><Relationship Id="rId6" Type="http://schemas.openxmlformats.org/officeDocument/2006/relationships/chart" Target="/ppt/charts/chart10.xml"/><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chart" Target="/ppt/charts/chart13.xml"/><Relationship Id="rId4" Type="http://schemas.openxmlformats.org/officeDocument/2006/relationships/chart" Target="/ppt/charts/chart14.xml"/><Relationship Id="rId5" Type="http://schemas.openxmlformats.org/officeDocument/2006/relationships/chart" Target="/ppt/charts/chart15.xml"/><Relationship Id="rId6" Type="http://schemas.openxmlformats.org/officeDocument/2006/relationships/chart" Target="/ppt/charts/chart16.xml"/><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chart" Target="/ppt/charts/chart18.xml"/><Relationship Id="rId3" Type="http://schemas.openxmlformats.org/officeDocument/2006/relationships/chart" Target="/ppt/charts/chart19.xml"/><Relationship Id="rId4" Type="http://schemas.openxmlformats.org/officeDocument/2006/relationships/chart" Target="/ppt/charts/chart20.xml"/><Relationship Id="rId5" Type="http://schemas.openxmlformats.org/officeDocument/2006/relationships/chart" Target="/ppt/charts/chart21.xml"/><Relationship Id="rId6" Type="http://schemas.openxmlformats.org/officeDocument/2006/relationships/chart" Target="/ppt/charts/chart22.xml"/><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338328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LUXURY · 9 STORES</a:t>
            </a:r>
            <a:endParaRPr lang="en-US" sz="1400" dirty="0"/>
          </a:p>
        </p:txBody>
      </p:sp>
      <p:sp>
        <p:nvSpPr>
          <p:cNvPr id="7" name="Text 5"/>
          <p:cNvSpPr txBox="1"/>
          <p:nvPr/>
        </p:nvSpPr>
        <p:spPr>
          <a:xfrm>
            <a:off x="658368" y="175564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 name="Shape 6"/>
          <p:cNvSpPr/>
          <p:nvPr/>
        </p:nvSpPr>
        <p:spPr>
          <a:xfrm>
            <a:off x="2267712" y="1835834"/>
            <a:ext cx="1030941" cy="160372"/>
          </a:xfrm>
          <a:prstGeom prst="rect">
            <a:avLst/>
          </a:prstGeom>
          <a:solidFill>
            <a:srgbClr val="12A566"/>
          </a:solidFill>
          <a:ln/>
        </p:spPr>
      </p:sp>
      <p:sp>
        <p:nvSpPr>
          <p:cNvPr id="9" name="Text 7"/>
          <p:cNvSpPr txBox="1"/>
          <p:nvPr/>
        </p:nvSpPr>
        <p:spPr>
          <a:xfrm>
            <a:off x="3355848" y="175564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194</a:t>
            </a:r>
            <a:endParaRPr lang="en-US" sz="1300" dirty="0"/>
          </a:p>
        </p:txBody>
      </p:sp>
      <p:sp>
        <p:nvSpPr>
          <p:cNvPr id="10" name="Text 8"/>
          <p:cNvSpPr txBox="1"/>
          <p:nvPr/>
        </p:nvSpPr>
        <p:spPr>
          <a:xfrm>
            <a:off x="658368" y="2076391"/>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 name="Shape 9"/>
          <p:cNvSpPr/>
          <p:nvPr/>
        </p:nvSpPr>
        <p:spPr>
          <a:xfrm>
            <a:off x="2267712" y="2156577"/>
            <a:ext cx="1017185" cy="160372"/>
          </a:xfrm>
          <a:prstGeom prst="rect">
            <a:avLst/>
          </a:prstGeom>
          <a:solidFill>
            <a:srgbClr val="12A566"/>
          </a:solidFill>
          <a:ln/>
        </p:spPr>
      </p:sp>
      <p:sp>
        <p:nvSpPr>
          <p:cNvPr id="12" name="Text 10"/>
          <p:cNvSpPr txBox="1"/>
          <p:nvPr/>
        </p:nvSpPr>
        <p:spPr>
          <a:xfrm>
            <a:off x="3355848" y="2076391"/>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192</a:t>
            </a:r>
            <a:endParaRPr lang="en-US" sz="1300" dirty="0"/>
          </a:p>
        </p:txBody>
      </p:sp>
      <p:sp>
        <p:nvSpPr>
          <p:cNvPr id="13" name="Text 11"/>
          <p:cNvSpPr txBox="1"/>
          <p:nvPr/>
        </p:nvSpPr>
        <p:spPr>
          <a:xfrm>
            <a:off x="658368" y="239713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 name="Shape 12"/>
          <p:cNvSpPr/>
          <p:nvPr/>
        </p:nvSpPr>
        <p:spPr>
          <a:xfrm>
            <a:off x="2267712" y="2477321"/>
            <a:ext cx="853681" cy="160372"/>
          </a:xfrm>
          <a:prstGeom prst="rect">
            <a:avLst/>
          </a:prstGeom>
          <a:solidFill>
            <a:srgbClr val="12A566"/>
          </a:solidFill>
          <a:ln/>
        </p:spPr>
      </p:sp>
      <p:sp>
        <p:nvSpPr>
          <p:cNvPr id="15" name="Text 13"/>
          <p:cNvSpPr txBox="1"/>
          <p:nvPr/>
        </p:nvSpPr>
        <p:spPr>
          <a:xfrm>
            <a:off x="3355848" y="2397135"/>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161</a:t>
            </a:r>
            <a:endParaRPr lang="en-US" sz="1300" dirty="0"/>
          </a:p>
        </p:txBody>
      </p:sp>
      <p:sp>
        <p:nvSpPr>
          <p:cNvPr id="16" name="Text 14"/>
          <p:cNvSpPr txBox="1"/>
          <p:nvPr/>
        </p:nvSpPr>
        <p:spPr>
          <a:xfrm>
            <a:off x="658368" y="271787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7" name="Shape 15"/>
          <p:cNvSpPr/>
          <p:nvPr/>
        </p:nvSpPr>
        <p:spPr>
          <a:xfrm>
            <a:off x="2267712" y="2798064"/>
            <a:ext cx="706409" cy="160372"/>
          </a:xfrm>
          <a:prstGeom prst="rect">
            <a:avLst/>
          </a:prstGeom>
          <a:solidFill>
            <a:srgbClr val="12A566"/>
          </a:solidFill>
          <a:ln/>
        </p:spPr>
      </p:sp>
      <p:sp>
        <p:nvSpPr>
          <p:cNvPr id="18" name="Text 16"/>
          <p:cNvSpPr txBox="1"/>
          <p:nvPr/>
        </p:nvSpPr>
        <p:spPr>
          <a:xfrm>
            <a:off x="3355848" y="271787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133</a:t>
            </a:r>
            <a:endParaRPr lang="en-US" sz="1300" dirty="0"/>
          </a:p>
        </p:txBody>
      </p:sp>
      <p:sp>
        <p:nvSpPr>
          <p:cNvPr id="19" name="Text 17"/>
          <p:cNvSpPr txBox="1"/>
          <p:nvPr/>
        </p:nvSpPr>
        <p:spPr>
          <a:xfrm>
            <a:off x="658368" y="303862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 name="Shape 18"/>
          <p:cNvSpPr/>
          <p:nvPr/>
        </p:nvSpPr>
        <p:spPr>
          <a:xfrm>
            <a:off x="2267712" y="3118807"/>
            <a:ext cx="660413" cy="160372"/>
          </a:xfrm>
          <a:prstGeom prst="rect">
            <a:avLst/>
          </a:prstGeom>
          <a:solidFill>
            <a:srgbClr val="12A566"/>
          </a:solidFill>
          <a:ln/>
        </p:spPr>
      </p:sp>
      <p:sp>
        <p:nvSpPr>
          <p:cNvPr id="21" name="Text 19"/>
          <p:cNvSpPr txBox="1"/>
          <p:nvPr/>
        </p:nvSpPr>
        <p:spPr>
          <a:xfrm>
            <a:off x="3355848" y="3038622"/>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124</a:t>
            </a:r>
            <a:endParaRPr lang="en-US" sz="1300" dirty="0"/>
          </a:p>
        </p:txBody>
      </p:sp>
      <p:sp>
        <p:nvSpPr>
          <p:cNvPr id="22" name="Shape 20"/>
          <p:cNvSpPr/>
          <p:nvPr/>
        </p:nvSpPr>
        <p:spPr>
          <a:xfrm>
            <a:off x="603504" y="3359365"/>
            <a:ext cx="3566160" cy="311599"/>
          </a:xfrm>
          <a:prstGeom prst="rect">
            <a:avLst/>
          </a:prstGeom>
          <a:solidFill>
            <a:srgbClr val="EDF4FA"/>
          </a:solidFill>
          <a:ln/>
        </p:spPr>
      </p:sp>
      <p:sp>
        <p:nvSpPr>
          <p:cNvPr id="23" name="Text 21"/>
          <p:cNvSpPr txBox="1"/>
          <p:nvPr/>
        </p:nvSpPr>
        <p:spPr>
          <a:xfrm>
            <a:off x="658368" y="3359365"/>
            <a:ext cx="155448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LUXURY</a:t>
            </a:r>
            <a:endParaRPr lang="en-US" sz="1300" dirty="0"/>
          </a:p>
        </p:txBody>
      </p:sp>
      <p:sp>
        <p:nvSpPr>
          <p:cNvPr id="24" name="Shape 22"/>
          <p:cNvSpPr/>
          <p:nvPr/>
        </p:nvSpPr>
        <p:spPr>
          <a:xfrm>
            <a:off x="2267712" y="3439551"/>
            <a:ext cx="650307" cy="160372"/>
          </a:xfrm>
          <a:prstGeom prst="rect">
            <a:avLst/>
          </a:prstGeom>
          <a:solidFill>
            <a:srgbClr val="0B2C4A"/>
          </a:solidFill>
          <a:ln/>
        </p:spPr>
      </p:sp>
      <p:sp>
        <p:nvSpPr>
          <p:cNvPr id="25" name="Text 23"/>
          <p:cNvSpPr txBox="1"/>
          <p:nvPr/>
        </p:nvSpPr>
        <p:spPr>
          <a:xfrm>
            <a:off x="3355848" y="3359365"/>
            <a:ext cx="777240"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a:t>
            </a:r>
            <a:endParaRPr lang="en-US" sz="1300" dirty="0"/>
          </a:p>
        </p:txBody>
      </p:sp>
      <p:sp>
        <p:nvSpPr>
          <p:cNvPr id="26" name="Text 24"/>
          <p:cNvSpPr txBox="1"/>
          <p:nvPr/>
        </p:nvSpPr>
        <p:spPr>
          <a:xfrm>
            <a:off x="658368" y="368010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7" name="Shape 25"/>
          <p:cNvSpPr/>
          <p:nvPr/>
        </p:nvSpPr>
        <p:spPr>
          <a:xfrm>
            <a:off x="2267712" y="3760294"/>
            <a:ext cx="590102" cy="160372"/>
          </a:xfrm>
          <a:prstGeom prst="rect">
            <a:avLst/>
          </a:prstGeom>
          <a:solidFill>
            <a:srgbClr val="C2352F"/>
          </a:solidFill>
          <a:ln/>
        </p:spPr>
      </p:sp>
      <p:sp>
        <p:nvSpPr>
          <p:cNvPr id="28" name="Text 26"/>
          <p:cNvSpPr txBox="1"/>
          <p:nvPr/>
        </p:nvSpPr>
        <p:spPr>
          <a:xfrm>
            <a:off x="3355848" y="368010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111</a:t>
            </a:r>
            <a:endParaRPr lang="en-US" sz="1300" dirty="0"/>
          </a:p>
        </p:txBody>
      </p:sp>
      <p:sp>
        <p:nvSpPr>
          <p:cNvPr id="29" name="Text 27"/>
          <p:cNvSpPr txBox="1"/>
          <p:nvPr/>
        </p:nvSpPr>
        <p:spPr>
          <a:xfrm>
            <a:off x="658368" y="400085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30" name="Shape 28"/>
          <p:cNvSpPr/>
          <p:nvPr/>
        </p:nvSpPr>
        <p:spPr>
          <a:xfrm>
            <a:off x="2267712" y="4081038"/>
            <a:ext cx="473828" cy="160372"/>
          </a:xfrm>
          <a:prstGeom prst="rect">
            <a:avLst/>
          </a:prstGeom>
          <a:solidFill>
            <a:srgbClr val="C2352F"/>
          </a:solidFill>
          <a:ln/>
        </p:spPr>
      </p:sp>
      <p:sp>
        <p:nvSpPr>
          <p:cNvPr id="31" name="Text 29"/>
          <p:cNvSpPr txBox="1"/>
          <p:nvPr/>
        </p:nvSpPr>
        <p:spPr>
          <a:xfrm>
            <a:off x="3355848" y="4000852"/>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89</a:t>
            </a:r>
            <a:endParaRPr lang="en-US" sz="1300" dirty="0"/>
          </a:p>
        </p:txBody>
      </p:sp>
      <p:sp>
        <p:nvSpPr>
          <p:cNvPr id="32" name="Text 30"/>
          <p:cNvSpPr txBox="1"/>
          <p:nvPr/>
        </p:nvSpPr>
        <p:spPr>
          <a:xfrm>
            <a:off x="658368" y="432159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33" name="Shape 31"/>
          <p:cNvSpPr/>
          <p:nvPr/>
        </p:nvSpPr>
        <p:spPr>
          <a:xfrm>
            <a:off x="2267712" y="4401781"/>
            <a:ext cx="453135" cy="160372"/>
          </a:xfrm>
          <a:prstGeom prst="rect">
            <a:avLst/>
          </a:prstGeom>
          <a:solidFill>
            <a:srgbClr val="C2352F"/>
          </a:solidFill>
          <a:ln/>
        </p:spPr>
      </p:sp>
      <p:sp>
        <p:nvSpPr>
          <p:cNvPr id="34" name="Text 32"/>
          <p:cNvSpPr txBox="1"/>
          <p:nvPr/>
        </p:nvSpPr>
        <p:spPr>
          <a:xfrm>
            <a:off x="3355848" y="4321595"/>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85</a:t>
            </a:r>
            <a:endParaRPr lang="en-US" sz="1300" dirty="0"/>
          </a:p>
        </p:txBody>
      </p:sp>
      <p:sp>
        <p:nvSpPr>
          <p:cNvPr id="35" name="Text 33"/>
          <p:cNvSpPr txBox="1"/>
          <p:nvPr/>
        </p:nvSpPr>
        <p:spPr>
          <a:xfrm>
            <a:off x="658368" y="464233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6" name="Shape 34"/>
          <p:cNvSpPr/>
          <p:nvPr/>
        </p:nvSpPr>
        <p:spPr>
          <a:xfrm>
            <a:off x="2267712" y="4722524"/>
            <a:ext cx="376138" cy="160372"/>
          </a:xfrm>
          <a:prstGeom prst="rect">
            <a:avLst/>
          </a:prstGeom>
          <a:solidFill>
            <a:srgbClr val="C2352F"/>
          </a:solidFill>
          <a:ln/>
        </p:spPr>
      </p:sp>
      <p:sp>
        <p:nvSpPr>
          <p:cNvPr id="37" name="Text 35"/>
          <p:cNvSpPr txBox="1"/>
          <p:nvPr/>
        </p:nvSpPr>
        <p:spPr>
          <a:xfrm>
            <a:off x="3355848" y="464233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a:t>
            </a:r>
            <a:endParaRPr lang="en-US" sz="1300" dirty="0"/>
          </a:p>
        </p:txBody>
      </p:sp>
      <p:sp>
        <p:nvSpPr>
          <p:cNvPr id="38" name="Text 36"/>
          <p:cNvSpPr txBox="1"/>
          <p:nvPr/>
        </p:nvSpPr>
        <p:spPr>
          <a:xfrm>
            <a:off x="658368" y="5091098"/>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LUXURY AVG  </a:t>
            </a:r>
            <a:pPr indent="0" marL="0">
              <a:buNone/>
            </a:pPr>
            <a:r>
              <a:rPr lang="en-US" sz="1800" b="1" dirty="0">
                <a:solidFill>
                  <a:srgbClr val="0B2C4A"/>
                </a:solidFill>
                <a:latin typeface="Inter" pitchFamily="34" charset="0"/>
                <a:ea typeface="Inter" pitchFamily="34" charset="-122"/>
                <a:cs typeface="Inter" pitchFamily="34" charset="-120"/>
              </a:rPr>
              <a:t>123  </a:t>
            </a:r>
            <a:pPr indent="0" marL="0">
              <a:buNone/>
            </a:pPr>
            <a:r>
              <a:rPr lang="en-US" sz="1400" b="1" dirty="0">
                <a:solidFill>
                  <a:srgbClr val="A82B26"/>
                </a:solidFill>
                <a:latin typeface="Inter" pitchFamily="34" charset="0"/>
                <a:ea typeface="Inter" pitchFamily="34" charset="-122"/>
                <a:cs typeface="Inter" pitchFamily="34" charset="-120"/>
              </a:rPr>
              <a:t>(−9)</a:t>
            </a:r>
            <a:endParaRPr lang="en-US" sz="1400" dirty="0"/>
          </a:p>
        </p:txBody>
      </p:sp>
      <p:sp>
        <p:nvSpPr>
          <p:cNvPr id="39" name="Text 37"/>
          <p:cNvSpPr txBox="1"/>
          <p:nvPr/>
        </p:nvSpPr>
        <p:spPr>
          <a:xfrm>
            <a:off x="658368" y="5475146"/>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NON-LUXURY AVG  </a:t>
            </a:r>
            <a:pPr indent="0" marL="0">
              <a:buNone/>
            </a:pPr>
            <a:r>
              <a:rPr lang="en-US" sz="1800" b="1" dirty="0">
                <a:solidFill>
                  <a:srgbClr val="0B2C4A"/>
                </a:solidFill>
                <a:latin typeface="Inter" pitchFamily="34" charset="0"/>
                <a:ea typeface="Inter" pitchFamily="34" charset="-122"/>
                <a:cs typeface="Inter" pitchFamily="34" charset="-120"/>
              </a:rPr>
              <a:t>176  </a:t>
            </a:r>
            <a:pPr indent="0" marL="0">
              <a:buNone/>
            </a:pPr>
            <a:r>
              <a:rPr lang="en-US" sz="1400" b="1" dirty="0">
                <a:solidFill>
                  <a:srgbClr val="A82B26"/>
                </a:solidFill>
                <a:latin typeface="Inter" pitchFamily="34" charset="0"/>
                <a:ea typeface="Inter" pitchFamily="34" charset="-122"/>
                <a:cs typeface="Inter" pitchFamily="34" charset="-120"/>
              </a:rPr>
              <a:t>(−5)</a:t>
            </a:r>
            <a:endParaRPr lang="en-US" sz="1400" dirty="0"/>
          </a:p>
        </p:txBody>
      </p:sp>
      <p:sp>
        <p:nvSpPr>
          <p:cNvPr id="40" name="Text 38"/>
          <p:cNvSpPr txBox="1"/>
          <p:nvPr/>
        </p:nvSpPr>
        <p:spPr>
          <a:xfrm>
            <a:off x="4315968" y="1316736"/>
            <a:ext cx="713232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NON-LUXURY · 24 STORES</a:t>
            </a:r>
            <a:endParaRPr lang="en-US" sz="1400" dirty="0"/>
          </a:p>
        </p:txBody>
      </p:sp>
      <p:sp>
        <p:nvSpPr>
          <p:cNvPr id="41" name="Text 39"/>
          <p:cNvSpPr txBox="1"/>
          <p:nvPr/>
        </p:nvSpPr>
        <p:spPr>
          <a:xfrm>
            <a:off x="4315968"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2" name="Shape 40"/>
          <p:cNvSpPr/>
          <p:nvPr/>
        </p:nvSpPr>
        <p:spPr>
          <a:xfrm>
            <a:off x="6291072" y="1835834"/>
            <a:ext cx="627529" cy="160372"/>
          </a:xfrm>
          <a:prstGeom prst="rect">
            <a:avLst/>
          </a:prstGeom>
          <a:solidFill>
            <a:srgbClr val="12A566"/>
          </a:solidFill>
          <a:ln/>
        </p:spPr>
      </p:sp>
      <p:sp>
        <p:nvSpPr>
          <p:cNvPr id="43" name="Text 41"/>
          <p:cNvSpPr txBox="1"/>
          <p:nvPr/>
        </p:nvSpPr>
        <p:spPr>
          <a:xfrm>
            <a:off x="6967728" y="175564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253</a:t>
            </a:r>
            <a:endParaRPr lang="en-US" sz="1300" dirty="0"/>
          </a:p>
        </p:txBody>
      </p:sp>
      <p:sp>
        <p:nvSpPr>
          <p:cNvPr id="44" name="Text 42"/>
          <p:cNvSpPr txBox="1"/>
          <p:nvPr/>
        </p:nvSpPr>
        <p:spPr>
          <a:xfrm>
            <a:off x="4315968"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5" name="Shape 43"/>
          <p:cNvSpPr/>
          <p:nvPr/>
        </p:nvSpPr>
        <p:spPr>
          <a:xfrm>
            <a:off x="6291072" y="2156577"/>
            <a:ext cx="604201" cy="160372"/>
          </a:xfrm>
          <a:prstGeom prst="rect">
            <a:avLst/>
          </a:prstGeom>
          <a:solidFill>
            <a:srgbClr val="12A566"/>
          </a:solidFill>
          <a:ln/>
        </p:spPr>
      </p:sp>
      <p:sp>
        <p:nvSpPr>
          <p:cNvPr id="46" name="Text 44"/>
          <p:cNvSpPr txBox="1"/>
          <p:nvPr/>
        </p:nvSpPr>
        <p:spPr>
          <a:xfrm>
            <a:off x="6967728" y="2076391"/>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244</a:t>
            </a:r>
            <a:endParaRPr lang="en-US" sz="1300" dirty="0"/>
          </a:p>
        </p:txBody>
      </p:sp>
      <p:sp>
        <p:nvSpPr>
          <p:cNvPr id="47" name="Text 45"/>
          <p:cNvSpPr txBox="1"/>
          <p:nvPr/>
        </p:nvSpPr>
        <p:spPr>
          <a:xfrm>
            <a:off x="4315968"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48" name="Shape 46"/>
          <p:cNvSpPr/>
          <p:nvPr/>
        </p:nvSpPr>
        <p:spPr>
          <a:xfrm>
            <a:off x="6291072" y="2477321"/>
            <a:ext cx="573402" cy="160372"/>
          </a:xfrm>
          <a:prstGeom prst="rect">
            <a:avLst/>
          </a:prstGeom>
          <a:solidFill>
            <a:srgbClr val="12A566"/>
          </a:solidFill>
          <a:ln/>
        </p:spPr>
      </p:sp>
      <p:sp>
        <p:nvSpPr>
          <p:cNvPr id="49" name="Text 47"/>
          <p:cNvSpPr txBox="1"/>
          <p:nvPr/>
        </p:nvSpPr>
        <p:spPr>
          <a:xfrm>
            <a:off x="6967728" y="239713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231</a:t>
            </a:r>
            <a:endParaRPr lang="en-US" sz="1300" dirty="0"/>
          </a:p>
        </p:txBody>
      </p:sp>
      <p:sp>
        <p:nvSpPr>
          <p:cNvPr id="50" name="Text 48"/>
          <p:cNvSpPr txBox="1"/>
          <p:nvPr/>
        </p:nvSpPr>
        <p:spPr>
          <a:xfrm>
            <a:off x="4315968"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6291072" y="2798064"/>
            <a:ext cx="560822" cy="160372"/>
          </a:xfrm>
          <a:prstGeom prst="rect">
            <a:avLst/>
          </a:prstGeom>
          <a:solidFill>
            <a:srgbClr val="12A566"/>
          </a:solidFill>
          <a:ln/>
        </p:spPr>
      </p:sp>
      <p:sp>
        <p:nvSpPr>
          <p:cNvPr id="52" name="Text 50"/>
          <p:cNvSpPr txBox="1"/>
          <p:nvPr/>
        </p:nvSpPr>
        <p:spPr>
          <a:xfrm>
            <a:off x="6967728" y="271787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226</a:t>
            </a:r>
            <a:endParaRPr lang="en-US" sz="1300" dirty="0"/>
          </a:p>
        </p:txBody>
      </p:sp>
      <p:sp>
        <p:nvSpPr>
          <p:cNvPr id="53" name="Text 51"/>
          <p:cNvSpPr txBox="1"/>
          <p:nvPr/>
        </p:nvSpPr>
        <p:spPr>
          <a:xfrm>
            <a:off x="4315968"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4" name="Shape 52"/>
          <p:cNvSpPr/>
          <p:nvPr/>
        </p:nvSpPr>
        <p:spPr>
          <a:xfrm>
            <a:off x="6291072" y="3118807"/>
            <a:ext cx="560053" cy="160372"/>
          </a:xfrm>
          <a:prstGeom prst="rect">
            <a:avLst/>
          </a:prstGeom>
          <a:solidFill>
            <a:srgbClr val="12A566"/>
          </a:solidFill>
          <a:ln/>
        </p:spPr>
      </p:sp>
      <p:sp>
        <p:nvSpPr>
          <p:cNvPr id="55" name="Text 53"/>
          <p:cNvSpPr txBox="1"/>
          <p:nvPr/>
        </p:nvSpPr>
        <p:spPr>
          <a:xfrm>
            <a:off x="6967728" y="303862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226</a:t>
            </a:r>
            <a:endParaRPr lang="en-US" sz="1300" dirty="0"/>
          </a:p>
        </p:txBody>
      </p:sp>
      <p:sp>
        <p:nvSpPr>
          <p:cNvPr id="56" name="Text 54"/>
          <p:cNvSpPr txBox="1"/>
          <p:nvPr/>
        </p:nvSpPr>
        <p:spPr>
          <a:xfrm>
            <a:off x="4315968"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7" name="Shape 55"/>
          <p:cNvSpPr/>
          <p:nvPr/>
        </p:nvSpPr>
        <p:spPr>
          <a:xfrm>
            <a:off x="6291072" y="3439551"/>
            <a:ext cx="556802" cy="160372"/>
          </a:xfrm>
          <a:prstGeom prst="rect">
            <a:avLst/>
          </a:prstGeom>
          <a:solidFill>
            <a:srgbClr val="12A566"/>
          </a:solidFill>
          <a:ln/>
        </p:spPr>
      </p:sp>
      <p:sp>
        <p:nvSpPr>
          <p:cNvPr id="58" name="Text 56"/>
          <p:cNvSpPr txBox="1"/>
          <p:nvPr/>
        </p:nvSpPr>
        <p:spPr>
          <a:xfrm>
            <a:off x="6967728" y="335936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225</a:t>
            </a:r>
            <a:endParaRPr lang="en-US" sz="1300" dirty="0"/>
          </a:p>
        </p:txBody>
      </p:sp>
      <p:sp>
        <p:nvSpPr>
          <p:cNvPr id="59" name="Text 57"/>
          <p:cNvSpPr txBox="1"/>
          <p:nvPr/>
        </p:nvSpPr>
        <p:spPr>
          <a:xfrm>
            <a:off x="4315968"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0" name="Shape 58"/>
          <p:cNvSpPr/>
          <p:nvPr/>
        </p:nvSpPr>
        <p:spPr>
          <a:xfrm>
            <a:off x="6291072" y="3760294"/>
            <a:ext cx="486031" cy="160372"/>
          </a:xfrm>
          <a:prstGeom prst="rect">
            <a:avLst/>
          </a:prstGeom>
          <a:solidFill>
            <a:srgbClr val="12A566"/>
          </a:solidFill>
          <a:ln/>
        </p:spPr>
      </p:sp>
      <p:sp>
        <p:nvSpPr>
          <p:cNvPr id="61" name="Text 59"/>
          <p:cNvSpPr txBox="1"/>
          <p:nvPr/>
        </p:nvSpPr>
        <p:spPr>
          <a:xfrm>
            <a:off x="6967728" y="368010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196</a:t>
            </a:r>
            <a:endParaRPr lang="en-US" sz="1300" dirty="0"/>
          </a:p>
        </p:txBody>
      </p:sp>
      <p:sp>
        <p:nvSpPr>
          <p:cNvPr id="62" name="Text 60"/>
          <p:cNvSpPr txBox="1"/>
          <p:nvPr/>
        </p:nvSpPr>
        <p:spPr>
          <a:xfrm>
            <a:off x="4315968"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6291072" y="4081038"/>
            <a:ext cx="473501" cy="160372"/>
          </a:xfrm>
          <a:prstGeom prst="rect">
            <a:avLst/>
          </a:prstGeom>
          <a:solidFill>
            <a:srgbClr val="12A566"/>
          </a:solidFill>
          <a:ln/>
        </p:spPr>
      </p:sp>
      <p:sp>
        <p:nvSpPr>
          <p:cNvPr id="64" name="Text 62"/>
          <p:cNvSpPr txBox="1"/>
          <p:nvPr/>
        </p:nvSpPr>
        <p:spPr>
          <a:xfrm>
            <a:off x="6967728" y="400085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191</a:t>
            </a:r>
            <a:endParaRPr lang="en-US" sz="1300" dirty="0"/>
          </a:p>
        </p:txBody>
      </p:sp>
      <p:sp>
        <p:nvSpPr>
          <p:cNvPr id="65" name="Text 63"/>
          <p:cNvSpPr txBox="1"/>
          <p:nvPr/>
        </p:nvSpPr>
        <p:spPr>
          <a:xfrm>
            <a:off x="4315968"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6291072" y="4401781"/>
            <a:ext cx="457393" cy="160372"/>
          </a:xfrm>
          <a:prstGeom prst="rect">
            <a:avLst/>
          </a:prstGeom>
          <a:solidFill>
            <a:srgbClr val="12A566"/>
          </a:solidFill>
          <a:ln/>
        </p:spPr>
      </p:sp>
      <p:sp>
        <p:nvSpPr>
          <p:cNvPr id="67" name="Text 65"/>
          <p:cNvSpPr txBox="1"/>
          <p:nvPr/>
        </p:nvSpPr>
        <p:spPr>
          <a:xfrm>
            <a:off x="6967728" y="432159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184</a:t>
            </a:r>
            <a:endParaRPr lang="en-US" sz="1300" dirty="0"/>
          </a:p>
        </p:txBody>
      </p:sp>
      <p:sp>
        <p:nvSpPr>
          <p:cNvPr id="68" name="Text 66"/>
          <p:cNvSpPr txBox="1"/>
          <p:nvPr/>
        </p:nvSpPr>
        <p:spPr>
          <a:xfrm>
            <a:off x="4315968"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9" name="Shape 67"/>
          <p:cNvSpPr/>
          <p:nvPr/>
        </p:nvSpPr>
        <p:spPr>
          <a:xfrm>
            <a:off x="6291072" y="4722524"/>
            <a:ext cx="447997" cy="160372"/>
          </a:xfrm>
          <a:prstGeom prst="rect">
            <a:avLst/>
          </a:prstGeom>
          <a:solidFill>
            <a:srgbClr val="12A566"/>
          </a:solidFill>
          <a:ln/>
        </p:spPr>
      </p:sp>
      <p:sp>
        <p:nvSpPr>
          <p:cNvPr id="70" name="Text 68"/>
          <p:cNvSpPr txBox="1"/>
          <p:nvPr/>
        </p:nvSpPr>
        <p:spPr>
          <a:xfrm>
            <a:off x="6967728" y="464233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181</a:t>
            </a:r>
            <a:endParaRPr lang="en-US" sz="1300" dirty="0"/>
          </a:p>
        </p:txBody>
      </p:sp>
      <p:sp>
        <p:nvSpPr>
          <p:cNvPr id="71" name="Text 69"/>
          <p:cNvSpPr txBox="1"/>
          <p:nvPr/>
        </p:nvSpPr>
        <p:spPr>
          <a:xfrm>
            <a:off x="4315968"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2" name="Shape 70"/>
          <p:cNvSpPr/>
          <p:nvPr/>
        </p:nvSpPr>
        <p:spPr>
          <a:xfrm>
            <a:off x="6291072" y="5043268"/>
            <a:ext cx="446678" cy="160372"/>
          </a:xfrm>
          <a:prstGeom prst="rect">
            <a:avLst/>
          </a:prstGeom>
          <a:solidFill>
            <a:srgbClr val="12A566"/>
          </a:solidFill>
          <a:ln/>
        </p:spPr>
      </p:sp>
      <p:sp>
        <p:nvSpPr>
          <p:cNvPr id="73" name="Text 71"/>
          <p:cNvSpPr txBox="1"/>
          <p:nvPr/>
        </p:nvSpPr>
        <p:spPr>
          <a:xfrm>
            <a:off x="6967728" y="496308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180</a:t>
            </a:r>
            <a:endParaRPr lang="en-US" sz="1300" dirty="0"/>
          </a:p>
        </p:txBody>
      </p:sp>
      <p:sp>
        <p:nvSpPr>
          <p:cNvPr id="74" name="Text 72"/>
          <p:cNvSpPr txBox="1"/>
          <p:nvPr/>
        </p:nvSpPr>
        <p:spPr>
          <a:xfrm>
            <a:off x="4315968"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5" name="Shape 73"/>
          <p:cNvSpPr/>
          <p:nvPr/>
        </p:nvSpPr>
        <p:spPr>
          <a:xfrm>
            <a:off x="6291072" y="5364011"/>
            <a:ext cx="441364" cy="160372"/>
          </a:xfrm>
          <a:prstGeom prst="rect">
            <a:avLst/>
          </a:prstGeom>
          <a:solidFill>
            <a:srgbClr val="12A566"/>
          </a:solidFill>
          <a:ln/>
        </p:spPr>
      </p:sp>
      <p:sp>
        <p:nvSpPr>
          <p:cNvPr id="76" name="Text 74"/>
          <p:cNvSpPr txBox="1"/>
          <p:nvPr/>
        </p:nvSpPr>
        <p:spPr>
          <a:xfrm>
            <a:off x="6967728" y="528382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178</a:t>
            </a:r>
            <a:endParaRPr lang="en-US" sz="1300" dirty="0"/>
          </a:p>
        </p:txBody>
      </p:sp>
      <p:sp>
        <p:nvSpPr>
          <p:cNvPr id="77" name="Shape 75"/>
          <p:cNvSpPr/>
          <p:nvPr/>
        </p:nvSpPr>
        <p:spPr>
          <a:xfrm>
            <a:off x="4261104" y="5604569"/>
            <a:ext cx="3529584" cy="311599"/>
          </a:xfrm>
          <a:prstGeom prst="rect">
            <a:avLst/>
          </a:prstGeom>
          <a:solidFill>
            <a:srgbClr val="EDF4FA"/>
          </a:solidFill>
          <a:ln/>
        </p:spPr>
      </p:sp>
      <p:sp>
        <p:nvSpPr>
          <p:cNvPr id="78" name="Text 76"/>
          <p:cNvSpPr txBox="1"/>
          <p:nvPr/>
        </p:nvSpPr>
        <p:spPr>
          <a:xfrm>
            <a:off x="4315968" y="5604569"/>
            <a:ext cx="192024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NON-LUXURY</a:t>
            </a:r>
            <a:endParaRPr lang="en-US" sz="1300" dirty="0"/>
          </a:p>
        </p:txBody>
      </p:sp>
      <p:sp>
        <p:nvSpPr>
          <p:cNvPr id="79" name="Shape 77"/>
          <p:cNvSpPr/>
          <p:nvPr/>
        </p:nvSpPr>
        <p:spPr>
          <a:xfrm>
            <a:off x="6291072" y="5684754"/>
            <a:ext cx="436715" cy="160372"/>
          </a:xfrm>
          <a:prstGeom prst="rect">
            <a:avLst/>
          </a:prstGeom>
          <a:solidFill>
            <a:srgbClr val="0B2C4A"/>
          </a:solidFill>
          <a:ln/>
        </p:spPr>
      </p:sp>
      <p:sp>
        <p:nvSpPr>
          <p:cNvPr id="80" name="Text 78"/>
          <p:cNvSpPr txBox="1"/>
          <p:nvPr/>
        </p:nvSpPr>
        <p:spPr>
          <a:xfrm>
            <a:off x="6967728" y="5604569"/>
            <a:ext cx="786384"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176</a:t>
            </a:r>
            <a:endParaRPr lang="en-US" sz="1300" dirty="0"/>
          </a:p>
        </p:txBody>
      </p:sp>
      <p:sp>
        <p:nvSpPr>
          <p:cNvPr id="81" name="Text 79"/>
          <p:cNvSpPr txBox="1"/>
          <p:nvPr/>
        </p:nvSpPr>
        <p:spPr>
          <a:xfrm>
            <a:off x="7918704"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2" name="Shape 80"/>
          <p:cNvSpPr/>
          <p:nvPr/>
        </p:nvSpPr>
        <p:spPr>
          <a:xfrm>
            <a:off x="9893808" y="1835834"/>
            <a:ext cx="434988" cy="160372"/>
          </a:xfrm>
          <a:prstGeom prst="rect">
            <a:avLst/>
          </a:prstGeom>
          <a:solidFill>
            <a:srgbClr val="C2352F"/>
          </a:solidFill>
          <a:ln/>
        </p:spPr>
      </p:sp>
      <p:sp>
        <p:nvSpPr>
          <p:cNvPr id="83" name="Text 81"/>
          <p:cNvSpPr txBox="1"/>
          <p:nvPr/>
        </p:nvSpPr>
        <p:spPr>
          <a:xfrm>
            <a:off x="10570464" y="175564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175</a:t>
            </a:r>
            <a:endParaRPr lang="en-US" sz="1300" dirty="0"/>
          </a:p>
        </p:txBody>
      </p:sp>
      <p:sp>
        <p:nvSpPr>
          <p:cNvPr id="84" name="Text 82"/>
          <p:cNvSpPr txBox="1"/>
          <p:nvPr/>
        </p:nvSpPr>
        <p:spPr>
          <a:xfrm>
            <a:off x="7918704"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5" name="Shape 83"/>
          <p:cNvSpPr/>
          <p:nvPr/>
        </p:nvSpPr>
        <p:spPr>
          <a:xfrm>
            <a:off x="9893808" y="2156577"/>
            <a:ext cx="426487" cy="160372"/>
          </a:xfrm>
          <a:prstGeom prst="rect">
            <a:avLst/>
          </a:prstGeom>
          <a:solidFill>
            <a:srgbClr val="C2352F"/>
          </a:solidFill>
          <a:ln/>
        </p:spPr>
      </p:sp>
      <p:sp>
        <p:nvSpPr>
          <p:cNvPr id="86" name="Text 84"/>
          <p:cNvSpPr txBox="1"/>
          <p:nvPr/>
        </p:nvSpPr>
        <p:spPr>
          <a:xfrm>
            <a:off x="10570464" y="2076391"/>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172</a:t>
            </a:r>
            <a:endParaRPr lang="en-US" sz="1300" dirty="0"/>
          </a:p>
        </p:txBody>
      </p:sp>
      <p:sp>
        <p:nvSpPr>
          <p:cNvPr id="87" name="Text 85"/>
          <p:cNvSpPr txBox="1"/>
          <p:nvPr/>
        </p:nvSpPr>
        <p:spPr>
          <a:xfrm>
            <a:off x="7918704"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8" name="Shape 86"/>
          <p:cNvSpPr/>
          <p:nvPr/>
        </p:nvSpPr>
        <p:spPr>
          <a:xfrm>
            <a:off x="9893808" y="2477321"/>
            <a:ext cx="409834" cy="160372"/>
          </a:xfrm>
          <a:prstGeom prst="rect">
            <a:avLst/>
          </a:prstGeom>
          <a:solidFill>
            <a:srgbClr val="C2352F"/>
          </a:solidFill>
          <a:ln/>
        </p:spPr>
      </p:sp>
      <p:sp>
        <p:nvSpPr>
          <p:cNvPr id="89" name="Text 87"/>
          <p:cNvSpPr txBox="1"/>
          <p:nvPr/>
        </p:nvSpPr>
        <p:spPr>
          <a:xfrm>
            <a:off x="10570464" y="239713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165</a:t>
            </a:r>
            <a:endParaRPr lang="en-US" sz="1300" dirty="0"/>
          </a:p>
        </p:txBody>
      </p:sp>
      <p:sp>
        <p:nvSpPr>
          <p:cNvPr id="90" name="Text 88"/>
          <p:cNvSpPr txBox="1"/>
          <p:nvPr/>
        </p:nvSpPr>
        <p:spPr>
          <a:xfrm>
            <a:off x="7918704"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91" name="Shape 89"/>
          <p:cNvSpPr/>
          <p:nvPr/>
        </p:nvSpPr>
        <p:spPr>
          <a:xfrm>
            <a:off x="9893808" y="2798064"/>
            <a:ext cx="394046" cy="160372"/>
          </a:xfrm>
          <a:prstGeom prst="rect">
            <a:avLst/>
          </a:prstGeom>
          <a:solidFill>
            <a:srgbClr val="C2352F"/>
          </a:solidFill>
          <a:ln/>
        </p:spPr>
      </p:sp>
      <p:sp>
        <p:nvSpPr>
          <p:cNvPr id="92" name="Text 90"/>
          <p:cNvSpPr txBox="1"/>
          <p:nvPr/>
        </p:nvSpPr>
        <p:spPr>
          <a:xfrm>
            <a:off x="10570464" y="271787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159</a:t>
            </a:r>
            <a:endParaRPr lang="en-US" sz="1300" dirty="0"/>
          </a:p>
        </p:txBody>
      </p:sp>
      <p:sp>
        <p:nvSpPr>
          <p:cNvPr id="93" name="Text 91"/>
          <p:cNvSpPr txBox="1"/>
          <p:nvPr/>
        </p:nvSpPr>
        <p:spPr>
          <a:xfrm>
            <a:off x="7918704"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4" name="Shape 92"/>
          <p:cNvSpPr/>
          <p:nvPr/>
        </p:nvSpPr>
        <p:spPr>
          <a:xfrm>
            <a:off x="9893808" y="3118807"/>
            <a:ext cx="380753" cy="160372"/>
          </a:xfrm>
          <a:prstGeom prst="rect">
            <a:avLst/>
          </a:prstGeom>
          <a:solidFill>
            <a:srgbClr val="C2352F"/>
          </a:solidFill>
          <a:ln/>
        </p:spPr>
      </p:sp>
      <p:sp>
        <p:nvSpPr>
          <p:cNvPr id="95" name="Text 93"/>
          <p:cNvSpPr txBox="1"/>
          <p:nvPr/>
        </p:nvSpPr>
        <p:spPr>
          <a:xfrm>
            <a:off x="10570464" y="303862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154</a:t>
            </a:r>
            <a:endParaRPr lang="en-US" sz="1300" dirty="0"/>
          </a:p>
        </p:txBody>
      </p:sp>
      <p:sp>
        <p:nvSpPr>
          <p:cNvPr id="96" name="Text 94"/>
          <p:cNvSpPr txBox="1"/>
          <p:nvPr/>
        </p:nvSpPr>
        <p:spPr>
          <a:xfrm>
            <a:off x="7918704"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7" name="Shape 95"/>
          <p:cNvSpPr/>
          <p:nvPr/>
        </p:nvSpPr>
        <p:spPr>
          <a:xfrm>
            <a:off x="9893808" y="3439551"/>
            <a:ext cx="354368" cy="160372"/>
          </a:xfrm>
          <a:prstGeom prst="rect">
            <a:avLst/>
          </a:prstGeom>
          <a:solidFill>
            <a:srgbClr val="C2352F"/>
          </a:solidFill>
          <a:ln/>
        </p:spPr>
      </p:sp>
      <p:sp>
        <p:nvSpPr>
          <p:cNvPr id="98" name="Text 96"/>
          <p:cNvSpPr txBox="1"/>
          <p:nvPr/>
        </p:nvSpPr>
        <p:spPr>
          <a:xfrm>
            <a:off x="10570464" y="335936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143</a:t>
            </a:r>
            <a:endParaRPr lang="en-US" sz="1300" dirty="0"/>
          </a:p>
        </p:txBody>
      </p:sp>
      <p:sp>
        <p:nvSpPr>
          <p:cNvPr id="99" name="Text 97"/>
          <p:cNvSpPr txBox="1"/>
          <p:nvPr/>
        </p:nvSpPr>
        <p:spPr>
          <a:xfrm>
            <a:off x="7918704"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0" name="Shape 98"/>
          <p:cNvSpPr/>
          <p:nvPr/>
        </p:nvSpPr>
        <p:spPr>
          <a:xfrm>
            <a:off x="9893808" y="3760294"/>
            <a:ext cx="343647" cy="160372"/>
          </a:xfrm>
          <a:prstGeom prst="rect">
            <a:avLst/>
          </a:prstGeom>
          <a:solidFill>
            <a:srgbClr val="C2352F"/>
          </a:solidFill>
          <a:ln/>
        </p:spPr>
      </p:sp>
      <p:sp>
        <p:nvSpPr>
          <p:cNvPr id="101" name="Text 99"/>
          <p:cNvSpPr txBox="1"/>
          <p:nvPr/>
        </p:nvSpPr>
        <p:spPr>
          <a:xfrm>
            <a:off x="10570464" y="368010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139</a:t>
            </a:r>
            <a:endParaRPr lang="en-US" sz="1300" dirty="0"/>
          </a:p>
        </p:txBody>
      </p:sp>
      <p:sp>
        <p:nvSpPr>
          <p:cNvPr id="102" name="Text 100"/>
          <p:cNvSpPr txBox="1"/>
          <p:nvPr/>
        </p:nvSpPr>
        <p:spPr>
          <a:xfrm>
            <a:off x="7918704"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3" name="Shape 101"/>
          <p:cNvSpPr/>
          <p:nvPr/>
        </p:nvSpPr>
        <p:spPr>
          <a:xfrm>
            <a:off x="9893808" y="4081038"/>
            <a:ext cx="317068" cy="160372"/>
          </a:xfrm>
          <a:prstGeom prst="rect">
            <a:avLst/>
          </a:prstGeom>
          <a:solidFill>
            <a:srgbClr val="C2352F"/>
          </a:solidFill>
          <a:ln/>
        </p:spPr>
      </p:sp>
      <p:sp>
        <p:nvSpPr>
          <p:cNvPr id="104" name="Text 102"/>
          <p:cNvSpPr txBox="1"/>
          <p:nvPr/>
        </p:nvSpPr>
        <p:spPr>
          <a:xfrm>
            <a:off x="10570464" y="400085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128</a:t>
            </a:r>
            <a:endParaRPr lang="en-US" sz="1300" dirty="0"/>
          </a:p>
        </p:txBody>
      </p:sp>
      <p:sp>
        <p:nvSpPr>
          <p:cNvPr id="105" name="Text 103"/>
          <p:cNvSpPr txBox="1"/>
          <p:nvPr/>
        </p:nvSpPr>
        <p:spPr>
          <a:xfrm>
            <a:off x="7918704"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06" name="Shape 104"/>
          <p:cNvSpPr/>
          <p:nvPr/>
        </p:nvSpPr>
        <p:spPr>
          <a:xfrm>
            <a:off x="9893808" y="4401781"/>
            <a:ext cx="304634" cy="160372"/>
          </a:xfrm>
          <a:prstGeom prst="rect">
            <a:avLst/>
          </a:prstGeom>
          <a:solidFill>
            <a:srgbClr val="C2352F"/>
          </a:solidFill>
          <a:ln/>
        </p:spPr>
      </p:sp>
      <p:sp>
        <p:nvSpPr>
          <p:cNvPr id="107" name="Text 105"/>
          <p:cNvSpPr txBox="1"/>
          <p:nvPr/>
        </p:nvSpPr>
        <p:spPr>
          <a:xfrm>
            <a:off x="10570464" y="432159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123</a:t>
            </a:r>
            <a:endParaRPr lang="en-US" sz="1300" dirty="0"/>
          </a:p>
        </p:txBody>
      </p:sp>
      <p:sp>
        <p:nvSpPr>
          <p:cNvPr id="108" name="Text 106"/>
          <p:cNvSpPr txBox="1"/>
          <p:nvPr/>
        </p:nvSpPr>
        <p:spPr>
          <a:xfrm>
            <a:off x="7918704"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9" name="Shape 107"/>
          <p:cNvSpPr/>
          <p:nvPr/>
        </p:nvSpPr>
        <p:spPr>
          <a:xfrm>
            <a:off x="9893808" y="4722524"/>
            <a:ext cx="296380" cy="160372"/>
          </a:xfrm>
          <a:prstGeom prst="rect">
            <a:avLst/>
          </a:prstGeom>
          <a:solidFill>
            <a:srgbClr val="C2352F"/>
          </a:solidFill>
          <a:ln/>
        </p:spPr>
      </p:sp>
      <p:sp>
        <p:nvSpPr>
          <p:cNvPr id="110" name="Text 108"/>
          <p:cNvSpPr txBox="1"/>
          <p:nvPr/>
        </p:nvSpPr>
        <p:spPr>
          <a:xfrm>
            <a:off x="10570464" y="464233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120</a:t>
            </a:r>
            <a:endParaRPr lang="en-US" sz="1300" dirty="0"/>
          </a:p>
        </p:txBody>
      </p:sp>
      <p:sp>
        <p:nvSpPr>
          <p:cNvPr id="111" name="Text 109"/>
          <p:cNvSpPr txBox="1"/>
          <p:nvPr/>
        </p:nvSpPr>
        <p:spPr>
          <a:xfrm>
            <a:off x="7918704"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2" name="Shape 110"/>
          <p:cNvSpPr/>
          <p:nvPr/>
        </p:nvSpPr>
        <p:spPr>
          <a:xfrm>
            <a:off x="9893808" y="5043268"/>
            <a:ext cx="293723" cy="160372"/>
          </a:xfrm>
          <a:prstGeom prst="rect">
            <a:avLst/>
          </a:prstGeom>
          <a:solidFill>
            <a:srgbClr val="C2352F"/>
          </a:solidFill>
          <a:ln/>
        </p:spPr>
      </p:sp>
      <p:sp>
        <p:nvSpPr>
          <p:cNvPr id="113" name="Text 111"/>
          <p:cNvSpPr txBox="1"/>
          <p:nvPr/>
        </p:nvSpPr>
        <p:spPr>
          <a:xfrm>
            <a:off x="10570464" y="496308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118</a:t>
            </a:r>
            <a:endParaRPr lang="en-US" sz="1300" dirty="0"/>
          </a:p>
        </p:txBody>
      </p:sp>
      <p:sp>
        <p:nvSpPr>
          <p:cNvPr id="114" name="Text 112"/>
          <p:cNvSpPr txBox="1"/>
          <p:nvPr/>
        </p:nvSpPr>
        <p:spPr>
          <a:xfrm>
            <a:off x="7918704"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5" name="Shape 113"/>
          <p:cNvSpPr/>
          <p:nvPr/>
        </p:nvSpPr>
        <p:spPr>
          <a:xfrm>
            <a:off x="9893808" y="5364011"/>
            <a:ext cx="289048" cy="160372"/>
          </a:xfrm>
          <a:prstGeom prst="rect">
            <a:avLst/>
          </a:prstGeom>
          <a:solidFill>
            <a:srgbClr val="C2352F"/>
          </a:solidFill>
          <a:ln/>
        </p:spPr>
      </p:sp>
      <p:sp>
        <p:nvSpPr>
          <p:cNvPr id="116" name="Text 114"/>
          <p:cNvSpPr txBox="1"/>
          <p:nvPr/>
        </p:nvSpPr>
        <p:spPr>
          <a:xfrm>
            <a:off x="10570464" y="528382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117</a:t>
            </a:r>
            <a:endParaRPr lang="en-US" sz="1300" dirty="0"/>
          </a:p>
        </p:txBody>
      </p:sp>
      <p:sp>
        <p:nvSpPr>
          <p:cNvPr id="117" name="Shape 115"/>
          <p:cNvSpPr/>
          <p:nvPr/>
        </p:nvSpPr>
        <p:spPr>
          <a:xfrm>
            <a:off x="457200" y="6126480"/>
            <a:ext cx="11274552" cy="615696"/>
          </a:xfrm>
          <a:prstGeom prst="rect">
            <a:avLst/>
          </a:prstGeom>
          <a:solidFill>
            <a:srgbClr val="EDF4F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338328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LUXURY · 9 STORES</a:t>
            </a:r>
            <a:endParaRPr lang="en-US" sz="1400" dirty="0"/>
          </a:p>
        </p:txBody>
      </p:sp>
      <p:sp>
        <p:nvSpPr>
          <p:cNvPr id="7" name="Text 5"/>
          <p:cNvSpPr txBox="1"/>
          <p:nvPr/>
        </p:nvSpPr>
        <p:spPr>
          <a:xfrm>
            <a:off x="658368" y="175564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 name="Shape 6"/>
          <p:cNvSpPr/>
          <p:nvPr/>
        </p:nvSpPr>
        <p:spPr>
          <a:xfrm>
            <a:off x="2267712" y="1835834"/>
            <a:ext cx="1030941" cy="160372"/>
          </a:xfrm>
          <a:prstGeom prst="rect">
            <a:avLst/>
          </a:prstGeom>
          <a:solidFill>
            <a:srgbClr val="12A566"/>
          </a:solidFill>
          <a:ln/>
        </p:spPr>
      </p:sp>
      <p:sp>
        <p:nvSpPr>
          <p:cNvPr id="9" name="Text 7"/>
          <p:cNvSpPr txBox="1"/>
          <p:nvPr/>
        </p:nvSpPr>
        <p:spPr>
          <a:xfrm>
            <a:off x="3355848" y="175564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24.9</a:t>
            </a:r>
            <a:endParaRPr lang="en-US" sz="1300" dirty="0"/>
          </a:p>
        </p:txBody>
      </p:sp>
      <p:sp>
        <p:nvSpPr>
          <p:cNvPr id="10" name="Text 8"/>
          <p:cNvSpPr txBox="1"/>
          <p:nvPr/>
        </p:nvSpPr>
        <p:spPr>
          <a:xfrm>
            <a:off x="658368" y="2076391"/>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 name="Shape 9"/>
          <p:cNvSpPr/>
          <p:nvPr/>
        </p:nvSpPr>
        <p:spPr>
          <a:xfrm>
            <a:off x="2267712" y="2156577"/>
            <a:ext cx="1013961" cy="160372"/>
          </a:xfrm>
          <a:prstGeom prst="rect">
            <a:avLst/>
          </a:prstGeom>
          <a:solidFill>
            <a:srgbClr val="12A566"/>
          </a:solidFill>
          <a:ln/>
        </p:spPr>
      </p:sp>
      <p:sp>
        <p:nvSpPr>
          <p:cNvPr id="12" name="Text 10"/>
          <p:cNvSpPr txBox="1"/>
          <p:nvPr/>
        </p:nvSpPr>
        <p:spPr>
          <a:xfrm>
            <a:off x="3355848" y="2076391"/>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24.5</a:t>
            </a:r>
            <a:endParaRPr lang="en-US" sz="1300" dirty="0"/>
          </a:p>
        </p:txBody>
      </p:sp>
      <p:sp>
        <p:nvSpPr>
          <p:cNvPr id="13" name="Text 11"/>
          <p:cNvSpPr txBox="1"/>
          <p:nvPr/>
        </p:nvSpPr>
        <p:spPr>
          <a:xfrm>
            <a:off x="658368" y="239713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 name="Shape 12"/>
          <p:cNvSpPr/>
          <p:nvPr/>
        </p:nvSpPr>
        <p:spPr>
          <a:xfrm>
            <a:off x="2267712" y="2477321"/>
            <a:ext cx="803240" cy="160372"/>
          </a:xfrm>
          <a:prstGeom prst="rect">
            <a:avLst/>
          </a:prstGeom>
          <a:solidFill>
            <a:srgbClr val="12A566"/>
          </a:solidFill>
          <a:ln/>
        </p:spPr>
      </p:sp>
      <p:sp>
        <p:nvSpPr>
          <p:cNvPr id="15" name="Text 13"/>
          <p:cNvSpPr txBox="1"/>
          <p:nvPr/>
        </p:nvSpPr>
        <p:spPr>
          <a:xfrm>
            <a:off x="3355848" y="2397135"/>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19.4</a:t>
            </a:r>
            <a:endParaRPr lang="en-US" sz="1300" dirty="0"/>
          </a:p>
        </p:txBody>
      </p:sp>
      <p:sp>
        <p:nvSpPr>
          <p:cNvPr id="16" name="Text 14"/>
          <p:cNvSpPr txBox="1"/>
          <p:nvPr/>
        </p:nvSpPr>
        <p:spPr>
          <a:xfrm>
            <a:off x="658368" y="271787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 name="Shape 15"/>
          <p:cNvSpPr/>
          <p:nvPr/>
        </p:nvSpPr>
        <p:spPr>
          <a:xfrm>
            <a:off x="2267712" y="2798064"/>
            <a:ext cx="789066" cy="160372"/>
          </a:xfrm>
          <a:prstGeom prst="rect">
            <a:avLst/>
          </a:prstGeom>
          <a:solidFill>
            <a:srgbClr val="12A566"/>
          </a:solidFill>
          <a:ln/>
        </p:spPr>
      </p:sp>
      <p:sp>
        <p:nvSpPr>
          <p:cNvPr id="18" name="Text 16"/>
          <p:cNvSpPr txBox="1"/>
          <p:nvPr/>
        </p:nvSpPr>
        <p:spPr>
          <a:xfrm>
            <a:off x="3355848" y="271787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19.0</a:t>
            </a:r>
            <a:endParaRPr lang="en-US" sz="1300" dirty="0"/>
          </a:p>
        </p:txBody>
      </p:sp>
      <p:sp>
        <p:nvSpPr>
          <p:cNvPr id="19" name="Shape 17"/>
          <p:cNvSpPr/>
          <p:nvPr/>
        </p:nvSpPr>
        <p:spPr>
          <a:xfrm>
            <a:off x="603504" y="3038622"/>
            <a:ext cx="3566160" cy="311599"/>
          </a:xfrm>
          <a:prstGeom prst="rect">
            <a:avLst/>
          </a:prstGeom>
          <a:solidFill>
            <a:srgbClr val="EDF4FA"/>
          </a:solidFill>
          <a:ln/>
        </p:spPr>
      </p:sp>
      <p:sp>
        <p:nvSpPr>
          <p:cNvPr id="20" name="Text 18"/>
          <p:cNvSpPr txBox="1"/>
          <p:nvPr/>
        </p:nvSpPr>
        <p:spPr>
          <a:xfrm>
            <a:off x="658368" y="3038622"/>
            <a:ext cx="155448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LUXURY</a:t>
            </a:r>
            <a:endParaRPr lang="en-US" sz="1300" dirty="0"/>
          </a:p>
        </p:txBody>
      </p:sp>
      <p:sp>
        <p:nvSpPr>
          <p:cNvPr id="21" name="Shape 19"/>
          <p:cNvSpPr/>
          <p:nvPr/>
        </p:nvSpPr>
        <p:spPr>
          <a:xfrm>
            <a:off x="2267712" y="3118807"/>
            <a:ext cx="723520" cy="160372"/>
          </a:xfrm>
          <a:prstGeom prst="rect">
            <a:avLst/>
          </a:prstGeom>
          <a:solidFill>
            <a:srgbClr val="0B2C4A"/>
          </a:solidFill>
          <a:ln/>
        </p:spPr>
      </p:sp>
      <p:sp>
        <p:nvSpPr>
          <p:cNvPr id="22" name="Text 20"/>
          <p:cNvSpPr txBox="1"/>
          <p:nvPr/>
        </p:nvSpPr>
        <p:spPr>
          <a:xfrm>
            <a:off x="3355848" y="3038622"/>
            <a:ext cx="777240"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17.4</a:t>
            </a:r>
            <a:endParaRPr lang="en-US" sz="1300" dirty="0"/>
          </a:p>
        </p:txBody>
      </p:sp>
      <p:sp>
        <p:nvSpPr>
          <p:cNvPr id="23" name="Text 21"/>
          <p:cNvSpPr txBox="1"/>
          <p:nvPr/>
        </p:nvSpPr>
        <p:spPr>
          <a:xfrm>
            <a:off x="658368" y="335936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4" name="Shape 22"/>
          <p:cNvSpPr/>
          <p:nvPr/>
        </p:nvSpPr>
        <p:spPr>
          <a:xfrm>
            <a:off x="2267712" y="3439551"/>
            <a:ext cx="696638" cy="160372"/>
          </a:xfrm>
          <a:prstGeom prst="rect">
            <a:avLst/>
          </a:prstGeom>
          <a:solidFill>
            <a:srgbClr val="C2352F"/>
          </a:solidFill>
          <a:ln/>
        </p:spPr>
      </p:sp>
      <p:sp>
        <p:nvSpPr>
          <p:cNvPr id="25" name="Text 23"/>
          <p:cNvSpPr txBox="1"/>
          <p:nvPr/>
        </p:nvSpPr>
        <p:spPr>
          <a:xfrm>
            <a:off x="3355848" y="3359365"/>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16.8</a:t>
            </a:r>
            <a:endParaRPr lang="en-US" sz="1300" dirty="0"/>
          </a:p>
        </p:txBody>
      </p:sp>
      <p:sp>
        <p:nvSpPr>
          <p:cNvPr id="26" name="Text 24"/>
          <p:cNvSpPr txBox="1"/>
          <p:nvPr/>
        </p:nvSpPr>
        <p:spPr>
          <a:xfrm>
            <a:off x="658368" y="368010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7" name="Shape 25"/>
          <p:cNvSpPr/>
          <p:nvPr/>
        </p:nvSpPr>
        <p:spPr>
          <a:xfrm>
            <a:off x="2267712" y="3760294"/>
            <a:ext cx="610545" cy="160372"/>
          </a:xfrm>
          <a:prstGeom prst="rect">
            <a:avLst/>
          </a:prstGeom>
          <a:solidFill>
            <a:srgbClr val="C2352F"/>
          </a:solidFill>
          <a:ln/>
        </p:spPr>
      </p:sp>
      <p:sp>
        <p:nvSpPr>
          <p:cNvPr id="28" name="Text 26"/>
          <p:cNvSpPr txBox="1"/>
          <p:nvPr/>
        </p:nvSpPr>
        <p:spPr>
          <a:xfrm>
            <a:off x="3355848" y="368010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14.7</a:t>
            </a:r>
            <a:endParaRPr lang="en-US" sz="1300" dirty="0"/>
          </a:p>
        </p:txBody>
      </p:sp>
      <p:sp>
        <p:nvSpPr>
          <p:cNvPr id="29" name="Text 27"/>
          <p:cNvSpPr txBox="1"/>
          <p:nvPr/>
        </p:nvSpPr>
        <p:spPr>
          <a:xfrm>
            <a:off x="658368" y="400085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30" name="Shape 28"/>
          <p:cNvSpPr/>
          <p:nvPr/>
        </p:nvSpPr>
        <p:spPr>
          <a:xfrm>
            <a:off x="2267712" y="4081038"/>
            <a:ext cx="610365" cy="160372"/>
          </a:xfrm>
          <a:prstGeom prst="rect">
            <a:avLst/>
          </a:prstGeom>
          <a:solidFill>
            <a:srgbClr val="C2352F"/>
          </a:solidFill>
          <a:ln/>
        </p:spPr>
      </p:sp>
      <p:sp>
        <p:nvSpPr>
          <p:cNvPr id="31" name="Text 29"/>
          <p:cNvSpPr txBox="1"/>
          <p:nvPr/>
        </p:nvSpPr>
        <p:spPr>
          <a:xfrm>
            <a:off x="3355848" y="4000852"/>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14.7</a:t>
            </a:r>
            <a:endParaRPr lang="en-US" sz="1300" dirty="0"/>
          </a:p>
        </p:txBody>
      </p:sp>
      <p:sp>
        <p:nvSpPr>
          <p:cNvPr id="32" name="Text 30"/>
          <p:cNvSpPr txBox="1"/>
          <p:nvPr/>
        </p:nvSpPr>
        <p:spPr>
          <a:xfrm>
            <a:off x="658368" y="432159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3" name="Shape 31"/>
          <p:cNvSpPr/>
          <p:nvPr/>
        </p:nvSpPr>
        <p:spPr>
          <a:xfrm>
            <a:off x="2267712" y="4401781"/>
            <a:ext cx="609846" cy="160372"/>
          </a:xfrm>
          <a:prstGeom prst="rect">
            <a:avLst/>
          </a:prstGeom>
          <a:solidFill>
            <a:srgbClr val="C2352F"/>
          </a:solidFill>
          <a:ln/>
        </p:spPr>
      </p:sp>
      <p:sp>
        <p:nvSpPr>
          <p:cNvPr id="34" name="Text 32"/>
          <p:cNvSpPr txBox="1"/>
          <p:nvPr/>
        </p:nvSpPr>
        <p:spPr>
          <a:xfrm>
            <a:off x="3355848" y="4321595"/>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14.7</a:t>
            </a:r>
            <a:endParaRPr lang="en-US" sz="1300" dirty="0"/>
          </a:p>
        </p:txBody>
      </p:sp>
      <p:sp>
        <p:nvSpPr>
          <p:cNvPr id="35" name="Text 33"/>
          <p:cNvSpPr txBox="1"/>
          <p:nvPr/>
        </p:nvSpPr>
        <p:spPr>
          <a:xfrm>
            <a:off x="658368" y="464233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6" name="Shape 34"/>
          <p:cNvSpPr/>
          <p:nvPr/>
        </p:nvSpPr>
        <p:spPr>
          <a:xfrm>
            <a:off x="2267712" y="4722524"/>
            <a:ext cx="565884" cy="160372"/>
          </a:xfrm>
          <a:prstGeom prst="rect">
            <a:avLst/>
          </a:prstGeom>
          <a:solidFill>
            <a:srgbClr val="C2352F"/>
          </a:solidFill>
          <a:ln/>
        </p:spPr>
      </p:sp>
      <p:sp>
        <p:nvSpPr>
          <p:cNvPr id="37" name="Text 35"/>
          <p:cNvSpPr txBox="1"/>
          <p:nvPr/>
        </p:nvSpPr>
        <p:spPr>
          <a:xfrm>
            <a:off x="3355848" y="464233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13.6</a:t>
            </a:r>
            <a:endParaRPr lang="en-US" sz="1300" dirty="0"/>
          </a:p>
        </p:txBody>
      </p:sp>
      <p:sp>
        <p:nvSpPr>
          <p:cNvPr id="38" name="Text 36"/>
          <p:cNvSpPr txBox="1"/>
          <p:nvPr/>
        </p:nvSpPr>
        <p:spPr>
          <a:xfrm>
            <a:off x="658368" y="5091098"/>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LUXURY AVG  </a:t>
            </a:r>
            <a:pPr indent="0" marL="0">
              <a:buNone/>
            </a:pPr>
            <a:r>
              <a:rPr lang="en-US" sz="1800" b="1" dirty="0">
                <a:solidFill>
                  <a:srgbClr val="0B2C4A"/>
                </a:solidFill>
                <a:latin typeface="Inter" pitchFamily="34" charset="0"/>
                <a:ea typeface="Inter" pitchFamily="34" charset="-122"/>
                <a:cs typeface="Inter" pitchFamily="34" charset="-120"/>
              </a:rPr>
              <a:t>17.4  </a:t>
            </a:r>
            <a:pPr indent="0" marL="0">
              <a:buNone/>
            </a:pPr>
            <a:r>
              <a:rPr lang="en-US" sz="1400" b="1" dirty="0">
                <a:solidFill>
                  <a:srgbClr val="0B7A4A"/>
                </a:solidFill>
                <a:latin typeface="Inter" pitchFamily="34" charset="0"/>
                <a:ea typeface="Inter" pitchFamily="34" charset="-122"/>
                <a:cs typeface="Inter" pitchFamily="34" charset="-120"/>
              </a:rPr>
              <a:t>(+0.1)</a:t>
            </a:r>
            <a:endParaRPr lang="en-US" sz="1400" dirty="0"/>
          </a:p>
        </p:txBody>
      </p:sp>
      <p:sp>
        <p:nvSpPr>
          <p:cNvPr id="39" name="Text 37"/>
          <p:cNvSpPr txBox="1"/>
          <p:nvPr/>
        </p:nvSpPr>
        <p:spPr>
          <a:xfrm>
            <a:off x="658368" y="5475146"/>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NON-LUXURY AVG  </a:t>
            </a:r>
            <a:pPr indent="0" marL="0">
              <a:buNone/>
            </a:pPr>
            <a:r>
              <a:rPr lang="en-US" sz="1800" b="1" dirty="0">
                <a:solidFill>
                  <a:srgbClr val="0B2C4A"/>
                </a:solidFill>
                <a:latin typeface="Inter" pitchFamily="34" charset="0"/>
                <a:ea typeface="Inter" pitchFamily="34" charset="-122"/>
                <a:cs typeface="Inter" pitchFamily="34" charset="-120"/>
              </a:rPr>
              <a:t>29.3  </a:t>
            </a:r>
            <a:pPr indent="0" marL="0">
              <a:buNone/>
            </a:pPr>
            <a:r>
              <a:rPr lang="en-US" sz="1400" b="1" dirty="0">
                <a:solidFill>
                  <a:srgbClr val="0B7A4A"/>
                </a:solidFill>
                <a:latin typeface="Inter" pitchFamily="34" charset="0"/>
                <a:ea typeface="Inter" pitchFamily="34" charset="-122"/>
                <a:cs typeface="Inter" pitchFamily="34" charset="-120"/>
              </a:rPr>
              <a:t>(+1.1)</a:t>
            </a:r>
            <a:endParaRPr lang="en-US" sz="1400" dirty="0"/>
          </a:p>
        </p:txBody>
      </p:sp>
      <p:sp>
        <p:nvSpPr>
          <p:cNvPr id="40" name="Text 38"/>
          <p:cNvSpPr txBox="1"/>
          <p:nvPr/>
        </p:nvSpPr>
        <p:spPr>
          <a:xfrm>
            <a:off x="4315968" y="1316736"/>
            <a:ext cx="713232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NON-LUXURY · 24 STORES</a:t>
            </a:r>
            <a:endParaRPr lang="en-US" sz="1400" dirty="0"/>
          </a:p>
        </p:txBody>
      </p:sp>
      <p:sp>
        <p:nvSpPr>
          <p:cNvPr id="41" name="Text 39"/>
          <p:cNvSpPr txBox="1"/>
          <p:nvPr/>
        </p:nvSpPr>
        <p:spPr>
          <a:xfrm>
            <a:off x="4315968"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2" name="Shape 40"/>
          <p:cNvSpPr/>
          <p:nvPr/>
        </p:nvSpPr>
        <p:spPr>
          <a:xfrm>
            <a:off x="6291072" y="1835834"/>
            <a:ext cx="627529" cy="160372"/>
          </a:xfrm>
          <a:prstGeom prst="rect">
            <a:avLst/>
          </a:prstGeom>
          <a:solidFill>
            <a:srgbClr val="12A566"/>
          </a:solidFill>
          <a:ln/>
        </p:spPr>
      </p:sp>
      <p:sp>
        <p:nvSpPr>
          <p:cNvPr id="43" name="Text 41"/>
          <p:cNvSpPr txBox="1"/>
          <p:nvPr/>
        </p:nvSpPr>
        <p:spPr>
          <a:xfrm>
            <a:off x="6967728" y="175564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39.8</a:t>
            </a:r>
            <a:endParaRPr lang="en-US" sz="1300" dirty="0"/>
          </a:p>
        </p:txBody>
      </p:sp>
      <p:sp>
        <p:nvSpPr>
          <p:cNvPr id="44" name="Text 42"/>
          <p:cNvSpPr txBox="1"/>
          <p:nvPr/>
        </p:nvSpPr>
        <p:spPr>
          <a:xfrm>
            <a:off x="4315968"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6291072" y="2156577"/>
            <a:ext cx="606544" cy="160372"/>
          </a:xfrm>
          <a:prstGeom prst="rect">
            <a:avLst/>
          </a:prstGeom>
          <a:solidFill>
            <a:srgbClr val="12A566"/>
          </a:solidFill>
          <a:ln/>
        </p:spPr>
      </p:sp>
      <p:sp>
        <p:nvSpPr>
          <p:cNvPr id="46" name="Text 44"/>
          <p:cNvSpPr txBox="1"/>
          <p:nvPr/>
        </p:nvSpPr>
        <p:spPr>
          <a:xfrm>
            <a:off x="6967728" y="2076391"/>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38.5</a:t>
            </a:r>
            <a:endParaRPr lang="en-US" sz="1300" dirty="0"/>
          </a:p>
        </p:txBody>
      </p:sp>
      <p:sp>
        <p:nvSpPr>
          <p:cNvPr id="47" name="Text 45"/>
          <p:cNvSpPr txBox="1"/>
          <p:nvPr/>
        </p:nvSpPr>
        <p:spPr>
          <a:xfrm>
            <a:off x="4315968"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8" name="Shape 46"/>
          <p:cNvSpPr/>
          <p:nvPr/>
        </p:nvSpPr>
        <p:spPr>
          <a:xfrm>
            <a:off x="6291072" y="2477321"/>
            <a:ext cx="589437" cy="160372"/>
          </a:xfrm>
          <a:prstGeom prst="rect">
            <a:avLst/>
          </a:prstGeom>
          <a:solidFill>
            <a:srgbClr val="12A566"/>
          </a:solidFill>
          <a:ln/>
        </p:spPr>
      </p:sp>
      <p:sp>
        <p:nvSpPr>
          <p:cNvPr id="49" name="Text 47"/>
          <p:cNvSpPr txBox="1"/>
          <p:nvPr/>
        </p:nvSpPr>
        <p:spPr>
          <a:xfrm>
            <a:off x="6967728" y="239713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37.4</a:t>
            </a:r>
            <a:endParaRPr lang="en-US" sz="1300" dirty="0"/>
          </a:p>
        </p:txBody>
      </p:sp>
      <p:sp>
        <p:nvSpPr>
          <p:cNvPr id="50" name="Text 48"/>
          <p:cNvSpPr txBox="1"/>
          <p:nvPr/>
        </p:nvSpPr>
        <p:spPr>
          <a:xfrm>
            <a:off x="4315968"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1" name="Shape 49"/>
          <p:cNvSpPr/>
          <p:nvPr/>
        </p:nvSpPr>
        <p:spPr>
          <a:xfrm>
            <a:off x="6291072" y="2798064"/>
            <a:ext cx="580151" cy="160372"/>
          </a:xfrm>
          <a:prstGeom prst="rect">
            <a:avLst/>
          </a:prstGeom>
          <a:solidFill>
            <a:srgbClr val="12A566"/>
          </a:solidFill>
          <a:ln/>
        </p:spPr>
      </p:sp>
      <p:sp>
        <p:nvSpPr>
          <p:cNvPr id="52" name="Text 50"/>
          <p:cNvSpPr txBox="1"/>
          <p:nvPr/>
        </p:nvSpPr>
        <p:spPr>
          <a:xfrm>
            <a:off x="6967728" y="271787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36.8</a:t>
            </a:r>
            <a:endParaRPr lang="en-US" sz="1300" dirty="0"/>
          </a:p>
        </p:txBody>
      </p:sp>
      <p:sp>
        <p:nvSpPr>
          <p:cNvPr id="53" name="Text 51"/>
          <p:cNvSpPr txBox="1"/>
          <p:nvPr/>
        </p:nvSpPr>
        <p:spPr>
          <a:xfrm>
            <a:off x="4315968"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4" name="Shape 52"/>
          <p:cNvSpPr/>
          <p:nvPr/>
        </p:nvSpPr>
        <p:spPr>
          <a:xfrm>
            <a:off x="6291072" y="3118807"/>
            <a:ext cx="575467" cy="160372"/>
          </a:xfrm>
          <a:prstGeom prst="rect">
            <a:avLst/>
          </a:prstGeom>
          <a:solidFill>
            <a:srgbClr val="12A566"/>
          </a:solidFill>
          <a:ln/>
        </p:spPr>
      </p:sp>
      <p:sp>
        <p:nvSpPr>
          <p:cNvPr id="55" name="Text 53"/>
          <p:cNvSpPr txBox="1"/>
          <p:nvPr/>
        </p:nvSpPr>
        <p:spPr>
          <a:xfrm>
            <a:off x="6967728" y="303862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36.5</a:t>
            </a:r>
            <a:endParaRPr lang="en-US" sz="1300" dirty="0"/>
          </a:p>
        </p:txBody>
      </p:sp>
      <p:sp>
        <p:nvSpPr>
          <p:cNvPr id="56" name="Text 54"/>
          <p:cNvSpPr txBox="1"/>
          <p:nvPr/>
        </p:nvSpPr>
        <p:spPr>
          <a:xfrm>
            <a:off x="4315968"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7" name="Shape 55"/>
          <p:cNvSpPr/>
          <p:nvPr/>
        </p:nvSpPr>
        <p:spPr>
          <a:xfrm>
            <a:off x="6291072" y="3439551"/>
            <a:ext cx="551497" cy="160372"/>
          </a:xfrm>
          <a:prstGeom prst="rect">
            <a:avLst/>
          </a:prstGeom>
          <a:solidFill>
            <a:srgbClr val="12A566"/>
          </a:solidFill>
          <a:ln/>
        </p:spPr>
      </p:sp>
      <p:sp>
        <p:nvSpPr>
          <p:cNvPr id="58" name="Text 56"/>
          <p:cNvSpPr txBox="1"/>
          <p:nvPr/>
        </p:nvSpPr>
        <p:spPr>
          <a:xfrm>
            <a:off x="6967728" y="335936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35.0</a:t>
            </a:r>
            <a:endParaRPr lang="en-US" sz="1300" dirty="0"/>
          </a:p>
        </p:txBody>
      </p:sp>
      <p:sp>
        <p:nvSpPr>
          <p:cNvPr id="59" name="Text 57"/>
          <p:cNvSpPr txBox="1"/>
          <p:nvPr/>
        </p:nvSpPr>
        <p:spPr>
          <a:xfrm>
            <a:off x="4315968"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0" name="Shape 58"/>
          <p:cNvSpPr/>
          <p:nvPr/>
        </p:nvSpPr>
        <p:spPr>
          <a:xfrm>
            <a:off x="6291072" y="3760294"/>
            <a:ext cx="547212" cy="160372"/>
          </a:xfrm>
          <a:prstGeom prst="rect">
            <a:avLst/>
          </a:prstGeom>
          <a:solidFill>
            <a:srgbClr val="12A566"/>
          </a:solidFill>
          <a:ln/>
        </p:spPr>
      </p:sp>
      <p:sp>
        <p:nvSpPr>
          <p:cNvPr id="61" name="Text 59"/>
          <p:cNvSpPr txBox="1"/>
          <p:nvPr/>
        </p:nvSpPr>
        <p:spPr>
          <a:xfrm>
            <a:off x="6967728" y="368010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4315968"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3" name="Shape 61"/>
          <p:cNvSpPr/>
          <p:nvPr/>
        </p:nvSpPr>
        <p:spPr>
          <a:xfrm>
            <a:off x="6291072" y="4081038"/>
            <a:ext cx="511058" cy="160372"/>
          </a:xfrm>
          <a:prstGeom prst="rect">
            <a:avLst/>
          </a:prstGeom>
          <a:solidFill>
            <a:srgbClr val="12A566"/>
          </a:solidFill>
          <a:ln/>
        </p:spPr>
      </p:sp>
      <p:sp>
        <p:nvSpPr>
          <p:cNvPr id="64" name="Text 62"/>
          <p:cNvSpPr txBox="1"/>
          <p:nvPr/>
        </p:nvSpPr>
        <p:spPr>
          <a:xfrm>
            <a:off x="6967728" y="400085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32.4</a:t>
            </a:r>
            <a:endParaRPr lang="en-US" sz="1300" dirty="0"/>
          </a:p>
        </p:txBody>
      </p:sp>
      <p:sp>
        <p:nvSpPr>
          <p:cNvPr id="65" name="Text 63"/>
          <p:cNvSpPr txBox="1"/>
          <p:nvPr/>
        </p:nvSpPr>
        <p:spPr>
          <a:xfrm>
            <a:off x="4315968"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Shape 64"/>
          <p:cNvSpPr/>
          <p:nvPr/>
        </p:nvSpPr>
        <p:spPr>
          <a:xfrm>
            <a:off x="6291072" y="4401781"/>
            <a:ext cx="495037" cy="160372"/>
          </a:xfrm>
          <a:prstGeom prst="rect">
            <a:avLst/>
          </a:prstGeom>
          <a:solidFill>
            <a:srgbClr val="12A566"/>
          </a:solidFill>
          <a:ln/>
        </p:spPr>
      </p:sp>
      <p:sp>
        <p:nvSpPr>
          <p:cNvPr id="67" name="Text 65"/>
          <p:cNvSpPr txBox="1"/>
          <p:nvPr/>
        </p:nvSpPr>
        <p:spPr>
          <a:xfrm>
            <a:off x="6967728" y="432159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31.4</a:t>
            </a:r>
            <a:endParaRPr lang="en-US" sz="1300" dirty="0"/>
          </a:p>
        </p:txBody>
      </p:sp>
      <p:sp>
        <p:nvSpPr>
          <p:cNvPr id="68" name="Text 66"/>
          <p:cNvSpPr txBox="1"/>
          <p:nvPr/>
        </p:nvSpPr>
        <p:spPr>
          <a:xfrm>
            <a:off x="4315968"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9" name="Shape 67"/>
          <p:cNvSpPr/>
          <p:nvPr/>
        </p:nvSpPr>
        <p:spPr>
          <a:xfrm>
            <a:off x="6291072" y="4722524"/>
            <a:ext cx="494875" cy="160372"/>
          </a:xfrm>
          <a:prstGeom prst="rect">
            <a:avLst/>
          </a:prstGeom>
          <a:solidFill>
            <a:srgbClr val="12A566"/>
          </a:solidFill>
          <a:ln/>
        </p:spPr>
      </p:sp>
      <p:sp>
        <p:nvSpPr>
          <p:cNvPr id="70" name="Text 68"/>
          <p:cNvSpPr txBox="1"/>
          <p:nvPr/>
        </p:nvSpPr>
        <p:spPr>
          <a:xfrm>
            <a:off x="6967728" y="464233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31.4</a:t>
            </a:r>
            <a:endParaRPr lang="en-US" sz="1300" dirty="0"/>
          </a:p>
        </p:txBody>
      </p:sp>
      <p:sp>
        <p:nvSpPr>
          <p:cNvPr id="71" name="Text 69"/>
          <p:cNvSpPr txBox="1"/>
          <p:nvPr/>
        </p:nvSpPr>
        <p:spPr>
          <a:xfrm>
            <a:off x="4315968"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2" name="Shape 70"/>
          <p:cNvSpPr/>
          <p:nvPr/>
        </p:nvSpPr>
        <p:spPr>
          <a:xfrm>
            <a:off x="6291072" y="5043268"/>
            <a:ext cx="494676" cy="160372"/>
          </a:xfrm>
          <a:prstGeom prst="rect">
            <a:avLst/>
          </a:prstGeom>
          <a:solidFill>
            <a:srgbClr val="12A566"/>
          </a:solidFill>
          <a:ln/>
        </p:spPr>
      </p:sp>
      <p:sp>
        <p:nvSpPr>
          <p:cNvPr id="73" name="Text 71"/>
          <p:cNvSpPr txBox="1"/>
          <p:nvPr/>
        </p:nvSpPr>
        <p:spPr>
          <a:xfrm>
            <a:off x="6967728" y="496308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31.4</a:t>
            </a:r>
            <a:endParaRPr lang="en-US" sz="1300" dirty="0"/>
          </a:p>
        </p:txBody>
      </p:sp>
      <p:sp>
        <p:nvSpPr>
          <p:cNvPr id="74" name="Text 72"/>
          <p:cNvSpPr txBox="1"/>
          <p:nvPr/>
        </p:nvSpPr>
        <p:spPr>
          <a:xfrm>
            <a:off x="4315968"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75" name="Shape 73"/>
          <p:cNvSpPr/>
          <p:nvPr/>
        </p:nvSpPr>
        <p:spPr>
          <a:xfrm>
            <a:off x="6291072" y="5364011"/>
            <a:ext cx="492545" cy="160372"/>
          </a:xfrm>
          <a:prstGeom prst="rect">
            <a:avLst/>
          </a:prstGeom>
          <a:solidFill>
            <a:srgbClr val="12A566"/>
          </a:solidFill>
          <a:ln/>
        </p:spPr>
      </p:sp>
      <p:sp>
        <p:nvSpPr>
          <p:cNvPr id="76" name="Text 74"/>
          <p:cNvSpPr txBox="1"/>
          <p:nvPr/>
        </p:nvSpPr>
        <p:spPr>
          <a:xfrm>
            <a:off x="6967728" y="528382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31.3</a:t>
            </a:r>
            <a:endParaRPr lang="en-US" sz="1300" dirty="0"/>
          </a:p>
        </p:txBody>
      </p:sp>
      <p:sp>
        <p:nvSpPr>
          <p:cNvPr id="77" name="Text 75"/>
          <p:cNvSpPr txBox="1"/>
          <p:nvPr/>
        </p:nvSpPr>
        <p:spPr>
          <a:xfrm>
            <a:off x="4315968" y="5604569"/>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6291072" y="5684754"/>
            <a:ext cx="490000" cy="160372"/>
          </a:xfrm>
          <a:prstGeom prst="rect">
            <a:avLst/>
          </a:prstGeom>
          <a:solidFill>
            <a:srgbClr val="12A566"/>
          </a:solidFill>
          <a:ln/>
        </p:spPr>
      </p:sp>
      <p:sp>
        <p:nvSpPr>
          <p:cNvPr id="79" name="Text 77"/>
          <p:cNvSpPr txBox="1"/>
          <p:nvPr/>
        </p:nvSpPr>
        <p:spPr>
          <a:xfrm>
            <a:off x="6967728" y="5604569"/>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31.1</a:t>
            </a:r>
            <a:endParaRPr lang="en-US" sz="1300" dirty="0"/>
          </a:p>
        </p:txBody>
      </p:sp>
      <p:sp>
        <p:nvSpPr>
          <p:cNvPr id="80" name="Text 78"/>
          <p:cNvSpPr txBox="1"/>
          <p:nvPr/>
        </p:nvSpPr>
        <p:spPr>
          <a:xfrm>
            <a:off x="7918704"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1" name="Shape 79"/>
          <p:cNvSpPr/>
          <p:nvPr/>
        </p:nvSpPr>
        <p:spPr>
          <a:xfrm>
            <a:off x="9893808" y="1835834"/>
            <a:ext cx="481392" cy="160372"/>
          </a:xfrm>
          <a:prstGeom prst="rect">
            <a:avLst/>
          </a:prstGeom>
          <a:solidFill>
            <a:srgbClr val="12A566"/>
          </a:solidFill>
          <a:ln/>
        </p:spPr>
      </p:sp>
      <p:sp>
        <p:nvSpPr>
          <p:cNvPr id="82" name="Text 80"/>
          <p:cNvSpPr txBox="1"/>
          <p:nvPr/>
        </p:nvSpPr>
        <p:spPr>
          <a:xfrm>
            <a:off x="10570464" y="175564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30.6</a:t>
            </a:r>
            <a:endParaRPr lang="en-US" sz="1300" dirty="0"/>
          </a:p>
        </p:txBody>
      </p:sp>
      <p:sp>
        <p:nvSpPr>
          <p:cNvPr id="83" name="Shape 81"/>
          <p:cNvSpPr/>
          <p:nvPr/>
        </p:nvSpPr>
        <p:spPr>
          <a:xfrm>
            <a:off x="7863840" y="2076391"/>
            <a:ext cx="3529584" cy="311599"/>
          </a:xfrm>
          <a:prstGeom prst="rect">
            <a:avLst/>
          </a:prstGeom>
          <a:solidFill>
            <a:srgbClr val="EDF4FA"/>
          </a:solidFill>
          <a:ln/>
        </p:spPr>
      </p:sp>
      <p:sp>
        <p:nvSpPr>
          <p:cNvPr id="84" name="Text 82"/>
          <p:cNvSpPr txBox="1"/>
          <p:nvPr/>
        </p:nvSpPr>
        <p:spPr>
          <a:xfrm>
            <a:off x="7918704" y="2076391"/>
            <a:ext cx="192024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NON-LUXURY</a:t>
            </a:r>
            <a:endParaRPr lang="en-US" sz="1300" dirty="0"/>
          </a:p>
        </p:txBody>
      </p:sp>
      <p:sp>
        <p:nvSpPr>
          <p:cNvPr id="85" name="Shape 83"/>
          <p:cNvSpPr/>
          <p:nvPr/>
        </p:nvSpPr>
        <p:spPr>
          <a:xfrm>
            <a:off x="9893808" y="2156577"/>
            <a:ext cx="460833" cy="160372"/>
          </a:xfrm>
          <a:prstGeom prst="rect">
            <a:avLst/>
          </a:prstGeom>
          <a:solidFill>
            <a:srgbClr val="0B2C4A"/>
          </a:solidFill>
          <a:ln/>
        </p:spPr>
      </p:sp>
      <p:sp>
        <p:nvSpPr>
          <p:cNvPr id="86" name="Text 84"/>
          <p:cNvSpPr txBox="1"/>
          <p:nvPr/>
        </p:nvSpPr>
        <p:spPr>
          <a:xfrm>
            <a:off x="10570464" y="2076391"/>
            <a:ext cx="786384"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29.3</a:t>
            </a:r>
            <a:endParaRPr lang="en-US" sz="1300" dirty="0"/>
          </a:p>
        </p:txBody>
      </p:sp>
      <p:sp>
        <p:nvSpPr>
          <p:cNvPr id="87" name="Text 85"/>
          <p:cNvSpPr txBox="1"/>
          <p:nvPr/>
        </p:nvSpPr>
        <p:spPr>
          <a:xfrm>
            <a:off x="7918704"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8" name="Shape 86"/>
          <p:cNvSpPr/>
          <p:nvPr/>
        </p:nvSpPr>
        <p:spPr>
          <a:xfrm>
            <a:off x="9893808" y="2477321"/>
            <a:ext cx="454080" cy="160372"/>
          </a:xfrm>
          <a:prstGeom prst="rect">
            <a:avLst/>
          </a:prstGeom>
          <a:solidFill>
            <a:srgbClr val="C2352F"/>
          </a:solidFill>
          <a:ln/>
        </p:spPr>
      </p:sp>
      <p:sp>
        <p:nvSpPr>
          <p:cNvPr id="89" name="Text 87"/>
          <p:cNvSpPr txBox="1"/>
          <p:nvPr/>
        </p:nvSpPr>
        <p:spPr>
          <a:xfrm>
            <a:off x="10570464" y="239713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28.8</a:t>
            </a:r>
            <a:endParaRPr lang="en-US" sz="1300" dirty="0"/>
          </a:p>
        </p:txBody>
      </p:sp>
      <p:sp>
        <p:nvSpPr>
          <p:cNvPr id="90" name="Text 88"/>
          <p:cNvSpPr txBox="1"/>
          <p:nvPr/>
        </p:nvSpPr>
        <p:spPr>
          <a:xfrm>
            <a:off x="7918704"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1" name="Shape 89"/>
          <p:cNvSpPr/>
          <p:nvPr/>
        </p:nvSpPr>
        <p:spPr>
          <a:xfrm>
            <a:off x="9893808" y="2798064"/>
            <a:ext cx="444605" cy="160372"/>
          </a:xfrm>
          <a:prstGeom prst="rect">
            <a:avLst/>
          </a:prstGeom>
          <a:solidFill>
            <a:srgbClr val="C2352F"/>
          </a:solidFill>
          <a:ln/>
        </p:spPr>
      </p:sp>
      <p:sp>
        <p:nvSpPr>
          <p:cNvPr id="92" name="Text 90"/>
          <p:cNvSpPr txBox="1"/>
          <p:nvPr/>
        </p:nvSpPr>
        <p:spPr>
          <a:xfrm>
            <a:off x="10570464" y="271787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28.2</a:t>
            </a:r>
            <a:endParaRPr lang="en-US" sz="1300" dirty="0"/>
          </a:p>
        </p:txBody>
      </p:sp>
      <p:sp>
        <p:nvSpPr>
          <p:cNvPr id="93" name="Text 91"/>
          <p:cNvSpPr txBox="1"/>
          <p:nvPr/>
        </p:nvSpPr>
        <p:spPr>
          <a:xfrm>
            <a:off x="7918704"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4" name="Shape 92"/>
          <p:cNvSpPr/>
          <p:nvPr/>
        </p:nvSpPr>
        <p:spPr>
          <a:xfrm>
            <a:off x="9893808" y="3118807"/>
            <a:ext cx="401239" cy="160372"/>
          </a:xfrm>
          <a:prstGeom prst="rect">
            <a:avLst/>
          </a:prstGeom>
          <a:solidFill>
            <a:srgbClr val="C2352F"/>
          </a:solidFill>
          <a:ln/>
        </p:spPr>
      </p:sp>
      <p:sp>
        <p:nvSpPr>
          <p:cNvPr id="95" name="Text 93"/>
          <p:cNvSpPr txBox="1"/>
          <p:nvPr/>
        </p:nvSpPr>
        <p:spPr>
          <a:xfrm>
            <a:off x="10570464" y="303862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25.5</a:t>
            </a:r>
            <a:endParaRPr lang="en-US" sz="1300" dirty="0"/>
          </a:p>
        </p:txBody>
      </p:sp>
      <p:sp>
        <p:nvSpPr>
          <p:cNvPr id="96" name="Text 94"/>
          <p:cNvSpPr txBox="1"/>
          <p:nvPr/>
        </p:nvSpPr>
        <p:spPr>
          <a:xfrm>
            <a:off x="7918704"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7" name="Shape 95"/>
          <p:cNvSpPr/>
          <p:nvPr/>
        </p:nvSpPr>
        <p:spPr>
          <a:xfrm>
            <a:off x="9893808" y="3439551"/>
            <a:ext cx="372474" cy="160372"/>
          </a:xfrm>
          <a:prstGeom prst="rect">
            <a:avLst/>
          </a:prstGeom>
          <a:solidFill>
            <a:srgbClr val="C2352F"/>
          </a:solidFill>
          <a:ln/>
        </p:spPr>
      </p:sp>
      <p:sp>
        <p:nvSpPr>
          <p:cNvPr id="98" name="Text 96"/>
          <p:cNvSpPr txBox="1"/>
          <p:nvPr/>
        </p:nvSpPr>
        <p:spPr>
          <a:xfrm>
            <a:off x="10570464" y="335936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23.6</a:t>
            </a:r>
            <a:endParaRPr lang="en-US" sz="1300" dirty="0"/>
          </a:p>
        </p:txBody>
      </p:sp>
      <p:sp>
        <p:nvSpPr>
          <p:cNvPr id="99" name="Text 97"/>
          <p:cNvSpPr txBox="1"/>
          <p:nvPr/>
        </p:nvSpPr>
        <p:spPr>
          <a:xfrm>
            <a:off x="7918704"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0" name="Shape 98"/>
          <p:cNvSpPr/>
          <p:nvPr/>
        </p:nvSpPr>
        <p:spPr>
          <a:xfrm>
            <a:off x="9893808" y="3760294"/>
            <a:ext cx="356634" cy="160372"/>
          </a:xfrm>
          <a:prstGeom prst="rect">
            <a:avLst/>
          </a:prstGeom>
          <a:solidFill>
            <a:srgbClr val="C2352F"/>
          </a:solidFill>
          <a:ln/>
        </p:spPr>
      </p:sp>
      <p:sp>
        <p:nvSpPr>
          <p:cNvPr id="101" name="Text 99"/>
          <p:cNvSpPr txBox="1"/>
          <p:nvPr/>
        </p:nvSpPr>
        <p:spPr>
          <a:xfrm>
            <a:off x="10570464" y="368010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22.6</a:t>
            </a:r>
            <a:endParaRPr lang="en-US" sz="1300" dirty="0"/>
          </a:p>
        </p:txBody>
      </p:sp>
      <p:sp>
        <p:nvSpPr>
          <p:cNvPr id="102" name="Text 100"/>
          <p:cNvSpPr txBox="1"/>
          <p:nvPr/>
        </p:nvSpPr>
        <p:spPr>
          <a:xfrm>
            <a:off x="7918704"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3" name="Shape 101"/>
          <p:cNvSpPr/>
          <p:nvPr/>
        </p:nvSpPr>
        <p:spPr>
          <a:xfrm>
            <a:off x="9893808" y="4081038"/>
            <a:ext cx="348422" cy="160372"/>
          </a:xfrm>
          <a:prstGeom prst="rect">
            <a:avLst/>
          </a:prstGeom>
          <a:solidFill>
            <a:srgbClr val="C2352F"/>
          </a:solidFill>
          <a:ln/>
        </p:spPr>
      </p:sp>
      <p:sp>
        <p:nvSpPr>
          <p:cNvPr id="104" name="Text 102"/>
          <p:cNvSpPr txBox="1"/>
          <p:nvPr/>
        </p:nvSpPr>
        <p:spPr>
          <a:xfrm>
            <a:off x="10570464" y="400085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22.1</a:t>
            </a:r>
            <a:endParaRPr lang="en-US" sz="1300" dirty="0"/>
          </a:p>
        </p:txBody>
      </p:sp>
      <p:sp>
        <p:nvSpPr>
          <p:cNvPr id="105" name="Text 103"/>
          <p:cNvSpPr txBox="1"/>
          <p:nvPr/>
        </p:nvSpPr>
        <p:spPr>
          <a:xfrm>
            <a:off x="7918704"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6" name="Shape 104"/>
          <p:cNvSpPr/>
          <p:nvPr/>
        </p:nvSpPr>
        <p:spPr>
          <a:xfrm>
            <a:off x="9893808" y="4401781"/>
            <a:ext cx="329527" cy="160372"/>
          </a:xfrm>
          <a:prstGeom prst="rect">
            <a:avLst/>
          </a:prstGeom>
          <a:solidFill>
            <a:srgbClr val="C2352F"/>
          </a:solidFill>
          <a:ln/>
        </p:spPr>
      </p:sp>
      <p:sp>
        <p:nvSpPr>
          <p:cNvPr id="107" name="Text 105"/>
          <p:cNvSpPr txBox="1"/>
          <p:nvPr/>
        </p:nvSpPr>
        <p:spPr>
          <a:xfrm>
            <a:off x="10570464" y="432159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20.9</a:t>
            </a:r>
            <a:endParaRPr lang="en-US" sz="1300" dirty="0"/>
          </a:p>
        </p:txBody>
      </p:sp>
      <p:sp>
        <p:nvSpPr>
          <p:cNvPr id="108" name="Text 106"/>
          <p:cNvSpPr txBox="1"/>
          <p:nvPr/>
        </p:nvSpPr>
        <p:spPr>
          <a:xfrm>
            <a:off x="7918704"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09" name="Shape 107"/>
          <p:cNvSpPr/>
          <p:nvPr/>
        </p:nvSpPr>
        <p:spPr>
          <a:xfrm>
            <a:off x="9893808" y="4722524"/>
            <a:ext cx="320181" cy="160372"/>
          </a:xfrm>
          <a:prstGeom prst="rect">
            <a:avLst/>
          </a:prstGeom>
          <a:solidFill>
            <a:srgbClr val="C2352F"/>
          </a:solidFill>
          <a:ln/>
        </p:spPr>
      </p:sp>
      <p:sp>
        <p:nvSpPr>
          <p:cNvPr id="110" name="Text 108"/>
          <p:cNvSpPr txBox="1"/>
          <p:nvPr/>
        </p:nvSpPr>
        <p:spPr>
          <a:xfrm>
            <a:off x="10570464" y="464233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20.3</a:t>
            </a:r>
            <a:endParaRPr lang="en-US" sz="1300" dirty="0"/>
          </a:p>
        </p:txBody>
      </p:sp>
      <p:sp>
        <p:nvSpPr>
          <p:cNvPr id="111" name="Text 109"/>
          <p:cNvSpPr txBox="1"/>
          <p:nvPr/>
        </p:nvSpPr>
        <p:spPr>
          <a:xfrm>
            <a:off x="7918704"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2" name="Shape 110"/>
          <p:cNvSpPr/>
          <p:nvPr/>
        </p:nvSpPr>
        <p:spPr>
          <a:xfrm>
            <a:off x="9893808" y="5043268"/>
            <a:ext cx="302237" cy="160372"/>
          </a:xfrm>
          <a:prstGeom prst="rect">
            <a:avLst/>
          </a:prstGeom>
          <a:solidFill>
            <a:srgbClr val="C2352F"/>
          </a:solidFill>
          <a:ln/>
        </p:spPr>
      </p:sp>
      <p:sp>
        <p:nvSpPr>
          <p:cNvPr id="113" name="Text 111"/>
          <p:cNvSpPr txBox="1"/>
          <p:nvPr/>
        </p:nvSpPr>
        <p:spPr>
          <a:xfrm>
            <a:off x="10570464" y="496308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19.2</a:t>
            </a:r>
            <a:endParaRPr lang="en-US" sz="1300" dirty="0"/>
          </a:p>
        </p:txBody>
      </p:sp>
      <p:sp>
        <p:nvSpPr>
          <p:cNvPr id="114" name="Text 112"/>
          <p:cNvSpPr txBox="1"/>
          <p:nvPr/>
        </p:nvSpPr>
        <p:spPr>
          <a:xfrm>
            <a:off x="7918704"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5" name="Shape 113"/>
          <p:cNvSpPr/>
          <p:nvPr/>
        </p:nvSpPr>
        <p:spPr>
          <a:xfrm>
            <a:off x="9893808" y="5364011"/>
            <a:ext cx="273210" cy="160372"/>
          </a:xfrm>
          <a:prstGeom prst="rect">
            <a:avLst/>
          </a:prstGeom>
          <a:solidFill>
            <a:srgbClr val="C2352F"/>
          </a:solidFill>
          <a:ln/>
        </p:spPr>
      </p:sp>
      <p:sp>
        <p:nvSpPr>
          <p:cNvPr id="116" name="Text 114"/>
          <p:cNvSpPr txBox="1"/>
          <p:nvPr/>
        </p:nvSpPr>
        <p:spPr>
          <a:xfrm>
            <a:off x="10570464" y="528382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17.3</a:t>
            </a:r>
            <a:endParaRPr lang="en-US" sz="1300" dirty="0"/>
          </a:p>
        </p:txBody>
      </p:sp>
      <p:sp>
        <p:nvSpPr>
          <p:cNvPr id="117" name="Shape 115"/>
          <p:cNvSpPr/>
          <p:nvPr/>
        </p:nvSpPr>
        <p:spPr>
          <a:xfrm>
            <a:off x="457200" y="6126480"/>
            <a:ext cx="11274552" cy="615696"/>
          </a:xfrm>
          <a:prstGeom prst="rect">
            <a:avLst/>
          </a:prstGeom>
          <a:solidFill>
            <a:srgbClr val="EDF4F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338328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LUXURY · 9 STORES</a:t>
            </a:r>
            <a:endParaRPr lang="en-US" sz="1400" dirty="0"/>
          </a:p>
        </p:txBody>
      </p:sp>
      <p:sp>
        <p:nvSpPr>
          <p:cNvPr id="7" name="Text 5"/>
          <p:cNvSpPr txBox="1"/>
          <p:nvPr/>
        </p:nvSpPr>
        <p:spPr>
          <a:xfrm>
            <a:off x="658368" y="175564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 name="Shape 6"/>
          <p:cNvSpPr/>
          <p:nvPr/>
        </p:nvSpPr>
        <p:spPr>
          <a:xfrm>
            <a:off x="2267712" y="1835834"/>
            <a:ext cx="1030941" cy="160372"/>
          </a:xfrm>
          <a:prstGeom prst="rect">
            <a:avLst/>
          </a:prstGeom>
          <a:solidFill>
            <a:srgbClr val="12A566"/>
          </a:solidFill>
          <a:ln/>
        </p:spPr>
      </p:sp>
      <p:sp>
        <p:nvSpPr>
          <p:cNvPr id="9" name="Text 7"/>
          <p:cNvSpPr txBox="1"/>
          <p:nvPr/>
        </p:nvSpPr>
        <p:spPr>
          <a:xfrm>
            <a:off x="3355848" y="175564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491</a:t>
            </a:r>
            <a:endParaRPr lang="en-US" sz="1300" dirty="0"/>
          </a:p>
        </p:txBody>
      </p:sp>
      <p:sp>
        <p:nvSpPr>
          <p:cNvPr id="10" name="Text 8"/>
          <p:cNvSpPr txBox="1"/>
          <p:nvPr/>
        </p:nvSpPr>
        <p:spPr>
          <a:xfrm>
            <a:off x="658368" y="2076391"/>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1" name="Shape 9"/>
          <p:cNvSpPr/>
          <p:nvPr/>
        </p:nvSpPr>
        <p:spPr>
          <a:xfrm>
            <a:off x="2267712" y="2156577"/>
            <a:ext cx="769813" cy="160372"/>
          </a:xfrm>
          <a:prstGeom prst="rect">
            <a:avLst/>
          </a:prstGeom>
          <a:solidFill>
            <a:srgbClr val="12A566"/>
          </a:solidFill>
          <a:ln/>
        </p:spPr>
      </p:sp>
      <p:sp>
        <p:nvSpPr>
          <p:cNvPr id="12" name="Text 10"/>
          <p:cNvSpPr txBox="1"/>
          <p:nvPr/>
        </p:nvSpPr>
        <p:spPr>
          <a:xfrm>
            <a:off x="3355848" y="2076391"/>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367</a:t>
            </a:r>
            <a:endParaRPr lang="en-US" sz="1300" dirty="0"/>
          </a:p>
        </p:txBody>
      </p:sp>
      <p:sp>
        <p:nvSpPr>
          <p:cNvPr id="13" name="Text 11"/>
          <p:cNvSpPr txBox="1"/>
          <p:nvPr/>
        </p:nvSpPr>
        <p:spPr>
          <a:xfrm>
            <a:off x="658368" y="239713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4" name="Shape 12"/>
          <p:cNvSpPr/>
          <p:nvPr/>
        </p:nvSpPr>
        <p:spPr>
          <a:xfrm>
            <a:off x="2267712" y="2477321"/>
            <a:ext cx="698921" cy="160372"/>
          </a:xfrm>
          <a:prstGeom prst="rect">
            <a:avLst/>
          </a:prstGeom>
          <a:solidFill>
            <a:srgbClr val="12A566"/>
          </a:solidFill>
          <a:ln/>
        </p:spPr>
      </p:sp>
      <p:sp>
        <p:nvSpPr>
          <p:cNvPr id="15" name="Text 13"/>
          <p:cNvSpPr txBox="1"/>
          <p:nvPr/>
        </p:nvSpPr>
        <p:spPr>
          <a:xfrm>
            <a:off x="3355848" y="2397135"/>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333</a:t>
            </a:r>
            <a:endParaRPr lang="en-US" sz="1300" dirty="0"/>
          </a:p>
        </p:txBody>
      </p:sp>
      <p:sp>
        <p:nvSpPr>
          <p:cNvPr id="16" name="Text 14"/>
          <p:cNvSpPr txBox="1"/>
          <p:nvPr/>
        </p:nvSpPr>
        <p:spPr>
          <a:xfrm>
            <a:off x="658368" y="271787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 name="Shape 15"/>
          <p:cNvSpPr/>
          <p:nvPr/>
        </p:nvSpPr>
        <p:spPr>
          <a:xfrm>
            <a:off x="2267712" y="2798064"/>
            <a:ext cx="612008" cy="160372"/>
          </a:xfrm>
          <a:prstGeom prst="rect">
            <a:avLst/>
          </a:prstGeom>
          <a:solidFill>
            <a:srgbClr val="12A566"/>
          </a:solidFill>
          <a:ln/>
        </p:spPr>
      </p:sp>
      <p:sp>
        <p:nvSpPr>
          <p:cNvPr id="18" name="Text 16"/>
          <p:cNvSpPr txBox="1"/>
          <p:nvPr/>
        </p:nvSpPr>
        <p:spPr>
          <a:xfrm>
            <a:off x="3355848" y="271787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291</a:t>
            </a:r>
            <a:endParaRPr lang="en-US" sz="1300" dirty="0"/>
          </a:p>
        </p:txBody>
      </p:sp>
      <p:sp>
        <p:nvSpPr>
          <p:cNvPr id="19" name="Text 17"/>
          <p:cNvSpPr txBox="1"/>
          <p:nvPr/>
        </p:nvSpPr>
        <p:spPr>
          <a:xfrm>
            <a:off x="658368" y="303862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 name="Shape 18"/>
          <p:cNvSpPr/>
          <p:nvPr/>
        </p:nvSpPr>
        <p:spPr>
          <a:xfrm>
            <a:off x="2267712" y="3118807"/>
            <a:ext cx="603842" cy="160372"/>
          </a:xfrm>
          <a:prstGeom prst="rect">
            <a:avLst/>
          </a:prstGeom>
          <a:solidFill>
            <a:srgbClr val="12A566"/>
          </a:solidFill>
          <a:ln/>
        </p:spPr>
      </p:sp>
      <p:sp>
        <p:nvSpPr>
          <p:cNvPr id="21" name="Text 19"/>
          <p:cNvSpPr txBox="1"/>
          <p:nvPr/>
        </p:nvSpPr>
        <p:spPr>
          <a:xfrm>
            <a:off x="3355848" y="3038622"/>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288</a:t>
            </a:r>
            <a:endParaRPr lang="en-US" sz="1300" dirty="0"/>
          </a:p>
        </p:txBody>
      </p:sp>
      <p:sp>
        <p:nvSpPr>
          <p:cNvPr id="22" name="Shape 20"/>
          <p:cNvSpPr/>
          <p:nvPr/>
        </p:nvSpPr>
        <p:spPr>
          <a:xfrm>
            <a:off x="603504" y="3359365"/>
            <a:ext cx="3566160" cy="311599"/>
          </a:xfrm>
          <a:prstGeom prst="rect">
            <a:avLst/>
          </a:prstGeom>
          <a:solidFill>
            <a:srgbClr val="EDF4FA"/>
          </a:solidFill>
          <a:ln/>
        </p:spPr>
      </p:sp>
      <p:sp>
        <p:nvSpPr>
          <p:cNvPr id="23" name="Text 21"/>
          <p:cNvSpPr txBox="1"/>
          <p:nvPr/>
        </p:nvSpPr>
        <p:spPr>
          <a:xfrm>
            <a:off x="658368" y="3359365"/>
            <a:ext cx="155448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LUXURY</a:t>
            </a:r>
            <a:endParaRPr lang="en-US" sz="1300" dirty="0"/>
          </a:p>
        </p:txBody>
      </p:sp>
      <p:sp>
        <p:nvSpPr>
          <p:cNvPr id="24" name="Shape 22"/>
          <p:cNvSpPr/>
          <p:nvPr/>
        </p:nvSpPr>
        <p:spPr>
          <a:xfrm>
            <a:off x="2267712" y="3439551"/>
            <a:ext cx="578725" cy="160372"/>
          </a:xfrm>
          <a:prstGeom prst="rect">
            <a:avLst/>
          </a:prstGeom>
          <a:solidFill>
            <a:srgbClr val="0B2C4A"/>
          </a:solidFill>
          <a:ln/>
        </p:spPr>
      </p:sp>
      <p:sp>
        <p:nvSpPr>
          <p:cNvPr id="25" name="Text 23"/>
          <p:cNvSpPr txBox="1"/>
          <p:nvPr/>
        </p:nvSpPr>
        <p:spPr>
          <a:xfrm>
            <a:off x="3355848" y="3359365"/>
            <a:ext cx="777240"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a:t>
            </a:r>
            <a:endParaRPr lang="en-US" sz="1300" dirty="0"/>
          </a:p>
        </p:txBody>
      </p:sp>
      <p:sp>
        <p:nvSpPr>
          <p:cNvPr id="26" name="Text 24"/>
          <p:cNvSpPr txBox="1"/>
          <p:nvPr/>
        </p:nvSpPr>
        <p:spPr>
          <a:xfrm>
            <a:off x="658368" y="368010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7" name="Shape 25"/>
          <p:cNvSpPr/>
          <p:nvPr/>
        </p:nvSpPr>
        <p:spPr>
          <a:xfrm>
            <a:off x="2267712" y="3760294"/>
            <a:ext cx="528813" cy="160372"/>
          </a:xfrm>
          <a:prstGeom prst="rect">
            <a:avLst/>
          </a:prstGeom>
          <a:solidFill>
            <a:srgbClr val="C2352F"/>
          </a:solidFill>
          <a:ln/>
        </p:spPr>
      </p:sp>
      <p:sp>
        <p:nvSpPr>
          <p:cNvPr id="28" name="Text 26"/>
          <p:cNvSpPr txBox="1"/>
          <p:nvPr/>
        </p:nvSpPr>
        <p:spPr>
          <a:xfrm>
            <a:off x="3355848" y="368010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252</a:t>
            </a:r>
            <a:endParaRPr lang="en-US" sz="1300" dirty="0"/>
          </a:p>
        </p:txBody>
      </p:sp>
      <p:sp>
        <p:nvSpPr>
          <p:cNvPr id="29" name="Text 27"/>
          <p:cNvSpPr txBox="1"/>
          <p:nvPr/>
        </p:nvSpPr>
        <p:spPr>
          <a:xfrm>
            <a:off x="658368" y="400085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30" name="Shape 28"/>
          <p:cNvSpPr/>
          <p:nvPr/>
        </p:nvSpPr>
        <p:spPr>
          <a:xfrm>
            <a:off x="2267712" y="4081038"/>
            <a:ext cx="416716" cy="160372"/>
          </a:xfrm>
          <a:prstGeom prst="rect">
            <a:avLst/>
          </a:prstGeom>
          <a:solidFill>
            <a:srgbClr val="C2352F"/>
          </a:solidFill>
          <a:ln/>
        </p:spPr>
      </p:sp>
      <p:sp>
        <p:nvSpPr>
          <p:cNvPr id="31" name="Text 29"/>
          <p:cNvSpPr txBox="1"/>
          <p:nvPr/>
        </p:nvSpPr>
        <p:spPr>
          <a:xfrm>
            <a:off x="3355848" y="4000852"/>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198</a:t>
            </a:r>
            <a:endParaRPr lang="en-US" sz="1300" dirty="0"/>
          </a:p>
        </p:txBody>
      </p:sp>
      <p:sp>
        <p:nvSpPr>
          <p:cNvPr id="32" name="Text 30"/>
          <p:cNvSpPr txBox="1"/>
          <p:nvPr/>
        </p:nvSpPr>
        <p:spPr>
          <a:xfrm>
            <a:off x="658368" y="432159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3" name="Shape 31"/>
          <p:cNvSpPr/>
          <p:nvPr/>
        </p:nvSpPr>
        <p:spPr>
          <a:xfrm>
            <a:off x="2267712" y="4401781"/>
            <a:ext cx="297721" cy="160372"/>
          </a:xfrm>
          <a:prstGeom prst="rect">
            <a:avLst/>
          </a:prstGeom>
          <a:solidFill>
            <a:srgbClr val="C2352F"/>
          </a:solidFill>
          <a:ln/>
        </p:spPr>
      </p:sp>
      <p:sp>
        <p:nvSpPr>
          <p:cNvPr id="34" name="Text 32"/>
          <p:cNvSpPr txBox="1"/>
          <p:nvPr/>
        </p:nvSpPr>
        <p:spPr>
          <a:xfrm>
            <a:off x="3355848" y="4321595"/>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142</a:t>
            </a:r>
            <a:endParaRPr lang="en-US" sz="1300" dirty="0"/>
          </a:p>
        </p:txBody>
      </p:sp>
      <p:sp>
        <p:nvSpPr>
          <p:cNvPr id="35" name="Text 33"/>
          <p:cNvSpPr txBox="1"/>
          <p:nvPr/>
        </p:nvSpPr>
        <p:spPr>
          <a:xfrm>
            <a:off x="658368" y="464233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36" name="Shape 34"/>
          <p:cNvSpPr/>
          <p:nvPr/>
        </p:nvSpPr>
        <p:spPr>
          <a:xfrm>
            <a:off x="2267712" y="4722524"/>
            <a:ext cx="249073" cy="160372"/>
          </a:xfrm>
          <a:prstGeom prst="rect">
            <a:avLst/>
          </a:prstGeom>
          <a:solidFill>
            <a:srgbClr val="C2352F"/>
          </a:solidFill>
          <a:ln/>
        </p:spPr>
      </p:sp>
      <p:sp>
        <p:nvSpPr>
          <p:cNvPr id="37" name="Text 35"/>
          <p:cNvSpPr txBox="1"/>
          <p:nvPr/>
        </p:nvSpPr>
        <p:spPr>
          <a:xfrm>
            <a:off x="3355848" y="464233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119</a:t>
            </a:r>
            <a:endParaRPr lang="en-US" sz="1300" dirty="0"/>
          </a:p>
        </p:txBody>
      </p:sp>
      <p:sp>
        <p:nvSpPr>
          <p:cNvPr id="38" name="Text 36"/>
          <p:cNvSpPr txBox="1"/>
          <p:nvPr/>
        </p:nvSpPr>
        <p:spPr>
          <a:xfrm>
            <a:off x="658368" y="5091098"/>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LUXURY AVG  </a:t>
            </a:r>
            <a:pPr indent="0" marL="0">
              <a:buNone/>
            </a:pPr>
            <a:r>
              <a:rPr lang="en-US" sz="1800" b="1" dirty="0">
                <a:solidFill>
                  <a:srgbClr val="0B2C4A"/>
                </a:solidFill>
                <a:latin typeface="Inter" pitchFamily="34" charset="0"/>
                <a:ea typeface="Inter" pitchFamily="34" charset="-122"/>
                <a:cs typeface="Inter" pitchFamily="34" charset="-120"/>
              </a:rPr>
              <a:t>276  </a:t>
            </a:r>
            <a:pPr indent="0" marL="0">
              <a:buNone/>
            </a:pPr>
            <a:r>
              <a:rPr lang="en-US" sz="1400" b="1" dirty="0">
                <a:solidFill>
                  <a:srgbClr val="0B7A4A"/>
                </a:solidFill>
                <a:latin typeface="Inter" pitchFamily="34" charset="0"/>
                <a:ea typeface="Inter" pitchFamily="34" charset="-122"/>
                <a:cs typeface="Inter" pitchFamily="34" charset="-120"/>
              </a:rPr>
              <a:t>(+3)</a:t>
            </a:r>
            <a:endParaRPr lang="en-US" sz="1400" dirty="0"/>
          </a:p>
        </p:txBody>
      </p:sp>
      <p:sp>
        <p:nvSpPr>
          <p:cNvPr id="39" name="Text 37"/>
          <p:cNvSpPr txBox="1"/>
          <p:nvPr/>
        </p:nvSpPr>
        <p:spPr>
          <a:xfrm>
            <a:off x="658368" y="5475146"/>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NON-LUXURY AVG  </a:t>
            </a:r>
            <a:pPr indent="0" marL="0">
              <a:buNone/>
            </a:pPr>
            <a:r>
              <a:rPr lang="en-US" sz="1800" b="1" dirty="0">
                <a:solidFill>
                  <a:srgbClr val="0B2C4A"/>
                </a:solidFill>
                <a:latin typeface="Inter" pitchFamily="34" charset="0"/>
                <a:ea typeface="Inter" pitchFamily="34" charset="-122"/>
                <a:cs typeface="Inter" pitchFamily="34" charset="-120"/>
              </a:rPr>
              <a:t>418  </a:t>
            </a:r>
            <a:pPr indent="0" marL="0">
              <a:buNone/>
            </a:pPr>
            <a:r>
              <a:rPr lang="en-US" sz="1400" b="1" dirty="0">
                <a:solidFill>
                  <a:srgbClr val="0B7A4A"/>
                </a:solidFill>
                <a:latin typeface="Inter" pitchFamily="34" charset="0"/>
                <a:ea typeface="Inter" pitchFamily="34" charset="-122"/>
                <a:cs typeface="Inter" pitchFamily="34" charset="-120"/>
              </a:rPr>
              <a:t>(+17)</a:t>
            </a:r>
            <a:endParaRPr lang="en-US" sz="1400" dirty="0"/>
          </a:p>
        </p:txBody>
      </p:sp>
      <p:sp>
        <p:nvSpPr>
          <p:cNvPr id="40" name="Text 38"/>
          <p:cNvSpPr txBox="1"/>
          <p:nvPr/>
        </p:nvSpPr>
        <p:spPr>
          <a:xfrm>
            <a:off x="4315968" y="1316736"/>
            <a:ext cx="713232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NON-LUXURY · 24 STORES</a:t>
            </a:r>
            <a:endParaRPr lang="en-US" sz="1400" dirty="0"/>
          </a:p>
        </p:txBody>
      </p:sp>
      <p:sp>
        <p:nvSpPr>
          <p:cNvPr id="41" name="Text 39"/>
          <p:cNvSpPr txBox="1"/>
          <p:nvPr/>
        </p:nvSpPr>
        <p:spPr>
          <a:xfrm>
            <a:off x="4315968"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2" name="Shape 40"/>
          <p:cNvSpPr/>
          <p:nvPr/>
        </p:nvSpPr>
        <p:spPr>
          <a:xfrm>
            <a:off x="6291072" y="1835834"/>
            <a:ext cx="627529" cy="160372"/>
          </a:xfrm>
          <a:prstGeom prst="rect">
            <a:avLst/>
          </a:prstGeom>
          <a:solidFill>
            <a:srgbClr val="12A566"/>
          </a:solidFill>
          <a:ln/>
        </p:spPr>
      </p:sp>
      <p:sp>
        <p:nvSpPr>
          <p:cNvPr id="43" name="Text 41"/>
          <p:cNvSpPr txBox="1"/>
          <p:nvPr/>
        </p:nvSpPr>
        <p:spPr>
          <a:xfrm>
            <a:off x="6967728" y="175564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1,022</a:t>
            </a:r>
            <a:endParaRPr lang="en-US" sz="1300" dirty="0"/>
          </a:p>
        </p:txBody>
      </p:sp>
      <p:sp>
        <p:nvSpPr>
          <p:cNvPr id="44" name="Text 42"/>
          <p:cNvSpPr txBox="1"/>
          <p:nvPr/>
        </p:nvSpPr>
        <p:spPr>
          <a:xfrm>
            <a:off x="4315968"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5" name="Shape 43"/>
          <p:cNvSpPr/>
          <p:nvPr/>
        </p:nvSpPr>
        <p:spPr>
          <a:xfrm>
            <a:off x="6291072" y="2156577"/>
            <a:ext cx="469928" cy="160372"/>
          </a:xfrm>
          <a:prstGeom prst="rect">
            <a:avLst/>
          </a:prstGeom>
          <a:solidFill>
            <a:srgbClr val="12A566"/>
          </a:solidFill>
          <a:ln/>
        </p:spPr>
      </p:sp>
      <p:sp>
        <p:nvSpPr>
          <p:cNvPr id="46" name="Text 44"/>
          <p:cNvSpPr txBox="1"/>
          <p:nvPr/>
        </p:nvSpPr>
        <p:spPr>
          <a:xfrm>
            <a:off x="6967728" y="2076391"/>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765</a:t>
            </a:r>
            <a:endParaRPr lang="en-US" sz="1300" dirty="0"/>
          </a:p>
        </p:txBody>
      </p:sp>
      <p:sp>
        <p:nvSpPr>
          <p:cNvPr id="47" name="Text 45"/>
          <p:cNvSpPr txBox="1"/>
          <p:nvPr/>
        </p:nvSpPr>
        <p:spPr>
          <a:xfrm>
            <a:off x="4315968"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8" name="Shape 46"/>
          <p:cNvSpPr/>
          <p:nvPr/>
        </p:nvSpPr>
        <p:spPr>
          <a:xfrm>
            <a:off x="6291072" y="2477321"/>
            <a:ext cx="421230" cy="160372"/>
          </a:xfrm>
          <a:prstGeom prst="rect">
            <a:avLst/>
          </a:prstGeom>
          <a:solidFill>
            <a:srgbClr val="12A566"/>
          </a:solidFill>
          <a:ln/>
        </p:spPr>
      </p:sp>
      <p:sp>
        <p:nvSpPr>
          <p:cNvPr id="49" name="Text 47"/>
          <p:cNvSpPr txBox="1"/>
          <p:nvPr/>
        </p:nvSpPr>
        <p:spPr>
          <a:xfrm>
            <a:off x="6967728" y="239713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686</a:t>
            </a:r>
            <a:endParaRPr lang="en-US" sz="1300" dirty="0"/>
          </a:p>
        </p:txBody>
      </p:sp>
      <p:sp>
        <p:nvSpPr>
          <p:cNvPr id="50" name="Text 48"/>
          <p:cNvSpPr txBox="1"/>
          <p:nvPr/>
        </p:nvSpPr>
        <p:spPr>
          <a:xfrm>
            <a:off x="4315968"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1" name="Shape 49"/>
          <p:cNvSpPr/>
          <p:nvPr/>
        </p:nvSpPr>
        <p:spPr>
          <a:xfrm>
            <a:off x="6291072" y="2798064"/>
            <a:ext cx="403488" cy="160372"/>
          </a:xfrm>
          <a:prstGeom prst="rect">
            <a:avLst/>
          </a:prstGeom>
          <a:solidFill>
            <a:srgbClr val="12A566"/>
          </a:solidFill>
          <a:ln/>
        </p:spPr>
      </p:sp>
      <p:sp>
        <p:nvSpPr>
          <p:cNvPr id="52" name="Text 50"/>
          <p:cNvSpPr txBox="1"/>
          <p:nvPr/>
        </p:nvSpPr>
        <p:spPr>
          <a:xfrm>
            <a:off x="6967728" y="271787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657</a:t>
            </a:r>
            <a:endParaRPr lang="en-US" sz="1300" dirty="0"/>
          </a:p>
        </p:txBody>
      </p:sp>
      <p:sp>
        <p:nvSpPr>
          <p:cNvPr id="53" name="Text 51"/>
          <p:cNvSpPr txBox="1"/>
          <p:nvPr/>
        </p:nvSpPr>
        <p:spPr>
          <a:xfrm>
            <a:off x="4315968"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4" name="Shape 52"/>
          <p:cNvSpPr/>
          <p:nvPr/>
        </p:nvSpPr>
        <p:spPr>
          <a:xfrm>
            <a:off x="6291072" y="3118807"/>
            <a:ext cx="362659" cy="160372"/>
          </a:xfrm>
          <a:prstGeom prst="rect">
            <a:avLst/>
          </a:prstGeom>
          <a:solidFill>
            <a:srgbClr val="12A566"/>
          </a:solidFill>
          <a:ln/>
        </p:spPr>
      </p:sp>
      <p:sp>
        <p:nvSpPr>
          <p:cNvPr id="55" name="Text 53"/>
          <p:cNvSpPr txBox="1"/>
          <p:nvPr/>
        </p:nvSpPr>
        <p:spPr>
          <a:xfrm>
            <a:off x="6967728" y="303862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591</a:t>
            </a:r>
            <a:endParaRPr lang="en-US" sz="1300" dirty="0"/>
          </a:p>
        </p:txBody>
      </p:sp>
      <p:sp>
        <p:nvSpPr>
          <p:cNvPr id="56" name="Text 54"/>
          <p:cNvSpPr txBox="1"/>
          <p:nvPr/>
        </p:nvSpPr>
        <p:spPr>
          <a:xfrm>
            <a:off x="4315968"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7" name="Shape 55"/>
          <p:cNvSpPr/>
          <p:nvPr/>
        </p:nvSpPr>
        <p:spPr>
          <a:xfrm>
            <a:off x="6291072" y="3439551"/>
            <a:ext cx="343763" cy="160372"/>
          </a:xfrm>
          <a:prstGeom prst="rect">
            <a:avLst/>
          </a:prstGeom>
          <a:solidFill>
            <a:srgbClr val="12A566"/>
          </a:solidFill>
          <a:ln/>
        </p:spPr>
      </p:sp>
      <p:sp>
        <p:nvSpPr>
          <p:cNvPr id="58" name="Text 56"/>
          <p:cNvSpPr txBox="1"/>
          <p:nvPr/>
        </p:nvSpPr>
        <p:spPr>
          <a:xfrm>
            <a:off x="6967728" y="335936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560</a:t>
            </a:r>
            <a:endParaRPr lang="en-US" sz="1300" dirty="0"/>
          </a:p>
        </p:txBody>
      </p:sp>
      <p:sp>
        <p:nvSpPr>
          <p:cNvPr id="59" name="Text 57"/>
          <p:cNvSpPr txBox="1"/>
          <p:nvPr/>
        </p:nvSpPr>
        <p:spPr>
          <a:xfrm>
            <a:off x="4315968"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0" name="Shape 58"/>
          <p:cNvSpPr/>
          <p:nvPr/>
        </p:nvSpPr>
        <p:spPr>
          <a:xfrm>
            <a:off x="6291072" y="3760294"/>
            <a:ext cx="262373" cy="160372"/>
          </a:xfrm>
          <a:prstGeom prst="rect">
            <a:avLst/>
          </a:prstGeom>
          <a:solidFill>
            <a:srgbClr val="12A566"/>
          </a:solidFill>
          <a:ln/>
        </p:spPr>
      </p:sp>
      <p:sp>
        <p:nvSpPr>
          <p:cNvPr id="61" name="Text 59"/>
          <p:cNvSpPr txBox="1"/>
          <p:nvPr/>
        </p:nvSpPr>
        <p:spPr>
          <a:xfrm>
            <a:off x="6967728" y="368010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427</a:t>
            </a:r>
            <a:endParaRPr lang="en-US" sz="1300" dirty="0"/>
          </a:p>
        </p:txBody>
      </p:sp>
      <p:sp>
        <p:nvSpPr>
          <p:cNvPr id="62" name="Shape 60"/>
          <p:cNvSpPr/>
          <p:nvPr/>
        </p:nvSpPr>
        <p:spPr>
          <a:xfrm>
            <a:off x="4261104" y="4000852"/>
            <a:ext cx="3529584" cy="311599"/>
          </a:xfrm>
          <a:prstGeom prst="rect">
            <a:avLst/>
          </a:prstGeom>
          <a:solidFill>
            <a:srgbClr val="EDF4FA"/>
          </a:solidFill>
          <a:ln/>
        </p:spPr>
      </p:sp>
      <p:sp>
        <p:nvSpPr>
          <p:cNvPr id="63" name="Text 61"/>
          <p:cNvSpPr txBox="1"/>
          <p:nvPr/>
        </p:nvSpPr>
        <p:spPr>
          <a:xfrm>
            <a:off x="4315968" y="4000852"/>
            <a:ext cx="192024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NON-LUXURY</a:t>
            </a:r>
            <a:endParaRPr lang="en-US" sz="1300" dirty="0"/>
          </a:p>
        </p:txBody>
      </p:sp>
      <p:sp>
        <p:nvSpPr>
          <p:cNvPr id="64" name="Shape 62"/>
          <p:cNvSpPr/>
          <p:nvPr/>
        </p:nvSpPr>
        <p:spPr>
          <a:xfrm>
            <a:off x="6291072" y="4081038"/>
            <a:ext cx="256715" cy="160372"/>
          </a:xfrm>
          <a:prstGeom prst="rect">
            <a:avLst/>
          </a:prstGeom>
          <a:solidFill>
            <a:srgbClr val="0B2C4A"/>
          </a:solidFill>
          <a:ln/>
        </p:spPr>
      </p:sp>
      <p:sp>
        <p:nvSpPr>
          <p:cNvPr id="65" name="Text 63"/>
          <p:cNvSpPr txBox="1"/>
          <p:nvPr/>
        </p:nvSpPr>
        <p:spPr>
          <a:xfrm>
            <a:off x="6967728" y="4000852"/>
            <a:ext cx="786384"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418</a:t>
            </a:r>
            <a:endParaRPr lang="en-US" sz="1300" dirty="0"/>
          </a:p>
        </p:txBody>
      </p:sp>
      <p:sp>
        <p:nvSpPr>
          <p:cNvPr id="66" name="Text 64"/>
          <p:cNvSpPr txBox="1"/>
          <p:nvPr/>
        </p:nvSpPr>
        <p:spPr>
          <a:xfrm>
            <a:off x="4315968"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67" name="Shape 65"/>
          <p:cNvSpPr/>
          <p:nvPr/>
        </p:nvSpPr>
        <p:spPr>
          <a:xfrm>
            <a:off x="6291072" y="4401781"/>
            <a:ext cx="245067" cy="160372"/>
          </a:xfrm>
          <a:prstGeom prst="rect">
            <a:avLst/>
          </a:prstGeom>
          <a:solidFill>
            <a:srgbClr val="C2352F"/>
          </a:solidFill>
          <a:ln/>
        </p:spPr>
      </p:sp>
      <p:sp>
        <p:nvSpPr>
          <p:cNvPr id="68" name="Text 66"/>
          <p:cNvSpPr txBox="1"/>
          <p:nvPr/>
        </p:nvSpPr>
        <p:spPr>
          <a:xfrm>
            <a:off x="6967728" y="432159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399</a:t>
            </a:r>
            <a:endParaRPr lang="en-US" sz="1300" dirty="0"/>
          </a:p>
        </p:txBody>
      </p:sp>
      <p:sp>
        <p:nvSpPr>
          <p:cNvPr id="69" name="Text 67"/>
          <p:cNvSpPr txBox="1"/>
          <p:nvPr/>
        </p:nvSpPr>
        <p:spPr>
          <a:xfrm>
            <a:off x="4315968"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0" name="Shape 68"/>
          <p:cNvSpPr/>
          <p:nvPr/>
        </p:nvSpPr>
        <p:spPr>
          <a:xfrm>
            <a:off x="6291072" y="4722524"/>
            <a:ext cx="240759" cy="160372"/>
          </a:xfrm>
          <a:prstGeom prst="rect">
            <a:avLst/>
          </a:prstGeom>
          <a:solidFill>
            <a:srgbClr val="C2352F"/>
          </a:solidFill>
          <a:ln/>
        </p:spPr>
      </p:sp>
      <p:sp>
        <p:nvSpPr>
          <p:cNvPr id="71" name="Text 69"/>
          <p:cNvSpPr txBox="1"/>
          <p:nvPr/>
        </p:nvSpPr>
        <p:spPr>
          <a:xfrm>
            <a:off x="6967728" y="464233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392</a:t>
            </a:r>
            <a:endParaRPr lang="en-US" sz="1300" dirty="0"/>
          </a:p>
        </p:txBody>
      </p:sp>
      <p:sp>
        <p:nvSpPr>
          <p:cNvPr id="72" name="Text 70"/>
          <p:cNvSpPr txBox="1"/>
          <p:nvPr/>
        </p:nvSpPr>
        <p:spPr>
          <a:xfrm>
            <a:off x="4315968"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73" name="Shape 71"/>
          <p:cNvSpPr/>
          <p:nvPr/>
        </p:nvSpPr>
        <p:spPr>
          <a:xfrm>
            <a:off x="6291072" y="5043268"/>
            <a:ext cx="231188" cy="160372"/>
          </a:xfrm>
          <a:prstGeom prst="rect">
            <a:avLst/>
          </a:prstGeom>
          <a:solidFill>
            <a:srgbClr val="C2352F"/>
          </a:solidFill>
          <a:ln/>
        </p:spPr>
      </p:sp>
      <p:sp>
        <p:nvSpPr>
          <p:cNvPr id="74" name="Text 72"/>
          <p:cNvSpPr txBox="1"/>
          <p:nvPr/>
        </p:nvSpPr>
        <p:spPr>
          <a:xfrm>
            <a:off x="6967728" y="496308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376</a:t>
            </a:r>
            <a:endParaRPr lang="en-US" sz="1300" dirty="0"/>
          </a:p>
        </p:txBody>
      </p:sp>
      <p:sp>
        <p:nvSpPr>
          <p:cNvPr id="75" name="Text 73"/>
          <p:cNvSpPr txBox="1"/>
          <p:nvPr/>
        </p:nvSpPr>
        <p:spPr>
          <a:xfrm>
            <a:off x="4315968"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6" name="Shape 74"/>
          <p:cNvSpPr/>
          <p:nvPr/>
        </p:nvSpPr>
        <p:spPr>
          <a:xfrm>
            <a:off x="6291072" y="5364011"/>
            <a:ext cx="226867" cy="160372"/>
          </a:xfrm>
          <a:prstGeom prst="rect">
            <a:avLst/>
          </a:prstGeom>
          <a:solidFill>
            <a:srgbClr val="C2352F"/>
          </a:solidFill>
          <a:ln/>
        </p:spPr>
      </p:sp>
      <p:sp>
        <p:nvSpPr>
          <p:cNvPr id="77" name="Text 75"/>
          <p:cNvSpPr txBox="1"/>
          <p:nvPr/>
        </p:nvSpPr>
        <p:spPr>
          <a:xfrm>
            <a:off x="6967728" y="528382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369</a:t>
            </a:r>
            <a:endParaRPr lang="en-US" sz="1300" dirty="0"/>
          </a:p>
        </p:txBody>
      </p:sp>
      <p:sp>
        <p:nvSpPr>
          <p:cNvPr id="78" name="Text 76"/>
          <p:cNvSpPr txBox="1"/>
          <p:nvPr/>
        </p:nvSpPr>
        <p:spPr>
          <a:xfrm>
            <a:off x="4315968" y="5604569"/>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9" name="Shape 77"/>
          <p:cNvSpPr/>
          <p:nvPr/>
        </p:nvSpPr>
        <p:spPr>
          <a:xfrm>
            <a:off x="6291072" y="5684754"/>
            <a:ext cx="218633" cy="160372"/>
          </a:xfrm>
          <a:prstGeom prst="rect">
            <a:avLst/>
          </a:prstGeom>
          <a:solidFill>
            <a:srgbClr val="C2352F"/>
          </a:solidFill>
          <a:ln/>
        </p:spPr>
      </p:sp>
      <p:sp>
        <p:nvSpPr>
          <p:cNvPr id="80" name="Text 78"/>
          <p:cNvSpPr txBox="1"/>
          <p:nvPr/>
        </p:nvSpPr>
        <p:spPr>
          <a:xfrm>
            <a:off x="6967728" y="5604569"/>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356</a:t>
            </a:r>
            <a:endParaRPr lang="en-US" sz="1300" dirty="0"/>
          </a:p>
        </p:txBody>
      </p:sp>
      <p:sp>
        <p:nvSpPr>
          <p:cNvPr id="81" name="Text 79"/>
          <p:cNvSpPr txBox="1"/>
          <p:nvPr/>
        </p:nvSpPr>
        <p:spPr>
          <a:xfrm>
            <a:off x="7918704"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2" name="Shape 80"/>
          <p:cNvSpPr/>
          <p:nvPr/>
        </p:nvSpPr>
        <p:spPr>
          <a:xfrm>
            <a:off x="9893808" y="1835834"/>
            <a:ext cx="215740" cy="160372"/>
          </a:xfrm>
          <a:prstGeom prst="rect">
            <a:avLst/>
          </a:prstGeom>
          <a:solidFill>
            <a:srgbClr val="C2352F"/>
          </a:solidFill>
          <a:ln/>
        </p:spPr>
      </p:sp>
      <p:sp>
        <p:nvSpPr>
          <p:cNvPr id="83" name="Text 81"/>
          <p:cNvSpPr txBox="1"/>
          <p:nvPr/>
        </p:nvSpPr>
        <p:spPr>
          <a:xfrm>
            <a:off x="10570464" y="175564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351</a:t>
            </a:r>
            <a:endParaRPr lang="en-US" sz="1300" dirty="0"/>
          </a:p>
        </p:txBody>
      </p:sp>
      <p:sp>
        <p:nvSpPr>
          <p:cNvPr id="84" name="Text 82"/>
          <p:cNvSpPr txBox="1"/>
          <p:nvPr/>
        </p:nvSpPr>
        <p:spPr>
          <a:xfrm>
            <a:off x="7918704"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5" name="Shape 83"/>
          <p:cNvSpPr/>
          <p:nvPr/>
        </p:nvSpPr>
        <p:spPr>
          <a:xfrm>
            <a:off x="9893808" y="2156577"/>
            <a:ext cx="200777" cy="160372"/>
          </a:xfrm>
          <a:prstGeom prst="rect">
            <a:avLst/>
          </a:prstGeom>
          <a:solidFill>
            <a:srgbClr val="C2352F"/>
          </a:solidFill>
          <a:ln/>
        </p:spPr>
      </p:sp>
      <p:sp>
        <p:nvSpPr>
          <p:cNvPr id="86" name="Text 84"/>
          <p:cNvSpPr txBox="1"/>
          <p:nvPr/>
        </p:nvSpPr>
        <p:spPr>
          <a:xfrm>
            <a:off x="10570464" y="2076391"/>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327</a:t>
            </a:r>
            <a:endParaRPr lang="en-US" sz="1300" dirty="0"/>
          </a:p>
        </p:txBody>
      </p:sp>
      <p:sp>
        <p:nvSpPr>
          <p:cNvPr id="87" name="Text 85"/>
          <p:cNvSpPr txBox="1"/>
          <p:nvPr/>
        </p:nvSpPr>
        <p:spPr>
          <a:xfrm>
            <a:off x="7918704"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9893808" y="2477321"/>
            <a:ext cx="189359" cy="160372"/>
          </a:xfrm>
          <a:prstGeom prst="rect">
            <a:avLst/>
          </a:prstGeom>
          <a:solidFill>
            <a:srgbClr val="C2352F"/>
          </a:solidFill>
          <a:ln/>
        </p:spPr>
      </p:sp>
      <p:sp>
        <p:nvSpPr>
          <p:cNvPr id="89" name="Text 87"/>
          <p:cNvSpPr txBox="1"/>
          <p:nvPr/>
        </p:nvSpPr>
        <p:spPr>
          <a:xfrm>
            <a:off x="10570464" y="239713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308</a:t>
            </a:r>
            <a:endParaRPr lang="en-US" sz="1300" dirty="0"/>
          </a:p>
        </p:txBody>
      </p:sp>
      <p:sp>
        <p:nvSpPr>
          <p:cNvPr id="90" name="Text 88"/>
          <p:cNvSpPr txBox="1"/>
          <p:nvPr/>
        </p:nvSpPr>
        <p:spPr>
          <a:xfrm>
            <a:off x="7918704"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1" name="Shape 89"/>
          <p:cNvSpPr/>
          <p:nvPr/>
        </p:nvSpPr>
        <p:spPr>
          <a:xfrm>
            <a:off x="9893808" y="2798064"/>
            <a:ext cx="183877" cy="160372"/>
          </a:xfrm>
          <a:prstGeom prst="rect">
            <a:avLst/>
          </a:prstGeom>
          <a:solidFill>
            <a:srgbClr val="C2352F"/>
          </a:solidFill>
          <a:ln/>
        </p:spPr>
      </p:sp>
      <p:sp>
        <p:nvSpPr>
          <p:cNvPr id="92" name="Text 90"/>
          <p:cNvSpPr txBox="1"/>
          <p:nvPr/>
        </p:nvSpPr>
        <p:spPr>
          <a:xfrm>
            <a:off x="10570464" y="271787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299</a:t>
            </a:r>
            <a:endParaRPr lang="en-US" sz="1300" dirty="0"/>
          </a:p>
        </p:txBody>
      </p:sp>
      <p:sp>
        <p:nvSpPr>
          <p:cNvPr id="93" name="Text 91"/>
          <p:cNvSpPr txBox="1"/>
          <p:nvPr/>
        </p:nvSpPr>
        <p:spPr>
          <a:xfrm>
            <a:off x="7918704"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4" name="Shape 92"/>
          <p:cNvSpPr/>
          <p:nvPr/>
        </p:nvSpPr>
        <p:spPr>
          <a:xfrm>
            <a:off x="9893808" y="3118807"/>
            <a:ext cx="167591" cy="160372"/>
          </a:xfrm>
          <a:prstGeom prst="rect">
            <a:avLst/>
          </a:prstGeom>
          <a:solidFill>
            <a:srgbClr val="C2352F"/>
          </a:solidFill>
          <a:ln/>
        </p:spPr>
      </p:sp>
      <p:sp>
        <p:nvSpPr>
          <p:cNvPr id="95" name="Text 93"/>
          <p:cNvSpPr txBox="1"/>
          <p:nvPr/>
        </p:nvSpPr>
        <p:spPr>
          <a:xfrm>
            <a:off x="10570464" y="303862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273</a:t>
            </a:r>
            <a:endParaRPr lang="en-US" sz="1300" dirty="0"/>
          </a:p>
        </p:txBody>
      </p:sp>
      <p:sp>
        <p:nvSpPr>
          <p:cNvPr id="96" name="Text 94"/>
          <p:cNvSpPr txBox="1"/>
          <p:nvPr/>
        </p:nvSpPr>
        <p:spPr>
          <a:xfrm>
            <a:off x="7918704"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7" name="Shape 95"/>
          <p:cNvSpPr/>
          <p:nvPr/>
        </p:nvSpPr>
        <p:spPr>
          <a:xfrm>
            <a:off x="9893808" y="3439551"/>
            <a:ext cx="167045" cy="160372"/>
          </a:xfrm>
          <a:prstGeom prst="rect">
            <a:avLst/>
          </a:prstGeom>
          <a:solidFill>
            <a:srgbClr val="C2352F"/>
          </a:solidFill>
          <a:ln/>
        </p:spPr>
      </p:sp>
      <p:sp>
        <p:nvSpPr>
          <p:cNvPr id="98" name="Text 96"/>
          <p:cNvSpPr txBox="1"/>
          <p:nvPr/>
        </p:nvSpPr>
        <p:spPr>
          <a:xfrm>
            <a:off x="10570464" y="335936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272</a:t>
            </a:r>
            <a:endParaRPr lang="en-US" sz="1300" dirty="0"/>
          </a:p>
        </p:txBody>
      </p:sp>
      <p:sp>
        <p:nvSpPr>
          <p:cNvPr id="99" name="Text 97"/>
          <p:cNvSpPr txBox="1"/>
          <p:nvPr/>
        </p:nvSpPr>
        <p:spPr>
          <a:xfrm>
            <a:off x="7918704"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0" name="Shape 98"/>
          <p:cNvSpPr/>
          <p:nvPr/>
        </p:nvSpPr>
        <p:spPr>
          <a:xfrm>
            <a:off x="9893808" y="3760294"/>
            <a:ext cx="142736" cy="160372"/>
          </a:xfrm>
          <a:prstGeom prst="rect">
            <a:avLst/>
          </a:prstGeom>
          <a:solidFill>
            <a:srgbClr val="C2352F"/>
          </a:solidFill>
          <a:ln/>
        </p:spPr>
      </p:sp>
      <p:sp>
        <p:nvSpPr>
          <p:cNvPr id="101" name="Text 99"/>
          <p:cNvSpPr txBox="1"/>
          <p:nvPr/>
        </p:nvSpPr>
        <p:spPr>
          <a:xfrm>
            <a:off x="10570464" y="368010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232</a:t>
            </a:r>
            <a:endParaRPr lang="en-US" sz="1300" dirty="0"/>
          </a:p>
        </p:txBody>
      </p:sp>
      <p:sp>
        <p:nvSpPr>
          <p:cNvPr id="102" name="Text 100"/>
          <p:cNvSpPr txBox="1"/>
          <p:nvPr/>
        </p:nvSpPr>
        <p:spPr>
          <a:xfrm>
            <a:off x="7918704"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9893808" y="4081038"/>
            <a:ext cx="141456" cy="160372"/>
          </a:xfrm>
          <a:prstGeom prst="rect">
            <a:avLst/>
          </a:prstGeom>
          <a:solidFill>
            <a:srgbClr val="C2352F"/>
          </a:solidFill>
          <a:ln/>
        </p:spPr>
      </p:sp>
      <p:sp>
        <p:nvSpPr>
          <p:cNvPr id="104" name="Text 102"/>
          <p:cNvSpPr txBox="1"/>
          <p:nvPr/>
        </p:nvSpPr>
        <p:spPr>
          <a:xfrm>
            <a:off x="10570464" y="400085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230</a:t>
            </a:r>
            <a:endParaRPr lang="en-US" sz="1300" dirty="0"/>
          </a:p>
        </p:txBody>
      </p:sp>
      <p:sp>
        <p:nvSpPr>
          <p:cNvPr id="105" name="Text 103"/>
          <p:cNvSpPr txBox="1"/>
          <p:nvPr/>
        </p:nvSpPr>
        <p:spPr>
          <a:xfrm>
            <a:off x="7918704"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06" name="Shape 104"/>
          <p:cNvSpPr/>
          <p:nvPr/>
        </p:nvSpPr>
        <p:spPr>
          <a:xfrm>
            <a:off x="9893808" y="4401781"/>
            <a:ext cx="135110" cy="160372"/>
          </a:xfrm>
          <a:prstGeom prst="rect">
            <a:avLst/>
          </a:prstGeom>
          <a:solidFill>
            <a:srgbClr val="C2352F"/>
          </a:solidFill>
          <a:ln/>
        </p:spPr>
      </p:sp>
      <p:sp>
        <p:nvSpPr>
          <p:cNvPr id="107" name="Text 105"/>
          <p:cNvSpPr txBox="1"/>
          <p:nvPr/>
        </p:nvSpPr>
        <p:spPr>
          <a:xfrm>
            <a:off x="10570464" y="432159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220</a:t>
            </a:r>
            <a:endParaRPr lang="en-US" sz="1300" dirty="0"/>
          </a:p>
        </p:txBody>
      </p:sp>
      <p:sp>
        <p:nvSpPr>
          <p:cNvPr id="108" name="Text 106"/>
          <p:cNvSpPr txBox="1"/>
          <p:nvPr/>
        </p:nvSpPr>
        <p:spPr>
          <a:xfrm>
            <a:off x="7918704"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9" name="Shape 107"/>
          <p:cNvSpPr/>
          <p:nvPr/>
        </p:nvSpPr>
        <p:spPr>
          <a:xfrm>
            <a:off x="9893808" y="4722524"/>
            <a:ext cx="124834" cy="160372"/>
          </a:xfrm>
          <a:prstGeom prst="rect">
            <a:avLst/>
          </a:prstGeom>
          <a:solidFill>
            <a:srgbClr val="C2352F"/>
          </a:solidFill>
          <a:ln/>
        </p:spPr>
      </p:sp>
      <p:sp>
        <p:nvSpPr>
          <p:cNvPr id="110" name="Text 108"/>
          <p:cNvSpPr txBox="1"/>
          <p:nvPr/>
        </p:nvSpPr>
        <p:spPr>
          <a:xfrm>
            <a:off x="10570464" y="464233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203</a:t>
            </a:r>
            <a:endParaRPr lang="en-US" sz="1300" dirty="0"/>
          </a:p>
        </p:txBody>
      </p:sp>
      <p:sp>
        <p:nvSpPr>
          <p:cNvPr id="111" name="Text 109"/>
          <p:cNvSpPr txBox="1"/>
          <p:nvPr/>
        </p:nvSpPr>
        <p:spPr>
          <a:xfrm>
            <a:off x="7918704"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12" name="Shape 110"/>
          <p:cNvSpPr/>
          <p:nvPr/>
        </p:nvSpPr>
        <p:spPr>
          <a:xfrm>
            <a:off x="9893808" y="5043268"/>
            <a:ext cx="118207" cy="160372"/>
          </a:xfrm>
          <a:prstGeom prst="rect">
            <a:avLst/>
          </a:prstGeom>
          <a:solidFill>
            <a:srgbClr val="C2352F"/>
          </a:solidFill>
          <a:ln/>
        </p:spPr>
      </p:sp>
      <p:sp>
        <p:nvSpPr>
          <p:cNvPr id="113" name="Text 111"/>
          <p:cNvSpPr txBox="1"/>
          <p:nvPr/>
        </p:nvSpPr>
        <p:spPr>
          <a:xfrm>
            <a:off x="10570464" y="496308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192</a:t>
            </a:r>
            <a:endParaRPr lang="en-US" sz="1300" dirty="0"/>
          </a:p>
        </p:txBody>
      </p:sp>
      <p:sp>
        <p:nvSpPr>
          <p:cNvPr id="114" name="Text 112"/>
          <p:cNvSpPr txBox="1"/>
          <p:nvPr/>
        </p:nvSpPr>
        <p:spPr>
          <a:xfrm>
            <a:off x="7918704"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5" name="Shape 113"/>
          <p:cNvSpPr/>
          <p:nvPr/>
        </p:nvSpPr>
        <p:spPr>
          <a:xfrm>
            <a:off x="9893808" y="5364011"/>
            <a:ext cx="94304" cy="160372"/>
          </a:xfrm>
          <a:prstGeom prst="rect">
            <a:avLst/>
          </a:prstGeom>
          <a:solidFill>
            <a:srgbClr val="C2352F"/>
          </a:solidFill>
          <a:ln/>
        </p:spPr>
      </p:sp>
      <p:sp>
        <p:nvSpPr>
          <p:cNvPr id="116" name="Text 114"/>
          <p:cNvSpPr txBox="1"/>
          <p:nvPr/>
        </p:nvSpPr>
        <p:spPr>
          <a:xfrm>
            <a:off x="10570464" y="528382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154</a:t>
            </a:r>
            <a:endParaRPr lang="en-US" sz="1300" dirty="0"/>
          </a:p>
        </p:txBody>
      </p:sp>
      <p:sp>
        <p:nvSpPr>
          <p:cNvPr id="117" name="Shape 115"/>
          <p:cNvSpPr/>
          <p:nvPr/>
        </p:nvSpPr>
        <p:spPr>
          <a:xfrm>
            <a:off x="457200" y="6126480"/>
            <a:ext cx="11274552" cy="615696"/>
          </a:xfrm>
          <a:prstGeom prst="rect">
            <a:avLst/>
          </a:prstGeom>
          <a:solidFill>
            <a:srgbClr val="EDF4F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trailing 12 months</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810512"/>
          <a:ext cx="6858000" cy="402336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−76 fixed staff, Sep to Sep, to 1,540.</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Technicians −17, advisors −7, managers −3.</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Low of 1,530 in Jan 26; up 10 since.</a:t>
            </a:r>
            <a:endParaRPr lang="en-US" sz="1500" dirty="0"/>
          </a:p>
        </p:txBody>
      </p:sp>
      <p:sp>
        <p:nvSpPr>
          <p:cNvPr id="18" name="Shape 15"/>
          <p:cNvSpPr/>
          <p:nvPr/>
        </p:nvSpPr>
        <p:spPr>
          <a:xfrm>
            <a:off x="457200" y="6126480"/>
            <a:ext cx="11274552" cy="371856"/>
          </a:xfrm>
          <a:prstGeom prst="rect">
            <a:avLst/>
          </a:prstGeom>
          <a:solidFill>
            <a:srgbClr val="EDF4FA"/>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2026-10-21T21:04:26Z</dcterms:created>
  <dcterms:modified xsi:type="dcterms:W3CDTF">2026-10-21T21:04:26Z</dcterms:modified>
</cp:coreProperties>
</file>