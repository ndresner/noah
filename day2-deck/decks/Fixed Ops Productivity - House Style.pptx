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Relationships xmlns="http://schemas.openxmlformats.org/package/2006/relationships"><Relationship Id="rId1" Type="http://schemas.openxmlformats.org/officeDocument/2006/relationships/package" Target="../embeddings/Microsoft_Excel_Worksheet40.xlsx"/></Relationships>
</file>

<file path=ppt/charts/_rels/chart41.xml.rels><?xml version="1.0" encoding="UTF-8" standalone="yes"?><Relationships xmlns="http://schemas.openxmlformats.org/package/2006/relationships"><Relationship Id="rId1" Type="http://schemas.openxmlformats.org/officeDocument/2006/relationships/package" Target="../embeddings/Microsoft_Excel_Worksheet41.xlsx"/></Relationships>
</file>

<file path=ppt/charts/_rels/chart42.xml.rels><?xml version="1.0" encoding="UTF-8" standalone="yes"?><Relationships xmlns="http://schemas.openxmlformats.org/package/2006/relationships"><Relationship Id="rId1" Type="http://schemas.openxmlformats.org/officeDocument/2006/relationships/package" Target="../embeddings/Microsoft_Excel_Worksheet42.xlsx"/></Relationships>
</file>

<file path=ppt/charts/_rels/chart43.xml.rels><?xml version="1.0" encoding="UTF-8" standalone="yes"?><Relationships xmlns="http://schemas.openxmlformats.org/package/2006/relationships"><Relationship Id="rId1" Type="http://schemas.openxmlformats.org/officeDocument/2006/relationships/package" Target="../embeddings/Microsoft_Excel_Worksheet43.xlsx"/></Relationships>
</file>

<file path=ppt/charts/_rels/chart44.xml.rels><?xml version="1.0" encoding="UTF-8" standalone="yes"?><Relationships xmlns="http://schemas.openxmlformats.org/package/2006/relationships"><Relationship Id="rId1" Type="http://schemas.openxmlformats.org/officeDocument/2006/relationships/package" Target="../embeddings/Microsoft_Excel_Worksheet44.xlsx"/></Relationships>
</file>

<file path=ppt/charts/_rels/chart45.xml.rels><?xml version="1.0" encoding="UTF-8" standalone="yes"?><Relationships xmlns="http://schemas.openxmlformats.org/package/2006/relationships"><Relationship Id="rId1" Type="http://schemas.openxmlformats.org/officeDocument/2006/relationships/package" Target="../embeddings/Microsoft_Excel_Worksheet45.xlsx"/></Relationships>
</file>

<file path=ppt/charts/_rels/chart46.xml.rels><?xml version="1.0" encoding="UTF-8" standalone="yes"?><Relationships xmlns="http://schemas.openxmlformats.org/package/2006/relationships"><Relationship Id="rId1" Type="http://schemas.openxmlformats.org/officeDocument/2006/relationships/package" Target="../embeddings/Microsoft_Excel_Worksheet46.xlsx"/></Relationships>
</file>

<file path=ppt/charts/_rels/chart47.xml.rels><?xml version="1.0" encoding="UTF-8" standalone="yes"?><Relationships xmlns="http://schemas.openxmlformats.org/package/2006/relationships"><Relationship Id="rId1" Type="http://schemas.openxmlformats.org/officeDocument/2006/relationships/package" Target="../embeddings/Microsoft_Excel_Worksheet47.xlsx"/></Relationships>
</file>

<file path=ppt/charts/_rels/chart48.xml.rels><?xml version="1.0" encoding="UTF-8" standalone="yes"?><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Relationships xmlns="http://schemas.openxmlformats.org/package/2006/relationships"><Relationship Id="rId1" Type="http://schemas.openxmlformats.org/officeDocument/2006/relationships/package" Target="../embeddings/Microsoft_Excel_Worksheet51.xlsx"/></Relationships>
</file>

<file path=ppt/charts/_rels/chart52.xml.rels><?xml version="1.0" encoding="UTF-8" standalone="yes"?><Relationships xmlns="http://schemas.openxmlformats.org/package/2006/relationships"><Relationship Id="rId1" Type="http://schemas.openxmlformats.org/officeDocument/2006/relationships/package" Target="../embeddings/Microsoft_Excel_Worksheet52.xlsx"/></Relationships>
</file>

<file path=ppt/charts/_rels/chart53.xml.rels><?xml version="1.0" encoding="UTF-8" standalone="yes"?><Relationships xmlns="http://schemas.openxmlformats.org/package/2006/relationships"><Relationship Id="rId1" Type="http://schemas.openxmlformats.org/officeDocument/2006/relationships/package" Target="../embeddings/Microsoft_Excel_Worksheet53.xlsx"/></Relationships>
</file>

<file path=ppt/charts/_rels/chart54.xml.rels><?xml version="1.0" encoding="UTF-8" standalone="yes"?><Relationships xmlns="http://schemas.openxmlformats.org/package/2006/relationships"><Relationship Id="rId1" Type="http://schemas.openxmlformats.org/officeDocument/2006/relationships/package" Target="../embeddings/Microsoft_Excel_Worksheet54.xlsx"/></Relationships>
</file>

<file path=ppt/charts/_rels/chart55.xml.rels><?xml version="1.0" encoding="UTF-8" standalone="yes"?><Relationships xmlns="http://schemas.openxmlformats.org/package/2006/relationships"><Relationship Id="rId1" Type="http://schemas.openxmlformats.org/officeDocument/2006/relationships/package" Target="../embeddings/Microsoft_Excel_Worksheet55.xlsx"/></Relationships>
</file>

<file path=ppt/charts/_rels/chart56.xml.rels><?xml version="1.0" encoding="UTF-8" standalone="yes"?><Relationships xmlns="http://schemas.openxmlformats.org/package/2006/relationships"><Relationship Id="rId1" Type="http://schemas.openxmlformats.org/officeDocument/2006/relationships/package" Target="../embeddings/Microsoft_Excel_Worksheet56.xlsx"/></Relationships>
</file>

<file path=ppt/charts/_rels/chart57.xml.rels><?xml version="1.0" encoding="UTF-8" standalone="yes"?><Relationships xmlns="http://schemas.openxmlformats.org/package/2006/relationships"><Relationship Id="rId1" Type="http://schemas.openxmlformats.org/officeDocument/2006/relationships/package" Target="../embeddings/Microsoft_Excel_Worksheet57.xlsx"/></Relationships>
</file>

<file path=ppt/charts/_rels/chart58.xml.rels><?xml version="1.0" encoding="UTF-8" standalone="yes"?><Relationships xmlns="http://schemas.openxmlformats.org/package/2006/relationships"><Relationship Id="rId1" Type="http://schemas.openxmlformats.org/officeDocument/2006/relationships/package" Target="../embeddings/Microsoft_Excel_Worksheet58.xlsx"/></Relationships>
</file>

<file path=ppt/charts/_rels/chart59.xml.rels><?xml version="1.0" encoding="UTF-8" standalone="yes"?><Relationships xmlns="http://schemas.openxmlformats.org/package/2006/relationships"><Relationship Id="rId1" Type="http://schemas.openxmlformats.org/officeDocument/2006/relationships/package" Target="../embeddings/Microsoft_Excel_Worksheet59.xlsx"/></Relationships>
</file>

<file path=ppt/charts/_rels/chart60.xml.rels><?xml version="1.0" encoding="UTF-8" standalone="yes"?><Relationships xmlns="http://schemas.openxmlformats.org/package/2006/relationships"><Relationship Id="rId1" Type="http://schemas.openxmlformats.org/officeDocument/2006/relationships/package" Target="../embeddings/Microsoft_Excel_Worksheet60.xlsx"/></Relationships>
</file>

<file path=ppt/charts/_rels/chart61.xml.rels><?xml version="1.0" encoding="UTF-8" standalone="yes"?><Relationships xmlns="http://schemas.openxmlformats.org/package/2006/relationships"><Relationship Id="rId1" Type="http://schemas.openxmlformats.org/officeDocument/2006/relationships/package" Target="../embeddings/Microsoft_Excel_Worksheet61.xlsx"/></Relationships>
</file>

<file path=ppt/charts/_rels/chart62.xml.rels><?xml version="1.0" encoding="UTF-8" standalone="yes"?><Relationships xmlns="http://schemas.openxmlformats.org/package/2006/relationships"><Relationship Id="rId1" Type="http://schemas.openxmlformats.org/officeDocument/2006/relationships/package" Target="../embeddings/Microsoft_Excel_Worksheet62.xlsx"/></Relationships>
</file>

<file path=ppt/charts/_rels/chart63.xml.rels><?xml version="1.0" encoding="UTF-8" standalone="yes"?><Relationships xmlns="http://schemas.openxmlformats.org/package/2006/relationships"><Relationship Id="rId1" Type="http://schemas.openxmlformats.org/officeDocument/2006/relationships/package" Target="../embeddings/Microsoft_Excel_Worksheet63.xlsx"/></Relationships>
</file>

<file path=ppt/charts/_rels/chart64.xml.rels><?xml version="1.0" encoding="UTF-8" standalone="yes"?><Relationships xmlns="http://schemas.openxmlformats.org/package/2006/relationships"><Relationship Id="rId1" Type="http://schemas.openxmlformats.org/officeDocument/2006/relationships/package" Target="../embeddings/Microsoft_Excel_Worksheet64.xlsx"/></Relationships>
</file>

<file path=ppt/charts/_rels/chart65.xml.rels><?xml version="1.0" encoding="UTF-8" standalone="yes"?><Relationships xmlns="http://schemas.openxmlformats.org/package/2006/relationships"><Relationship Id="rId1" Type="http://schemas.openxmlformats.org/officeDocument/2006/relationships/package" Target="../embeddings/Microsoft_Excel_Worksheet65.xlsx"/></Relationships>
</file>

<file path=ppt/charts/_rels/chart66.xml.rels><?xml version="1.0" encoding="UTF-8" standalone="yes"?><Relationships xmlns="http://schemas.openxmlformats.org/package/2006/relationships"><Relationship Id="rId1" Type="http://schemas.openxmlformats.org/officeDocument/2006/relationships/package" Target="../embeddings/Microsoft_Excel_Worksheet66.xlsx"/></Relationships>
</file>

<file path=ppt/charts/_rels/chart67.xml.rels><?xml version="1.0" encoding="UTF-8" standalone="yes"?><Relationships xmlns="http://schemas.openxmlformats.org/package/2006/relationships"><Relationship Id="rId1" Type="http://schemas.openxmlformats.org/officeDocument/2006/relationships/package" Target="../embeddings/Microsoft_Excel_Worksheet67.xlsx"/></Relationships>
</file>

<file path=ppt/charts/_rels/chart68.xml.rels><?xml version="1.0" encoding="UTF-8" standalone="yes"?><Relationships xmlns="http://schemas.openxmlformats.org/package/2006/relationships"><Relationship Id="rId1" Type="http://schemas.openxmlformats.org/officeDocument/2006/relationships/package" Target="../embeddings/Microsoft_Excel_Worksheet68.xlsx"/></Relationships>
</file>

<file path=ppt/charts/_rels/chart69.xml.rels><?xml version="1.0" encoding="UTF-8" standalone="yes"?><Relationships xmlns="http://schemas.openxmlformats.org/package/2006/relationships"><Relationship Id="rId1" Type="http://schemas.openxmlformats.org/officeDocument/2006/relationships/package" Target="../embeddings/Microsoft_Excel_Worksheet69.xlsx"/></Relationships>
</file>

<file path=ppt/charts/_rels/chart70.xml.rels><?xml version="1.0" encoding="UTF-8" standalone="yes"?><Relationships xmlns="http://schemas.openxmlformats.org/package/2006/relationships"><Relationship Id="rId1" Type="http://schemas.openxmlformats.org/officeDocument/2006/relationships/package" Target="../embeddings/Microsoft_Excel_Worksheet70.xlsx"/></Relationships>
</file>

<file path=ppt/charts/_rels/chart71.xml.rels><?xml version="1.0" encoding="UTF-8" standalone="yes"?><Relationships xmlns="http://schemas.openxmlformats.org/package/2006/relationships"><Relationship Id="rId1" Type="http://schemas.openxmlformats.org/officeDocument/2006/relationships/package" Target="../embeddings/Microsoft_Excel_Worksheet71.xlsx"/></Relationships>
</file>

<file path=ppt/charts/_rels/chart72.xml.rels><?xml version="1.0" encoding="UTF-8" standalone="yes"?><Relationships xmlns="http://schemas.openxmlformats.org/package/2006/relationships"><Relationship Id="rId1" Type="http://schemas.openxmlformats.org/officeDocument/2006/relationships/package" Target="../embeddings/Microsoft_Excel_Worksheet72.xlsx"/></Relationships>
</file>

<file path=ppt/charts/_rels/chart73.xml.rels><?xml version="1.0" encoding="UTF-8" standalone="yes"?><Relationships xmlns="http://schemas.openxmlformats.org/package/2006/relationships"><Relationship Id="rId1" Type="http://schemas.openxmlformats.org/officeDocument/2006/relationships/package" Target="../embeddings/Microsoft_Excel_Worksheet73.xlsx"/></Relationships>
</file>

<file path=ppt/charts/_rels/chart74.xml.rels><?xml version="1.0" encoding="UTF-8" standalone="yes"?><Relationships xmlns="http://schemas.openxmlformats.org/package/2006/relationships"><Relationship Id="rId1" Type="http://schemas.openxmlformats.org/officeDocument/2006/relationships/package" Target="../embeddings/Microsoft_Excel_Worksheet74.xlsx"/></Relationships>
</file>

<file path=ppt/charts/_rels/chart75.xml.rels><?xml version="1.0" encoding="UTF-8" standalone="yes"?><Relationships xmlns="http://schemas.openxmlformats.org/package/2006/relationships"><Relationship Id="rId1" Type="http://schemas.openxmlformats.org/officeDocument/2006/relationships/package" Target="../embeddings/Microsoft_Excel_Worksheet75.xlsx"/></Relationships>
</file>

<file path=ppt/charts/_rels/chart76.xml.rels><?xml version="1.0" encoding="UTF-8" standalone="yes"?><Relationships xmlns="http://schemas.openxmlformats.org/package/2006/relationships"><Relationship Id="rId1" Type="http://schemas.openxmlformats.org/officeDocument/2006/relationships/package" Target="../embeddings/Microsoft_Excel_Worksheet7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quot;$&quot;#,##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12996</c:v>
                </c:pt>
                <c:pt idx="1">
                  <c:v>12334</c:v>
                </c:pt>
                <c:pt idx="2">
                  <c:v>13714</c:v>
                </c:pt>
                <c:pt idx="3">
                  <c:v>14108</c:v>
                </c:pt>
                <c:pt idx="4">
                  <c:v>13092</c:v>
                </c:pt>
                <c:pt idx="5">
                  <c:v>13919</c:v>
                </c:pt>
                <c:pt idx="6">
                  <c:v>14673</c:v>
                </c:pt>
                <c:pt idx="7">
                  <c:v>13972</c:v>
                </c:pt>
                <c:pt idx="8">
                  <c:v>13721</c:v>
                </c:pt>
                <c:pt idx="9">
                  <c:v/>
                </c:pt>
                <c:pt idx="10">
                  <c:v/>
                </c:pt>
                <c:pt idx="11">
                  <c:v/>
                </c:pt>
              </c:numCache>
            </c:numRef>
          </c:val>
          <c:smooth val="0"/>
        </c:ser>
        <c:dLbls>
          <c:numFmt formatCode="&quot;$&quot;#,##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000"/>
          <c:min val="10000"/>
        </c:scaling>
        <c:delete val="0"/>
        <c:axPos val="l"/>
        <c:majorGridlines>
          <c:spPr>
            <a:ln w="9525" cap="flat">
              <a:solidFill>
                <a:srgbClr val="D9D9D9"/>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quot;$&quot;#,##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12996</c:v>
                </c:pt>
                <c:pt idx="1">
                  <c:v>12334</c:v>
                </c:pt>
                <c:pt idx="2">
                  <c:v>13714</c:v>
                </c:pt>
                <c:pt idx="3">
                  <c:v>14108</c:v>
                </c:pt>
                <c:pt idx="4">
                  <c:v>13092</c:v>
                </c:pt>
                <c:pt idx="5">
                  <c:v>13919</c:v>
                </c:pt>
                <c:pt idx="6">
                  <c:v>14673</c:v>
                </c:pt>
                <c:pt idx="7">
                  <c:v>13972</c:v>
                </c:pt>
                <c:pt idx="8">
                  <c:v>13721</c:v>
                </c:pt>
                <c:pt idx="9">
                  <c:v/>
                </c:pt>
                <c:pt idx="10">
                  <c:v/>
                </c:pt>
                <c:pt idx="11">
                  <c:v/>
                </c:pt>
              </c:numCache>
            </c:numRef>
          </c:val>
          <c:smooth val="0"/>
        </c:ser>
        <c:dLbls>
          <c:numFmt formatCode="&quot;$&quot;#,##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000"/>
          <c:min val="10000"/>
        </c:scaling>
        <c:delete val="0"/>
        <c:axPos val="l"/>
        <c:numFmt formatCode="&quot;$&quot;#,##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0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quot;$&quot;#,##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13262</c:v>
                </c:pt>
                <c:pt idx="10">
                  <c:v/>
                </c:pt>
                <c:pt idx="11">
                  <c:v>12359</c:v>
                </c:pt>
              </c:numCache>
            </c:numRef>
          </c:val>
          <c:smooth val="0"/>
        </c:ser>
        <c:dLbls>
          <c:numFmt formatCode="&quot;$&quot;#,##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000"/>
          <c:min val="10000"/>
        </c:scaling>
        <c:delete val="0"/>
        <c:axPos val="l"/>
        <c:numFmt formatCode="&quot;$&quot;#,##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0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quot;$&quot;#,##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12592</c:v>
                </c:pt>
                <c:pt idx="1">
                  <c:v>11705</c:v>
                </c:pt>
                <c:pt idx="2">
                  <c:v>12397</c:v>
                </c:pt>
                <c:pt idx="3">
                  <c:v>12913</c:v>
                </c:pt>
                <c:pt idx="4">
                  <c:v>12494</c:v>
                </c:pt>
                <c:pt idx="5">
                  <c:v>12584</c:v>
                </c:pt>
                <c:pt idx="6">
                  <c:v>12740</c:v>
                </c:pt>
                <c:pt idx="7">
                  <c:v>12488</c:v>
                </c:pt>
                <c:pt idx="8">
                  <c:v>11778</c:v>
                </c:pt>
                <c:pt idx="9">
                  <c:v/>
                </c:pt>
                <c:pt idx="10">
                  <c:v>11216</c:v>
                </c:pt>
                <c:pt idx="11">
                  <c:v/>
                </c:pt>
              </c:numCache>
            </c:numRef>
          </c:val>
          <c:smooth val="0"/>
        </c:ser>
        <c:dLbls>
          <c:numFmt formatCode="&quot;$&quot;#,##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000"/>
          <c:min val="10000"/>
        </c:scaling>
        <c:delete val="0"/>
        <c:axPos val="l"/>
        <c:numFmt formatCode="&quot;$&quot;#,##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0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quot;$&quot;#,##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12592</c:v>
                </c:pt>
                <c:pt idx="1">
                  <c:v>11705</c:v>
                </c:pt>
                <c:pt idx="2">
                  <c:v>12397</c:v>
                </c:pt>
                <c:pt idx="3">
                  <c:v>12913</c:v>
                </c:pt>
                <c:pt idx="4">
                  <c:v>12494</c:v>
                </c:pt>
                <c:pt idx="5">
                  <c:v>12584</c:v>
                </c:pt>
                <c:pt idx="6">
                  <c:v>12740</c:v>
                </c:pt>
                <c:pt idx="7">
                  <c:v>12488</c:v>
                </c:pt>
                <c:pt idx="8">
                  <c:v>11778</c:v>
                </c:pt>
                <c:pt idx="9">
                  <c:v>13262</c:v>
                </c:pt>
                <c:pt idx="10">
                  <c:v>11216</c:v>
                </c:pt>
                <c:pt idx="11">
                  <c:v>12359</c:v>
                </c:pt>
              </c:numCache>
            </c:numRef>
          </c:val>
          <c:smooth val="0"/>
        </c:ser>
        <c:dLbls>
          <c:numFmt formatCode="&quot;$&quot;#,##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16000"/>
          <c:min val="10000"/>
        </c:scaling>
        <c:delete val="0"/>
        <c:axPos val="l"/>
        <c:numFmt formatCode="&quot;$&quot;#,##0"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00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10328.754193548388</c:v>
                </c:pt>
                <c:pt idx="1">
                  <c:v>11427.873333333333</c:v>
                </c:pt>
                <c:pt idx="2">
                  <c:v>10489.561935483871</c:v>
                </c:pt>
                <c:pt idx="3">
                  <c:v>13017.831333333334</c:v>
                </c:pt>
                <c:pt idx="4">
                  <c:v>10791.459677419354</c:v>
                </c:pt>
                <c:pt idx="5">
                  <c:v>12399.648888888889</c:v>
                </c:pt>
                <c:pt idx="6">
                  <c:v>12201.710000000001</c:v>
                </c:pt>
                <c:pt idx="7">
                  <c:v>11725.143793103447</c:v>
                </c:pt>
                <c:pt idx="8">
                  <c:v>10448.274333333333</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12568.287096774195</c:v>
                </c:pt>
                <c:pt idx="1">
                  <c:v>11738.365483870968</c:v>
                </c:pt>
                <c:pt idx="2">
                  <c:v>12995.7303125</c:v>
                </c:pt>
                <c:pt idx="3">
                  <c:v>18676.97090909091</c:v>
                </c:pt>
                <c:pt idx="4">
                  <c:v>16177.240000000002</c:v>
                </c:pt>
                <c:pt idx="5">
                  <c:v>19904.307727272728</c:v>
                </c:pt>
                <c:pt idx="6">
                  <c:v>18240.234545454543</c:v>
                </c:pt>
                <c:pt idx="7">
                  <c:v>16730.18590909091</c:v>
                </c:pt>
                <c:pt idx="8">
                  <c:v>16917.185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670.352009970677"/>
          <c:min val="9562.709910850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9764.897857142858</c:v>
                </c:pt>
                <c:pt idx="1">
                  <c:v>8678.790769230769</c:v>
                </c:pt>
                <c:pt idx="2">
                  <c:v>9303.0175</c:v>
                </c:pt>
                <c:pt idx="3">
                  <c:v>10658.23076923077</c:v>
                </c:pt>
                <c:pt idx="4">
                  <c:v>7869.699230769231</c:v>
                </c:pt>
                <c:pt idx="5">
                  <c:v>7347.306</c:v>
                </c:pt>
                <c:pt idx="6">
                  <c:v>9855.274705882353</c:v>
                </c:pt>
                <c:pt idx="7">
                  <c:v>7699.027647058823</c:v>
                </c:pt>
                <c:pt idx="8">
                  <c:v>7507.301875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8179.029333333334</c:v>
                </c:pt>
                <c:pt idx="1">
                  <c:v>11351.606</c:v>
                </c:pt>
                <c:pt idx="2">
                  <c:v>11348.378125</c:v>
                </c:pt>
                <c:pt idx="3">
                  <c:v>10600.176666666666</c:v>
                </c:pt>
                <c:pt idx="4">
                  <c:v>11325.422857142858</c:v>
                </c:pt>
                <c:pt idx="5">
                  <c:v>12711.343571428572</c:v>
                </c:pt>
                <c:pt idx="6">
                  <c:v>14741.235</c:v>
                </c:pt>
                <c:pt idx="7">
                  <c:v>12810.621428571429</c:v>
                </c:pt>
                <c:pt idx="8">
                  <c:v>11966.292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332.74932"/>
          <c:min val="6755.7916799999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9005.116451612903</c:v>
                </c:pt>
                <c:pt idx="1">
                  <c:v>8209.987</c:v>
                </c:pt>
                <c:pt idx="2">
                  <c:v>9264.968666666666</c:v>
                </c:pt>
                <c:pt idx="3">
                  <c:v>9190.243928571428</c:v>
                </c:pt>
                <c:pt idx="4">
                  <c:v>8732.873666666666</c:v>
                </c:pt>
                <c:pt idx="5">
                  <c:v>7422.641290322581</c:v>
                </c:pt>
                <c:pt idx="6">
                  <c:v>8026.841333333333</c:v>
                </c:pt>
                <c:pt idx="7">
                  <c:v>9464.78103448276</c:v>
                </c:pt>
                <c:pt idx="8">
                  <c:v>6550.932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10611.027333333333</c:v>
                </c:pt>
                <c:pt idx="1">
                  <c:v>10414.379666666668</c:v>
                </c:pt>
                <c:pt idx="2">
                  <c:v>11926.784333333335</c:v>
                </c:pt>
                <c:pt idx="3">
                  <c:v>10534.514666666666</c:v>
                </c:pt>
                <c:pt idx="4">
                  <c:v>9907.659666666666</c:v>
                </c:pt>
                <c:pt idx="5">
                  <c:v>10351.077</c:v>
                </c:pt>
                <c:pt idx="6">
                  <c:v>11370.130333333333</c:v>
                </c:pt>
                <c:pt idx="7">
                  <c:v>11587.91</c:v>
                </c:pt>
                <c:pt idx="8">
                  <c:v>11913.973870967742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356.852520000002"/>
          <c:min val="6120.8638133333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14543.932727272728</c:v>
                </c:pt>
                <c:pt idx="1">
                  <c:v>9626.62</c:v>
                </c:pt>
                <c:pt idx="2">
                  <c:v>9889.238333333333</c:v>
                </c:pt>
                <c:pt idx="3">
                  <c:v>13529.358181818183</c:v>
                </c:pt>
                <c:pt idx="4">
                  <c:v>11468.91090909091</c:v>
                </c:pt>
                <c:pt idx="5">
                  <c:v>9941.029166666667</c:v>
                </c:pt>
                <c:pt idx="6">
                  <c:v>12283.417</c:v>
                </c:pt>
                <c:pt idx="7">
                  <c:v>11253.09</c:v>
                </c:pt>
                <c:pt idx="8">
                  <c:v>8708.986363636364</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10681.267272727273</c:v>
                </c:pt>
                <c:pt idx="1">
                  <c:v>8268.094000000001</c:v>
                </c:pt>
                <c:pt idx="2">
                  <c:v>10048.831</c:v>
                </c:pt>
                <c:pt idx="3">
                  <c:v>9629.965833333334</c:v>
                </c:pt>
                <c:pt idx="4">
                  <c:v>7816.510833333334</c:v>
                </c:pt>
                <c:pt idx="5">
                  <c:v>10926.842499999999</c:v>
                </c:pt>
                <c:pt idx="6">
                  <c:v>11564.562727272727</c:v>
                </c:pt>
                <c:pt idx="7">
                  <c:v>9953.628999999999</c:v>
                </c:pt>
                <c:pt idx="8">
                  <c:v>10012.837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082.126478787879"/>
          <c:min val="7278.31708181818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14196.569411764705</c:v>
                </c:pt>
                <c:pt idx="1">
                  <c:v>14259.261176470589</c:v>
                </c:pt>
                <c:pt idx="2">
                  <c:v>13111.632352941177</c:v>
                </c:pt>
                <c:pt idx="3">
                  <c:v>12927.792222222222</c:v>
                </c:pt>
                <c:pt idx="4">
                  <c:v>11880.529444444444</c:v>
                </c:pt>
                <c:pt idx="5">
                  <c:v>13848.808823529413</c:v>
                </c:pt>
                <c:pt idx="6">
                  <c:v>13785.644705882352</c:v>
                </c:pt>
                <c:pt idx="7">
                  <c:v>12634.707222222223</c:v>
                </c:pt>
                <c:pt idx="8">
                  <c:v>13481.645999999999</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11006.317500000001</c:v>
                </c:pt>
                <c:pt idx="1">
                  <c:v>10758.536666666667</c:v>
                </c:pt>
                <c:pt idx="2">
                  <c:v>10693.837727272727</c:v>
                </c:pt>
                <c:pt idx="3">
                  <c:v>12764.419523809524</c:v>
                </c:pt>
                <c:pt idx="4">
                  <c:v>11819.966499999999</c:v>
                </c:pt>
                <c:pt idx="5">
                  <c:v>12314.305</c:v>
                </c:pt>
                <c:pt idx="6">
                  <c:v>13960.412608695651</c:v>
                </c:pt>
                <c:pt idx="7">
                  <c:v>12442.894782608697</c:v>
                </c:pt>
                <c:pt idx="8">
                  <c:v>12896.293913043479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544.495052406417"/>
          <c:min val="10408.60385133689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15285.79923076923</c:v>
                </c:pt>
                <c:pt idx="1">
                  <c:v>14679.894696969697</c:v>
                </c:pt>
                <c:pt idx="2">
                  <c:v>14093.677164179104</c:v>
                </c:pt>
                <c:pt idx="3">
                  <c:v>14364.368939393938</c:v>
                </c:pt>
                <c:pt idx="4">
                  <c:v>14823.901538461538</c:v>
                </c:pt>
                <c:pt idx="5">
                  <c:v>16683.807076923076</c:v>
                </c:pt>
                <c:pt idx="6">
                  <c:v>14813.223823529412</c:v>
                </c:pt>
                <c:pt idx="7">
                  <c:v>14842.673661971832</c:v>
                </c:pt>
                <c:pt idx="8">
                  <c:v>13457.332361111112</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14875.225342465752</c:v>
                </c:pt>
                <c:pt idx="1">
                  <c:v>13274.013552631579</c:v>
                </c:pt>
                <c:pt idx="2">
                  <c:v>13958.210789473684</c:v>
                </c:pt>
                <c:pt idx="3">
                  <c:v>16108.256666666666</c:v>
                </c:pt>
                <c:pt idx="4">
                  <c:v>12898.752236842105</c:v>
                </c:pt>
                <c:pt idx="5">
                  <c:v>13809.881066666667</c:v>
                </c:pt>
                <c:pt idx="6">
                  <c:v>14742.652567567568</c:v>
                </c:pt>
                <c:pt idx="7">
                  <c:v>15072.556986301368</c:v>
                </c:pt>
                <c:pt idx="8">
                  <c:v>13680.323733333335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986.611464129553"/>
          <c:min val="12595.9478496356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15825.321111111112</c:v>
                </c:pt>
                <c:pt idx="1">
                  <c:v>15825.321111111112</c:v>
                </c:pt>
                <c:pt idx="2">
                  <c:v>15825.321111111112</c:v>
                </c:pt>
                <c:pt idx="3">
                  <c:v>15825.321111111112</c:v>
                </c:pt>
                <c:pt idx="4">
                  <c:v>15825.321111111112</c:v>
                </c:pt>
                <c:pt idx="5">
                  <c:v>15825.321111111112</c:v>
                </c:pt>
                <c:pt idx="6">
                  <c:v>15825.321111111112</c:v>
                </c:pt>
                <c:pt idx="7">
                  <c:v>15825.321111111112</c:v>
                </c:pt>
                <c:pt idx="8">
                  <c:v>15825.321111111112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214.440843809527"/>
          <c:min val="14716.3191085714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15233.430952380952</c:v>
                </c:pt>
                <c:pt idx="1">
                  <c:v>15843.78</c:v>
                </c:pt>
                <c:pt idx="2">
                  <c:v>16398.75238095238</c:v>
                </c:pt>
                <c:pt idx="3">
                  <c:v>18719.918181818182</c:v>
                </c:pt>
                <c:pt idx="4">
                  <c:v>17110.282857142858</c:v>
                </c:pt>
                <c:pt idx="5">
                  <c:v>18989.871052631577</c:v>
                </c:pt>
                <c:pt idx="6">
                  <c:v>21697.329</c:v>
                </c:pt>
                <c:pt idx="7">
                  <c:v>20235.704285714284</c:v>
                </c:pt>
                <c:pt idx="8">
                  <c:v>20395.156666666666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214.440843809527"/>
          <c:min val="14716.3191085714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12440.102127659575</c:v>
                </c:pt>
                <c:pt idx="1">
                  <c:v>12440.102127659575</c:v>
                </c:pt>
                <c:pt idx="2">
                  <c:v>12440.102127659575</c:v>
                </c:pt>
                <c:pt idx="3">
                  <c:v>12440.102127659575</c:v>
                </c:pt>
                <c:pt idx="4">
                  <c:v>12440.102127659575</c:v>
                </c:pt>
                <c:pt idx="5">
                  <c:v>12440.102127659575</c:v>
                </c:pt>
                <c:pt idx="6">
                  <c:v>12440.102127659575</c:v>
                </c:pt>
                <c:pt idx="7">
                  <c:v>12440.102127659575</c:v>
                </c:pt>
                <c:pt idx="8">
                  <c:v>12440.102127659575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557.583106744867"/>
          <c:min val="11085.09010439882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12568.287096774195</c:v>
                </c:pt>
                <c:pt idx="1">
                  <c:v>11738.365483870968</c:v>
                </c:pt>
                <c:pt idx="2">
                  <c:v>12995.7303125</c:v>
                </c:pt>
                <c:pt idx="3">
                  <c:v>18676.97090909091</c:v>
                </c:pt>
                <c:pt idx="4">
                  <c:v>16177.240000000002</c:v>
                </c:pt>
                <c:pt idx="5">
                  <c:v>19904.307727272728</c:v>
                </c:pt>
                <c:pt idx="6">
                  <c:v>18240.234545454543</c:v>
                </c:pt>
                <c:pt idx="7">
                  <c:v>16730.18590909091</c:v>
                </c:pt>
                <c:pt idx="8">
                  <c:v>16917.185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557.583106744867"/>
          <c:min val="11085.09010439882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13709.45632653061</c:v>
                </c:pt>
                <c:pt idx="1">
                  <c:v>13709.45632653061</c:v>
                </c:pt>
                <c:pt idx="2">
                  <c:v>13709.45632653061</c:v>
                </c:pt>
                <c:pt idx="3">
                  <c:v>13709.45632653061</c:v>
                </c:pt>
                <c:pt idx="4">
                  <c:v>13709.45632653061</c:v>
                </c:pt>
                <c:pt idx="5">
                  <c:v>13709.45632653061</c:v>
                </c:pt>
                <c:pt idx="6">
                  <c:v>13709.45632653061</c:v>
                </c:pt>
                <c:pt idx="7">
                  <c:v>13709.45632653061</c:v>
                </c:pt>
                <c:pt idx="8">
                  <c:v>13709.45632653061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493.968693333336"/>
          <c:min val="11343.3593066666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13495.86882352941</c:v>
                </c:pt>
                <c:pt idx="1">
                  <c:v>12043.401333333333</c:v>
                </c:pt>
                <c:pt idx="2">
                  <c:v>15393.092352941178</c:v>
                </c:pt>
                <c:pt idx="3">
                  <c:v>15823.766470588236</c:v>
                </c:pt>
                <c:pt idx="4">
                  <c:v>13089.334705882353</c:v>
                </c:pt>
                <c:pt idx="5">
                  <c:v>15555.78875</c:v>
                </c:pt>
                <c:pt idx="6">
                  <c:v>16042.75</c:v>
                </c:pt>
                <c:pt idx="7">
                  <c:v>20793.92666666667</c:v>
                </c:pt>
                <c:pt idx="8">
                  <c:v>15135.897333333332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493.968693333336"/>
          <c:min val="11343.35930666666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165.0483870967742</c:v>
                </c:pt>
                <c:pt idx="1">
                  <c:v>148.57142857142858</c:v>
                </c:pt>
                <c:pt idx="2">
                  <c:v>165.3531746031746</c:v>
                </c:pt>
                <c:pt idx="3">
                  <c:v>163.812</c:v>
                </c:pt>
                <c:pt idx="4">
                  <c:v>157.87007874015748</c:v>
                </c:pt>
                <c:pt idx="5">
                  <c:v>171.412</c:v>
                </c:pt>
                <c:pt idx="6">
                  <c:v>174.588</c:v>
                </c:pt>
                <c:pt idx="7">
                  <c:v>176.49180327868854</c:v>
                </c:pt>
                <c:pt idx="8">
                  <c:v>172.46058091286307</c:v>
                </c:pt>
                <c:pt idx="9">
                  <c:v/>
                </c:pt>
                <c:pt idx="10">
                  <c:v/>
                </c:pt>
                <c:pt idx="11">
                  <c:v/>
                </c:pt>
              </c:numCache>
            </c:numRef>
          </c:val>
          <c:smooth val="0"/>
        </c:ser>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00"/>
          <c:min val="120"/>
        </c:scaling>
        <c:delete val="0"/>
        <c:axPos val="l"/>
        <c:majorGridlines>
          <c:spPr>
            <a:ln w="9525" cap="flat">
              <a:solidFill>
                <a:srgbClr val="D9D9D9"/>
              </a:solidFill>
              <a:prstDash val="solid"/>
              <a:round/>
            </a:ln>
          </c:spPr>
        </c:majorGridlines>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171.412</c:v>
                </c:pt>
                <c:pt idx="6">
                  <c:v/>
                </c:pt>
                <c:pt idx="7">
                  <c:v>176.49180327868854</c:v>
                </c:pt>
                <c:pt idx="8">
                  <c:v>172.46058091286307</c:v>
                </c:pt>
                <c:pt idx="9">
                  <c:v/>
                </c:pt>
                <c:pt idx="10">
                  <c:v/>
                </c:pt>
                <c:pt idx="11">
                  <c:v/>
                </c:pt>
              </c:numCache>
            </c:numRef>
          </c:val>
          <c:smooth val="0"/>
        </c:ser>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00"/>
          <c:min val="12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165.0483870967742</c:v>
                </c:pt>
                <c:pt idx="1">
                  <c:v>148.57142857142858</c:v>
                </c:pt>
                <c:pt idx="2">
                  <c:v>165.3531746031746</c:v>
                </c:pt>
                <c:pt idx="3">
                  <c:v>163.812</c:v>
                </c:pt>
                <c:pt idx="4">
                  <c:v>157.87007874015748</c:v>
                </c:pt>
                <c:pt idx="5">
                  <c:v/>
                </c:pt>
                <c:pt idx="6">
                  <c:v>174.588</c:v>
                </c:pt>
                <c:pt idx="7">
                  <c:v/>
                </c:pt>
                <c:pt idx="8">
                  <c:v/>
                </c:pt>
                <c:pt idx="9">
                  <c:v/>
                </c:pt>
                <c:pt idx="10">
                  <c:v/>
                </c:pt>
                <c:pt idx="11">
                  <c:v/>
                </c:pt>
              </c:numCache>
            </c:numRef>
          </c:val>
          <c:smooth val="0"/>
        </c:ser>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00"/>
          <c:min val="12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181.76470588235293</c:v>
                </c:pt>
                <c:pt idx="1">
                  <c:v>167.49789029535864</c:v>
                </c:pt>
                <c:pt idx="2">
                  <c:v>178.79166666666666</c:v>
                </c:pt>
                <c:pt idx="3">
                  <c:v>176.42561983471074</c:v>
                </c:pt>
                <c:pt idx="4">
                  <c:v>169.248</c:v>
                </c:pt>
                <c:pt idx="5">
                  <c:v/>
                </c:pt>
                <c:pt idx="6">
                  <c:v>177.77732793522267</c:v>
                </c:pt>
                <c:pt idx="7">
                  <c:v/>
                </c:pt>
                <c:pt idx="8">
                  <c:v/>
                </c:pt>
                <c:pt idx="9">
                  <c:v>173.3413654618474</c:v>
                </c:pt>
                <c:pt idx="10">
                  <c:v/>
                </c:pt>
                <c:pt idx="11">
                  <c:v>159.43373493975903</c:v>
                </c:pt>
              </c:numCache>
            </c:numRef>
          </c:val>
          <c:smooth val="0"/>
        </c:ser>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00"/>
          <c:min val="12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171.10526315789474</c:v>
                </c:pt>
                <c:pt idx="6">
                  <c:v/>
                </c:pt>
                <c:pt idx="7">
                  <c:v>171.31075697211156</c:v>
                </c:pt>
                <c:pt idx="8">
                  <c:v>160.78225806451613</c:v>
                </c:pt>
                <c:pt idx="9">
                  <c:v/>
                </c:pt>
                <c:pt idx="10">
                  <c:v>152.834008097166</c:v>
                </c:pt>
                <c:pt idx="11">
                  <c:v/>
                </c:pt>
              </c:numCache>
            </c:numRef>
          </c:val>
          <c:smooth val="0"/>
        </c:ser>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00"/>
          <c:min val="12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181.76470588235293</c:v>
                </c:pt>
                <c:pt idx="1">
                  <c:v>167.49789029535864</c:v>
                </c:pt>
                <c:pt idx="2">
                  <c:v>178.79166666666666</c:v>
                </c:pt>
                <c:pt idx="3">
                  <c:v>176.42561983471074</c:v>
                </c:pt>
                <c:pt idx="4">
                  <c:v>169.248</c:v>
                </c:pt>
                <c:pt idx="5">
                  <c:v>171.10526315789474</c:v>
                </c:pt>
                <c:pt idx="6">
                  <c:v>177.77732793522267</c:v>
                </c:pt>
                <c:pt idx="7">
                  <c:v>171.31075697211156</c:v>
                </c:pt>
                <c:pt idx="8">
                  <c:v>160.78225806451613</c:v>
                </c:pt>
                <c:pt idx="9">
                  <c:v>173.3413654618474</c:v>
                </c:pt>
                <c:pt idx="10">
                  <c:v>152.834008097166</c:v>
                </c:pt>
                <c:pt idx="11">
                  <c:v>159.43373493975903</c:v>
                </c:pt>
              </c:numCache>
            </c:numRef>
          </c:val>
          <c:smooth val="0"/>
        </c:ser>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200"/>
          <c:min val="12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134</c:v>
                </c:pt>
                <c:pt idx="1">
                  <c:v>119.8</c:v>
                </c:pt>
                <c:pt idx="2">
                  <c:v>121.2</c:v>
                </c:pt>
                <c:pt idx="3">
                  <c:v>118.6</c:v>
                </c:pt>
                <c:pt idx="4">
                  <c:v>154.25</c:v>
                </c:pt>
                <c:pt idx="5">
                  <c:v>141.75</c:v>
                </c:pt>
                <c:pt idx="6">
                  <c:v>152</c:v>
                </c:pt>
                <c:pt idx="7">
                  <c:v>159.5</c:v>
                </c:pt>
                <c:pt idx="8">
                  <c:v>132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153.33333333333334</c:v>
                </c:pt>
                <c:pt idx="1">
                  <c:v>168.33333333333334</c:v>
                </c:pt>
                <c:pt idx="2">
                  <c:v>187</c:v>
                </c:pt>
                <c:pt idx="3">
                  <c:v>195</c:v>
                </c:pt>
                <c:pt idx="4">
                  <c:v>185.66666666666666</c:v>
                </c:pt>
                <c:pt idx="5">
                  <c:v>196.33333333333334</c:v>
                </c:pt>
                <c:pt idx="6">
                  <c:v>191</c:v>
                </c:pt>
                <c:pt idx="7">
                  <c:v>180.66666666666666</c:v>
                </c:pt>
                <c:pt idx="8">
                  <c:v>135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2.55200000000002"/>
          <c:min val="112.381333333333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122</c:v>
                </c:pt>
                <c:pt idx="1">
                  <c:v>116.66666666666667</c:v>
                </c:pt>
                <c:pt idx="2">
                  <c:v>106.66666666666667</c:v>
                </c:pt>
                <c:pt idx="3">
                  <c:v>111.66666666666667</c:v>
                </c:pt>
                <c:pt idx="4">
                  <c:v>103</c:v>
                </c:pt>
                <c:pt idx="5">
                  <c:v>103.33333333333333</c:v>
                </c:pt>
                <c:pt idx="6">
                  <c:v>125.33333333333333</c:v>
                </c:pt>
                <c:pt idx="7">
                  <c:v>132</c:v>
                </c:pt>
                <c:pt idx="8">
                  <c:v>142.66666666666666</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132</c:v>
                </c:pt>
                <c:pt idx="1">
                  <c:v>140.66666666666666</c:v>
                </c:pt>
                <c:pt idx="2">
                  <c:v>142.66666666666666</c:v>
                </c:pt>
                <c:pt idx="3">
                  <c:v>148.33333333333334</c:v>
                </c:pt>
                <c:pt idx="4">
                  <c:v>160.33333333333334</c:v>
                </c:pt>
                <c:pt idx="5">
                  <c:v>184</c:v>
                </c:pt>
                <c:pt idx="6">
                  <c:v>177.66666666666666</c:v>
                </c:pt>
                <c:pt idx="7">
                  <c:v>147.33333333333334</c:v>
                </c:pt>
                <c:pt idx="8">
                  <c:v>149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0.48"/>
          <c:min val="96.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216.375</c:v>
                </c:pt>
                <c:pt idx="1">
                  <c:v>183</c:v>
                </c:pt>
                <c:pt idx="2">
                  <c:v>197.5</c:v>
                </c:pt>
                <c:pt idx="3">
                  <c:v>223.375</c:v>
                </c:pt>
                <c:pt idx="4">
                  <c:v>219.625</c:v>
                </c:pt>
                <c:pt idx="5">
                  <c:v>238.14285714285714</c:v>
                </c:pt>
                <c:pt idx="6">
                  <c:v>254.85714285714286</c:v>
                </c:pt>
                <c:pt idx="7">
                  <c:v>246</c:v>
                </c:pt>
                <c:pt idx="8">
                  <c:v>225.28571428571428</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243.28571428571428</c:v>
                </c:pt>
                <c:pt idx="1">
                  <c:v>206.42857142857142</c:v>
                </c:pt>
                <c:pt idx="2">
                  <c:v>265.85714285714283</c:v>
                </c:pt>
                <c:pt idx="3">
                  <c:v>245.57142857142858</c:v>
                </c:pt>
                <c:pt idx="4">
                  <c:v>252</c:v>
                </c:pt>
                <c:pt idx="5">
                  <c:v>273.7142857142857</c:v>
                </c:pt>
                <c:pt idx="6">
                  <c:v>273.2857142857143</c:v>
                </c:pt>
                <c:pt idx="7">
                  <c:v>255.71428571428572</c:v>
                </c:pt>
                <c:pt idx="8">
                  <c:v>261.85714285714283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0.9714285714286"/>
          <c:min val="175.7428571428571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318</c:v>
                </c:pt>
                <c:pt idx="1">
                  <c:v>290.5</c:v>
                </c:pt>
                <c:pt idx="2">
                  <c:v>337.6666666666667</c:v>
                </c:pt>
                <c:pt idx="3">
                  <c:v>343.3333333333333</c:v>
                </c:pt>
                <c:pt idx="4">
                  <c:v>333</c:v>
                </c:pt>
                <c:pt idx="5">
                  <c:v>323</c:v>
                </c:pt>
                <c:pt idx="6">
                  <c:v>294.7142857142857</c:v>
                </c:pt>
                <c:pt idx="7">
                  <c:v>267</c:v>
                </c:pt>
                <c:pt idx="8">
                  <c:v>242.75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240.875</c:v>
                </c:pt>
                <c:pt idx="1">
                  <c:v>225.25</c:v>
                </c:pt>
                <c:pt idx="2">
                  <c:v>249.875</c:v>
                </c:pt>
                <c:pt idx="3">
                  <c:v>267.125</c:v>
                </c:pt>
                <c:pt idx="4">
                  <c:v>225.66666666666666</c:v>
                </c:pt>
                <c:pt idx="5">
                  <c:v>245.33333333333334</c:v>
                </c:pt>
                <c:pt idx="6">
                  <c:v>246.77777777777777</c:v>
                </c:pt>
                <c:pt idx="7">
                  <c:v>225.55555555555554</c:v>
                </c:pt>
                <c:pt idx="8">
                  <c:v>270.5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2.78"/>
          <c:min val="215.803333333333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227</c:v>
                </c:pt>
                <c:pt idx="1">
                  <c:v>185.5</c:v>
                </c:pt>
                <c:pt idx="2">
                  <c:v>188</c:v>
                </c:pt>
                <c:pt idx="3">
                  <c:v>205</c:v>
                </c:pt>
                <c:pt idx="4">
                  <c:v>189</c:v>
                </c:pt>
                <c:pt idx="5">
                  <c:v>200</c:v>
                </c:pt>
                <c:pt idx="6">
                  <c:v>213</c:v>
                </c:pt>
                <c:pt idx="7">
                  <c:v>186</c:v>
                </c:pt>
                <c:pt idx="8">
                  <c:v>178</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168.5</c:v>
                </c:pt>
                <c:pt idx="1">
                  <c:v>136</c:v>
                </c:pt>
                <c:pt idx="2">
                  <c:v>168.5</c:v>
                </c:pt>
                <c:pt idx="3">
                  <c:v>126</c:v>
                </c:pt>
                <c:pt idx="4">
                  <c:v>112.66666666666667</c:v>
                </c:pt>
                <c:pt idx="5">
                  <c:v>136.33333333333334</c:v>
                </c:pt>
                <c:pt idx="6">
                  <c:v>114.33333333333333</c:v>
                </c:pt>
                <c:pt idx="7">
                  <c:v>172.5</c:v>
                </c:pt>
                <c:pt idx="8">
                  <c:v>145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36.14666666666668"/>
          <c:min val="103.5200000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181.33333333333334</c:v>
                </c:pt>
                <c:pt idx="1">
                  <c:v>163.5</c:v>
                </c:pt>
                <c:pt idx="2">
                  <c:v>177.66666666666666</c:v>
                </c:pt>
                <c:pt idx="3">
                  <c:v>182.33333333333334</c:v>
                </c:pt>
                <c:pt idx="4">
                  <c:v>158.42857142857142</c:v>
                </c:pt>
                <c:pt idx="5">
                  <c:v>159.57142857142858</c:v>
                </c:pt>
                <c:pt idx="6">
                  <c:v>159</c:v>
                </c:pt>
                <c:pt idx="7">
                  <c:v>171</c:v>
                </c:pt>
                <c:pt idx="8">
                  <c:v>150</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134.25</c:v>
                </c:pt>
                <c:pt idx="1">
                  <c:v>112.25</c:v>
                </c:pt>
                <c:pt idx="2">
                  <c:v>133.77777777777777</c:v>
                </c:pt>
                <c:pt idx="3">
                  <c:v>117.11111111111111</c:v>
                </c:pt>
                <c:pt idx="4">
                  <c:v>117.55555555555556</c:v>
                </c:pt>
                <c:pt idx="5">
                  <c:v>116</c:v>
                </c:pt>
                <c:pt idx="6">
                  <c:v>122</c:v>
                </c:pt>
                <c:pt idx="7">
                  <c:v>131.125</c:v>
                </c:pt>
                <c:pt idx="8">
                  <c:v>122.625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7.94"/>
          <c:min val="106.643333333333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117.41176470588235</c:v>
                </c:pt>
                <c:pt idx="1">
                  <c:v>117.41176470588235</c:v>
                </c:pt>
                <c:pt idx="2">
                  <c:v>117.41176470588235</c:v>
                </c:pt>
                <c:pt idx="3">
                  <c:v>117.41176470588235</c:v>
                </c:pt>
                <c:pt idx="4">
                  <c:v>117.41176470588235</c:v>
                </c:pt>
                <c:pt idx="5">
                  <c:v>117.41176470588235</c:v>
                </c:pt>
                <c:pt idx="6">
                  <c:v>117.41176470588235</c:v>
                </c:pt>
                <c:pt idx="7">
                  <c:v>117.41176470588235</c:v>
                </c:pt>
                <c:pt idx="8">
                  <c:v>117.41176470588235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5.53"/>
          <c:min val="107.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114</c:v>
                </c:pt>
                <c:pt idx="1">
                  <c:v>119.4</c:v>
                </c:pt>
                <c:pt idx="2">
                  <c:v>119.16666666666667</c:v>
                </c:pt>
                <c:pt idx="3">
                  <c:v>127</c:v>
                </c:pt>
                <c:pt idx="4">
                  <c:v>126.16666666666667</c:v>
                </c:pt>
                <c:pt idx="5">
                  <c:v>189</c:v>
                </c:pt>
                <c:pt idx="6">
                  <c:v>157.6</c:v>
                </c:pt>
                <c:pt idx="7">
                  <c:v>172.6</c:v>
                </c:pt>
                <c:pt idx="8">
                  <c:v>198.75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5.53"/>
          <c:min val="107.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165.43589743589743</c:v>
                </c:pt>
                <c:pt idx="1">
                  <c:v>165.43589743589743</c:v>
                </c:pt>
                <c:pt idx="2">
                  <c:v>165.43589743589743</c:v>
                </c:pt>
                <c:pt idx="3">
                  <c:v>165.43589743589743</c:v>
                </c:pt>
                <c:pt idx="4">
                  <c:v>165.43589743589743</c:v>
                </c:pt>
                <c:pt idx="5">
                  <c:v>165.43589743589743</c:v>
                </c:pt>
                <c:pt idx="6">
                  <c:v>165.43589743589743</c:v>
                </c:pt>
                <c:pt idx="7">
                  <c:v>165.43589743589743</c:v>
                </c:pt>
                <c:pt idx="8">
                  <c:v>165.43589743589743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7.81384615384616"/>
          <c:min val="150.429743589743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171</c:v>
                </c:pt>
                <c:pt idx="1">
                  <c:v>155.07692307692307</c:v>
                </c:pt>
                <c:pt idx="2">
                  <c:v>170.23076923076923</c:v>
                </c:pt>
                <c:pt idx="3">
                  <c:v>164.53846153846155</c:v>
                </c:pt>
                <c:pt idx="4">
                  <c:v>193.58333333333334</c:v>
                </c:pt>
                <c:pt idx="5">
                  <c:v>201.75</c:v>
                </c:pt>
                <c:pt idx="6">
                  <c:v>193.75</c:v>
                </c:pt>
                <c:pt idx="7">
                  <c:v>213.16666666666666</c:v>
                </c:pt>
                <c:pt idx="8">
                  <c:v>203.5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7.81384615384616"/>
          <c:min val="150.4297435897435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211.2</c:v>
                </c:pt>
                <c:pt idx="1">
                  <c:v>211.2</c:v>
                </c:pt>
                <c:pt idx="2">
                  <c:v>211.2</c:v>
                </c:pt>
                <c:pt idx="3">
                  <c:v>211.2</c:v>
                </c:pt>
                <c:pt idx="4">
                  <c:v>211.2</c:v>
                </c:pt>
                <c:pt idx="5">
                  <c:v>211.2</c:v>
                </c:pt>
                <c:pt idx="6">
                  <c:v>211.2</c:v>
                </c:pt>
                <c:pt idx="7">
                  <c:v>211.2</c:v>
                </c:pt>
                <c:pt idx="8">
                  <c:v>211.2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7.48"/>
          <c:min val="182.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227.6</c:v>
                </c:pt>
                <c:pt idx="1">
                  <c:v>187</c:v>
                </c:pt>
                <c:pt idx="2">
                  <c:v>219</c:v>
                </c:pt>
                <c:pt idx="3">
                  <c:v>220</c:v>
                </c:pt>
                <c:pt idx="4">
                  <c:v>225.8</c:v>
                </c:pt>
                <c:pt idx="5">
                  <c:v>242.8</c:v>
                </c:pt>
                <c:pt idx="6">
                  <c:v>243</c:v>
                </c:pt>
                <c:pt idx="7">
                  <c:v>225.8</c:v>
                </c:pt>
                <c:pt idx="8">
                  <c:v>241.8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47.48"/>
          <c:min val="182.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26.75294117647059</c:v>
                </c:pt>
                <c:pt idx="1">
                  <c:v>23.790849673202615</c:v>
                </c:pt>
                <c:pt idx="2">
                  <c:v>27.057792207792208</c:v>
                </c:pt>
                <c:pt idx="3">
                  <c:v>26.506796116504855</c:v>
                </c:pt>
                <c:pt idx="4">
                  <c:v>26.089134677944045</c:v>
                </c:pt>
                <c:pt idx="5">
                  <c:v>27.71862871927555</c:v>
                </c:pt>
                <c:pt idx="6">
                  <c:v>28.19573643410853</c:v>
                </c:pt>
                <c:pt idx="7">
                  <c:v>27.801162040025822</c:v>
                </c:pt>
                <c:pt idx="8">
                  <c:v>26.98896103896104</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0"/>
          <c:min val="22"/>
        </c:scaling>
        <c:delete val="0"/>
        <c:axPos val="l"/>
        <c:majorGridlines>
          <c:spPr>
            <a:ln w="9525" cap="flat">
              <a:solidFill>
                <a:srgbClr val="D9D9D9"/>
              </a:solidFill>
              <a:prstDash val="solid"/>
              <a:round/>
            </a:ln>
          </c:spPr>
        </c:majorGridlines>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26.75294117647059</c:v>
                </c:pt>
                <c:pt idx="1">
                  <c:v/>
                </c:pt>
                <c:pt idx="2">
                  <c:v>27.057792207792208</c:v>
                </c:pt>
                <c:pt idx="3">
                  <c:v>26.506796116504855</c:v>
                </c:pt>
                <c:pt idx="4">
                  <c:v>26.089134677944045</c:v>
                </c:pt>
                <c:pt idx="5">
                  <c:v>27.71862871927555</c:v>
                </c:pt>
                <c:pt idx="6">
                  <c:v>28.19573643410853</c:v>
                </c:pt>
                <c:pt idx="7">
                  <c:v>27.801162040025822</c:v>
                </c:pt>
                <c:pt idx="8">
                  <c:v>26.98896103896104</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0"/>
          <c:min val="22"/>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23.790849673202615</c:v>
                </c:pt>
                <c:pt idx="2">
                  <c:v/>
                </c:pt>
                <c:pt idx="3">
                  <c:v/>
                </c:pt>
                <c:pt idx="4">
                  <c:v/>
                </c:pt>
                <c:pt idx="5">
                  <c:v/>
                </c:pt>
                <c:pt idx="6">
                  <c:v/>
                </c:pt>
                <c:pt idx="7">
                  <c:v/>
                </c:pt>
                <c:pt idx="8">
                  <c:v/>
                </c:pt>
                <c:pt idx="9">
                  <c:v/>
                </c:pt>
                <c:pt idx="10">
                  <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0"/>
          <c:min val="22"/>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24.324142156862745</c:v>
                </c:pt>
                <c:pt idx="2">
                  <c:v/>
                </c:pt>
                <c:pt idx="3">
                  <c:v/>
                </c:pt>
                <c:pt idx="4">
                  <c:v/>
                </c:pt>
                <c:pt idx="5">
                  <c:v/>
                </c:pt>
                <c:pt idx="6">
                  <c:v/>
                </c:pt>
                <c:pt idx="7">
                  <c:v/>
                </c:pt>
                <c:pt idx="8">
                  <c:v/>
                </c:pt>
                <c:pt idx="9">
                  <c:v>26.908977556109726</c:v>
                </c:pt>
                <c:pt idx="10">
                  <c:v/>
                </c:pt>
                <c:pt idx="11">
                  <c:v>25.399232245681382</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0"/>
          <c:min val="22"/>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26.62153846153846</c:v>
                </c:pt>
                <c:pt idx="1">
                  <c:v/>
                </c:pt>
                <c:pt idx="2">
                  <c:v>26.341313689379987</c:v>
                </c:pt>
                <c:pt idx="3">
                  <c:v>26.436532507739937</c:v>
                </c:pt>
                <c:pt idx="4">
                  <c:v>26.070240295748615</c:v>
                </c:pt>
                <c:pt idx="5">
                  <c:v>26.152846534653467</c:v>
                </c:pt>
                <c:pt idx="6">
                  <c:v>26.955801104972377</c:v>
                </c:pt>
                <c:pt idx="7">
                  <c:v>26.42839582052858</c:v>
                </c:pt>
                <c:pt idx="8">
                  <c:v>24.67450495049505</c:v>
                </c:pt>
                <c:pt idx="9">
                  <c:v/>
                </c:pt>
                <c:pt idx="10">
                  <c:v>23.8621997471555</c:v>
                </c:pt>
                <c:pt idx="11">
                  <c:v/>
                </c:pt>
              </c:numCache>
            </c:numRef>
          </c:val>
          <c:smooth val="0"/>
        </c:ser>
        <c:dLbls>
          <c:numFmt formatCode="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0"/>
          <c:min val="22"/>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26.62153846153846</c:v>
                </c:pt>
                <c:pt idx="1">
                  <c:v>24.324142156862745</c:v>
                </c:pt>
                <c:pt idx="2">
                  <c:v>26.341313689379987</c:v>
                </c:pt>
                <c:pt idx="3">
                  <c:v>26.436532507739937</c:v>
                </c:pt>
                <c:pt idx="4">
                  <c:v>26.070240295748615</c:v>
                </c:pt>
                <c:pt idx="5">
                  <c:v>26.152846534653467</c:v>
                </c:pt>
                <c:pt idx="6">
                  <c:v>26.955801104972377</c:v>
                </c:pt>
                <c:pt idx="7">
                  <c:v>26.42839582052858</c:v>
                </c:pt>
                <c:pt idx="8">
                  <c:v>24.67450495049505</c:v>
                </c:pt>
                <c:pt idx="9">
                  <c:v>26.908977556109726</c:v>
                </c:pt>
                <c:pt idx="10">
                  <c:v>23.8621997471555</c:v>
                </c:pt>
                <c:pt idx="11">
                  <c:v>25.399232245681382</c:v>
                </c:pt>
              </c:numCache>
            </c:numRef>
          </c:val>
          <c:smooth val="0"/>
        </c:ser>
        <c:dLbls>
          <c:numFmt formatCode="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30"/>
          <c:min val="22"/>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26.142857142857142</c:v>
                </c:pt>
                <c:pt idx="1">
                  <c:v>26.923076923076923</c:v>
                </c:pt>
                <c:pt idx="2">
                  <c:v>26.666666666666668</c:v>
                </c:pt>
                <c:pt idx="3">
                  <c:v>25.76923076923077</c:v>
                </c:pt>
                <c:pt idx="4">
                  <c:v>23.76923076923077</c:v>
                </c:pt>
                <c:pt idx="5">
                  <c:v>20.666666666666668</c:v>
                </c:pt>
                <c:pt idx="6">
                  <c:v>22.11764705882353</c:v>
                </c:pt>
                <c:pt idx="7">
                  <c:v>23.294117647058822</c:v>
                </c:pt>
                <c:pt idx="8">
                  <c:v>26.75</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26.4</c:v>
                </c:pt>
                <c:pt idx="1">
                  <c:v>28.133333333333333</c:v>
                </c:pt>
                <c:pt idx="2">
                  <c:v>26.75</c:v>
                </c:pt>
                <c:pt idx="3">
                  <c:v>29.666666666666668</c:v>
                </c:pt>
                <c:pt idx="4">
                  <c:v>34.357142857142854</c:v>
                </c:pt>
                <c:pt idx="5">
                  <c:v>39.42857142857143</c:v>
                </c:pt>
                <c:pt idx="6">
                  <c:v>38.07142857142857</c:v>
                </c:pt>
                <c:pt idx="7">
                  <c:v>31.571428571428573</c:v>
                </c:pt>
                <c:pt idx="8">
                  <c:v>29.8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0.929523809523815"/>
          <c:min val="19.16571428571428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22.22222222222222</c:v>
                </c:pt>
                <c:pt idx="1">
                  <c:v>22.074626865671643</c:v>
                </c:pt>
                <c:pt idx="2">
                  <c:v>23.88235294117647</c:v>
                </c:pt>
                <c:pt idx="3">
                  <c:v>25.14516129032258</c:v>
                </c:pt>
                <c:pt idx="4">
                  <c:v>23.95</c:v>
                </c:pt>
                <c:pt idx="5">
                  <c:v>23.65</c:v>
                </c:pt>
                <c:pt idx="6">
                  <c:v>24.06779661016949</c:v>
                </c:pt>
                <c:pt idx="7">
                  <c:v>27.593220338983052</c:v>
                </c:pt>
                <c:pt idx="8">
                  <c:v>23.892857142857142</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31.53191489361702</c:v>
                </c:pt>
                <c:pt idx="1">
                  <c:v>27.5</c:v>
                </c:pt>
                <c:pt idx="2">
                  <c:v>31.076923076923077</c:v>
                </c:pt>
                <c:pt idx="3">
                  <c:v>30.352941176470587</c:v>
                </c:pt>
                <c:pt idx="4">
                  <c:v>25.5</c:v>
                </c:pt>
                <c:pt idx="5">
                  <c:v>28.403846153846153</c:v>
                </c:pt>
                <c:pt idx="6">
                  <c:v>29</c:v>
                </c:pt>
                <c:pt idx="7">
                  <c:v>27.80392156862745</c:v>
                </c:pt>
                <c:pt idx="8">
                  <c:v>28.666666666666668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288497935852654"/>
          <c:min val="21.3180438234360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27.833333333333332</c:v>
                </c:pt>
                <c:pt idx="1">
                  <c:v>22.04</c:v>
                </c:pt>
                <c:pt idx="2">
                  <c:v>27.26086956521739</c:v>
                </c:pt>
                <c:pt idx="3">
                  <c:v>30</c:v>
                </c:pt>
                <c:pt idx="4">
                  <c:v>25.625</c:v>
                </c:pt>
                <c:pt idx="5">
                  <c:v>29.608695652173914</c:v>
                </c:pt>
                <c:pt idx="6">
                  <c:v>25.192307692307693</c:v>
                </c:pt>
                <c:pt idx="7">
                  <c:v>27.583333333333332</c:v>
                </c:pt>
                <c:pt idx="8">
                  <c:v>26.73913043478261</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31.38095238095238</c:v>
                </c:pt>
                <c:pt idx="1">
                  <c:v>28.545454545454547</c:v>
                </c:pt>
                <c:pt idx="2">
                  <c:v>29.636363636363637</c:v>
                </c:pt>
                <c:pt idx="3">
                  <c:v>26.076923076923077</c:v>
                </c:pt>
                <c:pt idx="4">
                  <c:v>30.09090909090909</c:v>
                </c:pt>
                <c:pt idx="5">
                  <c:v>34.04761904761905</c:v>
                </c:pt>
                <c:pt idx="6">
                  <c:v>33.714285714285715</c:v>
                </c:pt>
                <c:pt idx="7">
                  <c:v>30.857142857142858</c:v>
                </c:pt>
                <c:pt idx="8">
                  <c:v>31.90909090909091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008228571428575"/>
          <c:min val="21.0793904761904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48.588235294117645</c:v>
                </c:pt>
                <c:pt idx="1">
                  <c:v>47.294117647058826</c:v>
                </c:pt>
                <c:pt idx="2">
                  <c:v>51.470588235294116</c:v>
                </c:pt>
                <c:pt idx="3">
                  <c:v>46.94444444444444</c:v>
                </c:pt>
                <c:pt idx="4">
                  <c:v>46.833333333333336</c:v>
                </c:pt>
                <c:pt idx="5">
                  <c:v>50.1764705882353</c:v>
                </c:pt>
                <c:pt idx="6">
                  <c:v>48.8235294117647</c:v>
                </c:pt>
                <c:pt idx="7">
                  <c:v>40.611111111111114</c:v>
                </c:pt>
                <c:pt idx="8">
                  <c:v>38.5</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39.35</c:v>
                </c:pt>
                <c:pt idx="1">
                  <c:v>39.476190476190474</c:v>
                </c:pt>
                <c:pt idx="2">
                  <c:v>39.27272727272727</c:v>
                </c:pt>
                <c:pt idx="3">
                  <c:v>44.857142857142854</c:v>
                </c:pt>
                <c:pt idx="4">
                  <c:v>39.3</c:v>
                </c:pt>
                <c:pt idx="5">
                  <c:v>40.5</c:v>
                </c:pt>
                <c:pt idx="6">
                  <c:v>40.08695652173913</c:v>
                </c:pt>
                <c:pt idx="7">
                  <c:v>36.43478260869565</c:v>
                </c:pt>
                <c:pt idx="8">
                  <c:v>39.65217391304348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2.67345268542199"/>
          <c:min val="35.2319181585677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37.333333333333336</c:v>
                </c:pt>
                <c:pt idx="1">
                  <c:v>30.545454545454547</c:v>
                </c:pt>
                <c:pt idx="2">
                  <c:v>37.81818181818182</c:v>
                </c:pt>
                <c:pt idx="3">
                  <c:v>35.30434782608695</c:v>
                </c:pt>
                <c:pt idx="4">
                  <c:v>35.40909090909091</c:v>
                </c:pt>
                <c:pt idx="5">
                  <c:v>39.333333333333336</c:v>
                </c:pt>
                <c:pt idx="6">
                  <c:v>45</c:v>
                </c:pt>
                <c:pt idx="7">
                  <c:v>43.80952380952381</c:v>
                </c:pt>
                <c:pt idx="8">
                  <c:v>40</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29.73913043478261</c:v>
                </c:pt>
                <c:pt idx="1">
                  <c:v>27.136363636363637</c:v>
                </c:pt>
                <c:pt idx="2">
                  <c:v>32.5</c:v>
                </c:pt>
                <c:pt idx="3">
                  <c:v>33.130434782608695</c:v>
                </c:pt>
                <c:pt idx="4">
                  <c:v>34.40909090909091</c:v>
                </c:pt>
                <c:pt idx="5">
                  <c:v>37.8</c:v>
                </c:pt>
                <c:pt idx="6">
                  <c:v>34.26086956521739</c:v>
                </c:pt>
                <c:pt idx="7">
                  <c:v>33.19230769230769</c:v>
                </c:pt>
                <c:pt idx="8">
                  <c:v>30.576923076923077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6.42909090909091"/>
          <c:min val="25.70727272727272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41.27272727272727</c:v>
                </c:pt>
                <c:pt idx="1">
                  <c:v>30.916666666666668</c:v>
                </c:pt>
                <c:pt idx="2">
                  <c:v>31.333333333333332</c:v>
                </c:pt>
                <c:pt idx="3">
                  <c:v>37.27272727272727</c:v>
                </c:pt>
                <c:pt idx="4">
                  <c:v>34.36363636363637</c:v>
                </c:pt>
                <c:pt idx="5">
                  <c:v>33.333333333333336</c:v>
                </c:pt>
                <c:pt idx="6">
                  <c:v>42.6</c:v>
                </c:pt>
                <c:pt idx="7">
                  <c:v>33.81818181818182</c:v>
                </c:pt>
                <c:pt idx="8">
                  <c:v>32.36363636363637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30.636363636363637</c:v>
                </c:pt>
                <c:pt idx="1">
                  <c:v>27.2</c:v>
                </c:pt>
                <c:pt idx="2">
                  <c:v>33.7</c:v>
                </c:pt>
                <c:pt idx="3">
                  <c:v>31.5</c:v>
                </c:pt>
                <c:pt idx="4">
                  <c:v>28.166666666666668</c:v>
                </c:pt>
                <c:pt idx="5">
                  <c:v>34.083333333333336</c:v>
                </c:pt>
                <c:pt idx="6">
                  <c:v>31.181818181818183</c:v>
                </c:pt>
                <c:pt idx="7">
                  <c:v>34.5</c:v>
                </c:pt>
                <c:pt idx="8">
                  <c:v>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3.832"/>
          <c:min val="25.96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29.893617021276597</c:v>
                </c:pt>
                <c:pt idx="1">
                  <c:v>29.893617021276597</c:v>
                </c:pt>
                <c:pt idx="2">
                  <c:v>29.893617021276597</c:v>
                </c:pt>
                <c:pt idx="3">
                  <c:v>29.893617021276597</c:v>
                </c:pt>
                <c:pt idx="4">
                  <c:v>29.893617021276597</c:v>
                </c:pt>
                <c:pt idx="5">
                  <c:v>29.893617021276597</c:v>
                </c:pt>
                <c:pt idx="6">
                  <c:v>29.893617021276597</c:v>
                </c:pt>
                <c:pt idx="7">
                  <c:v>29.893617021276597</c:v>
                </c:pt>
                <c:pt idx="8">
                  <c:v>29.893617021276597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5.51759530791789"/>
          <c:min val="25.4897360703812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31.193548387096776</c:v>
                </c:pt>
                <c:pt idx="1">
                  <c:v>26.870967741935484</c:v>
                </c:pt>
                <c:pt idx="2">
                  <c:v>31.5625</c:v>
                </c:pt>
                <c:pt idx="3">
                  <c:v>43</c:v>
                </c:pt>
                <c:pt idx="4">
                  <c:v>42.68181818181818</c:v>
                </c:pt>
                <c:pt idx="5">
                  <c:v>44.13636363636363</c:v>
                </c:pt>
                <c:pt idx="6">
                  <c:v>41.86363636363637</c:v>
                </c:pt>
                <c:pt idx="7">
                  <c:v>38.59090909090909</c:v>
                </c:pt>
                <c:pt idx="8">
                  <c:v>40.40909090909091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5.51759530791789"/>
          <c:min val="25.4897360703812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18.843749999999996</c:v>
                </c:pt>
                <c:pt idx="1">
                  <c:v>18.843749999999996</c:v>
                </c:pt>
                <c:pt idx="2">
                  <c:v>18.843749999999996</c:v>
                </c:pt>
                <c:pt idx="3">
                  <c:v>18.843749999999996</c:v>
                </c:pt>
                <c:pt idx="4">
                  <c:v>18.843749999999996</c:v>
                </c:pt>
                <c:pt idx="5">
                  <c:v>18.843749999999996</c:v>
                </c:pt>
                <c:pt idx="6">
                  <c:v>18.843749999999996</c:v>
                </c:pt>
                <c:pt idx="7">
                  <c:v>18.843749999999996</c:v>
                </c:pt>
                <c:pt idx="8">
                  <c:v>18.843749999999996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4.05571428571429"/>
          <c:min val="16.73396825396825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18.441860465116278</c:v>
                </c:pt>
                <c:pt idx="1">
                  <c:v>17.928571428571427</c:v>
                </c:pt>
                <c:pt idx="2">
                  <c:v>20.13953488372093</c:v>
                </c:pt>
                <c:pt idx="3">
                  <c:v>19.170731707317074</c:v>
                </c:pt>
                <c:pt idx="4">
                  <c:v>20.42105263157895</c:v>
                </c:pt>
                <c:pt idx="5">
                  <c:v>24.789473684210527</c:v>
                </c:pt>
                <c:pt idx="6">
                  <c:v>25.775</c:v>
                </c:pt>
                <c:pt idx="7">
                  <c:v>32.861111111111114</c:v>
                </c:pt>
                <c:pt idx="8">
                  <c:v>26.5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4.05571428571429"/>
          <c:min val="16.73396825396825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27.08695652173913</c:v>
                </c:pt>
                <c:pt idx="1">
                  <c:v>27.08695652173913</c:v>
                </c:pt>
                <c:pt idx="2">
                  <c:v>27.08695652173913</c:v>
                </c:pt>
                <c:pt idx="3">
                  <c:v>27.08695652173913</c:v>
                </c:pt>
                <c:pt idx="4">
                  <c:v>27.08695652173913</c:v>
                </c:pt>
                <c:pt idx="5">
                  <c:v>27.08695652173913</c:v>
                </c:pt>
                <c:pt idx="6">
                  <c:v>27.08695652173913</c:v>
                </c:pt>
                <c:pt idx="7">
                  <c:v>27.08695652173913</c:v>
                </c:pt>
                <c:pt idx="8">
                  <c:v>27.08695652173913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0.47085714285714"/>
          <c:min val="25.3577142857142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26.4</c:v>
                </c:pt>
                <c:pt idx="1">
                  <c:v>28.133333333333333</c:v>
                </c:pt>
                <c:pt idx="2">
                  <c:v>26.75</c:v>
                </c:pt>
                <c:pt idx="3">
                  <c:v>29.666666666666668</c:v>
                </c:pt>
                <c:pt idx="4">
                  <c:v>34.357142857142854</c:v>
                </c:pt>
                <c:pt idx="5">
                  <c:v>39.42857142857143</c:v>
                </c:pt>
                <c:pt idx="6">
                  <c:v>38.07142857142857</c:v>
                </c:pt>
                <c:pt idx="7">
                  <c:v>31.571428571428573</c:v>
                </c:pt>
                <c:pt idx="8">
                  <c:v>29.8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0.47085714285714"/>
          <c:min val="25.3577142857142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386.1509433962264</c:v>
                </c:pt>
                <c:pt idx="1">
                  <c:v>337.037037037037</c:v>
                </c:pt>
                <c:pt idx="2">
                  <c:v>389.4299065420561</c:v>
                </c:pt>
                <c:pt idx="3">
                  <c:v>386.3490566037736</c:v>
                </c:pt>
                <c:pt idx="4">
                  <c:v>381.8952380952381</c:v>
                </c:pt>
                <c:pt idx="5">
                  <c:v>408.12380952380954</c:v>
                </c:pt>
                <c:pt idx="6">
                  <c:v>411.7641509433962</c:v>
                </c:pt>
                <c:pt idx="7">
                  <c:v>414.0769230769231</c:v>
                </c:pt>
                <c:pt idx="8">
                  <c:v>399.6442307692308</c:v>
                </c:pt>
                <c:pt idx="9">
                  <c:v/>
                </c:pt>
                <c:pt idx="10">
                  <c:v/>
                </c:pt>
                <c:pt idx="11">
                  <c:v/>
                </c:pt>
              </c:numCache>
            </c:numRef>
          </c:val>
          <c:smooth val="0"/>
        </c:ser>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50"/>
          <c:min val="300"/>
        </c:scaling>
        <c:delete val="0"/>
        <c:axPos val="l"/>
        <c:majorGridlines>
          <c:spPr>
            <a:ln w="9525" cap="flat">
              <a:solidFill>
                <a:srgbClr val="D9D9D9"/>
              </a:solidFill>
              <a:prstDash val="solid"/>
              <a:round/>
            </a:ln>
          </c:spPr>
        </c:majorGridlines>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386.1509433962264</c:v>
                </c:pt>
                <c:pt idx="1">
                  <c:v/>
                </c:pt>
                <c:pt idx="2">
                  <c:v>389.4299065420561</c:v>
                </c:pt>
                <c:pt idx="3">
                  <c:v>386.3490566037736</c:v>
                </c:pt>
                <c:pt idx="4">
                  <c:v>381.8952380952381</c:v>
                </c:pt>
                <c:pt idx="5">
                  <c:v>408.12380952380954</c:v>
                </c:pt>
                <c:pt idx="6">
                  <c:v>411.7641509433962</c:v>
                </c:pt>
                <c:pt idx="7">
                  <c:v>414.0769230769231</c:v>
                </c:pt>
                <c:pt idx="8">
                  <c:v>399.6442307692308</c:v>
                </c:pt>
                <c:pt idx="9">
                  <c:v/>
                </c:pt>
                <c:pt idx="10">
                  <c:v/>
                </c:pt>
                <c:pt idx="11">
                  <c:v/>
                </c:pt>
              </c:numCache>
            </c:numRef>
          </c:val>
          <c:smooth val="0"/>
        </c:ser>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50"/>
          <c:min val="3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337.037037037037</c:v>
                </c:pt>
                <c:pt idx="2">
                  <c:v/>
                </c:pt>
                <c:pt idx="3">
                  <c:v/>
                </c:pt>
                <c:pt idx="4">
                  <c:v/>
                </c:pt>
                <c:pt idx="5">
                  <c:v/>
                </c:pt>
                <c:pt idx="6">
                  <c:v/>
                </c:pt>
                <c:pt idx="7">
                  <c:v/>
                </c:pt>
                <c:pt idx="8">
                  <c:v/>
                </c:pt>
                <c:pt idx="9">
                  <c:v/>
                </c:pt>
                <c:pt idx="10">
                  <c:v/>
                </c:pt>
                <c:pt idx="11">
                  <c:v/>
                </c:pt>
              </c:numCache>
            </c:numRef>
          </c:val>
          <c:smooth val="0"/>
        </c:ser>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50"/>
          <c:min val="3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342.2155172413793</c:v>
                </c:pt>
                <c:pt idx="2">
                  <c:v/>
                </c:pt>
                <c:pt idx="3">
                  <c:v/>
                </c:pt>
                <c:pt idx="4">
                  <c:v/>
                </c:pt>
                <c:pt idx="5">
                  <c:v/>
                </c:pt>
                <c:pt idx="6">
                  <c:v/>
                </c:pt>
                <c:pt idx="7">
                  <c:v/>
                </c:pt>
                <c:pt idx="8">
                  <c:v/>
                </c:pt>
                <c:pt idx="9">
                  <c:v>395.9816513761468</c:v>
                </c:pt>
                <c:pt idx="10">
                  <c:v/>
                </c:pt>
                <c:pt idx="11">
                  <c:v>371.01869158878503</c:v>
                </c:pt>
              </c:numCache>
            </c:numRef>
          </c:val>
          <c:smooth val="0"/>
        </c:ser>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50"/>
          <c:min val="3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369.7435897435897</c:v>
                </c:pt>
                <c:pt idx="1">
                  <c:v/>
                </c:pt>
                <c:pt idx="2">
                  <c:v>369.91379310344826</c:v>
                </c:pt>
                <c:pt idx="3">
                  <c:v>384.63963963963965</c:v>
                </c:pt>
                <c:pt idx="4">
                  <c:v>381.18918918918916</c:v>
                </c:pt>
                <c:pt idx="5">
                  <c:v>387.73394495412845</c:v>
                </c:pt>
                <c:pt idx="6">
                  <c:v>399.1909090909091</c:v>
                </c:pt>
                <c:pt idx="7">
                  <c:v>390.9</c:v>
                </c:pt>
                <c:pt idx="8">
                  <c:v>372.6542056074766</c:v>
                </c:pt>
                <c:pt idx="9">
                  <c:v/>
                </c:pt>
                <c:pt idx="10">
                  <c:v>352.803738317757</c:v>
                </c:pt>
                <c:pt idx="11">
                  <c:v/>
                </c:pt>
              </c:numCache>
            </c:numRef>
          </c:val>
          <c:smooth val="0"/>
        </c:ser>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50"/>
          <c:min val="3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369.7435897435897</c:v>
                </c:pt>
                <c:pt idx="1">
                  <c:v>342.2155172413793</c:v>
                </c:pt>
                <c:pt idx="2">
                  <c:v>369.91379310344826</c:v>
                </c:pt>
                <c:pt idx="3">
                  <c:v>384.63963963963965</c:v>
                </c:pt>
                <c:pt idx="4">
                  <c:v>381.18918918918916</c:v>
                </c:pt>
                <c:pt idx="5">
                  <c:v>387.73394495412845</c:v>
                </c:pt>
                <c:pt idx="6">
                  <c:v>399.1909090909091</c:v>
                </c:pt>
                <c:pt idx="7">
                  <c:v>390.9</c:v>
                </c:pt>
                <c:pt idx="8">
                  <c:v>372.6542056074766</c:v>
                </c:pt>
                <c:pt idx="9">
                  <c:v>395.9816513761468</c:v>
                </c:pt>
                <c:pt idx="10">
                  <c:v>352.803738317757</c:v>
                </c:pt>
                <c:pt idx="11">
                  <c:v>371.01869158878503</c:v>
                </c:pt>
              </c:numCache>
            </c:numRef>
          </c:val>
          <c:smooth val="0"/>
        </c:ser>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450"/>
          <c:min val="3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5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788.25</c:v>
                </c:pt>
                <c:pt idx="1">
                  <c:v>743</c:v>
                </c:pt>
                <c:pt idx="2">
                  <c:v>799.875</c:v>
                </c:pt>
                <c:pt idx="3">
                  <c:v>809.375</c:v>
                </c:pt>
                <c:pt idx="4">
                  <c:v>793.75</c:v>
                </c:pt>
                <c:pt idx="5">
                  <c:v>918.4285714285714</c:v>
                </c:pt>
                <c:pt idx="6">
                  <c:v>949.8571428571429</c:v>
                </c:pt>
                <c:pt idx="7">
                  <c:v>917.4285714285714</c:v>
                </c:pt>
                <c:pt idx="8">
                  <c:v>876.7142857142857</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955.5714285714286</c:v>
                </c:pt>
                <c:pt idx="1">
                  <c:v>813.1428571428571</c:v>
                </c:pt>
                <c:pt idx="2">
                  <c:v>928.8571428571429</c:v>
                </c:pt>
                <c:pt idx="3">
                  <c:v>1032.6666666666667</c:v>
                </c:pt>
                <c:pt idx="4">
                  <c:v>1035.6666666666667</c:v>
                </c:pt>
                <c:pt idx="5">
                  <c:v>1089.5</c:v>
                </c:pt>
                <c:pt idx="6">
                  <c:v>1147.8333333333333</c:v>
                </c:pt>
                <c:pt idx="7">
                  <c:v>1197.8333333333333</c:v>
                </c:pt>
                <c:pt idx="8">
                  <c:v>1056.5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34.22"/>
          <c:min val="706.61333333333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477</c:v>
                </c:pt>
                <c:pt idx="1">
                  <c:v>435.75</c:v>
                </c:pt>
                <c:pt idx="2">
                  <c:v>506.5</c:v>
                </c:pt>
                <c:pt idx="3">
                  <c:v>515</c:v>
                </c:pt>
                <c:pt idx="4">
                  <c:v>499.5</c:v>
                </c:pt>
                <c:pt idx="5">
                  <c:v>484.5</c:v>
                </c:pt>
                <c:pt idx="6">
                  <c:v>515.75</c:v>
                </c:pt>
                <c:pt idx="7">
                  <c:v>623</c:v>
                </c:pt>
                <c:pt idx="8">
                  <c:v>647.3333333333334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642.3333333333334</c:v>
                </c:pt>
                <c:pt idx="1">
                  <c:v>600.6666666666666</c:v>
                </c:pt>
                <c:pt idx="2">
                  <c:v>666.3333333333334</c:v>
                </c:pt>
                <c:pt idx="3">
                  <c:v>712.3333333333334</c:v>
                </c:pt>
                <c:pt idx="4">
                  <c:v>677</c:v>
                </c:pt>
                <c:pt idx="5">
                  <c:v>736</c:v>
                </c:pt>
                <c:pt idx="6">
                  <c:v>740.3333333333334</c:v>
                </c:pt>
                <c:pt idx="7">
                  <c:v>676.6666666666666</c:v>
                </c:pt>
                <c:pt idx="8">
                  <c:v>721.3333333333334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64.7"/>
          <c:min val="411.383333333333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544.3333333333334</c:v>
                </c:pt>
                <c:pt idx="1">
                  <c:v>496.3333333333333</c:v>
                </c:pt>
                <c:pt idx="2">
                  <c:v>512.3333333333334</c:v>
                </c:pt>
                <c:pt idx="3">
                  <c:v>563.3333333333334</c:v>
                </c:pt>
                <c:pt idx="4">
                  <c:v>527.3333333333334</c:v>
                </c:pt>
                <c:pt idx="5">
                  <c:v>567</c:v>
                </c:pt>
                <c:pt idx="6">
                  <c:v>579</c:v>
                </c:pt>
                <c:pt idx="7">
                  <c:v>512</c:v>
                </c:pt>
                <c:pt idx="8">
                  <c:v>519.3333333333334</c:v>
                </c:pt>
              </c:numCache>
            </c:numRef>
          </c:val>
          <c:smooth val="0"/>
        </c:ser>
        <c:ser>
          <c:idx val="1"/>
          <c:order val="1"/>
          <c:tx>
            <c:strRef>
              <c:f>Sheet1!$C$1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545</c:v>
                </c:pt>
                <c:pt idx="1">
                  <c:v>473</c:v>
                </c:pt>
                <c:pt idx="2">
                  <c:v>527.3333333333334</c:v>
                </c:pt>
                <c:pt idx="3">
                  <c:v>538</c:v>
                </c:pt>
                <c:pt idx="4">
                  <c:v>733</c:v>
                </c:pt>
                <c:pt idx="5">
                  <c:v>808</c:v>
                </c:pt>
                <c:pt idx="6">
                  <c:v>847.5</c:v>
                </c:pt>
                <c:pt idx="7">
                  <c:v>862</c:v>
                </c:pt>
                <c:pt idx="8">
                  <c:v>851.5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93.12"/>
          <c:min val="441.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896</c:v>
                </c:pt>
                <c:pt idx="1">
                  <c:v>672</c:v>
                </c:pt>
                <c:pt idx="2">
                  <c:v>832</c:v>
                </c:pt>
                <c:pt idx="3">
                  <c:v>812</c:v>
                </c:pt>
                <c:pt idx="4">
                  <c:v>779</c:v>
                </c:pt>
                <c:pt idx="5">
                  <c:v>826</c:v>
                </c:pt>
                <c:pt idx="6">
                  <c:v>990</c:v>
                </c:pt>
                <c:pt idx="7">
                  <c:v>920</c:v>
                </c:pt>
                <c:pt idx="8">
                  <c:v>840</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684</c:v>
                </c:pt>
                <c:pt idx="1">
                  <c:v>597</c:v>
                </c:pt>
                <c:pt idx="2">
                  <c:v>715</c:v>
                </c:pt>
                <c:pt idx="3">
                  <c:v>762</c:v>
                </c:pt>
                <c:pt idx="4">
                  <c:v>757</c:v>
                </c:pt>
                <c:pt idx="5">
                  <c:v>756</c:v>
                </c:pt>
                <c:pt idx="6">
                  <c:v>394</c:v>
                </c:pt>
                <c:pt idx="7">
                  <c:v>431.5</c:v>
                </c:pt>
                <c:pt idx="8">
                  <c:v>397.5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37.68"/>
          <c:min val="346.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346.6666666666667</c:v>
                </c:pt>
                <c:pt idx="1">
                  <c:v>508</c:v>
                </c:pt>
                <c:pt idx="2">
                  <c:v>492.5</c:v>
                </c:pt>
                <c:pt idx="3">
                  <c:v>528</c:v>
                </c:pt>
                <c:pt idx="4">
                  <c:v>474.5</c:v>
                </c:pt>
                <c:pt idx="5">
                  <c:v>492.5</c:v>
                </c:pt>
                <c:pt idx="6">
                  <c:v>303</c:v>
                </c:pt>
                <c:pt idx="7">
                  <c:v>324</c:v>
                </c:pt>
                <c:pt idx="8">
                  <c:v>316.6666666666667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322.3333333333333</c:v>
                </c:pt>
                <c:pt idx="1">
                  <c:v>277.6666666666667</c:v>
                </c:pt>
                <c:pt idx="2">
                  <c:v>336.6666666666667</c:v>
                </c:pt>
                <c:pt idx="3">
                  <c:v>315.3333333333333</c:v>
                </c:pt>
                <c:pt idx="4">
                  <c:v>313</c:v>
                </c:pt>
                <c:pt idx="5">
                  <c:v>323.6666666666667</c:v>
                </c:pt>
                <c:pt idx="6">
                  <c:v>307</c:v>
                </c:pt>
                <c:pt idx="7">
                  <c:v>283</c:v>
                </c:pt>
                <c:pt idx="8">
                  <c:v>296.3333333333333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48.0266666666666"/>
          <c:min val="257.640000000000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472</c:v>
                </c:pt>
                <c:pt idx="1">
                  <c:v>412</c:v>
                </c:pt>
                <c:pt idx="2">
                  <c:v>461</c:v>
                </c:pt>
                <c:pt idx="3">
                  <c:v>444.3333333333333</c:v>
                </c:pt>
                <c:pt idx="4">
                  <c:v>454.6666666666667</c:v>
                </c:pt>
                <c:pt idx="5">
                  <c:v>398.6666666666667</c:v>
                </c:pt>
                <c:pt idx="6">
                  <c:v>433</c:v>
                </c:pt>
                <c:pt idx="7">
                  <c:v>410</c:v>
                </c:pt>
                <c:pt idx="8">
                  <c:v>597</c:v>
                </c:pt>
              </c:numCache>
            </c:numRef>
          </c:val>
          <c:smooth val="0"/>
        </c:ser>
        <c:ser>
          <c:idx val="1"/>
          <c:order val="1"/>
          <c:tx>
            <c:strRef>
              <c:f>Sheet1!$C$1</c:f>
              <c:strCache>
                <c:ptCount val="1"/>
                <c:pt idx="0">
                  <c:v>cur</c:v>
                </c:pt>
              </c:strCache>
            </c:strRef>
          </c:tx>
          <c:spPr>
            <a:solidFill>
              <a:srgbClr val="A82B26"/>
            </a:solidFill>
            <a:ln w="22225" cap="flat">
              <a:solidFill>
                <a:srgbClr val="A82B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2B26"/>
              </a:solidFill>
              <a:ln w="9525" cap="flat">
                <a:solidFill>
                  <a:srgbClr val="A82B2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379.3333333333333</c:v>
                </c:pt>
                <c:pt idx="1">
                  <c:v>311.6666666666667</c:v>
                </c:pt>
                <c:pt idx="2">
                  <c:v>365</c:v>
                </c:pt>
                <c:pt idx="3">
                  <c:v>366.6666666666667</c:v>
                </c:pt>
                <c:pt idx="4">
                  <c:v>376.3333333333333</c:v>
                </c:pt>
                <c:pt idx="5">
                  <c:v>404.6666666666667</c:v>
                </c:pt>
                <c:pt idx="6">
                  <c:v>405</c:v>
                </c:pt>
                <c:pt idx="7">
                  <c:v>376.3333333333333</c:v>
                </c:pt>
                <c:pt idx="8">
                  <c:v>403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19.8266666666667"/>
          <c:min val="288.8400000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515.1111111111112</c:v>
                </c:pt>
                <c:pt idx="1">
                  <c:v>515.1111111111112</c:v>
                </c:pt>
                <c:pt idx="2">
                  <c:v>515.1111111111112</c:v>
                </c:pt>
                <c:pt idx="3">
                  <c:v>515.1111111111112</c:v>
                </c:pt>
                <c:pt idx="4">
                  <c:v>515.1111111111112</c:v>
                </c:pt>
                <c:pt idx="5">
                  <c:v>515.1111111111112</c:v>
                </c:pt>
                <c:pt idx="6">
                  <c:v>515.1111111111112</c:v>
                </c:pt>
                <c:pt idx="7">
                  <c:v>515.1111111111112</c:v>
                </c:pt>
                <c:pt idx="8">
                  <c:v>515.1111111111112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93.12"/>
          <c:min val="441.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545</c:v>
                </c:pt>
                <c:pt idx="1">
                  <c:v>473</c:v>
                </c:pt>
                <c:pt idx="2">
                  <c:v>527.3333333333334</c:v>
                </c:pt>
                <c:pt idx="3">
                  <c:v>538</c:v>
                </c:pt>
                <c:pt idx="4">
                  <c:v>733</c:v>
                </c:pt>
                <c:pt idx="5">
                  <c:v>808</c:v>
                </c:pt>
                <c:pt idx="6">
                  <c:v>847.5</c:v>
                </c:pt>
                <c:pt idx="7">
                  <c:v>862</c:v>
                </c:pt>
                <c:pt idx="8">
                  <c:v>851.5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93.12"/>
          <c:min val="441.8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899.1904761904763</c:v>
                </c:pt>
                <c:pt idx="1">
                  <c:v>899.1904761904763</c:v>
                </c:pt>
                <c:pt idx="2">
                  <c:v>899.1904761904763</c:v>
                </c:pt>
                <c:pt idx="3">
                  <c:v>899.1904761904763</c:v>
                </c:pt>
                <c:pt idx="4">
                  <c:v>899.1904761904763</c:v>
                </c:pt>
                <c:pt idx="5">
                  <c:v>899.1904761904763</c:v>
                </c:pt>
                <c:pt idx="6">
                  <c:v>899.1904761904763</c:v>
                </c:pt>
                <c:pt idx="7">
                  <c:v>899.1904761904763</c:v>
                </c:pt>
                <c:pt idx="8">
                  <c:v>899.1904761904763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28.6085714285714"/>
          <c:min val="782.36761904761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955.5714285714286</c:v>
                </c:pt>
                <c:pt idx="1">
                  <c:v>813.1428571428571</c:v>
                </c:pt>
                <c:pt idx="2">
                  <c:v>928.8571428571429</c:v>
                </c:pt>
                <c:pt idx="3">
                  <c:v>1032.6666666666667</c:v>
                </c:pt>
                <c:pt idx="4">
                  <c:v>1035.6666666666667</c:v>
                </c:pt>
                <c:pt idx="5">
                  <c:v>1089.5</c:v>
                </c:pt>
                <c:pt idx="6">
                  <c:v>1147.8333333333333</c:v>
                </c:pt>
                <c:pt idx="7">
                  <c:v>1197.8333333333333</c:v>
                </c:pt>
                <c:pt idx="8">
                  <c:v>1056.5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28.6085714285714"/>
          <c:min val="782.367619047619"/>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q1avg</c:v>
                </c:pt>
              </c:strCache>
            </c:strRef>
          </c:tx>
          <c:spPr>
            <a:solidFill>
              <a:srgbClr val="8C8C8C"/>
            </a:solidFill>
            <a:ln w="15875"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157.66666666666666</c:v>
                </c:pt>
                <c:pt idx="1">
                  <c:v>157.66666666666666</c:v>
                </c:pt>
                <c:pt idx="2">
                  <c:v>157.66666666666666</c:v>
                </c:pt>
                <c:pt idx="3">
                  <c:v>157.66666666666666</c:v>
                </c:pt>
                <c:pt idx="4">
                  <c:v>157.66666666666666</c:v>
                </c:pt>
                <c:pt idx="5">
                  <c:v>157.66666666666666</c:v>
                </c:pt>
                <c:pt idx="6">
                  <c:v>157.66666666666666</c:v>
                </c:pt>
                <c:pt idx="7">
                  <c:v>157.66666666666666</c:v>
                </c:pt>
                <c:pt idx="8">
                  <c:v>157.66666666666666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1.72"/>
          <c:min val="119.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0B7A4A"/>
            </a:solidFill>
            <a:ln w="22225" cap="flat">
              <a:solidFill>
                <a:srgbClr val="0B7A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B7A4A"/>
              </a:solidFill>
              <a:ln w="9525" cap="flat">
                <a:solidFill>
                  <a:srgbClr val="0B7A4A"/>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168.5</c:v>
                </c:pt>
                <c:pt idx="1">
                  <c:v>136</c:v>
                </c:pt>
                <c:pt idx="2">
                  <c:v>168.5</c:v>
                </c:pt>
                <c:pt idx="3">
                  <c:v>189</c:v>
                </c:pt>
                <c:pt idx="4">
                  <c:v>169</c:v>
                </c:pt>
                <c:pt idx="5">
                  <c:v>204.5</c:v>
                </c:pt>
                <c:pt idx="6">
                  <c:v>343</c:v>
                </c:pt>
                <c:pt idx="7">
                  <c:v>345</c:v>
                </c:pt>
                <c:pt idx="8">
                  <c:v>290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1.72"/>
          <c:min val="119.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1530</c:v>
                </c:pt>
                <c:pt idx="1">
                  <c:v>1530</c:v>
                </c:pt>
                <c:pt idx="2">
                  <c:v>1540</c:v>
                </c:pt>
                <c:pt idx="3">
                  <c:v>1545</c:v>
                </c:pt>
                <c:pt idx="4">
                  <c:v>1537</c:v>
                </c:pt>
                <c:pt idx="5">
                  <c:v>1546</c:v>
                </c:pt>
                <c:pt idx="6">
                  <c:v>1548</c:v>
                </c:pt>
                <c:pt idx="7">
                  <c:v>1549</c:v>
                </c:pt>
                <c:pt idx="8">
                  <c:v>1540</c:v>
                </c:pt>
                <c:pt idx="9">
                  <c:v/>
                </c:pt>
                <c:pt idx="10">
                  <c:v/>
                </c:pt>
                <c:pt idx="11">
                  <c:v/>
                </c:pt>
              </c:numCache>
            </c:numRef>
          </c:val>
          <c:smooth val="0"/>
        </c:ser>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700"/>
          <c:min val="1450"/>
        </c:scaling>
        <c:delete val="0"/>
        <c:axPos val="l"/>
        <c:majorGridlines>
          <c:spPr>
            <a:ln w="9525" cap="flat">
              <a:solidFill>
                <a:srgbClr val="D9D9D9"/>
              </a:solidFill>
              <a:prstDash val="solid"/>
              <a:round/>
            </a:ln>
          </c:spPr>
        </c:majorGridlines>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1530</c:v>
                </c:pt>
                <c:pt idx="1">
                  <c:v>1530</c:v>
                </c:pt>
                <c:pt idx="2">
                  <c:v>1540</c:v>
                </c:pt>
                <c:pt idx="3">
                  <c:v>1545</c:v>
                </c:pt>
                <c:pt idx="4">
                  <c:v>1537</c:v>
                </c:pt>
                <c:pt idx="5">
                  <c:v>1546</c:v>
                </c:pt>
                <c:pt idx="6">
                  <c:v>1548</c:v>
                </c:pt>
                <c:pt idx="7">
                  <c:v>1549</c:v>
                </c:pt>
                <c:pt idx="8">
                  <c:v>1540</c:v>
                </c:pt>
                <c:pt idx="9">
                  <c:v/>
                </c:pt>
                <c:pt idx="10">
                  <c:v/>
                </c:pt>
                <c:pt idx="11">
                  <c:v/>
                </c:pt>
              </c:numCache>
            </c:numRef>
          </c:val>
          <c:smooth val="0"/>
        </c:ser>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700"/>
          <c:min val="145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1625</c:v>
                </c:pt>
                <c:pt idx="1">
                  <c:v>1632</c:v>
                </c:pt>
                <c:pt idx="2">
                  <c:v>1629</c:v>
                </c:pt>
                <c:pt idx="3">
                  <c:v>1615</c:v>
                </c:pt>
                <c:pt idx="4">
                  <c:v>1623</c:v>
                </c:pt>
                <c:pt idx="5">
                  <c:v>1616</c:v>
                </c:pt>
                <c:pt idx="6">
                  <c:v>1629</c:v>
                </c:pt>
                <c:pt idx="7">
                  <c:v>1627</c:v>
                </c:pt>
                <c:pt idx="8">
                  <c:v>1616</c:v>
                </c:pt>
                <c:pt idx="9">
                  <c:v>1604</c:v>
                </c:pt>
                <c:pt idx="10">
                  <c:v/>
                </c:pt>
                <c:pt idx="11">
                  <c:v/>
                </c:pt>
              </c:numCache>
            </c:numRef>
          </c:val>
          <c:smooth val="0"/>
        </c:ser>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700"/>
          <c:min val="145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
                </c:pt>
                <c:pt idx="10">
                  <c:v>1582</c:v>
                </c:pt>
                <c:pt idx="11">
                  <c:v>1563</c:v>
                </c:pt>
              </c:numCache>
            </c:numRef>
          </c:val>
          <c:smooth val="0"/>
        </c:ser>
        <c:dLbls>
          <c:numFmt formatCode="#,##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700"/>
          <c:min val="145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1625</c:v>
                </c:pt>
                <c:pt idx="1">
                  <c:v>1632</c:v>
                </c:pt>
                <c:pt idx="2">
                  <c:v>1629</c:v>
                </c:pt>
                <c:pt idx="3">
                  <c:v>1615</c:v>
                </c:pt>
                <c:pt idx="4">
                  <c:v>1623</c:v>
                </c:pt>
                <c:pt idx="5">
                  <c:v>1616</c:v>
                </c:pt>
                <c:pt idx="6">
                  <c:v>1629</c:v>
                </c:pt>
                <c:pt idx="7">
                  <c:v>1627</c:v>
                </c:pt>
                <c:pt idx="8">
                  <c:v>1616</c:v>
                </c:pt>
                <c:pt idx="9">
                  <c:v>1604</c:v>
                </c:pt>
                <c:pt idx="10">
                  <c:v>1582</c:v>
                </c:pt>
                <c:pt idx="11">
                  <c:v>1563</c:v>
                </c:pt>
              </c:numCache>
            </c:numRef>
          </c:val>
          <c:smooth val="0"/>
        </c:ser>
        <c:dLbls>
          <c:numFmt formatCode="#,##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1700"/>
          <c:min val="145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5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fixed ops gross / fixed employees. YTD from YTD totals, not the mean of months. Store rows reconcile to the group on every input, both years. 2025 shown January-December; October-December pulled Oct 22 on the same basis (chart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13 of 33 stores at or above the $13,617 group, led by Audi Henderson at $23,461. Honda Flagstaff is lowest at $9,149.Source: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fixed ops gross / fixed employees. Jan-Sep 2026 YTD. Green at or above the group, red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27 of 33 stores raised gross per employee, led by Subaru St George at +$4,158 to $15,556. 6 declined; VW St George fell most at −$1,319.Source: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Change in Fixed Gross per Fixed Employee,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Subaru St George, Hyundai Prescott and Lincoln what changed. Ask VW St George, Kia St George and Cadillac what got in the way. Ask LR Henderson, Subaru St George and LR Reno what they started this year.Source: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fixed ops gross / fixed employees. Top and bottom three stores by change in Fixed Gross per Fixed Employee, Jan-Sep 2026 vs 2025. Moving now: Jul-Sep 2026 vs Jan-Mar 2026, each store against itself; the group moved +$1,107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service advisors. YTD from YTD totals, not the mean of months. Store rows reconcile to the group on every input, both years. 2025 shown January-December; October-December pulled Oct 22 on the same basis (chart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Against their own segment, 5 of 9 luxury stores beat 123 and 12 of 24 others beat 176. Toyota Flagstaff leads non-luxury at 253.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service advisors. Jan-Sep 2026 YTD. Green at or above own segment average, red below. Segment averages from segment totals. Luxury = Lexus, Lincoln, Cadillac, Volvo, Audi Reno, Audi Henderson, LR Reno, LR LV, LR Henderson; Acura counted as non-luxury.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17 of 33 stores raised ROs per advisor, led by Honda Flagstaff at +40 to 175. 16 declined; Toyota Spokane fell most at −59.Source: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Change in CP &amp; W ROs per Service Advisor,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Honda Flagstaff, Hyundai Prescott and Toyota Flagstaff what changed. Ask Toyota Spokane, VW St George and Nissan what got in the way. Ask Mazda, Honda North and Honda Spokane what they started this year.Source: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service advisors. Top and bottom three stores by change in CP &amp; W ROs per Service Advisor, Jan-Sep 2026 vs 2025. Moving now: Jul-Sep 2026 vs Jan-Mar 2026, each store against itself; the group moved +15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employees. YTD from YTD totals, not the mean of months. Store rows reconcile to the group on every input, both years. 2025 shown January-December; October-December pulled Oct 22 on the same basis (chart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Against their own segment, 4 of 9 luxury stores beat 17.4 and 14 of 24 others beat 29.3. Kia St George leads non-luxury at 39.8.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employees. Jan-Sep 2026 YTD. Green at or above own segment average, red below. Segment averages from segment totals. Luxury = Lexus, Lincoln, Cadillac, Volvo, Audi Reno, Audi Henderson, LR Reno, LR LV, LR Henderson; Acura counted as non-luxury.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22 of 33 stores raised ROs per fixed employee, led by Hyundai Prescott at +6.9 to 31.4. 11 declined; Kia St George fell most at −6.6.Source: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Change in CP &amp; W ROs per Fixed Employee,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Hyundai Prescott, Kia LV and Hyundai St George what changed. Ask Kia St George, Mazda and VW St George what got in the way. Ask Subaru St George, CDJR Post Falls and Hyundai Prescott what they started this year.Source: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employees. Top and bottom three stores by change in CP &amp; W ROs per Fixed Employee, Jan-Sep 2026 vs 2025. Moving now: Jul-Sep 2026 vs Jan-Mar 2026, each store against itself; the group moved +1.8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managers. Small stores carry one to three managers, so one hire moves the ratio sharply. YTD from YTD totals, not the mean of months. Store rows reconcile to the group on every input, both years. 2025 shown January-December; October-December pulled Oct 22 on the same basis (chart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Against their own segment, 5 of 9 luxury stores beat 276 and 7 of 24 others beat 418. Toyota Henderson leads non-luxury at 1,022.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managers. Small stores carry one to three managers, so one hire moves the ratio sharply. Jan-Sep 2026 YTD. Green at or above own segment average, red below. Segment averages from segment totals. Luxury = Lexus, Lincoln, Cadillac, Volvo, Audi Reno, Audi Henderson, LR Reno, LR LV, LR Henderson; Acura counted as non-luxury.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22 of 33 stores raised ROs per manager, led by Toyota Henderson at +182 to 1,022. 11 declined; Mazda fell most at −281.Source: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Change in CP &amp; W ROs per Fixed Manager,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Toyota Henderson, Toyota Spokane and Toyota Prescott what changed. Ask Mazda, Subaru St George and Honda Spokane what got in the way. Ask Toyota Prescott, Toyota Henderson and VW St George what they started this year.Source: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managers. Small stores carry one to three managers, so one hire moves the ratio sharply. Top and bottom three stores by change in CP &amp; W ROs per Fixed Manager, Jan-Sep 2026 vs 2025. Moving now: Jul-Sep 2026 vs Jan-Mar 2026, each store against itself; the group moved +38 on the same basis, so part of every store's change is seasonal. Green bar at the right of a row: the store is on both the top three vs last year and the top three moving now. Blue bar: a turnaround, on the bottom three vs last year and the top three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YTD = average month-end fixed headcount, Jan-Sep. Fixed employees include managers; technicians = service, express, foreman and team-leader titles. 2025 shown January-December.
Jan 25: 1625 fixed, 703 techs, 238 advisors, 117 managers
Feb 25: 1632 fixed, 705 techs, 237 advisors, 116 managers
Mar 25: 1629 fixed, 702 techs, 240 advisors, 116 managers
Apr 25: 1615 fixed, 695 techs, 242 advisors, 111 managers
May 25: 1623 fixed, 699 techs, 250 advisors, 111 managers
Jun 25: 1616 fixed, 695 techs, 247 advisors, 109 managers
Jul 25: 1629 fixed, 705 techs, 247 advisors, 110 managers
Aug 25: 1627 fixed, 701 techs, 251 advisors, 110 managers
Sep 25: 1616 fixed, 701 techs, 248 advisors, 107 managers
Oct 25: 1604 fixed, 688 techs, 249 advisors, 109 managers
Nov 25: 1582 fixed, 685 techs, 247 advisors, 107 managers
Dec 25: 1563 fixed, 674 techs, 249 advisors, 107 managers
Jan 26: 1530 fixed, 657 techs, 248 advisors, 106 managers
Feb 26: 1530 fixed, 670 techs, 245 advisors, 108 managers
Mar 26: 1540 fixed, 669 techs, 252 advisors, 107 managers
Apr 26: 1545 fixed, 687 techs, 250 advisors, 106 managers
May 26: 1537 fixed, 680 techs, 254 advisors, 105 managers
Jun 26: 1546 fixed, 684 techs, 250 advisors, 105 managers
Jul 26: 1548 fixed, 682 techs, 250 advisors, 106 managers
Aug 26: 1549 fixed, 684 techs, 244 advisors, 104 managers
Sep 26: 1540 fixed, 684 techs, 241 advisors, 104 managers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10 stores added fixed staff, led by Mazda (+5); 23 reduced, led by Chevy LV (−21).Source: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Change in fixed ops headcount, Sep 2026 vs Sep 2025, most added first. Neutral colour: added staff can be growth or excess.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chart" Target="/ppt/charts/chart5.xml"/><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chart" Target="/ppt/charts/chart8.xml"/><Relationship Id="rId4" Type="http://schemas.openxmlformats.org/officeDocument/2006/relationships/chart" Target="/ppt/charts/chart9.xml"/><Relationship Id="rId5" Type="http://schemas.openxmlformats.org/officeDocument/2006/relationships/chart" Target="/ppt/charts/chart10.xml"/><Relationship Id="rId6" Type="http://schemas.openxmlformats.org/officeDocument/2006/relationships/chart" Target="/ppt/charts/chart11.xml"/><Relationship Id="rId7" Type="http://schemas.openxmlformats.org/officeDocument/2006/relationships/chart" Target="/ppt/charts/chart12.xml"/><Relationship Id="rId8" Type="http://schemas.openxmlformats.org/officeDocument/2006/relationships/chart" Target="/ppt/charts/chart13.xml"/><Relationship Id="rId9" Type="http://schemas.openxmlformats.org/officeDocument/2006/relationships/chart" Target="/ppt/charts/chart14.xml"/><Relationship Id="rId10" Type="http://schemas.openxmlformats.org/officeDocument/2006/relationships/chart" Target="/ppt/charts/chart15.xml"/><Relationship Id="rId11" Type="http://schemas.openxmlformats.org/officeDocument/2006/relationships/chart" Target="/ppt/charts/chart16.xml"/><Relationship Id="rId12" Type="http://schemas.openxmlformats.org/officeDocument/2006/relationships/chart" Target="/ppt/charts/chart17.xml"/><Relationship Id="rId13" Type="http://schemas.openxmlformats.org/officeDocument/2006/relationships/slideLayout" Target="../slideLayouts/slideLayou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chart" Target="/ppt/charts/chart19.xml"/><Relationship Id="rId3" Type="http://schemas.openxmlformats.org/officeDocument/2006/relationships/chart" Target="/ppt/charts/chart20.xml"/><Relationship Id="rId4" Type="http://schemas.openxmlformats.org/officeDocument/2006/relationships/chart" Target="/ppt/charts/chart21.xml"/><Relationship Id="rId5" Type="http://schemas.openxmlformats.org/officeDocument/2006/relationships/chart" Target="/ppt/charts/chart22.xml"/><Relationship Id="rId6" Type="http://schemas.openxmlformats.org/officeDocument/2006/relationships/chart" Target="/ppt/charts/chart23.xml"/><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chart" Target="/ppt/charts/chart25.xml"/><Relationship Id="rId3" Type="http://schemas.openxmlformats.org/officeDocument/2006/relationships/chart" Target="/ppt/charts/chart26.xml"/><Relationship Id="rId4" Type="http://schemas.openxmlformats.org/officeDocument/2006/relationships/chart" Target="/ppt/charts/chart27.xml"/><Relationship Id="rId5" Type="http://schemas.openxmlformats.org/officeDocument/2006/relationships/chart" Target="/ppt/charts/chart28.xml"/><Relationship Id="rId6" Type="http://schemas.openxmlformats.org/officeDocument/2006/relationships/chart" Target="/ppt/charts/chart29.xml"/><Relationship Id="rId7" Type="http://schemas.openxmlformats.org/officeDocument/2006/relationships/chart" Target="/ppt/charts/chart30.xml"/><Relationship Id="rId8" Type="http://schemas.openxmlformats.org/officeDocument/2006/relationships/chart" Target="/ppt/charts/chart31.xml"/><Relationship Id="rId9" Type="http://schemas.openxmlformats.org/officeDocument/2006/relationships/chart" Target="/ppt/charts/chart32.xml"/><Relationship Id="rId10" Type="http://schemas.openxmlformats.org/officeDocument/2006/relationships/chart" Target="/ppt/charts/chart33.xml"/><Relationship Id="rId11" Type="http://schemas.openxmlformats.org/officeDocument/2006/relationships/chart" Target="/ppt/charts/chart34.xml"/><Relationship Id="rId12" Type="http://schemas.openxmlformats.org/officeDocument/2006/relationships/chart" Target="/ppt/charts/chart35.xml"/><Relationship Id="rId13" Type="http://schemas.openxmlformats.org/officeDocument/2006/relationships/slideLayout" Target="../slideLayouts/slideLayout1.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6.xml"/><Relationship Id="rId2" Type="http://schemas.openxmlformats.org/officeDocument/2006/relationships/chart" Target="/ppt/charts/chart37.xml"/><Relationship Id="rId3" Type="http://schemas.openxmlformats.org/officeDocument/2006/relationships/chart" Target="/ppt/charts/chart38.xml"/><Relationship Id="rId4" Type="http://schemas.openxmlformats.org/officeDocument/2006/relationships/chart" Target="/ppt/charts/chart39.xml"/><Relationship Id="rId5" Type="http://schemas.openxmlformats.org/officeDocument/2006/relationships/chart" Target="/ppt/charts/chart40.xml"/><Relationship Id="rId6" Type="http://schemas.openxmlformats.org/officeDocument/2006/relationships/chart" Target="/ppt/charts/chart41.xml"/><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2.xml"/><Relationship Id="rId2" Type="http://schemas.openxmlformats.org/officeDocument/2006/relationships/chart" Target="/ppt/charts/chart43.xml"/><Relationship Id="rId3" Type="http://schemas.openxmlformats.org/officeDocument/2006/relationships/chart" Target="/ppt/charts/chart44.xml"/><Relationship Id="rId4" Type="http://schemas.openxmlformats.org/officeDocument/2006/relationships/chart" Target="/ppt/charts/chart45.xml"/><Relationship Id="rId5" Type="http://schemas.openxmlformats.org/officeDocument/2006/relationships/chart" Target="/ppt/charts/chart46.xml"/><Relationship Id="rId6" Type="http://schemas.openxmlformats.org/officeDocument/2006/relationships/chart" Target="/ppt/charts/chart47.xml"/><Relationship Id="rId7" Type="http://schemas.openxmlformats.org/officeDocument/2006/relationships/chart" Target="/ppt/charts/chart48.xml"/><Relationship Id="rId8" Type="http://schemas.openxmlformats.org/officeDocument/2006/relationships/chart" Target="/ppt/charts/chart49.xml"/><Relationship Id="rId9" Type="http://schemas.openxmlformats.org/officeDocument/2006/relationships/chart" Target="/ppt/charts/chart50.xml"/><Relationship Id="rId10" Type="http://schemas.openxmlformats.org/officeDocument/2006/relationships/chart" Target="/ppt/charts/chart51.xml"/><Relationship Id="rId11" Type="http://schemas.openxmlformats.org/officeDocument/2006/relationships/chart" Target="/ppt/charts/chart52.xml"/><Relationship Id="rId12" Type="http://schemas.openxmlformats.org/officeDocument/2006/relationships/chart" Target="/ppt/charts/chart53.xml"/><Relationship Id="rId13" Type="http://schemas.openxmlformats.org/officeDocument/2006/relationships/slideLayout" Target="../slideLayouts/slideLayout1.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4.xml"/><Relationship Id="rId2" Type="http://schemas.openxmlformats.org/officeDocument/2006/relationships/chart" Target="/ppt/charts/chart55.xml"/><Relationship Id="rId3" Type="http://schemas.openxmlformats.org/officeDocument/2006/relationships/chart" Target="/ppt/charts/chart56.xml"/><Relationship Id="rId4" Type="http://schemas.openxmlformats.org/officeDocument/2006/relationships/chart" Target="/ppt/charts/chart57.xml"/><Relationship Id="rId5" Type="http://schemas.openxmlformats.org/officeDocument/2006/relationships/chart" Target="/ppt/charts/chart58.xml"/><Relationship Id="rId6" Type="http://schemas.openxmlformats.org/officeDocument/2006/relationships/chart" Target="/ppt/charts/chart59.xml"/><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60.xml"/><Relationship Id="rId2" Type="http://schemas.openxmlformats.org/officeDocument/2006/relationships/chart" Target="/ppt/charts/chart61.xml"/><Relationship Id="rId3" Type="http://schemas.openxmlformats.org/officeDocument/2006/relationships/chart" Target="/ppt/charts/chart62.xml"/><Relationship Id="rId4" Type="http://schemas.openxmlformats.org/officeDocument/2006/relationships/chart" Target="/ppt/charts/chart63.xml"/><Relationship Id="rId5" Type="http://schemas.openxmlformats.org/officeDocument/2006/relationships/chart" Target="/ppt/charts/chart64.xml"/><Relationship Id="rId6" Type="http://schemas.openxmlformats.org/officeDocument/2006/relationships/chart" Target="/ppt/charts/chart65.xml"/><Relationship Id="rId7" Type="http://schemas.openxmlformats.org/officeDocument/2006/relationships/chart" Target="/ppt/charts/chart66.xml"/><Relationship Id="rId8" Type="http://schemas.openxmlformats.org/officeDocument/2006/relationships/chart" Target="/ppt/charts/chart67.xml"/><Relationship Id="rId9" Type="http://schemas.openxmlformats.org/officeDocument/2006/relationships/chart" Target="/ppt/charts/chart68.xml"/><Relationship Id="rId10" Type="http://schemas.openxmlformats.org/officeDocument/2006/relationships/chart" Target="/ppt/charts/chart69.xml"/><Relationship Id="rId11" Type="http://schemas.openxmlformats.org/officeDocument/2006/relationships/chart" Target="/ppt/charts/chart70.xml"/><Relationship Id="rId12" Type="http://schemas.openxmlformats.org/officeDocument/2006/relationships/chart" Target="/ppt/charts/chart71.xml"/><Relationship Id="rId13" Type="http://schemas.openxmlformats.org/officeDocument/2006/relationships/slideLayout" Target="../slideLayouts/slideLayout1.xml"/><Relationship Id="rId1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72.xml"/><Relationship Id="rId2" Type="http://schemas.openxmlformats.org/officeDocument/2006/relationships/chart" Target="/ppt/charts/chart73.xml"/><Relationship Id="rId3" Type="http://schemas.openxmlformats.org/officeDocument/2006/relationships/chart" Target="/ppt/charts/chart74.xml"/><Relationship Id="rId4" Type="http://schemas.openxmlformats.org/officeDocument/2006/relationships/chart" Target="/ppt/charts/chart75.xml"/><Relationship Id="rId5" Type="http://schemas.openxmlformats.org/officeDocument/2006/relationships/chart" Target="/ppt/charts/chart76.xml"/><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121408"/>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487168"/>
            <a:ext cx="10789920" cy="1188720"/>
          </a:xfrm>
          <a:prstGeom prst="rect">
            <a:avLst/>
          </a:prstGeom>
          <a:noFill/>
          <a:ln/>
        </p:spPr>
        <p:txBody>
          <a:bodyPr wrap="none" lIns="0" tIns="0" rIns="0" bIns="0" rtlCol="0" anchor="ctr"/>
          <a:lstStyle/>
          <a:p>
            <a:pPr indent="0" marL="0">
              <a:buNone/>
            </a:pPr>
            <a:r>
              <a:rPr lang="en-US" sz="7600" b="1" dirty="0">
                <a:solidFill>
                  <a:srgbClr val="1A1A1A"/>
                </a:solidFill>
                <a:latin typeface="Inter" pitchFamily="34" charset="0"/>
                <a:ea typeface="Inter" pitchFamily="34" charset="-122"/>
                <a:cs typeface="Inter" pitchFamily="34" charset="-120"/>
              </a:rPr>
              <a:t>Productivity</a:t>
            </a:r>
            <a:endParaRPr lang="en-US" sz="7600" dirty="0"/>
          </a:p>
        </p:txBody>
      </p:sp>
      <p:sp>
        <p:nvSpPr>
          <p:cNvPr id="4" name="Text 2"/>
          <p:cNvSpPr txBox="1"/>
          <p:nvPr/>
        </p:nvSpPr>
        <p:spPr>
          <a:xfrm>
            <a:off x="694944" y="376732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Gross per employee   ·   ROs per person   ·   Headcount</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Gross per Fixed Employee</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$12,410</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$13,617</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+$1,207</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+9.7%</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Fixed Gross per Fixed Employee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sp>
        <p:nvSpPr>
          <p:cNvPr id="22" name="Shape 15"/>
          <p:cNvSpPr/>
          <p:nvPr/>
        </p:nvSpPr>
        <p:spPr>
          <a:xfrm>
            <a:off x="4951476" y="3049524"/>
            <a:ext cx="310896" cy="45720"/>
          </a:xfrm>
          <a:prstGeom prst="rect">
            <a:avLst/>
          </a:prstGeom>
          <a:solidFill>
            <a:srgbClr val="9AA3AD"/>
          </a:solidFill>
          <a:ln/>
        </p:spPr>
      </p:sp>
      <p:sp>
        <p:nvSpPr>
          <p:cNvPr id="23" name="Shape 16"/>
          <p:cNvSpPr/>
          <p:nvPr/>
        </p:nvSpPr>
        <p:spPr>
          <a:xfrm>
            <a:off x="5052060" y="3017520"/>
            <a:ext cx="109728" cy="109728"/>
          </a:xfrm>
          <a:prstGeom prst="ellipse">
            <a:avLst/>
          </a:prstGeom>
          <a:solidFill>
            <a:srgbClr val="9AA3AD"/>
          </a:solidFill>
          <a:ln/>
        </p:spPr>
      </p:sp>
      <p:sp>
        <p:nvSpPr>
          <p:cNvPr id="24"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5" name="Shape 18"/>
          <p:cNvSpPr/>
          <p:nvPr/>
        </p:nvSpPr>
        <p:spPr>
          <a:xfrm>
            <a:off x="6185916" y="3049524"/>
            <a:ext cx="310896" cy="45720"/>
          </a:xfrm>
          <a:prstGeom prst="rect">
            <a:avLst/>
          </a:prstGeom>
          <a:solidFill>
            <a:srgbClr val="2587C5"/>
          </a:solidFill>
          <a:ln/>
        </p:spPr>
      </p:sp>
      <p:sp>
        <p:nvSpPr>
          <p:cNvPr id="26" name="Shape 19"/>
          <p:cNvSpPr/>
          <p:nvPr/>
        </p:nvSpPr>
        <p:spPr>
          <a:xfrm>
            <a:off x="6286500" y="3017520"/>
            <a:ext cx="109728" cy="109728"/>
          </a:xfrm>
          <a:prstGeom prst="ellipse">
            <a:avLst/>
          </a:prstGeom>
          <a:solidFill>
            <a:srgbClr val="2587C5"/>
          </a:solidFill>
          <a:ln/>
        </p:spPr>
      </p:sp>
      <p:sp>
        <p:nvSpPr>
          <p:cNvPr id="27"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8" name="Shape 21"/>
          <p:cNvSpPr/>
          <p:nvPr/>
        </p:nvSpPr>
        <p:spPr>
          <a:xfrm>
            <a:off x="457200" y="6126480"/>
            <a:ext cx="11274552" cy="371856"/>
          </a:xfrm>
          <a:prstGeom prst="rect">
            <a:avLst/>
          </a:prstGeom>
          <a:solidFill>
            <a:srgbClr val="E6F6EE"/>
          </a:solidFill>
          <a:ln/>
        </p:spPr>
      </p:sp>
      <p:sp>
        <p:nvSpPr>
          <p:cNvPr id="29"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$1,207 to $13,617, ahead of 2025 in all nine months. Gross grew 4.1%; headcount fell 5.1%.</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Gross per Fixed Employee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68046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FIXED GROSS PER FIXED EMPLOYEE</a:t>
            </a:r>
            <a:endParaRPr lang="en-US" sz="1500" dirty="0"/>
          </a:p>
        </p:txBody>
      </p:sp>
      <p:sp>
        <p:nvSpPr>
          <p:cNvPr id="9" name="Text 7"/>
          <p:cNvSpPr txBox="1"/>
          <p:nvPr/>
        </p:nvSpPr>
        <p:spPr>
          <a:xfrm>
            <a:off x="4594860" y="1335024"/>
            <a:ext cx="345186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$13,617</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3" name="Shape 11"/>
          <p:cNvSpPr/>
          <p:nvPr/>
        </p:nvSpPr>
        <p:spPr>
          <a:xfrm>
            <a:off x="3008376" y="1907062"/>
            <a:ext cx="1691640" cy="119948"/>
          </a:xfrm>
          <a:prstGeom prst="rect">
            <a:avLst/>
          </a:prstGeom>
          <a:solidFill>
            <a:srgbClr val="12A566"/>
          </a:solidFill>
          <a:ln/>
        </p:spPr>
      </p:sp>
      <p:sp>
        <p:nvSpPr>
          <p:cNvPr id="14" name="Text 12"/>
          <p:cNvSpPr txBox="1"/>
          <p:nvPr/>
        </p:nvSpPr>
        <p:spPr>
          <a:xfrm>
            <a:off x="4754880"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$23,461</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7" name="Shape 15"/>
          <p:cNvSpPr/>
          <p:nvPr/>
        </p:nvSpPr>
        <p:spPr>
          <a:xfrm>
            <a:off x="3008376" y="2146957"/>
            <a:ext cx="1337457" cy="119948"/>
          </a:xfrm>
          <a:prstGeom prst="rect">
            <a:avLst/>
          </a:prstGeom>
          <a:solidFill>
            <a:srgbClr val="12A566"/>
          </a:solidFill>
          <a:ln/>
        </p:spPr>
      </p:sp>
      <p:sp>
        <p:nvSpPr>
          <p:cNvPr id="18" name="Text 16"/>
          <p:cNvSpPr txBox="1"/>
          <p:nvPr/>
        </p:nvSpPr>
        <p:spPr>
          <a:xfrm>
            <a:off x="4754880"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$18,549</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21" name="Shape 19"/>
          <p:cNvSpPr/>
          <p:nvPr/>
        </p:nvSpPr>
        <p:spPr>
          <a:xfrm>
            <a:off x="3008376" y="2386853"/>
            <a:ext cx="1317240" cy="119948"/>
          </a:xfrm>
          <a:prstGeom prst="rect">
            <a:avLst/>
          </a:prstGeom>
          <a:solidFill>
            <a:srgbClr val="12A566"/>
          </a:solidFill>
          <a:ln/>
        </p:spPr>
      </p:sp>
      <p:sp>
        <p:nvSpPr>
          <p:cNvPr id="22" name="Text 20"/>
          <p:cNvSpPr txBox="1"/>
          <p:nvPr/>
        </p:nvSpPr>
        <p:spPr>
          <a:xfrm>
            <a:off x="4754880"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$18,268</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25" name="Shape 23"/>
          <p:cNvSpPr/>
          <p:nvPr/>
        </p:nvSpPr>
        <p:spPr>
          <a:xfrm>
            <a:off x="3008376" y="2626748"/>
            <a:ext cx="1308608" cy="119948"/>
          </a:xfrm>
          <a:prstGeom prst="rect">
            <a:avLst/>
          </a:prstGeom>
          <a:solidFill>
            <a:srgbClr val="12A566"/>
          </a:solidFill>
          <a:ln/>
        </p:spPr>
      </p:sp>
      <p:sp>
        <p:nvSpPr>
          <p:cNvPr id="26" name="Text 24"/>
          <p:cNvSpPr txBox="1"/>
          <p:nvPr/>
        </p:nvSpPr>
        <p:spPr>
          <a:xfrm>
            <a:off x="4754880"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$18,148</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29" name="Shape 27"/>
          <p:cNvSpPr/>
          <p:nvPr/>
        </p:nvSpPr>
        <p:spPr>
          <a:xfrm>
            <a:off x="3008376" y="2866644"/>
            <a:ext cx="1219968" cy="119948"/>
          </a:xfrm>
          <a:prstGeom prst="rect">
            <a:avLst/>
          </a:prstGeom>
          <a:solidFill>
            <a:srgbClr val="12A566"/>
          </a:solidFill>
          <a:ln/>
        </p:spPr>
      </p:sp>
      <p:sp>
        <p:nvSpPr>
          <p:cNvPr id="30" name="Text 28"/>
          <p:cNvSpPr txBox="1"/>
          <p:nvPr/>
        </p:nvSpPr>
        <p:spPr>
          <a:xfrm>
            <a:off x="4754880" y="280667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$16,919</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33" name="Shape 31"/>
          <p:cNvSpPr/>
          <p:nvPr/>
        </p:nvSpPr>
        <p:spPr>
          <a:xfrm>
            <a:off x="3008376" y="3106540"/>
            <a:ext cx="1158109" cy="119948"/>
          </a:xfrm>
          <a:prstGeom prst="rect">
            <a:avLst/>
          </a:prstGeom>
          <a:solidFill>
            <a:srgbClr val="12A566"/>
          </a:solidFill>
          <a:ln/>
        </p:spPr>
      </p:sp>
      <p:sp>
        <p:nvSpPr>
          <p:cNvPr id="34" name="Text 32"/>
          <p:cNvSpPr txBox="1"/>
          <p:nvPr/>
        </p:nvSpPr>
        <p:spPr>
          <a:xfrm>
            <a:off x="4754880" y="304656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$16,061</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37" name="Shape 35"/>
          <p:cNvSpPr/>
          <p:nvPr/>
        </p:nvSpPr>
        <p:spPr>
          <a:xfrm>
            <a:off x="3008376" y="3346435"/>
            <a:ext cx="1151261" cy="119948"/>
          </a:xfrm>
          <a:prstGeom prst="rect">
            <a:avLst/>
          </a:prstGeom>
          <a:solidFill>
            <a:srgbClr val="12A566"/>
          </a:solidFill>
          <a:ln/>
        </p:spPr>
      </p:sp>
      <p:sp>
        <p:nvSpPr>
          <p:cNvPr id="38" name="Text 36"/>
          <p:cNvSpPr txBox="1"/>
          <p:nvPr/>
        </p:nvSpPr>
        <p:spPr>
          <a:xfrm>
            <a:off x="4754880" y="328646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$15,966</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41" name="Shape 39"/>
          <p:cNvSpPr/>
          <p:nvPr/>
        </p:nvSpPr>
        <p:spPr>
          <a:xfrm>
            <a:off x="3008376" y="3586331"/>
            <a:ext cx="1121653" cy="119948"/>
          </a:xfrm>
          <a:prstGeom prst="rect">
            <a:avLst/>
          </a:prstGeom>
          <a:solidFill>
            <a:srgbClr val="12A566"/>
          </a:solidFill>
          <a:ln/>
        </p:spPr>
      </p:sp>
      <p:sp>
        <p:nvSpPr>
          <p:cNvPr id="42" name="Text 40"/>
          <p:cNvSpPr txBox="1"/>
          <p:nvPr/>
        </p:nvSpPr>
        <p:spPr>
          <a:xfrm>
            <a:off x="4754880" y="3526357"/>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$15,556</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45" name="Shape 43"/>
          <p:cNvSpPr/>
          <p:nvPr/>
        </p:nvSpPr>
        <p:spPr>
          <a:xfrm>
            <a:off x="3008376" y="3826226"/>
            <a:ext cx="1097901" cy="119948"/>
          </a:xfrm>
          <a:prstGeom prst="rect">
            <a:avLst/>
          </a:prstGeom>
          <a:solidFill>
            <a:srgbClr val="12A566"/>
          </a:solidFill>
          <a:ln/>
        </p:spPr>
      </p:sp>
      <p:sp>
        <p:nvSpPr>
          <p:cNvPr id="46" name="Text 44"/>
          <p:cNvSpPr txBox="1"/>
          <p:nvPr/>
        </p:nvSpPr>
        <p:spPr>
          <a:xfrm>
            <a:off x="4754880" y="3766252"/>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$15,226</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49" name="Shape 47"/>
          <p:cNvSpPr/>
          <p:nvPr/>
        </p:nvSpPr>
        <p:spPr>
          <a:xfrm>
            <a:off x="3008376" y="4066122"/>
            <a:ext cx="1075517" cy="119948"/>
          </a:xfrm>
          <a:prstGeom prst="rect">
            <a:avLst/>
          </a:prstGeom>
          <a:solidFill>
            <a:srgbClr val="12A566"/>
          </a:solidFill>
          <a:ln/>
        </p:spPr>
      </p:sp>
      <p:sp>
        <p:nvSpPr>
          <p:cNvPr id="50" name="Text 48"/>
          <p:cNvSpPr txBox="1"/>
          <p:nvPr/>
        </p:nvSpPr>
        <p:spPr>
          <a:xfrm>
            <a:off x="4754880" y="400614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$14,916</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53" name="Shape 51"/>
          <p:cNvSpPr/>
          <p:nvPr/>
        </p:nvSpPr>
        <p:spPr>
          <a:xfrm>
            <a:off x="3008376" y="4306017"/>
            <a:ext cx="1053034" cy="119948"/>
          </a:xfrm>
          <a:prstGeom prst="rect">
            <a:avLst/>
          </a:prstGeom>
          <a:solidFill>
            <a:srgbClr val="12A566"/>
          </a:solidFill>
          <a:ln/>
        </p:spPr>
      </p:sp>
      <p:sp>
        <p:nvSpPr>
          <p:cNvPr id="54" name="Text 52"/>
          <p:cNvSpPr txBox="1"/>
          <p:nvPr/>
        </p:nvSpPr>
        <p:spPr>
          <a:xfrm>
            <a:off x="4754880" y="4246043"/>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$14,604</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57" name="Shape 55"/>
          <p:cNvSpPr/>
          <p:nvPr/>
        </p:nvSpPr>
        <p:spPr>
          <a:xfrm>
            <a:off x="3008376" y="4545913"/>
            <a:ext cx="1028227" cy="119948"/>
          </a:xfrm>
          <a:prstGeom prst="rect">
            <a:avLst/>
          </a:prstGeom>
          <a:solidFill>
            <a:srgbClr val="12A566"/>
          </a:solidFill>
          <a:ln/>
        </p:spPr>
      </p:sp>
      <p:sp>
        <p:nvSpPr>
          <p:cNvPr id="58" name="Text 56"/>
          <p:cNvSpPr txBox="1"/>
          <p:nvPr/>
        </p:nvSpPr>
        <p:spPr>
          <a:xfrm>
            <a:off x="4754880" y="448593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$14,260</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61" name="Shape 59"/>
          <p:cNvSpPr/>
          <p:nvPr/>
        </p:nvSpPr>
        <p:spPr>
          <a:xfrm>
            <a:off x="3008376" y="4785808"/>
            <a:ext cx="1022027" cy="119948"/>
          </a:xfrm>
          <a:prstGeom prst="rect">
            <a:avLst/>
          </a:prstGeom>
          <a:solidFill>
            <a:srgbClr val="12A566"/>
          </a:solidFill>
          <a:ln/>
        </p:spPr>
      </p:sp>
      <p:sp>
        <p:nvSpPr>
          <p:cNvPr id="62" name="Text 60"/>
          <p:cNvSpPr txBox="1"/>
          <p:nvPr/>
        </p:nvSpPr>
        <p:spPr>
          <a:xfrm>
            <a:off x="4754880" y="472583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$14,174</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65" name="Shape 63"/>
          <p:cNvSpPr/>
          <p:nvPr/>
        </p:nvSpPr>
        <p:spPr>
          <a:xfrm>
            <a:off x="3008376" y="5025704"/>
            <a:ext cx="958239" cy="119948"/>
          </a:xfrm>
          <a:prstGeom prst="rect">
            <a:avLst/>
          </a:prstGeom>
          <a:solidFill>
            <a:srgbClr val="C2352F"/>
          </a:solidFill>
          <a:ln/>
        </p:spPr>
      </p:sp>
      <p:sp>
        <p:nvSpPr>
          <p:cNvPr id="66" name="Text 64"/>
          <p:cNvSpPr txBox="1"/>
          <p:nvPr/>
        </p:nvSpPr>
        <p:spPr>
          <a:xfrm>
            <a:off x="4754880"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$13,289</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69" name="Shape 67"/>
          <p:cNvSpPr/>
          <p:nvPr/>
        </p:nvSpPr>
        <p:spPr>
          <a:xfrm>
            <a:off x="3008376" y="5265599"/>
            <a:ext cx="928293" cy="119948"/>
          </a:xfrm>
          <a:prstGeom prst="rect">
            <a:avLst/>
          </a:prstGeom>
          <a:solidFill>
            <a:srgbClr val="C2352F"/>
          </a:solidFill>
          <a:ln/>
        </p:spPr>
      </p:sp>
      <p:sp>
        <p:nvSpPr>
          <p:cNvPr id="70" name="Text 68"/>
          <p:cNvSpPr txBox="1"/>
          <p:nvPr/>
        </p:nvSpPr>
        <p:spPr>
          <a:xfrm>
            <a:off x="4754880"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$12,874</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73" name="Shape 71"/>
          <p:cNvSpPr/>
          <p:nvPr/>
        </p:nvSpPr>
        <p:spPr>
          <a:xfrm>
            <a:off x="3008376" y="5505495"/>
            <a:ext cx="928044" cy="119948"/>
          </a:xfrm>
          <a:prstGeom prst="rect">
            <a:avLst/>
          </a:prstGeom>
          <a:solidFill>
            <a:srgbClr val="C2352F"/>
          </a:solidFill>
          <a:ln/>
        </p:spPr>
      </p:sp>
      <p:sp>
        <p:nvSpPr>
          <p:cNvPr id="74" name="Text 72"/>
          <p:cNvSpPr txBox="1"/>
          <p:nvPr/>
        </p:nvSpPr>
        <p:spPr>
          <a:xfrm>
            <a:off x="4754880"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$12,871</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77" name="Shape 75"/>
          <p:cNvSpPr/>
          <p:nvPr/>
        </p:nvSpPr>
        <p:spPr>
          <a:xfrm>
            <a:off x="3008376" y="5745390"/>
            <a:ext cx="901400" cy="119948"/>
          </a:xfrm>
          <a:prstGeom prst="rect">
            <a:avLst/>
          </a:prstGeom>
          <a:solidFill>
            <a:srgbClr val="C2352F"/>
          </a:solidFill>
          <a:ln/>
        </p:spPr>
      </p:sp>
      <p:sp>
        <p:nvSpPr>
          <p:cNvPr id="78" name="Text 76"/>
          <p:cNvSpPr txBox="1"/>
          <p:nvPr/>
        </p:nvSpPr>
        <p:spPr>
          <a:xfrm>
            <a:off x="4754880" y="568541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$12,501</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81" name="Shape 79"/>
          <p:cNvSpPr/>
          <p:nvPr/>
        </p:nvSpPr>
        <p:spPr>
          <a:xfrm>
            <a:off x="8558784" y="1907062"/>
            <a:ext cx="891506" cy="119948"/>
          </a:xfrm>
          <a:prstGeom prst="rect">
            <a:avLst/>
          </a:prstGeom>
          <a:solidFill>
            <a:srgbClr val="C2352F"/>
          </a:solidFill>
          <a:ln/>
        </p:spPr>
      </p:sp>
      <p:sp>
        <p:nvSpPr>
          <p:cNvPr id="82" name="Text 80"/>
          <p:cNvSpPr txBox="1"/>
          <p:nvPr/>
        </p:nvSpPr>
        <p:spPr>
          <a:xfrm>
            <a:off x="10305288" y="184708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$12,364</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85" name="Shape 83"/>
          <p:cNvSpPr/>
          <p:nvPr/>
        </p:nvSpPr>
        <p:spPr>
          <a:xfrm>
            <a:off x="8558784" y="2146957"/>
            <a:ext cx="872721" cy="119948"/>
          </a:xfrm>
          <a:prstGeom prst="rect">
            <a:avLst/>
          </a:prstGeom>
          <a:solidFill>
            <a:srgbClr val="C2352F"/>
          </a:solidFill>
          <a:ln/>
        </p:spPr>
      </p:sp>
      <p:sp>
        <p:nvSpPr>
          <p:cNvPr id="86" name="Text 84"/>
          <p:cNvSpPr txBox="1"/>
          <p:nvPr/>
        </p:nvSpPr>
        <p:spPr>
          <a:xfrm>
            <a:off x="10305288" y="208698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$12,103</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89" name="Shape 87"/>
          <p:cNvSpPr/>
          <p:nvPr/>
        </p:nvSpPr>
        <p:spPr>
          <a:xfrm>
            <a:off x="8558784" y="2386853"/>
            <a:ext cx="868263" cy="119948"/>
          </a:xfrm>
          <a:prstGeom prst="rect">
            <a:avLst/>
          </a:prstGeom>
          <a:solidFill>
            <a:srgbClr val="C2352F"/>
          </a:solidFill>
          <a:ln/>
        </p:spPr>
      </p:sp>
      <p:sp>
        <p:nvSpPr>
          <p:cNvPr id="90" name="Text 88"/>
          <p:cNvSpPr txBox="1"/>
          <p:nvPr/>
        </p:nvSpPr>
        <p:spPr>
          <a:xfrm>
            <a:off x="10305288" y="232687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$12,042</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93" name="Shape 91"/>
          <p:cNvSpPr/>
          <p:nvPr/>
        </p:nvSpPr>
        <p:spPr>
          <a:xfrm>
            <a:off x="8558784" y="2626748"/>
            <a:ext cx="865684" cy="119948"/>
          </a:xfrm>
          <a:prstGeom prst="rect">
            <a:avLst/>
          </a:prstGeom>
          <a:solidFill>
            <a:srgbClr val="C2352F"/>
          </a:solidFill>
          <a:ln/>
        </p:spPr>
      </p:sp>
      <p:sp>
        <p:nvSpPr>
          <p:cNvPr id="94" name="Text 92"/>
          <p:cNvSpPr txBox="1"/>
          <p:nvPr/>
        </p:nvSpPr>
        <p:spPr>
          <a:xfrm>
            <a:off x="10305288" y="256677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$12,006</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97" name="Shape 95"/>
          <p:cNvSpPr/>
          <p:nvPr/>
        </p:nvSpPr>
        <p:spPr>
          <a:xfrm>
            <a:off x="8558784" y="2866644"/>
            <a:ext cx="862196" cy="119948"/>
          </a:xfrm>
          <a:prstGeom prst="rect">
            <a:avLst/>
          </a:prstGeom>
          <a:solidFill>
            <a:srgbClr val="C2352F"/>
          </a:solidFill>
          <a:ln/>
        </p:spPr>
      </p:sp>
      <p:sp>
        <p:nvSpPr>
          <p:cNvPr id="98" name="Text 96"/>
          <p:cNvSpPr txBox="1"/>
          <p:nvPr/>
        </p:nvSpPr>
        <p:spPr>
          <a:xfrm>
            <a:off x="10305288" y="280667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$11,957</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01" name="Shape 99"/>
          <p:cNvSpPr/>
          <p:nvPr/>
        </p:nvSpPr>
        <p:spPr>
          <a:xfrm>
            <a:off x="8558784" y="3106540"/>
            <a:ext cx="838650" cy="119948"/>
          </a:xfrm>
          <a:prstGeom prst="rect">
            <a:avLst/>
          </a:prstGeom>
          <a:solidFill>
            <a:srgbClr val="C2352F"/>
          </a:solidFill>
          <a:ln/>
        </p:spPr>
      </p:sp>
      <p:sp>
        <p:nvSpPr>
          <p:cNvPr id="102" name="Text 100"/>
          <p:cNvSpPr txBox="1"/>
          <p:nvPr/>
        </p:nvSpPr>
        <p:spPr>
          <a:xfrm>
            <a:off x="10305288" y="304656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$11,631</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5" name="Shape 103"/>
          <p:cNvSpPr/>
          <p:nvPr/>
        </p:nvSpPr>
        <p:spPr>
          <a:xfrm>
            <a:off x="8558784" y="3346435"/>
            <a:ext cx="832186" cy="119948"/>
          </a:xfrm>
          <a:prstGeom prst="rect">
            <a:avLst/>
          </a:prstGeom>
          <a:solidFill>
            <a:srgbClr val="C2352F"/>
          </a:solidFill>
          <a:ln/>
        </p:spPr>
      </p:sp>
      <p:sp>
        <p:nvSpPr>
          <p:cNvPr id="106" name="Text 104"/>
          <p:cNvSpPr txBox="1"/>
          <p:nvPr/>
        </p:nvSpPr>
        <p:spPr>
          <a:xfrm>
            <a:off x="10305288" y="328646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$11,541</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09" name="Shape 107"/>
          <p:cNvSpPr/>
          <p:nvPr/>
        </p:nvSpPr>
        <p:spPr>
          <a:xfrm>
            <a:off x="8558784" y="3586331"/>
            <a:ext cx="802409" cy="119948"/>
          </a:xfrm>
          <a:prstGeom prst="rect">
            <a:avLst/>
          </a:prstGeom>
          <a:solidFill>
            <a:srgbClr val="C2352F"/>
          </a:solidFill>
          <a:ln/>
        </p:spPr>
      </p:sp>
      <p:sp>
        <p:nvSpPr>
          <p:cNvPr id="110" name="Text 108"/>
          <p:cNvSpPr txBox="1"/>
          <p:nvPr/>
        </p:nvSpPr>
        <p:spPr>
          <a:xfrm>
            <a:off x="10305288" y="3526357"/>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$11,128</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13" name="Shape 111"/>
          <p:cNvSpPr/>
          <p:nvPr/>
        </p:nvSpPr>
        <p:spPr>
          <a:xfrm>
            <a:off x="8558784" y="3826226"/>
            <a:ext cx="796340" cy="119948"/>
          </a:xfrm>
          <a:prstGeom prst="rect">
            <a:avLst/>
          </a:prstGeom>
          <a:solidFill>
            <a:srgbClr val="C2352F"/>
          </a:solidFill>
          <a:ln/>
        </p:spPr>
      </p:sp>
      <p:sp>
        <p:nvSpPr>
          <p:cNvPr id="114" name="Text 112"/>
          <p:cNvSpPr txBox="1"/>
          <p:nvPr/>
        </p:nvSpPr>
        <p:spPr>
          <a:xfrm>
            <a:off x="10305288"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$11,044</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17" name="Shape 115"/>
          <p:cNvSpPr/>
          <p:nvPr/>
        </p:nvSpPr>
        <p:spPr>
          <a:xfrm>
            <a:off x="8558784" y="4066122"/>
            <a:ext cx="790518" cy="119948"/>
          </a:xfrm>
          <a:prstGeom prst="rect">
            <a:avLst/>
          </a:prstGeom>
          <a:solidFill>
            <a:srgbClr val="C2352F"/>
          </a:solidFill>
          <a:ln/>
        </p:spPr>
      </p:sp>
      <p:sp>
        <p:nvSpPr>
          <p:cNvPr id="118" name="Text 116"/>
          <p:cNvSpPr txBox="1"/>
          <p:nvPr/>
        </p:nvSpPr>
        <p:spPr>
          <a:xfrm>
            <a:off x="10305288"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$10,963</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21" name="Shape 119"/>
          <p:cNvSpPr/>
          <p:nvPr/>
        </p:nvSpPr>
        <p:spPr>
          <a:xfrm>
            <a:off x="8558784" y="4306017"/>
            <a:ext cx="778288" cy="119948"/>
          </a:xfrm>
          <a:prstGeom prst="rect">
            <a:avLst/>
          </a:prstGeom>
          <a:solidFill>
            <a:srgbClr val="C2352F"/>
          </a:solidFill>
          <a:ln/>
        </p:spPr>
      </p:sp>
      <p:sp>
        <p:nvSpPr>
          <p:cNvPr id="122" name="Text 120"/>
          <p:cNvSpPr txBox="1"/>
          <p:nvPr/>
        </p:nvSpPr>
        <p:spPr>
          <a:xfrm>
            <a:off x="10305288"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$10,794</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25" name="Shape 123"/>
          <p:cNvSpPr/>
          <p:nvPr/>
        </p:nvSpPr>
        <p:spPr>
          <a:xfrm>
            <a:off x="8558784" y="4545913"/>
            <a:ext cx="749257" cy="119948"/>
          </a:xfrm>
          <a:prstGeom prst="rect">
            <a:avLst/>
          </a:prstGeom>
          <a:solidFill>
            <a:srgbClr val="C2352F"/>
          </a:solidFill>
          <a:ln/>
        </p:spPr>
      </p:sp>
      <p:sp>
        <p:nvSpPr>
          <p:cNvPr id="126" name="Text 124"/>
          <p:cNvSpPr txBox="1"/>
          <p:nvPr/>
        </p:nvSpPr>
        <p:spPr>
          <a:xfrm>
            <a:off x="10305288"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$10,391</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29" name="Shape 127"/>
          <p:cNvSpPr/>
          <p:nvPr/>
        </p:nvSpPr>
        <p:spPr>
          <a:xfrm>
            <a:off x="8558784" y="4785808"/>
            <a:ext cx="717653" cy="119948"/>
          </a:xfrm>
          <a:prstGeom prst="rect">
            <a:avLst/>
          </a:prstGeom>
          <a:solidFill>
            <a:srgbClr val="C2352F"/>
          </a:solidFill>
          <a:ln/>
        </p:spPr>
      </p:sp>
      <p:sp>
        <p:nvSpPr>
          <p:cNvPr id="130" name="Text 128"/>
          <p:cNvSpPr txBox="1"/>
          <p:nvPr/>
        </p:nvSpPr>
        <p:spPr>
          <a:xfrm>
            <a:off x="10305288"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$9,953</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3" name="Shape 131"/>
          <p:cNvSpPr/>
          <p:nvPr/>
        </p:nvSpPr>
        <p:spPr>
          <a:xfrm>
            <a:off x="8558784" y="5025704"/>
            <a:ext cx="712241" cy="119948"/>
          </a:xfrm>
          <a:prstGeom prst="rect">
            <a:avLst/>
          </a:prstGeom>
          <a:solidFill>
            <a:srgbClr val="C2352F"/>
          </a:solidFill>
          <a:ln/>
        </p:spPr>
      </p:sp>
      <p:sp>
        <p:nvSpPr>
          <p:cNvPr id="134" name="Text 132"/>
          <p:cNvSpPr txBox="1"/>
          <p:nvPr/>
        </p:nvSpPr>
        <p:spPr>
          <a:xfrm>
            <a:off x="10305288"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$9,878</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37" name="Shape 135"/>
          <p:cNvSpPr/>
          <p:nvPr/>
        </p:nvSpPr>
        <p:spPr>
          <a:xfrm>
            <a:off x="8558784" y="5265599"/>
            <a:ext cx="684854" cy="119948"/>
          </a:xfrm>
          <a:prstGeom prst="rect">
            <a:avLst/>
          </a:prstGeom>
          <a:solidFill>
            <a:srgbClr val="C2352F"/>
          </a:solidFill>
          <a:ln/>
        </p:spPr>
      </p:sp>
      <p:sp>
        <p:nvSpPr>
          <p:cNvPr id="138" name="Text 136"/>
          <p:cNvSpPr txBox="1"/>
          <p:nvPr/>
        </p:nvSpPr>
        <p:spPr>
          <a:xfrm>
            <a:off x="10305288"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$9,498</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41" name="Shape 139"/>
          <p:cNvSpPr/>
          <p:nvPr/>
        </p:nvSpPr>
        <p:spPr>
          <a:xfrm>
            <a:off x="8558784" y="5505495"/>
            <a:ext cx="659710" cy="119948"/>
          </a:xfrm>
          <a:prstGeom prst="rect">
            <a:avLst/>
          </a:prstGeom>
          <a:solidFill>
            <a:srgbClr val="C2352F"/>
          </a:solidFill>
          <a:ln/>
        </p:spPr>
      </p:sp>
      <p:sp>
        <p:nvSpPr>
          <p:cNvPr id="142" name="Text 140"/>
          <p:cNvSpPr txBox="1"/>
          <p:nvPr/>
        </p:nvSpPr>
        <p:spPr>
          <a:xfrm>
            <a:off x="10305288"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$9,149</a:t>
            </a:r>
            <a:endParaRPr lang="en-US" sz="1200" dirty="0"/>
          </a:p>
        </p:txBody>
      </p:sp>
      <p:sp>
        <p:nvSpPr>
          <p:cNvPr id="143" name="Shape 141"/>
          <p:cNvSpPr/>
          <p:nvPr/>
        </p:nvSpPr>
        <p:spPr>
          <a:xfrm>
            <a:off x="3982924" y="1847088"/>
            <a:ext cx="14630" cy="4078224"/>
          </a:xfrm>
          <a:prstGeom prst="rect">
            <a:avLst/>
          </a:prstGeom>
          <a:solidFill>
            <a:srgbClr val="0B2C4A"/>
          </a:solidFill>
          <a:ln/>
        </p:spPr>
      </p:sp>
      <p:sp>
        <p:nvSpPr>
          <p:cNvPr id="144" name="Shape 142"/>
          <p:cNvSpPr/>
          <p:nvPr/>
        </p:nvSpPr>
        <p:spPr>
          <a:xfrm>
            <a:off x="9533332" y="1847088"/>
            <a:ext cx="14630" cy="4078224"/>
          </a:xfrm>
          <a:prstGeom prst="rect">
            <a:avLst/>
          </a:prstGeom>
          <a:solidFill>
            <a:srgbClr val="0B2C4A"/>
          </a:solidFill>
          <a:ln/>
        </p:spPr>
      </p:sp>
      <p:sp>
        <p:nvSpPr>
          <p:cNvPr id="145" name="Shape 143"/>
          <p:cNvSpPr/>
          <p:nvPr/>
        </p:nvSpPr>
        <p:spPr>
          <a:xfrm>
            <a:off x="6085332" y="1847088"/>
            <a:ext cx="10973" cy="4078224"/>
          </a:xfrm>
          <a:prstGeom prst="rect">
            <a:avLst/>
          </a:prstGeom>
          <a:solidFill>
            <a:srgbClr val="D9D9D9"/>
          </a:solidFill>
          <a:ln/>
        </p:spPr>
      </p:sp>
      <p:sp>
        <p:nvSpPr>
          <p:cNvPr id="147" name="Shape 144"/>
          <p:cNvSpPr/>
          <p:nvPr/>
        </p:nvSpPr>
        <p:spPr>
          <a:xfrm>
            <a:off x="457200" y="6126480"/>
            <a:ext cx="11274552" cy="371856"/>
          </a:xfrm>
          <a:prstGeom prst="rect">
            <a:avLst/>
          </a:prstGeom>
          <a:solidFill>
            <a:srgbClr val="EDF4FA"/>
          </a:solidFill>
          <a:ln/>
        </p:spPr>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13 of 33 stores at or above the $13,617 group.</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Gross per Fixed Employee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68046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FIXED GROSS PER FIXED EMPLOYEE</a:t>
            </a:r>
            <a:endParaRPr lang="en-US" sz="1500" dirty="0"/>
          </a:p>
        </p:txBody>
      </p:sp>
      <p:sp>
        <p:nvSpPr>
          <p:cNvPr id="9" name="Text 7"/>
          <p:cNvSpPr txBox="1"/>
          <p:nvPr/>
        </p:nvSpPr>
        <p:spPr>
          <a:xfrm>
            <a:off x="4594860" y="1335024"/>
            <a:ext cx="345186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+$1,207</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3" name="Shape 11"/>
          <p:cNvSpPr/>
          <p:nvPr/>
        </p:nvSpPr>
        <p:spPr>
          <a:xfrm>
            <a:off x="3785616" y="1911860"/>
            <a:ext cx="777240"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+$4,158</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7" name="Shape 15"/>
          <p:cNvSpPr/>
          <p:nvPr/>
        </p:nvSpPr>
        <p:spPr>
          <a:xfrm>
            <a:off x="3785616" y="2151755"/>
            <a:ext cx="548170"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+$2,933</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21" name="Shape 19"/>
          <p:cNvSpPr/>
          <p:nvPr/>
        </p:nvSpPr>
        <p:spPr>
          <a:xfrm>
            <a:off x="3785616" y="2391651"/>
            <a:ext cx="475660"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+$2,545</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25" name="Shape 23"/>
          <p:cNvSpPr/>
          <p:nvPr/>
        </p:nvSpPr>
        <p:spPr>
          <a:xfrm>
            <a:off x="3785616" y="2631546"/>
            <a:ext cx="450223"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+$2,409</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9" name="Shape 27"/>
          <p:cNvSpPr/>
          <p:nvPr/>
        </p:nvSpPr>
        <p:spPr>
          <a:xfrm>
            <a:off x="3785616" y="2871442"/>
            <a:ext cx="440887"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+$2,359</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33" name="Shape 31"/>
          <p:cNvSpPr/>
          <p:nvPr/>
        </p:nvSpPr>
        <p:spPr>
          <a:xfrm>
            <a:off x="3785616" y="3111337"/>
            <a:ext cx="427536"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+$2,287</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37" name="Shape 35"/>
          <p:cNvSpPr/>
          <p:nvPr/>
        </p:nvSpPr>
        <p:spPr>
          <a:xfrm>
            <a:off x="3785616" y="3351233"/>
            <a:ext cx="390960"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+$2,092</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41" name="Shape 39"/>
          <p:cNvSpPr/>
          <p:nvPr/>
        </p:nvSpPr>
        <p:spPr>
          <a:xfrm>
            <a:off x="3785616" y="3591128"/>
            <a:ext cx="330873"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+$1,770</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45" name="Shape 43"/>
          <p:cNvSpPr/>
          <p:nvPr/>
        </p:nvSpPr>
        <p:spPr>
          <a:xfrm>
            <a:off x="3785616" y="3831024"/>
            <a:ext cx="319451"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+$1,709</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49" name="Shape 47"/>
          <p:cNvSpPr/>
          <p:nvPr/>
        </p:nvSpPr>
        <p:spPr>
          <a:xfrm>
            <a:off x="3785616" y="4070920"/>
            <a:ext cx="307782"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+$1,647</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53" name="Shape 51"/>
          <p:cNvSpPr/>
          <p:nvPr/>
        </p:nvSpPr>
        <p:spPr>
          <a:xfrm>
            <a:off x="3785616" y="4310815"/>
            <a:ext cx="299645"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+$1,603</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57" name="Shape 55"/>
          <p:cNvSpPr/>
          <p:nvPr/>
        </p:nvSpPr>
        <p:spPr>
          <a:xfrm>
            <a:off x="3785616" y="4550711"/>
            <a:ext cx="276949"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+$1,482</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61" name="Shape 59"/>
          <p:cNvSpPr/>
          <p:nvPr/>
        </p:nvSpPr>
        <p:spPr>
          <a:xfrm>
            <a:off x="3785616" y="4790606"/>
            <a:ext cx="274963"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+$1,471</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65" name="Shape 63"/>
          <p:cNvSpPr/>
          <p:nvPr/>
        </p:nvSpPr>
        <p:spPr>
          <a:xfrm>
            <a:off x="3785616" y="5030502"/>
            <a:ext cx="236325"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+$1,264</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69" name="Shape 67"/>
          <p:cNvSpPr/>
          <p:nvPr/>
        </p:nvSpPr>
        <p:spPr>
          <a:xfrm>
            <a:off x="3785616" y="5270397"/>
            <a:ext cx="220225"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+$1,178</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73" name="Shape 71"/>
          <p:cNvSpPr/>
          <p:nvPr/>
        </p:nvSpPr>
        <p:spPr>
          <a:xfrm>
            <a:off x="3785616" y="5510293"/>
            <a:ext cx="205895"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+$1,101</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77" name="Shape 75"/>
          <p:cNvSpPr/>
          <p:nvPr/>
        </p:nvSpPr>
        <p:spPr>
          <a:xfrm>
            <a:off x="3785616" y="5750188"/>
            <a:ext cx="201986"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+$1,081</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81" name="Shape 79"/>
          <p:cNvSpPr/>
          <p:nvPr/>
        </p:nvSpPr>
        <p:spPr>
          <a:xfrm>
            <a:off x="9336024" y="1911860"/>
            <a:ext cx="197582" cy="110352"/>
          </a:xfrm>
          <a:prstGeom prst="rect">
            <a:avLst/>
          </a:prstGeom>
          <a:solidFill>
            <a:srgbClr val="12A566"/>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+$1,057</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85" name="Shape 83"/>
          <p:cNvSpPr/>
          <p:nvPr/>
        </p:nvSpPr>
        <p:spPr>
          <a:xfrm>
            <a:off x="9336024" y="2151755"/>
            <a:ext cx="184443" cy="110352"/>
          </a:xfrm>
          <a:prstGeom prst="rect">
            <a:avLst/>
          </a:prstGeom>
          <a:solidFill>
            <a:srgbClr val="12A566"/>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+$987</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89" name="Shape 87"/>
          <p:cNvSpPr/>
          <p:nvPr/>
        </p:nvSpPr>
        <p:spPr>
          <a:xfrm>
            <a:off x="9336024" y="2391651"/>
            <a:ext cx="173399" cy="110352"/>
          </a:xfrm>
          <a:prstGeom prst="rect">
            <a:avLst/>
          </a:prstGeom>
          <a:solidFill>
            <a:srgbClr val="12A566"/>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+$928</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93" name="Shape 91"/>
          <p:cNvSpPr/>
          <p:nvPr/>
        </p:nvSpPr>
        <p:spPr>
          <a:xfrm>
            <a:off x="9336024" y="2631546"/>
            <a:ext cx="172997" cy="110352"/>
          </a:xfrm>
          <a:prstGeom prst="rect">
            <a:avLst/>
          </a:prstGeom>
          <a:solidFill>
            <a:srgbClr val="12A566"/>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+$925</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97" name="Shape 95"/>
          <p:cNvSpPr/>
          <p:nvPr/>
        </p:nvSpPr>
        <p:spPr>
          <a:xfrm>
            <a:off x="9336024" y="2871442"/>
            <a:ext cx="172188" cy="110352"/>
          </a:xfrm>
          <a:prstGeom prst="rect">
            <a:avLst/>
          </a:prstGeom>
          <a:solidFill>
            <a:srgbClr val="12A566"/>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+$921</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01" name="Shape 99"/>
          <p:cNvSpPr/>
          <p:nvPr/>
        </p:nvSpPr>
        <p:spPr>
          <a:xfrm>
            <a:off x="9336024" y="3111337"/>
            <a:ext cx="164612" cy="110352"/>
          </a:xfrm>
          <a:prstGeom prst="rect">
            <a:avLst/>
          </a:prstGeom>
          <a:solidFill>
            <a:srgbClr val="12A566"/>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+$881</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05" name="Shape 103"/>
          <p:cNvSpPr/>
          <p:nvPr/>
        </p:nvSpPr>
        <p:spPr>
          <a:xfrm>
            <a:off x="9336024" y="3351233"/>
            <a:ext cx="136163" cy="110352"/>
          </a:xfrm>
          <a:prstGeom prst="rect">
            <a:avLst/>
          </a:prstGeom>
          <a:solidFill>
            <a:srgbClr val="12A566"/>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+$728</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09" name="Shape 107"/>
          <p:cNvSpPr/>
          <p:nvPr/>
        </p:nvSpPr>
        <p:spPr>
          <a:xfrm>
            <a:off x="9336024" y="3591128"/>
            <a:ext cx="126601" cy="110352"/>
          </a:xfrm>
          <a:prstGeom prst="rect">
            <a:avLst/>
          </a:prstGeom>
          <a:solidFill>
            <a:srgbClr val="12A566"/>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+$677</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13" name="Shape 111"/>
          <p:cNvSpPr/>
          <p:nvPr/>
        </p:nvSpPr>
        <p:spPr>
          <a:xfrm>
            <a:off x="9336024" y="3831024"/>
            <a:ext cx="78291" cy="110352"/>
          </a:xfrm>
          <a:prstGeom prst="rect">
            <a:avLst/>
          </a:prstGeom>
          <a:solidFill>
            <a:srgbClr val="12A566"/>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+$419</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17" name="Shape 115"/>
          <p:cNvSpPr/>
          <p:nvPr/>
        </p:nvSpPr>
        <p:spPr>
          <a:xfrm>
            <a:off x="9336024" y="4070920"/>
            <a:ext cx="34218" cy="110352"/>
          </a:xfrm>
          <a:prstGeom prst="rect">
            <a:avLst/>
          </a:prstGeom>
          <a:solidFill>
            <a:srgbClr val="12A566"/>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+$183</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21" name="Shape 119"/>
          <p:cNvSpPr/>
          <p:nvPr/>
        </p:nvSpPr>
        <p:spPr>
          <a:xfrm>
            <a:off x="9333892" y="4310815"/>
            <a:ext cx="12802"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−$11</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25" name="Shape 123"/>
          <p:cNvSpPr/>
          <p:nvPr/>
        </p:nvSpPr>
        <p:spPr>
          <a:xfrm>
            <a:off x="9313319" y="4550711"/>
            <a:ext cx="22705"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−$121</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29" name="Shape 127"/>
          <p:cNvSpPr/>
          <p:nvPr/>
        </p:nvSpPr>
        <p:spPr>
          <a:xfrm>
            <a:off x="9258696" y="4790606"/>
            <a:ext cx="77328"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−$414</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33" name="Shape 131"/>
          <p:cNvSpPr/>
          <p:nvPr/>
        </p:nvSpPr>
        <p:spPr>
          <a:xfrm>
            <a:off x="9241624" y="5030502"/>
            <a:ext cx="94400"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−$505</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37" name="Shape 135"/>
          <p:cNvSpPr/>
          <p:nvPr/>
        </p:nvSpPr>
        <p:spPr>
          <a:xfrm>
            <a:off x="9106061" y="5270397"/>
            <a:ext cx="229963"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−$1,230</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41" name="Shape 139"/>
          <p:cNvSpPr/>
          <p:nvPr/>
        </p:nvSpPr>
        <p:spPr>
          <a:xfrm>
            <a:off x="9089478" y="5510293"/>
            <a:ext cx="246546"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−$1,319</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7" name="Shape 144"/>
          <p:cNvSpPr/>
          <p:nvPr/>
        </p:nvSpPr>
        <p:spPr>
          <a:xfrm>
            <a:off x="457200" y="6126480"/>
            <a:ext cx="11274552" cy="371856"/>
          </a:xfrm>
          <a:prstGeom prst="rect">
            <a:avLst/>
          </a:prstGeom>
          <a:solidFill>
            <a:srgbClr val="E6F6EE"/>
          </a:solidFill>
          <a:ln/>
        </p:spPr>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27 of 33 stores raised gross per employee. 6 declined.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Gross per Fixed Employee</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Shape 8"/>
          <p:cNvSpPr/>
          <p:nvPr/>
        </p:nvSpPr>
        <p:spPr>
          <a:xfrm>
            <a:off x="4084320" y="1847088"/>
            <a:ext cx="64008" cy="1405128"/>
          </a:xfrm>
          <a:prstGeom prst="rect">
            <a:avLst/>
          </a:prstGeom>
          <a:solidFill>
            <a:srgbClr val="12A566"/>
          </a:solidFill>
          <a:ln/>
        </p:spPr>
      </p:sp>
      <p:sp>
        <p:nvSpPr>
          <p:cNvPr id="11" name="Text 9"/>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2" name="Text 10"/>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$11,398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$15,556</a:t>
            </a:r>
            <a:endParaRPr lang="en-US" sz="1400" dirty="0"/>
          </a:p>
        </p:txBody>
      </p:sp>
      <p:graphicFrame>
        <p:nvGraphicFramePr>
          <p:cNvPr id="13" name="Chart 0" descr=""/>
          <p:cNvGraphicFramePr/>
          <p:nvPr/>
        </p:nvGraphicFramePr>
        <p:xfrm>
          <a:off x="1097280" y="2697480"/>
          <a:ext cx="1972056" cy="502615"/>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2941320"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+$4,158</a:t>
            </a:r>
            <a:endParaRPr lang="en-US" sz="1600" dirty="0"/>
          </a:p>
        </p:txBody>
      </p:sp>
      <p:sp>
        <p:nvSpPr>
          <p:cNvPr id="15" name="Text 12"/>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6" name="Text 13"/>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$8,698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$11,631</a:t>
            </a:r>
            <a:endParaRPr lang="en-US" sz="1400" dirty="0"/>
          </a:p>
        </p:txBody>
      </p:sp>
      <p:graphicFrame>
        <p:nvGraphicFramePr>
          <p:cNvPr id="17" name="Chart 1" descr=""/>
          <p:cNvGraphicFramePr/>
          <p:nvPr/>
        </p:nvGraphicFramePr>
        <p:xfrm>
          <a:off x="1097280" y="4175760"/>
          <a:ext cx="1972056" cy="502615"/>
        </p:xfrm>
        <a:graphic xmlns:a="http://schemas.openxmlformats.org/drawingml/2006/main">
          <a:graphicData uri="http://schemas.openxmlformats.org/drawingml/2006/chart">
            <c:chart xmlns:c="http://schemas.openxmlformats.org/drawingml/2006/chart" r:id="rId2"/>
          </a:graphicData>
        </a:graphic>
      </p:graphicFrame>
      <p:sp>
        <p:nvSpPr>
          <p:cNvPr id="18" name="Text 14"/>
          <p:cNvSpPr txBox="1"/>
          <p:nvPr/>
        </p:nvSpPr>
        <p:spPr>
          <a:xfrm>
            <a:off x="2941320"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+$2,933</a:t>
            </a:r>
            <a:endParaRPr lang="en-US" sz="1600" dirty="0"/>
          </a:p>
        </p:txBody>
      </p:sp>
      <p:sp>
        <p:nvSpPr>
          <p:cNvPr id="19" name="Shape 15"/>
          <p:cNvSpPr/>
          <p:nvPr/>
        </p:nvSpPr>
        <p:spPr>
          <a:xfrm>
            <a:off x="658368" y="4767072"/>
            <a:ext cx="3489960" cy="1478280"/>
          </a:xfrm>
          <a:prstGeom prst="rect">
            <a:avLst/>
          </a:prstGeom>
          <a:solidFill>
            <a:srgbClr val="F7F7F7"/>
          </a:solidFill>
          <a:ln/>
        </p:spPr>
      </p:sp>
      <p:sp>
        <p:nvSpPr>
          <p:cNvPr id="20" name="Text 16"/>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1" name="Text 17"/>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$8,419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$10,963</a:t>
            </a:r>
            <a:endParaRPr lang="en-US" sz="1400" dirty="0"/>
          </a:p>
        </p:txBody>
      </p:sp>
      <p:graphicFrame>
        <p:nvGraphicFramePr>
          <p:cNvPr id="22" name="Chart 2" descr=""/>
          <p:cNvGraphicFramePr/>
          <p:nvPr/>
        </p:nvGraphicFramePr>
        <p:xfrm>
          <a:off x="1097280" y="5654040"/>
          <a:ext cx="1972056" cy="502615"/>
        </p:xfrm>
        <a:graphic xmlns:a="http://schemas.openxmlformats.org/drawingml/2006/main">
          <a:graphicData uri="http://schemas.openxmlformats.org/drawingml/2006/chart">
            <c:chart xmlns:c="http://schemas.openxmlformats.org/drawingml/2006/chart" r:id="rId3"/>
          </a:graphicData>
        </a:graphic>
      </p:graphicFrame>
      <p:sp>
        <p:nvSpPr>
          <p:cNvPr id="23" name="Text 18"/>
          <p:cNvSpPr txBox="1"/>
          <p:nvPr/>
        </p:nvSpPr>
        <p:spPr>
          <a:xfrm>
            <a:off x="2941320"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+$2,545</a:t>
            </a:r>
            <a:endParaRPr lang="en-US" sz="1600" dirty="0"/>
          </a:p>
        </p:txBody>
      </p:sp>
      <p:sp>
        <p:nvSpPr>
          <p:cNvPr id="24" name="Shape 19"/>
          <p:cNvSpPr/>
          <p:nvPr/>
        </p:nvSpPr>
        <p:spPr>
          <a:xfrm>
            <a:off x="4349496" y="1371600"/>
            <a:ext cx="3489960" cy="45720"/>
          </a:xfrm>
          <a:prstGeom prst="rect">
            <a:avLst/>
          </a:prstGeom>
          <a:solidFill>
            <a:srgbClr val="C2352F"/>
          </a:solidFill>
          <a:ln/>
        </p:spPr>
      </p:sp>
      <p:sp>
        <p:nvSpPr>
          <p:cNvPr id="25" name="Text 20"/>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6" name="Shape 21"/>
          <p:cNvSpPr/>
          <p:nvPr/>
        </p:nvSpPr>
        <p:spPr>
          <a:xfrm>
            <a:off x="4349496" y="1810512"/>
            <a:ext cx="3489960" cy="1478280"/>
          </a:xfrm>
          <a:prstGeom prst="rect">
            <a:avLst/>
          </a:prstGeom>
          <a:solidFill>
            <a:srgbClr val="F7F7F7"/>
          </a:solidFill>
          <a:ln/>
        </p:spPr>
      </p:sp>
      <p:sp>
        <p:nvSpPr>
          <p:cNvPr id="27" name="Text 22"/>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28" name="Text 23"/>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$11,197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$9,878</a:t>
            </a:r>
            <a:endParaRPr lang="en-US" sz="1400" dirty="0"/>
          </a:p>
        </p:txBody>
      </p:sp>
      <p:graphicFrame>
        <p:nvGraphicFramePr>
          <p:cNvPr id="29" name="Chart 3" descr=""/>
          <p:cNvGraphicFramePr/>
          <p:nvPr/>
        </p:nvGraphicFramePr>
        <p:xfrm>
          <a:off x="4788408" y="2697480"/>
          <a:ext cx="1972056" cy="502615"/>
        </p:xfrm>
        <a:graphic xmlns:a="http://schemas.openxmlformats.org/drawingml/2006/main">
          <a:graphicData uri="http://schemas.openxmlformats.org/drawingml/2006/chart">
            <c:chart xmlns:c="http://schemas.openxmlformats.org/drawingml/2006/chart" r:id="rId4"/>
          </a:graphicData>
        </a:graphic>
      </p:graphicFrame>
      <p:sp>
        <p:nvSpPr>
          <p:cNvPr id="30" name="Text 24"/>
          <p:cNvSpPr txBox="1"/>
          <p:nvPr/>
        </p:nvSpPr>
        <p:spPr>
          <a:xfrm>
            <a:off x="6632448" y="181051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−$1,319</a:t>
            </a:r>
            <a:endParaRPr lang="en-US" sz="1600" dirty="0"/>
          </a:p>
        </p:txBody>
      </p:sp>
      <p:sp>
        <p:nvSpPr>
          <p:cNvPr id="31" name="Text 25"/>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2" name="Text 26"/>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$13,334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$12,103</a:t>
            </a:r>
            <a:endParaRPr lang="en-US" sz="1400" dirty="0"/>
          </a:p>
        </p:txBody>
      </p:sp>
      <p:graphicFrame>
        <p:nvGraphicFramePr>
          <p:cNvPr id="33" name="Chart 4" descr=""/>
          <p:cNvGraphicFramePr/>
          <p:nvPr/>
        </p:nvGraphicFramePr>
        <p:xfrm>
          <a:off x="4788408" y="4175760"/>
          <a:ext cx="1972056" cy="502615"/>
        </p:xfrm>
        <a:graphic xmlns:a="http://schemas.openxmlformats.org/drawingml/2006/main">
          <a:graphicData uri="http://schemas.openxmlformats.org/drawingml/2006/chart">
            <c:chart xmlns:c="http://schemas.openxmlformats.org/drawingml/2006/chart" r:id="rId5"/>
          </a:graphicData>
        </a:graphic>
      </p:graphicFrame>
      <p:sp>
        <p:nvSpPr>
          <p:cNvPr id="34" name="Text 27"/>
          <p:cNvSpPr txBox="1"/>
          <p:nvPr/>
        </p:nvSpPr>
        <p:spPr>
          <a:xfrm>
            <a:off x="6632448" y="328879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−$1,230</a:t>
            </a:r>
            <a:endParaRPr lang="en-US" sz="1600" dirty="0"/>
          </a:p>
        </p:txBody>
      </p:sp>
      <p:sp>
        <p:nvSpPr>
          <p:cNvPr id="35" name="Shape 28"/>
          <p:cNvSpPr/>
          <p:nvPr/>
        </p:nvSpPr>
        <p:spPr>
          <a:xfrm>
            <a:off x="4349496" y="4767072"/>
            <a:ext cx="3489960" cy="1478280"/>
          </a:xfrm>
          <a:prstGeom prst="rect">
            <a:avLst/>
          </a:prstGeom>
          <a:solidFill>
            <a:srgbClr val="F7F7F7"/>
          </a:solidFill>
          <a:ln/>
        </p:spPr>
      </p:sp>
      <p:sp>
        <p:nvSpPr>
          <p:cNvPr id="36" name="Text 29"/>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37" name="Text 30"/>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$14,765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$14,260</a:t>
            </a:r>
            <a:endParaRPr lang="en-US" sz="1400" dirty="0"/>
          </a:p>
        </p:txBody>
      </p:sp>
      <p:graphicFrame>
        <p:nvGraphicFramePr>
          <p:cNvPr id="38" name="Chart 5" descr=""/>
          <p:cNvGraphicFramePr/>
          <p:nvPr/>
        </p:nvGraphicFramePr>
        <p:xfrm>
          <a:off x="4788408" y="5654040"/>
          <a:ext cx="1972056" cy="502615"/>
        </p:xfrm>
        <a:graphic xmlns:a="http://schemas.openxmlformats.org/drawingml/2006/main">
          <a:graphicData uri="http://schemas.openxmlformats.org/drawingml/2006/chart">
            <c:chart xmlns:c="http://schemas.openxmlformats.org/drawingml/2006/chart" r:id="rId6"/>
          </a:graphicData>
        </a:graphic>
      </p:graphicFrame>
      <p:sp>
        <p:nvSpPr>
          <p:cNvPr id="39" name="Text 31"/>
          <p:cNvSpPr txBox="1"/>
          <p:nvPr/>
        </p:nvSpPr>
        <p:spPr>
          <a:xfrm>
            <a:off x="6632448" y="476707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−$505</a:t>
            </a:r>
            <a:endParaRPr lang="en-US" sz="1600" dirty="0"/>
          </a:p>
        </p:txBody>
      </p:sp>
      <p:sp>
        <p:nvSpPr>
          <p:cNvPr id="40" name="Shape 32"/>
          <p:cNvSpPr/>
          <p:nvPr/>
        </p:nvSpPr>
        <p:spPr>
          <a:xfrm>
            <a:off x="8040624" y="1371600"/>
            <a:ext cx="3489960" cy="45720"/>
          </a:xfrm>
          <a:prstGeom prst="rect">
            <a:avLst/>
          </a:prstGeom>
          <a:solidFill>
            <a:srgbClr val="2587C5"/>
          </a:solidFill>
          <a:ln/>
        </p:spPr>
      </p:sp>
      <p:sp>
        <p:nvSpPr>
          <p:cNvPr id="41" name="Text 33"/>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2" name="Shape 34"/>
          <p:cNvSpPr/>
          <p:nvPr/>
        </p:nvSpPr>
        <p:spPr>
          <a:xfrm>
            <a:off x="8040624" y="1810512"/>
            <a:ext cx="3489960" cy="1478280"/>
          </a:xfrm>
          <a:prstGeom prst="rect">
            <a:avLst/>
          </a:prstGeom>
          <a:solidFill>
            <a:srgbClr val="F7F7F7"/>
          </a:solidFill>
          <a:ln/>
        </p:spPr>
      </p:sp>
      <p:sp>
        <p:nvSpPr>
          <p:cNvPr id="43" name="Text 35"/>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4" name="Text 36"/>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$15,825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$20,761</a:t>
            </a:r>
            <a:endParaRPr lang="en-US" sz="1400" dirty="0"/>
          </a:p>
        </p:txBody>
      </p:sp>
      <p:graphicFrame>
        <p:nvGraphicFramePr>
          <p:cNvPr id="45" name="Chart 6" descr=""/>
          <p:cNvGraphicFramePr/>
          <p:nvPr/>
        </p:nvGraphicFramePr>
        <p:xfrm>
          <a:off x="8479536" y="2697480"/>
          <a:ext cx="1972056" cy="502615"/>
        </p:xfrm>
        <a:graphic xmlns:a="http://schemas.openxmlformats.org/drawingml/2006/main">
          <a:graphicData uri="http://schemas.openxmlformats.org/drawingml/2006/chart">
            <c:chart xmlns:c="http://schemas.openxmlformats.org/drawingml/2006/chart" r:id="rId7"/>
          </a:graphicData>
        </a:graphic>
      </p:graphicFrame>
      <p:graphicFrame>
        <p:nvGraphicFramePr>
          <p:cNvPr id="46" name="Chart 7" descr=""/>
          <p:cNvGraphicFramePr/>
          <p:nvPr/>
        </p:nvGraphicFramePr>
        <p:xfrm>
          <a:off x="8479536" y="2697480"/>
          <a:ext cx="1972056" cy="502615"/>
        </p:xfrm>
        <a:graphic xmlns:a="http://schemas.openxmlformats.org/drawingml/2006/main">
          <a:graphicData uri="http://schemas.openxmlformats.org/drawingml/2006/chart">
            <c:chart xmlns:c="http://schemas.openxmlformats.org/drawingml/2006/chart" r:id="rId8"/>
          </a:graphicData>
        </a:graphic>
      </p:graphicFrame>
      <p:sp>
        <p:nvSpPr>
          <p:cNvPr id="47" name="Text 37"/>
          <p:cNvSpPr txBox="1"/>
          <p:nvPr/>
        </p:nvSpPr>
        <p:spPr>
          <a:xfrm>
            <a:off x="10323576"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+$4,936</a:t>
            </a:r>
            <a:endParaRPr lang="en-US" sz="1600" dirty="0"/>
          </a:p>
        </p:txBody>
      </p:sp>
      <p:sp>
        <p:nvSpPr>
          <p:cNvPr id="48" name="Shape 38"/>
          <p:cNvSpPr/>
          <p:nvPr/>
        </p:nvSpPr>
        <p:spPr>
          <a:xfrm>
            <a:off x="11466576" y="3325368"/>
            <a:ext cx="64008" cy="1405128"/>
          </a:xfrm>
          <a:prstGeom prst="rect">
            <a:avLst/>
          </a:prstGeom>
          <a:solidFill>
            <a:srgbClr val="12A566"/>
          </a:solidFill>
          <a:ln/>
        </p:spPr>
      </p:sp>
      <p:sp>
        <p:nvSpPr>
          <p:cNvPr id="49" name="Text 39"/>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0" name="Text 40"/>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$12,440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$17,296</a:t>
            </a:r>
            <a:endParaRPr lang="en-US" sz="1400" dirty="0"/>
          </a:p>
        </p:txBody>
      </p:sp>
      <p:graphicFrame>
        <p:nvGraphicFramePr>
          <p:cNvPr id="51" name="Chart 8" descr=""/>
          <p:cNvGraphicFramePr/>
          <p:nvPr/>
        </p:nvGraphicFramePr>
        <p:xfrm>
          <a:off x="8479536" y="4175760"/>
          <a:ext cx="1972056" cy="502615"/>
        </p:xfrm>
        <a:graphic xmlns:a="http://schemas.openxmlformats.org/drawingml/2006/main">
          <a:graphicData uri="http://schemas.openxmlformats.org/drawingml/2006/chart">
            <c:chart xmlns:c="http://schemas.openxmlformats.org/drawingml/2006/chart" r:id="rId9"/>
          </a:graphicData>
        </a:graphic>
      </p:graphicFrame>
      <p:graphicFrame>
        <p:nvGraphicFramePr>
          <p:cNvPr id="52" name="Chart 9" descr=""/>
          <p:cNvGraphicFramePr/>
          <p:nvPr/>
        </p:nvGraphicFramePr>
        <p:xfrm>
          <a:off x="8479536" y="4175760"/>
          <a:ext cx="1972056" cy="502615"/>
        </p:xfrm>
        <a:graphic xmlns:a="http://schemas.openxmlformats.org/drawingml/2006/main">
          <a:graphicData uri="http://schemas.openxmlformats.org/drawingml/2006/chart">
            <c:chart xmlns:c="http://schemas.openxmlformats.org/drawingml/2006/chart" r:id="rId10"/>
          </a:graphicData>
        </a:graphic>
      </p:graphicFrame>
      <p:sp>
        <p:nvSpPr>
          <p:cNvPr id="53" name="Text 41"/>
          <p:cNvSpPr txBox="1"/>
          <p:nvPr/>
        </p:nvSpPr>
        <p:spPr>
          <a:xfrm>
            <a:off x="10323576"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+$4,856</a:t>
            </a:r>
            <a:endParaRPr lang="en-US" sz="1600" dirty="0"/>
          </a:p>
        </p:txBody>
      </p:sp>
      <p:sp>
        <p:nvSpPr>
          <p:cNvPr id="54" name="Shape 42"/>
          <p:cNvSpPr/>
          <p:nvPr/>
        </p:nvSpPr>
        <p:spPr>
          <a:xfrm>
            <a:off x="8040624" y="4767072"/>
            <a:ext cx="3489960" cy="1478280"/>
          </a:xfrm>
          <a:prstGeom prst="rect">
            <a:avLst/>
          </a:prstGeom>
          <a:solidFill>
            <a:srgbClr val="F7F7F7"/>
          </a:solidFill>
          <a:ln/>
        </p:spPr>
      </p:sp>
      <p:sp>
        <p:nvSpPr>
          <p:cNvPr id="55" name="Text 43"/>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56" name="Text 44"/>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$13,709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$17,296</a:t>
            </a:r>
            <a:endParaRPr lang="en-US" sz="1400" dirty="0"/>
          </a:p>
        </p:txBody>
      </p:sp>
      <p:graphicFrame>
        <p:nvGraphicFramePr>
          <p:cNvPr id="57" name="Chart 10" descr=""/>
          <p:cNvGraphicFramePr/>
          <p:nvPr/>
        </p:nvGraphicFramePr>
        <p:xfrm>
          <a:off x="8479536" y="5654040"/>
          <a:ext cx="1972056" cy="502615"/>
        </p:xfrm>
        <a:graphic xmlns:a="http://schemas.openxmlformats.org/drawingml/2006/main">
          <a:graphicData uri="http://schemas.openxmlformats.org/drawingml/2006/chart">
            <c:chart xmlns:c="http://schemas.openxmlformats.org/drawingml/2006/chart" r:id="rId11"/>
          </a:graphicData>
        </a:graphic>
      </p:graphicFrame>
      <p:graphicFrame>
        <p:nvGraphicFramePr>
          <p:cNvPr id="58" name="Chart 11" descr=""/>
          <p:cNvGraphicFramePr/>
          <p:nvPr/>
        </p:nvGraphicFramePr>
        <p:xfrm>
          <a:off x="8479536" y="5654040"/>
          <a:ext cx="1972056" cy="502615"/>
        </p:xfrm>
        <a:graphic xmlns:a="http://schemas.openxmlformats.org/drawingml/2006/main">
          <a:graphicData uri="http://schemas.openxmlformats.org/drawingml/2006/chart">
            <c:chart xmlns:c="http://schemas.openxmlformats.org/drawingml/2006/chart" r:id="rId12"/>
          </a:graphicData>
        </a:graphic>
      </p:graphicFrame>
      <p:sp>
        <p:nvSpPr>
          <p:cNvPr id="59" name="Text 45"/>
          <p:cNvSpPr txBox="1"/>
          <p:nvPr/>
        </p:nvSpPr>
        <p:spPr>
          <a:xfrm>
            <a:off x="10323576"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+$3,587</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Service Advisor</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173</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166</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−7</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−3.8%</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&amp; W ROs per Service Advisor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71856"/>
          </a:xfrm>
          <a:prstGeom prst="rect">
            <a:avLst/>
          </a:prstGeom>
          <a:solidFill>
            <a:srgbClr val="FBEBEA"/>
          </a:solidFill>
          <a:ln/>
        </p:spPr>
      </p:sp>
      <p:sp>
        <p:nvSpPr>
          <p:cNvPr id="30"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Down 7 to 166, behind 2025 in six of nine months. Advisors grew 1.5%; ROs fell 2.3%.</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Service Advisor</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68046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&amp; W ROS PER SERVICE ADVISOR</a:t>
            </a:r>
            <a:endParaRPr lang="en-US" sz="1500" dirty="0"/>
          </a:p>
        </p:txBody>
      </p:sp>
      <p:sp>
        <p:nvSpPr>
          <p:cNvPr id="9" name="Text 7"/>
          <p:cNvSpPr txBox="1"/>
          <p:nvPr/>
        </p:nvSpPr>
        <p:spPr>
          <a:xfrm>
            <a:off x="4594860" y="1335024"/>
            <a:ext cx="345186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166</a:t>
            </a:r>
            <a:endParaRPr lang="en-US" sz="2000" dirty="0"/>
          </a:p>
        </p:txBody>
      </p:sp>
      <p:sp>
        <p:nvSpPr>
          <p:cNvPr id="11" name="Text 9"/>
          <p:cNvSpPr txBox="1"/>
          <p:nvPr/>
        </p:nvSpPr>
        <p:spPr>
          <a:xfrm>
            <a:off x="658368" y="1847088"/>
            <a:ext cx="5303520" cy="246888"/>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LUXURY · AVERAGE 123</a:t>
            </a:r>
            <a:endParaRPr lang="en-US" sz="1300" dirty="0"/>
          </a:p>
        </p:txBody>
      </p:sp>
      <p:sp>
        <p:nvSpPr>
          <p:cNvPr id="12" name="Shape 10"/>
          <p:cNvSpPr/>
          <p:nvPr/>
        </p:nvSpPr>
        <p:spPr>
          <a:xfrm>
            <a:off x="658368" y="2075688"/>
            <a:ext cx="5303520" cy="18288"/>
          </a:xfrm>
          <a:prstGeom prst="rect">
            <a:avLst/>
          </a:prstGeom>
          <a:solidFill>
            <a:srgbClr val="0B2C4A"/>
          </a:solidFill>
          <a:ln/>
        </p:spPr>
      </p:sp>
      <p:sp>
        <p:nvSpPr>
          <p:cNvPr id="13" name="Text 11"/>
          <p:cNvSpPr txBox="1"/>
          <p:nvPr/>
        </p:nvSpPr>
        <p:spPr>
          <a:xfrm>
            <a:off x="658368" y="209397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4" name="Text 12"/>
          <p:cNvSpPr txBox="1"/>
          <p:nvPr/>
        </p:nvSpPr>
        <p:spPr>
          <a:xfrm>
            <a:off x="1014984" y="209397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5" name="Shape 13"/>
          <p:cNvSpPr/>
          <p:nvPr/>
        </p:nvSpPr>
        <p:spPr>
          <a:xfrm>
            <a:off x="3008376" y="2155698"/>
            <a:ext cx="1658471" cy="123444"/>
          </a:xfrm>
          <a:prstGeom prst="rect">
            <a:avLst/>
          </a:prstGeom>
          <a:solidFill>
            <a:srgbClr val="12A566"/>
          </a:solidFill>
          <a:ln/>
        </p:spPr>
      </p:sp>
      <p:sp>
        <p:nvSpPr>
          <p:cNvPr id="16" name="Text 14"/>
          <p:cNvSpPr txBox="1"/>
          <p:nvPr/>
        </p:nvSpPr>
        <p:spPr>
          <a:xfrm>
            <a:off x="4754880" y="209397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194</a:t>
            </a:r>
            <a:endParaRPr lang="en-US" sz="1200" dirty="0"/>
          </a:p>
        </p:txBody>
      </p:sp>
      <p:sp>
        <p:nvSpPr>
          <p:cNvPr id="17" name="Text 15"/>
          <p:cNvSpPr txBox="1"/>
          <p:nvPr/>
        </p:nvSpPr>
        <p:spPr>
          <a:xfrm>
            <a:off x="658368" y="234086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8" name="Text 16"/>
          <p:cNvSpPr txBox="1"/>
          <p:nvPr/>
        </p:nvSpPr>
        <p:spPr>
          <a:xfrm>
            <a:off x="1014984" y="234086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9" name="Shape 17"/>
          <p:cNvSpPr/>
          <p:nvPr/>
        </p:nvSpPr>
        <p:spPr>
          <a:xfrm>
            <a:off x="3008376" y="2402586"/>
            <a:ext cx="1636341" cy="123444"/>
          </a:xfrm>
          <a:prstGeom prst="rect">
            <a:avLst/>
          </a:prstGeom>
          <a:solidFill>
            <a:srgbClr val="12A566"/>
          </a:solidFill>
          <a:ln/>
        </p:spPr>
      </p:sp>
      <p:sp>
        <p:nvSpPr>
          <p:cNvPr id="20" name="Text 18"/>
          <p:cNvSpPr txBox="1"/>
          <p:nvPr/>
        </p:nvSpPr>
        <p:spPr>
          <a:xfrm>
            <a:off x="4754880" y="234086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192</a:t>
            </a:r>
            <a:endParaRPr lang="en-US" sz="1200" dirty="0"/>
          </a:p>
        </p:txBody>
      </p:sp>
      <p:sp>
        <p:nvSpPr>
          <p:cNvPr id="21" name="Text 19"/>
          <p:cNvSpPr txBox="1"/>
          <p:nvPr/>
        </p:nvSpPr>
        <p:spPr>
          <a:xfrm>
            <a:off x="658368" y="258775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2" name="Text 20"/>
          <p:cNvSpPr txBox="1"/>
          <p:nvPr/>
        </p:nvSpPr>
        <p:spPr>
          <a:xfrm>
            <a:off x="1014984" y="258775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23" name="Shape 21"/>
          <p:cNvSpPr/>
          <p:nvPr/>
        </p:nvSpPr>
        <p:spPr>
          <a:xfrm>
            <a:off x="3008376" y="2649474"/>
            <a:ext cx="1373312" cy="123444"/>
          </a:xfrm>
          <a:prstGeom prst="rect">
            <a:avLst/>
          </a:prstGeom>
          <a:solidFill>
            <a:srgbClr val="12A566"/>
          </a:solidFill>
          <a:ln/>
        </p:spPr>
      </p:sp>
      <p:sp>
        <p:nvSpPr>
          <p:cNvPr id="24" name="Text 22"/>
          <p:cNvSpPr txBox="1"/>
          <p:nvPr/>
        </p:nvSpPr>
        <p:spPr>
          <a:xfrm>
            <a:off x="4754880" y="2587752"/>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161</a:t>
            </a:r>
            <a:endParaRPr lang="en-US" sz="1200" dirty="0"/>
          </a:p>
        </p:txBody>
      </p:sp>
      <p:sp>
        <p:nvSpPr>
          <p:cNvPr id="25" name="Text 23"/>
          <p:cNvSpPr txBox="1"/>
          <p:nvPr/>
        </p:nvSpPr>
        <p:spPr>
          <a:xfrm>
            <a:off x="658368" y="283464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6" name="Text 24"/>
          <p:cNvSpPr txBox="1"/>
          <p:nvPr/>
        </p:nvSpPr>
        <p:spPr>
          <a:xfrm>
            <a:off x="1014984" y="283464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27" name="Shape 25"/>
          <p:cNvSpPr/>
          <p:nvPr/>
        </p:nvSpPr>
        <p:spPr>
          <a:xfrm>
            <a:off x="3008376" y="2896362"/>
            <a:ext cx="1136397" cy="123444"/>
          </a:xfrm>
          <a:prstGeom prst="rect">
            <a:avLst/>
          </a:prstGeom>
          <a:solidFill>
            <a:srgbClr val="12A566"/>
          </a:solidFill>
          <a:ln/>
        </p:spPr>
      </p:sp>
      <p:sp>
        <p:nvSpPr>
          <p:cNvPr id="28" name="Text 26"/>
          <p:cNvSpPr txBox="1"/>
          <p:nvPr/>
        </p:nvSpPr>
        <p:spPr>
          <a:xfrm>
            <a:off x="4754880" y="2834640"/>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133</a:t>
            </a:r>
            <a:endParaRPr lang="en-US" sz="1200" dirty="0"/>
          </a:p>
        </p:txBody>
      </p:sp>
      <p:sp>
        <p:nvSpPr>
          <p:cNvPr id="29" name="Text 27"/>
          <p:cNvSpPr txBox="1"/>
          <p:nvPr/>
        </p:nvSpPr>
        <p:spPr>
          <a:xfrm>
            <a:off x="658368" y="308152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0" name="Text 28"/>
          <p:cNvSpPr txBox="1"/>
          <p:nvPr/>
        </p:nvSpPr>
        <p:spPr>
          <a:xfrm>
            <a:off x="1014984" y="308152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31" name="Shape 29"/>
          <p:cNvSpPr/>
          <p:nvPr/>
        </p:nvSpPr>
        <p:spPr>
          <a:xfrm>
            <a:off x="3008376" y="3143250"/>
            <a:ext cx="1062404" cy="123444"/>
          </a:xfrm>
          <a:prstGeom prst="rect">
            <a:avLst/>
          </a:prstGeom>
          <a:solidFill>
            <a:srgbClr val="12A566"/>
          </a:solidFill>
          <a:ln/>
        </p:spPr>
      </p:sp>
      <p:sp>
        <p:nvSpPr>
          <p:cNvPr id="32" name="Text 30"/>
          <p:cNvSpPr txBox="1"/>
          <p:nvPr/>
        </p:nvSpPr>
        <p:spPr>
          <a:xfrm>
            <a:off x="4754880" y="3081528"/>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124</a:t>
            </a:r>
            <a:endParaRPr lang="en-US" sz="1200" dirty="0"/>
          </a:p>
        </p:txBody>
      </p:sp>
      <p:sp>
        <p:nvSpPr>
          <p:cNvPr id="33" name="Text 31"/>
          <p:cNvSpPr txBox="1"/>
          <p:nvPr/>
        </p:nvSpPr>
        <p:spPr>
          <a:xfrm>
            <a:off x="658368" y="332841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4" name="Text 32"/>
          <p:cNvSpPr txBox="1"/>
          <p:nvPr/>
        </p:nvSpPr>
        <p:spPr>
          <a:xfrm>
            <a:off x="1014984" y="332841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35" name="Shape 33"/>
          <p:cNvSpPr/>
          <p:nvPr/>
        </p:nvSpPr>
        <p:spPr>
          <a:xfrm>
            <a:off x="3008376" y="3390138"/>
            <a:ext cx="949294" cy="123444"/>
          </a:xfrm>
          <a:prstGeom prst="rect">
            <a:avLst/>
          </a:prstGeom>
          <a:solidFill>
            <a:srgbClr val="C2352F"/>
          </a:solidFill>
          <a:ln/>
        </p:spPr>
      </p:sp>
      <p:sp>
        <p:nvSpPr>
          <p:cNvPr id="36" name="Text 34"/>
          <p:cNvSpPr txBox="1"/>
          <p:nvPr/>
        </p:nvSpPr>
        <p:spPr>
          <a:xfrm>
            <a:off x="4754880" y="332841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111</a:t>
            </a:r>
            <a:endParaRPr lang="en-US" sz="1200" dirty="0"/>
          </a:p>
        </p:txBody>
      </p:sp>
      <p:sp>
        <p:nvSpPr>
          <p:cNvPr id="37" name="Text 35"/>
          <p:cNvSpPr txBox="1"/>
          <p:nvPr/>
        </p:nvSpPr>
        <p:spPr>
          <a:xfrm>
            <a:off x="658368" y="357530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8" name="Text 36"/>
          <p:cNvSpPr txBox="1"/>
          <p:nvPr/>
        </p:nvSpPr>
        <p:spPr>
          <a:xfrm>
            <a:off x="1014984" y="357530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39" name="Shape 37"/>
          <p:cNvSpPr/>
          <p:nvPr/>
        </p:nvSpPr>
        <p:spPr>
          <a:xfrm>
            <a:off x="3008376" y="3637026"/>
            <a:ext cx="762245" cy="123444"/>
          </a:xfrm>
          <a:prstGeom prst="rect">
            <a:avLst/>
          </a:prstGeom>
          <a:solidFill>
            <a:srgbClr val="C2352F"/>
          </a:solidFill>
          <a:ln/>
        </p:spPr>
      </p:sp>
      <p:sp>
        <p:nvSpPr>
          <p:cNvPr id="40" name="Text 38"/>
          <p:cNvSpPr txBox="1"/>
          <p:nvPr/>
        </p:nvSpPr>
        <p:spPr>
          <a:xfrm>
            <a:off x="4754880" y="357530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89</a:t>
            </a:r>
            <a:endParaRPr lang="en-US" sz="1200" dirty="0"/>
          </a:p>
        </p:txBody>
      </p:sp>
      <p:sp>
        <p:nvSpPr>
          <p:cNvPr id="41" name="Text 39"/>
          <p:cNvSpPr txBox="1"/>
          <p:nvPr/>
        </p:nvSpPr>
        <p:spPr>
          <a:xfrm>
            <a:off x="658368" y="382219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2" name="Text 40"/>
          <p:cNvSpPr txBox="1"/>
          <p:nvPr/>
        </p:nvSpPr>
        <p:spPr>
          <a:xfrm>
            <a:off x="1014984" y="382219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43" name="Shape 41"/>
          <p:cNvSpPr/>
          <p:nvPr/>
        </p:nvSpPr>
        <p:spPr>
          <a:xfrm>
            <a:off x="3008376" y="3883914"/>
            <a:ext cx="728956" cy="123444"/>
          </a:xfrm>
          <a:prstGeom prst="rect">
            <a:avLst/>
          </a:prstGeom>
          <a:solidFill>
            <a:srgbClr val="C2352F"/>
          </a:solidFill>
          <a:ln/>
        </p:spPr>
      </p:sp>
      <p:sp>
        <p:nvSpPr>
          <p:cNvPr id="44" name="Text 42"/>
          <p:cNvSpPr txBox="1"/>
          <p:nvPr/>
        </p:nvSpPr>
        <p:spPr>
          <a:xfrm>
            <a:off x="4754880" y="382219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85</a:t>
            </a:r>
            <a:endParaRPr lang="en-US" sz="1200" dirty="0"/>
          </a:p>
        </p:txBody>
      </p:sp>
      <p:sp>
        <p:nvSpPr>
          <p:cNvPr id="45" name="Text 43"/>
          <p:cNvSpPr txBox="1"/>
          <p:nvPr/>
        </p:nvSpPr>
        <p:spPr>
          <a:xfrm>
            <a:off x="658368" y="406908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6" name="Text 44"/>
          <p:cNvSpPr txBox="1"/>
          <p:nvPr/>
        </p:nvSpPr>
        <p:spPr>
          <a:xfrm>
            <a:off x="1014984" y="406908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47" name="Shape 45"/>
          <p:cNvSpPr/>
          <p:nvPr/>
        </p:nvSpPr>
        <p:spPr>
          <a:xfrm>
            <a:off x="3008376" y="4130802"/>
            <a:ext cx="605092" cy="123444"/>
          </a:xfrm>
          <a:prstGeom prst="rect">
            <a:avLst/>
          </a:prstGeom>
          <a:solidFill>
            <a:srgbClr val="C2352F"/>
          </a:solidFill>
          <a:ln/>
        </p:spPr>
      </p:sp>
      <p:sp>
        <p:nvSpPr>
          <p:cNvPr id="48" name="Text 46"/>
          <p:cNvSpPr txBox="1"/>
          <p:nvPr/>
        </p:nvSpPr>
        <p:spPr>
          <a:xfrm>
            <a:off x="4754880" y="406908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71</a:t>
            </a:r>
            <a:endParaRPr lang="en-US" sz="1200" dirty="0"/>
          </a:p>
        </p:txBody>
      </p:sp>
      <p:sp>
        <p:nvSpPr>
          <p:cNvPr id="49" name="Shape 47"/>
          <p:cNvSpPr/>
          <p:nvPr/>
        </p:nvSpPr>
        <p:spPr>
          <a:xfrm>
            <a:off x="658368" y="4297680"/>
            <a:ext cx="5303520" cy="18288"/>
          </a:xfrm>
          <a:prstGeom prst="rect">
            <a:avLst/>
          </a:prstGeom>
          <a:solidFill>
            <a:srgbClr val="0B2C4A"/>
          </a:solidFill>
          <a:ln/>
        </p:spPr>
      </p:sp>
      <p:sp>
        <p:nvSpPr>
          <p:cNvPr id="50" name="Text 48"/>
          <p:cNvSpPr txBox="1"/>
          <p:nvPr/>
        </p:nvSpPr>
        <p:spPr>
          <a:xfrm>
            <a:off x="658368" y="4315968"/>
            <a:ext cx="5303520" cy="246888"/>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NON-LUXURY · AVERAGE 176</a:t>
            </a:r>
            <a:endParaRPr lang="en-US" sz="1300" dirty="0"/>
          </a:p>
        </p:txBody>
      </p:sp>
      <p:sp>
        <p:nvSpPr>
          <p:cNvPr id="51" name="Shape 49"/>
          <p:cNvSpPr/>
          <p:nvPr/>
        </p:nvSpPr>
        <p:spPr>
          <a:xfrm>
            <a:off x="658368" y="4544568"/>
            <a:ext cx="5303520" cy="18288"/>
          </a:xfrm>
          <a:prstGeom prst="rect">
            <a:avLst/>
          </a:prstGeom>
          <a:solidFill>
            <a:srgbClr val="0B2C4A"/>
          </a:solidFill>
          <a:ln/>
        </p:spPr>
      </p:sp>
      <p:sp>
        <p:nvSpPr>
          <p:cNvPr id="52" name="Text 50"/>
          <p:cNvSpPr txBox="1"/>
          <p:nvPr/>
        </p:nvSpPr>
        <p:spPr>
          <a:xfrm>
            <a:off x="658368" y="456285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53" name="Text 51"/>
          <p:cNvSpPr txBox="1"/>
          <p:nvPr/>
        </p:nvSpPr>
        <p:spPr>
          <a:xfrm>
            <a:off x="1014984" y="456285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54" name="Shape 52"/>
          <p:cNvSpPr/>
          <p:nvPr/>
        </p:nvSpPr>
        <p:spPr>
          <a:xfrm>
            <a:off x="3008376" y="4624578"/>
            <a:ext cx="1503240" cy="123444"/>
          </a:xfrm>
          <a:prstGeom prst="rect">
            <a:avLst/>
          </a:prstGeom>
          <a:solidFill>
            <a:srgbClr val="12A566"/>
          </a:solidFill>
          <a:ln/>
        </p:spPr>
      </p:sp>
      <p:sp>
        <p:nvSpPr>
          <p:cNvPr id="55" name="Text 53"/>
          <p:cNvSpPr txBox="1"/>
          <p:nvPr/>
        </p:nvSpPr>
        <p:spPr>
          <a:xfrm>
            <a:off x="4754880" y="456285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253</a:t>
            </a:r>
            <a:endParaRPr lang="en-US" sz="1200" dirty="0"/>
          </a:p>
        </p:txBody>
      </p:sp>
      <p:sp>
        <p:nvSpPr>
          <p:cNvPr id="56" name="Text 54"/>
          <p:cNvSpPr txBox="1"/>
          <p:nvPr/>
        </p:nvSpPr>
        <p:spPr>
          <a:xfrm>
            <a:off x="658368" y="480974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57" name="Text 55"/>
          <p:cNvSpPr txBox="1"/>
          <p:nvPr/>
        </p:nvSpPr>
        <p:spPr>
          <a:xfrm>
            <a:off x="1014984" y="480974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58" name="Shape 56"/>
          <p:cNvSpPr/>
          <p:nvPr/>
        </p:nvSpPr>
        <p:spPr>
          <a:xfrm>
            <a:off x="3008376" y="4871466"/>
            <a:ext cx="1447357" cy="123444"/>
          </a:xfrm>
          <a:prstGeom prst="rect">
            <a:avLst/>
          </a:prstGeom>
          <a:solidFill>
            <a:srgbClr val="12A566"/>
          </a:solidFill>
          <a:ln/>
        </p:spPr>
      </p:sp>
      <p:sp>
        <p:nvSpPr>
          <p:cNvPr id="59" name="Text 57"/>
          <p:cNvSpPr txBox="1"/>
          <p:nvPr/>
        </p:nvSpPr>
        <p:spPr>
          <a:xfrm>
            <a:off x="4754880" y="480974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244</a:t>
            </a:r>
            <a:endParaRPr lang="en-US" sz="1200" dirty="0"/>
          </a:p>
        </p:txBody>
      </p:sp>
      <p:sp>
        <p:nvSpPr>
          <p:cNvPr id="60" name="Text 58"/>
          <p:cNvSpPr txBox="1"/>
          <p:nvPr/>
        </p:nvSpPr>
        <p:spPr>
          <a:xfrm>
            <a:off x="658368" y="505663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61" name="Text 59"/>
          <p:cNvSpPr txBox="1"/>
          <p:nvPr/>
        </p:nvSpPr>
        <p:spPr>
          <a:xfrm>
            <a:off x="1014984" y="505663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62" name="Shape 60"/>
          <p:cNvSpPr/>
          <p:nvPr/>
        </p:nvSpPr>
        <p:spPr>
          <a:xfrm>
            <a:off x="3008376" y="5118354"/>
            <a:ext cx="1373578" cy="123444"/>
          </a:xfrm>
          <a:prstGeom prst="rect">
            <a:avLst/>
          </a:prstGeom>
          <a:solidFill>
            <a:srgbClr val="12A566"/>
          </a:solidFill>
          <a:ln/>
        </p:spPr>
      </p:sp>
      <p:sp>
        <p:nvSpPr>
          <p:cNvPr id="63" name="Text 61"/>
          <p:cNvSpPr txBox="1"/>
          <p:nvPr/>
        </p:nvSpPr>
        <p:spPr>
          <a:xfrm>
            <a:off x="4754880" y="5056632"/>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231</a:t>
            </a:r>
            <a:endParaRPr lang="en-US" sz="1200" dirty="0"/>
          </a:p>
        </p:txBody>
      </p:sp>
      <p:sp>
        <p:nvSpPr>
          <p:cNvPr id="64" name="Text 62"/>
          <p:cNvSpPr txBox="1"/>
          <p:nvPr/>
        </p:nvSpPr>
        <p:spPr>
          <a:xfrm>
            <a:off x="658368" y="530352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65" name="Text 63"/>
          <p:cNvSpPr txBox="1"/>
          <p:nvPr/>
        </p:nvSpPr>
        <p:spPr>
          <a:xfrm>
            <a:off x="1014984" y="530352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66" name="Shape 64"/>
          <p:cNvSpPr/>
          <p:nvPr/>
        </p:nvSpPr>
        <p:spPr>
          <a:xfrm>
            <a:off x="3008376" y="5365242"/>
            <a:ext cx="1343443" cy="123444"/>
          </a:xfrm>
          <a:prstGeom prst="rect">
            <a:avLst/>
          </a:prstGeom>
          <a:solidFill>
            <a:srgbClr val="12A566"/>
          </a:solidFill>
          <a:ln/>
        </p:spPr>
      </p:sp>
      <p:sp>
        <p:nvSpPr>
          <p:cNvPr id="67" name="Text 65"/>
          <p:cNvSpPr txBox="1"/>
          <p:nvPr/>
        </p:nvSpPr>
        <p:spPr>
          <a:xfrm>
            <a:off x="4754880" y="5303520"/>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226</a:t>
            </a:r>
            <a:endParaRPr lang="en-US" sz="1200" dirty="0"/>
          </a:p>
        </p:txBody>
      </p:sp>
      <p:sp>
        <p:nvSpPr>
          <p:cNvPr id="68" name="Text 66"/>
          <p:cNvSpPr txBox="1"/>
          <p:nvPr/>
        </p:nvSpPr>
        <p:spPr>
          <a:xfrm>
            <a:off x="658368" y="555040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69" name="Text 67"/>
          <p:cNvSpPr txBox="1"/>
          <p:nvPr/>
        </p:nvSpPr>
        <p:spPr>
          <a:xfrm>
            <a:off x="1014984" y="555040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70" name="Shape 68"/>
          <p:cNvSpPr/>
          <p:nvPr/>
        </p:nvSpPr>
        <p:spPr>
          <a:xfrm>
            <a:off x="3008376" y="5612130"/>
            <a:ext cx="1341602" cy="123444"/>
          </a:xfrm>
          <a:prstGeom prst="rect">
            <a:avLst/>
          </a:prstGeom>
          <a:solidFill>
            <a:srgbClr val="12A566"/>
          </a:solidFill>
          <a:ln/>
        </p:spPr>
      </p:sp>
      <p:sp>
        <p:nvSpPr>
          <p:cNvPr id="71" name="Text 69"/>
          <p:cNvSpPr txBox="1"/>
          <p:nvPr/>
        </p:nvSpPr>
        <p:spPr>
          <a:xfrm>
            <a:off x="4754880" y="5550408"/>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226</a:t>
            </a:r>
            <a:endParaRPr lang="en-US" sz="1200" dirty="0"/>
          </a:p>
        </p:txBody>
      </p:sp>
      <p:sp>
        <p:nvSpPr>
          <p:cNvPr id="72" name="Text 70"/>
          <p:cNvSpPr txBox="1"/>
          <p:nvPr/>
        </p:nvSpPr>
        <p:spPr>
          <a:xfrm>
            <a:off x="658368" y="579729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73" name="Text 71"/>
          <p:cNvSpPr txBox="1"/>
          <p:nvPr/>
        </p:nvSpPr>
        <p:spPr>
          <a:xfrm>
            <a:off x="1014984" y="579729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74" name="Shape 72"/>
          <p:cNvSpPr/>
          <p:nvPr/>
        </p:nvSpPr>
        <p:spPr>
          <a:xfrm>
            <a:off x="3008376" y="5859018"/>
            <a:ext cx="1333815" cy="123444"/>
          </a:xfrm>
          <a:prstGeom prst="rect">
            <a:avLst/>
          </a:prstGeom>
          <a:solidFill>
            <a:srgbClr val="12A566"/>
          </a:solidFill>
          <a:ln/>
        </p:spPr>
      </p:sp>
      <p:sp>
        <p:nvSpPr>
          <p:cNvPr id="75" name="Text 73"/>
          <p:cNvSpPr txBox="1"/>
          <p:nvPr/>
        </p:nvSpPr>
        <p:spPr>
          <a:xfrm>
            <a:off x="4754880" y="579729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225</a:t>
            </a:r>
            <a:endParaRPr lang="en-US" sz="1200" dirty="0"/>
          </a:p>
        </p:txBody>
      </p:sp>
      <p:sp>
        <p:nvSpPr>
          <p:cNvPr id="76" name="Text 74"/>
          <p:cNvSpPr txBox="1"/>
          <p:nvPr/>
        </p:nvSpPr>
        <p:spPr>
          <a:xfrm>
            <a:off x="658368" y="604418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77" name="Text 75"/>
          <p:cNvSpPr txBox="1"/>
          <p:nvPr/>
        </p:nvSpPr>
        <p:spPr>
          <a:xfrm>
            <a:off x="1014984" y="604418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78" name="Shape 76"/>
          <p:cNvSpPr/>
          <p:nvPr/>
        </p:nvSpPr>
        <p:spPr>
          <a:xfrm>
            <a:off x="3008376" y="6105906"/>
            <a:ext cx="1164283" cy="123444"/>
          </a:xfrm>
          <a:prstGeom prst="rect">
            <a:avLst/>
          </a:prstGeom>
          <a:solidFill>
            <a:srgbClr val="12A566"/>
          </a:solidFill>
          <a:ln/>
        </p:spPr>
      </p:sp>
      <p:sp>
        <p:nvSpPr>
          <p:cNvPr id="79" name="Text 77"/>
          <p:cNvSpPr txBox="1"/>
          <p:nvPr/>
        </p:nvSpPr>
        <p:spPr>
          <a:xfrm>
            <a:off x="4754880" y="604418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196</a:t>
            </a:r>
            <a:endParaRPr lang="en-US" sz="1200" dirty="0"/>
          </a:p>
        </p:txBody>
      </p:sp>
      <p:sp>
        <p:nvSpPr>
          <p:cNvPr id="80" name="Text 78"/>
          <p:cNvSpPr txBox="1"/>
          <p:nvPr/>
        </p:nvSpPr>
        <p:spPr>
          <a:xfrm>
            <a:off x="6208776" y="1847088"/>
            <a:ext cx="5303520" cy="246888"/>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NON-LUXURY · AVERAGE 176  (CONTINUED)</a:t>
            </a:r>
            <a:endParaRPr lang="en-US" sz="1300" dirty="0"/>
          </a:p>
        </p:txBody>
      </p:sp>
      <p:sp>
        <p:nvSpPr>
          <p:cNvPr id="81" name="Shape 79"/>
          <p:cNvSpPr/>
          <p:nvPr/>
        </p:nvSpPr>
        <p:spPr>
          <a:xfrm>
            <a:off x="6208776" y="2075688"/>
            <a:ext cx="5303520" cy="18288"/>
          </a:xfrm>
          <a:prstGeom prst="rect">
            <a:avLst/>
          </a:prstGeom>
          <a:solidFill>
            <a:srgbClr val="0B2C4A"/>
          </a:solidFill>
          <a:ln/>
        </p:spPr>
      </p:sp>
      <p:sp>
        <p:nvSpPr>
          <p:cNvPr id="82" name="Text 80"/>
          <p:cNvSpPr txBox="1"/>
          <p:nvPr/>
        </p:nvSpPr>
        <p:spPr>
          <a:xfrm>
            <a:off x="6208776" y="209397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83" name="Text 81"/>
          <p:cNvSpPr txBox="1"/>
          <p:nvPr/>
        </p:nvSpPr>
        <p:spPr>
          <a:xfrm>
            <a:off x="6565392" y="209397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84" name="Shape 82"/>
          <p:cNvSpPr/>
          <p:nvPr/>
        </p:nvSpPr>
        <p:spPr>
          <a:xfrm>
            <a:off x="8558784" y="2155698"/>
            <a:ext cx="1134268" cy="123444"/>
          </a:xfrm>
          <a:prstGeom prst="rect">
            <a:avLst/>
          </a:prstGeom>
          <a:solidFill>
            <a:srgbClr val="12A566"/>
          </a:solidFill>
          <a:ln/>
        </p:spPr>
      </p:sp>
      <p:sp>
        <p:nvSpPr>
          <p:cNvPr id="85" name="Text 83"/>
          <p:cNvSpPr txBox="1"/>
          <p:nvPr/>
        </p:nvSpPr>
        <p:spPr>
          <a:xfrm>
            <a:off x="10305288" y="209397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191</a:t>
            </a:r>
            <a:endParaRPr lang="en-US" sz="1200" dirty="0"/>
          </a:p>
        </p:txBody>
      </p:sp>
      <p:sp>
        <p:nvSpPr>
          <p:cNvPr id="86" name="Text 84"/>
          <p:cNvSpPr txBox="1"/>
          <p:nvPr/>
        </p:nvSpPr>
        <p:spPr>
          <a:xfrm>
            <a:off x="6208776" y="234086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87" name="Text 85"/>
          <p:cNvSpPr txBox="1"/>
          <p:nvPr/>
        </p:nvSpPr>
        <p:spPr>
          <a:xfrm>
            <a:off x="6565392" y="234086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88" name="Shape 86"/>
          <p:cNvSpPr/>
          <p:nvPr/>
        </p:nvSpPr>
        <p:spPr>
          <a:xfrm>
            <a:off x="8558784" y="2402586"/>
            <a:ext cx="1095681" cy="123444"/>
          </a:xfrm>
          <a:prstGeom prst="rect">
            <a:avLst/>
          </a:prstGeom>
          <a:solidFill>
            <a:srgbClr val="12A566"/>
          </a:solidFill>
          <a:ln/>
        </p:spPr>
      </p:sp>
      <p:sp>
        <p:nvSpPr>
          <p:cNvPr id="89" name="Text 87"/>
          <p:cNvSpPr txBox="1"/>
          <p:nvPr/>
        </p:nvSpPr>
        <p:spPr>
          <a:xfrm>
            <a:off x="10305288" y="234086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184</a:t>
            </a:r>
            <a:endParaRPr lang="en-US" sz="1200" dirty="0"/>
          </a:p>
        </p:txBody>
      </p:sp>
      <p:sp>
        <p:nvSpPr>
          <p:cNvPr id="90" name="Text 88"/>
          <p:cNvSpPr txBox="1"/>
          <p:nvPr/>
        </p:nvSpPr>
        <p:spPr>
          <a:xfrm>
            <a:off x="6208776" y="258775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91" name="Text 89"/>
          <p:cNvSpPr txBox="1"/>
          <p:nvPr/>
        </p:nvSpPr>
        <p:spPr>
          <a:xfrm>
            <a:off x="6565392" y="258775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92" name="Shape 90"/>
          <p:cNvSpPr/>
          <p:nvPr/>
        </p:nvSpPr>
        <p:spPr>
          <a:xfrm>
            <a:off x="8558784" y="2649474"/>
            <a:ext cx="1073173" cy="123444"/>
          </a:xfrm>
          <a:prstGeom prst="rect">
            <a:avLst/>
          </a:prstGeom>
          <a:solidFill>
            <a:srgbClr val="12A566"/>
          </a:solidFill>
          <a:ln/>
        </p:spPr>
      </p:sp>
      <p:sp>
        <p:nvSpPr>
          <p:cNvPr id="93" name="Text 91"/>
          <p:cNvSpPr txBox="1"/>
          <p:nvPr/>
        </p:nvSpPr>
        <p:spPr>
          <a:xfrm>
            <a:off x="10305288" y="2587752"/>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181</a:t>
            </a:r>
            <a:endParaRPr lang="en-US" sz="1200" dirty="0"/>
          </a:p>
        </p:txBody>
      </p:sp>
      <p:sp>
        <p:nvSpPr>
          <p:cNvPr id="94" name="Text 92"/>
          <p:cNvSpPr txBox="1"/>
          <p:nvPr/>
        </p:nvSpPr>
        <p:spPr>
          <a:xfrm>
            <a:off x="6208776" y="283464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95" name="Text 93"/>
          <p:cNvSpPr txBox="1"/>
          <p:nvPr/>
        </p:nvSpPr>
        <p:spPr>
          <a:xfrm>
            <a:off x="6565392" y="283464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96" name="Shape 94"/>
          <p:cNvSpPr/>
          <p:nvPr/>
        </p:nvSpPr>
        <p:spPr>
          <a:xfrm>
            <a:off x="8558784" y="2896362"/>
            <a:ext cx="1070012" cy="123444"/>
          </a:xfrm>
          <a:prstGeom prst="rect">
            <a:avLst/>
          </a:prstGeom>
          <a:solidFill>
            <a:srgbClr val="12A566"/>
          </a:solidFill>
          <a:ln/>
        </p:spPr>
      </p:sp>
      <p:sp>
        <p:nvSpPr>
          <p:cNvPr id="97" name="Text 95"/>
          <p:cNvSpPr txBox="1"/>
          <p:nvPr/>
        </p:nvSpPr>
        <p:spPr>
          <a:xfrm>
            <a:off x="10305288" y="2834640"/>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180</a:t>
            </a:r>
            <a:endParaRPr lang="en-US" sz="1200" dirty="0"/>
          </a:p>
        </p:txBody>
      </p:sp>
      <p:sp>
        <p:nvSpPr>
          <p:cNvPr id="98" name="Text 96"/>
          <p:cNvSpPr txBox="1"/>
          <p:nvPr/>
        </p:nvSpPr>
        <p:spPr>
          <a:xfrm>
            <a:off x="6208776" y="308152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99" name="Text 97"/>
          <p:cNvSpPr txBox="1"/>
          <p:nvPr/>
        </p:nvSpPr>
        <p:spPr>
          <a:xfrm>
            <a:off x="6565392" y="308152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0" name="Shape 98"/>
          <p:cNvSpPr/>
          <p:nvPr/>
        </p:nvSpPr>
        <p:spPr>
          <a:xfrm>
            <a:off x="8558784" y="3143250"/>
            <a:ext cx="1057284" cy="123444"/>
          </a:xfrm>
          <a:prstGeom prst="rect">
            <a:avLst/>
          </a:prstGeom>
          <a:solidFill>
            <a:srgbClr val="12A566"/>
          </a:solidFill>
          <a:ln/>
        </p:spPr>
      </p:sp>
      <p:sp>
        <p:nvSpPr>
          <p:cNvPr id="101" name="Text 99"/>
          <p:cNvSpPr txBox="1"/>
          <p:nvPr/>
        </p:nvSpPr>
        <p:spPr>
          <a:xfrm>
            <a:off x="10305288" y="3081528"/>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178</a:t>
            </a:r>
            <a:endParaRPr lang="en-US" sz="1200" dirty="0"/>
          </a:p>
        </p:txBody>
      </p:sp>
      <p:sp>
        <p:nvSpPr>
          <p:cNvPr id="102" name="Text 100"/>
          <p:cNvSpPr txBox="1"/>
          <p:nvPr/>
        </p:nvSpPr>
        <p:spPr>
          <a:xfrm>
            <a:off x="6208776" y="332841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103" name="Text 101"/>
          <p:cNvSpPr txBox="1"/>
          <p:nvPr/>
        </p:nvSpPr>
        <p:spPr>
          <a:xfrm>
            <a:off x="6565392" y="332841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04" name="Shape 102"/>
          <p:cNvSpPr/>
          <p:nvPr/>
        </p:nvSpPr>
        <p:spPr>
          <a:xfrm>
            <a:off x="8558784" y="3390138"/>
            <a:ext cx="1042010" cy="123444"/>
          </a:xfrm>
          <a:prstGeom prst="rect">
            <a:avLst/>
          </a:prstGeom>
          <a:solidFill>
            <a:srgbClr val="C2352F"/>
          </a:solidFill>
          <a:ln/>
        </p:spPr>
      </p:sp>
      <p:sp>
        <p:nvSpPr>
          <p:cNvPr id="105" name="Text 103"/>
          <p:cNvSpPr txBox="1"/>
          <p:nvPr/>
        </p:nvSpPr>
        <p:spPr>
          <a:xfrm>
            <a:off x="10305288" y="332841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175</a:t>
            </a:r>
            <a:endParaRPr lang="en-US" sz="1200" dirty="0"/>
          </a:p>
        </p:txBody>
      </p:sp>
      <p:sp>
        <p:nvSpPr>
          <p:cNvPr id="106" name="Text 104"/>
          <p:cNvSpPr txBox="1"/>
          <p:nvPr/>
        </p:nvSpPr>
        <p:spPr>
          <a:xfrm>
            <a:off x="6208776" y="357530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107" name="Text 105"/>
          <p:cNvSpPr txBox="1"/>
          <p:nvPr/>
        </p:nvSpPr>
        <p:spPr>
          <a:xfrm>
            <a:off x="6565392" y="357530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08" name="Shape 106"/>
          <p:cNvSpPr/>
          <p:nvPr/>
        </p:nvSpPr>
        <p:spPr>
          <a:xfrm>
            <a:off x="8558784" y="3637026"/>
            <a:ext cx="1021645" cy="123444"/>
          </a:xfrm>
          <a:prstGeom prst="rect">
            <a:avLst/>
          </a:prstGeom>
          <a:solidFill>
            <a:srgbClr val="C2352F"/>
          </a:solidFill>
          <a:ln/>
        </p:spPr>
      </p:sp>
      <p:sp>
        <p:nvSpPr>
          <p:cNvPr id="109" name="Text 107"/>
          <p:cNvSpPr txBox="1"/>
          <p:nvPr/>
        </p:nvSpPr>
        <p:spPr>
          <a:xfrm>
            <a:off x="10305288" y="357530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172</a:t>
            </a:r>
            <a:endParaRPr lang="en-US" sz="1200" dirty="0"/>
          </a:p>
        </p:txBody>
      </p:sp>
      <p:sp>
        <p:nvSpPr>
          <p:cNvPr id="110" name="Text 108"/>
          <p:cNvSpPr txBox="1"/>
          <p:nvPr/>
        </p:nvSpPr>
        <p:spPr>
          <a:xfrm>
            <a:off x="6208776" y="382219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111" name="Text 109"/>
          <p:cNvSpPr txBox="1"/>
          <p:nvPr/>
        </p:nvSpPr>
        <p:spPr>
          <a:xfrm>
            <a:off x="6565392" y="382219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12" name="Shape 110"/>
          <p:cNvSpPr/>
          <p:nvPr/>
        </p:nvSpPr>
        <p:spPr>
          <a:xfrm>
            <a:off x="8558784" y="3883914"/>
            <a:ext cx="981754" cy="123444"/>
          </a:xfrm>
          <a:prstGeom prst="rect">
            <a:avLst/>
          </a:prstGeom>
          <a:solidFill>
            <a:srgbClr val="C2352F"/>
          </a:solidFill>
          <a:ln/>
        </p:spPr>
      </p:sp>
      <p:sp>
        <p:nvSpPr>
          <p:cNvPr id="113" name="Text 111"/>
          <p:cNvSpPr txBox="1"/>
          <p:nvPr/>
        </p:nvSpPr>
        <p:spPr>
          <a:xfrm>
            <a:off x="10305288" y="382219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165</a:t>
            </a:r>
            <a:endParaRPr lang="en-US" sz="1200" dirty="0"/>
          </a:p>
        </p:txBody>
      </p:sp>
      <p:sp>
        <p:nvSpPr>
          <p:cNvPr id="114" name="Text 112"/>
          <p:cNvSpPr txBox="1"/>
          <p:nvPr/>
        </p:nvSpPr>
        <p:spPr>
          <a:xfrm>
            <a:off x="6208776" y="406908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15" name="Text 113"/>
          <p:cNvSpPr txBox="1"/>
          <p:nvPr/>
        </p:nvSpPr>
        <p:spPr>
          <a:xfrm>
            <a:off x="6565392" y="406908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16" name="Shape 114"/>
          <p:cNvSpPr/>
          <p:nvPr/>
        </p:nvSpPr>
        <p:spPr>
          <a:xfrm>
            <a:off x="8558784" y="4130802"/>
            <a:ext cx="943933" cy="123444"/>
          </a:xfrm>
          <a:prstGeom prst="rect">
            <a:avLst/>
          </a:prstGeom>
          <a:solidFill>
            <a:srgbClr val="C2352F"/>
          </a:solidFill>
          <a:ln/>
        </p:spPr>
      </p:sp>
      <p:sp>
        <p:nvSpPr>
          <p:cNvPr id="117" name="Text 115"/>
          <p:cNvSpPr txBox="1"/>
          <p:nvPr/>
        </p:nvSpPr>
        <p:spPr>
          <a:xfrm>
            <a:off x="10305288" y="406908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159</a:t>
            </a:r>
            <a:endParaRPr lang="en-US" sz="1200" dirty="0"/>
          </a:p>
        </p:txBody>
      </p:sp>
      <p:sp>
        <p:nvSpPr>
          <p:cNvPr id="118" name="Text 116"/>
          <p:cNvSpPr txBox="1"/>
          <p:nvPr/>
        </p:nvSpPr>
        <p:spPr>
          <a:xfrm>
            <a:off x="6208776" y="431596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19" name="Text 117"/>
          <p:cNvSpPr txBox="1"/>
          <p:nvPr/>
        </p:nvSpPr>
        <p:spPr>
          <a:xfrm>
            <a:off x="6565392" y="431596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20" name="Shape 118"/>
          <p:cNvSpPr/>
          <p:nvPr/>
        </p:nvSpPr>
        <p:spPr>
          <a:xfrm>
            <a:off x="8558784" y="4377690"/>
            <a:ext cx="912089" cy="123444"/>
          </a:xfrm>
          <a:prstGeom prst="rect">
            <a:avLst/>
          </a:prstGeom>
          <a:solidFill>
            <a:srgbClr val="C2352F"/>
          </a:solidFill>
          <a:ln/>
        </p:spPr>
      </p:sp>
      <p:sp>
        <p:nvSpPr>
          <p:cNvPr id="121" name="Text 119"/>
          <p:cNvSpPr txBox="1"/>
          <p:nvPr/>
        </p:nvSpPr>
        <p:spPr>
          <a:xfrm>
            <a:off x="10305288" y="4315968"/>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154</a:t>
            </a:r>
            <a:endParaRPr lang="en-US" sz="1200" dirty="0"/>
          </a:p>
        </p:txBody>
      </p:sp>
      <p:sp>
        <p:nvSpPr>
          <p:cNvPr id="122" name="Text 120"/>
          <p:cNvSpPr txBox="1"/>
          <p:nvPr/>
        </p:nvSpPr>
        <p:spPr>
          <a:xfrm>
            <a:off x="6208776" y="456285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23" name="Text 121"/>
          <p:cNvSpPr txBox="1"/>
          <p:nvPr/>
        </p:nvSpPr>
        <p:spPr>
          <a:xfrm>
            <a:off x="6565392" y="456285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24" name="Shape 122"/>
          <p:cNvSpPr/>
          <p:nvPr/>
        </p:nvSpPr>
        <p:spPr>
          <a:xfrm>
            <a:off x="8558784" y="4624578"/>
            <a:ext cx="848886" cy="123444"/>
          </a:xfrm>
          <a:prstGeom prst="rect">
            <a:avLst/>
          </a:prstGeom>
          <a:solidFill>
            <a:srgbClr val="C2352F"/>
          </a:solidFill>
          <a:ln/>
        </p:spPr>
      </p:sp>
      <p:sp>
        <p:nvSpPr>
          <p:cNvPr id="125" name="Text 123"/>
          <p:cNvSpPr txBox="1"/>
          <p:nvPr/>
        </p:nvSpPr>
        <p:spPr>
          <a:xfrm>
            <a:off x="10305288" y="456285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143</a:t>
            </a:r>
            <a:endParaRPr lang="en-US" sz="1200" dirty="0"/>
          </a:p>
        </p:txBody>
      </p:sp>
      <p:sp>
        <p:nvSpPr>
          <p:cNvPr id="126" name="Text 124"/>
          <p:cNvSpPr txBox="1"/>
          <p:nvPr/>
        </p:nvSpPr>
        <p:spPr>
          <a:xfrm>
            <a:off x="6208776" y="480974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7" name="Text 125"/>
          <p:cNvSpPr txBox="1"/>
          <p:nvPr/>
        </p:nvSpPr>
        <p:spPr>
          <a:xfrm>
            <a:off x="6565392" y="480974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28" name="Shape 126"/>
          <p:cNvSpPr/>
          <p:nvPr/>
        </p:nvSpPr>
        <p:spPr>
          <a:xfrm>
            <a:off x="8558784" y="4871466"/>
            <a:ext cx="823202" cy="123444"/>
          </a:xfrm>
          <a:prstGeom prst="rect">
            <a:avLst/>
          </a:prstGeom>
          <a:solidFill>
            <a:srgbClr val="C2352F"/>
          </a:solidFill>
          <a:ln/>
        </p:spPr>
      </p:sp>
      <p:sp>
        <p:nvSpPr>
          <p:cNvPr id="129" name="Text 127"/>
          <p:cNvSpPr txBox="1"/>
          <p:nvPr/>
        </p:nvSpPr>
        <p:spPr>
          <a:xfrm>
            <a:off x="10305288" y="480974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139</a:t>
            </a:r>
            <a:endParaRPr lang="en-US" sz="1200" dirty="0"/>
          </a:p>
        </p:txBody>
      </p:sp>
      <p:sp>
        <p:nvSpPr>
          <p:cNvPr id="130" name="Text 128"/>
          <p:cNvSpPr txBox="1"/>
          <p:nvPr/>
        </p:nvSpPr>
        <p:spPr>
          <a:xfrm>
            <a:off x="6208776" y="505663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31" name="Text 129"/>
          <p:cNvSpPr txBox="1"/>
          <p:nvPr/>
        </p:nvSpPr>
        <p:spPr>
          <a:xfrm>
            <a:off x="6565392" y="505663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32" name="Shape 130"/>
          <p:cNvSpPr/>
          <p:nvPr/>
        </p:nvSpPr>
        <p:spPr>
          <a:xfrm>
            <a:off x="8558784" y="5118354"/>
            <a:ext cx="759533" cy="123444"/>
          </a:xfrm>
          <a:prstGeom prst="rect">
            <a:avLst/>
          </a:prstGeom>
          <a:solidFill>
            <a:srgbClr val="C2352F"/>
          </a:solidFill>
          <a:ln/>
        </p:spPr>
      </p:sp>
      <p:sp>
        <p:nvSpPr>
          <p:cNvPr id="133" name="Text 131"/>
          <p:cNvSpPr txBox="1"/>
          <p:nvPr/>
        </p:nvSpPr>
        <p:spPr>
          <a:xfrm>
            <a:off x="10305288" y="505663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128</a:t>
            </a:r>
            <a:endParaRPr lang="en-US" sz="1200" dirty="0"/>
          </a:p>
        </p:txBody>
      </p:sp>
      <p:sp>
        <p:nvSpPr>
          <p:cNvPr id="134" name="Text 132"/>
          <p:cNvSpPr txBox="1"/>
          <p:nvPr/>
        </p:nvSpPr>
        <p:spPr>
          <a:xfrm>
            <a:off x="6208776" y="530352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5" name="Text 133"/>
          <p:cNvSpPr txBox="1"/>
          <p:nvPr/>
        </p:nvSpPr>
        <p:spPr>
          <a:xfrm>
            <a:off x="6565392" y="530352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36" name="Shape 134"/>
          <p:cNvSpPr/>
          <p:nvPr/>
        </p:nvSpPr>
        <p:spPr>
          <a:xfrm>
            <a:off x="8558784" y="5365242"/>
            <a:ext cx="729747" cy="123444"/>
          </a:xfrm>
          <a:prstGeom prst="rect">
            <a:avLst/>
          </a:prstGeom>
          <a:solidFill>
            <a:srgbClr val="C2352F"/>
          </a:solidFill>
          <a:ln/>
        </p:spPr>
      </p:sp>
      <p:sp>
        <p:nvSpPr>
          <p:cNvPr id="137" name="Text 135"/>
          <p:cNvSpPr txBox="1"/>
          <p:nvPr/>
        </p:nvSpPr>
        <p:spPr>
          <a:xfrm>
            <a:off x="10305288" y="530352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123</a:t>
            </a:r>
            <a:endParaRPr lang="en-US" sz="1200" dirty="0"/>
          </a:p>
        </p:txBody>
      </p:sp>
      <p:sp>
        <p:nvSpPr>
          <p:cNvPr id="138" name="Text 136"/>
          <p:cNvSpPr txBox="1"/>
          <p:nvPr/>
        </p:nvSpPr>
        <p:spPr>
          <a:xfrm>
            <a:off x="6208776" y="555040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9" name="Text 137"/>
          <p:cNvSpPr txBox="1"/>
          <p:nvPr/>
        </p:nvSpPr>
        <p:spPr>
          <a:xfrm>
            <a:off x="6565392" y="555040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40" name="Shape 138"/>
          <p:cNvSpPr/>
          <p:nvPr/>
        </p:nvSpPr>
        <p:spPr>
          <a:xfrm>
            <a:off x="8558784" y="5612130"/>
            <a:ext cx="709976" cy="123444"/>
          </a:xfrm>
          <a:prstGeom prst="rect">
            <a:avLst/>
          </a:prstGeom>
          <a:solidFill>
            <a:srgbClr val="C2352F"/>
          </a:solidFill>
          <a:ln/>
        </p:spPr>
      </p:sp>
      <p:sp>
        <p:nvSpPr>
          <p:cNvPr id="141" name="Text 139"/>
          <p:cNvSpPr txBox="1"/>
          <p:nvPr/>
        </p:nvSpPr>
        <p:spPr>
          <a:xfrm>
            <a:off x="10305288" y="5550408"/>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120</a:t>
            </a:r>
            <a:endParaRPr lang="en-US" sz="1200" dirty="0"/>
          </a:p>
        </p:txBody>
      </p:sp>
      <p:sp>
        <p:nvSpPr>
          <p:cNvPr id="142" name="Text 140"/>
          <p:cNvSpPr txBox="1"/>
          <p:nvPr/>
        </p:nvSpPr>
        <p:spPr>
          <a:xfrm>
            <a:off x="6208776" y="579729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3" name="Text 141"/>
          <p:cNvSpPr txBox="1"/>
          <p:nvPr/>
        </p:nvSpPr>
        <p:spPr>
          <a:xfrm>
            <a:off x="6565392" y="579729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44" name="Shape 142"/>
          <p:cNvSpPr/>
          <p:nvPr/>
        </p:nvSpPr>
        <p:spPr>
          <a:xfrm>
            <a:off x="8558784" y="5859018"/>
            <a:ext cx="703612" cy="123444"/>
          </a:xfrm>
          <a:prstGeom prst="rect">
            <a:avLst/>
          </a:prstGeom>
          <a:solidFill>
            <a:srgbClr val="C2352F"/>
          </a:solidFill>
          <a:ln/>
        </p:spPr>
      </p:sp>
      <p:sp>
        <p:nvSpPr>
          <p:cNvPr id="145" name="Text 143"/>
          <p:cNvSpPr txBox="1"/>
          <p:nvPr/>
        </p:nvSpPr>
        <p:spPr>
          <a:xfrm>
            <a:off x="10305288" y="579729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118</a:t>
            </a:r>
            <a:endParaRPr lang="en-US" sz="1200" dirty="0"/>
          </a:p>
        </p:txBody>
      </p:sp>
      <p:sp>
        <p:nvSpPr>
          <p:cNvPr id="146" name="Text 144"/>
          <p:cNvSpPr txBox="1"/>
          <p:nvPr/>
        </p:nvSpPr>
        <p:spPr>
          <a:xfrm>
            <a:off x="6208776" y="604418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47" name="Text 145"/>
          <p:cNvSpPr txBox="1"/>
          <p:nvPr/>
        </p:nvSpPr>
        <p:spPr>
          <a:xfrm>
            <a:off x="6565392" y="604418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48" name="Shape 146"/>
          <p:cNvSpPr/>
          <p:nvPr/>
        </p:nvSpPr>
        <p:spPr>
          <a:xfrm>
            <a:off x="8558784" y="6105906"/>
            <a:ext cx="692411" cy="123444"/>
          </a:xfrm>
          <a:prstGeom prst="rect">
            <a:avLst/>
          </a:prstGeom>
          <a:solidFill>
            <a:srgbClr val="C2352F"/>
          </a:solidFill>
          <a:ln/>
        </p:spPr>
      </p:sp>
      <p:sp>
        <p:nvSpPr>
          <p:cNvPr id="149" name="Text 147"/>
          <p:cNvSpPr txBox="1"/>
          <p:nvPr/>
        </p:nvSpPr>
        <p:spPr>
          <a:xfrm>
            <a:off x="10305288" y="604418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117</a:t>
            </a:r>
            <a:endParaRPr lang="en-US" sz="1200" dirty="0"/>
          </a:p>
        </p:txBody>
      </p:sp>
      <p:sp>
        <p:nvSpPr>
          <p:cNvPr id="150" name="Shape 148"/>
          <p:cNvSpPr/>
          <p:nvPr/>
        </p:nvSpPr>
        <p:spPr>
          <a:xfrm>
            <a:off x="4047207" y="2093976"/>
            <a:ext cx="14630" cy="2221992"/>
          </a:xfrm>
          <a:prstGeom prst="rect">
            <a:avLst/>
          </a:prstGeom>
          <a:solidFill>
            <a:srgbClr val="0B2C4A"/>
          </a:solidFill>
          <a:ln/>
        </p:spPr>
      </p:sp>
      <p:sp>
        <p:nvSpPr>
          <p:cNvPr id="151" name="Shape 149"/>
          <p:cNvSpPr/>
          <p:nvPr/>
        </p:nvSpPr>
        <p:spPr>
          <a:xfrm>
            <a:off x="4047207" y="4562856"/>
            <a:ext cx="14630" cy="1728216"/>
          </a:xfrm>
          <a:prstGeom prst="rect">
            <a:avLst/>
          </a:prstGeom>
          <a:solidFill>
            <a:srgbClr val="0B2C4A"/>
          </a:solidFill>
          <a:ln/>
        </p:spPr>
      </p:sp>
      <p:sp>
        <p:nvSpPr>
          <p:cNvPr id="152" name="Shape 150"/>
          <p:cNvSpPr/>
          <p:nvPr/>
        </p:nvSpPr>
        <p:spPr>
          <a:xfrm>
            <a:off x="9597615" y="2093976"/>
            <a:ext cx="14630" cy="4197096"/>
          </a:xfrm>
          <a:prstGeom prst="rect">
            <a:avLst/>
          </a:prstGeom>
          <a:solidFill>
            <a:srgbClr val="0B2C4A"/>
          </a:solidFill>
          <a:ln/>
        </p:spPr>
      </p:sp>
      <p:sp>
        <p:nvSpPr>
          <p:cNvPr id="153" name="Shape 151"/>
          <p:cNvSpPr/>
          <p:nvPr/>
        </p:nvSpPr>
        <p:spPr>
          <a:xfrm>
            <a:off x="6085332" y="1847088"/>
            <a:ext cx="10973" cy="4443984"/>
          </a:xfrm>
          <a:prstGeom prst="rect">
            <a:avLst/>
          </a:prstGeom>
          <a:solidFill>
            <a:srgbClr val="D9D9D9"/>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Service Advisor</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68046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&amp; W ROS PER SERVICE ADVISOR</a:t>
            </a:r>
            <a:endParaRPr lang="en-US" sz="1500" dirty="0"/>
          </a:p>
        </p:txBody>
      </p:sp>
      <p:sp>
        <p:nvSpPr>
          <p:cNvPr id="9" name="Text 7"/>
          <p:cNvSpPr txBox="1"/>
          <p:nvPr/>
        </p:nvSpPr>
        <p:spPr>
          <a:xfrm>
            <a:off x="4594860" y="1335024"/>
            <a:ext cx="345186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A82B26"/>
                </a:solidFill>
                <a:latin typeface="Inter" pitchFamily="34" charset="0"/>
                <a:ea typeface="Inter" pitchFamily="34" charset="-122"/>
                <a:cs typeface="Inter" pitchFamily="34" charset="-120"/>
              </a:rPr>
              <a:t>−7</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3" name="Shape 11"/>
          <p:cNvSpPr/>
          <p:nvPr/>
        </p:nvSpPr>
        <p:spPr>
          <a:xfrm>
            <a:off x="3785616" y="1911860"/>
            <a:ext cx="525241"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+40</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7" name="Shape 15"/>
          <p:cNvSpPr/>
          <p:nvPr/>
        </p:nvSpPr>
        <p:spPr>
          <a:xfrm>
            <a:off x="3785616" y="2151755"/>
            <a:ext cx="467524"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+35</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21" name="Shape 19"/>
          <p:cNvSpPr/>
          <p:nvPr/>
        </p:nvSpPr>
        <p:spPr>
          <a:xfrm>
            <a:off x="3785616" y="2391651"/>
            <a:ext cx="415619"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+31</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25" name="Shape 23"/>
          <p:cNvSpPr/>
          <p:nvPr/>
        </p:nvSpPr>
        <p:spPr>
          <a:xfrm>
            <a:off x="3785616" y="2631546"/>
            <a:ext cx="265194"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+20</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29" name="Shape 27"/>
          <p:cNvSpPr/>
          <p:nvPr/>
        </p:nvSpPr>
        <p:spPr>
          <a:xfrm>
            <a:off x="3785616" y="2871442"/>
            <a:ext cx="190549"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+14</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33" name="Shape 31"/>
          <p:cNvSpPr/>
          <p:nvPr/>
        </p:nvSpPr>
        <p:spPr>
          <a:xfrm>
            <a:off x="3785616" y="3111337"/>
            <a:ext cx="179531"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+14</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37" name="Shape 35"/>
          <p:cNvSpPr/>
          <p:nvPr/>
        </p:nvSpPr>
        <p:spPr>
          <a:xfrm>
            <a:off x="3785616" y="3351233"/>
            <a:ext cx="174904"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41" name="Shape 39"/>
          <p:cNvSpPr/>
          <p:nvPr/>
        </p:nvSpPr>
        <p:spPr>
          <a:xfrm>
            <a:off x="3785616" y="3591128"/>
            <a:ext cx="157180"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+12</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45" name="Shape 43"/>
          <p:cNvSpPr/>
          <p:nvPr/>
        </p:nvSpPr>
        <p:spPr>
          <a:xfrm>
            <a:off x="3785616" y="3831024"/>
            <a:ext cx="146799"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49" name="Shape 47"/>
          <p:cNvSpPr/>
          <p:nvPr/>
        </p:nvSpPr>
        <p:spPr>
          <a:xfrm>
            <a:off x="3785616" y="4070920"/>
            <a:ext cx="136967"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53" name="Shape 51"/>
          <p:cNvSpPr/>
          <p:nvPr/>
        </p:nvSpPr>
        <p:spPr>
          <a:xfrm>
            <a:off x="3785616" y="4310815"/>
            <a:ext cx="76979"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57" name="Shape 55"/>
          <p:cNvSpPr/>
          <p:nvPr/>
        </p:nvSpPr>
        <p:spPr>
          <a:xfrm>
            <a:off x="3785616" y="4550711"/>
            <a:ext cx="75062"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61" name="Shape 59"/>
          <p:cNvSpPr/>
          <p:nvPr/>
        </p:nvSpPr>
        <p:spPr>
          <a:xfrm>
            <a:off x="3785616" y="4790606"/>
            <a:ext cx="60320"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65" name="Shape 63"/>
          <p:cNvSpPr/>
          <p:nvPr/>
        </p:nvSpPr>
        <p:spPr>
          <a:xfrm>
            <a:off x="3785616" y="5030502"/>
            <a:ext cx="35578"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69" name="Shape 67"/>
          <p:cNvSpPr/>
          <p:nvPr/>
        </p:nvSpPr>
        <p:spPr>
          <a:xfrm>
            <a:off x="3785616" y="5270397"/>
            <a:ext cx="21435"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73" name="Shape 71"/>
          <p:cNvSpPr/>
          <p:nvPr/>
        </p:nvSpPr>
        <p:spPr>
          <a:xfrm>
            <a:off x="3785616" y="5510293"/>
            <a:ext cx="12802"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77" name="Shape 75"/>
          <p:cNvSpPr/>
          <p:nvPr/>
        </p:nvSpPr>
        <p:spPr>
          <a:xfrm>
            <a:off x="3785616" y="5750188"/>
            <a:ext cx="12802"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81" name="Shape 79"/>
          <p:cNvSpPr/>
          <p:nvPr/>
        </p:nvSpPr>
        <p:spPr>
          <a:xfrm>
            <a:off x="9306884" y="1911860"/>
            <a:ext cx="29140" cy="110352"/>
          </a:xfrm>
          <a:prstGeom prst="rect">
            <a:avLst/>
          </a:prstGeom>
          <a:solidFill>
            <a:srgbClr val="C2352F"/>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85" name="Shape 83"/>
          <p:cNvSpPr/>
          <p:nvPr/>
        </p:nvSpPr>
        <p:spPr>
          <a:xfrm>
            <a:off x="9216705" y="2151755"/>
            <a:ext cx="119319" cy="110352"/>
          </a:xfrm>
          <a:prstGeom prst="rect">
            <a:avLst/>
          </a:prstGeom>
          <a:solidFill>
            <a:srgbClr val="C2352F"/>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−9</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89" name="Shape 87"/>
          <p:cNvSpPr/>
          <p:nvPr/>
        </p:nvSpPr>
        <p:spPr>
          <a:xfrm>
            <a:off x="9155707" y="2391651"/>
            <a:ext cx="180317" cy="110352"/>
          </a:xfrm>
          <a:prstGeom prst="rect">
            <a:avLst/>
          </a:prstGeom>
          <a:solidFill>
            <a:srgbClr val="C2352F"/>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−14</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93" name="Shape 91"/>
          <p:cNvSpPr/>
          <p:nvPr/>
        </p:nvSpPr>
        <p:spPr>
          <a:xfrm>
            <a:off x="9144900" y="2631546"/>
            <a:ext cx="191124" cy="110352"/>
          </a:xfrm>
          <a:prstGeom prst="rect">
            <a:avLst/>
          </a:prstGeom>
          <a:solidFill>
            <a:srgbClr val="C2352F"/>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−14</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97" name="Shape 95"/>
          <p:cNvSpPr/>
          <p:nvPr/>
        </p:nvSpPr>
        <p:spPr>
          <a:xfrm>
            <a:off x="9113369" y="2871442"/>
            <a:ext cx="222655" cy="110352"/>
          </a:xfrm>
          <a:prstGeom prst="rect">
            <a:avLst/>
          </a:prstGeom>
          <a:solidFill>
            <a:srgbClr val="C2352F"/>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−17</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01" name="Shape 99"/>
          <p:cNvSpPr/>
          <p:nvPr/>
        </p:nvSpPr>
        <p:spPr>
          <a:xfrm>
            <a:off x="9069301" y="3111337"/>
            <a:ext cx="266723" cy="110352"/>
          </a:xfrm>
          <a:prstGeom prst="rect">
            <a:avLst/>
          </a:prstGeom>
          <a:solidFill>
            <a:srgbClr val="C2352F"/>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−20</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05" name="Shape 103"/>
          <p:cNvSpPr/>
          <p:nvPr/>
        </p:nvSpPr>
        <p:spPr>
          <a:xfrm>
            <a:off x="9051012" y="3351233"/>
            <a:ext cx="285012" cy="110352"/>
          </a:xfrm>
          <a:prstGeom prst="rect">
            <a:avLst/>
          </a:prstGeom>
          <a:solidFill>
            <a:srgbClr val="C2352F"/>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−22</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09" name="Shape 107"/>
          <p:cNvSpPr/>
          <p:nvPr/>
        </p:nvSpPr>
        <p:spPr>
          <a:xfrm>
            <a:off x="8963630" y="3591128"/>
            <a:ext cx="372394" cy="110352"/>
          </a:xfrm>
          <a:prstGeom prst="rect">
            <a:avLst/>
          </a:prstGeom>
          <a:solidFill>
            <a:srgbClr val="C2352F"/>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−28</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13" name="Shape 111"/>
          <p:cNvSpPr/>
          <p:nvPr/>
        </p:nvSpPr>
        <p:spPr>
          <a:xfrm>
            <a:off x="8947862" y="3831024"/>
            <a:ext cx="388162" cy="110352"/>
          </a:xfrm>
          <a:prstGeom prst="rect">
            <a:avLst/>
          </a:prstGeom>
          <a:solidFill>
            <a:srgbClr val="C2352F"/>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−29</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17" name="Shape 115"/>
          <p:cNvSpPr/>
          <p:nvPr/>
        </p:nvSpPr>
        <p:spPr>
          <a:xfrm>
            <a:off x="8941405" y="4070920"/>
            <a:ext cx="394619"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−30</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21" name="Shape 119"/>
          <p:cNvSpPr/>
          <p:nvPr/>
        </p:nvSpPr>
        <p:spPr>
          <a:xfrm>
            <a:off x="8905154" y="4310815"/>
            <a:ext cx="430870"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−33</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25" name="Shape 123"/>
          <p:cNvSpPr/>
          <p:nvPr/>
        </p:nvSpPr>
        <p:spPr>
          <a:xfrm>
            <a:off x="8863913" y="4550711"/>
            <a:ext cx="472111"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−36</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29" name="Shape 127"/>
          <p:cNvSpPr/>
          <p:nvPr/>
        </p:nvSpPr>
        <p:spPr>
          <a:xfrm>
            <a:off x="8798725" y="4790606"/>
            <a:ext cx="537299"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−41</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33" name="Shape 131"/>
          <p:cNvSpPr/>
          <p:nvPr/>
        </p:nvSpPr>
        <p:spPr>
          <a:xfrm>
            <a:off x="8761661" y="5030502"/>
            <a:ext cx="574363"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−43</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7" name="Shape 135"/>
          <p:cNvSpPr/>
          <p:nvPr/>
        </p:nvSpPr>
        <p:spPr>
          <a:xfrm>
            <a:off x="8566984" y="5270397"/>
            <a:ext cx="769040"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−58</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41" name="Shape 139"/>
          <p:cNvSpPr/>
          <p:nvPr/>
        </p:nvSpPr>
        <p:spPr>
          <a:xfrm>
            <a:off x="8558784" y="5510293"/>
            <a:ext cx="777240"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−59</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7" name="Shape 144"/>
          <p:cNvSpPr/>
          <p:nvPr/>
        </p:nvSpPr>
        <p:spPr>
          <a:xfrm>
            <a:off x="457200" y="6126480"/>
            <a:ext cx="11274552" cy="371856"/>
          </a:xfrm>
          <a:prstGeom prst="rect">
            <a:avLst/>
          </a:prstGeom>
          <a:solidFill>
            <a:srgbClr val="FBEBEA"/>
          </a:solidFill>
          <a:ln/>
        </p:spPr>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17 of 33 stores raised ROs per advisor. 16 declined.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Service Advisor</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Text 8"/>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1" name="Text 9"/>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175</a:t>
            </a:r>
            <a:endParaRPr lang="en-US" sz="1400" dirty="0"/>
          </a:p>
        </p:txBody>
      </p:sp>
      <p:graphicFrame>
        <p:nvGraphicFramePr>
          <p:cNvPr id="12" name="Chart 0" descr=""/>
          <p:cNvGraphicFramePr/>
          <p:nvPr/>
        </p:nvGraphicFramePr>
        <p:xfrm>
          <a:off x="1097280" y="2697480"/>
          <a:ext cx="1972056" cy="502615"/>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2941320"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+40</a:t>
            </a:r>
            <a:endParaRPr lang="en-US" sz="1600" dirty="0"/>
          </a:p>
        </p:txBody>
      </p:sp>
      <p:sp>
        <p:nvSpPr>
          <p:cNvPr id="14" name="Text 11"/>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5" name="Text 12"/>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154</a:t>
            </a:r>
            <a:endParaRPr lang="en-US" sz="1400" dirty="0"/>
          </a:p>
        </p:txBody>
      </p:sp>
      <p:graphicFrame>
        <p:nvGraphicFramePr>
          <p:cNvPr id="16" name="Chart 1" descr=""/>
          <p:cNvGraphicFramePr/>
          <p:nvPr/>
        </p:nvGraphicFramePr>
        <p:xfrm>
          <a:off x="1097280" y="4175760"/>
          <a:ext cx="1972056" cy="502615"/>
        </p:xfrm>
        <a:graphic xmlns:a="http://schemas.openxmlformats.org/drawingml/2006/main">
          <a:graphicData uri="http://schemas.openxmlformats.org/drawingml/2006/chart">
            <c:chart xmlns:c="http://schemas.openxmlformats.org/drawingml/2006/chart" r:id="rId2"/>
          </a:graphicData>
        </a:graphic>
      </p:graphicFrame>
      <p:sp>
        <p:nvSpPr>
          <p:cNvPr id="17" name="Text 13"/>
          <p:cNvSpPr txBox="1"/>
          <p:nvPr/>
        </p:nvSpPr>
        <p:spPr>
          <a:xfrm>
            <a:off x="2941320"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a:t>
            </a:r>
            <a:endParaRPr lang="en-US" sz="1600" dirty="0"/>
          </a:p>
        </p:txBody>
      </p:sp>
      <p:sp>
        <p:nvSpPr>
          <p:cNvPr id="18" name="Shape 14"/>
          <p:cNvSpPr/>
          <p:nvPr/>
        </p:nvSpPr>
        <p:spPr>
          <a:xfrm>
            <a:off x="658368" y="4767072"/>
            <a:ext cx="3489960" cy="1478280"/>
          </a:xfrm>
          <a:prstGeom prst="rect">
            <a:avLst/>
          </a:prstGeom>
          <a:solidFill>
            <a:srgbClr val="F7F7F7"/>
          </a:solidFill>
          <a:ln/>
        </p:spPr>
      </p:sp>
      <p:sp>
        <p:nvSpPr>
          <p:cNvPr id="19" name="Text 15"/>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0" name="Text 16"/>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253</a:t>
            </a:r>
            <a:endParaRPr lang="en-US" sz="1400" dirty="0"/>
          </a:p>
        </p:txBody>
      </p:sp>
      <p:graphicFrame>
        <p:nvGraphicFramePr>
          <p:cNvPr id="21" name="Chart 2" descr=""/>
          <p:cNvGraphicFramePr/>
          <p:nvPr/>
        </p:nvGraphicFramePr>
        <p:xfrm>
          <a:off x="1097280" y="5654040"/>
          <a:ext cx="1972056" cy="502615"/>
        </p:xfrm>
        <a:graphic xmlns:a="http://schemas.openxmlformats.org/drawingml/2006/main">
          <a:graphicData uri="http://schemas.openxmlformats.org/drawingml/2006/chart">
            <c:chart xmlns:c="http://schemas.openxmlformats.org/drawingml/2006/chart" r:id="rId3"/>
          </a:graphicData>
        </a:graphic>
      </p:graphicFrame>
      <p:sp>
        <p:nvSpPr>
          <p:cNvPr id="22" name="Text 17"/>
          <p:cNvSpPr txBox="1"/>
          <p:nvPr/>
        </p:nvSpPr>
        <p:spPr>
          <a:xfrm>
            <a:off x="2941320"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+31</a:t>
            </a:r>
            <a:endParaRPr lang="en-US" sz="1600" dirty="0"/>
          </a:p>
        </p:txBody>
      </p:sp>
      <p:sp>
        <p:nvSpPr>
          <p:cNvPr id="23" name="Shape 18"/>
          <p:cNvSpPr/>
          <p:nvPr/>
        </p:nvSpPr>
        <p:spPr>
          <a:xfrm>
            <a:off x="4349496" y="1371600"/>
            <a:ext cx="3489960" cy="45720"/>
          </a:xfrm>
          <a:prstGeom prst="rect">
            <a:avLst/>
          </a:prstGeom>
          <a:solidFill>
            <a:srgbClr val="C2352F"/>
          </a:solidFill>
          <a:ln/>
        </p:spPr>
      </p:sp>
      <p:sp>
        <p:nvSpPr>
          <p:cNvPr id="24" name="Text 19"/>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5" name="Shape 20"/>
          <p:cNvSpPr/>
          <p:nvPr/>
        </p:nvSpPr>
        <p:spPr>
          <a:xfrm>
            <a:off x="4349496" y="1810512"/>
            <a:ext cx="3489960" cy="1478280"/>
          </a:xfrm>
          <a:prstGeom prst="rect">
            <a:avLst/>
          </a:prstGeom>
          <a:solidFill>
            <a:srgbClr val="F7F7F7"/>
          </a:solidFill>
          <a:ln/>
        </p:spPr>
      </p:sp>
      <p:sp>
        <p:nvSpPr>
          <p:cNvPr id="26" name="Text 21"/>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27" name="Text 22"/>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303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244</a:t>
            </a:r>
            <a:endParaRPr lang="en-US" sz="1400" dirty="0"/>
          </a:p>
        </p:txBody>
      </p:sp>
      <p:graphicFrame>
        <p:nvGraphicFramePr>
          <p:cNvPr id="28" name="Chart 3" descr=""/>
          <p:cNvGraphicFramePr/>
          <p:nvPr/>
        </p:nvGraphicFramePr>
        <p:xfrm>
          <a:off x="4788408" y="2697480"/>
          <a:ext cx="1972056" cy="502615"/>
        </p:xfrm>
        <a:graphic xmlns:a="http://schemas.openxmlformats.org/drawingml/2006/main">
          <a:graphicData uri="http://schemas.openxmlformats.org/drawingml/2006/chart">
            <c:chart xmlns:c="http://schemas.openxmlformats.org/drawingml/2006/chart" r:id="rId4"/>
          </a:graphicData>
        </a:graphic>
      </p:graphicFrame>
      <p:sp>
        <p:nvSpPr>
          <p:cNvPr id="29" name="Text 23"/>
          <p:cNvSpPr txBox="1"/>
          <p:nvPr/>
        </p:nvSpPr>
        <p:spPr>
          <a:xfrm>
            <a:off x="6632448" y="181051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−59</a:t>
            </a:r>
            <a:endParaRPr lang="en-US" sz="1600" dirty="0"/>
          </a:p>
        </p:txBody>
      </p:sp>
      <p:sp>
        <p:nvSpPr>
          <p:cNvPr id="30" name="Text 24"/>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1" name="Text 25"/>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139</a:t>
            </a:r>
            <a:endParaRPr lang="en-US" sz="1400" dirty="0"/>
          </a:p>
        </p:txBody>
      </p:sp>
      <p:graphicFrame>
        <p:nvGraphicFramePr>
          <p:cNvPr id="32" name="Chart 4" descr=""/>
          <p:cNvGraphicFramePr/>
          <p:nvPr/>
        </p:nvGraphicFramePr>
        <p:xfrm>
          <a:off x="4788408" y="4175760"/>
          <a:ext cx="1972056" cy="502615"/>
        </p:xfrm>
        <a:graphic xmlns:a="http://schemas.openxmlformats.org/drawingml/2006/main">
          <a:graphicData uri="http://schemas.openxmlformats.org/drawingml/2006/chart">
            <c:chart xmlns:c="http://schemas.openxmlformats.org/drawingml/2006/chart" r:id="rId5"/>
          </a:graphicData>
        </a:graphic>
      </p:graphicFrame>
      <p:sp>
        <p:nvSpPr>
          <p:cNvPr id="33" name="Text 26"/>
          <p:cNvSpPr txBox="1"/>
          <p:nvPr/>
        </p:nvSpPr>
        <p:spPr>
          <a:xfrm>
            <a:off x="6632448" y="328879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−58</a:t>
            </a:r>
            <a:endParaRPr lang="en-US" sz="1600" dirty="0"/>
          </a:p>
        </p:txBody>
      </p:sp>
      <p:sp>
        <p:nvSpPr>
          <p:cNvPr id="34" name="Shape 27"/>
          <p:cNvSpPr/>
          <p:nvPr/>
        </p:nvSpPr>
        <p:spPr>
          <a:xfrm>
            <a:off x="4349496" y="4767072"/>
            <a:ext cx="3489960" cy="1478280"/>
          </a:xfrm>
          <a:prstGeom prst="rect">
            <a:avLst/>
          </a:prstGeom>
          <a:solidFill>
            <a:srgbClr val="F7F7F7"/>
          </a:solidFill>
          <a:ln/>
        </p:spPr>
      </p:sp>
      <p:sp>
        <p:nvSpPr>
          <p:cNvPr id="35" name="Text 28"/>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36" name="Text 29"/>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123</a:t>
            </a:r>
            <a:endParaRPr lang="en-US" sz="1400" dirty="0"/>
          </a:p>
        </p:txBody>
      </p:sp>
      <p:graphicFrame>
        <p:nvGraphicFramePr>
          <p:cNvPr id="37" name="Chart 5" descr=""/>
          <p:cNvGraphicFramePr/>
          <p:nvPr/>
        </p:nvGraphicFramePr>
        <p:xfrm>
          <a:off x="4788408" y="5654040"/>
          <a:ext cx="1972056" cy="502615"/>
        </p:xfrm>
        <a:graphic xmlns:a="http://schemas.openxmlformats.org/drawingml/2006/main">
          <a:graphicData uri="http://schemas.openxmlformats.org/drawingml/2006/chart">
            <c:chart xmlns:c="http://schemas.openxmlformats.org/drawingml/2006/chart" r:id="rId6"/>
          </a:graphicData>
        </a:graphic>
      </p:graphicFrame>
      <p:sp>
        <p:nvSpPr>
          <p:cNvPr id="38" name="Text 30"/>
          <p:cNvSpPr txBox="1"/>
          <p:nvPr/>
        </p:nvSpPr>
        <p:spPr>
          <a:xfrm>
            <a:off x="6632448" y="476707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−43</a:t>
            </a:r>
            <a:endParaRPr lang="en-US" sz="1600" dirty="0"/>
          </a:p>
        </p:txBody>
      </p:sp>
      <p:sp>
        <p:nvSpPr>
          <p:cNvPr id="39" name="Shape 31"/>
          <p:cNvSpPr/>
          <p:nvPr/>
        </p:nvSpPr>
        <p:spPr>
          <a:xfrm>
            <a:off x="8040624" y="1371600"/>
            <a:ext cx="3489960" cy="45720"/>
          </a:xfrm>
          <a:prstGeom prst="rect">
            <a:avLst/>
          </a:prstGeom>
          <a:solidFill>
            <a:srgbClr val="2587C5"/>
          </a:solidFill>
          <a:ln/>
        </p:spPr>
      </p:sp>
      <p:sp>
        <p:nvSpPr>
          <p:cNvPr id="40" name="Text 32"/>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1" name="Shape 33"/>
          <p:cNvSpPr/>
          <p:nvPr/>
        </p:nvSpPr>
        <p:spPr>
          <a:xfrm>
            <a:off x="8040624" y="1810512"/>
            <a:ext cx="3489960" cy="1478280"/>
          </a:xfrm>
          <a:prstGeom prst="rect">
            <a:avLst/>
          </a:prstGeom>
          <a:solidFill>
            <a:srgbClr val="F7F7F7"/>
          </a:solidFill>
          <a:ln/>
        </p:spPr>
      </p:sp>
      <p:sp>
        <p:nvSpPr>
          <p:cNvPr id="42" name="Text 34"/>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3" name="Text 35"/>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175</a:t>
            </a:r>
            <a:endParaRPr lang="en-US" sz="1400" dirty="0"/>
          </a:p>
        </p:txBody>
      </p:sp>
      <p:graphicFrame>
        <p:nvGraphicFramePr>
          <p:cNvPr id="44" name="Chart 6" descr=""/>
          <p:cNvGraphicFramePr/>
          <p:nvPr/>
        </p:nvGraphicFramePr>
        <p:xfrm>
          <a:off x="8479536" y="2697480"/>
          <a:ext cx="1972056" cy="502615"/>
        </p:xfrm>
        <a:graphic xmlns:a="http://schemas.openxmlformats.org/drawingml/2006/main">
          <a:graphicData uri="http://schemas.openxmlformats.org/drawingml/2006/chart">
            <c:chart xmlns:c="http://schemas.openxmlformats.org/drawingml/2006/chart" r:id="rId7"/>
          </a:graphicData>
        </a:graphic>
      </p:graphicFrame>
      <p:graphicFrame>
        <p:nvGraphicFramePr>
          <p:cNvPr id="45" name="Chart 7" descr=""/>
          <p:cNvGraphicFramePr/>
          <p:nvPr/>
        </p:nvGraphicFramePr>
        <p:xfrm>
          <a:off x="8479536" y="2697480"/>
          <a:ext cx="1972056" cy="502615"/>
        </p:xfrm>
        <a:graphic xmlns:a="http://schemas.openxmlformats.org/drawingml/2006/main">
          <a:graphicData uri="http://schemas.openxmlformats.org/drawingml/2006/chart">
            <c:chart xmlns:c="http://schemas.openxmlformats.org/drawingml/2006/chart" r:id="rId8"/>
          </a:graphicData>
        </a:graphic>
      </p:graphicFrame>
      <p:sp>
        <p:nvSpPr>
          <p:cNvPr id="46" name="Text 36"/>
          <p:cNvSpPr txBox="1"/>
          <p:nvPr/>
        </p:nvSpPr>
        <p:spPr>
          <a:xfrm>
            <a:off x="10323576"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+57</a:t>
            </a:r>
            <a:endParaRPr lang="en-US" sz="1600" dirty="0"/>
          </a:p>
        </p:txBody>
      </p:sp>
      <p:sp>
        <p:nvSpPr>
          <p:cNvPr id="47" name="Text 37"/>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48" name="Text 38"/>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203</a:t>
            </a:r>
            <a:endParaRPr lang="en-US" sz="1400" dirty="0"/>
          </a:p>
        </p:txBody>
      </p:sp>
      <p:graphicFrame>
        <p:nvGraphicFramePr>
          <p:cNvPr id="49" name="Chart 8" descr=""/>
          <p:cNvGraphicFramePr/>
          <p:nvPr/>
        </p:nvGraphicFramePr>
        <p:xfrm>
          <a:off x="8479536" y="4175760"/>
          <a:ext cx="1972056" cy="502615"/>
        </p:xfrm>
        <a:graphic xmlns:a="http://schemas.openxmlformats.org/drawingml/2006/main">
          <a:graphicData uri="http://schemas.openxmlformats.org/drawingml/2006/chart">
            <c:chart xmlns:c="http://schemas.openxmlformats.org/drawingml/2006/chart" r:id="rId9"/>
          </a:graphicData>
        </a:graphic>
      </p:graphicFrame>
      <p:graphicFrame>
        <p:nvGraphicFramePr>
          <p:cNvPr id="50" name="Chart 9" descr=""/>
          <p:cNvGraphicFramePr/>
          <p:nvPr/>
        </p:nvGraphicFramePr>
        <p:xfrm>
          <a:off x="8479536" y="4175760"/>
          <a:ext cx="1972056" cy="502615"/>
        </p:xfrm>
        <a:graphic xmlns:a="http://schemas.openxmlformats.org/drawingml/2006/main">
          <a:graphicData uri="http://schemas.openxmlformats.org/drawingml/2006/chart">
            <c:chart xmlns:c="http://schemas.openxmlformats.org/drawingml/2006/chart" r:id="rId10"/>
          </a:graphicData>
        </a:graphic>
      </p:graphicFrame>
      <p:sp>
        <p:nvSpPr>
          <p:cNvPr id="51" name="Text 39"/>
          <p:cNvSpPr txBox="1"/>
          <p:nvPr/>
        </p:nvSpPr>
        <p:spPr>
          <a:xfrm>
            <a:off x="10323576"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+38</a:t>
            </a:r>
            <a:endParaRPr lang="en-US" sz="1600" dirty="0"/>
          </a:p>
        </p:txBody>
      </p:sp>
      <p:sp>
        <p:nvSpPr>
          <p:cNvPr id="52" name="Shape 40"/>
          <p:cNvSpPr/>
          <p:nvPr/>
        </p:nvSpPr>
        <p:spPr>
          <a:xfrm>
            <a:off x="8040624" y="4767072"/>
            <a:ext cx="3489960" cy="1478280"/>
          </a:xfrm>
          <a:prstGeom prst="rect">
            <a:avLst/>
          </a:prstGeom>
          <a:solidFill>
            <a:srgbClr val="F7F7F7"/>
          </a:solidFill>
          <a:ln/>
        </p:spPr>
      </p:sp>
      <p:sp>
        <p:nvSpPr>
          <p:cNvPr id="53" name="Text 41"/>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54" name="Text 42"/>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237</a:t>
            </a:r>
            <a:endParaRPr lang="en-US" sz="1400" dirty="0"/>
          </a:p>
        </p:txBody>
      </p:sp>
      <p:graphicFrame>
        <p:nvGraphicFramePr>
          <p:cNvPr id="55" name="Chart 10" descr=""/>
          <p:cNvGraphicFramePr/>
          <p:nvPr/>
        </p:nvGraphicFramePr>
        <p:xfrm>
          <a:off x="8479536" y="5654040"/>
          <a:ext cx="1972056" cy="502615"/>
        </p:xfrm>
        <a:graphic xmlns:a="http://schemas.openxmlformats.org/drawingml/2006/main">
          <a:graphicData uri="http://schemas.openxmlformats.org/drawingml/2006/chart">
            <c:chart xmlns:c="http://schemas.openxmlformats.org/drawingml/2006/chart" r:id="rId11"/>
          </a:graphicData>
        </a:graphic>
      </p:graphicFrame>
      <p:graphicFrame>
        <p:nvGraphicFramePr>
          <p:cNvPr id="56" name="Chart 11" descr=""/>
          <p:cNvGraphicFramePr/>
          <p:nvPr/>
        </p:nvGraphicFramePr>
        <p:xfrm>
          <a:off x="8479536" y="5654040"/>
          <a:ext cx="1972056" cy="502615"/>
        </p:xfrm>
        <a:graphic xmlns:a="http://schemas.openxmlformats.org/drawingml/2006/main">
          <a:graphicData uri="http://schemas.openxmlformats.org/drawingml/2006/chart">
            <c:chart xmlns:c="http://schemas.openxmlformats.org/drawingml/2006/chart" r:id="rId12"/>
          </a:graphicData>
        </a:graphic>
      </p:graphicFrame>
      <p:sp>
        <p:nvSpPr>
          <p:cNvPr id="57" name="Text 43"/>
          <p:cNvSpPr txBox="1"/>
          <p:nvPr/>
        </p:nvSpPr>
        <p:spPr>
          <a:xfrm>
            <a:off x="10323576"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+26</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Employee</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26.0</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26.8</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+0.8</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+3.0%</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&amp; W ROs per Fixed Employee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71856"/>
          </a:xfrm>
          <a:prstGeom prst="rect">
            <a:avLst/>
          </a:prstGeom>
          <a:solidFill>
            <a:srgbClr val="E6F6EE"/>
          </a:solidFill>
          <a:ln/>
        </p:spPr>
      </p:sp>
      <p:sp>
        <p:nvSpPr>
          <p:cNvPr id="30"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0.8 to 26.8, ahead of 2025 in eight of nine months. Headcount fell 5.1%; ROs fell 2.3%.</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Employee</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56235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&amp; W ROS PER FIXED EMPLOYEE</a:t>
            </a:r>
            <a:endParaRPr lang="en-US" sz="1500" dirty="0"/>
          </a:p>
        </p:txBody>
      </p:sp>
      <p:sp>
        <p:nvSpPr>
          <p:cNvPr id="9" name="Text 7"/>
          <p:cNvSpPr txBox="1"/>
          <p:nvPr/>
        </p:nvSpPr>
        <p:spPr>
          <a:xfrm>
            <a:off x="4476750" y="1335024"/>
            <a:ext cx="356997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26.8</a:t>
            </a:r>
            <a:endParaRPr lang="en-US" sz="2000" dirty="0"/>
          </a:p>
        </p:txBody>
      </p:sp>
      <p:sp>
        <p:nvSpPr>
          <p:cNvPr id="11" name="Text 9"/>
          <p:cNvSpPr txBox="1"/>
          <p:nvPr/>
        </p:nvSpPr>
        <p:spPr>
          <a:xfrm>
            <a:off x="658368" y="1847088"/>
            <a:ext cx="5303520" cy="246888"/>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LUXURY · AVERAGE 17.4</a:t>
            </a:r>
            <a:endParaRPr lang="en-US" sz="1300" dirty="0"/>
          </a:p>
        </p:txBody>
      </p:sp>
      <p:sp>
        <p:nvSpPr>
          <p:cNvPr id="12" name="Shape 10"/>
          <p:cNvSpPr/>
          <p:nvPr/>
        </p:nvSpPr>
        <p:spPr>
          <a:xfrm>
            <a:off x="658368" y="2075688"/>
            <a:ext cx="5303520" cy="18288"/>
          </a:xfrm>
          <a:prstGeom prst="rect">
            <a:avLst/>
          </a:prstGeom>
          <a:solidFill>
            <a:srgbClr val="0B2C4A"/>
          </a:solidFill>
          <a:ln/>
        </p:spPr>
      </p:sp>
      <p:sp>
        <p:nvSpPr>
          <p:cNvPr id="13" name="Text 11"/>
          <p:cNvSpPr txBox="1"/>
          <p:nvPr/>
        </p:nvSpPr>
        <p:spPr>
          <a:xfrm>
            <a:off x="658368" y="209397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4" name="Text 12"/>
          <p:cNvSpPr txBox="1"/>
          <p:nvPr/>
        </p:nvSpPr>
        <p:spPr>
          <a:xfrm>
            <a:off x="1014984" y="209397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5" name="Shape 13"/>
          <p:cNvSpPr/>
          <p:nvPr/>
        </p:nvSpPr>
        <p:spPr>
          <a:xfrm>
            <a:off x="3008376" y="2155698"/>
            <a:ext cx="1658471" cy="123444"/>
          </a:xfrm>
          <a:prstGeom prst="rect">
            <a:avLst/>
          </a:prstGeom>
          <a:solidFill>
            <a:srgbClr val="12A566"/>
          </a:solidFill>
          <a:ln/>
        </p:spPr>
      </p:sp>
      <p:sp>
        <p:nvSpPr>
          <p:cNvPr id="16" name="Text 14"/>
          <p:cNvSpPr txBox="1"/>
          <p:nvPr/>
        </p:nvSpPr>
        <p:spPr>
          <a:xfrm>
            <a:off x="4754880" y="209397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24.9</a:t>
            </a:r>
            <a:endParaRPr lang="en-US" sz="1200" dirty="0"/>
          </a:p>
        </p:txBody>
      </p:sp>
      <p:sp>
        <p:nvSpPr>
          <p:cNvPr id="17" name="Text 15"/>
          <p:cNvSpPr txBox="1"/>
          <p:nvPr/>
        </p:nvSpPr>
        <p:spPr>
          <a:xfrm>
            <a:off x="658368" y="234086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8" name="Text 16"/>
          <p:cNvSpPr txBox="1"/>
          <p:nvPr/>
        </p:nvSpPr>
        <p:spPr>
          <a:xfrm>
            <a:off x="1014984" y="234086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9" name="Shape 17"/>
          <p:cNvSpPr/>
          <p:nvPr/>
        </p:nvSpPr>
        <p:spPr>
          <a:xfrm>
            <a:off x="3008376" y="2402586"/>
            <a:ext cx="1631155" cy="123444"/>
          </a:xfrm>
          <a:prstGeom prst="rect">
            <a:avLst/>
          </a:prstGeom>
          <a:solidFill>
            <a:srgbClr val="12A566"/>
          </a:solidFill>
          <a:ln/>
        </p:spPr>
      </p:sp>
      <p:sp>
        <p:nvSpPr>
          <p:cNvPr id="20" name="Text 18"/>
          <p:cNvSpPr txBox="1"/>
          <p:nvPr/>
        </p:nvSpPr>
        <p:spPr>
          <a:xfrm>
            <a:off x="4754880" y="234086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24.5</a:t>
            </a:r>
            <a:endParaRPr lang="en-US" sz="1200" dirty="0"/>
          </a:p>
        </p:txBody>
      </p:sp>
      <p:sp>
        <p:nvSpPr>
          <p:cNvPr id="21" name="Text 19"/>
          <p:cNvSpPr txBox="1"/>
          <p:nvPr/>
        </p:nvSpPr>
        <p:spPr>
          <a:xfrm>
            <a:off x="658368" y="258775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2" name="Text 20"/>
          <p:cNvSpPr txBox="1"/>
          <p:nvPr/>
        </p:nvSpPr>
        <p:spPr>
          <a:xfrm>
            <a:off x="1014984" y="258775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23" name="Shape 21"/>
          <p:cNvSpPr/>
          <p:nvPr/>
        </p:nvSpPr>
        <p:spPr>
          <a:xfrm>
            <a:off x="3008376" y="2649474"/>
            <a:ext cx="1292169" cy="123444"/>
          </a:xfrm>
          <a:prstGeom prst="rect">
            <a:avLst/>
          </a:prstGeom>
          <a:solidFill>
            <a:srgbClr val="12A566"/>
          </a:solidFill>
          <a:ln/>
        </p:spPr>
      </p:sp>
      <p:sp>
        <p:nvSpPr>
          <p:cNvPr id="24" name="Text 22"/>
          <p:cNvSpPr txBox="1"/>
          <p:nvPr/>
        </p:nvSpPr>
        <p:spPr>
          <a:xfrm>
            <a:off x="4754880" y="2587752"/>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19.4</a:t>
            </a:r>
            <a:endParaRPr lang="en-US" sz="1200" dirty="0"/>
          </a:p>
        </p:txBody>
      </p:sp>
      <p:sp>
        <p:nvSpPr>
          <p:cNvPr id="25" name="Text 23"/>
          <p:cNvSpPr txBox="1"/>
          <p:nvPr/>
        </p:nvSpPr>
        <p:spPr>
          <a:xfrm>
            <a:off x="658368" y="283464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6" name="Text 24"/>
          <p:cNvSpPr txBox="1"/>
          <p:nvPr/>
        </p:nvSpPr>
        <p:spPr>
          <a:xfrm>
            <a:off x="1014984" y="283464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27" name="Shape 25"/>
          <p:cNvSpPr/>
          <p:nvPr/>
        </p:nvSpPr>
        <p:spPr>
          <a:xfrm>
            <a:off x="3008376" y="2896362"/>
            <a:ext cx="1269367" cy="123444"/>
          </a:xfrm>
          <a:prstGeom prst="rect">
            <a:avLst/>
          </a:prstGeom>
          <a:solidFill>
            <a:srgbClr val="12A566"/>
          </a:solidFill>
          <a:ln/>
        </p:spPr>
      </p:sp>
      <p:sp>
        <p:nvSpPr>
          <p:cNvPr id="28" name="Text 26"/>
          <p:cNvSpPr txBox="1"/>
          <p:nvPr/>
        </p:nvSpPr>
        <p:spPr>
          <a:xfrm>
            <a:off x="4754880" y="2834640"/>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19.0</a:t>
            </a:r>
            <a:endParaRPr lang="en-US" sz="1200" dirty="0"/>
          </a:p>
        </p:txBody>
      </p:sp>
      <p:sp>
        <p:nvSpPr>
          <p:cNvPr id="29" name="Text 27"/>
          <p:cNvSpPr txBox="1"/>
          <p:nvPr/>
        </p:nvSpPr>
        <p:spPr>
          <a:xfrm>
            <a:off x="658368" y="308152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0" name="Text 28"/>
          <p:cNvSpPr txBox="1"/>
          <p:nvPr/>
        </p:nvSpPr>
        <p:spPr>
          <a:xfrm>
            <a:off x="1014984" y="308152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31" name="Shape 29"/>
          <p:cNvSpPr/>
          <p:nvPr/>
        </p:nvSpPr>
        <p:spPr>
          <a:xfrm>
            <a:off x="3008376" y="3143250"/>
            <a:ext cx="1120679" cy="123444"/>
          </a:xfrm>
          <a:prstGeom prst="rect">
            <a:avLst/>
          </a:prstGeom>
          <a:solidFill>
            <a:srgbClr val="C2352F"/>
          </a:solidFill>
          <a:ln/>
        </p:spPr>
      </p:sp>
      <p:sp>
        <p:nvSpPr>
          <p:cNvPr id="32" name="Text 30"/>
          <p:cNvSpPr txBox="1"/>
          <p:nvPr/>
        </p:nvSpPr>
        <p:spPr>
          <a:xfrm>
            <a:off x="4754880" y="3081528"/>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16.8</a:t>
            </a:r>
            <a:endParaRPr lang="en-US" sz="1200" dirty="0"/>
          </a:p>
        </p:txBody>
      </p:sp>
      <p:sp>
        <p:nvSpPr>
          <p:cNvPr id="33" name="Text 31"/>
          <p:cNvSpPr txBox="1"/>
          <p:nvPr/>
        </p:nvSpPr>
        <p:spPr>
          <a:xfrm>
            <a:off x="658368" y="332841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4" name="Text 32"/>
          <p:cNvSpPr txBox="1"/>
          <p:nvPr/>
        </p:nvSpPr>
        <p:spPr>
          <a:xfrm>
            <a:off x="1014984" y="332841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35" name="Shape 33"/>
          <p:cNvSpPr/>
          <p:nvPr/>
        </p:nvSpPr>
        <p:spPr>
          <a:xfrm>
            <a:off x="3008376" y="3390138"/>
            <a:ext cx="982182" cy="123444"/>
          </a:xfrm>
          <a:prstGeom prst="rect">
            <a:avLst/>
          </a:prstGeom>
          <a:solidFill>
            <a:srgbClr val="C2352F"/>
          </a:solidFill>
          <a:ln/>
        </p:spPr>
      </p:sp>
      <p:sp>
        <p:nvSpPr>
          <p:cNvPr id="36" name="Text 34"/>
          <p:cNvSpPr txBox="1"/>
          <p:nvPr/>
        </p:nvSpPr>
        <p:spPr>
          <a:xfrm>
            <a:off x="4754880" y="332841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14.7</a:t>
            </a:r>
            <a:endParaRPr lang="en-US" sz="1200" dirty="0"/>
          </a:p>
        </p:txBody>
      </p:sp>
      <p:sp>
        <p:nvSpPr>
          <p:cNvPr id="37" name="Text 35"/>
          <p:cNvSpPr txBox="1"/>
          <p:nvPr/>
        </p:nvSpPr>
        <p:spPr>
          <a:xfrm>
            <a:off x="658368" y="357530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8" name="Text 36"/>
          <p:cNvSpPr txBox="1"/>
          <p:nvPr/>
        </p:nvSpPr>
        <p:spPr>
          <a:xfrm>
            <a:off x="1014984" y="357530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39" name="Shape 37"/>
          <p:cNvSpPr/>
          <p:nvPr/>
        </p:nvSpPr>
        <p:spPr>
          <a:xfrm>
            <a:off x="3008376" y="3637026"/>
            <a:ext cx="981891" cy="123444"/>
          </a:xfrm>
          <a:prstGeom prst="rect">
            <a:avLst/>
          </a:prstGeom>
          <a:solidFill>
            <a:srgbClr val="C2352F"/>
          </a:solidFill>
          <a:ln/>
        </p:spPr>
      </p:sp>
      <p:sp>
        <p:nvSpPr>
          <p:cNvPr id="40" name="Text 38"/>
          <p:cNvSpPr txBox="1"/>
          <p:nvPr/>
        </p:nvSpPr>
        <p:spPr>
          <a:xfrm>
            <a:off x="4754880" y="357530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14.7</a:t>
            </a:r>
            <a:endParaRPr lang="en-US" sz="1200" dirty="0"/>
          </a:p>
        </p:txBody>
      </p:sp>
      <p:sp>
        <p:nvSpPr>
          <p:cNvPr id="41" name="Text 39"/>
          <p:cNvSpPr txBox="1"/>
          <p:nvPr/>
        </p:nvSpPr>
        <p:spPr>
          <a:xfrm>
            <a:off x="658368" y="382219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2" name="Text 40"/>
          <p:cNvSpPr txBox="1"/>
          <p:nvPr/>
        </p:nvSpPr>
        <p:spPr>
          <a:xfrm>
            <a:off x="1014984" y="382219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43" name="Shape 41"/>
          <p:cNvSpPr/>
          <p:nvPr/>
        </p:nvSpPr>
        <p:spPr>
          <a:xfrm>
            <a:off x="3008376" y="3883914"/>
            <a:ext cx="981057" cy="123444"/>
          </a:xfrm>
          <a:prstGeom prst="rect">
            <a:avLst/>
          </a:prstGeom>
          <a:solidFill>
            <a:srgbClr val="C2352F"/>
          </a:solidFill>
          <a:ln/>
        </p:spPr>
      </p:sp>
      <p:sp>
        <p:nvSpPr>
          <p:cNvPr id="44" name="Text 42"/>
          <p:cNvSpPr txBox="1"/>
          <p:nvPr/>
        </p:nvSpPr>
        <p:spPr>
          <a:xfrm>
            <a:off x="4754880" y="382219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14.7</a:t>
            </a:r>
            <a:endParaRPr lang="en-US" sz="1200" dirty="0"/>
          </a:p>
        </p:txBody>
      </p:sp>
      <p:sp>
        <p:nvSpPr>
          <p:cNvPr id="45" name="Text 43"/>
          <p:cNvSpPr txBox="1"/>
          <p:nvPr/>
        </p:nvSpPr>
        <p:spPr>
          <a:xfrm>
            <a:off x="658368" y="406908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6" name="Text 44"/>
          <p:cNvSpPr txBox="1"/>
          <p:nvPr/>
        </p:nvSpPr>
        <p:spPr>
          <a:xfrm>
            <a:off x="1014984" y="406908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47" name="Shape 45"/>
          <p:cNvSpPr/>
          <p:nvPr/>
        </p:nvSpPr>
        <p:spPr>
          <a:xfrm>
            <a:off x="3008376" y="4130802"/>
            <a:ext cx="910335" cy="123444"/>
          </a:xfrm>
          <a:prstGeom prst="rect">
            <a:avLst/>
          </a:prstGeom>
          <a:solidFill>
            <a:srgbClr val="C2352F"/>
          </a:solidFill>
          <a:ln/>
        </p:spPr>
      </p:sp>
      <p:sp>
        <p:nvSpPr>
          <p:cNvPr id="48" name="Text 46"/>
          <p:cNvSpPr txBox="1"/>
          <p:nvPr/>
        </p:nvSpPr>
        <p:spPr>
          <a:xfrm>
            <a:off x="4754880" y="406908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13.6</a:t>
            </a:r>
            <a:endParaRPr lang="en-US" sz="1200" dirty="0"/>
          </a:p>
        </p:txBody>
      </p:sp>
      <p:sp>
        <p:nvSpPr>
          <p:cNvPr id="49" name="Shape 47"/>
          <p:cNvSpPr/>
          <p:nvPr/>
        </p:nvSpPr>
        <p:spPr>
          <a:xfrm>
            <a:off x="658368" y="4297680"/>
            <a:ext cx="5303520" cy="18288"/>
          </a:xfrm>
          <a:prstGeom prst="rect">
            <a:avLst/>
          </a:prstGeom>
          <a:solidFill>
            <a:srgbClr val="0B2C4A"/>
          </a:solidFill>
          <a:ln/>
        </p:spPr>
      </p:sp>
      <p:sp>
        <p:nvSpPr>
          <p:cNvPr id="50" name="Text 48"/>
          <p:cNvSpPr txBox="1"/>
          <p:nvPr/>
        </p:nvSpPr>
        <p:spPr>
          <a:xfrm>
            <a:off x="658368" y="4315968"/>
            <a:ext cx="5303520" cy="246888"/>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NON-LUXURY · AVERAGE 29.3</a:t>
            </a:r>
            <a:endParaRPr lang="en-US" sz="1300" dirty="0"/>
          </a:p>
        </p:txBody>
      </p:sp>
      <p:sp>
        <p:nvSpPr>
          <p:cNvPr id="51" name="Shape 49"/>
          <p:cNvSpPr/>
          <p:nvPr/>
        </p:nvSpPr>
        <p:spPr>
          <a:xfrm>
            <a:off x="658368" y="4544568"/>
            <a:ext cx="5303520" cy="18288"/>
          </a:xfrm>
          <a:prstGeom prst="rect">
            <a:avLst/>
          </a:prstGeom>
          <a:solidFill>
            <a:srgbClr val="0B2C4A"/>
          </a:solidFill>
          <a:ln/>
        </p:spPr>
      </p:sp>
      <p:sp>
        <p:nvSpPr>
          <p:cNvPr id="52" name="Text 50"/>
          <p:cNvSpPr txBox="1"/>
          <p:nvPr/>
        </p:nvSpPr>
        <p:spPr>
          <a:xfrm>
            <a:off x="658368" y="456285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53" name="Text 51"/>
          <p:cNvSpPr txBox="1"/>
          <p:nvPr/>
        </p:nvSpPr>
        <p:spPr>
          <a:xfrm>
            <a:off x="1014984" y="456285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54" name="Shape 52"/>
          <p:cNvSpPr/>
          <p:nvPr/>
        </p:nvSpPr>
        <p:spPr>
          <a:xfrm>
            <a:off x="3008376" y="4624578"/>
            <a:ext cx="1584948" cy="123444"/>
          </a:xfrm>
          <a:prstGeom prst="rect">
            <a:avLst/>
          </a:prstGeom>
          <a:solidFill>
            <a:srgbClr val="12A566"/>
          </a:solidFill>
          <a:ln/>
        </p:spPr>
      </p:sp>
      <p:sp>
        <p:nvSpPr>
          <p:cNvPr id="55" name="Text 53"/>
          <p:cNvSpPr txBox="1"/>
          <p:nvPr/>
        </p:nvSpPr>
        <p:spPr>
          <a:xfrm>
            <a:off x="4754880" y="456285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39.8</a:t>
            </a:r>
            <a:endParaRPr lang="en-US" sz="1200" dirty="0"/>
          </a:p>
        </p:txBody>
      </p:sp>
      <p:sp>
        <p:nvSpPr>
          <p:cNvPr id="56" name="Text 54"/>
          <p:cNvSpPr txBox="1"/>
          <p:nvPr/>
        </p:nvSpPr>
        <p:spPr>
          <a:xfrm>
            <a:off x="658368" y="480974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57" name="Text 55"/>
          <p:cNvSpPr txBox="1"/>
          <p:nvPr/>
        </p:nvSpPr>
        <p:spPr>
          <a:xfrm>
            <a:off x="1014984" y="480974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58" name="Shape 56"/>
          <p:cNvSpPr/>
          <p:nvPr/>
        </p:nvSpPr>
        <p:spPr>
          <a:xfrm>
            <a:off x="3008376" y="4871466"/>
            <a:ext cx="1531944" cy="123444"/>
          </a:xfrm>
          <a:prstGeom prst="rect">
            <a:avLst/>
          </a:prstGeom>
          <a:solidFill>
            <a:srgbClr val="12A566"/>
          </a:solidFill>
          <a:ln/>
        </p:spPr>
      </p:sp>
      <p:sp>
        <p:nvSpPr>
          <p:cNvPr id="59" name="Text 57"/>
          <p:cNvSpPr txBox="1"/>
          <p:nvPr/>
        </p:nvSpPr>
        <p:spPr>
          <a:xfrm>
            <a:off x="4754880" y="480974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38.5</a:t>
            </a:r>
            <a:endParaRPr lang="en-US" sz="1200" dirty="0"/>
          </a:p>
        </p:txBody>
      </p:sp>
      <p:sp>
        <p:nvSpPr>
          <p:cNvPr id="60" name="Text 58"/>
          <p:cNvSpPr txBox="1"/>
          <p:nvPr/>
        </p:nvSpPr>
        <p:spPr>
          <a:xfrm>
            <a:off x="658368" y="505663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61" name="Text 59"/>
          <p:cNvSpPr txBox="1"/>
          <p:nvPr/>
        </p:nvSpPr>
        <p:spPr>
          <a:xfrm>
            <a:off x="1014984" y="505663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62" name="Shape 60"/>
          <p:cNvSpPr/>
          <p:nvPr/>
        </p:nvSpPr>
        <p:spPr>
          <a:xfrm>
            <a:off x="3008376" y="5118354"/>
            <a:ext cx="1488739" cy="123444"/>
          </a:xfrm>
          <a:prstGeom prst="rect">
            <a:avLst/>
          </a:prstGeom>
          <a:solidFill>
            <a:srgbClr val="12A566"/>
          </a:solidFill>
          <a:ln/>
        </p:spPr>
      </p:sp>
      <p:sp>
        <p:nvSpPr>
          <p:cNvPr id="63" name="Text 61"/>
          <p:cNvSpPr txBox="1"/>
          <p:nvPr/>
        </p:nvSpPr>
        <p:spPr>
          <a:xfrm>
            <a:off x="4754880" y="5056632"/>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37.4</a:t>
            </a:r>
            <a:endParaRPr lang="en-US" sz="1200" dirty="0"/>
          </a:p>
        </p:txBody>
      </p:sp>
      <p:sp>
        <p:nvSpPr>
          <p:cNvPr id="64" name="Text 62"/>
          <p:cNvSpPr txBox="1"/>
          <p:nvPr/>
        </p:nvSpPr>
        <p:spPr>
          <a:xfrm>
            <a:off x="658368" y="530352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65" name="Text 63"/>
          <p:cNvSpPr txBox="1"/>
          <p:nvPr/>
        </p:nvSpPr>
        <p:spPr>
          <a:xfrm>
            <a:off x="1014984" y="530352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66" name="Shape 64"/>
          <p:cNvSpPr/>
          <p:nvPr/>
        </p:nvSpPr>
        <p:spPr>
          <a:xfrm>
            <a:off x="3008376" y="5365242"/>
            <a:ext cx="1465284" cy="123444"/>
          </a:xfrm>
          <a:prstGeom prst="rect">
            <a:avLst/>
          </a:prstGeom>
          <a:solidFill>
            <a:srgbClr val="12A566"/>
          </a:solidFill>
          <a:ln/>
        </p:spPr>
      </p:sp>
      <p:sp>
        <p:nvSpPr>
          <p:cNvPr id="67" name="Text 65"/>
          <p:cNvSpPr txBox="1"/>
          <p:nvPr/>
        </p:nvSpPr>
        <p:spPr>
          <a:xfrm>
            <a:off x="4754880" y="5303520"/>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36.8</a:t>
            </a:r>
            <a:endParaRPr lang="en-US" sz="1200" dirty="0"/>
          </a:p>
        </p:txBody>
      </p:sp>
      <p:sp>
        <p:nvSpPr>
          <p:cNvPr id="68" name="Text 66"/>
          <p:cNvSpPr txBox="1"/>
          <p:nvPr/>
        </p:nvSpPr>
        <p:spPr>
          <a:xfrm>
            <a:off x="658368" y="555040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69" name="Text 67"/>
          <p:cNvSpPr txBox="1"/>
          <p:nvPr/>
        </p:nvSpPr>
        <p:spPr>
          <a:xfrm>
            <a:off x="1014984" y="555040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70" name="Shape 68"/>
          <p:cNvSpPr/>
          <p:nvPr/>
        </p:nvSpPr>
        <p:spPr>
          <a:xfrm>
            <a:off x="3008376" y="5612130"/>
            <a:ext cx="1453454" cy="123444"/>
          </a:xfrm>
          <a:prstGeom prst="rect">
            <a:avLst/>
          </a:prstGeom>
          <a:solidFill>
            <a:srgbClr val="12A566"/>
          </a:solidFill>
          <a:ln/>
        </p:spPr>
      </p:sp>
      <p:sp>
        <p:nvSpPr>
          <p:cNvPr id="71" name="Text 69"/>
          <p:cNvSpPr txBox="1"/>
          <p:nvPr/>
        </p:nvSpPr>
        <p:spPr>
          <a:xfrm>
            <a:off x="4754880" y="5550408"/>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36.5</a:t>
            </a:r>
            <a:endParaRPr lang="en-US" sz="1200" dirty="0"/>
          </a:p>
        </p:txBody>
      </p:sp>
      <p:sp>
        <p:nvSpPr>
          <p:cNvPr id="72" name="Text 70"/>
          <p:cNvSpPr txBox="1"/>
          <p:nvPr/>
        </p:nvSpPr>
        <p:spPr>
          <a:xfrm>
            <a:off x="658368" y="579729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73" name="Text 71"/>
          <p:cNvSpPr txBox="1"/>
          <p:nvPr/>
        </p:nvSpPr>
        <p:spPr>
          <a:xfrm>
            <a:off x="1014984" y="579729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74" name="Shape 72"/>
          <p:cNvSpPr/>
          <p:nvPr/>
        </p:nvSpPr>
        <p:spPr>
          <a:xfrm>
            <a:off x="3008376" y="5859018"/>
            <a:ext cx="1392914" cy="123444"/>
          </a:xfrm>
          <a:prstGeom prst="rect">
            <a:avLst/>
          </a:prstGeom>
          <a:solidFill>
            <a:srgbClr val="12A566"/>
          </a:solidFill>
          <a:ln/>
        </p:spPr>
      </p:sp>
      <p:sp>
        <p:nvSpPr>
          <p:cNvPr id="75" name="Text 73"/>
          <p:cNvSpPr txBox="1"/>
          <p:nvPr/>
        </p:nvSpPr>
        <p:spPr>
          <a:xfrm>
            <a:off x="4754880" y="579729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35.0</a:t>
            </a:r>
            <a:endParaRPr lang="en-US" sz="1200" dirty="0"/>
          </a:p>
        </p:txBody>
      </p:sp>
      <p:sp>
        <p:nvSpPr>
          <p:cNvPr id="76" name="Text 74"/>
          <p:cNvSpPr txBox="1"/>
          <p:nvPr/>
        </p:nvSpPr>
        <p:spPr>
          <a:xfrm>
            <a:off x="658368" y="604418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77" name="Text 75"/>
          <p:cNvSpPr txBox="1"/>
          <p:nvPr/>
        </p:nvSpPr>
        <p:spPr>
          <a:xfrm>
            <a:off x="1014984" y="604418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78" name="Shape 76"/>
          <p:cNvSpPr/>
          <p:nvPr/>
        </p:nvSpPr>
        <p:spPr>
          <a:xfrm>
            <a:off x="3008376" y="6105906"/>
            <a:ext cx="1382090" cy="123444"/>
          </a:xfrm>
          <a:prstGeom prst="rect">
            <a:avLst/>
          </a:prstGeom>
          <a:solidFill>
            <a:srgbClr val="12A566"/>
          </a:solidFill>
          <a:ln/>
        </p:spPr>
      </p:sp>
      <p:sp>
        <p:nvSpPr>
          <p:cNvPr id="79" name="Text 77"/>
          <p:cNvSpPr txBox="1"/>
          <p:nvPr/>
        </p:nvSpPr>
        <p:spPr>
          <a:xfrm>
            <a:off x="4754880" y="604418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34.7</a:t>
            </a:r>
            <a:endParaRPr lang="en-US" sz="1200" dirty="0"/>
          </a:p>
        </p:txBody>
      </p:sp>
      <p:sp>
        <p:nvSpPr>
          <p:cNvPr id="80" name="Text 78"/>
          <p:cNvSpPr txBox="1"/>
          <p:nvPr/>
        </p:nvSpPr>
        <p:spPr>
          <a:xfrm>
            <a:off x="6208776" y="1847088"/>
            <a:ext cx="5303520" cy="246888"/>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NON-LUXURY · AVERAGE 29.3  (CONTINUED)</a:t>
            </a:r>
            <a:endParaRPr lang="en-US" sz="1300" dirty="0"/>
          </a:p>
        </p:txBody>
      </p:sp>
      <p:sp>
        <p:nvSpPr>
          <p:cNvPr id="81" name="Shape 79"/>
          <p:cNvSpPr/>
          <p:nvPr/>
        </p:nvSpPr>
        <p:spPr>
          <a:xfrm>
            <a:off x="6208776" y="2075688"/>
            <a:ext cx="5303520" cy="18288"/>
          </a:xfrm>
          <a:prstGeom prst="rect">
            <a:avLst/>
          </a:prstGeom>
          <a:solidFill>
            <a:srgbClr val="0B2C4A"/>
          </a:solidFill>
          <a:ln/>
        </p:spPr>
      </p:sp>
      <p:sp>
        <p:nvSpPr>
          <p:cNvPr id="82" name="Text 80"/>
          <p:cNvSpPr txBox="1"/>
          <p:nvPr/>
        </p:nvSpPr>
        <p:spPr>
          <a:xfrm>
            <a:off x="6208776" y="209397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83" name="Text 81"/>
          <p:cNvSpPr txBox="1"/>
          <p:nvPr/>
        </p:nvSpPr>
        <p:spPr>
          <a:xfrm>
            <a:off x="6565392" y="209397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84" name="Shape 82"/>
          <p:cNvSpPr/>
          <p:nvPr/>
        </p:nvSpPr>
        <p:spPr>
          <a:xfrm>
            <a:off x="8558784" y="2155698"/>
            <a:ext cx="1290776" cy="123444"/>
          </a:xfrm>
          <a:prstGeom prst="rect">
            <a:avLst/>
          </a:prstGeom>
          <a:solidFill>
            <a:srgbClr val="12A566"/>
          </a:solidFill>
          <a:ln/>
        </p:spPr>
      </p:sp>
      <p:sp>
        <p:nvSpPr>
          <p:cNvPr id="85" name="Text 83"/>
          <p:cNvSpPr txBox="1"/>
          <p:nvPr/>
        </p:nvSpPr>
        <p:spPr>
          <a:xfrm>
            <a:off x="10305288" y="209397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32.4</a:t>
            </a:r>
            <a:endParaRPr lang="en-US" sz="1200" dirty="0"/>
          </a:p>
        </p:txBody>
      </p:sp>
      <p:sp>
        <p:nvSpPr>
          <p:cNvPr id="86" name="Text 84"/>
          <p:cNvSpPr txBox="1"/>
          <p:nvPr/>
        </p:nvSpPr>
        <p:spPr>
          <a:xfrm>
            <a:off x="6208776" y="234086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87" name="Text 85"/>
          <p:cNvSpPr txBox="1"/>
          <p:nvPr/>
        </p:nvSpPr>
        <p:spPr>
          <a:xfrm>
            <a:off x="6565392" y="234086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88" name="Shape 86"/>
          <p:cNvSpPr/>
          <p:nvPr/>
        </p:nvSpPr>
        <p:spPr>
          <a:xfrm>
            <a:off x="8558784" y="2402586"/>
            <a:ext cx="1250314" cy="123444"/>
          </a:xfrm>
          <a:prstGeom prst="rect">
            <a:avLst/>
          </a:prstGeom>
          <a:solidFill>
            <a:srgbClr val="12A566"/>
          </a:solidFill>
          <a:ln/>
        </p:spPr>
      </p:sp>
      <p:sp>
        <p:nvSpPr>
          <p:cNvPr id="89" name="Text 87"/>
          <p:cNvSpPr txBox="1"/>
          <p:nvPr/>
        </p:nvSpPr>
        <p:spPr>
          <a:xfrm>
            <a:off x="10305288" y="234086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31.4</a:t>
            </a:r>
            <a:endParaRPr lang="en-US" sz="1200" dirty="0"/>
          </a:p>
        </p:txBody>
      </p:sp>
      <p:sp>
        <p:nvSpPr>
          <p:cNvPr id="90" name="Text 88"/>
          <p:cNvSpPr txBox="1"/>
          <p:nvPr/>
        </p:nvSpPr>
        <p:spPr>
          <a:xfrm>
            <a:off x="6208776" y="258775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91" name="Text 89"/>
          <p:cNvSpPr txBox="1"/>
          <p:nvPr/>
        </p:nvSpPr>
        <p:spPr>
          <a:xfrm>
            <a:off x="6565392" y="258775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92" name="Shape 90"/>
          <p:cNvSpPr/>
          <p:nvPr/>
        </p:nvSpPr>
        <p:spPr>
          <a:xfrm>
            <a:off x="8558784" y="2649474"/>
            <a:ext cx="1249903" cy="123444"/>
          </a:xfrm>
          <a:prstGeom prst="rect">
            <a:avLst/>
          </a:prstGeom>
          <a:solidFill>
            <a:srgbClr val="12A566"/>
          </a:solidFill>
          <a:ln/>
        </p:spPr>
      </p:sp>
      <p:sp>
        <p:nvSpPr>
          <p:cNvPr id="93" name="Text 91"/>
          <p:cNvSpPr txBox="1"/>
          <p:nvPr/>
        </p:nvSpPr>
        <p:spPr>
          <a:xfrm>
            <a:off x="10305288" y="2587752"/>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31.4</a:t>
            </a:r>
            <a:endParaRPr lang="en-US" sz="1200" dirty="0"/>
          </a:p>
        </p:txBody>
      </p:sp>
      <p:sp>
        <p:nvSpPr>
          <p:cNvPr id="94" name="Text 92"/>
          <p:cNvSpPr txBox="1"/>
          <p:nvPr/>
        </p:nvSpPr>
        <p:spPr>
          <a:xfrm>
            <a:off x="6208776" y="283464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95" name="Text 93"/>
          <p:cNvSpPr txBox="1"/>
          <p:nvPr/>
        </p:nvSpPr>
        <p:spPr>
          <a:xfrm>
            <a:off x="6565392" y="283464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96" name="Shape 94"/>
          <p:cNvSpPr/>
          <p:nvPr/>
        </p:nvSpPr>
        <p:spPr>
          <a:xfrm>
            <a:off x="8558784" y="2896362"/>
            <a:ext cx="1249400" cy="123444"/>
          </a:xfrm>
          <a:prstGeom prst="rect">
            <a:avLst/>
          </a:prstGeom>
          <a:solidFill>
            <a:srgbClr val="12A566"/>
          </a:solidFill>
          <a:ln/>
        </p:spPr>
      </p:sp>
      <p:sp>
        <p:nvSpPr>
          <p:cNvPr id="97" name="Text 95"/>
          <p:cNvSpPr txBox="1"/>
          <p:nvPr/>
        </p:nvSpPr>
        <p:spPr>
          <a:xfrm>
            <a:off x="10305288" y="2834640"/>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31.4</a:t>
            </a:r>
            <a:endParaRPr lang="en-US" sz="1200" dirty="0"/>
          </a:p>
        </p:txBody>
      </p:sp>
      <p:sp>
        <p:nvSpPr>
          <p:cNvPr id="98" name="Text 96"/>
          <p:cNvSpPr txBox="1"/>
          <p:nvPr/>
        </p:nvSpPr>
        <p:spPr>
          <a:xfrm>
            <a:off x="6208776" y="308152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99" name="Text 97"/>
          <p:cNvSpPr txBox="1"/>
          <p:nvPr/>
        </p:nvSpPr>
        <p:spPr>
          <a:xfrm>
            <a:off x="6565392" y="308152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00" name="Shape 98"/>
          <p:cNvSpPr/>
          <p:nvPr/>
        </p:nvSpPr>
        <p:spPr>
          <a:xfrm>
            <a:off x="8558784" y="3143250"/>
            <a:ext cx="1244020" cy="123444"/>
          </a:xfrm>
          <a:prstGeom prst="rect">
            <a:avLst/>
          </a:prstGeom>
          <a:solidFill>
            <a:srgbClr val="12A566"/>
          </a:solidFill>
          <a:ln/>
        </p:spPr>
      </p:sp>
      <p:sp>
        <p:nvSpPr>
          <p:cNvPr id="101" name="Text 99"/>
          <p:cNvSpPr txBox="1"/>
          <p:nvPr/>
        </p:nvSpPr>
        <p:spPr>
          <a:xfrm>
            <a:off x="10305288" y="3081528"/>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31.3</a:t>
            </a:r>
            <a:endParaRPr lang="en-US" sz="1200" dirty="0"/>
          </a:p>
        </p:txBody>
      </p:sp>
      <p:sp>
        <p:nvSpPr>
          <p:cNvPr id="102" name="Text 100"/>
          <p:cNvSpPr txBox="1"/>
          <p:nvPr/>
        </p:nvSpPr>
        <p:spPr>
          <a:xfrm>
            <a:off x="6208776" y="332841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103" name="Text 101"/>
          <p:cNvSpPr txBox="1"/>
          <p:nvPr/>
        </p:nvSpPr>
        <p:spPr>
          <a:xfrm>
            <a:off x="6565392" y="332841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04" name="Shape 102"/>
          <p:cNvSpPr/>
          <p:nvPr/>
        </p:nvSpPr>
        <p:spPr>
          <a:xfrm>
            <a:off x="8558784" y="3390138"/>
            <a:ext cx="1237592" cy="123444"/>
          </a:xfrm>
          <a:prstGeom prst="rect">
            <a:avLst/>
          </a:prstGeom>
          <a:solidFill>
            <a:srgbClr val="12A566"/>
          </a:solidFill>
          <a:ln/>
        </p:spPr>
      </p:sp>
      <p:sp>
        <p:nvSpPr>
          <p:cNvPr id="105" name="Text 103"/>
          <p:cNvSpPr txBox="1"/>
          <p:nvPr/>
        </p:nvSpPr>
        <p:spPr>
          <a:xfrm>
            <a:off x="10305288" y="332841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31.1</a:t>
            </a:r>
            <a:endParaRPr lang="en-US" sz="1200" dirty="0"/>
          </a:p>
        </p:txBody>
      </p:sp>
      <p:sp>
        <p:nvSpPr>
          <p:cNvPr id="106" name="Text 104"/>
          <p:cNvSpPr txBox="1"/>
          <p:nvPr/>
        </p:nvSpPr>
        <p:spPr>
          <a:xfrm>
            <a:off x="6208776" y="357530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107" name="Text 105"/>
          <p:cNvSpPr txBox="1"/>
          <p:nvPr/>
        </p:nvSpPr>
        <p:spPr>
          <a:xfrm>
            <a:off x="6565392" y="357530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8" name="Shape 106"/>
          <p:cNvSpPr/>
          <p:nvPr/>
        </p:nvSpPr>
        <p:spPr>
          <a:xfrm>
            <a:off x="8558784" y="3637026"/>
            <a:ext cx="1215849" cy="123444"/>
          </a:xfrm>
          <a:prstGeom prst="rect">
            <a:avLst/>
          </a:prstGeom>
          <a:solidFill>
            <a:srgbClr val="12A566"/>
          </a:solidFill>
          <a:ln/>
        </p:spPr>
      </p:sp>
      <p:sp>
        <p:nvSpPr>
          <p:cNvPr id="109" name="Text 107"/>
          <p:cNvSpPr txBox="1"/>
          <p:nvPr/>
        </p:nvSpPr>
        <p:spPr>
          <a:xfrm>
            <a:off x="10305288" y="357530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30.6</a:t>
            </a:r>
            <a:endParaRPr lang="en-US" sz="1200" dirty="0"/>
          </a:p>
        </p:txBody>
      </p:sp>
      <p:sp>
        <p:nvSpPr>
          <p:cNvPr id="110" name="Text 108"/>
          <p:cNvSpPr txBox="1"/>
          <p:nvPr/>
        </p:nvSpPr>
        <p:spPr>
          <a:xfrm>
            <a:off x="6208776" y="382219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111" name="Text 109"/>
          <p:cNvSpPr txBox="1"/>
          <p:nvPr/>
        </p:nvSpPr>
        <p:spPr>
          <a:xfrm>
            <a:off x="6565392" y="382219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12" name="Shape 110"/>
          <p:cNvSpPr/>
          <p:nvPr/>
        </p:nvSpPr>
        <p:spPr>
          <a:xfrm>
            <a:off x="8558784" y="3883914"/>
            <a:ext cx="1146869" cy="123444"/>
          </a:xfrm>
          <a:prstGeom prst="rect">
            <a:avLst/>
          </a:prstGeom>
          <a:solidFill>
            <a:srgbClr val="C2352F"/>
          </a:solidFill>
          <a:ln/>
        </p:spPr>
      </p:sp>
      <p:sp>
        <p:nvSpPr>
          <p:cNvPr id="113" name="Text 111"/>
          <p:cNvSpPr txBox="1"/>
          <p:nvPr/>
        </p:nvSpPr>
        <p:spPr>
          <a:xfrm>
            <a:off x="10305288" y="382219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28.8</a:t>
            </a:r>
            <a:endParaRPr lang="en-US" sz="1200" dirty="0"/>
          </a:p>
        </p:txBody>
      </p:sp>
      <p:sp>
        <p:nvSpPr>
          <p:cNvPr id="114" name="Text 112"/>
          <p:cNvSpPr txBox="1"/>
          <p:nvPr/>
        </p:nvSpPr>
        <p:spPr>
          <a:xfrm>
            <a:off x="6208776" y="406908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15" name="Text 113"/>
          <p:cNvSpPr txBox="1"/>
          <p:nvPr/>
        </p:nvSpPr>
        <p:spPr>
          <a:xfrm>
            <a:off x="6565392" y="406908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16" name="Shape 114"/>
          <p:cNvSpPr/>
          <p:nvPr/>
        </p:nvSpPr>
        <p:spPr>
          <a:xfrm>
            <a:off x="8558784" y="4130802"/>
            <a:ext cx="1122936" cy="123444"/>
          </a:xfrm>
          <a:prstGeom prst="rect">
            <a:avLst/>
          </a:prstGeom>
          <a:solidFill>
            <a:srgbClr val="C2352F"/>
          </a:solidFill>
          <a:ln/>
        </p:spPr>
      </p:sp>
      <p:sp>
        <p:nvSpPr>
          <p:cNvPr id="117" name="Text 115"/>
          <p:cNvSpPr txBox="1"/>
          <p:nvPr/>
        </p:nvSpPr>
        <p:spPr>
          <a:xfrm>
            <a:off x="10305288" y="406908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28.2</a:t>
            </a:r>
            <a:endParaRPr lang="en-US" sz="1200" dirty="0"/>
          </a:p>
        </p:txBody>
      </p:sp>
      <p:sp>
        <p:nvSpPr>
          <p:cNvPr id="118" name="Text 116"/>
          <p:cNvSpPr txBox="1"/>
          <p:nvPr/>
        </p:nvSpPr>
        <p:spPr>
          <a:xfrm>
            <a:off x="6208776" y="431596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19" name="Text 117"/>
          <p:cNvSpPr txBox="1"/>
          <p:nvPr/>
        </p:nvSpPr>
        <p:spPr>
          <a:xfrm>
            <a:off x="6565392" y="431596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20" name="Shape 118"/>
          <p:cNvSpPr/>
          <p:nvPr/>
        </p:nvSpPr>
        <p:spPr>
          <a:xfrm>
            <a:off x="8558784" y="4377690"/>
            <a:ext cx="1013406" cy="123444"/>
          </a:xfrm>
          <a:prstGeom prst="rect">
            <a:avLst/>
          </a:prstGeom>
          <a:solidFill>
            <a:srgbClr val="C2352F"/>
          </a:solidFill>
          <a:ln/>
        </p:spPr>
      </p:sp>
      <p:sp>
        <p:nvSpPr>
          <p:cNvPr id="121" name="Text 119"/>
          <p:cNvSpPr txBox="1"/>
          <p:nvPr/>
        </p:nvSpPr>
        <p:spPr>
          <a:xfrm>
            <a:off x="10305288" y="4315968"/>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25.5</a:t>
            </a:r>
            <a:endParaRPr lang="en-US" sz="1200" dirty="0"/>
          </a:p>
        </p:txBody>
      </p:sp>
      <p:sp>
        <p:nvSpPr>
          <p:cNvPr id="122" name="Text 120"/>
          <p:cNvSpPr txBox="1"/>
          <p:nvPr/>
        </p:nvSpPr>
        <p:spPr>
          <a:xfrm>
            <a:off x="6208776" y="456285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23" name="Text 121"/>
          <p:cNvSpPr txBox="1"/>
          <p:nvPr/>
        </p:nvSpPr>
        <p:spPr>
          <a:xfrm>
            <a:off x="6565392" y="456285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24" name="Shape 122"/>
          <p:cNvSpPr/>
          <p:nvPr/>
        </p:nvSpPr>
        <p:spPr>
          <a:xfrm>
            <a:off x="8558784" y="4624578"/>
            <a:ext cx="940756" cy="123444"/>
          </a:xfrm>
          <a:prstGeom prst="rect">
            <a:avLst/>
          </a:prstGeom>
          <a:solidFill>
            <a:srgbClr val="C2352F"/>
          </a:solidFill>
          <a:ln/>
        </p:spPr>
      </p:sp>
      <p:sp>
        <p:nvSpPr>
          <p:cNvPr id="125" name="Text 123"/>
          <p:cNvSpPr txBox="1"/>
          <p:nvPr/>
        </p:nvSpPr>
        <p:spPr>
          <a:xfrm>
            <a:off x="10305288" y="456285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23.6</a:t>
            </a:r>
            <a:endParaRPr lang="en-US" sz="1200" dirty="0"/>
          </a:p>
        </p:txBody>
      </p:sp>
      <p:sp>
        <p:nvSpPr>
          <p:cNvPr id="126" name="Text 124"/>
          <p:cNvSpPr txBox="1"/>
          <p:nvPr/>
        </p:nvSpPr>
        <p:spPr>
          <a:xfrm>
            <a:off x="6208776" y="480974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7" name="Text 125"/>
          <p:cNvSpPr txBox="1"/>
          <p:nvPr/>
        </p:nvSpPr>
        <p:spPr>
          <a:xfrm>
            <a:off x="6565392" y="480974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28" name="Shape 126"/>
          <p:cNvSpPr/>
          <p:nvPr/>
        </p:nvSpPr>
        <p:spPr>
          <a:xfrm>
            <a:off x="8558784" y="4871466"/>
            <a:ext cx="900750" cy="123444"/>
          </a:xfrm>
          <a:prstGeom prst="rect">
            <a:avLst/>
          </a:prstGeom>
          <a:solidFill>
            <a:srgbClr val="C2352F"/>
          </a:solidFill>
          <a:ln/>
        </p:spPr>
      </p:sp>
      <p:sp>
        <p:nvSpPr>
          <p:cNvPr id="129" name="Text 127"/>
          <p:cNvSpPr txBox="1"/>
          <p:nvPr/>
        </p:nvSpPr>
        <p:spPr>
          <a:xfrm>
            <a:off x="10305288" y="480974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22.6</a:t>
            </a:r>
            <a:endParaRPr lang="en-US" sz="1200" dirty="0"/>
          </a:p>
        </p:txBody>
      </p:sp>
      <p:sp>
        <p:nvSpPr>
          <p:cNvPr id="130" name="Text 128"/>
          <p:cNvSpPr txBox="1"/>
          <p:nvPr/>
        </p:nvSpPr>
        <p:spPr>
          <a:xfrm>
            <a:off x="6208776" y="505663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31" name="Text 129"/>
          <p:cNvSpPr txBox="1"/>
          <p:nvPr/>
        </p:nvSpPr>
        <p:spPr>
          <a:xfrm>
            <a:off x="6565392" y="505663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32" name="Shape 130"/>
          <p:cNvSpPr/>
          <p:nvPr/>
        </p:nvSpPr>
        <p:spPr>
          <a:xfrm>
            <a:off x="8558784" y="5118354"/>
            <a:ext cx="880007" cy="123444"/>
          </a:xfrm>
          <a:prstGeom prst="rect">
            <a:avLst/>
          </a:prstGeom>
          <a:solidFill>
            <a:srgbClr val="C2352F"/>
          </a:solidFill>
          <a:ln/>
        </p:spPr>
      </p:sp>
      <p:sp>
        <p:nvSpPr>
          <p:cNvPr id="133" name="Text 131"/>
          <p:cNvSpPr txBox="1"/>
          <p:nvPr/>
        </p:nvSpPr>
        <p:spPr>
          <a:xfrm>
            <a:off x="10305288" y="505663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22.1</a:t>
            </a:r>
            <a:endParaRPr lang="en-US" sz="1200" dirty="0"/>
          </a:p>
        </p:txBody>
      </p:sp>
      <p:sp>
        <p:nvSpPr>
          <p:cNvPr id="134" name="Text 132"/>
          <p:cNvSpPr txBox="1"/>
          <p:nvPr/>
        </p:nvSpPr>
        <p:spPr>
          <a:xfrm>
            <a:off x="6208776" y="530352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5" name="Text 133"/>
          <p:cNvSpPr txBox="1"/>
          <p:nvPr/>
        </p:nvSpPr>
        <p:spPr>
          <a:xfrm>
            <a:off x="6565392" y="530352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36" name="Shape 134"/>
          <p:cNvSpPr/>
          <p:nvPr/>
        </p:nvSpPr>
        <p:spPr>
          <a:xfrm>
            <a:off x="8558784" y="5365242"/>
            <a:ext cx="832284" cy="123444"/>
          </a:xfrm>
          <a:prstGeom prst="rect">
            <a:avLst/>
          </a:prstGeom>
          <a:solidFill>
            <a:srgbClr val="C2352F"/>
          </a:solidFill>
          <a:ln/>
        </p:spPr>
      </p:sp>
      <p:sp>
        <p:nvSpPr>
          <p:cNvPr id="137" name="Text 135"/>
          <p:cNvSpPr txBox="1"/>
          <p:nvPr/>
        </p:nvSpPr>
        <p:spPr>
          <a:xfrm>
            <a:off x="10305288" y="530352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20.9</a:t>
            </a:r>
            <a:endParaRPr lang="en-US" sz="1200" dirty="0"/>
          </a:p>
        </p:txBody>
      </p:sp>
      <p:sp>
        <p:nvSpPr>
          <p:cNvPr id="138" name="Text 136"/>
          <p:cNvSpPr txBox="1"/>
          <p:nvPr/>
        </p:nvSpPr>
        <p:spPr>
          <a:xfrm>
            <a:off x="6208776" y="555040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9" name="Text 137"/>
          <p:cNvSpPr txBox="1"/>
          <p:nvPr/>
        </p:nvSpPr>
        <p:spPr>
          <a:xfrm>
            <a:off x="6565392" y="555040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40" name="Shape 138"/>
          <p:cNvSpPr/>
          <p:nvPr/>
        </p:nvSpPr>
        <p:spPr>
          <a:xfrm>
            <a:off x="8558784" y="5612130"/>
            <a:ext cx="808680" cy="123444"/>
          </a:xfrm>
          <a:prstGeom prst="rect">
            <a:avLst/>
          </a:prstGeom>
          <a:solidFill>
            <a:srgbClr val="C2352F"/>
          </a:solidFill>
          <a:ln/>
        </p:spPr>
      </p:sp>
      <p:sp>
        <p:nvSpPr>
          <p:cNvPr id="141" name="Text 139"/>
          <p:cNvSpPr txBox="1"/>
          <p:nvPr/>
        </p:nvSpPr>
        <p:spPr>
          <a:xfrm>
            <a:off x="10305288" y="5550408"/>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20.3</a:t>
            </a:r>
            <a:endParaRPr lang="en-US" sz="1200" dirty="0"/>
          </a:p>
        </p:txBody>
      </p:sp>
      <p:sp>
        <p:nvSpPr>
          <p:cNvPr id="142" name="Text 140"/>
          <p:cNvSpPr txBox="1"/>
          <p:nvPr/>
        </p:nvSpPr>
        <p:spPr>
          <a:xfrm>
            <a:off x="6208776" y="579729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3" name="Text 141"/>
          <p:cNvSpPr txBox="1"/>
          <p:nvPr/>
        </p:nvSpPr>
        <p:spPr>
          <a:xfrm>
            <a:off x="6565392" y="579729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44" name="Shape 142"/>
          <p:cNvSpPr/>
          <p:nvPr/>
        </p:nvSpPr>
        <p:spPr>
          <a:xfrm>
            <a:off x="8558784" y="5859018"/>
            <a:ext cx="763360" cy="123444"/>
          </a:xfrm>
          <a:prstGeom prst="rect">
            <a:avLst/>
          </a:prstGeom>
          <a:solidFill>
            <a:srgbClr val="C2352F"/>
          </a:solidFill>
          <a:ln/>
        </p:spPr>
      </p:sp>
      <p:sp>
        <p:nvSpPr>
          <p:cNvPr id="145" name="Text 143"/>
          <p:cNvSpPr txBox="1"/>
          <p:nvPr/>
        </p:nvSpPr>
        <p:spPr>
          <a:xfrm>
            <a:off x="10305288" y="579729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19.2</a:t>
            </a:r>
            <a:endParaRPr lang="en-US" sz="1200" dirty="0"/>
          </a:p>
        </p:txBody>
      </p:sp>
      <p:sp>
        <p:nvSpPr>
          <p:cNvPr id="146" name="Text 144"/>
          <p:cNvSpPr txBox="1"/>
          <p:nvPr/>
        </p:nvSpPr>
        <p:spPr>
          <a:xfrm>
            <a:off x="6208776" y="604418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47" name="Text 145"/>
          <p:cNvSpPr txBox="1"/>
          <p:nvPr/>
        </p:nvSpPr>
        <p:spPr>
          <a:xfrm>
            <a:off x="6565392" y="604418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48" name="Shape 146"/>
          <p:cNvSpPr/>
          <p:nvPr/>
        </p:nvSpPr>
        <p:spPr>
          <a:xfrm>
            <a:off x="8558784" y="6105906"/>
            <a:ext cx="690045" cy="123444"/>
          </a:xfrm>
          <a:prstGeom prst="rect">
            <a:avLst/>
          </a:prstGeom>
          <a:solidFill>
            <a:srgbClr val="C2352F"/>
          </a:solidFill>
          <a:ln/>
        </p:spPr>
      </p:sp>
      <p:sp>
        <p:nvSpPr>
          <p:cNvPr id="149" name="Text 147"/>
          <p:cNvSpPr txBox="1"/>
          <p:nvPr/>
        </p:nvSpPr>
        <p:spPr>
          <a:xfrm>
            <a:off x="10305288" y="604418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17.3</a:t>
            </a:r>
            <a:endParaRPr lang="en-US" sz="1200" dirty="0"/>
          </a:p>
        </p:txBody>
      </p:sp>
      <p:sp>
        <p:nvSpPr>
          <p:cNvPr id="150" name="Shape 148"/>
          <p:cNvSpPr/>
          <p:nvPr/>
        </p:nvSpPr>
        <p:spPr>
          <a:xfrm>
            <a:off x="4164984" y="2093976"/>
            <a:ext cx="14630" cy="2221992"/>
          </a:xfrm>
          <a:prstGeom prst="rect">
            <a:avLst/>
          </a:prstGeom>
          <a:solidFill>
            <a:srgbClr val="0B2C4A"/>
          </a:solidFill>
          <a:ln/>
        </p:spPr>
      </p:sp>
      <p:sp>
        <p:nvSpPr>
          <p:cNvPr id="151" name="Shape 149"/>
          <p:cNvSpPr/>
          <p:nvPr/>
        </p:nvSpPr>
        <p:spPr>
          <a:xfrm>
            <a:off x="4164984" y="4562856"/>
            <a:ext cx="14630" cy="1728216"/>
          </a:xfrm>
          <a:prstGeom prst="rect">
            <a:avLst/>
          </a:prstGeom>
          <a:solidFill>
            <a:srgbClr val="0B2C4A"/>
          </a:solidFill>
          <a:ln/>
        </p:spPr>
      </p:sp>
      <p:sp>
        <p:nvSpPr>
          <p:cNvPr id="152" name="Shape 150"/>
          <p:cNvSpPr/>
          <p:nvPr/>
        </p:nvSpPr>
        <p:spPr>
          <a:xfrm>
            <a:off x="9715392" y="2093976"/>
            <a:ext cx="14630" cy="4197096"/>
          </a:xfrm>
          <a:prstGeom prst="rect">
            <a:avLst/>
          </a:prstGeom>
          <a:solidFill>
            <a:srgbClr val="0B2C4A"/>
          </a:solidFill>
          <a:ln/>
        </p:spPr>
      </p:sp>
      <p:sp>
        <p:nvSpPr>
          <p:cNvPr id="153" name="Shape 151"/>
          <p:cNvSpPr/>
          <p:nvPr/>
        </p:nvSpPr>
        <p:spPr>
          <a:xfrm>
            <a:off x="6085332" y="1847088"/>
            <a:ext cx="10973" cy="4443984"/>
          </a:xfrm>
          <a:prstGeom prst="rect">
            <a:avLst/>
          </a:prstGeom>
          <a:solidFill>
            <a:srgbClr val="D9D9D9"/>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Employee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56235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&amp; W ROS PER FIXED EMPLOYEE</a:t>
            </a:r>
            <a:endParaRPr lang="en-US" sz="1500" dirty="0"/>
          </a:p>
        </p:txBody>
      </p:sp>
      <p:sp>
        <p:nvSpPr>
          <p:cNvPr id="9" name="Text 7"/>
          <p:cNvSpPr txBox="1"/>
          <p:nvPr/>
        </p:nvSpPr>
        <p:spPr>
          <a:xfrm>
            <a:off x="4476750" y="1335024"/>
            <a:ext cx="356997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+0.8</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3" name="Shape 11"/>
          <p:cNvSpPr/>
          <p:nvPr/>
        </p:nvSpPr>
        <p:spPr>
          <a:xfrm>
            <a:off x="3785616" y="1911860"/>
            <a:ext cx="777240"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+6.9</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7" name="Shape 15"/>
          <p:cNvSpPr/>
          <p:nvPr/>
        </p:nvSpPr>
        <p:spPr>
          <a:xfrm>
            <a:off x="3785616" y="2151755"/>
            <a:ext cx="544934"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+4.8</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21" name="Shape 19"/>
          <p:cNvSpPr/>
          <p:nvPr/>
        </p:nvSpPr>
        <p:spPr>
          <a:xfrm>
            <a:off x="3785616" y="2391651"/>
            <a:ext cx="430045"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+3.8</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25" name="Shape 23"/>
          <p:cNvSpPr/>
          <p:nvPr/>
        </p:nvSpPr>
        <p:spPr>
          <a:xfrm>
            <a:off x="3785616" y="2631546"/>
            <a:ext cx="412371"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+3.6</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29" name="Shape 27"/>
          <p:cNvSpPr/>
          <p:nvPr/>
        </p:nvSpPr>
        <p:spPr>
          <a:xfrm>
            <a:off x="3785616" y="2871442"/>
            <a:ext cx="368727"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+3.3</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33" name="Shape 31"/>
          <p:cNvSpPr/>
          <p:nvPr/>
        </p:nvSpPr>
        <p:spPr>
          <a:xfrm>
            <a:off x="3785616" y="3111337"/>
            <a:ext cx="313981"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+2.8</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37" name="Shape 35"/>
          <p:cNvSpPr/>
          <p:nvPr/>
        </p:nvSpPr>
        <p:spPr>
          <a:xfrm>
            <a:off x="3785616" y="3351233"/>
            <a:ext cx="246169"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+2.2</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41" name="Shape 39"/>
          <p:cNvSpPr/>
          <p:nvPr/>
        </p:nvSpPr>
        <p:spPr>
          <a:xfrm>
            <a:off x="3785616" y="3591128"/>
            <a:ext cx="243244"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+2.2</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45" name="Shape 43"/>
          <p:cNvSpPr/>
          <p:nvPr/>
        </p:nvSpPr>
        <p:spPr>
          <a:xfrm>
            <a:off x="3785616" y="3831024"/>
            <a:ext cx="202065"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+1.8</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49" name="Shape 47"/>
          <p:cNvSpPr/>
          <p:nvPr/>
        </p:nvSpPr>
        <p:spPr>
          <a:xfrm>
            <a:off x="3785616" y="4070920"/>
            <a:ext cx="178519"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+1.6</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53" name="Shape 51"/>
          <p:cNvSpPr/>
          <p:nvPr/>
        </p:nvSpPr>
        <p:spPr>
          <a:xfrm>
            <a:off x="3785616" y="4310815"/>
            <a:ext cx="170934"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57" name="Shape 55"/>
          <p:cNvSpPr/>
          <p:nvPr/>
        </p:nvSpPr>
        <p:spPr>
          <a:xfrm>
            <a:off x="3785616" y="4550711"/>
            <a:ext cx="116180"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61" name="Shape 59"/>
          <p:cNvSpPr/>
          <p:nvPr/>
        </p:nvSpPr>
        <p:spPr>
          <a:xfrm>
            <a:off x="3785616" y="4790606"/>
            <a:ext cx="109258"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65" name="Shape 63"/>
          <p:cNvSpPr/>
          <p:nvPr/>
        </p:nvSpPr>
        <p:spPr>
          <a:xfrm>
            <a:off x="3785616" y="5030502"/>
            <a:ext cx="99898"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+0.9</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69" name="Shape 67"/>
          <p:cNvSpPr/>
          <p:nvPr/>
        </p:nvSpPr>
        <p:spPr>
          <a:xfrm>
            <a:off x="3785616" y="5270397"/>
            <a:ext cx="89782"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+0.8</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73" name="Shape 71"/>
          <p:cNvSpPr/>
          <p:nvPr/>
        </p:nvSpPr>
        <p:spPr>
          <a:xfrm>
            <a:off x="3785616" y="5510293"/>
            <a:ext cx="81310"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+0.7</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77" name="Shape 75"/>
          <p:cNvSpPr/>
          <p:nvPr/>
        </p:nvSpPr>
        <p:spPr>
          <a:xfrm>
            <a:off x="3785616" y="5750188"/>
            <a:ext cx="73463"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+0.6</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81" name="Shape 79"/>
          <p:cNvSpPr/>
          <p:nvPr/>
        </p:nvSpPr>
        <p:spPr>
          <a:xfrm>
            <a:off x="9336024" y="1911860"/>
            <a:ext cx="61540" cy="110352"/>
          </a:xfrm>
          <a:prstGeom prst="rect">
            <a:avLst/>
          </a:prstGeom>
          <a:solidFill>
            <a:srgbClr val="12A566"/>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+0.5</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85" name="Shape 83"/>
          <p:cNvSpPr/>
          <p:nvPr/>
        </p:nvSpPr>
        <p:spPr>
          <a:xfrm>
            <a:off x="9336024" y="2151755"/>
            <a:ext cx="55474" cy="110352"/>
          </a:xfrm>
          <a:prstGeom prst="rect">
            <a:avLst/>
          </a:prstGeom>
          <a:solidFill>
            <a:srgbClr val="12A566"/>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+0.5</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89" name="Shape 87"/>
          <p:cNvSpPr/>
          <p:nvPr/>
        </p:nvSpPr>
        <p:spPr>
          <a:xfrm>
            <a:off x="9336024" y="2391651"/>
            <a:ext cx="45730" cy="110352"/>
          </a:xfrm>
          <a:prstGeom prst="rect">
            <a:avLst/>
          </a:prstGeom>
          <a:solidFill>
            <a:srgbClr val="12A566"/>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+0.4</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93" name="Shape 91"/>
          <p:cNvSpPr/>
          <p:nvPr/>
        </p:nvSpPr>
        <p:spPr>
          <a:xfrm>
            <a:off x="9336024" y="2631546"/>
            <a:ext cx="33279" cy="110352"/>
          </a:xfrm>
          <a:prstGeom prst="rect">
            <a:avLst/>
          </a:prstGeom>
          <a:solidFill>
            <a:srgbClr val="12A566"/>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+0.3</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97" name="Shape 95"/>
          <p:cNvSpPr/>
          <p:nvPr/>
        </p:nvSpPr>
        <p:spPr>
          <a:xfrm>
            <a:off x="9336024" y="2871442"/>
            <a:ext cx="28318" cy="110352"/>
          </a:xfrm>
          <a:prstGeom prst="rect">
            <a:avLst/>
          </a:prstGeom>
          <a:solidFill>
            <a:srgbClr val="12A566"/>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+0.3</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01" name="Shape 99"/>
          <p:cNvSpPr/>
          <p:nvPr/>
        </p:nvSpPr>
        <p:spPr>
          <a:xfrm>
            <a:off x="9331623" y="3111337"/>
            <a:ext cx="12802" cy="110352"/>
          </a:xfrm>
          <a:prstGeom prst="rect">
            <a:avLst/>
          </a:prstGeom>
          <a:solidFill>
            <a:srgbClr val="C2352F"/>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−0.0</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05" name="Shape 103"/>
          <p:cNvSpPr/>
          <p:nvPr/>
        </p:nvSpPr>
        <p:spPr>
          <a:xfrm>
            <a:off x="9320203" y="3351233"/>
            <a:ext cx="15821" cy="110352"/>
          </a:xfrm>
          <a:prstGeom prst="rect">
            <a:avLst/>
          </a:prstGeom>
          <a:solidFill>
            <a:srgbClr val="C2352F"/>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−0.1</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09" name="Shape 107"/>
          <p:cNvSpPr/>
          <p:nvPr/>
        </p:nvSpPr>
        <p:spPr>
          <a:xfrm>
            <a:off x="9316313" y="3591128"/>
            <a:ext cx="19711" cy="110352"/>
          </a:xfrm>
          <a:prstGeom prst="rect">
            <a:avLst/>
          </a:prstGeom>
          <a:solidFill>
            <a:srgbClr val="C2352F"/>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−0.2</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13" name="Shape 111"/>
          <p:cNvSpPr/>
          <p:nvPr/>
        </p:nvSpPr>
        <p:spPr>
          <a:xfrm>
            <a:off x="9221677" y="3831024"/>
            <a:ext cx="114347" cy="110352"/>
          </a:xfrm>
          <a:prstGeom prst="rect">
            <a:avLst/>
          </a:prstGeom>
          <a:solidFill>
            <a:srgbClr val="C2352F"/>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−1.0</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17" name="Shape 115"/>
          <p:cNvSpPr/>
          <p:nvPr/>
        </p:nvSpPr>
        <p:spPr>
          <a:xfrm>
            <a:off x="9212713" y="4070920"/>
            <a:ext cx="123311"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−1.1</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21" name="Shape 119"/>
          <p:cNvSpPr/>
          <p:nvPr/>
        </p:nvSpPr>
        <p:spPr>
          <a:xfrm>
            <a:off x="9201004" y="4310815"/>
            <a:ext cx="135020"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−1.2</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25" name="Shape 123"/>
          <p:cNvSpPr/>
          <p:nvPr/>
        </p:nvSpPr>
        <p:spPr>
          <a:xfrm>
            <a:off x="9180928" y="4550711"/>
            <a:ext cx="155096"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−1.4</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29" name="Shape 127"/>
          <p:cNvSpPr/>
          <p:nvPr/>
        </p:nvSpPr>
        <p:spPr>
          <a:xfrm>
            <a:off x="9011951" y="4790606"/>
            <a:ext cx="324073"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−2.9</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3" name="Shape 131"/>
          <p:cNvSpPr/>
          <p:nvPr/>
        </p:nvSpPr>
        <p:spPr>
          <a:xfrm>
            <a:off x="8887261" y="5030502"/>
            <a:ext cx="448763"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−4.0</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37" name="Shape 135"/>
          <p:cNvSpPr/>
          <p:nvPr/>
        </p:nvSpPr>
        <p:spPr>
          <a:xfrm>
            <a:off x="8683531" y="5270397"/>
            <a:ext cx="652493"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−5.8</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41" name="Shape 139"/>
          <p:cNvSpPr/>
          <p:nvPr/>
        </p:nvSpPr>
        <p:spPr>
          <a:xfrm>
            <a:off x="8594867" y="5510293"/>
            <a:ext cx="741157"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−6.6</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7" name="Shape 144"/>
          <p:cNvSpPr/>
          <p:nvPr/>
        </p:nvSpPr>
        <p:spPr>
          <a:xfrm>
            <a:off x="457200" y="6126480"/>
            <a:ext cx="11274552" cy="371856"/>
          </a:xfrm>
          <a:prstGeom prst="rect">
            <a:avLst/>
          </a:prstGeom>
          <a:solidFill>
            <a:srgbClr val="E6F6EE"/>
          </a:solidFill>
          <a:ln/>
        </p:spPr>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22 of 33 stores raised ROs per fixed employee. 11 declined.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Employee</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Shape 8"/>
          <p:cNvSpPr/>
          <p:nvPr/>
        </p:nvSpPr>
        <p:spPr>
          <a:xfrm>
            <a:off x="4084320" y="1847088"/>
            <a:ext cx="64008" cy="1405128"/>
          </a:xfrm>
          <a:prstGeom prst="rect">
            <a:avLst/>
          </a:prstGeom>
          <a:solidFill>
            <a:srgbClr val="12A566"/>
          </a:solidFill>
          <a:ln/>
        </p:spPr>
      </p:sp>
      <p:sp>
        <p:nvSpPr>
          <p:cNvPr id="11" name="Text 9"/>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2" name="Text 10"/>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31.4</a:t>
            </a:r>
            <a:endParaRPr lang="en-US" sz="1400" dirty="0"/>
          </a:p>
        </p:txBody>
      </p:sp>
      <p:graphicFrame>
        <p:nvGraphicFramePr>
          <p:cNvPr id="13" name="Chart 0" descr=""/>
          <p:cNvGraphicFramePr/>
          <p:nvPr/>
        </p:nvGraphicFramePr>
        <p:xfrm>
          <a:off x="1097280" y="2697480"/>
          <a:ext cx="1972056" cy="502615"/>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2941320"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+6.9</a:t>
            </a:r>
            <a:endParaRPr lang="en-US" sz="1600" dirty="0"/>
          </a:p>
        </p:txBody>
      </p:sp>
      <p:sp>
        <p:nvSpPr>
          <p:cNvPr id="15" name="Text 12"/>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6" name="Text 13"/>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28.8</a:t>
            </a:r>
            <a:endParaRPr lang="en-US" sz="1400" dirty="0"/>
          </a:p>
        </p:txBody>
      </p:sp>
      <p:graphicFrame>
        <p:nvGraphicFramePr>
          <p:cNvPr id="17" name="Chart 1" descr=""/>
          <p:cNvGraphicFramePr/>
          <p:nvPr/>
        </p:nvGraphicFramePr>
        <p:xfrm>
          <a:off x="1097280" y="4175760"/>
          <a:ext cx="1972056" cy="502615"/>
        </p:xfrm>
        <a:graphic xmlns:a="http://schemas.openxmlformats.org/drawingml/2006/main">
          <a:graphicData uri="http://schemas.openxmlformats.org/drawingml/2006/chart">
            <c:chart xmlns:c="http://schemas.openxmlformats.org/drawingml/2006/chart" r:id="rId2"/>
          </a:graphicData>
        </a:graphic>
      </p:graphicFrame>
      <p:sp>
        <p:nvSpPr>
          <p:cNvPr id="18" name="Text 14"/>
          <p:cNvSpPr txBox="1"/>
          <p:nvPr/>
        </p:nvSpPr>
        <p:spPr>
          <a:xfrm>
            <a:off x="2941320"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a:t>
            </a:r>
            <a:endParaRPr lang="en-US" sz="1600" dirty="0"/>
          </a:p>
        </p:txBody>
      </p:sp>
      <p:sp>
        <p:nvSpPr>
          <p:cNvPr id="19" name="Shape 15"/>
          <p:cNvSpPr/>
          <p:nvPr/>
        </p:nvSpPr>
        <p:spPr>
          <a:xfrm>
            <a:off x="658368" y="4767072"/>
            <a:ext cx="3489960" cy="1478280"/>
          </a:xfrm>
          <a:prstGeom prst="rect">
            <a:avLst/>
          </a:prstGeom>
          <a:solidFill>
            <a:srgbClr val="F7F7F7"/>
          </a:solidFill>
          <a:ln/>
        </p:spPr>
      </p:sp>
      <p:sp>
        <p:nvSpPr>
          <p:cNvPr id="20" name="Text 16"/>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1" name="Text 17"/>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26.8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30.6</a:t>
            </a:r>
            <a:endParaRPr lang="en-US" sz="1400" dirty="0"/>
          </a:p>
        </p:txBody>
      </p:sp>
      <p:graphicFrame>
        <p:nvGraphicFramePr>
          <p:cNvPr id="22" name="Chart 2" descr=""/>
          <p:cNvGraphicFramePr/>
          <p:nvPr/>
        </p:nvGraphicFramePr>
        <p:xfrm>
          <a:off x="1097280" y="5654040"/>
          <a:ext cx="1972056" cy="502615"/>
        </p:xfrm>
        <a:graphic xmlns:a="http://schemas.openxmlformats.org/drawingml/2006/main">
          <a:graphicData uri="http://schemas.openxmlformats.org/drawingml/2006/chart">
            <c:chart xmlns:c="http://schemas.openxmlformats.org/drawingml/2006/chart" r:id="rId3"/>
          </a:graphicData>
        </a:graphic>
      </p:graphicFrame>
      <p:sp>
        <p:nvSpPr>
          <p:cNvPr id="23" name="Text 18"/>
          <p:cNvSpPr txBox="1"/>
          <p:nvPr/>
        </p:nvSpPr>
        <p:spPr>
          <a:xfrm>
            <a:off x="2941320"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+3.8</a:t>
            </a:r>
            <a:endParaRPr lang="en-US" sz="1600" dirty="0"/>
          </a:p>
        </p:txBody>
      </p:sp>
      <p:sp>
        <p:nvSpPr>
          <p:cNvPr id="24" name="Shape 19"/>
          <p:cNvSpPr/>
          <p:nvPr/>
        </p:nvSpPr>
        <p:spPr>
          <a:xfrm>
            <a:off x="4349496" y="1371600"/>
            <a:ext cx="3489960" cy="45720"/>
          </a:xfrm>
          <a:prstGeom prst="rect">
            <a:avLst/>
          </a:prstGeom>
          <a:solidFill>
            <a:srgbClr val="C2352F"/>
          </a:solidFill>
          <a:ln/>
        </p:spPr>
      </p:sp>
      <p:sp>
        <p:nvSpPr>
          <p:cNvPr id="25" name="Text 20"/>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6" name="Shape 21"/>
          <p:cNvSpPr/>
          <p:nvPr/>
        </p:nvSpPr>
        <p:spPr>
          <a:xfrm>
            <a:off x="4349496" y="1810512"/>
            <a:ext cx="3489960" cy="1478280"/>
          </a:xfrm>
          <a:prstGeom prst="rect">
            <a:avLst/>
          </a:prstGeom>
          <a:solidFill>
            <a:srgbClr val="F7F7F7"/>
          </a:solidFill>
          <a:ln/>
        </p:spPr>
      </p:sp>
      <p:sp>
        <p:nvSpPr>
          <p:cNvPr id="27" name="Text 22"/>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28" name="Text 23"/>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46.4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39.8</a:t>
            </a:r>
            <a:endParaRPr lang="en-US" sz="1400" dirty="0"/>
          </a:p>
        </p:txBody>
      </p:sp>
      <p:graphicFrame>
        <p:nvGraphicFramePr>
          <p:cNvPr id="29" name="Chart 3" descr=""/>
          <p:cNvGraphicFramePr/>
          <p:nvPr/>
        </p:nvGraphicFramePr>
        <p:xfrm>
          <a:off x="4788408" y="2697480"/>
          <a:ext cx="1972056" cy="502615"/>
        </p:xfrm>
        <a:graphic xmlns:a="http://schemas.openxmlformats.org/drawingml/2006/main">
          <a:graphicData uri="http://schemas.openxmlformats.org/drawingml/2006/chart">
            <c:chart xmlns:c="http://schemas.openxmlformats.org/drawingml/2006/chart" r:id="rId4"/>
          </a:graphicData>
        </a:graphic>
      </p:graphicFrame>
      <p:sp>
        <p:nvSpPr>
          <p:cNvPr id="30" name="Text 24"/>
          <p:cNvSpPr txBox="1"/>
          <p:nvPr/>
        </p:nvSpPr>
        <p:spPr>
          <a:xfrm>
            <a:off x="6632448" y="181051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−6.6</a:t>
            </a:r>
            <a:endParaRPr lang="en-US" sz="1600" dirty="0"/>
          </a:p>
        </p:txBody>
      </p:sp>
      <p:sp>
        <p:nvSpPr>
          <p:cNvPr id="31" name="Text 25"/>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2" name="Text 26"/>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38.2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32.4</a:t>
            </a:r>
            <a:endParaRPr lang="en-US" sz="1400" dirty="0"/>
          </a:p>
        </p:txBody>
      </p:sp>
      <p:graphicFrame>
        <p:nvGraphicFramePr>
          <p:cNvPr id="33" name="Chart 4" descr=""/>
          <p:cNvGraphicFramePr/>
          <p:nvPr/>
        </p:nvGraphicFramePr>
        <p:xfrm>
          <a:off x="4788408" y="4175760"/>
          <a:ext cx="1972056" cy="502615"/>
        </p:xfrm>
        <a:graphic xmlns:a="http://schemas.openxmlformats.org/drawingml/2006/main">
          <a:graphicData uri="http://schemas.openxmlformats.org/drawingml/2006/chart">
            <c:chart xmlns:c="http://schemas.openxmlformats.org/drawingml/2006/chart" r:id="rId5"/>
          </a:graphicData>
        </a:graphic>
      </p:graphicFrame>
      <p:sp>
        <p:nvSpPr>
          <p:cNvPr id="34" name="Text 27"/>
          <p:cNvSpPr txBox="1"/>
          <p:nvPr/>
        </p:nvSpPr>
        <p:spPr>
          <a:xfrm>
            <a:off x="6632448" y="328879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−5.8</a:t>
            </a:r>
            <a:endParaRPr lang="en-US" sz="1600" dirty="0"/>
          </a:p>
        </p:txBody>
      </p:sp>
      <p:sp>
        <p:nvSpPr>
          <p:cNvPr id="35" name="Shape 28"/>
          <p:cNvSpPr/>
          <p:nvPr/>
        </p:nvSpPr>
        <p:spPr>
          <a:xfrm>
            <a:off x="4349496" y="4767072"/>
            <a:ext cx="3489960" cy="1478280"/>
          </a:xfrm>
          <a:prstGeom prst="rect">
            <a:avLst/>
          </a:prstGeom>
          <a:solidFill>
            <a:srgbClr val="F7F7F7"/>
          </a:solidFill>
          <a:ln/>
        </p:spPr>
      </p:sp>
      <p:sp>
        <p:nvSpPr>
          <p:cNvPr id="36" name="Text 29"/>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37" name="Text 30"/>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31.1</a:t>
            </a:r>
            <a:endParaRPr lang="en-US" sz="1400" dirty="0"/>
          </a:p>
        </p:txBody>
      </p:sp>
      <p:graphicFrame>
        <p:nvGraphicFramePr>
          <p:cNvPr id="38" name="Chart 5" descr=""/>
          <p:cNvGraphicFramePr/>
          <p:nvPr/>
        </p:nvGraphicFramePr>
        <p:xfrm>
          <a:off x="4788408" y="5654040"/>
          <a:ext cx="1972056" cy="502615"/>
        </p:xfrm>
        <a:graphic xmlns:a="http://schemas.openxmlformats.org/drawingml/2006/main">
          <a:graphicData uri="http://schemas.openxmlformats.org/drawingml/2006/chart">
            <c:chart xmlns:c="http://schemas.openxmlformats.org/drawingml/2006/chart" r:id="rId6"/>
          </a:graphicData>
        </a:graphic>
      </p:graphicFrame>
      <p:sp>
        <p:nvSpPr>
          <p:cNvPr id="39" name="Text 31"/>
          <p:cNvSpPr txBox="1"/>
          <p:nvPr/>
        </p:nvSpPr>
        <p:spPr>
          <a:xfrm>
            <a:off x="6632448" y="476707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−4.0</a:t>
            </a:r>
            <a:endParaRPr lang="en-US" sz="1600" dirty="0"/>
          </a:p>
        </p:txBody>
      </p:sp>
      <p:sp>
        <p:nvSpPr>
          <p:cNvPr id="40" name="Shape 32"/>
          <p:cNvSpPr/>
          <p:nvPr/>
        </p:nvSpPr>
        <p:spPr>
          <a:xfrm>
            <a:off x="8040624" y="1371600"/>
            <a:ext cx="3489960" cy="45720"/>
          </a:xfrm>
          <a:prstGeom prst="rect">
            <a:avLst/>
          </a:prstGeom>
          <a:solidFill>
            <a:srgbClr val="2587C5"/>
          </a:solidFill>
          <a:ln/>
        </p:spPr>
      </p:sp>
      <p:sp>
        <p:nvSpPr>
          <p:cNvPr id="41" name="Text 33"/>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2" name="Shape 34"/>
          <p:cNvSpPr/>
          <p:nvPr/>
        </p:nvSpPr>
        <p:spPr>
          <a:xfrm>
            <a:off x="8040624" y="1810512"/>
            <a:ext cx="3489960" cy="1478280"/>
          </a:xfrm>
          <a:prstGeom prst="rect">
            <a:avLst/>
          </a:prstGeom>
          <a:solidFill>
            <a:srgbClr val="F7F7F7"/>
          </a:solidFill>
          <a:ln/>
        </p:spPr>
      </p:sp>
      <p:sp>
        <p:nvSpPr>
          <p:cNvPr id="43" name="Text 35"/>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4" name="Text 36"/>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29.9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40.3</a:t>
            </a:r>
            <a:endParaRPr lang="en-US" sz="1400" dirty="0"/>
          </a:p>
        </p:txBody>
      </p:sp>
      <p:graphicFrame>
        <p:nvGraphicFramePr>
          <p:cNvPr id="45" name="Chart 6" descr=""/>
          <p:cNvGraphicFramePr/>
          <p:nvPr/>
        </p:nvGraphicFramePr>
        <p:xfrm>
          <a:off x="8479536" y="2697480"/>
          <a:ext cx="1972056" cy="502615"/>
        </p:xfrm>
        <a:graphic xmlns:a="http://schemas.openxmlformats.org/drawingml/2006/main">
          <a:graphicData uri="http://schemas.openxmlformats.org/drawingml/2006/chart">
            <c:chart xmlns:c="http://schemas.openxmlformats.org/drawingml/2006/chart" r:id="rId7"/>
          </a:graphicData>
        </a:graphic>
      </p:graphicFrame>
      <p:graphicFrame>
        <p:nvGraphicFramePr>
          <p:cNvPr id="46" name="Chart 7" descr=""/>
          <p:cNvGraphicFramePr/>
          <p:nvPr/>
        </p:nvGraphicFramePr>
        <p:xfrm>
          <a:off x="8479536" y="2697480"/>
          <a:ext cx="1972056" cy="502615"/>
        </p:xfrm>
        <a:graphic xmlns:a="http://schemas.openxmlformats.org/drawingml/2006/main">
          <a:graphicData uri="http://schemas.openxmlformats.org/drawingml/2006/chart">
            <c:chart xmlns:c="http://schemas.openxmlformats.org/drawingml/2006/chart" r:id="rId8"/>
          </a:graphicData>
        </a:graphic>
      </p:graphicFrame>
      <p:sp>
        <p:nvSpPr>
          <p:cNvPr id="47" name="Text 37"/>
          <p:cNvSpPr txBox="1"/>
          <p:nvPr/>
        </p:nvSpPr>
        <p:spPr>
          <a:xfrm>
            <a:off x="10323576"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+10.4</a:t>
            </a:r>
            <a:endParaRPr lang="en-US" sz="1600" dirty="0"/>
          </a:p>
        </p:txBody>
      </p:sp>
      <p:sp>
        <p:nvSpPr>
          <p:cNvPr id="48" name="Text 38"/>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49" name="Text 39"/>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28.3</a:t>
            </a:r>
            <a:endParaRPr lang="en-US" sz="1400" dirty="0"/>
          </a:p>
        </p:txBody>
      </p:sp>
      <p:graphicFrame>
        <p:nvGraphicFramePr>
          <p:cNvPr id="50" name="Chart 8" descr=""/>
          <p:cNvGraphicFramePr/>
          <p:nvPr/>
        </p:nvGraphicFramePr>
        <p:xfrm>
          <a:off x="8479536" y="4175760"/>
          <a:ext cx="1972056" cy="502615"/>
        </p:xfrm>
        <a:graphic xmlns:a="http://schemas.openxmlformats.org/drawingml/2006/main">
          <a:graphicData uri="http://schemas.openxmlformats.org/drawingml/2006/chart">
            <c:chart xmlns:c="http://schemas.openxmlformats.org/drawingml/2006/chart" r:id="rId9"/>
          </a:graphicData>
        </a:graphic>
      </p:graphicFrame>
      <p:graphicFrame>
        <p:nvGraphicFramePr>
          <p:cNvPr id="51" name="Chart 9" descr=""/>
          <p:cNvGraphicFramePr/>
          <p:nvPr/>
        </p:nvGraphicFramePr>
        <p:xfrm>
          <a:off x="8479536" y="4175760"/>
          <a:ext cx="1972056" cy="502615"/>
        </p:xfrm>
        <a:graphic xmlns:a="http://schemas.openxmlformats.org/drawingml/2006/main">
          <a:graphicData uri="http://schemas.openxmlformats.org/drawingml/2006/chart">
            <c:chart xmlns:c="http://schemas.openxmlformats.org/drawingml/2006/chart" r:id="rId10"/>
          </a:graphicData>
        </a:graphic>
      </p:graphicFrame>
      <p:sp>
        <p:nvSpPr>
          <p:cNvPr id="52" name="Text 40"/>
          <p:cNvSpPr txBox="1"/>
          <p:nvPr/>
        </p:nvSpPr>
        <p:spPr>
          <a:xfrm>
            <a:off x="10323576"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+9.4</a:t>
            </a:r>
            <a:endParaRPr lang="en-US" sz="1600" dirty="0"/>
          </a:p>
        </p:txBody>
      </p:sp>
      <p:sp>
        <p:nvSpPr>
          <p:cNvPr id="53" name="Shape 41"/>
          <p:cNvSpPr/>
          <p:nvPr/>
        </p:nvSpPr>
        <p:spPr>
          <a:xfrm>
            <a:off x="8040624" y="4767072"/>
            <a:ext cx="3489960" cy="1478280"/>
          </a:xfrm>
          <a:prstGeom prst="rect">
            <a:avLst/>
          </a:prstGeom>
          <a:solidFill>
            <a:srgbClr val="F7F7F7"/>
          </a:solidFill>
          <a:ln/>
        </p:spPr>
      </p:sp>
      <p:sp>
        <p:nvSpPr>
          <p:cNvPr id="54" name="Shape 42"/>
          <p:cNvSpPr/>
          <p:nvPr/>
        </p:nvSpPr>
        <p:spPr>
          <a:xfrm>
            <a:off x="11466576" y="4803648"/>
            <a:ext cx="64008" cy="1405128"/>
          </a:xfrm>
          <a:prstGeom prst="rect">
            <a:avLst/>
          </a:prstGeom>
          <a:solidFill>
            <a:srgbClr val="12A566"/>
          </a:solidFill>
          <a:ln/>
        </p:spPr>
      </p:sp>
      <p:sp>
        <p:nvSpPr>
          <p:cNvPr id="55" name="Text 43"/>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56" name="Text 44"/>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33.1</a:t>
            </a:r>
            <a:endParaRPr lang="en-US" sz="1400" dirty="0"/>
          </a:p>
        </p:txBody>
      </p:sp>
      <p:graphicFrame>
        <p:nvGraphicFramePr>
          <p:cNvPr id="57" name="Chart 10" descr=""/>
          <p:cNvGraphicFramePr/>
          <p:nvPr/>
        </p:nvGraphicFramePr>
        <p:xfrm>
          <a:off x="8479536" y="5654040"/>
          <a:ext cx="1972056" cy="502615"/>
        </p:xfrm>
        <a:graphic xmlns:a="http://schemas.openxmlformats.org/drawingml/2006/main">
          <a:graphicData uri="http://schemas.openxmlformats.org/drawingml/2006/chart">
            <c:chart xmlns:c="http://schemas.openxmlformats.org/drawingml/2006/chart" r:id="rId11"/>
          </a:graphicData>
        </a:graphic>
      </p:graphicFrame>
      <p:graphicFrame>
        <p:nvGraphicFramePr>
          <p:cNvPr id="58" name="Chart 11" descr=""/>
          <p:cNvGraphicFramePr/>
          <p:nvPr/>
        </p:nvGraphicFramePr>
        <p:xfrm>
          <a:off x="8479536" y="5654040"/>
          <a:ext cx="1972056" cy="502615"/>
        </p:xfrm>
        <a:graphic xmlns:a="http://schemas.openxmlformats.org/drawingml/2006/main">
          <a:graphicData uri="http://schemas.openxmlformats.org/drawingml/2006/chart">
            <c:chart xmlns:c="http://schemas.openxmlformats.org/drawingml/2006/chart" r:id="rId12"/>
          </a:graphicData>
        </a:graphic>
      </p:graphicFrame>
      <p:sp>
        <p:nvSpPr>
          <p:cNvPr id="59" name="Text 45"/>
          <p:cNvSpPr txBox="1"/>
          <p:nvPr/>
        </p:nvSpPr>
        <p:spPr>
          <a:xfrm>
            <a:off x="10323576"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+6.0</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Manager</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377</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390</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+13</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+3.5%</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&amp; W ROs per Fixed Manager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71856"/>
          </a:xfrm>
          <a:prstGeom prst="rect">
            <a:avLst/>
          </a:prstGeom>
          <a:solidFill>
            <a:srgbClr val="E6F6EE"/>
          </a:solidFill>
          <a:ln/>
        </p:spPr>
      </p:sp>
      <p:sp>
        <p:nvSpPr>
          <p:cNvPr id="30"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13 to 390, ahead of 2025 in eight of nine months. Managers fell 5.6%.</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Manager</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4442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&amp; W ROS PER FIXED MANAGER</a:t>
            </a:r>
            <a:endParaRPr lang="en-US" sz="1500" dirty="0"/>
          </a:p>
        </p:txBody>
      </p:sp>
      <p:sp>
        <p:nvSpPr>
          <p:cNvPr id="9" name="Text 7"/>
          <p:cNvSpPr txBox="1"/>
          <p:nvPr/>
        </p:nvSpPr>
        <p:spPr>
          <a:xfrm>
            <a:off x="4358640" y="1335024"/>
            <a:ext cx="368808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390</a:t>
            </a:r>
            <a:endParaRPr lang="en-US" sz="2000" dirty="0"/>
          </a:p>
        </p:txBody>
      </p:sp>
      <p:sp>
        <p:nvSpPr>
          <p:cNvPr id="11" name="Text 9"/>
          <p:cNvSpPr txBox="1"/>
          <p:nvPr/>
        </p:nvSpPr>
        <p:spPr>
          <a:xfrm>
            <a:off x="658368" y="1847088"/>
            <a:ext cx="5303520" cy="246888"/>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LUXURY · AVERAGE 276</a:t>
            </a:r>
            <a:endParaRPr lang="en-US" sz="1300" dirty="0"/>
          </a:p>
        </p:txBody>
      </p:sp>
      <p:sp>
        <p:nvSpPr>
          <p:cNvPr id="12" name="Shape 10"/>
          <p:cNvSpPr/>
          <p:nvPr/>
        </p:nvSpPr>
        <p:spPr>
          <a:xfrm>
            <a:off x="658368" y="2075688"/>
            <a:ext cx="5303520" cy="18288"/>
          </a:xfrm>
          <a:prstGeom prst="rect">
            <a:avLst/>
          </a:prstGeom>
          <a:solidFill>
            <a:srgbClr val="0B2C4A"/>
          </a:solidFill>
          <a:ln/>
        </p:spPr>
      </p:sp>
      <p:sp>
        <p:nvSpPr>
          <p:cNvPr id="13" name="Text 11"/>
          <p:cNvSpPr txBox="1"/>
          <p:nvPr/>
        </p:nvSpPr>
        <p:spPr>
          <a:xfrm>
            <a:off x="658368" y="209397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4" name="Text 12"/>
          <p:cNvSpPr txBox="1"/>
          <p:nvPr/>
        </p:nvSpPr>
        <p:spPr>
          <a:xfrm>
            <a:off x="1014984" y="209397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5" name="Shape 13"/>
          <p:cNvSpPr/>
          <p:nvPr/>
        </p:nvSpPr>
        <p:spPr>
          <a:xfrm>
            <a:off x="3008376" y="2155698"/>
            <a:ext cx="1208610" cy="123444"/>
          </a:xfrm>
          <a:prstGeom prst="rect">
            <a:avLst/>
          </a:prstGeom>
          <a:solidFill>
            <a:srgbClr val="12A566"/>
          </a:solidFill>
          <a:ln/>
        </p:spPr>
      </p:sp>
      <p:sp>
        <p:nvSpPr>
          <p:cNvPr id="16" name="Text 14"/>
          <p:cNvSpPr txBox="1"/>
          <p:nvPr/>
        </p:nvSpPr>
        <p:spPr>
          <a:xfrm>
            <a:off x="4754880" y="209397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491</a:t>
            </a:r>
            <a:endParaRPr lang="en-US" sz="1200" dirty="0"/>
          </a:p>
        </p:txBody>
      </p:sp>
      <p:sp>
        <p:nvSpPr>
          <p:cNvPr id="17" name="Text 15"/>
          <p:cNvSpPr txBox="1"/>
          <p:nvPr/>
        </p:nvSpPr>
        <p:spPr>
          <a:xfrm>
            <a:off x="658368" y="234086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8" name="Text 16"/>
          <p:cNvSpPr txBox="1"/>
          <p:nvPr/>
        </p:nvSpPr>
        <p:spPr>
          <a:xfrm>
            <a:off x="1014984" y="234086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9" name="Shape 17"/>
          <p:cNvSpPr/>
          <p:nvPr/>
        </p:nvSpPr>
        <p:spPr>
          <a:xfrm>
            <a:off x="3008376" y="2402586"/>
            <a:ext cx="902480" cy="123444"/>
          </a:xfrm>
          <a:prstGeom prst="rect">
            <a:avLst/>
          </a:prstGeom>
          <a:solidFill>
            <a:srgbClr val="12A566"/>
          </a:solidFill>
          <a:ln/>
        </p:spPr>
      </p:sp>
      <p:sp>
        <p:nvSpPr>
          <p:cNvPr id="20" name="Text 18"/>
          <p:cNvSpPr txBox="1"/>
          <p:nvPr/>
        </p:nvSpPr>
        <p:spPr>
          <a:xfrm>
            <a:off x="4754880" y="234086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367</a:t>
            </a:r>
            <a:endParaRPr lang="en-US" sz="1200" dirty="0"/>
          </a:p>
        </p:txBody>
      </p:sp>
      <p:sp>
        <p:nvSpPr>
          <p:cNvPr id="21" name="Text 19"/>
          <p:cNvSpPr txBox="1"/>
          <p:nvPr/>
        </p:nvSpPr>
        <p:spPr>
          <a:xfrm>
            <a:off x="658368" y="258775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2" name="Text 20"/>
          <p:cNvSpPr txBox="1"/>
          <p:nvPr/>
        </p:nvSpPr>
        <p:spPr>
          <a:xfrm>
            <a:off x="1014984" y="258775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23" name="Shape 21"/>
          <p:cNvSpPr/>
          <p:nvPr/>
        </p:nvSpPr>
        <p:spPr>
          <a:xfrm>
            <a:off x="3008376" y="2649474"/>
            <a:ext cx="819371" cy="123444"/>
          </a:xfrm>
          <a:prstGeom prst="rect">
            <a:avLst/>
          </a:prstGeom>
          <a:solidFill>
            <a:srgbClr val="12A566"/>
          </a:solidFill>
          <a:ln/>
        </p:spPr>
      </p:sp>
      <p:sp>
        <p:nvSpPr>
          <p:cNvPr id="24" name="Text 22"/>
          <p:cNvSpPr txBox="1"/>
          <p:nvPr/>
        </p:nvSpPr>
        <p:spPr>
          <a:xfrm>
            <a:off x="4754880" y="2587752"/>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333</a:t>
            </a:r>
            <a:endParaRPr lang="en-US" sz="1200" dirty="0"/>
          </a:p>
        </p:txBody>
      </p:sp>
      <p:sp>
        <p:nvSpPr>
          <p:cNvPr id="25" name="Text 23"/>
          <p:cNvSpPr txBox="1"/>
          <p:nvPr/>
        </p:nvSpPr>
        <p:spPr>
          <a:xfrm>
            <a:off x="658368" y="283464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6" name="Text 24"/>
          <p:cNvSpPr txBox="1"/>
          <p:nvPr/>
        </p:nvSpPr>
        <p:spPr>
          <a:xfrm>
            <a:off x="1014984" y="283464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27" name="Shape 25"/>
          <p:cNvSpPr/>
          <p:nvPr/>
        </p:nvSpPr>
        <p:spPr>
          <a:xfrm>
            <a:off x="3008376" y="2896362"/>
            <a:ext cx="717480" cy="123444"/>
          </a:xfrm>
          <a:prstGeom prst="rect">
            <a:avLst/>
          </a:prstGeom>
          <a:solidFill>
            <a:srgbClr val="12A566"/>
          </a:solidFill>
          <a:ln/>
        </p:spPr>
      </p:sp>
      <p:sp>
        <p:nvSpPr>
          <p:cNvPr id="28" name="Text 26"/>
          <p:cNvSpPr txBox="1"/>
          <p:nvPr/>
        </p:nvSpPr>
        <p:spPr>
          <a:xfrm>
            <a:off x="4754880" y="2834640"/>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291</a:t>
            </a:r>
            <a:endParaRPr lang="en-US" sz="1200" dirty="0"/>
          </a:p>
        </p:txBody>
      </p:sp>
      <p:sp>
        <p:nvSpPr>
          <p:cNvPr id="29" name="Text 27"/>
          <p:cNvSpPr txBox="1"/>
          <p:nvPr/>
        </p:nvSpPr>
        <p:spPr>
          <a:xfrm>
            <a:off x="658368" y="308152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0" name="Text 28"/>
          <p:cNvSpPr txBox="1"/>
          <p:nvPr/>
        </p:nvSpPr>
        <p:spPr>
          <a:xfrm>
            <a:off x="1014984" y="308152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31" name="Shape 29"/>
          <p:cNvSpPr/>
          <p:nvPr/>
        </p:nvSpPr>
        <p:spPr>
          <a:xfrm>
            <a:off x="3008376" y="3143250"/>
            <a:ext cx="707906" cy="123444"/>
          </a:xfrm>
          <a:prstGeom prst="rect">
            <a:avLst/>
          </a:prstGeom>
          <a:solidFill>
            <a:srgbClr val="12A566"/>
          </a:solidFill>
          <a:ln/>
        </p:spPr>
      </p:sp>
      <p:sp>
        <p:nvSpPr>
          <p:cNvPr id="32" name="Text 30"/>
          <p:cNvSpPr txBox="1"/>
          <p:nvPr/>
        </p:nvSpPr>
        <p:spPr>
          <a:xfrm>
            <a:off x="4754880" y="3081528"/>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288</a:t>
            </a:r>
            <a:endParaRPr lang="en-US" sz="1200" dirty="0"/>
          </a:p>
        </p:txBody>
      </p:sp>
      <p:sp>
        <p:nvSpPr>
          <p:cNvPr id="33" name="Text 31"/>
          <p:cNvSpPr txBox="1"/>
          <p:nvPr/>
        </p:nvSpPr>
        <p:spPr>
          <a:xfrm>
            <a:off x="658368" y="332841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4" name="Text 32"/>
          <p:cNvSpPr txBox="1"/>
          <p:nvPr/>
        </p:nvSpPr>
        <p:spPr>
          <a:xfrm>
            <a:off x="1014984" y="332841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35" name="Shape 33"/>
          <p:cNvSpPr/>
          <p:nvPr/>
        </p:nvSpPr>
        <p:spPr>
          <a:xfrm>
            <a:off x="3008376" y="3390138"/>
            <a:ext cx="619947" cy="123444"/>
          </a:xfrm>
          <a:prstGeom prst="rect">
            <a:avLst/>
          </a:prstGeom>
          <a:solidFill>
            <a:srgbClr val="C2352F"/>
          </a:solidFill>
          <a:ln/>
        </p:spPr>
      </p:sp>
      <p:sp>
        <p:nvSpPr>
          <p:cNvPr id="36" name="Text 34"/>
          <p:cNvSpPr txBox="1"/>
          <p:nvPr/>
        </p:nvSpPr>
        <p:spPr>
          <a:xfrm>
            <a:off x="4754880" y="332841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252</a:t>
            </a:r>
            <a:endParaRPr lang="en-US" sz="1200" dirty="0"/>
          </a:p>
        </p:txBody>
      </p:sp>
      <p:sp>
        <p:nvSpPr>
          <p:cNvPr id="37" name="Text 35"/>
          <p:cNvSpPr txBox="1"/>
          <p:nvPr/>
        </p:nvSpPr>
        <p:spPr>
          <a:xfrm>
            <a:off x="658368" y="357530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8" name="Text 36"/>
          <p:cNvSpPr txBox="1"/>
          <p:nvPr/>
        </p:nvSpPr>
        <p:spPr>
          <a:xfrm>
            <a:off x="1014984" y="357530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39" name="Shape 37"/>
          <p:cNvSpPr/>
          <p:nvPr/>
        </p:nvSpPr>
        <p:spPr>
          <a:xfrm>
            <a:off x="3008376" y="3637026"/>
            <a:ext cx="488532" cy="123444"/>
          </a:xfrm>
          <a:prstGeom prst="rect">
            <a:avLst/>
          </a:prstGeom>
          <a:solidFill>
            <a:srgbClr val="C2352F"/>
          </a:solidFill>
          <a:ln/>
        </p:spPr>
      </p:sp>
      <p:sp>
        <p:nvSpPr>
          <p:cNvPr id="40" name="Text 38"/>
          <p:cNvSpPr txBox="1"/>
          <p:nvPr/>
        </p:nvSpPr>
        <p:spPr>
          <a:xfrm>
            <a:off x="4754880" y="357530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198</a:t>
            </a:r>
            <a:endParaRPr lang="en-US" sz="1200" dirty="0"/>
          </a:p>
        </p:txBody>
      </p:sp>
      <p:sp>
        <p:nvSpPr>
          <p:cNvPr id="41" name="Text 39"/>
          <p:cNvSpPr txBox="1"/>
          <p:nvPr/>
        </p:nvSpPr>
        <p:spPr>
          <a:xfrm>
            <a:off x="658368" y="382219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2" name="Text 40"/>
          <p:cNvSpPr txBox="1"/>
          <p:nvPr/>
        </p:nvSpPr>
        <p:spPr>
          <a:xfrm>
            <a:off x="1014984" y="382219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43" name="Shape 41"/>
          <p:cNvSpPr/>
          <p:nvPr/>
        </p:nvSpPr>
        <p:spPr>
          <a:xfrm>
            <a:off x="3008376" y="3883914"/>
            <a:ext cx="349030" cy="123444"/>
          </a:xfrm>
          <a:prstGeom prst="rect">
            <a:avLst/>
          </a:prstGeom>
          <a:solidFill>
            <a:srgbClr val="C2352F"/>
          </a:solidFill>
          <a:ln/>
        </p:spPr>
      </p:sp>
      <p:sp>
        <p:nvSpPr>
          <p:cNvPr id="44" name="Text 42"/>
          <p:cNvSpPr txBox="1"/>
          <p:nvPr/>
        </p:nvSpPr>
        <p:spPr>
          <a:xfrm>
            <a:off x="4754880" y="382219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142</a:t>
            </a:r>
            <a:endParaRPr lang="en-US" sz="1200" dirty="0"/>
          </a:p>
        </p:txBody>
      </p:sp>
      <p:sp>
        <p:nvSpPr>
          <p:cNvPr id="45" name="Text 43"/>
          <p:cNvSpPr txBox="1"/>
          <p:nvPr/>
        </p:nvSpPr>
        <p:spPr>
          <a:xfrm>
            <a:off x="658368" y="406908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6" name="Text 44"/>
          <p:cNvSpPr txBox="1"/>
          <p:nvPr/>
        </p:nvSpPr>
        <p:spPr>
          <a:xfrm>
            <a:off x="1014984" y="406908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47" name="Shape 45"/>
          <p:cNvSpPr/>
          <p:nvPr/>
        </p:nvSpPr>
        <p:spPr>
          <a:xfrm>
            <a:off x="3008376" y="4130802"/>
            <a:ext cx="291998" cy="123444"/>
          </a:xfrm>
          <a:prstGeom prst="rect">
            <a:avLst/>
          </a:prstGeom>
          <a:solidFill>
            <a:srgbClr val="C2352F"/>
          </a:solidFill>
          <a:ln/>
        </p:spPr>
      </p:sp>
      <p:sp>
        <p:nvSpPr>
          <p:cNvPr id="48" name="Text 46"/>
          <p:cNvSpPr txBox="1"/>
          <p:nvPr/>
        </p:nvSpPr>
        <p:spPr>
          <a:xfrm>
            <a:off x="4754880" y="406908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119</a:t>
            </a:r>
            <a:endParaRPr lang="en-US" sz="1200" dirty="0"/>
          </a:p>
        </p:txBody>
      </p:sp>
      <p:sp>
        <p:nvSpPr>
          <p:cNvPr id="49" name="Shape 47"/>
          <p:cNvSpPr/>
          <p:nvPr/>
        </p:nvSpPr>
        <p:spPr>
          <a:xfrm>
            <a:off x="658368" y="4297680"/>
            <a:ext cx="5303520" cy="18288"/>
          </a:xfrm>
          <a:prstGeom prst="rect">
            <a:avLst/>
          </a:prstGeom>
          <a:solidFill>
            <a:srgbClr val="0B2C4A"/>
          </a:solidFill>
          <a:ln/>
        </p:spPr>
      </p:sp>
      <p:sp>
        <p:nvSpPr>
          <p:cNvPr id="50" name="Text 48"/>
          <p:cNvSpPr txBox="1"/>
          <p:nvPr/>
        </p:nvSpPr>
        <p:spPr>
          <a:xfrm>
            <a:off x="658368" y="4315968"/>
            <a:ext cx="5303520" cy="246888"/>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NON-LUXURY · AVERAGE 418</a:t>
            </a:r>
            <a:endParaRPr lang="en-US" sz="1300" dirty="0"/>
          </a:p>
        </p:txBody>
      </p:sp>
      <p:sp>
        <p:nvSpPr>
          <p:cNvPr id="51" name="Shape 49"/>
          <p:cNvSpPr/>
          <p:nvPr/>
        </p:nvSpPr>
        <p:spPr>
          <a:xfrm>
            <a:off x="658368" y="4544568"/>
            <a:ext cx="5303520" cy="18288"/>
          </a:xfrm>
          <a:prstGeom prst="rect">
            <a:avLst/>
          </a:prstGeom>
          <a:solidFill>
            <a:srgbClr val="0B2C4A"/>
          </a:solidFill>
          <a:ln/>
        </p:spPr>
      </p:sp>
      <p:sp>
        <p:nvSpPr>
          <p:cNvPr id="52" name="Text 50"/>
          <p:cNvSpPr txBox="1"/>
          <p:nvPr/>
        </p:nvSpPr>
        <p:spPr>
          <a:xfrm>
            <a:off x="658368" y="456285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53" name="Text 51"/>
          <p:cNvSpPr txBox="1"/>
          <p:nvPr/>
        </p:nvSpPr>
        <p:spPr>
          <a:xfrm>
            <a:off x="1014984" y="456285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54" name="Shape 52"/>
          <p:cNvSpPr/>
          <p:nvPr/>
        </p:nvSpPr>
        <p:spPr>
          <a:xfrm>
            <a:off x="3008376" y="4624578"/>
            <a:ext cx="1658471" cy="123444"/>
          </a:xfrm>
          <a:prstGeom prst="rect">
            <a:avLst/>
          </a:prstGeom>
          <a:solidFill>
            <a:srgbClr val="12A566"/>
          </a:solidFill>
          <a:ln/>
        </p:spPr>
      </p:sp>
      <p:sp>
        <p:nvSpPr>
          <p:cNvPr id="55" name="Text 53"/>
          <p:cNvSpPr txBox="1"/>
          <p:nvPr/>
        </p:nvSpPr>
        <p:spPr>
          <a:xfrm>
            <a:off x="4754880" y="456285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1,022</a:t>
            </a:r>
            <a:endParaRPr lang="en-US" sz="1200" dirty="0"/>
          </a:p>
        </p:txBody>
      </p:sp>
      <p:sp>
        <p:nvSpPr>
          <p:cNvPr id="56" name="Text 54"/>
          <p:cNvSpPr txBox="1"/>
          <p:nvPr/>
        </p:nvSpPr>
        <p:spPr>
          <a:xfrm>
            <a:off x="658368" y="480974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57" name="Text 55"/>
          <p:cNvSpPr txBox="1"/>
          <p:nvPr/>
        </p:nvSpPr>
        <p:spPr>
          <a:xfrm>
            <a:off x="1014984" y="480974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58" name="Shape 56"/>
          <p:cNvSpPr/>
          <p:nvPr/>
        </p:nvSpPr>
        <p:spPr>
          <a:xfrm>
            <a:off x="3008376" y="4871466"/>
            <a:ext cx="1241954" cy="123444"/>
          </a:xfrm>
          <a:prstGeom prst="rect">
            <a:avLst/>
          </a:prstGeom>
          <a:solidFill>
            <a:srgbClr val="12A566"/>
          </a:solidFill>
          <a:ln/>
        </p:spPr>
      </p:sp>
      <p:sp>
        <p:nvSpPr>
          <p:cNvPr id="59" name="Text 57"/>
          <p:cNvSpPr txBox="1"/>
          <p:nvPr/>
        </p:nvSpPr>
        <p:spPr>
          <a:xfrm>
            <a:off x="4754880" y="480974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765</a:t>
            </a:r>
            <a:endParaRPr lang="en-US" sz="1200" dirty="0"/>
          </a:p>
        </p:txBody>
      </p:sp>
      <p:sp>
        <p:nvSpPr>
          <p:cNvPr id="60" name="Text 58"/>
          <p:cNvSpPr txBox="1"/>
          <p:nvPr/>
        </p:nvSpPr>
        <p:spPr>
          <a:xfrm>
            <a:off x="658368" y="505663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61" name="Text 59"/>
          <p:cNvSpPr txBox="1"/>
          <p:nvPr/>
        </p:nvSpPr>
        <p:spPr>
          <a:xfrm>
            <a:off x="1014984" y="505663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62" name="Shape 60"/>
          <p:cNvSpPr/>
          <p:nvPr/>
        </p:nvSpPr>
        <p:spPr>
          <a:xfrm>
            <a:off x="3008376" y="5118354"/>
            <a:ext cx="1113250" cy="123444"/>
          </a:xfrm>
          <a:prstGeom prst="rect">
            <a:avLst/>
          </a:prstGeom>
          <a:solidFill>
            <a:srgbClr val="12A566"/>
          </a:solidFill>
          <a:ln/>
        </p:spPr>
      </p:sp>
      <p:sp>
        <p:nvSpPr>
          <p:cNvPr id="63" name="Text 61"/>
          <p:cNvSpPr txBox="1"/>
          <p:nvPr/>
        </p:nvSpPr>
        <p:spPr>
          <a:xfrm>
            <a:off x="4754880" y="5056632"/>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686</a:t>
            </a:r>
            <a:endParaRPr lang="en-US" sz="1200" dirty="0"/>
          </a:p>
        </p:txBody>
      </p:sp>
      <p:sp>
        <p:nvSpPr>
          <p:cNvPr id="64" name="Text 62"/>
          <p:cNvSpPr txBox="1"/>
          <p:nvPr/>
        </p:nvSpPr>
        <p:spPr>
          <a:xfrm>
            <a:off x="658368" y="530352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65" name="Text 63"/>
          <p:cNvSpPr txBox="1"/>
          <p:nvPr/>
        </p:nvSpPr>
        <p:spPr>
          <a:xfrm>
            <a:off x="1014984" y="530352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66" name="Shape 64"/>
          <p:cNvSpPr/>
          <p:nvPr/>
        </p:nvSpPr>
        <p:spPr>
          <a:xfrm>
            <a:off x="3008376" y="5365242"/>
            <a:ext cx="1066361" cy="123444"/>
          </a:xfrm>
          <a:prstGeom prst="rect">
            <a:avLst/>
          </a:prstGeom>
          <a:solidFill>
            <a:srgbClr val="12A566"/>
          </a:solidFill>
          <a:ln/>
        </p:spPr>
      </p:sp>
      <p:sp>
        <p:nvSpPr>
          <p:cNvPr id="67" name="Text 65"/>
          <p:cNvSpPr txBox="1"/>
          <p:nvPr/>
        </p:nvSpPr>
        <p:spPr>
          <a:xfrm>
            <a:off x="4754880" y="5303520"/>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657</a:t>
            </a:r>
            <a:endParaRPr lang="en-US" sz="1200" dirty="0"/>
          </a:p>
        </p:txBody>
      </p:sp>
      <p:sp>
        <p:nvSpPr>
          <p:cNvPr id="68" name="Text 66"/>
          <p:cNvSpPr txBox="1"/>
          <p:nvPr/>
        </p:nvSpPr>
        <p:spPr>
          <a:xfrm>
            <a:off x="658368" y="555040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69" name="Text 67"/>
          <p:cNvSpPr txBox="1"/>
          <p:nvPr/>
        </p:nvSpPr>
        <p:spPr>
          <a:xfrm>
            <a:off x="1014984" y="555040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70" name="Shape 68"/>
          <p:cNvSpPr/>
          <p:nvPr/>
        </p:nvSpPr>
        <p:spPr>
          <a:xfrm>
            <a:off x="3008376" y="5612130"/>
            <a:ext cx="958457" cy="123444"/>
          </a:xfrm>
          <a:prstGeom prst="rect">
            <a:avLst/>
          </a:prstGeom>
          <a:solidFill>
            <a:srgbClr val="12A566"/>
          </a:solidFill>
          <a:ln/>
        </p:spPr>
      </p:sp>
      <p:sp>
        <p:nvSpPr>
          <p:cNvPr id="71" name="Text 69"/>
          <p:cNvSpPr txBox="1"/>
          <p:nvPr/>
        </p:nvSpPr>
        <p:spPr>
          <a:xfrm>
            <a:off x="4754880" y="5550408"/>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591</a:t>
            </a:r>
            <a:endParaRPr lang="en-US" sz="1200" dirty="0"/>
          </a:p>
        </p:txBody>
      </p:sp>
      <p:sp>
        <p:nvSpPr>
          <p:cNvPr id="72" name="Text 70"/>
          <p:cNvSpPr txBox="1"/>
          <p:nvPr/>
        </p:nvSpPr>
        <p:spPr>
          <a:xfrm>
            <a:off x="658368" y="579729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73" name="Text 71"/>
          <p:cNvSpPr txBox="1"/>
          <p:nvPr/>
        </p:nvSpPr>
        <p:spPr>
          <a:xfrm>
            <a:off x="1014984" y="579729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74" name="Shape 72"/>
          <p:cNvSpPr/>
          <p:nvPr/>
        </p:nvSpPr>
        <p:spPr>
          <a:xfrm>
            <a:off x="3008376" y="5859018"/>
            <a:ext cx="908517" cy="123444"/>
          </a:xfrm>
          <a:prstGeom prst="rect">
            <a:avLst/>
          </a:prstGeom>
          <a:solidFill>
            <a:srgbClr val="12A566"/>
          </a:solidFill>
          <a:ln/>
        </p:spPr>
      </p:sp>
      <p:sp>
        <p:nvSpPr>
          <p:cNvPr id="75" name="Text 73"/>
          <p:cNvSpPr txBox="1"/>
          <p:nvPr/>
        </p:nvSpPr>
        <p:spPr>
          <a:xfrm>
            <a:off x="4754880" y="5797296"/>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560</a:t>
            </a:r>
            <a:endParaRPr lang="en-US" sz="1200" dirty="0"/>
          </a:p>
        </p:txBody>
      </p:sp>
      <p:sp>
        <p:nvSpPr>
          <p:cNvPr id="76" name="Text 74"/>
          <p:cNvSpPr txBox="1"/>
          <p:nvPr/>
        </p:nvSpPr>
        <p:spPr>
          <a:xfrm>
            <a:off x="658368" y="604418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77" name="Text 75"/>
          <p:cNvSpPr txBox="1"/>
          <p:nvPr/>
        </p:nvSpPr>
        <p:spPr>
          <a:xfrm>
            <a:off x="1014984" y="604418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78" name="Shape 76"/>
          <p:cNvSpPr/>
          <p:nvPr/>
        </p:nvSpPr>
        <p:spPr>
          <a:xfrm>
            <a:off x="3008376" y="6105906"/>
            <a:ext cx="693414" cy="123444"/>
          </a:xfrm>
          <a:prstGeom prst="rect">
            <a:avLst/>
          </a:prstGeom>
          <a:solidFill>
            <a:srgbClr val="12A566"/>
          </a:solidFill>
          <a:ln/>
        </p:spPr>
      </p:sp>
      <p:sp>
        <p:nvSpPr>
          <p:cNvPr id="79" name="Text 77"/>
          <p:cNvSpPr txBox="1"/>
          <p:nvPr/>
        </p:nvSpPr>
        <p:spPr>
          <a:xfrm>
            <a:off x="4754880" y="6044184"/>
            <a:ext cx="1143000" cy="246888"/>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427</a:t>
            </a:r>
            <a:endParaRPr lang="en-US" sz="1200" dirty="0"/>
          </a:p>
        </p:txBody>
      </p:sp>
      <p:sp>
        <p:nvSpPr>
          <p:cNvPr id="80" name="Text 78"/>
          <p:cNvSpPr txBox="1"/>
          <p:nvPr/>
        </p:nvSpPr>
        <p:spPr>
          <a:xfrm>
            <a:off x="6208776" y="1847088"/>
            <a:ext cx="5303520" cy="246888"/>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NON-LUXURY · AVERAGE 418  (CONTINUED)</a:t>
            </a:r>
            <a:endParaRPr lang="en-US" sz="1300" dirty="0"/>
          </a:p>
        </p:txBody>
      </p:sp>
      <p:sp>
        <p:nvSpPr>
          <p:cNvPr id="81" name="Shape 79"/>
          <p:cNvSpPr/>
          <p:nvPr/>
        </p:nvSpPr>
        <p:spPr>
          <a:xfrm>
            <a:off x="6208776" y="2075688"/>
            <a:ext cx="5303520" cy="18288"/>
          </a:xfrm>
          <a:prstGeom prst="rect">
            <a:avLst/>
          </a:prstGeom>
          <a:solidFill>
            <a:srgbClr val="0B2C4A"/>
          </a:solidFill>
          <a:ln/>
        </p:spPr>
      </p:sp>
      <p:sp>
        <p:nvSpPr>
          <p:cNvPr id="82" name="Text 80"/>
          <p:cNvSpPr txBox="1"/>
          <p:nvPr/>
        </p:nvSpPr>
        <p:spPr>
          <a:xfrm>
            <a:off x="6208776" y="209397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83" name="Text 81"/>
          <p:cNvSpPr txBox="1"/>
          <p:nvPr/>
        </p:nvSpPr>
        <p:spPr>
          <a:xfrm>
            <a:off x="6565392" y="209397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84" name="Shape 82"/>
          <p:cNvSpPr/>
          <p:nvPr/>
        </p:nvSpPr>
        <p:spPr>
          <a:xfrm>
            <a:off x="8558784" y="2155698"/>
            <a:ext cx="647677" cy="123444"/>
          </a:xfrm>
          <a:prstGeom prst="rect">
            <a:avLst/>
          </a:prstGeom>
          <a:solidFill>
            <a:srgbClr val="C2352F"/>
          </a:solidFill>
          <a:ln/>
        </p:spPr>
      </p:sp>
      <p:sp>
        <p:nvSpPr>
          <p:cNvPr id="85" name="Text 83"/>
          <p:cNvSpPr txBox="1"/>
          <p:nvPr/>
        </p:nvSpPr>
        <p:spPr>
          <a:xfrm>
            <a:off x="10305288" y="209397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399</a:t>
            </a:r>
            <a:endParaRPr lang="en-US" sz="1200" dirty="0"/>
          </a:p>
        </p:txBody>
      </p:sp>
      <p:sp>
        <p:nvSpPr>
          <p:cNvPr id="86" name="Text 84"/>
          <p:cNvSpPr txBox="1"/>
          <p:nvPr/>
        </p:nvSpPr>
        <p:spPr>
          <a:xfrm>
            <a:off x="6208776" y="234086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87" name="Text 85"/>
          <p:cNvSpPr txBox="1"/>
          <p:nvPr/>
        </p:nvSpPr>
        <p:spPr>
          <a:xfrm>
            <a:off x="6565392" y="234086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88" name="Shape 86"/>
          <p:cNvSpPr/>
          <p:nvPr/>
        </p:nvSpPr>
        <p:spPr>
          <a:xfrm>
            <a:off x="8558784" y="2402586"/>
            <a:ext cx="636291" cy="123444"/>
          </a:xfrm>
          <a:prstGeom prst="rect">
            <a:avLst/>
          </a:prstGeom>
          <a:solidFill>
            <a:srgbClr val="C2352F"/>
          </a:solidFill>
          <a:ln/>
        </p:spPr>
      </p:sp>
      <p:sp>
        <p:nvSpPr>
          <p:cNvPr id="89" name="Text 87"/>
          <p:cNvSpPr txBox="1"/>
          <p:nvPr/>
        </p:nvSpPr>
        <p:spPr>
          <a:xfrm>
            <a:off x="10305288" y="234086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392</a:t>
            </a:r>
            <a:endParaRPr lang="en-US" sz="1200" dirty="0"/>
          </a:p>
        </p:txBody>
      </p:sp>
      <p:sp>
        <p:nvSpPr>
          <p:cNvPr id="90" name="Text 88"/>
          <p:cNvSpPr txBox="1"/>
          <p:nvPr/>
        </p:nvSpPr>
        <p:spPr>
          <a:xfrm>
            <a:off x="6208776" y="258775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91" name="Text 89"/>
          <p:cNvSpPr txBox="1"/>
          <p:nvPr/>
        </p:nvSpPr>
        <p:spPr>
          <a:xfrm>
            <a:off x="6565392" y="258775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92" name="Shape 90"/>
          <p:cNvSpPr/>
          <p:nvPr/>
        </p:nvSpPr>
        <p:spPr>
          <a:xfrm>
            <a:off x="8558784" y="2649474"/>
            <a:ext cx="610998" cy="123444"/>
          </a:xfrm>
          <a:prstGeom prst="rect">
            <a:avLst/>
          </a:prstGeom>
          <a:solidFill>
            <a:srgbClr val="C2352F"/>
          </a:solidFill>
          <a:ln/>
        </p:spPr>
      </p:sp>
      <p:sp>
        <p:nvSpPr>
          <p:cNvPr id="93" name="Text 91"/>
          <p:cNvSpPr txBox="1"/>
          <p:nvPr/>
        </p:nvSpPr>
        <p:spPr>
          <a:xfrm>
            <a:off x="10305288" y="258775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376</a:t>
            </a:r>
            <a:endParaRPr lang="en-US" sz="1200" dirty="0"/>
          </a:p>
        </p:txBody>
      </p:sp>
      <p:sp>
        <p:nvSpPr>
          <p:cNvPr id="94" name="Text 92"/>
          <p:cNvSpPr txBox="1"/>
          <p:nvPr/>
        </p:nvSpPr>
        <p:spPr>
          <a:xfrm>
            <a:off x="6208776" y="283464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95" name="Text 93"/>
          <p:cNvSpPr txBox="1"/>
          <p:nvPr/>
        </p:nvSpPr>
        <p:spPr>
          <a:xfrm>
            <a:off x="6565392" y="283464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96" name="Shape 94"/>
          <p:cNvSpPr/>
          <p:nvPr/>
        </p:nvSpPr>
        <p:spPr>
          <a:xfrm>
            <a:off x="8558784" y="2896362"/>
            <a:ext cx="599576" cy="123444"/>
          </a:xfrm>
          <a:prstGeom prst="rect">
            <a:avLst/>
          </a:prstGeom>
          <a:solidFill>
            <a:srgbClr val="C2352F"/>
          </a:solidFill>
          <a:ln/>
        </p:spPr>
      </p:sp>
      <p:sp>
        <p:nvSpPr>
          <p:cNvPr id="97" name="Text 95"/>
          <p:cNvSpPr txBox="1"/>
          <p:nvPr/>
        </p:nvSpPr>
        <p:spPr>
          <a:xfrm>
            <a:off x="10305288" y="283464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369</a:t>
            </a:r>
            <a:endParaRPr lang="en-US" sz="1200" dirty="0"/>
          </a:p>
        </p:txBody>
      </p:sp>
      <p:sp>
        <p:nvSpPr>
          <p:cNvPr id="98" name="Text 96"/>
          <p:cNvSpPr txBox="1"/>
          <p:nvPr/>
        </p:nvSpPr>
        <p:spPr>
          <a:xfrm>
            <a:off x="6208776" y="308152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99" name="Text 97"/>
          <p:cNvSpPr txBox="1"/>
          <p:nvPr/>
        </p:nvSpPr>
        <p:spPr>
          <a:xfrm>
            <a:off x="6565392" y="308152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0" name="Shape 98"/>
          <p:cNvSpPr/>
          <p:nvPr/>
        </p:nvSpPr>
        <p:spPr>
          <a:xfrm>
            <a:off x="8558784" y="3143250"/>
            <a:ext cx="577815" cy="123444"/>
          </a:xfrm>
          <a:prstGeom prst="rect">
            <a:avLst/>
          </a:prstGeom>
          <a:solidFill>
            <a:srgbClr val="C2352F"/>
          </a:solidFill>
          <a:ln/>
        </p:spPr>
      </p:sp>
      <p:sp>
        <p:nvSpPr>
          <p:cNvPr id="101" name="Text 99"/>
          <p:cNvSpPr txBox="1"/>
          <p:nvPr/>
        </p:nvSpPr>
        <p:spPr>
          <a:xfrm>
            <a:off x="10305288" y="3081528"/>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356</a:t>
            </a:r>
            <a:endParaRPr lang="en-US" sz="1200" dirty="0"/>
          </a:p>
        </p:txBody>
      </p:sp>
      <p:sp>
        <p:nvSpPr>
          <p:cNvPr id="102" name="Text 100"/>
          <p:cNvSpPr txBox="1"/>
          <p:nvPr/>
        </p:nvSpPr>
        <p:spPr>
          <a:xfrm>
            <a:off x="6208776" y="332841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103" name="Text 101"/>
          <p:cNvSpPr txBox="1"/>
          <p:nvPr/>
        </p:nvSpPr>
        <p:spPr>
          <a:xfrm>
            <a:off x="6565392" y="332841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04" name="Shape 102"/>
          <p:cNvSpPr/>
          <p:nvPr/>
        </p:nvSpPr>
        <p:spPr>
          <a:xfrm>
            <a:off x="8558784" y="3390138"/>
            <a:ext cx="570170" cy="123444"/>
          </a:xfrm>
          <a:prstGeom prst="rect">
            <a:avLst/>
          </a:prstGeom>
          <a:solidFill>
            <a:srgbClr val="C2352F"/>
          </a:solidFill>
          <a:ln/>
        </p:spPr>
      </p:sp>
      <p:sp>
        <p:nvSpPr>
          <p:cNvPr id="105" name="Text 103"/>
          <p:cNvSpPr txBox="1"/>
          <p:nvPr/>
        </p:nvSpPr>
        <p:spPr>
          <a:xfrm>
            <a:off x="10305288" y="332841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351</a:t>
            </a:r>
            <a:endParaRPr lang="en-US" sz="1200" dirty="0"/>
          </a:p>
        </p:txBody>
      </p:sp>
      <p:sp>
        <p:nvSpPr>
          <p:cNvPr id="106" name="Text 104"/>
          <p:cNvSpPr txBox="1"/>
          <p:nvPr/>
        </p:nvSpPr>
        <p:spPr>
          <a:xfrm>
            <a:off x="6208776" y="357530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107" name="Text 105"/>
          <p:cNvSpPr txBox="1"/>
          <p:nvPr/>
        </p:nvSpPr>
        <p:spPr>
          <a:xfrm>
            <a:off x="6565392" y="357530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08" name="Shape 106"/>
          <p:cNvSpPr/>
          <p:nvPr/>
        </p:nvSpPr>
        <p:spPr>
          <a:xfrm>
            <a:off x="8558784" y="3637026"/>
            <a:ext cx="530626" cy="123444"/>
          </a:xfrm>
          <a:prstGeom prst="rect">
            <a:avLst/>
          </a:prstGeom>
          <a:solidFill>
            <a:srgbClr val="C2352F"/>
          </a:solidFill>
          <a:ln/>
        </p:spPr>
      </p:sp>
      <p:sp>
        <p:nvSpPr>
          <p:cNvPr id="109" name="Text 107"/>
          <p:cNvSpPr txBox="1"/>
          <p:nvPr/>
        </p:nvSpPr>
        <p:spPr>
          <a:xfrm>
            <a:off x="10305288" y="357530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327</a:t>
            </a:r>
            <a:endParaRPr lang="en-US" sz="1200" dirty="0"/>
          </a:p>
        </p:txBody>
      </p:sp>
      <p:sp>
        <p:nvSpPr>
          <p:cNvPr id="110" name="Text 108"/>
          <p:cNvSpPr txBox="1"/>
          <p:nvPr/>
        </p:nvSpPr>
        <p:spPr>
          <a:xfrm>
            <a:off x="6208776" y="382219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111" name="Text 109"/>
          <p:cNvSpPr txBox="1"/>
          <p:nvPr/>
        </p:nvSpPr>
        <p:spPr>
          <a:xfrm>
            <a:off x="6565392" y="382219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12" name="Shape 110"/>
          <p:cNvSpPr/>
          <p:nvPr/>
        </p:nvSpPr>
        <p:spPr>
          <a:xfrm>
            <a:off x="8558784" y="3883914"/>
            <a:ext cx="500448" cy="123444"/>
          </a:xfrm>
          <a:prstGeom prst="rect">
            <a:avLst/>
          </a:prstGeom>
          <a:solidFill>
            <a:srgbClr val="C2352F"/>
          </a:solidFill>
          <a:ln/>
        </p:spPr>
      </p:sp>
      <p:sp>
        <p:nvSpPr>
          <p:cNvPr id="113" name="Text 111"/>
          <p:cNvSpPr txBox="1"/>
          <p:nvPr/>
        </p:nvSpPr>
        <p:spPr>
          <a:xfrm>
            <a:off x="10305288" y="382219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308</a:t>
            </a:r>
            <a:endParaRPr lang="en-US" sz="1200" dirty="0"/>
          </a:p>
        </p:txBody>
      </p:sp>
      <p:sp>
        <p:nvSpPr>
          <p:cNvPr id="114" name="Text 112"/>
          <p:cNvSpPr txBox="1"/>
          <p:nvPr/>
        </p:nvSpPr>
        <p:spPr>
          <a:xfrm>
            <a:off x="6208776" y="406908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15" name="Text 113"/>
          <p:cNvSpPr txBox="1"/>
          <p:nvPr/>
        </p:nvSpPr>
        <p:spPr>
          <a:xfrm>
            <a:off x="6565392" y="406908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16" name="Shape 114"/>
          <p:cNvSpPr/>
          <p:nvPr/>
        </p:nvSpPr>
        <p:spPr>
          <a:xfrm>
            <a:off x="8558784" y="4130802"/>
            <a:ext cx="485961" cy="123444"/>
          </a:xfrm>
          <a:prstGeom prst="rect">
            <a:avLst/>
          </a:prstGeom>
          <a:solidFill>
            <a:srgbClr val="C2352F"/>
          </a:solidFill>
          <a:ln/>
        </p:spPr>
      </p:sp>
      <p:sp>
        <p:nvSpPr>
          <p:cNvPr id="117" name="Text 115"/>
          <p:cNvSpPr txBox="1"/>
          <p:nvPr/>
        </p:nvSpPr>
        <p:spPr>
          <a:xfrm>
            <a:off x="10305288" y="406908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299</a:t>
            </a:r>
            <a:endParaRPr lang="en-US" sz="1200" dirty="0"/>
          </a:p>
        </p:txBody>
      </p:sp>
      <p:sp>
        <p:nvSpPr>
          <p:cNvPr id="118" name="Text 116"/>
          <p:cNvSpPr txBox="1"/>
          <p:nvPr/>
        </p:nvSpPr>
        <p:spPr>
          <a:xfrm>
            <a:off x="6208776" y="431596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19" name="Text 117"/>
          <p:cNvSpPr txBox="1"/>
          <p:nvPr/>
        </p:nvSpPr>
        <p:spPr>
          <a:xfrm>
            <a:off x="6565392" y="431596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20" name="Shape 118"/>
          <p:cNvSpPr/>
          <p:nvPr/>
        </p:nvSpPr>
        <p:spPr>
          <a:xfrm>
            <a:off x="8558784" y="4377690"/>
            <a:ext cx="442919" cy="123444"/>
          </a:xfrm>
          <a:prstGeom prst="rect">
            <a:avLst/>
          </a:prstGeom>
          <a:solidFill>
            <a:srgbClr val="C2352F"/>
          </a:solidFill>
          <a:ln/>
        </p:spPr>
      </p:sp>
      <p:sp>
        <p:nvSpPr>
          <p:cNvPr id="121" name="Text 119"/>
          <p:cNvSpPr txBox="1"/>
          <p:nvPr/>
        </p:nvSpPr>
        <p:spPr>
          <a:xfrm>
            <a:off x="10305288" y="4315968"/>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273</a:t>
            </a:r>
            <a:endParaRPr lang="en-US" sz="1200" dirty="0"/>
          </a:p>
        </p:txBody>
      </p:sp>
      <p:sp>
        <p:nvSpPr>
          <p:cNvPr id="122" name="Text 120"/>
          <p:cNvSpPr txBox="1"/>
          <p:nvPr/>
        </p:nvSpPr>
        <p:spPr>
          <a:xfrm>
            <a:off x="6208776" y="456285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23" name="Text 121"/>
          <p:cNvSpPr txBox="1"/>
          <p:nvPr/>
        </p:nvSpPr>
        <p:spPr>
          <a:xfrm>
            <a:off x="6565392" y="456285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24" name="Shape 122"/>
          <p:cNvSpPr/>
          <p:nvPr/>
        </p:nvSpPr>
        <p:spPr>
          <a:xfrm>
            <a:off x="8558784" y="4624578"/>
            <a:ext cx="441477" cy="123444"/>
          </a:xfrm>
          <a:prstGeom prst="rect">
            <a:avLst/>
          </a:prstGeom>
          <a:solidFill>
            <a:srgbClr val="C2352F"/>
          </a:solidFill>
          <a:ln/>
        </p:spPr>
      </p:sp>
      <p:sp>
        <p:nvSpPr>
          <p:cNvPr id="125" name="Text 123"/>
          <p:cNvSpPr txBox="1"/>
          <p:nvPr/>
        </p:nvSpPr>
        <p:spPr>
          <a:xfrm>
            <a:off x="10305288" y="456285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272</a:t>
            </a:r>
            <a:endParaRPr lang="en-US" sz="1200" dirty="0"/>
          </a:p>
        </p:txBody>
      </p:sp>
      <p:sp>
        <p:nvSpPr>
          <p:cNvPr id="126" name="Text 124"/>
          <p:cNvSpPr txBox="1"/>
          <p:nvPr/>
        </p:nvSpPr>
        <p:spPr>
          <a:xfrm>
            <a:off x="6208776" y="480974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7" name="Text 125"/>
          <p:cNvSpPr txBox="1"/>
          <p:nvPr/>
        </p:nvSpPr>
        <p:spPr>
          <a:xfrm>
            <a:off x="6565392" y="480974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28" name="Shape 126"/>
          <p:cNvSpPr/>
          <p:nvPr/>
        </p:nvSpPr>
        <p:spPr>
          <a:xfrm>
            <a:off x="8558784" y="4871466"/>
            <a:ext cx="377230" cy="123444"/>
          </a:xfrm>
          <a:prstGeom prst="rect">
            <a:avLst/>
          </a:prstGeom>
          <a:solidFill>
            <a:srgbClr val="C2352F"/>
          </a:solidFill>
          <a:ln/>
        </p:spPr>
      </p:sp>
      <p:sp>
        <p:nvSpPr>
          <p:cNvPr id="129" name="Text 127"/>
          <p:cNvSpPr txBox="1"/>
          <p:nvPr/>
        </p:nvSpPr>
        <p:spPr>
          <a:xfrm>
            <a:off x="10305288" y="480974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232</a:t>
            </a:r>
            <a:endParaRPr lang="en-US" sz="1200" dirty="0"/>
          </a:p>
        </p:txBody>
      </p:sp>
      <p:sp>
        <p:nvSpPr>
          <p:cNvPr id="130" name="Text 128"/>
          <p:cNvSpPr txBox="1"/>
          <p:nvPr/>
        </p:nvSpPr>
        <p:spPr>
          <a:xfrm>
            <a:off x="6208776" y="5056632"/>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31" name="Text 129"/>
          <p:cNvSpPr txBox="1"/>
          <p:nvPr/>
        </p:nvSpPr>
        <p:spPr>
          <a:xfrm>
            <a:off x="6565392" y="5056632"/>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32" name="Shape 130"/>
          <p:cNvSpPr/>
          <p:nvPr/>
        </p:nvSpPr>
        <p:spPr>
          <a:xfrm>
            <a:off x="8558784" y="5118354"/>
            <a:ext cx="373849" cy="123444"/>
          </a:xfrm>
          <a:prstGeom prst="rect">
            <a:avLst/>
          </a:prstGeom>
          <a:solidFill>
            <a:srgbClr val="C2352F"/>
          </a:solidFill>
          <a:ln/>
        </p:spPr>
      </p:sp>
      <p:sp>
        <p:nvSpPr>
          <p:cNvPr id="133" name="Text 131"/>
          <p:cNvSpPr txBox="1"/>
          <p:nvPr/>
        </p:nvSpPr>
        <p:spPr>
          <a:xfrm>
            <a:off x="10305288" y="5056632"/>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230</a:t>
            </a:r>
            <a:endParaRPr lang="en-US" sz="1200" dirty="0"/>
          </a:p>
        </p:txBody>
      </p:sp>
      <p:sp>
        <p:nvSpPr>
          <p:cNvPr id="134" name="Text 132"/>
          <p:cNvSpPr txBox="1"/>
          <p:nvPr/>
        </p:nvSpPr>
        <p:spPr>
          <a:xfrm>
            <a:off x="6208776" y="5303520"/>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5" name="Text 133"/>
          <p:cNvSpPr txBox="1"/>
          <p:nvPr/>
        </p:nvSpPr>
        <p:spPr>
          <a:xfrm>
            <a:off x="6565392" y="5303520"/>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36" name="Shape 134"/>
          <p:cNvSpPr/>
          <p:nvPr/>
        </p:nvSpPr>
        <p:spPr>
          <a:xfrm>
            <a:off x="8558784" y="5365242"/>
            <a:ext cx="357077" cy="123444"/>
          </a:xfrm>
          <a:prstGeom prst="rect">
            <a:avLst/>
          </a:prstGeom>
          <a:solidFill>
            <a:srgbClr val="C2352F"/>
          </a:solidFill>
          <a:ln/>
        </p:spPr>
      </p:sp>
      <p:sp>
        <p:nvSpPr>
          <p:cNvPr id="137" name="Text 135"/>
          <p:cNvSpPr txBox="1"/>
          <p:nvPr/>
        </p:nvSpPr>
        <p:spPr>
          <a:xfrm>
            <a:off x="10305288" y="5303520"/>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220</a:t>
            </a:r>
            <a:endParaRPr lang="en-US" sz="1200" dirty="0"/>
          </a:p>
        </p:txBody>
      </p:sp>
      <p:sp>
        <p:nvSpPr>
          <p:cNvPr id="138" name="Text 136"/>
          <p:cNvSpPr txBox="1"/>
          <p:nvPr/>
        </p:nvSpPr>
        <p:spPr>
          <a:xfrm>
            <a:off x="6208776" y="5550408"/>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9" name="Text 137"/>
          <p:cNvSpPr txBox="1"/>
          <p:nvPr/>
        </p:nvSpPr>
        <p:spPr>
          <a:xfrm>
            <a:off x="6565392" y="5550408"/>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40" name="Shape 138"/>
          <p:cNvSpPr/>
          <p:nvPr/>
        </p:nvSpPr>
        <p:spPr>
          <a:xfrm>
            <a:off x="8558784" y="5612130"/>
            <a:ext cx="329917" cy="123444"/>
          </a:xfrm>
          <a:prstGeom prst="rect">
            <a:avLst/>
          </a:prstGeom>
          <a:solidFill>
            <a:srgbClr val="C2352F"/>
          </a:solidFill>
          <a:ln/>
        </p:spPr>
      </p:sp>
      <p:sp>
        <p:nvSpPr>
          <p:cNvPr id="141" name="Text 139"/>
          <p:cNvSpPr txBox="1"/>
          <p:nvPr/>
        </p:nvSpPr>
        <p:spPr>
          <a:xfrm>
            <a:off x="10305288" y="5550408"/>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203</a:t>
            </a:r>
            <a:endParaRPr lang="en-US" sz="1200" dirty="0"/>
          </a:p>
        </p:txBody>
      </p:sp>
      <p:sp>
        <p:nvSpPr>
          <p:cNvPr id="142" name="Text 140"/>
          <p:cNvSpPr txBox="1"/>
          <p:nvPr/>
        </p:nvSpPr>
        <p:spPr>
          <a:xfrm>
            <a:off x="6208776" y="5797296"/>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3" name="Text 141"/>
          <p:cNvSpPr txBox="1"/>
          <p:nvPr/>
        </p:nvSpPr>
        <p:spPr>
          <a:xfrm>
            <a:off x="6565392" y="5797296"/>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44" name="Shape 142"/>
          <p:cNvSpPr/>
          <p:nvPr/>
        </p:nvSpPr>
        <p:spPr>
          <a:xfrm>
            <a:off x="8558784" y="5859018"/>
            <a:ext cx="312404" cy="123444"/>
          </a:xfrm>
          <a:prstGeom prst="rect">
            <a:avLst/>
          </a:prstGeom>
          <a:solidFill>
            <a:srgbClr val="C2352F"/>
          </a:solidFill>
          <a:ln/>
        </p:spPr>
      </p:sp>
      <p:sp>
        <p:nvSpPr>
          <p:cNvPr id="145" name="Text 143"/>
          <p:cNvSpPr txBox="1"/>
          <p:nvPr/>
        </p:nvSpPr>
        <p:spPr>
          <a:xfrm>
            <a:off x="10305288" y="5797296"/>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192</a:t>
            </a:r>
            <a:endParaRPr lang="en-US" sz="1200" dirty="0"/>
          </a:p>
        </p:txBody>
      </p:sp>
      <p:sp>
        <p:nvSpPr>
          <p:cNvPr id="146" name="Text 144"/>
          <p:cNvSpPr txBox="1"/>
          <p:nvPr/>
        </p:nvSpPr>
        <p:spPr>
          <a:xfrm>
            <a:off x="6208776" y="6044184"/>
            <a:ext cx="310896" cy="246888"/>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47" name="Text 145"/>
          <p:cNvSpPr txBox="1"/>
          <p:nvPr/>
        </p:nvSpPr>
        <p:spPr>
          <a:xfrm>
            <a:off x="6565392" y="6044184"/>
            <a:ext cx="1920240" cy="246888"/>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48" name="Shape 146"/>
          <p:cNvSpPr/>
          <p:nvPr/>
        </p:nvSpPr>
        <p:spPr>
          <a:xfrm>
            <a:off x="8558784" y="6105906"/>
            <a:ext cx="249232" cy="123444"/>
          </a:xfrm>
          <a:prstGeom prst="rect">
            <a:avLst/>
          </a:prstGeom>
          <a:solidFill>
            <a:srgbClr val="C2352F"/>
          </a:solidFill>
          <a:ln/>
        </p:spPr>
      </p:sp>
      <p:sp>
        <p:nvSpPr>
          <p:cNvPr id="149" name="Text 147"/>
          <p:cNvSpPr txBox="1"/>
          <p:nvPr/>
        </p:nvSpPr>
        <p:spPr>
          <a:xfrm>
            <a:off x="10305288" y="6044184"/>
            <a:ext cx="1143000" cy="246888"/>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154</a:t>
            </a:r>
            <a:endParaRPr lang="en-US" sz="1200" dirty="0"/>
          </a:p>
        </p:txBody>
      </p:sp>
      <p:sp>
        <p:nvSpPr>
          <p:cNvPr id="150" name="Shape 148"/>
          <p:cNvSpPr/>
          <p:nvPr/>
        </p:nvSpPr>
        <p:spPr>
          <a:xfrm>
            <a:off x="3679521" y="2093976"/>
            <a:ext cx="14630" cy="2221992"/>
          </a:xfrm>
          <a:prstGeom prst="rect">
            <a:avLst/>
          </a:prstGeom>
          <a:solidFill>
            <a:srgbClr val="0B2C4A"/>
          </a:solidFill>
          <a:ln/>
        </p:spPr>
      </p:sp>
      <p:sp>
        <p:nvSpPr>
          <p:cNvPr id="151" name="Shape 149"/>
          <p:cNvSpPr/>
          <p:nvPr/>
        </p:nvSpPr>
        <p:spPr>
          <a:xfrm>
            <a:off x="3679521" y="4562856"/>
            <a:ext cx="14630" cy="1728216"/>
          </a:xfrm>
          <a:prstGeom prst="rect">
            <a:avLst/>
          </a:prstGeom>
          <a:solidFill>
            <a:srgbClr val="0B2C4A"/>
          </a:solidFill>
          <a:ln/>
        </p:spPr>
      </p:sp>
      <p:sp>
        <p:nvSpPr>
          <p:cNvPr id="152" name="Shape 150"/>
          <p:cNvSpPr/>
          <p:nvPr/>
        </p:nvSpPr>
        <p:spPr>
          <a:xfrm>
            <a:off x="9229929" y="2093976"/>
            <a:ext cx="14630" cy="4197096"/>
          </a:xfrm>
          <a:prstGeom prst="rect">
            <a:avLst/>
          </a:prstGeom>
          <a:solidFill>
            <a:srgbClr val="0B2C4A"/>
          </a:solidFill>
          <a:ln/>
        </p:spPr>
      </p:sp>
      <p:sp>
        <p:nvSpPr>
          <p:cNvPr id="153" name="Shape 151"/>
          <p:cNvSpPr/>
          <p:nvPr/>
        </p:nvSpPr>
        <p:spPr>
          <a:xfrm>
            <a:off x="6085332" y="1847088"/>
            <a:ext cx="10973" cy="4443984"/>
          </a:xfrm>
          <a:prstGeom prst="rect">
            <a:avLst/>
          </a:prstGeom>
          <a:solidFill>
            <a:srgbClr val="D9D9D9"/>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Manager</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34442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&amp; W ROS PER FIXED MANAGER</a:t>
            </a:r>
            <a:endParaRPr lang="en-US" sz="1500" dirty="0"/>
          </a:p>
        </p:txBody>
      </p:sp>
      <p:sp>
        <p:nvSpPr>
          <p:cNvPr id="9" name="Text 7"/>
          <p:cNvSpPr txBox="1"/>
          <p:nvPr/>
        </p:nvSpPr>
        <p:spPr>
          <a:xfrm>
            <a:off x="4358640" y="1335024"/>
            <a:ext cx="368808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+13</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3" name="Shape 11"/>
          <p:cNvSpPr/>
          <p:nvPr/>
        </p:nvSpPr>
        <p:spPr>
          <a:xfrm>
            <a:off x="3785616" y="1911860"/>
            <a:ext cx="503191"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+182</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7" name="Shape 15"/>
          <p:cNvSpPr/>
          <p:nvPr/>
        </p:nvSpPr>
        <p:spPr>
          <a:xfrm>
            <a:off x="3785616" y="2151755"/>
            <a:ext cx="469619"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+170</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21" name="Shape 19"/>
          <p:cNvSpPr/>
          <p:nvPr/>
        </p:nvSpPr>
        <p:spPr>
          <a:xfrm>
            <a:off x="3785616" y="2391651"/>
            <a:ext cx="335572"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+121</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25" name="Shape 23"/>
          <p:cNvSpPr/>
          <p:nvPr/>
        </p:nvSpPr>
        <p:spPr>
          <a:xfrm>
            <a:off x="3785616" y="2631546"/>
            <a:ext cx="330812"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+120</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29" name="Shape 27"/>
          <p:cNvSpPr/>
          <p:nvPr/>
        </p:nvSpPr>
        <p:spPr>
          <a:xfrm>
            <a:off x="3785616" y="2871442"/>
            <a:ext cx="322124"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+116</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33" name="Shape 31"/>
          <p:cNvSpPr/>
          <p:nvPr/>
        </p:nvSpPr>
        <p:spPr>
          <a:xfrm>
            <a:off x="3785616" y="3111337"/>
            <a:ext cx="146890"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+53</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37" name="Shape 35"/>
          <p:cNvSpPr/>
          <p:nvPr/>
        </p:nvSpPr>
        <p:spPr>
          <a:xfrm>
            <a:off x="3785616" y="3351233"/>
            <a:ext cx="132129"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+48</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41" name="Shape 39"/>
          <p:cNvSpPr/>
          <p:nvPr/>
        </p:nvSpPr>
        <p:spPr>
          <a:xfrm>
            <a:off x="3785616" y="3591128"/>
            <a:ext cx="129359"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+47</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45" name="Shape 43"/>
          <p:cNvSpPr/>
          <p:nvPr/>
        </p:nvSpPr>
        <p:spPr>
          <a:xfrm>
            <a:off x="3785616" y="3831024"/>
            <a:ext cx="122411"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+44</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49" name="Shape 47"/>
          <p:cNvSpPr/>
          <p:nvPr/>
        </p:nvSpPr>
        <p:spPr>
          <a:xfrm>
            <a:off x="3785616" y="4070920"/>
            <a:ext cx="105953"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+38</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53" name="Shape 51"/>
          <p:cNvSpPr/>
          <p:nvPr/>
        </p:nvSpPr>
        <p:spPr>
          <a:xfrm>
            <a:off x="3785616" y="4310815"/>
            <a:ext cx="63458"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+23</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57" name="Shape 55"/>
          <p:cNvSpPr/>
          <p:nvPr/>
        </p:nvSpPr>
        <p:spPr>
          <a:xfrm>
            <a:off x="3785616" y="4550711"/>
            <a:ext cx="48093"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+17</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61" name="Shape 59"/>
          <p:cNvSpPr/>
          <p:nvPr/>
        </p:nvSpPr>
        <p:spPr>
          <a:xfrm>
            <a:off x="3785616" y="4790606"/>
            <a:ext cx="39795"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+14</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65" name="Shape 63"/>
          <p:cNvSpPr/>
          <p:nvPr/>
        </p:nvSpPr>
        <p:spPr>
          <a:xfrm>
            <a:off x="3785616" y="5030502"/>
            <a:ext cx="29040"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69" name="Shape 67"/>
          <p:cNvSpPr/>
          <p:nvPr/>
        </p:nvSpPr>
        <p:spPr>
          <a:xfrm>
            <a:off x="3785616" y="5270397"/>
            <a:ext cx="28477"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73" name="Shape 71"/>
          <p:cNvSpPr/>
          <p:nvPr/>
        </p:nvSpPr>
        <p:spPr>
          <a:xfrm>
            <a:off x="3785616" y="5510293"/>
            <a:ext cx="14904"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77" name="Shape 75"/>
          <p:cNvSpPr/>
          <p:nvPr/>
        </p:nvSpPr>
        <p:spPr>
          <a:xfrm>
            <a:off x="3785616" y="5750188"/>
            <a:ext cx="12802"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81" name="Shape 79"/>
          <p:cNvSpPr/>
          <p:nvPr/>
        </p:nvSpPr>
        <p:spPr>
          <a:xfrm>
            <a:off x="9336024" y="1911860"/>
            <a:ext cx="12802" cy="110352"/>
          </a:xfrm>
          <a:prstGeom prst="rect">
            <a:avLst/>
          </a:prstGeom>
          <a:solidFill>
            <a:srgbClr val="12A566"/>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85" name="Shape 83"/>
          <p:cNvSpPr/>
          <p:nvPr/>
        </p:nvSpPr>
        <p:spPr>
          <a:xfrm>
            <a:off x="9336024" y="2151755"/>
            <a:ext cx="12802" cy="110352"/>
          </a:xfrm>
          <a:prstGeom prst="rect">
            <a:avLst/>
          </a:prstGeom>
          <a:solidFill>
            <a:srgbClr val="12A566"/>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89" name="Shape 87"/>
          <p:cNvSpPr/>
          <p:nvPr/>
        </p:nvSpPr>
        <p:spPr>
          <a:xfrm>
            <a:off x="9336024" y="2391651"/>
            <a:ext cx="12802" cy="110352"/>
          </a:xfrm>
          <a:prstGeom prst="rect">
            <a:avLst/>
          </a:prstGeom>
          <a:solidFill>
            <a:srgbClr val="12A566"/>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93" name="Shape 91"/>
          <p:cNvSpPr/>
          <p:nvPr/>
        </p:nvSpPr>
        <p:spPr>
          <a:xfrm>
            <a:off x="9336024" y="2631546"/>
            <a:ext cx="12802" cy="110352"/>
          </a:xfrm>
          <a:prstGeom prst="rect">
            <a:avLst/>
          </a:prstGeom>
          <a:solidFill>
            <a:srgbClr val="12A566"/>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97" name="Shape 95"/>
          <p:cNvSpPr/>
          <p:nvPr/>
        </p:nvSpPr>
        <p:spPr>
          <a:xfrm>
            <a:off x="9336024" y="2871442"/>
            <a:ext cx="12802" cy="110352"/>
          </a:xfrm>
          <a:prstGeom prst="rect">
            <a:avLst/>
          </a:prstGeom>
          <a:solidFill>
            <a:srgbClr val="12A566"/>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01" name="Shape 99"/>
          <p:cNvSpPr/>
          <p:nvPr/>
        </p:nvSpPr>
        <p:spPr>
          <a:xfrm>
            <a:off x="9321794" y="3111337"/>
            <a:ext cx="14230" cy="110352"/>
          </a:xfrm>
          <a:prstGeom prst="rect">
            <a:avLst/>
          </a:prstGeom>
          <a:solidFill>
            <a:srgbClr val="C2352F"/>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05" name="Shape 103"/>
          <p:cNvSpPr/>
          <p:nvPr/>
        </p:nvSpPr>
        <p:spPr>
          <a:xfrm>
            <a:off x="9260296" y="3351233"/>
            <a:ext cx="75728" cy="110352"/>
          </a:xfrm>
          <a:prstGeom prst="rect">
            <a:avLst/>
          </a:prstGeom>
          <a:solidFill>
            <a:srgbClr val="C2352F"/>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−27</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09" name="Shape 107"/>
          <p:cNvSpPr/>
          <p:nvPr/>
        </p:nvSpPr>
        <p:spPr>
          <a:xfrm>
            <a:off x="9258738" y="3591128"/>
            <a:ext cx="77286" cy="110352"/>
          </a:xfrm>
          <a:prstGeom prst="rect">
            <a:avLst/>
          </a:prstGeom>
          <a:solidFill>
            <a:srgbClr val="C2352F"/>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−28</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13" name="Shape 111"/>
          <p:cNvSpPr/>
          <p:nvPr/>
        </p:nvSpPr>
        <p:spPr>
          <a:xfrm>
            <a:off x="9257048" y="3831024"/>
            <a:ext cx="78976" cy="110352"/>
          </a:xfrm>
          <a:prstGeom prst="rect">
            <a:avLst/>
          </a:prstGeom>
          <a:solidFill>
            <a:srgbClr val="C2352F"/>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−29</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17" name="Shape 115"/>
          <p:cNvSpPr/>
          <p:nvPr/>
        </p:nvSpPr>
        <p:spPr>
          <a:xfrm>
            <a:off x="9246915" y="4070920"/>
            <a:ext cx="89109"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−32</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21" name="Shape 119"/>
          <p:cNvSpPr/>
          <p:nvPr/>
        </p:nvSpPr>
        <p:spPr>
          <a:xfrm>
            <a:off x="9238712" y="4310815"/>
            <a:ext cx="97312"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−35</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25" name="Shape 123"/>
          <p:cNvSpPr/>
          <p:nvPr/>
        </p:nvSpPr>
        <p:spPr>
          <a:xfrm>
            <a:off x="9192589" y="4550711"/>
            <a:ext cx="143435"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−52</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29" name="Shape 127"/>
          <p:cNvSpPr/>
          <p:nvPr/>
        </p:nvSpPr>
        <p:spPr>
          <a:xfrm>
            <a:off x="9181874" y="4790606"/>
            <a:ext cx="154150"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−56</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33" name="Shape 131"/>
          <p:cNvSpPr/>
          <p:nvPr/>
        </p:nvSpPr>
        <p:spPr>
          <a:xfrm>
            <a:off x="9137803" y="5030502"/>
            <a:ext cx="198221"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−72</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37" name="Shape 135"/>
          <p:cNvSpPr/>
          <p:nvPr/>
        </p:nvSpPr>
        <p:spPr>
          <a:xfrm>
            <a:off x="9074707" y="5270397"/>
            <a:ext cx="261317"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−94</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41" name="Shape 139"/>
          <p:cNvSpPr/>
          <p:nvPr/>
        </p:nvSpPr>
        <p:spPr>
          <a:xfrm>
            <a:off x="8558784" y="5510293"/>
            <a:ext cx="777240"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−281</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7" name="Shape 144"/>
          <p:cNvSpPr/>
          <p:nvPr/>
        </p:nvSpPr>
        <p:spPr>
          <a:xfrm>
            <a:off x="457200" y="6126480"/>
            <a:ext cx="11274552" cy="371856"/>
          </a:xfrm>
          <a:prstGeom prst="rect">
            <a:avLst/>
          </a:prstGeom>
          <a:solidFill>
            <a:srgbClr val="E6F6EE"/>
          </a:solidFill>
          <a:ln/>
        </p:spPr>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22 of 33 stores raised ROs per manager. 11 declined.</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Manager</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Text 4"/>
          <p:cNvSpPr txBox="1"/>
          <p:nvPr/>
        </p:nvSpPr>
        <p:spPr>
          <a:xfrm>
            <a:off x="6217920" y="804672"/>
            <a:ext cx="5513832" cy="365760"/>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Vs last year: Jan–Sep   ·   Moving now: Q3 vs Q1</a:t>
            </a:r>
            <a:endParaRPr lang="en-US" sz="1400" dirty="0"/>
          </a:p>
        </p:txBody>
      </p:sp>
      <p:sp>
        <p:nvSpPr>
          <p:cNvPr id="7" name="Shape 5"/>
          <p:cNvSpPr/>
          <p:nvPr/>
        </p:nvSpPr>
        <p:spPr>
          <a:xfrm>
            <a:off x="658368" y="1371600"/>
            <a:ext cx="3489960" cy="45720"/>
          </a:xfrm>
          <a:prstGeom prst="rect">
            <a:avLst/>
          </a:prstGeom>
          <a:solidFill>
            <a:srgbClr val="12A566"/>
          </a:solidFill>
          <a:ln/>
        </p:spPr>
      </p:sp>
      <p:sp>
        <p:nvSpPr>
          <p:cNvPr id="8" name="Text 6"/>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3 VS LAST YEAR</a:t>
            </a:r>
            <a:endParaRPr lang="en-US" sz="1500" dirty="0"/>
          </a:p>
        </p:txBody>
      </p:sp>
      <p:sp>
        <p:nvSpPr>
          <p:cNvPr id="9" name="Shape 7"/>
          <p:cNvSpPr/>
          <p:nvPr/>
        </p:nvSpPr>
        <p:spPr>
          <a:xfrm>
            <a:off x="658368" y="1810512"/>
            <a:ext cx="3489960" cy="1478280"/>
          </a:xfrm>
          <a:prstGeom prst="rect">
            <a:avLst/>
          </a:prstGeom>
          <a:solidFill>
            <a:srgbClr val="F7F7F7"/>
          </a:solidFill>
          <a:ln/>
        </p:spPr>
      </p:sp>
      <p:sp>
        <p:nvSpPr>
          <p:cNvPr id="10" name="Shape 8"/>
          <p:cNvSpPr/>
          <p:nvPr/>
        </p:nvSpPr>
        <p:spPr>
          <a:xfrm>
            <a:off x="4084320" y="1847088"/>
            <a:ext cx="64008" cy="1405128"/>
          </a:xfrm>
          <a:prstGeom prst="rect">
            <a:avLst/>
          </a:prstGeom>
          <a:solidFill>
            <a:srgbClr val="12A566"/>
          </a:solidFill>
          <a:ln/>
        </p:spPr>
      </p:sp>
      <p:sp>
        <p:nvSpPr>
          <p:cNvPr id="11" name="Text 9"/>
          <p:cNvSpPr txBox="1"/>
          <p:nvPr/>
        </p:nvSpPr>
        <p:spPr>
          <a:xfrm>
            <a:off x="749808"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12" name="Text 10"/>
          <p:cNvSpPr txBox="1"/>
          <p:nvPr/>
        </p:nvSpPr>
        <p:spPr>
          <a:xfrm>
            <a:off x="1097280"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1,022</a:t>
            </a:r>
            <a:endParaRPr lang="en-US" sz="1400" dirty="0"/>
          </a:p>
        </p:txBody>
      </p:sp>
      <p:graphicFrame>
        <p:nvGraphicFramePr>
          <p:cNvPr id="13" name="Chart 0" descr=""/>
          <p:cNvGraphicFramePr/>
          <p:nvPr/>
        </p:nvGraphicFramePr>
        <p:xfrm>
          <a:off x="1097280" y="2697480"/>
          <a:ext cx="1972056" cy="502615"/>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2941320"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+182</a:t>
            </a:r>
            <a:endParaRPr lang="en-US" sz="1600" dirty="0"/>
          </a:p>
        </p:txBody>
      </p:sp>
      <p:sp>
        <p:nvSpPr>
          <p:cNvPr id="15" name="Text 12"/>
          <p:cNvSpPr txBox="1"/>
          <p:nvPr/>
        </p:nvSpPr>
        <p:spPr>
          <a:xfrm>
            <a:off x="749808"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16" name="Text 13"/>
          <p:cNvSpPr txBox="1"/>
          <p:nvPr/>
        </p:nvSpPr>
        <p:spPr>
          <a:xfrm>
            <a:off x="1097280"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686</a:t>
            </a:r>
            <a:endParaRPr lang="en-US" sz="1400" dirty="0"/>
          </a:p>
        </p:txBody>
      </p:sp>
      <p:graphicFrame>
        <p:nvGraphicFramePr>
          <p:cNvPr id="17" name="Chart 1" descr=""/>
          <p:cNvGraphicFramePr/>
          <p:nvPr/>
        </p:nvGraphicFramePr>
        <p:xfrm>
          <a:off x="1097280" y="4175760"/>
          <a:ext cx="1972056" cy="502615"/>
        </p:xfrm>
        <a:graphic xmlns:a="http://schemas.openxmlformats.org/drawingml/2006/main">
          <a:graphicData uri="http://schemas.openxmlformats.org/drawingml/2006/chart">
            <c:chart xmlns:c="http://schemas.openxmlformats.org/drawingml/2006/chart" r:id="rId2"/>
          </a:graphicData>
        </a:graphic>
      </p:graphicFrame>
      <p:sp>
        <p:nvSpPr>
          <p:cNvPr id="18" name="Text 14"/>
          <p:cNvSpPr txBox="1"/>
          <p:nvPr/>
        </p:nvSpPr>
        <p:spPr>
          <a:xfrm>
            <a:off x="2941320"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+170</a:t>
            </a:r>
            <a:endParaRPr lang="en-US" sz="1600" dirty="0"/>
          </a:p>
        </p:txBody>
      </p:sp>
      <p:sp>
        <p:nvSpPr>
          <p:cNvPr id="19" name="Shape 15"/>
          <p:cNvSpPr/>
          <p:nvPr/>
        </p:nvSpPr>
        <p:spPr>
          <a:xfrm>
            <a:off x="658368" y="4767072"/>
            <a:ext cx="3489960" cy="1478280"/>
          </a:xfrm>
          <a:prstGeom prst="rect">
            <a:avLst/>
          </a:prstGeom>
          <a:solidFill>
            <a:srgbClr val="F7F7F7"/>
          </a:solidFill>
          <a:ln/>
        </p:spPr>
      </p:sp>
      <p:sp>
        <p:nvSpPr>
          <p:cNvPr id="20" name="Shape 16"/>
          <p:cNvSpPr/>
          <p:nvPr/>
        </p:nvSpPr>
        <p:spPr>
          <a:xfrm>
            <a:off x="4084320" y="4803648"/>
            <a:ext cx="64008" cy="1405128"/>
          </a:xfrm>
          <a:prstGeom prst="rect">
            <a:avLst/>
          </a:prstGeom>
          <a:solidFill>
            <a:srgbClr val="12A566"/>
          </a:solidFill>
          <a:ln/>
        </p:spPr>
      </p:sp>
      <p:sp>
        <p:nvSpPr>
          <p:cNvPr id="21" name="Text 17"/>
          <p:cNvSpPr txBox="1"/>
          <p:nvPr/>
        </p:nvSpPr>
        <p:spPr>
          <a:xfrm>
            <a:off x="749808"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22" name="Text 18"/>
          <p:cNvSpPr txBox="1"/>
          <p:nvPr/>
        </p:nvSpPr>
        <p:spPr>
          <a:xfrm>
            <a:off x="1097280"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657</a:t>
            </a:r>
            <a:endParaRPr lang="en-US" sz="1400" dirty="0"/>
          </a:p>
        </p:txBody>
      </p:sp>
      <p:graphicFrame>
        <p:nvGraphicFramePr>
          <p:cNvPr id="23" name="Chart 2" descr=""/>
          <p:cNvGraphicFramePr/>
          <p:nvPr/>
        </p:nvGraphicFramePr>
        <p:xfrm>
          <a:off x="1097280" y="5654040"/>
          <a:ext cx="1972056" cy="502615"/>
        </p:xfrm>
        <a:graphic xmlns:a="http://schemas.openxmlformats.org/drawingml/2006/main">
          <a:graphicData uri="http://schemas.openxmlformats.org/drawingml/2006/chart">
            <c:chart xmlns:c="http://schemas.openxmlformats.org/drawingml/2006/chart" r:id="rId3"/>
          </a:graphicData>
        </a:graphic>
      </p:graphicFrame>
      <p:sp>
        <p:nvSpPr>
          <p:cNvPr id="24" name="Text 19"/>
          <p:cNvSpPr txBox="1"/>
          <p:nvPr/>
        </p:nvSpPr>
        <p:spPr>
          <a:xfrm>
            <a:off x="2941320"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+121</a:t>
            </a:r>
            <a:endParaRPr lang="en-US" sz="1600" dirty="0"/>
          </a:p>
        </p:txBody>
      </p:sp>
      <p:sp>
        <p:nvSpPr>
          <p:cNvPr id="25" name="Shape 20"/>
          <p:cNvSpPr/>
          <p:nvPr/>
        </p:nvSpPr>
        <p:spPr>
          <a:xfrm>
            <a:off x="4349496" y="1371600"/>
            <a:ext cx="3489960" cy="45720"/>
          </a:xfrm>
          <a:prstGeom prst="rect">
            <a:avLst/>
          </a:prstGeom>
          <a:solidFill>
            <a:srgbClr val="C2352F"/>
          </a:solidFill>
          <a:ln/>
        </p:spPr>
      </p:sp>
      <p:sp>
        <p:nvSpPr>
          <p:cNvPr id="26" name="Text 21"/>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3 VS LAST YEAR</a:t>
            </a:r>
            <a:endParaRPr lang="en-US" sz="1500" dirty="0"/>
          </a:p>
        </p:txBody>
      </p:sp>
      <p:sp>
        <p:nvSpPr>
          <p:cNvPr id="27" name="Shape 22"/>
          <p:cNvSpPr/>
          <p:nvPr/>
        </p:nvSpPr>
        <p:spPr>
          <a:xfrm>
            <a:off x="4349496" y="1810512"/>
            <a:ext cx="3489960" cy="1478280"/>
          </a:xfrm>
          <a:prstGeom prst="rect">
            <a:avLst/>
          </a:prstGeom>
          <a:solidFill>
            <a:srgbClr val="F7F7F7"/>
          </a:solidFill>
          <a:ln/>
        </p:spPr>
      </p:sp>
      <p:sp>
        <p:nvSpPr>
          <p:cNvPr id="28" name="Text 23"/>
          <p:cNvSpPr txBox="1"/>
          <p:nvPr/>
        </p:nvSpPr>
        <p:spPr>
          <a:xfrm>
            <a:off x="4440936"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33</a:t>
            </a:r>
            <a:endParaRPr lang="en-US" sz="2000" dirty="0"/>
          </a:p>
        </p:txBody>
      </p:sp>
      <p:sp>
        <p:nvSpPr>
          <p:cNvPr id="29" name="Text 24"/>
          <p:cNvSpPr txBox="1"/>
          <p:nvPr/>
        </p:nvSpPr>
        <p:spPr>
          <a:xfrm>
            <a:off x="4788408"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841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560</a:t>
            </a:r>
            <a:endParaRPr lang="en-US" sz="1400" dirty="0"/>
          </a:p>
        </p:txBody>
      </p:sp>
      <p:graphicFrame>
        <p:nvGraphicFramePr>
          <p:cNvPr id="30" name="Chart 3" descr=""/>
          <p:cNvGraphicFramePr/>
          <p:nvPr/>
        </p:nvGraphicFramePr>
        <p:xfrm>
          <a:off x="4788408" y="2697480"/>
          <a:ext cx="1972056" cy="502615"/>
        </p:xfrm>
        <a:graphic xmlns:a="http://schemas.openxmlformats.org/drawingml/2006/main">
          <a:graphicData uri="http://schemas.openxmlformats.org/drawingml/2006/chart">
            <c:chart xmlns:c="http://schemas.openxmlformats.org/drawingml/2006/chart" r:id="rId4"/>
          </a:graphicData>
        </a:graphic>
      </p:graphicFrame>
      <p:sp>
        <p:nvSpPr>
          <p:cNvPr id="31" name="Text 25"/>
          <p:cNvSpPr txBox="1"/>
          <p:nvPr/>
        </p:nvSpPr>
        <p:spPr>
          <a:xfrm>
            <a:off x="6632448" y="181051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−281</a:t>
            </a:r>
            <a:endParaRPr lang="en-US" sz="1600" dirty="0"/>
          </a:p>
        </p:txBody>
      </p:sp>
      <p:sp>
        <p:nvSpPr>
          <p:cNvPr id="32" name="Text 26"/>
          <p:cNvSpPr txBox="1"/>
          <p:nvPr/>
        </p:nvSpPr>
        <p:spPr>
          <a:xfrm>
            <a:off x="4440936"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32</a:t>
            </a:r>
            <a:endParaRPr lang="en-US" sz="2000" dirty="0"/>
          </a:p>
        </p:txBody>
      </p:sp>
      <p:sp>
        <p:nvSpPr>
          <p:cNvPr id="33" name="Text 27"/>
          <p:cNvSpPr txBox="1"/>
          <p:nvPr/>
        </p:nvSpPr>
        <p:spPr>
          <a:xfrm>
            <a:off x="4788408"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308</a:t>
            </a:r>
            <a:endParaRPr lang="en-US" sz="1400" dirty="0"/>
          </a:p>
        </p:txBody>
      </p:sp>
      <p:graphicFrame>
        <p:nvGraphicFramePr>
          <p:cNvPr id="34" name="Chart 4" descr=""/>
          <p:cNvGraphicFramePr/>
          <p:nvPr/>
        </p:nvGraphicFramePr>
        <p:xfrm>
          <a:off x="4788408" y="4175760"/>
          <a:ext cx="1972056" cy="502615"/>
        </p:xfrm>
        <a:graphic xmlns:a="http://schemas.openxmlformats.org/drawingml/2006/main">
          <a:graphicData uri="http://schemas.openxmlformats.org/drawingml/2006/chart">
            <c:chart xmlns:c="http://schemas.openxmlformats.org/drawingml/2006/chart" r:id="rId5"/>
          </a:graphicData>
        </a:graphic>
      </p:graphicFrame>
      <p:sp>
        <p:nvSpPr>
          <p:cNvPr id="35" name="Text 28"/>
          <p:cNvSpPr txBox="1"/>
          <p:nvPr/>
        </p:nvSpPr>
        <p:spPr>
          <a:xfrm>
            <a:off x="6632448" y="328879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−94</a:t>
            </a:r>
            <a:endParaRPr lang="en-US" sz="1600" dirty="0"/>
          </a:p>
        </p:txBody>
      </p:sp>
      <p:sp>
        <p:nvSpPr>
          <p:cNvPr id="36" name="Shape 29"/>
          <p:cNvSpPr/>
          <p:nvPr/>
        </p:nvSpPr>
        <p:spPr>
          <a:xfrm>
            <a:off x="4349496" y="4767072"/>
            <a:ext cx="3489960" cy="1478280"/>
          </a:xfrm>
          <a:prstGeom prst="rect">
            <a:avLst/>
          </a:prstGeom>
          <a:solidFill>
            <a:srgbClr val="F7F7F7"/>
          </a:solidFill>
          <a:ln/>
        </p:spPr>
      </p:sp>
      <p:sp>
        <p:nvSpPr>
          <p:cNvPr id="37" name="Text 30"/>
          <p:cNvSpPr txBox="1"/>
          <p:nvPr/>
        </p:nvSpPr>
        <p:spPr>
          <a:xfrm>
            <a:off x="4440936"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31</a:t>
            </a:r>
            <a:endParaRPr lang="en-US" sz="2000" dirty="0"/>
          </a:p>
        </p:txBody>
      </p:sp>
      <p:sp>
        <p:nvSpPr>
          <p:cNvPr id="38" name="Text 31"/>
          <p:cNvSpPr txBox="1"/>
          <p:nvPr/>
        </p:nvSpPr>
        <p:spPr>
          <a:xfrm>
            <a:off x="4788408"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448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376</a:t>
            </a:r>
            <a:endParaRPr lang="en-US" sz="1400" dirty="0"/>
          </a:p>
        </p:txBody>
      </p:sp>
      <p:graphicFrame>
        <p:nvGraphicFramePr>
          <p:cNvPr id="39" name="Chart 5" descr=""/>
          <p:cNvGraphicFramePr/>
          <p:nvPr/>
        </p:nvGraphicFramePr>
        <p:xfrm>
          <a:off x="4788408" y="5654040"/>
          <a:ext cx="1972056" cy="502615"/>
        </p:xfrm>
        <a:graphic xmlns:a="http://schemas.openxmlformats.org/drawingml/2006/main">
          <a:graphicData uri="http://schemas.openxmlformats.org/drawingml/2006/chart">
            <c:chart xmlns:c="http://schemas.openxmlformats.org/drawingml/2006/chart" r:id="rId6"/>
          </a:graphicData>
        </a:graphic>
      </p:graphicFrame>
      <p:sp>
        <p:nvSpPr>
          <p:cNvPr id="40" name="Text 32"/>
          <p:cNvSpPr txBox="1"/>
          <p:nvPr/>
        </p:nvSpPr>
        <p:spPr>
          <a:xfrm>
            <a:off x="6632448" y="4767072"/>
            <a:ext cx="1115568" cy="1478280"/>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−72</a:t>
            </a:r>
            <a:endParaRPr lang="en-US" sz="1600" dirty="0"/>
          </a:p>
        </p:txBody>
      </p:sp>
      <p:sp>
        <p:nvSpPr>
          <p:cNvPr id="41" name="Shape 33"/>
          <p:cNvSpPr/>
          <p:nvPr/>
        </p:nvSpPr>
        <p:spPr>
          <a:xfrm>
            <a:off x="8040624" y="1371600"/>
            <a:ext cx="3489960" cy="45720"/>
          </a:xfrm>
          <a:prstGeom prst="rect">
            <a:avLst/>
          </a:prstGeom>
          <a:solidFill>
            <a:srgbClr val="2587C5"/>
          </a:solidFill>
          <a:ln/>
        </p:spPr>
      </p:sp>
      <p:sp>
        <p:nvSpPr>
          <p:cNvPr id="42" name="Text 34"/>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3 MOVING NOW</a:t>
            </a:r>
            <a:endParaRPr lang="en-US" sz="1500" dirty="0"/>
          </a:p>
        </p:txBody>
      </p:sp>
      <p:sp>
        <p:nvSpPr>
          <p:cNvPr id="43" name="Shape 35"/>
          <p:cNvSpPr/>
          <p:nvPr/>
        </p:nvSpPr>
        <p:spPr>
          <a:xfrm>
            <a:off x="8040624" y="1810512"/>
            <a:ext cx="3489960" cy="1478280"/>
          </a:xfrm>
          <a:prstGeom prst="rect">
            <a:avLst/>
          </a:prstGeom>
          <a:solidFill>
            <a:srgbClr val="F7F7F7"/>
          </a:solidFill>
          <a:ln/>
        </p:spPr>
      </p:sp>
      <p:sp>
        <p:nvSpPr>
          <p:cNvPr id="44" name="Shape 36"/>
          <p:cNvSpPr/>
          <p:nvPr/>
        </p:nvSpPr>
        <p:spPr>
          <a:xfrm>
            <a:off x="11466576" y="1847088"/>
            <a:ext cx="64008" cy="1405128"/>
          </a:xfrm>
          <a:prstGeom prst="rect">
            <a:avLst/>
          </a:prstGeom>
          <a:solidFill>
            <a:srgbClr val="12A566"/>
          </a:solidFill>
          <a:ln/>
        </p:spPr>
      </p:sp>
      <p:sp>
        <p:nvSpPr>
          <p:cNvPr id="45" name="Text 37"/>
          <p:cNvSpPr txBox="1"/>
          <p:nvPr/>
        </p:nvSpPr>
        <p:spPr>
          <a:xfrm>
            <a:off x="8132064" y="181051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1</a:t>
            </a:r>
            <a:endParaRPr lang="en-US" sz="2000" dirty="0"/>
          </a:p>
        </p:txBody>
      </p:sp>
      <p:sp>
        <p:nvSpPr>
          <p:cNvPr id="46" name="Text 38"/>
          <p:cNvSpPr txBox="1"/>
          <p:nvPr/>
        </p:nvSpPr>
        <p:spPr>
          <a:xfrm>
            <a:off x="8479536" y="188442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854</a:t>
            </a:r>
            <a:endParaRPr lang="en-US" sz="1400" dirty="0"/>
          </a:p>
        </p:txBody>
      </p:sp>
      <p:graphicFrame>
        <p:nvGraphicFramePr>
          <p:cNvPr id="47" name="Chart 6" descr=""/>
          <p:cNvGraphicFramePr/>
          <p:nvPr/>
        </p:nvGraphicFramePr>
        <p:xfrm>
          <a:off x="8479536" y="2697480"/>
          <a:ext cx="1972056" cy="502615"/>
        </p:xfrm>
        <a:graphic xmlns:a="http://schemas.openxmlformats.org/drawingml/2006/main">
          <a:graphicData uri="http://schemas.openxmlformats.org/drawingml/2006/chart">
            <c:chart xmlns:c="http://schemas.openxmlformats.org/drawingml/2006/chart" r:id="rId7"/>
          </a:graphicData>
        </a:graphic>
      </p:graphicFrame>
      <p:graphicFrame>
        <p:nvGraphicFramePr>
          <p:cNvPr id="48" name="Chart 7" descr=""/>
          <p:cNvGraphicFramePr/>
          <p:nvPr/>
        </p:nvGraphicFramePr>
        <p:xfrm>
          <a:off x="8479536" y="2697480"/>
          <a:ext cx="1972056" cy="502615"/>
        </p:xfrm>
        <a:graphic xmlns:a="http://schemas.openxmlformats.org/drawingml/2006/main">
          <a:graphicData uri="http://schemas.openxmlformats.org/drawingml/2006/chart">
            <c:chart xmlns:c="http://schemas.openxmlformats.org/drawingml/2006/chart" r:id="rId8"/>
          </a:graphicData>
        </a:graphic>
      </p:graphicFrame>
      <p:sp>
        <p:nvSpPr>
          <p:cNvPr id="49" name="Text 39"/>
          <p:cNvSpPr txBox="1"/>
          <p:nvPr/>
        </p:nvSpPr>
        <p:spPr>
          <a:xfrm>
            <a:off x="10323576" y="181051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+339</a:t>
            </a:r>
            <a:endParaRPr lang="en-US" sz="1600" dirty="0"/>
          </a:p>
        </p:txBody>
      </p:sp>
      <p:sp>
        <p:nvSpPr>
          <p:cNvPr id="50" name="Shape 40"/>
          <p:cNvSpPr/>
          <p:nvPr/>
        </p:nvSpPr>
        <p:spPr>
          <a:xfrm>
            <a:off x="11466576" y="3325368"/>
            <a:ext cx="64008" cy="1405128"/>
          </a:xfrm>
          <a:prstGeom prst="rect">
            <a:avLst/>
          </a:prstGeom>
          <a:solidFill>
            <a:srgbClr val="12A566"/>
          </a:solidFill>
          <a:ln/>
        </p:spPr>
      </p:sp>
      <p:sp>
        <p:nvSpPr>
          <p:cNvPr id="51" name="Text 41"/>
          <p:cNvSpPr txBox="1"/>
          <p:nvPr/>
        </p:nvSpPr>
        <p:spPr>
          <a:xfrm>
            <a:off x="8132064" y="328879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2</a:t>
            </a:r>
            <a:endParaRPr lang="en-US" sz="2000" dirty="0"/>
          </a:p>
        </p:txBody>
      </p:sp>
      <p:sp>
        <p:nvSpPr>
          <p:cNvPr id="52" name="Text 42"/>
          <p:cNvSpPr txBox="1"/>
          <p:nvPr/>
        </p:nvSpPr>
        <p:spPr>
          <a:xfrm>
            <a:off x="8479536" y="336270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899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1,134</a:t>
            </a:r>
            <a:endParaRPr lang="en-US" sz="1400" dirty="0"/>
          </a:p>
        </p:txBody>
      </p:sp>
      <p:graphicFrame>
        <p:nvGraphicFramePr>
          <p:cNvPr id="53" name="Chart 8" descr=""/>
          <p:cNvGraphicFramePr/>
          <p:nvPr/>
        </p:nvGraphicFramePr>
        <p:xfrm>
          <a:off x="8479536" y="4175760"/>
          <a:ext cx="1972056" cy="502615"/>
        </p:xfrm>
        <a:graphic xmlns:a="http://schemas.openxmlformats.org/drawingml/2006/main">
          <a:graphicData uri="http://schemas.openxmlformats.org/drawingml/2006/chart">
            <c:chart xmlns:c="http://schemas.openxmlformats.org/drawingml/2006/chart" r:id="rId9"/>
          </a:graphicData>
        </a:graphic>
      </p:graphicFrame>
      <p:graphicFrame>
        <p:nvGraphicFramePr>
          <p:cNvPr id="54" name="Chart 9" descr=""/>
          <p:cNvGraphicFramePr/>
          <p:nvPr/>
        </p:nvGraphicFramePr>
        <p:xfrm>
          <a:off x="8479536" y="4175760"/>
          <a:ext cx="1972056" cy="502615"/>
        </p:xfrm>
        <a:graphic xmlns:a="http://schemas.openxmlformats.org/drawingml/2006/main">
          <a:graphicData uri="http://schemas.openxmlformats.org/drawingml/2006/chart">
            <c:chart xmlns:c="http://schemas.openxmlformats.org/drawingml/2006/chart" r:id="rId10"/>
          </a:graphicData>
        </a:graphic>
      </p:graphicFrame>
      <p:sp>
        <p:nvSpPr>
          <p:cNvPr id="55" name="Text 43"/>
          <p:cNvSpPr txBox="1"/>
          <p:nvPr/>
        </p:nvSpPr>
        <p:spPr>
          <a:xfrm>
            <a:off x="10323576" y="328879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+235</a:t>
            </a:r>
            <a:endParaRPr lang="en-US" sz="1600" dirty="0"/>
          </a:p>
        </p:txBody>
      </p:sp>
      <p:sp>
        <p:nvSpPr>
          <p:cNvPr id="56" name="Shape 44"/>
          <p:cNvSpPr/>
          <p:nvPr/>
        </p:nvSpPr>
        <p:spPr>
          <a:xfrm>
            <a:off x="8040624" y="4767072"/>
            <a:ext cx="3489960" cy="1478280"/>
          </a:xfrm>
          <a:prstGeom prst="rect">
            <a:avLst/>
          </a:prstGeom>
          <a:solidFill>
            <a:srgbClr val="F7F7F7"/>
          </a:solidFill>
          <a:ln/>
        </p:spPr>
      </p:sp>
      <p:sp>
        <p:nvSpPr>
          <p:cNvPr id="57" name="Text 45"/>
          <p:cNvSpPr txBox="1"/>
          <p:nvPr/>
        </p:nvSpPr>
        <p:spPr>
          <a:xfrm>
            <a:off x="8132064" y="4767072"/>
            <a:ext cx="365760" cy="1478280"/>
          </a:xfrm>
          <a:prstGeom prst="rect">
            <a:avLst/>
          </a:prstGeom>
          <a:noFill/>
          <a:ln/>
        </p:spPr>
        <p:txBody>
          <a:bodyPr wrap="square" lIns="0" tIns="0" rIns="0" bIns="0" rtlCol="0" anchor="ctr"/>
          <a:lstStyle/>
          <a:p>
            <a:pPr indent="0" marL="0">
              <a:buNone/>
            </a:pPr>
            <a:r>
              <a:rPr lang="en-US" sz="2000" b="1" dirty="0">
                <a:solidFill>
                  <a:srgbClr val="0B2C4A"/>
                </a:solidFill>
                <a:latin typeface="Inter" pitchFamily="34" charset="0"/>
                <a:ea typeface="Inter" pitchFamily="34" charset="-122"/>
                <a:cs typeface="Inter" pitchFamily="34" charset="-120"/>
              </a:rPr>
              <a:t>3</a:t>
            </a:r>
            <a:endParaRPr lang="en-US" sz="2000" dirty="0"/>
          </a:p>
        </p:txBody>
      </p:sp>
      <p:sp>
        <p:nvSpPr>
          <p:cNvPr id="58" name="Text 46"/>
          <p:cNvSpPr txBox="1"/>
          <p:nvPr/>
        </p:nvSpPr>
        <p:spPr>
          <a:xfrm>
            <a:off x="8479536" y="4840986"/>
            <a:ext cx="2959608" cy="76870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326</a:t>
            </a:r>
            <a:endParaRPr lang="en-US" sz="1400" dirty="0"/>
          </a:p>
        </p:txBody>
      </p:sp>
      <p:graphicFrame>
        <p:nvGraphicFramePr>
          <p:cNvPr id="59" name="Chart 10" descr=""/>
          <p:cNvGraphicFramePr/>
          <p:nvPr/>
        </p:nvGraphicFramePr>
        <p:xfrm>
          <a:off x="8479536" y="5654040"/>
          <a:ext cx="1972056" cy="502615"/>
        </p:xfrm>
        <a:graphic xmlns:a="http://schemas.openxmlformats.org/drawingml/2006/main">
          <a:graphicData uri="http://schemas.openxmlformats.org/drawingml/2006/chart">
            <c:chart xmlns:c="http://schemas.openxmlformats.org/drawingml/2006/chart" r:id="rId11"/>
          </a:graphicData>
        </a:graphic>
      </p:graphicFrame>
      <p:graphicFrame>
        <p:nvGraphicFramePr>
          <p:cNvPr id="60" name="Chart 11" descr=""/>
          <p:cNvGraphicFramePr/>
          <p:nvPr/>
        </p:nvGraphicFramePr>
        <p:xfrm>
          <a:off x="8479536" y="5654040"/>
          <a:ext cx="1972056" cy="502615"/>
        </p:xfrm>
        <a:graphic xmlns:a="http://schemas.openxmlformats.org/drawingml/2006/main">
          <a:graphicData uri="http://schemas.openxmlformats.org/drawingml/2006/chart">
            <c:chart xmlns:c="http://schemas.openxmlformats.org/drawingml/2006/chart" r:id="rId12"/>
          </a:graphicData>
        </a:graphic>
      </p:graphicFrame>
      <p:sp>
        <p:nvSpPr>
          <p:cNvPr id="61" name="Text 47"/>
          <p:cNvSpPr txBox="1"/>
          <p:nvPr/>
        </p:nvSpPr>
        <p:spPr>
          <a:xfrm>
            <a:off x="10323576" y="4767072"/>
            <a:ext cx="1115568" cy="1478280"/>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+168</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Headcount</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1,624</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1,541</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2C4A"/>
                </a:solidFill>
                <a:latin typeface="Inter" pitchFamily="34" charset="0"/>
                <a:ea typeface="Inter" pitchFamily="34" charset="-122"/>
                <a:cs typeface="Inter" pitchFamily="34" charset="-120"/>
              </a:rPr>
              <a:t>−83</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2C4A"/>
                </a:solidFill>
                <a:latin typeface="Inter" pitchFamily="34" charset="0"/>
                <a:ea typeface="Inter" pitchFamily="34" charset="-122"/>
                <a:cs typeface="Inter" pitchFamily="34" charset="-120"/>
              </a:rPr>
              <a:t>−5.1%</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Fixed employees at month end,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sp>
        <p:nvSpPr>
          <p:cNvPr id="22" name="Shape 15"/>
          <p:cNvSpPr/>
          <p:nvPr/>
        </p:nvSpPr>
        <p:spPr>
          <a:xfrm>
            <a:off x="4951476" y="3049524"/>
            <a:ext cx="310896" cy="45720"/>
          </a:xfrm>
          <a:prstGeom prst="rect">
            <a:avLst/>
          </a:prstGeom>
          <a:solidFill>
            <a:srgbClr val="9AA3AD"/>
          </a:solidFill>
          <a:ln/>
        </p:spPr>
      </p:sp>
      <p:sp>
        <p:nvSpPr>
          <p:cNvPr id="23" name="Shape 16"/>
          <p:cNvSpPr/>
          <p:nvPr/>
        </p:nvSpPr>
        <p:spPr>
          <a:xfrm>
            <a:off x="5052060" y="3017520"/>
            <a:ext cx="109728" cy="109728"/>
          </a:xfrm>
          <a:prstGeom prst="ellipse">
            <a:avLst/>
          </a:prstGeom>
          <a:solidFill>
            <a:srgbClr val="9AA3AD"/>
          </a:solidFill>
          <a:ln/>
        </p:spPr>
      </p:sp>
      <p:sp>
        <p:nvSpPr>
          <p:cNvPr id="24"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5" name="Shape 18"/>
          <p:cNvSpPr/>
          <p:nvPr/>
        </p:nvSpPr>
        <p:spPr>
          <a:xfrm>
            <a:off x="6185916" y="3049524"/>
            <a:ext cx="310896" cy="45720"/>
          </a:xfrm>
          <a:prstGeom prst="rect">
            <a:avLst/>
          </a:prstGeom>
          <a:solidFill>
            <a:srgbClr val="2587C5"/>
          </a:solidFill>
          <a:ln/>
        </p:spPr>
      </p:sp>
      <p:sp>
        <p:nvSpPr>
          <p:cNvPr id="26" name="Shape 19"/>
          <p:cNvSpPr/>
          <p:nvPr/>
        </p:nvSpPr>
        <p:spPr>
          <a:xfrm>
            <a:off x="6286500" y="3017520"/>
            <a:ext cx="109728" cy="109728"/>
          </a:xfrm>
          <a:prstGeom prst="ellipse">
            <a:avLst/>
          </a:prstGeom>
          <a:solidFill>
            <a:srgbClr val="2587C5"/>
          </a:solidFill>
          <a:ln/>
        </p:spPr>
      </p:sp>
      <p:sp>
        <p:nvSpPr>
          <p:cNvPr id="27"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8" name="Shape 21"/>
          <p:cNvSpPr/>
          <p:nvPr/>
        </p:nvSpPr>
        <p:spPr>
          <a:xfrm>
            <a:off x="457200" y="6126480"/>
            <a:ext cx="11274552" cy="615696"/>
          </a:xfrm>
          <a:prstGeom prst="rect">
            <a:avLst/>
          </a:prstGeom>
          <a:solidFill>
            <a:srgbClr val="EDF4FA"/>
          </a:solidFill>
          <a:ln/>
        </p:spPr>
      </p:sp>
      <p:sp>
        <p:nvSpPr>
          <p:cNvPr id="29" name="Text 22"/>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Fixed ops headcount fell 76 to 1,540 (−4.7%) September to September; the card is the Jan–Sep average month-end. CP &amp; W ROs fell 2.3% year to date.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Headcount</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8125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FIXED OPS HEADCOUNT</a:t>
            </a:r>
            <a:endParaRPr lang="en-US" sz="1500" dirty="0"/>
          </a:p>
        </p:txBody>
      </p:sp>
      <p:sp>
        <p:nvSpPr>
          <p:cNvPr id="9" name="Text 7"/>
          <p:cNvSpPr txBox="1"/>
          <p:nvPr/>
        </p:nvSpPr>
        <p:spPr>
          <a:xfrm>
            <a:off x="3295650" y="1335024"/>
            <a:ext cx="475107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 2026 VS SEP 2025</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−76</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3" name="Shape 11"/>
          <p:cNvSpPr/>
          <p:nvPr/>
        </p:nvSpPr>
        <p:spPr>
          <a:xfrm>
            <a:off x="3785616" y="1911860"/>
            <a:ext cx="185057" cy="110352"/>
          </a:xfrm>
          <a:prstGeom prst="rect">
            <a:avLst/>
          </a:prstGeom>
          <a:solidFill>
            <a:srgbClr val="2587C5"/>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+5</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7" name="Shape 15"/>
          <p:cNvSpPr/>
          <p:nvPr/>
        </p:nvSpPr>
        <p:spPr>
          <a:xfrm>
            <a:off x="3785616" y="2151755"/>
            <a:ext cx="148046" cy="110352"/>
          </a:xfrm>
          <a:prstGeom prst="rect">
            <a:avLst/>
          </a:prstGeom>
          <a:solidFill>
            <a:srgbClr val="2587C5"/>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+4</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21" name="Shape 19"/>
          <p:cNvSpPr/>
          <p:nvPr/>
        </p:nvSpPr>
        <p:spPr>
          <a:xfrm>
            <a:off x="3785616" y="2391651"/>
            <a:ext cx="148046" cy="110352"/>
          </a:xfrm>
          <a:prstGeom prst="rect">
            <a:avLst/>
          </a:prstGeom>
          <a:solidFill>
            <a:srgbClr val="2587C5"/>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+4</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25" name="Shape 23"/>
          <p:cNvSpPr/>
          <p:nvPr/>
        </p:nvSpPr>
        <p:spPr>
          <a:xfrm>
            <a:off x="3785616" y="2631546"/>
            <a:ext cx="111034" cy="110352"/>
          </a:xfrm>
          <a:prstGeom prst="rect">
            <a:avLst/>
          </a:prstGeom>
          <a:solidFill>
            <a:srgbClr val="2587C5"/>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+3</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29" name="Shape 27"/>
          <p:cNvSpPr/>
          <p:nvPr/>
        </p:nvSpPr>
        <p:spPr>
          <a:xfrm>
            <a:off x="3785616" y="2871442"/>
            <a:ext cx="111034" cy="110352"/>
          </a:xfrm>
          <a:prstGeom prst="rect">
            <a:avLst/>
          </a:prstGeom>
          <a:solidFill>
            <a:srgbClr val="2587C5"/>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+3</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33" name="Shape 31"/>
          <p:cNvSpPr/>
          <p:nvPr/>
        </p:nvSpPr>
        <p:spPr>
          <a:xfrm>
            <a:off x="3785616" y="3111337"/>
            <a:ext cx="74023" cy="110352"/>
          </a:xfrm>
          <a:prstGeom prst="rect">
            <a:avLst/>
          </a:prstGeom>
          <a:solidFill>
            <a:srgbClr val="2587C5"/>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+2</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37" name="Shape 35"/>
          <p:cNvSpPr/>
          <p:nvPr/>
        </p:nvSpPr>
        <p:spPr>
          <a:xfrm>
            <a:off x="3785616" y="3351233"/>
            <a:ext cx="37011" cy="110352"/>
          </a:xfrm>
          <a:prstGeom prst="rect">
            <a:avLst/>
          </a:prstGeom>
          <a:solidFill>
            <a:srgbClr val="2587C5"/>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+1</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41" name="Shape 39"/>
          <p:cNvSpPr/>
          <p:nvPr/>
        </p:nvSpPr>
        <p:spPr>
          <a:xfrm>
            <a:off x="3785616" y="3591128"/>
            <a:ext cx="37011" cy="110352"/>
          </a:xfrm>
          <a:prstGeom prst="rect">
            <a:avLst/>
          </a:prstGeom>
          <a:solidFill>
            <a:srgbClr val="2587C5"/>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+1</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45" name="Shape 43"/>
          <p:cNvSpPr/>
          <p:nvPr/>
        </p:nvSpPr>
        <p:spPr>
          <a:xfrm>
            <a:off x="3785616" y="3831024"/>
            <a:ext cx="37011" cy="110352"/>
          </a:xfrm>
          <a:prstGeom prst="rect">
            <a:avLst/>
          </a:prstGeom>
          <a:solidFill>
            <a:srgbClr val="2587C5"/>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+1</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49" name="Shape 47"/>
          <p:cNvSpPr/>
          <p:nvPr/>
        </p:nvSpPr>
        <p:spPr>
          <a:xfrm>
            <a:off x="3785616" y="4070920"/>
            <a:ext cx="37011" cy="110352"/>
          </a:xfrm>
          <a:prstGeom prst="rect">
            <a:avLst/>
          </a:prstGeom>
          <a:solidFill>
            <a:srgbClr val="2587C5"/>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+1</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53" name="Shape 51"/>
          <p:cNvSpPr/>
          <p:nvPr/>
        </p:nvSpPr>
        <p:spPr>
          <a:xfrm>
            <a:off x="3748605" y="4310815"/>
            <a:ext cx="37011" cy="110352"/>
          </a:xfrm>
          <a:prstGeom prst="rect">
            <a:avLst/>
          </a:prstGeom>
          <a:solidFill>
            <a:srgbClr val="2587C5"/>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−1</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57" name="Shape 55"/>
          <p:cNvSpPr/>
          <p:nvPr/>
        </p:nvSpPr>
        <p:spPr>
          <a:xfrm>
            <a:off x="3748605" y="4550711"/>
            <a:ext cx="37011" cy="110352"/>
          </a:xfrm>
          <a:prstGeom prst="rect">
            <a:avLst/>
          </a:prstGeom>
          <a:solidFill>
            <a:srgbClr val="2587C5"/>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−1</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61" name="Shape 59"/>
          <p:cNvSpPr/>
          <p:nvPr/>
        </p:nvSpPr>
        <p:spPr>
          <a:xfrm>
            <a:off x="3748605" y="4790606"/>
            <a:ext cx="37011" cy="110352"/>
          </a:xfrm>
          <a:prstGeom prst="rect">
            <a:avLst/>
          </a:prstGeom>
          <a:solidFill>
            <a:srgbClr val="2587C5"/>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−1</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65" name="Shape 63"/>
          <p:cNvSpPr/>
          <p:nvPr/>
        </p:nvSpPr>
        <p:spPr>
          <a:xfrm>
            <a:off x="3748605" y="5030502"/>
            <a:ext cx="37011" cy="110352"/>
          </a:xfrm>
          <a:prstGeom prst="rect">
            <a:avLst/>
          </a:prstGeom>
          <a:solidFill>
            <a:srgbClr val="2587C5"/>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−1</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69" name="Shape 67"/>
          <p:cNvSpPr/>
          <p:nvPr/>
        </p:nvSpPr>
        <p:spPr>
          <a:xfrm>
            <a:off x="3748605" y="5270397"/>
            <a:ext cx="37011" cy="110352"/>
          </a:xfrm>
          <a:prstGeom prst="rect">
            <a:avLst/>
          </a:prstGeom>
          <a:solidFill>
            <a:srgbClr val="2587C5"/>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−1</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73" name="Shape 71"/>
          <p:cNvSpPr/>
          <p:nvPr/>
        </p:nvSpPr>
        <p:spPr>
          <a:xfrm>
            <a:off x="3748605" y="5510293"/>
            <a:ext cx="37011" cy="110352"/>
          </a:xfrm>
          <a:prstGeom prst="rect">
            <a:avLst/>
          </a:prstGeom>
          <a:solidFill>
            <a:srgbClr val="2587C5"/>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−1</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77" name="Shape 75"/>
          <p:cNvSpPr/>
          <p:nvPr/>
        </p:nvSpPr>
        <p:spPr>
          <a:xfrm>
            <a:off x="3748605" y="5750188"/>
            <a:ext cx="37011" cy="110352"/>
          </a:xfrm>
          <a:prstGeom prst="rect">
            <a:avLst/>
          </a:prstGeom>
          <a:solidFill>
            <a:srgbClr val="2587C5"/>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−1</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81" name="Shape 79"/>
          <p:cNvSpPr/>
          <p:nvPr/>
        </p:nvSpPr>
        <p:spPr>
          <a:xfrm>
            <a:off x="9299013" y="1911860"/>
            <a:ext cx="37011" cy="110352"/>
          </a:xfrm>
          <a:prstGeom prst="rect">
            <a:avLst/>
          </a:prstGeom>
          <a:solidFill>
            <a:srgbClr val="2587C5"/>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−1</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85" name="Shape 83"/>
          <p:cNvSpPr/>
          <p:nvPr/>
        </p:nvSpPr>
        <p:spPr>
          <a:xfrm>
            <a:off x="9299013" y="2151755"/>
            <a:ext cx="37011" cy="110352"/>
          </a:xfrm>
          <a:prstGeom prst="rect">
            <a:avLst/>
          </a:prstGeom>
          <a:solidFill>
            <a:srgbClr val="2587C5"/>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−1</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89" name="Shape 87"/>
          <p:cNvSpPr/>
          <p:nvPr/>
        </p:nvSpPr>
        <p:spPr>
          <a:xfrm>
            <a:off x="9262001" y="2391651"/>
            <a:ext cx="74023" cy="110352"/>
          </a:xfrm>
          <a:prstGeom prst="rect">
            <a:avLst/>
          </a:prstGeom>
          <a:solidFill>
            <a:srgbClr val="2587C5"/>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−2</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93" name="Shape 91"/>
          <p:cNvSpPr/>
          <p:nvPr/>
        </p:nvSpPr>
        <p:spPr>
          <a:xfrm>
            <a:off x="9262001" y="2631546"/>
            <a:ext cx="74023" cy="110352"/>
          </a:xfrm>
          <a:prstGeom prst="rect">
            <a:avLst/>
          </a:prstGeom>
          <a:solidFill>
            <a:srgbClr val="2587C5"/>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−2</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97" name="Shape 95"/>
          <p:cNvSpPr/>
          <p:nvPr/>
        </p:nvSpPr>
        <p:spPr>
          <a:xfrm>
            <a:off x="9224990" y="2871442"/>
            <a:ext cx="111034" cy="110352"/>
          </a:xfrm>
          <a:prstGeom prst="rect">
            <a:avLst/>
          </a:prstGeom>
          <a:solidFill>
            <a:srgbClr val="2587C5"/>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−3</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01" name="Shape 99"/>
          <p:cNvSpPr/>
          <p:nvPr/>
        </p:nvSpPr>
        <p:spPr>
          <a:xfrm>
            <a:off x="9224990" y="3111337"/>
            <a:ext cx="111034" cy="110352"/>
          </a:xfrm>
          <a:prstGeom prst="rect">
            <a:avLst/>
          </a:prstGeom>
          <a:solidFill>
            <a:srgbClr val="2587C5"/>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−3</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05" name="Shape 103"/>
          <p:cNvSpPr/>
          <p:nvPr/>
        </p:nvSpPr>
        <p:spPr>
          <a:xfrm>
            <a:off x="9224990" y="3351233"/>
            <a:ext cx="111034" cy="110352"/>
          </a:xfrm>
          <a:prstGeom prst="rect">
            <a:avLst/>
          </a:prstGeom>
          <a:solidFill>
            <a:srgbClr val="2587C5"/>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−3</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09" name="Shape 107"/>
          <p:cNvSpPr/>
          <p:nvPr/>
        </p:nvSpPr>
        <p:spPr>
          <a:xfrm>
            <a:off x="9187978" y="3591128"/>
            <a:ext cx="148046" cy="110352"/>
          </a:xfrm>
          <a:prstGeom prst="rect">
            <a:avLst/>
          </a:prstGeom>
          <a:solidFill>
            <a:srgbClr val="2587C5"/>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−4</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13" name="Shape 111"/>
          <p:cNvSpPr/>
          <p:nvPr/>
        </p:nvSpPr>
        <p:spPr>
          <a:xfrm>
            <a:off x="9187978" y="3831024"/>
            <a:ext cx="148046" cy="110352"/>
          </a:xfrm>
          <a:prstGeom prst="rect">
            <a:avLst/>
          </a:prstGeom>
          <a:solidFill>
            <a:srgbClr val="2587C5"/>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−4</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17" name="Shape 115"/>
          <p:cNvSpPr/>
          <p:nvPr/>
        </p:nvSpPr>
        <p:spPr>
          <a:xfrm>
            <a:off x="9113955" y="4070920"/>
            <a:ext cx="222069" cy="110352"/>
          </a:xfrm>
          <a:prstGeom prst="rect">
            <a:avLst/>
          </a:prstGeom>
          <a:solidFill>
            <a:srgbClr val="2587C5"/>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−6</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21" name="Shape 119"/>
          <p:cNvSpPr/>
          <p:nvPr/>
        </p:nvSpPr>
        <p:spPr>
          <a:xfrm>
            <a:off x="9076944" y="4310815"/>
            <a:ext cx="259080" cy="110352"/>
          </a:xfrm>
          <a:prstGeom prst="rect">
            <a:avLst/>
          </a:prstGeom>
          <a:solidFill>
            <a:srgbClr val="2587C5"/>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−7</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25" name="Shape 123"/>
          <p:cNvSpPr/>
          <p:nvPr/>
        </p:nvSpPr>
        <p:spPr>
          <a:xfrm>
            <a:off x="9039933" y="4550711"/>
            <a:ext cx="296091" cy="110352"/>
          </a:xfrm>
          <a:prstGeom prst="rect">
            <a:avLst/>
          </a:prstGeom>
          <a:solidFill>
            <a:srgbClr val="2587C5"/>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−8</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29" name="Shape 127"/>
          <p:cNvSpPr/>
          <p:nvPr/>
        </p:nvSpPr>
        <p:spPr>
          <a:xfrm>
            <a:off x="9039933" y="4790606"/>
            <a:ext cx="296091" cy="110352"/>
          </a:xfrm>
          <a:prstGeom prst="rect">
            <a:avLst/>
          </a:prstGeom>
          <a:solidFill>
            <a:srgbClr val="2587C5"/>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−8</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33" name="Shape 131"/>
          <p:cNvSpPr/>
          <p:nvPr/>
        </p:nvSpPr>
        <p:spPr>
          <a:xfrm>
            <a:off x="9002921" y="5030502"/>
            <a:ext cx="333103" cy="110352"/>
          </a:xfrm>
          <a:prstGeom prst="rect">
            <a:avLst/>
          </a:prstGeom>
          <a:solidFill>
            <a:srgbClr val="2587C5"/>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−9</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37" name="Shape 135"/>
          <p:cNvSpPr/>
          <p:nvPr/>
        </p:nvSpPr>
        <p:spPr>
          <a:xfrm>
            <a:off x="8891887" y="5270397"/>
            <a:ext cx="444137" cy="110352"/>
          </a:xfrm>
          <a:prstGeom prst="rect">
            <a:avLst/>
          </a:prstGeom>
          <a:solidFill>
            <a:srgbClr val="2587C5"/>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−12</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41" name="Shape 139"/>
          <p:cNvSpPr/>
          <p:nvPr/>
        </p:nvSpPr>
        <p:spPr>
          <a:xfrm>
            <a:off x="8558784" y="5510293"/>
            <a:ext cx="777240" cy="110352"/>
          </a:xfrm>
          <a:prstGeom prst="rect">
            <a:avLst/>
          </a:prstGeom>
          <a:solidFill>
            <a:srgbClr val="2587C5"/>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1A1A1A"/>
                </a:solidFill>
                <a:latin typeface="Inter" pitchFamily="34" charset="0"/>
                <a:ea typeface="Inter" pitchFamily="34" charset="-122"/>
                <a:cs typeface="Inter" pitchFamily="34" charset="-120"/>
              </a:rPr>
              <a:t>−21</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7" name="Shape 144"/>
          <p:cNvSpPr/>
          <p:nvPr/>
        </p:nvSpPr>
        <p:spPr>
          <a:xfrm>
            <a:off x="457200" y="6126480"/>
            <a:ext cx="11274552" cy="371856"/>
          </a:xfrm>
          <a:prstGeom prst="rect">
            <a:avLst/>
          </a:prstGeom>
          <a:solidFill>
            <a:srgbClr val="EDF4FA"/>
          </a:solidFill>
          <a:ln/>
        </p:spPr>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10 stores added fixed staff; 23 reduced.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2026-10-29T16:33:51Z</dcterms:created>
  <dcterms:modified xsi:type="dcterms:W3CDTF">2026-10-29T16:33:51Z</dcterms:modified>
</cp:coreProperties>
</file>