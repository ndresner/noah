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4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3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95" r:id="rId146"/>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46" Type="http://schemas.openxmlformats.org/officeDocument/2006/relationships/slide" Target="slides/slide1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Standard service-department definitions. Proficiency on the store slides = Qlik sold hours ÷ ADP regular + overtime hours. Efficiency and productivity need DMS time clocked on ROs, which this data does not include, so they are defined here but not measured.PLACE: right after the Technician Proficiency explainer, before How We Measured It (Noah, Oct 27).</a:t>
            </a:r>
          </a:p>
          <a:p>
            <a:r>
              <a:t>Talk track: proficiency is the one we measure; efficiency and productivity explain why it is low. High efficiency with low proficiency means the tech is waiting. 'Productivity' here is the technician measure, not the Fixed Ops Productivity section (gross and ROs per employee).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Proficiency, Efficiency and Productivity</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713232" y="1481328"/>
            <a:ext cx="3453384" cy="3017520"/>
          </a:xfrm>
          <a:prstGeom prst="rect">
            <a:avLst/>
          </a:prstGeom>
          <a:solidFill>
            <a:srgbClr val="F7F7F7"/>
          </a:solidFill>
          <a:ln/>
        </p:spPr>
      </p:sp>
      <p:sp>
        <p:nvSpPr>
          <p:cNvPr id="7" name="Shape 5"/>
          <p:cNvSpPr/>
          <p:nvPr/>
        </p:nvSpPr>
        <p:spPr>
          <a:xfrm>
            <a:off x="713232" y="1481328"/>
            <a:ext cx="3453384" cy="64008"/>
          </a:xfrm>
          <a:prstGeom prst="rect">
            <a:avLst/>
          </a:prstGeom>
          <a:solidFill>
            <a:srgbClr val="2587C5"/>
          </a:solidFill>
          <a:ln/>
        </p:spPr>
      </p:sp>
      <p:sp>
        <p:nvSpPr>
          <p:cNvPr id="8" name="Text 6"/>
          <p:cNvSpPr txBox="1"/>
          <p:nvPr/>
        </p:nvSpPr>
        <p:spPr>
          <a:xfrm>
            <a:off x="896112" y="1691640"/>
            <a:ext cx="3087624"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PROFICIENCY</a:t>
            </a:r>
            <a:endParaRPr lang="en-US" sz="1400" dirty="0"/>
          </a:p>
        </p:txBody>
      </p:sp>
      <p:sp>
        <p:nvSpPr>
          <p:cNvPr id="9" name="Text 7"/>
          <p:cNvSpPr txBox="1"/>
          <p:nvPr/>
        </p:nvSpPr>
        <p:spPr>
          <a:xfrm>
            <a:off x="896112" y="2286000"/>
            <a:ext cx="3087624" cy="868680"/>
          </a:xfrm>
          <a:prstGeom prst="rect">
            <a:avLst/>
          </a:prstGeom>
          <a:noFill/>
          <a:ln/>
        </p:spPr>
        <p:txBody>
          <a:bodyPr wrap="square" lIns="0" tIns="0" rIns="0" bIns="0" rtlCol="0" anchor="ctr">
            <a:normAutofit/>
          </a:bodyPr>
          <a:lstStyle/>
          <a:p>
            <a:pPr indent="0" marL="0">
              <a:buNone/>
            </a:pPr>
            <a:r>
              <a:rPr lang="en-US" sz="2600" b="1" dirty="0">
                <a:solidFill>
                  <a:srgbClr val="0B2C4A"/>
                </a:solidFill>
                <a:latin typeface="Inter" pitchFamily="34" charset="0"/>
                <a:ea typeface="Inter" pitchFamily="34" charset="-122"/>
                <a:cs typeface="Inter" pitchFamily="34" charset="-120"/>
              </a:rPr>
              <a:t>Sold hours ÷ hours worked</a:t>
            </a:r>
            <a:endParaRPr lang="en-US" sz="2600" dirty="0"/>
          </a:p>
        </p:txBody>
      </p:sp>
      <p:sp>
        <p:nvSpPr>
          <p:cNvPr id="10" name="Text 8"/>
          <p:cNvSpPr txBox="1"/>
          <p:nvPr/>
        </p:nvSpPr>
        <p:spPr>
          <a:xfrm>
            <a:off x="896112" y="3200400"/>
            <a:ext cx="3087624"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How many hours a tech flags for every hour they are at work. The measure on these slides: 85% target, group 94.7%.</a:t>
            </a:r>
            <a:endParaRPr lang="en-US" sz="1500" dirty="0"/>
          </a:p>
        </p:txBody>
      </p:sp>
      <p:sp>
        <p:nvSpPr>
          <p:cNvPr id="11" name="Shape 9"/>
          <p:cNvSpPr/>
          <p:nvPr/>
        </p:nvSpPr>
        <p:spPr>
          <a:xfrm>
            <a:off x="4367784" y="1481328"/>
            <a:ext cx="3453384" cy="3017520"/>
          </a:xfrm>
          <a:prstGeom prst="rect">
            <a:avLst/>
          </a:prstGeom>
          <a:solidFill>
            <a:srgbClr val="F7F7F7"/>
          </a:solidFill>
          <a:ln/>
        </p:spPr>
      </p:sp>
      <p:sp>
        <p:nvSpPr>
          <p:cNvPr id="12" name="Shape 10"/>
          <p:cNvSpPr/>
          <p:nvPr/>
        </p:nvSpPr>
        <p:spPr>
          <a:xfrm>
            <a:off x="4367784" y="1481328"/>
            <a:ext cx="3453384" cy="64008"/>
          </a:xfrm>
          <a:prstGeom prst="rect">
            <a:avLst/>
          </a:prstGeom>
          <a:solidFill>
            <a:srgbClr val="2587C5"/>
          </a:solidFill>
          <a:ln/>
        </p:spPr>
      </p:sp>
      <p:sp>
        <p:nvSpPr>
          <p:cNvPr id="13" name="Text 11"/>
          <p:cNvSpPr txBox="1"/>
          <p:nvPr/>
        </p:nvSpPr>
        <p:spPr>
          <a:xfrm>
            <a:off x="4550664" y="1691640"/>
            <a:ext cx="3087624"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EFFICIENCY</a:t>
            </a:r>
            <a:endParaRPr lang="en-US" sz="1400" dirty="0"/>
          </a:p>
        </p:txBody>
      </p:sp>
      <p:sp>
        <p:nvSpPr>
          <p:cNvPr id="14" name="Text 12"/>
          <p:cNvSpPr txBox="1"/>
          <p:nvPr/>
        </p:nvSpPr>
        <p:spPr>
          <a:xfrm>
            <a:off x="4550664" y="2286000"/>
            <a:ext cx="3087624" cy="868680"/>
          </a:xfrm>
          <a:prstGeom prst="rect">
            <a:avLst/>
          </a:prstGeom>
          <a:noFill/>
          <a:ln/>
        </p:spPr>
        <p:txBody>
          <a:bodyPr wrap="square" lIns="0" tIns="0" rIns="0" bIns="0" rtlCol="0" anchor="ctr">
            <a:normAutofit/>
          </a:bodyPr>
          <a:lstStyle/>
          <a:p>
            <a:pPr indent="0" marL="0">
              <a:buNone/>
            </a:pPr>
            <a:r>
              <a:rPr lang="en-US" sz="2600" b="1" dirty="0">
                <a:solidFill>
                  <a:srgbClr val="0B2C4A"/>
                </a:solidFill>
                <a:latin typeface="Inter" pitchFamily="34" charset="0"/>
                <a:ea typeface="Inter" pitchFamily="34" charset="-122"/>
                <a:cs typeface="Inter" pitchFamily="34" charset="-120"/>
              </a:rPr>
              <a:t>Sold hours ÷ hours on ROs</a:t>
            </a:r>
            <a:endParaRPr lang="en-US" sz="2600" dirty="0"/>
          </a:p>
        </p:txBody>
      </p:sp>
      <p:sp>
        <p:nvSpPr>
          <p:cNvPr id="15" name="Text 13"/>
          <p:cNvSpPr txBox="1"/>
          <p:nvPr/>
        </p:nvSpPr>
        <p:spPr>
          <a:xfrm>
            <a:off x="4550664" y="3200400"/>
            <a:ext cx="3087624"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How fast a tech does the work: hours flagged against the time actually clocked on repair orders. Over 100% beats book time.</a:t>
            </a:r>
            <a:endParaRPr lang="en-US" sz="1500" dirty="0"/>
          </a:p>
        </p:txBody>
      </p:sp>
      <p:sp>
        <p:nvSpPr>
          <p:cNvPr id="16" name="Shape 14"/>
          <p:cNvSpPr/>
          <p:nvPr/>
        </p:nvSpPr>
        <p:spPr>
          <a:xfrm>
            <a:off x="8022336" y="1481328"/>
            <a:ext cx="3453384" cy="3017520"/>
          </a:xfrm>
          <a:prstGeom prst="rect">
            <a:avLst/>
          </a:prstGeom>
          <a:solidFill>
            <a:srgbClr val="F7F7F7"/>
          </a:solidFill>
          <a:ln/>
        </p:spPr>
      </p:sp>
      <p:sp>
        <p:nvSpPr>
          <p:cNvPr id="17" name="Shape 15"/>
          <p:cNvSpPr/>
          <p:nvPr/>
        </p:nvSpPr>
        <p:spPr>
          <a:xfrm>
            <a:off x="8022336" y="1481328"/>
            <a:ext cx="3453384" cy="64008"/>
          </a:xfrm>
          <a:prstGeom prst="rect">
            <a:avLst/>
          </a:prstGeom>
          <a:solidFill>
            <a:srgbClr val="2587C5"/>
          </a:solidFill>
          <a:ln/>
        </p:spPr>
      </p:sp>
      <p:sp>
        <p:nvSpPr>
          <p:cNvPr id="18" name="Text 16"/>
          <p:cNvSpPr txBox="1"/>
          <p:nvPr/>
        </p:nvSpPr>
        <p:spPr>
          <a:xfrm>
            <a:off x="8205216" y="1691640"/>
            <a:ext cx="3087624" cy="566928"/>
          </a:xfrm>
          <a:prstGeom prst="rect">
            <a:avLst/>
          </a:prstGeom>
          <a:noFill/>
          <a:ln/>
        </p:spPr>
        <p:txBody>
          <a:bodyPr wrap="square" lIns="0" tIns="0" rIns="0" bIns="0" rtlCol="0" anchor="t"/>
          <a:lstStyle/>
          <a:p>
            <a:pPr indent="0" marL="0">
              <a:buNone/>
            </a:pPr>
            <a:r>
              <a:rPr lang="en-US" sz="1400" b="1" spc="80" kern="0" dirty="0">
                <a:solidFill>
                  <a:srgbClr val="595959"/>
                </a:solidFill>
                <a:latin typeface="Inter" pitchFamily="34" charset="0"/>
                <a:ea typeface="Inter" pitchFamily="34" charset="-122"/>
                <a:cs typeface="Inter" pitchFamily="34" charset="-120"/>
              </a:rPr>
              <a:t>PRODUCTIVITY</a:t>
            </a:r>
            <a:endParaRPr lang="en-US" sz="1400" dirty="0"/>
          </a:p>
        </p:txBody>
      </p:sp>
      <p:sp>
        <p:nvSpPr>
          <p:cNvPr id="19" name="Text 17"/>
          <p:cNvSpPr txBox="1"/>
          <p:nvPr/>
        </p:nvSpPr>
        <p:spPr>
          <a:xfrm>
            <a:off x="8205216" y="2286000"/>
            <a:ext cx="3087624" cy="868680"/>
          </a:xfrm>
          <a:prstGeom prst="rect">
            <a:avLst/>
          </a:prstGeom>
          <a:noFill/>
          <a:ln/>
        </p:spPr>
        <p:txBody>
          <a:bodyPr wrap="square" lIns="0" tIns="0" rIns="0" bIns="0" rtlCol="0" anchor="ctr">
            <a:normAutofit/>
          </a:bodyPr>
          <a:lstStyle/>
          <a:p>
            <a:pPr indent="0" marL="0">
              <a:buNone/>
            </a:pPr>
            <a:r>
              <a:rPr lang="en-US" sz="2600" b="1" dirty="0">
                <a:solidFill>
                  <a:srgbClr val="0B2C4A"/>
                </a:solidFill>
                <a:latin typeface="Inter" pitchFamily="34" charset="0"/>
                <a:ea typeface="Inter" pitchFamily="34" charset="-122"/>
                <a:cs typeface="Inter" pitchFamily="34" charset="-120"/>
              </a:rPr>
              <a:t>Hours on ROs ÷ hours worked</a:t>
            </a:r>
            <a:endParaRPr lang="en-US" sz="2600" dirty="0"/>
          </a:p>
        </p:txBody>
      </p:sp>
      <p:sp>
        <p:nvSpPr>
          <p:cNvPr id="20" name="Text 18"/>
          <p:cNvSpPr txBox="1"/>
          <p:nvPr/>
        </p:nvSpPr>
        <p:spPr>
          <a:xfrm>
            <a:off x="8205216" y="3200400"/>
            <a:ext cx="3087624" cy="1188720"/>
          </a:xfrm>
          <a:prstGeom prst="rect">
            <a:avLst/>
          </a:prstGeom>
          <a:noFill/>
          <a:ln/>
        </p:spPr>
        <p:txBody>
          <a:bodyPr wrap="square" lIns="0" tIns="0" rIns="0" bIns="0" rtlCol="0" anchor="t"/>
          <a:lstStyle/>
          <a:p>
            <a:pPr indent="0" marL="0">
              <a:buNone/>
            </a:pPr>
            <a:r>
              <a:rPr lang="en-US" sz="1500" dirty="0">
                <a:solidFill>
                  <a:srgbClr val="1A1A1A"/>
                </a:solidFill>
                <a:latin typeface="Inter" pitchFamily="34" charset="0"/>
                <a:ea typeface="Inter" pitchFamily="34" charset="-122"/>
                <a:cs typeface="Inter" pitchFamily="34" charset="-120"/>
              </a:rPr>
              <a:t>How much of the day a tech spends on customer work instead of waiting on parts, dispatch or approvals.</a:t>
            </a:r>
            <a:endParaRPr lang="en-US" sz="1500" dirty="0"/>
          </a:p>
        </p:txBody>
      </p:sp>
      <p:sp>
        <p:nvSpPr>
          <p:cNvPr id="21" name="Text 19"/>
          <p:cNvSpPr txBox="1"/>
          <p:nvPr/>
        </p:nvSpPr>
        <p:spPr>
          <a:xfrm>
            <a:off x="713232" y="4709160"/>
            <a:ext cx="10762488" cy="914400"/>
          </a:xfrm>
          <a:prstGeom prst="rect">
            <a:avLst/>
          </a:prstGeom>
          <a:noFill/>
          <a:ln/>
        </p:spPr>
        <p:txBody>
          <a:bodyPr wrap="square" lIns="0" tIns="0" rIns="0" bIns="0" rtlCol="0" anchor="ctr"/>
          <a:lstStyle/>
          <a:p>
            <a:pPr indent="0" marL="0">
              <a:buNone/>
            </a:pPr>
            <a:r>
              <a:rPr lang="en-US" sz="1700" dirty="0">
                <a:solidFill>
                  <a:srgbClr val="1A1A1A"/>
                </a:solidFill>
                <a:latin typeface="Inter" pitchFamily="34" charset="0"/>
                <a:ea typeface="Inter" pitchFamily="34" charset="-122"/>
                <a:cs typeface="Inter" pitchFamily="34" charset="-120"/>
              </a:rPr>
              <a:t>Proficiency = efficiency × productivity. A fast tech with nothing to work on is efficient but not proficient: the fix is dispatch, parts and approvals, not the tech.</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2026-10-27T18:05:25Z</dcterms:created>
  <dcterms:modified xsi:type="dcterms:W3CDTF">2026-10-27T18:05:25Z</dcterms:modified>
</cp:coreProperties>
</file>