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notesMasterIdLst>
    <p:notesMasterId r:id="rId9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90" Type="http://schemas.openxmlformats.org/officeDocument/2006/relationships/notesMaster" Target="notesMasters/notesMaster1.xml"/><Relationship Id="rId91" Type="http://schemas.openxmlformats.org/officeDocument/2006/relationships/presProps" Target="presProps.xml"/><Relationship Id="rId92" Type="http://schemas.openxmlformats.org/officeDocument/2006/relationships/viewProps" Target="viewProps.xml"/><Relationship Id="rId93" Type="http://schemas.openxmlformats.org/officeDocument/2006/relationships/theme" Target="theme/theme1.xml"/><Relationship Id="rId94" Type="http://schemas.openxmlformats.org/officeDocument/2006/relationships/tableStyles" Target="tableStyles.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21.27</c:v>
                </c:pt>
                <c:pt idx="1">
                  <c:v>17.74</c:v>
                </c:pt>
                <c:pt idx="2">
                  <c:v>19.32</c:v>
                </c:pt>
                <c:pt idx="3">
                  <c:v>19.88</c:v>
                </c:pt>
                <c:pt idx="4">
                  <c:v>18.87</c:v>
                </c:pt>
                <c:pt idx="5">
                  <c:v>21.12</c:v>
                </c:pt>
                <c:pt idx="6">
                  <c:v>21.8</c:v>
                </c:pt>
                <c:pt idx="7">
                  <c:v>20.12</c:v>
                </c:pt>
                <c:pt idx="8">
                  <c:v>21.52</c:v>
                </c:pt>
                <c:pt idx="9">
                  <c:v>22.71</c:v>
                </c:pt>
                <c:pt idx="10">
                  <c:v>21.64</c:v>
                </c:pt>
                <c:pt idx="11">
                  <c:v>21.13</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24.84"/>
          <c:min val="16.16"/>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13.74</c:v>
                </c:pt>
                <c:pt idx="1">
                  <c:v>11.84</c:v>
                </c:pt>
                <c:pt idx="2">
                  <c:v>12.92</c:v>
                </c:pt>
                <c:pt idx="3">
                  <c:v>13.47</c:v>
                </c:pt>
                <c:pt idx="4">
                  <c:v>12.79</c:v>
                </c:pt>
                <c:pt idx="5">
                  <c:v>14.35</c:v>
                </c:pt>
                <c:pt idx="6">
                  <c:v>14.65</c:v>
                </c:pt>
                <c:pt idx="7">
                  <c:v>13.71</c:v>
                </c:pt>
                <c:pt idx="8">
                  <c:v>14.45</c:v>
                </c:pt>
                <c:pt idx="9">
                  <c:v>15.06</c:v>
                </c:pt>
                <c:pt idx="10">
                  <c:v>14.43</c:v>
                </c:pt>
                <c:pt idx="11">
                  <c:v>13.96</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6.6"/>
          <c:min val="10.4"/>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Group total, trailing 12 months ($M)</c:v>
                </c:pt>
              </c:strCache>
            </c:strRef>
          </c:tx>
          <c:spPr>
            <a:solidFill>
              <a:srgbClr val="2587C5"/>
            </a:solidFill>
            <a:ln w="38100" cap="flat">
              <a:solidFill>
                <a:srgbClr val="2587C5"/>
              </a:solidFill>
              <a:prstDash val="solid"/>
              <a:round/>
            </a:ln>
            <a:effectLst/>
          </c:spPr>
          <c:invertIfNegative val="0"/>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7.53</c:v>
                </c:pt>
                <c:pt idx="1">
                  <c:v>5.91</c:v>
                </c:pt>
                <c:pt idx="2">
                  <c:v>6.4</c:v>
                </c:pt>
                <c:pt idx="3">
                  <c:v>6.41</c:v>
                </c:pt>
                <c:pt idx="4">
                  <c:v>6.08</c:v>
                </c:pt>
                <c:pt idx="5">
                  <c:v>6.77</c:v>
                </c:pt>
                <c:pt idx="6">
                  <c:v>7.14</c:v>
                </c:pt>
                <c:pt idx="7">
                  <c:v>6.41</c:v>
                </c:pt>
                <c:pt idx="8">
                  <c:v>7.07</c:v>
                </c:pt>
                <c:pt idx="9">
                  <c:v>7.66</c:v>
                </c:pt>
                <c:pt idx="10">
                  <c:v>7.21</c:v>
                </c:pt>
                <c:pt idx="11">
                  <c:v>7.18</c:v>
                </c:pt>
              </c:numCache>
            </c:numRef>
          </c:val>
          <c:smooth val="0"/>
        </c:ser>
        <c:dLbls>
          <c:numFmt formatCode="0.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9.48"/>
          <c:min val="4.52"/>
        </c:scaling>
        <c:delete val="0"/>
        <c:axPos val="l"/>
        <c:majorGridlines>
          <c:spPr>
            <a:ln w="9525" cap="flat">
              <a:solidFill>
                <a:srgbClr val="D9D9D9"/>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Fixed employees, trailing 12 months</c:v>
                </c:pt>
              </c:strCache>
            </c:strRef>
          </c:tx>
          <c:spPr>
            <a:solidFill>
              <a:srgbClr val="2587C5"/>
            </a:solidFill>
            <a:ln w="38100" cap="flat">
              <a:solidFill>
                <a:srgbClr val="2587C5"/>
              </a:solidFill>
              <a:prstDash val="solid"/>
              <a:round/>
            </a:ln>
            <a:effectLst/>
          </c:spPr>
          <c:invertIfNegative val="0"/>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c:symbol val="circle"/>
            <c:size val="8"/>
            <c:spPr>
              <a:solidFill>
                <a:srgbClr val="2587C5"/>
              </a:solidFill>
              <a:ln w="12700" cap="flat">
                <a:solidFill>
                  <a:srgbClr val="2587C5"/>
                </a:solidFill>
                <a:prstDash val="solid"/>
                <a:round/>
              </a:ln>
              <a:effectLst/>
            </c:spPr>
          </c:marker>
          <c:cat>
            <c:multiLvlStrRef>
              <c:f>Sheet1!$A$2:$A$13</c:f>
              <c:multiLvlStrCache>
                <c:ptCount val="12"/>
                <c:lvl>
                  <c:pt idx="0">
                    <c:v>Oct '25</c:v>
                  </c:pt>
                  <c:pt idx="1">
                    <c:v>Nov '25</c:v>
                  </c:pt>
                  <c:pt idx="2">
                    <c:v>Dec '25</c:v>
                  </c:pt>
                  <c:pt idx="3">
                    <c:v>Jan '26</c:v>
                  </c:pt>
                  <c:pt idx="4">
                    <c:v>Feb '26</c:v>
                  </c:pt>
                  <c:pt idx="5">
                    <c:v>Mar '26</c:v>
                  </c:pt>
                  <c:pt idx="6">
                    <c:v>Apr '26</c:v>
                  </c:pt>
                  <c:pt idx="7">
                    <c:v>May '26</c:v>
                  </c:pt>
                  <c:pt idx="8">
                    <c:v>Jun '26</c:v>
                  </c:pt>
                  <c:pt idx="9">
                    <c:v>Jul '26</c:v>
                  </c:pt>
                  <c:pt idx="10">
                    <c:v>Aug '26</c:v>
                  </c:pt>
                  <c:pt idx="11">
                    <c:v>Sep '26</c:v>
                  </c:pt>
                </c:lvl>
              </c:multiLvlStrCache>
            </c:multiLvlStrRef>
          </c:cat>
          <c:val>
            <c:numRef>
              <c:f>Sheet1!$B$2:$B$13</c:f>
              <c:numCache>
                <c:formatCode>General</c:formatCode>
                <c:ptCount val="12"/>
                <c:pt idx="0">
                  <c:v>1604</c:v>
                </c:pt>
                <c:pt idx="1">
                  <c:v>1582</c:v>
                </c:pt>
                <c:pt idx="2">
                  <c:v>1563</c:v>
                </c:pt>
                <c:pt idx="3">
                  <c:v>1530</c:v>
                </c:pt>
                <c:pt idx="4">
                  <c:v>1530</c:v>
                </c:pt>
                <c:pt idx="5">
                  <c:v>1540</c:v>
                </c:pt>
                <c:pt idx="6">
                  <c:v>1545</c:v>
                </c:pt>
                <c:pt idx="7">
                  <c:v>1537</c:v>
                </c:pt>
                <c:pt idx="8">
                  <c:v>1546</c:v>
                </c:pt>
                <c:pt idx="9">
                  <c:v>1548</c:v>
                </c:pt>
                <c:pt idx="10">
                  <c:v>1549</c:v>
                </c:pt>
                <c:pt idx="11">
                  <c:v>1540</c:v>
                </c:pt>
              </c:numCache>
            </c:numRef>
          </c:val>
          <c:smooth val="0"/>
        </c:ser>
        <c:dLbls>
          <c:numFmt formatCode="#,##0" sourceLinked="0"/>
          <c:txPr>
            <a:bodyPr/>
            <a:lstStyle/>
            <a:p>
              <a:pPr>
                <a:defRPr b="0" i="0" strike="noStrike" sz="14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A1A1A"/>
                </a:solidFill>
                <a:latin typeface="+mn-lt"/>
              </a:defRPr>
            </a:pPr>
            <a:endParaRPr lang="en-US"/>
          </a:p>
        </c:txPr>
        <c:crossAx val="2094734552"/>
        <c:crosses val="autoZero"/>
        <c:auto val="1"/>
        <c:lblAlgn val="ctr"/>
        <c:noMultiLvlLbl val="1"/>
      </c:catAx>
      <c:valAx>
        <c:axId val="2094734552"/>
        <c:scaling>
          <c:orientation val="minMax"/>
          <c:max val="1620"/>
          <c:min val="152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noFill/>
            <a:prstDash val="solid"/>
            <a:round/>
          </a:ln>
        </c:spPr>
        <c:txPr>
          <a:bodyPr/>
          <a:lstStyle/>
          <a:p>
            <a:pPr>
              <a:defRPr sz="1400" b="0" i="0" u="none" strike="noStrike">
                <a:solidFill>
                  <a:srgbClr val="595959"/>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draft for Noah and Tray. Segment order follows the day: scoreboard (gross, profitability), the CP engine (ROs &gt; hours/RO &gt; ELR &gt; $/RO &gt; margin), labor mix, selling the work (opcodes), warranty &amp; internal, productivity. Door-rate slides in the CP Engine include every option (A-E plus the current version) for selection - option letter is the first line of each slide's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Top five and bottom four stores by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Trailing 12 months Oct 2025 - Sep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Same-store, INEOS excluded (opened 2026). Fixed ops = service + parts; GMC Prescott body shop gross excluded.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P&amp;L line Fixed Ops Absorption % = Total Gross Profit - Fixed Ops / Fixed Expenses. GMC Prescott includes its body shop, as on the P&amp;L. Jan-Sep 2026 YTD. Green at or above the group, red below. Bars start at 30.0%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Fixed Ops Absorption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Mechanical department profit / mechanical department gross (P&amp;L Detail statement). Body shop is its own department and is not included. Jan-Sep 2026 YTD. Green at or above the group, red below. Bars start at -45.0%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Service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P&amp;A department profit / P&amp;A department gross (P&amp;L Detail statement).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Profit &amp; Loss. Jan-Sep. Same-store, INEOS excluded (opened 2026). Change in Parts Net to Gross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Hours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D - door rate by store, split by labor grid, standard rate only. Store door rate sheet (Oct 15 2026); averages weighted by Jul-Sep CP sold hours. Bars start at $100. INEOS on the sheet but excluded (same-store).
AUDI HENDERSON: premium $399.00 (Lambo Non-Grid)
CHEVY GMC BULLHEAD: premium $199.87 (Non-Standard Grid)
CHEVY LV: premium $264.87 (Diesel/Corvette)
GMC PRESCOTT: premium $230.00 (EV)
HONDA FLAGSTAFF: premium $215.00 (EV)
KIA ST GEORGE: premium $195.00 (EV)
SUBARU ST GEORGE: premium $210.00 (EV)
VW HENDERSON: premium $210.00 (EV)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E - door rate by store with premium rates, split by labor grid. Store door rate sheet (Oct 15 2026); averages weighted by Jul-Sep CP sold hours. Bars start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CURRENT VERSION - bars and % only. Qlik - Closed Repair Orders. Customer pay, Jan-Sep by close month. Same-store, INEOS excluded (opened 2026). GMC Prescott body shop labor types excluded. CP ELR for JUL-SEP 2026 (last three months, to match current door rates) / store door rate (standard rate from the store door rate sheet; premium, EV and diesel rates not applied). Group = group CP labor sale / hours-weighted door rate. Green at or above 70%, red below. Bars start at 40%. Percentages are truncated, not rounded.
AUDI RENO: ELR $244.12 / door $235.87 = 103.4%
VOLVO: ELR $225.50 / door $249.95 = 90.2%
CHEVY GMC BULLHEAD: ELR $161.80 / door $179.87 = 89.9%
HYUNDAI ST GEORGE: ELR $165.96 / door $184.87 = 89.7%
ACURA: ELR $199.04 / door $224.87 = 88.5%
LR RENO: ELR $238.62 / door $275.00 = 86.7%
HONDA FLAGSTAFF: ELR $159.69 / door $185.00 = 86.3%
HONDA SPOKANE: ELR $147.93 / door $179.00 = 82.6%
LEXUS: ELR $187.42 / door $229.95 = 81.5%
CDJR POST FALLS: ELR $161.93 / door $199.95 = 80.9%
TOYOTA PRESCOTT: ELR $155.78 / door $195.00 = 79.8%
LR HENDERSON: ELR $234.48 / door $294.87 = 79.5%
KIA ST GEORGE: ELR $146.04 / door $185.00 = 78.9%
MAZDA: ELR $165.67 / door $209.87 = 78.9%
VW HENDERSON: ELR $160.84 / door $204.87 = 78.5%
VW ST GEORGE: ELR $141.89 / door $184.87 = 76.7%
AUDI HENDERSON: ELR $266.72 / door $348.87 = 76.4%
LR LV: ELR $233.88 / door $310.00 = 75.4%
SUBARU LV: ELR $162.12 / door $215.37 = 75.2%
NISSAN: ELR $180.14 / door $239.87 = 75.1%
TOYOTA FLAGSTAFF: ELR $142.51 / door $190.00 = 75.0%
SUBARU ST GEORGE: ELR $136.71 / door $185.00 = 73.8%
TOYOTA HENDERSON: ELR $154.55 / door $211.26 = 73.1%
HONDA HENDERSON: ELR $153.45 / door $211.87 = 72.4%
HONDA NORTH: ELR $149.70 / door $211.87 = 70.6%
KIA LV: ELR $150.72 / door $219.87 = 68.5%
LINCOLN: ELR $167.22 / door $244.87 = 68.2%
TOYOTA SPOKANE: ELR $124.92 / door $185.00 = 67.5%
GMC PRESCOTT: ELR $146.92 / door $220.00 = 66.7%
SUBARU PRESCOTT: ELR $139.81 / door $210.00 = 66.5%
CHEVY LV: ELR $146.25 / door $224.87 = 65.0%
HYUNDAI PRESCOTT: ELR $136.12 / door $210.00 = 64.8%
CADILLAC: ELR $175.47 / door $285.00 =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A - ELR and door rate columns.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B - ELR and the ELR needed for 70% of door rate (door x 0.70).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C - split by labor grid.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Jan-Sep 2026 YTD. Green at or above the group, red below. Bars start at 60.0%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Jan-Sep 2026 YTD. Green at or above the group, red below. Bars start at 25.0%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Jan-Sep 2026 shares of labor sale; sorted by customer-pay share. Bar labels are percent of labor sale; every value is also listed here.
HONDA SPOKANE: CP 70.3%, W 8.0%, I 21.6%
TOYOTA SPOKANE: CP 65.3%, W 15.5%, I 19.2%
TOYOTA FLAGSTAFF: CP 65.1%, W 11.2%, I 23.7%
HONDA FLAGSTAFF: CP 65.1%, W 11.9%, I 23.0%
LR LV: CP 64.9%, W 25.2%, I 10.0%
VOLVO: CP 62.9%, W 23.1%, I 14.0%
LR RENO: CP 61.5%, W 17.2%, I 21.3%
TOYOTA PRESCOTT: CP 60.5%, W 13.8%, I 25.8%
AUDI RENO: CP 59.7%, W 29.1%, I 11.2%
CDJR POST FALLS: CP 59.5%, W 23.6%, I 16.9%
NISSAN: CP 59.4%, W 17.7%, I 22.9%
SUBARU ST GEORGE: CP 59.0%, W 23.5%, I 17.5%
SUBARU LV: CP 58.0%, W 24.2%, I 17.7%
HONDA NORTH: CP 57.9%, W 13.5%, I 28.6%
TOYOTA HENDERSON: CP 57.3%, W 14.8%, I 27.9%
MAZDA: CP 56.6%, W 12.4%, I 31.0%
HONDA HENDERSON: CP 56.6%, W 10.2%, I 33.3%
VW ST GEORGE: CP 55.8%, W 31.0%, I 13.2%
LR HENDERSON: CP 55.3%, W 20.2%, I 24.5%
LEXUS: CP 54.5%, W 13.1%, I 32.4%
SUBARU PRESCOTT: CP 50.8%, W 19.2%, I 30.0%
ACURA: CP 48.7%, W 15.5%, I 35.8%
GMC PRESCOTT: CP 48.0%, W 23.1%, I 29.0%
VW HENDERSON: CP 47.2%, W 40.1%, I 12.8%
CHEVY LV: CP 47.0%, W 28.1%, I 24.9%
CHEVY GMC BULLHEAD: CP 45.3%, W 14.3%, I 40.4%
LINCOLN: CP 44.6%, W 37.5%, I 17.8%
HYUNDAI ST GEORGE: CP 40.3%, W 34.9%, I 24.8%
KIA ST GEORGE: CP 40.0%, W 38.4%, I 21.7%
KIA LV: CP 39.2%, W 31.5%, I 29.2%
AUDI HENDERSON: CP 34.1%, W 52.2%, I 13.7%
HYUNDAI PRESCOTT: CP 28.5%, W 35.7%, I 35.8%
CADILLAC: CP 27.9%, W 51.3%, I 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Customer-pay labor sale / total labor sale (customer pay + warranty + internal).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Labor sale by pay type, Jan-Sep by close month. Same-store, INEOS excluded. GMC Prescott body shop labor types excluded. Change in Customer Pay Share of Labor Sale,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
HONDA HENDERSON: M 71.2%, R 24.6%, U 4.2%
TOYOTA PRESCOTT: M 69.4%, R 25.1%, U 5.6%
TOYOTA HENDERSON: M 68.0%, R 24.7%, U 7.4%
LEXUS: M 67.1%, R 22.0%, U 10.9%
HONDA FLAGSTAFF: M 66.4%, R 25.5%, U 8.0%
HONDA NORTH: M 65.9%, R 29.5%, U 4.6%
MAZDA: M 63.9%, R 21.3%, U 14.8%
ACURA: M 62.0%, R 25.6%, U 12.5%
TOYOTA FLAGSTAFF: M 61.6%, R 13.1%, U 25.3%
TOYOTA SPOKANE: M 60.0%, R 26.4%, U 13.5%
KIA LV: M 59.7%, R 31.1%, U 9.2%
SUBARU PRESCOTT: M 59.2%, R 1.5%, U 39.3%
SUBARU ST GEORGE: M 59.0%, R 26.6%, U 14.4%
LR HENDERSON: M 58.8%, R 32.2%, U 9.0%
HYUNDAI ST GEORGE: M 58.3%, R 18.2%, U 23.6%
HYUNDAI PRESCOTT: M 56.8%, R 23.9%, U 19.3%
LR RENO: M 56.8%, R 23.9%, U 19.3%
SUBARU LV: M 55.1%, R 35.4%, U 9.5%
KIA ST GEORGE: M 55.1%, R 29.6%, U 15.3%
HONDA SPOKANE: M 48.6%, R 41.4%, U 10.0%
VOLVO: M 43.9%, R 41.7%, U 14.4%
LR LV: M 43.0%, R 30.0%, U 27.0%
LINCOLN: M 42.8%, R 28.9%, U 28.3%
VW HENDERSON: M 41.0%, R 51.3%, U 7.7%
CHEVY LV: M 40.6%, R 48.3%, U 11.1%
NISSAN: M 40.2%, R 41.9%, U 17.9%
CHEVY GMC BULLHEAD: M 38.4%, R 32.6%, U 29.0%
AUDI HENDERSON: M 35.1%, R 37.8%, U 27.1%
GMC PRESCOTT: M 33.9%, R 2.6%, U 63.5%
CADILLAC: M 32.8%, R 54.6%, U 12.6%
AUDI RENO: M 32.2%, R 29.7%, U 38.1%
VW ST GEORGE: M 27.5%, R 27.4%, U 45.1%
CDJR POST FALLS: M 26.5%, R 21.7%, U 51.8%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Customer-pay labor sale by op code description, Jan-Sep. Same-store, INEOS excluded. GMC Prescott body shop labor types excluded. Share of CP labor sale whose op code description matches neither the maintenance nor the repair rules, Jan-Sep 2026. Lower is better: green at or below the group, red above. Maintenance = descriptions naming oil and filter, rotation, brake pads, rotors and brake service, scheduled/interval/mileage service, OEM care plans, alignment, balance, fluid exchanges and flushes, fuel induction, transmission/differential/transfer case/coolant service, spark plugs, filters, wipers, multi-point inspection, timing belt, BG and refresh services, smog/emissions inspection, fluid services, tune-ups, tire promotions (buy 3 get 1), CVT, EGR, 4x4, AWD, intermediate and transmission services, and any coolant replacement or change. Repair = repair, replace, R&amp;R, diagnosis, leak, noise, inoperative, check engine, warning light, struts, shocks, alternator, starter, water pump, reseal, gasket, calibration, overhaul, engine light, drive belt, belt and hose kit. Descriptions that are only a placeholder (exactly MISC, DEFAULT, STANDARD, GENERAL, GENERAL REPAIR, CUSTOMER STATES, GENERAL CONCERN, ADD DESCRIPTION, TELL US MORE and similar) are left unclassified; a placeholder followed by real detail is classified by that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ALIGNMENT % = alignment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15% benchmark, red below.
AUDI HENDERSON: 27.5% (2025 21.8%)
LR HENDERSON: 24.4% (2025 19.4%)
HYUNDAI PRESCOTT: 21.8% (2025 15.0%)
HONDA HENDERSON: 21.3% (2025 20.7%)
ACURA: 17.5% (2025 14.2%)
LR LV: 17.4% (2025 11.4%)
MAZDA: 16.7% (2025 10.0%)
HONDA NORTH: 16.2% (2025 15.0%)
HYUNDAI ST GEORGE: 14.8% (2025 5.2%)
SUBARU LV: 14.6% (2025 16.1%)
TOYOTA HENDERSON: 14.5% (2025 15.1%)
CADILLAC: 13.9% (2025 9.7%)
VOLVO: 13.9% (2025 13.5%)
VW HENDERSON: 13.6% (2025 13.5%)
LR RENO: 12.9% (2025 17.7%)
CHEVY LV: 12.9% (2025 13.4%)
SUBARU PRESCOTT: 12.6% (2025 7.1%)
HONDA SPOKANE: 12.5% (2025 10.8%)
TOYOTA PRESCOTT: 12.3% (2025 9.5%)
AUDI RENO: 11.8% (2025 11.7%)
GMC PRESCOTT: 11.7% (2025 5.0%)
LEXUS: 11.4% (2025 8.3%)
CHEVY GMC BULLHEAD: 11.1% (2025 11.2%)
HONDA FLAGSTAFF: 11.1% (2025 5.6%)
SUBARU ST GEORGE: 11.1% (2025 11.9%)
KIA LV: 9.8% (2025 13.3%)
TOYOTA FLAGSTAFF: 9.7% (2025 6.3%)
LINCOLN: 8.4% (2025 2.7%)
KIA ST GEORGE: 8.0% (2025 2.5%)
NISSAN: 7.5% (2025 5.3%)
VW ST GEORGE: 5.6% (2025 3.9%)
TOYOTA SPOKANE: 4.3% (2025 2.6%)
CDJR POST FALLS: 4.2% (2025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BALANCE % = balance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15% benchmark, red below. CHECK OP-CODE MAPPING - under 0.5%: AUDI HENDERSON, AUDI RENO, LEXUS, TOYOTA SPOKANE, VW ST GEORGE. Near zero in 2025, so year-over-year gain may be mapping: HONDA SPOKANE, SUBARU PRESCOTT.
LR HENDERSON: 27.0% (2025 22.9%)
HONDA HENDERSON: 18.4% (2025 17.7%)
LR LV: 17.0% (2025 3.4%)
LR RENO: 17.0% (2025 16.3%)
SUBARU PRESCOTT: 15.0% (2025 0.1%)
ACURA: 14.1% (2025 10.3%)
HYUNDAI PRESCOTT: 13.5% (2025 8.9%)
MAZDA: 13.2% (2025 6.5%)
HONDA NORTH: 12.0% (2025 11.3%)
VOLVO: 11.7% (2025 10.9%)
TOYOTA HENDERSON: 11.2% (2025 11.7%)
SUBARU LV: 10.2% (2025 11.3%)
CHEVY GMC BULLHEAD: 9.1% (2025 6.5%)
VW HENDERSON: 8.3% (2025 7.0%)
GMC PRESCOTT: 7.8% (2025 2.0%)
KIA ST GEORGE: 7.7% (2025 1.1%)
CHEVY LV: 7.3% (2025 4.2%)
TOYOTA PRESCOTT: 6.2% (2025 3.3%)
CADILLAC: 6.0% (2025 2.6%)
KIA LV: 5.2% (2025 6.6%)
TOYOTA FLAGSTAFF: 4.9% (2025 3.7%)
SUBARU ST GEORGE: 3.7% (2025 5.3%)
HONDA SPOKANE: 2.2% (2025 0.1%)
LINCOLN: 1.7% (2025 0.0%)
HONDA FLAGSTAFF: 1.3% (2025 0.2%)
CDJR POST FALLS: 1.3% (2025 0.2%)
HYUNDAI ST GEORGE: 1.2% (2025 0.4%)
NISSAN: 1.1% (2025 2.6%)
TOYOTA SPOKANE: 0.5% (2025 0.3%)
VW ST GEORGE: 0.4% (2025 0.7%)
AUDI RENO: 0.1% (2025 0.2%)
LEXUS: 0.1% (2025 0.1%)
AUDI HENDERSON: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BRAKE FLUSH % = brake fluid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10% benchmark, red below.
LR LV: 20.7% (2025 15.2%)
HONDA HENDERSON: 15.6% (2025 12.9%)
LR HENDERSON: 14.3% (2025 9.0%)
ACURA: 12.7% (2025 8.6%)
HONDA NORTH: 12.1% (2025 13.1%)
VOLVO: 11.9% (2025 12.1%)
NISSAN: 11.6% (2025 3.8%)
SUBARU ST GEORGE: 10.8% (2025 11.0%)
SUBARU PRESCOTT: 10.6% (2025 6.4%)
HONDA SPOKANE: 10.3% (2025 9.8%)
SUBARU LV: 10.1% (2025 9.3%)
TOYOTA HENDERSON: 10.1% (2025 9.7%)
HYUNDAI PRESCOTT: 9.7% (2025 8.1%)
VW HENDERSON: 9.5% (2025 7.8%)
MAZDA: 8.5% (2025 4.6%)
TOYOTA PRESCOTT: 8.4% (2025 6.1%)
LEXUS: 8.4% (2025 4.9%)
KIA LV: 8.3% (2025 7.2%)
TOYOTA FLAGSTAFF: 8.1% (2025 7.3%)
LINCOLN: 7.5% (2025 2.4%)
LR RENO: 7.2% (2025 2.5%)
CHEVY GMC BULLHEAD: 7.1% (2025 3.8%)
TOYOTA SPOKANE: 7.0% (2025 6.8%)
GMC PRESCOTT: 6.1% (2025 4.6%)
KIA ST GEORGE: 6.0% (2025 3.8%)
CHEVY LV: 5.8% (2025 5.3%)
VW ST GEORGE: 5.4% (2025 4.0%)
HYUNDAI ST GEORGE: 4.7% (2025 1.6%)
CADILLAC: 4.7% (2025 4.1%)
CDJR POST FALLS: 4.2% (2025 6.0%)
HONDA FLAGSTAFF: 3.2% (2025 2.4%)
AUDI HENDERSON: 2.5% (2025 1.8%)
AUDI RENO: 1.9% (2025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FUEL SERVICE % = fuel service ROs ÷ customer-pay ROs on the op-code report basis. YTD from YTD totals, not the mean of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excluded. Jan-Sep 2026 YTD; green at or above the 7.5% benchmark, red below. CHECK OP-CODE MAPPING - under 0.5%: AUDI HENDERSON, VOLVO, VW HENDERSON. Near zero in 2025, so year-over-year gain may be mapping: HONDA SPOKANE, LR LV, LR RENO, SUBARU ST GEORGE.
SUBARU ST GEORGE: 13.8% (2025 0.0%)
HONDA HENDERSON: 12.0% (2025 10.4%)
SUBARU PRESCOTT: 9.8% (2025 5.9%)
ACURA: 9.4% (2025 5.4%)
KIA ST GEORGE: 8.9% (2025 5.6%)
LINCOLN: 8.2% (2025 2.1%)
HONDA NORTH: 7.7% (2025 5.3%)
HYUNDAI PRESCOTT: 7.4% (2025 6.7%)
SUBARU LV: 7.1% (2025 8.2%)
TOYOTA PRESCOTT: 6.5% (2025 5.0%)
TOYOTA HENDERSON: 6.0% (2025 6.1%)
HYUNDAI ST GEORGE: 5.9% (2025 2.4%)
TOYOTA SPOKANE: 5.8% (2025 6.1%)
LR LV: 5.5% (2025 0.2%)
CHEVY LV: 5.3% (2025 4.8%)
MAZDA: 5.2% (2025 1.4%)
CADILLAC: 5.1% (2025 4.4%)
LR RENO: 4.6% (2025 0.0%)
LEXUS: 4.3% (2025 1.9%)
NISSAN: 4.2% (2025 0.8%)
GMC PRESCOTT: 3.6% (2025 3.0%)
HONDA SPOKANE: 3.2% (2025 0.0%)
KIA LV: 3.2% (2025 2.9%)
CDJR POST FALLS: 3.0% (2025 4.0%)
CHEVY GMC BULLHEAD: 2.7% (2025 1.8%)
VW ST GEORGE: 2.7% (2025 2.4%)
LR HENDERSON: 2.6% (2025 2.4%)
TOYOTA FLAGSTAFF: 1.7% (2025 1.7%)
AUDI RENO: 0.8% (2025 0.0%)
HONDA FLAGSTAFF: 0.7% (2025 0.7%)
AUDI HENDERSON: 0.0% (2025 0.0%)
VOLVO: 0.0% (2025 0.0%)
VW HENDERSON: 0.0% (2025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Distinct warranty ROs: every RO with a warranty line.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warranty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Warranty labor sale / warranty sold hours.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Warranty labor sale / warranty sold hours.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Warranty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Internal labor sale / internal sold hours. A higher internal rate adds service gross but is a cost to used cars.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Internal labor sale / internal sold hours. A higher internal rate adds service gross but is a cost to used cars. Jan-Sep 2026 YTD. Green at or above the group, red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Jan-Sep by close month. Same-store, INEOS excluded (opened 2026). GMC Prescott body shop labor types excluded. Change in Internal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fixed ops gross / fixed employees. Jan-Sep 2026 YTD. Green at or above the group, red below.</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Gross per Fixed Employee,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service advisors.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Service Advisor,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employees.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Employee,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YTD from YTD totals, not the mean of months. Store rows reconcile to the group on every input, both years.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Monthly CP &amp; W ROs / fixed managers. Small stores carry one to three managers, so one hire moves the ratio sharply. Jan-Sep 2026 YTD. Green at or above own segment average, red below. Segment averages from segment totals. Luxury = Lexus, Lincoln, Cadillac, Volvo, Audi Reno, Audi Henderson, LR Reno, LR LV, LR Henderson; Acura counted as non-luxury.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CP &amp; W ROs per Fixed Manager, Jan-Sep 2026 vs 2025, best first.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Fixed employees include managers; technicians = service, express, foreman and team-leader titles.</a:t>
            </a:r>
          </a:p>
          <a:p>
            <a:r>
              <a:t>Jan 25: 1625 fixed, 703 techs, 238 advisors, 117 managers</a:t>
            </a:r>
          </a:p>
          <a:p>
            <a:r>
              <a:t>Feb 25: 1632 fixed, 705 techs, 237 advisors, 116 managers</a:t>
            </a:r>
          </a:p>
          <a:p>
            <a:r>
              <a:t>Mar 25: 1629 fixed, 702 techs, 240 advisors, 116 managers</a:t>
            </a:r>
          </a:p>
          <a:p>
            <a:r>
              <a:t>Apr 25: 1615 fixed, 695 techs, 242 advisors, 111 managers</a:t>
            </a:r>
          </a:p>
          <a:p>
            <a:r>
              <a:t>May 25: 1623 fixed, 699 techs, 250 advisors, 111 managers</a:t>
            </a:r>
          </a:p>
          <a:p>
            <a:r>
              <a:t>Jun 25: 1616 fixed, 695 techs, 247 advisors, 109 managers</a:t>
            </a:r>
          </a:p>
          <a:p>
            <a:r>
              <a:t>Jul 25: 1629 fixed, 705 techs, 247 advisors, 110 managers</a:t>
            </a:r>
          </a:p>
          <a:p>
            <a:r>
              <a:t>Aug 25: 1627 fixed, 701 techs, 251 advisors, 110 managers</a:t>
            </a:r>
          </a:p>
          <a:p>
            <a:r>
              <a:t>Sep 25: 1616 fixed, 701 techs, 248 advisors, 107 managers</a:t>
            </a:r>
          </a:p>
          <a:p>
            <a:r>
              <a:t>Oct 25: 1604 fixed, 688 techs, 249 advisors, 109 managers</a:t>
            </a:r>
          </a:p>
          <a:p>
            <a:r>
              <a:t>Nov 25: 1582 fixed, 685 techs, 247 advisors, 107 managers</a:t>
            </a:r>
          </a:p>
          <a:p>
            <a:r>
              <a:t>Dec 25: 1563 fixed, 674 techs, 249 advisors, 107 managers</a:t>
            </a:r>
          </a:p>
          <a:p>
            <a:r>
              <a:t>Jan 26: 1530 fixed, 657 techs, 248 advisors, 106 managers</a:t>
            </a:r>
          </a:p>
          <a:p>
            <a:r>
              <a:t>Feb 26: 1530 fixed, 670 techs, 245 advisors, 108 managers</a:t>
            </a:r>
          </a:p>
          <a:p>
            <a:r>
              <a:t>Mar 26: 1540 fixed, 669 techs, 252 advisors, 107 managers</a:t>
            </a:r>
          </a:p>
          <a:p>
            <a:r>
              <a:t>Apr 26: 1545 fixed, 687 techs, 250 advisors, 106 managers</a:t>
            </a:r>
          </a:p>
          <a:p>
            <a:r>
              <a:t>May 26: 1537 fixed, 680 techs, 254 advisors, 105 managers</a:t>
            </a:r>
          </a:p>
          <a:p>
            <a:r>
              <a:t>Jun 26: 1546 fixed, 684 techs, 250 advisors, 105 managers</a:t>
            </a:r>
          </a:p>
          <a:p>
            <a:r>
              <a:t>Jul 26: 1548 fixed, 682 techs, 250 advisors, 106 managers</a:t>
            </a:r>
          </a:p>
          <a:p>
            <a:r>
              <a:t>Aug 26: 1549 fixed, 684 techs, 244 advisors, 104 managers</a:t>
            </a:r>
          </a:p>
          <a:p>
            <a:r>
              <a:t>Sep 26: 1540 fixed, 684 techs, 241 advisors, 104 managers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Gross and ROs: Qlik - Productivity app (P&amp;L Total Gross Profit - Fixed Ops; CP &amp; W ROs). Headcount: ADP Employee Master extract, 10/19/2026, month-end snapshots, Qlik's fixed-employee title list. Each person counted once: someone open at two stores is counted at the old store until that record closes. Monthly averages, Jan-Sep. Same-store, INEOS excluded (opened 2026). GMC Prescott body shop gross, staff and body-only ROs excluded. Change in fixed ops headcount, Sep 2026 vs Sep 2025, most added first. Neutral colour: added staff can be growth or excess.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notesSlide" Target="../notesSlides/notesSlide10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2148840"/>
            <a:ext cx="10789920" cy="1737360"/>
          </a:xfrm>
          <a:prstGeom prst="rect">
            <a:avLst/>
          </a:prstGeom>
          <a:noFill/>
          <a:ln/>
        </p:spPr>
        <p:txBody>
          <a:bodyPr wrap="square" lIns="0" tIns="0" rIns="0" bIns="0" rtlCol="0" anchor="ctr"/>
          <a:lstStyle/>
          <a:p>
            <a:pPr indent="0" marL="0">
              <a:buNone/>
            </a:pPr>
            <a:r>
              <a:rPr lang="en-US" sz="6200" b="1" dirty="0">
                <a:solidFill>
                  <a:srgbClr val="1A1A1A"/>
                </a:solidFill>
                <a:latin typeface="Inter" pitchFamily="34" charset="0"/>
                <a:ea typeface="Inter" pitchFamily="34" charset="-122"/>
                <a:cs typeface="Inter" pitchFamily="34" charset="-120"/>
              </a:rPr>
              <a:t>Fixed Operations</a:t>
            </a:r>
            <a:endParaRPr lang="en-US" sz="6200" dirty="0"/>
          </a:p>
          <a:p>
            <a:pPr indent="0" marL="0">
              <a:buNone/>
            </a:pPr>
            <a:r>
              <a:rPr lang="en-US" sz="6200" b="1" dirty="0">
                <a:solidFill>
                  <a:srgbClr val="1A1A1A"/>
                </a:solidFill>
                <a:latin typeface="Inter" pitchFamily="34" charset="0"/>
                <a:ea typeface="Inter" pitchFamily="34" charset="-122"/>
                <a:cs typeface="Inter" pitchFamily="34" charset="-120"/>
              </a:rPr>
              <a:t>Business Update</a:t>
            </a:r>
            <a:endParaRPr lang="en-US" sz="6200" dirty="0"/>
          </a:p>
        </p:txBody>
      </p:sp>
      <p:sp>
        <p:nvSpPr>
          <p:cNvPr id="3" name="Text 1"/>
          <p:cNvSpPr txBox="1"/>
          <p:nvPr/>
        </p:nvSpPr>
        <p:spPr>
          <a:xfrm>
            <a:off x="694944" y="3913632"/>
            <a:ext cx="10789920" cy="457200"/>
          </a:xfrm>
          <a:prstGeom prst="rect">
            <a:avLst/>
          </a:prstGeom>
          <a:noFill/>
          <a:ln/>
        </p:spPr>
        <p:txBody>
          <a:bodyPr wrap="square" lIns="0" tIns="0" rIns="0" bIns="0" rtlCol="0" anchor="ctr"/>
          <a:lstStyle/>
          <a:p>
            <a:pPr indent="0" marL="0">
              <a:buNone/>
            </a:pPr>
            <a:r>
              <a:rPr lang="en-US" sz="2600" dirty="0">
                <a:solidFill>
                  <a:srgbClr val="2587C5"/>
                </a:solidFill>
                <a:latin typeface="Inter" pitchFamily="34" charset="0"/>
                <a:ea typeface="Inter" pitchFamily="34" charset="-122"/>
                <a:cs typeface="Inter" pitchFamily="34" charset="-120"/>
              </a:rPr>
              <a:t>GM &amp; Service Manager Meeting  ·  Day 2  ·  October 29, 2026</a:t>
            </a:r>
            <a:endParaRPr lang="en-US" sz="2600" dirty="0"/>
          </a:p>
        </p:txBody>
      </p:sp>
      <p:sp>
        <p:nvSpPr>
          <p:cNvPr id="4" name="Text 2"/>
          <p:cNvSpPr txBox="1"/>
          <p:nvPr/>
        </p:nvSpPr>
        <p:spPr>
          <a:xfrm>
            <a:off x="694944" y="4407408"/>
            <a:ext cx="10789920" cy="411480"/>
          </a:xfrm>
          <a:prstGeom prst="rect">
            <a:avLst/>
          </a:prstGeom>
          <a:noFill/>
          <a:ln/>
        </p:spPr>
        <p:txBody>
          <a:bodyPr wrap="square" lIns="0" tIns="0" rIns="0" bIns="0" rtlCol="0" anchor="ctr"/>
          <a:lstStyle/>
          <a:p>
            <a:pPr indent="0" marL="0">
              <a:buNone/>
            </a:pPr>
            <a:r>
              <a:rPr lang="en-US" sz="2000" dirty="0">
                <a:solidFill>
                  <a:srgbClr val="595959"/>
                </a:solidFill>
                <a:latin typeface="Inter" pitchFamily="34" charset="0"/>
                <a:ea typeface="Inter" pitchFamily="34" charset="-122"/>
                <a:cs typeface="Inter" pitchFamily="34" charset="-120"/>
              </a:rPr>
              <a:t>Review draft   ·   Data through September 2026   ·   Same-store, 33 stores</a:t>
            </a:r>
            <a:endParaRPr lang="en-US" sz="2000" dirty="0"/>
          </a:p>
        </p:txBody>
      </p:sp>
      <p:sp>
        <p:nvSpPr>
          <p:cNvPr id="5" name="Shape 3"/>
          <p:cNvSpPr/>
          <p:nvPr/>
        </p:nvSpPr>
        <p:spPr>
          <a:xfrm>
            <a:off x="685800" y="5257800"/>
            <a:ext cx="1340249" cy="45720"/>
          </a:xfrm>
          <a:prstGeom prst="rect">
            <a:avLst/>
          </a:prstGeom>
          <a:solidFill>
            <a:srgbClr val="D9D9D9"/>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D9D9D9"/>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Gross</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Fixed ops   ·   Service   ·   Parts</a:t>
            </a:r>
            <a:endParaRPr lang="en-US" sz="2200" dirty="0"/>
          </a:p>
        </p:txBody>
      </p:sp>
      <p:sp>
        <p:nvSpPr>
          <p:cNvPr id="5" name="Shape 3"/>
          <p:cNvSpPr/>
          <p:nvPr/>
        </p:nvSpPr>
        <p:spPr>
          <a:xfrm>
            <a:off x="685800" y="5257800"/>
            <a:ext cx="1340249" cy="91440"/>
          </a:xfrm>
          <a:prstGeom prst="rect">
            <a:avLst/>
          </a:prstGeom>
          <a:solidFill>
            <a:srgbClr val="2587C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D9D9D9"/>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$22.71M. Low Nov '25 at $17.74M.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+5.8%, +9.4%, +6.5%, +11.0%.</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6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Fixed Ops gross ran $20.59M a month over the last twelve, up $7,468,567 year to date.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$181.33M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$188.80M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+$7,468,567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$20.46M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−$577,606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$19.10M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$18.87M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−$232,279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$20.19M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$21.12M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+$924,230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$20.85M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$21.80M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+$943,298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$20.28M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$20.12M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−$154,977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+$1,183,612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$20.75M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$22.71M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+$1,960,141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$20.32M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$21.64M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+$1,323,650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$19.03M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$21.13M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+$2,098,497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+$7,468,567 (4.1%) year to date; 6 of nine months ahead of 2025, best September at +$2,098,497.</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+$7,468,567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+$1,772,700</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791467"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+$1,704,863</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8" name="Shape 16"/>
          <p:cNvSpPr/>
          <p:nvPr/>
        </p:nvSpPr>
        <p:spPr>
          <a:xfrm>
            <a:off x="3813048" y="2369673"/>
            <a:ext cx="43260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+$931,844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1" name="Shape 19"/>
          <p:cNvSpPr/>
          <p:nvPr/>
        </p:nvSpPr>
        <p:spPr>
          <a:xfrm>
            <a:off x="3813048" y="2599887"/>
            <a:ext cx="35455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+$763,736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4" name="Shape 22"/>
          <p:cNvSpPr/>
          <p:nvPr/>
        </p:nvSpPr>
        <p:spPr>
          <a:xfrm>
            <a:off x="3813048" y="2830100"/>
            <a:ext cx="33304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+$717,392</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3813048" y="3060314"/>
            <a:ext cx="308326"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+$664,150</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0" name="Shape 28"/>
          <p:cNvSpPr/>
          <p:nvPr/>
        </p:nvSpPr>
        <p:spPr>
          <a:xfrm>
            <a:off x="3813048" y="3290528"/>
            <a:ext cx="27200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+$585,903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3" name="Shape 31"/>
          <p:cNvSpPr/>
          <p:nvPr/>
        </p:nvSpPr>
        <p:spPr>
          <a:xfrm>
            <a:off x="3813048" y="3520741"/>
            <a:ext cx="25278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+$544,518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6" name="Shape 34"/>
          <p:cNvSpPr/>
          <p:nvPr/>
        </p:nvSpPr>
        <p:spPr>
          <a:xfrm>
            <a:off x="3813048" y="3750955"/>
            <a:ext cx="219305"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+$472,394</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813048" y="3981169"/>
            <a:ext cx="20640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+$444,598</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2" name="Shape 40"/>
          <p:cNvSpPr/>
          <p:nvPr/>
        </p:nvSpPr>
        <p:spPr>
          <a:xfrm>
            <a:off x="3813048" y="4211382"/>
            <a:ext cx="196073"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+$422,352</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5" name="Shape 43"/>
          <p:cNvSpPr/>
          <p:nvPr/>
        </p:nvSpPr>
        <p:spPr>
          <a:xfrm>
            <a:off x="3813048" y="4441596"/>
            <a:ext cx="187781"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+$404,490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8" name="Shape 46"/>
          <p:cNvSpPr/>
          <p:nvPr/>
        </p:nvSpPr>
        <p:spPr>
          <a:xfrm>
            <a:off x="3813048" y="4671809"/>
            <a:ext cx="173120"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+$372,910</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1" name="Shape 49"/>
          <p:cNvSpPr/>
          <p:nvPr/>
        </p:nvSpPr>
        <p:spPr>
          <a:xfrm>
            <a:off x="3813048" y="4902023"/>
            <a:ext cx="17086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+$368,043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4" name="Shape 52"/>
          <p:cNvSpPr/>
          <p:nvPr/>
        </p:nvSpPr>
        <p:spPr>
          <a:xfrm>
            <a:off x="3813048" y="5132237"/>
            <a:ext cx="10023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+$215,909</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7" name="Shape 55"/>
          <p:cNvSpPr/>
          <p:nvPr/>
        </p:nvSpPr>
        <p:spPr>
          <a:xfrm>
            <a:off x="3813048" y="5362450"/>
            <a:ext cx="82786"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+$178,326</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0" name="Shape 58"/>
          <p:cNvSpPr/>
          <p:nvPr/>
        </p:nvSpPr>
        <p:spPr>
          <a:xfrm>
            <a:off x="3813048" y="5592664"/>
            <a:ext cx="7273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+$156,681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3" name="Shape 61"/>
          <p:cNvSpPr/>
          <p:nvPr/>
        </p:nvSpPr>
        <p:spPr>
          <a:xfrm>
            <a:off x="9363456" y="1909246"/>
            <a:ext cx="6275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+$135,167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6" name="Shape 64"/>
          <p:cNvSpPr/>
          <p:nvPr/>
        </p:nvSpPr>
        <p:spPr>
          <a:xfrm>
            <a:off x="9363456" y="2139459"/>
            <a:ext cx="5802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+$124,997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9" name="Shape 67"/>
          <p:cNvSpPr/>
          <p:nvPr/>
        </p:nvSpPr>
        <p:spPr>
          <a:xfrm>
            <a:off x="9363456" y="2369673"/>
            <a:ext cx="5554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+$119,647</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44161"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+$95,125</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5" name="Shape 73"/>
          <p:cNvSpPr/>
          <p:nvPr/>
        </p:nvSpPr>
        <p:spPr>
          <a:xfrm>
            <a:off x="9363456" y="2830100"/>
            <a:ext cx="40940"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+$88,186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8" name="Shape 76"/>
          <p:cNvSpPr/>
          <p:nvPr/>
        </p:nvSpPr>
        <p:spPr>
          <a:xfrm>
            <a:off x="9363456" y="3060314"/>
            <a:ext cx="2915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+$62,795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1" name="Shape 79"/>
          <p:cNvSpPr/>
          <p:nvPr/>
        </p:nvSpPr>
        <p:spPr>
          <a:xfrm>
            <a:off x="9363456" y="3290528"/>
            <a:ext cx="18085"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+$38,956</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363456" y="3520741"/>
            <a:ext cx="1280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+$22,653</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7" name="Shape 85"/>
          <p:cNvSpPr/>
          <p:nvPr/>
        </p:nvSpPr>
        <p:spPr>
          <a:xfrm>
            <a:off x="9287856" y="3750955"/>
            <a:ext cx="75600"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−$162,846</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0" name="Shape 88"/>
          <p:cNvSpPr/>
          <p:nvPr/>
        </p:nvSpPr>
        <p:spPr>
          <a:xfrm>
            <a:off x="9268916" y="3981169"/>
            <a:ext cx="94540"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−$203,644</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3" name="Shape 91"/>
          <p:cNvSpPr/>
          <p:nvPr/>
        </p:nvSpPr>
        <p:spPr>
          <a:xfrm>
            <a:off x="9160588" y="4211382"/>
            <a:ext cx="20286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−$436,988</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131996" y="4441596"/>
            <a:ext cx="23146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−$498,577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9" name="Shape 97"/>
          <p:cNvSpPr/>
          <p:nvPr/>
        </p:nvSpPr>
        <p:spPr>
          <a:xfrm>
            <a:off x="9123542" y="4671809"/>
            <a:ext cx="239914"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−$516,788</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9122123" y="4902023"/>
            <a:ext cx="24133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−$519,845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5" name="Shape 103"/>
          <p:cNvSpPr/>
          <p:nvPr/>
        </p:nvSpPr>
        <p:spPr>
          <a:xfrm>
            <a:off x="9010079" y="5132237"/>
            <a:ext cx="35337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−$761,192</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8973544" y="5362450"/>
            <a:ext cx="38991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−$839,891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25 of 33 stores grew, led by TOYOTA HENDERSON at +$1,772,700; 8 declined, HONDA NORTH most at −$839,891.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5486400" cy="4645152"/>
          </a:xfrm>
          <a:prstGeom prst="rect">
            <a:avLst/>
          </a:prstGeom>
          <a:solidFill>
            <a:srgbClr val="FFFFFF"/>
          </a:solidFill>
          <a:ln/>
        </p:spPr>
      </p:sp>
      <p:sp>
        <p:nvSpPr>
          <p:cNvPr id="6" name="Text 4"/>
          <p:cNvSpPr txBox="1"/>
          <p:nvPr/>
        </p:nvSpPr>
        <p:spPr>
          <a:xfrm>
            <a:off x="685800" y="1344168"/>
            <a:ext cx="502920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How the group got there, Jan–Sep</a:t>
            </a:r>
            <a:endParaRPr lang="en-US" sz="1500" dirty="0"/>
          </a:p>
        </p:txBody>
      </p:sp>
      <p:sp>
        <p:nvSpPr>
          <p:cNvPr id="7" name="Shape 5"/>
          <p:cNvSpPr/>
          <p:nvPr/>
        </p:nvSpPr>
        <p:spPr>
          <a:xfrm>
            <a:off x="685800" y="1691640"/>
            <a:ext cx="5029200" cy="10973"/>
          </a:xfrm>
          <a:prstGeom prst="rect">
            <a:avLst/>
          </a:prstGeom>
          <a:solidFill>
            <a:srgbClr val="1A1A1A"/>
          </a:solidFill>
          <a:ln/>
        </p:spPr>
      </p:sp>
      <p:sp>
        <p:nvSpPr>
          <p:cNvPr id="8" name="Shape 6"/>
          <p:cNvSpPr/>
          <p:nvPr/>
        </p:nvSpPr>
        <p:spPr>
          <a:xfrm>
            <a:off x="713232" y="1700784"/>
            <a:ext cx="4974336" cy="621792"/>
          </a:xfrm>
          <a:prstGeom prst="rect">
            <a:avLst/>
          </a:prstGeom>
          <a:solidFill>
            <a:srgbClr val="F7F7F7"/>
          </a:solidFill>
          <a:ln/>
        </p:spPr>
      </p:sp>
      <p:sp>
        <p:nvSpPr>
          <p:cNvPr id="9" name="Text 7"/>
          <p:cNvSpPr txBox="1"/>
          <p:nvPr/>
        </p:nvSpPr>
        <p:spPr>
          <a:xfrm>
            <a:off x="896112" y="1728216"/>
            <a:ext cx="2743200" cy="457200"/>
          </a:xfrm>
          <a:prstGeom prst="rect">
            <a:avLst/>
          </a:prstGeom>
          <a:noFill/>
          <a:ln/>
        </p:spPr>
        <p:txBody>
          <a:bodyPr wrap="square" lIns="0" tIns="0" rIns="0" bIns="0" rtlCol="0" anchor="ctr"/>
          <a:lstStyle/>
          <a:p>
            <a:pPr indent="0" marL="0">
              <a:buNone/>
            </a:pPr>
            <a:r>
              <a:rPr lang="en-US" sz="2600" b="1" dirty="0">
                <a:solidFill>
                  <a:srgbClr val="1A1A1A"/>
                </a:solidFill>
                <a:latin typeface="Inter" pitchFamily="34" charset="0"/>
                <a:ea typeface="Inter" pitchFamily="34" charset="-122"/>
                <a:cs typeface="Inter" pitchFamily="34" charset="-120"/>
              </a:rPr>
              <a:t>$181.33M</a:t>
            </a:r>
            <a:endParaRPr lang="en-US" sz="2600" dirty="0"/>
          </a:p>
        </p:txBody>
      </p:sp>
      <p:sp>
        <p:nvSpPr>
          <p:cNvPr id="10" name="Text 8"/>
          <p:cNvSpPr txBox="1"/>
          <p:nvPr/>
        </p:nvSpPr>
        <p:spPr>
          <a:xfrm>
            <a:off x="3657600" y="1728216"/>
            <a:ext cx="1874520" cy="585216"/>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2025 group</a:t>
            </a:r>
            <a:endParaRPr lang="en-US" sz="1400" dirty="0"/>
          </a:p>
        </p:txBody>
      </p:sp>
      <p:sp>
        <p:nvSpPr>
          <p:cNvPr id="11" name="Shape 9"/>
          <p:cNvSpPr/>
          <p:nvPr/>
        </p:nvSpPr>
        <p:spPr>
          <a:xfrm>
            <a:off x="987552" y="2395728"/>
            <a:ext cx="292608" cy="292608"/>
          </a:xfrm>
          <a:prstGeom prst="ellipse">
            <a:avLst/>
          </a:prstGeom>
          <a:solidFill>
            <a:srgbClr val="2587C5"/>
          </a:solidFill>
          <a:ln/>
        </p:spPr>
      </p:sp>
      <p:sp>
        <p:nvSpPr>
          <p:cNvPr id="12" name="Text 10"/>
          <p:cNvSpPr txBox="1"/>
          <p:nvPr/>
        </p:nvSpPr>
        <p:spPr>
          <a:xfrm>
            <a:off x="987552" y="2395728"/>
            <a:ext cx="292608" cy="29260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3" name="Shape 11"/>
          <p:cNvSpPr/>
          <p:nvPr/>
        </p:nvSpPr>
        <p:spPr>
          <a:xfrm>
            <a:off x="713232" y="2706624"/>
            <a:ext cx="4974336" cy="621792"/>
          </a:xfrm>
          <a:prstGeom prst="rect">
            <a:avLst/>
          </a:prstGeom>
          <a:solidFill>
            <a:srgbClr val="E6F6EE"/>
          </a:solidFill>
          <a:ln/>
        </p:spPr>
      </p:sp>
      <p:sp>
        <p:nvSpPr>
          <p:cNvPr id="14" name="Text 12"/>
          <p:cNvSpPr txBox="1"/>
          <p:nvPr/>
        </p:nvSpPr>
        <p:spPr>
          <a:xfrm>
            <a:off x="896112" y="2734056"/>
            <a:ext cx="2743200" cy="457200"/>
          </a:xfrm>
          <a:prstGeom prst="rect">
            <a:avLst/>
          </a:prstGeom>
          <a:noFill/>
          <a:ln/>
        </p:spPr>
        <p:txBody>
          <a:bodyPr wrap="square" lIns="0" tIns="0" rIns="0" bIns="0" rtlCol="0" anchor="ctr"/>
          <a:lstStyle/>
          <a:p>
            <a:pPr indent="0" marL="0">
              <a:buNone/>
            </a:pPr>
            <a:r>
              <a:rPr lang="en-US" sz="2600" b="1" dirty="0">
                <a:solidFill>
                  <a:srgbClr val="0B7A4A"/>
                </a:solidFill>
                <a:latin typeface="Inter" pitchFamily="34" charset="0"/>
                <a:ea typeface="Inter" pitchFamily="34" charset="-122"/>
                <a:cs typeface="Inter" pitchFamily="34" charset="-120"/>
              </a:rPr>
              <a:t>+$7,468,567</a:t>
            </a:r>
            <a:endParaRPr lang="en-US" sz="2600" dirty="0"/>
          </a:p>
        </p:txBody>
      </p:sp>
      <p:sp>
        <p:nvSpPr>
          <p:cNvPr id="15" name="Text 13"/>
          <p:cNvSpPr txBox="1"/>
          <p:nvPr/>
        </p:nvSpPr>
        <p:spPr>
          <a:xfrm>
            <a:off x="3657600" y="2734056"/>
            <a:ext cx="1874520" cy="585216"/>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same-store growth</a:t>
            </a:r>
            <a:endParaRPr lang="en-US" sz="1400" dirty="0"/>
          </a:p>
        </p:txBody>
      </p:sp>
      <p:sp>
        <p:nvSpPr>
          <p:cNvPr id="16" name="Shape 14"/>
          <p:cNvSpPr/>
          <p:nvPr/>
        </p:nvSpPr>
        <p:spPr>
          <a:xfrm>
            <a:off x="987552" y="3401568"/>
            <a:ext cx="292608" cy="292608"/>
          </a:xfrm>
          <a:prstGeom prst="ellipse">
            <a:avLst/>
          </a:prstGeom>
          <a:solidFill>
            <a:srgbClr val="0B2C4A"/>
          </a:solidFill>
          <a:ln/>
        </p:spPr>
      </p:sp>
      <p:sp>
        <p:nvSpPr>
          <p:cNvPr id="17" name="Text 15"/>
          <p:cNvSpPr txBox="1"/>
          <p:nvPr/>
        </p:nvSpPr>
        <p:spPr>
          <a:xfrm>
            <a:off x="987552" y="3401568"/>
            <a:ext cx="292608" cy="292608"/>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18" name="Shape 16"/>
          <p:cNvSpPr/>
          <p:nvPr/>
        </p:nvSpPr>
        <p:spPr>
          <a:xfrm>
            <a:off x="713232" y="3712464"/>
            <a:ext cx="4974336" cy="713232"/>
          </a:xfrm>
          <a:prstGeom prst="rect">
            <a:avLst/>
          </a:prstGeom>
          <a:solidFill>
            <a:srgbClr val="EDF4FA"/>
          </a:solidFill>
          <a:ln/>
        </p:spPr>
      </p:sp>
      <p:sp>
        <p:nvSpPr>
          <p:cNvPr id="19" name="Text 17"/>
          <p:cNvSpPr txBox="1"/>
          <p:nvPr/>
        </p:nvSpPr>
        <p:spPr>
          <a:xfrm>
            <a:off x="896112" y="3739896"/>
            <a:ext cx="2743200" cy="512064"/>
          </a:xfrm>
          <a:prstGeom prst="rect">
            <a:avLst/>
          </a:prstGeom>
          <a:noFill/>
          <a:ln/>
        </p:spPr>
        <p:txBody>
          <a:bodyPr wrap="square" lIns="0" tIns="0" rIns="0" bIns="0" rtlCol="0" anchor="ctr"/>
          <a:lstStyle/>
          <a:p>
            <a:pPr indent="0" marL="0">
              <a:buNone/>
            </a:pPr>
            <a:r>
              <a:rPr lang="en-US" sz="3000" b="1" dirty="0">
                <a:solidFill>
                  <a:srgbClr val="0B2C4A"/>
                </a:solidFill>
                <a:latin typeface="Inter" pitchFamily="34" charset="0"/>
                <a:ea typeface="Inter" pitchFamily="34" charset="-122"/>
                <a:cs typeface="Inter" pitchFamily="34" charset="-120"/>
              </a:rPr>
              <a:t>$188.80M</a:t>
            </a:r>
            <a:endParaRPr lang="en-US" sz="3000" dirty="0"/>
          </a:p>
        </p:txBody>
      </p:sp>
      <p:sp>
        <p:nvSpPr>
          <p:cNvPr id="20" name="Text 18"/>
          <p:cNvSpPr txBox="1"/>
          <p:nvPr/>
        </p:nvSpPr>
        <p:spPr>
          <a:xfrm>
            <a:off x="3657600" y="3739896"/>
            <a:ext cx="1874520" cy="658368"/>
          </a:xfrm>
          <a:prstGeom prst="rect">
            <a:avLst/>
          </a:prstGeom>
          <a:noFill/>
          <a:ln/>
        </p:spPr>
        <p:txBody>
          <a:bodyPr wrap="square" lIns="0" tIns="0" rIns="0" bIns="0" rtlCol="0" anchor="ctr"/>
          <a:lstStyle/>
          <a:p>
            <a:pPr algn="r" indent="0" marL="0">
              <a:buNone/>
            </a:pPr>
            <a:r>
              <a:rPr lang="en-US" sz="1400" dirty="0">
                <a:solidFill>
                  <a:srgbClr val="595959"/>
                </a:solidFill>
                <a:latin typeface="Inter" pitchFamily="34" charset="0"/>
                <a:ea typeface="Inter" pitchFamily="34" charset="-122"/>
                <a:cs typeface="Inter" pitchFamily="34" charset="-120"/>
              </a:rPr>
              <a:t>2026 group</a:t>
            </a:r>
            <a:endParaRPr lang="en-US" sz="1400" dirty="0"/>
          </a:p>
        </p:txBody>
      </p:sp>
      <p:sp>
        <p:nvSpPr>
          <p:cNvPr id="21" name="Shape 19"/>
          <p:cNvSpPr/>
          <p:nvPr/>
        </p:nvSpPr>
        <p:spPr>
          <a:xfrm>
            <a:off x="6126480" y="1207008"/>
            <a:ext cx="5605272" cy="4645152"/>
          </a:xfrm>
          <a:prstGeom prst="rect">
            <a:avLst/>
          </a:prstGeom>
          <a:solidFill>
            <a:srgbClr val="FFFFFF"/>
          </a:solidFill>
          <a:ln/>
        </p:spPr>
      </p:sp>
      <p:sp>
        <p:nvSpPr>
          <p:cNvPr id="22" name="Text 20"/>
          <p:cNvSpPr txBox="1"/>
          <p:nvPr/>
        </p:nvSpPr>
        <p:spPr>
          <a:xfrm>
            <a:off x="6355080" y="1344168"/>
            <a:ext cx="514807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Who moved it</a:t>
            </a:r>
            <a:endParaRPr lang="en-US" sz="1500" dirty="0"/>
          </a:p>
        </p:txBody>
      </p:sp>
      <p:sp>
        <p:nvSpPr>
          <p:cNvPr id="23" name="Shape 21"/>
          <p:cNvSpPr/>
          <p:nvPr/>
        </p:nvSpPr>
        <p:spPr>
          <a:xfrm>
            <a:off x="6355080" y="1691640"/>
            <a:ext cx="5148072" cy="10973"/>
          </a:xfrm>
          <a:prstGeom prst="rect">
            <a:avLst/>
          </a:prstGeom>
          <a:solidFill>
            <a:srgbClr val="1A1A1A"/>
          </a:solidFill>
          <a:ln/>
        </p:spPr>
      </p:sp>
      <p:sp>
        <p:nvSpPr>
          <p:cNvPr id="24" name="Text 22"/>
          <p:cNvSpPr txBox="1"/>
          <p:nvPr/>
        </p:nvSpPr>
        <p:spPr>
          <a:xfrm>
            <a:off x="6355080" y="1828800"/>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TOYOTA HENDERSON</a:t>
            </a:r>
            <a:endParaRPr lang="en-US" sz="1400" dirty="0"/>
          </a:p>
        </p:txBody>
      </p:sp>
      <p:sp>
        <p:nvSpPr>
          <p:cNvPr id="25" name="Shape 23"/>
          <p:cNvSpPr/>
          <p:nvPr/>
        </p:nvSpPr>
        <p:spPr>
          <a:xfrm>
            <a:off x="8595360" y="1929384"/>
            <a:ext cx="1463040" cy="182880"/>
          </a:xfrm>
          <a:prstGeom prst="rect">
            <a:avLst/>
          </a:prstGeom>
          <a:solidFill>
            <a:srgbClr val="12A566"/>
          </a:solidFill>
          <a:ln/>
        </p:spPr>
      </p:sp>
      <p:sp>
        <p:nvSpPr>
          <p:cNvPr id="26" name="Text 24"/>
          <p:cNvSpPr txBox="1"/>
          <p:nvPr/>
        </p:nvSpPr>
        <p:spPr>
          <a:xfrm>
            <a:off x="10149840" y="1828800"/>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+$1,772,700</a:t>
            </a:r>
            <a:endParaRPr lang="en-US" sz="1400" dirty="0"/>
          </a:p>
        </p:txBody>
      </p:sp>
      <p:sp>
        <p:nvSpPr>
          <p:cNvPr id="27" name="Text 25"/>
          <p:cNvSpPr txBox="1"/>
          <p:nvPr/>
        </p:nvSpPr>
        <p:spPr>
          <a:xfrm>
            <a:off x="6355080" y="2258568"/>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AUDI HENDERSON</a:t>
            </a:r>
            <a:endParaRPr lang="en-US" sz="1400" dirty="0"/>
          </a:p>
        </p:txBody>
      </p:sp>
      <p:sp>
        <p:nvSpPr>
          <p:cNvPr id="28" name="Shape 26"/>
          <p:cNvSpPr/>
          <p:nvPr/>
        </p:nvSpPr>
        <p:spPr>
          <a:xfrm>
            <a:off x="8595360" y="2359152"/>
            <a:ext cx="1407053" cy="182880"/>
          </a:xfrm>
          <a:prstGeom prst="rect">
            <a:avLst/>
          </a:prstGeom>
          <a:solidFill>
            <a:srgbClr val="12A566"/>
          </a:solidFill>
          <a:ln/>
        </p:spPr>
      </p:sp>
      <p:sp>
        <p:nvSpPr>
          <p:cNvPr id="29" name="Text 27"/>
          <p:cNvSpPr txBox="1"/>
          <p:nvPr/>
        </p:nvSpPr>
        <p:spPr>
          <a:xfrm>
            <a:off x="10149840" y="2258568"/>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+$1,704,863</a:t>
            </a:r>
            <a:endParaRPr lang="en-US" sz="1400" dirty="0"/>
          </a:p>
        </p:txBody>
      </p:sp>
      <p:sp>
        <p:nvSpPr>
          <p:cNvPr id="30" name="Text 28"/>
          <p:cNvSpPr txBox="1"/>
          <p:nvPr/>
        </p:nvSpPr>
        <p:spPr>
          <a:xfrm>
            <a:off x="6355080" y="2688336"/>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HONDA HENDERSON</a:t>
            </a:r>
            <a:endParaRPr lang="en-US" sz="1400" dirty="0"/>
          </a:p>
        </p:txBody>
      </p:sp>
      <p:sp>
        <p:nvSpPr>
          <p:cNvPr id="31" name="Shape 29"/>
          <p:cNvSpPr/>
          <p:nvPr/>
        </p:nvSpPr>
        <p:spPr>
          <a:xfrm>
            <a:off x="8595360" y="2788920"/>
            <a:ext cx="769067" cy="182880"/>
          </a:xfrm>
          <a:prstGeom prst="rect">
            <a:avLst/>
          </a:prstGeom>
          <a:solidFill>
            <a:srgbClr val="12A566"/>
          </a:solidFill>
          <a:ln/>
        </p:spPr>
      </p:sp>
      <p:sp>
        <p:nvSpPr>
          <p:cNvPr id="32" name="Text 30"/>
          <p:cNvSpPr txBox="1"/>
          <p:nvPr/>
        </p:nvSpPr>
        <p:spPr>
          <a:xfrm>
            <a:off x="10149840" y="2688336"/>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+$931,844</a:t>
            </a:r>
            <a:endParaRPr lang="en-US" sz="1400" dirty="0"/>
          </a:p>
        </p:txBody>
      </p:sp>
      <p:sp>
        <p:nvSpPr>
          <p:cNvPr id="33" name="Text 31"/>
          <p:cNvSpPr txBox="1"/>
          <p:nvPr/>
        </p:nvSpPr>
        <p:spPr>
          <a:xfrm>
            <a:off x="6355080" y="3118104"/>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LEXUS</a:t>
            </a:r>
            <a:endParaRPr lang="en-US" sz="1400" dirty="0"/>
          </a:p>
        </p:txBody>
      </p:sp>
      <p:sp>
        <p:nvSpPr>
          <p:cNvPr id="34" name="Shape 32"/>
          <p:cNvSpPr/>
          <p:nvPr/>
        </p:nvSpPr>
        <p:spPr>
          <a:xfrm>
            <a:off x="8595360" y="3218688"/>
            <a:ext cx="630324" cy="182880"/>
          </a:xfrm>
          <a:prstGeom prst="rect">
            <a:avLst/>
          </a:prstGeom>
          <a:solidFill>
            <a:srgbClr val="12A566"/>
          </a:solidFill>
          <a:ln/>
        </p:spPr>
      </p:sp>
      <p:sp>
        <p:nvSpPr>
          <p:cNvPr id="35" name="Text 33"/>
          <p:cNvSpPr txBox="1"/>
          <p:nvPr/>
        </p:nvSpPr>
        <p:spPr>
          <a:xfrm>
            <a:off x="10149840" y="3118104"/>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+$763,736</a:t>
            </a:r>
            <a:endParaRPr lang="en-US" sz="1400" dirty="0"/>
          </a:p>
        </p:txBody>
      </p:sp>
      <p:sp>
        <p:nvSpPr>
          <p:cNvPr id="36" name="Text 34"/>
          <p:cNvSpPr txBox="1"/>
          <p:nvPr/>
        </p:nvSpPr>
        <p:spPr>
          <a:xfrm>
            <a:off x="6355080" y="3547872"/>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LINCOLN</a:t>
            </a:r>
            <a:endParaRPr lang="en-US" sz="1400" dirty="0"/>
          </a:p>
        </p:txBody>
      </p:sp>
      <p:sp>
        <p:nvSpPr>
          <p:cNvPr id="37" name="Shape 35"/>
          <p:cNvSpPr/>
          <p:nvPr/>
        </p:nvSpPr>
        <p:spPr>
          <a:xfrm>
            <a:off x="8595360" y="3648456"/>
            <a:ext cx="592076" cy="182880"/>
          </a:xfrm>
          <a:prstGeom prst="rect">
            <a:avLst/>
          </a:prstGeom>
          <a:solidFill>
            <a:srgbClr val="12A566"/>
          </a:solidFill>
          <a:ln/>
        </p:spPr>
      </p:sp>
      <p:sp>
        <p:nvSpPr>
          <p:cNvPr id="38" name="Text 36"/>
          <p:cNvSpPr txBox="1"/>
          <p:nvPr/>
        </p:nvSpPr>
        <p:spPr>
          <a:xfrm>
            <a:off x="10149840" y="3547872"/>
            <a:ext cx="1371600" cy="384048"/>
          </a:xfrm>
          <a:prstGeom prst="rect">
            <a:avLst/>
          </a:prstGeom>
          <a:noFill/>
          <a:ln/>
        </p:spPr>
        <p:txBody>
          <a:bodyPr wrap="square" lIns="0" tIns="0" rIns="0" bIns="0" rtlCol="0" anchor="ctr"/>
          <a:lstStyle/>
          <a:p>
            <a:pPr algn="r" indent="0" marL="0">
              <a:buNone/>
            </a:pPr>
            <a:r>
              <a:rPr lang="en-US" sz="1400" b="1" dirty="0">
                <a:solidFill>
                  <a:srgbClr val="0B7A4A"/>
                </a:solidFill>
                <a:latin typeface="Inter" pitchFamily="34" charset="0"/>
                <a:ea typeface="Inter" pitchFamily="34" charset="-122"/>
                <a:cs typeface="Inter" pitchFamily="34" charset="-120"/>
              </a:rPr>
              <a:t>+$717,392</a:t>
            </a:r>
            <a:endParaRPr lang="en-US" sz="1400" dirty="0"/>
          </a:p>
        </p:txBody>
      </p:sp>
      <p:sp>
        <p:nvSpPr>
          <p:cNvPr id="39" name="Text 37"/>
          <p:cNvSpPr txBox="1"/>
          <p:nvPr/>
        </p:nvSpPr>
        <p:spPr>
          <a:xfrm>
            <a:off x="6355080" y="3977640"/>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ACURA</a:t>
            </a:r>
            <a:endParaRPr lang="en-US" sz="1400" dirty="0"/>
          </a:p>
        </p:txBody>
      </p:sp>
      <p:sp>
        <p:nvSpPr>
          <p:cNvPr id="40" name="Shape 38"/>
          <p:cNvSpPr/>
          <p:nvPr/>
        </p:nvSpPr>
        <p:spPr>
          <a:xfrm>
            <a:off x="8168846" y="4078224"/>
            <a:ext cx="426514" cy="182880"/>
          </a:xfrm>
          <a:prstGeom prst="rect">
            <a:avLst/>
          </a:prstGeom>
          <a:solidFill>
            <a:srgbClr val="C2352F"/>
          </a:solidFill>
          <a:ln/>
        </p:spPr>
      </p:sp>
      <p:sp>
        <p:nvSpPr>
          <p:cNvPr id="41" name="Text 39"/>
          <p:cNvSpPr txBox="1"/>
          <p:nvPr/>
        </p:nvSpPr>
        <p:spPr>
          <a:xfrm>
            <a:off x="10149840" y="3977640"/>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−$516,788</a:t>
            </a:r>
            <a:endParaRPr lang="en-US" sz="1400" dirty="0"/>
          </a:p>
        </p:txBody>
      </p:sp>
      <p:sp>
        <p:nvSpPr>
          <p:cNvPr id="42" name="Text 40"/>
          <p:cNvSpPr txBox="1"/>
          <p:nvPr/>
        </p:nvSpPr>
        <p:spPr>
          <a:xfrm>
            <a:off x="6355080" y="4407408"/>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AUDI RENO</a:t>
            </a:r>
            <a:endParaRPr lang="en-US" sz="1400" dirty="0"/>
          </a:p>
        </p:txBody>
      </p:sp>
      <p:sp>
        <p:nvSpPr>
          <p:cNvPr id="43" name="Shape 41"/>
          <p:cNvSpPr/>
          <p:nvPr/>
        </p:nvSpPr>
        <p:spPr>
          <a:xfrm>
            <a:off x="8166323" y="4507992"/>
            <a:ext cx="429037" cy="182880"/>
          </a:xfrm>
          <a:prstGeom prst="rect">
            <a:avLst/>
          </a:prstGeom>
          <a:solidFill>
            <a:srgbClr val="C2352F"/>
          </a:solidFill>
          <a:ln/>
        </p:spPr>
      </p:sp>
      <p:sp>
        <p:nvSpPr>
          <p:cNvPr id="44" name="Text 42"/>
          <p:cNvSpPr txBox="1"/>
          <p:nvPr/>
        </p:nvSpPr>
        <p:spPr>
          <a:xfrm>
            <a:off x="10149840" y="4407408"/>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−$519,845</a:t>
            </a:r>
            <a:endParaRPr lang="en-US" sz="1400" dirty="0"/>
          </a:p>
        </p:txBody>
      </p:sp>
      <p:sp>
        <p:nvSpPr>
          <p:cNvPr id="45" name="Text 43"/>
          <p:cNvSpPr txBox="1"/>
          <p:nvPr/>
        </p:nvSpPr>
        <p:spPr>
          <a:xfrm>
            <a:off x="6355080" y="4837176"/>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VW HENDERSON</a:t>
            </a:r>
            <a:endParaRPr lang="en-US" sz="1400" dirty="0"/>
          </a:p>
        </p:txBody>
      </p:sp>
      <p:sp>
        <p:nvSpPr>
          <p:cNvPr id="46" name="Shape 44"/>
          <p:cNvSpPr/>
          <p:nvPr/>
        </p:nvSpPr>
        <p:spPr>
          <a:xfrm>
            <a:off x="7967135" y="4937760"/>
            <a:ext cx="628225" cy="182880"/>
          </a:xfrm>
          <a:prstGeom prst="rect">
            <a:avLst/>
          </a:prstGeom>
          <a:solidFill>
            <a:srgbClr val="C2352F"/>
          </a:solidFill>
          <a:ln/>
        </p:spPr>
      </p:sp>
      <p:sp>
        <p:nvSpPr>
          <p:cNvPr id="47" name="Text 45"/>
          <p:cNvSpPr txBox="1"/>
          <p:nvPr/>
        </p:nvSpPr>
        <p:spPr>
          <a:xfrm>
            <a:off x="10149840" y="4837176"/>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−$761,192</a:t>
            </a:r>
            <a:endParaRPr lang="en-US" sz="1400" dirty="0"/>
          </a:p>
        </p:txBody>
      </p:sp>
      <p:sp>
        <p:nvSpPr>
          <p:cNvPr id="48" name="Text 46"/>
          <p:cNvSpPr txBox="1"/>
          <p:nvPr/>
        </p:nvSpPr>
        <p:spPr>
          <a:xfrm>
            <a:off x="6355080" y="5266944"/>
            <a:ext cx="2148840" cy="384048"/>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HONDA NORTH</a:t>
            </a:r>
            <a:endParaRPr lang="en-US" sz="1400" dirty="0"/>
          </a:p>
        </p:txBody>
      </p:sp>
      <p:sp>
        <p:nvSpPr>
          <p:cNvPr id="49" name="Shape 47"/>
          <p:cNvSpPr/>
          <p:nvPr/>
        </p:nvSpPr>
        <p:spPr>
          <a:xfrm>
            <a:off x="7902183" y="5367528"/>
            <a:ext cx="693177" cy="182880"/>
          </a:xfrm>
          <a:prstGeom prst="rect">
            <a:avLst/>
          </a:prstGeom>
          <a:solidFill>
            <a:srgbClr val="C2352F"/>
          </a:solidFill>
          <a:ln/>
        </p:spPr>
      </p:sp>
      <p:sp>
        <p:nvSpPr>
          <p:cNvPr id="50" name="Text 48"/>
          <p:cNvSpPr txBox="1"/>
          <p:nvPr/>
        </p:nvSpPr>
        <p:spPr>
          <a:xfrm>
            <a:off x="10149840" y="5266944"/>
            <a:ext cx="1371600" cy="384048"/>
          </a:xfrm>
          <a:prstGeom prst="rect">
            <a:avLst/>
          </a:prstGeom>
          <a:noFill/>
          <a:ln/>
        </p:spPr>
        <p:txBody>
          <a:bodyPr wrap="square" lIns="0" tIns="0" rIns="0" bIns="0" rtlCol="0" anchor="ctr"/>
          <a:lstStyle/>
          <a:p>
            <a:pPr algn="r" indent="0" marL="0">
              <a:buNone/>
            </a:pPr>
            <a:r>
              <a:rPr lang="en-US" sz="1400" b="1" dirty="0">
                <a:solidFill>
                  <a:srgbClr val="A82B26"/>
                </a:solidFill>
                <a:latin typeface="Inter" pitchFamily="34" charset="0"/>
                <a:ea typeface="Inter" pitchFamily="34" charset="-122"/>
                <a:cs typeface="Inter" pitchFamily="34" charset="-120"/>
              </a:rPr>
              <a:t>−$839,891</a:t>
            </a:r>
            <a:endParaRPr lang="en-US" sz="1400" dirty="0"/>
          </a:p>
        </p:txBody>
      </p:sp>
      <p:sp>
        <p:nvSpPr>
          <p:cNvPr id="51" name="Shape 49"/>
          <p:cNvSpPr/>
          <p:nvPr/>
        </p:nvSpPr>
        <p:spPr>
          <a:xfrm>
            <a:off x="8589874" y="1828800"/>
            <a:ext cx="10973" cy="3813048"/>
          </a:xfrm>
          <a:prstGeom prst="rect">
            <a:avLst/>
          </a:prstGeom>
          <a:solidFill>
            <a:srgbClr val="9AA3AD"/>
          </a:solidFill>
          <a:ln/>
        </p:spPr>
      </p:sp>
      <p:sp>
        <p:nvSpPr>
          <p:cNvPr id="52" name="Shape 50"/>
          <p:cNvSpPr/>
          <p:nvPr/>
        </p:nvSpPr>
        <p:spPr>
          <a:xfrm>
            <a:off x="457200" y="5961888"/>
            <a:ext cx="11274552" cy="548640"/>
          </a:xfrm>
          <a:prstGeom prst="rect">
            <a:avLst/>
          </a:prstGeom>
          <a:solidFill>
            <a:srgbClr val="E6F6EE"/>
          </a:solidFill>
          <a:ln/>
        </p:spPr>
      </p:sp>
      <p:sp>
        <p:nvSpPr>
          <p:cNvPr id="53" name="Text 5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Five stores added +$5,890,534; the bottom four gave back $2,637,716.</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$15.06M. Low Nov '25 at $11.84M.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+6.8%, +9.3%, +6.8%, +11.7%.</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9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Service gross ran $13.78M a month over the last twelve, up $6,297,386 year to date.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$120.57M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$126.87M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+$6,297,386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+5.2%</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$13.47M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+$62,504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$12.64M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+$156,479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$13.59M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$14.35M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+$754,425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$14.01M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+$642,759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$13.61M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+$98,858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$14.45M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+$924,002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$15.06M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+$1,275,282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$14.43M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+$925,229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+$1,457,847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+$6,297,386 (5.2%) year to date; 9 of nine months ahead of 2025, best September at +$1,457,847.</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+$6,297,386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+$1,499,243</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777878"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+$1,417,114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35093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+$639,324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1" name="Shape 19"/>
          <p:cNvSpPr/>
          <p:nvPr/>
        </p:nvSpPr>
        <p:spPr>
          <a:xfrm>
            <a:off x="3813048" y="2599887"/>
            <a:ext cx="339840"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+$619,111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4" name="Shape 22"/>
          <p:cNvSpPr/>
          <p:nvPr/>
        </p:nvSpPr>
        <p:spPr>
          <a:xfrm>
            <a:off x="3813048" y="2830100"/>
            <a:ext cx="335344"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+$610,920</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7" name="Shape 25"/>
          <p:cNvSpPr/>
          <p:nvPr/>
        </p:nvSpPr>
        <p:spPr>
          <a:xfrm>
            <a:off x="3813048" y="3060314"/>
            <a:ext cx="330317"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+$601,761</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3813048" y="3290528"/>
            <a:ext cx="26064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+$474,842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3813048" y="3520741"/>
            <a:ext cx="213882"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+$389,643</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6" name="Shape 34"/>
          <p:cNvSpPr/>
          <p:nvPr/>
        </p:nvSpPr>
        <p:spPr>
          <a:xfrm>
            <a:off x="3813048" y="3750955"/>
            <a:ext cx="21102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+$384,429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9" name="Shape 37"/>
          <p:cNvSpPr/>
          <p:nvPr/>
        </p:nvSpPr>
        <p:spPr>
          <a:xfrm>
            <a:off x="3813048" y="3981169"/>
            <a:ext cx="18931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+$344,890</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2" name="Shape 40"/>
          <p:cNvSpPr/>
          <p:nvPr/>
        </p:nvSpPr>
        <p:spPr>
          <a:xfrm>
            <a:off x="3813048" y="4211382"/>
            <a:ext cx="1728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+$314,963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5" name="Shape 43"/>
          <p:cNvSpPr/>
          <p:nvPr/>
        </p:nvSpPr>
        <p:spPr>
          <a:xfrm>
            <a:off x="3813048" y="4441596"/>
            <a:ext cx="160379"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+$292,173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8" name="Shape 46"/>
          <p:cNvSpPr/>
          <p:nvPr/>
        </p:nvSpPr>
        <p:spPr>
          <a:xfrm>
            <a:off x="3813048" y="4671809"/>
            <a:ext cx="128390"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+$233,897</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1" name="Shape 49"/>
          <p:cNvSpPr/>
          <p:nvPr/>
        </p:nvSpPr>
        <p:spPr>
          <a:xfrm>
            <a:off x="3813048" y="4902023"/>
            <a:ext cx="11895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+$216,701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4" name="Shape 52"/>
          <p:cNvSpPr/>
          <p:nvPr/>
        </p:nvSpPr>
        <p:spPr>
          <a:xfrm>
            <a:off x="3813048" y="5132237"/>
            <a:ext cx="110697"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+$201,665</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7" name="Shape 55"/>
          <p:cNvSpPr/>
          <p:nvPr/>
        </p:nvSpPr>
        <p:spPr>
          <a:xfrm>
            <a:off x="3813048" y="5362450"/>
            <a:ext cx="10743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+$195,719</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0" name="Shape 58"/>
          <p:cNvSpPr/>
          <p:nvPr/>
        </p:nvSpPr>
        <p:spPr>
          <a:xfrm>
            <a:off x="3813048" y="5592664"/>
            <a:ext cx="9282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+$169,102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9363456" y="1909246"/>
            <a:ext cx="88703"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+$161,597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6" name="Shape 64"/>
          <p:cNvSpPr/>
          <p:nvPr/>
        </p:nvSpPr>
        <p:spPr>
          <a:xfrm>
            <a:off x="9363456" y="2139459"/>
            <a:ext cx="6193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+$112,838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9" name="Shape 67"/>
          <p:cNvSpPr/>
          <p:nvPr/>
        </p:nvSpPr>
        <p:spPr>
          <a:xfrm>
            <a:off x="9363456" y="2369673"/>
            <a:ext cx="37407"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+$68,148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9363456" y="2599887"/>
            <a:ext cx="17118"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+$31,186</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9363456" y="2830100"/>
            <a:ext cx="128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+$20,233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+$20,119</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81" name="Shape 79"/>
          <p:cNvSpPr/>
          <p:nvPr/>
        </p:nvSpPr>
        <p:spPr>
          <a:xfrm>
            <a:off x="9350324" y="3290528"/>
            <a:ext cx="1313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−$23,923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348246" y="3520741"/>
            <a:ext cx="15210"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−$27,710</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7" name="Shape 85"/>
          <p:cNvSpPr/>
          <p:nvPr/>
        </p:nvSpPr>
        <p:spPr>
          <a:xfrm>
            <a:off x="9331765" y="3750955"/>
            <a:ext cx="31691"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−$57,734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0" name="Shape 88"/>
          <p:cNvSpPr/>
          <p:nvPr/>
        </p:nvSpPr>
        <p:spPr>
          <a:xfrm>
            <a:off x="9289333" y="3981169"/>
            <a:ext cx="7412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−$135,036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3" name="Shape 91"/>
          <p:cNvSpPr/>
          <p:nvPr/>
        </p:nvSpPr>
        <p:spPr>
          <a:xfrm>
            <a:off x="9258104" y="4211382"/>
            <a:ext cx="10535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−$191,926</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247464" y="4441596"/>
            <a:ext cx="11599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−$211,311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9" name="Shape 97"/>
          <p:cNvSpPr/>
          <p:nvPr/>
        </p:nvSpPr>
        <p:spPr>
          <a:xfrm>
            <a:off x="9146720" y="4671809"/>
            <a:ext cx="216736"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−$394,842</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2" name="Shape 100"/>
          <p:cNvSpPr/>
          <p:nvPr/>
        </p:nvSpPr>
        <p:spPr>
          <a:xfrm>
            <a:off x="9123073" y="4902023"/>
            <a:ext cx="24038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−$437,922</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5" name="Shape 103"/>
          <p:cNvSpPr/>
          <p:nvPr/>
        </p:nvSpPr>
        <p:spPr>
          <a:xfrm>
            <a:off x="9063083" y="5132237"/>
            <a:ext cx="30037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−$547,210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8982169" y="5362450"/>
            <a:ext cx="381287"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−$694,616</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grew, led by TOYOTA HENDERSON at +$1,499,243; 10 declined, HONDA NORTH most at −$694,616.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Group total, trailing 12 months ($M)</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Peak Jul '26 at $7.66M. Low Nov '25 at $5.91M.</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Jun–Sep year over year: +3.8%, +9.8%, +5.9%, +9.8%.</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6 of 9 months in 2026 beat the same month of 2025.</a:t>
            </a:r>
            <a:endParaRPr lang="en-US" sz="1500" dirty="0"/>
          </a:p>
        </p:txBody>
      </p:sp>
      <p:sp>
        <p:nvSpPr>
          <p:cNvPr id="18" name="Shape 15"/>
          <p:cNvSpPr/>
          <p:nvPr/>
        </p:nvSpPr>
        <p:spPr>
          <a:xfrm>
            <a:off x="457200" y="5961888"/>
            <a:ext cx="11274552" cy="548640"/>
          </a:xfrm>
          <a:prstGeom prst="rect">
            <a:avLst/>
          </a:prstGeom>
          <a:solidFill>
            <a:srgbClr val="E6F6EE"/>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Parts gross ran $6.81M a month over the last twelve, up $1,171,181 year to date.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$60.76M</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$61.93M</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+$1,171,181</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+1.9%</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$7.05M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−$640,110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−$388,758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$6.60M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$6.77M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+$169,805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+$300,539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$6.67M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$6.41M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−$253,835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+$259,611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$6.97M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$7.66M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+$684,859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$6.81M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$7.21M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+$398,421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$6.54M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$7.18M</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+$640,651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+$1,171,181 (1.9%) year to date; 6 of nine months ahead of 2025, best July at +$684,859.</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+$1,171,181</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+$688,074</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5" name="Shape 13"/>
          <p:cNvSpPr/>
          <p:nvPr/>
        </p:nvSpPr>
        <p:spPr>
          <a:xfrm>
            <a:off x="3813048" y="2139459"/>
            <a:ext cx="383836"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+$320,924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8" name="Shape 16"/>
          <p:cNvSpPr/>
          <p:nvPr/>
        </p:nvSpPr>
        <p:spPr>
          <a:xfrm>
            <a:off x="3813048" y="2369673"/>
            <a:ext cx="34415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+$287,749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1" name="Shape 19"/>
          <p:cNvSpPr/>
          <p:nvPr/>
        </p:nvSpPr>
        <p:spPr>
          <a:xfrm>
            <a:off x="3813048" y="2599887"/>
            <a:ext cx="32706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+$273,457</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4" name="Shape 22"/>
          <p:cNvSpPr/>
          <p:nvPr/>
        </p:nvSpPr>
        <p:spPr>
          <a:xfrm>
            <a:off x="3813048" y="2830100"/>
            <a:ext cx="32380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+$270,730</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29009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+$242,550</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0" name="Shape 28"/>
          <p:cNvSpPr/>
          <p:nvPr/>
        </p:nvSpPr>
        <p:spPr>
          <a:xfrm>
            <a:off x="3813048" y="3290528"/>
            <a:ext cx="25200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+$210,702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3" name="Shape 31"/>
          <p:cNvSpPr/>
          <p:nvPr/>
        </p:nvSpPr>
        <p:spPr>
          <a:xfrm>
            <a:off x="3813048" y="3520741"/>
            <a:ext cx="189222"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+$158,208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6" name="Shape 34"/>
          <p:cNvSpPr/>
          <p:nvPr/>
        </p:nvSpPr>
        <p:spPr>
          <a:xfrm>
            <a:off x="3813048" y="3750955"/>
            <a:ext cx="18101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+$151,342</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9" name="Shape 37"/>
          <p:cNvSpPr/>
          <p:nvPr/>
        </p:nvSpPr>
        <p:spPr>
          <a:xfrm>
            <a:off x="3813048" y="3981169"/>
            <a:ext cx="14880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+$124,412</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105802"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+$88,461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5" name="Shape 43"/>
          <p:cNvSpPr/>
          <p:nvPr/>
        </p:nvSpPr>
        <p:spPr>
          <a:xfrm>
            <a:off x="3813048" y="4441596"/>
            <a:ext cx="7128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+$59,600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8" name="Shape 46"/>
          <p:cNvSpPr/>
          <p:nvPr/>
        </p:nvSpPr>
        <p:spPr>
          <a:xfrm>
            <a:off x="3813048" y="4671809"/>
            <a:ext cx="6023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+$50,363</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3813048" y="4902023"/>
            <a:ext cx="55982"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+$46,807</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4" name="Shape 52"/>
          <p:cNvSpPr/>
          <p:nvPr/>
        </p:nvSpPr>
        <p:spPr>
          <a:xfrm>
            <a:off x="3813048" y="5132237"/>
            <a:ext cx="3912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+$32,709</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32266"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+$26,978</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0" name="Shape 58"/>
          <p:cNvSpPr/>
          <p:nvPr/>
        </p:nvSpPr>
        <p:spPr>
          <a:xfrm>
            <a:off x="3813048" y="5592664"/>
            <a:ext cx="2239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+$18,723</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9357576" y="1909246"/>
            <a:ext cx="12802"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−$4,916</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6" name="Shape 64"/>
          <p:cNvSpPr/>
          <p:nvPr/>
        </p:nvSpPr>
        <p:spPr>
          <a:xfrm>
            <a:off x="9349679" y="2139459"/>
            <a:ext cx="13777"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−$11,519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9" name="Shape 67"/>
          <p:cNvSpPr/>
          <p:nvPr/>
        </p:nvSpPr>
        <p:spPr>
          <a:xfrm>
            <a:off x="9330194" y="2369673"/>
            <a:ext cx="33262"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−$27,810</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2" name="Shape 70"/>
          <p:cNvSpPr/>
          <p:nvPr/>
        </p:nvSpPr>
        <p:spPr>
          <a:xfrm>
            <a:off x="9323739" y="2599887"/>
            <a:ext cx="3971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−$33,207</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5" name="Shape 73"/>
          <p:cNvSpPr/>
          <p:nvPr/>
        </p:nvSpPr>
        <p:spPr>
          <a:xfrm>
            <a:off x="9313048" y="2830100"/>
            <a:ext cx="5040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−$42,146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8" name="Shape 76"/>
          <p:cNvSpPr/>
          <p:nvPr/>
        </p:nvSpPr>
        <p:spPr>
          <a:xfrm>
            <a:off x="9303603" y="3060314"/>
            <a:ext cx="5985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−$50,043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294991" y="3290528"/>
            <a:ext cx="68465"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−$57,243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4" name="Shape 82"/>
          <p:cNvSpPr/>
          <p:nvPr/>
        </p:nvSpPr>
        <p:spPr>
          <a:xfrm>
            <a:off x="9291035" y="3520741"/>
            <a:ext cx="72421"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−$60,551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7" name="Shape 85"/>
          <p:cNvSpPr/>
          <p:nvPr/>
        </p:nvSpPr>
        <p:spPr>
          <a:xfrm>
            <a:off x="9269131" y="3750955"/>
            <a:ext cx="94325"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−$78,865</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0" name="Shape 88"/>
          <p:cNvSpPr/>
          <p:nvPr/>
        </p:nvSpPr>
        <p:spPr>
          <a:xfrm>
            <a:off x="9189703" y="3981169"/>
            <a:ext cx="17375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−$145,275</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3" name="Shape 91"/>
          <p:cNvSpPr/>
          <p:nvPr/>
        </p:nvSpPr>
        <p:spPr>
          <a:xfrm>
            <a:off x="9188943" y="4211382"/>
            <a:ext cx="17451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−$145,910</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6" name="Shape 94"/>
          <p:cNvSpPr/>
          <p:nvPr/>
        </p:nvSpPr>
        <p:spPr>
          <a:xfrm>
            <a:off x="9163508" y="4441596"/>
            <a:ext cx="199948"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−$167,176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9" name="Shape 97"/>
          <p:cNvSpPr/>
          <p:nvPr/>
        </p:nvSpPr>
        <p:spPr>
          <a:xfrm>
            <a:off x="9107526" y="4671809"/>
            <a:ext cx="25593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−$213,982</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2" name="Shape 100"/>
          <p:cNvSpPr/>
          <p:nvPr/>
        </p:nvSpPr>
        <p:spPr>
          <a:xfrm>
            <a:off x="9092223" y="4902023"/>
            <a:ext cx="27123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−$226,777</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9019877" y="5132237"/>
            <a:ext cx="343579"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−$287,265</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8" name="Shape 106"/>
          <p:cNvSpPr/>
          <p:nvPr/>
        </p:nvSpPr>
        <p:spPr>
          <a:xfrm>
            <a:off x="8971254" y="5362450"/>
            <a:ext cx="39220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−$327,919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17 of 33 stores grew, led by CADILLAC at +$688,074; 16 declined, AUDI RENO most at −$327,919.</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Profitability</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Absorption   ·   Service net to gross   ·   Parts net to gross</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91440"/>
          </a:xfrm>
          <a:prstGeom prst="rect">
            <a:avLst/>
          </a:prstGeom>
          <a:solidFill>
            <a:srgbClr val="2587C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D9D9D9"/>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76.0%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78.1%</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2.1 pts to 78.1%, ahead of 2025 in six of nine months. Fixed gross grew 4.1%; fixed expenses 1.3%.</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 name="Shape 8"/>
          <p:cNvSpPr/>
          <p:nvPr/>
        </p:nvSpPr>
        <p:spPr>
          <a:xfrm>
            <a:off x="2971800" y="1707239"/>
            <a:ext cx="175711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 name="Shape 11"/>
          <p:cNvSpPr/>
          <p:nvPr/>
        </p:nvSpPr>
        <p:spPr>
          <a:xfrm>
            <a:off x="2971800" y="1961119"/>
            <a:ext cx="1521003"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93.7%</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6" name="Shape 14"/>
          <p:cNvSpPr/>
          <p:nvPr/>
        </p:nvSpPr>
        <p:spPr>
          <a:xfrm>
            <a:off x="2971800" y="2215000"/>
            <a:ext cx="14303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9" name="Shape 17"/>
          <p:cNvSpPr/>
          <p:nvPr/>
        </p:nvSpPr>
        <p:spPr>
          <a:xfrm>
            <a:off x="2971800" y="2468880"/>
            <a:ext cx="137490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87.6%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2" name="Shape 20"/>
          <p:cNvSpPr/>
          <p:nvPr/>
        </p:nvSpPr>
        <p:spPr>
          <a:xfrm>
            <a:off x="2971800" y="2722760"/>
            <a:ext cx="134476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5" name="Shape 23"/>
          <p:cNvSpPr/>
          <p:nvPr/>
        </p:nvSpPr>
        <p:spPr>
          <a:xfrm>
            <a:off x="2971800" y="2976641"/>
            <a:ext cx="1338691"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8" name="Shape 26"/>
          <p:cNvSpPr/>
          <p:nvPr/>
        </p:nvSpPr>
        <p:spPr>
          <a:xfrm>
            <a:off x="2971800" y="3230521"/>
            <a:ext cx="1336460"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1" name="Shape 29"/>
          <p:cNvSpPr/>
          <p:nvPr/>
        </p:nvSpPr>
        <p:spPr>
          <a:xfrm>
            <a:off x="2971800" y="3484402"/>
            <a:ext cx="1300722"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285206"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7" name="Shape 35"/>
          <p:cNvSpPr/>
          <p:nvPr/>
        </p:nvSpPr>
        <p:spPr>
          <a:xfrm>
            <a:off x="2971800" y="3992163"/>
            <a:ext cx="1236334"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229112"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3" name="Shape 41"/>
          <p:cNvSpPr/>
          <p:nvPr/>
        </p:nvSpPr>
        <p:spPr>
          <a:xfrm>
            <a:off x="2971800" y="4499924"/>
            <a:ext cx="1183660"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79.6%</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161064"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78.6%</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971800" y="5007685"/>
            <a:ext cx="1156533"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78.4%</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8728"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78.1%</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6" name="Shape 54"/>
          <p:cNvSpPr/>
          <p:nvPr/>
        </p:nvSpPr>
        <p:spPr>
          <a:xfrm>
            <a:off x="2971800" y="5515446"/>
            <a:ext cx="112963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9" name="Shape 57"/>
          <p:cNvSpPr/>
          <p:nvPr/>
        </p:nvSpPr>
        <p:spPr>
          <a:xfrm>
            <a:off x="8522208" y="1453358"/>
            <a:ext cx="108971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2" name="Shape 60"/>
          <p:cNvSpPr/>
          <p:nvPr/>
        </p:nvSpPr>
        <p:spPr>
          <a:xfrm>
            <a:off x="8522208" y="1707239"/>
            <a:ext cx="108963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75.6%</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5" name="Shape 63"/>
          <p:cNvSpPr/>
          <p:nvPr/>
        </p:nvSpPr>
        <p:spPr>
          <a:xfrm>
            <a:off x="8522208" y="1961119"/>
            <a:ext cx="1059190"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8" name="Shape 66"/>
          <p:cNvSpPr/>
          <p:nvPr/>
        </p:nvSpPr>
        <p:spPr>
          <a:xfrm>
            <a:off x="8522208" y="2215000"/>
            <a:ext cx="103398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1" name="Shape 69"/>
          <p:cNvSpPr/>
          <p:nvPr/>
        </p:nvSpPr>
        <p:spPr>
          <a:xfrm>
            <a:off x="8522208" y="2468880"/>
            <a:ext cx="970327"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70.6%</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4" name="Shape 72"/>
          <p:cNvSpPr/>
          <p:nvPr/>
        </p:nvSpPr>
        <p:spPr>
          <a:xfrm>
            <a:off x="8522208" y="2722760"/>
            <a:ext cx="962499"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70.3%</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7" name="Shape 75"/>
          <p:cNvSpPr/>
          <p:nvPr/>
        </p:nvSpPr>
        <p:spPr>
          <a:xfrm>
            <a:off x="8522208" y="2976641"/>
            <a:ext cx="955146"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70.0%</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929859"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68.9%</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3" name="Shape 81"/>
          <p:cNvSpPr/>
          <p:nvPr/>
        </p:nvSpPr>
        <p:spPr>
          <a:xfrm>
            <a:off x="8522208" y="3484402"/>
            <a:ext cx="855566"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6" name="Shape 84"/>
          <p:cNvSpPr/>
          <p:nvPr/>
        </p:nvSpPr>
        <p:spPr>
          <a:xfrm>
            <a:off x="8522208" y="3738282"/>
            <a:ext cx="837160"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65.1%</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804031"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63.7%</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9432"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63.1%</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5" name="Shape 93"/>
          <p:cNvSpPr/>
          <p:nvPr/>
        </p:nvSpPr>
        <p:spPr>
          <a:xfrm>
            <a:off x="8522208" y="4499924"/>
            <a:ext cx="71378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8" name="Shape 96"/>
          <p:cNvSpPr/>
          <p:nvPr/>
        </p:nvSpPr>
        <p:spPr>
          <a:xfrm>
            <a:off x="8522208" y="4753804"/>
            <a:ext cx="65026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574750"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54.1%</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510111"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51.4%</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8703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46.2%</a:t>
            </a:r>
            <a:endParaRPr lang="en-US" sz="1300" dirty="0"/>
          </a:p>
        </p:txBody>
      </p:sp>
      <p:sp>
        <p:nvSpPr>
          <p:cNvPr id="109" name="Shape 107"/>
          <p:cNvSpPr/>
          <p:nvPr/>
        </p:nvSpPr>
        <p:spPr>
          <a:xfrm>
            <a:off x="4113213" y="1389888"/>
            <a:ext cx="14630" cy="4315968"/>
          </a:xfrm>
          <a:prstGeom prst="rect">
            <a:avLst/>
          </a:prstGeom>
          <a:solidFill>
            <a:srgbClr val="0B2C4A"/>
          </a:solidFill>
          <a:ln/>
        </p:spPr>
      </p:sp>
      <p:sp>
        <p:nvSpPr>
          <p:cNvPr id="110" name="Shape 108"/>
          <p:cNvSpPr/>
          <p:nvPr/>
        </p:nvSpPr>
        <p:spPr>
          <a:xfrm>
            <a:off x="9663621"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78.1% group, led by AUDI HENDERSON at 106.6%. HYUNDAI PRESCOTT is lowest at 46.2%.</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Absorption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758401"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5" name="Shape 13"/>
          <p:cNvSpPr/>
          <p:nvPr/>
        </p:nvSpPr>
        <p:spPr>
          <a:xfrm>
            <a:off x="3813048" y="2139459"/>
            <a:ext cx="45076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4886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1" name="Shape 19"/>
          <p:cNvSpPr/>
          <p:nvPr/>
        </p:nvSpPr>
        <p:spPr>
          <a:xfrm>
            <a:off x="3813048" y="2599887"/>
            <a:ext cx="26447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4" name="Shape 22"/>
          <p:cNvSpPr/>
          <p:nvPr/>
        </p:nvSpPr>
        <p:spPr>
          <a:xfrm>
            <a:off x="3813048" y="2830100"/>
            <a:ext cx="25613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7" name="Shape 25"/>
          <p:cNvSpPr/>
          <p:nvPr/>
        </p:nvSpPr>
        <p:spPr>
          <a:xfrm>
            <a:off x="3813048" y="3060314"/>
            <a:ext cx="24822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0" name="Shape 28"/>
          <p:cNvSpPr/>
          <p:nvPr/>
        </p:nvSpPr>
        <p:spPr>
          <a:xfrm>
            <a:off x="3813048" y="3290528"/>
            <a:ext cx="24789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3" name="Shape 31"/>
          <p:cNvSpPr/>
          <p:nvPr/>
        </p:nvSpPr>
        <p:spPr>
          <a:xfrm>
            <a:off x="3813048" y="3520741"/>
            <a:ext cx="24407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6" name="Shape 34"/>
          <p:cNvSpPr/>
          <p:nvPr/>
        </p:nvSpPr>
        <p:spPr>
          <a:xfrm>
            <a:off x="3813048" y="3750955"/>
            <a:ext cx="24079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565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+5.0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2" name="Shape 40"/>
          <p:cNvSpPr/>
          <p:nvPr/>
        </p:nvSpPr>
        <p:spPr>
          <a:xfrm>
            <a:off x="3813048" y="4211382"/>
            <a:ext cx="2337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5" name="Shape 43"/>
          <p:cNvSpPr/>
          <p:nvPr/>
        </p:nvSpPr>
        <p:spPr>
          <a:xfrm>
            <a:off x="3813048" y="4441596"/>
            <a:ext cx="224860"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8" name="Shape 46"/>
          <p:cNvSpPr/>
          <p:nvPr/>
        </p:nvSpPr>
        <p:spPr>
          <a:xfrm>
            <a:off x="3813048" y="4671809"/>
            <a:ext cx="18855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8209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18076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7" name="Shape 55"/>
          <p:cNvSpPr/>
          <p:nvPr/>
        </p:nvSpPr>
        <p:spPr>
          <a:xfrm>
            <a:off x="3813048" y="5362450"/>
            <a:ext cx="15435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5249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9363456" y="1909246"/>
            <a:ext cx="118534"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363456" y="2139459"/>
            <a:ext cx="80893"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9" name="Shape 67"/>
          <p:cNvSpPr/>
          <p:nvPr/>
        </p:nvSpPr>
        <p:spPr>
          <a:xfrm>
            <a:off x="9363456" y="2369673"/>
            <a:ext cx="7541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63456" y="2599887"/>
            <a:ext cx="2950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5" name="Shape 73"/>
          <p:cNvSpPr/>
          <p:nvPr/>
        </p:nvSpPr>
        <p:spPr>
          <a:xfrm>
            <a:off x="9363456" y="2830100"/>
            <a:ext cx="1412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1" name="Shape 79"/>
          <p:cNvSpPr/>
          <p:nvPr/>
        </p:nvSpPr>
        <p:spPr>
          <a:xfrm>
            <a:off x="9358065" y="3290528"/>
            <a:ext cx="1280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9356983"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52447"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0" name="Shape 88"/>
          <p:cNvSpPr/>
          <p:nvPr/>
        </p:nvSpPr>
        <p:spPr>
          <a:xfrm>
            <a:off x="9312683" y="3981169"/>
            <a:ext cx="5077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3" name="Shape 91"/>
          <p:cNvSpPr/>
          <p:nvPr/>
        </p:nvSpPr>
        <p:spPr>
          <a:xfrm>
            <a:off x="9311195" y="4211382"/>
            <a:ext cx="52261"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254075" y="4441596"/>
            <a:ext cx="109381"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074386" y="4671809"/>
            <a:ext cx="28907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2" name="Shape 100"/>
          <p:cNvSpPr/>
          <p:nvPr/>
        </p:nvSpPr>
        <p:spPr>
          <a:xfrm>
            <a:off x="8905746" y="4902023"/>
            <a:ext cx="457710"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8885821" y="5132237"/>
            <a:ext cx="47763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23 of 33 stores raised absorption, led by LINCOLN at +16.1 pts to 59.9%. 10 declined; VW ST GEORGE fell most at −17.4 pts.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21.8%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+2.9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+15.6%</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2.9 pts to 21.8%, ahead of 2025 in all nine months. Department profit grew 21.6% on 5.2% more gross.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 name="Shape 8"/>
          <p:cNvSpPr/>
          <p:nvPr/>
        </p:nvSpPr>
        <p:spPr>
          <a:xfrm>
            <a:off x="2971800" y="1707239"/>
            <a:ext cx="1735978"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 name="Shape 11"/>
          <p:cNvSpPr/>
          <p:nvPr/>
        </p:nvSpPr>
        <p:spPr>
          <a:xfrm>
            <a:off x="2971800" y="1961119"/>
            <a:ext cx="1727990"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38.2%</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70449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9" name="Shape 17"/>
          <p:cNvSpPr/>
          <p:nvPr/>
        </p:nvSpPr>
        <p:spPr>
          <a:xfrm>
            <a:off x="2971800" y="2468880"/>
            <a:ext cx="1643563"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34.1%</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2" name="Shape 20"/>
          <p:cNvSpPr/>
          <p:nvPr/>
        </p:nvSpPr>
        <p:spPr>
          <a:xfrm>
            <a:off x="2971800" y="2722760"/>
            <a:ext cx="1547521"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5" name="Shape 23"/>
          <p:cNvSpPr/>
          <p:nvPr/>
        </p:nvSpPr>
        <p:spPr>
          <a:xfrm>
            <a:off x="2971800" y="2976641"/>
            <a:ext cx="151756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8" name="Shape 26"/>
          <p:cNvSpPr/>
          <p:nvPr/>
        </p:nvSpPr>
        <p:spPr>
          <a:xfrm>
            <a:off x="2971800" y="3230521"/>
            <a:ext cx="149863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27.2%</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1" name="Shape 29"/>
          <p:cNvSpPr/>
          <p:nvPr/>
        </p:nvSpPr>
        <p:spPr>
          <a:xfrm>
            <a:off x="2971800" y="3484402"/>
            <a:ext cx="1492748"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4" name="Shape 32"/>
          <p:cNvSpPr/>
          <p:nvPr/>
        </p:nvSpPr>
        <p:spPr>
          <a:xfrm>
            <a:off x="2971800" y="3738282"/>
            <a:ext cx="146070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25.3%</a:t>
            </a:r>
            <a:endParaRPr lang="en-US" sz="1300" dirty="0"/>
          </a:p>
        </p:txBody>
      </p:sp>
      <p:sp>
        <p:nvSpPr>
          <p:cNvPr id="36" name="Shape 34"/>
          <p:cNvSpPr/>
          <p:nvPr/>
        </p:nvSpPr>
        <p:spPr>
          <a:xfrm>
            <a:off x="585216" y="3924121"/>
            <a:ext cx="5413248" cy="244736"/>
          </a:xfrm>
          <a:prstGeom prst="rect">
            <a:avLst/>
          </a:prstGeom>
          <a:solidFill>
            <a:srgbClr val="EDF4FA"/>
          </a:solidFill>
          <a:ln/>
        </p:spPr>
      </p:sp>
      <p:sp>
        <p:nvSpPr>
          <p:cNvPr id="37" name="Text 35"/>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38" name="Shape 36"/>
          <p:cNvSpPr/>
          <p:nvPr/>
        </p:nvSpPr>
        <p:spPr>
          <a:xfrm>
            <a:off x="2971800" y="3992163"/>
            <a:ext cx="1388105" cy="126940"/>
          </a:xfrm>
          <a:prstGeom prst="rect">
            <a:avLst/>
          </a:prstGeom>
          <a:solidFill>
            <a:srgbClr val="0B2C4A"/>
          </a:solidFill>
          <a:ln/>
        </p:spPr>
      </p:sp>
      <p:sp>
        <p:nvSpPr>
          <p:cNvPr id="39" name="Text 37"/>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a:t>
            </a:r>
            <a:endParaRPr lang="en-US" sz="1300" dirty="0"/>
          </a:p>
        </p:txBody>
      </p:sp>
      <p:sp>
        <p:nvSpPr>
          <p:cNvPr id="40" name="Text 38"/>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1" name="Shape 39"/>
          <p:cNvSpPr/>
          <p:nvPr/>
        </p:nvSpPr>
        <p:spPr>
          <a:xfrm>
            <a:off x="2971800" y="4246043"/>
            <a:ext cx="1387799" cy="126940"/>
          </a:xfrm>
          <a:prstGeom prst="rect">
            <a:avLst/>
          </a:prstGeom>
          <a:solidFill>
            <a:srgbClr val="C2352F"/>
          </a:solidFill>
          <a:ln/>
        </p:spPr>
      </p:sp>
      <p:sp>
        <p:nvSpPr>
          <p:cNvPr id="42" name="Text 40"/>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21.8%</a:t>
            </a:r>
            <a:endParaRPr lang="en-US" sz="1300" dirty="0"/>
          </a:p>
        </p:txBody>
      </p:sp>
      <p:sp>
        <p:nvSpPr>
          <p:cNvPr id="43" name="Text 41"/>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4" name="Shape 42"/>
          <p:cNvSpPr/>
          <p:nvPr/>
        </p:nvSpPr>
        <p:spPr>
          <a:xfrm>
            <a:off x="2971800" y="4499924"/>
            <a:ext cx="1381811" cy="126940"/>
          </a:xfrm>
          <a:prstGeom prst="rect">
            <a:avLst/>
          </a:prstGeom>
          <a:solidFill>
            <a:srgbClr val="C2352F"/>
          </a:solidFill>
          <a:ln/>
        </p:spPr>
      </p:sp>
      <p:sp>
        <p:nvSpPr>
          <p:cNvPr id="45" name="Text 43"/>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21.5%</a:t>
            </a:r>
            <a:endParaRPr lang="en-US" sz="1300" dirty="0"/>
          </a:p>
        </p:txBody>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7" name="Shape 45"/>
          <p:cNvSpPr/>
          <p:nvPr/>
        </p:nvSpPr>
        <p:spPr>
          <a:xfrm>
            <a:off x="2971800" y="4753804"/>
            <a:ext cx="1353607" cy="126940"/>
          </a:xfrm>
          <a:prstGeom prst="rect">
            <a:avLst/>
          </a:prstGeom>
          <a:solidFill>
            <a:srgbClr val="C2352F"/>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20.2%</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0" name="Shape 48"/>
          <p:cNvSpPr/>
          <p:nvPr/>
        </p:nvSpPr>
        <p:spPr>
          <a:xfrm>
            <a:off x="2971800" y="5007685"/>
            <a:ext cx="133739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19.4%</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3" name="Shape 51"/>
          <p:cNvSpPr/>
          <p:nvPr/>
        </p:nvSpPr>
        <p:spPr>
          <a:xfrm>
            <a:off x="2971800" y="5261565"/>
            <a:ext cx="1335138"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6" name="Shape 54"/>
          <p:cNvSpPr/>
          <p:nvPr/>
        </p:nvSpPr>
        <p:spPr>
          <a:xfrm>
            <a:off x="2971800" y="5515446"/>
            <a:ext cx="1326983"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18.9%</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9" name="Shape 57"/>
          <p:cNvSpPr/>
          <p:nvPr/>
        </p:nvSpPr>
        <p:spPr>
          <a:xfrm>
            <a:off x="8522208" y="1453358"/>
            <a:ext cx="1310033"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2" name="Shape 60"/>
          <p:cNvSpPr/>
          <p:nvPr/>
        </p:nvSpPr>
        <p:spPr>
          <a:xfrm>
            <a:off x="8522208" y="1707239"/>
            <a:ext cx="1267031"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5" name="Shape 63"/>
          <p:cNvSpPr/>
          <p:nvPr/>
        </p:nvSpPr>
        <p:spPr>
          <a:xfrm>
            <a:off x="8522208" y="1961119"/>
            <a:ext cx="1258375"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15.6%</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8" name="Shape 66"/>
          <p:cNvSpPr/>
          <p:nvPr/>
        </p:nvSpPr>
        <p:spPr>
          <a:xfrm>
            <a:off x="8522208" y="2215000"/>
            <a:ext cx="1181215"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1" name="Shape 69"/>
          <p:cNvSpPr/>
          <p:nvPr/>
        </p:nvSpPr>
        <p:spPr>
          <a:xfrm>
            <a:off x="8522208" y="2468880"/>
            <a:ext cx="1179871"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4" name="Shape 72"/>
          <p:cNvSpPr/>
          <p:nvPr/>
        </p:nvSpPr>
        <p:spPr>
          <a:xfrm>
            <a:off x="8522208" y="2722760"/>
            <a:ext cx="1097676"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77" name="Shape 75"/>
          <p:cNvSpPr/>
          <p:nvPr/>
        </p:nvSpPr>
        <p:spPr>
          <a:xfrm>
            <a:off x="8522208" y="2976641"/>
            <a:ext cx="1041650"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0" name="Shape 78"/>
          <p:cNvSpPr/>
          <p:nvPr/>
        </p:nvSpPr>
        <p:spPr>
          <a:xfrm>
            <a:off x="8522208" y="3230521"/>
            <a:ext cx="1034935"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3" name="Shape 81"/>
          <p:cNvSpPr/>
          <p:nvPr/>
        </p:nvSpPr>
        <p:spPr>
          <a:xfrm>
            <a:off x="8522208" y="3484402"/>
            <a:ext cx="1012595"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6" name="Shape 84"/>
          <p:cNvSpPr/>
          <p:nvPr/>
        </p:nvSpPr>
        <p:spPr>
          <a:xfrm>
            <a:off x="8522208" y="3738282"/>
            <a:ext cx="1008325"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68848"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2" name="Shape 90"/>
          <p:cNvSpPr/>
          <p:nvPr/>
        </p:nvSpPr>
        <p:spPr>
          <a:xfrm>
            <a:off x="8522208" y="4246043"/>
            <a:ext cx="802558"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5" name="Shape 93"/>
          <p:cNvSpPr/>
          <p:nvPr/>
        </p:nvSpPr>
        <p:spPr>
          <a:xfrm>
            <a:off x="8522208" y="4499924"/>
            <a:ext cx="647235"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636072"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1" name="Shape 99"/>
          <p:cNvSpPr/>
          <p:nvPr/>
        </p:nvSpPr>
        <p:spPr>
          <a:xfrm>
            <a:off x="8522208" y="5007685"/>
            <a:ext cx="53584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4" name="Shape 102"/>
          <p:cNvSpPr/>
          <p:nvPr/>
        </p:nvSpPr>
        <p:spPr>
          <a:xfrm>
            <a:off x="8522208" y="5261565"/>
            <a:ext cx="411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7" name="Shape 105"/>
          <p:cNvSpPr/>
          <p:nvPr/>
        </p:nvSpPr>
        <p:spPr>
          <a:xfrm>
            <a:off x="8522208" y="5515446"/>
            <a:ext cx="143097"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-38.1%</a:t>
            </a:r>
            <a:endParaRPr lang="en-US" sz="1300" dirty="0"/>
          </a:p>
        </p:txBody>
      </p:sp>
      <p:sp>
        <p:nvSpPr>
          <p:cNvPr id="109" name="Shape 107"/>
          <p:cNvSpPr/>
          <p:nvPr/>
        </p:nvSpPr>
        <p:spPr>
          <a:xfrm>
            <a:off x="4352590" y="1389888"/>
            <a:ext cx="14630" cy="4315968"/>
          </a:xfrm>
          <a:prstGeom prst="rect">
            <a:avLst/>
          </a:prstGeom>
          <a:solidFill>
            <a:srgbClr val="0B2C4A"/>
          </a:solidFill>
          <a:ln/>
        </p:spPr>
      </p:sp>
      <p:sp>
        <p:nvSpPr>
          <p:cNvPr id="110" name="Shape 108"/>
          <p:cNvSpPr/>
          <p:nvPr/>
        </p:nvSpPr>
        <p:spPr>
          <a:xfrm>
            <a:off x="990299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of 33 stores at or above the 21.8% group, led by HONDA HENDERSON at 43.0%. GMC PRESCOTT is lowest at -38.1%.</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Service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+2.9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+33.5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5302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8" name="Shape 16"/>
          <p:cNvSpPr/>
          <p:nvPr/>
        </p:nvSpPr>
        <p:spPr>
          <a:xfrm>
            <a:off x="3813048" y="2369673"/>
            <a:ext cx="49343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33708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813048" y="2830100"/>
            <a:ext cx="29344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3813048" y="3060314"/>
            <a:ext cx="20544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0" name="Shape 28"/>
          <p:cNvSpPr/>
          <p:nvPr/>
        </p:nvSpPr>
        <p:spPr>
          <a:xfrm>
            <a:off x="3813048" y="3290528"/>
            <a:ext cx="194241"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3" name="Shape 31"/>
          <p:cNvSpPr/>
          <p:nvPr/>
        </p:nvSpPr>
        <p:spPr>
          <a:xfrm>
            <a:off x="3813048" y="3520741"/>
            <a:ext cx="17902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6" name="Shape 34"/>
          <p:cNvSpPr/>
          <p:nvPr/>
        </p:nvSpPr>
        <p:spPr>
          <a:xfrm>
            <a:off x="3813048" y="3750955"/>
            <a:ext cx="17415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+7.1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9" name="Shape 37"/>
          <p:cNvSpPr/>
          <p:nvPr/>
        </p:nvSpPr>
        <p:spPr>
          <a:xfrm>
            <a:off x="3813048" y="3981169"/>
            <a:ext cx="15534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2" name="Shape 40"/>
          <p:cNvSpPr/>
          <p:nvPr/>
        </p:nvSpPr>
        <p:spPr>
          <a:xfrm>
            <a:off x="3813048" y="4211382"/>
            <a:ext cx="15238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5" name="Shape 43"/>
          <p:cNvSpPr/>
          <p:nvPr/>
        </p:nvSpPr>
        <p:spPr>
          <a:xfrm>
            <a:off x="3813048" y="4441596"/>
            <a:ext cx="14750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1829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1" name="Shape 49"/>
          <p:cNvSpPr/>
          <p:nvPr/>
        </p:nvSpPr>
        <p:spPr>
          <a:xfrm>
            <a:off x="3813048" y="4902023"/>
            <a:ext cx="11483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11105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7" name="Shape 55"/>
          <p:cNvSpPr/>
          <p:nvPr/>
        </p:nvSpPr>
        <p:spPr>
          <a:xfrm>
            <a:off x="3813048" y="5362450"/>
            <a:ext cx="10134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0" name="Shape 58"/>
          <p:cNvSpPr/>
          <p:nvPr/>
        </p:nvSpPr>
        <p:spPr>
          <a:xfrm>
            <a:off x="3813048" y="5592664"/>
            <a:ext cx="100776"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9554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6" name="Shape 64"/>
          <p:cNvSpPr/>
          <p:nvPr/>
        </p:nvSpPr>
        <p:spPr>
          <a:xfrm>
            <a:off x="9363456" y="2139459"/>
            <a:ext cx="9219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9" name="Shape 67"/>
          <p:cNvSpPr/>
          <p:nvPr/>
        </p:nvSpPr>
        <p:spPr>
          <a:xfrm>
            <a:off x="9363456" y="2369673"/>
            <a:ext cx="5821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2" name="Shape 70"/>
          <p:cNvSpPr/>
          <p:nvPr/>
        </p:nvSpPr>
        <p:spPr>
          <a:xfrm>
            <a:off x="9363456" y="2599887"/>
            <a:ext cx="55239"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9363456" y="2830100"/>
            <a:ext cx="2593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8" name="Shape 76"/>
          <p:cNvSpPr/>
          <p:nvPr/>
        </p:nvSpPr>
        <p:spPr>
          <a:xfrm>
            <a:off x="9363456" y="3060314"/>
            <a:ext cx="12802"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1" name="Shape 79"/>
          <p:cNvSpPr/>
          <p:nvPr/>
        </p:nvSpPr>
        <p:spPr>
          <a:xfrm>
            <a:off x="9363456" y="3290528"/>
            <a:ext cx="12802"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4" name="Shape 82"/>
          <p:cNvSpPr/>
          <p:nvPr/>
        </p:nvSpPr>
        <p:spPr>
          <a:xfrm>
            <a:off x="9353116"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26494" y="3750955"/>
            <a:ext cx="3696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07443" y="3981169"/>
            <a:ext cx="56013"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286228" y="4211382"/>
            <a:ext cx="7722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9266152" y="4441596"/>
            <a:ext cx="97304"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236766" y="4671809"/>
            <a:ext cx="12669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2" name="Shape 100"/>
          <p:cNvSpPr/>
          <p:nvPr/>
        </p:nvSpPr>
        <p:spPr>
          <a:xfrm>
            <a:off x="9155753" y="4902023"/>
            <a:ext cx="20770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9094201" y="5132237"/>
            <a:ext cx="26925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704074" y="5362450"/>
            <a:ext cx="659382"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−26.8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raised service net to gross, led by HYUNDAI PRESCOTT at +33.5 pts to -19.2%. 9 declined; VW ST GEORGE fell most at −26.8 pts.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37.1%</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36.7%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−1.1%</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0.4 pts to 36.7%, behind 2025 in four of nine months. Gross grew 1.9% but department profit grew 0.8%.</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58.7%</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 name="Shape 8"/>
          <p:cNvSpPr/>
          <p:nvPr/>
        </p:nvSpPr>
        <p:spPr>
          <a:xfrm>
            <a:off x="2971800" y="1707239"/>
            <a:ext cx="154524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52655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511838"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48.5%</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9" name="Shape 17"/>
          <p:cNvSpPr/>
          <p:nvPr/>
        </p:nvSpPr>
        <p:spPr>
          <a:xfrm>
            <a:off x="2971800" y="2468880"/>
            <a:ext cx="1424288"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45.7%</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2" name="Shape 20"/>
          <p:cNvSpPr/>
          <p:nvPr/>
        </p:nvSpPr>
        <p:spPr>
          <a:xfrm>
            <a:off x="2971800" y="2722760"/>
            <a:ext cx="1419158"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25" name="Shape 23"/>
          <p:cNvSpPr/>
          <p:nvPr/>
        </p:nvSpPr>
        <p:spPr>
          <a:xfrm>
            <a:off x="2971800" y="2976641"/>
            <a:ext cx="1412784"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971800" y="3230521"/>
            <a:ext cx="1382775"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1" name="Shape 29"/>
          <p:cNvSpPr/>
          <p:nvPr/>
        </p:nvSpPr>
        <p:spPr>
          <a:xfrm>
            <a:off x="2971800" y="3484402"/>
            <a:ext cx="1376663"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44.2%</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4" name="Shape 32"/>
          <p:cNvSpPr/>
          <p:nvPr/>
        </p:nvSpPr>
        <p:spPr>
          <a:xfrm>
            <a:off x="2971800" y="3738282"/>
            <a:ext cx="1364265"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43.8%</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7" name="Shape 35"/>
          <p:cNvSpPr/>
          <p:nvPr/>
        </p:nvSpPr>
        <p:spPr>
          <a:xfrm>
            <a:off x="2971800" y="3992163"/>
            <a:ext cx="134005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43.0%</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0" name="Shape 38"/>
          <p:cNvSpPr/>
          <p:nvPr/>
        </p:nvSpPr>
        <p:spPr>
          <a:xfrm>
            <a:off x="2971800" y="4246043"/>
            <a:ext cx="1308048"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42.0%</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3" name="Shape 41"/>
          <p:cNvSpPr/>
          <p:nvPr/>
        </p:nvSpPr>
        <p:spPr>
          <a:xfrm>
            <a:off x="2971800" y="4499924"/>
            <a:ext cx="1236554"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39.7%</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6" name="Shape 44"/>
          <p:cNvSpPr/>
          <p:nvPr/>
        </p:nvSpPr>
        <p:spPr>
          <a:xfrm>
            <a:off x="2971800" y="4753804"/>
            <a:ext cx="1226075"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39.3%</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9" name="Shape 47"/>
          <p:cNvSpPr/>
          <p:nvPr/>
        </p:nvSpPr>
        <p:spPr>
          <a:xfrm>
            <a:off x="2971800" y="5007685"/>
            <a:ext cx="1167498"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37.5%</a:t>
            </a:r>
            <a:endParaRPr lang="en-US" sz="1300" dirty="0"/>
          </a:p>
        </p:txBody>
      </p:sp>
      <p:sp>
        <p:nvSpPr>
          <p:cNvPr id="51" name="Shape 49"/>
          <p:cNvSpPr/>
          <p:nvPr/>
        </p:nvSpPr>
        <p:spPr>
          <a:xfrm>
            <a:off x="585216" y="5193523"/>
            <a:ext cx="5413248" cy="244736"/>
          </a:xfrm>
          <a:prstGeom prst="rect">
            <a:avLst/>
          </a:prstGeom>
          <a:solidFill>
            <a:srgbClr val="EDF4FA"/>
          </a:solidFill>
          <a:ln/>
        </p:spPr>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3" name="Shape 51"/>
          <p:cNvSpPr/>
          <p:nvPr/>
        </p:nvSpPr>
        <p:spPr>
          <a:xfrm>
            <a:off x="2971800" y="5261565"/>
            <a:ext cx="1144882" cy="126940"/>
          </a:xfrm>
          <a:prstGeom prst="rect">
            <a:avLst/>
          </a:prstGeom>
          <a:solidFill>
            <a:srgbClr val="0B2C4A"/>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36.7%</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6" name="Shape 54"/>
          <p:cNvSpPr/>
          <p:nvPr/>
        </p:nvSpPr>
        <p:spPr>
          <a:xfrm>
            <a:off x="2971800" y="5515446"/>
            <a:ext cx="1123320"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9" name="Shape 57"/>
          <p:cNvSpPr/>
          <p:nvPr/>
        </p:nvSpPr>
        <p:spPr>
          <a:xfrm>
            <a:off x="8522208" y="1453358"/>
            <a:ext cx="1109250"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2" name="Shape 60"/>
          <p:cNvSpPr/>
          <p:nvPr/>
        </p:nvSpPr>
        <p:spPr>
          <a:xfrm>
            <a:off x="8522208" y="1707239"/>
            <a:ext cx="1075298"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34.5%</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5" name="Shape 63"/>
          <p:cNvSpPr/>
          <p:nvPr/>
        </p:nvSpPr>
        <p:spPr>
          <a:xfrm>
            <a:off x="8522208" y="1961119"/>
            <a:ext cx="102378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32.9%</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8" name="Shape 66"/>
          <p:cNvSpPr/>
          <p:nvPr/>
        </p:nvSpPr>
        <p:spPr>
          <a:xfrm>
            <a:off x="8522208" y="2215000"/>
            <a:ext cx="1017333"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32.6%</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973894"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31.3%</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4" name="Shape 72"/>
          <p:cNvSpPr/>
          <p:nvPr/>
        </p:nvSpPr>
        <p:spPr>
          <a:xfrm>
            <a:off x="8522208" y="2722760"/>
            <a:ext cx="96649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31.0%</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7" name="Shape 75"/>
          <p:cNvSpPr/>
          <p:nvPr/>
        </p:nvSpPr>
        <p:spPr>
          <a:xfrm>
            <a:off x="8522208" y="2976641"/>
            <a:ext cx="959312"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30.8%</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0" name="Shape 78"/>
          <p:cNvSpPr/>
          <p:nvPr/>
        </p:nvSpPr>
        <p:spPr>
          <a:xfrm>
            <a:off x="8522208" y="3230521"/>
            <a:ext cx="933483"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30.0%</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8522208" y="3484402"/>
            <a:ext cx="82987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26.6%</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86" name="Shape 84"/>
          <p:cNvSpPr/>
          <p:nvPr/>
        </p:nvSpPr>
        <p:spPr>
          <a:xfrm>
            <a:off x="8522208" y="3738282"/>
            <a:ext cx="800984"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25.7%</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9" name="Shape 87"/>
          <p:cNvSpPr/>
          <p:nvPr/>
        </p:nvSpPr>
        <p:spPr>
          <a:xfrm>
            <a:off x="8522208" y="3992163"/>
            <a:ext cx="787663"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2" name="Shape 90"/>
          <p:cNvSpPr/>
          <p:nvPr/>
        </p:nvSpPr>
        <p:spPr>
          <a:xfrm>
            <a:off x="8522208" y="4246043"/>
            <a:ext cx="785031"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5" name="Shape 93"/>
          <p:cNvSpPr/>
          <p:nvPr/>
        </p:nvSpPr>
        <p:spPr>
          <a:xfrm>
            <a:off x="8522208" y="4499924"/>
            <a:ext cx="74357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522208" y="4753804"/>
            <a:ext cx="735985"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01" name="Shape 99"/>
          <p:cNvSpPr/>
          <p:nvPr/>
        </p:nvSpPr>
        <p:spPr>
          <a:xfrm>
            <a:off x="8522208" y="5007685"/>
            <a:ext cx="557976"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4" name="Shape 102"/>
          <p:cNvSpPr/>
          <p:nvPr/>
        </p:nvSpPr>
        <p:spPr>
          <a:xfrm>
            <a:off x="8522208" y="5261565"/>
            <a:ext cx="49229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310481"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10.0%</a:t>
            </a:r>
            <a:endParaRPr lang="en-US" sz="1300" dirty="0"/>
          </a:p>
        </p:txBody>
      </p:sp>
      <p:sp>
        <p:nvSpPr>
          <p:cNvPr id="109" name="Shape 107"/>
          <p:cNvSpPr/>
          <p:nvPr/>
        </p:nvSpPr>
        <p:spPr>
          <a:xfrm>
            <a:off x="4109367" y="1389888"/>
            <a:ext cx="14630" cy="4315968"/>
          </a:xfrm>
          <a:prstGeom prst="rect">
            <a:avLst/>
          </a:prstGeom>
          <a:solidFill>
            <a:srgbClr val="0B2C4A"/>
          </a:solidFill>
          <a:ln/>
        </p:spPr>
      </p:sp>
      <p:sp>
        <p:nvSpPr>
          <p:cNvPr id="110" name="Shape 108"/>
          <p:cNvSpPr/>
          <p:nvPr/>
        </p:nvSpPr>
        <p:spPr>
          <a:xfrm>
            <a:off x="9659775"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15 of 33 stores at or above the 36.7% group, led by SUBARU ST GEORGE at 58.7%. HYUNDAI PRESCOTT is lowest at 10.0%.</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Net to Gross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−0.4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+14.2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5" name="Shape 13"/>
          <p:cNvSpPr/>
          <p:nvPr/>
        </p:nvSpPr>
        <p:spPr>
          <a:xfrm>
            <a:off x="3813048" y="2139459"/>
            <a:ext cx="75446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+13.1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8" name="Shape 16"/>
          <p:cNvSpPr/>
          <p:nvPr/>
        </p:nvSpPr>
        <p:spPr>
          <a:xfrm>
            <a:off x="3813048" y="2369673"/>
            <a:ext cx="613386"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1" name="Shape 19"/>
          <p:cNvSpPr/>
          <p:nvPr/>
        </p:nvSpPr>
        <p:spPr>
          <a:xfrm>
            <a:off x="3813048" y="2599887"/>
            <a:ext cx="436790"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4" name="Shape 22"/>
          <p:cNvSpPr/>
          <p:nvPr/>
        </p:nvSpPr>
        <p:spPr>
          <a:xfrm>
            <a:off x="3813048" y="2830100"/>
            <a:ext cx="40694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3813048" y="3060314"/>
            <a:ext cx="36543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0" name="Shape 28"/>
          <p:cNvSpPr/>
          <p:nvPr/>
        </p:nvSpPr>
        <p:spPr>
          <a:xfrm>
            <a:off x="3813048" y="3290528"/>
            <a:ext cx="364504"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3813048" y="3520741"/>
            <a:ext cx="34576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+6.0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3813048" y="3750955"/>
            <a:ext cx="2628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18709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8295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12794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3813048" y="4671809"/>
            <a:ext cx="11612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1" name="Shape 49"/>
          <p:cNvSpPr/>
          <p:nvPr/>
        </p:nvSpPr>
        <p:spPr>
          <a:xfrm>
            <a:off x="3813048" y="4902023"/>
            <a:ext cx="8578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4" name="Shape 52"/>
          <p:cNvSpPr/>
          <p:nvPr/>
        </p:nvSpPr>
        <p:spPr>
          <a:xfrm>
            <a:off x="3813048" y="5132237"/>
            <a:ext cx="7367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7" name="Shape 55"/>
          <p:cNvSpPr/>
          <p:nvPr/>
        </p:nvSpPr>
        <p:spPr>
          <a:xfrm>
            <a:off x="3811134" y="5362450"/>
            <a:ext cx="12802" cy="105898"/>
          </a:xfrm>
          <a:prstGeom prst="rect">
            <a:avLst/>
          </a:prstGeom>
          <a:solidFill>
            <a:srgbClr val="C2352F"/>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60" name="Shape 58"/>
          <p:cNvSpPr/>
          <p:nvPr/>
        </p:nvSpPr>
        <p:spPr>
          <a:xfrm>
            <a:off x="3810212" y="5592664"/>
            <a:ext cx="12802" cy="105898"/>
          </a:xfrm>
          <a:prstGeom prst="rect">
            <a:avLst/>
          </a:prstGeom>
          <a:solidFill>
            <a:srgbClr val="C2352F"/>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03826" y="1909246"/>
            <a:ext cx="59630"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284240" y="2139459"/>
            <a:ext cx="79216"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9201245" y="2369673"/>
            <a:ext cx="162211"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2" name="Shape 70"/>
          <p:cNvSpPr/>
          <p:nvPr/>
        </p:nvSpPr>
        <p:spPr>
          <a:xfrm>
            <a:off x="9167098" y="2599887"/>
            <a:ext cx="196358"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5" name="Shape 73"/>
          <p:cNvSpPr/>
          <p:nvPr/>
        </p:nvSpPr>
        <p:spPr>
          <a:xfrm>
            <a:off x="9121965" y="2830100"/>
            <a:ext cx="241491"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8" name="Shape 76"/>
          <p:cNvSpPr/>
          <p:nvPr/>
        </p:nvSpPr>
        <p:spPr>
          <a:xfrm>
            <a:off x="9120079" y="3060314"/>
            <a:ext cx="24337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088637" y="3290528"/>
            <a:ext cx="274819"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4" name="Shape 82"/>
          <p:cNvSpPr/>
          <p:nvPr/>
        </p:nvSpPr>
        <p:spPr>
          <a:xfrm>
            <a:off x="9047587" y="3520741"/>
            <a:ext cx="31586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7" name="Shape 85"/>
          <p:cNvSpPr/>
          <p:nvPr/>
        </p:nvSpPr>
        <p:spPr>
          <a:xfrm>
            <a:off x="9044914" y="3750955"/>
            <a:ext cx="31854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027348" y="3981169"/>
            <a:ext cx="336108"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3" name="Shape 91"/>
          <p:cNvSpPr/>
          <p:nvPr/>
        </p:nvSpPr>
        <p:spPr>
          <a:xfrm>
            <a:off x="8968811" y="4211382"/>
            <a:ext cx="394645"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6" name="Shape 94"/>
          <p:cNvSpPr/>
          <p:nvPr/>
        </p:nvSpPr>
        <p:spPr>
          <a:xfrm>
            <a:off x="8882968" y="4441596"/>
            <a:ext cx="480488"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9" name="Shape 97"/>
          <p:cNvSpPr/>
          <p:nvPr/>
        </p:nvSpPr>
        <p:spPr>
          <a:xfrm>
            <a:off x="8791354" y="4671809"/>
            <a:ext cx="5721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717129" y="4902023"/>
            <a:ext cx="6463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681163" y="5132237"/>
            <a:ext cx="68229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639635" y="5362450"/>
            <a:ext cx="72382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15 of 33 stores raised parts net to gross, led by LINCOLN at +14.2 pts to 17.9%. 18 declined; HYUNDAI PRESCOTT fell most at −12.5 pts.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The CP Engine</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ROs   ·   Hours per RO   ·   ELR   ·   $ per RO   ·   Margin</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91440"/>
          </a:xfrm>
          <a:prstGeom prst="rect">
            <a:avLst/>
          </a:prstGeom>
          <a:solidFill>
            <a:srgbClr val="2587C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D9D9D9"/>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279,300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279,756</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+0.2%</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27,329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31,247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30,786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32,541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33,097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31,996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29,989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456 to 279,756, ahead of 2025 in five of nine months. Volume is flat, so every gain here comes from selling more per RO.</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+0.2%</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 name="Shape 10"/>
          <p:cNvSpPr/>
          <p:nvPr/>
        </p:nvSpPr>
        <p:spPr>
          <a:xfrm>
            <a:off x="3813048" y="1909246"/>
            <a:ext cx="761799"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70685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+12.7%</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8" name="Shape 16"/>
          <p:cNvSpPr/>
          <p:nvPr/>
        </p:nvSpPr>
        <p:spPr>
          <a:xfrm>
            <a:off x="3813048" y="2369673"/>
            <a:ext cx="58974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5655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50530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22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+7.7%</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0" name="Shape 28"/>
          <p:cNvSpPr/>
          <p:nvPr/>
        </p:nvSpPr>
        <p:spPr>
          <a:xfrm>
            <a:off x="3813048" y="3290528"/>
            <a:ext cx="343622"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3813048" y="3520741"/>
            <a:ext cx="310441"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20454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9" name="Shape 37"/>
          <p:cNvSpPr/>
          <p:nvPr/>
        </p:nvSpPr>
        <p:spPr>
          <a:xfrm>
            <a:off x="3813048" y="3981169"/>
            <a:ext cx="19401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2" name="Shape 40"/>
          <p:cNvSpPr/>
          <p:nvPr/>
        </p:nvSpPr>
        <p:spPr>
          <a:xfrm>
            <a:off x="3813048" y="4211382"/>
            <a:ext cx="19245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18191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4680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1" name="Shape 49"/>
          <p:cNvSpPr/>
          <p:nvPr/>
        </p:nvSpPr>
        <p:spPr>
          <a:xfrm>
            <a:off x="3813048" y="4902023"/>
            <a:ext cx="144079"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4" name="Shape 52"/>
          <p:cNvSpPr/>
          <p:nvPr/>
        </p:nvSpPr>
        <p:spPr>
          <a:xfrm>
            <a:off x="3813048" y="5132237"/>
            <a:ext cx="13288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94634"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0" name="Shape 58"/>
          <p:cNvSpPr/>
          <p:nvPr/>
        </p:nvSpPr>
        <p:spPr>
          <a:xfrm>
            <a:off x="3813048" y="5592664"/>
            <a:ext cx="8181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63456" y="1909246"/>
            <a:ext cx="7648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2" name="Shape 70"/>
          <p:cNvSpPr/>
          <p:nvPr/>
        </p:nvSpPr>
        <p:spPr>
          <a:xfrm>
            <a:off x="9359121" y="2599887"/>
            <a:ext cx="12802"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5" name="Shape 73"/>
          <p:cNvSpPr/>
          <p:nvPr/>
        </p:nvSpPr>
        <p:spPr>
          <a:xfrm>
            <a:off x="9330561" y="2830100"/>
            <a:ext cx="32895"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9322226" y="3060314"/>
            <a:ext cx="4123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−0.7%</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1" name="Shape 79"/>
          <p:cNvSpPr/>
          <p:nvPr/>
        </p:nvSpPr>
        <p:spPr>
          <a:xfrm>
            <a:off x="9316788" y="3290528"/>
            <a:ext cx="46668"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147402" y="3520741"/>
            <a:ext cx="216054"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7" name="Shape 85"/>
          <p:cNvSpPr/>
          <p:nvPr/>
        </p:nvSpPr>
        <p:spPr>
          <a:xfrm>
            <a:off x="9103983" y="3750955"/>
            <a:ext cx="259473"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0" name="Shape 88"/>
          <p:cNvSpPr/>
          <p:nvPr/>
        </p:nvSpPr>
        <p:spPr>
          <a:xfrm>
            <a:off x="9089171" y="3981169"/>
            <a:ext cx="274285"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039358" y="4211382"/>
            <a:ext cx="32409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022391" y="4441596"/>
            <a:ext cx="341065"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8802051" y="4671809"/>
            <a:ext cx="56140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774771" y="4902023"/>
            <a:ext cx="588685"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−10.6%</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722019" y="5132237"/>
            <a:ext cx="64143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grew CP RO count, led by KIA LV at +13.7% to 8,133. 13 declined; VW ST GEORGE fell most at −14.7%.</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+0.07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+3.6%</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0.07 to 1.87, ahead of 2025 in all nine months. Each 0.1 hour per RO is worth $4,543,691 of labor at the 2026 ELR.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30041"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900016"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899733"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9" name="Shape 17"/>
          <p:cNvSpPr/>
          <p:nvPr/>
        </p:nvSpPr>
        <p:spPr>
          <a:xfrm>
            <a:off x="603504" y="2982351"/>
            <a:ext cx="3566160" cy="297532"/>
          </a:xfrm>
          <a:prstGeom prst="rect">
            <a:avLst/>
          </a:prstGeom>
          <a:solidFill>
            <a:srgbClr val="EDF4FA"/>
          </a:solidFill>
          <a:ln/>
        </p:spPr>
      </p:sp>
      <p:sp>
        <p:nvSpPr>
          <p:cNvPr id="20" name="Text 18"/>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1" name="Shape 19"/>
          <p:cNvSpPr/>
          <p:nvPr/>
        </p:nvSpPr>
        <p:spPr>
          <a:xfrm>
            <a:off x="2267712" y="3059020"/>
            <a:ext cx="749289" cy="153338"/>
          </a:xfrm>
          <a:prstGeom prst="rect">
            <a:avLst/>
          </a:prstGeom>
          <a:solidFill>
            <a:srgbClr val="0B2C4A"/>
          </a:solidFill>
          <a:ln/>
        </p:spPr>
      </p:sp>
      <p:sp>
        <p:nvSpPr>
          <p:cNvPr id="22" name="Text 20"/>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2.90</a:t>
            </a:r>
            <a:endParaRPr lang="en-US" sz="1300" dirty="0"/>
          </a:p>
        </p:txBody>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 name="Shape 22"/>
          <p:cNvSpPr/>
          <p:nvPr/>
        </p:nvSpPr>
        <p:spPr>
          <a:xfrm>
            <a:off x="2267712" y="3365695"/>
            <a:ext cx="705361" cy="153338"/>
          </a:xfrm>
          <a:prstGeom prst="rect">
            <a:avLst/>
          </a:prstGeom>
          <a:solidFill>
            <a:srgbClr val="C2352F"/>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7" name="Shape 25"/>
          <p:cNvSpPr/>
          <p:nvPr/>
        </p:nvSpPr>
        <p:spPr>
          <a:xfrm>
            <a:off x="2267712" y="3672371"/>
            <a:ext cx="704590"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641802"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2.48</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3" name="Shape 31"/>
          <p:cNvSpPr/>
          <p:nvPr/>
        </p:nvSpPr>
        <p:spPr>
          <a:xfrm>
            <a:off x="2267712" y="4285722"/>
            <a:ext cx="58844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2.28</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538154"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2.08</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2.90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1.75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5" name="Shape 43"/>
          <p:cNvSpPr/>
          <p:nvPr/>
        </p:nvSpPr>
        <p:spPr>
          <a:xfrm>
            <a:off x="6291072" y="2138993"/>
            <a:ext cx="579287"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6291072" y="2445668"/>
            <a:ext cx="57919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1" name="Shape 49"/>
          <p:cNvSpPr/>
          <p:nvPr/>
        </p:nvSpPr>
        <p:spPr>
          <a:xfrm>
            <a:off x="6291072" y="2752344"/>
            <a:ext cx="554590"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54" name="Shape 52"/>
          <p:cNvSpPr/>
          <p:nvPr/>
        </p:nvSpPr>
        <p:spPr>
          <a:xfrm>
            <a:off x="6291072" y="3059020"/>
            <a:ext cx="5316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2.11</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7" name="Shape 55"/>
          <p:cNvSpPr/>
          <p:nvPr/>
        </p:nvSpPr>
        <p:spPr>
          <a:xfrm>
            <a:off x="6291072" y="3365695"/>
            <a:ext cx="508980"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2.02</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0" name="Shape 58"/>
          <p:cNvSpPr/>
          <p:nvPr/>
        </p:nvSpPr>
        <p:spPr>
          <a:xfrm>
            <a:off x="6291072" y="3672371"/>
            <a:ext cx="505731"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3" name="Shape 61"/>
          <p:cNvSpPr/>
          <p:nvPr/>
        </p:nvSpPr>
        <p:spPr>
          <a:xfrm>
            <a:off x="6291072" y="3979047"/>
            <a:ext cx="495913"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1.97</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6" name="Shape 64"/>
          <p:cNvSpPr/>
          <p:nvPr/>
        </p:nvSpPr>
        <p:spPr>
          <a:xfrm>
            <a:off x="6291072" y="4285722"/>
            <a:ext cx="4930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1.96</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6291072" y="4592398"/>
            <a:ext cx="490542"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1.95</a:t>
            </a:r>
            <a:endParaRPr lang="en-US" sz="1300" dirty="0"/>
          </a:p>
        </p:txBody>
      </p:sp>
      <p:sp>
        <p:nvSpPr>
          <p:cNvPr id="71" name="Shape 69"/>
          <p:cNvSpPr/>
          <p:nvPr/>
        </p:nvSpPr>
        <p:spPr>
          <a:xfrm>
            <a:off x="4261104" y="4822405"/>
            <a:ext cx="3529584" cy="297532"/>
          </a:xfrm>
          <a:prstGeom prst="rect">
            <a:avLst/>
          </a:prstGeom>
          <a:solidFill>
            <a:srgbClr val="EDF4FA"/>
          </a:solidFill>
          <a:ln/>
        </p:spPr>
      </p:sp>
      <p:sp>
        <p:nvSpPr>
          <p:cNvPr id="72" name="Text 70"/>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3" name="Shape 71"/>
          <p:cNvSpPr/>
          <p:nvPr/>
        </p:nvSpPr>
        <p:spPr>
          <a:xfrm>
            <a:off x="6291072" y="4899074"/>
            <a:ext cx="439804" cy="153338"/>
          </a:xfrm>
          <a:prstGeom prst="rect">
            <a:avLst/>
          </a:prstGeom>
          <a:solidFill>
            <a:srgbClr val="0B2C4A"/>
          </a:solidFill>
          <a:ln/>
        </p:spPr>
      </p:sp>
      <p:sp>
        <p:nvSpPr>
          <p:cNvPr id="74" name="Text 72"/>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1.75</a:t>
            </a:r>
            <a:endParaRPr lang="en-US" sz="1300" dirty="0"/>
          </a:p>
        </p:txBody>
      </p:sp>
      <p:sp>
        <p:nvSpPr>
          <p:cNvPr id="75" name="Text 73"/>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6" name="Shape 74"/>
          <p:cNvSpPr/>
          <p:nvPr/>
        </p:nvSpPr>
        <p:spPr>
          <a:xfrm>
            <a:off x="6291072" y="5205750"/>
            <a:ext cx="438976" cy="153338"/>
          </a:xfrm>
          <a:prstGeom prst="rect">
            <a:avLst/>
          </a:prstGeom>
          <a:solidFill>
            <a:srgbClr val="C2352F"/>
          </a:solidFill>
          <a:ln/>
        </p:spPr>
      </p:sp>
      <p:sp>
        <p:nvSpPr>
          <p:cNvPr id="77" name="Text 75"/>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a:t>
            </a:r>
            <a:endParaRPr lang="en-US" sz="1300" dirty="0"/>
          </a:p>
        </p:txBody>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9" name="Shape 77"/>
          <p:cNvSpPr/>
          <p:nvPr/>
        </p:nvSpPr>
        <p:spPr>
          <a:xfrm>
            <a:off x="6291072" y="5512425"/>
            <a:ext cx="430143" cy="153338"/>
          </a:xfrm>
          <a:prstGeom prst="rect">
            <a:avLst/>
          </a:prstGeom>
          <a:solidFill>
            <a:srgbClr val="C2352F"/>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Shape 80"/>
          <p:cNvSpPr/>
          <p:nvPr/>
        </p:nvSpPr>
        <p:spPr>
          <a:xfrm>
            <a:off x="9893808" y="1832317"/>
            <a:ext cx="419539"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5" name="Shape 83"/>
          <p:cNvSpPr/>
          <p:nvPr/>
        </p:nvSpPr>
        <p:spPr>
          <a:xfrm>
            <a:off x="9893808" y="2138993"/>
            <a:ext cx="41203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1.64</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8" name="Shape 86"/>
          <p:cNvSpPr/>
          <p:nvPr/>
        </p:nvSpPr>
        <p:spPr>
          <a:xfrm>
            <a:off x="9893808" y="2445668"/>
            <a:ext cx="402432"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95193"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1.57</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4" name="Shape 92"/>
          <p:cNvSpPr/>
          <p:nvPr/>
        </p:nvSpPr>
        <p:spPr>
          <a:xfrm>
            <a:off x="9893808" y="3059020"/>
            <a:ext cx="373339"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70773"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0" name="Shape 98"/>
          <p:cNvSpPr/>
          <p:nvPr/>
        </p:nvSpPr>
        <p:spPr>
          <a:xfrm>
            <a:off x="9893808" y="3672371"/>
            <a:ext cx="366723"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1.46</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3" name="Shape 101"/>
          <p:cNvSpPr/>
          <p:nvPr/>
        </p:nvSpPr>
        <p:spPr>
          <a:xfrm>
            <a:off x="9893808" y="3979047"/>
            <a:ext cx="359896"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6" name="Shape 104"/>
          <p:cNvSpPr/>
          <p:nvPr/>
        </p:nvSpPr>
        <p:spPr>
          <a:xfrm>
            <a:off x="9893808" y="4285722"/>
            <a:ext cx="357762"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5402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2" name="Shape 110"/>
          <p:cNvSpPr/>
          <p:nvPr/>
        </p:nvSpPr>
        <p:spPr>
          <a:xfrm>
            <a:off x="9893808" y="4899074"/>
            <a:ext cx="348438"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324886"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2.90 and 10 of 24 others beat 1.75. VW HENDERSON leads non-luxury at 2.49.</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+0.07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1548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 name="Shape 13"/>
          <p:cNvSpPr/>
          <p:nvPr/>
        </p:nvSpPr>
        <p:spPr>
          <a:xfrm>
            <a:off x="3813048" y="2139459"/>
            <a:ext cx="59788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3813048" y="2369673"/>
            <a:ext cx="45112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1" name="Shape 19"/>
          <p:cNvSpPr/>
          <p:nvPr/>
        </p:nvSpPr>
        <p:spPr>
          <a:xfrm>
            <a:off x="3813048" y="2599887"/>
            <a:ext cx="44229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3718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435057"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0" name="Shape 28"/>
          <p:cNvSpPr/>
          <p:nvPr/>
        </p:nvSpPr>
        <p:spPr>
          <a:xfrm>
            <a:off x="3813048" y="3290528"/>
            <a:ext cx="3892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3" name="Shape 31"/>
          <p:cNvSpPr/>
          <p:nvPr/>
        </p:nvSpPr>
        <p:spPr>
          <a:xfrm>
            <a:off x="3813048" y="3520741"/>
            <a:ext cx="38305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36823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+0.25</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813048" y="3981169"/>
            <a:ext cx="34283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+0.23</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2" name="Shape 40"/>
          <p:cNvSpPr/>
          <p:nvPr/>
        </p:nvSpPr>
        <p:spPr>
          <a:xfrm>
            <a:off x="3813048" y="4211382"/>
            <a:ext cx="29314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+0.20</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2764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3813048" y="4671809"/>
            <a:ext cx="23481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1" name="Shape 49"/>
          <p:cNvSpPr/>
          <p:nvPr/>
        </p:nvSpPr>
        <p:spPr>
          <a:xfrm>
            <a:off x="3813048" y="4902023"/>
            <a:ext cx="192190"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4" name="Shape 52"/>
          <p:cNvSpPr/>
          <p:nvPr/>
        </p:nvSpPr>
        <p:spPr>
          <a:xfrm>
            <a:off x="3813048" y="5132237"/>
            <a:ext cx="16569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7" name="Shape 55"/>
          <p:cNvSpPr/>
          <p:nvPr/>
        </p:nvSpPr>
        <p:spPr>
          <a:xfrm>
            <a:off x="3813048" y="5362450"/>
            <a:ext cx="15498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0" name="Shape 58"/>
          <p:cNvSpPr/>
          <p:nvPr/>
        </p:nvSpPr>
        <p:spPr>
          <a:xfrm>
            <a:off x="3813048" y="5592664"/>
            <a:ext cx="1510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4052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13610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9" name="Shape 67"/>
          <p:cNvSpPr/>
          <p:nvPr/>
        </p:nvSpPr>
        <p:spPr>
          <a:xfrm>
            <a:off x="9363456" y="2369673"/>
            <a:ext cx="12973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2" name="Shape 70"/>
          <p:cNvSpPr/>
          <p:nvPr/>
        </p:nvSpPr>
        <p:spPr>
          <a:xfrm>
            <a:off x="9363456" y="2599887"/>
            <a:ext cx="121354"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9363456" y="2830100"/>
            <a:ext cx="11830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8" name="Shape 76"/>
          <p:cNvSpPr/>
          <p:nvPr/>
        </p:nvSpPr>
        <p:spPr>
          <a:xfrm>
            <a:off x="9363456" y="3060314"/>
            <a:ext cx="67607"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1" name="Shape 79"/>
          <p:cNvSpPr/>
          <p:nvPr/>
        </p:nvSpPr>
        <p:spPr>
          <a:xfrm>
            <a:off x="9363456" y="3290528"/>
            <a:ext cx="6165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63456" y="3520741"/>
            <a:ext cx="1280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7" name="Shape 85"/>
          <p:cNvSpPr/>
          <p:nvPr/>
        </p:nvSpPr>
        <p:spPr>
          <a:xfrm>
            <a:off x="9363456" y="3750955"/>
            <a:ext cx="12802"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+0.00</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0" name="Shape 88"/>
          <p:cNvSpPr/>
          <p:nvPr/>
        </p:nvSpPr>
        <p:spPr>
          <a:xfrm>
            <a:off x="9322637" y="3981169"/>
            <a:ext cx="40819"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3" name="Shape 91"/>
          <p:cNvSpPr/>
          <p:nvPr/>
        </p:nvSpPr>
        <p:spPr>
          <a:xfrm>
            <a:off x="9317113" y="4211382"/>
            <a:ext cx="4634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6" name="Shape 94"/>
          <p:cNvSpPr/>
          <p:nvPr/>
        </p:nvSpPr>
        <p:spPr>
          <a:xfrm>
            <a:off x="9260707" y="4441596"/>
            <a:ext cx="10274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136828" y="4671809"/>
            <a:ext cx="226628"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999228" y="4902023"/>
            <a:ext cx="364228"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5" name="Shape 103"/>
          <p:cNvSpPr/>
          <p:nvPr/>
        </p:nvSpPr>
        <p:spPr>
          <a:xfrm>
            <a:off x="8913803" y="5132237"/>
            <a:ext cx="44965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−0.55</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sold more hours per RO, led by SUBARU ST GEORGE at +0.55 to 2.30. 7 declined; LR RENO fell most at −0.55.</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$158.86</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$157.20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$164.83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$163.61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$3.56 to $162.42, ahead of 2025 in all nine months.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$266.32</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267712" y="2138993"/>
            <a:ext cx="909937"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$235.07</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7949"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$234.55</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7" name="Shape 15"/>
          <p:cNvSpPr/>
          <p:nvPr/>
        </p:nvSpPr>
        <p:spPr>
          <a:xfrm>
            <a:off x="2267712" y="2752344"/>
            <a:ext cx="905009"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$233.79</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0" name="Shape 18"/>
          <p:cNvSpPr/>
          <p:nvPr/>
        </p:nvSpPr>
        <p:spPr>
          <a:xfrm>
            <a:off x="2267712" y="3059020"/>
            <a:ext cx="903719"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$233.46</a:t>
            </a:r>
            <a:endParaRPr lang="en-US" sz="1300" dirty="0"/>
          </a:p>
        </p:txBody>
      </p:sp>
      <p:sp>
        <p:nvSpPr>
          <p:cNvPr id="22" name="Text 20"/>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 name="Shape 21"/>
          <p:cNvSpPr/>
          <p:nvPr/>
        </p:nvSpPr>
        <p:spPr>
          <a:xfrm>
            <a:off x="2267712" y="3365695"/>
            <a:ext cx="859813" cy="153338"/>
          </a:xfrm>
          <a:prstGeom prst="rect">
            <a:avLst/>
          </a:prstGeom>
          <a:solidFill>
            <a:srgbClr val="12A566"/>
          </a:solidFill>
          <a:ln/>
        </p:spPr>
      </p:sp>
      <p:sp>
        <p:nvSpPr>
          <p:cNvPr id="24" name="Text 22"/>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$222.12</a:t>
            </a:r>
            <a:endParaRPr lang="en-US" sz="1300" dirty="0"/>
          </a:p>
        </p:txBody>
      </p:sp>
      <p:sp>
        <p:nvSpPr>
          <p:cNvPr id="25" name="Shape 23"/>
          <p:cNvSpPr/>
          <p:nvPr/>
        </p:nvSpPr>
        <p:spPr>
          <a:xfrm>
            <a:off x="603504" y="3595702"/>
            <a:ext cx="3566160" cy="297532"/>
          </a:xfrm>
          <a:prstGeom prst="rect">
            <a:avLst/>
          </a:prstGeom>
          <a:solidFill>
            <a:srgbClr val="EDF4FA"/>
          </a:solidFill>
          <a:ln/>
        </p:spPr>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7" name="Shape 25"/>
          <p:cNvSpPr/>
          <p:nvPr/>
        </p:nvSpPr>
        <p:spPr>
          <a:xfrm>
            <a:off x="2267712" y="3672371"/>
            <a:ext cx="843067" cy="153338"/>
          </a:xfrm>
          <a:prstGeom prst="rect">
            <a:avLst/>
          </a:prstGeom>
          <a:solidFill>
            <a:srgbClr val="0B2C4A"/>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$217.79</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2267712" y="3979047"/>
            <a:ext cx="748218"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$193.29</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65811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$170.01</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2267712" y="4592398"/>
            <a:ext cx="648916"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$167.64</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$217.79  </a:t>
            </a:r>
            <a:pPr indent="0" marL="0">
              <a:buNone/>
            </a:pPr>
            <a:r>
              <a:rPr lang="en-US" sz="1400" b="1" dirty="0">
                <a:solidFill>
                  <a:srgbClr val="0B7A4A"/>
                </a:solidFill>
                <a:latin typeface="Inter" pitchFamily="34" charset="0"/>
                <a:ea typeface="Inter" pitchFamily="34" charset="-122"/>
                <a:cs typeface="Inter" pitchFamily="34" charset="-120"/>
              </a:rPr>
              <a:t>(+$6.75)</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$151.32  </a:t>
            </a:r>
            <a:pPr indent="0" marL="0">
              <a:buNone/>
            </a:pPr>
            <a:r>
              <a:rPr lang="en-US" sz="1400" b="1" dirty="0">
                <a:solidFill>
                  <a:srgbClr val="0B7A4A"/>
                </a:solidFill>
                <a:latin typeface="Inter" pitchFamily="34" charset="0"/>
                <a:ea typeface="Inter" pitchFamily="34" charset="-122"/>
                <a:cs typeface="Inter" pitchFamily="34" charset="-120"/>
              </a:rPr>
              <a:t>(+$3.00)</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$210.50</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2437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8" name="Shape 46"/>
          <p:cNvSpPr/>
          <p:nvPr/>
        </p:nvSpPr>
        <p:spPr>
          <a:xfrm>
            <a:off x="6291072" y="2445668"/>
            <a:ext cx="496190"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$166.44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1" name="Shape 49"/>
          <p:cNvSpPr/>
          <p:nvPr/>
        </p:nvSpPr>
        <p:spPr>
          <a:xfrm>
            <a:off x="6291072" y="2752344"/>
            <a:ext cx="487825"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$163.64</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6291072" y="3059020"/>
            <a:ext cx="4854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$162.85</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6291072" y="3365695"/>
            <a:ext cx="478952"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$160.66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0" name="Shape 58"/>
          <p:cNvSpPr/>
          <p:nvPr/>
        </p:nvSpPr>
        <p:spPr>
          <a:xfrm>
            <a:off x="6291072" y="3672371"/>
            <a:ext cx="475697"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$159.57</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6291072" y="3979047"/>
            <a:ext cx="475119"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$159.38</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6291072" y="4285722"/>
            <a:ext cx="469045"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$157.34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69" name="Shape 67"/>
          <p:cNvSpPr/>
          <p:nvPr/>
        </p:nvSpPr>
        <p:spPr>
          <a:xfrm>
            <a:off x="6291072" y="4592398"/>
            <a:ext cx="46560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$156.18</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6291072" y="4899074"/>
            <a:ext cx="460611"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$154.51</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5" name="Shape 73"/>
          <p:cNvSpPr/>
          <p:nvPr/>
        </p:nvSpPr>
        <p:spPr>
          <a:xfrm>
            <a:off x="6291072" y="5205750"/>
            <a:ext cx="45696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$153.29</a:t>
            </a:r>
            <a:endParaRPr lang="en-US" sz="1300" dirty="0"/>
          </a:p>
        </p:txBody>
      </p:sp>
      <p:sp>
        <p:nvSpPr>
          <p:cNvPr id="77" name="Shape 75"/>
          <p:cNvSpPr/>
          <p:nvPr/>
        </p:nvSpPr>
        <p:spPr>
          <a:xfrm>
            <a:off x="4261104" y="5435756"/>
            <a:ext cx="3529584" cy="297532"/>
          </a:xfrm>
          <a:prstGeom prst="rect">
            <a:avLst/>
          </a:prstGeom>
          <a:solidFill>
            <a:srgbClr val="EDF4FA"/>
          </a:solidFill>
          <a:ln/>
        </p:spPr>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9" name="Shape 77"/>
          <p:cNvSpPr/>
          <p:nvPr/>
        </p:nvSpPr>
        <p:spPr>
          <a:xfrm>
            <a:off x="6291072" y="5512425"/>
            <a:ext cx="451095" cy="153338"/>
          </a:xfrm>
          <a:prstGeom prst="rect">
            <a:avLst/>
          </a:prstGeom>
          <a:solidFill>
            <a:srgbClr val="0B2C4A"/>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$151.32</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2" name="Shape 80"/>
          <p:cNvSpPr/>
          <p:nvPr/>
        </p:nvSpPr>
        <p:spPr>
          <a:xfrm>
            <a:off x="9893808" y="1832317"/>
            <a:ext cx="444873"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$149.23</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5" name="Shape 83"/>
          <p:cNvSpPr/>
          <p:nvPr/>
        </p:nvSpPr>
        <p:spPr>
          <a:xfrm>
            <a:off x="9893808" y="2138993"/>
            <a:ext cx="441895"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$148.23</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8" name="Shape 86"/>
          <p:cNvSpPr/>
          <p:nvPr/>
        </p:nvSpPr>
        <p:spPr>
          <a:xfrm>
            <a:off x="9893808" y="2445668"/>
            <a:ext cx="430759"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$144.50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1" name="Shape 89"/>
          <p:cNvSpPr/>
          <p:nvPr/>
        </p:nvSpPr>
        <p:spPr>
          <a:xfrm>
            <a:off x="9893808" y="2752344"/>
            <a:ext cx="428958"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$143.89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4" name="Shape 92"/>
          <p:cNvSpPr/>
          <p:nvPr/>
        </p:nvSpPr>
        <p:spPr>
          <a:xfrm>
            <a:off x="9893808" y="3059020"/>
            <a:ext cx="426467"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$143.06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7" name="Shape 95"/>
          <p:cNvSpPr/>
          <p:nvPr/>
        </p:nvSpPr>
        <p:spPr>
          <a:xfrm>
            <a:off x="9893808" y="3365695"/>
            <a:ext cx="425697"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$142.80</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0" name="Shape 98"/>
          <p:cNvSpPr/>
          <p:nvPr/>
        </p:nvSpPr>
        <p:spPr>
          <a:xfrm>
            <a:off x="9893808" y="3672371"/>
            <a:ext cx="42064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$141.10</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3" name="Shape 101"/>
          <p:cNvSpPr/>
          <p:nvPr/>
        </p:nvSpPr>
        <p:spPr>
          <a:xfrm>
            <a:off x="9893808" y="3979047"/>
            <a:ext cx="414760"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$139.13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6" name="Shape 104"/>
          <p:cNvSpPr/>
          <p:nvPr/>
        </p:nvSpPr>
        <p:spPr>
          <a:xfrm>
            <a:off x="9893808" y="4285722"/>
            <a:ext cx="412834"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$138.48</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9" name="Shape 107"/>
          <p:cNvSpPr/>
          <p:nvPr/>
        </p:nvSpPr>
        <p:spPr>
          <a:xfrm>
            <a:off x="9893808" y="4592398"/>
            <a:ext cx="40291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$135.15</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12" name="Shape 110"/>
          <p:cNvSpPr/>
          <p:nvPr/>
        </p:nvSpPr>
        <p:spPr>
          <a:xfrm>
            <a:off x="9893808" y="4899074"/>
            <a:ext cx="388906"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$130.46</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5" name="Shape 113"/>
          <p:cNvSpPr/>
          <p:nvPr/>
        </p:nvSpPr>
        <p:spPr>
          <a:xfrm>
            <a:off x="9893808" y="5205750"/>
            <a:ext cx="37588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$126.09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6 of 9 luxury stores beat $217.79 and 12 of 24 others beat $151.32. ACURA leads non-luxury at $210.50.</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+$3.56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+$40.53</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7018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 name="Shape 16"/>
          <p:cNvSpPr/>
          <p:nvPr/>
        </p:nvSpPr>
        <p:spPr>
          <a:xfrm>
            <a:off x="3813048" y="2369673"/>
            <a:ext cx="5449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+$26.84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3813048" y="2599887"/>
            <a:ext cx="447186"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35360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+$17.41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34270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+$16.88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0" name="Shape 28"/>
          <p:cNvSpPr/>
          <p:nvPr/>
        </p:nvSpPr>
        <p:spPr>
          <a:xfrm>
            <a:off x="3813048" y="3290528"/>
            <a:ext cx="30237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3" name="Shape 31"/>
          <p:cNvSpPr/>
          <p:nvPr/>
        </p:nvSpPr>
        <p:spPr>
          <a:xfrm>
            <a:off x="3813048" y="3520741"/>
            <a:ext cx="24058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+$11.85</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6" name="Shape 34"/>
          <p:cNvSpPr/>
          <p:nvPr/>
        </p:nvSpPr>
        <p:spPr>
          <a:xfrm>
            <a:off x="3813048" y="3750955"/>
            <a:ext cx="18633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9" name="Shape 37"/>
          <p:cNvSpPr/>
          <p:nvPr/>
        </p:nvSpPr>
        <p:spPr>
          <a:xfrm>
            <a:off x="3813048" y="3981169"/>
            <a:ext cx="15175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2524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+$6.17</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90779"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+$4.47</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8" name="Shape 46"/>
          <p:cNvSpPr/>
          <p:nvPr/>
        </p:nvSpPr>
        <p:spPr>
          <a:xfrm>
            <a:off x="3813048" y="4671809"/>
            <a:ext cx="8622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7642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6909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+$3.40</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67289"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0" name="Shape 58"/>
          <p:cNvSpPr/>
          <p:nvPr/>
        </p:nvSpPr>
        <p:spPr>
          <a:xfrm>
            <a:off x="3813048" y="5592664"/>
            <a:ext cx="65390"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3" name="Shape 61"/>
          <p:cNvSpPr/>
          <p:nvPr/>
        </p:nvSpPr>
        <p:spPr>
          <a:xfrm>
            <a:off x="9363456" y="1909246"/>
            <a:ext cx="3625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9" name="Shape 67"/>
          <p:cNvSpPr/>
          <p:nvPr/>
        </p:nvSpPr>
        <p:spPr>
          <a:xfrm>
            <a:off x="9345276" y="2369673"/>
            <a:ext cx="18180"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−$0.90</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43443" y="2599887"/>
            <a:ext cx="20013"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34108" y="2830100"/>
            <a:ext cx="2934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32465" y="3060314"/>
            <a:ext cx="30991"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26112" y="3290528"/>
            <a:ext cx="37344"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322099" y="3520741"/>
            <a:ext cx="41357"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7" name="Shape 85"/>
          <p:cNvSpPr/>
          <p:nvPr/>
        </p:nvSpPr>
        <p:spPr>
          <a:xfrm>
            <a:off x="9322058" y="3750955"/>
            <a:ext cx="41398"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0" name="Shape 88"/>
          <p:cNvSpPr/>
          <p:nvPr/>
        </p:nvSpPr>
        <p:spPr>
          <a:xfrm>
            <a:off x="9319940" y="3981169"/>
            <a:ext cx="43516"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−$2.14</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3" name="Shape 91"/>
          <p:cNvSpPr/>
          <p:nvPr/>
        </p:nvSpPr>
        <p:spPr>
          <a:xfrm>
            <a:off x="9290260" y="4211382"/>
            <a:ext cx="7319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6" name="Shape 94"/>
          <p:cNvSpPr/>
          <p:nvPr/>
        </p:nvSpPr>
        <p:spPr>
          <a:xfrm>
            <a:off x="9236404" y="4441596"/>
            <a:ext cx="12705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153225" y="4671809"/>
            <a:ext cx="210231"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−$10.35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2" name="Shape 100"/>
          <p:cNvSpPr/>
          <p:nvPr/>
        </p:nvSpPr>
        <p:spPr>
          <a:xfrm>
            <a:off x="9134462" y="4902023"/>
            <a:ext cx="22899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−$11.28</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5" name="Shape 103"/>
          <p:cNvSpPr/>
          <p:nvPr/>
        </p:nvSpPr>
        <p:spPr>
          <a:xfrm>
            <a:off x="9106714" y="5132237"/>
            <a:ext cx="256742"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8" name="Shape 106"/>
          <p:cNvSpPr/>
          <p:nvPr/>
        </p:nvSpPr>
        <p:spPr>
          <a:xfrm>
            <a:off x="8650173" y="5362450"/>
            <a:ext cx="713283"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−$35.13</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 of 33 stores raised CP ELR, led by VOLVO at +$40.53 to $222.12. 14 declined; KIA LV fell most at −$35.13.</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1020"/>
            <a:ext cx="2414016" cy="110744"/>
          </a:xfrm>
          <a:prstGeom prst="rect">
            <a:avLst/>
          </a:prstGeom>
          <a:solidFill>
            <a:srgbClr val="2587C5"/>
          </a:solidFill>
          <a:ln/>
        </p:spPr>
      </p:sp>
      <p:sp>
        <p:nvSpPr>
          <p:cNvPr id="10" name="Text 8"/>
          <p:cNvSpPr txBox="1"/>
          <p:nvPr/>
        </p:nvSpPr>
        <p:spPr>
          <a:xfrm>
            <a:off x="512064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1" name="Text 9"/>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32508"/>
            <a:ext cx="2036981" cy="110744"/>
          </a:xfrm>
          <a:prstGeom prst="rect">
            <a:avLst/>
          </a:prstGeom>
          <a:solidFill>
            <a:srgbClr val="2587C5"/>
          </a:solidFill>
          <a:ln/>
        </p:spPr>
      </p:sp>
      <p:sp>
        <p:nvSpPr>
          <p:cNvPr id="13" name="Text 11"/>
          <p:cNvSpPr txBox="1"/>
          <p:nvPr/>
        </p:nvSpPr>
        <p:spPr>
          <a:xfrm>
            <a:off x="512064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4" name="Text 12"/>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53996"/>
            <a:ext cx="1890221" cy="110744"/>
          </a:xfrm>
          <a:prstGeom prst="rect">
            <a:avLst/>
          </a:prstGeom>
          <a:solidFill>
            <a:srgbClr val="2587C5"/>
          </a:solidFill>
          <a:ln/>
        </p:spPr>
      </p:sp>
      <p:sp>
        <p:nvSpPr>
          <p:cNvPr id="16" name="Text 14"/>
          <p:cNvSpPr txBox="1"/>
          <p:nvPr/>
        </p:nvSpPr>
        <p:spPr>
          <a:xfrm>
            <a:off x="512064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17" name="Text 15"/>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475484"/>
            <a:ext cx="1794483" cy="110744"/>
          </a:xfrm>
          <a:prstGeom prst="rect">
            <a:avLst/>
          </a:prstGeom>
          <a:solidFill>
            <a:srgbClr val="2587C5"/>
          </a:solidFill>
          <a:ln/>
        </p:spPr>
      </p:sp>
      <p:sp>
        <p:nvSpPr>
          <p:cNvPr id="19" name="Text 17"/>
          <p:cNvSpPr txBox="1"/>
          <p:nvPr/>
        </p:nvSpPr>
        <p:spPr>
          <a:xfrm>
            <a:off x="512064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0" name="Text 1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696972"/>
            <a:ext cx="1356726" cy="110744"/>
          </a:xfrm>
          <a:prstGeom prst="rect">
            <a:avLst/>
          </a:prstGeom>
          <a:solidFill>
            <a:srgbClr val="2587C5"/>
          </a:solidFill>
          <a:ln/>
        </p:spPr>
      </p:sp>
      <p:sp>
        <p:nvSpPr>
          <p:cNvPr id="22" name="Text 20"/>
          <p:cNvSpPr txBox="1"/>
          <p:nvPr/>
        </p:nvSpPr>
        <p:spPr>
          <a:xfrm>
            <a:off x="512064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23" name="Text 21"/>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18460"/>
            <a:ext cx="1317926" cy="110744"/>
          </a:xfrm>
          <a:prstGeom prst="rect">
            <a:avLst/>
          </a:prstGeom>
          <a:solidFill>
            <a:srgbClr val="2587C5"/>
          </a:solidFill>
          <a:ln/>
        </p:spPr>
      </p:sp>
      <p:sp>
        <p:nvSpPr>
          <p:cNvPr id="25" name="Text 23"/>
          <p:cNvSpPr txBox="1"/>
          <p:nvPr/>
        </p:nvSpPr>
        <p:spPr>
          <a:xfrm>
            <a:off x="512064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26" name="Shape 24"/>
          <p:cNvSpPr/>
          <p:nvPr/>
        </p:nvSpPr>
        <p:spPr>
          <a:xfrm>
            <a:off x="603504" y="3084576"/>
            <a:ext cx="5285232" cy="212344"/>
          </a:xfrm>
          <a:prstGeom prst="rect">
            <a:avLst/>
          </a:prstGeom>
          <a:solidFill>
            <a:srgbClr val="EDF4FA"/>
          </a:solidFill>
          <a:ln/>
        </p:spPr>
      </p:sp>
      <p:sp>
        <p:nvSpPr>
          <p:cNvPr id="27" name="Text 25"/>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139948"/>
            <a:ext cx="1246950" cy="110744"/>
          </a:xfrm>
          <a:prstGeom prst="rect">
            <a:avLst/>
          </a:prstGeom>
          <a:solidFill>
            <a:srgbClr val="0B2C4A"/>
          </a:solidFill>
          <a:ln/>
        </p:spPr>
      </p:sp>
      <p:sp>
        <p:nvSpPr>
          <p:cNvPr id="29" name="Text 27"/>
          <p:cNvSpPr txBox="1"/>
          <p:nvPr/>
        </p:nvSpPr>
        <p:spPr>
          <a:xfrm>
            <a:off x="512064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30" name="Text 28"/>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1" name="Shape 29"/>
          <p:cNvSpPr/>
          <p:nvPr/>
        </p:nvSpPr>
        <p:spPr>
          <a:xfrm>
            <a:off x="2651760" y="3361436"/>
            <a:ext cx="1211227" cy="110744"/>
          </a:xfrm>
          <a:prstGeom prst="rect">
            <a:avLst/>
          </a:prstGeom>
          <a:solidFill>
            <a:srgbClr val="2587C5"/>
          </a:solidFill>
          <a:ln/>
        </p:spPr>
      </p:sp>
      <p:sp>
        <p:nvSpPr>
          <p:cNvPr id="32" name="Text 30"/>
          <p:cNvSpPr txBox="1"/>
          <p:nvPr/>
        </p:nvSpPr>
        <p:spPr>
          <a:xfrm>
            <a:off x="512064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3" name="Text 31"/>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651760" y="3582924"/>
            <a:ext cx="1211227" cy="110744"/>
          </a:xfrm>
          <a:prstGeom prst="rect">
            <a:avLst/>
          </a:prstGeom>
          <a:solidFill>
            <a:srgbClr val="2587C5"/>
          </a:solidFill>
          <a:ln/>
        </p:spPr>
      </p:sp>
      <p:sp>
        <p:nvSpPr>
          <p:cNvPr id="35" name="Text 33"/>
          <p:cNvSpPr txBox="1"/>
          <p:nvPr/>
        </p:nvSpPr>
        <p:spPr>
          <a:xfrm>
            <a:off x="512064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6" name="Text 3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04412"/>
            <a:ext cx="1162728" cy="110744"/>
          </a:xfrm>
          <a:prstGeom prst="rect">
            <a:avLst/>
          </a:prstGeom>
          <a:solidFill>
            <a:srgbClr val="2587C5"/>
          </a:solidFill>
          <a:ln/>
        </p:spPr>
      </p:sp>
      <p:sp>
        <p:nvSpPr>
          <p:cNvPr id="38" name="Text 36"/>
          <p:cNvSpPr txBox="1"/>
          <p:nvPr/>
        </p:nvSpPr>
        <p:spPr>
          <a:xfrm>
            <a:off x="512064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39" name="Text 37"/>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025900"/>
            <a:ext cx="1085129" cy="110744"/>
          </a:xfrm>
          <a:prstGeom prst="rect">
            <a:avLst/>
          </a:prstGeom>
          <a:solidFill>
            <a:srgbClr val="2587C5"/>
          </a:solidFill>
          <a:ln/>
        </p:spPr>
      </p:sp>
      <p:sp>
        <p:nvSpPr>
          <p:cNvPr id="41" name="Text 39"/>
          <p:cNvSpPr txBox="1"/>
          <p:nvPr/>
        </p:nvSpPr>
        <p:spPr>
          <a:xfrm>
            <a:off x="512064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2" name="Text 40"/>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247388"/>
            <a:ext cx="1085129" cy="110744"/>
          </a:xfrm>
          <a:prstGeom prst="rect">
            <a:avLst/>
          </a:prstGeom>
          <a:solidFill>
            <a:srgbClr val="2587C5"/>
          </a:solidFill>
          <a:ln/>
        </p:spPr>
      </p:sp>
      <p:sp>
        <p:nvSpPr>
          <p:cNvPr id="44" name="Text 42"/>
          <p:cNvSpPr txBox="1"/>
          <p:nvPr/>
        </p:nvSpPr>
        <p:spPr>
          <a:xfrm>
            <a:off x="512064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5" name="Text 43"/>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468876"/>
            <a:ext cx="1079212" cy="110744"/>
          </a:xfrm>
          <a:prstGeom prst="rect">
            <a:avLst/>
          </a:prstGeom>
          <a:solidFill>
            <a:srgbClr val="2587C5"/>
          </a:solidFill>
          <a:ln/>
        </p:spPr>
      </p:sp>
      <p:sp>
        <p:nvSpPr>
          <p:cNvPr id="47" name="Text 45"/>
          <p:cNvSpPr txBox="1"/>
          <p:nvPr/>
        </p:nvSpPr>
        <p:spPr>
          <a:xfrm>
            <a:off x="512064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48" name="Text 46"/>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690364"/>
            <a:ext cx="1065729" cy="110744"/>
          </a:xfrm>
          <a:prstGeom prst="rect">
            <a:avLst/>
          </a:prstGeom>
          <a:solidFill>
            <a:srgbClr val="2587C5"/>
          </a:solidFill>
          <a:ln/>
        </p:spPr>
      </p:sp>
      <p:sp>
        <p:nvSpPr>
          <p:cNvPr id="50" name="Text 48"/>
          <p:cNvSpPr txBox="1"/>
          <p:nvPr/>
        </p:nvSpPr>
        <p:spPr>
          <a:xfrm>
            <a:off x="512064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51" name="Text 4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4911852"/>
            <a:ext cx="1017229" cy="110744"/>
          </a:xfrm>
          <a:prstGeom prst="rect">
            <a:avLst/>
          </a:prstGeom>
          <a:solidFill>
            <a:srgbClr val="2587C5"/>
          </a:solidFill>
          <a:ln/>
        </p:spPr>
      </p:sp>
      <p:sp>
        <p:nvSpPr>
          <p:cNvPr id="53" name="Text 51"/>
          <p:cNvSpPr txBox="1"/>
          <p:nvPr/>
        </p:nvSpPr>
        <p:spPr>
          <a:xfrm>
            <a:off x="512064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54" name="Text 52"/>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133340"/>
            <a:ext cx="823231" cy="110744"/>
          </a:xfrm>
          <a:prstGeom prst="rect">
            <a:avLst/>
          </a:prstGeom>
          <a:solidFill>
            <a:srgbClr val="2587C5"/>
          </a:solidFill>
          <a:ln/>
        </p:spPr>
      </p:sp>
      <p:sp>
        <p:nvSpPr>
          <p:cNvPr id="56" name="Text 54"/>
          <p:cNvSpPr txBox="1"/>
          <p:nvPr/>
        </p:nvSpPr>
        <p:spPr>
          <a:xfrm>
            <a:off x="512064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57" name="Text 55"/>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354828"/>
            <a:ext cx="823231" cy="110744"/>
          </a:xfrm>
          <a:prstGeom prst="rect">
            <a:avLst/>
          </a:prstGeom>
          <a:solidFill>
            <a:srgbClr val="2587C5"/>
          </a:solidFill>
          <a:ln/>
        </p:spPr>
      </p:sp>
      <p:sp>
        <p:nvSpPr>
          <p:cNvPr id="59" name="Text 57"/>
          <p:cNvSpPr txBox="1"/>
          <p:nvPr/>
        </p:nvSpPr>
        <p:spPr>
          <a:xfrm>
            <a:off x="512064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60" name="Text 58"/>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576316"/>
            <a:ext cx="774732" cy="110744"/>
          </a:xfrm>
          <a:prstGeom prst="rect">
            <a:avLst/>
          </a:prstGeom>
          <a:solidFill>
            <a:srgbClr val="2587C5"/>
          </a:solidFill>
          <a:ln/>
        </p:spPr>
      </p:sp>
      <p:sp>
        <p:nvSpPr>
          <p:cNvPr id="62" name="Text 60"/>
          <p:cNvSpPr txBox="1"/>
          <p:nvPr/>
        </p:nvSpPr>
        <p:spPr>
          <a:xfrm>
            <a:off x="512064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1020"/>
            <a:ext cx="1697484" cy="110744"/>
          </a:xfrm>
          <a:prstGeom prst="rect">
            <a:avLst/>
          </a:prstGeom>
          <a:solidFill>
            <a:srgbClr val="2587C5"/>
          </a:solidFill>
          <a:ln/>
        </p:spPr>
      </p:sp>
      <p:sp>
        <p:nvSpPr>
          <p:cNvPr id="67" name="Text 65"/>
          <p:cNvSpPr txBox="1"/>
          <p:nvPr/>
        </p:nvSpPr>
        <p:spPr>
          <a:xfrm>
            <a:off x="1067104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68" name="Text 66"/>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32508"/>
            <a:ext cx="1454501" cy="110744"/>
          </a:xfrm>
          <a:prstGeom prst="rect">
            <a:avLst/>
          </a:prstGeom>
          <a:solidFill>
            <a:srgbClr val="2587C5"/>
          </a:solidFill>
          <a:ln/>
        </p:spPr>
      </p:sp>
      <p:sp>
        <p:nvSpPr>
          <p:cNvPr id="70" name="Text 68"/>
          <p:cNvSpPr txBox="1"/>
          <p:nvPr/>
        </p:nvSpPr>
        <p:spPr>
          <a:xfrm>
            <a:off x="1067104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71" name="Text 69"/>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53996"/>
            <a:ext cx="1405226" cy="110744"/>
          </a:xfrm>
          <a:prstGeom prst="rect">
            <a:avLst/>
          </a:prstGeom>
          <a:solidFill>
            <a:srgbClr val="2587C5"/>
          </a:solidFill>
          <a:ln/>
        </p:spPr>
      </p:sp>
      <p:sp>
        <p:nvSpPr>
          <p:cNvPr id="73" name="Text 71"/>
          <p:cNvSpPr txBox="1"/>
          <p:nvPr/>
        </p:nvSpPr>
        <p:spPr>
          <a:xfrm>
            <a:off x="1067104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74" name="Text 72"/>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475484"/>
            <a:ext cx="1260503" cy="110744"/>
          </a:xfrm>
          <a:prstGeom prst="rect">
            <a:avLst/>
          </a:prstGeom>
          <a:solidFill>
            <a:srgbClr val="2587C5"/>
          </a:solidFill>
          <a:ln/>
        </p:spPr>
      </p:sp>
      <p:sp>
        <p:nvSpPr>
          <p:cNvPr id="76" name="Text 74"/>
          <p:cNvSpPr txBox="1"/>
          <p:nvPr/>
        </p:nvSpPr>
        <p:spPr>
          <a:xfrm>
            <a:off x="1067104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77" name="Text 75"/>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696972"/>
            <a:ext cx="1163989" cy="110744"/>
          </a:xfrm>
          <a:prstGeom prst="rect">
            <a:avLst/>
          </a:prstGeom>
          <a:solidFill>
            <a:srgbClr val="2587C5"/>
          </a:solidFill>
          <a:ln/>
        </p:spPr>
      </p:sp>
      <p:sp>
        <p:nvSpPr>
          <p:cNvPr id="79" name="Text 77"/>
          <p:cNvSpPr txBox="1"/>
          <p:nvPr/>
        </p:nvSpPr>
        <p:spPr>
          <a:xfrm>
            <a:off x="1067104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80" name="Text 7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18460"/>
            <a:ext cx="1119078" cy="110744"/>
          </a:xfrm>
          <a:prstGeom prst="rect">
            <a:avLst/>
          </a:prstGeom>
          <a:solidFill>
            <a:srgbClr val="2587C5"/>
          </a:solidFill>
          <a:ln/>
        </p:spPr>
      </p:sp>
      <p:sp>
        <p:nvSpPr>
          <p:cNvPr id="82" name="Text 80"/>
          <p:cNvSpPr txBox="1"/>
          <p:nvPr/>
        </p:nvSpPr>
        <p:spPr>
          <a:xfrm>
            <a:off x="1067104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83" name="Text 81"/>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8202168" y="3139948"/>
            <a:ext cx="1066990" cy="110744"/>
          </a:xfrm>
          <a:prstGeom prst="rect">
            <a:avLst/>
          </a:prstGeom>
          <a:solidFill>
            <a:srgbClr val="2587C5"/>
          </a:solidFill>
          <a:ln/>
        </p:spPr>
      </p:sp>
      <p:sp>
        <p:nvSpPr>
          <p:cNvPr id="85" name="Text 83"/>
          <p:cNvSpPr txBox="1"/>
          <p:nvPr/>
        </p:nvSpPr>
        <p:spPr>
          <a:xfrm>
            <a:off x="1067104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6" name="Text 84"/>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8202168" y="3361436"/>
            <a:ext cx="1066990" cy="110744"/>
          </a:xfrm>
          <a:prstGeom prst="rect">
            <a:avLst/>
          </a:prstGeom>
          <a:solidFill>
            <a:srgbClr val="2587C5"/>
          </a:solidFill>
          <a:ln/>
        </p:spPr>
      </p:sp>
      <p:sp>
        <p:nvSpPr>
          <p:cNvPr id="88" name="Text 86"/>
          <p:cNvSpPr txBox="1"/>
          <p:nvPr/>
        </p:nvSpPr>
        <p:spPr>
          <a:xfrm>
            <a:off x="1067104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9" name="Shape 87"/>
          <p:cNvSpPr/>
          <p:nvPr/>
        </p:nvSpPr>
        <p:spPr>
          <a:xfrm>
            <a:off x="6153912" y="3527552"/>
            <a:ext cx="5285232" cy="212344"/>
          </a:xfrm>
          <a:prstGeom prst="rect">
            <a:avLst/>
          </a:prstGeom>
          <a:solidFill>
            <a:srgbClr val="EDF4FA"/>
          </a:solidFill>
          <a:ln/>
        </p:spPr>
      </p:sp>
      <p:sp>
        <p:nvSpPr>
          <p:cNvPr id="90" name="Text 88"/>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582924"/>
            <a:ext cx="997468" cy="110744"/>
          </a:xfrm>
          <a:prstGeom prst="rect">
            <a:avLst/>
          </a:prstGeom>
          <a:solidFill>
            <a:srgbClr val="0B2C4A"/>
          </a:solidFill>
          <a:ln/>
        </p:spPr>
      </p:sp>
      <p:sp>
        <p:nvSpPr>
          <p:cNvPr id="92" name="Text 90"/>
          <p:cNvSpPr txBox="1"/>
          <p:nvPr/>
        </p:nvSpPr>
        <p:spPr>
          <a:xfrm>
            <a:off x="1067104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93" name="Text 91"/>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04412"/>
            <a:ext cx="969506" cy="110744"/>
          </a:xfrm>
          <a:prstGeom prst="rect">
            <a:avLst/>
          </a:prstGeom>
          <a:solidFill>
            <a:srgbClr val="2587C5"/>
          </a:solidFill>
          <a:ln/>
        </p:spPr>
      </p:sp>
      <p:sp>
        <p:nvSpPr>
          <p:cNvPr id="95" name="Text 93"/>
          <p:cNvSpPr txBox="1"/>
          <p:nvPr/>
        </p:nvSpPr>
        <p:spPr>
          <a:xfrm>
            <a:off x="1067104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96" name="Text 9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025900"/>
            <a:ext cx="921491" cy="110744"/>
          </a:xfrm>
          <a:prstGeom prst="rect">
            <a:avLst/>
          </a:prstGeom>
          <a:solidFill>
            <a:srgbClr val="2587C5"/>
          </a:solidFill>
          <a:ln/>
        </p:spPr>
      </p:sp>
      <p:sp>
        <p:nvSpPr>
          <p:cNvPr id="98" name="Text 96"/>
          <p:cNvSpPr txBox="1"/>
          <p:nvPr/>
        </p:nvSpPr>
        <p:spPr>
          <a:xfrm>
            <a:off x="1067104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99" name="Text 97"/>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247388"/>
            <a:ext cx="872992" cy="110744"/>
          </a:xfrm>
          <a:prstGeom prst="rect">
            <a:avLst/>
          </a:prstGeom>
          <a:solidFill>
            <a:srgbClr val="2587C5"/>
          </a:solidFill>
          <a:ln/>
        </p:spPr>
      </p:sp>
      <p:sp>
        <p:nvSpPr>
          <p:cNvPr id="101" name="Text 99"/>
          <p:cNvSpPr txBox="1"/>
          <p:nvPr/>
        </p:nvSpPr>
        <p:spPr>
          <a:xfrm>
            <a:off x="1067104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02" name="Text 100"/>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3" name="Shape 101"/>
          <p:cNvSpPr/>
          <p:nvPr/>
        </p:nvSpPr>
        <p:spPr>
          <a:xfrm>
            <a:off x="8202168" y="4468876"/>
            <a:ext cx="824492" cy="110744"/>
          </a:xfrm>
          <a:prstGeom prst="rect">
            <a:avLst/>
          </a:prstGeom>
          <a:solidFill>
            <a:srgbClr val="2587C5"/>
          </a:solidFill>
          <a:ln/>
        </p:spPr>
      </p:sp>
      <p:sp>
        <p:nvSpPr>
          <p:cNvPr id="104" name="Text 102"/>
          <p:cNvSpPr txBox="1"/>
          <p:nvPr/>
        </p:nvSpPr>
        <p:spPr>
          <a:xfrm>
            <a:off x="1067104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5" name="Text 103"/>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6" name="Shape 104"/>
          <p:cNvSpPr/>
          <p:nvPr/>
        </p:nvSpPr>
        <p:spPr>
          <a:xfrm>
            <a:off x="8202168" y="4690364"/>
            <a:ext cx="824492" cy="110744"/>
          </a:xfrm>
          <a:prstGeom prst="rect">
            <a:avLst/>
          </a:prstGeom>
          <a:solidFill>
            <a:srgbClr val="2587C5"/>
          </a:solidFill>
          <a:ln/>
        </p:spPr>
      </p:sp>
      <p:sp>
        <p:nvSpPr>
          <p:cNvPr id="107" name="Text 105"/>
          <p:cNvSpPr txBox="1"/>
          <p:nvPr/>
        </p:nvSpPr>
        <p:spPr>
          <a:xfrm>
            <a:off x="1067104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8" name="Text 106"/>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9" name="Shape 107"/>
          <p:cNvSpPr/>
          <p:nvPr/>
        </p:nvSpPr>
        <p:spPr>
          <a:xfrm>
            <a:off x="8202168" y="4911852"/>
            <a:ext cx="824492" cy="110744"/>
          </a:xfrm>
          <a:prstGeom prst="rect">
            <a:avLst/>
          </a:prstGeom>
          <a:solidFill>
            <a:srgbClr val="2587C5"/>
          </a:solidFill>
          <a:ln/>
        </p:spPr>
      </p:sp>
      <p:sp>
        <p:nvSpPr>
          <p:cNvPr id="110" name="Text 108"/>
          <p:cNvSpPr txBox="1"/>
          <p:nvPr/>
        </p:nvSpPr>
        <p:spPr>
          <a:xfrm>
            <a:off x="1067104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1" name="Text 10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8202168" y="5133340"/>
            <a:ext cx="824492" cy="110744"/>
          </a:xfrm>
          <a:prstGeom prst="rect">
            <a:avLst/>
          </a:prstGeom>
          <a:solidFill>
            <a:srgbClr val="2587C5"/>
          </a:solidFill>
          <a:ln/>
        </p:spPr>
      </p:sp>
      <p:sp>
        <p:nvSpPr>
          <p:cNvPr id="113" name="Text 111"/>
          <p:cNvSpPr txBox="1"/>
          <p:nvPr/>
        </p:nvSpPr>
        <p:spPr>
          <a:xfrm>
            <a:off x="1067104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4" name="Text 112"/>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354828"/>
            <a:ext cx="766293" cy="110744"/>
          </a:xfrm>
          <a:prstGeom prst="rect">
            <a:avLst/>
          </a:prstGeom>
          <a:solidFill>
            <a:srgbClr val="2587C5"/>
          </a:solidFill>
          <a:ln/>
        </p:spPr>
      </p:sp>
      <p:sp>
        <p:nvSpPr>
          <p:cNvPr id="116" name="Text 114"/>
          <p:cNvSpPr txBox="1"/>
          <p:nvPr/>
        </p:nvSpPr>
        <p:spPr>
          <a:xfrm>
            <a:off x="1067104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17" name="Shape 115"/>
          <p:cNvSpPr/>
          <p:nvPr/>
        </p:nvSpPr>
        <p:spPr>
          <a:xfrm>
            <a:off x="6035040" y="1371600"/>
            <a:ext cx="10973" cy="4370832"/>
          </a:xfrm>
          <a:prstGeom prst="rect">
            <a:avLst/>
          </a:prstGeom>
          <a:solidFill>
            <a:srgbClr val="D9D9D9"/>
          </a:solidFill>
          <a:ln/>
        </p:spPr>
      </p:sp>
      <p:sp>
        <p:nvSpPr>
          <p:cNvPr id="118" name="Shape 116"/>
          <p:cNvSpPr/>
          <p:nvPr/>
        </p:nvSpPr>
        <p:spPr>
          <a:xfrm>
            <a:off x="457200" y="5961888"/>
            <a:ext cx="11274552" cy="548640"/>
          </a:xfrm>
          <a:prstGeom prst="rect">
            <a:avLst/>
          </a:prstGeom>
          <a:solidFill>
            <a:srgbClr val="EDF4FA"/>
          </a:solidFill>
          <a:ln/>
        </p:spPr>
      </p:sp>
      <p:sp>
        <p:nvSpPr>
          <p:cNvPr id="119" name="Text 1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47472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4224528"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9" name="Text 7"/>
          <p:cNvSpPr txBox="1"/>
          <p:nvPr/>
        </p:nvSpPr>
        <p:spPr>
          <a:xfrm>
            <a:off x="5212080"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 name="Shape 9"/>
          <p:cNvSpPr/>
          <p:nvPr/>
        </p:nvSpPr>
        <p:spPr>
          <a:xfrm>
            <a:off x="2651760" y="1811020"/>
            <a:ext cx="768096" cy="110744"/>
          </a:xfrm>
          <a:prstGeom prst="rect">
            <a:avLst/>
          </a:prstGeom>
          <a:solidFill>
            <a:srgbClr val="2587C5"/>
          </a:solidFill>
          <a:ln/>
        </p:spPr>
      </p:sp>
      <p:sp>
        <p:nvSpPr>
          <p:cNvPr id="12" name="Text 10"/>
          <p:cNvSpPr txBox="1"/>
          <p:nvPr/>
        </p:nvSpPr>
        <p:spPr>
          <a:xfrm>
            <a:off x="347472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3" name="Text 11"/>
          <p:cNvSpPr txBox="1"/>
          <p:nvPr/>
        </p:nvSpPr>
        <p:spPr>
          <a:xfrm>
            <a:off x="4224528" y="1755648"/>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$399.00</a:t>
            </a:r>
            <a:endParaRPr lang="en-US" sz="1300" dirty="0"/>
          </a:p>
        </p:txBody>
      </p:sp>
      <p:sp>
        <p:nvSpPr>
          <p:cNvPr id="14" name="Text 12"/>
          <p:cNvSpPr txBox="1"/>
          <p:nvPr/>
        </p:nvSpPr>
        <p:spPr>
          <a:xfrm>
            <a:off x="5212080" y="1755648"/>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Lambo</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651760" y="2032508"/>
            <a:ext cx="648130" cy="110744"/>
          </a:xfrm>
          <a:prstGeom prst="rect">
            <a:avLst/>
          </a:prstGeom>
          <a:solidFill>
            <a:srgbClr val="2587C5"/>
          </a:solidFill>
          <a:ln/>
        </p:spPr>
      </p:sp>
      <p:sp>
        <p:nvSpPr>
          <p:cNvPr id="17" name="Text 15"/>
          <p:cNvSpPr txBox="1"/>
          <p:nvPr/>
        </p:nvSpPr>
        <p:spPr>
          <a:xfrm>
            <a:off x="347472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8" name="Text 16"/>
          <p:cNvSpPr txBox="1"/>
          <p:nvPr/>
        </p:nvSpPr>
        <p:spPr>
          <a:xfrm>
            <a:off x="4224528"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9" name="Text 17"/>
          <p:cNvSpPr txBox="1"/>
          <p:nvPr/>
        </p:nvSpPr>
        <p:spPr>
          <a:xfrm>
            <a:off x="5212080"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2651760" y="2253996"/>
            <a:ext cx="601434" cy="110744"/>
          </a:xfrm>
          <a:prstGeom prst="rect">
            <a:avLst/>
          </a:prstGeom>
          <a:solidFill>
            <a:srgbClr val="2587C5"/>
          </a:solidFill>
          <a:ln/>
        </p:spPr>
      </p:sp>
      <p:sp>
        <p:nvSpPr>
          <p:cNvPr id="22" name="Text 20"/>
          <p:cNvSpPr txBox="1"/>
          <p:nvPr/>
        </p:nvSpPr>
        <p:spPr>
          <a:xfrm>
            <a:off x="347472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23" name="Text 21"/>
          <p:cNvSpPr txBox="1"/>
          <p:nvPr/>
        </p:nvSpPr>
        <p:spPr>
          <a:xfrm>
            <a:off x="4224528"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24" name="Text 22"/>
          <p:cNvSpPr txBox="1"/>
          <p:nvPr/>
        </p:nvSpPr>
        <p:spPr>
          <a:xfrm>
            <a:off x="5212080"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6" name="Shape 24"/>
          <p:cNvSpPr/>
          <p:nvPr/>
        </p:nvSpPr>
        <p:spPr>
          <a:xfrm>
            <a:off x="2651760" y="2475484"/>
            <a:ext cx="570972" cy="110744"/>
          </a:xfrm>
          <a:prstGeom prst="rect">
            <a:avLst/>
          </a:prstGeom>
          <a:solidFill>
            <a:srgbClr val="2587C5"/>
          </a:solidFill>
          <a:ln/>
        </p:spPr>
      </p:sp>
      <p:sp>
        <p:nvSpPr>
          <p:cNvPr id="27" name="Text 25"/>
          <p:cNvSpPr txBox="1"/>
          <p:nvPr/>
        </p:nvSpPr>
        <p:spPr>
          <a:xfrm>
            <a:off x="347472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8" name="Text 26"/>
          <p:cNvSpPr txBox="1"/>
          <p:nvPr/>
        </p:nvSpPr>
        <p:spPr>
          <a:xfrm>
            <a:off x="4224528"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29" name="Text 27"/>
          <p:cNvSpPr txBox="1"/>
          <p:nvPr/>
        </p:nvSpPr>
        <p:spPr>
          <a:xfrm>
            <a:off x="5212080"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1" name="Shape 29"/>
          <p:cNvSpPr/>
          <p:nvPr/>
        </p:nvSpPr>
        <p:spPr>
          <a:xfrm>
            <a:off x="2651760" y="2696972"/>
            <a:ext cx="431686" cy="110744"/>
          </a:xfrm>
          <a:prstGeom prst="rect">
            <a:avLst/>
          </a:prstGeom>
          <a:solidFill>
            <a:srgbClr val="2587C5"/>
          </a:solidFill>
          <a:ln/>
        </p:spPr>
      </p:sp>
      <p:sp>
        <p:nvSpPr>
          <p:cNvPr id="32" name="Text 30"/>
          <p:cNvSpPr txBox="1"/>
          <p:nvPr/>
        </p:nvSpPr>
        <p:spPr>
          <a:xfrm>
            <a:off x="347472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33" name="Text 31"/>
          <p:cNvSpPr txBox="1"/>
          <p:nvPr/>
        </p:nvSpPr>
        <p:spPr>
          <a:xfrm>
            <a:off x="4224528" y="2641600"/>
            <a:ext cx="987552" cy="221488"/>
          </a:xfrm>
          <a:prstGeom prst="rect">
            <a:avLst/>
          </a:prstGeom>
          <a:noFill/>
          <a:ln/>
        </p:spPr>
        <p:txBody>
          <a:bodyPr wrap="square" lIns="0" tIns="0" rIns="0" bIns="0" rtlCol="0" anchor="ctr"/>
          <a:lstStyle/>
          <a:p>
            <a:pPr algn="r" indent="0" marL="0">
              <a:buNone/>
            </a:pPr>
            <a:endParaRPr lang="en-US" sz="1300" dirty="0"/>
          </a:p>
        </p:txBody>
      </p:sp>
      <p:sp>
        <p:nvSpPr>
          <p:cNvPr id="34" name="Text 32"/>
          <p:cNvSpPr txBox="1"/>
          <p:nvPr/>
        </p:nvSpPr>
        <p:spPr>
          <a:xfrm>
            <a:off x="5212080" y="2641600"/>
            <a:ext cx="658368" cy="221488"/>
          </a:xfrm>
          <a:prstGeom prst="rect">
            <a:avLst/>
          </a:prstGeom>
          <a:noFill/>
          <a:ln/>
        </p:spPr>
        <p:txBody>
          <a:bodyPr wrap="square" lIns="0" tIns="0" rIns="0" bIns="0" rtlCol="0" anchor="ctr"/>
          <a:lstStyle/>
          <a:p>
            <a:pPr algn="r" indent="0" marL="0">
              <a:buNone/>
            </a:pP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6" name="Shape 34"/>
          <p:cNvSpPr/>
          <p:nvPr/>
        </p:nvSpPr>
        <p:spPr>
          <a:xfrm>
            <a:off x="2651760" y="2918460"/>
            <a:ext cx="419340" cy="110744"/>
          </a:xfrm>
          <a:prstGeom prst="rect">
            <a:avLst/>
          </a:prstGeom>
          <a:solidFill>
            <a:srgbClr val="2587C5"/>
          </a:solidFill>
          <a:ln/>
        </p:spPr>
      </p:sp>
      <p:sp>
        <p:nvSpPr>
          <p:cNvPr id="37" name="Text 35"/>
          <p:cNvSpPr txBox="1"/>
          <p:nvPr/>
        </p:nvSpPr>
        <p:spPr>
          <a:xfrm>
            <a:off x="347472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38" name="Text 36"/>
          <p:cNvSpPr txBox="1"/>
          <p:nvPr/>
        </p:nvSpPr>
        <p:spPr>
          <a:xfrm>
            <a:off x="4224528"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39" name="Text 37"/>
          <p:cNvSpPr txBox="1"/>
          <p:nvPr/>
        </p:nvSpPr>
        <p:spPr>
          <a:xfrm>
            <a:off x="5212080"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40" name="Shape 38"/>
          <p:cNvSpPr/>
          <p:nvPr/>
        </p:nvSpPr>
        <p:spPr>
          <a:xfrm>
            <a:off x="603504" y="3084576"/>
            <a:ext cx="5285232" cy="212344"/>
          </a:xfrm>
          <a:prstGeom prst="rect">
            <a:avLst/>
          </a:prstGeom>
          <a:solidFill>
            <a:srgbClr val="EDF4FA"/>
          </a:solidFill>
          <a:ln/>
        </p:spPr>
      </p:sp>
      <p:sp>
        <p:nvSpPr>
          <p:cNvPr id="41" name="Text 39"/>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42" name="Shape 40"/>
          <p:cNvSpPr/>
          <p:nvPr/>
        </p:nvSpPr>
        <p:spPr>
          <a:xfrm>
            <a:off x="2651760" y="3139948"/>
            <a:ext cx="396757" cy="110744"/>
          </a:xfrm>
          <a:prstGeom prst="rect">
            <a:avLst/>
          </a:prstGeom>
          <a:solidFill>
            <a:srgbClr val="0B2C4A"/>
          </a:solidFill>
          <a:ln/>
        </p:spPr>
      </p:sp>
      <p:sp>
        <p:nvSpPr>
          <p:cNvPr id="43" name="Text 41"/>
          <p:cNvSpPr txBox="1"/>
          <p:nvPr/>
        </p:nvSpPr>
        <p:spPr>
          <a:xfrm>
            <a:off x="347472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44" name="Text 42"/>
          <p:cNvSpPr txBox="1"/>
          <p:nvPr/>
        </p:nvSpPr>
        <p:spPr>
          <a:xfrm>
            <a:off x="4224528"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45" name="Text 43"/>
          <p:cNvSpPr txBox="1"/>
          <p:nvPr/>
        </p:nvSpPr>
        <p:spPr>
          <a:xfrm>
            <a:off x="5212080"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46" name="Text 44"/>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7" name="Shape 45"/>
          <p:cNvSpPr/>
          <p:nvPr/>
        </p:nvSpPr>
        <p:spPr>
          <a:xfrm>
            <a:off x="2651760" y="3361436"/>
            <a:ext cx="385391" cy="110744"/>
          </a:xfrm>
          <a:prstGeom prst="rect">
            <a:avLst/>
          </a:prstGeom>
          <a:solidFill>
            <a:srgbClr val="2587C5"/>
          </a:solidFill>
          <a:ln/>
        </p:spPr>
      </p:sp>
      <p:sp>
        <p:nvSpPr>
          <p:cNvPr id="48" name="Text 46"/>
          <p:cNvSpPr txBox="1"/>
          <p:nvPr/>
        </p:nvSpPr>
        <p:spPr>
          <a:xfrm>
            <a:off x="347472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49" name="Text 47"/>
          <p:cNvSpPr txBox="1"/>
          <p:nvPr/>
        </p:nvSpPr>
        <p:spPr>
          <a:xfrm>
            <a:off x="4224528"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50" name="Text 48"/>
          <p:cNvSpPr txBox="1"/>
          <p:nvPr/>
        </p:nvSpPr>
        <p:spPr>
          <a:xfrm>
            <a:off x="5212080"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51" name="Text 49"/>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2" name="Shape 50"/>
          <p:cNvSpPr/>
          <p:nvPr/>
        </p:nvSpPr>
        <p:spPr>
          <a:xfrm>
            <a:off x="2651760" y="3582924"/>
            <a:ext cx="385391" cy="110744"/>
          </a:xfrm>
          <a:prstGeom prst="rect">
            <a:avLst/>
          </a:prstGeom>
          <a:solidFill>
            <a:srgbClr val="2587C5"/>
          </a:solidFill>
          <a:ln/>
        </p:spPr>
      </p:sp>
      <p:sp>
        <p:nvSpPr>
          <p:cNvPr id="53" name="Text 51"/>
          <p:cNvSpPr txBox="1"/>
          <p:nvPr/>
        </p:nvSpPr>
        <p:spPr>
          <a:xfrm>
            <a:off x="347472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54" name="Text 52"/>
          <p:cNvSpPr txBox="1"/>
          <p:nvPr/>
        </p:nvSpPr>
        <p:spPr>
          <a:xfrm>
            <a:off x="4224528" y="352755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$264.87</a:t>
            </a:r>
            <a:endParaRPr lang="en-US" sz="1300" dirty="0"/>
          </a:p>
        </p:txBody>
      </p:sp>
      <p:sp>
        <p:nvSpPr>
          <p:cNvPr id="55" name="Text 53"/>
          <p:cNvSpPr txBox="1"/>
          <p:nvPr/>
        </p:nvSpPr>
        <p:spPr>
          <a:xfrm>
            <a:off x="5212080" y="352755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Diesel</a:t>
            </a:r>
            <a:endParaRPr lang="en-US" sz="1300" dirty="0"/>
          </a:p>
        </p:txBody>
      </p:sp>
      <p:sp>
        <p:nvSpPr>
          <p:cNvPr id="56" name="Text 5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2651760" y="3804412"/>
            <a:ext cx="369959" cy="110744"/>
          </a:xfrm>
          <a:prstGeom prst="rect">
            <a:avLst/>
          </a:prstGeom>
          <a:solidFill>
            <a:srgbClr val="2587C5"/>
          </a:solidFill>
          <a:ln/>
        </p:spPr>
      </p:sp>
      <p:sp>
        <p:nvSpPr>
          <p:cNvPr id="58" name="Text 56"/>
          <p:cNvSpPr txBox="1"/>
          <p:nvPr/>
        </p:nvSpPr>
        <p:spPr>
          <a:xfrm>
            <a:off x="347472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59" name="Text 57"/>
          <p:cNvSpPr txBox="1"/>
          <p:nvPr/>
        </p:nvSpPr>
        <p:spPr>
          <a:xfrm>
            <a:off x="4224528"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60" name="Text 58"/>
          <p:cNvSpPr txBox="1"/>
          <p:nvPr/>
        </p:nvSpPr>
        <p:spPr>
          <a:xfrm>
            <a:off x="5212080"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61" name="Text 59"/>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2" name="Shape 60"/>
          <p:cNvSpPr/>
          <p:nvPr/>
        </p:nvSpPr>
        <p:spPr>
          <a:xfrm>
            <a:off x="2651760" y="4025900"/>
            <a:ext cx="345268" cy="110744"/>
          </a:xfrm>
          <a:prstGeom prst="rect">
            <a:avLst/>
          </a:prstGeom>
          <a:solidFill>
            <a:srgbClr val="2587C5"/>
          </a:solidFill>
          <a:ln/>
        </p:spPr>
      </p:sp>
      <p:sp>
        <p:nvSpPr>
          <p:cNvPr id="63" name="Text 61"/>
          <p:cNvSpPr txBox="1"/>
          <p:nvPr/>
        </p:nvSpPr>
        <p:spPr>
          <a:xfrm>
            <a:off x="347472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4" name="Text 62"/>
          <p:cNvSpPr txBox="1"/>
          <p:nvPr/>
        </p:nvSpPr>
        <p:spPr>
          <a:xfrm>
            <a:off x="4224528"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65" name="Text 63"/>
          <p:cNvSpPr txBox="1"/>
          <p:nvPr/>
        </p:nvSpPr>
        <p:spPr>
          <a:xfrm>
            <a:off x="5212080"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7" name="Shape 65"/>
          <p:cNvSpPr/>
          <p:nvPr/>
        </p:nvSpPr>
        <p:spPr>
          <a:xfrm>
            <a:off x="2651760" y="4247388"/>
            <a:ext cx="345268" cy="110744"/>
          </a:xfrm>
          <a:prstGeom prst="rect">
            <a:avLst/>
          </a:prstGeom>
          <a:solidFill>
            <a:srgbClr val="2587C5"/>
          </a:solidFill>
          <a:ln/>
        </p:spPr>
      </p:sp>
      <p:sp>
        <p:nvSpPr>
          <p:cNvPr id="68" name="Text 66"/>
          <p:cNvSpPr txBox="1"/>
          <p:nvPr/>
        </p:nvSpPr>
        <p:spPr>
          <a:xfrm>
            <a:off x="347472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9" name="Text 67"/>
          <p:cNvSpPr txBox="1"/>
          <p:nvPr/>
        </p:nvSpPr>
        <p:spPr>
          <a:xfrm>
            <a:off x="4224528"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70" name="Text 68"/>
          <p:cNvSpPr txBox="1"/>
          <p:nvPr/>
        </p:nvSpPr>
        <p:spPr>
          <a:xfrm>
            <a:off x="5212080"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343386" cy="110744"/>
          </a:xfrm>
          <a:prstGeom prst="rect">
            <a:avLst/>
          </a:prstGeom>
          <a:solidFill>
            <a:srgbClr val="2587C5"/>
          </a:solidFill>
          <a:ln/>
        </p:spPr>
      </p:sp>
      <p:sp>
        <p:nvSpPr>
          <p:cNvPr id="73" name="Text 71"/>
          <p:cNvSpPr txBox="1"/>
          <p:nvPr/>
        </p:nvSpPr>
        <p:spPr>
          <a:xfrm>
            <a:off x="347472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74" name="Text 72"/>
          <p:cNvSpPr txBox="1"/>
          <p:nvPr/>
        </p:nvSpPr>
        <p:spPr>
          <a:xfrm>
            <a:off x="4224528" y="4413504"/>
            <a:ext cx="987552" cy="221488"/>
          </a:xfrm>
          <a:prstGeom prst="rect">
            <a:avLst/>
          </a:prstGeom>
          <a:noFill/>
          <a:ln/>
        </p:spPr>
        <p:txBody>
          <a:bodyPr wrap="square" lIns="0" tIns="0" rIns="0" bIns="0" rtlCol="0" anchor="ctr"/>
          <a:lstStyle/>
          <a:p>
            <a:pPr algn="r" indent="0" marL="0">
              <a:buNone/>
            </a:pPr>
            <a:endParaRPr lang="en-US" sz="1300" dirty="0"/>
          </a:p>
        </p:txBody>
      </p:sp>
      <p:sp>
        <p:nvSpPr>
          <p:cNvPr id="75" name="Text 73"/>
          <p:cNvSpPr txBox="1"/>
          <p:nvPr/>
        </p:nvSpPr>
        <p:spPr>
          <a:xfrm>
            <a:off x="5212080" y="4413504"/>
            <a:ext cx="658368" cy="221488"/>
          </a:xfrm>
          <a:prstGeom prst="rect">
            <a:avLst/>
          </a:prstGeom>
          <a:noFill/>
          <a:ln/>
        </p:spPr>
        <p:txBody>
          <a:bodyPr wrap="square" lIns="0" tIns="0" rIns="0" bIns="0" rtlCol="0" anchor="ctr"/>
          <a:lstStyle/>
          <a:p>
            <a:pPr algn="r" indent="0" marL="0">
              <a:buNone/>
            </a:pP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7" name="Shape 75"/>
          <p:cNvSpPr/>
          <p:nvPr/>
        </p:nvSpPr>
        <p:spPr>
          <a:xfrm>
            <a:off x="2651760" y="4690364"/>
            <a:ext cx="339096" cy="110744"/>
          </a:xfrm>
          <a:prstGeom prst="rect">
            <a:avLst/>
          </a:prstGeom>
          <a:solidFill>
            <a:srgbClr val="2587C5"/>
          </a:solidFill>
          <a:ln/>
        </p:spPr>
      </p:sp>
      <p:sp>
        <p:nvSpPr>
          <p:cNvPr id="78" name="Text 76"/>
          <p:cNvSpPr txBox="1"/>
          <p:nvPr/>
        </p:nvSpPr>
        <p:spPr>
          <a:xfrm>
            <a:off x="347472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79" name="Text 77"/>
          <p:cNvSpPr txBox="1"/>
          <p:nvPr/>
        </p:nvSpPr>
        <p:spPr>
          <a:xfrm>
            <a:off x="4224528" y="4634992"/>
            <a:ext cx="987552" cy="221488"/>
          </a:xfrm>
          <a:prstGeom prst="rect">
            <a:avLst/>
          </a:prstGeom>
          <a:noFill/>
          <a:ln/>
        </p:spPr>
        <p:txBody>
          <a:bodyPr wrap="square" lIns="0" tIns="0" rIns="0" bIns="0" rtlCol="0" anchor="ctr"/>
          <a:lstStyle/>
          <a:p>
            <a:pPr algn="r" indent="0" marL="0">
              <a:buNone/>
            </a:pPr>
            <a:endParaRPr lang="en-US" sz="1300" dirty="0"/>
          </a:p>
        </p:txBody>
      </p:sp>
      <p:sp>
        <p:nvSpPr>
          <p:cNvPr id="80" name="Text 78"/>
          <p:cNvSpPr txBox="1"/>
          <p:nvPr/>
        </p:nvSpPr>
        <p:spPr>
          <a:xfrm>
            <a:off x="5212080" y="4634992"/>
            <a:ext cx="658368" cy="221488"/>
          </a:xfrm>
          <a:prstGeom prst="rect">
            <a:avLst/>
          </a:prstGeom>
          <a:noFill/>
          <a:ln/>
        </p:spPr>
        <p:txBody>
          <a:bodyPr wrap="square" lIns="0" tIns="0" rIns="0" bIns="0" rtlCol="0" anchor="ctr"/>
          <a:lstStyle/>
          <a:p>
            <a:pPr algn="r" indent="0" marL="0">
              <a:buNone/>
            </a:pP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2" name="Shape 80"/>
          <p:cNvSpPr/>
          <p:nvPr/>
        </p:nvSpPr>
        <p:spPr>
          <a:xfrm>
            <a:off x="2651760" y="4911852"/>
            <a:ext cx="323664" cy="110744"/>
          </a:xfrm>
          <a:prstGeom prst="rect">
            <a:avLst/>
          </a:prstGeom>
          <a:solidFill>
            <a:srgbClr val="2587C5"/>
          </a:solidFill>
          <a:ln/>
        </p:spPr>
      </p:sp>
      <p:sp>
        <p:nvSpPr>
          <p:cNvPr id="83" name="Text 81"/>
          <p:cNvSpPr txBox="1"/>
          <p:nvPr/>
        </p:nvSpPr>
        <p:spPr>
          <a:xfrm>
            <a:off x="347472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84" name="Text 82"/>
          <p:cNvSpPr txBox="1"/>
          <p:nvPr/>
        </p:nvSpPr>
        <p:spPr>
          <a:xfrm>
            <a:off x="4224528"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85" name="Text 83"/>
          <p:cNvSpPr txBox="1"/>
          <p:nvPr/>
        </p:nvSpPr>
        <p:spPr>
          <a:xfrm>
            <a:off x="5212080"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2651760" y="5133340"/>
            <a:ext cx="261937" cy="110744"/>
          </a:xfrm>
          <a:prstGeom prst="rect">
            <a:avLst/>
          </a:prstGeom>
          <a:solidFill>
            <a:srgbClr val="2587C5"/>
          </a:solidFill>
          <a:ln/>
        </p:spPr>
      </p:sp>
      <p:sp>
        <p:nvSpPr>
          <p:cNvPr id="88" name="Text 86"/>
          <p:cNvSpPr txBox="1"/>
          <p:nvPr/>
        </p:nvSpPr>
        <p:spPr>
          <a:xfrm>
            <a:off x="347472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89" name="Text 87"/>
          <p:cNvSpPr txBox="1"/>
          <p:nvPr/>
        </p:nvSpPr>
        <p:spPr>
          <a:xfrm>
            <a:off x="4224528"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90" name="Text 88"/>
          <p:cNvSpPr txBox="1"/>
          <p:nvPr/>
        </p:nvSpPr>
        <p:spPr>
          <a:xfrm>
            <a:off x="5212080"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2" name="Shape 90"/>
          <p:cNvSpPr/>
          <p:nvPr/>
        </p:nvSpPr>
        <p:spPr>
          <a:xfrm>
            <a:off x="2651760" y="5354828"/>
            <a:ext cx="261937" cy="110744"/>
          </a:xfrm>
          <a:prstGeom prst="rect">
            <a:avLst/>
          </a:prstGeom>
          <a:solidFill>
            <a:srgbClr val="2587C5"/>
          </a:solidFill>
          <a:ln/>
        </p:spPr>
      </p:sp>
      <p:sp>
        <p:nvSpPr>
          <p:cNvPr id="93" name="Text 91"/>
          <p:cNvSpPr txBox="1"/>
          <p:nvPr/>
        </p:nvSpPr>
        <p:spPr>
          <a:xfrm>
            <a:off x="347472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94" name="Text 92"/>
          <p:cNvSpPr txBox="1"/>
          <p:nvPr/>
        </p:nvSpPr>
        <p:spPr>
          <a:xfrm>
            <a:off x="4224528"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95" name="Text 93"/>
          <p:cNvSpPr txBox="1"/>
          <p:nvPr/>
        </p:nvSpPr>
        <p:spPr>
          <a:xfrm>
            <a:off x="5212080"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7" name="Shape 95"/>
          <p:cNvSpPr/>
          <p:nvPr/>
        </p:nvSpPr>
        <p:spPr>
          <a:xfrm>
            <a:off x="2651760" y="5576316"/>
            <a:ext cx="246506" cy="110744"/>
          </a:xfrm>
          <a:prstGeom prst="rect">
            <a:avLst/>
          </a:prstGeom>
          <a:solidFill>
            <a:srgbClr val="2587C5"/>
          </a:solidFill>
          <a:ln/>
        </p:spPr>
      </p:sp>
      <p:sp>
        <p:nvSpPr>
          <p:cNvPr id="98" name="Text 96"/>
          <p:cNvSpPr txBox="1"/>
          <p:nvPr/>
        </p:nvSpPr>
        <p:spPr>
          <a:xfrm>
            <a:off x="347472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99" name="Text 97"/>
          <p:cNvSpPr txBox="1"/>
          <p:nvPr/>
        </p:nvSpPr>
        <p:spPr>
          <a:xfrm>
            <a:off x="4224528" y="552094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$199.87</a:t>
            </a:r>
            <a:endParaRPr lang="en-US" sz="1300" dirty="0"/>
          </a:p>
        </p:txBody>
      </p:sp>
      <p:sp>
        <p:nvSpPr>
          <p:cNvPr id="100" name="Text 98"/>
          <p:cNvSpPr txBox="1"/>
          <p:nvPr/>
        </p:nvSpPr>
        <p:spPr>
          <a:xfrm>
            <a:off x="5212080" y="552094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Non-std</a:t>
            </a:r>
            <a:endParaRPr lang="en-US" sz="1300" dirty="0"/>
          </a:p>
        </p:txBody>
      </p:sp>
      <p:sp>
        <p:nvSpPr>
          <p:cNvPr id="101" name="Text 99"/>
          <p:cNvSpPr txBox="1"/>
          <p:nvPr/>
        </p:nvSpPr>
        <p:spPr>
          <a:xfrm>
            <a:off x="6208776"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2" name="Text 100"/>
          <p:cNvSpPr txBox="1"/>
          <p:nvPr/>
        </p:nvSpPr>
        <p:spPr>
          <a:xfrm>
            <a:off x="902512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3" name="Text 101"/>
          <p:cNvSpPr txBox="1"/>
          <p:nvPr/>
        </p:nvSpPr>
        <p:spPr>
          <a:xfrm>
            <a:off x="9774936"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104" name="Text 102"/>
          <p:cNvSpPr txBox="1"/>
          <p:nvPr/>
        </p:nvSpPr>
        <p:spPr>
          <a:xfrm>
            <a:off x="1076248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5" name="Text 10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6" name="Shape 104"/>
          <p:cNvSpPr/>
          <p:nvPr/>
        </p:nvSpPr>
        <p:spPr>
          <a:xfrm>
            <a:off x="8202168" y="1811020"/>
            <a:ext cx="540108" cy="110744"/>
          </a:xfrm>
          <a:prstGeom prst="rect">
            <a:avLst/>
          </a:prstGeom>
          <a:solidFill>
            <a:srgbClr val="2587C5"/>
          </a:solidFill>
          <a:ln/>
        </p:spPr>
      </p:sp>
      <p:sp>
        <p:nvSpPr>
          <p:cNvPr id="107" name="Text 105"/>
          <p:cNvSpPr txBox="1"/>
          <p:nvPr/>
        </p:nvSpPr>
        <p:spPr>
          <a:xfrm>
            <a:off x="902512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108" name="Text 106"/>
          <p:cNvSpPr txBox="1"/>
          <p:nvPr/>
        </p:nvSpPr>
        <p:spPr>
          <a:xfrm>
            <a:off x="9774936" y="1755648"/>
            <a:ext cx="987552" cy="221488"/>
          </a:xfrm>
          <a:prstGeom prst="rect">
            <a:avLst/>
          </a:prstGeom>
          <a:noFill/>
          <a:ln/>
        </p:spPr>
        <p:txBody>
          <a:bodyPr wrap="square" lIns="0" tIns="0" rIns="0" bIns="0" rtlCol="0" anchor="ctr"/>
          <a:lstStyle/>
          <a:p>
            <a:pPr algn="r" indent="0" marL="0">
              <a:buNone/>
            </a:pPr>
            <a:endParaRPr lang="en-US" sz="1300" dirty="0"/>
          </a:p>
        </p:txBody>
      </p:sp>
      <p:sp>
        <p:nvSpPr>
          <p:cNvPr id="109" name="Text 107"/>
          <p:cNvSpPr txBox="1"/>
          <p:nvPr/>
        </p:nvSpPr>
        <p:spPr>
          <a:xfrm>
            <a:off x="10762488" y="1755648"/>
            <a:ext cx="658368" cy="221488"/>
          </a:xfrm>
          <a:prstGeom prst="rect">
            <a:avLst/>
          </a:prstGeom>
          <a:noFill/>
          <a:ln/>
        </p:spPr>
        <p:txBody>
          <a:bodyPr wrap="square" lIns="0" tIns="0" rIns="0" bIns="0" rtlCol="0" anchor="ctr"/>
          <a:lstStyle/>
          <a:p>
            <a:pPr algn="r" indent="0" marL="0">
              <a:buNone/>
            </a:pPr>
            <a:endParaRPr lang="en-US" sz="1300" dirty="0"/>
          </a:p>
        </p:txBody>
      </p:sp>
      <p:sp>
        <p:nvSpPr>
          <p:cNvPr id="110" name="Text 108"/>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1" name="Shape 109"/>
          <p:cNvSpPr/>
          <p:nvPr/>
        </p:nvSpPr>
        <p:spPr>
          <a:xfrm>
            <a:off x="8202168" y="2032508"/>
            <a:ext cx="462796" cy="110744"/>
          </a:xfrm>
          <a:prstGeom prst="rect">
            <a:avLst/>
          </a:prstGeom>
          <a:solidFill>
            <a:srgbClr val="2587C5"/>
          </a:solidFill>
          <a:ln/>
        </p:spPr>
      </p:sp>
      <p:sp>
        <p:nvSpPr>
          <p:cNvPr id="112" name="Text 110"/>
          <p:cNvSpPr txBox="1"/>
          <p:nvPr/>
        </p:nvSpPr>
        <p:spPr>
          <a:xfrm>
            <a:off x="902512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113" name="Text 111"/>
          <p:cNvSpPr txBox="1"/>
          <p:nvPr/>
        </p:nvSpPr>
        <p:spPr>
          <a:xfrm>
            <a:off x="9774936"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14" name="Text 112"/>
          <p:cNvSpPr txBox="1"/>
          <p:nvPr/>
        </p:nvSpPr>
        <p:spPr>
          <a:xfrm>
            <a:off x="10762488"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115" name="Text 113"/>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Shape 114"/>
          <p:cNvSpPr/>
          <p:nvPr/>
        </p:nvSpPr>
        <p:spPr>
          <a:xfrm>
            <a:off x="8202168" y="2253996"/>
            <a:ext cx="447117" cy="110744"/>
          </a:xfrm>
          <a:prstGeom prst="rect">
            <a:avLst/>
          </a:prstGeom>
          <a:solidFill>
            <a:srgbClr val="2587C5"/>
          </a:solidFill>
          <a:ln/>
        </p:spPr>
      </p:sp>
      <p:sp>
        <p:nvSpPr>
          <p:cNvPr id="117" name="Text 115"/>
          <p:cNvSpPr txBox="1"/>
          <p:nvPr/>
        </p:nvSpPr>
        <p:spPr>
          <a:xfrm>
            <a:off x="902512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118" name="Text 116"/>
          <p:cNvSpPr txBox="1"/>
          <p:nvPr/>
        </p:nvSpPr>
        <p:spPr>
          <a:xfrm>
            <a:off x="9774936"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119" name="Text 117"/>
          <p:cNvSpPr txBox="1"/>
          <p:nvPr/>
        </p:nvSpPr>
        <p:spPr>
          <a:xfrm>
            <a:off x="10762488"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120" name="Text 118"/>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1" name="Shape 119"/>
          <p:cNvSpPr/>
          <p:nvPr/>
        </p:nvSpPr>
        <p:spPr>
          <a:xfrm>
            <a:off x="8202168" y="2475484"/>
            <a:ext cx="401069" cy="110744"/>
          </a:xfrm>
          <a:prstGeom prst="rect">
            <a:avLst/>
          </a:prstGeom>
          <a:solidFill>
            <a:srgbClr val="2587C5"/>
          </a:solidFill>
          <a:ln/>
        </p:spPr>
      </p:sp>
      <p:sp>
        <p:nvSpPr>
          <p:cNvPr id="122" name="Text 120"/>
          <p:cNvSpPr txBox="1"/>
          <p:nvPr/>
        </p:nvSpPr>
        <p:spPr>
          <a:xfrm>
            <a:off x="902512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123" name="Text 121"/>
          <p:cNvSpPr txBox="1"/>
          <p:nvPr/>
        </p:nvSpPr>
        <p:spPr>
          <a:xfrm>
            <a:off x="9774936"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124" name="Text 122"/>
          <p:cNvSpPr txBox="1"/>
          <p:nvPr/>
        </p:nvSpPr>
        <p:spPr>
          <a:xfrm>
            <a:off x="10762488"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125" name="Text 123"/>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26" name="Shape 124"/>
          <p:cNvSpPr/>
          <p:nvPr/>
        </p:nvSpPr>
        <p:spPr>
          <a:xfrm>
            <a:off x="8202168" y="2696972"/>
            <a:ext cx="370360" cy="110744"/>
          </a:xfrm>
          <a:prstGeom prst="rect">
            <a:avLst/>
          </a:prstGeom>
          <a:solidFill>
            <a:srgbClr val="2587C5"/>
          </a:solidFill>
          <a:ln/>
        </p:spPr>
      </p:sp>
      <p:sp>
        <p:nvSpPr>
          <p:cNvPr id="127" name="Text 125"/>
          <p:cNvSpPr txBox="1"/>
          <p:nvPr/>
        </p:nvSpPr>
        <p:spPr>
          <a:xfrm>
            <a:off x="902512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128" name="Text 126"/>
          <p:cNvSpPr txBox="1"/>
          <p:nvPr/>
        </p:nvSpPr>
        <p:spPr>
          <a:xfrm>
            <a:off x="9774936" y="264160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$230.00</a:t>
            </a:r>
            <a:endParaRPr lang="en-US" sz="1300" dirty="0"/>
          </a:p>
        </p:txBody>
      </p:sp>
      <p:sp>
        <p:nvSpPr>
          <p:cNvPr id="129" name="Text 127"/>
          <p:cNvSpPr txBox="1"/>
          <p:nvPr/>
        </p:nvSpPr>
        <p:spPr>
          <a:xfrm>
            <a:off x="10762488" y="264160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30" name="Text 12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1" name="Shape 129"/>
          <p:cNvSpPr/>
          <p:nvPr/>
        </p:nvSpPr>
        <p:spPr>
          <a:xfrm>
            <a:off x="8202168" y="2918460"/>
            <a:ext cx="356070" cy="110744"/>
          </a:xfrm>
          <a:prstGeom prst="rect">
            <a:avLst/>
          </a:prstGeom>
          <a:solidFill>
            <a:srgbClr val="2587C5"/>
          </a:solidFill>
          <a:ln/>
        </p:spPr>
      </p:sp>
      <p:sp>
        <p:nvSpPr>
          <p:cNvPr id="132" name="Text 130"/>
          <p:cNvSpPr txBox="1"/>
          <p:nvPr/>
        </p:nvSpPr>
        <p:spPr>
          <a:xfrm>
            <a:off x="902512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133" name="Text 131"/>
          <p:cNvSpPr txBox="1"/>
          <p:nvPr/>
        </p:nvSpPr>
        <p:spPr>
          <a:xfrm>
            <a:off x="9774936"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134" name="Text 132"/>
          <p:cNvSpPr txBox="1"/>
          <p:nvPr/>
        </p:nvSpPr>
        <p:spPr>
          <a:xfrm>
            <a:off x="10762488"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135" name="Text 133"/>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6" name="Shape 134"/>
          <p:cNvSpPr/>
          <p:nvPr/>
        </p:nvSpPr>
        <p:spPr>
          <a:xfrm>
            <a:off x="8202168" y="3139948"/>
            <a:ext cx="339497" cy="110744"/>
          </a:xfrm>
          <a:prstGeom prst="rect">
            <a:avLst/>
          </a:prstGeom>
          <a:solidFill>
            <a:srgbClr val="2587C5"/>
          </a:solidFill>
          <a:ln/>
        </p:spPr>
      </p:sp>
      <p:sp>
        <p:nvSpPr>
          <p:cNvPr id="137" name="Text 135"/>
          <p:cNvSpPr txBox="1"/>
          <p:nvPr/>
        </p:nvSpPr>
        <p:spPr>
          <a:xfrm>
            <a:off x="902512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38" name="Text 136"/>
          <p:cNvSpPr txBox="1"/>
          <p:nvPr/>
        </p:nvSpPr>
        <p:spPr>
          <a:xfrm>
            <a:off x="9774936"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139" name="Text 137"/>
          <p:cNvSpPr txBox="1"/>
          <p:nvPr/>
        </p:nvSpPr>
        <p:spPr>
          <a:xfrm>
            <a:off x="10762488"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140" name="Text 138"/>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41" name="Shape 139"/>
          <p:cNvSpPr/>
          <p:nvPr/>
        </p:nvSpPr>
        <p:spPr>
          <a:xfrm>
            <a:off x="8202168" y="3361436"/>
            <a:ext cx="339497" cy="110744"/>
          </a:xfrm>
          <a:prstGeom prst="rect">
            <a:avLst/>
          </a:prstGeom>
          <a:solidFill>
            <a:srgbClr val="2587C5"/>
          </a:solidFill>
          <a:ln/>
        </p:spPr>
      </p:sp>
      <p:sp>
        <p:nvSpPr>
          <p:cNvPr id="142" name="Text 140"/>
          <p:cNvSpPr txBox="1"/>
          <p:nvPr/>
        </p:nvSpPr>
        <p:spPr>
          <a:xfrm>
            <a:off x="902512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43" name="Text 141"/>
          <p:cNvSpPr txBox="1"/>
          <p:nvPr/>
        </p:nvSpPr>
        <p:spPr>
          <a:xfrm>
            <a:off x="9774936"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144" name="Text 142"/>
          <p:cNvSpPr txBox="1"/>
          <p:nvPr/>
        </p:nvSpPr>
        <p:spPr>
          <a:xfrm>
            <a:off x="10762488"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145" name="Shape 143"/>
          <p:cNvSpPr/>
          <p:nvPr/>
        </p:nvSpPr>
        <p:spPr>
          <a:xfrm>
            <a:off x="6153912" y="3527552"/>
            <a:ext cx="5285232" cy="212344"/>
          </a:xfrm>
          <a:prstGeom prst="rect">
            <a:avLst/>
          </a:prstGeom>
          <a:solidFill>
            <a:srgbClr val="EDF4FA"/>
          </a:solidFill>
          <a:ln/>
        </p:spPr>
      </p:sp>
      <p:sp>
        <p:nvSpPr>
          <p:cNvPr id="146" name="Text 144"/>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7" name="Shape 145"/>
          <p:cNvSpPr/>
          <p:nvPr/>
        </p:nvSpPr>
        <p:spPr>
          <a:xfrm>
            <a:off x="8202168" y="3582924"/>
            <a:ext cx="317376" cy="110744"/>
          </a:xfrm>
          <a:prstGeom prst="rect">
            <a:avLst/>
          </a:prstGeom>
          <a:solidFill>
            <a:srgbClr val="0B2C4A"/>
          </a:solidFill>
          <a:ln/>
        </p:spPr>
      </p:sp>
      <p:sp>
        <p:nvSpPr>
          <p:cNvPr id="148" name="Text 146"/>
          <p:cNvSpPr txBox="1"/>
          <p:nvPr/>
        </p:nvSpPr>
        <p:spPr>
          <a:xfrm>
            <a:off x="902512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49" name="Text 147"/>
          <p:cNvSpPr txBox="1"/>
          <p:nvPr/>
        </p:nvSpPr>
        <p:spPr>
          <a:xfrm>
            <a:off x="9774936" y="3527552"/>
            <a:ext cx="987552" cy="221488"/>
          </a:xfrm>
          <a:prstGeom prst="rect">
            <a:avLst/>
          </a:prstGeom>
          <a:noFill/>
          <a:ln/>
        </p:spPr>
        <p:txBody>
          <a:bodyPr wrap="square" lIns="0" tIns="0" rIns="0" bIns="0" rtlCol="0" anchor="ctr"/>
          <a:lstStyle/>
          <a:p>
            <a:pPr algn="r" indent="0" marL="0">
              <a:buNone/>
            </a:pPr>
            <a:endParaRPr lang="en-US" sz="1300" dirty="0"/>
          </a:p>
        </p:txBody>
      </p:sp>
      <p:sp>
        <p:nvSpPr>
          <p:cNvPr id="150" name="Text 148"/>
          <p:cNvSpPr txBox="1"/>
          <p:nvPr/>
        </p:nvSpPr>
        <p:spPr>
          <a:xfrm>
            <a:off x="10762488" y="3527552"/>
            <a:ext cx="658368" cy="221488"/>
          </a:xfrm>
          <a:prstGeom prst="rect">
            <a:avLst/>
          </a:prstGeom>
          <a:noFill/>
          <a:ln/>
        </p:spPr>
        <p:txBody>
          <a:bodyPr wrap="square" lIns="0" tIns="0" rIns="0" bIns="0" rtlCol="0" anchor="ctr"/>
          <a:lstStyle/>
          <a:p>
            <a:pPr algn="r" indent="0" marL="0">
              <a:buNone/>
            </a:pPr>
            <a:endParaRPr lang="en-US" sz="1300" dirty="0"/>
          </a:p>
        </p:txBody>
      </p:sp>
      <p:sp>
        <p:nvSpPr>
          <p:cNvPr id="151" name="Text 149"/>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202168" y="3804412"/>
            <a:ext cx="308479" cy="110744"/>
          </a:xfrm>
          <a:prstGeom prst="rect">
            <a:avLst/>
          </a:prstGeom>
          <a:solidFill>
            <a:srgbClr val="2587C5"/>
          </a:solidFill>
          <a:ln/>
        </p:spPr>
      </p:sp>
      <p:sp>
        <p:nvSpPr>
          <p:cNvPr id="153" name="Text 151"/>
          <p:cNvSpPr txBox="1"/>
          <p:nvPr/>
        </p:nvSpPr>
        <p:spPr>
          <a:xfrm>
            <a:off x="902512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154" name="Text 152"/>
          <p:cNvSpPr txBox="1"/>
          <p:nvPr/>
        </p:nvSpPr>
        <p:spPr>
          <a:xfrm>
            <a:off x="9774936"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155" name="Text 153"/>
          <p:cNvSpPr txBox="1"/>
          <p:nvPr/>
        </p:nvSpPr>
        <p:spPr>
          <a:xfrm>
            <a:off x="10762488"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156" name="Text 15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7" name="Shape 155"/>
          <p:cNvSpPr/>
          <p:nvPr/>
        </p:nvSpPr>
        <p:spPr>
          <a:xfrm>
            <a:off x="8202168" y="4025900"/>
            <a:ext cx="293202" cy="110744"/>
          </a:xfrm>
          <a:prstGeom prst="rect">
            <a:avLst/>
          </a:prstGeom>
          <a:solidFill>
            <a:srgbClr val="2587C5"/>
          </a:solidFill>
          <a:ln/>
        </p:spPr>
      </p:sp>
      <p:sp>
        <p:nvSpPr>
          <p:cNvPr id="158" name="Text 156"/>
          <p:cNvSpPr txBox="1"/>
          <p:nvPr/>
        </p:nvSpPr>
        <p:spPr>
          <a:xfrm>
            <a:off x="902512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159" name="Text 157"/>
          <p:cNvSpPr txBox="1"/>
          <p:nvPr/>
        </p:nvSpPr>
        <p:spPr>
          <a:xfrm>
            <a:off x="9774936"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160" name="Text 158"/>
          <p:cNvSpPr txBox="1"/>
          <p:nvPr/>
        </p:nvSpPr>
        <p:spPr>
          <a:xfrm>
            <a:off x="10762488"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161" name="Text 159"/>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2" name="Shape 160"/>
          <p:cNvSpPr/>
          <p:nvPr/>
        </p:nvSpPr>
        <p:spPr>
          <a:xfrm>
            <a:off x="8202168" y="4247388"/>
            <a:ext cx="277770" cy="110744"/>
          </a:xfrm>
          <a:prstGeom prst="rect">
            <a:avLst/>
          </a:prstGeom>
          <a:solidFill>
            <a:srgbClr val="2587C5"/>
          </a:solidFill>
          <a:ln/>
        </p:spPr>
      </p:sp>
      <p:sp>
        <p:nvSpPr>
          <p:cNvPr id="163" name="Text 161"/>
          <p:cNvSpPr txBox="1"/>
          <p:nvPr/>
        </p:nvSpPr>
        <p:spPr>
          <a:xfrm>
            <a:off x="902512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64" name="Text 162"/>
          <p:cNvSpPr txBox="1"/>
          <p:nvPr/>
        </p:nvSpPr>
        <p:spPr>
          <a:xfrm>
            <a:off x="9774936"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165" name="Text 163"/>
          <p:cNvSpPr txBox="1"/>
          <p:nvPr/>
        </p:nvSpPr>
        <p:spPr>
          <a:xfrm>
            <a:off x="10762488"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166" name="Text 164"/>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7" name="Shape 165"/>
          <p:cNvSpPr/>
          <p:nvPr/>
        </p:nvSpPr>
        <p:spPr>
          <a:xfrm>
            <a:off x="8202168" y="4468876"/>
            <a:ext cx="262338" cy="110744"/>
          </a:xfrm>
          <a:prstGeom prst="rect">
            <a:avLst/>
          </a:prstGeom>
          <a:solidFill>
            <a:srgbClr val="2587C5"/>
          </a:solidFill>
          <a:ln/>
        </p:spPr>
      </p:sp>
      <p:sp>
        <p:nvSpPr>
          <p:cNvPr id="168" name="Text 166"/>
          <p:cNvSpPr txBox="1"/>
          <p:nvPr/>
        </p:nvSpPr>
        <p:spPr>
          <a:xfrm>
            <a:off x="902512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69" name="Text 167"/>
          <p:cNvSpPr txBox="1"/>
          <p:nvPr/>
        </p:nvSpPr>
        <p:spPr>
          <a:xfrm>
            <a:off x="9774936" y="441350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$215.00</a:t>
            </a:r>
            <a:endParaRPr lang="en-US" sz="1300" dirty="0"/>
          </a:p>
        </p:txBody>
      </p:sp>
      <p:sp>
        <p:nvSpPr>
          <p:cNvPr id="170" name="Text 168"/>
          <p:cNvSpPr txBox="1"/>
          <p:nvPr/>
        </p:nvSpPr>
        <p:spPr>
          <a:xfrm>
            <a:off x="10762488" y="441350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1" name="Text 169"/>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72" name="Shape 170"/>
          <p:cNvSpPr/>
          <p:nvPr/>
        </p:nvSpPr>
        <p:spPr>
          <a:xfrm>
            <a:off x="8202168" y="4690364"/>
            <a:ext cx="262338" cy="110744"/>
          </a:xfrm>
          <a:prstGeom prst="rect">
            <a:avLst/>
          </a:prstGeom>
          <a:solidFill>
            <a:srgbClr val="2587C5"/>
          </a:solidFill>
          <a:ln/>
        </p:spPr>
      </p:sp>
      <p:sp>
        <p:nvSpPr>
          <p:cNvPr id="173" name="Text 171"/>
          <p:cNvSpPr txBox="1"/>
          <p:nvPr/>
        </p:nvSpPr>
        <p:spPr>
          <a:xfrm>
            <a:off x="902512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4" name="Text 172"/>
          <p:cNvSpPr txBox="1"/>
          <p:nvPr/>
        </p:nvSpPr>
        <p:spPr>
          <a:xfrm>
            <a:off x="9774936" y="463499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75" name="Text 173"/>
          <p:cNvSpPr txBox="1"/>
          <p:nvPr/>
        </p:nvSpPr>
        <p:spPr>
          <a:xfrm>
            <a:off x="10762488" y="463499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6" name="Text 174"/>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77" name="Shape 175"/>
          <p:cNvSpPr/>
          <p:nvPr/>
        </p:nvSpPr>
        <p:spPr>
          <a:xfrm>
            <a:off x="8202168" y="4911852"/>
            <a:ext cx="262338" cy="110744"/>
          </a:xfrm>
          <a:prstGeom prst="rect">
            <a:avLst/>
          </a:prstGeom>
          <a:solidFill>
            <a:srgbClr val="2587C5"/>
          </a:solidFill>
          <a:ln/>
        </p:spPr>
      </p:sp>
      <p:sp>
        <p:nvSpPr>
          <p:cNvPr id="178" name="Text 176"/>
          <p:cNvSpPr txBox="1"/>
          <p:nvPr/>
        </p:nvSpPr>
        <p:spPr>
          <a:xfrm>
            <a:off x="902512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9" name="Text 177"/>
          <p:cNvSpPr txBox="1"/>
          <p:nvPr/>
        </p:nvSpPr>
        <p:spPr>
          <a:xfrm>
            <a:off x="9774936"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0" name="Text 178"/>
          <p:cNvSpPr txBox="1"/>
          <p:nvPr/>
        </p:nvSpPr>
        <p:spPr>
          <a:xfrm>
            <a:off x="10762488"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1" name="Text 17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2" name="Shape 180"/>
          <p:cNvSpPr/>
          <p:nvPr/>
        </p:nvSpPr>
        <p:spPr>
          <a:xfrm>
            <a:off x="8202168" y="5133340"/>
            <a:ext cx="262338" cy="110744"/>
          </a:xfrm>
          <a:prstGeom prst="rect">
            <a:avLst/>
          </a:prstGeom>
          <a:solidFill>
            <a:srgbClr val="2587C5"/>
          </a:solidFill>
          <a:ln/>
        </p:spPr>
      </p:sp>
      <p:sp>
        <p:nvSpPr>
          <p:cNvPr id="183" name="Text 181"/>
          <p:cNvSpPr txBox="1"/>
          <p:nvPr/>
        </p:nvSpPr>
        <p:spPr>
          <a:xfrm>
            <a:off x="902512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84" name="Text 182"/>
          <p:cNvSpPr txBox="1"/>
          <p:nvPr/>
        </p:nvSpPr>
        <p:spPr>
          <a:xfrm>
            <a:off x="9774936"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185" name="Text 183"/>
          <p:cNvSpPr txBox="1"/>
          <p:nvPr/>
        </p:nvSpPr>
        <p:spPr>
          <a:xfrm>
            <a:off x="10762488"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186" name="Text 184"/>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7" name="Shape 185"/>
          <p:cNvSpPr/>
          <p:nvPr/>
        </p:nvSpPr>
        <p:spPr>
          <a:xfrm>
            <a:off x="8202168" y="5354828"/>
            <a:ext cx="243820" cy="110744"/>
          </a:xfrm>
          <a:prstGeom prst="rect">
            <a:avLst/>
          </a:prstGeom>
          <a:solidFill>
            <a:srgbClr val="2587C5"/>
          </a:solidFill>
          <a:ln/>
        </p:spPr>
      </p:sp>
      <p:sp>
        <p:nvSpPr>
          <p:cNvPr id="188" name="Text 186"/>
          <p:cNvSpPr txBox="1"/>
          <p:nvPr/>
        </p:nvSpPr>
        <p:spPr>
          <a:xfrm>
            <a:off x="902512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89" name="Text 187"/>
          <p:cNvSpPr txBox="1"/>
          <p:nvPr/>
        </p:nvSpPr>
        <p:spPr>
          <a:xfrm>
            <a:off x="9774936"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190" name="Text 188"/>
          <p:cNvSpPr txBox="1"/>
          <p:nvPr/>
        </p:nvSpPr>
        <p:spPr>
          <a:xfrm>
            <a:off x="10762488"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191" name="Shape 189"/>
          <p:cNvSpPr/>
          <p:nvPr/>
        </p:nvSpPr>
        <p:spPr>
          <a:xfrm>
            <a:off x="6035040" y="1371600"/>
            <a:ext cx="10973" cy="4370832"/>
          </a:xfrm>
          <a:prstGeom prst="rect">
            <a:avLst/>
          </a:prstGeom>
          <a:solidFill>
            <a:srgbClr val="D9D9D9"/>
          </a:solidFill>
          <a:ln/>
        </p:spPr>
      </p:sp>
      <p:sp>
        <p:nvSpPr>
          <p:cNvPr id="192" name="Shape 190"/>
          <p:cNvSpPr/>
          <p:nvPr/>
        </p:nvSpPr>
        <p:spPr>
          <a:xfrm>
            <a:off x="457200" y="5961888"/>
            <a:ext cx="11274552" cy="548640"/>
          </a:xfrm>
          <a:prstGeom prst="rect">
            <a:avLst/>
          </a:prstGeom>
          <a:solidFill>
            <a:srgbClr val="EDF4FA"/>
          </a:solidFill>
          <a:ln/>
        </p:spPr>
      </p:sp>
      <p:sp>
        <p:nvSpPr>
          <p:cNvPr id="193" name="Text 19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 name="Shape 8"/>
          <p:cNvSpPr/>
          <p:nvPr/>
        </p:nvSpPr>
        <p:spPr>
          <a:xfrm>
            <a:off x="2971800" y="1995275"/>
            <a:ext cx="1446306"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3" name="Shape 11"/>
          <p:cNvSpPr/>
          <p:nvPr/>
        </p:nvSpPr>
        <p:spPr>
          <a:xfrm>
            <a:off x="2971800" y="2230867"/>
            <a:ext cx="1438649"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6" name="Shape 14"/>
          <p:cNvSpPr/>
          <p:nvPr/>
        </p:nvSpPr>
        <p:spPr>
          <a:xfrm>
            <a:off x="2971800" y="2466460"/>
            <a:ext cx="1433426"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9" name="Shape 17"/>
          <p:cNvSpPr/>
          <p:nvPr/>
        </p:nvSpPr>
        <p:spPr>
          <a:xfrm>
            <a:off x="2971800" y="2702052"/>
            <a:ext cx="1397196"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937644"/>
            <a:ext cx="1347014"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5" name="Shape 23"/>
          <p:cNvSpPr/>
          <p:nvPr/>
        </p:nvSpPr>
        <p:spPr>
          <a:xfrm>
            <a:off x="2971800" y="3173237"/>
            <a:ext cx="1333990"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8" name="Shape 26"/>
          <p:cNvSpPr/>
          <p:nvPr/>
        </p:nvSpPr>
        <p:spPr>
          <a:xfrm>
            <a:off x="2971800" y="3408829"/>
            <a:ext cx="1228076"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1" name="Shape 29"/>
          <p:cNvSpPr/>
          <p:nvPr/>
        </p:nvSpPr>
        <p:spPr>
          <a:xfrm>
            <a:off x="2971800" y="3644422"/>
            <a:ext cx="1195346"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4" name="Shape 32"/>
          <p:cNvSpPr/>
          <p:nvPr/>
        </p:nvSpPr>
        <p:spPr>
          <a:xfrm>
            <a:off x="2971800" y="3880014"/>
            <a:ext cx="1180380"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7" name="Shape 35"/>
          <p:cNvSpPr/>
          <p:nvPr/>
        </p:nvSpPr>
        <p:spPr>
          <a:xfrm>
            <a:off x="2971800" y="4115607"/>
            <a:ext cx="1148734"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351199"/>
            <a:ext cx="1138233"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3" name="Shape 41"/>
          <p:cNvSpPr/>
          <p:nvPr/>
        </p:nvSpPr>
        <p:spPr>
          <a:xfrm>
            <a:off x="2971800" y="4586792"/>
            <a:ext cx="1121572" cy="117796"/>
          </a:xfrm>
          <a:prstGeom prst="rect">
            <a:avLst/>
          </a:prstGeom>
          <a:solidFill>
            <a:srgbClr val="12A566"/>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6" name="Shape 44"/>
          <p:cNvSpPr/>
          <p:nvPr/>
        </p:nvSpPr>
        <p:spPr>
          <a:xfrm>
            <a:off x="2971800" y="4822384"/>
            <a:ext cx="1121425" cy="117796"/>
          </a:xfrm>
          <a:prstGeom prst="rect">
            <a:avLst/>
          </a:prstGeom>
          <a:solidFill>
            <a:srgbClr val="12A566"/>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8" name="Text 46"/>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9" name="Shape 47"/>
          <p:cNvSpPr/>
          <p:nvPr/>
        </p:nvSpPr>
        <p:spPr>
          <a:xfrm>
            <a:off x="2971800" y="5057977"/>
            <a:ext cx="1109101" cy="117796"/>
          </a:xfrm>
          <a:prstGeom prst="rect">
            <a:avLst/>
          </a:prstGeom>
          <a:solidFill>
            <a:srgbClr val="12A566"/>
          </a:solidFill>
          <a:ln/>
        </p:spPr>
      </p:sp>
      <p:sp>
        <p:nvSpPr>
          <p:cNvPr id="50" name="Text 48"/>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51" name="Text 49"/>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2" name="Shape 50"/>
          <p:cNvSpPr/>
          <p:nvPr/>
        </p:nvSpPr>
        <p:spPr>
          <a:xfrm>
            <a:off x="2971800" y="5293569"/>
            <a:ext cx="1058530" cy="117796"/>
          </a:xfrm>
          <a:prstGeom prst="rect">
            <a:avLst/>
          </a:prstGeom>
          <a:solidFill>
            <a:srgbClr val="12A566"/>
          </a:solidFill>
          <a:ln/>
        </p:spPr>
      </p:sp>
      <p:sp>
        <p:nvSpPr>
          <p:cNvPr id="53" name="Text 51"/>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54" name="Text 52"/>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5" name="Shape 53"/>
          <p:cNvSpPr/>
          <p:nvPr/>
        </p:nvSpPr>
        <p:spPr>
          <a:xfrm>
            <a:off x="2971800" y="5529162"/>
            <a:ext cx="1049894" cy="117796"/>
          </a:xfrm>
          <a:prstGeom prst="rect">
            <a:avLst/>
          </a:prstGeom>
          <a:solidFill>
            <a:srgbClr val="12A566"/>
          </a:solidFill>
          <a:ln/>
        </p:spPr>
      </p:sp>
      <p:sp>
        <p:nvSpPr>
          <p:cNvPr id="56" name="Text 54"/>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7" name="Text 55"/>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8" name="Shape 56"/>
          <p:cNvSpPr/>
          <p:nvPr/>
        </p:nvSpPr>
        <p:spPr>
          <a:xfrm>
            <a:off x="8522208" y="1759682"/>
            <a:ext cx="1020847" cy="117796"/>
          </a:xfrm>
          <a:prstGeom prst="rect">
            <a:avLst/>
          </a:prstGeom>
          <a:solidFill>
            <a:srgbClr val="12A566"/>
          </a:solidFill>
          <a:ln/>
        </p:spPr>
      </p:sp>
      <p:sp>
        <p:nvSpPr>
          <p:cNvPr id="59" name="Text 57"/>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60" name="Text 58"/>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1" name="Shape 59"/>
          <p:cNvSpPr/>
          <p:nvPr/>
        </p:nvSpPr>
        <p:spPr>
          <a:xfrm>
            <a:off x="8522208" y="1995275"/>
            <a:ext cx="1015981" cy="117796"/>
          </a:xfrm>
          <a:prstGeom prst="rect">
            <a:avLst/>
          </a:prstGeom>
          <a:solidFill>
            <a:srgbClr val="12A566"/>
          </a:solidFill>
          <a:ln/>
        </p:spPr>
      </p:sp>
      <p:sp>
        <p:nvSpPr>
          <p:cNvPr id="62" name="Text 60"/>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63" name="Text 61"/>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4" name="Shape 62"/>
          <p:cNvSpPr/>
          <p:nvPr/>
        </p:nvSpPr>
        <p:spPr>
          <a:xfrm>
            <a:off x="8522208" y="2230867"/>
            <a:ext cx="1010910" cy="117796"/>
          </a:xfrm>
          <a:prstGeom prst="rect">
            <a:avLst/>
          </a:prstGeom>
          <a:solidFill>
            <a:srgbClr val="12A566"/>
          </a:solidFill>
          <a:ln/>
        </p:spPr>
      </p:sp>
      <p:sp>
        <p:nvSpPr>
          <p:cNvPr id="65" name="Text 63"/>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6" name="Text 64"/>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7" name="Shape 65"/>
          <p:cNvSpPr/>
          <p:nvPr/>
        </p:nvSpPr>
        <p:spPr>
          <a:xfrm>
            <a:off x="8522208" y="2466460"/>
            <a:ext cx="1008228" cy="117796"/>
          </a:xfrm>
          <a:prstGeom prst="rect">
            <a:avLst/>
          </a:prstGeom>
          <a:solidFill>
            <a:srgbClr val="12A566"/>
          </a:solidFill>
          <a:ln/>
        </p:spPr>
      </p:sp>
      <p:sp>
        <p:nvSpPr>
          <p:cNvPr id="68" name="Text 66"/>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69" name="Shape 67"/>
          <p:cNvSpPr/>
          <p:nvPr/>
        </p:nvSpPr>
        <p:spPr>
          <a:xfrm>
            <a:off x="6135624" y="2638582"/>
            <a:ext cx="5413248" cy="226448"/>
          </a:xfrm>
          <a:prstGeom prst="rect">
            <a:avLst/>
          </a:prstGeom>
          <a:solidFill>
            <a:srgbClr val="EDF4FA"/>
          </a:solidFill>
          <a:ln/>
        </p:spPr>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71" name="Shape 69"/>
          <p:cNvSpPr/>
          <p:nvPr/>
        </p:nvSpPr>
        <p:spPr>
          <a:xfrm>
            <a:off x="8522208" y="2702052"/>
            <a:ext cx="1002151" cy="117796"/>
          </a:xfrm>
          <a:prstGeom prst="rect">
            <a:avLst/>
          </a:prstGeom>
          <a:solidFill>
            <a:srgbClr val="0B2C4A"/>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4" name="Shape 72"/>
          <p:cNvSpPr/>
          <p:nvPr/>
        </p:nvSpPr>
        <p:spPr>
          <a:xfrm>
            <a:off x="8522208" y="2937644"/>
            <a:ext cx="976219" cy="117796"/>
          </a:xfrm>
          <a:prstGeom prst="rect">
            <a:avLst/>
          </a:prstGeom>
          <a:solidFill>
            <a:srgbClr val="12A566"/>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7" name="Shape 75"/>
          <p:cNvSpPr/>
          <p:nvPr/>
        </p:nvSpPr>
        <p:spPr>
          <a:xfrm>
            <a:off x="8522208" y="3173237"/>
            <a:ext cx="954948" cy="117796"/>
          </a:xfrm>
          <a:prstGeom prst="rect">
            <a:avLst/>
          </a:prstGeom>
          <a:solidFill>
            <a:srgbClr val="12A566"/>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0" name="Shape 78"/>
          <p:cNvSpPr/>
          <p:nvPr/>
        </p:nvSpPr>
        <p:spPr>
          <a:xfrm>
            <a:off x="8522208" y="3408829"/>
            <a:ext cx="933949" cy="117796"/>
          </a:xfrm>
          <a:prstGeom prst="rect">
            <a:avLst/>
          </a:prstGeom>
          <a:solidFill>
            <a:srgbClr val="12A566"/>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3" name="Shape 81"/>
          <p:cNvSpPr/>
          <p:nvPr/>
        </p:nvSpPr>
        <p:spPr>
          <a:xfrm>
            <a:off x="8522208" y="3644422"/>
            <a:ext cx="882890" cy="117796"/>
          </a:xfrm>
          <a:prstGeom prst="rect">
            <a:avLst/>
          </a:prstGeom>
          <a:solidFill>
            <a:srgbClr val="12A566"/>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6" name="Shape 84"/>
          <p:cNvSpPr/>
          <p:nvPr/>
        </p:nvSpPr>
        <p:spPr>
          <a:xfrm>
            <a:off x="8522208" y="3880014"/>
            <a:ext cx="822290"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4115607"/>
            <a:ext cx="814780"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2" name="Shape 90"/>
          <p:cNvSpPr/>
          <p:nvPr/>
        </p:nvSpPr>
        <p:spPr>
          <a:xfrm>
            <a:off x="8522208" y="4351199"/>
            <a:ext cx="792761"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5" name="Shape 93"/>
          <p:cNvSpPr/>
          <p:nvPr/>
        </p:nvSpPr>
        <p:spPr>
          <a:xfrm>
            <a:off x="8522208" y="4586792"/>
            <a:ext cx="771374"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822384"/>
            <a:ext cx="765356"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1" name="Shape 99"/>
          <p:cNvSpPr/>
          <p:nvPr/>
        </p:nvSpPr>
        <p:spPr>
          <a:xfrm>
            <a:off x="8522208" y="5057977"/>
            <a:ext cx="72103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4" name="Shape 102"/>
          <p:cNvSpPr/>
          <p:nvPr/>
        </p:nvSpPr>
        <p:spPr>
          <a:xfrm>
            <a:off x="8522208" y="5293569"/>
            <a:ext cx="714836"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7" name="Shape 105"/>
          <p:cNvSpPr/>
          <p:nvPr/>
        </p:nvSpPr>
        <p:spPr>
          <a:xfrm>
            <a:off x="8522208" y="5529162"/>
            <a:ext cx="621227"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09" name="Shape 107"/>
          <p:cNvSpPr/>
          <p:nvPr/>
        </p:nvSpPr>
        <p:spPr>
          <a:xfrm>
            <a:off x="3828503" y="1700784"/>
            <a:ext cx="14630" cy="4005072"/>
          </a:xfrm>
          <a:prstGeom prst="rect">
            <a:avLst/>
          </a:prstGeom>
          <a:solidFill>
            <a:srgbClr val="0B2C4A"/>
          </a:solidFill>
          <a:ln/>
        </p:spPr>
      </p:sp>
      <p:sp>
        <p:nvSpPr>
          <p:cNvPr id="110" name="Text 108"/>
          <p:cNvSpPr txBox="1"/>
          <p:nvPr/>
        </p:nvSpPr>
        <p:spPr>
          <a:xfrm>
            <a:off x="246421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1" name="Shape 109"/>
          <p:cNvSpPr/>
          <p:nvPr/>
        </p:nvSpPr>
        <p:spPr>
          <a:xfrm>
            <a:off x="9378911" y="1700784"/>
            <a:ext cx="14630" cy="4005072"/>
          </a:xfrm>
          <a:prstGeom prst="rect">
            <a:avLst/>
          </a:prstGeom>
          <a:solidFill>
            <a:srgbClr val="0B2C4A"/>
          </a:solidFill>
          <a:ln/>
        </p:spPr>
      </p:sp>
      <p:sp>
        <p:nvSpPr>
          <p:cNvPr id="112" name="Text 110"/>
          <p:cNvSpPr txBox="1"/>
          <p:nvPr/>
        </p:nvSpPr>
        <p:spPr>
          <a:xfrm>
            <a:off x="8014627"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AUDI RENO leads at 103.4%; CADILLAC is lowest at 61.5%.</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841248" cy="117796"/>
          </a:xfrm>
          <a:prstGeom prst="rect">
            <a:avLst/>
          </a:prstGeom>
          <a:solidFill>
            <a:srgbClr val="12A566"/>
          </a:solidFill>
          <a:ln/>
        </p:spPr>
      </p:sp>
      <p:sp>
        <p:nvSpPr>
          <p:cNvPr id="8" name="Text 6"/>
          <p:cNvSpPr txBox="1"/>
          <p:nvPr/>
        </p:nvSpPr>
        <p:spPr>
          <a:xfrm>
            <a:off x="3566160"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242816"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502920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65301" cy="117796"/>
          </a:xfrm>
          <a:prstGeom prst="rect">
            <a:avLst/>
          </a:prstGeom>
          <a:solidFill>
            <a:srgbClr val="12A566"/>
          </a:solidFill>
          <a:ln/>
        </p:spPr>
      </p:sp>
      <p:sp>
        <p:nvSpPr>
          <p:cNvPr id="13" name="Text 11"/>
          <p:cNvSpPr txBox="1"/>
          <p:nvPr/>
        </p:nvSpPr>
        <p:spPr>
          <a:xfrm>
            <a:off x="3566160"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242816"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502920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61778" cy="117796"/>
          </a:xfrm>
          <a:prstGeom prst="rect">
            <a:avLst/>
          </a:prstGeom>
          <a:solidFill>
            <a:srgbClr val="12A566"/>
          </a:solidFill>
          <a:ln/>
        </p:spPr>
      </p:sp>
      <p:sp>
        <p:nvSpPr>
          <p:cNvPr id="18" name="Text 16"/>
          <p:cNvSpPr txBox="1"/>
          <p:nvPr/>
        </p:nvSpPr>
        <p:spPr>
          <a:xfrm>
            <a:off x="3566160"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242816"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502920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59376" cy="117796"/>
          </a:xfrm>
          <a:prstGeom prst="rect">
            <a:avLst/>
          </a:prstGeom>
          <a:solidFill>
            <a:srgbClr val="12A566"/>
          </a:solidFill>
          <a:ln/>
        </p:spPr>
      </p:sp>
      <p:sp>
        <p:nvSpPr>
          <p:cNvPr id="23" name="Text 21"/>
          <p:cNvSpPr txBox="1"/>
          <p:nvPr/>
        </p:nvSpPr>
        <p:spPr>
          <a:xfrm>
            <a:off x="3566160"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242816"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502920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42710" cy="117796"/>
          </a:xfrm>
          <a:prstGeom prst="rect">
            <a:avLst/>
          </a:prstGeom>
          <a:solidFill>
            <a:srgbClr val="12A566"/>
          </a:solidFill>
          <a:ln/>
        </p:spPr>
      </p:sp>
      <p:sp>
        <p:nvSpPr>
          <p:cNvPr id="28" name="Text 26"/>
          <p:cNvSpPr txBox="1"/>
          <p:nvPr/>
        </p:nvSpPr>
        <p:spPr>
          <a:xfrm>
            <a:off x="3566160"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242816"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5029200"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619626" cy="117796"/>
          </a:xfrm>
          <a:prstGeom prst="rect">
            <a:avLst/>
          </a:prstGeom>
          <a:solidFill>
            <a:srgbClr val="12A566"/>
          </a:solidFill>
          <a:ln/>
        </p:spPr>
      </p:sp>
      <p:sp>
        <p:nvSpPr>
          <p:cNvPr id="33" name="Text 31"/>
          <p:cNvSpPr txBox="1"/>
          <p:nvPr/>
        </p:nvSpPr>
        <p:spPr>
          <a:xfrm>
            <a:off x="3566160"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242816"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502920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613635" cy="117796"/>
          </a:xfrm>
          <a:prstGeom prst="rect">
            <a:avLst/>
          </a:prstGeom>
          <a:solidFill>
            <a:srgbClr val="12A566"/>
          </a:solidFill>
          <a:ln/>
        </p:spPr>
      </p:sp>
      <p:sp>
        <p:nvSpPr>
          <p:cNvPr id="38" name="Text 36"/>
          <p:cNvSpPr txBox="1"/>
          <p:nvPr/>
        </p:nvSpPr>
        <p:spPr>
          <a:xfrm>
            <a:off x="3566160"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242816"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502920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64915" cy="117796"/>
          </a:xfrm>
          <a:prstGeom prst="rect">
            <a:avLst/>
          </a:prstGeom>
          <a:solidFill>
            <a:srgbClr val="12A566"/>
          </a:solidFill>
          <a:ln/>
        </p:spPr>
      </p:sp>
      <p:sp>
        <p:nvSpPr>
          <p:cNvPr id="43" name="Text 41"/>
          <p:cNvSpPr txBox="1"/>
          <p:nvPr/>
        </p:nvSpPr>
        <p:spPr>
          <a:xfrm>
            <a:off x="3566160"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242816"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502920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49859" cy="117796"/>
          </a:xfrm>
          <a:prstGeom prst="rect">
            <a:avLst/>
          </a:prstGeom>
          <a:solidFill>
            <a:srgbClr val="12A566"/>
          </a:solidFill>
          <a:ln/>
        </p:spPr>
      </p:sp>
      <p:sp>
        <p:nvSpPr>
          <p:cNvPr id="48" name="Text 46"/>
          <p:cNvSpPr txBox="1"/>
          <p:nvPr/>
        </p:nvSpPr>
        <p:spPr>
          <a:xfrm>
            <a:off x="3566160"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242816"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502920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42975" cy="117796"/>
          </a:xfrm>
          <a:prstGeom prst="rect">
            <a:avLst/>
          </a:prstGeom>
          <a:solidFill>
            <a:srgbClr val="12A566"/>
          </a:solidFill>
          <a:ln/>
        </p:spPr>
      </p:sp>
      <p:sp>
        <p:nvSpPr>
          <p:cNvPr id="53" name="Text 51"/>
          <p:cNvSpPr txBox="1"/>
          <p:nvPr/>
        </p:nvSpPr>
        <p:spPr>
          <a:xfrm>
            <a:off x="3566160"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242816"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502920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528418" cy="117796"/>
          </a:xfrm>
          <a:prstGeom prst="rect">
            <a:avLst/>
          </a:prstGeom>
          <a:solidFill>
            <a:srgbClr val="12A566"/>
          </a:solidFill>
          <a:ln/>
        </p:spPr>
      </p:sp>
      <p:sp>
        <p:nvSpPr>
          <p:cNvPr id="58" name="Text 56"/>
          <p:cNvSpPr txBox="1"/>
          <p:nvPr/>
        </p:nvSpPr>
        <p:spPr>
          <a:xfrm>
            <a:off x="3566160"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242816"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502920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523587" cy="117796"/>
          </a:xfrm>
          <a:prstGeom prst="rect">
            <a:avLst/>
          </a:prstGeom>
          <a:solidFill>
            <a:srgbClr val="12A566"/>
          </a:solidFill>
          <a:ln/>
        </p:spPr>
      </p:sp>
      <p:sp>
        <p:nvSpPr>
          <p:cNvPr id="63" name="Text 61"/>
          <p:cNvSpPr txBox="1"/>
          <p:nvPr/>
        </p:nvSpPr>
        <p:spPr>
          <a:xfrm>
            <a:off x="3566160"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242816"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502920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515923" cy="117796"/>
          </a:xfrm>
          <a:prstGeom prst="rect">
            <a:avLst/>
          </a:prstGeom>
          <a:solidFill>
            <a:srgbClr val="12A566"/>
          </a:solidFill>
          <a:ln/>
        </p:spPr>
      </p:sp>
      <p:sp>
        <p:nvSpPr>
          <p:cNvPr id="68" name="Text 66"/>
          <p:cNvSpPr txBox="1"/>
          <p:nvPr/>
        </p:nvSpPr>
        <p:spPr>
          <a:xfrm>
            <a:off x="3566160"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242816"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502920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515855" cy="117796"/>
          </a:xfrm>
          <a:prstGeom prst="rect">
            <a:avLst/>
          </a:prstGeom>
          <a:solidFill>
            <a:srgbClr val="12A566"/>
          </a:solidFill>
          <a:ln/>
        </p:spPr>
      </p:sp>
      <p:sp>
        <p:nvSpPr>
          <p:cNvPr id="73" name="Text 71"/>
          <p:cNvSpPr txBox="1"/>
          <p:nvPr/>
        </p:nvSpPr>
        <p:spPr>
          <a:xfrm>
            <a:off x="3566160"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242816"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502920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510186" cy="117796"/>
          </a:xfrm>
          <a:prstGeom prst="rect">
            <a:avLst/>
          </a:prstGeom>
          <a:solidFill>
            <a:srgbClr val="12A566"/>
          </a:solidFill>
          <a:ln/>
        </p:spPr>
      </p:sp>
      <p:sp>
        <p:nvSpPr>
          <p:cNvPr id="78" name="Text 76"/>
          <p:cNvSpPr txBox="1"/>
          <p:nvPr/>
        </p:nvSpPr>
        <p:spPr>
          <a:xfrm>
            <a:off x="3566160"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242816"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502920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86924" cy="117796"/>
          </a:xfrm>
          <a:prstGeom prst="rect">
            <a:avLst/>
          </a:prstGeom>
          <a:solidFill>
            <a:srgbClr val="12A566"/>
          </a:solidFill>
          <a:ln/>
        </p:spPr>
      </p:sp>
      <p:sp>
        <p:nvSpPr>
          <p:cNvPr id="83" name="Text 81"/>
          <p:cNvSpPr txBox="1"/>
          <p:nvPr/>
        </p:nvSpPr>
        <p:spPr>
          <a:xfrm>
            <a:off x="3566160"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242816"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502920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82951" cy="117796"/>
          </a:xfrm>
          <a:prstGeom prst="rect">
            <a:avLst/>
          </a:prstGeom>
          <a:solidFill>
            <a:srgbClr val="12A566"/>
          </a:solidFill>
          <a:ln/>
        </p:spPr>
      </p:sp>
      <p:sp>
        <p:nvSpPr>
          <p:cNvPr id="88" name="Text 86"/>
          <p:cNvSpPr txBox="1"/>
          <p:nvPr/>
        </p:nvSpPr>
        <p:spPr>
          <a:xfrm>
            <a:off x="3566160"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242816"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502920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69589" cy="117796"/>
          </a:xfrm>
          <a:prstGeom prst="rect">
            <a:avLst/>
          </a:prstGeom>
          <a:solidFill>
            <a:srgbClr val="12A566"/>
          </a:solidFill>
          <a:ln/>
        </p:spPr>
      </p:sp>
      <p:sp>
        <p:nvSpPr>
          <p:cNvPr id="93" name="Text 91"/>
          <p:cNvSpPr txBox="1"/>
          <p:nvPr/>
        </p:nvSpPr>
        <p:spPr>
          <a:xfrm>
            <a:off x="9116568"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93224"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79608"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67351" cy="117796"/>
          </a:xfrm>
          <a:prstGeom prst="rect">
            <a:avLst/>
          </a:prstGeom>
          <a:solidFill>
            <a:srgbClr val="12A566"/>
          </a:solidFill>
          <a:ln/>
        </p:spPr>
      </p:sp>
      <p:sp>
        <p:nvSpPr>
          <p:cNvPr id="98" name="Text 96"/>
          <p:cNvSpPr txBox="1"/>
          <p:nvPr/>
        </p:nvSpPr>
        <p:spPr>
          <a:xfrm>
            <a:off x="9116568"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93224"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79608"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65019" cy="117796"/>
          </a:xfrm>
          <a:prstGeom prst="rect">
            <a:avLst/>
          </a:prstGeom>
          <a:solidFill>
            <a:srgbClr val="12A566"/>
          </a:solidFill>
          <a:ln/>
        </p:spPr>
      </p:sp>
      <p:sp>
        <p:nvSpPr>
          <p:cNvPr id="103" name="Text 101"/>
          <p:cNvSpPr txBox="1"/>
          <p:nvPr/>
        </p:nvSpPr>
        <p:spPr>
          <a:xfrm>
            <a:off x="9116568"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93224"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79608"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63785" cy="117796"/>
          </a:xfrm>
          <a:prstGeom prst="rect">
            <a:avLst/>
          </a:prstGeom>
          <a:solidFill>
            <a:srgbClr val="12A566"/>
          </a:solidFill>
          <a:ln/>
        </p:spPr>
      </p:sp>
      <p:sp>
        <p:nvSpPr>
          <p:cNvPr id="108" name="Text 106"/>
          <p:cNvSpPr txBox="1"/>
          <p:nvPr/>
        </p:nvSpPr>
        <p:spPr>
          <a:xfrm>
            <a:off x="9116568"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93224"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79608"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60989" cy="117796"/>
          </a:xfrm>
          <a:prstGeom prst="rect">
            <a:avLst/>
          </a:prstGeom>
          <a:solidFill>
            <a:srgbClr val="0B2C4A"/>
          </a:solidFill>
          <a:ln/>
        </p:spPr>
      </p:sp>
      <p:sp>
        <p:nvSpPr>
          <p:cNvPr id="114" name="Text 112"/>
          <p:cNvSpPr txBox="1"/>
          <p:nvPr/>
        </p:nvSpPr>
        <p:spPr>
          <a:xfrm>
            <a:off x="9116568"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93224"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79608"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$218.82</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49061" cy="117796"/>
          </a:xfrm>
          <a:prstGeom prst="rect">
            <a:avLst/>
          </a:prstGeom>
          <a:solidFill>
            <a:srgbClr val="12A566"/>
          </a:solidFill>
          <a:ln/>
        </p:spPr>
      </p:sp>
      <p:sp>
        <p:nvSpPr>
          <p:cNvPr id="119" name="Text 117"/>
          <p:cNvSpPr txBox="1"/>
          <p:nvPr/>
        </p:nvSpPr>
        <p:spPr>
          <a:xfrm>
            <a:off x="9116568"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93224"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79608"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39276" cy="117796"/>
          </a:xfrm>
          <a:prstGeom prst="rect">
            <a:avLst/>
          </a:prstGeom>
          <a:solidFill>
            <a:srgbClr val="12A566"/>
          </a:solidFill>
          <a:ln/>
        </p:spPr>
      </p:sp>
      <p:sp>
        <p:nvSpPr>
          <p:cNvPr id="124" name="Text 122"/>
          <p:cNvSpPr txBox="1"/>
          <p:nvPr/>
        </p:nvSpPr>
        <p:spPr>
          <a:xfrm>
            <a:off x="9116568"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93224"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79608"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29617" cy="117796"/>
          </a:xfrm>
          <a:prstGeom prst="rect">
            <a:avLst/>
          </a:prstGeom>
          <a:solidFill>
            <a:srgbClr val="12A566"/>
          </a:solidFill>
          <a:ln/>
        </p:spPr>
      </p:sp>
      <p:sp>
        <p:nvSpPr>
          <p:cNvPr id="129" name="Text 127"/>
          <p:cNvSpPr txBox="1"/>
          <p:nvPr/>
        </p:nvSpPr>
        <p:spPr>
          <a:xfrm>
            <a:off x="9116568"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93224"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79608"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406129" cy="117796"/>
          </a:xfrm>
          <a:prstGeom prst="rect">
            <a:avLst/>
          </a:prstGeom>
          <a:solidFill>
            <a:srgbClr val="12A566"/>
          </a:solidFill>
          <a:ln/>
        </p:spPr>
      </p:sp>
      <p:sp>
        <p:nvSpPr>
          <p:cNvPr id="134" name="Text 132"/>
          <p:cNvSpPr txBox="1"/>
          <p:nvPr/>
        </p:nvSpPr>
        <p:spPr>
          <a:xfrm>
            <a:off x="9116568"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93224"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79608"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78253" cy="117796"/>
          </a:xfrm>
          <a:prstGeom prst="rect">
            <a:avLst/>
          </a:prstGeom>
          <a:solidFill>
            <a:srgbClr val="C2352F"/>
          </a:solidFill>
          <a:ln/>
        </p:spPr>
      </p:sp>
      <p:sp>
        <p:nvSpPr>
          <p:cNvPr id="139" name="Text 137"/>
          <p:cNvSpPr txBox="1"/>
          <p:nvPr/>
        </p:nvSpPr>
        <p:spPr>
          <a:xfrm>
            <a:off x="9116568"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93224"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79608"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74799" cy="117796"/>
          </a:xfrm>
          <a:prstGeom prst="rect">
            <a:avLst/>
          </a:prstGeom>
          <a:solidFill>
            <a:srgbClr val="C2352F"/>
          </a:solidFill>
          <a:ln/>
        </p:spPr>
      </p:sp>
      <p:sp>
        <p:nvSpPr>
          <p:cNvPr id="144" name="Text 142"/>
          <p:cNvSpPr txBox="1"/>
          <p:nvPr/>
        </p:nvSpPr>
        <p:spPr>
          <a:xfrm>
            <a:off x="9116568"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93224"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79608"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64670" cy="117796"/>
          </a:xfrm>
          <a:prstGeom prst="rect">
            <a:avLst/>
          </a:prstGeom>
          <a:solidFill>
            <a:srgbClr val="C2352F"/>
          </a:solidFill>
          <a:ln/>
        </p:spPr>
      </p:sp>
      <p:sp>
        <p:nvSpPr>
          <p:cNvPr id="149" name="Text 147"/>
          <p:cNvSpPr txBox="1"/>
          <p:nvPr/>
        </p:nvSpPr>
        <p:spPr>
          <a:xfrm>
            <a:off x="9116568"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93224"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79608"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54832" cy="117796"/>
          </a:xfrm>
          <a:prstGeom prst="rect">
            <a:avLst/>
          </a:prstGeom>
          <a:solidFill>
            <a:srgbClr val="C2352F"/>
          </a:solidFill>
          <a:ln/>
        </p:spPr>
      </p:sp>
      <p:sp>
        <p:nvSpPr>
          <p:cNvPr id="154" name="Text 152"/>
          <p:cNvSpPr txBox="1"/>
          <p:nvPr/>
        </p:nvSpPr>
        <p:spPr>
          <a:xfrm>
            <a:off x="9116568"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93224"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79608"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52064" cy="117796"/>
          </a:xfrm>
          <a:prstGeom prst="rect">
            <a:avLst/>
          </a:prstGeom>
          <a:solidFill>
            <a:srgbClr val="C2352F"/>
          </a:solidFill>
          <a:ln/>
        </p:spPr>
      </p:sp>
      <p:sp>
        <p:nvSpPr>
          <p:cNvPr id="159" name="Text 157"/>
          <p:cNvSpPr txBox="1"/>
          <p:nvPr/>
        </p:nvSpPr>
        <p:spPr>
          <a:xfrm>
            <a:off x="9116568"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93224"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79608"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31678" cy="117796"/>
          </a:xfrm>
          <a:prstGeom prst="rect">
            <a:avLst/>
          </a:prstGeom>
          <a:solidFill>
            <a:srgbClr val="C2352F"/>
          </a:solidFill>
          <a:ln/>
        </p:spPr>
      </p:sp>
      <p:sp>
        <p:nvSpPr>
          <p:cNvPr id="164" name="Text 162"/>
          <p:cNvSpPr txBox="1"/>
          <p:nvPr/>
        </p:nvSpPr>
        <p:spPr>
          <a:xfrm>
            <a:off x="9116568"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93224"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79608"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28825" cy="117796"/>
          </a:xfrm>
          <a:prstGeom prst="rect">
            <a:avLst/>
          </a:prstGeom>
          <a:solidFill>
            <a:srgbClr val="C2352F"/>
          </a:solidFill>
          <a:ln/>
        </p:spPr>
      </p:sp>
      <p:sp>
        <p:nvSpPr>
          <p:cNvPr id="169" name="Text 167"/>
          <p:cNvSpPr txBox="1"/>
          <p:nvPr/>
        </p:nvSpPr>
        <p:spPr>
          <a:xfrm>
            <a:off x="9116568"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93224"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79608"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85765" cy="117796"/>
          </a:xfrm>
          <a:prstGeom prst="rect">
            <a:avLst/>
          </a:prstGeom>
          <a:solidFill>
            <a:srgbClr val="C2352F"/>
          </a:solidFill>
          <a:ln/>
        </p:spPr>
      </p:sp>
      <p:sp>
        <p:nvSpPr>
          <p:cNvPr id="174" name="Text 172"/>
          <p:cNvSpPr txBox="1"/>
          <p:nvPr/>
        </p:nvSpPr>
        <p:spPr>
          <a:xfrm>
            <a:off x="9116568"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93224"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79608"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77" name="Text 175"/>
          <p:cNvSpPr txBox="1"/>
          <p:nvPr/>
        </p:nvSpPr>
        <p:spPr>
          <a:xfrm>
            <a:off x="3566160"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242816"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502920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0" name="Text 178"/>
          <p:cNvSpPr txBox="1"/>
          <p:nvPr/>
        </p:nvSpPr>
        <p:spPr>
          <a:xfrm>
            <a:off x="9116568"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93224"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79608"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3" name="Shape 181"/>
          <p:cNvSpPr/>
          <p:nvPr/>
        </p:nvSpPr>
        <p:spPr>
          <a:xfrm>
            <a:off x="3060181" y="1700784"/>
            <a:ext cx="14630" cy="4005072"/>
          </a:xfrm>
          <a:prstGeom prst="rect">
            <a:avLst/>
          </a:prstGeom>
          <a:solidFill>
            <a:srgbClr val="0B2C4A"/>
          </a:solidFill>
          <a:ln/>
        </p:spPr>
      </p:sp>
      <p:sp>
        <p:nvSpPr>
          <p:cNvPr id="184" name="Text 182"/>
          <p:cNvSpPr txBox="1"/>
          <p:nvPr/>
        </p:nvSpPr>
        <p:spPr>
          <a:xfrm>
            <a:off x="2518857"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610589" y="1700784"/>
            <a:ext cx="14630" cy="4005072"/>
          </a:xfrm>
          <a:prstGeom prst="rect">
            <a:avLst/>
          </a:prstGeom>
          <a:solidFill>
            <a:srgbClr val="0B2C4A"/>
          </a:solidFill>
          <a:ln/>
        </p:spPr>
      </p:sp>
      <p:sp>
        <p:nvSpPr>
          <p:cNvPr id="186" name="Text 184"/>
          <p:cNvSpPr txBox="1"/>
          <p:nvPr/>
        </p:nvSpPr>
        <p:spPr>
          <a:xfrm>
            <a:off x="8069265"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CADILLAC is lowest at 61.5%.</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786384" cy="117796"/>
          </a:xfrm>
          <a:prstGeom prst="rect">
            <a:avLst/>
          </a:prstGeom>
          <a:solidFill>
            <a:srgbClr val="12A566"/>
          </a:solidFill>
          <a:ln/>
        </p:spPr>
      </p:sp>
      <p:sp>
        <p:nvSpPr>
          <p:cNvPr id="8" name="Text 6"/>
          <p:cNvSpPr txBox="1"/>
          <p:nvPr/>
        </p:nvSpPr>
        <p:spPr>
          <a:xfrm>
            <a:off x="3511296"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187952"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4974336"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$165.11</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21911" cy="117796"/>
          </a:xfrm>
          <a:prstGeom prst="rect">
            <a:avLst/>
          </a:prstGeom>
          <a:solidFill>
            <a:srgbClr val="12A566"/>
          </a:solidFill>
          <a:ln/>
        </p:spPr>
      </p:sp>
      <p:sp>
        <p:nvSpPr>
          <p:cNvPr id="13" name="Text 11"/>
          <p:cNvSpPr txBox="1"/>
          <p:nvPr/>
        </p:nvSpPr>
        <p:spPr>
          <a:xfrm>
            <a:off x="3511296"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187952"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4974336"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$174.96</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18619" cy="117796"/>
          </a:xfrm>
          <a:prstGeom prst="rect">
            <a:avLst/>
          </a:prstGeom>
          <a:solidFill>
            <a:srgbClr val="12A566"/>
          </a:solidFill>
          <a:ln/>
        </p:spPr>
      </p:sp>
      <p:sp>
        <p:nvSpPr>
          <p:cNvPr id="18" name="Text 16"/>
          <p:cNvSpPr txBox="1"/>
          <p:nvPr/>
        </p:nvSpPr>
        <p:spPr>
          <a:xfrm>
            <a:off x="3511296"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187952"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4974336"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$125.91</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16373" cy="117796"/>
          </a:xfrm>
          <a:prstGeom prst="rect">
            <a:avLst/>
          </a:prstGeom>
          <a:solidFill>
            <a:srgbClr val="12A566"/>
          </a:solidFill>
          <a:ln/>
        </p:spPr>
      </p:sp>
      <p:sp>
        <p:nvSpPr>
          <p:cNvPr id="23" name="Text 21"/>
          <p:cNvSpPr txBox="1"/>
          <p:nvPr/>
        </p:nvSpPr>
        <p:spPr>
          <a:xfrm>
            <a:off x="3511296"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187952"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4974336"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00794" cy="117796"/>
          </a:xfrm>
          <a:prstGeom prst="rect">
            <a:avLst/>
          </a:prstGeom>
          <a:solidFill>
            <a:srgbClr val="12A566"/>
          </a:solidFill>
          <a:ln/>
        </p:spPr>
      </p:sp>
      <p:sp>
        <p:nvSpPr>
          <p:cNvPr id="28" name="Text 26"/>
          <p:cNvSpPr txBox="1"/>
          <p:nvPr/>
        </p:nvSpPr>
        <p:spPr>
          <a:xfrm>
            <a:off x="3511296"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187952"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4974336" y="264315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579216" cy="117796"/>
          </a:xfrm>
          <a:prstGeom prst="rect">
            <a:avLst/>
          </a:prstGeom>
          <a:solidFill>
            <a:srgbClr val="12A566"/>
          </a:solidFill>
          <a:ln/>
        </p:spPr>
      </p:sp>
      <p:sp>
        <p:nvSpPr>
          <p:cNvPr id="33" name="Text 31"/>
          <p:cNvSpPr txBox="1"/>
          <p:nvPr/>
        </p:nvSpPr>
        <p:spPr>
          <a:xfrm>
            <a:off x="3511296"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187952"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4974336"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$192.50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573616" cy="117796"/>
          </a:xfrm>
          <a:prstGeom prst="rect">
            <a:avLst/>
          </a:prstGeom>
          <a:solidFill>
            <a:srgbClr val="12A566"/>
          </a:solidFill>
          <a:ln/>
        </p:spPr>
      </p:sp>
      <p:sp>
        <p:nvSpPr>
          <p:cNvPr id="38" name="Text 36"/>
          <p:cNvSpPr txBox="1"/>
          <p:nvPr/>
        </p:nvSpPr>
        <p:spPr>
          <a:xfrm>
            <a:off x="3511296"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187952"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4974336"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28073" cy="117796"/>
          </a:xfrm>
          <a:prstGeom prst="rect">
            <a:avLst/>
          </a:prstGeom>
          <a:solidFill>
            <a:srgbClr val="12A566"/>
          </a:solidFill>
          <a:ln/>
        </p:spPr>
      </p:sp>
      <p:sp>
        <p:nvSpPr>
          <p:cNvPr id="43" name="Text 41"/>
          <p:cNvSpPr txBox="1"/>
          <p:nvPr/>
        </p:nvSpPr>
        <p:spPr>
          <a:xfrm>
            <a:off x="3511296"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187952"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4974336"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$125.30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13999" cy="117796"/>
          </a:xfrm>
          <a:prstGeom prst="rect">
            <a:avLst/>
          </a:prstGeom>
          <a:solidFill>
            <a:srgbClr val="12A566"/>
          </a:solidFill>
          <a:ln/>
        </p:spPr>
      </p:sp>
      <p:sp>
        <p:nvSpPr>
          <p:cNvPr id="48" name="Text 46"/>
          <p:cNvSpPr txBox="1"/>
          <p:nvPr/>
        </p:nvSpPr>
        <p:spPr>
          <a:xfrm>
            <a:off x="3511296"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187952"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4974336"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$160.96</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07564" cy="117796"/>
          </a:xfrm>
          <a:prstGeom prst="rect">
            <a:avLst/>
          </a:prstGeom>
          <a:solidFill>
            <a:srgbClr val="12A566"/>
          </a:solidFill>
          <a:ln/>
        </p:spPr>
      </p:sp>
      <p:sp>
        <p:nvSpPr>
          <p:cNvPr id="53" name="Text 51"/>
          <p:cNvSpPr txBox="1"/>
          <p:nvPr/>
        </p:nvSpPr>
        <p:spPr>
          <a:xfrm>
            <a:off x="3511296"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187952"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4974336"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$139.96</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493956" cy="117796"/>
          </a:xfrm>
          <a:prstGeom prst="rect">
            <a:avLst/>
          </a:prstGeom>
          <a:solidFill>
            <a:srgbClr val="12A566"/>
          </a:solidFill>
          <a:ln/>
        </p:spPr>
      </p:sp>
      <p:sp>
        <p:nvSpPr>
          <p:cNvPr id="58" name="Text 56"/>
          <p:cNvSpPr txBox="1"/>
          <p:nvPr/>
        </p:nvSpPr>
        <p:spPr>
          <a:xfrm>
            <a:off x="3511296"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187952"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4974336"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$136.50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489440" cy="117796"/>
          </a:xfrm>
          <a:prstGeom prst="rect">
            <a:avLst/>
          </a:prstGeom>
          <a:solidFill>
            <a:srgbClr val="12A566"/>
          </a:solidFill>
          <a:ln/>
        </p:spPr>
      </p:sp>
      <p:sp>
        <p:nvSpPr>
          <p:cNvPr id="63" name="Text 61"/>
          <p:cNvSpPr txBox="1"/>
          <p:nvPr/>
        </p:nvSpPr>
        <p:spPr>
          <a:xfrm>
            <a:off x="3511296"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187952"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4974336"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$206.41</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482276" cy="117796"/>
          </a:xfrm>
          <a:prstGeom prst="rect">
            <a:avLst/>
          </a:prstGeom>
          <a:solidFill>
            <a:srgbClr val="12A566"/>
          </a:solidFill>
          <a:ln/>
        </p:spPr>
      </p:sp>
      <p:sp>
        <p:nvSpPr>
          <p:cNvPr id="68" name="Text 66"/>
          <p:cNvSpPr txBox="1"/>
          <p:nvPr/>
        </p:nvSpPr>
        <p:spPr>
          <a:xfrm>
            <a:off x="3511296"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187952"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4974336"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482213" cy="117796"/>
          </a:xfrm>
          <a:prstGeom prst="rect">
            <a:avLst/>
          </a:prstGeom>
          <a:solidFill>
            <a:srgbClr val="12A566"/>
          </a:solidFill>
          <a:ln/>
        </p:spPr>
      </p:sp>
      <p:sp>
        <p:nvSpPr>
          <p:cNvPr id="73" name="Text 71"/>
          <p:cNvSpPr txBox="1"/>
          <p:nvPr/>
        </p:nvSpPr>
        <p:spPr>
          <a:xfrm>
            <a:off x="3511296"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187952"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4974336"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$146.91</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476913" cy="117796"/>
          </a:xfrm>
          <a:prstGeom prst="rect">
            <a:avLst/>
          </a:prstGeom>
          <a:solidFill>
            <a:srgbClr val="12A566"/>
          </a:solidFill>
          <a:ln/>
        </p:spPr>
      </p:sp>
      <p:sp>
        <p:nvSpPr>
          <p:cNvPr id="78" name="Text 76"/>
          <p:cNvSpPr txBox="1"/>
          <p:nvPr/>
        </p:nvSpPr>
        <p:spPr>
          <a:xfrm>
            <a:off x="3511296"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187952"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4974336"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$143.41</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55168" cy="117796"/>
          </a:xfrm>
          <a:prstGeom prst="rect">
            <a:avLst/>
          </a:prstGeom>
          <a:solidFill>
            <a:srgbClr val="12A566"/>
          </a:solidFill>
          <a:ln/>
        </p:spPr>
      </p:sp>
      <p:sp>
        <p:nvSpPr>
          <p:cNvPr id="83" name="Text 81"/>
          <p:cNvSpPr txBox="1"/>
          <p:nvPr/>
        </p:nvSpPr>
        <p:spPr>
          <a:xfrm>
            <a:off x="3511296"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187952"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4974336"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51454" cy="117796"/>
          </a:xfrm>
          <a:prstGeom prst="rect">
            <a:avLst/>
          </a:prstGeom>
          <a:solidFill>
            <a:srgbClr val="12A566"/>
          </a:solidFill>
          <a:ln/>
        </p:spPr>
      </p:sp>
      <p:sp>
        <p:nvSpPr>
          <p:cNvPr id="88" name="Text 86"/>
          <p:cNvSpPr txBox="1"/>
          <p:nvPr/>
        </p:nvSpPr>
        <p:spPr>
          <a:xfrm>
            <a:off x="3511296"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187952"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4974336"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$244.21</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38964" cy="117796"/>
          </a:xfrm>
          <a:prstGeom prst="rect">
            <a:avLst/>
          </a:prstGeom>
          <a:solidFill>
            <a:srgbClr val="12A566"/>
          </a:solidFill>
          <a:ln/>
        </p:spPr>
      </p:sp>
      <p:sp>
        <p:nvSpPr>
          <p:cNvPr id="93" name="Text 91"/>
          <p:cNvSpPr txBox="1"/>
          <p:nvPr/>
        </p:nvSpPr>
        <p:spPr>
          <a:xfrm>
            <a:off x="9061704"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3836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24744"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36872" cy="117796"/>
          </a:xfrm>
          <a:prstGeom prst="rect">
            <a:avLst/>
          </a:prstGeom>
          <a:solidFill>
            <a:srgbClr val="12A566"/>
          </a:solidFill>
          <a:ln/>
        </p:spPr>
      </p:sp>
      <p:sp>
        <p:nvSpPr>
          <p:cNvPr id="98" name="Text 96"/>
          <p:cNvSpPr txBox="1"/>
          <p:nvPr/>
        </p:nvSpPr>
        <p:spPr>
          <a:xfrm>
            <a:off x="9061704"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3836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24744"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$150.76</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34691" cy="117796"/>
          </a:xfrm>
          <a:prstGeom prst="rect">
            <a:avLst/>
          </a:prstGeom>
          <a:solidFill>
            <a:srgbClr val="12A566"/>
          </a:solidFill>
          <a:ln/>
        </p:spPr>
      </p:sp>
      <p:sp>
        <p:nvSpPr>
          <p:cNvPr id="103" name="Text 101"/>
          <p:cNvSpPr txBox="1"/>
          <p:nvPr/>
        </p:nvSpPr>
        <p:spPr>
          <a:xfrm>
            <a:off x="9061704"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3836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24744"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$167.91</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33538" cy="117796"/>
          </a:xfrm>
          <a:prstGeom prst="rect">
            <a:avLst/>
          </a:prstGeom>
          <a:solidFill>
            <a:srgbClr val="12A566"/>
          </a:solidFill>
          <a:ln/>
        </p:spPr>
      </p:sp>
      <p:sp>
        <p:nvSpPr>
          <p:cNvPr id="108" name="Text 106"/>
          <p:cNvSpPr txBox="1"/>
          <p:nvPr/>
        </p:nvSpPr>
        <p:spPr>
          <a:xfrm>
            <a:off x="9061704"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3836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24744"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$133.00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30925" cy="117796"/>
          </a:xfrm>
          <a:prstGeom prst="rect">
            <a:avLst/>
          </a:prstGeom>
          <a:solidFill>
            <a:srgbClr val="0B2C4A"/>
          </a:solidFill>
          <a:ln/>
        </p:spPr>
      </p:sp>
      <p:sp>
        <p:nvSpPr>
          <p:cNvPr id="114" name="Text 112"/>
          <p:cNvSpPr txBox="1"/>
          <p:nvPr/>
        </p:nvSpPr>
        <p:spPr>
          <a:xfrm>
            <a:off x="9061704"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38360"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24744" y="2643154"/>
            <a:ext cx="841248"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$153.17</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19774" cy="117796"/>
          </a:xfrm>
          <a:prstGeom prst="rect">
            <a:avLst/>
          </a:prstGeom>
          <a:solidFill>
            <a:srgbClr val="12A566"/>
          </a:solidFill>
          <a:ln/>
        </p:spPr>
      </p:sp>
      <p:sp>
        <p:nvSpPr>
          <p:cNvPr id="119" name="Text 117"/>
          <p:cNvSpPr txBox="1"/>
          <p:nvPr/>
        </p:nvSpPr>
        <p:spPr>
          <a:xfrm>
            <a:off x="9061704"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3836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24744"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10628" cy="117796"/>
          </a:xfrm>
          <a:prstGeom prst="rect">
            <a:avLst/>
          </a:prstGeom>
          <a:solidFill>
            <a:srgbClr val="12A566"/>
          </a:solidFill>
          <a:ln/>
        </p:spPr>
      </p:sp>
      <p:sp>
        <p:nvSpPr>
          <p:cNvPr id="124" name="Text 122"/>
          <p:cNvSpPr txBox="1"/>
          <p:nvPr/>
        </p:nvSpPr>
        <p:spPr>
          <a:xfrm>
            <a:off x="9061704"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3836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24744"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$147.88</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01598" cy="117796"/>
          </a:xfrm>
          <a:prstGeom prst="rect">
            <a:avLst/>
          </a:prstGeom>
          <a:solidFill>
            <a:srgbClr val="12A566"/>
          </a:solidFill>
          <a:ln/>
        </p:spPr>
      </p:sp>
      <p:sp>
        <p:nvSpPr>
          <p:cNvPr id="129" name="Text 127"/>
          <p:cNvSpPr txBox="1"/>
          <p:nvPr/>
        </p:nvSpPr>
        <p:spPr>
          <a:xfrm>
            <a:off x="9061704"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3836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24744"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379643" cy="117796"/>
          </a:xfrm>
          <a:prstGeom prst="rect">
            <a:avLst/>
          </a:prstGeom>
          <a:solidFill>
            <a:srgbClr val="12A566"/>
          </a:solidFill>
          <a:ln/>
        </p:spPr>
      </p:sp>
      <p:sp>
        <p:nvSpPr>
          <p:cNvPr id="134" name="Text 132"/>
          <p:cNvSpPr txBox="1"/>
          <p:nvPr/>
        </p:nvSpPr>
        <p:spPr>
          <a:xfrm>
            <a:off x="9061704"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3836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24744"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53585" cy="117796"/>
          </a:xfrm>
          <a:prstGeom prst="rect">
            <a:avLst/>
          </a:prstGeom>
          <a:solidFill>
            <a:srgbClr val="C2352F"/>
          </a:solidFill>
          <a:ln/>
        </p:spPr>
      </p:sp>
      <p:sp>
        <p:nvSpPr>
          <p:cNvPr id="139" name="Text 137"/>
          <p:cNvSpPr txBox="1"/>
          <p:nvPr/>
        </p:nvSpPr>
        <p:spPr>
          <a:xfrm>
            <a:off x="9061704"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3836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24744"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$153.91</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50355" cy="117796"/>
          </a:xfrm>
          <a:prstGeom prst="rect">
            <a:avLst/>
          </a:prstGeom>
          <a:solidFill>
            <a:srgbClr val="C2352F"/>
          </a:solidFill>
          <a:ln/>
        </p:spPr>
      </p:sp>
      <p:sp>
        <p:nvSpPr>
          <p:cNvPr id="144" name="Text 142"/>
          <p:cNvSpPr txBox="1"/>
          <p:nvPr/>
        </p:nvSpPr>
        <p:spPr>
          <a:xfrm>
            <a:off x="9061704"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3836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24744"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$171.41</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40887" cy="117796"/>
          </a:xfrm>
          <a:prstGeom prst="rect">
            <a:avLst/>
          </a:prstGeom>
          <a:solidFill>
            <a:srgbClr val="C2352F"/>
          </a:solidFill>
          <a:ln/>
        </p:spPr>
      </p:sp>
      <p:sp>
        <p:nvSpPr>
          <p:cNvPr id="149" name="Text 147"/>
          <p:cNvSpPr txBox="1"/>
          <p:nvPr/>
        </p:nvSpPr>
        <p:spPr>
          <a:xfrm>
            <a:off x="9061704"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3836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24744"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31691" cy="117796"/>
          </a:xfrm>
          <a:prstGeom prst="rect">
            <a:avLst/>
          </a:prstGeom>
          <a:solidFill>
            <a:srgbClr val="C2352F"/>
          </a:solidFill>
          <a:ln/>
        </p:spPr>
      </p:sp>
      <p:sp>
        <p:nvSpPr>
          <p:cNvPr id="154" name="Text 152"/>
          <p:cNvSpPr txBox="1"/>
          <p:nvPr/>
        </p:nvSpPr>
        <p:spPr>
          <a:xfrm>
            <a:off x="9061704"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3836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24744"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29103" cy="117796"/>
          </a:xfrm>
          <a:prstGeom prst="rect">
            <a:avLst/>
          </a:prstGeom>
          <a:solidFill>
            <a:srgbClr val="C2352F"/>
          </a:solidFill>
          <a:ln/>
        </p:spPr>
      </p:sp>
      <p:sp>
        <p:nvSpPr>
          <p:cNvPr id="159" name="Text 157"/>
          <p:cNvSpPr txBox="1"/>
          <p:nvPr/>
        </p:nvSpPr>
        <p:spPr>
          <a:xfrm>
            <a:off x="9061704"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3836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24744"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10047" cy="117796"/>
          </a:xfrm>
          <a:prstGeom prst="rect">
            <a:avLst/>
          </a:prstGeom>
          <a:solidFill>
            <a:srgbClr val="C2352F"/>
          </a:solidFill>
          <a:ln/>
        </p:spPr>
      </p:sp>
      <p:sp>
        <p:nvSpPr>
          <p:cNvPr id="164" name="Text 162"/>
          <p:cNvSpPr txBox="1"/>
          <p:nvPr/>
        </p:nvSpPr>
        <p:spPr>
          <a:xfrm>
            <a:off x="9061704"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3836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24744"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07379" cy="117796"/>
          </a:xfrm>
          <a:prstGeom prst="rect">
            <a:avLst/>
          </a:prstGeom>
          <a:solidFill>
            <a:srgbClr val="C2352F"/>
          </a:solidFill>
          <a:ln/>
        </p:spPr>
      </p:sp>
      <p:sp>
        <p:nvSpPr>
          <p:cNvPr id="169" name="Text 167"/>
          <p:cNvSpPr txBox="1"/>
          <p:nvPr/>
        </p:nvSpPr>
        <p:spPr>
          <a:xfrm>
            <a:off x="9061704"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3836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24744"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67128" cy="117796"/>
          </a:xfrm>
          <a:prstGeom prst="rect">
            <a:avLst/>
          </a:prstGeom>
          <a:solidFill>
            <a:srgbClr val="C2352F"/>
          </a:solidFill>
          <a:ln/>
        </p:spPr>
      </p:sp>
      <p:sp>
        <p:nvSpPr>
          <p:cNvPr id="174" name="Text 172"/>
          <p:cNvSpPr txBox="1"/>
          <p:nvPr/>
        </p:nvSpPr>
        <p:spPr>
          <a:xfrm>
            <a:off x="9061704"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3836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24744"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$199.50</a:t>
            </a:r>
            <a:endParaRPr lang="en-US" sz="1300" dirty="0"/>
          </a:p>
        </p:txBody>
      </p:sp>
      <p:sp>
        <p:nvSpPr>
          <p:cNvPr id="177" name="Text 175"/>
          <p:cNvSpPr txBox="1"/>
          <p:nvPr/>
        </p:nvSpPr>
        <p:spPr>
          <a:xfrm>
            <a:off x="3511296"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187952"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4974336"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0" name="Text 178"/>
          <p:cNvSpPr txBox="1"/>
          <p:nvPr/>
        </p:nvSpPr>
        <p:spPr>
          <a:xfrm>
            <a:off x="9061704"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3836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24744"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3" name="Shape 181"/>
          <p:cNvSpPr/>
          <p:nvPr/>
        </p:nvSpPr>
        <p:spPr>
          <a:xfrm>
            <a:off x="3034261" y="1700784"/>
            <a:ext cx="14630" cy="4005072"/>
          </a:xfrm>
          <a:prstGeom prst="rect">
            <a:avLst/>
          </a:prstGeom>
          <a:solidFill>
            <a:srgbClr val="0B2C4A"/>
          </a:solidFill>
          <a:ln/>
        </p:spPr>
      </p:sp>
      <p:sp>
        <p:nvSpPr>
          <p:cNvPr id="184" name="Text 182"/>
          <p:cNvSpPr txBox="1"/>
          <p:nvPr/>
        </p:nvSpPr>
        <p:spPr>
          <a:xfrm>
            <a:off x="2492936"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584669" y="1700784"/>
            <a:ext cx="14630" cy="4005072"/>
          </a:xfrm>
          <a:prstGeom prst="rect">
            <a:avLst/>
          </a:prstGeom>
          <a:solidFill>
            <a:srgbClr val="0B2C4A"/>
          </a:solidFill>
          <a:ln/>
        </p:spPr>
      </p:sp>
      <p:sp>
        <p:nvSpPr>
          <p:cNvPr id="186" name="Text 184"/>
          <p:cNvSpPr txBox="1"/>
          <p:nvPr/>
        </p:nvSpPr>
        <p:spPr>
          <a:xfrm>
            <a:off x="8043344"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at or above 70% of door rate. CADILLAC runs $175.47 against a $199.50 target.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54787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429768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9" name="Text 7"/>
          <p:cNvSpPr txBox="1"/>
          <p:nvPr/>
        </p:nvSpPr>
        <p:spPr>
          <a:xfrm>
            <a:off x="50840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651760" y="1811020"/>
            <a:ext cx="841248" cy="110744"/>
          </a:xfrm>
          <a:prstGeom prst="rect">
            <a:avLst/>
          </a:prstGeom>
          <a:solidFill>
            <a:srgbClr val="12A566"/>
          </a:solidFill>
          <a:ln/>
        </p:spPr>
      </p:sp>
      <p:sp>
        <p:nvSpPr>
          <p:cNvPr id="12" name="Text 10"/>
          <p:cNvSpPr txBox="1"/>
          <p:nvPr/>
        </p:nvSpPr>
        <p:spPr>
          <a:xfrm>
            <a:off x="3547872"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13" name="Text 11"/>
          <p:cNvSpPr txBox="1"/>
          <p:nvPr/>
        </p:nvSpPr>
        <p:spPr>
          <a:xfrm>
            <a:off x="4297680"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4" name="Text 12"/>
          <p:cNvSpPr txBox="1"/>
          <p:nvPr/>
        </p:nvSpPr>
        <p:spPr>
          <a:xfrm>
            <a:off x="5084064"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 name="Shape 14"/>
          <p:cNvSpPr/>
          <p:nvPr/>
        </p:nvSpPr>
        <p:spPr>
          <a:xfrm>
            <a:off x="2651760" y="2032508"/>
            <a:ext cx="661778" cy="110744"/>
          </a:xfrm>
          <a:prstGeom prst="rect">
            <a:avLst/>
          </a:prstGeom>
          <a:solidFill>
            <a:srgbClr val="12A566"/>
          </a:solidFill>
          <a:ln/>
        </p:spPr>
      </p:sp>
      <p:sp>
        <p:nvSpPr>
          <p:cNvPr id="17" name="Text 15"/>
          <p:cNvSpPr txBox="1"/>
          <p:nvPr/>
        </p:nvSpPr>
        <p:spPr>
          <a:xfrm>
            <a:off x="3547872"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4297680"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19" name="Text 17"/>
          <p:cNvSpPr txBox="1"/>
          <p:nvPr/>
        </p:nvSpPr>
        <p:spPr>
          <a:xfrm>
            <a:off x="5084064"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2651760" y="2253996"/>
            <a:ext cx="659376" cy="110744"/>
          </a:xfrm>
          <a:prstGeom prst="rect">
            <a:avLst/>
          </a:prstGeom>
          <a:solidFill>
            <a:srgbClr val="12A566"/>
          </a:solidFill>
          <a:ln/>
        </p:spPr>
      </p:sp>
      <p:sp>
        <p:nvSpPr>
          <p:cNvPr id="22" name="Text 20"/>
          <p:cNvSpPr txBox="1"/>
          <p:nvPr/>
        </p:nvSpPr>
        <p:spPr>
          <a:xfrm>
            <a:off x="3547872"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3" name="Text 21"/>
          <p:cNvSpPr txBox="1"/>
          <p:nvPr/>
        </p:nvSpPr>
        <p:spPr>
          <a:xfrm>
            <a:off x="4297680"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4" name="Text 22"/>
          <p:cNvSpPr txBox="1"/>
          <p:nvPr/>
        </p:nvSpPr>
        <p:spPr>
          <a:xfrm>
            <a:off x="5084064"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6" name="Shape 24"/>
          <p:cNvSpPr/>
          <p:nvPr/>
        </p:nvSpPr>
        <p:spPr>
          <a:xfrm>
            <a:off x="2651760" y="2475484"/>
            <a:ext cx="642710" cy="110744"/>
          </a:xfrm>
          <a:prstGeom prst="rect">
            <a:avLst/>
          </a:prstGeom>
          <a:solidFill>
            <a:srgbClr val="12A566"/>
          </a:solidFill>
          <a:ln/>
        </p:spPr>
      </p:sp>
      <p:sp>
        <p:nvSpPr>
          <p:cNvPr id="27" name="Text 25"/>
          <p:cNvSpPr txBox="1"/>
          <p:nvPr/>
        </p:nvSpPr>
        <p:spPr>
          <a:xfrm>
            <a:off x="3547872"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8" name="Text 26"/>
          <p:cNvSpPr txBox="1"/>
          <p:nvPr/>
        </p:nvSpPr>
        <p:spPr>
          <a:xfrm>
            <a:off x="4297680"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29" name="Text 27"/>
          <p:cNvSpPr txBox="1"/>
          <p:nvPr/>
        </p:nvSpPr>
        <p:spPr>
          <a:xfrm>
            <a:off x="5084064"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1" name="Shape 29"/>
          <p:cNvSpPr/>
          <p:nvPr/>
        </p:nvSpPr>
        <p:spPr>
          <a:xfrm>
            <a:off x="2651760" y="2696972"/>
            <a:ext cx="523587" cy="110744"/>
          </a:xfrm>
          <a:prstGeom prst="rect">
            <a:avLst/>
          </a:prstGeom>
          <a:solidFill>
            <a:srgbClr val="12A566"/>
          </a:solidFill>
          <a:ln/>
        </p:spPr>
      </p:sp>
      <p:sp>
        <p:nvSpPr>
          <p:cNvPr id="32" name="Text 30"/>
          <p:cNvSpPr txBox="1"/>
          <p:nvPr/>
        </p:nvSpPr>
        <p:spPr>
          <a:xfrm>
            <a:off x="3547872"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33" name="Text 31"/>
          <p:cNvSpPr txBox="1"/>
          <p:nvPr/>
        </p:nvSpPr>
        <p:spPr>
          <a:xfrm>
            <a:off x="4297680"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34" name="Text 32"/>
          <p:cNvSpPr txBox="1"/>
          <p:nvPr/>
        </p:nvSpPr>
        <p:spPr>
          <a:xfrm>
            <a:off x="5084064"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2651760" y="2918460"/>
            <a:ext cx="515855" cy="110744"/>
          </a:xfrm>
          <a:prstGeom prst="rect">
            <a:avLst/>
          </a:prstGeom>
          <a:solidFill>
            <a:srgbClr val="12A566"/>
          </a:solidFill>
          <a:ln/>
        </p:spPr>
      </p:sp>
      <p:sp>
        <p:nvSpPr>
          <p:cNvPr id="37" name="Text 35"/>
          <p:cNvSpPr txBox="1"/>
          <p:nvPr/>
        </p:nvSpPr>
        <p:spPr>
          <a:xfrm>
            <a:off x="3547872"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38" name="Text 36"/>
          <p:cNvSpPr txBox="1"/>
          <p:nvPr/>
        </p:nvSpPr>
        <p:spPr>
          <a:xfrm>
            <a:off x="4297680"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39" name="Text 37"/>
          <p:cNvSpPr txBox="1"/>
          <p:nvPr/>
        </p:nvSpPr>
        <p:spPr>
          <a:xfrm>
            <a:off x="5084064"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40" name="Text 38"/>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1" name="Shape 39"/>
          <p:cNvSpPr/>
          <p:nvPr/>
        </p:nvSpPr>
        <p:spPr>
          <a:xfrm>
            <a:off x="2651760" y="3139948"/>
            <a:ext cx="510186" cy="110744"/>
          </a:xfrm>
          <a:prstGeom prst="rect">
            <a:avLst/>
          </a:prstGeom>
          <a:solidFill>
            <a:srgbClr val="12A566"/>
          </a:solidFill>
          <a:ln/>
        </p:spPr>
      </p:sp>
      <p:sp>
        <p:nvSpPr>
          <p:cNvPr id="42" name="Text 40"/>
          <p:cNvSpPr txBox="1"/>
          <p:nvPr/>
        </p:nvSpPr>
        <p:spPr>
          <a:xfrm>
            <a:off x="3547872"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43" name="Text 41"/>
          <p:cNvSpPr txBox="1"/>
          <p:nvPr/>
        </p:nvSpPr>
        <p:spPr>
          <a:xfrm>
            <a:off x="4297680"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44" name="Text 42"/>
          <p:cNvSpPr txBox="1"/>
          <p:nvPr/>
        </p:nvSpPr>
        <p:spPr>
          <a:xfrm>
            <a:off x="5084064"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45" name="Text 43"/>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6" name="Shape 44"/>
          <p:cNvSpPr/>
          <p:nvPr/>
        </p:nvSpPr>
        <p:spPr>
          <a:xfrm>
            <a:off x="2651760" y="3361436"/>
            <a:ext cx="486924" cy="110744"/>
          </a:xfrm>
          <a:prstGeom prst="rect">
            <a:avLst/>
          </a:prstGeom>
          <a:solidFill>
            <a:srgbClr val="12A566"/>
          </a:solidFill>
          <a:ln/>
        </p:spPr>
      </p:sp>
      <p:sp>
        <p:nvSpPr>
          <p:cNvPr id="47" name="Text 45"/>
          <p:cNvSpPr txBox="1"/>
          <p:nvPr/>
        </p:nvSpPr>
        <p:spPr>
          <a:xfrm>
            <a:off x="3547872"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48" name="Text 46"/>
          <p:cNvSpPr txBox="1"/>
          <p:nvPr/>
        </p:nvSpPr>
        <p:spPr>
          <a:xfrm>
            <a:off x="4297680"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49" name="Text 47"/>
          <p:cNvSpPr txBox="1"/>
          <p:nvPr/>
        </p:nvSpPr>
        <p:spPr>
          <a:xfrm>
            <a:off x="5084064"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50" name="Text 48"/>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1" name="Shape 49"/>
          <p:cNvSpPr/>
          <p:nvPr/>
        </p:nvSpPr>
        <p:spPr>
          <a:xfrm>
            <a:off x="2651760" y="3582924"/>
            <a:ext cx="482951" cy="110744"/>
          </a:xfrm>
          <a:prstGeom prst="rect">
            <a:avLst/>
          </a:prstGeom>
          <a:solidFill>
            <a:srgbClr val="12A566"/>
          </a:solidFill>
          <a:ln/>
        </p:spPr>
      </p:sp>
      <p:sp>
        <p:nvSpPr>
          <p:cNvPr id="52" name="Text 50"/>
          <p:cNvSpPr txBox="1"/>
          <p:nvPr/>
        </p:nvSpPr>
        <p:spPr>
          <a:xfrm>
            <a:off x="3547872" y="352755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3" name="Text 51"/>
          <p:cNvSpPr txBox="1"/>
          <p:nvPr/>
        </p:nvSpPr>
        <p:spPr>
          <a:xfrm>
            <a:off x="4297680"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54" name="Text 52"/>
          <p:cNvSpPr txBox="1"/>
          <p:nvPr/>
        </p:nvSpPr>
        <p:spPr>
          <a:xfrm>
            <a:off x="5084064"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55" name="Text 53"/>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6" name="Shape 54"/>
          <p:cNvSpPr/>
          <p:nvPr/>
        </p:nvSpPr>
        <p:spPr>
          <a:xfrm>
            <a:off x="2651760" y="3804412"/>
            <a:ext cx="469589" cy="110744"/>
          </a:xfrm>
          <a:prstGeom prst="rect">
            <a:avLst/>
          </a:prstGeom>
          <a:solidFill>
            <a:srgbClr val="12A566"/>
          </a:solidFill>
          <a:ln/>
        </p:spPr>
      </p:sp>
      <p:sp>
        <p:nvSpPr>
          <p:cNvPr id="57" name="Text 55"/>
          <p:cNvSpPr txBox="1"/>
          <p:nvPr/>
        </p:nvSpPr>
        <p:spPr>
          <a:xfrm>
            <a:off x="3547872"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58" name="Text 56"/>
          <p:cNvSpPr txBox="1"/>
          <p:nvPr/>
        </p:nvSpPr>
        <p:spPr>
          <a:xfrm>
            <a:off x="4297680"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59" name="Text 57"/>
          <p:cNvSpPr txBox="1"/>
          <p:nvPr/>
        </p:nvSpPr>
        <p:spPr>
          <a:xfrm>
            <a:off x="5084064"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60" name="Text 58"/>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1" name="Shape 59"/>
          <p:cNvSpPr/>
          <p:nvPr/>
        </p:nvSpPr>
        <p:spPr>
          <a:xfrm>
            <a:off x="2651760" y="4025900"/>
            <a:ext cx="465019" cy="110744"/>
          </a:xfrm>
          <a:prstGeom prst="rect">
            <a:avLst/>
          </a:prstGeom>
          <a:solidFill>
            <a:srgbClr val="12A566"/>
          </a:solidFill>
          <a:ln/>
        </p:spPr>
      </p:sp>
      <p:sp>
        <p:nvSpPr>
          <p:cNvPr id="62" name="Text 60"/>
          <p:cNvSpPr txBox="1"/>
          <p:nvPr/>
        </p:nvSpPr>
        <p:spPr>
          <a:xfrm>
            <a:off x="3547872"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3" name="Text 61"/>
          <p:cNvSpPr txBox="1"/>
          <p:nvPr/>
        </p:nvSpPr>
        <p:spPr>
          <a:xfrm>
            <a:off x="4297680"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64" name="Text 62"/>
          <p:cNvSpPr txBox="1"/>
          <p:nvPr/>
        </p:nvSpPr>
        <p:spPr>
          <a:xfrm>
            <a:off x="5084064"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65" name="Shape 63"/>
          <p:cNvSpPr/>
          <p:nvPr/>
        </p:nvSpPr>
        <p:spPr>
          <a:xfrm>
            <a:off x="603504" y="4192016"/>
            <a:ext cx="5285232" cy="212344"/>
          </a:xfrm>
          <a:prstGeom prst="rect">
            <a:avLst/>
          </a:prstGeom>
          <a:solidFill>
            <a:srgbClr val="EDF4FA"/>
          </a:solidFill>
          <a:ln/>
        </p:spPr>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67" name="Shape 65"/>
          <p:cNvSpPr/>
          <p:nvPr/>
        </p:nvSpPr>
        <p:spPr>
          <a:xfrm>
            <a:off x="2651760" y="4247388"/>
            <a:ext cx="449272" cy="110744"/>
          </a:xfrm>
          <a:prstGeom prst="rect">
            <a:avLst/>
          </a:prstGeom>
          <a:solidFill>
            <a:srgbClr val="0B2C4A"/>
          </a:solidFill>
          <a:ln/>
        </p:spPr>
      </p:sp>
      <p:sp>
        <p:nvSpPr>
          <p:cNvPr id="68" name="Text 66"/>
          <p:cNvSpPr txBox="1"/>
          <p:nvPr/>
        </p:nvSpPr>
        <p:spPr>
          <a:xfrm>
            <a:off x="3547872" y="419201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a:t>
            </a:r>
            <a:endParaRPr lang="en-US" sz="1300" dirty="0"/>
          </a:p>
        </p:txBody>
      </p:sp>
      <p:sp>
        <p:nvSpPr>
          <p:cNvPr id="69" name="Text 67"/>
          <p:cNvSpPr txBox="1"/>
          <p:nvPr/>
        </p:nvSpPr>
        <p:spPr>
          <a:xfrm>
            <a:off x="4297680"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$168.93</a:t>
            </a:r>
            <a:endParaRPr lang="en-US" sz="1300" dirty="0"/>
          </a:p>
        </p:txBody>
      </p:sp>
      <p:sp>
        <p:nvSpPr>
          <p:cNvPr id="70" name="Text 68"/>
          <p:cNvSpPr txBox="1"/>
          <p:nvPr/>
        </p:nvSpPr>
        <p:spPr>
          <a:xfrm>
            <a:off x="5084064"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439276" cy="110744"/>
          </a:xfrm>
          <a:prstGeom prst="rect">
            <a:avLst/>
          </a:prstGeom>
          <a:solidFill>
            <a:srgbClr val="12A566"/>
          </a:solidFill>
          <a:ln/>
        </p:spPr>
      </p:sp>
      <p:sp>
        <p:nvSpPr>
          <p:cNvPr id="73" name="Text 71"/>
          <p:cNvSpPr txBox="1"/>
          <p:nvPr/>
        </p:nvSpPr>
        <p:spPr>
          <a:xfrm>
            <a:off x="3547872" y="441350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4" name="Text 72"/>
          <p:cNvSpPr txBox="1"/>
          <p:nvPr/>
        </p:nvSpPr>
        <p:spPr>
          <a:xfrm>
            <a:off x="4297680"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75" name="Text 73"/>
          <p:cNvSpPr txBox="1"/>
          <p:nvPr/>
        </p:nvSpPr>
        <p:spPr>
          <a:xfrm>
            <a:off x="5084064"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7" name="Shape 75"/>
          <p:cNvSpPr/>
          <p:nvPr/>
        </p:nvSpPr>
        <p:spPr>
          <a:xfrm>
            <a:off x="2651760" y="4690364"/>
            <a:ext cx="429617" cy="110744"/>
          </a:xfrm>
          <a:prstGeom prst="rect">
            <a:avLst/>
          </a:prstGeom>
          <a:solidFill>
            <a:srgbClr val="12A566"/>
          </a:solidFill>
          <a:ln/>
        </p:spPr>
      </p:sp>
      <p:sp>
        <p:nvSpPr>
          <p:cNvPr id="78" name="Text 76"/>
          <p:cNvSpPr txBox="1"/>
          <p:nvPr/>
        </p:nvSpPr>
        <p:spPr>
          <a:xfrm>
            <a:off x="3547872" y="463499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79" name="Text 77"/>
          <p:cNvSpPr txBox="1"/>
          <p:nvPr/>
        </p:nvSpPr>
        <p:spPr>
          <a:xfrm>
            <a:off x="4297680"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80" name="Text 78"/>
          <p:cNvSpPr txBox="1"/>
          <p:nvPr/>
        </p:nvSpPr>
        <p:spPr>
          <a:xfrm>
            <a:off x="5084064"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2" name="Shape 80"/>
          <p:cNvSpPr/>
          <p:nvPr/>
        </p:nvSpPr>
        <p:spPr>
          <a:xfrm>
            <a:off x="2651760" y="4911852"/>
            <a:ext cx="406129" cy="110744"/>
          </a:xfrm>
          <a:prstGeom prst="rect">
            <a:avLst/>
          </a:prstGeom>
          <a:solidFill>
            <a:srgbClr val="12A566"/>
          </a:solidFill>
          <a:ln/>
        </p:spPr>
      </p:sp>
      <p:sp>
        <p:nvSpPr>
          <p:cNvPr id="83" name="Text 81"/>
          <p:cNvSpPr txBox="1"/>
          <p:nvPr/>
        </p:nvSpPr>
        <p:spPr>
          <a:xfrm>
            <a:off x="3547872" y="485648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4" name="Text 82"/>
          <p:cNvSpPr txBox="1"/>
          <p:nvPr/>
        </p:nvSpPr>
        <p:spPr>
          <a:xfrm>
            <a:off x="4297680"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85" name="Text 83"/>
          <p:cNvSpPr txBox="1"/>
          <p:nvPr/>
        </p:nvSpPr>
        <p:spPr>
          <a:xfrm>
            <a:off x="5084064"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7" name="Shape 85"/>
          <p:cNvSpPr/>
          <p:nvPr/>
        </p:nvSpPr>
        <p:spPr>
          <a:xfrm>
            <a:off x="2651760" y="5133340"/>
            <a:ext cx="378253" cy="110744"/>
          </a:xfrm>
          <a:prstGeom prst="rect">
            <a:avLst/>
          </a:prstGeom>
          <a:solidFill>
            <a:srgbClr val="C2352F"/>
          </a:solidFill>
          <a:ln/>
        </p:spPr>
      </p:sp>
      <p:sp>
        <p:nvSpPr>
          <p:cNvPr id="88" name="Text 86"/>
          <p:cNvSpPr txBox="1"/>
          <p:nvPr/>
        </p:nvSpPr>
        <p:spPr>
          <a:xfrm>
            <a:off x="3547872"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9" name="Text 87"/>
          <p:cNvSpPr txBox="1"/>
          <p:nvPr/>
        </p:nvSpPr>
        <p:spPr>
          <a:xfrm>
            <a:off x="4297680"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90" name="Text 88"/>
          <p:cNvSpPr txBox="1"/>
          <p:nvPr/>
        </p:nvSpPr>
        <p:spPr>
          <a:xfrm>
            <a:off x="5084064"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2" name="Shape 90"/>
          <p:cNvSpPr/>
          <p:nvPr/>
        </p:nvSpPr>
        <p:spPr>
          <a:xfrm>
            <a:off x="2651760" y="5354828"/>
            <a:ext cx="331678" cy="110744"/>
          </a:xfrm>
          <a:prstGeom prst="rect">
            <a:avLst/>
          </a:prstGeom>
          <a:solidFill>
            <a:srgbClr val="C2352F"/>
          </a:solidFill>
          <a:ln/>
        </p:spPr>
      </p:sp>
      <p:sp>
        <p:nvSpPr>
          <p:cNvPr id="93" name="Text 91"/>
          <p:cNvSpPr txBox="1"/>
          <p:nvPr/>
        </p:nvSpPr>
        <p:spPr>
          <a:xfrm>
            <a:off x="3547872"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94" name="Text 92"/>
          <p:cNvSpPr txBox="1"/>
          <p:nvPr/>
        </p:nvSpPr>
        <p:spPr>
          <a:xfrm>
            <a:off x="4297680"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95" name="Text 93"/>
          <p:cNvSpPr txBox="1"/>
          <p:nvPr/>
        </p:nvSpPr>
        <p:spPr>
          <a:xfrm>
            <a:off x="5084064"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7" name="Shape 95"/>
          <p:cNvSpPr/>
          <p:nvPr/>
        </p:nvSpPr>
        <p:spPr>
          <a:xfrm>
            <a:off x="2651760" y="5576316"/>
            <a:ext cx="285765" cy="110744"/>
          </a:xfrm>
          <a:prstGeom prst="rect">
            <a:avLst/>
          </a:prstGeom>
          <a:solidFill>
            <a:srgbClr val="C2352F"/>
          </a:solidFill>
          <a:ln/>
        </p:spPr>
      </p:sp>
      <p:sp>
        <p:nvSpPr>
          <p:cNvPr id="98" name="Text 96"/>
          <p:cNvSpPr txBox="1"/>
          <p:nvPr/>
        </p:nvSpPr>
        <p:spPr>
          <a:xfrm>
            <a:off x="3547872" y="552094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99" name="Text 97"/>
          <p:cNvSpPr txBox="1"/>
          <p:nvPr/>
        </p:nvSpPr>
        <p:spPr>
          <a:xfrm>
            <a:off x="4297680"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00" name="Text 98"/>
          <p:cNvSpPr txBox="1"/>
          <p:nvPr/>
        </p:nvSpPr>
        <p:spPr>
          <a:xfrm>
            <a:off x="5084064"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01" name="Shape 99"/>
          <p:cNvSpPr/>
          <p:nvPr/>
        </p:nvSpPr>
        <p:spPr>
          <a:xfrm>
            <a:off x="3041893" y="1755648"/>
            <a:ext cx="14630" cy="3986784"/>
          </a:xfrm>
          <a:prstGeom prst="rect">
            <a:avLst/>
          </a:prstGeom>
          <a:solidFill>
            <a:srgbClr val="0B2C4A"/>
          </a:solidFill>
          <a:ln/>
        </p:spPr>
      </p:sp>
      <p:sp>
        <p:nvSpPr>
          <p:cNvPr id="102" name="Text 100"/>
          <p:cNvSpPr txBox="1"/>
          <p:nvPr/>
        </p:nvSpPr>
        <p:spPr>
          <a:xfrm>
            <a:off x="6208776"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3" name="Text 101"/>
          <p:cNvSpPr txBox="1"/>
          <p:nvPr/>
        </p:nvSpPr>
        <p:spPr>
          <a:xfrm>
            <a:off x="909828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984808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05" name="Text 103"/>
          <p:cNvSpPr txBox="1"/>
          <p:nvPr/>
        </p:nvSpPr>
        <p:spPr>
          <a:xfrm>
            <a:off x="106344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6" name="Text 104"/>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7" name="Shape 105"/>
          <p:cNvSpPr/>
          <p:nvPr/>
        </p:nvSpPr>
        <p:spPr>
          <a:xfrm>
            <a:off x="8202168" y="1811020"/>
            <a:ext cx="665301" cy="110744"/>
          </a:xfrm>
          <a:prstGeom prst="rect">
            <a:avLst/>
          </a:prstGeom>
          <a:solidFill>
            <a:srgbClr val="12A566"/>
          </a:solidFill>
          <a:ln/>
        </p:spPr>
      </p:sp>
      <p:sp>
        <p:nvSpPr>
          <p:cNvPr id="108" name="Text 106"/>
          <p:cNvSpPr txBox="1"/>
          <p:nvPr/>
        </p:nvSpPr>
        <p:spPr>
          <a:xfrm>
            <a:off x="9098280"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09" name="Text 107"/>
          <p:cNvSpPr txBox="1"/>
          <p:nvPr/>
        </p:nvSpPr>
        <p:spPr>
          <a:xfrm>
            <a:off x="9848088"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10" name="Text 108"/>
          <p:cNvSpPr txBox="1"/>
          <p:nvPr/>
        </p:nvSpPr>
        <p:spPr>
          <a:xfrm>
            <a:off x="10634472"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11" name="Text 109"/>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2" name="Shape 110"/>
          <p:cNvSpPr/>
          <p:nvPr/>
        </p:nvSpPr>
        <p:spPr>
          <a:xfrm>
            <a:off x="8202168" y="2032508"/>
            <a:ext cx="619626" cy="110744"/>
          </a:xfrm>
          <a:prstGeom prst="rect">
            <a:avLst/>
          </a:prstGeom>
          <a:solidFill>
            <a:srgbClr val="12A566"/>
          </a:solidFill>
          <a:ln/>
        </p:spPr>
      </p:sp>
      <p:sp>
        <p:nvSpPr>
          <p:cNvPr id="113" name="Text 111"/>
          <p:cNvSpPr txBox="1"/>
          <p:nvPr/>
        </p:nvSpPr>
        <p:spPr>
          <a:xfrm>
            <a:off x="9098280"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114" name="Text 112"/>
          <p:cNvSpPr txBox="1"/>
          <p:nvPr/>
        </p:nvSpPr>
        <p:spPr>
          <a:xfrm>
            <a:off x="9848088"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115" name="Text 113"/>
          <p:cNvSpPr txBox="1"/>
          <p:nvPr/>
        </p:nvSpPr>
        <p:spPr>
          <a:xfrm>
            <a:off x="10634472"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116" name="Text 114"/>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7" name="Shape 115"/>
          <p:cNvSpPr/>
          <p:nvPr/>
        </p:nvSpPr>
        <p:spPr>
          <a:xfrm>
            <a:off x="8202168" y="2253996"/>
            <a:ext cx="613635" cy="110744"/>
          </a:xfrm>
          <a:prstGeom prst="rect">
            <a:avLst/>
          </a:prstGeom>
          <a:solidFill>
            <a:srgbClr val="12A566"/>
          </a:solidFill>
          <a:ln/>
        </p:spPr>
      </p:sp>
      <p:sp>
        <p:nvSpPr>
          <p:cNvPr id="118" name="Text 116"/>
          <p:cNvSpPr txBox="1"/>
          <p:nvPr/>
        </p:nvSpPr>
        <p:spPr>
          <a:xfrm>
            <a:off x="9098280"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119" name="Text 117"/>
          <p:cNvSpPr txBox="1"/>
          <p:nvPr/>
        </p:nvSpPr>
        <p:spPr>
          <a:xfrm>
            <a:off x="9848088"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120" name="Text 118"/>
          <p:cNvSpPr txBox="1"/>
          <p:nvPr/>
        </p:nvSpPr>
        <p:spPr>
          <a:xfrm>
            <a:off x="10634472"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1" name="Text 119"/>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2" name="Shape 120"/>
          <p:cNvSpPr/>
          <p:nvPr/>
        </p:nvSpPr>
        <p:spPr>
          <a:xfrm>
            <a:off x="8202168" y="2475484"/>
            <a:ext cx="564915" cy="110744"/>
          </a:xfrm>
          <a:prstGeom prst="rect">
            <a:avLst/>
          </a:prstGeom>
          <a:solidFill>
            <a:srgbClr val="12A566"/>
          </a:solidFill>
          <a:ln/>
        </p:spPr>
      </p:sp>
      <p:sp>
        <p:nvSpPr>
          <p:cNvPr id="123" name="Text 121"/>
          <p:cNvSpPr txBox="1"/>
          <p:nvPr/>
        </p:nvSpPr>
        <p:spPr>
          <a:xfrm>
            <a:off x="9098280"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124" name="Text 122"/>
          <p:cNvSpPr txBox="1"/>
          <p:nvPr/>
        </p:nvSpPr>
        <p:spPr>
          <a:xfrm>
            <a:off x="9848088"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125" name="Text 123"/>
          <p:cNvSpPr txBox="1"/>
          <p:nvPr/>
        </p:nvSpPr>
        <p:spPr>
          <a:xfrm>
            <a:off x="10634472"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126" name="Text 124"/>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7" name="Shape 125"/>
          <p:cNvSpPr/>
          <p:nvPr/>
        </p:nvSpPr>
        <p:spPr>
          <a:xfrm>
            <a:off x="8202168" y="2696972"/>
            <a:ext cx="549859" cy="110744"/>
          </a:xfrm>
          <a:prstGeom prst="rect">
            <a:avLst/>
          </a:prstGeom>
          <a:solidFill>
            <a:srgbClr val="12A566"/>
          </a:solidFill>
          <a:ln/>
        </p:spPr>
      </p:sp>
      <p:sp>
        <p:nvSpPr>
          <p:cNvPr id="128" name="Text 126"/>
          <p:cNvSpPr txBox="1"/>
          <p:nvPr/>
        </p:nvSpPr>
        <p:spPr>
          <a:xfrm>
            <a:off x="9098280"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129" name="Text 127"/>
          <p:cNvSpPr txBox="1"/>
          <p:nvPr/>
        </p:nvSpPr>
        <p:spPr>
          <a:xfrm>
            <a:off x="9848088"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130" name="Text 128"/>
          <p:cNvSpPr txBox="1"/>
          <p:nvPr/>
        </p:nvSpPr>
        <p:spPr>
          <a:xfrm>
            <a:off x="10634472"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131" name="Text 129"/>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2" name="Shape 130"/>
          <p:cNvSpPr/>
          <p:nvPr/>
        </p:nvSpPr>
        <p:spPr>
          <a:xfrm>
            <a:off x="8202168" y="2918460"/>
            <a:ext cx="542975" cy="110744"/>
          </a:xfrm>
          <a:prstGeom prst="rect">
            <a:avLst/>
          </a:prstGeom>
          <a:solidFill>
            <a:srgbClr val="12A566"/>
          </a:solidFill>
          <a:ln/>
        </p:spPr>
      </p:sp>
      <p:sp>
        <p:nvSpPr>
          <p:cNvPr id="133" name="Text 131"/>
          <p:cNvSpPr txBox="1"/>
          <p:nvPr/>
        </p:nvSpPr>
        <p:spPr>
          <a:xfrm>
            <a:off x="9098280"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134" name="Text 132"/>
          <p:cNvSpPr txBox="1"/>
          <p:nvPr/>
        </p:nvSpPr>
        <p:spPr>
          <a:xfrm>
            <a:off x="9848088"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135" name="Text 133"/>
          <p:cNvSpPr txBox="1"/>
          <p:nvPr/>
        </p:nvSpPr>
        <p:spPr>
          <a:xfrm>
            <a:off x="10634472"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136" name="Text 134"/>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7" name="Shape 135"/>
          <p:cNvSpPr/>
          <p:nvPr/>
        </p:nvSpPr>
        <p:spPr>
          <a:xfrm>
            <a:off x="8202168" y="3139948"/>
            <a:ext cx="528418" cy="110744"/>
          </a:xfrm>
          <a:prstGeom prst="rect">
            <a:avLst/>
          </a:prstGeom>
          <a:solidFill>
            <a:srgbClr val="12A566"/>
          </a:solidFill>
          <a:ln/>
        </p:spPr>
      </p:sp>
      <p:sp>
        <p:nvSpPr>
          <p:cNvPr id="138" name="Text 136"/>
          <p:cNvSpPr txBox="1"/>
          <p:nvPr/>
        </p:nvSpPr>
        <p:spPr>
          <a:xfrm>
            <a:off x="9098280"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139" name="Text 137"/>
          <p:cNvSpPr txBox="1"/>
          <p:nvPr/>
        </p:nvSpPr>
        <p:spPr>
          <a:xfrm>
            <a:off x="9848088"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140" name="Text 138"/>
          <p:cNvSpPr txBox="1"/>
          <p:nvPr/>
        </p:nvSpPr>
        <p:spPr>
          <a:xfrm>
            <a:off x="10634472"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41" name="Text 139"/>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2" name="Shape 140"/>
          <p:cNvSpPr/>
          <p:nvPr/>
        </p:nvSpPr>
        <p:spPr>
          <a:xfrm>
            <a:off x="8202168" y="3361436"/>
            <a:ext cx="515923" cy="110744"/>
          </a:xfrm>
          <a:prstGeom prst="rect">
            <a:avLst/>
          </a:prstGeom>
          <a:solidFill>
            <a:srgbClr val="12A566"/>
          </a:solidFill>
          <a:ln/>
        </p:spPr>
      </p:sp>
      <p:sp>
        <p:nvSpPr>
          <p:cNvPr id="143" name="Text 141"/>
          <p:cNvSpPr txBox="1"/>
          <p:nvPr/>
        </p:nvSpPr>
        <p:spPr>
          <a:xfrm>
            <a:off x="9098280"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144" name="Text 142"/>
          <p:cNvSpPr txBox="1"/>
          <p:nvPr/>
        </p:nvSpPr>
        <p:spPr>
          <a:xfrm>
            <a:off x="9848088"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145" name="Text 143"/>
          <p:cNvSpPr txBox="1"/>
          <p:nvPr/>
        </p:nvSpPr>
        <p:spPr>
          <a:xfrm>
            <a:off x="10634472"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46" name="Shape 144"/>
          <p:cNvSpPr/>
          <p:nvPr/>
        </p:nvSpPr>
        <p:spPr>
          <a:xfrm>
            <a:off x="6153912" y="3527552"/>
            <a:ext cx="5285232" cy="212344"/>
          </a:xfrm>
          <a:prstGeom prst="rect">
            <a:avLst/>
          </a:prstGeom>
          <a:solidFill>
            <a:srgbClr val="EDF4FA"/>
          </a:solidFill>
          <a:ln/>
        </p:spPr>
      </p:sp>
      <p:sp>
        <p:nvSpPr>
          <p:cNvPr id="147" name="Text 145"/>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8" name="Shape 146"/>
          <p:cNvSpPr/>
          <p:nvPr/>
        </p:nvSpPr>
        <p:spPr>
          <a:xfrm>
            <a:off x="8202168" y="3582924"/>
            <a:ext cx="482674" cy="110744"/>
          </a:xfrm>
          <a:prstGeom prst="rect">
            <a:avLst/>
          </a:prstGeom>
          <a:solidFill>
            <a:srgbClr val="0B2C4A"/>
          </a:solidFill>
          <a:ln/>
        </p:spPr>
      </p:sp>
      <p:sp>
        <p:nvSpPr>
          <p:cNvPr id="149" name="Text 147"/>
          <p:cNvSpPr txBox="1"/>
          <p:nvPr/>
        </p:nvSpPr>
        <p:spPr>
          <a:xfrm>
            <a:off x="9098280"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76.4%</a:t>
            </a:r>
            <a:endParaRPr lang="en-US" sz="1300" dirty="0"/>
          </a:p>
        </p:txBody>
      </p:sp>
      <p:sp>
        <p:nvSpPr>
          <p:cNvPr id="150" name="Text 148"/>
          <p:cNvSpPr txBox="1"/>
          <p:nvPr/>
        </p:nvSpPr>
        <p:spPr>
          <a:xfrm>
            <a:off x="9848088"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$155.03</a:t>
            </a:r>
            <a:endParaRPr lang="en-US" sz="1300" dirty="0"/>
          </a:p>
        </p:txBody>
      </p:sp>
      <p:sp>
        <p:nvSpPr>
          <p:cNvPr id="151" name="Text 149"/>
          <p:cNvSpPr txBox="1"/>
          <p:nvPr/>
        </p:nvSpPr>
        <p:spPr>
          <a:xfrm>
            <a:off x="10634472"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52" name="Text 150"/>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53" name="Shape 151"/>
          <p:cNvSpPr/>
          <p:nvPr/>
        </p:nvSpPr>
        <p:spPr>
          <a:xfrm>
            <a:off x="8202168" y="3804412"/>
            <a:ext cx="467351" cy="110744"/>
          </a:xfrm>
          <a:prstGeom prst="rect">
            <a:avLst/>
          </a:prstGeom>
          <a:solidFill>
            <a:srgbClr val="12A566"/>
          </a:solidFill>
          <a:ln/>
        </p:spPr>
      </p:sp>
      <p:sp>
        <p:nvSpPr>
          <p:cNvPr id="154" name="Text 152"/>
          <p:cNvSpPr txBox="1"/>
          <p:nvPr/>
        </p:nvSpPr>
        <p:spPr>
          <a:xfrm>
            <a:off x="9098280"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155" name="Text 153"/>
          <p:cNvSpPr txBox="1"/>
          <p:nvPr/>
        </p:nvSpPr>
        <p:spPr>
          <a:xfrm>
            <a:off x="9848088"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56" name="Text 154"/>
          <p:cNvSpPr txBox="1"/>
          <p:nvPr/>
        </p:nvSpPr>
        <p:spPr>
          <a:xfrm>
            <a:off x="10634472"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57" name="Text 155"/>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8" name="Shape 156"/>
          <p:cNvSpPr/>
          <p:nvPr/>
        </p:nvSpPr>
        <p:spPr>
          <a:xfrm>
            <a:off x="8202168" y="4025900"/>
            <a:ext cx="463785" cy="110744"/>
          </a:xfrm>
          <a:prstGeom prst="rect">
            <a:avLst/>
          </a:prstGeom>
          <a:solidFill>
            <a:srgbClr val="12A566"/>
          </a:solidFill>
          <a:ln/>
        </p:spPr>
      </p:sp>
      <p:sp>
        <p:nvSpPr>
          <p:cNvPr id="159" name="Text 157"/>
          <p:cNvSpPr txBox="1"/>
          <p:nvPr/>
        </p:nvSpPr>
        <p:spPr>
          <a:xfrm>
            <a:off x="9098280"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60" name="Text 158"/>
          <p:cNvSpPr txBox="1"/>
          <p:nvPr/>
        </p:nvSpPr>
        <p:spPr>
          <a:xfrm>
            <a:off x="9848088"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61" name="Text 159"/>
          <p:cNvSpPr txBox="1"/>
          <p:nvPr/>
        </p:nvSpPr>
        <p:spPr>
          <a:xfrm>
            <a:off x="10634472"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62" name="Text 160"/>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63" name="Shape 161"/>
          <p:cNvSpPr/>
          <p:nvPr/>
        </p:nvSpPr>
        <p:spPr>
          <a:xfrm>
            <a:off x="8202168" y="4247388"/>
            <a:ext cx="449061" cy="110744"/>
          </a:xfrm>
          <a:prstGeom prst="rect">
            <a:avLst/>
          </a:prstGeom>
          <a:solidFill>
            <a:srgbClr val="12A566"/>
          </a:solidFill>
          <a:ln/>
        </p:spPr>
      </p:sp>
      <p:sp>
        <p:nvSpPr>
          <p:cNvPr id="164" name="Text 162"/>
          <p:cNvSpPr txBox="1"/>
          <p:nvPr/>
        </p:nvSpPr>
        <p:spPr>
          <a:xfrm>
            <a:off x="9098280" y="419201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65" name="Text 163"/>
          <p:cNvSpPr txBox="1"/>
          <p:nvPr/>
        </p:nvSpPr>
        <p:spPr>
          <a:xfrm>
            <a:off x="9848088"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66" name="Text 164"/>
          <p:cNvSpPr txBox="1"/>
          <p:nvPr/>
        </p:nvSpPr>
        <p:spPr>
          <a:xfrm>
            <a:off x="10634472"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67" name="Text 165"/>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68" name="Shape 166"/>
          <p:cNvSpPr/>
          <p:nvPr/>
        </p:nvSpPr>
        <p:spPr>
          <a:xfrm>
            <a:off x="8202168" y="4468876"/>
            <a:ext cx="374799" cy="110744"/>
          </a:xfrm>
          <a:prstGeom prst="rect">
            <a:avLst/>
          </a:prstGeom>
          <a:solidFill>
            <a:srgbClr val="C2352F"/>
          </a:solidFill>
          <a:ln/>
        </p:spPr>
      </p:sp>
      <p:sp>
        <p:nvSpPr>
          <p:cNvPr id="169" name="Text 167"/>
          <p:cNvSpPr txBox="1"/>
          <p:nvPr/>
        </p:nvSpPr>
        <p:spPr>
          <a:xfrm>
            <a:off x="9098280" y="441350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70" name="Text 168"/>
          <p:cNvSpPr txBox="1"/>
          <p:nvPr/>
        </p:nvSpPr>
        <p:spPr>
          <a:xfrm>
            <a:off x="9848088"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71" name="Text 169"/>
          <p:cNvSpPr txBox="1"/>
          <p:nvPr/>
        </p:nvSpPr>
        <p:spPr>
          <a:xfrm>
            <a:off x="10634472"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72" name="Text 170"/>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3" name="Shape 171"/>
          <p:cNvSpPr/>
          <p:nvPr/>
        </p:nvSpPr>
        <p:spPr>
          <a:xfrm>
            <a:off x="8202168" y="4690364"/>
            <a:ext cx="364670" cy="110744"/>
          </a:xfrm>
          <a:prstGeom prst="rect">
            <a:avLst/>
          </a:prstGeom>
          <a:solidFill>
            <a:srgbClr val="C2352F"/>
          </a:solidFill>
          <a:ln/>
        </p:spPr>
      </p:sp>
      <p:sp>
        <p:nvSpPr>
          <p:cNvPr id="174" name="Text 172"/>
          <p:cNvSpPr txBox="1"/>
          <p:nvPr/>
        </p:nvSpPr>
        <p:spPr>
          <a:xfrm>
            <a:off x="9098280" y="4634992"/>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75" name="Text 173"/>
          <p:cNvSpPr txBox="1"/>
          <p:nvPr/>
        </p:nvSpPr>
        <p:spPr>
          <a:xfrm>
            <a:off x="9848088"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76" name="Text 174"/>
          <p:cNvSpPr txBox="1"/>
          <p:nvPr/>
        </p:nvSpPr>
        <p:spPr>
          <a:xfrm>
            <a:off x="10634472"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77" name="Text 175"/>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8" name="Shape 176"/>
          <p:cNvSpPr/>
          <p:nvPr/>
        </p:nvSpPr>
        <p:spPr>
          <a:xfrm>
            <a:off x="8202168" y="4911852"/>
            <a:ext cx="354832" cy="110744"/>
          </a:xfrm>
          <a:prstGeom prst="rect">
            <a:avLst/>
          </a:prstGeom>
          <a:solidFill>
            <a:srgbClr val="C2352F"/>
          </a:solidFill>
          <a:ln/>
        </p:spPr>
      </p:sp>
      <p:sp>
        <p:nvSpPr>
          <p:cNvPr id="179" name="Text 177"/>
          <p:cNvSpPr txBox="1"/>
          <p:nvPr/>
        </p:nvSpPr>
        <p:spPr>
          <a:xfrm>
            <a:off x="9098280" y="4856480"/>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80" name="Text 178"/>
          <p:cNvSpPr txBox="1"/>
          <p:nvPr/>
        </p:nvSpPr>
        <p:spPr>
          <a:xfrm>
            <a:off x="9848088"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81" name="Text 179"/>
          <p:cNvSpPr txBox="1"/>
          <p:nvPr/>
        </p:nvSpPr>
        <p:spPr>
          <a:xfrm>
            <a:off x="10634472"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82" name="Text 180"/>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3" name="Shape 181"/>
          <p:cNvSpPr/>
          <p:nvPr/>
        </p:nvSpPr>
        <p:spPr>
          <a:xfrm>
            <a:off x="8202168" y="5133340"/>
            <a:ext cx="352064" cy="110744"/>
          </a:xfrm>
          <a:prstGeom prst="rect">
            <a:avLst/>
          </a:prstGeom>
          <a:solidFill>
            <a:srgbClr val="C2352F"/>
          </a:solidFill>
          <a:ln/>
        </p:spPr>
      </p:sp>
      <p:sp>
        <p:nvSpPr>
          <p:cNvPr id="184" name="Text 182"/>
          <p:cNvSpPr txBox="1"/>
          <p:nvPr/>
        </p:nvSpPr>
        <p:spPr>
          <a:xfrm>
            <a:off x="9098280"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85" name="Text 183"/>
          <p:cNvSpPr txBox="1"/>
          <p:nvPr/>
        </p:nvSpPr>
        <p:spPr>
          <a:xfrm>
            <a:off x="9848088"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86" name="Text 184"/>
          <p:cNvSpPr txBox="1"/>
          <p:nvPr/>
        </p:nvSpPr>
        <p:spPr>
          <a:xfrm>
            <a:off x="10634472"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7" name="Text 185"/>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88" name="Shape 186"/>
          <p:cNvSpPr/>
          <p:nvPr/>
        </p:nvSpPr>
        <p:spPr>
          <a:xfrm>
            <a:off x="8202168" y="5354828"/>
            <a:ext cx="328825" cy="110744"/>
          </a:xfrm>
          <a:prstGeom prst="rect">
            <a:avLst/>
          </a:prstGeom>
          <a:solidFill>
            <a:srgbClr val="C2352F"/>
          </a:solidFill>
          <a:ln/>
        </p:spPr>
      </p:sp>
      <p:sp>
        <p:nvSpPr>
          <p:cNvPr id="189" name="Text 187"/>
          <p:cNvSpPr txBox="1"/>
          <p:nvPr/>
        </p:nvSpPr>
        <p:spPr>
          <a:xfrm>
            <a:off x="9098280"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90" name="Text 188"/>
          <p:cNvSpPr txBox="1"/>
          <p:nvPr/>
        </p:nvSpPr>
        <p:spPr>
          <a:xfrm>
            <a:off x="9848088"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91" name="Text 189"/>
          <p:cNvSpPr txBox="1"/>
          <p:nvPr/>
        </p:nvSpPr>
        <p:spPr>
          <a:xfrm>
            <a:off x="10634472"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92" name="Shape 190"/>
          <p:cNvSpPr/>
          <p:nvPr/>
        </p:nvSpPr>
        <p:spPr>
          <a:xfrm>
            <a:off x="8592301" y="1755648"/>
            <a:ext cx="14630" cy="3765296"/>
          </a:xfrm>
          <a:prstGeom prst="rect">
            <a:avLst/>
          </a:prstGeom>
          <a:solidFill>
            <a:srgbClr val="0B2C4A"/>
          </a:solidFill>
          <a:ln/>
        </p:spPr>
      </p:sp>
      <p:sp>
        <p:nvSpPr>
          <p:cNvPr id="193" name="Shape 191"/>
          <p:cNvSpPr/>
          <p:nvPr/>
        </p:nvSpPr>
        <p:spPr>
          <a:xfrm>
            <a:off x="6035040" y="1371600"/>
            <a:ext cx="10973" cy="4370832"/>
          </a:xfrm>
          <a:prstGeom prst="rect">
            <a:avLst/>
          </a:prstGeom>
          <a:solidFill>
            <a:srgbClr val="D9D9D9"/>
          </a:solidFill>
          <a:ln/>
        </p:spPr>
      </p:sp>
      <p:sp>
        <p:nvSpPr>
          <p:cNvPr id="194" name="Shape 192"/>
          <p:cNvSpPr/>
          <p:nvPr/>
        </p:nvSpPr>
        <p:spPr>
          <a:xfrm>
            <a:off x="457200" y="5961888"/>
            <a:ext cx="11274552" cy="548640"/>
          </a:xfrm>
          <a:prstGeom prst="rect">
            <a:avLst/>
          </a:prstGeom>
          <a:solidFill>
            <a:srgbClr val="EDF4FA"/>
          </a:solidFill>
          <a:ln/>
        </p:spPr>
      </p:sp>
      <p:sp>
        <p:nvSpPr>
          <p:cNvPr id="195" name="Text 19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grid stores realize 73.9% of door rate, no-grid stores 76.4%. A grid should lift ELR on longer jobs, yet grid stores trail.</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$287</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$304</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+5.9%</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$17 to $304, ahead of 2025 in all nine months. ROs were flat, so the $4,899,376 labor gain came from selling more per visit.</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$933</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28573"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$931</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1025253"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902656"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708427"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$641</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698005"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$632</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59059"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$506</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0" name="Shape 28"/>
          <p:cNvSpPr/>
          <p:nvPr/>
        </p:nvSpPr>
        <p:spPr>
          <a:xfrm>
            <a:off x="2267712" y="3979047"/>
            <a:ext cx="5129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$464</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3" name="Shape 31"/>
          <p:cNvSpPr/>
          <p:nvPr/>
        </p:nvSpPr>
        <p:spPr>
          <a:xfrm>
            <a:off x="2267712" y="4285722"/>
            <a:ext cx="460190"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$416</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444920"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$632  </a:t>
            </a:r>
            <a:pP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$264  </a:t>
            </a:r>
            <a:pP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98789"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8" name="Shape 46"/>
          <p:cNvSpPr/>
          <p:nvPr/>
        </p:nvSpPr>
        <p:spPr>
          <a:xfrm>
            <a:off x="6291072" y="2445668"/>
            <a:ext cx="57048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1" name="Shape 49"/>
          <p:cNvSpPr/>
          <p:nvPr/>
        </p:nvSpPr>
        <p:spPr>
          <a:xfrm>
            <a:off x="6291072" y="2752344"/>
            <a:ext cx="535931"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4" name="Shape 52"/>
          <p:cNvSpPr/>
          <p:nvPr/>
        </p:nvSpPr>
        <p:spPr>
          <a:xfrm>
            <a:off x="6291072" y="3059020"/>
            <a:ext cx="513550"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$318</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6291072" y="3365695"/>
            <a:ext cx="501174"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0" name="Shape 58"/>
          <p:cNvSpPr/>
          <p:nvPr/>
        </p:nvSpPr>
        <p:spPr>
          <a:xfrm>
            <a:off x="6291072" y="3672371"/>
            <a:ext cx="486714"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$302</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3" name="Shape 61"/>
          <p:cNvSpPr/>
          <p:nvPr/>
        </p:nvSpPr>
        <p:spPr>
          <a:xfrm>
            <a:off x="6291072" y="3979047"/>
            <a:ext cx="483060"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6291072" y="4285722"/>
            <a:ext cx="4821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6291072" y="4592398"/>
            <a:ext cx="46592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$289</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6291072" y="4899074"/>
            <a:ext cx="451632"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6291072" y="5205750"/>
            <a:ext cx="442219"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$274</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6291072" y="5512425"/>
            <a:ext cx="437452"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$271</a:t>
            </a:r>
            <a:endParaRPr lang="en-US" sz="1300" dirty="0"/>
          </a:p>
        </p:txBody>
      </p:sp>
      <p:sp>
        <p:nvSpPr>
          <p:cNvPr id="80" name="Shape 78"/>
          <p:cNvSpPr/>
          <p:nvPr/>
        </p:nvSpPr>
        <p:spPr>
          <a:xfrm>
            <a:off x="7863840" y="1755648"/>
            <a:ext cx="3529584" cy="297532"/>
          </a:xfrm>
          <a:prstGeom prst="rect">
            <a:avLst/>
          </a:prstGeom>
          <a:solidFill>
            <a:srgbClr val="EDF4FA"/>
          </a:solidFill>
          <a:ln/>
        </p:spPr>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82" name="Shape 80"/>
          <p:cNvSpPr/>
          <p:nvPr/>
        </p:nvSpPr>
        <p:spPr>
          <a:xfrm>
            <a:off x="9893808" y="1832317"/>
            <a:ext cx="426097" cy="153338"/>
          </a:xfrm>
          <a:prstGeom prst="rect">
            <a:avLst/>
          </a:prstGeom>
          <a:solidFill>
            <a:srgbClr val="0B2C4A"/>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$264</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5" name="Shape 83"/>
          <p:cNvSpPr/>
          <p:nvPr/>
        </p:nvSpPr>
        <p:spPr>
          <a:xfrm>
            <a:off x="9893808" y="2138993"/>
            <a:ext cx="38422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8" name="Shape 86"/>
          <p:cNvSpPr/>
          <p:nvPr/>
        </p:nvSpPr>
        <p:spPr>
          <a:xfrm>
            <a:off x="9893808" y="2445668"/>
            <a:ext cx="383536"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77596"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$234</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4" name="Shape 92"/>
          <p:cNvSpPr/>
          <p:nvPr/>
        </p:nvSpPr>
        <p:spPr>
          <a:xfrm>
            <a:off x="9893808" y="3059020"/>
            <a:ext cx="372225"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$231</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66796"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0" name="Shape 98"/>
          <p:cNvSpPr/>
          <p:nvPr/>
        </p:nvSpPr>
        <p:spPr>
          <a:xfrm>
            <a:off x="9893808" y="3672371"/>
            <a:ext cx="35848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$222</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3" name="Shape 101"/>
          <p:cNvSpPr/>
          <p:nvPr/>
        </p:nvSpPr>
        <p:spPr>
          <a:xfrm>
            <a:off x="9893808" y="3979047"/>
            <a:ext cx="355557"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$220</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6" name="Shape 104"/>
          <p:cNvSpPr/>
          <p:nvPr/>
        </p:nvSpPr>
        <p:spPr>
          <a:xfrm>
            <a:off x="9893808" y="4285722"/>
            <a:ext cx="344158"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$213</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23678"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9893808" y="4899074"/>
            <a:ext cx="30139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$187</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29351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$182</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$632 and 13 of 24 others beat $264. VW HENDERSON leads non-luxury at $389.</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982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58520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49106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8358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+$65</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8729"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0" name="Shape 28"/>
          <p:cNvSpPr/>
          <p:nvPr/>
        </p:nvSpPr>
        <p:spPr>
          <a:xfrm>
            <a:off x="3813048" y="3290528"/>
            <a:ext cx="43705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Shape 31"/>
          <p:cNvSpPr/>
          <p:nvPr/>
        </p:nvSpPr>
        <p:spPr>
          <a:xfrm>
            <a:off x="3813048" y="3520741"/>
            <a:ext cx="43014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0499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9" name="Shape 37"/>
          <p:cNvSpPr/>
          <p:nvPr/>
        </p:nvSpPr>
        <p:spPr>
          <a:xfrm>
            <a:off x="3813048" y="3981169"/>
            <a:ext cx="27852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5675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5" name="Shape 43"/>
          <p:cNvSpPr/>
          <p:nvPr/>
        </p:nvSpPr>
        <p:spPr>
          <a:xfrm>
            <a:off x="3813048" y="4441596"/>
            <a:ext cx="24884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3813048" y="4671809"/>
            <a:ext cx="228583"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Shape 49"/>
          <p:cNvSpPr/>
          <p:nvPr/>
        </p:nvSpPr>
        <p:spPr>
          <a:xfrm>
            <a:off x="3813048" y="4902023"/>
            <a:ext cx="18886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4" name="Shape 52"/>
          <p:cNvSpPr/>
          <p:nvPr/>
        </p:nvSpPr>
        <p:spPr>
          <a:xfrm>
            <a:off x="3813048" y="5132237"/>
            <a:ext cx="18372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7" name="Shape 55"/>
          <p:cNvSpPr/>
          <p:nvPr/>
        </p:nvSpPr>
        <p:spPr>
          <a:xfrm>
            <a:off x="3813048" y="5362450"/>
            <a:ext cx="172185"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0" name="Shape 58"/>
          <p:cNvSpPr/>
          <p:nvPr/>
        </p:nvSpPr>
        <p:spPr>
          <a:xfrm>
            <a:off x="3813048" y="5592664"/>
            <a:ext cx="1662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12642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6" name="Shape 64"/>
          <p:cNvSpPr/>
          <p:nvPr/>
        </p:nvSpPr>
        <p:spPr>
          <a:xfrm>
            <a:off x="9363456" y="2139459"/>
            <a:ext cx="12436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9" name="Shape 67"/>
          <p:cNvSpPr/>
          <p:nvPr/>
        </p:nvSpPr>
        <p:spPr>
          <a:xfrm>
            <a:off x="9363456" y="2369673"/>
            <a:ext cx="12116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2" name="Shape 70"/>
          <p:cNvSpPr/>
          <p:nvPr/>
        </p:nvSpPr>
        <p:spPr>
          <a:xfrm>
            <a:off x="9363456" y="2599887"/>
            <a:ext cx="10751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63456" y="2830100"/>
            <a:ext cx="103586"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96298"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9363456" y="3290528"/>
            <a:ext cx="58595"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84" name="Shape 82"/>
          <p:cNvSpPr/>
          <p:nvPr/>
        </p:nvSpPr>
        <p:spPr>
          <a:xfrm>
            <a:off x="9363456" y="3520741"/>
            <a:ext cx="52601"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7" name="Shape 85"/>
          <p:cNvSpPr/>
          <p:nvPr/>
        </p:nvSpPr>
        <p:spPr>
          <a:xfrm>
            <a:off x="9363456" y="3750955"/>
            <a:ext cx="31853"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20642" y="3981169"/>
            <a:ext cx="4281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3" name="Shape 91"/>
          <p:cNvSpPr/>
          <p:nvPr/>
        </p:nvSpPr>
        <p:spPr>
          <a:xfrm>
            <a:off x="9314873" y="4211382"/>
            <a:ext cx="4858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6" name="Shape 94"/>
          <p:cNvSpPr/>
          <p:nvPr/>
        </p:nvSpPr>
        <p:spPr>
          <a:xfrm>
            <a:off x="9298639" y="4441596"/>
            <a:ext cx="64817"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9" name="Shape 97"/>
          <p:cNvSpPr/>
          <p:nvPr/>
        </p:nvSpPr>
        <p:spPr>
          <a:xfrm>
            <a:off x="9293054" y="4671809"/>
            <a:ext cx="704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2" name="Shape 100"/>
          <p:cNvSpPr/>
          <p:nvPr/>
        </p:nvSpPr>
        <p:spPr>
          <a:xfrm>
            <a:off x="9216709" y="4902023"/>
            <a:ext cx="14674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5" name="Shape 103"/>
          <p:cNvSpPr/>
          <p:nvPr/>
        </p:nvSpPr>
        <p:spPr>
          <a:xfrm>
            <a:off x="9087533" y="5132237"/>
            <a:ext cx="27592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920751" y="5362450"/>
            <a:ext cx="44270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grew CP labor per RO, led by LINCOLN at +$111 to $416. 7 declined; LR RENO fell most at −$59.</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$228</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$238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$9 to $238, ahead of 2025 in all nine months. Parts sale grew $2,750,802 on flat RO count.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$926</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939609"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5544"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$814</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 name="Shape 15"/>
          <p:cNvSpPr/>
          <p:nvPr/>
        </p:nvSpPr>
        <p:spPr>
          <a:xfrm>
            <a:off x="2267712" y="2752344"/>
            <a:ext cx="820245"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603026"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$542</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594783"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$534</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60785"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$504</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4038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$363</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389252"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$350</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267398"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$240</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$534  </a:t>
            </a:r>
            <a:pP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$202  </a:t>
            </a:r>
            <a:pP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5" name="Shape 43"/>
          <p:cNvSpPr/>
          <p:nvPr/>
        </p:nvSpPr>
        <p:spPr>
          <a:xfrm>
            <a:off x="6291072" y="2138993"/>
            <a:ext cx="54929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6291072" y="2445668"/>
            <a:ext cx="532049"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1" name="Shape 49"/>
          <p:cNvSpPr/>
          <p:nvPr/>
        </p:nvSpPr>
        <p:spPr>
          <a:xfrm>
            <a:off x="6291072" y="2752344"/>
            <a:ext cx="530476"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4" name="Shape 52"/>
          <p:cNvSpPr/>
          <p:nvPr/>
        </p:nvSpPr>
        <p:spPr>
          <a:xfrm>
            <a:off x="6291072" y="3059020"/>
            <a:ext cx="530317"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57" name="Shape 55"/>
          <p:cNvSpPr/>
          <p:nvPr/>
        </p:nvSpPr>
        <p:spPr>
          <a:xfrm>
            <a:off x="6291072" y="3365695"/>
            <a:ext cx="522725"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0" name="Shape 58"/>
          <p:cNvSpPr/>
          <p:nvPr/>
        </p:nvSpPr>
        <p:spPr>
          <a:xfrm>
            <a:off x="6291072" y="3672371"/>
            <a:ext cx="508315"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3" name="Shape 61"/>
          <p:cNvSpPr/>
          <p:nvPr/>
        </p:nvSpPr>
        <p:spPr>
          <a:xfrm>
            <a:off x="6291072" y="3979047"/>
            <a:ext cx="499621"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$264</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Shape 64"/>
          <p:cNvSpPr/>
          <p:nvPr/>
        </p:nvSpPr>
        <p:spPr>
          <a:xfrm>
            <a:off x="6291072" y="4285722"/>
            <a:ext cx="490656"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9" name="Shape 67"/>
          <p:cNvSpPr/>
          <p:nvPr/>
        </p:nvSpPr>
        <p:spPr>
          <a:xfrm>
            <a:off x="6291072" y="4592398"/>
            <a:ext cx="445055"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2" name="Shape 70"/>
          <p:cNvSpPr/>
          <p:nvPr/>
        </p:nvSpPr>
        <p:spPr>
          <a:xfrm>
            <a:off x="6291072" y="4899074"/>
            <a:ext cx="413647"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$219</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5" name="Shape 73"/>
          <p:cNvSpPr/>
          <p:nvPr/>
        </p:nvSpPr>
        <p:spPr>
          <a:xfrm>
            <a:off x="6291072" y="5205750"/>
            <a:ext cx="40964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$217</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8" name="Shape 76"/>
          <p:cNvSpPr/>
          <p:nvPr/>
        </p:nvSpPr>
        <p:spPr>
          <a:xfrm>
            <a:off x="6291072" y="5512425"/>
            <a:ext cx="403417"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0" name="Text 78"/>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1" name="Shape 79"/>
          <p:cNvSpPr/>
          <p:nvPr/>
        </p:nvSpPr>
        <p:spPr>
          <a:xfrm>
            <a:off x="9893808" y="1832317"/>
            <a:ext cx="402285" cy="153338"/>
          </a:xfrm>
          <a:prstGeom prst="rect">
            <a:avLst/>
          </a:prstGeom>
          <a:solidFill>
            <a:srgbClr val="12A566"/>
          </a:solidFill>
          <a:ln/>
        </p:spPr>
      </p:sp>
      <p:sp>
        <p:nvSpPr>
          <p:cNvPr id="82" name="Text 80"/>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3" name="Text 81"/>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893808" y="2138993"/>
            <a:ext cx="401345" cy="153338"/>
          </a:xfrm>
          <a:prstGeom prst="rect">
            <a:avLst/>
          </a:prstGeom>
          <a:solidFill>
            <a:srgbClr val="12A566"/>
          </a:solidFill>
          <a:ln/>
        </p:spPr>
      </p:sp>
      <p:sp>
        <p:nvSpPr>
          <p:cNvPr id="85" name="Text 83"/>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$212</a:t>
            </a:r>
            <a:endParaRPr lang="en-US" sz="1300" dirty="0"/>
          </a:p>
        </p:txBody>
      </p:sp>
      <p:sp>
        <p:nvSpPr>
          <p:cNvPr id="86" name="Text 84"/>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9893808" y="2445668"/>
            <a:ext cx="393477" cy="153338"/>
          </a:xfrm>
          <a:prstGeom prst="rect">
            <a:avLst/>
          </a:prstGeom>
          <a:solidFill>
            <a:srgbClr val="12A566"/>
          </a:solidFill>
          <a:ln/>
        </p:spPr>
      </p:sp>
      <p:sp>
        <p:nvSpPr>
          <p:cNvPr id="88" name="Text 86"/>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$208</a:t>
            </a:r>
            <a:endParaRPr lang="en-US" sz="1300" dirty="0"/>
          </a:p>
        </p:txBody>
      </p:sp>
      <p:sp>
        <p:nvSpPr>
          <p:cNvPr id="89" name="Shape 87"/>
          <p:cNvSpPr/>
          <p:nvPr/>
        </p:nvSpPr>
        <p:spPr>
          <a:xfrm>
            <a:off x="7863840" y="2675675"/>
            <a:ext cx="3529584" cy="297532"/>
          </a:xfrm>
          <a:prstGeom prst="rect">
            <a:avLst/>
          </a:prstGeom>
          <a:solidFill>
            <a:srgbClr val="EDF4FA"/>
          </a:solidFill>
          <a:ln/>
        </p:spPr>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91" name="Shape 89"/>
          <p:cNvSpPr/>
          <p:nvPr/>
        </p:nvSpPr>
        <p:spPr>
          <a:xfrm>
            <a:off x="9893808" y="2752344"/>
            <a:ext cx="382510" cy="153338"/>
          </a:xfrm>
          <a:prstGeom prst="rect">
            <a:avLst/>
          </a:prstGeom>
          <a:solidFill>
            <a:srgbClr val="0B2C4A"/>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4" name="Shape 92"/>
          <p:cNvSpPr/>
          <p:nvPr/>
        </p:nvSpPr>
        <p:spPr>
          <a:xfrm>
            <a:off x="9893808" y="3059020"/>
            <a:ext cx="370852"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7" name="Shape 95"/>
          <p:cNvSpPr/>
          <p:nvPr/>
        </p:nvSpPr>
        <p:spPr>
          <a:xfrm>
            <a:off x="9893808" y="3365695"/>
            <a:ext cx="365344"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0" name="Shape 98"/>
          <p:cNvSpPr/>
          <p:nvPr/>
        </p:nvSpPr>
        <p:spPr>
          <a:xfrm>
            <a:off x="9893808" y="3672371"/>
            <a:ext cx="346140"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$183</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3" name="Shape 101"/>
          <p:cNvSpPr/>
          <p:nvPr/>
        </p:nvSpPr>
        <p:spPr>
          <a:xfrm>
            <a:off x="9893808" y="3979047"/>
            <a:ext cx="342275"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6" name="Shape 104"/>
          <p:cNvSpPr/>
          <p:nvPr/>
        </p:nvSpPr>
        <p:spPr>
          <a:xfrm>
            <a:off x="9893808" y="4285722"/>
            <a:ext cx="321936"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9" name="Shape 107"/>
          <p:cNvSpPr/>
          <p:nvPr/>
        </p:nvSpPr>
        <p:spPr>
          <a:xfrm>
            <a:off x="9893808" y="4592398"/>
            <a:ext cx="290572"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2" name="Shape 110"/>
          <p:cNvSpPr/>
          <p:nvPr/>
        </p:nvSpPr>
        <p:spPr>
          <a:xfrm>
            <a:off x="9893808" y="4899074"/>
            <a:ext cx="289524"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15" name="Shape 113"/>
          <p:cNvSpPr/>
          <p:nvPr/>
        </p:nvSpPr>
        <p:spPr>
          <a:xfrm>
            <a:off x="9893808" y="5205750"/>
            <a:ext cx="281601"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$534 and 16 of 24 others beat $202. CDJR POST FALLS leads non-luxury at $332.</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+$9</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704180"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4123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36417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4" name="Shape 22"/>
          <p:cNvSpPr/>
          <p:nvPr/>
        </p:nvSpPr>
        <p:spPr>
          <a:xfrm>
            <a:off x="3813048" y="2830100"/>
            <a:ext cx="32867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7" name="Shape 25"/>
          <p:cNvSpPr/>
          <p:nvPr/>
        </p:nvSpPr>
        <p:spPr>
          <a:xfrm>
            <a:off x="3813048" y="3060314"/>
            <a:ext cx="32688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0" name="Shape 28"/>
          <p:cNvSpPr/>
          <p:nvPr/>
        </p:nvSpPr>
        <p:spPr>
          <a:xfrm>
            <a:off x="3813048" y="3290528"/>
            <a:ext cx="28983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25153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6" name="Shape 34"/>
          <p:cNvSpPr/>
          <p:nvPr/>
        </p:nvSpPr>
        <p:spPr>
          <a:xfrm>
            <a:off x="3813048" y="3750955"/>
            <a:ext cx="24238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727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1716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Shape 43"/>
          <p:cNvSpPr/>
          <p:nvPr/>
        </p:nvSpPr>
        <p:spPr>
          <a:xfrm>
            <a:off x="3813048" y="4441596"/>
            <a:ext cx="21626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8" name="Shape 46"/>
          <p:cNvSpPr/>
          <p:nvPr/>
        </p:nvSpPr>
        <p:spPr>
          <a:xfrm>
            <a:off x="3813048" y="4671809"/>
            <a:ext cx="179579"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63774"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4" name="Shape 52"/>
          <p:cNvSpPr/>
          <p:nvPr/>
        </p:nvSpPr>
        <p:spPr>
          <a:xfrm>
            <a:off x="3813048" y="5132237"/>
            <a:ext cx="12489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122390"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07609"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04823"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99347"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9" name="Shape 67"/>
          <p:cNvSpPr/>
          <p:nvPr/>
        </p:nvSpPr>
        <p:spPr>
          <a:xfrm>
            <a:off x="9363456" y="2369673"/>
            <a:ext cx="9582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2" name="Shape 70"/>
          <p:cNvSpPr/>
          <p:nvPr/>
        </p:nvSpPr>
        <p:spPr>
          <a:xfrm>
            <a:off x="9363456" y="2599887"/>
            <a:ext cx="7913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5" name="Shape 73"/>
          <p:cNvSpPr/>
          <p:nvPr/>
        </p:nvSpPr>
        <p:spPr>
          <a:xfrm>
            <a:off x="9363456" y="2830100"/>
            <a:ext cx="72135"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63456" y="3060314"/>
            <a:ext cx="27013"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9363456" y="3290528"/>
            <a:ext cx="2249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58459"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7" name="Shape 85"/>
          <p:cNvSpPr/>
          <p:nvPr/>
        </p:nvSpPr>
        <p:spPr>
          <a:xfrm>
            <a:off x="9354218"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44972" y="3981169"/>
            <a:ext cx="1848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3" name="Shape 91"/>
          <p:cNvSpPr/>
          <p:nvPr/>
        </p:nvSpPr>
        <p:spPr>
          <a:xfrm>
            <a:off x="9304530" y="4211382"/>
            <a:ext cx="5892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6" name="Shape 94"/>
          <p:cNvSpPr/>
          <p:nvPr/>
        </p:nvSpPr>
        <p:spPr>
          <a:xfrm>
            <a:off x="9294223" y="4441596"/>
            <a:ext cx="69233"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9" name="Shape 97"/>
          <p:cNvSpPr/>
          <p:nvPr/>
        </p:nvSpPr>
        <p:spPr>
          <a:xfrm>
            <a:off x="9275310" y="4671809"/>
            <a:ext cx="88146"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2" name="Shape 100"/>
          <p:cNvSpPr/>
          <p:nvPr/>
        </p:nvSpPr>
        <p:spPr>
          <a:xfrm>
            <a:off x="9066642" y="4902023"/>
            <a:ext cx="29681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5" name="Shape 103"/>
          <p:cNvSpPr/>
          <p:nvPr/>
        </p:nvSpPr>
        <p:spPr>
          <a:xfrm>
            <a:off x="8894653" y="5132237"/>
            <a:ext cx="46880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824186" y="5362450"/>
            <a:ext cx="53927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grew CP parts per RO, led by LR HENDERSON at +$95 to $926. 9 declined; LR RENO fell most at −$62.</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0.1 pts to 80.8%, behind 2025 in six of nine months. Roundtable target is 78–80%.</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707239"/>
            <a:ext cx="166822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 name="Shape 11"/>
          <p:cNvSpPr/>
          <p:nvPr/>
        </p:nvSpPr>
        <p:spPr>
          <a:xfrm>
            <a:off x="2971800" y="1961119"/>
            <a:ext cx="1660147"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6" name="Shape 14"/>
          <p:cNvSpPr/>
          <p:nvPr/>
        </p:nvSpPr>
        <p:spPr>
          <a:xfrm>
            <a:off x="2971800" y="2215000"/>
            <a:ext cx="1596623"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85.0%</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9" name="Shape 17"/>
          <p:cNvSpPr/>
          <p:nvPr/>
        </p:nvSpPr>
        <p:spPr>
          <a:xfrm>
            <a:off x="2971800" y="2468880"/>
            <a:ext cx="156228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722760"/>
            <a:ext cx="156207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5" name="Shape 23"/>
          <p:cNvSpPr/>
          <p:nvPr/>
        </p:nvSpPr>
        <p:spPr>
          <a:xfrm>
            <a:off x="2971800" y="2976641"/>
            <a:ext cx="155203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8" name="Shape 26"/>
          <p:cNvSpPr/>
          <p:nvPr/>
        </p:nvSpPr>
        <p:spPr>
          <a:xfrm>
            <a:off x="2971800" y="3230521"/>
            <a:ext cx="1527833"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83.9%</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1" name="Shape 29"/>
          <p:cNvSpPr/>
          <p:nvPr/>
        </p:nvSpPr>
        <p:spPr>
          <a:xfrm>
            <a:off x="2971800" y="3484402"/>
            <a:ext cx="150138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4" name="Shape 32"/>
          <p:cNvSpPr/>
          <p:nvPr/>
        </p:nvSpPr>
        <p:spPr>
          <a:xfrm>
            <a:off x="2971800" y="3738282"/>
            <a:ext cx="1480912"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83.2%</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7" name="Shape 35"/>
          <p:cNvSpPr/>
          <p:nvPr/>
        </p:nvSpPr>
        <p:spPr>
          <a:xfrm>
            <a:off x="2971800" y="3992163"/>
            <a:ext cx="1464232"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82.9%</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246043"/>
            <a:ext cx="1433507"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82.4%</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971800" y="4499924"/>
            <a:ext cx="1404658"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82.0%</a:t>
            </a:r>
            <a:endParaRPr lang="en-US" sz="1300" dirty="0"/>
          </a:p>
        </p:txBody>
      </p:sp>
      <p:sp>
        <p:nvSpPr>
          <p:cNvPr id="45" name="Shape 43"/>
          <p:cNvSpPr/>
          <p:nvPr/>
        </p:nvSpPr>
        <p:spPr>
          <a:xfrm>
            <a:off x="585216" y="4685762"/>
            <a:ext cx="5413248" cy="244736"/>
          </a:xfrm>
          <a:prstGeom prst="rect">
            <a:avLst/>
          </a:prstGeom>
          <a:solidFill>
            <a:srgbClr val="EDF4FA"/>
          </a:solidFill>
          <a:ln/>
        </p:spPr>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753804"/>
            <a:ext cx="1329545" cy="126940"/>
          </a:xfrm>
          <a:prstGeom prst="rect">
            <a:avLst/>
          </a:prstGeom>
          <a:solidFill>
            <a:srgbClr val="0B2C4A"/>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80.8%</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0" name="Shape 48"/>
          <p:cNvSpPr/>
          <p:nvPr/>
        </p:nvSpPr>
        <p:spPr>
          <a:xfrm>
            <a:off x="2971800" y="5007685"/>
            <a:ext cx="1267115"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79.8%</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3" name="Shape 51"/>
          <p:cNvSpPr/>
          <p:nvPr/>
        </p:nvSpPr>
        <p:spPr>
          <a:xfrm>
            <a:off x="2971800" y="5261565"/>
            <a:ext cx="1248119"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6" name="Shape 54"/>
          <p:cNvSpPr/>
          <p:nvPr/>
        </p:nvSpPr>
        <p:spPr>
          <a:xfrm>
            <a:off x="2971800" y="5515446"/>
            <a:ext cx="124524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9" name="Shape 57"/>
          <p:cNvSpPr/>
          <p:nvPr/>
        </p:nvSpPr>
        <p:spPr>
          <a:xfrm>
            <a:off x="8522208" y="1453358"/>
            <a:ext cx="1244055"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2" name="Shape 60"/>
          <p:cNvSpPr/>
          <p:nvPr/>
        </p:nvSpPr>
        <p:spPr>
          <a:xfrm>
            <a:off x="8522208" y="1707239"/>
            <a:ext cx="1240572"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124015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8522208" y="2215000"/>
            <a:ext cx="1234968"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1222696"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79.1%</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4" name="Shape 72"/>
          <p:cNvSpPr/>
          <p:nvPr/>
        </p:nvSpPr>
        <p:spPr>
          <a:xfrm>
            <a:off x="8522208" y="2722760"/>
            <a:ext cx="120066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7" name="Shape 75"/>
          <p:cNvSpPr/>
          <p:nvPr/>
        </p:nvSpPr>
        <p:spPr>
          <a:xfrm>
            <a:off x="8522208" y="2976641"/>
            <a:ext cx="1193445"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78.7%</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1188517"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78.6%</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3" name="Shape 81"/>
          <p:cNvSpPr/>
          <p:nvPr/>
        </p:nvSpPr>
        <p:spPr>
          <a:xfrm>
            <a:off x="8522208" y="3484402"/>
            <a:ext cx="1186133"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6" name="Shape 84"/>
          <p:cNvSpPr/>
          <p:nvPr/>
        </p:nvSpPr>
        <p:spPr>
          <a:xfrm>
            <a:off x="8522208" y="3738282"/>
            <a:ext cx="1180793"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1140137"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77.8%</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2" name="Shape 90"/>
          <p:cNvSpPr/>
          <p:nvPr/>
        </p:nvSpPr>
        <p:spPr>
          <a:xfrm>
            <a:off x="8522208" y="4246043"/>
            <a:ext cx="1104310"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Shape 93"/>
          <p:cNvSpPr/>
          <p:nvPr/>
        </p:nvSpPr>
        <p:spPr>
          <a:xfrm>
            <a:off x="8522208" y="4499924"/>
            <a:ext cx="100112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75.7%</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904254"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74.1%</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1" name="Shape 99"/>
          <p:cNvSpPr/>
          <p:nvPr/>
        </p:nvSpPr>
        <p:spPr>
          <a:xfrm>
            <a:off x="8522208" y="5007685"/>
            <a:ext cx="885925"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4" name="Shape 102"/>
          <p:cNvSpPr/>
          <p:nvPr/>
        </p:nvSpPr>
        <p:spPr>
          <a:xfrm>
            <a:off x="8522208" y="5261565"/>
            <a:ext cx="78076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494188"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67.7%</a:t>
            </a:r>
            <a:endParaRPr lang="en-US" sz="1300" dirty="0"/>
          </a:p>
        </p:txBody>
      </p:sp>
      <p:sp>
        <p:nvSpPr>
          <p:cNvPr id="109" name="Shape 107"/>
          <p:cNvSpPr/>
          <p:nvPr/>
        </p:nvSpPr>
        <p:spPr>
          <a:xfrm>
            <a:off x="4294030" y="1389888"/>
            <a:ext cx="14630" cy="4315968"/>
          </a:xfrm>
          <a:prstGeom prst="rect">
            <a:avLst/>
          </a:prstGeom>
          <a:solidFill>
            <a:srgbClr val="0B2C4A"/>
          </a:solidFill>
          <a:ln/>
        </p:spPr>
      </p:sp>
      <p:sp>
        <p:nvSpPr>
          <p:cNvPr id="110" name="Shape 108"/>
          <p:cNvSpPr/>
          <p:nvPr/>
        </p:nvSpPr>
        <p:spPr>
          <a:xfrm>
            <a:off x="984443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80.8% group, led by VOLVO at 88.6%. HYUNDAI PRESCOTT is lowest at 67.7%.</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2" name="Shape 10"/>
          <p:cNvSpPr/>
          <p:nvPr/>
        </p:nvSpPr>
        <p:spPr>
          <a:xfrm>
            <a:off x="3813048" y="1909246"/>
            <a:ext cx="732396"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 name="Shape 13"/>
          <p:cNvSpPr/>
          <p:nvPr/>
        </p:nvSpPr>
        <p:spPr>
          <a:xfrm>
            <a:off x="3813048" y="2139459"/>
            <a:ext cx="71678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8" name="Shape 16"/>
          <p:cNvSpPr/>
          <p:nvPr/>
        </p:nvSpPr>
        <p:spPr>
          <a:xfrm>
            <a:off x="3813048" y="2369673"/>
            <a:ext cx="46729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253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4" name="Shape 22"/>
          <p:cNvSpPr/>
          <p:nvPr/>
        </p:nvSpPr>
        <p:spPr>
          <a:xfrm>
            <a:off x="3813048" y="2830100"/>
            <a:ext cx="23407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3813048" y="3060314"/>
            <a:ext cx="2281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19830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19142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16270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9" name="Shape 37"/>
          <p:cNvSpPr/>
          <p:nvPr/>
        </p:nvSpPr>
        <p:spPr>
          <a:xfrm>
            <a:off x="3813048" y="3981169"/>
            <a:ext cx="15102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2" name="Shape 40"/>
          <p:cNvSpPr/>
          <p:nvPr/>
        </p:nvSpPr>
        <p:spPr>
          <a:xfrm>
            <a:off x="3813048" y="4211382"/>
            <a:ext cx="12464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5" name="Shape 43"/>
          <p:cNvSpPr/>
          <p:nvPr/>
        </p:nvSpPr>
        <p:spPr>
          <a:xfrm>
            <a:off x="3813048" y="4441596"/>
            <a:ext cx="88902"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8" name="Shape 46"/>
          <p:cNvSpPr/>
          <p:nvPr/>
        </p:nvSpPr>
        <p:spPr>
          <a:xfrm>
            <a:off x="3813048" y="4671809"/>
            <a:ext cx="6058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1" name="Shape 49"/>
          <p:cNvSpPr/>
          <p:nvPr/>
        </p:nvSpPr>
        <p:spPr>
          <a:xfrm>
            <a:off x="3813048" y="4902023"/>
            <a:ext cx="6051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5508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7" name="Shape 55"/>
          <p:cNvSpPr/>
          <p:nvPr/>
        </p:nvSpPr>
        <p:spPr>
          <a:xfrm>
            <a:off x="3813048" y="5362450"/>
            <a:ext cx="48318"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3813048" y="5592664"/>
            <a:ext cx="3487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63456" y="1909246"/>
            <a:ext cx="3090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6" name="Shape 64"/>
          <p:cNvSpPr/>
          <p:nvPr/>
        </p:nvSpPr>
        <p:spPr>
          <a:xfrm>
            <a:off x="9363456" y="2139459"/>
            <a:ext cx="30171"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9" name="Shape 67"/>
          <p:cNvSpPr/>
          <p:nvPr/>
        </p:nvSpPr>
        <p:spPr>
          <a:xfrm>
            <a:off x="9363456" y="2369673"/>
            <a:ext cx="1852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23089" y="2599887"/>
            <a:ext cx="4036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5" name="Shape 73"/>
          <p:cNvSpPr/>
          <p:nvPr/>
        </p:nvSpPr>
        <p:spPr>
          <a:xfrm>
            <a:off x="9308868" y="2830100"/>
            <a:ext cx="5458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8" name="Shape 76"/>
          <p:cNvSpPr/>
          <p:nvPr/>
        </p:nvSpPr>
        <p:spPr>
          <a:xfrm>
            <a:off x="9290146" y="3060314"/>
            <a:ext cx="7331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238791" y="3290528"/>
            <a:ext cx="124665"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194680" y="3520741"/>
            <a:ext cx="168776"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7" name="Shape 85"/>
          <p:cNvSpPr/>
          <p:nvPr/>
        </p:nvSpPr>
        <p:spPr>
          <a:xfrm>
            <a:off x="9139920" y="3750955"/>
            <a:ext cx="223536"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135094" y="3981169"/>
            <a:ext cx="228362"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9127093" y="4211382"/>
            <a:ext cx="23636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6" name="Shape 94"/>
          <p:cNvSpPr/>
          <p:nvPr/>
        </p:nvSpPr>
        <p:spPr>
          <a:xfrm>
            <a:off x="9046147" y="4441596"/>
            <a:ext cx="31730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043296" y="4671809"/>
            <a:ext cx="32016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898503" y="4902023"/>
            <a:ext cx="46495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5" name="Shape 103"/>
          <p:cNvSpPr/>
          <p:nvPr/>
        </p:nvSpPr>
        <p:spPr>
          <a:xfrm>
            <a:off x="8620592" y="5132237"/>
            <a:ext cx="74286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 of 33 stores improved labor margin, led by TOYOTA PRESCOTT at +4.6 pts to 78.5%. 13 declined; HYUNDAI PRESCOTT fell most at −5.2 pts.</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39.4%</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40.7%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+3.1%</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40.7%, ahead of 2025 in all nine months.</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 name="Shape 8"/>
          <p:cNvSpPr/>
          <p:nvPr/>
        </p:nvSpPr>
        <p:spPr>
          <a:xfrm>
            <a:off x="2971800" y="1707239"/>
            <a:ext cx="1671544"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47.0%</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 name="Shape 11"/>
          <p:cNvSpPr/>
          <p:nvPr/>
        </p:nvSpPr>
        <p:spPr>
          <a:xfrm>
            <a:off x="2971800" y="1961119"/>
            <a:ext cx="153078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45.1%</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215000"/>
            <a:ext cx="151148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9" name="Shape 17"/>
          <p:cNvSpPr/>
          <p:nvPr/>
        </p:nvSpPr>
        <p:spPr>
          <a:xfrm>
            <a:off x="2971800" y="2468880"/>
            <a:ext cx="1492120"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2" name="Shape 20"/>
          <p:cNvSpPr/>
          <p:nvPr/>
        </p:nvSpPr>
        <p:spPr>
          <a:xfrm>
            <a:off x="2971800" y="2722760"/>
            <a:ext cx="148093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5" name="Shape 23"/>
          <p:cNvSpPr/>
          <p:nvPr/>
        </p:nvSpPr>
        <p:spPr>
          <a:xfrm>
            <a:off x="2971800" y="2976641"/>
            <a:ext cx="141371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43.6%</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8" name="Shape 26"/>
          <p:cNvSpPr/>
          <p:nvPr/>
        </p:nvSpPr>
        <p:spPr>
          <a:xfrm>
            <a:off x="2971800" y="3230521"/>
            <a:ext cx="140389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1" name="Shape 29"/>
          <p:cNvSpPr/>
          <p:nvPr/>
        </p:nvSpPr>
        <p:spPr>
          <a:xfrm>
            <a:off x="2971800" y="3484402"/>
            <a:ext cx="1399375"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4" name="Shape 32"/>
          <p:cNvSpPr/>
          <p:nvPr/>
        </p:nvSpPr>
        <p:spPr>
          <a:xfrm>
            <a:off x="2971800" y="3738282"/>
            <a:ext cx="1374547"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43.1%</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7" name="Shape 35"/>
          <p:cNvSpPr/>
          <p:nvPr/>
        </p:nvSpPr>
        <p:spPr>
          <a:xfrm>
            <a:off x="2971800" y="3992163"/>
            <a:ext cx="135327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0" name="Shape 38"/>
          <p:cNvSpPr/>
          <p:nvPr/>
        </p:nvSpPr>
        <p:spPr>
          <a:xfrm>
            <a:off x="2971800" y="4246043"/>
            <a:ext cx="1346673"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3" name="Shape 41"/>
          <p:cNvSpPr/>
          <p:nvPr/>
        </p:nvSpPr>
        <p:spPr>
          <a:xfrm>
            <a:off x="2971800" y="4499924"/>
            <a:ext cx="1333186"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332841"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9" name="Shape 47"/>
          <p:cNvSpPr/>
          <p:nvPr/>
        </p:nvSpPr>
        <p:spPr>
          <a:xfrm>
            <a:off x="2971800" y="5007685"/>
            <a:ext cx="1300974"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42.1%</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2" name="Shape 50"/>
          <p:cNvSpPr/>
          <p:nvPr/>
        </p:nvSpPr>
        <p:spPr>
          <a:xfrm>
            <a:off x="2971800" y="5261565"/>
            <a:ext cx="1285305"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5" name="Shape 53"/>
          <p:cNvSpPr/>
          <p:nvPr/>
        </p:nvSpPr>
        <p:spPr>
          <a:xfrm>
            <a:off x="2971800" y="5515446"/>
            <a:ext cx="1285266"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8" name="Shape 56"/>
          <p:cNvSpPr/>
          <p:nvPr/>
        </p:nvSpPr>
        <p:spPr>
          <a:xfrm>
            <a:off x="8522208" y="1453358"/>
            <a:ext cx="1268711"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41.7%</a:t>
            </a:r>
            <a:endParaRPr lang="en-US" sz="1300" dirty="0"/>
          </a:p>
        </p:txBody>
      </p:sp>
      <p:sp>
        <p:nvSpPr>
          <p:cNvPr id="60" name="Text 58"/>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1" name="Shape 59"/>
          <p:cNvSpPr/>
          <p:nvPr/>
        </p:nvSpPr>
        <p:spPr>
          <a:xfrm>
            <a:off x="8522208" y="1707239"/>
            <a:ext cx="1219712" cy="126940"/>
          </a:xfrm>
          <a:prstGeom prst="rect">
            <a:avLst/>
          </a:prstGeom>
          <a:solidFill>
            <a:srgbClr val="12A566"/>
          </a:solidFill>
          <a:ln/>
        </p:spPr>
      </p:sp>
      <p:sp>
        <p:nvSpPr>
          <p:cNvPr id="62" name="Text 60"/>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41.0%</a:t>
            </a:r>
            <a:endParaRPr lang="en-US" sz="1300" dirty="0"/>
          </a:p>
        </p:txBody>
      </p:sp>
      <p:sp>
        <p:nvSpPr>
          <p:cNvPr id="63" name="Shape 61"/>
          <p:cNvSpPr/>
          <p:nvPr/>
        </p:nvSpPr>
        <p:spPr>
          <a:xfrm>
            <a:off x="6135624" y="1893077"/>
            <a:ext cx="5413248" cy="244736"/>
          </a:xfrm>
          <a:prstGeom prst="rect">
            <a:avLst/>
          </a:prstGeom>
          <a:solidFill>
            <a:srgbClr val="EDF4FA"/>
          </a:solidFill>
          <a:ln/>
        </p:spPr>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65" name="Shape 63"/>
          <p:cNvSpPr/>
          <p:nvPr/>
        </p:nvSpPr>
        <p:spPr>
          <a:xfrm>
            <a:off x="8522208" y="1961119"/>
            <a:ext cx="1192686" cy="126940"/>
          </a:xfrm>
          <a:prstGeom prst="rect">
            <a:avLst/>
          </a:prstGeom>
          <a:solidFill>
            <a:srgbClr val="0B2C4A"/>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40.7%</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8522208" y="2215000"/>
            <a:ext cx="116711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1" name="Shape 69"/>
          <p:cNvSpPr/>
          <p:nvPr/>
        </p:nvSpPr>
        <p:spPr>
          <a:xfrm>
            <a:off x="8522208" y="2468880"/>
            <a:ext cx="1158739"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4" name="Shape 72"/>
          <p:cNvSpPr/>
          <p:nvPr/>
        </p:nvSpPr>
        <p:spPr>
          <a:xfrm>
            <a:off x="8522208" y="2722760"/>
            <a:ext cx="115420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7" name="Shape 75"/>
          <p:cNvSpPr/>
          <p:nvPr/>
        </p:nvSpPr>
        <p:spPr>
          <a:xfrm>
            <a:off x="8522208" y="2976641"/>
            <a:ext cx="1099419"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0" name="Shape 78"/>
          <p:cNvSpPr/>
          <p:nvPr/>
        </p:nvSpPr>
        <p:spPr>
          <a:xfrm>
            <a:off x="8522208" y="3230521"/>
            <a:ext cx="1093586"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484402"/>
            <a:ext cx="924954"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37.2%</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6" name="Shape 84"/>
          <p:cNvSpPr/>
          <p:nvPr/>
        </p:nvSpPr>
        <p:spPr>
          <a:xfrm>
            <a:off x="8522208" y="3738282"/>
            <a:ext cx="913598"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912030"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2" name="Shape 90"/>
          <p:cNvSpPr/>
          <p:nvPr/>
        </p:nvSpPr>
        <p:spPr>
          <a:xfrm>
            <a:off x="8522208" y="4246043"/>
            <a:ext cx="906447"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5" name="Shape 93"/>
          <p:cNvSpPr/>
          <p:nvPr/>
        </p:nvSpPr>
        <p:spPr>
          <a:xfrm>
            <a:off x="8522208" y="4499924"/>
            <a:ext cx="905128"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8" name="Shape 96"/>
          <p:cNvSpPr/>
          <p:nvPr/>
        </p:nvSpPr>
        <p:spPr>
          <a:xfrm>
            <a:off x="8522208" y="4753804"/>
            <a:ext cx="849579"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1" name="Shape 99"/>
          <p:cNvSpPr/>
          <p:nvPr/>
        </p:nvSpPr>
        <p:spPr>
          <a:xfrm>
            <a:off x="8522208" y="5007685"/>
            <a:ext cx="809862"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74264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7" name="Shape 105"/>
          <p:cNvSpPr/>
          <p:nvPr/>
        </p:nvSpPr>
        <p:spPr>
          <a:xfrm>
            <a:off x="8522208" y="5515446"/>
            <a:ext cx="65780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33.6%</a:t>
            </a:r>
            <a:endParaRPr lang="en-US" sz="1300" dirty="0"/>
          </a:p>
        </p:txBody>
      </p:sp>
      <p:sp>
        <p:nvSpPr>
          <p:cNvPr id="109" name="Shape 107"/>
          <p:cNvSpPr/>
          <p:nvPr/>
        </p:nvSpPr>
        <p:spPr>
          <a:xfrm>
            <a:off x="4157171" y="1389888"/>
            <a:ext cx="14630" cy="4315968"/>
          </a:xfrm>
          <a:prstGeom prst="rect">
            <a:avLst/>
          </a:prstGeom>
          <a:solidFill>
            <a:srgbClr val="0B2C4A"/>
          </a:solidFill>
          <a:ln/>
        </p:spPr>
      </p:sp>
      <p:sp>
        <p:nvSpPr>
          <p:cNvPr id="110" name="Shape 108"/>
          <p:cNvSpPr/>
          <p:nvPr/>
        </p:nvSpPr>
        <p:spPr>
          <a:xfrm>
            <a:off x="9707579"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19 of 33 stores at or above the 40.7% group, led by LEXUS at 49.0%. AUDI HENDERSON is lowest at 33.6%.</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6846"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 name="Shape 16"/>
          <p:cNvSpPr/>
          <p:nvPr/>
        </p:nvSpPr>
        <p:spPr>
          <a:xfrm>
            <a:off x="3813048" y="2369673"/>
            <a:ext cx="51213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4545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44208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7" name="Shape 25"/>
          <p:cNvSpPr/>
          <p:nvPr/>
        </p:nvSpPr>
        <p:spPr>
          <a:xfrm>
            <a:off x="3813048" y="3060314"/>
            <a:ext cx="41925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3813048" y="3290528"/>
            <a:ext cx="3936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3" name="Shape 31"/>
          <p:cNvSpPr/>
          <p:nvPr/>
        </p:nvSpPr>
        <p:spPr>
          <a:xfrm>
            <a:off x="3813048" y="3520741"/>
            <a:ext cx="37442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315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30463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2" name="Shape 40"/>
          <p:cNvSpPr/>
          <p:nvPr/>
        </p:nvSpPr>
        <p:spPr>
          <a:xfrm>
            <a:off x="3813048" y="4211382"/>
            <a:ext cx="25684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5" name="Shape 43"/>
          <p:cNvSpPr/>
          <p:nvPr/>
        </p:nvSpPr>
        <p:spPr>
          <a:xfrm>
            <a:off x="3813048" y="4441596"/>
            <a:ext cx="2411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23452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175135"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166551"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7" name="Shape 55"/>
          <p:cNvSpPr/>
          <p:nvPr/>
        </p:nvSpPr>
        <p:spPr>
          <a:xfrm>
            <a:off x="3813048" y="5362450"/>
            <a:ext cx="13976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0" name="Shape 58"/>
          <p:cNvSpPr/>
          <p:nvPr/>
        </p:nvSpPr>
        <p:spPr>
          <a:xfrm>
            <a:off x="3813048" y="5592664"/>
            <a:ext cx="12970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128467"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11236"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9" name="Shape 67"/>
          <p:cNvSpPr/>
          <p:nvPr/>
        </p:nvSpPr>
        <p:spPr>
          <a:xfrm>
            <a:off x="9363456" y="2369673"/>
            <a:ext cx="10305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9176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+0.7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5" name="Shape 73"/>
          <p:cNvSpPr/>
          <p:nvPr/>
        </p:nvSpPr>
        <p:spPr>
          <a:xfrm>
            <a:off x="9363456" y="2830100"/>
            <a:ext cx="7988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9363456" y="3060314"/>
            <a:ext cx="6820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1" name="Shape 79"/>
          <p:cNvSpPr/>
          <p:nvPr/>
        </p:nvSpPr>
        <p:spPr>
          <a:xfrm>
            <a:off x="9363456" y="3290528"/>
            <a:ext cx="66847"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4" name="Shape 82"/>
          <p:cNvSpPr/>
          <p:nvPr/>
        </p:nvSpPr>
        <p:spPr>
          <a:xfrm>
            <a:off x="9363456" y="3520741"/>
            <a:ext cx="34518"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9363456" y="3750955"/>
            <a:ext cx="30328"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63456" y="3981169"/>
            <a:ext cx="28787"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3" name="Shape 91"/>
          <p:cNvSpPr/>
          <p:nvPr/>
        </p:nvSpPr>
        <p:spPr>
          <a:xfrm>
            <a:off x="9363456" y="4211382"/>
            <a:ext cx="12802" cy="105898"/>
          </a:xfrm>
          <a:prstGeom prst="rect">
            <a:avLst/>
          </a:prstGeom>
          <a:solidFill>
            <a:srgbClr val="12A566"/>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6" name="Shape 94"/>
          <p:cNvSpPr/>
          <p:nvPr/>
        </p:nvSpPr>
        <p:spPr>
          <a:xfrm>
            <a:off x="9354625" y="4441596"/>
            <a:ext cx="1280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9" name="Shape 97"/>
          <p:cNvSpPr/>
          <p:nvPr/>
        </p:nvSpPr>
        <p:spPr>
          <a:xfrm>
            <a:off x="9300126" y="4671809"/>
            <a:ext cx="6333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2" name="Shape 100"/>
          <p:cNvSpPr/>
          <p:nvPr/>
        </p:nvSpPr>
        <p:spPr>
          <a:xfrm>
            <a:off x="9295729" y="4902023"/>
            <a:ext cx="677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5" name="Shape 103"/>
          <p:cNvSpPr/>
          <p:nvPr/>
        </p:nvSpPr>
        <p:spPr>
          <a:xfrm>
            <a:off x="9244132" y="5132237"/>
            <a:ext cx="11932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8" name="Shape 106"/>
          <p:cNvSpPr/>
          <p:nvPr/>
        </p:nvSpPr>
        <p:spPr>
          <a:xfrm>
            <a:off x="9076995" y="5362450"/>
            <a:ext cx="28646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 of 33 stores improved parts margin, led by ACURA at +6.1 pts to 44.9%. 5 declined; AUDI HENDERSON fell most at −2.1 pts.</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Labor Mix</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Pay type   ·   Work type   ·   Op code descriptions</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91440"/>
          </a:xfrm>
          <a:prstGeom prst="rect">
            <a:avLst/>
          </a:prstGeom>
          <a:solidFill>
            <a:srgbClr val="2587C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D9D9D9"/>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Sale by Pay Type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Customer pay %</a:t>
            </a:r>
            <a:endParaRPr lang="en-US" sz="1400" dirty="0"/>
          </a:p>
        </p:txBody>
      </p:sp>
      <p:sp>
        <p:nvSpPr>
          <p:cNvPr id="8" name="Shape 6"/>
          <p:cNvSpPr/>
          <p:nvPr/>
        </p:nvSpPr>
        <p:spPr>
          <a:xfrm>
            <a:off x="2624328" y="1371600"/>
            <a:ext cx="201168" cy="201168"/>
          </a:xfrm>
          <a:prstGeom prst="rect">
            <a:avLst/>
          </a:prstGeom>
          <a:solidFill>
            <a:srgbClr val="8FBEE6"/>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Warranty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Internal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1948645"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194864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52</a:t>
            </a:r>
            <a:endParaRPr lang="en-US" sz="1400" dirty="0"/>
          </a:p>
        </p:txBody>
      </p:sp>
      <p:sp>
        <p:nvSpPr>
          <p:cNvPr id="16" name="Shape 14"/>
          <p:cNvSpPr/>
          <p:nvPr/>
        </p:nvSpPr>
        <p:spPr>
          <a:xfrm>
            <a:off x="9675325" y="1344168"/>
            <a:ext cx="882937" cy="292608"/>
          </a:xfrm>
          <a:prstGeom prst="rect">
            <a:avLst/>
          </a:prstGeom>
          <a:solidFill>
            <a:srgbClr val="8FBEE6"/>
          </a:solidFill>
          <a:ln w="6350">
            <a:solidFill>
              <a:srgbClr val="FFFFFF"/>
            </a:solidFill>
            <a:prstDash val="solid"/>
          </a:ln>
        </p:spPr>
      </p:sp>
      <p:sp>
        <p:nvSpPr>
          <p:cNvPr id="17" name="Text 15"/>
          <p:cNvSpPr txBox="1"/>
          <p:nvPr/>
        </p:nvSpPr>
        <p:spPr>
          <a:xfrm>
            <a:off x="9675325" y="1344168"/>
            <a:ext cx="882937"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18" name="Shape 16"/>
          <p:cNvSpPr/>
          <p:nvPr/>
        </p:nvSpPr>
        <p:spPr>
          <a:xfrm>
            <a:off x="10558262" y="1344168"/>
            <a:ext cx="880882" cy="292608"/>
          </a:xfrm>
          <a:prstGeom prst="rect">
            <a:avLst/>
          </a:prstGeom>
          <a:solidFill>
            <a:srgbClr val="D9D9D9"/>
          </a:solidFill>
          <a:ln w="6350">
            <a:solidFill>
              <a:srgbClr val="FFFFFF"/>
            </a:solidFill>
            <a:prstDash val="solid"/>
          </a:ln>
        </p:spPr>
      </p:sp>
      <p:sp>
        <p:nvSpPr>
          <p:cNvPr id="19" name="Text 17"/>
          <p:cNvSpPr txBox="1"/>
          <p:nvPr/>
        </p:nvSpPr>
        <p:spPr>
          <a:xfrm>
            <a:off x="10558262" y="1344168"/>
            <a:ext cx="880882"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24</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2807208" y="1856426"/>
            <a:ext cx="2219218" cy="174962"/>
          </a:xfrm>
          <a:prstGeom prst="rect">
            <a:avLst/>
          </a:prstGeom>
          <a:solidFill>
            <a:srgbClr val="2587C5"/>
          </a:solidFill>
          <a:ln w="6350">
            <a:solidFill>
              <a:srgbClr val="FFFFFF"/>
            </a:solidFill>
            <a:prstDash val="solid"/>
          </a:ln>
        </p:spPr>
      </p:sp>
      <p:sp>
        <p:nvSpPr>
          <p:cNvPr id="22" name="Text 20"/>
          <p:cNvSpPr txBox="1"/>
          <p:nvPr/>
        </p:nvSpPr>
        <p:spPr>
          <a:xfrm>
            <a:off x="2807208" y="1856426"/>
            <a:ext cx="221921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70</a:t>
            </a:r>
            <a:endParaRPr lang="en-US" sz="1300" dirty="0"/>
          </a:p>
        </p:txBody>
      </p:sp>
      <p:sp>
        <p:nvSpPr>
          <p:cNvPr id="23" name="Shape 21"/>
          <p:cNvSpPr/>
          <p:nvPr/>
        </p:nvSpPr>
        <p:spPr>
          <a:xfrm>
            <a:off x="5026426" y="1856426"/>
            <a:ext cx="252542" cy="174962"/>
          </a:xfrm>
          <a:prstGeom prst="rect">
            <a:avLst/>
          </a:prstGeom>
          <a:solidFill>
            <a:srgbClr val="8FBEE6"/>
          </a:solidFill>
          <a:ln w="6350">
            <a:solidFill>
              <a:srgbClr val="FFFFFF"/>
            </a:solidFill>
            <a:prstDash val="solid"/>
          </a:ln>
        </p:spPr>
      </p:sp>
      <p:sp>
        <p:nvSpPr>
          <p:cNvPr id="24" name="Text 22"/>
          <p:cNvSpPr txBox="1"/>
          <p:nvPr/>
        </p:nvSpPr>
        <p:spPr>
          <a:xfrm>
            <a:off x="5026426" y="1856426"/>
            <a:ext cx="2525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25" name="Shape 23"/>
          <p:cNvSpPr/>
          <p:nvPr/>
        </p:nvSpPr>
        <p:spPr>
          <a:xfrm>
            <a:off x="5278968" y="1856426"/>
            <a:ext cx="682920" cy="174962"/>
          </a:xfrm>
          <a:prstGeom prst="rect">
            <a:avLst/>
          </a:prstGeom>
          <a:solidFill>
            <a:srgbClr val="D9D9D9"/>
          </a:solidFill>
          <a:ln w="6350">
            <a:solidFill>
              <a:srgbClr val="FFFFFF"/>
            </a:solidFill>
            <a:prstDash val="solid"/>
          </a:ln>
        </p:spPr>
      </p:sp>
      <p:sp>
        <p:nvSpPr>
          <p:cNvPr id="26" name="Text 24"/>
          <p:cNvSpPr txBox="1"/>
          <p:nvPr/>
        </p:nvSpPr>
        <p:spPr>
          <a:xfrm>
            <a:off x="5278968" y="1856426"/>
            <a:ext cx="68292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7" name="Text 25"/>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8" name="Shape 26"/>
          <p:cNvSpPr/>
          <p:nvPr/>
        </p:nvSpPr>
        <p:spPr>
          <a:xfrm>
            <a:off x="2807208" y="2086639"/>
            <a:ext cx="2060840" cy="174962"/>
          </a:xfrm>
          <a:prstGeom prst="rect">
            <a:avLst/>
          </a:prstGeom>
          <a:solidFill>
            <a:srgbClr val="2587C5"/>
          </a:solidFill>
          <a:ln w="6350">
            <a:solidFill>
              <a:srgbClr val="FFFFFF"/>
            </a:solidFill>
            <a:prstDash val="solid"/>
          </a:ln>
        </p:spPr>
      </p:sp>
      <p:sp>
        <p:nvSpPr>
          <p:cNvPr id="29" name="Text 27"/>
          <p:cNvSpPr txBox="1"/>
          <p:nvPr/>
        </p:nvSpPr>
        <p:spPr>
          <a:xfrm>
            <a:off x="2807208" y="2086639"/>
            <a:ext cx="206084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0" name="Shape 28"/>
          <p:cNvSpPr/>
          <p:nvPr/>
        </p:nvSpPr>
        <p:spPr>
          <a:xfrm>
            <a:off x="4868048" y="2086639"/>
            <a:ext cx="489573" cy="174962"/>
          </a:xfrm>
          <a:prstGeom prst="rect">
            <a:avLst/>
          </a:prstGeom>
          <a:solidFill>
            <a:srgbClr val="8FBEE6"/>
          </a:solidFill>
          <a:ln w="6350">
            <a:solidFill>
              <a:srgbClr val="FFFFFF"/>
            </a:solidFill>
            <a:prstDash val="solid"/>
          </a:ln>
        </p:spPr>
      </p:sp>
      <p:sp>
        <p:nvSpPr>
          <p:cNvPr id="31" name="Text 29"/>
          <p:cNvSpPr txBox="1"/>
          <p:nvPr/>
        </p:nvSpPr>
        <p:spPr>
          <a:xfrm>
            <a:off x="4868048" y="2086639"/>
            <a:ext cx="4895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16</a:t>
            </a:r>
            <a:endParaRPr lang="en-US" sz="1300" dirty="0"/>
          </a:p>
        </p:txBody>
      </p:sp>
      <p:sp>
        <p:nvSpPr>
          <p:cNvPr id="32" name="Shape 30"/>
          <p:cNvSpPr/>
          <p:nvPr/>
        </p:nvSpPr>
        <p:spPr>
          <a:xfrm>
            <a:off x="5357621" y="2086639"/>
            <a:ext cx="604267" cy="174962"/>
          </a:xfrm>
          <a:prstGeom prst="rect">
            <a:avLst/>
          </a:prstGeom>
          <a:solidFill>
            <a:srgbClr val="D9D9D9"/>
          </a:solidFill>
          <a:ln w="6350">
            <a:solidFill>
              <a:srgbClr val="FFFFFF"/>
            </a:solidFill>
            <a:prstDash val="solid"/>
          </a:ln>
        </p:spPr>
      </p:sp>
      <p:sp>
        <p:nvSpPr>
          <p:cNvPr id="33" name="Text 31"/>
          <p:cNvSpPr txBox="1"/>
          <p:nvPr/>
        </p:nvSpPr>
        <p:spPr>
          <a:xfrm>
            <a:off x="5357621" y="2086639"/>
            <a:ext cx="60426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34" name="Text 32"/>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5" name="Shape 33"/>
          <p:cNvSpPr/>
          <p:nvPr/>
        </p:nvSpPr>
        <p:spPr>
          <a:xfrm>
            <a:off x="2807208" y="2316853"/>
            <a:ext cx="2054762" cy="174962"/>
          </a:xfrm>
          <a:prstGeom prst="rect">
            <a:avLst/>
          </a:prstGeom>
          <a:solidFill>
            <a:srgbClr val="2587C5"/>
          </a:solidFill>
          <a:ln w="6350">
            <a:solidFill>
              <a:srgbClr val="FFFFFF"/>
            </a:solidFill>
            <a:prstDash val="solid"/>
          </a:ln>
        </p:spPr>
      </p:sp>
      <p:sp>
        <p:nvSpPr>
          <p:cNvPr id="36" name="Text 34"/>
          <p:cNvSpPr txBox="1"/>
          <p:nvPr/>
        </p:nvSpPr>
        <p:spPr>
          <a:xfrm>
            <a:off x="2807208" y="2316853"/>
            <a:ext cx="205476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37" name="Shape 35"/>
          <p:cNvSpPr/>
          <p:nvPr/>
        </p:nvSpPr>
        <p:spPr>
          <a:xfrm>
            <a:off x="4861970" y="2316853"/>
            <a:ext cx="352121" cy="174962"/>
          </a:xfrm>
          <a:prstGeom prst="rect">
            <a:avLst/>
          </a:prstGeom>
          <a:solidFill>
            <a:srgbClr val="8FBEE6"/>
          </a:solidFill>
          <a:ln w="6350">
            <a:solidFill>
              <a:srgbClr val="FFFFFF"/>
            </a:solidFill>
            <a:prstDash val="solid"/>
          </a:ln>
        </p:spPr>
      </p:sp>
      <p:sp>
        <p:nvSpPr>
          <p:cNvPr id="38" name="Text 36"/>
          <p:cNvSpPr txBox="1"/>
          <p:nvPr/>
        </p:nvSpPr>
        <p:spPr>
          <a:xfrm>
            <a:off x="4861970" y="2316853"/>
            <a:ext cx="35212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39" name="Shape 37"/>
          <p:cNvSpPr/>
          <p:nvPr/>
        </p:nvSpPr>
        <p:spPr>
          <a:xfrm>
            <a:off x="5214091" y="2316853"/>
            <a:ext cx="747797" cy="174962"/>
          </a:xfrm>
          <a:prstGeom prst="rect">
            <a:avLst/>
          </a:prstGeom>
          <a:solidFill>
            <a:srgbClr val="D9D9D9"/>
          </a:solidFill>
          <a:ln w="6350">
            <a:solidFill>
              <a:srgbClr val="FFFFFF"/>
            </a:solidFill>
            <a:prstDash val="solid"/>
          </a:ln>
        </p:spPr>
      </p:sp>
      <p:sp>
        <p:nvSpPr>
          <p:cNvPr id="40" name="Text 38"/>
          <p:cNvSpPr txBox="1"/>
          <p:nvPr/>
        </p:nvSpPr>
        <p:spPr>
          <a:xfrm>
            <a:off x="5214091" y="2316853"/>
            <a:ext cx="74779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41" name="Text 39"/>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2807208" y="2547067"/>
            <a:ext cx="2053161" cy="174962"/>
          </a:xfrm>
          <a:prstGeom prst="rect">
            <a:avLst/>
          </a:prstGeom>
          <a:solidFill>
            <a:srgbClr val="2587C5"/>
          </a:solidFill>
          <a:ln w="6350">
            <a:solidFill>
              <a:srgbClr val="FFFFFF"/>
            </a:solidFill>
            <a:prstDash val="solid"/>
          </a:ln>
        </p:spPr>
      </p:sp>
      <p:sp>
        <p:nvSpPr>
          <p:cNvPr id="43" name="Text 41"/>
          <p:cNvSpPr txBox="1"/>
          <p:nvPr/>
        </p:nvSpPr>
        <p:spPr>
          <a:xfrm>
            <a:off x="2807208" y="2547067"/>
            <a:ext cx="205316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44" name="Shape 42"/>
          <p:cNvSpPr/>
          <p:nvPr/>
        </p:nvSpPr>
        <p:spPr>
          <a:xfrm>
            <a:off x="4860369" y="2547067"/>
            <a:ext cx="375876" cy="174962"/>
          </a:xfrm>
          <a:prstGeom prst="rect">
            <a:avLst/>
          </a:prstGeom>
          <a:solidFill>
            <a:srgbClr val="8FBEE6"/>
          </a:solidFill>
          <a:ln w="6350">
            <a:solidFill>
              <a:srgbClr val="FFFFFF"/>
            </a:solidFill>
            <a:prstDash val="solid"/>
          </a:ln>
        </p:spPr>
      </p:sp>
      <p:sp>
        <p:nvSpPr>
          <p:cNvPr id="45" name="Text 43"/>
          <p:cNvSpPr txBox="1"/>
          <p:nvPr/>
        </p:nvSpPr>
        <p:spPr>
          <a:xfrm>
            <a:off x="4860369" y="2547067"/>
            <a:ext cx="3758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46" name="Shape 44"/>
          <p:cNvSpPr/>
          <p:nvPr/>
        </p:nvSpPr>
        <p:spPr>
          <a:xfrm>
            <a:off x="5236245" y="2547067"/>
            <a:ext cx="725643" cy="174962"/>
          </a:xfrm>
          <a:prstGeom prst="rect">
            <a:avLst/>
          </a:prstGeom>
          <a:solidFill>
            <a:srgbClr val="D9D9D9"/>
          </a:solidFill>
          <a:ln w="6350">
            <a:solidFill>
              <a:srgbClr val="FFFFFF"/>
            </a:solidFill>
            <a:prstDash val="solid"/>
          </a:ln>
        </p:spPr>
      </p:sp>
      <p:sp>
        <p:nvSpPr>
          <p:cNvPr id="47" name="Text 45"/>
          <p:cNvSpPr txBox="1"/>
          <p:nvPr/>
        </p:nvSpPr>
        <p:spPr>
          <a:xfrm>
            <a:off x="5236245" y="2547067"/>
            <a:ext cx="72564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48" name="Text 46"/>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9" name="Shape 47"/>
          <p:cNvSpPr/>
          <p:nvPr/>
        </p:nvSpPr>
        <p:spPr>
          <a:xfrm>
            <a:off x="2807208" y="2777280"/>
            <a:ext cx="2046848" cy="174962"/>
          </a:xfrm>
          <a:prstGeom prst="rect">
            <a:avLst/>
          </a:prstGeom>
          <a:solidFill>
            <a:srgbClr val="2587C5"/>
          </a:solidFill>
          <a:ln w="6350">
            <a:solidFill>
              <a:srgbClr val="FFFFFF"/>
            </a:solidFill>
            <a:prstDash val="solid"/>
          </a:ln>
        </p:spPr>
      </p:sp>
      <p:sp>
        <p:nvSpPr>
          <p:cNvPr id="50" name="Text 48"/>
          <p:cNvSpPr txBox="1"/>
          <p:nvPr/>
        </p:nvSpPr>
        <p:spPr>
          <a:xfrm>
            <a:off x="2807208" y="2777280"/>
            <a:ext cx="20468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65</a:t>
            </a:r>
            <a:endParaRPr lang="en-US" sz="1300" dirty="0"/>
          </a:p>
        </p:txBody>
      </p:sp>
      <p:sp>
        <p:nvSpPr>
          <p:cNvPr id="51" name="Shape 49"/>
          <p:cNvSpPr/>
          <p:nvPr/>
        </p:nvSpPr>
        <p:spPr>
          <a:xfrm>
            <a:off x="4854056" y="2777280"/>
            <a:ext cx="793865" cy="174962"/>
          </a:xfrm>
          <a:prstGeom prst="rect">
            <a:avLst/>
          </a:prstGeom>
          <a:solidFill>
            <a:srgbClr val="8FBEE6"/>
          </a:solidFill>
          <a:ln w="6350">
            <a:solidFill>
              <a:srgbClr val="FFFFFF"/>
            </a:solidFill>
            <a:prstDash val="solid"/>
          </a:ln>
        </p:spPr>
      </p:sp>
      <p:sp>
        <p:nvSpPr>
          <p:cNvPr id="52" name="Text 50"/>
          <p:cNvSpPr txBox="1"/>
          <p:nvPr/>
        </p:nvSpPr>
        <p:spPr>
          <a:xfrm>
            <a:off x="4854056" y="2777280"/>
            <a:ext cx="79386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53" name="Shape 51"/>
          <p:cNvSpPr/>
          <p:nvPr/>
        </p:nvSpPr>
        <p:spPr>
          <a:xfrm>
            <a:off x="5647921" y="2777280"/>
            <a:ext cx="313967" cy="174962"/>
          </a:xfrm>
          <a:prstGeom prst="rect">
            <a:avLst/>
          </a:prstGeom>
          <a:solidFill>
            <a:srgbClr val="D9D9D9"/>
          </a:solidFill>
          <a:ln w="6350">
            <a:solidFill>
              <a:srgbClr val="FFFFFF"/>
            </a:solidFill>
            <a:prstDash val="solid"/>
          </a:ln>
        </p:spPr>
      </p:sp>
      <p:sp>
        <p:nvSpPr>
          <p:cNvPr id="54" name="Text 52"/>
          <p:cNvSpPr txBox="1"/>
          <p:nvPr/>
        </p:nvSpPr>
        <p:spPr>
          <a:xfrm>
            <a:off x="5647921" y="2777280"/>
            <a:ext cx="31396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55" name="Text 53"/>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6" name="Shape 54"/>
          <p:cNvSpPr/>
          <p:nvPr/>
        </p:nvSpPr>
        <p:spPr>
          <a:xfrm>
            <a:off x="2807208" y="3007494"/>
            <a:ext cx="1985155" cy="174962"/>
          </a:xfrm>
          <a:prstGeom prst="rect">
            <a:avLst/>
          </a:prstGeom>
          <a:solidFill>
            <a:srgbClr val="2587C5"/>
          </a:solidFill>
          <a:ln w="6350">
            <a:solidFill>
              <a:srgbClr val="FFFFFF"/>
            </a:solidFill>
            <a:prstDash val="solid"/>
          </a:ln>
        </p:spPr>
      </p:sp>
      <p:sp>
        <p:nvSpPr>
          <p:cNvPr id="57" name="Text 55"/>
          <p:cNvSpPr txBox="1"/>
          <p:nvPr/>
        </p:nvSpPr>
        <p:spPr>
          <a:xfrm>
            <a:off x="2807208" y="3007494"/>
            <a:ext cx="19851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63</a:t>
            </a:r>
            <a:endParaRPr lang="en-US" sz="1300" dirty="0"/>
          </a:p>
        </p:txBody>
      </p:sp>
      <p:sp>
        <p:nvSpPr>
          <p:cNvPr id="58" name="Shape 56"/>
          <p:cNvSpPr/>
          <p:nvPr/>
        </p:nvSpPr>
        <p:spPr>
          <a:xfrm>
            <a:off x="4792363" y="3007494"/>
            <a:ext cx="729180" cy="174962"/>
          </a:xfrm>
          <a:prstGeom prst="rect">
            <a:avLst/>
          </a:prstGeom>
          <a:solidFill>
            <a:srgbClr val="8FBEE6"/>
          </a:solidFill>
          <a:ln w="6350">
            <a:solidFill>
              <a:srgbClr val="FFFFFF"/>
            </a:solidFill>
            <a:prstDash val="solid"/>
          </a:ln>
        </p:spPr>
      </p:sp>
      <p:sp>
        <p:nvSpPr>
          <p:cNvPr id="59" name="Text 57"/>
          <p:cNvSpPr txBox="1"/>
          <p:nvPr/>
        </p:nvSpPr>
        <p:spPr>
          <a:xfrm>
            <a:off x="4792363" y="3007494"/>
            <a:ext cx="7291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60" name="Shape 58"/>
          <p:cNvSpPr/>
          <p:nvPr/>
        </p:nvSpPr>
        <p:spPr>
          <a:xfrm>
            <a:off x="5521542" y="3007494"/>
            <a:ext cx="440346" cy="174962"/>
          </a:xfrm>
          <a:prstGeom prst="rect">
            <a:avLst/>
          </a:prstGeom>
          <a:solidFill>
            <a:srgbClr val="D9D9D9"/>
          </a:solidFill>
          <a:ln w="6350">
            <a:solidFill>
              <a:srgbClr val="FFFFFF"/>
            </a:solidFill>
            <a:prstDash val="solid"/>
          </a:ln>
        </p:spPr>
      </p:sp>
      <p:sp>
        <p:nvSpPr>
          <p:cNvPr id="61" name="Text 59"/>
          <p:cNvSpPr txBox="1"/>
          <p:nvPr/>
        </p:nvSpPr>
        <p:spPr>
          <a:xfrm>
            <a:off x="5521542" y="3007494"/>
            <a:ext cx="44034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62" name="Text 60"/>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3" name="Shape 61"/>
          <p:cNvSpPr/>
          <p:nvPr/>
        </p:nvSpPr>
        <p:spPr>
          <a:xfrm>
            <a:off x="2807208" y="3237708"/>
            <a:ext cx="1940199" cy="174962"/>
          </a:xfrm>
          <a:prstGeom prst="rect">
            <a:avLst/>
          </a:prstGeom>
          <a:solidFill>
            <a:srgbClr val="2587C5"/>
          </a:solidFill>
          <a:ln w="6350">
            <a:solidFill>
              <a:srgbClr val="FFFFFF"/>
            </a:solidFill>
            <a:prstDash val="solid"/>
          </a:ln>
        </p:spPr>
      </p:sp>
      <p:sp>
        <p:nvSpPr>
          <p:cNvPr id="64" name="Text 62"/>
          <p:cNvSpPr txBox="1"/>
          <p:nvPr/>
        </p:nvSpPr>
        <p:spPr>
          <a:xfrm>
            <a:off x="2807208" y="3237708"/>
            <a:ext cx="194019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65" name="Shape 63"/>
          <p:cNvSpPr/>
          <p:nvPr/>
        </p:nvSpPr>
        <p:spPr>
          <a:xfrm>
            <a:off x="4747407" y="3237708"/>
            <a:ext cx="542990" cy="174962"/>
          </a:xfrm>
          <a:prstGeom prst="rect">
            <a:avLst/>
          </a:prstGeom>
          <a:solidFill>
            <a:srgbClr val="8FBEE6"/>
          </a:solidFill>
          <a:ln w="6350">
            <a:solidFill>
              <a:srgbClr val="FFFFFF"/>
            </a:solidFill>
            <a:prstDash val="solid"/>
          </a:ln>
        </p:spPr>
      </p:sp>
      <p:sp>
        <p:nvSpPr>
          <p:cNvPr id="66" name="Text 64"/>
          <p:cNvSpPr txBox="1"/>
          <p:nvPr/>
        </p:nvSpPr>
        <p:spPr>
          <a:xfrm>
            <a:off x="4747407" y="3237708"/>
            <a:ext cx="54299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67" name="Shape 65"/>
          <p:cNvSpPr/>
          <p:nvPr/>
        </p:nvSpPr>
        <p:spPr>
          <a:xfrm>
            <a:off x="5290397" y="3237708"/>
            <a:ext cx="671491" cy="174962"/>
          </a:xfrm>
          <a:prstGeom prst="rect">
            <a:avLst/>
          </a:prstGeom>
          <a:solidFill>
            <a:srgbClr val="D9D9D9"/>
          </a:solidFill>
          <a:ln w="6350">
            <a:solidFill>
              <a:srgbClr val="FFFFFF"/>
            </a:solidFill>
            <a:prstDash val="solid"/>
          </a:ln>
        </p:spPr>
      </p:sp>
      <p:sp>
        <p:nvSpPr>
          <p:cNvPr id="68" name="Text 66"/>
          <p:cNvSpPr txBox="1"/>
          <p:nvPr/>
        </p:nvSpPr>
        <p:spPr>
          <a:xfrm>
            <a:off x="5290397" y="3237708"/>
            <a:ext cx="67149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69" name="Text 67"/>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0" name="Shape 68"/>
          <p:cNvSpPr/>
          <p:nvPr/>
        </p:nvSpPr>
        <p:spPr>
          <a:xfrm>
            <a:off x="2807208" y="3467921"/>
            <a:ext cx="1907392" cy="174962"/>
          </a:xfrm>
          <a:prstGeom prst="rect">
            <a:avLst/>
          </a:prstGeom>
          <a:solidFill>
            <a:srgbClr val="2587C5"/>
          </a:solidFill>
          <a:ln w="6350">
            <a:solidFill>
              <a:srgbClr val="FFFFFF"/>
            </a:solidFill>
            <a:prstDash val="solid"/>
          </a:ln>
        </p:spPr>
      </p:sp>
      <p:sp>
        <p:nvSpPr>
          <p:cNvPr id="71" name="Text 69"/>
          <p:cNvSpPr txBox="1"/>
          <p:nvPr/>
        </p:nvSpPr>
        <p:spPr>
          <a:xfrm>
            <a:off x="2807208" y="3467921"/>
            <a:ext cx="190739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2" name="Shape 70"/>
          <p:cNvSpPr/>
          <p:nvPr/>
        </p:nvSpPr>
        <p:spPr>
          <a:xfrm>
            <a:off x="4714600" y="3467921"/>
            <a:ext cx="434501" cy="174962"/>
          </a:xfrm>
          <a:prstGeom prst="rect">
            <a:avLst/>
          </a:prstGeom>
          <a:solidFill>
            <a:srgbClr val="8FBEE6"/>
          </a:solidFill>
          <a:ln w="6350">
            <a:solidFill>
              <a:srgbClr val="FFFFFF"/>
            </a:solidFill>
            <a:prstDash val="solid"/>
          </a:ln>
        </p:spPr>
      </p:sp>
      <p:sp>
        <p:nvSpPr>
          <p:cNvPr id="73" name="Text 71"/>
          <p:cNvSpPr txBox="1"/>
          <p:nvPr/>
        </p:nvSpPr>
        <p:spPr>
          <a:xfrm>
            <a:off x="4714600" y="3467921"/>
            <a:ext cx="43450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74" name="Shape 72"/>
          <p:cNvSpPr/>
          <p:nvPr/>
        </p:nvSpPr>
        <p:spPr>
          <a:xfrm>
            <a:off x="5149102" y="3467921"/>
            <a:ext cx="812786" cy="174962"/>
          </a:xfrm>
          <a:prstGeom prst="rect">
            <a:avLst/>
          </a:prstGeom>
          <a:solidFill>
            <a:srgbClr val="D9D9D9"/>
          </a:solidFill>
          <a:ln w="6350">
            <a:solidFill>
              <a:srgbClr val="FFFFFF"/>
            </a:solidFill>
            <a:prstDash val="solid"/>
          </a:ln>
        </p:spPr>
      </p:sp>
      <p:sp>
        <p:nvSpPr>
          <p:cNvPr id="75" name="Text 73"/>
          <p:cNvSpPr txBox="1"/>
          <p:nvPr/>
        </p:nvSpPr>
        <p:spPr>
          <a:xfrm>
            <a:off x="5149102" y="3467921"/>
            <a:ext cx="81278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26</a:t>
            </a:r>
            <a:endParaRPr lang="en-US" sz="1300" dirty="0"/>
          </a:p>
        </p:txBody>
      </p:sp>
      <p:sp>
        <p:nvSpPr>
          <p:cNvPr id="76" name="Text 74"/>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7" name="Shape 75"/>
          <p:cNvSpPr/>
          <p:nvPr/>
        </p:nvSpPr>
        <p:spPr>
          <a:xfrm>
            <a:off x="2807208" y="3698135"/>
            <a:ext cx="1883011" cy="174962"/>
          </a:xfrm>
          <a:prstGeom prst="rect">
            <a:avLst/>
          </a:prstGeom>
          <a:solidFill>
            <a:srgbClr val="2587C5"/>
          </a:solidFill>
          <a:ln w="6350">
            <a:solidFill>
              <a:srgbClr val="FFFFFF"/>
            </a:solidFill>
            <a:prstDash val="solid"/>
          </a:ln>
        </p:spPr>
      </p:sp>
      <p:sp>
        <p:nvSpPr>
          <p:cNvPr id="78" name="Text 76"/>
          <p:cNvSpPr txBox="1"/>
          <p:nvPr/>
        </p:nvSpPr>
        <p:spPr>
          <a:xfrm>
            <a:off x="2807208" y="3698135"/>
            <a:ext cx="188301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79" name="Shape 77"/>
          <p:cNvSpPr/>
          <p:nvPr/>
        </p:nvSpPr>
        <p:spPr>
          <a:xfrm>
            <a:off x="4690219" y="3698135"/>
            <a:ext cx="918142" cy="174962"/>
          </a:xfrm>
          <a:prstGeom prst="rect">
            <a:avLst/>
          </a:prstGeom>
          <a:solidFill>
            <a:srgbClr val="8FBEE6"/>
          </a:solidFill>
          <a:ln w="6350">
            <a:solidFill>
              <a:srgbClr val="FFFFFF"/>
            </a:solidFill>
            <a:prstDash val="solid"/>
          </a:ln>
        </p:spPr>
      </p:sp>
      <p:sp>
        <p:nvSpPr>
          <p:cNvPr id="80" name="Text 78"/>
          <p:cNvSpPr txBox="1"/>
          <p:nvPr/>
        </p:nvSpPr>
        <p:spPr>
          <a:xfrm>
            <a:off x="4690219" y="3698135"/>
            <a:ext cx="9181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81" name="Shape 79"/>
          <p:cNvSpPr/>
          <p:nvPr/>
        </p:nvSpPr>
        <p:spPr>
          <a:xfrm>
            <a:off x="5608361" y="3698135"/>
            <a:ext cx="353527" cy="174962"/>
          </a:xfrm>
          <a:prstGeom prst="rect">
            <a:avLst/>
          </a:prstGeom>
          <a:solidFill>
            <a:srgbClr val="D9D9D9"/>
          </a:solidFill>
          <a:ln w="6350">
            <a:solidFill>
              <a:srgbClr val="FFFFFF"/>
            </a:solidFill>
            <a:prstDash val="solid"/>
          </a:ln>
        </p:spPr>
      </p:sp>
      <p:sp>
        <p:nvSpPr>
          <p:cNvPr id="82" name="Text 80"/>
          <p:cNvSpPr txBox="1"/>
          <p:nvPr/>
        </p:nvSpPr>
        <p:spPr>
          <a:xfrm>
            <a:off x="5608361" y="3698135"/>
            <a:ext cx="35352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83" name="Text 81"/>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4" name="Shape 82"/>
          <p:cNvSpPr/>
          <p:nvPr/>
        </p:nvSpPr>
        <p:spPr>
          <a:xfrm>
            <a:off x="2807208" y="3928348"/>
            <a:ext cx="1876032" cy="174962"/>
          </a:xfrm>
          <a:prstGeom prst="rect">
            <a:avLst/>
          </a:prstGeom>
          <a:solidFill>
            <a:srgbClr val="2587C5"/>
          </a:solidFill>
          <a:ln w="6350">
            <a:solidFill>
              <a:srgbClr val="FFFFFF"/>
            </a:solidFill>
            <a:prstDash val="solid"/>
          </a:ln>
        </p:spPr>
      </p:sp>
      <p:sp>
        <p:nvSpPr>
          <p:cNvPr id="85" name="Text 83"/>
          <p:cNvSpPr txBox="1"/>
          <p:nvPr/>
        </p:nvSpPr>
        <p:spPr>
          <a:xfrm>
            <a:off x="2807208" y="3928348"/>
            <a:ext cx="187603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86" name="Shape 84"/>
          <p:cNvSpPr/>
          <p:nvPr/>
        </p:nvSpPr>
        <p:spPr>
          <a:xfrm>
            <a:off x="4683240" y="3928348"/>
            <a:ext cx="744656" cy="174962"/>
          </a:xfrm>
          <a:prstGeom prst="rect">
            <a:avLst/>
          </a:prstGeom>
          <a:solidFill>
            <a:srgbClr val="8FBEE6"/>
          </a:solidFill>
          <a:ln w="6350">
            <a:solidFill>
              <a:srgbClr val="FFFFFF"/>
            </a:solidFill>
            <a:prstDash val="solid"/>
          </a:ln>
        </p:spPr>
      </p:sp>
      <p:sp>
        <p:nvSpPr>
          <p:cNvPr id="87" name="Text 85"/>
          <p:cNvSpPr txBox="1"/>
          <p:nvPr/>
        </p:nvSpPr>
        <p:spPr>
          <a:xfrm>
            <a:off x="4683240" y="3928348"/>
            <a:ext cx="74465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88" name="Shape 86"/>
          <p:cNvSpPr/>
          <p:nvPr/>
        </p:nvSpPr>
        <p:spPr>
          <a:xfrm>
            <a:off x="5427896" y="3928348"/>
            <a:ext cx="533992" cy="174962"/>
          </a:xfrm>
          <a:prstGeom prst="rect">
            <a:avLst/>
          </a:prstGeom>
          <a:solidFill>
            <a:srgbClr val="D9D9D9"/>
          </a:solidFill>
          <a:ln w="6350">
            <a:solidFill>
              <a:srgbClr val="FFFFFF"/>
            </a:solidFill>
            <a:prstDash val="solid"/>
          </a:ln>
        </p:spPr>
      </p:sp>
      <p:sp>
        <p:nvSpPr>
          <p:cNvPr id="89" name="Text 87"/>
          <p:cNvSpPr txBox="1"/>
          <p:nvPr/>
        </p:nvSpPr>
        <p:spPr>
          <a:xfrm>
            <a:off x="5427896" y="3928348"/>
            <a:ext cx="53399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90" name="Text 88"/>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1" name="Shape 89"/>
          <p:cNvSpPr/>
          <p:nvPr/>
        </p:nvSpPr>
        <p:spPr>
          <a:xfrm>
            <a:off x="2807208" y="4158562"/>
            <a:ext cx="1874405" cy="174962"/>
          </a:xfrm>
          <a:prstGeom prst="rect">
            <a:avLst/>
          </a:prstGeom>
          <a:solidFill>
            <a:srgbClr val="2587C5"/>
          </a:solidFill>
          <a:ln w="6350">
            <a:solidFill>
              <a:srgbClr val="FFFFFF"/>
            </a:solidFill>
            <a:prstDash val="solid"/>
          </a:ln>
        </p:spPr>
      </p:sp>
      <p:sp>
        <p:nvSpPr>
          <p:cNvPr id="92" name="Text 90"/>
          <p:cNvSpPr txBox="1"/>
          <p:nvPr/>
        </p:nvSpPr>
        <p:spPr>
          <a:xfrm>
            <a:off x="2807208" y="4158562"/>
            <a:ext cx="187440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3" name="Shape 91"/>
          <p:cNvSpPr/>
          <p:nvPr/>
        </p:nvSpPr>
        <p:spPr>
          <a:xfrm>
            <a:off x="4681613" y="4158562"/>
            <a:ext cx="558160" cy="174962"/>
          </a:xfrm>
          <a:prstGeom prst="rect">
            <a:avLst/>
          </a:prstGeom>
          <a:solidFill>
            <a:srgbClr val="8FBEE6"/>
          </a:solidFill>
          <a:ln w="6350">
            <a:solidFill>
              <a:srgbClr val="FFFFFF"/>
            </a:solidFill>
            <a:prstDash val="solid"/>
          </a:ln>
        </p:spPr>
      </p:sp>
      <p:sp>
        <p:nvSpPr>
          <p:cNvPr id="94" name="Text 92"/>
          <p:cNvSpPr txBox="1"/>
          <p:nvPr/>
        </p:nvSpPr>
        <p:spPr>
          <a:xfrm>
            <a:off x="4681613" y="4158562"/>
            <a:ext cx="55816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95" name="Shape 93"/>
          <p:cNvSpPr/>
          <p:nvPr/>
        </p:nvSpPr>
        <p:spPr>
          <a:xfrm>
            <a:off x="5239773" y="4158562"/>
            <a:ext cx="722115" cy="174962"/>
          </a:xfrm>
          <a:prstGeom prst="rect">
            <a:avLst/>
          </a:prstGeom>
          <a:solidFill>
            <a:srgbClr val="D9D9D9"/>
          </a:solidFill>
          <a:ln w="6350">
            <a:solidFill>
              <a:srgbClr val="FFFFFF"/>
            </a:solidFill>
            <a:prstDash val="solid"/>
          </a:ln>
        </p:spPr>
      </p:sp>
      <p:sp>
        <p:nvSpPr>
          <p:cNvPr id="96" name="Text 94"/>
          <p:cNvSpPr txBox="1"/>
          <p:nvPr/>
        </p:nvSpPr>
        <p:spPr>
          <a:xfrm>
            <a:off x="5239773" y="4158562"/>
            <a:ext cx="72211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97" name="Text 95"/>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8" name="Shape 96"/>
          <p:cNvSpPr/>
          <p:nvPr/>
        </p:nvSpPr>
        <p:spPr>
          <a:xfrm>
            <a:off x="2807208" y="4388776"/>
            <a:ext cx="1862814" cy="174962"/>
          </a:xfrm>
          <a:prstGeom prst="rect">
            <a:avLst/>
          </a:prstGeom>
          <a:solidFill>
            <a:srgbClr val="2587C5"/>
          </a:solidFill>
          <a:ln w="6350">
            <a:solidFill>
              <a:srgbClr val="FFFFFF"/>
            </a:solidFill>
            <a:prstDash val="solid"/>
          </a:ln>
        </p:spPr>
      </p:sp>
      <p:sp>
        <p:nvSpPr>
          <p:cNvPr id="99" name="Text 97"/>
          <p:cNvSpPr txBox="1"/>
          <p:nvPr/>
        </p:nvSpPr>
        <p:spPr>
          <a:xfrm>
            <a:off x="2807208" y="4388776"/>
            <a:ext cx="186281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0" name="Shape 98"/>
          <p:cNvSpPr/>
          <p:nvPr/>
        </p:nvSpPr>
        <p:spPr>
          <a:xfrm>
            <a:off x="4670022" y="4388776"/>
            <a:ext cx="740644" cy="174962"/>
          </a:xfrm>
          <a:prstGeom prst="rect">
            <a:avLst/>
          </a:prstGeom>
          <a:solidFill>
            <a:srgbClr val="8FBEE6"/>
          </a:solidFill>
          <a:ln w="6350">
            <a:solidFill>
              <a:srgbClr val="FFFFFF"/>
            </a:solidFill>
            <a:prstDash val="solid"/>
          </a:ln>
        </p:spPr>
      </p:sp>
      <p:sp>
        <p:nvSpPr>
          <p:cNvPr id="101" name="Text 99"/>
          <p:cNvSpPr txBox="1"/>
          <p:nvPr/>
        </p:nvSpPr>
        <p:spPr>
          <a:xfrm>
            <a:off x="4670022" y="4388776"/>
            <a:ext cx="74064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02" name="Shape 100"/>
          <p:cNvSpPr/>
          <p:nvPr/>
        </p:nvSpPr>
        <p:spPr>
          <a:xfrm>
            <a:off x="5410666" y="4388776"/>
            <a:ext cx="551222" cy="174962"/>
          </a:xfrm>
          <a:prstGeom prst="rect">
            <a:avLst/>
          </a:prstGeom>
          <a:solidFill>
            <a:srgbClr val="D9D9D9"/>
          </a:solidFill>
          <a:ln w="6350">
            <a:solidFill>
              <a:srgbClr val="FFFFFF"/>
            </a:solidFill>
            <a:prstDash val="solid"/>
          </a:ln>
        </p:spPr>
      </p:sp>
      <p:sp>
        <p:nvSpPr>
          <p:cNvPr id="103" name="Text 101"/>
          <p:cNvSpPr txBox="1"/>
          <p:nvPr/>
        </p:nvSpPr>
        <p:spPr>
          <a:xfrm>
            <a:off x="5410666" y="4388776"/>
            <a:ext cx="55122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17</a:t>
            </a:r>
            <a:endParaRPr lang="en-US" sz="1300" dirty="0"/>
          </a:p>
        </p:txBody>
      </p:sp>
      <p:sp>
        <p:nvSpPr>
          <p:cNvPr id="104" name="Text 102"/>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5" name="Shape 103"/>
          <p:cNvSpPr/>
          <p:nvPr/>
        </p:nvSpPr>
        <p:spPr>
          <a:xfrm>
            <a:off x="2807208" y="4618989"/>
            <a:ext cx="1831119" cy="174962"/>
          </a:xfrm>
          <a:prstGeom prst="rect">
            <a:avLst/>
          </a:prstGeom>
          <a:solidFill>
            <a:srgbClr val="2587C5"/>
          </a:solidFill>
          <a:ln w="6350">
            <a:solidFill>
              <a:srgbClr val="FFFFFF"/>
            </a:solidFill>
            <a:prstDash val="solid"/>
          </a:ln>
        </p:spPr>
      </p:sp>
      <p:sp>
        <p:nvSpPr>
          <p:cNvPr id="106" name="Text 104"/>
          <p:cNvSpPr txBox="1"/>
          <p:nvPr/>
        </p:nvSpPr>
        <p:spPr>
          <a:xfrm>
            <a:off x="2807208" y="4618989"/>
            <a:ext cx="183111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07" name="Shape 105"/>
          <p:cNvSpPr/>
          <p:nvPr/>
        </p:nvSpPr>
        <p:spPr>
          <a:xfrm>
            <a:off x="4638327" y="4618989"/>
            <a:ext cx="764127" cy="174962"/>
          </a:xfrm>
          <a:prstGeom prst="rect">
            <a:avLst/>
          </a:prstGeom>
          <a:solidFill>
            <a:srgbClr val="8FBEE6"/>
          </a:solidFill>
          <a:ln w="6350">
            <a:solidFill>
              <a:srgbClr val="FFFFFF"/>
            </a:solidFill>
            <a:prstDash val="solid"/>
          </a:ln>
        </p:spPr>
      </p:sp>
      <p:sp>
        <p:nvSpPr>
          <p:cNvPr id="108" name="Text 106"/>
          <p:cNvSpPr txBox="1"/>
          <p:nvPr/>
        </p:nvSpPr>
        <p:spPr>
          <a:xfrm>
            <a:off x="4638327" y="4618989"/>
            <a:ext cx="76412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09" name="Shape 107"/>
          <p:cNvSpPr/>
          <p:nvPr/>
        </p:nvSpPr>
        <p:spPr>
          <a:xfrm>
            <a:off x="5402455" y="4618989"/>
            <a:ext cx="559433" cy="174962"/>
          </a:xfrm>
          <a:prstGeom prst="rect">
            <a:avLst/>
          </a:prstGeom>
          <a:solidFill>
            <a:srgbClr val="D9D9D9"/>
          </a:solidFill>
          <a:ln w="6350">
            <a:solidFill>
              <a:srgbClr val="FFFFFF"/>
            </a:solidFill>
            <a:prstDash val="solid"/>
          </a:ln>
        </p:spPr>
      </p:sp>
      <p:sp>
        <p:nvSpPr>
          <p:cNvPr id="110" name="Text 108"/>
          <p:cNvSpPr txBox="1"/>
          <p:nvPr/>
        </p:nvSpPr>
        <p:spPr>
          <a:xfrm>
            <a:off x="5402455" y="4618989"/>
            <a:ext cx="5594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11" name="Text 109"/>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12" name="Shape 110"/>
          <p:cNvSpPr/>
          <p:nvPr/>
        </p:nvSpPr>
        <p:spPr>
          <a:xfrm>
            <a:off x="2807208" y="4849203"/>
            <a:ext cx="1825486" cy="174962"/>
          </a:xfrm>
          <a:prstGeom prst="rect">
            <a:avLst/>
          </a:prstGeom>
          <a:solidFill>
            <a:srgbClr val="2587C5"/>
          </a:solidFill>
          <a:ln w="6350">
            <a:solidFill>
              <a:srgbClr val="FFFFFF"/>
            </a:solidFill>
            <a:prstDash val="solid"/>
          </a:ln>
        </p:spPr>
      </p:sp>
      <p:sp>
        <p:nvSpPr>
          <p:cNvPr id="113" name="Text 111"/>
          <p:cNvSpPr txBox="1"/>
          <p:nvPr/>
        </p:nvSpPr>
        <p:spPr>
          <a:xfrm>
            <a:off x="2807208" y="4849203"/>
            <a:ext cx="182548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4" name="Shape 112"/>
          <p:cNvSpPr/>
          <p:nvPr/>
        </p:nvSpPr>
        <p:spPr>
          <a:xfrm>
            <a:off x="4632694" y="4849203"/>
            <a:ext cx="426634" cy="174962"/>
          </a:xfrm>
          <a:prstGeom prst="rect">
            <a:avLst/>
          </a:prstGeom>
          <a:solidFill>
            <a:srgbClr val="8FBEE6"/>
          </a:solidFill>
          <a:ln w="6350">
            <a:solidFill>
              <a:srgbClr val="FFFFFF"/>
            </a:solidFill>
            <a:prstDash val="solid"/>
          </a:ln>
        </p:spPr>
      </p:sp>
      <p:sp>
        <p:nvSpPr>
          <p:cNvPr id="115" name="Text 113"/>
          <p:cNvSpPr txBox="1"/>
          <p:nvPr/>
        </p:nvSpPr>
        <p:spPr>
          <a:xfrm>
            <a:off x="4632694" y="4849203"/>
            <a:ext cx="42663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16" name="Shape 114"/>
          <p:cNvSpPr/>
          <p:nvPr/>
        </p:nvSpPr>
        <p:spPr>
          <a:xfrm>
            <a:off x="5059328" y="4849203"/>
            <a:ext cx="902560" cy="174962"/>
          </a:xfrm>
          <a:prstGeom prst="rect">
            <a:avLst/>
          </a:prstGeom>
          <a:solidFill>
            <a:srgbClr val="D9D9D9"/>
          </a:solidFill>
          <a:ln w="6350">
            <a:solidFill>
              <a:srgbClr val="FFFFFF"/>
            </a:solidFill>
            <a:prstDash val="solid"/>
          </a:ln>
        </p:spPr>
      </p:sp>
      <p:sp>
        <p:nvSpPr>
          <p:cNvPr id="117" name="Text 115"/>
          <p:cNvSpPr txBox="1"/>
          <p:nvPr/>
        </p:nvSpPr>
        <p:spPr>
          <a:xfrm>
            <a:off x="5059328" y="4849203"/>
            <a:ext cx="90256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18" name="Text 116"/>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9" name="Shape 117"/>
          <p:cNvSpPr/>
          <p:nvPr/>
        </p:nvSpPr>
        <p:spPr>
          <a:xfrm>
            <a:off x="2807208" y="5079417"/>
            <a:ext cx="1807555" cy="174962"/>
          </a:xfrm>
          <a:prstGeom prst="rect">
            <a:avLst/>
          </a:prstGeom>
          <a:solidFill>
            <a:srgbClr val="2587C5"/>
          </a:solidFill>
          <a:ln w="6350">
            <a:solidFill>
              <a:srgbClr val="FFFFFF"/>
            </a:solidFill>
            <a:prstDash val="solid"/>
          </a:ln>
        </p:spPr>
      </p:sp>
      <p:sp>
        <p:nvSpPr>
          <p:cNvPr id="120" name="Text 118"/>
          <p:cNvSpPr txBox="1"/>
          <p:nvPr/>
        </p:nvSpPr>
        <p:spPr>
          <a:xfrm>
            <a:off x="2807208" y="5079417"/>
            <a:ext cx="180755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1" name="Shape 119"/>
          <p:cNvSpPr/>
          <p:nvPr/>
        </p:nvSpPr>
        <p:spPr>
          <a:xfrm>
            <a:off x="4614763" y="5079417"/>
            <a:ext cx="466810" cy="174962"/>
          </a:xfrm>
          <a:prstGeom prst="rect">
            <a:avLst/>
          </a:prstGeom>
          <a:solidFill>
            <a:srgbClr val="8FBEE6"/>
          </a:solidFill>
          <a:ln w="6350">
            <a:solidFill>
              <a:srgbClr val="FFFFFF"/>
            </a:solidFill>
            <a:prstDash val="solid"/>
          </a:ln>
        </p:spPr>
      </p:sp>
      <p:sp>
        <p:nvSpPr>
          <p:cNvPr id="122" name="Text 120"/>
          <p:cNvSpPr txBox="1"/>
          <p:nvPr/>
        </p:nvSpPr>
        <p:spPr>
          <a:xfrm>
            <a:off x="4614763" y="5079417"/>
            <a:ext cx="46681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23" name="Shape 121"/>
          <p:cNvSpPr/>
          <p:nvPr/>
        </p:nvSpPr>
        <p:spPr>
          <a:xfrm>
            <a:off x="5081573" y="5079417"/>
            <a:ext cx="880315" cy="174962"/>
          </a:xfrm>
          <a:prstGeom prst="rect">
            <a:avLst/>
          </a:prstGeom>
          <a:solidFill>
            <a:srgbClr val="D9D9D9"/>
          </a:solidFill>
          <a:ln w="6350">
            <a:solidFill>
              <a:srgbClr val="FFFFFF"/>
            </a:solidFill>
            <a:prstDash val="solid"/>
          </a:ln>
        </p:spPr>
      </p:sp>
      <p:sp>
        <p:nvSpPr>
          <p:cNvPr id="124" name="Text 122"/>
          <p:cNvSpPr txBox="1"/>
          <p:nvPr/>
        </p:nvSpPr>
        <p:spPr>
          <a:xfrm>
            <a:off x="5081573" y="5079417"/>
            <a:ext cx="88031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25" name="Text 123"/>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6" name="Shape 124"/>
          <p:cNvSpPr/>
          <p:nvPr/>
        </p:nvSpPr>
        <p:spPr>
          <a:xfrm>
            <a:off x="2807208" y="5309630"/>
            <a:ext cx="1784948" cy="174962"/>
          </a:xfrm>
          <a:prstGeom prst="rect">
            <a:avLst/>
          </a:prstGeom>
          <a:solidFill>
            <a:srgbClr val="2587C5"/>
          </a:solidFill>
          <a:ln w="6350">
            <a:solidFill>
              <a:srgbClr val="FFFFFF"/>
            </a:solidFill>
            <a:prstDash val="solid"/>
          </a:ln>
        </p:spPr>
      </p:sp>
      <p:sp>
        <p:nvSpPr>
          <p:cNvPr id="127" name="Text 125"/>
          <p:cNvSpPr txBox="1"/>
          <p:nvPr/>
        </p:nvSpPr>
        <p:spPr>
          <a:xfrm>
            <a:off x="2807208" y="5309630"/>
            <a:ext cx="17849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8" name="Shape 126"/>
          <p:cNvSpPr/>
          <p:nvPr/>
        </p:nvSpPr>
        <p:spPr>
          <a:xfrm>
            <a:off x="4592156" y="5309630"/>
            <a:ext cx="390376" cy="174962"/>
          </a:xfrm>
          <a:prstGeom prst="rect">
            <a:avLst/>
          </a:prstGeom>
          <a:solidFill>
            <a:srgbClr val="8FBEE6"/>
          </a:solidFill>
          <a:ln w="6350">
            <a:solidFill>
              <a:srgbClr val="FFFFFF"/>
            </a:solidFill>
            <a:prstDash val="solid"/>
          </a:ln>
        </p:spPr>
      </p:sp>
      <p:sp>
        <p:nvSpPr>
          <p:cNvPr id="129" name="Text 127"/>
          <p:cNvSpPr txBox="1"/>
          <p:nvPr/>
        </p:nvSpPr>
        <p:spPr>
          <a:xfrm>
            <a:off x="4592156" y="5309630"/>
            <a:ext cx="3903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130" name="Shape 128"/>
          <p:cNvSpPr/>
          <p:nvPr/>
        </p:nvSpPr>
        <p:spPr>
          <a:xfrm>
            <a:off x="4982532" y="5309630"/>
            <a:ext cx="979356" cy="174962"/>
          </a:xfrm>
          <a:prstGeom prst="rect">
            <a:avLst/>
          </a:prstGeom>
          <a:solidFill>
            <a:srgbClr val="D9D9D9"/>
          </a:solidFill>
          <a:ln w="6350">
            <a:solidFill>
              <a:srgbClr val="FFFFFF"/>
            </a:solidFill>
            <a:prstDash val="solid"/>
          </a:ln>
        </p:spPr>
      </p:sp>
      <p:sp>
        <p:nvSpPr>
          <p:cNvPr id="131" name="Text 129"/>
          <p:cNvSpPr txBox="1"/>
          <p:nvPr/>
        </p:nvSpPr>
        <p:spPr>
          <a:xfrm>
            <a:off x="4982532" y="5309630"/>
            <a:ext cx="97935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32" name="Text 130"/>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33" name="Shape 131"/>
          <p:cNvSpPr/>
          <p:nvPr/>
        </p:nvSpPr>
        <p:spPr>
          <a:xfrm>
            <a:off x="2807208" y="5539844"/>
            <a:ext cx="1784687" cy="174962"/>
          </a:xfrm>
          <a:prstGeom prst="rect">
            <a:avLst/>
          </a:prstGeom>
          <a:solidFill>
            <a:srgbClr val="2587C5"/>
          </a:solidFill>
          <a:ln w="6350">
            <a:solidFill>
              <a:srgbClr val="FFFFFF"/>
            </a:solidFill>
            <a:prstDash val="solid"/>
          </a:ln>
        </p:spPr>
      </p:sp>
      <p:sp>
        <p:nvSpPr>
          <p:cNvPr id="134" name="Text 132"/>
          <p:cNvSpPr txBox="1"/>
          <p:nvPr/>
        </p:nvSpPr>
        <p:spPr>
          <a:xfrm>
            <a:off x="2807208" y="5539844"/>
            <a:ext cx="178468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5" name="Shape 133"/>
          <p:cNvSpPr/>
          <p:nvPr/>
        </p:nvSpPr>
        <p:spPr>
          <a:xfrm>
            <a:off x="4591895" y="5539844"/>
            <a:ext cx="320373" cy="174962"/>
          </a:xfrm>
          <a:prstGeom prst="rect">
            <a:avLst/>
          </a:prstGeom>
          <a:solidFill>
            <a:srgbClr val="8FBEE6"/>
          </a:solidFill>
          <a:ln w="6350">
            <a:solidFill>
              <a:srgbClr val="FFFFFF"/>
            </a:solidFill>
            <a:prstDash val="solid"/>
          </a:ln>
        </p:spPr>
      </p:sp>
      <p:sp>
        <p:nvSpPr>
          <p:cNvPr id="136" name="Text 134"/>
          <p:cNvSpPr txBox="1"/>
          <p:nvPr/>
        </p:nvSpPr>
        <p:spPr>
          <a:xfrm>
            <a:off x="4591895" y="5539844"/>
            <a:ext cx="3203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37" name="Shape 135"/>
          <p:cNvSpPr/>
          <p:nvPr/>
        </p:nvSpPr>
        <p:spPr>
          <a:xfrm>
            <a:off x="4912268" y="5539844"/>
            <a:ext cx="1049620" cy="174962"/>
          </a:xfrm>
          <a:prstGeom prst="rect">
            <a:avLst/>
          </a:prstGeom>
          <a:solidFill>
            <a:srgbClr val="D9D9D9"/>
          </a:solidFill>
          <a:ln w="6350">
            <a:solidFill>
              <a:srgbClr val="FFFFFF"/>
            </a:solidFill>
            <a:prstDash val="solid"/>
          </a:ln>
        </p:spPr>
      </p:sp>
      <p:sp>
        <p:nvSpPr>
          <p:cNvPr id="138" name="Text 136"/>
          <p:cNvSpPr txBox="1"/>
          <p:nvPr/>
        </p:nvSpPr>
        <p:spPr>
          <a:xfrm>
            <a:off x="4912268" y="5539844"/>
            <a:ext cx="104962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33</a:t>
            </a:r>
            <a:endParaRPr lang="en-US" sz="1300" dirty="0"/>
          </a:p>
        </p:txBody>
      </p:sp>
      <p:sp>
        <p:nvSpPr>
          <p:cNvPr id="139" name="Text 137"/>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40" name="Shape 138"/>
          <p:cNvSpPr/>
          <p:nvPr/>
        </p:nvSpPr>
        <p:spPr>
          <a:xfrm>
            <a:off x="8357616" y="1856426"/>
            <a:ext cx="1759183" cy="174962"/>
          </a:xfrm>
          <a:prstGeom prst="rect">
            <a:avLst/>
          </a:prstGeom>
          <a:solidFill>
            <a:srgbClr val="2587C5"/>
          </a:solidFill>
          <a:ln w="6350">
            <a:solidFill>
              <a:srgbClr val="FFFFFF"/>
            </a:solidFill>
            <a:prstDash val="solid"/>
          </a:ln>
        </p:spPr>
      </p:sp>
      <p:sp>
        <p:nvSpPr>
          <p:cNvPr id="141" name="Text 139"/>
          <p:cNvSpPr txBox="1"/>
          <p:nvPr/>
        </p:nvSpPr>
        <p:spPr>
          <a:xfrm>
            <a:off x="8357616" y="1856426"/>
            <a:ext cx="17591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56</a:t>
            </a:r>
            <a:endParaRPr lang="en-US" sz="1300" dirty="0"/>
          </a:p>
        </p:txBody>
      </p:sp>
      <p:sp>
        <p:nvSpPr>
          <p:cNvPr id="142" name="Shape 140"/>
          <p:cNvSpPr/>
          <p:nvPr/>
        </p:nvSpPr>
        <p:spPr>
          <a:xfrm>
            <a:off x="10116799" y="1856426"/>
            <a:ext cx="978643" cy="174962"/>
          </a:xfrm>
          <a:prstGeom prst="rect">
            <a:avLst/>
          </a:prstGeom>
          <a:solidFill>
            <a:srgbClr val="8FBEE6"/>
          </a:solidFill>
          <a:ln w="6350">
            <a:solidFill>
              <a:srgbClr val="FFFFFF"/>
            </a:solidFill>
            <a:prstDash val="solid"/>
          </a:ln>
        </p:spPr>
      </p:sp>
      <p:sp>
        <p:nvSpPr>
          <p:cNvPr id="143" name="Text 141"/>
          <p:cNvSpPr txBox="1"/>
          <p:nvPr/>
        </p:nvSpPr>
        <p:spPr>
          <a:xfrm>
            <a:off x="10116799" y="1856426"/>
            <a:ext cx="97864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31</a:t>
            </a:r>
            <a:endParaRPr lang="en-US" sz="1300" dirty="0"/>
          </a:p>
        </p:txBody>
      </p:sp>
      <p:sp>
        <p:nvSpPr>
          <p:cNvPr id="144" name="Shape 142"/>
          <p:cNvSpPr/>
          <p:nvPr/>
        </p:nvSpPr>
        <p:spPr>
          <a:xfrm>
            <a:off x="11095442" y="1856426"/>
            <a:ext cx="416854" cy="174962"/>
          </a:xfrm>
          <a:prstGeom prst="rect">
            <a:avLst/>
          </a:prstGeom>
          <a:solidFill>
            <a:srgbClr val="D9D9D9"/>
          </a:solidFill>
          <a:ln w="6350">
            <a:solidFill>
              <a:srgbClr val="FFFFFF"/>
            </a:solidFill>
            <a:prstDash val="solid"/>
          </a:ln>
        </p:spPr>
      </p:sp>
      <p:sp>
        <p:nvSpPr>
          <p:cNvPr id="145" name="Text 143"/>
          <p:cNvSpPr txBox="1"/>
          <p:nvPr/>
        </p:nvSpPr>
        <p:spPr>
          <a:xfrm>
            <a:off x="11095442" y="1856426"/>
            <a:ext cx="41685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46" name="Text 144"/>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47" name="Shape 145"/>
          <p:cNvSpPr/>
          <p:nvPr/>
        </p:nvSpPr>
        <p:spPr>
          <a:xfrm>
            <a:off x="8357616" y="2086639"/>
            <a:ext cx="1743709" cy="174962"/>
          </a:xfrm>
          <a:prstGeom prst="rect">
            <a:avLst/>
          </a:prstGeom>
          <a:solidFill>
            <a:srgbClr val="2587C5"/>
          </a:solidFill>
          <a:ln w="6350">
            <a:solidFill>
              <a:srgbClr val="FFFFFF"/>
            </a:solidFill>
            <a:prstDash val="solid"/>
          </a:ln>
        </p:spPr>
      </p:sp>
      <p:sp>
        <p:nvSpPr>
          <p:cNvPr id="148" name="Text 146"/>
          <p:cNvSpPr txBox="1"/>
          <p:nvPr/>
        </p:nvSpPr>
        <p:spPr>
          <a:xfrm>
            <a:off x="8357616" y="2086639"/>
            <a:ext cx="17437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9" name="Shape 147"/>
          <p:cNvSpPr/>
          <p:nvPr/>
        </p:nvSpPr>
        <p:spPr>
          <a:xfrm>
            <a:off x="10101325" y="2086639"/>
            <a:ext cx="638330" cy="174962"/>
          </a:xfrm>
          <a:prstGeom prst="rect">
            <a:avLst/>
          </a:prstGeom>
          <a:solidFill>
            <a:srgbClr val="8FBEE6"/>
          </a:solidFill>
          <a:ln w="6350">
            <a:solidFill>
              <a:srgbClr val="FFFFFF"/>
            </a:solidFill>
            <a:prstDash val="solid"/>
          </a:ln>
        </p:spPr>
      </p:sp>
      <p:sp>
        <p:nvSpPr>
          <p:cNvPr id="150" name="Text 148"/>
          <p:cNvSpPr txBox="1"/>
          <p:nvPr/>
        </p:nvSpPr>
        <p:spPr>
          <a:xfrm>
            <a:off x="10101325" y="2086639"/>
            <a:ext cx="63833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20</a:t>
            </a:r>
            <a:endParaRPr lang="en-US" sz="1300" dirty="0"/>
          </a:p>
        </p:txBody>
      </p:sp>
      <p:sp>
        <p:nvSpPr>
          <p:cNvPr id="151" name="Shape 149"/>
          <p:cNvSpPr/>
          <p:nvPr/>
        </p:nvSpPr>
        <p:spPr>
          <a:xfrm>
            <a:off x="10739655" y="2086639"/>
            <a:ext cx="772641" cy="174962"/>
          </a:xfrm>
          <a:prstGeom prst="rect">
            <a:avLst/>
          </a:prstGeom>
          <a:solidFill>
            <a:srgbClr val="D9D9D9"/>
          </a:solidFill>
          <a:ln w="6350">
            <a:solidFill>
              <a:srgbClr val="FFFFFF"/>
            </a:solidFill>
            <a:prstDash val="solid"/>
          </a:ln>
        </p:spPr>
      </p:sp>
      <p:sp>
        <p:nvSpPr>
          <p:cNvPr id="152" name="Text 150"/>
          <p:cNvSpPr txBox="1"/>
          <p:nvPr/>
        </p:nvSpPr>
        <p:spPr>
          <a:xfrm>
            <a:off x="10739655" y="2086639"/>
            <a:ext cx="77264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53" name="Text 151"/>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4" name="Shape 152"/>
          <p:cNvSpPr/>
          <p:nvPr/>
        </p:nvSpPr>
        <p:spPr>
          <a:xfrm>
            <a:off x="8357616" y="2316853"/>
            <a:ext cx="1719908" cy="174962"/>
          </a:xfrm>
          <a:prstGeom prst="rect">
            <a:avLst/>
          </a:prstGeom>
          <a:solidFill>
            <a:srgbClr val="2587C5"/>
          </a:solidFill>
          <a:ln w="6350">
            <a:solidFill>
              <a:srgbClr val="FFFFFF"/>
            </a:solidFill>
            <a:prstDash val="solid"/>
          </a:ln>
        </p:spPr>
      </p:sp>
      <p:sp>
        <p:nvSpPr>
          <p:cNvPr id="155" name="Text 153"/>
          <p:cNvSpPr txBox="1"/>
          <p:nvPr/>
        </p:nvSpPr>
        <p:spPr>
          <a:xfrm>
            <a:off x="8357616" y="2316853"/>
            <a:ext cx="171990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56" name="Shape 154"/>
          <p:cNvSpPr/>
          <p:nvPr/>
        </p:nvSpPr>
        <p:spPr>
          <a:xfrm>
            <a:off x="10077524" y="2316853"/>
            <a:ext cx="412555" cy="174962"/>
          </a:xfrm>
          <a:prstGeom prst="rect">
            <a:avLst/>
          </a:prstGeom>
          <a:solidFill>
            <a:srgbClr val="8FBEE6"/>
          </a:solidFill>
          <a:ln w="6350">
            <a:solidFill>
              <a:srgbClr val="FFFFFF"/>
            </a:solidFill>
            <a:prstDash val="solid"/>
          </a:ln>
        </p:spPr>
      </p:sp>
      <p:sp>
        <p:nvSpPr>
          <p:cNvPr id="157" name="Text 155"/>
          <p:cNvSpPr txBox="1"/>
          <p:nvPr/>
        </p:nvSpPr>
        <p:spPr>
          <a:xfrm>
            <a:off x="10077524" y="2316853"/>
            <a:ext cx="41255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58" name="Shape 156"/>
          <p:cNvSpPr/>
          <p:nvPr/>
        </p:nvSpPr>
        <p:spPr>
          <a:xfrm>
            <a:off x="10490079" y="2316853"/>
            <a:ext cx="1022217" cy="174962"/>
          </a:xfrm>
          <a:prstGeom prst="rect">
            <a:avLst/>
          </a:prstGeom>
          <a:solidFill>
            <a:srgbClr val="D9D9D9"/>
          </a:solidFill>
          <a:ln w="6350">
            <a:solidFill>
              <a:srgbClr val="FFFFFF"/>
            </a:solidFill>
            <a:prstDash val="solid"/>
          </a:ln>
        </p:spPr>
      </p:sp>
      <p:sp>
        <p:nvSpPr>
          <p:cNvPr id="159" name="Text 157"/>
          <p:cNvSpPr txBox="1"/>
          <p:nvPr/>
        </p:nvSpPr>
        <p:spPr>
          <a:xfrm>
            <a:off x="10490079" y="2316853"/>
            <a:ext cx="1022217"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160" name="Text 158"/>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61" name="Shape 159"/>
          <p:cNvSpPr/>
          <p:nvPr/>
        </p:nvSpPr>
        <p:spPr>
          <a:xfrm>
            <a:off x="8357616" y="2547067"/>
            <a:ext cx="1601041" cy="174962"/>
          </a:xfrm>
          <a:prstGeom prst="rect">
            <a:avLst/>
          </a:prstGeom>
          <a:solidFill>
            <a:srgbClr val="2587C5"/>
          </a:solidFill>
          <a:ln w="6350">
            <a:solidFill>
              <a:srgbClr val="FFFFFF"/>
            </a:solidFill>
            <a:prstDash val="solid"/>
          </a:ln>
        </p:spPr>
      </p:sp>
      <p:sp>
        <p:nvSpPr>
          <p:cNvPr id="162" name="Text 160"/>
          <p:cNvSpPr txBox="1"/>
          <p:nvPr/>
        </p:nvSpPr>
        <p:spPr>
          <a:xfrm>
            <a:off x="8357616" y="2547067"/>
            <a:ext cx="16010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63" name="Shape 161"/>
          <p:cNvSpPr/>
          <p:nvPr/>
        </p:nvSpPr>
        <p:spPr>
          <a:xfrm>
            <a:off x="9958657" y="2547067"/>
            <a:ext cx="606875" cy="174962"/>
          </a:xfrm>
          <a:prstGeom prst="rect">
            <a:avLst/>
          </a:prstGeom>
          <a:solidFill>
            <a:srgbClr val="8FBEE6"/>
          </a:solidFill>
          <a:ln w="6350">
            <a:solidFill>
              <a:srgbClr val="FFFFFF"/>
            </a:solidFill>
            <a:prstDash val="solid"/>
          </a:ln>
        </p:spPr>
      </p:sp>
      <p:sp>
        <p:nvSpPr>
          <p:cNvPr id="164" name="Text 162"/>
          <p:cNvSpPr txBox="1"/>
          <p:nvPr/>
        </p:nvSpPr>
        <p:spPr>
          <a:xfrm>
            <a:off x="9958657" y="2547067"/>
            <a:ext cx="60687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65" name="Shape 163"/>
          <p:cNvSpPr/>
          <p:nvPr/>
        </p:nvSpPr>
        <p:spPr>
          <a:xfrm>
            <a:off x="10565532" y="2547067"/>
            <a:ext cx="946764" cy="174962"/>
          </a:xfrm>
          <a:prstGeom prst="rect">
            <a:avLst/>
          </a:prstGeom>
          <a:solidFill>
            <a:srgbClr val="D9D9D9"/>
          </a:solidFill>
          <a:ln w="6350">
            <a:solidFill>
              <a:srgbClr val="FFFFFF"/>
            </a:solidFill>
            <a:prstDash val="solid"/>
          </a:ln>
        </p:spPr>
      </p:sp>
      <p:sp>
        <p:nvSpPr>
          <p:cNvPr id="166" name="Text 164"/>
          <p:cNvSpPr txBox="1"/>
          <p:nvPr/>
        </p:nvSpPr>
        <p:spPr>
          <a:xfrm>
            <a:off x="10565532" y="2547067"/>
            <a:ext cx="94676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30</a:t>
            </a:r>
            <a:endParaRPr lang="en-US" sz="1300" dirty="0"/>
          </a:p>
        </p:txBody>
      </p:sp>
      <p:sp>
        <p:nvSpPr>
          <p:cNvPr id="167" name="Text 165"/>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8" name="Shape 166"/>
          <p:cNvSpPr/>
          <p:nvPr/>
        </p:nvSpPr>
        <p:spPr>
          <a:xfrm>
            <a:off x="8357616" y="2777280"/>
            <a:ext cx="1536222" cy="174962"/>
          </a:xfrm>
          <a:prstGeom prst="rect">
            <a:avLst/>
          </a:prstGeom>
          <a:solidFill>
            <a:srgbClr val="2587C5"/>
          </a:solidFill>
          <a:ln w="6350">
            <a:solidFill>
              <a:srgbClr val="FFFFFF"/>
            </a:solidFill>
            <a:prstDash val="solid"/>
          </a:ln>
        </p:spPr>
      </p:sp>
      <p:sp>
        <p:nvSpPr>
          <p:cNvPr id="169" name="Text 167"/>
          <p:cNvSpPr txBox="1"/>
          <p:nvPr/>
        </p:nvSpPr>
        <p:spPr>
          <a:xfrm>
            <a:off x="8357616" y="2777280"/>
            <a:ext cx="153622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70" name="Shape 168"/>
          <p:cNvSpPr/>
          <p:nvPr/>
        </p:nvSpPr>
        <p:spPr>
          <a:xfrm>
            <a:off x="9893838" y="2777280"/>
            <a:ext cx="488153" cy="174962"/>
          </a:xfrm>
          <a:prstGeom prst="rect">
            <a:avLst/>
          </a:prstGeom>
          <a:solidFill>
            <a:srgbClr val="8FBEE6"/>
          </a:solidFill>
          <a:ln w="6350">
            <a:solidFill>
              <a:srgbClr val="FFFFFF"/>
            </a:solidFill>
            <a:prstDash val="solid"/>
          </a:ln>
        </p:spPr>
      </p:sp>
      <p:sp>
        <p:nvSpPr>
          <p:cNvPr id="171" name="Text 169"/>
          <p:cNvSpPr txBox="1"/>
          <p:nvPr/>
        </p:nvSpPr>
        <p:spPr>
          <a:xfrm>
            <a:off x="9893838" y="2777280"/>
            <a:ext cx="48815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72" name="Shape 170"/>
          <p:cNvSpPr/>
          <p:nvPr/>
        </p:nvSpPr>
        <p:spPr>
          <a:xfrm>
            <a:off x="10381990" y="2777280"/>
            <a:ext cx="1130306" cy="174962"/>
          </a:xfrm>
          <a:prstGeom prst="rect">
            <a:avLst/>
          </a:prstGeom>
          <a:solidFill>
            <a:srgbClr val="D9D9D9"/>
          </a:solidFill>
          <a:ln w="6350">
            <a:solidFill>
              <a:srgbClr val="FFFFFF"/>
            </a:solidFill>
            <a:prstDash val="solid"/>
          </a:ln>
        </p:spPr>
      </p:sp>
      <p:sp>
        <p:nvSpPr>
          <p:cNvPr id="173" name="Text 171"/>
          <p:cNvSpPr txBox="1"/>
          <p:nvPr/>
        </p:nvSpPr>
        <p:spPr>
          <a:xfrm>
            <a:off x="10381990" y="2777280"/>
            <a:ext cx="113030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174" name="Text 172"/>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5" name="Shape 173"/>
          <p:cNvSpPr/>
          <p:nvPr/>
        </p:nvSpPr>
        <p:spPr>
          <a:xfrm>
            <a:off x="8357616" y="3007494"/>
            <a:ext cx="1513638" cy="174962"/>
          </a:xfrm>
          <a:prstGeom prst="rect">
            <a:avLst/>
          </a:prstGeom>
          <a:solidFill>
            <a:srgbClr val="2587C5"/>
          </a:solidFill>
          <a:ln w="6350">
            <a:solidFill>
              <a:srgbClr val="FFFFFF"/>
            </a:solidFill>
            <a:prstDash val="solid"/>
          </a:ln>
        </p:spPr>
      </p:sp>
      <p:sp>
        <p:nvSpPr>
          <p:cNvPr id="176" name="Text 174"/>
          <p:cNvSpPr txBox="1"/>
          <p:nvPr/>
        </p:nvSpPr>
        <p:spPr>
          <a:xfrm>
            <a:off x="8357616" y="3007494"/>
            <a:ext cx="15136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77" name="Shape 175"/>
          <p:cNvSpPr/>
          <p:nvPr/>
        </p:nvSpPr>
        <p:spPr>
          <a:xfrm>
            <a:off x="9871254" y="3007494"/>
            <a:ext cx="727538" cy="174962"/>
          </a:xfrm>
          <a:prstGeom prst="rect">
            <a:avLst/>
          </a:prstGeom>
          <a:solidFill>
            <a:srgbClr val="8FBEE6"/>
          </a:solidFill>
          <a:ln w="6350">
            <a:solidFill>
              <a:srgbClr val="FFFFFF"/>
            </a:solidFill>
            <a:prstDash val="solid"/>
          </a:ln>
        </p:spPr>
      </p:sp>
      <p:sp>
        <p:nvSpPr>
          <p:cNvPr id="178" name="Text 176"/>
          <p:cNvSpPr txBox="1"/>
          <p:nvPr/>
        </p:nvSpPr>
        <p:spPr>
          <a:xfrm>
            <a:off x="9871254" y="3007494"/>
            <a:ext cx="72753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23</a:t>
            </a:r>
            <a:endParaRPr lang="en-US" sz="1300" dirty="0"/>
          </a:p>
        </p:txBody>
      </p:sp>
      <p:sp>
        <p:nvSpPr>
          <p:cNvPr id="179" name="Shape 177"/>
          <p:cNvSpPr/>
          <p:nvPr/>
        </p:nvSpPr>
        <p:spPr>
          <a:xfrm>
            <a:off x="10598793" y="3007494"/>
            <a:ext cx="913503" cy="174962"/>
          </a:xfrm>
          <a:prstGeom prst="rect">
            <a:avLst/>
          </a:prstGeom>
          <a:solidFill>
            <a:srgbClr val="D9D9D9"/>
          </a:solidFill>
          <a:ln w="6350">
            <a:solidFill>
              <a:srgbClr val="FFFFFF"/>
            </a:solidFill>
            <a:prstDash val="solid"/>
          </a:ln>
        </p:spPr>
      </p:sp>
      <p:sp>
        <p:nvSpPr>
          <p:cNvPr id="180" name="Text 178"/>
          <p:cNvSpPr txBox="1"/>
          <p:nvPr/>
        </p:nvSpPr>
        <p:spPr>
          <a:xfrm>
            <a:off x="10598793" y="3007494"/>
            <a:ext cx="91350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181" name="Text 179"/>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82" name="Shape 180"/>
          <p:cNvSpPr/>
          <p:nvPr/>
        </p:nvSpPr>
        <p:spPr>
          <a:xfrm>
            <a:off x="8357616" y="3237708"/>
            <a:ext cx="1487709" cy="174962"/>
          </a:xfrm>
          <a:prstGeom prst="rect">
            <a:avLst/>
          </a:prstGeom>
          <a:solidFill>
            <a:srgbClr val="2587C5"/>
          </a:solidFill>
          <a:ln w="6350">
            <a:solidFill>
              <a:srgbClr val="FFFFFF"/>
            </a:solidFill>
            <a:prstDash val="solid"/>
          </a:ln>
        </p:spPr>
      </p:sp>
      <p:sp>
        <p:nvSpPr>
          <p:cNvPr id="183" name="Text 181"/>
          <p:cNvSpPr txBox="1"/>
          <p:nvPr/>
        </p:nvSpPr>
        <p:spPr>
          <a:xfrm>
            <a:off x="8357616" y="3237708"/>
            <a:ext cx="148770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84" name="Shape 182"/>
          <p:cNvSpPr/>
          <p:nvPr/>
        </p:nvSpPr>
        <p:spPr>
          <a:xfrm>
            <a:off x="9845325" y="3237708"/>
            <a:ext cx="1263575" cy="174962"/>
          </a:xfrm>
          <a:prstGeom prst="rect">
            <a:avLst/>
          </a:prstGeom>
          <a:solidFill>
            <a:srgbClr val="8FBEE6"/>
          </a:solidFill>
          <a:ln w="6350">
            <a:solidFill>
              <a:srgbClr val="FFFFFF"/>
            </a:solidFill>
            <a:prstDash val="solid"/>
          </a:ln>
        </p:spPr>
      </p:sp>
      <p:sp>
        <p:nvSpPr>
          <p:cNvPr id="185" name="Text 183"/>
          <p:cNvSpPr txBox="1"/>
          <p:nvPr/>
        </p:nvSpPr>
        <p:spPr>
          <a:xfrm>
            <a:off x="9845325" y="3237708"/>
            <a:ext cx="126357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186" name="Shape 184"/>
          <p:cNvSpPr/>
          <p:nvPr/>
        </p:nvSpPr>
        <p:spPr>
          <a:xfrm>
            <a:off x="11108900" y="3237708"/>
            <a:ext cx="403396" cy="174962"/>
          </a:xfrm>
          <a:prstGeom prst="rect">
            <a:avLst/>
          </a:prstGeom>
          <a:solidFill>
            <a:srgbClr val="D9D9D9"/>
          </a:solidFill>
          <a:ln w="6350">
            <a:solidFill>
              <a:srgbClr val="FFFFFF"/>
            </a:solidFill>
            <a:prstDash val="solid"/>
          </a:ln>
        </p:spPr>
      </p:sp>
      <p:sp>
        <p:nvSpPr>
          <p:cNvPr id="187" name="Text 185"/>
          <p:cNvSpPr txBox="1"/>
          <p:nvPr/>
        </p:nvSpPr>
        <p:spPr>
          <a:xfrm>
            <a:off x="11108900" y="3237708"/>
            <a:ext cx="4033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188" name="Text 186"/>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9" name="Shape 187"/>
          <p:cNvSpPr/>
          <p:nvPr/>
        </p:nvSpPr>
        <p:spPr>
          <a:xfrm>
            <a:off x="8357616" y="3467921"/>
            <a:ext cx="1483116" cy="174962"/>
          </a:xfrm>
          <a:prstGeom prst="rect">
            <a:avLst/>
          </a:prstGeom>
          <a:solidFill>
            <a:srgbClr val="2587C5"/>
          </a:solidFill>
          <a:ln w="6350">
            <a:solidFill>
              <a:srgbClr val="FFFFFF"/>
            </a:solidFill>
            <a:prstDash val="solid"/>
          </a:ln>
        </p:spPr>
      </p:sp>
      <p:sp>
        <p:nvSpPr>
          <p:cNvPr id="190" name="Text 188"/>
          <p:cNvSpPr txBox="1"/>
          <p:nvPr/>
        </p:nvSpPr>
        <p:spPr>
          <a:xfrm>
            <a:off x="8357616" y="3467921"/>
            <a:ext cx="14831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47</a:t>
            </a:r>
            <a:endParaRPr lang="en-US" sz="1300" dirty="0"/>
          </a:p>
        </p:txBody>
      </p:sp>
      <p:sp>
        <p:nvSpPr>
          <p:cNvPr id="191" name="Shape 189"/>
          <p:cNvSpPr/>
          <p:nvPr/>
        </p:nvSpPr>
        <p:spPr>
          <a:xfrm>
            <a:off x="9840732" y="3467921"/>
            <a:ext cx="885736" cy="174962"/>
          </a:xfrm>
          <a:prstGeom prst="rect">
            <a:avLst/>
          </a:prstGeom>
          <a:solidFill>
            <a:srgbClr val="8FBEE6"/>
          </a:solidFill>
          <a:ln w="6350">
            <a:solidFill>
              <a:srgbClr val="FFFFFF"/>
            </a:solidFill>
            <a:prstDash val="solid"/>
          </a:ln>
        </p:spPr>
      </p:sp>
      <p:sp>
        <p:nvSpPr>
          <p:cNvPr id="192" name="Text 190"/>
          <p:cNvSpPr txBox="1"/>
          <p:nvPr/>
        </p:nvSpPr>
        <p:spPr>
          <a:xfrm>
            <a:off x="9840732" y="3467921"/>
            <a:ext cx="88573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93" name="Shape 191"/>
          <p:cNvSpPr/>
          <p:nvPr/>
        </p:nvSpPr>
        <p:spPr>
          <a:xfrm>
            <a:off x="10726468" y="3467921"/>
            <a:ext cx="785828" cy="174962"/>
          </a:xfrm>
          <a:prstGeom prst="rect">
            <a:avLst/>
          </a:prstGeom>
          <a:solidFill>
            <a:srgbClr val="D9D9D9"/>
          </a:solidFill>
          <a:ln w="6350">
            <a:solidFill>
              <a:srgbClr val="FFFFFF"/>
            </a:solidFill>
            <a:prstDash val="solid"/>
          </a:ln>
        </p:spPr>
      </p:sp>
      <p:sp>
        <p:nvSpPr>
          <p:cNvPr id="194" name="Text 192"/>
          <p:cNvSpPr txBox="1"/>
          <p:nvPr/>
        </p:nvSpPr>
        <p:spPr>
          <a:xfrm>
            <a:off x="10726468" y="3467921"/>
            <a:ext cx="78582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195" name="Text 193"/>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6" name="Shape 194"/>
          <p:cNvSpPr/>
          <p:nvPr/>
        </p:nvSpPr>
        <p:spPr>
          <a:xfrm>
            <a:off x="8357616" y="3698135"/>
            <a:ext cx="1429900" cy="174962"/>
          </a:xfrm>
          <a:prstGeom prst="rect">
            <a:avLst/>
          </a:prstGeom>
          <a:solidFill>
            <a:srgbClr val="2587C5"/>
          </a:solidFill>
          <a:ln w="6350">
            <a:solidFill>
              <a:srgbClr val="FFFFFF"/>
            </a:solidFill>
            <a:prstDash val="solid"/>
          </a:ln>
        </p:spPr>
      </p:sp>
      <p:sp>
        <p:nvSpPr>
          <p:cNvPr id="197" name="Text 195"/>
          <p:cNvSpPr txBox="1"/>
          <p:nvPr/>
        </p:nvSpPr>
        <p:spPr>
          <a:xfrm>
            <a:off x="8357616" y="3698135"/>
            <a:ext cx="14299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198" name="Shape 196"/>
          <p:cNvSpPr/>
          <p:nvPr/>
        </p:nvSpPr>
        <p:spPr>
          <a:xfrm>
            <a:off x="9787516" y="3698135"/>
            <a:ext cx="450296" cy="174962"/>
          </a:xfrm>
          <a:prstGeom prst="rect">
            <a:avLst/>
          </a:prstGeom>
          <a:solidFill>
            <a:srgbClr val="8FBEE6"/>
          </a:solidFill>
          <a:ln w="6350">
            <a:solidFill>
              <a:srgbClr val="FFFFFF"/>
            </a:solidFill>
            <a:prstDash val="solid"/>
          </a:ln>
        </p:spPr>
      </p:sp>
      <p:sp>
        <p:nvSpPr>
          <p:cNvPr id="199" name="Text 197"/>
          <p:cNvSpPr txBox="1"/>
          <p:nvPr/>
        </p:nvSpPr>
        <p:spPr>
          <a:xfrm>
            <a:off x="9787516" y="3698135"/>
            <a:ext cx="4502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00" name="Shape 198"/>
          <p:cNvSpPr/>
          <p:nvPr/>
        </p:nvSpPr>
        <p:spPr>
          <a:xfrm>
            <a:off x="10237812" y="3698135"/>
            <a:ext cx="1274484" cy="174962"/>
          </a:xfrm>
          <a:prstGeom prst="rect">
            <a:avLst/>
          </a:prstGeom>
          <a:solidFill>
            <a:srgbClr val="D9D9D9"/>
          </a:solidFill>
          <a:ln w="6350">
            <a:solidFill>
              <a:srgbClr val="FFFFFF"/>
            </a:solidFill>
            <a:prstDash val="solid"/>
          </a:ln>
        </p:spPr>
      </p:sp>
      <p:sp>
        <p:nvSpPr>
          <p:cNvPr id="201" name="Text 199"/>
          <p:cNvSpPr txBox="1"/>
          <p:nvPr/>
        </p:nvSpPr>
        <p:spPr>
          <a:xfrm>
            <a:off x="10237812" y="3698135"/>
            <a:ext cx="127448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40</a:t>
            </a:r>
            <a:endParaRPr lang="en-US" sz="1300" dirty="0"/>
          </a:p>
        </p:txBody>
      </p:sp>
      <p:sp>
        <p:nvSpPr>
          <p:cNvPr id="202" name="Text 200"/>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3" name="Shape 201"/>
          <p:cNvSpPr/>
          <p:nvPr/>
        </p:nvSpPr>
        <p:spPr>
          <a:xfrm>
            <a:off x="8357616" y="3928348"/>
            <a:ext cx="1407663" cy="174962"/>
          </a:xfrm>
          <a:prstGeom prst="rect">
            <a:avLst/>
          </a:prstGeom>
          <a:solidFill>
            <a:srgbClr val="2587C5"/>
          </a:solidFill>
          <a:ln w="6350">
            <a:solidFill>
              <a:srgbClr val="FFFFFF"/>
            </a:solidFill>
            <a:prstDash val="solid"/>
          </a:ln>
        </p:spPr>
      </p:sp>
      <p:sp>
        <p:nvSpPr>
          <p:cNvPr id="204" name="Text 202"/>
          <p:cNvSpPr txBox="1"/>
          <p:nvPr/>
        </p:nvSpPr>
        <p:spPr>
          <a:xfrm>
            <a:off x="8357616" y="3928348"/>
            <a:ext cx="140766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45</a:t>
            </a:r>
            <a:endParaRPr lang="en-US" sz="1300" dirty="0"/>
          </a:p>
        </p:txBody>
      </p:sp>
      <p:sp>
        <p:nvSpPr>
          <p:cNvPr id="205" name="Shape 203"/>
          <p:cNvSpPr/>
          <p:nvPr/>
        </p:nvSpPr>
        <p:spPr>
          <a:xfrm>
            <a:off x="9765279" y="3928348"/>
            <a:ext cx="1184133" cy="174962"/>
          </a:xfrm>
          <a:prstGeom prst="rect">
            <a:avLst/>
          </a:prstGeom>
          <a:solidFill>
            <a:srgbClr val="8FBEE6"/>
          </a:solidFill>
          <a:ln w="6350">
            <a:solidFill>
              <a:srgbClr val="FFFFFF"/>
            </a:solidFill>
            <a:prstDash val="solid"/>
          </a:ln>
        </p:spPr>
      </p:sp>
      <p:sp>
        <p:nvSpPr>
          <p:cNvPr id="206" name="Text 204"/>
          <p:cNvSpPr txBox="1"/>
          <p:nvPr/>
        </p:nvSpPr>
        <p:spPr>
          <a:xfrm>
            <a:off x="9765279" y="3928348"/>
            <a:ext cx="11841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07" name="Shape 205"/>
          <p:cNvSpPr/>
          <p:nvPr/>
        </p:nvSpPr>
        <p:spPr>
          <a:xfrm>
            <a:off x="10949412" y="3928348"/>
            <a:ext cx="562884" cy="174962"/>
          </a:xfrm>
          <a:prstGeom prst="rect">
            <a:avLst/>
          </a:prstGeom>
          <a:solidFill>
            <a:srgbClr val="D9D9D9"/>
          </a:solidFill>
          <a:ln w="6350">
            <a:solidFill>
              <a:srgbClr val="FFFFFF"/>
            </a:solidFill>
            <a:prstDash val="solid"/>
          </a:ln>
        </p:spPr>
      </p:sp>
      <p:sp>
        <p:nvSpPr>
          <p:cNvPr id="208" name="Text 206"/>
          <p:cNvSpPr txBox="1"/>
          <p:nvPr/>
        </p:nvSpPr>
        <p:spPr>
          <a:xfrm>
            <a:off x="10949412" y="3928348"/>
            <a:ext cx="56288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209" name="Text 207"/>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0" name="Shape 208"/>
          <p:cNvSpPr/>
          <p:nvPr/>
        </p:nvSpPr>
        <p:spPr>
          <a:xfrm>
            <a:off x="8357616" y="4158562"/>
            <a:ext cx="1272315" cy="174962"/>
          </a:xfrm>
          <a:prstGeom prst="rect">
            <a:avLst/>
          </a:prstGeom>
          <a:solidFill>
            <a:srgbClr val="2587C5"/>
          </a:solidFill>
          <a:ln w="6350">
            <a:solidFill>
              <a:srgbClr val="FFFFFF"/>
            </a:solidFill>
            <a:prstDash val="solid"/>
          </a:ln>
        </p:spPr>
      </p:sp>
      <p:sp>
        <p:nvSpPr>
          <p:cNvPr id="211" name="Text 209"/>
          <p:cNvSpPr txBox="1"/>
          <p:nvPr/>
        </p:nvSpPr>
        <p:spPr>
          <a:xfrm>
            <a:off x="8357616" y="4158562"/>
            <a:ext cx="12723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2" name="Shape 210"/>
          <p:cNvSpPr/>
          <p:nvPr/>
        </p:nvSpPr>
        <p:spPr>
          <a:xfrm>
            <a:off x="9629931" y="4158562"/>
            <a:ext cx="1101342" cy="174962"/>
          </a:xfrm>
          <a:prstGeom prst="rect">
            <a:avLst/>
          </a:prstGeom>
          <a:solidFill>
            <a:srgbClr val="8FBEE6"/>
          </a:solidFill>
          <a:ln w="6350">
            <a:solidFill>
              <a:srgbClr val="FFFFFF"/>
            </a:solidFill>
            <a:prstDash val="solid"/>
          </a:ln>
        </p:spPr>
      </p:sp>
      <p:sp>
        <p:nvSpPr>
          <p:cNvPr id="213" name="Text 211"/>
          <p:cNvSpPr txBox="1"/>
          <p:nvPr/>
        </p:nvSpPr>
        <p:spPr>
          <a:xfrm>
            <a:off x="9629931" y="4158562"/>
            <a:ext cx="110134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35</a:t>
            </a:r>
            <a:endParaRPr lang="en-US" sz="1300" dirty="0"/>
          </a:p>
        </p:txBody>
      </p:sp>
      <p:sp>
        <p:nvSpPr>
          <p:cNvPr id="214" name="Shape 212"/>
          <p:cNvSpPr/>
          <p:nvPr/>
        </p:nvSpPr>
        <p:spPr>
          <a:xfrm>
            <a:off x="10731273" y="4158562"/>
            <a:ext cx="781023" cy="174962"/>
          </a:xfrm>
          <a:prstGeom prst="rect">
            <a:avLst/>
          </a:prstGeom>
          <a:solidFill>
            <a:srgbClr val="D9D9D9"/>
          </a:solidFill>
          <a:ln w="6350">
            <a:solidFill>
              <a:srgbClr val="FFFFFF"/>
            </a:solidFill>
            <a:prstDash val="solid"/>
          </a:ln>
        </p:spPr>
      </p:sp>
      <p:sp>
        <p:nvSpPr>
          <p:cNvPr id="215" name="Text 213"/>
          <p:cNvSpPr txBox="1"/>
          <p:nvPr/>
        </p:nvSpPr>
        <p:spPr>
          <a:xfrm>
            <a:off x="10731273" y="4158562"/>
            <a:ext cx="78102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216" name="Text 214"/>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17" name="Shape 215"/>
          <p:cNvSpPr/>
          <p:nvPr/>
        </p:nvSpPr>
        <p:spPr>
          <a:xfrm>
            <a:off x="8357616" y="4388776"/>
            <a:ext cx="1260841" cy="174962"/>
          </a:xfrm>
          <a:prstGeom prst="rect">
            <a:avLst/>
          </a:prstGeom>
          <a:solidFill>
            <a:srgbClr val="2587C5"/>
          </a:solidFill>
          <a:ln w="6350">
            <a:solidFill>
              <a:srgbClr val="FFFFFF"/>
            </a:solidFill>
            <a:prstDash val="solid"/>
          </a:ln>
        </p:spPr>
      </p:sp>
      <p:sp>
        <p:nvSpPr>
          <p:cNvPr id="218" name="Text 216"/>
          <p:cNvSpPr txBox="1"/>
          <p:nvPr/>
        </p:nvSpPr>
        <p:spPr>
          <a:xfrm>
            <a:off x="8357616" y="4388776"/>
            <a:ext cx="12608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219" name="Shape 217"/>
          <p:cNvSpPr/>
          <p:nvPr/>
        </p:nvSpPr>
        <p:spPr>
          <a:xfrm>
            <a:off x="9618457" y="4388776"/>
            <a:ext cx="1210006" cy="174962"/>
          </a:xfrm>
          <a:prstGeom prst="rect">
            <a:avLst/>
          </a:prstGeom>
          <a:solidFill>
            <a:srgbClr val="8FBEE6"/>
          </a:solidFill>
          <a:ln w="6350">
            <a:solidFill>
              <a:srgbClr val="FFFFFF"/>
            </a:solidFill>
            <a:prstDash val="solid"/>
          </a:ln>
        </p:spPr>
      </p:sp>
      <p:sp>
        <p:nvSpPr>
          <p:cNvPr id="220" name="Text 218"/>
          <p:cNvSpPr txBox="1"/>
          <p:nvPr/>
        </p:nvSpPr>
        <p:spPr>
          <a:xfrm>
            <a:off x="9618457" y="4388776"/>
            <a:ext cx="121000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21" name="Shape 219"/>
          <p:cNvSpPr/>
          <p:nvPr/>
        </p:nvSpPr>
        <p:spPr>
          <a:xfrm>
            <a:off x="10828463" y="4388776"/>
            <a:ext cx="683833" cy="174962"/>
          </a:xfrm>
          <a:prstGeom prst="rect">
            <a:avLst/>
          </a:prstGeom>
          <a:solidFill>
            <a:srgbClr val="D9D9D9"/>
          </a:solidFill>
          <a:ln w="6350">
            <a:solidFill>
              <a:srgbClr val="FFFFFF"/>
            </a:solidFill>
            <a:prstDash val="solid"/>
          </a:ln>
        </p:spPr>
      </p:sp>
      <p:sp>
        <p:nvSpPr>
          <p:cNvPr id="222" name="Text 220"/>
          <p:cNvSpPr txBox="1"/>
          <p:nvPr/>
        </p:nvSpPr>
        <p:spPr>
          <a:xfrm>
            <a:off x="10828463" y="4388776"/>
            <a:ext cx="68383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22</a:t>
            </a:r>
            <a:endParaRPr lang="en-US" sz="1300" dirty="0"/>
          </a:p>
        </p:txBody>
      </p:sp>
      <p:sp>
        <p:nvSpPr>
          <p:cNvPr id="223" name="Text 221"/>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4" name="Shape 222"/>
          <p:cNvSpPr/>
          <p:nvPr/>
        </p:nvSpPr>
        <p:spPr>
          <a:xfrm>
            <a:off x="8357616" y="4618989"/>
            <a:ext cx="1237324" cy="174962"/>
          </a:xfrm>
          <a:prstGeom prst="rect">
            <a:avLst/>
          </a:prstGeom>
          <a:solidFill>
            <a:srgbClr val="2587C5"/>
          </a:solidFill>
          <a:ln w="6350">
            <a:solidFill>
              <a:srgbClr val="FFFFFF"/>
            </a:solidFill>
            <a:prstDash val="solid"/>
          </a:ln>
        </p:spPr>
      </p:sp>
      <p:sp>
        <p:nvSpPr>
          <p:cNvPr id="225" name="Text 223"/>
          <p:cNvSpPr txBox="1"/>
          <p:nvPr/>
        </p:nvSpPr>
        <p:spPr>
          <a:xfrm>
            <a:off x="8357616" y="4618989"/>
            <a:ext cx="12373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39</a:t>
            </a:r>
            <a:endParaRPr lang="en-US" sz="1300" dirty="0"/>
          </a:p>
        </p:txBody>
      </p:sp>
      <p:sp>
        <p:nvSpPr>
          <p:cNvPr id="226" name="Shape 224"/>
          <p:cNvSpPr/>
          <p:nvPr/>
        </p:nvSpPr>
        <p:spPr>
          <a:xfrm>
            <a:off x="9594940" y="4618989"/>
            <a:ext cx="995080" cy="174962"/>
          </a:xfrm>
          <a:prstGeom prst="rect">
            <a:avLst/>
          </a:prstGeom>
          <a:solidFill>
            <a:srgbClr val="8FBEE6"/>
          </a:solidFill>
          <a:ln w="6350">
            <a:solidFill>
              <a:srgbClr val="FFFFFF"/>
            </a:solidFill>
            <a:prstDash val="solid"/>
          </a:ln>
        </p:spPr>
      </p:sp>
      <p:sp>
        <p:nvSpPr>
          <p:cNvPr id="227" name="Text 225"/>
          <p:cNvSpPr txBox="1"/>
          <p:nvPr/>
        </p:nvSpPr>
        <p:spPr>
          <a:xfrm>
            <a:off x="9594940" y="4618989"/>
            <a:ext cx="9950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32</a:t>
            </a:r>
            <a:endParaRPr lang="en-US" sz="1300" dirty="0"/>
          </a:p>
        </p:txBody>
      </p:sp>
      <p:sp>
        <p:nvSpPr>
          <p:cNvPr id="228" name="Shape 226"/>
          <p:cNvSpPr/>
          <p:nvPr/>
        </p:nvSpPr>
        <p:spPr>
          <a:xfrm>
            <a:off x="10590020" y="4618989"/>
            <a:ext cx="922276" cy="174962"/>
          </a:xfrm>
          <a:prstGeom prst="rect">
            <a:avLst/>
          </a:prstGeom>
          <a:solidFill>
            <a:srgbClr val="D9D9D9"/>
          </a:solidFill>
          <a:ln w="6350">
            <a:solidFill>
              <a:srgbClr val="FFFFFF"/>
            </a:solidFill>
            <a:prstDash val="solid"/>
          </a:ln>
        </p:spPr>
      </p:sp>
      <p:sp>
        <p:nvSpPr>
          <p:cNvPr id="229" name="Text 227"/>
          <p:cNvSpPr txBox="1"/>
          <p:nvPr/>
        </p:nvSpPr>
        <p:spPr>
          <a:xfrm>
            <a:off x="10590020" y="4618989"/>
            <a:ext cx="92227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30" name="Text 228"/>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31" name="Shape 229"/>
          <p:cNvSpPr/>
          <p:nvPr/>
        </p:nvSpPr>
        <p:spPr>
          <a:xfrm>
            <a:off x="8357616" y="4849203"/>
            <a:ext cx="1075368" cy="174962"/>
          </a:xfrm>
          <a:prstGeom prst="rect">
            <a:avLst/>
          </a:prstGeom>
          <a:solidFill>
            <a:srgbClr val="2587C5"/>
          </a:solidFill>
          <a:ln w="6350">
            <a:solidFill>
              <a:srgbClr val="FFFFFF"/>
            </a:solidFill>
            <a:prstDash val="solid"/>
          </a:ln>
        </p:spPr>
      </p:sp>
      <p:sp>
        <p:nvSpPr>
          <p:cNvPr id="232" name="Text 230"/>
          <p:cNvSpPr txBox="1"/>
          <p:nvPr/>
        </p:nvSpPr>
        <p:spPr>
          <a:xfrm>
            <a:off x="8357616" y="4849203"/>
            <a:ext cx="107536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33" name="Shape 231"/>
          <p:cNvSpPr/>
          <p:nvPr/>
        </p:nvSpPr>
        <p:spPr>
          <a:xfrm>
            <a:off x="9432984" y="4849203"/>
            <a:ext cx="1647182" cy="174962"/>
          </a:xfrm>
          <a:prstGeom prst="rect">
            <a:avLst/>
          </a:prstGeom>
          <a:solidFill>
            <a:srgbClr val="8FBEE6"/>
          </a:solidFill>
          <a:ln w="6350">
            <a:solidFill>
              <a:srgbClr val="FFFFFF"/>
            </a:solidFill>
            <a:prstDash val="solid"/>
          </a:ln>
        </p:spPr>
      </p:sp>
      <p:sp>
        <p:nvSpPr>
          <p:cNvPr id="234" name="Text 232"/>
          <p:cNvSpPr txBox="1"/>
          <p:nvPr/>
        </p:nvSpPr>
        <p:spPr>
          <a:xfrm>
            <a:off x="9432984" y="4849203"/>
            <a:ext cx="164718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35" name="Shape 233"/>
          <p:cNvSpPr/>
          <p:nvPr/>
        </p:nvSpPr>
        <p:spPr>
          <a:xfrm>
            <a:off x="11080165" y="4849203"/>
            <a:ext cx="432131" cy="174962"/>
          </a:xfrm>
          <a:prstGeom prst="rect">
            <a:avLst/>
          </a:prstGeom>
          <a:solidFill>
            <a:srgbClr val="D9D9D9"/>
          </a:solidFill>
          <a:ln w="6350">
            <a:solidFill>
              <a:srgbClr val="FFFFFF"/>
            </a:solidFill>
            <a:prstDash val="solid"/>
          </a:ln>
        </p:spPr>
      </p:sp>
      <p:sp>
        <p:nvSpPr>
          <p:cNvPr id="236" name="Text 234"/>
          <p:cNvSpPr txBox="1"/>
          <p:nvPr/>
        </p:nvSpPr>
        <p:spPr>
          <a:xfrm>
            <a:off x="11080165" y="4849203"/>
            <a:ext cx="43213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237" name="Text 235"/>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38" name="Shape 236"/>
          <p:cNvSpPr/>
          <p:nvPr/>
        </p:nvSpPr>
        <p:spPr>
          <a:xfrm>
            <a:off x="8357616" y="5079417"/>
            <a:ext cx="898846" cy="174962"/>
          </a:xfrm>
          <a:prstGeom prst="rect">
            <a:avLst/>
          </a:prstGeom>
          <a:solidFill>
            <a:srgbClr val="2587C5"/>
          </a:solidFill>
          <a:ln w="6350">
            <a:solidFill>
              <a:srgbClr val="FFFFFF"/>
            </a:solidFill>
            <a:prstDash val="solid"/>
          </a:ln>
        </p:spPr>
      </p:sp>
      <p:sp>
        <p:nvSpPr>
          <p:cNvPr id="239" name="Text 237"/>
          <p:cNvSpPr txBox="1"/>
          <p:nvPr/>
        </p:nvSpPr>
        <p:spPr>
          <a:xfrm>
            <a:off x="8357616" y="5079417"/>
            <a:ext cx="89884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0" name="Shape 238"/>
          <p:cNvSpPr/>
          <p:nvPr/>
        </p:nvSpPr>
        <p:spPr>
          <a:xfrm>
            <a:off x="9256462" y="5079417"/>
            <a:ext cx="1126586" cy="174962"/>
          </a:xfrm>
          <a:prstGeom prst="rect">
            <a:avLst/>
          </a:prstGeom>
          <a:solidFill>
            <a:srgbClr val="8FBEE6"/>
          </a:solidFill>
          <a:ln w="6350">
            <a:solidFill>
              <a:srgbClr val="FFFFFF"/>
            </a:solidFill>
            <a:prstDash val="solid"/>
          </a:ln>
        </p:spPr>
      </p:sp>
      <p:sp>
        <p:nvSpPr>
          <p:cNvPr id="241" name="Text 239"/>
          <p:cNvSpPr txBox="1"/>
          <p:nvPr/>
        </p:nvSpPr>
        <p:spPr>
          <a:xfrm>
            <a:off x="9256462" y="5079417"/>
            <a:ext cx="112658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2" name="Shape 240"/>
          <p:cNvSpPr/>
          <p:nvPr/>
        </p:nvSpPr>
        <p:spPr>
          <a:xfrm>
            <a:off x="10383048" y="5079417"/>
            <a:ext cx="1129248" cy="174962"/>
          </a:xfrm>
          <a:prstGeom prst="rect">
            <a:avLst/>
          </a:prstGeom>
          <a:solidFill>
            <a:srgbClr val="D9D9D9"/>
          </a:solidFill>
          <a:ln w="6350">
            <a:solidFill>
              <a:srgbClr val="FFFFFF"/>
            </a:solidFill>
            <a:prstDash val="solid"/>
          </a:ln>
        </p:spPr>
      </p:sp>
      <p:sp>
        <p:nvSpPr>
          <p:cNvPr id="243" name="Text 241"/>
          <p:cNvSpPr txBox="1"/>
          <p:nvPr/>
        </p:nvSpPr>
        <p:spPr>
          <a:xfrm>
            <a:off x="10383048" y="5079417"/>
            <a:ext cx="112924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36</a:t>
            </a:r>
            <a:endParaRPr lang="en-US" sz="1300" dirty="0"/>
          </a:p>
        </p:txBody>
      </p:sp>
      <p:sp>
        <p:nvSpPr>
          <p:cNvPr id="244" name="Text 242"/>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5" name="Shape 243"/>
          <p:cNvSpPr/>
          <p:nvPr/>
        </p:nvSpPr>
        <p:spPr>
          <a:xfrm>
            <a:off x="8357616" y="5309630"/>
            <a:ext cx="880673" cy="174962"/>
          </a:xfrm>
          <a:prstGeom prst="rect">
            <a:avLst/>
          </a:prstGeom>
          <a:solidFill>
            <a:srgbClr val="2587C5"/>
          </a:solidFill>
          <a:ln w="6350">
            <a:solidFill>
              <a:srgbClr val="FFFFFF"/>
            </a:solidFill>
            <a:prstDash val="solid"/>
          </a:ln>
        </p:spPr>
      </p:sp>
      <p:sp>
        <p:nvSpPr>
          <p:cNvPr id="246" name="Text 244"/>
          <p:cNvSpPr txBox="1"/>
          <p:nvPr/>
        </p:nvSpPr>
        <p:spPr>
          <a:xfrm>
            <a:off x="8357616" y="5309630"/>
            <a:ext cx="88067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28</a:t>
            </a:r>
            <a:endParaRPr lang="en-US" sz="1300" dirty="0"/>
          </a:p>
        </p:txBody>
      </p:sp>
      <p:sp>
        <p:nvSpPr>
          <p:cNvPr id="247" name="Shape 245"/>
          <p:cNvSpPr/>
          <p:nvPr/>
        </p:nvSpPr>
        <p:spPr>
          <a:xfrm>
            <a:off x="9238289" y="5309630"/>
            <a:ext cx="1619914" cy="174962"/>
          </a:xfrm>
          <a:prstGeom prst="rect">
            <a:avLst/>
          </a:prstGeom>
          <a:solidFill>
            <a:srgbClr val="8FBEE6"/>
          </a:solidFill>
          <a:ln w="6350">
            <a:solidFill>
              <a:srgbClr val="FFFFFF"/>
            </a:solidFill>
            <a:prstDash val="solid"/>
          </a:ln>
        </p:spPr>
      </p:sp>
      <p:sp>
        <p:nvSpPr>
          <p:cNvPr id="248" name="Text 246"/>
          <p:cNvSpPr txBox="1"/>
          <p:nvPr/>
        </p:nvSpPr>
        <p:spPr>
          <a:xfrm>
            <a:off x="9238289" y="5309630"/>
            <a:ext cx="161991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51</a:t>
            </a:r>
            <a:endParaRPr lang="en-US" sz="1300" dirty="0"/>
          </a:p>
        </p:txBody>
      </p:sp>
      <p:sp>
        <p:nvSpPr>
          <p:cNvPr id="249" name="Shape 247"/>
          <p:cNvSpPr/>
          <p:nvPr/>
        </p:nvSpPr>
        <p:spPr>
          <a:xfrm>
            <a:off x="10858202" y="5309630"/>
            <a:ext cx="654094" cy="174962"/>
          </a:xfrm>
          <a:prstGeom prst="rect">
            <a:avLst/>
          </a:prstGeom>
          <a:solidFill>
            <a:srgbClr val="D9D9D9"/>
          </a:solidFill>
          <a:ln w="6350">
            <a:solidFill>
              <a:srgbClr val="FFFFFF"/>
            </a:solidFill>
            <a:prstDash val="solid"/>
          </a:ln>
        </p:spPr>
      </p:sp>
      <p:sp>
        <p:nvSpPr>
          <p:cNvPr id="250" name="Text 248"/>
          <p:cNvSpPr txBox="1"/>
          <p:nvPr/>
        </p:nvSpPr>
        <p:spPr>
          <a:xfrm>
            <a:off x="10858202" y="5309630"/>
            <a:ext cx="65409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21</a:t>
            </a:r>
            <a:endParaRPr lang="en-US" sz="1300" dirty="0"/>
          </a:p>
        </p:txBody>
      </p:sp>
      <p:sp>
        <p:nvSpPr>
          <p:cNvPr id="251" name="Shape 249"/>
          <p:cNvSpPr/>
          <p:nvPr/>
        </p:nvSpPr>
        <p:spPr>
          <a:xfrm>
            <a:off x="457200" y="5961888"/>
            <a:ext cx="11274552" cy="548640"/>
          </a:xfrm>
          <a:prstGeom prst="rect">
            <a:avLst/>
          </a:prstGeom>
          <a:solidFill>
            <a:srgbClr val="EDF4FA"/>
          </a:solidFill>
          <a:ln/>
        </p:spPr>
      </p:sp>
      <p:sp>
        <p:nvSpPr>
          <p:cNvPr id="252" name="Text 25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Customer pay is 52.5% of labor sale (52.8% in 2025), warranty 23.8%, internal 23.7%. HONDA SPOKANE is most customer-pay at 70.3%.</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52.8%</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52.5%</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−0.3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−0.5%</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0.3 pts to 52.5%, behind 2025 in five of nine months. Warranty labor rose 8.8%, internal rose 5.8%.</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 Pay Share of Labor Sale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−0.3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5" name="Shape 13"/>
          <p:cNvSpPr/>
          <p:nvPr/>
        </p:nvSpPr>
        <p:spPr>
          <a:xfrm>
            <a:off x="3813048" y="2139459"/>
            <a:ext cx="74310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+9.7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8" name="Shape 16"/>
          <p:cNvSpPr/>
          <p:nvPr/>
        </p:nvSpPr>
        <p:spPr>
          <a:xfrm>
            <a:off x="3813048" y="2369673"/>
            <a:ext cx="727894"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70706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4" name="Shape 22"/>
          <p:cNvSpPr/>
          <p:nvPr/>
        </p:nvSpPr>
        <p:spPr>
          <a:xfrm>
            <a:off x="3813048" y="2830100"/>
            <a:ext cx="680568"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7" name="Shape 25"/>
          <p:cNvSpPr/>
          <p:nvPr/>
        </p:nvSpPr>
        <p:spPr>
          <a:xfrm>
            <a:off x="3813048" y="3060314"/>
            <a:ext cx="48489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0" name="Shape 28"/>
          <p:cNvSpPr/>
          <p:nvPr/>
        </p:nvSpPr>
        <p:spPr>
          <a:xfrm>
            <a:off x="3813048" y="3290528"/>
            <a:ext cx="40859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3" name="Shape 31"/>
          <p:cNvSpPr/>
          <p:nvPr/>
        </p:nvSpPr>
        <p:spPr>
          <a:xfrm>
            <a:off x="3813048" y="3520741"/>
            <a:ext cx="33001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32358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9" name="Shape 37"/>
          <p:cNvSpPr/>
          <p:nvPr/>
        </p:nvSpPr>
        <p:spPr>
          <a:xfrm>
            <a:off x="3813048" y="3981169"/>
            <a:ext cx="300859"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2" name="Shape 40"/>
          <p:cNvSpPr/>
          <p:nvPr/>
        </p:nvSpPr>
        <p:spPr>
          <a:xfrm>
            <a:off x="3813048" y="4211382"/>
            <a:ext cx="245187"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3813048" y="4441596"/>
            <a:ext cx="19267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8" name="Shape 46"/>
          <p:cNvSpPr/>
          <p:nvPr/>
        </p:nvSpPr>
        <p:spPr>
          <a:xfrm>
            <a:off x="3813048" y="4671809"/>
            <a:ext cx="18567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Shape 49"/>
          <p:cNvSpPr/>
          <p:nvPr/>
        </p:nvSpPr>
        <p:spPr>
          <a:xfrm>
            <a:off x="3813048" y="4902023"/>
            <a:ext cx="9749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4" name="Shape 52"/>
          <p:cNvSpPr/>
          <p:nvPr/>
        </p:nvSpPr>
        <p:spPr>
          <a:xfrm>
            <a:off x="3813048" y="5132237"/>
            <a:ext cx="7843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3813048" y="5362450"/>
            <a:ext cx="5756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0" name="Shape 58"/>
          <p:cNvSpPr/>
          <p:nvPr/>
        </p:nvSpPr>
        <p:spPr>
          <a:xfrm>
            <a:off x="3813048" y="5592664"/>
            <a:ext cx="1760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12802"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9" name="Shape 67"/>
          <p:cNvSpPr/>
          <p:nvPr/>
        </p:nvSpPr>
        <p:spPr>
          <a:xfrm>
            <a:off x="9358424" y="2369673"/>
            <a:ext cx="12802"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44965" y="2599887"/>
            <a:ext cx="18491"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9338492" y="2830100"/>
            <a:ext cx="24964"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8" name="Shape 76"/>
          <p:cNvSpPr/>
          <p:nvPr/>
        </p:nvSpPr>
        <p:spPr>
          <a:xfrm>
            <a:off x="9277829" y="3060314"/>
            <a:ext cx="8562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9261030" y="3290528"/>
            <a:ext cx="102426"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255627" y="3520741"/>
            <a:ext cx="10782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7" name="Shape 85"/>
          <p:cNvSpPr/>
          <p:nvPr/>
        </p:nvSpPr>
        <p:spPr>
          <a:xfrm>
            <a:off x="9187462" y="3750955"/>
            <a:ext cx="175994"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0" name="Shape 88"/>
          <p:cNvSpPr/>
          <p:nvPr/>
        </p:nvSpPr>
        <p:spPr>
          <a:xfrm>
            <a:off x="9105500" y="3981169"/>
            <a:ext cx="257956"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3" name="Shape 91"/>
          <p:cNvSpPr/>
          <p:nvPr/>
        </p:nvSpPr>
        <p:spPr>
          <a:xfrm>
            <a:off x="9068378" y="4211382"/>
            <a:ext cx="29507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6" name="Shape 94"/>
          <p:cNvSpPr/>
          <p:nvPr/>
        </p:nvSpPr>
        <p:spPr>
          <a:xfrm>
            <a:off x="9053926" y="4441596"/>
            <a:ext cx="30953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9" name="Shape 97"/>
          <p:cNvSpPr/>
          <p:nvPr/>
        </p:nvSpPr>
        <p:spPr>
          <a:xfrm>
            <a:off x="8926934" y="4671809"/>
            <a:ext cx="43652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02" name="Shape 100"/>
          <p:cNvSpPr/>
          <p:nvPr/>
        </p:nvSpPr>
        <p:spPr>
          <a:xfrm>
            <a:off x="8868807" y="4902023"/>
            <a:ext cx="494649"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5" name="Shape 103"/>
          <p:cNvSpPr/>
          <p:nvPr/>
        </p:nvSpPr>
        <p:spPr>
          <a:xfrm>
            <a:off x="8841528" y="5132237"/>
            <a:ext cx="521928"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745761" y="5362450"/>
            <a:ext cx="61769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−8.1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19 of 33 stores raised customer-pay share, led by MAZDA at +10.8 pts to 56.6%. 14 declined; LR RENO fell most at −8.1 pts.</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Customer-Pay Labor by Work Type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71600"/>
            <a:ext cx="201168" cy="201168"/>
          </a:xfrm>
          <a:prstGeom prst="rect">
            <a:avLst/>
          </a:prstGeom>
          <a:solidFill>
            <a:srgbClr val="2587C5"/>
          </a:solidFill>
          <a:ln/>
        </p:spPr>
      </p:sp>
      <p:sp>
        <p:nvSpPr>
          <p:cNvPr id="7" name="Text 5"/>
          <p:cNvSpPr txBox="1"/>
          <p:nvPr/>
        </p:nvSpPr>
        <p:spPr>
          <a:xfrm>
            <a:off x="93268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Maintenance %</a:t>
            </a:r>
            <a:endParaRPr lang="en-US" sz="1400" dirty="0"/>
          </a:p>
        </p:txBody>
      </p:sp>
      <p:sp>
        <p:nvSpPr>
          <p:cNvPr id="8" name="Shape 6"/>
          <p:cNvSpPr/>
          <p:nvPr/>
        </p:nvSpPr>
        <p:spPr>
          <a:xfrm>
            <a:off x="2624328" y="1371600"/>
            <a:ext cx="201168" cy="201168"/>
          </a:xfrm>
          <a:prstGeom prst="rect">
            <a:avLst/>
          </a:prstGeom>
          <a:solidFill>
            <a:srgbClr val="0B2C4A"/>
          </a:solidFill>
          <a:ln/>
        </p:spPr>
      </p:sp>
      <p:sp>
        <p:nvSpPr>
          <p:cNvPr id="9" name="Text 7"/>
          <p:cNvSpPr txBox="1"/>
          <p:nvPr/>
        </p:nvSpPr>
        <p:spPr>
          <a:xfrm>
            <a:off x="289864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Repair %</a:t>
            </a:r>
            <a:endParaRPr lang="en-US" sz="1400" dirty="0"/>
          </a:p>
        </p:txBody>
      </p:sp>
      <p:sp>
        <p:nvSpPr>
          <p:cNvPr id="10" name="Shape 8"/>
          <p:cNvSpPr/>
          <p:nvPr/>
        </p:nvSpPr>
        <p:spPr>
          <a:xfrm>
            <a:off x="4590288" y="1371600"/>
            <a:ext cx="201168" cy="201168"/>
          </a:xfrm>
          <a:prstGeom prst="rect">
            <a:avLst/>
          </a:prstGeom>
          <a:solidFill>
            <a:srgbClr val="D9D9D9"/>
          </a:solidFill>
          <a:ln/>
        </p:spPr>
      </p:sp>
      <p:sp>
        <p:nvSpPr>
          <p:cNvPr id="11" name="Text 9"/>
          <p:cNvSpPr txBox="1"/>
          <p:nvPr/>
        </p:nvSpPr>
        <p:spPr>
          <a:xfrm>
            <a:off x="4864608" y="1298448"/>
            <a:ext cx="1691640" cy="347472"/>
          </a:xfrm>
          <a:prstGeom prst="rect">
            <a:avLst/>
          </a:prstGeom>
          <a:noFill/>
          <a:ln/>
        </p:spPr>
        <p:txBody>
          <a:bodyPr wrap="square" lIns="0" tIns="0" rIns="0" bIns="0" rtlCol="0" anchor="ctr"/>
          <a:lstStyle/>
          <a:p>
            <a:pPr indent="0" marL="0">
              <a:buNone/>
            </a:pPr>
            <a:r>
              <a:rPr lang="en-US" sz="1400" dirty="0">
                <a:solidFill>
                  <a:srgbClr val="1A1A1A"/>
                </a:solidFill>
                <a:latin typeface="Inter" pitchFamily="34" charset="0"/>
                <a:ea typeface="Inter" pitchFamily="34" charset="-122"/>
                <a:cs typeface="Inter" pitchFamily="34" charset="-120"/>
              </a:rPr>
              <a:t>Unclassified %</a:t>
            </a:r>
            <a:endParaRPr lang="en-US" sz="1400" dirty="0"/>
          </a:p>
        </p:txBody>
      </p:sp>
      <p:sp>
        <p:nvSpPr>
          <p:cNvPr id="12" name="Shape 10"/>
          <p:cNvSpPr/>
          <p:nvPr/>
        </p:nvSpPr>
        <p:spPr>
          <a:xfrm>
            <a:off x="6675120" y="1298448"/>
            <a:ext cx="4855464" cy="384048"/>
          </a:xfrm>
          <a:prstGeom prst="rect">
            <a:avLst/>
          </a:prstGeom>
          <a:solidFill>
            <a:srgbClr val="EDF4FA"/>
          </a:solidFill>
          <a:ln/>
        </p:spPr>
      </p:sp>
      <p:sp>
        <p:nvSpPr>
          <p:cNvPr id="13" name="Text 11"/>
          <p:cNvSpPr txBox="1"/>
          <p:nvPr/>
        </p:nvSpPr>
        <p:spPr>
          <a:xfrm>
            <a:off x="6766560" y="1298448"/>
            <a:ext cx="914400" cy="384048"/>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14" name="Shape 12"/>
          <p:cNvSpPr/>
          <p:nvPr/>
        </p:nvSpPr>
        <p:spPr>
          <a:xfrm>
            <a:off x="7726680" y="1344168"/>
            <a:ext cx="2014951" cy="292608"/>
          </a:xfrm>
          <a:prstGeom prst="rect">
            <a:avLst/>
          </a:prstGeom>
          <a:solidFill>
            <a:srgbClr val="2587C5"/>
          </a:solidFill>
          <a:ln w="6350">
            <a:solidFill>
              <a:srgbClr val="FFFFFF"/>
            </a:solidFill>
            <a:prstDash val="solid"/>
          </a:ln>
        </p:spPr>
      </p:sp>
      <p:sp>
        <p:nvSpPr>
          <p:cNvPr id="15" name="Text 13"/>
          <p:cNvSpPr txBox="1"/>
          <p:nvPr/>
        </p:nvSpPr>
        <p:spPr>
          <a:xfrm>
            <a:off x="7726680" y="1344168"/>
            <a:ext cx="2014951"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54</a:t>
            </a:r>
            <a:endParaRPr lang="en-US" sz="1400" dirty="0"/>
          </a:p>
        </p:txBody>
      </p:sp>
      <p:sp>
        <p:nvSpPr>
          <p:cNvPr id="16" name="Shape 14"/>
          <p:cNvSpPr/>
          <p:nvPr/>
        </p:nvSpPr>
        <p:spPr>
          <a:xfrm>
            <a:off x="9741631" y="1344168"/>
            <a:ext cx="1133995" cy="292608"/>
          </a:xfrm>
          <a:prstGeom prst="rect">
            <a:avLst/>
          </a:prstGeom>
          <a:solidFill>
            <a:srgbClr val="0B2C4A"/>
          </a:solidFill>
          <a:ln w="6350">
            <a:solidFill>
              <a:srgbClr val="FFFFFF"/>
            </a:solidFill>
            <a:prstDash val="solid"/>
          </a:ln>
        </p:spPr>
      </p:sp>
      <p:sp>
        <p:nvSpPr>
          <p:cNvPr id="17" name="Text 15"/>
          <p:cNvSpPr txBox="1"/>
          <p:nvPr/>
        </p:nvSpPr>
        <p:spPr>
          <a:xfrm>
            <a:off x="9741631" y="1344168"/>
            <a:ext cx="1133995" cy="292608"/>
          </a:xfrm>
          <a:prstGeom prst="rect">
            <a:avLst/>
          </a:prstGeom>
          <a:noFill/>
          <a:ln/>
        </p:spPr>
        <p:txBody>
          <a:bodyPr wrap="non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31</a:t>
            </a:r>
            <a:endParaRPr lang="en-US" sz="1400" dirty="0"/>
          </a:p>
        </p:txBody>
      </p:sp>
      <p:sp>
        <p:nvSpPr>
          <p:cNvPr id="18" name="Shape 16"/>
          <p:cNvSpPr/>
          <p:nvPr/>
        </p:nvSpPr>
        <p:spPr>
          <a:xfrm>
            <a:off x="10875626" y="1344168"/>
            <a:ext cx="563518" cy="292608"/>
          </a:xfrm>
          <a:prstGeom prst="rect">
            <a:avLst/>
          </a:prstGeom>
          <a:solidFill>
            <a:srgbClr val="D9D9D9"/>
          </a:solidFill>
          <a:ln w="6350">
            <a:solidFill>
              <a:srgbClr val="FFFFFF"/>
            </a:solidFill>
            <a:prstDash val="solid"/>
          </a:ln>
        </p:spPr>
      </p:sp>
      <p:sp>
        <p:nvSpPr>
          <p:cNvPr id="19" name="Text 17"/>
          <p:cNvSpPr txBox="1"/>
          <p:nvPr/>
        </p:nvSpPr>
        <p:spPr>
          <a:xfrm>
            <a:off x="10875626" y="1344168"/>
            <a:ext cx="563518" cy="292608"/>
          </a:xfrm>
          <a:prstGeom prst="rect">
            <a:avLst/>
          </a:prstGeom>
          <a:noFill/>
          <a:ln/>
        </p:spPr>
        <p:txBody>
          <a:bodyPr wrap="none" lIns="0" tIns="0" rIns="0" bIns="0" rtlCol="0" anchor="ctr"/>
          <a:lstStyle/>
          <a:p>
            <a:pPr algn="ctr" indent="0" marL="0">
              <a:buNone/>
            </a:pPr>
            <a:r>
              <a:rPr lang="en-US" sz="1400" b="1" dirty="0">
                <a:solidFill>
                  <a:srgbClr val="1A1A1A"/>
                </a:solidFill>
                <a:latin typeface="Inter" pitchFamily="34" charset="0"/>
                <a:ea typeface="Inter" pitchFamily="34" charset="-122"/>
                <a:cs typeface="Inter" pitchFamily="34" charset="-120"/>
              </a:rPr>
              <a:t>15</a:t>
            </a:r>
            <a:endParaRPr lang="en-US" sz="1400" dirty="0"/>
          </a:p>
        </p:txBody>
      </p:sp>
      <p:sp>
        <p:nvSpPr>
          <p:cNvPr id="20" name="Text 18"/>
          <p:cNvSpPr txBox="1"/>
          <p:nvPr/>
        </p:nvSpPr>
        <p:spPr>
          <a:xfrm>
            <a:off x="658368"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1" name="Shape 19"/>
          <p:cNvSpPr/>
          <p:nvPr/>
        </p:nvSpPr>
        <p:spPr>
          <a:xfrm>
            <a:off x="2807208" y="1856426"/>
            <a:ext cx="2245237" cy="174962"/>
          </a:xfrm>
          <a:prstGeom prst="rect">
            <a:avLst/>
          </a:prstGeom>
          <a:solidFill>
            <a:srgbClr val="2587C5"/>
          </a:solidFill>
          <a:ln w="6350">
            <a:solidFill>
              <a:srgbClr val="FFFFFF"/>
            </a:solidFill>
            <a:prstDash val="solid"/>
          </a:ln>
        </p:spPr>
      </p:sp>
      <p:sp>
        <p:nvSpPr>
          <p:cNvPr id="22" name="Text 20"/>
          <p:cNvSpPr txBox="1"/>
          <p:nvPr/>
        </p:nvSpPr>
        <p:spPr>
          <a:xfrm>
            <a:off x="2807208" y="1856426"/>
            <a:ext cx="224523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71</a:t>
            </a:r>
            <a:endParaRPr lang="en-US" sz="1300" dirty="0"/>
          </a:p>
        </p:txBody>
      </p:sp>
      <p:sp>
        <p:nvSpPr>
          <p:cNvPr id="23" name="Shape 21"/>
          <p:cNvSpPr/>
          <p:nvPr/>
        </p:nvSpPr>
        <p:spPr>
          <a:xfrm>
            <a:off x="5052445" y="1856426"/>
            <a:ext cx="776580" cy="174962"/>
          </a:xfrm>
          <a:prstGeom prst="rect">
            <a:avLst/>
          </a:prstGeom>
          <a:solidFill>
            <a:srgbClr val="0B2C4A"/>
          </a:solidFill>
          <a:ln w="6350">
            <a:solidFill>
              <a:srgbClr val="FFFFFF"/>
            </a:solidFill>
            <a:prstDash val="solid"/>
          </a:ln>
        </p:spPr>
      </p:sp>
      <p:sp>
        <p:nvSpPr>
          <p:cNvPr id="24" name="Text 22"/>
          <p:cNvSpPr txBox="1"/>
          <p:nvPr/>
        </p:nvSpPr>
        <p:spPr>
          <a:xfrm>
            <a:off x="5052445" y="1856426"/>
            <a:ext cx="7765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25" name="Shape 23"/>
          <p:cNvSpPr/>
          <p:nvPr/>
        </p:nvSpPr>
        <p:spPr>
          <a:xfrm>
            <a:off x="5829025" y="1856426"/>
            <a:ext cx="132863" cy="174962"/>
          </a:xfrm>
          <a:prstGeom prst="rect">
            <a:avLst/>
          </a:prstGeom>
          <a:solidFill>
            <a:srgbClr val="D9D9D9"/>
          </a:solidFill>
          <a:ln w="6350">
            <a:solidFill>
              <a:srgbClr val="FFFFFF"/>
            </a:solidFill>
            <a:prstDash val="solid"/>
          </a:ln>
        </p:spPr>
      </p:sp>
      <p:sp>
        <p:nvSpPr>
          <p:cNvPr id="26" name="Text 24"/>
          <p:cNvSpPr txBox="1"/>
          <p:nvPr/>
        </p:nvSpPr>
        <p:spPr>
          <a:xfrm>
            <a:off x="658368"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7" name="Shape 25"/>
          <p:cNvSpPr/>
          <p:nvPr/>
        </p:nvSpPr>
        <p:spPr>
          <a:xfrm>
            <a:off x="2807208" y="2086639"/>
            <a:ext cx="2188220" cy="174962"/>
          </a:xfrm>
          <a:prstGeom prst="rect">
            <a:avLst/>
          </a:prstGeom>
          <a:solidFill>
            <a:srgbClr val="2587C5"/>
          </a:solidFill>
          <a:ln w="6350">
            <a:solidFill>
              <a:srgbClr val="FFFFFF"/>
            </a:solidFill>
            <a:prstDash val="solid"/>
          </a:ln>
        </p:spPr>
      </p:sp>
      <p:sp>
        <p:nvSpPr>
          <p:cNvPr id="28" name="Text 26"/>
          <p:cNvSpPr txBox="1"/>
          <p:nvPr/>
        </p:nvSpPr>
        <p:spPr>
          <a:xfrm>
            <a:off x="2807208" y="2086639"/>
            <a:ext cx="218822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69</a:t>
            </a:r>
            <a:endParaRPr lang="en-US" sz="1300" dirty="0"/>
          </a:p>
        </p:txBody>
      </p:sp>
      <p:sp>
        <p:nvSpPr>
          <p:cNvPr id="29" name="Shape 27"/>
          <p:cNvSpPr/>
          <p:nvPr/>
        </p:nvSpPr>
        <p:spPr>
          <a:xfrm>
            <a:off x="4995428" y="2086639"/>
            <a:ext cx="790580" cy="174962"/>
          </a:xfrm>
          <a:prstGeom prst="rect">
            <a:avLst/>
          </a:prstGeom>
          <a:solidFill>
            <a:srgbClr val="0B2C4A"/>
          </a:solidFill>
          <a:ln w="6350">
            <a:solidFill>
              <a:srgbClr val="FFFFFF"/>
            </a:solidFill>
            <a:prstDash val="solid"/>
          </a:ln>
        </p:spPr>
      </p:sp>
      <p:sp>
        <p:nvSpPr>
          <p:cNvPr id="30" name="Text 28"/>
          <p:cNvSpPr txBox="1"/>
          <p:nvPr/>
        </p:nvSpPr>
        <p:spPr>
          <a:xfrm>
            <a:off x="4995428" y="2086639"/>
            <a:ext cx="79058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1" name="Shape 29"/>
          <p:cNvSpPr/>
          <p:nvPr/>
        </p:nvSpPr>
        <p:spPr>
          <a:xfrm>
            <a:off x="5786008" y="2086639"/>
            <a:ext cx="175880" cy="174962"/>
          </a:xfrm>
          <a:prstGeom prst="rect">
            <a:avLst/>
          </a:prstGeom>
          <a:solidFill>
            <a:srgbClr val="D9D9D9"/>
          </a:solidFill>
          <a:ln w="6350">
            <a:solidFill>
              <a:srgbClr val="FFFFFF"/>
            </a:solidFill>
            <a:prstDash val="solid"/>
          </a:ln>
        </p:spPr>
      </p:sp>
      <p:sp>
        <p:nvSpPr>
          <p:cNvPr id="32" name="Text 30"/>
          <p:cNvSpPr txBox="1"/>
          <p:nvPr/>
        </p:nvSpPr>
        <p:spPr>
          <a:xfrm>
            <a:off x="5786008" y="2086639"/>
            <a:ext cx="1758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6</a:t>
            </a:r>
            <a:endParaRPr lang="en-US" sz="1300" dirty="0"/>
          </a:p>
        </p:txBody>
      </p:sp>
      <p:sp>
        <p:nvSpPr>
          <p:cNvPr id="33" name="Text 31"/>
          <p:cNvSpPr txBox="1"/>
          <p:nvPr/>
        </p:nvSpPr>
        <p:spPr>
          <a:xfrm>
            <a:off x="658368"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4" name="Shape 32"/>
          <p:cNvSpPr/>
          <p:nvPr/>
        </p:nvSpPr>
        <p:spPr>
          <a:xfrm>
            <a:off x="2807208" y="2316853"/>
            <a:ext cx="2144224" cy="174962"/>
          </a:xfrm>
          <a:prstGeom prst="rect">
            <a:avLst/>
          </a:prstGeom>
          <a:solidFill>
            <a:srgbClr val="2587C5"/>
          </a:solidFill>
          <a:ln w="6350">
            <a:solidFill>
              <a:srgbClr val="FFFFFF"/>
            </a:solidFill>
            <a:prstDash val="solid"/>
          </a:ln>
        </p:spPr>
      </p:sp>
      <p:sp>
        <p:nvSpPr>
          <p:cNvPr id="35" name="Text 33"/>
          <p:cNvSpPr txBox="1"/>
          <p:nvPr/>
        </p:nvSpPr>
        <p:spPr>
          <a:xfrm>
            <a:off x="2807208" y="2316853"/>
            <a:ext cx="214422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68</a:t>
            </a:r>
            <a:endParaRPr lang="en-US" sz="1300" dirty="0"/>
          </a:p>
        </p:txBody>
      </p:sp>
      <p:sp>
        <p:nvSpPr>
          <p:cNvPr id="36" name="Shape 34"/>
          <p:cNvSpPr/>
          <p:nvPr/>
        </p:nvSpPr>
        <p:spPr>
          <a:xfrm>
            <a:off x="4951432" y="2316853"/>
            <a:ext cx="778558" cy="174962"/>
          </a:xfrm>
          <a:prstGeom prst="rect">
            <a:avLst/>
          </a:prstGeom>
          <a:solidFill>
            <a:srgbClr val="0B2C4A"/>
          </a:solidFill>
          <a:ln w="6350">
            <a:solidFill>
              <a:srgbClr val="FFFFFF"/>
            </a:solidFill>
            <a:prstDash val="solid"/>
          </a:ln>
        </p:spPr>
      </p:sp>
      <p:sp>
        <p:nvSpPr>
          <p:cNvPr id="37" name="Text 35"/>
          <p:cNvSpPr txBox="1"/>
          <p:nvPr/>
        </p:nvSpPr>
        <p:spPr>
          <a:xfrm>
            <a:off x="4951432" y="2316853"/>
            <a:ext cx="77855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25</a:t>
            </a:r>
            <a:endParaRPr lang="en-US" sz="1300" dirty="0"/>
          </a:p>
        </p:txBody>
      </p:sp>
      <p:sp>
        <p:nvSpPr>
          <p:cNvPr id="38" name="Shape 36"/>
          <p:cNvSpPr/>
          <p:nvPr/>
        </p:nvSpPr>
        <p:spPr>
          <a:xfrm>
            <a:off x="5729990" y="2316853"/>
            <a:ext cx="231898" cy="174962"/>
          </a:xfrm>
          <a:prstGeom prst="rect">
            <a:avLst/>
          </a:prstGeom>
          <a:solidFill>
            <a:srgbClr val="D9D9D9"/>
          </a:solidFill>
          <a:ln w="6350">
            <a:solidFill>
              <a:srgbClr val="FFFFFF"/>
            </a:solidFill>
            <a:prstDash val="solid"/>
          </a:ln>
        </p:spPr>
      </p:sp>
      <p:sp>
        <p:nvSpPr>
          <p:cNvPr id="39" name="Text 37"/>
          <p:cNvSpPr txBox="1"/>
          <p:nvPr/>
        </p:nvSpPr>
        <p:spPr>
          <a:xfrm>
            <a:off x="5729990" y="2316853"/>
            <a:ext cx="23189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7</a:t>
            </a:r>
            <a:endParaRPr lang="en-US" sz="1300" dirty="0"/>
          </a:p>
        </p:txBody>
      </p:sp>
      <p:sp>
        <p:nvSpPr>
          <p:cNvPr id="40" name="Text 38"/>
          <p:cNvSpPr txBox="1"/>
          <p:nvPr/>
        </p:nvSpPr>
        <p:spPr>
          <a:xfrm>
            <a:off x="658368"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1" name="Shape 39"/>
          <p:cNvSpPr/>
          <p:nvPr/>
        </p:nvSpPr>
        <p:spPr>
          <a:xfrm>
            <a:off x="2807208" y="2547067"/>
            <a:ext cx="2115794" cy="174962"/>
          </a:xfrm>
          <a:prstGeom prst="rect">
            <a:avLst/>
          </a:prstGeom>
          <a:solidFill>
            <a:srgbClr val="2587C5"/>
          </a:solidFill>
          <a:ln w="6350">
            <a:solidFill>
              <a:srgbClr val="FFFFFF"/>
            </a:solidFill>
            <a:prstDash val="solid"/>
          </a:ln>
        </p:spPr>
      </p:sp>
      <p:sp>
        <p:nvSpPr>
          <p:cNvPr id="42" name="Text 40"/>
          <p:cNvSpPr txBox="1"/>
          <p:nvPr/>
        </p:nvSpPr>
        <p:spPr>
          <a:xfrm>
            <a:off x="2807208" y="2547067"/>
            <a:ext cx="21157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67</a:t>
            </a:r>
            <a:endParaRPr lang="en-US" sz="1300" dirty="0"/>
          </a:p>
        </p:txBody>
      </p:sp>
      <p:sp>
        <p:nvSpPr>
          <p:cNvPr id="43" name="Shape 41"/>
          <p:cNvSpPr/>
          <p:nvPr/>
        </p:nvSpPr>
        <p:spPr>
          <a:xfrm>
            <a:off x="4923002" y="2547067"/>
            <a:ext cx="695501" cy="174962"/>
          </a:xfrm>
          <a:prstGeom prst="rect">
            <a:avLst/>
          </a:prstGeom>
          <a:solidFill>
            <a:srgbClr val="0B2C4A"/>
          </a:solidFill>
          <a:ln w="6350">
            <a:solidFill>
              <a:srgbClr val="FFFFFF"/>
            </a:solidFill>
            <a:prstDash val="solid"/>
          </a:ln>
        </p:spPr>
      </p:sp>
      <p:sp>
        <p:nvSpPr>
          <p:cNvPr id="44" name="Text 42"/>
          <p:cNvSpPr txBox="1"/>
          <p:nvPr/>
        </p:nvSpPr>
        <p:spPr>
          <a:xfrm>
            <a:off x="4923002" y="2547067"/>
            <a:ext cx="69550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45" name="Shape 43"/>
          <p:cNvSpPr/>
          <p:nvPr/>
        </p:nvSpPr>
        <p:spPr>
          <a:xfrm>
            <a:off x="5618503" y="2547067"/>
            <a:ext cx="343385" cy="174962"/>
          </a:xfrm>
          <a:prstGeom prst="rect">
            <a:avLst/>
          </a:prstGeom>
          <a:solidFill>
            <a:srgbClr val="D9D9D9"/>
          </a:solidFill>
          <a:ln w="6350">
            <a:solidFill>
              <a:srgbClr val="FFFFFF"/>
            </a:solidFill>
            <a:prstDash val="solid"/>
          </a:ln>
        </p:spPr>
      </p:sp>
      <p:sp>
        <p:nvSpPr>
          <p:cNvPr id="46" name="Text 44"/>
          <p:cNvSpPr txBox="1"/>
          <p:nvPr/>
        </p:nvSpPr>
        <p:spPr>
          <a:xfrm>
            <a:off x="5618503" y="2547067"/>
            <a:ext cx="34338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47" name="Text 45"/>
          <p:cNvSpPr txBox="1"/>
          <p:nvPr/>
        </p:nvSpPr>
        <p:spPr>
          <a:xfrm>
            <a:off x="658368"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8" name="Shape 46"/>
          <p:cNvSpPr/>
          <p:nvPr/>
        </p:nvSpPr>
        <p:spPr>
          <a:xfrm>
            <a:off x="2807208" y="2777280"/>
            <a:ext cx="2095558" cy="174962"/>
          </a:xfrm>
          <a:prstGeom prst="rect">
            <a:avLst/>
          </a:prstGeom>
          <a:solidFill>
            <a:srgbClr val="2587C5"/>
          </a:solidFill>
          <a:ln w="6350">
            <a:solidFill>
              <a:srgbClr val="FFFFFF"/>
            </a:solidFill>
            <a:prstDash val="solid"/>
          </a:ln>
        </p:spPr>
      </p:sp>
      <p:sp>
        <p:nvSpPr>
          <p:cNvPr id="49" name="Text 47"/>
          <p:cNvSpPr txBox="1"/>
          <p:nvPr/>
        </p:nvSpPr>
        <p:spPr>
          <a:xfrm>
            <a:off x="2807208" y="2777280"/>
            <a:ext cx="209555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0" name="Shape 48"/>
          <p:cNvSpPr/>
          <p:nvPr/>
        </p:nvSpPr>
        <p:spPr>
          <a:xfrm>
            <a:off x="4902766" y="2777280"/>
            <a:ext cx="805348" cy="174962"/>
          </a:xfrm>
          <a:prstGeom prst="rect">
            <a:avLst/>
          </a:prstGeom>
          <a:solidFill>
            <a:srgbClr val="0B2C4A"/>
          </a:solidFill>
          <a:ln w="6350">
            <a:solidFill>
              <a:srgbClr val="FFFFFF"/>
            </a:solidFill>
            <a:prstDash val="solid"/>
          </a:ln>
        </p:spPr>
      </p:sp>
      <p:sp>
        <p:nvSpPr>
          <p:cNvPr id="51" name="Text 49"/>
          <p:cNvSpPr txBox="1"/>
          <p:nvPr/>
        </p:nvSpPr>
        <p:spPr>
          <a:xfrm>
            <a:off x="4902766" y="2777280"/>
            <a:ext cx="8053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52" name="Shape 50"/>
          <p:cNvSpPr/>
          <p:nvPr/>
        </p:nvSpPr>
        <p:spPr>
          <a:xfrm>
            <a:off x="5708115" y="2777280"/>
            <a:ext cx="253773" cy="174962"/>
          </a:xfrm>
          <a:prstGeom prst="rect">
            <a:avLst/>
          </a:prstGeom>
          <a:solidFill>
            <a:srgbClr val="D9D9D9"/>
          </a:solidFill>
          <a:ln w="6350">
            <a:solidFill>
              <a:srgbClr val="FFFFFF"/>
            </a:solidFill>
            <a:prstDash val="solid"/>
          </a:ln>
        </p:spPr>
      </p:sp>
      <p:sp>
        <p:nvSpPr>
          <p:cNvPr id="53" name="Text 51"/>
          <p:cNvSpPr txBox="1"/>
          <p:nvPr/>
        </p:nvSpPr>
        <p:spPr>
          <a:xfrm>
            <a:off x="5708115" y="2777280"/>
            <a:ext cx="25377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54" name="Text 52"/>
          <p:cNvSpPr txBox="1"/>
          <p:nvPr/>
        </p:nvSpPr>
        <p:spPr>
          <a:xfrm>
            <a:off x="658368"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5" name="Shape 53"/>
          <p:cNvSpPr/>
          <p:nvPr/>
        </p:nvSpPr>
        <p:spPr>
          <a:xfrm>
            <a:off x="2807208" y="3007494"/>
            <a:ext cx="2079152" cy="174962"/>
          </a:xfrm>
          <a:prstGeom prst="rect">
            <a:avLst/>
          </a:prstGeom>
          <a:solidFill>
            <a:srgbClr val="2587C5"/>
          </a:solidFill>
          <a:ln w="6350">
            <a:solidFill>
              <a:srgbClr val="FFFFFF"/>
            </a:solidFill>
            <a:prstDash val="solid"/>
          </a:ln>
        </p:spPr>
      </p:sp>
      <p:sp>
        <p:nvSpPr>
          <p:cNvPr id="56" name="Text 54"/>
          <p:cNvSpPr txBox="1"/>
          <p:nvPr/>
        </p:nvSpPr>
        <p:spPr>
          <a:xfrm>
            <a:off x="2807208" y="3007494"/>
            <a:ext cx="207915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66</a:t>
            </a:r>
            <a:endParaRPr lang="en-US" sz="1300" dirty="0"/>
          </a:p>
        </p:txBody>
      </p:sp>
      <p:sp>
        <p:nvSpPr>
          <p:cNvPr id="57" name="Shape 55"/>
          <p:cNvSpPr/>
          <p:nvPr/>
        </p:nvSpPr>
        <p:spPr>
          <a:xfrm>
            <a:off x="4886360" y="3007494"/>
            <a:ext cx="929407" cy="174962"/>
          </a:xfrm>
          <a:prstGeom prst="rect">
            <a:avLst/>
          </a:prstGeom>
          <a:solidFill>
            <a:srgbClr val="0B2C4A"/>
          </a:solidFill>
          <a:ln w="6350">
            <a:solidFill>
              <a:srgbClr val="FFFFFF"/>
            </a:solidFill>
            <a:prstDash val="solid"/>
          </a:ln>
        </p:spPr>
      </p:sp>
      <p:sp>
        <p:nvSpPr>
          <p:cNvPr id="58" name="Text 56"/>
          <p:cNvSpPr txBox="1"/>
          <p:nvPr/>
        </p:nvSpPr>
        <p:spPr>
          <a:xfrm>
            <a:off x="4886360" y="3007494"/>
            <a:ext cx="92940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59" name="Shape 57"/>
          <p:cNvSpPr/>
          <p:nvPr/>
        </p:nvSpPr>
        <p:spPr>
          <a:xfrm>
            <a:off x="5815767" y="3007494"/>
            <a:ext cx="146121" cy="174962"/>
          </a:xfrm>
          <a:prstGeom prst="rect">
            <a:avLst/>
          </a:prstGeom>
          <a:solidFill>
            <a:srgbClr val="D9D9D9"/>
          </a:solidFill>
          <a:ln w="6350">
            <a:solidFill>
              <a:srgbClr val="FFFFFF"/>
            </a:solidFill>
            <a:prstDash val="solid"/>
          </a:ln>
        </p:spPr>
      </p:sp>
      <p:sp>
        <p:nvSpPr>
          <p:cNvPr id="60" name="Text 58"/>
          <p:cNvSpPr txBox="1"/>
          <p:nvPr/>
        </p:nvSpPr>
        <p:spPr>
          <a:xfrm>
            <a:off x="658368"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1" name="Shape 59"/>
          <p:cNvSpPr/>
          <p:nvPr/>
        </p:nvSpPr>
        <p:spPr>
          <a:xfrm>
            <a:off x="2807208" y="3237708"/>
            <a:ext cx="2014935" cy="174962"/>
          </a:xfrm>
          <a:prstGeom prst="rect">
            <a:avLst/>
          </a:prstGeom>
          <a:solidFill>
            <a:srgbClr val="2587C5"/>
          </a:solidFill>
          <a:ln w="6350">
            <a:solidFill>
              <a:srgbClr val="FFFFFF"/>
            </a:solidFill>
            <a:prstDash val="solid"/>
          </a:ln>
        </p:spPr>
      </p:sp>
      <p:sp>
        <p:nvSpPr>
          <p:cNvPr id="62" name="Text 60"/>
          <p:cNvSpPr txBox="1"/>
          <p:nvPr/>
        </p:nvSpPr>
        <p:spPr>
          <a:xfrm>
            <a:off x="2807208" y="3237708"/>
            <a:ext cx="20149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64</a:t>
            </a:r>
            <a:endParaRPr lang="en-US" sz="1300" dirty="0"/>
          </a:p>
        </p:txBody>
      </p:sp>
      <p:sp>
        <p:nvSpPr>
          <p:cNvPr id="63" name="Shape 61"/>
          <p:cNvSpPr/>
          <p:nvPr/>
        </p:nvSpPr>
        <p:spPr>
          <a:xfrm>
            <a:off x="4822143" y="3237708"/>
            <a:ext cx="672713" cy="174962"/>
          </a:xfrm>
          <a:prstGeom prst="rect">
            <a:avLst/>
          </a:prstGeom>
          <a:solidFill>
            <a:srgbClr val="0B2C4A"/>
          </a:solidFill>
          <a:ln w="6350">
            <a:solidFill>
              <a:srgbClr val="FFFFFF"/>
            </a:solidFill>
            <a:prstDash val="solid"/>
          </a:ln>
        </p:spPr>
      </p:sp>
      <p:sp>
        <p:nvSpPr>
          <p:cNvPr id="64" name="Text 62"/>
          <p:cNvSpPr txBox="1"/>
          <p:nvPr/>
        </p:nvSpPr>
        <p:spPr>
          <a:xfrm>
            <a:off x="4822143" y="3237708"/>
            <a:ext cx="67271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21</a:t>
            </a:r>
            <a:endParaRPr lang="en-US" sz="1300" dirty="0"/>
          </a:p>
        </p:txBody>
      </p:sp>
      <p:sp>
        <p:nvSpPr>
          <p:cNvPr id="65" name="Shape 63"/>
          <p:cNvSpPr/>
          <p:nvPr/>
        </p:nvSpPr>
        <p:spPr>
          <a:xfrm>
            <a:off x="5494856" y="3237708"/>
            <a:ext cx="467032" cy="174962"/>
          </a:xfrm>
          <a:prstGeom prst="rect">
            <a:avLst/>
          </a:prstGeom>
          <a:solidFill>
            <a:srgbClr val="D9D9D9"/>
          </a:solidFill>
          <a:ln w="6350">
            <a:solidFill>
              <a:srgbClr val="FFFFFF"/>
            </a:solidFill>
            <a:prstDash val="solid"/>
          </a:ln>
        </p:spPr>
      </p:sp>
      <p:sp>
        <p:nvSpPr>
          <p:cNvPr id="66" name="Text 64"/>
          <p:cNvSpPr txBox="1"/>
          <p:nvPr/>
        </p:nvSpPr>
        <p:spPr>
          <a:xfrm>
            <a:off x="5494856" y="3237708"/>
            <a:ext cx="46703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67" name="Text 65"/>
          <p:cNvSpPr txBox="1"/>
          <p:nvPr/>
        </p:nvSpPr>
        <p:spPr>
          <a:xfrm>
            <a:off x="658368"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2807208" y="3467921"/>
            <a:ext cx="1954587" cy="174962"/>
          </a:xfrm>
          <a:prstGeom prst="rect">
            <a:avLst/>
          </a:prstGeom>
          <a:solidFill>
            <a:srgbClr val="2587C5"/>
          </a:solidFill>
          <a:ln w="6350">
            <a:solidFill>
              <a:srgbClr val="FFFFFF"/>
            </a:solidFill>
            <a:prstDash val="solid"/>
          </a:ln>
        </p:spPr>
      </p:sp>
      <p:sp>
        <p:nvSpPr>
          <p:cNvPr id="69" name="Text 67"/>
          <p:cNvSpPr txBox="1"/>
          <p:nvPr/>
        </p:nvSpPr>
        <p:spPr>
          <a:xfrm>
            <a:off x="2807208" y="3467921"/>
            <a:ext cx="195458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0" name="Shape 68"/>
          <p:cNvSpPr/>
          <p:nvPr/>
        </p:nvSpPr>
        <p:spPr>
          <a:xfrm>
            <a:off x="4761795" y="3467921"/>
            <a:ext cx="806939" cy="174962"/>
          </a:xfrm>
          <a:prstGeom prst="rect">
            <a:avLst/>
          </a:prstGeom>
          <a:solidFill>
            <a:srgbClr val="0B2C4A"/>
          </a:solidFill>
          <a:ln w="6350">
            <a:solidFill>
              <a:srgbClr val="FFFFFF"/>
            </a:solidFill>
            <a:prstDash val="solid"/>
          </a:ln>
        </p:spPr>
      </p:sp>
      <p:sp>
        <p:nvSpPr>
          <p:cNvPr id="71" name="Text 69"/>
          <p:cNvSpPr txBox="1"/>
          <p:nvPr/>
        </p:nvSpPr>
        <p:spPr>
          <a:xfrm>
            <a:off x="4761795" y="3467921"/>
            <a:ext cx="80693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72" name="Shape 70"/>
          <p:cNvSpPr/>
          <p:nvPr/>
        </p:nvSpPr>
        <p:spPr>
          <a:xfrm>
            <a:off x="5568734" y="3467921"/>
            <a:ext cx="393154" cy="174962"/>
          </a:xfrm>
          <a:prstGeom prst="rect">
            <a:avLst/>
          </a:prstGeom>
          <a:solidFill>
            <a:srgbClr val="D9D9D9"/>
          </a:solidFill>
          <a:ln w="6350">
            <a:solidFill>
              <a:srgbClr val="FFFFFF"/>
            </a:solidFill>
            <a:prstDash val="solid"/>
          </a:ln>
        </p:spPr>
      </p:sp>
      <p:sp>
        <p:nvSpPr>
          <p:cNvPr id="73" name="Text 71"/>
          <p:cNvSpPr txBox="1"/>
          <p:nvPr/>
        </p:nvSpPr>
        <p:spPr>
          <a:xfrm>
            <a:off x="5568734" y="3467921"/>
            <a:ext cx="39315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12</a:t>
            </a:r>
            <a:endParaRPr lang="en-US" sz="1300" dirty="0"/>
          </a:p>
        </p:txBody>
      </p:sp>
      <p:sp>
        <p:nvSpPr>
          <p:cNvPr id="74" name="Text 72"/>
          <p:cNvSpPr txBox="1"/>
          <p:nvPr/>
        </p:nvSpPr>
        <p:spPr>
          <a:xfrm>
            <a:off x="658368"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2807208" y="3698135"/>
            <a:ext cx="1944038" cy="174962"/>
          </a:xfrm>
          <a:prstGeom prst="rect">
            <a:avLst/>
          </a:prstGeom>
          <a:solidFill>
            <a:srgbClr val="2587C5"/>
          </a:solidFill>
          <a:ln w="6350">
            <a:solidFill>
              <a:srgbClr val="FFFFFF"/>
            </a:solidFill>
            <a:prstDash val="solid"/>
          </a:ln>
        </p:spPr>
      </p:sp>
      <p:sp>
        <p:nvSpPr>
          <p:cNvPr id="76" name="Text 74"/>
          <p:cNvSpPr txBox="1"/>
          <p:nvPr/>
        </p:nvSpPr>
        <p:spPr>
          <a:xfrm>
            <a:off x="2807208" y="3698135"/>
            <a:ext cx="194403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62</a:t>
            </a:r>
            <a:endParaRPr lang="en-US" sz="1300" dirty="0"/>
          </a:p>
        </p:txBody>
      </p:sp>
      <p:sp>
        <p:nvSpPr>
          <p:cNvPr id="77" name="Shape 75"/>
          <p:cNvSpPr/>
          <p:nvPr/>
        </p:nvSpPr>
        <p:spPr>
          <a:xfrm>
            <a:off x="4751246" y="3698135"/>
            <a:ext cx="413200" cy="174962"/>
          </a:xfrm>
          <a:prstGeom prst="rect">
            <a:avLst/>
          </a:prstGeom>
          <a:solidFill>
            <a:srgbClr val="0B2C4A"/>
          </a:solidFill>
          <a:ln w="6350">
            <a:solidFill>
              <a:srgbClr val="FFFFFF"/>
            </a:solidFill>
            <a:prstDash val="solid"/>
          </a:ln>
        </p:spPr>
      </p:sp>
      <p:sp>
        <p:nvSpPr>
          <p:cNvPr id="78" name="Text 76"/>
          <p:cNvSpPr txBox="1"/>
          <p:nvPr/>
        </p:nvSpPr>
        <p:spPr>
          <a:xfrm>
            <a:off x="4751246" y="3698135"/>
            <a:ext cx="4132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13</a:t>
            </a:r>
            <a:endParaRPr lang="en-US" sz="1300" dirty="0"/>
          </a:p>
        </p:txBody>
      </p:sp>
      <p:sp>
        <p:nvSpPr>
          <p:cNvPr id="79" name="Shape 77"/>
          <p:cNvSpPr/>
          <p:nvPr/>
        </p:nvSpPr>
        <p:spPr>
          <a:xfrm>
            <a:off x="5164447" y="3698135"/>
            <a:ext cx="797441" cy="174962"/>
          </a:xfrm>
          <a:prstGeom prst="rect">
            <a:avLst/>
          </a:prstGeom>
          <a:solidFill>
            <a:srgbClr val="D9D9D9"/>
          </a:solidFill>
          <a:ln w="6350">
            <a:solidFill>
              <a:srgbClr val="FFFFFF"/>
            </a:solidFill>
            <a:prstDash val="solid"/>
          </a:ln>
        </p:spPr>
      </p:sp>
      <p:sp>
        <p:nvSpPr>
          <p:cNvPr id="80" name="Text 78"/>
          <p:cNvSpPr txBox="1"/>
          <p:nvPr/>
        </p:nvSpPr>
        <p:spPr>
          <a:xfrm>
            <a:off x="5164447" y="3698135"/>
            <a:ext cx="79744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25</a:t>
            </a:r>
            <a:endParaRPr lang="en-US" sz="1300" dirty="0"/>
          </a:p>
        </p:txBody>
      </p:sp>
      <p:sp>
        <p:nvSpPr>
          <p:cNvPr id="81" name="Text 79"/>
          <p:cNvSpPr txBox="1"/>
          <p:nvPr/>
        </p:nvSpPr>
        <p:spPr>
          <a:xfrm>
            <a:off x="658368"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2" name="Shape 80"/>
          <p:cNvSpPr/>
          <p:nvPr/>
        </p:nvSpPr>
        <p:spPr>
          <a:xfrm>
            <a:off x="2807208" y="3928348"/>
            <a:ext cx="1893448" cy="174962"/>
          </a:xfrm>
          <a:prstGeom prst="rect">
            <a:avLst/>
          </a:prstGeom>
          <a:solidFill>
            <a:srgbClr val="2587C5"/>
          </a:solidFill>
          <a:ln w="6350">
            <a:solidFill>
              <a:srgbClr val="FFFFFF"/>
            </a:solidFill>
            <a:prstDash val="solid"/>
          </a:ln>
        </p:spPr>
      </p:sp>
      <p:sp>
        <p:nvSpPr>
          <p:cNvPr id="83" name="Text 81"/>
          <p:cNvSpPr txBox="1"/>
          <p:nvPr/>
        </p:nvSpPr>
        <p:spPr>
          <a:xfrm>
            <a:off x="2807208" y="3928348"/>
            <a:ext cx="18934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84" name="Shape 82"/>
          <p:cNvSpPr/>
          <p:nvPr/>
        </p:nvSpPr>
        <p:spPr>
          <a:xfrm>
            <a:off x="4700656" y="3928348"/>
            <a:ext cx="834167" cy="174962"/>
          </a:xfrm>
          <a:prstGeom prst="rect">
            <a:avLst/>
          </a:prstGeom>
          <a:solidFill>
            <a:srgbClr val="0B2C4A"/>
          </a:solidFill>
          <a:ln w="6350">
            <a:solidFill>
              <a:srgbClr val="FFFFFF"/>
            </a:solidFill>
            <a:prstDash val="solid"/>
          </a:ln>
        </p:spPr>
      </p:sp>
      <p:sp>
        <p:nvSpPr>
          <p:cNvPr id="85" name="Text 83"/>
          <p:cNvSpPr txBox="1"/>
          <p:nvPr/>
        </p:nvSpPr>
        <p:spPr>
          <a:xfrm>
            <a:off x="4700656" y="3928348"/>
            <a:ext cx="8341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86" name="Shape 84"/>
          <p:cNvSpPr/>
          <p:nvPr/>
        </p:nvSpPr>
        <p:spPr>
          <a:xfrm>
            <a:off x="5534823" y="3928348"/>
            <a:ext cx="427065" cy="174962"/>
          </a:xfrm>
          <a:prstGeom prst="rect">
            <a:avLst/>
          </a:prstGeom>
          <a:solidFill>
            <a:srgbClr val="D9D9D9"/>
          </a:solidFill>
          <a:ln w="6350">
            <a:solidFill>
              <a:srgbClr val="FFFFFF"/>
            </a:solidFill>
            <a:prstDash val="solid"/>
          </a:ln>
        </p:spPr>
      </p:sp>
      <p:sp>
        <p:nvSpPr>
          <p:cNvPr id="87" name="Text 85"/>
          <p:cNvSpPr txBox="1"/>
          <p:nvPr/>
        </p:nvSpPr>
        <p:spPr>
          <a:xfrm>
            <a:off x="5534823" y="3928348"/>
            <a:ext cx="42706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88" name="Text 86"/>
          <p:cNvSpPr txBox="1"/>
          <p:nvPr/>
        </p:nvSpPr>
        <p:spPr>
          <a:xfrm>
            <a:off x="658368"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9" name="Shape 87"/>
          <p:cNvSpPr/>
          <p:nvPr/>
        </p:nvSpPr>
        <p:spPr>
          <a:xfrm>
            <a:off x="2807208" y="4158562"/>
            <a:ext cx="1882994" cy="174962"/>
          </a:xfrm>
          <a:prstGeom prst="rect">
            <a:avLst/>
          </a:prstGeom>
          <a:solidFill>
            <a:srgbClr val="2587C5"/>
          </a:solidFill>
          <a:ln w="6350">
            <a:solidFill>
              <a:srgbClr val="FFFFFF"/>
            </a:solidFill>
            <a:prstDash val="solid"/>
          </a:ln>
        </p:spPr>
      </p:sp>
      <p:sp>
        <p:nvSpPr>
          <p:cNvPr id="90" name="Text 88"/>
          <p:cNvSpPr txBox="1"/>
          <p:nvPr/>
        </p:nvSpPr>
        <p:spPr>
          <a:xfrm>
            <a:off x="2807208" y="4158562"/>
            <a:ext cx="18829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60</a:t>
            </a:r>
            <a:endParaRPr lang="en-US" sz="1300" dirty="0"/>
          </a:p>
        </p:txBody>
      </p:sp>
      <p:sp>
        <p:nvSpPr>
          <p:cNvPr id="91" name="Shape 89"/>
          <p:cNvSpPr/>
          <p:nvPr/>
        </p:nvSpPr>
        <p:spPr>
          <a:xfrm>
            <a:off x="4690202" y="4158562"/>
            <a:ext cx="981874" cy="174962"/>
          </a:xfrm>
          <a:prstGeom prst="rect">
            <a:avLst/>
          </a:prstGeom>
          <a:solidFill>
            <a:srgbClr val="0B2C4A"/>
          </a:solidFill>
          <a:ln w="6350">
            <a:solidFill>
              <a:srgbClr val="FFFFFF"/>
            </a:solidFill>
            <a:prstDash val="solid"/>
          </a:ln>
        </p:spPr>
      </p:sp>
      <p:sp>
        <p:nvSpPr>
          <p:cNvPr id="92" name="Text 90"/>
          <p:cNvSpPr txBox="1"/>
          <p:nvPr/>
        </p:nvSpPr>
        <p:spPr>
          <a:xfrm>
            <a:off x="4690202" y="4158562"/>
            <a:ext cx="98187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31</a:t>
            </a:r>
            <a:endParaRPr lang="en-US" sz="1300" dirty="0"/>
          </a:p>
        </p:txBody>
      </p:sp>
      <p:sp>
        <p:nvSpPr>
          <p:cNvPr id="93" name="Shape 91"/>
          <p:cNvSpPr/>
          <p:nvPr/>
        </p:nvSpPr>
        <p:spPr>
          <a:xfrm>
            <a:off x="5672077" y="4158562"/>
            <a:ext cx="289811" cy="174962"/>
          </a:xfrm>
          <a:prstGeom prst="rect">
            <a:avLst/>
          </a:prstGeom>
          <a:solidFill>
            <a:srgbClr val="D9D9D9"/>
          </a:solidFill>
          <a:ln w="6350">
            <a:solidFill>
              <a:srgbClr val="FFFFFF"/>
            </a:solidFill>
            <a:prstDash val="solid"/>
          </a:ln>
        </p:spPr>
      </p:sp>
      <p:sp>
        <p:nvSpPr>
          <p:cNvPr id="94" name="Text 92"/>
          <p:cNvSpPr txBox="1"/>
          <p:nvPr/>
        </p:nvSpPr>
        <p:spPr>
          <a:xfrm>
            <a:off x="5672077" y="4158562"/>
            <a:ext cx="2898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95" name="Text 93"/>
          <p:cNvSpPr txBox="1"/>
          <p:nvPr/>
        </p:nvSpPr>
        <p:spPr>
          <a:xfrm>
            <a:off x="658368"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6" name="Shape 94"/>
          <p:cNvSpPr/>
          <p:nvPr/>
        </p:nvSpPr>
        <p:spPr>
          <a:xfrm>
            <a:off x="2807208" y="4388776"/>
            <a:ext cx="1867135" cy="174962"/>
          </a:xfrm>
          <a:prstGeom prst="rect">
            <a:avLst/>
          </a:prstGeom>
          <a:solidFill>
            <a:srgbClr val="2587C5"/>
          </a:solidFill>
          <a:ln w="6350">
            <a:solidFill>
              <a:srgbClr val="FFFFFF"/>
            </a:solidFill>
            <a:prstDash val="solid"/>
          </a:ln>
        </p:spPr>
      </p:sp>
      <p:sp>
        <p:nvSpPr>
          <p:cNvPr id="97" name="Text 95"/>
          <p:cNvSpPr txBox="1"/>
          <p:nvPr/>
        </p:nvSpPr>
        <p:spPr>
          <a:xfrm>
            <a:off x="2807208" y="4388776"/>
            <a:ext cx="18671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98" name="Shape 96"/>
          <p:cNvSpPr/>
          <p:nvPr/>
        </p:nvSpPr>
        <p:spPr>
          <a:xfrm>
            <a:off x="4674343" y="4388776"/>
            <a:ext cx="47200" cy="174962"/>
          </a:xfrm>
          <a:prstGeom prst="rect">
            <a:avLst/>
          </a:prstGeom>
          <a:solidFill>
            <a:srgbClr val="0B2C4A"/>
          </a:solidFill>
          <a:ln w="6350">
            <a:solidFill>
              <a:srgbClr val="FFFFFF"/>
            </a:solidFill>
            <a:prstDash val="solid"/>
          </a:ln>
        </p:spPr>
      </p:sp>
      <p:sp>
        <p:nvSpPr>
          <p:cNvPr id="99" name="Shape 97"/>
          <p:cNvSpPr/>
          <p:nvPr/>
        </p:nvSpPr>
        <p:spPr>
          <a:xfrm>
            <a:off x="4721543" y="4388776"/>
            <a:ext cx="1240345" cy="174962"/>
          </a:xfrm>
          <a:prstGeom prst="rect">
            <a:avLst/>
          </a:prstGeom>
          <a:solidFill>
            <a:srgbClr val="D9D9D9"/>
          </a:solidFill>
          <a:ln w="6350">
            <a:solidFill>
              <a:srgbClr val="FFFFFF"/>
            </a:solidFill>
            <a:prstDash val="solid"/>
          </a:ln>
        </p:spPr>
      </p:sp>
      <p:sp>
        <p:nvSpPr>
          <p:cNvPr id="100" name="Text 98"/>
          <p:cNvSpPr txBox="1"/>
          <p:nvPr/>
        </p:nvSpPr>
        <p:spPr>
          <a:xfrm>
            <a:off x="4721543" y="4388776"/>
            <a:ext cx="124034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39</a:t>
            </a:r>
            <a:endParaRPr lang="en-US" sz="1300" dirty="0"/>
          </a:p>
        </p:txBody>
      </p:sp>
      <p:sp>
        <p:nvSpPr>
          <p:cNvPr id="101" name="Text 99"/>
          <p:cNvSpPr txBox="1"/>
          <p:nvPr/>
        </p:nvSpPr>
        <p:spPr>
          <a:xfrm>
            <a:off x="658368"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2" name="Shape 100"/>
          <p:cNvSpPr/>
          <p:nvPr/>
        </p:nvSpPr>
        <p:spPr>
          <a:xfrm>
            <a:off x="2807208" y="4618989"/>
            <a:ext cx="1861915" cy="174962"/>
          </a:xfrm>
          <a:prstGeom prst="rect">
            <a:avLst/>
          </a:prstGeom>
          <a:solidFill>
            <a:srgbClr val="2587C5"/>
          </a:solidFill>
          <a:ln w="6350">
            <a:solidFill>
              <a:srgbClr val="FFFFFF"/>
            </a:solidFill>
            <a:prstDash val="solid"/>
          </a:ln>
        </p:spPr>
      </p:sp>
      <p:sp>
        <p:nvSpPr>
          <p:cNvPr id="103" name="Text 101"/>
          <p:cNvSpPr txBox="1"/>
          <p:nvPr/>
        </p:nvSpPr>
        <p:spPr>
          <a:xfrm>
            <a:off x="2807208" y="4618989"/>
            <a:ext cx="186191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04" name="Shape 102"/>
          <p:cNvSpPr/>
          <p:nvPr/>
        </p:nvSpPr>
        <p:spPr>
          <a:xfrm>
            <a:off x="4669123" y="4618989"/>
            <a:ext cx="838384" cy="174962"/>
          </a:xfrm>
          <a:prstGeom prst="rect">
            <a:avLst/>
          </a:prstGeom>
          <a:solidFill>
            <a:srgbClr val="0B2C4A"/>
          </a:solidFill>
          <a:ln w="6350">
            <a:solidFill>
              <a:srgbClr val="FFFFFF"/>
            </a:solidFill>
            <a:prstDash val="solid"/>
          </a:ln>
        </p:spPr>
      </p:sp>
      <p:sp>
        <p:nvSpPr>
          <p:cNvPr id="105" name="Text 103"/>
          <p:cNvSpPr txBox="1"/>
          <p:nvPr/>
        </p:nvSpPr>
        <p:spPr>
          <a:xfrm>
            <a:off x="4669123" y="4618989"/>
            <a:ext cx="83838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106" name="Shape 104"/>
          <p:cNvSpPr/>
          <p:nvPr/>
        </p:nvSpPr>
        <p:spPr>
          <a:xfrm>
            <a:off x="5507507" y="4618989"/>
            <a:ext cx="454381" cy="174962"/>
          </a:xfrm>
          <a:prstGeom prst="rect">
            <a:avLst/>
          </a:prstGeom>
          <a:solidFill>
            <a:srgbClr val="D9D9D9"/>
          </a:solidFill>
          <a:ln w="6350">
            <a:solidFill>
              <a:srgbClr val="FFFFFF"/>
            </a:solidFill>
            <a:prstDash val="solid"/>
          </a:ln>
        </p:spPr>
      </p:sp>
      <p:sp>
        <p:nvSpPr>
          <p:cNvPr id="107" name="Text 105"/>
          <p:cNvSpPr txBox="1"/>
          <p:nvPr/>
        </p:nvSpPr>
        <p:spPr>
          <a:xfrm>
            <a:off x="5507507" y="4618989"/>
            <a:ext cx="45438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08" name="Text 106"/>
          <p:cNvSpPr txBox="1"/>
          <p:nvPr/>
        </p:nvSpPr>
        <p:spPr>
          <a:xfrm>
            <a:off x="658368"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09" name="Shape 107"/>
          <p:cNvSpPr/>
          <p:nvPr/>
        </p:nvSpPr>
        <p:spPr>
          <a:xfrm>
            <a:off x="2807208" y="4849203"/>
            <a:ext cx="1855141" cy="174962"/>
          </a:xfrm>
          <a:prstGeom prst="rect">
            <a:avLst/>
          </a:prstGeom>
          <a:solidFill>
            <a:srgbClr val="2587C5"/>
          </a:solidFill>
          <a:ln w="6350">
            <a:solidFill>
              <a:srgbClr val="FFFFFF"/>
            </a:solidFill>
            <a:prstDash val="solid"/>
          </a:ln>
        </p:spPr>
      </p:sp>
      <p:sp>
        <p:nvSpPr>
          <p:cNvPr id="110" name="Text 108"/>
          <p:cNvSpPr txBox="1"/>
          <p:nvPr/>
        </p:nvSpPr>
        <p:spPr>
          <a:xfrm>
            <a:off x="2807208" y="4849203"/>
            <a:ext cx="185514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59</a:t>
            </a:r>
            <a:endParaRPr lang="en-US" sz="1300" dirty="0"/>
          </a:p>
        </p:txBody>
      </p:sp>
      <p:sp>
        <p:nvSpPr>
          <p:cNvPr id="111" name="Shape 109"/>
          <p:cNvSpPr/>
          <p:nvPr/>
        </p:nvSpPr>
        <p:spPr>
          <a:xfrm>
            <a:off x="4662349" y="4849203"/>
            <a:ext cx="1016459" cy="174962"/>
          </a:xfrm>
          <a:prstGeom prst="rect">
            <a:avLst/>
          </a:prstGeom>
          <a:solidFill>
            <a:srgbClr val="0B2C4A"/>
          </a:solidFill>
          <a:ln w="6350">
            <a:solidFill>
              <a:srgbClr val="FFFFFF"/>
            </a:solidFill>
            <a:prstDash val="solid"/>
          </a:ln>
        </p:spPr>
      </p:sp>
      <p:sp>
        <p:nvSpPr>
          <p:cNvPr id="112" name="Text 110"/>
          <p:cNvSpPr txBox="1"/>
          <p:nvPr/>
        </p:nvSpPr>
        <p:spPr>
          <a:xfrm>
            <a:off x="4662349" y="4849203"/>
            <a:ext cx="10164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113" name="Shape 111"/>
          <p:cNvSpPr/>
          <p:nvPr/>
        </p:nvSpPr>
        <p:spPr>
          <a:xfrm>
            <a:off x="5678808" y="4849203"/>
            <a:ext cx="283080" cy="174962"/>
          </a:xfrm>
          <a:prstGeom prst="rect">
            <a:avLst/>
          </a:prstGeom>
          <a:solidFill>
            <a:srgbClr val="D9D9D9"/>
          </a:solidFill>
          <a:ln w="6350">
            <a:solidFill>
              <a:srgbClr val="FFFFFF"/>
            </a:solidFill>
            <a:prstDash val="solid"/>
          </a:ln>
        </p:spPr>
      </p:sp>
      <p:sp>
        <p:nvSpPr>
          <p:cNvPr id="114" name="Text 112"/>
          <p:cNvSpPr txBox="1"/>
          <p:nvPr/>
        </p:nvSpPr>
        <p:spPr>
          <a:xfrm>
            <a:off x="5678808" y="4849203"/>
            <a:ext cx="28308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15" name="Text 113"/>
          <p:cNvSpPr txBox="1"/>
          <p:nvPr/>
        </p:nvSpPr>
        <p:spPr>
          <a:xfrm>
            <a:off x="658368"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16" name="Shape 114"/>
          <p:cNvSpPr/>
          <p:nvPr/>
        </p:nvSpPr>
        <p:spPr>
          <a:xfrm>
            <a:off x="2807208" y="5079417"/>
            <a:ext cx="1838412" cy="174962"/>
          </a:xfrm>
          <a:prstGeom prst="rect">
            <a:avLst/>
          </a:prstGeom>
          <a:solidFill>
            <a:srgbClr val="2587C5"/>
          </a:solidFill>
          <a:ln w="6350">
            <a:solidFill>
              <a:srgbClr val="FFFFFF"/>
            </a:solidFill>
            <a:prstDash val="solid"/>
          </a:ln>
        </p:spPr>
      </p:sp>
      <p:sp>
        <p:nvSpPr>
          <p:cNvPr id="117" name="Text 115"/>
          <p:cNvSpPr txBox="1"/>
          <p:nvPr/>
        </p:nvSpPr>
        <p:spPr>
          <a:xfrm>
            <a:off x="2807208" y="5079417"/>
            <a:ext cx="183841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58</a:t>
            </a:r>
            <a:endParaRPr lang="en-US" sz="1300" dirty="0"/>
          </a:p>
        </p:txBody>
      </p:sp>
      <p:sp>
        <p:nvSpPr>
          <p:cNvPr id="118" name="Shape 116"/>
          <p:cNvSpPr/>
          <p:nvPr/>
        </p:nvSpPr>
        <p:spPr>
          <a:xfrm>
            <a:off x="4645620" y="5079417"/>
            <a:ext cx="572933" cy="174962"/>
          </a:xfrm>
          <a:prstGeom prst="rect">
            <a:avLst/>
          </a:prstGeom>
          <a:solidFill>
            <a:srgbClr val="0B2C4A"/>
          </a:solidFill>
          <a:ln w="6350">
            <a:solidFill>
              <a:srgbClr val="FFFFFF"/>
            </a:solidFill>
            <a:prstDash val="solid"/>
          </a:ln>
        </p:spPr>
      </p:sp>
      <p:sp>
        <p:nvSpPr>
          <p:cNvPr id="119" name="Text 117"/>
          <p:cNvSpPr txBox="1"/>
          <p:nvPr/>
        </p:nvSpPr>
        <p:spPr>
          <a:xfrm>
            <a:off x="4645620" y="5079417"/>
            <a:ext cx="57293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18</a:t>
            </a:r>
            <a:endParaRPr lang="en-US" sz="1300" dirty="0"/>
          </a:p>
        </p:txBody>
      </p:sp>
      <p:sp>
        <p:nvSpPr>
          <p:cNvPr id="120" name="Shape 118"/>
          <p:cNvSpPr/>
          <p:nvPr/>
        </p:nvSpPr>
        <p:spPr>
          <a:xfrm>
            <a:off x="5218553" y="5079417"/>
            <a:ext cx="743335" cy="174962"/>
          </a:xfrm>
          <a:prstGeom prst="rect">
            <a:avLst/>
          </a:prstGeom>
          <a:solidFill>
            <a:srgbClr val="D9D9D9"/>
          </a:solidFill>
          <a:ln w="6350">
            <a:solidFill>
              <a:srgbClr val="FFFFFF"/>
            </a:solidFill>
            <a:prstDash val="solid"/>
          </a:ln>
        </p:spPr>
      </p:sp>
      <p:sp>
        <p:nvSpPr>
          <p:cNvPr id="121" name="Text 119"/>
          <p:cNvSpPr txBox="1"/>
          <p:nvPr/>
        </p:nvSpPr>
        <p:spPr>
          <a:xfrm>
            <a:off x="5218553" y="5079417"/>
            <a:ext cx="74333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24</a:t>
            </a:r>
            <a:endParaRPr lang="en-US" sz="1300" dirty="0"/>
          </a:p>
        </p:txBody>
      </p:sp>
      <p:sp>
        <p:nvSpPr>
          <p:cNvPr id="122" name="Text 120"/>
          <p:cNvSpPr txBox="1"/>
          <p:nvPr/>
        </p:nvSpPr>
        <p:spPr>
          <a:xfrm>
            <a:off x="658368"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3" name="Shape 121"/>
          <p:cNvSpPr/>
          <p:nvPr/>
        </p:nvSpPr>
        <p:spPr>
          <a:xfrm>
            <a:off x="2807208" y="5309630"/>
            <a:ext cx="1793194" cy="174962"/>
          </a:xfrm>
          <a:prstGeom prst="rect">
            <a:avLst/>
          </a:prstGeom>
          <a:solidFill>
            <a:srgbClr val="2587C5"/>
          </a:solidFill>
          <a:ln w="6350">
            <a:solidFill>
              <a:srgbClr val="FFFFFF"/>
            </a:solidFill>
            <a:prstDash val="solid"/>
          </a:ln>
        </p:spPr>
      </p:sp>
      <p:sp>
        <p:nvSpPr>
          <p:cNvPr id="124" name="Text 122"/>
          <p:cNvSpPr txBox="1"/>
          <p:nvPr/>
        </p:nvSpPr>
        <p:spPr>
          <a:xfrm>
            <a:off x="2807208" y="5309630"/>
            <a:ext cx="179319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25" name="Shape 123"/>
          <p:cNvSpPr/>
          <p:nvPr/>
        </p:nvSpPr>
        <p:spPr>
          <a:xfrm>
            <a:off x="4600402" y="5309630"/>
            <a:ext cx="753875" cy="174962"/>
          </a:xfrm>
          <a:prstGeom prst="rect">
            <a:avLst/>
          </a:prstGeom>
          <a:solidFill>
            <a:srgbClr val="0B2C4A"/>
          </a:solidFill>
          <a:ln w="6350">
            <a:solidFill>
              <a:srgbClr val="FFFFFF"/>
            </a:solidFill>
            <a:prstDash val="solid"/>
          </a:ln>
        </p:spPr>
      </p:sp>
      <p:sp>
        <p:nvSpPr>
          <p:cNvPr id="126" name="Text 124"/>
          <p:cNvSpPr txBox="1"/>
          <p:nvPr/>
        </p:nvSpPr>
        <p:spPr>
          <a:xfrm>
            <a:off x="4600402" y="5309630"/>
            <a:ext cx="75387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27" name="Shape 125"/>
          <p:cNvSpPr/>
          <p:nvPr/>
        </p:nvSpPr>
        <p:spPr>
          <a:xfrm>
            <a:off x="5354277" y="5309630"/>
            <a:ext cx="607611" cy="174962"/>
          </a:xfrm>
          <a:prstGeom prst="rect">
            <a:avLst/>
          </a:prstGeom>
          <a:solidFill>
            <a:srgbClr val="D9D9D9"/>
          </a:solidFill>
          <a:ln w="6350">
            <a:solidFill>
              <a:srgbClr val="FFFFFF"/>
            </a:solidFill>
            <a:prstDash val="solid"/>
          </a:ln>
        </p:spPr>
      </p:sp>
      <p:sp>
        <p:nvSpPr>
          <p:cNvPr id="128" name="Text 126"/>
          <p:cNvSpPr txBox="1"/>
          <p:nvPr/>
        </p:nvSpPr>
        <p:spPr>
          <a:xfrm>
            <a:off x="5354277" y="5309630"/>
            <a:ext cx="6076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29" name="Text 127"/>
          <p:cNvSpPr txBox="1"/>
          <p:nvPr/>
        </p:nvSpPr>
        <p:spPr>
          <a:xfrm>
            <a:off x="658368" y="551221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30" name="Shape 128"/>
          <p:cNvSpPr/>
          <p:nvPr/>
        </p:nvSpPr>
        <p:spPr>
          <a:xfrm>
            <a:off x="2807208" y="5539844"/>
            <a:ext cx="1791504" cy="174962"/>
          </a:xfrm>
          <a:prstGeom prst="rect">
            <a:avLst/>
          </a:prstGeom>
          <a:solidFill>
            <a:srgbClr val="2587C5"/>
          </a:solidFill>
          <a:ln w="6350">
            <a:solidFill>
              <a:srgbClr val="FFFFFF"/>
            </a:solidFill>
            <a:prstDash val="solid"/>
          </a:ln>
        </p:spPr>
      </p:sp>
      <p:sp>
        <p:nvSpPr>
          <p:cNvPr id="131" name="Text 129"/>
          <p:cNvSpPr txBox="1"/>
          <p:nvPr/>
        </p:nvSpPr>
        <p:spPr>
          <a:xfrm>
            <a:off x="2807208" y="5539844"/>
            <a:ext cx="179150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57</a:t>
            </a:r>
            <a:endParaRPr lang="en-US" sz="1300" dirty="0"/>
          </a:p>
        </p:txBody>
      </p:sp>
      <p:sp>
        <p:nvSpPr>
          <p:cNvPr id="132" name="Shape 130"/>
          <p:cNvSpPr/>
          <p:nvPr/>
        </p:nvSpPr>
        <p:spPr>
          <a:xfrm>
            <a:off x="4598712" y="5539844"/>
            <a:ext cx="753618" cy="174962"/>
          </a:xfrm>
          <a:prstGeom prst="rect">
            <a:avLst/>
          </a:prstGeom>
          <a:solidFill>
            <a:srgbClr val="0B2C4A"/>
          </a:solidFill>
          <a:ln w="6350">
            <a:solidFill>
              <a:srgbClr val="FFFFFF"/>
            </a:solidFill>
            <a:prstDash val="solid"/>
          </a:ln>
        </p:spPr>
      </p:sp>
      <p:sp>
        <p:nvSpPr>
          <p:cNvPr id="133" name="Text 131"/>
          <p:cNvSpPr txBox="1"/>
          <p:nvPr/>
        </p:nvSpPr>
        <p:spPr>
          <a:xfrm>
            <a:off x="4598712" y="5539844"/>
            <a:ext cx="75361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24</a:t>
            </a:r>
            <a:endParaRPr lang="en-US" sz="1300" dirty="0"/>
          </a:p>
        </p:txBody>
      </p:sp>
      <p:sp>
        <p:nvSpPr>
          <p:cNvPr id="134" name="Shape 132"/>
          <p:cNvSpPr/>
          <p:nvPr/>
        </p:nvSpPr>
        <p:spPr>
          <a:xfrm>
            <a:off x="5352329" y="5539844"/>
            <a:ext cx="609559" cy="174962"/>
          </a:xfrm>
          <a:prstGeom prst="rect">
            <a:avLst/>
          </a:prstGeom>
          <a:solidFill>
            <a:srgbClr val="D9D9D9"/>
          </a:solidFill>
          <a:ln w="6350">
            <a:solidFill>
              <a:srgbClr val="FFFFFF"/>
            </a:solidFill>
            <a:prstDash val="solid"/>
          </a:ln>
        </p:spPr>
      </p:sp>
      <p:sp>
        <p:nvSpPr>
          <p:cNvPr id="135" name="Text 133"/>
          <p:cNvSpPr txBox="1"/>
          <p:nvPr/>
        </p:nvSpPr>
        <p:spPr>
          <a:xfrm>
            <a:off x="5352329" y="5539844"/>
            <a:ext cx="609559"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19</a:t>
            </a:r>
            <a:endParaRPr lang="en-US" sz="1300" dirty="0"/>
          </a:p>
        </p:txBody>
      </p:sp>
      <p:sp>
        <p:nvSpPr>
          <p:cNvPr id="136" name="Text 134"/>
          <p:cNvSpPr txBox="1"/>
          <p:nvPr/>
        </p:nvSpPr>
        <p:spPr>
          <a:xfrm>
            <a:off x="6208776" y="182880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7" name="Shape 135"/>
          <p:cNvSpPr/>
          <p:nvPr/>
        </p:nvSpPr>
        <p:spPr>
          <a:xfrm>
            <a:off x="8357616" y="1856426"/>
            <a:ext cx="1739659" cy="174962"/>
          </a:xfrm>
          <a:prstGeom prst="rect">
            <a:avLst/>
          </a:prstGeom>
          <a:solidFill>
            <a:srgbClr val="2587C5"/>
          </a:solidFill>
          <a:ln w="6350">
            <a:solidFill>
              <a:srgbClr val="FFFFFF"/>
            </a:solidFill>
            <a:prstDash val="solid"/>
          </a:ln>
        </p:spPr>
      </p:sp>
      <p:sp>
        <p:nvSpPr>
          <p:cNvPr id="138" name="Text 136"/>
          <p:cNvSpPr txBox="1"/>
          <p:nvPr/>
        </p:nvSpPr>
        <p:spPr>
          <a:xfrm>
            <a:off x="8357616" y="1856426"/>
            <a:ext cx="17396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39" name="Shape 137"/>
          <p:cNvSpPr/>
          <p:nvPr/>
        </p:nvSpPr>
        <p:spPr>
          <a:xfrm>
            <a:off x="10097275" y="1856426"/>
            <a:ext cx="1115781" cy="174962"/>
          </a:xfrm>
          <a:prstGeom prst="rect">
            <a:avLst/>
          </a:prstGeom>
          <a:solidFill>
            <a:srgbClr val="0B2C4A"/>
          </a:solidFill>
          <a:ln w="6350">
            <a:solidFill>
              <a:srgbClr val="FFFFFF"/>
            </a:solidFill>
            <a:prstDash val="solid"/>
          </a:ln>
        </p:spPr>
      </p:sp>
      <p:sp>
        <p:nvSpPr>
          <p:cNvPr id="140" name="Text 138"/>
          <p:cNvSpPr txBox="1"/>
          <p:nvPr/>
        </p:nvSpPr>
        <p:spPr>
          <a:xfrm>
            <a:off x="10097275" y="1856426"/>
            <a:ext cx="111578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141" name="Shape 139"/>
          <p:cNvSpPr/>
          <p:nvPr/>
        </p:nvSpPr>
        <p:spPr>
          <a:xfrm>
            <a:off x="11213056" y="1856426"/>
            <a:ext cx="299240" cy="174962"/>
          </a:xfrm>
          <a:prstGeom prst="rect">
            <a:avLst/>
          </a:prstGeom>
          <a:solidFill>
            <a:srgbClr val="D9D9D9"/>
          </a:solidFill>
          <a:ln w="6350">
            <a:solidFill>
              <a:srgbClr val="FFFFFF"/>
            </a:solidFill>
            <a:prstDash val="solid"/>
          </a:ln>
        </p:spPr>
      </p:sp>
      <p:sp>
        <p:nvSpPr>
          <p:cNvPr id="142" name="Text 140"/>
          <p:cNvSpPr txBox="1"/>
          <p:nvPr/>
        </p:nvSpPr>
        <p:spPr>
          <a:xfrm>
            <a:off x="11213056" y="1856426"/>
            <a:ext cx="29924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9</a:t>
            </a:r>
            <a:endParaRPr lang="en-US" sz="1300" dirty="0"/>
          </a:p>
        </p:txBody>
      </p:sp>
      <p:sp>
        <p:nvSpPr>
          <p:cNvPr id="143" name="Text 141"/>
          <p:cNvSpPr txBox="1"/>
          <p:nvPr/>
        </p:nvSpPr>
        <p:spPr>
          <a:xfrm>
            <a:off x="6208776" y="205901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4" name="Shape 142"/>
          <p:cNvSpPr/>
          <p:nvPr/>
        </p:nvSpPr>
        <p:spPr>
          <a:xfrm>
            <a:off x="8357616" y="2086639"/>
            <a:ext cx="1737636" cy="174962"/>
          </a:xfrm>
          <a:prstGeom prst="rect">
            <a:avLst/>
          </a:prstGeom>
          <a:solidFill>
            <a:srgbClr val="2587C5"/>
          </a:solidFill>
          <a:ln w="6350">
            <a:solidFill>
              <a:srgbClr val="FFFFFF"/>
            </a:solidFill>
            <a:prstDash val="solid"/>
          </a:ln>
        </p:spPr>
      </p:sp>
      <p:sp>
        <p:nvSpPr>
          <p:cNvPr id="145" name="Text 143"/>
          <p:cNvSpPr txBox="1"/>
          <p:nvPr/>
        </p:nvSpPr>
        <p:spPr>
          <a:xfrm>
            <a:off x="8357616" y="2086639"/>
            <a:ext cx="173763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146" name="Shape 144"/>
          <p:cNvSpPr/>
          <p:nvPr/>
        </p:nvSpPr>
        <p:spPr>
          <a:xfrm>
            <a:off x="10095252" y="2086639"/>
            <a:ext cx="933948" cy="174962"/>
          </a:xfrm>
          <a:prstGeom prst="rect">
            <a:avLst/>
          </a:prstGeom>
          <a:solidFill>
            <a:srgbClr val="0B2C4A"/>
          </a:solidFill>
          <a:ln w="6350">
            <a:solidFill>
              <a:srgbClr val="FFFFFF"/>
            </a:solidFill>
            <a:prstDash val="solid"/>
          </a:ln>
        </p:spPr>
      </p:sp>
      <p:sp>
        <p:nvSpPr>
          <p:cNvPr id="147" name="Text 145"/>
          <p:cNvSpPr txBox="1"/>
          <p:nvPr/>
        </p:nvSpPr>
        <p:spPr>
          <a:xfrm>
            <a:off x="10095252" y="2086639"/>
            <a:ext cx="93394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48" name="Shape 146"/>
          <p:cNvSpPr/>
          <p:nvPr/>
        </p:nvSpPr>
        <p:spPr>
          <a:xfrm>
            <a:off x="11029200" y="2086639"/>
            <a:ext cx="483096" cy="174962"/>
          </a:xfrm>
          <a:prstGeom prst="rect">
            <a:avLst/>
          </a:prstGeom>
          <a:solidFill>
            <a:srgbClr val="D9D9D9"/>
          </a:solidFill>
          <a:ln w="6350">
            <a:solidFill>
              <a:srgbClr val="FFFFFF"/>
            </a:solidFill>
            <a:prstDash val="solid"/>
          </a:ln>
        </p:spPr>
      </p:sp>
      <p:sp>
        <p:nvSpPr>
          <p:cNvPr id="149" name="Text 147"/>
          <p:cNvSpPr txBox="1"/>
          <p:nvPr/>
        </p:nvSpPr>
        <p:spPr>
          <a:xfrm>
            <a:off x="11029200" y="2086639"/>
            <a:ext cx="48309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15</a:t>
            </a:r>
            <a:endParaRPr lang="en-US" sz="1300" dirty="0"/>
          </a:p>
        </p:txBody>
      </p:sp>
      <p:sp>
        <p:nvSpPr>
          <p:cNvPr id="150" name="Text 148"/>
          <p:cNvSpPr txBox="1"/>
          <p:nvPr/>
        </p:nvSpPr>
        <p:spPr>
          <a:xfrm>
            <a:off x="6208776" y="228922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1" name="Shape 149"/>
          <p:cNvSpPr/>
          <p:nvPr/>
        </p:nvSpPr>
        <p:spPr>
          <a:xfrm>
            <a:off x="8357616" y="2316853"/>
            <a:ext cx="1534178" cy="174962"/>
          </a:xfrm>
          <a:prstGeom prst="rect">
            <a:avLst/>
          </a:prstGeom>
          <a:solidFill>
            <a:srgbClr val="2587C5"/>
          </a:solidFill>
          <a:ln w="6350">
            <a:solidFill>
              <a:srgbClr val="FFFFFF"/>
            </a:solidFill>
            <a:prstDash val="solid"/>
          </a:ln>
        </p:spPr>
      </p:sp>
      <p:sp>
        <p:nvSpPr>
          <p:cNvPr id="152" name="Text 150"/>
          <p:cNvSpPr txBox="1"/>
          <p:nvPr/>
        </p:nvSpPr>
        <p:spPr>
          <a:xfrm>
            <a:off x="8357616" y="2316853"/>
            <a:ext cx="153417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49</a:t>
            </a:r>
            <a:endParaRPr lang="en-US" sz="1300" dirty="0"/>
          </a:p>
        </p:txBody>
      </p:sp>
      <p:sp>
        <p:nvSpPr>
          <p:cNvPr id="153" name="Shape 151"/>
          <p:cNvSpPr/>
          <p:nvPr/>
        </p:nvSpPr>
        <p:spPr>
          <a:xfrm>
            <a:off x="9891794" y="2316853"/>
            <a:ext cx="1305710" cy="174962"/>
          </a:xfrm>
          <a:prstGeom prst="rect">
            <a:avLst/>
          </a:prstGeom>
          <a:solidFill>
            <a:srgbClr val="0B2C4A"/>
          </a:solidFill>
          <a:ln w="6350">
            <a:solidFill>
              <a:srgbClr val="FFFFFF"/>
            </a:solidFill>
            <a:prstDash val="solid"/>
          </a:ln>
        </p:spPr>
      </p:sp>
      <p:sp>
        <p:nvSpPr>
          <p:cNvPr id="154" name="Text 152"/>
          <p:cNvSpPr txBox="1"/>
          <p:nvPr/>
        </p:nvSpPr>
        <p:spPr>
          <a:xfrm>
            <a:off x="9891794" y="2316853"/>
            <a:ext cx="130571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55" name="Shape 153"/>
          <p:cNvSpPr/>
          <p:nvPr/>
        </p:nvSpPr>
        <p:spPr>
          <a:xfrm>
            <a:off x="11197503" y="2316853"/>
            <a:ext cx="314793" cy="174962"/>
          </a:xfrm>
          <a:prstGeom prst="rect">
            <a:avLst/>
          </a:prstGeom>
          <a:solidFill>
            <a:srgbClr val="D9D9D9"/>
          </a:solidFill>
          <a:ln w="6350">
            <a:solidFill>
              <a:srgbClr val="FFFFFF"/>
            </a:solidFill>
            <a:prstDash val="solid"/>
          </a:ln>
        </p:spPr>
      </p:sp>
      <p:sp>
        <p:nvSpPr>
          <p:cNvPr id="156" name="Text 154"/>
          <p:cNvSpPr txBox="1"/>
          <p:nvPr/>
        </p:nvSpPr>
        <p:spPr>
          <a:xfrm>
            <a:off x="11197503" y="2316853"/>
            <a:ext cx="31479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10</a:t>
            </a:r>
            <a:endParaRPr lang="en-US" sz="1300" dirty="0"/>
          </a:p>
        </p:txBody>
      </p:sp>
      <p:sp>
        <p:nvSpPr>
          <p:cNvPr id="157" name="Text 155"/>
          <p:cNvSpPr txBox="1"/>
          <p:nvPr/>
        </p:nvSpPr>
        <p:spPr>
          <a:xfrm>
            <a:off x="6208776" y="251944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58" name="Shape 156"/>
          <p:cNvSpPr/>
          <p:nvPr/>
        </p:nvSpPr>
        <p:spPr>
          <a:xfrm>
            <a:off x="8357616" y="2547067"/>
            <a:ext cx="1384233" cy="174962"/>
          </a:xfrm>
          <a:prstGeom prst="rect">
            <a:avLst/>
          </a:prstGeom>
          <a:solidFill>
            <a:srgbClr val="2587C5"/>
          </a:solidFill>
          <a:ln w="6350">
            <a:solidFill>
              <a:srgbClr val="FFFFFF"/>
            </a:solidFill>
            <a:prstDash val="solid"/>
          </a:ln>
        </p:spPr>
      </p:sp>
      <p:sp>
        <p:nvSpPr>
          <p:cNvPr id="159" name="Text 157"/>
          <p:cNvSpPr txBox="1"/>
          <p:nvPr/>
        </p:nvSpPr>
        <p:spPr>
          <a:xfrm>
            <a:off x="8357616" y="2547067"/>
            <a:ext cx="138423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44</a:t>
            </a:r>
            <a:endParaRPr lang="en-US" sz="1300" dirty="0"/>
          </a:p>
        </p:txBody>
      </p:sp>
      <p:sp>
        <p:nvSpPr>
          <p:cNvPr id="160" name="Shape 158"/>
          <p:cNvSpPr/>
          <p:nvPr/>
        </p:nvSpPr>
        <p:spPr>
          <a:xfrm>
            <a:off x="9741849" y="2547067"/>
            <a:ext cx="1315083" cy="174962"/>
          </a:xfrm>
          <a:prstGeom prst="rect">
            <a:avLst/>
          </a:prstGeom>
          <a:solidFill>
            <a:srgbClr val="0B2C4A"/>
          </a:solidFill>
          <a:ln w="6350">
            <a:solidFill>
              <a:srgbClr val="FFFFFF"/>
            </a:solidFill>
            <a:prstDash val="solid"/>
          </a:ln>
        </p:spPr>
      </p:sp>
      <p:sp>
        <p:nvSpPr>
          <p:cNvPr id="161" name="Text 159"/>
          <p:cNvSpPr txBox="1"/>
          <p:nvPr/>
        </p:nvSpPr>
        <p:spPr>
          <a:xfrm>
            <a:off x="9741849" y="2547067"/>
            <a:ext cx="13150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62" name="Shape 160"/>
          <p:cNvSpPr/>
          <p:nvPr/>
        </p:nvSpPr>
        <p:spPr>
          <a:xfrm>
            <a:off x="11056933" y="2547067"/>
            <a:ext cx="455363" cy="174962"/>
          </a:xfrm>
          <a:prstGeom prst="rect">
            <a:avLst/>
          </a:prstGeom>
          <a:solidFill>
            <a:srgbClr val="D9D9D9"/>
          </a:solidFill>
          <a:ln w="6350">
            <a:solidFill>
              <a:srgbClr val="FFFFFF"/>
            </a:solidFill>
            <a:prstDash val="solid"/>
          </a:ln>
        </p:spPr>
      </p:sp>
      <p:sp>
        <p:nvSpPr>
          <p:cNvPr id="163" name="Text 161"/>
          <p:cNvSpPr txBox="1"/>
          <p:nvPr/>
        </p:nvSpPr>
        <p:spPr>
          <a:xfrm>
            <a:off x="11056933" y="2547067"/>
            <a:ext cx="45536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14</a:t>
            </a:r>
            <a:endParaRPr lang="en-US" sz="1300" dirty="0"/>
          </a:p>
        </p:txBody>
      </p:sp>
      <p:sp>
        <p:nvSpPr>
          <p:cNvPr id="164" name="Text 162"/>
          <p:cNvSpPr txBox="1"/>
          <p:nvPr/>
        </p:nvSpPr>
        <p:spPr>
          <a:xfrm>
            <a:off x="6208776" y="274965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5" name="Shape 163"/>
          <p:cNvSpPr/>
          <p:nvPr/>
        </p:nvSpPr>
        <p:spPr>
          <a:xfrm>
            <a:off x="8357616" y="2777280"/>
            <a:ext cx="1357759" cy="174962"/>
          </a:xfrm>
          <a:prstGeom prst="rect">
            <a:avLst/>
          </a:prstGeom>
          <a:solidFill>
            <a:srgbClr val="2587C5"/>
          </a:solidFill>
          <a:ln w="6350">
            <a:solidFill>
              <a:srgbClr val="FFFFFF"/>
            </a:solidFill>
            <a:prstDash val="solid"/>
          </a:ln>
        </p:spPr>
      </p:sp>
      <p:sp>
        <p:nvSpPr>
          <p:cNvPr id="166" name="Text 164"/>
          <p:cNvSpPr txBox="1"/>
          <p:nvPr/>
        </p:nvSpPr>
        <p:spPr>
          <a:xfrm>
            <a:off x="8357616" y="2777280"/>
            <a:ext cx="135775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67" name="Shape 165"/>
          <p:cNvSpPr/>
          <p:nvPr/>
        </p:nvSpPr>
        <p:spPr>
          <a:xfrm>
            <a:off x="9715375" y="2777280"/>
            <a:ext cx="945491" cy="174962"/>
          </a:xfrm>
          <a:prstGeom prst="rect">
            <a:avLst/>
          </a:prstGeom>
          <a:solidFill>
            <a:srgbClr val="0B2C4A"/>
          </a:solidFill>
          <a:ln w="6350">
            <a:solidFill>
              <a:srgbClr val="FFFFFF"/>
            </a:solidFill>
            <a:prstDash val="solid"/>
          </a:ln>
        </p:spPr>
      </p:sp>
      <p:sp>
        <p:nvSpPr>
          <p:cNvPr id="168" name="Text 166"/>
          <p:cNvSpPr txBox="1"/>
          <p:nvPr/>
        </p:nvSpPr>
        <p:spPr>
          <a:xfrm>
            <a:off x="9715375" y="2777280"/>
            <a:ext cx="9454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169" name="Shape 167"/>
          <p:cNvSpPr/>
          <p:nvPr/>
        </p:nvSpPr>
        <p:spPr>
          <a:xfrm>
            <a:off x="10660866" y="2777280"/>
            <a:ext cx="851430" cy="174962"/>
          </a:xfrm>
          <a:prstGeom prst="rect">
            <a:avLst/>
          </a:prstGeom>
          <a:solidFill>
            <a:srgbClr val="D9D9D9"/>
          </a:solidFill>
          <a:ln w="6350">
            <a:solidFill>
              <a:srgbClr val="FFFFFF"/>
            </a:solidFill>
            <a:prstDash val="solid"/>
          </a:ln>
        </p:spPr>
      </p:sp>
      <p:sp>
        <p:nvSpPr>
          <p:cNvPr id="170" name="Text 168"/>
          <p:cNvSpPr txBox="1"/>
          <p:nvPr/>
        </p:nvSpPr>
        <p:spPr>
          <a:xfrm>
            <a:off x="10660866" y="2777280"/>
            <a:ext cx="851430"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171" name="Text 169"/>
          <p:cNvSpPr txBox="1"/>
          <p:nvPr/>
        </p:nvSpPr>
        <p:spPr>
          <a:xfrm>
            <a:off x="6208776" y="2979868"/>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72" name="Shape 170"/>
          <p:cNvSpPr/>
          <p:nvPr/>
        </p:nvSpPr>
        <p:spPr>
          <a:xfrm>
            <a:off x="8357616" y="3007494"/>
            <a:ext cx="1350116" cy="174962"/>
          </a:xfrm>
          <a:prstGeom prst="rect">
            <a:avLst/>
          </a:prstGeom>
          <a:solidFill>
            <a:srgbClr val="2587C5"/>
          </a:solidFill>
          <a:ln w="6350">
            <a:solidFill>
              <a:srgbClr val="FFFFFF"/>
            </a:solidFill>
            <a:prstDash val="solid"/>
          </a:ln>
        </p:spPr>
      </p:sp>
      <p:sp>
        <p:nvSpPr>
          <p:cNvPr id="173" name="Text 171"/>
          <p:cNvSpPr txBox="1"/>
          <p:nvPr/>
        </p:nvSpPr>
        <p:spPr>
          <a:xfrm>
            <a:off x="8357616" y="3007494"/>
            <a:ext cx="135011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43</a:t>
            </a:r>
            <a:endParaRPr lang="en-US" sz="1300" dirty="0"/>
          </a:p>
        </p:txBody>
      </p:sp>
      <p:sp>
        <p:nvSpPr>
          <p:cNvPr id="174" name="Shape 172"/>
          <p:cNvSpPr/>
          <p:nvPr/>
        </p:nvSpPr>
        <p:spPr>
          <a:xfrm>
            <a:off x="9707732" y="3007494"/>
            <a:ext cx="911172" cy="174962"/>
          </a:xfrm>
          <a:prstGeom prst="rect">
            <a:avLst/>
          </a:prstGeom>
          <a:solidFill>
            <a:srgbClr val="0B2C4A"/>
          </a:solidFill>
          <a:ln w="6350">
            <a:solidFill>
              <a:srgbClr val="FFFFFF"/>
            </a:solidFill>
            <a:prstDash val="solid"/>
          </a:ln>
        </p:spPr>
      </p:sp>
      <p:sp>
        <p:nvSpPr>
          <p:cNvPr id="175" name="Text 173"/>
          <p:cNvSpPr txBox="1"/>
          <p:nvPr/>
        </p:nvSpPr>
        <p:spPr>
          <a:xfrm>
            <a:off x="9707732" y="3007494"/>
            <a:ext cx="91117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29</a:t>
            </a:r>
            <a:endParaRPr lang="en-US" sz="1300" dirty="0"/>
          </a:p>
        </p:txBody>
      </p:sp>
      <p:sp>
        <p:nvSpPr>
          <p:cNvPr id="176" name="Shape 174"/>
          <p:cNvSpPr/>
          <p:nvPr/>
        </p:nvSpPr>
        <p:spPr>
          <a:xfrm>
            <a:off x="10618904" y="3007494"/>
            <a:ext cx="893392" cy="174962"/>
          </a:xfrm>
          <a:prstGeom prst="rect">
            <a:avLst/>
          </a:prstGeom>
          <a:solidFill>
            <a:srgbClr val="D9D9D9"/>
          </a:solidFill>
          <a:ln w="6350">
            <a:solidFill>
              <a:srgbClr val="FFFFFF"/>
            </a:solidFill>
            <a:prstDash val="solid"/>
          </a:ln>
        </p:spPr>
      </p:sp>
      <p:sp>
        <p:nvSpPr>
          <p:cNvPr id="177" name="Text 175"/>
          <p:cNvSpPr txBox="1"/>
          <p:nvPr/>
        </p:nvSpPr>
        <p:spPr>
          <a:xfrm>
            <a:off x="10618904" y="3007494"/>
            <a:ext cx="893392"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28</a:t>
            </a:r>
            <a:endParaRPr lang="en-US" sz="1300" dirty="0"/>
          </a:p>
        </p:txBody>
      </p:sp>
      <p:sp>
        <p:nvSpPr>
          <p:cNvPr id="178" name="Text 176"/>
          <p:cNvSpPr txBox="1"/>
          <p:nvPr/>
        </p:nvSpPr>
        <p:spPr>
          <a:xfrm>
            <a:off x="6208776" y="3210082"/>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79" name="Shape 177"/>
          <p:cNvSpPr/>
          <p:nvPr/>
        </p:nvSpPr>
        <p:spPr>
          <a:xfrm>
            <a:off x="8357616" y="3237708"/>
            <a:ext cx="1294066" cy="174962"/>
          </a:xfrm>
          <a:prstGeom prst="rect">
            <a:avLst/>
          </a:prstGeom>
          <a:solidFill>
            <a:srgbClr val="2587C5"/>
          </a:solidFill>
          <a:ln w="6350">
            <a:solidFill>
              <a:srgbClr val="FFFFFF"/>
            </a:solidFill>
            <a:prstDash val="solid"/>
          </a:ln>
        </p:spPr>
      </p:sp>
      <p:sp>
        <p:nvSpPr>
          <p:cNvPr id="180" name="Text 178"/>
          <p:cNvSpPr txBox="1"/>
          <p:nvPr/>
        </p:nvSpPr>
        <p:spPr>
          <a:xfrm>
            <a:off x="8357616" y="3237708"/>
            <a:ext cx="129406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1" name="Shape 179"/>
          <p:cNvSpPr/>
          <p:nvPr/>
        </p:nvSpPr>
        <p:spPr>
          <a:xfrm>
            <a:off x="9651682" y="3237708"/>
            <a:ext cx="1618588" cy="174962"/>
          </a:xfrm>
          <a:prstGeom prst="rect">
            <a:avLst/>
          </a:prstGeom>
          <a:solidFill>
            <a:srgbClr val="0B2C4A"/>
          </a:solidFill>
          <a:ln w="6350">
            <a:solidFill>
              <a:srgbClr val="FFFFFF"/>
            </a:solidFill>
            <a:prstDash val="solid"/>
          </a:ln>
        </p:spPr>
      </p:sp>
      <p:sp>
        <p:nvSpPr>
          <p:cNvPr id="182" name="Text 180"/>
          <p:cNvSpPr txBox="1"/>
          <p:nvPr/>
        </p:nvSpPr>
        <p:spPr>
          <a:xfrm>
            <a:off x="9651682" y="3237708"/>
            <a:ext cx="1618588"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51</a:t>
            </a:r>
            <a:endParaRPr lang="en-US" sz="1300" dirty="0"/>
          </a:p>
        </p:txBody>
      </p:sp>
      <p:sp>
        <p:nvSpPr>
          <p:cNvPr id="183" name="Shape 181"/>
          <p:cNvSpPr/>
          <p:nvPr/>
        </p:nvSpPr>
        <p:spPr>
          <a:xfrm>
            <a:off x="11270270" y="3237708"/>
            <a:ext cx="242026" cy="174962"/>
          </a:xfrm>
          <a:prstGeom prst="rect">
            <a:avLst/>
          </a:prstGeom>
          <a:solidFill>
            <a:srgbClr val="D9D9D9"/>
          </a:solidFill>
          <a:ln w="6350">
            <a:solidFill>
              <a:srgbClr val="FFFFFF"/>
            </a:solidFill>
            <a:prstDash val="solid"/>
          </a:ln>
        </p:spPr>
      </p:sp>
      <p:sp>
        <p:nvSpPr>
          <p:cNvPr id="184" name="Text 182"/>
          <p:cNvSpPr txBox="1"/>
          <p:nvPr/>
        </p:nvSpPr>
        <p:spPr>
          <a:xfrm>
            <a:off x="11270270" y="3237708"/>
            <a:ext cx="24202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8</a:t>
            </a:r>
            <a:endParaRPr lang="en-US" sz="1300" dirty="0"/>
          </a:p>
        </p:txBody>
      </p:sp>
      <p:sp>
        <p:nvSpPr>
          <p:cNvPr id="185" name="Text 183"/>
          <p:cNvSpPr txBox="1"/>
          <p:nvPr/>
        </p:nvSpPr>
        <p:spPr>
          <a:xfrm>
            <a:off x="6208776" y="344029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86" name="Shape 184"/>
          <p:cNvSpPr/>
          <p:nvPr/>
        </p:nvSpPr>
        <p:spPr>
          <a:xfrm>
            <a:off x="8357616" y="3467921"/>
            <a:ext cx="1279235" cy="174962"/>
          </a:xfrm>
          <a:prstGeom prst="rect">
            <a:avLst/>
          </a:prstGeom>
          <a:solidFill>
            <a:srgbClr val="2587C5"/>
          </a:solidFill>
          <a:ln w="6350">
            <a:solidFill>
              <a:srgbClr val="FFFFFF"/>
            </a:solidFill>
            <a:prstDash val="solid"/>
          </a:ln>
        </p:spPr>
      </p:sp>
      <p:sp>
        <p:nvSpPr>
          <p:cNvPr id="187" name="Text 185"/>
          <p:cNvSpPr txBox="1"/>
          <p:nvPr/>
        </p:nvSpPr>
        <p:spPr>
          <a:xfrm>
            <a:off x="8357616" y="3467921"/>
            <a:ext cx="12792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41</a:t>
            </a:r>
            <a:endParaRPr lang="en-US" sz="1300" dirty="0"/>
          </a:p>
        </p:txBody>
      </p:sp>
      <p:sp>
        <p:nvSpPr>
          <p:cNvPr id="188" name="Shape 186"/>
          <p:cNvSpPr/>
          <p:nvPr/>
        </p:nvSpPr>
        <p:spPr>
          <a:xfrm>
            <a:off x="9636851" y="3467921"/>
            <a:ext cx="1523817" cy="174962"/>
          </a:xfrm>
          <a:prstGeom prst="rect">
            <a:avLst/>
          </a:prstGeom>
          <a:solidFill>
            <a:srgbClr val="0B2C4A"/>
          </a:solidFill>
          <a:ln w="6350">
            <a:solidFill>
              <a:srgbClr val="FFFFFF"/>
            </a:solidFill>
            <a:prstDash val="solid"/>
          </a:ln>
        </p:spPr>
      </p:sp>
      <p:sp>
        <p:nvSpPr>
          <p:cNvPr id="189" name="Text 187"/>
          <p:cNvSpPr txBox="1"/>
          <p:nvPr/>
        </p:nvSpPr>
        <p:spPr>
          <a:xfrm>
            <a:off x="9636851" y="3467921"/>
            <a:ext cx="152381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48</a:t>
            </a:r>
            <a:endParaRPr lang="en-US" sz="1300" dirty="0"/>
          </a:p>
        </p:txBody>
      </p:sp>
      <p:sp>
        <p:nvSpPr>
          <p:cNvPr id="190" name="Shape 188"/>
          <p:cNvSpPr/>
          <p:nvPr/>
        </p:nvSpPr>
        <p:spPr>
          <a:xfrm>
            <a:off x="11160668" y="3467921"/>
            <a:ext cx="351628" cy="174962"/>
          </a:xfrm>
          <a:prstGeom prst="rect">
            <a:avLst/>
          </a:prstGeom>
          <a:solidFill>
            <a:srgbClr val="D9D9D9"/>
          </a:solidFill>
          <a:ln w="6350">
            <a:solidFill>
              <a:srgbClr val="FFFFFF"/>
            </a:solidFill>
            <a:prstDash val="solid"/>
          </a:ln>
        </p:spPr>
      </p:sp>
      <p:sp>
        <p:nvSpPr>
          <p:cNvPr id="191" name="Text 189"/>
          <p:cNvSpPr txBox="1"/>
          <p:nvPr/>
        </p:nvSpPr>
        <p:spPr>
          <a:xfrm>
            <a:off x="11160668" y="3467921"/>
            <a:ext cx="35162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11</a:t>
            </a:r>
            <a:endParaRPr lang="en-US" sz="1300" dirty="0"/>
          </a:p>
        </p:txBody>
      </p:sp>
      <p:sp>
        <p:nvSpPr>
          <p:cNvPr id="192" name="Text 190"/>
          <p:cNvSpPr txBox="1"/>
          <p:nvPr/>
        </p:nvSpPr>
        <p:spPr>
          <a:xfrm>
            <a:off x="6208776" y="3670509"/>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93" name="Shape 191"/>
          <p:cNvSpPr/>
          <p:nvPr/>
        </p:nvSpPr>
        <p:spPr>
          <a:xfrm>
            <a:off x="8357616" y="3698135"/>
            <a:ext cx="1267532" cy="174962"/>
          </a:xfrm>
          <a:prstGeom prst="rect">
            <a:avLst/>
          </a:prstGeom>
          <a:solidFill>
            <a:srgbClr val="2587C5"/>
          </a:solidFill>
          <a:ln w="6350">
            <a:solidFill>
              <a:srgbClr val="FFFFFF"/>
            </a:solidFill>
            <a:prstDash val="solid"/>
          </a:ln>
        </p:spPr>
      </p:sp>
      <p:sp>
        <p:nvSpPr>
          <p:cNvPr id="194" name="Text 192"/>
          <p:cNvSpPr txBox="1"/>
          <p:nvPr/>
        </p:nvSpPr>
        <p:spPr>
          <a:xfrm>
            <a:off x="8357616" y="3698135"/>
            <a:ext cx="126753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40</a:t>
            </a:r>
            <a:endParaRPr lang="en-US" sz="1300" dirty="0"/>
          </a:p>
        </p:txBody>
      </p:sp>
      <p:sp>
        <p:nvSpPr>
          <p:cNvPr id="195" name="Shape 193"/>
          <p:cNvSpPr/>
          <p:nvPr/>
        </p:nvSpPr>
        <p:spPr>
          <a:xfrm>
            <a:off x="9625148" y="3698135"/>
            <a:ext cx="1322830" cy="174962"/>
          </a:xfrm>
          <a:prstGeom prst="rect">
            <a:avLst/>
          </a:prstGeom>
          <a:solidFill>
            <a:srgbClr val="0B2C4A"/>
          </a:solidFill>
          <a:ln w="6350">
            <a:solidFill>
              <a:srgbClr val="FFFFFF"/>
            </a:solidFill>
            <a:prstDash val="solid"/>
          </a:ln>
        </p:spPr>
      </p:sp>
      <p:sp>
        <p:nvSpPr>
          <p:cNvPr id="196" name="Text 194"/>
          <p:cNvSpPr txBox="1"/>
          <p:nvPr/>
        </p:nvSpPr>
        <p:spPr>
          <a:xfrm>
            <a:off x="9625148" y="3698135"/>
            <a:ext cx="132283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42</a:t>
            </a:r>
            <a:endParaRPr lang="en-US" sz="1300" dirty="0"/>
          </a:p>
        </p:txBody>
      </p:sp>
      <p:sp>
        <p:nvSpPr>
          <p:cNvPr id="197" name="Shape 195"/>
          <p:cNvSpPr/>
          <p:nvPr/>
        </p:nvSpPr>
        <p:spPr>
          <a:xfrm>
            <a:off x="10947978" y="3698135"/>
            <a:ext cx="564318" cy="174962"/>
          </a:xfrm>
          <a:prstGeom prst="rect">
            <a:avLst/>
          </a:prstGeom>
          <a:solidFill>
            <a:srgbClr val="D9D9D9"/>
          </a:solidFill>
          <a:ln w="6350">
            <a:solidFill>
              <a:srgbClr val="FFFFFF"/>
            </a:solidFill>
            <a:prstDash val="solid"/>
          </a:ln>
        </p:spPr>
      </p:sp>
      <p:sp>
        <p:nvSpPr>
          <p:cNvPr id="198" name="Text 196"/>
          <p:cNvSpPr txBox="1"/>
          <p:nvPr/>
        </p:nvSpPr>
        <p:spPr>
          <a:xfrm>
            <a:off x="10947978" y="3698135"/>
            <a:ext cx="564318"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18</a:t>
            </a:r>
            <a:endParaRPr lang="en-US" sz="1300" dirty="0"/>
          </a:p>
        </p:txBody>
      </p:sp>
      <p:sp>
        <p:nvSpPr>
          <p:cNvPr id="199" name="Text 197"/>
          <p:cNvSpPr txBox="1"/>
          <p:nvPr/>
        </p:nvSpPr>
        <p:spPr>
          <a:xfrm>
            <a:off x="6208776" y="3900723"/>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00" name="Shape 198"/>
          <p:cNvSpPr/>
          <p:nvPr/>
        </p:nvSpPr>
        <p:spPr>
          <a:xfrm>
            <a:off x="8357616" y="3928348"/>
            <a:ext cx="1211800" cy="174962"/>
          </a:xfrm>
          <a:prstGeom prst="rect">
            <a:avLst/>
          </a:prstGeom>
          <a:solidFill>
            <a:srgbClr val="2587C5"/>
          </a:solidFill>
          <a:ln w="6350">
            <a:solidFill>
              <a:srgbClr val="FFFFFF"/>
            </a:solidFill>
            <a:prstDash val="solid"/>
          </a:ln>
        </p:spPr>
      </p:sp>
      <p:sp>
        <p:nvSpPr>
          <p:cNvPr id="201" name="Text 199"/>
          <p:cNvSpPr txBox="1"/>
          <p:nvPr/>
        </p:nvSpPr>
        <p:spPr>
          <a:xfrm>
            <a:off x="8357616" y="3928348"/>
            <a:ext cx="1211800"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02" name="Shape 200"/>
          <p:cNvSpPr/>
          <p:nvPr/>
        </p:nvSpPr>
        <p:spPr>
          <a:xfrm>
            <a:off x="9569416" y="3928348"/>
            <a:ext cx="1028046" cy="174962"/>
          </a:xfrm>
          <a:prstGeom prst="rect">
            <a:avLst/>
          </a:prstGeom>
          <a:solidFill>
            <a:srgbClr val="0B2C4A"/>
          </a:solidFill>
          <a:ln w="6350">
            <a:solidFill>
              <a:srgbClr val="FFFFFF"/>
            </a:solidFill>
            <a:prstDash val="solid"/>
          </a:ln>
        </p:spPr>
      </p:sp>
      <p:sp>
        <p:nvSpPr>
          <p:cNvPr id="203" name="Text 201"/>
          <p:cNvSpPr txBox="1"/>
          <p:nvPr/>
        </p:nvSpPr>
        <p:spPr>
          <a:xfrm>
            <a:off x="9569416" y="3928348"/>
            <a:ext cx="1028046"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04" name="Shape 202"/>
          <p:cNvSpPr/>
          <p:nvPr/>
        </p:nvSpPr>
        <p:spPr>
          <a:xfrm>
            <a:off x="10597462" y="3928348"/>
            <a:ext cx="914834" cy="174962"/>
          </a:xfrm>
          <a:prstGeom prst="rect">
            <a:avLst/>
          </a:prstGeom>
          <a:solidFill>
            <a:srgbClr val="D9D9D9"/>
          </a:solidFill>
          <a:ln w="6350">
            <a:solidFill>
              <a:srgbClr val="FFFFFF"/>
            </a:solidFill>
            <a:prstDash val="solid"/>
          </a:ln>
        </p:spPr>
      </p:sp>
      <p:sp>
        <p:nvSpPr>
          <p:cNvPr id="205" name="Text 203"/>
          <p:cNvSpPr txBox="1"/>
          <p:nvPr/>
        </p:nvSpPr>
        <p:spPr>
          <a:xfrm>
            <a:off x="10597462" y="3928348"/>
            <a:ext cx="914834"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29</a:t>
            </a:r>
            <a:endParaRPr lang="en-US" sz="1300" dirty="0"/>
          </a:p>
        </p:txBody>
      </p:sp>
      <p:sp>
        <p:nvSpPr>
          <p:cNvPr id="206" name="Text 204"/>
          <p:cNvSpPr txBox="1"/>
          <p:nvPr/>
        </p:nvSpPr>
        <p:spPr>
          <a:xfrm>
            <a:off x="6208776" y="4130936"/>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07" name="Shape 205"/>
          <p:cNvSpPr/>
          <p:nvPr/>
        </p:nvSpPr>
        <p:spPr>
          <a:xfrm>
            <a:off x="8357616" y="4158562"/>
            <a:ext cx="1108292" cy="174962"/>
          </a:xfrm>
          <a:prstGeom prst="rect">
            <a:avLst/>
          </a:prstGeom>
          <a:solidFill>
            <a:srgbClr val="2587C5"/>
          </a:solidFill>
          <a:ln w="6350">
            <a:solidFill>
              <a:srgbClr val="FFFFFF"/>
            </a:solidFill>
            <a:prstDash val="solid"/>
          </a:ln>
        </p:spPr>
      </p:sp>
      <p:sp>
        <p:nvSpPr>
          <p:cNvPr id="208" name="Text 206"/>
          <p:cNvSpPr txBox="1"/>
          <p:nvPr/>
        </p:nvSpPr>
        <p:spPr>
          <a:xfrm>
            <a:off x="8357616" y="4158562"/>
            <a:ext cx="110829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35</a:t>
            </a:r>
            <a:endParaRPr lang="en-US" sz="1300" dirty="0"/>
          </a:p>
        </p:txBody>
      </p:sp>
      <p:sp>
        <p:nvSpPr>
          <p:cNvPr id="209" name="Shape 207"/>
          <p:cNvSpPr/>
          <p:nvPr/>
        </p:nvSpPr>
        <p:spPr>
          <a:xfrm>
            <a:off x="9465908" y="4158562"/>
            <a:ext cx="1192265" cy="174962"/>
          </a:xfrm>
          <a:prstGeom prst="rect">
            <a:avLst/>
          </a:prstGeom>
          <a:solidFill>
            <a:srgbClr val="0B2C4A"/>
          </a:solidFill>
          <a:ln w="6350">
            <a:solidFill>
              <a:srgbClr val="FFFFFF"/>
            </a:solidFill>
            <a:prstDash val="solid"/>
          </a:ln>
        </p:spPr>
      </p:sp>
      <p:sp>
        <p:nvSpPr>
          <p:cNvPr id="210" name="Text 208"/>
          <p:cNvSpPr txBox="1"/>
          <p:nvPr/>
        </p:nvSpPr>
        <p:spPr>
          <a:xfrm>
            <a:off x="9465908" y="4158562"/>
            <a:ext cx="119226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38</a:t>
            </a:r>
            <a:endParaRPr lang="en-US" sz="1300" dirty="0"/>
          </a:p>
        </p:txBody>
      </p:sp>
      <p:sp>
        <p:nvSpPr>
          <p:cNvPr id="211" name="Shape 209"/>
          <p:cNvSpPr/>
          <p:nvPr/>
        </p:nvSpPr>
        <p:spPr>
          <a:xfrm>
            <a:off x="10658173" y="4158562"/>
            <a:ext cx="854123" cy="174962"/>
          </a:xfrm>
          <a:prstGeom prst="rect">
            <a:avLst/>
          </a:prstGeom>
          <a:solidFill>
            <a:srgbClr val="D9D9D9"/>
          </a:solidFill>
          <a:ln w="6350">
            <a:solidFill>
              <a:srgbClr val="FFFFFF"/>
            </a:solidFill>
            <a:prstDash val="solid"/>
          </a:ln>
        </p:spPr>
      </p:sp>
      <p:sp>
        <p:nvSpPr>
          <p:cNvPr id="212" name="Text 210"/>
          <p:cNvSpPr txBox="1"/>
          <p:nvPr/>
        </p:nvSpPr>
        <p:spPr>
          <a:xfrm>
            <a:off x="10658173" y="4158562"/>
            <a:ext cx="854123"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27</a:t>
            </a:r>
            <a:endParaRPr lang="en-US" sz="1300" dirty="0"/>
          </a:p>
        </p:txBody>
      </p:sp>
      <p:sp>
        <p:nvSpPr>
          <p:cNvPr id="213" name="Text 211"/>
          <p:cNvSpPr txBox="1"/>
          <p:nvPr/>
        </p:nvSpPr>
        <p:spPr>
          <a:xfrm>
            <a:off x="6208776" y="4361150"/>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214" name="Shape 212"/>
          <p:cNvSpPr/>
          <p:nvPr/>
        </p:nvSpPr>
        <p:spPr>
          <a:xfrm>
            <a:off x="8357616" y="4388776"/>
            <a:ext cx="1069967" cy="174962"/>
          </a:xfrm>
          <a:prstGeom prst="rect">
            <a:avLst/>
          </a:prstGeom>
          <a:solidFill>
            <a:srgbClr val="2587C5"/>
          </a:solidFill>
          <a:ln w="6350">
            <a:solidFill>
              <a:srgbClr val="FFFFFF"/>
            </a:solidFill>
            <a:prstDash val="solid"/>
          </a:ln>
        </p:spPr>
      </p:sp>
      <p:sp>
        <p:nvSpPr>
          <p:cNvPr id="215" name="Text 213"/>
          <p:cNvSpPr txBox="1"/>
          <p:nvPr/>
        </p:nvSpPr>
        <p:spPr>
          <a:xfrm>
            <a:off x="8357616" y="4388776"/>
            <a:ext cx="1069967"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34</a:t>
            </a:r>
            <a:endParaRPr lang="en-US" sz="1300" dirty="0"/>
          </a:p>
        </p:txBody>
      </p:sp>
      <p:sp>
        <p:nvSpPr>
          <p:cNvPr id="216" name="Shape 214"/>
          <p:cNvSpPr/>
          <p:nvPr/>
        </p:nvSpPr>
        <p:spPr>
          <a:xfrm>
            <a:off x="9427583" y="4388776"/>
            <a:ext cx="81602" cy="174962"/>
          </a:xfrm>
          <a:prstGeom prst="rect">
            <a:avLst/>
          </a:prstGeom>
          <a:solidFill>
            <a:srgbClr val="0B2C4A"/>
          </a:solidFill>
          <a:ln w="6350">
            <a:solidFill>
              <a:srgbClr val="FFFFFF"/>
            </a:solidFill>
            <a:prstDash val="solid"/>
          </a:ln>
        </p:spPr>
      </p:sp>
      <p:sp>
        <p:nvSpPr>
          <p:cNvPr id="217" name="Shape 215"/>
          <p:cNvSpPr/>
          <p:nvPr/>
        </p:nvSpPr>
        <p:spPr>
          <a:xfrm>
            <a:off x="9509185" y="4388776"/>
            <a:ext cx="2003111" cy="174962"/>
          </a:xfrm>
          <a:prstGeom prst="rect">
            <a:avLst/>
          </a:prstGeom>
          <a:solidFill>
            <a:srgbClr val="D9D9D9"/>
          </a:solidFill>
          <a:ln w="6350">
            <a:solidFill>
              <a:srgbClr val="FFFFFF"/>
            </a:solidFill>
            <a:prstDash val="solid"/>
          </a:ln>
        </p:spPr>
      </p:sp>
      <p:sp>
        <p:nvSpPr>
          <p:cNvPr id="218" name="Text 216"/>
          <p:cNvSpPr txBox="1"/>
          <p:nvPr/>
        </p:nvSpPr>
        <p:spPr>
          <a:xfrm>
            <a:off x="9509185" y="4388776"/>
            <a:ext cx="200311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63</a:t>
            </a:r>
            <a:endParaRPr lang="en-US" sz="1300" dirty="0"/>
          </a:p>
        </p:txBody>
      </p:sp>
      <p:sp>
        <p:nvSpPr>
          <p:cNvPr id="219" name="Text 217"/>
          <p:cNvSpPr txBox="1"/>
          <p:nvPr/>
        </p:nvSpPr>
        <p:spPr>
          <a:xfrm>
            <a:off x="6208776" y="4591364"/>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20" name="Shape 218"/>
          <p:cNvSpPr/>
          <p:nvPr/>
        </p:nvSpPr>
        <p:spPr>
          <a:xfrm>
            <a:off x="8357616" y="4618989"/>
            <a:ext cx="1034691" cy="174962"/>
          </a:xfrm>
          <a:prstGeom prst="rect">
            <a:avLst/>
          </a:prstGeom>
          <a:solidFill>
            <a:srgbClr val="2587C5"/>
          </a:solidFill>
          <a:ln w="6350">
            <a:solidFill>
              <a:srgbClr val="FFFFFF"/>
            </a:solidFill>
            <a:prstDash val="solid"/>
          </a:ln>
        </p:spPr>
      </p:sp>
      <p:sp>
        <p:nvSpPr>
          <p:cNvPr id="221" name="Text 219"/>
          <p:cNvSpPr txBox="1"/>
          <p:nvPr/>
        </p:nvSpPr>
        <p:spPr>
          <a:xfrm>
            <a:off x="8357616" y="4618989"/>
            <a:ext cx="103469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33</a:t>
            </a:r>
            <a:endParaRPr lang="en-US" sz="1300" dirty="0"/>
          </a:p>
        </p:txBody>
      </p:sp>
      <p:sp>
        <p:nvSpPr>
          <p:cNvPr id="222" name="Shape 220"/>
          <p:cNvSpPr/>
          <p:nvPr/>
        </p:nvSpPr>
        <p:spPr>
          <a:xfrm>
            <a:off x="9392307" y="4618989"/>
            <a:ext cx="1723364" cy="174962"/>
          </a:xfrm>
          <a:prstGeom prst="rect">
            <a:avLst/>
          </a:prstGeom>
          <a:solidFill>
            <a:srgbClr val="0B2C4A"/>
          </a:solidFill>
          <a:ln w="6350">
            <a:solidFill>
              <a:srgbClr val="FFFFFF"/>
            </a:solidFill>
            <a:prstDash val="solid"/>
          </a:ln>
        </p:spPr>
      </p:sp>
      <p:sp>
        <p:nvSpPr>
          <p:cNvPr id="223" name="Text 221"/>
          <p:cNvSpPr txBox="1"/>
          <p:nvPr/>
        </p:nvSpPr>
        <p:spPr>
          <a:xfrm>
            <a:off x="9392307" y="4618989"/>
            <a:ext cx="172336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55</a:t>
            </a:r>
            <a:endParaRPr lang="en-US" sz="1300" dirty="0"/>
          </a:p>
        </p:txBody>
      </p:sp>
      <p:sp>
        <p:nvSpPr>
          <p:cNvPr id="224" name="Shape 222"/>
          <p:cNvSpPr/>
          <p:nvPr/>
        </p:nvSpPr>
        <p:spPr>
          <a:xfrm>
            <a:off x="11115671" y="4618989"/>
            <a:ext cx="396625" cy="174962"/>
          </a:xfrm>
          <a:prstGeom prst="rect">
            <a:avLst/>
          </a:prstGeom>
          <a:solidFill>
            <a:srgbClr val="D9D9D9"/>
          </a:solidFill>
          <a:ln w="6350">
            <a:solidFill>
              <a:srgbClr val="FFFFFF"/>
            </a:solidFill>
            <a:prstDash val="solid"/>
          </a:ln>
        </p:spPr>
      </p:sp>
      <p:sp>
        <p:nvSpPr>
          <p:cNvPr id="225" name="Text 223"/>
          <p:cNvSpPr txBox="1"/>
          <p:nvPr/>
        </p:nvSpPr>
        <p:spPr>
          <a:xfrm>
            <a:off x="11115671" y="4618989"/>
            <a:ext cx="396625"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13</a:t>
            </a:r>
            <a:endParaRPr lang="en-US" sz="1300" dirty="0"/>
          </a:p>
        </p:txBody>
      </p:sp>
      <p:sp>
        <p:nvSpPr>
          <p:cNvPr id="226" name="Text 224"/>
          <p:cNvSpPr txBox="1"/>
          <p:nvPr/>
        </p:nvSpPr>
        <p:spPr>
          <a:xfrm>
            <a:off x="6208776" y="4821577"/>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27" name="Shape 225"/>
          <p:cNvSpPr/>
          <p:nvPr/>
        </p:nvSpPr>
        <p:spPr>
          <a:xfrm>
            <a:off x="8357616" y="4849203"/>
            <a:ext cx="1015371" cy="174962"/>
          </a:xfrm>
          <a:prstGeom prst="rect">
            <a:avLst/>
          </a:prstGeom>
          <a:solidFill>
            <a:srgbClr val="2587C5"/>
          </a:solidFill>
          <a:ln w="6350">
            <a:solidFill>
              <a:srgbClr val="FFFFFF"/>
            </a:solidFill>
            <a:prstDash val="solid"/>
          </a:ln>
        </p:spPr>
      </p:sp>
      <p:sp>
        <p:nvSpPr>
          <p:cNvPr id="228" name="Text 226"/>
          <p:cNvSpPr txBox="1"/>
          <p:nvPr/>
        </p:nvSpPr>
        <p:spPr>
          <a:xfrm>
            <a:off x="8357616" y="4849203"/>
            <a:ext cx="1015371"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32</a:t>
            </a:r>
            <a:endParaRPr lang="en-US" sz="1300" dirty="0"/>
          </a:p>
        </p:txBody>
      </p:sp>
      <p:sp>
        <p:nvSpPr>
          <p:cNvPr id="229" name="Shape 227"/>
          <p:cNvSpPr/>
          <p:nvPr/>
        </p:nvSpPr>
        <p:spPr>
          <a:xfrm>
            <a:off x="9372987" y="4849203"/>
            <a:ext cx="938383" cy="174962"/>
          </a:xfrm>
          <a:prstGeom prst="rect">
            <a:avLst/>
          </a:prstGeom>
          <a:solidFill>
            <a:srgbClr val="0B2C4A"/>
          </a:solidFill>
          <a:ln w="6350">
            <a:solidFill>
              <a:srgbClr val="FFFFFF"/>
            </a:solidFill>
            <a:prstDash val="solid"/>
          </a:ln>
        </p:spPr>
      </p:sp>
      <p:sp>
        <p:nvSpPr>
          <p:cNvPr id="230" name="Text 228"/>
          <p:cNvSpPr txBox="1"/>
          <p:nvPr/>
        </p:nvSpPr>
        <p:spPr>
          <a:xfrm>
            <a:off x="9372987" y="4849203"/>
            <a:ext cx="938383"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30</a:t>
            </a:r>
            <a:endParaRPr lang="en-US" sz="1300" dirty="0"/>
          </a:p>
        </p:txBody>
      </p:sp>
      <p:sp>
        <p:nvSpPr>
          <p:cNvPr id="231" name="Shape 229"/>
          <p:cNvSpPr/>
          <p:nvPr/>
        </p:nvSpPr>
        <p:spPr>
          <a:xfrm>
            <a:off x="10311370" y="4849203"/>
            <a:ext cx="1200926" cy="174962"/>
          </a:xfrm>
          <a:prstGeom prst="rect">
            <a:avLst/>
          </a:prstGeom>
          <a:solidFill>
            <a:srgbClr val="D9D9D9"/>
          </a:solidFill>
          <a:ln w="6350">
            <a:solidFill>
              <a:srgbClr val="FFFFFF"/>
            </a:solidFill>
            <a:prstDash val="solid"/>
          </a:ln>
        </p:spPr>
      </p:sp>
      <p:sp>
        <p:nvSpPr>
          <p:cNvPr id="232" name="Text 230"/>
          <p:cNvSpPr txBox="1"/>
          <p:nvPr/>
        </p:nvSpPr>
        <p:spPr>
          <a:xfrm>
            <a:off x="10311370" y="4849203"/>
            <a:ext cx="1200926"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38</a:t>
            </a:r>
            <a:endParaRPr lang="en-US" sz="1300" dirty="0"/>
          </a:p>
        </p:txBody>
      </p:sp>
      <p:sp>
        <p:nvSpPr>
          <p:cNvPr id="233" name="Text 231"/>
          <p:cNvSpPr txBox="1"/>
          <p:nvPr/>
        </p:nvSpPr>
        <p:spPr>
          <a:xfrm>
            <a:off x="6208776" y="5051791"/>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234" name="Shape 232"/>
          <p:cNvSpPr/>
          <p:nvPr/>
        </p:nvSpPr>
        <p:spPr>
          <a:xfrm>
            <a:off x="8357616" y="5079417"/>
            <a:ext cx="867269" cy="174962"/>
          </a:xfrm>
          <a:prstGeom prst="rect">
            <a:avLst/>
          </a:prstGeom>
          <a:solidFill>
            <a:srgbClr val="2587C5"/>
          </a:solidFill>
          <a:ln w="6350">
            <a:solidFill>
              <a:srgbClr val="FFFFFF"/>
            </a:solidFill>
            <a:prstDash val="solid"/>
          </a:ln>
        </p:spPr>
      </p:sp>
      <p:sp>
        <p:nvSpPr>
          <p:cNvPr id="235" name="Text 233"/>
          <p:cNvSpPr txBox="1"/>
          <p:nvPr/>
        </p:nvSpPr>
        <p:spPr>
          <a:xfrm>
            <a:off x="8357616" y="5079417"/>
            <a:ext cx="867269"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36" name="Shape 234"/>
          <p:cNvSpPr/>
          <p:nvPr/>
        </p:nvSpPr>
        <p:spPr>
          <a:xfrm>
            <a:off x="9224885" y="5079417"/>
            <a:ext cx="864752" cy="174962"/>
          </a:xfrm>
          <a:prstGeom prst="rect">
            <a:avLst/>
          </a:prstGeom>
          <a:solidFill>
            <a:srgbClr val="0B2C4A"/>
          </a:solidFill>
          <a:ln w="6350">
            <a:solidFill>
              <a:srgbClr val="FFFFFF"/>
            </a:solidFill>
            <a:prstDash val="solid"/>
          </a:ln>
        </p:spPr>
      </p:sp>
      <p:sp>
        <p:nvSpPr>
          <p:cNvPr id="237" name="Text 235"/>
          <p:cNvSpPr txBox="1"/>
          <p:nvPr/>
        </p:nvSpPr>
        <p:spPr>
          <a:xfrm>
            <a:off x="9224885" y="5079417"/>
            <a:ext cx="864752"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27</a:t>
            </a:r>
            <a:endParaRPr lang="en-US" sz="1300" dirty="0"/>
          </a:p>
        </p:txBody>
      </p:sp>
      <p:sp>
        <p:nvSpPr>
          <p:cNvPr id="238" name="Shape 236"/>
          <p:cNvSpPr/>
          <p:nvPr/>
        </p:nvSpPr>
        <p:spPr>
          <a:xfrm>
            <a:off x="10089637" y="5079417"/>
            <a:ext cx="1422659" cy="174962"/>
          </a:xfrm>
          <a:prstGeom prst="rect">
            <a:avLst/>
          </a:prstGeom>
          <a:solidFill>
            <a:srgbClr val="D9D9D9"/>
          </a:solidFill>
          <a:ln w="6350">
            <a:solidFill>
              <a:srgbClr val="FFFFFF"/>
            </a:solidFill>
            <a:prstDash val="solid"/>
          </a:ln>
        </p:spPr>
      </p:sp>
      <p:sp>
        <p:nvSpPr>
          <p:cNvPr id="239" name="Text 237"/>
          <p:cNvSpPr txBox="1"/>
          <p:nvPr/>
        </p:nvSpPr>
        <p:spPr>
          <a:xfrm>
            <a:off x="10089637" y="5079417"/>
            <a:ext cx="1422659"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45</a:t>
            </a:r>
            <a:endParaRPr lang="en-US" sz="1300" dirty="0"/>
          </a:p>
        </p:txBody>
      </p:sp>
      <p:sp>
        <p:nvSpPr>
          <p:cNvPr id="240" name="Text 238"/>
          <p:cNvSpPr txBox="1"/>
          <p:nvPr/>
        </p:nvSpPr>
        <p:spPr>
          <a:xfrm>
            <a:off x="6208776" y="5282005"/>
            <a:ext cx="210312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41" name="Shape 239"/>
          <p:cNvSpPr/>
          <p:nvPr/>
        </p:nvSpPr>
        <p:spPr>
          <a:xfrm>
            <a:off x="8357616" y="5309630"/>
            <a:ext cx="835514" cy="174962"/>
          </a:xfrm>
          <a:prstGeom prst="rect">
            <a:avLst/>
          </a:prstGeom>
          <a:solidFill>
            <a:srgbClr val="2587C5"/>
          </a:solidFill>
          <a:ln w="6350">
            <a:solidFill>
              <a:srgbClr val="FFFFFF"/>
            </a:solidFill>
            <a:prstDash val="solid"/>
          </a:ln>
        </p:spPr>
      </p:sp>
      <p:sp>
        <p:nvSpPr>
          <p:cNvPr id="242" name="Text 240"/>
          <p:cNvSpPr txBox="1"/>
          <p:nvPr/>
        </p:nvSpPr>
        <p:spPr>
          <a:xfrm>
            <a:off x="8357616" y="5309630"/>
            <a:ext cx="835514"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26</a:t>
            </a:r>
            <a:endParaRPr lang="en-US" sz="1300" dirty="0"/>
          </a:p>
        </p:txBody>
      </p:sp>
      <p:sp>
        <p:nvSpPr>
          <p:cNvPr id="243" name="Shape 241"/>
          <p:cNvSpPr/>
          <p:nvPr/>
        </p:nvSpPr>
        <p:spPr>
          <a:xfrm>
            <a:off x="9193130" y="5309630"/>
            <a:ext cx="685335" cy="174962"/>
          </a:xfrm>
          <a:prstGeom prst="rect">
            <a:avLst/>
          </a:prstGeom>
          <a:solidFill>
            <a:srgbClr val="0B2C4A"/>
          </a:solidFill>
          <a:ln w="6350">
            <a:solidFill>
              <a:srgbClr val="FFFFFF"/>
            </a:solidFill>
            <a:prstDash val="solid"/>
          </a:ln>
        </p:spPr>
      </p:sp>
      <p:sp>
        <p:nvSpPr>
          <p:cNvPr id="244" name="Text 242"/>
          <p:cNvSpPr txBox="1"/>
          <p:nvPr/>
        </p:nvSpPr>
        <p:spPr>
          <a:xfrm>
            <a:off x="9193130" y="5309630"/>
            <a:ext cx="685335" cy="174962"/>
          </a:xfrm>
          <a:prstGeom prst="rect">
            <a:avLst/>
          </a:prstGeom>
          <a:noFill/>
          <a:ln/>
        </p:spPr>
        <p:txBody>
          <a:bodyPr wrap="non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22</a:t>
            </a:r>
            <a:endParaRPr lang="en-US" sz="1300" dirty="0"/>
          </a:p>
        </p:txBody>
      </p:sp>
      <p:sp>
        <p:nvSpPr>
          <p:cNvPr id="245" name="Shape 243"/>
          <p:cNvSpPr/>
          <p:nvPr/>
        </p:nvSpPr>
        <p:spPr>
          <a:xfrm>
            <a:off x="9878465" y="5309630"/>
            <a:ext cx="1633831" cy="174962"/>
          </a:xfrm>
          <a:prstGeom prst="rect">
            <a:avLst/>
          </a:prstGeom>
          <a:solidFill>
            <a:srgbClr val="D9D9D9"/>
          </a:solidFill>
          <a:ln w="6350">
            <a:solidFill>
              <a:srgbClr val="FFFFFF"/>
            </a:solidFill>
            <a:prstDash val="solid"/>
          </a:ln>
        </p:spPr>
      </p:sp>
      <p:sp>
        <p:nvSpPr>
          <p:cNvPr id="246" name="Text 244"/>
          <p:cNvSpPr txBox="1"/>
          <p:nvPr/>
        </p:nvSpPr>
        <p:spPr>
          <a:xfrm>
            <a:off x="9878465" y="5309630"/>
            <a:ext cx="1633831" cy="174962"/>
          </a:xfrm>
          <a:prstGeom prst="rect">
            <a:avLst/>
          </a:prstGeom>
          <a:noFill/>
          <a:ln/>
        </p:spPr>
        <p:txBody>
          <a:bodyPr wrap="none" lIns="0" tIns="0" rIns="0" bIns="0" rtlCol="0" anchor="ctr"/>
          <a:lstStyle/>
          <a:p>
            <a:pPr algn="ctr" indent="0" marL="0">
              <a:buNone/>
            </a:pPr>
            <a:r>
              <a:rPr lang="en-US" sz="1300" b="1" dirty="0">
                <a:solidFill>
                  <a:srgbClr val="1A1A1A"/>
                </a:solidFill>
                <a:latin typeface="Inter" pitchFamily="34" charset="0"/>
                <a:ea typeface="Inter" pitchFamily="34" charset="-122"/>
                <a:cs typeface="Inter" pitchFamily="34" charset="-120"/>
              </a:rPr>
              <a:t>52</a:t>
            </a:r>
            <a:endParaRPr lang="en-US" sz="1300" dirty="0"/>
          </a:p>
        </p:txBody>
      </p:sp>
      <p:sp>
        <p:nvSpPr>
          <p:cNvPr id="247" name="Shape 245"/>
          <p:cNvSpPr/>
          <p:nvPr/>
        </p:nvSpPr>
        <p:spPr>
          <a:xfrm>
            <a:off x="457200" y="5961888"/>
            <a:ext cx="11274552" cy="548640"/>
          </a:xfrm>
          <a:prstGeom prst="rect">
            <a:avLst/>
          </a:prstGeom>
          <a:solidFill>
            <a:srgbClr val="EDF4FA"/>
          </a:solidFill>
          <a:ln/>
        </p:spPr>
      </p:sp>
      <p:sp>
        <p:nvSpPr>
          <p:cNvPr id="248" name="Text 24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Maintenance is 54.3% of customer-pay labor, repair 30.5%, and 15.2% cannot be classified from its description (19.0% in 2025).</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LABOR MIX</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Unclassified Customer-Pay Labor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 name="Shape 5"/>
          <p:cNvSpPr/>
          <p:nvPr/>
        </p:nvSpPr>
        <p:spPr>
          <a:xfrm>
            <a:off x="2971800" y="1453358"/>
            <a:ext cx="121302"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 name="Shape 8"/>
          <p:cNvSpPr/>
          <p:nvPr/>
        </p:nvSpPr>
        <p:spPr>
          <a:xfrm>
            <a:off x="2971800" y="1707239"/>
            <a:ext cx="13340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 name="Shape 11"/>
          <p:cNvSpPr/>
          <p:nvPr/>
        </p:nvSpPr>
        <p:spPr>
          <a:xfrm>
            <a:off x="2971800" y="1961119"/>
            <a:ext cx="160575"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6" name="Shape 14"/>
          <p:cNvSpPr/>
          <p:nvPr/>
        </p:nvSpPr>
        <p:spPr>
          <a:xfrm>
            <a:off x="2971800" y="2215000"/>
            <a:ext cx="211718"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9" name="Shape 17"/>
          <p:cNvSpPr/>
          <p:nvPr/>
        </p:nvSpPr>
        <p:spPr>
          <a:xfrm>
            <a:off x="2971800" y="2468880"/>
            <a:ext cx="220965"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7.7%</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2" name="Shape 20"/>
          <p:cNvSpPr/>
          <p:nvPr/>
        </p:nvSpPr>
        <p:spPr>
          <a:xfrm>
            <a:off x="2971800" y="2722760"/>
            <a:ext cx="23169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5" name="Shape 23"/>
          <p:cNvSpPr/>
          <p:nvPr/>
        </p:nvSpPr>
        <p:spPr>
          <a:xfrm>
            <a:off x="2971800" y="2976641"/>
            <a:ext cx="258447"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8" name="Shape 26"/>
          <p:cNvSpPr/>
          <p:nvPr/>
        </p:nvSpPr>
        <p:spPr>
          <a:xfrm>
            <a:off x="2971800" y="3230521"/>
            <a:ext cx="264592"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1" name="Shape 29"/>
          <p:cNvSpPr/>
          <p:nvPr/>
        </p:nvSpPr>
        <p:spPr>
          <a:xfrm>
            <a:off x="2971800" y="3484402"/>
            <a:ext cx="27320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4" name="Shape 32"/>
          <p:cNvSpPr/>
          <p:nvPr/>
        </p:nvSpPr>
        <p:spPr>
          <a:xfrm>
            <a:off x="2971800" y="3738282"/>
            <a:ext cx="287399"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10.0%</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7" name="Shape 35"/>
          <p:cNvSpPr/>
          <p:nvPr/>
        </p:nvSpPr>
        <p:spPr>
          <a:xfrm>
            <a:off x="2971800" y="3992163"/>
            <a:ext cx="31350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10.9%</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0" name="Shape 38"/>
          <p:cNvSpPr/>
          <p:nvPr/>
        </p:nvSpPr>
        <p:spPr>
          <a:xfrm>
            <a:off x="2971800" y="4246043"/>
            <a:ext cx="321029"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3" name="Shape 41"/>
          <p:cNvSpPr/>
          <p:nvPr/>
        </p:nvSpPr>
        <p:spPr>
          <a:xfrm>
            <a:off x="2971800" y="4499924"/>
            <a:ext cx="358941"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6" name="Shape 44"/>
          <p:cNvSpPr/>
          <p:nvPr/>
        </p:nvSpPr>
        <p:spPr>
          <a:xfrm>
            <a:off x="2971800" y="4753804"/>
            <a:ext cx="362110"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9" name="Shape 47"/>
          <p:cNvSpPr/>
          <p:nvPr/>
        </p:nvSpPr>
        <p:spPr>
          <a:xfrm>
            <a:off x="2971800" y="5007685"/>
            <a:ext cx="389902"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13.5%</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2" name="Shape 50"/>
          <p:cNvSpPr/>
          <p:nvPr/>
        </p:nvSpPr>
        <p:spPr>
          <a:xfrm>
            <a:off x="2971800" y="5261565"/>
            <a:ext cx="414841"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14.4%</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5" name="Shape 53"/>
          <p:cNvSpPr/>
          <p:nvPr/>
        </p:nvSpPr>
        <p:spPr>
          <a:xfrm>
            <a:off x="2971800" y="5515446"/>
            <a:ext cx="415737"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14.4%</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8" name="Shape 56"/>
          <p:cNvSpPr/>
          <p:nvPr/>
        </p:nvSpPr>
        <p:spPr>
          <a:xfrm>
            <a:off x="8522208" y="1453358"/>
            <a:ext cx="426391"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a:t>
            </a:r>
            <a:endParaRPr lang="en-US" sz="1300" dirty="0"/>
          </a:p>
        </p:txBody>
      </p:sp>
      <p:sp>
        <p:nvSpPr>
          <p:cNvPr id="60" name="Shape 58"/>
          <p:cNvSpPr/>
          <p:nvPr/>
        </p:nvSpPr>
        <p:spPr>
          <a:xfrm>
            <a:off x="6135624" y="1639196"/>
            <a:ext cx="5413248" cy="244736"/>
          </a:xfrm>
          <a:prstGeom prst="rect">
            <a:avLst/>
          </a:prstGeom>
          <a:solidFill>
            <a:srgbClr val="EDF4FA"/>
          </a:solidFill>
          <a:ln/>
        </p:spPr>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62" name="Shape 60"/>
          <p:cNvSpPr/>
          <p:nvPr/>
        </p:nvSpPr>
        <p:spPr>
          <a:xfrm>
            <a:off x="8522208" y="1707239"/>
            <a:ext cx="437182" cy="126940"/>
          </a:xfrm>
          <a:prstGeom prst="rect">
            <a:avLst/>
          </a:prstGeom>
          <a:solidFill>
            <a:srgbClr val="0B2C4A"/>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15.2%</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441057"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8" name="Shape 66"/>
          <p:cNvSpPr/>
          <p:nvPr/>
        </p:nvSpPr>
        <p:spPr>
          <a:xfrm>
            <a:off x="8522208" y="2215000"/>
            <a:ext cx="515211"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17.9%</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1" name="Shape 69"/>
          <p:cNvSpPr/>
          <p:nvPr/>
        </p:nvSpPr>
        <p:spPr>
          <a:xfrm>
            <a:off x="8522208" y="2468880"/>
            <a:ext cx="554737"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4" name="Shape 72"/>
          <p:cNvSpPr/>
          <p:nvPr/>
        </p:nvSpPr>
        <p:spPr>
          <a:xfrm>
            <a:off x="8522208" y="2722760"/>
            <a:ext cx="556515"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7" name="Shape 75"/>
          <p:cNvSpPr/>
          <p:nvPr/>
        </p:nvSpPr>
        <p:spPr>
          <a:xfrm>
            <a:off x="8522208" y="2976641"/>
            <a:ext cx="678650"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0" name="Shape 78"/>
          <p:cNvSpPr/>
          <p:nvPr/>
        </p:nvSpPr>
        <p:spPr>
          <a:xfrm>
            <a:off x="8522208" y="3230521"/>
            <a:ext cx="728048"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25.3%</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83" name="Shape 81"/>
          <p:cNvSpPr/>
          <p:nvPr/>
        </p:nvSpPr>
        <p:spPr>
          <a:xfrm>
            <a:off x="8522208" y="3484402"/>
            <a:ext cx="77733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27.0%</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6" name="Shape 84"/>
          <p:cNvSpPr/>
          <p:nvPr/>
        </p:nvSpPr>
        <p:spPr>
          <a:xfrm>
            <a:off x="8522208" y="3738282"/>
            <a:ext cx="779797"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27.1%</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15649"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2" name="Shape 90"/>
          <p:cNvSpPr/>
          <p:nvPr/>
        </p:nvSpPr>
        <p:spPr>
          <a:xfrm>
            <a:off x="8522208" y="4246043"/>
            <a:ext cx="835225"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29.0%</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5" name="Shape 93"/>
          <p:cNvSpPr/>
          <p:nvPr/>
        </p:nvSpPr>
        <p:spPr>
          <a:xfrm>
            <a:off x="8522208" y="4499924"/>
            <a:ext cx="109642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38.1%</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1132410"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39.3%</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1298859"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45.1%</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4" name="Shape 102"/>
          <p:cNvSpPr/>
          <p:nvPr/>
        </p:nvSpPr>
        <p:spPr>
          <a:xfrm>
            <a:off x="8522208" y="5261565"/>
            <a:ext cx="1491655"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7" name="Shape 105"/>
          <p:cNvSpPr/>
          <p:nvPr/>
        </p:nvSpPr>
        <p:spPr>
          <a:xfrm>
            <a:off x="8522208" y="5515446"/>
            <a:ext cx="1828800"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63.5%</a:t>
            </a:r>
            <a:endParaRPr lang="en-US" sz="1300" dirty="0"/>
          </a:p>
        </p:txBody>
      </p:sp>
      <p:sp>
        <p:nvSpPr>
          <p:cNvPr id="109" name="Shape 107"/>
          <p:cNvSpPr/>
          <p:nvPr/>
        </p:nvSpPr>
        <p:spPr>
          <a:xfrm>
            <a:off x="3401666" y="1389888"/>
            <a:ext cx="14630" cy="4315968"/>
          </a:xfrm>
          <a:prstGeom prst="rect">
            <a:avLst/>
          </a:prstGeom>
          <a:solidFill>
            <a:srgbClr val="0B2C4A"/>
          </a:solidFill>
          <a:ln/>
        </p:spPr>
      </p:sp>
      <p:sp>
        <p:nvSpPr>
          <p:cNvPr id="110" name="Shape 108"/>
          <p:cNvSpPr/>
          <p:nvPr/>
        </p:nvSpPr>
        <p:spPr>
          <a:xfrm>
            <a:off x="8952074"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GMC PRESCOTT can't classify 63.5% of its customer-pay labor from the description; HONDA HENDERSON only 4.2%. Vague op code descriptions hide what the shop sells.</a:t>
            </a:r>
            <a:endParaRPr lang="en-US" sz="16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Opcode Benchmarks</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Alignment 15%   ·   Balance 15%   ·   Brake fluid 10%   ·   Fuel service 7.5%</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91440"/>
          </a:xfrm>
          <a:prstGeom prst="rect">
            <a:avLst/>
          </a:prstGeom>
          <a:solidFill>
            <a:srgbClr val="2587C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D9D9D9"/>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11.9%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+11.4%</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13.2%, ahead of 2025 in all nine months, but 1.7 pts under the 15% benchmark — 4,821 alignments short.</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Alignment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27.5%</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0" name="Shape 8"/>
          <p:cNvSpPr/>
          <p:nvPr/>
        </p:nvSpPr>
        <p:spPr>
          <a:xfrm>
            <a:off x="2971800" y="1995275"/>
            <a:ext cx="1624010"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24.4%</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 name="Shape 11"/>
          <p:cNvSpPr/>
          <p:nvPr/>
        </p:nvSpPr>
        <p:spPr>
          <a:xfrm>
            <a:off x="2971800" y="2230867"/>
            <a:ext cx="1448064"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6" name="Shape 14"/>
          <p:cNvSpPr/>
          <p:nvPr/>
        </p:nvSpPr>
        <p:spPr>
          <a:xfrm>
            <a:off x="2971800" y="2466460"/>
            <a:ext cx="1416244"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9" name="Shape 17"/>
          <p:cNvSpPr/>
          <p:nvPr/>
        </p:nvSpPr>
        <p:spPr>
          <a:xfrm>
            <a:off x="2971800" y="2702052"/>
            <a:ext cx="1163955"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2" name="Shape 20"/>
          <p:cNvSpPr/>
          <p:nvPr/>
        </p:nvSpPr>
        <p:spPr>
          <a:xfrm>
            <a:off x="2971800" y="2937644"/>
            <a:ext cx="1155692"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17.3%</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5" name="Shape 23"/>
          <p:cNvSpPr/>
          <p:nvPr/>
        </p:nvSpPr>
        <p:spPr>
          <a:xfrm>
            <a:off x="2971800" y="3173237"/>
            <a:ext cx="1109675"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8" name="Shape 26"/>
          <p:cNvSpPr/>
          <p:nvPr/>
        </p:nvSpPr>
        <p:spPr>
          <a:xfrm>
            <a:off x="2971800" y="3408829"/>
            <a:ext cx="1075742"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1" name="Shape 29"/>
          <p:cNvSpPr/>
          <p:nvPr/>
        </p:nvSpPr>
        <p:spPr>
          <a:xfrm>
            <a:off x="2971800" y="3644422"/>
            <a:ext cx="986168"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4" name="Shape 32"/>
          <p:cNvSpPr/>
          <p:nvPr/>
        </p:nvSpPr>
        <p:spPr>
          <a:xfrm>
            <a:off x="2971800" y="3880014"/>
            <a:ext cx="967638"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966164"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0" name="Shape 38"/>
          <p:cNvSpPr/>
          <p:nvPr/>
        </p:nvSpPr>
        <p:spPr>
          <a:xfrm>
            <a:off x="2971800" y="4351199"/>
            <a:ext cx="922672"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3" name="Shape 41"/>
          <p:cNvSpPr/>
          <p:nvPr/>
        </p:nvSpPr>
        <p:spPr>
          <a:xfrm>
            <a:off x="2971800" y="4586792"/>
            <a:ext cx="921971"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6" name="Shape 44"/>
          <p:cNvSpPr/>
          <p:nvPr/>
        </p:nvSpPr>
        <p:spPr>
          <a:xfrm>
            <a:off x="2971800" y="4822384"/>
            <a:ext cx="904112" cy="117796"/>
          </a:xfrm>
          <a:prstGeom prst="rect">
            <a:avLst/>
          </a:prstGeom>
          <a:solidFill>
            <a:srgbClr val="C2352F"/>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13.6%</a:t>
            </a:r>
            <a:endParaRPr lang="en-US" sz="1300" dirty="0"/>
          </a:p>
        </p:txBody>
      </p:sp>
      <p:sp>
        <p:nvSpPr>
          <p:cNvPr id="48" name="Shape 46"/>
          <p:cNvSpPr/>
          <p:nvPr/>
        </p:nvSpPr>
        <p:spPr>
          <a:xfrm>
            <a:off x="585216" y="4994507"/>
            <a:ext cx="5413248" cy="226448"/>
          </a:xfrm>
          <a:prstGeom prst="rect">
            <a:avLst/>
          </a:prstGeom>
          <a:solidFill>
            <a:srgbClr val="EDF4FA"/>
          </a:solidFill>
          <a:ln/>
        </p:spPr>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0" name="Shape 48"/>
          <p:cNvSpPr/>
          <p:nvPr/>
        </p:nvSpPr>
        <p:spPr>
          <a:xfrm>
            <a:off x="2971800" y="5057977"/>
            <a:ext cx="882107" cy="117796"/>
          </a:xfrm>
          <a:prstGeom prst="rect">
            <a:avLst/>
          </a:prstGeom>
          <a:solidFill>
            <a:srgbClr val="0B2C4A"/>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3" name="Shape 51"/>
          <p:cNvSpPr/>
          <p:nvPr/>
        </p:nvSpPr>
        <p:spPr>
          <a:xfrm>
            <a:off x="2971800" y="5293569"/>
            <a:ext cx="855789"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6" name="Shape 54"/>
          <p:cNvSpPr/>
          <p:nvPr/>
        </p:nvSpPr>
        <p:spPr>
          <a:xfrm>
            <a:off x="2971800" y="5529162"/>
            <a:ext cx="854824"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9" name="Shape 57"/>
          <p:cNvSpPr/>
          <p:nvPr/>
        </p:nvSpPr>
        <p:spPr>
          <a:xfrm>
            <a:off x="8522208" y="1759682"/>
            <a:ext cx="835697"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2" name="Shape 60"/>
          <p:cNvSpPr/>
          <p:nvPr/>
        </p:nvSpPr>
        <p:spPr>
          <a:xfrm>
            <a:off x="8522208" y="1995275"/>
            <a:ext cx="832700"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5" name="Shape 63"/>
          <p:cNvSpPr/>
          <p:nvPr/>
        </p:nvSpPr>
        <p:spPr>
          <a:xfrm>
            <a:off x="8522208" y="2230867"/>
            <a:ext cx="820185"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8" name="Shape 66"/>
          <p:cNvSpPr/>
          <p:nvPr/>
        </p:nvSpPr>
        <p:spPr>
          <a:xfrm>
            <a:off x="8522208" y="2466460"/>
            <a:ext cx="785018"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1" name="Shape 69"/>
          <p:cNvSpPr/>
          <p:nvPr/>
        </p:nvSpPr>
        <p:spPr>
          <a:xfrm>
            <a:off x="8522208" y="2702052"/>
            <a:ext cx="780659"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4" name="Shape 72"/>
          <p:cNvSpPr/>
          <p:nvPr/>
        </p:nvSpPr>
        <p:spPr>
          <a:xfrm>
            <a:off x="8522208" y="2937644"/>
            <a:ext cx="755172"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11.3%</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7" name="Shape 75"/>
          <p:cNvSpPr/>
          <p:nvPr/>
        </p:nvSpPr>
        <p:spPr>
          <a:xfrm>
            <a:off x="8522208" y="3173237"/>
            <a:ext cx="740465"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0" name="Shape 78"/>
          <p:cNvSpPr/>
          <p:nvPr/>
        </p:nvSpPr>
        <p:spPr>
          <a:xfrm>
            <a:off x="8522208" y="3408829"/>
            <a:ext cx="737076"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3" name="Shape 81"/>
          <p:cNvSpPr/>
          <p:nvPr/>
        </p:nvSpPr>
        <p:spPr>
          <a:xfrm>
            <a:off x="8522208" y="3644422"/>
            <a:ext cx="735965"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6" name="Shape 84"/>
          <p:cNvSpPr/>
          <p:nvPr/>
        </p:nvSpPr>
        <p:spPr>
          <a:xfrm>
            <a:off x="8522208" y="3880014"/>
            <a:ext cx="648753"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9" name="Shape 87"/>
          <p:cNvSpPr/>
          <p:nvPr/>
        </p:nvSpPr>
        <p:spPr>
          <a:xfrm>
            <a:off x="8522208" y="4115607"/>
            <a:ext cx="646045"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9.7%</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2" name="Shape 90"/>
          <p:cNvSpPr/>
          <p:nvPr/>
        </p:nvSpPr>
        <p:spPr>
          <a:xfrm>
            <a:off x="8522208" y="4351199"/>
            <a:ext cx="560928"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95" name="Shape 93"/>
          <p:cNvSpPr/>
          <p:nvPr/>
        </p:nvSpPr>
        <p:spPr>
          <a:xfrm>
            <a:off x="8522208" y="4586792"/>
            <a:ext cx="531686"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8.0%</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8" name="Shape 96"/>
          <p:cNvSpPr/>
          <p:nvPr/>
        </p:nvSpPr>
        <p:spPr>
          <a:xfrm>
            <a:off x="8522208" y="4822384"/>
            <a:ext cx="496510"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57977"/>
            <a:ext cx="373989"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5.6%</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4" name="Shape 102"/>
          <p:cNvSpPr/>
          <p:nvPr/>
        </p:nvSpPr>
        <p:spPr>
          <a:xfrm>
            <a:off x="8522208" y="5293569"/>
            <a:ext cx="282621"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7" name="Shape 105"/>
          <p:cNvSpPr/>
          <p:nvPr/>
        </p:nvSpPr>
        <p:spPr>
          <a:xfrm>
            <a:off x="8522208" y="5529162"/>
            <a:ext cx="280295"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9" name="Shape 107"/>
          <p:cNvSpPr/>
          <p:nvPr/>
        </p:nvSpPr>
        <p:spPr>
          <a:xfrm>
            <a:off x="3961269" y="1700784"/>
            <a:ext cx="14630" cy="4005072"/>
          </a:xfrm>
          <a:prstGeom prst="rect">
            <a:avLst/>
          </a:prstGeom>
          <a:solidFill>
            <a:srgbClr val="0B2C4A"/>
          </a:solidFill>
          <a:ln/>
        </p:spPr>
      </p:sp>
      <p:sp>
        <p:nvSpPr>
          <p:cNvPr id="110" name="Text 108"/>
          <p:cNvSpPr txBox="1"/>
          <p:nvPr/>
        </p:nvSpPr>
        <p:spPr>
          <a:xfrm>
            <a:off x="2596984"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1" name="Shape 109"/>
          <p:cNvSpPr/>
          <p:nvPr/>
        </p:nvSpPr>
        <p:spPr>
          <a:xfrm>
            <a:off x="9511677" y="1700784"/>
            <a:ext cx="14630" cy="4005072"/>
          </a:xfrm>
          <a:prstGeom prst="rect">
            <a:avLst/>
          </a:prstGeom>
          <a:solidFill>
            <a:srgbClr val="0B2C4A"/>
          </a:solidFill>
          <a:ln/>
        </p:spPr>
      </p:sp>
      <p:sp>
        <p:nvSpPr>
          <p:cNvPr id="112" name="Text 110"/>
          <p:cNvSpPr txBox="1"/>
          <p:nvPr/>
        </p:nvSpPr>
        <p:spPr>
          <a:xfrm>
            <a:off x="814739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8 of 33 stores at or above 15%, led by AUDI HENDERSON at 27.5%. GROUP sits at 13.2%.</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6.9%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8.3%</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+20.0%</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8.3%, ahead of 2025 in all nine months, but 6.6 pts under the 15% benchmark — 18,493 balances short.</a:t>
            </a:r>
            <a:endParaRPr lang="en-US" sz="1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Balance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27.0%</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246998"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3" name="Shape 11"/>
          <p:cNvSpPr/>
          <p:nvPr/>
        </p:nvSpPr>
        <p:spPr>
          <a:xfrm>
            <a:off x="2971800" y="2230867"/>
            <a:ext cx="1150655"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6" name="Shape 14"/>
          <p:cNvSpPr/>
          <p:nvPr/>
        </p:nvSpPr>
        <p:spPr>
          <a:xfrm>
            <a:off x="2971800" y="2466460"/>
            <a:ext cx="1148559"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9" name="Shape 17"/>
          <p:cNvSpPr/>
          <p:nvPr/>
        </p:nvSpPr>
        <p:spPr>
          <a:xfrm>
            <a:off x="2971800" y="2702052"/>
            <a:ext cx="1014836" cy="117796"/>
          </a:xfrm>
          <a:prstGeom prst="rect">
            <a:avLst/>
          </a:prstGeom>
          <a:solidFill>
            <a:srgbClr val="C2352F"/>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2" name="Shape 20"/>
          <p:cNvSpPr/>
          <p:nvPr/>
        </p:nvSpPr>
        <p:spPr>
          <a:xfrm>
            <a:off x="2971800" y="2937644"/>
            <a:ext cx="955599" cy="117796"/>
          </a:xfrm>
          <a:prstGeom prst="rect">
            <a:avLst/>
          </a:prstGeom>
          <a:solidFill>
            <a:srgbClr val="C2352F"/>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5" name="Shape 23"/>
          <p:cNvSpPr/>
          <p:nvPr/>
        </p:nvSpPr>
        <p:spPr>
          <a:xfrm>
            <a:off x="2971800" y="3173237"/>
            <a:ext cx="916438" cy="117796"/>
          </a:xfrm>
          <a:prstGeom prst="rect">
            <a:avLst/>
          </a:prstGeom>
          <a:solidFill>
            <a:srgbClr val="C2352F"/>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8" name="Shape 26"/>
          <p:cNvSpPr/>
          <p:nvPr/>
        </p:nvSpPr>
        <p:spPr>
          <a:xfrm>
            <a:off x="2971800" y="3408829"/>
            <a:ext cx="893299" cy="117796"/>
          </a:xfrm>
          <a:prstGeom prst="rect">
            <a:avLst/>
          </a:prstGeom>
          <a:solidFill>
            <a:srgbClr val="C2352F"/>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13.1%</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1" name="Shape 29"/>
          <p:cNvSpPr/>
          <p:nvPr/>
        </p:nvSpPr>
        <p:spPr>
          <a:xfrm>
            <a:off x="2971800" y="3644422"/>
            <a:ext cx="813223"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4" name="Shape 32"/>
          <p:cNvSpPr/>
          <p:nvPr/>
        </p:nvSpPr>
        <p:spPr>
          <a:xfrm>
            <a:off x="2971800" y="3880014"/>
            <a:ext cx="794271"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760221"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40" name="Shape 38"/>
          <p:cNvSpPr/>
          <p:nvPr/>
        </p:nvSpPr>
        <p:spPr>
          <a:xfrm>
            <a:off x="2971800" y="4351199"/>
            <a:ext cx="691953"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3" name="Shape 41"/>
          <p:cNvSpPr/>
          <p:nvPr/>
        </p:nvSpPr>
        <p:spPr>
          <a:xfrm>
            <a:off x="2971800" y="4586792"/>
            <a:ext cx="616143"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9.0%</a:t>
            </a:r>
            <a:endParaRPr lang="en-US" sz="1300" dirty="0"/>
          </a:p>
        </p:txBody>
      </p:sp>
      <p:sp>
        <p:nvSpPr>
          <p:cNvPr id="45" name="Shape 43"/>
          <p:cNvSpPr/>
          <p:nvPr/>
        </p:nvSpPr>
        <p:spPr>
          <a:xfrm>
            <a:off x="585216" y="4758914"/>
            <a:ext cx="5413248" cy="226448"/>
          </a:xfrm>
          <a:prstGeom prst="rect">
            <a:avLst/>
          </a:prstGeom>
          <a:solidFill>
            <a:srgbClr val="EDF4FA"/>
          </a:solidFill>
          <a:ln/>
        </p:spPr>
      </p:sp>
      <p:sp>
        <p:nvSpPr>
          <p:cNvPr id="46" name="Text 44"/>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822384"/>
            <a:ext cx="567518" cy="117796"/>
          </a:xfrm>
          <a:prstGeom prst="rect">
            <a:avLst/>
          </a:prstGeom>
          <a:solidFill>
            <a:srgbClr val="0B2C4A"/>
          </a:solidFill>
          <a:ln/>
        </p:spPr>
      </p:sp>
      <p:sp>
        <p:nvSpPr>
          <p:cNvPr id="48" name="Text 46"/>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8.3%</a:t>
            </a:r>
            <a:endParaRPr lang="en-US" sz="1300" dirty="0"/>
          </a:p>
        </p:txBody>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0" name="Shape 48"/>
          <p:cNvSpPr/>
          <p:nvPr/>
        </p:nvSpPr>
        <p:spPr>
          <a:xfrm>
            <a:off x="2971800" y="5057977"/>
            <a:ext cx="562047" cy="117796"/>
          </a:xfrm>
          <a:prstGeom prst="rect">
            <a:avLst/>
          </a:prstGeom>
          <a:solidFill>
            <a:srgbClr val="C2352F"/>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53" name="Shape 51"/>
          <p:cNvSpPr/>
          <p:nvPr/>
        </p:nvSpPr>
        <p:spPr>
          <a:xfrm>
            <a:off x="2971800" y="5293569"/>
            <a:ext cx="525298"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6" name="Shape 54"/>
          <p:cNvSpPr/>
          <p:nvPr/>
        </p:nvSpPr>
        <p:spPr>
          <a:xfrm>
            <a:off x="2971800" y="5529162"/>
            <a:ext cx="522803"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9" name="Shape 57"/>
          <p:cNvSpPr/>
          <p:nvPr/>
        </p:nvSpPr>
        <p:spPr>
          <a:xfrm>
            <a:off x="8522208" y="1759682"/>
            <a:ext cx="495079"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2" name="Shape 60"/>
          <p:cNvSpPr/>
          <p:nvPr/>
        </p:nvSpPr>
        <p:spPr>
          <a:xfrm>
            <a:off x="8522208" y="1995275"/>
            <a:ext cx="417176"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5" name="Shape 63"/>
          <p:cNvSpPr/>
          <p:nvPr/>
        </p:nvSpPr>
        <p:spPr>
          <a:xfrm>
            <a:off x="8522208" y="2230867"/>
            <a:ext cx="404254"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8" name="Shape 66"/>
          <p:cNvSpPr/>
          <p:nvPr/>
        </p:nvSpPr>
        <p:spPr>
          <a:xfrm>
            <a:off x="8522208" y="2466460"/>
            <a:ext cx="354723"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702052"/>
            <a:ext cx="334563"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4" name="Shape 72"/>
          <p:cNvSpPr/>
          <p:nvPr/>
        </p:nvSpPr>
        <p:spPr>
          <a:xfrm>
            <a:off x="8522208" y="2937644"/>
            <a:ext cx="250009"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7" name="Shape 75"/>
          <p:cNvSpPr/>
          <p:nvPr/>
        </p:nvSpPr>
        <p:spPr>
          <a:xfrm>
            <a:off x="8522208" y="3173237"/>
            <a:ext cx="147881"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0" name="Shape 78"/>
          <p:cNvSpPr/>
          <p:nvPr/>
        </p:nvSpPr>
        <p:spPr>
          <a:xfrm>
            <a:off x="8522208" y="3408829"/>
            <a:ext cx="113299"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3" name="Shape 81"/>
          <p:cNvSpPr/>
          <p:nvPr/>
        </p:nvSpPr>
        <p:spPr>
          <a:xfrm>
            <a:off x="8522208" y="3644422"/>
            <a:ext cx="89064"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6" name="Shape 84"/>
          <p:cNvSpPr/>
          <p:nvPr/>
        </p:nvSpPr>
        <p:spPr>
          <a:xfrm>
            <a:off x="8522208" y="3880014"/>
            <a:ext cx="85948"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9" name="Shape 87"/>
          <p:cNvSpPr/>
          <p:nvPr/>
        </p:nvSpPr>
        <p:spPr>
          <a:xfrm>
            <a:off x="8522208" y="4115607"/>
            <a:ext cx="82908"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2" name="Shape 90"/>
          <p:cNvSpPr/>
          <p:nvPr/>
        </p:nvSpPr>
        <p:spPr>
          <a:xfrm>
            <a:off x="8522208" y="4351199"/>
            <a:ext cx="71869"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Shape 93"/>
          <p:cNvSpPr/>
          <p:nvPr/>
        </p:nvSpPr>
        <p:spPr>
          <a:xfrm>
            <a:off x="8522208" y="4586792"/>
            <a:ext cx="33518"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8" name="Shape 96"/>
          <p:cNvSpPr/>
          <p:nvPr/>
        </p:nvSpPr>
        <p:spPr>
          <a:xfrm>
            <a:off x="8522208" y="4822384"/>
            <a:ext cx="28232"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0.4%</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1" name="Shape 99"/>
          <p:cNvSpPr/>
          <p:nvPr/>
        </p:nvSpPr>
        <p:spPr>
          <a:xfrm>
            <a:off x="8522208" y="5057977"/>
            <a:ext cx="1828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04" name="Shape 102"/>
          <p:cNvSpPr/>
          <p:nvPr/>
        </p:nvSpPr>
        <p:spPr>
          <a:xfrm>
            <a:off x="8522208" y="5293569"/>
            <a:ext cx="1828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7" name="Shape 105"/>
          <p:cNvSpPr/>
          <p:nvPr/>
        </p:nvSpPr>
        <p:spPr>
          <a:xfrm>
            <a:off x="8522208" y="5529162"/>
            <a:ext cx="1828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9" name="Shape 107"/>
          <p:cNvSpPr/>
          <p:nvPr/>
        </p:nvSpPr>
        <p:spPr>
          <a:xfrm>
            <a:off x="3980316" y="1700784"/>
            <a:ext cx="14630" cy="4005072"/>
          </a:xfrm>
          <a:prstGeom prst="rect">
            <a:avLst/>
          </a:prstGeom>
          <a:solidFill>
            <a:srgbClr val="0B2C4A"/>
          </a:solidFill>
          <a:ln/>
        </p:spPr>
      </p:sp>
      <p:sp>
        <p:nvSpPr>
          <p:cNvPr id="110" name="Text 108"/>
          <p:cNvSpPr txBox="1"/>
          <p:nvPr/>
        </p:nvSpPr>
        <p:spPr>
          <a:xfrm>
            <a:off x="2616031"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1" name="Shape 109"/>
          <p:cNvSpPr/>
          <p:nvPr/>
        </p:nvSpPr>
        <p:spPr>
          <a:xfrm>
            <a:off x="9530724" y="1700784"/>
            <a:ext cx="14630" cy="4005072"/>
          </a:xfrm>
          <a:prstGeom prst="rect">
            <a:avLst/>
          </a:prstGeom>
          <a:solidFill>
            <a:srgbClr val="0B2C4A"/>
          </a:solidFill>
          <a:ln/>
        </p:spPr>
      </p:sp>
      <p:sp>
        <p:nvSpPr>
          <p:cNvPr id="112" name="Text 110"/>
          <p:cNvSpPr txBox="1"/>
          <p:nvPr/>
        </p:nvSpPr>
        <p:spPr>
          <a:xfrm>
            <a:off x="816643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15.0%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4 of 33 stores at or above 15%, led by LR HENDERSON at 27.0%. GROUP sits at 8.3%.</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7.9%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9.2%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+1.4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+17.5%</a:t>
            </a:r>
            <a:endParaRPr lang="en-US" sz="3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1.4 pts to 9.2%, ahead of 2025 in all nine months, but 0.7 pts under the 10% benchmark — 1,985 brake fluid services short.</a:t>
            </a:r>
            <a:endParaRPr lang="en-US" sz="1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Brake Fluid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380941"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15.5%</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2230867"/>
            <a:ext cx="1266657"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14.3%</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466460"/>
            <a:ext cx="1126505"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12.7%</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9" name="Shape 17"/>
          <p:cNvSpPr/>
          <p:nvPr/>
        </p:nvSpPr>
        <p:spPr>
          <a:xfrm>
            <a:off x="2971800" y="2702052"/>
            <a:ext cx="1071597"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12.1%</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2" name="Shape 20"/>
          <p:cNvSpPr/>
          <p:nvPr/>
        </p:nvSpPr>
        <p:spPr>
          <a:xfrm>
            <a:off x="2971800" y="2937644"/>
            <a:ext cx="1054195"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5" name="Shape 23"/>
          <p:cNvSpPr/>
          <p:nvPr/>
        </p:nvSpPr>
        <p:spPr>
          <a:xfrm>
            <a:off x="2971800" y="3173237"/>
            <a:ext cx="1031186"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8" name="Shape 26"/>
          <p:cNvSpPr/>
          <p:nvPr/>
        </p:nvSpPr>
        <p:spPr>
          <a:xfrm>
            <a:off x="2971800" y="3408829"/>
            <a:ext cx="952022"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10.7%</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1" name="Shape 29"/>
          <p:cNvSpPr/>
          <p:nvPr/>
        </p:nvSpPr>
        <p:spPr>
          <a:xfrm>
            <a:off x="2971800" y="3644422"/>
            <a:ext cx="940165"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4" name="Shape 32"/>
          <p:cNvSpPr/>
          <p:nvPr/>
        </p:nvSpPr>
        <p:spPr>
          <a:xfrm>
            <a:off x="2971800" y="3880014"/>
            <a:ext cx="915273"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7" name="Shape 35"/>
          <p:cNvSpPr/>
          <p:nvPr/>
        </p:nvSpPr>
        <p:spPr>
          <a:xfrm>
            <a:off x="2971800" y="4115607"/>
            <a:ext cx="897953"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0" name="Shape 38"/>
          <p:cNvSpPr/>
          <p:nvPr/>
        </p:nvSpPr>
        <p:spPr>
          <a:xfrm>
            <a:off x="2971800" y="4351199"/>
            <a:ext cx="891463"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10.0%</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3" name="Shape 41"/>
          <p:cNvSpPr/>
          <p:nvPr/>
        </p:nvSpPr>
        <p:spPr>
          <a:xfrm>
            <a:off x="2971800" y="4586792"/>
            <a:ext cx="854685"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9.6%</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6" name="Shape 44"/>
          <p:cNvSpPr/>
          <p:nvPr/>
        </p:nvSpPr>
        <p:spPr>
          <a:xfrm>
            <a:off x="2971800" y="4822384"/>
            <a:ext cx="843356" cy="117796"/>
          </a:xfrm>
          <a:prstGeom prst="rect">
            <a:avLst/>
          </a:prstGeom>
          <a:solidFill>
            <a:srgbClr val="C2352F"/>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9.5%</a:t>
            </a:r>
            <a:endParaRPr lang="en-US" sz="1300" dirty="0"/>
          </a:p>
        </p:txBody>
      </p:sp>
      <p:sp>
        <p:nvSpPr>
          <p:cNvPr id="48" name="Shape 46"/>
          <p:cNvSpPr/>
          <p:nvPr/>
        </p:nvSpPr>
        <p:spPr>
          <a:xfrm>
            <a:off x="585216" y="4994507"/>
            <a:ext cx="5413248" cy="226448"/>
          </a:xfrm>
          <a:prstGeom prst="rect">
            <a:avLst/>
          </a:prstGeom>
          <a:solidFill>
            <a:srgbClr val="EDF4FA"/>
          </a:solidFill>
          <a:ln/>
        </p:spPr>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50" name="Shape 48"/>
          <p:cNvSpPr/>
          <p:nvPr/>
        </p:nvSpPr>
        <p:spPr>
          <a:xfrm>
            <a:off x="2971800" y="5057977"/>
            <a:ext cx="822595" cy="117796"/>
          </a:xfrm>
          <a:prstGeom prst="rect">
            <a:avLst/>
          </a:prstGeom>
          <a:solidFill>
            <a:srgbClr val="0B2C4A"/>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9.2%</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3" name="Shape 51"/>
          <p:cNvSpPr/>
          <p:nvPr/>
        </p:nvSpPr>
        <p:spPr>
          <a:xfrm>
            <a:off x="2971800" y="5293569"/>
            <a:ext cx="751787"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6" name="Shape 54"/>
          <p:cNvSpPr/>
          <p:nvPr/>
        </p:nvSpPr>
        <p:spPr>
          <a:xfrm>
            <a:off x="2971800" y="5529162"/>
            <a:ext cx="744392"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8.4%</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59" name="Shape 57"/>
          <p:cNvSpPr/>
          <p:nvPr/>
        </p:nvSpPr>
        <p:spPr>
          <a:xfrm>
            <a:off x="8522208" y="1759682"/>
            <a:ext cx="742623"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8.3%</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2" name="Shape 60"/>
          <p:cNvSpPr/>
          <p:nvPr/>
        </p:nvSpPr>
        <p:spPr>
          <a:xfrm>
            <a:off x="8522208" y="1995275"/>
            <a:ext cx="732765"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8.2%</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5" name="Shape 63"/>
          <p:cNvSpPr/>
          <p:nvPr/>
        </p:nvSpPr>
        <p:spPr>
          <a:xfrm>
            <a:off x="8522208" y="2230867"/>
            <a:ext cx="714689"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8.0%</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8" name="Shape 66"/>
          <p:cNvSpPr/>
          <p:nvPr/>
        </p:nvSpPr>
        <p:spPr>
          <a:xfrm>
            <a:off x="8522208" y="2466460"/>
            <a:ext cx="666668"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1" name="Shape 69"/>
          <p:cNvSpPr/>
          <p:nvPr/>
        </p:nvSpPr>
        <p:spPr>
          <a:xfrm>
            <a:off x="8522208" y="2702052"/>
            <a:ext cx="641865"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4" name="Shape 72"/>
          <p:cNvSpPr/>
          <p:nvPr/>
        </p:nvSpPr>
        <p:spPr>
          <a:xfrm>
            <a:off x="8522208" y="2937644"/>
            <a:ext cx="627404"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7" name="Shape 75"/>
          <p:cNvSpPr/>
          <p:nvPr/>
        </p:nvSpPr>
        <p:spPr>
          <a:xfrm>
            <a:off x="8522208" y="3173237"/>
            <a:ext cx="624290"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0" name="Shape 78"/>
          <p:cNvSpPr/>
          <p:nvPr/>
        </p:nvSpPr>
        <p:spPr>
          <a:xfrm>
            <a:off x="8522208" y="3408829"/>
            <a:ext cx="538668"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3" name="Shape 81"/>
          <p:cNvSpPr/>
          <p:nvPr/>
        </p:nvSpPr>
        <p:spPr>
          <a:xfrm>
            <a:off x="8522208" y="3644422"/>
            <a:ext cx="527421"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6" name="Shape 84"/>
          <p:cNvSpPr/>
          <p:nvPr/>
        </p:nvSpPr>
        <p:spPr>
          <a:xfrm>
            <a:off x="8522208" y="3880014"/>
            <a:ext cx="513531"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9" name="Shape 87"/>
          <p:cNvSpPr/>
          <p:nvPr/>
        </p:nvSpPr>
        <p:spPr>
          <a:xfrm>
            <a:off x="8522208" y="4115607"/>
            <a:ext cx="479909"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2" name="Shape 90"/>
          <p:cNvSpPr/>
          <p:nvPr/>
        </p:nvSpPr>
        <p:spPr>
          <a:xfrm>
            <a:off x="8522208" y="4351199"/>
            <a:ext cx="420419"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5" name="Shape 93"/>
          <p:cNvSpPr/>
          <p:nvPr/>
        </p:nvSpPr>
        <p:spPr>
          <a:xfrm>
            <a:off x="8522208" y="4586792"/>
            <a:ext cx="414261"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8" name="Shape 96"/>
          <p:cNvSpPr/>
          <p:nvPr/>
        </p:nvSpPr>
        <p:spPr>
          <a:xfrm>
            <a:off x="8522208" y="4822384"/>
            <a:ext cx="375166"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1" name="Shape 99"/>
          <p:cNvSpPr/>
          <p:nvPr/>
        </p:nvSpPr>
        <p:spPr>
          <a:xfrm>
            <a:off x="8522208" y="5057977"/>
            <a:ext cx="28125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3.1%</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4" name="Shape 102"/>
          <p:cNvSpPr/>
          <p:nvPr/>
        </p:nvSpPr>
        <p:spPr>
          <a:xfrm>
            <a:off x="8522208" y="5293569"/>
            <a:ext cx="217925"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7" name="Shape 105"/>
          <p:cNvSpPr/>
          <p:nvPr/>
        </p:nvSpPr>
        <p:spPr>
          <a:xfrm>
            <a:off x="8522208" y="5529162"/>
            <a:ext cx="17140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a:t>
            </a:r>
            <a:endParaRPr lang="en-US" sz="1300" dirty="0"/>
          </a:p>
        </p:txBody>
      </p:sp>
      <p:sp>
        <p:nvSpPr>
          <p:cNvPr id="109" name="Shape 107"/>
          <p:cNvSpPr/>
          <p:nvPr/>
        </p:nvSpPr>
        <p:spPr>
          <a:xfrm>
            <a:off x="3850009" y="1700784"/>
            <a:ext cx="14630" cy="4005072"/>
          </a:xfrm>
          <a:prstGeom prst="rect">
            <a:avLst/>
          </a:prstGeom>
          <a:solidFill>
            <a:srgbClr val="0B2C4A"/>
          </a:solidFill>
          <a:ln/>
        </p:spPr>
      </p:sp>
      <p:sp>
        <p:nvSpPr>
          <p:cNvPr id="110" name="Text 108"/>
          <p:cNvSpPr txBox="1"/>
          <p:nvPr/>
        </p:nvSpPr>
        <p:spPr>
          <a:xfrm>
            <a:off x="2485724"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10.0%</a:t>
            </a:r>
            <a:endParaRPr lang="en-US" sz="1400" dirty="0"/>
          </a:p>
        </p:txBody>
      </p:sp>
      <p:sp>
        <p:nvSpPr>
          <p:cNvPr id="111" name="Shape 109"/>
          <p:cNvSpPr/>
          <p:nvPr/>
        </p:nvSpPr>
        <p:spPr>
          <a:xfrm>
            <a:off x="9400417" y="1700784"/>
            <a:ext cx="14630" cy="4005072"/>
          </a:xfrm>
          <a:prstGeom prst="rect">
            <a:avLst/>
          </a:prstGeom>
          <a:solidFill>
            <a:srgbClr val="0B2C4A"/>
          </a:solidFill>
          <a:ln/>
        </p:spPr>
      </p:sp>
      <p:sp>
        <p:nvSpPr>
          <p:cNvPr id="112" name="Text 110"/>
          <p:cNvSpPr txBox="1"/>
          <p:nvPr/>
        </p:nvSpPr>
        <p:spPr>
          <a:xfrm>
            <a:off x="8036132"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10.0%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12 of 33 stores at or above 10%, led by LR LV at 20.6%. GROUP sits at 9.2%.</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4.5%</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5.8%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+27.3%</a:t>
            </a:r>
            <a:endParaRPr lang="en-US" sz="30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+0.6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5.8%, ahead of 2025 in all nine months, but 1.7 pts under the 7.5% benchmark — 4,731 fuel services short.</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 BENCHMARKS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Fuel Service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13.8%</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995275"/>
            <a:ext cx="1591014"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3" name="Shape 11"/>
          <p:cNvSpPr/>
          <p:nvPr/>
        </p:nvSpPr>
        <p:spPr>
          <a:xfrm>
            <a:off x="2971800" y="2230867"/>
            <a:ext cx="1293427"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9.7%</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466460"/>
            <a:ext cx="1237490"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9" name="Shape 17"/>
          <p:cNvSpPr/>
          <p:nvPr/>
        </p:nvSpPr>
        <p:spPr>
          <a:xfrm>
            <a:off x="2971800" y="2702052"/>
            <a:ext cx="1181508"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2" name="Shape 20"/>
          <p:cNvSpPr/>
          <p:nvPr/>
        </p:nvSpPr>
        <p:spPr>
          <a:xfrm>
            <a:off x="2971800" y="2937644"/>
            <a:ext cx="1084590"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5" name="Shape 23"/>
          <p:cNvSpPr/>
          <p:nvPr/>
        </p:nvSpPr>
        <p:spPr>
          <a:xfrm>
            <a:off x="2971800" y="3173237"/>
            <a:ext cx="1012732"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8" name="Shape 26"/>
          <p:cNvSpPr/>
          <p:nvPr/>
        </p:nvSpPr>
        <p:spPr>
          <a:xfrm>
            <a:off x="2971800" y="3408829"/>
            <a:ext cx="972374" cy="117796"/>
          </a:xfrm>
          <a:prstGeom prst="rect">
            <a:avLst/>
          </a:prstGeom>
          <a:solidFill>
            <a:srgbClr val="C2352F"/>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1" name="Shape 29"/>
          <p:cNvSpPr/>
          <p:nvPr/>
        </p:nvSpPr>
        <p:spPr>
          <a:xfrm>
            <a:off x="2971800" y="3644422"/>
            <a:ext cx="935996" cy="117796"/>
          </a:xfrm>
          <a:prstGeom prst="rect">
            <a:avLst/>
          </a:prstGeom>
          <a:solidFill>
            <a:srgbClr val="C2352F"/>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7.0%</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4" name="Shape 32"/>
          <p:cNvSpPr/>
          <p:nvPr/>
        </p:nvSpPr>
        <p:spPr>
          <a:xfrm>
            <a:off x="2971800" y="3880014"/>
            <a:ext cx="853635" cy="117796"/>
          </a:xfrm>
          <a:prstGeom prst="rect">
            <a:avLst/>
          </a:prstGeom>
          <a:solidFill>
            <a:srgbClr val="C2352F"/>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7" name="Shape 35"/>
          <p:cNvSpPr/>
          <p:nvPr/>
        </p:nvSpPr>
        <p:spPr>
          <a:xfrm>
            <a:off x="2971800" y="4115607"/>
            <a:ext cx="793338" cy="117796"/>
          </a:xfrm>
          <a:prstGeom prst="rect">
            <a:avLst/>
          </a:prstGeom>
          <a:solidFill>
            <a:srgbClr val="C2352F"/>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0" name="Shape 38"/>
          <p:cNvSpPr/>
          <p:nvPr/>
        </p:nvSpPr>
        <p:spPr>
          <a:xfrm>
            <a:off x="2971800" y="4351199"/>
            <a:ext cx="776817" cy="117796"/>
          </a:xfrm>
          <a:prstGeom prst="rect">
            <a:avLst/>
          </a:prstGeom>
          <a:solidFill>
            <a:srgbClr val="C2352F"/>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3" name="Shape 41"/>
          <p:cNvSpPr/>
          <p:nvPr/>
        </p:nvSpPr>
        <p:spPr>
          <a:xfrm>
            <a:off x="2971800" y="4586792"/>
            <a:ext cx="769887" cy="117796"/>
          </a:xfrm>
          <a:prstGeom prst="rect">
            <a:avLst/>
          </a:prstGeom>
          <a:solidFill>
            <a:srgbClr val="C2352F"/>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45" name="Shape 43"/>
          <p:cNvSpPr/>
          <p:nvPr/>
        </p:nvSpPr>
        <p:spPr>
          <a:xfrm>
            <a:off x="585216" y="4758914"/>
            <a:ext cx="5413248" cy="226448"/>
          </a:xfrm>
          <a:prstGeom prst="rect">
            <a:avLst/>
          </a:prstGeom>
          <a:solidFill>
            <a:srgbClr val="EDF4FA"/>
          </a:solidFill>
          <a:ln/>
        </p:spPr>
      </p:sp>
      <p:sp>
        <p:nvSpPr>
          <p:cNvPr id="46" name="Text 44"/>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822384"/>
            <a:ext cx="766773" cy="117796"/>
          </a:xfrm>
          <a:prstGeom prst="rect">
            <a:avLst/>
          </a:prstGeom>
          <a:solidFill>
            <a:srgbClr val="0B2C4A"/>
          </a:solidFill>
          <a:ln/>
        </p:spPr>
      </p:sp>
      <p:sp>
        <p:nvSpPr>
          <p:cNvPr id="48" name="Text 46"/>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5.8%</a:t>
            </a:r>
            <a:endParaRPr lang="en-US" sz="1300" dirty="0"/>
          </a:p>
        </p:txBody>
      </p:sp>
      <p:sp>
        <p:nvSpPr>
          <p:cNvPr id="49" name="Text 47"/>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0" name="Shape 48"/>
          <p:cNvSpPr/>
          <p:nvPr/>
        </p:nvSpPr>
        <p:spPr>
          <a:xfrm>
            <a:off x="2971800" y="5057977"/>
            <a:ext cx="729043" cy="117796"/>
          </a:xfrm>
          <a:prstGeom prst="rect">
            <a:avLst/>
          </a:prstGeom>
          <a:solidFill>
            <a:srgbClr val="C2352F"/>
          </a:solidFill>
          <a:ln/>
        </p:spPr>
      </p:sp>
      <p:sp>
        <p:nvSpPr>
          <p:cNvPr id="51" name="Text 49"/>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5.5%</a:t>
            </a:r>
            <a:endParaRPr lang="en-US" sz="1300" dirty="0"/>
          </a:p>
        </p:txBody>
      </p:sp>
      <p:sp>
        <p:nvSpPr>
          <p:cNvPr id="52" name="Text 50"/>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3" name="Shape 51"/>
          <p:cNvSpPr/>
          <p:nvPr/>
        </p:nvSpPr>
        <p:spPr>
          <a:xfrm>
            <a:off x="2971800" y="5293569"/>
            <a:ext cx="693444" cy="117796"/>
          </a:xfrm>
          <a:prstGeom prst="rect">
            <a:avLst/>
          </a:prstGeom>
          <a:solidFill>
            <a:srgbClr val="C2352F"/>
          </a:solidFill>
          <a:ln/>
        </p:spPr>
      </p:sp>
      <p:sp>
        <p:nvSpPr>
          <p:cNvPr id="54" name="Text 52"/>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55" name="Text 53"/>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6" name="Shape 54"/>
          <p:cNvSpPr/>
          <p:nvPr/>
        </p:nvSpPr>
        <p:spPr>
          <a:xfrm>
            <a:off x="2971800" y="5529162"/>
            <a:ext cx="687975" cy="117796"/>
          </a:xfrm>
          <a:prstGeom prst="rect">
            <a:avLst/>
          </a:prstGeom>
          <a:solidFill>
            <a:srgbClr val="C2352F"/>
          </a:solidFill>
          <a:ln/>
        </p:spPr>
      </p:sp>
      <p:sp>
        <p:nvSpPr>
          <p:cNvPr id="57" name="Text 55"/>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58" name="Text 56"/>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9" name="Shape 57"/>
          <p:cNvSpPr/>
          <p:nvPr/>
        </p:nvSpPr>
        <p:spPr>
          <a:xfrm>
            <a:off x="8522208" y="1759682"/>
            <a:ext cx="674627" cy="117796"/>
          </a:xfrm>
          <a:prstGeom prst="rect">
            <a:avLst/>
          </a:prstGeom>
          <a:solidFill>
            <a:srgbClr val="C2352F"/>
          </a:solidFill>
          <a:ln/>
        </p:spPr>
      </p:sp>
      <p:sp>
        <p:nvSpPr>
          <p:cNvPr id="60" name="Text 58"/>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5.1%</a:t>
            </a:r>
            <a:endParaRPr lang="en-US" sz="1300" dirty="0"/>
          </a:p>
        </p:txBody>
      </p:sp>
      <p:sp>
        <p:nvSpPr>
          <p:cNvPr id="61" name="Text 59"/>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2" name="Shape 60"/>
          <p:cNvSpPr/>
          <p:nvPr/>
        </p:nvSpPr>
        <p:spPr>
          <a:xfrm>
            <a:off x="8522208" y="1995275"/>
            <a:ext cx="604069" cy="117796"/>
          </a:xfrm>
          <a:prstGeom prst="rect">
            <a:avLst/>
          </a:prstGeom>
          <a:solidFill>
            <a:srgbClr val="C2352F"/>
          </a:solidFill>
          <a:ln/>
        </p:spPr>
      </p:sp>
      <p:sp>
        <p:nvSpPr>
          <p:cNvPr id="63" name="Text 61"/>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4.5%</a:t>
            </a:r>
            <a:endParaRPr lang="en-US" sz="1300" dirty="0"/>
          </a:p>
        </p:txBody>
      </p:sp>
      <p:sp>
        <p:nvSpPr>
          <p:cNvPr id="64" name="Text 62"/>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5" name="Shape 63"/>
          <p:cNvSpPr/>
          <p:nvPr/>
        </p:nvSpPr>
        <p:spPr>
          <a:xfrm>
            <a:off x="8522208" y="2230867"/>
            <a:ext cx="566751" cy="117796"/>
          </a:xfrm>
          <a:prstGeom prst="rect">
            <a:avLst/>
          </a:prstGeom>
          <a:solidFill>
            <a:srgbClr val="C2352F"/>
          </a:solidFill>
          <a:ln/>
        </p:spPr>
      </p:sp>
      <p:sp>
        <p:nvSpPr>
          <p:cNvPr id="66" name="Text 64"/>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67" name="Text 65"/>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8" name="Shape 66"/>
          <p:cNvSpPr/>
          <p:nvPr/>
        </p:nvSpPr>
        <p:spPr>
          <a:xfrm>
            <a:off x="8522208" y="2466460"/>
            <a:ext cx="553007" cy="117796"/>
          </a:xfrm>
          <a:prstGeom prst="rect">
            <a:avLst/>
          </a:prstGeom>
          <a:solidFill>
            <a:srgbClr val="C2352F"/>
          </a:solidFill>
          <a:ln/>
        </p:spPr>
      </p:sp>
      <p:sp>
        <p:nvSpPr>
          <p:cNvPr id="69" name="Text 67"/>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a:t>
            </a:r>
            <a:endParaRPr lang="en-US" sz="1300" dirty="0"/>
          </a:p>
        </p:txBody>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1" name="Shape 69"/>
          <p:cNvSpPr/>
          <p:nvPr/>
        </p:nvSpPr>
        <p:spPr>
          <a:xfrm>
            <a:off x="8522208" y="2702052"/>
            <a:ext cx="480291" cy="117796"/>
          </a:xfrm>
          <a:prstGeom prst="rect">
            <a:avLst/>
          </a:prstGeom>
          <a:solidFill>
            <a:srgbClr val="C2352F"/>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4" name="Shape 72"/>
          <p:cNvSpPr/>
          <p:nvPr/>
        </p:nvSpPr>
        <p:spPr>
          <a:xfrm>
            <a:off x="8522208" y="2937644"/>
            <a:ext cx="425901" cy="117796"/>
          </a:xfrm>
          <a:prstGeom prst="rect">
            <a:avLst/>
          </a:prstGeom>
          <a:solidFill>
            <a:srgbClr val="C2352F"/>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7" name="Shape 75"/>
          <p:cNvSpPr/>
          <p:nvPr/>
        </p:nvSpPr>
        <p:spPr>
          <a:xfrm>
            <a:off x="8522208" y="3173237"/>
            <a:ext cx="425420" cy="117796"/>
          </a:xfrm>
          <a:prstGeom prst="rect">
            <a:avLst/>
          </a:prstGeom>
          <a:solidFill>
            <a:srgbClr val="C2352F"/>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0" name="Shape 78"/>
          <p:cNvSpPr/>
          <p:nvPr/>
        </p:nvSpPr>
        <p:spPr>
          <a:xfrm>
            <a:off x="8522208" y="3408829"/>
            <a:ext cx="396817" cy="117796"/>
          </a:xfrm>
          <a:prstGeom prst="rect">
            <a:avLst/>
          </a:prstGeom>
          <a:solidFill>
            <a:srgbClr val="C2352F"/>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644422"/>
            <a:ext cx="362121" cy="117796"/>
          </a:xfrm>
          <a:prstGeom prst="rect">
            <a:avLst/>
          </a:prstGeom>
          <a:solidFill>
            <a:srgbClr val="C2352F"/>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6" name="Shape 84"/>
          <p:cNvSpPr/>
          <p:nvPr/>
        </p:nvSpPr>
        <p:spPr>
          <a:xfrm>
            <a:off x="8522208" y="3880014"/>
            <a:ext cx="357846"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9" name="Shape 87"/>
          <p:cNvSpPr/>
          <p:nvPr/>
        </p:nvSpPr>
        <p:spPr>
          <a:xfrm>
            <a:off x="8522208" y="4115607"/>
            <a:ext cx="338830"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351199"/>
            <a:ext cx="223282"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5" name="Shape 93"/>
          <p:cNvSpPr/>
          <p:nvPr/>
        </p:nvSpPr>
        <p:spPr>
          <a:xfrm>
            <a:off x="8522208" y="4586792"/>
            <a:ext cx="109015"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8" name="Shape 96"/>
          <p:cNvSpPr/>
          <p:nvPr/>
        </p:nvSpPr>
        <p:spPr>
          <a:xfrm>
            <a:off x="8522208" y="4822384"/>
            <a:ext cx="95030"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0.7%</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1" name="Shape 99"/>
          <p:cNvSpPr/>
          <p:nvPr/>
        </p:nvSpPr>
        <p:spPr>
          <a:xfrm>
            <a:off x="8522208" y="5057977"/>
            <a:ext cx="1828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4" name="Shape 102"/>
          <p:cNvSpPr/>
          <p:nvPr/>
        </p:nvSpPr>
        <p:spPr>
          <a:xfrm>
            <a:off x="8522208" y="5293569"/>
            <a:ext cx="18288"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7" name="Shape 105"/>
          <p:cNvSpPr/>
          <p:nvPr/>
        </p:nvSpPr>
        <p:spPr>
          <a:xfrm>
            <a:off x="8522208" y="5529162"/>
            <a:ext cx="18288"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109" name="Shape 107"/>
          <p:cNvSpPr/>
          <p:nvPr/>
        </p:nvSpPr>
        <p:spPr>
          <a:xfrm>
            <a:off x="3954926" y="1700784"/>
            <a:ext cx="14630" cy="4005072"/>
          </a:xfrm>
          <a:prstGeom prst="rect">
            <a:avLst/>
          </a:prstGeom>
          <a:solidFill>
            <a:srgbClr val="0B2C4A"/>
          </a:solidFill>
          <a:ln/>
        </p:spPr>
      </p:sp>
      <p:sp>
        <p:nvSpPr>
          <p:cNvPr id="110" name="Text 108"/>
          <p:cNvSpPr txBox="1"/>
          <p:nvPr/>
        </p:nvSpPr>
        <p:spPr>
          <a:xfrm>
            <a:off x="2590641"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7.5%</a:t>
            </a:r>
            <a:endParaRPr lang="en-US" sz="1400" dirty="0"/>
          </a:p>
        </p:txBody>
      </p:sp>
      <p:sp>
        <p:nvSpPr>
          <p:cNvPr id="111" name="Shape 109"/>
          <p:cNvSpPr/>
          <p:nvPr/>
        </p:nvSpPr>
        <p:spPr>
          <a:xfrm>
            <a:off x="9505334" y="1700784"/>
            <a:ext cx="14630" cy="4005072"/>
          </a:xfrm>
          <a:prstGeom prst="rect">
            <a:avLst/>
          </a:prstGeom>
          <a:solidFill>
            <a:srgbClr val="0B2C4A"/>
          </a:solidFill>
          <a:ln/>
        </p:spPr>
      </p:sp>
      <p:sp>
        <p:nvSpPr>
          <p:cNvPr id="112" name="Text 110"/>
          <p:cNvSpPr txBox="1"/>
          <p:nvPr/>
        </p:nvSpPr>
        <p:spPr>
          <a:xfrm>
            <a:off x="814104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7.5%</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7 of 33 stores at or above 7.5%, led by SUBARU ST GEORGE at 13.8%. GROUP sits at 5.8%.</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Warranty &amp; Internal</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Warranty ROs   ·   Warranty ELR   ·   Internal ELR</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5B9BD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91440"/>
          </a:xfrm>
          <a:prstGeom prst="rect">
            <a:avLst/>
          </a:prstGeom>
          <a:solidFill>
            <a:srgbClr val="2587C5"/>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45720"/>
          </a:xfrm>
          <a:prstGeom prst="rect">
            <a:avLst/>
          </a:prstGeom>
          <a:solidFill>
            <a:srgbClr val="D9D9D9"/>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RO Count</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135,764</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126,891</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−8,873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−6.5%</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−2,301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15,707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−2,961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−2,041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14,990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−1,280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14,527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14,882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14,168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15,204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15,075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8,873 to 126,891, behind 2025 in seven of nine months. Warranty volume follows OEM campaigns and recalls as much as store effort.</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RO 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−6.5%</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+47.9%</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5" name="Shape 13"/>
          <p:cNvSpPr/>
          <p:nvPr/>
        </p:nvSpPr>
        <p:spPr>
          <a:xfrm>
            <a:off x="3813048" y="2139459"/>
            <a:ext cx="82243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8" name="Shape 16"/>
          <p:cNvSpPr/>
          <p:nvPr/>
        </p:nvSpPr>
        <p:spPr>
          <a:xfrm>
            <a:off x="3813048" y="2369673"/>
            <a:ext cx="81260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+47.3%</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1" name="Shape 19"/>
          <p:cNvSpPr/>
          <p:nvPr/>
        </p:nvSpPr>
        <p:spPr>
          <a:xfrm>
            <a:off x="3813048" y="2599887"/>
            <a:ext cx="61754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+35.9%</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4" name="Shape 22"/>
          <p:cNvSpPr/>
          <p:nvPr/>
        </p:nvSpPr>
        <p:spPr>
          <a:xfrm>
            <a:off x="3813048" y="2830100"/>
            <a:ext cx="56208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+32.7%</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7" name="Shape 25"/>
          <p:cNvSpPr/>
          <p:nvPr/>
        </p:nvSpPr>
        <p:spPr>
          <a:xfrm>
            <a:off x="3813048" y="3060314"/>
            <a:ext cx="51421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390119"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+22.7%</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3" name="Shape 31"/>
          <p:cNvSpPr/>
          <p:nvPr/>
        </p:nvSpPr>
        <p:spPr>
          <a:xfrm>
            <a:off x="3813048" y="3520741"/>
            <a:ext cx="35157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+20.4%</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3813048" y="3750955"/>
            <a:ext cx="20542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9" name="Shape 37"/>
          <p:cNvSpPr/>
          <p:nvPr/>
        </p:nvSpPr>
        <p:spPr>
          <a:xfrm>
            <a:off x="3813048" y="3981169"/>
            <a:ext cx="200047"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42" name="Shape 40"/>
          <p:cNvSpPr/>
          <p:nvPr/>
        </p:nvSpPr>
        <p:spPr>
          <a:xfrm>
            <a:off x="3813048" y="4211382"/>
            <a:ext cx="174486"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3813048" y="4441596"/>
            <a:ext cx="153373"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8" name="Shape 46"/>
          <p:cNvSpPr/>
          <p:nvPr/>
        </p:nvSpPr>
        <p:spPr>
          <a:xfrm>
            <a:off x="3813048" y="4671809"/>
            <a:ext cx="127721"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3813048" y="4902023"/>
            <a:ext cx="117440"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4" name="Shape 52"/>
          <p:cNvSpPr/>
          <p:nvPr/>
        </p:nvSpPr>
        <p:spPr>
          <a:xfrm>
            <a:off x="3813048" y="5132237"/>
            <a:ext cx="69770"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7" name="Shape 55"/>
          <p:cNvSpPr/>
          <p:nvPr/>
        </p:nvSpPr>
        <p:spPr>
          <a:xfrm>
            <a:off x="3813048" y="5362450"/>
            <a:ext cx="57479"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0" name="Shape 58"/>
          <p:cNvSpPr/>
          <p:nvPr/>
        </p:nvSpPr>
        <p:spPr>
          <a:xfrm>
            <a:off x="3813048" y="5592664"/>
            <a:ext cx="23042"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3" name="Shape 61"/>
          <p:cNvSpPr/>
          <p:nvPr/>
        </p:nvSpPr>
        <p:spPr>
          <a:xfrm>
            <a:off x="9290741" y="1909246"/>
            <a:ext cx="72715"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6" name="Shape 64"/>
          <p:cNvSpPr/>
          <p:nvPr/>
        </p:nvSpPr>
        <p:spPr>
          <a:xfrm>
            <a:off x="9247857" y="2139459"/>
            <a:ext cx="115599"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69" name="Shape 67"/>
          <p:cNvSpPr/>
          <p:nvPr/>
        </p:nvSpPr>
        <p:spPr>
          <a:xfrm>
            <a:off x="9228998" y="2369673"/>
            <a:ext cx="134458"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174213" y="2599887"/>
            <a:ext cx="189243"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9167983" y="2830100"/>
            <a:ext cx="195473"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9147536" y="3060314"/>
            <a:ext cx="21592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1" name="Shape 79"/>
          <p:cNvSpPr/>
          <p:nvPr/>
        </p:nvSpPr>
        <p:spPr>
          <a:xfrm>
            <a:off x="9104040" y="3290528"/>
            <a:ext cx="259416"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−15.1%</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4" name="Shape 82"/>
          <p:cNvSpPr/>
          <p:nvPr/>
        </p:nvSpPr>
        <p:spPr>
          <a:xfrm>
            <a:off x="9023064" y="3520741"/>
            <a:ext cx="34039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7" name="Shape 85"/>
          <p:cNvSpPr/>
          <p:nvPr/>
        </p:nvSpPr>
        <p:spPr>
          <a:xfrm>
            <a:off x="9014940" y="3750955"/>
            <a:ext cx="348516"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0" name="Shape 88"/>
          <p:cNvSpPr/>
          <p:nvPr/>
        </p:nvSpPr>
        <p:spPr>
          <a:xfrm>
            <a:off x="8973206" y="3981169"/>
            <a:ext cx="390250"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−22.7%</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3" name="Shape 91"/>
          <p:cNvSpPr/>
          <p:nvPr/>
        </p:nvSpPr>
        <p:spPr>
          <a:xfrm>
            <a:off x="8893454" y="4211382"/>
            <a:ext cx="47000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6" name="Shape 94"/>
          <p:cNvSpPr/>
          <p:nvPr/>
        </p:nvSpPr>
        <p:spPr>
          <a:xfrm>
            <a:off x="8852622" y="4441596"/>
            <a:ext cx="510834"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8755981" y="4671809"/>
            <a:ext cx="60747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−35.3%</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2" name="Shape 100"/>
          <p:cNvSpPr/>
          <p:nvPr/>
        </p:nvSpPr>
        <p:spPr>
          <a:xfrm>
            <a:off x="8683733" y="4902023"/>
            <a:ext cx="67972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611932" y="5132237"/>
            <a:ext cx="75152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−43.7%</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8" name="Shape 106"/>
          <p:cNvSpPr/>
          <p:nvPr/>
        </p:nvSpPr>
        <p:spPr>
          <a:xfrm>
            <a:off x="8566242" y="5362450"/>
            <a:ext cx="797214"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−46.4%</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grew warranty RO count, led by HYUNDAI PRESCOTT at +47.9% to 2,802. 16 declined; ACURA fell most at −46.4%.</a:t>
            </a:r>
            <a:endParaRPr 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$180.25</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$197.17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+$16.93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+9.4%</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$174.70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$197.60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$172.93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$196.73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$199.07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$185.29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$186.63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$198.65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$16.93 to $197.17, ahead of 2025 in all nine months.</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$308.88</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0" name="Shape 8"/>
          <p:cNvSpPr/>
          <p:nvPr/>
        </p:nvSpPr>
        <p:spPr>
          <a:xfrm>
            <a:off x="2971800" y="1707239"/>
            <a:ext cx="1627721"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$274.91</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558331"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$263.19</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6" name="Shape 14"/>
          <p:cNvSpPr/>
          <p:nvPr/>
        </p:nvSpPr>
        <p:spPr>
          <a:xfrm>
            <a:off x="2971800" y="2215000"/>
            <a:ext cx="1388496"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$234.51</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9" name="Shape 17"/>
          <p:cNvSpPr/>
          <p:nvPr/>
        </p:nvSpPr>
        <p:spPr>
          <a:xfrm>
            <a:off x="2971800" y="2468880"/>
            <a:ext cx="1352279"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$228.39</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2" name="Shape 20"/>
          <p:cNvSpPr/>
          <p:nvPr/>
        </p:nvSpPr>
        <p:spPr>
          <a:xfrm>
            <a:off x="2971800" y="2722760"/>
            <a:ext cx="128392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$216.85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5" name="Shape 23"/>
          <p:cNvSpPr/>
          <p:nvPr/>
        </p:nvSpPr>
        <p:spPr>
          <a:xfrm>
            <a:off x="2971800" y="2976641"/>
            <a:ext cx="125753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$212.39</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8" name="Shape 26"/>
          <p:cNvSpPr/>
          <p:nvPr/>
        </p:nvSpPr>
        <p:spPr>
          <a:xfrm>
            <a:off x="2971800" y="3230521"/>
            <a:ext cx="124142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$209.67</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1" name="Shape 29"/>
          <p:cNvSpPr/>
          <p:nvPr/>
        </p:nvSpPr>
        <p:spPr>
          <a:xfrm>
            <a:off x="2971800" y="3484402"/>
            <a:ext cx="124027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$209.48</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4" name="Shape 32"/>
          <p:cNvSpPr/>
          <p:nvPr/>
        </p:nvSpPr>
        <p:spPr>
          <a:xfrm>
            <a:off x="2971800" y="3738282"/>
            <a:ext cx="1225368"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$206.96</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971800" y="3992163"/>
            <a:ext cx="1225312"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$206.95</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0" name="Shape 38"/>
          <p:cNvSpPr/>
          <p:nvPr/>
        </p:nvSpPr>
        <p:spPr>
          <a:xfrm>
            <a:off x="2971800" y="4246043"/>
            <a:ext cx="1169889"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$197.59</a:t>
            </a:r>
            <a:endParaRPr lang="en-US" sz="1300" dirty="0"/>
          </a:p>
        </p:txBody>
      </p:sp>
      <p:sp>
        <p:nvSpPr>
          <p:cNvPr id="42" name="Shape 40"/>
          <p:cNvSpPr/>
          <p:nvPr/>
        </p:nvSpPr>
        <p:spPr>
          <a:xfrm>
            <a:off x="585216" y="4431882"/>
            <a:ext cx="5413248" cy="244736"/>
          </a:xfrm>
          <a:prstGeom prst="rect">
            <a:avLst/>
          </a:prstGeom>
          <a:solidFill>
            <a:srgbClr val="EDF4FA"/>
          </a:solidFill>
          <a:ln/>
        </p:spPr>
      </p:sp>
      <p:sp>
        <p:nvSpPr>
          <p:cNvPr id="43" name="Text 41"/>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4" name="Shape 42"/>
          <p:cNvSpPr/>
          <p:nvPr/>
        </p:nvSpPr>
        <p:spPr>
          <a:xfrm>
            <a:off x="2971800" y="4499924"/>
            <a:ext cx="1167428" cy="126940"/>
          </a:xfrm>
          <a:prstGeom prst="rect">
            <a:avLst/>
          </a:prstGeom>
          <a:solidFill>
            <a:srgbClr val="0B2C4A"/>
          </a:solidFill>
          <a:ln/>
        </p:spPr>
      </p:sp>
      <p:sp>
        <p:nvSpPr>
          <p:cNvPr id="45" name="Text 43"/>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$197.17</a:t>
            </a:r>
            <a:endParaRPr lang="en-US" sz="1300" dirty="0"/>
          </a:p>
        </p:txBody>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971800" y="4753804"/>
            <a:ext cx="1156760" cy="126940"/>
          </a:xfrm>
          <a:prstGeom prst="rect">
            <a:avLst/>
          </a:prstGeom>
          <a:solidFill>
            <a:srgbClr val="C2352F"/>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$195.37</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0" name="Shape 48"/>
          <p:cNvSpPr/>
          <p:nvPr/>
        </p:nvSpPr>
        <p:spPr>
          <a:xfrm>
            <a:off x="2971800" y="5007685"/>
            <a:ext cx="115553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$195.16</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3" name="Shape 51"/>
          <p:cNvSpPr/>
          <p:nvPr/>
        </p:nvSpPr>
        <p:spPr>
          <a:xfrm>
            <a:off x="2971800" y="5261565"/>
            <a:ext cx="1101297"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$186.00</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6" name="Shape 54"/>
          <p:cNvSpPr/>
          <p:nvPr/>
        </p:nvSpPr>
        <p:spPr>
          <a:xfrm>
            <a:off x="2971800" y="5515446"/>
            <a:ext cx="1083295"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$182.96</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9" name="Shape 57"/>
          <p:cNvSpPr/>
          <p:nvPr/>
        </p:nvSpPr>
        <p:spPr>
          <a:xfrm>
            <a:off x="8522208" y="1453358"/>
            <a:ext cx="1069642"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$180.66</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2" name="Shape 60"/>
          <p:cNvSpPr/>
          <p:nvPr/>
        </p:nvSpPr>
        <p:spPr>
          <a:xfrm>
            <a:off x="8522208" y="1707239"/>
            <a:ext cx="1069154"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$180.57</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1051573"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$177.61</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68" name="Shape 66"/>
          <p:cNvSpPr/>
          <p:nvPr/>
        </p:nvSpPr>
        <p:spPr>
          <a:xfrm>
            <a:off x="8522208" y="2215000"/>
            <a:ext cx="1045639"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$176.60</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1" name="Shape 69"/>
          <p:cNvSpPr/>
          <p:nvPr/>
        </p:nvSpPr>
        <p:spPr>
          <a:xfrm>
            <a:off x="8522208" y="2468880"/>
            <a:ext cx="1027545"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$173.55</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4" name="Shape 72"/>
          <p:cNvSpPr/>
          <p:nvPr/>
        </p:nvSpPr>
        <p:spPr>
          <a:xfrm>
            <a:off x="8522208" y="2722760"/>
            <a:ext cx="1015119"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$171.45</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7" name="Shape 75"/>
          <p:cNvSpPr/>
          <p:nvPr/>
        </p:nvSpPr>
        <p:spPr>
          <a:xfrm>
            <a:off x="8522208" y="2976641"/>
            <a:ext cx="1013968"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$171.25</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0" name="Shape 78"/>
          <p:cNvSpPr/>
          <p:nvPr/>
        </p:nvSpPr>
        <p:spPr>
          <a:xfrm>
            <a:off x="8522208" y="3230521"/>
            <a:ext cx="1012302"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$170.97</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484402"/>
            <a:ext cx="1010417"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$170.65</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6" name="Shape 84"/>
          <p:cNvSpPr/>
          <p:nvPr/>
        </p:nvSpPr>
        <p:spPr>
          <a:xfrm>
            <a:off x="8522208" y="3738282"/>
            <a:ext cx="971972"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$164.16</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9" name="Shape 87"/>
          <p:cNvSpPr/>
          <p:nvPr/>
        </p:nvSpPr>
        <p:spPr>
          <a:xfrm>
            <a:off x="8522208" y="3992163"/>
            <a:ext cx="949424"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$160.35</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246043"/>
            <a:ext cx="934359"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$157.81</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5" name="Shape 93"/>
          <p:cNvSpPr/>
          <p:nvPr/>
        </p:nvSpPr>
        <p:spPr>
          <a:xfrm>
            <a:off x="8522208" y="4499924"/>
            <a:ext cx="922921"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$155.88</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98" name="Shape 96"/>
          <p:cNvSpPr/>
          <p:nvPr/>
        </p:nvSpPr>
        <p:spPr>
          <a:xfrm>
            <a:off x="8522208" y="4753804"/>
            <a:ext cx="897328"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$151.55</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1" name="Shape 99"/>
          <p:cNvSpPr/>
          <p:nvPr/>
        </p:nvSpPr>
        <p:spPr>
          <a:xfrm>
            <a:off x="8522208" y="5007685"/>
            <a:ext cx="84483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$142.69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4" name="Shape 102"/>
          <p:cNvSpPr/>
          <p:nvPr/>
        </p:nvSpPr>
        <p:spPr>
          <a:xfrm>
            <a:off x="8522208" y="5261565"/>
            <a:ext cx="772571"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$130.48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7" name="Shape 105"/>
          <p:cNvSpPr/>
          <p:nvPr/>
        </p:nvSpPr>
        <p:spPr>
          <a:xfrm>
            <a:off x="8522208" y="5515446"/>
            <a:ext cx="719352"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$121.50</a:t>
            </a:r>
            <a:endParaRPr lang="en-US" sz="1300" dirty="0"/>
          </a:p>
        </p:txBody>
      </p:sp>
      <p:sp>
        <p:nvSpPr>
          <p:cNvPr id="109" name="Shape 107"/>
          <p:cNvSpPr/>
          <p:nvPr/>
        </p:nvSpPr>
        <p:spPr>
          <a:xfrm>
            <a:off x="4131913" y="1389888"/>
            <a:ext cx="14630" cy="4315968"/>
          </a:xfrm>
          <a:prstGeom prst="rect">
            <a:avLst/>
          </a:prstGeom>
          <a:solidFill>
            <a:srgbClr val="0B2C4A"/>
          </a:solidFill>
          <a:ln/>
        </p:spPr>
      </p:sp>
      <p:sp>
        <p:nvSpPr>
          <p:cNvPr id="110" name="Shape 108"/>
          <p:cNvSpPr/>
          <p:nvPr/>
        </p:nvSpPr>
        <p:spPr>
          <a:xfrm>
            <a:off x="9682321"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12 of 33 stores at or above the $197.17 group, led by AUDI HENDERSON at $308.88. SUBARU PRESCOTT is lowest at $121.50.</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Warranty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+$16.93</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+$57.74</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5" name="Shape 13"/>
          <p:cNvSpPr/>
          <p:nvPr/>
        </p:nvSpPr>
        <p:spPr>
          <a:xfrm>
            <a:off x="3813048" y="2139459"/>
            <a:ext cx="56800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+$39.85</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8" name="Shape 16"/>
          <p:cNvSpPr/>
          <p:nvPr/>
        </p:nvSpPr>
        <p:spPr>
          <a:xfrm>
            <a:off x="3813048" y="2369673"/>
            <a:ext cx="39007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+$27.37</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3813048" y="2599887"/>
            <a:ext cx="37602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+$26.38</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4" name="Shape 22"/>
          <p:cNvSpPr/>
          <p:nvPr/>
        </p:nvSpPr>
        <p:spPr>
          <a:xfrm>
            <a:off x="3813048" y="2830100"/>
            <a:ext cx="292874"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+$20.55</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7" name="Shape 25"/>
          <p:cNvSpPr/>
          <p:nvPr/>
        </p:nvSpPr>
        <p:spPr>
          <a:xfrm>
            <a:off x="3813048" y="3060314"/>
            <a:ext cx="273736"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+$19.21</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0" name="Shape 28"/>
          <p:cNvSpPr/>
          <p:nvPr/>
        </p:nvSpPr>
        <p:spPr>
          <a:xfrm>
            <a:off x="3813048" y="3290528"/>
            <a:ext cx="273006"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+$19.15</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3" name="Shape 31"/>
          <p:cNvSpPr/>
          <p:nvPr/>
        </p:nvSpPr>
        <p:spPr>
          <a:xfrm>
            <a:off x="3813048" y="3520741"/>
            <a:ext cx="241609"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+$16.95</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6" name="Shape 34"/>
          <p:cNvSpPr/>
          <p:nvPr/>
        </p:nvSpPr>
        <p:spPr>
          <a:xfrm>
            <a:off x="3813048" y="3750955"/>
            <a:ext cx="238998"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+$16.77</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9" name="Shape 37"/>
          <p:cNvSpPr/>
          <p:nvPr/>
        </p:nvSpPr>
        <p:spPr>
          <a:xfrm>
            <a:off x="3813048" y="3981169"/>
            <a:ext cx="23896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+$16.77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42" name="Shape 40"/>
          <p:cNvSpPr/>
          <p:nvPr/>
        </p:nvSpPr>
        <p:spPr>
          <a:xfrm>
            <a:off x="3813048" y="4211382"/>
            <a:ext cx="228713"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5" name="Shape 43"/>
          <p:cNvSpPr/>
          <p:nvPr/>
        </p:nvSpPr>
        <p:spPr>
          <a:xfrm>
            <a:off x="3813048" y="4441596"/>
            <a:ext cx="227295"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+$15.95</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3813048" y="4671809"/>
            <a:ext cx="194357"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+$13.64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1" name="Shape 49"/>
          <p:cNvSpPr/>
          <p:nvPr/>
        </p:nvSpPr>
        <p:spPr>
          <a:xfrm>
            <a:off x="3813048" y="4902023"/>
            <a:ext cx="18371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+$12.89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4" name="Shape 52"/>
          <p:cNvSpPr/>
          <p:nvPr/>
        </p:nvSpPr>
        <p:spPr>
          <a:xfrm>
            <a:off x="3813048" y="5132237"/>
            <a:ext cx="17468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+$12.26</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57" name="Shape 55"/>
          <p:cNvSpPr/>
          <p:nvPr/>
        </p:nvSpPr>
        <p:spPr>
          <a:xfrm>
            <a:off x="3813048" y="5362450"/>
            <a:ext cx="13766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+$9.66</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0" name="Shape 58"/>
          <p:cNvSpPr/>
          <p:nvPr/>
        </p:nvSpPr>
        <p:spPr>
          <a:xfrm>
            <a:off x="3813048" y="5592664"/>
            <a:ext cx="137367"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+$9.64</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3" name="Shape 61"/>
          <p:cNvSpPr/>
          <p:nvPr/>
        </p:nvSpPr>
        <p:spPr>
          <a:xfrm>
            <a:off x="9363456" y="1909246"/>
            <a:ext cx="131279"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+$9.21</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6" name="Shape 64"/>
          <p:cNvSpPr/>
          <p:nvPr/>
        </p:nvSpPr>
        <p:spPr>
          <a:xfrm>
            <a:off x="9363456" y="2139459"/>
            <a:ext cx="122294"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+$8.58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9" name="Shape 67"/>
          <p:cNvSpPr/>
          <p:nvPr/>
        </p:nvSpPr>
        <p:spPr>
          <a:xfrm>
            <a:off x="9363456" y="2369673"/>
            <a:ext cx="99097"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+$6.95</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2" name="Shape 70"/>
          <p:cNvSpPr/>
          <p:nvPr/>
        </p:nvSpPr>
        <p:spPr>
          <a:xfrm>
            <a:off x="9363456" y="2599887"/>
            <a:ext cx="96927"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+$6.80</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5" name="Shape 73"/>
          <p:cNvSpPr/>
          <p:nvPr/>
        </p:nvSpPr>
        <p:spPr>
          <a:xfrm>
            <a:off x="9363456" y="2830100"/>
            <a:ext cx="962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63456" y="3060314"/>
            <a:ext cx="8863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+$6.22</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63456" y="3290528"/>
            <a:ext cx="75539"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+$5.30</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4" name="Shape 82"/>
          <p:cNvSpPr/>
          <p:nvPr/>
        </p:nvSpPr>
        <p:spPr>
          <a:xfrm>
            <a:off x="9363456" y="3520741"/>
            <a:ext cx="6478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+$4.55</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7" name="Shape 85"/>
          <p:cNvSpPr/>
          <p:nvPr/>
        </p:nvSpPr>
        <p:spPr>
          <a:xfrm>
            <a:off x="9363456" y="3750955"/>
            <a:ext cx="60867"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0" name="Shape 88"/>
          <p:cNvSpPr/>
          <p:nvPr/>
        </p:nvSpPr>
        <p:spPr>
          <a:xfrm>
            <a:off x="9363456" y="3981169"/>
            <a:ext cx="53011"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3" name="Shape 91"/>
          <p:cNvSpPr/>
          <p:nvPr/>
        </p:nvSpPr>
        <p:spPr>
          <a:xfrm>
            <a:off x="9363456" y="4211382"/>
            <a:ext cx="35138" cy="105898"/>
          </a:xfrm>
          <a:prstGeom prst="rect">
            <a:avLst/>
          </a:prstGeom>
          <a:solidFill>
            <a:srgbClr val="12A566"/>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6" name="Shape 94"/>
          <p:cNvSpPr/>
          <p:nvPr/>
        </p:nvSpPr>
        <p:spPr>
          <a:xfrm>
            <a:off x="9363456" y="4441596"/>
            <a:ext cx="14630" cy="105898"/>
          </a:xfrm>
          <a:prstGeom prst="rect">
            <a:avLst/>
          </a:prstGeom>
          <a:solidFill>
            <a:srgbClr val="12A566"/>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9" name="Shape 97"/>
          <p:cNvSpPr/>
          <p:nvPr/>
        </p:nvSpPr>
        <p:spPr>
          <a:xfrm>
            <a:off x="9363456" y="4671809"/>
            <a:ext cx="13535" cy="105898"/>
          </a:xfrm>
          <a:prstGeom prst="rect">
            <a:avLst/>
          </a:prstGeom>
          <a:solidFill>
            <a:srgbClr val="12A566"/>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2" name="Shape 100"/>
          <p:cNvSpPr/>
          <p:nvPr/>
        </p:nvSpPr>
        <p:spPr>
          <a:xfrm>
            <a:off x="9362517" y="4902023"/>
            <a:ext cx="12802"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−$0.07</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5" name="Shape 103"/>
          <p:cNvSpPr/>
          <p:nvPr/>
        </p:nvSpPr>
        <p:spPr>
          <a:xfrm>
            <a:off x="9340889" y="5132237"/>
            <a:ext cx="2256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8" name="Shape 106"/>
          <p:cNvSpPr/>
          <p:nvPr/>
        </p:nvSpPr>
        <p:spPr>
          <a:xfrm>
            <a:off x="9188929" y="5362450"/>
            <a:ext cx="174527"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−$12.25</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30 of 33 stores raised warranty ELR, led by LR LV at +$57.74 to $274.91. 3 declined; HONDA NORTH fell most at −$12.25.</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$126.09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$129.84</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+$3.75</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$131.64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$128.34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$132.55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$133.77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$3.75 to $129.84, ahead of 2025 in seven of nine months.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$207.05</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 name="Shape 8"/>
          <p:cNvSpPr/>
          <p:nvPr/>
        </p:nvSpPr>
        <p:spPr>
          <a:xfrm>
            <a:off x="2971800" y="1707239"/>
            <a:ext cx="181208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$205.15</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3" name="Shape 11"/>
          <p:cNvSpPr/>
          <p:nvPr/>
        </p:nvSpPr>
        <p:spPr>
          <a:xfrm>
            <a:off x="2971800" y="1961119"/>
            <a:ext cx="1659564"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$187.89</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6" name="Shape 14"/>
          <p:cNvSpPr/>
          <p:nvPr/>
        </p:nvSpPr>
        <p:spPr>
          <a:xfrm>
            <a:off x="2971800" y="2215000"/>
            <a:ext cx="155778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$176.36</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9" name="Shape 17"/>
          <p:cNvSpPr/>
          <p:nvPr/>
        </p:nvSpPr>
        <p:spPr>
          <a:xfrm>
            <a:off x="2971800" y="2468880"/>
            <a:ext cx="1531722"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$173.41</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2" name="Shape 20"/>
          <p:cNvSpPr/>
          <p:nvPr/>
        </p:nvSpPr>
        <p:spPr>
          <a:xfrm>
            <a:off x="2971800" y="2722760"/>
            <a:ext cx="1474778"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$166.97</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5" name="Shape 23"/>
          <p:cNvSpPr/>
          <p:nvPr/>
        </p:nvSpPr>
        <p:spPr>
          <a:xfrm>
            <a:off x="2971800" y="2976641"/>
            <a:ext cx="146459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$165.81</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28" name="Shape 26"/>
          <p:cNvSpPr/>
          <p:nvPr/>
        </p:nvSpPr>
        <p:spPr>
          <a:xfrm>
            <a:off x="2971800" y="3230521"/>
            <a:ext cx="1442830"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$163.35</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31" name="Shape 29"/>
          <p:cNvSpPr/>
          <p:nvPr/>
        </p:nvSpPr>
        <p:spPr>
          <a:xfrm>
            <a:off x="2971800" y="3484402"/>
            <a:ext cx="1433818"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$162.33</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4" name="Shape 32"/>
          <p:cNvSpPr/>
          <p:nvPr/>
        </p:nvSpPr>
        <p:spPr>
          <a:xfrm>
            <a:off x="2971800" y="3738282"/>
            <a:ext cx="1403774"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$158.93</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7" name="Shape 35"/>
          <p:cNvSpPr/>
          <p:nvPr/>
        </p:nvSpPr>
        <p:spPr>
          <a:xfrm>
            <a:off x="2971800" y="3992163"/>
            <a:ext cx="1367830"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$154.86</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0" name="Shape 38"/>
          <p:cNvSpPr/>
          <p:nvPr/>
        </p:nvSpPr>
        <p:spPr>
          <a:xfrm>
            <a:off x="2971800" y="4246043"/>
            <a:ext cx="1338430"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$151.53</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3" name="Shape 41"/>
          <p:cNvSpPr/>
          <p:nvPr/>
        </p:nvSpPr>
        <p:spPr>
          <a:xfrm>
            <a:off x="2971800" y="4499924"/>
            <a:ext cx="1297073"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$146.85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6" name="Shape 44"/>
          <p:cNvSpPr/>
          <p:nvPr/>
        </p:nvSpPr>
        <p:spPr>
          <a:xfrm>
            <a:off x="2971800" y="4753804"/>
            <a:ext cx="1296853"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$146.82</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971800" y="5007685"/>
            <a:ext cx="1252109"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$141.76</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2" name="Shape 50"/>
          <p:cNvSpPr/>
          <p:nvPr/>
        </p:nvSpPr>
        <p:spPr>
          <a:xfrm>
            <a:off x="2971800" y="5261565"/>
            <a:ext cx="1230954"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$139.36</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5" name="Shape 53"/>
          <p:cNvSpPr/>
          <p:nvPr/>
        </p:nvSpPr>
        <p:spPr>
          <a:xfrm>
            <a:off x="2971800" y="5515446"/>
            <a:ext cx="1213635"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$137.40</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8" name="Shape 56"/>
          <p:cNvSpPr/>
          <p:nvPr/>
        </p:nvSpPr>
        <p:spPr>
          <a:xfrm>
            <a:off x="8522208" y="1453358"/>
            <a:ext cx="1211917"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$137.21</a:t>
            </a:r>
            <a:endParaRPr lang="en-US" sz="1300" dirty="0"/>
          </a:p>
        </p:txBody>
      </p:sp>
      <p:sp>
        <p:nvSpPr>
          <p:cNvPr id="60" name="Text 58"/>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1" name="Shape 59"/>
          <p:cNvSpPr/>
          <p:nvPr/>
        </p:nvSpPr>
        <p:spPr>
          <a:xfrm>
            <a:off x="8522208" y="1707239"/>
            <a:ext cx="1209221" cy="126940"/>
          </a:xfrm>
          <a:prstGeom prst="rect">
            <a:avLst/>
          </a:prstGeom>
          <a:solidFill>
            <a:srgbClr val="12A566"/>
          </a:solidFill>
          <a:ln/>
        </p:spPr>
      </p:sp>
      <p:sp>
        <p:nvSpPr>
          <p:cNvPr id="62" name="Text 60"/>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$136.90</a:t>
            </a:r>
            <a:endParaRPr lang="en-US" sz="1300" dirty="0"/>
          </a:p>
        </p:txBody>
      </p:sp>
      <p:sp>
        <p:nvSpPr>
          <p:cNvPr id="63" name="Text 61"/>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4" name="Shape 62"/>
          <p:cNvSpPr/>
          <p:nvPr/>
        </p:nvSpPr>
        <p:spPr>
          <a:xfrm>
            <a:off x="8522208" y="1961119"/>
            <a:ext cx="1187913" cy="126940"/>
          </a:xfrm>
          <a:prstGeom prst="rect">
            <a:avLst/>
          </a:prstGeom>
          <a:solidFill>
            <a:srgbClr val="12A566"/>
          </a:solidFill>
          <a:ln/>
        </p:spPr>
      </p:sp>
      <p:sp>
        <p:nvSpPr>
          <p:cNvPr id="65" name="Text 63"/>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$134.49</a:t>
            </a:r>
            <a:endParaRPr lang="en-US" sz="1300" dirty="0"/>
          </a:p>
        </p:txBody>
      </p:sp>
      <p:sp>
        <p:nvSpPr>
          <p:cNvPr id="66" name="Text 64"/>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7" name="Shape 65"/>
          <p:cNvSpPr/>
          <p:nvPr/>
        </p:nvSpPr>
        <p:spPr>
          <a:xfrm>
            <a:off x="8522208" y="2215000"/>
            <a:ext cx="1187654" cy="126940"/>
          </a:xfrm>
          <a:prstGeom prst="rect">
            <a:avLst/>
          </a:prstGeom>
          <a:solidFill>
            <a:srgbClr val="12A566"/>
          </a:solidFill>
          <a:ln/>
        </p:spPr>
      </p:sp>
      <p:sp>
        <p:nvSpPr>
          <p:cNvPr id="68" name="Text 66"/>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$134.46</a:t>
            </a:r>
            <a:endParaRPr lang="en-US" sz="1300" dirty="0"/>
          </a:p>
        </p:txBody>
      </p:sp>
      <p:sp>
        <p:nvSpPr>
          <p:cNvPr id="69" name="Shape 67"/>
          <p:cNvSpPr/>
          <p:nvPr/>
        </p:nvSpPr>
        <p:spPr>
          <a:xfrm>
            <a:off x="6135624" y="2400838"/>
            <a:ext cx="5413248" cy="244736"/>
          </a:xfrm>
          <a:prstGeom prst="rect">
            <a:avLst/>
          </a:prstGeom>
          <a:solidFill>
            <a:srgbClr val="EDF4FA"/>
          </a:solidFill>
          <a:ln/>
        </p:spPr>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71" name="Shape 69"/>
          <p:cNvSpPr/>
          <p:nvPr/>
        </p:nvSpPr>
        <p:spPr>
          <a:xfrm>
            <a:off x="8522208" y="2468880"/>
            <a:ext cx="1146832" cy="126940"/>
          </a:xfrm>
          <a:prstGeom prst="rect">
            <a:avLst/>
          </a:prstGeom>
          <a:solidFill>
            <a:srgbClr val="0B2C4A"/>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$129.84</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4" name="Shape 72"/>
          <p:cNvSpPr/>
          <p:nvPr/>
        </p:nvSpPr>
        <p:spPr>
          <a:xfrm>
            <a:off x="8522208" y="2722760"/>
            <a:ext cx="1132497"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$128.21</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7" name="Shape 75"/>
          <p:cNvSpPr/>
          <p:nvPr/>
        </p:nvSpPr>
        <p:spPr>
          <a:xfrm>
            <a:off x="8522208" y="2976641"/>
            <a:ext cx="1125394"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$127.41</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0" name="Shape 78"/>
          <p:cNvSpPr/>
          <p:nvPr/>
        </p:nvSpPr>
        <p:spPr>
          <a:xfrm>
            <a:off x="8522208" y="3230521"/>
            <a:ext cx="1099278"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$124.45</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3" name="Shape 81"/>
          <p:cNvSpPr/>
          <p:nvPr/>
        </p:nvSpPr>
        <p:spPr>
          <a:xfrm>
            <a:off x="8522208" y="3484402"/>
            <a:ext cx="1083588"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$122.68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6" name="Shape 84"/>
          <p:cNvSpPr/>
          <p:nvPr/>
        </p:nvSpPr>
        <p:spPr>
          <a:xfrm>
            <a:off x="8522208" y="3738282"/>
            <a:ext cx="1054415"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$119.37</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1035047"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$117.18</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2" name="Shape 90"/>
          <p:cNvSpPr/>
          <p:nvPr/>
        </p:nvSpPr>
        <p:spPr>
          <a:xfrm>
            <a:off x="8522208" y="4246043"/>
            <a:ext cx="1015470"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$114.97</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95" name="Shape 93"/>
          <p:cNvSpPr/>
          <p:nvPr/>
        </p:nvSpPr>
        <p:spPr>
          <a:xfrm>
            <a:off x="8522208" y="4499924"/>
            <a:ext cx="964729"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$109.22</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98" name="Shape 96"/>
          <p:cNvSpPr/>
          <p:nvPr/>
        </p:nvSpPr>
        <p:spPr>
          <a:xfrm>
            <a:off x="8522208" y="4753804"/>
            <a:ext cx="926499"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$104.89</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1" name="Shape 99"/>
          <p:cNvSpPr/>
          <p:nvPr/>
        </p:nvSpPr>
        <p:spPr>
          <a:xfrm>
            <a:off x="8522208" y="5007685"/>
            <a:ext cx="906678"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$102.65</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4" name="Shape 102"/>
          <p:cNvSpPr/>
          <p:nvPr/>
        </p:nvSpPr>
        <p:spPr>
          <a:xfrm>
            <a:off x="8522208" y="5261565"/>
            <a:ext cx="881342"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$99.78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7" name="Shape 105"/>
          <p:cNvSpPr/>
          <p:nvPr/>
        </p:nvSpPr>
        <p:spPr>
          <a:xfrm>
            <a:off x="8522208" y="5515446"/>
            <a:ext cx="770301"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$87.21</a:t>
            </a:r>
            <a:endParaRPr lang="en-US" sz="1300" dirty="0"/>
          </a:p>
        </p:txBody>
      </p:sp>
      <p:sp>
        <p:nvSpPr>
          <p:cNvPr id="109" name="Shape 107"/>
          <p:cNvSpPr/>
          <p:nvPr/>
        </p:nvSpPr>
        <p:spPr>
          <a:xfrm>
            <a:off x="4111317" y="1389888"/>
            <a:ext cx="14630" cy="4315968"/>
          </a:xfrm>
          <a:prstGeom prst="rect">
            <a:avLst/>
          </a:prstGeom>
          <a:solidFill>
            <a:srgbClr val="0B2C4A"/>
          </a:solidFill>
          <a:ln/>
        </p:spPr>
      </p:sp>
      <p:sp>
        <p:nvSpPr>
          <p:cNvPr id="110" name="Shape 108"/>
          <p:cNvSpPr/>
          <p:nvPr/>
        </p:nvSpPr>
        <p:spPr>
          <a:xfrm>
            <a:off x="9661725"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21 of 33 stores at or above the $129.84 group, led by LR RENO at $207.05. NISSAN is lowest at $87.21.</a:t>
            </a:r>
            <a:endParaRPr lang="en-US" sz="16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WARRANTY &amp; INTERNAL</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Internal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+$3.75</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2" name="Shape 10"/>
          <p:cNvSpPr/>
          <p:nvPr/>
        </p:nvSpPr>
        <p:spPr>
          <a:xfrm>
            <a:off x="3813048" y="1909246"/>
            <a:ext cx="636173"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+$46.71</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5" name="Shape 13"/>
          <p:cNvSpPr/>
          <p:nvPr/>
        </p:nvSpPr>
        <p:spPr>
          <a:xfrm>
            <a:off x="3813048" y="2139459"/>
            <a:ext cx="539178"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+$39.59</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8" name="Shape 16"/>
          <p:cNvSpPr/>
          <p:nvPr/>
        </p:nvSpPr>
        <p:spPr>
          <a:xfrm>
            <a:off x="3813048" y="2369673"/>
            <a:ext cx="369303"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+$27.12</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1" name="Shape 19"/>
          <p:cNvSpPr/>
          <p:nvPr/>
        </p:nvSpPr>
        <p:spPr>
          <a:xfrm>
            <a:off x="3813048" y="2599887"/>
            <a:ext cx="28345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+$20.81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24" name="Shape 22"/>
          <p:cNvSpPr/>
          <p:nvPr/>
        </p:nvSpPr>
        <p:spPr>
          <a:xfrm>
            <a:off x="3813048" y="2830100"/>
            <a:ext cx="23756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+$17.44</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7" name="Shape 25"/>
          <p:cNvSpPr/>
          <p:nvPr/>
        </p:nvSpPr>
        <p:spPr>
          <a:xfrm>
            <a:off x="3813048" y="3060314"/>
            <a:ext cx="172734"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0" name="Shape 28"/>
          <p:cNvSpPr/>
          <p:nvPr/>
        </p:nvSpPr>
        <p:spPr>
          <a:xfrm>
            <a:off x="3813048" y="3290528"/>
            <a:ext cx="169263"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3" name="Shape 31"/>
          <p:cNvSpPr/>
          <p:nvPr/>
        </p:nvSpPr>
        <p:spPr>
          <a:xfrm>
            <a:off x="3813048" y="3520741"/>
            <a:ext cx="16394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+$12.04</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6" name="Shape 34"/>
          <p:cNvSpPr/>
          <p:nvPr/>
        </p:nvSpPr>
        <p:spPr>
          <a:xfrm>
            <a:off x="3813048" y="3750955"/>
            <a:ext cx="15158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+$11.13</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9" name="Shape 37"/>
          <p:cNvSpPr/>
          <p:nvPr/>
        </p:nvSpPr>
        <p:spPr>
          <a:xfrm>
            <a:off x="3813048" y="3981169"/>
            <a:ext cx="8709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+$6.39</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2" name="Shape 40"/>
          <p:cNvSpPr/>
          <p:nvPr/>
        </p:nvSpPr>
        <p:spPr>
          <a:xfrm>
            <a:off x="3813048" y="4211382"/>
            <a:ext cx="8551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+$6.28</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5" name="Shape 43"/>
          <p:cNvSpPr/>
          <p:nvPr/>
        </p:nvSpPr>
        <p:spPr>
          <a:xfrm>
            <a:off x="3813048" y="4441596"/>
            <a:ext cx="7792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+$5.72</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8" name="Shape 46"/>
          <p:cNvSpPr/>
          <p:nvPr/>
        </p:nvSpPr>
        <p:spPr>
          <a:xfrm>
            <a:off x="3813048" y="4671809"/>
            <a:ext cx="74479"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+$5.47</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1" name="Shape 49"/>
          <p:cNvSpPr/>
          <p:nvPr/>
        </p:nvSpPr>
        <p:spPr>
          <a:xfrm>
            <a:off x="3813048" y="4902023"/>
            <a:ext cx="6999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+$5.14</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4" name="Shape 52"/>
          <p:cNvSpPr/>
          <p:nvPr/>
        </p:nvSpPr>
        <p:spPr>
          <a:xfrm>
            <a:off x="3813048" y="5132237"/>
            <a:ext cx="61429"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57" name="Shape 55"/>
          <p:cNvSpPr/>
          <p:nvPr/>
        </p:nvSpPr>
        <p:spPr>
          <a:xfrm>
            <a:off x="3813048" y="5362450"/>
            <a:ext cx="5203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+$3.82</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0" name="Shape 58"/>
          <p:cNvSpPr/>
          <p:nvPr/>
        </p:nvSpPr>
        <p:spPr>
          <a:xfrm>
            <a:off x="3813048" y="5592664"/>
            <a:ext cx="51063"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4872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+$3.58</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66" name="Shape 64"/>
          <p:cNvSpPr/>
          <p:nvPr/>
        </p:nvSpPr>
        <p:spPr>
          <a:xfrm>
            <a:off x="9363456" y="2139459"/>
            <a:ext cx="26435"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50745" y="2599887"/>
            <a:ext cx="12802"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−$0.93</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5" name="Shape 73"/>
          <p:cNvSpPr/>
          <p:nvPr/>
        </p:nvSpPr>
        <p:spPr>
          <a:xfrm>
            <a:off x="9343681" y="2830100"/>
            <a:ext cx="19775"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8" name="Shape 76"/>
          <p:cNvSpPr/>
          <p:nvPr/>
        </p:nvSpPr>
        <p:spPr>
          <a:xfrm>
            <a:off x="9339623" y="3060314"/>
            <a:ext cx="2383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02279" y="3290528"/>
            <a:ext cx="61177"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−$4.49</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296885" y="3520741"/>
            <a:ext cx="66571"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−$4.89</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7" name="Shape 85"/>
          <p:cNvSpPr/>
          <p:nvPr/>
        </p:nvSpPr>
        <p:spPr>
          <a:xfrm>
            <a:off x="9280675" y="3750955"/>
            <a:ext cx="82781"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−$6.08</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0" name="Shape 88"/>
          <p:cNvSpPr/>
          <p:nvPr/>
        </p:nvSpPr>
        <p:spPr>
          <a:xfrm>
            <a:off x="9276308" y="3981169"/>
            <a:ext cx="87148"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−$6.40</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3" name="Shape 91"/>
          <p:cNvSpPr/>
          <p:nvPr/>
        </p:nvSpPr>
        <p:spPr>
          <a:xfrm>
            <a:off x="9223553" y="4211382"/>
            <a:ext cx="13990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−$10.27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6" name="Shape 94"/>
          <p:cNvSpPr/>
          <p:nvPr/>
        </p:nvSpPr>
        <p:spPr>
          <a:xfrm>
            <a:off x="9121816" y="4441596"/>
            <a:ext cx="24164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−$17.74</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9" name="Shape 97"/>
          <p:cNvSpPr/>
          <p:nvPr/>
        </p:nvSpPr>
        <p:spPr>
          <a:xfrm>
            <a:off x="9080799" y="4671809"/>
            <a:ext cx="28265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−$20.75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919452" y="4902023"/>
            <a:ext cx="44400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−$32.60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806319" y="5132237"/>
            <a:ext cx="55713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−$40.91</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−$60.43</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raised internal ELR, led by HYUNDAI ST GEORGE at +$46.71 to $205.15. 13 declined; KIA LV fell most at −$60.43.</a:t>
            </a:r>
            <a:endParaRPr lang="en-US" sz="1600" dirty="0"/>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non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Productivity</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Gross per employee   ·   ROs per person   ·   Headcount</a:t>
            </a:r>
            <a:endParaRPr lang="en-US" sz="2200" dirty="0"/>
          </a:p>
        </p:txBody>
      </p:sp>
      <p:sp>
        <p:nvSpPr>
          <p:cNvPr id="5" name="Shape 3"/>
          <p:cNvSpPr/>
          <p:nvPr/>
        </p:nvSpPr>
        <p:spPr>
          <a:xfrm>
            <a:off x="685800" y="5257800"/>
            <a:ext cx="1340249" cy="45720"/>
          </a:xfrm>
          <a:prstGeom prst="rect">
            <a:avLst/>
          </a:prstGeom>
          <a:solidFill>
            <a:srgbClr val="5B9BD5"/>
          </a:solidFill>
          <a:ln/>
        </p:spPr>
      </p:sp>
      <p:sp>
        <p:nvSpPr>
          <p:cNvPr id="6" name="Text 4"/>
          <p:cNvSpPr txBox="1"/>
          <p:nvPr/>
        </p:nvSpPr>
        <p:spPr>
          <a:xfrm>
            <a:off x="685800"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Gross</a:t>
            </a:r>
            <a:endParaRPr lang="en-US" sz="1550" dirty="0"/>
          </a:p>
        </p:txBody>
      </p:sp>
      <p:sp>
        <p:nvSpPr>
          <p:cNvPr id="7" name="Shape 5"/>
          <p:cNvSpPr/>
          <p:nvPr/>
        </p:nvSpPr>
        <p:spPr>
          <a:xfrm>
            <a:off x="2227217" y="5257800"/>
            <a:ext cx="1340249" cy="45720"/>
          </a:xfrm>
          <a:prstGeom prst="rect">
            <a:avLst/>
          </a:prstGeom>
          <a:solidFill>
            <a:srgbClr val="5B9BD5"/>
          </a:solidFill>
          <a:ln/>
        </p:spPr>
      </p:sp>
      <p:sp>
        <p:nvSpPr>
          <p:cNvPr id="8" name="Text 6"/>
          <p:cNvSpPr txBox="1"/>
          <p:nvPr/>
        </p:nvSpPr>
        <p:spPr>
          <a:xfrm>
            <a:off x="2227217"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Profitability</a:t>
            </a:r>
            <a:endParaRPr lang="en-US" sz="1550" dirty="0"/>
          </a:p>
        </p:txBody>
      </p:sp>
      <p:sp>
        <p:nvSpPr>
          <p:cNvPr id="9" name="Shape 7"/>
          <p:cNvSpPr/>
          <p:nvPr/>
        </p:nvSpPr>
        <p:spPr>
          <a:xfrm>
            <a:off x="3768634" y="5257800"/>
            <a:ext cx="1340249" cy="45720"/>
          </a:xfrm>
          <a:prstGeom prst="rect">
            <a:avLst/>
          </a:prstGeom>
          <a:solidFill>
            <a:srgbClr val="5B9BD5"/>
          </a:solidFill>
          <a:ln/>
        </p:spPr>
      </p:sp>
      <p:sp>
        <p:nvSpPr>
          <p:cNvPr id="10" name="Text 8"/>
          <p:cNvSpPr txBox="1"/>
          <p:nvPr/>
        </p:nvSpPr>
        <p:spPr>
          <a:xfrm>
            <a:off x="3768634"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CP Engine</a:t>
            </a:r>
            <a:endParaRPr lang="en-US" sz="1550" dirty="0"/>
          </a:p>
        </p:txBody>
      </p:sp>
      <p:sp>
        <p:nvSpPr>
          <p:cNvPr id="11" name="Shape 9"/>
          <p:cNvSpPr/>
          <p:nvPr/>
        </p:nvSpPr>
        <p:spPr>
          <a:xfrm>
            <a:off x="5310051" y="5257800"/>
            <a:ext cx="1340249" cy="45720"/>
          </a:xfrm>
          <a:prstGeom prst="rect">
            <a:avLst/>
          </a:prstGeom>
          <a:solidFill>
            <a:srgbClr val="5B9BD5"/>
          </a:solidFill>
          <a:ln/>
        </p:spPr>
      </p:sp>
      <p:sp>
        <p:nvSpPr>
          <p:cNvPr id="12" name="Text 10"/>
          <p:cNvSpPr txBox="1"/>
          <p:nvPr/>
        </p:nvSpPr>
        <p:spPr>
          <a:xfrm>
            <a:off x="5310051"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Labor Mix</a:t>
            </a:r>
            <a:endParaRPr lang="en-US" sz="1550" dirty="0"/>
          </a:p>
        </p:txBody>
      </p:sp>
      <p:sp>
        <p:nvSpPr>
          <p:cNvPr id="13" name="Shape 11"/>
          <p:cNvSpPr/>
          <p:nvPr/>
        </p:nvSpPr>
        <p:spPr>
          <a:xfrm>
            <a:off x="6851469" y="5257800"/>
            <a:ext cx="1340249" cy="45720"/>
          </a:xfrm>
          <a:prstGeom prst="rect">
            <a:avLst/>
          </a:prstGeom>
          <a:solidFill>
            <a:srgbClr val="5B9BD5"/>
          </a:solidFill>
          <a:ln/>
        </p:spPr>
      </p:sp>
      <p:sp>
        <p:nvSpPr>
          <p:cNvPr id="14" name="Text 12"/>
          <p:cNvSpPr txBox="1"/>
          <p:nvPr/>
        </p:nvSpPr>
        <p:spPr>
          <a:xfrm>
            <a:off x="6851469"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Opcodes</a:t>
            </a:r>
            <a:endParaRPr lang="en-US" sz="1550" dirty="0"/>
          </a:p>
        </p:txBody>
      </p:sp>
      <p:sp>
        <p:nvSpPr>
          <p:cNvPr id="15" name="Shape 13"/>
          <p:cNvSpPr/>
          <p:nvPr/>
        </p:nvSpPr>
        <p:spPr>
          <a:xfrm>
            <a:off x="8392886" y="5257800"/>
            <a:ext cx="1340249" cy="45720"/>
          </a:xfrm>
          <a:prstGeom prst="rect">
            <a:avLst/>
          </a:prstGeom>
          <a:solidFill>
            <a:srgbClr val="5B9BD5"/>
          </a:solidFill>
          <a:ln/>
        </p:spPr>
      </p:sp>
      <p:sp>
        <p:nvSpPr>
          <p:cNvPr id="16" name="Text 14"/>
          <p:cNvSpPr txBox="1"/>
          <p:nvPr/>
        </p:nvSpPr>
        <p:spPr>
          <a:xfrm>
            <a:off x="8392886" y="5440680"/>
            <a:ext cx="1340249" cy="365760"/>
          </a:xfrm>
          <a:prstGeom prst="rect">
            <a:avLst/>
          </a:prstGeom>
          <a:noFill/>
          <a:ln/>
        </p:spPr>
        <p:txBody>
          <a:bodyPr wrap="square" lIns="0" tIns="0" rIns="0" bIns="0" rtlCol="0" anchor="ctr"/>
          <a:lstStyle/>
          <a:p>
            <a:pPr indent="0" marL="0">
              <a:buNone/>
            </a:pPr>
            <a:r>
              <a:rPr lang="en-US" sz="1550" dirty="0">
                <a:solidFill>
                  <a:srgbClr val="595959"/>
                </a:solidFill>
                <a:latin typeface="Inter" pitchFamily="34" charset="0"/>
                <a:ea typeface="Inter" pitchFamily="34" charset="-122"/>
                <a:cs typeface="Inter" pitchFamily="34" charset="-120"/>
              </a:rPr>
              <a:t>Warranty</a:t>
            </a:r>
            <a:endParaRPr lang="en-US" sz="1550" dirty="0"/>
          </a:p>
        </p:txBody>
      </p:sp>
      <p:sp>
        <p:nvSpPr>
          <p:cNvPr id="17" name="Shape 15"/>
          <p:cNvSpPr/>
          <p:nvPr/>
        </p:nvSpPr>
        <p:spPr>
          <a:xfrm>
            <a:off x="9934303" y="5257800"/>
            <a:ext cx="1340249" cy="91440"/>
          </a:xfrm>
          <a:prstGeom prst="rect">
            <a:avLst/>
          </a:prstGeom>
          <a:solidFill>
            <a:srgbClr val="2587C5"/>
          </a:solidFill>
          <a:ln/>
        </p:spPr>
      </p:sp>
      <p:sp>
        <p:nvSpPr>
          <p:cNvPr id="18" name="Text 16"/>
          <p:cNvSpPr txBox="1"/>
          <p:nvPr/>
        </p:nvSpPr>
        <p:spPr>
          <a:xfrm>
            <a:off x="9934303" y="5440680"/>
            <a:ext cx="1340249" cy="365760"/>
          </a:xfrm>
          <a:prstGeom prst="rect">
            <a:avLst/>
          </a:prstGeom>
          <a:noFill/>
          <a:ln/>
        </p:spPr>
        <p:txBody>
          <a:bodyPr wrap="square" lIns="0" tIns="0" rIns="0" bIns="0" rtlCol="0" anchor="ctr"/>
          <a:lstStyle/>
          <a:p>
            <a:pPr indent="0" marL="0">
              <a:buNone/>
            </a:pPr>
            <a:r>
              <a:rPr lang="en-US" sz="1550" b="1" dirty="0">
                <a:solidFill>
                  <a:srgbClr val="1A1A1A"/>
                </a:solidFill>
                <a:latin typeface="Inter" pitchFamily="34" charset="0"/>
                <a:ea typeface="Inter" pitchFamily="34" charset="-122"/>
                <a:cs typeface="Inter" pitchFamily="34" charset="-120"/>
              </a:rPr>
              <a:t>Productivity</a:t>
            </a:r>
            <a:endParaRPr lang="en-US" sz="1550" dirty="0"/>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$12,410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$13,617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+$1,207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+9.7%</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$11,705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$12,397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$12,913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$14,108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$13,092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$12,584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$12,740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$14,673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$12,488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$13,972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$11,778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$13,721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$1,207 to $13,617, ahead of 2025 in all nine months. Gross grew 4.1%; headcount fell 5.1%.</a:t>
            </a:r>
            <a:endParaRPr lang="en-US" sz="1600" dirty="0"/>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$23,461</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 name="Shape 8"/>
          <p:cNvSpPr/>
          <p:nvPr/>
        </p:nvSpPr>
        <p:spPr>
          <a:xfrm>
            <a:off x="2971800" y="1707239"/>
            <a:ext cx="1445900"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$18,549</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3" name="Shape 11"/>
          <p:cNvSpPr/>
          <p:nvPr/>
        </p:nvSpPr>
        <p:spPr>
          <a:xfrm>
            <a:off x="2971800" y="1961119"/>
            <a:ext cx="1424044"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$18,268</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971800" y="2215000"/>
            <a:ext cx="1414711"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$18,148</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9" name="Shape 17"/>
          <p:cNvSpPr/>
          <p:nvPr/>
        </p:nvSpPr>
        <p:spPr>
          <a:xfrm>
            <a:off x="2971800" y="2468880"/>
            <a:ext cx="1318885"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$16,919</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22" name="Shape 20"/>
          <p:cNvSpPr/>
          <p:nvPr/>
        </p:nvSpPr>
        <p:spPr>
          <a:xfrm>
            <a:off x="2971800" y="2722760"/>
            <a:ext cx="125201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$16,061</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25" name="Shape 23"/>
          <p:cNvSpPr/>
          <p:nvPr/>
        </p:nvSpPr>
        <p:spPr>
          <a:xfrm>
            <a:off x="2971800" y="2976641"/>
            <a:ext cx="1244606"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$15,966</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8" name="Shape 26"/>
          <p:cNvSpPr/>
          <p:nvPr/>
        </p:nvSpPr>
        <p:spPr>
          <a:xfrm>
            <a:off x="2971800" y="3230521"/>
            <a:ext cx="121259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$15,556</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1" name="Shape 29"/>
          <p:cNvSpPr/>
          <p:nvPr/>
        </p:nvSpPr>
        <p:spPr>
          <a:xfrm>
            <a:off x="2971800" y="3484402"/>
            <a:ext cx="118692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$15,226</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4" name="Shape 32"/>
          <p:cNvSpPr/>
          <p:nvPr/>
        </p:nvSpPr>
        <p:spPr>
          <a:xfrm>
            <a:off x="2971800" y="3738282"/>
            <a:ext cx="1162721"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$14,916</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7" name="Shape 35"/>
          <p:cNvSpPr/>
          <p:nvPr/>
        </p:nvSpPr>
        <p:spPr>
          <a:xfrm>
            <a:off x="2971800" y="3992163"/>
            <a:ext cx="1138415"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$14,604</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0" name="Shape 38"/>
          <p:cNvSpPr/>
          <p:nvPr/>
        </p:nvSpPr>
        <p:spPr>
          <a:xfrm>
            <a:off x="2971800" y="4246043"/>
            <a:ext cx="1111597"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$14,260</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3" name="Shape 41"/>
          <p:cNvSpPr/>
          <p:nvPr/>
        </p:nvSpPr>
        <p:spPr>
          <a:xfrm>
            <a:off x="2971800" y="4499924"/>
            <a:ext cx="1104894"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$14,174</a:t>
            </a:r>
            <a:endParaRPr lang="en-US" sz="1300" dirty="0"/>
          </a:p>
        </p:txBody>
      </p:sp>
      <p:sp>
        <p:nvSpPr>
          <p:cNvPr id="45" name="Shape 43"/>
          <p:cNvSpPr/>
          <p:nvPr/>
        </p:nvSpPr>
        <p:spPr>
          <a:xfrm>
            <a:off x="585216" y="4685762"/>
            <a:ext cx="5413248" cy="244736"/>
          </a:xfrm>
          <a:prstGeom prst="rect">
            <a:avLst/>
          </a:prstGeom>
          <a:solidFill>
            <a:srgbClr val="EDF4FA"/>
          </a:solidFill>
          <a:ln/>
        </p:spPr>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753804"/>
            <a:ext cx="1061474" cy="126940"/>
          </a:xfrm>
          <a:prstGeom prst="rect">
            <a:avLst/>
          </a:prstGeom>
          <a:solidFill>
            <a:srgbClr val="0B2C4A"/>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$13,617</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0" name="Shape 48"/>
          <p:cNvSpPr/>
          <p:nvPr/>
        </p:nvSpPr>
        <p:spPr>
          <a:xfrm>
            <a:off x="2971800" y="5007685"/>
            <a:ext cx="1035934"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$13,289</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3" name="Shape 51"/>
          <p:cNvSpPr/>
          <p:nvPr/>
        </p:nvSpPr>
        <p:spPr>
          <a:xfrm>
            <a:off x="2971800" y="5261565"/>
            <a:ext cx="1003560"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$12,874</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6" name="Shape 54"/>
          <p:cNvSpPr/>
          <p:nvPr/>
        </p:nvSpPr>
        <p:spPr>
          <a:xfrm>
            <a:off x="2971800" y="5515446"/>
            <a:ext cx="1003290"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$12,871</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9" name="Shape 57"/>
          <p:cNvSpPr/>
          <p:nvPr/>
        </p:nvSpPr>
        <p:spPr>
          <a:xfrm>
            <a:off x="8522208" y="1453358"/>
            <a:ext cx="974487"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$12,501</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2" name="Shape 60"/>
          <p:cNvSpPr/>
          <p:nvPr/>
        </p:nvSpPr>
        <p:spPr>
          <a:xfrm>
            <a:off x="8522208" y="1707239"/>
            <a:ext cx="963791"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$12,364</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94348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$12,103</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8" name="Shape 66"/>
          <p:cNvSpPr/>
          <p:nvPr/>
        </p:nvSpPr>
        <p:spPr>
          <a:xfrm>
            <a:off x="8522208" y="2215000"/>
            <a:ext cx="938663"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$12,042</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1" name="Shape 69"/>
          <p:cNvSpPr/>
          <p:nvPr/>
        </p:nvSpPr>
        <p:spPr>
          <a:xfrm>
            <a:off x="8522208" y="2468880"/>
            <a:ext cx="935875"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$12,006</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74" name="Shape 72"/>
          <p:cNvSpPr/>
          <p:nvPr/>
        </p:nvSpPr>
        <p:spPr>
          <a:xfrm>
            <a:off x="8522208" y="2722760"/>
            <a:ext cx="932104"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$11,957</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7" name="Shape 75"/>
          <p:cNvSpPr/>
          <p:nvPr/>
        </p:nvSpPr>
        <p:spPr>
          <a:xfrm>
            <a:off x="8522208" y="2976641"/>
            <a:ext cx="906649"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$11,631</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0" name="Shape 78"/>
          <p:cNvSpPr/>
          <p:nvPr/>
        </p:nvSpPr>
        <p:spPr>
          <a:xfrm>
            <a:off x="8522208" y="3230521"/>
            <a:ext cx="899660"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$11,541</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3" name="Shape 81"/>
          <p:cNvSpPr/>
          <p:nvPr/>
        </p:nvSpPr>
        <p:spPr>
          <a:xfrm>
            <a:off x="8522208" y="3484402"/>
            <a:ext cx="867469"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$11,128</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6" name="Shape 84"/>
          <p:cNvSpPr/>
          <p:nvPr/>
        </p:nvSpPr>
        <p:spPr>
          <a:xfrm>
            <a:off x="8522208" y="3738282"/>
            <a:ext cx="860908"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$11,044</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854614"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$10,963</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2" name="Shape 90"/>
          <p:cNvSpPr/>
          <p:nvPr/>
        </p:nvSpPr>
        <p:spPr>
          <a:xfrm>
            <a:off x="8522208" y="4246043"/>
            <a:ext cx="841392"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$10,794</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5" name="Shape 93"/>
          <p:cNvSpPr/>
          <p:nvPr/>
        </p:nvSpPr>
        <p:spPr>
          <a:xfrm>
            <a:off x="8522208" y="4499924"/>
            <a:ext cx="810008"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$10,391</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8" name="Shape 96"/>
          <p:cNvSpPr/>
          <p:nvPr/>
        </p:nvSpPr>
        <p:spPr>
          <a:xfrm>
            <a:off x="8522208" y="4753804"/>
            <a:ext cx="775841"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$9,953</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1" name="Shape 99"/>
          <p:cNvSpPr/>
          <p:nvPr/>
        </p:nvSpPr>
        <p:spPr>
          <a:xfrm>
            <a:off x="8522208" y="5007685"/>
            <a:ext cx="769990"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$9,878</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4" name="Shape 102"/>
          <p:cNvSpPr/>
          <p:nvPr/>
        </p:nvSpPr>
        <p:spPr>
          <a:xfrm>
            <a:off x="8522208" y="5261565"/>
            <a:ext cx="740383"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$9,498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7" name="Shape 105"/>
          <p:cNvSpPr/>
          <p:nvPr/>
        </p:nvSpPr>
        <p:spPr>
          <a:xfrm>
            <a:off x="8522208" y="5515446"/>
            <a:ext cx="713200"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$9,149</a:t>
            </a:r>
            <a:endParaRPr lang="en-US" sz="1300" dirty="0"/>
          </a:p>
        </p:txBody>
      </p:sp>
      <p:sp>
        <p:nvSpPr>
          <p:cNvPr id="109" name="Shape 107"/>
          <p:cNvSpPr/>
          <p:nvPr/>
        </p:nvSpPr>
        <p:spPr>
          <a:xfrm>
            <a:off x="4025958" y="1389888"/>
            <a:ext cx="14630" cy="4315968"/>
          </a:xfrm>
          <a:prstGeom prst="rect">
            <a:avLst/>
          </a:prstGeom>
          <a:solidFill>
            <a:srgbClr val="0B2C4A"/>
          </a:solidFill>
          <a:ln/>
        </p:spPr>
      </p:sp>
      <p:sp>
        <p:nvSpPr>
          <p:cNvPr id="110" name="Shape 108"/>
          <p:cNvSpPr/>
          <p:nvPr/>
        </p:nvSpPr>
        <p:spPr>
          <a:xfrm>
            <a:off x="9576366"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$13,617 group, led by AUDI HENDERSON at $23,461. HONDA FLAGSTAFF is lowest at $9,149.</a:t>
            </a:r>
            <a:endParaRPr lang="en-US" sz="16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Gross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+$1,207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+$4,158</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58041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+$2,933</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8" name="Shape 16"/>
          <p:cNvSpPr/>
          <p:nvPr/>
        </p:nvSpPr>
        <p:spPr>
          <a:xfrm>
            <a:off x="3813048" y="2369673"/>
            <a:ext cx="50364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+$2,545</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21" name="Shape 19"/>
          <p:cNvSpPr/>
          <p:nvPr/>
        </p:nvSpPr>
        <p:spPr>
          <a:xfrm>
            <a:off x="3813048" y="2599887"/>
            <a:ext cx="476707"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+$2,409</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4" name="Shape 22"/>
          <p:cNvSpPr/>
          <p:nvPr/>
        </p:nvSpPr>
        <p:spPr>
          <a:xfrm>
            <a:off x="3813048" y="2830100"/>
            <a:ext cx="46682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+$2,359</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7" name="Shape 25"/>
          <p:cNvSpPr/>
          <p:nvPr/>
        </p:nvSpPr>
        <p:spPr>
          <a:xfrm>
            <a:off x="3813048" y="3060314"/>
            <a:ext cx="452685"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+$2,287</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0" name="Shape 28"/>
          <p:cNvSpPr/>
          <p:nvPr/>
        </p:nvSpPr>
        <p:spPr>
          <a:xfrm>
            <a:off x="3813048" y="3290528"/>
            <a:ext cx="41395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+$2,092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3" name="Shape 31"/>
          <p:cNvSpPr/>
          <p:nvPr/>
        </p:nvSpPr>
        <p:spPr>
          <a:xfrm>
            <a:off x="3813048" y="3520741"/>
            <a:ext cx="35033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+$1,770</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36" name="Shape 34"/>
          <p:cNvSpPr/>
          <p:nvPr/>
        </p:nvSpPr>
        <p:spPr>
          <a:xfrm>
            <a:off x="3813048" y="3750955"/>
            <a:ext cx="33824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+$1,709</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325887"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+$1,647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2" name="Shape 40"/>
          <p:cNvSpPr/>
          <p:nvPr/>
        </p:nvSpPr>
        <p:spPr>
          <a:xfrm>
            <a:off x="3813048" y="4211382"/>
            <a:ext cx="317271"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45" name="Shape 43"/>
          <p:cNvSpPr/>
          <p:nvPr/>
        </p:nvSpPr>
        <p:spPr>
          <a:xfrm>
            <a:off x="3813048" y="4441596"/>
            <a:ext cx="293240"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+$1,482</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291137"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+$1,471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51" name="Shape 49"/>
          <p:cNvSpPr/>
          <p:nvPr/>
        </p:nvSpPr>
        <p:spPr>
          <a:xfrm>
            <a:off x="3813048" y="4902023"/>
            <a:ext cx="25022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+$1,264</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4" name="Shape 52"/>
          <p:cNvSpPr/>
          <p:nvPr/>
        </p:nvSpPr>
        <p:spPr>
          <a:xfrm>
            <a:off x="3813048" y="5132237"/>
            <a:ext cx="233179"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+$1,178</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7" name="Shape 55"/>
          <p:cNvSpPr/>
          <p:nvPr/>
        </p:nvSpPr>
        <p:spPr>
          <a:xfrm>
            <a:off x="3813048" y="5362450"/>
            <a:ext cx="218007"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+$1,101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0" name="Shape 58"/>
          <p:cNvSpPr/>
          <p:nvPr/>
        </p:nvSpPr>
        <p:spPr>
          <a:xfrm>
            <a:off x="3813048" y="5592664"/>
            <a:ext cx="21386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+$1,081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9363456" y="1909246"/>
            <a:ext cx="209204"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+$1,057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6" name="Shape 64"/>
          <p:cNvSpPr/>
          <p:nvPr/>
        </p:nvSpPr>
        <p:spPr>
          <a:xfrm>
            <a:off x="9363456" y="2139459"/>
            <a:ext cx="19529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+$987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9" name="Shape 67"/>
          <p:cNvSpPr/>
          <p:nvPr/>
        </p:nvSpPr>
        <p:spPr>
          <a:xfrm>
            <a:off x="9363456" y="2369673"/>
            <a:ext cx="18359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+$928</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9363456" y="2599887"/>
            <a:ext cx="183173"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+$925</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75" name="Shape 73"/>
          <p:cNvSpPr/>
          <p:nvPr/>
        </p:nvSpPr>
        <p:spPr>
          <a:xfrm>
            <a:off x="9363456" y="2830100"/>
            <a:ext cx="182316"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+$921</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8" name="Shape 76"/>
          <p:cNvSpPr/>
          <p:nvPr/>
        </p:nvSpPr>
        <p:spPr>
          <a:xfrm>
            <a:off x="9363456" y="3060314"/>
            <a:ext cx="17429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+$881</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81" name="Shape 79"/>
          <p:cNvSpPr/>
          <p:nvPr/>
        </p:nvSpPr>
        <p:spPr>
          <a:xfrm>
            <a:off x="9363456" y="3290528"/>
            <a:ext cx="144173"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4" name="Shape 82"/>
          <p:cNvSpPr/>
          <p:nvPr/>
        </p:nvSpPr>
        <p:spPr>
          <a:xfrm>
            <a:off x="9363456" y="3520741"/>
            <a:ext cx="134048"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+$677</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7" name="Shape 85"/>
          <p:cNvSpPr/>
          <p:nvPr/>
        </p:nvSpPr>
        <p:spPr>
          <a:xfrm>
            <a:off x="9363456" y="3750955"/>
            <a:ext cx="82896"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0" name="Shape 88"/>
          <p:cNvSpPr/>
          <p:nvPr/>
        </p:nvSpPr>
        <p:spPr>
          <a:xfrm>
            <a:off x="9363456" y="3981169"/>
            <a:ext cx="36231"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+$183</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3" name="Shape 91"/>
          <p:cNvSpPr/>
          <p:nvPr/>
        </p:nvSpPr>
        <p:spPr>
          <a:xfrm>
            <a:off x="9361199" y="4211382"/>
            <a:ext cx="1280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6" name="Shape 94"/>
          <p:cNvSpPr/>
          <p:nvPr/>
        </p:nvSpPr>
        <p:spPr>
          <a:xfrm>
            <a:off x="9339416" y="4441596"/>
            <a:ext cx="24040"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9" name="Shape 97"/>
          <p:cNvSpPr/>
          <p:nvPr/>
        </p:nvSpPr>
        <p:spPr>
          <a:xfrm>
            <a:off x="9281579" y="4671809"/>
            <a:ext cx="8187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−$414</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2" name="Shape 100"/>
          <p:cNvSpPr/>
          <p:nvPr/>
        </p:nvSpPr>
        <p:spPr>
          <a:xfrm>
            <a:off x="9263503" y="4902023"/>
            <a:ext cx="9995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−$505</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5" name="Shape 103"/>
          <p:cNvSpPr/>
          <p:nvPr/>
        </p:nvSpPr>
        <p:spPr>
          <a:xfrm>
            <a:off x="9119966" y="5132237"/>
            <a:ext cx="243490"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9102407" y="5362450"/>
            <a:ext cx="261049"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−$1,319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27 of 33 stores raised gross per employee, led by SUBARU ST GEORGE at +$4,158 to $15,556. 6 declined; VW ST GEORGE fell most at −$1,319.</a:t>
            </a:r>
            <a:endParaRPr lang="en-US" sz="16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173</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166</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−3.8%</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−6.7%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7 to 166, behind 2025 in six of nine months. Advisors grew 1.5%; ROs fell 2.3%.</a:t>
            </a:r>
            <a:endParaRPr lang="en-US" sz="1600"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 name="Shape 9"/>
          <p:cNvSpPr/>
          <p:nvPr/>
        </p:nvSpPr>
        <p:spPr>
          <a:xfrm>
            <a:off x="2267712" y="2138993"/>
            <a:ext cx="1017185"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192</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 name="Shape 12"/>
          <p:cNvSpPr/>
          <p:nvPr/>
        </p:nvSpPr>
        <p:spPr>
          <a:xfrm>
            <a:off x="2267712" y="2445668"/>
            <a:ext cx="853681"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161</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7" name="Shape 15"/>
          <p:cNvSpPr/>
          <p:nvPr/>
        </p:nvSpPr>
        <p:spPr>
          <a:xfrm>
            <a:off x="2267712" y="2752344"/>
            <a:ext cx="706409"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133</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0" name="Shape 18"/>
          <p:cNvSpPr/>
          <p:nvPr/>
        </p:nvSpPr>
        <p:spPr>
          <a:xfrm>
            <a:off x="2267712" y="3059020"/>
            <a:ext cx="660413"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124</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650307"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123</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7" name="Shape 25"/>
          <p:cNvSpPr/>
          <p:nvPr/>
        </p:nvSpPr>
        <p:spPr>
          <a:xfrm>
            <a:off x="2267712" y="3672371"/>
            <a:ext cx="590102"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111</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473828"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89</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3" name="Shape 31"/>
          <p:cNvSpPr/>
          <p:nvPr/>
        </p:nvSpPr>
        <p:spPr>
          <a:xfrm>
            <a:off x="2267712" y="4285722"/>
            <a:ext cx="453135"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85</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2267712" y="4592398"/>
            <a:ext cx="376138"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71</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123  </a:t>
            </a:r>
            <a:pPr indent="0" marL="0">
              <a:buNone/>
            </a:pPr>
            <a:r>
              <a:rPr lang="en-US" sz="1400" b="1" dirty="0">
                <a:solidFill>
                  <a:srgbClr val="A82B26"/>
                </a:solidFill>
                <a:latin typeface="Inter" pitchFamily="34" charset="0"/>
                <a:ea typeface="Inter" pitchFamily="34" charset="-122"/>
                <a:cs typeface="Inter" pitchFamily="34" charset="-120"/>
              </a:rPr>
              <a:t>(−9)</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176  </a:t>
            </a:r>
            <a:pPr indent="0" marL="0">
              <a:buNone/>
            </a:pPr>
            <a:r>
              <a:rPr lang="en-US" sz="1400" b="1" dirty="0">
                <a:solidFill>
                  <a:srgbClr val="A82B26"/>
                </a:solidFill>
                <a:latin typeface="Inter" pitchFamily="34" charset="0"/>
                <a:ea typeface="Inter" pitchFamily="34" charset="-122"/>
                <a:cs typeface="Inter" pitchFamily="34" charset="-120"/>
              </a:rPr>
              <a:t>(−5)</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253</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5" name="Shape 43"/>
          <p:cNvSpPr/>
          <p:nvPr/>
        </p:nvSpPr>
        <p:spPr>
          <a:xfrm>
            <a:off x="6291072" y="2138993"/>
            <a:ext cx="604201"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244</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6291072" y="2445668"/>
            <a:ext cx="573402"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231</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1" name="Shape 49"/>
          <p:cNvSpPr/>
          <p:nvPr/>
        </p:nvSpPr>
        <p:spPr>
          <a:xfrm>
            <a:off x="6291072" y="2752344"/>
            <a:ext cx="560822"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4" name="Shape 52"/>
          <p:cNvSpPr/>
          <p:nvPr/>
        </p:nvSpPr>
        <p:spPr>
          <a:xfrm>
            <a:off x="6291072" y="3059020"/>
            <a:ext cx="560053"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226</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57" name="Shape 55"/>
          <p:cNvSpPr/>
          <p:nvPr/>
        </p:nvSpPr>
        <p:spPr>
          <a:xfrm>
            <a:off x="6291072" y="3365695"/>
            <a:ext cx="556802"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225</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0" name="Shape 58"/>
          <p:cNvSpPr/>
          <p:nvPr/>
        </p:nvSpPr>
        <p:spPr>
          <a:xfrm>
            <a:off x="6291072" y="3672371"/>
            <a:ext cx="486031"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196</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3" name="Shape 61"/>
          <p:cNvSpPr/>
          <p:nvPr/>
        </p:nvSpPr>
        <p:spPr>
          <a:xfrm>
            <a:off x="6291072" y="3979047"/>
            <a:ext cx="473501"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191</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6291072" y="4285722"/>
            <a:ext cx="457393"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6291072" y="4592398"/>
            <a:ext cx="447997"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181</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2" name="Shape 70"/>
          <p:cNvSpPr/>
          <p:nvPr/>
        </p:nvSpPr>
        <p:spPr>
          <a:xfrm>
            <a:off x="6291072" y="4899074"/>
            <a:ext cx="446678"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180</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5" name="Shape 73"/>
          <p:cNvSpPr/>
          <p:nvPr/>
        </p:nvSpPr>
        <p:spPr>
          <a:xfrm>
            <a:off x="6291072" y="5205750"/>
            <a:ext cx="441364"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178</a:t>
            </a:r>
            <a:endParaRPr lang="en-US" sz="1300" dirty="0"/>
          </a:p>
        </p:txBody>
      </p:sp>
      <p:sp>
        <p:nvSpPr>
          <p:cNvPr id="77" name="Shape 75"/>
          <p:cNvSpPr/>
          <p:nvPr/>
        </p:nvSpPr>
        <p:spPr>
          <a:xfrm>
            <a:off x="4261104" y="5435756"/>
            <a:ext cx="3529584" cy="297532"/>
          </a:xfrm>
          <a:prstGeom prst="rect">
            <a:avLst/>
          </a:prstGeom>
          <a:solidFill>
            <a:srgbClr val="EDF4FA"/>
          </a:solidFill>
          <a:ln/>
        </p:spPr>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9" name="Shape 77"/>
          <p:cNvSpPr/>
          <p:nvPr/>
        </p:nvSpPr>
        <p:spPr>
          <a:xfrm>
            <a:off x="6291072" y="5512425"/>
            <a:ext cx="436715" cy="153338"/>
          </a:xfrm>
          <a:prstGeom prst="rect">
            <a:avLst/>
          </a:prstGeom>
          <a:solidFill>
            <a:srgbClr val="0B2C4A"/>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176</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Shape 80"/>
          <p:cNvSpPr/>
          <p:nvPr/>
        </p:nvSpPr>
        <p:spPr>
          <a:xfrm>
            <a:off x="9893808" y="1832317"/>
            <a:ext cx="434988"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175</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85" name="Shape 83"/>
          <p:cNvSpPr/>
          <p:nvPr/>
        </p:nvSpPr>
        <p:spPr>
          <a:xfrm>
            <a:off x="9893808" y="2138993"/>
            <a:ext cx="426487"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172</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8" name="Shape 86"/>
          <p:cNvSpPr/>
          <p:nvPr/>
        </p:nvSpPr>
        <p:spPr>
          <a:xfrm>
            <a:off x="9893808" y="2445668"/>
            <a:ext cx="409834"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165</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94046"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4" name="Shape 92"/>
          <p:cNvSpPr/>
          <p:nvPr/>
        </p:nvSpPr>
        <p:spPr>
          <a:xfrm>
            <a:off x="9893808" y="3059020"/>
            <a:ext cx="380753"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7" name="Shape 95"/>
          <p:cNvSpPr/>
          <p:nvPr/>
        </p:nvSpPr>
        <p:spPr>
          <a:xfrm>
            <a:off x="9893808" y="3365695"/>
            <a:ext cx="354368"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0" name="Shape 98"/>
          <p:cNvSpPr/>
          <p:nvPr/>
        </p:nvSpPr>
        <p:spPr>
          <a:xfrm>
            <a:off x="9893808" y="3672371"/>
            <a:ext cx="343647"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139</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03" name="Shape 101"/>
          <p:cNvSpPr/>
          <p:nvPr/>
        </p:nvSpPr>
        <p:spPr>
          <a:xfrm>
            <a:off x="9893808" y="3979047"/>
            <a:ext cx="317068"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128</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6" name="Shape 104"/>
          <p:cNvSpPr/>
          <p:nvPr/>
        </p:nvSpPr>
        <p:spPr>
          <a:xfrm>
            <a:off x="9893808" y="4285722"/>
            <a:ext cx="304634"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123</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9" name="Shape 107"/>
          <p:cNvSpPr/>
          <p:nvPr/>
        </p:nvSpPr>
        <p:spPr>
          <a:xfrm>
            <a:off x="9893808" y="4592398"/>
            <a:ext cx="296380"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120</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2" name="Shape 110"/>
          <p:cNvSpPr/>
          <p:nvPr/>
        </p:nvSpPr>
        <p:spPr>
          <a:xfrm>
            <a:off x="9893808" y="4899074"/>
            <a:ext cx="293723"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118</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15" name="Shape 113"/>
          <p:cNvSpPr/>
          <p:nvPr/>
        </p:nvSpPr>
        <p:spPr>
          <a:xfrm>
            <a:off x="9893808" y="5205750"/>
            <a:ext cx="289048"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117</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123 and 12 of 24 others beat 176. TOYOTA FLAGSTAFF leads non-luxury at 253.</a:t>
            </a:r>
            <a:endParaRPr lang="en-US" sz="16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Service Advisor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2" name="Shape 10"/>
          <p:cNvSpPr/>
          <p:nvPr/>
        </p:nvSpPr>
        <p:spPr>
          <a:xfrm>
            <a:off x="3813048" y="1909246"/>
            <a:ext cx="556138"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49502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8" name="Shape 16"/>
          <p:cNvSpPr/>
          <p:nvPr/>
        </p:nvSpPr>
        <p:spPr>
          <a:xfrm>
            <a:off x="3813048" y="2369673"/>
            <a:ext cx="44006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1" name="Shape 19"/>
          <p:cNvSpPr/>
          <p:nvPr/>
        </p:nvSpPr>
        <p:spPr>
          <a:xfrm>
            <a:off x="3813048" y="2599887"/>
            <a:ext cx="28079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24" name="Shape 22"/>
          <p:cNvSpPr/>
          <p:nvPr/>
        </p:nvSpPr>
        <p:spPr>
          <a:xfrm>
            <a:off x="3813048" y="2830100"/>
            <a:ext cx="20175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190091"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185192"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3" name="Shape 31"/>
          <p:cNvSpPr/>
          <p:nvPr/>
        </p:nvSpPr>
        <p:spPr>
          <a:xfrm>
            <a:off x="3813048" y="3520741"/>
            <a:ext cx="16642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6" name="Shape 34"/>
          <p:cNvSpPr/>
          <p:nvPr/>
        </p:nvSpPr>
        <p:spPr>
          <a:xfrm>
            <a:off x="3813048" y="3750955"/>
            <a:ext cx="15543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9" name="Shape 37"/>
          <p:cNvSpPr/>
          <p:nvPr/>
        </p:nvSpPr>
        <p:spPr>
          <a:xfrm>
            <a:off x="3813048" y="3981169"/>
            <a:ext cx="145024"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42" name="Shape 40"/>
          <p:cNvSpPr/>
          <p:nvPr/>
        </p:nvSpPr>
        <p:spPr>
          <a:xfrm>
            <a:off x="3813048" y="4211382"/>
            <a:ext cx="81507"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5" name="Shape 43"/>
          <p:cNvSpPr/>
          <p:nvPr/>
        </p:nvSpPr>
        <p:spPr>
          <a:xfrm>
            <a:off x="3813048" y="4441596"/>
            <a:ext cx="79478"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3813048" y="4671809"/>
            <a:ext cx="6386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1" name="Shape 49"/>
          <p:cNvSpPr/>
          <p:nvPr/>
        </p:nvSpPr>
        <p:spPr>
          <a:xfrm>
            <a:off x="3813048" y="4902023"/>
            <a:ext cx="37671"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2269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3813048" y="5362450"/>
            <a:ext cx="12802"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0" name="Shape 58"/>
          <p:cNvSpPr/>
          <p:nvPr/>
        </p:nvSpPr>
        <p:spPr>
          <a:xfrm>
            <a:off x="3813048" y="5592664"/>
            <a:ext cx="12802"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32602" y="1909246"/>
            <a:ext cx="30854" cy="105898"/>
          </a:xfrm>
          <a:prstGeom prst="rect">
            <a:avLst/>
          </a:prstGeom>
          <a:solidFill>
            <a:srgbClr val="C2352F"/>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6" name="Shape 64"/>
          <p:cNvSpPr/>
          <p:nvPr/>
        </p:nvSpPr>
        <p:spPr>
          <a:xfrm>
            <a:off x="9237118" y="2139459"/>
            <a:ext cx="126338" cy="105898"/>
          </a:xfrm>
          <a:prstGeom prst="rect">
            <a:avLst/>
          </a:prstGeom>
          <a:solidFill>
            <a:srgbClr val="C2352F"/>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9" name="Shape 67"/>
          <p:cNvSpPr/>
          <p:nvPr/>
        </p:nvSpPr>
        <p:spPr>
          <a:xfrm>
            <a:off x="9172532" y="2369673"/>
            <a:ext cx="190924"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9161089" y="2599887"/>
            <a:ext cx="20236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5" name="Shape 73"/>
          <p:cNvSpPr/>
          <p:nvPr/>
        </p:nvSpPr>
        <p:spPr>
          <a:xfrm>
            <a:off x="9127704" y="2830100"/>
            <a:ext cx="235752"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8" name="Shape 76"/>
          <p:cNvSpPr/>
          <p:nvPr/>
        </p:nvSpPr>
        <p:spPr>
          <a:xfrm>
            <a:off x="9081043" y="3060314"/>
            <a:ext cx="282413"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1" name="Shape 79"/>
          <p:cNvSpPr/>
          <p:nvPr/>
        </p:nvSpPr>
        <p:spPr>
          <a:xfrm>
            <a:off x="9061678" y="3290528"/>
            <a:ext cx="301778"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4" name="Shape 82"/>
          <p:cNvSpPr/>
          <p:nvPr/>
        </p:nvSpPr>
        <p:spPr>
          <a:xfrm>
            <a:off x="8969157" y="3520741"/>
            <a:ext cx="394299"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7" name="Shape 85"/>
          <p:cNvSpPr/>
          <p:nvPr/>
        </p:nvSpPr>
        <p:spPr>
          <a:xfrm>
            <a:off x="8952461" y="3750955"/>
            <a:ext cx="410995"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0" name="Shape 88"/>
          <p:cNvSpPr/>
          <p:nvPr/>
        </p:nvSpPr>
        <p:spPr>
          <a:xfrm>
            <a:off x="8945624" y="3981169"/>
            <a:ext cx="417832"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3" name="Shape 91"/>
          <p:cNvSpPr/>
          <p:nvPr/>
        </p:nvSpPr>
        <p:spPr>
          <a:xfrm>
            <a:off x="8907240" y="4211382"/>
            <a:ext cx="45621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6" name="Shape 94"/>
          <p:cNvSpPr/>
          <p:nvPr/>
        </p:nvSpPr>
        <p:spPr>
          <a:xfrm>
            <a:off x="8863574" y="4441596"/>
            <a:ext cx="49988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8794551" y="4671809"/>
            <a:ext cx="56890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755307" y="4902023"/>
            <a:ext cx="608149"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−43</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5" name="Shape 103"/>
          <p:cNvSpPr/>
          <p:nvPr/>
        </p:nvSpPr>
        <p:spPr>
          <a:xfrm>
            <a:off x="8549178" y="5132237"/>
            <a:ext cx="814278"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17 of 33 stores raised ROs per advisor, led by HONDA FLAGSTAFF at +40 to 175. 16 declined; TOYOTA SPOKANE fell most at −59.</a:t>
            </a:r>
            <a:endParaRPr lang="en-US" sz="1600" dirty="0"/>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26.8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+0.8</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+3.0%</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0.8 to 26.8, ahead of 2025 in eight of nine months. Headcount fell 5.1%; ROs fell 2.3%.</a:t>
            </a:r>
            <a:endParaRPr lang="en-US" sz="1600" dirty="0"/>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24.9</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1" name="Shape 9"/>
          <p:cNvSpPr/>
          <p:nvPr/>
        </p:nvSpPr>
        <p:spPr>
          <a:xfrm>
            <a:off x="2267712" y="2138993"/>
            <a:ext cx="1013961"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24.5</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4" name="Shape 12"/>
          <p:cNvSpPr/>
          <p:nvPr/>
        </p:nvSpPr>
        <p:spPr>
          <a:xfrm>
            <a:off x="2267712" y="2445668"/>
            <a:ext cx="803240"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19.4</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7" name="Shape 15"/>
          <p:cNvSpPr/>
          <p:nvPr/>
        </p:nvSpPr>
        <p:spPr>
          <a:xfrm>
            <a:off x="2267712" y="2752344"/>
            <a:ext cx="789066"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19.0</a:t>
            </a:r>
            <a:endParaRPr lang="en-US" sz="1300" dirty="0"/>
          </a:p>
        </p:txBody>
      </p:sp>
      <p:sp>
        <p:nvSpPr>
          <p:cNvPr id="19" name="Shape 17"/>
          <p:cNvSpPr/>
          <p:nvPr/>
        </p:nvSpPr>
        <p:spPr>
          <a:xfrm>
            <a:off x="603504" y="2982351"/>
            <a:ext cx="3566160" cy="297532"/>
          </a:xfrm>
          <a:prstGeom prst="rect">
            <a:avLst/>
          </a:prstGeom>
          <a:solidFill>
            <a:srgbClr val="EDF4FA"/>
          </a:solidFill>
          <a:ln/>
        </p:spPr>
      </p:sp>
      <p:sp>
        <p:nvSpPr>
          <p:cNvPr id="20" name="Text 18"/>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1" name="Shape 19"/>
          <p:cNvSpPr/>
          <p:nvPr/>
        </p:nvSpPr>
        <p:spPr>
          <a:xfrm>
            <a:off x="2267712" y="3059020"/>
            <a:ext cx="723520" cy="153338"/>
          </a:xfrm>
          <a:prstGeom prst="rect">
            <a:avLst/>
          </a:prstGeom>
          <a:solidFill>
            <a:srgbClr val="0B2C4A"/>
          </a:solidFill>
          <a:ln/>
        </p:spPr>
      </p:sp>
      <p:sp>
        <p:nvSpPr>
          <p:cNvPr id="22" name="Text 20"/>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17.4</a:t>
            </a:r>
            <a:endParaRPr lang="en-US" sz="1300" dirty="0"/>
          </a:p>
        </p:txBody>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4" name="Shape 22"/>
          <p:cNvSpPr/>
          <p:nvPr/>
        </p:nvSpPr>
        <p:spPr>
          <a:xfrm>
            <a:off x="2267712" y="3365695"/>
            <a:ext cx="696638" cy="153338"/>
          </a:xfrm>
          <a:prstGeom prst="rect">
            <a:avLst/>
          </a:prstGeom>
          <a:solidFill>
            <a:srgbClr val="C2352F"/>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16.8</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7" name="Shape 25"/>
          <p:cNvSpPr/>
          <p:nvPr/>
        </p:nvSpPr>
        <p:spPr>
          <a:xfrm>
            <a:off x="2267712" y="3672371"/>
            <a:ext cx="610545"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610365"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60984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6" name="Shape 34"/>
          <p:cNvSpPr/>
          <p:nvPr/>
        </p:nvSpPr>
        <p:spPr>
          <a:xfrm>
            <a:off x="2267712" y="4592398"/>
            <a:ext cx="565884"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13.6</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17.4  </a:t>
            </a:r>
            <a:pPr indent="0" marL="0">
              <a:buNone/>
            </a:pPr>
            <a:r>
              <a:rPr lang="en-US" sz="1400" b="1" dirty="0">
                <a:solidFill>
                  <a:srgbClr val="0B7A4A"/>
                </a:solidFill>
                <a:latin typeface="Inter" pitchFamily="34" charset="0"/>
                <a:ea typeface="Inter" pitchFamily="34" charset="-122"/>
                <a:cs typeface="Inter" pitchFamily="34" charset="-120"/>
              </a:rPr>
              <a:t>(+0.1)</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29.3  </a:t>
            </a:r>
            <a:pP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39.8</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5" name="Shape 43"/>
          <p:cNvSpPr/>
          <p:nvPr/>
        </p:nvSpPr>
        <p:spPr>
          <a:xfrm>
            <a:off x="6291072" y="2138993"/>
            <a:ext cx="606544"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38.5</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8" name="Shape 46"/>
          <p:cNvSpPr/>
          <p:nvPr/>
        </p:nvSpPr>
        <p:spPr>
          <a:xfrm>
            <a:off x="6291072" y="2445668"/>
            <a:ext cx="589437"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1" name="Shape 49"/>
          <p:cNvSpPr/>
          <p:nvPr/>
        </p:nvSpPr>
        <p:spPr>
          <a:xfrm>
            <a:off x="6291072" y="2752344"/>
            <a:ext cx="580151"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36.8</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54" name="Shape 52"/>
          <p:cNvSpPr/>
          <p:nvPr/>
        </p:nvSpPr>
        <p:spPr>
          <a:xfrm>
            <a:off x="6291072" y="3059020"/>
            <a:ext cx="575467"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36.5</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7" name="Shape 55"/>
          <p:cNvSpPr/>
          <p:nvPr/>
        </p:nvSpPr>
        <p:spPr>
          <a:xfrm>
            <a:off x="6291072" y="3365695"/>
            <a:ext cx="551497"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35.0</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60" name="Shape 58"/>
          <p:cNvSpPr/>
          <p:nvPr/>
        </p:nvSpPr>
        <p:spPr>
          <a:xfrm>
            <a:off x="6291072" y="3672371"/>
            <a:ext cx="547212"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34.7</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3" name="Shape 61"/>
          <p:cNvSpPr/>
          <p:nvPr/>
        </p:nvSpPr>
        <p:spPr>
          <a:xfrm>
            <a:off x="6291072" y="3979047"/>
            <a:ext cx="511058"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32.4</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6" name="Shape 64"/>
          <p:cNvSpPr/>
          <p:nvPr/>
        </p:nvSpPr>
        <p:spPr>
          <a:xfrm>
            <a:off x="6291072" y="4285722"/>
            <a:ext cx="495037"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9" name="Shape 67"/>
          <p:cNvSpPr/>
          <p:nvPr/>
        </p:nvSpPr>
        <p:spPr>
          <a:xfrm>
            <a:off x="6291072" y="4592398"/>
            <a:ext cx="494875"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72" name="Shape 70"/>
          <p:cNvSpPr/>
          <p:nvPr/>
        </p:nvSpPr>
        <p:spPr>
          <a:xfrm>
            <a:off x="6291072" y="4899074"/>
            <a:ext cx="494676"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31.4</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5" name="Shape 73"/>
          <p:cNvSpPr/>
          <p:nvPr/>
        </p:nvSpPr>
        <p:spPr>
          <a:xfrm>
            <a:off x="6291072" y="5205750"/>
            <a:ext cx="492545"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31.3</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6291072" y="5512425"/>
            <a:ext cx="490000"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a:t>
            </a:r>
            <a:endParaRPr lang="en-US" sz="1300" dirty="0"/>
          </a:p>
        </p:txBody>
      </p:sp>
      <p:sp>
        <p:nvSpPr>
          <p:cNvPr id="80" name="Text 78"/>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1" name="Shape 79"/>
          <p:cNvSpPr/>
          <p:nvPr/>
        </p:nvSpPr>
        <p:spPr>
          <a:xfrm>
            <a:off x="9893808" y="1832317"/>
            <a:ext cx="481392" cy="153338"/>
          </a:xfrm>
          <a:prstGeom prst="rect">
            <a:avLst/>
          </a:prstGeom>
          <a:solidFill>
            <a:srgbClr val="12A566"/>
          </a:solidFill>
          <a:ln/>
        </p:spPr>
      </p:sp>
      <p:sp>
        <p:nvSpPr>
          <p:cNvPr id="82" name="Text 80"/>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30.6</a:t>
            </a:r>
            <a:endParaRPr lang="en-US" sz="1300" dirty="0"/>
          </a:p>
        </p:txBody>
      </p:sp>
      <p:sp>
        <p:nvSpPr>
          <p:cNvPr id="83" name="Shape 81"/>
          <p:cNvSpPr/>
          <p:nvPr/>
        </p:nvSpPr>
        <p:spPr>
          <a:xfrm>
            <a:off x="7863840" y="2062324"/>
            <a:ext cx="3529584" cy="297532"/>
          </a:xfrm>
          <a:prstGeom prst="rect">
            <a:avLst/>
          </a:prstGeom>
          <a:solidFill>
            <a:srgbClr val="EDF4FA"/>
          </a:solidFill>
          <a:ln/>
        </p:spPr>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85" name="Shape 83"/>
          <p:cNvSpPr/>
          <p:nvPr/>
        </p:nvSpPr>
        <p:spPr>
          <a:xfrm>
            <a:off x="9893808" y="2138993"/>
            <a:ext cx="460833" cy="153338"/>
          </a:xfrm>
          <a:prstGeom prst="rect">
            <a:avLst/>
          </a:prstGeom>
          <a:solidFill>
            <a:srgbClr val="0B2C4A"/>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29.3</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8" name="Shape 86"/>
          <p:cNvSpPr/>
          <p:nvPr/>
        </p:nvSpPr>
        <p:spPr>
          <a:xfrm>
            <a:off x="9893808" y="2445668"/>
            <a:ext cx="454080"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1" name="Shape 89"/>
          <p:cNvSpPr/>
          <p:nvPr/>
        </p:nvSpPr>
        <p:spPr>
          <a:xfrm>
            <a:off x="9893808" y="2752344"/>
            <a:ext cx="444605"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28.2</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4" name="Shape 92"/>
          <p:cNvSpPr/>
          <p:nvPr/>
        </p:nvSpPr>
        <p:spPr>
          <a:xfrm>
            <a:off x="9893808" y="3059020"/>
            <a:ext cx="401239"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25.5</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7" name="Shape 95"/>
          <p:cNvSpPr/>
          <p:nvPr/>
        </p:nvSpPr>
        <p:spPr>
          <a:xfrm>
            <a:off x="9893808" y="3365695"/>
            <a:ext cx="372474"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23.6</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0" name="Shape 98"/>
          <p:cNvSpPr/>
          <p:nvPr/>
        </p:nvSpPr>
        <p:spPr>
          <a:xfrm>
            <a:off x="9893808" y="3672371"/>
            <a:ext cx="356634"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22.6</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103" name="Shape 101"/>
          <p:cNvSpPr/>
          <p:nvPr/>
        </p:nvSpPr>
        <p:spPr>
          <a:xfrm>
            <a:off x="9893808" y="3979047"/>
            <a:ext cx="348422"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22.1</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6" name="Shape 104"/>
          <p:cNvSpPr/>
          <p:nvPr/>
        </p:nvSpPr>
        <p:spPr>
          <a:xfrm>
            <a:off x="9893808" y="4285722"/>
            <a:ext cx="329527"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20.9</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9" name="Shape 107"/>
          <p:cNvSpPr/>
          <p:nvPr/>
        </p:nvSpPr>
        <p:spPr>
          <a:xfrm>
            <a:off x="9893808" y="4592398"/>
            <a:ext cx="320181"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12" name="Shape 110"/>
          <p:cNvSpPr/>
          <p:nvPr/>
        </p:nvSpPr>
        <p:spPr>
          <a:xfrm>
            <a:off x="9893808" y="4899074"/>
            <a:ext cx="30223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5" name="Shape 113"/>
          <p:cNvSpPr/>
          <p:nvPr/>
        </p:nvSpPr>
        <p:spPr>
          <a:xfrm>
            <a:off x="9893808" y="5205750"/>
            <a:ext cx="273210"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17.3</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17.4 and 14 of 24 others beat 29.3. KIA ST GEORGE leads non-luxury at 39.8.</a:t>
            </a:r>
            <a:endParaRPr lang="en-US" sz="1600" dirty="0"/>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Employee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+0.8</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+6.9</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5" name="Shape 13"/>
          <p:cNvSpPr/>
          <p:nvPr/>
        </p:nvSpPr>
        <p:spPr>
          <a:xfrm>
            <a:off x="3813048" y="2139459"/>
            <a:ext cx="576989"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8" name="Shape 16"/>
          <p:cNvSpPr/>
          <p:nvPr/>
        </p:nvSpPr>
        <p:spPr>
          <a:xfrm>
            <a:off x="3813048" y="2369673"/>
            <a:ext cx="45534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436629"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24" name="Shape 22"/>
          <p:cNvSpPr/>
          <p:nvPr/>
        </p:nvSpPr>
        <p:spPr>
          <a:xfrm>
            <a:off x="3813048" y="2830100"/>
            <a:ext cx="39041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27" name="Shape 25"/>
          <p:cNvSpPr/>
          <p:nvPr/>
        </p:nvSpPr>
        <p:spPr>
          <a:xfrm>
            <a:off x="3813048" y="3060314"/>
            <a:ext cx="332450"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0" name="Shape 28"/>
          <p:cNvSpPr/>
          <p:nvPr/>
        </p:nvSpPr>
        <p:spPr>
          <a:xfrm>
            <a:off x="3813048" y="3290528"/>
            <a:ext cx="26065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3" name="Shape 31"/>
          <p:cNvSpPr/>
          <p:nvPr/>
        </p:nvSpPr>
        <p:spPr>
          <a:xfrm>
            <a:off x="3813048" y="3520741"/>
            <a:ext cx="25755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6" name="Shape 34"/>
          <p:cNvSpPr/>
          <p:nvPr/>
        </p:nvSpPr>
        <p:spPr>
          <a:xfrm>
            <a:off x="3813048" y="3750955"/>
            <a:ext cx="213951"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9" name="Shape 37"/>
          <p:cNvSpPr/>
          <p:nvPr/>
        </p:nvSpPr>
        <p:spPr>
          <a:xfrm>
            <a:off x="3813048" y="3981169"/>
            <a:ext cx="18902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2" name="Shape 40"/>
          <p:cNvSpPr/>
          <p:nvPr/>
        </p:nvSpPr>
        <p:spPr>
          <a:xfrm>
            <a:off x="3813048" y="4211382"/>
            <a:ext cx="18098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5" name="Shape 43"/>
          <p:cNvSpPr/>
          <p:nvPr/>
        </p:nvSpPr>
        <p:spPr>
          <a:xfrm>
            <a:off x="3813048" y="4441596"/>
            <a:ext cx="12301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8" name="Shape 46"/>
          <p:cNvSpPr/>
          <p:nvPr/>
        </p:nvSpPr>
        <p:spPr>
          <a:xfrm>
            <a:off x="3813048" y="4671809"/>
            <a:ext cx="115685"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51" name="Shape 49"/>
          <p:cNvSpPr/>
          <p:nvPr/>
        </p:nvSpPr>
        <p:spPr>
          <a:xfrm>
            <a:off x="3813048" y="4902023"/>
            <a:ext cx="105774"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4" name="Shape 52"/>
          <p:cNvSpPr/>
          <p:nvPr/>
        </p:nvSpPr>
        <p:spPr>
          <a:xfrm>
            <a:off x="3813048" y="5132237"/>
            <a:ext cx="9506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3813048" y="5362450"/>
            <a:ext cx="8609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0" name="Shape 58"/>
          <p:cNvSpPr/>
          <p:nvPr/>
        </p:nvSpPr>
        <p:spPr>
          <a:xfrm>
            <a:off x="3813048" y="5592664"/>
            <a:ext cx="7778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3" name="Shape 61"/>
          <p:cNvSpPr/>
          <p:nvPr/>
        </p:nvSpPr>
        <p:spPr>
          <a:xfrm>
            <a:off x="9363456" y="1909246"/>
            <a:ext cx="65160"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66" name="Shape 64"/>
          <p:cNvSpPr/>
          <p:nvPr/>
        </p:nvSpPr>
        <p:spPr>
          <a:xfrm>
            <a:off x="9363456" y="2139459"/>
            <a:ext cx="58737"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9" name="Shape 67"/>
          <p:cNvSpPr/>
          <p:nvPr/>
        </p:nvSpPr>
        <p:spPr>
          <a:xfrm>
            <a:off x="9363456" y="2369673"/>
            <a:ext cx="48420"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2" name="Shape 70"/>
          <p:cNvSpPr/>
          <p:nvPr/>
        </p:nvSpPr>
        <p:spPr>
          <a:xfrm>
            <a:off x="9363456" y="2599887"/>
            <a:ext cx="35237"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5" name="Shape 73"/>
          <p:cNvSpPr/>
          <p:nvPr/>
        </p:nvSpPr>
        <p:spPr>
          <a:xfrm>
            <a:off x="9363456" y="2830100"/>
            <a:ext cx="29984"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78" name="Shape 76"/>
          <p:cNvSpPr/>
          <p:nvPr/>
        </p:nvSpPr>
        <p:spPr>
          <a:xfrm>
            <a:off x="9358796" y="3060314"/>
            <a:ext cx="12802"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346705" y="3290528"/>
            <a:ext cx="16751"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4" name="Shape 82"/>
          <p:cNvSpPr/>
          <p:nvPr/>
        </p:nvSpPr>
        <p:spPr>
          <a:xfrm>
            <a:off x="9342586" y="3520741"/>
            <a:ext cx="20870"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7" name="Shape 85"/>
          <p:cNvSpPr/>
          <p:nvPr/>
        </p:nvSpPr>
        <p:spPr>
          <a:xfrm>
            <a:off x="9242382" y="3750955"/>
            <a:ext cx="121074"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0" name="Shape 88"/>
          <p:cNvSpPr/>
          <p:nvPr/>
        </p:nvSpPr>
        <p:spPr>
          <a:xfrm>
            <a:off x="9232891" y="3981169"/>
            <a:ext cx="130565"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3" name="Shape 91"/>
          <p:cNvSpPr/>
          <p:nvPr/>
        </p:nvSpPr>
        <p:spPr>
          <a:xfrm>
            <a:off x="9220494" y="4211382"/>
            <a:ext cx="142962"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96" name="Shape 94"/>
          <p:cNvSpPr/>
          <p:nvPr/>
        </p:nvSpPr>
        <p:spPr>
          <a:xfrm>
            <a:off x="9199237" y="4441596"/>
            <a:ext cx="16421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9" name="Shape 97"/>
          <p:cNvSpPr/>
          <p:nvPr/>
        </p:nvSpPr>
        <p:spPr>
          <a:xfrm>
            <a:off x="9020319" y="4671809"/>
            <a:ext cx="34313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888295" y="4902023"/>
            <a:ext cx="475161"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5" name="Shape 103"/>
          <p:cNvSpPr/>
          <p:nvPr/>
        </p:nvSpPr>
        <p:spPr>
          <a:xfrm>
            <a:off x="8672581" y="5132237"/>
            <a:ext cx="690875"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8" name="Shape 106"/>
          <p:cNvSpPr/>
          <p:nvPr/>
        </p:nvSpPr>
        <p:spPr>
          <a:xfrm>
            <a:off x="8578701" y="5362450"/>
            <a:ext cx="78475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fixed employee, led by HYUNDAI PRESCOTT at +6.9 to 31.4. 11 declined; KIA ST GEORGE fell most at −6.6.</a:t>
            </a:r>
            <a:endParaRPr lang="en-US" sz="1600" dirty="0"/>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MONTHLY AVG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377</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390</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+13</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373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13 to 390, ahead of 2025 in eight of nine months. Managers fell 5.6%.</a:t>
            </a:r>
            <a:endParaRPr lang="en-US" sz="1600" dirty="0"/>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491</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1" name="Shape 9"/>
          <p:cNvSpPr/>
          <p:nvPr/>
        </p:nvSpPr>
        <p:spPr>
          <a:xfrm>
            <a:off x="2267712" y="2138993"/>
            <a:ext cx="769813"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367</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4" name="Shape 12"/>
          <p:cNvSpPr/>
          <p:nvPr/>
        </p:nvSpPr>
        <p:spPr>
          <a:xfrm>
            <a:off x="2267712" y="2445668"/>
            <a:ext cx="698921"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333</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7" name="Shape 15"/>
          <p:cNvSpPr/>
          <p:nvPr/>
        </p:nvSpPr>
        <p:spPr>
          <a:xfrm>
            <a:off x="2267712" y="2752344"/>
            <a:ext cx="612008"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291</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0" name="Shape 18"/>
          <p:cNvSpPr/>
          <p:nvPr/>
        </p:nvSpPr>
        <p:spPr>
          <a:xfrm>
            <a:off x="2267712" y="3059020"/>
            <a:ext cx="603842"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288</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578725"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276</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7" name="Shape 25"/>
          <p:cNvSpPr/>
          <p:nvPr/>
        </p:nvSpPr>
        <p:spPr>
          <a:xfrm>
            <a:off x="2267712" y="3672371"/>
            <a:ext cx="528813"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252</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0" name="Shape 28"/>
          <p:cNvSpPr/>
          <p:nvPr/>
        </p:nvSpPr>
        <p:spPr>
          <a:xfrm>
            <a:off x="2267712" y="3979047"/>
            <a:ext cx="416716"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198</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3" name="Shape 31"/>
          <p:cNvSpPr/>
          <p:nvPr/>
        </p:nvSpPr>
        <p:spPr>
          <a:xfrm>
            <a:off x="2267712" y="4285722"/>
            <a:ext cx="297721"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6" name="Shape 34"/>
          <p:cNvSpPr/>
          <p:nvPr/>
        </p:nvSpPr>
        <p:spPr>
          <a:xfrm>
            <a:off x="2267712" y="4592398"/>
            <a:ext cx="249073"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119</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276  </a:t>
            </a:r>
            <a:pP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418  </a:t>
            </a:r>
            <a:pP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1,022</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5" name="Shape 43"/>
          <p:cNvSpPr/>
          <p:nvPr/>
        </p:nvSpPr>
        <p:spPr>
          <a:xfrm>
            <a:off x="6291072" y="2138993"/>
            <a:ext cx="469928"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765</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48" name="Shape 46"/>
          <p:cNvSpPr/>
          <p:nvPr/>
        </p:nvSpPr>
        <p:spPr>
          <a:xfrm>
            <a:off x="6291072" y="2445668"/>
            <a:ext cx="421230"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686</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1" name="Shape 49"/>
          <p:cNvSpPr/>
          <p:nvPr/>
        </p:nvSpPr>
        <p:spPr>
          <a:xfrm>
            <a:off x="6291072" y="2752344"/>
            <a:ext cx="403488"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657</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4" name="Shape 52"/>
          <p:cNvSpPr/>
          <p:nvPr/>
        </p:nvSpPr>
        <p:spPr>
          <a:xfrm>
            <a:off x="6291072" y="3059020"/>
            <a:ext cx="362659"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591</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7" name="Shape 55"/>
          <p:cNvSpPr/>
          <p:nvPr/>
        </p:nvSpPr>
        <p:spPr>
          <a:xfrm>
            <a:off x="6291072" y="3365695"/>
            <a:ext cx="343763"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560</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0" name="Shape 58"/>
          <p:cNvSpPr/>
          <p:nvPr/>
        </p:nvSpPr>
        <p:spPr>
          <a:xfrm>
            <a:off x="6291072" y="3672371"/>
            <a:ext cx="262373"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62" name="Shape 60"/>
          <p:cNvSpPr/>
          <p:nvPr/>
        </p:nvSpPr>
        <p:spPr>
          <a:xfrm>
            <a:off x="4261104" y="3902378"/>
            <a:ext cx="3529584" cy="297532"/>
          </a:xfrm>
          <a:prstGeom prst="rect">
            <a:avLst/>
          </a:prstGeom>
          <a:solidFill>
            <a:srgbClr val="EDF4FA"/>
          </a:solidFill>
          <a:ln/>
        </p:spPr>
      </p:sp>
      <p:sp>
        <p:nvSpPr>
          <p:cNvPr id="63" name="Text 61"/>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64" name="Shape 62"/>
          <p:cNvSpPr/>
          <p:nvPr/>
        </p:nvSpPr>
        <p:spPr>
          <a:xfrm>
            <a:off x="6291072" y="3979047"/>
            <a:ext cx="256715" cy="153338"/>
          </a:xfrm>
          <a:prstGeom prst="rect">
            <a:avLst/>
          </a:prstGeom>
          <a:solidFill>
            <a:srgbClr val="0B2C4A"/>
          </a:solidFill>
          <a:ln/>
        </p:spPr>
      </p:sp>
      <p:sp>
        <p:nvSpPr>
          <p:cNvPr id="65" name="Text 63"/>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418</a:t>
            </a:r>
            <a:endParaRPr lang="en-US" sz="1300" dirty="0"/>
          </a:p>
        </p:txBody>
      </p:sp>
      <p:sp>
        <p:nvSpPr>
          <p:cNvPr id="66" name="Text 64"/>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7" name="Shape 65"/>
          <p:cNvSpPr/>
          <p:nvPr/>
        </p:nvSpPr>
        <p:spPr>
          <a:xfrm>
            <a:off x="6291072" y="4285722"/>
            <a:ext cx="245067" cy="153338"/>
          </a:xfrm>
          <a:prstGeom prst="rect">
            <a:avLst/>
          </a:prstGeom>
          <a:solidFill>
            <a:srgbClr val="C2352F"/>
          </a:solidFill>
          <a:ln/>
        </p:spPr>
      </p:sp>
      <p:sp>
        <p:nvSpPr>
          <p:cNvPr id="68" name="Text 66"/>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399</a:t>
            </a:r>
            <a:endParaRPr lang="en-US" sz="1300" dirty="0"/>
          </a:p>
        </p:txBody>
      </p:sp>
      <p:sp>
        <p:nvSpPr>
          <p:cNvPr id="69" name="Text 67"/>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0" name="Shape 68"/>
          <p:cNvSpPr/>
          <p:nvPr/>
        </p:nvSpPr>
        <p:spPr>
          <a:xfrm>
            <a:off x="6291072" y="4592398"/>
            <a:ext cx="240759" cy="153338"/>
          </a:xfrm>
          <a:prstGeom prst="rect">
            <a:avLst/>
          </a:prstGeom>
          <a:solidFill>
            <a:srgbClr val="C2352F"/>
          </a:solidFill>
          <a:ln/>
        </p:spPr>
      </p:sp>
      <p:sp>
        <p:nvSpPr>
          <p:cNvPr id="71" name="Text 69"/>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392</a:t>
            </a:r>
            <a:endParaRPr lang="en-US" sz="1300" dirty="0"/>
          </a:p>
        </p:txBody>
      </p:sp>
      <p:sp>
        <p:nvSpPr>
          <p:cNvPr id="72" name="Text 70"/>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3" name="Shape 71"/>
          <p:cNvSpPr/>
          <p:nvPr/>
        </p:nvSpPr>
        <p:spPr>
          <a:xfrm>
            <a:off x="6291072" y="4899074"/>
            <a:ext cx="231188" cy="153338"/>
          </a:xfrm>
          <a:prstGeom prst="rect">
            <a:avLst/>
          </a:prstGeom>
          <a:solidFill>
            <a:srgbClr val="C2352F"/>
          </a:solidFill>
          <a:ln/>
        </p:spPr>
      </p:sp>
      <p:sp>
        <p:nvSpPr>
          <p:cNvPr id="74" name="Text 72"/>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376</a:t>
            </a:r>
            <a:endParaRPr lang="en-US" sz="1300" dirty="0"/>
          </a:p>
        </p:txBody>
      </p:sp>
      <p:sp>
        <p:nvSpPr>
          <p:cNvPr id="75" name="Text 73"/>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6" name="Shape 74"/>
          <p:cNvSpPr/>
          <p:nvPr/>
        </p:nvSpPr>
        <p:spPr>
          <a:xfrm>
            <a:off x="6291072" y="5205750"/>
            <a:ext cx="226867" cy="153338"/>
          </a:xfrm>
          <a:prstGeom prst="rect">
            <a:avLst/>
          </a:prstGeom>
          <a:solidFill>
            <a:srgbClr val="C2352F"/>
          </a:solidFill>
          <a:ln/>
        </p:spPr>
      </p:sp>
      <p:sp>
        <p:nvSpPr>
          <p:cNvPr id="77" name="Text 75"/>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9" name="Shape 77"/>
          <p:cNvSpPr/>
          <p:nvPr/>
        </p:nvSpPr>
        <p:spPr>
          <a:xfrm>
            <a:off x="6291072" y="5512425"/>
            <a:ext cx="218633" cy="153338"/>
          </a:xfrm>
          <a:prstGeom prst="rect">
            <a:avLst/>
          </a:prstGeom>
          <a:solidFill>
            <a:srgbClr val="C2352F"/>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2" name="Shape 80"/>
          <p:cNvSpPr/>
          <p:nvPr/>
        </p:nvSpPr>
        <p:spPr>
          <a:xfrm>
            <a:off x="9893808" y="1832317"/>
            <a:ext cx="215740"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351</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5" name="Shape 83"/>
          <p:cNvSpPr/>
          <p:nvPr/>
        </p:nvSpPr>
        <p:spPr>
          <a:xfrm>
            <a:off x="9893808" y="2138993"/>
            <a:ext cx="200777"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327</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88" name="Shape 86"/>
          <p:cNvSpPr/>
          <p:nvPr/>
        </p:nvSpPr>
        <p:spPr>
          <a:xfrm>
            <a:off x="9893808" y="2445668"/>
            <a:ext cx="189359"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308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1" name="Shape 89"/>
          <p:cNvSpPr/>
          <p:nvPr/>
        </p:nvSpPr>
        <p:spPr>
          <a:xfrm>
            <a:off x="9893808" y="2752344"/>
            <a:ext cx="183877"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4" name="Shape 92"/>
          <p:cNvSpPr/>
          <p:nvPr/>
        </p:nvSpPr>
        <p:spPr>
          <a:xfrm>
            <a:off x="9893808" y="3059020"/>
            <a:ext cx="167591"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7" name="Shape 95"/>
          <p:cNvSpPr/>
          <p:nvPr/>
        </p:nvSpPr>
        <p:spPr>
          <a:xfrm>
            <a:off x="9893808" y="3365695"/>
            <a:ext cx="167045"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272</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00" name="Shape 98"/>
          <p:cNvSpPr/>
          <p:nvPr/>
        </p:nvSpPr>
        <p:spPr>
          <a:xfrm>
            <a:off x="9893808" y="3672371"/>
            <a:ext cx="14273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232</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3" name="Shape 101"/>
          <p:cNvSpPr/>
          <p:nvPr/>
        </p:nvSpPr>
        <p:spPr>
          <a:xfrm>
            <a:off x="9893808" y="3979047"/>
            <a:ext cx="141456"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230</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6" name="Shape 104"/>
          <p:cNvSpPr/>
          <p:nvPr/>
        </p:nvSpPr>
        <p:spPr>
          <a:xfrm>
            <a:off x="9893808" y="4285722"/>
            <a:ext cx="135110"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220</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9" name="Shape 107"/>
          <p:cNvSpPr/>
          <p:nvPr/>
        </p:nvSpPr>
        <p:spPr>
          <a:xfrm>
            <a:off x="9893808" y="4592398"/>
            <a:ext cx="124834"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203</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12" name="Shape 110"/>
          <p:cNvSpPr/>
          <p:nvPr/>
        </p:nvSpPr>
        <p:spPr>
          <a:xfrm>
            <a:off x="9893808" y="4899074"/>
            <a:ext cx="11820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192</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15" name="Shape 113"/>
          <p:cNvSpPr/>
          <p:nvPr/>
        </p:nvSpPr>
        <p:spPr>
          <a:xfrm>
            <a:off x="9893808" y="5205750"/>
            <a:ext cx="94304"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276 and 7 of 24 others beat 418. TOYOTA HENDERSON leads non-luxury at 1,022.</a:t>
            </a:r>
            <a:endParaRPr lang="en-US" sz="1600" dirty="0"/>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&amp; W ROs per Fixed Manager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+13</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 name="Shape 10"/>
          <p:cNvSpPr/>
          <p:nvPr/>
        </p:nvSpPr>
        <p:spPr>
          <a:xfrm>
            <a:off x="3813048" y="1909246"/>
            <a:ext cx="53279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+182</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5" name="Shape 13"/>
          <p:cNvSpPr/>
          <p:nvPr/>
        </p:nvSpPr>
        <p:spPr>
          <a:xfrm>
            <a:off x="3813048" y="2139459"/>
            <a:ext cx="497243"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8" name="Shape 16"/>
          <p:cNvSpPr/>
          <p:nvPr/>
        </p:nvSpPr>
        <p:spPr>
          <a:xfrm>
            <a:off x="3813048" y="2369673"/>
            <a:ext cx="355312"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+121</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21" name="Shape 19"/>
          <p:cNvSpPr/>
          <p:nvPr/>
        </p:nvSpPr>
        <p:spPr>
          <a:xfrm>
            <a:off x="3813048" y="2599887"/>
            <a:ext cx="35027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24" name="Shape 22"/>
          <p:cNvSpPr/>
          <p:nvPr/>
        </p:nvSpPr>
        <p:spPr>
          <a:xfrm>
            <a:off x="3813048" y="2830100"/>
            <a:ext cx="34107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+116</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27" name="Shape 25"/>
          <p:cNvSpPr/>
          <p:nvPr/>
        </p:nvSpPr>
        <p:spPr>
          <a:xfrm>
            <a:off x="3813048" y="3060314"/>
            <a:ext cx="155530"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+53</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0" name="Shape 28"/>
          <p:cNvSpPr/>
          <p:nvPr/>
        </p:nvSpPr>
        <p:spPr>
          <a:xfrm>
            <a:off x="3813048" y="3290528"/>
            <a:ext cx="139901"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33" name="Shape 31"/>
          <p:cNvSpPr/>
          <p:nvPr/>
        </p:nvSpPr>
        <p:spPr>
          <a:xfrm>
            <a:off x="3813048" y="3520741"/>
            <a:ext cx="13696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6" name="Shape 34"/>
          <p:cNvSpPr/>
          <p:nvPr/>
        </p:nvSpPr>
        <p:spPr>
          <a:xfrm>
            <a:off x="3813048" y="3750955"/>
            <a:ext cx="129611"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9" name="Shape 37"/>
          <p:cNvSpPr/>
          <p:nvPr/>
        </p:nvSpPr>
        <p:spPr>
          <a:xfrm>
            <a:off x="3813048" y="3981169"/>
            <a:ext cx="11218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2" name="Shape 40"/>
          <p:cNvSpPr/>
          <p:nvPr/>
        </p:nvSpPr>
        <p:spPr>
          <a:xfrm>
            <a:off x="3813048" y="4211382"/>
            <a:ext cx="6719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Shape 43"/>
          <p:cNvSpPr/>
          <p:nvPr/>
        </p:nvSpPr>
        <p:spPr>
          <a:xfrm>
            <a:off x="3813048" y="4441596"/>
            <a:ext cx="50922"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48" name="Shape 46"/>
          <p:cNvSpPr/>
          <p:nvPr/>
        </p:nvSpPr>
        <p:spPr>
          <a:xfrm>
            <a:off x="3813048" y="4671809"/>
            <a:ext cx="4213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51" name="Shape 49"/>
          <p:cNvSpPr/>
          <p:nvPr/>
        </p:nvSpPr>
        <p:spPr>
          <a:xfrm>
            <a:off x="3813048" y="4902023"/>
            <a:ext cx="30748"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3015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1578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0" name="Shape 58"/>
          <p:cNvSpPr/>
          <p:nvPr/>
        </p:nvSpPr>
        <p:spPr>
          <a:xfrm>
            <a:off x="3813048" y="5592664"/>
            <a:ext cx="132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3" name="Shape 61"/>
          <p:cNvSpPr/>
          <p:nvPr/>
        </p:nvSpPr>
        <p:spPr>
          <a:xfrm>
            <a:off x="9363456" y="1909246"/>
            <a:ext cx="12802"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2" name="Shape 70"/>
          <p:cNvSpPr/>
          <p:nvPr/>
        </p:nvSpPr>
        <p:spPr>
          <a:xfrm>
            <a:off x="9363456" y="2599887"/>
            <a:ext cx="1280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5" name="Shape 73"/>
          <p:cNvSpPr/>
          <p:nvPr/>
        </p:nvSpPr>
        <p:spPr>
          <a:xfrm>
            <a:off x="9363456" y="2830100"/>
            <a:ext cx="12802"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8" name="Shape 76"/>
          <p:cNvSpPr/>
          <p:nvPr/>
        </p:nvSpPr>
        <p:spPr>
          <a:xfrm>
            <a:off x="9348389" y="3060314"/>
            <a:ext cx="15067"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1" name="Shape 79"/>
          <p:cNvSpPr/>
          <p:nvPr/>
        </p:nvSpPr>
        <p:spPr>
          <a:xfrm>
            <a:off x="9283274" y="3290528"/>
            <a:ext cx="80182"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4" name="Shape 82"/>
          <p:cNvSpPr/>
          <p:nvPr/>
        </p:nvSpPr>
        <p:spPr>
          <a:xfrm>
            <a:off x="9281624" y="3520741"/>
            <a:ext cx="8183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7" name="Shape 85"/>
          <p:cNvSpPr/>
          <p:nvPr/>
        </p:nvSpPr>
        <p:spPr>
          <a:xfrm>
            <a:off x="9279834" y="3750955"/>
            <a:ext cx="8362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0" name="Shape 88"/>
          <p:cNvSpPr/>
          <p:nvPr/>
        </p:nvSpPr>
        <p:spPr>
          <a:xfrm>
            <a:off x="9269105" y="3981169"/>
            <a:ext cx="94351"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3" name="Shape 91"/>
          <p:cNvSpPr/>
          <p:nvPr/>
        </p:nvSpPr>
        <p:spPr>
          <a:xfrm>
            <a:off x="9260420" y="4211382"/>
            <a:ext cx="10303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6" name="Shape 94"/>
          <p:cNvSpPr/>
          <p:nvPr/>
        </p:nvSpPr>
        <p:spPr>
          <a:xfrm>
            <a:off x="9211584" y="4441596"/>
            <a:ext cx="15187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9" name="Shape 97"/>
          <p:cNvSpPr/>
          <p:nvPr/>
        </p:nvSpPr>
        <p:spPr>
          <a:xfrm>
            <a:off x="9200239" y="4671809"/>
            <a:ext cx="163217"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−56</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2" name="Shape 100"/>
          <p:cNvSpPr/>
          <p:nvPr/>
        </p:nvSpPr>
        <p:spPr>
          <a:xfrm>
            <a:off x="9153575" y="4902023"/>
            <a:ext cx="209881"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5" name="Shape 103"/>
          <p:cNvSpPr/>
          <p:nvPr/>
        </p:nvSpPr>
        <p:spPr>
          <a:xfrm>
            <a:off x="9086767" y="5132237"/>
            <a:ext cx="276689"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−281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22 of 33 stores raised ROs per manager, led by TOYOTA HENDERSON at +182 to 1,022. 11 declined; MAZDA fell most at −281.</a:t>
            </a:r>
            <a:endParaRPr lang="en-US" sz="1600" dirty="0"/>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7589520" cy="4617720"/>
          </a:xfrm>
          <a:prstGeom prst="rect">
            <a:avLst/>
          </a:prstGeom>
          <a:solidFill>
            <a:srgbClr val="FFFFFF"/>
          </a:solidFill>
          <a:ln/>
        </p:spPr>
      </p:sp>
      <p:sp>
        <p:nvSpPr>
          <p:cNvPr id="6" name="Text 4"/>
          <p:cNvSpPr txBox="1"/>
          <p:nvPr/>
        </p:nvSpPr>
        <p:spPr>
          <a:xfrm>
            <a:off x="685800" y="1344168"/>
            <a:ext cx="7132320"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Fixed employees, trailing 12 months</a:t>
            </a:r>
            <a:endParaRPr lang="en-US" sz="1500" dirty="0"/>
          </a:p>
        </p:txBody>
      </p:sp>
      <p:sp>
        <p:nvSpPr>
          <p:cNvPr id="7" name="Shape 5"/>
          <p:cNvSpPr/>
          <p:nvPr/>
        </p:nvSpPr>
        <p:spPr>
          <a:xfrm>
            <a:off x="685800" y="1691640"/>
            <a:ext cx="7132320" cy="10973"/>
          </a:xfrm>
          <a:prstGeom prst="rect">
            <a:avLst/>
          </a:prstGeom>
          <a:solidFill>
            <a:srgbClr val="1A1A1A"/>
          </a:solidFill>
          <a:ln/>
        </p:spPr>
      </p:sp>
      <p:graphicFrame>
        <p:nvGraphicFramePr>
          <p:cNvPr id="8" name="Chart 0" descr=""/>
          <p:cNvGraphicFramePr/>
          <p:nvPr/>
        </p:nvGraphicFramePr>
        <p:xfrm>
          <a:off x="621792" y="1810512"/>
          <a:ext cx="6858000" cy="3858768"/>
        </p:xfrm>
        <a:graphic>
          <a:graphicData uri="http://schemas.openxmlformats.org/drawingml/2006/chart">
            <c:chart xmlns:c="http://schemas.openxmlformats.org/drawingml/2006/chart" r:id="rId2"/>
          </a:graphicData>
        </a:graphic>
      </p:graphicFrame>
      <p:sp>
        <p:nvSpPr>
          <p:cNvPr id="9" name="Shape 6"/>
          <p:cNvSpPr/>
          <p:nvPr/>
        </p:nvSpPr>
        <p:spPr>
          <a:xfrm>
            <a:off x="8229600" y="1207008"/>
            <a:ext cx="3502152" cy="4617720"/>
          </a:xfrm>
          <a:prstGeom prst="rect">
            <a:avLst/>
          </a:prstGeom>
          <a:solidFill>
            <a:srgbClr val="FFFFFF"/>
          </a:solidFill>
          <a:ln/>
        </p:spPr>
      </p:sp>
      <p:sp>
        <p:nvSpPr>
          <p:cNvPr id="10" name="Text 7"/>
          <p:cNvSpPr txBox="1"/>
          <p:nvPr/>
        </p:nvSpPr>
        <p:spPr>
          <a:xfrm>
            <a:off x="8458200" y="1344168"/>
            <a:ext cx="3044952" cy="292608"/>
          </a:xfrm>
          <a:prstGeom prst="rect">
            <a:avLst/>
          </a:prstGeom>
          <a:noFill/>
          <a:ln/>
        </p:spPr>
        <p:txBody>
          <a:bodyPr wrap="square" lIns="0" tIns="0" rIns="0" bIns="0" rtlCol="0" anchor="ctr"/>
          <a:lstStyle/>
          <a:p>
            <a:pPr indent="0" marL="0">
              <a:buNone/>
            </a:pPr>
            <a:r>
              <a:rPr lang="en-US" sz="1500" dirty="0">
                <a:solidFill>
                  <a:srgbClr val="1A1A1A"/>
                </a:solidFill>
                <a:latin typeface="Inter" pitchFamily="34" charset="0"/>
                <a:ea typeface="Inter" pitchFamily="34" charset="-122"/>
                <a:cs typeface="Inter" pitchFamily="34" charset="-120"/>
              </a:rPr>
              <a:t>What it says</a:t>
            </a:r>
            <a:endParaRPr lang="en-US" sz="1500" dirty="0"/>
          </a:p>
        </p:txBody>
      </p:sp>
      <p:sp>
        <p:nvSpPr>
          <p:cNvPr id="11" name="Shape 8"/>
          <p:cNvSpPr/>
          <p:nvPr/>
        </p:nvSpPr>
        <p:spPr>
          <a:xfrm>
            <a:off x="8458200" y="1691640"/>
            <a:ext cx="3044952" cy="10973"/>
          </a:xfrm>
          <a:prstGeom prst="rect">
            <a:avLst/>
          </a:prstGeom>
          <a:solidFill>
            <a:srgbClr val="1A1A1A"/>
          </a:solidFill>
          <a:ln/>
        </p:spPr>
      </p:sp>
      <p:sp>
        <p:nvSpPr>
          <p:cNvPr id="12" name="Shape 9"/>
          <p:cNvSpPr/>
          <p:nvPr/>
        </p:nvSpPr>
        <p:spPr>
          <a:xfrm>
            <a:off x="8458200" y="1938528"/>
            <a:ext cx="100584" cy="100584"/>
          </a:xfrm>
          <a:prstGeom prst="ellipse">
            <a:avLst/>
          </a:prstGeom>
          <a:solidFill>
            <a:srgbClr val="2587C5"/>
          </a:solidFill>
          <a:ln/>
        </p:spPr>
      </p:sp>
      <p:sp>
        <p:nvSpPr>
          <p:cNvPr id="13" name="Text 10"/>
          <p:cNvSpPr txBox="1"/>
          <p:nvPr/>
        </p:nvSpPr>
        <p:spPr>
          <a:xfrm>
            <a:off x="8705088" y="1810512"/>
            <a:ext cx="2834640" cy="1051560"/>
          </a:xfrm>
          <a:prstGeom prst="rect">
            <a:avLst/>
          </a:prstGeom>
          <a:noFill/>
          <a:ln/>
        </p:spPr>
        <p:txBody>
          <a:bodyPr wrap="square" lIns="0" tIns="0" rIns="0" bIns="0" rtlCol="0" anchor="t"/>
          <a:lstStyle/>
          <a:p>
            <a:pPr indent="0" marL="0">
              <a:buNone/>
            </a:pPr>
            <a:r>
              <a:rPr lang="en-US" sz="1500" b="1" dirty="0">
                <a:solidFill>
                  <a:srgbClr val="2587C5"/>
                </a:solidFill>
                <a:latin typeface="Inter" pitchFamily="34" charset="0"/>
                <a:ea typeface="Inter" pitchFamily="34" charset="-122"/>
                <a:cs typeface="Inter" pitchFamily="34" charset="-120"/>
              </a:rPr>
              <a:t>−76 fixed staff, Sep to Sep, to 1,540.</a:t>
            </a:r>
            <a:endParaRPr lang="en-US" sz="1500" dirty="0"/>
          </a:p>
        </p:txBody>
      </p:sp>
      <p:sp>
        <p:nvSpPr>
          <p:cNvPr id="14" name="Shape 11"/>
          <p:cNvSpPr/>
          <p:nvPr/>
        </p:nvSpPr>
        <p:spPr>
          <a:xfrm>
            <a:off x="8458200" y="3072384"/>
            <a:ext cx="100584" cy="100584"/>
          </a:xfrm>
          <a:prstGeom prst="ellipse">
            <a:avLst/>
          </a:prstGeom>
          <a:solidFill>
            <a:srgbClr val="1A1A1A"/>
          </a:solidFill>
          <a:ln/>
        </p:spPr>
      </p:sp>
      <p:sp>
        <p:nvSpPr>
          <p:cNvPr id="15" name="Text 12"/>
          <p:cNvSpPr txBox="1"/>
          <p:nvPr/>
        </p:nvSpPr>
        <p:spPr>
          <a:xfrm>
            <a:off x="8705088" y="2944368"/>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Technicians −17, advisors −7, managers −3.</a:t>
            </a:r>
            <a:endParaRPr lang="en-US" sz="1500" dirty="0"/>
          </a:p>
        </p:txBody>
      </p:sp>
      <p:sp>
        <p:nvSpPr>
          <p:cNvPr id="16" name="Shape 13"/>
          <p:cNvSpPr/>
          <p:nvPr/>
        </p:nvSpPr>
        <p:spPr>
          <a:xfrm>
            <a:off x="8458200" y="4206240"/>
            <a:ext cx="100584" cy="100584"/>
          </a:xfrm>
          <a:prstGeom prst="ellipse">
            <a:avLst/>
          </a:prstGeom>
          <a:solidFill>
            <a:srgbClr val="1A1A1A"/>
          </a:solidFill>
          <a:ln/>
        </p:spPr>
      </p:sp>
      <p:sp>
        <p:nvSpPr>
          <p:cNvPr id="17" name="Text 14"/>
          <p:cNvSpPr txBox="1"/>
          <p:nvPr/>
        </p:nvSpPr>
        <p:spPr>
          <a:xfrm>
            <a:off x="8705088" y="4078224"/>
            <a:ext cx="2834640" cy="105156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Low of 1,530 in Jan 26; up 10 since.</a:t>
            </a:r>
            <a:endParaRPr lang="en-US" sz="1500" dirty="0"/>
          </a:p>
        </p:txBody>
      </p:sp>
      <p:sp>
        <p:nvSpPr>
          <p:cNvPr id="18" name="Shape 15"/>
          <p:cNvSpPr/>
          <p:nvPr/>
        </p:nvSpPr>
        <p:spPr>
          <a:xfrm>
            <a:off x="457200" y="5961888"/>
            <a:ext cx="11274552" cy="548640"/>
          </a:xfrm>
          <a:prstGeom prst="rect">
            <a:avLst/>
          </a:prstGeom>
          <a:solidFill>
            <a:srgbClr val="EDF4FA"/>
          </a:solidFill>
          <a:ln/>
        </p:spPr>
      </p:sp>
      <p:sp>
        <p:nvSpPr>
          <p:cNvPr id="19" name="Text 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Fixed ops headcount fell 76 to 1,540 (−4.7%), Sep to Sep; CP &amp; W ROs fell 2.3% year to date.</a:t>
            </a:r>
            <a:endParaRPr lang="en-US" sz="1600" dirty="0"/>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PRODUCTIVITY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Headcount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SEP 2026 VS SEP 2025</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−76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2" name="Shape 10"/>
          <p:cNvSpPr/>
          <p:nvPr/>
        </p:nvSpPr>
        <p:spPr>
          <a:xfrm>
            <a:off x="3813048" y="1909246"/>
            <a:ext cx="195943" cy="105898"/>
          </a:xfrm>
          <a:prstGeom prst="rect">
            <a:avLst/>
          </a:prstGeom>
          <a:solidFill>
            <a:srgbClr val="2587C5"/>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5" name="Shape 13"/>
          <p:cNvSpPr/>
          <p:nvPr/>
        </p:nvSpPr>
        <p:spPr>
          <a:xfrm>
            <a:off x="3813048" y="2139459"/>
            <a:ext cx="156754" cy="105898"/>
          </a:xfrm>
          <a:prstGeom prst="rect">
            <a:avLst/>
          </a:prstGeom>
          <a:solidFill>
            <a:srgbClr val="2587C5"/>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 name="Shape 16"/>
          <p:cNvSpPr/>
          <p:nvPr/>
        </p:nvSpPr>
        <p:spPr>
          <a:xfrm>
            <a:off x="3813048" y="2369673"/>
            <a:ext cx="156754" cy="105898"/>
          </a:xfrm>
          <a:prstGeom prst="rect">
            <a:avLst/>
          </a:prstGeom>
          <a:solidFill>
            <a:srgbClr val="2587C5"/>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1" name="Shape 19"/>
          <p:cNvSpPr/>
          <p:nvPr/>
        </p:nvSpPr>
        <p:spPr>
          <a:xfrm>
            <a:off x="3813048" y="2599887"/>
            <a:ext cx="117566" cy="105898"/>
          </a:xfrm>
          <a:prstGeom prst="rect">
            <a:avLst/>
          </a:prstGeom>
          <a:solidFill>
            <a:srgbClr val="2587C5"/>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24" name="Shape 22"/>
          <p:cNvSpPr/>
          <p:nvPr/>
        </p:nvSpPr>
        <p:spPr>
          <a:xfrm>
            <a:off x="3813048" y="2830100"/>
            <a:ext cx="117566" cy="105898"/>
          </a:xfrm>
          <a:prstGeom prst="rect">
            <a:avLst/>
          </a:prstGeom>
          <a:solidFill>
            <a:srgbClr val="2587C5"/>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7" name="Shape 25"/>
          <p:cNvSpPr/>
          <p:nvPr/>
        </p:nvSpPr>
        <p:spPr>
          <a:xfrm>
            <a:off x="3813048" y="3060314"/>
            <a:ext cx="78377" cy="105898"/>
          </a:xfrm>
          <a:prstGeom prst="rect">
            <a:avLst/>
          </a:prstGeom>
          <a:solidFill>
            <a:srgbClr val="2587C5"/>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30" name="Shape 28"/>
          <p:cNvSpPr/>
          <p:nvPr/>
        </p:nvSpPr>
        <p:spPr>
          <a:xfrm>
            <a:off x="3813048" y="3290528"/>
            <a:ext cx="39189" cy="105898"/>
          </a:xfrm>
          <a:prstGeom prst="rect">
            <a:avLst/>
          </a:prstGeom>
          <a:solidFill>
            <a:srgbClr val="2587C5"/>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3" name="Shape 31"/>
          <p:cNvSpPr/>
          <p:nvPr/>
        </p:nvSpPr>
        <p:spPr>
          <a:xfrm>
            <a:off x="3813048" y="3520741"/>
            <a:ext cx="39189" cy="105898"/>
          </a:xfrm>
          <a:prstGeom prst="rect">
            <a:avLst/>
          </a:prstGeom>
          <a:solidFill>
            <a:srgbClr val="2587C5"/>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39189" cy="105898"/>
          </a:xfrm>
          <a:prstGeom prst="rect">
            <a:avLst/>
          </a:prstGeom>
          <a:solidFill>
            <a:srgbClr val="2587C5"/>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9" name="Shape 37"/>
          <p:cNvSpPr/>
          <p:nvPr/>
        </p:nvSpPr>
        <p:spPr>
          <a:xfrm>
            <a:off x="3813048" y="3981169"/>
            <a:ext cx="39189" cy="105898"/>
          </a:xfrm>
          <a:prstGeom prst="rect">
            <a:avLst/>
          </a:prstGeom>
          <a:solidFill>
            <a:srgbClr val="2587C5"/>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42" name="Shape 40"/>
          <p:cNvSpPr/>
          <p:nvPr/>
        </p:nvSpPr>
        <p:spPr>
          <a:xfrm>
            <a:off x="3773859" y="4211382"/>
            <a:ext cx="39189" cy="105898"/>
          </a:xfrm>
          <a:prstGeom prst="rect">
            <a:avLst/>
          </a:prstGeom>
          <a:solidFill>
            <a:srgbClr val="2587C5"/>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5" name="Shape 43"/>
          <p:cNvSpPr/>
          <p:nvPr/>
        </p:nvSpPr>
        <p:spPr>
          <a:xfrm>
            <a:off x="3773859" y="4441596"/>
            <a:ext cx="39189" cy="105898"/>
          </a:xfrm>
          <a:prstGeom prst="rect">
            <a:avLst/>
          </a:prstGeom>
          <a:solidFill>
            <a:srgbClr val="2587C5"/>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8" name="Shape 46"/>
          <p:cNvSpPr/>
          <p:nvPr/>
        </p:nvSpPr>
        <p:spPr>
          <a:xfrm>
            <a:off x="3773859" y="4671809"/>
            <a:ext cx="39189" cy="105898"/>
          </a:xfrm>
          <a:prstGeom prst="rect">
            <a:avLst/>
          </a:prstGeom>
          <a:solidFill>
            <a:srgbClr val="2587C5"/>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1" name="Shape 49"/>
          <p:cNvSpPr/>
          <p:nvPr/>
        </p:nvSpPr>
        <p:spPr>
          <a:xfrm>
            <a:off x="3773859" y="4902023"/>
            <a:ext cx="39189" cy="105898"/>
          </a:xfrm>
          <a:prstGeom prst="rect">
            <a:avLst/>
          </a:prstGeom>
          <a:solidFill>
            <a:srgbClr val="2587C5"/>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4" name="Shape 52"/>
          <p:cNvSpPr/>
          <p:nvPr/>
        </p:nvSpPr>
        <p:spPr>
          <a:xfrm>
            <a:off x="3773859" y="5132237"/>
            <a:ext cx="39189" cy="105898"/>
          </a:xfrm>
          <a:prstGeom prst="rect">
            <a:avLst/>
          </a:prstGeom>
          <a:solidFill>
            <a:srgbClr val="2587C5"/>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57" name="Shape 55"/>
          <p:cNvSpPr/>
          <p:nvPr/>
        </p:nvSpPr>
        <p:spPr>
          <a:xfrm>
            <a:off x="3773859" y="5362450"/>
            <a:ext cx="39189" cy="105898"/>
          </a:xfrm>
          <a:prstGeom prst="rect">
            <a:avLst/>
          </a:prstGeom>
          <a:solidFill>
            <a:srgbClr val="2587C5"/>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0" name="Shape 58"/>
          <p:cNvSpPr/>
          <p:nvPr/>
        </p:nvSpPr>
        <p:spPr>
          <a:xfrm>
            <a:off x="3773859" y="5592664"/>
            <a:ext cx="39189" cy="105898"/>
          </a:xfrm>
          <a:prstGeom prst="rect">
            <a:avLst/>
          </a:prstGeom>
          <a:solidFill>
            <a:srgbClr val="2587C5"/>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63" name="Shape 61"/>
          <p:cNvSpPr/>
          <p:nvPr/>
        </p:nvSpPr>
        <p:spPr>
          <a:xfrm>
            <a:off x="9324267" y="1909246"/>
            <a:ext cx="39189" cy="105898"/>
          </a:xfrm>
          <a:prstGeom prst="rect">
            <a:avLst/>
          </a:prstGeom>
          <a:solidFill>
            <a:srgbClr val="2587C5"/>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Shape 64"/>
          <p:cNvSpPr/>
          <p:nvPr/>
        </p:nvSpPr>
        <p:spPr>
          <a:xfrm>
            <a:off x="9324267" y="2139459"/>
            <a:ext cx="39189" cy="105898"/>
          </a:xfrm>
          <a:prstGeom prst="rect">
            <a:avLst/>
          </a:prstGeom>
          <a:solidFill>
            <a:srgbClr val="2587C5"/>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9285079" y="2369673"/>
            <a:ext cx="78377" cy="105898"/>
          </a:xfrm>
          <a:prstGeom prst="rect">
            <a:avLst/>
          </a:prstGeom>
          <a:solidFill>
            <a:srgbClr val="2587C5"/>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72" name="Shape 70"/>
          <p:cNvSpPr/>
          <p:nvPr/>
        </p:nvSpPr>
        <p:spPr>
          <a:xfrm>
            <a:off x="9285079" y="2599887"/>
            <a:ext cx="78377" cy="105898"/>
          </a:xfrm>
          <a:prstGeom prst="rect">
            <a:avLst/>
          </a:prstGeom>
          <a:solidFill>
            <a:srgbClr val="2587C5"/>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5" name="Shape 73"/>
          <p:cNvSpPr/>
          <p:nvPr/>
        </p:nvSpPr>
        <p:spPr>
          <a:xfrm>
            <a:off x="9245890" y="2830100"/>
            <a:ext cx="117566" cy="105898"/>
          </a:xfrm>
          <a:prstGeom prst="rect">
            <a:avLst/>
          </a:prstGeom>
          <a:solidFill>
            <a:srgbClr val="2587C5"/>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9245890" y="3060314"/>
            <a:ext cx="117566" cy="105898"/>
          </a:xfrm>
          <a:prstGeom prst="rect">
            <a:avLst/>
          </a:prstGeom>
          <a:solidFill>
            <a:srgbClr val="2587C5"/>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1" name="Shape 79"/>
          <p:cNvSpPr/>
          <p:nvPr/>
        </p:nvSpPr>
        <p:spPr>
          <a:xfrm>
            <a:off x="9245890" y="3290528"/>
            <a:ext cx="117566" cy="105898"/>
          </a:xfrm>
          <a:prstGeom prst="rect">
            <a:avLst/>
          </a:prstGeom>
          <a:solidFill>
            <a:srgbClr val="2587C5"/>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84" name="Shape 82"/>
          <p:cNvSpPr/>
          <p:nvPr/>
        </p:nvSpPr>
        <p:spPr>
          <a:xfrm>
            <a:off x="9206702" y="3520741"/>
            <a:ext cx="156754" cy="105898"/>
          </a:xfrm>
          <a:prstGeom prst="rect">
            <a:avLst/>
          </a:prstGeom>
          <a:solidFill>
            <a:srgbClr val="2587C5"/>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7" name="Shape 85"/>
          <p:cNvSpPr/>
          <p:nvPr/>
        </p:nvSpPr>
        <p:spPr>
          <a:xfrm>
            <a:off x="9206702" y="3750955"/>
            <a:ext cx="156754" cy="105898"/>
          </a:xfrm>
          <a:prstGeom prst="rect">
            <a:avLst/>
          </a:prstGeom>
          <a:solidFill>
            <a:srgbClr val="2587C5"/>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0" name="Shape 88"/>
          <p:cNvSpPr/>
          <p:nvPr/>
        </p:nvSpPr>
        <p:spPr>
          <a:xfrm>
            <a:off x="9128325" y="3981169"/>
            <a:ext cx="235131" cy="105898"/>
          </a:xfrm>
          <a:prstGeom prst="rect">
            <a:avLst/>
          </a:prstGeom>
          <a:solidFill>
            <a:srgbClr val="2587C5"/>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3" name="Shape 91"/>
          <p:cNvSpPr/>
          <p:nvPr/>
        </p:nvSpPr>
        <p:spPr>
          <a:xfrm>
            <a:off x="9089136" y="4211382"/>
            <a:ext cx="274320" cy="105898"/>
          </a:xfrm>
          <a:prstGeom prst="rect">
            <a:avLst/>
          </a:prstGeom>
          <a:solidFill>
            <a:srgbClr val="2587C5"/>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6" name="Shape 94"/>
          <p:cNvSpPr/>
          <p:nvPr/>
        </p:nvSpPr>
        <p:spPr>
          <a:xfrm>
            <a:off x="9049947" y="4441596"/>
            <a:ext cx="313509" cy="105898"/>
          </a:xfrm>
          <a:prstGeom prst="rect">
            <a:avLst/>
          </a:prstGeom>
          <a:solidFill>
            <a:srgbClr val="2587C5"/>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−8</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049947" y="4671809"/>
            <a:ext cx="313509" cy="105898"/>
          </a:xfrm>
          <a:prstGeom prst="rect">
            <a:avLst/>
          </a:prstGeom>
          <a:solidFill>
            <a:srgbClr val="2587C5"/>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−8</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2" name="Shape 100"/>
          <p:cNvSpPr/>
          <p:nvPr/>
        </p:nvSpPr>
        <p:spPr>
          <a:xfrm>
            <a:off x="9010759" y="4902023"/>
            <a:ext cx="352697" cy="105898"/>
          </a:xfrm>
          <a:prstGeom prst="rect">
            <a:avLst/>
          </a:prstGeom>
          <a:solidFill>
            <a:srgbClr val="2587C5"/>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−9</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05" name="Shape 103"/>
          <p:cNvSpPr/>
          <p:nvPr/>
        </p:nvSpPr>
        <p:spPr>
          <a:xfrm>
            <a:off x="8893193" y="5132237"/>
            <a:ext cx="470263" cy="105898"/>
          </a:xfrm>
          <a:prstGeom prst="rect">
            <a:avLst/>
          </a:prstGeom>
          <a:solidFill>
            <a:srgbClr val="2587C5"/>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−12</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8" name="Shape 106"/>
          <p:cNvSpPr/>
          <p:nvPr/>
        </p:nvSpPr>
        <p:spPr>
          <a:xfrm>
            <a:off x="8540496" y="5362450"/>
            <a:ext cx="822960" cy="105898"/>
          </a:xfrm>
          <a:prstGeom prst="rect">
            <a:avLst/>
          </a:prstGeom>
          <a:solidFill>
            <a:srgbClr val="2587C5"/>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DF4F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10 stores added fixed staff, led by MAZDA (+5); 23 reduced, led by CHEVY LV (−21).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88</Slides>
  <Notes>88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88</vt:i4>
      </vt:variant>
    </vt:vector>
  </HeadingPairs>
  <TitlesOfParts>
    <vt:vector size="9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2026-10-15T23:16:42Z</dcterms:created>
  <dcterms:modified xsi:type="dcterms:W3CDTF">2026-10-15T23:16:42Z</dcterms:modified>
</cp:coreProperties>
</file>