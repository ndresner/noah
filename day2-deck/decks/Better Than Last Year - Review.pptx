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Before → after, by measure:
CP Gross: top LINCOLN $865K → $1.26M; SUBARU PRESCOTT $832K → $1.21M; SUBARU ST GEORGE $1.48M → $1.98M. Bottom CHEVY LV $7.40M → $7.08M; AUDI RENO $3.38M → $2.90M; VW ST GEORGE $702K → $560K.
CP RO Count: top KIA LV 7,156 → 8,133; HYUNDAI PRESCOTT 1,784 → 2,010; GMC PRESCOTT 2,810 → 3,107. Bottom AUDI RENO 4,379 → 3,917; HYUNDAI ST GEORGE 3,784 → 3,349; VW ST GEORGE 2,251 → 1,919.
CP Hours per RO: top HYUNDAI ST GEORGE 1.03 → 1.43; SUBARU ST GEORGE 1.75 → 2.30; KIA ST GEORGE 0.99 → 1.29. Bottom VOLVO 2.58 → 2.28; VW ST GEORGE 1.95 → 1.71; LR RENO 4.04 → 3.48.
CP ELR: top HONDA SPOKANE $117.05 → $143.89; VOLVO $181.59 → $222.12; LINCOLN $139.55 → $167.64. Bottom ACURA $221.78 → $210.50; SUBARU ST GEORGE $148.84 → $138.48; KIA LV $184.36 → $149.23.
CP Labor $ per RO: top HYUNDAI ST GEORGE $172 → $238; LINCOLN $306 → $416; SUBARU PRESCOTT $163 → $222. Bottom KIA LV $244 → $234; LR RENO $876 → $817; VW ST GEORGE $268 → $231.Takeaway with the store call-outs (off the slide): Most top-three finishes: Lincoln, Subaru Prescott and Subaru St George (2 of 5). Most bottom-three: VW St George (4 of 5).Source: Qlik - Closed Repair Orders. Customer pay, by close date. Same-store, 33 stores (INEOS excluded, opened 2026). GMC Prescott body shop labor types excluded. CP gross = CP labor gross + CP parts gross. Change is Jan-Sep 2026 vs Jan-Sep 2025. Ranked by percent change (points for parts GP %), so store size does not drive the ranking. CP labor $ per RO = CP labor sale / CP 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Before → after, by measure:
Fixed Ops Net Profit: top SUBARU PRESCOTT −$55K → $129K; LR RENO $136K → $428K; HONDA FLAGSTAFF $26K → $79K. Bottom VW HENDERSON $1.55M → $1.09M; HYUNDAI ST GEORGE $204K → $108K; VW ST GEORGE $153K → −$59K.
Fixed Absorption: top LINCOLN 43.8% → 59.9%; CADILLAC 76.5% → 86.1%; LR RENO 67.8% → 77.3%. Bottom VW HENDERSON 93.5% → 83.8%; KIA ST GEORGE 75.9% → 65.8%; VW ST GEORGE 71.5% → 54.1%.
CP Parts GP %: top ACURA 38.7% → 44.9%; NISSAN 38.2% → 42.7%; SUBARU PRESCOTT 31.0% → 34.8%. Bottom HYUNDAI PRESCOTT 39.9% → 39.4%; TOYOTA SPOKANE 45.3% → 44.5%; AUDI HENDERSON 35.8% → 33.6%.
Opcodes, Four Combined: top LR LV 30.2% → 60.5%; SUBARU PRESCOTT 19.5% → 47.9%; MAZDA 22.5% → 43.5%. Bottom TOYOTA HENDERSON 42.5% → 41.8%; SUBARU LV 44.9% → 42.0%; KIA LV 30.0% → 26.4%.Takeaway with the store call-outs (off the slide): Most top-three finishes: Lincoln, Subaru Prescott and Subaru St George (2 of 4). Most bottom-three: VW Henderson and VW St George (2 of 4).Source: Fixed ops net profit: Qlik - Profit &amp; Loss, service + parts department profit (% change = $ change / |2025 profit|). Fixed absorption: P&amp;L, fixed ops gross / total store fixed expenses, GMC Prescott body shop in, as on the P&amp;L. CP parts GP %: Qlik - Closed Repair Orders. Opcodes: alignment + balance + brake fluid + fuel services / customer-pay ROs on the op-code report basis. Same-store, 33 stores. Points for absorption, parts GP % and opcodes.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Year: Customer Pay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4495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518099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7029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453067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+6.5%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+46.1%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+45.4%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+33.8%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−14.1%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−20.1%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+0.2%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+13.7%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+12.7%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−10.6%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−11.5%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+3.6%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+39.2%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+30.8%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−11.7%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−12.5%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−13.7%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+2.2%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+22.3%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+20.1%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−5.1%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−7.0%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−19.1%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+5.9%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+38.4%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+36.2%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+36.1%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−3.9%</a:t>
            </a:r>
            <a:endParaRPr lang="en-US" sz="1600" dirty="0"/>
          </a:p>
        </p:txBody>
      </p:sp>
      <p:sp>
        <p:nvSpPr>
          <p:cNvPr id="94" name="Text 92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−6.8%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−13.8%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Year: Profit and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7896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901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9058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+11.3%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+335.3%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+215.4%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+200.6%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−29.6%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−47.1%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−138.2%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39312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0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ABSORPTION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657600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+2.1 pts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0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 pts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+9.6 pts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+9.5 pts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657600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−9.7 pts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3657600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0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0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3657600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−17.4 pts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9360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27648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327648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+1.3 pts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327648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327648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+6.2 pts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6327648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327648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 pts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6327648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327648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 pts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6327648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327648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pts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6327648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327648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 pts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6327648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327648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 pts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979408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997696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OPCODES, FOUR COMBINED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8997696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+5.4 pts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997696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8997696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+30.3 pts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8997696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8997696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+28.4 pts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8997696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8997696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+21.0 pts</a:t>
            </a:r>
            <a:endParaRPr lang="en-US" sz="1600" dirty="0"/>
          </a:p>
        </p:txBody>
      </p:sp>
      <p:sp>
        <p:nvSpPr>
          <p:cNvPr id="76" name="Text 74"/>
          <p:cNvSpPr txBox="1"/>
          <p:nvPr/>
        </p:nvSpPr>
        <p:spPr>
          <a:xfrm>
            <a:off x="8997696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8997696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−0.7 pts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8997696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8997696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−2.9 pts</a:t>
            </a:r>
            <a:endParaRPr lang="en-US" sz="1600" dirty="0"/>
          </a:p>
        </p:txBody>
      </p:sp>
      <p:sp>
        <p:nvSpPr>
          <p:cNvPr id="80" name="Text 78"/>
          <p:cNvSpPr txBox="1"/>
          <p:nvPr/>
        </p:nvSpPr>
        <p:spPr>
          <a:xfrm>
            <a:off x="8997696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8997696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−3.6 pts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2026-10-28T18:48:35Z</dcterms:created>
  <dcterms:modified xsi:type="dcterms:W3CDTF">2026-10-28T18:48:35Z</dcterms:modified>
</cp:coreProperties>
</file>