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Loss, Detail statement. Same-store, INEOS excluded (opened 2026). Fixed ops net profit = service (Mechanical) + parts (P&amp;A) department profit: department gross less the department's own expenses; GMC Prescott body shop is its own department and is not included. Ranked by dollar change, Jan-Sep 2026 vs Jan-Sep 2025; percent change alongside, top three and bottom three by percent marked. Percent change = dollar change / 2025 profit; where 2025 was a loss, divided by the size of the loss, so an improvement reads as positive.OPTION A: shaded rows. Green band = loss in 2025, profit in 2026. Red band = profit in 2025, loss in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Loss, Detail statement. Same-store, INEOS excluded (opened 2026). Fixed ops net profit = service (Mechanical) + parts (P&amp;A) department profit: department gross less the department's own expenses; GMC Prescott body shop is its own department and is not included. Ranked by dollar change, Jan-Sep 2026 vs Jan-Sep 2025; percent change alongside, top three and bottom three by percent marked. Percent change = dollar change / 2025 profit; where 2025 was a loss, divided by the size of the loss, so an improvement reads as positive.OPTION B: store name in bold green (loss to profit) or bold red (profit to loss); the band gives each store's 2025 and 2026 fixed ops net profit.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PROFITABILITY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49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13760" y="1335024"/>
            <a:ext cx="463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+$5.11M  ·  +11.3%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756648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33888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79876" y="2181823"/>
            <a:ext cx="57150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+$1.42M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79876" y="2405582"/>
            <a:ext cx="33838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06240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+$838K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+20.4%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79876" y="2629341"/>
            <a:ext cx="30910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06240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+$766K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+41.8%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79876" y="2853100"/>
            <a:ext cx="27942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06240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+$692K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+12.9%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" y="3025588"/>
            <a:ext cx="5138928" cy="205471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79876" y="3076859"/>
            <a:ext cx="19525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206240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+$484K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983480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+124.3%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14984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579876" y="3300618"/>
            <a:ext cx="17039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206240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+$422K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983480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+30.5%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579876" y="3524377"/>
            <a:ext cx="136037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206240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+$337K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983480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+43.0%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579876" y="3748136"/>
            <a:ext cx="11797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206240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+$292K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4983480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+215.4%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907024" y="3733441"/>
            <a:ext cx="54864" cy="13231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8368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579876" y="3971895"/>
            <a:ext cx="11504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206240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+$285K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4983480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+32.3%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579876" y="4195654"/>
            <a:ext cx="8755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206240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+$217K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4983480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+83.7%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579876" y="4419414"/>
            <a:ext cx="8315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206240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+$206K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4983480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+20.8%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12648" y="4591902"/>
            <a:ext cx="5138928" cy="205471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579876" y="4643173"/>
            <a:ext cx="7393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206240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+$183K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4983480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+335.3%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907024" y="4628478"/>
            <a:ext cx="54864" cy="13231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658368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1014984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579876" y="4866932"/>
            <a:ext cx="626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4206240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+$155K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4983480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+13.2%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8368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14984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3579876" y="5090691"/>
            <a:ext cx="6149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4206240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+$152K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4983480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+8.1%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12648" y="5263179"/>
            <a:ext cx="5138928" cy="205471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658368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1014984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3579876" y="5314450"/>
            <a:ext cx="5816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4206240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+$144K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4983480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+115.7%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58368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1014984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579876" y="5538209"/>
            <a:ext cx="5423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4206240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+$134K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983480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+24.7%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8368" y="570155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1014984" y="570155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3579876" y="5761968"/>
            <a:ext cx="5268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4206240" y="570155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+$131K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4983480" y="570155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+16.9%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9130284" y="2181823"/>
            <a:ext cx="4571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756648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+$113K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10533888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+10.7%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208776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565392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9130284" y="2405582"/>
            <a:ext cx="3944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9756648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+$98K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10533888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+16.1%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9130284" y="2629341"/>
            <a:ext cx="38729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9756648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+$96K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10533888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+41.3%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9130284" y="2853100"/>
            <a:ext cx="2171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9756648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+$54K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10533888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+7.2%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9130284" y="3076859"/>
            <a:ext cx="2141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9756648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+$53K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10533888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+200.6%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11457432" y="3062164"/>
            <a:ext cx="54864" cy="13231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6208776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9130284" y="3300618"/>
            <a:ext cx="128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9756648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+$6K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10533888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+0.2%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565392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9130284" y="3524377"/>
            <a:ext cx="128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9756648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+$3K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10533888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+0.2%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9099640" y="3748136"/>
            <a:ext cx="30644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756648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−$76K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10533888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−2.2%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9095358" y="3971895"/>
            <a:ext cx="3492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756648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−$87K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10533888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−8.1%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6208776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52" name="Text 150"/>
          <p:cNvSpPr txBox="1"/>
          <p:nvPr/>
        </p:nvSpPr>
        <p:spPr>
          <a:xfrm>
            <a:off x="6565392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9091461" y="4195654"/>
            <a:ext cx="38823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9756648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−$96K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10533888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−47.1%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11457432" y="4180960"/>
            <a:ext cx="54864" cy="13231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7" name="Text 155"/>
          <p:cNvSpPr txBox="1"/>
          <p:nvPr/>
        </p:nvSpPr>
        <p:spPr>
          <a:xfrm>
            <a:off x="6208776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58" name="Text 156"/>
          <p:cNvSpPr txBox="1"/>
          <p:nvPr/>
        </p:nvSpPr>
        <p:spPr>
          <a:xfrm>
            <a:off x="6565392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59" name="Shape 157"/>
          <p:cNvSpPr/>
          <p:nvPr/>
        </p:nvSpPr>
        <p:spPr>
          <a:xfrm>
            <a:off x="9071103" y="4419414"/>
            <a:ext cx="59181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756648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−$147K</a:t>
            </a:r>
            <a:endParaRPr lang="en-US" sz="1200" dirty="0"/>
          </a:p>
        </p:txBody>
      </p:sp>
      <p:sp>
        <p:nvSpPr>
          <p:cNvPr id="161" name="Text 159"/>
          <p:cNvSpPr txBox="1"/>
          <p:nvPr/>
        </p:nvSpPr>
        <p:spPr>
          <a:xfrm>
            <a:off x="10533888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−22.6%</a:t>
            </a:r>
            <a:endParaRPr lang="en-US" sz="12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63" name="Text 161"/>
          <p:cNvSpPr txBox="1"/>
          <p:nvPr/>
        </p:nvSpPr>
        <p:spPr>
          <a:xfrm>
            <a:off x="6565392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64" name="Shape 162"/>
          <p:cNvSpPr/>
          <p:nvPr/>
        </p:nvSpPr>
        <p:spPr>
          <a:xfrm>
            <a:off x="9058567" y="4643173"/>
            <a:ext cx="7171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9756648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−$178K</a:t>
            </a:r>
            <a:endParaRPr lang="en-US" sz="1200" dirty="0"/>
          </a:p>
        </p:txBody>
      </p:sp>
      <p:sp>
        <p:nvSpPr>
          <p:cNvPr id="166" name="Text 164"/>
          <p:cNvSpPr txBox="1"/>
          <p:nvPr/>
        </p:nvSpPr>
        <p:spPr>
          <a:xfrm>
            <a:off x="10533888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−8.9%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6163056" y="4815661"/>
            <a:ext cx="5138928" cy="205471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6208776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6565392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9044670" y="4866932"/>
            <a:ext cx="85614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756648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−$212K</a:t>
            </a:r>
            <a:endParaRPr lang="en-US" sz="1200" dirty="0"/>
          </a:p>
        </p:txBody>
      </p:sp>
      <p:sp>
        <p:nvSpPr>
          <p:cNvPr id="172" name="Text 170"/>
          <p:cNvSpPr txBox="1"/>
          <p:nvPr/>
        </p:nvSpPr>
        <p:spPr>
          <a:xfrm>
            <a:off x="10533888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−138.2%</a:t>
            </a:r>
            <a:endParaRPr lang="en-US" sz="1200" dirty="0"/>
          </a:p>
        </p:txBody>
      </p:sp>
      <p:sp>
        <p:nvSpPr>
          <p:cNvPr id="173" name="Shape 171"/>
          <p:cNvSpPr/>
          <p:nvPr/>
        </p:nvSpPr>
        <p:spPr>
          <a:xfrm>
            <a:off x="11457432" y="4852237"/>
            <a:ext cx="54864" cy="13231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6208776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6565392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76" name="Shape 174"/>
          <p:cNvSpPr/>
          <p:nvPr/>
        </p:nvSpPr>
        <p:spPr>
          <a:xfrm>
            <a:off x="9022168" y="5090691"/>
            <a:ext cx="10811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9756648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−$268K</a:t>
            </a:r>
            <a:endParaRPr lang="en-US" sz="1200" dirty="0"/>
          </a:p>
        </p:txBody>
      </p:sp>
      <p:sp>
        <p:nvSpPr>
          <p:cNvPr id="178" name="Text 176"/>
          <p:cNvSpPr txBox="1"/>
          <p:nvPr/>
        </p:nvSpPr>
        <p:spPr>
          <a:xfrm>
            <a:off x="10533888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−27.7%</a:t>
            </a:r>
            <a:endParaRPr lang="en-US" sz="1200" dirty="0"/>
          </a:p>
        </p:txBody>
      </p:sp>
      <p:sp>
        <p:nvSpPr>
          <p:cNvPr id="179" name="Text 177"/>
          <p:cNvSpPr txBox="1"/>
          <p:nvPr/>
        </p:nvSpPr>
        <p:spPr>
          <a:xfrm>
            <a:off x="6208776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80" name="Text 178"/>
          <p:cNvSpPr txBox="1"/>
          <p:nvPr/>
        </p:nvSpPr>
        <p:spPr>
          <a:xfrm>
            <a:off x="6565392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8945616" y="5314450"/>
            <a:ext cx="184668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9756648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−$457K</a:t>
            </a:r>
            <a:endParaRPr lang="en-US" sz="1200" dirty="0"/>
          </a:p>
        </p:txBody>
      </p:sp>
      <p:sp>
        <p:nvSpPr>
          <p:cNvPr id="183" name="Text 181"/>
          <p:cNvSpPr txBox="1"/>
          <p:nvPr/>
        </p:nvSpPr>
        <p:spPr>
          <a:xfrm>
            <a:off x="10533888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−29.6%</a:t>
            </a:r>
            <a:endParaRPr lang="en-US" sz="1200" dirty="0"/>
          </a:p>
        </p:txBody>
      </p:sp>
      <p:sp>
        <p:nvSpPr>
          <p:cNvPr id="184" name="Shape 182"/>
          <p:cNvSpPr/>
          <p:nvPr/>
        </p:nvSpPr>
        <p:spPr>
          <a:xfrm>
            <a:off x="11457432" y="5299755"/>
            <a:ext cx="54864" cy="13231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6208776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86" name="Text 184"/>
          <p:cNvSpPr txBox="1"/>
          <p:nvPr/>
        </p:nvSpPr>
        <p:spPr>
          <a:xfrm>
            <a:off x="6565392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8870602" y="5538209"/>
            <a:ext cx="259682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756648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−$643K</a:t>
            </a:r>
            <a:endParaRPr lang="en-US" sz="1200" dirty="0"/>
          </a:p>
        </p:txBody>
      </p:sp>
      <p:sp>
        <p:nvSpPr>
          <p:cNvPr id="189" name="Text 187"/>
          <p:cNvSpPr txBox="1"/>
          <p:nvPr/>
        </p:nvSpPr>
        <p:spPr>
          <a:xfrm>
            <a:off x="10533888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−22.1%</a:t>
            </a:r>
            <a:endParaRPr lang="en-US" sz="1200" dirty="0"/>
          </a:p>
        </p:txBody>
      </p:sp>
      <p:sp>
        <p:nvSpPr>
          <p:cNvPr id="190" name="Shape 188"/>
          <p:cNvSpPr/>
          <p:nvPr/>
        </p:nvSpPr>
        <p:spPr>
          <a:xfrm>
            <a:off x="3574390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124798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92" name="Shape 190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3" name="Shape 191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4" name="Text 192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Lincoln, Subaru Prescott and GMC Prescott turned a 2025 loss into a profit (green rows); VW St George went from a profit to a loss (red row). 24 of 33 stores grew.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PROFITABILITY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49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13760" y="1335024"/>
            <a:ext cx="463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+$5.11M  ·  +11.3%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756648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33888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79876" y="2181823"/>
            <a:ext cx="57150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+$1.42M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79876" y="2405582"/>
            <a:ext cx="33838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06240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+$838K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+20.4%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79876" y="2629341"/>
            <a:ext cx="30910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06240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+$766K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+41.8%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79876" y="2853100"/>
            <a:ext cx="27942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06240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+$692K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+12.9%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579876" y="3076859"/>
            <a:ext cx="19525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206240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+$484K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983480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+124.3%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14984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79876" y="3300618"/>
            <a:ext cx="17039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206240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+$422K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983480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+30.5%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14984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79876" y="3524377"/>
            <a:ext cx="136037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06240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+$337K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983480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+43.0%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14984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579876" y="3748136"/>
            <a:ext cx="11797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206240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+$292K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983480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+215.4%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907024" y="3733441"/>
            <a:ext cx="54864" cy="13231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58368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579876" y="3971895"/>
            <a:ext cx="11504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206240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+$285K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983480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+32.3%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579876" y="4195654"/>
            <a:ext cx="8755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206240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+$217K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4983480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+83.7%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14984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579876" y="4419414"/>
            <a:ext cx="8315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206240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+$206K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983480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+20.8%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579876" y="4643173"/>
            <a:ext cx="7393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206240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+$183K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4983480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+335.3%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907024" y="4628478"/>
            <a:ext cx="54864" cy="13231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58368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579876" y="4866932"/>
            <a:ext cx="626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206240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+$155K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4983480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+13.2%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58368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1014984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3579876" y="5090691"/>
            <a:ext cx="6149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4206240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+$152K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4983480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+8.1%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1014984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3579876" y="5314450"/>
            <a:ext cx="5816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4206240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+$144K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4983480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+115.7%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14984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3579876" y="5538209"/>
            <a:ext cx="5423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4206240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+$134K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4983480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+24.7%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8368" y="570155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1014984" y="570155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3579876" y="5761968"/>
            <a:ext cx="5268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4206240" y="570155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+$131K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4983480" y="570155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+16.9%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565392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9130284" y="2181823"/>
            <a:ext cx="4571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9756648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+$113K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10533888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+10.7%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9130284" y="2405582"/>
            <a:ext cx="3944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756648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+$98K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10533888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+16.1%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9130284" y="2629341"/>
            <a:ext cx="38729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9756648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+$96K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10533888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+41.3%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9130284" y="2853100"/>
            <a:ext cx="2171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9756648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+$54K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10533888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+7.2%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9130284" y="3076859"/>
            <a:ext cx="2141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9756648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+$53K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10533888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+200.6%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11457432" y="3062164"/>
            <a:ext cx="54864" cy="13231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6208776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9130284" y="3300618"/>
            <a:ext cx="128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9756648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+$6K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10533888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+0.2%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9130284" y="3524377"/>
            <a:ext cx="128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9756648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+$3K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10533888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+0.2%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208776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565392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9099640" y="3748136"/>
            <a:ext cx="30644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9756648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−$76K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10533888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−2.2%</a:t>
            </a:r>
            <a:endParaRPr lang="en-US" sz="1200" dirty="0"/>
          </a:p>
        </p:txBody>
      </p:sp>
      <p:sp>
        <p:nvSpPr>
          <p:cNvPr id="143" name="Text 141"/>
          <p:cNvSpPr txBox="1"/>
          <p:nvPr/>
        </p:nvSpPr>
        <p:spPr>
          <a:xfrm>
            <a:off x="6208776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44" name="Text 142"/>
          <p:cNvSpPr txBox="1"/>
          <p:nvPr/>
        </p:nvSpPr>
        <p:spPr>
          <a:xfrm>
            <a:off x="6565392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9095358" y="3971895"/>
            <a:ext cx="3492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9756648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−$87K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10533888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−8.1%</a:t>
            </a:r>
            <a:endParaRPr lang="en-US" sz="1200" dirty="0"/>
          </a:p>
        </p:txBody>
      </p:sp>
      <p:sp>
        <p:nvSpPr>
          <p:cNvPr id="148" name="Text 146"/>
          <p:cNvSpPr txBox="1"/>
          <p:nvPr/>
        </p:nvSpPr>
        <p:spPr>
          <a:xfrm>
            <a:off x="6208776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9" name="Text 147"/>
          <p:cNvSpPr txBox="1"/>
          <p:nvPr/>
        </p:nvSpPr>
        <p:spPr>
          <a:xfrm>
            <a:off x="6565392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50" name="Shape 148"/>
          <p:cNvSpPr/>
          <p:nvPr/>
        </p:nvSpPr>
        <p:spPr>
          <a:xfrm>
            <a:off x="9091461" y="4195654"/>
            <a:ext cx="38823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9756648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−$96K</a:t>
            </a:r>
            <a:endParaRPr lang="en-US" sz="1200" dirty="0"/>
          </a:p>
        </p:txBody>
      </p:sp>
      <p:sp>
        <p:nvSpPr>
          <p:cNvPr id="152" name="Text 150"/>
          <p:cNvSpPr txBox="1"/>
          <p:nvPr/>
        </p:nvSpPr>
        <p:spPr>
          <a:xfrm>
            <a:off x="10533888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−47.1%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11457432" y="4180960"/>
            <a:ext cx="54864" cy="13231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6208776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6565392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9071103" y="4419414"/>
            <a:ext cx="59181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7" name="Text 155"/>
          <p:cNvSpPr txBox="1"/>
          <p:nvPr/>
        </p:nvSpPr>
        <p:spPr>
          <a:xfrm>
            <a:off x="9756648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−$147K</a:t>
            </a:r>
            <a:endParaRPr lang="en-US" sz="1200" dirty="0"/>
          </a:p>
        </p:txBody>
      </p:sp>
      <p:sp>
        <p:nvSpPr>
          <p:cNvPr id="158" name="Text 156"/>
          <p:cNvSpPr txBox="1"/>
          <p:nvPr/>
        </p:nvSpPr>
        <p:spPr>
          <a:xfrm>
            <a:off x="10533888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−22.6%</a:t>
            </a:r>
            <a:endParaRPr lang="en-US" sz="1200" dirty="0"/>
          </a:p>
        </p:txBody>
      </p:sp>
      <p:sp>
        <p:nvSpPr>
          <p:cNvPr id="159" name="Text 157"/>
          <p:cNvSpPr txBox="1"/>
          <p:nvPr/>
        </p:nvSpPr>
        <p:spPr>
          <a:xfrm>
            <a:off x="6208776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60" name="Text 158"/>
          <p:cNvSpPr txBox="1"/>
          <p:nvPr/>
        </p:nvSpPr>
        <p:spPr>
          <a:xfrm>
            <a:off x="6565392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61" name="Shape 159"/>
          <p:cNvSpPr/>
          <p:nvPr/>
        </p:nvSpPr>
        <p:spPr>
          <a:xfrm>
            <a:off x="9058567" y="4643173"/>
            <a:ext cx="7171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2" name="Text 160"/>
          <p:cNvSpPr txBox="1"/>
          <p:nvPr/>
        </p:nvSpPr>
        <p:spPr>
          <a:xfrm>
            <a:off x="9756648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−$178K</a:t>
            </a:r>
            <a:endParaRPr lang="en-US" sz="1200" dirty="0"/>
          </a:p>
        </p:txBody>
      </p:sp>
      <p:sp>
        <p:nvSpPr>
          <p:cNvPr id="163" name="Text 161"/>
          <p:cNvSpPr txBox="1"/>
          <p:nvPr/>
        </p:nvSpPr>
        <p:spPr>
          <a:xfrm>
            <a:off x="10533888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−8.9%</a:t>
            </a:r>
            <a:endParaRPr lang="en-US" sz="1200" dirty="0"/>
          </a:p>
        </p:txBody>
      </p:sp>
      <p:sp>
        <p:nvSpPr>
          <p:cNvPr id="164" name="Text 162"/>
          <p:cNvSpPr txBox="1"/>
          <p:nvPr/>
        </p:nvSpPr>
        <p:spPr>
          <a:xfrm>
            <a:off x="6208776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6565392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9044670" y="4866932"/>
            <a:ext cx="85614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9756648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−$212K</a:t>
            </a:r>
            <a:endParaRPr lang="en-US" sz="1200" dirty="0"/>
          </a:p>
        </p:txBody>
      </p:sp>
      <p:sp>
        <p:nvSpPr>
          <p:cNvPr id="168" name="Text 166"/>
          <p:cNvSpPr txBox="1"/>
          <p:nvPr/>
        </p:nvSpPr>
        <p:spPr>
          <a:xfrm>
            <a:off x="10533888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−138.2%</a:t>
            </a:r>
            <a:endParaRPr lang="en-US" sz="1200" dirty="0"/>
          </a:p>
        </p:txBody>
      </p:sp>
      <p:sp>
        <p:nvSpPr>
          <p:cNvPr id="169" name="Shape 167"/>
          <p:cNvSpPr/>
          <p:nvPr/>
        </p:nvSpPr>
        <p:spPr>
          <a:xfrm>
            <a:off x="11457432" y="4852237"/>
            <a:ext cx="54864" cy="13231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6208776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565392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9022168" y="5090691"/>
            <a:ext cx="10811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9756648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−$268K</a:t>
            </a:r>
            <a:endParaRPr lang="en-US" sz="1200" dirty="0"/>
          </a:p>
        </p:txBody>
      </p:sp>
      <p:sp>
        <p:nvSpPr>
          <p:cNvPr id="174" name="Text 172"/>
          <p:cNvSpPr txBox="1"/>
          <p:nvPr/>
        </p:nvSpPr>
        <p:spPr>
          <a:xfrm>
            <a:off x="10533888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−27.7%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6208776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76" name="Text 174"/>
          <p:cNvSpPr txBox="1"/>
          <p:nvPr/>
        </p:nvSpPr>
        <p:spPr>
          <a:xfrm>
            <a:off x="6565392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77" name="Shape 175"/>
          <p:cNvSpPr/>
          <p:nvPr/>
        </p:nvSpPr>
        <p:spPr>
          <a:xfrm>
            <a:off x="8945616" y="5314450"/>
            <a:ext cx="184668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9756648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−$457K</a:t>
            </a:r>
            <a:endParaRPr lang="en-US" sz="1200" dirty="0"/>
          </a:p>
        </p:txBody>
      </p:sp>
      <p:sp>
        <p:nvSpPr>
          <p:cNvPr id="179" name="Text 177"/>
          <p:cNvSpPr txBox="1"/>
          <p:nvPr/>
        </p:nvSpPr>
        <p:spPr>
          <a:xfrm>
            <a:off x="10533888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−29.6%</a:t>
            </a:r>
            <a:endParaRPr lang="en-US" sz="1200" dirty="0"/>
          </a:p>
        </p:txBody>
      </p:sp>
      <p:sp>
        <p:nvSpPr>
          <p:cNvPr id="180" name="Shape 178"/>
          <p:cNvSpPr/>
          <p:nvPr/>
        </p:nvSpPr>
        <p:spPr>
          <a:xfrm>
            <a:off x="11457432" y="5299755"/>
            <a:ext cx="54864" cy="13231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1" name="Text 179"/>
          <p:cNvSpPr txBox="1"/>
          <p:nvPr/>
        </p:nvSpPr>
        <p:spPr>
          <a:xfrm>
            <a:off x="6208776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82" name="Text 180"/>
          <p:cNvSpPr txBox="1"/>
          <p:nvPr/>
        </p:nvSpPr>
        <p:spPr>
          <a:xfrm>
            <a:off x="6565392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83" name="Shape 181"/>
          <p:cNvSpPr/>
          <p:nvPr/>
        </p:nvSpPr>
        <p:spPr>
          <a:xfrm>
            <a:off x="8870602" y="5538209"/>
            <a:ext cx="259682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9756648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−$643K</a:t>
            </a:r>
            <a:endParaRPr lang="en-US" sz="1200" dirty="0"/>
          </a:p>
        </p:txBody>
      </p:sp>
      <p:sp>
        <p:nvSpPr>
          <p:cNvPr id="185" name="Text 183"/>
          <p:cNvSpPr txBox="1"/>
          <p:nvPr/>
        </p:nvSpPr>
        <p:spPr>
          <a:xfrm>
            <a:off x="10533888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−22.1%</a:t>
            </a:r>
            <a:endParaRPr lang="en-US" sz="1200" dirty="0"/>
          </a:p>
        </p:txBody>
      </p:sp>
      <p:sp>
        <p:nvSpPr>
          <p:cNvPr id="186" name="Shape 184"/>
          <p:cNvSpPr/>
          <p:nvPr/>
        </p:nvSpPr>
        <p:spPr>
          <a:xfrm>
            <a:off x="3574390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124798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88" name="Shape 186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9" name="Shape 18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to profit: Lincoln −$389K → $94K, Subaru Prescott −$55K → $129K and GMC Prescott −$125K → $20K. Profit to loss: VW St George $153K → −$59K.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2026-10-24T22:49:34Z</dcterms:created>
  <dcterms:modified xsi:type="dcterms:W3CDTF">2026-10-24T22:49:34Z</dcterms:modified>
</cp:coreProperties>
</file>