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33.xml" ContentType="application/vnd.openxmlformats-officedocument.drawingml.chart+xml"/>
  <Override PartName="/ppt/charts/chart13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50.xml" ContentType="application/vnd.openxmlformats-officedocument.presentationml.notesSlide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8.xml" ContentType="application/vnd.openxmlformats-officedocument.presentationml.slide+xml"/>
  <Override PartName="/ppt/slides/slide1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05" r:id="rId156"/>
    <p:sldId id="416" r:id="rId16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56" Type="http://schemas.openxmlformats.org/officeDocument/2006/relationships/slide" Target="slides/slide148.xml"/><Relationship Id="rId167" Type="http://schemas.openxmlformats.org/officeDocument/2006/relationships/slide" Target="slides/slide160.xml"/></Relationships>
</file>

<file path=ppt/charts/_rels/chart1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3.xlsx"/></Relationships>
</file>

<file path=ppt/charts/_rels/chart1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4.xlsx"/></Relationships>
</file>

<file path=ppt/charts/chart1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175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175.2439841962175</c:v>
                </c:pt>
                <c:pt idx="1">
                  <c:v>174.70169012351778</c:v>
                </c:pt>
                <c:pt idx="2">
                  <c:v>172.9285775129414</c:v>
                </c:pt>
                <c:pt idx="3">
                  <c:v>175.61127356278703</c:v>
                </c:pt>
                <c:pt idx="4">
                  <c:v>181.75874394919398</c:v>
                </c:pt>
                <c:pt idx="5">
                  <c:v>185.28735446655506</c:v>
                </c:pt>
                <c:pt idx="6">
                  <c:v>186.84360060500507</c:v>
                </c:pt>
                <c:pt idx="7">
                  <c:v>186.03852485364902</c:v>
                </c:pt>
                <c:pt idx="8">
                  <c:v>186.63443624697075</c:v>
                </c:pt>
                <c:pt idx="9">
                  <c:v>187.82340399621128</c:v>
                </c:pt>
                <c:pt idx="10">
                  <c:v>188.54570456770247</c:v>
                </c:pt>
                <c:pt idx="11">
                  <c:v>193.026339762648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175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196.3431055626689</c:v>
                </c:pt>
                <c:pt idx="1">
                  <c:v>197.59988088885487</c:v>
                </c:pt>
                <c:pt idx="2">
                  <c:v>196.73190202486097</c:v>
                </c:pt>
                <c:pt idx="3">
                  <c:v>199.07347573222432</c:v>
                </c:pt>
                <c:pt idx="4">
                  <c:v>194.27814921582817</c:v>
                </c:pt>
                <c:pt idx="5">
                  <c:v>194.34736290224444</c:v>
                </c:pt>
                <c:pt idx="6">
                  <c:v>198.70298965359143</c:v>
                </c:pt>
                <c:pt idx="7">
                  <c:v>198.475216144318</c:v>
                </c:pt>
                <c:pt idx="8">
                  <c:v>198.64898260681719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  <c:min val="16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175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42.278253053610044</c:v>
                </c:pt>
                <c:pt idx="1">
                  <c:v>42.41544739806332</c:v>
                </c:pt>
                <c:pt idx="2">
                  <c:v>42.65611347315035</c:v>
                </c:pt>
                <c:pt idx="3">
                  <c:v>42.70081646746627</c:v>
                </c:pt>
                <c:pt idx="4">
                  <c:v>41.81256614635749</c:v>
                </c:pt>
                <c:pt idx="5">
                  <c:v>41.719042884608356</c:v>
                </c:pt>
                <c:pt idx="6">
                  <c:v>43.27386273923569</c:v>
                </c:pt>
                <c:pt idx="7">
                  <c:v>43.053208466855786</c:v>
                </c:pt>
                <c:pt idx="8">
                  <c:v>43.188043770686036</c:v>
                </c:pt>
                <c:pt idx="9">
                  <c:v>42.49206866316298</c:v>
                </c:pt>
                <c:pt idx="10">
                  <c:v>42.854394657766704</c:v>
                </c:pt>
                <c:pt idx="11">
                  <c:v>43.14464569316162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175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43.488578069326266</c:v>
                </c:pt>
                <c:pt idx="1">
                  <c:v>44.23461338126831</c:v>
                </c:pt>
                <c:pt idx="2">
                  <c:v>43.95920209770964</c:v>
                </c:pt>
                <c:pt idx="3">
                  <c:v>44.2887708163885</c:v>
                </c:pt>
                <c:pt idx="4">
                  <c:v>44.54479532799166</c:v>
                </c:pt>
                <c:pt idx="5">
                  <c:v>44.549732104003056</c:v>
                </c:pt>
                <c:pt idx="6">
                  <c:v>45.97617480951779</c:v>
                </c:pt>
                <c:pt idx="7">
                  <c:v>45.06618203861053</c:v>
                </c:pt>
                <c:pt idx="8">
                  <c:v>45.636711065820116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38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Rate increases: YTD RWR Financials 2026 (warranty rate submission vendor), "YTD revenue secured" = added gross profit from approved increases (labor $1,661,368, parts $2,126,832); 14 stores have no approval yet. Rates: Qlik - Closed Repair Orders, warranty pay type by close month; ELR = warranty labor sale / hours sold; parts margin = warranty parts gross / parts sale. 2025 January-December, 2026 January-September. Same-store.Talk track (Noah, Oct 24-25): rate increases are new money on every warranty claim, and they show up as a higher warranty ELR and parts margin. The factory notices higher rates too: more money in means more scrutiny, so documentation and process on every claim is how we keep what we are owed.</a:t>
            </a:r>
          </a:p>
          <a:p/>
          <a:p>
            <a:r>
              <a:t>Vendor store names: Findlay Acura = ACURA; Findlay Audi Reno Tahoe = AUDI RENO; Findlay BGMC Prescott = GMC PRESCOTT; Findlay Chevrolet = CHEVY LV; Findlay Chrysler Post Falls = CDJR POST FALLS; Findlay Honda Flagstaff = HONDA FLAGSTAFF; Findlay Honda Henderson = HONDA HENDERSON; Findlay Honda North = HONDA NORTH; Findlay Honda Spokane = HONDA SPOKANE; Findlay Hyundai Prescott = HYUNDAI PRESCOTT; Findlay Kia St George = KIA ST GEORGE; Findlay Lexus Spokane = LEXUS; Findlay Lincoln = LINCOLN; Findlay Mazda = MAZDA; Findlay Nissan Henderson = NISSAN; Findlay Subaru Prescott = SUBARU PRESCOTT; Land Rover Henderson = LR HENDERSON; Land Rover Las Vegas = LR LV; Land Rover Reno = LR RENO.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Labor + parts gross a year, each from its own slide: Technician Proficiency (each tech under 85% raised to 85%, monthly x 12), Hours per RO (0.1 hr x CP ROs at each store's gross per hour), Op Codes (stores under each benchmark brought to it), One More CP RO a Day (307 open days), Tech Minute (ten minutes per tech per day). Jan-Sep 2026, same-store, 33 stores. The levers overlap - op code services are part of hours per RO, and selling more hours needs tech time - so they are not added together.Talk track: every line is the GM's and the service manager's together (Noah, Oct 27). Each line has its own slide earlier in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3.xml"/><Relationship Id="rId3" Type="http://schemas.openxmlformats.org/officeDocument/2006/relationships/chart" Target="../charts/chart134.xml"/><Relationship Id="rId4" Type="http://schemas.openxmlformats.org/officeDocument/2006/relationships/notesSlide" Target="../notesSlides/notesSlide150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Rates Are Rising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257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16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INCREASES IN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280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$3.79M GP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785323"/>
            <a:ext cx="1965960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737360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$798K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955372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003335"/>
            <a:ext cx="1141730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955372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$463K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173384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2221347"/>
            <a:ext cx="84747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2173384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$344K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391397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2439359"/>
            <a:ext cx="80259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2391397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$326K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609409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2657372"/>
            <a:ext cx="719577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2609409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$292K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827421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97480" y="2875384"/>
            <a:ext cx="698703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2827421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$284K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45433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093396"/>
            <a:ext cx="55524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09160" y="3045433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263445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3311408"/>
            <a:ext cx="515601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09160" y="3263445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$209K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481458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97480" y="3529420"/>
            <a:ext cx="359936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09160" y="3481458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699470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97480" y="3747433"/>
            <a:ext cx="329395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09160" y="3699470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$134K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917482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97480" y="3965445"/>
            <a:ext cx="23717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9160" y="3917482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4135494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97480" y="4183457"/>
            <a:ext cx="23312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709160" y="4135494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$95K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4353507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97480" y="4401469"/>
            <a:ext cx="22966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09160" y="4353507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$93K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571519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97480" y="4619481"/>
            <a:ext cx="223401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09160" y="4571519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789531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97480" y="4837494"/>
            <a:ext cx="184669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09160" y="4789531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5007543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97480" y="5055506"/>
            <a:ext cx="151614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09160" y="5007543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$62K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5225555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697480" y="5273518"/>
            <a:ext cx="86983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09160" y="5225555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$35K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5443568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697480" y="5491530"/>
            <a:ext cx="37460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709160" y="5443568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5661580"/>
            <a:ext cx="2011680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697480" y="5709542"/>
            <a:ext cx="18288" cy="122087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09160" y="5661580"/>
            <a:ext cx="804672" cy="21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$5K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870448" y="1207008"/>
            <a:ext cx="5861304" cy="2336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053328" y="1280160"/>
            <a:ext cx="5495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    </a:t>
            </a:r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</a:t>
            </a:r>
            <a:pPr indent="0" marL="0">
              <a:buNone/>
            </a:pPr>
            <a:r>
              <a:rPr lang="en-US" sz="1600" b="1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    </a:t>
            </a:r>
            <a:pPr indent="0" marL="0">
              <a:buNone/>
            </a:pPr>
            <a:r>
              <a:rPr lang="en-US" sz="140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</a:t>
            </a:r>
            <a:pPr indent="0" marL="0">
              <a:buNone/>
            </a:pPr>
            <a:r>
              <a:rPr lang="en-US" sz="16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$197</a:t>
            </a:r>
            <a:endParaRPr lang="en-US" sz="1400" dirty="0"/>
          </a:p>
        </p:txBody>
      </p:sp>
      <p:graphicFrame>
        <p:nvGraphicFramePr>
          <p:cNvPr id="67" name="Chart 0" descr=""/>
          <p:cNvGraphicFramePr/>
          <p:nvPr/>
        </p:nvGraphicFramePr>
        <p:xfrm>
          <a:off x="5916168" y="1591056"/>
          <a:ext cx="5769864" cy="18973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" name="Shape 65"/>
          <p:cNvSpPr/>
          <p:nvPr/>
        </p:nvSpPr>
        <p:spPr>
          <a:xfrm>
            <a:off x="5870448" y="3653028"/>
            <a:ext cx="5861304" cy="2336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6053328" y="3726180"/>
            <a:ext cx="5495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PARTS GP %    </a:t>
            </a:r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</a:t>
            </a:r>
            <a:pPr indent="0" marL="0">
              <a:buNone/>
            </a:pPr>
            <a:r>
              <a:rPr lang="en-US" sz="1600" b="1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42.6%    </a:t>
            </a:r>
            <a:pPr indent="0" marL="0">
              <a:buNone/>
            </a:pPr>
            <a:r>
              <a:rPr lang="en-US" sz="140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</a:t>
            </a:r>
            <a:pPr indent="0" marL="0">
              <a:buNone/>
            </a:pPr>
            <a:r>
              <a:rPr lang="en-US" sz="16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44.7%</a:t>
            </a:r>
            <a:endParaRPr lang="en-US" sz="1400" dirty="0"/>
          </a:p>
        </p:txBody>
      </p:sp>
      <p:graphicFrame>
        <p:nvGraphicFramePr>
          <p:cNvPr id="70" name="Chart 1" descr=""/>
          <p:cNvGraphicFramePr/>
          <p:nvPr/>
        </p:nvGraphicFramePr>
        <p:xfrm>
          <a:off x="5916168" y="4037076"/>
          <a:ext cx="5769864" cy="18973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1" name="Shape 6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that money: higher rates draw more audits, so document every claim to hold up.</a:t>
            </a:r>
            <a:endParaRPr lang="en-US" sz="16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353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55648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755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 under 85% reaches 85%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$19,763,184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75564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it daily: dispatch, parts staging, approvals, coaching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42032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25420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more hours on every CP RO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420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$6,602,564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5420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on every car, the menu, Road to the Sale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28416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328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the four op code benchmarks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28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28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where you are, ask for the sale on every car, every time, hold people accountable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 customer-pay RO a day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114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114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available when they call; proactive outreach to lapsed and inactive customers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901184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4901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minutes a day saved for every tech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$4,443,804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9011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to the bay, tools and keys in place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than one more RO a day, every number here comes from customers already coming in for service.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2026-10-27T23:33:43Z</dcterms:created>
  <dcterms:modified xsi:type="dcterms:W3CDTF">2026-10-27T23:33:43Z</dcterms:modified>
</cp:coreProperties>
</file>