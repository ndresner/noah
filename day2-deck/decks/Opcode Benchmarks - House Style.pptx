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0.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Relationships xmlns="http://schemas.openxmlformats.org/package/2006/relationships"><Relationship Id="rId1" Type="http://schemas.openxmlformats.org/officeDocument/2006/relationships/package" Target="../embeddings/Microsoft_Excel_Worksheet7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0.04668304668304668</c:v>
                </c:pt>
                <c:pt idx="1">
                  <c:v>0.08648648648648649</c:v>
                </c:pt>
                <c:pt idx="2">
                  <c:v>0.05476190476190476</c:v>
                </c:pt>
                <c:pt idx="3">
                  <c:v>0.060133630289532294</c:v>
                </c:pt>
                <c:pt idx="4">
                  <c:v>0.05152224824355972</c:v>
                </c:pt>
                <c:pt idx="5">
                  <c:v>0.06331877729257641</c:v>
                </c:pt>
                <c:pt idx="6">
                  <c:v>0.02968036529680365</c:v>
                </c:pt>
                <c:pt idx="7">
                  <c:v>0.03818615751789976</c:v>
                </c:pt>
                <c:pt idx="8">
                  <c:v>0.03787878787878788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842770981368886"/>
          <c:min val="0.0164398212585158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0.0898876404494382</c:v>
                </c:pt>
                <c:pt idx="1">
                  <c:v>0.046052631578947366</c:v>
                </c:pt>
                <c:pt idx="2">
                  <c:v>0.09340659340659341</c:v>
                </c:pt>
                <c:pt idx="3">
                  <c:v>0.11917098445595854</c:v>
                </c:pt>
                <c:pt idx="4">
                  <c:v>0.14736842105263157</c:v>
                </c:pt>
                <c:pt idx="5">
                  <c:v>0.11428571428571428</c:v>
                </c:pt>
                <c:pt idx="6">
                  <c:v>0.19915254237288135</c:v>
                </c:pt>
                <c:pt idx="7">
                  <c:v>0.2440944881889764</c:v>
                </c:pt>
                <c:pt idx="8">
                  <c:v>0.20982142857142858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53656869446343"/>
          <c:min val="0.02757233994076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0.018575851393188854</c:v>
                </c:pt>
                <c:pt idx="1">
                  <c:v>0.03691275167785235</c:v>
                </c:pt>
                <c:pt idx="2">
                  <c:v>0.04778156996587031</c:v>
                </c:pt>
                <c:pt idx="3">
                  <c:v>0.03303303303303303</c:v>
                </c:pt>
                <c:pt idx="4">
                  <c:v>0.0581039755351682</c:v>
                </c:pt>
                <c:pt idx="5">
                  <c:v>0.1118421052631579</c:v>
                </c:pt>
                <c:pt idx="6">
                  <c:v>0.02040816326530612</c:v>
                </c:pt>
                <c:pt idx="7">
                  <c:v>0.0707395498392283</c:v>
                </c:pt>
                <c:pt idx="8">
                  <c:v>0.05263157894736842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0.05466237942122187</c:v>
                </c:pt>
                <c:pt idx="1">
                  <c:v>0.13149847094801223</c:v>
                </c:pt>
                <c:pt idx="2">
                  <c:v>0.12464589235127478</c:v>
                </c:pt>
                <c:pt idx="3">
                  <c:v>0.14244186046511628</c:v>
                </c:pt>
                <c:pt idx="4">
                  <c:v>0.14935064935064934</c:v>
                </c:pt>
                <c:pt idx="5">
                  <c:v>0.10704225352112676</c:v>
                </c:pt>
                <c:pt idx="6">
                  <c:v>0.10540540540540541</c:v>
                </c:pt>
                <c:pt idx="7">
                  <c:v>0.1256544502617801</c:v>
                </c:pt>
                <c:pt idx="8">
                  <c:v>0.11484593837535013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981263318724617"/>
          <c:min val="0.008113867556592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0.1656441717791411</c:v>
                </c:pt>
                <c:pt idx="1">
                  <c:v>0.16666666666666666</c:v>
                </c:pt>
                <c:pt idx="2">
                  <c:v>0.17557251908396945</c:v>
                </c:pt>
                <c:pt idx="3">
                  <c:v>0.23076923076923078</c:v>
                </c:pt>
                <c:pt idx="4">
                  <c:v>0.18064516129032257</c:v>
                </c:pt>
                <c:pt idx="5">
                  <c:v>0.15606936416184972</c:v>
                </c:pt>
                <c:pt idx="6">
                  <c:v>0.18902439024390244</c:v>
                </c:pt>
                <c:pt idx="7">
                  <c:v>0.14736842105263157</c:v>
                </c:pt>
                <c:pt idx="8">
                  <c:v>0.17687074829931973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0.14857142857142858</c:v>
                </c:pt>
                <c:pt idx="1">
                  <c:v>0.10294117647058823</c:v>
                </c:pt>
                <c:pt idx="2">
                  <c:v>0.1464968152866242</c:v>
                </c:pt>
                <c:pt idx="3">
                  <c:v>0.15337423312883436</c:v>
                </c:pt>
                <c:pt idx="4">
                  <c:v>0.14285714285714285</c:v>
                </c:pt>
                <c:pt idx="5">
                  <c:v>0.11801242236024845</c:v>
                </c:pt>
                <c:pt idx="6">
                  <c:v>0.09826589595375723</c:v>
                </c:pt>
                <c:pt idx="7">
                  <c:v>0.11702127659574468</c:v>
                </c:pt>
                <c:pt idx="8">
                  <c:v>0.1328125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4136949755446865"/>
          <c:min val="0.087665629168519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0.18586387434554974</c:v>
                </c:pt>
                <c:pt idx="1">
                  <c:v>0.2086230876216968</c:v>
                </c:pt>
                <c:pt idx="2">
                  <c:v>0.14350282485875707</c:v>
                </c:pt>
                <c:pt idx="3">
                  <c:v>0.10640870616686819</c:v>
                </c:pt>
                <c:pt idx="4">
                  <c:v>0.11264080100125157</c:v>
                </c:pt>
                <c:pt idx="5">
                  <c:v>0.08375634517766498</c:v>
                </c:pt>
                <c:pt idx="6">
                  <c:v>0.06572164948453608</c:v>
                </c:pt>
                <c:pt idx="7">
                  <c:v>0.11616766467065869</c:v>
                </c:pt>
                <c:pt idx="8">
                  <c:v>0.18479685452162517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0.07551240560949299</c:v>
                </c:pt>
                <c:pt idx="1">
                  <c:v>0.06607369758576874</c:v>
                </c:pt>
                <c:pt idx="2">
                  <c:v>0.06277056277056277</c:v>
                </c:pt>
                <c:pt idx="3">
                  <c:v>0.09216101694915255</c:v>
                </c:pt>
                <c:pt idx="4">
                  <c:v>0.06885245901639345</c:v>
                </c:pt>
                <c:pt idx="5">
                  <c:v>0.11217948717948718</c:v>
                </c:pt>
                <c:pt idx="6">
                  <c:v>0.16770833333333332</c:v>
                </c:pt>
                <c:pt idx="7">
                  <c:v>0.1271282633371169</c:v>
                </c:pt>
                <c:pt idx="8">
                  <c:v>0.10011641443538999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02912896097875"/>
          <c:min val="0.0511023607824720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0.18887530562347188</c:v>
                </c:pt>
                <c:pt idx="1">
                  <c:v>0.1809775429326288</c:v>
                </c:pt>
                <c:pt idx="2">
                  <c:v>0.16234567901234567</c:v>
                </c:pt>
                <c:pt idx="3">
                  <c:v>0.15448968209704406</c:v>
                </c:pt>
                <c:pt idx="4">
                  <c:v>0.15730337078651685</c:v>
                </c:pt>
                <c:pt idx="5">
                  <c:v>0.14933837429111532</c:v>
                </c:pt>
                <c:pt idx="6">
                  <c:v>0.1404526987811956</c:v>
                </c:pt>
                <c:pt idx="7">
                  <c:v>0.1642567958357432</c:v>
                </c:pt>
                <c:pt idx="8">
                  <c:v>0.15218811234487264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0.13295526149968495</c:v>
                </c:pt>
                <c:pt idx="1">
                  <c:v>0.16447823082239116</c:v>
                </c:pt>
                <c:pt idx="2">
                  <c:v>0.14106395696353854</c:v>
                </c:pt>
                <c:pt idx="3">
                  <c:v>0.1444141689373297</c:v>
                </c:pt>
                <c:pt idx="4">
                  <c:v>0.13690476190476192</c:v>
                </c:pt>
                <c:pt idx="5">
                  <c:v>0.13560334528076465</c:v>
                </c:pt>
                <c:pt idx="6">
                  <c:v>0.14783139890042762</c:v>
                </c:pt>
                <c:pt idx="7">
                  <c:v>0.15158636897767333</c:v>
                </c:pt>
                <c:pt idx="8">
                  <c:v>0.15741935483870967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9334890915337483"/>
          <c:min val="0.128481657969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0.21052631578947367</c:v>
                </c:pt>
                <c:pt idx="1">
                  <c:v>0.21052631578947367</c:v>
                </c:pt>
                <c:pt idx="2">
                  <c:v>0.21052631578947367</c:v>
                </c:pt>
                <c:pt idx="3">
                  <c:v>0.21052631578947367</c:v>
                </c:pt>
                <c:pt idx="4">
                  <c:v>0.21052631578947367</c:v>
                </c:pt>
                <c:pt idx="5">
                  <c:v>0.21052631578947367</c:v>
                </c:pt>
                <c:pt idx="6">
                  <c:v>0.21052631578947367</c:v>
                </c:pt>
                <c:pt idx="7">
                  <c:v>0.21052631578947367</c:v>
                </c:pt>
                <c:pt idx="8">
                  <c:v>0.21052631578947367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6835699081533"/>
          <c:min val="0.1673863088448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6835699081533"/>
          <c:min val="0.1673863088448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0.12629757785467127</c:v>
                </c:pt>
                <c:pt idx="1">
                  <c:v>0.12629757785467127</c:v>
                </c:pt>
                <c:pt idx="2">
                  <c:v>0.12629757785467127</c:v>
                </c:pt>
                <c:pt idx="3">
                  <c:v>0.12629757785467127</c:v>
                </c:pt>
                <c:pt idx="4">
                  <c:v>0.12629757785467127</c:v>
                </c:pt>
                <c:pt idx="5">
                  <c:v>0.12629757785467127</c:v>
                </c:pt>
                <c:pt idx="6">
                  <c:v>0.12629757785467127</c:v>
                </c:pt>
                <c:pt idx="7">
                  <c:v>0.12629757785467127</c:v>
                </c:pt>
                <c:pt idx="8">
                  <c:v>0.12629757785467127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336351139972504"/>
          <c:min val="0.058915274946938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336351139972504"/>
          <c:min val="0.058915274946938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0.040637450199203194</c:v>
                </c:pt>
                <c:pt idx="1">
                  <c:v>0.040637450199203194</c:v>
                </c:pt>
                <c:pt idx="2">
                  <c:v>0.040637450199203194</c:v>
                </c:pt>
                <c:pt idx="3">
                  <c:v>0.040637450199203194</c:v>
                </c:pt>
                <c:pt idx="4">
                  <c:v>0.040637450199203194</c:v>
                </c:pt>
                <c:pt idx="5">
                  <c:v>0.040637450199203194</c:v>
                </c:pt>
                <c:pt idx="6">
                  <c:v>0.040637450199203194</c:v>
                </c:pt>
                <c:pt idx="7">
                  <c:v>0.040637450199203194</c:v>
                </c:pt>
                <c:pt idx="8">
                  <c:v>0.040637450199203194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855530809205643"/>
          <c:min val="0.0083786191536748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855530809205643"/>
          <c:min val="0.0083786191536748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0.001976284584980237</c:v>
                </c:pt>
                <c:pt idx="3">
                  <c:v>0</c:v>
                </c:pt>
                <c:pt idx="4">
                  <c:v>0.0017761989342806395</c:v>
                </c:pt>
                <c:pt idx="5">
                  <c:v>0.0018867924528301887</c:v>
                </c:pt>
                <c:pt idx="6">
                  <c:v>0.0037735849056603774</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0.003616636528028933</c:v>
                </c:pt>
                <c:pt idx="1">
                  <c:v>0.24609375</c:v>
                </c:pt>
                <c:pt idx="2">
                  <c:v>0.16339869281045752</c:v>
                </c:pt>
                <c:pt idx="3">
                  <c:v>0.16306156405990016</c:v>
                </c:pt>
                <c:pt idx="4">
                  <c:v>0.1684981684981685</c:v>
                </c:pt>
                <c:pt idx="5">
                  <c:v>0.14188034188034188</c:v>
                </c:pt>
                <c:pt idx="6">
                  <c:v>0.16387959866220736</c:v>
                </c:pt>
                <c:pt idx="7">
                  <c:v>0.13863216266173753</c:v>
                </c:pt>
                <c:pt idx="8">
                  <c:v>0.16337522441651706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578125"/>
          <c:min val="-0.01968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0.018779342723004695</c:v>
                </c:pt>
                <c:pt idx="1">
                  <c:v>0.034229828850855744</c:v>
                </c:pt>
                <c:pt idx="2">
                  <c:v>0.015503875968992248</c:v>
                </c:pt>
                <c:pt idx="3">
                  <c:v>0.07671957671957672</c:v>
                </c:pt>
                <c:pt idx="4">
                  <c:v>0.042328042328042326</c:v>
                </c:pt>
                <c:pt idx="5">
                  <c:v>0.03523035230352303</c:v>
                </c:pt>
                <c:pt idx="6">
                  <c:v>0.044444444444444446</c:v>
                </c:pt>
                <c:pt idx="7">
                  <c:v>0.011267605633802818</c:v>
                </c:pt>
                <c:pt idx="8">
                  <c:v>0.031791907514450865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0.1534090909090909</c:v>
                </c:pt>
                <c:pt idx="1">
                  <c:v>0.15469613259668508</c:v>
                </c:pt>
                <c:pt idx="2">
                  <c:v>0.15178571428571427</c:v>
                </c:pt>
                <c:pt idx="3">
                  <c:v>0.19900497512437812</c:v>
                </c:pt>
                <c:pt idx="4">
                  <c:v>0.23876404494382023</c:v>
                </c:pt>
                <c:pt idx="5">
                  <c:v>0.17194570135746606</c:v>
                </c:pt>
                <c:pt idx="6">
                  <c:v>0.16481069042316257</c:v>
                </c:pt>
                <c:pt idx="7">
                  <c:v>0.16161616161616163</c:v>
                </c:pt>
                <c:pt idx="8">
                  <c:v>0.13466334164588528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69637600886216"/>
          <c:min val="-0.0069321095109985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0.09627329192546584</c:v>
                </c:pt>
                <c:pt idx="1">
                  <c:v>0.0831758034026465</c:v>
                </c:pt>
                <c:pt idx="2">
                  <c:v>0.08681672025723473</c:v>
                </c:pt>
                <c:pt idx="3">
                  <c:v>0.054365733113673806</c:v>
                </c:pt>
                <c:pt idx="4">
                  <c:v>0.06598984771573604</c:v>
                </c:pt>
                <c:pt idx="5">
                  <c:v>0.0515625</c:v>
                </c:pt>
                <c:pt idx="6">
                  <c:v>0.06222222222222222</c:v>
                </c:pt>
                <c:pt idx="7">
                  <c:v>0.03273322422258593</c:v>
                </c:pt>
                <c:pt idx="8">
                  <c:v>0.053156146179401995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38196982265767"/>
          <c:min val="0.0163564483704384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0.03710575139146568</c:v>
                </c:pt>
                <c:pt idx="1">
                  <c:v>0.03435114503816794</c:v>
                </c:pt>
                <c:pt idx="2">
                  <c:v>0.0616822429906542</c:v>
                </c:pt>
                <c:pt idx="3">
                  <c:v>0.06654676258992806</c:v>
                </c:pt>
                <c:pt idx="4">
                  <c:v>0.05400696864111498</c:v>
                </c:pt>
                <c:pt idx="5">
                  <c:v>0.05291005291005291</c:v>
                </c:pt>
                <c:pt idx="6">
                  <c:v>0.06228373702422145</c:v>
                </c:pt>
                <c:pt idx="7">
                  <c:v>0.05982905982905983</c:v>
                </c:pt>
                <c:pt idx="8">
                  <c:v>0.04965753424657534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0.05203252032520325</c:v>
                </c:pt>
                <c:pt idx="1">
                  <c:v>0.04198473282442748</c:v>
                </c:pt>
                <c:pt idx="2">
                  <c:v>0.03130148270181219</c:v>
                </c:pt>
                <c:pt idx="3">
                  <c:v>0.03289473684210526</c:v>
                </c:pt>
                <c:pt idx="4">
                  <c:v>0.026604068857589983</c:v>
                </c:pt>
                <c:pt idx="5">
                  <c:v>0.03453689167974882</c:v>
                </c:pt>
                <c:pt idx="6">
                  <c:v>0.04113924050632911</c:v>
                </c:pt>
                <c:pt idx="7">
                  <c:v>0.0379746835443038</c:v>
                </c:pt>
                <c:pt idx="8">
                  <c:v>0.03490136570561457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97421780885151"/>
          <c:min val="0.0234086533590029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0.05275498241500586</c:v>
                </c:pt>
                <c:pt idx="1">
                  <c:v>0.03636363636363636</c:v>
                </c:pt>
                <c:pt idx="2">
                  <c:v>0.055288461538461536</c:v>
                </c:pt>
                <c:pt idx="3">
                  <c:v>0.04199772985244041</c:v>
                </c:pt>
                <c:pt idx="4">
                  <c:v>0.023837902264600714</c:v>
                </c:pt>
                <c:pt idx="5">
                  <c:v>0.005194805194805195</c:v>
                </c:pt>
                <c:pt idx="6">
                  <c:v>0.007380073800738007</c:v>
                </c:pt>
                <c:pt idx="7">
                  <c:v>0.0011641443538998836</c:v>
                </c:pt>
                <c:pt idx="8">
                  <c:v>0.007633587786259542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0.00902061855670103</c:v>
                </c:pt>
                <c:pt idx="1">
                  <c:v>0.007587253414264037</c:v>
                </c:pt>
                <c:pt idx="2">
                  <c:v>0.007228915662650603</c:v>
                </c:pt>
                <c:pt idx="3">
                  <c:v>0.011673151750972763</c:v>
                </c:pt>
                <c:pt idx="4">
                  <c:v>0.008674101610904586</c:v>
                </c:pt>
                <c:pt idx="5">
                  <c:v>0.02278481012658228</c:v>
                </c:pt>
                <c:pt idx="6">
                  <c:v>0.008674101610904586</c:v>
                </c:pt>
                <c:pt idx="7">
                  <c:v>0.013613861386138614</c:v>
                </c:pt>
                <c:pt idx="8">
                  <c:v>0.005517241379310344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9618406913226465"/>
          <c:min val="-0.00316580102086504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0.10340314136125654</c:v>
                </c:pt>
                <c:pt idx="1">
                  <c:v>0.06815020862308763</c:v>
                </c:pt>
                <c:pt idx="2">
                  <c:v>0.07457627118644068</c:v>
                </c:pt>
                <c:pt idx="3">
                  <c:v>0.06771463119709795</c:v>
                </c:pt>
                <c:pt idx="4">
                  <c:v>0.08135168961201501</c:v>
                </c:pt>
                <c:pt idx="5">
                  <c:v>0.06472081218274112</c:v>
                </c:pt>
                <c:pt idx="6">
                  <c:v>0.028350515463917526</c:v>
                </c:pt>
                <c:pt idx="7">
                  <c:v>0.0562874251497006</c:v>
                </c:pt>
                <c:pt idx="8">
                  <c:v>0.04849279161205767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0.06796116504854369</c:v>
                </c:pt>
                <c:pt idx="1">
                  <c:v>0.06734434561626429</c:v>
                </c:pt>
                <c:pt idx="2">
                  <c:v>0.06818181818181818</c:v>
                </c:pt>
                <c:pt idx="3">
                  <c:v>0.06885593220338983</c:v>
                </c:pt>
                <c:pt idx="4">
                  <c:v>0.02841530054644809</c:v>
                </c:pt>
                <c:pt idx="5">
                  <c:v>0.03739316239316239</c:v>
                </c:pt>
                <c:pt idx="6">
                  <c:v>0.058333333333333334</c:v>
                </c:pt>
                <c:pt idx="7">
                  <c:v>0.039727582292849034</c:v>
                </c:pt>
                <c:pt idx="8">
                  <c:v>0.034924330616996506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940735143304367"/>
          <c:min val="0.0223463053921304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0.10149942329873127</c:v>
                </c:pt>
                <c:pt idx="1">
                  <c:v>0.10149942329873127</c:v>
                </c:pt>
                <c:pt idx="2">
                  <c:v>0.10149942329873127</c:v>
                </c:pt>
                <c:pt idx="3">
                  <c:v>0.10149942329873127</c:v>
                </c:pt>
                <c:pt idx="4">
                  <c:v>0.10149942329873127</c:v>
                </c:pt>
                <c:pt idx="5">
                  <c:v>0.10149942329873127</c:v>
                </c:pt>
                <c:pt idx="6">
                  <c:v>0.10149942329873127</c:v>
                </c:pt>
                <c:pt idx="7">
                  <c:v>0.10149942329873127</c:v>
                </c:pt>
                <c:pt idx="8">
                  <c:v>0.10149942329873127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20092904204389"/>
          <c:min val="0.04079695375329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20092904204389"/>
          <c:min val="0.04079695375329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0.10845295055821372</c:v>
                </c:pt>
                <c:pt idx="1">
                  <c:v>0.10845295055821372</c:v>
                </c:pt>
                <c:pt idx="2">
                  <c:v>0.10845295055821372</c:v>
                </c:pt>
                <c:pt idx="3">
                  <c:v>0.10845295055821372</c:v>
                </c:pt>
                <c:pt idx="4">
                  <c:v>0.10845295055821372</c:v>
                </c:pt>
                <c:pt idx="5">
                  <c:v>0.10845295055821372</c:v>
                </c:pt>
                <c:pt idx="6">
                  <c:v>0.10845295055821372</c:v>
                </c:pt>
                <c:pt idx="7">
                  <c:v>0.10845295055821372</c:v>
                </c:pt>
                <c:pt idx="8">
                  <c:v>0.10845295055821372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154373927958834"/>
          <c:min val="0.084917095483133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154373927958834"/>
          <c:min val="0.084917095483133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0.007407407407407408</c:v>
                </c:pt>
                <c:pt idx="1">
                  <c:v>0.007407407407407408</c:v>
                </c:pt>
                <c:pt idx="2">
                  <c:v>0.007407407407407408</c:v>
                </c:pt>
                <c:pt idx="3">
                  <c:v>0.007407407407407408</c:v>
                </c:pt>
                <c:pt idx="4">
                  <c:v>0.007407407407407408</c:v>
                </c:pt>
                <c:pt idx="5">
                  <c:v>0.007407407407407408</c:v>
                </c:pt>
                <c:pt idx="6">
                  <c:v>0.007407407407407408</c:v>
                </c:pt>
                <c:pt idx="7">
                  <c:v>0.007407407407407408</c:v>
                </c:pt>
                <c:pt idx="8">
                  <c:v>0.007407407407407408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502648780376705"/>
          <c:min val="-0.0027819709841255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502648780376705"/>
          <c:min val="-0.0027819709841255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0.02813599062133646</c:v>
                </c:pt>
                <c:pt idx="1">
                  <c:v>0.02987012987012987</c:v>
                </c:pt>
                <c:pt idx="2">
                  <c:v>0.042067307692307696</c:v>
                </c:pt>
                <c:pt idx="3">
                  <c:v>0.032917139614074914</c:v>
                </c:pt>
                <c:pt idx="4">
                  <c:v>0.03456495828367104</c:v>
                </c:pt>
                <c:pt idx="5">
                  <c:v>0.02987012987012987</c:v>
                </c:pt>
                <c:pt idx="6">
                  <c:v>0.03198031980319803</c:v>
                </c:pt>
                <c:pt idx="7">
                  <c:v>0.051222351571594875</c:v>
                </c:pt>
                <c:pt idx="8">
                  <c:v>0.05979643765903308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0.10051546391752578</c:v>
                </c:pt>
                <c:pt idx="1">
                  <c:v>0.1411229135053111</c:v>
                </c:pt>
                <c:pt idx="2">
                  <c:v>0.12771084337349398</c:v>
                </c:pt>
                <c:pt idx="3">
                  <c:v>0.10635538261997406</c:v>
                </c:pt>
                <c:pt idx="4">
                  <c:v>0.12639405204460966</c:v>
                </c:pt>
                <c:pt idx="5">
                  <c:v>0.14556962025316456</c:v>
                </c:pt>
                <c:pt idx="6">
                  <c:v>0.10408921933085502</c:v>
                </c:pt>
                <c:pt idx="7">
                  <c:v>0.09158415841584158</c:v>
                </c:pt>
                <c:pt idx="8">
                  <c:v>0.10758620689655173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49643106237108"/>
          <c:min val="0.01874130025079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0.14788732394366197</c:v>
                </c:pt>
                <c:pt idx="1">
                  <c:v>0.17114914425427874</c:v>
                </c:pt>
                <c:pt idx="2">
                  <c:v>0.17571059431524547</c:v>
                </c:pt>
                <c:pt idx="3">
                  <c:v>0.12962962962962962</c:v>
                </c:pt>
                <c:pt idx="4">
                  <c:v>0.15079365079365079</c:v>
                </c:pt>
                <c:pt idx="5">
                  <c:v>0.16531165311653118</c:v>
                </c:pt>
                <c:pt idx="6">
                  <c:v>0.15</c:v>
                </c:pt>
                <c:pt idx="7">
                  <c:v>0.16338028169014085</c:v>
                </c:pt>
                <c:pt idx="8">
                  <c:v>0.1069364161849711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0.20454545454545456</c:v>
                </c:pt>
                <c:pt idx="1">
                  <c:v>0.1878453038674033</c:v>
                </c:pt>
                <c:pt idx="2">
                  <c:v>0.19642857142857142</c:v>
                </c:pt>
                <c:pt idx="3">
                  <c:v>0.2462686567164179</c:v>
                </c:pt>
                <c:pt idx="4">
                  <c:v>0.22752808988764045</c:v>
                </c:pt>
                <c:pt idx="5">
                  <c:v>0.2149321266968326</c:v>
                </c:pt>
                <c:pt idx="6">
                  <c:v>0.18485523385300667</c:v>
                </c:pt>
                <c:pt idx="7">
                  <c:v>0.20202020202020202</c:v>
                </c:pt>
                <c:pt idx="8">
                  <c:v>0.19451371571072318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74152359589336"/>
          <c:min val="0.095789836942455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0.1111111111111111</c:v>
                </c:pt>
                <c:pt idx="1">
                  <c:v>0.07386363636363637</c:v>
                </c:pt>
                <c:pt idx="2">
                  <c:v>0.09883720930232558</c:v>
                </c:pt>
                <c:pt idx="3">
                  <c:v>0.08620689655172414</c:v>
                </c:pt>
                <c:pt idx="4">
                  <c:v>0.09146341463414634</c:v>
                </c:pt>
                <c:pt idx="5">
                  <c:v>0.06493506493506493</c:v>
                </c:pt>
                <c:pt idx="6">
                  <c:v>0.04516129032258064</c:v>
                </c:pt>
                <c:pt idx="7">
                  <c:v>0.1111111111111111</c:v>
                </c:pt>
                <c:pt idx="8">
                  <c:v>0.11875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0.09815950920245399</c:v>
                </c:pt>
                <c:pt idx="1">
                  <c:v>0.13496932515337423</c:v>
                </c:pt>
                <c:pt idx="2">
                  <c:v>0.16770186335403728</c:v>
                </c:pt>
                <c:pt idx="3">
                  <c:v>0.12857142857142856</c:v>
                </c:pt>
                <c:pt idx="4">
                  <c:v>0.13333333333333333</c:v>
                </c:pt>
                <c:pt idx="5">
                  <c:v>0.16374269005847952</c:v>
                </c:pt>
                <c:pt idx="6">
                  <c:v>0.13333333333333333</c:v>
                </c:pt>
                <c:pt idx="7">
                  <c:v>0.18333333333333332</c:v>
                </c:pt>
                <c:pt idx="8">
                  <c:v>0.14457831325301204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9438709677419352"/>
          <c:min val="0.034107526881720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0.049069373942470386</c:v>
                </c:pt>
                <c:pt idx="1">
                  <c:v>0.05736137667304015</c:v>
                </c:pt>
                <c:pt idx="2">
                  <c:v>0.06491499227202473</c:v>
                </c:pt>
                <c:pt idx="3">
                  <c:v>0.07281553398058252</c:v>
                </c:pt>
                <c:pt idx="4">
                  <c:v>0.05143721633888049</c:v>
                </c:pt>
                <c:pt idx="5">
                  <c:v>0.06129032258064516</c:v>
                </c:pt>
                <c:pt idx="6">
                  <c:v>0.06921944035346098</c:v>
                </c:pt>
                <c:pt idx="7">
                  <c:v>0.05465288035450517</c:v>
                </c:pt>
                <c:pt idx="8">
                  <c:v>0.05815831987075929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0.04938271604938271</c:v>
                </c:pt>
                <c:pt idx="1">
                  <c:v>0.04678362573099415</c:v>
                </c:pt>
                <c:pt idx="2">
                  <c:v>0.04727272727272727</c:v>
                </c:pt>
                <c:pt idx="3">
                  <c:v>0.03339517625231911</c:v>
                </c:pt>
                <c:pt idx="4">
                  <c:v>0.04275092936802974</c:v>
                </c:pt>
                <c:pt idx="5">
                  <c:v>0.04160246533127889</c:v>
                </c:pt>
                <c:pt idx="6">
                  <c:v>0.030726256983240222</c:v>
                </c:pt>
                <c:pt idx="7">
                  <c:v>0.03619909502262444</c:v>
                </c:pt>
                <c:pt idx="8">
                  <c:v>0.056179775280898875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61826761403699"/>
          <c:min val="0.0273591148234528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0.11815754339118825</c:v>
                </c:pt>
                <c:pt idx="1">
                  <c:v>0.1358515573227303</c:v>
                </c:pt>
                <c:pt idx="2">
                  <c:v>0.1411901983663944</c:v>
                </c:pt>
                <c:pt idx="3">
                  <c:v>0.14045991298943444</c:v>
                </c:pt>
                <c:pt idx="4">
                  <c:v>0.12407932011331445</c:v>
                </c:pt>
                <c:pt idx="5">
                  <c:v>0.13613159387407828</c:v>
                </c:pt>
                <c:pt idx="6">
                  <c:v>0.13336904124263524</c:v>
                </c:pt>
                <c:pt idx="7">
                  <c:v>0.13967723984418476</c:v>
                </c:pt>
                <c:pt idx="8">
                  <c:v>0.10747663551401869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0.12626903553299493</c:v>
                </c:pt>
                <c:pt idx="1">
                  <c:v>0.10968178740690589</c:v>
                </c:pt>
                <c:pt idx="2">
                  <c:v>0.1213979153893317</c:v>
                </c:pt>
                <c:pt idx="3">
                  <c:v>0.1341614906832298</c:v>
                </c:pt>
                <c:pt idx="4">
                  <c:v>0.1276595744680851</c:v>
                </c:pt>
                <c:pt idx="5">
                  <c:v>0.12945914844649023</c:v>
                </c:pt>
                <c:pt idx="6">
                  <c:v>0.1073708647707487</c:v>
                </c:pt>
                <c:pt idx="7">
                  <c:v>0.11733333333333333</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389574505404606"/>
          <c:min val="0.104665318083097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0.12430426716141002</c:v>
                </c:pt>
                <c:pt idx="1">
                  <c:v>0.10877862595419847</c:v>
                </c:pt>
                <c:pt idx="2">
                  <c:v>0.10654205607476636</c:v>
                </c:pt>
                <c:pt idx="3">
                  <c:v>0.1079136690647482</c:v>
                </c:pt>
                <c:pt idx="4">
                  <c:v>0.12020905923344948</c:v>
                </c:pt>
                <c:pt idx="5">
                  <c:v>0.09700176366843033</c:v>
                </c:pt>
                <c:pt idx="6">
                  <c:v>0.10899653979238755</c:v>
                </c:pt>
                <c:pt idx="7">
                  <c:v>0.11282051282051282</c:v>
                </c:pt>
                <c:pt idx="8">
                  <c:v>0.10616438356164383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0.11544715447154472</c:v>
                </c:pt>
                <c:pt idx="1">
                  <c:v>0.10877862595419847</c:v>
                </c:pt>
                <c:pt idx="2">
                  <c:v>0.10543657331136738</c:v>
                </c:pt>
                <c:pt idx="3">
                  <c:v>0.1069078947368421</c:v>
                </c:pt>
                <c:pt idx="4">
                  <c:v>0.11424100156494522</c:v>
                </c:pt>
                <c:pt idx="5">
                  <c:v>0.11459968602825746</c:v>
                </c:pt>
                <c:pt idx="6">
                  <c:v>0.11234177215189874</c:v>
                </c:pt>
                <c:pt idx="7">
                  <c:v>0.09177215189873418</c:v>
                </c:pt>
                <c:pt idx="8">
                  <c:v>0.09863429438543247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69068363824241"/>
          <c:min val="0.089169582677720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0.05190311418685121</c:v>
                </c:pt>
                <c:pt idx="1">
                  <c:v>0.05190311418685121</c:v>
                </c:pt>
                <c:pt idx="2">
                  <c:v>0.05190311418685121</c:v>
                </c:pt>
                <c:pt idx="3">
                  <c:v>0.05190311418685121</c:v>
                </c:pt>
                <c:pt idx="4">
                  <c:v>0.05190311418685121</c:v>
                </c:pt>
                <c:pt idx="5">
                  <c:v>0.05190311418685121</c:v>
                </c:pt>
                <c:pt idx="6">
                  <c:v>0.05190311418685121</c:v>
                </c:pt>
                <c:pt idx="7">
                  <c:v>0.05190311418685121</c:v>
                </c:pt>
                <c:pt idx="8">
                  <c:v>0.05190311418685121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01924444233776"/>
          <c:min val="0.031492102615959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01924444233776"/>
          <c:min val="0.031492102615959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0.005249343832020997</c:v>
                </c:pt>
                <c:pt idx="1">
                  <c:v>0.005249343832020997</c:v>
                </c:pt>
                <c:pt idx="2">
                  <c:v>0.005249343832020997</c:v>
                </c:pt>
                <c:pt idx="3">
                  <c:v>0.005249343832020997</c:v>
                </c:pt>
                <c:pt idx="4">
                  <c:v>0.005249343832020997</c:v>
                </c:pt>
                <c:pt idx="5">
                  <c:v>0.005249343832020997</c:v>
                </c:pt>
                <c:pt idx="6">
                  <c:v>0.005249343832020997</c:v>
                </c:pt>
                <c:pt idx="7">
                  <c:v>0.005249343832020997</c:v>
                </c:pt>
                <c:pt idx="8">
                  <c:v>0.005249343832020997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1482758620689655"/>
          <c:min val="-0.008505747126436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1482758620689655"/>
          <c:min val="-0.008505747126436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0.03904382470119523</c:v>
                </c:pt>
                <c:pt idx="1">
                  <c:v>0.03904382470119523</c:v>
                </c:pt>
                <c:pt idx="2">
                  <c:v>0.03904382470119523</c:v>
                </c:pt>
                <c:pt idx="3">
                  <c:v>0.03904382470119523</c:v>
                </c:pt>
                <c:pt idx="4">
                  <c:v>0.03904382470119523</c:v>
                </c:pt>
                <c:pt idx="5">
                  <c:v>0.03904382470119523</c:v>
                </c:pt>
                <c:pt idx="6">
                  <c:v>0.03904382470119523</c:v>
                </c:pt>
                <c:pt idx="7">
                  <c:v>0.03904382470119523</c:v>
                </c:pt>
                <c:pt idx="8">
                  <c:v>0.03904382470119523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114179658500371"/>
          <c:min val="0.0290512249443207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114179658500371"/>
          <c:min val="0.0290512249443207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c:v>
                </c:pt>
                <c:pt idx="3">
                  <c:v>0</c:v>
                </c:pt>
                <c:pt idx="4">
                  <c:v>0</c:v>
                </c:pt>
                <c:pt idx="5">
                  <c:v>0</c:v>
                </c:pt>
                <c:pt idx="6">
                  <c:v>0</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0.1967479674796748</c:v>
                </c:pt>
                <c:pt idx="1">
                  <c:v>0.15839694656488548</c:v>
                </c:pt>
                <c:pt idx="2">
                  <c:v>0.17627677100494235</c:v>
                </c:pt>
                <c:pt idx="3">
                  <c:v>0.16282894736842105</c:v>
                </c:pt>
                <c:pt idx="4">
                  <c:v>0.1486697965571205</c:v>
                </c:pt>
                <c:pt idx="5">
                  <c:v>0.09733124018838304</c:v>
                </c:pt>
                <c:pt idx="6">
                  <c:v>0.12183544303797468</c:v>
                </c:pt>
                <c:pt idx="7">
                  <c:v>0.11075949367088607</c:v>
                </c:pt>
                <c:pt idx="8">
                  <c:v>0.0834597875569044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48780487804877"/>
          <c:min val="-0.0157398373983739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0.022222222222222223</c:v>
                </c:pt>
                <c:pt idx="1">
                  <c:v>0.03383458646616541</c:v>
                </c:pt>
                <c:pt idx="2">
                  <c:v>0.01048951048951049</c:v>
                </c:pt>
                <c:pt idx="3">
                  <c:v>0.003105590062111801</c:v>
                </c:pt>
                <c:pt idx="4">
                  <c:v>0.006802721088435374</c:v>
                </c:pt>
                <c:pt idx="5">
                  <c:v>0.041044776119402986</c:v>
                </c:pt>
                <c:pt idx="6">
                  <c:v>0.04421768707482993</c:v>
                </c:pt>
                <c:pt idx="7">
                  <c:v>0.026615969581749048</c:v>
                </c:pt>
                <c:pt idx="8">
                  <c:v>0.004366812227074236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2152751925074"/>
          <c:min val="-0.00623586809569528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0.0024449877750611247</c:v>
                </c:pt>
                <c:pt idx="2">
                  <c:v>0.002583979328165375</c:v>
                </c:pt>
                <c:pt idx="3">
                  <c:v>0.005291005291005291</c:v>
                </c:pt>
                <c:pt idx="4">
                  <c:v>0.0026455026455026454</c:v>
                </c:pt>
                <c:pt idx="5">
                  <c:v>0</c:v>
                </c:pt>
                <c:pt idx="6">
                  <c:v>0.002777777777777778</c:v>
                </c:pt>
                <c:pt idx="7">
                  <c:v>0.005633802816901409</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0.03125</c:v>
                </c:pt>
                <c:pt idx="1">
                  <c:v>0.03591160220994475</c:v>
                </c:pt>
                <c:pt idx="2">
                  <c:v>0.08333333333333333</c:v>
                </c:pt>
                <c:pt idx="3">
                  <c:v>0.05472636815920398</c:v>
                </c:pt>
                <c:pt idx="4">
                  <c:v>0.08146067415730338</c:v>
                </c:pt>
                <c:pt idx="5">
                  <c:v>0.04751131221719457</c:v>
                </c:pt>
                <c:pt idx="6">
                  <c:v>0.06904231625835189</c:v>
                </c:pt>
                <c:pt idx="7">
                  <c:v>0.06313131313131314</c:v>
                </c:pt>
                <c:pt idx="8">
                  <c:v>0.032418952618453865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
          <c:min val="-0.0066666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0.10574572127139364</c:v>
                </c:pt>
                <c:pt idx="1">
                  <c:v>0.09709379128137384</c:v>
                </c:pt>
                <c:pt idx="2">
                  <c:v>0.08765432098765433</c:v>
                </c:pt>
                <c:pt idx="3">
                  <c:v>0.08421639709983268</c:v>
                </c:pt>
                <c:pt idx="4">
                  <c:v>0.0833826138379657</c:v>
                </c:pt>
                <c:pt idx="5">
                  <c:v>0.08191556395715185</c:v>
                </c:pt>
                <c:pt idx="6">
                  <c:v>0.05861868833430064</c:v>
                </c:pt>
                <c:pt idx="7">
                  <c:v>0.07576633892423366</c:v>
                </c:pt>
                <c:pt idx="8">
                  <c:v>0.06792945787067277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0.06868304977945809</c:v>
                </c:pt>
                <c:pt idx="1">
                  <c:v>0.06565307532826538</c:v>
                </c:pt>
                <c:pt idx="2">
                  <c:v>0.06634787806335923</c:v>
                </c:pt>
                <c:pt idx="3">
                  <c:v>0.07220708446866485</c:v>
                </c:pt>
                <c:pt idx="4">
                  <c:v>0.06746031746031746</c:v>
                </c:pt>
                <c:pt idx="5">
                  <c:v>0.07108721624850657</c:v>
                </c:pt>
                <c:pt idx="6">
                  <c:v>0.07758094074526573</c:v>
                </c:pt>
                <c:pt idx="7">
                  <c:v>0.08049353701527615</c:v>
                </c:pt>
                <c:pt idx="8">
                  <c:v>0.06709677419354838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951588390636109"/>
          <c:min val="0.0548485256993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0.04060913705583756</c:v>
                </c:pt>
                <c:pt idx="1">
                  <c:v>0.04397705544933078</c:v>
                </c:pt>
                <c:pt idx="2">
                  <c:v>0.06027820710973725</c:v>
                </c:pt>
                <c:pt idx="3">
                  <c:v>0.05016181229773463</c:v>
                </c:pt>
                <c:pt idx="4">
                  <c:v>0.03479576399394856</c:v>
                </c:pt>
                <c:pt idx="5">
                  <c:v>0.041935483870967745</c:v>
                </c:pt>
                <c:pt idx="6">
                  <c:v>0.023564064801178203</c:v>
                </c:pt>
                <c:pt idx="7">
                  <c:v>0.028064992614475627</c:v>
                </c:pt>
                <c:pt idx="8">
                  <c:v>0.035541195476575124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0.02821869488536155</c:v>
                </c:pt>
                <c:pt idx="1">
                  <c:v>0.017543859649122806</c:v>
                </c:pt>
                <c:pt idx="2">
                  <c:v>0.03636363636363636</c:v>
                </c:pt>
                <c:pt idx="3">
                  <c:v>0.027829313543599257</c:v>
                </c:pt>
                <c:pt idx="4">
                  <c:v>0.02973977695167286</c:v>
                </c:pt>
                <c:pt idx="5">
                  <c:v>0.026194144838212634</c:v>
                </c:pt>
                <c:pt idx="6">
                  <c:v>0.030726256983240222</c:v>
                </c:pt>
                <c:pt idx="7">
                  <c:v>0.030165912518853696</c:v>
                </c:pt>
                <c:pt idx="8">
                  <c:v>0.04173354735152488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36969549065864"/>
          <c:min val="0.014125111852273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0.07032590051457976</c:v>
                </c:pt>
                <c:pt idx="1">
                  <c:v>0.0689869484151647</c:v>
                </c:pt>
                <c:pt idx="2">
                  <c:v>0.06353443673251469</c:v>
                </c:pt>
                <c:pt idx="3">
                  <c:v>0.054153522607781286</c:v>
                </c:pt>
                <c:pt idx="4">
                  <c:v>0.064259160913436</c:v>
                </c:pt>
                <c:pt idx="5">
                  <c:v>0.05628415300546448</c:v>
                </c:pt>
                <c:pt idx="6">
                  <c:v>0.05860612460401267</c:v>
                </c:pt>
                <c:pt idx="7">
                  <c:v>0.050112612612612614</c:v>
                </c:pt>
                <c:pt idx="8">
                  <c:v>0.05993520518358531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0.04591836734693878</c:v>
                </c:pt>
                <c:pt idx="1">
                  <c:v>0.06164789567279194</c:v>
                </c:pt>
                <c:pt idx="2">
                  <c:v>0.07105538140020899</c:v>
                </c:pt>
                <c:pt idx="3">
                  <c:v>0.056878949927078266</c:v>
                </c:pt>
                <c:pt idx="4">
                  <c:v>0.062402496099843996</c:v>
                </c:pt>
                <c:pt idx="5">
                  <c:v>0.06420233463035019</c:v>
                </c:pt>
                <c:pt idx="6">
                  <c:v>0.06300715990453461</c:v>
                </c:pt>
                <c:pt idx="7">
                  <c:v>0.044633368756641874</c:v>
                </c:pt>
                <c:pt idx="8">
                  <c:v>0.053553553553553554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316914241169437"/>
          <c:min val="0.0425196077451565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0.025374855824682813</c:v>
                </c:pt>
                <c:pt idx="1">
                  <c:v>0.025374855824682813</c:v>
                </c:pt>
                <c:pt idx="2">
                  <c:v>0.025374855824682813</c:v>
                </c:pt>
                <c:pt idx="3">
                  <c:v>0.025374855824682813</c:v>
                </c:pt>
                <c:pt idx="4">
                  <c:v>0.025374855824682813</c:v>
                </c:pt>
                <c:pt idx="5">
                  <c:v>0.025374855824682813</c:v>
                </c:pt>
                <c:pt idx="6">
                  <c:v>0.025374855824682813</c:v>
                </c:pt>
                <c:pt idx="7">
                  <c:v>0.025374855824682813</c:v>
                </c:pt>
                <c:pt idx="8">
                  <c:v>0.025374855824682813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8570231661849"/>
          <c:min val="-0.001887925376677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8570231661849"/>
          <c:min val="-0.001887925376677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0.0415929203539823</c:v>
                </c:pt>
                <c:pt idx="1">
                  <c:v>0.0415929203539823</c:v>
                </c:pt>
                <c:pt idx="2">
                  <c:v>0.0415929203539823</c:v>
                </c:pt>
                <c:pt idx="3">
                  <c:v>0.0415929203539823</c:v>
                </c:pt>
                <c:pt idx="4">
                  <c:v>0.0415929203539823</c:v>
                </c:pt>
                <c:pt idx="5">
                  <c:v>0.0415929203539823</c:v>
                </c:pt>
                <c:pt idx="6">
                  <c:v>0.0415929203539823</c:v>
                </c:pt>
                <c:pt idx="7">
                  <c:v>0.0415929203539823</c:v>
                </c:pt>
                <c:pt idx="8">
                  <c:v>0.0415929203539823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434037692747002"/>
          <c:min val="0.0272872644203312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434037692747002"/>
          <c:min val="0.0272872644203312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0.01199294532627866</c:v>
                </c:pt>
                <c:pt idx="1">
                  <c:v>0.01199294532627866</c:v>
                </c:pt>
                <c:pt idx="2">
                  <c:v>0.01199294532627866</c:v>
                </c:pt>
                <c:pt idx="3">
                  <c:v>0.01199294532627866</c:v>
                </c:pt>
                <c:pt idx="4">
                  <c:v>0.01199294532627866</c:v>
                </c:pt>
                <c:pt idx="5">
                  <c:v>0.01199294532627866</c:v>
                </c:pt>
                <c:pt idx="6">
                  <c:v>0.01199294532627866</c:v>
                </c:pt>
                <c:pt idx="7">
                  <c:v>0.01199294532627866</c:v>
                </c:pt>
                <c:pt idx="8">
                  <c:v>0.01199294532627866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29244357212954"/>
          <c:min val="-0.0043179587831207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29244357212954"/>
          <c:min val="-0.0043179587831207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ALIGNMENT % = alignment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8 of 33 stores at or above 15%, led by Audi Henderson at 27.5%. The group sits at 13.2%.Source: Qlik - Closed Repair Orders. Customer pay, Jan-Sep by close month. Same-store, INEOS excluded (opened 2026). GMC Prescott body shop labor excluded. Jan-Sep 2026 YTD; green at or above the 15% benchmark, red below.
AUDI HENDERSON: 27.5% (2025 21.8%)
LR HENDERSON: 24.4% (2025 19.4%)
HYUNDAI PRESCOTT: 21.7% (2025 14.9%)
HONDA HENDERSON: 21.3% (2025 20.7%)
ACURA: 17.5% (2025 14.1%)
LR LV: 17.3% (2025 11.4%)
MAZDA: 16.6% (2025 9.9%)
HONDA NORTH: 16.1% (2025 14.9%)
HYUNDAI ST GEORGE: 14.8% (2025 5.1%)
SUBARU LV: 14.5% (2025 16.0%)
TOYOTA HENDERSON: 14.5% (2025 15.0%)
CADILLAC: 13.8% (2025 9.7%)
VOLVO: 13.8% (2025 13.4%)
VW HENDERSON: 13.6% (2025 13.4%)
LR RENO: 12.8% (2025 17.7%)
CHEVY LV: 12.8% (2025 13.3%)
SUBARU PRESCOTT: 12.5% (2025 7.0%)
HONDA SPOKANE: 12.5% (2025 10.7%)
TOYOTA PRESCOTT: 12.3% (2025 9.4%)
AUDI RENO: 11.8% (2025 11.7%)
GMC PRESCOTT: 11.7% (2025 4.9%)
LEXUS: 11.3% (2025 8.2%)
CHEVY GMC BULLHEAD: 11.1% (2025 11.1%)
HONDA FLAGSTAFF: 11.0% (2025 5.5%)
SUBARU ST GEORGE: 11.0% (2025 11.9%)
KIA LV: 9.7% (2025 13.3%)
TOYOTA FLAGSTAFF: 9.7% (2025 6.3%)
LINCOLN: 8.4% (2025 2.7%)
KIA ST GEORGE: 8.0% (2025 2.4%)
NISSAN: 7.4% (2025 5.2%)
VW ST GEORGE: 5.6% (2025 3.9%)
TOYOTA SPOKANE: 4.2% (2025 2.6%)
CDJR POST FALLS: 4.2% (2025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St George, Hyundai Prescott and GMC Prescott what changed. Ask LR Reno, Kia LV and Subaru LV what got in the way. Ask Audi Henderson, Mazda and Kia St George what they started this year.Source: Qlik - Closed Repair Orders. Customer pay, Jan-Sep by close month. Same-store, INEOS excluded (opened 2026). GMC Prescott body shop labor excluded. Top and bottom three stores by change in Alignment %, Jan-Sep 2026 vs 2025, in points. Moving now: Jul-Sep 2026 vs Jan-Mar 2026, each store against itself; the group moved +0.2 pts on the same basis, so part of every store's change is seasonal. Green bar at the right of a row: the store is on both the top three vs last year and the top three moving now. Blue bar: a turnaround, on the bottom three vs last year and the top three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BALANCE % = balance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4 of 33 stores at or above 15%, led by LR Henderson at 27.0%. The group sits at 8.3%.Source: Qlik - Closed Repair Orders. Customer pay, Jan-Sep by close month. Same-store, INEOS excluded (opened 2026). GMC Prescott body shop labor excluded. Jan-Sep 2026 YTD; green at or above the 15% benchmark, red below.
LR HENDERSON: 27.0% (2025 22.8%)
HONDA HENDERSON: 18.4% (2025 17.6%)
LR LV: 16.9% (2025 3.4%)
LR RENO: 16.9% (2025 16.3%)
SUBARU PRESCOTT: 14.9% (2025 0.1%)
ACURA: 14.1% (2025 10.2%)
HYUNDAI PRESCOTT: 13.5% (2025 8.8%)
MAZDA: 13.1% (2025 6.5%)
HONDA NORTH: 12.0% (2025 11.3%)
VOLVO: 11.7% (2025 10.9%)
TOYOTA HENDERSON: 11.2% (2025 11.7%)
SUBARU LV: 10.2% (2025 11.3%)
CHEVY GMC BULLHEAD: 9.0% (2025 6.5%)
VW HENDERSON: 8.2% (2025 7.0%)
GMC PRESCOTT: 7.7% (2025 2.0%)
KIA ST GEORGE: 7.7% (2025 1.1%)
CHEVY LV: 7.3% (2025 4.2%)
TOYOTA PRESCOTT: 6.1% (2025 3.3%)
CADILLAC: 5.9% (2025 2.6%)
KIA LV: 5.2% (2025 6.5%)
TOYOTA FLAGSTAFF: 4.9% (2025 3.6%)
SUBARU ST GEORGE: 3.6% (2025 5.3%)
HONDA SPOKANE: 2.1% (2025 0.1%)
LINCOLN: 1.6% (2025 0.0%)
HONDA FLAGSTAFF: 1.3% (2025 0.1%)
CDJR POST FALLS: 1.2% (2025 0.2%)
HYUNDAI ST GEORGE: 1.2% (2025 0.4%)
NISSAN: 1.0% (2025 2.6%)
TOYOTA SPOKANE: 0.4% (2025 0.2%)
VW ST GEORGE: 0.4% (2025 0.7%)
AUDI RENO: 0.1% (2025 0.1%)
LEXUS: 0.0% (2025 0.0%)
AUDI HENDERSON: 0.0% (2025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Subaru Prescott, LR LV and Mazda what changed. Ask Subaru St George, Nissan and Kia LV what got in the way. Ask Mazda, Hyundai Prescott and Honda Spokane what they started this year.Source: Qlik - Closed Repair Orders. Customer pay, Jan-Sep by close month. Same-store, INEOS excluded (opened 2026). GMC Prescott body shop labor excluded. Top and bottom three stores by change in Balance %, Jan-Sep 2026 vs 2025, in points. Not ranked: Audi Henderson, Audi Reno (the manufacturer doesn't call for balance); ranks out of 31. Moving now: Jul-Sep 2026 vs Jan-Mar 2026, each store against itself; the group moved +0.1 pts on the same basis, so part of every store's change is seasonal. Green bar at the right of a row: the store is on both the top three vs last year and the top three moving now. Blue bar: a turnaround, on the bottom three vs last year and the top three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BRAKE FLUID % = brake fluid service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12 of 33 stores at or above 10%, led by LR LV at 20.6%. The group sits at 9.2%.Source: Qlik - Closed Repair Orders. Customer pay, Jan-Sep by close month. Same-store, INEOS excluded (opened 2026). GMC Prescott body shop labor excluded. Jan-Sep 2026 YTD; green at or above the 10% benchmark, red below.
LR LV: 20.6% (2025 15.1%)
HONDA HENDERSON: 15.5% (2025 12.9%)
LR HENDERSON: 14.3% (2025 9.0%)
ACURA: 12.7% (2025 8.5%)
HONDA NORTH: 12.1% (2025 13.1%)
VOLVO: 11.9% (2025 12.0%)
NISSAN: 11.6% (2025 3.7%)
SUBARU ST GEORGE: 10.7% (2025 11.0%)
SUBARU PRESCOTT: 10.6% (2025 6.4%)
HONDA SPOKANE: 10.3% (2025 9.7%)
SUBARU LV: 10.1% (2025 9.2%)
TOYOTA HENDERSON: 10.0% (2025 9.7%)
HYUNDAI PRESCOTT: 9.6% (2025 8.1%)
VW HENDERSON: 9.5% (2025 7.8%)
MAZDA: 8.4% (2025 4.5%)
TOYOTA PRESCOTT: 8.4% (2025 6.0%)
LEXUS: 8.3% (2025 4.9%)
KIA LV: 8.2% (2025 7.2%)
TOYOTA FLAGSTAFF: 8.0% (2025 7.3%)
LINCOLN: 7.5% (2025 2.4%)
LR RENO: 7.2% (2025 2.4%)
CHEVY GMC BULLHEAD: 7.0% (2025 3.7%)
TOYOTA SPOKANE: 7.0% (2025 6.8%)
GMC PRESCOTT: 6.0% (2025 4.5%)
KIA ST GEORGE: 5.9% (2025 3.7%)
CHEVY LV: 5.7% (2025 5.3%)
VW ST GEORGE: 5.4% (2025 3.9%)
HYUNDAI ST GEORGE: 4.7% (2025 1.6%)
CADILLAC: 4.6% (2025 4.1%)
CDJR POST FALLS: 4.2% (2025 5.9%)
HONDA FLAGSTAFF: 3.1% (2025 2.3%)
AUDI HENDERSON: 2.4% (2025 1.8%)
AUDI RENO: 1.9% (2025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Nissan, LR LV and LR Henderson what changed. Ask CDJR Post Falls, Honda North and Subaru St George what got in the way. Ask Mazda, Audi Reno and Kia St George what they started this year.Source: Qlik - Closed Repair Orders. Customer pay, Jan-Sep by close month. Same-store, INEOS excluded (opened 2026). GMC Prescott body shop labor excluded. Top and bottom three stores by change in Brake Fluid %, Jan-Sep 2026 vs 2025, in points. Moving now: Jul-Sep 2026 vs Jan-Mar 2026, each store against itself; the group moved +0.0 pts on the same basis, so part of every store's change is seasonal. Green bar at the right of a row: the store is on both the top three vs last year and the top three moving now. Blue bar: a turnaround, on the bottom three vs last year and the top three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FUEL SERVICE % = fuel service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7 of 33 stores at or above 7.5%, led by Subaru St George at 13.8%. The group sits at 5.8%.Source: Qlik - Closed Repair Orders. Customer pay, Jan-Sep by close month. Same-store, INEOS excluded (opened 2026). GMC Prescott body shop labor excluded. Jan-Sep 2026 YTD; green at or above the 7.5% benchmark, red below.
SUBARU ST GEORGE: 13.8% (2025 0.0%)
HONDA HENDERSON: 12.0% (2025 10.4%)
SUBARU PRESCOTT: 9.7% (2025 5.9%)
ACURA: 9.3% (2025 5.3%)
KIA ST GEORGE: 8.9% (2025 5.6%)
LINCOLN: 8.2% (2025 2.1%)
HONDA NORTH: 7.6% (2025 5.3%)
HYUNDAI PRESCOTT: 7.3% (2025 6.6%)
SUBARU LV: 7.0% (2025 8.2%)
TOYOTA PRESCOTT: 6.4% (2025 5.0%)
TOYOTA HENDERSON: 6.0% (2025 6.0%)
HYUNDAI ST GEORGE: 5.8% (2025 2.3%)
TOYOTA SPOKANE: 5.8% (2025 6.0%)
LR LV: 5.5% (2025 0.2%)
CHEVY LV: 5.2% (2025 4.8%)
MAZDA: 5.2% (2025 1.4%)
CADILLAC: 5.1% (2025 4.3%)
LR RENO: 4.5% (2025 0.0%)
LEXUS: 4.2% (2025 1.9%)
NISSAN: 4.1% (2025 0.8%)
GMC PRESCOTT: 3.6% (2025 2.9%)
HONDA SPOKANE: 3.2% (2025 0.0%)
KIA LV: 3.2% (2025 2.9%)
CDJR POST FALLS: 3.0% (2025 3.9%)
CHEVY GMC BULLHEAD: 2.7% (2025 1.8%)
VW ST GEORGE: 2.7% (2025 2.3%)
LR HENDERSON: 2.5% (2025 2.4%)
TOYOTA FLAGSTAFF: 1.6% (2025 1.6%)
AUDI RENO: 0.8% (2025 0.0%)
HONDA FLAGSTAFF: 0.7% (2025 0.6%)
VW HENDERSON: 0.0% (2025 0.0%)
AUDI HENDERSON: 0.0% (2025 0.0%)
VOLVO: 0.0% (2025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Subaru St George, Lincoln and LR LV what changed. Ask Subaru LV, CDJR Post Falls and Toyota Spokane what got in the way. Ask Mazda, Hyundai St George and Honda Spokane what they started this year.Source: Qlik - Closed Repair Orders. Customer pay, Jan-Sep by close month. Same-store, INEOS excluded (opened 2026). GMC Prescott body shop labor excluded. Top and bottom three stores by change in Fuel Service %, Jan-Sep 2026 vs 2025, in points. Not ranked: Volvo, Audi Henderson, VW Henderson, Audi Reno (the manufacturer doesn't call for fuel service); ranks out of 29. Moving now: Jul-Sep 2026 vs Jan-Mar 2026, each store against itself; the group moved −0.3 pts on the same basis, so part of every store's change is seasonal. Green bar at the right of a row: the store is on both the top three vs last year and the top three moving now. Blue bar: a turnaround, on the bottom three vs last year and the top three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chart" Target="/ppt/charts/chart12.xml"/><Relationship Id="rId7" Type="http://schemas.openxmlformats.org/officeDocument/2006/relationships/chart" Target="/ppt/charts/chart13.xml"/><Relationship Id="rId8" Type="http://schemas.openxmlformats.org/officeDocument/2006/relationships/chart" Target="/ppt/charts/chart14.xml"/><Relationship Id="rId9" Type="http://schemas.openxmlformats.org/officeDocument/2006/relationships/chart" Target="/ppt/charts/chart15.xml"/><Relationship Id="rId10" Type="http://schemas.openxmlformats.org/officeDocument/2006/relationships/chart" Target="/ppt/charts/chart16.xml"/><Relationship Id="rId11" Type="http://schemas.openxmlformats.org/officeDocument/2006/relationships/chart" Target="/ppt/charts/chart17.xml"/><Relationship Id="rId12" Type="http://schemas.openxmlformats.org/officeDocument/2006/relationships/chart" Target="/ppt/charts/chart18.xml"/><Relationship Id="rId13" Type="http://schemas.openxmlformats.org/officeDocument/2006/relationships/slideLayout" Target="../slideLayouts/slideLayout1.xml"/><Relationship Id="rId1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chart" Target="/ppt/charts/chart21.xml"/><Relationship Id="rId4" Type="http://schemas.openxmlformats.org/officeDocument/2006/relationships/chart" Target="/ppt/charts/chart22.xml"/><Relationship Id="rId5" Type="http://schemas.openxmlformats.org/officeDocument/2006/relationships/chart" Target="/ppt/charts/chart23.xml"/><Relationship Id="rId6" Type="http://schemas.openxmlformats.org/officeDocument/2006/relationships/chart" Target="/ppt/charts/chart24.xml"/><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chart" Target="/ppt/charts/chart26.xml"/><Relationship Id="rId3" Type="http://schemas.openxmlformats.org/officeDocument/2006/relationships/chart" Target="/ppt/charts/chart27.xml"/><Relationship Id="rId4" Type="http://schemas.openxmlformats.org/officeDocument/2006/relationships/chart" Target="/ppt/charts/chart28.xml"/><Relationship Id="rId5" Type="http://schemas.openxmlformats.org/officeDocument/2006/relationships/chart" Target="/ppt/charts/chart29.xml"/><Relationship Id="rId6" Type="http://schemas.openxmlformats.org/officeDocument/2006/relationships/chart" Target="/ppt/charts/chart30.xml"/><Relationship Id="rId7" Type="http://schemas.openxmlformats.org/officeDocument/2006/relationships/chart" Target="/ppt/charts/chart31.xml"/><Relationship Id="rId8" Type="http://schemas.openxmlformats.org/officeDocument/2006/relationships/chart" Target="/ppt/charts/chart32.xml"/><Relationship Id="rId9" Type="http://schemas.openxmlformats.org/officeDocument/2006/relationships/chart" Target="/ppt/charts/chart33.xml"/><Relationship Id="rId10" Type="http://schemas.openxmlformats.org/officeDocument/2006/relationships/chart" Target="/ppt/charts/chart34.xml"/><Relationship Id="rId11" Type="http://schemas.openxmlformats.org/officeDocument/2006/relationships/chart" Target="/ppt/charts/chart35.xml"/><Relationship Id="rId12" Type="http://schemas.openxmlformats.org/officeDocument/2006/relationships/chart" Target="/ppt/charts/chart36.xml"/><Relationship Id="rId13" Type="http://schemas.openxmlformats.org/officeDocument/2006/relationships/slideLayout" Target="../slideLayouts/slideLayout1.xml"/><Relationship Id="rId1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7.xml"/><Relationship Id="rId2" Type="http://schemas.openxmlformats.org/officeDocument/2006/relationships/chart" Target="/ppt/charts/chart38.xml"/><Relationship Id="rId3" Type="http://schemas.openxmlformats.org/officeDocument/2006/relationships/chart" Target="/ppt/charts/chart39.xml"/><Relationship Id="rId4" Type="http://schemas.openxmlformats.org/officeDocument/2006/relationships/chart" Target="/ppt/charts/chart40.xml"/><Relationship Id="rId5" Type="http://schemas.openxmlformats.org/officeDocument/2006/relationships/chart" Target="/ppt/charts/chart41.xml"/><Relationship Id="rId6" Type="http://schemas.openxmlformats.org/officeDocument/2006/relationships/chart" Target="/ppt/charts/chart42.xml"/><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3.xml"/><Relationship Id="rId2" Type="http://schemas.openxmlformats.org/officeDocument/2006/relationships/chart" Target="/ppt/charts/chart44.xml"/><Relationship Id="rId3" Type="http://schemas.openxmlformats.org/officeDocument/2006/relationships/chart" Target="/ppt/charts/chart45.xml"/><Relationship Id="rId4" Type="http://schemas.openxmlformats.org/officeDocument/2006/relationships/chart" Target="/ppt/charts/chart46.xml"/><Relationship Id="rId5" Type="http://schemas.openxmlformats.org/officeDocument/2006/relationships/chart" Target="/ppt/charts/chart47.xml"/><Relationship Id="rId6" Type="http://schemas.openxmlformats.org/officeDocument/2006/relationships/chart" Target="/ppt/charts/chart48.xml"/><Relationship Id="rId7" Type="http://schemas.openxmlformats.org/officeDocument/2006/relationships/chart" Target="/ppt/charts/chart49.xml"/><Relationship Id="rId8" Type="http://schemas.openxmlformats.org/officeDocument/2006/relationships/chart" Target="/ppt/charts/chart50.xml"/><Relationship Id="rId9" Type="http://schemas.openxmlformats.org/officeDocument/2006/relationships/chart" Target="/ppt/charts/chart51.xml"/><Relationship Id="rId10" Type="http://schemas.openxmlformats.org/officeDocument/2006/relationships/chart" Target="/ppt/charts/chart52.xml"/><Relationship Id="rId11" Type="http://schemas.openxmlformats.org/officeDocument/2006/relationships/chart" Target="/ppt/charts/chart53.xml"/><Relationship Id="rId12" Type="http://schemas.openxmlformats.org/officeDocument/2006/relationships/chart" Target="/ppt/charts/chart54.xml"/><Relationship Id="rId13" Type="http://schemas.openxmlformats.org/officeDocument/2006/relationships/slideLayout" Target="../slideLayouts/slideLayout1.xml"/><Relationship Id="rId1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5.xml"/><Relationship Id="rId2" Type="http://schemas.openxmlformats.org/officeDocument/2006/relationships/chart" Target="/ppt/charts/chart56.xml"/><Relationship Id="rId3" Type="http://schemas.openxmlformats.org/officeDocument/2006/relationships/chart" Target="/ppt/charts/chart57.xml"/><Relationship Id="rId4" Type="http://schemas.openxmlformats.org/officeDocument/2006/relationships/chart" Target="/ppt/charts/chart58.xml"/><Relationship Id="rId5" Type="http://schemas.openxmlformats.org/officeDocument/2006/relationships/chart" Target="/ppt/charts/chart59.xml"/><Relationship Id="rId6" Type="http://schemas.openxmlformats.org/officeDocument/2006/relationships/chart" Target="/ppt/charts/chart60.xml"/><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61.xml"/><Relationship Id="rId2" Type="http://schemas.openxmlformats.org/officeDocument/2006/relationships/chart" Target="/ppt/charts/chart62.xml"/><Relationship Id="rId3" Type="http://schemas.openxmlformats.org/officeDocument/2006/relationships/chart" Target="/ppt/charts/chart63.xml"/><Relationship Id="rId4" Type="http://schemas.openxmlformats.org/officeDocument/2006/relationships/chart" Target="/ppt/charts/chart64.xml"/><Relationship Id="rId5" Type="http://schemas.openxmlformats.org/officeDocument/2006/relationships/chart" Target="/ppt/charts/chart65.xml"/><Relationship Id="rId6" Type="http://schemas.openxmlformats.org/officeDocument/2006/relationships/chart" Target="/ppt/charts/chart66.xml"/><Relationship Id="rId7" Type="http://schemas.openxmlformats.org/officeDocument/2006/relationships/chart" Target="/ppt/charts/chart67.xml"/><Relationship Id="rId8" Type="http://schemas.openxmlformats.org/officeDocument/2006/relationships/chart" Target="/ppt/charts/chart68.xml"/><Relationship Id="rId9" Type="http://schemas.openxmlformats.org/officeDocument/2006/relationships/chart" Target="/ppt/charts/chart69.xml"/><Relationship Id="rId10" Type="http://schemas.openxmlformats.org/officeDocument/2006/relationships/chart" Target="/ppt/charts/chart70.xml"/><Relationship Id="rId11" Type="http://schemas.openxmlformats.org/officeDocument/2006/relationships/chart" Target="/ppt/charts/chart71.xml"/><Relationship Id="rId12" Type="http://schemas.openxmlformats.org/officeDocument/2006/relationships/chart" Target="/ppt/charts/chart72.xml"/><Relationship Id="rId13" Type="http://schemas.openxmlformats.org/officeDocument/2006/relationships/slideLayout" Target="../slideLayouts/slideLayout1.xml"/><Relationship Id="rId14"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Alignment 15%   ·   Balance 15%   ·   Brake fluid 10%   ·   Fuel service 7.5%</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13.2%, ahead of 2025 in all nine months, but 1.8 pts under the 15% benchmark — 4,821 alignments short.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The group sits at 13.2%.</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9" name="Shape 7"/>
          <p:cNvSpPr/>
          <p:nvPr/>
        </p:nvSpPr>
        <p:spPr>
          <a:xfrm>
            <a:off x="658368" y="1810512"/>
            <a:ext cx="3489960" cy="1478280"/>
          </a:xfrm>
          <a:prstGeom prst="rect">
            <a:avLst/>
          </a:prstGeom>
          <a:solidFill>
            <a:srgbClr val="F7F7F7"/>
          </a:solidFill>
          <a:ln/>
        </p:spPr>
      </p:sp>
      <p:sp>
        <p:nvSpPr>
          <p:cNvPr id="10" name="Text 8"/>
          <p:cNvSpPr txBox="1"/>
          <p:nvPr/>
        </p:nvSpPr>
        <p:spPr>
          <a:xfrm>
            <a:off x="749808"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1" name="Text 9"/>
          <p:cNvSpPr txBox="1"/>
          <p:nvPr/>
        </p:nvSpPr>
        <p:spPr>
          <a:xfrm>
            <a:off x="1097280"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graphicFrame>
        <p:nvGraphicFramePr>
          <p:cNvPr id="12" name="Chart 0" descr=""/>
          <p:cNvGraphicFramePr/>
          <p:nvPr/>
        </p:nvGraphicFramePr>
        <p:xfrm>
          <a:off x="1097280" y="2697480"/>
          <a:ext cx="1972056" cy="502615"/>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2941320"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Text 11"/>
          <p:cNvSpPr txBox="1"/>
          <p:nvPr/>
        </p:nvSpPr>
        <p:spPr>
          <a:xfrm>
            <a:off x="749808"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5" name="Text 12"/>
          <p:cNvSpPr txBox="1"/>
          <p:nvPr/>
        </p:nvSpPr>
        <p:spPr>
          <a:xfrm>
            <a:off x="1097280"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graphicFrame>
        <p:nvGraphicFramePr>
          <p:cNvPr id="16" name="Chart 1" descr=""/>
          <p:cNvGraphicFramePr/>
          <p:nvPr/>
        </p:nvGraphicFramePr>
        <p:xfrm>
          <a:off x="1097280" y="4175760"/>
          <a:ext cx="1972056" cy="502615"/>
        </p:xfrm>
        <a:graphic xmlns:a="http://schemas.openxmlformats.org/drawingml/2006/main">
          <a:graphicData uri="http://schemas.openxmlformats.org/drawingml/2006/chart">
            <c:chart xmlns:c="http://schemas.openxmlformats.org/drawingml/2006/chart" r:id="rId2"/>
          </a:graphicData>
        </a:graphic>
      </p:graphicFrame>
      <p:sp>
        <p:nvSpPr>
          <p:cNvPr id="17" name="Text 13"/>
          <p:cNvSpPr txBox="1"/>
          <p:nvPr/>
        </p:nvSpPr>
        <p:spPr>
          <a:xfrm>
            <a:off x="2941320"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4"/>
          <p:cNvSpPr/>
          <p:nvPr/>
        </p:nvSpPr>
        <p:spPr>
          <a:xfrm>
            <a:off x="658368" y="4767072"/>
            <a:ext cx="3489960" cy="1478280"/>
          </a:xfrm>
          <a:prstGeom prst="rect">
            <a:avLst/>
          </a:prstGeom>
          <a:solidFill>
            <a:srgbClr val="F7F7F7"/>
          </a:solidFill>
          <a:ln/>
        </p:spPr>
      </p:sp>
      <p:sp>
        <p:nvSpPr>
          <p:cNvPr id="19" name="Text 15"/>
          <p:cNvSpPr txBox="1"/>
          <p:nvPr/>
        </p:nvSpPr>
        <p:spPr>
          <a:xfrm>
            <a:off x="749808"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20" name="Text 16"/>
          <p:cNvSpPr txBox="1"/>
          <p:nvPr/>
        </p:nvSpPr>
        <p:spPr>
          <a:xfrm>
            <a:off x="1097280"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21" name="Chart 2" descr=""/>
          <p:cNvGraphicFramePr/>
          <p:nvPr/>
        </p:nvGraphicFramePr>
        <p:xfrm>
          <a:off x="1097280" y="5654040"/>
          <a:ext cx="1972056" cy="502615"/>
        </p:xfrm>
        <a:graphic xmlns:a="http://schemas.openxmlformats.org/drawingml/2006/main">
          <a:graphicData uri="http://schemas.openxmlformats.org/drawingml/2006/chart">
            <c:chart xmlns:c="http://schemas.openxmlformats.org/drawingml/2006/chart" r:id="rId3"/>
          </a:graphicData>
        </a:graphic>
      </p:graphicFrame>
      <p:sp>
        <p:nvSpPr>
          <p:cNvPr id="22" name="Text 17"/>
          <p:cNvSpPr txBox="1"/>
          <p:nvPr/>
        </p:nvSpPr>
        <p:spPr>
          <a:xfrm>
            <a:off x="2941320"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3" name="Shape 18"/>
          <p:cNvSpPr/>
          <p:nvPr/>
        </p:nvSpPr>
        <p:spPr>
          <a:xfrm>
            <a:off x="4349496" y="1371600"/>
            <a:ext cx="3489960" cy="45720"/>
          </a:xfrm>
          <a:prstGeom prst="rect">
            <a:avLst/>
          </a:prstGeom>
          <a:solidFill>
            <a:srgbClr val="C2352F"/>
          </a:solidFill>
          <a:ln/>
        </p:spPr>
      </p:sp>
      <p:sp>
        <p:nvSpPr>
          <p:cNvPr id="24" name="Text 1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5" name="Shape 20"/>
          <p:cNvSpPr/>
          <p:nvPr/>
        </p:nvSpPr>
        <p:spPr>
          <a:xfrm>
            <a:off x="4349496" y="1810512"/>
            <a:ext cx="3489960" cy="1478280"/>
          </a:xfrm>
          <a:prstGeom prst="rect">
            <a:avLst/>
          </a:prstGeom>
          <a:solidFill>
            <a:srgbClr val="F7F7F7"/>
          </a:solidFill>
          <a:ln/>
        </p:spPr>
      </p:sp>
      <p:sp>
        <p:nvSpPr>
          <p:cNvPr id="26" name="Text 21"/>
          <p:cNvSpPr txBox="1"/>
          <p:nvPr/>
        </p:nvSpPr>
        <p:spPr>
          <a:xfrm>
            <a:off x="4440936"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33</a:t>
            </a:r>
            <a:endParaRPr lang="en-US" sz="2000" dirty="0"/>
          </a:p>
        </p:txBody>
      </p:sp>
      <p:sp>
        <p:nvSpPr>
          <p:cNvPr id="27" name="Text 22"/>
          <p:cNvSpPr txBox="1"/>
          <p:nvPr/>
        </p:nvSpPr>
        <p:spPr>
          <a:xfrm>
            <a:off x="4788408"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graphicFrame>
        <p:nvGraphicFramePr>
          <p:cNvPr id="28" name="Chart 3" descr=""/>
          <p:cNvGraphicFramePr/>
          <p:nvPr/>
        </p:nvGraphicFramePr>
        <p:xfrm>
          <a:off x="4788408" y="2697480"/>
          <a:ext cx="1972056" cy="502615"/>
        </p:xfrm>
        <a:graphic xmlns:a="http://schemas.openxmlformats.org/drawingml/2006/main">
          <a:graphicData uri="http://schemas.openxmlformats.org/drawingml/2006/chart">
            <c:chart xmlns:c="http://schemas.openxmlformats.org/drawingml/2006/chart" r:id="rId4"/>
          </a:graphicData>
        </a:graphic>
      </p:graphicFrame>
      <p:sp>
        <p:nvSpPr>
          <p:cNvPr id="29" name="Text 23"/>
          <p:cNvSpPr txBox="1"/>
          <p:nvPr/>
        </p:nvSpPr>
        <p:spPr>
          <a:xfrm>
            <a:off x="6632448" y="181051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0" name="Text 24"/>
          <p:cNvSpPr txBox="1"/>
          <p:nvPr/>
        </p:nvSpPr>
        <p:spPr>
          <a:xfrm>
            <a:off x="4440936"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32</a:t>
            </a:r>
            <a:endParaRPr lang="en-US" sz="2000" dirty="0"/>
          </a:p>
        </p:txBody>
      </p:sp>
      <p:sp>
        <p:nvSpPr>
          <p:cNvPr id="31" name="Text 25"/>
          <p:cNvSpPr txBox="1"/>
          <p:nvPr/>
        </p:nvSpPr>
        <p:spPr>
          <a:xfrm>
            <a:off x="4788408"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graphicFrame>
        <p:nvGraphicFramePr>
          <p:cNvPr id="32" name="Chart 4" descr=""/>
          <p:cNvGraphicFramePr/>
          <p:nvPr/>
        </p:nvGraphicFramePr>
        <p:xfrm>
          <a:off x="4788408" y="4175760"/>
          <a:ext cx="1972056" cy="502615"/>
        </p:xfrm>
        <a:graphic xmlns:a="http://schemas.openxmlformats.org/drawingml/2006/main">
          <a:graphicData uri="http://schemas.openxmlformats.org/drawingml/2006/chart">
            <c:chart xmlns:c="http://schemas.openxmlformats.org/drawingml/2006/chart" r:id="rId5"/>
          </a:graphicData>
        </a:graphic>
      </p:graphicFrame>
      <p:sp>
        <p:nvSpPr>
          <p:cNvPr id="33" name="Text 26"/>
          <p:cNvSpPr txBox="1"/>
          <p:nvPr/>
        </p:nvSpPr>
        <p:spPr>
          <a:xfrm>
            <a:off x="6632448" y="328879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34" name="Shape 27"/>
          <p:cNvSpPr/>
          <p:nvPr/>
        </p:nvSpPr>
        <p:spPr>
          <a:xfrm>
            <a:off x="4349496" y="4767072"/>
            <a:ext cx="3489960" cy="1478280"/>
          </a:xfrm>
          <a:prstGeom prst="rect">
            <a:avLst/>
          </a:prstGeom>
          <a:solidFill>
            <a:srgbClr val="F7F7F7"/>
          </a:solidFill>
          <a:ln/>
        </p:spPr>
      </p:sp>
      <p:sp>
        <p:nvSpPr>
          <p:cNvPr id="35" name="Text 28"/>
          <p:cNvSpPr txBox="1"/>
          <p:nvPr/>
        </p:nvSpPr>
        <p:spPr>
          <a:xfrm>
            <a:off x="4440936"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31</a:t>
            </a:r>
            <a:endParaRPr lang="en-US" sz="2000" dirty="0"/>
          </a:p>
        </p:txBody>
      </p:sp>
      <p:sp>
        <p:nvSpPr>
          <p:cNvPr id="36" name="Text 29"/>
          <p:cNvSpPr txBox="1"/>
          <p:nvPr/>
        </p:nvSpPr>
        <p:spPr>
          <a:xfrm>
            <a:off x="4788408"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graphicFrame>
        <p:nvGraphicFramePr>
          <p:cNvPr id="37" name="Chart 5" descr=""/>
          <p:cNvGraphicFramePr/>
          <p:nvPr/>
        </p:nvGraphicFramePr>
        <p:xfrm>
          <a:off x="4788408" y="5654040"/>
          <a:ext cx="1972056" cy="502615"/>
        </p:xfrm>
        <a:graphic xmlns:a="http://schemas.openxmlformats.org/drawingml/2006/main">
          <a:graphicData uri="http://schemas.openxmlformats.org/drawingml/2006/chart">
            <c:chart xmlns:c="http://schemas.openxmlformats.org/drawingml/2006/chart" r:id="rId6"/>
          </a:graphicData>
        </a:graphic>
      </p:graphicFrame>
      <p:sp>
        <p:nvSpPr>
          <p:cNvPr id="38" name="Text 30"/>
          <p:cNvSpPr txBox="1"/>
          <p:nvPr/>
        </p:nvSpPr>
        <p:spPr>
          <a:xfrm>
            <a:off x="6632448" y="476707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9" name="Shape 31"/>
          <p:cNvSpPr/>
          <p:nvPr/>
        </p:nvSpPr>
        <p:spPr>
          <a:xfrm>
            <a:off x="8040624" y="1371600"/>
            <a:ext cx="3489960" cy="45720"/>
          </a:xfrm>
          <a:prstGeom prst="rect">
            <a:avLst/>
          </a:prstGeom>
          <a:solidFill>
            <a:srgbClr val="2587C5"/>
          </a:solidFill>
          <a:ln/>
        </p:spPr>
      </p:sp>
      <p:sp>
        <p:nvSpPr>
          <p:cNvPr id="40" name="Text 32"/>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41" name="Shape 33"/>
          <p:cNvSpPr/>
          <p:nvPr/>
        </p:nvSpPr>
        <p:spPr>
          <a:xfrm>
            <a:off x="8040624" y="1810512"/>
            <a:ext cx="3489960" cy="1478280"/>
          </a:xfrm>
          <a:prstGeom prst="rect">
            <a:avLst/>
          </a:prstGeom>
          <a:solidFill>
            <a:srgbClr val="F7F7F7"/>
          </a:solidFill>
          <a:ln/>
        </p:spPr>
      </p:sp>
      <p:sp>
        <p:nvSpPr>
          <p:cNvPr id="42" name="Text 34"/>
          <p:cNvSpPr txBox="1"/>
          <p:nvPr/>
        </p:nvSpPr>
        <p:spPr>
          <a:xfrm>
            <a:off x="8132064"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43" name="Text 35"/>
          <p:cNvSpPr txBox="1"/>
          <p:nvPr/>
        </p:nvSpPr>
        <p:spPr>
          <a:xfrm>
            <a:off x="8479536"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44" name="Chart 6" descr=""/>
          <p:cNvGraphicFramePr/>
          <p:nvPr/>
        </p:nvGraphicFramePr>
        <p:xfrm>
          <a:off x="8479536" y="2697480"/>
          <a:ext cx="1972056" cy="502615"/>
        </p:xfrm>
        <a:graphic xmlns:a="http://schemas.openxmlformats.org/drawingml/2006/main">
          <a:graphicData uri="http://schemas.openxmlformats.org/drawingml/2006/chart">
            <c:chart xmlns:c="http://schemas.openxmlformats.org/drawingml/2006/chart" r:id="rId7"/>
          </a:graphicData>
        </a:graphic>
      </p:graphicFrame>
      <p:graphicFrame>
        <p:nvGraphicFramePr>
          <p:cNvPr id="45" name="Chart 7" descr=""/>
          <p:cNvGraphicFramePr/>
          <p:nvPr/>
        </p:nvGraphicFramePr>
        <p:xfrm>
          <a:off x="8479536" y="2697480"/>
          <a:ext cx="1972056" cy="502615"/>
        </p:xfrm>
        <a:graphic xmlns:a="http://schemas.openxmlformats.org/drawingml/2006/main">
          <a:graphicData uri="http://schemas.openxmlformats.org/drawingml/2006/chart">
            <c:chart xmlns:c="http://schemas.openxmlformats.org/drawingml/2006/chart" r:id="rId8"/>
          </a:graphicData>
        </a:graphic>
      </p:graphicFrame>
      <p:sp>
        <p:nvSpPr>
          <p:cNvPr id="46" name="Text 36"/>
          <p:cNvSpPr txBox="1"/>
          <p:nvPr/>
        </p:nvSpPr>
        <p:spPr>
          <a:xfrm>
            <a:off x="10323576"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47" name="Text 37"/>
          <p:cNvSpPr txBox="1"/>
          <p:nvPr/>
        </p:nvSpPr>
        <p:spPr>
          <a:xfrm>
            <a:off x="8132064"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48" name="Text 38"/>
          <p:cNvSpPr txBox="1"/>
          <p:nvPr/>
        </p:nvSpPr>
        <p:spPr>
          <a:xfrm>
            <a:off x="8479536"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49" name="Chart 8" descr=""/>
          <p:cNvGraphicFramePr/>
          <p:nvPr/>
        </p:nvGraphicFramePr>
        <p:xfrm>
          <a:off x="8479536" y="4175760"/>
          <a:ext cx="1972056" cy="502615"/>
        </p:xfrm>
        <a:graphic xmlns:a="http://schemas.openxmlformats.org/drawingml/2006/main">
          <a:graphicData uri="http://schemas.openxmlformats.org/drawingml/2006/chart">
            <c:chart xmlns:c="http://schemas.openxmlformats.org/drawingml/2006/chart" r:id="rId9"/>
          </a:graphicData>
        </a:graphic>
      </p:graphicFrame>
      <p:graphicFrame>
        <p:nvGraphicFramePr>
          <p:cNvPr id="50" name="Chart 9" descr=""/>
          <p:cNvGraphicFramePr/>
          <p:nvPr/>
        </p:nvGraphicFramePr>
        <p:xfrm>
          <a:off x="8479536" y="4175760"/>
          <a:ext cx="1972056" cy="502615"/>
        </p:xfrm>
        <a:graphic xmlns:a="http://schemas.openxmlformats.org/drawingml/2006/main">
          <a:graphicData uri="http://schemas.openxmlformats.org/drawingml/2006/chart">
            <c:chart xmlns:c="http://schemas.openxmlformats.org/drawingml/2006/chart" r:id="rId10"/>
          </a:graphicData>
        </a:graphic>
      </p:graphicFrame>
      <p:sp>
        <p:nvSpPr>
          <p:cNvPr id="51" name="Text 39"/>
          <p:cNvSpPr txBox="1"/>
          <p:nvPr/>
        </p:nvSpPr>
        <p:spPr>
          <a:xfrm>
            <a:off x="10323576"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52" name="Shape 40"/>
          <p:cNvSpPr/>
          <p:nvPr/>
        </p:nvSpPr>
        <p:spPr>
          <a:xfrm>
            <a:off x="8040624" y="4767072"/>
            <a:ext cx="3489960" cy="1478280"/>
          </a:xfrm>
          <a:prstGeom prst="rect">
            <a:avLst/>
          </a:prstGeom>
          <a:solidFill>
            <a:srgbClr val="F7F7F7"/>
          </a:solidFill>
          <a:ln/>
        </p:spPr>
      </p:sp>
      <p:sp>
        <p:nvSpPr>
          <p:cNvPr id="53" name="Text 41"/>
          <p:cNvSpPr txBox="1"/>
          <p:nvPr/>
        </p:nvSpPr>
        <p:spPr>
          <a:xfrm>
            <a:off x="8132064"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54" name="Text 42"/>
          <p:cNvSpPr txBox="1"/>
          <p:nvPr/>
        </p:nvSpPr>
        <p:spPr>
          <a:xfrm>
            <a:off x="8479536"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55" name="Chart 10" descr=""/>
          <p:cNvGraphicFramePr/>
          <p:nvPr/>
        </p:nvGraphicFramePr>
        <p:xfrm>
          <a:off x="8479536" y="5654040"/>
          <a:ext cx="1972056" cy="502615"/>
        </p:xfrm>
        <a:graphic xmlns:a="http://schemas.openxmlformats.org/drawingml/2006/main">
          <a:graphicData uri="http://schemas.openxmlformats.org/drawingml/2006/chart">
            <c:chart xmlns:c="http://schemas.openxmlformats.org/drawingml/2006/chart" r:id="rId11"/>
          </a:graphicData>
        </a:graphic>
      </p:graphicFrame>
      <p:graphicFrame>
        <p:nvGraphicFramePr>
          <p:cNvPr id="56" name="Chart 11" descr=""/>
          <p:cNvGraphicFramePr/>
          <p:nvPr/>
        </p:nvGraphicFramePr>
        <p:xfrm>
          <a:off x="8479536" y="5654040"/>
          <a:ext cx="1972056" cy="502615"/>
        </p:xfrm>
        <a:graphic xmlns:a="http://schemas.openxmlformats.org/drawingml/2006/main">
          <a:graphicData uri="http://schemas.openxmlformats.org/drawingml/2006/chart">
            <c:chart xmlns:c="http://schemas.openxmlformats.org/drawingml/2006/chart" r:id="rId12"/>
          </a:graphicData>
        </a:graphic>
      </p:graphicFrame>
      <p:sp>
        <p:nvSpPr>
          <p:cNvPr id="57" name="Text 43"/>
          <p:cNvSpPr txBox="1"/>
          <p:nvPr/>
        </p:nvSpPr>
        <p:spPr>
          <a:xfrm>
            <a:off x="10323576"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6.7 pts under the 15% benchmark — 18,493 balances short.</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The group sits at 8.3%.</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9" name="Shape 7"/>
          <p:cNvSpPr/>
          <p:nvPr/>
        </p:nvSpPr>
        <p:spPr>
          <a:xfrm>
            <a:off x="658368" y="1810512"/>
            <a:ext cx="3489960" cy="1478280"/>
          </a:xfrm>
          <a:prstGeom prst="rect">
            <a:avLst/>
          </a:prstGeom>
          <a:solidFill>
            <a:srgbClr val="F7F7F7"/>
          </a:solidFill>
          <a:ln/>
        </p:spPr>
      </p:sp>
      <p:sp>
        <p:nvSpPr>
          <p:cNvPr id="10" name="Text 8"/>
          <p:cNvSpPr txBox="1"/>
          <p:nvPr/>
        </p:nvSpPr>
        <p:spPr>
          <a:xfrm>
            <a:off x="749808"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1" name="Text 9"/>
          <p:cNvSpPr txBox="1"/>
          <p:nvPr/>
        </p:nvSpPr>
        <p:spPr>
          <a:xfrm>
            <a:off x="1097280"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graphicFrame>
        <p:nvGraphicFramePr>
          <p:cNvPr id="12" name="Chart 0" descr=""/>
          <p:cNvGraphicFramePr/>
          <p:nvPr/>
        </p:nvGraphicFramePr>
        <p:xfrm>
          <a:off x="1097280" y="2697480"/>
          <a:ext cx="1972056" cy="502615"/>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2941320"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 pts</a:t>
            </a:r>
            <a:endParaRPr lang="en-US" sz="1600" dirty="0"/>
          </a:p>
        </p:txBody>
      </p:sp>
      <p:sp>
        <p:nvSpPr>
          <p:cNvPr id="14" name="Text 11"/>
          <p:cNvSpPr txBox="1"/>
          <p:nvPr/>
        </p:nvSpPr>
        <p:spPr>
          <a:xfrm>
            <a:off x="749808"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5" name="Text 12"/>
          <p:cNvSpPr txBox="1"/>
          <p:nvPr/>
        </p:nvSpPr>
        <p:spPr>
          <a:xfrm>
            <a:off x="1097280"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graphicFrame>
        <p:nvGraphicFramePr>
          <p:cNvPr id="16" name="Chart 1" descr=""/>
          <p:cNvGraphicFramePr/>
          <p:nvPr/>
        </p:nvGraphicFramePr>
        <p:xfrm>
          <a:off x="1097280" y="4175760"/>
          <a:ext cx="1972056" cy="502615"/>
        </p:xfrm>
        <a:graphic xmlns:a="http://schemas.openxmlformats.org/drawingml/2006/main">
          <a:graphicData uri="http://schemas.openxmlformats.org/drawingml/2006/chart">
            <c:chart xmlns:c="http://schemas.openxmlformats.org/drawingml/2006/chart" r:id="rId2"/>
          </a:graphicData>
        </a:graphic>
      </p:graphicFrame>
      <p:sp>
        <p:nvSpPr>
          <p:cNvPr id="17" name="Text 13"/>
          <p:cNvSpPr txBox="1"/>
          <p:nvPr/>
        </p:nvSpPr>
        <p:spPr>
          <a:xfrm>
            <a:off x="2941320"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+13.5 pts</a:t>
            </a:r>
            <a:endParaRPr lang="en-US" sz="1600" dirty="0"/>
          </a:p>
        </p:txBody>
      </p:sp>
      <p:sp>
        <p:nvSpPr>
          <p:cNvPr id="18" name="Shape 14"/>
          <p:cNvSpPr/>
          <p:nvPr/>
        </p:nvSpPr>
        <p:spPr>
          <a:xfrm>
            <a:off x="658368" y="4767072"/>
            <a:ext cx="3489960" cy="1478280"/>
          </a:xfrm>
          <a:prstGeom prst="rect">
            <a:avLst/>
          </a:prstGeom>
          <a:solidFill>
            <a:srgbClr val="F7F7F7"/>
          </a:solidFill>
          <a:ln/>
        </p:spPr>
      </p:sp>
      <p:sp>
        <p:nvSpPr>
          <p:cNvPr id="19" name="Shape 15"/>
          <p:cNvSpPr/>
          <p:nvPr/>
        </p:nvSpPr>
        <p:spPr>
          <a:xfrm>
            <a:off x="4084320" y="4803648"/>
            <a:ext cx="64008" cy="1405128"/>
          </a:xfrm>
          <a:prstGeom prst="rect">
            <a:avLst/>
          </a:prstGeom>
          <a:solidFill>
            <a:srgbClr val="12A566"/>
          </a:solidFill>
          <a:ln/>
        </p:spPr>
      </p:sp>
      <p:sp>
        <p:nvSpPr>
          <p:cNvPr id="20" name="Text 16"/>
          <p:cNvSpPr txBox="1"/>
          <p:nvPr/>
        </p:nvSpPr>
        <p:spPr>
          <a:xfrm>
            <a:off x="749808"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21" name="Text 17"/>
          <p:cNvSpPr txBox="1"/>
          <p:nvPr/>
        </p:nvSpPr>
        <p:spPr>
          <a:xfrm>
            <a:off x="1097280"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graphicFrame>
        <p:nvGraphicFramePr>
          <p:cNvPr id="22" name="Chart 2" descr=""/>
          <p:cNvGraphicFramePr/>
          <p:nvPr/>
        </p:nvGraphicFramePr>
        <p:xfrm>
          <a:off x="1097280" y="5654040"/>
          <a:ext cx="1972056" cy="502615"/>
        </p:xfrm>
        <a:graphic xmlns:a="http://schemas.openxmlformats.org/drawingml/2006/main">
          <a:graphicData uri="http://schemas.openxmlformats.org/drawingml/2006/chart">
            <c:chart xmlns:c="http://schemas.openxmlformats.org/drawingml/2006/chart" r:id="rId3"/>
          </a:graphicData>
        </a:graphic>
      </p:graphicFrame>
      <p:sp>
        <p:nvSpPr>
          <p:cNvPr id="23" name="Text 18"/>
          <p:cNvSpPr txBox="1"/>
          <p:nvPr/>
        </p:nvSpPr>
        <p:spPr>
          <a:xfrm>
            <a:off x="2941320"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4" name="Shape 19"/>
          <p:cNvSpPr/>
          <p:nvPr/>
        </p:nvSpPr>
        <p:spPr>
          <a:xfrm>
            <a:off x="4349496" y="1371600"/>
            <a:ext cx="3489960" cy="45720"/>
          </a:xfrm>
          <a:prstGeom prst="rect">
            <a:avLst/>
          </a:prstGeom>
          <a:solidFill>
            <a:srgbClr val="C2352F"/>
          </a:solidFill>
          <a:ln/>
        </p:spPr>
      </p:sp>
      <p:sp>
        <p:nvSpPr>
          <p:cNvPr id="25" name="Text 20"/>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6" name="Shape 21"/>
          <p:cNvSpPr/>
          <p:nvPr/>
        </p:nvSpPr>
        <p:spPr>
          <a:xfrm>
            <a:off x="4349496" y="1810512"/>
            <a:ext cx="3489960" cy="1478280"/>
          </a:xfrm>
          <a:prstGeom prst="rect">
            <a:avLst/>
          </a:prstGeom>
          <a:solidFill>
            <a:srgbClr val="F7F7F7"/>
          </a:solidFill>
          <a:ln/>
        </p:spPr>
      </p:sp>
      <p:sp>
        <p:nvSpPr>
          <p:cNvPr id="27" name="Text 22"/>
          <p:cNvSpPr txBox="1"/>
          <p:nvPr/>
        </p:nvSpPr>
        <p:spPr>
          <a:xfrm>
            <a:off x="4440936"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31</a:t>
            </a:r>
            <a:endParaRPr lang="en-US" sz="2000" dirty="0"/>
          </a:p>
        </p:txBody>
      </p:sp>
      <p:sp>
        <p:nvSpPr>
          <p:cNvPr id="28" name="Text 23"/>
          <p:cNvSpPr txBox="1"/>
          <p:nvPr/>
        </p:nvSpPr>
        <p:spPr>
          <a:xfrm>
            <a:off x="4788408"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graphicFrame>
        <p:nvGraphicFramePr>
          <p:cNvPr id="29" name="Chart 3" descr=""/>
          <p:cNvGraphicFramePr/>
          <p:nvPr/>
        </p:nvGraphicFramePr>
        <p:xfrm>
          <a:off x="4788408" y="2697480"/>
          <a:ext cx="1972056" cy="502615"/>
        </p:xfrm>
        <a:graphic xmlns:a="http://schemas.openxmlformats.org/drawingml/2006/main">
          <a:graphicData uri="http://schemas.openxmlformats.org/drawingml/2006/chart">
            <c:chart xmlns:c="http://schemas.openxmlformats.org/drawingml/2006/chart" r:id="rId4"/>
          </a:graphicData>
        </a:graphic>
      </p:graphicFrame>
      <p:sp>
        <p:nvSpPr>
          <p:cNvPr id="30" name="Text 24"/>
          <p:cNvSpPr txBox="1"/>
          <p:nvPr/>
        </p:nvSpPr>
        <p:spPr>
          <a:xfrm>
            <a:off x="6632448" y="181051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31" name="Text 25"/>
          <p:cNvSpPr txBox="1"/>
          <p:nvPr/>
        </p:nvSpPr>
        <p:spPr>
          <a:xfrm>
            <a:off x="4440936"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30</a:t>
            </a:r>
            <a:endParaRPr lang="en-US" sz="2000" dirty="0"/>
          </a:p>
        </p:txBody>
      </p:sp>
      <p:sp>
        <p:nvSpPr>
          <p:cNvPr id="32" name="Text 26"/>
          <p:cNvSpPr txBox="1"/>
          <p:nvPr/>
        </p:nvSpPr>
        <p:spPr>
          <a:xfrm>
            <a:off x="4788408"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graphicFrame>
        <p:nvGraphicFramePr>
          <p:cNvPr id="33" name="Chart 4" descr=""/>
          <p:cNvGraphicFramePr/>
          <p:nvPr/>
        </p:nvGraphicFramePr>
        <p:xfrm>
          <a:off x="4788408" y="4175760"/>
          <a:ext cx="1972056" cy="502615"/>
        </p:xfrm>
        <a:graphic xmlns:a="http://schemas.openxmlformats.org/drawingml/2006/main">
          <a:graphicData uri="http://schemas.openxmlformats.org/drawingml/2006/chart">
            <c:chart xmlns:c="http://schemas.openxmlformats.org/drawingml/2006/chart" r:id="rId5"/>
          </a:graphicData>
        </a:graphic>
      </p:graphicFrame>
      <p:sp>
        <p:nvSpPr>
          <p:cNvPr id="34" name="Text 27"/>
          <p:cNvSpPr txBox="1"/>
          <p:nvPr/>
        </p:nvSpPr>
        <p:spPr>
          <a:xfrm>
            <a:off x="6632448" y="328879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5" name="Shape 28"/>
          <p:cNvSpPr/>
          <p:nvPr/>
        </p:nvSpPr>
        <p:spPr>
          <a:xfrm>
            <a:off x="4349496" y="4767072"/>
            <a:ext cx="3489960" cy="1478280"/>
          </a:xfrm>
          <a:prstGeom prst="rect">
            <a:avLst/>
          </a:prstGeom>
          <a:solidFill>
            <a:srgbClr val="F7F7F7"/>
          </a:solidFill>
          <a:ln/>
        </p:spPr>
      </p:sp>
      <p:sp>
        <p:nvSpPr>
          <p:cNvPr id="36" name="Text 29"/>
          <p:cNvSpPr txBox="1"/>
          <p:nvPr/>
        </p:nvSpPr>
        <p:spPr>
          <a:xfrm>
            <a:off x="4440936"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29</a:t>
            </a:r>
            <a:endParaRPr lang="en-US" sz="2000" dirty="0"/>
          </a:p>
        </p:txBody>
      </p:sp>
      <p:sp>
        <p:nvSpPr>
          <p:cNvPr id="37" name="Text 30"/>
          <p:cNvSpPr txBox="1"/>
          <p:nvPr/>
        </p:nvSpPr>
        <p:spPr>
          <a:xfrm>
            <a:off x="4788408"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graphicFrame>
        <p:nvGraphicFramePr>
          <p:cNvPr id="38" name="Chart 5" descr=""/>
          <p:cNvGraphicFramePr/>
          <p:nvPr/>
        </p:nvGraphicFramePr>
        <p:xfrm>
          <a:off x="4788408" y="5654040"/>
          <a:ext cx="1972056" cy="502615"/>
        </p:xfrm>
        <a:graphic xmlns:a="http://schemas.openxmlformats.org/drawingml/2006/main">
          <a:graphicData uri="http://schemas.openxmlformats.org/drawingml/2006/chart">
            <c:chart xmlns:c="http://schemas.openxmlformats.org/drawingml/2006/chart" r:id="rId6"/>
          </a:graphicData>
        </a:graphic>
      </p:graphicFrame>
      <p:sp>
        <p:nvSpPr>
          <p:cNvPr id="39" name="Text 31"/>
          <p:cNvSpPr txBox="1"/>
          <p:nvPr/>
        </p:nvSpPr>
        <p:spPr>
          <a:xfrm>
            <a:off x="6632448" y="476707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 pts</a:t>
            </a:r>
            <a:endParaRPr lang="en-US" sz="1600" dirty="0"/>
          </a:p>
        </p:txBody>
      </p:sp>
      <p:sp>
        <p:nvSpPr>
          <p:cNvPr id="40" name="Shape 32"/>
          <p:cNvSpPr/>
          <p:nvPr/>
        </p:nvSpPr>
        <p:spPr>
          <a:xfrm>
            <a:off x="8040624" y="1371600"/>
            <a:ext cx="3489960" cy="45720"/>
          </a:xfrm>
          <a:prstGeom prst="rect">
            <a:avLst/>
          </a:prstGeom>
          <a:solidFill>
            <a:srgbClr val="2587C5"/>
          </a:solidFill>
          <a:ln/>
        </p:spPr>
      </p:sp>
      <p:sp>
        <p:nvSpPr>
          <p:cNvPr id="41" name="Text 33"/>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42" name="Shape 34"/>
          <p:cNvSpPr/>
          <p:nvPr/>
        </p:nvSpPr>
        <p:spPr>
          <a:xfrm>
            <a:off x="8040624" y="1810512"/>
            <a:ext cx="3489960" cy="1478280"/>
          </a:xfrm>
          <a:prstGeom prst="rect">
            <a:avLst/>
          </a:prstGeom>
          <a:solidFill>
            <a:srgbClr val="F7F7F7"/>
          </a:solidFill>
          <a:ln/>
        </p:spPr>
      </p:sp>
      <p:sp>
        <p:nvSpPr>
          <p:cNvPr id="43" name="Shape 35"/>
          <p:cNvSpPr/>
          <p:nvPr/>
        </p:nvSpPr>
        <p:spPr>
          <a:xfrm>
            <a:off x="11466576" y="1847088"/>
            <a:ext cx="64008" cy="1405128"/>
          </a:xfrm>
          <a:prstGeom prst="rect">
            <a:avLst/>
          </a:prstGeom>
          <a:solidFill>
            <a:srgbClr val="12A566"/>
          </a:solidFill>
          <a:ln/>
        </p:spPr>
      </p:sp>
      <p:sp>
        <p:nvSpPr>
          <p:cNvPr id="44" name="Text 36"/>
          <p:cNvSpPr txBox="1"/>
          <p:nvPr/>
        </p:nvSpPr>
        <p:spPr>
          <a:xfrm>
            <a:off x="8132064"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45" name="Text 37"/>
          <p:cNvSpPr txBox="1"/>
          <p:nvPr/>
        </p:nvSpPr>
        <p:spPr>
          <a:xfrm>
            <a:off x="8479536"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46" name="Chart 6" descr=""/>
          <p:cNvGraphicFramePr/>
          <p:nvPr/>
        </p:nvGraphicFramePr>
        <p:xfrm>
          <a:off x="8479536" y="2697480"/>
          <a:ext cx="1972056" cy="502615"/>
        </p:xfrm>
        <a:graphic xmlns:a="http://schemas.openxmlformats.org/drawingml/2006/main">
          <a:graphicData uri="http://schemas.openxmlformats.org/drawingml/2006/chart">
            <c:chart xmlns:c="http://schemas.openxmlformats.org/drawingml/2006/chart" r:id="rId7"/>
          </a:graphicData>
        </a:graphic>
      </p:graphicFrame>
      <p:graphicFrame>
        <p:nvGraphicFramePr>
          <p:cNvPr id="47" name="Chart 7" descr=""/>
          <p:cNvGraphicFramePr/>
          <p:nvPr/>
        </p:nvGraphicFramePr>
        <p:xfrm>
          <a:off x="8479536" y="2697480"/>
          <a:ext cx="1972056" cy="502615"/>
        </p:xfrm>
        <a:graphic xmlns:a="http://schemas.openxmlformats.org/drawingml/2006/main">
          <a:graphicData uri="http://schemas.openxmlformats.org/drawingml/2006/chart">
            <c:chart xmlns:c="http://schemas.openxmlformats.org/drawingml/2006/chart" r:id="rId8"/>
          </a:graphicData>
        </a:graphic>
      </p:graphicFrame>
      <p:sp>
        <p:nvSpPr>
          <p:cNvPr id="48" name="Text 38"/>
          <p:cNvSpPr txBox="1"/>
          <p:nvPr/>
        </p:nvSpPr>
        <p:spPr>
          <a:xfrm>
            <a:off x="10323576"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49" name="Text 39"/>
          <p:cNvSpPr txBox="1"/>
          <p:nvPr/>
        </p:nvSpPr>
        <p:spPr>
          <a:xfrm>
            <a:off x="8132064"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50" name="Text 40"/>
          <p:cNvSpPr txBox="1"/>
          <p:nvPr/>
        </p:nvSpPr>
        <p:spPr>
          <a:xfrm>
            <a:off x="8479536"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graphicFrame>
        <p:nvGraphicFramePr>
          <p:cNvPr id="51" name="Chart 8" descr=""/>
          <p:cNvGraphicFramePr/>
          <p:nvPr/>
        </p:nvGraphicFramePr>
        <p:xfrm>
          <a:off x="8479536" y="4175760"/>
          <a:ext cx="1972056" cy="502615"/>
        </p:xfrm>
        <a:graphic xmlns:a="http://schemas.openxmlformats.org/drawingml/2006/main">
          <a:graphicData uri="http://schemas.openxmlformats.org/drawingml/2006/chart">
            <c:chart xmlns:c="http://schemas.openxmlformats.org/drawingml/2006/chart" r:id="rId9"/>
          </a:graphicData>
        </a:graphic>
      </p:graphicFrame>
      <p:graphicFrame>
        <p:nvGraphicFramePr>
          <p:cNvPr id="52" name="Chart 9" descr=""/>
          <p:cNvGraphicFramePr/>
          <p:nvPr/>
        </p:nvGraphicFramePr>
        <p:xfrm>
          <a:off x="8479536" y="4175760"/>
          <a:ext cx="1972056" cy="502615"/>
        </p:xfrm>
        <a:graphic xmlns:a="http://schemas.openxmlformats.org/drawingml/2006/main">
          <a:graphicData uri="http://schemas.openxmlformats.org/drawingml/2006/chart">
            <c:chart xmlns:c="http://schemas.openxmlformats.org/drawingml/2006/chart" r:id="rId10"/>
          </a:graphicData>
        </a:graphic>
      </p:graphicFrame>
      <p:sp>
        <p:nvSpPr>
          <p:cNvPr id="53" name="Text 41"/>
          <p:cNvSpPr txBox="1"/>
          <p:nvPr/>
        </p:nvSpPr>
        <p:spPr>
          <a:xfrm>
            <a:off x="10323576"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4" name="Shape 42"/>
          <p:cNvSpPr/>
          <p:nvPr/>
        </p:nvSpPr>
        <p:spPr>
          <a:xfrm>
            <a:off x="8040624" y="4767072"/>
            <a:ext cx="3489960" cy="1478280"/>
          </a:xfrm>
          <a:prstGeom prst="rect">
            <a:avLst/>
          </a:prstGeom>
          <a:solidFill>
            <a:srgbClr val="F7F7F7"/>
          </a:solidFill>
          <a:ln/>
        </p:spPr>
      </p:sp>
      <p:sp>
        <p:nvSpPr>
          <p:cNvPr id="55" name="Text 43"/>
          <p:cNvSpPr txBox="1"/>
          <p:nvPr/>
        </p:nvSpPr>
        <p:spPr>
          <a:xfrm>
            <a:off x="8132064"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56" name="Text 44"/>
          <p:cNvSpPr txBox="1"/>
          <p:nvPr/>
        </p:nvSpPr>
        <p:spPr>
          <a:xfrm>
            <a:off x="8479536"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57" name="Chart 10" descr=""/>
          <p:cNvGraphicFramePr/>
          <p:nvPr/>
        </p:nvGraphicFramePr>
        <p:xfrm>
          <a:off x="8479536" y="5654040"/>
          <a:ext cx="1972056" cy="502615"/>
        </p:xfrm>
        <a:graphic xmlns:a="http://schemas.openxmlformats.org/drawingml/2006/main">
          <a:graphicData uri="http://schemas.openxmlformats.org/drawingml/2006/chart">
            <c:chart xmlns:c="http://schemas.openxmlformats.org/drawingml/2006/chart" r:id="rId11"/>
          </a:graphicData>
        </a:graphic>
      </p:graphicFrame>
      <p:graphicFrame>
        <p:nvGraphicFramePr>
          <p:cNvPr id="58" name="Chart 11" descr=""/>
          <p:cNvGraphicFramePr/>
          <p:nvPr/>
        </p:nvGraphicFramePr>
        <p:xfrm>
          <a:off x="8479536" y="5654040"/>
          <a:ext cx="1972056" cy="502615"/>
        </p:xfrm>
        <a:graphic xmlns:a="http://schemas.openxmlformats.org/drawingml/2006/main">
          <a:graphicData uri="http://schemas.openxmlformats.org/drawingml/2006/chart">
            <c:chart xmlns:c="http://schemas.openxmlformats.org/drawingml/2006/chart" r:id="rId12"/>
          </a:graphicData>
        </a:graphic>
      </p:graphicFrame>
      <p:sp>
        <p:nvSpPr>
          <p:cNvPr id="59" name="Text 45"/>
          <p:cNvSpPr txBox="1"/>
          <p:nvPr/>
        </p:nvSpPr>
        <p:spPr>
          <a:xfrm>
            <a:off x="10323576"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9.2%, ahead of 2025 in all nine months, but 0.8 pts under the 10% benchmark — 1,985 brake fluid services short.</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The group sits at 9.2%.</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9" name="Shape 7"/>
          <p:cNvSpPr/>
          <p:nvPr/>
        </p:nvSpPr>
        <p:spPr>
          <a:xfrm>
            <a:off x="658368" y="1810512"/>
            <a:ext cx="3489960" cy="1478280"/>
          </a:xfrm>
          <a:prstGeom prst="rect">
            <a:avLst/>
          </a:prstGeom>
          <a:solidFill>
            <a:srgbClr val="F7F7F7"/>
          </a:solidFill>
          <a:ln/>
        </p:spPr>
      </p:sp>
      <p:sp>
        <p:nvSpPr>
          <p:cNvPr id="10" name="Text 8"/>
          <p:cNvSpPr txBox="1"/>
          <p:nvPr/>
        </p:nvSpPr>
        <p:spPr>
          <a:xfrm>
            <a:off x="749808"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1" name="Text 9"/>
          <p:cNvSpPr txBox="1"/>
          <p:nvPr/>
        </p:nvSpPr>
        <p:spPr>
          <a:xfrm>
            <a:off x="1097280"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graphicFrame>
        <p:nvGraphicFramePr>
          <p:cNvPr id="12" name="Chart 0" descr=""/>
          <p:cNvGraphicFramePr/>
          <p:nvPr/>
        </p:nvGraphicFramePr>
        <p:xfrm>
          <a:off x="1097280" y="2697480"/>
          <a:ext cx="1972056" cy="502615"/>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2941320"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4" name="Text 11"/>
          <p:cNvSpPr txBox="1"/>
          <p:nvPr/>
        </p:nvSpPr>
        <p:spPr>
          <a:xfrm>
            <a:off x="749808"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5" name="Text 12"/>
          <p:cNvSpPr txBox="1"/>
          <p:nvPr/>
        </p:nvSpPr>
        <p:spPr>
          <a:xfrm>
            <a:off x="1097280"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graphicFrame>
        <p:nvGraphicFramePr>
          <p:cNvPr id="16" name="Chart 1" descr=""/>
          <p:cNvGraphicFramePr/>
          <p:nvPr/>
        </p:nvGraphicFramePr>
        <p:xfrm>
          <a:off x="1097280" y="4175760"/>
          <a:ext cx="1972056" cy="502615"/>
        </p:xfrm>
        <a:graphic xmlns:a="http://schemas.openxmlformats.org/drawingml/2006/main">
          <a:graphicData uri="http://schemas.openxmlformats.org/drawingml/2006/chart">
            <c:chart xmlns:c="http://schemas.openxmlformats.org/drawingml/2006/chart" r:id="rId2"/>
          </a:graphicData>
        </a:graphic>
      </p:graphicFrame>
      <p:sp>
        <p:nvSpPr>
          <p:cNvPr id="17" name="Text 13"/>
          <p:cNvSpPr txBox="1"/>
          <p:nvPr/>
        </p:nvSpPr>
        <p:spPr>
          <a:xfrm>
            <a:off x="2941320"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8" name="Shape 14"/>
          <p:cNvSpPr/>
          <p:nvPr/>
        </p:nvSpPr>
        <p:spPr>
          <a:xfrm>
            <a:off x="658368" y="4767072"/>
            <a:ext cx="3489960" cy="1478280"/>
          </a:xfrm>
          <a:prstGeom prst="rect">
            <a:avLst/>
          </a:prstGeom>
          <a:solidFill>
            <a:srgbClr val="F7F7F7"/>
          </a:solidFill>
          <a:ln/>
        </p:spPr>
      </p:sp>
      <p:sp>
        <p:nvSpPr>
          <p:cNvPr id="19" name="Text 15"/>
          <p:cNvSpPr txBox="1"/>
          <p:nvPr/>
        </p:nvSpPr>
        <p:spPr>
          <a:xfrm>
            <a:off x="749808"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20" name="Text 16"/>
          <p:cNvSpPr txBox="1"/>
          <p:nvPr/>
        </p:nvSpPr>
        <p:spPr>
          <a:xfrm>
            <a:off x="1097280"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graphicFrame>
        <p:nvGraphicFramePr>
          <p:cNvPr id="21" name="Chart 2" descr=""/>
          <p:cNvGraphicFramePr/>
          <p:nvPr/>
        </p:nvGraphicFramePr>
        <p:xfrm>
          <a:off x="1097280" y="5654040"/>
          <a:ext cx="1972056" cy="502615"/>
        </p:xfrm>
        <a:graphic xmlns:a="http://schemas.openxmlformats.org/drawingml/2006/main">
          <a:graphicData uri="http://schemas.openxmlformats.org/drawingml/2006/chart">
            <c:chart xmlns:c="http://schemas.openxmlformats.org/drawingml/2006/chart" r:id="rId3"/>
          </a:graphicData>
        </a:graphic>
      </p:graphicFrame>
      <p:sp>
        <p:nvSpPr>
          <p:cNvPr id="22" name="Text 17"/>
          <p:cNvSpPr txBox="1"/>
          <p:nvPr/>
        </p:nvSpPr>
        <p:spPr>
          <a:xfrm>
            <a:off x="2941320"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3" name="Shape 18"/>
          <p:cNvSpPr/>
          <p:nvPr/>
        </p:nvSpPr>
        <p:spPr>
          <a:xfrm>
            <a:off x="4349496" y="1371600"/>
            <a:ext cx="3489960" cy="45720"/>
          </a:xfrm>
          <a:prstGeom prst="rect">
            <a:avLst/>
          </a:prstGeom>
          <a:solidFill>
            <a:srgbClr val="C2352F"/>
          </a:solidFill>
          <a:ln/>
        </p:spPr>
      </p:sp>
      <p:sp>
        <p:nvSpPr>
          <p:cNvPr id="24" name="Text 1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5" name="Shape 20"/>
          <p:cNvSpPr/>
          <p:nvPr/>
        </p:nvSpPr>
        <p:spPr>
          <a:xfrm>
            <a:off x="4349496" y="1810512"/>
            <a:ext cx="3489960" cy="1478280"/>
          </a:xfrm>
          <a:prstGeom prst="rect">
            <a:avLst/>
          </a:prstGeom>
          <a:solidFill>
            <a:srgbClr val="F7F7F7"/>
          </a:solidFill>
          <a:ln/>
        </p:spPr>
      </p:sp>
      <p:sp>
        <p:nvSpPr>
          <p:cNvPr id="26" name="Text 21"/>
          <p:cNvSpPr txBox="1"/>
          <p:nvPr/>
        </p:nvSpPr>
        <p:spPr>
          <a:xfrm>
            <a:off x="4440936"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33</a:t>
            </a:r>
            <a:endParaRPr lang="en-US" sz="2000" dirty="0"/>
          </a:p>
        </p:txBody>
      </p:sp>
      <p:sp>
        <p:nvSpPr>
          <p:cNvPr id="27" name="Text 22"/>
          <p:cNvSpPr txBox="1"/>
          <p:nvPr/>
        </p:nvSpPr>
        <p:spPr>
          <a:xfrm>
            <a:off x="4788408"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graphicFrame>
        <p:nvGraphicFramePr>
          <p:cNvPr id="28" name="Chart 3" descr=""/>
          <p:cNvGraphicFramePr/>
          <p:nvPr/>
        </p:nvGraphicFramePr>
        <p:xfrm>
          <a:off x="4788408" y="2697480"/>
          <a:ext cx="1972056" cy="502615"/>
        </p:xfrm>
        <a:graphic xmlns:a="http://schemas.openxmlformats.org/drawingml/2006/main">
          <a:graphicData uri="http://schemas.openxmlformats.org/drawingml/2006/chart">
            <c:chart xmlns:c="http://schemas.openxmlformats.org/drawingml/2006/chart" r:id="rId4"/>
          </a:graphicData>
        </a:graphic>
      </p:graphicFrame>
      <p:sp>
        <p:nvSpPr>
          <p:cNvPr id="29" name="Text 23"/>
          <p:cNvSpPr txBox="1"/>
          <p:nvPr/>
        </p:nvSpPr>
        <p:spPr>
          <a:xfrm>
            <a:off x="6632448" y="181051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30" name="Text 24"/>
          <p:cNvSpPr txBox="1"/>
          <p:nvPr/>
        </p:nvSpPr>
        <p:spPr>
          <a:xfrm>
            <a:off x="4440936"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32</a:t>
            </a:r>
            <a:endParaRPr lang="en-US" sz="2000" dirty="0"/>
          </a:p>
        </p:txBody>
      </p:sp>
      <p:sp>
        <p:nvSpPr>
          <p:cNvPr id="31" name="Text 25"/>
          <p:cNvSpPr txBox="1"/>
          <p:nvPr/>
        </p:nvSpPr>
        <p:spPr>
          <a:xfrm>
            <a:off x="4788408"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graphicFrame>
        <p:nvGraphicFramePr>
          <p:cNvPr id="32" name="Chart 4" descr=""/>
          <p:cNvGraphicFramePr/>
          <p:nvPr/>
        </p:nvGraphicFramePr>
        <p:xfrm>
          <a:off x="4788408" y="4175760"/>
          <a:ext cx="1972056" cy="502615"/>
        </p:xfrm>
        <a:graphic xmlns:a="http://schemas.openxmlformats.org/drawingml/2006/main">
          <a:graphicData uri="http://schemas.openxmlformats.org/drawingml/2006/chart">
            <c:chart xmlns:c="http://schemas.openxmlformats.org/drawingml/2006/chart" r:id="rId5"/>
          </a:graphicData>
        </a:graphic>
      </p:graphicFrame>
      <p:sp>
        <p:nvSpPr>
          <p:cNvPr id="33" name="Text 26"/>
          <p:cNvSpPr txBox="1"/>
          <p:nvPr/>
        </p:nvSpPr>
        <p:spPr>
          <a:xfrm>
            <a:off x="6632448" y="328879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4" name="Shape 27"/>
          <p:cNvSpPr/>
          <p:nvPr/>
        </p:nvSpPr>
        <p:spPr>
          <a:xfrm>
            <a:off x="4349496" y="4767072"/>
            <a:ext cx="3489960" cy="1478280"/>
          </a:xfrm>
          <a:prstGeom prst="rect">
            <a:avLst/>
          </a:prstGeom>
          <a:solidFill>
            <a:srgbClr val="F7F7F7"/>
          </a:solidFill>
          <a:ln/>
        </p:spPr>
      </p:sp>
      <p:sp>
        <p:nvSpPr>
          <p:cNvPr id="35" name="Text 28"/>
          <p:cNvSpPr txBox="1"/>
          <p:nvPr/>
        </p:nvSpPr>
        <p:spPr>
          <a:xfrm>
            <a:off x="4440936"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31</a:t>
            </a:r>
            <a:endParaRPr lang="en-US" sz="2000" dirty="0"/>
          </a:p>
        </p:txBody>
      </p:sp>
      <p:sp>
        <p:nvSpPr>
          <p:cNvPr id="36" name="Text 29"/>
          <p:cNvSpPr txBox="1"/>
          <p:nvPr/>
        </p:nvSpPr>
        <p:spPr>
          <a:xfrm>
            <a:off x="4788408"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graphicFrame>
        <p:nvGraphicFramePr>
          <p:cNvPr id="37" name="Chart 5" descr=""/>
          <p:cNvGraphicFramePr/>
          <p:nvPr/>
        </p:nvGraphicFramePr>
        <p:xfrm>
          <a:off x="4788408" y="5654040"/>
          <a:ext cx="1972056" cy="502615"/>
        </p:xfrm>
        <a:graphic xmlns:a="http://schemas.openxmlformats.org/drawingml/2006/main">
          <a:graphicData uri="http://schemas.openxmlformats.org/drawingml/2006/chart">
            <c:chart xmlns:c="http://schemas.openxmlformats.org/drawingml/2006/chart" r:id="rId6"/>
          </a:graphicData>
        </a:graphic>
      </p:graphicFrame>
      <p:sp>
        <p:nvSpPr>
          <p:cNvPr id="38" name="Text 30"/>
          <p:cNvSpPr txBox="1"/>
          <p:nvPr/>
        </p:nvSpPr>
        <p:spPr>
          <a:xfrm>
            <a:off x="6632448" y="476707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39" name="Shape 31"/>
          <p:cNvSpPr/>
          <p:nvPr/>
        </p:nvSpPr>
        <p:spPr>
          <a:xfrm>
            <a:off x="8040624" y="1371600"/>
            <a:ext cx="3489960" cy="45720"/>
          </a:xfrm>
          <a:prstGeom prst="rect">
            <a:avLst/>
          </a:prstGeom>
          <a:solidFill>
            <a:srgbClr val="2587C5"/>
          </a:solidFill>
          <a:ln/>
        </p:spPr>
      </p:sp>
      <p:sp>
        <p:nvSpPr>
          <p:cNvPr id="40" name="Text 32"/>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41" name="Shape 33"/>
          <p:cNvSpPr/>
          <p:nvPr/>
        </p:nvSpPr>
        <p:spPr>
          <a:xfrm>
            <a:off x="8040624" y="1810512"/>
            <a:ext cx="3489960" cy="1478280"/>
          </a:xfrm>
          <a:prstGeom prst="rect">
            <a:avLst/>
          </a:prstGeom>
          <a:solidFill>
            <a:srgbClr val="F7F7F7"/>
          </a:solidFill>
          <a:ln/>
        </p:spPr>
      </p:sp>
      <p:sp>
        <p:nvSpPr>
          <p:cNvPr id="42" name="Text 34"/>
          <p:cNvSpPr txBox="1"/>
          <p:nvPr/>
        </p:nvSpPr>
        <p:spPr>
          <a:xfrm>
            <a:off x="8132064"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43" name="Text 35"/>
          <p:cNvSpPr txBox="1"/>
          <p:nvPr/>
        </p:nvSpPr>
        <p:spPr>
          <a:xfrm>
            <a:off x="8479536"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44" name="Chart 6" descr=""/>
          <p:cNvGraphicFramePr/>
          <p:nvPr/>
        </p:nvGraphicFramePr>
        <p:xfrm>
          <a:off x="8479536" y="2697480"/>
          <a:ext cx="1972056" cy="502615"/>
        </p:xfrm>
        <a:graphic xmlns:a="http://schemas.openxmlformats.org/drawingml/2006/main">
          <a:graphicData uri="http://schemas.openxmlformats.org/drawingml/2006/chart">
            <c:chart xmlns:c="http://schemas.openxmlformats.org/drawingml/2006/chart" r:id="rId7"/>
          </a:graphicData>
        </a:graphic>
      </p:graphicFrame>
      <p:graphicFrame>
        <p:nvGraphicFramePr>
          <p:cNvPr id="45" name="Chart 7" descr=""/>
          <p:cNvGraphicFramePr/>
          <p:nvPr/>
        </p:nvGraphicFramePr>
        <p:xfrm>
          <a:off x="8479536" y="2697480"/>
          <a:ext cx="1972056" cy="502615"/>
        </p:xfrm>
        <a:graphic xmlns:a="http://schemas.openxmlformats.org/drawingml/2006/main">
          <a:graphicData uri="http://schemas.openxmlformats.org/drawingml/2006/chart">
            <c:chart xmlns:c="http://schemas.openxmlformats.org/drawingml/2006/chart" r:id="rId8"/>
          </a:graphicData>
        </a:graphic>
      </p:graphicFrame>
      <p:sp>
        <p:nvSpPr>
          <p:cNvPr id="46" name="Text 36"/>
          <p:cNvSpPr txBox="1"/>
          <p:nvPr/>
        </p:nvSpPr>
        <p:spPr>
          <a:xfrm>
            <a:off x="10323576"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47" name="Text 37"/>
          <p:cNvSpPr txBox="1"/>
          <p:nvPr/>
        </p:nvSpPr>
        <p:spPr>
          <a:xfrm>
            <a:off x="8132064"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48" name="Text 38"/>
          <p:cNvSpPr txBox="1"/>
          <p:nvPr/>
        </p:nvSpPr>
        <p:spPr>
          <a:xfrm>
            <a:off x="8479536"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49" name="Chart 8" descr=""/>
          <p:cNvGraphicFramePr/>
          <p:nvPr/>
        </p:nvGraphicFramePr>
        <p:xfrm>
          <a:off x="8479536" y="4175760"/>
          <a:ext cx="1972056" cy="502615"/>
        </p:xfrm>
        <a:graphic xmlns:a="http://schemas.openxmlformats.org/drawingml/2006/main">
          <a:graphicData uri="http://schemas.openxmlformats.org/drawingml/2006/chart">
            <c:chart xmlns:c="http://schemas.openxmlformats.org/drawingml/2006/chart" r:id="rId9"/>
          </a:graphicData>
        </a:graphic>
      </p:graphicFrame>
      <p:graphicFrame>
        <p:nvGraphicFramePr>
          <p:cNvPr id="50" name="Chart 9" descr=""/>
          <p:cNvGraphicFramePr/>
          <p:nvPr/>
        </p:nvGraphicFramePr>
        <p:xfrm>
          <a:off x="8479536" y="4175760"/>
          <a:ext cx="1972056" cy="502615"/>
        </p:xfrm>
        <a:graphic xmlns:a="http://schemas.openxmlformats.org/drawingml/2006/main">
          <a:graphicData uri="http://schemas.openxmlformats.org/drawingml/2006/chart">
            <c:chart xmlns:c="http://schemas.openxmlformats.org/drawingml/2006/chart" r:id="rId10"/>
          </a:graphicData>
        </a:graphic>
      </p:graphicFrame>
      <p:sp>
        <p:nvSpPr>
          <p:cNvPr id="51" name="Text 39"/>
          <p:cNvSpPr txBox="1"/>
          <p:nvPr/>
        </p:nvSpPr>
        <p:spPr>
          <a:xfrm>
            <a:off x="10323576"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2" name="Shape 40"/>
          <p:cNvSpPr/>
          <p:nvPr/>
        </p:nvSpPr>
        <p:spPr>
          <a:xfrm>
            <a:off x="8040624" y="4767072"/>
            <a:ext cx="3489960" cy="1478280"/>
          </a:xfrm>
          <a:prstGeom prst="rect">
            <a:avLst/>
          </a:prstGeom>
          <a:solidFill>
            <a:srgbClr val="F7F7F7"/>
          </a:solidFill>
          <a:ln/>
        </p:spPr>
      </p:sp>
      <p:sp>
        <p:nvSpPr>
          <p:cNvPr id="53" name="Text 41"/>
          <p:cNvSpPr txBox="1"/>
          <p:nvPr/>
        </p:nvSpPr>
        <p:spPr>
          <a:xfrm>
            <a:off x="8132064"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54" name="Text 42"/>
          <p:cNvSpPr txBox="1"/>
          <p:nvPr/>
        </p:nvSpPr>
        <p:spPr>
          <a:xfrm>
            <a:off x="8479536"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graphicFrame>
        <p:nvGraphicFramePr>
          <p:cNvPr id="55" name="Chart 10" descr=""/>
          <p:cNvGraphicFramePr/>
          <p:nvPr/>
        </p:nvGraphicFramePr>
        <p:xfrm>
          <a:off x="8479536" y="5654040"/>
          <a:ext cx="1972056" cy="502615"/>
        </p:xfrm>
        <a:graphic xmlns:a="http://schemas.openxmlformats.org/drawingml/2006/main">
          <a:graphicData uri="http://schemas.openxmlformats.org/drawingml/2006/chart">
            <c:chart xmlns:c="http://schemas.openxmlformats.org/drawingml/2006/chart" r:id="rId11"/>
          </a:graphicData>
        </a:graphic>
      </p:graphicFrame>
      <p:graphicFrame>
        <p:nvGraphicFramePr>
          <p:cNvPr id="56" name="Chart 11" descr=""/>
          <p:cNvGraphicFramePr/>
          <p:nvPr/>
        </p:nvGraphicFramePr>
        <p:xfrm>
          <a:off x="8479536" y="5654040"/>
          <a:ext cx="1972056" cy="502615"/>
        </p:xfrm>
        <a:graphic xmlns:a="http://schemas.openxmlformats.org/drawingml/2006/main">
          <a:graphicData uri="http://schemas.openxmlformats.org/drawingml/2006/chart">
            <c:chart xmlns:c="http://schemas.openxmlformats.org/drawingml/2006/chart" r:id="rId12"/>
          </a:graphicData>
        </a:graphic>
      </p:graphicFrame>
      <p:sp>
        <p:nvSpPr>
          <p:cNvPr id="57" name="Text 43"/>
          <p:cNvSpPr txBox="1"/>
          <p:nvPr/>
        </p:nvSpPr>
        <p:spPr>
          <a:xfrm>
            <a:off x="10323576"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5.8%, ahead of 2025 in all nine months, but 1.7 pts under the 7.5% benchmark — 4,731 fuel services short.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The group sits at 5.8%.</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3 VS LAST YEAR</a:t>
            </a:r>
            <a:endParaRPr lang="en-US" sz="1500" dirty="0"/>
          </a:p>
        </p:txBody>
      </p:sp>
      <p:sp>
        <p:nvSpPr>
          <p:cNvPr id="9" name="Shape 7"/>
          <p:cNvSpPr/>
          <p:nvPr/>
        </p:nvSpPr>
        <p:spPr>
          <a:xfrm>
            <a:off x="658368" y="1810512"/>
            <a:ext cx="3489960" cy="1478280"/>
          </a:xfrm>
          <a:prstGeom prst="rect">
            <a:avLst/>
          </a:prstGeom>
          <a:solidFill>
            <a:srgbClr val="F7F7F7"/>
          </a:solidFill>
          <a:ln/>
        </p:spPr>
      </p:sp>
      <p:sp>
        <p:nvSpPr>
          <p:cNvPr id="10" name="Text 8"/>
          <p:cNvSpPr txBox="1"/>
          <p:nvPr/>
        </p:nvSpPr>
        <p:spPr>
          <a:xfrm>
            <a:off x="749808"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11" name="Text 9"/>
          <p:cNvSpPr txBox="1"/>
          <p:nvPr/>
        </p:nvSpPr>
        <p:spPr>
          <a:xfrm>
            <a:off x="1097280"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12" name="Chart 0" descr=""/>
          <p:cNvGraphicFramePr/>
          <p:nvPr/>
        </p:nvGraphicFramePr>
        <p:xfrm>
          <a:off x="1097280" y="2697480"/>
          <a:ext cx="1972056" cy="502615"/>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2941320"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4" name="Text 11"/>
          <p:cNvSpPr txBox="1"/>
          <p:nvPr/>
        </p:nvSpPr>
        <p:spPr>
          <a:xfrm>
            <a:off x="749808"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15" name="Text 12"/>
          <p:cNvSpPr txBox="1"/>
          <p:nvPr/>
        </p:nvSpPr>
        <p:spPr>
          <a:xfrm>
            <a:off x="1097280"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graphicFrame>
        <p:nvGraphicFramePr>
          <p:cNvPr id="16" name="Chart 1" descr=""/>
          <p:cNvGraphicFramePr/>
          <p:nvPr/>
        </p:nvGraphicFramePr>
        <p:xfrm>
          <a:off x="1097280" y="4175760"/>
          <a:ext cx="1972056" cy="502615"/>
        </p:xfrm>
        <a:graphic xmlns:a="http://schemas.openxmlformats.org/drawingml/2006/main">
          <a:graphicData uri="http://schemas.openxmlformats.org/drawingml/2006/chart">
            <c:chart xmlns:c="http://schemas.openxmlformats.org/drawingml/2006/chart" r:id="rId2"/>
          </a:graphicData>
        </a:graphic>
      </p:graphicFrame>
      <p:sp>
        <p:nvSpPr>
          <p:cNvPr id="17" name="Text 13"/>
          <p:cNvSpPr txBox="1"/>
          <p:nvPr/>
        </p:nvSpPr>
        <p:spPr>
          <a:xfrm>
            <a:off x="2941320"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8" name="Shape 14"/>
          <p:cNvSpPr/>
          <p:nvPr/>
        </p:nvSpPr>
        <p:spPr>
          <a:xfrm>
            <a:off x="658368" y="4767072"/>
            <a:ext cx="3489960" cy="1478280"/>
          </a:xfrm>
          <a:prstGeom prst="rect">
            <a:avLst/>
          </a:prstGeom>
          <a:solidFill>
            <a:srgbClr val="F7F7F7"/>
          </a:solidFill>
          <a:ln/>
        </p:spPr>
      </p:sp>
      <p:sp>
        <p:nvSpPr>
          <p:cNvPr id="19" name="Text 15"/>
          <p:cNvSpPr txBox="1"/>
          <p:nvPr/>
        </p:nvSpPr>
        <p:spPr>
          <a:xfrm>
            <a:off x="749808"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20" name="Text 16"/>
          <p:cNvSpPr txBox="1"/>
          <p:nvPr/>
        </p:nvSpPr>
        <p:spPr>
          <a:xfrm>
            <a:off x="1097280"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graphicFrame>
        <p:nvGraphicFramePr>
          <p:cNvPr id="21" name="Chart 2" descr=""/>
          <p:cNvGraphicFramePr/>
          <p:nvPr/>
        </p:nvGraphicFramePr>
        <p:xfrm>
          <a:off x="1097280" y="5654040"/>
          <a:ext cx="1972056" cy="502615"/>
        </p:xfrm>
        <a:graphic xmlns:a="http://schemas.openxmlformats.org/drawingml/2006/main">
          <a:graphicData uri="http://schemas.openxmlformats.org/drawingml/2006/chart">
            <c:chart xmlns:c="http://schemas.openxmlformats.org/drawingml/2006/chart" r:id="rId3"/>
          </a:graphicData>
        </a:graphic>
      </p:graphicFrame>
      <p:sp>
        <p:nvSpPr>
          <p:cNvPr id="22" name="Text 17"/>
          <p:cNvSpPr txBox="1"/>
          <p:nvPr/>
        </p:nvSpPr>
        <p:spPr>
          <a:xfrm>
            <a:off x="2941320"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3" name="Shape 18"/>
          <p:cNvSpPr/>
          <p:nvPr/>
        </p:nvSpPr>
        <p:spPr>
          <a:xfrm>
            <a:off x="4349496" y="1371600"/>
            <a:ext cx="3489960" cy="45720"/>
          </a:xfrm>
          <a:prstGeom prst="rect">
            <a:avLst/>
          </a:prstGeom>
          <a:solidFill>
            <a:srgbClr val="C2352F"/>
          </a:solidFill>
          <a:ln/>
        </p:spPr>
      </p:sp>
      <p:sp>
        <p:nvSpPr>
          <p:cNvPr id="24" name="Text 1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3 VS LAST YEAR</a:t>
            </a:r>
            <a:endParaRPr lang="en-US" sz="1500" dirty="0"/>
          </a:p>
        </p:txBody>
      </p:sp>
      <p:sp>
        <p:nvSpPr>
          <p:cNvPr id="25" name="Shape 20"/>
          <p:cNvSpPr/>
          <p:nvPr/>
        </p:nvSpPr>
        <p:spPr>
          <a:xfrm>
            <a:off x="4349496" y="1810512"/>
            <a:ext cx="3489960" cy="1478280"/>
          </a:xfrm>
          <a:prstGeom prst="rect">
            <a:avLst/>
          </a:prstGeom>
          <a:solidFill>
            <a:srgbClr val="F7F7F7"/>
          </a:solidFill>
          <a:ln/>
        </p:spPr>
      </p:sp>
      <p:sp>
        <p:nvSpPr>
          <p:cNvPr id="26" name="Text 21"/>
          <p:cNvSpPr txBox="1"/>
          <p:nvPr/>
        </p:nvSpPr>
        <p:spPr>
          <a:xfrm>
            <a:off x="4440936"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29</a:t>
            </a:r>
            <a:endParaRPr lang="en-US" sz="2000" dirty="0"/>
          </a:p>
        </p:txBody>
      </p:sp>
      <p:sp>
        <p:nvSpPr>
          <p:cNvPr id="27" name="Text 22"/>
          <p:cNvSpPr txBox="1"/>
          <p:nvPr/>
        </p:nvSpPr>
        <p:spPr>
          <a:xfrm>
            <a:off x="4788408"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graphicFrame>
        <p:nvGraphicFramePr>
          <p:cNvPr id="28" name="Chart 3" descr=""/>
          <p:cNvGraphicFramePr/>
          <p:nvPr/>
        </p:nvGraphicFramePr>
        <p:xfrm>
          <a:off x="4788408" y="2697480"/>
          <a:ext cx="1972056" cy="502615"/>
        </p:xfrm>
        <a:graphic xmlns:a="http://schemas.openxmlformats.org/drawingml/2006/main">
          <a:graphicData uri="http://schemas.openxmlformats.org/drawingml/2006/chart">
            <c:chart xmlns:c="http://schemas.openxmlformats.org/drawingml/2006/chart" r:id="rId4"/>
          </a:graphicData>
        </a:graphic>
      </p:graphicFrame>
      <p:sp>
        <p:nvSpPr>
          <p:cNvPr id="29" name="Text 23"/>
          <p:cNvSpPr txBox="1"/>
          <p:nvPr/>
        </p:nvSpPr>
        <p:spPr>
          <a:xfrm>
            <a:off x="6632448" y="181051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 pts</a:t>
            </a:r>
            <a:endParaRPr lang="en-US" sz="1600" dirty="0"/>
          </a:p>
        </p:txBody>
      </p:sp>
      <p:sp>
        <p:nvSpPr>
          <p:cNvPr id="30" name="Text 24"/>
          <p:cNvSpPr txBox="1"/>
          <p:nvPr/>
        </p:nvSpPr>
        <p:spPr>
          <a:xfrm>
            <a:off x="4440936"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28</a:t>
            </a:r>
            <a:endParaRPr lang="en-US" sz="2000" dirty="0"/>
          </a:p>
        </p:txBody>
      </p:sp>
      <p:sp>
        <p:nvSpPr>
          <p:cNvPr id="31" name="Text 25"/>
          <p:cNvSpPr txBox="1"/>
          <p:nvPr/>
        </p:nvSpPr>
        <p:spPr>
          <a:xfrm>
            <a:off x="4788408"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graphicFrame>
        <p:nvGraphicFramePr>
          <p:cNvPr id="32" name="Chart 4" descr=""/>
          <p:cNvGraphicFramePr/>
          <p:nvPr/>
        </p:nvGraphicFramePr>
        <p:xfrm>
          <a:off x="4788408" y="4175760"/>
          <a:ext cx="1972056" cy="502615"/>
        </p:xfrm>
        <a:graphic xmlns:a="http://schemas.openxmlformats.org/drawingml/2006/main">
          <a:graphicData uri="http://schemas.openxmlformats.org/drawingml/2006/chart">
            <c:chart xmlns:c="http://schemas.openxmlformats.org/drawingml/2006/chart" r:id="rId5"/>
          </a:graphicData>
        </a:graphic>
      </p:graphicFrame>
      <p:sp>
        <p:nvSpPr>
          <p:cNvPr id="33" name="Text 26"/>
          <p:cNvSpPr txBox="1"/>
          <p:nvPr/>
        </p:nvSpPr>
        <p:spPr>
          <a:xfrm>
            <a:off x="6632448" y="328879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4" name="Shape 27"/>
          <p:cNvSpPr/>
          <p:nvPr/>
        </p:nvSpPr>
        <p:spPr>
          <a:xfrm>
            <a:off x="4349496" y="4767072"/>
            <a:ext cx="3489960" cy="1478280"/>
          </a:xfrm>
          <a:prstGeom prst="rect">
            <a:avLst/>
          </a:prstGeom>
          <a:solidFill>
            <a:srgbClr val="F7F7F7"/>
          </a:solidFill>
          <a:ln/>
        </p:spPr>
      </p:sp>
      <p:sp>
        <p:nvSpPr>
          <p:cNvPr id="35" name="Text 28"/>
          <p:cNvSpPr txBox="1"/>
          <p:nvPr/>
        </p:nvSpPr>
        <p:spPr>
          <a:xfrm>
            <a:off x="4440936"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27</a:t>
            </a:r>
            <a:endParaRPr lang="en-US" sz="2000" dirty="0"/>
          </a:p>
        </p:txBody>
      </p:sp>
      <p:sp>
        <p:nvSpPr>
          <p:cNvPr id="36" name="Text 29"/>
          <p:cNvSpPr txBox="1"/>
          <p:nvPr/>
        </p:nvSpPr>
        <p:spPr>
          <a:xfrm>
            <a:off x="4788408"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graphicFrame>
        <p:nvGraphicFramePr>
          <p:cNvPr id="37" name="Chart 5" descr=""/>
          <p:cNvGraphicFramePr/>
          <p:nvPr/>
        </p:nvGraphicFramePr>
        <p:xfrm>
          <a:off x="4788408" y="5654040"/>
          <a:ext cx="1972056" cy="502615"/>
        </p:xfrm>
        <a:graphic xmlns:a="http://schemas.openxmlformats.org/drawingml/2006/main">
          <a:graphicData uri="http://schemas.openxmlformats.org/drawingml/2006/chart">
            <c:chart xmlns:c="http://schemas.openxmlformats.org/drawingml/2006/chart" r:id="rId6"/>
          </a:graphicData>
        </a:graphic>
      </p:graphicFrame>
      <p:sp>
        <p:nvSpPr>
          <p:cNvPr id="38" name="Text 30"/>
          <p:cNvSpPr txBox="1"/>
          <p:nvPr/>
        </p:nvSpPr>
        <p:spPr>
          <a:xfrm>
            <a:off x="6632448" y="4767072"/>
            <a:ext cx="1115568" cy="1478280"/>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39" name="Shape 31"/>
          <p:cNvSpPr/>
          <p:nvPr/>
        </p:nvSpPr>
        <p:spPr>
          <a:xfrm>
            <a:off x="8040624" y="1371600"/>
            <a:ext cx="3489960" cy="45720"/>
          </a:xfrm>
          <a:prstGeom prst="rect">
            <a:avLst/>
          </a:prstGeom>
          <a:solidFill>
            <a:srgbClr val="2587C5"/>
          </a:solidFill>
          <a:ln/>
        </p:spPr>
      </p:sp>
      <p:sp>
        <p:nvSpPr>
          <p:cNvPr id="40" name="Text 32"/>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3 MOVING NOW</a:t>
            </a:r>
            <a:endParaRPr lang="en-US" sz="1500" dirty="0"/>
          </a:p>
        </p:txBody>
      </p:sp>
      <p:sp>
        <p:nvSpPr>
          <p:cNvPr id="41" name="Shape 33"/>
          <p:cNvSpPr/>
          <p:nvPr/>
        </p:nvSpPr>
        <p:spPr>
          <a:xfrm>
            <a:off x="8040624" y="1810512"/>
            <a:ext cx="3489960" cy="1478280"/>
          </a:xfrm>
          <a:prstGeom prst="rect">
            <a:avLst/>
          </a:prstGeom>
          <a:solidFill>
            <a:srgbClr val="F7F7F7"/>
          </a:solidFill>
          <a:ln/>
        </p:spPr>
      </p:sp>
      <p:sp>
        <p:nvSpPr>
          <p:cNvPr id="42" name="Text 34"/>
          <p:cNvSpPr txBox="1"/>
          <p:nvPr/>
        </p:nvSpPr>
        <p:spPr>
          <a:xfrm>
            <a:off x="8132064" y="181051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1</a:t>
            </a:r>
            <a:endParaRPr lang="en-US" sz="2000" dirty="0"/>
          </a:p>
        </p:txBody>
      </p:sp>
      <p:sp>
        <p:nvSpPr>
          <p:cNvPr id="43" name="Text 35"/>
          <p:cNvSpPr txBox="1"/>
          <p:nvPr/>
        </p:nvSpPr>
        <p:spPr>
          <a:xfrm>
            <a:off x="8479536" y="188442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graphicFrame>
        <p:nvGraphicFramePr>
          <p:cNvPr id="44" name="Chart 6" descr=""/>
          <p:cNvGraphicFramePr/>
          <p:nvPr/>
        </p:nvGraphicFramePr>
        <p:xfrm>
          <a:off x="8479536" y="2697480"/>
          <a:ext cx="1972056" cy="502615"/>
        </p:xfrm>
        <a:graphic xmlns:a="http://schemas.openxmlformats.org/drawingml/2006/main">
          <a:graphicData uri="http://schemas.openxmlformats.org/drawingml/2006/chart">
            <c:chart xmlns:c="http://schemas.openxmlformats.org/drawingml/2006/chart" r:id="rId7"/>
          </a:graphicData>
        </a:graphic>
      </p:graphicFrame>
      <p:graphicFrame>
        <p:nvGraphicFramePr>
          <p:cNvPr id="45" name="Chart 7" descr=""/>
          <p:cNvGraphicFramePr/>
          <p:nvPr/>
        </p:nvGraphicFramePr>
        <p:xfrm>
          <a:off x="8479536" y="2697480"/>
          <a:ext cx="1972056" cy="502615"/>
        </p:xfrm>
        <a:graphic xmlns:a="http://schemas.openxmlformats.org/drawingml/2006/main">
          <a:graphicData uri="http://schemas.openxmlformats.org/drawingml/2006/chart">
            <c:chart xmlns:c="http://schemas.openxmlformats.org/drawingml/2006/chart" r:id="rId8"/>
          </a:graphicData>
        </a:graphic>
      </p:graphicFrame>
      <p:sp>
        <p:nvSpPr>
          <p:cNvPr id="46" name="Text 36"/>
          <p:cNvSpPr txBox="1"/>
          <p:nvPr/>
        </p:nvSpPr>
        <p:spPr>
          <a:xfrm>
            <a:off x="10323576" y="181051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47" name="Text 37"/>
          <p:cNvSpPr txBox="1"/>
          <p:nvPr/>
        </p:nvSpPr>
        <p:spPr>
          <a:xfrm>
            <a:off x="8132064" y="328879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2</a:t>
            </a:r>
            <a:endParaRPr lang="en-US" sz="2000" dirty="0"/>
          </a:p>
        </p:txBody>
      </p:sp>
      <p:sp>
        <p:nvSpPr>
          <p:cNvPr id="48" name="Text 38"/>
          <p:cNvSpPr txBox="1"/>
          <p:nvPr/>
        </p:nvSpPr>
        <p:spPr>
          <a:xfrm>
            <a:off x="8479536" y="336270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49" name="Chart 8" descr=""/>
          <p:cNvGraphicFramePr/>
          <p:nvPr/>
        </p:nvGraphicFramePr>
        <p:xfrm>
          <a:off x="8479536" y="4175760"/>
          <a:ext cx="1972056" cy="502615"/>
        </p:xfrm>
        <a:graphic xmlns:a="http://schemas.openxmlformats.org/drawingml/2006/main">
          <a:graphicData uri="http://schemas.openxmlformats.org/drawingml/2006/chart">
            <c:chart xmlns:c="http://schemas.openxmlformats.org/drawingml/2006/chart" r:id="rId9"/>
          </a:graphicData>
        </a:graphic>
      </p:graphicFrame>
      <p:graphicFrame>
        <p:nvGraphicFramePr>
          <p:cNvPr id="50" name="Chart 9" descr=""/>
          <p:cNvGraphicFramePr/>
          <p:nvPr/>
        </p:nvGraphicFramePr>
        <p:xfrm>
          <a:off x="8479536" y="4175760"/>
          <a:ext cx="1972056" cy="502615"/>
        </p:xfrm>
        <a:graphic xmlns:a="http://schemas.openxmlformats.org/drawingml/2006/main">
          <a:graphicData uri="http://schemas.openxmlformats.org/drawingml/2006/chart">
            <c:chart xmlns:c="http://schemas.openxmlformats.org/drawingml/2006/chart" r:id="rId10"/>
          </a:graphicData>
        </a:graphic>
      </p:graphicFrame>
      <p:sp>
        <p:nvSpPr>
          <p:cNvPr id="51" name="Text 39"/>
          <p:cNvSpPr txBox="1"/>
          <p:nvPr/>
        </p:nvSpPr>
        <p:spPr>
          <a:xfrm>
            <a:off x="10323576" y="328879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2" name="Shape 40"/>
          <p:cNvSpPr/>
          <p:nvPr/>
        </p:nvSpPr>
        <p:spPr>
          <a:xfrm>
            <a:off x="8040624" y="4767072"/>
            <a:ext cx="3489960" cy="1478280"/>
          </a:xfrm>
          <a:prstGeom prst="rect">
            <a:avLst/>
          </a:prstGeom>
          <a:solidFill>
            <a:srgbClr val="F7F7F7"/>
          </a:solidFill>
          <a:ln/>
        </p:spPr>
      </p:sp>
      <p:sp>
        <p:nvSpPr>
          <p:cNvPr id="53" name="Text 41"/>
          <p:cNvSpPr txBox="1"/>
          <p:nvPr/>
        </p:nvSpPr>
        <p:spPr>
          <a:xfrm>
            <a:off x="8132064" y="4767072"/>
            <a:ext cx="365760" cy="1478280"/>
          </a:xfrm>
          <a:prstGeom prst="rect">
            <a:avLst/>
          </a:prstGeom>
          <a:noFill/>
          <a:ln/>
        </p:spPr>
        <p:txBody>
          <a:bodyPr wrap="square" lIns="0" tIns="0" rIns="0" bIns="0" rtlCol="0" anchor="ctr"/>
          <a:lstStyle/>
          <a:p>
            <a:pPr indent="0" marL="0">
              <a:buNone/>
            </a:pPr>
            <a:r>
              <a:rPr lang="en-US" sz="2000" b="1" dirty="0">
                <a:solidFill>
                  <a:srgbClr val="0B2C4A"/>
                </a:solidFill>
                <a:latin typeface="Inter" pitchFamily="34" charset="0"/>
                <a:ea typeface="Inter" pitchFamily="34" charset="-122"/>
                <a:cs typeface="Inter" pitchFamily="34" charset="-120"/>
              </a:rPr>
              <a:t>3</a:t>
            </a:r>
            <a:endParaRPr lang="en-US" sz="2000" dirty="0"/>
          </a:p>
        </p:txBody>
      </p:sp>
      <p:sp>
        <p:nvSpPr>
          <p:cNvPr id="54" name="Text 42"/>
          <p:cNvSpPr txBox="1"/>
          <p:nvPr/>
        </p:nvSpPr>
        <p:spPr>
          <a:xfrm>
            <a:off x="8479536" y="4840986"/>
            <a:ext cx="2959608" cy="76870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graphicFrame>
        <p:nvGraphicFramePr>
          <p:cNvPr id="55" name="Chart 10" descr=""/>
          <p:cNvGraphicFramePr/>
          <p:nvPr/>
        </p:nvGraphicFramePr>
        <p:xfrm>
          <a:off x="8479536" y="5654040"/>
          <a:ext cx="1972056" cy="502615"/>
        </p:xfrm>
        <a:graphic xmlns:a="http://schemas.openxmlformats.org/drawingml/2006/main">
          <a:graphicData uri="http://schemas.openxmlformats.org/drawingml/2006/chart">
            <c:chart xmlns:c="http://schemas.openxmlformats.org/drawingml/2006/chart" r:id="rId11"/>
          </a:graphicData>
        </a:graphic>
      </p:graphicFrame>
      <p:graphicFrame>
        <p:nvGraphicFramePr>
          <p:cNvPr id="56" name="Chart 11" descr=""/>
          <p:cNvGraphicFramePr/>
          <p:nvPr/>
        </p:nvGraphicFramePr>
        <p:xfrm>
          <a:off x="8479536" y="5654040"/>
          <a:ext cx="1972056" cy="502615"/>
        </p:xfrm>
        <a:graphic xmlns:a="http://schemas.openxmlformats.org/drawingml/2006/main">
          <a:graphicData uri="http://schemas.openxmlformats.org/drawingml/2006/chart">
            <c:chart xmlns:c="http://schemas.openxmlformats.org/drawingml/2006/chart" r:id="rId12"/>
          </a:graphicData>
        </a:graphic>
      </p:graphicFrame>
      <p:sp>
        <p:nvSpPr>
          <p:cNvPr id="57" name="Text 43"/>
          <p:cNvSpPr txBox="1"/>
          <p:nvPr/>
        </p:nvSpPr>
        <p:spPr>
          <a:xfrm>
            <a:off x="10323576" y="4767072"/>
            <a:ext cx="1115568" cy="147828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2026-10-29T16:33:49Z</dcterms:created>
  <dcterms:modified xsi:type="dcterms:W3CDTF">2026-10-29T16:33:49Z</dcterms:modified>
</cp:coreProperties>
</file>