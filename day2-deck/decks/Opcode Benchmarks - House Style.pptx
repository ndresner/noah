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12.2</c:v>
                </c:pt>
                <c:pt idx="1">
                  <c:v>13.3</c:v>
                </c:pt>
                <c:pt idx="2">
                  <c:v>13.4</c:v>
                </c:pt>
                <c:pt idx="3">
                  <c:v>14.2</c:v>
                </c:pt>
                <c:pt idx="4">
                  <c:v>13.6</c:v>
                </c:pt>
                <c:pt idx="5">
                  <c:v>13.5</c:v>
                </c:pt>
                <c:pt idx="6">
                  <c:v>13.3</c:v>
                </c:pt>
                <c:pt idx="7">
                  <c:v>13</c:v>
                </c:pt>
                <c:pt idx="8">
                  <c:v>13.1</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10"/>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12.2</c:v>
                </c:pt>
                <c:pt idx="1">
                  <c:v>13.3</c:v>
                </c:pt>
                <c:pt idx="2">
                  <c:v>13.4</c:v>
                </c:pt>
                <c:pt idx="3">
                  <c:v>14.2</c:v>
                </c:pt>
                <c:pt idx="4">
                  <c:v>13.6</c:v>
                </c:pt>
                <c:pt idx="5">
                  <c:v>13.5</c:v>
                </c:pt>
                <c:pt idx="6">
                  <c:v>13.3</c:v>
                </c:pt>
                <c:pt idx="7">
                  <c:v>13</c:v>
                </c:pt>
                <c:pt idx="8">
                  <c:v>13.1</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10"/>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
                </c:pt>
                <c:pt idx="6">
                  <c:v/>
                </c:pt>
                <c:pt idx="7">
                  <c:v/>
                </c:pt>
                <c:pt idx="8">
                  <c:v/>
                </c:pt>
                <c:pt idx="9">
                  <c:v>12.1</c:v>
                </c:pt>
                <c:pt idx="10">
                  <c:v>12.3</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10"/>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11.2</c:v>
                </c:pt>
                <c:pt idx="1">
                  <c:v>12.3</c:v>
                </c:pt>
                <c:pt idx="2">
                  <c:v>12.8</c:v>
                </c:pt>
                <c:pt idx="3">
                  <c:v>12.7</c:v>
                </c:pt>
                <c:pt idx="4">
                  <c:v>12.3</c:v>
                </c:pt>
                <c:pt idx="5">
                  <c:v>11.6</c:v>
                </c:pt>
                <c:pt idx="6">
                  <c:v>11.3</c:v>
                </c:pt>
                <c:pt idx="7">
                  <c:v>11.6</c:v>
                </c:pt>
                <c:pt idx="8">
                  <c:v>11.5</c:v>
                </c:pt>
                <c:pt idx="9">
                  <c:v/>
                </c:pt>
                <c:pt idx="10">
                  <c:v/>
                </c:pt>
                <c:pt idx="11">
                  <c:v>11.8</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10"/>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bench0</c:v>
                </c:pt>
              </c:strCache>
            </c:strRef>
          </c:tx>
          <c:spPr>
            <a:solidFill>
              <a:srgbClr val="595959"/>
            </a:solidFill>
            <a:ln w="25400" cap="flat">
              <a:solidFill>
                <a:srgbClr val="595959"/>
              </a:solidFill>
              <a:prstDash val="dash"/>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none"/>
            <c:size val="8"/>
            <c:spPr>
              <a:solidFill>
                <a:srgbClr val="595959"/>
              </a:solidFill>
              <a:ln w="9525" cap="flat">
                <a:solidFill>
                  <a:srgbClr val="595959"/>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15</c:v>
                </c:pt>
                <c:pt idx="1">
                  <c:v>15</c:v>
                </c:pt>
                <c:pt idx="2">
                  <c:v>15</c:v>
                </c:pt>
                <c:pt idx="3">
                  <c:v>15</c:v>
                </c:pt>
                <c:pt idx="4">
                  <c:v>15</c:v>
                </c:pt>
                <c:pt idx="5">
                  <c:v>15</c:v>
                </c:pt>
                <c:pt idx="6">
                  <c:v>15</c:v>
                </c:pt>
                <c:pt idx="7">
                  <c:v>15</c:v>
                </c:pt>
                <c:pt idx="8">
                  <c:v>15</c:v>
                </c:pt>
                <c:pt idx="9">
                  <c:v>15</c:v>
                </c:pt>
                <c:pt idx="10">
                  <c:v>15</c:v>
                </c:pt>
                <c:pt idx="11">
                  <c:v>15</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10"/>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11.2</c:v>
                </c:pt>
                <c:pt idx="1">
                  <c:v>12.3</c:v>
                </c:pt>
                <c:pt idx="2">
                  <c:v>12.8</c:v>
                </c:pt>
                <c:pt idx="3">
                  <c:v>12.7</c:v>
                </c:pt>
                <c:pt idx="4">
                  <c:v>12.3</c:v>
                </c:pt>
                <c:pt idx="5">
                  <c:v>11.6</c:v>
                </c:pt>
                <c:pt idx="6">
                  <c:v>11.3</c:v>
                </c:pt>
                <c:pt idx="7">
                  <c:v>11.6</c:v>
                </c:pt>
                <c:pt idx="8">
                  <c:v>11.5</c:v>
                </c:pt>
                <c:pt idx="9">
                  <c:v>12.1</c:v>
                </c:pt>
                <c:pt idx="10">
                  <c:v>12.3</c:v>
                </c:pt>
                <c:pt idx="11">
                  <c:v>11.8</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16"/>
          <c:min val="10"/>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7.6</c:v>
                </c:pt>
                <c:pt idx="1">
                  <c:v>8.4</c:v>
                </c:pt>
                <c:pt idx="2">
                  <c:v>8.7</c:v>
                </c:pt>
                <c:pt idx="3">
                  <c:v>8.8</c:v>
                </c:pt>
                <c:pt idx="4">
                  <c:v>8.6</c:v>
                </c:pt>
                <c:pt idx="5">
                  <c:v>8.5</c:v>
                </c:pt>
                <c:pt idx="6">
                  <c:v>8.3</c:v>
                </c:pt>
                <c:pt idx="7">
                  <c:v>8.5</c:v>
                </c:pt>
                <c:pt idx="8">
                  <c:v>8.1</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4"/>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7.6</c:v>
                </c:pt>
                <c:pt idx="1">
                  <c:v>8.4</c:v>
                </c:pt>
                <c:pt idx="2">
                  <c:v>8.7</c:v>
                </c:pt>
                <c:pt idx="3">
                  <c:v>8.8</c:v>
                </c:pt>
                <c:pt idx="4">
                  <c:v>8.6</c:v>
                </c:pt>
                <c:pt idx="5">
                  <c:v>8.5</c:v>
                </c:pt>
                <c:pt idx="6">
                  <c:v>8.3</c:v>
                </c:pt>
                <c:pt idx="7">
                  <c:v>8.5</c:v>
                </c:pt>
                <c:pt idx="8">
                  <c:v>8.1</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
                </c:pt>
                <c:pt idx="6">
                  <c:v/>
                </c:pt>
                <c:pt idx="7">
                  <c:v/>
                </c:pt>
                <c:pt idx="8">
                  <c:v/>
                </c:pt>
                <c:pt idx="9">
                  <c:v/>
                </c:pt>
                <c:pt idx="10">
                  <c:v>6.8</c:v>
                </c:pt>
                <c:pt idx="11">
                  <c:v>6.8</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6.3</c:v>
                </c:pt>
                <c:pt idx="1">
                  <c:v>7.1</c:v>
                </c:pt>
                <c:pt idx="2">
                  <c:v>7.6</c:v>
                </c:pt>
                <c:pt idx="3">
                  <c:v>6.9</c:v>
                </c:pt>
                <c:pt idx="4">
                  <c:v>7.1</c:v>
                </c:pt>
                <c:pt idx="5">
                  <c:v>7</c:v>
                </c:pt>
                <c:pt idx="6">
                  <c:v>6.9</c:v>
                </c:pt>
                <c:pt idx="7">
                  <c:v>7</c:v>
                </c:pt>
                <c:pt idx="8">
                  <c:v>6.7</c:v>
                </c:pt>
                <c:pt idx="9">
                  <c:v>6.6</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bench0</c:v>
                </c:pt>
              </c:strCache>
            </c:strRef>
          </c:tx>
          <c:spPr>
            <a:solidFill>
              <a:srgbClr val="595959"/>
            </a:solidFill>
            <a:ln w="25400" cap="flat">
              <a:solidFill>
                <a:srgbClr val="595959"/>
              </a:solidFill>
              <a:prstDash val="dash"/>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none"/>
            <c:size val="8"/>
            <c:spPr>
              <a:solidFill>
                <a:srgbClr val="595959"/>
              </a:solidFill>
              <a:ln w="9525" cap="flat">
                <a:solidFill>
                  <a:srgbClr val="595959"/>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15</c:v>
                </c:pt>
                <c:pt idx="1">
                  <c:v>15</c:v>
                </c:pt>
                <c:pt idx="2">
                  <c:v>15</c:v>
                </c:pt>
                <c:pt idx="3">
                  <c:v>15</c:v>
                </c:pt>
                <c:pt idx="4">
                  <c:v>15</c:v>
                </c:pt>
                <c:pt idx="5">
                  <c:v>15</c:v>
                </c:pt>
                <c:pt idx="6">
                  <c:v>15</c:v>
                </c:pt>
                <c:pt idx="7">
                  <c:v>15</c:v>
                </c:pt>
                <c:pt idx="8">
                  <c:v>15</c:v>
                </c:pt>
                <c:pt idx="9">
                  <c:v>15</c:v>
                </c:pt>
                <c:pt idx="10">
                  <c:v>15</c:v>
                </c:pt>
                <c:pt idx="11">
                  <c:v>15</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6.3</c:v>
                </c:pt>
                <c:pt idx="1">
                  <c:v>7.1</c:v>
                </c:pt>
                <c:pt idx="2">
                  <c:v>7.6</c:v>
                </c:pt>
                <c:pt idx="3">
                  <c:v>6.9</c:v>
                </c:pt>
                <c:pt idx="4">
                  <c:v>7.1</c:v>
                </c:pt>
                <c:pt idx="5">
                  <c:v>7</c:v>
                </c:pt>
                <c:pt idx="6">
                  <c:v>6.9</c:v>
                </c:pt>
                <c:pt idx="7">
                  <c:v>7</c:v>
                </c:pt>
                <c:pt idx="8">
                  <c:v>6.7</c:v>
                </c:pt>
                <c:pt idx="9">
                  <c:v>6.6</c:v>
                </c:pt>
                <c:pt idx="10">
                  <c:v>6.8</c:v>
                </c:pt>
                <c:pt idx="11">
                  <c:v>6.8</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16"/>
          <c:min val="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8.5</c:v>
                </c:pt>
                <c:pt idx="1">
                  <c:v>9</c:v>
                </c:pt>
                <c:pt idx="2">
                  <c:v>9.8</c:v>
                </c:pt>
                <c:pt idx="3">
                  <c:v>9.9</c:v>
                </c:pt>
                <c:pt idx="4">
                  <c:v>9.8</c:v>
                </c:pt>
                <c:pt idx="5">
                  <c:v>9.4</c:v>
                </c:pt>
                <c:pt idx="6">
                  <c:v>9</c:v>
                </c:pt>
                <c:pt idx="7">
                  <c:v>8.9</c:v>
                </c:pt>
                <c:pt idx="8">
                  <c:v>9.3</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1"/>
          <c:min val="6"/>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8.5</c:v>
                </c:pt>
                <c:pt idx="1">
                  <c:v>9</c:v>
                </c:pt>
                <c:pt idx="2">
                  <c:v>9.8</c:v>
                </c:pt>
                <c:pt idx="3">
                  <c:v>9.9</c:v>
                </c:pt>
                <c:pt idx="4">
                  <c:v>9.8</c:v>
                </c:pt>
                <c:pt idx="5">
                  <c:v>9.4</c:v>
                </c:pt>
                <c:pt idx="6">
                  <c:v>9</c:v>
                </c:pt>
                <c:pt idx="7">
                  <c:v>8.9</c:v>
                </c:pt>
                <c:pt idx="8">
                  <c:v>9.3</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1"/>
          <c:min val="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
                </c:pt>
                <c:pt idx="6">
                  <c:v/>
                </c:pt>
                <c:pt idx="7">
                  <c:v/>
                </c:pt>
                <c:pt idx="8">
                  <c:v/>
                </c:pt>
                <c:pt idx="9">
                  <c:v>7.5</c:v>
                </c:pt>
                <c:pt idx="10">
                  <c:v>7.5</c:v>
                </c:pt>
                <c:pt idx="11">
                  <c:v>7.5</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1"/>
          <c:min val="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7.4</c:v>
                </c:pt>
                <c:pt idx="1">
                  <c:v>7.9</c:v>
                </c:pt>
                <c:pt idx="2">
                  <c:v>8.2</c:v>
                </c:pt>
                <c:pt idx="3">
                  <c:v>8.1</c:v>
                </c:pt>
                <c:pt idx="4">
                  <c:v>8.2</c:v>
                </c:pt>
                <c:pt idx="5">
                  <c:v>8</c:v>
                </c:pt>
                <c:pt idx="6">
                  <c:v>7.8</c:v>
                </c:pt>
                <c:pt idx="7">
                  <c:v>8.1</c:v>
                </c:pt>
                <c:pt idx="8">
                  <c:v>7.5</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1"/>
          <c:min val="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bench0</c:v>
                </c:pt>
              </c:strCache>
            </c:strRef>
          </c:tx>
          <c:spPr>
            <a:solidFill>
              <a:srgbClr val="595959"/>
            </a:solidFill>
            <a:ln w="25400" cap="flat">
              <a:solidFill>
                <a:srgbClr val="595959"/>
              </a:solidFill>
              <a:prstDash val="dash"/>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none"/>
            <c:size val="8"/>
            <c:spPr>
              <a:solidFill>
                <a:srgbClr val="595959"/>
              </a:solidFill>
              <a:ln w="9525" cap="flat">
                <a:solidFill>
                  <a:srgbClr val="595959"/>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10</c:v>
                </c:pt>
                <c:pt idx="1">
                  <c:v>10</c:v>
                </c:pt>
                <c:pt idx="2">
                  <c:v>10</c:v>
                </c:pt>
                <c:pt idx="3">
                  <c:v>10</c:v>
                </c:pt>
                <c:pt idx="4">
                  <c:v>10</c:v>
                </c:pt>
                <c:pt idx="5">
                  <c:v>10</c:v>
                </c:pt>
                <c:pt idx="6">
                  <c:v>10</c:v>
                </c:pt>
                <c:pt idx="7">
                  <c:v>10</c:v>
                </c:pt>
                <c:pt idx="8">
                  <c:v>10</c:v>
                </c:pt>
                <c:pt idx="9">
                  <c:v>10</c:v>
                </c:pt>
                <c:pt idx="10">
                  <c:v>10</c:v>
                </c:pt>
                <c:pt idx="11">
                  <c:v>10</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1"/>
          <c:min val="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7.4</c:v>
                </c:pt>
                <c:pt idx="1">
                  <c:v>7.9</c:v>
                </c:pt>
                <c:pt idx="2">
                  <c:v>8.2</c:v>
                </c:pt>
                <c:pt idx="3">
                  <c:v>8.1</c:v>
                </c:pt>
                <c:pt idx="4">
                  <c:v>8.2</c:v>
                </c:pt>
                <c:pt idx="5">
                  <c:v>8</c:v>
                </c:pt>
                <c:pt idx="6">
                  <c:v>7.8</c:v>
                </c:pt>
                <c:pt idx="7">
                  <c:v>8.1</c:v>
                </c:pt>
                <c:pt idx="8">
                  <c:v>7.5</c:v>
                </c:pt>
                <c:pt idx="9">
                  <c:v>7.5</c:v>
                </c:pt>
                <c:pt idx="10">
                  <c:v>7.5</c:v>
                </c:pt>
                <c:pt idx="11">
                  <c:v>7.5</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11"/>
          <c:min val="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5.4</c:v>
                </c:pt>
                <c:pt idx="1">
                  <c:v>5.8</c:v>
                </c:pt>
                <c:pt idx="2">
                  <c:v>6.2</c:v>
                </c:pt>
                <c:pt idx="3">
                  <c:v>6</c:v>
                </c:pt>
                <c:pt idx="4">
                  <c:v>6.3</c:v>
                </c:pt>
                <c:pt idx="5">
                  <c:v>5.9</c:v>
                </c:pt>
                <c:pt idx="6">
                  <c:v>5.6</c:v>
                </c:pt>
                <c:pt idx="7">
                  <c:v>5.3</c:v>
                </c:pt>
                <c:pt idx="8">
                  <c:v>5.8</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3"/>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5.4</c:v>
                </c:pt>
                <c:pt idx="1">
                  <c:v>5.8</c:v>
                </c:pt>
                <c:pt idx="2">
                  <c:v>6.2</c:v>
                </c:pt>
                <c:pt idx="3">
                  <c:v>6</c:v>
                </c:pt>
                <c:pt idx="4">
                  <c:v>6.3</c:v>
                </c:pt>
                <c:pt idx="5">
                  <c:v>5.9</c:v>
                </c:pt>
                <c:pt idx="6">
                  <c:v>5.6</c:v>
                </c:pt>
                <c:pt idx="7">
                  <c:v>5.3</c:v>
                </c:pt>
                <c:pt idx="8">
                  <c:v>5.8</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3"/>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
                </c:pt>
                <c:pt idx="6">
                  <c:v/>
                </c:pt>
                <c:pt idx="7">
                  <c:v/>
                </c:pt>
                <c:pt idx="8">
                  <c:v/>
                </c:pt>
                <c:pt idx="9">
                  <c:v/>
                </c:pt>
                <c:pt idx="10">
                  <c:v>4.8</c:v>
                </c:pt>
                <c:pt idx="11">
                  <c:v>4.9</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3"/>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3.9</c:v>
                </c:pt>
                <c:pt idx="1">
                  <c:v>4.6</c:v>
                </c:pt>
                <c:pt idx="2">
                  <c:v>4.9</c:v>
                </c:pt>
                <c:pt idx="3">
                  <c:v>4.9</c:v>
                </c:pt>
                <c:pt idx="4">
                  <c:v>4.6</c:v>
                </c:pt>
                <c:pt idx="5">
                  <c:v>4.7</c:v>
                </c:pt>
                <c:pt idx="6">
                  <c:v>4.3</c:v>
                </c:pt>
                <c:pt idx="7">
                  <c:v>4.7</c:v>
                </c:pt>
                <c:pt idx="8">
                  <c:v>4.5</c:v>
                </c:pt>
                <c:pt idx="9">
                  <c:v>4.6</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3"/>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bench0</c:v>
                </c:pt>
              </c:strCache>
            </c:strRef>
          </c:tx>
          <c:spPr>
            <a:solidFill>
              <a:srgbClr val="595959"/>
            </a:solidFill>
            <a:ln w="25400" cap="flat">
              <a:solidFill>
                <a:srgbClr val="595959"/>
              </a:solidFill>
              <a:prstDash val="dash"/>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none"/>
            <c:size val="8"/>
            <c:spPr>
              <a:solidFill>
                <a:srgbClr val="595959"/>
              </a:solidFill>
              <a:ln w="9525" cap="flat">
                <a:solidFill>
                  <a:srgbClr val="595959"/>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7.5</c:v>
                </c:pt>
                <c:pt idx="1">
                  <c:v>7.5</c:v>
                </c:pt>
                <c:pt idx="2">
                  <c:v>7.5</c:v>
                </c:pt>
                <c:pt idx="3">
                  <c:v>7.5</c:v>
                </c:pt>
                <c:pt idx="4">
                  <c:v>7.5</c:v>
                </c:pt>
                <c:pt idx="5">
                  <c:v>7.5</c:v>
                </c:pt>
                <c:pt idx="6">
                  <c:v>7.5</c:v>
                </c:pt>
                <c:pt idx="7">
                  <c:v>7.5</c:v>
                </c:pt>
                <c:pt idx="8">
                  <c:v>7.5</c:v>
                </c:pt>
                <c:pt idx="9">
                  <c:v>7.5</c:v>
                </c:pt>
                <c:pt idx="10">
                  <c:v>7.5</c:v>
                </c:pt>
                <c:pt idx="11">
                  <c:v>7.5</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3"/>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3.9</c:v>
                </c:pt>
                <c:pt idx="1">
                  <c:v>4.6</c:v>
                </c:pt>
                <c:pt idx="2">
                  <c:v>4.9</c:v>
                </c:pt>
                <c:pt idx="3">
                  <c:v>4.9</c:v>
                </c:pt>
                <c:pt idx="4">
                  <c:v>4.6</c:v>
                </c:pt>
                <c:pt idx="5">
                  <c:v>4.7</c:v>
                </c:pt>
                <c:pt idx="6">
                  <c:v>4.3</c:v>
                </c:pt>
                <c:pt idx="7">
                  <c:v>4.7</c:v>
                </c:pt>
                <c:pt idx="8">
                  <c:v>4.5</c:v>
                </c:pt>
                <c:pt idx="9">
                  <c:v>4.6</c:v>
                </c:pt>
                <c:pt idx="10">
                  <c:v>4.8</c:v>
                </c:pt>
                <c:pt idx="11">
                  <c:v>4.9</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8"/>
          <c:min val="3"/>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excluded. ALIGNMENT % = alignment ROs ÷ customer-pay ROs on the op-code report basis. YTD from YTD totals, not the mean of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8 of 33 stores at or above 15%, led by Audi Henderson at 27.5%. The group sits at 13.2%.Source: Qlik - Closed Repair Orders. Customer pay, Jan-Sep by close month. Same-store, INEOS excluded (opened 2026). GMC Prescott body shop labor excluded. Jan-Sep 2026 YTD; green at or above the 15% benchmark, red below.
AUDI HENDERSON: 27.5% (2025 21.8%)
LR HENDERSON: 24.4% (2025 19.4%)
HYUNDAI PRESCOTT: 21.8% (2025 15.0%)
HONDA HENDERSON: 21.3% (2025 20.7%)
ACURA: 17.5% (2025 14.2%)
LR LV: 17.4% (2025 11.4%)
MAZDA: 16.7% (2025 10.0%)
HONDA NORTH: 16.2% (2025 15.0%)
HYUNDAI ST GEORGE: 14.8% (2025 5.2%)
SUBARU LV: 14.6% (2025 16.1%)
TOYOTA HENDERSON: 14.5% (2025 15.1%)
CADILLAC: 13.9% (2025 9.7%)
VOLVO: 13.9% (2025 13.5%)
VW HENDERSON: 13.6% (2025 13.5%)
LR RENO: 12.9% (2025 17.7%)
CHEVY LV: 12.9% (2025 13.4%)
SUBARU PRESCOTT: 12.6% (2025 7.1%)
HONDA SPOKANE: 12.5% (2025 10.8%)
TOYOTA PRESCOTT: 12.3% (2025 9.5%)
AUDI RENO: 11.8% (2025 11.7%)
GMC PRESCOTT: 11.7% (2025 5.0%)
LEXUS: 11.4% (2025 8.3%)
CHEVY GMC BULLHEAD: 11.1% (2025 11.2%)
HONDA FLAGSTAFF: 11.1% (2025 5.6%)
SUBARU ST GEORGE: 11.1% (2025 11.9%)
KIA LV: 9.8% (2025 13.3%)
TOYOTA FLAGSTAFF: 9.7% (2025 6.3%)
LINCOLN: 8.4% (2025 2.7%)
KIA ST GEORGE: 8.0% (2025 2.5%)
NISSAN: 7.5% (2025 5.3%)
VW ST GEORGE: 5.6% (2025 3.9%)
TOYOTA SPOKANE: 4.3% (2025 2.6%)
CDJR POST FALLS: 4.2% (2025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Ask Hyundai St George, Hyundai Prescott and GMC Prescott what changed. Ask LR Reno, Kia LV and Subaru LV what got in the way. Ask Audi Henderson, Mazda and Kia St George what they started this year.Source: Qlik - Closed Repair Orders. Customer pay, Jan-Sep by close month. Same-store, INEOS excluded (opened 2026). GMC Prescott body shop labor excluded. Top and bottom five stores by change in Alignment %, Jan-Sep 2026 vs 2025, in points. Moving now: Jul-Sep 2026 vs Jan-Mar 2026, each store against itself; the group moved +0.2 pts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excluded. BALANCE % = balance ROs ÷ customer-pay ROs on the op-code report basis. YTD from YTD totals, not the mean of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4 of 33 stores at or above 15%, led by LR Henderson at 27.0%. The group sits at 8.3%.Source: Qlik - Closed Repair Orders. Customer pay, Jan-Sep by close month. Same-store, INEOS excluded (opened 2026). GMC Prescott body shop labor excluded. Jan-Sep 2026 YTD; green at or above the 15% benchmark, red below. CHECK OP-CODE MAPPING - under 0.5%: TOYOTA SPOKANE, LEXUS, AUDI RENO, AUDI HENDERSON, VW ST GEORGE. Near zero in 2025, so year-over-year gain may be mapping: HONDA SPOKANE, SUBARU PRESCOTT.
LR HENDERSON: 27.0% (2025 22.9%)
HONDA HENDERSON: 18.4% (2025 17.7%)
LR LV: 17.0% (2025 3.4%)
LR RENO: 17.0% (2025 16.3%)
SUBARU PRESCOTT: 15.0% (2025 0.1%)
ACURA: 14.1% (2025 10.3%)
HYUNDAI PRESCOTT: 13.5% (2025 8.9%)
MAZDA: 13.2% (2025 6.5%)
HONDA NORTH: 12.0% (2025 11.3%)
VOLVO: 11.7% (2025 10.9%)
TOYOTA HENDERSON: 11.2% (2025 11.7%)
SUBARU LV: 10.2% (2025 11.3%)
CHEVY GMC BULLHEAD: 9.1% (2025 6.5%)
VW HENDERSON: 8.3% (2025 7.0%)
GMC PRESCOTT: 7.8% (2025 2.0%)
KIA ST GEORGE: 7.7% (2025 1.1%)
CHEVY LV: 7.3% (2025 4.2%)
TOYOTA PRESCOTT: 6.2% (2025 3.3%)
CADILLAC: 6.0% (2025 2.6%)
KIA LV: 5.2% (2025 6.6%)
TOYOTA FLAGSTAFF: 4.9% (2025 3.7%)
SUBARU ST GEORGE: 3.7% (2025 5.3%)
HONDA SPOKANE: 2.2% (2025 0.1%)
LINCOLN: 1.7% (2025 0.0%)
HONDA FLAGSTAFF: 1.3% (2025 0.2%)
CDJR POST FALLS: 1.3% (2025 0.2%)
HYUNDAI ST GEORGE: 1.2% (2025 0.4%)
NISSAN: 1.1% (2025 2.6%)
TOYOTA SPOKANE: 0.5% (2025 0.3%)
VW ST GEORGE: 0.4% (2025 0.7%)
AUDI RENO: 0.1% (2025 0.2%)
LEXUS: 0.1% (2025 0.1%)
AUDI HENDERSON: 0.0% (2025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Ask Subaru Prescott, LR LV and Mazda what changed. Ask Subaru St George, Nissan and Kia LV what got in the way. Ask Mazda, Hyundai Prescott and Honda Spokane what they started this year.Source: Qlik - Closed Repair Orders. Customer pay, Jan-Sep by close month. Same-store, INEOS excluded (opened 2026). GMC Prescott body shop labor excluded. Top and bottom five stores by change in Balance %, Jan-Sep 2026 vs 2025, in points. Moving now: Jul-Sep 2026 vs Jan-Mar 2026, each store against itself; the group moved +0.1 pts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excluded. BRAKE FLUID % = brake fluid service ROs ÷ customer-pay ROs on the op-code report basis. YTD from YTD totals, not the mean of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12 of 33 stores at or above 10%, led by LR LV at 20.6%. The group sits at 9.2%.Source: Qlik - Closed Repair Orders. Customer pay, Jan-Sep by close month. Same-store, INEOS excluded (opened 2026). GMC Prescott body shop labor excluded. Jan-Sep 2026 YTD; green at or above the 10% benchmark, red below.
LR LV: 20.7% (2025 15.2%)
HONDA HENDERSON: 15.6% (2025 12.9%)
LR HENDERSON: 14.3% (2025 9.0%)
ACURA: 12.7% (2025 8.6%)
HONDA NORTH: 12.1% (2025 13.1%)
VOLVO: 11.9% (2025 12.1%)
NISSAN: 11.6% (2025 3.8%)
SUBARU ST GEORGE: 10.8% (2025 11.0%)
SUBARU PRESCOTT: 10.6% (2025 6.4%)
HONDA SPOKANE: 10.3% (2025 9.8%)
SUBARU LV: 10.1% (2025 9.3%)
TOYOTA HENDERSON: 10.1% (2025 9.7%)
HYUNDAI PRESCOTT: 9.7% (2025 8.1%)
VW HENDERSON: 9.5% (2025 7.8%)
MAZDA: 8.5% (2025 4.6%)
TOYOTA PRESCOTT: 8.4% (2025 6.1%)
LEXUS: 8.4% (2025 4.9%)
KIA LV: 8.3% (2025 7.2%)
TOYOTA FLAGSTAFF: 8.1% (2025 7.3%)
LINCOLN: 7.5% (2025 2.4%)
LR RENO: 7.2% (2025 2.5%)
CHEVY GMC BULLHEAD: 7.1% (2025 3.8%)
TOYOTA SPOKANE: 7.0% (2025 6.8%)
GMC PRESCOTT: 6.1% (2025 4.6%)
KIA ST GEORGE: 6.0% (2025 3.8%)
CHEVY LV: 5.8% (2025 5.3%)
VW ST GEORGE: 5.4% (2025 4.0%)
HYUNDAI ST GEORGE: 4.7% (2025 1.6%)
CADILLAC: 4.7% (2025 4.1%)
CDJR POST FALLS: 4.2% (2025 6.0%)
HONDA FLAGSTAFF: 3.2% (2025 2.4%)
AUDI HENDERSON: 2.5% (2025 1.8%)
AUDI RENO: 1.9% (2025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Ask Nissan, LR LV and LR Henderson what changed. Ask CDJR Post Falls, Honda North and Subaru St George what got in the way. Ask Mazda, Audi Reno and Kia St George what they started this year.Source: Qlik - Closed Repair Orders. Customer pay, Jan-Sep by close month. Same-store, INEOS excluded (opened 2026). GMC Prescott body shop labor excluded. Top and bottom five stores by change in Brake Fluid %, Jan-Sep 2026 vs 2025, in points. Moving now: Jul-Sep 2026 vs Jan-Mar 2026, each store against itself; the group moved +0.0 pts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excluded. FUEL SERVICE % = fuel service ROs ÷ customer-pay ROs on the op-code report basis. YTD from YTD totals, not the mean of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7 of 33 stores at or above 7.5%, led by Subaru St George at 13.8%. The group sits at 5.8%.Source: Qlik - Closed Repair Orders. Customer pay, Jan-Sep by close month. Same-store, INEOS excluded (opened 2026). GMC Prescott body shop labor excluded. Jan-Sep 2026 YTD; green at or above the 7.5% benchmark, red below. CHECK OP-CODE MAPPING - under 0.5%: VW HENDERSON, AUDI HENDERSON, VOLVO. Near zero in 2025, so year-over-year gain may be mapping: HONDA SPOKANE, SUBARU ST GEORGE, LR LV, LR RENO.
SUBARU ST GEORGE: 13.8% (2025 0.0%)
HONDA HENDERSON: 12.0% (2025 10.4%)
SUBARU PRESCOTT: 9.8% (2025 5.9%)
ACURA: 9.4% (2025 5.4%)
KIA ST GEORGE: 8.9% (2025 5.6%)
LINCOLN: 8.2% (2025 2.1%)
HONDA NORTH: 7.7% (2025 5.3%)
HYUNDAI PRESCOTT: 7.4% (2025 6.7%)
SUBARU LV: 7.1% (2025 8.2%)
TOYOTA PRESCOTT: 6.5% (2025 5.0%)
TOYOTA HENDERSON: 6.0% (2025 6.1%)
HYUNDAI ST GEORGE: 5.9% (2025 2.4%)
TOYOTA SPOKANE: 5.8% (2025 6.1%)
LR LV: 5.5% (2025 0.2%)
CHEVY LV: 5.3% (2025 4.8%)
MAZDA: 5.2% (2025 1.4%)
CADILLAC: 5.1% (2025 4.4%)
LR RENO: 4.6% (2025 0.0%)
LEXUS: 4.3% (2025 1.9%)
NISSAN: 4.2% (2025 0.8%)
GMC PRESCOTT: 3.6% (2025 3.0%)
HONDA SPOKANE: 3.2% (2025 0.0%)
KIA LV: 3.2% (2025 2.9%)
CDJR POST FALLS: 3.0% (2025 4.0%)
CHEVY GMC BULLHEAD: 2.7% (2025 1.8%)
VW ST GEORGE: 2.7% (2025 2.4%)
LR HENDERSON: 2.6% (2025 2.4%)
TOYOTA FLAGSTAFF: 1.7% (2025 1.7%)
AUDI RENO: 0.8% (2025 0.0%)
HONDA FLAGSTAFF: 0.7% (2025 0.7%)
VW HENDERSON: 0.0% (2025 0.0%)
AUDI HENDERSON: 0.0% (2025 0.0%)
VOLVO: 0.0% (2025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Ask Subaru St George, Lincoln and LR LV what changed. Ask Subaru LV, CDJR Post Falls and Toyota Spokane what got in the way. Ask Mazda, Hyundai St George and Honda Spokane what they started this year.Source: Qlik - Closed Repair Orders. Customer pay, Jan-Sep by close month. Same-store, INEOS excluded (opened 2026). GMC Prescott body shop labor excluded. Top and bottom five stores by change in Fuel Service %, Jan-Sep 2026 vs 2025, in points. Moving now: Jul-Sep 2026 vs Jan-Mar 2026, each store against itself; the group moved −0.3 pts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chart" Target="/ppt/charts/chart5.xml"/><Relationship Id="rId6" Type="http://schemas.openxmlformats.org/officeDocument/2006/relationships/chart" Target="/ppt/charts/chart6.xml"/><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chart" Target="/ppt/charts/chart9.xml"/><Relationship Id="rId4" Type="http://schemas.openxmlformats.org/officeDocument/2006/relationships/chart" Target="/ppt/charts/chart10.xml"/><Relationship Id="rId5" Type="http://schemas.openxmlformats.org/officeDocument/2006/relationships/chart" Target="/ppt/charts/chart11.xml"/><Relationship Id="rId6" Type="http://schemas.openxmlformats.org/officeDocument/2006/relationships/chart" Target="/ppt/charts/chart12.xml"/><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chart" Target="/ppt/charts/chart14.xml"/><Relationship Id="rId3" Type="http://schemas.openxmlformats.org/officeDocument/2006/relationships/chart" Target="/ppt/charts/chart15.xml"/><Relationship Id="rId4" Type="http://schemas.openxmlformats.org/officeDocument/2006/relationships/chart" Target="/ppt/charts/chart16.xml"/><Relationship Id="rId5" Type="http://schemas.openxmlformats.org/officeDocument/2006/relationships/chart" Target="/ppt/charts/chart17.xml"/><Relationship Id="rId6" Type="http://schemas.openxmlformats.org/officeDocument/2006/relationships/chart" Target="/ppt/charts/chart18.xml"/><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chart" Target="/ppt/charts/chart20.xml"/><Relationship Id="rId3" Type="http://schemas.openxmlformats.org/officeDocument/2006/relationships/chart" Target="/ppt/charts/chart21.xml"/><Relationship Id="rId4" Type="http://schemas.openxmlformats.org/officeDocument/2006/relationships/chart" Target="/ppt/charts/chart22.xml"/><Relationship Id="rId5" Type="http://schemas.openxmlformats.org/officeDocument/2006/relationships/chart" Target="/ppt/charts/chart23.xml"/><Relationship Id="rId6" Type="http://schemas.openxmlformats.org/officeDocument/2006/relationships/chart" Target="/ppt/charts/chart24.xml"/><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121408"/>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487168"/>
            <a:ext cx="10789920" cy="1188720"/>
          </a:xfrm>
          <a:prstGeom prst="rect">
            <a:avLst/>
          </a:prstGeom>
          <a:noFill/>
          <a:ln/>
        </p:spPr>
        <p:txBody>
          <a:bodyPr wrap="none" lIns="0" tIns="0" rIns="0" bIns="0" rtlCol="0" anchor="ctr"/>
          <a:lstStyle/>
          <a:p>
            <a:pPr indent="0" marL="0">
              <a:buNone/>
            </a:pPr>
            <a:r>
              <a:rPr lang="en-US" sz="7600" b="1" dirty="0">
                <a:solidFill>
                  <a:srgbClr val="1A1A1A"/>
                </a:solidFill>
                <a:latin typeface="Inter" pitchFamily="34" charset="0"/>
                <a:ea typeface="Inter" pitchFamily="34" charset="-122"/>
                <a:cs typeface="Inter" pitchFamily="34" charset="-120"/>
              </a:rPr>
              <a:t>Opcode Benchmarks</a:t>
            </a:r>
            <a:endParaRPr lang="en-US" sz="7600" dirty="0"/>
          </a:p>
        </p:txBody>
      </p:sp>
      <p:sp>
        <p:nvSpPr>
          <p:cNvPr id="4" name="Text 2"/>
          <p:cNvSpPr txBox="1"/>
          <p:nvPr/>
        </p:nvSpPr>
        <p:spPr>
          <a:xfrm>
            <a:off x="694944" y="376732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Alignment 15%   ·   Balance 15%   ·   Brake fluid 10%   ·   Fuel service 7.5%</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Alignment %</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11.9%</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13.2%</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+1.4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+11.4%</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Alignment %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graphicFrame>
        <p:nvGraphicFramePr>
          <p:cNvPr id="21" name="Chart 4"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5"/>
          </a:graphicData>
        </a:graphic>
      </p:graphicFrame>
      <p:graphicFrame>
        <p:nvGraphicFramePr>
          <p:cNvPr id="22" name="Chart 5"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6"/>
          </a:graphicData>
        </a:graphic>
      </p:graphicFrame>
      <p:sp>
        <p:nvSpPr>
          <p:cNvPr id="23" name="Shape 15"/>
          <p:cNvSpPr/>
          <p:nvPr/>
        </p:nvSpPr>
        <p:spPr>
          <a:xfrm>
            <a:off x="3762756" y="3049524"/>
            <a:ext cx="310896" cy="45720"/>
          </a:xfrm>
          <a:prstGeom prst="rect">
            <a:avLst/>
          </a:prstGeom>
          <a:solidFill>
            <a:srgbClr val="9AA3AD"/>
          </a:solidFill>
          <a:ln/>
        </p:spPr>
      </p:sp>
      <p:sp>
        <p:nvSpPr>
          <p:cNvPr id="24" name="Shape 16"/>
          <p:cNvSpPr/>
          <p:nvPr/>
        </p:nvSpPr>
        <p:spPr>
          <a:xfrm>
            <a:off x="3863340" y="3017520"/>
            <a:ext cx="109728" cy="109728"/>
          </a:xfrm>
          <a:prstGeom prst="ellipse">
            <a:avLst/>
          </a:prstGeom>
          <a:solidFill>
            <a:srgbClr val="9AA3AD"/>
          </a:solidFill>
          <a:ln/>
        </p:spPr>
      </p:sp>
      <p:sp>
        <p:nvSpPr>
          <p:cNvPr id="25" name="Text 17"/>
          <p:cNvSpPr txBox="1"/>
          <p:nvPr/>
        </p:nvSpPr>
        <p:spPr>
          <a:xfrm>
            <a:off x="414680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4997196" y="3049524"/>
            <a:ext cx="310896" cy="45720"/>
          </a:xfrm>
          <a:prstGeom prst="rect">
            <a:avLst/>
          </a:prstGeom>
          <a:solidFill>
            <a:srgbClr val="2587C5"/>
          </a:solidFill>
          <a:ln/>
        </p:spPr>
      </p:sp>
      <p:sp>
        <p:nvSpPr>
          <p:cNvPr id="27" name="Shape 19"/>
          <p:cNvSpPr/>
          <p:nvPr/>
        </p:nvSpPr>
        <p:spPr>
          <a:xfrm>
            <a:off x="5097780" y="3017520"/>
            <a:ext cx="109728" cy="109728"/>
          </a:xfrm>
          <a:prstGeom prst="ellipse">
            <a:avLst/>
          </a:prstGeom>
          <a:solidFill>
            <a:srgbClr val="2587C5"/>
          </a:solidFill>
          <a:ln/>
        </p:spPr>
      </p:sp>
      <p:sp>
        <p:nvSpPr>
          <p:cNvPr id="28" name="Text 20"/>
          <p:cNvSpPr txBox="1"/>
          <p:nvPr/>
        </p:nvSpPr>
        <p:spPr>
          <a:xfrm>
            <a:off x="538124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6231636" y="3049524"/>
            <a:ext cx="73152" cy="36576"/>
          </a:xfrm>
          <a:prstGeom prst="rect">
            <a:avLst/>
          </a:prstGeom>
          <a:solidFill>
            <a:srgbClr val="595959"/>
          </a:solidFill>
          <a:ln/>
        </p:spPr>
      </p:sp>
      <p:sp>
        <p:nvSpPr>
          <p:cNvPr id="30" name="Shape 22"/>
          <p:cNvSpPr/>
          <p:nvPr/>
        </p:nvSpPr>
        <p:spPr>
          <a:xfrm>
            <a:off x="6350508" y="3049524"/>
            <a:ext cx="73152" cy="36576"/>
          </a:xfrm>
          <a:prstGeom prst="rect">
            <a:avLst/>
          </a:prstGeom>
          <a:solidFill>
            <a:srgbClr val="595959"/>
          </a:solidFill>
          <a:ln/>
        </p:spPr>
      </p:sp>
      <p:sp>
        <p:nvSpPr>
          <p:cNvPr id="31" name="Shape 23"/>
          <p:cNvSpPr/>
          <p:nvPr/>
        </p:nvSpPr>
        <p:spPr>
          <a:xfrm>
            <a:off x="6469380" y="3049524"/>
            <a:ext cx="73152" cy="36576"/>
          </a:xfrm>
          <a:prstGeom prst="rect">
            <a:avLst/>
          </a:prstGeom>
          <a:solidFill>
            <a:srgbClr val="595959"/>
          </a:solidFill>
          <a:ln/>
        </p:spPr>
      </p:sp>
      <p:sp>
        <p:nvSpPr>
          <p:cNvPr id="32" name="Text 24"/>
          <p:cNvSpPr txBox="1"/>
          <p:nvPr/>
        </p:nvSpPr>
        <p:spPr>
          <a:xfrm>
            <a:off x="6615684" y="2926080"/>
            <a:ext cx="23774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Benchmark 15%</a:t>
            </a:r>
            <a:endParaRPr lang="en-US" sz="1400" dirty="0"/>
          </a:p>
        </p:txBody>
      </p:sp>
      <p:sp>
        <p:nvSpPr>
          <p:cNvPr id="33" name="Shape 25"/>
          <p:cNvSpPr/>
          <p:nvPr/>
        </p:nvSpPr>
        <p:spPr>
          <a:xfrm>
            <a:off x="457200" y="6126480"/>
            <a:ext cx="11274552" cy="615696"/>
          </a:xfrm>
          <a:prstGeom prst="rect">
            <a:avLst/>
          </a:prstGeom>
          <a:solidFill>
            <a:srgbClr val="E6F6EE"/>
          </a:solidFill>
          <a:ln/>
        </p:spPr>
      </p:sp>
      <p:sp>
        <p:nvSpPr>
          <p:cNvPr id="34" name="Text 26"/>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1.4 pts to 13.2%, ahead of 2025 in all nine months, but 1.7 pts under the 15% benchmark — 4,821 alignments short.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Alignment %</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ALIGNMENT %</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BENCHMARK 15.0%</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13.2%</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3" name="Shape 11"/>
          <p:cNvSpPr/>
          <p:nvPr/>
        </p:nvSpPr>
        <p:spPr>
          <a:xfrm>
            <a:off x="3008376" y="1907062"/>
            <a:ext cx="1691640" cy="119948"/>
          </a:xfrm>
          <a:prstGeom prst="rect">
            <a:avLst/>
          </a:prstGeom>
          <a:solidFill>
            <a:srgbClr val="12A566"/>
          </a:solidFill>
          <a:ln/>
        </p:spPr>
      </p:sp>
      <p:sp>
        <p:nvSpPr>
          <p:cNvPr id="14" name="Text 12"/>
          <p:cNvSpPr txBox="1"/>
          <p:nvPr/>
        </p:nvSpPr>
        <p:spPr>
          <a:xfrm>
            <a:off x="4754880" y="184708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27.5%</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7" name="Shape 15"/>
          <p:cNvSpPr/>
          <p:nvPr/>
        </p:nvSpPr>
        <p:spPr>
          <a:xfrm>
            <a:off x="3008376" y="2146957"/>
            <a:ext cx="1502209" cy="119948"/>
          </a:xfrm>
          <a:prstGeom prst="rect">
            <a:avLst/>
          </a:prstGeom>
          <a:solidFill>
            <a:srgbClr val="12A566"/>
          </a:solidFill>
          <a:ln/>
        </p:spPr>
      </p:sp>
      <p:sp>
        <p:nvSpPr>
          <p:cNvPr id="18" name="Text 16"/>
          <p:cNvSpPr txBox="1"/>
          <p:nvPr/>
        </p:nvSpPr>
        <p:spPr>
          <a:xfrm>
            <a:off x="4754880" y="208698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24.4%</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21" name="Shape 19"/>
          <p:cNvSpPr/>
          <p:nvPr/>
        </p:nvSpPr>
        <p:spPr>
          <a:xfrm>
            <a:off x="3008376" y="2386853"/>
            <a:ext cx="1339459" cy="119948"/>
          </a:xfrm>
          <a:prstGeom prst="rect">
            <a:avLst/>
          </a:prstGeom>
          <a:solidFill>
            <a:srgbClr val="12A566"/>
          </a:solidFill>
          <a:ln/>
        </p:spPr>
      </p:sp>
      <p:sp>
        <p:nvSpPr>
          <p:cNvPr id="22" name="Text 20"/>
          <p:cNvSpPr txBox="1"/>
          <p:nvPr/>
        </p:nvSpPr>
        <p:spPr>
          <a:xfrm>
            <a:off x="4754880" y="232687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21.7%</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25" name="Shape 23"/>
          <p:cNvSpPr/>
          <p:nvPr/>
        </p:nvSpPr>
        <p:spPr>
          <a:xfrm>
            <a:off x="3008376" y="2626748"/>
            <a:ext cx="1310026" cy="119948"/>
          </a:xfrm>
          <a:prstGeom prst="rect">
            <a:avLst/>
          </a:prstGeom>
          <a:solidFill>
            <a:srgbClr val="12A566"/>
          </a:solidFill>
          <a:ln/>
        </p:spPr>
      </p:sp>
      <p:sp>
        <p:nvSpPr>
          <p:cNvPr id="26" name="Text 24"/>
          <p:cNvSpPr txBox="1"/>
          <p:nvPr/>
        </p:nvSpPr>
        <p:spPr>
          <a:xfrm>
            <a:off x="4754880" y="256677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21.3%</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29" name="Shape 27"/>
          <p:cNvSpPr/>
          <p:nvPr/>
        </p:nvSpPr>
        <p:spPr>
          <a:xfrm>
            <a:off x="3008376" y="2866644"/>
            <a:ext cx="1076659" cy="119948"/>
          </a:xfrm>
          <a:prstGeom prst="rect">
            <a:avLst/>
          </a:prstGeom>
          <a:solidFill>
            <a:srgbClr val="12A566"/>
          </a:solidFill>
          <a:ln/>
        </p:spPr>
      </p:sp>
      <p:sp>
        <p:nvSpPr>
          <p:cNvPr id="30" name="Text 28"/>
          <p:cNvSpPr txBox="1"/>
          <p:nvPr/>
        </p:nvSpPr>
        <p:spPr>
          <a:xfrm>
            <a:off x="4754880" y="280667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17.5%</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33" name="Shape 31"/>
          <p:cNvSpPr/>
          <p:nvPr/>
        </p:nvSpPr>
        <p:spPr>
          <a:xfrm>
            <a:off x="3008376" y="3106540"/>
            <a:ext cx="1069015" cy="119948"/>
          </a:xfrm>
          <a:prstGeom prst="rect">
            <a:avLst/>
          </a:prstGeom>
          <a:solidFill>
            <a:srgbClr val="12A566"/>
          </a:solidFill>
          <a:ln/>
        </p:spPr>
      </p:sp>
      <p:sp>
        <p:nvSpPr>
          <p:cNvPr id="34" name="Text 32"/>
          <p:cNvSpPr txBox="1"/>
          <p:nvPr/>
        </p:nvSpPr>
        <p:spPr>
          <a:xfrm>
            <a:off x="4754880" y="3046566"/>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17.3%</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37" name="Shape 35"/>
          <p:cNvSpPr/>
          <p:nvPr/>
        </p:nvSpPr>
        <p:spPr>
          <a:xfrm>
            <a:off x="3008376" y="3346435"/>
            <a:ext cx="1026449" cy="119948"/>
          </a:xfrm>
          <a:prstGeom prst="rect">
            <a:avLst/>
          </a:prstGeom>
          <a:solidFill>
            <a:srgbClr val="12A566"/>
          </a:solidFill>
          <a:ln/>
        </p:spPr>
      </p:sp>
      <p:sp>
        <p:nvSpPr>
          <p:cNvPr id="38" name="Text 36"/>
          <p:cNvSpPr txBox="1"/>
          <p:nvPr/>
        </p:nvSpPr>
        <p:spPr>
          <a:xfrm>
            <a:off x="4754880" y="328646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16.6%</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41" name="Shape 39"/>
          <p:cNvSpPr/>
          <p:nvPr/>
        </p:nvSpPr>
        <p:spPr>
          <a:xfrm>
            <a:off x="3008376" y="3586331"/>
            <a:ext cx="995062" cy="119948"/>
          </a:xfrm>
          <a:prstGeom prst="rect">
            <a:avLst/>
          </a:prstGeom>
          <a:solidFill>
            <a:srgbClr val="12A566"/>
          </a:solidFill>
          <a:ln/>
        </p:spPr>
      </p:sp>
      <p:sp>
        <p:nvSpPr>
          <p:cNvPr id="42" name="Text 40"/>
          <p:cNvSpPr txBox="1"/>
          <p:nvPr/>
        </p:nvSpPr>
        <p:spPr>
          <a:xfrm>
            <a:off x="4754880" y="3526357"/>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16.1%</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45" name="Shape 43"/>
          <p:cNvSpPr/>
          <p:nvPr/>
        </p:nvSpPr>
        <p:spPr>
          <a:xfrm>
            <a:off x="3008376" y="3826226"/>
            <a:ext cx="912206" cy="119948"/>
          </a:xfrm>
          <a:prstGeom prst="rect">
            <a:avLst/>
          </a:prstGeom>
          <a:solidFill>
            <a:srgbClr val="C2352F"/>
          </a:solidFill>
          <a:ln/>
        </p:spPr>
      </p:sp>
      <p:sp>
        <p:nvSpPr>
          <p:cNvPr id="46" name="Text 44"/>
          <p:cNvSpPr txBox="1"/>
          <p:nvPr/>
        </p:nvSpPr>
        <p:spPr>
          <a:xfrm>
            <a:off x="4754880" y="3766252"/>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14.8%</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49" name="Shape 47"/>
          <p:cNvSpPr/>
          <p:nvPr/>
        </p:nvSpPr>
        <p:spPr>
          <a:xfrm>
            <a:off x="3008376" y="4066122"/>
            <a:ext cx="895065" cy="119948"/>
          </a:xfrm>
          <a:prstGeom prst="rect">
            <a:avLst/>
          </a:prstGeom>
          <a:solidFill>
            <a:srgbClr val="C2352F"/>
          </a:solidFill>
          <a:ln/>
        </p:spPr>
      </p:sp>
      <p:sp>
        <p:nvSpPr>
          <p:cNvPr id="50" name="Text 48"/>
          <p:cNvSpPr txBox="1"/>
          <p:nvPr/>
        </p:nvSpPr>
        <p:spPr>
          <a:xfrm>
            <a:off x="4754880" y="400614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14.5%</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53" name="Shape 51"/>
          <p:cNvSpPr/>
          <p:nvPr/>
        </p:nvSpPr>
        <p:spPr>
          <a:xfrm>
            <a:off x="3008376" y="4306017"/>
            <a:ext cx="893702" cy="119948"/>
          </a:xfrm>
          <a:prstGeom prst="rect">
            <a:avLst/>
          </a:prstGeom>
          <a:solidFill>
            <a:srgbClr val="C2352F"/>
          </a:solidFill>
          <a:ln/>
        </p:spPr>
      </p:sp>
      <p:sp>
        <p:nvSpPr>
          <p:cNvPr id="54" name="Text 52"/>
          <p:cNvSpPr txBox="1"/>
          <p:nvPr/>
        </p:nvSpPr>
        <p:spPr>
          <a:xfrm>
            <a:off x="4754880" y="4246043"/>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14.5%</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57" name="Shape 55"/>
          <p:cNvSpPr/>
          <p:nvPr/>
        </p:nvSpPr>
        <p:spPr>
          <a:xfrm>
            <a:off x="3008376" y="4545913"/>
            <a:ext cx="853471" cy="119948"/>
          </a:xfrm>
          <a:prstGeom prst="rect">
            <a:avLst/>
          </a:prstGeom>
          <a:solidFill>
            <a:srgbClr val="C2352F"/>
          </a:solidFill>
          <a:ln/>
        </p:spPr>
      </p:sp>
      <p:sp>
        <p:nvSpPr>
          <p:cNvPr id="58" name="Text 56"/>
          <p:cNvSpPr txBox="1"/>
          <p:nvPr/>
        </p:nvSpPr>
        <p:spPr>
          <a:xfrm>
            <a:off x="4754880" y="448593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13.8%</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61" name="Shape 59"/>
          <p:cNvSpPr/>
          <p:nvPr/>
        </p:nvSpPr>
        <p:spPr>
          <a:xfrm>
            <a:off x="3008376" y="4785808"/>
            <a:ext cx="852824" cy="119948"/>
          </a:xfrm>
          <a:prstGeom prst="rect">
            <a:avLst/>
          </a:prstGeom>
          <a:solidFill>
            <a:srgbClr val="C2352F"/>
          </a:solidFill>
          <a:ln/>
        </p:spPr>
      </p:sp>
      <p:sp>
        <p:nvSpPr>
          <p:cNvPr id="62" name="Text 60"/>
          <p:cNvSpPr txBox="1"/>
          <p:nvPr/>
        </p:nvSpPr>
        <p:spPr>
          <a:xfrm>
            <a:off x="4754880" y="472583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13.8%</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65" name="Shape 63"/>
          <p:cNvSpPr/>
          <p:nvPr/>
        </p:nvSpPr>
        <p:spPr>
          <a:xfrm>
            <a:off x="3008376" y="5025704"/>
            <a:ext cx="836304" cy="119948"/>
          </a:xfrm>
          <a:prstGeom prst="rect">
            <a:avLst/>
          </a:prstGeom>
          <a:solidFill>
            <a:srgbClr val="C2352F"/>
          </a:solidFill>
          <a:ln/>
        </p:spPr>
      </p:sp>
      <p:sp>
        <p:nvSpPr>
          <p:cNvPr id="66" name="Text 64"/>
          <p:cNvSpPr txBox="1"/>
          <p:nvPr/>
        </p:nvSpPr>
        <p:spPr>
          <a:xfrm>
            <a:off x="4754880"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13.6%</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69" name="Shape 67"/>
          <p:cNvSpPr/>
          <p:nvPr/>
        </p:nvSpPr>
        <p:spPr>
          <a:xfrm>
            <a:off x="3008376" y="5265599"/>
            <a:ext cx="791605" cy="119948"/>
          </a:xfrm>
          <a:prstGeom prst="rect">
            <a:avLst/>
          </a:prstGeom>
          <a:solidFill>
            <a:srgbClr val="C2352F"/>
          </a:solidFill>
          <a:ln/>
        </p:spPr>
      </p:sp>
      <p:sp>
        <p:nvSpPr>
          <p:cNvPr id="70" name="Text 68"/>
          <p:cNvSpPr txBox="1"/>
          <p:nvPr/>
        </p:nvSpPr>
        <p:spPr>
          <a:xfrm>
            <a:off x="4754880"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12.8%</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73" name="Shape 71"/>
          <p:cNvSpPr/>
          <p:nvPr/>
        </p:nvSpPr>
        <p:spPr>
          <a:xfrm>
            <a:off x="3008376" y="5505495"/>
            <a:ext cx="790712" cy="119948"/>
          </a:xfrm>
          <a:prstGeom prst="rect">
            <a:avLst/>
          </a:prstGeom>
          <a:solidFill>
            <a:srgbClr val="C2352F"/>
          </a:solidFill>
          <a:ln/>
        </p:spPr>
      </p:sp>
      <p:sp>
        <p:nvSpPr>
          <p:cNvPr id="74" name="Text 72"/>
          <p:cNvSpPr txBox="1"/>
          <p:nvPr/>
        </p:nvSpPr>
        <p:spPr>
          <a:xfrm>
            <a:off x="4754880"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12.8%</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77" name="Shape 75"/>
          <p:cNvSpPr/>
          <p:nvPr/>
        </p:nvSpPr>
        <p:spPr>
          <a:xfrm>
            <a:off x="3008376" y="5745390"/>
            <a:ext cx="773020" cy="119948"/>
          </a:xfrm>
          <a:prstGeom prst="rect">
            <a:avLst/>
          </a:prstGeom>
          <a:solidFill>
            <a:srgbClr val="C2352F"/>
          </a:solidFill>
          <a:ln/>
        </p:spPr>
      </p:sp>
      <p:sp>
        <p:nvSpPr>
          <p:cNvPr id="78" name="Text 76"/>
          <p:cNvSpPr txBox="1"/>
          <p:nvPr/>
        </p:nvSpPr>
        <p:spPr>
          <a:xfrm>
            <a:off x="4754880" y="568541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12.5%</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81" name="Shape 79"/>
          <p:cNvSpPr/>
          <p:nvPr/>
        </p:nvSpPr>
        <p:spPr>
          <a:xfrm>
            <a:off x="8558784" y="1907062"/>
            <a:ext cx="770247" cy="119948"/>
          </a:xfrm>
          <a:prstGeom prst="rect">
            <a:avLst/>
          </a:prstGeom>
          <a:solidFill>
            <a:srgbClr val="C2352F"/>
          </a:solidFill>
          <a:ln/>
        </p:spPr>
      </p:sp>
      <p:sp>
        <p:nvSpPr>
          <p:cNvPr id="82" name="Text 80"/>
          <p:cNvSpPr txBox="1"/>
          <p:nvPr/>
        </p:nvSpPr>
        <p:spPr>
          <a:xfrm>
            <a:off x="10305288" y="184708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12.5%</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85" name="Shape 83"/>
          <p:cNvSpPr/>
          <p:nvPr/>
        </p:nvSpPr>
        <p:spPr>
          <a:xfrm>
            <a:off x="8558784" y="2146957"/>
            <a:ext cx="758672" cy="119948"/>
          </a:xfrm>
          <a:prstGeom prst="rect">
            <a:avLst/>
          </a:prstGeom>
          <a:solidFill>
            <a:srgbClr val="C2352F"/>
          </a:solidFill>
          <a:ln/>
        </p:spPr>
      </p:sp>
      <p:sp>
        <p:nvSpPr>
          <p:cNvPr id="86" name="Text 84"/>
          <p:cNvSpPr txBox="1"/>
          <p:nvPr/>
        </p:nvSpPr>
        <p:spPr>
          <a:xfrm>
            <a:off x="10305288" y="208698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12.3%</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89" name="Shape 87"/>
          <p:cNvSpPr/>
          <p:nvPr/>
        </p:nvSpPr>
        <p:spPr>
          <a:xfrm>
            <a:off x="8558784" y="2386853"/>
            <a:ext cx="726142" cy="119948"/>
          </a:xfrm>
          <a:prstGeom prst="rect">
            <a:avLst/>
          </a:prstGeom>
          <a:solidFill>
            <a:srgbClr val="C2352F"/>
          </a:solidFill>
          <a:ln/>
        </p:spPr>
      </p:sp>
      <p:sp>
        <p:nvSpPr>
          <p:cNvPr id="90" name="Text 88"/>
          <p:cNvSpPr txBox="1"/>
          <p:nvPr/>
        </p:nvSpPr>
        <p:spPr>
          <a:xfrm>
            <a:off x="10305288" y="232687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11.8%</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93" name="Shape 91"/>
          <p:cNvSpPr/>
          <p:nvPr/>
        </p:nvSpPr>
        <p:spPr>
          <a:xfrm>
            <a:off x="8558784" y="2626748"/>
            <a:ext cx="722110" cy="119948"/>
          </a:xfrm>
          <a:prstGeom prst="rect">
            <a:avLst/>
          </a:prstGeom>
          <a:solidFill>
            <a:srgbClr val="C2352F"/>
          </a:solidFill>
          <a:ln/>
        </p:spPr>
      </p:sp>
      <p:sp>
        <p:nvSpPr>
          <p:cNvPr id="94" name="Text 92"/>
          <p:cNvSpPr txBox="1"/>
          <p:nvPr/>
        </p:nvSpPr>
        <p:spPr>
          <a:xfrm>
            <a:off x="10305288" y="256677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11.7%</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97" name="Shape 95"/>
          <p:cNvSpPr/>
          <p:nvPr/>
        </p:nvSpPr>
        <p:spPr>
          <a:xfrm>
            <a:off x="8558784" y="2866644"/>
            <a:ext cx="698534" cy="119948"/>
          </a:xfrm>
          <a:prstGeom prst="rect">
            <a:avLst/>
          </a:prstGeom>
          <a:solidFill>
            <a:srgbClr val="C2352F"/>
          </a:solidFill>
          <a:ln/>
        </p:spPr>
      </p:sp>
      <p:sp>
        <p:nvSpPr>
          <p:cNvPr id="98" name="Text 96"/>
          <p:cNvSpPr txBox="1"/>
          <p:nvPr/>
        </p:nvSpPr>
        <p:spPr>
          <a:xfrm>
            <a:off x="10305288" y="280667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11.3%</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01" name="Shape 99"/>
          <p:cNvSpPr/>
          <p:nvPr/>
        </p:nvSpPr>
        <p:spPr>
          <a:xfrm>
            <a:off x="8558784" y="3106540"/>
            <a:ext cx="684930" cy="119948"/>
          </a:xfrm>
          <a:prstGeom prst="rect">
            <a:avLst/>
          </a:prstGeom>
          <a:solidFill>
            <a:srgbClr val="C2352F"/>
          </a:solidFill>
          <a:ln/>
        </p:spPr>
      </p:sp>
      <p:sp>
        <p:nvSpPr>
          <p:cNvPr id="102" name="Text 100"/>
          <p:cNvSpPr txBox="1"/>
          <p:nvPr/>
        </p:nvSpPr>
        <p:spPr>
          <a:xfrm>
            <a:off x="10305288" y="304656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11.1%</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05" name="Shape 103"/>
          <p:cNvSpPr/>
          <p:nvPr/>
        </p:nvSpPr>
        <p:spPr>
          <a:xfrm>
            <a:off x="8558784" y="3346435"/>
            <a:ext cx="681795" cy="119948"/>
          </a:xfrm>
          <a:prstGeom prst="rect">
            <a:avLst/>
          </a:prstGeom>
          <a:solidFill>
            <a:srgbClr val="C2352F"/>
          </a:solidFill>
          <a:ln/>
        </p:spPr>
      </p:sp>
      <p:sp>
        <p:nvSpPr>
          <p:cNvPr id="106" name="Text 104"/>
          <p:cNvSpPr txBox="1"/>
          <p:nvPr/>
        </p:nvSpPr>
        <p:spPr>
          <a:xfrm>
            <a:off x="10305288" y="328646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11.0%</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09" name="Shape 107"/>
          <p:cNvSpPr/>
          <p:nvPr/>
        </p:nvSpPr>
        <p:spPr>
          <a:xfrm>
            <a:off x="8558784" y="3586331"/>
            <a:ext cx="680768" cy="119948"/>
          </a:xfrm>
          <a:prstGeom prst="rect">
            <a:avLst/>
          </a:prstGeom>
          <a:solidFill>
            <a:srgbClr val="C2352F"/>
          </a:solidFill>
          <a:ln/>
        </p:spPr>
      </p:sp>
      <p:sp>
        <p:nvSpPr>
          <p:cNvPr id="110" name="Text 108"/>
          <p:cNvSpPr txBox="1"/>
          <p:nvPr/>
        </p:nvSpPr>
        <p:spPr>
          <a:xfrm>
            <a:off x="10305288" y="3526357"/>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11.0%</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13" name="Shape 111"/>
          <p:cNvSpPr/>
          <p:nvPr/>
        </p:nvSpPr>
        <p:spPr>
          <a:xfrm>
            <a:off x="8558784" y="3826226"/>
            <a:ext cx="600097" cy="119948"/>
          </a:xfrm>
          <a:prstGeom prst="rect">
            <a:avLst/>
          </a:prstGeom>
          <a:solidFill>
            <a:srgbClr val="C2352F"/>
          </a:solidFill>
          <a:ln/>
        </p:spPr>
      </p:sp>
      <p:sp>
        <p:nvSpPr>
          <p:cNvPr id="114" name="Text 112"/>
          <p:cNvSpPr txBox="1"/>
          <p:nvPr/>
        </p:nvSpPr>
        <p:spPr>
          <a:xfrm>
            <a:off x="10305288" y="3766252"/>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9.7%</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17" name="Shape 115"/>
          <p:cNvSpPr/>
          <p:nvPr/>
        </p:nvSpPr>
        <p:spPr>
          <a:xfrm>
            <a:off x="8558784" y="4066122"/>
            <a:ext cx="597592" cy="119948"/>
          </a:xfrm>
          <a:prstGeom prst="rect">
            <a:avLst/>
          </a:prstGeom>
          <a:solidFill>
            <a:srgbClr val="C2352F"/>
          </a:solidFill>
          <a:ln/>
        </p:spPr>
      </p:sp>
      <p:sp>
        <p:nvSpPr>
          <p:cNvPr id="118" name="Text 116"/>
          <p:cNvSpPr txBox="1"/>
          <p:nvPr/>
        </p:nvSpPr>
        <p:spPr>
          <a:xfrm>
            <a:off x="10305288" y="400614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9.7%</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21" name="Shape 119"/>
          <p:cNvSpPr/>
          <p:nvPr/>
        </p:nvSpPr>
        <p:spPr>
          <a:xfrm>
            <a:off x="8558784" y="4306017"/>
            <a:ext cx="518858" cy="119948"/>
          </a:xfrm>
          <a:prstGeom prst="rect">
            <a:avLst/>
          </a:prstGeom>
          <a:solidFill>
            <a:srgbClr val="C2352F"/>
          </a:solidFill>
          <a:ln/>
        </p:spPr>
      </p:sp>
      <p:sp>
        <p:nvSpPr>
          <p:cNvPr id="122" name="Text 120"/>
          <p:cNvSpPr txBox="1"/>
          <p:nvPr/>
        </p:nvSpPr>
        <p:spPr>
          <a:xfrm>
            <a:off x="10305288" y="4246043"/>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8.4%</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25" name="Shape 123"/>
          <p:cNvSpPr/>
          <p:nvPr/>
        </p:nvSpPr>
        <p:spPr>
          <a:xfrm>
            <a:off x="8558784" y="4545913"/>
            <a:ext cx="491810" cy="119948"/>
          </a:xfrm>
          <a:prstGeom prst="rect">
            <a:avLst/>
          </a:prstGeom>
          <a:solidFill>
            <a:srgbClr val="C2352F"/>
          </a:solidFill>
          <a:ln/>
        </p:spPr>
      </p:sp>
      <p:sp>
        <p:nvSpPr>
          <p:cNvPr id="126" name="Text 124"/>
          <p:cNvSpPr txBox="1"/>
          <p:nvPr/>
        </p:nvSpPr>
        <p:spPr>
          <a:xfrm>
            <a:off x="10305288" y="448593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8.0%</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29" name="Shape 127"/>
          <p:cNvSpPr/>
          <p:nvPr/>
        </p:nvSpPr>
        <p:spPr>
          <a:xfrm>
            <a:off x="8558784" y="4785808"/>
            <a:ext cx="459272" cy="119948"/>
          </a:xfrm>
          <a:prstGeom prst="rect">
            <a:avLst/>
          </a:prstGeom>
          <a:solidFill>
            <a:srgbClr val="C2352F"/>
          </a:solidFill>
          <a:ln/>
        </p:spPr>
      </p:sp>
      <p:sp>
        <p:nvSpPr>
          <p:cNvPr id="130" name="Text 128"/>
          <p:cNvSpPr txBox="1"/>
          <p:nvPr/>
        </p:nvSpPr>
        <p:spPr>
          <a:xfrm>
            <a:off x="10305288" y="472583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7.4%</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33" name="Shape 131"/>
          <p:cNvSpPr/>
          <p:nvPr/>
        </p:nvSpPr>
        <p:spPr>
          <a:xfrm>
            <a:off x="8558784" y="5025704"/>
            <a:ext cx="345940" cy="119948"/>
          </a:xfrm>
          <a:prstGeom prst="rect">
            <a:avLst/>
          </a:prstGeom>
          <a:solidFill>
            <a:srgbClr val="C2352F"/>
          </a:solidFill>
          <a:ln/>
        </p:spPr>
      </p:sp>
      <p:sp>
        <p:nvSpPr>
          <p:cNvPr id="134" name="Text 132"/>
          <p:cNvSpPr txBox="1"/>
          <p:nvPr/>
        </p:nvSpPr>
        <p:spPr>
          <a:xfrm>
            <a:off x="10305288"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5.6%</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37" name="Shape 135"/>
          <p:cNvSpPr/>
          <p:nvPr/>
        </p:nvSpPr>
        <p:spPr>
          <a:xfrm>
            <a:off x="8558784" y="5265599"/>
            <a:ext cx="261424" cy="119948"/>
          </a:xfrm>
          <a:prstGeom prst="rect">
            <a:avLst/>
          </a:prstGeom>
          <a:solidFill>
            <a:srgbClr val="C2352F"/>
          </a:solidFill>
          <a:ln/>
        </p:spPr>
      </p:sp>
      <p:sp>
        <p:nvSpPr>
          <p:cNvPr id="138" name="Text 136"/>
          <p:cNvSpPr txBox="1"/>
          <p:nvPr/>
        </p:nvSpPr>
        <p:spPr>
          <a:xfrm>
            <a:off x="10305288"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4.2%</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41" name="Shape 139"/>
          <p:cNvSpPr/>
          <p:nvPr/>
        </p:nvSpPr>
        <p:spPr>
          <a:xfrm>
            <a:off x="8558784" y="5505495"/>
            <a:ext cx="259273" cy="119948"/>
          </a:xfrm>
          <a:prstGeom prst="rect">
            <a:avLst/>
          </a:prstGeom>
          <a:solidFill>
            <a:srgbClr val="C2352F"/>
          </a:solidFill>
          <a:ln/>
        </p:spPr>
      </p:sp>
      <p:sp>
        <p:nvSpPr>
          <p:cNvPr id="142" name="Text 140"/>
          <p:cNvSpPr txBox="1"/>
          <p:nvPr/>
        </p:nvSpPr>
        <p:spPr>
          <a:xfrm>
            <a:off x="10305288"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4.2%</a:t>
            </a:r>
            <a:endParaRPr lang="en-US" sz="1200" dirty="0"/>
          </a:p>
        </p:txBody>
      </p:sp>
      <p:sp>
        <p:nvSpPr>
          <p:cNvPr id="143" name="Shape 141"/>
          <p:cNvSpPr/>
          <p:nvPr/>
        </p:nvSpPr>
        <p:spPr>
          <a:xfrm>
            <a:off x="3923086" y="1847088"/>
            <a:ext cx="14630" cy="4078224"/>
          </a:xfrm>
          <a:prstGeom prst="rect">
            <a:avLst/>
          </a:prstGeom>
          <a:solidFill>
            <a:srgbClr val="0B2C4A"/>
          </a:solidFill>
          <a:ln/>
        </p:spPr>
      </p:sp>
      <p:sp>
        <p:nvSpPr>
          <p:cNvPr id="144" name="Shape 142"/>
          <p:cNvSpPr/>
          <p:nvPr/>
        </p:nvSpPr>
        <p:spPr>
          <a:xfrm>
            <a:off x="9473494" y="1847088"/>
            <a:ext cx="14630" cy="4078224"/>
          </a:xfrm>
          <a:prstGeom prst="rect">
            <a:avLst/>
          </a:prstGeom>
          <a:solidFill>
            <a:srgbClr val="0B2C4A"/>
          </a:solidFill>
          <a:ln/>
        </p:spPr>
      </p:sp>
      <p:sp>
        <p:nvSpPr>
          <p:cNvPr id="145" name="Shape 143"/>
          <p:cNvSpPr/>
          <p:nvPr/>
        </p:nvSpPr>
        <p:spPr>
          <a:xfrm>
            <a:off x="6085332" y="1847088"/>
            <a:ext cx="10973" cy="4078224"/>
          </a:xfrm>
          <a:prstGeom prst="rect">
            <a:avLst/>
          </a:prstGeom>
          <a:solidFill>
            <a:srgbClr val="D9D9D9"/>
          </a:solidFill>
          <a:ln/>
        </p:spPr>
      </p:sp>
      <p:sp>
        <p:nvSpPr>
          <p:cNvPr id="147" name="Shape 144"/>
          <p:cNvSpPr/>
          <p:nvPr/>
        </p:nvSpPr>
        <p:spPr>
          <a:xfrm>
            <a:off x="457200" y="6126480"/>
            <a:ext cx="11274552" cy="371856"/>
          </a:xfrm>
          <a:prstGeom prst="rect">
            <a:avLst/>
          </a:prstGeom>
          <a:solidFill>
            <a:srgbClr val="EDF4FA"/>
          </a:solidFill>
          <a:ln/>
        </p:spPr>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8 of 33 stores at or above 15%. The group sits at 13.2%.</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Alignment %</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Shape 8"/>
          <p:cNvSpPr/>
          <p:nvPr/>
        </p:nvSpPr>
        <p:spPr>
          <a:xfrm>
            <a:off x="4084320" y="2139696"/>
            <a:ext cx="64008" cy="755294"/>
          </a:xfrm>
          <a:prstGeom prst="rect">
            <a:avLst/>
          </a:prstGeom>
          <a:solidFill>
            <a:srgbClr val="12A566"/>
          </a:solidFill>
          <a:ln/>
        </p:spPr>
      </p:sp>
      <p:sp>
        <p:nvSpPr>
          <p:cNvPr id="11" name="Text 9"/>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14.8%</a:t>
            </a:r>
            <a:endParaRPr lang="en-US" sz="1400" dirty="0"/>
          </a:p>
        </p:txBody>
      </p:sp>
      <p:sp>
        <p:nvSpPr>
          <p:cNvPr id="13" name="Text 11"/>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+9.7 pts</a:t>
            </a:r>
            <a:endParaRPr lang="en-US" sz="1600" dirty="0"/>
          </a:p>
        </p:txBody>
      </p:sp>
      <p:sp>
        <p:nvSpPr>
          <p:cNvPr id="14" name="Shape 12"/>
          <p:cNvSpPr/>
          <p:nvPr/>
        </p:nvSpPr>
        <p:spPr>
          <a:xfrm>
            <a:off x="4084320" y="2968142"/>
            <a:ext cx="64008" cy="755294"/>
          </a:xfrm>
          <a:prstGeom prst="rect">
            <a:avLst/>
          </a:prstGeom>
          <a:solidFill>
            <a:srgbClr val="12A566"/>
          </a:solidFill>
          <a:ln/>
        </p:spPr>
      </p:sp>
      <p:sp>
        <p:nvSpPr>
          <p:cNvPr id="15" name="Text 13"/>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4"/>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21.7%</a:t>
            </a:r>
            <a:endParaRPr lang="en-US" sz="1400" dirty="0"/>
          </a:p>
        </p:txBody>
      </p:sp>
      <p:sp>
        <p:nvSpPr>
          <p:cNvPr id="17" name="Text 15"/>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+6.8 pts</a:t>
            </a:r>
            <a:endParaRPr lang="en-US" sz="1600" dirty="0"/>
          </a:p>
        </p:txBody>
      </p:sp>
      <p:sp>
        <p:nvSpPr>
          <p:cNvPr id="18" name="Shape 16"/>
          <p:cNvSpPr/>
          <p:nvPr/>
        </p:nvSpPr>
        <p:spPr>
          <a:xfrm>
            <a:off x="658368" y="3760013"/>
            <a:ext cx="3489960" cy="828446"/>
          </a:xfrm>
          <a:prstGeom prst="rect">
            <a:avLst/>
          </a:prstGeom>
          <a:solidFill>
            <a:srgbClr val="F7F7F7"/>
          </a:solidFill>
          <a:ln/>
        </p:spPr>
      </p:sp>
      <p:sp>
        <p:nvSpPr>
          <p:cNvPr id="19" name="Text 17"/>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0" name="Text 18"/>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11.7%</a:t>
            </a:r>
            <a:endParaRPr lang="en-US" sz="1400" dirty="0"/>
          </a:p>
        </p:txBody>
      </p:sp>
      <p:sp>
        <p:nvSpPr>
          <p:cNvPr id="21" name="Text 19"/>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+6.8 pts</a:t>
            </a:r>
            <a:endParaRPr lang="en-US" sz="1600" dirty="0"/>
          </a:p>
        </p:txBody>
      </p:sp>
      <p:sp>
        <p:nvSpPr>
          <p:cNvPr id="22" name="Shape 20"/>
          <p:cNvSpPr/>
          <p:nvPr/>
        </p:nvSpPr>
        <p:spPr>
          <a:xfrm>
            <a:off x="4084320" y="4625035"/>
            <a:ext cx="64008" cy="755294"/>
          </a:xfrm>
          <a:prstGeom prst="rect">
            <a:avLst/>
          </a:prstGeom>
          <a:solidFill>
            <a:srgbClr val="12A566"/>
          </a:solidFill>
          <a:ln/>
        </p:spPr>
      </p:sp>
      <p:sp>
        <p:nvSpPr>
          <p:cNvPr id="23" name="Text 21"/>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4" name="Text 22"/>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16.6%</a:t>
            </a:r>
            <a:endParaRPr lang="en-US" sz="1400" dirty="0"/>
          </a:p>
        </p:txBody>
      </p:sp>
      <p:sp>
        <p:nvSpPr>
          <p:cNvPr id="25" name="Text 23"/>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+6.7 pts</a:t>
            </a:r>
            <a:endParaRPr lang="en-US" sz="1600" dirty="0"/>
          </a:p>
        </p:txBody>
      </p:sp>
      <p:sp>
        <p:nvSpPr>
          <p:cNvPr id="26" name="Shape 24"/>
          <p:cNvSpPr/>
          <p:nvPr/>
        </p:nvSpPr>
        <p:spPr>
          <a:xfrm>
            <a:off x="658368" y="5416906"/>
            <a:ext cx="3489960" cy="828446"/>
          </a:xfrm>
          <a:prstGeom prst="rect">
            <a:avLst/>
          </a:prstGeom>
          <a:solidFill>
            <a:srgbClr val="F7F7F7"/>
          </a:solidFill>
          <a:ln/>
        </p:spPr>
      </p:sp>
      <p:sp>
        <p:nvSpPr>
          <p:cNvPr id="27" name="Text 25"/>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8" name="Text 26"/>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17.3%</a:t>
            </a:r>
            <a:endParaRPr lang="en-US" sz="1400" dirty="0"/>
          </a:p>
        </p:txBody>
      </p:sp>
      <p:sp>
        <p:nvSpPr>
          <p:cNvPr id="29" name="Text 27"/>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+5.9 pts</a:t>
            </a:r>
            <a:endParaRPr lang="en-US" sz="1600" dirty="0"/>
          </a:p>
        </p:txBody>
      </p:sp>
      <p:sp>
        <p:nvSpPr>
          <p:cNvPr id="30" name="Shape 28"/>
          <p:cNvSpPr/>
          <p:nvPr/>
        </p:nvSpPr>
        <p:spPr>
          <a:xfrm>
            <a:off x="4349496" y="1371600"/>
            <a:ext cx="3489960" cy="45720"/>
          </a:xfrm>
          <a:prstGeom prst="rect">
            <a:avLst/>
          </a:prstGeom>
          <a:solidFill>
            <a:srgbClr val="C2352F"/>
          </a:solidFill>
          <a:ln/>
        </p:spPr>
      </p:sp>
      <p:sp>
        <p:nvSpPr>
          <p:cNvPr id="31" name="Text 29"/>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2" name="Text 30"/>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3" name="Shape 31"/>
          <p:cNvSpPr/>
          <p:nvPr/>
        </p:nvSpPr>
        <p:spPr>
          <a:xfrm>
            <a:off x="4349496" y="2103120"/>
            <a:ext cx="3489960" cy="828446"/>
          </a:xfrm>
          <a:prstGeom prst="rect">
            <a:avLst/>
          </a:prstGeom>
          <a:solidFill>
            <a:srgbClr val="F7F7F7"/>
          </a:solidFill>
          <a:ln/>
        </p:spPr>
      </p:sp>
      <p:sp>
        <p:nvSpPr>
          <p:cNvPr id="34" name="Text 32"/>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5" name="Text 33"/>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12.8%</a:t>
            </a:r>
            <a:endParaRPr lang="en-US" sz="1400" dirty="0"/>
          </a:p>
        </p:txBody>
      </p:sp>
      <p:sp>
        <p:nvSpPr>
          <p:cNvPr id="36" name="Text 34"/>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−4.9 pts</a:t>
            </a:r>
            <a:endParaRPr lang="en-US" sz="1600" dirty="0"/>
          </a:p>
        </p:txBody>
      </p:sp>
      <p:sp>
        <p:nvSpPr>
          <p:cNvPr id="37" name="Text 35"/>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8" name="Text 36"/>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9.7%</a:t>
            </a:r>
            <a:endParaRPr lang="en-US" sz="1400" dirty="0"/>
          </a:p>
        </p:txBody>
      </p:sp>
      <p:sp>
        <p:nvSpPr>
          <p:cNvPr id="39" name="Text 37"/>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−3.5 pts</a:t>
            </a:r>
            <a:endParaRPr lang="en-US" sz="1600" dirty="0"/>
          </a:p>
        </p:txBody>
      </p:sp>
      <p:sp>
        <p:nvSpPr>
          <p:cNvPr id="40" name="Shape 38"/>
          <p:cNvSpPr/>
          <p:nvPr/>
        </p:nvSpPr>
        <p:spPr>
          <a:xfrm>
            <a:off x="4349496" y="3760013"/>
            <a:ext cx="3489960" cy="828446"/>
          </a:xfrm>
          <a:prstGeom prst="rect">
            <a:avLst/>
          </a:prstGeom>
          <a:solidFill>
            <a:srgbClr val="F7F7F7"/>
          </a:solidFill>
          <a:ln/>
        </p:spPr>
      </p:sp>
      <p:sp>
        <p:nvSpPr>
          <p:cNvPr id="41" name="Text 39"/>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2" name="Text 40"/>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14.5%</a:t>
            </a:r>
            <a:endParaRPr lang="en-US" sz="1400" dirty="0"/>
          </a:p>
        </p:txBody>
      </p:sp>
      <p:sp>
        <p:nvSpPr>
          <p:cNvPr id="43" name="Text 41"/>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−1.5 pts</a:t>
            </a:r>
            <a:endParaRPr lang="en-US" sz="1600" dirty="0"/>
          </a:p>
        </p:txBody>
      </p:sp>
      <p:sp>
        <p:nvSpPr>
          <p:cNvPr id="44" name="Text 42"/>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5" name="Text 43"/>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11.0%</a:t>
            </a:r>
            <a:endParaRPr lang="en-US" sz="1400" dirty="0"/>
          </a:p>
        </p:txBody>
      </p:sp>
      <p:sp>
        <p:nvSpPr>
          <p:cNvPr id="46" name="Text 44"/>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−0.8 pts</a:t>
            </a:r>
            <a:endParaRPr lang="en-US" sz="1600" dirty="0"/>
          </a:p>
        </p:txBody>
      </p:sp>
      <p:sp>
        <p:nvSpPr>
          <p:cNvPr id="47" name="Shape 45"/>
          <p:cNvSpPr/>
          <p:nvPr/>
        </p:nvSpPr>
        <p:spPr>
          <a:xfrm>
            <a:off x="4349496" y="5416906"/>
            <a:ext cx="3489960" cy="828446"/>
          </a:xfrm>
          <a:prstGeom prst="rect">
            <a:avLst/>
          </a:prstGeom>
          <a:solidFill>
            <a:srgbClr val="F7F7F7"/>
          </a:solidFill>
          <a:ln/>
        </p:spPr>
      </p:sp>
      <p:sp>
        <p:nvSpPr>
          <p:cNvPr id="48" name="Text 46"/>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9" name="Text 47"/>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14.5%</a:t>
            </a:r>
            <a:endParaRPr lang="en-US" sz="1400" dirty="0"/>
          </a:p>
        </p:txBody>
      </p:sp>
      <p:sp>
        <p:nvSpPr>
          <p:cNvPr id="50" name="Text 48"/>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−0.5 pts</a:t>
            </a:r>
            <a:endParaRPr lang="en-US" sz="1600" dirty="0"/>
          </a:p>
        </p:txBody>
      </p:sp>
      <p:sp>
        <p:nvSpPr>
          <p:cNvPr id="51" name="Shape 49"/>
          <p:cNvSpPr/>
          <p:nvPr/>
        </p:nvSpPr>
        <p:spPr>
          <a:xfrm>
            <a:off x="8040624" y="1371600"/>
            <a:ext cx="3489960" cy="45720"/>
          </a:xfrm>
          <a:prstGeom prst="rect">
            <a:avLst/>
          </a:prstGeom>
          <a:solidFill>
            <a:srgbClr val="2587C5"/>
          </a:solidFill>
          <a:ln/>
        </p:spPr>
      </p:sp>
      <p:sp>
        <p:nvSpPr>
          <p:cNvPr id="52" name="Text 50"/>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3" name="Text 51"/>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54" name="Shape 52"/>
          <p:cNvSpPr/>
          <p:nvPr/>
        </p:nvSpPr>
        <p:spPr>
          <a:xfrm>
            <a:off x="8040624" y="2103120"/>
            <a:ext cx="3489960" cy="828446"/>
          </a:xfrm>
          <a:prstGeom prst="rect">
            <a:avLst/>
          </a:prstGeom>
          <a:solidFill>
            <a:srgbClr val="F7F7F7"/>
          </a:solidFill>
          <a:ln/>
        </p:spPr>
      </p:sp>
      <p:sp>
        <p:nvSpPr>
          <p:cNvPr id="55" name="Text 53"/>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6" name="Text 54"/>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31.7%</a:t>
            </a:r>
            <a:endParaRPr lang="en-US" sz="1400" dirty="0"/>
          </a:p>
        </p:txBody>
      </p:sp>
      <p:sp>
        <p:nvSpPr>
          <p:cNvPr id="57" name="Text 55"/>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+10.7 pts</a:t>
            </a:r>
            <a:endParaRPr lang="en-US" sz="1600" dirty="0"/>
          </a:p>
        </p:txBody>
      </p:sp>
      <p:sp>
        <p:nvSpPr>
          <p:cNvPr id="58" name="Shape 56"/>
          <p:cNvSpPr/>
          <p:nvPr/>
        </p:nvSpPr>
        <p:spPr>
          <a:xfrm>
            <a:off x="11466576" y="2968142"/>
            <a:ext cx="64008" cy="755294"/>
          </a:xfrm>
          <a:prstGeom prst="rect">
            <a:avLst/>
          </a:prstGeom>
          <a:solidFill>
            <a:srgbClr val="12A566"/>
          </a:solidFill>
          <a:ln/>
        </p:spPr>
      </p:sp>
      <p:sp>
        <p:nvSpPr>
          <p:cNvPr id="59" name="Text 57"/>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0" name="Text 58"/>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22.8%</a:t>
            </a:r>
            <a:endParaRPr lang="en-US" sz="1400" dirty="0"/>
          </a:p>
        </p:txBody>
      </p:sp>
      <p:sp>
        <p:nvSpPr>
          <p:cNvPr id="61" name="Text 59"/>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+10.2 pts</a:t>
            </a:r>
            <a:endParaRPr lang="en-US" sz="1600" dirty="0"/>
          </a:p>
        </p:txBody>
      </p:sp>
      <p:sp>
        <p:nvSpPr>
          <p:cNvPr id="62" name="Shape 60"/>
          <p:cNvSpPr/>
          <p:nvPr/>
        </p:nvSpPr>
        <p:spPr>
          <a:xfrm>
            <a:off x="8040624" y="3760013"/>
            <a:ext cx="3489960" cy="828446"/>
          </a:xfrm>
          <a:prstGeom prst="rect">
            <a:avLst/>
          </a:prstGeom>
          <a:solidFill>
            <a:srgbClr val="F7F7F7"/>
          </a:solidFill>
          <a:ln/>
        </p:spPr>
      </p:sp>
      <p:sp>
        <p:nvSpPr>
          <p:cNvPr id="63" name="Text 61"/>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4" name="Text 62"/>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11.7%</a:t>
            </a:r>
            <a:endParaRPr lang="en-US" sz="1400" dirty="0"/>
          </a:p>
        </p:txBody>
      </p:sp>
      <p:sp>
        <p:nvSpPr>
          <p:cNvPr id="65" name="Text 63"/>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+7.7 pts</a:t>
            </a:r>
            <a:endParaRPr lang="en-US" sz="1600" dirty="0"/>
          </a:p>
        </p:txBody>
      </p:sp>
      <p:sp>
        <p:nvSpPr>
          <p:cNvPr id="66" name="Shape 64"/>
          <p:cNvSpPr/>
          <p:nvPr/>
        </p:nvSpPr>
        <p:spPr>
          <a:xfrm>
            <a:off x="11466576" y="4625035"/>
            <a:ext cx="64008" cy="755294"/>
          </a:xfrm>
          <a:prstGeom prst="rect">
            <a:avLst/>
          </a:prstGeom>
          <a:solidFill>
            <a:srgbClr val="12A566"/>
          </a:solidFill>
          <a:ln/>
        </p:spPr>
      </p:sp>
      <p:sp>
        <p:nvSpPr>
          <p:cNvPr id="67" name="Text 65"/>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8" name="Text 66"/>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25.7%</a:t>
            </a:r>
            <a:endParaRPr lang="en-US" sz="1400" dirty="0"/>
          </a:p>
        </p:txBody>
      </p:sp>
      <p:sp>
        <p:nvSpPr>
          <p:cNvPr id="69" name="Text 67"/>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+7.4 pts</a:t>
            </a:r>
            <a:endParaRPr lang="en-US" sz="1600" dirty="0"/>
          </a:p>
        </p:txBody>
      </p:sp>
      <p:sp>
        <p:nvSpPr>
          <p:cNvPr id="70" name="Shape 68"/>
          <p:cNvSpPr/>
          <p:nvPr/>
        </p:nvSpPr>
        <p:spPr>
          <a:xfrm>
            <a:off x="8040624" y="5416906"/>
            <a:ext cx="3489960" cy="828446"/>
          </a:xfrm>
          <a:prstGeom prst="rect">
            <a:avLst/>
          </a:prstGeom>
          <a:solidFill>
            <a:srgbClr val="F7F7F7"/>
          </a:solidFill>
          <a:ln/>
        </p:spPr>
      </p:sp>
      <p:sp>
        <p:nvSpPr>
          <p:cNvPr id="71" name="Shape 69"/>
          <p:cNvSpPr/>
          <p:nvPr/>
        </p:nvSpPr>
        <p:spPr>
          <a:xfrm>
            <a:off x="11466576" y="5453482"/>
            <a:ext cx="64008" cy="755294"/>
          </a:xfrm>
          <a:prstGeom prst="rect">
            <a:avLst/>
          </a:prstGeom>
          <a:solidFill>
            <a:srgbClr val="12A566"/>
          </a:solidFill>
          <a:ln/>
        </p:spPr>
      </p:sp>
      <p:sp>
        <p:nvSpPr>
          <p:cNvPr id="72" name="Text 70"/>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73" name="Text 71"/>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19.3%</a:t>
            </a:r>
            <a:endParaRPr lang="en-US" sz="1400" dirty="0"/>
          </a:p>
        </p:txBody>
      </p:sp>
      <p:sp>
        <p:nvSpPr>
          <p:cNvPr id="74" name="Text 72"/>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+6.5 pts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Balance %</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6.9%</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8.3%</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+1.4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+20.0%</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Balance %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graphicFrame>
        <p:nvGraphicFramePr>
          <p:cNvPr id="21" name="Chart 4"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5"/>
          </a:graphicData>
        </a:graphic>
      </p:graphicFrame>
      <p:graphicFrame>
        <p:nvGraphicFramePr>
          <p:cNvPr id="22" name="Chart 5"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6"/>
          </a:graphicData>
        </a:graphic>
      </p:graphicFrame>
      <p:sp>
        <p:nvSpPr>
          <p:cNvPr id="23" name="Shape 15"/>
          <p:cNvSpPr/>
          <p:nvPr/>
        </p:nvSpPr>
        <p:spPr>
          <a:xfrm>
            <a:off x="3762756" y="3049524"/>
            <a:ext cx="310896" cy="45720"/>
          </a:xfrm>
          <a:prstGeom prst="rect">
            <a:avLst/>
          </a:prstGeom>
          <a:solidFill>
            <a:srgbClr val="9AA3AD"/>
          </a:solidFill>
          <a:ln/>
        </p:spPr>
      </p:sp>
      <p:sp>
        <p:nvSpPr>
          <p:cNvPr id="24" name="Shape 16"/>
          <p:cNvSpPr/>
          <p:nvPr/>
        </p:nvSpPr>
        <p:spPr>
          <a:xfrm>
            <a:off x="3863340" y="3017520"/>
            <a:ext cx="109728" cy="109728"/>
          </a:xfrm>
          <a:prstGeom prst="ellipse">
            <a:avLst/>
          </a:prstGeom>
          <a:solidFill>
            <a:srgbClr val="9AA3AD"/>
          </a:solidFill>
          <a:ln/>
        </p:spPr>
      </p:sp>
      <p:sp>
        <p:nvSpPr>
          <p:cNvPr id="25" name="Text 17"/>
          <p:cNvSpPr txBox="1"/>
          <p:nvPr/>
        </p:nvSpPr>
        <p:spPr>
          <a:xfrm>
            <a:off x="414680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4997196" y="3049524"/>
            <a:ext cx="310896" cy="45720"/>
          </a:xfrm>
          <a:prstGeom prst="rect">
            <a:avLst/>
          </a:prstGeom>
          <a:solidFill>
            <a:srgbClr val="2587C5"/>
          </a:solidFill>
          <a:ln/>
        </p:spPr>
      </p:sp>
      <p:sp>
        <p:nvSpPr>
          <p:cNvPr id="27" name="Shape 19"/>
          <p:cNvSpPr/>
          <p:nvPr/>
        </p:nvSpPr>
        <p:spPr>
          <a:xfrm>
            <a:off x="5097780" y="3017520"/>
            <a:ext cx="109728" cy="109728"/>
          </a:xfrm>
          <a:prstGeom prst="ellipse">
            <a:avLst/>
          </a:prstGeom>
          <a:solidFill>
            <a:srgbClr val="2587C5"/>
          </a:solidFill>
          <a:ln/>
        </p:spPr>
      </p:sp>
      <p:sp>
        <p:nvSpPr>
          <p:cNvPr id="28" name="Text 20"/>
          <p:cNvSpPr txBox="1"/>
          <p:nvPr/>
        </p:nvSpPr>
        <p:spPr>
          <a:xfrm>
            <a:off x="538124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6231636" y="3049524"/>
            <a:ext cx="73152" cy="36576"/>
          </a:xfrm>
          <a:prstGeom prst="rect">
            <a:avLst/>
          </a:prstGeom>
          <a:solidFill>
            <a:srgbClr val="595959"/>
          </a:solidFill>
          <a:ln/>
        </p:spPr>
      </p:sp>
      <p:sp>
        <p:nvSpPr>
          <p:cNvPr id="30" name="Shape 22"/>
          <p:cNvSpPr/>
          <p:nvPr/>
        </p:nvSpPr>
        <p:spPr>
          <a:xfrm>
            <a:off x="6350508" y="3049524"/>
            <a:ext cx="73152" cy="36576"/>
          </a:xfrm>
          <a:prstGeom prst="rect">
            <a:avLst/>
          </a:prstGeom>
          <a:solidFill>
            <a:srgbClr val="595959"/>
          </a:solidFill>
          <a:ln/>
        </p:spPr>
      </p:sp>
      <p:sp>
        <p:nvSpPr>
          <p:cNvPr id="31" name="Shape 23"/>
          <p:cNvSpPr/>
          <p:nvPr/>
        </p:nvSpPr>
        <p:spPr>
          <a:xfrm>
            <a:off x="6469380" y="3049524"/>
            <a:ext cx="73152" cy="36576"/>
          </a:xfrm>
          <a:prstGeom prst="rect">
            <a:avLst/>
          </a:prstGeom>
          <a:solidFill>
            <a:srgbClr val="595959"/>
          </a:solidFill>
          <a:ln/>
        </p:spPr>
      </p:sp>
      <p:sp>
        <p:nvSpPr>
          <p:cNvPr id="32" name="Text 24"/>
          <p:cNvSpPr txBox="1"/>
          <p:nvPr/>
        </p:nvSpPr>
        <p:spPr>
          <a:xfrm>
            <a:off x="6615684" y="2926080"/>
            <a:ext cx="23774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Benchmark 15%</a:t>
            </a:r>
            <a:endParaRPr lang="en-US" sz="1400" dirty="0"/>
          </a:p>
        </p:txBody>
      </p:sp>
      <p:sp>
        <p:nvSpPr>
          <p:cNvPr id="33" name="Shape 25"/>
          <p:cNvSpPr/>
          <p:nvPr/>
        </p:nvSpPr>
        <p:spPr>
          <a:xfrm>
            <a:off x="457200" y="6126480"/>
            <a:ext cx="11274552" cy="615696"/>
          </a:xfrm>
          <a:prstGeom prst="rect">
            <a:avLst/>
          </a:prstGeom>
          <a:solidFill>
            <a:srgbClr val="E6F6EE"/>
          </a:solidFill>
          <a:ln/>
        </p:spPr>
      </p:sp>
      <p:sp>
        <p:nvSpPr>
          <p:cNvPr id="34" name="Text 26"/>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1.4 pts to 8.3%, ahead of 2025 in all nine months, but 6.6 pts under the 15% benchmark — 18,493 balances short.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Balance %</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BALANCE %</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BENCHMARK 15.0%</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8.3%</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3" name="Shape 11"/>
          <p:cNvSpPr/>
          <p:nvPr/>
        </p:nvSpPr>
        <p:spPr>
          <a:xfrm>
            <a:off x="3008376" y="1907062"/>
            <a:ext cx="1691640" cy="119948"/>
          </a:xfrm>
          <a:prstGeom prst="rect">
            <a:avLst/>
          </a:prstGeom>
          <a:solidFill>
            <a:srgbClr val="12A566"/>
          </a:solidFill>
          <a:ln/>
        </p:spPr>
      </p:sp>
      <p:sp>
        <p:nvSpPr>
          <p:cNvPr id="14" name="Text 12"/>
          <p:cNvSpPr txBox="1"/>
          <p:nvPr/>
        </p:nvSpPr>
        <p:spPr>
          <a:xfrm>
            <a:off x="4754880" y="184708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27.0%</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7" name="Shape 15"/>
          <p:cNvSpPr/>
          <p:nvPr/>
        </p:nvSpPr>
        <p:spPr>
          <a:xfrm>
            <a:off x="3008376" y="2146957"/>
            <a:ext cx="1153473" cy="119948"/>
          </a:xfrm>
          <a:prstGeom prst="rect">
            <a:avLst/>
          </a:prstGeom>
          <a:solidFill>
            <a:srgbClr val="12A566"/>
          </a:solidFill>
          <a:ln/>
        </p:spPr>
      </p:sp>
      <p:sp>
        <p:nvSpPr>
          <p:cNvPr id="18" name="Text 16"/>
          <p:cNvSpPr txBox="1"/>
          <p:nvPr/>
        </p:nvSpPr>
        <p:spPr>
          <a:xfrm>
            <a:off x="4754880" y="208698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18.4%</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21" name="Shape 19"/>
          <p:cNvSpPr/>
          <p:nvPr/>
        </p:nvSpPr>
        <p:spPr>
          <a:xfrm>
            <a:off x="3008376" y="2386853"/>
            <a:ext cx="1064356" cy="119948"/>
          </a:xfrm>
          <a:prstGeom prst="rect">
            <a:avLst/>
          </a:prstGeom>
          <a:solidFill>
            <a:srgbClr val="12A566"/>
          </a:solidFill>
          <a:ln/>
        </p:spPr>
      </p:sp>
      <p:sp>
        <p:nvSpPr>
          <p:cNvPr id="22" name="Text 20"/>
          <p:cNvSpPr txBox="1"/>
          <p:nvPr/>
        </p:nvSpPr>
        <p:spPr>
          <a:xfrm>
            <a:off x="4754880" y="232687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16.9%</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25" name="Shape 23"/>
          <p:cNvSpPr/>
          <p:nvPr/>
        </p:nvSpPr>
        <p:spPr>
          <a:xfrm>
            <a:off x="3008376" y="2626748"/>
            <a:ext cx="1062417" cy="119948"/>
          </a:xfrm>
          <a:prstGeom prst="rect">
            <a:avLst/>
          </a:prstGeom>
          <a:solidFill>
            <a:srgbClr val="12A566"/>
          </a:solidFill>
          <a:ln/>
        </p:spPr>
      </p:sp>
      <p:sp>
        <p:nvSpPr>
          <p:cNvPr id="26" name="Text 24"/>
          <p:cNvSpPr txBox="1"/>
          <p:nvPr/>
        </p:nvSpPr>
        <p:spPr>
          <a:xfrm>
            <a:off x="4754880" y="256677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16.9%</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29" name="Shape 27"/>
          <p:cNvSpPr/>
          <p:nvPr/>
        </p:nvSpPr>
        <p:spPr>
          <a:xfrm>
            <a:off x="3008376" y="2866644"/>
            <a:ext cx="938723" cy="119948"/>
          </a:xfrm>
          <a:prstGeom prst="rect">
            <a:avLst/>
          </a:prstGeom>
          <a:solidFill>
            <a:srgbClr val="C2352F"/>
          </a:solidFill>
          <a:ln/>
        </p:spPr>
      </p:sp>
      <p:sp>
        <p:nvSpPr>
          <p:cNvPr id="30" name="Text 28"/>
          <p:cNvSpPr txBox="1"/>
          <p:nvPr/>
        </p:nvSpPr>
        <p:spPr>
          <a:xfrm>
            <a:off x="4754880" y="280667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14.9%</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33" name="Shape 31"/>
          <p:cNvSpPr/>
          <p:nvPr/>
        </p:nvSpPr>
        <p:spPr>
          <a:xfrm>
            <a:off x="3008376" y="3106540"/>
            <a:ext cx="883929" cy="119948"/>
          </a:xfrm>
          <a:prstGeom prst="rect">
            <a:avLst/>
          </a:prstGeom>
          <a:solidFill>
            <a:srgbClr val="C2352F"/>
          </a:solidFill>
          <a:ln/>
        </p:spPr>
      </p:sp>
      <p:sp>
        <p:nvSpPr>
          <p:cNvPr id="34" name="Text 32"/>
          <p:cNvSpPr txBox="1"/>
          <p:nvPr/>
        </p:nvSpPr>
        <p:spPr>
          <a:xfrm>
            <a:off x="4754880" y="304656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14.1%</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37" name="Shape 35"/>
          <p:cNvSpPr/>
          <p:nvPr/>
        </p:nvSpPr>
        <p:spPr>
          <a:xfrm>
            <a:off x="3008376" y="3346435"/>
            <a:ext cx="847705" cy="119948"/>
          </a:xfrm>
          <a:prstGeom prst="rect">
            <a:avLst/>
          </a:prstGeom>
          <a:solidFill>
            <a:srgbClr val="C2352F"/>
          </a:solidFill>
          <a:ln/>
        </p:spPr>
      </p:sp>
      <p:sp>
        <p:nvSpPr>
          <p:cNvPr id="38" name="Text 36"/>
          <p:cNvSpPr txBox="1"/>
          <p:nvPr/>
        </p:nvSpPr>
        <p:spPr>
          <a:xfrm>
            <a:off x="4754880" y="328646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13.5%</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41" name="Shape 39"/>
          <p:cNvSpPr/>
          <p:nvPr/>
        </p:nvSpPr>
        <p:spPr>
          <a:xfrm>
            <a:off x="3008376" y="3586331"/>
            <a:ext cx="826302" cy="119948"/>
          </a:xfrm>
          <a:prstGeom prst="rect">
            <a:avLst/>
          </a:prstGeom>
          <a:solidFill>
            <a:srgbClr val="C2352F"/>
          </a:solidFill>
          <a:ln/>
        </p:spPr>
      </p:sp>
      <p:sp>
        <p:nvSpPr>
          <p:cNvPr id="42" name="Text 40"/>
          <p:cNvSpPr txBox="1"/>
          <p:nvPr/>
        </p:nvSpPr>
        <p:spPr>
          <a:xfrm>
            <a:off x="4754880" y="3526357"/>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13.1%</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45" name="Shape 43"/>
          <p:cNvSpPr/>
          <p:nvPr/>
        </p:nvSpPr>
        <p:spPr>
          <a:xfrm>
            <a:off x="3008376" y="3826226"/>
            <a:ext cx="752231" cy="119948"/>
          </a:xfrm>
          <a:prstGeom prst="rect">
            <a:avLst/>
          </a:prstGeom>
          <a:solidFill>
            <a:srgbClr val="C2352F"/>
          </a:solidFill>
          <a:ln/>
        </p:spPr>
      </p:sp>
      <p:sp>
        <p:nvSpPr>
          <p:cNvPr id="46" name="Text 44"/>
          <p:cNvSpPr txBox="1"/>
          <p:nvPr/>
        </p:nvSpPr>
        <p:spPr>
          <a:xfrm>
            <a:off x="4754880" y="3766252"/>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12.0%</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49" name="Shape 47"/>
          <p:cNvSpPr/>
          <p:nvPr/>
        </p:nvSpPr>
        <p:spPr>
          <a:xfrm>
            <a:off x="3008376" y="4066122"/>
            <a:ext cx="734701" cy="119948"/>
          </a:xfrm>
          <a:prstGeom prst="rect">
            <a:avLst/>
          </a:prstGeom>
          <a:solidFill>
            <a:srgbClr val="C2352F"/>
          </a:solidFill>
          <a:ln/>
        </p:spPr>
      </p:sp>
      <p:sp>
        <p:nvSpPr>
          <p:cNvPr id="50" name="Text 48"/>
          <p:cNvSpPr txBox="1"/>
          <p:nvPr/>
        </p:nvSpPr>
        <p:spPr>
          <a:xfrm>
            <a:off x="4754880" y="400614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11.7%</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53" name="Shape 51"/>
          <p:cNvSpPr/>
          <p:nvPr/>
        </p:nvSpPr>
        <p:spPr>
          <a:xfrm>
            <a:off x="3008376" y="4306017"/>
            <a:ext cx="703205" cy="119948"/>
          </a:xfrm>
          <a:prstGeom prst="rect">
            <a:avLst/>
          </a:prstGeom>
          <a:solidFill>
            <a:srgbClr val="C2352F"/>
          </a:solidFill>
          <a:ln/>
        </p:spPr>
      </p:sp>
      <p:sp>
        <p:nvSpPr>
          <p:cNvPr id="54" name="Text 52"/>
          <p:cNvSpPr txBox="1"/>
          <p:nvPr/>
        </p:nvSpPr>
        <p:spPr>
          <a:xfrm>
            <a:off x="4754880" y="4246043"/>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11.2%</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57" name="Shape 55"/>
          <p:cNvSpPr/>
          <p:nvPr/>
        </p:nvSpPr>
        <p:spPr>
          <a:xfrm>
            <a:off x="3008376" y="4545913"/>
            <a:ext cx="640057" cy="119948"/>
          </a:xfrm>
          <a:prstGeom prst="rect">
            <a:avLst/>
          </a:prstGeom>
          <a:solidFill>
            <a:srgbClr val="C2352F"/>
          </a:solidFill>
          <a:ln/>
        </p:spPr>
      </p:sp>
      <p:sp>
        <p:nvSpPr>
          <p:cNvPr id="58" name="Text 56"/>
          <p:cNvSpPr txBox="1"/>
          <p:nvPr/>
        </p:nvSpPr>
        <p:spPr>
          <a:xfrm>
            <a:off x="4754880" y="448593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10.2%</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61" name="Shape 59"/>
          <p:cNvSpPr/>
          <p:nvPr/>
        </p:nvSpPr>
        <p:spPr>
          <a:xfrm>
            <a:off x="3008376" y="4785808"/>
            <a:ext cx="569932" cy="119948"/>
          </a:xfrm>
          <a:prstGeom prst="rect">
            <a:avLst/>
          </a:prstGeom>
          <a:solidFill>
            <a:srgbClr val="C2352F"/>
          </a:solidFill>
          <a:ln/>
        </p:spPr>
      </p:sp>
      <p:sp>
        <p:nvSpPr>
          <p:cNvPr id="62" name="Text 60"/>
          <p:cNvSpPr txBox="1"/>
          <p:nvPr/>
        </p:nvSpPr>
        <p:spPr>
          <a:xfrm>
            <a:off x="4754880" y="472583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9.0%</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65" name="Shape 63"/>
          <p:cNvSpPr/>
          <p:nvPr/>
        </p:nvSpPr>
        <p:spPr>
          <a:xfrm>
            <a:off x="3008376" y="5025704"/>
            <a:ext cx="519894" cy="119948"/>
          </a:xfrm>
          <a:prstGeom prst="rect">
            <a:avLst/>
          </a:prstGeom>
          <a:solidFill>
            <a:srgbClr val="C2352F"/>
          </a:solidFill>
          <a:ln/>
        </p:spPr>
      </p:sp>
      <p:sp>
        <p:nvSpPr>
          <p:cNvPr id="66" name="Text 64"/>
          <p:cNvSpPr txBox="1"/>
          <p:nvPr/>
        </p:nvSpPr>
        <p:spPr>
          <a:xfrm>
            <a:off x="4754880"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8.2%</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69" name="Shape 67"/>
          <p:cNvSpPr/>
          <p:nvPr/>
        </p:nvSpPr>
        <p:spPr>
          <a:xfrm>
            <a:off x="3008376" y="5265599"/>
            <a:ext cx="485901" cy="119948"/>
          </a:xfrm>
          <a:prstGeom prst="rect">
            <a:avLst/>
          </a:prstGeom>
          <a:solidFill>
            <a:srgbClr val="C2352F"/>
          </a:solidFill>
          <a:ln/>
        </p:spPr>
      </p:sp>
      <p:sp>
        <p:nvSpPr>
          <p:cNvPr id="70" name="Text 68"/>
          <p:cNvSpPr txBox="1"/>
          <p:nvPr/>
        </p:nvSpPr>
        <p:spPr>
          <a:xfrm>
            <a:off x="4754880"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7.7%</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73" name="Shape 71"/>
          <p:cNvSpPr/>
          <p:nvPr/>
        </p:nvSpPr>
        <p:spPr>
          <a:xfrm>
            <a:off x="3008376" y="5505495"/>
            <a:ext cx="483593" cy="119948"/>
          </a:xfrm>
          <a:prstGeom prst="rect">
            <a:avLst/>
          </a:prstGeom>
          <a:solidFill>
            <a:srgbClr val="C2352F"/>
          </a:solidFill>
          <a:ln/>
        </p:spPr>
      </p:sp>
      <p:sp>
        <p:nvSpPr>
          <p:cNvPr id="74" name="Text 72"/>
          <p:cNvSpPr txBox="1"/>
          <p:nvPr/>
        </p:nvSpPr>
        <p:spPr>
          <a:xfrm>
            <a:off x="4754880"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7.7%</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77" name="Shape 75"/>
          <p:cNvSpPr/>
          <p:nvPr/>
        </p:nvSpPr>
        <p:spPr>
          <a:xfrm>
            <a:off x="3008376" y="5745390"/>
            <a:ext cx="457948" cy="119948"/>
          </a:xfrm>
          <a:prstGeom prst="rect">
            <a:avLst/>
          </a:prstGeom>
          <a:solidFill>
            <a:srgbClr val="C2352F"/>
          </a:solidFill>
          <a:ln/>
        </p:spPr>
      </p:sp>
      <p:sp>
        <p:nvSpPr>
          <p:cNvPr id="78" name="Text 76"/>
          <p:cNvSpPr txBox="1"/>
          <p:nvPr/>
        </p:nvSpPr>
        <p:spPr>
          <a:xfrm>
            <a:off x="4754880" y="568541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7.3%</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81" name="Shape 79"/>
          <p:cNvSpPr/>
          <p:nvPr/>
        </p:nvSpPr>
        <p:spPr>
          <a:xfrm>
            <a:off x="8558784" y="1907062"/>
            <a:ext cx="385888" cy="119948"/>
          </a:xfrm>
          <a:prstGeom prst="rect">
            <a:avLst/>
          </a:prstGeom>
          <a:solidFill>
            <a:srgbClr val="C2352F"/>
          </a:solidFill>
          <a:ln/>
        </p:spPr>
      </p:sp>
      <p:sp>
        <p:nvSpPr>
          <p:cNvPr id="82" name="Text 80"/>
          <p:cNvSpPr txBox="1"/>
          <p:nvPr/>
        </p:nvSpPr>
        <p:spPr>
          <a:xfrm>
            <a:off x="10305288" y="184708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6.1%</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85" name="Shape 83"/>
          <p:cNvSpPr/>
          <p:nvPr/>
        </p:nvSpPr>
        <p:spPr>
          <a:xfrm>
            <a:off x="8558784" y="2146957"/>
            <a:ext cx="373935" cy="119948"/>
          </a:xfrm>
          <a:prstGeom prst="rect">
            <a:avLst/>
          </a:prstGeom>
          <a:solidFill>
            <a:srgbClr val="C2352F"/>
          </a:solidFill>
          <a:ln/>
        </p:spPr>
      </p:sp>
      <p:sp>
        <p:nvSpPr>
          <p:cNvPr id="86" name="Text 84"/>
          <p:cNvSpPr txBox="1"/>
          <p:nvPr/>
        </p:nvSpPr>
        <p:spPr>
          <a:xfrm>
            <a:off x="10305288" y="208698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5.9%</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89" name="Shape 87"/>
          <p:cNvSpPr/>
          <p:nvPr/>
        </p:nvSpPr>
        <p:spPr>
          <a:xfrm>
            <a:off x="8558784" y="2386853"/>
            <a:ext cx="328119" cy="119948"/>
          </a:xfrm>
          <a:prstGeom prst="rect">
            <a:avLst/>
          </a:prstGeom>
          <a:solidFill>
            <a:srgbClr val="C2352F"/>
          </a:solidFill>
          <a:ln/>
        </p:spPr>
      </p:sp>
      <p:sp>
        <p:nvSpPr>
          <p:cNvPr id="90" name="Text 88"/>
          <p:cNvSpPr txBox="1"/>
          <p:nvPr/>
        </p:nvSpPr>
        <p:spPr>
          <a:xfrm>
            <a:off x="10305288" y="232687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5.2%</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93" name="Shape 91"/>
          <p:cNvSpPr/>
          <p:nvPr/>
        </p:nvSpPr>
        <p:spPr>
          <a:xfrm>
            <a:off x="8558784" y="2626748"/>
            <a:ext cx="309470" cy="119948"/>
          </a:xfrm>
          <a:prstGeom prst="rect">
            <a:avLst/>
          </a:prstGeom>
          <a:solidFill>
            <a:srgbClr val="C2352F"/>
          </a:solidFill>
          <a:ln/>
        </p:spPr>
      </p:sp>
      <p:sp>
        <p:nvSpPr>
          <p:cNvPr id="94" name="Text 92"/>
          <p:cNvSpPr txBox="1"/>
          <p:nvPr/>
        </p:nvSpPr>
        <p:spPr>
          <a:xfrm>
            <a:off x="10305288" y="256677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4.9%</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97" name="Shape 95"/>
          <p:cNvSpPr/>
          <p:nvPr/>
        </p:nvSpPr>
        <p:spPr>
          <a:xfrm>
            <a:off x="8558784" y="2866644"/>
            <a:ext cx="231259" cy="119948"/>
          </a:xfrm>
          <a:prstGeom prst="rect">
            <a:avLst/>
          </a:prstGeom>
          <a:solidFill>
            <a:srgbClr val="C2352F"/>
          </a:solidFill>
          <a:ln/>
        </p:spPr>
      </p:sp>
      <p:sp>
        <p:nvSpPr>
          <p:cNvPr id="98" name="Text 96"/>
          <p:cNvSpPr txBox="1"/>
          <p:nvPr/>
        </p:nvSpPr>
        <p:spPr>
          <a:xfrm>
            <a:off x="10305288" y="280667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3.6%</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01" name="Shape 99"/>
          <p:cNvSpPr/>
          <p:nvPr/>
        </p:nvSpPr>
        <p:spPr>
          <a:xfrm>
            <a:off x="8558784" y="3106540"/>
            <a:ext cx="136790" cy="119948"/>
          </a:xfrm>
          <a:prstGeom prst="rect">
            <a:avLst/>
          </a:prstGeom>
          <a:solidFill>
            <a:srgbClr val="C2352F"/>
          </a:solidFill>
          <a:ln/>
        </p:spPr>
      </p:sp>
      <p:sp>
        <p:nvSpPr>
          <p:cNvPr id="102" name="Text 100"/>
          <p:cNvSpPr txBox="1"/>
          <p:nvPr/>
        </p:nvSpPr>
        <p:spPr>
          <a:xfrm>
            <a:off x="10305288" y="304656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2.1%</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05" name="Shape 103"/>
          <p:cNvSpPr/>
          <p:nvPr/>
        </p:nvSpPr>
        <p:spPr>
          <a:xfrm>
            <a:off x="8558784" y="3346435"/>
            <a:ext cx="104802" cy="119948"/>
          </a:xfrm>
          <a:prstGeom prst="rect">
            <a:avLst/>
          </a:prstGeom>
          <a:solidFill>
            <a:srgbClr val="C2352F"/>
          </a:solidFill>
          <a:ln/>
        </p:spPr>
      </p:sp>
      <p:sp>
        <p:nvSpPr>
          <p:cNvPr id="106" name="Text 104"/>
          <p:cNvSpPr txBox="1"/>
          <p:nvPr/>
        </p:nvSpPr>
        <p:spPr>
          <a:xfrm>
            <a:off x="10305288" y="328646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1.6%</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09" name="Shape 107"/>
          <p:cNvSpPr/>
          <p:nvPr/>
        </p:nvSpPr>
        <p:spPr>
          <a:xfrm>
            <a:off x="8558784" y="3586331"/>
            <a:ext cx="82384" cy="119948"/>
          </a:xfrm>
          <a:prstGeom prst="rect">
            <a:avLst/>
          </a:prstGeom>
          <a:solidFill>
            <a:srgbClr val="C2352F"/>
          </a:solidFill>
          <a:ln/>
        </p:spPr>
      </p:sp>
      <p:sp>
        <p:nvSpPr>
          <p:cNvPr id="110" name="Text 108"/>
          <p:cNvSpPr txBox="1"/>
          <p:nvPr/>
        </p:nvSpPr>
        <p:spPr>
          <a:xfrm>
            <a:off x="10305288" y="3526357"/>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13" name="Shape 111"/>
          <p:cNvSpPr/>
          <p:nvPr/>
        </p:nvSpPr>
        <p:spPr>
          <a:xfrm>
            <a:off x="8558784" y="3826226"/>
            <a:ext cx="79502" cy="119948"/>
          </a:xfrm>
          <a:prstGeom prst="rect">
            <a:avLst/>
          </a:prstGeom>
          <a:solidFill>
            <a:srgbClr val="C2352F"/>
          </a:solidFill>
          <a:ln/>
        </p:spPr>
      </p:sp>
      <p:sp>
        <p:nvSpPr>
          <p:cNvPr id="114" name="Text 112"/>
          <p:cNvSpPr txBox="1"/>
          <p:nvPr/>
        </p:nvSpPr>
        <p:spPr>
          <a:xfrm>
            <a:off x="10305288" y="3766252"/>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17" name="Shape 115"/>
          <p:cNvSpPr/>
          <p:nvPr/>
        </p:nvSpPr>
        <p:spPr>
          <a:xfrm>
            <a:off x="8558784" y="4066122"/>
            <a:ext cx="76690" cy="119948"/>
          </a:xfrm>
          <a:prstGeom prst="rect">
            <a:avLst/>
          </a:prstGeom>
          <a:solidFill>
            <a:srgbClr val="C2352F"/>
          </a:solidFill>
          <a:ln/>
        </p:spPr>
      </p:sp>
      <p:sp>
        <p:nvSpPr>
          <p:cNvPr id="118" name="Text 116"/>
          <p:cNvSpPr txBox="1"/>
          <p:nvPr/>
        </p:nvSpPr>
        <p:spPr>
          <a:xfrm>
            <a:off x="10305288" y="400614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21" name="Shape 119"/>
          <p:cNvSpPr/>
          <p:nvPr/>
        </p:nvSpPr>
        <p:spPr>
          <a:xfrm>
            <a:off x="8558784" y="4306017"/>
            <a:ext cx="66479" cy="119948"/>
          </a:xfrm>
          <a:prstGeom prst="rect">
            <a:avLst/>
          </a:prstGeom>
          <a:solidFill>
            <a:srgbClr val="C2352F"/>
          </a:solidFill>
          <a:ln/>
        </p:spPr>
      </p:sp>
      <p:sp>
        <p:nvSpPr>
          <p:cNvPr id="122" name="Text 120"/>
          <p:cNvSpPr txBox="1"/>
          <p:nvPr/>
        </p:nvSpPr>
        <p:spPr>
          <a:xfrm>
            <a:off x="10305288" y="4246043"/>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1.0%</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25" name="Shape 123"/>
          <p:cNvSpPr/>
          <p:nvPr/>
        </p:nvSpPr>
        <p:spPr>
          <a:xfrm>
            <a:off x="8558784" y="4545913"/>
            <a:ext cx="31004" cy="119948"/>
          </a:xfrm>
          <a:prstGeom prst="rect">
            <a:avLst/>
          </a:prstGeom>
          <a:solidFill>
            <a:srgbClr val="C2352F"/>
          </a:solidFill>
          <a:ln/>
        </p:spPr>
      </p:sp>
      <p:sp>
        <p:nvSpPr>
          <p:cNvPr id="126" name="Text 124"/>
          <p:cNvSpPr txBox="1"/>
          <p:nvPr/>
        </p:nvSpPr>
        <p:spPr>
          <a:xfrm>
            <a:off x="10305288" y="448593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0.4%</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29" name="Shape 127"/>
          <p:cNvSpPr/>
          <p:nvPr/>
        </p:nvSpPr>
        <p:spPr>
          <a:xfrm>
            <a:off x="8558784" y="4785808"/>
            <a:ext cx="26115" cy="119948"/>
          </a:xfrm>
          <a:prstGeom prst="rect">
            <a:avLst/>
          </a:prstGeom>
          <a:solidFill>
            <a:srgbClr val="C2352F"/>
          </a:solidFill>
          <a:ln/>
        </p:spPr>
      </p:sp>
      <p:sp>
        <p:nvSpPr>
          <p:cNvPr id="130" name="Text 128"/>
          <p:cNvSpPr txBox="1"/>
          <p:nvPr/>
        </p:nvSpPr>
        <p:spPr>
          <a:xfrm>
            <a:off x="10305288" y="472583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0.4%</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33" name="Shape 131"/>
          <p:cNvSpPr/>
          <p:nvPr/>
        </p:nvSpPr>
        <p:spPr>
          <a:xfrm>
            <a:off x="8558784" y="5025704"/>
            <a:ext cx="18288" cy="119948"/>
          </a:xfrm>
          <a:prstGeom prst="rect">
            <a:avLst/>
          </a:prstGeom>
          <a:solidFill>
            <a:srgbClr val="C2352F"/>
          </a:solidFill>
          <a:ln/>
        </p:spPr>
      </p:sp>
      <p:sp>
        <p:nvSpPr>
          <p:cNvPr id="134" name="Text 132"/>
          <p:cNvSpPr txBox="1"/>
          <p:nvPr/>
        </p:nvSpPr>
        <p:spPr>
          <a:xfrm>
            <a:off x="10305288"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0.1%</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37" name="Shape 135"/>
          <p:cNvSpPr/>
          <p:nvPr/>
        </p:nvSpPr>
        <p:spPr>
          <a:xfrm>
            <a:off x="8558784" y="5265599"/>
            <a:ext cx="18288" cy="119948"/>
          </a:xfrm>
          <a:prstGeom prst="rect">
            <a:avLst/>
          </a:prstGeom>
          <a:solidFill>
            <a:srgbClr val="C2352F"/>
          </a:solidFill>
          <a:ln/>
        </p:spPr>
      </p:sp>
      <p:sp>
        <p:nvSpPr>
          <p:cNvPr id="138" name="Text 136"/>
          <p:cNvSpPr txBox="1"/>
          <p:nvPr/>
        </p:nvSpPr>
        <p:spPr>
          <a:xfrm>
            <a:off x="10305288"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0.0%</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41" name="Shape 139"/>
          <p:cNvSpPr/>
          <p:nvPr/>
        </p:nvSpPr>
        <p:spPr>
          <a:xfrm>
            <a:off x="8558784" y="5505495"/>
            <a:ext cx="18288" cy="119948"/>
          </a:xfrm>
          <a:prstGeom prst="rect">
            <a:avLst/>
          </a:prstGeom>
          <a:solidFill>
            <a:srgbClr val="C2352F"/>
          </a:solidFill>
          <a:ln/>
        </p:spPr>
      </p:sp>
      <p:sp>
        <p:nvSpPr>
          <p:cNvPr id="142" name="Text 140"/>
          <p:cNvSpPr txBox="1"/>
          <p:nvPr/>
        </p:nvSpPr>
        <p:spPr>
          <a:xfrm>
            <a:off x="10305288"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0.0%</a:t>
            </a:r>
            <a:endParaRPr lang="en-US" sz="1200" dirty="0"/>
          </a:p>
        </p:txBody>
      </p:sp>
      <p:sp>
        <p:nvSpPr>
          <p:cNvPr id="143" name="Shape 141"/>
          <p:cNvSpPr/>
          <p:nvPr/>
        </p:nvSpPr>
        <p:spPr>
          <a:xfrm>
            <a:off x="3940705" y="1847088"/>
            <a:ext cx="14630" cy="4078224"/>
          </a:xfrm>
          <a:prstGeom prst="rect">
            <a:avLst/>
          </a:prstGeom>
          <a:solidFill>
            <a:srgbClr val="0B2C4A"/>
          </a:solidFill>
          <a:ln/>
        </p:spPr>
      </p:sp>
      <p:sp>
        <p:nvSpPr>
          <p:cNvPr id="144" name="Shape 142"/>
          <p:cNvSpPr/>
          <p:nvPr/>
        </p:nvSpPr>
        <p:spPr>
          <a:xfrm>
            <a:off x="9491113" y="1847088"/>
            <a:ext cx="14630" cy="4078224"/>
          </a:xfrm>
          <a:prstGeom prst="rect">
            <a:avLst/>
          </a:prstGeom>
          <a:solidFill>
            <a:srgbClr val="0B2C4A"/>
          </a:solidFill>
          <a:ln/>
        </p:spPr>
      </p:sp>
      <p:sp>
        <p:nvSpPr>
          <p:cNvPr id="145" name="Shape 143"/>
          <p:cNvSpPr/>
          <p:nvPr/>
        </p:nvSpPr>
        <p:spPr>
          <a:xfrm>
            <a:off x="6085332" y="1847088"/>
            <a:ext cx="10973" cy="4078224"/>
          </a:xfrm>
          <a:prstGeom prst="rect">
            <a:avLst/>
          </a:prstGeom>
          <a:solidFill>
            <a:srgbClr val="D9D9D9"/>
          </a:solidFill>
          <a:ln/>
        </p:spPr>
      </p:sp>
      <p:sp>
        <p:nvSpPr>
          <p:cNvPr id="147" name="Shape 144"/>
          <p:cNvSpPr/>
          <p:nvPr/>
        </p:nvSpPr>
        <p:spPr>
          <a:xfrm>
            <a:off x="457200" y="6126480"/>
            <a:ext cx="11274552" cy="371856"/>
          </a:xfrm>
          <a:prstGeom prst="rect">
            <a:avLst/>
          </a:prstGeom>
          <a:solidFill>
            <a:srgbClr val="EDF4FA"/>
          </a:solidFill>
          <a:ln/>
        </p:spPr>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4 of 33 stores at or above 15%. The group sits at 8.3%.</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Balance %</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Text 8"/>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14.9%</a:t>
            </a:r>
            <a:endParaRPr lang="en-US" sz="1400" dirty="0"/>
          </a:p>
        </p:txBody>
      </p:sp>
      <p:sp>
        <p:nvSpPr>
          <p:cNvPr id="12" name="Text 10"/>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+14.9 pts</a:t>
            </a:r>
            <a:endParaRPr lang="en-US" sz="1600" dirty="0"/>
          </a:p>
        </p:txBody>
      </p:sp>
      <p:sp>
        <p:nvSpPr>
          <p:cNvPr id="13" name="Text 11"/>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4" name="Text 12"/>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16.9%</a:t>
            </a:r>
            <a:endParaRPr lang="en-US" sz="1400" dirty="0"/>
          </a:p>
        </p:txBody>
      </p:sp>
      <p:sp>
        <p:nvSpPr>
          <p:cNvPr id="15" name="Text 13"/>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+13.6 pts</a:t>
            </a:r>
            <a:endParaRPr lang="en-US" sz="1600" dirty="0"/>
          </a:p>
        </p:txBody>
      </p:sp>
      <p:sp>
        <p:nvSpPr>
          <p:cNvPr id="16" name="Shape 14"/>
          <p:cNvSpPr/>
          <p:nvPr/>
        </p:nvSpPr>
        <p:spPr>
          <a:xfrm>
            <a:off x="658368" y="3760013"/>
            <a:ext cx="3489960" cy="828446"/>
          </a:xfrm>
          <a:prstGeom prst="rect">
            <a:avLst/>
          </a:prstGeom>
          <a:solidFill>
            <a:srgbClr val="F7F7F7"/>
          </a:solidFill>
          <a:ln/>
        </p:spPr>
      </p:sp>
      <p:sp>
        <p:nvSpPr>
          <p:cNvPr id="17" name="Shape 15"/>
          <p:cNvSpPr/>
          <p:nvPr/>
        </p:nvSpPr>
        <p:spPr>
          <a:xfrm>
            <a:off x="4084320" y="3796589"/>
            <a:ext cx="64008" cy="755294"/>
          </a:xfrm>
          <a:prstGeom prst="rect">
            <a:avLst/>
          </a:prstGeom>
          <a:solidFill>
            <a:srgbClr val="12A566"/>
          </a:solidFill>
          <a:ln/>
        </p:spPr>
      </p:sp>
      <p:sp>
        <p:nvSpPr>
          <p:cNvPr id="18" name="Text 16"/>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13.1%</a:t>
            </a:r>
            <a:endParaRPr lang="en-US" sz="1400" dirty="0"/>
          </a:p>
        </p:txBody>
      </p:sp>
      <p:sp>
        <p:nvSpPr>
          <p:cNvPr id="20" name="Text 18"/>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+6.7 pts</a:t>
            </a:r>
            <a:endParaRPr lang="en-US" sz="1600" dirty="0"/>
          </a:p>
        </p:txBody>
      </p:sp>
      <p:sp>
        <p:nvSpPr>
          <p:cNvPr id="21" name="Shape 19"/>
          <p:cNvSpPr/>
          <p:nvPr/>
        </p:nvSpPr>
        <p:spPr>
          <a:xfrm>
            <a:off x="4084320" y="4625035"/>
            <a:ext cx="64008" cy="755294"/>
          </a:xfrm>
          <a:prstGeom prst="rect">
            <a:avLst/>
          </a:prstGeom>
          <a:solidFill>
            <a:srgbClr val="12A566"/>
          </a:solidFill>
          <a:ln/>
        </p:spPr>
      </p:sp>
      <p:sp>
        <p:nvSpPr>
          <p:cNvPr id="22" name="Text 20"/>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3" name="Text 21"/>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7.7%</a:t>
            </a:r>
            <a:endParaRPr lang="en-US" sz="1400" dirty="0"/>
          </a:p>
        </p:txBody>
      </p:sp>
      <p:sp>
        <p:nvSpPr>
          <p:cNvPr id="24" name="Text 22"/>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+6.6 pts</a:t>
            </a:r>
            <a:endParaRPr lang="en-US" sz="1600" dirty="0"/>
          </a:p>
        </p:txBody>
      </p:sp>
      <p:sp>
        <p:nvSpPr>
          <p:cNvPr id="25" name="Shape 23"/>
          <p:cNvSpPr/>
          <p:nvPr/>
        </p:nvSpPr>
        <p:spPr>
          <a:xfrm>
            <a:off x="658368" y="5416906"/>
            <a:ext cx="3489960" cy="828446"/>
          </a:xfrm>
          <a:prstGeom prst="rect">
            <a:avLst/>
          </a:prstGeom>
          <a:solidFill>
            <a:srgbClr val="F7F7F7"/>
          </a:solidFill>
          <a:ln/>
        </p:spPr>
      </p:sp>
      <p:sp>
        <p:nvSpPr>
          <p:cNvPr id="26" name="Text 24"/>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7" name="Text 25"/>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7.7%</a:t>
            </a:r>
            <a:endParaRPr lang="en-US" sz="1400" dirty="0"/>
          </a:p>
        </p:txBody>
      </p:sp>
      <p:sp>
        <p:nvSpPr>
          <p:cNvPr id="28" name="Text 26"/>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+5.7 pts</a:t>
            </a:r>
            <a:endParaRPr lang="en-US" sz="1600" dirty="0"/>
          </a:p>
        </p:txBody>
      </p:sp>
      <p:sp>
        <p:nvSpPr>
          <p:cNvPr id="29" name="Shape 27"/>
          <p:cNvSpPr/>
          <p:nvPr/>
        </p:nvSpPr>
        <p:spPr>
          <a:xfrm>
            <a:off x="4349496" y="1371600"/>
            <a:ext cx="3489960" cy="45720"/>
          </a:xfrm>
          <a:prstGeom prst="rect">
            <a:avLst/>
          </a:prstGeom>
          <a:solidFill>
            <a:srgbClr val="C2352F"/>
          </a:solidFill>
          <a:ln/>
        </p:spPr>
      </p:sp>
      <p:sp>
        <p:nvSpPr>
          <p:cNvPr id="30" name="Text 28"/>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1" name="Text 29"/>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2" name="Shape 30"/>
          <p:cNvSpPr/>
          <p:nvPr/>
        </p:nvSpPr>
        <p:spPr>
          <a:xfrm>
            <a:off x="4349496" y="2103120"/>
            <a:ext cx="3489960" cy="828446"/>
          </a:xfrm>
          <a:prstGeom prst="rect">
            <a:avLst/>
          </a:prstGeom>
          <a:solidFill>
            <a:srgbClr val="F7F7F7"/>
          </a:solidFill>
          <a:ln/>
        </p:spPr>
      </p:sp>
      <p:sp>
        <p:nvSpPr>
          <p:cNvPr id="33" name="Text 31"/>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4" name="Text 32"/>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3.6%</a:t>
            </a:r>
            <a:endParaRPr lang="en-US" sz="1400" dirty="0"/>
          </a:p>
        </p:txBody>
      </p:sp>
      <p:sp>
        <p:nvSpPr>
          <p:cNvPr id="35" name="Text 33"/>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−1.6 pts</a:t>
            </a:r>
            <a:endParaRPr lang="en-US" sz="1600" dirty="0"/>
          </a:p>
        </p:txBody>
      </p:sp>
      <p:sp>
        <p:nvSpPr>
          <p:cNvPr id="36" name="Text 34"/>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7" name="Text 35"/>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a:t>
            </a:r>
            <a:endParaRPr lang="en-US" sz="1400" dirty="0"/>
          </a:p>
        </p:txBody>
      </p:sp>
      <p:sp>
        <p:nvSpPr>
          <p:cNvPr id="38" name="Text 36"/>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−1.5 pts</a:t>
            </a:r>
            <a:endParaRPr lang="en-US" sz="1600" dirty="0"/>
          </a:p>
        </p:txBody>
      </p:sp>
      <p:sp>
        <p:nvSpPr>
          <p:cNvPr id="39" name="Shape 37"/>
          <p:cNvSpPr/>
          <p:nvPr/>
        </p:nvSpPr>
        <p:spPr>
          <a:xfrm>
            <a:off x="4349496" y="3760013"/>
            <a:ext cx="3489960" cy="828446"/>
          </a:xfrm>
          <a:prstGeom prst="rect">
            <a:avLst/>
          </a:prstGeom>
          <a:solidFill>
            <a:srgbClr val="F7F7F7"/>
          </a:solidFill>
          <a:ln/>
        </p:spPr>
      </p:sp>
      <p:sp>
        <p:nvSpPr>
          <p:cNvPr id="40" name="Text 38"/>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1" name="Text 39"/>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5.2%</a:t>
            </a:r>
            <a:endParaRPr lang="en-US" sz="1400" dirty="0"/>
          </a:p>
        </p:txBody>
      </p:sp>
      <p:sp>
        <p:nvSpPr>
          <p:cNvPr id="42" name="Text 40"/>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−1.4 pts</a:t>
            </a:r>
            <a:endParaRPr lang="en-US" sz="1600" dirty="0"/>
          </a:p>
        </p:txBody>
      </p:sp>
      <p:sp>
        <p:nvSpPr>
          <p:cNvPr id="43" name="Text 41"/>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4" name="Text 42"/>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10.2%</a:t>
            </a:r>
            <a:endParaRPr lang="en-US" sz="1400" dirty="0"/>
          </a:p>
        </p:txBody>
      </p:sp>
      <p:sp>
        <p:nvSpPr>
          <p:cNvPr id="45" name="Text 43"/>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−1.1 pts</a:t>
            </a:r>
            <a:endParaRPr lang="en-US" sz="1600" dirty="0"/>
          </a:p>
        </p:txBody>
      </p:sp>
      <p:sp>
        <p:nvSpPr>
          <p:cNvPr id="46" name="Shape 44"/>
          <p:cNvSpPr/>
          <p:nvPr/>
        </p:nvSpPr>
        <p:spPr>
          <a:xfrm>
            <a:off x="4349496" y="5416906"/>
            <a:ext cx="3489960" cy="828446"/>
          </a:xfrm>
          <a:prstGeom prst="rect">
            <a:avLst/>
          </a:prstGeom>
          <a:solidFill>
            <a:srgbClr val="F7F7F7"/>
          </a:solidFill>
          <a:ln/>
        </p:spPr>
      </p:sp>
      <p:sp>
        <p:nvSpPr>
          <p:cNvPr id="47" name="Text 45"/>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8" name="Text 46"/>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11.2%</a:t>
            </a:r>
            <a:endParaRPr lang="en-US" sz="1400" dirty="0"/>
          </a:p>
        </p:txBody>
      </p:sp>
      <p:sp>
        <p:nvSpPr>
          <p:cNvPr id="49" name="Text 47"/>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−0.5 pts</a:t>
            </a:r>
            <a:endParaRPr lang="en-US" sz="1600" dirty="0"/>
          </a:p>
        </p:txBody>
      </p:sp>
      <p:sp>
        <p:nvSpPr>
          <p:cNvPr id="50" name="Shape 48"/>
          <p:cNvSpPr/>
          <p:nvPr/>
        </p:nvSpPr>
        <p:spPr>
          <a:xfrm>
            <a:off x="8040624" y="1371600"/>
            <a:ext cx="3489960" cy="45720"/>
          </a:xfrm>
          <a:prstGeom prst="rect">
            <a:avLst/>
          </a:prstGeom>
          <a:solidFill>
            <a:srgbClr val="2587C5"/>
          </a:solidFill>
          <a:ln/>
        </p:spPr>
      </p:sp>
      <p:sp>
        <p:nvSpPr>
          <p:cNvPr id="51" name="Text 4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2" name="Text 50"/>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53" name="Shape 51"/>
          <p:cNvSpPr/>
          <p:nvPr/>
        </p:nvSpPr>
        <p:spPr>
          <a:xfrm>
            <a:off x="8040624" y="2103120"/>
            <a:ext cx="3489960" cy="828446"/>
          </a:xfrm>
          <a:prstGeom prst="rect">
            <a:avLst/>
          </a:prstGeom>
          <a:solidFill>
            <a:srgbClr val="F7F7F7"/>
          </a:solidFill>
          <a:ln/>
        </p:spPr>
      </p:sp>
      <p:sp>
        <p:nvSpPr>
          <p:cNvPr id="54" name="Shape 52"/>
          <p:cNvSpPr/>
          <p:nvPr/>
        </p:nvSpPr>
        <p:spPr>
          <a:xfrm>
            <a:off x="11466576" y="2139696"/>
            <a:ext cx="64008" cy="755294"/>
          </a:xfrm>
          <a:prstGeom prst="rect">
            <a:avLst/>
          </a:prstGeom>
          <a:solidFill>
            <a:srgbClr val="12A566"/>
          </a:solidFill>
          <a:ln/>
        </p:spPr>
      </p:sp>
      <p:sp>
        <p:nvSpPr>
          <p:cNvPr id="55" name="Text 53"/>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6" name="Text 54"/>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19.3%</a:t>
            </a:r>
            <a:endParaRPr lang="en-US" sz="1400" dirty="0"/>
          </a:p>
        </p:txBody>
      </p:sp>
      <p:sp>
        <p:nvSpPr>
          <p:cNvPr id="57" name="Text 55"/>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+9.2 pts</a:t>
            </a:r>
            <a:endParaRPr lang="en-US" sz="1600" dirty="0"/>
          </a:p>
        </p:txBody>
      </p:sp>
      <p:sp>
        <p:nvSpPr>
          <p:cNvPr id="58" name="Text 56"/>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9" name="Text 57"/>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16.0%</a:t>
            </a:r>
            <a:endParaRPr lang="en-US" sz="1400" dirty="0"/>
          </a:p>
        </p:txBody>
      </p:sp>
      <p:sp>
        <p:nvSpPr>
          <p:cNvPr id="60" name="Text 58"/>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+5.2 pts</a:t>
            </a:r>
            <a:endParaRPr lang="en-US" sz="1600" dirty="0"/>
          </a:p>
        </p:txBody>
      </p:sp>
      <p:sp>
        <p:nvSpPr>
          <p:cNvPr id="61" name="Shape 59"/>
          <p:cNvSpPr/>
          <p:nvPr/>
        </p:nvSpPr>
        <p:spPr>
          <a:xfrm>
            <a:off x="8040624" y="3760013"/>
            <a:ext cx="3489960" cy="828446"/>
          </a:xfrm>
          <a:prstGeom prst="rect">
            <a:avLst/>
          </a:prstGeom>
          <a:solidFill>
            <a:srgbClr val="F7F7F7"/>
          </a:solidFill>
          <a:ln/>
        </p:spPr>
      </p:sp>
      <p:sp>
        <p:nvSpPr>
          <p:cNvPr id="62" name="Text 60"/>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3" name="Text 61"/>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4.0%</a:t>
            </a:r>
            <a:endParaRPr lang="en-US" sz="1400" dirty="0"/>
          </a:p>
        </p:txBody>
      </p:sp>
      <p:sp>
        <p:nvSpPr>
          <p:cNvPr id="64" name="Text 62"/>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 pts</a:t>
            </a:r>
            <a:endParaRPr lang="en-US" sz="1600" dirty="0"/>
          </a:p>
        </p:txBody>
      </p:sp>
      <p:sp>
        <p:nvSpPr>
          <p:cNvPr id="65" name="Shape 63"/>
          <p:cNvSpPr/>
          <p:nvPr/>
        </p:nvSpPr>
        <p:spPr>
          <a:xfrm>
            <a:off x="11466576" y="4625035"/>
            <a:ext cx="64008" cy="755294"/>
          </a:xfrm>
          <a:prstGeom prst="rect">
            <a:avLst/>
          </a:prstGeom>
          <a:solidFill>
            <a:srgbClr val="12A566"/>
          </a:solidFill>
          <a:ln/>
        </p:spPr>
      </p:sp>
      <p:sp>
        <p:nvSpPr>
          <p:cNvPr id="66" name="Text 64"/>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7" name="Text 65"/>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8.5%</a:t>
            </a:r>
            <a:endParaRPr lang="en-US" sz="1400" dirty="0"/>
          </a:p>
        </p:txBody>
      </p:sp>
      <p:sp>
        <p:nvSpPr>
          <p:cNvPr id="68" name="Text 66"/>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+3.2 pts</a:t>
            </a:r>
            <a:endParaRPr lang="en-US" sz="1600" dirty="0"/>
          </a:p>
        </p:txBody>
      </p:sp>
      <p:sp>
        <p:nvSpPr>
          <p:cNvPr id="69" name="Shape 67"/>
          <p:cNvSpPr/>
          <p:nvPr/>
        </p:nvSpPr>
        <p:spPr>
          <a:xfrm>
            <a:off x="8040624" y="5416906"/>
            <a:ext cx="3489960" cy="828446"/>
          </a:xfrm>
          <a:prstGeom prst="rect">
            <a:avLst/>
          </a:prstGeom>
          <a:solidFill>
            <a:srgbClr val="F7F7F7"/>
          </a:solidFill>
          <a:ln/>
        </p:spPr>
      </p:sp>
      <p:sp>
        <p:nvSpPr>
          <p:cNvPr id="70" name="Text 68"/>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71" name="Text 69"/>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12.2%</a:t>
            </a:r>
            <a:endParaRPr lang="en-US" sz="1400" dirty="0"/>
          </a:p>
        </p:txBody>
      </p:sp>
      <p:sp>
        <p:nvSpPr>
          <p:cNvPr id="72" name="Text 70"/>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+2.5 pts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Brake Fluid %</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7.9%</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9.2%</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+1.4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+17.5%</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Brake Fluid %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graphicFrame>
        <p:nvGraphicFramePr>
          <p:cNvPr id="21" name="Chart 4"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5"/>
          </a:graphicData>
        </a:graphic>
      </p:graphicFrame>
      <p:graphicFrame>
        <p:nvGraphicFramePr>
          <p:cNvPr id="22" name="Chart 5"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6"/>
          </a:graphicData>
        </a:graphic>
      </p:graphicFrame>
      <p:sp>
        <p:nvSpPr>
          <p:cNvPr id="23" name="Shape 15"/>
          <p:cNvSpPr/>
          <p:nvPr/>
        </p:nvSpPr>
        <p:spPr>
          <a:xfrm>
            <a:off x="3762756" y="3049524"/>
            <a:ext cx="310896" cy="45720"/>
          </a:xfrm>
          <a:prstGeom prst="rect">
            <a:avLst/>
          </a:prstGeom>
          <a:solidFill>
            <a:srgbClr val="9AA3AD"/>
          </a:solidFill>
          <a:ln/>
        </p:spPr>
      </p:sp>
      <p:sp>
        <p:nvSpPr>
          <p:cNvPr id="24" name="Shape 16"/>
          <p:cNvSpPr/>
          <p:nvPr/>
        </p:nvSpPr>
        <p:spPr>
          <a:xfrm>
            <a:off x="3863340" y="3017520"/>
            <a:ext cx="109728" cy="109728"/>
          </a:xfrm>
          <a:prstGeom prst="ellipse">
            <a:avLst/>
          </a:prstGeom>
          <a:solidFill>
            <a:srgbClr val="9AA3AD"/>
          </a:solidFill>
          <a:ln/>
        </p:spPr>
      </p:sp>
      <p:sp>
        <p:nvSpPr>
          <p:cNvPr id="25" name="Text 17"/>
          <p:cNvSpPr txBox="1"/>
          <p:nvPr/>
        </p:nvSpPr>
        <p:spPr>
          <a:xfrm>
            <a:off x="414680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4997196" y="3049524"/>
            <a:ext cx="310896" cy="45720"/>
          </a:xfrm>
          <a:prstGeom prst="rect">
            <a:avLst/>
          </a:prstGeom>
          <a:solidFill>
            <a:srgbClr val="2587C5"/>
          </a:solidFill>
          <a:ln/>
        </p:spPr>
      </p:sp>
      <p:sp>
        <p:nvSpPr>
          <p:cNvPr id="27" name="Shape 19"/>
          <p:cNvSpPr/>
          <p:nvPr/>
        </p:nvSpPr>
        <p:spPr>
          <a:xfrm>
            <a:off x="5097780" y="3017520"/>
            <a:ext cx="109728" cy="109728"/>
          </a:xfrm>
          <a:prstGeom prst="ellipse">
            <a:avLst/>
          </a:prstGeom>
          <a:solidFill>
            <a:srgbClr val="2587C5"/>
          </a:solidFill>
          <a:ln/>
        </p:spPr>
      </p:sp>
      <p:sp>
        <p:nvSpPr>
          <p:cNvPr id="28" name="Text 20"/>
          <p:cNvSpPr txBox="1"/>
          <p:nvPr/>
        </p:nvSpPr>
        <p:spPr>
          <a:xfrm>
            <a:off x="538124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6231636" y="3049524"/>
            <a:ext cx="73152" cy="36576"/>
          </a:xfrm>
          <a:prstGeom prst="rect">
            <a:avLst/>
          </a:prstGeom>
          <a:solidFill>
            <a:srgbClr val="595959"/>
          </a:solidFill>
          <a:ln/>
        </p:spPr>
      </p:sp>
      <p:sp>
        <p:nvSpPr>
          <p:cNvPr id="30" name="Shape 22"/>
          <p:cNvSpPr/>
          <p:nvPr/>
        </p:nvSpPr>
        <p:spPr>
          <a:xfrm>
            <a:off x="6350508" y="3049524"/>
            <a:ext cx="73152" cy="36576"/>
          </a:xfrm>
          <a:prstGeom prst="rect">
            <a:avLst/>
          </a:prstGeom>
          <a:solidFill>
            <a:srgbClr val="595959"/>
          </a:solidFill>
          <a:ln/>
        </p:spPr>
      </p:sp>
      <p:sp>
        <p:nvSpPr>
          <p:cNvPr id="31" name="Shape 23"/>
          <p:cNvSpPr/>
          <p:nvPr/>
        </p:nvSpPr>
        <p:spPr>
          <a:xfrm>
            <a:off x="6469380" y="3049524"/>
            <a:ext cx="73152" cy="36576"/>
          </a:xfrm>
          <a:prstGeom prst="rect">
            <a:avLst/>
          </a:prstGeom>
          <a:solidFill>
            <a:srgbClr val="595959"/>
          </a:solidFill>
          <a:ln/>
        </p:spPr>
      </p:sp>
      <p:sp>
        <p:nvSpPr>
          <p:cNvPr id="32" name="Text 24"/>
          <p:cNvSpPr txBox="1"/>
          <p:nvPr/>
        </p:nvSpPr>
        <p:spPr>
          <a:xfrm>
            <a:off x="6615684" y="2926080"/>
            <a:ext cx="23774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Benchmark 10%</a:t>
            </a:r>
            <a:endParaRPr lang="en-US" sz="1400" dirty="0"/>
          </a:p>
        </p:txBody>
      </p:sp>
      <p:sp>
        <p:nvSpPr>
          <p:cNvPr id="33" name="Shape 25"/>
          <p:cNvSpPr/>
          <p:nvPr/>
        </p:nvSpPr>
        <p:spPr>
          <a:xfrm>
            <a:off x="457200" y="6126480"/>
            <a:ext cx="11274552" cy="615696"/>
          </a:xfrm>
          <a:prstGeom prst="rect">
            <a:avLst/>
          </a:prstGeom>
          <a:solidFill>
            <a:srgbClr val="E6F6EE"/>
          </a:solidFill>
          <a:ln/>
        </p:spPr>
      </p:sp>
      <p:sp>
        <p:nvSpPr>
          <p:cNvPr id="34" name="Text 26"/>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1.4 pts to 9.2%, ahead of 2025 in all nine months, but 0.7 pts under the 10% benchmark — 1,985 brake fluid services short.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Brake Fluid %</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BRAKE FLUID %</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BENCHMARK 10.0%</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9.2%</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13" name="Shape 11"/>
          <p:cNvSpPr/>
          <p:nvPr/>
        </p:nvSpPr>
        <p:spPr>
          <a:xfrm>
            <a:off x="3008376" y="1907062"/>
            <a:ext cx="1691640" cy="119948"/>
          </a:xfrm>
          <a:prstGeom prst="rect">
            <a:avLst/>
          </a:prstGeom>
          <a:solidFill>
            <a:srgbClr val="12A566"/>
          </a:solidFill>
          <a:ln/>
        </p:spPr>
      </p:sp>
      <p:sp>
        <p:nvSpPr>
          <p:cNvPr id="14" name="Text 12"/>
          <p:cNvSpPr txBox="1"/>
          <p:nvPr/>
        </p:nvSpPr>
        <p:spPr>
          <a:xfrm>
            <a:off x="4754880" y="184708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20.6%</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7" name="Shape 15"/>
          <p:cNvSpPr/>
          <p:nvPr/>
        </p:nvSpPr>
        <p:spPr>
          <a:xfrm>
            <a:off x="3008376" y="2146957"/>
            <a:ext cx="1277371" cy="119948"/>
          </a:xfrm>
          <a:prstGeom prst="rect">
            <a:avLst/>
          </a:prstGeom>
          <a:solidFill>
            <a:srgbClr val="12A566"/>
          </a:solidFill>
          <a:ln/>
        </p:spPr>
      </p:sp>
      <p:sp>
        <p:nvSpPr>
          <p:cNvPr id="18" name="Text 16"/>
          <p:cNvSpPr txBox="1"/>
          <p:nvPr/>
        </p:nvSpPr>
        <p:spPr>
          <a:xfrm>
            <a:off x="4754880" y="208698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15.5%</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21" name="Shape 19"/>
          <p:cNvSpPr/>
          <p:nvPr/>
        </p:nvSpPr>
        <p:spPr>
          <a:xfrm>
            <a:off x="3008376" y="2386853"/>
            <a:ext cx="1171658" cy="119948"/>
          </a:xfrm>
          <a:prstGeom prst="rect">
            <a:avLst/>
          </a:prstGeom>
          <a:solidFill>
            <a:srgbClr val="12A566"/>
          </a:solidFill>
          <a:ln/>
        </p:spPr>
      </p:sp>
      <p:sp>
        <p:nvSpPr>
          <p:cNvPr id="22" name="Text 20"/>
          <p:cNvSpPr txBox="1"/>
          <p:nvPr/>
        </p:nvSpPr>
        <p:spPr>
          <a:xfrm>
            <a:off x="4754880" y="232687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14.3%</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25" name="Shape 23"/>
          <p:cNvSpPr/>
          <p:nvPr/>
        </p:nvSpPr>
        <p:spPr>
          <a:xfrm>
            <a:off x="3008376" y="2626748"/>
            <a:ext cx="1042017" cy="119948"/>
          </a:xfrm>
          <a:prstGeom prst="rect">
            <a:avLst/>
          </a:prstGeom>
          <a:solidFill>
            <a:srgbClr val="12A566"/>
          </a:solidFill>
          <a:ln/>
        </p:spPr>
      </p:sp>
      <p:sp>
        <p:nvSpPr>
          <p:cNvPr id="26" name="Text 24"/>
          <p:cNvSpPr txBox="1"/>
          <p:nvPr/>
        </p:nvSpPr>
        <p:spPr>
          <a:xfrm>
            <a:off x="4754880" y="256677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12.7%</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29" name="Shape 27"/>
          <p:cNvSpPr/>
          <p:nvPr/>
        </p:nvSpPr>
        <p:spPr>
          <a:xfrm>
            <a:off x="3008376" y="2866644"/>
            <a:ext cx="991227" cy="119948"/>
          </a:xfrm>
          <a:prstGeom prst="rect">
            <a:avLst/>
          </a:prstGeom>
          <a:solidFill>
            <a:srgbClr val="12A566"/>
          </a:solidFill>
          <a:ln/>
        </p:spPr>
      </p:sp>
      <p:sp>
        <p:nvSpPr>
          <p:cNvPr id="30" name="Text 28"/>
          <p:cNvSpPr txBox="1"/>
          <p:nvPr/>
        </p:nvSpPr>
        <p:spPr>
          <a:xfrm>
            <a:off x="4754880" y="280667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12.1%</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33" name="Shape 31"/>
          <p:cNvSpPr/>
          <p:nvPr/>
        </p:nvSpPr>
        <p:spPr>
          <a:xfrm>
            <a:off x="3008376" y="3106540"/>
            <a:ext cx="975131" cy="119948"/>
          </a:xfrm>
          <a:prstGeom prst="rect">
            <a:avLst/>
          </a:prstGeom>
          <a:solidFill>
            <a:srgbClr val="12A566"/>
          </a:solidFill>
          <a:ln/>
        </p:spPr>
      </p:sp>
      <p:sp>
        <p:nvSpPr>
          <p:cNvPr id="34" name="Text 32"/>
          <p:cNvSpPr txBox="1"/>
          <p:nvPr/>
        </p:nvSpPr>
        <p:spPr>
          <a:xfrm>
            <a:off x="4754880" y="3046566"/>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11.9%</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37" name="Shape 35"/>
          <p:cNvSpPr/>
          <p:nvPr/>
        </p:nvSpPr>
        <p:spPr>
          <a:xfrm>
            <a:off x="3008376" y="3346435"/>
            <a:ext cx="953847" cy="119948"/>
          </a:xfrm>
          <a:prstGeom prst="rect">
            <a:avLst/>
          </a:prstGeom>
          <a:solidFill>
            <a:srgbClr val="12A566"/>
          </a:solidFill>
          <a:ln/>
        </p:spPr>
      </p:sp>
      <p:sp>
        <p:nvSpPr>
          <p:cNvPr id="38" name="Text 36"/>
          <p:cNvSpPr txBox="1"/>
          <p:nvPr/>
        </p:nvSpPr>
        <p:spPr>
          <a:xfrm>
            <a:off x="4754880" y="328646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11.6%</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41" name="Shape 39"/>
          <p:cNvSpPr/>
          <p:nvPr/>
        </p:nvSpPr>
        <p:spPr>
          <a:xfrm>
            <a:off x="3008376" y="3586331"/>
            <a:ext cx="880621" cy="119948"/>
          </a:xfrm>
          <a:prstGeom prst="rect">
            <a:avLst/>
          </a:prstGeom>
          <a:solidFill>
            <a:srgbClr val="12A566"/>
          </a:solidFill>
          <a:ln/>
        </p:spPr>
      </p:sp>
      <p:sp>
        <p:nvSpPr>
          <p:cNvPr id="42" name="Text 40"/>
          <p:cNvSpPr txBox="1"/>
          <p:nvPr/>
        </p:nvSpPr>
        <p:spPr>
          <a:xfrm>
            <a:off x="4754880" y="3526357"/>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10.7%</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45" name="Shape 43"/>
          <p:cNvSpPr/>
          <p:nvPr/>
        </p:nvSpPr>
        <p:spPr>
          <a:xfrm>
            <a:off x="3008376" y="3826226"/>
            <a:ext cx="869652" cy="119948"/>
          </a:xfrm>
          <a:prstGeom prst="rect">
            <a:avLst/>
          </a:prstGeom>
          <a:solidFill>
            <a:srgbClr val="12A566"/>
          </a:solidFill>
          <a:ln/>
        </p:spPr>
      </p:sp>
      <p:sp>
        <p:nvSpPr>
          <p:cNvPr id="46" name="Text 44"/>
          <p:cNvSpPr txBox="1"/>
          <p:nvPr/>
        </p:nvSpPr>
        <p:spPr>
          <a:xfrm>
            <a:off x="4754880" y="3766252"/>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10.6%</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49" name="Shape 47"/>
          <p:cNvSpPr/>
          <p:nvPr/>
        </p:nvSpPr>
        <p:spPr>
          <a:xfrm>
            <a:off x="3008376" y="4066122"/>
            <a:ext cx="846628" cy="119948"/>
          </a:xfrm>
          <a:prstGeom prst="rect">
            <a:avLst/>
          </a:prstGeom>
          <a:solidFill>
            <a:srgbClr val="12A566"/>
          </a:solidFill>
          <a:ln/>
        </p:spPr>
      </p:sp>
      <p:sp>
        <p:nvSpPr>
          <p:cNvPr id="50" name="Text 48"/>
          <p:cNvSpPr txBox="1"/>
          <p:nvPr/>
        </p:nvSpPr>
        <p:spPr>
          <a:xfrm>
            <a:off x="4754880" y="400614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10.3%</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53" name="Shape 51"/>
          <p:cNvSpPr/>
          <p:nvPr/>
        </p:nvSpPr>
        <p:spPr>
          <a:xfrm>
            <a:off x="3008376" y="4306017"/>
            <a:ext cx="830606" cy="119948"/>
          </a:xfrm>
          <a:prstGeom prst="rect">
            <a:avLst/>
          </a:prstGeom>
          <a:solidFill>
            <a:srgbClr val="12A566"/>
          </a:solidFill>
          <a:ln/>
        </p:spPr>
      </p:sp>
      <p:sp>
        <p:nvSpPr>
          <p:cNvPr id="54" name="Text 52"/>
          <p:cNvSpPr txBox="1"/>
          <p:nvPr/>
        </p:nvSpPr>
        <p:spPr>
          <a:xfrm>
            <a:off x="4754880" y="4246043"/>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10.1%</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57" name="Shape 55"/>
          <p:cNvSpPr/>
          <p:nvPr/>
        </p:nvSpPr>
        <p:spPr>
          <a:xfrm>
            <a:off x="3008376" y="4545913"/>
            <a:ext cx="824603" cy="119948"/>
          </a:xfrm>
          <a:prstGeom prst="rect">
            <a:avLst/>
          </a:prstGeom>
          <a:solidFill>
            <a:srgbClr val="12A566"/>
          </a:solidFill>
          <a:ln/>
        </p:spPr>
      </p:sp>
      <p:sp>
        <p:nvSpPr>
          <p:cNvPr id="58" name="Text 56"/>
          <p:cNvSpPr txBox="1"/>
          <p:nvPr/>
        </p:nvSpPr>
        <p:spPr>
          <a:xfrm>
            <a:off x="4754880" y="448593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10.0%</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61" name="Shape 59"/>
          <p:cNvSpPr/>
          <p:nvPr/>
        </p:nvSpPr>
        <p:spPr>
          <a:xfrm>
            <a:off x="3008376" y="4785808"/>
            <a:ext cx="790584" cy="119948"/>
          </a:xfrm>
          <a:prstGeom prst="rect">
            <a:avLst/>
          </a:prstGeom>
          <a:solidFill>
            <a:srgbClr val="C2352F"/>
          </a:solidFill>
          <a:ln/>
        </p:spPr>
      </p:sp>
      <p:sp>
        <p:nvSpPr>
          <p:cNvPr id="62" name="Text 60"/>
          <p:cNvSpPr txBox="1"/>
          <p:nvPr/>
        </p:nvSpPr>
        <p:spPr>
          <a:xfrm>
            <a:off x="4754880" y="472583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9.6%</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65" name="Shape 63"/>
          <p:cNvSpPr/>
          <p:nvPr/>
        </p:nvSpPr>
        <p:spPr>
          <a:xfrm>
            <a:off x="3008376" y="5025704"/>
            <a:ext cx="780105" cy="119948"/>
          </a:xfrm>
          <a:prstGeom prst="rect">
            <a:avLst/>
          </a:prstGeom>
          <a:solidFill>
            <a:srgbClr val="C2352F"/>
          </a:solidFill>
          <a:ln/>
        </p:spPr>
      </p:sp>
      <p:sp>
        <p:nvSpPr>
          <p:cNvPr id="66" name="Text 64"/>
          <p:cNvSpPr txBox="1"/>
          <p:nvPr/>
        </p:nvSpPr>
        <p:spPr>
          <a:xfrm>
            <a:off x="4754880"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9.5%</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69" name="Shape 67"/>
          <p:cNvSpPr/>
          <p:nvPr/>
        </p:nvSpPr>
        <p:spPr>
          <a:xfrm>
            <a:off x="3008376" y="5265599"/>
            <a:ext cx="695403" cy="119948"/>
          </a:xfrm>
          <a:prstGeom prst="rect">
            <a:avLst/>
          </a:prstGeom>
          <a:solidFill>
            <a:srgbClr val="C2352F"/>
          </a:solidFill>
          <a:ln/>
        </p:spPr>
      </p:sp>
      <p:sp>
        <p:nvSpPr>
          <p:cNvPr id="70" name="Text 68"/>
          <p:cNvSpPr txBox="1"/>
          <p:nvPr/>
        </p:nvSpPr>
        <p:spPr>
          <a:xfrm>
            <a:off x="4754880"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8.4%</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73" name="Shape 71"/>
          <p:cNvSpPr/>
          <p:nvPr/>
        </p:nvSpPr>
        <p:spPr>
          <a:xfrm>
            <a:off x="3008376" y="5505495"/>
            <a:ext cx="688562" cy="119948"/>
          </a:xfrm>
          <a:prstGeom prst="rect">
            <a:avLst/>
          </a:prstGeom>
          <a:solidFill>
            <a:srgbClr val="C2352F"/>
          </a:solidFill>
          <a:ln/>
        </p:spPr>
      </p:sp>
      <p:sp>
        <p:nvSpPr>
          <p:cNvPr id="74" name="Text 72"/>
          <p:cNvSpPr txBox="1"/>
          <p:nvPr/>
        </p:nvSpPr>
        <p:spPr>
          <a:xfrm>
            <a:off x="4754880"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8.4%</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77" name="Shape 75"/>
          <p:cNvSpPr/>
          <p:nvPr/>
        </p:nvSpPr>
        <p:spPr>
          <a:xfrm>
            <a:off x="3008376" y="5745390"/>
            <a:ext cx="686926" cy="119948"/>
          </a:xfrm>
          <a:prstGeom prst="rect">
            <a:avLst/>
          </a:prstGeom>
          <a:solidFill>
            <a:srgbClr val="C2352F"/>
          </a:solidFill>
          <a:ln/>
        </p:spPr>
      </p:sp>
      <p:sp>
        <p:nvSpPr>
          <p:cNvPr id="78" name="Text 76"/>
          <p:cNvSpPr txBox="1"/>
          <p:nvPr/>
        </p:nvSpPr>
        <p:spPr>
          <a:xfrm>
            <a:off x="4754880" y="568541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8.3%</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81" name="Shape 79"/>
          <p:cNvSpPr/>
          <p:nvPr/>
        </p:nvSpPr>
        <p:spPr>
          <a:xfrm>
            <a:off x="8558784" y="1907062"/>
            <a:ext cx="677808" cy="119948"/>
          </a:xfrm>
          <a:prstGeom prst="rect">
            <a:avLst/>
          </a:prstGeom>
          <a:solidFill>
            <a:srgbClr val="C2352F"/>
          </a:solidFill>
          <a:ln/>
        </p:spPr>
      </p:sp>
      <p:sp>
        <p:nvSpPr>
          <p:cNvPr id="82" name="Text 80"/>
          <p:cNvSpPr txBox="1"/>
          <p:nvPr/>
        </p:nvSpPr>
        <p:spPr>
          <a:xfrm>
            <a:off x="10305288" y="184708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8.2%</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85" name="Shape 83"/>
          <p:cNvSpPr/>
          <p:nvPr/>
        </p:nvSpPr>
        <p:spPr>
          <a:xfrm>
            <a:off x="8558784" y="2146957"/>
            <a:ext cx="661087" cy="119948"/>
          </a:xfrm>
          <a:prstGeom prst="rect">
            <a:avLst/>
          </a:prstGeom>
          <a:solidFill>
            <a:srgbClr val="C2352F"/>
          </a:solidFill>
          <a:ln/>
        </p:spPr>
      </p:sp>
      <p:sp>
        <p:nvSpPr>
          <p:cNvPr id="86" name="Text 84"/>
          <p:cNvSpPr txBox="1"/>
          <p:nvPr/>
        </p:nvSpPr>
        <p:spPr>
          <a:xfrm>
            <a:off x="10305288" y="208698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8.0%</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89" name="Shape 87"/>
          <p:cNvSpPr/>
          <p:nvPr/>
        </p:nvSpPr>
        <p:spPr>
          <a:xfrm>
            <a:off x="8558784" y="2386853"/>
            <a:ext cx="616668" cy="119948"/>
          </a:xfrm>
          <a:prstGeom prst="rect">
            <a:avLst/>
          </a:prstGeom>
          <a:solidFill>
            <a:srgbClr val="C2352F"/>
          </a:solidFill>
          <a:ln/>
        </p:spPr>
      </p:sp>
      <p:sp>
        <p:nvSpPr>
          <p:cNvPr id="90" name="Text 88"/>
          <p:cNvSpPr txBox="1"/>
          <p:nvPr/>
        </p:nvSpPr>
        <p:spPr>
          <a:xfrm>
            <a:off x="10305288" y="232687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7.5%</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93" name="Shape 91"/>
          <p:cNvSpPr/>
          <p:nvPr/>
        </p:nvSpPr>
        <p:spPr>
          <a:xfrm>
            <a:off x="8558784" y="2626748"/>
            <a:ext cx="593725" cy="119948"/>
          </a:xfrm>
          <a:prstGeom prst="rect">
            <a:avLst/>
          </a:prstGeom>
          <a:solidFill>
            <a:srgbClr val="C2352F"/>
          </a:solidFill>
          <a:ln/>
        </p:spPr>
      </p:sp>
      <p:sp>
        <p:nvSpPr>
          <p:cNvPr id="94" name="Text 92"/>
          <p:cNvSpPr txBox="1"/>
          <p:nvPr/>
        </p:nvSpPr>
        <p:spPr>
          <a:xfrm>
            <a:off x="10305288" y="256677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7.2%</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97" name="Shape 95"/>
          <p:cNvSpPr/>
          <p:nvPr/>
        </p:nvSpPr>
        <p:spPr>
          <a:xfrm>
            <a:off x="8558784" y="2866644"/>
            <a:ext cx="580349" cy="119948"/>
          </a:xfrm>
          <a:prstGeom prst="rect">
            <a:avLst/>
          </a:prstGeom>
          <a:solidFill>
            <a:srgbClr val="C2352F"/>
          </a:solidFill>
          <a:ln/>
        </p:spPr>
      </p:sp>
      <p:sp>
        <p:nvSpPr>
          <p:cNvPr id="98" name="Text 96"/>
          <p:cNvSpPr txBox="1"/>
          <p:nvPr/>
        </p:nvSpPr>
        <p:spPr>
          <a:xfrm>
            <a:off x="10305288" y="280667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7.0%</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01" name="Shape 99"/>
          <p:cNvSpPr/>
          <p:nvPr/>
        </p:nvSpPr>
        <p:spPr>
          <a:xfrm>
            <a:off x="8558784" y="3106540"/>
            <a:ext cx="577469" cy="119948"/>
          </a:xfrm>
          <a:prstGeom prst="rect">
            <a:avLst/>
          </a:prstGeom>
          <a:solidFill>
            <a:srgbClr val="C2352F"/>
          </a:solidFill>
          <a:ln/>
        </p:spPr>
      </p:sp>
      <p:sp>
        <p:nvSpPr>
          <p:cNvPr id="102" name="Text 100"/>
          <p:cNvSpPr txBox="1"/>
          <p:nvPr/>
        </p:nvSpPr>
        <p:spPr>
          <a:xfrm>
            <a:off x="10305288" y="304656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7.0%</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05" name="Shape 103"/>
          <p:cNvSpPr/>
          <p:nvPr/>
        </p:nvSpPr>
        <p:spPr>
          <a:xfrm>
            <a:off x="8558784" y="3346435"/>
            <a:ext cx="498268" cy="119948"/>
          </a:xfrm>
          <a:prstGeom prst="rect">
            <a:avLst/>
          </a:prstGeom>
          <a:solidFill>
            <a:srgbClr val="C2352F"/>
          </a:solidFill>
          <a:ln/>
        </p:spPr>
      </p:sp>
      <p:sp>
        <p:nvSpPr>
          <p:cNvPr id="106" name="Text 104"/>
          <p:cNvSpPr txBox="1"/>
          <p:nvPr/>
        </p:nvSpPr>
        <p:spPr>
          <a:xfrm>
            <a:off x="10305288" y="328646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6.0%</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09" name="Shape 107"/>
          <p:cNvSpPr/>
          <p:nvPr/>
        </p:nvSpPr>
        <p:spPr>
          <a:xfrm>
            <a:off x="8558784" y="3586331"/>
            <a:ext cx="487865" cy="119948"/>
          </a:xfrm>
          <a:prstGeom prst="rect">
            <a:avLst/>
          </a:prstGeom>
          <a:solidFill>
            <a:srgbClr val="C2352F"/>
          </a:solidFill>
          <a:ln/>
        </p:spPr>
      </p:sp>
      <p:sp>
        <p:nvSpPr>
          <p:cNvPr id="110" name="Text 108"/>
          <p:cNvSpPr txBox="1"/>
          <p:nvPr/>
        </p:nvSpPr>
        <p:spPr>
          <a:xfrm>
            <a:off x="10305288" y="3526357"/>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5.9%</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13" name="Shape 111"/>
          <p:cNvSpPr/>
          <p:nvPr/>
        </p:nvSpPr>
        <p:spPr>
          <a:xfrm>
            <a:off x="8558784" y="3826226"/>
            <a:ext cx="475017" cy="119948"/>
          </a:xfrm>
          <a:prstGeom prst="rect">
            <a:avLst/>
          </a:prstGeom>
          <a:solidFill>
            <a:srgbClr val="C2352F"/>
          </a:solidFill>
          <a:ln/>
        </p:spPr>
      </p:sp>
      <p:sp>
        <p:nvSpPr>
          <p:cNvPr id="114" name="Text 112"/>
          <p:cNvSpPr txBox="1"/>
          <p:nvPr/>
        </p:nvSpPr>
        <p:spPr>
          <a:xfrm>
            <a:off x="10305288" y="3766252"/>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5.7%</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17" name="Shape 115"/>
          <p:cNvSpPr/>
          <p:nvPr/>
        </p:nvSpPr>
        <p:spPr>
          <a:xfrm>
            <a:off x="8558784" y="4066122"/>
            <a:ext cx="443916" cy="119948"/>
          </a:xfrm>
          <a:prstGeom prst="rect">
            <a:avLst/>
          </a:prstGeom>
          <a:solidFill>
            <a:srgbClr val="C2352F"/>
          </a:solidFill>
          <a:ln/>
        </p:spPr>
      </p:sp>
      <p:sp>
        <p:nvSpPr>
          <p:cNvPr id="118" name="Text 116"/>
          <p:cNvSpPr txBox="1"/>
          <p:nvPr/>
        </p:nvSpPr>
        <p:spPr>
          <a:xfrm>
            <a:off x="10305288" y="400614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5.4%</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21" name="Shape 119"/>
          <p:cNvSpPr/>
          <p:nvPr/>
        </p:nvSpPr>
        <p:spPr>
          <a:xfrm>
            <a:off x="8558784" y="4306017"/>
            <a:ext cx="388888" cy="119948"/>
          </a:xfrm>
          <a:prstGeom prst="rect">
            <a:avLst/>
          </a:prstGeom>
          <a:solidFill>
            <a:srgbClr val="C2352F"/>
          </a:solidFill>
          <a:ln/>
        </p:spPr>
      </p:sp>
      <p:sp>
        <p:nvSpPr>
          <p:cNvPr id="122" name="Text 120"/>
          <p:cNvSpPr txBox="1"/>
          <p:nvPr/>
        </p:nvSpPr>
        <p:spPr>
          <a:xfrm>
            <a:off x="10305288" y="4246043"/>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4.7%</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25" name="Shape 123"/>
          <p:cNvSpPr/>
          <p:nvPr/>
        </p:nvSpPr>
        <p:spPr>
          <a:xfrm>
            <a:off x="8558784" y="4545913"/>
            <a:ext cx="383191" cy="119948"/>
          </a:xfrm>
          <a:prstGeom prst="rect">
            <a:avLst/>
          </a:prstGeom>
          <a:solidFill>
            <a:srgbClr val="C2352F"/>
          </a:solidFill>
          <a:ln/>
        </p:spPr>
      </p:sp>
      <p:sp>
        <p:nvSpPr>
          <p:cNvPr id="126" name="Text 124"/>
          <p:cNvSpPr txBox="1"/>
          <p:nvPr/>
        </p:nvSpPr>
        <p:spPr>
          <a:xfrm>
            <a:off x="10305288" y="448593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4.6%</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29" name="Shape 127"/>
          <p:cNvSpPr/>
          <p:nvPr/>
        </p:nvSpPr>
        <p:spPr>
          <a:xfrm>
            <a:off x="8558784" y="4785808"/>
            <a:ext cx="347029" cy="119948"/>
          </a:xfrm>
          <a:prstGeom prst="rect">
            <a:avLst/>
          </a:prstGeom>
          <a:solidFill>
            <a:srgbClr val="C2352F"/>
          </a:solidFill>
          <a:ln/>
        </p:spPr>
      </p:sp>
      <p:sp>
        <p:nvSpPr>
          <p:cNvPr id="130" name="Text 128"/>
          <p:cNvSpPr txBox="1"/>
          <p:nvPr/>
        </p:nvSpPr>
        <p:spPr>
          <a:xfrm>
            <a:off x="10305288" y="472583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4.2%</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33" name="Shape 131"/>
          <p:cNvSpPr/>
          <p:nvPr/>
        </p:nvSpPr>
        <p:spPr>
          <a:xfrm>
            <a:off x="8558784" y="5025704"/>
            <a:ext cx="260164" cy="119948"/>
          </a:xfrm>
          <a:prstGeom prst="rect">
            <a:avLst/>
          </a:prstGeom>
          <a:solidFill>
            <a:srgbClr val="C2352F"/>
          </a:solidFill>
          <a:ln/>
        </p:spPr>
      </p:sp>
      <p:sp>
        <p:nvSpPr>
          <p:cNvPr id="134" name="Text 132"/>
          <p:cNvSpPr txBox="1"/>
          <p:nvPr/>
        </p:nvSpPr>
        <p:spPr>
          <a:xfrm>
            <a:off x="10305288"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3.1%</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37" name="Shape 135"/>
          <p:cNvSpPr/>
          <p:nvPr/>
        </p:nvSpPr>
        <p:spPr>
          <a:xfrm>
            <a:off x="8558784" y="5265599"/>
            <a:ext cx="201580" cy="119948"/>
          </a:xfrm>
          <a:prstGeom prst="rect">
            <a:avLst/>
          </a:prstGeom>
          <a:solidFill>
            <a:srgbClr val="C2352F"/>
          </a:solidFill>
          <a:ln/>
        </p:spPr>
      </p:sp>
      <p:sp>
        <p:nvSpPr>
          <p:cNvPr id="138" name="Text 136"/>
          <p:cNvSpPr txBox="1"/>
          <p:nvPr/>
        </p:nvSpPr>
        <p:spPr>
          <a:xfrm>
            <a:off x="10305288"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2.4%</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41" name="Shape 139"/>
          <p:cNvSpPr/>
          <p:nvPr/>
        </p:nvSpPr>
        <p:spPr>
          <a:xfrm>
            <a:off x="8558784" y="5505495"/>
            <a:ext cx="158552" cy="119948"/>
          </a:xfrm>
          <a:prstGeom prst="rect">
            <a:avLst/>
          </a:prstGeom>
          <a:solidFill>
            <a:srgbClr val="C2352F"/>
          </a:solidFill>
          <a:ln/>
        </p:spPr>
      </p:sp>
      <p:sp>
        <p:nvSpPr>
          <p:cNvPr id="142" name="Text 140"/>
          <p:cNvSpPr txBox="1"/>
          <p:nvPr/>
        </p:nvSpPr>
        <p:spPr>
          <a:xfrm>
            <a:off x="10305288"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1.9%</a:t>
            </a:r>
            <a:endParaRPr lang="en-US" sz="1200" dirty="0"/>
          </a:p>
        </p:txBody>
      </p:sp>
      <p:sp>
        <p:nvSpPr>
          <p:cNvPr id="143" name="Shape 141"/>
          <p:cNvSpPr/>
          <p:nvPr/>
        </p:nvSpPr>
        <p:spPr>
          <a:xfrm>
            <a:off x="3820171" y="1847088"/>
            <a:ext cx="14630" cy="4078224"/>
          </a:xfrm>
          <a:prstGeom prst="rect">
            <a:avLst/>
          </a:prstGeom>
          <a:solidFill>
            <a:srgbClr val="0B2C4A"/>
          </a:solidFill>
          <a:ln/>
        </p:spPr>
      </p:sp>
      <p:sp>
        <p:nvSpPr>
          <p:cNvPr id="144" name="Shape 142"/>
          <p:cNvSpPr/>
          <p:nvPr/>
        </p:nvSpPr>
        <p:spPr>
          <a:xfrm>
            <a:off x="9370579" y="1847088"/>
            <a:ext cx="14630" cy="4078224"/>
          </a:xfrm>
          <a:prstGeom prst="rect">
            <a:avLst/>
          </a:prstGeom>
          <a:solidFill>
            <a:srgbClr val="0B2C4A"/>
          </a:solidFill>
          <a:ln/>
        </p:spPr>
      </p:sp>
      <p:sp>
        <p:nvSpPr>
          <p:cNvPr id="145" name="Shape 143"/>
          <p:cNvSpPr/>
          <p:nvPr/>
        </p:nvSpPr>
        <p:spPr>
          <a:xfrm>
            <a:off x="6085332" y="1847088"/>
            <a:ext cx="10973" cy="4078224"/>
          </a:xfrm>
          <a:prstGeom prst="rect">
            <a:avLst/>
          </a:prstGeom>
          <a:solidFill>
            <a:srgbClr val="D9D9D9"/>
          </a:solidFill>
          <a:ln/>
        </p:spPr>
      </p:sp>
      <p:sp>
        <p:nvSpPr>
          <p:cNvPr id="147" name="Shape 144"/>
          <p:cNvSpPr/>
          <p:nvPr/>
        </p:nvSpPr>
        <p:spPr>
          <a:xfrm>
            <a:off x="457200" y="6126480"/>
            <a:ext cx="11274552" cy="371856"/>
          </a:xfrm>
          <a:prstGeom prst="rect">
            <a:avLst/>
          </a:prstGeom>
          <a:solidFill>
            <a:srgbClr val="EDF4FA"/>
          </a:solidFill>
          <a:ln/>
        </p:spPr>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12 of 33 stores at or above 10%. The group sits at 9.2%.</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Brake Fluid %</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Text 8"/>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11.6%</a:t>
            </a:r>
            <a:endParaRPr lang="en-US" sz="1400" dirty="0"/>
          </a:p>
        </p:txBody>
      </p:sp>
      <p:sp>
        <p:nvSpPr>
          <p:cNvPr id="12" name="Text 10"/>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+7.9 pts</a:t>
            </a:r>
            <a:endParaRPr lang="en-US" sz="1600" dirty="0"/>
          </a:p>
        </p:txBody>
      </p:sp>
      <p:sp>
        <p:nvSpPr>
          <p:cNvPr id="13" name="Text 11"/>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4" name="Text 12"/>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20.6%</a:t>
            </a:r>
            <a:endParaRPr lang="en-US" sz="1400" dirty="0"/>
          </a:p>
        </p:txBody>
      </p:sp>
      <p:sp>
        <p:nvSpPr>
          <p:cNvPr id="15" name="Text 13"/>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+5.5 pts</a:t>
            </a:r>
            <a:endParaRPr lang="en-US" sz="1600" dirty="0"/>
          </a:p>
        </p:txBody>
      </p:sp>
      <p:sp>
        <p:nvSpPr>
          <p:cNvPr id="16" name="Shape 14"/>
          <p:cNvSpPr/>
          <p:nvPr/>
        </p:nvSpPr>
        <p:spPr>
          <a:xfrm>
            <a:off x="658368" y="3760013"/>
            <a:ext cx="3489960" cy="828446"/>
          </a:xfrm>
          <a:prstGeom prst="rect">
            <a:avLst/>
          </a:prstGeom>
          <a:solidFill>
            <a:srgbClr val="F7F7F7"/>
          </a:solidFill>
          <a:ln/>
        </p:spPr>
      </p:sp>
      <p:sp>
        <p:nvSpPr>
          <p:cNvPr id="17" name="Text 15"/>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8" name="Text 16"/>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14.3%</a:t>
            </a:r>
            <a:endParaRPr lang="en-US" sz="1400" dirty="0"/>
          </a:p>
        </p:txBody>
      </p:sp>
      <p:sp>
        <p:nvSpPr>
          <p:cNvPr id="19" name="Text 17"/>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+5.3 pts</a:t>
            </a:r>
            <a:endParaRPr lang="en-US" sz="1600" dirty="0"/>
          </a:p>
        </p:txBody>
      </p:sp>
      <p:sp>
        <p:nvSpPr>
          <p:cNvPr id="20" name="Text 18"/>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1" name="Text 19"/>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7.5%</a:t>
            </a:r>
            <a:endParaRPr lang="en-US" sz="1400" dirty="0"/>
          </a:p>
        </p:txBody>
      </p:sp>
      <p:sp>
        <p:nvSpPr>
          <p:cNvPr id="22" name="Text 20"/>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+5.1 pts</a:t>
            </a:r>
            <a:endParaRPr lang="en-US" sz="1600" dirty="0"/>
          </a:p>
        </p:txBody>
      </p:sp>
      <p:sp>
        <p:nvSpPr>
          <p:cNvPr id="23" name="Shape 21"/>
          <p:cNvSpPr/>
          <p:nvPr/>
        </p:nvSpPr>
        <p:spPr>
          <a:xfrm>
            <a:off x="658368" y="5416906"/>
            <a:ext cx="3489960" cy="828446"/>
          </a:xfrm>
          <a:prstGeom prst="rect">
            <a:avLst/>
          </a:prstGeom>
          <a:solidFill>
            <a:srgbClr val="F7F7F7"/>
          </a:solidFill>
          <a:ln/>
        </p:spPr>
      </p:sp>
      <p:sp>
        <p:nvSpPr>
          <p:cNvPr id="24" name="Text 22"/>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5" name="Text 23"/>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7.2%</a:t>
            </a:r>
            <a:endParaRPr lang="en-US" sz="1400" dirty="0"/>
          </a:p>
        </p:txBody>
      </p:sp>
      <p:sp>
        <p:nvSpPr>
          <p:cNvPr id="26" name="Text 24"/>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+4.8 pts</a:t>
            </a:r>
            <a:endParaRPr lang="en-US" sz="1600" dirty="0"/>
          </a:p>
        </p:txBody>
      </p:sp>
      <p:sp>
        <p:nvSpPr>
          <p:cNvPr id="27" name="Shape 25"/>
          <p:cNvSpPr/>
          <p:nvPr/>
        </p:nvSpPr>
        <p:spPr>
          <a:xfrm>
            <a:off x="4349496" y="1371600"/>
            <a:ext cx="3489960" cy="45720"/>
          </a:xfrm>
          <a:prstGeom prst="rect">
            <a:avLst/>
          </a:prstGeom>
          <a:solidFill>
            <a:srgbClr val="C2352F"/>
          </a:solidFill>
          <a:ln/>
        </p:spPr>
      </p:sp>
      <p:sp>
        <p:nvSpPr>
          <p:cNvPr id="28" name="Text 26"/>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29" name="Text 27"/>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0" name="Shape 28"/>
          <p:cNvSpPr/>
          <p:nvPr/>
        </p:nvSpPr>
        <p:spPr>
          <a:xfrm>
            <a:off x="4349496" y="2103120"/>
            <a:ext cx="3489960" cy="828446"/>
          </a:xfrm>
          <a:prstGeom prst="rect">
            <a:avLst/>
          </a:prstGeom>
          <a:solidFill>
            <a:srgbClr val="F7F7F7"/>
          </a:solidFill>
          <a:ln/>
        </p:spPr>
      </p:sp>
      <p:sp>
        <p:nvSpPr>
          <p:cNvPr id="31" name="Text 29"/>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2" name="Text 30"/>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4.2%</a:t>
            </a:r>
            <a:endParaRPr lang="en-US" sz="1400" dirty="0"/>
          </a:p>
        </p:txBody>
      </p:sp>
      <p:sp>
        <p:nvSpPr>
          <p:cNvPr id="33" name="Text 31"/>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−1.8 pts</a:t>
            </a:r>
            <a:endParaRPr lang="en-US" sz="1600" dirty="0"/>
          </a:p>
        </p:txBody>
      </p:sp>
      <p:sp>
        <p:nvSpPr>
          <p:cNvPr id="34" name="Text 32"/>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5" name="Text 33"/>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12.1%</a:t>
            </a:r>
            <a:endParaRPr lang="en-US" sz="1400" dirty="0"/>
          </a:p>
        </p:txBody>
      </p:sp>
      <p:sp>
        <p:nvSpPr>
          <p:cNvPr id="36" name="Text 34"/>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 pts</a:t>
            </a:r>
            <a:endParaRPr lang="en-US" sz="1600" dirty="0"/>
          </a:p>
        </p:txBody>
      </p:sp>
      <p:sp>
        <p:nvSpPr>
          <p:cNvPr id="37" name="Shape 35"/>
          <p:cNvSpPr/>
          <p:nvPr/>
        </p:nvSpPr>
        <p:spPr>
          <a:xfrm>
            <a:off x="4349496" y="3760013"/>
            <a:ext cx="3489960" cy="828446"/>
          </a:xfrm>
          <a:prstGeom prst="rect">
            <a:avLst/>
          </a:prstGeom>
          <a:solidFill>
            <a:srgbClr val="F7F7F7"/>
          </a:solidFill>
          <a:ln/>
        </p:spPr>
      </p:sp>
      <p:sp>
        <p:nvSpPr>
          <p:cNvPr id="38" name="Text 36"/>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39" name="Text 37"/>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10.7%</a:t>
            </a:r>
            <a:endParaRPr lang="en-US" sz="1400" dirty="0"/>
          </a:p>
        </p:txBody>
      </p:sp>
      <p:sp>
        <p:nvSpPr>
          <p:cNvPr id="40" name="Text 38"/>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−0.3 pts</a:t>
            </a:r>
            <a:endParaRPr lang="en-US" sz="1600" dirty="0"/>
          </a:p>
        </p:txBody>
      </p:sp>
      <p:sp>
        <p:nvSpPr>
          <p:cNvPr id="41" name="Text 39"/>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2" name="Text 40"/>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11.9%</a:t>
            </a:r>
            <a:endParaRPr lang="en-US" sz="1400" dirty="0"/>
          </a:p>
        </p:txBody>
      </p:sp>
      <p:sp>
        <p:nvSpPr>
          <p:cNvPr id="43" name="Text 41"/>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−0.2 pts</a:t>
            </a:r>
            <a:endParaRPr lang="en-US" sz="1600" dirty="0"/>
          </a:p>
        </p:txBody>
      </p:sp>
      <p:sp>
        <p:nvSpPr>
          <p:cNvPr id="44" name="Shape 42"/>
          <p:cNvSpPr/>
          <p:nvPr/>
        </p:nvSpPr>
        <p:spPr>
          <a:xfrm>
            <a:off x="4349496" y="5416906"/>
            <a:ext cx="3489960" cy="828446"/>
          </a:xfrm>
          <a:prstGeom prst="rect">
            <a:avLst/>
          </a:prstGeom>
          <a:solidFill>
            <a:srgbClr val="F7F7F7"/>
          </a:solidFill>
          <a:ln/>
        </p:spPr>
      </p:sp>
      <p:sp>
        <p:nvSpPr>
          <p:cNvPr id="45" name="Text 43"/>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6" name="Text 44"/>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7.0%</a:t>
            </a:r>
            <a:endParaRPr lang="en-US" sz="1400" dirty="0"/>
          </a:p>
        </p:txBody>
      </p:sp>
      <p:sp>
        <p:nvSpPr>
          <p:cNvPr id="47" name="Text 45"/>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+0.2 pts</a:t>
            </a:r>
            <a:endParaRPr lang="en-US" sz="1600" dirty="0"/>
          </a:p>
        </p:txBody>
      </p:sp>
      <p:sp>
        <p:nvSpPr>
          <p:cNvPr id="48" name="Shape 46"/>
          <p:cNvSpPr/>
          <p:nvPr/>
        </p:nvSpPr>
        <p:spPr>
          <a:xfrm>
            <a:off x="8040624" y="1371600"/>
            <a:ext cx="3489960" cy="45720"/>
          </a:xfrm>
          <a:prstGeom prst="rect">
            <a:avLst/>
          </a:prstGeom>
          <a:solidFill>
            <a:srgbClr val="2587C5"/>
          </a:solidFill>
          <a:ln/>
        </p:spPr>
      </p:sp>
      <p:sp>
        <p:nvSpPr>
          <p:cNvPr id="49" name="Text 4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0" name="Text 48"/>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51" name="Shape 49"/>
          <p:cNvSpPr/>
          <p:nvPr/>
        </p:nvSpPr>
        <p:spPr>
          <a:xfrm>
            <a:off x="8040624" y="2103120"/>
            <a:ext cx="3489960" cy="828446"/>
          </a:xfrm>
          <a:prstGeom prst="rect">
            <a:avLst/>
          </a:prstGeom>
          <a:solidFill>
            <a:srgbClr val="F7F7F7"/>
          </a:solidFill>
          <a:ln/>
        </p:spPr>
      </p:sp>
      <p:sp>
        <p:nvSpPr>
          <p:cNvPr id="52" name="Text 50"/>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3" name="Text 51"/>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14.1%</a:t>
            </a:r>
            <a:endParaRPr lang="en-US" sz="1400" dirty="0"/>
          </a:p>
        </p:txBody>
      </p:sp>
      <p:sp>
        <p:nvSpPr>
          <p:cNvPr id="54" name="Text 52"/>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+9.0 pts</a:t>
            </a:r>
            <a:endParaRPr lang="en-US" sz="1600" dirty="0"/>
          </a:p>
        </p:txBody>
      </p:sp>
      <p:sp>
        <p:nvSpPr>
          <p:cNvPr id="55" name="Text 53"/>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6" name="Text 54"/>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5.3%</a:t>
            </a:r>
            <a:endParaRPr lang="en-US" sz="1400" dirty="0"/>
          </a:p>
        </p:txBody>
      </p:sp>
      <p:sp>
        <p:nvSpPr>
          <p:cNvPr id="57" name="Text 55"/>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+4.8 pts</a:t>
            </a:r>
            <a:endParaRPr lang="en-US" sz="1600" dirty="0"/>
          </a:p>
        </p:txBody>
      </p:sp>
      <p:sp>
        <p:nvSpPr>
          <p:cNvPr id="58" name="Shape 56"/>
          <p:cNvSpPr/>
          <p:nvPr/>
        </p:nvSpPr>
        <p:spPr>
          <a:xfrm>
            <a:off x="8040624" y="3760013"/>
            <a:ext cx="3489960" cy="828446"/>
          </a:xfrm>
          <a:prstGeom prst="rect">
            <a:avLst/>
          </a:prstGeom>
          <a:solidFill>
            <a:srgbClr val="F7F7F7"/>
          </a:solidFill>
          <a:ln/>
        </p:spPr>
      </p:sp>
      <p:sp>
        <p:nvSpPr>
          <p:cNvPr id="59" name="Text 57"/>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0" name="Text 58"/>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7.8%</a:t>
            </a:r>
            <a:endParaRPr lang="en-US" sz="1400" dirty="0"/>
          </a:p>
        </p:txBody>
      </p:sp>
      <p:sp>
        <p:nvSpPr>
          <p:cNvPr id="61" name="Text 59"/>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+4.0 pts</a:t>
            </a:r>
            <a:endParaRPr lang="en-US" sz="1600" dirty="0"/>
          </a:p>
        </p:txBody>
      </p:sp>
      <p:sp>
        <p:nvSpPr>
          <p:cNvPr id="62" name="Text 60"/>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3" name="Text 61"/>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11.7%</a:t>
            </a:r>
            <a:endParaRPr lang="en-US" sz="1400" dirty="0"/>
          </a:p>
        </p:txBody>
      </p:sp>
      <p:sp>
        <p:nvSpPr>
          <p:cNvPr id="64" name="Text 62"/>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+3.4 pts</a:t>
            </a:r>
            <a:endParaRPr lang="en-US" sz="1600" dirty="0"/>
          </a:p>
        </p:txBody>
      </p:sp>
      <p:sp>
        <p:nvSpPr>
          <p:cNvPr id="65" name="Shape 63"/>
          <p:cNvSpPr/>
          <p:nvPr/>
        </p:nvSpPr>
        <p:spPr>
          <a:xfrm>
            <a:off x="8040624" y="5416906"/>
            <a:ext cx="3489960" cy="828446"/>
          </a:xfrm>
          <a:prstGeom prst="rect">
            <a:avLst/>
          </a:prstGeom>
          <a:solidFill>
            <a:srgbClr val="F7F7F7"/>
          </a:solidFill>
          <a:ln/>
        </p:spPr>
      </p:sp>
      <p:sp>
        <p:nvSpPr>
          <p:cNvPr id="66" name="Text 64"/>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67" name="Text 65"/>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10.2%</a:t>
            </a:r>
            <a:endParaRPr lang="en-US" sz="1400" dirty="0"/>
          </a:p>
        </p:txBody>
      </p:sp>
      <p:sp>
        <p:nvSpPr>
          <p:cNvPr id="68" name="Text 66"/>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 pts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Fuel Service %</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4.5%</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5.8%</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+1.2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+27.3%</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Fuel Service %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graphicFrame>
        <p:nvGraphicFramePr>
          <p:cNvPr id="21" name="Chart 4"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5"/>
          </a:graphicData>
        </a:graphic>
      </p:graphicFrame>
      <p:graphicFrame>
        <p:nvGraphicFramePr>
          <p:cNvPr id="22" name="Chart 5"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6"/>
          </a:graphicData>
        </a:graphic>
      </p:graphicFrame>
      <p:sp>
        <p:nvSpPr>
          <p:cNvPr id="23" name="Shape 15"/>
          <p:cNvSpPr/>
          <p:nvPr/>
        </p:nvSpPr>
        <p:spPr>
          <a:xfrm>
            <a:off x="3762756" y="3049524"/>
            <a:ext cx="310896" cy="45720"/>
          </a:xfrm>
          <a:prstGeom prst="rect">
            <a:avLst/>
          </a:prstGeom>
          <a:solidFill>
            <a:srgbClr val="9AA3AD"/>
          </a:solidFill>
          <a:ln/>
        </p:spPr>
      </p:sp>
      <p:sp>
        <p:nvSpPr>
          <p:cNvPr id="24" name="Shape 16"/>
          <p:cNvSpPr/>
          <p:nvPr/>
        </p:nvSpPr>
        <p:spPr>
          <a:xfrm>
            <a:off x="3863340" y="3017520"/>
            <a:ext cx="109728" cy="109728"/>
          </a:xfrm>
          <a:prstGeom prst="ellipse">
            <a:avLst/>
          </a:prstGeom>
          <a:solidFill>
            <a:srgbClr val="9AA3AD"/>
          </a:solidFill>
          <a:ln/>
        </p:spPr>
      </p:sp>
      <p:sp>
        <p:nvSpPr>
          <p:cNvPr id="25" name="Text 17"/>
          <p:cNvSpPr txBox="1"/>
          <p:nvPr/>
        </p:nvSpPr>
        <p:spPr>
          <a:xfrm>
            <a:off x="414680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4997196" y="3049524"/>
            <a:ext cx="310896" cy="45720"/>
          </a:xfrm>
          <a:prstGeom prst="rect">
            <a:avLst/>
          </a:prstGeom>
          <a:solidFill>
            <a:srgbClr val="2587C5"/>
          </a:solidFill>
          <a:ln/>
        </p:spPr>
      </p:sp>
      <p:sp>
        <p:nvSpPr>
          <p:cNvPr id="27" name="Shape 19"/>
          <p:cNvSpPr/>
          <p:nvPr/>
        </p:nvSpPr>
        <p:spPr>
          <a:xfrm>
            <a:off x="5097780" y="3017520"/>
            <a:ext cx="109728" cy="109728"/>
          </a:xfrm>
          <a:prstGeom prst="ellipse">
            <a:avLst/>
          </a:prstGeom>
          <a:solidFill>
            <a:srgbClr val="2587C5"/>
          </a:solidFill>
          <a:ln/>
        </p:spPr>
      </p:sp>
      <p:sp>
        <p:nvSpPr>
          <p:cNvPr id="28" name="Text 20"/>
          <p:cNvSpPr txBox="1"/>
          <p:nvPr/>
        </p:nvSpPr>
        <p:spPr>
          <a:xfrm>
            <a:off x="538124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6231636" y="3049524"/>
            <a:ext cx="73152" cy="36576"/>
          </a:xfrm>
          <a:prstGeom prst="rect">
            <a:avLst/>
          </a:prstGeom>
          <a:solidFill>
            <a:srgbClr val="595959"/>
          </a:solidFill>
          <a:ln/>
        </p:spPr>
      </p:sp>
      <p:sp>
        <p:nvSpPr>
          <p:cNvPr id="30" name="Shape 22"/>
          <p:cNvSpPr/>
          <p:nvPr/>
        </p:nvSpPr>
        <p:spPr>
          <a:xfrm>
            <a:off x="6350508" y="3049524"/>
            <a:ext cx="73152" cy="36576"/>
          </a:xfrm>
          <a:prstGeom prst="rect">
            <a:avLst/>
          </a:prstGeom>
          <a:solidFill>
            <a:srgbClr val="595959"/>
          </a:solidFill>
          <a:ln/>
        </p:spPr>
      </p:sp>
      <p:sp>
        <p:nvSpPr>
          <p:cNvPr id="31" name="Shape 23"/>
          <p:cNvSpPr/>
          <p:nvPr/>
        </p:nvSpPr>
        <p:spPr>
          <a:xfrm>
            <a:off x="6469380" y="3049524"/>
            <a:ext cx="73152" cy="36576"/>
          </a:xfrm>
          <a:prstGeom prst="rect">
            <a:avLst/>
          </a:prstGeom>
          <a:solidFill>
            <a:srgbClr val="595959"/>
          </a:solidFill>
          <a:ln/>
        </p:spPr>
      </p:sp>
      <p:sp>
        <p:nvSpPr>
          <p:cNvPr id="32" name="Text 24"/>
          <p:cNvSpPr txBox="1"/>
          <p:nvPr/>
        </p:nvSpPr>
        <p:spPr>
          <a:xfrm>
            <a:off x="6615684" y="2926080"/>
            <a:ext cx="23774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Benchmark 7.5%</a:t>
            </a:r>
            <a:endParaRPr lang="en-US" sz="1400" dirty="0"/>
          </a:p>
        </p:txBody>
      </p:sp>
      <p:sp>
        <p:nvSpPr>
          <p:cNvPr id="33" name="Shape 25"/>
          <p:cNvSpPr/>
          <p:nvPr/>
        </p:nvSpPr>
        <p:spPr>
          <a:xfrm>
            <a:off x="457200" y="6126480"/>
            <a:ext cx="11274552" cy="615696"/>
          </a:xfrm>
          <a:prstGeom prst="rect">
            <a:avLst/>
          </a:prstGeom>
          <a:solidFill>
            <a:srgbClr val="E6F6EE"/>
          </a:solidFill>
          <a:ln/>
        </p:spPr>
      </p:sp>
      <p:sp>
        <p:nvSpPr>
          <p:cNvPr id="34" name="Text 26"/>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1.2 pts to 5.8%, ahead of 2025 in all nine months, but 1.7 pts under the 7.5% benchmark — 4,731 fuel services short.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Fuel Service %</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FUEL SERVICE %</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BENCHMARK 7.5%</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5.8%</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3" name="Shape 11"/>
          <p:cNvSpPr/>
          <p:nvPr/>
        </p:nvSpPr>
        <p:spPr>
          <a:xfrm>
            <a:off x="3008376" y="1907062"/>
            <a:ext cx="1691640" cy="119948"/>
          </a:xfrm>
          <a:prstGeom prst="rect">
            <a:avLst/>
          </a:prstGeom>
          <a:solidFill>
            <a:srgbClr val="12A566"/>
          </a:solidFill>
          <a:ln/>
        </p:spPr>
      </p:sp>
      <p:sp>
        <p:nvSpPr>
          <p:cNvPr id="14" name="Text 12"/>
          <p:cNvSpPr txBox="1"/>
          <p:nvPr/>
        </p:nvSpPr>
        <p:spPr>
          <a:xfrm>
            <a:off x="4754880" y="184708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13.8%</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7" name="Shape 15"/>
          <p:cNvSpPr/>
          <p:nvPr/>
        </p:nvSpPr>
        <p:spPr>
          <a:xfrm>
            <a:off x="3008376" y="2146957"/>
            <a:ext cx="1471688" cy="119948"/>
          </a:xfrm>
          <a:prstGeom prst="rect">
            <a:avLst/>
          </a:prstGeom>
          <a:solidFill>
            <a:srgbClr val="12A566"/>
          </a:solidFill>
          <a:ln/>
        </p:spPr>
      </p:sp>
      <p:sp>
        <p:nvSpPr>
          <p:cNvPr id="18" name="Text 16"/>
          <p:cNvSpPr txBox="1"/>
          <p:nvPr/>
        </p:nvSpPr>
        <p:spPr>
          <a:xfrm>
            <a:off x="4754880" y="208698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12.0%</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21" name="Shape 19"/>
          <p:cNvSpPr/>
          <p:nvPr/>
        </p:nvSpPr>
        <p:spPr>
          <a:xfrm>
            <a:off x="3008376" y="2386853"/>
            <a:ext cx="1196420" cy="119948"/>
          </a:xfrm>
          <a:prstGeom prst="rect">
            <a:avLst/>
          </a:prstGeom>
          <a:solidFill>
            <a:srgbClr val="12A566"/>
          </a:solidFill>
          <a:ln/>
        </p:spPr>
      </p:sp>
      <p:sp>
        <p:nvSpPr>
          <p:cNvPr id="22" name="Text 20"/>
          <p:cNvSpPr txBox="1"/>
          <p:nvPr/>
        </p:nvSpPr>
        <p:spPr>
          <a:xfrm>
            <a:off x="4754880" y="232687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9.7%</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25" name="Shape 23"/>
          <p:cNvSpPr/>
          <p:nvPr/>
        </p:nvSpPr>
        <p:spPr>
          <a:xfrm>
            <a:off x="3008376" y="2626748"/>
            <a:ext cx="1144678" cy="119948"/>
          </a:xfrm>
          <a:prstGeom prst="rect">
            <a:avLst/>
          </a:prstGeom>
          <a:solidFill>
            <a:srgbClr val="12A566"/>
          </a:solidFill>
          <a:ln/>
        </p:spPr>
      </p:sp>
      <p:sp>
        <p:nvSpPr>
          <p:cNvPr id="26" name="Text 24"/>
          <p:cNvSpPr txBox="1"/>
          <p:nvPr/>
        </p:nvSpPr>
        <p:spPr>
          <a:xfrm>
            <a:off x="4754880" y="256677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9.3%</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29" name="Shape 27"/>
          <p:cNvSpPr/>
          <p:nvPr/>
        </p:nvSpPr>
        <p:spPr>
          <a:xfrm>
            <a:off x="3008376" y="2866644"/>
            <a:ext cx="1092895" cy="119948"/>
          </a:xfrm>
          <a:prstGeom prst="rect">
            <a:avLst/>
          </a:prstGeom>
          <a:solidFill>
            <a:srgbClr val="12A566"/>
          </a:solidFill>
          <a:ln/>
        </p:spPr>
      </p:sp>
      <p:sp>
        <p:nvSpPr>
          <p:cNvPr id="30" name="Text 28"/>
          <p:cNvSpPr txBox="1"/>
          <p:nvPr/>
        </p:nvSpPr>
        <p:spPr>
          <a:xfrm>
            <a:off x="4754880" y="280667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8.9%</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33" name="Shape 31"/>
          <p:cNvSpPr/>
          <p:nvPr/>
        </p:nvSpPr>
        <p:spPr>
          <a:xfrm>
            <a:off x="3008376" y="3106540"/>
            <a:ext cx="1003246" cy="119948"/>
          </a:xfrm>
          <a:prstGeom prst="rect">
            <a:avLst/>
          </a:prstGeom>
          <a:solidFill>
            <a:srgbClr val="12A566"/>
          </a:solidFill>
          <a:ln/>
        </p:spPr>
      </p:sp>
      <p:sp>
        <p:nvSpPr>
          <p:cNvPr id="34" name="Text 32"/>
          <p:cNvSpPr txBox="1"/>
          <p:nvPr/>
        </p:nvSpPr>
        <p:spPr>
          <a:xfrm>
            <a:off x="4754880" y="3046566"/>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8.2%</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37" name="Shape 35"/>
          <p:cNvSpPr/>
          <p:nvPr/>
        </p:nvSpPr>
        <p:spPr>
          <a:xfrm>
            <a:off x="3008376" y="3346435"/>
            <a:ext cx="936777" cy="119948"/>
          </a:xfrm>
          <a:prstGeom prst="rect">
            <a:avLst/>
          </a:prstGeom>
          <a:solidFill>
            <a:srgbClr val="12A566"/>
          </a:solidFill>
          <a:ln/>
        </p:spPr>
      </p:sp>
      <p:sp>
        <p:nvSpPr>
          <p:cNvPr id="38" name="Text 36"/>
          <p:cNvSpPr txBox="1"/>
          <p:nvPr/>
        </p:nvSpPr>
        <p:spPr>
          <a:xfrm>
            <a:off x="4754880" y="328646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7.6%</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41" name="Shape 39"/>
          <p:cNvSpPr/>
          <p:nvPr/>
        </p:nvSpPr>
        <p:spPr>
          <a:xfrm>
            <a:off x="3008376" y="3586331"/>
            <a:ext cx="899446" cy="119948"/>
          </a:xfrm>
          <a:prstGeom prst="rect">
            <a:avLst/>
          </a:prstGeom>
          <a:solidFill>
            <a:srgbClr val="C2352F"/>
          </a:solidFill>
          <a:ln/>
        </p:spPr>
      </p:sp>
      <p:sp>
        <p:nvSpPr>
          <p:cNvPr id="42" name="Text 40"/>
          <p:cNvSpPr txBox="1"/>
          <p:nvPr/>
        </p:nvSpPr>
        <p:spPr>
          <a:xfrm>
            <a:off x="4754880" y="3526357"/>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7.3%</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45" name="Shape 43"/>
          <p:cNvSpPr/>
          <p:nvPr/>
        </p:nvSpPr>
        <p:spPr>
          <a:xfrm>
            <a:off x="3008376" y="3826226"/>
            <a:ext cx="865796" cy="119948"/>
          </a:xfrm>
          <a:prstGeom prst="rect">
            <a:avLst/>
          </a:prstGeom>
          <a:solidFill>
            <a:srgbClr val="C2352F"/>
          </a:solidFill>
          <a:ln/>
        </p:spPr>
      </p:sp>
      <p:sp>
        <p:nvSpPr>
          <p:cNvPr id="46" name="Text 44"/>
          <p:cNvSpPr txBox="1"/>
          <p:nvPr/>
        </p:nvSpPr>
        <p:spPr>
          <a:xfrm>
            <a:off x="4754880" y="3766252"/>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7.0%</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49" name="Shape 47"/>
          <p:cNvSpPr/>
          <p:nvPr/>
        </p:nvSpPr>
        <p:spPr>
          <a:xfrm>
            <a:off x="3008376" y="4066122"/>
            <a:ext cx="789612" cy="119948"/>
          </a:xfrm>
          <a:prstGeom prst="rect">
            <a:avLst/>
          </a:prstGeom>
          <a:solidFill>
            <a:srgbClr val="C2352F"/>
          </a:solidFill>
          <a:ln/>
        </p:spPr>
      </p:sp>
      <p:sp>
        <p:nvSpPr>
          <p:cNvPr id="50" name="Text 48"/>
          <p:cNvSpPr txBox="1"/>
          <p:nvPr/>
        </p:nvSpPr>
        <p:spPr>
          <a:xfrm>
            <a:off x="4754880" y="400614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6.4%</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53" name="Shape 51"/>
          <p:cNvSpPr/>
          <p:nvPr/>
        </p:nvSpPr>
        <p:spPr>
          <a:xfrm>
            <a:off x="3008376" y="4306017"/>
            <a:ext cx="733838" cy="119948"/>
          </a:xfrm>
          <a:prstGeom prst="rect">
            <a:avLst/>
          </a:prstGeom>
          <a:solidFill>
            <a:srgbClr val="C2352F"/>
          </a:solidFill>
          <a:ln/>
        </p:spPr>
      </p:sp>
      <p:sp>
        <p:nvSpPr>
          <p:cNvPr id="54" name="Text 52"/>
          <p:cNvSpPr txBox="1"/>
          <p:nvPr/>
        </p:nvSpPr>
        <p:spPr>
          <a:xfrm>
            <a:off x="4754880" y="4246043"/>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6.0%</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57" name="Shape 55"/>
          <p:cNvSpPr/>
          <p:nvPr/>
        </p:nvSpPr>
        <p:spPr>
          <a:xfrm>
            <a:off x="3008376" y="4545913"/>
            <a:ext cx="718556" cy="119948"/>
          </a:xfrm>
          <a:prstGeom prst="rect">
            <a:avLst/>
          </a:prstGeom>
          <a:solidFill>
            <a:srgbClr val="C2352F"/>
          </a:solidFill>
          <a:ln/>
        </p:spPr>
      </p:sp>
      <p:sp>
        <p:nvSpPr>
          <p:cNvPr id="58" name="Text 56"/>
          <p:cNvSpPr txBox="1"/>
          <p:nvPr/>
        </p:nvSpPr>
        <p:spPr>
          <a:xfrm>
            <a:off x="4754880" y="448593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5.8%</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61" name="Shape 59"/>
          <p:cNvSpPr/>
          <p:nvPr/>
        </p:nvSpPr>
        <p:spPr>
          <a:xfrm>
            <a:off x="3008376" y="4785808"/>
            <a:ext cx="712146" cy="119948"/>
          </a:xfrm>
          <a:prstGeom prst="rect">
            <a:avLst/>
          </a:prstGeom>
          <a:solidFill>
            <a:srgbClr val="C2352F"/>
          </a:solidFill>
          <a:ln/>
        </p:spPr>
      </p:sp>
      <p:sp>
        <p:nvSpPr>
          <p:cNvPr id="62" name="Text 60"/>
          <p:cNvSpPr txBox="1"/>
          <p:nvPr/>
        </p:nvSpPr>
        <p:spPr>
          <a:xfrm>
            <a:off x="4754880" y="472583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5.8%</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65" name="Shape 63"/>
          <p:cNvSpPr/>
          <p:nvPr/>
        </p:nvSpPr>
        <p:spPr>
          <a:xfrm>
            <a:off x="3008376" y="5025704"/>
            <a:ext cx="674365" cy="119948"/>
          </a:xfrm>
          <a:prstGeom prst="rect">
            <a:avLst/>
          </a:prstGeom>
          <a:solidFill>
            <a:srgbClr val="C2352F"/>
          </a:solidFill>
          <a:ln/>
        </p:spPr>
      </p:sp>
      <p:sp>
        <p:nvSpPr>
          <p:cNvPr id="66" name="Text 64"/>
          <p:cNvSpPr txBox="1"/>
          <p:nvPr/>
        </p:nvSpPr>
        <p:spPr>
          <a:xfrm>
            <a:off x="4754880"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5.5%</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69" name="Shape 67"/>
          <p:cNvSpPr/>
          <p:nvPr/>
        </p:nvSpPr>
        <p:spPr>
          <a:xfrm>
            <a:off x="3008376" y="5265599"/>
            <a:ext cx="641436" cy="119948"/>
          </a:xfrm>
          <a:prstGeom prst="rect">
            <a:avLst/>
          </a:prstGeom>
          <a:solidFill>
            <a:srgbClr val="C2352F"/>
          </a:solidFill>
          <a:ln/>
        </p:spPr>
      </p:sp>
      <p:sp>
        <p:nvSpPr>
          <p:cNvPr id="70" name="Text 68"/>
          <p:cNvSpPr txBox="1"/>
          <p:nvPr/>
        </p:nvSpPr>
        <p:spPr>
          <a:xfrm>
            <a:off x="4754880"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5.2%</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73" name="Shape 71"/>
          <p:cNvSpPr/>
          <p:nvPr/>
        </p:nvSpPr>
        <p:spPr>
          <a:xfrm>
            <a:off x="3008376" y="5505495"/>
            <a:ext cx="636377" cy="119948"/>
          </a:xfrm>
          <a:prstGeom prst="rect">
            <a:avLst/>
          </a:prstGeom>
          <a:solidFill>
            <a:srgbClr val="C2352F"/>
          </a:solidFill>
          <a:ln/>
        </p:spPr>
      </p:sp>
      <p:sp>
        <p:nvSpPr>
          <p:cNvPr id="74" name="Text 72"/>
          <p:cNvSpPr txBox="1"/>
          <p:nvPr/>
        </p:nvSpPr>
        <p:spPr>
          <a:xfrm>
            <a:off x="4754880"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5.2%</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77" name="Shape 75"/>
          <p:cNvSpPr/>
          <p:nvPr/>
        </p:nvSpPr>
        <p:spPr>
          <a:xfrm>
            <a:off x="3008376" y="5745390"/>
            <a:ext cx="624030" cy="119948"/>
          </a:xfrm>
          <a:prstGeom prst="rect">
            <a:avLst/>
          </a:prstGeom>
          <a:solidFill>
            <a:srgbClr val="C2352F"/>
          </a:solidFill>
          <a:ln/>
        </p:spPr>
      </p:sp>
      <p:sp>
        <p:nvSpPr>
          <p:cNvPr id="78" name="Text 76"/>
          <p:cNvSpPr txBox="1"/>
          <p:nvPr/>
        </p:nvSpPr>
        <p:spPr>
          <a:xfrm>
            <a:off x="4754880" y="568541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5.1%</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81" name="Shape 79"/>
          <p:cNvSpPr/>
          <p:nvPr/>
        </p:nvSpPr>
        <p:spPr>
          <a:xfrm>
            <a:off x="8558784" y="1907062"/>
            <a:ext cx="558764" cy="119948"/>
          </a:xfrm>
          <a:prstGeom prst="rect">
            <a:avLst/>
          </a:prstGeom>
          <a:solidFill>
            <a:srgbClr val="C2352F"/>
          </a:solidFill>
          <a:ln/>
        </p:spPr>
      </p:sp>
      <p:sp>
        <p:nvSpPr>
          <p:cNvPr id="82" name="Text 80"/>
          <p:cNvSpPr txBox="1"/>
          <p:nvPr/>
        </p:nvSpPr>
        <p:spPr>
          <a:xfrm>
            <a:off x="10305288" y="184708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4.5%</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85" name="Shape 83"/>
          <p:cNvSpPr/>
          <p:nvPr/>
        </p:nvSpPr>
        <p:spPr>
          <a:xfrm>
            <a:off x="8558784" y="2146957"/>
            <a:ext cx="524245" cy="119948"/>
          </a:xfrm>
          <a:prstGeom prst="rect">
            <a:avLst/>
          </a:prstGeom>
          <a:solidFill>
            <a:srgbClr val="C2352F"/>
          </a:solidFill>
          <a:ln/>
        </p:spPr>
      </p:sp>
      <p:sp>
        <p:nvSpPr>
          <p:cNvPr id="86" name="Text 84"/>
          <p:cNvSpPr txBox="1"/>
          <p:nvPr/>
        </p:nvSpPr>
        <p:spPr>
          <a:xfrm>
            <a:off x="10305288" y="208698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4.2%</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89" name="Shape 87"/>
          <p:cNvSpPr/>
          <p:nvPr/>
        </p:nvSpPr>
        <p:spPr>
          <a:xfrm>
            <a:off x="8558784" y="2386853"/>
            <a:ext cx="511532" cy="119948"/>
          </a:xfrm>
          <a:prstGeom prst="rect">
            <a:avLst/>
          </a:prstGeom>
          <a:solidFill>
            <a:srgbClr val="C2352F"/>
          </a:solidFill>
          <a:ln/>
        </p:spPr>
      </p:sp>
      <p:sp>
        <p:nvSpPr>
          <p:cNvPr id="90" name="Text 88"/>
          <p:cNvSpPr txBox="1"/>
          <p:nvPr/>
        </p:nvSpPr>
        <p:spPr>
          <a:xfrm>
            <a:off x="10305288" y="232687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4.1%</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93" name="Shape 91"/>
          <p:cNvSpPr/>
          <p:nvPr/>
        </p:nvSpPr>
        <p:spPr>
          <a:xfrm>
            <a:off x="8558784" y="2626748"/>
            <a:ext cx="444269" cy="119948"/>
          </a:xfrm>
          <a:prstGeom prst="rect">
            <a:avLst/>
          </a:prstGeom>
          <a:solidFill>
            <a:srgbClr val="C2352F"/>
          </a:solidFill>
          <a:ln/>
        </p:spPr>
      </p:sp>
      <p:sp>
        <p:nvSpPr>
          <p:cNvPr id="94" name="Text 92"/>
          <p:cNvSpPr txBox="1"/>
          <p:nvPr/>
        </p:nvSpPr>
        <p:spPr>
          <a:xfrm>
            <a:off x="10305288" y="256677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3.6%</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97" name="Shape 95"/>
          <p:cNvSpPr/>
          <p:nvPr/>
        </p:nvSpPr>
        <p:spPr>
          <a:xfrm>
            <a:off x="8558784" y="2866644"/>
            <a:ext cx="393958" cy="119948"/>
          </a:xfrm>
          <a:prstGeom prst="rect">
            <a:avLst/>
          </a:prstGeom>
          <a:solidFill>
            <a:srgbClr val="C2352F"/>
          </a:solidFill>
          <a:ln/>
        </p:spPr>
      </p:sp>
      <p:sp>
        <p:nvSpPr>
          <p:cNvPr id="98" name="Text 96"/>
          <p:cNvSpPr txBox="1"/>
          <p:nvPr/>
        </p:nvSpPr>
        <p:spPr>
          <a:xfrm>
            <a:off x="10305288" y="280667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3.2%</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01" name="Shape 99"/>
          <p:cNvSpPr/>
          <p:nvPr/>
        </p:nvSpPr>
        <p:spPr>
          <a:xfrm>
            <a:off x="8558784" y="3106540"/>
            <a:ext cx="393514" cy="119948"/>
          </a:xfrm>
          <a:prstGeom prst="rect">
            <a:avLst/>
          </a:prstGeom>
          <a:solidFill>
            <a:srgbClr val="C2352F"/>
          </a:solidFill>
          <a:ln/>
        </p:spPr>
      </p:sp>
      <p:sp>
        <p:nvSpPr>
          <p:cNvPr id="102" name="Text 100"/>
          <p:cNvSpPr txBox="1"/>
          <p:nvPr/>
        </p:nvSpPr>
        <p:spPr>
          <a:xfrm>
            <a:off x="10305288" y="304656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3.2%</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05" name="Shape 103"/>
          <p:cNvSpPr/>
          <p:nvPr/>
        </p:nvSpPr>
        <p:spPr>
          <a:xfrm>
            <a:off x="8558784" y="3346435"/>
            <a:ext cx="367056" cy="119948"/>
          </a:xfrm>
          <a:prstGeom prst="rect">
            <a:avLst/>
          </a:prstGeom>
          <a:solidFill>
            <a:srgbClr val="C2352F"/>
          </a:solidFill>
          <a:ln/>
        </p:spPr>
      </p:sp>
      <p:sp>
        <p:nvSpPr>
          <p:cNvPr id="106" name="Text 104"/>
          <p:cNvSpPr txBox="1"/>
          <p:nvPr/>
        </p:nvSpPr>
        <p:spPr>
          <a:xfrm>
            <a:off x="10305288" y="328646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3.0%</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09" name="Shape 107"/>
          <p:cNvSpPr/>
          <p:nvPr/>
        </p:nvSpPr>
        <p:spPr>
          <a:xfrm>
            <a:off x="8558784" y="3586331"/>
            <a:ext cx="334961" cy="119948"/>
          </a:xfrm>
          <a:prstGeom prst="rect">
            <a:avLst/>
          </a:prstGeom>
          <a:solidFill>
            <a:srgbClr val="C2352F"/>
          </a:solidFill>
          <a:ln/>
        </p:spPr>
      </p:sp>
      <p:sp>
        <p:nvSpPr>
          <p:cNvPr id="110" name="Text 108"/>
          <p:cNvSpPr txBox="1"/>
          <p:nvPr/>
        </p:nvSpPr>
        <p:spPr>
          <a:xfrm>
            <a:off x="10305288" y="3526357"/>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2.7%</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13" name="Shape 111"/>
          <p:cNvSpPr/>
          <p:nvPr/>
        </p:nvSpPr>
        <p:spPr>
          <a:xfrm>
            <a:off x="8558784" y="3826226"/>
            <a:ext cx="331007" cy="119948"/>
          </a:xfrm>
          <a:prstGeom prst="rect">
            <a:avLst/>
          </a:prstGeom>
          <a:solidFill>
            <a:srgbClr val="C2352F"/>
          </a:solidFill>
          <a:ln/>
        </p:spPr>
      </p:sp>
      <p:sp>
        <p:nvSpPr>
          <p:cNvPr id="114" name="Text 112"/>
          <p:cNvSpPr txBox="1"/>
          <p:nvPr/>
        </p:nvSpPr>
        <p:spPr>
          <a:xfrm>
            <a:off x="10305288" y="3766252"/>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2.7%</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17" name="Shape 115"/>
          <p:cNvSpPr/>
          <p:nvPr/>
        </p:nvSpPr>
        <p:spPr>
          <a:xfrm>
            <a:off x="8558784" y="4066122"/>
            <a:ext cx="313417" cy="119948"/>
          </a:xfrm>
          <a:prstGeom prst="rect">
            <a:avLst/>
          </a:prstGeom>
          <a:solidFill>
            <a:srgbClr val="C2352F"/>
          </a:solidFill>
          <a:ln/>
        </p:spPr>
      </p:sp>
      <p:sp>
        <p:nvSpPr>
          <p:cNvPr id="118" name="Text 116"/>
          <p:cNvSpPr txBox="1"/>
          <p:nvPr/>
        </p:nvSpPr>
        <p:spPr>
          <a:xfrm>
            <a:off x="10305288" y="400614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2.5%</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21" name="Shape 119"/>
          <p:cNvSpPr/>
          <p:nvPr/>
        </p:nvSpPr>
        <p:spPr>
          <a:xfrm>
            <a:off x="8558784" y="4306017"/>
            <a:ext cx="206535" cy="119948"/>
          </a:xfrm>
          <a:prstGeom prst="rect">
            <a:avLst/>
          </a:prstGeom>
          <a:solidFill>
            <a:srgbClr val="C2352F"/>
          </a:solidFill>
          <a:ln/>
        </p:spPr>
      </p:sp>
      <p:sp>
        <p:nvSpPr>
          <p:cNvPr id="122" name="Text 120"/>
          <p:cNvSpPr txBox="1"/>
          <p:nvPr/>
        </p:nvSpPr>
        <p:spPr>
          <a:xfrm>
            <a:off x="10305288" y="4246043"/>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1.6%</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25" name="Shape 123"/>
          <p:cNvSpPr/>
          <p:nvPr/>
        </p:nvSpPr>
        <p:spPr>
          <a:xfrm>
            <a:off x="8558784" y="4545913"/>
            <a:ext cx="100839" cy="119948"/>
          </a:xfrm>
          <a:prstGeom prst="rect">
            <a:avLst/>
          </a:prstGeom>
          <a:solidFill>
            <a:srgbClr val="C2352F"/>
          </a:solidFill>
          <a:ln/>
        </p:spPr>
      </p:sp>
      <p:sp>
        <p:nvSpPr>
          <p:cNvPr id="126" name="Text 124"/>
          <p:cNvSpPr txBox="1"/>
          <p:nvPr/>
        </p:nvSpPr>
        <p:spPr>
          <a:xfrm>
            <a:off x="10305288" y="448593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0.8%</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29" name="Shape 127"/>
          <p:cNvSpPr/>
          <p:nvPr/>
        </p:nvSpPr>
        <p:spPr>
          <a:xfrm>
            <a:off x="8558784" y="4785808"/>
            <a:ext cx="87903" cy="119948"/>
          </a:xfrm>
          <a:prstGeom prst="rect">
            <a:avLst/>
          </a:prstGeom>
          <a:solidFill>
            <a:srgbClr val="C2352F"/>
          </a:solidFill>
          <a:ln/>
        </p:spPr>
      </p:sp>
      <p:sp>
        <p:nvSpPr>
          <p:cNvPr id="130" name="Text 128"/>
          <p:cNvSpPr txBox="1"/>
          <p:nvPr/>
        </p:nvSpPr>
        <p:spPr>
          <a:xfrm>
            <a:off x="10305288" y="472583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0.7%</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33" name="Shape 131"/>
          <p:cNvSpPr/>
          <p:nvPr/>
        </p:nvSpPr>
        <p:spPr>
          <a:xfrm>
            <a:off x="8558784" y="5025704"/>
            <a:ext cx="18288" cy="119948"/>
          </a:xfrm>
          <a:prstGeom prst="rect">
            <a:avLst/>
          </a:prstGeom>
          <a:solidFill>
            <a:srgbClr val="C2352F"/>
          </a:solidFill>
          <a:ln/>
        </p:spPr>
      </p:sp>
      <p:sp>
        <p:nvSpPr>
          <p:cNvPr id="134" name="Text 132"/>
          <p:cNvSpPr txBox="1"/>
          <p:nvPr/>
        </p:nvSpPr>
        <p:spPr>
          <a:xfrm>
            <a:off x="10305288"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0.0%</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37" name="Shape 135"/>
          <p:cNvSpPr/>
          <p:nvPr/>
        </p:nvSpPr>
        <p:spPr>
          <a:xfrm>
            <a:off x="8558784" y="5265599"/>
            <a:ext cx="18288" cy="119948"/>
          </a:xfrm>
          <a:prstGeom prst="rect">
            <a:avLst/>
          </a:prstGeom>
          <a:solidFill>
            <a:srgbClr val="C2352F"/>
          </a:solidFill>
          <a:ln/>
        </p:spPr>
      </p:sp>
      <p:sp>
        <p:nvSpPr>
          <p:cNvPr id="138" name="Text 136"/>
          <p:cNvSpPr txBox="1"/>
          <p:nvPr/>
        </p:nvSpPr>
        <p:spPr>
          <a:xfrm>
            <a:off x="10305288"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0.0%</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41" name="Shape 139"/>
          <p:cNvSpPr/>
          <p:nvPr/>
        </p:nvSpPr>
        <p:spPr>
          <a:xfrm>
            <a:off x="8558784" y="5505495"/>
            <a:ext cx="18288" cy="119948"/>
          </a:xfrm>
          <a:prstGeom prst="rect">
            <a:avLst/>
          </a:prstGeom>
          <a:solidFill>
            <a:srgbClr val="C2352F"/>
          </a:solidFill>
          <a:ln/>
        </p:spPr>
      </p:sp>
      <p:sp>
        <p:nvSpPr>
          <p:cNvPr id="142" name="Text 140"/>
          <p:cNvSpPr txBox="1"/>
          <p:nvPr/>
        </p:nvSpPr>
        <p:spPr>
          <a:xfrm>
            <a:off x="10305288"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0.0%</a:t>
            </a:r>
            <a:endParaRPr lang="en-US" sz="1200" dirty="0"/>
          </a:p>
        </p:txBody>
      </p:sp>
      <p:sp>
        <p:nvSpPr>
          <p:cNvPr id="143" name="Shape 141"/>
          <p:cNvSpPr/>
          <p:nvPr/>
        </p:nvSpPr>
        <p:spPr>
          <a:xfrm>
            <a:off x="3917219" y="1847088"/>
            <a:ext cx="14630" cy="4078224"/>
          </a:xfrm>
          <a:prstGeom prst="rect">
            <a:avLst/>
          </a:prstGeom>
          <a:solidFill>
            <a:srgbClr val="0B2C4A"/>
          </a:solidFill>
          <a:ln/>
        </p:spPr>
      </p:sp>
      <p:sp>
        <p:nvSpPr>
          <p:cNvPr id="144" name="Shape 142"/>
          <p:cNvSpPr/>
          <p:nvPr/>
        </p:nvSpPr>
        <p:spPr>
          <a:xfrm>
            <a:off x="9467627" y="1847088"/>
            <a:ext cx="14630" cy="4078224"/>
          </a:xfrm>
          <a:prstGeom prst="rect">
            <a:avLst/>
          </a:prstGeom>
          <a:solidFill>
            <a:srgbClr val="0B2C4A"/>
          </a:solidFill>
          <a:ln/>
        </p:spPr>
      </p:sp>
      <p:sp>
        <p:nvSpPr>
          <p:cNvPr id="145" name="Shape 143"/>
          <p:cNvSpPr/>
          <p:nvPr/>
        </p:nvSpPr>
        <p:spPr>
          <a:xfrm>
            <a:off x="6085332" y="1847088"/>
            <a:ext cx="10973" cy="4078224"/>
          </a:xfrm>
          <a:prstGeom prst="rect">
            <a:avLst/>
          </a:prstGeom>
          <a:solidFill>
            <a:srgbClr val="D9D9D9"/>
          </a:solidFill>
          <a:ln/>
        </p:spPr>
      </p:sp>
      <p:sp>
        <p:nvSpPr>
          <p:cNvPr id="147" name="Shape 144"/>
          <p:cNvSpPr/>
          <p:nvPr/>
        </p:nvSpPr>
        <p:spPr>
          <a:xfrm>
            <a:off x="457200" y="6126480"/>
            <a:ext cx="11274552" cy="371856"/>
          </a:xfrm>
          <a:prstGeom prst="rect">
            <a:avLst/>
          </a:prstGeom>
          <a:solidFill>
            <a:srgbClr val="EDF4FA"/>
          </a:solidFill>
          <a:ln/>
        </p:spPr>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7 of 33 stores at or above 7.5%. The group sits at 5.8%.</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Fuel Service %</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Text 8"/>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13.8%</a:t>
            </a:r>
            <a:endParaRPr lang="en-US" sz="1400" dirty="0"/>
          </a:p>
        </p:txBody>
      </p:sp>
      <p:sp>
        <p:nvSpPr>
          <p:cNvPr id="12" name="Text 10"/>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+13.8 pts</a:t>
            </a:r>
            <a:endParaRPr lang="en-US" sz="1600" dirty="0"/>
          </a:p>
        </p:txBody>
      </p:sp>
      <p:sp>
        <p:nvSpPr>
          <p:cNvPr id="13" name="Shape 11"/>
          <p:cNvSpPr/>
          <p:nvPr/>
        </p:nvSpPr>
        <p:spPr>
          <a:xfrm>
            <a:off x="4084320" y="2968142"/>
            <a:ext cx="64008" cy="755294"/>
          </a:xfrm>
          <a:prstGeom prst="rect">
            <a:avLst/>
          </a:prstGeom>
          <a:solidFill>
            <a:srgbClr val="12A566"/>
          </a:solidFill>
          <a:ln/>
        </p:spPr>
      </p:sp>
      <p:sp>
        <p:nvSpPr>
          <p:cNvPr id="14" name="Text 12"/>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3"/>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8.2%</a:t>
            </a:r>
            <a:endParaRPr lang="en-US" sz="1400" dirty="0"/>
          </a:p>
        </p:txBody>
      </p:sp>
      <p:sp>
        <p:nvSpPr>
          <p:cNvPr id="16" name="Text 14"/>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+6.1 pts</a:t>
            </a:r>
            <a:endParaRPr lang="en-US" sz="1600" dirty="0"/>
          </a:p>
        </p:txBody>
      </p:sp>
      <p:sp>
        <p:nvSpPr>
          <p:cNvPr id="17" name="Shape 15"/>
          <p:cNvSpPr/>
          <p:nvPr/>
        </p:nvSpPr>
        <p:spPr>
          <a:xfrm>
            <a:off x="658368" y="3760013"/>
            <a:ext cx="3489960" cy="828446"/>
          </a:xfrm>
          <a:prstGeom prst="rect">
            <a:avLst/>
          </a:prstGeom>
          <a:solidFill>
            <a:srgbClr val="F7F7F7"/>
          </a:solidFill>
          <a:ln/>
        </p:spPr>
      </p:sp>
      <p:sp>
        <p:nvSpPr>
          <p:cNvPr id="18" name="Text 16"/>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5.5%</a:t>
            </a:r>
            <a:endParaRPr lang="en-US" sz="1400" dirty="0"/>
          </a:p>
        </p:txBody>
      </p:sp>
      <p:sp>
        <p:nvSpPr>
          <p:cNvPr id="20" name="Text 18"/>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+5.3 pts</a:t>
            </a:r>
            <a:endParaRPr lang="en-US" sz="1600" dirty="0"/>
          </a:p>
        </p:txBody>
      </p:sp>
      <p:sp>
        <p:nvSpPr>
          <p:cNvPr id="21" name="Text 19"/>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2" name="Text 20"/>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4.5%</a:t>
            </a:r>
            <a:endParaRPr lang="en-US" sz="1400" dirty="0"/>
          </a:p>
        </p:txBody>
      </p:sp>
      <p:sp>
        <p:nvSpPr>
          <p:cNvPr id="23" name="Text 21"/>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+4.6 pts</a:t>
            </a:r>
            <a:endParaRPr lang="en-US" sz="1600" dirty="0"/>
          </a:p>
        </p:txBody>
      </p:sp>
      <p:sp>
        <p:nvSpPr>
          <p:cNvPr id="24" name="Shape 22"/>
          <p:cNvSpPr/>
          <p:nvPr/>
        </p:nvSpPr>
        <p:spPr>
          <a:xfrm>
            <a:off x="658368" y="5416906"/>
            <a:ext cx="3489960" cy="828446"/>
          </a:xfrm>
          <a:prstGeom prst="rect">
            <a:avLst/>
          </a:prstGeom>
          <a:solidFill>
            <a:srgbClr val="F7F7F7"/>
          </a:solidFill>
          <a:ln/>
        </p:spPr>
      </p:sp>
      <p:sp>
        <p:nvSpPr>
          <p:cNvPr id="25" name="Text 23"/>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6" name="Text 24"/>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9.3%</a:t>
            </a:r>
            <a:endParaRPr lang="en-US" sz="1400" dirty="0"/>
          </a:p>
        </p:txBody>
      </p:sp>
      <p:sp>
        <p:nvSpPr>
          <p:cNvPr id="27" name="Text 25"/>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+4.0 pts</a:t>
            </a:r>
            <a:endParaRPr lang="en-US" sz="1600" dirty="0"/>
          </a:p>
        </p:txBody>
      </p:sp>
      <p:sp>
        <p:nvSpPr>
          <p:cNvPr id="28" name="Shape 26"/>
          <p:cNvSpPr/>
          <p:nvPr/>
        </p:nvSpPr>
        <p:spPr>
          <a:xfrm>
            <a:off x="4349496" y="1371600"/>
            <a:ext cx="3489960" cy="45720"/>
          </a:xfrm>
          <a:prstGeom prst="rect">
            <a:avLst/>
          </a:prstGeom>
          <a:solidFill>
            <a:srgbClr val="C2352F"/>
          </a:solidFill>
          <a:ln/>
        </p:spPr>
      </p:sp>
      <p:sp>
        <p:nvSpPr>
          <p:cNvPr id="29"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0" name="Text 28"/>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1" name="Shape 29"/>
          <p:cNvSpPr/>
          <p:nvPr/>
        </p:nvSpPr>
        <p:spPr>
          <a:xfrm>
            <a:off x="4349496" y="2103120"/>
            <a:ext cx="3489960" cy="828446"/>
          </a:xfrm>
          <a:prstGeom prst="rect">
            <a:avLst/>
          </a:prstGeom>
          <a:solidFill>
            <a:srgbClr val="F7F7F7"/>
          </a:solidFill>
          <a:ln/>
        </p:spPr>
      </p:sp>
      <p:sp>
        <p:nvSpPr>
          <p:cNvPr id="32" name="Text 30"/>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3" name="Text 31"/>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7.0%</a:t>
            </a:r>
            <a:endParaRPr lang="en-US" sz="1400" dirty="0"/>
          </a:p>
        </p:txBody>
      </p:sp>
      <p:sp>
        <p:nvSpPr>
          <p:cNvPr id="34" name="Text 32"/>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−1.1 pts</a:t>
            </a:r>
            <a:endParaRPr lang="en-US" sz="1600" dirty="0"/>
          </a:p>
        </p:txBody>
      </p:sp>
      <p:sp>
        <p:nvSpPr>
          <p:cNvPr id="35" name="Text 33"/>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6" name="Text 34"/>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3.0%</a:t>
            </a:r>
            <a:endParaRPr lang="en-US" sz="1400" dirty="0"/>
          </a:p>
        </p:txBody>
      </p:sp>
      <p:sp>
        <p:nvSpPr>
          <p:cNvPr id="37" name="Text 35"/>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 pts</a:t>
            </a:r>
            <a:endParaRPr lang="en-US" sz="1600" dirty="0"/>
          </a:p>
        </p:txBody>
      </p:sp>
      <p:sp>
        <p:nvSpPr>
          <p:cNvPr id="38" name="Shape 36"/>
          <p:cNvSpPr/>
          <p:nvPr/>
        </p:nvSpPr>
        <p:spPr>
          <a:xfrm>
            <a:off x="4349496" y="3760013"/>
            <a:ext cx="3489960" cy="828446"/>
          </a:xfrm>
          <a:prstGeom prst="rect">
            <a:avLst/>
          </a:prstGeom>
          <a:solidFill>
            <a:srgbClr val="F7F7F7"/>
          </a:solidFill>
          <a:ln/>
        </p:spPr>
      </p:sp>
      <p:sp>
        <p:nvSpPr>
          <p:cNvPr id="39" name="Text 37"/>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0" name="Text 38"/>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5.8%</a:t>
            </a:r>
            <a:endParaRPr lang="en-US" sz="1400" dirty="0"/>
          </a:p>
        </p:txBody>
      </p:sp>
      <p:sp>
        <p:nvSpPr>
          <p:cNvPr id="41" name="Text 39"/>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−0.2 pts</a:t>
            </a:r>
            <a:endParaRPr lang="en-US" sz="1600" dirty="0"/>
          </a:p>
        </p:txBody>
      </p:sp>
      <p:sp>
        <p:nvSpPr>
          <p:cNvPr id="42" name="Text 40"/>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3" name="Text 41"/>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6.0%</a:t>
            </a:r>
            <a:endParaRPr lang="en-US" sz="1400" dirty="0"/>
          </a:p>
        </p:txBody>
      </p:sp>
      <p:sp>
        <p:nvSpPr>
          <p:cNvPr id="44" name="Text 42"/>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−0.1 pts</a:t>
            </a:r>
            <a:endParaRPr lang="en-US" sz="1600" dirty="0"/>
          </a:p>
        </p:txBody>
      </p:sp>
      <p:sp>
        <p:nvSpPr>
          <p:cNvPr id="45" name="Shape 43"/>
          <p:cNvSpPr/>
          <p:nvPr/>
        </p:nvSpPr>
        <p:spPr>
          <a:xfrm>
            <a:off x="4349496" y="5416906"/>
            <a:ext cx="3489960" cy="828446"/>
          </a:xfrm>
          <a:prstGeom prst="rect">
            <a:avLst/>
          </a:prstGeom>
          <a:solidFill>
            <a:srgbClr val="F7F7F7"/>
          </a:solidFill>
          <a:ln/>
        </p:spPr>
      </p:sp>
      <p:sp>
        <p:nvSpPr>
          <p:cNvPr id="46" name="Text 44"/>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7" name="Text 45"/>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0.0%</a:t>
            </a:r>
            <a:endParaRPr lang="en-US" sz="1400" dirty="0"/>
          </a:p>
        </p:txBody>
      </p:sp>
      <p:sp>
        <p:nvSpPr>
          <p:cNvPr id="48" name="Text 46"/>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−0.0 pts</a:t>
            </a:r>
            <a:endParaRPr lang="en-US" sz="1600" dirty="0"/>
          </a:p>
        </p:txBody>
      </p:sp>
      <p:sp>
        <p:nvSpPr>
          <p:cNvPr id="49" name="Shape 47"/>
          <p:cNvSpPr/>
          <p:nvPr/>
        </p:nvSpPr>
        <p:spPr>
          <a:xfrm>
            <a:off x="8040624" y="1371600"/>
            <a:ext cx="3489960" cy="45720"/>
          </a:xfrm>
          <a:prstGeom prst="rect">
            <a:avLst/>
          </a:prstGeom>
          <a:solidFill>
            <a:srgbClr val="2587C5"/>
          </a:solidFill>
          <a:ln/>
        </p:spPr>
      </p:sp>
      <p:sp>
        <p:nvSpPr>
          <p:cNvPr id="50" name="Text 4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1" name="Text 49"/>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52" name="Shape 50"/>
          <p:cNvSpPr/>
          <p:nvPr/>
        </p:nvSpPr>
        <p:spPr>
          <a:xfrm>
            <a:off x="8040624" y="2103120"/>
            <a:ext cx="3489960" cy="828446"/>
          </a:xfrm>
          <a:prstGeom prst="rect">
            <a:avLst/>
          </a:prstGeom>
          <a:solidFill>
            <a:srgbClr val="F7F7F7"/>
          </a:solidFill>
          <a:ln/>
        </p:spPr>
      </p:sp>
      <p:sp>
        <p:nvSpPr>
          <p:cNvPr id="53" name="Text 51"/>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4" name="Text 52"/>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10.6%</a:t>
            </a:r>
            <a:endParaRPr lang="en-US" sz="1400" dirty="0"/>
          </a:p>
        </p:txBody>
      </p:sp>
      <p:sp>
        <p:nvSpPr>
          <p:cNvPr id="55" name="Text 53"/>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+8.1 pts</a:t>
            </a:r>
            <a:endParaRPr lang="en-US" sz="1600" dirty="0"/>
          </a:p>
        </p:txBody>
      </p:sp>
      <p:sp>
        <p:nvSpPr>
          <p:cNvPr id="56" name="Text 54"/>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7" name="Text 55"/>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8.1%</a:t>
            </a:r>
            <a:endParaRPr lang="en-US" sz="1400" dirty="0"/>
          </a:p>
        </p:txBody>
      </p:sp>
      <p:sp>
        <p:nvSpPr>
          <p:cNvPr id="58" name="Text 56"/>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+4.0 pts</a:t>
            </a:r>
            <a:endParaRPr lang="en-US" sz="1600" dirty="0"/>
          </a:p>
        </p:txBody>
      </p:sp>
      <p:sp>
        <p:nvSpPr>
          <p:cNvPr id="59" name="Shape 57"/>
          <p:cNvSpPr/>
          <p:nvPr/>
        </p:nvSpPr>
        <p:spPr>
          <a:xfrm>
            <a:off x="8040624" y="3760013"/>
            <a:ext cx="3489960" cy="828446"/>
          </a:xfrm>
          <a:prstGeom prst="rect">
            <a:avLst/>
          </a:prstGeom>
          <a:solidFill>
            <a:srgbClr val="F7F7F7"/>
          </a:solidFill>
          <a:ln/>
        </p:spPr>
      </p:sp>
      <p:sp>
        <p:nvSpPr>
          <p:cNvPr id="60" name="Text 58"/>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1" name="Text 59"/>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4.8%</a:t>
            </a:r>
            <a:endParaRPr lang="en-US" sz="1400" dirty="0"/>
          </a:p>
        </p:txBody>
      </p:sp>
      <p:sp>
        <p:nvSpPr>
          <p:cNvPr id="62" name="Text 60"/>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+3.7 pts</a:t>
            </a:r>
            <a:endParaRPr lang="en-US" sz="1600" dirty="0"/>
          </a:p>
        </p:txBody>
      </p:sp>
      <p:sp>
        <p:nvSpPr>
          <p:cNvPr id="63" name="Shape 61"/>
          <p:cNvSpPr/>
          <p:nvPr/>
        </p:nvSpPr>
        <p:spPr>
          <a:xfrm>
            <a:off x="11466576" y="4625035"/>
            <a:ext cx="64008" cy="755294"/>
          </a:xfrm>
          <a:prstGeom prst="rect">
            <a:avLst/>
          </a:prstGeom>
          <a:solidFill>
            <a:srgbClr val="12A566"/>
          </a:solidFill>
          <a:ln/>
        </p:spPr>
      </p:sp>
      <p:sp>
        <p:nvSpPr>
          <p:cNvPr id="64" name="Text 62"/>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5" name="Text 63"/>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10.0%</a:t>
            </a:r>
            <a:endParaRPr lang="en-US" sz="1400" dirty="0"/>
          </a:p>
        </p:txBody>
      </p:sp>
      <p:sp>
        <p:nvSpPr>
          <p:cNvPr id="66" name="Text 64"/>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+3.4 pts</a:t>
            </a:r>
            <a:endParaRPr lang="en-US" sz="1600" dirty="0"/>
          </a:p>
        </p:txBody>
      </p:sp>
      <p:sp>
        <p:nvSpPr>
          <p:cNvPr id="67" name="Shape 65"/>
          <p:cNvSpPr/>
          <p:nvPr/>
        </p:nvSpPr>
        <p:spPr>
          <a:xfrm>
            <a:off x="8040624" y="5416906"/>
            <a:ext cx="3489960" cy="828446"/>
          </a:xfrm>
          <a:prstGeom prst="rect">
            <a:avLst/>
          </a:prstGeom>
          <a:solidFill>
            <a:srgbClr val="F7F7F7"/>
          </a:solidFill>
          <a:ln/>
        </p:spPr>
      </p:sp>
      <p:sp>
        <p:nvSpPr>
          <p:cNvPr id="68" name="Text 66"/>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69" name="Text 67"/>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2.4%</a:t>
            </a:r>
            <a:endParaRPr lang="en-US" sz="1400" dirty="0"/>
          </a:p>
        </p:txBody>
      </p:sp>
      <p:sp>
        <p:nvSpPr>
          <p:cNvPr id="70" name="Text 68"/>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+2.5 pts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2026-10-27T23:33:43Z</dcterms:created>
  <dcterms:modified xsi:type="dcterms:W3CDTF">2026-10-27T23:33:43Z</dcterms:modified>
</cp:coreProperties>
</file>