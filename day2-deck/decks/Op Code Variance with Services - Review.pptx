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Rate = Jan-Sep closing %; green / red bar = top / bottom three by rate. Opcodes = opcodes Jan-Sep above (+) or below (-) the benchmark (benchmark x CP ROs vs services sold).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Rate = Jan-Sep closing %; green / red bar = top / bottom three by rate. Gray bar = the manufacturer doesn't call for tire balance at that store (VOLVO, AUDI HENDERSON, VW HENDERSON, AUDI RENO); red = the three lowest after them. Opcodes = opcodes Jan-Sep above (+) or below (-) the benchmark (benchmark x CP ROs vs services sold).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Rate = Jan-Sep closing %; green / red bar = top / bottom three by rate. Opcodes = opcodes Jan-Sep above (+) or below (-) the benchmark (benchmark x CP ROs vs services sold).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Rate = Jan-Sep closing %; green / red bar = top / bottom three by rate. Opcodes = opcodes Jan-Sep above (+) or below (-) the benchmark (benchmark x CP ROs vs services sold).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 Toyota Spokane is furthest below at −$169K.</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Shape 63"/>
          <p:cNvSpPr/>
          <p:nvPr/>
        </p:nvSpPr>
        <p:spPr>
          <a:xfrm>
            <a:off x="5971032" y="3486016"/>
            <a:ext cx="54864" cy="157062"/>
          </a:xfrm>
          <a:prstGeom prst="rect">
            <a:avLst/>
          </a:prstGeom>
          <a:solidFill>
            <a:srgbClr val="9AA3AD"/>
          </a:solidFill>
          <a:ln/>
        </p:spPr>
      </p:sp>
      <p:sp>
        <p:nvSpPr>
          <p:cNvPr id="66" name="Text 64"/>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7" name="Text 65"/>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8" name="Shape 66"/>
          <p:cNvSpPr/>
          <p:nvPr/>
        </p:nvSpPr>
        <p:spPr>
          <a:xfrm>
            <a:off x="3192966" y="3744710"/>
            <a:ext cx="20716" cy="136676"/>
          </a:xfrm>
          <a:prstGeom prst="rect">
            <a:avLst/>
          </a:prstGeom>
          <a:solidFill>
            <a:srgbClr val="C2352F"/>
          </a:solidFill>
          <a:ln/>
        </p:spPr>
      </p:sp>
      <p:sp>
        <p:nvSpPr>
          <p:cNvPr id="69" name="Text 67"/>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70" name="Text 68"/>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1" name="Text 69"/>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2" name="Text 70"/>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3" name="Text 71"/>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4" name="Shape 72"/>
          <p:cNvSpPr/>
          <p:nvPr/>
        </p:nvSpPr>
        <p:spPr>
          <a:xfrm>
            <a:off x="3186478" y="3993212"/>
            <a:ext cx="27204" cy="136676"/>
          </a:xfrm>
          <a:prstGeom prst="rect">
            <a:avLst/>
          </a:prstGeom>
          <a:solidFill>
            <a:srgbClr val="C2352F"/>
          </a:solidFill>
          <a:ln/>
        </p:spPr>
      </p:sp>
      <p:sp>
        <p:nvSpPr>
          <p:cNvPr id="75" name="Text 73"/>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6" name="Text 74"/>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7" name="Text 75"/>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8" name="Text 7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9" name="Text 77"/>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0" name="Shape 78"/>
          <p:cNvSpPr/>
          <p:nvPr/>
        </p:nvSpPr>
        <p:spPr>
          <a:xfrm>
            <a:off x="3178674" y="4241713"/>
            <a:ext cx="35008" cy="136676"/>
          </a:xfrm>
          <a:prstGeom prst="rect">
            <a:avLst/>
          </a:prstGeom>
          <a:solidFill>
            <a:srgbClr val="C2352F"/>
          </a:solidFill>
          <a:ln/>
        </p:spPr>
      </p:sp>
      <p:sp>
        <p:nvSpPr>
          <p:cNvPr id="81" name="Text 79"/>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2" name="Text 80"/>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3" name="Text 81"/>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4" name="Text 8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5" name="Text 83"/>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3173922" y="4490215"/>
            <a:ext cx="39760" cy="136676"/>
          </a:xfrm>
          <a:prstGeom prst="rect">
            <a:avLst/>
          </a:prstGeom>
          <a:solidFill>
            <a:srgbClr val="C2352F"/>
          </a:solidFill>
          <a:ln/>
        </p:spPr>
      </p:sp>
      <p:sp>
        <p:nvSpPr>
          <p:cNvPr id="87" name="Text 85"/>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8" name="Text 86"/>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9" name="Text 87"/>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90" name="Text 88"/>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1" name="Text 89"/>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162501" y="4738717"/>
            <a:ext cx="51181" cy="136676"/>
          </a:xfrm>
          <a:prstGeom prst="rect">
            <a:avLst/>
          </a:prstGeom>
          <a:solidFill>
            <a:srgbClr val="C2352F"/>
          </a:solidFill>
          <a:ln/>
        </p:spPr>
      </p:sp>
      <p:sp>
        <p:nvSpPr>
          <p:cNvPr id="93" name="Text 91"/>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4" name="Text 92"/>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5" name="Text 93"/>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6" name="Text 94"/>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7" name="Text 95"/>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3161512" y="4987218"/>
            <a:ext cx="52170" cy="136676"/>
          </a:xfrm>
          <a:prstGeom prst="rect">
            <a:avLst/>
          </a:prstGeom>
          <a:solidFill>
            <a:srgbClr val="C2352F"/>
          </a:solidFill>
          <a:ln/>
        </p:spPr>
      </p:sp>
      <p:sp>
        <p:nvSpPr>
          <p:cNvPr id="99" name="Text 97"/>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0" name="Text 98"/>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1" name="Text 9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2" name="Shape 100"/>
          <p:cNvSpPr/>
          <p:nvPr/>
        </p:nvSpPr>
        <p:spPr>
          <a:xfrm>
            <a:off x="5971032" y="4977025"/>
            <a:ext cx="54864" cy="157062"/>
          </a:xfrm>
          <a:prstGeom prst="rect">
            <a:avLst/>
          </a:prstGeom>
          <a:solidFill>
            <a:srgbClr val="9AA3AD"/>
          </a:solidFill>
          <a:ln/>
        </p:spPr>
      </p:sp>
      <p:sp>
        <p:nvSpPr>
          <p:cNvPr id="103" name="Text 101"/>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4" name="Text 102"/>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5" name="Shape 103"/>
          <p:cNvSpPr/>
          <p:nvPr/>
        </p:nvSpPr>
        <p:spPr>
          <a:xfrm>
            <a:off x="3160641" y="5235720"/>
            <a:ext cx="53041" cy="136676"/>
          </a:xfrm>
          <a:prstGeom prst="rect">
            <a:avLst/>
          </a:prstGeom>
          <a:solidFill>
            <a:srgbClr val="C2352F"/>
          </a:solidFill>
          <a:ln/>
        </p:spPr>
      </p:sp>
      <p:sp>
        <p:nvSpPr>
          <p:cNvPr id="106" name="Text 104"/>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7" name="Text 105"/>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8" name="Text 106"/>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9" name="Shape 107"/>
          <p:cNvSpPr/>
          <p:nvPr/>
        </p:nvSpPr>
        <p:spPr>
          <a:xfrm>
            <a:off x="5971032" y="5225527"/>
            <a:ext cx="54864" cy="157062"/>
          </a:xfrm>
          <a:prstGeom prst="rect">
            <a:avLst/>
          </a:prstGeom>
          <a:solidFill>
            <a:srgbClr val="C2352F"/>
          </a:solidFill>
          <a:ln/>
        </p:spPr>
      </p:sp>
      <p:sp>
        <p:nvSpPr>
          <p:cNvPr id="110" name="Text 10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1" name="Text 109"/>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2" name="Shape 110"/>
          <p:cNvSpPr/>
          <p:nvPr/>
        </p:nvSpPr>
        <p:spPr>
          <a:xfrm>
            <a:off x="3154916" y="5484222"/>
            <a:ext cx="58766" cy="136676"/>
          </a:xfrm>
          <a:prstGeom prst="rect">
            <a:avLst/>
          </a:prstGeom>
          <a:solidFill>
            <a:srgbClr val="C2352F"/>
          </a:solidFill>
          <a:ln/>
        </p:spPr>
      </p:sp>
      <p:sp>
        <p:nvSpPr>
          <p:cNvPr id="113" name="Text 111"/>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4" name="Text 112"/>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5" name="Text 113"/>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6" name="Text 114"/>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3145678" y="5732723"/>
            <a:ext cx="68004" cy="136676"/>
          </a:xfrm>
          <a:prstGeom prst="rect">
            <a:avLst/>
          </a:prstGeom>
          <a:solidFill>
            <a:srgbClr val="C2352F"/>
          </a:solidFill>
          <a:ln/>
        </p:spPr>
      </p:sp>
      <p:sp>
        <p:nvSpPr>
          <p:cNvPr id="119" name="Text 117"/>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20" name="Text 118"/>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21" name="Text 119"/>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2" name="Text 120"/>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4" name="Shape 122"/>
          <p:cNvSpPr/>
          <p:nvPr/>
        </p:nvSpPr>
        <p:spPr>
          <a:xfrm>
            <a:off x="8691164" y="1756697"/>
            <a:ext cx="72926" cy="136676"/>
          </a:xfrm>
          <a:prstGeom prst="rect">
            <a:avLst/>
          </a:prstGeom>
          <a:solidFill>
            <a:srgbClr val="C2352F"/>
          </a:solidFill>
          <a:ln/>
        </p:spPr>
      </p:sp>
      <p:sp>
        <p:nvSpPr>
          <p:cNvPr id="125" name="Text 123"/>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6" name="Text 124"/>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7" name="Text 125"/>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8" name="Text 126"/>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9" name="Text 127"/>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0" name="Shape 128"/>
          <p:cNvSpPr/>
          <p:nvPr/>
        </p:nvSpPr>
        <p:spPr>
          <a:xfrm>
            <a:off x="8665461" y="2005199"/>
            <a:ext cx="98629" cy="136676"/>
          </a:xfrm>
          <a:prstGeom prst="rect">
            <a:avLst/>
          </a:prstGeom>
          <a:solidFill>
            <a:srgbClr val="C2352F"/>
          </a:solidFill>
          <a:ln/>
        </p:spPr>
      </p:sp>
      <p:sp>
        <p:nvSpPr>
          <p:cNvPr id="131" name="Text 129"/>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2" name="Text 130"/>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3" name="Text 131"/>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4" name="Text 13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6" name="Shape 134"/>
          <p:cNvSpPr/>
          <p:nvPr/>
        </p:nvSpPr>
        <p:spPr>
          <a:xfrm>
            <a:off x="8665163" y="2253700"/>
            <a:ext cx="98927" cy="136676"/>
          </a:xfrm>
          <a:prstGeom prst="rect">
            <a:avLst/>
          </a:prstGeom>
          <a:solidFill>
            <a:srgbClr val="C2352F"/>
          </a:solidFill>
          <a:ln/>
        </p:spPr>
      </p:sp>
      <p:sp>
        <p:nvSpPr>
          <p:cNvPr id="137" name="Text 135"/>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8" name="Text 136"/>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9" name="Text 137"/>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40" name="Shape 138"/>
          <p:cNvSpPr/>
          <p:nvPr/>
        </p:nvSpPr>
        <p:spPr>
          <a:xfrm>
            <a:off x="11521440" y="2243507"/>
            <a:ext cx="54864" cy="157062"/>
          </a:xfrm>
          <a:prstGeom prst="rect">
            <a:avLst/>
          </a:prstGeom>
          <a:solidFill>
            <a:srgbClr val="9AA3AD"/>
          </a:solidFill>
          <a:ln/>
        </p:spPr>
      </p:sp>
      <p:sp>
        <p:nvSpPr>
          <p:cNvPr id="141" name="Text 139"/>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2" name="Text 140"/>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3" name="Shape 141"/>
          <p:cNvSpPr/>
          <p:nvPr/>
        </p:nvSpPr>
        <p:spPr>
          <a:xfrm>
            <a:off x="8656843" y="2502202"/>
            <a:ext cx="107247" cy="136676"/>
          </a:xfrm>
          <a:prstGeom prst="rect">
            <a:avLst/>
          </a:prstGeom>
          <a:solidFill>
            <a:srgbClr val="C2352F"/>
          </a:solidFill>
          <a:ln/>
        </p:spPr>
      </p:sp>
      <p:sp>
        <p:nvSpPr>
          <p:cNvPr id="144" name="Text 142"/>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5" name="Text 143"/>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6" name="Text 14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7" name="Shape 145"/>
          <p:cNvSpPr/>
          <p:nvPr/>
        </p:nvSpPr>
        <p:spPr>
          <a:xfrm>
            <a:off x="11521440" y="2492009"/>
            <a:ext cx="54864" cy="157062"/>
          </a:xfrm>
          <a:prstGeom prst="rect">
            <a:avLst/>
          </a:prstGeom>
          <a:solidFill>
            <a:srgbClr val="9AA3AD"/>
          </a:solidFill>
          <a:ln/>
        </p:spPr>
      </p:sp>
      <p:sp>
        <p:nvSpPr>
          <p:cNvPr id="148" name="Text 14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9" name="Text 14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0" name="Shape 148"/>
          <p:cNvSpPr/>
          <p:nvPr/>
        </p:nvSpPr>
        <p:spPr>
          <a:xfrm>
            <a:off x="8634865" y="2750703"/>
            <a:ext cx="129225" cy="136676"/>
          </a:xfrm>
          <a:prstGeom prst="rect">
            <a:avLst/>
          </a:prstGeom>
          <a:solidFill>
            <a:srgbClr val="C2352F"/>
          </a:solidFill>
          <a:ln/>
        </p:spPr>
      </p:sp>
      <p:sp>
        <p:nvSpPr>
          <p:cNvPr id="151" name="Text 149"/>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2" name="Text 150"/>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3" name="Text 151"/>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4" name="Text 15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5" name="Text 15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6" name="Shape 154"/>
          <p:cNvSpPr/>
          <p:nvPr/>
        </p:nvSpPr>
        <p:spPr>
          <a:xfrm>
            <a:off x="8634819" y="2999205"/>
            <a:ext cx="129271" cy="136676"/>
          </a:xfrm>
          <a:prstGeom prst="rect">
            <a:avLst/>
          </a:prstGeom>
          <a:solidFill>
            <a:srgbClr val="C2352F"/>
          </a:solidFill>
          <a:ln/>
        </p:spPr>
      </p:sp>
      <p:sp>
        <p:nvSpPr>
          <p:cNvPr id="157" name="Text 155"/>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8" name="Text 156"/>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9" name="Text 157"/>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0" name="Shape 158"/>
          <p:cNvSpPr/>
          <p:nvPr/>
        </p:nvSpPr>
        <p:spPr>
          <a:xfrm>
            <a:off x="11521440" y="2989012"/>
            <a:ext cx="54864" cy="157062"/>
          </a:xfrm>
          <a:prstGeom prst="rect">
            <a:avLst/>
          </a:prstGeom>
          <a:solidFill>
            <a:srgbClr val="C2352F"/>
          </a:solidFill>
          <a:ln/>
        </p:spPr>
      </p:sp>
      <p:sp>
        <p:nvSpPr>
          <p:cNvPr id="161" name="Text 159"/>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2" name="Text 160"/>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627320" y="3247707"/>
            <a:ext cx="136770" cy="136676"/>
          </a:xfrm>
          <a:prstGeom prst="rect">
            <a:avLst/>
          </a:prstGeom>
          <a:solidFill>
            <a:srgbClr val="C2352F"/>
          </a:solidFill>
          <a:ln/>
        </p:spPr>
      </p:sp>
      <p:sp>
        <p:nvSpPr>
          <p:cNvPr id="164" name="Text 162"/>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5" name="Text 163"/>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6" name="Text 164"/>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8" name="Text 166"/>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9" name="Shape 167"/>
          <p:cNvSpPr/>
          <p:nvPr/>
        </p:nvSpPr>
        <p:spPr>
          <a:xfrm>
            <a:off x="8624415" y="3496208"/>
            <a:ext cx="139675" cy="136676"/>
          </a:xfrm>
          <a:prstGeom prst="rect">
            <a:avLst/>
          </a:prstGeom>
          <a:solidFill>
            <a:srgbClr val="C2352F"/>
          </a:solidFill>
          <a:ln/>
        </p:spPr>
      </p:sp>
      <p:sp>
        <p:nvSpPr>
          <p:cNvPr id="170" name="Text 168"/>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71" name="Text 169"/>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2" name="Text 170"/>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3" name="Text 171"/>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4" name="Text 172"/>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5" name="Shape 173"/>
          <p:cNvSpPr/>
          <p:nvPr/>
        </p:nvSpPr>
        <p:spPr>
          <a:xfrm>
            <a:off x="8617980" y="3744710"/>
            <a:ext cx="146110" cy="136676"/>
          </a:xfrm>
          <a:prstGeom prst="rect">
            <a:avLst/>
          </a:prstGeom>
          <a:solidFill>
            <a:srgbClr val="C2352F"/>
          </a:solidFill>
          <a:ln/>
        </p:spPr>
      </p:sp>
      <p:sp>
        <p:nvSpPr>
          <p:cNvPr id="176" name="Text 174"/>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7" name="Text 175"/>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8" name="Text 176"/>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9" name="Text 177"/>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80" name="Text 178"/>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1" name="Shape 179"/>
          <p:cNvSpPr/>
          <p:nvPr/>
        </p:nvSpPr>
        <p:spPr>
          <a:xfrm>
            <a:off x="8611516" y="3993212"/>
            <a:ext cx="152574" cy="136676"/>
          </a:xfrm>
          <a:prstGeom prst="rect">
            <a:avLst/>
          </a:prstGeom>
          <a:solidFill>
            <a:srgbClr val="C2352F"/>
          </a:solidFill>
          <a:ln/>
        </p:spPr>
      </p:sp>
      <p:sp>
        <p:nvSpPr>
          <p:cNvPr id="182" name="Text 180"/>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3" name="Text 181"/>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4" name="Text 182"/>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5" name="Text 183"/>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6" name="Text 184"/>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561522" y="4241713"/>
            <a:ext cx="202569" cy="136676"/>
          </a:xfrm>
          <a:prstGeom prst="rect">
            <a:avLst/>
          </a:prstGeom>
          <a:solidFill>
            <a:srgbClr val="C2352F"/>
          </a:solidFill>
          <a:ln/>
        </p:spPr>
      </p:sp>
      <p:sp>
        <p:nvSpPr>
          <p:cNvPr id="188" name="Text 186"/>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9" name="Text 187"/>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90" name="Text 188"/>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91" name="Text 189"/>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2" name="Text 190"/>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3" name="Shape 191"/>
          <p:cNvSpPr/>
          <p:nvPr/>
        </p:nvSpPr>
        <p:spPr>
          <a:xfrm>
            <a:off x="8556261" y="4490215"/>
            <a:ext cx="207830" cy="136676"/>
          </a:xfrm>
          <a:prstGeom prst="rect">
            <a:avLst/>
          </a:prstGeom>
          <a:solidFill>
            <a:srgbClr val="C2352F"/>
          </a:solidFill>
          <a:ln/>
        </p:spPr>
      </p:sp>
      <p:sp>
        <p:nvSpPr>
          <p:cNvPr id="194" name="Text 192"/>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5" name="Text 193"/>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6" name="Text 19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7" name="Text 19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8" name="Text 196"/>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9" name="Shape 197"/>
          <p:cNvSpPr/>
          <p:nvPr/>
        </p:nvSpPr>
        <p:spPr>
          <a:xfrm>
            <a:off x="8526056" y="4738717"/>
            <a:ext cx="238034" cy="136676"/>
          </a:xfrm>
          <a:prstGeom prst="rect">
            <a:avLst/>
          </a:prstGeom>
          <a:solidFill>
            <a:srgbClr val="C2352F"/>
          </a:solidFill>
          <a:ln/>
        </p:spPr>
      </p:sp>
      <p:sp>
        <p:nvSpPr>
          <p:cNvPr id="200" name="Text 198"/>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201" name="Text 199"/>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2" name="Text 200"/>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5" name="Shape 203"/>
          <p:cNvSpPr/>
          <p:nvPr/>
        </p:nvSpPr>
        <p:spPr>
          <a:xfrm>
            <a:off x="8511929" y="4987218"/>
            <a:ext cx="252161"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9" name="Text 207"/>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0" name="Text 208"/>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1" name="Shape 209"/>
          <p:cNvSpPr/>
          <p:nvPr/>
        </p:nvSpPr>
        <p:spPr>
          <a:xfrm>
            <a:off x="8483276" y="5235720"/>
            <a:ext cx="280814" cy="136676"/>
          </a:xfrm>
          <a:prstGeom prst="rect">
            <a:avLst/>
          </a:prstGeom>
          <a:solidFill>
            <a:srgbClr val="C2352F"/>
          </a:solidFill>
          <a:ln/>
        </p:spPr>
      </p:sp>
      <p:sp>
        <p:nvSpPr>
          <p:cNvPr id="212" name="Text 210"/>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3" name="Text 211"/>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4" name="Text 212"/>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5" name="Text 213"/>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6" name="Text 214"/>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7" name="Shape 215"/>
          <p:cNvSpPr/>
          <p:nvPr/>
        </p:nvSpPr>
        <p:spPr>
          <a:xfrm>
            <a:off x="8421624" y="5484222"/>
            <a:ext cx="342466" cy="136676"/>
          </a:xfrm>
          <a:prstGeom prst="rect">
            <a:avLst/>
          </a:prstGeom>
          <a:solidFill>
            <a:srgbClr val="C2352F"/>
          </a:solidFill>
          <a:ln/>
        </p:spPr>
      </p:sp>
      <p:sp>
        <p:nvSpPr>
          <p:cNvPr id="218" name="Text 216"/>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9" name="Text 217"/>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20" name="Text 218"/>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21" name="Shape 219"/>
          <p:cNvSpPr/>
          <p:nvPr/>
        </p:nvSpPr>
        <p:spPr>
          <a:xfrm>
            <a:off x="11521440" y="5474029"/>
            <a:ext cx="54864" cy="157062"/>
          </a:xfrm>
          <a:prstGeom prst="rect">
            <a:avLst/>
          </a:prstGeom>
          <a:solidFill>
            <a:srgbClr val="C2352F"/>
          </a:solidFill>
          <a:ln/>
        </p:spPr>
      </p:sp>
      <p:sp>
        <p:nvSpPr>
          <p:cNvPr id="222" name="Shape 220"/>
          <p:cNvSpPr/>
          <p:nvPr/>
        </p:nvSpPr>
        <p:spPr>
          <a:xfrm>
            <a:off x="6085332" y="1700784"/>
            <a:ext cx="10973" cy="4224528"/>
          </a:xfrm>
          <a:prstGeom prst="rect">
            <a:avLst/>
          </a:prstGeom>
          <a:solidFill>
            <a:srgbClr val="D9D9D9"/>
          </a:solidFill>
          <a:ln/>
        </p:spPr>
      </p:sp>
      <p:sp>
        <p:nvSpPr>
          <p:cNvPr id="223" name="Shape 221"/>
          <p:cNvSpPr/>
          <p:nvPr/>
        </p:nvSpPr>
        <p:spPr>
          <a:xfrm>
            <a:off x="457200" y="6126480"/>
            <a:ext cx="11274552" cy="615696"/>
          </a:xfrm>
          <a:prstGeom prst="rect">
            <a:avLst/>
          </a:prstGeom>
          <a:solidFill>
            <a:srgbClr val="FBEBEA"/>
          </a:solidFill>
          <a:ln/>
        </p:spPr>
      </p:sp>
      <p:sp>
        <p:nvSpPr>
          <p:cNvPr id="224" name="Text 2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 Toyota Spokane is furthest below at −$135K.</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 Chevy LV is furthest below at −$113K.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61923" y="2005199"/>
            <a:ext cx="66649"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3773" y="2253700"/>
            <a:ext cx="74798"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9" name="Shape 137"/>
          <p:cNvSpPr/>
          <p:nvPr/>
        </p:nvSpPr>
        <p:spPr>
          <a:xfrm>
            <a:off x="8547178" y="2502202"/>
            <a:ext cx="81394"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3" name="Shape 141"/>
          <p:cNvSpPr/>
          <p:nvPr/>
        </p:nvSpPr>
        <p:spPr>
          <a:xfrm>
            <a:off x="11521440" y="2492009"/>
            <a:ext cx="54864" cy="157062"/>
          </a:xfrm>
          <a:prstGeom prst="rect">
            <a:avLst/>
          </a:prstGeom>
          <a:solidFill>
            <a:srgbClr val="C2352F"/>
          </a:solidFill>
          <a:ln/>
        </p:spPr>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47001" y="2750703"/>
            <a:ext cx="81571"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8541404" y="2999205"/>
            <a:ext cx="87168"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8" name="Shape 156"/>
          <p:cNvSpPr/>
          <p:nvPr/>
        </p:nvSpPr>
        <p:spPr>
          <a:xfrm>
            <a:off x="8538750" y="3247707"/>
            <a:ext cx="89822"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4" name="Shape 162"/>
          <p:cNvSpPr/>
          <p:nvPr/>
        </p:nvSpPr>
        <p:spPr>
          <a:xfrm>
            <a:off x="8538158" y="3496208"/>
            <a:ext cx="90414"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8" name="Shape 166"/>
          <p:cNvSpPr/>
          <p:nvPr/>
        </p:nvSpPr>
        <p:spPr>
          <a:xfrm>
            <a:off x="11521440" y="3486016"/>
            <a:ext cx="54864" cy="157062"/>
          </a:xfrm>
          <a:prstGeom prst="rect">
            <a:avLst/>
          </a:prstGeom>
          <a:solidFill>
            <a:srgbClr val="C2352F"/>
          </a:solidFill>
          <a:ln/>
        </p:spPr>
      </p:sp>
      <p:sp>
        <p:nvSpPr>
          <p:cNvPr id="169" name="Text 167"/>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0" name="Text 168"/>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1" name="Shape 169"/>
          <p:cNvSpPr/>
          <p:nvPr/>
        </p:nvSpPr>
        <p:spPr>
          <a:xfrm>
            <a:off x="8536111" y="3744710"/>
            <a:ext cx="92460" cy="136676"/>
          </a:xfrm>
          <a:prstGeom prst="rect">
            <a:avLst/>
          </a:prstGeom>
          <a:solidFill>
            <a:srgbClr val="C2352F"/>
          </a:solidFill>
          <a:ln/>
        </p:spPr>
      </p:sp>
      <p:sp>
        <p:nvSpPr>
          <p:cNvPr id="172" name="Text 170"/>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3" name="Text 171"/>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4" name="Text 172"/>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5" name="Text 17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6" name="Text 174"/>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77" name="Shape 175"/>
          <p:cNvSpPr/>
          <p:nvPr/>
        </p:nvSpPr>
        <p:spPr>
          <a:xfrm>
            <a:off x="8533760" y="3993212"/>
            <a:ext cx="94812" cy="136676"/>
          </a:xfrm>
          <a:prstGeom prst="rect">
            <a:avLst/>
          </a:prstGeom>
          <a:solidFill>
            <a:srgbClr val="C2352F"/>
          </a:solidFill>
          <a:ln/>
        </p:spPr>
      </p:sp>
      <p:sp>
        <p:nvSpPr>
          <p:cNvPr id="178" name="Text 176"/>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79" name="Text 177"/>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0" name="Text 178"/>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1" name="Text 179"/>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2" name="Text 180"/>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3" name="Shape 181"/>
          <p:cNvSpPr/>
          <p:nvPr/>
        </p:nvSpPr>
        <p:spPr>
          <a:xfrm>
            <a:off x="8519388" y="4241713"/>
            <a:ext cx="109184" cy="136676"/>
          </a:xfrm>
          <a:prstGeom prst="rect">
            <a:avLst/>
          </a:prstGeom>
          <a:solidFill>
            <a:srgbClr val="C2352F"/>
          </a:solidFill>
          <a:ln/>
        </p:spPr>
      </p:sp>
      <p:sp>
        <p:nvSpPr>
          <p:cNvPr id="184" name="Text 182"/>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5" name="Text 183"/>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6" name="Text 184"/>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9" name="Shape 187"/>
          <p:cNvSpPr/>
          <p:nvPr/>
        </p:nvSpPr>
        <p:spPr>
          <a:xfrm>
            <a:off x="8518626" y="4490215"/>
            <a:ext cx="109946"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5" name="Shape 193"/>
          <p:cNvSpPr/>
          <p:nvPr/>
        </p:nvSpPr>
        <p:spPr>
          <a:xfrm>
            <a:off x="8505476" y="4738717"/>
            <a:ext cx="123095"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99" name="Shape 197"/>
          <p:cNvSpPr/>
          <p:nvPr/>
        </p:nvSpPr>
        <p:spPr>
          <a:xfrm>
            <a:off x="11521440" y="4728524"/>
            <a:ext cx="54864" cy="157062"/>
          </a:xfrm>
          <a:prstGeom prst="rect">
            <a:avLst/>
          </a:prstGeom>
          <a:solidFill>
            <a:srgbClr val="C2352F"/>
          </a:solidFill>
          <a:ln/>
        </p:spPr>
      </p:sp>
      <p:sp>
        <p:nvSpPr>
          <p:cNvPr id="200" name="Text 19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1" name="Text 199"/>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2" name="Shape 200"/>
          <p:cNvSpPr/>
          <p:nvPr/>
        </p:nvSpPr>
        <p:spPr>
          <a:xfrm>
            <a:off x="8470218" y="4987218"/>
            <a:ext cx="158353" cy="136676"/>
          </a:xfrm>
          <a:prstGeom prst="rect">
            <a:avLst/>
          </a:prstGeom>
          <a:solidFill>
            <a:srgbClr val="C2352F"/>
          </a:solidFill>
          <a:ln/>
        </p:spPr>
      </p:sp>
      <p:sp>
        <p:nvSpPr>
          <p:cNvPr id="203" name="Text 201"/>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4" name="Text 202"/>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5" name="Text 203"/>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8" name="Shape 206"/>
          <p:cNvSpPr/>
          <p:nvPr/>
        </p:nvSpPr>
        <p:spPr>
          <a:xfrm>
            <a:off x="8441579" y="5235720"/>
            <a:ext cx="186992"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206947"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 Chevy LV is furthest below at −$107K.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2026-10-26T23:54:23Z</dcterms:created>
  <dcterms:modified xsi:type="dcterms:W3CDTF">2026-10-26T23:54:23Z</dcterms:modified>
</cp:coreProperties>
</file>