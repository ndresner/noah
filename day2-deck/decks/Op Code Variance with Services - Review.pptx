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Alignment: every store, gross a year above (+) or below (-) the benchmark at the store's own gross per service. Rate = Jan-Sep closing %. Services = services a year above (+) or below (-) the benchmark (benchmark x CP ROs vs services sold, x 12/9).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Tire Balance: every store, gross a year above (+) or below (-) the benchmark at the store's own gross per service. Rate = Jan-Sep closing %. Services = services a year above (+) or below (-) the benchmark (benchmark x CP ROs vs services sold, x 12/9).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Brake Fluid: every store, gross a year above (+) or below (-) the benchmark at the store's own gross per service. Rate = Jan-Sep closing %. Services = services a year above (+) or below (-) the benchmark (benchmark x CP ROs vs services sold, x 12/9).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Fuel System Service: every store, gross a year above (+) or below (-) the benchmark at the store's own gross per service. Rate = Jan-Sep closing %. Services = services a year above (+) or below (-) the benchmark (benchmark x CP ROs vs services sold, x 12/9).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01568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47488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1770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51976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95781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97896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52178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7256" y="1756697"/>
            <a:ext cx="23944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01568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+$229K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21.3%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+1,896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7256" y="2005199"/>
            <a:ext cx="171145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01568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+$163K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27.5%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+631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7256" y="2253700"/>
            <a:ext cx="43486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01568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+$42K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21.7%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47488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07256" y="2502202"/>
            <a:ext cx="42955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+$41K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40740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047488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+196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07256" y="2750703"/>
            <a:ext cx="28061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401568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+$27K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40740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16.1%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047488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+238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14984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07256" y="2999205"/>
            <a:ext cx="24562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401568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+$23K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40740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17.3%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047488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+111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107256" y="3247707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401568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+$17K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40740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16.6%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047488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+129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7256" y="3496208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401568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+$14K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40740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17.5%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047488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+123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106350" y="3744710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401568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−$865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440740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14.8%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047488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99652" y="3993212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3401568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−$7K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40740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047488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−51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1014984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097689" y="4241713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3401568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−$9K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440740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5047488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−79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14984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097021" y="4490215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401568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−$10K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40740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047488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−83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1014984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096351" y="4738717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401568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−$10K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047488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−40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3095214" y="4987218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401568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−$11K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047488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−135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1014984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3094596" y="5235720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3401568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−$12K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40740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5047488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−165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1014984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3088641" y="5484222"/>
            <a:ext cx="1861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3401568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40740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5047488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−240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1014984" y="567681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085312" y="5732723"/>
            <a:ext cx="2194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3401568" y="567681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440740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11.0%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5047488" y="567681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−210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633950" y="1756697"/>
            <a:ext cx="2371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951976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−$23K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995781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11.0%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597896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−291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633099" y="2005199"/>
            <a:ext cx="2456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8951976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−$23K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995781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10597896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−96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631100" y="2253700"/>
            <a:ext cx="2656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8951976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−$25K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995781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10597896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−324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565392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630107" y="2502202"/>
            <a:ext cx="2755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8951976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−$26K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995781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597896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−230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623463" y="2750703"/>
            <a:ext cx="3420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8951976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−$33K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95781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11.3%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597896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−221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622934" y="2999205"/>
            <a:ext cx="3473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8951976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−$33K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97896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−326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8621687" y="3247707"/>
            <a:ext cx="3597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8951976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−$34K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11.8%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97896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−149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6565392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60" name="Shape 158"/>
          <p:cNvSpPr/>
          <p:nvPr/>
        </p:nvSpPr>
        <p:spPr>
          <a:xfrm>
            <a:off x="8619605" y="3496208"/>
            <a:ext cx="3805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8951976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−$36K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995781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300" dirty="0"/>
          </a:p>
        </p:txBody>
      </p:sp>
      <p:sp>
        <p:nvSpPr>
          <p:cNvPr id="163" name="Text 161"/>
          <p:cNvSpPr txBox="1"/>
          <p:nvPr/>
        </p:nvSpPr>
        <p:spPr>
          <a:xfrm>
            <a:off x="10597896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−294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565392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8617628" y="3744710"/>
            <a:ext cx="4003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8951976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−$38K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995781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10597896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−365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605923" y="3993212"/>
            <a:ext cx="5174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8951976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−$49K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995781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12.3%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597896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−478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77" name="Text 175"/>
          <p:cNvSpPr txBox="1"/>
          <p:nvPr/>
        </p:nvSpPr>
        <p:spPr>
          <a:xfrm>
            <a:off x="6565392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8597779" y="4241713"/>
            <a:ext cx="5988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8951976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−$57K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995781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10597896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−770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6565392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8578602" y="4490215"/>
            <a:ext cx="790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8951976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−$75K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995781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10597896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−556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6565392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8577212" y="4738717"/>
            <a:ext cx="8045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1" name="Text 189"/>
          <p:cNvSpPr txBox="1"/>
          <p:nvPr/>
        </p:nvSpPr>
        <p:spPr>
          <a:xfrm>
            <a:off x="8951976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−$77K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995781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193" name="Text 191"/>
          <p:cNvSpPr txBox="1"/>
          <p:nvPr/>
        </p:nvSpPr>
        <p:spPr>
          <a:xfrm>
            <a:off x="10597896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−568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95" name="Text 193"/>
          <p:cNvSpPr txBox="1"/>
          <p:nvPr/>
        </p:nvSpPr>
        <p:spPr>
          <a:xfrm>
            <a:off x="6565392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96" name="Shape 194"/>
          <p:cNvSpPr/>
          <p:nvPr/>
        </p:nvSpPr>
        <p:spPr>
          <a:xfrm>
            <a:off x="8570575" y="4987218"/>
            <a:ext cx="8708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8951976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−$83K</a:t>
            </a:r>
            <a:endParaRPr lang="en-US" sz="1300" dirty="0"/>
          </a:p>
        </p:txBody>
      </p:sp>
      <p:sp>
        <p:nvSpPr>
          <p:cNvPr id="198" name="Text 196"/>
          <p:cNvSpPr txBox="1"/>
          <p:nvPr/>
        </p:nvSpPr>
        <p:spPr>
          <a:xfrm>
            <a:off x="995781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7.4%</a:t>
            </a:r>
            <a:endParaRPr lang="en-US" sz="1300" dirty="0"/>
          </a:p>
        </p:txBody>
      </p:sp>
      <p:sp>
        <p:nvSpPr>
          <p:cNvPr id="199" name="Text 197"/>
          <p:cNvSpPr txBox="1"/>
          <p:nvPr/>
        </p:nvSpPr>
        <p:spPr>
          <a:xfrm>
            <a:off x="10597896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−700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201" name="Text 199"/>
          <p:cNvSpPr txBox="1"/>
          <p:nvPr/>
        </p:nvSpPr>
        <p:spPr>
          <a:xfrm>
            <a:off x="6565392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202" name="Shape 200"/>
          <p:cNvSpPr/>
          <p:nvPr/>
        </p:nvSpPr>
        <p:spPr>
          <a:xfrm>
            <a:off x="8563419" y="5235720"/>
            <a:ext cx="9424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8951976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−$90K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995781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205" name="Text 203"/>
          <p:cNvSpPr txBox="1"/>
          <p:nvPr/>
        </p:nvSpPr>
        <p:spPr>
          <a:xfrm>
            <a:off x="10597896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−1,066</a:t>
            </a:r>
            <a:endParaRPr lang="en-US" sz="1300" dirty="0"/>
          </a:p>
        </p:txBody>
      </p:sp>
      <p:sp>
        <p:nvSpPr>
          <p:cNvPr id="206" name="Text 204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207" name="Text 205"/>
          <p:cNvSpPr txBox="1"/>
          <p:nvPr/>
        </p:nvSpPr>
        <p:spPr>
          <a:xfrm>
            <a:off x="6565392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8421624" y="5484222"/>
            <a:ext cx="23604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9" name="Text 207"/>
          <p:cNvSpPr txBox="1"/>
          <p:nvPr/>
        </p:nvSpPr>
        <p:spPr>
          <a:xfrm>
            <a:off x="8951976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−$225K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995781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211" name="Text 209"/>
          <p:cNvSpPr txBox="1"/>
          <p:nvPr/>
        </p:nvSpPr>
        <p:spPr>
          <a:xfrm>
            <a:off x="10597896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−2,490</a:t>
            </a:r>
            <a:endParaRPr lang="en-US" sz="1300" dirty="0"/>
          </a:p>
        </p:txBody>
      </p:sp>
      <p:sp>
        <p:nvSpPr>
          <p:cNvPr id="212" name="Shape 210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3" name="Shape 211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214" name="Text 212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stores under 15% leave $1,029,276 a year; 8 are at or above it. Toyota Spokane is furthest below at −$225K.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01568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47488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8196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51976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95781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97896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58604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13682" y="1756697"/>
            <a:ext cx="133022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01568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+$70K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18.4%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+1,025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13682" y="2005199"/>
            <a:ext cx="58221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01568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+$31K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27.0%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13682" y="2253700"/>
            <a:ext cx="2636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01568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+$14K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47488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13682" y="2502202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40740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047488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13617" y="2750703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401568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40740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047488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14984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8413" y="2999205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401568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−$3K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40740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14.1%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047488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−44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2500" y="3247707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401568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−$6K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40740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13.5%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047488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−39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99367" y="3496208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401568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−$8K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40740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047488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−148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192966" y="3744710"/>
            <a:ext cx="2071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401568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−$11K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440740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13.1%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047488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−138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186478" y="3993212"/>
            <a:ext cx="2720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3401568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−$14K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40740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047488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−643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1014984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178674" y="4241713"/>
            <a:ext cx="3500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3401568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440740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5047488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−380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14984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173922" y="4490215"/>
            <a:ext cx="3976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401568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40740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047488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−496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1014984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162501" y="4738717"/>
            <a:ext cx="5118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401568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−$27K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047488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−300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3161512" y="4987218"/>
            <a:ext cx="5217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401568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−$27K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047488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−460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1014984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3160641" y="5235720"/>
            <a:ext cx="5304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3401568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−$28K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40740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5047488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−373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1014984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3154916" y="5484222"/>
            <a:ext cx="5876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3401568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−$31K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40740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5047488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−467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1014984" y="567681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145678" y="5732723"/>
            <a:ext cx="6800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3401568" y="567681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−$36K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440740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5047488" y="567681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−615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691164" y="1756697"/>
            <a:ext cx="7292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951976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−$38K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995781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597896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−600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665461" y="2005199"/>
            <a:ext cx="9862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8951976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−$52K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995781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10597896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−735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665163" y="2253700"/>
            <a:ext cx="9892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8951976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−$52K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995781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10597896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−696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565392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656843" y="2502202"/>
            <a:ext cx="10724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8951976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−$56K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995781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597896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−754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634865" y="2750703"/>
            <a:ext cx="12922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8951976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−$68K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95781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597896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−909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634819" y="2999205"/>
            <a:ext cx="12927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8951976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−$68K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97896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−909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8627320" y="3247707"/>
            <a:ext cx="13677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8951976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−$72K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97896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−1,059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6565392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60" name="Shape 158"/>
          <p:cNvSpPr/>
          <p:nvPr/>
        </p:nvSpPr>
        <p:spPr>
          <a:xfrm>
            <a:off x="8624415" y="3496208"/>
            <a:ext cx="13967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8951976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−$73K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995781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300" dirty="0"/>
          </a:p>
        </p:txBody>
      </p:sp>
      <p:sp>
        <p:nvSpPr>
          <p:cNvPr id="163" name="Text 161"/>
          <p:cNvSpPr txBox="1"/>
          <p:nvPr/>
        </p:nvSpPr>
        <p:spPr>
          <a:xfrm>
            <a:off x="10597896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−981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565392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8617980" y="3744710"/>
            <a:ext cx="14611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8951976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−$77K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995781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1.0%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10597896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−1,296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611516" y="3993212"/>
            <a:ext cx="15257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8951976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−$80K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995781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2.1%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597896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−1,526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77" name="Text 175"/>
          <p:cNvSpPr txBox="1"/>
          <p:nvPr/>
        </p:nvSpPr>
        <p:spPr>
          <a:xfrm>
            <a:off x="6565392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8561522" y="4241713"/>
            <a:ext cx="20256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8951976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−$106K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995781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10597896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−2,001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6565392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8556261" y="4490215"/>
            <a:ext cx="20783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8951976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−$109K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995781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10597896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−2,031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6565392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8526056" y="4738717"/>
            <a:ext cx="23803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1" name="Text 189"/>
          <p:cNvSpPr txBox="1"/>
          <p:nvPr/>
        </p:nvSpPr>
        <p:spPr>
          <a:xfrm>
            <a:off x="8951976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−$125K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995781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300" dirty="0"/>
          </a:p>
        </p:txBody>
      </p:sp>
      <p:sp>
        <p:nvSpPr>
          <p:cNvPr id="193" name="Text 191"/>
          <p:cNvSpPr txBox="1"/>
          <p:nvPr/>
        </p:nvSpPr>
        <p:spPr>
          <a:xfrm>
            <a:off x="10597896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−837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95" name="Text 193"/>
          <p:cNvSpPr txBox="1"/>
          <p:nvPr/>
        </p:nvSpPr>
        <p:spPr>
          <a:xfrm>
            <a:off x="6565392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96" name="Shape 194"/>
          <p:cNvSpPr/>
          <p:nvPr/>
        </p:nvSpPr>
        <p:spPr>
          <a:xfrm>
            <a:off x="8511929" y="4987218"/>
            <a:ext cx="25216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8951976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−$132K</a:t>
            </a:r>
            <a:endParaRPr lang="en-US" sz="1300" dirty="0"/>
          </a:p>
        </p:txBody>
      </p:sp>
      <p:sp>
        <p:nvSpPr>
          <p:cNvPr id="198" name="Text 196"/>
          <p:cNvSpPr txBox="1"/>
          <p:nvPr/>
        </p:nvSpPr>
        <p:spPr>
          <a:xfrm>
            <a:off x="995781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6.1%</a:t>
            </a:r>
            <a:endParaRPr lang="en-US" sz="1300" dirty="0"/>
          </a:p>
        </p:txBody>
      </p:sp>
      <p:sp>
        <p:nvSpPr>
          <p:cNvPr id="199" name="Text 197"/>
          <p:cNvSpPr txBox="1"/>
          <p:nvPr/>
        </p:nvSpPr>
        <p:spPr>
          <a:xfrm>
            <a:off x="10597896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−1,590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201" name="Text 199"/>
          <p:cNvSpPr txBox="1"/>
          <p:nvPr/>
        </p:nvSpPr>
        <p:spPr>
          <a:xfrm>
            <a:off x="6565392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202" name="Shape 200"/>
          <p:cNvSpPr/>
          <p:nvPr/>
        </p:nvSpPr>
        <p:spPr>
          <a:xfrm>
            <a:off x="8483276" y="5235720"/>
            <a:ext cx="28081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8951976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−$147K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995781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11.2%</a:t>
            </a:r>
            <a:endParaRPr lang="en-US" sz="1300" dirty="0"/>
          </a:p>
        </p:txBody>
      </p:sp>
      <p:sp>
        <p:nvSpPr>
          <p:cNvPr id="205" name="Text 203"/>
          <p:cNvSpPr txBox="1"/>
          <p:nvPr/>
        </p:nvSpPr>
        <p:spPr>
          <a:xfrm>
            <a:off x="10597896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−2,671</a:t>
            </a:r>
            <a:endParaRPr lang="en-US" sz="1300" dirty="0"/>
          </a:p>
        </p:txBody>
      </p:sp>
      <p:sp>
        <p:nvSpPr>
          <p:cNvPr id="206" name="Text 204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207" name="Text 205"/>
          <p:cNvSpPr txBox="1"/>
          <p:nvPr/>
        </p:nvSpPr>
        <p:spPr>
          <a:xfrm>
            <a:off x="6565392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8421624" y="5484222"/>
            <a:ext cx="34246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9" name="Text 207"/>
          <p:cNvSpPr txBox="1"/>
          <p:nvPr/>
        </p:nvSpPr>
        <p:spPr>
          <a:xfrm>
            <a:off x="8951976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−$180K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995781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300" dirty="0"/>
          </a:p>
        </p:txBody>
      </p:sp>
      <p:sp>
        <p:nvSpPr>
          <p:cNvPr id="211" name="Text 209"/>
          <p:cNvSpPr txBox="1"/>
          <p:nvPr/>
        </p:nvSpPr>
        <p:spPr>
          <a:xfrm>
            <a:off x="10597896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−3,361</a:t>
            </a:r>
            <a:endParaRPr lang="en-US" sz="1300" dirty="0"/>
          </a:p>
        </p:txBody>
      </p:sp>
      <p:sp>
        <p:nvSpPr>
          <p:cNvPr id="212" name="Shape 210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3" name="Shape 211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214" name="Text 212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stores under 15% leave $1,664,385 a year; 4 are at or above it. Toyota Spokane is furthest below at −$180K.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01568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47488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40259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51976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95781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97896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0667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45746" y="1756697"/>
            <a:ext cx="30095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01568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+$260K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15.5%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+1,680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45746" y="2005199"/>
            <a:ext cx="216846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01568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+$187K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20.6%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45746" y="2253700"/>
            <a:ext cx="78044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01568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+$67K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12.1%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47488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+422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45746" y="2502202"/>
            <a:ext cx="39072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+$34K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40740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14.3%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047488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+89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45746" y="2750703"/>
            <a:ext cx="37733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401568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40740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11.9%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047488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+86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14984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45746" y="2999205"/>
            <a:ext cx="2735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401568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+$24K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40740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11.6%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047488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+153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045746" y="3247707"/>
            <a:ext cx="24282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401568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+$21K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40740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10.7%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047488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+56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45746" y="3496208"/>
            <a:ext cx="22695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401568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+$20K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40740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12.7%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047488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+133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045746" y="3744710"/>
            <a:ext cx="18342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401568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440740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10.6%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047488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+42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45746" y="3993212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3401568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+$9K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40740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047488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1014984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045746" y="4241713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3401568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+$7K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440740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5047488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+47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14984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045746" y="4490215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401568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+$5K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40740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047488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1014984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041920" y="4738717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401568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−$3K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047488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3040676" y="4987218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401568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9.5%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047488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−33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1014984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3033120" y="5235720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3401568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−$11K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40740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5047488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−87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1014984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3030647" y="5484222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3401568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−$13K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40740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5047488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−117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1014984" y="567681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028256" y="5732723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3401568" y="567681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−$15K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440740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5047488" y="567681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−98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75690" y="1756697"/>
            <a:ext cx="2046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951976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995781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597896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−115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573386" y="2005199"/>
            <a:ext cx="2276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8951976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−$20K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995781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10597896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−52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572297" y="2253700"/>
            <a:ext cx="2385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8951976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995781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10597896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−162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565392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571491" y="2502202"/>
            <a:ext cx="2466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8951976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995781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597896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−245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570224" y="2750703"/>
            <a:ext cx="2593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8951976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−$22K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95781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597896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−187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567184" y="2999205"/>
            <a:ext cx="2897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8951976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−$25K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97896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−211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8559684" y="3247707"/>
            <a:ext cx="3647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8951976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−$32K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97896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−235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6565392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60" name="Shape 158"/>
          <p:cNvSpPr/>
          <p:nvPr/>
        </p:nvSpPr>
        <p:spPr>
          <a:xfrm>
            <a:off x="8558971" y="3496208"/>
            <a:ext cx="3718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8951976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−$32K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995781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163" name="Text 161"/>
          <p:cNvSpPr txBox="1"/>
          <p:nvPr/>
        </p:nvSpPr>
        <p:spPr>
          <a:xfrm>
            <a:off x="10597896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−287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565392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8540881" y="3744710"/>
            <a:ext cx="5527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8951976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−$48K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995781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10597896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−389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535378" y="3993212"/>
            <a:ext cx="6077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8951976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−$53K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995781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597896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−412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77" name="Text 175"/>
          <p:cNvSpPr txBox="1"/>
          <p:nvPr/>
        </p:nvSpPr>
        <p:spPr>
          <a:xfrm>
            <a:off x="6565392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8530529" y="4241713"/>
            <a:ext cx="6562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8951976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−$57K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995781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10597896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−379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6565392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8518235" y="4490215"/>
            <a:ext cx="7791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8951976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−$67K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995781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3.1%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10597896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−367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6565392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8510027" y="4738717"/>
            <a:ext cx="8612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1" name="Text 189"/>
          <p:cNvSpPr txBox="1"/>
          <p:nvPr/>
        </p:nvSpPr>
        <p:spPr>
          <a:xfrm>
            <a:off x="8951976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−$74K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995781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2.4%</a:t>
            </a:r>
            <a:endParaRPr lang="en-US" sz="1300" dirty="0"/>
          </a:p>
        </p:txBody>
      </p:sp>
      <p:sp>
        <p:nvSpPr>
          <p:cNvPr id="193" name="Text 191"/>
          <p:cNvSpPr txBox="1"/>
          <p:nvPr/>
        </p:nvSpPr>
        <p:spPr>
          <a:xfrm>
            <a:off x="10597896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−380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95" name="Text 193"/>
          <p:cNvSpPr txBox="1"/>
          <p:nvPr/>
        </p:nvSpPr>
        <p:spPr>
          <a:xfrm>
            <a:off x="6565392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96" name="Shape 194"/>
          <p:cNvSpPr/>
          <p:nvPr/>
        </p:nvSpPr>
        <p:spPr>
          <a:xfrm>
            <a:off x="8506004" y="4987218"/>
            <a:ext cx="9015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8951976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−$78K</a:t>
            </a:r>
            <a:endParaRPr lang="en-US" sz="1300" dirty="0"/>
          </a:p>
        </p:txBody>
      </p:sp>
      <p:sp>
        <p:nvSpPr>
          <p:cNvPr id="198" name="Text 196"/>
          <p:cNvSpPr txBox="1"/>
          <p:nvPr/>
        </p:nvSpPr>
        <p:spPr>
          <a:xfrm>
            <a:off x="995781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1.9%</a:t>
            </a:r>
            <a:endParaRPr lang="en-US" sz="1300" dirty="0"/>
          </a:p>
        </p:txBody>
      </p:sp>
      <p:sp>
        <p:nvSpPr>
          <p:cNvPr id="199" name="Text 197"/>
          <p:cNvSpPr txBox="1"/>
          <p:nvPr/>
        </p:nvSpPr>
        <p:spPr>
          <a:xfrm>
            <a:off x="10597896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−378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201" name="Text 199"/>
          <p:cNvSpPr txBox="1"/>
          <p:nvPr/>
        </p:nvSpPr>
        <p:spPr>
          <a:xfrm>
            <a:off x="6565392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202" name="Shape 200"/>
          <p:cNvSpPr/>
          <p:nvPr/>
        </p:nvSpPr>
        <p:spPr>
          <a:xfrm>
            <a:off x="8503628" y="5235720"/>
            <a:ext cx="9252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8951976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−$80K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995781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205" name="Text 203"/>
          <p:cNvSpPr txBox="1"/>
          <p:nvPr/>
        </p:nvSpPr>
        <p:spPr>
          <a:xfrm>
            <a:off x="10597896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−683</a:t>
            </a:r>
            <a:endParaRPr lang="en-US" sz="1300" dirty="0"/>
          </a:p>
        </p:txBody>
      </p:sp>
      <p:sp>
        <p:nvSpPr>
          <p:cNvPr id="206" name="Text 204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207" name="Text 205"/>
          <p:cNvSpPr txBox="1"/>
          <p:nvPr/>
        </p:nvSpPr>
        <p:spPr>
          <a:xfrm>
            <a:off x="6565392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8421624" y="5484222"/>
            <a:ext cx="17453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9" name="Text 207"/>
          <p:cNvSpPr txBox="1"/>
          <p:nvPr/>
        </p:nvSpPr>
        <p:spPr>
          <a:xfrm>
            <a:off x="8951976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−$151K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995781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5.7%</a:t>
            </a:r>
            <a:endParaRPr lang="en-US" sz="1300" dirty="0"/>
          </a:p>
        </p:txBody>
      </p:sp>
      <p:sp>
        <p:nvSpPr>
          <p:cNvPr id="211" name="Text 209"/>
          <p:cNvSpPr txBox="1"/>
          <p:nvPr/>
        </p:nvSpPr>
        <p:spPr>
          <a:xfrm>
            <a:off x="10597896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−1,093</a:t>
            </a:r>
            <a:endParaRPr lang="en-US" sz="1300" dirty="0"/>
          </a:p>
        </p:txBody>
      </p:sp>
      <p:sp>
        <p:nvSpPr>
          <p:cNvPr id="212" name="Shape 210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3" name="Shape 211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214" name="Text 212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stores under 10% leave $844,657 a year; 12 are at or above it. Chevy LV is furthest below at −$151K.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System Service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01568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47488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72677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51976" y="1316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95781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97896" y="13167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23085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78163" y="1756697"/>
            <a:ext cx="268541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01568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+$185K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+1,366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78163" y="2005199"/>
            <a:ext cx="104320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01568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+$72K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+470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78163" y="2253700"/>
            <a:ext cx="7472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01568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+$51K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47488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78163" y="2502202"/>
            <a:ext cx="1935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40740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9.3%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047488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78163" y="2750703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401568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40740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047488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+75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14984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78163" y="2999205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401568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+$4K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40740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047488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078163" y="3247707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401568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+$4K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40740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7.6%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047488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76409" y="3496208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401568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−$1K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40740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047488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063321" y="3744710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401568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440740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047488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−78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59655" y="3993212"/>
            <a:ext cx="1850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3401568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−$13K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40740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047488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−72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1014984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051638" y="4241713"/>
            <a:ext cx="2652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3401568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440740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5047488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−55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14984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050701" y="4490215"/>
            <a:ext cx="274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401568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−$19K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40740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047488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−186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1014984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047298" y="4738717"/>
            <a:ext cx="3086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401568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047488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−160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3043502" y="4987218"/>
            <a:ext cx="346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401568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−$24K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047488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−92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1014984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3041920" y="5235720"/>
            <a:ext cx="3624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3401568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−$25K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40740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5047488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−195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1014984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3040249" y="5484222"/>
            <a:ext cx="3791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3401568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−$26K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40740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5047488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−174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1014984" y="567681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036175" y="5732723"/>
            <a:ext cx="4198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3401568" y="567681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−$29K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440740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5047488" y="567681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−123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79493" y="1756697"/>
            <a:ext cx="4907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951976" y="170078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−$34K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995781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597896" y="170078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−103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561923" y="2005199"/>
            <a:ext cx="6664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8951976" y="194928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−$46K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995781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10597896" y="194928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−170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553773" y="2253700"/>
            <a:ext cx="7479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8951976" y="219778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−$51K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995781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0.8%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10597896" y="219778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−313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565392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547178" y="2502202"/>
            <a:ext cx="8139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8951976" y="244628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−$56K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995781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597896" y="244628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−340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547001" y="2750703"/>
            <a:ext cx="8157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8951976" y="2694791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−$56K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95781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597896" y="2694791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−387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541404" y="2999205"/>
            <a:ext cx="8716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8951976" y="294329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−$60K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97896" y="294329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−364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8538750" y="3247707"/>
            <a:ext cx="8982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8951976" y="319179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−$62K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97896" y="319179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−321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6565392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60" name="Shape 158"/>
          <p:cNvSpPr/>
          <p:nvPr/>
        </p:nvSpPr>
        <p:spPr>
          <a:xfrm>
            <a:off x="8538158" y="3496208"/>
            <a:ext cx="9041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8951976" y="3440296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−$62K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995781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63" name="Text 161"/>
          <p:cNvSpPr txBox="1"/>
          <p:nvPr/>
        </p:nvSpPr>
        <p:spPr>
          <a:xfrm>
            <a:off x="10597896" y="3440296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−378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565392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8536111" y="3744710"/>
            <a:ext cx="9246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8951976" y="368879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−$64K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995781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4.1%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10597896" y="368879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−308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533760" y="3993212"/>
            <a:ext cx="9481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8951976" y="393729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−$65K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995781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597896" y="393729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−400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77" name="Text 175"/>
          <p:cNvSpPr txBox="1"/>
          <p:nvPr/>
        </p:nvSpPr>
        <p:spPr>
          <a:xfrm>
            <a:off x="6565392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8519388" y="4241713"/>
            <a:ext cx="10918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8951976" y="4185800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−$75K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995781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10597896" y="4185800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−509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6565392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8518626" y="4490215"/>
            <a:ext cx="10994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8951976" y="4434302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−$76K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995781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10597896" y="4434302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−464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6565392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8505476" y="4738717"/>
            <a:ext cx="12309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1" name="Text 189"/>
          <p:cNvSpPr txBox="1"/>
          <p:nvPr/>
        </p:nvSpPr>
        <p:spPr>
          <a:xfrm>
            <a:off x="8951976" y="4682804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−$85K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995781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93" name="Text 191"/>
          <p:cNvSpPr txBox="1"/>
          <p:nvPr/>
        </p:nvSpPr>
        <p:spPr>
          <a:xfrm>
            <a:off x="10597896" y="4682804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−515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95" name="Text 193"/>
          <p:cNvSpPr txBox="1"/>
          <p:nvPr/>
        </p:nvSpPr>
        <p:spPr>
          <a:xfrm>
            <a:off x="6565392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96" name="Shape 194"/>
          <p:cNvSpPr/>
          <p:nvPr/>
        </p:nvSpPr>
        <p:spPr>
          <a:xfrm>
            <a:off x="8470218" y="4987218"/>
            <a:ext cx="15835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8951976" y="4931305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−$109K</a:t>
            </a:r>
            <a:endParaRPr lang="en-US" sz="1300" dirty="0"/>
          </a:p>
        </p:txBody>
      </p:sp>
      <p:sp>
        <p:nvSpPr>
          <p:cNvPr id="198" name="Text 196"/>
          <p:cNvSpPr txBox="1"/>
          <p:nvPr/>
        </p:nvSpPr>
        <p:spPr>
          <a:xfrm>
            <a:off x="995781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300" dirty="0"/>
          </a:p>
        </p:txBody>
      </p:sp>
      <p:sp>
        <p:nvSpPr>
          <p:cNvPr id="199" name="Text 197"/>
          <p:cNvSpPr txBox="1"/>
          <p:nvPr/>
        </p:nvSpPr>
        <p:spPr>
          <a:xfrm>
            <a:off x="10597896" y="4931305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−1,173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201" name="Text 199"/>
          <p:cNvSpPr txBox="1"/>
          <p:nvPr/>
        </p:nvSpPr>
        <p:spPr>
          <a:xfrm>
            <a:off x="6565392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202" name="Shape 200"/>
          <p:cNvSpPr/>
          <p:nvPr/>
        </p:nvSpPr>
        <p:spPr>
          <a:xfrm>
            <a:off x="8441579" y="5235720"/>
            <a:ext cx="18699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8951976" y="5179807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−$129K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995781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300" dirty="0"/>
          </a:p>
        </p:txBody>
      </p:sp>
      <p:sp>
        <p:nvSpPr>
          <p:cNvPr id="205" name="Text 203"/>
          <p:cNvSpPr txBox="1"/>
          <p:nvPr/>
        </p:nvSpPr>
        <p:spPr>
          <a:xfrm>
            <a:off x="10597896" y="5179807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−1,056</a:t>
            </a:r>
            <a:endParaRPr lang="en-US" sz="1300" dirty="0"/>
          </a:p>
        </p:txBody>
      </p:sp>
      <p:sp>
        <p:nvSpPr>
          <p:cNvPr id="206" name="Text 204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207" name="Text 205"/>
          <p:cNvSpPr txBox="1"/>
          <p:nvPr/>
        </p:nvSpPr>
        <p:spPr>
          <a:xfrm>
            <a:off x="6565392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8421624" y="5484222"/>
            <a:ext cx="20694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9" name="Text 207"/>
          <p:cNvSpPr txBox="1"/>
          <p:nvPr/>
        </p:nvSpPr>
        <p:spPr>
          <a:xfrm>
            <a:off x="8951976" y="5428309"/>
            <a:ext cx="100584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−$142K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995781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211" name="Text 209"/>
          <p:cNvSpPr txBox="1"/>
          <p:nvPr/>
        </p:nvSpPr>
        <p:spPr>
          <a:xfrm>
            <a:off x="10597896" y="5428309"/>
            <a:ext cx="868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−585</a:t>
            </a:r>
            <a:endParaRPr lang="en-US" sz="1300" dirty="0"/>
          </a:p>
        </p:txBody>
      </p:sp>
      <p:sp>
        <p:nvSpPr>
          <p:cNvPr id="212" name="Shape 210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3" name="Shape 211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214" name="Text 212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stores under 7.5% leave $1,356,881 a year; 7 are at or above it. Chevy LV is furthest below at −$142K.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2026-10-26T23:25:30Z</dcterms:created>
  <dcterms:modified xsi:type="dcterms:W3CDTF">2026-10-26T23:25:30Z</dcterms:modified>
</cp:coreProperties>
</file>