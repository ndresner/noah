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70" r:id="rId12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2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Toyota Spokane is furthest below at −$406K so far this year; 7 of 33 stores are ahead of benchmark on net across the four services. 15 stores miss every benchmark that applies to them; 1 store misses none.Source: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tire balance, brake fluid and fuel system service added together, every store: gross Jan-Sep 2026 above (+) or below (-) the four benchmarks, at the store's own gross per service. Opcodes = the four services' opcodes above (+) or below (-) their benchmarks, added together; green / red bar = top / bottom three by opcodes. Missed = services under benchmark out of those the manufacturer calls for at the store (tire balance at the Audi stores and fuel system service at Volvo, Audi Henderson, VW Henderson and Audi Reno are left out). Below-benchmark services count against above-benchmark ones here.TOYOTA SPOKANE: −$406K, −5,191 opcodes Jan-Sep against the four benchmarks; under 4 of 4</a:t>
            </a:r>
          </a:p>
          <a:p>
            <a:r>
              <a:t>CHEVY LV: −$356K, −3,177 opcodes Jan-Sep against the four benchmarks; under 4 of 4</a:t>
            </a:r>
          </a:p>
          <a:p>
            <a:r>
              <a:t>TOYOTA FLAGSTAFF: −$267K, −3,494 opcodes Jan-Sep against the four benchmarks; under 4 of 4</a:t>
            </a:r>
          </a:p>
          <a:p>
            <a:r>
              <a:t>TOYOTA HENDERSON: −$227K, −3,005 opcodes Jan-Sep against the four benchmarks; under 3 of 4</a:t>
            </a:r>
          </a:p>
          <a:p>
            <a:r>
              <a:t>KIA LV: −$185K, −1,708 opcodes Jan-Sep against the four benchmarks; under 4 of 4</a:t>
            </a:r>
          </a:p>
          <a:p>
            <a:r>
              <a:t>CDJR POST FALLS: −$184K, −1,863 opcodes Jan-Sep against the four benchmarks; under 4 of 4</a:t>
            </a:r>
          </a:p>
          <a:p>
            <a:r>
              <a:t>TOYOTA PRESCOTT: −$175K, −1,906 opcodes Jan-Sep against the four benchmarks; under 4 of 4</a:t>
            </a:r>
          </a:p>
          <a:p>
            <a:r>
              <a:t>AUDI RENO: −$162K, −1,152 opcodes Jan-Sep against the four benchmarks; under 2 of 2</a:t>
            </a:r>
          </a:p>
          <a:p>
            <a:r>
              <a:t>HONDA FLAGSTAFF: −$150K, −1,257 opcodes Jan-Sep against the four benchmarks; under 4 of 4</a:t>
            </a:r>
          </a:p>
          <a:p>
            <a:r>
              <a:t>NISSAN: −$150K, −1,613 opcodes Jan-Sep against the four benchmarks; under 3 of 4</a:t>
            </a:r>
          </a:p>
          <a:p>
            <a:r>
              <a:t>HONDA SPOKANE: −$140K, −1,717 opcodes Jan-Sep against the four benchmarks; under 3 of 4</a:t>
            </a:r>
          </a:p>
          <a:p>
            <a:r>
              <a:t>LEXUS: −$105K, −1,068 opcodes Jan-Sep against the four benchmarks; under 4 of 4</a:t>
            </a:r>
          </a:p>
          <a:p>
            <a:r>
              <a:t>VW HENDERSON: −$105K, −827 opcodes Jan-Sep against the four benchmarks; under 3 of 3</a:t>
            </a:r>
          </a:p>
          <a:p>
            <a:r>
              <a:t>CHEVY GMC BULLHEAD: −$100K, −1,100 opcodes Jan-Sep against the four benchmarks; under 4 of 4</a:t>
            </a:r>
          </a:p>
          <a:p>
            <a:r>
              <a:t>CADILLAC: −$94K, −954 opcodes Jan-Sep against the four benchmarks; under 4 of 4</a:t>
            </a:r>
          </a:p>
          <a:p>
            <a:r>
              <a:t>VW ST GEORGE: −$66K, −640 opcodes Jan-Sep against the four benchmarks; under 4 of 4</a:t>
            </a:r>
          </a:p>
          <a:p>
            <a:r>
              <a:t>HYUNDAI ST GEORGE: −$61K, −697 opcodes Jan-Sep against the four benchmarks; under 4 of 4</a:t>
            </a:r>
          </a:p>
          <a:p>
            <a:r>
              <a:t>GMC PRESCOTT: −$60K, −568 opcodes Jan-Sep against the four benchmarks; under 4 of 4</a:t>
            </a:r>
          </a:p>
          <a:p>
            <a:r>
              <a:t>SUBARU LV: −$59K, −783 opcodes Jan-Sep against the four benchmarks; under 3 of 4</a:t>
            </a:r>
          </a:p>
          <a:p>
            <a:r>
              <a:t>KIA ST GEORGE: −$53K, −660 opcodes Jan-Sep against the four benchmarks; under 3 of 4</a:t>
            </a:r>
          </a:p>
          <a:p>
            <a:r>
              <a:t>LINCOLN: −$48K, −569 opcodes Jan-Sep against the four benchmarks; under 3 of 4</a:t>
            </a:r>
          </a:p>
          <a:p>
            <a:r>
              <a:t>SUBARU ST GEORGE: −$41K, −452 opcodes Jan-Sep against the four benchmarks; under 2 of 4</a:t>
            </a:r>
          </a:p>
          <a:p>
            <a:r>
              <a:t>LR RENO: −$32K, −83 opcodes Jan-Sep against the four benchmarks; under 3 of 4</a:t>
            </a:r>
          </a:p>
          <a:p>
            <a:r>
              <a:t>VOLVO: −$29K, −340 opcodes Jan-Sep against the four benchmarks; under 2 of 3</a:t>
            </a:r>
          </a:p>
          <a:p>
            <a:r>
              <a:t>MAZDA: −$28K, −223 opcodes Jan-Sep against the four benchmarks; under 3 of 4</a:t>
            </a:r>
          </a:p>
          <a:p>
            <a:r>
              <a:t>AUDI HENDERSON: −$22K, −661 opcodes Jan-Sep against the four benchmarks; under 1 of 2</a:t>
            </a:r>
          </a:p>
          <a:p>
            <a:r>
              <a:t>HYUNDAI PRESCOTT: +$23K, +97 opcodes Jan-Sep against the four benchmarks; under 3 of 4</a:t>
            </a:r>
          </a:p>
          <a:p>
            <a:r>
              <a:t>ACURA: +$33K, +228 opcodes Jan-Sep against the four benchmarks; under 1 of 4</a:t>
            </a:r>
          </a:p>
          <a:p>
            <a:r>
              <a:t>SUBARU PRESCOTT: +$41K, +24 opcodes Jan-Sep against the four benchmarks; under 2 of 4</a:t>
            </a:r>
          </a:p>
          <a:p>
            <a:r>
              <a:t>HONDA NORTH: +$45K, +70 opcodes Jan-Sep against the four benchmarks; under 1 of 4</a:t>
            </a:r>
          </a:p>
          <a:p>
            <a:r>
              <a:t>LR HENDERSON: +$54K, +324 opcodes Jan-Sep against the four benchmarks; under 1 of 4</a:t>
            </a:r>
          </a:p>
          <a:p>
            <a:r>
              <a:t>LR LV: +$151K, +456 opcodes Jan-Sep against the four benchmarks; under 1 of 4</a:t>
            </a:r>
          </a:p>
          <a:p>
            <a:r>
              <a:t>HONDA HENDERSON: +$557K, +4,476 opcodes Jan-Sep against the four benchmarks; under 0 of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Variance from Benchmark by Store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317296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427024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Text 6"/>
          <p:cNvSpPr txBox="1"/>
          <p:nvPr/>
        </p:nvSpPr>
        <p:spPr>
          <a:xfrm>
            <a:off x="5138928" y="1316736"/>
            <a:ext cx="7772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9" name="Shape 7"/>
          <p:cNvSpPr/>
          <p:nvPr/>
        </p:nvSpPr>
        <p:spPr>
          <a:xfrm>
            <a:off x="2969751" y="1700784"/>
            <a:ext cx="10973" cy="4224528"/>
          </a:xfrm>
          <a:prstGeom prst="rect">
            <a:avLst/>
          </a:prstGeom>
          <a:solidFill>
            <a:srgbClr val="9AA3AD"/>
          </a:solidFill>
          <a:ln/>
        </p:spPr>
      </p:sp>
      <p:sp>
        <p:nvSpPr>
          <p:cNvPr id="10" name="Text 8"/>
          <p:cNvSpPr txBox="1"/>
          <p:nvPr/>
        </p:nvSpPr>
        <p:spPr>
          <a:xfrm>
            <a:off x="872337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982065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2" name="Text 10"/>
          <p:cNvSpPr txBox="1"/>
          <p:nvPr/>
        </p:nvSpPr>
        <p:spPr>
          <a:xfrm>
            <a:off x="10689336" y="1316736"/>
            <a:ext cx="77724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3" name="Shape 11"/>
          <p:cNvSpPr/>
          <p:nvPr/>
        </p:nvSpPr>
        <p:spPr>
          <a:xfrm>
            <a:off x="8520159" y="1700784"/>
            <a:ext cx="10973" cy="3976026"/>
          </a:xfrm>
          <a:prstGeom prst="rect">
            <a:avLst/>
          </a:prstGeom>
          <a:solidFill>
            <a:srgbClr val="9AA3AD"/>
          </a:solidFill>
          <a:ln/>
        </p:spPr>
      </p:sp>
      <p:sp>
        <p:nvSpPr>
          <p:cNvPr id="14" name="Text 12"/>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6" name="Shape 14"/>
          <p:cNvSpPr/>
          <p:nvPr/>
        </p:nvSpPr>
        <p:spPr>
          <a:xfrm>
            <a:off x="2975237" y="1756697"/>
            <a:ext cx="142867" cy="136676"/>
          </a:xfrm>
          <a:prstGeom prst="rect">
            <a:avLst/>
          </a:prstGeom>
          <a:solidFill>
            <a:srgbClr val="12A566"/>
          </a:solidFill>
          <a:ln/>
        </p:spPr>
      </p:sp>
      <p:sp>
        <p:nvSpPr>
          <p:cNvPr id="17" name="Text 15"/>
          <p:cNvSpPr txBox="1"/>
          <p:nvPr/>
        </p:nvSpPr>
        <p:spPr>
          <a:xfrm>
            <a:off x="317296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+$557K</a:t>
            </a:r>
            <a:endParaRPr lang="en-US" sz="1300" dirty="0"/>
          </a:p>
        </p:txBody>
      </p:sp>
      <p:sp>
        <p:nvSpPr>
          <p:cNvPr id="18" name="Text 16"/>
          <p:cNvSpPr txBox="1"/>
          <p:nvPr/>
        </p:nvSpPr>
        <p:spPr>
          <a:xfrm>
            <a:off x="427024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+4,476</a:t>
            </a:r>
            <a:endParaRPr lang="en-US" sz="1300" dirty="0"/>
          </a:p>
        </p:txBody>
      </p:sp>
      <p:sp>
        <p:nvSpPr>
          <p:cNvPr id="19" name="Shape 17"/>
          <p:cNvSpPr/>
          <p:nvPr/>
        </p:nvSpPr>
        <p:spPr>
          <a:xfrm>
            <a:off x="5193792" y="1746504"/>
            <a:ext cx="54864" cy="157062"/>
          </a:xfrm>
          <a:prstGeom prst="rect">
            <a:avLst/>
          </a:prstGeom>
          <a:solidFill>
            <a:srgbClr val="12A566"/>
          </a:solidFill>
          <a:ln/>
        </p:spPr>
      </p:sp>
      <p:sp>
        <p:nvSpPr>
          <p:cNvPr id="20" name="Text 18"/>
          <p:cNvSpPr txBox="1"/>
          <p:nvPr/>
        </p:nvSpPr>
        <p:spPr>
          <a:xfrm>
            <a:off x="5138928" y="170078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0 of 4</a:t>
            </a:r>
            <a:endParaRPr lang="en-US" sz="1300" dirty="0"/>
          </a:p>
        </p:txBody>
      </p:sp>
      <p:sp>
        <p:nvSpPr>
          <p:cNvPr id="21" name="Text 19"/>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22" name="Text 20"/>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3" name="Shape 21"/>
          <p:cNvSpPr/>
          <p:nvPr/>
        </p:nvSpPr>
        <p:spPr>
          <a:xfrm>
            <a:off x="2975237" y="2005199"/>
            <a:ext cx="38617" cy="136676"/>
          </a:xfrm>
          <a:prstGeom prst="rect">
            <a:avLst/>
          </a:prstGeom>
          <a:solidFill>
            <a:srgbClr val="12A566"/>
          </a:solidFill>
          <a:ln/>
        </p:spPr>
      </p:sp>
      <p:sp>
        <p:nvSpPr>
          <p:cNvPr id="24" name="Text 22"/>
          <p:cNvSpPr txBox="1"/>
          <p:nvPr/>
        </p:nvSpPr>
        <p:spPr>
          <a:xfrm>
            <a:off x="317296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+$151K</a:t>
            </a:r>
            <a:endParaRPr lang="en-US" sz="1300" dirty="0"/>
          </a:p>
        </p:txBody>
      </p:sp>
      <p:sp>
        <p:nvSpPr>
          <p:cNvPr id="25" name="Text 23"/>
          <p:cNvSpPr txBox="1"/>
          <p:nvPr/>
        </p:nvSpPr>
        <p:spPr>
          <a:xfrm>
            <a:off x="427024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+456</a:t>
            </a:r>
            <a:endParaRPr lang="en-US" sz="1300" dirty="0"/>
          </a:p>
        </p:txBody>
      </p:sp>
      <p:sp>
        <p:nvSpPr>
          <p:cNvPr id="26" name="Shape 24"/>
          <p:cNvSpPr/>
          <p:nvPr/>
        </p:nvSpPr>
        <p:spPr>
          <a:xfrm>
            <a:off x="5193792" y="1995006"/>
            <a:ext cx="54864" cy="157062"/>
          </a:xfrm>
          <a:prstGeom prst="rect">
            <a:avLst/>
          </a:prstGeom>
          <a:solidFill>
            <a:srgbClr val="12A566"/>
          </a:solidFill>
          <a:ln/>
        </p:spPr>
      </p:sp>
      <p:sp>
        <p:nvSpPr>
          <p:cNvPr id="27" name="Text 25"/>
          <p:cNvSpPr txBox="1"/>
          <p:nvPr/>
        </p:nvSpPr>
        <p:spPr>
          <a:xfrm>
            <a:off x="5138928" y="194928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28" name="Text 26"/>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9" name="Text 27"/>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0" name="Shape 28"/>
          <p:cNvSpPr/>
          <p:nvPr/>
        </p:nvSpPr>
        <p:spPr>
          <a:xfrm>
            <a:off x="2975237" y="2253700"/>
            <a:ext cx="18288" cy="136676"/>
          </a:xfrm>
          <a:prstGeom prst="rect">
            <a:avLst/>
          </a:prstGeom>
          <a:solidFill>
            <a:srgbClr val="12A566"/>
          </a:solidFill>
          <a:ln/>
        </p:spPr>
      </p:sp>
      <p:sp>
        <p:nvSpPr>
          <p:cNvPr id="31" name="Text 29"/>
          <p:cNvSpPr txBox="1"/>
          <p:nvPr/>
        </p:nvSpPr>
        <p:spPr>
          <a:xfrm>
            <a:off x="317296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32" name="Text 30"/>
          <p:cNvSpPr txBox="1"/>
          <p:nvPr/>
        </p:nvSpPr>
        <p:spPr>
          <a:xfrm>
            <a:off x="427024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+324</a:t>
            </a:r>
            <a:endParaRPr lang="en-US" sz="1300" dirty="0"/>
          </a:p>
        </p:txBody>
      </p:sp>
      <p:sp>
        <p:nvSpPr>
          <p:cNvPr id="33" name="Shape 31"/>
          <p:cNvSpPr/>
          <p:nvPr/>
        </p:nvSpPr>
        <p:spPr>
          <a:xfrm>
            <a:off x="5193792" y="2243507"/>
            <a:ext cx="54864" cy="157062"/>
          </a:xfrm>
          <a:prstGeom prst="rect">
            <a:avLst/>
          </a:prstGeom>
          <a:solidFill>
            <a:srgbClr val="12A566"/>
          </a:solidFill>
          <a:ln/>
        </p:spPr>
      </p:sp>
      <p:sp>
        <p:nvSpPr>
          <p:cNvPr id="34" name="Text 32"/>
          <p:cNvSpPr txBox="1"/>
          <p:nvPr/>
        </p:nvSpPr>
        <p:spPr>
          <a:xfrm>
            <a:off x="5138928" y="219778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35" name="Text 33"/>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6" name="Text 34"/>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7" name="Shape 35"/>
          <p:cNvSpPr/>
          <p:nvPr/>
        </p:nvSpPr>
        <p:spPr>
          <a:xfrm>
            <a:off x="2975237" y="2502202"/>
            <a:ext cx="18288" cy="136676"/>
          </a:xfrm>
          <a:prstGeom prst="rect">
            <a:avLst/>
          </a:prstGeom>
          <a:solidFill>
            <a:srgbClr val="12A566"/>
          </a:solidFill>
          <a:ln/>
        </p:spPr>
      </p:sp>
      <p:sp>
        <p:nvSpPr>
          <p:cNvPr id="38" name="Text 36"/>
          <p:cNvSpPr txBox="1"/>
          <p:nvPr/>
        </p:nvSpPr>
        <p:spPr>
          <a:xfrm>
            <a:off x="317296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+$45K</a:t>
            </a:r>
            <a:endParaRPr lang="en-US" sz="1300" dirty="0"/>
          </a:p>
        </p:txBody>
      </p:sp>
      <p:sp>
        <p:nvSpPr>
          <p:cNvPr id="39" name="Text 37"/>
          <p:cNvSpPr txBox="1"/>
          <p:nvPr/>
        </p:nvSpPr>
        <p:spPr>
          <a:xfrm>
            <a:off x="427024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40" name="Text 38"/>
          <p:cNvSpPr txBox="1"/>
          <p:nvPr/>
        </p:nvSpPr>
        <p:spPr>
          <a:xfrm>
            <a:off x="5138928" y="244628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41" name="Text 39"/>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42" name="Text 40"/>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3" name="Shape 41"/>
          <p:cNvSpPr/>
          <p:nvPr/>
        </p:nvSpPr>
        <p:spPr>
          <a:xfrm>
            <a:off x="2975237" y="2750703"/>
            <a:ext cx="18288" cy="136676"/>
          </a:xfrm>
          <a:prstGeom prst="rect">
            <a:avLst/>
          </a:prstGeom>
          <a:solidFill>
            <a:srgbClr val="12A566"/>
          </a:solidFill>
          <a:ln/>
        </p:spPr>
      </p:sp>
      <p:sp>
        <p:nvSpPr>
          <p:cNvPr id="44" name="Text 42"/>
          <p:cNvSpPr txBox="1"/>
          <p:nvPr/>
        </p:nvSpPr>
        <p:spPr>
          <a:xfrm>
            <a:off x="317296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+$41K</a:t>
            </a:r>
            <a:endParaRPr lang="en-US" sz="1300" dirty="0"/>
          </a:p>
        </p:txBody>
      </p:sp>
      <p:sp>
        <p:nvSpPr>
          <p:cNvPr id="45" name="Text 43"/>
          <p:cNvSpPr txBox="1"/>
          <p:nvPr/>
        </p:nvSpPr>
        <p:spPr>
          <a:xfrm>
            <a:off x="427024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46" name="Text 44"/>
          <p:cNvSpPr txBox="1"/>
          <p:nvPr/>
        </p:nvSpPr>
        <p:spPr>
          <a:xfrm>
            <a:off x="5138928" y="2694791"/>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4</a:t>
            </a:r>
            <a:endParaRPr lang="en-US" sz="1300" dirty="0"/>
          </a:p>
        </p:txBody>
      </p:sp>
      <p:sp>
        <p:nvSpPr>
          <p:cNvPr id="47" name="Text 4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8" name="Text 46"/>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49" name="Shape 47"/>
          <p:cNvSpPr/>
          <p:nvPr/>
        </p:nvSpPr>
        <p:spPr>
          <a:xfrm>
            <a:off x="2975237" y="2999205"/>
            <a:ext cx="18288" cy="136676"/>
          </a:xfrm>
          <a:prstGeom prst="rect">
            <a:avLst/>
          </a:prstGeom>
          <a:solidFill>
            <a:srgbClr val="12A566"/>
          </a:solidFill>
          <a:ln/>
        </p:spPr>
      </p:sp>
      <p:sp>
        <p:nvSpPr>
          <p:cNvPr id="50" name="Text 48"/>
          <p:cNvSpPr txBox="1"/>
          <p:nvPr/>
        </p:nvSpPr>
        <p:spPr>
          <a:xfrm>
            <a:off x="317296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+$33K</a:t>
            </a:r>
            <a:endParaRPr lang="en-US" sz="1300" dirty="0"/>
          </a:p>
        </p:txBody>
      </p:sp>
      <p:sp>
        <p:nvSpPr>
          <p:cNvPr id="51" name="Text 49"/>
          <p:cNvSpPr txBox="1"/>
          <p:nvPr/>
        </p:nvSpPr>
        <p:spPr>
          <a:xfrm>
            <a:off x="427024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+228</a:t>
            </a:r>
            <a:endParaRPr lang="en-US" sz="1300" dirty="0"/>
          </a:p>
        </p:txBody>
      </p:sp>
      <p:sp>
        <p:nvSpPr>
          <p:cNvPr id="52" name="Text 50"/>
          <p:cNvSpPr txBox="1"/>
          <p:nvPr/>
        </p:nvSpPr>
        <p:spPr>
          <a:xfrm>
            <a:off x="5138928" y="294329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4</a:t>
            </a:r>
            <a:endParaRPr lang="en-US" sz="1300" dirty="0"/>
          </a:p>
        </p:txBody>
      </p:sp>
      <p:sp>
        <p:nvSpPr>
          <p:cNvPr id="53" name="Text 51"/>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54" name="Text 52"/>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55" name="Shape 53"/>
          <p:cNvSpPr/>
          <p:nvPr/>
        </p:nvSpPr>
        <p:spPr>
          <a:xfrm>
            <a:off x="2975237" y="3247707"/>
            <a:ext cx="18288" cy="136676"/>
          </a:xfrm>
          <a:prstGeom prst="rect">
            <a:avLst/>
          </a:prstGeom>
          <a:solidFill>
            <a:srgbClr val="12A566"/>
          </a:solidFill>
          <a:ln/>
        </p:spPr>
      </p:sp>
      <p:sp>
        <p:nvSpPr>
          <p:cNvPr id="56" name="Text 54"/>
          <p:cNvSpPr txBox="1"/>
          <p:nvPr/>
        </p:nvSpPr>
        <p:spPr>
          <a:xfrm>
            <a:off x="317296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57" name="Text 55"/>
          <p:cNvSpPr txBox="1"/>
          <p:nvPr/>
        </p:nvSpPr>
        <p:spPr>
          <a:xfrm>
            <a:off x="427024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58" name="Text 56"/>
          <p:cNvSpPr txBox="1"/>
          <p:nvPr/>
        </p:nvSpPr>
        <p:spPr>
          <a:xfrm>
            <a:off x="5138928" y="319179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59" name="Text 57"/>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60" name="Text 58"/>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61" name="Shape 59"/>
          <p:cNvSpPr/>
          <p:nvPr/>
        </p:nvSpPr>
        <p:spPr>
          <a:xfrm>
            <a:off x="2969561" y="3496208"/>
            <a:ext cx="18288" cy="136676"/>
          </a:xfrm>
          <a:prstGeom prst="rect">
            <a:avLst/>
          </a:prstGeom>
          <a:solidFill>
            <a:srgbClr val="C2352F"/>
          </a:solidFill>
          <a:ln/>
        </p:spPr>
      </p:sp>
      <p:sp>
        <p:nvSpPr>
          <p:cNvPr id="62" name="Text 60"/>
          <p:cNvSpPr txBox="1"/>
          <p:nvPr/>
        </p:nvSpPr>
        <p:spPr>
          <a:xfrm>
            <a:off x="317296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63" name="Text 61"/>
          <p:cNvSpPr txBox="1"/>
          <p:nvPr/>
        </p:nvSpPr>
        <p:spPr>
          <a:xfrm>
            <a:off x="427024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−661</a:t>
            </a:r>
            <a:endParaRPr lang="en-US" sz="1300" dirty="0"/>
          </a:p>
        </p:txBody>
      </p:sp>
      <p:sp>
        <p:nvSpPr>
          <p:cNvPr id="64" name="Text 62"/>
          <p:cNvSpPr txBox="1"/>
          <p:nvPr/>
        </p:nvSpPr>
        <p:spPr>
          <a:xfrm>
            <a:off x="5138928" y="344029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 of 2</a:t>
            </a:r>
            <a:endParaRPr lang="en-US" sz="1300" dirty="0"/>
          </a:p>
        </p:txBody>
      </p:sp>
      <p:sp>
        <p:nvSpPr>
          <p:cNvPr id="65" name="Text 63"/>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6" name="Text 64"/>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7" name="Shape 65"/>
          <p:cNvSpPr/>
          <p:nvPr/>
        </p:nvSpPr>
        <p:spPr>
          <a:xfrm>
            <a:off x="2968009" y="3744710"/>
            <a:ext cx="18288" cy="136676"/>
          </a:xfrm>
          <a:prstGeom prst="rect">
            <a:avLst/>
          </a:prstGeom>
          <a:solidFill>
            <a:srgbClr val="C2352F"/>
          </a:solidFill>
          <a:ln/>
        </p:spPr>
      </p:sp>
      <p:sp>
        <p:nvSpPr>
          <p:cNvPr id="68" name="Text 66"/>
          <p:cNvSpPr txBox="1"/>
          <p:nvPr/>
        </p:nvSpPr>
        <p:spPr>
          <a:xfrm>
            <a:off x="317296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−$28K</a:t>
            </a:r>
            <a:endParaRPr lang="en-US" sz="1300" dirty="0"/>
          </a:p>
        </p:txBody>
      </p:sp>
      <p:sp>
        <p:nvSpPr>
          <p:cNvPr id="69" name="Text 67"/>
          <p:cNvSpPr txBox="1"/>
          <p:nvPr/>
        </p:nvSpPr>
        <p:spPr>
          <a:xfrm>
            <a:off x="427024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−223</a:t>
            </a:r>
            <a:endParaRPr lang="en-US" sz="1300" dirty="0"/>
          </a:p>
        </p:txBody>
      </p:sp>
      <p:sp>
        <p:nvSpPr>
          <p:cNvPr id="70" name="Text 68"/>
          <p:cNvSpPr txBox="1"/>
          <p:nvPr/>
        </p:nvSpPr>
        <p:spPr>
          <a:xfrm>
            <a:off x="5138928" y="368879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71" name="Text 69"/>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72" name="Text 70"/>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2967908" y="3993212"/>
            <a:ext cx="18288" cy="136676"/>
          </a:xfrm>
          <a:prstGeom prst="rect">
            <a:avLst/>
          </a:prstGeom>
          <a:solidFill>
            <a:srgbClr val="C2352F"/>
          </a:solidFill>
          <a:ln/>
        </p:spPr>
      </p:sp>
      <p:sp>
        <p:nvSpPr>
          <p:cNvPr id="74" name="Text 72"/>
          <p:cNvSpPr txBox="1"/>
          <p:nvPr/>
        </p:nvSpPr>
        <p:spPr>
          <a:xfrm>
            <a:off x="317296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75" name="Text 73"/>
          <p:cNvSpPr txBox="1"/>
          <p:nvPr/>
        </p:nvSpPr>
        <p:spPr>
          <a:xfrm>
            <a:off x="427024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−340</a:t>
            </a:r>
            <a:endParaRPr lang="en-US" sz="1300" dirty="0"/>
          </a:p>
        </p:txBody>
      </p:sp>
      <p:sp>
        <p:nvSpPr>
          <p:cNvPr id="76" name="Text 74"/>
          <p:cNvSpPr txBox="1"/>
          <p:nvPr/>
        </p:nvSpPr>
        <p:spPr>
          <a:xfrm>
            <a:off x="5138928" y="393729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3</a:t>
            </a:r>
            <a:endParaRPr lang="en-US" sz="1300" dirty="0"/>
          </a:p>
        </p:txBody>
      </p:sp>
      <p:sp>
        <p:nvSpPr>
          <p:cNvPr id="77" name="Text 75"/>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8" name="Text 76"/>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9" name="Shape 77"/>
          <p:cNvSpPr/>
          <p:nvPr/>
        </p:nvSpPr>
        <p:spPr>
          <a:xfrm>
            <a:off x="2967012" y="4241713"/>
            <a:ext cx="18288" cy="136676"/>
          </a:xfrm>
          <a:prstGeom prst="rect">
            <a:avLst/>
          </a:prstGeom>
          <a:solidFill>
            <a:srgbClr val="C2352F"/>
          </a:solidFill>
          <a:ln/>
        </p:spPr>
      </p:sp>
      <p:sp>
        <p:nvSpPr>
          <p:cNvPr id="80" name="Text 78"/>
          <p:cNvSpPr txBox="1"/>
          <p:nvPr/>
        </p:nvSpPr>
        <p:spPr>
          <a:xfrm>
            <a:off x="317296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81" name="Text 79"/>
          <p:cNvSpPr txBox="1"/>
          <p:nvPr/>
        </p:nvSpPr>
        <p:spPr>
          <a:xfrm>
            <a:off x="427024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82" name="Text 80"/>
          <p:cNvSpPr txBox="1"/>
          <p:nvPr/>
        </p:nvSpPr>
        <p:spPr>
          <a:xfrm>
            <a:off x="5138928" y="4185800"/>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83" name="Text 81"/>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84" name="Text 82"/>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85" name="Shape 83"/>
          <p:cNvSpPr/>
          <p:nvPr/>
        </p:nvSpPr>
        <p:spPr>
          <a:xfrm>
            <a:off x="2964697" y="4490215"/>
            <a:ext cx="18288" cy="136676"/>
          </a:xfrm>
          <a:prstGeom prst="rect">
            <a:avLst/>
          </a:prstGeom>
          <a:solidFill>
            <a:srgbClr val="C2352F"/>
          </a:solidFill>
          <a:ln/>
        </p:spPr>
      </p:sp>
      <p:sp>
        <p:nvSpPr>
          <p:cNvPr id="86" name="Text 84"/>
          <p:cNvSpPr txBox="1"/>
          <p:nvPr/>
        </p:nvSpPr>
        <p:spPr>
          <a:xfrm>
            <a:off x="317296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−$41K</a:t>
            </a:r>
            <a:endParaRPr lang="en-US" sz="1300" dirty="0"/>
          </a:p>
        </p:txBody>
      </p:sp>
      <p:sp>
        <p:nvSpPr>
          <p:cNvPr id="87" name="Text 85"/>
          <p:cNvSpPr txBox="1"/>
          <p:nvPr/>
        </p:nvSpPr>
        <p:spPr>
          <a:xfrm>
            <a:off x="427024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−452</a:t>
            </a:r>
            <a:endParaRPr lang="en-US" sz="1300" dirty="0"/>
          </a:p>
        </p:txBody>
      </p:sp>
      <p:sp>
        <p:nvSpPr>
          <p:cNvPr id="88" name="Text 86"/>
          <p:cNvSpPr txBox="1"/>
          <p:nvPr/>
        </p:nvSpPr>
        <p:spPr>
          <a:xfrm>
            <a:off x="5138928" y="443430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4</a:t>
            </a:r>
            <a:endParaRPr lang="en-US" sz="1300" dirty="0"/>
          </a:p>
        </p:txBody>
      </p:sp>
      <p:sp>
        <p:nvSpPr>
          <p:cNvPr id="89" name="Text 87"/>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90" name="Text 88"/>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91" name="Shape 89"/>
          <p:cNvSpPr/>
          <p:nvPr/>
        </p:nvSpPr>
        <p:spPr>
          <a:xfrm>
            <a:off x="2962996" y="4738717"/>
            <a:ext cx="18288" cy="136676"/>
          </a:xfrm>
          <a:prstGeom prst="rect">
            <a:avLst/>
          </a:prstGeom>
          <a:solidFill>
            <a:srgbClr val="C2352F"/>
          </a:solidFill>
          <a:ln/>
        </p:spPr>
      </p:sp>
      <p:sp>
        <p:nvSpPr>
          <p:cNvPr id="92" name="Text 90"/>
          <p:cNvSpPr txBox="1"/>
          <p:nvPr/>
        </p:nvSpPr>
        <p:spPr>
          <a:xfrm>
            <a:off x="317296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93" name="Text 91"/>
          <p:cNvSpPr txBox="1"/>
          <p:nvPr/>
        </p:nvSpPr>
        <p:spPr>
          <a:xfrm>
            <a:off x="427024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−569</a:t>
            </a:r>
            <a:endParaRPr lang="en-US" sz="1300" dirty="0"/>
          </a:p>
        </p:txBody>
      </p:sp>
      <p:sp>
        <p:nvSpPr>
          <p:cNvPr id="94" name="Text 92"/>
          <p:cNvSpPr txBox="1"/>
          <p:nvPr/>
        </p:nvSpPr>
        <p:spPr>
          <a:xfrm>
            <a:off x="5138928" y="468280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95" name="Text 93"/>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6" name="Text 94"/>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97" name="Shape 95"/>
          <p:cNvSpPr/>
          <p:nvPr/>
        </p:nvSpPr>
        <p:spPr>
          <a:xfrm>
            <a:off x="2961777" y="4987218"/>
            <a:ext cx="18288" cy="136676"/>
          </a:xfrm>
          <a:prstGeom prst="rect">
            <a:avLst/>
          </a:prstGeom>
          <a:solidFill>
            <a:srgbClr val="C2352F"/>
          </a:solidFill>
          <a:ln/>
        </p:spPr>
      </p:sp>
      <p:sp>
        <p:nvSpPr>
          <p:cNvPr id="98" name="Text 96"/>
          <p:cNvSpPr txBox="1"/>
          <p:nvPr/>
        </p:nvSpPr>
        <p:spPr>
          <a:xfrm>
            <a:off x="317296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−$53K</a:t>
            </a:r>
            <a:endParaRPr lang="en-US" sz="1300" dirty="0"/>
          </a:p>
        </p:txBody>
      </p:sp>
      <p:sp>
        <p:nvSpPr>
          <p:cNvPr id="99" name="Text 97"/>
          <p:cNvSpPr txBox="1"/>
          <p:nvPr/>
        </p:nvSpPr>
        <p:spPr>
          <a:xfrm>
            <a:off x="427024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−660</a:t>
            </a:r>
            <a:endParaRPr lang="en-US" sz="1300" dirty="0"/>
          </a:p>
        </p:txBody>
      </p:sp>
      <p:sp>
        <p:nvSpPr>
          <p:cNvPr id="100" name="Text 98"/>
          <p:cNvSpPr txBox="1"/>
          <p:nvPr/>
        </p:nvSpPr>
        <p:spPr>
          <a:xfrm>
            <a:off x="5138928" y="4931305"/>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01" name="Text 99"/>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2" name="Text 100"/>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3" name="Shape 101"/>
          <p:cNvSpPr/>
          <p:nvPr/>
        </p:nvSpPr>
        <p:spPr>
          <a:xfrm>
            <a:off x="2960067" y="5235720"/>
            <a:ext cx="18288" cy="136676"/>
          </a:xfrm>
          <a:prstGeom prst="rect">
            <a:avLst/>
          </a:prstGeom>
          <a:solidFill>
            <a:srgbClr val="C2352F"/>
          </a:solidFill>
          <a:ln/>
        </p:spPr>
      </p:sp>
      <p:sp>
        <p:nvSpPr>
          <p:cNvPr id="104" name="Text 102"/>
          <p:cNvSpPr txBox="1"/>
          <p:nvPr/>
        </p:nvSpPr>
        <p:spPr>
          <a:xfrm>
            <a:off x="317296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−$59K</a:t>
            </a:r>
            <a:endParaRPr lang="en-US" sz="1300" dirty="0"/>
          </a:p>
        </p:txBody>
      </p:sp>
      <p:sp>
        <p:nvSpPr>
          <p:cNvPr id="105" name="Text 103"/>
          <p:cNvSpPr txBox="1"/>
          <p:nvPr/>
        </p:nvSpPr>
        <p:spPr>
          <a:xfrm>
            <a:off x="427024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−783</a:t>
            </a:r>
            <a:endParaRPr lang="en-US" sz="1300" dirty="0"/>
          </a:p>
        </p:txBody>
      </p:sp>
      <p:sp>
        <p:nvSpPr>
          <p:cNvPr id="106" name="Text 104"/>
          <p:cNvSpPr txBox="1"/>
          <p:nvPr/>
        </p:nvSpPr>
        <p:spPr>
          <a:xfrm>
            <a:off x="5138928" y="517980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07" name="Text 10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8" name="Text 106"/>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09" name="Shape 107"/>
          <p:cNvSpPr/>
          <p:nvPr/>
        </p:nvSpPr>
        <p:spPr>
          <a:xfrm>
            <a:off x="2959820" y="5484222"/>
            <a:ext cx="18288" cy="136676"/>
          </a:xfrm>
          <a:prstGeom prst="rect">
            <a:avLst/>
          </a:prstGeom>
          <a:solidFill>
            <a:srgbClr val="C2352F"/>
          </a:solidFill>
          <a:ln/>
        </p:spPr>
      </p:sp>
      <p:sp>
        <p:nvSpPr>
          <p:cNvPr id="110" name="Text 108"/>
          <p:cNvSpPr txBox="1"/>
          <p:nvPr/>
        </p:nvSpPr>
        <p:spPr>
          <a:xfrm>
            <a:off x="317296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111" name="Text 109"/>
          <p:cNvSpPr txBox="1"/>
          <p:nvPr/>
        </p:nvSpPr>
        <p:spPr>
          <a:xfrm>
            <a:off x="427024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−568</a:t>
            </a:r>
            <a:endParaRPr lang="en-US" sz="1300" dirty="0"/>
          </a:p>
        </p:txBody>
      </p:sp>
      <p:sp>
        <p:nvSpPr>
          <p:cNvPr id="112" name="Text 110"/>
          <p:cNvSpPr txBox="1"/>
          <p:nvPr/>
        </p:nvSpPr>
        <p:spPr>
          <a:xfrm>
            <a:off x="5138928" y="542830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13" name="Text 111"/>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4" name="Text 112"/>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5" name="Shape 113"/>
          <p:cNvSpPr/>
          <p:nvPr/>
        </p:nvSpPr>
        <p:spPr>
          <a:xfrm>
            <a:off x="2959704" y="5732723"/>
            <a:ext cx="18288" cy="136676"/>
          </a:xfrm>
          <a:prstGeom prst="rect">
            <a:avLst/>
          </a:prstGeom>
          <a:solidFill>
            <a:srgbClr val="C2352F"/>
          </a:solidFill>
          <a:ln/>
        </p:spPr>
      </p:sp>
      <p:sp>
        <p:nvSpPr>
          <p:cNvPr id="116" name="Text 114"/>
          <p:cNvSpPr txBox="1"/>
          <p:nvPr/>
        </p:nvSpPr>
        <p:spPr>
          <a:xfrm>
            <a:off x="317296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−$61K</a:t>
            </a:r>
            <a:endParaRPr lang="en-US" sz="1300" dirty="0"/>
          </a:p>
        </p:txBody>
      </p:sp>
      <p:sp>
        <p:nvSpPr>
          <p:cNvPr id="117" name="Text 115"/>
          <p:cNvSpPr txBox="1"/>
          <p:nvPr/>
        </p:nvSpPr>
        <p:spPr>
          <a:xfrm>
            <a:off x="427024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−697</a:t>
            </a:r>
            <a:endParaRPr lang="en-US" sz="1300" dirty="0"/>
          </a:p>
        </p:txBody>
      </p:sp>
      <p:sp>
        <p:nvSpPr>
          <p:cNvPr id="118" name="Text 116"/>
          <p:cNvSpPr txBox="1"/>
          <p:nvPr/>
        </p:nvSpPr>
        <p:spPr>
          <a:xfrm>
            <a:off x="5138928" y="5676810"/>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19" name="Text 117"/>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0" name="Text 118"/>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1" name="Shape 119"/>
          <p:cNvSpPr/>
          <p:nvPr/>
        </p:nvSpPr>
        <p:spPr>
          <a:xfrm>
            <a:off x="8508819" y="1756697"/>
            <a:ext cx="18288" cy="136676"/>
          </a:xfrm>
          <a:prstGeom prst="rect">
            <a:avLst/>
          </a:prstGeom>
          <a:solidFill>
            <a:srgbClr val="C2352F"/>
          </a:solidFill>
          <a:ln/>
        </p:spPr>
      </p:sp>
      <p:sp>
        <p:nvSpPr>
          <p:cNvPr id="122" name="Text 120"/>
          <p:cNvSpPr txBox="1"/>
          <p:nvPr/>
        </p:nvSpPr>
        <p:spPr>
          <a:xfrm>
            <a:off x="872337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−$66K</a:t>
            </a:r>
            <a:endParaRPr lang="en-US" sz="1300" dirty="0"/>
          </a:p>
        </p:txBody>
      </p:sp>
      <p:sp>
        <p:nvSpPr>
          <p:cNvPr id="123" name="Text 121"/>
          <p:cNvSpPr txBox="1"/>
          <p:nvPr/>
        </p:nvSpPr>
        <p:spPr>
          <a:xfrm>
            <a:off x="982065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−640</a:t>
            </a:r>
            <a:endParaRPr lang="en-US" sz="1300" dirty="0"/>
          </a:p>
        </p:txBody>
      </p:sp>
      <p:sp>
        <p:nvSpPr>
          <p:cNvPr id="124" name="Text 122"/>
          <p:cNvSpPr txBox="1"/>
          <p:nvPr/>
        </p:nvSpPr>
        <p:spPr>
          <a:xfrm>
            <a:off x="10689336" y="170078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25" name="Text 123"/>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6" name="Text 124"/>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7" name="Shape 125"/>
          <p:cNvSpPr/>
          <p:nvPr/>
        </p:nvSpPr>
        <p:spPr>
          <a:xfrm>
            <a:off x="8501431" y="2005199"/>
            <a:ext cx="24215" cy="136676"/>
          </a:xfrm>
          <a:prstGeom prst="rect">
            <a:avLst/>
          </a:prstGeom>
          <a:solidFill>
            <a:srgbClr val="C2352F"/>
          </a:solidFill>
          <a:ln/>
        </p:spPr>
      </p:sp>
      <p:sp>
        <p:nvSpPr>
          <p:cNvPr id="128" name="Text 126"/>
          <p:cNvSpPr txBox="1"/>
          <p:nvPr/>
        </p:nvSpPr>
        <p:spPr>
          <a:xfrm>
            <a:off x="872337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129" name="Text 127"/>
          <p:cNvSpPr txBox="1"/>
          <p:nvPr/>
        </p:nvSpPr>
        <p:spPr>
          <a:xfrm>
            <a:off x="982065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−954</a:t>
            </a:r>
            <a:endParaRPr lang="en-US" sz="1300" dirty="0"/>
          </a:p>
        </p:txBody>
      </p:sp>
      <p:sp>
        <p:nvSpPr>
          <p:cNvPr id="130" name="Text 128"/>
          <p:cNvSpPr txBox="1"/>
          <p:nvPr/>
        </p:nvSpPr>
        <p:spPr>
          <a:xfrm>
            <a:off x="10689336" y="194928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31" name="Text 129"/>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2" name="Text 130"/>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33" name="Shape 131"/>
          <p:cNvSpPr/>
          <p:nvPr/>
        </p:nvSpPr>
        <p:spPr>
          <a:xfrm>
            <a:off x="8500128" y="2253700"/>
            <a:ext cx="25517" cy="136676"/>
          </a:xfrm>
          <a:prstGeom prst="rect">
            <a:avLst/>
          </a:prstGeom>
          <a:solidFill>
            <a:srgbClr val="C2352F"/>
          </a:solidFill>
          <a:ln/>
        </p:spPr>
      </p:sp>
      <p:sp>
        <p:nvSpPr>
          <p:cNvPr id="134" name="Text 132"/>
          <p:cNvSpPr txBox="1"/>
          <p:nvPr/>
        </p:nvSpPr>
        <p:spPr>
          <a:xfrm>
            <a:off x="872337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135" name="Text 133"/>
          <p:cNvSpPr txBox="1"/>
          <p:nvPr/>
        </p:nvSpPr>
        <p:spPr>
          <a:xfrm>
            <a:off x="982065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−1,100</a:t>
            </a:r>
            <a:endParaRPr lang="en-US" sz="1300" dirty="0"/>
          </a:p>
        </p:txBody>
      </p:sp>
      <p:sp>
        <p:nvSpPr>
          <p:cNvPr id="136" name="Text 134"/>
          <p:cNvSpPr txBox="1"/>
          <p:nvPr/>
        </p:nvSpPr>
        <p:spPr>
          <a:xfrm>
            <a:off x="10689336" y="219778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37" name="Text 135"/>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8" name="Text 136"/>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9" name="Shape 137"/>
          <p:cNvSpPr/>
          <p:nvPr/>
        </p:nvSpPr>
        <p:spPr>
          <a:xfrm>
            <a:off x="8498760" y="2502202"/>
            <a:ext cx="26886" cy="136676"/>
          </a:xfrm>
          <a:prstGeom prst="rect">
            <a:avLst/>
          </a:prstGeom>
          <a:solidFill>
            <a:srgbClr val="C2352F"/>
          </a:solidFill>
          <a:ln/>
        </p:spPr>
      </p:sp>
      <p:sp>
        <p:nvSpPr>
          <p:cNvPr id="140" name="Text 138"/>
          <p:cNvSpPr txBox="1"/>
          <p:nvPr/>
        </p:nvSpPr>
        <p:spPr>
          <a:xfrm>
            <a:off x="872337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41" name="Text 139"/>
          <p:cNvSpPr txBox="1"/>
          <p:nvPr/>
        </p:nvSpPr>
        <p:spPr>
          <a:xfrm>
            <a:off x="982065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−827</a:t>
            </a:r>
            <a:endParaRPr lang="en-US" sz="1300" dirty="0"/>
          </a:p>
        </p:txBody>
      </p:sp>
      <p:sp>
        <p:nvSpPr>
          <p:cNvPr id="142" name="Text 140"/>
          <p:cNvSpPr txBox="1"/>
          <p:nvPr/>
        </p:nvSpPr>
        <p:spPr>
          <a:xfrm>
            <a:off x="10689336" y="244628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3</a:t>
            </a:r>
            <a:endParaRPr lang="en-US" sz="1300" dirty="0"/>
          </a:p>
        </p:txBody>
      </p:sp>
      <p:sp>
        <p:nvSpPr>
          <p:cNvPr id="143" name="Text 141"/>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44" name="Text 142"/>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45" name="Shape 143"/>
          <p:cNvSpPr/>
          <p:nvPr/>
        </p:nvSpPr>
        <p:spPr>
          <a:xfrm>
            <a:off x="8498630" y="2750703"/>
            <a:ext cx="27015" cy="136676"/>
          </a:xfrm>
          <a:prstGeom prst="rect">
            <a:avLst/>
          </a:prstGeom>
          <a:solidFill>
            <a:srgbClr val="C2352F"/>
          </a:solidFill>
          <a:ln/>
        </p:spPr>
      </p:sp>
      <p:sp>
        <p:nvSpPr>
          <p:cNvPr id="146" name="Text 144"/>
          <p:cNvSpPr txBox="1"/>
          <p:nvPr/>
        </p:nvSpPr>
        <p:spPr>
          <a:xfrm>
            <a:off x="872337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47" name="Text 145"/>
          <p:cNvSpPr txBox="1"/>
          <p:nvPr/>
        </p:nvSpPr>
        <p:spPr>
          <a:xfrm>
            <a:off x="982065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−1,068</a:t>
            </a:r>
            <a:endParaRPr lang="en-US" sz="1300" dirty="0"/>
          </a:p>
        </p:txBody>
      </p:sp>
      <p:sp>
        <p:nvSpPr>
          <p:cNvPr id="148" name="Text 146"/>
          <p:cNvSpPr txBox="1"/>
          <p:nvPr/>
        </p:nvSpPr>
        <p:spPr>
          <a:xfrm>
            <a:off x="10689336" y="2694791"/>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49" name="Text 147"/>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50" name="Text 148"/>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51" name="Shape 149"/>
          <p:cNvSpPr/>
          <p:nvPr/>
        </p:nvSpPr>
        <p:spPr>
          <a:xfrm>
            <a:off x="8489802" y="2999205"/>
            <a:ext cx="35844" cy="136676"/>
          </a:xfrm>
          <a:prstGeom prst="rect">
            <a:avLst/>
          </a:prstGeom>
          <a:solidFill>
            <a:srgbClr val="C2352F"/>
          </a:solidFill>
          <a:ln/>
        </p:spPr>
      </p:sp>
      <p:sp>
        <p:nvSpPr>
          <p:cNvPr id="152" name="Text 150"/>
          <p:cNvSpPr txBox="1"/>
          <p:nvPr/>
        </p:nvSpPr>
        <p:spPr>
          <a:xfrm>
            <a:off x="872337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−$140K</a:t>
            </a:r>
            <a:endParaRPr lang="en-US" sz="1300" dirty="0"/>
          </a:p>
        </p:txBody>
      </p:sp>
      <p:sp>
        <p:nvSpPr>
          <p:cNvPr id="153" name="Text 151"/>
          <p:cNvSpPr txBox="1"/>
          <p:nvPr/>
        </p:nvSpPr>
        <p:spPr>
          <a:xfrm>
            <a:off x="982065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−1,717</a:t>
            </a:r>
            <a:endParaRPr lang="en-US" sz="1300" dirty="0"/>
          </a:p>
        </p:txBody>
      </p:sp>
      <p:sp>
        <p:nvSpPr>
          <p:cNvPr id="154" name="Text 152"/>
          <p:cNvSpPr txBox="1"/>
          <p:nvPr/>
        </p:nvSpPr>
        <p:spPr>
          <a:xfrm>
            <a:off x="10689336" y="294329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55" name="Text 153"/>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6" name="Text 154"/>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57" name="Shape 155"/>
          <p:cNvSpPr/>
          <p:nvPr/>
        </p:nvSpPr>
        <p:spPr>
          <a:xfrm>
            <a:off x="8487247" y="3247707"/>
            <a:ext cx="38398" cy="136676"/>
          </a:xfrm>
          <a:prstGeom prst="rect">
            <a:avLst/>
          </a:prstGeom>
          <a:solidFill>
            <a:srgbClr val="C2352F"/>
          </a:solidFill>
          <a:ln/>
        </p:spPr>
      </p:sp>
      <p:sp>
        <p:nvSpPr>
          <p:cNvPr id="158" name="Text 156"/>
          <p:cNvSpPr txBox="1"/>
          <p:nvPr/>
        </p:nvSpPr>
        <p:spPr>
          <a:xfrm>
            <a:off x="872337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59" name="Text 157"/>
          <p:cNvSpPr txBox="1"/>
          <p:nvPr/>
        </p:nvSpPr>
        <p:spPr>
          <a:xfrm>
            <a:off x="982065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−1,613</a:t>
            </a:r>
            <a:endParaRPr lang="en-US" sz="1300" dirty="0"/>
          </a:p>
        </p:txBody>
      </p:sp>
      <p:sp>
        <p:nvSpPr>
          <p:cNvPr id="160" name="Text 158"/>
          <p:cNvSpPr txBox="1"/>
          <p:nvPr/>
        </p:nvSpPr>
        <p:spPr>
          <a:xfrm>
            <a:off x="10689336" y="319179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61" name="Text 159"/>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62" name="Text 160"/>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63" name="Shape 161"/>
          <p:cNvSpPr/>
          <p:nvPr/>
        </p:nvSpPr>
        <p:spPr>
          <a:xfrm>
            <a:off x="8487198" y="3496208"/>
            <a:ext cx="38447" cy="136676"/>
          </a:xfrm>
          <a:prstGeom prst="rect">
            <a:avLst/>
          </a:prstGeom>
          <a:solidFill>
            <a:srgbClr val="C2352F"/>
          </a:solidFill>
          <a:ln/>
        </p:spPr>
      </p:sp>
      <p:sp>
        <p:nvSpPr>
          <p:cNvPr id="164" name="Text 162"/>
          <p:cNvSpPr txBox="1"/>
          <p:nvPr/>
        </p:nvSpPr>
        <p:spPr>
          <a:xfrm>
            <a:off x="872337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65" name="Text 163"/>
          <p:cNvSpPr txBox="1"/>
          <p:nvPr/>
        </p:nvSpPr>
        <p:spPr>
          <a:xfrm>
            <a:off x="982065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−1,257</a:t>
            </a:r>
            <a:endParaRPr lang="en-US" sz="1300" dirty="0"/>
          </a:p>
        </p:txBody>
      </p:sp>
      <p:sp>
        <p:nvSpPr>
          <p:cNvPr id="166" name="Text 164"/>
          <p:cNvSpPr txBox="1"/>
          <p:nvPr/>
        </p:nvSpPr>
        <p:spPr>
          <a:xfrm>
            <a:off x="10689336" y="3440296"/>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67" name="Text 16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8" name="Text 166"/>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9" name="Shape 167"/>
          <p:cNvSpPr/>
          <p:nvPr/>
        </p:nvSpPr>
        <p:spPr>
          <a:xfrm>
            <a:off x="8484196" y="3744710"/>
            <a:ext cx="41450" cy="136676"/>
          </a:xfrm>
          <a:prstGeom prst="rect">
            <a:avLst/>
          </a:prstGeom>
          <a:solidFill>
            <a:srgbClr val="C2352F"/>
          </a:solidFill>
          <a:ln/>
        </p:spPr>
      </p:sp>
      <p:sp>
        <p:nvSpPr>
          <p:cNvPr id="170" name="Text 168"/>
          <p:cNvSpPr txBox="1"/>
          <p:nvPr/>
        </p:nvSpPr>
        <p:spPr>
          <a:xfrm>
            <a:off x="872337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−$162K</a:t>
            </a:r>
            <a:endParaRPr lang="en-US" sz="1300" dirty="0"/>
          </a:p>
        </p:txBody>
      </p:sp>
      <p:sp>
        <p:nvSpPr>
          <p:cNvPr id="171" name="Text 169"/>
          <p:cNvSpPr txBox="1"/>
          <p:nvPr/>
        </p:nvSpPr>
        <p:spPr>
          <a:xfrm>
            <a:off x="982065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−1,152</a:t>
            </a:r>
            <a:endParaRPr lang="en-US" sz="1300" dirty="0"/>
          </a:p>
        </p:txBody>
      </p:sp>
      <p:sp>
        <p:nvSpPr>
          <p:cNvPr id="172" name="Text 170"/>
          <p:cNvSpPr txBox="1"/>
          <p:nvPr/>
        </p:nvSpPr>
        <p:spPr>
          <a:xfrm>
            <a:off x="10689336" y="368879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2</a:t>
            </a:r>
            <a:endParaRPr lang="en-US" sz="1300" dirty="0"/>
          </a:p>
        </p:txBody>
      </p:sp>
      <p:sp>
        <p:nvSpPr>
          <p:cNvPr id="173" name="Text 171"/>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74" name="Text 172"/>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75" name="Shape 173"/>
          <p:cNvSpPr/>
          <p:nvPr/>
        </p:nvSpPr>
        <p:spPr>
          <a:xfrm>
            <a:off x="8480903" y="3993212"/>
            <a:ext cx="44743" cy="136676"/>
          </a:xfrm>
          <a:prstGeom prst="rect">
            <a:avLst/>
          </a:prstGeom>
          <a:solidFill>
            <a:srgbClr val="C2352F"/>
          </a:solidFill>
          <a:ln/>
        </p:spPr>
      </p:sp>
      <p:sp>
        <p:nvSpPr>
          <p:cNvPr id="176" name="Text 174"/>
          <p:cNvSpPr txBox="1"/>
          <p:nvPr/>
        </p:nvSpPr>
        <p:spPr>
          <a:xfrm>
            <a:off x="872337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−$175K</a:t>
            </a:r>
            <a:endParaRPr lang="en-US" sz="1300" dirty="0"/>
          </a:p>
        </p:txBody>
      </p:sp>
      <p:sp>
        <p:nvSpPr>
          <p:cNvPr id="177" name="Text 175"/>
          <p:cNvSpPr txBox="1"/>
          <p:nvPr/>
        </p:nvSpPr>
        <p:spPr>
          <a:xfrm>
            <a:off x="982065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−1,906</a:t>
            </a:r>
            <a:endParaRPr lang="en-US" sz="1300" dirty="0"/>
          </a:p>
        </p:txBody>
      </p:sp>
      <p:sp>
        <p:nvSpPr>
          <p:cNvPr id="178" name="Text 176"/>
          <p:cNvSpPr txBox="1"/>
          <p:nvPr/>
        </p:nvSpPr>
        <p:spPr>
          <a:xfrm>
            <a:off x="10689336" y="393729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79" name="Text 177"/>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80" name="Text 178"/>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81" name="Shape 179"/>
          <p:cNvSpPr/>
          <p:nvPr/>
        </p:nvSpPr>
        <p:spPr>
          <a:xfrm>
            <a:off x="8478593" y="4241713"/>
            <a:ext cx="47053" cy="136676"/>
          </a:xfrm>
          <a:prstGeom prst="rect">
            <a:avLst/>
          </a:prstGeom>
          <a:solidFill>
            <a:srgbClr val="C2352F"/>
          </a:solidFill>
          <a:ln/>
        </p:spPr>
      </p:sp>
      <p:sp>
        <p:nvSpPr>
          <p:cNvPr id="182" name="Text 180"/>
          <p:cNvSpPr txBox="1"/>
          <p:nvPr/>
        </p:nvSpPr>
        <p:spPr>
          <a:xfrm>
            <a:off x="872337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−$184K</a:t>
            </a:r>
            <a:endParaRPr lang="en-US" sz="1300" dirty="0"/>
          </a:p>
        </p:txBody>
      </p:sp>
      <p:sp>
        <p:nvSpPr>
          <p:cNvPr id="183" name="Text 181"/>
          <p:cNvSpPr txBox="1"/>
          <p:nvPr/>
        </p:nvSpPr>
        <p:spPr>
          <a:xfrm>
            <a:off x="982065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−1,863</a:t>
            </a:r>
            <a:endParaRPr lang="en-US" sz="1300" dirty="0"/>
          </a:p>
        </p:txBody>
      </p:sp>
      <p:sp>
        <p:nvSpPr>
          <p:cNvPr id="184" name="Text 182"/>
          <p:cNvSpPr txBox="1"/>
          <p:nvPr/>
        </p:nvSpPr>
        <p:spPr>
          <a:xfrm>
            <a:off x="10689336" y="4185800"/>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85" name="Text 183"/>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6" name="Text 184"/>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87" name="Shape 185"/>
          <p:cNvSpPr/>
          <p:nvPr/>
        </p:nvSpPr>
        <p:spPr>
          <a:xfrm>
            <a:off x="8478241" y="4490215"/>
            <a:ext cx="47404" cy="136676"/>
          </a:xfrm>
          <a:prstGeom prst="rect">
            <a:avLst/>
          </a:prstGeom>
          <a:solidFill>
            <a:srgbClr val="C2352F"/>
          </a:solidFill>
          <a:ln/>
        </p:spPr>
      </p:sp>
      <p:sp>
        <p:nvSpPr>
          <p:cNvPr id="188" name="Text 186"/>
          <p:cNvSpPr txBox="1"/>
          <p:nvPr/>
        </p:nvSpPr>
        <p:spPr>
          <a:xfrm>
            <a:off x="872337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−$185K</a:t>
            </a:r>
            <a:endParaRPr lang="en-US" sz="1300" dirty="0"/>
          </a:p>
        </p:txBody>
      </p:sp>
      <p:sp>
        <p:nvSpPr>
          <p:cNvPr id="189" name="Text 187"/>
          <p:cNvSpPr txBox="1"/>
          <p:nvPr/>
        </p:nvSpPr>
        <p:spPr>
          <a:xfrm>
            <a:off x="982065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−1,708</a:t>
            </a:r>
            <a:endParaRPr lang="en-US" sz="1300" dirty="0"/>
          </a:p>
        </p:txBody>
      </p:sp>
      <p:sp>
        <p:nvSpPr>
          <p:cNvPr id="190" name="Text 188"/>
          <p:cNvSpPr txBox="1"/>
          <p:nvPr/>
        </p:nvSpPr>
        <p:spPr>
          <a:xfrm>
            <a:off x="10689336" y="4434302"/>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191" name="Text 189"/>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92" name="Text 190"/>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93" name="Shape 191"/>
          <p:cNvSpPr/>
          <p:nvPr/>
        </p:nvSpPr>
        <p:spPr>
          <a:xfrm>
            <a:off x="8467509" y="4738717"/>
            <a:ext cx="58136" cy="136676"/>
          </a:xfrm>
          <a:prstGeom prst="rect">
            <a:avLst/>
          </a:prstGeom>
          <a:solidFill>
            <a:srgbClr val="C2352F"/>
          </a:solidFill>
          <a:ln/>
        </p:spPr>
      </p:sp>
      <p:sp>
        <p:nvSpPr>
          <p:cNvPr id="194" name="Text 192"/>
          <p:cNvSpPr txBox="1"/>
          <p:nvPr/>
        </p:nvSpPr>
        <p:spPr>
          <a:xfrm>
            <a:off x="872337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−$227K</a:t>
            </a:r>
            <a:endParaRPr lang="en-US" sz="1300" dirty="0"/>
          </a:p>
        </p:txBody>
      </p:sp>
      <p:sp>
        <p:nvSpPr>
          <p:cNvPr id="195" name="Text 193"/>
          <p:cNvSpPr txBox="1"/>
          <p:nvPr/>
        </p:nvSpPr>
        <p:spPr>
          <a:xfrm>
            <a:off x="982065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−3,005</a:t>
            </a:r>
            <a:endParaRPr lang="en-US" sz="1300" dirty="0"/>
          </a:p>
        </p:txBody>
      </p:sp>
      <p:sp>
        <p:nvSpPr>
          <p:cNvPr id="196" name="Text 194"/>
          <p:cNvSpPr txBox="1"/>
          <p:nvPr/>
        </p:nvSpPr>
        <p:spPr>
          <a:xfrm>
            <a:off x="10689336" y="4682804"/>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4</a:t>
            </a:r>
            <a:endParaRPr lang="en-US" sz="1300" dirty="0"/>
          </a:p>
        </p:txBody>
      </p:sp>
      <p:sp>
        <p:nvSpPr>
          <p:cNvPr id="197" name="Text 195"/>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8" name="Text 196"/>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99" name="Shape 197"/>
          <p:cNvSpPr/>
          <p:nvPr/>
        </p:nvSpPr>
        <p:spPr>
          <a:xfrm>
            <a:off x="8457267" y="4987218"/>
            <a:ext cx="68379" cy="136676"/>
          </a:xfrm>
          <a:prstGeom prst="rect">
            <a:avLst/>
          </a:prstGeom>
          <a:solidFill>
            <a:srgbClr val="C2352F"/>
          </a:solidFill>
          <a:ln/>
        </p:spPr>
      </p:sp>
      <p:sp>
        <p:nvSpPr>
          <p:cNvPr id="200" name="Text 198"/>
          <p:cNvSpPr txBox="1"/>
          <p:nvPr/>
        </p:nvSpPr>
        <p:spPr>
          <a:xfrm>
            <a:off x="872337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−$267K</a:t>
            </a:r>
            <a:endParaRPr lang="en-US" sz="1300" dirty="0"/>
          </a:p>
        </p:txBody>
      </p:sp>
      <p:sp>
        <p:nvSpPr>
          <p:cNvPr id="201" name="Text 199"/>
          <p:cNvSpPr txBox="1"/>
          <p:nvPr/>
        </p:nvSpPr>
        <p:spPr>
          <a:xfrm>
            <a:off x="982065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−3,494</a:t>
            </a:r>
            <a:endParaRPr lang="en-US" sz="1300" dirty="0"/>
          </a:p>
        </p:txBody>
      </p:sp>
      <p:sp>
        <p:nvSpPr>
          <p:cNvPr id="202" name="Shape 200"/>
          <p:cNvSpPr/>
          <p:nvPr/>
        </p:nvSpPr>
        <p:spPr>
          <a:xfrm>
            <a:off x="10744200" y="4977025"/>
            <a:ext cx="54864" cy="157062"/>
          </a:xfrm>
          <a:prstGeom prst="rect">
            <a:avLst/>
          </a:prstGeom>
          <a:solidFill>
            <a:srgbClr val="C2352F"/>
          </a:solidFill>
          <a:ln/>
        </p:spPr>
      </p:sp>
      <p:sp>
        <p:nvSpPr>
          <p:cNvPr id="203" name="Text 201"/>
          <p:cNvSpPr txBox="1"/>
          <p:nvPr/>
        </p:nvSpPr>
        <p:spPr>
          <a:xfrm>
            <a:off x="10689336" y="4931305"/>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04" name="Text 202"/>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205" name="Text 203"/>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06" name="Shape 204"/>
          <p:cNvSpPr/>
          <p:nvPr/>
        </p:nvSpPr>
        <p:spPr>
          <a:xfrm>
            <a:off x="8434344" y="5235720"/>
            <a:ext cx="91302" cy="136676"/>
          </a:xfrm>
          <a:prstGeom prst="rect">
            <a:avLst/>
          </a:prstGeom>
          <a:solidFill>
            <a:srgbClr val="C2352F"/>
          </a:solidFill>
          <a:ln/>
        </p:spPr>
      </p:sp>
      <p:sp>
        <p:nvSpPr>
          <p:cNvPr id="207" name="Text 205"/>
          <p:cNvSpPr txBox="1"/>
          <p:nvPr/>
        </p:nvSpPr>
        <p:spPr>
          <a:xfrm>
            <a:off x="872337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−$356K</a:t>
            </a:r>
            <a:endParaRPr lang="en-US" sz="1300" dirty="0"/>
          </a:p>
        </p:txBody>
      </p:sp>
      <p:sp>
        <p:nvSpPr>
          <p:cNvPr id="208" name="Text 206"/>
          <p:cNvSpPr txBox="1"/>
          <p:nvPr/>
        </p:nvSpPr>
        <p:spPr>
          <a:xfrm>
            <a:off x="982065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−3,177</a:t>
            </a:r>
            <a:endParaRPr lang="en-US" sz="1300" dirty="0"/>
          </a:p>
        </p:txBody>
      </p:sp>
      <p:sp>
        <p:nvSpPr>
          <p:cNvPr id="209" name="Shape 207"/>
          <p:cNvSpPr/>
          <p:nvPr/>
        </p:nvSpPr>
        <p:spPr>
          <a:xfrm>
            <a:off x="10744200" y="5225527"/>
            <a:ext cx="54864" cy="157062"/>
          </a:xfrm>
          <a:prstGeom prst="rect">
            <a:avLst/>
          </a:prstGeom>
          <a:solidFill>
            <a:srgbClr val="C2352F"/>
          </a:solidFill>
          <a:ln/>
        </p:spPr>
      </p:sp>
      <p:sp>
        <p:nvSpPr>
          <p:cNvPr id="210" name="Text 208"/>
          <p:cNvSpPr txBox="1"/>
          <p:nvPr/>
        </p:nvSpPr>
        <p:spPr>
          <a:xfrm>
            <a:off x="10689336" y="5179807"/>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11" name="Text 209"/>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12" name="Text 210"/>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13" name="Shape 211"/>
          <p:cNvSpPr/>
          <p:nvPr/>
        </p:nvSpPr>
        <p:spPr>
          <a:xfrm>
            <a:off x="8421624" y="5484222"/>
            <a:ext cx="104021" cy="136676"/>
          </a:xfrm>
          <a:prstGeom prst="rect">
            <a:avLst/>
          </a:prstGeom>
          <a:solidFill>
            <a:srgbClr val="C2352F"/>
          </a:solidFill>
          <a:ln/>
        </p:spPr>
      </p:sp>
      <p:sp>
        <p:nvSpPr>
          <p:cNvPr id="214" name="Text 212"/>
          <p:cNvSpPr txBox="1"/>
          <p:nvPr/>
        </p:nvSpPr>
        <p:spPr>
          <a:xfrm>
            <a:off x="872337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−$406K</a:t>
            </a:r>
            <a:endParaRPr lang="en-US" sz="1300" dirty="0"/>
          </a:p>
        </p:txBody>
      </p:sp>
      <p:sp>
        <p:nvSpPr>
          <p:cNvPr id="215" name="Text 213"/>
          <p:cNvSpPr txBox="1"/>
          <p:nvPr/>
        </p:nvSpPr>
        <p:spPr>
          <a:xfrm>
            <a:off x="982065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−5,191</a:t>
            </a:r>
            <a:endParaRPr lang="en-US" sz="1300" dirty="0"/>
          </a:p>
        </p:txBody>
      </p:sp>
      <p:sp>
        <p:nvSpPr>
          <p:cNvPr id="216" name="Shape 214"/>
          <p:cNvSpPr/>
          <p:nvPr/>
        </p:nvSpPr>
        <p:spPr>
          <a:xfrm>
            <a:off x="10744200" y="5474029"/>
            <a:ext cx="54864" cy="157062"/>
          </a:xfrm>
          <a:prstGeom prst="rect">
            <a:avLst/>
          </a:prstGeom>
          <a:solidFill>
            <a:srgbClr val="C2352F"/>
          </a:solidFill>
          <a:ln/>
        </p:spPr>
      </p:sp>
      <p:sp>
        <p:nvSpPr>
          <p:cNvPr id="217" name="Text 215"/>
          <p:cNvSpPr txBox="1"/>
          <p:nvPr/>
        </p:nvSpPr>
        <p:spPr>
          <a:xfrm>
            <a:off x="10689336" y="5428309"/>
            <a:ext cx="77724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4</a:t>
            </a:r>
            <a:endParaRPr lang="en-US" sz="1300" dirty="0"/>
          </a:p>
        </p:txBody>
      </p:sp>
      <p:sp>
        <p:nvSpPr>
          <p:cNvPr id="218" name="Shape 216"/>
          <p:cNvSpPr/>
          <p:nvPr/>
        </p:nvSpPr>
        <p:spPr>
          <a:xfrm>
            <a:off x="6085332" y="1700784"/>
            <a:ext cx="10973" cy="4224528"/>
          </a:xfrm>
          <a:prstGeom prst="rect">
            <a:avLst/>
          </a:prstGeom>
          <a:solidFill>
            <a:srgbClr val="D9D9D9"/>
          </a:solidFill>
          <a:ln/>
        </p:spPr>
      </p:sp>
      <p:sp>
        <p:nvSpPr>
          <p:cNvPr id="220" name="Shape 217"/>
          <p:cNvSpPr/>
          <p:nvPr/>
        </p:nvSpPr>
        <p:spPr>
          <a:xfrm>
            <a:off x="457200" y="6126480"/>
            <a:ext cx="11274552" cy="615696"/>
          </a:xfrm>
          <a:prstGeom prst="rect">
            <a:avLst/>
          </a:prstGeom>
          <a:solidFill>
            <a:srgbClr val="FBEBEA"/>
          </a:solidFill>
          <a:ln/>
        </p:spPr>
      </p:sp>
      <p:sp>
        <p:nvSpPr>
          <p:cNvPr id="221" name="Text 2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7 of 33 stores are ahead of benchmark on net across the four services. 15 stores miss every benchmark that applies to them; 1 store misses none.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2026-10-28T18:18:10Z</dcterms:created>
  <dcterms:modified xsi:type="dcterms:W3CDTF">2026-10-28T18:18:10Z</dcterms:modified>
</cp:coreProperties>
</file>