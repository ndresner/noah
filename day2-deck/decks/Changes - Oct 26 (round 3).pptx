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82.xml" ContentType="application/vnd.openxmlformats-officedocument.presentationml.notesSlide+xml"/>
  <Override PartName="/ppt/notesSlides/notesSlide8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6.xml" ContentType="application/vnd.openxmlformats-officedocument.presentationml.slide+xml"/>
  <Override PartName="/ppt/slides/slide8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7" r:id="rId88"/>
    <p:sldId id="342" r:id="rId93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88" Type="http://schemas.openxmlformats.org/officeDocument/2006/relationships/slide" Target="slides/slide76.xml"/><Relationship Id="rId93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Definitions match the data slides: Qlik - Closed Repair Orders (all customer-pay ROs, by close month), Profit &amp; Loss and Productivity apps, Jan-Sep 2026 vs 2025, same-store, 33 stores. Worked example: Service Manager Roundtable, Nov 15, 2024, slide 21.PLACE: CP Engine, in front of CP Labor Gross Profit %.</a:t>
            </a:r>
          </a:p>
          <a:p>
            <a:r>
              <a:t>Example (Noah, Oct 23: replaces the Roundtable table): one CP hour at the group's Jan-Sep 2026 averages, $162.42 ELR, $31.21 tech cost per hour sold, $131.21 kept = 80.8%; rounded on the slide.</a:t>
            </a:r>
          </a:p>
          <a:p>
            <a:r>
              <a:t>Oct 23 (Noah): The Goldilocks Margin talking point is folded into this slide (it repeated it): no Goldilocks or Roundtable wording; its ask (match the tech to the job, not squeeze tech pay) is the first Why It Matters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Definitions match the data slides: Qlik - Closed Repair Orders (all customer-pay ROs, by close month), Profit &amp; Loss and Productivity apps, Jan-Sep 2026 vs 2025, same-store, 33 stores. Worked example: Service Manager Roundtable, Nov 15, 2024, slide 21.PLACE: CP Engine, in front of CP Parts Gross Profit %.</a:t>
            </a:r>
          </a:p>
          <a:p>
            <a:r>
              <a:t>Why understand your parts pricing matrix (Noah, Oct 26): (1) Maximize gross profit: price parts to maximize profitability; find gross without more volume. (2) Consistent pricing: every customer charged the same for the same part; no incorrect prices from bad setups or manual overrides. (3) Stay competitive: avoid markups that make repairs too expensive; balance profit with price on higher-cost parts. (4) Check the matrix is applied: parts actually sell at matrix prices; find parts, labor types or transactions that bypass it. (5) Warranty reimbursement: customer-pay parts pricing drives the warranty parts reimbursement rate, so good pricing supports a higher rate and more warranty gross. (6) Control the strategy: know how your matrix is configured and review it against your gross profit goals. Takeaway: the matrix is one of the most effective tools for improving profit without more volume.</a:t>
            </a:r>
          </a:p>
          <a:p>
            <a:r>
              <a:t>5 reasons parts gross profit % matters (Noah, Oct 26): (1) Maximizes profitability: higher GP % earns more from the same volume; small improvements add up over a year. (2) Measures pricing effectiveness: are parts sold at the right prices; where to improve matrices, discounts and markups. (3) Controls discounts and cost increases: shows when discounting cuts profit, and when rising parts costs are not reflected in selling prices. (4) Supports dealership profit: parts gross covers department expenses, adds to net profit and helps fixed ops absorb store overhead. (5) Identifies opportunities: compare against targets, history and other stores; find weak categories (customer pay, wholesale, warranty, internal). Takeaway: parts GP % measures how well we turn parts sales into profit; raising it is one of the most direct ways to grow profit without more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Labor Gross Profit %?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24128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243584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GP %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(CP labor sale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cost)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÷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sale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share of each labor dollar we keep after paying the technician.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HOUR SOLD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340864"/>
            <a:ext cx="22791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359152" y="2340864"/>
            <a:ext cx="2132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1 hour at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74870" y="2340864"/>
            <a:ext cx="22791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748022" y="2340864"/>
            <a:ext cx="2132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the tech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63740" y="2340864"/>
            <a:ext cx="22791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136892" y="2340864"/>
            <a:ext cx="2132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keep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52610" y="2340864"/>
            <a:ext cx="227914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525762" y="2340864"/>
            <a:ext cx="2132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$131 ÷ $162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07792"/>
            <a:ext cx="4343400" cy="30815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937760" y="2907792"/>
            <a:ext cx="6793992" cy="30815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58368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30358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MOVES IT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410712"/>
            <a:ext cx="39776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target range is 78% to 80%: not too high, not too low. Hold it by matching the tech to the work, not by squeezing tech pay.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low means our labor price is too low for what we pay the tech, or tech cost is too high for what we charge.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high can mean techs are underpaid, which can cost us technicians and hurt retention.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138928" y="3410712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266944" y="3410712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 labor rate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tech cost, higher ELR = higher margin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09104" y="3410712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437120" y="3410712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pay rate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Flat-rate pay per hour against the rate we sell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479280" y="3410712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9607296" y="3410712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Skill-code costing: don't pay a master-tech rate on an oil change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138928" y="4654296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5266944" y="4654296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of 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 runs a lower margin than repair at full door rate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09104" y="4654296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7437120" y="4654296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Low-rate 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detail and other low-dollar-per-hour work pull the margin down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479280" y="4654296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9607296" y="4654296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it and keep controls in place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Group: 80.8% CP labor gross profit, down 0.1 pts and just above the 78-80% target range.</a:t>
            </a:r>
            <a:endParaRPr lang="en-US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Parts Gross Profit %?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24128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243584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GP %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(CP parts sale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cost)  </a:t>
            </a:r>
            <a:pPr indent="0" marL="0">
              <a:buNone/>
            </a:pPr>
            <a:r>
              <a:rPr lang="en-US" sz="24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÷  </a:t>
            </a:r>
            <a:pPr indent="0" marL="0">
              <a:buNone/>
            </a:pPr>
            <a:r>
              <a:rPr lang="en-US" sz="2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sale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share of each customer-pay parts dollar we keep after the cost of the part.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40864"/>
            <a:ext cx="4343400" cy="3648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937760" y="2340864"/>
            <a:ext cx="6793992" cy="3648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" y="2468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38928" y="24688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MOVES IT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843784"/>
            <a:ext cx="3977640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profit from the same parts sales: small gains add up over a year.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shows whether parts sell at the right price: matrix, markups and discounts.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flags heavy discounting, or cost increases we have not passed on.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pricing supports the warranty parts reimbursement rate.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38928" y="2843784"/>
            <a:ext cx="45720" cy="1121027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266944" y="2843784"/>
            <a:ext cx="2962656" cy="1121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pricing matrix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how it is set up, make sure pricing follows the matrix setup, and review it against your gross goals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94192" y="2843784"/>
            <a:ext cx="45720" cy="1121027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522208" y="2843784"/>
            <a:ext cx="2962656" cy="1121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 and overrides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discounts and manual price changes; keep safeguards in place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38928" y="4074539"/>
            <a:ext cx="45720" cy="801942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266944" y="4074539"/>
            <a:ext cx="2962656" cy="801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competitive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margin with price, especially on high-cost parts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94192" y="4074539"/>
            <a:ext cx="45720" cy="801942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522208" y="4074539"/>
            <a:ext cx="2962656" cy="801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Tires and competitive items carry thinner margins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38928" y="4986210"/>
            <a:ext cx="45720" cy="801942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266944" y="4986210"/>
            <a:ext cx="2962656" cy="801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pricing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Bundled maintenance parts priced to protect margin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Group: 40.7% CP parts gross profit, up 1.2 pts and ahead of 2025 in all nine months.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2026-10-26T20:24:03Z</dcterms:created>
  <dcterms:modified xsi:type="dcterms:W3CDTF">2026-10-26T20:24:03Z</dcterms:modified>
</cp:coreProperties>
</file>