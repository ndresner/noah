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Fixed Ops Accounting TB, fixed gross (service and parts), monthly by store, January 2021 - September 2026. A record = the store's highest month on file; months before a store opened are ignored. GMC Prescott service on the TB includes body shop gross.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Fixed Ops Accounting TB, fixed gross (service and parts), monthly by store, January 2021 - September 2026. A record = the store's highest month on file; months before a store opened are ignored. GMC Prescott service on the TB includes body shop gross. Records = each month a store beat its best-ever service, parts or combined month; one month can count up to three.Records by store (month: service / parts / combined, with the record it beat):
Toyota Henderson: service Apr 2026 $1.86M (beat $1.78M, Apr 2025); service Jul 2026 $1.98M (beat $1.86M, Apr 2026); parts Jun 2026 $747K (beat $734K, Dec 2024); parts Aug 2026 $748K (beat $747K, Jun 2026); parts Sep 2026 $803K (beat $748K, Aug 2026); combined Apr 2026 $2.52M (beat $2.45M, Apr 2025); combined Jun 2026 $2.55M (beat $2.52M, Apr 2026); combined Jul 2026 $2.72M (beat $2.55M, Jun 2026)
Honda Spokane: service Mar 2026 $309K (beat $290K, May 2025); service Apr 2026 $316K (beat $309K, Mar 2026); service Jun 2026 $343K (beat $316K, Apr 2026); service Jul 2026 $360K (beat $343K, Jun 2026); parts Jul 2026 $182K (beat $168K, Aug 2025); combined Mar 2026 $457K (beat $448K, May 2025); combined Apr 2026 $473K (beat $457K, Mar 2026); combined Jun 2026 $503K (beat $473K, Apr 2026); combined Jul 2026 $542K (beat $503K, Jun 2026)
Nissan: service Mar 2026 $374K (beat $374K, May 2025); service Jun 2026 $379K (beat $374K, Mar 2026); service Sep 2026 $393K (beat $379K, Jun 2026); parts Jun 2026 $191K (beat $187K, Aug 2024); parts Jul 2026 $210K (beat $191K, Jun 2026); combined Mar 2026 $546K (beat $535K, May 2025); combined Jun 2026 $570K (beat $546K, Mar 2026); combined Jul 2026 $580K (beat $570K, Jun 2026); combined Sep 2026 $593K (beat $580K, Jul 2026)
Subaru St George: service Jan 2026 $256K (beat $246K, Apr 2025); service Mar 2026 $270K (beat $256K, Jan 2026); parts Mar 2026 $146K (beat $144K, Apr 2025); parts Apr 2026 $156K (beat $146K, Mar 2026); parts Jun 2026 $174K (beat $156K, Apr 2026); combined Mar 2026 $416K (beat $391K, Apr 2025); combined Jun 2026 $438K (beat $416K, Mar 2026)
Hyundai St George: service Jan 2026 $155K (beat $152K, Dec 2025); service Mar 2026 $170K (beat $155K, Jan 2026); service Jul 2026 $173K (beat $170K, Mar 2026); service Sep 2026 $179K (beat $173K, Jul 2026)
Honda Henderson: service Mar 2026 $1.26M (beat $1.23M, Mar 2025); service Jun 2026 $1.29M (beat $1.26M, Mar 2026); service Jul 2026 $1.30M (beat $1.29M, Jun 2026); parts Jul 2026 $495K (beat $475K, Apr 2024); combined Mar 2026 $1.72M (beat $1.67M, Apr 2024); combined Jun 2026 $1.75M (beat $1.72M, Mar 2026); combined Jul 2026 $1.79M (beat $1.75M, Jun 2026)
Hyundai Prescott: service Mar 2026 $125K (beat $96K, Jul 2025); service Jul 2026 $142K (beat $125K, Mar 2026); parts Feb 2026 $78K (beat $72K, Jul 2025); combined Feb 2026 $170K (beat $168K, Jul 2025); combined Mar 2026 $182K (beat $170K, Feb 2026); combined Jul 2026 $206K (beat $182K, Mar 2026)
Lincoln: service Aug 2026 $247K (beat $243K, Dec 2025); service Sep 2026 $262K (beat $247K, Aug 2026); parts Mar 2026 $116K (beat $105K, Dec 2025); combined Mar 2026 $358K (beat $349K, Dec 2025); combined Aug 2026 $359K (beat $358K, Mar 2026); combined Sep 2026 $369K (beat $359K, Aug 2026)
LR Henderson: service Aug 2026 $276K (beat $270K, Dec 2024); service Sep 2026 $281K (beat $276K, Aug 2026); parts Jul 2026 $173K (beat $168K, Feb 2025); combined Jul 2026 $434K (beat $420K, Feb 2025)
Toyota Flagstaff: service Mar 2026 $374K (beat $358K, Oct 2024); service Apr 2026 $377K (beat $374K, Mar 2026); service May 2026 $382K (beat $377K, Apr 2026); combined Mar 2026 $532K (beat $497K, Jan 2025)
Audi Henderson: parts Jul 2026 $591K (beat $524K, Dec 2024); combined Apr 2026 $1.45M (beat $1.39M, Dec 2025); combined Jul 2026 $1.60M (beat $1.45M, Apr 2026)
Mazda: service Aug 2026 $285K (beat $256K, Mar 2025); service Sep 2026 $302K (beat $285K, Aug 2026); parts Sep 2026 $200K (beat $172K, Jun 2025); combined Aug 2026 $417K (beat $412K, Jun 2025); combined Sep 2026 $503K (beat $417K, Aug 2026)
Kia St George: service Apr 2026 $158K (beat $153K, Sep 2025); service Jul 2026 $187K (beat $158K, Apr 2026); parts Jul 2026 $134K (beat $120K, Oct 2025); combined Jul 2026 $321K (beat $270K, Sep 2025)
Lexus: service Mar 2026 $341K (beat $341K, Oct 2025); service May 2026 $342K (beat $341K, Mar 2026); parts May 2026 $154K (beat $149K, Oct 2025); combined May 2026 $497K (beat $490K, Oct 2025)
Toyota Prescott: service Mar 2026 $397K (beat $377K, Dec 2025); service Apr 2026 $463K (beat $397K, Mar 2026); parts Apr 2026 $204K (beat $203K, Apr 2025); combined Apr 2026 $667K (beat $563K, Aug 2023)
Volvo: service Apr 2026 $294K (beat $288K, Aug 2024); service Jun 2026 $305K (beat $294K, Apr 2026)
CDJR Post Falls: service Jul 2026 $312K (beat $305K, Apr 2025); combined Jul 2026 $481K (beat $468K, Aug 2024)
GMC Prescott: parts Apr 2026 $148K (beat $123K, Oct 2024); combined Apr 2026 $314K (beat $304K, Oct 2024)
LR LV: service Jul 2026 $544K (beat $509K, May 2024); combined Jul 2026 $845K (beat $817K, May 2024)
LR Reno: service Aug 2026 $204K (beat $190K, Jan 2025); combined Aug 2026 $312K (beat $294K, Aug 2024)
Subaru Prescott: combined Apr 2026 $354K (beat $349K, Apr 2025)
Toyota Spokane: service Jul 2026 $470K (beat $450K, Oct 2025); combined Jul 2026 $777K (beat $760K, Oct 2025)
Kia LV: service Sep 2026 $492K (beat $472K, Oct 2024)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RECORDS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Record Year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13232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" name="Shape 5"/>
          <p:cNvSpPr/>
          <p:nvPr/>
        </p:nvSpPr>
        <p:spPr>
          <a:xfrm>
            <a:off x="713232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96112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STORES WITH ALL-TIME RECORD MONTHS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 33 set their best month ever in service, parts or combined during 2026.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454146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Shape 10"/>
          <p:cNvSpPr/>
          <p:nvPr/>
        </p:nvSpPr>
        <p:spPr>
          <a:xfrm>
            <a:off x="3454146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637026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RECORDS SET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37026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98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3637026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all-time monthly records across those stores: service, parts and combined counted separately.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195060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" name="Shape 15"/>
          <p:cNvSpPr/>
          <p:nvPr/>
        </p:nvSpPr>
        <p:spPr>
          <a:xfrm>
            <a:off x="6195060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377940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JANUARY–SEPTEMBER EVER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377940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4000" dirty="0"/>
          </a:p>
        </p:txBody>
      </p:sp>
      <p:sp>
        <p:nvSpPr>
          <p:cNvPr id="20" name="Text 18"/>
          <p:cNvSpPr txBox="1"/>
          <p:nvPr/>
        </p:nvSpPr>
        <p:spPr>
          <a:xfrm>
            <a:off x="6377940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stores had their best January–September ever in combined fixed gross.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8935974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2" name="Shape 20"/>
          <p:cNvSpPr/>
          <p:nvPr/>
        </p:nvSpPr>
        <p:spPr>
          <a:xfrm>
            <a:off x="8935974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118854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STORES WHO SET A RECORD AND THEN RESET IT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9118854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4000" dirty="0"/>
          </a:p>
        </p:txBody>
      </p:sp>
      <p:sp>
        <p:nvSpPr>
          <p:cNvPr id="25" name="Text 23"/>
          <p:cNvSpPr txBox="1"/>
          <p:nvPr/>
        </p:nvSpPr>
        <p:spPr>
          <a:xfrm>
            <a:off x="9118854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stores set a record and then topped it again later in the year.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713232" y="4709160"/>
            <a:ext cx="10762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Most records set this year: Honda Spokane 9, Nissan 9, Toyota Henderson 8, Honda Henderson 7 and Subaru St George 7.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457200" y="6126480"/>
            <a:ext cx="11274552" cy="3489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58368" y="6144768"/>
            <a:ext cx="1092708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 alone brought 11 combined store records. Every one of these stores can tell the room what they changed.</a:t>
            </a:r>
            <a:endParaRPr lang="en-US" sz="14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RECORDS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Records Set in 2026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026664" y="1316736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813048" y="1316736"/>
            <a:ext cx="6583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Svc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471416" y="1316736"/>
            <a:ext cx="7132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184648" y="1316736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Comb.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577072" y="1316736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9363456" y="1316736"/>
            <a:ext cx="6583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Svc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021824" y="1316736"/>
            <a:ext cx="7132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0735056" y="1316736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Comb.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" y="170078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014984" y="1700784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871216" y="1779994"/>
            <a:ext cx="10058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3026664" y="1700784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3813048" y="1700784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471416" y="1700784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184648" y="1700784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58368" y="2052828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14984" y="2052828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2871216" y="2132038"/>
            <a:ext cx="10058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026664" y="2052828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3813048" y="2052828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4471416" y="2052828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184648" y="2052828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58368" y="2404872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1014984" y="2404872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2871216" y="2484082"/>
            <a:ext cx="8940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3026664" y="2404872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3813048" y="2404872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4471416" y="2404872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5184648" y="2404872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2756916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2756916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871216" y="2836126"/>
            <a:ext cx="7823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3026664" y="2756916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3813048" y="2756916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4471416" y="2756916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184648" y="2756916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108960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1014984" y="3108960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2871216" y="3188170"/>
            <a:ext cx="7823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3026664" y="3108960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3813048" y="3108960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4471416" y="3108960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5184648" y="3108960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49" name="Text 47"/>
          <p:cNvSpPr txBox="1"/>
          <p:nvPr/>
        </p:nvSpPr>
        <p:spPr>
          <a:xfrm>
            <a:off x="658368" y="346100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1014984" y="3461004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2871216" y="3540214"/>
            <a:ext cx="67056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3026664" y="3461004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3813048" y="3461004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4471416" y="3461004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5184648" y="3461004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658368" y="3813048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57" name="Text 55"/>
          <p:cNvSpPr txBox="1"/>
          <p:nvPr/>
        </p:nvSpPr>
        <p:spPr>
          <a:xfrm>
            <a:off x="1014984" y="3813048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2871216" y="3892258"/>
            <a:ext cx="67056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026664" y="3813048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3813048" y="3813048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4471416" y="3813048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5184648" y="3813048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165092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165092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2871216" y="4244302"/>
            <a:ext cx="55880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3026664" y="4165092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3813048" y="4165092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4471416" y="4165092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69" name="Text 67"/>
          <p:cNvSpPr txBox="1"/>
          <p:nvPr/>
        </p:nvSpPr>
        <p:spPr>
          <a:xfrm>
            <a:off x="5184648" y="4165092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658368" y="4517136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1014984" y="4517136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72" name="Shape 70"/>
          <p:cNvSpPr/>
          <p:nvPr/>
        </p:nvSpPr>
        <p:spPr>
          <a:xfrm>
            <a:off x="2871216" y="4596346"/>
            <a:ext cx="4470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3026664" y="4517136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3813048" y="4517136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4471416" y="4517136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5184648" y="4517136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658368" y="4869180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78" name="Text 76"/>
          <p:cNvSpPr txBox="1"/>
          <p:nvPr/>
        </p:nvSpPr>
        <p:spPr>
          <a:xfrm>
            <a:off x="1014984" y="4869180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79" name="Shape 77"/>
          <p:cNvSpPr/>
          <p:nvPr/>
        </p:nvSpPr>
        <p:spPr>
          <a:xfrm>
            <a:off x="2871216" y="4948390"/>
            <a:ext cx="4470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3026664" y="4869180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3813048" y="4869180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4471416" y="4869180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83" name="Text 81"/>
          <p:cNvSpPr txBox="1"/>
          <p:nvPr/>
        </p:nvSpPr>
        <p:spPr>
          <a:xfrm>
            <a:off x="5184648" y="4869180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84" name="Text 82"/>
          <p:cNvSpPr txBox="1"/>
          <p:nvPr/>
        </p:nvSpPr>
        <p:spPr>
          <a:xfrm>
            <a:off x="658368" y="522122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1014984" y="5221224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86" name="Shape 84"/>
          <p:cNvSpPr/>
          <p:nvPr/>
        </p:nvSpPr>
        <p:spPr>
          <a:xfrm>
            <a:off x="2871216" y="5300434"/>
            <a:ext cx="4470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3026664" y="5221224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88" name="Text 86"/>
          <p:cNvSpPr txBox="1"/>
          <p:nvPr/>
        </p:nvSpPr>
        <p:spPr>
          <a:xfrm>
            <a:off x="3813048" y="5221224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4471416" y="5221224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5184648" y="5221224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658368" y="5573268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1014984" y="5573268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2871216" y="5652478"/>
            <a:ext cx="4470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3026664" y="5573268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3813048" y="5573268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4471416" y="5573268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5184648" y="5573268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98" name="Text 96"/>
          <p:cNvSpPr txBox="1"/>
          <p:nvPr/>
        </p:nvSpPr>
        <p:spPr>
          <a:xfrm>
            <a:off x="6208776" y="170078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565392" y="1700784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100" name="Shape 98"/>
          <p:cNvSpPr/>
          <p:nvPr/>
        </p:nvSpPr>
        <p:spPr>
          <a:xfrm>
            <a:off x="8421624" y="1779994"/>
            <a:ext cx="4470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1" name="Text 99"/>
          <p:cNvSpPr txBox="1"/>
          <p:nvPr/>
        </p:nvSpPr>
        <p:spPr>
          <a:xfrm>
            <a:off x="8577072" y="1700784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9363456" y="1700784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03" name="Text 101"/>
          <p:cNvSpPr txBox="1"/>
          <p:nvPr/>
        </p:nvSpPr>
        <p:spPr>
          <a:xfrm>
            <a:off x="10021824" y="1700784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04" name="Text 102"/>
          <p:cNvSpPr txBox="1"/>
          <p:nvPr/>
        </p:nvSpPr>
        <p:spPr>
          <a:xfrm>
            <a:off x="10735056" y="1700784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05" name="Text 103"/>
          <p:cNvSpPr txBox="1"/>
          <p:nvPr/>
        </p:nvSpPr>
        <p:spPr>
          <a:xfrm>
            <a:off x="6208776" y="2052828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106" name="Text 104"/>
          <p:cNvSpPr txBox="1"/>
          <p:nvPr/>
        </p:nvSpPr>
        <p:spPr>
          <a:xfrm>
            <a:off x="6565392" y="2052828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07" name="Shape 105"/>
          <p:cNvSpPr/>
          <p:nvPr/>
        </p:nvSpPr>
        <p:spPr>
          <a:xfrm>
            <a:off x="8421624" y="2132038"/>
            <a:ext cx="4470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8577072" y="2052828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09" name="Text 107"/>
          <p:cNvSpPr txBox="1"/>
          <p:nvPr/>
        </p:nvSpPr>
        <p:spPr>
          <a:xfrm>
            <a:off x="9363456" y="2052828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10" name="Text 108"/>
          <p:cNvSpPr txBox="1"/>
          <p:nvPr/>
        </p:nvSpPr>
        <p:spPr>
          <a:xfrm>
            <a:off x="10021824" y="2052828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11" name="Text 109"/>
          <p:cNvSpPr txBox="1"/>
          <p:nvPr/>
        </p:nvSpPr>
        <p:spPr>
          <a:xfrm>
            <a:off x="10735056" y="2052828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6208776" y="2404872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113" name="Text 111"/>
          <p:cNvSpPr txBox="1"/>
          <p:nvPr/>
        </p:nvSpPr>
        <p:spPr>
          <a:xfrm>
            <a:off x="6565392" y="2404872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114" name="Shape 112"/>
          <p:cNvSpPr/>
          <p:nvPr/>
        </p:nvSpPr>
        <p:spPr>
          <a:xfrm>
            <a:off x="8421624" y="2484082"/>
            <a:ext cx="3352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5" name="Text 113"/>
          <p:cNvSpPr txBox="1"/>
          <p:nvPr/>
        </p:nvSpPr>
        <p:spPr>
          <a:xfrm>
            <a:off x="8577072" y="2404872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116" name="Text 114"/>
          <p:cNvSpPr txBox="1"/>
          <p:nvPr/>
        </p:nvSpPr>
        <p:spPr>
          <a:xfrm>
            <a:off x="9363456" y="2404872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17" name="Text 115"/>
          <p:cNvSpPr txBox="1"/>
          <p:nvPr/>
        </p:nvSpPr>
        <p:spPr>
          <a:xfrm>
            <a:off x="10021824" y="2404872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18" name="Text 116"/>
          <p:cNvSpPr txBox="1"/>
          <p:nvPr/>
        </p:nvSpPr>
        <p:spPr>
          <a:xfrm>
            <a:off x="10735056" y="2404872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2756916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2756916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8421624" y="2836126"/>
            <a:ext cx="2235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8577072" y="2756916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23" name="Text 121"/>
          <p:cNvSpPr txBox="1"/>
          <p:nvPr/>
        </p:nvSpPr>
        <p:spPr>
          <a:xfrm>
            <a:off x="9363456" y="2756916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24" name="Text 122"/>
          <p:cNvSpPr txBox="1"/>
          <p:nvPr/>
        </p:nvSpPr>
        <p:spPr>
          <a:xfrm>
            <a:off x="10021824" y="2756916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10735056" y="2756916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6208776" y="3108960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565392" y="3108960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28" name="Shape 126"/>
          <p:cNvSpPr/>
          <p:nvPr/>
        </p:nvSpPr>
        <p:spPr>
          <a:xfrm>
            <a:off x="8421624" y="3188170"/>
            <a:ext cx="2235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8577072" y="3108960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30" name="Text 128"/>
          <p:cNvSpPr txBox="1"/>
          <p:nvPr/>
        </p:nvSpPr>
        <p:spPr>
          <a:xfrm>
            <a:off x="9363456" y="3108960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10021824" y="3108960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10735056" y="3108960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33" name="Text 131"/>
          <p:cNvSpPr txBox="1"/>
          <p:nvPr/>
        </p:nvSpPr>
        <p:spPr>
          <a:xfrm>
            <a:off x="6208776" y="346100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134" name="Text 132"/>
          <p:cNvSpPr txBox="1"/>
          <p:nvPr/>
        </p:nvSpPr>
        <p:spPr>
          <a:xfrm>
            <a:off x="6565392" y="3461004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135" name="Shape 133"/>
          <p:cNvSpPr/>
          <p:nvPr/>
        </p:nvSpPr>
        <p:spPr>
          <a:xfrm>
            <a:off x="8421624" y="3540214"/>
            <a:ext cx="2235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6" name="Text 134"/>
          <p:cNvSpPr txBox="1"/>
          <p:nvPr/>
        </p:nvSpPr>
        <p:spPr>
          <a:xfrm>
            <a:off x="8577072" y="3461004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37" name="Text 135"/>
          <p:cNvSpPr txBox="1"/>
          <p:nvPr/>
        </p:nvSpPr>
        <p:spPr>
          <a:xfrm>
            <a:off x="9363456" y="3461004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38" name="Text 136"/>
          <p:cNvSpPr txBox="1"/>
          <p:nvPr/>
        </p:nvSpPr>
        <p:spPr>
          <a:xfrm>
            <a:off x="10021824" y="3461004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39" name="Text 137"/>
          <p:cNvSpPr txBox="1"/>
          <p:nvPr/>
        </p:nvSpPr>
        <p:spPr>
          <a:xfrm>
            <a:off x="10735056" y="3461004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6208776" y="3813048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41" name="Text 139"/>
          <p:cNvSpPr txBox="1"/>
          <p:nvPr/>
        </p:nvSpPr>
        <p:spPr>
          <a:xfrm>
            <a:off x="6565392" y="3813048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42" name="Shape 140"/>
          <p:cNvSpPr/>
          <p:nvPr/>
        </p:nvSpPr>
        <p:spPr>
          <a:xfrm>
            <a:off x="8421624" y="3892258"/>
            <a:ext cx="2235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3" name="Text 141"/>
          <p:cNvSpPr txBox="1"/>
          <p:nvPr/>
        </p:nvSpPr>
        <p:spPr>
          <a:xfrm>
            <a:off x="8577072" y="3813048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44" name="Text 142"/>
          <p:cNvSpPr txBox="1"/>
          <p:nvPr/>
        </p:nvSpPr>
        <p:spPr>
          <a:xfrm>
            <a:off x="9363456" y="3813048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45" name="Text 143"/>
          <p:cNvSpPr txBox="1"/>
          <p:nvPr/>
        </p:nvSpPr>
        <p:spPr>
          <a:xfrm>
            <a:off x="10021824" y="3813048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46" name="Text 144"/>
          <p:cNvSpPr txBox="1"/>
          <p:nvPr/>
        </p:nvSpPr>
        <p:spPr>
          <a:xfrm>
            <a:off x="10735056" y="3813048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47" name="Text 145"/>
          <p:cNvSpPr txBox="1"/>
          <p:nvPr/>
        </p:nvSpPr>
        <p:spPr>
          <a:xfrm>
            <a:off x="6208776" y="4165092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48" name="Text 146"/>
          <p:cNvSpPr txBox="1"/>
          <p:nvPr/>
        </p:nvSpPr>
        <p:spPr>
          <a:xfrm>
            <a:off x="6565392" y="4165092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149" name="Shape 147"/>
          <p:cNvSpPr/>
          <p:nvPr/>
        </p:nvSpPr>
        <p:spPr>
          <a:xfrm>
            <a:off x="8421624" y="4244302"/>
            <a:ext cx="2235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0" name="Text 148"/>
          <p:cNvSpPr txBox="1"/>
          <p:nvPr/>
        </p:nvSpPr>
        <p:spPr>
          <a:xfrm>
            <a:off x="8577072" y="4165092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51" name="Text 149"/>
          <p:cNvSpPr txBox="1"/>
          <p:nvPr/>
        </p:nvSpPr>
        <p:spPr>
          <a:xfrm>
            <a:off x="9363456" y="4165092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52" name="Text 150"/>
          <p:cNvSpPr txBox="1"/>
          <p:nvPr/>
        </p:nvSpPr>
        <p:spPr>
          <a:xfrm>
            <a:off x="10021824" y="4165092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53" name="Text 151"/>
          <p:cNvSpPr txBox="1"/>
          <p:nvPr/>
        </p:nvSpPr>
        <p:spPr>
          <a:xfrm>
            <a:off x="10735056" y="4165092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54" name="Text 152"/>
          <p:cNvSpPr txBox="1"/>
          <p:nvPr/>
        </p:nvSpPr>
        <p:spPr>
          <a:xfrm>
            <a:off x="6208776" y="4517136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55" name="Text 153"/>
          <p:cNvSpPr txBox="1"/>
          <p:nvPr/>
        </p:nvSpPr>
        <p:spPr>
          <a:xfrm>
            <a:off x="6565392" y="4517136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156" name="Shape 154"/>
          <p:cNvSpPr/>
          <p:nvPr/>
        </p:nvSpPr>
        <p:spPr>
          <a:xfrm>
            <a:off x="8421624" y="4596346"/>
            <a:ext cx="2235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7" name="Text 155"/>
          <p:cNvSpPr txBox="1"/>
          <p:nvPr/>
        </p:nvSpPr>
        <p:spPr>
          <a:xfrm>
            <a:off x="8577072" y="4517136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58" name="Text 156"/>
          <p:cNvSpPr txBox="1"/>
          <p:nvPr/>
        </p:nvSpPr>
        <p:spPr>
          <a:xfrm>
            <a:off x="9363456" y="4517136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59" name="Text 157"/>
          <p:cNvSpPr txBox="1"/>
          <p:nvPr/>
        </p:nvSpPr>
        <p:spPr>
          <a:xfrm>
            <a:off x="10021824" y="4517136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60" name="Text 158"/>
          <p:cNvSpPr txBox="1"/>
          <p:nvPr/>
        </p:nvSpPr>
        <p:spPr>
          <a:xfrm>
            <a:off x="10735056" y="4517136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6208776" y="4869180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62" name="Text 160"/>
          <p:cNvSpPr txBox="1"/>
          <p:nvPr/>
        </p:nvSpPr>
        <p:spPr>
          <a:xfrm>
            <a:off x="6565392" y="4869180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163" name="Shape 161"/>
          <p:cNvSpPr/>
          <p:nvPr/>
        </p:nvSpPr>
        <p:spPr>
          <a:xfrm>
            <a:off x="8421624" y="4948390"/>
            <a:ext cx="1828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64" name="Text 162"/>
          <p:cNvSpPr txBox="1"/>
          <p:nvPr/>
        </p:nvSpPr>
        <p:spPr>
          <a:xfrm>
            <a:off x="8577072" y="4869180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65" name="Text 163"/>
          <p:cNvSpPr txBox="1"/>
          <p:nvPr/>
        </p:nvSpPr>
        <p:spPr>
          <a:xfrm>
            <a:off x="9363456" y="4869180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66" name="Text 164"/>
          <p:cNvSpPr txBox="1"/>
          <p:nvPr/>
        </p:nvSpPr>
        <p:spPr>
          <a:xfrm>
            <a:off x="10021824" y="4869180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10735056" y="4869180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68" name="Text 166"/>
          <p:cNvSpPr txBox="1"/>
          <p:nvPr/>
        </p:nvSpPr>
        <p:spPr>
          <a:xfrm>
            <a:off x="6208776" y="522122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69" name="Text 167"/>
          <p:cNvSpPr txBox="1"/>
          <p:nvPr/>
        </p:nvSpPr>
        <p:spPr>
          <a:xfrm>
            <a:off x="6565392" y="5221224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170" name="Shape 168"/>
          <p:cNvSpPr/>
          <p:nvPr/>
        </p:nvSpPr>
        <p:spPr>
          <a:xfrm>
            <a:off x="8421624" y="5300434"/>
            <a:ext cx="1828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1" name="Text 169"/>
          <p:cNvSpPr txBox="1"/>
          <p:nvPr/>
        </p:nvSpPr>
        <p:spPr>
          <a:xfrm>
            <a:off x="8577072" y="5221224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72" name="Text 170"/>
          <p:cNvSpPr txBox="1"/>
          <p:nvPr/>
        </p:nvSpPr>
        <p:spPr>
          <a:xfrm>
            <a:off x="9363456" y="5221224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73" name="Text 171"/>
          <p:cNvSpPr txBox="1"/>
          <p:nvPr/>
        </p:nvSpPr>
        <p:spPr>
          <a:xfrm>
            <a:off x="10021824" y="5221224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74" name="Text 172"/>
          <p:cNvSpPr txBox="1"/>
          <p:nvPr/>
        </p:nvSpPr>
        <p:spPr>
          <a:xfrm>
            <a:off x="10735056" y="5221224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75" name="Shape 173"/>
          <p:cNvSpPr/>
          <p:nvPr/>
        </p:nvSpPr>
        <p:spPr>
          <a:xfrm>
            <a:off x="6085332" y="1700784"/>
            <a:ext cx="10973" cy="4224528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6" name="Shape 17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77" name="Text 17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 stores set 98 all-time monthly records in 2026. Honda Spokane and Nissan lead with 9 each.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2026-10-27T16:25:03Z</dcterms:created>
  <dcterms:modified xsi:type="dcterms:W3CDTF">2026-10-27T16:25:03Z</dcterms:modified>
</cp:coreProperties>
</file>