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7.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3.xml" ContentType="application/vnd.openxmlformats-officedocument.presentationml.notesSlide+xml"/>
  <Override PartName="/ppt/notesSlides/notesSlide5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54.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7.xml" ContentType="application/vnd.openxmlformats-officedocument.presentationml.slide+xml"/>
  <Override PartName="/ppt/slides/slide21.xml" ContentType="application/vnd.openxmlformats-officedocument.presentationml.slide+xml"/>
  <Override PartName="/ppt/slides/slide25.xml" ContentType="application/vnd.openxmlformats-officedocument.presentationml.slide+xml"/>
  <Override PartName="/ppt/slides/slide51.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3"/>
    <p:sldId id="280" r:id="rId31"/>
    <p:sldId id="284" r:id="rId35"/>
    <p:sldId id="288" r:id="rId39"/>
    <p:sldId id="312" r:id="rId63"/>
    <p:sldId id="411" r:id="rId162"/>
    <p:sldId id="412" r:id="rId163"/>
    <p:sldId id="413" r:id="rId164"/>
    <p:sldId id="414" r:id="rId165"/>
    <p:sldId id="415" r:id="rId166"/>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3" Type="http://schemas.openxmlformats.org/officeDocument/2006/relationships/slide" Target="slides/slide8.xml"/><Relationship Id="rId31" Type="http://schemas.openxmlformats.org/officeDocument/2006/relationships/slide" Target="slides/slide17.xml"/><Relationship Id="rId35" Type="http://schemas.openxmlformats.org/officeDocument/2006/relationships/slide" Target="slides/slide21.xml"/><Relationship Id="rId39" Type="http://schemas.openxmlformats.org/officeDocument/2006/relationships/slide" Target="slides/slide25.xml"/><Relationship Id="rId63" Type="http://schemas.openxmlformats.org/officeDocument/2006/relationships/slide" Target="slides/slide51.xml"/><Relationship Id="rId162" Type="http://schemas.openxmlformats.org/officeDocument/2006/relationships/slide" Target="slides/slide154.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Audi Henderson and Cadillac what changed. Ask Chevy LV, VW Henderson and Toyota Spokane what got in the way. Ask Honda Henderson, Toyota Henderson and Chevy LV what they started this year.Source: Qlik - Profit &amp; Loss, Detail statement. Same-store, INEOS excluded (opened 2026). Fixed ops net profit = service (Mechanical) + parts (P&amp;A) department profit: department gross less the department's own expenses; GMC Prescott body shop is its own department and is not included. Top and bottom five stores by dollar change in fixed ops net profit, Jan-Sep 2026 vs 2025 (dollars, not percent: several stores lost money in 2025). Moving now: Jul-Sep 2026 vs Jan-Mar 2026, each store against itself (monthly averages); the group moved +$1.05M a month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Lexus what changed. Ask Acura, VW St George and VW Henderson what got in the way. Ask Mazda, Kia St George and LR Henderson what they started this year.Source: Qlik - Profit &amp; Loss. Same-store, INEOS excluded (opened 2026). Fixed ops = service + parts; GMC Prescott body shop gross excluded. Top and bottom five stores by percent change in fixed ops gross, Jan-Sep 2026 vs 2025. Moving now: Jul-Sep 2026 vs Jan-Mar 2026, each store against itself (monthly averages); the group moved +9.4%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Lexus what changed. Ask Acura, VW St George and VW Henderson what got in the way. Ask Mazda, Kia St George and Hyundai Prescott what they started this year.Source: Qlik - Profit &amp; Loss. Same-store, INEOS excluded (opened 2026). Fixed ops = service + parts; GMC Prescott body shop gross excluded. Top and bottom five stores by percent change in service gross, Jan-Sep 2026 vs 2025. Moving now: Jul-Sep 2026 vs Jan-Mar 2026, each store against itself (monthly averages); the group moved +7.0%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Cadillac and Subaru St George what changed. Ask Hyundai St George, Audi Reno and VW Henderson what got in the way. Ask Audi Henderson, Mazda and Honda Flagstaff what they started this year.Source: Qlik - Profit &amp; Loss. Same-store, INEOS excluded (opened 2026). Fixed ops = service + parts; GMC Prescott body shop gross excluded. Top and bottom five stores by percent change in parts gross, Jan-Sep 2026 vs 2025. Moving now: Jul-Sep 2026 vs Jan-Mar 2026, each store against itself (monthly averages); the group moved +14.4%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Kia LV, Hyundai Prescott and GMC Prescott what changed. Ask VW St George, Hyundai St George and Audi Reno what got in the way. Ask Lexus, CDJR Post Falls and LR LV what they started this year.Source: Qlik - Closed Repair Orders. Customer pay, Jan-Sep by close month. Same-store, INEOS excluded (opened 2026). GMC Prescott body shop labor types excluded. Distinct customer-pay ROs: every RO with a customer-pay line, whether or not labor was charged (governed RO Count). Top and bottom five stores by change in CP RO count (percent, so store size does not drive the ranking), Jan-Sep 2026 vs 2025. Moving now: Jul-Sep 2026 vs Jan-Mar 2026, each store against itself (monthly averages); the group moved +7.5%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Cadillac, Lexus and Audi Henderson what changed. Ask Acura, Honda Flagstaff and VW Henderson what got in the way. Ask Honda North, LR LV and Nissan what they started this year.Source: Qlik - Profit &amp; Loss, Gross Profit - Fixed Ops Warranty (service + parts warranty gross). Same-store, INEOS excluded (opened 2026); no body shop. Top and bottom five stores by percent change in warranty gross, Jan-Sep 2026 vs 2025. Moving now: Jul-Sep 2026 vs Jan-Mar 2026, each store against itself (monthly averages); the group moved +9.3%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Before → after, by measure:</a:t>
            </a:r>
          </a:p>
          <a:p>
            <a:r>
              <a:t>CP Gross: top LINCOLN $865K → $1.26M; SUBARU PRESCOTT $832K → $1.21M; SUBARU ST GEORGE $1.48M → $1.98M. Bottom CHEVY LV $7.40M → $7.08M; AUDI RENO $3.38M → $2.90M; VW ST GEORGE $702K → $560K.</a:t>
            </a:r>
          </a:p>
          <a:p>
            <a:r>
              <a:t>CP RO Count: top KIA LV 7,156 → 8,133; HYUNDAI PRESCOTT 1,784 → 2,010; GMC PRESCOTT 2,810 → 3,107. Bottom AUDI RENO 4,379 → 3,917; HYUNDAI ST GEORGE 3,784 → 3,349; VW ST GEORGE 2,251 → 1,919.</a:t>
            </a:r>
          </a:p>
          <a:p>
            <a:r>
              <a:t>CP Hours per RO: top HYUNDAI ST GEORGE 1.03 → 1.43; SUBARU ST GEORGE 1.75 → 2.30; KIA ST GEORGE 0.99 → 1.29. Bottom VOLVO 2.58 → 2.28; VW ST GEORGE 1.95 → 1.71; LR RENO 4.04 → 3.48.</a:t>
            </a:r>
          </a:p>
          <a:p>
            <a:r>
              <a:t>CP ELR: top HONDA SPOKANE $117.05 → $143.89; VOLVO $181.59 → $222.12; LINCOLN $139.55 → $167.64. Bottom ACURA $221.78 → $210.50; SUBARU ST GEORGE $148.84 → $138.48; KIA LV $184.36 → $149.23.</a:t>
            </a:r>
          </a:p>
          <a:p>
            <a:r>
              <a:t>CP Labor $ per RO: top HYUNDAI ST GEORGE $172 → $238; LINCOLN $306 → $416; SUBARU PRESCOTT $163 → $222. Bottom KIA LV $244 → $234; LR RENO $876 → $817; VW ST GEORGE $268 → $231.Takeaway with the store call-outs (off the slide): Most top-three finishes: Lincoln, Subaru Prescott and Subaru St George (2 of 5). Most bottom-three: VW St George (4 of 5).Source: Qlik - Closed Repair Orders. Customer pay, by close date. Same-store, 33 stores (INEOS excluded, opened 2026). GMC Prescott body shop labor types excluded. CP gross = CP labor gross + CP parts gross. Change is Jan-Sep 2026 vs Jan-Sep 2025. Ranked by percent change (points for parts GP %), so store size does not drive the ranking. CP labor $ per RO = CP labor sale / CP ROs.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Before → after, by measure:</a:t>
            </a:r>
          </a:p>
          <a:p>
            <a:r>
              <a:t>Fixed Ops Net Profit: top TOYOTA HENDERSON $6.41M → $7.83M; AUDI HENDERSON $4.11M → $4.94M; CADILLAC $1.83M → $2.60M. Bottom TOYOTA SPOKANE $967K → $699K; VW HENDERSON $1.55M → $1.09M; CHEVY LV $2.91M → $2.27M.</a:t>
            </a:r>
          </a:p>
          <a:p>
            <a:r>
              <a:t>Fixed Absorption: top LINCOLN 43.8% → 59.9%; CADILLAC 76.5% → 86.1%; LR RENO 67.8% → 77.3%. Bottom VW HENDERSON 93.5% → 83.8%; KIA ST GEORGE 75.9% → 65.8%; VW ST GEORGE 71.5% → 54.1%.</a:t>
            </a:r>
          </a:p>
          <a:p>
            <a:r>
              <a:t>CP Parts GP %: top ACURA 38.7% → 44.9%; NISSAN 38.2% → 42.7%; SUBARU PRESCOTT 31.0% → 34.8%. Bottom HYUNDAI PRESCOTT 39.9% → 39.4%; TOYOTA SPOKANE 45.3% → 44.5%; AUDI HENDERSON 35.8% → 33.6%.</a:t>
            </a:r>
          </a:p>
          <a:p>
            <a:r>
              <a:t>Opcodes, Four Combined: top LR LV 30.2% → 60.5%; SUBARU PRESCOTT 19.5% → 47.9%; MAZDA 22.5% → 43.5%. Bottom TOYOTA HENDERSON 42.5% → 41.8%; SUBARU LV 44.9% → 42.0%; KIA LV 30.0% → 26.4%.Takeaway with the store call-outs (off the slide): Most top-three finishes: Lincoln, Subaru Prescott and Subaru St George (2 of 4). Most bottom-three: Toyota Spokane and VW Henderson (2 of 4).Source: Fixed ops net profit: Qlik - Profit &amp; Loss, service + parts department profit, change in dollars (several stores lost money in 2025, so a percent change misleads). Fixed absorption: P&amp;L, fixed ops gross / total store fixed expenses, GMC Prescott body shop in, as on the P&amp;L. CP parts GP %: Qlik - Closed Repair Orders. Opcodes: alignment + balance + brake fluid + fuel services / customer-pay ROs on the op-code report basis. Same-store, 33 stores. Points for absorption, parts GP % and opcodes.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Before → after, by measure:</a:t>
            </a:r>
          </a:p>
          <a:p>
            <a:r>
              <a:t>CP Gross per Month: top MAZDA $155K → $209K; KIA ST GEORGE $85K → $112K; CDJR POST FALLS $218K → $279K. Bottom SUBARU ST GEORGE $220K → $218K; HONDA HENDERSON $841K → $823K; CADILLAC $317K → $283K.</a:t>
            </a:r>
          </a:p>
          <a:p>
            <a:r>
              <a:t>CP ROs per Month: top LEXUS 425 → 570; CDJR POST FALLS 543 → 667; LR LV 350 → 415. Bottom VW ST GEORGE 207 → 203; HYUNDAI ST GEORGE 377 → 365; CADILLAC 609 → 582.</a:t>
            </a:r>
          </a:p>
          <a:p>
            <a:r>
              <a:t>CP Hours per RO: top MAZDA 1.35 → 1.65; HYUNDAI PRESCOTT 1.56 → 1.76; HYUNDAI ST GEORGE 1.37 → 1.54. Bottom HONDA HENDERSON 2.06 → 1.86; VW HENDERSON 2.66 → 2.37; CADILLAC 2.85 → 2.45.</a:t>
            </a:r>
          </a:p>
          <a:p>
            <a:r>
              <a:t>CP ELR: top VW ST GEORGE $128.27 → $141.89; AUDI RENO $227.34 → $244.12; HONDA SPOKANE $139.40 → $147.93. Bottom SUBARU ST GEORGE $141.07 → $136.71; LEXUS $196.84 → $187.42; ACURA $232.02 → $199.04.</a:t>
            </a:r>
          </a:p>
          <a:p>
            <a:r>
              <a:t>CP Labor $ per RO: top MAZDA $224 → $273; KIA ST GEORGE $171 → $201; HYUNDAI PRESCOTT $207 → $240. Bottom CADILLAC $483 → $430; LEXUS $427 → $377; SUBARU ST GEORGE $343 → $301.Takeaway with the store call-outs (off the slide): Most top-three finishes: Mazda, CDJR Post Falls and VW St George (2 of 5). Most bottom-three: Cadillac (4 of 5).Source: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CP labor $ per RO = CP labor sale / CP ROs.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Before → after, by measure:</a:t>
            </a:r>
          </a:p>
          <a:p>
            <a:r>
              <a:t>Fixed Ops Net Profit per Month: top HONDA HENDERSON $586K → $725K; TOYOTA HENDERSON $795K → $934K; CHEVY LV $181K → $294K. Bottom AUDI RENO $212K → $187K; ACURA $61K → $31K; KIA LV $240K → $179K.</a:t>
            </a:r>
          </a:p>
          <a:p>
            <a:r>
              <a:t>Fixed Absorption: top LR HENDERSON 66.7% → 82.9%; LR RENO 69.5% → 84.8%; KIA ST GEORGE 62.0% → 73.1%. Bottom AUDI RENO 106.5% → 100.4%; ACURA 64.6% → 58.0%; KIA LV 84.3% → 74.6%.</a:t>
            </a:r>
          </a:p>
          <a:p>
            <a:r>
              <a:t>CP Parts GP %: top ACURA 39.4% → 46.6%; VW ST GEORGE 39.1% → 43.8%; GMC PRESCOTT 35.3% → 39.2%. Bottom CHEVY LV 38.2% → 35.0%; LINCOLN 39.9% → 36.0%; HONDA HENDERSON 44.3% → 40.0%.</a:t>
            </a:r>
          </a:p>
          <a:p>
            <a:r>
              <a:t>Opcodes, Four Combined: top MAZDA 30.5% → 66.9%; HYUNDAI PRESCOTT 43.8% → 62.4%; KIA ST GEORGE 21.2% → 37.1%. Bottom CADILLAC 29.4% → 21.3%; SUBARU ST GEORGE 45.1% → 35.4%; HONDA HENDERSON 72.5% → 61.2%.Takeaway with the store call-outs (off the slide): Most top-three finishes: Mazda, CDJR Post Falls and VW St George (2 of 4). Most bottom-three: Audi Reno, Acura, Kia LV and Honda Henderson (2 of 4).Source: Q3 2026 (Jul-Sep) vs Q1 2026 (Jan-Mar), each store against itself. Gross, ROs and net profit per month. Fixed ops net profit: Qlik - Profit &amp; Loss, service + parts department profit, change in dollars per month. Fixed absorption: P&amp;L, fixed ops gross / total store fixed expenses, GMC Prescott body shop in, as on the P&amp;L. CP parts GP %: Qlik - Closed Repair Orders. Opcodes: alignment + balance + brake fluid + fuel services / customer-pay ROs on the op-code report basis. Same-store, 33 stores. The group's own move is the season.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$7.83M</a:t>
            </a:r>
            <a:endParaRPr lang="en-US" sz="1400" dirty="0"/>
          </a:p>
        </p:txBody>
      </p:sp>
      <p:sp>
        <p:nvSpPr>
          <p:cNvPr id="13" name="Text 11"/>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14" name="Text 12"/>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$4.94M</a:t>
            </a:r>
            <a:endParaRPr lang="en-US" sz="1400" dirty="0"/>
          </a:p>
        </p:txBody>
      </p:sp>
      <p:sp>
        <p:nvSpPr>
          <p:cNvPr id="17" name="Text 15"/>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18" name="Text 16"/>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+20.4%</a:t>
            </a:r>
            <a:endParaRPr lang="en-US" sz="1300" dirty="0"/>
          </a:p>
        </p:txBody>
      </p:sp>
      <p:sp>
        <p:nvSpPr>
          <p:cNvPr id="19" name="Shape 17"/>
          <p:cNvSpPr/>
          <p:nvPr/>
        </p:nvSpPr>
        <p:spPr>
          <a:xfrm>
            <a:off x="658368" y="3760013"/>
            <a:ext cx="3489960" cy="828446"/>
          </a:xfrm>
          <a:prstGeom prst="rect">
            <a:avLst/>
          </a:prstGeom>
          <a:solidFill>
            <a:srgbClr val="F7F7F7"/>
          </a:solidFill>
          <a:ln/>
        </p:spPr>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$2.60M</a:t>
            </a:r>
            <a:endParaRPr lang="en-US" sz="1400" dirty="0"/>
          </a:p>
        </p:txBody>
      </p:sp>
      <p:sp>
        <p:nvSpPr>
          <p:cNvPr id="22" name="Text 20"/>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23" name="Text 21"/>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+41.8%</a:t>
            </a:r>
            <a:endParaRPr lang="en-US" sz="1300" dirty="0"/>
          </a:p>
        </p:txBody>
      </p:sp>
      <p:sp>
        <p:nvSpPr>
          <p:cNvPr id="24" name="Shape 22"/>
          <p:cNvSpPr/>
          <p:nvPr/>
        </p:nvSpPr>
        <p:spPr>
          <a:xfrm>
            <a:off x="4084320" y="4625035"/>
            <a:ext cx="64008" cy="755294"/>
          </a:xfrm>
          <a:prstGeom prst="rect">
            <a:avLst/>
          </a:prstGeom>
          <a:solidFill>
            <a:srgbClr val="12A566"/>
          </a:solidFill>
          <a:ln/>
        </p:spPr>
      </p:sp>
      <p:sp>
        <p:nvSpPr>
          <p:cNvPr id="25" name="Text 23"/>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6" name="Text 24"/>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$5.39M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$6.08M</a:t>
            </a:r>
            <a:endParaRPr lang="en-US" sz="1400" dirty="0"/>
          </a:p>
        </p:txBody>
      </p:sp>
      <p:sp>
        <p:nvSpPr>
          <p:cNvPr id="27" name="Text 25"/>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+$692K</a:t>
            </a:r>
            <a:endParaRPr lang="en-US" sz="1600" dirty="0"/>
          </a:p>
        </p:txBody>
      </p:sp>
      <p:sp>
        <p:nvSpPr>
          <p:cNvPr id="28" name="Text 26"/>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+12.9%</a:t>
            </a:r>
            <a:endParaRPr lang="en-US" sz="1300" dirty="0"/>
          </a:p>
        </p:txBody>
      </p:sp>
      <p:sp>
        <p:nvSpPr>
          <p:cNvPr id="29" name="Shape 27"/>
          <p:cNvSpPr/>
          <p:nvPr/>
        </p:nvSpPr>
        <p:spPr>
          <a:xfrm>
            <a:off x="658368" y="5416906"/>
            <a:ext cx="3489960" cy="828446"/>
          </a:xfrm>
          <a:prstGeom prst="rect">
            <a:avLst/>
          </a:prstGeom>
          <a:solidFill>
            <a:srgbClr val="F7F7F7"/>
          </a:solidFill>
          <a:ln/>
        </p:spPr>
      </p:sp>
      <p:sp>
        <p:nvSpPr>
          <p:cNvPr id="30" name="Text 28"/>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1" name="Text 29"/>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$94K</a:t>
            </a:r>
            <a:endParaRPr lang="en-US" sz="1400" dirty="0"/>
          </a:p>
        </p:txBody>
      </p:sp>
      <p:sp>
        <p:nvSpPr>
          <p:cNvPr id="32" name="Text 30"/>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+$484K</a:t>
            </a:r>
            <a:endParaRPr lang="en-US" sz="1600" dirty="0"/>
          </a:p>
        </p:txBody>
      </p:sp>
      <p:sp>
        <p:nvSpPr>
          <p:cNvPr id="33" name="Text 31"/>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+124.3%</a:t>
            </a:r>
            <a:endParaRPr lang="en-US" sz="1300" dirty="0"/>
          </a:p>
        </p:txBody>
      </p:sp>
      <p:sp>
        <p:nvSpPr>
          <p:cNvPr id="34" name="Shape 32"/>
          <p:cNvSpPr/>
          <p:nvPr/>
        </p:nvSpPr>
        <p:spPr>
          <a:xfrm>
            <a:off x="4349496" y="1371600"/>
            <a:ext cx="3489960" cy="45720"/>
          </a:xfrm>
          <a:prstGeom prst="rect">
            <a:avLst/>
          </a:prstGeom>
          <a:solidFill>
            <a:srgbClr val="C2352F"/>
          </a:solidFill>
          <a:ln/>
        </p:spPr>
      </p:sp>
      <p:sp>
        <p:nvSpPr>
          <p:cNvPr id="35" name="Text 33"/>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6" name="Text 34"/>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7" name="Shape 35"/>
          <p:cNvSpPr/>
          <p:nvPr/>
        </p:nvSpPr>
        <p:spPr>
          <a:xfrm>
            <a:off x="4349496" y="2103120"/>
            <a:ext cx="3489960" cy="828446"/>
          </a:xfrm>
          <a:prstGeom prst="rect">
            <a:avLst/>
          </a:prstGeom>
          <a:solidFill>
            <a:srgbClr val="F7F7F7"/>
          </a:solidFill>
          <a:ln/>
        </p:spPr>
      </p:sp>
      <p:sp>
        <p:nvSpPr>
          <p:cNvPr id="38" name="Shape 36"/>
          <p:cNvSpPr/>
          <p:nvPr/>
        </p:nvSpPr>
        <p:spPr>
          <a:xfrm>
            <a:off x="7775448" y="2139696"/>
            <a:ext cx="64008" cy="755294"/>
          </a:xfrm>
          <a:prstGeom prst="rect">
            <a:avLst/>
          </a:prstGeom>
          <a:solidFill>
            <a:srgbClr val="2587C5"/>
          </a:solidFill>
          <a:ln/>
        </p:spPr>
      </p:sp>
      <p:sp>
        <p:nvSpPr>
          <p:cNvPr id="39" name="Text 37"/>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40" name="Text 38"/>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$2.27M</a:t>
            </a:r>
            <a:endParaRPr lang="en-US" sz="1400" dirty="0"/>
          </a:p>
        </p:txBody>
      </p:sp>
      <p:sp>
        <p:nvSpPr>
          <p:cNvPr id="41" name="Text 39"/>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42" name="Text 40"/>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−22.1%</a:t>
            </a:r>
            <a:endParaRPr lang="en-US" sz="1300" dirty="0"/>
          </a:p>
        </p:txBody>
      </p:sp>
      <p:sp>
        <p:nvSpPr>
          <p:cNvPr id="43" name="Text 41"/>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4" name="Text 42"/>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$1.09M</a:t>
            </a:r>
            <a:endParaRPr lang="en-US" sz="1400" dirty="0"/>
          </a:p>
        </p:txBody>
      </p:sp>
      <p:sp>
        <p:nvSpPr>
          <p:cNvPr id="45" name="Text 43"/>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46" name="Text 44"/>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−29.6%</a:t>
            </a:r>
            <a:endParaRPr lang="en-US" sz="1300" dirty="0"/>
          </a:p>
        </p:txBody>
      </p:sp>
      <p:sp>
        <p:nvSpPr>
          <p:cNvPr id="47" name="Shape 45"/>
          <p:cNvSpPr/>
          <p:nvPr/>
        </p:nvSpPr>
        <p:spPr>
          <a:xfrm>
            <a:off x="4349496" y="3760013"/>
            <a:ext cx="3489960" cy="828446"/>
          </a:xfrm>
          <a:prstGeom prst="rect">
            <a:avLst/>
          </a:prstGeom>
          <a:solidFill>
            <a:srgbClr val="F7F7F7"/>
          </a:solidFill>
          <a:ln/>
        </p:spPr>
      </p:sp>
      <p:sp>
        <p:nvSpPr>
          <p:cNvPr id="48" name="Text 46"/>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9" name="Text 47"/>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$699K</a:t>
            </a:r>
            <a:endParaRPr lang="en-US" sz="1400" dirty="0"/>
          </a:p>
        </p:txBody>
      </p:sp>
      <p:sp>
        <p:nvSpPr>
          <p:cNvPr id="50" name="Text 48"/>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51" name="Text 49"/>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−27.7%</a:t>
            </a:r>
            <a:endParaRPr lang="en-US" sz="1300" dirty="0"/>
          </a:p>
        </p:txBody>
      </p:sp>
      <p:sp>
        <p:nvSpPr>
          <p:cNvPr id="52" name="Text 5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3" name="Text 5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−$59K</a:t>
            </a:r>
            <a:endParaRPr lang="en-US" sz="1400" dirty="0"/>
          </a:p>
        </p:txBody>
      </p:sp>
      <p:sp>
        <p:nvSpPr>
          <p:cNvPr id="54" name="Text 52"/>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−$212K</a:t>
            </a:r>
            <a:endParaRPr lang="en-US" sz="1600" dirty="0"/>
          </a:p>
        </p:txBody>
      </p:sp>
      <p:sp>
        <p:nvSpPr>
          <p:cNvPr id="55" name="Text 53"/>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−138.2%</a:t>
            </a:r>
            <a:endParaRPr lang="en-US" sz="1300" dirty="0"/>
          </a:p>
        </p:txBody>
      </p:sp>
      <p:sp>
        <p:nvSpPr>
          <p:cNvPr id="56" name="Shape 54"/>
          <p:cNvSpPr/>
          <p:nvPr/>
        </p:nvSpPr>
        <p:spPr>
          <a:xfrm>
            <a:off x="4349496" y="5416906"/>
            <a:ext cx="3489960" cy="828446"/>
          </a:xfrm>
          <a:prstGeom prst="rect">
            <a:avLst/>
          </a:prstGeom>
          <a:solidFill>
            <a:srgbClr val="F7F7F7"/>
          </a:solidFill>
          <a:ln/>
        </p:spPr>
      </p:sp>
      <p:sp>
        <p:nvSpPr>
          <p:cNvPr id="57" name="Text 5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8" name="Text 5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$1.82M</a:t>
            </a:r>
            <a:endParaRPr lang="en-US" sz="1400" dirty="0"/>
          </a:p>
        </p:txBody>
      </p:sp>
      <p:sp>
        <p:nvSpPr>
          <p:cNvPr id="59" name="Text 57"/>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−$178K</a:t>
            </a:r>
            <a:endParaRPr lang="en-US" sz="1600" dirty="0"/>
          </a:p>
        </p:txBody>
      </p:sp>
      <p:sp>
        <p:nvSpPr>
          <p:cNvPr id="60" name="Text 58"/>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−8.9%</a:t>
            </a:r>
            <a:endParaRPr lang="en-US" sz="1300" dirty="0"/>
          </a:p>
        </p:txBody>
      </p:sp>
      <p:sp>
        <p:nvSpPr>
          <p:cNvPr id="61" name="Shape 59"/>
          <p:cNvSpPr/>
          <p:nvPr/>
        </p:nvSpPr>
        <p:spPr>
          <a:xfrm>
            <a:off x="8040624" y="1371600"/>
            <a:ext cx="3489960" cy="45720"/>
          </a:xfrm>
          <a:prstGeom prst="rect">
            <a:avLst/>
          </a:prstGeom>
          <a:solidFill>
            <a:srgbClr val="2587C5"/>
          </a:solidFill>
          <a:ln/>
        </p:spPr>
      </p:sp>
      <p:sp>
        <p:nvSpPr>
          <p:cNvPr id="62" name="Text 6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3" name="Text 6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64" name="Shape 62"/>
          <p:cNvSpPr/>
          <p:nvPr/>
        </p:nvSpPr>
        <p:spPr>
          <a:xfrm>
            <a:off x="8040624" y="2103120"/>
            <a:ext cx="3489960" cy="828446"/>
          </a:xfrm>
          <a:prstGeom prst="rect">
            <a:avLst/>
          </a:prstGeom>
          <a:solidFill>
            <a:srgbClr val="F7F7F7"/>
          </a:solidFill>
          <a:ln/>
        </p:spPr>
      </p:sp>
      <p:sp>
        <p:nvSpPr>
          <p:cNvPr id="65" name="Shape 63"/>
          <p:cNvSpPr/>
          <p:nvPr/>
        </p:nvSpPr>
        <p:spPr>
          <a:xfrm>
            <a:off x="11466576" y="2139696"/>
            <a:ext cx="64008" cy="755294"/>
          </a:xfrm>
          <a:prstGeom prst="rect">
            <a:avLst/>
          </a:prstGeom>
          <a:solidFill>
            <a:srgbClr val="12A566"/>
          </a:solidFill>
          <a:ln/>
        </p:spPr>
      </p:sp>
      <p:sp>
        <p:nvSpPr>
          <p:cNvPr id="66" name="Text 64"/>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7" name="Text 65"/>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$586K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$725K</a:t>
            </a:r>
            <a:endParaRPr lang="en-US" sz="1400" dirty="0"/>
          </a:p>
        </p:txBody>
      </p:sp>
      <p:sp>
        <p:nvSpPr>
          <p:cNvPr id="68" name="Text 66"/>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69" name="Text 67"/>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+23.8%</a:t>
            </a:r>
            <a:endParaRPr lang="en-US" sz="1300" dirty="0"/>
          </a:p>
        </p:txBody>
      </p:sp>
      <p:sp>
        <p:nvSpPr>
          <p:cNvPr id="70" name="Shape 68"/>
          <p:cNvSpPr/>
          <p:nvPr/>
        </p:nvSpPr>
        <p:spPr>
          <a:xfrm>
            <a:off x="11466576" y="2968142"/>
            <a:ext cx="64008" cy="755294"/>
          </a:xfrm>
          <a:prstGeom prst="rect">
            <a:avLst/>
          </a:prstGeom>
          <a:solidFill>
            <a:srgbClr val="12A566"/>
          </a:solidFill>
          <a:ln/>
        </p:spPr>
      </p:sp>
      <p:sp>
        <p:nvSpPr>
          <p:cNvPr id="71" name="Text 69"/>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72" name="Text 70"/>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$934K</a:t>
            </a:r>
            <a:endParaRPr lang="en-US" sz="1400" dirty="0"/>
          </a:p>
        </p:txBody>
      </p:sp>
      <p:sp>
        <p:nvSpPr>
          <p:cNvPr id="73" name="Text 71"/>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74" name="Text 72"/>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+17.4%</a:t>
            </a:r>
            <a:endParaRPr lang="en-US" sz="1300" dirty="0"/>
          </a:p>
        </p:txBody>
      </p:sp>
      <p:sp>
        <p:nvSpPr>
          <p:cNvPr id="75" name="Shape 73"/>
          <p:cNvSpPr/>
          <p:nvPr/>
        </p:nvSpPr>
        <p:spPr>
          <a:xfrm>
            <a:off x="8040624" y="3760013"/>
            <a:ext cx="3489960" cy="828446"/>
          </a:xfrm>
          <a:prstGeom prst="rect">
            <a:avLst/>
          </a:prstGeom>
          <a:solidFill>
            <a:srgbClr val="F7F7F7"/>
          </a:solidFill>
          <a:ln/>
        </p:spPr>
      </p:sp>
      <p:sp>
        <p:nvSpPr>
          <p:cNvPr id="76" name="Shape 74"/>
          <p:cNvSpPr/>
          <p:nvPr/>
        </p:nvSpPr>
        <p:spPr>
          <a:xfrm>
            <a:off x="11466576" y="3796589"/>
            <a:ext cx="64008" cy="755294"/>
          </a:xfrm>
          <a:prstGeom prst="rect">
            <a:avLst/>
          </a:prstGeom>
          <a:solidFill>
            <a:srgbClr val="2587C5"/>
          </a:solidFill>
          <a:ln/>
        </p:spPr>
      </p:sp>
      <p:sp>
        <p:nvSpPr>
          <p:cNvPr id="77" name="Text 75"/>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8" name="Text 76"/>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$294K</a:t>
            </a:r>
            <a:endParaRPr lang="en-US" sz="1400" dirty="0"/>
          </a:p>
        </p:txBody>
      </p:sp>
      <p:sp>
        <p:nvSpPr>
          <p:cNvPr id="79" name="Text 77"/>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80" name="Text 78"/>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+62.3%</a:t>
            </a:r>
            <a:endParaRPr lang="en-US" sz="1300" dirty="0"/>
          </a:p>
        </p:txBody>
      </p:sp>
      <p:sp>
        <p:nvSpPr>
          <p:cNvPr id="81" name="Text 79"/>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2" name="Text 80"/>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$408K</a:t>
            </a:r>
            <a:endParaRPr lang="en-US" sz="1400" dirty="0"/>
          </a:p>
        </p:txBody>
      </p:sp>
      <p:sp>
        <p:nvSpPr>
          <p:cNvPr id="83" name="Text 81"/>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+$92K</a:t>
            </a:r>
            <a:endParaRPr lang="en-US" sz="1600" dirty="0"/>
          </a:p>
        </p:txBody>
      </p:sp>
      <p:sp>
        <p:nvSpPr>
          <p:cNvPr id="84" name="Text 82"/>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+29.2%</a:t>
            </a:r>
            <a:endParaRPr lang="en-US" sz="1300" dirty="0"/>
          </a:p>
        </p:txBody>
      </p:sp>
      <p:sp>
        <p:nvSpPr>
          <p:cNvPr id="85" name="Shape 83"/>
          <p:cNvSpPr/>
          <p:nvPr/>
        </p:nvSpPr>
        <p:spPr>
          <a:xfrm>
            <a:off x="8040624" y="5416906"/>
            <a:ext cx="3489960" cy="828446"/>
          </a:xfrm>
          <a:prstGeom prst="rect">
            <a:avLst/>
          </a:prstGeom>
          <a:solidFill>
            <a:srgbClr val="F7F7F7"/>
          </a:solidFill>
          <a:ln/>
        </p:spPr>
      </p:sp>
      <p:sp>
        <p:nvSpPr>
          <p:cNvPr id="86" name="Text 84"/>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7" name="Text 85"/>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$155K</a:t>
            </a:r>
            <a:endParaRPr lang="en-US" sz="1400" dirty="0"/>
          </a:p>
        </p:txBody>
      </p:sp>
      <p:sp>
        <p:nvSpPr>
          <p:cNvPr id="88" name="Text 86"/>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+$84K</a:t>
            </a:r>
            <a:endParaRPr lang="en-US" sz="1600" dirty="0"/>
          </a:p>
        </p:txBody>
      </p:sp>
      <p:sp>
        <p:nvSpPr>
          <p:cNvPr id="89" name="Text 87"/>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+119.4%</a:t>
            </a:r>
            <a:endParaRPr lang="en-US" sz="13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$1.54M</a:t>
            </a:r>
            <a:endParaRPr lang="en-US" sz="1400" dirty="0"/>
          </a:p>
        </p:txBody>
      </p:sp>
      <p:sp>
        <p:nvSpPr>
          <p:cNvPr id="13" name="Text 11"/>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+35.8%</a:t>
            </a:r>
            <a:endParaRPr lang="en-US" sz="1600" dirty="0"/>
          </a:p>
        </p:txBody>
      </p:sp>
      <p:sp>
        <p:nvSpPr>
          <p:cNvPr id="14" name="Text 12"/>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+$404K</a:t>
            </a:r>
            <a:endParaRPr lang="en-US" sz="1300" dirty="0"/>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$2.26M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$2.98M</a:t>
            </a:r>
            <a:endParaRPr lang="en-US" sz="1400" dirty="0"/>
          </a:p>
        </p:txBody>
      </p:sp>
      <p:sp>
        <p:nvSpPr>
          <p:cNvPr id="17" name="Text 15"/>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+31.7%</a:t>
            </a:r>
            <a:endParaRPr lang="en-US" sz="1600" dirty="0"/>
          </a:p>
        </p:txBody>
      </p:sp>
      <p:sp>
        <p:nvSpPr>
          <p:cNvPr id="18" name="Text 16"/>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+$717K</a:t>
            </a:r>
            <a:endParaRPr lang="en-US" sz="1300" dirty="0"/>
          </a:p>
        </p:txBody>
      </p:sp>
      <p:sp>
        <p:nvSpPr>
          <p:cNvPr id="19" name="Shape 17"/>
          <p:cNvSpPr/>
          <p:nvPr/>
        </p:nvSpPr>
        <p:spPr>
          <a:xfrm>
            <a:off x="658368" y="3760013"/>
            <a:ext cx="3489960" cy="828446"/>
          </a:xfrm>
          <a:prstGeom prst="rect">
            <a:avLst/>
          </a:prstGeom>
          <a:solidFill>
            <a:srgbClr val="F7F7F7"/>
          </a:solidFill>
          <a:ln/>
        </p:spPr>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$4.15M</a:t>
            </a:r>
            <a:endParaRPr lang="en-US" sz="1400" dirty="0"/>
          </a:p>
        </p:txBody>
      </p:sp>
      <p:sp>
        <p:nvSpPr>
          <p:cNvPr id="22" name="Text 20"/>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+22.6%</a:t>
            </a:r>
            <a:endParaRPr lang="en-US" sz="1600" dirty="0"/>
          </a:p>
        </p:txBody>
      </p:sp>
      <p:sp>
        <p:nvSpPr>
          <p:cNvPr id="23" name="Text 21"/>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+$764K</a:t>
            </a:r>
            <a:endParaRPr lang="en-US" sz="1300" dirty="0"/>
          </a:p>
        </p:txBody>
      </p:sp>
      <p:sp>
        <p:nvSpPr>
          <p:cNvPr id="24" name="Text 22"/>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3"/>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$10.64M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$12.34M</a:t>
            </a:r>
            <a:endParaRPr lang="en-US" sz="1400" dirty="0"/>
          </a:p>
        </p:txBody>
      </p:sp>
      <p:sp>
        <p:nvSpPr>
          <p:cNvPr id="26" name="Text 24"/>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27" name="Text 25"/>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+$1.70M</a:t>
            </a:r>
            <a:endParaRPr lang="en-US" sz="1300" dirty="0"/>
          </a:p>
        </p:txBody>
      </p:sp>
      <p:sp>
        <p:nvSpPr>
          <p:cNvPr id="28" name="Shape 26"/>
          <p:cNvSpPr/>
          <p:nvPr/>
        </p:nvSpPr>
        <p:spPr>
          <a:xfrm>
            <a:off x="658368" y="5416906"/>
            <a:ext cx="3489960" cy="828446"/>
          </a:xfrm>
          <a:prstGeom prst="rect">
            <a:avLst/>
          </a:prstGeom>
          <a:solidFill>
            <a:srgbClr val="F7F7F7"/>
          </a:solidFill>
          <a:ln/>
        </p:spPr>
      </p:sp>
      <p:sp>
        <p:nvSpPr>
          <p:cNvPr id="29" name="Text 27"/>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8"/>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$2.70M</a:t>
            </a:r>
            <a:endParaRPr lang="en-US" sz="1400" dirty="0"/>
          </a:p>
        </p:txBody>
      </p:sp>
      <p:sp>
        <p:nvSpPr>
          <p:cNvPr id="31" name="Text 29"/>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32" name="Text 30"/>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+$368K</a:t>
            </a:r>
            <a:endParaRPr lang="en-US" sz="1300" dirty="0"/>
          </a:p>
        </p:txBody>
      </p:sp>
      <p:sp>
        <p:nvSpPr>
          <p:cNvPr id="33" name="Shape 31"/>
          <p:cNvSpPr/>
          <p:nvPr/>
        </p:nvSpPr>
        <p:spPr>
          <a:xfrm>
            <a:off x="4349496" y="1371600"/>
            <a:ext cx="3489960" cy="45720"/>
          </a:xfrm>
          <a:prstGeom prst="rect">
            <a:avLst/>
          </a:prstGeom>
          <a:solidFill>
            <a:srgbClr val="C2352F"/>
          </a:solidFill>
          <a:ln/>
        </p:spPr>
      </p:sp>
      <p:sp>
        <p:nvSpPr>
          <p:cNvPr id="34"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Text 33"/>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6" name="Shape 34"/>
          <p:cNvSpPr/>
          <p:nvPr/>
        </p:nvSpPr>
        <p:spPr>
          <a:xfrm>
            <a:off x="4349496" y="2103120"/>
            <a:ext cx="3489960" cy="828446"/>
          </a:xfrm>
          <a:prstGeom prst="rect">
            <a:avLst/>
          </a:prstGeom>
          <a:solidFill>
            <a:srgbClr val="F7F7F7"/>
          </a:solidFill>
          <a:ln/>
        </p:spPr>
      </p:sp>
      <p:sp>
        <p:nvSpPr>
          <p:cNvPr id="37" name="Text 35"/>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8" name="Text 36"/>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$2.89M</a:t>
            </a:r>
            <a:endParaRPr lang="en-US" sz="1400" dirty="0"/>
          </a:p>
        </p:txBody>
      </p:sp>
      <p:sp>
        <p:nvSpPr>
          <p:cNvPr id="39" name="Text 37"/>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−15.2%</a:t>
            </a:r>
            <a:endParaRPr lang="en-US" sz="1600" dirty="0"/>
          </a:p>
        </p:txBody>
      </p:sp>
      <p:sp>
        <p:nvSpPr>
          <p:cNvPr id="40" name="Text 38"/>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−$517K</a:t>
            </a:r>
            <a:endParaRPr lang="en-US" sz="1300" dirty="0"/>
          </a:p>
        </p:txBody>
      </p:sp>
      <p:sp>
        <p:nvSpPr>
          <p:cNvPr id="41" name="Text 39"/>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2" name="Text 40"/>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$968K</a:t>
            </a:r>
            <a:endParaRPr lang="en-US" sz="1400" dirty="0"/>
          </a:p>
        </p:txBody>
      </p:sp>
      <p:sp>
        <p:nvSpPr>
          <p:cNvPr id="43" name="Text 41"/>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−14.4%</a:t>
            </a:r>
            <a:endParaRPr lang="en-US" sz="1600" dirty="0"/>
          </a:p>
        </p:txBody>
      </p:sp>
      <p:sp>
        <p:nvSpPr>
          <p:cNvPr id="44" name="Text 42"/>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−$163K</a:t>
            </a:r>
            <a:endParaRPr lang="en-US" sz="1300" dirty="0"/>
          </a:p>
        </p:txBody>
      </p:sp>
      <p:sp>
        <p:nvSpPr>
          <p:cNvPr id="45" name="Shape 43"/>
          <p:cNvSpPr/>
          <p:nvPr/>
        </p:nvSpPr>
        <p:spPr>
          <a:xfrm>
            <a:off x="4349496" y="3760013"/>
            <a:ext cx="3489960" cy="828446"/>
          </a:xfrm>
          <a:prstGeom prst="rect">
            <a:avLst/>
          </a:prstGeom>
          <a:solidFill>
            <a:srgbClr val="F7F7F7"/>
          </a:solidFill>
          <a:ln/>
        </p:spPr>
      </p:sp>
      <p:sp>
        <p:nvSpPr>
          <p:cNvPr id="46" name="Text 44"/>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7" name="Text 45"/>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$4.79M</a:t>
            </a:r>
            <a:endParaRPr lang="en-US" sz="1400" dirty="0"/>
          </a:p>
        </p:txBody>
      </p:sp>
      <p:sp>
        <p:nvSpPr>
          <p:cNvPr id="48" name="Text 46"/>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49" name="Text 47"/>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−$761K</a:t>
            </a:r>
            <a:endParaRPr lang="en-US" sz="1300" dirty="0"/>
          </a:p>
        </p:txBody>
      </p:sp>
      <p:sp>
        <p:nvSpPr>
          <p:cNvPr id="50" name="Text 48"/>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1" name="Text 49"/>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$4.46M</a:t>
            </a:r>
            <a:endParaRPr lang="en-US" sz="1400" dirty="0"/>
          </a:p>
        </p:txBody>
      </p:sp>
      <p:sp>
        <p:nvSpPr>
          <p:cNvPr id="52" name="Text 50"/>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53" name="Text 51"/>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−$520K</a:t>
            </a:r>
            <a:endParaRPr lang="en-US" sz="1300" dirty="0"/>
          </a:p>
        </p:txBody>
      </p:sp>
      <p:sp>
        <p:nvSpPr>
          <p:cNvPr id="54" name="Shape 52"/>
          <p:cNvSpPr/>
          <p:nvPr/>
        </p:nvSpPr>
        <p:spPr>
          <a:xfrm>
            <a:off x="4349496" y="5416906"/>
            <a:ext cx="3489960" cy="828446"/>
          </a:xfrm>
          <a:prstGeom prst="rect">
            <a:avLst/>
          </a:prstGeom>
          <a:solidFill>
            <a:srgbClr val="F7F7F7"/>
          </a:solidFill>
          <a:ln/>
        </p:spPr>
      </p:sp>
      <p:sp>
        <p:nvSpPr>
          <p:cNvPr id="55" name="Text 53"/>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6" name="Text 54"/>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$9.46M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$8.62M</a:t>
            </a:r>
            <a:endParaRPr lang="en-US" sz="1400" dirty="0"/>
          </a:p>
        </p:txBody>
      </p:sp>
      <p:sp>
        <p:nvSpPr>
          <p:cNvPr id="57" name="Text 55"/>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−8.9%</a:t>
            </a:r>
            <a:endParaRPr lang="en-US" sz="1600" dirty="0"/>
          </a:p>
        </p:txBody>
      </p:sp>
      <p:sp>
        <p:nvSpPr>
          <p:cNvPr id="58" name="Text 56"/>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−$840K</a:t>
            </a:r>
            <a:endParaRPr lang="en-US" sz="1300" dirty="0"/>
          </a:p>
        </p:txBody>
      </p:sp>
      <p:sp>
        <p:nvSpPr>
          <p:cNvPr id="59" name="Shape 57"/>
          <p:cNvSpPr/>
          <p:nvPr/>
        </p:nvSpPr>
        <p:spPr>
          <a:xfrm>
            <a:off x="8040624" y="1371600"/>
            <a:ext cx="3489960" cy="45720"/>
          </a:xfrm>
          <a:prstGeom prst="rect">
            <a:avLst/>
          </a:prstGeom>
          <a:solidFill>
            <a:srgbClr val="2587C5"/>
          </a:solidFill>
          <a:ln/>
        </p:spPr>
      </p:sp>
      <p:sp>
        <p:nvSpPr>
          <p:cNvPr id="60" name="Text 5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Text 5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62" name="Shape 60"/>
          <p:cNvSpPr/>
          <p:nvPr/>
        </p:nvSpPr>
        <p:spPr>
          <a:xfrm>
            <a:off x="8040624" y="2103120"/>
            <a:ext cx="3489960" cy="828446"/>
          </a:xfrm>
          <a:prstGeom prst="rect">
            <a:avLst/>
          </a:prstGeom>
          <a:solidFill>
            <a:srgbClr val="F7F7F7"/>
          </a:solidFill>
          <a:ln/>
        </p:spPr>
      </p:sp>
      <p:sp>
        <p:nvSpPr>
          <p:cNvPr id="63" name="Text 61"/>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4" name="Text 62"/>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$425K</a:t>
            </a:r>
            <a:endParaRPr lang="en-US" sz="1400" dirty="0"/>
          </a:p>
        </p:txBody>
      </p:sp>
      <p:sp>
        <p:nvSpPr>
          <p:cNvPr id="65" name="Text 63"/>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+35.7%</a:t>
            </a:r>
            <a:endParaRPr lang="en-US" sz="1600" dirty="0"/>
          </a:p>
        </p:txBody>
      </p:sp>
      <p:sp>
        <p:nvSpPr>
          <p:cNvPr id="66" name="Text 64"/>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67" name="Text 65"/>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8" name="Text 66"/>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$301K</a:t>
            </a:r>
            <a:endParaRPr lang="en-US" sz="1400" dirty="0"/>
          </a:p>
        </p:txBody>
      </p:sp>
      <p:sp>
        <p:nvSpPr>
          <p:cNvPr id="69" name="Text 67"/>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+32.7%</a:t>
            </a:r>
            <a:endParaRPr lang="en-US" sz="1600" dirty="0"/>
          </a:p>
        </p:txBody>
      </p:sp>
      <p:sp>
        <p:nvSpPr>
          <p:cNvPr id="70" name="Text 68"/>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71" name="Shape 69"/>
          <p:cNvSpPr/>
          <p:nvPr/>
        </p:nvSpPr>
        <p:spPr>
          <a:xfrm>
            <a:off x="8040624" y="3760013"/>
            <a:ext cx="3489960" cy="828446"/>
          </a:xfrm>
          <a:prstGeom prst="rect">
            <a:avLst/>
          </a:prstGeom>
          <a:solidFill>
            <a:srgbClr val="F7F7F7"/>
          </a:solidFill>
          <a:ln/>
        </p:spPr>
      </p:sp>
      <p:sp>
        <p:nvSpPr>
          <p:cNvPr id="72" name="Text 70"/>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3" name="Text 71"/>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$429K</a:t>
            </a:r>
            <a:endParaRPr lang="en-US" sz="1400" dirty="0"/>
          </a:p>
        </p:txBody>
      </p:sp>
      <p:sp>
        <p:nvSpPr>
          <p:cNvPr id="74" name="Text 72"/>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75" name="Text 73"/>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+$97K</a:t>
            </a:r>
            <a:endParaRPr lang="en-US" sz="1300" dirty="0"/>
          </a:p>
        </p:txBody>
      </p:sp>
      <p:sp>
        <p:nvSpPr>
          <p:cNvPr id="76" name="Text 74"/>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7" name="Text 75"/>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$448K</a:t>
            </a:r>
            <a:endParaRPr lang="en-US" sz="1400" dirty="0"/>
          </a:p>
        </p:txBody>
      </p:sp>
      <p:sp>
        <p:nvSpPr>
          <p:cNvPr id="78" name="Text 76"/>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79" name="Text 77"/>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+$84K</a:t>
            </a:r>
            <a:endParaRPr lang="en-US" sz="1300" dirty="0"/>
          </a:p>
        </p:txBody>
      </p:sp>
      <p:sp>
        <p:nvSpPr>
          <p:cNvPr id="80" name="Shape 78"/>
          <p:cNvSpPr/>
          <p:nvPr/>
        </p:nvSpPr>
        <p:spPr>
          <a:xfrm>
            <a:off x="8040624" y="5416906"/>
            <a:ext cx="3489960" cy="828446"/>
          </a:xfrm>
          <a:prstGeom prst="rect">
            <a:avLst/>
          </a:prstGeom>
          <a:solidFill>
            <a:srgbClr val="F7F7F7"/>
          </a:solidFill>
          <a:ln/>
        </p:spPr>
      </p:sp>
      <p:sp>
        <p:nvSpPr>
          <p:cNvPr id="81" name="Shape 79"/>
          <p:cNvSpPr/>
          <p:nvPr/>
        </p:nvSpPr>
        <p:spPr>
          <a:xfrm>
            <a:off x="11466576" y="5453482"/>
            <a:ext cx="64008" cy="755294"/>
          </a:xfrm>
          <a:prstGeom prst="rect">
            <a:avLst/>
          </a:prstGeom>
          <a:solidFill>
            <a:srgbClr val="12A566"/>
          </a:solidFill>
          <a:ln/>
        </p:spPr>
      </p:sp>
      <p:sp>
        <p:nvSpPr>
          <p:cNvPr id="82" name="Text 8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3" name="Text 8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$188K</a:t>
            </a:r>
            <a:endParaRPr lang="en-US" sz="1400" dirty="0"/>
          </a:p>
        </p:txBody>
      </p:sp>
      <p:sp>
        <p:nvSpPr>
          <p:cNvPr id="84" name="Text 82"/>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85" name="Text 83"/>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+$30K</a:t>
            </a:r>
            <a:endParaRPr lang="en-US" sz="13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$993K</a:t>
            </a:r>
            <a:endParaRPr lang="en-US" sz="1400" dirty="0"/>
          </a:p>
        </p:txBody>
      </p:sp>
      <p:sp>
        <p:nvSpPr>
          <p:cNvPr id="13" name="Text 11"/>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+53.3%</a:t>
            </a:r>
            <a:endParaRPr lang="en-US" sz="1600" dirty="0"/>
          </a:p>
        </p:txBody>
      </p:sp>
      <p:sp>
        <p:nvSpPr>
          <p:cNvPr id="14" name="Text 12"/>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+$345K</a:t>
            </a:r>
            <a:endParaRPr lang="en-US" sz="1300" dirty="0"/>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$2.09M</a:t>
            </a:r>
            <a:endParaRPr lang="en-US" sz="1400" dirty="0"/>
          </a:p>
        </p:txBody>
      </p:sp>
      <p:sp>
        <p:nvSpPr>
          <p:cNvPr id="17" name="Text 15"/>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18" name="Text 16"/>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+$475K</a:t>
            </a:r>
            <a:endParaRPr lang="en-US" sz="1300" dirty="0"/>
          </a:p>
        </p:txBody>
      </p:sp>
      <p:sp>
        <p:nvSpPr>
          <p:cNvPr id="19" name="Shape 17"/>
          <p:cNvSpPr/>
          <p:nvPr/>
        </p:nvSpPr>
        <p:spPr>
          <a:xfrm>
            <a:off x="658368" y="3760013"/>
            <a:ext cx="3489960" cy="828446"/>
          </a:xfrm>
          <a:prstGeom prst="rect">
            <a:avLst/>
          </a:prstGeom>
          <a:solidFill>
            <a:srgbClr val="F7F7F7"/>
          </a:solidFill>
          <a:ln/>
        </p:spPr>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$2.95M</a:t>
            </a:r>
            <a:endParaRPr lang="en-US" sz="1400" dirty="0"/>
          </a:p>
        </p:txBody>
      </p:sp>
      <p:sp>
        <p:nvSpPr>
          <p:cNvPr id="22" name="Text 20"/>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+27.7%</a:t>
            </a:r>
            <a:endParaRPr lang="en-US" sz="1600" dirty="0"/>
          </a:p>
        </p:txBody>
      </p:sp>
      <p:sp>
        <p:nvSpPr>
          <p:cNvPr id="23" name="Text 21"/>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+$639K</a:t>
            </a:r>
            <a:endParaRPr lang="en-US" sz="1300" dirty="0"/>
          </a:p>
        </p:txBody>
      </p:sp>
      <p:sp>
        <p:nvSpPr>
          <p:cNvPr id="24" name="Text 22"/>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3"/>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$1.46M</a:t>
            </a:r>
            <a:endParaRPr lang="en-US" sz="1400" dirty="0"/>
          </a:p>
        </p:txBody>
      </p:sp>
      <p:sp>
        <p:nvSpPr>
          <p:cNvPr id="26" name="Text 24"/>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+27.5%</a:t>
            </a:r>
            <a:endParaRPr lang="en-US" sz="1600" dirty="0"/>
          </a:p>
        </p:txBody>
      </p:sp>
      <p:sp>
        <p:nvSpPr>
          <p:cNvPr id="27" name="Text 25"/>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+$315K</a:t>
            </a:r>
            <a:endParaRPr lang="en-US" sz="1300" dirty="0"/>
          </a:p>
        </p:txBody>
      </p:sp>
      <p:sp>
        <p:nvSpPr>
          <p:cNvPr id="28" name="Shape 26"/>
          <p:cNvSpPr/>
          <p:nvPr/>
        </p:nvSpPr>
        <p:spPr>
          <a:xfrm>
            <a:off x="658368" y="5416906"/>
            <a:ext cx="3489960" cy="828446"/>
          </a:xfrm>
          <a:prstGeom prst="rect">
            <a:avLst/>
          </a:prstGeom>
          <a:solidFill>
            <a:srgbClr val="F7F7F7"/>
          </a:solidFill>
          <a:ln/>
        </p:spPr>
      </p:sp>
      <p:sp>
        <p:nvSpPr>
          <p:cNvPr id="29" name="Text 27"/>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8"/>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$3.01M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$3.63M</a:t>
            </a:r>
            <a:endParaRPr lang="en-US" sz="1400" dirty="0"/>
          </a:p>
        </p:txBody>
      </p:sp>
      <p:sp>
        <p:nvSpPr>
          <p:cNvPr id="31" name="Text 29"/>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+20.5%</a:t>
            </a:r>
            <a:endParaRPr lang="en-US" sz="1600" dirty="0"/>
          </a:p>
        </p:txBody>
      </p:sp>
      <p:sp>
        <p:nvSpPr>
          <p:cNvPr id="32" name="Text 30"/>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+$619K</a:t>
            </a:r>
            <a:endParaRPr lang="en-US" sz="1300" dirty="0"/>
          </a:p>
        </p:txBody>
      </p:sp>
      <p:sp>
        <p:nvSpPr>
          <p:cNvPr id="33" name="Shape 31"/>
          <p:cNvSpPr/>
          <p:nvPr/>
        </p:nvSpPr>
        <p:spPr>
          <a:xfrm>
            <a:off x="4349496" y="1371600"/>
            <a:ext cx="3489960" cy="45720"/>
          </a:xfrm>
          <a:prstGeom prst="rect">
            <a:avLst/>
          </a:prstGeom>
          <a:solidFill>
            <a:srgbClr val="C2352F"/>
          </a:solidFill>
          <a:ln/>
        </p:spPr>
      </p:sp>
      <p:sp>
        <p:nvSpPr>
          <p:cNvPr id="34"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Text 33"/>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6" name="Shape 34"/>
          <p:cNvSpPr/>
          <p:nvPr/>
        </p:nvSpPr>
        <p:spPr>
          <a:xfrm>
            <a:off x="4349496" y="2103120"/>
            <a:ext cx="3489960" cy="828446"/>
          </a:xfrm>
          <a:prstGeom prst="rect">
            <a:avLst/>
          </a:prstGeom>
          <a:solidFill>
            <a:srgbClr val="F7F7F7"/>
          </a:solidFill>
          <a:ln/>
        </p:spPr>
      </p:sp>
      <p:sp>
        <p:nvSpPr>
          <p:cNvPr id="37" name="Text 35"/>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8" name="Text 36"/>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$1.89M</a:t>
            </a:r>
            <a:endParaRPr lang="en-US" sz="1400" dirty="0"/>
          </a:p>
        </p:txBody>
      </p:sp>
      <p:sp>
        <p:nvSpPr>
          <p:cNvPr id="39" name="Text 37"/>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40" name="Text 38"/>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−$438K</a:t>
            </a:r>
            <a:endParaRPr lang="en-US" sz="1300" dirty="0"/>
          </a:p>
        </p:txBody>
      </p:sp>
      <p:sp>
        <p:nvSpPr>
          <p:cNvPr id="41" name="Text 39"/>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2" name="Text 40"/>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$724K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$588K</a:t>
            </a:r>
            <a:endParaRPr lang="en-US" sz="1400" dirty="0"/>
          </a:p>
        </p:txBody>
      </p:sp>
      <p:sp>
        <p:nvSpPr>
          <p:cNvPr id="43" name="Text 41"/>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−18.7%</a:t>
            </a:r>
            <a:endParaRPr lang="en-US" sz="1600" dirty="0"/>
          </a:p>
        </p:txBody>
      </p:sp>
      <p:sp>
        <p:nvSpPr>
          <p:cNvPr id="44" name="Text 42"/>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−$135K</a:t>
            </a:r>
            <a:endParaRPr lang="en-US" sz="1300" dirty="0"/>
          </a:p>
        </p:txBody>
      </p:sp>
      <p:sp>
        <p:nvSpPr>
          <p:cNvPr id="45" name="Shape 43"/>
          <p:cNvSpPr/>
          <p:nvPr/>
        </p:nvSpPr>
        <p:spPr>
          <a:xfrm>
            <a:off x="4349496" y="3760013"/>
            <a:ext cx="3489960" cy="828446"/>
          </a:xfrm>
          <a:prstGeom prst="rect">
            <a:avLst/>
          </a:prstGeom>
          <a:solidFill>
            <a:srgbClr val="F7F7F7"/>
          </a:solidFill>
          <a:ln/>
        </p:spPr>
      </p:sp>
      <p:sp>
        <p:nvSpPr>
          <p:cNvPr id="46" name="Text 44"/>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7" name="Text 45"/>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$3.50M</a:t>
            </a:r>
            <a:endParaRPr lang="en-US" sz="1400" dirty="0"/>
          </a:p>
        </p:txBody>
      </p:sp>
      <p:sp>
        <p:nvSpPr>
          <p:cNvPr id="48" name="Text 46"/>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−13.5%</a:t>
            </a:r>
            <a:endParaRPr lang="en-US" sz="1600" dirty="0"/>
          </a:p>
        </p:txBody>
      </p:sp>
      <p:sp>
        <p:nvSpPr>
          <p:cNvPr id="49" name="Text 47"/>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−$547K</a:t>
            </a:r>
            <a:endParaRPr lang="en-US" sz="1300" dirty="0"/>
          </a:p>
        </p:txBody>
      </p:sp>
      <p:sp>
        <p:nvSpPr>
          <p:cNvPr id="50" name="Text 48"/>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1" name="Text 49"/>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$5.92M</a:t>
            </a:r>
            <a:endParaRPr lang="en-US" sz="1400" dirty="0"/>
          </a:p>
        </p:txBody>
      </p:sp>
      <p:sp>
        <p:nvSpPr>
          <p:cNvPr id="52" name="Text 50"/>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−10.5%</a:t>
            </a:r>
            <a:endParaRPr lang="en-US" sz="1600" dirty="0"/>
          </a:p>
        </p:txBody>
      </p:sp>
      <p:sp>
        <p:nvSpPr>
          <p:cNvPr id="53" name="Text 51"/>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−$695K</a:t>
            </a:r>
            <a:endParaRPr lang="en-US" sz="1300" dirty="0"/>
          </a:p>
        </p:txBody>
      </p:sp>
      <p:sp>
        <p:nvSpPr>
          <p:cNvPr id="54" name="Shape 52"/>
          <p:cNvSpPr/>
          <p:nvPr/>
        </p:nvSpPr>
        <p:spPr>
          <a:xfrm>
            <a:off x="4349496" y="5416906"/>
            <a:ext cx="3489960" cy="828446"/>
          </a:xfrm>
          <a:prstGeom prst="rect">
            <a:avLst/>
          </a:prstGeom>
          <a:solidFill>
            <a:srgbClr val="F7F7F7"/>
          </a:solidFill>
          <a:ln/>
        </p:spPr>
      </p:sp>
      <p:sp>
        <p:nvSpPr>
          <p:cNvPr id="55" name="Text 53"/>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6" name="Text 54"/>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$3.23M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$3.04M</a:t>
            </a:r>
            <a:endParaRPr lang="en-US" sz="1400" dirty="0"/>
          </a:p>
        </p:txBody>
      </p:sp>
      <p:sp>
        <p:nvSpPr>
          <p:cNvPr id="57" name="Text 55"/>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58" name="Text 56"/>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−$192K</a:t>
            </a:r>
            <a:endParaRPr lang="en-US" sz="1300" dirty="0"/>
          </a:p>
        </p:txBody>
      </p:sp>
      <p:sp>
        <p:nvSpPr>
          <p:cNvPr id="59" name="Shape 57"/>
          <p:cNvSpPr/>
          <p:nvPr/>
        </p:nvSpPr>
        <p:spPr>
          <a:xfrm>
            <a:off x="8040624" y="1371600"/>
            <a:ext cx="3489960" cy="45720"/>
          </a:xfrm>
          <a:prstGeom prst="rect">
            <a:avLst/>
          </a:prstGeom>
          <a:solidFill>
            <a:srgbClr val="2587C5"/>
          </a:solidFill>
          <a:ln/>
        </p:spPr>
      </p:sp>
      <p:sp>
        <p:nvSpPr>
          <p:cNvPr id="60" name="Text 5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Text 5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62" name="Shape 60"/>
          <p:cNvSpPr/>
          <p:nvPr/>
        </p:nvSpPr>
        <p:spPr>
          <a:xfrm>
            <a:off x="8040624" y="2103120"/>
            <a:ext cx="3489960" cy="828446"/>
          </a:xfrm>
          <a:prstGeom prst="rect">
            <a:avLst/>
          </a:prstGeom>
          <a:solidFill>
            <a:srgbClr val="F7F7F7"/>
          </a:solidFill>
          <a:ln/>
        </p:spPr>
      </p:sp>
      <p:sp>
        <p:nvSpPr>
          <p:cNvPr id="63" name="Text 61"/>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4" name="Text 62"/>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$275K</a:t>
            </a:r>
            <a:endParaRPr lang="en-US" sz="1400" dirty="0"/>
          </a:p>
        </p:txBody>
      </p:sp>
      <p:sp>
        <p:nvSpPr>
          <p:cNvPr id="65" name="Text 63"/>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66" name="Text 64"/>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67" name="Text 65"/>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8" name="Text 66"/>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$178K</a:t>
            </a:r>
            <a:endParaRPr lang="en-US" sz="1400" dirty="0"/>
          </a:p>
        </p:txBody>
      </p:sp>
      <p:sp>
        <p:nvSpPr>
          <p:cNvPr id="69" name="Text 67"/>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+34.5%</a:t>
            </a:r>
            <a:endParaRPr lang="en-US" sz="1600" dirty="0"/>
          </a:p>
        </p:txBody>
      </p:sp>
      <p:sp>
        <p:nvSpPr>
          <p:cNvPr id="70" name="Text 68"/>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+$46K</a:t>
            </a:r>
            <a:endParaRPr lang="en-US" sz="1300" dirty="0"/>
          </a:p>
        </p:txBody>
      </p:sp>
      <p:sp>
        <p:nvSpPr>
          <p:cNvPr id="71" name="Shape 69"/>
          <p:cNvSpPr/>
          <p:nvPr/>
        </p:nvSpPr>
        <p:spPr>
          <a:xfrm>
            <a:off x="8040624" y="3760013"/>
            <a:ext cx="3489960" cy="828446"/>
          </a:xfrm>
          <a:prstGeom prst="rect">
            <a:avLst/>
          </a:prstGeom>
          <a:solidFill>
            <a:srgbClr val="F7F7F7"/>
          </a:solidFill>
          <a:ln/>
        </p:spPr>
      </p:sp>
      <p:sp>
        <p:nvSpPr>
          <p:cNvPr id="72" name="Shape 70"/>
          <p:cNvSpPr/>
          <p:nvPr/>
        </p:nvSpPr>
        <p:spPr>
          <a:xfrm>
            <a:off x="11466576" y="3796589"/>
            <a:ext cx="64008" cy="755294"/>
          </a:xfrm>
          <a:prstGeom prst="rect">
            <a:avLst/>
          </a:prstGeom>
          <a:solidFill>
            <a:srgbClr val="12A566"/>
          </a:solidFill>
          <a:ln/>
        </p:spPr>
      </p:sp>
      <p:sp>
        <p:nvSpPr>
          <p:cNvPr id="73" name="Text 7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4" name="Text 7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$128K</a:t>
            </a:r>
            <a:endParaRPr lang="en-US" sz="1400" dirty="0"/>
          </a:p>
        </p:txBody>
      </p:sp>
      <p:sp>
        <p:nvSpPr>
          <p:cNvPr id="75" name="Text 73"/>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+34.2%</a:t>
            </a:r>
            <a:endParaRPr lang="en-US" sz="1600" dirty="0"/>
          </a:p>
        </p:txBody>
      </p:sp>
      <p:sp>
        <p:nvSpPr>
          <p:cNvPr id="76" name="Text 74"/>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+$33K</a:t>
            </a:r>
            <a:endParaRPr lang="en-US" sz="1300" dirty="0"/>
          </a:p>
        </p:txBody>
      </p:sp>
      <p:sp>
        <p:nvSpPr>
          <p:cNvPr id="77" name="Text 75"/>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8" name="Text 76"/>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$273K</a:t>
            </a:r>
            <a:endParaRPr lang="en-US" sz="1400" dirty="0"/>
          </a:p>
        </p:txBody>
      </p:sp>
      <p:sp>
        <p:nvSpPr>
          <p:cNvPr id="79" name="Text 77"/>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
        <p:nvSpPr>
          <p:cNvPr id="80" name="Text 78"/>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+$67K</a:t>
            </a:r>
            <a:endParaRPr lang="en-US" sz="1300" dirty="0"/>
          </a:p>
        </p:txBody>
      </p:sp>
      <p:sp>
        <p:nvSpPr>
          <p:cNvPr id="81" name="Shape 79"/>
          <p:cNvSpPr/>
          <p:nvPr/>
        </p:nvSpPr>
        <p:spPr>
          <a:xfrm>
            <a:off x="8040624" y="5416906"/>
            <a:ext cx="3489960" cy="828446"/>
          </a:xfrm>
          <a:prstGeom prst="rect">
            <a:avLst/>
          </a:prstGeom>
          <a:solidFill>
            <a:srgbClr val="F7F7F7"/>
          </a:solidFill>
          <a:ln/>
        </p:spPr>
      </p:sp>
      <p:sp>
        <p:nvSpPr>
          <p:cNvPr id="82" name="Text 8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3" name="Text 8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$290K</a:t>
            </a:r>
            <a:endParaRPr lang="en-US" sz="1400" dirty="0"/>
          </a:p>
        </p:txBody>
      </p:sp>
      <p:sp>
        <p:nvSpPr>
          <p:cNvPr id="84" name="Text 82"/>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85" name="Text 83"/>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+$54K</a:t>
            </a:r>
            <a:endParaRPr lang="en-US" sz="13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$896K</a:t>
            </a:r>
            <a:endParaRPr lang="en-US" sz="1400" dirty="0"/>
          </a:p>
        </p:txBody>
      </p:sp>
      <p:sp>
        <p:nvSpPr>
          <p:cNvPr id="12" name="Text 10"/>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+37.1%</a:t>
            </a:r>
            <a:endParaRPr lang="en-US" sz="1600" dirty="0"/>
          </a:p>
        </p:txBody>
      </p:sp>
      <p:sp>
        <p:nvSpPr>
          <p:cNvPr id="13" name="Text 11"/>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+$243K</a:t>
            </a:r>
            <a:endParaRPr lang="en-US" sz="13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$3.11M</a:t>
            </a:r>
            <a:endParaRPr lang="en-US" sz="1400" dirty="0"/>
          </a:p>
        </p:txBody>
      </p:sp>
      <p:sp>
        <p:nvSpPr>
          <p:cNvPr id="16" name="Text 14"/>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+28.4%</a:t>
            </a:r>
            <a:endParaRPr lang="en-US" sz="1600" dirty="0"/>
          </a:p>
        </p:txBody>
      </p:sp>
      <p:sp>
        <p:nvSpPr>
          <p:cNvPr id="17" name="Text 15"/>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+$688K</a:t>
            </a:r>
            <a:endParaRPr lang="en-US" sz="1300" dirty="0"/>
          </a:p>
        </p:txBody>
      </p:sp>
      <p:sp>
        <p:nvSpPr>
          <p:cNvPr id="18" name="Shape 16"/>
          <p:cNvSpPr/>
          <p:nvPr/>
        </p:nvSpPr>
        <p:spPr>
          <a:xfrm>
            <a:off x="658368" y="3760013"/>
            <a:ext cx="3489960" cy="828446"/>
          </a:xfrm>
          <a:prstGeom prst="rect">
            <a:avLst/>
          </a:prstGeom>
          <a:solidFill>
            <a:srgbClr val="F7F7F7"/>
          </a:solidFill>
          <a:ln/>
        </p:spPr>
      </p:sp>
      <p:sp>
        <p:nvSpPr>
          <p:cNvPr id="19" name="Text 17"/>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0" name="Text 18"/>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$1.31M</a:t>
            </a:r>
            <a:endParaRPr lang="en-US" sz="1400" dirty="0"/>
          </a:p>
        </p:txBody>
      </p:sp>
      <p:sp>
        <p:nvSpPr>
          <p:cNvPr id="21" name="Text 19"/>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+26.0%</a:t>
            </a:r>
            <a:endParaRPr lang="en-US" sz="1600" dirty="0"/>
          </a:p>
        </p:txBody>
      </p:sp>
      <p:sp>
        <p:nvSpPr>
          <p:cNvPr id="22" name="Text 20"/>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+$271K</a:t>
            </a:r>
            <a:endParaRPr lang="en-US" sz="1300" dirty="0"/>
          </a:p>
        </p:txBody>
      </p:sp>
      <p:sp>
        <p:nvSpPr>
          <p:cNvPr id="23" name="Text 21"/>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22"/>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$1.09M</a:t>
            </a:r>
            <a:endParaRPr lang="en-US" sz="1400" dirty="0"/>
          </a:p>
        </p:txBody>
      </p:sp>
      <p:sp>
        <p:nvSpPr>
          <p:cNvPr id="25" name="Text 23"/>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26" name="Text 24"/>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27" name="Shape 25"/>
          <p:cNvSpPr/>
          <p:nvPr/>
        </p:nvSpPr>
        <p:spPr>
          <a:xfrm>
            <a:off x="658368" y="5416906"/>
            <a:ext cx="3489960" cy="828446"/>
          </a:xfrm>
          <a:prstGeom prst="rect">
            <a:avLst/>
          </a:prstGeom>
          <a:solidFill>
            <a:srgbClr val="F7F7F7"/>
          </a:solidFill>
          <a:ln/>
        </p:spPr>
      </p:sp>
      <p:sp>
        <p:nvSpPr>
          <p:cNvPr id="28" name="Text 26"/>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9" name="Text 27"/>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$948K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$1.10M</a:t>
            </a:r>
            <a:endParaRPr lang="en-US" sz="1400" dirty="0"/>
          </a:p>
        </p:txBody>
      </p:sp>
      <p:sp>
        <p:nvSpPr>
          <p:cNvPr id="30" name="Text 28"/>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31" name="Text 29"/>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+$151K</a:t>
            </a:r>
            <a:endParaRPr lang="en-US" sz="1300" dirty="0"/>
          </a:p>
        </p:txBody>
      </p:sp>
      <p:sp>
        <p:nvSpPr>
          <p:cNvPr id="32" name="Shape 30"/>
          <p:cNvSpPr/>
          <p:nvPr/>
        </p:nvSpPr>
        <p:spPr>
          <a:xfrm>
            <a:off x="4349496" y="1371600"/>
            <a:ext cx="3489960" cy="45720"/>
          </a:xfrm>
          <a:prstGeom prst="rect">
            <a:avLst/>
          </a:prstGeom>
          <a:solidFill>
            <a:srgbClr val="C2352F"/>
          </a:solidFill>
          <a:ln/>
        </p:spPr>
      </p:sp>
      <p:sp>
        <p:nvSpPr>
          <p:cNvPr id="33" name="Text 3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4" name="Text 32"/>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5" name="Shape 33"/>
          <p:cNvSpPr/>
          <p:nvPr/>
        </p:nvSpPr>
        <p:spPr>
          <a:xfrm>
            <a:off x="4349496" y="2103120"/>
            <a:ext cx="3489960" cy="828446"/>
          </a:xfrm>
          <a:prstGeom prst="rect">
            <a:avLst/>
          </a:prstGeom>
          <a:solidFill>
            <a:srgbClr val="F7F7F7"/>
          </a:solidFill>
          <a:ln/>
        </p:spPr>
      </p:sp>
      <p:sp>
        <p:nvSpPr>
          <p:cNvPr id="36" name="Text 34"/>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7" name="Text 35"/>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$827K</a:t>
            </a:r>
            <a:endParaRPr lang="en-US" sz="1400" dirty="0"/>
          </a:p>
        </p:txBody>
      </p:sp>
      <p:sp>
        <p:nvSpPr>
          <p:cNvPr id="38" name="Text 36"/>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−21.5%</a:t>
            </a:r>
            <a:endParaRPr lang="en-US" sz="1600" dirty="0"/>
          </a:p>
        </p:txBody>
      </p:sp>
      <p:sp>
        <p:nvSpPr>
          <p:cNvPr id="39" name="Text 37"/>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−$227K</a:t>
            </a:r>
            <a:endParaRPr lang="en-US" sz="1300" dirty="0"/>
          </a:p>
        </p:txBody>
      </p:sp>
      <p:sp>
        <p:nvSpPr>
          <p:cNvPr id="40" name="Text 38"/>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1" name="Text 39"/>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$1.42M</a:t>
            </a:r>
            <a:endParaRPr lang="en-US" sz="1400" dirty="0"/>
          </a:p>
        </p:txBody>
      </p:sp>
      <p:sp>
        <p:nvSpPr>
          <p:cNvPr id="42" name="Text 40"/>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43" name="Text 41"/>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−$328K</a:t>
            </a:r>
            <a:endParaRPr lang="en-US" sz="1300" dirty="0"/>
          </a:p>
        </p:txBody>
      </p:sp>
      <p:sp>
        <p:nvSpPr>
          <p:cNvPr id="44" name="Shape 42"/>
          <p:cNvSpPr/>
          <p:nvPr/>
        </p:nvSpPr>
        <p:spPr>
          <a:xfrm>
            <a:off x="4349496" y="3760013"/>
            <a:ext cx="3489960" cy="828446"/>
          </a:xfrm>
          <a:prstGeom prst="rect">
            <a:avLst/>
          </a:prstGeom>
          <a:solidFill>
            <a:srgbClr val="F7F7F7"/>
          </a:solidFill>
          <a:ln/>
        </p:spPr>
      </p:sp>
      <p:sp>
        <p:nvSpPr>
          <p:cNvPr id="45" name="Text 43"/>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6" name="Text 44"/>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$1.29M</a:t>
            </a:r>
            <a:endParaRPr lang="en-US" sz="1400" dirty="0"/>
          </a:p>
        </p:txBody>
      </p:sp>
      <p:sp>
        <p:nvSpPr>
          <p:cNvPr id="47" name="Text 45"/>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48" name="Text 46"/>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−$214K</a:t>
            </a:r>
            <a:endParaRPr lang="en-US" sz="1300" dirty="0"/>
          </a:p>
        </p:txBody>
      </p:sp>
      <p:sp>
        <p:nvSpPr>
          <p:cNvPr id="49" name="Text 47"/>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0" name="Text 48"/>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$1.26M</a:t>
            </a:r>
            <a:endParaRPr lang="en-US" sz="1400" dirty="0"/>
          </a:p>
        </p:txBody>
      </p:sp>
      <p:sp>
        <p:nvSpPr>
          <p:cNvPr id="51" name="Text 49"/>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52" name="Text 50"/>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−$146K</a:t>
            </a:r>
            <a:endParaRPr lang="en-US" sz="1300" dirty="0"/>
          </a:p>
        </p:txBody>
      </p:sp>
      <p:sp>
        <p:nvSpPr>
          <p:cNvPr id="53" name="Shape 51"/>
          <p:cNvSpPr/>
          <p:nvPr/>
        </p:nvSpPr>
        <p:spPr>
          <a:xfrm>
            <a:off x="4349496" y="5416906"/>
            <a:ext cx="3489960" cy="828446"/>
          </a:xfrm>
          <a:prstGeom prst="rect">
            <a:avLst/>
          </a:prstGeom>
          <a:solidFill>
            <a:srgbClr val="F7F7F7"/>
          </a:solidFill>
          <a:ln/>
        </p:spPr>
      </p:sp>
      <p:sp>
        <p:nvSpPr>
          <p:cNvPr id="54" name="Text 52"/>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5" name="Text 53"/>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$2.10M</a:t>
            </a:r>
            <a:endParaRPr lang="en-US" sz="1400" dirty="0"/>
          </a:p>
        </p:txBody>
      </p:sp>
      <p:sp>
        <p:nvSpPr>
          <p:cNvPr id="56" name="Text 54"/>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−7.4%</a:t>
            </a:r>
            <a:endParaRPr lang="en-US" sz="1600" dirty="0"/>
          </a:p>
        </p:txBody>
      </p:sp>
      <p:sp>
        <p:nvSpPr>
          <p:cNvPr id="57" name="Text 55"/>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−$167K</a:t>
            </a:r>
            <a:endParaRPr lang="en-US" sz="1300" dirty="0"/>
          </a:p>
        </p:txBody>
      </p:sp>
      <p:sp>
        <p:nvSpPr>
          <p:cNvPr id="58" name="Shape 56"/>
          <p:cNvSpPr/>
          <p:nvPr/>
        </p:nvSpPr>
        <p:spPr>
          <a:xfrm>
            <a:off x="8040624" y="1371600"/>
            <a:ext cx="3489960" cy="45720"/>
          </a:xfrm>
          <a:prstGeom prst="rect">
            <a:avLst/>
          </a:prstGeom>
          <a:solidFill>
            <a:srgbClr val="2587C5"/>
          </a:solidFill>
          <a:ln/>
        </p:spPr>
      </p:sp>
      <p:sp>
        <p:nvSpPr>
          <p:cNvPr id="5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0" name="Text 5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61" name="Shape 59"/>
          <p:cNvSpPr/>
          <p:nvPr/>
        </p:nvSpPr>
        <p:spPr>
          <a:xfrm>
            <a:off x="8040624" y="2103120"/>
            <a:ext cx="3489960" cy="828446"/>
          </a:xfrm>
          <a:prstGeom prst="rect">
            <a:avLst/>
          </a:prstGeom>
          <a:solidFill>
            <a:srgbClr val="F7F7F7"/>
          </a:solidFill>
          <a:ln/>
        </p:spPr>
      </p:sp>
      <p:sp>
        <p:nvSpPr>
          <p:cNvPr id="62" name="Text 60"/>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3" name="Text 61"/>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$486K</a:t>
            </a:r>
            <a:endParaRPr lang="en-US" sz="1400" dirty="0"/>
          </a:p>
        </p:txBody>
      </p:sp>
      <p:sp>
        <p:nvSpPr>
          <p:cNvPr id="64" name="Text 62"/>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+43.4%</a:t>
            </a:r>
            <a:endParaRPr lang="en-US" sz="1600" dirty="0"/>
          </a:p>
        </p:txBody>
      </p:sp>
      <p:sp>
        <p:nvSpPr>
          <p:cNvPr id="65" name="Text 63"/>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+$147K</a:t>
            </a:r>
            <a:endParaRPr lang="en-US" sz="1300" dirty="0"/>
          </a:p>
        </p:txBody>
      </p:sp>
      <p:sp>
        <p:nvSpPr>
          <p:cNvPr id="66" name="Text 64"/>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7" name="Text 65"/>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$150K</a:t>
            </a:r>
            <a:endParaRPr lang="en-US" sz="1400" dirty="0"/>
          </a:p>
        </p:txBody>
      </p:sp>
      <p:sp>
        <p:nvSpPr>
          <p:cNvPr id="68" name="Text 66"/>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+31.5%</a:t>
            </a:r>
            <a:endParaRPr lang="en-US" sz="1600" dirty="0"/>
          </a:p>
        </p:txBody>
      </p:sp>
      <p:sp>
        <p:nvSpPr>
          <p:cNvPr id="69" name="Text 67"/>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+$36K</a:t>
            </a:r>
            <a:endParaRPr lang="en-US" sz="1300" dirty="0"/>
          </a:p>
        </p:txBody>
      </p:sp>
      <p:sp>
        <p:nvSpPr>
          <p:cNvPr id="70" name="Shape 68"/>
          <p:cNvSpPr/>
          <p:nvPr/>
        </p:nvSpPr>
        <p:spPr>
          <a:xfrm>
            <a:off x="8040624" y="3760013"/>
            <a:ext cx="3489960" cy="828446"/>
          </a:xfrm>
          <a:prstGeom prst="rect">
            <a:avLst/>
          </a:prstGeom>
          <a:solidFill>
            <a:srgbClr val="F7F7F7"/>
          </a:solidFill>
          <a:ln/>
        </p:spPr>
      </p:sp>
      <p:sp>
        <p:nvSpPr>
          <p:cNvPr id="71" name="Text 69"/>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2" name="Text 70"/>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$68K</a:t>
            </a:r>
            <a:endParaRPr lang="en-US" sz="1400" dirty="0"/>
          </a:p>
        </p:txBody>
      </p:sp>
      <p:sp>
        <p:nvSpPr>
          <p:cNvPr id="73" name="Text 71"/>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74" name="Text 72"/>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+$16K</a:t>
            </a:r>
            <a:endParaRPr lang="en-US" sz="1300" dirty="0"/>
          </a:p>
        </p:txBody>
      </p:sp>
      <p:sp>
        <p:nvSpPr>
          <p:cNvPr id="75" name="Text 73"/>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6" name="Text 74"/>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$123K</a:t>
            </a:r>
            <a:endParaRPr lang="en-US" sz="1400" dirty="0"/>
          </a:p>
        </p:txBody>
      </p:sp>
      <p:sp>
        <p:nvSpPr>
          <p:cNvPr id="77" name="Text 75"/>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+30.1%</a:t>
            </a:r>
            <a:endParaRPr lang="en-US" sz="1600" dirty="0"/>
          </a:p>
        </p:txBody>
      </p:sp>
      <p:sp>
        <p:nvSpPr>
          <p:cNvPr id="78" name="Text 76"/>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+$28K</a:t>
            </a:r>
            <a:endParaRPr lang="en-US" sz="1300" dirty="0"/>
          </a:p>
        </p:txBody>
      </p:sp>
      <p:sp>
        <p:nvSpPr>
          <p:cNvPr id="79" name="Shape 77"/>
          <p:cNvSpPr/>
          <p:nvPr/>
        </p:nvSpPr>
        <p:spPr>
          <a:xfrm>
            <a:off x="8040624" y="5416906"/>
            <a:ext cx="3489960" cy="828446"/>
          </a:xfrm>
          <a:prstGeom prst="rect">
            <a:avLst/>
          </a:prstGeom>
          <a:solidFill>
            <a:srgbClr val="F7F7F7"/>
          </a:solidFill>
          <a:ln/>
        </p:spPr>
      </p:sp>
      <p:sp>
        <p:nvSpPr>
          <p:cNvPr id="80" name="Text 7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1" name="Text 7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$198K</a:t>
            </a:r>
            <a:endParaRPr lang="en-US" sz="1400" dirty="0"/>
          </a:p>
        </p:txBody>
      </p:sp>
      <p:sp>
        <p:nvSpPr>
          <p:cNvPr id="82" name="Text 80"/>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+27.6%</a:t>
            </a:r>
            <a:endParaRPr lang="en-US" sz="1600" dirty="0"/>
          </a:p>
        </p:txBody>
      </p:sp>
      <p:sp>
        <p:nvSpPr>
          <p:cNvPr id="83" name="Text 81"/>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+$43K</a:t>
            </a:r>
            <a:endParaRPr lang="en-US" sz="1300" dirty="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8,133</a:t>
            </a:r>
            <a:endParaRPr lang="en-US" sz="1400" dirty="0"/>
          </a:p>
        </p:txBody>
      </p:sp>
      <p:sp>
        <p:nvSpPr>
          <p:cNvPr id="12" name="Text 10"/>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+13.7%</a:t>
            </a:r>
            <a:endParaRPr lang="en-US" sz="1600" dirty="0"/>
          </a:p>
        </p:txBody>
      </p:sp>
      <p:sp>
        <p:nvSpPr>
          <p:cNvPr id="13" name="Text 11"/>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+977 ROs</a:t>
            </a:r>
            <a:endParaRPr lang="en-US" sz="13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1,784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2,010</a:t>
            </a:r>
            <a:endParaRPr lang="en-US" sz="1400" dirty="0"/>
          </a:p>
        </p:txBody>
      </p:sp>
      <p:sp>
        <p:nvSpPr>
          <p:cNvPr id="16" name="Text 14"/>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+12.7%</a:t>
            </a:r>
            <a:endParaRPr lang="en-US" sz="1600" dirty="0"/>
          </a:p>
        </p:txBody>
      </p:sp>
      <p:sp>
        <p:nvSpPr>
          <p:cNvPr id="17" name="Text 15"/>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+226 ROs</a:t>
            </a:r>
            <a:endParaRPr lang="en-US" sz="1300" dirty="0"/>
          </a:p>
        </p:txBody>
      </p:sp>
      <p:sp>
        <p:nvSpPr>
          <p:cNvPr id="18" name="Shape 16"/>
          <p:cNvSpPr/>
          <p:nvPr/>
        </p:nvSpPr>
        <p:spPr>
          <a:xfrm>
            <a:off x="658368" y="3760013"/>
            <a:ext cx="3489960" cy="828446"/>
          </a:xfrm>
          <a:prstGeom prst="rect">
            <a:avLst/>
          </a:prstGeom>
          <a:solidFill>
            <a:srgbClr val="F7F7F7"/>
          </a:solidFill>
          <a:ln/>
        </p:spPr>
      </p:sp>
      <p:sp>
        <p:nvSpPr>
          <p:cNvPr id="19" name="Text 17"/>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0" name="Text 18"/>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3,107</a:t>
            </a:r>
            <a:endParaRPr lang="en-US" sz="1400" dirty="0"/>
          </a:p>
        </p:txBody>
      </p:sp>
      <p:sp>
        <p:nvSpPr>
          <p:cNvPr id="21" name="Text 19"/>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22" name="Text 20"/>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+297 ROs</a:t>
            </a:r>
            <a:endParaRPr lang="en-US" sz="1300" dirty="0"/>
          </a:p>
        </p:txBody>
      </p:sp>
      <p:sp>
        <p:nvSpPr>
          <p:cNvPr id="23" name="Text 21"/>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22"/>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5,042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5,553</a:t>
            </a:r>
            <a:endParaRPr lang="en-US" sz="1400" dirty="0"/>
          </a:p>
        </p:txBody>
      </p:sp>
      <p:sp>
        <p:nvSpPr>
          <p:cNvPr id="25" name="Text 23"/>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+10.1%</a:t>
            </a:r>
            <a:endParaRPr lang="en-US" sz="1600" dirty="0"/>
          </a:p>
        </p:txBody>
      </p:sp>
      <p:sp>
        <p:nvSpPr>
          <p:cNvPr id="26" name="Text 24"/>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+511 ROs</a:t>
            </a:r>
            <a:endParaRPr lang="en-US" sz="1300" dirty="0"/>
          </a:p>
        </p:txBody>
      </p:sp>
      <p:sp>
        <p:nvSpPr>
          <p:cNvPr id="27" name="Shape 25"/>
          <p:cNvSpPr/>
          <p:nvPr/>
        </p:nvSpPr>
        <p:spPr>
          <a:xfrm>
            <a:off x="658368" y="5416906"/>
            <a:ext cx="3489960" cy="828446"/>
          </a:xfrm>
          <a:prstGeom prst="rect">
            <a:avLst/>
          </a:prstGeom>
          <a:solidFill>
            <a:srgbClr val="F7F7F7"/>
          </a:solidFill>
          <a:ln/>
        </p:spPr>
      </p:sp>
      <p:sp>
        <p:nvSpPr>
          <p:cNvPr id="28" name="Text 26"/>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9" name="Text 27"/>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1,303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1,421</a:t>
            </a:r>
            <a:endParaRPr lang="en-US" sz="1400" dirty="0"/>
          </a:p>
        </p:txBody>
      </p:sp>
      <p:sp>
        <p:nvSpPr>
          <p:cNvPr id="30" name="Text 28"/>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+9.1%</a:t>
            </a:r>
            <a:endParaRPr lang="en-US" sz="1600" dirty="0"/>
          </a:p>
        </p:txBody>
      </p:sp>
      <p:sp>
        <p:nvSpPr>
          <p:cNvPr id="31" name="Text 29"/>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+118 ROs</a:t>
            </a:r>
            <a:endParaRPr lang="en-US" sz="1300" dirty="0"/>
          </a:p>
        </p:txBody>
      </p:sp>
      <p:sp>
        <p:nvSpPr>
          <p:cNvPr id="32" name="Shape 30"/>
          <p:cNvSpPr/>
          <p:nvPr/>
        </p:nvSpPr>
        <p:spPr>
          <a:xfrm>
            <a:off x="4349496" y="1371600"/>
            <a:ext cx="3489960" cy="45720"/>
          </a:xfrm>
          <a:prstGeom prst="rect">
            <a:avLst/>
          </a:prstGeom>
          <a:solidFill>
            <a:srgbClr val="C2352F"/>
          </a:solidFill>
          <a:ln/>
        </p:spPr>
      </p:sp>
      <p:sp>
        <p:nvSpPr>
          <p:cNvPr id="33" name="Text 3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4" name="Text 32"/>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5" name="Shape 33"/>
          <p:cNvSpPr/>
          <p:nvPr/>
        </p:nvSpPr>
        <p:spPr>
          <a:xfrm>
            <a:off x="4349496" y="2103120"/>
            <a:ext cx="3489960" cy="828446"/>
          </a:xfrm>
          <a:prstGeom prst="rect">
            <a:avLst/>
          </a:prstGeom>
          <a:solidFill>
            <a:srgbClr val="F7F7F7"/>
          </a:solidFill>
          <a:ln/>
        </p:spPr>
      </p:sp>
      <p:sp>
        <p:nvSpPr>
          <p:cNvPr id="36" name="Text 34"/>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7" name="Text 35"/>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1,919</a:t>
            </a:r>
            <a:endParaRPr lang="en-US" sz="1400" dirty="0"/>
          </a:p>
        </p:txBody>
      </p:sp>
      <p:sp>
        <p:nvSpPr>
          <p:cNvPr id="38" name="Text 36"/>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−14.7%</a:t>
            </a:r>
            <a:endParaRPr lang="en-US" sz="1600" dirty="0"/>
          </a:p>
        </p:txBody>
      </p:sp>
      <p:sp>
        <p:nvSpPr>
          <p:cNvPr id="39" name="Text 37"/>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−332 ROs</a:t>
            </a:r>
            <a:endParaRPr lang="en-US" sz="1300" dirty="0"/>
          </a:p>
        </p:txBody>
      </p:sp>
      <p:sp>
        <p:nvSpPr>
          <p:cNvPr id="40" name="Text 38"/>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1" name="Text 39"/>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3,349</a:t>
            </a:r>
            <a:endParaRPr lang="en-US" sz="1400" dirty="0"/>
          </a:p>
        </p:txBody>
      </p:sp>
      <p:sp>
        <p:nvSpPr>
          <p:cNvPr id="42" name="Text 40"/>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−11.5%</a:t>
            </a:r>
            <a:endParaRPr lang="en-US" sz="1600" dirty="0"/>
          </a:p>
        </p:txBody>
      </p:sp>
      <p:sp>
        <p:nvSpPr>
          <p:cNvPr id="43" name="Text 41"/>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−435 ROs</a:t>
            </a:r>
            <a:endParaRPr lang="en-US" sz="1300" dirty="0"/>
          </a:p>
        </p:txBody>
      </p:sp>
      <p:sp>
        <p:nvSpPr>
          <p:cNvPr id="44" name="Shape 42"/>
          <p:cNvSpPr/>
          <p:nvPr/>
        </p:nvSpPr>
        <p:spPr>
          <a:xfrm>
            <a:off x="4349496" y="3760013"/>
            <a:ext cx="3489960" cy="828446"/>
          </a:xfrm>
          <a:prstGeom prst="rect">
            <a:avLst/>
          </a:prstGeom>
          <a:solidFill>
            <a:srgbClr val="F7F7F7"/>
          </a:solidFill>
          <a:ln/>
        </p:spPr>
      </p:sp>
      <p:sp>
        <p:nvSpPr>
          <p:cNvPr id="45" name="Text 43"/>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6" name="Text 44"/>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4,379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3,917</a:t>
            </a:r>
            <a:endParaRPr lang="en-US" sz="1400" dirty="0"/>
          </a:p>
        </p:txBody>
      </p:sp>
      <p:sp>
        <p:nvSpPr>
          <p:cNvPr id="47" name="Text 45"/>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−10.6%</a:t>
            </a:r>
            <a:endParaRPr lang="en-US" sz="1600" dirty="0"/>
          </a:p>
        </p:txBody>
      </p:sp>
      <p:sp>
        <p:nvSpPr>
          <p:cNvPr id="48" name="Text 46"/>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−462 ROs</a:t>
            </a:r>
            <a:endParaRPr lang="en-US" sz="1300" dirty="0"/>
          </a:p>
        </p:txBody>
      </p:sp>
      <p:sp>
        <p:nvSpPr>
          <p:cNvPr id="49" name="Text 47"/>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0" name="Text 48"/>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9,929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8,930</a:t>
            </a:r>
            <a:endParaRPr lang="en-US" sz="1400" dirty="0"/>
          </a:p>
        </p:txBody>
      </p:sp>
      <p:sp>
        <p:nvSpPr>
          <p:cNvPr id="51" name="Text 49"/>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−10.1%</a:t>
            </a:r>
            <a:endParaRPr lang="en-US" sz="1600" dirty="0"/>
          </a:p>
        </p:txBody>
      </p:sp>
      <p:sp>
        <p:nvSpPr>
          <p:cNvPr id="52" name="Text 50"/>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−999 ROs</a:t>
            </a:r>
            <a:endParaRPr lang="en-US" sz="1300" dirty="0"/>
          </a:p>
        </p:txBody>
      </p:sp>
      <p:sp>
        <p:nvSpPr>
          <p:cNvPr id="53" name="Shape 51"/>
          <p:cNvSpPr/>
          <p:nvPr/>
        </p:nvSpPr>
        <p:spPr>
          <a:xfrm>
            <a:off x="4349496" y="5416906"/>
            <a:ext cx="3489960" cy="828446"/>
          </a:xfrm>
          <a:prstGeom prst="rect">
            <a:avLst/>
          </a:prstGeom>
          <a:solidFill>
            <a:srgbClr val="F7F7F7"/>
          </a:solidFill>
          <a:ln/>
        </p:spPr>
      </p:sp>
      <p:sp>
        <p:nvSpPr>
          <p:cNvPr id="54" name="Text 52"/>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5" name="Text 53"/>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3,910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3,671</a:t>
            </a:r>
            <a:endParaRPr lang="en-US" sz="1400" dirty="0"/>
          </a:p>
        </p:txBody>
      </p:sp>
      <p:sp>
        <p:nvSpPr>
          <p:cNvPr id="56" name="Text 54"/>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−6.1%</a:t>
            </a:r>
            <a:endParaRPr lang="en-US" sz="1600" dirty="0"/>
          </a:p>
        </p:txBody>
      </p:sp>
      <p:sp>
        <p:nvSpPr>
          <p:cNvPr id="57" name="Text 55"/>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−239 ROs</a:t>
            </a:r>
            <a:endParaRPr lang="en-US" sz="1300" dirty="0"/>
          </a:p>
        </p:txBody>
      </p:sp>
      <p:sp>
        <p:nvSpPr>
          <p:cNvPr id="58" name="Shape 56"/>
          <p:cNvSpPr/>
          <p:nvPr/>
        </p:nvSpPr>
        <p:spPr>
          <a:xfrm>
            <a:off x="8040624" y="1371600"/>
            <a:ext cx="3489960" cy="45720"/>
          </a:xfrm>
          <a:prstGeom prst="rect">
            <a:avLst/>
          </a:prstGeom>
          <a:solidFill>
            <a:srgbClr val="2587C5"/>
          </a:solidFill>
          <a:ln/>
        </p:spPr>
      </p:sp>
      <p:sp>
        <p:nvSpPr>
          <p:cNvPr id="59" name="Text 5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0" name="Text 5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61" name="Shape 59"/>
          <p:cNvSpPr/>
          <p:nvPr/>
        </p:nvSpPr>
        <p:spPr>
          <a:xfrm>
            <a:off x="8040624" y="2103120"/>
            <a:ext cx="3489960" cy="828446"/>
          </a:xfrm>
          <a:prstGeom prst="rect">
            <a:avLst/>
          </a:prstGeom>
          <a:solidFill>
            <a:srgbClr val="F7F7F7"/>
          </a:solidFill>
          <a:ln/>
        </p:spPr>
      </p:sp>
      <p:sp>
        <p:nvSpPr>
          <p:cNvPr id="62" name="Text 60"/>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3" name="Text 61"/>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570</a:t>
            </a:r>
            <a:endParaRPr lang="en-US" sz="1400" dirty="0"/>
          </a:p>
        </p:txBody>
      </p:sp>
      <p:sp>
        <p:nvSpPr>
          <p:cNvPr id="64" name="Text 62"/>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+34.0%</a:t>
            </a:r>
            <a:endParaRPr lang="en-US" sz="1600" dirty="0"/>
          </a:p>
        </p:txBody>
      </p:sp>
      <p:sp>
        <p:nvSpPr>
          <p:cNvPr id="65" name="Text 63"/>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+145 ROs</a:t>
            </a:r>
            <a:endParaRPr lang="en-US" sz="1300" dirty="0"/>
          </a:p>
        </p:txBody>
      </p:sp>
      <p:sp>
        <p:nvSpPr>
          <p:cNvPr id="66" name="Text 64"/>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7" name="Text 65"/>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543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667</a:t>
            </a:r>
            <a:endParaRPr lang="en-US" sz="1400" dirty="0"/>
          </a:p>
        </p:txBody>
      </p:sp>
      <p:sp>
        <p:nvSpPr>
          <p:cNvPr id="68" name="Text 66"/>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+22.8%</a:t>
            </a:r>
            <a:endParaRPr lang="en-US" sz="1600" dirty="0"/>
          </a:p>
        </p:txBody>
      </p:sp>
      <p:sp>
        <p:nvSpPr>
          <p:cNvPr id="69" name="Text 67"/>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+124 ROs</a:t>
            </a:r>
            <a:endParaRPr lang="en-US" sz="1300" dirty="0"/>
          </a:p>
        </p:txBody>
      </p:sp>
      <p:sp>
        <p:nvSpPr>
          <p:cNvPr id="70" name="Shape 68"/>
          <p:cNvSpPr/>
          <p:nvPr/>
        </p:nvSpPr>
        <p:spPr>
          <a:xfrm>
            <a:off x="8040624" y="3760013"/>
            <a:ext cx="3489960" cy="828446"/>
          </a:xfrm>
          <a:prstGeom prst="rect">
            <a:avLst/>
          </a:prstGeom>
          <a:solidFill>
            <a:srgbClr val="F7F7F7"/>
          </a:solidFill>
          <a:ln/>
        </p:spPr>
      </p:sp>
      <p:sp>
        <p:nvSpPr>
          <p:cNvPr id="71" name="Text 69"/>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2" name="Text 70"/>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415</a:t>
            </a:r>
            <a:endParaRPr lang="en-US" sz="1400" dirty="0"/>
          </a:p>
        </p:txBody>
      </p:sp>
      <p:sp>
        <p:nvSpPr>
          <p:cNvPr id="73" name="Text 71"/>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+18.7%</a:t>
            </a:r>
            <a:endParaRPr lang="en-US" sz="1600" dirty="0"/>
          </a:p>
        </p:txBody>
      </p:sp>
      <p:sp>
        <p:nvSpPr>
          <p:cNvPr id="74" name="Text 72"/>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+65 ROs</a:t>
            </a:r>
            <a:endParaRPr lang="en-US" sz="1300" dirty="0"/>
          </a:p>
        </p:txBody>
      </p:sp>
      <p:sp>
        <p:nvSpPr>
          <p:cNvPr id="75" name="Text 73"/>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6" name="Text 74"/>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669</a:t>
            </a:r>
            <a:endParaRPr lang="en-US" sz="1400" dirty="0"/>
          </a:p>
        </p:txBody>
      </p:sp>
      <p:sp>
        <p:nvSpPr>
          <p:cNvPr id="77" name="Text 75"/>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78" name="Text 76"/>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+91 ROs</a:t>
            </a:r>
            <a:endParaRPr lang="en-US" sz="1300" dirty="0"/>
          </a:p>
        </p:txBody>
      </p:sp>
      <p:sp>
        <p:nvSpPr>
          <p:cNvPr id="79" name="Shape 77"/>
          <p:cNvSpPr/>
          <p:nvPr/>
        </p:nvSpPr>
        <p:spPr>
          <a:xfrm>
            <a:off x="8040624" y="5416906"/>
            <a:ext cx="3489960" cy="828446"/>
          </a:xfrm>
          <a:prstGeom prst="rect">
            <a:avLst/>
          </a:prstGeom>
          <a:solidFill>
            <a:srgbClr val="F7F7F7"/>
          </a:solidFill>
          <a:ln/>
        </p:spPr>
      </p:sp>
      <p:sp>
        <p:nvSpPr>
          <p:cNvPr id="80" name="Text 7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1" name="Text 7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459</a:t>
            </a:r>
            <a:endParaRPr lang="en-US" sz="1400" dirty="0"/>
          </a:p>
        </p:txBody>
      </p:sp>
      <p:sp>
        <p:nvSpPr>
          <p:cNvPr id="82" name="Text 80"/>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+15.5%</a:t>
            </a:r>
            <a:endParaRPr lang="en-US" sz="1600" dirty="0"/>
          </a:p>
        </p:txBody>
      </p:sp>
      <p:sp>
        <p:nvSpPr>
          <p:cNvPr id="83" name="Text 81"/>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+62 ROs</a:t>
            </a:r>
            <a:endParaRPr lang="en-US" sz="1300" dirty="0"/>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Gross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$4.10M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$6.13M</a:t>
            </a:r>
            <a:endParaRPr lang="en-US" sz="1400" dirty="0"/>
          </a:p>
        </p:txBody>
      </p:sp>
      <p:sp>
        <p:nvSpPr>
          <p:cNvPr id="12" name="Text 10"/>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+49.5%</a:t>
            </a:r>
            <a:endParaRPr lang="en-US" sz="1600" dirty="0"/>
          </a:p>
        </p:txBody>
      </p:sp>
      <p:sp>
        <p:nvSpPr>
          <p:cNvPr id="13" name="Text 11"/>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+$2.03M</a:t>
            </a:r>
            <a:endParaRPr lang="en-US" sz="13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Lexus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$510K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$704K</a:t>
            </a:r>
            <a:endParaRPr lang="en-US" sz="1400" dirty="0"/>
          </a:p>
        </p:txBody>
      </p:sp>
      <p:sp>
        <p:nvSpPr>
          <p:cNvPr id="16" name="Text 14"/>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17" name="Text 15"/>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+$194K</a:t>
            </a:r>
            <a:endParaRPr lang="en-US" sz="1300" dirty="0"/>
          </a:p>
        </p:txBody>
      </p:sp>
      <p:sp>
        <p:nvSpPr>
          <p:cNvPr id="18" name="Shape 16"/>
          <p:cNvSpPr/>
          <p:nvPr/>
        </p:nvSpPr>
        <p:spPr>
          <a:xfrm>
            <a:off x="658368" y="3760013"/>
            <a:ext cx="3489960" cy="828446"/>
          </a:xfrm>
          <a:prstGeom prst="rect">
            <a:avLst/>
          </a:prstGeom>
          <a:solidFill>
            <a:srgbClr val="F7F7F7"/>
          </a:solidFill>
          <a:ln/>
        </p:spPr>
      </p:sp>
      <p:sp>
        <p:nvSpPr>
          <p:cNvPr id="19" name="Text 17"/>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0" name="Text 18"/>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$3.24M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$4.23M</a:t>
            </a:r>
            <a:endParaRPr lang="en-US" sz="1400" dirty="0"/>
          </a:p>
        </p:txBody>
      </p:sp>
      <p:sp>
        <p:nvSpPr>
          <p:cNvPr id="21" name="Text 19"/>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+30.4%</a:t>
            </a:r>
            <a:endParaRPr lang="en-US" sz="1600" dirty="0"/>
          </a:p>
        </p:txBody>
      </p:sp>
      <p:sp>
        <p:nvSpPr>
          <p:cNvPr id="22" name="Text 20"/>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+$985K</a:t>
            </a:r>
            <a:endParaRPr lang="en-US" sz="1300" dirty="0"/>
          </a:p>
        </p:txBody>
      </p:sp>
      <p:sp>
        <p:nvSpPr>
          <p:cNvPr id="23" name="Text 21"/>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22"/>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$443K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$572K</a:t>
            </a:r>
            <a:endParaRPr lang="en-US" sz="1400" dirty="0"/>
          </a:p>
        </p:txBody>
      </p:sp>
      <p:sp>
        <p:nvSpPr>
          <p:cNvPr id="25" name="Text 23"/>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+29.0%</a:t>
            </a:r>
            <a:endParaRPr lang="en-US" sz="1600" dirty="0"/>
          </a:p>
        </p:txBody>
      </p:sp>
      <p:sp>
        <p:nvSpPr>
          <p:cNvPr id="26" name="Text 24"/>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+$129K</a:t>
            </a:r>
            <a:endParaRPr lang="en-US" sz="1300" dirty="0"/>
          </a:p>
        </p:txBody>
      </p:sp>
      <p:sp>
        <p:nvSpPr>
          <p:cNvPr id="27" name="Shape 25"/>
          <p:cNvSpPr/>
          <p:nvPr/>
        </p:nvSpPr>
        <p:spPr>
          <a:xfrm>
            <a:off x="658368" y="5416906"/>
            <a:ext cx="3489960" cy="828446"/>
          </a:xfrm>
          <a:prstGeom prst="rect">
            <a:avLst/>
          </a:prstGeom>
          <a:solidFill>
            <a:srgbClr val="F7F7F7"/>
          </a:solidFill>
          <a:ln/>
        </p:spPr>
      </p:sp>
      <p:sp>
        <p:nvSpPr>
          <p:cNvPr id="28" name="Text 26"/>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9" name="Text 27"/>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$668K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$837K</a:t>
            </a:r>
            <a:endParaRPr lang="en-US" sz="1400" dirty="0"/>
          </a:p>
        </p:txBody>
      </p:sp>
      <p:sp>
        <p:nvSpPr>
          <p:cNvPr id="30" name="Text 28"/>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+25.4%</a:t>
            </a:r>
            <a:endParaRPr lang="en-US" sz="1600" dirty="0"/>
          </a:p>
        </p:txBody>
      </p:sp>
      <p:sp>
        <p:nvSpPr>
          <p:cNvPr id="31" name="Text 29"/>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+$170K</a:t>
            </a:r>
            <a:endParaRPr lang="en-US" sz="1300" dirty="0"/>
          </a:p>
        </p:txBody>
      </p:sp>
      <p:sp>
        <p:nvSpPr>
          <p:cNvPr id="32" name="Shape 30"/>
          <p:cNvSpPr/>
          <p:nvPr/>
        </p:nvSpPr>
        <p:spPr>
          <a:xfrm>
            <a:off x="4349496" y="1371600"/>
            <a:ext cx="3489960" cy="45720"/>
          </a:xfrm>
          <a:prstGeom prst="rect">
            <a:avLst/>
          </a:prstGeom>
          <a:solidFill>
            <a:srgbClr val="C2352F"/>
          </a:solidFill>
          <a:ln/>
        </p:spPr>
      </p:sp>
      <p:sp>
        <p:nvSpPr>
          <p:cNvPr id="33" name="Text 3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4" name="Text 32"/>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5" name="Shape 33"/>
          <p:cNvSpPr/>
          <p:nvPr/>
        </p:nvSpPr>
        <p:spPr>
          <a:xfrm>
            <a:off x="4349496" y="2103120"/>
            <a:ext cx="3489960" cy="828446"/>
          </a:xfrm>
          <a:prstGeom prst="rect">
            <a:avLst/>
          </a:prstGeom>
          <a:solidFill>
            <a:srgbClr val="F7F7F7"/>
          </a:solidFill>
          <a:ln/>
        </p:spPr>
      </p:sp>
      <p:sp>
        <p:nvSpPr>
          <p:cNvPr id="36" name="Text 34"/>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7" name="Text 35"/>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$983K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$573K</a:t>
            </a:r>
            <a:endParaRPr lang="en-US" sz="1400" dirty="0"/>
          </a:p>
        </p:txBody>
      </p:sp>
      <p:sp>
        <p:nvSpPr>
          <p:cNvPr id="38" name="Text 36"/>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−41.7%</a:t>
            </a:r>
            <a:endParaRPr lang="en-US" sz="1600" dirty="0"/>
          </a:p>
        </p:txBody>
      </p:sp>
      <p:sp>
        <p:nvSpPr>
          <p:cNvPr id="39" name="Text 37"/>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−$410K</a:t>
            </a:r>
            <a:endParaRPr lang="en-US" sz="1300" dirty="0"/>
          </a:p>
        </p:txBody>
      </p:sp>
      <p:sp>
        <p:nvSpPr>
          <p:cNvPr id="40" name="Text 38"/>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1" name="Text 39"/>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$218K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$135K</a:t>
            </a:r>
            <a:endParaRPr lang="en-US" sz="1400" dirty="0"/>
          </a:p>
        </p:txBody>
      </p:sp>
      <p:sp>
        <p:nvSpPr>
          <p:cNvPr id="42" name="Text 40"/>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−38.1%</a:t>
            </a:r>
            <a:endParaRPr lang="en-US" sz="1600" dirty="0"/>
          </a:p>
        </p:txBody>
      </p:sp>
      <p:sp>
        <p:nvSpPr>
          <p:cNvPr id="43" name="Text 41"/>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−$83K</a:t>
            </a:r>
            <a:endParaRPr lang="en-US" sz="1300" dirty="0"/>
          </a:p>
        </p:txBody>
      </p:sp>
      <p:sp>
        <p:nvSpPr>
          <p:cNvPr id="44" name="Shape 42"/>
          <p:cNvSpPr/>
          <p:nvPr/>
        </p:nvSpPr>
        <p:spPr>
          <a:xfrm>
            <a:off x="4349496" y="3760013"/>
            <a:ext cx="3489960" cy="828446"/>
          </a:xfrm>
          <a:prstGeom prst="rect">
            <a:avLst/>
          </a:prstGeom>
          <a:solidFill>
            <a:srgbClr val="F7F7F7"/>
          </a:solidFill>
          <a:ln/>
        </p:spPr>
      </p:sp>
      <p:sp>
        <p:nvSpPr>
          <p:cNvPr id="45" name="Text 43"/>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6" name="Text 44"/>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$1.52M</a:t>
            </a:r>
            <a:endParaRPr lang="en-US" sz="1400" dirty="0"/>
          </a:p>
        </p:txBody>
      </p:sp>
      <p:sp>
        <p:nvSpPr>
          <p:cNvPr id="47" name="Text 45"/>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−35.0%</a:t>
            </a:r>
            <a:endParaRPr lang="en-US" sz="1600" dirty="0"/>
          </a:p>
        </p:txBody>
      </p:sp>
      <p:sp>
        <p:nvSpPr>
          <p:cNvPr id="48" name="Text 46"/>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−$822K</a:t>
            </a:r>
            <a:endParaRPr lang="en-US" sz="1300" dirty="0"/>
          </a:p>
        </p:txBody>
      </p:sp>
      <p:sp>
        <p:nvSpPr>
          <p:cNvPr id="49" name="Shape 47"/>
          <p:cNvSpPr/>
          <p:nvPr/>
        </p:nvSpPr>
        <p:spPr>
          <a:xfrm>
            <a:off x="7775448" y="4625035"/>
            <a:ext cx="64008" cy="755294"/>
          </a:xfrm>
          <a:prstGeom prst="rect">
            <a:avLst/>
          </a:prstGeom>
          <a:solidFill>
            <a:srgbClr val="2587C5"/>
          </a:solidFill>
          <a:ln/>
        </p:spPr>
      </p:sp>
      <p:sp>
        <p:nvSpPr>
          <p:cNvPr id="50" name="Text 48"/>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1" name="Text 49"/>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$1.68M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$1.10M</a:t>
            </a:r>
            <a:endParaRPr lang="en-US" sz="1400" dirty="0"/>
          </a:p>
        </p:txBody>
      </p:sp>
      <p:sp>
        <p:nvSpPr>
          <p:cNvPr id="52" name="Text 50"/>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−34.8%</a:t>
            </a:r>
            <a:endParaRPr lang="en-US" sz="1600" dirty="0"/>
          </a:p>
        </p:txBody>
      </p:sp>
      <p:sp>
        <p:nvSpPr>
          <p:cNvPr id="53" name="Text 51"/>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−$586K</a:t>
            </a:r>
            <a:endParaRPr lang="en-US" sz="1300" dirty="0"/>
          </a:p>
        </p:txBody>
      </p:sp>
      <p:sp>
        <p:nvSpPr>
          <p:cNvPr id="54" name="Shape 52"/>
          <p:cNvSpPr/>
          <p:nvPr/>
        </p:nvSpPr>
        <p:spPr>
          <a:xfrm>
            <a:off x="4349496" y="5416906"/>
            <a:ext cx="3489960" cy="828446"/>
          </a:xfrm>
          <a:prstGeom prst="rect">
            <a:avLst/>
          </a:prstGeom>
          <a:solidFill>
            <a:srgbClr val="F7F7F7"/>
          </a:solidFill>
          <a:ln/>
        </p:spPr>
      </p:sp>
      <p:sp>
        <p:nvSpPr>
          <p:cNvPr id="55" name="Text 53"/>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6" name="Text 54"/>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$403K</a:t>
            </a:r>
            <a:endParaRPr lang="en-US" sz="1400" dirty="0"/>
          </a:p>
        </p:txBody>
      </p:sp>
      <p:sp>
        <p:nvSpPr>
          <p:cNvPr id="57" name="Text 55"/>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−28.9%</a:t>
            </a:r>
            <a:endParaRPr lang="en-US" sz="1600" dirty="0"/>
          </a:p>
        </p:txBody>
      </p:sp>
      <p:sp>
        <p:nvSpPr>
          <p:cNvPr id="58" name="Text 56"/>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−$164K</a:t>
            </a:r>
            <a:endParaRPr lang="en-US" sz="1300" dirty="0"/>
          </a:p>
        </p:txBody>
      </p:sp>
      <p:sp>
        <p:nvSpPr>
          <p:cNvPr id="59" name="Shape 57"/>
          <p:cNvSpPr/>
          <p:nvPr/>
        </p:nvSpPr>
        <p:spPr>
          <a:xfrm>
            <a:off x="8040624" y="1371600"/>
            <a:ext cx="3489960" cy="45720"/>
          </a:xfrm>
          <a:prstGeom prst="rect">
            <a:avLst/>
          </a:prstGeom>
          <a:solidFill>
            <a:srgbClr val="2587C5"/>
          </a:solidFill>
          <a:ln/>
        </p:spPr>
      </p:sp>
      <p:sp>
        <p:nvSpPr>
          <p:cNvPr id="60" name="Text 5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1" name="Text 5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62" name="Shape 60"/>
          <p:cNvSpPr/>
          <p:nvPr/>
        </p:nvSpPr>
        <p:spPr>
          <a:xfrm>
            <a:off x="8040624" y="2103120"/>
            <a:ext cx="3489960" cy="828446"/>
          </a:xfrm>
          <a:prstGeom prst="rect">
            <a:avLst/>
          </a:prstGeom>
          <a:solidFill>
            <a:srgbClr val="F7F7F7"/>
          </a:solidFill>
          <a:ln/>
        </p:spPr>
      </p:sp>
      <p:sp>
        <p:nvSpPr>
          <p:cNvPr id="63" name="Shape 61"/>
          <p:cNvSpPr/>
          <p:nvPr/>
        </p:nvSpPr>
        <p:spPr>
          <a:xfrm>
            <a:off x="11466576" y="2139696"/>
            <a:ext cx="64008" cy="755294"/>
          </a:xfrm>
          <a:prstGeom prst="rect">
            <a:avLst/>
          </a:prstGeom>
          <a:solidFill>
            <a:srgbClr val="2587C5"/>
          </a:solidFill>
          <a:ln/>
        </p:spPr>
      </p:sp>
      <p:sp>
        <p:nvSpPr>
          <p:cNvPr id="64" name="Text 6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5" name="Text 6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$156K</a:t>
            </a:r>
            <a:endParaRPr lang="en-US" sz="1400" dirty="0"/>
          </a:p>
        </p:txBody>
      </p:sp>
      <p:sp>
        <p:nvSpPr>
          <p:cNvPr id="66" name="Text 64"/>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+57.0%</a:t>
            </a:r>
            <a:endParaRPr lang="en-US" sz="1600" dirty="0"/>
          </a:p>
        </p:txBody>
      </p:sp>
      <p:sp>
        <p:nvSpPr>
          <p:cNvPr id="67" name="Text 65"/>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+$57K</a:t>
            </a:r>
            <a:endParaRPr lang="en-US" sz="1300" dirty="0"/>
          </a:p>
        </p:txBody>
      </p:sp>
      <p:sp>
        <p:nvSpPr>
          <p:cNvPr id="68" name="Text 6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6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$163K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$244K</a:t>
            </a:r>
            <a:endParaRPr lang="en-US" sz="1400" dirty="0"/>
          </a:p>
        </p:txBody>
      </p:sp>
      <p:sp>
        <p:nvSpPr>
          <p:cNvPr id="70" name="Text 68"/>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+49.6%</a:t>
            </a:r>
            <a:endParaRPr lang="en-US" sz="1600" dirty="0"/>
          </a:p>
        </p:txBody>
      </p:sp>
      <p:sp>
        <p:nvSpPr>
          <p:cNvPr id="71" name="Text 69"/>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+$81K</a:t>
            </a:r>
            <a:endParaRPr lang="en-US" sz="1300" dirty="0"/>
          </a:p>
        </p:txBody>
      </p:sp>
      <p:sp>
        <p:nvSpPr>
          <p:cNvPr id="72" name="Shape 70"/>
          <p:cNvSpPr/>
          <p:nvPr/>
        </p:nvSpPr>
        <p:spPr>
          <a:xfrm>
            <a:off x="8040624" y="3760013"/>
            <a:ext cx="3489960" cy="828446"/>
          </a:xfrm>
          <a:prstGeom prst="rect">
            <a:avLst/>
          </a:prstGeom>
          <a:solidFill>
            <a:srgbClr val="F7F7F7"/>
          </a:solidFill>
          <a:ln/>
        </p:spPr>
      </p:sp>
      <p:sp>
        <p:nvSpPr>
          <p:cNvPr id="73" name="Text 7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4" name="Text 7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$135K</a:t>
            </a:r>
            <a:endParaRPr lang="en-US" sz="1400" dirty="0"/>
          </a:p>
        </p:txBody>
      </p:sp>
      <p:sp>
        <p:nvSpPr>
          <p:cNvPr id="75" name="Text 73"/>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+41.6%</a:t>
            </a:r>
            <a:endParaRPr lang="en-US" sz="1600" dirty="0"/>
          </a:p>
        </p:txBody>
      </p:sp>
      <p:sp>
        <p:nvSpPr>
          <p:cNvPr id="76" name="Text 74"/>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+$40K</a:t>
            </a:r>
            <a:endParaRPr lang="en-US" sz="1300" dirty="0"/>
          </a:p>
        </p:txBody>
      </p:sp>
      <p:sp>
        <p:nvSpPr>
          <p:cNvPr id="77" name="Text 75"/>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8" name="Text 76"/>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$139K</a:t>
            </a:r>
            <a:endParaRPr lang="en-US" sz="1400" dirty="0"/>
          </a:p>
        </p:txBody>
      </p:sp>
      <p:sp>
        <p:nvSpPr>
          <p:cNvPr id="79" name="Text 77"/>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+38.2%</a:t>
            </a:r>
            <a:endParaRPr lang="en-US" sz="1600" dirty="0"/>
          </a:p>
        </p:txBody>
      </p:sp>
      <p:sp>
        <p:nvSpPr>
          <p:cNvPr id="80" name="Text 78"/>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+$38K</a:t>
            </a:r>
            <a:endParaRPr lang="en-US" sz="1300" dirty="0"/>
          </a:p>
        </p:txBody>
      </p:sp>
      <p:sp>
        <p:nvSpPr>
          <p:cNvPr id="81" name="Shape 79"/>
          <p:cNvSpPr/>
          <p:nvPr/>
        </p:nvSpPr>
        <p:spPr>
          <a:xfrm>
            <a:off x="8040624" y="5416906"/>
            <a:ext cx="3489960" cy="828446"/>
          </a:xfrm>
          <a:prstGeom prst="rect">
            <a:avLst/>
          </a:prstGeom>
          <a:solidFill>
            <a:srgbClr val="F7F7F7"/>
          </a:solidFill>
          <a:ln/>
        </p:spPr>
      </p:sp>
      <p:sp>
        <p:nvSpPr>
          <p:cNvPr id="82" name="Text 8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3" name="Text 8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$125K</a:t>
            </a:r>
            <a:endParaRPr lang="en-US" sz="1400" dirty="0"/>
          </a:p>
        </p:txBody>
      </p:sp>
      <p:sp>
        <p:nvSpPr>
          <p:cNvPr id="84" name="Text 82"/>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
        <p:nvSpPr>
          <p:cNvPr id="85" name="Text 83"/>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+$31K</a:t>
            </a:r>
            <a:endParaRPr lang="en-US" sz="1300" dirty="0"/>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Biggest Movers vs Last Year: Customer Pay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80160"/>
            <a:ext cx="10762488" cy="2560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and bottom three stores on each measure, Jan–Sep 2026 vs Jan–Sep 2025</a:t>
            </a:r>
            <a:endParaRPr lang="en-US" sz="1400" dirty="0"/>
          </a:p>
        </p:txBody>
      </p:sp>
      <p:sp>
        <p:nvSpPr>
          <p:cNvPr id="7" name="Shape 5"/>
          <p:cNvSpPr/>
          <p:nvPr/>
        </p:nvSpPr>
        <p:spPr>
          <a:xfrm>
            <a:off x="621792" y="2331720"/>
            <a:ext cx="45720" cy="1591056"/>
          </a:xfrm>
          <a:prstGeom prst="rect">
            <a:avLst/>
          </a:prstGeom>
          <a:solidFill>
            <a:srgbClr val="12A566"/>
          </a:solidFill>
          <a:ln/>
        </p:spPr>
      </p:sp>
      <p:sp>
        <p:nvSpPr>
          <p:cNvPr id="8" name="Shape 6"/>
          <p:cNvSpPr/>
          <p:nvPr/>
        </p:nvSpPr>
        <p:spPr>
          <a:xfrm>
            <a:off x="685800" y="2331720"/>
            <a:ext cx="10881360" cy="530352"/>
          </a:xfrm>
          <a:prstGeom prst="rect">
            <a:avLst/>
          </a:prstGeom>
          <a:solidFill>
            <a:srgbClr val="F7F7F7"/>
          </a:solidFill>
          <a:ln/>
        </p:spPr>
      </p:sp>
      <p:sp>
        <p:nvSpPr>
          <p:cNvPr id="9" name="Text 7"/>
          <p:cNvSpPr txBox="1"/>
          <p:nvPr/>
        </p:nvSpPr>
        <p:spPr>
          <a:xfrm>
            <a:off x="676656" y="2331720"/>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1</a:t>
            </a:r>
            <a:endParaRPr lang="en-US" sz="1600" dirty="0"/>
          </a:p>
        </p:txBody>
      </p:sp>
      <p:sp>
        <p:nvSpPr>
          <p:cNvPr id="10" name="Text 8"/>
          <p:cNvSpPr txBox="1"/>
          <p:nvPr/>
        </p:nvSpPr>
        <p:spPr>
          <a:xfrm>
            <a:off x="676656" y="2862072"/>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11" name="Shape 9"/>
          <p:cNvSpPr/>
          <p:nvPr/>
        </p:nvSpPr>
        <p:spPr>
          <a:xfrm>
            <a:off x="685800" y="3392424"/>
            <a:ext cx="10881360" cy="530352"/>
          </a:xfrm>
          <a:prstGeom prst="rect">
            <a:avLst/>
          </a:prstGeom>
          <a:solidFill>
            <a:srgbClr val="F7F7F7"/>
          </a:solidFill>
          <a:ln/>
        </p:spPr>
      </p:sp>
      <p:sp>
        <p:nvSpPr>
          <p:cNvPr id="12" name="Text 10"/>
          <p:cNvSpPr txBox="1"/>
          <p:nvPr/>
        </p:nvSpPr>
        <p:spPr>
          <a:xfrm>
            <a:off x="676656" y="3392424"/>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13" name="Shape 11"/>
          <p:cNvSpPr/>
          <p:nvPr/>
        </p:nvSpPr>
        <p:spPr>
          <a:xfrm>
            <a:off x="621792" y="4078224"/>
            <a:ext cx="45720" cy="1591056"/>
          </a:xfrm>
          <a:prstGeom prst="rect">
            <a:avLst/>
          </a:prstGeom>
          <a:solidFill>
            <a:srgbClr val="C2352F"/>
          </a:solidFill>
          <a:ln/>
        </p:spPr>
      </p:sp>
      <p:sp>
        <p:nvSpPr>
          <p:cNvPr id="14" name="Shape 12"/>
          <p:cNvSpPr/>
          <p:nvPr/>
        </p:nvSpPr>
        <p:spPr>
          <a:xfrm>
            <a:off x="685800" y="4078224"/>
            <a:ext cx="10881360" cy="530352"/>
          </a:xfrm>
          <a:prstGeom prst="rect">
            <a:avLst/>
          </a:prstGeom>
          <a:solidFill>
            <a:srgbClr val="F7F7F7"/>
          </a:solidFill>
          <a:ln/>
        </p:spPr>
      </p:sp>
      <p:sp>
        <p:nvSpPr>
          <p:cNvPr id="15" name="Text 13"/>
          <p:cNvSpPr txBox="1"/>
          <p:nvPr/>
        </p:nvSpPr>
        <p:spPr>
          <a:xfrm>
            <a:off x="676656" y="4078224"/>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16" name="Text 14"/>
          <p:cNvSpPr txBox="1"/>
          <p:nvPr/>
        </p:nvSpPr>
        <p:spPr>
          <a:xfrm>
            <a:off x="676656" y="4608576"/>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32</a:t>
            </a:r>
            <a:endParaRPr lang="en-US" sz="1600" dirty="0"/>
          </a:p>
        </p:txBody>
      </p:sp>
      <p:sp>
        <p:nvSpPr>
          <p:cNvPr id="17" name="Shape 15"/>
          <p:cNvSpPr/>
          <p:nvPr/>
        </p:nvSpPr>
        <p:spPr>
          <a:xfrm>
            <a:off x="685800" y="5138928"/>
            <a:ext cx="10881360" cy="530352"/>
          </a:xfrm>
          <a:prstGeom prst="rect">
            <a:avLst/>
          </a:prstGeom>
          <a:solidFill>
            <a:srgbClr val="F7F7F7"/>
          </a:solidFill>
          <a:ln/>
        </p:spPr>
      </p:sp>
      <p:sp>
        <p:nvSpPr>
          <p:cNvPr id="18" name="Text 16"/>
          <p:cNvSpPr txBox="1"/>
          <p:nvPr/>
        </p:nvSpPr>
        <p:spPr>
          <a:xfrm>
            <a:off x="676656" y="5138928"/>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33</a:t>
            </a:r>
            <a:endParaRPr lang="en-US" sz="1600" dirty="0"/>
          </a:p>
        </p:txBody>
      </p:sp>
      <p:sp>
        <p:nvSpPr>
          <p:cNvPr id="19" name="Shape 17"/>
          <p:cNvSpPr/>
          <p:nvPr/>
        </p:nvSpPr>
        <p:spPr>
          <a:xfrm>
            <a:off x="3044952" y="1691640"/>
            <a:ext cx="10973" cy="3977640"/>
          </a:xfrm>
          <a:prstGeom prst="rect">
            <a:avLst/>
          </a:prstGeom>
          <a:solidFill>
            <a:srgbClr val="D9D9D9"/>
          </a:solidFill>
          <a:ln/>
        </p:spPr>
      </p:sp>
      <p:sp>
        <p:nvSpPr>
          <p:cNvPr id="20" name="Shape 18"/>
          <p:cNvSpPr/>
          <p:nvPr/>
        </p:nvSpPr>
        <p:spPr>
          <a:xfrm>
            <a:off x="5180990" y="1691640"/>
            <a:ext cx="10973" cy="3977640"/>
          </a:xfrm>
          <a:prstGeom prst="rect">
            <a:avLst/>
          </a:prstGeom>
          <a:solidFill>
            <a:srgbClr val="D9D9D9"/>
          </a:solidFill>
          <a:ln/>
        </p:spPr>
      </p:sp>
      <p:sp>
        <p:nvSpPr>
          <p:cNvPr id="21" name="Shape 19"/>
          <p:cNvSpPr/>
          <p:nvPr/>
        </p:nvSpPr>
        <p:spPr>
          <a:xfrm>
            <a:off x="7317029" y="1691640"/>
            <a:ext cx="10973" cy="3977640"/>
          </a:xfrm>
          <a:prstGeom prst="rect">
            <a:avLst/>
          </a:prstGeom>
          <a:solidFill>
            <a:srgbClr val="D9D9D9"/>
          </a:solidFill>
          <a:ln/>
        </p:spPr>
      </p:sp>
      <p:sp>
        <p:nvSpPr>
          <p:cNvPr id="22" name="Shape 20"/>
          <p:cNvSpPr/>
          <p:nvPr/>
        </p:nvSpPr>
        <p:spPr>
          <a:xfrm>
            <a:off x="9453067" y="1691640"/>
            <a:ext cx="10973" cy="3977640"/>
          </a:xfrm>
          <a:prstGeom prst="rect">
            <a:avLst/>
          </a:prstGeom>
          <a:solidFill>
            <a:srgbClr val="D9D9D9"/>
          </a:solidFill>
          <a:ln/>
        </p:spPr>
      </p:sp>
      <p:sp>
        <p:nvSpPr>
          <p:cNvPr id="23" name="Shape 21"/>
          <p:cNvSpPr/>
          <p:nvPr/>
        </p:nvSpPr>
        <p:spPr>
          <a:xfrm>
            <a:off x="969264" y="1691640"/>
            <a:ext cx="2026310" cy="45720"/>
          </a:xfrm>
          <a:prstGeom prst="rect">
            <a:avLst/>
          </a:prstGeom>
          <a:solidFill>
            <a:srgbClr val="12A566"/>
          </a:solidFill>
          <a:ln/>
        </p:spPr>
      </p:sp>
      <p:sp>
        <p:nvSpPr>
          <p:cNvPr id="24" name="Text 22"/>
          <p:cNvSpPr txBox="1"/>
          <p:nvPr/>
        </p:nvSpPr>
        <p:spPr>
          <a:xfrm>
            <a:off x="987552"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GROSS</a:t>
            </a:r>
            <a:endParaRPr lang="en-US" sz="1300" dirty="0"/>
          </a:p>
        </p:txBody>
      </p:sp>
      <p:sp>
        <p:nvSpPr>
          <p:cNvPr id="25" name="Text 23"/>
          <p:cNvSpPr txBox="1"/>
          <p:nvPr/>
        </p:nvSpPr>
        <p:spPr>
          <a:xfrm>
            <a:off x="987552"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+6.5%</a:t>
            </a:r>
            <a:endParaRPr lang="en-US" sz="1300" dirty="0"/>
          </a:p>
        </p:txBody>
      </p:sp>
      <p:sp>
        <p:nvSpPr>
          <p:cNvPr id="26" name="Text 24"/>
          <p:cNvSpPr txBox="1"/>
          <p:nvPr/>
        </p:nvSpPr>
        <p:spPr>
          <a:xfrm>
            <a:off x="987552"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27" name="Text 25"/>
          <p:cNvSpPr txBox="1"/>
          <p:nvPr/>
        </p:nvSpPr>
        <p:spPr>
          <a:xfrm>
            <a:off x="987552"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+46.1%</a:t>
            </a:r>
            <a:endParaRPr lang="en-US" sz="1600" dirty="0"/>
          </a:p>
        </p:txBody>
      </p:sp>
      <p:sp>
        <p:nvSpPr>
          <p:cNvPr id="28" name="Text 26"/>
          <p:cNvSpPr txBox="1"/>
          <p:nvPr/>
        </p:nvSpPr>
        <p:spPr>
          <a:xfrm>
            <a:off x="987552"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29" name="Text 27"/>
          <p:cNvSpPr txBox="1"/>
          <p:nvPr/>
        </p:nvSpPr>
        <p:spPr>
          <a:xfrm>
            <a:off x="987552"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+45.4%</a:t>
            </a:r>
            <a:endParaRPr lang="en-US" sz="1600" dirty="0"/>
          </a:p>
        </p:txBody>
      </p:sp>
      <p:sp>
        <p:nvSpPr>
          <p:cNvPr id="30" name="Text 28"/>
          <p:cNvSpPr txBox="1"/>
          <p:nvPr/>
        </p:nvSpPr>
        <p:spPr>
          <a:xfrm>
            <a:off x="987552"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1" name="Text 29"/>
          <p:cNvSpPr txBox="1"/>
          <p:nvPr/>
        </p:nvSpPr>
        <p:spPr>
          <a:xfrm>
            <a:off x="987552"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+33.8%</a:t>
            </a:r>
            <a:endParaRPr lang="en-US" sz="1600" dirty="0"/>
          </a:p>
        </p:txBody>
      </p:sp>
      <p:sp>
        <p:nvSpPr>
          <p:cNvPr id="32" name="Text 30"/>
          <p:cNvSpPr txBox="1"/>
          <p:nvPr/>
        </p:nvSpPr>
        <p:spPr>
          <a:xfrm>
            <a:off x="987552"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Chevy LV</a:t>
            </a:r>
            <a:endParaRPr lang="en-US" sz="1300" dirty="0"/>
          </a:p>
        </p:txBody>
      </p:sp>
      <p:sp>
        <p:nvSpPr>
          <p:cNvPr id="33" name="Text 31"/>
          <p:cNvSpPr txBox="1"/>
          <p:nvPr/>
        </p:nvSpPr>
        <p:spPr>
          <a:xfrm>
            <a:off x="987552"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−4.4%</a:t>
            </a:r>
            <a:endParaRPr lang="en-US" sz="1600" dirty="0"/>
          </a:p>
        </p:txBody>
      </p:sp>
      <p:sp>
        <p:nvSpPr>
          <p:cNvPr id="34" name="Text 32"/>
          <p:cNvSpPr txBox="1"/>
          <p:nvPr/>
        </p:nvSpPr>
        <p:spPr>
          <a:xfrm>
            <a:off x="987552"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35" name="Text 33"/>
          <p:cNvSpPr txBox="1"/>
          <p:nvPr/>
        </p:nvSpPr>
        <p:spPr>
          <a:xfrm>
            <a:off x="987552"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−14.1%</a:t>
            </a:r>
            <a:endParaRPr lang="en-US" sz="1600" dirty="0"/>
          </a:p>
        </p:txBody>
      </p:sp>
      <p:sp>
        <p:nvSpPr>
          <p:cNvPr id="36" name="Text 34"/>
          <p:cNvSpPr txBox="1"/>
          <p:nvPr/>
        </p:nvSpPr>
        <p:spPr>
          <a:xfrm>
            <a:off x="987552"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37" name="Text 35"/>
          <p:cNvSpPr txBox="1"/>
          <p:nvPr/>
        </p:nvSpPr>
        <p:spPr>
          <a:xfrm>
            <a:off x="987552"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−20.1%</a:t>
            </a:r>
            <a:endParaRPr lang="en-US" sz="1600" dirty="0"/>
          </a:p>
        </p:txBody>
      </p:sp>
      <p:sp>
        <p:nvSpPr>
          <p:cNvPr id="38" name="Shape 36"/>
          <p:cNvSpPr/>
          <p:nvPr/>
        </p:nvSpPr>
        <p:spPr>
          <a:xfrm>
            <a:off x="3105302" y="1691640"/>
            <a:ext cx="2026310" cy="45720"/>
          </a:xfrm>
          <a:prstGeom prst="rect">
            <a:avLst/>
          </a:prstGeom>
          <a:solidFill>
            <a:srgbClr val="12A566"/>
          </a:solidFill>
          <a:ln/>
        </p:spPr>
      </p:sp>
      <p:sp>
        <p:nvSpPr>
          <p:cNvPr id="39" name="Text 37"/>
          <p:cNvSpPr txBox="1"/>
          <p:nvPr/>
        </p:nvSpPr>
        <p:spPr>
          <a:xfrm>
            <a:off x="3123590"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RO COUNT</a:t>
            </a:r>
            <a:endParaRPr lang="en-US" sz="1300" dirty="0"/>
          </a:p>
        </p:txBody>
      </p:sp>
      <p:sp>
        <p:nvSpPr>
          <p:cNvPr id="40" name="Text 38"/>
          <p:cNvSpPr txBox="1"/>
          <p:nvPr/>
        </p:nvSpPr>
        <p:spPr>
          <a:xfrm>
            <a:off x="3123590"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+0.2%</a:t>
            </a:r>
            <a:endParaRPr lang="en-US" sz="1300" dirty="0"/>
          </a:p>
        </p:txBody>
      </p:sp>
      <p:sp>
        <p:nvSpPr>
          <p:cNvPr id="41" name="Text 39"/>
          <p:cNvSpPr txBox="1"/>
          <p:nvPr/>
        </p:nvSpPr>
        <p:spPr>
          <a:xfrm>
            <a:off x="3123590"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42" name="Text 40"/>
          <p:cNvSpPr txBox="1"/>
          <p:nvPr/>
        </p:nvSpPr>
        <p:spPr>
          <a:xfrm>
            <a:off x="3123590"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+13.7%</a:t>
            </a:r>
            <a:endParaRPr lang="en-US" sz="1600" dirty="0"/>
          </a:p>
        </p:txBody>
      </p:sp>
      <p:sp>
        <p:nvSpPr>
          <p:cNvPr id="43" name="Text 41"/>
          <p:cNvSpPr txBox="1"/>
          <p:nvPr/>
        </p:nvSpPr>
        <p:spPr>
          <a:xfrm>
            <a:off x="3123590"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4" name="Text 42"/>
          <p:cNvSpPr txBox="1"/>
          <p:nvPr/>
        </p:nvSpPr>
        <p:spPr>
          <a:xfrm>
            <a:off x="3123590"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+12.7%</a:t>
            </a:r>
            <a:endParaRPr lang="en-US" sz="1600" dirty="0"/>
          </a:p>
        </p:txBody>
      </p:sp>
      <p:sp>
        <p:nvSpPr>
          <p:cNvPr id="45" name="Text 43"/>
          <p:cNvSpPr txBox="1"/>
          <p:nvPr/>
        </p:nvSpPr>
        <p:spPr>
          <a:xfrm>
            <a:off x="3123590"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GMC Prescott</a:t>
            </a:r>
            <a:endParaRPr lang="en-US" sz="1300" dirty="0"/>
          </a:p>
        </p:txBody>
      </p:sp>
      <p:sp>
        <p:nvSpPr>
          <p:cNvPr id="46" name="Text 44"/>
          <p:cNvSpPr txBox="1"/>
          <p:nvPr/>
        </p:nvSpPr>
        <p:spPr>
          <a:xfrm>
            <a:off x="3123590"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47" name="Text 45"/>
          <p:cNvSpPr txBox="1"/>
          <p:nvPr/>
        </p:nvSpPr>
        <p:spPr>
          <a:xfrm>
            <a:off x="3123590"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48" name="Text 46"/>
          <p:cNvSpPr txBox="1"/>
          <p:nvPr/>
        </p:nvSpPr>
        <p:spPr>
          <a:xfrm>
            <a:off x="3123590"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−10.6%</a:t>
            </a:r>
            <a:endParaRPr lang="en-US" sz="1600" dirty="0"/>
          </a:p>
        </p:txBody>
      </p:sp>
      <p:sp>
        <p:nvSpPr>
          <p:cNvPr id="49" name="Text 47"/>
          <p:cNvSpPr txBox="1"/>
          <p:nvPr/>
        </p:nvSpPr>
        <p:spPr>
          <a:xfrm>
            <a:off x="3123590"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0" name="Text 48"/>
          <p:cNvSpPr txBox="1"/>
          <p:nvPr/>
        </p:nvSpPr>
        <p:spPr>
          <a:xfrm>
            <a:off x="3123590"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−11.5%</a:t>
            </a:r>
            <a:endParaRPr lang="en-US" sz="1600" dirty="0"/>
          </a:p>
        </p:txBody>
      </p:sp>
      <p:sp>
        <p:nvSpPr>
          <p:cNvPr id="51" name="Text 49"/>
          <p:cNvSpPr txBox="1"/>
          <p:nvPr/>
        </p:nvSpPr>
        <p:spPr>
          <a:xfrm>
            <a:off x="3123590"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52" name="Text 50"/>
          <p:cNvSpPr txBox="1"/>
          <p:nvPr/>
        </p:nvSpPr>
        <p:spPr>
          <a:xfrm>
            <a:off x="3123590"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−14.7%</a:t>
            </a:r>
            <a:endParaRPr lang="en-US" sz="1600" dirty="0"/>
          </a:p>
        </p:txBody>
      </p:sp>
      <p:sp>
        <p:nvSpPr>
          <p:cNvPr id="53" name="Shape 51"/>
          <p:cNvSpPr/>
          <p:nvPr/>
        </p:nvSpPr>
        <p:spPr>
          <a:xfrm>
            <a:off x="5241341" y="1691640"/>
            <a:ext cx="2026310" cy="45720"/>
          </a:xfrm>
          <a:prstGeom prst="rect">
            <a:avLst/>
          </a:prstGeom>
          <a:solidFill>
            <a:srgbClr val="12A566"/>
          </a:solidFill>
          <a:ln/>
        </p:spPr>
      </p:sp>
      <p:sp>
        <p:nvSpPr>
          <p:cNvPr id="54" name="Text 52"/>
          <p:cNvSpPr txBox="1"/>
          <p:nvPr/>
        </p:nvSpPr>
        <p:spPr>
          <a:xfrm>
            <a:off x="5259629"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HOURS PER RO</a:t>
            </a:r>
            <a:endParaRPr lang="en-US" sz="1300" dirty="0"/>
          </a:p>
        </p:txBody>
      </p:sp>
      <p:sp>
        <p:nvSpPr>
          <p:cNvPr id="55" name="Text 53"/>
          <p:cNvSpPr txBox="1"/>
          <p:nvPr/>
        </p:nvSpPr>
        <p:spPr>
          <a:xfrm>
            <a:off x="5259629"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+3.6%</a:t>
            </a:r>
            <a:endParaRPr lang="en-US" sz="1300" dirty="0"/>
          </a:p>
        </p:txBody>
      </p:sp>
      <p:sp>
        <p:nvSpPr>
          <p:cNvPr id="56" name="Text 54"/>
          <p:cNvSpPr txBox="1"/>
          <p:nvPr/>
        </p:nvSpPr>
        <p:spPr>
          <a:xfrm>
            <a:off x="5259629"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7" name="Text 55"/>
          <p:cNvSpPr txBox="1"/>
          <p:nvPr/>
        </p:nvSpPr>
        <p:spPr>
          <a:xfrm>
            <a:off x="5259629"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+39.2%</a:t>
            </a:r>
            <a:endParaRPr lang="en-US" sz="1600" dirty="0"/>
          </a:p>
        </p:txBody>
      </p:sp>
      <p:sp>
        <p:nvSpPr>
          <p:cNvPr id="58" name="Text 56"/>
          <p:cNvSpPr txBox="1"/>
          <p:nvPr/>
        </p:nvSpPr>
        <p:spPr>
          <a:xfrm>
            <a:off x="5259629"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9" name="Text 57"/>
          <p:cNvSpPr txBox="1"/>
          <p:nvPr/>
        </p:nvSpPr>
        <p:spPr>
          <a:xfrm>
            <a:off x="5259629"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60" name="Text 58"/>
          <p:cNvSpPr txBox="1"/>
          <p:nvPr/>
        </p:nvSpPr>
        <p:spPr>
          <a:xfrm>
            <a:off x="5259629"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61" name="Text 59"/>
          <p:cNvSpPr txBox="1"/>
          <p:nvPr/>
        </p:nvSpPr>
        <p:spPr>
          <a:xfrm>
            <a:off x="5259629"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+30.8%</a:t>
            </a:r>
            <a:endParaRPr lang="en-US" sz="1600" dirty="0"/>
          </a:p>
        </p:txBody>
      </p:sp>
      <p:sp>
        <p:nvSpPr>
          <p:cNvPr id="62" name="Text 60"/>
          <p:cNvSpPr txBox="1"/>
          <p:nvPr/>
        </p:nvSpPr>
        <p:spPr>
          <a:xfrm>
            <a:off x="5259629"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Volvo</a:t>
            </a:r>
            <a:endParaRPr lang="en-US" sz="1300" dirty="0"/>
          </a:p>
        </p:txBody>
      </p:sp>
      <p:sp>
        <p:nvSpPr>
          <p:cNvPr id="63" name="Text 61"/>
          <p:cNvSpPr txBox="1"/>
          <p:nvPr/>
        </p:nvSpPr>
        <p:spPr>
          <a:xfrm>
            <a:off x="5259629"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−11.7%</a:t>
            </a:r>
            <a:endParaRPr lang="en-US" sz="1600" dirty="0"/>
          </a:p>
        </p:txBody>
      </p:sp>
      <p:sp>
        <p:nvSpPr>
          <p:cNvPr id="64" name="Text 62"/>
          <p:cNvSpPr txBox="1"/>
          <p:nvPr/>
        </p:nvSpPr>
        <p:spPr>
          <a:xfrm>
            <a:off x="5259629"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65" name="Text 63"/>
          <p:cNvSpPr txBox="1"/>
          <p:nvPr/>
        </p:nvSpPr>
        <p:spPr>
          <a:xfrm>
            <a:off x="5259629"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−12.5%</a:t>
            </a:r>
            <a:endParaRPr lang="en-US" sz="1600" dirty="0"/>
          </a:p>
        </p:txBody>
      </p:sp>
      <p:sp>
        <p:nvSpPr>
          <p:cNvPr id="66" name="Text 64"/>
          <p:cNvSpPr txBox="1"/>
          <p:nvPr/>
        </p:nvSpPr>
        <p:spPr>
          <a:xfrm>
            <a:off x="5259629"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67" name="Text 65"/>
          <p:cNvSpPr txBox="1"/>
          <p:nvPr/>
        </p:nvSpPr>
        <p:spPr>
          <a:xfrm>
            <a:off x="5259629"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68" name="Shape 66"/>
          <p:cNvSpPr/>
          <p:nvPr/>
        </p:nvSpPr>
        <p:spPr>
          <a:xfrm>
            <a:off x="7377379" y="1691640"/>
            <a:ext cx="2026310" cy="45720"/>
          </a:xfrm>
          <a:prstGeom prst="rect">
            <a:avLst/>
          </a:prstGeom>
          <a:solidFill>
            <a:srgbClr val="12A566"/>
          </a:solidFill>
          <a:ln/>
        </p:spPr>
      </p:sp>
      <p:sp>
        <p:nvSpPr>
          <p:cNvPr id="69" name="Text 67"/>
          <p:cNvSpPr txBox="1"/>
          <p:nvPr/>
        </p:nvSpPr>
        <p:spPr>
          <a:xfrm>
            <a:off x="7395667"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ELR</a:t>
            </a:r>
            <a:endParaRPr lang="en-US" sz="1300" dirty="0"/>
          </a:p>
        </p:txBody>
      </p:sp>
      <p:sp>
        <p:nvSpPr>
          <p:cNvPr id="70" name="Text 68"/>
          <p:cNvSpPr txBox="1"/>
          <p:nvPr/>
        </p:nvSpPr>
        <p:spPr>
          <a:xfrm>
            <a:off x="7395667"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+2.2%</a:t>
            </a:r>
            <a:endParaRPr lang="en-US" sz="1300" dirty="0"/>
          </a:p>
        </p:txBody>
      </p:sp>
      <p:sp>
        <p:nvSpPr>
          <p:cNvPr id="71" name="Text 69"/>
          <p:cNvSpPr txBox="1"/>
          <p:nvPr/>
        </p:nvSpPr>
        <p:spPr>
          <a:xfrm>
            <a:off x="7395667"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Spokane</a:t>
            </a:r>
            <a:endParaRPr lang="en-US" sz="1300" dirty="0"/>
          </a:p>
        </p:txBody>
      </p:sp>
      <p:sp>
        <p:nvSpPr>
          <p:cNvPr id="72" name="Text 70"/>
          <p:cNvSpPr txBox="1"/>
          <p:nvPr/>
        </p:nvSpPr>
        <p:spPr>
          <a:xfrm>
            <a:off x="7395667"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73" name="Text 71"/>
          <p:cNvSpPr txBox="1"/>
          <p:nvPr/>
        </p:nvSpPr>
        <p:spPr>
          <a:xfrm>
            <a:off x="7395667"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Volvo</a:t>
            </a:r>
            <a:endParaRPr lang="en-US" sz="1300" dirty="0"/>
          </a:p>
        </p:txBody>
      </p:sp>
      <p:sp>
        <p:nvSpPr>
          <p:cNvPr id="74" name="Text 72"/>
          <p:cNvSpPr txBox="1"/>
          <p:nvPr/>
        </p:nvSpPr>
        <p:spPr>
          <a:xfrm>
            <a:off x="7395667"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+22.3%</a:t>
            </a:r>
            <a:endParaRPr lang="en-US" sz="1600" dirty="0"/>
          </a:p>
        </p:txBody>
      </p:sp>
      <p:sp>
        <p:nvSpPr>
          <p:cNvPr id="75" name="Text 73"/>
          <p:cNvSpPr txBox="1"/>
          <p:nvPr/>
        </p:nvSpPr>
        <p:spPr>
          <a:xfrm>
            <a:off x="7395667"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76" name="Text 74"/>
          <p:cNvSpPr txBox="1"/>
          <p:nvPr/>
        </p:nvSpPr>
        <p:spPr>
          <a:xfrm>
            <a:off x="7395667"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+20.1%</a:t>
            </a:r>
            <a:endParaRPr lang="en-US" sz="1600" dirty="0"/>
          </a:p>
        </p:txBody>
      </p:sp>
      <p:sp>
        <p:nvSpPr>
          <p:cNvPr id="77" name="Text 75"/>
          <p:cNvSpPr txBox="1"/>
          <p:nvPr/>
        </p:nvSpPr>
        <p:spPr>
          <a:xfrm>
            <a:off x="7395667"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78" name="Text 76"/>
          <p:cNvSpPr txBox="1"/>
          <p:nvPr/>
        </p:nvSpPr>
        <p:spPr>
          <a:xfrm>
            <a:off x="7395667"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−5.1%</a:t>
            </a:r>
            <a:endParaRPr lang="en-US" sz="1600" dirty="0"/>
          </a:p>
        </p:txBody>
      </p:sp>
      <p:sp>
        <p:nvSpPr>
          <p:cNvPr id="79" name="Text 77"/>
          <p:cNvSpPr txBox="1"/>
          <p:nvPr/>
        </p:nvSpPr>
        <p:spPr>
          <a:xfrm>
            <a:off x="7395667"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0" name="Text 78"/>
          <p:cNvSpPr txBox="1"/>
          <p:nvPr/>
        </p:nvSpPr>
        <p:spPr>
          <a:xfrm>
            <a:off x="7395667"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−7.0%</a:t>
            </a:r>
            <a:endParaRPr lang="en-US" sz="1600" dirty="0"/>
          </a:p>
        </p:txBody>
      </p:sp>
      <p:sp>
        <p:nvSpPr>
          <p:cNvPr id="81" name="Text 79"/>
          <p:cNvSpPr txBox="1"/>
          <p:nvPr/>
        </p:nvSpPr>
        <p:spPr>
          <a:xfrm>
            <a:off x="7395667"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82" name="Text 80"/>
          <p:cNvSpPr txBox="1"/>
          <p:nvPr/>
        </p:nvSpPr>
        <p:spPr>
          <a:xfrm>
            <a:off x="7395667"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−19.1%</a:t>
            </a:r>
            <a:endParaRPr lang="en-US" sz="1600" dirty="0"/>
          </a:p>
        </p:txBody>
      </p:sp>
      <p:sp>
        <p:nvSpPr>
          <p:cNvPr id="83" name="Shape 81"/>
          <p:cNvSpPr/>
          <p:nvPr/>
        </p:nvSpPr>
        <p:spPr>
          <a:xfrm>
            <a:off x="9513418" y="1691640"/>
            <a:ext cx="2026310" cy="45720"/>
          </a:xfrm>
          <a:prstGeom prst="rect">
            <a:avLst/>
          </a:prstGeom>
          <a:solidFill>
            <a:srgbClr val="12A566"/>
          </a:solidFill>
          <a:ln/>
        </p:spPr>
      </p:sp>
      <p:sp>
        <p:nvSpPr>
          <p:cNvPr id="84" name="Text 82"/>
          <p:cNvSpPr txBox="1"/>
          <p:nvPr/>
        </p:nvSpPr>
        <p:spPr>
          <a:xfrm>
            <a:off x="9531706"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LABOR $ PER RO</a:t>
            </a:r>
            <a:endParaRPr lang="en-US" sz="1300" dirty="0"/>
          </a:p>
        </p:txBody>
      </p:sp>
      <p:sp>
        <p:nvSpPr>
          <p:cNvPr id="85" name="Text 83"/>
          <p:cNvSpPr txBox="1"/>
          <p:nvPr/>
        </p:nvSpPr>
        <p:spPr>
          <a:xfrm>
            <a:off x="9531706"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+5.9%</a:t>
            </a:r>
            <a:endParaRPr lang="en-US" sz="1300" dirty="0"/>
          </a:p>
        </p:txBody>
      </p:sp>
      <p:sp>
        <p:nvSpPr>
          <p:cNvPr id="86" name="Text 84"/>
          <p:cNvSpPr txBox="1"/>
          <p:nvPr/>
        </p:nvSpPr>
        <p:spPr>
          <a:xfrm>
            <a:off x="9531706"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7" name="Text 85"/>
          <p:cNvSpPr txBox="1"/>
          <p:nvPr/>
        </p:nvSpPr>
        <p:spPr>
          <a:xfrm>
            <a:off x="9531706"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+38.4%</a:t>
            </a:r>
            <a:endParaRPr lang="en-US" sz="1600" dirty="0"/>
          </a:p>
        </p:txBody>
      </p:sp>
      <p:sp>
        <p:nvSpPr>
          <p:cNvPr id="88" name="Text 86"/>
          <p:cNvSpPr txBox="1"/>
          <p:nvPr/>
        </p:nvSpPr>
        <p:spPr>
          <a:xfrm>
            <a:off x="9531706"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89" name="Text 87"/>
          <p:cNvSpPr txBox="1"/>
          <p:nvPr/>
        </p:nvSpPr>
        <p:spPr>
          <a:xfrm>
            <a:off x="9531706"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+36.2%</a:t>
            </a:r>
            <a:endParaRPr lang="en-US" sz="1600" dirty="0"/>
          </a:p>
        </p:txBody>
      </p:sp>
      <p:sp>
        <p:nvSpPr>
          <p:cNvPr id="90" name="Text 88"/>
          <p:cNvSpPr txBox="1"/>
          <p:nvPr/>
        </p:nvSpPr>
        <p:spPr>
          <a:xfrm>
            <a:off x="9531706"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91" name="Text 89"/>
          <p:cNvSpPr txBox="1"/>
          <p:nvPr/>
        </p:nvSpPr>
        <p:spPr>
          <a:xfrm>
            <a:off x="9531706"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+36.1%</a:t>
            </a:r>
            <a:endParaRPr lang="en-US" sz="1600" dirty="0"/>
          </a:p>
        </p:txBody>
      </p:sp>
      <p:sp>
        <p:nvSpPr>
          <p:cNvPr id="92" name="Text 90"/>
          <p:cNvSpPr txBox="1"/>
          <p:nvPr/>
        </p:nvSpPr>
        <p:spPr>
          <a:xfrm>
            <a:off x="9531706"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93" name="Text 91"/>
          <p:cNvSpPr txBox="1"/>
          <p:nvPr/>
        </p:nvSpPr>
        <p:spPr>
          <a:xfrm>
            <a:off x="9531706"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−3.9%</a:t>
            </a:r>
            <a:endParaRPr lang="en-US" sz="1600" dirty="0"/>
          </a:p>
        </p:txBody>
      </p:sp>
      <p:sp>
        <p:nvSpPr>
          <p:cNvPr id="94" name="Text 92"/>
          <p:cNvSpPr txBox="1"/>
          <p:nvPr/>
        </p:nvSpPr>
        <p:spPr>
          <a:xfrm>
            <a:off x="9531706"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95" name="Text 93"/>
          <p:cNvSpPr txBox="1"/>
          <p:nvPr/>
        </p:nvSpPr>
        <p:spPr>
          <a:xfrm>
            <a:off x="9531706"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−6.8%</a:t>
            </a:r>
            <a:endParaRPr lang="en-US" sz="1600" dirty="0"/>
          </a:p>
        </p:txBody>
      </p:sp>
      <p:sp>
        <p:nvSpPr>
          <p:cNvPr id="96" name="Text 94"/>
          <p:cNvSpPr txBox="1"/>
          <p:nvPr/>
        </p:nvSpPr>
        <p:spPr>
          <a:xfrm>
            <a:off x="9531706"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97" name="Text 95"/>
          <p:cNvSpPr txBox="1"/>
          <p:nvPr/>
        </p:nvSpPr>
        <p:spPr>
          <a:xfrm>
            <a:off x="9531706"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−13.8%</a:t>
            </a:r>
            <a:endParaRPr lang="en-US" sz="1600" dirty="0"/>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Biggest Movers vs Last Year: Profit and Process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80160"/>
            <a:ext cx="10762488" cy="2560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and bottom three stores on each measure, Jan–Sep 2026 vs Jan–Sep 2025</a:t>
            </a:r>
            <a:endParaRPr lang="en-US" sz="1400" dirty="0"/>
          </a:p>
        </p:txBody>
      </p:sp>
      <p:sp>
        <p:nvSpPr>
          <p:cNvPr id="7" name="Shape 5"/>
          <p:cNvSpPr/>
          <p:nvPr/>
        </p:nvSpPr>
        <p:spPr>
          <a:xfrm>
            <a:off x="621792" y="2331720"/>
            <a:ext cx="45720" cy="1591056"/>
          </a:xfrm>
          <a:prstGeom prst="rect">
            <a:avLst/>
          </a:prstGeom>
          <a:solidFill>
            <a:srgbClr val="12A566"/>
          </a:solidFill>
          <a:ln/>
        </p:spPr>
      </p:sp>
      <p:sp>
        <p:nvSpPr>
          <p:cNvPr id="8" name="Shape 6"/>
          <p:cNvSpPr/>
          <p:nvPr/>
        </p:nvSpPr>
        <p:spPr>
          <a:xfrm>
            <a:off x="685800" y="2331720"/>
            <a:ext cx="10881360" cy="530352"/>
          </a:xfrm>
          <a:prstGeom prst="rect">
            <a:avLst/>
          </a:prstGeom>
          <a:solidFill>
            <a:srgbClr val="F7F7F7"/>
          </a:solidFill>
          <a:ln/>
        </p:spPr>
      </p:sp>
      <p:sp>
        <p:nvSpPr>
          <p:cNvPr id="9" name="Text 7"/>
          <p:cNvSpPr txBox="1"/>
          <p:nvPr/>
        </p:nvSpPr>
        <p:spPr>
          <a:xfrm>
            <a:off x="676656" y="2331720"/>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1</a:t>
            </a:r>
            <a:endParaRPr lang="en-US" sz="1600" dirty="0"/>
          </a:p>
        </p:txBody>
      </p:sp>
      <p:sp>
        <p:nvSpPr>
          <p:cNvPr id="10" name="Text 8"/>
          <p:cNvSpPr txBox="1"/>
          <p:nvPr/>
        </p:nvSpPr>
        <p:spPr>
          <a:xfrm>
            <a:off x="676656" y="2862072"/>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11" name="Shape 9"/>
          <p:cNvSpPr/>
          <p:nvPr/>
        </p:nvSpPr>
        <p:spPr>
          <a:xfrm>
            <a:off x="685800" y="3392424"/>
            <a:ext cx="10881360" cy="530352"/>
          </a:xfrm>
          <a:prstGeom prst="rect">
            <a:avLst/>
          </a:prstGeom>
          <a:solidFill>
            <a:srgbClr val="F7F7F7"/>
          </a:solidFill>
          <a:ln/>
        </p:spPr>
      </p:sp>
      <p:sp>
        <p:nvSpPr>
          <p:cNvPr id="12" name="Text 10"/>
          <p:cNvSpPr txBox="1"/>
          <p:nvPr/>
        </p:nvSpPr>
        <p:spPr>
          <a:xfrm>
            <a:off x="676656" y="3392424"/>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13" name="Shape 11"/>
          <p:cNvSpPr/>
          <p:nvPr/>
        </p:nvSpPr>
        <p:spPr>
          <a:xfrm>
            <a:off x="621792" y="4078224"/>
            <a:ext cx="45720" cy="1591056"/>
          </a:xfrm>
          <a:prstGeom prst="rect">
            <a:avLst/>
          </a:prstGeom>
          <a:solidFill>
            <a:srgbClr val="C2352F"/>
          </a:solidFill>
          <a:ln/>
        </p:spPr>
      </p:sp>
      <p:sp>
        <p:nvSpPr>
          <p:cNvPr id="14" name="Shape 12"/>
          <p:cNvSpPr/>
          <p:nvPr/>
        </p:nvSpPr>
        <p:spPr>
          <a:xfrm>
            <a:off x="685800" y="4078224"/>
            <a:ext cx="10881360" cy="530352"/>
          </a:xfrm>
          <a:prstGeom prst="rect">
            <a:avLst/>
          </a:prstGeom>
          <a:solidFill>
            <a:srgbClr val="F7F7F7"/>
          </a:solidFill>
          <a:ln/>
        </p:spPr>
      </p:sp>
      <p:sp>
        <p:nvSpPr>
          <p:cNvPr id="15" name="Text 13"/>
          <p:cNvSpPr txBox="1"/>
          <p:nvPr/>
        </p:nvSpPr>
        <p:spPr>
          <a:xfrm>
            <a:off x="676656" y="4078224"/>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16" name="Text 14"/>
          <p:cNvSpPr txBox="1"/>
          <p:nvPr/>
        </p:nvSpPr>
        <p:spPr>
          <a:xfrm>
            <a:off x="676656" y="4608576"/>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32</a:t>
            </a:r>
            <a:endParaRPr lang="en-US" sz="1600" dirty="0"/>
          </a:p>
        </p:txBody>
      </p:sp>
      <p:sp>
        <p:nvSpPr>
          <p:cNvPr id="17" name="Shape 15"/>
          <p:cNvSpPr/>
          <p:nvPr/>
        </p:nvSpPr>
        <p:spPr>
          <a:xfrm>
            <a:off x="685800" y="5138928"/>
            <a:ext cx="10881360" cy="530352"/>
          </a:xfrm>
          <a:prstGeom prst="rect">
            <a:avLst/>
          </a:prstGeom>
          <a:solidFill>
            <a:srgbClr val="F7F7F7"/>
          </a:solidFill>
          <a:ln/>
        </p:spPr>
      </p:sp>
      <p:sp>
        <p:nvSpPr>
          <p:cNvPr id="18" name="Text 16"/>
          <p:cNvSpPr txBox="1"/>
          <p:nvPr/>
        </p:nvSpPr>
        <p:spPr>
          <a:xfrm>
            <a:off x="676656" y="5138928"/>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33</a:t>
            </a:r>
            <a:endParaRPr lang="en-US" sz="1600" dirty="0"/>
          </a:p>
        </p:txBody>
      </p:sp>
      <p:sp>
        <p:nvSpPr>
          <p:cNvPr id="19" name="Shape 17"/>
          <p:cNvSpPr/>
          <p:nvPr/>
        </p:nvSpPr>
        <p:spPr>
          <a:xfrm>
            <a:off x="3578962" y="1691640"/>
            <a:ext cx="10973" cy="3977640"/>
          </a:xfrm>
          <a:prstGeom prst="rect">
            <a:avLst/>
          </a:prstGeom>
          <a:solidFill>
            <a:srgbClr val="D9D9D9"/>
          </a:solidFill>
          <a:ln/>
        </p:spPr>
      </p:sp>
      <p:sp>
        <p:nvSpPr>
          <p:cNvPr id="20" name="Shape 18"/>
          <p:cNvSpPr/>
          <p:nvPr/>
        </p:nvSpPr>
        <p:spPr>
          <a:xfrm>
            <a:off x="6249010" y="1691640"/>
            <a:ext cx="10973" cy="3977640"/>
          </a:xfrm>
          <a:prstGeom prst="rect">
            <a:avLst/>
          </a:prstGeom>
          <a:solidFill>
            <a:srgbClr val="D9D9D9"/>
          </a:solidFill>
          <a:ln/>
        </p:spPr>
      </p:sp>
      <p:sp>
        <p:nvSpPr>
          <p:cNvPr id="21" name="Shape 19"/>
          <p:cNvSpPr/>
          <p:nvPr/>
        </p:nvSpPr>
        <p:spPr>
          <a:xfrm>
            <a:off x="8919058" y="1691640"/>
            <a:ext cx="10973" cy="3977640"/>
          </a:xfrm>
          <a:prstGeom prst="rect">
            <a:avLst/>
          </a:prstGeom>
          <a:solidFill>
            <a:srgbClr val="D9D9D9"/>
          </a:solidFill>
          <a:ln/>
        </p:spPr>
      </p:sp>
      <p:sp>
        <p:nvSpPr>
          <p:cNvPr id="22" name="Shape 20"/>
          <p:cNvSpPr/>
          <p:nvPr/>
        </p:nvSpPr>
        <p:spPr>
          <a:xfrm>
            <a:off x="969264" y="1691640"/>
            <a:ext cx="2560320" cy="45720"/>
          </a:xfrm>
          <a:prstGeom prst="rect">
            <a:avLst/>
          </a:prstGeom>
          <a:solidFill>
            <a:srgbClr val="12A566"/>
          </a:solidFill>
          <a:ln/>
        </p:spPr>
      </p:sp>
      <p:sp>
        <p:nvSpPr>
          <p:cNvPr id="23" name="Text 21"/>
          <p:cNvSpPr txBox="1"/>
          <p:nvPr/>
        </p:nvSpPr>
        <p:spPr>
          <a:xfrm>
            <a:off x="987552" y="1773936"/>
            <a:ext cx="252374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FIXED OPS NET PROFIT</a:t>
            </a:r>
            <a:endParaRPr lang="en-US" sz="1300" dirty="0"/>
          </a:p>
        </p:txBody>
      </p:sp>
      <p:sp>
        <p:nvSpPr>
          <p:cNvPr id="24" name="Text 22"/>
          <p:cNvSpPr txBox="1"/>
          <p:nvPr/>
        </p:nvSpPr>
        <p:spPr>
          <a:xfrm>
            <a:off x="987552" y="1993392"/>
            <a:ext cx="252374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+$5.11M</a:t>
            </a:r>
            <a:endParaRPr lang="en-US" sz="1300" dirty="0"/>
          </a:p>
        </p:txBody>
      </p:sp>
      <p:sp>
        <p:nvSpPr>
          <p:cNvPr id="25" name="Text 23"/>
          <p:cNvSpPr txBox="1"/>
          <p:nvPr/>
        </p:nvSpPr>
        <p:spPr>
          <a:xfrm>
            <a:off x="987552" y="2377440"/>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Toyota Henderson</a:t>
            </a:r>
            <a:endParaRPr lang="en-US" sz="1300" dirty="0"/>
          </a:p>
        </p:txBody>
      </p:sp>
      <p:sp>
        <p:nvSpPr>
          <p:cNvPr id="26" name="Text 24"/>
          <p:cNvSpPr txBox="1"/>
          <p:nvPr/>
        </p:nvSpPr>
        <p:spPr>
          <a:xfrm>
            <a:off x="987552" y="2596896"/>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27" name="Text 25"/>
          <p:cNvSpPr txBox="1"/>
          <p:nvPr/>
        </p:nvSpPr>
        <p:spPr>
          <a:xfrm>
            <a:off x="987552" y="2907792"/>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Henderson</a:t>
            </a:r>
            <a:endParaRPr lang="en-US" sz="1300" dirty="0"/>
          </a:p>
        </p:txBody>
      </p:sp>
      <p:sp>
        <p:nvSpPr>
          <p:cNvPr id="28" name="Text 26"/>
          <p:cNvSpPr txBox="1"/>
          <p:nvPr/>
        </p:nvSpPr>
        <p:spPr>
          <a:xfrm>
            <a:off x="987552" y="3127248"/>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29" name="Text 27"/>
          <p:cNvSpPr txBox="1"/>
          <p:nvPr/>
        </p:nvSpPr>
        <p:spPr>
          <a:xfrm>
            <a:off x="987552" y="34381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30" name="Text 28"/>
          <p:cNvSpPr txBox="1"/>
          <p:nvPr/>
        </p:nvSpPr>
        <p:spPr>
          <a:xfrm>
            <a:off x="987552" y="3657600"/>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31" name="Text 29"/>
          <p:cNvSpPr txBox="1"/>
          <p:nvPr/>
        </p:nvSpPr>
        <p:spPr>
          <a:xfrm>
            <a:off x="987552" y="41239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Toyota Spokane</a:t>
            </a:r>
            <a:endParaRPr lang="en-US" sz="1300" dirty="0"/>
          </a:p>
        </p:txBody>
      </p:sp>
      <p:sp>
        <p:nvSpPr>
          <p:cNvPr id="32" name="Text 30"/>
          <p:cNvSpPr txBox="1"/>
          <p:nvPr/>
        </p:nvSpPr>
        <p:spPr>
          <a:xfrm>
            <a:off x="987552" y="4343400"/>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33" name="Text 31"/>
          <p:cNvSpPr txBox="1"/>
          <p:nvPr/>
        </p:nvSpPr>
        <p:spPr>
          <a:xfrm>
            <a:off x="987552" y="4654296"/>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Henderson</a:t>
            </a:r>
            <a:endParaRPr lang="en-US" sz="1300" dirty="0"/>
          </a:p>
        </p:txBody>
      </p:sp>
      <p:sp>
        <p:nvSpPr>
          <p:cNvPr id="34" name="Text 32"/>
          <p:cNvSpPr txBox="1"/>
          <p:nvPr/>
        </p:nvSpPr>
        <p:spPr>
          <a:xfrm>
            <a:off x="987552" y="4873752"/>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35" name="Text 33"/>
          <p:cNvSpPr txBox="1"/>
          <p:nvPr/>
        </p:nvSpPr>
        <p:spPr>
          <a:xfrm>
            <a:off x="987552" y="5184648"/>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Chevy LV</a:t>
            </a:r>
            <a:endParaRPr lang="en-US" sz="1300" dirty="0"/>
          </a:p>
        </p:txBody>
      </p:sp>
      <p:sp>
        <p:nvSpPr>
          <p:cNvPr id="36" name="Text 34"/>
          <p:cNvSpPr txBox="1"/>
          <p:nvPr/>
        </p:nvSpPr>
        <p:spPr>
          <a:xfrm>
            <a:off x="987552" y="5404104"/>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37" name="Shape 35"/>
          <p:cNvSpPr/>
          <p:nvPr/>
        </p:nvSpPr>
        <p:spPr>
          <a:xfrm>
            <a:off x="3639312" y="1691640"/>
            <a:ext cx="2560320" cy="45720"/>
          </a:xfrm>
          <a:prstGeom prst="rect">
            <a:avLst/>
          </a:prstGeom>
          <a:solidFill>
            <a:srgbClr val="12A566"/>
          </a:solidFill>
          <a:ln/>
        </p:spPr>
      </p:sp>
      <p:sp>
        <p:nvSpPr>
          <p:cNvPr id="38" name="Text 36"/>
          <p:cNvSpPr txBox="1"/>
          <p:nvPr/>
        </p:nvSpPr>
        <p:spPr>
          <a:xfrm>
            <a:off x="3657600" y="1773936"/>
            <a:ext cx="252374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FIXED ABSORPTION</a:t>
            </a:r>
            <a:endParaRPr lang="en-US" sz="1300" dirty="0"/>
          </a:p>
        </p:txBody>
      </p:sp>
      <p:sp>
        <p:nvSpPr>
          <p:cNvPr id="39" name="Text 37"/>
          <p:cNvSpPr txBox="1"/>
          <p:nvPr/>
        </p:nvSpPr>
        <p:spPr>
          <a:xfrm>
            <a:off x="3657600" y="1993392"/>
            <a:ext cx="252374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+2.1 pts</a:t>
            </a:r>
            <a:endParaRPr lang="en-US" sz="1300" dirty="0"/>
          </a:p>
        </p:txBody>
      </p:sp>
      <p:sp>
        <p:nvSpPr>
          <p:cNvPr id="40" name="Text 38"/>
          <p:cNvSpPr txBox="1"/>
          <p:nvPr/>
        </p:nvSpPr>
        <p:spPr>
          <a:xfrm>
            <a:off x="3657600" y="2377440"/>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41" name="Text 39"/>
          <p:cNvSpPr txBox="1"/>
          <p:nvPr/>
        </p:nvSpPr>
        <p:spPr>
          <a:xfrm>
            <a:off x="3657600" y="2596896"/>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+16.1 pts</a:t>
            </a:r>
            <a:endParaRPr lang="en-US" sz="1600" dirty="0"/>
          </a:p>
        </p:txBody>
      </p:sp>
      <p:sp>
        <p:nvSpPr>
          <p:cNvPr id="42" name="Text 40"/>
          <p:cNvSpPr txBox="1"/>
          <p:nvPr/>
        </p:nvSpPr>
        <p:spPr>
          <a:xfrm>
            <a:off x="3657600" y="2907792"/>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43" name="Text 41"/>
          <p:cNvSpPr txBox="1"/>
          <p:nvPr/>
        </p:nvSpPr>
        <p:spPr>
          <a:xfrm>
            <a:off x="3657600" y="3127248"/>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+9.6 pts</a:t>
            </a:r>
            <a:endParaRPr lang="en-US" sz="1600" dirty="0"/>
          </a:p>
        </p:txBody>
      </p:sp>
      <p:sp>
        <p:nvSpPr>
          <p:cNvPr id="44" name="Text 42"/>
          <p:cNvSpPr txBox="1"/>
          <p:nvPr/>
        </p:nvSpPr>
        <p:spPr>
          <a:xfrm>
            <a:off x="3657600" y="34381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45" name="Text 43"/>
          <p:cNvSpPr txBox="1"/>
          <p:nvPr/>
        </p:nvSpPr>
        <p:spPr>
          <a:xfrm>
            <a:off x="3657600" y="3657600"/>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46" name="Text 44"/>
          <p:cNvSpPr txBox="1"/>
          <p:nvPr/>
        </p:nvSpPr>
        <p:spPr>
          <a:xfrm>
            <a:off x="3657600" y="41239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Henderson</a:t>
            </a:r>
            <a:endParaRPr lang="en-US" sz="1300" dirty="0"/>
          </a:p>
        </p:txBody>
      </p:sp>
      <p:sp>
        <p:nvSpPr>
          <p:cNvPr id="47" name="Text 45"/>
          <p:cNvSpPr txBox="1"/>
          <p:nvPr/>
        </p:nvSpPr>
        <p:spPr>
          <a:xfrm>
            <a:off x="3657600" y="4343400"/>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−9.7 pts</a:t>
            </a:r>
            <a:endParaRPr lang="en-US" sz="1600" dirty="0"/>
          </a:p>
        </p:txBody>
      </p:sp>
      <p:sp>
        <p:nvSpPr>
          <p:cNvPr id="48" name="Text 46"/>
          <p:cNvSpPr txBox="1"/>
          <p:nvPr/>
        </p:nvSpPr>
        <p:spPr>
          <a:xfrm>
            <a:off x="3657600" y="4654296"/>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49" name="Text 47"/>
          <p:cNvSpPr txBox="1"/>
          <p:nvPr/>
        </p:nvSpPr>
        <p:spPr>
          <a:xfrm>
            <a:off x="3657600" y="4873752"/>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−10.1 pts</a:t>
            </a:r>
            <a:endParaRPr lang="en-US" sz="1600" dirty="0"/>
          </a:p>
        </p:txBody>
      </p:sp>
      <p:sp>
        <p:nvSpPr>
          <p:cNvPr id="50" name="Text 48"/>
          <p:cNvSpPr txBox="1"/>
          <p:nvPr/>
        </p:nvSpPr>
        <p:spPr>
          <a:xfrm>
            <a:off x="3657600" y="5184648"/>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51" name="Text 49"/>
          <p:cNvSpPr txBox="1"/>
          <p:nvPr/>
        </p:nvSpPr>
        <p:spPr>
          <a:xfrm>
            <a:off x="3657600" y="5404104"/>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−17.4 pts</a:t>
            </a:r>
            <a:endParaRPr lang="en-US" sz="1600" dirty="0"/>
          </a:p>
        </p:txBody>
      </p:sp>
      <p:sp>
        <p:nvSpPr>
          <p:cNvPr id="52" name="Shape 50"/>
          <p:cNvSpPr/>
          <p:nvPr/>
        </p:nvSpPr>
        <p:spPr>
          <a:xfrm>
            <a:off x="6309360" y="1691640"/>
            <a:ext cx="2560320" cy="45720"/>
          </a:xfrm>
          <a:prstGeom prst="rect">
            <a:avLst/>
          </a:prstGeom>
          <a:solidFill>
            <a:srgbClr val="12A566"/>
          </a:solidFill>
          <a:ln/>
        </p:spPr>
      </p:sp>
      <p:sp>
        <p:nvSpPr>
          <p:cNvPr id="53" name="Text 51"/>
          <p:cNvSpPr txBox="1"/>
          <p:nvPr/>
        </p:nvSpPr>
        <p:spPr>
          <a:xfrm>
            <a:off x="6327648" y="1773936"/>
            <a:ext cx="252374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PARTS GP %</a:t>
            </a:r>
            <a:endParaRPr lang="en-US" sz="1300" dirty="0"/>
          </a:p>
        </p:txBody>
      </p:sp>
      <p:sp>
        <p:nvSpPr>
          <p:cNvPr id="54" name="Text 52"/>
          <p:cNvSpPr txBox="1"/>
          <p:nvPr/>
        </p:nvSpPr>
        <p:spPr>
          <a:xfrm>
            <a:off x="6327648" y="1993392"/>
            <a:ext cx="252374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+1.3 pts</a:t>
            </a:r>
            <a:endParaRPr lang="en-US" sz="1300" dirty="0"/>
          </a:p>
        </p:txBody>
      </p:sp>
      <p:sp>
        <p:nvSpPr>
          <p:cNvPr id="55" name="Text 53"/>
          <p:cNvSpPr txBox="1"/>
          <p:nvPr/>
        </p:nvSpPr>
        <p:spPr>
          <a:xfrm>
            <a:off x="6327648" y="2377440"/>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56" name="Text 54"/>
          <p:cNvSpPr txBox="1"/>
          <p:nvPr/>
        </p:nvSpPr>
        <p:spPr>
          <a:xfrm>
            <a:off x="6327648" y="2596896"/>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57" name="Text 55"/>
          <p:cNvSpPr txBox="1"/>
          <p:nvPr/>
        </p:nvSpPr>
        <p:spPr>
          <a:xfrm>
            <a:off x="6327648" y="2907792"/>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Nissan</a:t>
            </a:r>
            <a:endParaRPr lang="en-US" sz="1300" dirty="0"/>
          </a:p>
        </p:txBody>
      </p:sp>
      <p:sp>
        <p:nvSpPr>
          <p:cNvPr id="58" name="Text 56"/>
          <p:cNvSpPr txBox="1"/>
          <p:nvPr/>
        </p:nvSpPr>
        <p:spPr>
          <a:xfrm>
            <a:off x="6327648" y="3127248"/>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59" name="Text 57"/>
          <p:cNvSpPr txBox="1"/>
          <p:nvPr/>
        </p:nvSpPr>
        <p:spPr>
          <a:xfrm>
            <a:off x="6327648" y="34381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60" name="Text 58"/>
          <p:cNvSpPr txBox="1"/>
          <p:nvPr/>
        </p:nvSpPr>
        <p:spPr>
          <a:xfrm>
            <a:off x="6327648" y="3657600"/>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+3.8 pts</a:t>
            </a:r>
            <a:endParaRPr lang="en-US" sz="1600" dirty="0"/>
          </a:p>
        </p:txBody>
      </p:sp>
      <p:sp>
        <p:nvSpPr>
          <p:cNvPr id="61" name="Text 59"/>
          <p:cNvSpPr txBox="1"/>
          <p:nvPr/>
        </p:nvSpPr>
        <p:spPr>
          <a:xfrm>
            <a:off x="6327648" y="41239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2" name="Text 60"/>
          <p:cNvSpPr txBox="1"/>
          <p:nvPr/>
        </p:nvSpPr>
        <p:spPr>
          <a:xfrm>
            <a:off x="6327648" y="4343400"/>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63" name="Text 61"/>
          <p:cNvSpPr txBox="1"/>
          <p:nvPr/>
        </p:nvSpPr>
        <p:spPr>
          <a:xfrm>
            <a:off x="6327648" y="4654296"/>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Toyota Spokane</a:t>
            </a:r>
            <a:endParaRPr lang="en-US" sz="1300" dirty="0"/>
          </a:p>
        </p:txBody>
      </p:sp>
      <p:sp>
        <p:nvSpPr>
          <p:cNvPr id="64" name="Text 62"/>
          <p:cNvSpPr txBox="1"/>
          <p:nvPr/>
        </p:nvSpPr>
        <p:spPr>
          <a:xfrm>
            <a:off x="6327648" y="4873752"/>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−0.8 pts</a:t>
            </a:r>
            <a:endParaRPr lang="en-US" sz="1600" dirty="0"/>
          </a:p>
        </p:txBody>
      </p:sp>
      <p:sp>
        <p:nvSpPr>
          <p:cNvPr id="65" name="Text 63"/>
          <p:cNvSpPr txBox="1"/>
          <p:nvPr/>
        </p:nvSpPr>
        <p:spPr>
          <a:xfrm>
            <a:off x="6327648" y="5184648"/>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Henderson</a:t>
            </a:r>
            <a:endParaRPr lang="en-US" sz="1300" dirty="0"/>
          </a:p>
        </p:txBody>
      </p:sp>
      <p:sp>
        <p:nvSpPr>
          <p:cNvPr id="66" name="Text 64"/>
          <p:cNvSpPr txBox="1"/>
          <p:nvPr/>
        </p:nvSpPr>
        <p:spPr>
          <a:xfrm>
            <a:off x="6327648" y="5404104"/>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−2.2 pts</a:t>
            </a:r>
            <a:endParaRPr lang="en-US" sz="1600" dirty="0"/>
          </a:p>
        </p:txBody>
      </p:sp>
      <p:sp>
        <p:nvSpPr>
          <p:cNvPr id="67" name="Shape 65"/>
          <p:cNvSpPr/>
          <p:nvPr/>
        </p:nvSpPr>
        <p:spPr>
          <a:xfrm>
            <a:off x="8979408" y="1691640"/>
            <a:ext cx="2560320" cy="45720"/>
          </a:xfrm>
          <a:prstGeom prst="rect">
            <a:avLst/>
          </a:prstGeom>
          <a:solidFill>
            <a:srgbClr val="12A566"/>
          </a:solidFill>
          <a:ln/>
        </p:spPr>
      </p:sp>
      <p:sp>
        <p:nvSpPr>
          <p:cNvPr id="68" name="Text 66"/>
          <p:cNvSpPr txBox="1"/>
          <p:nvPr/>
        </p:nvSpPr>
        <p:spPr>
          <a:xfrm>
            <a:off x="8997696" y="1773936"/>
            <a:ext cx="252374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OPCODES, FOUR COMBINED</a:t>
            </a:r>
            <a:endParaRPr lang="en-US" sz="1300" dirty="0"/>
          </a:p>
        </p:txBody>
      </p:sp>
      <p:sp>
        <p:nvSpPr>
          <p:cNvPr id="69" name="Text 67"/>
          <p:cNvSpPr txBox="1"/>
          <p:nvPr/>
        </p:nvSpPr>
        <p:spPr>
          <a:xfrm>
            <a:off x="8997696" y="1993392"/>
            <a:ext cx="252374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+5.4 pts</a:t>
            </a:r>
            <a:endParaRPr lang="en-US" sz="1300" dirty="0"/>
          </a:p>
        </p:txBody>
      </p:sp>
      <p:sp>
        <p:nvSpPr>
          <p:cNvPr id="70" name="Text 68"/>
          <p:cNvSpPr txBox="1"/>
          <p:nvPr/>
        </p:nvSpPr>
        <p:spPr>
          <a:xfrm>
            <a:off x="8997696" y="2377440"/>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LR LV</a:t>
            </a:r>
            <a:endParaRPr lang="en-US" sz="1300" dirty="0"/>
          </a:p>
        </p:txBody>
      </p:sp>
      <p:sp>
        <p:nvSpPr>
          <p:cNvPr id="71" name="Text 69"/>
          <p:cNvSpPr txBox="1"/>
          <p:nvPr/>
        </p:nvSpPr>
        <p:spPr>
          <a:xfrm>
            <a:off x="8997696" y="2596896"/>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+30.3 pts</a:t>
            </a:r>
            <a:endParaRPr lang="en-US" sz="1600" dirty="0"/>
          </a:p>
        </p:txBody>
      </p:sp>
      <p:sp>
        <p:nvSpPr>
          <p:cNvPr id="72" name="Text 70"/>
          <p:cNvSpPr txBox="1"/>
          <p:nvPr/>
        </p:nvSpPr>
        <p:spPr>
          <a:xfrm>
            <a:off x="8997696" y="2907792"/>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73" name="Text 71"/>
          <p:cNvSpPr txBox="1"/>
          <p:nvPr/>
        </p:nvSpPr>
        <p:spPr>
          <a:xfrm>
            <a:off x="8997696" y="3127248"/>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+28.4 pts</a:t>
            </a:r>
            <a:endParaRPr lang="en-US" sz="1600" dirty="0"/>
          </a:p>
        </p:txBody>
      </p:sp>
      <p:sp>
        <p:nvSpPr>
          <p:cNvPr id="74" name="Text 72"/>
          <p:cNvSpPr txBox="1"/>
          <p:nvPr/>
        </p:nvSpPr>
        <p:spPr>
          <a:xfrm>
            <a:off x="8997696" y="34381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75" name="Text 73"/>
          <p:cNvSpPr txBox="1"/>
          <p:nvPr/>
        </p:nvSpPr>
        <p:spPr>
          <a:xfrm>
            <a:off x="8997696" y="3657600"/>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+21.0 pts</a:t>
            </a:r>
            <a:endParaRPr lang="en-US" sz="1600" dirty="0"/>
          </a:p>
        </p:txBody>
      </p:sp>
      <p:sp>
        <p:nvSpPr>
          <p:cNvPr id="76" name="Text 74"/>
          <p:cNvSpPr txBox="1"/>
          <p:nvPr/>
        </p:nvSpPr>
        <p:spPr>
          <a:xfrm>
            <a:off x="8997696" y="41239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7" name="Text 75"/>
          <p:cNvSpPr txBox="1"/>
          <p:nvPr/>
        </p:nvSpPr>
        <p:spPr>
          <a:xfrm>
            <a:off x="8997696" y="4343400"/>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−0.7 pts</a:t>
            </a:r>
            <a:endParaRPr lang="en-US" sz="1600" dirty="0"/>
          </a:p>
        </p:txBody>
      </p:sp>
      <p:sp>
        <p:nvSpPr>
          <p:cNvPr id="78" name="Text 76"/>
          <p:cNvSpPr txBox="1"/>
          <p:nvPr/>
        </p:nvSpPr>
        <p:spPr>
          <a:xfrm>
            <a:off x="8997696" y="4654296"/>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LV</a:t>
            </a:r>
            <a:endParaRPr lang="en-US" sz="1300" dirty="0"/>
          </a:p>
        </p:txBody>
      </p:sp>
      <p:sp>
        <p:nvSpPr>
          <p:cNvPr id="79" name="Text 77"/>
          <p:cNvSpPr txBox="1"/>
          <p:nvPr/>
        </p:nvSpPr>
        <p:spPr>
          <a:xfrm>
            <a:off x="8997696" y="4873752"/>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−2.9 pts</a:t>
            </a:r>
            <a:endParaRPr lang="en-US" sz="1600" dirty="0"/>
          </a:p>
        </p:txBody>
      </p:sp>
      <p:sp>
        <p:nvSpPr>
          <p:cNvPr id="80" name="Text 78"/>
          <p:cNvSpPr txBox="1"/>
          <p:nvPr/>
        </p:nvSpPr>
        <p:spPr>
          <a:xfrm>
            <a:off x="8997696" y="5184648"/>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81" name="Text 79"/>
          <p:cNvSpPr txBox="1"/>
          <p:nvPr/>
        </p:nvSpPr>
        <p:spPr>
          <a:xfrm>
            <a:off x="8997696" y="5404104"/>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−3.6 pts</a:t>
            </a:r>
            <a:endParaRPr lang="en-US" sz="1600" dirty="0"/>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Biggest Movers This Year: Customer Pay</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80160"/>
            <a:ext cx="10762488" cy="2560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and bottom three stores on each measure, Q3 2026 vs Q1 2026. Group change = the season.</a:t>
            </a:r>
            <a:endParaRPr lang="en-US" sz="1400" dirty="0"/>
          </a:p>
        </p:txBody>
      </p:sp>
      <p:sp>
        <p:nvSpPr>
          <p:cNvPr id="7" name="Shape 5"/>
          <p:cNvSpPr/>
          <p:nvPr/>
        </p:nvSpPr>
        <p:spPr>
          <a:xfrm>
            <a:off x="621792" y="2331720"/>
            <a:ext cx="45720" cy="1591056"/>
          </a:xfrm>
          <a:prstGeom prst="rect">
            <a:avLst/>
          </a:prstGeom>
          <a:solidFill>
            <a:srgbClr val="12A566"/>
          </a:solidFill>
          <a:ln/>
        </p:spPr>
      </p:sp>
      <p:sp>
        <p:nvSpPr>
          <p:cNvPr id="8" name="Shape 6"/>
          <p:cNvSpPr/>
          <p:nvPr/>
        </p:nvSpPr>
        <p:spPr>
          <a:xfrm>
            <a:off x="685800" y="2331720"/>
            <a:ext cx="10881360" cy="530352"/>
          </a:xfrm>
          <a:prstGeom prst="rect">
            <a:avLst/>
          </a:prstGeom>
          <a:solidFill>
            <a:srgbClr val="F7F7F7"/>
          </a:solidFill>
          <a:ln/>
        </p:spPr>
      </p:sp>
      <p:sp>
        <p:nvSpPr>
          <p:cNvPr id="9" name="Text 7"/>
          <p:cNvSpPr txBox="1"/>
          <p:nvPr/>
        </p:nvSpPr>
        <p:spPr>
          <a:xfrm>
            <a:off x="676656" y="2331720"/>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1</a:t>
            </a:r>
            <a:endParaRPr lang="en-US" sz="1600" dirty="0"/>
          </a:p>
        </p:txBody>
      </p:sp>
      <p:sp>
        <p:nvSpPr>
          <p:cNvPr id="10" name="Text 8"/>
          <p:cNvSpPr txBox="1"/>
          <p:nvPr/>
        </p:nvSpPr>
        <p:spPr>
          <a:xfrm>
            <a:off x="676656" y="2862072"/>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11" name="Shape 9"/>
          <p:cNvSpPr/>
          <p:nvPr/>
        </p:nvSpPr>
        <p:spPr>
          <a:xfrm>
            <a:off x="685800" y="3392424"/>
            <a:ext cx="10881360" cy="530352"/>
          </a:xfrm>
          <a:prstGeom prst="rect">
            <a:avLst/>
          </a:prstGeom>
          <a:solidFill>
            <a:srgbClr val="F7F7F7"/>
          </a:solidFill>
          <a:ln/>
        </p:spPr>
      </p:sp>
      <p:sp>
        <p:nvSpPr>
          <p:cNvPr id="12" name="Text 10"/>
          <p:cNvSpPr txBox="1"/>
          <p:nvPr/>
        </p:nvSpPr>
        <p:spPr>
          <a:xfrm>
            <a:off x="676656" y="3392424"/>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13" name="Shape 11"/>
          <p:cNvSpPr/>
          <p:nvPr/>
        </p:nvSpPr>
        <p:spPr>
          <a:xfrm>
            <a:off x="621792" y="4078224"/>
            <a:ext cx="45720" cy="1591056"/>
          </a:xfrm>
          <a:prstGeom prst="rect">
            <a:avLst/>
          </a:prstGeom>
          <a:solidFill>
            <a:srgbClr val="C2352F"/>
          </a:solidFill>
          <a:ln/>
        </p:spPr>
      </p:sp>
      <p:sp>
        <p:nvSpPr>
          <p:cNvPr id="14" name="Shape 12"/>
          <p:cNvSpPr/>
          <p:nvPr/>
        </p:nvSpPr>
        <p:spPr>
          <a:xfrm>
            <a:off x="685800" y="4078224"/>
            <a:ext cx="10881360" cy="530352"/>
          </a:xfrm>
          <a:prstGeom prst="rect">
            <a:avLst/>
          </a:prstGeom>
          <a:solidFill>
            <a:srgbClr val="F7F7F7"/>
          </a:solidFill>
          <a:ln/>
        </p:spPr>
      </p:sp>
      <p:sp>
        <p:nvSpPr>
          <p:cNvPr id="15" name="Text 13"/>
          <p:cNvSpPr txBox="1"/>
          <p:nvPr/>
        </p:nvSpPr>
        <p:spPr>
          <a:xfrm>
            <a:off x="676656" y="4078224"/>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16" name="Text 14"/>
          <p:cNvSpPr txBox="1"/>
          <p:nvPr/>
        </p:nvSpPr>
        <p:spPr>
          <a:xfrm>
            <a:off x="676656" y="4608576"/>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32</a:t>
            </a:r>
            <a:endParaRPr lang="en-US" sz="1600" dirty="0"/>
          </a:p>
        </p:txBody>
      </p:sp>
      <p:sp>
        <p:nvSpPr>
          <p:cNvPr id="17" name="Shape 15"/>
          <p:cNvSpPr/>
          <p:nvPr/>
        </p:nvSpPr>
        <p:spPr>
          <a:xfrm>
            <a:off x="685800" y="5138928"/>
            <a:ext cx="10881360" cy="530352"/>
          </a:xfrm>
          <a:prstGeom prst="rect">
            <a:avLst/>
          </a:prstGeom>
          <a:solidFill>
            <a:srgbClr val="F7F7F7"/>
          </a:solidFill>
          <a:ln/>
        </p:spPr>
      </p:sp>
      <p:sp>
        <p:nvSpPr>
          <p:cNvPr id="18" name="Text 16"/>
          <p:cNvSpPr txBox="1"/>
          <p:nvPr/>
        </p:nvSpPr>
        <p:spPr>
          <a:xfrm>
            <a:off x="676656" y="5138928"/>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33</a:t>
            </a:r>
            <a:endParaRPr lang="en-US" sz="1600" dirty="0"/>
          </a:p>
        </p:txBody>
      </p:sp>
      <p:sp>
        <p:nvSpPr>
          <p:cNvPr id="19" name="Shape 17"/>
          <p:cNvSpPr/>
          <p:nvPr/>
        </p:nvSpPr>
        <p:spPr>
          <a:xfrm>
            <a:off x="3044952" y="1691640"/>
            <a:ext cx="10973" cy="3977640"/>
          </a:xfrm>
          <a:prstGeom prst="rect">
            <a:avLst/>
          </a:prstGeom>
          <a:solidFill>
            <a:srgbClr val="D9D9D9"/>
          </a:solidFill>
          <a:ln/>
        </p:spPr>
      </p:sp>
      <p:sp>
        <p:nvSpPr>
          <p:cNvPr id="20" name="Shape 18"/>
          <p:cNvSpPr/>
          <p:nvPr/>
        </p:nvSpPr>
        <p:spPr>
          <a:xfrm>
            <a:off x="5180990" y="1691640"/>
            <a:ext cx="10973" cy="3977640"/>
          </a:xfrm>
          <a:prstGeom prst="rect">
            <a:avLst/>
          </a:prstGeom>
          <a:solidFill>
            <a:srgbClr val="D9D9D9"/>
          </a:solidFill>
          <a:ln/>
        </p:spPr>
      </p:sp>
      <p:sp>
        <p:nvSpPr>
          <p:cNvPr id="21" name="Shape 19"/>
          <p:cNvSpPr/>
          <p:nvPr/>
        </p:nvSpPr>
        <p:spPr>
          <a:xfrm>
            <a:off x="7317029" y="1691640"/>
            <a:ext cx="10973" cy="3977640"/>
          </a:xfrm>
          <a:prstGeom prst="rect">
            <a:avLst/>
          </a:prstGeom>
          <a:solidFill>
            <a:srgbClr val="D9D9D9"/>
          </a:solidFill>
          <a:ln/>
        </p:spPr>
      </p:sp>
      <p:sp>
        <p:nvSpPr>
          <p:cNvPr id="22" name="Shape 20"/>
          <p:cNvSpPr/>
          <p:nvPr/>
        </p:nvSpPr>
        <p:spPr>
          <a:xfrm>
            <a:off x="9453067" y="1691640"/>
            <a:ext cx="10973" cy="3977640"/>
          </a:xfrm>
          <a:prstGeom prst="rect">
            <a:avLst/>
          </a:prstGeom>
          <a:solidFill>
            <a:srgbClr val="D9D9D9"/>
          </a:solidFill>
          <a:ln/>
        </p:spPr>
      </p:sp>
      <p:sp>
        <p:nvSpPr>
          <p:cNvPr id="23" name="Shape 21"/>
          <p:cNvSpPr/>
          <p:nvPr/>
        </p:nvSpPr>
        <p:spPr>
          <a:xfrm>
            <a:off x="969264" y="1691640"/>
            <a:ext cx="2026310" cy="45720"/>
          </a:xfrm>
          <a:prstGeom prst="rect">
            <a:avLst/>
          </a:prstGeom>
          <a:solidFill>
            <a:srgbClr val="12A566"/>
          </a:solidFill>
          <a:ln/>
        </p:spPr>
      </p:sp>
      <p:sp>
        <p:nvSpPr>
          <p:cNvPr id="24" name="Text 22"/>
          <p:cNvSpPr txBox="1"/>
          <p:nvPr/>
        </p:nvSpPr>
        <p:spPr>
          <a:xfrm>
            <a:off x="987552"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GROSS</a:t>
            </a:r>
            <a:endParaRPr lang="en-US" sz="1300" dirty="0"/>
          </a:p>
        </p:txBody>
      </p:sp>
      <p:sp>
        <p:nvSpPr>
          <p:cNvPr id="25" name="Text 23"/>
          <p:cNvSpPr txBox="1"/>
          <p:nvPr/>
        </p:nvSpPr>
        <p:spPr>
          <a:xfrm>
            <a:off x="987552"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+8.4%</a:t>
            </a:r>
            <a:endParaRPr lang="en-US" sz="1300" dirty="0"/>
          </a:p>
        </p:txBody>
      </p:sp>
      <p:sp>
        <p:nvSpPr>
          <p:cNvPr id="26" name="Text 24"/>
          <p:cNvSpPr txBox="1"/>
          <p:nvPr/>
        </p:nvSpPr>
        <p:spPr>
          <a:xfrm>
            <a:off x="987552"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27" name="Text 25"/>
          <p:cNvSpPr txBox="1"/>
          <p:nvPr/>
        </p:nvSpPr>
        <p:spPr>
          <a:xfrm>
            <a:off x="987552"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+34.6%</a:t>
            </a:r>
            <a:endParaRPr lang="en-US" sz="1600" dirty="0"/>
          </a:p>
        </p:txBody>
      </p:sp>
      <p:sp>
        <p:nvSpPr>
          <p:cNvPr id="28" name="Text 26"/>
          <p:cNvSpPr txBox="1"/>
          <p:nvPr/>
        </p:nvSpPr>
        <p:spPr>
          <a:xfrm>
            <a:off x="987552"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29" name="Text 27"/>
          <p:cNvSpPr txBox="1"/>
          <p:nvPr/>
        </p:nvSpPr>
        <p:spPr>
          <a:xfrm>
            <a:off x="987552"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30" name="Text 28"/>
          <p:cNvSpPr txBox="1"/>
          <p:nvPr/>
        </p:nvSpPr>
        <p:spPr>
          <a:xfrm>
            <a:off x="987552"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CDJR Post Falls</a:t>
            </a:r>
            <a:endParaRPr lang="en-US" sz="1300" dirty="0"/>
          </a:p>
        </p:txBody>
      </p:sp>
      <p:sp>
        <p:nvSpPr>
          <p:cNvPr id="31" name="Text 29"/>
          <p:cNvSpPr txBox="1"/>
          <p:nvPr/>
        </p:nvSpPr>
        <p:spPr>
          <a:xfrm>
            <a:off x="987552"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+27.8%</a:t>
            </a:r>
            <a:endParaRPr lang="en-US" sz="1600" dirty="0"/>
          </a:p>
        </p:txBody>
      </p:sp>
      <p:sp>
        <p:nvSpPr>
          <p:cNvPr id="32" name="Text 30"/>
          <p:cNvSpPr txBox="1"/>
          <p:nvPr/>
        </p:nvSpPr>
        <p:spPr>
          <a:xfrm>
            <a:off x="987552"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3" name="Text 31"/>
          <p:cNvSpPr txBox="1"/>
          <p:nvPr/>
        </p:nvSpPr>
        <p:spPr>
          <a:xfrm>
            <a:off x="987552"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a:t>
            </a:r>
            <a:endParaRPr lang="en-US" sz="1600" dirty="0"/>
          </a:p>
        </p:txBody>
      </p:sp>
      <p:sp>
        <p:nvSpPr>
          <p:cNvPr id="34" name="Text 32"/>
          <p:cNvSpPr txBox="1"/>
          <p:nvPr/>
        </p:nvSpPr>
        <p:spPr>
          <a:xfrm>
            <a:off x="987552"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35" name="Text 33"/>
          <p:cNvSpPr txBox="1"/>
          <p:nvPr/>
        </p:nvSpPr>
        <p:spPr>
          <a:xfrm>
            <a:off x="987552"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−2.1%</a:t>
            </a:r>
            <a:endParaRPr lang="en-US" sz="1600" dirty="0"/>
          </a:p>
        </p:txBody>
      </p:sp>
      <p:sp>
        <p:nvSpPr>
          <p:cNvPr id="36" name="Text 34"/>
          <p:cNvSpPr txBox="1"/>
          <p:nvPr/>
        </p:nvSpPr>
        <p:spPr>
          <a:xfrm>
            <a:off x="987552"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37" name="Text 35"/>
          <p:cNvSpPr txBox="1"/>
          <p:nvPr/>
        </p:nvSpPr>
        <p:spPr>
          <a:xfrm>
            <a:off x="987552"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−10.7%</a:t>
            </a:r>
            <a:endParaRPr lang="en-US" sz="1600" dirty="0"/>
          </a:p>
        </p:txBody>
      </p:sp>
      <p:sp>
        <p:nvSpPr>
          <p:cNvPr id="38" name="Shape 36"/>
          <p:cNvSpPr/>
          <p:nvPr/>
        </p:nvSpPr>
        <p:spPr>
          <a:xfrm>
            <a:off x="3105302" y="1691640"/>
            <a:ext cx="2026310" cy="45720"/>
          </a:xfrm>
          <a:prstGeom prst="rect">
            <a:avLst/>
          </a:prstGeom>
          <a:solidFill>
            <a:srgbClr val="12A566"/>
          </a:solidFill>
          <a:ln/>
        </p:spPr>
      </p:sp>
      <p:sp>
        <p:nvSpPr>
          <p:cNvPr id="39" name="Text 37"/>
          <p:cNvSpPr txBox="1"/>
          <p:nvPr/>
        </p:nvSpPr>
        <p:spPr>
          <a:xfrm>
            <a:off x="3123590"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ROS</a:t>
            </a:r>
            <a:endParaRPr lang="en-US" sz="1300" dirty="0"/>
          </a:p>
        </p:txBody>
      </p:sp>
      <p:sp>
        <p:nvSpPr>
          <p:cNvPr id="40" name="Text 38"/>
          <p:cNvSpPr txBox="1"/>
          <p:nvPr/>
        </p:nvSpPr>
        <p:spPr>
          <a:xfrm>
            <a:off x="3123590"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+7.5%</a:t>
            </a:r>
            <a:endParaRPr lang="en-US" sz="1300" dirty="0"/>
          </a:p>
        </p:txBody>
      </p:sp>
      <p:sp>
        <p:nvSpPr>
          <p:cNvPr id="41" name="Text 39"/>
          <p:cNvSpPr txBox="1"/>
          <p:nvPr/>
        </p:nvSpPr>
        <p:spPr>
          <a:xfrm>
            <a:off x="3123590"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42" name="Text 40"/>
          <p:cNvSpPr txBox="1"/>
          <p:nvPr/>
        </p:nvSpPr>
        <p:spPr>
          <a:xfrm>
            <a:off x="3123590"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+34.0%</a:t>
            </a:r>
            <a:endParaRPr lang="en-US" sz="1600" dirty="0"/>
          </a:p>
        </p:txBody>
      </p:sp>
      <p:sp>
        <p:nvSpPr>
          <p:cNvPr id="43" name="Text 41"/>
          <p:cNvSpPr txBox="1"/>
          <p:nvPr/>
        </p:nvSpPr>
        <p:spPr>
          <a:xfrm>
            <a:off x="3123590"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CDJR Post Falls</a:t>
            </a:r>
            <a:endParaRPr lang="en-US" sz="1300" dirty="0"/>
          </a:p>
        </p:txBody>
      </p:sp>
      <p:sp>
        <p:nvSpPr>
          <p:cNvPr id="44" name="Text 42"/>
          <p:cNvSpPr txBox="1"/>
          <p:nvPr/>
        </p:nvSpPr>
        <p:spPr>
          <a:xfrm>
            <a:off x="3123590"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+22.8%</a:t>
            </a:r>
            <a:endParaRPr lang="en-US" sz="1600" dirty="0"/>
          </a:p>
        </p:txBody>
      </p:sp>
      <p:sp>
        <p:nvSpPr>
          <p:cNvPr id="45" name="Text 43"/>
          <p:cNvSpPr txBox="1"/>
          <p:nvPr/>
        </p:nvSpPr>
        <p:spPr>
          <a:xfrm>
            <a:off x="3123590"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LR LV</a:t>
            </a:r>
            <a:endParaRPr lang="en-US" sz="1300" dirty="0"/>
          </a:p>
        </p:txBody>
      </p:sp>
      <p:sp>
        <p:nvSpPr>
          <p:cNvPr id="46" name="Text 44"/>
          <p:cNvSpPr txBox="1"/>
          <p:nvPr/>
        </p:nvSpPr>
        <p:spPr>
          <a:xfrm>
            <a:off x="3123590"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+18.7%</a:t>
            </a:r>
            <a:endParaRPr lang="en-US" sz="1600" dirty="0"/>
          </a:p>
        </p:txBody>
      </p:sp>
      <p:sp>
        <p:nvSpPr>
          <p:cNvPr id="47" name="Text 45"/>
          <p:cNvSpPr txBox="1"/>
          <p:nvPr/>
        </p:nvSpPr>
        <p:spPr>
          <a:xfrm>
            <a:off x="3123590"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48" name="Text 46"/>
          <p:cNvSpPr txBox="1"/>
          <p:nvPr/>
        </p:nvSpPr>
        <p:spPr>
          <a:xfrm>
            <a:off x="3123590"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−2.1%</a:t>
            </a:r>
            <a:endParaRPr lang="en-US" sz="1600" dirty="0"/>
          </a:p>
        </p:txBody>
      </p:sp>
      <p:sp>
        <p:nvSpPr>
          <p:cNvPr id="49" name="Text 47"/>
          <p:cNvSpPr txBox="1"/>
          <p:nvPr/>
        </p:nvSpPr>
        <p:spPr>
          <a:xfrm>
            <a:off x="3123590"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0" name="Text 48"/>
          <p:cNvSpPr txBox="1"/>
          <p:nvPr/>
        </p:nvSpPr>
        <p:spPr>
          <a:xfrm>
            <a:off x="3123590"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51" name="Text 49"/>
          <p:cNvSpPr txBox="1"/>
          <p:nvPr/>
        </p:nvSpPr>
        <p:spPr>
          <a:xfrm>
            <a:off x="3123590"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52" name="Text 50"/>
          <p:cNvSpPr txBox="1"/>
          <p:nvPr/>
        </p:nvSpPr>
        <p:spPr>
          <a:xfrm>
            <a:off x="3123590"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−4.4%</a:t>
            </a:r>
            <a:endParaRPr lang="en-US" sz="1600" dirty="0"/>
          </a:p>
        </p:txBody>
      </p:sp>
      <p:sp>
        <p:nvSpPr>
          <p:cNvPr id="53" name="Shape 51"/>
          <p:cNvSpPr/>
          <p:nvPr/>
        </p:nvSpPr>
        <p:spPr>
          <a:xfrm>
            <a:off x="5241341" y="1691640"/>
            <a:ext cx="2026310" cy="45720"/>
          </a:xfrm>
          <a:prstGeom prst="rect">
            <a:avLst/>
          </a:prstGeom>
          <a:solidFill>
            <a:srgbClr val="12A566"/>
          </a:solidFill>
          <a:ln/>
        </p:spPr>
      </p:sp>
      <p:sp>
        <p:nvSpPr>
          <p:cNvPr id="54" name="Text 52"/>
          <p:cNvSpPr txBox="1"/>
          <p:nvPr/>
        </p:nvSpPr>
        <p:spPr>
          <a:xfrm>
            <a:off x="5259629"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HOURS PER RO</a:t>
            </a:r>
            <a:endParaRPr lang="en-US" sz="1300" dirty="0"/>
          </a:p>
        </p:txBody>
      </p:sp>
      <p:sp>
        <p:nvSpPr>
          <p:cNvPr id="55" name="Text 53"/>
          <p:cNvSpPr txBox="1"/>
          <p:nvPr/>
        </p:nvSpPr>
        <p:spPr>
          <a:xfrm>
            <a:off x="5259629"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−1.9%</a:t>
            </a:r>
            <a:endParaRPr lang="en-US" sz="1300" dirty="0"/>
          </a:p>
        </p:txBody>
      </p:sp>
      <p:sp>
        <p:nvSpPr>
          <p:cNvPr id="56" name="Text 54"/>
          <p:cNvSpPr txBox="1"/>
          <p:nvPr/>
        </p:nvSpPr>
        <p:spPr>
          <a:xfrm>
            <a:off x="5259629"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57" name="Text 55"/>
          <p:cNvSpPr txBox="1"/>
          <p:nvPr/>
        </p:nvSpPr>
        <p:spPr>
          <a:xfrm>
            <a:off x="5259629"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+22.2%</a:t>
            </a:r>
            <a:endParaRPr lang="en-US" sz="1600" dirty="0"/>
          </a:p>
        </p:txBody>
      </p:sp>
      <p:sp>
        <p:nvSpPr>
          <p:cNvPr id="58" name="Text 56"/>
          <p:cNvSpPr txBox="1"/>
          <p:nvPr/>
        </p:nvSpPr>
        <p:spPr>
          <a:xfrm>
            <a:off x="5259629"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59" name="Text 57"/>
          <p:cNvSpPr txBox="1"/>
          <p:nvPr/>
        </p:nvSpPr>
        <p:spPr>
          <a:xfrm>
            <a:off x="5259629"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+13.2%</a:t>
            </a:r>
            <a:endParaRPr lang="en-US" sz="1600" dirty="0"/>
          </a:p>
        </p:txBody>
      </p:sp>
      <p:sp>
        <p:nvSpPr>
          <p:cNvPr id="60" name="Text 58"/>
          <p:cNvSpPr txBox="1"/>
          <p:nvPr/>
        </p:nvSpPr>
        <p:spPr>
          <a:xfrm>
            <a:off x="5259629"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61" name="Text 59"/>
          <p:cNvSpPr txBox="1"/>
          <p:nvPr/>
        </p:nvSpPr>
        <p:spPr>
          <a:xfrm>
            <a:off x="5259629"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+12.2%</a:t>
            </a:r>
            <a:endParaRPr lang="en-US" sz="1600" dirty="0"/>
          </a:p>
        </p:txBody>
      </p:sp>
      <p:sp>
        <p:nvSpPr>
          <p:cNvPr id="62" name="Text 60"/>
          <p:cNvSpPr txBox="1"/>
          <p:nvPr/>
        </p:nvSpPr>
        <p:spPr>
          <a:xfrm>
            <a:off x="5259629"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63" name="Text 61"/>
          <p:cNvSpPr txBox="1"/>
          <p:nvPr/>
        </p:nvSpPr>
        <p:spPr>
          <a:xfrm>
            <a:off x="5259629"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−10.0%</a:t>
            </a:r>
            <a:endParaRPr lang="en-US" sz="1600" dirty="0"/>
          </a:p>
        </p:txBody>
      </p:sp>
      <p:sp>
        <p:nvSpPr>
          <p:cNvPr id="64" name="Text 62"/>
          <p:cNvSpPr txBox="1"/>
          <p:nvPr/>
        </p:nvSpPr>
        <p:spPr>
          <a:xfrm>
            <a:off x="5259629"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Henderson</a:t>
            </a:r>
            <a:endParaRPr lang="en-US" sz="1300" dirty="0"/>
          </a:p>
        </p:txBody>
      </p:sp>
      <p:sp>
        <p:nvSpPr>
          <p:cNvPr id="65" name="Text 63"/>
          <p:cNvSpPr txBox="1"/>
          <p:nvPr/>
        </p:nvSpPr>
        <p:spPr>
          <a:xfrm>
            <a:off x="5259629"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−10.7%</a:t>
            </a:r>
            <a:endParaRPr lang="en-US" sz="1600" dirty="0"/>
          </a:p>
        </p:txBody>
      </p:sp>
      <p:sp>
        <p:nvSpPr>
          <p:cNvPr id="66" name="Text 64"/>
          <p:cNvSpPr txBox="1"/>
          <p:nvPr/>
        </p:nvSpPr>
        <p:spPr>
          <a:xfrm>
            <a:off x="5259629"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67" name="Text 65"/>
          <p:cNvSpPr txBox="1"/>
          <p:nvPr/>
        </p:nvSpPr>
        <p:spPr>
          <a:xfrm>
            <a:off x="5259629"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−14.1%</a:t>
            </a:r>
            <a:endParaRPr lang="en-US" sz="1600" dirty="0"/>
          </a:p>
        </p:txBody>
      </p:sp>
      <p:sp>
        <p:nvSpPr>
          <p:cNvPr id="68" name="Shape 66"/>
          <p:cNvSpPr/>
          <p:nvPr/>
        </p:nvSpPr>
        <p:spPr>
          <a:xfrm>
            <a:off x="7377379" y="1691640"/>
            <a:ext cx="2026310" cy="45720"/>
          </a:xfrm>
          <a:prstGeom prst="rect">
            <a:avLst/>
          </a:prstGeom>
          <a:solidFill>
            <a:srgbClr val="12A566"/>
          </a:solidFill>
          <a:ln/>
        </p:spPr>
      </p:sp>
      <p:sp>
        <p:nvSpPr>
          <p:cNvPr id="69" name="Text 67"/>
          <p:cNvSpPr txBox="1"/>
          <p:nvPr/>
        </p:nvSpPr>
        <p:spPr>
          <a:xfrm>
            <a:off x="7395667"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ELR</a:t>
            </a:r>
            <a:endParaRPr lang="en-US" sz="1300" dirty="0"/>
          </a:p>
        </p:txBody>
      </p:sp>
      <p:sp>
        <p:nvSpPr>
          <p:cNvPr id="70" name="Text 68"/>
          <p:cNvSpPr txBox="1"/>
          <p:nvPr/>
        </p:nvSpPr>
        <p:spPr>
          <a:xfrm>
            <a:off x="7395667"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+1.1%</a:t>
            </a:r>
            <a:endParaRPr lang="en-US" sz="1300" dirty="0"/>
          </a:p>
        </p:txBody>
      </p:sp>
      <p:sp>
        <p:nvSpPr>
          <p:cNvPr id="71" name="Text 69"/>
          <p:cNvSpPr txBox="1"/>
          <p:nvPr/>
        </p:nvSpPr>
        <p:spPr>
          <a:xfrm>
            <a:off x="7395667"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72" name="Text 70"/>
          <p:cNvSpPr txBox="1"/>
          <p:nvPr/>
        </p:nvSpPr>
        <p:spPr>
          <a:xfrm>
            <a:off x="7395667"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73" name="Text 71"/>
          <p:cNvSpPr txBox="1"/>
          <p:nvPr/>
        </p:nvSpPr>
        <p:spPr>
          <a:xfrm>
            <a:off x="7395667"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74" name="Text 72"/>
          <p:cNvSpPr txBox="1"/>
          <p:nvPr/>
        </p:nvSpPr>
        <p:spPr>
          <a:xfrm>
            <a:off x="7395667"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+7.4%</a:t>
            </a:r>
            <a:endParaRPr lang="en-US" sz="1600" dirty="0"/>
          </a:p>
        </p:txBody>
      </p:sp>
      <p:sp>
        <p:nvSpPr>
          <p:cNvPr id="75" name="Text 73"/>
          <p:cNvSpPr txBox="1"/>
          <p:nvPr/>
        </p:nvSpPr>
        <p:spPr>
          <a:xfrm>
            <a:off x="7395667"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Spokane</a:t>
            </a:r>
            <a:endParaRPr lang="en-US" sz="1300" dirty="0"/>
          </a:p>
        </p:txBody>
      </p:sp>
      <p:sp>
        <p:nvSpPr>
          <p:cNvPr id="76" name="Text 74"/>
          <p:cNvSpPr txBox="1"/>
          <p:nvPr/>
        </p:nvSpPr>
        <p:spPr>
          <a:xfrm>
            <a:off x="7395667"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77" name="Text 75"/>
          <p:cNvSpPr txBox="1"/>
          <p:nvPr/>
        </p:nvSpPr>
        <p:spPr>
          <a:xfrm>
            <a:off x="7395667"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8" name="Text 76"/>
          <p:cNvSpPr txBox="1"/>
          <p:nvPr/>
        </p:nvSpPr>
        <p:spPr>
          <a:xfrm>
            <a:off x="7395667"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79" name="Text 77"/>
          <p:cNvSpPr txBox="1"/>
          <p:nvPr/>
        </p:nvSpPr>
        <p:spPr>
          <a:xfrm>
            <a:off x="7395667"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80" name="Text 78"/>
          <p:cNvSpPr txBox="1"/>
          <p:nvPr/>
        </p:nvSpPr>
        <p:spPr>
          <a:xfrm>
            <a:off x="7395667"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−4.8%</a:t>
            </a:r>
            <a:endParaRPr lang="en-US" sz="1600" dirty="0"/>
          </a:p>
        </p:txBody>
      </p:sp>
      <p:sp>
        <p:nvSpPr>
          <p:cNvPr id="81" name="Text 79"/>
          <p:cNvSpPr txBox="1"/>
          <p:nvPr/>
        </p:nvSpPr>
        <p:spPr>
          <a:xfrm>
            <a:off x="7395667"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82" name="Text 80"/>
          <p:cNvSpPr txBox="1"/>
          <p:nvPr/>
        </p:nvSpPr>
        <p:spPr>
          <a:xfrm>
            <a:off x="7395667"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83" name="Shape 81"/>
          <p:cNvSpPr/>
          <p:nvPr/>
        </p:nvSpPr>
        <p:spPr>
          <a:xfrm>
            <a:off x="9513418" y="1691640"/>
            <a:ext cx="2026310" cy="45720"/>
          </a:xfrm>
          <a:prstGeom prst="rect">
            <a:avLst/>
          </a:prstGeom>
          <a:solidFill>
            <a:srgbClr val="12A566"/>
          </a:solidFill>
          <a:ln/>
        </p:spPr>
      </p:sp>
      <p:sp>
        <p:nvSpPr>
          <p:cNvPr id="84" name="Text 82"/>
          <p:cNvSpPr txBox="1"/>
          <p:nvPr/>
        </p:nvSpPr>
        <p:spPr>
          <a:xfrm>
            <a:off x="9531706"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LABOR $ PER RO</a:t>
            </a:r>
            <a:endParaRPr lang="en-US" sz="1300" dirty="0"/>
          </a:p>
        </p:txBody>
      </p:sp>
      <p:sp>
        <p:nvSpPr>
          <p:cNvPr id="85" name="Text 83"/>
          <p:cNvSpPr txBox="1"/>
          <p:nvPr/>
        </p:nvSpPr>
        <p:spPr>
          <a:xfrm>
            <a:off x="9531706"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−0.8%</a:t>
            </a:r>
            <a:endParaRPr lang="en-US" sz="1300" dirty="0"/>
          </a:p>
        </p:txBody>
      </p:sp>
      <p:sp>
        <p:nvSpPr>
          <p:cNvPr id="86" name="Text 84"/>
          <p:cNvSpPr txBox="1"/>
          <p:nvPr/>
        </p:nvSpPr>
        <p:spPr>
          <a:xfrm>
            <a:off x="9531706"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87" name="Text 85"/>
          <p:cNvSpPr txBox="1"/>
          <p:nvPr/>
        </p:nvSpPr>
        <p:spPr>
          <a:xfrm>
            <a:off x="9531706"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+21.8%</a:t>
            </a:r>
            <a:endParaRPr lang="en-US" sz="1600" dirty="0"/>
          </a:p>
        </p:txBody>
      </p:sp>
      <p:sp>
        <p:nvSpPr>
          <p:cNvPr id="88" name="Text 86"/>
          <p:cNvSpPr txBox="1"/>
          <p:nvPr/>
        </p:nvSpPr>
        <p:spPr>
          <a:xfrm>
            <a:off x="9531706"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89" name="Text 87"/>
          <p:cNvSpPr txBox="1"/>
          <p:nvPr/>
        </p:nvSpPr>
        <p:spPr>
          <a:xfrm>
            <a:off x="9531706"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+17.4%</a:t>
            </a:r>
            <a:endParaRPr lang="en-US" sz="1600" dirty="0"/>
          </a:p>
        </p:txBody>
      </p:sp>
      <p:sp>
        <p:nvSpPr>
          <p:cNvPr id="90" name="Text 88"/>
          <p:cNvSpPr txBox="1"/>
          <p:nvPr/>
        </p:nvSpPr>
        <p:spPr>
          <a:xfrm>
            <a:off x="9531706"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91" name="Text 89"/>
          <p:cNvSpPr txBox="1"/>
          <p:nvPr/>
        </p:nvSpPr>
        <p:spPr>
          <a:xfrm>
            <a:off x="9531706"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+16.3%</a:t>
            </a:r>
            <a:endParaRPr lang="en-US" sz="1600" dirty="0"/>
          </a:p>
        </p:txBody>
      </p:sp>
      <p:sp>
        <p:nvSpPr>
          <p:cNvPr id="92" name="Text 90"/>
          <p:cNvSpPr txBox="1"/>
          <p:nvPr/>
        </p:nvSpPr>
        <p:spPr>
          <a:xfrm>
            <a:off x="9531706"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93" name="Text 91"/>
          <p:cNvSpPr txBox="1"/>
          <p:nvPr/>
        </p:nvSpPr>
        <p:spPr>
          <a:xfrm>
            <a:off x="9531706"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−11.1%</a:t>
            </a:r>
            <a:endParaRPr lang="en-US" sz="1600" dirty="0"/>
          </a:p>
        </p:txBody>
      </p:sp>
      <p:sp>
        <p:nvSpPr>
          <p:cNvPr id="94" name="Text 92"/>
          <p:cNvSpPr txBox="1"/>
          <p:nvPr/>
        </p:nvSpPr>
        <p:spPr>
          <a:xfrm>
            <a:off x="9531706"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95" name="Text 93"/>
          <p:cNvSpPr txBox="1"/>
          <p:nvPr/>
        </p:nvSpPr>
        <p:spPr>
          <a:xfrm>
            <a:off x="9531706"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−11.7%</a:t>
            </a:r>
            <a:endParaRPr lang="en-US" sz="1600" dirty="0"/>
          </a:p>
        </p:txBody>
      </p:sp>
      <p:sp>
        <p:nvSpPr>
          <p:cNvPr id="96" name="Text 94"/>
          <p:cNvSpPr txBox="1"/>
          <p:nvPr/>
        </p:nvSpPr>
        <p:spPr>
          <a:xfrm>
            <a:off x="9531706"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7" name="Text 95"/>
          <p:cNvSpPr txBox="1"/>
          <p:nvPr/>
        </p:nvSpPr>
        <p:spPr>
          <a:xfrm>
            <a:off x="9531706"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−12.3%</a:t>
            </a:r>
            <a:endParaRPr lang="en-US" sz="1600" dirty="0"/>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Biggest Movers This Year: Profit and Process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713232" y="1280160"/>
            <a:ext cx="10762488" cy="2560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and bottom three stores on each measure, Q3 2026 vs Q1 2026. Group change = the season.</a:t>
            </a:r>
            <a:endParaRPr lang="en-US" sz="1400" dirty="0"/>
          </a:p>
        </p:txBody>
      </p:sp>
      <p:sp>
        <p:nvSpPr>
          <p:cNvPr id="7" name="Shape 5"/>
          <p:cNvSpPr/>
          <p:nvPr/>
        </p:nvSpPr>
        <p:spPr>
          <a:xfrm>
            <a:off x="621792" y="2331720"/>
            <a:ext cx="45720" cy="1591056"/>
          </a:xfrm>
          <a:prstGeom prst="rect">
            <a:avLst/>
          </a:prstGeom>
          <a:solidFill>
            <a:srgbClr val="12A566"/>
          </a:solidFill>
          <a:ln/>
        </p:spPr>
      </p:sp>
      <p:sp>
        <p:nvSpPr>
          <p:cNvPr id="8" name="Shape 6"/>
          <p:cNvSpPr/>
          <p:nvPr/>
        </p:nvSpPr>
        <p:spPr>
          <a:xfrm>
            <a:off x="685800" y="2331720"/>
            <a:ext cx="10881360" cy="530352"/>
          </a:xfrm>
          <a:prstGeom prst="rect">
            <a:avLst/>
          </a:prstGeom>
          <a:solidFill>
            <a:srgbClr val="F7F7F7"/>
          </a:solidFill>
          <a:ln/>
        </p:spPr>
      </p:sp>
      <p:sp>
        <p:nvSpPr>
          <p:cNvPr id="9" name="Text 7"/>
          <p:cNvSpPr txBox="1"/>
          <p:nvPr/>
        </p:nvSpPr>
        <p:spPr>
          <a:xfrm>
            <a:off x="676656" y="2331720"/>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1</a:t>
            </a:r>
            <a:endParaRPr lang="en-US" sz="1600" dirty="0"/>
          </a:p>
        </p:txBody>
      </p:sp>
      <p:sp>
        <p:nvSpPr>
          <p:cNvPr id="10" name="Text 8"/>
          <p:cNvSpPr txBox="1"/>
          <p:nvPr/>
        </p:nvSpPr>
        <p:spPr>
          <a:xfrm>
            <a:off x="676656" y="2862072"/>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11" name="Shape 9"/>
          <p:cNvSpPr/>
          <p:nvPr/>
        </p:nvSpPr>
        <p:spPr>
          <a:xfrm>
            <a:off x="685800" y="3392424"/>
            <a:ext cx="10881360" cy="530352"/>
          </a:xfrm>
          <a:prstGeom prst="rect">
            <a:avLst/>
          </a:prstGeom>
          <a:solidFill>
            <a:srgbClr val="F7F7F7"/>
          </a:solidFill>
          <a:ln/>
        </p:spPr>
      </p:sp>
      <p:sp>
        <p:nvSpPr>
          <p:cNvPr id="12" name="Text 10"/>
          <p:cNvSpPr txBox="1"/>
          <p:nvPr/>
        </p:nvSpPr>
        <p:spPr>
          <a:xfrm>
            <a:off x="676656" y="3392424"/>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13" name="Shape 11"/>
          <p:cNvSpPr/>
          <p:nvPr/>
        </p:nvSpPr>
        <p:spPr>
          <a:xfrm>
            <a:off x="621792" y="4078224"/>
            <a:ext cx="45720" cy="1591056"/>
          </a:xfrm>
          <a:prstGeom prst="rect">
            <a:avLst/>
          </a:prstGeom>
          <a:solidFill>
            <a:srgbClr val="C2352F"/>
          </a:solidFill>
          <a:ln/>
        </p:spPr>
      </p:sp>
      <p:sp>
        <p:nvSpPr>
          <p:cNvPr id="14" name="Shape 12"/>
          <p:cNvSpPr/>
          <p:nvPr/>
        </p:nvSpPr>
        <p:spPr>
          <a:xfrm>
            <a:off x="685800" y="4078224"/>
            <a:ext cx="10881360" cy="530352"/>
          </a:xfrm>
          <a:prstGeom prst="rect">
            <a:avLst/>
          </a:prstGeom>
          <a:solidFill>
            <a:srgbClr val="F7F7F7"/>
          </a:solidFill>
          <a:ln/>
        </p:spPr>
      </p:sp>
      <p:sp>
        <p:nvSpPr>
          <p:cNvPr id="15" name="Text 13"/>
          <p:cNvSpPr txBox="1"/>
          <p:nvPr/>
        </p:nvSpPr>
        <p:spPr>
          <a:xfrm>
            <a:off x="676656" y="4078224"/>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16" name="Text 14"/>
          <p:cNvSpPr txBox="1"/>
          <p:nvPr/>
        </p:nvSpPr>
        <p:spPr>
          <a:xfrm>
            <a:off x="676656" y="4608576"/>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32</a:t>
            </a:r>
            <a:endParaRPr lang="en-US" sz="1600" dirty="0"/>
          </a:p>
        </p:txBody>
      </p:sp>
      <p:sp>
        <p:nvSpPr>
          <p:cNvPr id="17" name="Shape 15"/>
          <p:cNvSpPr/>
          <p:nvPr/>
        </p:nvSpPr>
        <p:spPr>
          <a:xfrm>
            <a:off x="685800" y="5138928"/>
            <a:ext cx="10881360" cy="530352"/>
          </a:xfrm>
          <a:prstGeom prst="rect">
            <a:avLst/>
          </a:prstGeom>
          <a:solidFill>
            <a:srgbClr val="F7F7F7"/>
          </a:solidFill>
          <a:ln/>
        </p:spPr>
      </p:sp>
      <p:sp>
        <p:nvSpPr>
          <p:cNvPr id="18" name="Text 16"/>
          <p:cNvSpPr txBox="1"/>
          <p:nvPr/>
        </p:nvSpPr>
        <p:spPr>
          <a:xfrm>
            <a:off x="676656" y="5138928"/>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33</a:t>
            </a:r>
            <a:endParaRPr lang="en-US" sz="1600" dirty="0"/>
          </a:p>
        </p:txBody>
      </p:sp>
      <p:sp>
        <p:nvSpPr>
          <p:cNvPr id="19" name="Shape 17"/>
          <p:cNvSpPr/>
          <p:nvPr/>
        </p:nvSpPr>
        <p:spPr>
          <a:xfrm>
            <a:off x="3578962" y="1691640"/>
            <a:ext cx="10973" cy="3977640"/>
          </a:xfrm>
          <a:prstGeom prst="rect">
            <a:avLst/>
          </a:prstGeom>
          <a:solidFill>
            <a:srgbClr val="D9D9D9"/>
          </a:solidFill>
          <a:ln/>
        </p:spPr>
      </p:sp>
      <p:sp>
        <p:nvSpPr>
          <p:cNvPr id="20" name="Shape 18"/>
          <p:cNvSpPr/>
          <p:nvPr/>
        </p:nvSpPr>
        <p:spPr>
          <a:xfrm>
            <a:off x="6249010" y="1691640"/>
            <a:ext cx="10973" cy="3977640"/>
          </a:xfrm>
          <a:prstGeom prst="rect">
            <a:avLst/>
          </a:prstGeom>
          <a:solidFill>
            <a:srgbClr val="D9D9D9"/>
          </a:solidFill>
          <a:ln/>
        </p:spPr>
      </p:sp>
      <p:sp>
        <p:nvSpPr>
          <p:cNvPr id="21" name="Shape 19"/>
          <p:cNvSpPr/>
          <p:nvPr/>
        </p:nvSpPr>
        <p:spPr>
          <a:xfrm>
            <a:off x="8919058" y="1691640"/>
            <a:ext cx="10973" cy="3977640"/>
          </a:xfrm>
          <a:prstGeom prst="rect">
            <a:avLst/>
          </a:prstGeom>
          <a:solidFill>
            <a:srgbClr val="D9D9D9"/>
          </a:solidFill>
          <a:ln/>
        </p:spPr>
      </p:sp>
      <p:sp>
        <p:nvSpPr>
          <p:cNvPr id="22" name="Shape 20"/>
          <p:cNvSpPr/>
          <p:nvPr/>
        </p:nvSpPr>
        <p:spPr>
          <a:xfrm>
            <a:off x="969264" y="1691640"/>
            <a:ext cx="2560320" cy="45720"/>
          </a:xfrm>
          <a:prstGeom prst="rect">
            <a:avLst/>
          </a:prstGeom>
          <a:solidFill>
            <a:srgbClr val="12A566"/>
          </a:solidFill>
          <a:ln/>
        </p:spPr>
      </p:sp>
      <p:sp>
        <p:nvSpPr>
          <p:cNvPr id="23" name="Text 21"/>
          <p:cNvSpPr txBox="1"/>
          <p:nvPr/>
        </p:nvSpPr>
        <p:spPr>
          <a:xfrm>
            <a:off x="987552" y="1773936"/>
            <a:ext cx="252374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FIXED OPS NET PROFIT</a:t>
            </a:r>
            <a:endParaRPr lang="en-US" sz="1300" dirty="0"/>
          </a:p>
        </p:txBody>
      </p:sp>
      <p:sp>
        <p:nvSpPr>
          <p:cNvPr id="24" name="Text 22"/>
          <p:cNvSpPr txBox="1"/>
          <p:nvPr/>
        </p:nvSpPr>
        <p:spPr>
          <a:xfrm>
            <a:off x="987552" y="1993392"/>
            <a:ext cx="252374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+$1.05M</a:t>
            </a:r>
            <a:endParaRPr lang="en-US" sz="1300" dirty="0"/>
          </a:p>
        </p:txBody>
      </p:sp>
      <p:sp>
        <p:nvSpPr>
          <p:cNvPr id="25" name="Text 23"/>
          <p:cNvSpPr txBox="1"/>
          <p:nvPr/>
        </p:nvSpPr>
        <p:spPr>
          <a:xfrm>
            <a:off x="987552" y="2377440"/>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26" name="Text 24"/>
          <p:cNvSpPr txBox="1"/>
          <p:nvPr/>
        </p:nvSpPr>
        <p:spPr>
          <a:xfrm>
            <a:off x="987552" y="2596896"/>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27" name="Text 25"/>
          <p:cNvSpPr txBox="1"/>
          <p:nvPr/>
        </p:nvSpPr>
        <p:spPr>
          <a:xfrm>
            <a:off x="987552" y="2907792"/>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Toyota Henderson</a:t>
            </a:r>
            <a:endParaRPr lang="en-US" sz="1300" dirty="0"/>
          </a:p>
        </p:txBody>
      </p:sp>
      <p:sp>
        <p:nvSpPr>
          <p:cNvPr id="28" name="Text 26"/>
          <p:cNvSpPr txBox="1"/>
          <p:nvPr/>
        </p:nvSpPr>
        <p:spPr>
          <a:xfrm>
            <a:off x="987552" y="3127248"/>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29" name="Text 27"/>
          <p:cNvSpPr txBox="1"/>
          <p:nvPr/>
        </p:nvSpPr>
        <p:spPr>
          <a:xfrm>
            <a:off x="987552" y="34381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Chevy LV</a:t>
            </a:r>
            <a:endParaRPr lang="en-US" sz="1300" dirty="0"/>
          </a:p>
        </p:txBody>
      </p:sp>
      <p:sp>
        <p:nvSpPr>
          <p:cNvPr id="30" name="Text 28"/>
          <p:cNvSpPr txBox="1"/>
          <p:nvPr/>
        </p:nvSpPr>
        <p:spPr>
          <a:xfrm>
            <a:off x="987552" y="3657600"/>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31" name="Text 29"/>
          <p:cNvSpPr txBox="1"/>
          <p:nvPr/>
        </p:nvSpPr>
        <p:spPr>
          <a:xfrm>
            <a:off x="987552" y="41239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32" name="Text 30"/>
          <p:cNvSpPr txBox="1"/>
          <p:nvPr/>
        </p:nvSpPr>
        <p:spPr>
          <a:xfrm>
            <a:off x="987552" y="4343400"/>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−$25K</a:t>
            </a:r>
            <a:endParaRPr lang="en-US" sz="1600" dirty="0"/>
          </a:p>
        </p:txBody>
      </p:sp>
      <p:sp>
        <p:nvSpPr>
          <p:cNvPr id="33" name="Text 31"/>
          <p:cNvSpPr txBox="1"/>
          <p:nvPr/>
        </p:nvSpPr>
        <p:spPr>
          <a:xfrm>
            <a:off x="987552" y="4654296"/>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34" name="Text 32"/>
          <p:cNvSpPr txBox="1"/>
          <p:nvPr/>
        </p:nvSpPr>
        <p:spPr>
          <a:xfrm>
            <a:off x="987552" y="4873752"/>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−$30K</a:t>
            </a:r>
            <a:endParaRPr lang="en-US" sz="1600" dirty="0"/>
          </a:p>
        </p:txBody>
      </p:sp>
      <p:sp>
        <p:nvSpPr>
          <p:cNvPr id="35" name="Text 33"/>
          <p:cNvSpPr txBox="1"/>
          <p:nvPr/>
        </p:nvSpPr>
        <p:spPr>
          <a:xfrm>
            <a:off x="987552" y="5184648"/>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36" name="Text 34"/>
          <p:cNvSpPr txBox="1"/>
          <p:nvPr/>
        </p:nvSpPr>
        <p:spPr>
          <a:xfrm>
            <a:off x="987552" y="5404104"/>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−$61K</a:t>
            </a:r>
            <a:endParaRPr lang="en-US" sz="1600" dirty="0"/>
          </a:p>
        </p:txBody>
      </p:sp>
      <p:sp>
        <p:nvSpPr>
          <p:cNvPr id="37" name="Shape 35"/>
          <p:cNvSpPr/>
          <p:nvPr/>
        </p:nvSpPr>
        <p:spPr>
          <a:xfrm>
            <a:off x="3639312" y="1691640"/>
            <a:ext cx="2560320" cy="45720"/>
          </a:xfrm>
          <a:prstGeom prst="rect">
            <a:avLst/>
          </a:prstGeom>
          <a:solidFill>
            <a:srgbClr val="12A566"/>
          </a:solidFill>
          <a:ln/>
        </p:spPr>
      </p:sp>
      <p:sp>
        <p:nvSpPr>
          <p:cNvPr id="38" name="Text 36"/>
          <p:cNvSpPr txBox="1"/>
          <p:nvPr/>
        </p:nvSpPr>
        <p:spPr>
          <a:xfrm>
            <a:off x="3657600" y="1773936"/>
            <a:ext cx="252374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FIXED ABSORPTION</a:t>
            </a:r>
            <a:endParaRPr lang="en-US" sz="1300" dirty="0"/>
          </a:p>
        </p:txBody>
      </p:sp>
      <p:sp>
        <p:nvSpPr>
          <p:cNvPr id="39" name="Text 37"/>
          <p:cNvSpPr txBox="1"/>
          <p:nvPr/>
        </p:nvSpPr>
        <p:spPr>
          <a:xfrm>
            <a:off x="3657600" y="1993392"/>
            <a:ext cx="252374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+4.2 pts</a:t>
            </a:r>
            <a:endParaRPr lang="en-US" sz="1300" dirty="0"/>
          </a:p>
        </p:txBody>
      </p:sp>
      <p:sp>
        <p:nvSpPr>
          <p:cNvPr id="40" name="Text 38"/>
          <p:cNvSpPr txBox="1"/>
          <p:nvPr/>
        </p:nvSpPr>
        <p:spPr>
          <a:xfrm>
            <a:off x="3657600" y="2377440"/>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LR Henderson</a:t>
            </a:r>
            <a:endParaRPr lang="en-US" sz="1300" dirty="0"/>
          </a:p>
        </p:txBody>
      </p:sp>
      <p:sp>
        <p:nvSpPr>
          <p:cNvPr id="41" name="Text 39"/>
          <p:cNvSpPr txBox="1"/>
          <p:nvPr/>
        </p:nvSpPr>
        <p:spPr>
          <a:xfrm>
            <a:off x="3657600" y="2596896"/>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+16.2 pts</a:t>
            </a:r>
            <a:endParaRPr lang="en-US" sz="1600" dirty="0"/>
          </a:p>
        </p:txBody>
      </p:sp>
      <p:sp>
        <p:nvSpPr>
          <p:cNvPr id="42" name="Text 40"/>
          <p:cNvSpPr txBox="1"/>
          <p:nvPr/>
        </p:nvSpPr>
        <p:spPr>
          <a:xfrm>
            <a:off x="3657600" y="2907792"/>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43" name="Text 41"/>
          <p:cNvSpPr txBox="1"/>
          <p:nvPr/>
        </p:nvSpPr>
        <p:spPr>
          <a:xfrm>
            <a:off x="3657600" y="3127248"/>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+15.3 pts</a:t>
            </a:r>
            <a:endParaRPr lang="en-US" sz="1600" dirty="0"/>
          </a:p>
        </p:txBody>
      </p:sp>
      <p:sp>
        <p:nvSpPr>
          <p:cNvPr id="44" name="Text 42"/>
          <p:cNvSpPr txBox="1"/>
          <p:nvPr/>
        </p:nvSpPr>
        <p:spPr>
          <a:xfrm>
            <a:off x="3657600" y="34381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45" name="Text 43"/>
          <p:cNvSpPr txBox="1"/>
          <p:nvPr/>
        </p:nvSpPr>
        <p:spPr>
          <a:xfrm>
            <a:off x="3657600" y="3657600"/>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+11.1 pts</a:t>
            </a:r>
            <a:endParaRPr lang="en-US" sz="1600" dirty="0"/>
          </a:p>
        </p:txBody>
      </p:sp>
      <p:sp>
        <p:nvSpPr>
          <p:cNvPr id="46" name="Text 44"/>
          <p:cNvSpPr txBox="1"/>
          <p:nvPr/>
        </p:nvSpPr>
        <p:spPr>
          <a:xfrm>
            <a:off x="3657600" y="41239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47" name="Text 45"/>
          <p:cNvSpPr txBox="1"/>
          <p:nvPr/>
        </p:nvSpPr>
        <p:spPr>
          <a:xfrm>
            <a:off x="3657600" y="4343400"/>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−6.1 pts</a:t>
            </a:r>
            <a:endParaRPr lang="en-US" sz="1600" dirty="0"/>
          </a:p>
        </p:txBody>
      </p:sp>
      <p:sp>
        <p:nvSpPr>
          <p:cNvPr id="48" name="Text 46"/>
          <p:cNvSpPr txBox="1"/>
          <p:nvPr/>
        </p:nvSpPr>
        <p:spPr>
          <a:xfrm>
            <a:off x="3657600" y="4654296"/>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49" name="Text 47"/>
          <p:cNvSpPr txBox="1"/>
          <p:nvPr/>
        </p:nvSpPr>
        <p:spPr>
          <a:xfrm>
            <a:off x="3657600" y="4873752"/>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−6.6 pts</a:t>
            </a:r>
            <a:endParaRPr lang="en-US" sz="1600" dirty="0"/>
          </a:p>
        </p:txBody>
      </p:sp>
      <p:sp>
        <p:nvSpPr>
          <p:cNvPr id="50" name="Text 48"/>
          <p:cNvSpPr txBox="1"/>
          <p:nvPr/>
        </p:nvSpPr>
        <p:spPr>
          <a:xfrm>
            <a:off x="3657600" y="5184648"/>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51" name="Text 49"/>
          <p:cNvSpPr txBox="1"/>
          <p:nvPr/>
        </p:nvSpPr>
        <p:spPr>
          <a:xfrm>
            <a:off x="3657600" y="5404104"/>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−9.7 pts</a:t>
            </a:r>
            <a:endParaRPr lang="en-US" sz="1600" dirty="0"/>
          </a:p>
        </p:txBody>
      </p:sp>
      <p:sp>
        <p:nvSpPr>
          <p:cNvPr id="52" name="Shape 50"/>
          <p:cNvSpPr/>
          <p:nvPr/>
        </p:nvSpPr>
        <p:spPr>
          <a:xfrm>
            <a:off x="6309360" y="1691640"/>
            <a:ext cx="2560320" cy="45720"/>
          </a:xfrm>
          <a:prstGeom prst="rect">
            <a:avLst/>
          </a:prstGeom>
          <a:solidFill>
            <a:srgbClr val="12A566"/>
          </a:solidFill>
          <a:ln/>
        </p:spPr>
      </p:sp>
      <p:sp>
        <p:nvSpPr>
          <p:cNvPr id="53" name="Text 51"/>
          <p:cNvSpPr txBox="1"/>
          <p:nvPr/>
        </p:nvSpPr>
        <p:spPr>
          <a:xfrm>
            <a:off x="6327648" y="1773936"/>
            <a:ext cx="252374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PARTS GP %</a:t>
            </a:r>
            <a:endParaRPr lang="en-US" sz="1300" dirty="0"/>
          </a:p>
        </p:txBody>
      </p:sp>
      <p:sp>
        <p:nvSpPr>
          <p:cNvPr id="54" name="Text 52"/>
          <p:cNvSpPr txBox="1"/>
          <p:nvPr/>
        </p:nvSpPr>
        <p:spPr>
          <a:xfrm>
            <a:off x="6327648" y="1993392"/>
            <a:ext cx="252374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0.0 pts</a:t>
            </a:r>
            <a:endParaRPr lang="en-US" sz="1300" dirty="0"/>
          </a:p>
        </p:txBody>
      </p:sp>
      <p:sp>
        <p:nvSpPr>
          <p:cNvPr id="55" name="Text 53"/>
          <p:cNvSpPr txBox="1"/>
          <p:nvPr/>
        </p:nvSpPr>
        <p:spPr>
          <a:xfrm>
            <a:off x="6327648" y="2377440"/>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56" name="Text 54"/>
          <p:cNvSpPr txBox="1"/>
          <p:nvPr/>
        </p:nvSpPr>
        <p:spPr>
          <a:xfrm>
            <a:off x="6327648" y="2596896"/>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+7.2 pts</a:t>
            </a:r>
            <a:endParaRPr lang="en-US" sz="1600" dirty="0"/>
          </a:p>
        </p:txBody>
      </p:sp>
      <p:sp>
        <p:nvSpPr>
          <p:cNvPr id="57" name="Text 55"/>
          <p:cNvSpPr txBox="1"/>
          <p:nvPr/>
        </p:nvSpPr>
        <p:spPr>
          <a:xfrm>
            <a:off x="6327648" y="2907792"/>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58" name="Text 56"/>
          <p:cNvSpPr txBox="1"/>
          <p:nvPr/>
        </p:nvSpPr>
        <p:spPr>
          <a:xfrm>
            <a:off x="6327648" y="3127248"/>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+4.7 pts</a:t>
            </a:r>
            <a:endParaRPr lang="en-US" sz="1600" dirty="0"/>
          </a:p>
        </p:txBody>
      </p:sp>
      <p:sp>
        <p:nvSpPr>
          <p:cNvPr id="59" name="Text 57"/>
          <p:cNvSpPr txBox="1"/>
          <p:nvPr/>
        </p:nvSpPr>
        <p:spPr>
          <a:xfrm>
            <a:off x="6327648" y="34381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GMC Prescott</a:t>
            </a:r>
            <a:endParaRPr lang="en-US" sz="1300" dirty="0"/>
          </a:p>
        </p:txBody>
      </p:sp>
      <p:sp>
        <p:nvSpPr>
          <p:cNvPr id="60" name="Text 58"/>
          <p:cNvSpPr txBox="1"/>
          <p:nvPr/>
        </p:nvSpPr>
        <p:spPr>
          <a:xfrm>
            <a:off x="6327648" y="3657600"/>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61" name="Text 59"/>
          <p:cNvSpPr txBox="1"/>
          <p:nvPr/>
        </p:nvSpPr>
        <p:spPr>
          <a:xfrm>
            <a:off x="6327648" y="41239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Chevy LV</a:t>
            </a:r>
            <a:endParaRPr lang="en-US" sz="1300" dirty="0"/>
          </a:p>
        </p:txBody>
      </p:sp>
      <p:sp>
        <p:nvSpPr>
          <p:cNvPr id="62" name="Text 60"/>
          <p:cNvSpPr txBox="1"/>
          <p:nvPr/>
        </p:nvSpPr>
        <p:spPr>
          <a:xfrm>
            <a:off x="6327648" y="4343400"/>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−3.2 pts</a:t>
            </a:r>
            <a:endParaRPr lang="en-US" sz="1600" dirty="0"/>
          </a:p>
        </p:txBody>
      </p:sp>
      <p:sp>
        <p:nvSpPr>
          <p:cNvPr id="63" name="Text 61"/>
          <p:cNvSpPr txBox="1"/>
          <p:nvPr/>
        </p:nvSpPr>
        <p:spPr>
          <a:xfrm>
            <a:off x="6327648" y="4654296"/>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64" name="Text 62"/>
          <p:cNvSpPr txBox="1"/>
          <p:nvPr/>
        </p:nvSpPr>
        <p:spPr>
          <a:xfrm>
            <a:off x="6327648" y="4873752"/>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−3.9 pts</a:t>
            </a:r>
            <a:endParaRPr lang="en-US" sz="1600" dirty="0"/>
          </a:p>
        </p:txBody>
      </p:sp>
      <p:sp>
        <p:nvSpPr>
          <p:cNvPr id="65" name="Text 63"/>
          <p:cNvSpPr txBox="1"/>
          <p:nvPr/>
        </p:nvSpPr>
        <p:spPr>
          <a:xfrm>
            <a:off x="6327648" y="5184648"/>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66" name="Text 64"/>
          <p:cNvSpPr txBox="1"/>
          <p:nvPr/>
        </p:nvSpPr>
        <p:spPr>
          <a:xfrm>
            <a:off x="6327648" y="5404104"/>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−4.3 pts</a:t>
            </a:r>
            <a:endParaRPr lang="en-US" sz="1600" dirty="0"/>
          </a:p>
        </p:txBody>
      </p:sp>
      <p:sp>
        <p:nvSpPr>
          <p:cNvPr id="67" name="Shape 65"/>
          <p:cNvSpPr/>
          <p:nvPr/>
        </p:nvSpPr>
        <p:spPr>
          <a:xfrm>
            <a:off x="8979408" y="1691640"/>
            <a:ext cx="2560320" cy="45720"/>
          </a:xfrm>
          <a:prstGeom prst="rect">
            <a:avLst/>
          </a:prstGeom>
          <a:solidFill>
            <a:srgbClr val="12A566"/>
          </a:solidFill>
          <a:ln/>
        </p:spPr>
      </p:sp>
      <p:sp>
        <p:nvSpPr>
          <p:cNvPr id="68" name="Text 66"/>
          <p:cNvSpPr txBox="1"/>
          <p:nvPr/>
        </p:nvSpPr>
        <p:spPr>
          <a:xfrm>
            <a:off x="8997696" y="1773936"/>
            <a:ext cx="252374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OPCODES, FOUR COMBINED</a:t>
            </a:r>
            <a:endParaRPr lang="en-US" sz="1300" dirty="0"/>
          </a:p>
        </p:txBody>
      </p:sp>
      <p:sp>
        <p:nvSpPr>
          <p:cNvPr id="69" name="Text 67"/>
          <p:cNvSpPr txBox="1"/>
          <p:nvPr/>
        </p:nvSpPr>
        <p:spPr>
          <a:xfrm>
            <a:off x="8997696" y="1993392"/>
            <a:ext cx="252374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0.0 pts</a:t>
            </a:r>
            <a:endParaRPr lang="en-US" sz="1300" dirty="0"/>
          </a:p>
        </p:txBody>
      </p:sp>
      <p:sp>
        <p:nvSpPr>
          <p:cNvPr id="70" name="Text 68"/>
          <p:cNvSpPr txBox="1"/>
          <p:nvPr/>
        </p:nvSpPr>
        <p:spPr>
          <a:xfrm>
            <a:off x="8997696" y="2377440"/>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71" name="Text 69"/>
          <p:cNvSpPr txBox="1"/>
          <p:nvPr/>
        </p:nvSpPr>
        <p:spPr>
          <a:xfrm>
            <a:off x="8997696" y="2596896"/>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+36.4 pts</a:t>
            </a:r>
            <a:endParaRPr lang="en-US" sz="1600" dirty="0"/>
          </a:p>
        </p:txBody>
      </p:sp>
      <p:sp>
        <p:nvSpPr>
          <p:cNvPr id="72" name="Text 70"/>
          <p:cNvSpPr txBox="1"/>
          <p:nvPr/>
        </p:nvSpPr>
        <p:spPr>
          <a:xfrm>
            <a:off x="8997696" y="2907792"/>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3" name="Text 71"/>
          <p:cNvSpPr txBox="1"/>
          <p:nvPr/>
        </p:nvSpPr>
        <p:spPr>
          <a:xfrm>
            <a:off x="8997696" y="3127248"/>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+18.6 pts</a:t>
            </a:r>
            <a:endParaRPr lang="en-US" sz="1600" dirty="0"/>
          </a:p>
        </p:txBody>
      </p:sp>
      <p:sp>
        <p:nvSpPr>
          <p:cNvPr id="74" name="Text 72"/>
          <p:cNvSpPr txBox="1"/>
          <p:nvPr/>
        </p:nvSpPr>
        <p:spPr>
          <a:xfrm>
            <a:off x="8997696" y="34381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75" name="Text 73"/>
          <p:cNvSpPr txBox="1"/>
          <p:nvPr/>
        </p:nvSpPr>
        <p:spPr>
          <a:xfrm>
            <a:off x="8997696" y="3657600"/>
            <a:ext cx="256032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+15.9 pts</a:t>
            </a:r>
            <a:endParaRPr lang="en-US" sz="1600" dirty="0"/>
          </a:p>
        </p:txBody>
      </p:sp>
      <p:sp>
        <p:nvSpPr>
          <p:cNvPr id="76" name="Text 74"/>
          <p:cNvSpPr txBox="1"/>
          <p:nvPr/>
        </p:nvSpPr>
        <p:spPr>
          <a:xfrm>
            <a:off x="8997696" y="4123944"/>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77" name="Text 75"/>
          <p:cNvSpPr txBox="1"/>
          <p:nvPr/>
        </p:nvSpPr>
        <p:spPr>
          <a:xfrm>
            <a:off x="8997696" y="4343400"/>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−8.1 pts</a:t>
            </a:r>
            <a:endParaRPr lang="en-US" sz="1600" dirty="0"/>
          </a:p>
        </p:txBody>
      </p:sp>
      <p:sp>
        <p:nvSpPr>
          <p:cNvPr id="78" name="Text 76"/>
          <p:cNvSpPr txBox="1"/>
          <p:nvPr/>
        </p:nvSpPr>
        <p:spPr>
          <a:xfrm>
            <a:off x="8997696" y="4654296"/>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9" name="Text 77"/>
          <p:cNvSpPr txBox="1"/>
          <p:nvPr/>
        </p:nvSpPr>
        <p:spPr>
          <a:xfrm>
            <a:off x="8997696" y="4873752"/>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−9.7 pts</a:t>
            </a:r>
            <a:endParaRPr lang="en-US" sz="1600" dirty="0"/>
          </a:p>
        </p:txBody>
      </p:sp>
      <p:sp>
        <p:nvSpPr>
          <p:cNvPr id="80" name="Text 78"/>
          <p:cNvSpPr txBox="1"/>
          <p:nvPr/>
        </p:nvSpPr>
        <p:spPr>
          <a:xfrm>
            <a:off x="8997696" y="5184648"/>
            <a:ext cx="257860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81" name="Text 79"/>
          <p:cNvSpPr txBox="1"/>
          <p:nvPr/>
        </p:nvSpPr>
        <p:spPr>
          <a:xfrm>
            <a:off x="8997696" y="5404104"/>
            <a:ext cx="256032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−11.3 pts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2026-10-28T18:18:10Z</dcterms:created>
  <dcterms:modified xsi:type="dcterms:W3CDTF">2026-10-28T18:18:10Z</dcterms:modified>
</cp:coreProperties>
</file>