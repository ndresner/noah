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4.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2.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7.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6.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1.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18"/>
    <p:sldId id="268" r:id="rId19"/>
    <p:sldId id="272" r:id="rId23"/>
    <p:sldId id="273" r:id="rId24"/>
    <p:sldId id="274" r:id="rId25"/>
    <p:sldId id="275" r:id="rId26"/>
    <p:sldId id="289" r:id="rId40"/>
    <p:sldId id="294" r:id="rId45"/>
    <p:sldId id="303" r:id="rId54"/>
    <p:sldId id="304" r:id="rId55"/>
    <p:sldId id="306" r:id="rId57"/>
    <p:sldId id="307" r:id="rId58"/>
    <p:sldId id="317" r:id="rId68"/>
    <p:sldId id="323" r:id="rId74"/>
    <p:sldId id="324" r:id="rId75"/>
    <p:sldId id="325" r:id="rId76"/>
    <p:sldId id="332" r:id="rId83"/>
    <p:sldId id="337" r:id="rId88"/>
    <p:sldId id="338" r:id="rId89"/>
    <p:sldId id="342" r:id="rId93"/>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3.xml"/><Relationship Id="rId19" Type="http://schemas.openxmlformats.org/officeDocument/2006/relationships/slide" Target="slides/slide4.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2.xml"/><Relationship Id="rId40" Type="http://schemas.openxmlformats.org/officeDocument/2006/relationships/slide" Target="slides/slide27.xml"/><Relationship Id="rId45" Type="http://schemas.openxmlformats.org/officeDocument/2006/relationships/slide" Target="slides/slide32.xml"/><Relationship Id="rId54" Type="http://schemas.openxmlformats.org/officeDocument/2006/relationships/slide" Target="slides/slide42.xml"/><Relationship Id="rId55" Type="http://schemas.openxmlformats.org/officeDocument/2006/relationships/slide" Target="slides/slide43.xml"/><Relationship Id="rId57" Type="http://schemas.openxmlformats.org/officeDocument/2006/relationships/slide" Target="slides/slide45.xml"/><Relationship Id="rId58" Type="http://schemas.openxmlformats.org/officeDocument/2006/relationships/slide" Target="slides/slide46.xml"/><Relationship Id="rId68" Type="http://schemas.openxmlformats.org/officeDocument/2006/relationships/slide" Target="slides/slide56.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83" Type="http://schemas.openxmlformats.org/officeDocument/2006/relationships/slide" Target="slides/slide71.xml"/><Relationship Id="rId88" Type="http://schemas.openxmlformats.org/officeDocument/2006/relationships/slide" Target="slides/slide76.xml"/><Relationship Id="rId89" Type="http://schemas.openxmlformats.org/officeDocument/2006/relationships/slide" Target="slides/slide77.xml"/><Relationship Id="rId93" Type="http://schemas.openxmlformats.org/officeDocument/2006/relationships/slide" Target="slides/slide81.xml"/></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Work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Work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Work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Worksheet75.xlsx"/></Relationships>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80.9</c:v>
                </c:pt>
                <c:pt idx="1">
                  <c:v>80.7</c:v>
                </c:pt>
                <c:pt idx="2">
                  <c:v>80.8</c:v>
                </c:pt>
                <c:pt idx="3">
                  <c:v>80.7</c:v>
                </c:pt>
                <c:pt idx="4">
                  <c:v>80.7</c:v>
                </c:pt>
                <c:pt idx="5">
                  <c:v>80.8</c:v>
                </c:pt>
                <c:pt idx="6">
                  <c:v>80.8</c:v>
                </c:pt>
                <c:pt idx="7">
                  <c:v>81</c:v>
                </c:pt>
                <c:pt idx="8">
                  <c:v>80.7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80.9</c:v>
                </c:pt>
                <c:pt idx="1">
                  <c:v/>
                </c:pt>
                <c:pt idx="2">
                  <c:v/>
                </c:pt>
                <c:pt idx="3">
                  <c:v/>
                </c:pt>
                <c:pt idx="4">
                  <c:v/>
                </c:pt>
                <c:pt idx="5">
                  <c:v/>
                </c:pt>
                <c:pt idx="6">
                  <c:v/>
                </c:pt>
                <c:pt idx="7">
                  <c:v>81</c:v>
                </c:pt>
                <c:pt idx="8">
                  <c:v>80.7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80.7</c:v>
                </c:pt>
                <c:pt idx="2">
                  <c:v>80.8</c:v>
                </c:pt>
                <c:pt idx="3">
                  <c:v>80.7</c:v>
                </c:pt>
                <c:pt idx="4">
                  <c:v>80.7</c:v>
                </c:pt>
                <c:pt idx="5">
                  <c:v>80.8</c:v>
                </c:pt>
                <c:pt idx="6">
                  <c:v>80.8</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80.9</c:v>
                </c:pt>
                <c:pt idx="2">
                  <c:v>80.9</c:v>
                </c:pt>
                <c:pt idx="3">
                  <c:v>80.8</c:v>
                </c:pt>
                <c:pt idx="4">
                  <c:v>80.8</c:v>
                </c:pt>
                <c:pt idx="5">
                  <c:v>81.1</c:v>
                </c:pt>
                <c:pt idx="6">
                  <c:v>81</c:v>
                </c:pt>
                <c:pt idx="7">
                  <c:v/>
                </c:pt>
                <c:pt idx="8">
                  <c:v/>
                </c:pt>
                <c:pt idx="9">
                  <c:v/>
                </c:pt>
                <c:pt idx="10">
                  <c:v>81.1</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80.7</c:v>
                </c:pt>
                <c:pt idx="1">
                  <c:v/>
                </c:pt>
                <c:pt idx="2">
                  <c:v/>
                </c:pt>
                <c:pt idx="3">
                  <c:v/>
                </c:pt>
                <c:pt idx="4">
                  <c:v/>
                </c:pt>
                <c:pt idx="5">
                  <c:v/>
                </c:pt>
                <c:pt idx="6">
                  <c:v/>
                </c:pt>
                <c:pt idx="7">
                  <c:v>80.8</c:v>
                </c:pt>
                <c:pt idx="8">
                  <c:v>80.7</c:v>
                </c:pt>
                <c:pt idx="9">
                  <c:v>80.8</c:v>
                </c:pt>
                <c:pt idx="10">
                  <c:v/>
                </c:pt>
                <c:pt idx="11">
                  <c:v>80.8</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78</c:v>
                </c:pt>
                <c:pt idx="1">
                  <c:v>78</c:v>
                </c:pt>
                <c:pt idx="2">
                  <c:v>78</c:v>
                </c:pt>
                <c:pt idx="3">
                  <c:v>78</c:v>
                </c:pt>
                <c:pt idx="4">
                  <c:v>78</c:v>
                </c:pt>
                <c:pt idx="5">
                  <c:v>78</c:v>
                </c:pt>
                <c:pt idx="6">
                  <c:v>78</c:v>
                </c:pt>
                <c:pt idx="7">
                  <c:v>78</c:v>
                </c:pt>
                <c:pt idx="8">
                  <c:v>78</c:v>
                </c:pt>
                <c:pt idx="9">
                  <c:v>78</c:v>
                </c:pt>
                <c:pt idx="10">
                  <c:v>78</c:v>
                </c:pt>
                <c:pt idx="11">
                  <c:v>78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bench1</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c:v>
                </c:pt>
                <c:pt idx="1">
                  <c:v>80</c:v>
                </c:pt>
                <c:pt idx="2">
                  <c:v>80</c:v>
                </c:pt>
                <c:pt idx="3">
                  <c:v>80</c:v>
                </c:pt>
                <c:pt idx="4">
                  <c:v>80</c:v>
                </c:pt>
                <c:pt idx="5">
                  <c:v>80</c:v>
                </c:pt>
                <c:pt idx="6">
                  <c:v>80</c:v>
                </c:pt>
                <c:pt idx="7">
                  <c:v>80</c:v>
                </c:pt>
                <c:pt idx="8">
                  <c:v>80</c:v>
                </c:pt>
                <c:pt idx="9">
                  <c:v>80</c:v>
                </c:pt>
                <c:pt idx="10">
                  <c:v>80</c:v>
                </c:pt>
                <c:pt idx="11">
                  <c:v>80</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80.7</c:v>
                </c:pt>
                <c:pt idx="1">
                  <c:v>80.9</c:v>
                </c:pt>
                <c:pt idx="2">
                  <c:v>80.9</c:v>
                </c:pt>
                <c:pt idx="3">
                  <c:v>80.8</c:v>
                </c:pt>
                <c:pt idx="4">
                  <c:v>80.8</c:v>
                </c:pt>
                <c:pt idx="5">
                  <c:v>81.1</c:v>
                </c:pt>
                <c:pt idx="6">
                  <c:v>81</c:v>
                </c:pt>
                <c:pt idx="7">
                  <c:v>80.8</c:v>
                </c:pt>
                <c:pt idx="8">
                  <c:v>80.7</c:v>
                </c:pt>
                <c:pt idx="9">
                  <c:v>80.8</c:v>
                </c:pt>
                <c:pt idx="10">
                  <c:v>81.1</c:v>
                </c:pt>
                <c:pt idx="11">
                  <c:v>80.8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4"/>
          <c:min val="7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Jan-Sep 2026 vs 2025, all stores (INEOS included, to match the group P&amp;L). Fixed ops = service (Mechanical) + parts (P&amp;A) department profit: department gross less the department's own expenses. Group net = Net Profit Or Loss on the GM statement.PLACE: right after the agenda, before the Gross section. In the deck Oct 24 (Noah): group net profit view replaces the gross / absorption / net-to-gross tiles. Group-level view of fixed ops' weight in the dealership's profit, Jan-Sep. Fixed ops department profit $50,194,950 (2025 $45,336,135); group net profit $82,240,434 (2025 $95,664,709). On the P&amp;L, F&amp;I income, other income and store-level costs are not split by department, so 'the rest of the store' is the group net less fixed ops department profit. Group net = Net Profit Or Loss on the GM statement (P&amp;L summary), all stores; INEOS (opened 2026) is in both lines. Body shop (GMC Prescott) department profit is left out of fixed ops, as everywhere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Fixed ops net profit = service (Mechanical) + parts (P&amp;A) department profit: department gross less the department's own expenses; GMC Prescott body shop is its own department and is not included.PLACE: opening, right after Why We Are Here (Noah, Oct 24): the high-level view of service and parts before the sections. Department profit as the P&amp;L Detail statement reports it (DEPARTMENT PROFIT OR LOSS, Mechanical and P&amp;A). Jan-Sep 2026 gross $188,799,724, department expenses $138,349,830, profit $50,449,894; 2025 $181,331,157 / $135,995,022 / $45,336,135. Store-level costs the P&amp;L does not split by department (management fees, other income) sit outside it. Same basis as the service and parts net to gross slides. Revenue per $1 of net: service + parts net sales $347,806,562 (P&amp;L Detail NET SALES, Mechanical $182,131,162 + P&amp;A $165,675,400) / net profit $50,449,894 = $6.89; net profit is 14.5 cents of every sales dollar. Parts sales include parts sold to the service department.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five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Fixed Ops Accounting TB, fixed gross (service and parts), monthly by store, January 2021 - September 2026. A record = the store's highest month on file; months before a store opened are ignored. GMC Prescott service on the TB includes body shop gross.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Fixed Ops Accounting TB, fixed gross (service and parts), monthly by store, January 2021 - September 2026. A record = the store's highest month on file; months before a store opened are ignored. GMC Prescott service on the TB includes body shop gross. Records = each month a store beat its best-ever service, parts or combined month; one month can count up to three.Records by store (month: service / parts / combined, with the record it beat):</a:t>
            </a:r>
          </a:p>
          <a:p>
            <a:r>
              <a:t>Toyota Henderson: service Apr 2026 $1.86M (beat $1.78M, Apr 2025); service Jul 2026 $1.98M (beat $1.86M, Apr 2026); parts Jun 2026 $747K (beat $734K, Dec 2024); parts Aug 2026 $748K (beat $747K, Jun 2026); parts Sep 2026 $803K (beat $748K, Aug 2026); combined Apr 2026 $2.52M (beat $2.45M, Apr 2025); combined Jun 2026 $2.55M (beat $2.52M, Apr 2026); combined Jul 2026 $2.72M (beat $2.55M, Jun 2026)</a:t>
            </a:r>
          </a:p>
          <a:p>
            <a:r>
              <a:t>Honda Spokane: service Mar 2026 $309K (beat $290K, May 2025); service Apr 2026 $316K (beat $309K, Mar 2026); service Jun 2026 $343K (beat $316K, Apr 2026); service Jul 2026 $360K (beat $343K, Jun 2026); parts Jul 2026 $182K (beat $168K, Aug 2025); combined Mar 2026 $457K (beat $448K, May 2025); combined Apr 2026 $473K (beat $457K, Mar 2026); combined Jun 2026 $503K (beat $473K, Apr 2026); combined Jul 2026 $542K (beat $503K, Jun 2026)</a:t>
            </a:r>
          </a:p>
          <a:p>
            <a:r>
              <a:t>Nissan: service Mar 2026 $374K (beat $374K, May 2025); service Jun 2026 $379K (beat $374K, Mar 2026); service Sep 2026 $393K (beat $379K, Jun 2026); parts Jun 2026 $191K (beat $187K, Aug 2024); parts Jul 2026 $210K (beat $191K, Jun 2026); combined Mar 2026 $546K (beat $535K, May 2025); combined Jun 2026 $570K (beat $546K, Mar 2026); combined Jul 2026 $580K (beat $570K, Jun 2026); combined Sep 2026 $593K (beat $580K, Jul 2026)</a:t>
            </a:r>
          </a:p>
          <a:p>
            <a:r>
              <a:t>Subaru St George: service Jan 2026 $256K (beat $246K, Apr 2025); service Mar 2026 $270K (beat $256K, Jan 2026); parts Mar 2026 $146K (beat $144K, Apr 2025); parts Apr 2026 $156K (beat $146K, Mar 2026); parts Jun 2026 $174K (beat $156K, Apr 2026); combined Mar 2026 $416K (beat $391K, Apr 2025); combined Jun 2026 $438K (beat $416K, Mar 2026)</a:t>
            </a:r>
          </a:p>
          <a:p>
            <a:r>
              <a:t>Hyundai St George: service Jan 2026 $155K (beat $152K, Dec 2025); service Mar 2026 $170K (beat $155K, Jan 2026); service Jul 2026 $173K (beat $170K, Mar 2026); service Sep 2026 $179K (beat $173K, Jul 2026)</a:t>
            </a:r>
          </a:p>
          <a:p>
            <a:r>
              <a:t>Honda Henderson: service Mar 2026 $1.26M (beat $1.23M, Mar 2025); service Jun 2026 $1.29M (beat $1.26M, Mar 2026); service Jul 2026 $1.30M (beat $1.29M, Jun 2026); parts Jul 2026 $495K (beat $475K, Apr 2024); combined Mar 2026 $1.72M (beat $1.67M, Apr 2024); combined Jun 2026 $1.75M (beat $1.72M, Mar 2026); combined Jul 2026 $1.79M (beat $1.75M, Jun 2026)</a:t>
            </a:r>
          </a:p>
          <a:p>
            <a:r>
              <a:t>Hyundai Prescott: service Mar 2026 $125K (beat $96K, Jul 2025); service Jul 2026 $142K (beat $125K, Mar 2026); parts Feb 2026 $78K (beat $72K, Jul 2025); combined Feb 2026 $170K (beat $168K, Jul 2025); combined Mar 2026 $182K (beat $170K, Feb 2026); combined Jul 2026 $206K (beat $182K, Mar 2026)</a:t>
            </a:r>
          </a:p>
          <a:p>
            <a:r>
              <a:t>Lincoln: service Aug 2026 $247K (beat $243K, Dec 2025); service Sep 2026 $262K (beat $247K, Aug 2026); parts Mar 2026 $116K (beat $105K, Dec 2025); combined Mar 2026 $358K (beat $349K, Dec 2025); combined Aug 2026 $359K (beat $358K, Mar 2026); combined Sep 2026 $369K (beat $359K, Aug 2026)</a:t>
            </a:r>
          </a:p>
          <a:p>
            <a:r>
              <a:t>LR Henderson: service Aug 2026 $276K (beat $270K, Dec 2024); service Sep 2026 $281K (beat $276K, Aug 2026); parts Jul 2026 $173K (beat $168K, Feb 2025); combined Jul 2026 $434K (beat $420K, Feb 2025)</a:t>
            </a:r>
          </a:p>
          <a:p>
            <a:r>
              <a:t>Toyota Flagstaff: service Mar 2026 $374K (beat $358K, Oct 2024); service Apr 2026 $377K (beat $374K, Mar 2026); service May 2026 $382K (beat $377K, Apr 2026); combined Mar 2026 $532K (beat $497K, Jan 2025)</a:t>
            </a:r>
          </a:p>
          <a:p>
            <a:r>
              <a:t>Audi Henderson: parts Jul 2026 $591K (beat $524K, Dec 2024); combined Apr 2026 $1.45M (beat $1.39M, Dec 2025); combined Jul 2026 $1.60M (beat $1.45M, Apr 2026)</a:t>
            </a:r>
          </a:p>
          <a:p>
            <a:r>
              <a:t>Mazda: service Aug 2026 $285K (beat $256K, Mar 2025); service Sep 2026 $302K (beat $285K, Aug 2026); parts Sep 2026 $200K (beat $172K, Jun 2025); combined Aug 2026 $417K (beat $412K, Jun 2025); combined Sep 2026 $503K (beat $417K, Aug 2026)</a:t>
            </a:r>
          </a:p>
          <a:p>
            <a:r>
              <a:t>Kia St George: service Apr 2026 $158K (beat $153K, Sep 2025); service Jul 2026 $187K (beat $158K, Apr 2026); parts Jul 2026 $134K (beat $120K, Oct 2025); combined Jul 2026 $321K (beat $270K, Sep 2025)</a:t>
            </a:r>
          </a:p>
          <a:p>
            <a:r>
              <a:t>Lexus: service Mar 2026 $341K (beat $341K, Oct 2025); service May 2026 $342K (beat $341K, Mar 2026); parts May 2026 $154K (beat $149K, Oct 2025); combined May 2026 $497K (beat $490K, Oct 2025)</a:t>
            </a:r>
          </a:p>
          <a:p>
            <a:r>
              <a:t>Toyota Prescott: service Mar 2026 $397K (beat $377K, Dec 2025); service Apr 2026 $463K (beat $397K, Mar 2026); parts Apr 2026 $204K (beat $203K, Apr 2025); combined Apr 2026 $667K (beat $563K, Aug 2023)</a:t>
            </a:r>
          </a:p>
          <a:p>
            <a:r>
              <a:t>Volvo: service Apr 2026 $294K (beat $288K, Aug 2024); service Jun 2026 $305K (beat $294K, Apr 2026)</a:t>
            </a:r>
          </a:p>
          <a:p>
            <a:r>
              <a:t>CDJR Post Falls: service Jul 2026 $312K (beat $305K, Apr 2025); combined Jul 2026 $481K (beat $468K, Aug 2024)</a:t>
            </a:r>
          </a:p>
          <a:p>
            <a:r>
              <a:t>GMC Prescott: parts Apr 2026 $148K (beat $123K, Oct 2024); combined Apr 2026 $314K (beat $304K, Oct 2024)</a:t>
            </a:r>
          </a:p>
          <a:p>
            <a:r>
              <a:t>LR LV: service Jul 2026 $544K (beat $509K, May 2024); combined Jul 2026 $845K (beat $817K, May 2024)</a:t>
            </a:r>
          </a:p>
          <a:p>
            <a:r>
              <a:t>LR Reno: service Aug 2026 $204K (beat $190K, Jan 2025); combined Aug 2026 $312K (beat $294K, Aug 2024)</a:t>
            </a:r>
          </a:p>
          <a:p>
            <a:r>
              <a:t>Subaru Prescott: combined Apr 2026 $354K (beat $349K, Apr 2025)</a:t>
            </a:r>
          </a:p>
          <a:p>
            <a:r>
              <a:t>Toyota Spokane: service Jul 2026 $470K (beat $450K, Oct 2025); combined Jul 2026 $777K (beat $760K, Oct 2025)</a:t>
            </a:r>
          </a:p>
          <a:p>
            <a:r>
              <a:t>Kia LV: service Sep 2026 $492K (beat $472K, Oct 2024)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Gross section, after the section break and before Total Gross Profit - Fixed Ops.</a:t>
            </a:r>
          </a:p>
          <a:p>
            <a:r>
              <a:t>Said: Roundtable slide 9 ('Service Department?'); Jan GM slide 58 (Sales and Service Relationship).</a:t>
            </a:r>
          </a:p>
          <a:p>
            <a:r>
              <a:t>For the GMs who come from sales (Noah, Oct 25): service and parts keep far more of every gross dollar than vehicle sales does. Jan-Sep 2026, after each department's own expenses, fixed ops kept 27 cents of every gross dollar; new, used and F&amp;I together kept 7 cents (before doc fees, packs and factory money, which the P&amp;L books outside the departments). People cost 45 cents of every fixed ops gross dollar and 62 cents of every vehicle sales gross dollar. That is why paying yourself first, on internal work, matters: see Pay Yourself First at the start of the Internal section.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GM statement. Jan-Sep 2026, same-store, INEOS excluded (opened 2026).PLACE: Profitability, in front of Fixed Ops Absorption %; the next slide breaks down the fixed expenses. The denominator is the P&amp;L's Fixed Expenses line on the GM statement: the whole store's expenses (new, used, service, parts, body shop) less the costs that move with each car sold: sales and F&amp;I commissions, delivery, policy, floorplan interest, and new and used vehicle advertising. That matches the standard dealer definition: fixed ops gross divided by total store overhead, excluding the variable costs of selling cars. Jan-Sep 2026 same-store: $242,850,782 of fixed expenses out of $305,051,366 total expense.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Profitability, in front of Service Net to Gross %.</a:t>
            </a:r>
          </a:p>
          <a:p>
            <a:r>
              <a:t>P&amp;L Detail statement: DEPARTMENT PROFIT OR LOSS / GROSS PROFIT / INCOME, Mechanical Dept (service) and P&amp;A Dept (parts).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after the section break and before CP RO Count.</a:t>
            </a:r>
          </a:p>
          <a:p>
            <a:r>
              <a:t>Said: Roundtable slides 18-19 (KPIs; CP Labor $ per RO).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after the CP RO Count slides and before Hours per RO.</a:t>
            </a:r>
          </a:p>
          <a:p>
            <a:r>
              <a:t>Said: Jan/May GM slides on Appointment Scheduling, Appointment Discipline, Phone Call Handling and Retention Management (Jan 2, 7, 9, 11; May 2, 4, 8, 9).</a:t>
            </a:r>
          </a:p>
          <a:p>
            <a:r>
              <a:t>Optional: the Flai voice AI service view (Jul 16-Aug 15 pull: 4,368 of 8,351 transfers rang out) fits here, but it is a different source and period; refresh it before use and keep it off any slide with a P&amp;L number.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Flai voice AI dashboard, Service view, standings export, Jul 26 - Oct 26, 2026 (93 days). Flai's location names (26 with calls). Pickup rate and resolution as Flai reports them. Flai's estimated savings, revenue and profit are not used. Green bar: the store is in more than one top list; red bar: in more than one bottom 5. Ranked among the 23 locations with 300+ calls (Subaru St George, Land Rover Henderson, Jaguar Land Rover Las Vegas have fewer). Honda Spokane shows no calls in the period.Talk track: the voice AI answers every call, books what it can and hands the rest to the store. What happens next is ours: someone has to pick up the transfer, and every callback has to be closed. A store that doesn't pick up is sending a customer it already has to voicemail.</a:t>
            </a:r>
          </a:p>
          <a:p/>
          <a:p>
            <a:r>
              <a:t>Definitions to confirm against Flai: pickup rate is read as the share of transferred calls a person picked up; resolution as the share of callback requests closed. Resolve time in the export runs to weeks at some locations and is not shown.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RO Count.</a:t>
            </a:r>
          </a:p>
          <a:p>
            <a:r>
              <a:t>Definition is the data slides' own: distinct ROs with a customer-pay line, by close month. This includes the roughly 0.9% of CP ROs with no labor charged (parts-only sales such as additives, wipers and batteries, and blank CP lines); Qlik's hasLabor flag is set on every line, so it does not filter them, and the count is kept that way to match the numbers stores are used to. GMC Prescott body-shop-only ROs excluded.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Hours per RO.</a:t>
            </a:r>
          </a:p>
          <a:p>
            <a:r>
              <a:t>$4,543,691 = 0.1 x 279,756 CP ROs (27,976 hours) x $162.42 CP ELR (on the Hours per RO data slide). Slide rounds to $162 and $4.5M so the room can follow it (Noah, Oct 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Customer Pay, after CP Hours per RO and ahead of Labor Sale by Pay Type and the CP ELR slides.</a:t>
            </a:r>
          </a:p>
          <a:p>
            <a:r>
              <a:t>Roundtable worked example removed from the slide (Noah, Oct 21).</a:t>
            </a:r>
          </a:p>
          <a:p>
            <a:r>
              <a:t>Talk track (Noah, Oct 23): to understand your ELR you have to understand your work mix. A shop that does more repair than maintenance will run a higher ELR, because the repair rate is higher; a shop that is mostly maintenance will run lower. There is nothing wrong with that, but you need to know your mix to know why your ELR is what it is. Raising the repair rate may do less than raising the maintenance rate if most of your work is maintenance. Know your ELR for every labor operation.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before the CP ELR slides (ahead of the door-rate options).</a:t>
            </a:r>
          </a:p>
          <a:p>
            <a:r>
              <a:t>Said: Roundtable slide 15 (Pricing Strategy); Jan/May GM Road to the Sale slide (pricing lines); Jan GM slide 54 (Discounting Discipline); 70% benchmark from the Jan/May door rate slides.</a:t>
            </a:r>
          </a:p>
          <a:p>
            <a:r>
              <a:t>Oct 23 (Noah): grid vs non-grid tile replaced. $126,831 a month = Jul-Sep, for each of the 8 stores under 70% (Chevy LV, Toyota Spokane, Cadillac, Kia LV, Subaru Prescott, Lincoln, GMC Prescott, Hyundai Prescott): (70% x door rate - CP ELR) x CP hours sold, summed ($380,494) / 3. Door rates from the store door rate sheet (door.json), ELR and hours from elr_q3.json.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Labor sale by pay type, Jan-Sep by close month. Same-store, INEOS excluded. GMC Prescott body shop labor types excluded. Jan-Sep 2026 shares of labor sale; sorted by customer-pay share. Bar labels are percent of labor sale; every value is also listed here.</a:t>
            </a:r>
          </a:p>
          <a:p>
            <a:r>
              <a:t>HONDA SPOKANE: CP 70.3%, W 8.0%, I 21.6%</a:t>
            </a:r>
          </a:p>
          <a:p>
            <a:r>
              <a:t>TOYOTA SPOKANE: CP 65.3%, W 15.5%, I 19.2%</a:t>
            </a:r>
          </a:p>
          <a:p>
            <a:r>
              <a:t>TOYOTA FLAGSTAFF: CP 65.1%, W 11.2%, I 23.7%</a:t>
            </a:r>
          </a:p>
          <a:p>
            <a:r>
              <a:t>HONDA FLAGSTAFF: CP 65.1%, W 11.9%, I 23.0%</a:t>
            </a:r>
          </a:p>
          <a:p>
            <a:r>
              <a:t>LR LV: CP 64.9%, W 25.2%, I 10.0%</a:t>
            </a:r>
          </a:p>
          <a:p>
            <a:r>
              <a:t>VOLVO: CP 62.9%, W 23.1%, I 14.0%</a:t>
            </a:r>
          </a:p>
          <a:p>
            <a:r>
              <a:t>LR RENO: CP 61.5%, W 17.2%, I 21.3%</a:t>
            </a:r>
          </a:p>
          <a:p>
            <a:r>
              <a:t>TOYOTA PRESCOTT: CP 60.5%, W 13.8%, I 25.8%</a:t>
            </a:r>
          </a:p>
          <a:p>
            <a:r>
              <a:t>AUDI RENO: CP 59.7%, W 29.1%, I 11.2%</a:t>
            </a:r>
          </a:p>
          <a:p>
            <a:r>
              <a:t>CDJR POST FALLS: CP 59.5%, W 23.6%, I 16.9%</a:t>
            </a:r>
          </a:p>
          <a:p>
            <a:r>
              <a:t>NISSAN: CP 59.4%, W 17.7%, I 22.9%</a:t>
            </a:r>
          </a:p>
          <a:p>
            <a:r>
              <a:t>SUBARU ST GEORGE: CP 59.0%, W 23.5%, I 17.5%</a:t>
            </a:r>
          </a:p>
          <a:p>
            <a:r>
              <a:t>SUBARU LV: CP 58.0%, W 24.2%, I 17.7%</a:t>
            </a:r>
          </a:p>
          <a:p>
            <a:r>
              <a:t>HONDA NORTH: CP 57.9%, W 13.5%, I 28.6%</a:t>
            </a:r>
          </a:p>
          <a:p>
            <a:r>
              <a:t>TOYOTA HENDERSON: CP 57.3%, W 14.8%, I 27.9%</a:t>
            </a:r>
          </a:p>
          <a:p>
            <a:r>
              <a:t>MAZDA: CP 56.6%, W 12.4%, I 31.0%</a:t>
            </a:r>
          </a:p>
          <a:p>
            <a:r>
              <a:t>HONDA HENDERSON: CP 56.6%, W 10.2%, I 33.3%</a:t>
            </a:r>
          </a:p>
          <a:p>
            <a:r>
              <a:t>VW ST GEORGE: CP 55.8%, W 31.0%, I 13.2%</a:t>
            </a:r>
          </a:p>
          <a:p>
            <a:r>
              <a:t>LR HENDERSON: CP 55.3%, W 20.2%, I 24.5%</a:t>
            </a:r>
          </a:p>
          <a:p>
            <a:r>
              <a:t>LEXUS: CP 54.5%, W 13.1%, I 32.4%</a:t>
            </a:r>
          </a:p>
          <a:p>
            <a:r>
              <a:t>SUBARU PRESCOTT: CP 50.8%, W 19.2%, I 30.0%</a:t>
            </a:r>
          </a:p>
          <a:p>
            <a:r>
              <a:t>ACURA: CP 48.7%, W 15.5%, I 35.8%</a:t>
            </a:r>
          </a:p>
          <a:p>
            <a:r>
              <a:t>GMC PRESCOTT: CP 48.0%, W 23.1%, I 29.0%</a:t>
            </a:r>
          </a:p>
          <a:p>
            <a:r>
              <a:t>VW HENDERSON: CP 47.2%, W 40.1%, I 12.8%</a:t>
            </a:r>
          </a:p>
          <a:p>
            <a:r>
              <a:t>CHEVY LV: CP 47.0%, W 28.1%, I 24.9%</a:t>
            </a:r>
          </a:p>
          <a:p>
            <a:r>
              <a:t>CHEVY GMC BULLHEAD: CP 45.3%, W 14.3%, I 40.4%</a:t>
            </a:r>
          </a:p>
          <a:p>
            <a:r>
              <a:t>LINCOLN: CP 44.6%, W 37.5%, I 17.8%</a:t>
            </a:r>
          </a:p>
          <a:p>
            <a:r>
              <a:t>HYUNDAI ST GEORGE: CP 40.3%, W 34.9%, I 24.8%</a:t>
            </a:r>
          </a:p>
          <a:p>
            <a:r>
              <a:t>KIA ST GEORGE: CP 40.0%, W 38.4%, I 21.7%</a:t>
            </a:r>
          </a:p>
          <a:p>
            <a:r>
              <a:t>KIA LV: CP 39.2%, W 31.5%, I 29.2%</a:t>
            </a:r>
          </a:p>
          <a:p>
            <a:r>
              <a:t>AUDI HENDERSON: CP 34.1%, W 52.2%, I 13.7%</a:t>
            </a:r>
          </a:p>
          <a:p>
            <a:r>
              <a:t>HYUNDAI PRESCOTT: CP 28.5%, W 35.7%, I 35.8%</a:t>
            </a:r>
          </a:p>
          <a:p>
            <a:r>
              <a:t>CADILLAC: CP 27.9%, W 51.3%, I 20.7%</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 per RO.</a:t>
            </a:r>
          </a:p>
          <a:p>
            <a:r>
              <a:t>1.87 x $162.42 = $303.73, which rounds to the $304 on the data slide. Parts line (Noah, Oct 23: the parts $ per RO section is out of the deck, so the link lives here): CP parts per RO $228.50 -&gt; $237.96 Jan-Sep 2025 -&gt; 2026 while CP labor per RO rose $286.67 -&gt; $303.72 (Qlik Closed RO, m5.json).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Gross Profit %.</a:t>
            </a:r>
          </a:p>
          <a:p>
            <a:r>
              <a:t>Example (Noah, Oct 23: replaces the Roundtable table): one CP hour at the group's Jan-Sep 2026 averages, $162.42 ELR, $31.21 tech cost per hour sold, $131.21 kept = 80.8%; rounded on the slide.</a:t>
            </a:r>
          </a:p>
          <a:p>
            <a:r>
              <a:t>Oct 23 (Noah): The Goldilocks Margin talking point is folded into this slide (it repeated it): no Goldilocks or Roundtable wording; its ask (match the tech to the job, not squeeze tech pay) is the first Why It Matters point.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types excluded. Customer-pay labor gross / customer-pay labor sale. Target range 78-80%.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Gross Profit %.</a:t>
            </a:r>
          </a:p>
          <a:p>
            <a:r>
              <a:t>Why understand your parts pricing matrix (Noah, Oct 26): (1) Maximize gross profit: price parts to maximize profitability; find gross without more volume. (2) Consistent pricing: every customer charged the same for the same part; no incorrect prices from bad setups or manual overrides. (3) Stay competitive: avoid markups that make repairs too expensive; balance profit with price on higher-cost parts. (4) Check the matrix is applied: parts actually sell at matrix prices; find parts, labor types or transactions that bypass it. (5) Warranty reimbursement: customer-pay parts pricing drives the warranty parts reimbursement rate, so good pricing supports a higher rate and more warranty gross. (6) Control the strategy: know how your matrix is configured and review it against your gross profit goals. Takeaway: the matrix is one of the most effective tools for improving profit without more volume.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8.xml"/><Relationship Id="rId3" Type="http://schemas.openxmlformats.org/officeDocument/2006/relationships/chart" Target="../charts/chart69.xml"/><Relationship Id="rId4" Type="http://schemas.openxmlformats.org/officeDocument/2006/relationships/chart" Target="../charts/chart70.xml"/><Relationship Id="rId5" Type="http://schemas.openxmlformats.org/officeDocument/2006/relationships/chart" Target="../charts/chart71.xml"/><Relationship Id="rId6" Type="http://schemas.openxmlformats.org/officeDocument/2006/relationships/chart" Target="../charts/chart72.xml"/><Relationship Id="rId7" Type="http://schemas.openxmlformats.org/officeDocument/2006/relationships/chart" Target="../charts/chart73.xml"/><Relationship Id="rId8" Type="http://schemas.openxmlformats.org/officeDocument/2006/relationships/chart" Target="../charts/chart74.xml"/><Relationship Id="rId9" Type="http://schemas.openxmlformats.org/officeDocument/2006/relationships/chart" Target="../charts/chart75.xml"/><Relationship Id="rId10" Type="http://schemas.openxmlformats.org/officeDocument/2006/relationships/notesSlide" Target="../notesSlides/notesSlide8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Why We Are Here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Foster collaboration, introduce ideas that drive operational excellence, and set a clear path to exceptional service performance</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Focus on profit-generating activities: the work that brings in incremental dollars, not just the work that fills the day</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Work on the business, not just in it: step out of the day-to-day long enough to fix the process behind the problems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No risk of judgement: your success is our success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Customer first, company second, team third</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You get what you tolerate</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Leverage the power in this room: collaboration</a:t>
            </a:r>
            <a:endParaRPr lang="en-US" sz="16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61%</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of the group's net profit came from service and parts: $50.19M of $82.24M (47% in 2025).</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27¢ vs 7¢</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Of every gross dollar, what service and parts keep after their own expenses vs new, used and F&amp;I.</a:t>
            </a:r>
            <a:endParaRPr lang="en-US" sz="1400" dirty="0"/>
          </a:p>
        </p:txBody>
      </p:sp>
      <p:sp>
        <p:nvSpPr>
          <p:cNvPr id="16" name="Shape 14"/>
          <p:cNvSpPr/>
          <p:nvPr/>
        </p:nvSpPr>
        <p:spPr>
          <a:xfrm>
            <a:off x="7269480" y="4602480"/>
            <a:ext cx="54864" cy="1112520"/>
          </a:xfrm>
          <a:prstGeom prst="rect">
            <a:avLst/>
          </a:prstGeom>
          <a:solidFill>
            <a:srgbClr val="12A566"/>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+$4,858,815</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More fixed ops profit than 2025, while group net profit fell $13.42M.</a:t>
            </a:r>
            <a:endParaRPr lang="en-US" sz="1400" dirty="0"/>
          </a:p>
        </p:txBody>
      </p:sp>
      <p:sp>
        <p:nvSpPr>
          <p:cNvPr id="19" name="Shape 17"/>
          <p:cNvSpPr/>
          <p:nvPr/>
        </p:nvSpPr>
        <p:spPr>
          <a:xfrm>
            <a:off x="457200" y="6126480"/>
            <a:ext cx="11274552" cy="615696"/>
          </a:xfrm>
          <a:prstGeom prst="rect">
            <a:avLst/>
          </a:prstGeom>
          <a:solidFill>
            <a:srgbClr val="EDF4FA"/>
          </a:solidFill>
          <a:ln/>
        </p:spPr>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leave today with one or two things you will put in place before year end, and tell the room what they are.</a:t>
            </a:r>
            <a:endParaRPr lang="en-US" sz="16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Fixed Ops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Fixed ops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What service and parts keep after paying their own people, building, systems and supplies.</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$188.80M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$138.35M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$50.45M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fixed ops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service and parts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Car count, hours per RO, effective labor rate, parts and labor margin</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largest expense: staffing to the workload, pay plans tied to performance</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Productivity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gross from the same team and the same stalls</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outside services, service policy, advertising, company vehicles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$50.45M fixed ops net profit, +11.3%. Gross grew +4.1%; department expenses +1.7%.</a:t>
            </a:r>
            <a:endParaRPr lang="en-US" sz="16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Shape 8"/>
          <p:cNvSpPr/>
          <p:nvPr/>
        </p:nvSpPr>
        <p:spPr>
          <a:xfrm>
            <a:off x="4084320" y="2139696"/>
            <a:ext cx="64008" cy="682142"/>
          </a:xfrm>
          <a:prstGeom prst="rect">
            <a:avLst/>
          </a:prstGeom>
          <a:solidFill>
            <a:srgbClr val="12A566"/>
          </a:solidFill>
          <a:ln/>
        </p:spPr>
      </p:sp>
      <p:sp>
        <p:nvSpPr>
          <p:cNvPr id="11" name="Text 9"/>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sp>
        <p:nvSpPr>
          <p:cNvPr id="13" name="Text 11"/>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4" name="Text 12"/>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sp>
        <p:nvSpPr>
          <p:cNvPr id="16" name="Text 14"/>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17" name="Shape 15"/>
          <p:cNvSpPr/>
          <p:nvPr/>
        </p:nvSpPr>
        <p:spPr>
          <a:xfrm>
            <a:off x="658368" y="3613709"/>
            <a:ext cx="3489960" cy="755294"/>
          </a:xfrm>
          <a:prstGeom prst="rect">
            <a:avLst/>
          </a:prstGeom>
          <a:solidFill>
            <a:srgbClr val="F7F7F7"/>
          </a:solidFill>
          <a:ln/>
        </p:spPr>
      </p:sp>
      <p:sp>
        <p:nvSpPr>
          <p:cNvPr id="18" name="Text 16"/>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sp>
        <p:nvSpPr>
          <p:cNvPr id="20" name="Text 18"/>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1" name="Shape 19"/>
          <p:cNvSpPr/>
          <p:nvPr/>
        </p:nvSpPr>
        <p:spPr>
          <a:xfrm>
            <a:off x="4084320" y="4405579"/>
            <a:ext cx="64008" cy="682142"/>
          </a:xfrm>
          <a:prstGeom prst="rect">
            <a:avLst/>
          </a:prstGeom>
          <a:solidFill>
            <a:srgbClr val="12A566"/>
          </a:solidFill>
          <a:ln/>
        </p:spPr>
      </p:sp>
      <p:sp>
        <p:nvSpPr>
          <p:cNvPr id="22" name="Text 20"/>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$5.39M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$6.08M</a:t>
            </a:r>
            <a:endParaRPr lang="en-US" sz="1400" dirty="0"/>
          </a:p>
        </p:txBody>
      </p:sp>
      <p:sp>
        <p:nvSpPr>
          <p:cNvPr id="24" name="Text 22"/>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+$692K</a:t>
            </a:r>
            <a:endParaRPr lang="en-US" sz="1600" dirty="0"/>
          </a:p>
        </p:txBody>
      </p:sp>
      <p:sp>
        <p:nvSpPr>
          <p:cNvPr id="25" name="Shape 23"/>
          <p:cNvSpPr/>
          <p:nvPr/>
        </p:nvSpPr>
        <p:spPr>
          <a:xfrm>
            <a:off x="658368" y="5124298"/>
            <a:ext cx="3489960" cy="755294"/>
          </a:xfrm>
          <a:prstGeom prst="rect">
            <a:avLst/>
          </a:prstGeom>
          <a:solidFill>
            <a:srgbClr val="F7F7F7"/>
          </a:solidFill>
          <a:ln/>
        </p:spPr>
      </p:sp>
      <p:sp>
        <p:nvSpPr>
          <p:cNvPr id="26" name="Text 24"/>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sp>
        <p:nvSpPr>
          <p:cNvPr id="28" name="Text 26"/>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+$484K</a:t>
            </a:r>
            <a:endParaRPr lang="en-US" sz="1600" dirty="0"/>
          </a:p>
        </p:txBody>
      </p:sp>
      <p:sp>
        <p:nvSpPr>
          <p:cNvPr id="29" name="Shape 27"/>
          <p:cNvSpPr/>
          <p:nvPr/>
        </p:nvSpPr>
        <p:spPr>
          <a:xfrm>
            <a:off x="4349496" y="1371600"/>
            <a:ext cx="3489960" cy="45720"/>
          </a:xfrm>
          <a:prstGeom prst="rect">
            <a:avLst/>
          </a:prstGeom>
          <a:solidFill>
            <a:srgbClr val="C2352F"/>
          </a:solidFill>
          <a:ln/>
        </p:spPr>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2" name="Shape 30"/>
          <p:cNvSpPr/>
          <p:nvPr/>
        </p:nvSpPr>
        <p:spPr>
          <a:xfrm>
            <a:off x="4349496" y="2103120"/>
            <a:ext cx="3489960" cy="755294"/>
          </a:xfrm>
          <a:prstGeom prst="rect">
            <a:avLst/>
          </a:prstGeom>
          <a:solidFill>
            <a:srgbClr val="F7F7F7"/>
          </a:solidFill>
          <a:ln/>
        </p:spPr>
      </p:sp>
      <p:sp>
        <p:nvSpPr>
          <p:cNvPr id="33" name="Text 31"/>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4" name="Text 32"/>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sp>
        <p:nvSpPr>
          <p:cNvPr id="35" name="Text 33"/>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6" name="Text 34"/>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sp>
        <p:nvSpPr>
          <p:cNvPr id="38" name="Text 36"/>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39" name="Shape 37"/>
          <p:cNvSpPr/>
          <p:nvPr/>
        </p:nvSpPr>
        <p:spPr>
          <a:xfrm>
            <a:off x="4349496" y="3613709"/>
            <a:ext cx="3489960" cy="755294"/>
          </a:xfrm>
          <a:prstGeom prst="rect">
            <a:avLst/>
          </a:prstGeom>
          <a:solidFill>
            <a:srgbClr val="F7F7F7"/>
          </a:solidFill>
          <a:ln/>
        </p:spPr>
      </p:sp>
      <p:sp>
        <p:nvSpPr>
          <p:cNvPr id="40" name="Text 38"/>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sp>
        <p:nvSpPr>
          <p:cNvPr id="42" name="Text 40"/>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43" name="Text 41"/>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−$59K</a:t>
            </a:r>
            <a:endParaRPr lang="en-US" sz="1400" dirty="0"/>
          </a:p>
        </p:txBody>
      </p:sp>
      <p:sp>
        <p:nvSpPr>
          <p:cNvPr id="45" name="Text 43"/>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−$212K</a:t>
            </a:r>
            <a:endParaRPr lang="en-US" sz="1600" dirty="0"/>
          </a:p>
        </p:txBody>
      </p:sp>
      <p:sp>
        <p:nvSpPr>
          <p:cNvPr id="46" name="Shape 44"/>
          <p:cNvSpPr/>
          <p:nvPr/>
        </p:nvSpPr>
        <p:spPr>
          <a:xfrm>
            <a:off x="4349496" y="5124298"/>
            <a:ext cx="3489960" cy="755294"/>
          </a:xfrm>
          <a:prstGeom prst="rect">
            <a:avLst/>
          </a:prstGeom>
          <a:solidFill>
            <a:srgbClr val="F7F7F7"/>
          </a:solidFill>
          <a:ln/>
        </p:spPr>
      </p:sp>
      <p:sp>
        <p:nvSpPr>
          <p:cNvPr id="47" name="Text 45"/>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$1.82M</a:t>
            </a:r>
            <a:endParaRPr lang="en-US" sz="1400" dirty="0"/>
          </a:p>
        </p:txBody>
      </p:sp>
      <p:sp>
        <p:nvSpPr>
          <p:cNvPr id="49" name="Text 47"/>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−$178K</a:t>
            </a:r>
            <a:endParaRPr lang="en-US" sz="1600" dirty="0"/>
          </a:p>
        </p:txBody>
      </p:sp>
      <p:sp>
        <p:nvSpPr>
          <p:cNvPr id="50" name="Shape 48"/>
          <p:cNvSpPr/>
          <p:nvPr/>
        </p:nvSpPr>
        <p:spPr>
          <a:xfrm>
            <a:off x="8040624" y="1371600"/>
            <a:ext cx="3489960" cy="45720"/>
          </a:xfrm>
          <a:prstGeom prst="rect">
            <a:avLst/>
          </a:prstGeom>
          <a:solidFill>
            <a:srgbClr val="2587C5"/>
          </a:solidFill>
          <a:ln/>
        </p:spPr>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3" name="Shape 51"/>
          <p:cNvSpPr/>
          <p:nvPr/>
        </p:nvSpPr>
        <p:spPr>
          <a:xfrm>
            <a:off x="8040624" y="2103120"/>
            <a:ext cx="3489960" cy="755294"/>
          </a:xfrm>
          <a:prstGeom prst="rect">
            <a:avLst/>
          </a:prstGeom>
          <a:solidFill>
            <a:srgbClr val="F7F7F7"/>
          </a:solidFill>
          <a:ln/>
        </p:spPr>
      </p:sp>
      <p:sp>
        <p:nvSpPr>
          <p:cNvPr id="54" name="Shape 52"/>
          <p:cNvSpPr/>
          <p:nvPr/>
        </p:nvSpPr>
        <p:spPr>
          <a:xfrm>
            <a:off x="11466576" y="2139696"/>
            <a:ext cx="64008" cy="682142"/>
          </a:xfrm>
          <a:prstGeom prst="rect">
            <a:avLst/>
          </a:prstGeom>
          <a:solidFill>
            <a:srgbClr val="12A566"/>
          </a:solidFill>
          <a:ln/>
        </p:spPr>
      </p:sp>
      <p:sp>
        <p:nvSpPr>
          <p:cNvPr id="55" name="Text 53"/>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sp>
        <p:nvSpPr>
          <p:cNvPr id="57" name="Text 55"/>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58" name="Shape 56"/>
          <p:cNvSpPr/>
          <p:nvPr/>
        </p:nvSpPr>
        <p:spPr>
          <a:xfrm>
            <a:off x="11466576" y="2894990"/>
            <a:ext cx="64008" cy="682142"/>
          </a:xfrm>
          <a:prstGeom prst="rect">
            <a:avLst/>
          </a:prstGeom>
          <a:solidFill>
            <a:srgbClr val="12A566"/>
          </a:solidFill>
          <a:ln/>
        </p:spPr>
      </p:sp>
      <p:sp>
        <p:nvSpPr>
          <p:cNvPr id="59" name="Text 57"/>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0" name="Text 58"/>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sp>
        <p:nvSpPr>
          <p:cNvPr id="61" name="Text 59"/>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62" name="Shape 60"/>
          <p:cNvSpPr/>
          <p:nvPr/>
        </p:nvSpPr>
        <p:spPr>
          <a:xfrm>
            <a:off x="8040624" y="3613709"/>
            <a:ext cx="3489960" cy="755294"/>
          </a:xfrm>
          <a:prstGeom prst="rect">
            <a:avLst/>
          </a:prstGeom>
          <a:solidFill>
            <a:srgbClr val="F7F7F7"/>
          </a:solidFill>
          <a:ln/>
        </p:spPr>
      </p:sp>
      <p:sp>
        <p:nvSpPr>
          <p:cNvPr id="63" name="Text 61"/>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sp>
        <p:nvSpPr>
          <p:cNvPr id="65" name="Text 63"/>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66" name="Text 64"/>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$408K</a:t>
            </a:r>
            <a:endParaRPr lang="en-US" sz="1400" dirty="0"/>
          </a:p>
        </p:txBody>
      </p:sp>
      <p:sp>
        <p:nvSpPr>
          <p:cNvPr id="68" name="Text 66"/>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+$92K</a:t>
            </a:r>
            <a:endParaRPr lang="en-US" sz="1600" dirty="0"/>
          </a:p>
        </p:txBody>
      </p:sp>
      <p:sp>
        <p:nvSpPr>
          <p:cNvPr id="69" name="Shape 67"/>
          <p:cNvSpPr/>
          <p:nvPr/>
        </p:nvSpPr>
        <p:spPr>
          <a:xfrm>
            <a:off x="8040624" y="5124298"/>
            <a:ext cx="3489960" cy="755294"/>
          </a:xfrm>
          <a:prstGeom prst="rect">
            <a:avLst/>
          </a:prstGeom>
          <a:solidFill>
            <a:srgbClr val="F7F7F7"/>
          </a:solidFill>
          <a:ln/>
        </p:spPr>
      </p:sp>
      <p:sp>
        <p:nvSpPr>
          <p:cNvPr id="70" name="Text 68"/>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$155K</a:t>
            </a:r>
            <a:endParaRPr lang="en-US" sz="1400" dirty="0"/>
          </a:p>
        </p:txBody>
      </p:sp>
      <p:sp>
        <p:nvSpPr>
          <p:cNvPr id="72" name="Text 70"/>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+$84K</a:t>
            </a:r>
            <a:endParaRPr lang="en-US" sz="1600" dirty="0"/>
          </a:p>
        </p:txBody>
      </p:sp>
      <p:sp>
        <p:nvSpPr>
          <p:cNvPr id="73" name="Shape 71"/>
          <p:cNvSpPr/>
          <p:nvPr/>
        </p:nvSpPr>
        <p:spPr>
          <a:xfrm>
            <a:off x="457200" y="6126480"/>
            <a:ext cx="11274552" cy="585216"/>
          </a:xfrm>
          <a:prstGeom prst="rect">
            <a:avLst/>
          </a:prstGeom>
          <a:solidFill>
            <a:srgbClr val="EDF4FA"/>
          </a:solidFill>
          <a:ln/>
        </p:spPr>
      </p:sp>
      <p:sp>
        <p:nvSpPr>
          <p:cNvPr id="74" name="Text 72"/>
          <p:cNvSpPr txBox="1"/>
          <p:nvPr/>
        </p:nvSpPr>
        <p:spPr>
          <a:xfrm>
            <a:off x="658368" y="6144768"/>
            <a:ext cx="109270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Ask Toyota Henderson, Audi Henderson and Cadillac what changed. Ask Chevy LV, VW Henderson and Toyota Spokane what got in the way. Ask Honda Henderson, Toyota Henderson and Chevy LV what they started this year.</a:t>
            </a:r>
            <a:endParaRPr lang="en-US" sz="15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RECORDS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 Record Year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12A566"/>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STORES WITH AN ALL-TIME RECORD MONTH</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23</a:t>
            </a:r>
            <a:endParaRPr lang="en-US" sz="40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of 33 set their best month ever in service, parts or combined during 2026.</a:t>
            </a:r>
            <a:endParaRPr lang="en-US" sz="15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12A566"/>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RECORDS SET</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98</a:t>
            </a:r>
            <a:endParaRPr lang="en-US" sz="40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all-time monthly records across those stores: service, parts and combined counted separately.</a:t>
            </a:r>
            <a:endParaRPr lang="en-US" sz="15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12A566"/>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BEST JANUARY–SEPTEMBER EVER</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25</a:t>
            </a:r>
            <a:endParaRPr lang="en-US" sz="40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stores had their best January–September ever in combined fixed gross.</a:t>
            </a:r>
            <a:endParaRPr lang="en-US" sz="15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12A566"/>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SET A RECORD, THEN RESET IT</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7A4A"/>
                </a:solidFill>
                <a:latin typeface="Inter" pitchFamily="34" charset="0"/>
                <a:ea typeface="Inter" pitchFamily="34" charset="-122"/>
                <a:cs typeface="Inter" pitchFamily="34" charset="-120"/>
              </a:rPr>
              <a:t>16</a:t>
            </a:r>
            <a:endParaRPr lang="en-US" sz="40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stores set a record and then topped it again later in the year.</a:t>
            </a:r>
            <a:endParaRPr lang="en-US" sz="15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Most records set this year: Honda Spokane 9, Nissan 9, Toyota Henderson 8, Honda Henderson 7 and Subaru St George 7.</a:t>
            </a:r>
            <a:endParaRPr lang="en-US" sz="1700" dirty="0"/>
          </a:p>
        </p:txBody>
      </p:sp>
      <p:sp>
        <p:nvSpPr>
          <p:cNvPr id="27" name="Shape 25"/>
          <p:cNvSpPr/>
          <p:nvPr/>
        </p:nvSpPr>
        <p:spPr>
          <a:xfrm>
            <a:off x="457200" y="6126480"/>
            <a:ext cx="11274552" cy="348996"/>
          </a:xfrm>
          <a:prstGeom prst="rect">
            <a:avLst/>
          </a:prstGeom>
          <a:solidFill>
            <a:srgbClr val="E6F6EE"/>
          </a:solidFill>
          <a:ln/>
        </p:spPr>
      </p:sp>
      <p:sp>
        <p:nvSpPr>
          <p:cNvPr id="28" name="Text 26"/>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7A4A"/>
                </a:solidFill>
                <a:latin typeface="Inter" pitchFamily="34" charset="0"/>
                <a:ea typeface="Inter" pitchFamily="34" charset="-122"/>
                <a:cs typeface="Inter" pitchFamily="34" charset="-120"/>
              </a:rPr>
              <a:t>Jul alone brought 11 combined store records. Every one of these stores can tell the room what they changed.</a:t>
            </a:r>
            <a:endParaRPr lang="en-US" sz="145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RECORDS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Records Set in 2026</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0266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Total</a:t>
            </a:r>
            <a:endParaRPr lang="en-US" sz="1400" dirty="0"/>
          </a:p>
        </p:txBody>
      </p:sp>
      <p:sp>
        <p:nvSpPr>
          <p:cNvPr id="7" name="Text 5"/>
          <p:cNvSpPr txBox="1"/>
          <p:nvPr/>
        </p:nvSpPr>
        <p:spPr>
          <a:xfrm>
            <a:off x="3813048"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Svc</a:t>
            </a:r>
            <a:endParaRPr lang="en-US" sz="1400" dirty="0"/>
          </a:p>
        </p:txBody>
      </p:sp>
      <p:sp>
        <p:nvSpPr>
          <p:cNvPr id="8" name="Text 6"/>
          <p:cNvSpPr txBox="1"/>
          <p:nvPr/>
        </p:nvSpPr>
        <p:spPr>
          <a:xfrm>
            <a:off x="4471416" y="1316736"/>
            <a:ext cx="71323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Parts</a:t>
            </a:r>
            <a:endParaRPr lang="en-US" sz="1400" dirty="0"/>
          </a:p>
        </p:txBody>
      </p:sp>
      <p:sp>
        <p:nvSpPr>
          <p:cNvPr id="9" name="Text 7"/>
          <p:cNvSpPr txBox="1"/>
          <p:nvPr/>
        </p:nvSpPr>
        <p:spPr>
          <a:xfrm>
            <a:off x="5184648"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Comb.</a:t>
            </a:r>
            <a:endParaRPr lang="en-US" sz="1400" dirty="0"/>
          </a:p>
        </p:txBody>
      </p:sp>
      <p:sp>
        <p:nvSpPr>
          <p:cNvPr id="10" name="Text 8"/>
          <p:cNvSpPr txBox="1"/>
          <p:nvPr/>
        </p:nvSpPr>
        <p:spPr>
          <a:xfrm>
            <a:off x="85770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Total</a:t>
            </a:r>
            <a:endParaRPr lang="en-US" sz="1400" dirty="0"/>
          </a:p>
        </p:txBody>
      </p:sp>
      <p:sp>
        <p:nvSpPr>
          <p:cNvPr id="11" name="Text 9"/>
          <p:cNvSpPr txBox="1"/>
          <p:nvPr/>
        </p:nvSpPr>
        <p:spPr>
          <a:xfrm>
            <a:off x="9363456"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Svc</a:t>
            </a:r>
            <a:endParaRPr lang="en-US" sz="1400" dirty="0"/>
          </a:p>
        </p:txBody>
      </p:sp>
      <p:sp>
        <p:nvSpPr>
          <p:cNvPr id="12" name="Text 10"/>
          <p:cNvSpPr txBox="1"/>
          <p:nvPr/>
        </p:nvSpPr>
        <p:spPr>
          <a:xfrm>
            <a:off x="10021824" y="1316736"/>
            <a:ext cx="71323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Parts</a:t>
            </a:r>
            <a:endParaRPr lang="en-US" sz="1400" dirty="0"/>
          </a:p>
        </p:txBody>
      </p:sp>
      <p:sp>
        <p:nvSpPr>
          <p:cNvPr id="13" name="Text 11"/>
          <p:cNvSpPr txBox="1"/>
          <p:nvPr/>
        </p:nvSpPr>
        <p:spPr>
          <a:xfrm>
            <a:off x="10735056"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Comb.</a:t>
            </a:r>
            <a:endParaRPr lang="en-US" sz="1400" dirty="0"/>
          </a:p>
        </p:txBody>
      </p:sp>
      <p:sp>
        <p:nvSpPr>
          <p:cNvPr id="14" name="Text 12"/>
          <p:cNvSpPr txBox="1"/>
          <p:nvPr/>
        </p:nvSpPr>
        <p:spPr>
          <a:xfrm>
            <a:off x="658368" y="170078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6" name="Shape 14"/>
          <p:cNvSpPr/>
          <p:nvPr/>
        </p:nvSpPr>
        <p:spPr>
          <a:xfrm>
            <a:off x="2871216" y="1779994"/>
            <a:ext cx="100584" cy="193624"/>
          </a:xfrm>
          <a:prstGeom prst="rect">
            <a:avLst/>
          </a:prstGeom>
          <a:solidFill>
            <a:srgbClr val="12A566"/>
          </a:solidFill>
          <a:ln/>
        </p:spPr>
      </p:sp>
      <p:sp>
        <p:nvSpPr>
          <p:cNvPr id="17" name="Text 15"/>
          <p:cNvSpPr txBox="1"/>
          <p:nvPr/>
        </p:nvSpPr>
        <p:spPr>
          <a:xfrm>
            <a:off x="3026664" y="170078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a:t>
            </a:r>
            <a:endParaRPr lang="en-US" sz="1300" dirty="0"/>
          </a:p>
        </p:txBody>
      </p:sp>
      <p:sp>
        <p:nvSpPr>
          <p:cNvPr id="18" name="Text 16"/>
          <p:cNvSpPr txBox="1"/>
          <p:nvPr/>
        </p:nvSpPr>
        <p:spPr>
          <a:xfrm>
            <a:off x="3813048" y="1700784"/>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19" name="Text 17"/>
          <p:cNvSpPr txBox="1"/>
          <p:nvPr/>
        </p:nvSpPr>
        <p:spPr>
          <a:xfrm>
            <a:off x="4471416" y="1700784"/>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20" name="Text 18"/>
          <p:cNvSpPr txBox="1"/>
          <p:nvPr/>
        </p:nvSpPr>
        <p:spPr>
          <a:xfrm>
            <a:off x="5184648" y="1700784"/>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21" name="Text 19"/>
          <p:cNvSpPr txBox="1"/>
          <p:nvPr/>
        </p:nvSpPr>
        <p:spPr>
          <a:xfrm>
            <a:off x="658368" y="205282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205282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3" name="Shape 21"/>
          <p:cNvSpPr/>
          <p:nvPr/>
        </p:nvSpPr>
        <p:spPr>
          <a:xfrm>
            <a:off x="2871216" y="2132038"/>
            <a:ext cx="100584" cy="193624"/>
          </a:xfrm>
          <a:prstGeom prst="rect">
            <a:avLst/>
          </a:prstGeom>
          <a:solidFill>
            <a:srgbClr val="12A566"/>
          </a:solidFill>
          <a:ln/>
        </p:spPr>
      </p:sp>
      <p:sp>
        <p:nvSpPr>
          <p:cNvPr id="24" name="Text 22"/>
          <p:cNvSpPr txBox="1"/>
          <p:nvPr/>
        </p:nvSpPr>
        <p:spPr>
          <a:xfrm>
            <a:off x="3026664" y="205282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a:t>
            </a:r>
            <a:endParaRPr lang="en-US" sz="1300" dirty="0"/>
          </a:p>
        </p:txBody>
      </p:sp>
      <p:sp>
        <p:nvSpPr>
          <p:cNvPr id="25" name="Text 23"/>
          <p:cNvSpPr txBox="1"/>
          <p:nvPr/>
        </p:nvSpPr>
        <p:spPr>
          <a:xfrm>
            <a:off x="3813048" y="2052828"/>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26" name="Text 24"/>
          <p:cNvSpPr txBox="1"/>
          <p:nvPr/>
        </p:nvSpPr>
        <p:spPr>
          <a:xfrm>
            <a:off x="4471416" y="2052828"/>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27" name="Text 25"/>
          <p:cNvSpPr txBox="1"/>
          <p:nvPr/>
        </p:nvSpPr>
        <p:spPr>
          <a:xfrm>
            <a:off x="5184648" y="2052828"/>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28" name="Text 26"/>
          <p:cNvSpPr txBox="1"/>
          <p:nvPr/>
        </p:nvSpPr>
        <p:spPr>
          <a:xfrm>
            <a:off x="658368" y="240487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9" name="Text 27"/>
          <p:cNvSpPr txBox="1"/>
          <p:nvPr/>
        </p:nvSpPr>
        <p:spPr>
          <a:xfrm>
            <a:off x="1014984" y="240487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30" name="Shape 28"/>
          <p:cNvSpPr/>
          <p:nvPr/>
        </p:nvSpPr>
        <p:spPr>
          <a:xfrm>
            <a:off x="2871216" y="2484082"/>
            <a:ext cx="89408" cy="193624"/>
          </a:xfrm>
          <a:prstGeom prst="rect">
            <a:avLst/>
          </a:prstGeom>
          <a:solidFill>
            <a:srgbClr val="12A566"/>
          </a:solidFill>
          <a:ln/>
        </p:spPr>
      </p:sp>
      <p:sp>
        <p:nvSpPr>
          <p:cNvPr id="31" name="Text 29"/>
          <p:cNvSpPr txBox="1"/>
          <p:nvPr/>
        </p:nvSpPr>
        <p:spPr>
          <a:xfrm>
            <a:off x="3026664" y="240487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a:t>
            </a:r>
            <a:endParaRPr lang="en-US" sz="1300" dirty="0"/>
          </a:p>
        </p:txBody>
      </p:sp>
      <p:sp>
        <p:nvSpPr>
          <p:cNvPr id="32" name="Text 30"/>
          <p:cNvSpPr txBox="1"/>
          <p:nvPr/>
        </p:nvSpPr>
        <p:spPr>
          <a:xfrm>
            <a:off x="3813048" y="2404872"/>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33" name="Text 31"/>
          <p:cNvSpPr txBox="1"/>
          <p:nvPr/>
        </p:nvSpPr>
        <p:spPr>
          <a:xfrm>
            <a:off x="4471416" y="2404872"/>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34" name="Text 32"/>
          <p:cNvSpPr txBox="1"/>
          <p:nvPr/>
        </p:nvSpPr>
        <p:spPr>
          <a:xfrm>
            <a:off x="5184648" y="2404872"/>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35" name="Text 33"/>
          <p:cNvSpPr txBox="1"/>
          <p:nvPr/>
        </p:nvSpPr>
        <p:spPr>
          <a:xfrm>
            <a:off x="658368" y="275691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6" name="Text 34"/>
          <p:cNvSpPr txBox="1"/>
          <p:nvPr/>
        </p:nvSpPr>
        <p:spPr>
          <a:xfrm>
            <a:off x="1014984" y="275691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7" name="Shape 35"/>
          <p:cNvSpPr/>
          <p:nvPr/>
        </p:nvSpPr>
        <p:spPr>
          <a:xfrm>
            <a:off x="2871216" y="2836126"/>
            <a:ext cx="78232" cy="193624"/>
          </a:xfrm>
          <a:prstGeom prst="rect">
            <a:avLst/>
          </a:prstGeom>
          <a:solidFill>
            <a:srgbClr val="12A566"/>
          </a:solidFill>
          <a:ln/>
        </p:spPr>
      </p:sp>
      <p:sp>
        <p:nvSpPr>
          <p:cNvPr id="38" name="Text 36"/>
          <p:cNvSpPr txBox="1"/>
          <p:nvPr/>
        </p:nvSpPr>
        <p:spPr>
          <a:xfrm>
            <a:off x="3026664" y="275691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a:t>
            </a:r>
            <a:endParaRPr lang="en-US" sz="1300" dirty="0"/>
          </a:p>
        </p:txBody>
      </p:sp>
      <p:sp>
        <p:nvSpPr>
          <p:cNvPr id="39" name="Text 37"/>
          <p:cNvSpPr txBox="1"/>
          <p:nvPr/>
        </p:nvSpPr>
        <p:spPr>
          <a:xfrm>
            <a:off x="3813048" y="2756916"/>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40" name="Text 38"/>
          <p:cNvSpPr txBox="1"/>
          <p:nvPr/>
        </p:nvSpPr>
        <p:spPr>
          <a:xfrm>
            <a:off x="4471416" y="2756916"/>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41" name="Text 39"/>
          <p:cNvSpPr txBox="1"/>
          <p:nvPr/>
        </p:nvSpPr>
        <p:spPr>
          <a:xfrm>
            <a:off x="5184648" y="2756916"/>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42" name="Text 40"/>
          <p:cNvSpPr txBox="1"/>
          <p:nvPr/>
        </p:nvSpPr>
        <p:spPr>
          <a:xfrm>
            <a:off x="658368" y="310896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3" name="Text 41"/>
          <p:cNvSpPr txBox="1"/>
          <p:nvPr/>
        </p:nvSpPr>
        <p:spPr>
          <a:xfrm>
            <a:off x="1014984" y="310896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4" name="Shape 42"/>
          <p:cNvSpPr/>
          <p:nvPr/>
        </p:nvSpPr>
        <p:spPr>
          <a:xfrm>
            <a:off x="2871216" y="3188170"/>
            <a:ext cx="78232" cy="193624"/>
          </a:xfrm>
          <a:prstGeom prst="rect">
            <a:avLst/>
          </a:prstGeom>
          <a:solidFill>
            <a:srgbClr val="12A566"/>
          </a:solidFill>
          <a:ln/>
        </p:spPr>
      </p:sp>
      <p:sp>
        <p:nvSpPr>
          <p:cNvPr id="45" name="Text 43"/>
          <p:cNvSpPr txBox="1"/>
          <p:nvPr/>
        </p:nvSpPr>
        <p:spPr>
          <a:xfrm>
            <a:off x="3026664" y="310896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a:t>
            </a:r>
            <a:endParaRPr lang="en-US" sz="1300" dirty="0"/>
          </a:p>
        </p:txBody>
      </p:sp>
      <p:sp>
        <p:nvSpPr>
          <p:cNvPr id="46" name="Text 44"/>
          <p:cNvSpPr txBox="1"/>
          <p:nvPr/>
        </p:nvSpPr>
        <p:spPr>
          <a:xfrm>
            <a:off x="3813048" y="3108960"/>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47" name="Text 45"/>
          <p:cNvSpPr txBox="1"/>
          <p:nvPr/>
        </p:nvSpPr>
        <p:spPr>
          <a:xfrm>
            <a:off x="4471416" y="3108960"/>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48" name="Text 46"/>
          <p:cNvSpPr txBox="1"/>
          <p:nvPr/>
        </p:nvSpPr>
        <p:spPr>
          <a:xfrm>
            <a:off x="5184648" y="3108960"/>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49" name="Text 47"/>
          <p:cNvSpPr txBox="1"/>
          <p:nvPr/>
        </p:nvSpPr>
        <p:spPr>
          <a:xfrm>
            <a:off x="658368" y="346100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50" name="Text 48"/>
          <p:cNvSpPr txBox="1"/>
          <p:nvPr/>
        </p:nvSpPr>
        <p:spPr>
          <a:xfrm>
            <a:off x="1014984" y="346100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51" name="Shape 49"/>
          <p:cNvSpPr/>
          <p:nvPr/>
        </p:nvSpPr>
        <p:spPr>
          <a:xfrm>
            <a:off x="2871216" y="3540214"/>
            <a:ext cx="67056" cy="193624"/>
          </a:xfrm>
          <a:prstGeom prst="rect">
            <a:avLst/>
          </a:prstGeom>
          <a:solidFill>
            <a:srgbClr val="12A566"/>
          </a:solidFill>
          <a:ln/>
        </p:spPr>
      </p:sp>
      <p:sp>
        <p:nvSpPr>
          <p:cNvPr id="52" name="Text 50"/>
          <p:cNvSpPr txBox="1"/>
          <p:nvPr/>
        </p:nvSpPr>
        <p:spPr>
          <a:xfrm>
            <a:off x="3026664" y="346100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a:t>
            </a:r>
            <a:endParaRPr lang="en-US" sz="1300" dirty="0"/>
          </a:p>
        </p:txBody>
      </p:sp>
      <p:sp>
        <p:nvSpPr>
          <p:cNvPr id="53" name="Text 51"/>
          <p:cNvSpPr txBox="1"/>
          <p:nvPr/>
        </p:nvSpPr>
        <p:spPr>
          <a:xfrm>
            <a:off x="3813048" y="3461004"/>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54" name="Text 52"/>
          <p:cNvSpPr txBox="1"/>
          <p:nvPr/>
        </p:nvSpPr>
        <p:spPr>
          <a:xfrm>
            <a:off x="4471416" y="3461004"/>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55" name="Text 53"/>
          <p:cNvSpPr txBox="1"/>
          <p:nvPr/>
        </p:nvSpPr>
        <p:spPr>
          <a:xfrm>
            <a:off x="5184648" y="3461004"/>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56" name="Text 54"/>
          <p:cNvSpPr txBox="1"/>
          <p:nvPr/>
        </p:nvSpPr>
        <p:spPr>
          <a:xfrm>
            <a:off x="658368" y="381304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7" name="Text 55"/>
          <p:cNvSpPr txBox="1"/>
          <p:nvPr/>
        </p:nvSpPr>
        <p:spPr>
          <a:xfrm>
            <a:off x="1014984" y="381304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58" name="Shape 56"/>
          <p:cNvSpPr/>
          <p:nvPr/>
        </p:nvSpPr>
        <p:spPr>
          <a:xfrm>
            <a:off x="2871216" y="3892258"/>
            <a:ext cx="67056" cy="193624"/>
          </a:xfrm>
          <a:prstGeom prst="rect">
            <a:avLst/>
          </a:prstGeom>
          <a:solidFill>
            <a:srgbClr val="12A566"/>
          </a:solidFill>
          <a:ln/>
        </p:spPr>
      </p:sp>
      <p:sp>
        <p:nvSpPr>
          <p:cNvPr id="59" name="Text 57"/>
          <p:cNvSpPr txBox="1"/>
          <p:nvPr/>
        </p:nvSpPr>
        <p:spPr>
          <a:xfrm>
            <a:off x="3026664" y="381304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a:t>
            </a:r>
            <a:endParaRPr lang="en-US" sz="1300" dirty="0"/>
          </a:p>
        </p:txBody>
      </p:sp>
      <p:sp>
        <p:nvSpPr>
          <p:cNvPr id="60" name="Text 58"/>
          <p:cNvSpPr txBox="1"/>
          <p:nvPr/>
        </p:nvSpPr>
        <p:spPr>
          <a:xfrm>
            <a:off x="3813048" y="3813048"/>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61" name="Text 59"/>
          <p:cNvSpPr txBox="1"/>
          <p:nvPr/>
        </p:nvSpPr>
        <p:spPr>
          <a:xfrm>
            <a:off x="4471416" y="3813048"/>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62" name="Text 60"/>
          <p:cNvSpPr txBox="1"/>
          <p:nvPr/>
        </p:nvSpPr>
        <p:spPr>
          <a:xfrm>
            <a:off x="5184648" y="3813048"/>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63" name="Text 61"/>
          <p:cNvSpPr txBox="1"/>
          <p:nvPr/>
        </p:nvSpPr>
        <p:spPr>
          <a:xfrm>
            <a:off x="658368" y="416509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4" name="Text 62"/>
          <p:cNvSpPr txBox="1"/>
          <p:nvPr/>
        </p:nvSpPr>
        <p:spPr>
          <a:xfrm>
            <a:off x="1014984" y="416509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5" name="Shape 63"/>
          <p:cNvSpPr/>
          <p:nvPr/>
        </p:nvSpPr>
        <p:spPr>
          <a:xfrm>
            <a:off x="2871216" y="4244302"/>
            <a:ext cx="55880" cy="193624"/>
          </a:xfrm>
          <a:prstGeom prst="rect">
            <a:avLst/>
          </a:prstGeom>
          <a:solidFill>
            <a:srgbClr val="12A566"/>
          </a:solidFill>
          <a:ln/>
        </p:spPr>
      </p:sp>
      <p:sp>
        <p:nvSpPr>
          <p:cNvPr id="66" name="Text 64"/>
          <p:cNvSpPr txBox="1"/>
          <p:nvPr/>
        </p:nvSpPr>
        <p:spPr>
          <a:xfrm>
            <a:off x="3026664" y="416509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a:t>
            </a:r>
            <a:endParaRPr lang="en-US" sz="1300" dirty="0"/>
          </a:p>
        </p:txBody>
      </p:sp>
      <p:sp>
        <p:nvSpPr>
          <p:cNvPr id="67" name="Text 65"/>
          <p:cNvSpPr txBox="1"/>
          <p:nvPr/>
        </p:nvSpPr>
        <p:spPr>
          <a:xfrm>
            <a:off x="3813048" y="4165092"/>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68" name="Text 66"/>
          <p:cNvSpPr txBox="1"/>
          <p:nvPr/>
        </p:nvSpPr>
        <p:spPr>
          <a:xfrm>
            <a:off x="4471416" y="4165092"/>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69" name="Text 67"/>
          <p:cNvSpPr txBox="1"/>
          <p:nvPr/>
        </p:nvSpPr>
        <p:spPr>
          <a:xfrm>
            <a:off x="5184648" y="4165092"/>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70" name="Text 68"/>
          <p:cNvSpPr txBox="1"/>
          <p:nvPr/>
        </p:nvSpPr>
        <p:spPr>
          <a:xfrm>
            <a:off x="658368" y="451713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71" name="Text 69"/>
          <p:cNvSpPr txBox="1"/>
          <p:nvPr/>
        </p:nvSpPr>
        <p:spPr>
          <a:xfrm>
            <a:off x="1014984" y="451713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72" name="Shape 70"/>
          <p:cNvSpPr/>
          <p:nvPr/>
        </p:nvSpPr>
        <p:spPr>
          <a:xfrm>
            <a:off x="2871216" y="4596346"/>
            <a:ext cx="44704" cy="193624"/>
          </a:xfrm>
          <a:prstGeom prst="rect">
            <a:avLst/>
          </a:prstGeom>
          <a:solidFill>
            <a:srgbClr val="12A566"/>
          </a:solidFill>
          <a:ln/>
        </p:spPr>
      </p:sp>
      <p:sp>
        <p:nvSpPr>
          <p:cNvPr id="73" name="Text 71"/>
          <p:cNvSpPr txBox="1"/>
          <p:nvPr/>
        </p:nvSpPr>
        <p:spPr>
          <a:xfrm>
            <a:off x="3026664" y="451713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74" name="Text 72"/>
          <p:cNvSpPr txBox="1"/>
          <p:nvPr/>
        </p:nvSpPr>
        <p:spPr>
          <a:xfrm>
            <a:off x="3813048" y="4517136"/>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75" name="Text 73"/>
          <p:cNvSpPr txBox="1"/>
          <p:nvPr/>
        </p:nvSpPr>
        <p:spPr>
          <a:xfrm>
            <a:off x="4471416" y="4517136"/>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76" name="Text 74"/>
          <p:cNvSpPr txBox="1"/>
          <p:nvPr/>
        </p:nvSpPr>
        <p:spPr>
          <a:xfrm>
            <a:off x="5184648" y="4517136"/>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77" name="Text 75"/>
          <p:cNvSpPr txBox="1"/>
          <p:nvPr/>
        </p:nvSpPr>
        <p:spPr>
          <a:xfrm>
            <a:off x="658368" y="486918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8" name="Text 76"/>
          <p:cNvSpPr txBox="1"/>
          <p:nvPr/>
        </p:nvSpPr>
        <p:spPr>
          <a:xfrm>
            <a:off x="1014984" y="486918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9" name="Shape 77"/>
          <p:cNvSpPr/>
          <p:nvPr/>
        </p:nvSpPr>
        <p:spPr>
          <a:xfrm>
            <a:off x="2871216" y="4948390"/>
            <a:ext cx="44704" cy="193624"/>
          </a:xfrm>
          <a:prstGeom prst="rect">
            <a:avLst/>
          </a:prstGeom>
          <a:solidFill>
            <a:srgbClr val="12A566"/>
          </a:solidFill>
          <a:ln/>
        </p:spPr>
      </p:sp>
      <p:sp>
        <p:nvSpPr>
          <p:cNvPr id="80" name="Text 78"/>
          <p:cNvSpPr txBox="1"/>
          <p:nvPr/>
        </p:nvSpPr>
        <p:spPr>
          <a:xfrm>
            <a:off x="3026664" y="486918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81" name="Text 79"/>
          <p:cNvSpPr txBox="1"/>
          <p:nvPr/>
        </p:nvSpPr>
        <p:spPr>
          <a:xfrm>
            <a:off x="3813048" y="4869180"/>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82" name="Text 80"/>
          <p:cNvSpPr txBox="1"/>
          <p:nvPr/>
        </p:nvSpPr>
        <p:spPr>
          <a:xfrm>
            <a:off x="4471416" y="4869180"/>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83" name="Text 81"/>
          <p:cNvSpPr txBox="1"/>
          <p:nvPr/>
        </p:nvSpPr>
        <p:spPr>
          <a:xfrm>
            <a:off x="5184648" y="4869180"/>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84" name="Text 82"/>
          <p:cNvSpPr txBox="1"/>
          <p:nvPr/>
        </p:nvSpPr>
        <p:spPr>
          <a:xfrm>
            <a:off x="658368" y="522122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85" name="Text 83"/>
          <p:cNvSpPr txBox="1"/>
          <p:nvPr/>
        </p:nvSpPr>
        <p:spPr>
          <a:xfrm>
            <a:off x="1014984" y="522122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86" name="Shape 84"/>
          <p:cNvSpPr/>
          <p:nvPr/>
        </p:nvSpPr>
        <p:spPr>
          <a:xfrm>
            <a:off x="2871216" y="5300434"/>
            <a:ext cx="44704" cy="193624"/>
          </a:xfrm>
          <a:prstGeom prst="rect">
            <a:avLst/>
          </a:prstGeom>
          <a:solidFill>
            <a:srgbClr val="12A566"/>
          </a:solidFill>
          <a:ln/>
        </p:spPr>
      </p:sp>
      <p:sp>
        <p:nvSpPr>
          <p:cNvPr id="87" name="Text 85"/>
          <p:cNvSpPr txBox="1"/>
          <p:nvPr/>
        </p:nvSpPr>
        <p:spPr>
          <a:xfrm>
            <a:off x="3026664" y="522122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88" name="Text 86"/>
          <p:cNvSpPr txBox="1"/>
          <p:nvPr/>
        </p:nvSpPr>
        <p:spPr>
          <a:xfrm>
            <a:off x="3813048" y="5221224"/>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89" name="Text 87"/>
          <p:cNvSpPr txBox="1"/>
          <p:nvPr/>
        </p:nvSpPr>
        <p:spPr>
          <a:xfrm>
            <a:off x="4471416" y="5221224"/>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90" name="Text 88"/>
          <p:cNvSpPr txBox="1"/>
          <p:nvPr/>
        </p:nvSpPr>
        <p:spPr>
          <a:xfrm>
            <a:off x="5184648" y="5221224"/>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91" name="Text 89"/>
          <p:cNvSpPr txBox="1"/>
          <p:nvPr/>
        </p:nvSpPr>
        <p:spPr>
          <a:xfrm>
            <a:off x="658368" y="557326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2" name="Text 90"/>
          <p:cNvSpPr txBox="1"/>
          <p:nvPr/>
        </p:nvSpPr>
        <p:spPr>
          <a:xfrm>
            <a:off x="1014984" y="557326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3" name="Shape 91"/>
          <p:cNvSpPr/>
          <p:nvPr/>
        </p:nvSpPr>
        <p:spPr>
          <a:xfrm>
            <a:off x="2871216" y="5652478"/>
            <a:ext cx="44704" cy="193624"/>
          </a:xfrm>
          <a:prstGeom prst="rect">
            <a:avLst/>
          </a:prstGeom>
          <a:solidFill>
            <a:srgbClr val="12A566"/>
          </a:solidFill>
          <a:ln/>
        </p:spPr>
      </p:sp>
      <p:sp>
        <p:nvSpPr>
          <p:cNvPr id="94" name="Text 92"/>
          <p:cNvSpPr txBox="1"/>
          <p:nvPr/>
        </p:nvSpPr>
        <p:spPr>
          <a:xfrm>
            <a:off x="3026664" y="557326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95" name="Text 93"/>
          <p:cNvSpPr txBox="1"/>
          <p:nvPr/>
        </p:nvSpPr>
        <p:spPr>
          <a:xfrm>
            <a:off x="3813048" y="5573268"/>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96" name="Text 94"/>
          <p:cNvSpPr txBox="1"/>
          <p:nvPr/>
        </p:nvSpPr>
        <p:spPr>
          <a:xfrm>
            <a:off x="4471416" y="5573268"/>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97" name="Text 95"/>
          <p:cNvSpPr txBox="1"/>
          <p:nvPr/>
        </p:nvSpPr>
        <p:spPr>
          <a:xfrm>
            <a:off x="5184648" y="5573268"/>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98" name="Text 96"/>
          <p:cNvSpPr txBox="1"/>
          <p:nvPr/>
        </p:nvSpPr>
        <p:spPr>
          <a:xfrm>
            <a:off x="6208776" y="170078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9" name="Text 97"/>
          <p:cNvSpPr txBox="1"/>
          <p:nvPr/>
        </p:nvSpPr>
        <p:spPr>
          <a:xfrm>
            <a:off x="6565392" y="170078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00" name="Shape 98"/>
          <p:cNvSpPr/>
          <p:nvPr/>
        </p:nvSpPr>
        <p:spPr>
          <a:xfrm>
            <a:off x="8421624" y="1779994"/>
            <a:ext cx="44704" cy="193624"/>
          </a:xfrm>
          <a:prstGeom prst="rect">
            <a:avLst/>
          </a:prstGeom>
          <a:solidFill>
            <a:srgbClr val="12A566"/>
          </a:solidFill>
          <a:ln/>
        </p:spPr>
      </p:sp>
      <p:sp>
        <p:nvSpPr>
          <p:cNvPr id="101" name="Text 99"/>
          <p:cNvSpPr txBox="1"/>
          <p:nvPr/>
        </p:nvSpPr>
        <p:spPr>
          <a:xfrm>
            <a:off x="8577072" y="170078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102" name="Text 100"/>
          <p:cNvSpPr txBox="1"/>
          <p:nvPr/>
        </p:nvSpPr>
        <p:spPr>
          <a:xfrm>
            <a:off x="9363456" y="1700784"/>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103" name="Text 101"/>
          <p:cNvSpPr txBox="1"/>
          <p:nvPr/>
        </p:nvSpPr>
        <p:spPr>
          <a:xfrm>
            <a:off x="10021824" y="1700784"/>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04" name="Text 102"/>
          <p:cNvSpPr txBox="1"/>
          <p:nvPr/>
        </p:nvSpPr>
        <p:spPr>
          <a:xfrm>
            <a:off x="10735056" y="1700784"/>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05" name="Text 103"/>
          <p:cNvSpPr txBox="1"/>
          <p:nvPr/>
        </p:nvSpPr>
        <p:spPr>
          <a:xfrm>
            <a:off x="6208776" y="205282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6" name="Text 104"/>
          <p:cNvSpPr txBox="1"/>
          <p:nvPr/>
        </p:nvSpPr>
        <p:spPr>
          <a:xfrm>
            <a:off x="6565392" y="205282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7" name="Shape 105"/>
          <p:cNvSpPr/>
          <p:nvPr/>
        </p:nvSpPr>
        <p:spPr>
          <a:xfrm>
            <a:off x="8421624" y="2132038"/>
            <a:ext cx="44704" cy="193624"/>
          </a:xfrm>
          <a:prstGeom prst="rect">
            <a:avLst/>
          </a:prstGeom>
          <a:solidFill>
            <a:srgbClr val="12A566"/>
          </a:solidFill>
          <a:ln/>
        </p:spPr>
      </p:sp>
      <p:sp>
        <p:nvSpPr>
          <p:cNvPr id="108" name="Text 106"/>
          <p:cNvSpPr txBox="1"/>
          <p:nvPr/>
        </p:nvSpPr>
        <p:spPr>
          <a:xfrm>
            <a:off x="8577072" y="205282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a:t>
            </a:r>
            <a:endParaRPr lang="en-US" sz="1300" dirty="0"/>
          </a:p>
        </p:txBody>
      </p:sp>
      <p:sp>
        <p:nvSpPr>
          <p:cNvPr id="109" name="Text 107"/>
          <p:cNvSpPr txBox="1"/>
          <p:nvPr/>
        </p:nvSpPr>
        <p:spPr>
          <a:xfrm>
            <a:off x="9363456" y="2052828"/>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a:t>
            </a:r>
            <a:endParaRPr lang="en-US" sz="1300" dirty="0"/>
          </a:p>
        </p:txBody>
      </p:sp>
      <p:sp>
        <p:nvSpPr>
          <p:cNvPr id="110" name="Text 108"/>
          <p:cNvSpPr txBox="1"/>
          <p:nvPr/>
        </p:nvSpPr>
        <p:spPr>
          <a:xfrm>
            <a:off x="10021824" y="2052828"/>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11" name="Text 109"/>
          <p:cNvSpPr txBox="1"/>
          <p:nvPr/>
        </p:nvSpPr>
        <p:spPr>
          <a:xfrm>
            <a:off x="10735056" y="2052828"/>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12" name="Text 110"/>
          <p:cNvSpPr txBox="1"/>
          <p:nvPr/>
        </p:nvSpPr>
        <p:spPr>
          <a:xfrm>
            <a:off x="6208776" y="240487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3" name="Text 111"/>
          <p:cNvSpPr txBox="1"/>
          <p:nvPr/>
        </p:nvSpPr>
        <p:spPr>
          <a:xfrm>
            <a:off x="6565392" y="240487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14" name="Shape 112"/>
          <p:cNvSpPr/>
          <p:nvPr/>
        </p:nvSpPr>
        <p:spPr>
          <a:xfrm>
            <a:off x="8421624" y="2484082"/>
            <a:ext cx="33528" cy="193624"/>
          </a:xfrm>
          <a:prstGeom prst="rect">
            <a:avLst/>
          </a:prstGeom>
          <a:solidFill>
            <a:srgbClr val="12A566"/>
          </a:solidFill>
          <a:ln/>
        </p:spPr>
      </p:sp>
      <p:sp>
        <p:nvSpPr>
          <p:cNvPr id="115" name="Text 113"/>
          <p:cNvSpPr txBox="1"/>
          <p:nvPr/>
        </p:nvSpPr>
        <p:spPr>
          <a:xfrm>
            <a:off x="8577072" y="240487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a:t>
            </a:r>
            <a:endParaRPr lang="en-US" sz="1300" dirty="0"/>
          </a:p>
        </p:txBody>
      </p:sp>
      <p:sp>
        <p:nvSpPr>
          <p:cNvPr id="116" name="Text 114"/>
          <p:cNvSpPr txBox="1"/>
          <p:nvPr/>
        </p:nvSpPr>
        <p:spPr>
          <a:xfrm>
            <a:off x="9363456" y="2404872"/>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17" name="Text 115"/>
          <p:cNvSpPr txBox="1"/>
          <p:nvPr/>
        </p:nvSpPr>
        <p:spPr>
          <a:xfrm>
            <a:off x="10021824" y="2404872"/>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18" name="Text 116"/>
          <p:cNvSpPr txBox="1"/>
          <p:nvPr/>
        </p:nvSpPr>
        <p:spPr>
          <a:xfrm>
            <a:off x="10735056" y="2404872"/>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119" name="Text 117"/>
          <p:cNvSpPr txBox="1"/>
          <p:nvPr/>
        </p:nvSpPr>
        <p:spPr>
          <a:xfrm>
            <a:off x="6208776" y="275691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20" name="Text 118"/>
          <p:cNvSpPr txBox="1"/>
          <p:nvPr/>
        </p:nvSpPr>
        <p:spPr>
          <a:xfrm>
            <a:off x="6565392" y="275691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1" name="Shape 119"/>
          <p:cNvSpPr/>
          <p:nvPr/>
        </p:nvSpPr>
        <p:spPr>
          <a:xfrm>
            <a:off x="8421624" y="2836126"/>
            <a:ext cx="22352" cy="193624"/>
          </a:xfrm>
          <a:prstGeom prst="rect">
            <a:avLst/>
          </a:prstGeom>
          <a:solidFill>
            <a:srgbClr val="12A566"/>
          </a:solidFill>
          <a:ln/>
        </p:spPr>
      </p:sp>
      <p:sp>
        <p:nvSpPr>
          <p:cNvPr id="122" name="Text 120"/>
          <p:cNvSpPr txBox="1"/>
          <p:nvPr/>
        </p:nvSpPr>
        <p:spPr>
          <a:xfrm>
            <a:off x="8577072" y="275691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23" name="Text 121"/>
          <p:cNvSpPr txBox="1"/>
          <p:nvPr/>
        </p:nvSpPr>
        <p:spPr>
          <a:xfrm>
            <a:off x="9363456" y="2756916"/>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24" name="Text 122"/>
          <p:cNvSpPr txBox="1"/>
          <p:nvPr/>
        </p:nvSpPr>
        <p:spPr>
          <a:xfrm>
            <a:off x="10021824" y="2756916"/>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25" name="Text 123"/>
          <p:cNvSpPr txBox="1"/>
          <p:nvPr/>
        </p:nvSpPr>
        <p:spPr>
          <a:xfrm>
            <a:off x="10735056" y="2756916"/>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26" name="Text 124"/>
          <p:cNvSpPr txBox="1"/>
          <p:nvPr/>
        </p:nvSpPr>
        <p:spPr>
          <a:xfrm>
            <a:off x="6208776" y="310896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27" name="Text 125"/>
          <p:cNvSpPr txBox="1"/>
          <p:nvPr/>
        </p:nvSpPr>
        <p:spPr>
          <a:xfrm>
            <a:off x="6565392" y="310896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8" name="Shape 126"/>
          <p:cNvSpPr/>
          <p:nvPr/>
        </p:nvSpPr>
        <p:spPr>
          <a:xfrm>
            <a:off x="8421624" y="3188170"/>
            <a:ext cx="22352" cy="193624"/>
          </a:xfrm>
          <a:prstGeom prst="rect">
            <a:avLst/>
          </a:prstGeom>
          <a:solidFill>
            <a:srgbClr val="12A566"/>
          </a:solidFill>
          <a:ln/>
        </p:spPr>
      </p:sp>
      <p:sp>
        <p:nvSpPr>
          <p:cNvPr id="129" name="Text 127"/>
          <p:cNvSpPr txBox="1"/>
          <p:nvPr/>
        </p:nvSpPr>
        <p:spPr>
          <a:xfrm>
            <a:off x="8577072" y="310896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30" name="Text 128"/>
          <p:cNvSpPr txBox="1"/>
          <p:nvPr/>
        </p:nvSpPr>
        <p:spPr>
          <a:xfrm>
            <a:off x="9363456" y="3108960"/>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31" name="Text 129"/>
          <p:cNvSpPr txBox="1"/>
          <p:nvPr/>
        </p:nvSpPr>
        <p:spPr>
          <a:xfrm>
            <a:off x="10021824" y="3108960"/>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32" name="Text 130"/>
          <p:cNvSpPr txBox="1"/>
          <p:nvPr/>
        </p:nvSpPr>
        <p:spPr>
          <a:xfrm>
            <a:off x="10735056" y="3108960"/>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33" name="Text 131"/>
          <p:cNvSpPr txBox="1"/>
          <p:nvPr/>
        </p:nvSpPr>
        <p:spPr>
          <a:xfrm>
            <a:off x="6208776" y="346100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34" name="Text 132"/>
          <p:cNvSpPr txBox="1"/>
          <p:nvPr/>
        </p:nvSpPr>
        <p:spPr>
          <a:xfrm>
            <a:off x="6565392" y="346100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35" name="Shape 133"/>
          <p:cNvSpPr/>
          <p:nvPr/>
        </p:nvSpPr>
        <p:spPr>
          <a:xfrm>
            <a:off x="8421624" y="3540214"/>
            <a:ext cx="22352" cy="193624"/>
          </a:xfrm>
          <a:prstGeom prst="rect">
            <a:avLst/>
          </a:prstGeom>
          <a:solidFill>
            <a:srgbClr val="12A566"/>
          </a:solidFill>
          <a:ln/>
        </p:spPr>
      </p:sp>
      <p:sp>
        <p:nvSpPr>
          <p:cNvPr id="136" name="Text 134"/>
          <p:cNvSpPr txBox="1"/>
          <p:nvPr/>
        </p:nvSpPr>
        <p:spPr>
          <a:xfrm>
            <a:off x="8577072" y="346100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37" name="Text 135"/>
          <p:cNvSpPr txBox="1"/>
          <p:nvPr/>
        </p:nvSpPr>
        <p:spPr>
          <a:xfrm>
            <a:off x="9363456" y="3461004"/>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38" name="Text 136"/>
          <p:cNvSpPr txBox="1"/>
          <p:nvPr/>
        </p:nvSpPr>
        <p:spPr>
          <a:xfrm>
            <a:off x="10021824" y="3461004"/>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39" name="Text 137"/>
          <p:cNvSpPr txBox="1"/>
          <p:nvPr/>
        </p:nvSpPr>
        <p:spPr>
          <a:xfrm>
            <a:off x="10735056" y="3461004"/>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40" name="Text 138"/>
          <p:cNvSpPr txBox="1"/>
          <p:nvPr/>
        </p:nvSpPr>
        <p:spPr>
          <a:xfrm>
            <a:off x="6208776" y="3813048"/>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41" name="Text 139"/>
          <p:cNvSpPr txBox="1"/>
          <p:nvPr/>
        </p:nvSpPr>
        <p:spPr>
          <a:xfrm>
            <a:off x="6565392" y="3813048"/>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42" name="Shape 140"/>
          <p:cNvSpPr/>
          <p:nvPr/>
        </p:nvSpPr>
        <p:spPr>
          <a:xfrm>
            <a:off x="8421624" y="3892258"/>
            <a:ext cx="22352" cy="193624"/>
          </a:xfrm>
          <a:prstGeom prst="rect">
            <a:avLst/>
          </a:prstGeom>
          <a:solidFill>
            <a:srgbClr val="12A566"/>
          </a:solidFill>
          <a:ln/>
        </p:spPr>
      </p:sp>
      <p:sp>
        <p:nvSpPr>
          <p:cNvPr id="143" name="Text 141"/>
          <p:cNvSpPr txBox="1"/>
          <p:nvPr/>
        </p:nvSpPr>
        <p:spPr>
          <a:xfrm>
            <a:off x="8577072" y="3813048"/>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44" name="Text 142"/>
          <p:cNvSpPr txBox="1"/>
          <p:nvPr/>
        </p:nvSpPr>
        <p:spPr>
          <a:xfrm>
            <a:off x="9363456" y="3813048"/>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45" name="Text 143"/>
          <p:cNvSpPr txBox="1"/>
          <p:nvPr/>
        </p:nvSpPr>
        <p:spPr>
          <a:xfrm>
            <a:off x="10021824" y="3813048"/>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46" name="Text 144"/>
          <p:cNvSpPr txBox="1"/>
          <p:nvPr/>
        </p:nvSpPr>
        <p:spPr>
          <a:xfrm>
            <a:off x="10735056" y="3813048"/>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47" name="Text 145"/>
          <p:cNvSpPr txBox="1"/>
          <p:nvPr/>
        </p:nvSpPr>
        <p:spPr>
          <a:xfrm>
            <a:off x="6208776" y="4165092"/>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48" name="Text 146"/>
          <p:cNvSpPr txBox="1"/>
          <p:nvPr/>
        </p:nvSpPr>
        <p:spPr>
          <a:xfrm>
            <a:off x="6565392" y="4165092"/>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9" name="Shape 147"/>
          <p:cNvSpPr/>
          <p:nvPr/>
        </p:nvSpPr>
        <p:spPr>
          <a:xfrm>
            <a:off x="8421624" y="4244302"/>
            <a:ext cx="22352" cy="193624"/>
          </a:xfrm>
          <a:prstGeom prst="rect">
            <a:avLst/>
          </a:prstGeom>
          <a:solidFill>
            <a:srgbClr val="12A566"/>
          </a:solidFill>
          <a:ln/>
        </p:spPr>
      </p:sp>
      <p:sp>
        <p:nvSpPr>
          <p:cNvPr id="150" name="Text 148"/>
          <p:cNvSpPr txBox="1"/>
          <p:nvPr/>
        </p:nvSpPr>
        <p:spPr>
          <a:xfrm>
            <a:off x="8577072" y="4165092"/>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51" name="Text 149"/>
          <p:cNvSpPr txBox="1"/>
          <p:nvPr/>
        </p:nvSpPr>
        <p:spPr>
          <a:xfrm>
            <a:off x="9363456" y="4165092"/>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52" name="Text 150"/>
          <p:cNvSpPr txBox="1"/>
          <p:nvPr/>
        </p:nvSpPr>
        <p:spPr>
          <a:xfrm>
            <a:off x="10021824" y="4165092"/>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53" name="Text 151"/>
          <p:cNvSpPr txBox="1"/>
          <p:nvPr/>
        </p:nvSpPr>
        <p:spPr>
          <a:xfrm>
            <a:off x="10735056" y="4165092"/>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54" name="Text 152"/>
          <p:cNvSpPr txBox="1"/>
          <p:nvPr/>
        </p:nvSpPr>
        <p:spPr>
          <a:xfrm>
            <a:off x="6208776" y="4517136"/>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55" name="Text 153"/>
          <p:cNvSpPr txBox="1"/>
          <p:nvPr/>
        </p:nvSpPr>
        <p:spPr>
          <a:xfrm>
            <a:off x="6565392" y="4517136"/>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56" name="Shape 154"/>
          <p:cNvSpPr/>
          <p:nvPr/>
        </p:nvSpPr>
        <p:spPr>
          <a:xfrm>
            <a:off x="8421624" y="4596346"/>
            <a:ext cx="22352" cy="193624"/>
          </a:xfrm>
          <a:prstGeom prst="rect">
            <a:avLst/>
          </a:prstGeom>
          <a:solidFill>
            <a:srgbClr val="12A566"/>
          </a:solidFill>
          <a:ln/>
        </p:spPr>
      </p:sp>
      <p:sp>
        <p:nvSpPr>
          <p:cNvPr id="157" name="Text 155"/>
          <p:cNvSpPr txBox="1"/>
          <p:nvPr/>
        </p:nvSpPr>
        <p:spPr>
          <a:xfrm>
            <a:off x="8577072" y="4517136"/>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a:t>
            </a:r>
            <a:endParaRPr lang="en-US" sz="1300" dirty="0"/>
          </a:p>
        </p:txBody>
      </p:sp>
      <p:sp>
        <p:nvSpPr>
          <p:cNvPr id="158" name="Text 156"/>
          <p:cNvSpPr txBox="1"/>
          <p:nvPr/>
        </p:nvSpPr>
        <p:spPr>
          <a:xfrm>
            <a:off x="9363456" y="4517136"/>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a:t>
            </a:r>
            <a:endParaRPr lang="en-US" sz="1300" dirty="0"/>
          </a:p>
        </p:txBody>
      </p:sp>
      <p:sp>
        <p:nvSpPr>
          <p:cNvPr id="159" name="Text 157"/>
          <p:cNvSpPr txBox="1"/>
          <p:nvPr/>
        </p:nvSpPr>
        <p:spPr>
          <a:xfrm>
            <a:off x="10021824" y="4517136"/>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0" name="Text 158"/>
          <p:cNvSpPr txBox="1"/>
          <p:nvPr/>
        </p:nvSpPr>
        <p:spPr>
          <a:xfrm>
            <a:off x="10735056" y="4517136"/>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1" name="Text 159"/>
          <p:cNvSpPr txBox="1"/>
          <p:nvPr/>
        </p:nvSpPr>
        <p:spPr>
          <a:xfrm>
            <a:off x="6208776" y="4869180"/>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62" name="Text 160"/>
          <p:cNvSpPr txBox="1"/>
          <p:nvPr/>
        </p:nvSpPr>
        <p:spPr>
          <a:xfrm>
            <a:off x="6565392" y="4869180"/>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63" name="Shape 161"/>
          <p:cNvSpPr/>
          <p:nvPr/>
        </p:nvSpPr>
        <p:spPr>
          <a:xfrm>
            <a:off x="8421624" y="4948390"/>
            <a:ext cx="18288" cy="193624"/>
          </a:xfrm>
          <a:prstGeom prst="rect">
            <a:avLst/>
          </a:prstGeom>
          <a:solidFill>
            <a:srgbClr val="12A566"/>
          </a:solidFill>
          <a:ln/>
        </p:spPr>
      </p:sp>
      <p:sp>
        <p:nvSpPr>
          <p:cNvPr id="164" name="Text 162"/>
          <p:cNvSpPr txBox="1"/>
          <p:nvPr/>
        </p:nvSpPr>
        <p:spPr>
          <a:xfrm>
            <a:off x="8577072" y="4869180"/>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a:t>
            </a:r>
            <a:endParaRPr lang="en-US" sz="1300" dirty="0"/>
          </a:p>
        </p:txBody>
      </p:sp>
      <p:sp>
        <p:nvSpPr>
          <p:cNvPr id="165" name="Text 163"/>
          <p:cNvSpPr txBox="1"/>
          <p:nvPr/>
        </p:nvSpPr>
        <p:spPr>
          <a:xfrm>
            <a:off x="9363456" y="4869180"/>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6" name="Text 164"/>
          <p:cNvSpPr txBox="1"/>
          <p:nvPr/>
        </p:nvSpPr>
        <p:spPr>
          <a:xfrm>
            <a:off x="10021824" y="4869180"/>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67" name="Text 165"/>
          <p:cNvSpPr txBox="1"/>
          <p:nvPr/>
        </p:nvSpPr>
        <p:spPr>
          <a:xfrm>
            <a:off x="10735056" y="4869180"/>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68" name="Text 166"/>
          <p:cNvSpPr txBox="1"/>
          <p:nvPr/>
        </p:nvSpPr>
        <p:spPr>
          <a:xfrm>
            <a:off x="6208776" y="5221224"/>
            <a:ext cx="310896" cy="352044"/>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69" name="Text 167"/>
          <p:cNvSpPr txBox="1"/>
          <p:nvPr/>
        </p:nvSpPr>
        <p:spPr>
          <a:xfrm>
            <a:off x="6565392" y="5221224"/>
            <a:ext cx="1783080" cy="352044"/>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70" name="Shape 168"/>
          <p:cNvSpPr/>
          <p:nvPr/>
        </p:nvSpPr>
        <p:spPr>
          <a:xfrm>
            <a:off x="8421624" y="5300434"/>
            <a:ext cx="18288" cy="193624"/>
          </a:xfrm>
          <a:prstGeom prst="rect">
            <a:avLst/>
          </a:prstGeom>
          <a:solidFill>
            <a:srgbClr val="12A566"/>
          </a:solidFill>
          <a:ln/>
        </p:spPr>
      </p:sp>
      <p:sp>
        <p:nvSpPr>
          <p:cNvPr id="171" name="Text 169"/>
          <p:cNvSpPr txBox="1"/>
          <p:nvPr/>
        </p:nvSpPr>
        <p:spPr>
          <a:xfrm>
            <a:off x="8577072" y="5221224"/>
            <a:ext cx="786384" cy="352044"/>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a:t>
            </a:r>
            <a:endParaRPr lang="en-US" sz="1300" dirty="0"/>
          </a:p>
        </p:txBody>
      </p:sp>
      <p:sp>
        <p:nvSpPr>
          <p:cNvPr id="172" name="Text 170"/>
          <p:cNvSpPr txBox="1"/>
          <p:nvPr/>
        </p:nvSpPr>
        <p:spPr>
          <a:xfrm>
            <a:off x="9363456" y="5221224"/>
            <a:ext cx="658368"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173" name="Text 171"/>
          <p:cNvSpPr txBox="1"/>
          <p:nvPr/>
        </p:nvSpPr>
        <p:spPr>
          <a:xfrm>
            <a:off x="10021824" y="5221224"/>
            <a:ext cx="713232"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74" name="Text 172"/>
          <p:cNvSpPr txBox="1"/>
          <p:nvPr/>
        </p:nvSpPr>
        <p:spPr>
          <a:xfrm>
            <a:off x="10735056" y="5221224"/>
            <a:ext cx="731520" cy="352044"/>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a:t>
            </a:r>
            <a:endParaRPr lang="en-US" sz="1300" dirty="0"/>
          </a:p>
        </p:txBody>
      </p:sp>
      <p:sp>
        <p:nvSpPr>
          <p:cNvPr id="175" name="Shape 173"/>
          <p:cNvSpPr/>
          <p:nvPr/>
        </p:nvSpPr>
        <p:spPr>
          <a:xfrm>
            <a:off x="6085332" y="1700784"/>
            <a:ext cx="10973" cy="4224528"/>
          </a:xfrm>
          <a:prstGeom prst="rect">
            <a:avLst/>
          </a:prstGeom>
          <a:solidFill>
            <a:srgbClr val="D9D9D9"/>
          </a:solidFill>
          <a:ln/>
        </p:spPr>
      </p:sp>
      <p:sp>
        <p:nvSpPr>
          <p:cNvPr id="176" name="Shape 174"/>
          <p:cNvSpPr/>
          <p:nvPr/>
        </p:nvSpPr>
        <p:spPr>
          <a:xfrm>
            <a:off x="457200" y="6126480"/>
            <a:ext cx="11274552" cy="371856"/>
          </a:xfrm>
          <a:prstGeom prst="rect">
            <a:avLst/>
          </a:prstGeom>
          <a:solidFill>
            <a:srgbClr val="E6F6EE"/>
          </a:solidFill>
          <a:ln/>
        </p:spPr>
      </p:sp>
      <p:sp>
        <p:nvSpPr>
          <p:cNvPr id="177" name="Text 17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stores set 98 all-time monthly records in 2026. Honda Spokane and Nissan lead with 9 each.</a:t>
            </a:r>
            <a:endParaRPr lang="en-US" sz="16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Is Sales 2.0</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Sell hours, build value, sell peace of mind</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Drive visits: don't say no to dollars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Generate throughput: max out hours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Drive retention and sell cars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Sales sells the first car. Service sells the next six.</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Every car, every time: follow the processes you have in place, consistently</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Processes only work when they are actively managed</a:t>
            </a:r>
            <a:endParaRPr lang="en-US" sz="16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+$6,297,386</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Service gross, up 5.2%, ahead of 2025 in all nine months.</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+$1,171,181</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Parts gross, up 1.9%, ahead of 2025 in six of nine months.</a:t>
            </a:r>
            <a:endParaRPr lang="en-US" sz="1400" dirty="0"/>
          </a:p>
        </p:txBody>
      </p:sp>
      <p:sp>
        <p:nvSpPr>
          <p:cNvPr id="16" name="Shape 14"/>
          <p:cNvSpPr/>
          <p:nvPr/>
        </p:nvSpPr>
        <p:spPr>
          <a:xfrm>
            <a:off x="7269480" y="4602480"/>
            <a:ext cx="54864" cy="1112520"/>
          </a:xfrm>
          <a:prstGeom prst="rect">
            <a:avLst/>
          </a:prstGeom>
          <a:solidFill>
            <a:srgbClr val="12A566"/>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$20.59M</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gross a month over the last twelve months.</a:t>
            </a:r>
            <a:endParaRPr lang="en-US" sz="1400" dirty="0"/>
          </a:p>
        </p:txBody>
      </p:sp>
      <p:sp>
        <p:nvSpPr>
          <p:cNvPr id="19" name="Shape 17"/>
          <p:cNvSpPr/>
          <p:nvPr/>
        </p:nvSpPr>
        <p:spPr>
          <a:xfrm>
            <a:off x="457200" y="6126480"/>
            <a:ext cx="11274552" cy="348996"/>
          </a:xfrm>
          <a:prstGeom prst="rect">
            <a:avLst/>
          </a:prstGeom>
          <a:solidFill>
            <a:srgbClr val="EDF4FA"/>
          </a:solidFill>
          <a:ln/>
        </p:spPr>
      </p:sp>
      <p:sp>
        <p:nvSpPr>
          <p:cNvPr id="20" name="Text 18"/>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2C4A"/>
                </a:solidFill>
                <a:latin typeface="Inter" pitchFamily="34" charset="0"/>
                <a:ea typeface="Inter" pitchFamily="34" charset="-122"/>
                <a:cs typeface="Inter" pitchFamily="34" charset="-120"/>
              </a:rPr>
              <a:t>The ask: run service like a sales department: every visit is a chance to sell the next hour and the next car.</a:t>
            </a:r>
            <a:endParaRPr lang="en-US" sz="145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Fixed 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How much of the whole store's fixed expenses, not just service and parts expenses, the service and parts gross pays for.</a:t>
            </a:r>
            <a:endParaRPr lang="en-US" sz="14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WHAT'S IN TOTAL STORE FIXED EXPENSES</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20803"/>
          </a:xfrm>
          <a:prstGeom prst="rect">
            <a:avLst/>
          </a:prstGeom>
          <a:solidFill>
            <a:srgbClr val="2587C5"/>
          </a:solidFill>
          <a:ln/>
        </p:spPr>
      </p:sp>
      <p:sp>
        <p:nvSpPr>
          <p:cNvPr id="19" name="Text 17"/>
          <p:cNvSpPr txBox="1"/>
          <p:nvPr/>
        </p:nvSpPr>
        <p:spPr>
          <a:xfrm>
            <a:off x="5266944"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Salaries and wages, payroll taxes, benefits, PTO: every department</a:t>
            </a:r>
            <a:endParaRPr lang="en-US" sz="1400" dirty="0"/>
          </a:p>
        </p:txBody>
      </p:sp>
      <p:sp>
        <p:nvSpPr>
          <p:cNvPr id="20" name="Shape 18"/>
          <p:cNvSpPr/>
          <p:nvPr/>
        </p:nvSpPr>
        <p:spPr>
          <a:xfrm>
            <a:off x="8394192" y="3410712"/>
            <a:ext cx="45720" cy="1020803"/>
          </a:xfrm>
          <a:prstGeom prst="rect">
            <a:avLst/>
          </a:prstGeom>
          <a:solidFill>
            <a:srgbClr val="2587C5"/>
          </a:solidFill>
          <a:ln/>
        </p:spPr>
      </p:sp>
      <p:sp>
        <p:nvSpPr>
          <p:cNvPr id="21" name="Text 19"/>
          <p:cNvSpPr txBox="1"/>
          <p:nvPr/>
        </p:nvSpPr>
        <p:spPr>
          <a:xfrm>
            <a:off x="8522208"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building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depreciation, property taxes, utilities, insurance, repairs</a:t>
            </a:r>
            <a:endParaRPr lang="en-US" sz="1400" dirty="0"/>
          </a:p>
        </p:txBody>
      </p:sp>
      <p:sp>
        <p:nvSpPr>
          <p:cNvPr id="22" name="Shape 20"/>
          <p:cNvSpPr/>
          <p:nvPr/>
        </p:nvSpPr>
        <p:spPr>
          <a:xfrm>
            <a:off x="5138928" y="4541243"/>
            <a:ext cx="45720" cy="1246909"/>
          </a:xfrm>
          <a:prstGeom prst="rect">
            <a:avLst/>
          </a:prstGeom>
          <a:solidFill>
            <a:srgbClr val="2587C5"/>
          </a:solidFill>
          <a:ln/>
        </p:spPr>
      </p:sp>
      <p:sp>
        <p:nvSpPr>
          <p:cNvPr id="23" name="Text 21"/>
          <p:cNvSpPr txBox="1"/>
          <p:nvPr/>
        </p:nvSpPr>
        <p:spPr>
          <a:xfrm>
            <a:off x="5266944"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systems and other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DMS and IT, outside services, phones, training, supplies</a:t>
            </a:r>
            <a:endParaRPr lang="en-US" sz="1400" dirty="0"/>
          </a:p>
        </p:txBody>
      </p:sp>
      <p:sp>
        <p:nvSpPr>
          <p:cNvPr id="24" name="Shape 22"/>
          <p:cNvSpPr/>
          <p:nvPr/>
        </p:nvSpPr>
        <p:spPr>
          <a:xfrm>
            <a:off x="8394192" y="4541243"/>
            <a:ext cx="45720" cy="1246909"/>
          </a:xfrm>
          <a:prstGeom prst="rect">
            <a:avLst/>
          </a:prstGeom>
          <a:solidFill>
            <a:srgbClr val="2587C5"/>
          </a:solidFill>
          <a:ln/>
        </p:spPr>
      </p:sp>
      <p:sp>
        <p:nvSpPr>
          <p:cNvPr id="25" name="Text 23"/>
          <p:cNvSpPr txBox="1"/>
          <p:nvPr/>
        </p:nvSpPr>
        <p:spPr>
          <a:xfrm>
            <a:off x="8522208"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Not included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Sales and F&amp;I commissions, delivery, floorplan interest, new and used vehicle advertising</a:t>
            </a:r>
            <a:endParaRPr lang="en-US" sz="1400" dirty="0"/>
          </a:p>
        </p:txBody>
      </p:sp>
      <p:sp>
        <p:nvSpPr>
          <p:cNvPr id="26" name="Shape 24"/>
          <p:cNvSpPr/>
          <p:nvPr/>
        </p:nvSpPr>
        <p:spPr>
          <a:xfrm>
            <a:off x="457200" y="6126480"/>
            <a:ext cx="11274552" cy="371856"/>
          </a:xfrm>
          <a:prstGeom prst="rect">
            <a:avLst/>
          </a:prstGeom>
          <a:solidFill>
            <a:srgbClr val="E6F6EE"/>
          </a:solidFill>
          <a:ln/>
        </p:spPr>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Net to Gross?</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Net to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profit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gross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each gross dollar the department keeps after its own expenses.</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true measure of how the department performs.</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is what we make; net is what we keep.</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can grow while net falls if expenses grow faster.</a:t>
            </a:r>
            <a:endParaRPr lang="en-US" sz="1600" dirty="0"/>
          </a:p>
        </p:txBody>
      </p:sp>
      <p:sp>
        <p:nvSpPr>
          <p:cNvPr id="13" name="Shape 11"/>
          <p:cNvSpPr/>
          <p:nvPr/>
        </p:nvSpPr>
        <p:spPr>
          <a:xfrm>
            <a:off x="5138928" y="2843784"/>
            <a:ext cx="45720" cy="1189887"/>
          </a:xfrm>
          <a:prstGeom prst="rect">
            <a:avLst/>
          </a:prstGeom>
          <a:solidFill>
            <a:srgbClr val="2587C5"/>
          </a:solidFill>
          <a:ln/>
        </p:spPr>
      </p:sp>
      <p:sp>
        <p:nvSpPr>
          <p:cNvPr id="14" name="Text 12"/>
          <p:cNvSpPr txBox="1"/>
          <p:nvPr/>
        </p:nvSpPr>
        <p:spPr>
          <a:xfrm>
            <a:off x="5266944" y="2843784"/>
            <a:ext cx="2962656" cy="118988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Personnel expense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Headcount and pay plans: the biggest line</a:t>
            </a:r>
            <a:endParaRPr lang="en-US" sz="1400" dirty="0"/>
          </a:p>
        </p:txBody>
      </p:sp>
      <p:sp>
        <p:nvSpPr>
          <p:cNvPr id="15" name="Shape 13"/>
          <p:cNvSpPr/>
          <p:nvPr/>
        </p:nvSpPr>
        <p:spPr>
          <a:xfrm>
            <a:off x="8394192" y="2843784"/>
            <a:ext cx="45720" cy="1189887"/>
          </a:xfrm>
          <a:prstGeom prst="rect">
            <a:avLst/>
          </a:prstGeom>
          <a:solidFill>
            <a:srgbClr val="2587C5"/>
          </a:solidFill>
          <a:ln/>
        </p:spPr>
      </p:sp>
      <p:sp>
        <p:nvSpPr>
          <p:cNvPr id="16" name="Text 14"/>
          <p:cNvSpPr txBox="1"/>
          <p:nvPr/>
        </p:nvSpPr>
        <p:spPr>
          <a:xfrm>
            <a:off x="8522208" y="2843784"/>
            <a:ext cx="2962656" cy="118988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Semi-fixed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shop tools and equipment, training, advertising, outside services, data processing</a:t>
            </a:r>
            <a:endParaRPr lang="en-US" sz="1400" dirty="0"/>
          </a:p>
        </p:txBody>
      </p:sp>
      <p:sp>
        <p:nvSpPr>
          <p:cNvPr id="17" name="Shape 15"/>
          <p:cNvSpPr/>
          <p:nvPr/>
        </p:nvSpPr>
        <p:spPr>
          <a:xfrm>
            <a:off x="5138928" y="4143399"/>
            <a:ext cx="45720" cy="1644753"/>
          </a:xfrm>
          <a:prstGeom prst="rect">
            <a:avLst/>
          </a:prstGeom>
          <a:solidFill>
            <a:srgbClr val="2587C5"/>
          </a:solidFill>
          <a:ln/>
        </p:spPr>
      </p:sp>
      <p:sp>
        <p:nvSpPr>
          <p:cNvPr id="18" name="Text 16"/>
          <p:cNvSpPr txBox="1"/>
          <p:nvPr/>
        </p:nvSpPr>
        <p:spPr>
          <a:xfrm>
            <a:off x="5266944" y="4143399"/>
            <a:ext cx="2962656" cy="164475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Policy and adjustments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Service policy (work done at no charge to the customer) and warranty claims the manufacturer won't pay</a:t>
            </a:r>
            <a:endParaRPr lang="en-US" sz="1400" dirty="0"/>
          </a:p>
        </p:txBody>
      </p:sp>
      <p:sp>
        <p:nvSpPr>
          <p:cNvPr id="19" name="Shape 17"/>
          <p:cNvSpPr/>
          <p:nvPr/>
        </p:nvSpPr>
        <p:spPr>
          <a:xfrm>
            <a:off x="8394192" y="4143399"/>
            <a:ext cx="45720" cy="1644753"/>
          </a:xfrm>
          <a:prstGeom prst="rect">
            <a:avLst/>
          </a:prstGeom>
          <a:solidFill>
            <a:srgbClr val="2587C5"/>
          </a:solidFill>
          <a:ln/>
        </p:spPr>
      </p:sp>
      <p:sp>
        <p:nvSpPr>
          <p:cNvPr id="20" name="Text 18"/>
          <p:cNvSpPr txBox="1"/>
          <p:nvPr/>
        </p:nvSpPr>
        <p:spPr>
          <a:xfrm>
            <a:off x="8522208" y="4143399"/>
            <a:ext cx="2962656" cy="164475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Outrun your expenses: when net is low, it is either an expense problem or a gross problem</a:t>
            </a:r>
            <a:endParaRPr lang="en-US" sz="1400" dirty="0"/>
          </a:p>
        </p:txBody>
      </p:sp>
      <p:sp>
        <p:nvSpPr>
          <p:cNvPr id="21" name="Shape 19"/>
          <p:cNvSpPr/>
          <p:nvPr/>
        </p:nvSpPr>
        <p:spPr>
          <a:xfrm>
            <a:off x="457200" y="6126480"/>
            <a:ext cx="11274552" cy="371856"/>
          </a:xfrm>
          <a:prstGeom prst="rect">
            <a:avLst/>
          </a:prstGeom>
          <a:solidFill>
            <a:srgbClr val="EDF4FA"/>
          </a:solidFill>
          <a:ln/>
        </p:spPr>
      </p:sp>
      <p:sp>
        <p:nvSpPr>
          <p:cNvPr id="22" name="Text 2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service 21.8%, up 2.9 pts; parts 36.7%, down 0.4 pts.</a:t>
            </a:r>
            <a:endParaRPr lang="en-US" sz="160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Can You Control?</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Take care of the customers we already have: how we treat them decides whether they come back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Repair order count: how many customers we serve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Dollars per repair order: how much we sell each one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The rates we charge, and how we decide what to charge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CP labor $ per RO is the best way to judge performance, store and individual</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Track the metrics that matter most every day, talk about them, and train on them</a:t>
            </a:r>
            <a:endParaRPr lang="en-US" sz="1800" dirty="0"/>
          </a:p>
        </p:txBody>
      </p:sp>
      <p:sp>
        <p:nvSpPr>
          <p:cNvPr id="10" name="Shape 8"/>
          <p:cNvSpPr/>
          <p:nvPr/>
        </p:nvSpPr>
        <p:spPr>
          <a:xfrm>
            <a:off x="7269480" y="1920240"/>
            <a:ext cx="54864" cy="1112520"/>
          </a:xfrm>
          <a:prstGeom prst="rect">
            <a:avLst/>
          </a:prstGeom>
          <a:solidFill>
            <a:srgbClr val="2587C5"/>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279,756 ROs</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Customer-pay RO count, up only 456. Volume is flat.</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1.87 hrs per RO</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Up 0.07, ahead in all nine months. Every 0.1 hour per RO is worth $4,543,691 of labor.</a:t>
            </a:r>
            <a:endParaRPr lang="en-US" sz="1400" dirty="0"/>
          </a:p>
        </p:txBody>
      </p:sp>
      <p:sp>
        <p:nvSpPr>
          <p:cNvPr id="16" name="Shape 14"/>
          <p:cNvSpPr/>
          <p:nvPr/>
        </p:nvSpPr>
        <p:spPr>
          <a:xfrm>
            <a:off x="7269480" y="4602480"/>
            <a:ext cx="54864" cy="1112520"/>
          </a:xfrm>
          <a:prstGeom prst="rect">
            <a:avLst/>
          </a:prstGeom>
          <a:solidFill>
            <a:srgbClr val="12A566"/>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 per RO</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up $17. The $4,899,376 labor gain came from selling more per visit.</a:t>
            </a:r>
            <a:endParaRPr lang="en-US" sz="1400" dirty="0"/>
          </a:p>
        </p:txBody>
      </p:sp>
      <p:sp>
        <p:nvSpPr>
          <p:cNvPr id="19" name="Shape 17"/>
          <p:cNvSpPr/>
          <p:nvPr/>
        </p:nvSpPr>
        <p:spPr>
          <a:xfrm>
            <a:off x="457200" y="6126480"/>
            <a:ext cx="11274552" cy="356616"/>
          </a:xfrm>
          <a:prstGeom prst="rect">
            <a:avLst/>
          </a:prstGeom>
          <a:solidFill>
            <a:srgbClr val="E6F6EE"/>
          </a:solidFill>
          <a:ln/>
        </p:spPr>
      </p:sp>
      <p:sp>
        <p:nvSpPr>
          <p:cNvPr id="20" name="Text 18"/>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The ask: with car count flat, the growth is in hours per RO. Sell the next tenth of an hour on every RO.</a:t>
            </a:r>
            <a:endParaRPr lang="en-US" sz="15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The Front Door</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Open and available scheduler: same-day or next-day appointments, quick online scheduling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Handle basic maintenance quickly and efficiently. Saturdays are what you choose to make them.</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call is a sales opportunity: a mishandled call costs us the customer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No-show process; first appointment at time of sale; next appointment before the customer leaves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Active retention tracking: work the Viz 'Close to Losing' and 'Unretained' lists</a:t>
            </a:r>
            <a:endParaRPr lang="en-US" sz="1800" dirty="0"/>
          </a:p>
        </p:txBody>
      </p:sp>
      <p:sp>
        <p:nvSpPr>
          <p:cNvPr id="10" name="Shape 8"/>
          <p:cNvSpPr/>
          <p:nvPr/>
        </p:nvSpPr>
        <p:spPr>
          <a:xfrm>
            <a:off x="7269480" y="1920240"/>
            <a:ext cx="54864" cy="1783080"/>
          </a:xfrm>
          <a:prstGeom prst="rect">
            <a:avLst/>
          </a:prstGeom>
          <a:solidFill>
            <a:srgbClr val="2587C5"/>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+0.2%</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Customer-pay RO count. 13 of 33 stores had fewer CP ROs than last year.</a:t>
            </a:r>
            <a:endParaRPr lang="en-US" sz="1400" dirty="0"/>
          </a:p>
        </p:txBody>
      </p:sp>
      <p:sp>
        <p:nvSpPr>
          <p:cNvPr id="13" name="Shape 11"/>
          <p:cNvSpPr/>
          <p:nvPr/>
        </p:nvSpPr>
        <p:spPr>
          <a:xfrm>
            <a:off x="7269480" y="3931920"/>
            <a:ext cx="54864" cy="1783080"/>
          </a:xfrm>
          <a:prstGeom prst="rect">
            <a:avLst/>
          </a:prstGeom>
          <a:solidFill>
            <a:srgbClr val="2587C5"/>
          </a:solidFill>
          <a:ln/>
        </p:spPr>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$4,473,284</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 year in labor and parts gross from one more customer-pay RO a day at every store.</a:t>
            </a:r>
            <a:endParaRPr lang="en-US" sz="1400" dirty="0"/>
          </a:p>
        </p:txBody>
      </p:sp>
      <p:sp>
        <p:nvSpPr>
          <p:cNvPr id="16" name="Shape 14"/>
          <p:cNvSpPr/>
          <p:nvPr/>
        </p:nvSpPr>
        <p:spPr>
          <a:xfrm>
            <a:off x="457200" y="6126480"/>
            <a:ext cx="11274552" cy="341376"/>
          </a:xfrm>
          <a:prstGeom prst="rect">
            <a:avLst/>
          </a:prstGeom>
          <a:solidFill>
            <a:srgbClr val="EDF4FA"/>
          </a:solidFill>
          <a:ln/>
        </p:spPr>
      </p:sp>
      <p:sp>
        <p:nvSpPr>
          <p:cNvPr id="17" name="Text 15"/>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The ask: every customer leaves with the next appointment booked, and every call reaches someone who asks for it.</a:t>
            </a:r>
            <a:endParaRPr lang="en-US" sz="14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VOICE AI · FLAI · LAST 90 DAYS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Store Voice AI Metrics</a:t>
            </a:r>
            <a:endParaRPr lang="en-US" sz="2800" dirty="0"/>
          </a:p>
        </p:txBody>
      </p:sp>
      <p:sp>
        <p:nvSpPr>
          <p:cNvPr id="5" name="Shape 3"/>
          <p:cNvSpPr/>
          <p:nvPr/>
        </p:nvSpPr>
        <p:spPr>
          <a:xfrm>
            <a:off x="457200" y="1207008"/>
            <a:ext cx="3685032" cy="4782312"/>
          </a:xfrm>
          <a:prstGeom prst="rect">
            <a:avLst/>
          </a:prstGeom>
          <a:solidFill>
            <a:srgbClr val="FFFFFF"/>
          </a:solidFill>
          <a:ln/>
        </p:spPr>
      </p:sp>
      <p:sp>
        <p:nvSpPr>
          <p:cNvPr id="6" name="Text 4"/>
          <p:cNvSpPr txBox="1"/>
          <p:nvPr/>
        </p:nvSpPr>
        <p:spPr>
          <a:xfrm>
            <a:off x="62179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BOOKING RATE</a:t>
            </a:r>
            <a:endParaRPr lang="en-US" sz="1400" dirty="0"/>
          </a:p>
        </p:txBody>
      </p:sp>
      <p:sp>
        <p:nvSpPr>
          <p:cNvPr id="7" name="Text 5"/>
          <p:cNvSpPr txBox="1"/>
          <p:nvPr/>
        </p:nvSpPr>
        <p:spPr>
          <a:xfrm>
            <a:off x="62179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72%</a:t>
            </a:r>
            <a:endParaRPr lang="en-US" sz="1400" dirty="0"/>
          </a:p>
        </p:txBody>
      </p:sp>
      <p:sp>
        <p:nvSpPr>
          <p:cNvPr id="8" name="Shape 6"/>
          <p:cNvSpPr/>
          <p:nvPr/>
        </p:nvSpPr>
        <p:spPr>
          <a:xfrm>
            <a:off x="621792" y="1911096"/>
            <a:ext cx="3355848" cy="22860"/>
          </a:xfrm>
          <a:prstGeom prst="rect">
            <a:avLst/>
          </a:prstGeom>
          <a:solidFill>
            <a:srgbClr val="12A566"/>
          </a:solidFill>
          <a:ln/>
        </p:spPr>
      </p:sp>
      <p:sp>
        <p:nvSpPr>
          <p:cNvPr id="9" name="Text 7"/>
          <p:cNvSpPr txBox="1"/>
          <p:nvPr/>
        </p:nvSpPr>
        <p:spPr>
          <a:xfrm>
            <a:off x="62179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10" name="Text 8"/>
          <p:cNvSpPr txBox="1"/>
          <p:nvPr/>
        </p:nvSpPr>
        <p:spPr>
          <a:xfrm>
            <a:off x="231343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306324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12" name="Text 10"/>
          <p:cNvSpPr txBox="1"/>
          <p:nvPr/>
        </p:nvSpPr>
        <p:spPr>
          <a:xfrm>
            <a:off x="621792" y="216712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 name="Text 11"/>
          <p:cNvSpPr txBox="1"/>
          <p:nvPr/>
        </p:nvSpPr>
        <p:spPr>
          <a:xfrm>
            <a:off x="2313432" y="216712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83.0%</a:t>
            </a:r>
            <a:endParaRPr lang="en-US" sz="1300" dirty="0"/>
          </a:p>
        </p:txBody>
      </p:sp>
      <p:sp>
        <p:nvSpPr>
          <p:cNvPr id="14" name="Text 12"/>
          <p:cNvSpPr txBox="1"/>
          <p:nvPr/>
        </p:nvSpPr>
        <p:spPr>
          <a:xfrm>
            <a:off x="3063240" y="216712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15" name="Shape 13"/>
          <p:cNvSpPr/>
          <p:nvPr/>
        </p:nvSpPr>
        <p:spPr>
          <a:xfrm>
            <a:off x="4023360" y="2203704"/>
            <a:ext cx="54864" cy="272491"/>
          </a:xfrm>
          <a:prstGeom prst="rect">
            <a:avLst/>
          </a:prstGeom>
          <a:solidFill>
            <a:srgbClr val="12A566"/>
          </a:solidFill>
          <a:ln/>
        </p:spPr>
      </p:sp>
      <p:sp>
        <p:nvSpPr>
          <p:cNvPr id="16" name="Text 14"/>
          <p:cNvSpPr txBox="1"/>
          <p:nvPr/>
        </p:nvSpPr>
        <p:spPr>
          <a:xfrm>
            <a:off x="621792" y="251277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7" name="Text 15"/>
          <p:cNvSpPr txBox="1"/>
          <p:nvPr/>
        </p:nvSpPr>
        <p:spPr>
          <a:xfrm>
            <a:off x="2313432" y="251277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82.3%</a:t>
            </a:r>
            <a:endParaRPr lang="en-US" sz="1300" dirty="0"/>
          </a:p>
        </p:txBody>
      </p:sp>
      <p:sp>
        <p:nvSpPr>
          <p:cNvPr id="18" name="Text 16"/>
          <p:cNvSpPr txBox="1"/>
          <p:nvPr/>
        </p:nvSpPr>
        <p:spPr>
          <a:xfrm>
            <a:off x="3063240" y="251277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4,349</a:t>
            </a:r>
            <a:endParaRPr lang="en-US" sz="1200" dirty="0"/>
          </a:p>
        </p:txBody>
      </p:sp>
      <p:sp>
        <p:nvSpPr>
          <p:cNvPr id="19" name="Text 17"/>
          <p:cNvSpPr txBox="1"/>
          <p:nvPr/>
        </p:nvSpPr>
        <p:spPr>
          <a:xfrm>
            <a:off x="621792" y="285841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0" name="Text 18"/>
          <p:cNvSpPr txBox="1"/>
          <p:nvPr/>
        </p:nvSpPr>
        <p:spPr>
          <a:xfrm>
            <a:off x="2313432" y="2858414"/>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79.0%</a:t>
            </a:r>
            <a:endParaRPr lang="en-US" sz="1300" dirty="0"/>
          </a:p>
        </p:txBody>
      </p:sp>
      <p:sp>
        <p:nvSpPr>
          <p:cNvPr id="21" name="Text 19"/>
          <p:cNvSpPr txBox="1"/>
          <p:nvPr/>
        </p:nvSpPr>
        <p:spPr>
          <a:xfrm>
            <a:off x="3063240" y="285841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22" name="Shape 20"/>
          <p:cNvSpPr/>
          <p:nvPr/>
        </p:nvSpPr>
        <p:spPr>
          <a:xfrm>
            <a:off x="4023360" y="2894990"/>
            <a:ext cx="54864" cy="272491"/>
          </a:xfrm>
          <a:prstGeom prst="rect">
            <a:avLst/>
          </a:prstGeom>
          <a:solidFill>
            <a:srgbClr val="12A566"/>
          </a:solidFill>
          <a:ln/>
        </p:spPr>
      </p:sp>
      <p:sp>
        <p:nvSpPr>
          <p:cNvPr id="23" name="Text 21"/>
          <p:cNvSpPr txBox="1"/>
          <p:nvPr/>
        </p:nvSpPr>
        <p:spPr>
          <a:xfrm>
            <a:off x="621792" y="320405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4" name="Text 22"/>
          <p:cNvSpPr txBox="1"/>
          <p:nvPr/>
        </p:nvSpPr>
        <p:spPr>
          <a:xfrm>
            <a:off x="2313432" y="320405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78.4%</a:t>
            </a:r>
            <a:endParaRPr lang="en-US" sz="1300" dirty="0"/>
          </a:p>
        </p:txBody>
      </p:sp>
      <p:sp>
        <p:nvSpPr>
          <p:cNvPr id="25" name="Text 23"/>
          <p:cNvSpPr txBox="1"/>
          <p:nvPr/>
        </p:nvSpPr>
        <p:spPr>
          <a:xfrm>
            <a:off x="3063240" y="320405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26" name="Shape 24"/>
          <p:cNvSpPr/>
          <p:nvPr/>
        </p:nvSpPr>
        <p:spPr>
          <a:xfrm>
            <a:off x="4023360" y="3240634"/>
            <a:ext cx="54864" cy="272491"/>
          </a:xfrm>
          <a:prstGeom prst="rect">
            <a:avLst/>
          </a:prstGeom>
          <a:solidFill>
            <a:srgbClr val="12A566"/>
          </a:solidFill>
          <a:ln/>
        </p:spPr>
      </p:sp>
      <p:sp>
        <p:nvSpPr>
          <p:cNvPr id="27" name="Text 25"/>
          <p:cNvSpPr txBox="1"/>
          <p:nvPr/>
        </p:nvSpPr>
        <p:spPr>
          <a:xfrm>
            <a:off x="621792" y="354970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8" name="Text 26"/>
          <p:cNvSpPr txBox="1"/>
          <p:nvPr/>
        </p:nvSpPr>
        <p:spPr>
          <a:xfrm>
            <a:off x="2313432" y="354970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77.7%</a:t>
            </a:r>
            <a:endParaRPr lang="en-US" sz="1300" dirty="0"/>
          </a:p>
        </p:txBody>
      </p:sp>
      <p:sp>
        <p:nvSpPr>
          <p:cNvPr id="29" name="Text 27"/>
          <p:cNvSpPr txBox="1"/>
          <p:nvPr/>
        </p:nvSpPr>
        <p:spPr>
          <a:xfrm>
            <a:off x="3063240" y="354970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30" name="Shape 28"/>
          <p:cNvSpPr/>
          <p:nvPr/>
        </p:nvSpPr>
        <p:spPr>
          <a:xfrm>
            <a:off x="4023360" y="3586277"/>
            <a:ext cx="54864" cy="272491"/>
          </a:xfrm>
          <a:prstGeom prst="rect">
            <a:avLst/>
          </a:prstGeom>
          <a:solidFill>
            <a:srgbClr val="12A566"/>
          </a:solidFill>
          <a:ln/>
        </p:spPr>
      </p:sp>
      <p:sp>
        <p:nvSpPr>
          <p:cNvPr id="31" name="Shape 29"/>
          <p:cNvSpPr/>
          <p:nvPr/>
        </p:nvSpPr>
        <p:spPr>
          <a:xfrm>
            <a:off x="621792" y="3913632"/>
            <a:ext cx="3355848" cy="22860"/>
          </a:xfrm>
          <a:prstGeom prst="rect">
            <a:avLst/>
          </a:prstGeom>
          <a:solidFill>
            <a:srgbClr val="C2352F"/>
          </a:solidFill>
          <a:ln/>
        </p:spPr>
      </p:sp>
      <p:sp>
        <p:nvSpPr>
          <p:cNvPr id="32" name="Text 30"/>
          <p:cNvSpPr txBox="1"/>
          <p:nvPr/>
        </p:nvSpPr>
        <p:spPr>
          <a:xfrm>
            <a:off x="621792" y="394106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33" name="Text 31"/>
          <p:cNvSpPr txBox="1"/>
          <p:nvPr/>
        </p:nvSpPr>
        <p:spPr>
          <a:xfrm>
            <a:off x="2313432" y="394106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34" name="Text 32"/>
          <p:cNvSpPr txBox="1"/>
          <p:nvPr/>
        </p:nvSpPr>
        <p:spPr>
          <a:xfrm>
            <a:off x="3063240" y="394106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35" name="Text 33"/>
          <p:cNvSpPr txBox="1"/>
          <p:nvPr/>
        </p:nvSpPr>
        <p:spPr>
          <a:xfrm>
            <a:off x="621792" y="416966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36" name="Text 34"/>
          <p:cNvSpPr txBox="1"/>
          <p:nvPr/>
        </p:nvSpPr>
        <p:spPr>
          <a:xfrm>
            <a:off x="2313432" y="416966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47.7%</a:t>
            </a:r>
            <a:endParaRPr lang="en-US" sz="1300" dirty="0"/>
          </a:p>
        </p:txBody>
      </p:sp>
      <p:sp>
        <p:nvSpPr>
          <p:cNvPr id="37" name="Text 35"/>
          <p:cNvSpPr txBox="1"/>
          <p:nvPr/>
        </p:nvSpPr>
        <p:spPr>
          <a:xfrm>
            <a:off x="3063240" y="416966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38" name="Shape 36"/>
          <p:cNvSpPr/>
          <p:nvPr/>
        </p:nvSpPr>
        <p:spPr>
          <a:xfrm>
            <a:off x="4023360" y="4206240"/>
            <a:ext cx="54864" cy="272491"/>
          </a:xfrm>
          <a:prstGeom prst="rect">
            <a:avLst/>
          </a:prstGeom>
          <a:solidFill>
            <a:srgbClr val="C2352F"/>
          </a:solidFill>
          <a:ln/>
        </p:spPr>
      </p:sp>
      <p:sp>
        <p:nvSpPr>
          <p:cNvPr id="39" name="Text 37"/>
          <p:cNvSpPr txBox="1"/>
          <p:nvPr/>
        </p:nvSpPr>
        <p:spPr>
          <a:xfrm>
            <a:off x="621792" y="451530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40" name="Text 38"/>
          <p:cNvSpPr txBox="1"/>
          <p:nvPr/>
        </p:nvSpPr>
        <p:spPr>
          <a:xfrm>
            <a:off x="2313432" y="451530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51.2%</a:t>
            </a:r>
            <a:endParaRPr lang="en-US" sz="1300" dirty="0"/>
          </a:p>
        </p:txBody>
      </p:sp>
      <p:sp>
        <p:nvSpPr>
          <p:cNvPr id="41" name="Text 39"/>
          <p:cNvSpPr txBox="1"/>
          <p:nvPr/>
        </p:nvSpPr>
        <p:spPr>
          <a:xfrm>
            <a:off x="3063240" y="451530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42" name="Shape 40"/>
          <p:cNvSpPr/>
          <p:nvPr/>
        </p:nvSpPr>
        <p:spPr>
          <a:xfrm>
            <a:off x="4023360" y="4551883"/>
            <a:ext cx="54864" cy="272491"/>
          </a:xfrm>
          <a:prstGeom prst="rect">
            <a:avLst/>
          </a:prstGeom>
          <a:solidFill>
            <a:srgbClr val="C2352F"/>
          </a:solidFill>
          <a:ln/>
        </p:spPr>
      </p:sp>
      <p:sp>
        <p:nvSpPr>
          <p:cNvPr id="43" name="Text 41"/>
          <p:cNvSpPr txBox="1"/>
          <p:nvPr/>
        </p:nvSpPr>
        <p:spPr>
          <a:xfrm>
            <a:off x="621792" y="4860950"/>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44" name="Text 42"/>
          <p:cNvSpPr txBox="1"/>
          <p:nvPr/>
        </p:nvSpPr>
        <p:spPr>
          <a:xfrm>
            <a:off x="2313432" y="4860950"/>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54.6%</a:t>
            </a:r>
            <a:endParaRPr lang="en-US" sz="1300" dirty="0"/>
          </a:p>
        </p:txBody>
      </p:sp>
      <p:sp>
        <p:nvSpPr>
          <p:cNvPr id="45" name="Text 43"/>
          <p:cNvSpPr txBox="1"/>
          <p:nvPr/>
        </p:nvSpPr>
        <p:spPr>
          <a:xfrm>
            <a:off x="3063240" y="4860950"/>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a:t>
            </a:r>
            <a:endParaRPr lang="en-US" sz="1200" dirty="0"/>
          </a:p>
        </p:txBody>
      </p:sp>
      <p:sp>
        <p:nvSpPr>
          <p:cNvPr id="46" name="Text 44"/>
          <p:cNvSpPr txBox="1"/>
          <p:nvPr/>
        </p:nvSpPr>
        <p:spPr>
          <a:xfrm>
            <a:off x="621792" y="520659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7" name="Text 45"/>
          <p:cNvSpPr txBox="1"/>
          <p:nvPr/>
        </p:nvSpPr>
        <p:spPr>
          <a:xfrm>
            <a:off x="2313432" y="520659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58.7%</a:t>
            </a:r>
            <a:endParaRPr lang="en-US" sz="1300" dirty="0"/>
          </a:p>
        </p:txBody>
      </p:sp>
      <p:sp>
        <p:nvSpPr>
          <p:cNvPr id="48" name="Text 46"/>
          <p:cNvSpPr txBox="1"/>
          <p:nvPr/>
        </p:nvSpPr>
        <p:spPr>
          <a:xfrm>
            <a:off x="3063240" y="520659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49" name="Shape 47"/>
          <p:cNvSpPr/>
          <p:nvPr/>
        </p:nvSpPr>
        <p:spPr>
          <a:xfrm>
            <a:off x="4023360" y="5243170"/>
            <a:ext cx="54864" cy="272491"/>
          </a:xfrm>
          <a:prstGeom prst="rect">
            <a:avLst/>
          </a:prstGeom>
          <a:solidFill>
            <a:srgbClr val="C2352F"/>
          </a:solidFill>
          <a:ln/>
        </p:spPr>
      </p:sp>
      <p:sp>
        <p:nvSpPr>
          <p:cNvPr id="50" name="Text 48"/>
          <p:cNvSpPr txBox="1"/>
          <p:nvPr/>
        </p:nvSpPr>
        <p:spPr>
          <a:xfrm>
            <a:off x="621792" y="555223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51" name="Text 49"/>
          <p:cNvSpPr txBox="1"/>
          <p:nvPr/>
        </p:nvSpPr>
        <p:spPr>
          <a:xfrm>
            <a:off x="2313432" y="555223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59.3%</a:t>
            </a:r>
            <a:endParaRPr lang="en-US" sz="1300" dirty="0"/>
          </a:p>
        </p:txBody>
      </p:sp>
      <p:sp>
        <p:nvSpPr>
          <p:cNvPr id="52" name="Text 50"/>
          <p:cNvSpPr txBox="1"/>
          <p:nvPr/>
        </p:nvSpPr>
        <p:spPr>
          <a:xfrm>
            <a:off x="3063240" y="555223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53" name="Shape 51"/>
          <p:cNvSpPr/>
          <p:nvPr/>
        </p:nvSpPr>
        <p:spPr>
          <a:xfrm>
            <a:off x="4023360" y="5588813"/>
            <a:ext cx="54864" cy="272491"/>
          </a:xfrm>
          <a:prstGeom prst="rect">
            <a:avLst/>
          </a:prstGeom>
          <a:solidFill>
            <a:srgbClr val="C2352F"/>
          </a:solidFill>
          <a:ln/>
        </p:spPr>
      </p:sp>
      <p:sp>
        <p:nvSpPr>
          <p:cNvPr id="54" name="Shape 52"/>
          <p:cNvSpPr/>
          <p:nvPr/>
        </p:nvSpPr>
        <p:spPr>
          <a:xfrm>
            <a:off x="4251960" y="1207008"/>
            <a:ext cx="3685032" cy="4782312"/>
          </a:xfrm>
          <a:prstGeom prst="rect">
            <a:avLst/>
          </a:prstGeom>
          <a:solidFill>
            <a:srgbClr val="FFFFFF"/>
          </a:solidFill>
          <a:ln/>
        </p:spPr>
      </p:sp>
      <p:sp>
        <p:nvSpPr>
          <p:cNvPr id="55" name="Text 53"/>
          <p:cNvSpPr txBox="1"/>
          <p:nvPr/>
        </p:nvSpPr>
        <p:spPr>
          <a:xfrm>
            <a:off x="441655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TRANSFER PICKUP RATE</a:t>
            </a:r>
            <a:endParaRPr lang="en-US" sz="1400" dirty="0"/>
          </a:p>
        </p:txBody>
      </p:sp>
      <p:sp>
        <p:nvSpPr>
          <p:cNvPr id="56" name="Text 54"/>
          <p:cNvSpPr txBox="1"/>
          <p:nvPr/>
        </p:nvSpPr>
        <p:spPr>
          <a:xfrm>
            <a:off x="441655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47.7%</a:t>
            </a:r>
            <a:endParaRPr lang="en-US" sz="1400" dirty="0"/>
          </a:p>
        </p:txBody>
      </p:sp>
      <p:sp>
        <p:nvSpPr>
          <p:cNvPr id="57" name="Shape 55"/>
          <p:cNvSpPr/>
          <p:nvPr/>
        </p:nvSpPr>
        <p:spPr>
          <a:xfrm>
            <a:off x="4416552" y="1911096"/>
            <a:ext cx="3355848" cy="22860"/>
          </a:xfrm>
          <a:prstGeom prst="rect">
            <a:avLst/>
          </a:prstGeom>
          <a:solidFill>
            <a:srgbClr val="12A566"/>
          </a:solidFill>
          <a:ln/>
        </p:spPr>
      </p:sp>
      <p:sp>
        <p:nvSpPr>
          <p:cNvPr id="58" name="Text 56"/>
          <p:cNvSpPr txBox="1"/>
          <p:nvPr/>
        </p:nvSpPr>
        <p:spPr>
          <a:xfrm>
            <a:off x="441655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59" name="Text 57"/>
          <p:cNvSpPr txBox="1"/>
          <p:nvPr/>
        </p:nvSpPr>
        <p:spPr>
          <a:xfrm>
            <a:off x="610819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60" name="Text 58"/>
          <p:cNvSpPr txBox="1"/>
          <p:nvPr/>
        </p:nvSpPr>
        <p:spPr>
          <a:xfrm>
            <a:off x="685800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61" name="Text 59"/>
          <p:cNvSpPr txBox="1"/>
          <p:nvPr/>
        </p:nvSpPr>
        <p:spPr>
          <a:xfrm>
            <a:off x="4416552" y="216712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2" name="Text 60"/>
          <p:cNvSpPr txBox="1"/>
          <p:nvPr/>
        </p:nvSpPr>
        <p:spPr>
          <a:xfrm>
            <a:off x="6108192" y="216712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77.1%</a:t>
            </a:r>
            <a:endParaRPr lang="en-US" sz="1300" dirty="0"/>
          </a:p>
        </p:txBody>
      </p:sp>
      <p:sp>
        <p:nvSpPr>
          <p:cNvPr id="63" name="Text 61"/>
          <p:cNvSpPr txBox="1"/>
          <p:nvPr/>
        </p:nvSpPr>
        <p:spPr>
          <a:xfrm>
            <a:off x="6858000" y="216712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64" name="Shape 62"/>
          <p:cNvSpPr/>
          <p:nvPr/>
        </p:nvSpPr>
        <p:spPr>
          <a:xfrm>
            <a:off x="7818120" y="2203704"/>
            <a:ext cx="54864" cy="272491"/>
          </a:xfrm>
          <a:prstGeom prst="rect">
            <a:avLst/>
          </a:prstGeom>
          <a:solidFill>
            <a:srgbClr val="12A566"/>
          </a:solidFill>
          <a:ln/>
        </p:spPr>
      </p:sp>
      <p:sp>
        <p:nvSpPr>
          <p:cNvPr id="65" name="Text 63"/>
          <p:cNvSpPr txBox="1"/>
          <p:nvPr/>
        </p:nvSpPr>
        <p:spPr>
          <a:xfrm>
            <a:off x="4416552" y="251277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6" name="Text 64"/>
          <p:cNvSpPr txBox="1"/>
          <p:nvPr/>
        </p:nvSpPr>
        <p:spPr>
          <a:xfrm>
            <a:off x="6108192" y="251277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74.8%</a:t>
            </a:r>
            <a:endParaRPr lang="en-US" sz="1300" dirty="0"/>
          </a:p>
        </p:txBody>
      </p:sp>
      <p:sp>
        <p:nvSpPr>
          <p:cNvPr id="67" name="Text 65"/>
          <p:cNvSpPr txBox="1"/>
          <p:nvPr/>
        </p:nvSpPr>
        <p:spPr>
          <a:xfrm>
            <a:off x="6858000" y="251277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68" name="Shape 66"/>
          <p:cNvSpPr/>
          <p:nvPr/>
        </p:nvSpPr>
        <p:spPr>
          <a:xfrm>
            <a:off x="7818120" y="2549347"/>
            <a:ext cx="54864" cy="272491"/>
          </a:xfrm>
          <a:prstGeom prst="rect">
            <a:avLst/>
          </a:prstGeom>
          <a:solidFill>
            <a:srgbClr val="12A566"/>
          </a:solidFill>
          <a:ln/>
        </p:spPr>
      </p:sp>
      <p:sp>
        <p:nvSpPr>
          <p:cNvPr id="69" name="Text 67"/>
          <p:cNvSpPr txBox="1"/>
          <p:nvPr/>
        </p:nvSpPr>
        <p:spPr>
          <a:xfrm>
            <a:off x="4416552" y="285841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0" name="Text 68"/>
          <p:cNvSpPr txBox="1"/>
          <p:nvPr/>
        </p:nvSpPr>
        <p:spPr>
          <a:xfrm>
            <a:off x="6108192" y="2858414"/>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63.5%</a:t>
            </a:r>
            <a:endParaRPr lang="en-US" sz="1300" dirty="0"/>
          </a:p>
        </p:txBody>
      </p:sp>
      <p:sp>
        <p:nvSpPr>
          <p:cNvPr id="71" name="Text 69"/>
          <p:cNvSpPr txBox="1"/>
          <p:nvPr/>
        </p:nvSpPr>
        <p:spPr>
          <a:xfrm>
            <a:off x="6858000" y="285841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72" name="Shape 70"/>
          <p:cNvSpPr/>
          <p:nvPr/>
        </p:nvSpPr>
        <p:spPr>
          <a:xfrm>
            <a:off x="7818120" y="2894990"/>
            <a:ext cx="54864" cy="272491"/>
          </a:xfrm>
          <a:prstGeom prst="rect">
            <a:avLst/>
          </a:prstGeom>
          <a:solidFill>
            <a:srgbClr val="12A566"/>
          </a:solidFill>
          <a:ln/>
        </p:spPr>
      </p:sp>
      <p:sp>
        <p:nvSpPr>
          <p:cNvPr id="73" name="Text 71"/>
          <p:cNvSpPr txBox="1"/>
          <p:nvPr/>
        </p:nvSpPr>
        <p:spPr>
          <a:xfrm>
            <a:off x="4416552" y="320405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4" name="Text 72"/>
          <p:cNvSpPr txBox="1"/>
          <p:nvPr/>
        </p:nvSpPr>
        <p:spPr>
          <a:xfrm>
            <a:off x="6108192" y="320405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57.3%</a:t>
            </a:r>
            <a:endParaRPr lang="en-US" sz="1300" dirty="0"/>
          </a:p>
        </p:txBody>
      </p:sp>
      <p:sp>
        <p:nvSpPr>
          <p:cNvPr id="75" name="Text 73"/>
          <p:cNvSpPr txBox="1"/>
          <p:nvPr/>
        </p:nvSpPr>
        <p:spPr>
          <a:xfrm>
            <a:off x="6858000" y="320405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76" name="Shape 74"/>
          <p:cNvSpPr/>
          <p:nvPr/>
        </p:nvSpPr>
        <p:spPr>
          <a:xfrm>
            <a:off x="7818120" y="3240634"/>
            <a:ext cx="54864" cy="272491"/>
          </a:xfrm>
          <a:prstGeom prst="rect">
            <a:avLst/>
          </a:prstGeom>
          <a:solidFill>
            <a:srgbClr val="12A566"/>
          </a:solidFill>
          <a:ln/>
        </p:spPr>
      </p:sp>
      <p:sp>
        <p:nvSpPr>
          <p:cNvPr id="77" name="Text 75"/>
          <p:cNvSpPr txBox="1"/>
          <p:nvPr/>
        </p:nvSpPr>
        <p:spPr>
          <a:xfrm>
            <a:off x="4416552" y="354970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78" name="Text 76"/>
          <p:cNvSpPr txBox="1"/>
          <p:nvPr/>
        </p:nvSpPr>
        <p:spPr>
          <a:xfrm>
            <a:off x="6108192" y="354970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54.2%</a:t>
            </a:r>
            <a:endParaRPr lang="en-US" sz="1300" dirty="0"/>
          </a:p>
        </p:txBody>
      </p:sp>
      <p:sp>
        <p:nvSpPr>
          <p:cNvPr id="79" name="Text 77"/>
          <p:cNvSpPr txBox="1"/>
          <p:nvPr/>
        </p:nvSpPr>
        <p:spPr>
          <a:xfrm>
            <a:off x="6858000" y="354970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80" name="Shape 78"/>
          <p:cNvSpPr/>
          <p:nvPr/>
        </p:nvSpPr>
        <p:spPr>
          <a:xfrm>
            <a:off x="4416552" y="3913632"/>
            <a:ext cx="3355848" cy="22860"/>
          </a:xfrm>
          <a:prstGeom prst="rect">
            <a:avLst/>
          </a:prstGeom>
          <a:solidFill>
            <a:srgbClr val="C2352F"/>
          </a:solidFill>
          <a:ln/>
        </p:spPr>
      </p:sp>
      <p:sp>
        <p:nvSpPr>
          <p:cNvPr id="81" name="Text 79"/>
          <p:cNvSpPr txBox="1"/>
          <p:nvPr/>
        </p:nvSpPr>
        <p:spPr>
          <a:xfrm>
            <a:off x="4416552" y="394106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82" name="Text 80"/>
          <p:cNvSpPr txBox="1"/>
          <p:nvPr/>
        </p:nvSpPr>
        <p:spPr>
          <a:xfrm>
            <a:off x="6108192" y="394106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3" name="Text 81"/>
          <p:cNvSpPr txBox="1"/>
          <p:nvPr/>
        </p:nvSpPr>
        <p:spPr>
          <a:xfrm>
            <a:off x="6858000" y="394106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84" name="Text 82"/>
          <p:cNvSpPr txBox="1"/>
          <p:nvPr/>
        </p:nvSpPr>
        <p:spPr>
          <a:xfrm>
            <a:off x="4416552" y="416966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5" name="Text 83"/>
          <p:cNvSpPr txBox="1"/>
          <p:nvPr/>
        </p:nvSpPr>
        <p:spPr>
          <a:xfrm>
            <a:off x="6108192" y="416966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21.9%</a:t>
            </a:r>
            <a:endParaRPr lang="en-US" sz="1300" dirty="0"/>
          </a:p>
        </p:txBody>
      </p:sp>
      <p:sp>
        <p:nvSpPr>
          <p:cNvPr id="86" name="Text 84"/>
          <p:cNvSpPr txBox="1"/>
          <p:nvPr/>
        </p:nvSpPr>
        <p:spPr>
          <a:xfrm>
            <a:off x="6858000" y="416966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87" name="Shape 85"/>
          <p:cNvSpPr/>
          <p:nvPr/>
        </p:nvSpPr>
        <p:spPr>
          <a:xfrm>
            <a:off x="7818120" y="4206240"/>
            <a:ext cx="54864" cy="272491"/>
          </a:xfrm>
          <a:prstGeom prst="rect">
            <a:avLst/>
          </a:prstGeom>
          <a:solidFill>
            <a:srgbClr val="C2352F"/>
          </a:solidFill>
          <a:ln/>
        </p:spPr>
      </p:sp>
      <p:sp>
        <p:nvSpPr>
          <p:cNvPr id="88" name="Text 86"/>
          <p:cNvSpPr txBox="1"/>
          <p:nvPr/>
        </p:nvSpPr>
        <p:spPr>
          <a:xfrm>
            <a:off x="4416552" y="451530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9" name="Text 87"/>
          <p:cNvSpPr txBox="1"/>
          <p:nvPr/>
        </p:nvSpPr>
        <p:spPr>
          <a:xfrm>
            <a:off x="6108192" y="451530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26.3%</a:t>
            </a:r>
            <a:endParaRPr lang="en-US" sz="1300" dirty="0"/>
          </a:p>
        </p:txBody>
      </p:sp>
      <p:sp>
        <p:nvSpPr>
          <p:cNvPr id="90" name="Text 88"/>
          <p:cNvSpPr txBox="1"/>
          <p:nvPr/>
        </p:nvSpPr>
        <p:spPr>
          <a:xfrm>
            <a:off x="6858000" y="451530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1,809</a:t>
            </a:r>
            <a:endParaRPr lang="en-US" sz="1200" dirty="0"/>
          </a:p>
        </p:txBody>
      </p:sp>
      <p:sp>
        <p:nvSpPr>
          <p:cNvPr id="91" name="Text 89"/>
          <p:cNvSpPr txBox="1"/>
          <p:nvPr/>
        </p:nvSpPr>
        <p:spPr>
          <a:xfrm>
            <a:off x="4416552" y="4860950"/>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Las Vegas</a:t>
            </a:r>
            <a:endParaRPr lang="en-US" sz="1300" dirty="0"/>
          </a:p>
        </p:txBody>
      </p:sp>
      <p:sp>
        <p:nvSpPr>
          <p:cNvPr id="92" name="Text 90"/>
          <p:cNvSpPr txBox="1"/>
          <p:nvPr/>
        </p:nvSpPr>
        <p:spPr>
          <a:xfrm>
            <a:off x="6108192" y="4860950"/>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27.2%</a:t>
            </a:r>
            <a:endParaRPr lang="en-US" sz="1300" dirty="0"/>
          </a:p>
        </p:txBody>
      </p:sp>
      <p:sp>
        <p:nvSpPr>
          <p:cNvPr id="93" name="Text 91"/>
          <p:cNvSpPr txBox="1"/>
          <p:nvPr/>
        </p:nvSpPr>
        <p:spPr>
          <a:xfrm>
            <a:off x="6858000" y="4860950"/>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5,450</a:t>
            </a:r>
            <a:endParaRPr lang="en-US" sz="1200" dirty="0"/>
          </a:p>
        </p:txBody>
      </p:sp>
      <p:sp>
        <p:nvSpPr>
          <p:cNvPr id="94" name="Text 92"/>
          <p:cNvSpPr txBox="1"/>
          <p:nvPr/>
        </p:nvSpPr>
        <p:spPr>
          <a:xfrm>
            <a:off x="4416552" y="520659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95" name="Text 93"/>
          <p:cNvSpPr txBox="1"/>
          <p:nvPr/>
        </p:nvSpPr>
        <p:spPr>
          <a:xfrm>
            <a:off x="6108192" y="520659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27.4%</a:t>
            </a:r>
            <a:endParaRPr lang="en-US" sz="1300" dirty="0"/>
          </a:p>
        </p:txBody>
      </p:sp>
      <p:sp>
        <p:nvSpPr>
          <p:cNvPr id="96" name="Text 94"/>
          <p:cNvSpPr txBox="1"/>
          <p:nvPr/>
        </p:nvSpPr>
        <p:spPr>
          <a:xfrm>
            <a:off x="6858000" y="520659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97" name="Shape 95"/>
          <p:cNvSpPr/>
          <p:nvPr/>
        </p:nvSpPr>
        <p:spPr>
          <a:xfrm>
            <a:off x="7818120" y="5243170"/>
            <a:ext cx="54864" cy="272491"/>
          </a:xfrm>
          <a:prstGeom prst="rect">
            <a:avLst/>
          </a:prstGeom>
          <a:solidFill>
            <a:srgbClr val="C2352F"/>
          </a:solidFill>
          <a:ln/>
        </p:spPr>
      </p:sp>
      <p:sp>
        <p:nvSpPr>
          <p:cNvPr id="98" name="Text 96"/>
          <p:cNvSpPr txBox="1"/>
          <p:nvPr/>
        </p:nvSpPr>
        <p:spPr>
          <a:xfrm>
            <a:off x="4416552" y="555223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99" name="Text 97"/>
          <p:cNvSpPr txBox="1"/>
          <p:nvPr/>
        </p:nvSpPr>
        <p:spPr>
          <a:xfrm>
            <a:off x="6108192" y="555223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32.9%</a:t>
            </a:r>
            <a:endParaRPr lang="en-US" sz="1300" dirty="0"/>
          </a:p>
        </p:txBody>
      </p:sp>
      <p:sp>
        <p:nvSpPr>
          <p:cNvPr id="100" name="Text 98"/>
          <p:cNvSpPr txBox="1"/>
          <p:nvPr/>
        </p:nvSpPr>
        <p:spPr>
          <a:xfrm>
            <a:off x="6858000" y="555223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101" name="Shape 99"/>
          <p:cNvSpPr/>
          <p:nvPr/>
        </p:nvSpPr>
        <p:spPr>
          <a:xfrm>
            <a:off x="7818120" y="5588813"/>
            <a:ext cx="54864" cy="272491"/>
          </a:xfrm>
          <a:prstGeom prst="rect">
            <a:avLst/>
          </a:prstGeom>
          <a:solidFill>
            <a:srgbClr val="C2352F"/>
          </a:solidFill>
          <a:ln/>
        </p:spPr>
      </p:sp>
      <p:sp>
        <p:nvSpPr>
          <p:cNvPr id="102" name="Shape 100"/>
          <p:cNvSpPr/>
          <p:nvPr/>
        </p:nvSpPr>
        <p:spPr>
          <a:xfrm>
            <a:off x="8046720" y="1207008"/>
            <a:ext cx="3685032" cy="4782312"/>
          </a:xfrm>
          <a:prstGeom prst="rect">
            <a:avLst/>
          </a:prstGeom>
          <a:solidFill>
            <a:srgbClr val="FFFFFF"/>
          </a:solidFill>
          <a:ln/>
        </p:spPr>
      </p:sp>
      <p:sp>
        <p:nvSpPr>
          <p:cNvPr id="103" name="Text 101"/>
          <p:cNvSpPr txBox="1"/>
          <p:nvPr/>
        </p:nvSpPr>
        <p:spPr>
          <a:xfrm>
            <a:off x="821131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CALLBACK RESOLUTION</a:t>
            </a:r>
            <a:endParaRPr lang="en-US" sz="1400" dirty="0"/>
          </a:p>
        </p:txBody>
      </p:sp>
      <p:sp>
        <p:nvSpPr>
          <p:cNvPr id="104" name="Text 102"/>
          <p:cNvSpPr txBox="1"/>
          <p:nvPr/>
        </p:nvSpPr>
        <p:spPr>
          <a:xfrm>
            <a:off x="821131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98.2%</a:t>
            </a:r>
            <a:endParaRPr lang="en-US" sz="1400" dirty="0"/>
          </a:p>
        </p:txBody>
      </p:sp>
      <p:sp>
        <p:nvSpPr>
          <p:cNvPr id="105" name="Shape 103"/>
          <p:cNvSpPr/>
          <p:nvPr/>
        </p:nvSpPr>
        <p:spPr>
          <a:xfrm>
            <a:off x="8211312" y="1911096"/>
            <a:ext cx="3355848" cy="22860"/>
          </a:xfrm>
          <a:prstGeom prst="rect">
            <a:avLst/>
          </a:prstGeom>
          <a:solidFill>
            <a:srgbClr val="12A566"/>
          </a:solidFill>
          <a:ln/>
        </p:spPr>
      </p:sp>
      <p:sp>
        <p:nvSpPr>
          <p:cNvPr id="106" name="Text 104"/>
          <p:cNvSpPr txBox="1"/>
          <p:nvPr/>
        </p:nvSpPr>
        <p:spPr>
          <a:xfrm>
            <a:off x="821131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AT 100% (6)</a:t>
            </a:r>
            <a:endParaRPr lang="en-US" sz="1400" dirty="0"/>
          </a:p>
        </p:txBody>
      </p:sp>
      <p:sp>
        <p:nvSpPr>
          <p:cNvPr id="107" name="Text 105"/>
          <p:cNvSpPr txBox="1"/>
          <p:nvPr/>
        </p:nvSpPr>
        <p:spPr>
          <a:xfrm>
            <a:off x="8211312" y="2167128"/>
            <a:ext cx="1632204" cy="345643"/>
          </a:xfrm>
          <a:prstGeom prst="rect">
            <a:avLst/>
          </a:prstGeom>
          <a:noFill/>
          <a:ln/>
        </p:spPr>
        <p:txBody>
          <a:bodyPr wrap="square" lIns="0" tIns="0" rIns="0" bIns="0" rtlCol="0" anchor="ctr"/>
          <a:lstStyle/>
          <a:p>
            <a:pPr indent="0" marL="0">
              <a:buNone/>
            </a:pPr>
            <a:r>
              <a:rPr lang="en-US" sz="1200" b="1" dirty="0">
                <a:solidFill>
                  <a:srgbClr val="0B7A4A"/>
                </a:solidFill>
                <a:latin typeface="Inter" pitchFamily="34" charset="0"/>
                <a:ea typeface="Inter" pitchFamily="34" charset="-122"/>
                <a:cs typeface="Inter" pitchFamily="34" charset="-120"/>
              </a:rPr>
              <a:t>Kia Las Vegas</a:t>
            </a:r>
            <a:endParaRPr lang="en-US" sz="1200" dirty="0"/>
          </a:p>
        </p:txBody>
      </p:sp>
      <p:sp>
        <p:nvSpPr>
          <p:cNvPr id="108" name="Text 106"/>
          <p:cNvSpPr txBox="1"/>
          <p:nvPr/>
        </p:nvSpPr>
        <p:spPr>
          <a:xfrm>
            <a:off x="9889236" y="2167128"/>
            <a:ext cx="1632204" cy="345643"/>
          </a:xfrm>
          <a:prstGeom prst="rect">
            <a:avLst/>
          </a:prstGeom>
          <a:noFill/>
          <a:ln/>
        </p:spPr>
        <p:txBody>
          <a:bodyPr wrap="square" lIns="0" tIns="0" rIns="0" bIns="0" rtlCol="0" anchor="ctr"/>
          <a:lstStyle/>
          <a:p>
            <a:pPr indent="0" marL="0">
              <a:buNone/>
            </a:pPr>
            <a:r>
              <a:rPr lang="en-US" sz="1200" b="1" dirty="0">
                <a:solidFill>
                  <a:srgbClr val="0B7A4A"/>
                </a:solidFill>
                <a:latin typeface="Inter" pitchFamily="34" charset="0"/>
                <a:ea typeface="Inter" pitchFamily="34" charset="-122"/>
                <a:cs typeface="Inter" pitchFamily="34" charset="-120"/>
              </a:rPr>
              <a:t>Lincoln</a:t>
            </a:r>
            <a:endParaRPr lang="en-US" sz="1200" dirty="0"/>
          </a:p>
        </p:txBody>
      </p:sp>
      <p:sp>
        <p:nvSpPr>
          <p:cNvPr id="109" name="Text 107"/>
          <p:cNvSpPr txBox="1"/>
          <p:nvPr/>
        </p:nvSpPr>
        <p:spPr>
          <a:xfrm>
            <a:off x="8211312" y="2512771"/>
            <a:ext cx="1632204" cy="345643"/>
          </a:xfrm>
          <a:prstGeom prst="rect">
            <a:avLst/>
          </a:prstGeom>
          <a:noFill/>
          <a:ln/>
        </p:spPr>
        <p:txBody>
          <a:bodyPr wrap="square" lIns="0" tIns="0" rIns="0" bIns="0" rtlCol="0" anchor="ctr"/>
          <a:lstStyle/>
          <a:p>
            <a:pPr indent="0" marL="0">
              <a:buNone/>
            </a:pPr>
            <a:r>
              <a:rPr lang="en-US" sz="1200" b="1" dirty="0">
                <a:solidFill>
                  <a:srgbClr val="0B7A4A"/>
                </a:solidFill>
                <a:latin typeface="Inter" pitchFamily="34" charset="0"/>
                <a:ea typeface="Inter" pitchFamily="34" charset="-122"/>
                <a:cs typeface="Inter" pitchFamily="34" charset="-120"/>
              </a:rPr>
              <a:t>VW Henderson</a:t>
            </a:r>
            <a:endParaRPr lang="en-US" sz="1200" dirty="0"/>
          </a:p>
        </p:txBody>
      </p:sp>
      <p:sp>
        <p:nvSpPr>
          <p:cNvPr id="110" name="Text 108"/>
          <p:cNvSpPr txBox="1"/>
          <p:nvPr/>
        </p:nvSpPr>
        <p:spPr>
          <a:xfrm>
            <a:off x="9889236" y="2512771"/>
            <a:ext cx="1632204" cy="345643"/>
          </a:xfrm>
          <a:prstGeom prst="rect">
            <a:avLst/>
          </a:prstGeom>
          <a:noFill/>
          <a:ln/>
        </p:spPr>
        <p:txBody>
          <a:bodyPr wrap="square" lIns="0" tIns="0" rIns="0" bIns="0" rtlCol="0" anchor="ctr"/>
          <a:lstStyle/>
          <a:p>
            <a:pPr indent="0" marL="0">
              <a:buNone/>
            </a:pPr>
            <a:r>
              <a:rPr lang="en-US" sz="1200" b="1" dirty="0">
                <a:solidFill>
                  <a:srgbClr val="0B7A4A"/>
                </a:solidFill>
                <a:latin typeface="Inter" pitchFamily="34" charset="0"/>
                <a:ea typeface="Inter" pitchFamily="34" charset="-122"/>
                <a:cs typeface="Inter" pitchFamily="34" charset="-120"/>
              </a:rPr>
              <a:t>Land Rover Reno</a:t>
            </a:r>
            <a:endParaRPr lang="en-US" sz="1200" dirty="0"/>
          </a:p>
        </p:txBody>
      </p:sp>
      <p:sp>
        <p:nvSpPr>
          <p:cNvPr id="111" name="Text 109"/>
          <p:cNvSpPr txBox="1"/>
          <p:nvPr/>
        </p:nvSpPr>
        <p:spPr>
          <a:xfrm>
            <a:off x="8211312" y="2858414"/>
            <a:ext cx="1632204" cy="345643"/>
          </a:xfrm>
          <a:prstGeom prst="rect">
            <a:avLst/>
          </a:prstGeom>
          <a:noFill/>
          <a:ln/>
        </p:spPr>
        <p:txBody>
          <a:bodyPr wrap="square" lIns="0" tIns="0" rIns="0" bIns="0" rtlCol="0" anchor="ctr"/>
          <a:lstStyle/>
          <a:p>
            <a:pPr indent="0" marL="0">
              <a:buNone/>
            </a:pPr>
            <a:r>
              <a:rPr lang="en-US" sz="1200" b="1" dirty="0">
                <a:solidFill>
                  <a:srgbClr val="0B7A4A"/>
                </a:solidFill>
                <a:latin typeface="Inter" pitchFamily="34" charset="0"/>
                <a:ea typeface="Inter" pitchFamily="34" charset="-122"/>
                <a:cs typeface="Inter" pitchFamily="34" charset="-120"/>
              </a:rPr>
              <a:t>Subaru of Las Vegas</a:t>
            </a:r>
            <a:endParaRPr lang="en-US" sz="1200" dirty="0"/>
          </a:p>
        </p:txBody>
      </p:sp>
      <p:sp>
        <p:nvSpPr>
          <p:cNvPr id="112" name="Text 110"/>
          <p:cNvSpPr txBox="1"/>
          <p:nvPr/>
        </p:nvSpPr>
        <p:spPr>
          <a:xfrm>
            <a:off x="9889236" y="2858414"/>
            <a:ext cx="1632204" cy="345643"/>
          </a:xfrm>
          <a:prstGeom prst="rect">
            <a:avLst/>
          </a:prstGeom>
          <a:noFill/>
          <a:ln/>
        </p:spPr>
        <p:txBody>
          <a:bodyPr wrap="square" lIns="0" tIns="0" rIns="0" bIns="0" rtlCol="0" anchor="ctr"/>
          <a:lstStyle/>
          <a:p>
            <a:pPr indent="0" marL="0">
              <a:buNone/>
            </a:pPr>
            <a:r>
              <a:rPr lang="en-US" sz="1200" b="1" dirty="0">
                <a:solidFill>
                  <a:srgbClr val="0B7A4A"/>
                </a:solidFill>
                <a:latin typeface="Inter" pitchFamily="34" charset="0"/>
                <a:ea typeface="Inter" pitchFamily="34" charset="-122"/>
                <a:cs typeface="Inter" pitchFamily="34" charset="-120"/>
              </a:rPr>
              <a:t>Acura</a:t>
            </a:r>
            <a:endParaRPr lang="en-US" sz="1200" dirty="0"/>
          </a:p>
        </p:txBody>
      </p:sp>
      <p:sp>
        <p:nvSpPr>
          <p:cNvPr id="113" name="Shape 111"/>
          <p:cNvSpPr/>
          <p:nvPr/>
        </p:nvSpPr>
        <p:spPr>
          <a:xfrm>
            <a:off x="8211312" y="3913632"/>
            <a:ext cx="3355848" cy="22860"/>
          </a:xfrm>
          <a:prstGeom prst="rect">
            <a:avLst/>
          </a:prstGeom>
          <a:solidFill>
            <a:srgbClr val="C2352F"/>
          </a:solidFill>
          <a:ln/>
        </p:spPr>
      </p:sp>
      <p:sp>
        <p:nvSpPr>
          <p:cNvPr id="114" name="Text 112"/>
          <p:cNvSpPr txBox="1"/>
          <p:nvPr/>
        </p:nvSpPr>
        <p:spPr>
          <a:xfrm>
            <a:off x="8211312" y="394106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115" name="Text 113"/>
          <p:cNvSpPr txBox="1"/>
          <p:nvPr/>
        </p:nvSpPr>
        <p:spPr>
          <a:xfrm>
            <a:off x="9902952" y="394106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6" name="Text 114"/>
          <p:cNvSpPr txBox="1"/>
          <p:nvPr/>
        </p:nvSpPr>
        <p:spPr>
          <a:xfrm>
            <a:off x="10652760" y="394106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Open</a:t>
            </a:r>
            <a:endParaRPr lang="en-US" sz="1400" dirty="0"/>
          </a:p>
        </p:txBody>
      </p:sp>
      <p:sp>
        <p:nvSpPr>
          <p:cNvPr id="117" name="Text 115"/>
          <p:cNvSpPr txBox="1"/>
          <p:nvPr/>
        </p:nvSpPr>
        <p:spPr>
          <a:xfrm>
            <a:off x="8211312" y="416966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18" name="Text 116"/>
          <p:cNvSpPr txBox="1"/>
          <p:nvPr/>
        </p:nvSpPr>
        <p:spPr>
          <a:xfrm>
            <a:off x="9902952" y="416966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44.0%</a:t>
            </a:r>
            <a:endParaRPr lang="en-US" sz="1300" dirty="0"/>
          </a:p>
        </p:txBody>
      </p:sp>
      <p:sp>
        <p:nvSpPr>
          <p:cNvPr id="119" name="Text 117"/>
          <p:cNvSpPr txBox="1"/>
          <p:nvPr/>
        </p:nvSpPr>
        <p:spPr>
          <a:xfrm>
            <a:off x="10652760" y="416966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158</a:t>
            </a:r>
            <a:endParaRPr lang="en-US" sz="1200" dirty="0"/>
          </a:p>
        </p:txBody>
      </p:sp>
      <p:sp>
        <p:nvSpPr>
          <p:cNvPr id="120" name="Text 118"/>
          <p:cNvSpPr txBox="1"/>
          <p:nvPr/>
        </p:nvSpPr>
        <p:spPr>
          <a:xfrm>
            <a:off x="8211312" y="451530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Prescott Hyundai</a:t>
            </a:r>
            <a:endParaRPr lang="en-US" sz="1300" dirty="0"/>
          </a:p>
        </p:txBody>
      </p:sp>
      <p:sp>
        <p:nvSpPr>
          <p:cNvPr id="121" name="Text 119"/>
          <p:cNvSpPr txBox="1"/>
          <p:nvPr/>
        </p:nvSpPr>
        <p:spPr>
          <a:xfrm>
            <a:off x="9902952" y="451530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78.2%</a:t>
            </a:r>
            <a:endParaRPr lang="en-US" sz="1300" dirty="0"/>
          </a:p>
        </p:txBody>
      </p:sp>
      <p:sp>
        <p:nvSpPr>
          <p:cNvPr id="122" name="Text 120"/>
          <p:cNvSpPr txBox="1"/>
          <p:nvPr/>
        </p:nvSpPr>
        <p:spPr>
          <a:xfrm>
            <a:off x="10652760" y="451530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114</a:t>
            </a:r>
            <a:endParaRPr lang="en-US" sz="1200" dirty="0"/>
          </a:p>
        </p:txBody>
      </p:sp>
      <p:sp>
        <p:nvSpPr>
          <p:cNvPr id="123" name="Text 121"/>
          <p:cNvSpPr txBox="1"/>
          <p:nvPr/>
        </p:nvSpPr>
        <p:spPr>
          <a:xfrm>
            <a:off x="8211312" y="4860950"/>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124" name="Text 122"/>
          <p:cNvSpPr txBox="1"/>
          <p:nvPr/>
        </p:nvSpPr>
        <p:spPr>
          <a:xfrm>
            <a:off x="9902952" y="4860950"/>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94.0%</a:t>
            </a:r>
            <a:endParaRPr lang="en-US" sz="1300" dirty="0"/>
          </a:p>
        </p:txBody>
      </p:sp>
      <p:sp>
        <p:nvSpPr>
          <p:cNvPr id="125" name="Text 123"/>
          <p:cNvSpPr txBox="1"/>
          <p:nvPr/>
        </p:nvSpPr>
        <p:spPr>
          <a:xfrm>
            <a:off x="10652760" y="4860950"/>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57</a:t>
            </a:r>
            <a:endParaRPr lang="en-US" sz="1200" dirty="0"/>
          </a:p>
        </p:txBody>
      </p:sp>
      <p:sp>
        <p:nvSpPr>
          <p:cNvPr id="126" name="Shape 124"/>
          <p:cNvSpPr/>
          <p:nvPr/>
        </p:nvSpPr>
        <p:spPr>
          <a:xfrm>
            <a:off x="11612880" y="4897526"/>
            <a:ext cx="54864" cy="272491"/>
          </a:xfrm>
          <a:prstGeom prst="rect">
            <a:avLst/>
          </a:prstGeom>
          <a:solidFill>
            <a:srgbClr val="C2352F"/>
          </a:solidFill>
          <a:ln/>
        </p:spPr>
      </p:sp>
      <p:sp>
        <p:nvSpPr>
          <p:cNvPr id="127" name="Text 125"/>
          <p:cNvSpPr txBox="1"/>
          <p:nvPr/>
        </p:nvSpPr>
        <p:spPr>
          <a:xfrm>
            <a:off x="8211312" y="520659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128" name="Text 126"/>
          <p:cNvSpPr txBox="1"/>
          <p:nvPr/>
        </p:nvSpPr>
        <p:spPr>
          <a:xfrm>
            <a:off x="9902952" y="520659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96.5%</a:t>
            </a:r>
            <a:endParaRPr lang="en-US" sz="1300" dirty="0"/>
          </a:p>
        </p:txBody>
      </p:sp>
      <p:sp>
        <p:nvSpPr>
          <p:cNvPr id="129" name="Text 127"/>
          <p:cNvSpPr txBox="1"/>
          <p:nvPr/>
        </p:nvSpPr>
        <p:spPr>
          <a:xfrm>
            <a:off x="10652760" y="520659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30</a:t>
            </a:r>
            <a:endParaRPr lang="en-US" sz="1200" dirty="0"/>
          </a:p>
        </p:txBody>
      </p:sp>
      <p:sp>
        <p:nvSpPr>
          <p:cNvPr id="130" name="Shape 128"/>
          <p:cNvSpPr/>
          <p:nvPr/>
        </p:nvSpPr>
        <p:spPr>
          <a:xfrm>
            <a:off x="11612880" y="5243170"/>
            <a:ext cx="54864" cy="272491"/>
          </a:xfrm>
          <a:prstGeom prst="rect">
            <a:avLst/>
          </a:prstGeom>
          <a:solidFill>
            <a:srgbClr val="C2352F"/>
          </a:solidFill>
          <a:ln/>
        </p:spPr>
      </p:sp>
      <p:sp>
        <p:nvSpPr>
          <p:cNvPr id="131" name="Text 129"/>
          <p:cNvSpPr txBox="1"/>
          <p:nvPr/>
        </p:nvSpPr>
        <p:spPr>
          <a:xfrm>
            <a:off x="8211312" y="555223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32" name="Text 130"/>
          <p:cNvSpPr txBox="1"/>
          <p:nvPr/>
        </p:nvSpPr>
        <p:spPr>
          <a:xfrm>
            <a:off x="9902952" y="555223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98.2%</a:t>
            </a:r>
            <a:endParaRPr lang="en-US" sz="1300" dirty="0"/>
          </a:p>
        </p:txBody>
      </p:sp>
      <p:sp>
        <p:nvSpPr>
          <p:cNvPr id="133" name="Text 131"/>
          <p:cNvSpPr txBox="1"/>
          <p:nvPr/>
        </p:nvSpPr>
        <p:spPr>
          <a:xfrm>
            <a:off x="10652760" y="555223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a:t>
            </a:r>
            <a:endParaRPr lang="en-US" sz="1200" dirty="0"/>
          </a:p>
        </p:txBody>
      </p:sp>
      <p:sp>
        <p:nvSpPr>
          <p:cNvPr id="134" name="Shape 132"/>
          <p:cNvSpPr/>
          <p:nvPr/>
        </p:nvSpPr>
        <p:spPr>
          <a:xfrm>
            <a:off x="457200" y="6126480"/>
            <a:ext cx="11274552" cy="615696"/>
          </a:xfrm>
          <a:prstGeom prst="rect">
            <a:avLst/>
          </a:prstGeom>
          <a:solidFill>
            <a:srgbClr val="EDF4FA"/>
          </a:solidFill>
          <a:ln/>
        </p:spPr>
      </p:sp>
      <p:sp>
        <p:nvSpPr>
          <p:cNvPr id="135" name="Text 133"/>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Chevy GMC Bullhead picks up 77.1% of transfers; Kia St George picks up 21.9%. Nissan and Prescott Hyundai hold 272 of the group's 484 open callbacks.</a:t>
            </a:r>
            <a:endParaRPr lang="en-US" sz="16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RO Count?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CP RO count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customer-pay repair orders closed in the period</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Every RO with a customer-pay line. One RO counts once, however many lines it has.</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Everything else starts here: hours, ELR and $ per RO all multiply off the RO count.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whether the business is expanding or contracting: are customers coming back?</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Flat car count means growth has to come from selling more on each visit.</a:t>
            </a:r>
            <a:endParaRPr lang="en-US" sz="1600" dirty="0"/>
          </a:p>
        </p:txBody>
      </p:sp>
      <p:sp>
        <p:nvSpPr>
          <p:cNvPr id="13" name="Shape 11"/>
          <p:cNvSpPr/>
          <p:nvPr/>
        </p:nvSpPr>
        <p:spPr>
          <a:xfrm>
            <a:off x="5138928" y="2843784"/>
            <a:ext cx="45720" cy="801942"/>
          </a:xfrm>
          <a:prstGeom prst="rect">
            <a:avLst/>
          </a:prstGeom>
          <a:solidFill>
            <a:srgbClr val="2587C5"/>
          </a:solidFill>
          <a:ln/>
        </p:spPr>
      </p:sp>
      <p:sp>
        <p:nvSpPr>
          <p:cNvPr id="14" name="Text 12"/>
          <p:cNvSpPr txBox="1"/>
          <p:nvPr/>
        </p:nvSpPr>
        <p:spPr>
          <a:xfrm>
            <a:off x="5266944" y="2843784"/>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Appointment availability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Same-day and next-day slots; an easy online scheduler</a:t>
            </a:r>
            <a:endParaRPr lang="en-US" sz="1400" dirty="0"/>
          </a:p>
        </p:txBody>
      </p:sp>
      <p:sp>
        <p:nvSpPr>
          <p:cNvPr id="15" name="Shape 13"/>
          <p:cNvSpPr/>
          <p:nvPr/>
        </p:nvSpPr>
        <p:spPr>
          <a:xfrm>
            <a:off x="8394192" y="2843784"/>
            <a:ext cx="45720" cy="801942"/>
          </a:xfrm>
          <a:prstGeom prst="rect">
            <a:avLst/>
          </a:prstGeom>
          <a:solidFill>
            <a:srgbClr val="2587C5"/>
          </a:solidFill>
          <a:ln/>
        </p:spPr>
      </p:sp>
      <p:sp>
        <p:nvSpPr>
          <p:cNvPr id="16" name="Text 14"/>
          <p:cNvSpPr txBox="1"/>
          <p:nvPr/>
        </p:nvSpPr>
        <p:spPr>
          <a:xfrm>
            <a:off x="8522208" y="2843784"/>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Phone handling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call answered, and every caller asked for the appointment</a:t>
            </a:r>
            <a:endParaRPr lang="en-US" sz="1400" dirty="0"/>
          </a:p>
        </p:txBody>
      </p:sp>
      <p:sp>
        <p:nvSpPr>
          <p:cNvPr id="17" name="Shape 15"/>
          <p:cNvSpPr/>
          <p:nvPr/>
        </p:nvSpPr>
        <p:spPr>
          <a:xfrm>
            <a:off x="5138928" y="3755454"/>
            <a:ext cx="45720" cy="1121027"/>
          </a:xfrm>
          <a:prstGeom prst="rect">
            <a:avLst/>
          </a:prstGeom>
          <a:solidFill>
            <a:srgbClr val="2587C5"/>
          </a:solidFill>
          <a:ln/>
        </p:spPr>
      </p:sp>
      <p:sp>
        <p:nvSpPr>
          <p:cNvPr id="18" name="Text 16"/>
          <p:cNvSpPr txBox="1"/>
          <p:nvPr/>
        </p:nvSpPr>
        <p:spPr>
          <a:xfrm>
            <a:off x="5266944" y="375545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Retention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Proactive outreach and ongoing engagement: lapsed, inactive and sold-not-serviced customers (VizAuto retention app)</a:t>
            </a:r>
            <a:endParaRPr lang="en-US" sz="1400" dirty="0"/>
          </a:p>
        </p:txBody>
      </p:sp>
      <p:sp>
        <p:nvSpPr>
          <p:cNvPr id="19" name="Shape 17"/>
          <p:cNvSpPr/>
          <p:nvPr/>
        </p:nvSpPr>
        <p:spPr>
          <a:xfrm>
            <a:off x="8394192" y="3755454"/>
            <a:ext cx="45720" cy="1121027"/>
          </a:xfrm>
          <a:prstGeom prst="rect">
            <a:avLst/>
          </a:prstGeom>
          <a:solidFill>
            <a:srgbClr val="2587C5"/>
          </a:solidFill>
          <a:ln/>
        </p:spPr>
      </p:sp>
      <p:sp>
        <p:nvSpPr>
          <p:cNvPr id="20" name="Text 18"/>
          <p:cNvSpPr txBox="1"/>
          <p:nvPr/>
        </p:nvSpPr>
        <p:spPr>
          <a:xfrm>
            <a:off x="8522208" y="375545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Next visit booked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First appointment at the sale; next one before the customer leaves</a:t>
            </a:r>
            <a:endParaRPr lang="en-US" sz="1400" dirty="0"/>
          </a:p>
        </p:txBody>
      </p:sp>
      <p:sp>
        <p:nvSpPr>
          <p:cNvPr id="21" name="Shape 19"/>
          <p:cNvSpPr/>
          <p:nvPr/>
        </p:nvSpPr>
        <p:spPr>
          <a:xfrm>
            <a:off x="5138928" y="4986210"/>
            <a:ext cx="45720" cy="801942"/>
          </a:xfrm>
          <a:prstGeom prst="rect">
            <a:avLst/>
          </a:prstGeom>
          <a:solidFill>
            <a:srgbClr val="2587C5"/>
          </a:solidFill>
          <a:ln/>
        </p:spPr>
      </p:sp>
      <p:sp>
        <p:nvSpPr>
          <p:cNvPr id="22" name="Text 20"/>
          <p:cNvSpPr txBox="1"/>
          <p:nvPr/>
        </p:nvSpPr>
        <p:spPr>
          <a:xfrm>
            <a:off x="5266944"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Quick maintenance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Maintenance available on demand, done quickly and efficiently, keeps customers coming back</a:t>
            </a:r>
            <a:endParaRPr lang="en-US" sz="1400" dirty="0"/>
          </a:p>
        </p:txBody>
      </p:sp>
      <p:sp>
        <p:nvSpPr>
          <p:cNvPr id="23" name="Shape 21"/>
          <p:cNvSpPr/>
          <p:nvPr/>
        </p:nvSpPr>
        <p:spPr>
          <a:xfrm>
            <a:off x="8394192" y="4986210"/>
            <a:ext cx="45720" cy="801942"/>
          </a:xfrm>
          <a:prstGeom prst="rect">
            <a:avLst/>
          </a:prstGeom>
          <a:solidFill>
            <a:srgbClr val="2587C5"/>
          </a:solidFill>
          <a:ln/>
        </p:spPr>
      </p:sp>
      <p:sp>
        <p:nvSpPr>
          <p:cNvPr id="24" name="Text 22"/>
          <p:cNvSpPr txBox="1"/>
          <p:nvPr/>
        </p:nvSpPr>
        <p:spPr>
          <a:xfrm>
            <a:off x="8522208"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Marketing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Fixed ops budget, keyword search, OEM and third-party reminders</a:t>
            </a:r>
            <a:endParaRPr lang="en-US" sz="1400" dirty="0"/>
          </a:p>
        </p:txBody>
      </p:sp>
      <p:sp>
        <p:nvSpPr>
          <p:cNvPr id="25" name="Shape 23"/>
          <p:cNvSpPr/>
          <p:nvPr/>
        </p:nvSpPr>
        <p:spPr>
          <a:xfrm>
            <a:off x="457200" y="6126480"/>
            <a:ext cx="11274552" cy="371856"/>
          </a:xfrm>
          <a:prstGeom prst="rect">
            <a:avLst/>
          </a:prstGeom>
          <a:solidFill>
            <a:srgbClr val="EDF4FA"/>
          </a:solidFill>
          <a:ln/>
        </p:spPr>
      </p:sp>
      <p:sp>
        <p:nvSpPr>
          <p:cNvPr id="26" name="Text 24"/>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279,756 CP ROs, up 456 from 2025. Volume is flat.</a:t>
            </a:r>
            <a:endParaRPr lang="en-US" sz="16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Hours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labor time we sell on the average customer-pay visit.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0.1 HOUR</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0.1 hour more on every RO  </a:t>
            </a:r>
            <a:pPr algn="ctr" indent="0" marL="0">
              <a:buNone/>
            </a:pPr>
            <a:r>
              <a:rPr lang="en-US" sz="1400" b="1" dirty="0">
                <a:solidFill>
                  <a:srgbClr val="0B2C4A"/>
                </a:solidFill>
                <a:latin typeface="Inter" pitchFamily="34" charset="0"/>
                <a:ea typeface="Inter" pitchFamily="34" charset="-122"/>
                <a:cs typeface="Inter" pitchFamily="34" charset="-120"/>
              </a:rPr>
              <a:t>= 27,976 more hours</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$162 an hour (our ELR)  </a:t>
            </a:r>
            <a:pPr algn="ctr" indent="0" marL="0">
              <a:buNone/>
            </a:pPr>
            <a:r>
              <a:rPr lang="en-US" sz="1400" b="1" dirty="0">
                <a:solidFill>
                  <a:srgbClr val="0B2C4A"/>
                </a:solidFill>
                <a:latin typeface="Inter" pitchFamily="34" charset="0"/>
                <a:ea typeface="Inter" pitchFamily="34" charset="-122"/>
                <a:cs typeface="Inter" pitchFamily="34" charset="-120"/>
              </a:rPr>
              <a:t>= $4.5M more labor</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cannot be manipulated: it is the work we sell.</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where the lift came from: labor $ per RO up from $200 to $250 with hours flat is a price increase, not more work.</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Selling more hours also sells parts.</a:t>
            </a:r>
            <a:endParaRPr lang="en-US" sz="1500" dirty="0"/>
          </a:p>
        </p:txBody>
      </p:sp>
      <p:sp>
        <p:nvSpPr>
          <p:cNvPr id="18" name="Shape 16"/>
          <p:cNvSpPr/>
          <p:nvPr/>
        </p:nvSpPr>
        <p:spPr>
          <a:xfrm>
            <a:off x="5138928" y="3410712"/>
            <a:ext cx="45720" cy="1133856"/>
          </a:xfrm>
          <a:prstGeom prst="rect">
            <a:avLst/>
          </a:prstGeom>
          <a:solidFill>
            <a:srgbClr val="2587C5"/>
          </a:solidFill>
          <a:ln/>
        </p:spPr>
      </p:sp>
      <p:sp>
        <p:nvSpPr>
          <p:cNvPr id="19" name="Text 17"/>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car inspected, with photos and video sent to the customer</a:t>
            </a:r>
            <a:endParaRPr lang="en-US" sz="1400" dirty="0"/>
          </a:p>
        </p:txBody>
      </p:sp>
      <p:sp>
        <p:nvSpPr>
          <p:cNvPr id="20" name="Shape 18"/>
          <p:cNvSpPr/>
          <p:nvPr/>
        </p:nvSpPr>
        <p:spPr>
          <a:xfrm>
            <a:off x="7309104" y="3410712"/>
            <a:ext cx="45720" cy="1133856"/>
          </a:xfrm>
          <a:prstGeom prst="rect">
            <a:avLst/>
          </a:prstGeom>
          <a:solidFill>
            <a:srgbClr val="2587C5"/>
          </a:solidFill>
          <a:ln/>
        </p:spPr>
      </p:sp>
      <p:sp>
        <p:nvSpPr>
          <p:cNvPr id="21" name="Text 19"/>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Road to the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Walk-around at the vehicle: hood, tires and wipers</a:t>
            </a:r>
            <a:endParaRPr lang="en-US" sz="1400" dirty="0"/>
          </a:p>
        </p:txBody>
      </p:sp>
      <p:sp>
        <p:nvSpPr>
          <p:cNvPr id="22" name="Shape 20"/>
          <p:cNvSpPr/>
          <p:nvPr/>
        </p:nvSpPr>
        <p:spPr>
          <a:xfrm>
            <a:off x="9479280" y="3410712"/>
            <a:ext cx="45720" cy="1133856"/>
          </a:xfrm>
          <a:prstGeom prst="rect">
            <a:avLst/>
          </a:prstGeom>
          <a:solidFill>
            <a:srgbClr val="2587C5"/>
          </a:solidFill>
          <a:ln/>
        </p:spPr>
      </p:sp>
      <p:sp>
        <p:nvSpPr>
          <p:cNvPr id="23" name="Text 21"/>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 every time</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Declined work follow-up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defined process and a champion to bring it back</a:t>
            </a:r>
            <a:endParaRPr lang="en-US" sz="1400" dirty="0"/>
          </a:p>
        </p:txBody>
      </p:sp>
      <p:sp>
        <p:nvSpPr>
          <p:cNvPr id="26" name="Shape 24"/>
          <p:cNvSpPr/>
          <p:nvPr/>
        </p:nvSpPr>
        <p:spPr>
          <a:xfrm>
            <a:off x="7309104" y="4654296"/>
            <a:ext cx="45720" cy="1133856"/>
          </a:xfrm>
          <a:prstGeom prst="rect">
            <a:avLst/>
          </a:prstGeom>
          <a:solidFill>
            <a:srgbClr val="2587C5"/>
          </a:solidFill>
          <a:ln/>
        </p:spPr>
      </p:sp>
      <p:sp>
        <p:nvSpPr>
          <p:cNvPr id="27" name="Text 25"/>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 code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Sell the hours the job pays; don't give time away</a:t>
            </a:r>
            <a:endParaRPr lang="en-US" sz="1400" dirty="0"/>
          </a:p>
        </p:txBody>
      </p:sp>
      <p:sp>
        <p:nvSpPr>
          <p:cNvPr id="28" name="Shape 26"/>
          <p:cNvSpPr/>
          <p:nvPr/>
        </p:nvSpPr>
        <p:spPr>
          <a:xfrm>
            <a:off x="9479280" y="4654296"/>
            <a:ext cx="45720" cy="1133856"/>
          </a:xfrm>
          <a:prstGeom prst="rect">
            <a:avLst/>
          </a:prstGeom>
          <a:solidFill>
            <a:srgbClr val="2587C5"/>
          </a:solidFill>
          <a:ln/>
        </p:spPr>
      </p:sp>
      <p:sp>
        <p:nvSpPr>
          <p:cNvPr id="29" name="Text 27"/>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High-mileage and repair work to the techs who find it</a:t>
            </a:r>
            <a:endParaRPr lang="en-US" sz="1400" dirty="0"/>
          </a:p>
        </p:txBody>
      </p:sp>
      <p:sp>
        <p:nvSpPr>
          <p:cNvPr id="30" name="Shape 28"/>
          <p:cNvSpPr/>
          <p:nvPr/>
        </p:nvSpPr>
        <p:spPr>
          <a:xfrm>
            <a:off x="457200" y="6126480"/>
            <a:ext cx="11274552" cy="371856"/>
          </a:xfrm>
          <a:prstGeom prst="rect">
            <a:avLst/>
          </a:prstGeom>
          <a:solidFill>
            <a:srgbClr val="E6F6EE"/>
          </a:solidFill>
          <a:ln/>
        </p:spPr>
      </p:sp>
      <p:sp>
        <p:nvSpPr>
          <p:cNvPr id="31" name="Text 29"/>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1.87 CP hours per RO, up 0.07 and ahead of 2025 in all nine months.</a:t>
            </a:r>
            <a:endParaRPr lang="en-US" sz="1600" dirty="0"/>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Effective Labor Rate?</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Effective labor rate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average amount we collect for each hour of customer-pay labor we sell.</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what the shop actually collects per hour, and it shows whether a pricing change did what it was meant to do.</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Look past the total: by work type and by op code there can be room to raise a rate, or a reason to lower one.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Benchmark: CP ELR at least 70% of door rate.</a:t>
            </a:r>
            <a:endParaRPr lang="en-US" sz="1600" dirty="0"/>
          </a:p>
        </p:txBody>
      </p:sp>
      <p:sp>
        <p:nvSpPr>
          <p:cNvPr id="13" name="Shape 11"/>
          <p:cNvSpPr/>
          <p:nvPr/>
        </p:nvSpPr>
        <p:spPr>
          <a:xfrm>
            <a:off x="5138928" y="2843784"/>
            <a:ext cx="45720" cy="1064924"/>
          </a:xfrm>
          <a:prstGeom prst="rect">
            <a:avLst/>
          </a:prstGeom>
          <a:solidFill>
            <a:srgbClr val="2587C5"/>
          </a:solidFill>
          <a:ln/>
        </p:spPr>
      </p:sp>
      <p:sp>
        <p:nvSpPr>
          <p:cNvPr id="14" name="Text 12"/>
          <p:cNvSpPr txBox="1"/>
          <p:nvPr/>
        </p:nvSpPr>
        <p:spPr>
          <a:xfrm>
            <a:off x="5266944" y="2843784"/>
            <a:ext cx="2962656" cy="106492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Repair is priced above maintenance: repair-heavy shops run a higher ELR, maintenance-heavy lower. Neither is wrong.</a:t>
            </a:r>
            <a:endParaRPr lang="en-US" sz="1400" dirty="0"/>
          </a:p>
        </p:txBody>
      </p:sp>
      <p:sp>
        <p:nvSpPr>
          <p:cNvPr id="15" name="Shape 13"/>
          <p:cNvSpPr/>
          <p:nvPr/>
        </p:nvSpPr>
        <p:spPr>
          <a:xfrm>
            <a:off x="8394192" y="2843784"/>
            <a:ext cx="45720" cy="1064924"/>
          </a:xfrm>
          <a:prstGeom prst="rect">
            <a:avLst/>
          </a:prstGeom>
          <a:solidFill>
            <a:srgbClr val="2587C5"/>
          </a:solidFill>
          <a:ln/>
        </p:spPr>
      </p:sp>
      <p:sp>
        <p:nvSpPr>
          <p:cNvPr id="16" name="Text 14"/>
          <p:cNvSpPr txBox="1"/>
          <p:nvPr/>
        </p:nvSpPr>
        <p:spPr>
          <a:xfrm>
            <a:off x="8522208" y="2843784"/>
            <a:ext cx="2962656" cy="106492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If most of your hours are maintenance, the maintenance rate moves ELR more than the repair rate</a:t>
            </a:r>
            <a:endParaRPr lang="en-US" sz="1400" dirty="0"/>
          </a:p>
        </p:txBody>
      </p:sp>
      <p:sp>
        <p:nvSpPr>
          <p:cNvPr id="17" name="Shape 15"/>
          <p:cNvSpPr/>
          <p:nvPr/>
        </p:nvSpPr>
        <p:spPr>
          <a:xfrm>
            <a:off x="5138928" y="4018436"/>
            <a:ext cx="45720" cy="829994"/>
          </a:xfrm>
          <a:prstGeom prst="rect">
            <a:avLst/>
          </a:prstGeom>
          <a:solidFill>
            <a:srgbClr val="2587C5"/>
          </a:solidFill>
          <a:ln/>
        </p:spPr>
      </p:sp>
      <p:sp>
        <p:nvSpPr>
          <p:cNvPr id="18" name="Text 16"/>
          <p:cNvSpPr txBox="1"/>
          <p:nvPr/>
        </p:nvSpPr>
        <p:spPr>
          <a:xfrm>
            <a:off x="5266944" y="4018436"/>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ELR by labor operation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what every op code collects per hour, not just the store total</a:t>
            </a:r>
            <a:endParaRPr lang="en-US" sz="1400" dirty="0"/>
          </a:p>
        </p:txBody>
      </p:sp>
      <p:sp>
        <p:nvSpPr>
          <p:cNvPr id="19" name="Shape 17"/>
          <p:cNvSpPr/>
          <p:nvPr/>
        </p:nvSpPr>
        <p:spPr>
          <a:xfrm>
            <a:off x="8394192" y="4018436"/>
            <a:ext cx="45720" cy="829994"/>
          </a:xfrm>
          <a:prstGeom prst="rect">
            <a:avLst/>
          </a:prstGeom>
          <a:solidFill>
            <a:srgbClr val="2587C5"/>
          </a:solidFill>
          <a:ln/>
        </p:spPr>
      </p:sp>
      <p:sp>
        <p:nvSpPr>
          <p:cNvPr id="20" name="Text 18"/>
          <p:cNvSpPr txBox="1"/>
          <p:nvPr/>
        </p:nvSpPr>
        <p:spPr>
          <a:xfrm>
            <a:off x="8522208" y="4018436"/>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Door rate and repair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Posted rate from a market labor study, and how repair jobs are priced against it</a:t>
            </a:r>
            <a:endParaRPr lang="en-US" sz="1400" dirty="0"/>
          </a:p>
        </p:txBody>
      </p:sp>
      <p:sp>
        <p:nvSpPr>
          <p:cNvPr id="21" name="Shape 19"/>
          <p:cNvSpPr/>
          <p:nvPr/>
        </p:nvSpPr>
        <p:spPr>
          <a:xfrm>
            <a:off x="5138928" y="4958158"/>
            <a:ext cx="45720" cy="829994"/>
          </a:xfrm>
          <a:prstGeom prst="rect">
            <a:avLst/>
          </a:prstGeom>
          <a:solidFill>
            <a:srgbClr val="2587C5"/>
          </a:solidFill>
          <a:ln/>
        </p:spPr>
      </p:sp>
      <p:sp>
        <p:nvSpPr>
          <p:cNvPr id="22" name="Text 20"/>
          <p:cNvSpPr txBox="1"/>
          <p:nvPr/>
        </p:nvSpPr>
        <p:spPr>
          <a:xfrm>
            <a:off x="5266944" y="4958158"/>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discount lowers ELR. Run them through ADC so we can see them.</a:t>
            </a:r>
            <a:endParaRPr lang="en-US" sz="1400" dirty="0"/>
          </a:p>
        </p:txBody>
      </p:sp>
      <p:sp>
        <p:nvSpPr>
          <p:cNvPr id="23" name="Shape 21"/>
          <p:cNvSpPr/>
          <p:nvPr/>
        </p:nvSpPr>
        <p:spPr>
          <a:xfrm>
            <a:off x="8394192" y="4958158"/>
            <a:ext cx="45720" cy="829994"/>
          </a:xfrm>
          <a:prstGeom prst="rect">
            <a:avLst/>
          </a:prstGeom>
          <a:solidFill>
            <a:srgbClr val="2587C5"/>
          </a:solidFill>
          <a:ln/>
        </p:spPr>
      </p:sp>
      <p:sp>
        <p:nvSpPr>
          <p:cNvPr id="24" name="Text 22"/>
          <p:cNvSpPr txBox="1"/>
          <p:nvPr/>
        </p:nvSpPr>
        <p:spPr>
          <a:xfrm>
            <a:off x="8522208" y="4958158"/>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labor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hours we set and pay the tech on menu jobs; repair times come from labor guides</a:t>
            </a:r>
            <a:endParaRPr lang="en-US" sz="1400" dirty="0"/>
          </a:p>
        </p:txBody>
      </p:sp>
      <p:sp>
        <p:nvSpPr>
          <p:cNvPr id="25" name="Shape 23"/>
          <p:cNvSpPr/>
          <p:nvPr/>
        </p:nvSpPr>
        <p:spPr>
          <a:xfrm>
            <a:off x="457200" y="6126480"/>
            <a:ext cx="11274552" cy="364236"/>
          </a:xfrm>
          <a:prstGeom prst="rect">
            <a:avLst/>
          </a:prstGeom>
          <a:solidFill>
            <a:srgbClr val="E6F6EE"/>
          </a:solidFill>
          <a:ln/>
        </p:spPr>
      </p:sp>
      <p:sp>
        <p:nvSpPr>
          <p:cNvPr id="26" name="Text 24"/>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Group: $162.42 CP ELR, up $3.56. Jul-Sep it ran 74.7% of door rate; 25 of 33 stores at or above 70%.</a:t>
            </a:r>
            <a:endParaRPr lang="en-US" sz="1550" dirty="0"/>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 · EFFECTIVE LABOR RATE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Pricing Strategy</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Do a comprehensive market labor study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Calculate your ELR on every maintenance item; target ELR by work type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Know your loss leader, and what the competition is charging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No direct price changes to parts or labor: use ADC-controlled discounting for every discount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Benchmark: CP ELR at least 70% of door rate</a:t>
            </a:r>
            <a:endParaRPr lang="en-US" sz="18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$162.42</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effective labor rate, up $3.56 and ahead in all nine months.</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74.7%</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ELR as a share of door rate, Jul-Sep. 25 of 33 stores at or above 70%.</a:t>
            </a:r>
            <a:endParaRPr lang="en-US" sz="1400" dirty="0"/>
          </a:p>
        </p:txBody>
      </p:sp>
      <p:sp>
        <p:nvSpPr>
          <p:cNvPr id="16" name="Shape 14"/>
          <p:cNvSpPr/>
          <p:nvPr/>
        </p:nvSpPr>
        <p:spPr>
          <a:xfrm>
            <a:off x="7269480" y="4602480"/>
            <a:ext cx="54864" cy="1112520"/>
          </a:xfrm>
          <a:prstGeom prst="rect">
            <a:avLst/>
          </a:prstGeom>
          <a:solidFill>
            <a:srgbClr val="2587C5"/>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$127K a month</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Added labor if the 8 stores under 70% reached it on the hours they already sell, Jul-Sep: $126,831 a month.</a:t>
            </a:r>
            <a:endParaRPr lang="en-US" sz="1400" dirty="0"/>
          </a:p>
        </p:txBody>
      </p:sp>
      <p:sp>
        <p:nvSpPr>
          <p:cNvPr id="19" name="Shape 17"/>
          <p:cNvSpPr/>
          <p:nvPr/>
        </p:nvSpPr>
        <p:spPr>
          <a:xfrm>
            <a:off x="457200" y="6126480"/>
            <a:ext cx="11274552" cy="364236"/>
          </a:xfrm>
          <a:prstGeom prst="rect">
            <a:avLst/>
          </a:prstGeom>
          <a:solidFill>
            <a:srgbClr val="EDF4FA"/>
          </a:solidFill>
          <a:ln/>
        </p:spPr>
      </p:sp>
      <p:sp>
        <p:nvSpPr>
          <p:cNvPr id="20" name="Text 18"/>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The ask: know what you collect on every op code, and run every discount through ADC so we can see it.</a:t>
            </a:r>
            <a:endParaRPr lang="en-US" sz="1550"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Labor Sale by Pay Type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201168" cy="201168"/>
          </a:xfrm>
          <a:prstGeom prst="rect">
            <a:avLst/>
          </a:prstGeom>
          <a:solidFill>
            <a:srgbClr val="2587C5"/>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Customer pay %</a:t>
            </a:r>
            <a:endParaRPr lang="en-US" sz="1400" dirty="0"/>
          </a:p>
        </p:txBody>
      </p:sp>
      <p:sp>
        <p:nvSpPr>
          <p:cNvPr id="8" name="Shape 6"/>
          <p:cNvSpPr/>
          <p:nvPr/>
        </p:nvSpPr>
        <p:spPr>
          <a:xfrm>
            <a:off x="2624328" y="1371600"/>
            <a:ext cx="201168" cy="201168"/>
          </a:xfrm>
          <a:prstGeom prst="rect">
            <a:avLst/>
          </a:prstGeom>
          <a:solidFill>
            <a:srgbClr val="8FBEE6"/>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Warranty %</a:t>
            </a:r>
            <a:endParaRPr lang="en-US" sz="1400" dirty="0"/>
          </a:p>
        </p:txBody>
      </p:sp>
      <p:sp>
        <p:nvSpPr>
          <p:cNvPr id="10" name="Shape 8"/>
          <p:cNvSpPr/>
          <p:nvPr/>
        </p:nvSpPr>
        <p:spPr>
          <a:xfrm>
            <a:off x="4590288" y="1371600"/>
            <a:ext cx="201168" cy="201168"/>
          </a:xfrm>
          <a:prstGeom prst="rect">
            <a:avLst/>
          </a:prstGeom>
          <a:solidFill>
            <a:srgbClr val="D9D9D9"/>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Internal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1948645" cy="292608"/>
          </a:xfrm>
          <a:prstGeom prst="rect">
            <a:avLst/>
          </a:prstGeom>
          <a:solidFill>
            <a:srgbClr val="2587C5"/>
          </a:solidFill>
          <a:ln w="6350">
            <a:solidFill>
              <a:srgbClr val="FFFFFF"/>
            </a:solidFill>
            <a:prstDash val="solid"/>
          </a:ln>
        </p:spPr>
      </p:sp>
      <p:sp>
        <p:nvSpPr>
          <p:cNvPr id="15" name="Text 13"/>
          <p:cNvSpPr txBox="1"/>
          <p:nvPr/>
        </p:nvSpPr>
        <p:spPr>
          <a:xfrm>
            <a:off x="7726680" y="1344168"/>
            <a:ext cx="1948645"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52</a:t>
            </a:r>
            <a:endParaRPr lang="en-US" sz="1400" dirty="0"/>
          </a:p>
        </p:txBody>
      </p:sp>
      <p:sp>
        <p:nvSpPr>
          <p:cNvPr id="16" name="Shape 14"/>
          <p:cNvSpPr/>
          <p:nvPr/>
        </p:nvSpPr>
        <p:spPr>
          <a:xfrm>
            <a:off x="9675325" y="1344168"/>
            <a:ext cx="882937" cy="292608"/>
          </a:xfrm>
          <a:prstGeom prst="rect">
            <a:avLst/>
          </a:prstGeom>
          <a:solidFill>
            <a:srgbClr val="8FBEE6"/>
          </a:solidFill>
          <a:ln w="6350">
            <a:solidFill>
              <a:srgbClr val="FFFFFF"/>
            </a:solidFill>
            <a:prstDash val="solid"/>
          </a:ln>
        </p:spPr>
      </p:sp>
      <p:sp>
        <p:nvSpPr>
          <p:cNvPr id="17" name="Text 15"/>
          <p:cNvSpPr txBox="1"/>
          <p:nvPr/>
        </p:nvSpPr>
        <p:spPr>
          <a:xfrm>
            <a:off x="9675325" y="1344168"/>
            <a:ext cx="882937"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18" name="Shape 16"/>
          <p:cNvSpPr/>
          <p:nvPr/>
        </p:nvSpPr>
        <p:spPr>
          <a:xfrm>
            <a:off x="10558262" y="1344168"/>
            <a:ext cx="880882" cy="292608"/>
          </a:xfrm>
          <a:prstGeom prst="rect">
            <a:avLst/>
          </a:prstGeom>
          <a:solidFill>
            <a:srgbClr val="D9D9D9"/>
          </a:solidFill>
          <a:ln w="6350">
            <a:solidFill>
              <a:srgbClr val="FFFFFF"/>
            </a:solidFill>
            <a:prstDash val="solid"/>
          </a:ln>
        </p:spPr>
      </p:sp>
      <p:sp>
        <p:nvSpPr>
          <p:cNvPr id="19" name="Text 17"/>
          <p:cNvSpPr txBox="1"/>
          <p:nvPr/>
        </p:nvSpPr>
        <p:spPr>
          <a:xfrm>
            <a:off x="10558262" y="1344168"/>
            <a:ext cx="880882"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20" name="Text 18"/>
          <p:cNvSpPr txBox="1"/>
          <p:nvPr/>
        </p:nvSpPr>
        <p:spPr>
          <a:xfrm>
            <a:off x="658368"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1" name="Shape 19"/>
          <p:cNvSpPr/>
          <p:nvPr/>
        </p:nvSpPr>
        <p:spPr>
          <a:xfrm>
            <a:off x="2807208" y="1857717"/>
            <a:ext cx="2219218" cy="183138"/>
          </a:xfrm>
          <a:prstGeom prst="rect">
            <a:avLst/>
          </a:prstGeom>
          <a:solidFill>
            <a:srgbClr val="2587C5"/>
          </a:solidFill>
          <a:ln w="6350">
            <a:solidFill>
              <a:srgbClr val="FFFFFF"/>
            </a:solidFill>
            <a:prstDash val="solid"/>
          </a:ln>
        </p:spPr>
      </p:sp>
      <p:sp>
        <p:nvSpPr>
          <p:cNvPr id="22" name="Text 20"/>
          <p:cNvSpPr txBox="1"/>
          <p:nvPr/>
        </p:nvSpPr>
        <p:spPr>
          <a:xfrm>
            <a:off x="2807208" y="1857717"/>
            <a:ext cx="221921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70</a:t>
            </a:r>
            <a:endParaRPr lang="en-US" sz="1300" dirty="0"/>
          </a:p>
        </p:txBody>
      </p:sp>
      <p:sp>
        <p:nvSpPr>
          <p:cNvPr id="23" name="Shape 21"/>
          <p:cNvSpPr/>
          <p:nvPr/>
        </p:nvSpPr>
        <p:spPr>
          <a:xfrm>
            <a:off x="5026426" y="1857717"/>
            <a:ext cx="252542" cy="183138"/>
          </a:xfrm>
          <a:prstGeom prst="rect">
            <a:avLst/>
          </a:prstGeom>
          <a:solidFill>
            <a:srgbClr val="8FBEE6"/>
          </a:solidFill>
          <a:ln w="6350">
            <a:solidFill>
              <a:srgbClr val="FFFFFF"/>
            </a:solidFill>
            <a:prstDash val="solid"/>
          </a:ln>
        </p:spPr>
      </p:sp>
      <p:sp>
        <p:nvSpPr>
          <p:cNvPr id="24" name="Text 22"/>
          <p:cNvSpPr txBox="1"/>
          <p:nvPr/>
        </p:nvSpPr>
        <p:spPr>
          <a:xfrm>
            <a:off x="5026426" y="1857717"/>
            <a:ext cx="25254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25" name="Shape 23"/>
          <p:cNvSpPr/>
          <p:nvPr/>
        </p:nvSpPr>
        <p:spPr>
          <a:xfrm>
            <a:off x="5278968" y="1857717"/>
            <a:ext cx="682920" cy="183138"/>
          </a:xfrm>
          <a:prstGeom prst="rect">
            <a:avLst/>
          </a:prstGeom>
          <a:solidFill>
            <a:srgbClr val="D9D9D9"/>
          </a:solidFill>
          <a:ln w="6350">
            <a:solidFill>
              <a:srgbClr val="FFFFFF"/>
            </a:solidFill>
            <a:prstDash val="solid"/>
          </a:ln>
        </p:spPr>
      </p:sp>
      <p:sp>
        <p:nvSpPr>
          <p:cNvPr id="26" name="Text 24"/>
          <p:cNvSpPr txBox="1"/>
          <p:nvPr/>
        </p:nvSpPr>
        <p:spPr>
          <a:xfrm>
            <a:off x="5278968" y="1857717"/>
            <a:ext cx="68292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7" name="Text 25"/>
          <p:cNvSpPr txBox="1"/>
          <p:nvPr/>
        </p:nvSpPr>
        <p:spPr>
          <a:xfrm>
            <a:off x="658368"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8" name="Shape 26"/>
          <p:cNvSpPr/>
          <p:nvPr/>
        </p:nvSpPr>
        <p:spPr>
          <a:xfrm>
            <a:off x="2807208" y="2098688"/>
            <a:ext cx="2060840" cy="183138"/>
          </a:xfrm>
          <a:prstGeom prst="rect">
            <a:avLst/>
          </a:prstGeom>
          <a:solidFill>
            <a:srgbClr val="2587C5"/>
          </a:solidFill>
          <a:ln w="6350">
            <a:solidFill>
              <a:srgbClr val="FFFFFF"/>
            </a:solidFill>
            <a:prstDash val="solid"/>
          </a:ln>
        </p:spPr>
      </p:sp>
      <p:sp>
        <p:nvSpPr>
          <p:cNvPr id="29" name="Text 27"/>
          <p:cNvSpPr txBox="1"/>
          <p:nvPr/>
        </p:nvSpPr>
        <p:spPr>
          <a:xfrm>
            <a:off x="2807208" y="2098688"/>
            <a:ext cx="20608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0" name="Shape 28"/>
          <p:cNvSpPr/>
          <p:nvPr/>
        </p:nvSpPr>
        <p:spPr>
          <a:xfrm>
            <a:off x="4868048" y="2098688"/>
            <a:ext cx="489573" cy="183138"/>
          </a:xfrm>
          <a:prstGeom prst="rect">
            <a:avLst/>
          </a:prstGeom>
          <a:solidFill>
            <a:srgbClr val="8FBEE6"/>
          </a:solidFill>
          <a:ln w="6350">
            <a:solidFill>
              <a:srgbClr val="FFFFFF"/>
            </a:solidFill>
            <a:prstDash val="solid"/>
          </a:ln>
        </p:spPr>
      </p:sp>
      <p:sp>
        <p:nvSpPr>
          <p:cNvPr id="31" name="Text 29"/>
          <p:cNvSpPr txBox="1"/>
          <p:nvPr/>
        </p:nvSpPr>
        <p:spPr>
          <a:xfrm>
            <a:off x="4868048" y="2098688"/>
            <a:ext cx="48957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16</a:t>
            </a:r>
            <a:endParaRPr lang="en-US" sz="1300" dirty="0"/>
          </a:p>
        </p:txBody>
      </p:sp>
      <p:sp>
        <p:nvSpPr>
          <p:cNvPr id="32" name="Shape 30"/>
          <p:cNvSpPr/>
          <p:nvPr/>
        </p:nvSpPr>
        <p:spPr>
          <a:xfrm>
            <a:off x="5357621" y="2098688"/>
            <a:ext cx="604267" cy="183138"/>
          </a:xfrm>
          <a:prstGeom prst="rect">
            <a:avLst/>
          </a:prstGeom>
          <a:solidFill>
            <a:srgbClr val="D9D9D9"/>
          </a:solidFill>
          <a:ln w="6350">
            <a:solidFill>
              <a:srgbClr val="FFFFFF"/>
            </a:solidFill>
            <a:prstDash val="solid"/>
          </a:ln>
        </p:spPr>
      </p:sp>
      <p:sp>
        <p:nvSpPr>
          <p:cNvPr id="33" name="Text 31"/>
          <p:cNvSpPr txBox="1"/>
          <p:nvPr/>
        </p:nvSpPr>
        <p:spPr>
          <a:xfrm>
            <a:off x="5357621" y="2098688"/>
            <a:ext cx="60426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34" name="Text 32"/>
          <p:cNvSpPr txBox="1"/>
          <p:nvPr/>
        </p:nvSpPr>
        <p:spPr>
          <a:xfrm>
            <a:off x="658368"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5" name="Shape 33"/>
          <p:cNvSpPr/>
          <p:nvPr/>
        </p:nvSpPr>
        <p:spPr>
          <a:xfrm>
            <a:off x="2807208" y="2339659"/>
            <a:ext cx="2054762" cy="183138"/>
          </a:xfrm>
          <a:prstGeom prst="rect">
            <a:avLst/>
          </a:prstGeom>
          <a:solidFill>
            <a:srgbClr val="2587C5"/>
          </a:solidFill>
          <a:ln w="6350">
            <a:solidFill>
              <a:srgbClr val="FFFFFF"/>
            </a:solidFill>
            <a:prstDash val="solid"/>
          </a:ln>
        </p:spPr>
      </p:sp>
      <p:sp>
        <p:nvSpPr>
          <p:cNvPr id="36" name="Text 34"/>
          <p:cNvSpPr txBox="1"/>
          <p:nvPr/>
        </p:nvSpPr>
        <p:spPr>
          <a:xfrm>
            <a:off x="2807208" y="2339659"/>
            <a:ext cx="205476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7" name="Shape 35"/>
          <p:cNvSpPr/>
          <p:nvPr/>
        </p:nvSpPr>
        <p:spPr>
          <a:xfrm>
            <a:off x="4861970" y="2339659"/>
            <a:ext cx="352121" cy="183138"/>
          </a:xfrm>
          <a:prstGeom prst="rect">
            <a:avLst/>
          </a:prstGeom>
          <a:solidFill>
            <a:srgbClr val="8FBEE6"/>
          </a:solidFill>
          <a:ln w="6350">
            <a:solidFill>
              <a:srgbClr val="FFFFFF"/>
            </a:solidFill>
            <a:prstDash val="solid"/>
          </a:ln>
        </p:spPr>
      </p:sp>
      <p:sp>
        <p:nvSpPr>
          <p:cNvPr id="38" name="Text 36"/>
          <p:cNvSpPr txBox="1"/>
          <p:nvPr/>
        </p:nvSpPr>
        <p:spPr>
          <a:xfrm>
            <a:off x="4861970" y="2339659"/>
            <a:ext cx="35212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39" name="Shape 37"/>
          <p:cNvSpPr/>
          <p:nvPr/>
        </p:nvSpPr>
        <p:spPr>
          <a:xfrm>
            <a:off x="5214091" y="2339659"/>
            <a:ext cx="747797" cy="183138"/>
          </a:xfrm>
          <a:prstGeom prst="rect">
            <a:avLst/>
          </a:prstGeom>
          <a:solidFill>
            <a:srgbClr val="D9D9D9"/>
          </a:solidFill>
          <a:ln w="6350">
            <a:solidFill>
              <a:srgbClr val="FFFFFF"/>
            </a:solidFill>
            <a:prstDash val="solid"/>
          </a:ln>
        </p:spPr>
      </p:sp>
      <p:sp>
        <p:nvSpPr>
          <p:cNvPr id="40" name="Text 38"/>
          <p:cNvSpPr txBox="1"/>
          <p:nvPr/>
        </p:nvSpPr>
        <p:spPr>
          <a:xfrm>
            <a:off x="5214091" y="2339659"/>
            <a:ext cx="74779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41" name="Text 39"/>
          <p:cNvSpPr txBox="1"/>
          <p:nvPr/>
        </p:nvSpPr>
        <p:spPr>
          <a:xfrm>
            <a:off x="658368"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2" name="Shape 40"/>
          <p:cNvSpPr/>
          <p:nvPr/>
        </p:nvSpPr>
        <p:spPr>
          <a:xfrm>
            <a:off x="2807208" y="2580630"/>
            <a:ext cx="2053161" cy="183138"/>
          </a:xfrm>
          <a:prstGeom prst="rect">
            <a:avLst/>
          </a:prstGeom>
          <a:solidFill>
            <a:srgbClr val="2587C5"/>
          </a:solidFill>
          <a:ln w="6350">
            <a:solidFill>
              <a:srgbClr val="FFFFFF"/>
            </a:solidFill>
            <a:prstDash val="solid"/>
          </a:ln>
        </p:spPr>
      </p:sp>
      <p:sp>
        <p:nvSpPr>
          <p:cNvPr id="43" name="Text 41"/>
          <p:cNvSpPr txBox="1"/>
          <p:nvPr/>
        </p:nvSpPr>
        <p:spPr>
          <a:xfrm>
            <a:off x="2807208" y="2580630"/>
            <a:ext cx="205316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44" name="Shape 42"/>
          <p:cNvSpPr/>
          <p:nvPr/>
        </p:nvSpPr>
        <p:spPr>
          <a:xfrm>
            <a:off x="4860369" y="2580630"/>
            <a:ext cx="375876" cy="183138"/>
          </a:xfrm>
          <a:prstGeom prst="rect">
            <a:avLst/>
          </a:prstGeom>
          <a:solidFill>
            <a:srgbClr val="8FBEE6"/>
          </a:solidFill>
          <a:ln w="6350">
            <a:solidFill>
              <a:srgbClr val="FFFFFF"/>
            </a:solidFill>
            <a:prstDash val="solid"/>
          </a:ln>
        </p:spPr>
      </p:sp>
      <p:sp>
        <p:nvSpPr>
          <p:cNvPr id="45" name="Text 43"/>
          <p:cNvSpPr txBox="1"/>
          <p:nvPr/>
        </p:nvSpPr>
        <p:spPr>
          <a:xfrm>
            <a:off x="4860369" y="2580630"/>
            <a:ext cx="37587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46" name="Shape 44"/>
          <p:cNvSpPr/>
          <p:nvPr/>
        </p:nvSpPr>
        <p:spPr>
          <a:xfrm>
            <a:off x="5236245" y="2580630"/>
            <a:ext cx="725643" cy="183138"/>
          </a:xfrm>
          <a:prstGeom prst="rect">
            <a:avLst/>
          </a:prstGeom>
          <a:solidFill>
            <a:srgbClr val="D9D9D9"/>
          </a:solidFill>
          <a:ln w="6350">
            <a:solidFill>
              <a:srgbClr val="FFFFFF"/>
            </a:solidFill>
            <a:prstDash val="solid"/>
          </a:ln>
        </p:spPr>
      </p:sp>
      <p:sp>
        <p:nvSpPr>
          <p:cNvPr id="47" name="Text 45"/>
          <p:cNvSpPr txBox="1"/>
          <p:nvPr/>
        </p:nvSpPr>
        <p:spPr>
          <a:xfrm>
            <a:off x="5236245" y="2580630"/>
            <a:ext cx="72564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48" name="Text 46"/>
          <p:cNvSpPr txBox="1"/>
          <p:nvPr/>
        </p:nvSpPr>
        <p:spPr>
          <a:xfrm>
            <a:off x="658368"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9" name="Shape 47"/>
          <p:cNvSpPr/>
          <p:nvPr/>
        </p:nvSpPr>
        <p:spPr>
          <a:xfrm>
            <a:off x="2807208" y="2821602"/>
            <a:ext cx="2046848" cy="183138"/>
          </a:xfrm>
          <a:prstGeom prst="rect">
            <a:avLst/>
          </a:prstGeom>
          <a:solidFill>
            <a:srgbClr val="2587C5"/>
          </a:solidFill>
          <a:ln w="6350">
            <a:solidFill>
              <a:srgbClr val="FFFFFF"/>
            </a:solidFill>
            <a:prstDash val="solid"/>
          </a:ln>
        </p:spPr>
      </p:sp>
      <p:sp>
        <p:nvSpPr>
          <p:cNvPr id="50" name="Text 48"/>
          <p:cNvSpPr txBox="1"/>
          <p:nvPr/>
        </p:nvSpPr>
        <p:spPr>
          <a:xfrm>
            <a:off x="2807208" y="2821602"/>
            <a:ext cx="204684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51" name="Shape 49"/>
          <p:cNvSpPr/>
          <p:nvPr/>
        </p:nvSpPr>
        <p:spPr>
          <a:xfrm>
            <a:off x="4854056" y="2821602"/>
            <a:ext cx="793865" cy="183138"/>
          </a:xfrm>
          <a:prstGeom prst="rect">
            <a:avLst/>
          </a:prstGeom>
          <a:solidFill>
            <a:srgbClr val="8FBEE6"/>
          </a:solidFill>
          <a:ln w="6350">
            <a:solidFill>
              <a:srgbClr val="FFFFFF"/>
            </a:solidFill>
            <a:prstDash val="solid"/>
          </a:ln>
        </p:spPr>
      </p:sp>
      <p:sp>
        <p:nvSpPr>
          <p:cNvPr id="52" name="Text 50"/>
          <p:cNvSpPr txBox="1"/>
          <p:nvPr/>
        </p:nvSpPr>
        <p:spPr>
          <a:xfrm>
            <a:off x="4854056" y="2821602"/>
            <a:ext cx="79386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53" name="Shape 51"/>
          <p:cNvSpPr/>
          <p:nvPr/>
        </p:nvSpPr>
        <p:spPr>
          <a:xfrm>
            <a:off x="5647921" y="2821602"/>
            <a:ext cx="313967" cy="183138"/>
          </a:xfrm>
          <a:prstGeom prst="rect">
            <a:avLst/>
          </a:prstGeom>
          <a:solidFill>
            <a:srgbClr val="D9D9D9"/>
          </a:solidFill>
          <a:ln w="6350">
            <a:solidFill>
              <a:srgbClr val="FFFFFF"/>
            </a:solidFill>
            <a:prstDash val="solid"/>
          </a:ln>
        </p:spPr>
      </p:sp>
      <p:sp>
        <p:nvSpPr>
          <p:cNvPr id="54" name="Text 52"/>
          <p:cNvSpPr txBox="1"/>
          <p:nvPr/>
        </p:nvSpPr>
        <p:spPr>
          <a:xfrm>
            <a:off x="5647921" y="2821602"/>
            <a:ext cx="31396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55" name="Text 53"/>
          <p:cNvSpPr txBox="1"/>
          <p:nvPr/>
        </p:nvSpPr>
        <p:spPr>
          <a:xfrm>
            <a:off x="658368"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6" name="Shape 54"/>
          <p:cNvSpPr/>
          <p:nvPr/>
        </p:nvSpPr>
        <p:spPr>
          <a:xfrm>
            <a:off x="2807208" y="3062573"/>
            <a:ext cx="1985155" cy="183138"/>
          </a:xfrm>
          <a:prstGeom prst="rect">
            <a:avLst/>
          </a:prstGeom>
          <a:solidFill>
            <a:srgbClr val="2587C5"/>
          </a:solidFill>
          <a:ln w="6350">
            <a:solidFill>
              <a:srgbClr val="FFFFFF"/>
            </a:solidFill>
            <a:prstDash val="solid"/>
          </a:ln>
        </p:spPr>
      </p:sp>
      <p:sp>
        <p:nvSpPr>
          <p:cNvPr id="57" name="Text 55"/>
          <p:cNvSpPr txBox="1"/>
          <p:nvPr/>
        </p:nvSpPr>
        <p:spPr>
          <a:xfrm>
            <a:off x="2807208" y="3062573"/>
            <a:ext cx="198515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63</a:t>
            </a:r>
            <a:endParaRPr lang="en-US" sz="1300" dirty="0"/>
          </a:p>
        </p:txBody>
      </p:sp>
      <p:sp>
        <p:nvSpPr>
          <p:cNvPr id="58" name="Shape 56"/>
          <p:cNvSpPr/>
          <p:nvPr/>
        </p:nvSpPr>
        <p:spPr>
          <a:xfrm>
            <a:off x="4792363" y="3062573"/>
            <a:ext cx="729180" cy="183138"/>
          </a:xfrm>
          <a:prstGeom prst="rect">
            <a:avLst/>
          </a:prstGeom>
          <a:solidFill>
            <a:srgbClr val="8FBEE6"/>
          </a:solidFill>
          <a:ln w="6350">
            <a:solidFill>
              <a:srgbClr val="FFFFFF"/>
            </a:solidFill>
            <a:prstDash val="solid"/>
          </a:ln>
        </p:spPr>
      </p:sp>
      <p:sp>
        <p:nvSpPr>
          <p:cNvPr id="59" name="Text 57"/>
          <p:cNvSpPr txBox="1"/>
          <p:nvPr/>
        </p:nvSpPr>
        <p:spPr>
          <a:xfrm>
            <a:off x="4792363" y="3062573"/>
            <a:ext cx="72918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60" name="Shape 58"/>
          <p:cNvSpPr/>
          <p:nvPr/>
        </p:nvSpPr>
        <p:spPr>
          <a:xfrm>
            <a:off x="5521542" y="3062573"/>
            <a:ext cx="440346" cy="183138"/>
          </a:xfrm>
          <a:prstGeom prst="rect">
            <a:avLst/>
          </a:prstGeom>
          <a:solidFill>
            <a:srgbClr val="D9D9D9"/>
          </a:solidFill>
          <a:ln w="6350">
            <a:solidFill>
              <a:srgbClr val="FFFFFF"/>
            </a:solidFill>
            <a:prstDash val="solid"/>
          </a:ln>
        </p:spPr>
      </p:sp>
      <p:sp>
        <p:nvSpPr>
          <p:cNvPr id="61" name="Text 59"/>
          <p:cNvSpPr txBox="1"/>
          <p:nvPr/>
        </p:nvSpPr>
        <p:spPr>
          <a:xfrm>
            <a:off x="5521542" y="3062573"/>
            <a:ext cx="44034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62" name="Text 60"/>
          <p:cNvSpPr txBox="1"/>
          <p:nvPr/>
        </p:nvSpPr>
        <p:spPr>
          <a:xfrm>
            <a:off x="658368"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2807208" y="3303544"/>
            <a:ext cx="1940199" cy="183138"/>
          </a:xfrm>
          <a:prstGeom prst="rect">
            <a:avLst/>
          </a:prstGeom>
          <a:solidFill>
            <a:srgbClr val="2587C5"/>
          </a:solidFill>
          <a:ln w="6350">
            <a:solidFill>
              <a:srgbClr val="FFFFFF"/>
            </a:solidFill>
            <a:prstDash val="solid"/>
          </a:ln>
        </p:spPr>
      </p:sp>
      <p:sp>
        <p:nvSpPr>
          <p:cNvPr id="64" name="Text 62"/>
          <p:cNvSpPr txBox="1"/>
          <p:nvPr/>
        </p:nvSpPr>
        <p:spPr>
          <a:xfrm>
            <a:off x="2807208" y="3303544"/>
            <a:ext cx="194019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65" name="Shape 63"/>
          <p:cNvSpPr/>
          <p:nvPr/>
        </p:nvSpPr>
        <p:spPr>
          <a:xfrm>
            <a:off x="4747407" y="3303544"/>
            <a:ext cx="542990" cy="183138"/>
          </a:xfrm>
          <a:prstGeom prst="rect">
            <a:avLst/>
          </a:prstGeom>
          <a:solidFill>
            <a:srgbClr val="8FBEE6"/>
          </a:solidFill>
          <a:ln w="6350">
            <a:solidFill>
              <a:srgbClr val="FFFFFF"/>
            </a:solidFill>
            <a:prstDash val="solid"/>
          </a:ln>
        </p:spPr>
      </p:sp>
      <p:sp>
        <p:nvSpPr>
          <p:cNvPr id="66" name="Text 64"/>
          <p:cNvSpPr txBox="1"/>
          <p:nvPr/>
        </p:nvSpPr>
        <p:spPr>
          <a:xfrm>
            <a:off x="4747407" y="3303544"/>
            <a:ext cx="54299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67" name="Shape 65"/>
          <p:cNvSpPr/>
          <p:nvPr/>
        </p:nvSpPr>
        <p:spPr>
          <a:xfrm>
            <a:off x="5290397" y="3303544"/>
            <a:ext cx="671491" cy="183138"/>
          </a:xfrm>
          <a:prstGeom prst="rect">
            <a:avLst/>
          </a:prstGeom>
          <a:solidFill>
            <a:srgbClr val="D9D9D9"/>
          </a:solidFill>
          <a:ln w="6350">
            <a:solidFill>
              <a:srgbClr val="FFFFFF"/>
            </a:solidFill>
            <a:prstDash val="solid"/>
          </a:ln>
        </p:spPr>
      </p:sp>
      <p:sp>
        <p:nvSpPr>
          <p:cNvPr id="68" name="Text 66"/>
          <p:cNvSpPr txBox="1"/>
          <p:nvPr/>
        </p:nvSpPr>
        <p:spPr>
          <a:xfrm>
            <a:off x="5290397" y="3303544"/>
            <a:ext cx="67149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69" name="Text 67"/>
          <p:cNvSpPr txBox="1"/>
          <p:nvPr/>
        </p:nvSpPr>
        <p:spPr>
          <a:xfrm>
            <a:off x="658368"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0" name="Shape 68"/>
          <p:cNvSpPr/>
          <p:nvPr/>
        </p:nvSpPr>
        <p:spPr>
          <a:xfrm>
            <a:off x="2807208" y="3544516"/>
            <a:ext cx="1907392" cy="183138"/>
          </a:xfrm>
          <a:prstGeom prst="rect">
            <a:avLst/>
          </a:prstGeom>
          <a:solidFill>
            <a:srgbClr val="2587C5"/>
          </a:solidFill>
          <a:ln w="6350">
            <a:solidFill>
              <a:srgbClr val="FFFFFF"/>
            </a:solidFill>
            <a:prstDash val="solid"/>
          </a:ln>
        </p:spPr>
      </p:sp>
      <p:sp>
        <p:nvSpPr>
          <p:cNvPr id="71" name="Text 69"/>
          <p:cNvSpPr txBox="1"/>
          <p:nvPr/>
        </p:nvSpPr>
        <p:spPr>
          <a:xfrm>
            <a:off x="2807208" y="3544516"/>
            <a:ext cx="190739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2" name="Shape 70"/>
          <p:cNvSpPr/>
          <p:nvPr/>
        </p:nvSpPr>
        <p:spPr>
          <a:xfrm>
            <a:off x="4714600" y="3544516"/>
            <a:ext cx="434501" cy="183138"/>
          </a:xfrm>
          <a:prstGeom prst="rect">
            <a:avLst/>
          </a:prstGeom>
          <a:solidFill>
            <a:srgbClr val="8FBEE6"/>
          </a:solidFill>
          <a:ln w="6350">
            <a:solidFill>
              <a:srgbClr val="FFFFFF"/>
            </a:solidFill>
            <a:prstDash val="solid"/>
          </a:ln>
        </p:spPr>
      </p:sp>
      <p:sp>
        <p:nvSpPr>
          <p:cNvPr id="73" name="Text 71"/>
          <p:cNvSpPr txBox="1"/>
          <p:nvPr/>
        </p:nvSpPr>
        <p:spPr>
          <a:xfrm>
            <a:off x="4714600" y="3544516"/>
            <a:ext cx="43450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74" name="Shape 72"/>
          <p:cNvSpPr/>
          <p:nvPr/>
        </p:nvSpPr>
        <p:spPr>
          <a:xfrm>
            <a:off x="5149102" y="3544516"/>
            <a:ext cx="812786" cy="183138"/>
          </a:xfrm>
          <a:prstGeom prst="rect">
            <a:avLst/>
          </a:prstGeom>
          <a:solidFill>
            <a:srgbClr val="D9D9D9"/>
          </a:solidFill>
          <a:ln w="6350">
            <a:solidFill>
              <a:srgbClr val="FFFFFF"/>
            </a:solidFill>
            <a:prstDash val="solid"/>
          </a:ln>
        </p:spPr>
      </p:sp>
      <p:sp>
        <p:nvSpPr>
          <p:cNvPr id="75" name="Text 73"/>
          <p:cNvSpPr txBox="1"/>
          <p:nvPr/>
        </p:nvSpPr>
        <p:spPr>
          <a:xfrm>
            <a:off x="5149102" y="3544516"/>
            <a:ext cx="81278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26</a:t>
            </a:r>
            <a:endParaRPr lang="en-US" sz="1300" dirty="0"/>
          </a:p>
        </p:txBody>
      </p:sp>
      <p:sp>
        <p:nvSpPr>
          <p:cNvPr id="76" name="Text 74"/>
          <p:cNvSpPr txBox="1"/>
          <p:nvPr/>
        </p:nvSpPr>
        <p:spPr>
          <a:xfrm>
            <a:off x="658368"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7" name="Shape 75"/>
          <p:cNvSpPr/>
          <p:nvPr/>
        </p:nvSpPr>
        <p:spPr>
          <a:xfrm>
            <a:off x="2807208" y="3785487"/>
            <a:ext cx="1883011" cy="183138"/>
          </a:xfrm>
          <a:prstGeom prst="rect">
            <a:avLst/>
          </a:prstGeom>
          <a:solidFill>
            <a:srgbClr val="2587C5"/>
          </a:solidFill>
          <a:ln w="6350">
            <a:solidFill>
              <a:srgbClr val="FFFFFF"/>
            </a:solidFill>
            <a:prstDash val="solid"/>
          </a:ln>
        </p:spPr>
      </p:sp>
      <p:sp>
        <p:nvSpPr>
          <p:cNvPr id="78" name="Text 76"/>
          <p:cNvSpPr txBox="1"/>
          <p:nvPr/>
        </p:nvSpPr>
        <p:spPr>
          <a:xfrm>
            <a:off x="2807208" y="3785487"/>
            <a:ext cx="188301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9" name="Shape 77"/>
          <p:cNvSpPr/>
          <p:nvPr/>
        </p:nvSpPr>
        <p:spPr>
          <a:xfrm>
            <a:off x="4690219" y="3785487"/>
            <a:ext cx="918142" cy="183138"/>
          </a:xfrm>
          <a:prstGeom prst="rect">
            <a:avLst/>
          </a:prstGeom>
          <a:solidFill>
            <a:srgbClr val="8FBEE6"/>
          </a:solidFill>
          <a:ln w="6350">
            <a:solidFill>
              <a:srgbClr val="FFFFFF"/>
            </a:solidFill>
            <a:prstDash val="solid"/>
          </a:ln>
        </p:spPr>
      </p:sp>
      <p:sp>
        <p:nvSpPr>
          <p:cNvPr id="80" name="Text 78"/>
          <p:cNvSpPr txBox="1"/>
          <p:nvPr/>
        </p:nvSpPr>
        <p:spPr>
          <a:xfrm>
            <a:off x="4690219" y="3785487"/>
            <a:ext cx="91814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81" name="Shape 79"/>
          <p:cNvSpPr/>
          <p:nvPr/>
        </p:nvSpPr>
        <p:spPr>
          <a:xfrm>
            <a:off x="5608361" y="3785487"/>
            <a:ext cx="353527" cy="183138"/>
          </a:xfrm>
          <a:prstGeom prst="rect">
            <a:avLst/>
          </a:prstGeom>
          <a:solidFill>
            <a:srgbClr val="D9D9D9"/>
          </a:solidFill>
          <a:ln w="6350">
            <a:solidFill>
              <a:srgbClr val="FFFFFF"/>
            </a:solidFill>
            <a:prstDash val="solid"/>
          </a:ln>
        </p:spPr>
      </p:sp>
      <p:sp>
        <p:nvSpPr>
          <p:cNvPr id="82" name="Text 80"/>
          <p:cNvSpPr txBox="1"/>
          <p:nvPr/>
        </p:nvSpPr>
        <p:spPr>
          <a:xfrm>
            <a:off x="5608361" y="3785487"/>
            <a:ext cx="35352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83" name="Text 81"/>
          <p:cNvSpPr txBox="1"/>
          <p:nvPr/>
        </p:nvSpPr>
        <p:spPr>
          <a:xfrm>
            <a:off x="658368"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4" name="Shape 82"/>
          <p:cNvSpPr/>
          <p:nvPr/>
        </p:nvSpPr>
        <p:spPr>
          <a:xfrm>
            <a:off x="2807208" y="4026458"/>
            <a:ext cx="1876032" cy="183138"/>
          </a:xfrm>
          <a:prstGeom prst="rect">
            <a:avLst/>
          </a:prstGeom>
          <a:solidFill>
            <a:srgbClr val="2587C5"/>
          </a:solidFill>
          <a:ln w="6350">
            <a:solidFill>
              <a:srgbClr val="FFFFFF"/>
            </a:solidFill>
            <a:prstDash val="solid"/>
          </a:ln>
        </p:spPr>
      </p:sp>
      <p:sp>
        <p:nvSpPr>
          <p:cNvPr id="85" name="Text 83"/>
          <p:cNvSpPr txBox="1"/>
          <p:nvPr/>
        </p:nvSpPr>
        <p:spPr>
          <a:xfrm>
            <a:off x="2807208" y="4026458"/>
            <a:ext cx="187603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86" name="Shape 84"/>
          <p:cNvSpPr/>
          <p:nvPr/>
        </p:nvSpPr>
        <p:spPr>
          <a:xfrm>
            <a:off x="4683240" y="4026458"/>
            <a:ext cx="744656" cy="183138"/>
          </a:xfrm>
          <a:prstGeom prst="rect">
            <a:avLst/>
          </a:prstGeom>
          <a:solidFill>
            <a:srgbClr val="8FBEE6"/>
          </a:solidFill>
          <a:ln w="6350">
            <a:solidFill>
              <a:srgbClr val="FFFFFF"/>
            </a:solidFill>
            <a:prstDash val="solid"/>
          </a:ln>
        </p:spPr>
      </p:sp>
      <p:sp>
        <p:nvSpPr>
          <p:cNvPr id="87" name="Text 85"/>
          <p:cNvSpPr txBox="1"/>
          <p:nvPr/>
        </p:nvSpPr>
        <p:spPr>
          <a:xfrm>
            <a:off x="4683240" y="4026458"/>
            <a:ext cx="74465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88" name="Shape 86"/>
          <p:cNvSpPr/>
          <p:nvPr/>
        </p:nvSpPr>
        <p:spPr>
          <a:xfrm>
            <a:off x="5427896" y="4026458"/>
            <a:ext cx="533992" cy="183138"/>
          </a:xfrm>
          <a:prstGeom prst="rect">
            <a:avLst/>
          </a:prstGeom>
          <a:solidFill>
            <a:srgbClr val="D9D9D9"/>
          </a:solidFill>
          <a:ln w="6350">
            <a:solidFill>
              <a:srgbClr val="FFFFFF"/>
            </a:solidFill>
            <a:prstDash val="solid"/>
          </a:ln>
        </p:spPr>
      </p:sp>
      <p:sp>
        <p:nvSpPr>
          <p:cNvPr id="89" name="Text 87"/>
          <p:cNvSpPr txBox="1"/>
          <p:nvPr/>
        </p:nvSpPr>
        <p:spPr>
          <a:xfrm>
            <a:off x="5427896" y="4026458"/>
            <a:ext cx="53399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90" name="Text 88"/>
          <p:cNvSpPr txBox="1"/>
          <p:nvPr/>
        </p:nvSpPr>
        <p:spPr>
          <a:xfrm>
            <a:off x="658368"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1" name="Shape 89"/>
          <p:cNvSpPr/>
          <p:nvPr/>
        </p:nvSpPr>
        <p:spPr>
          <a:xfrm>
            <a:off x="2807208" y="4267429"/>
            <a:ext cx="1874405" cy="183138"/>
          </a:xfrm>
          <a:prstGeom prst="rect">
            <a:avLst/>
          </a:prstGeom>
          <a:solidFill>
            <a:srgbClr val="2587C5"/>
          </a:solidFill>
          <a:ln w="6350">
            <a:solidFill>
              <a:srgbClr val="FFFFFF"/>
            </a:solidFill>
            <a:prstDash val="solid"/>
          </a:ln>
        </p:spPr>
      </p:sp>
      <p:sp>
        <p:nvSpPr>
          <p:cNvPr id="92" name="Text 90"/>
          <p:cNvSpPr txBox="1"/>
          <p:nvPr/>
        </p:nvSpPr>
        <p:spPr>
          <a:xfrm>
            <a:off x="2807208" y="4267429"/>
            <a:ext cx="187440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93" name="Shape 91"/>
          <p:cNvSpPr/>
          <p:nvPr/>
        </p:nvSpPr>
        <p:spPr>
          <a:xfrm>
            <a:off x="4681613" y="4267429"/>
            <a:ext cx="558160" cy="183138"/>
          </a:xfrm>
          <a:prstGeom prst="rect">
            <a:avLst/>
          </a:prstGeom>
          <a:solidFill>
            <a:srgbClr val="8FBEE6"/>
          </a:solidFill>
          <a:ln w="6350">
            <a:solidFill>
              <a:srgbClr val="FFFFFF"/>
            </a:solidFill>
            <a:prstDash val="solid"/>
          </a:ln>
        </p:spPr>
      </p:sp>
      <p:sp>
        <p:nvSpPr>
          <p:cNvPr id="94" name="Text 92"/>
          <p:cNvSpPr txBox="1"/>
          <p:nvPr/>
        </p:nvSpPr>
        <p:spPr>
          <a:xfrm>
            <a:off x="4681613" y="4267429"/>
            <a:ext cx="55816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95" name="Shape 93"/>
          <p:cNvSpPr/>
          <p:nvPr/>
        </p:nvSpPr>
        <p:spPr>
          <a:xfrm>
            <a:off x="5239773" y="4267429"/>
            <a:ext cx="722115" cy="183138"/>
          </a:xfrm>
          <a:prstGeom prst="rect">
            <a:avLst/>
          </a:prstGeom>
          <a:solidFill>
            <a:srgbClr val="D9D9D9"/>
          </a:solidFill>
          <a:ln w="6350">
            <a:solidFill>
              <a:srgbClr val="FFFFFF"/>
            </a:solidFill>
            <a:prstDash val="solid"/>
          </a:ln>
        </p:spPr>
      </p:sp>
      <p:sp>
        <p:nvSpPr>
          <p:cNvPr id="96" name="Text 94"/>
          <p:cNvSpPr txBox="1"/>
          <p:nvPr/>
        </p:nvSpPr>
        <p:spPr>
          <a:xfrm>
            <a:off x="5239773" y="4267429"/>
            <a:ext cx="72211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97" name="Text 95"/>
          <p:cNvSpPr txBox="1"/>
          <p:nvPr/>
        </p:nvSpPr>
        <p:spPr>
          <a:xfrm>
            <a:off x="658368"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8" name="Shape 96"/>
          <p:cNvSpPr/>
          <p:nvPr/>
        </p:nvSpPr>
        <p:spPr>
          <a:xfrm>
            <a:off x="2807208" y="4508401"/>
            <a:ext cx="1862814" cy="183138"/>
          </a:xfrm>
          <a:prstGeom prst="rect">
            <a:avLst/>
          </a:prstGeom>
          <a:solidFill>
            <a:srgbClr val="2587C5"/>
          </a:solidFill>
          <a:ln w="6350">
            <a:solidFill>
              <a:srgbClr val="FFFFFF"/>
            </a:solidFill>
            <a:prstDash val="solid"/>
          </a:ln>
        </p:spPr>
      </p:sp>
      <p:sp>
        <p:nvSpPr>
          <p:cNvPr id="99" name="Text 97"/>
          <p:cNvSpPr txBox="1"/>
          <p:nvPr/>
        </p:nvSpPr>
        <p:spPr>
          <a:xfrm>
            <a:off x="2807208" y="4508401"/>
            <a:ext cx="186281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00" name="Shape 98"/>
          <p:cNvSpPr/>
          <p:nvPr/>
        </p:nvSpPr>
        <p:spPr>
          <a:xfrm>
            <a:off x="4670022" y="4508401"/>
            <a:ext cx="740644" cy="183138"/>
          </a:xfrm>
          <a:prstGeom prst="rect">
            <a:avLst/>
          </a:prstGeom>
          <a:solidFill>
            <a:srgbClr val="8FBEE6"/>
          </a:solidFill>
          <a:ln w="6350">
            <a:solidFill>
              <a:srgbClr val="FFFFFF"/>
            </a:solidFill>
            <a:prstDash val="solid"/>
          </a:ln>
        </p:spPr>
      </p:sp>
      <p:sp>
        <p:nvSpPr>
          <p:cNvPr id="101" name="Text 99"/>
          <p:cNvSpPr txBox="1"/>
          <p:nvPr/>
        </p:nvSpPr>
        <p:spPr>
          <a:xfrm>
            <a:off x="4670022" y="4508401"/>
            <a:ext cx="74064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02" name="Shape 100"/>
          <p:cNvSpPr/>
          <p:nvPr/>
        </p:nvSpPr>
        <p:spPr>
          <a:xfrm>
            <a:off x="5410666" y="4508401"/>
            <a:ext cx="551222" cy="183138"/>
          </a:xfrm>
          <a:prstGeom prst="rect">
            <a:avLst/>
          </a:prstGeom>
          <a:solidFill>
            <a:srgbClr val="D9D9D9"/>
          </a:solidFill>
          <a:ln w="6350">
            <a:solidFill>
              <a:srgbClr val="FFFFFF"/>
            </a:solidFill>
            <a:prstDash val="solid"/>
          </a:ln>
        </p:spPr>
      </p:sp>
      <p:sp>
        <p:nvSpPr>
          <p:cNvPr id="103" name="Text 101"/>
          <p:cNvSpPr txBox="1"/>
          <p:nvPr/>
        </p:nvSpPr>
        <p:spPr>
          <a:xfrm>
            <a:off x="5410666" y="4508401"/>
            <a:ext cx="55122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104" name="Text 102"/>
          <p:cNvSpPr txBox="1"/>
          <p:nvPr/>
        </p:nvSpPr>
        <p:spPr>
          <a:xfrm>
            <a:off x="658368"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5" name="Shape 103"/>
          <p:cNvSpPr/>
          <p:nvPr/>
        </p:nvSpPr>
        <p:spPr>
          <a:xfrm>
            <a:off x="2807208" y="4749372"/>
            <a:ext cx="1831119" cy="183138"/>
          </a:xfrm>
          <a:prstGeom prst="rect">
            <a:avLst/>
          </a:prstGeom>
          <a:solidFill>
            <a:srgbClr val="2587C5"/>
          </a:solidFill>
          <a:ln w="6350">
            <a:solidFill>
              <a:srgbClr val="FFFFFF"/>
            </a:solidFill>
            <a:prstDash val="solid"/>
          </a:ln>
        </p:spPr>
      </p:sp>
      <p:sp>
        <p:nvSpPr>
          <p:cNvPr id="106" name="Text 104"/>
          <p:cNvSpPr txBox="1"/>
          <p:nvPr/>
        </p:nvSpPr>
        <p:spPr>
          <a:xfrm>
            <a:off x="2807208" y="4749372"/>
            <a:ext cx="183111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07" name="Shape 105"/>
          <p:cNvSpPr/>
          <p:nvPr/>
        </p:nvSpPr>
        <p:spPr>
          <a:xfrm>
            <a:off x="4638327" y="4749372"/>
            <a:ext cx="764127" cy="183138"/>
          </a:xfrm>
          <a:prstGeom prst="rect">
            <a:avLst/>
          </a:prstGeom>
          <a:solidFill>
            <a:srgbClr val="8FBEE6"/>
          </a:solidFill>
          <a:ln w="6350">
            <a:solidFill>
              <a:srgbClr val="FFFFFF"/>
            </a:solidFill>
            <a:prstDash val="solid"/>
          </a:ln>
        </p:spPr>
      </p:sp>
      <p:sp>
        <p:nvSpPr>
          <p:cNvPr id="108" name="Text 106"/>
          <p:cNvSpPr txBox="1"/>
          <p:nvPr/>
        </p:nvSpPr>
        <p:spPr>
          <a:xfrm>
            <a:off x="4638327" y="4749372"/>
            <a:ext cx="76412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09" name="Shape 107"/>
          <p:cNvSpPr/>
          <p:nvPr/>
        </p:nvSpPr>
        <p:spPr>
          <a:xfrm>
            <a:off x="5402455" y="4749372"/>
            <a:ext cx="559433" cy="183138"/>
          </a:xfrm>
          <a:prstGeom prst="rect">
            <a:avLst/>
          </a:prstGeom>
          <a:solidFill>
            <a:srgbClr val="D9D9D9"/>
          </a:solidFill>
          <a:ln w="6350">
            <a:solidFill>
              <a:srgbClr val="FFFFFF"/>
            </a:solidFill>
            <a:prstDash val="solid"/>
          </a:ln>
        </p:spPr>
      </p:sp>
      <p:sp>
        <p:nvSpPr>
          <p:cNvPr id="110" name="Text 108"/>
          <p:cNvSpPr txBox="1"/>
          <p:nvPr/>
        </p:nvSpPr>
        <p:spPr>
          <a:xfrm>
            <a:off x="5402455" y="4749372"/>
            <a:ext cx="55943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111" name="Text 109"/>
          <p:cNvSpPr txBox="1"/>
          <p:nvPr/>
        </p:nvSpPr>
        <p:spPr>
          <a:xfrm>
            <a:off x="658368"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12" name="Shape 110"/>
          <p:cNvSpPr/>
          <p:nvPr/>
        </p:nvSpPr>
        <p:spPr>
          <a:xfrm>
            <a:off x="2807208" y="4990343"/>
            <a:ext cx="1825486" cy="183138"/>
          </a:xfrm>
          <a:prstGeom prst="rect">
            <a:avLst/>
          </a:prstGeom>
          <a:solidFill>
            <a:srgbClr val="2587C5"/>
          </a:solidFill>
          <a:ln w="6350">
            <a:solidFill>
              <a:srgbClr val="FFFFFF"/>
            </a:solidFill>
            <a:prstDash val="solid"/>
          </a:ln>
        </p:spPr>
      </p:sp>
      <p:sp>
        <p:nvSpPr>
          <p:cNvPr id="113" name="Text 111"/>
          <p:cNvSpPr txBox="1"/>
          <p:nvPr/>
        </p:nvSpPr>
        <p:spPr>
          <a:xfrm>
            <a:off x="2807208" y="4990343"/>
            <a:ext cx="182548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14" name="Shape 112"/>
          <p:cNvSpPr/>
          <p:nvPr/>
        </p:nvSpPr>
        <p:spPr>
          <a:xfrm>
            <a:off x="4632694" y="4990343"/>
            <a:ext cx="426634" cy="183138"/>
          </a:xfrm>
          <a:prstGeom prst="rect">
            <a:avLst/>
          </a:prstGeom>
          <a:solidFill>
            <a:srgbClr val="8FBEE6"/>
          </a:solidFill>
          <a:ln w="6350">
            <a:solidFill>
              <a:srgbClr val="FFFFFF"/>
            </a:solidFill>
            <a:prstDash val="solid"/>
          </a:ln>
        </p:spPr>
      </p:sp>
      <p:sp>
        <p:nvSpPr>
          <p:cNvPr id="115" name="Text 113"/>
          <p:cNvSpPr txBox="1"/>
          <p:nvPr/>
        </p:nvSpPr>
        <p:spPr>
          <a:xfrm>
            <a:off x="4632694" y="4990343"/>
            <a:ext cx="42663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16" name="Shape 114"/>
          <p:cNvSpPr/>
          <p:nvPr/>
        </p:nvSpPr>
        <p:spPr>
          <a:xfrm>
            <a:off x="5059328" y="4990343"/>
            <a:ext cx="902560" cy="183138"/>
          </a:xfrm>
          <a:prstGeom prst="rect">
            <a:avLst/>
          </a:prstGeom>
          <a:solidFill>
            <a:srgbClr val="D9D9D9"/>
          </a:solidFill>
          <a:ln w="6350">
            <a:solidFill>
              <a:srgbClr val="FFFFFF"/>
            </a:solidFill>
            <a:prstDash val="solid"/>
          </a:ln>
        </p:spPr>
      </p:sp>
      <p:sp>
        <p:nvSpPr>
          <p:cNvPr id="117" name="Text 115"/>
          <p:cNvSpPr txBox="1"/>
          <p:nvPr/>
        </p:nvSpPr>
        <p:spPr>
          <a:xfrm>
            <a:off x="5059328" y="4990343"/>
            <a:ext cx="90256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18" name="Text 116"/>
          <p:cNvSpPr txBox="1"/>
          <p:nvPr/>
        </p:nvSpPr>
        <p:spPr>
          <a:xfrm>
            <a:off x="658368"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19" name="Shape 117"/>
          <p:cNvSpPr/>
          <p:nvPr/>
        </p:nvSpPr>
        <p:spPr>
          <a:xfrm>
            <a:off x="2807208" y="5231315"/>
            <a:ext cx="1807555" cy="183138"/>
          </a:xfrm>
          <a:prstGeom prst="rect">
            <a:avLst/>
          </a:prstGeom>
          <a:solidFill>
            <a:srgbClr val="2587C5"/>
          </a:solidFill>
          <a:ln w="6350">
            <a:solidFill>
              <a:srgbClr val="FFFFFF"/>
            </a:solidFill>
            <a:prstDash val="solid"/>
          </a:ln>
        </p:spPr>
      </p:sp>
      <p:sp>
        <p:nvSpPr>
          <p:cNvPr id="120" name="Text 118"/>
          <p:cNvSpPr txBox="1"/>
          <p:nvPr/>
        </p:nvSpPr>
        <p:spPr>
          <a:xfrm>
            <a:off x="2807208" y="5231315"/>
            <a:ext cx="180755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1" name="Shape 119"/>
          <p:cNvSpPr/>
          <p:nvPr/>
        </p:nvSpPr>
        <p:spPr>
          <a:xfrm>
            <a:off x="4614763" y="5231315"/>
            <a:ext cx="466810" cy="183138"/>
          </a:xfrm>
          <a:prstGeom prst="rect">
            <a:avLst/>
          </a:prstGeom>
          <a:solidFill>
            <a:srgbClr val="8FBEE6"/>
          </a:solidFill>
          <a:ln w="6350">
            <a:solidFill>
              <a:srgbClr val="FFFFFF"/>
            </a:solidFill>
            <a:prstDash val="solid"/>
          </a:ln>
        </p:spPr>
      </p:sp>
      <p:sp>
        <p:nvSpPr>
          <p:cNvPr id="122" name="Text 120"/>
          <p:cNvSpPr txBox="1"/>
          <p:nvPr/>
        </p:nvSpPr>
        <p:spPr>
          <a:xfrm>
            <a:off x="4614763" y="5231315"/>
            <a:ext cx="46681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23" name="Shape 121"/>
          <p:cNvSpPr/>
          <p:nvPr/>
        </p:nvSpPr>
        <p:spPr>
          <a:xfrm>
            <a:off x="5081573" y="5231315"/>
            <a:ext cx="880315" cy="183138"/>
          </a:xfrm>
          <a:prstGeom prst="rect">
            <a:avLst/>
          </a:prstGeom>
          <a:solidFill>
            <a:srgbClr val="D9D9D9"/>
          </a:solidFill>
          <a:ln w="6350">
            <a:solidFill>
              <a:srgbClr val="FFFFFF"/>
            </a:solidFill>
            <a:prstDash val="solid"/>
          </a:ln>
        </p:spPr>
      </p:sp>
      <p:sp>
        <p:nvSpPr>
          <p:cNvPr id="124" name="Text 122"/>
          <p:cNvSpPr txBox="1"/>
          <p:nvPr/>
        </p:nvSpPr>
        <p:spPr>
          <a:xfrm>
            <a:off x="5081573" y="5231315"/>
            <a:ext cx="88031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25" name="Text 123"/>
          <p:cNvSpPr txBox="1"/>
          <p:nvPr/>
        </p:nvSpPr>
        <p:spPr>
          <a:xfrm>
            <a:off x="658368"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6" name="Shape 124"/>
          <p:cNvSpPr/>
          <p:nvPr/>
        </p:nvSpPr>
        <p:spPr>
          <a:xfrm>
            <a:off x="2807208" y="5472286"/>
            <a:ext cx="1784948" cy="183138"/>
          </a:xfrm>
          <a:prstGeom prst="rect">
            <a:avLst/>
          </a:prstGeom>
          <a:solidFill>
            <a:srgbClr val="2587C5"/>
          </a:solidFill>
          <a:ln w="6350">
            <a:solidFill>
              <a:srgbClr val="FFFFFF"/>
            </a:solidFill>
            <a:prstDash val="solid"/>
          </a:ln>
        </p:spPr>
      </p:sp>
      <p:sp>
        <p:nvSpPr>
          <p:cNvPr id="127" name="Text 125"/>
          <p:cNvSpPr txBox="1"/>
          <p:nvPr/>
        </p:nvSpPr>
        <p:spPr>
          <a:xfrm>
            <a:off x="2807208" y="5472286"/>
            <a:ext cx="178494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8" name="Shape 126"/>
          <p:cNvSpPr/>
          <p:nvPr/>
        </p:nvSpPr>
        <p:spPr>
          <a:xfrm>
            <a:off x="4592156" y="5472286"/>
            <a:ext cx="390376" cy="183138"/>
          </a:xfrm>
          <a:prstGeom prst="rect">
            <a:avLst/>
          </a:prstGeom>
          <a:solidFill>
            <a:srgbClr val="8FBEE6"/>
          </a:solidFill>
          <a:ln w="6350">
            <a:solidFill>
              <a:srgbClr val="FFFFFF"/>
            </a:solidFill>
            <a:prstDash val="solid"/>
          </a:ln>
        </p:spPr>
      </p:sp>
      <p:sp>
        <p:nvSpPr>
          <p:cNvPr id="129" name="Text 127"/>
          <p:cNvSpPr txBox="1"/>
          <p:nvPr/>
        </p:nvSpPr>
        <p:spPr>
          <a:xfrm>
            <a:off x="4592156" y="5472286"/>
            <a:ext cx="39037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130" name="Shape 128"/>
          <p:cNvSpPr/>
          <p:nvPr/>
        </p:nvSpPr>
        <p:spPr>
          <a:xfrm>
            <a:off x="4982532" y="5472286"/>
            <a:ext cx="979356" cy="183138"/>
          </a:xfrm>
          <a:prstGeom prst="rect">
            <a:avLst/>
          </a:prstGeom>
          <a:solidFill>
            <a:srgbClr val="D9D9D9"/>
          </a:solidFill>
          <a:ln w="6350">
            <a:solidFill>
              <a:srgbClr val="FFFFFF"/>
            </a:solidFill>
            <a:prstDash val="solid"/>
          </a:ln>
        </p:spPr>
      </p:sp>
      <p:sp>
        <p:nvSpPr>
          <p:cNvPr id="131" name="Text 129"/>
          <p:cNvSpPr txBox="1"/>
          <p:nvPr/>
        </p:nvSpPr>
        <p:spPr>
          <a:xfrm>
            <a:off x="4982532" y="5472286"/>
            <a:ext cx="97935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32" name="Text 130"/>
          <p:cNvSpPr txBox="1"/>
          <p:nvPr/>
        </p:nvSpPr>
        <p:spPr>
          <a:xfrm>
            <a:off x="658368" y="568434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3" name="Shape 131"/>
          <p:cNvSpPr/>
          <p:nvPr/>
        </p:nvSpPr>
        <p:spPr>
          <a:xfrm>
            <a:off x="2807208" y="5713257"/>
            <a:ext cx="1784687" cy="183138"/>
          </a:xfrm>
          <a:prstGeom prst="rect">
            <a:avLst/>
          </a:prstGeom>
          <a:solidFill>
            <a:srgbClr val="2587C5"/>
          </a:solidFill>
          <a:ln w="6350">
            <a:solidFill>
              <a:srgbClr val="FFFFFF"/>
            </a:solidFill>
            <a:prstDash val="solid"/>
          </a:ln>
        </p:spPr>
      </p:sp>
      <p:sp>
        <p:nvSpPr>
          <p:cNvPr id="134" name="Text 132"/>
          <p:cNvSpPr txBox="1"/>
          <p:nvPr/>
        </p:nvSpPr>
        <p:spPr>
          <a:xfrm>
            <a:off x="2807208" y="5713257"/>
            <a:ext cx="178468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35" name="Shape 133"/>
          <p:cNvSpPr/>
          <p:nvPr/>
        </p:nvSpPr>
        <p:spPr>
          <a:xfrm>
            <a:off x="4591895" y="5713257"/>
            <a:ext cx="320373" cy="183138"/>
          </a:xfrm>
          <a:prstGeom prst="rect">
            <a:avLst/>
          </a:prstGeom>
          <a:solidFill>
            <a:srgbClr val="8FBEE6"/>
          </a:solidFill>
          <a:ln w="6350">
            <a:solidFill>
              <a:srgbClr val="FFFFFF"/>
            </a:solidFill>
            <a:prstDash val="solid"/>
          </a:ln>
        </p:spPr>
      </p:sp>
      <p:sp>
        <p:nvSpPr>
          <p:cNvPr id="136" name="Text 134"/>
          <p:cNvSpPr txBox="1"/>
          <p:nvPr/>
        </p:nvSpPr>
        <p:spPr>
          <a:xfrm>
            <a:off x="4591895" y="5713257"/>
            <a:ext cx="32037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137" name="Shape 135"/>
          <p:cNvSpPr/>
          <p:nvPr/>
        </p:nvSpPr>
        <p:spPr>
          <a:xfrm>
            <a:off x="4912268" y="5713257"/>
            <a:ext cx="1049620" cy="183138"/>
          </a:xfrm>
          <a:prstGeom prst="rect">
            <a:avLst/>
          </a:prstGeom>
          <a:solidFill>
            <a:srgbClr val="D9D9D9"/>
          </a:solidFill>
          <a:ln w="6350">
            <a:solidFill>
              <a:srgbClr val="FFFFFF"/>
            </a:solidFill>
            <a:prstDash val="solid"/>
          </a:ln>
        </p:spPr>
      </p:sp>
      <p:sp>
        <p:nvSpPr>
          <p:cNvPr id="138" name="Text 136"/>
          <p:cNvSpPr txBox="1"/>
          <p:nvPr/>
        </p:nvSpPr>
        <p:spPr>
          <a:xfrm>
            <a:off x="4912268" y="5713257"/>
            <a:ext cx="104962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33</a:t>
            </a:r>
            <a:endParaRPr lang="en-US" sz="1300" dirty="0"/>
          </a:p>
        </p:txBody>
      </p:sp>
      <p:sp>
        <p:nvSpPr>
          <p:cNvPr id="139" name="Text 137"/>
          <p:cNvSpPr txBox="1"/>
          <p:nvPr/>
        </p:nvSpPr>
        <p:spPr>
          <a:xfrm>
            <a:off x="6208776"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40" name="Shape 138"/>
          <p:cNvSpPr/>
          <p:nvPr/>
        </p:nvSpPr>
        <p:spPr>
          <a:xfrm>
            <a:off x="8357616" y="1857717"/>
            <a:ext cx="1759183" cy="183138"/>
          </a:xfrm>
          <a:prstGeom prst="rect">
            <a:avLst/>
          </a:prstGeom>
          <a:solidFill>
            <a:srgbClr val="2587C5"/>
          </a:solidFill>
          <a:ln w="6350">
            <a:solidFill>
              <a:srgbClr val="FFFFFF"/>
            </a:solidFill>
            <a:prstDash val="solid"/>
          </a:ln>
        </p:spPr>
      </p:sp>
      <p:sp>
        <p:nvSpPr>
          <p:cNvPr id="141" name="Text 139"/>
          <p:cNvSpPr txBox="1"/>
          <p:nvPr/>
        </p:nvSpPr>
        <p:spPr>
          <a:xfrm>
            <a:off x="8357616" y="1857717"/>
            <a:ext cx="175918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56</a:t>
            </a:r>
            <a:endParaRPr lang="en-US" sz="1300" dirty="0"/>
          </a:p>
        </p:txBody>
      </p:sp>
      <p:sp>
        <p:nvSpPr>
          <p:cNvPr id="142" name="Shape 140"/>
          <p:cNvSpPr/>
          <p:nvPr/>
        </p:nvSpPr>
        <p:spPr>
          <a:xfrm>
            <a:off x="10116799" y="1857717"/>
            <a:ext cx="978643" cy="183138"/>
          </a:xfrm>
          <a:prstGeom prst="rect">
            <a:avLst/>
          </a:prstGeom>
          <a:solidFill>
            <a:srgbClr val="8FBEE6"/>
          </a:solidFill>
          <a:ln w="6350">
            <a:solidFill>
              <a:srgbClr val="FFFFFF"/>
            </a:solidFill>
            <a:prstDash val="solid"/>
          </a:ln>
        </p:spPr>
      </p:sp>
      <p:sp>
        <p:nvSpPr>
          <p:cNvPr id="143" name="Text 141"/>
          <p:cNvSpPr txBox="1"/>
          <p:nvPr/>
        </p:nvSpPr>
        <p:spPr>
          <a:xfrm>
            <a:off x="10116799" y="1857717"/>
            <a:ext cx="97864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44" name="Shape 142"/>
          <p:cNvSpPr/>
          <p:nvPr/>
        </p:nvSpPr>
        <p:spPr>
          <a:xfrm>
            <a:off x="11095442" y="1857717"/>
            <a:ext cx="416854" cy="183138"/>
          </a:xfrm>
          <a:prstGeom prst="rect">
            <a:avLst/>
          </a:prstGeom>
          <a:solidFill>
            <a:srgbClr val="D9D9D9"/>
          </a:solidFill>
          <a:ln w="6350">
            <a:solidFill>
              <a:srgbClr val="FFFFFF"/>
            </a:solidFill>
            <a:prstDash val="solid"/>
          </a:ln>
        </p:spPr>
      </p:sp>
      <p:sp>
        <p:nvSpPr>
          <p:cNvPr id="145" name="Text 143"/>
          <p:cNvSpPr txBox="1"/>
          <p:nvPr/>
        </p:nvSpPr>
        <p:spPr>
          <a:xfrm>
            <a:off x="11095442" y="1857717"/>
            <a:ext cx="41685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46" name="Text 144"/>
          <p:cNvSpPr txBox="1"/>
          <p:nvPr/>
        </p:nvSpPr>
        <p:spPr>
          <a:xfrm>
            <a:off x="6208776"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7" name="Shape 145"/>
          <p:cNvSpPr/>
          <p:nvPr/>
        </p:nvSpPr>
        <p:spPr>
          <a:xfrm>
            <a:off x="8357616" y="2098688"/>
            <a:ext cx="1743709" cy="183138"/>
          </a:xfrm>
          <a:prstGeom prst="rect">
            <a:avLst/>
          </a:prstGeom>
          <a:solidFill>
            <a:srgbClr val="2587C5"/>
          </a:solidFill>
          <a:ln w="6350">
            <a:solidFill>
              <a:srgbClr val="FFFFFF"/>
            </a:solidFill>
            <a:prstDash val="solid"/>
          </a:ln>
        </p:spPr>
      </p:sp>
      <p:sp>
        <p:nvSpPr>
          <p:cNvPr id="148" name="Text 146"/>
          <p:cNvSpPr txBox="1"/>
          <p:nvPr/>
        </p:nvSpPr>
        <p:spPr>
          <a:xfrm>
            <a:off x="8357616" y="2098688"/>
            <a:ext cx="174370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49" name="Shape 147"/>
          <p:cNvSpPr/>
          <p:nvPr/>
        </p:nvSpPr>
        <p:spPr>
          <a:xfrm>
            <a:off x="10101325" y="2098688"/>
            <a:ext cx="638330" cy="183138"/>
          </a:xfrm>
          <a:prstGeom prst="rect">
            <a:avLst/>
          </a:prstGeom>
          <a:solidFill>
            <a:srgbClr val="8FBEE6"/>
          </a:solidFill>
          <a:ln w="6350">
            <a:solidFill>
              <a:srgbClr val="FFFFFF"/>
            </a:solidFill>
            <a:prstDash val="solid"/>
          </a:ln>
        </p:spPr>
      </p:sp>
      <p:sp>
        <p:nvSpPr>
          <p:cNvPr id="150" name="Text 148"/>
          <p:cNvSpPr txBox="1"/>
          <p:nvPr/>
        </p:nvSpPr>
        <p:spPr>
          <a:xfrm>
            <a:off x="10101325" y="2098688"/>
            <a:ext cx="63833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20</a:t>
            </a:r>
            <a:endParaRPr lang="en-US" sz="1300" dirty="0"/>
          </a:p>
        </p:txBody>
      </p:sp>
      <p:sp>
        <p:nvSpPr>
          <p:cNvPr id="151" name="Shape 149"/>
          <p:cNvSpPr/>
          <p:nvPr/>
        </p:nvSpPr>
        <p:spPr>
          <a:xfrm>
            <a:off x="10739655" y="2098688"/>
            <a:ext cx="772641" cy="183138"/>
          </a:xfrm>
          <a:prstGeom prst="rect">
            <a:avLst/>
          </a:prstGeom>
          <a:solidFill>
            <a:srgbClr val="D9D9D9"/>
          </a:solidFill>
          <a:ln w="6350">
            <a:solidFill>
              <a:srgbClr val="FFFFFF"/>
            </a:solidFill>
            <a:prstDash val="solid"/>
          </a:ln>
        </p:spPr>
      </p:sp>
      <p:sp>
        <p:nvSpPr>
          <p:cNvPr id="152" name="Text 150"/>
          <p:cNvSpPr txBox="1"/>
          <p:nvPr/>
        </p:nvSpPr>
        <p:spPr>
          <a:xfrm>
            <a:off x="10739655" y="2098688"/>
            <a:ext cx="77264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53" name="Text 151"/>
          <p:cNvSpPr txBox="1"/>
          <p:nvPr/>
        </p:nvSpPr>
        <p:spPr>
          <a:xfrm>
            <a:off x="6208776"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54" name="Shape 152"/>
          <p:cNvSpPr/>
          <p:nvPr/>
        </p:nvSpPr>
        <p:spPr>
          <a:xfrm>
            <a:off x="8357616" y="2339659"/>
            <a:ext cx="1719908" cy="183138"/>
          </a:xfrm>
          <a:prstGeom prst="rect">
            <a:avLst/>
          </a:prstGeom>
          <a:solidFill>
            <a:srgbClr val="2587C5"/>
          </a:solidFill>
          <a:ln w="6350">
            <a:solidFill>
              <a:srgbClr val="FFFFFF"/>
            </a:solidFill>
            <a:prstDash val="solid"/>
          </a:ln>
        </p:spPr>
      </p:sp>
      <p:sp>
        <p:nvSpPr>
          <p:cNvPr id="155" name="Text 153"/>
          <p:cNvSpPr txBox="1"/>
          <p:nvPr/>
        </p:nvSpPr>
        <p:spPr>
          <a:xfrm>
            <a:off x="8357616" y="2339659"/>
            <a:ext cx="171990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56" name="Shape 154"/>
          <p:cNvSpPr/>
          <p:nvPr/>
        </p:nvSpPr>
        <p:spPr>
          <a:xfrm>
            <a:off x="10077524" y="2339659"/>
            <a:ext cx="412555" cy="183138"/>
          </a:xfrm>
          <a:prstGeom prst="rect">
            <a:avLst/>
          </a:prstGeom>
          <a:solidFill>
            <a:srgbClr val="8FBEE6"/>
          </a:solidFill>
          <a:ln w="6350">
            <a:solidFill>
              <a:srgbClr val="FFFFFF"/>
            </a:solidFill>
            <a:prstDash val="solid"/>
          </a:ln>
        </p:spPr>
      </p:sp>
      <p:sp>
        <p:nvSpPr>
          <p:cNvPr id="157" name="Text 155"/>
          <p:cNvSpPr txBox="1"/>
          <p:nvPr/>
        </p:nvSpPr>
        <p:spPr>
          <a:xfrm>
            <a:off x="10077524" y="2339659"/>
            <a:ext cx="41255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58" name="Shape 156"/>
          <p:cNvSpPr/>
          <p:nvPr/>
        </p:nvSpPr>
        <p:spPr>
          <a:xfrm>
            <a:off x="10490079" y="2339659"/>
            <a:ext cx="1022217" cy="183138"/>
          </a:xfrm>
          <a:prstGeom prst="rect">
            <a:avLst/>
          </a:prstGeom>
          <a:solidFill>
            <a:srgbClr val="D9D9D9"/>
          </a:solidFill>
          <a:ln w="6350">
            <a:solidFill>
              <a:srgbClr val="FFFFFF"/>
            </a:solidFill>
            <a:prstDash val="solid"/>
          </a:ln>
        </p:spPr>
      </p:sp>
      <p:sp>
        <p:nvSpPr>
          <p:cNvPr id="159" name="Text 157"/>
          <p:cNvSpPr txBox="1"/>
          <p:nvPr/>
        </p:nvSpPr>
        <p:spPr>
          <a:xfrm>
            <a:off x="10490079" y="2339659"/>
            <a:ext cx="1022217"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160" name="Text 158"/>
          <p:cNvSpPr txBox="1"/>
          <p:nvPr/>
        </p:nvSpPr>
        <p:spPr>
          <a:xfrm>
            <a:off x="6208776"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61" name="Shape 159"/>
          <p:cNvSpPr/>
          <p:nvPr/>
        </p:nvSpPr>
        <p:spPr>
          <a:xfrm>
            <a:off x="8357616" y="2580630"/>
            <a:ext cx="1601041" cy="183138"/>
          </a:xfrm>
          <a:prstGeom prst="rect">
            <a:avLst/>
          </a:prstGeom>
          <a:solidFill>
            <a:srgbClr val="2587C5"/>
          </a:solidFill>
          <a:ln w="6350">
            <a:solidFill>
              <a:srgbClr val="FFFFFF"/>
            </a:solidFill>
            <a:prstDash val="solid"/>
          </a:ln>
        </p:spPr>
      </p:sp>
      <p:sp>
        <p:nvSpPr>
          <p:cNvPr id="162" name="Text 160"/>
          <p:cNvSpPr txBox="1"/>
          <p:nvPr/>
        </p:nvSpPr>
        <p:spPr>
          <a:xfrm>
            <a:off x="8357616" y="2580630"/>
            <a:ext cx="160104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51</a:t>
            </a:r>
            <a:endParaRPr lang="en-US" sz="1300" dirty="0"/>
          </a:p>
        </p:txBody>
      </p:sp>
      <p:sp>
        <p:nvSpPr>
          <p:cNvPr id="163" name="Shape 161"/>
          <p:cNvSpPr/>
          <p:nvPr/>
        </p:nvSpPr>
        <p:spPr>
          <a:xfrm>
            <a:off x="9958657" y="2580630"/>
            <a:ext cx="606875" cy="183138"/>
          </a:xfrm>
          <a:prstGeom prst="rect">
            <a:avLst/>
          </a:prstGeom>
          <a:solidFill>
            <a:srgbClr val="8FBEE6"/>
          </a:solidFill>
          <a:ln w="6350">
            <a:solidFill>
              <a:srgbClr val="FFFFFF"/>
            </a:solidFill>
            <a:prstDash val="solid"/>
          </a:ln>
        </p:spPr>
      </p:sp>
      <p:sp>
        <p:nvSpPr>
          <p:cNvPr id="164" name="Text 162"/>
          <p:cNvSpPr txBox="1"/>
          <p:nvPr/>
        </p:nvSpPr>
        <p:spPr>
          <a:xfrm>
            <a:off x="9958657" y="2580630"/>
            <a:ext cx="60687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65" name="Shape 163"/>
          <p:cNvSpPr/>
          <p:nvPr/>
        </p:nvSpPr>
        <p:spPr>
          <a:xfrm>
            <a:off x="10565532" y="2580630"/>
            <a:ext cx="946764" cy="183138"/>
          </a:xfrm>
          <a:prstGeom prst="rect">
            <a:avLst/>
          </a:prstGeom>
          <a:solidFill>
            <a:srgbClr val="D9D9D9"/>
          </a:solidFill>
          <a:ln w="6350">
            <a:solidFill>
              <a:srgbClr val="FFFFFF"/>
            </a:solidFill>
            <a:prstDash val="solid"/>
          </a:ln>
        </p:spPr>
      </p:sp>
      <p:sp>
        <p:nvSpPr>
          <p:cNvPr id="166" name="Text 164"/>
          <p:cNvSpPr txBox="1"/>
          <p:nvPr/>
        </p:nvSpPr>
        <p:spPr>
          <a:xfrm>
            <a:off x="10565532" y="2580630"/>
            <a:ext cx="94676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30</a:t>
            </a:r>
            <a:endParaRPr lang="en-US" sz="1300" dirty="0"/>
          </a:p>
        </p:txBody>
      </p:sp>
      <p:sp>
        <p:nvSpPr>
          <p:cNvPr id="167" name="Text 165"/>
          <p:cNvSpPr txBox="1"/>
          <p:nvPr/>
        </p:nvSpPr>
        <p:spPr>
          <a:xfrm>
            <a:off x="6208776"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8" name="Shape 166"/>
          <p:cNvSpPr/>
          <p:nvPr/>
        </p:nvSpPr>
        <p:spPr>
          <a:xfrm>
            <a:off x="8357616" y="2821602"/>
            <a:ext cx="1536222" cy="183138"/>
          </a:xfrm>
          <a:prstGeom prst="rect">
            <a:avLst/>
          </a:prstGeom>
          <a:solidFill>
            <a:srgbClr val="2587C5"/>
          </a:solidFill>
          <a:ln w="6350">
            <a:solidFill>
              <a:srgbClr val="FFFFFF"/>
            </a:solidFill>
            <a:prstDash val="solid"/>
          </a:ln>
        </p:spPr>
      </p:sp>
      <p:sp>
        <p:nvSpPr>
          <p:cNvPr id="169" name="Text 167"/>
          <p:cNvSpPr txBox="1"/>
          <p:nvPr/>
        </p:nvSpPr>
        <p:spPr>
          <a:xfrm>
            <a:off x="8357616" y="2821602"/>
            <a:ext cx="153622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49</a:t>
            </a:r>
            <a:endParaRPr lang="en-US" sz="1300" dirty="0"/>
          </a:p>
        </p:txBody>
      </p:sp>
      <p:sp>
        <p:nvSpPr>
          <p:cNvPr id="170" name="Shape 168"/>
          <p:cNvSpPr/>
          <p:nvPr/>
        </p:nvSpPr>
        <p:spPr>
          <a:xfrm>
            <a:off x="9893838" y="2821602"/>
            <a:ext cx="488153" cy="183138"/>
          </a:xfrm>
          <a:prstGeom prst="rect">
            <a:avLst/>
          </a:prstGeom>
          <a:solidFill>
            <a:srgbClr val="8FBEE6"/>
          </a:solidFill>
          <a:ln w="6350">
            <a:solidFill>
              <a:srgbClr val="FFFFFF"/>
            </a:solidFill>
            <a:prstDash val="solid"/>
          </a:ln>
        </p:spPr>
      </p:sp>
      <p:sp>
        <p:nvSpPr>
          <p:cNvPr id="171" name="Text 169"/>
          <p:cNvSpPr txBox="1"/>
          <p:nvPr/>
        </p:nvSpPr>
        <p:spPr>
          <a:xfrm>
            <a:off x="9893838" y="2821602"/>
            <a:ext cx="48815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72" name="Shape 170"/>
          <p:cNvSpPr/>
          <p:nvPr/>
        </p:nvSpPr>
        <p:spPr>
          <a:xfrm>
            <a:off x="10381990" y="2821602"/>
            <a:ext cx="1130306" cy="183138"/>
          </a:xfrm>
          <a:prstGeom prst="rect">
            <a:avLst/>
          </a:prstGeom>
          <a:solidFill>
            <a:srgbClr val="D9D9D9"/>
          </a:solidFill>
          <a:ln w="6350">
            <a:solidFill>
              <a:srgbClr val="FFFFFF"/>
            </a:solidFill>
            <a:prstDash val="solid"/>
          </a:ln>
        </p:spPr>
      </p:sp>
      <p:sp>
        <p:nvSpPr>
          <p:cNvPr id="173" name="Text 171"/>
          <p:cNvSpPr txBox="1"/>
          <p:nvPr/>
        </p:nvSpPr>
        <p:spPr>
          <a:xfrm>
            <a:off x="10381990" y="2821602"/>
            <a:ext cx="113030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174" name="Text 172"/>
          <p:cNvSpPr txBox="1"/>
          <p:nvPr/>
        </p:nvSpPr>
        <p:spPr>
          <a:xfrm>
            <a:off x="6208776"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5" name="Shape 173"/>
          <p:cNvSpPr/>
          <p:nvPr/>
        </p:nvSpPr>
        <p:spPr>
          <a:xfrm>
            <a:off x="8357616" y="3062573"/>
            <a:ext cx="1513638" cy="183138"/>
          </a:xfrm>
          <a:prstGeom prst="rect">
            <a:avLst/>
          </a:prstGeom>
          <a:solidFill>
            <a:srgbClr val="2587C5"/>
          </a:solidFill>
          <a:ln w="6350">
            <a:solidFill>
              <a:srgbClr val="FFFFFF"/>
            </a:solidFill>
            <a:prstDash val="solid"/>
          </a:ln>
        </p:spPr>
      </p:sp>
      <p:sp>
        <p:nvSpPr>
          <p:cNvPr id="176" name="Text 174"/>
          <p:cNvSpPr txBox="1"/>
          <p:nvPr/>
        </p:nvSpPr>
        <p:spPr>
          <a:xfrm>
            <a:off x="8357616" y="3062573"/>
            <a:ext cx="151363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48</a:t>
            </a:r>
            <a:endParaRPr lang="en-US" sz="1300" dirty="0"/>
          </a:p>
        </p:txBody>
      </p:sp>
      <p:sp>
        <p:nvSpPr>
          <p:cNvPr id="177" name="Shape 175"/>
          <p:cNvSpPr/>
          <p:nvPr/>
        </p:nvSpPr>
        <p:spPr>
          <a:xfrm>
            <a:off x="9871254" y="3062573"/>
            <a:ext cx="727538" cy="183138"/>
          </a:xfrm>
          <a:prstGeom prst="rect">
            <a:avLst/>
          </a:prstGeom>
          <a:solidFill>
            <a:srgbClr val="8FBEE6"/>
          </a:solidFill>
          <a:ln w="6350">
            <a:solidFill>
              <a:srgbClr val="FFFFFF"/>
            </a:solidFill>
            <a:prstDash val="solid"/>
          </a:ln>
        </p:spPr>
      </p:sp>
      <p:sp>
        <p:nvSpPr>
          <p:cNvPr id="178" name="Text 176"/>
          <p:cNvSpPr txBox="1"/>
          <p:nvPr/>
        </p:nvSpPr>
        <p:spPr>
          <a:xfrm>
            <a:off x="9871254" y="3062573"/>
            <a:ext cx="72753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79" name="Shape 177"/>
          <p:cNvSpPr/>
          <p:nvPr/>
        </p:nvSpPr>
        <p:spPr>
          <a:xfrm>
            <a:off x="10598793" y="3062573"/>
            <a:ext cx="913503" cy="183138"/>
          </a:xfrm>
          <a:prstGeom prst="rect">
            <a:avLst/>
          </a:prstGeom>
          <a:solidFill>
            <a:srgbClr val="D9D9D9"/>
          </a:solidFill>
          <a:ln w="6350">
            <a:solidFill>
              <a:srgbClr val="FFFFFF"/>
            </a:solidFill>
            <a:prstDash val="solid"/>
          </a:ln>
        </p:spPr>
      </p:sp>
      <p:sp>
        <p:nvSpPr>
          <p:cNvPr id="180" name="Text 178"/>
          <p:cNvSpPr txBox="1"/>
          <p:nvPr/>
        </p:nvSpPr>
        <p:spPr>
          <a:xfrm>
            <a:off x="10598793" y="3062573"/>
            <a:ext cx="91350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81" name="Text 179"/>
          <p:cNvSpPr txBox="1"/>
          <p:nvPr/>
        </p:nvSpPr>
        <p:spPr>
          <a:xfrm>
            <a:off x="6208776"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82" name="Shape 180"/>
          <p:cNvSpPr/>
          <p:nvPr/>
        </p:nvSpPr>
        <p:spPr>
          <a:xfrm>
            <a:off x="8357616" y="3303544"/>
            <a:ext cx="1487709" cy="183138"/>
          </a:xfrm>
          <a:prstGeom prst="rect">
            <a:avLst/>
          </a:prstGeom>
          <a:solidFill>
            <a:srgbClr val="2587C5"/>
          </a:solidFill>
          <a:ln w="6350">
            <a:solidFill>
              <a:srgbClr val="FFFFFF"/>
            </a:solidFill>
            <a:prstDash val="solid"/>
          </a:ln>
        </p:spPr>
      </p:sp>
      <p:sp>
        <p:nvSpPr>
          <p:cNvPr id="183" name="Text 181"/>
          <p:cNvSpPr txBox="1"/>
          <p:nvPr/>
        </p:nvSpPr>
        <p:spPr>
          <a:xfrm>
            <a:off x="8357616" y="3303544"/>
            <a:ext cx="148770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84" name="Shape 182"/>
          <p:cNvSpPr/>
          <p:nvPr/>
        </p:nvSpPr>
        <p:spPr>
          <a:xfrm>
            <a:off x="9845325" y="3303544"/>
            <a:ext cx="1263575" cy="183138"/>
          </a:xfrm>
          <a:prstGeom prst="rect">
            <a:avLst/>
          </a:prstGeom>
          <a:solidFill>
            <a:srgbClr val="8FBEE6"/>
          </a:solidFill>
          <a:ln w="6350">
            <a:solidFill>
              <a:srgbClr val="FFFFFF"/>
            </a:solidFill>
            <a:prstDash val="solid"/>
          </a:ln>
        </p:spPr>
      </p:sp>
      <p:sp>
        <p:nvSpPr>
          <p:cNvPr id="185" name="Text 183"/>
          <p:cNvSpPr txBox="1"/>
          <p:nvPr/>
        </p:nvSpPr>
        <p:spPr>
          <a:xfrm>
            <a:off x="9845325" y="3303544"/>
            <a:ext cx="1263575"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186" name="Shape 184"/>
          <p:cNvSpPr/>
          <p:nvPr/>
        </p:nvSpPr>
        <p:spPr>
          <a:xfrm>
            <a:off x="11108900" y="3303544"/>
            <a:ext cx="403396" cy="183138"/>
          </a:xfrm>
          <a:prstGeom prst="rect">
            <a:avLst/>
          </a:prstGeom>
          <a:solidFill>
            <a:srgbClr val="D9D9D9"/>
          </a:solidFill>
          <a:ln w="6350">
            <a:solidFill>
              <a:srgbClr val="FFFFFF"/>
            </a:solidFill>
            <a:prstDash val="solid"/>
          </a:ln>
        </p:spPr>
      </p:sp>
      <p:sp>
        <p:nvSpPr>
          <p:cNvPr id="187" name="Text 185"/>
          <p:cNvSpPr txBox="1"/>
          <p:nvPr/>
        </p:nvSpPr>
        <p:spPr>
          <a:xfrm>
            <a:off x="11108900" y="3303544"/>
            <a:ext cx="40339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88" name="Text 186"/>
          <p:cNvSpPr txBox="1"/>
          <p:nvPr/>
        </p:nvSpPr>
        <p:spPr>
          <a:xfrm>
            <a:off x="6208776"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9" name="Shape 187"/>
          <p:cNvSpPr/>
          <p:nvPr/>
        </p:nvSpPr>
        <p:spPr>
          <a:xfrm>
            <a:off x="8357616" y="3544516"/>
            <a:ext cx="1483116" cy="183138"/>
          </a:xfrm>
          <a:prstGeom prst="rect">
            <a:avLst/>
          </a:prstGeom>
          <a:solidFill>
            <a:srgbClr val="2587C5"/>
          </a:solidFill>
          <a:ln w="6350">
            <a:solidFill>
              <a:srgbClr val="FFFFFF"/>
            </a:solidFill>
            <a:prstDash val="solid"/>
          </a:ln>
        </p:spPr>
      </p:sp>
      <p:sp>
        <p:nvSpPr>
          <p:cNvPr id="190" name="Text 188"/>
          <p:cNvSpPr txBox="1"/>
          <p:nvPr/>
        </p:nvSpPr>
        <p:spPr>
          <a:xfrm>
            <a:off x="8357616" y="3544516"/>
            <a:ext cx="148311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91" name="Shape 189"/>
          <p:cNvSpPr/>
          <p:nvPr/>
        </p:nvSpPr>
        <p:spPr>
          <a:xfrm>
            <a:off x="9840732" y="3544516"/>
            <a:ext cx="885736" cy="183138"/>
          </a:xfrm>
          <a:prstGeom prst="rect">
            <a:avLst/>
          </a:prstGeom>
          <a:solidFill>
            <a:srgbClr val="8FBEE6"/>
          </a:solidFill>
          <a:ln w="6350">
            <a:solidFill>
              <a:srgbClr val="FFFFFF"/>
            </a:solidFill>
            <a:prstDash val="solid"/>
          </a:ln>
        </p:spPr>
      </p:sp>
      <p:sp>
        <p:nvSpPr>
          <p:cNvPr id="192" name="Text 190"/>
          <p:cNvSpPr txBox="1"/>
          <p:nvPr/>
        </p:nvSpPr>
        <p:spPr>
          <a:xfrm>
            <a:off x="9840732" y="3544516"/>
            <a:ext cx="88573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93" name="Shape 191"/>
          <p:cNvSpPr/>
          <p:nvPr/>
        </p:nvSpPr>
        <p:spPr>
          <a:xfrm>
            <a:off x="10726468" y="3544516"/>
            <a:ext cx="785828" cy="183138"/>
          </a:xfrm>
          <a:prstGeom prst="rect">
            <a:avLst/>
          </a:prstGeom>
          <a:solidFill>
            <a:srgbClr val="D9D9D9"/>
          </a:solidFill>
          <a:ln w="6350">
            <a:solidFill>
              <a:srgbClr val="FFFFFF"/>
            </a:solidFill>
            <a:prstDash val="solid"/>
          </a:ln>
        </p:spPr>
      </p:sp>
      <p:sp>
        <p:nvSpPr>
          <p:cNvPr id="194" name="Text 192"/>
          <p:cNvSpPr txBox="1"/>
          <p:nvPr/>
        </p:nvSpPr>
        <p:spPr>
          <a:xfrm>
            <a:off x="10726468" y="3544516"/>
            <a:ext cx="78582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195" name="Text 193"/>
          <p:cNvSpPr txBox="1"/>
          <p:nvPr/>
        </p:nvSpPr>
        <p:spPr>
          <a:xfrm>
            <a:off x="6208776"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6" name="Shape 194"/>
          <p:cNvSpPr/>
          <p:nvPr/>
        </p:nvSpPr>
        <p:spPr>
          <a:xfrm>
            <a:off x="8357616" y="3785487"/>
            <a:ext cx="1429900" cy="183138"/>
          </a:xfrm>
          <a:prstGeom prst="rect">
            <a:avLst/>
          </a:prstGeom>
          <a:solidFill>
            <a:srgbClr val="2587C5"/>
          </a:solidFill>
          <a:ln w="6350">
            <a:solidFill>
              <a:srgbClr val="FFFFFF"/>
            </a:solidFill>
            <a:prstDash val="solid"/>
          </a:ln>
        </p:spPr>
      </p:sp>
      <p:sp>
        <p:nvSpPr>
          <p:cNvPr id="197" name="Text 195"/>
          <p:cNvSpPr txBox="1"/>
          <p:nvPr/>
        </p:nvSpPr>
        <p:spPr>
          <a:xfrm>
            <a:off x="8357616" y="3785487"/>
            <a:ext cx="142990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198" name="Shape 196"/>
          <p:cNvSpPr/>
          <p:nvPr/>
        </p:nvSpPr>
        <p:spPr>
          <a:xfrm>
            <a:off x="9787516" y="3785487"/>
            <a:ext cx="450296" cy="183138"/>
          </a:xfrm>
          <a:prstGeom prst="rect">
            <a:avLst/>
          </a:prstGeom>
          <a:solidFill>
            <a:srgbClr val="8FBEE6"/>
          </a:solidFill>
          <a:ln w="6350">
            <a:solidFill>
              <a:srgbClr val="FFFFFF"/>
            </a:solidFill>
            <a:prstDash val="solid"/>
          </a:ln>
        </p:spPr>
      </p:sp>
      <p:sp>
        <p:nvSpPr>
          <p:cNvPr id="199" name="Text 197"/>
          <p:cNvSpPr txBox="1"/>
          <p:nvPr/>
        </p:nvSpPr>
        <p:spPr>
          <a:xfrm>
            <a:off x="9787516" y="3785487"/>
            <a:ext cx="45029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00" name="Shape 198"/>
          <p:cNvSpPr/>
          <p:nvPr/>
        </p:nvSpPr>
        <p:spPr>
          <a:xfrm>
            <a:off x="10237812" y="3785487"/>
            <a:ext cx="1274484" cy="183138"/>
          </a:xfrm>
          <a:prstGeom prst="rect">
            <a:avLst/>
          </a:prstGeom>
          <a:solidFill>
            <a:srgbClr val="D9D9D9"/>
          </a:solidFill>
          <a:ln w="6350">
            <a:solidFill>
              <a:srgbClr val="FFFFFF"/>
            </a:solidFill>
            <a:prstDash val="solid"/>
          </a:ln>
        </p:spPr>
      </p:sp>
      <p:sp>
        <p:nvSpPr>
          <p:cNvPr id="201" name="Text 199"/>
          <p:cNvSpPr txBox="1"/>
          <p:nvPr/>
        </p:nvSpPr>
        <p:spPr>
          <a:xfrm>
            <a:off x="10237812" y="3785487"/>
            <a:ext cx="127448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202" name="Text 200"/>
          <p:cNvSpPr txBox="1"/>
          <p:nvPr/>
        </p:nvSpPr>
        <p:spPr>
          <a:xfrm>
            <a:off x="6208776"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03" name="Shape 201"/>
          <p:cNvSpPr/>
          <p:nvPr/>
        </p:nvSpPr>
        <p:spPr>
          <a:xfrm>
            <a:off x="8357616" y="4026458"/>
            <a:ext cx="1407663" cy="183138"/>
          </a:xfrm>
          <a:prstGeom prst="rect">
            <a:avLst/>
          </a:prstGeom>
          <a:solidFill>
            <a:srgbClr val="2587C5"/>
          </a:solidFill>
          <a:ln w="6350">
            <a:solidFill>
              <a:srgbClr val="FFFFFF"/>
            </a:solidFill>
            <a:prstDash val="solid"/>
          </a:ln>
        </p:spPr>
      </p:sp>
      <p:sp>
        <p:nvSpPr>
          <p:cNvPr id="204" name="Text 202"/>
          <p:cNvSpPr txBox="1"/>
          <p:nvPr/>
        </p:nvSpPr>
        <p:spPr>
          <a:xfrm>
            <a:off x="8357616" y="4026458"/>
            <a:ext cx="140766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205" name="Shape 203"/>
          <p:cNvSpPr/>
          <p:nvPr/>
        </p:nvSpPr>
        <p:spPr>
          <a:xfrm>
            <a:off x="9765279" y="4026458"/>
            <a:ext cx="1184133" cy="183138"/>
          </a:xfrm>
          <a:prstGeom prst="rect">
            <a:avLst/>
          </a:prstGeom>
          <a:solidFill>
            <a:srgbClr val="8FBEE6"/>
          </a:solidFill>
          <a:ln w="6350">
            <a:solidFill>
              <a:srgbClr val="FFFFFF"/>
            </a:solidFill>
            <a:prstDash val="solid"/>
          </a:ln>
        </p:spPr>
      </p:sp>
      <p:sp>
        <p:nvSpPr>
          <p:cNvPr id="206" name="Text 204"/>
          <p:cNvSpPr txBox="1"/>
          <p:nvPr/>
        </p:nvSpPr>
        <p:spPr>
          <a:xfrm>
            <a:off x="9765279" y="4026458"/>
            <a:ext cx="118413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07" name="Shape 205"/>
          <p:cNvSpPr/>
          <p:nvPr/>
        </p:nvSpPr>
        <p:spPr>
          <a:xfrm>
            <a:off x="10949412" y="4026458"/>
            <a:ext cx="562884" cy="183138"/>
          </a:xfrm>
          <a:prstGeom prst="rect">
            <a:avLst/>
          </a:prstGeom>
          <a:solidFill>
            <a:srgbClr val="D9D9D9"/>
          </a:solidFill>
          <a:ln w="6350">
            <a:solidFill>
              <a:srgbClr val="FFFFFF"/>
            </a:solidFill>
            <a:prstDash val="solid"/>
          </a:ln>
        </p:spPr>
      </p:sp>
      <p:sp>
        <p:nvSpPr>
          <p:cNvPr id="208" name="Text 206"/>
          <p:cNvSpPr txBox="1"/>
          <p:nvPr/>
        </p:nvSpPr>
        <p:spPr>
          <a:xfrm>
            <a:off x="10949412" y="4026458"/>
            <a:ext cx="56288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209" name="Text 207"/>
          <p:cNvSpPr txBox="1"/>
          <p:nvPr/>
        </p:nvSpPr>
        <p:spPr>
          <a:xfrm>
            <a:off x="6208776"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0" name="Shape 208"/>
          <p:cNvSpPr/>
          <p:nvPr/>
        </p:nvSpPr>
        <p:spPr>
          <a:xfrm>
            <a:off x="8357616" y="4267429"/>
            <a:ext cx="1272315" cy="183138"/>
          </a:xfrm>
          <a:prstGeom prst="rect">
            <a:avLst/>
          </a:prstGeom>
          <a:solidFill>
            <a:srgbClr val="2587C5"/>
          </a:solidFill>
          <a:ln w="6350">
            <a:solidFill>
              <a:srgbClr val="FFFFFF"/>
            </a:solidFill>
            <a:prstDash val="solid"/>
          </a:ln>
        </p:spPr>
      </p:sp>
      <p:sp>
        <p:nvSpPr>
          <p:cNvPr id="211" name="Text 209"/>
          <p:cNvSpPr txBox="1"/>
          <p:nvPr/>
        </p:nvSpPr>
        <p:spPr>
          <a:xfrm>
            <a:off x="8357616" y="4267429"/>
            <a:ext cx="127231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2" name="Shape 210"/>
          <p:cNvSpPr/>
          <p:nvPr/>
        </p:nvSpPr>
        <p:spPr>
          <a:xfrm>
            <a:off x="9629931" y="4267429"/>
            <a:ext cx="1101342" cy="183138"/>
          </a:xfrm>
          <a:prstGeom prst="rect">
            <a:avLst/>
          </a:prstGeom>
          <a:solidFill>
            <a:srgbClr val="8FBEE6"/>
          </a:solidFill>
          <a:ln w="6350">
            <a:solidFill>
              <a:srgbClr val="FFFFFF"/>
            </a:solidFill>
            <a:prstDash val="solid"/>
          </a:ln>
        </p:spPr>
      </p:sp>
      <p:sp>
        <p:nvSpPr>
          <p:cNvPr id="213" name="Text 211"/>
          <p:cNvSpPr txBox="1"/>
          <p:nvPr/>
        </p:nvSpPr>
        <p:spPr>
          <a:xfrm>
            <a:off x="9629931" y="4267429"/>
            <a:ext cx="110134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35</a:t>
            </a:r>
            <a:endParaRPr lang="en-US" sz="1300" dirty="0"/>
          </a:p>
        </p:txBody>
      </p:sp>
      <p:sp>
        <p:nvSpPr>
          <p:cNvPr id="214" name="Shape 212"/>
          <p:cNvSpPr/>
          <p:nvPr/>
        </p:nvSpPr>
        <p:spPr>
          <a:xfrm>
            <a:off x="10731273" y="4267429"/>
            <a:ext cx="781023" cy="183138"/>
          </a:xfrm>
          <a:prstGeom prst="rect">
            <a:avLst/>
          </a:prstGeom>
          <a:solidFill>
            <a:srgbClr val="D9D9D9"/>
          </a:solidFill>
          <a:ln w="6350">
            <a:solidFill>
              <a:srgbClr val="FFFFFF"/>
            </a:solidFill>
            <a:prstDash val="solid"/>
          </a:ln>
        </p:spPr>
      </p:sp>
      <p:sp>
        <p:nvSpPr>
          <p:cNvPr id="215" name="Text 213"/>
          <p:cNvSpPr txBox="1"/>
          <p:nvPr/>
        </p:nvSpPr>
        <p:spPr>
          <a:xfrm>
            <a:off x="10731273" y="4267429"/>
            <a:ext cx="78102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216" name="Text 214"/>
          <p:cNvSpPr txBox="1"/>
          <p:nvPr/>
        </p:nvSpPr>
        <p:spPr>
          <a:xfrm>
            <a:off x="6208776"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17" name="Shape 215"/>
          <p:cNvSpPr/>
          <p:nvPr/>
        </p:nvSpPr>
        <p:spPr>
          <a:xfrm>
            <a:off x="8357616" y="4508401"/>
            <a:ext cx="1260841" cy="183138"/>
          </a:xfrm>
          <a:prstGeom prst="rect">
            <a:avLst/>
          </a:prstGeom>
          <a:solidFill>
            <a:srgbClr val="2587C5"/>
          </a:solidFill>
          <a:ln w="6350">
            <a:solidFill>
              <a:srgbClr val="FFFFFF"/>
            </a:solidFill>
            <a:prstDash val="solid"/>
          </a:ln>
        </p:spPr>
      </p:sp>
      <p:sp>
        <p:nvSpPr>
          <p:cNvPr id="218" name="Text 216"/>
          <p:cNvSpPr txBox="1"/>
          <p:nvPr/>
        </p:nvSpPr>
        <p:spPr>
          <a:xfrm>
            <a:off x="8357616" y="4508401"/>
            <a:ext cx="126084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9" name="Shape 217"/>
          <p:cNvSpPr/>
          <p:nvPr/>
        </p:nvSpPr>
        <p:spPr>
          <a:xfrm>
            <a:off x="9618457" y="4508401"/>
            <a:ext cx="1210006" cy="183138"/>
          </a:xfrm>
          <a:prstGeom prst="rect">
            <a:avLst/>
          </a:prstGeom>
          <a:solidFill>
            <a:srgbClr val="8FBEE6"/>
          </a:solidFill>
          <a:ln w="6350">
            <a:solidFill>
              <a:srgbClr val="FFFFFF"/>
            </a:solidFill>
            <a:prstDash val="solid"/>
          </a:ln>
        </p:spPr>
      </p:sp>
      <p:sp>
        <p:nvSpPr>
          <p:cNvPr id="220" name="Text 218"/>
          <p:cNvSpPr txBox="1"/>
          <p:nvPr/>
        </p:nvSpPr>
        <p:spPr>
          <a:xfrm>
            <a:off x="9618457" y="4508401"/>
            <a:ext cx="121000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21" name="Shape 219"/>
          <p:cNvSpPr/>
          <p:nvPr/>
        </p:nvSpPr>
        <p:spPr>
          <a:xfrm>
            <a:off x="10828463" y="4508401"/>
            <a:ext cx="683833" cy="183138"/>
          </a:xfrm>
          <a:prstGeom prst="rect">
            <a:avLst/>
          </a:prstGeom>
          <a:solidFill>
            <a:srgbClr val="D9D9D9"/>
          </a:solidFill>
          <a:ln w="6350">
            <a:solidFill>
              <a:srgbClr val="FFFFFF"/>
            </a:solidFill>
            <a:prstDash val="solid"/>
          </a:ln>
        </p:spPr>
      </p:sp>
      <p:sp>
        <p:nvSpPr>
          <p:cNvPr id="222" name="Text 220"/>
          <p:cNvSpPr txBox="1"/>
          <p:nvPr/>
        </p:nvSpPr>
        <p:spPr>
          <a:xfrm>
            <a:off x="10828463" y="4508401"/>
            <a:ext cx="683833"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23" name="Text 221"/>
          <p:cNvSpPr txBox="1"/>
          <p:nvPr/>
        </p:nvSpPr>
        <p:spPr>
          <a:xfrm>
            <a:off x="6208776"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24" name="Shape 222"/>
          <p:cNvSpPr/>
          <p:nvPr/>
        </p:nvSpPr>
        <p:spPr>
          <a:xfrm>
            <a:off x="8357616" y="4749372"/>
            <a:ext cx="1237324" cy="183138"/>
          </a:xfrm>
          <a:prstGeom prst="rect">
            <a:avLst/>
          </a:prstGeom>
          <a:solidFill>
            <a:srgbClr val="2587C5"/>
          </a:solidFill>
          <a:ln w="6350">
            <a:solidFill>
              <a:srgbClr val="FFFFFF"/>
            </a:solidFill>
            <a:prstDash val="solid"/>
          </a:ln>
        </p:spPr>
      </p:sp>
      <p:sp>
        <p:nvSpPr>
          <p:cNvPr id="225" name="Text 223"/>
          <p:cNvSpPr txBox="1"/>
          <p:nvPr/>
        </p:nvSpPr>
        <p:spPr>
          <a:xfrm>
            <a:off x="8357616" y="4749372"/>
            <a:ext cx="123732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39</a:t>
            </a:r>
            <a:endParaRPr lang="en-US" sz="1300" dirty="0"/>
          </a:p>
        </p:txBody>
      </p:sp>
      <p:sp>
        <p:nvSpPr>
          <p:cNvPr id="226" name="Shape 224"/>
          <p:cNvSpPr/>
          <p:nvPr/>
        </p:nvSpPr>
        <p:spPr>
          <a:xfrm>
            <a:off x="9594940" y="4749372"/>
            <a:ext cx="995080" cy="183138"/>
          </a:xfrm>
          <a:prstGeom prst="rect">
            <a:avLst/>
          </a:prstGeom>
          <a:solidFill>
            <a:srgbClr val="8FBEE6"/>
          </a:solidFill>
          <a:ln w="6350">
            <a:solidFill>
              <a:srgbClr val="FFFFFF"/>
            </a:solidFill>
            <a:prstDash val="solid"/>
          </a:ln>
        </p:spPr>
      </p:sp>
      <p:sp>
        <p:nvSpPr>
          <p:cNvPr id="227" name="Text 225"/>
          <p:cNvSpPr txBox="1"/>
          <p:nvPr/>
        </p:nvSpPr>
        <p:spPr>
          <a:xfrm>
            <a:off x="9594940" y="4749372"/>
            <a:ext cx="995080"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228" name="Shape 226"/>
          <p:cNvSpPr/>
          <p:nvPr/>
        </p:nvSpPr>
        <p:spPr>
          <a:xfrm>
            <a:off x="10590020" y="4749372"/>
            <a:ext cx="922276" cy="183138"/>
          </a:xfrm>
          <a:prstGeom prst="rect">
            <a:avLst/>
          </a:prstGeom>
          <a:solidFill>
            <a:srgbClr val="D9D9D9"/>
          </a:solidFill>
          <a:ln w="6350">
            <a:solidFill>
              <a:srgbClr val="FFFFFF"/>
            </a:solidFill>
            <a:prstDash val="solid"/>
          </a:ln>
        </p:spPr>
      </p:sp>
      <p:sp>
        <p:nvSpPr>
          <p:cNvPr id="229" name="Text 227"/>
          <p:cNvSpPr txBox="1"/>
          <p:nvPr/>
        </p:nvSpPr>
        <p:spPr>
          <a:xfrm>
            <a:off x="10590020" y="4749372"/>
            <a:ext cx="92227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230" name="Text 228"/>
          <p:cNvSpPr txBox="1"/>
          <p:nvPr/>
        </p:nvSpPr>
        <p:spPr>
          <a:xfrm>
            <a:off x="6208776"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31" name="Shape 229"/>
          <p:cNvSpPr/>
          <p:nvPr/>
        </p:nvSpPr>
        <p:spPr>
          <a:xfrm>
            <a:off x="8357616" y="4990343"/>
            <a:ext cx="1075368" cy="183138"/>
          </a:xfrm>
          <a:prstGeom prst="rect">
            <a:avLst/>
          </a:prstGeom>
          <a:solidFill>
            <a:srgbClr val="2587C5"/>
          </a:solidFill>
          <a:ln w="6350">
            <a:solidFill>
              <a:srgbClr val="FFFFFF"/>
            </a:solidFill>
            <a:prstDash val="solid"/>
          </a:ln>
        </p:spPr>
      </p:sp>
      <p:sp>
        <p:nvSpPr>
          <p:cNvPr id="232" name="Text 230"/>
          <p:cNvSpPr txBox="1"/>
          <p:nvPr/>
        </p:nvSpPr>
        <p:spPr>
          <a:xfrm>
            <a:off x="8357616" y="4990343"/>
            <a:ext cx="107536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233" name="Shape 231"/>
          <p:cNvSpPr/>
          <p:nvPr/>
        </p:nvSpPr>
        <p:spPr>
          <a:xfrm>
            <a:off x="9432984" y="4990343"/>
            <a:ext cx="1647182" cy="183138"/>
          </a:xfrm>
          <a:prstGeom prst="rect">
            <a:avLst/>
          </a:prstGeom>
          <a:solidFill>
            <a:srgbClr val="8FBEE6"/>
          </a:solidFill>
          <a:ln w="6350">
            <a:solidFill>
              <a:srgbClr val="FFFFFF"/>
            </a:solidFill>
            <a:prstDash val="solid"/>
          </a:ln>
        </p:spPr>
      </p:sp>
      <p:sp>
        <p:nvSpPr>
          <p:cNvPr id="234" name="Text 232"/>
          <p:cNvSpPr txBox="1"/>
          <p:nvPr/>
        </p:nvSpPr>
        <p:spPr>
          <a:xfrm>
            <a:off x="9432984" y="4990343"/>
            <a:ext cx="1647182"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52</a:t>
            </a:r>
            <a:endParaRPr lang="en-US" sz="1300" dirty="0"/>
          </a:p>
        </p:txBody>
      </p:sp>
      <p:sp>
        <p:nvSpPr>
          <p:cNvPr id="235" name="Shape 233"/>
          <p:cNvSpPr/>
          <p:nvPr/>
        </p:nvSpPr>
        <p:spPr>
          <a:xfrm>
            <a:off x="11080165" y="4990343"/>
            <a:ext cx="432131" cy="183138"/>
          </a:xfrm>
          <a:prstGeom prst="rect">
            <a:avLst/>
          </a:prstGeom>
          <a:solidFill>
            <a:srgbClr val="D9D9D9"/>
          </a:solidFill>
          <a:ln w="6350">
            <a:solidFill>
              <a:srgbClr val="FFFFFF"/>
            </a:solidFill>
            <a:prstDash val="solid"/>
          </a:ln>
        </p:spPr>
      </p:sp>
      <p:sp>
        <p:nvSpPr>
          <p:cNvPr id="236" name="Text 234"/>
          <p:cNvSpPr txBox="1"/>
          <p:nvPr/>
        </p:nvSpPr>
        <p:spPr>
          <a:xfrm>
            <a:off x="11080165" y="4990343"/>
            <a:ext cx="432131"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37" name="Text 235"/>
          <p:cNvSpPr txBox="1"/>
          <p:nvPr/>
        </p:nvSpPr>
        <p:spPr>
          <a:xfrm>
            <a:off x="6208776"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38" name="Shape 236"/>
          <p:cNvSpPr/>
          <p:nvPr/>
        </p:nvSpPr>
        <p:spPr>
          <a:xfrm>
            <a:off x="8357616" y="5231315"/>
            <a:ext cx="898846" cy="183138"/>
          </a:xfrm>
          <a:prstGeom prst="rect">
            <a:avLst/>
          </a:prstGeom>
          <a:solidFill>
            <a:srgbClr val="2587C5"/>
          </a:solidFill>
          <a:ln w="6350">
            <a:solidFill>
              <a:srgbClr val="FFFFFF"/>
            </a:solidFill>
            <a:prstDash val="solid"/>
          </a:ln>
        </p:spPr>
      </p:sp>
      <p:sp>
        <p:nvSpPr>
          <p:cNvPr id="239" name="Text 237"/>
          <p:cNvSpPr txBox="1"/>
          <p:nvPr/>
        </p:nvSpPr>
        <p:spPr>
          <a:xfrm>
            <a:off x="8357616" y="5231315"/>
            <a:ext cx="89884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0" name="Shape 238"/>
          <p:cNvSpPr/>
          <p:nvPr/>
        </p:nvSpPr>
        <p:spPr>
          <a:xfrm>
            <a:off x="9256462" y="5231315"/>
            <a:ext cx="1126586" cy="183138"/>
          </a:xfrm>
          <a:prstGeom prst="rect">
            <a:avLst/>
          </a:prstGeom>
          <a:solidFill>
            <a:srgbClr val="8FBEE6"/>
          </a:solidFill>
          <a:ln w="6350">
            <a:solidFill>
              <a:srgbClr val="FFFFFF"/>
            </a:solidFill>
            <a:prstDash val="solid"/>
          </a:ln>
        </p:spPr>
      </p:sp>
      <p:sp>
        <p:nvSpPr>
          <p:cNvPr id="241" name="Text 239"/>
          <p:cNvSpPr txBox="1"/>
          <p:nvPr/>
        </p:nvSpPr>
        <p:spPr>
          <a:xfrm>
            <a:off x="9256462" y="5231315"/>
            <a:ext cx="1126586"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2" name="Shape 240"/>
          <p:cNvSpPr/>
          <p:nvPr/>
        </p:nvSpPr>
        <p:spPr>
          <a:xfrm>
            <a:off x="10383048" y="5231315"/>
            <a:ext cx="1129248" cy="183138"/>
          </a:xfrm>
          <a:prstGeom prst="rect">
            <a:avLst/>
          </a:prstGeom>
          <a:solidFill>
            <a:srgbClr val="D9D9D9"/>
          </a:solidFill>
          <a:ln w="6350">
            <a:solidFill>
              <a:srgbClr val="FFFFFF"/>
            </a:solidFill>
            <a:prstDash val="solid"/>
          </a:ln>
        </p:spPr>
      </p:sp>
      <p:sp>
        <p:nvSpPr>
          <p:cNvPr id="243" name="Text 241"/>
          <p:cNvSpPr txBox="1"/>
          <p:nvPr/>
        </p:nvSpPr>
        <p:spPr>
          <a:xfrm>
            <a:off x="10383048" y="5231315"/>
            <a:ext cx="1129248"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4" name="Text 242"/>
          <p:cNvSpPr txBox="1"/>
          <p:nvPr/>
        </p:nvSpPr>
        <p:spPr>
          <a:xfrm>
            <a:off x="6208776"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45" name="Shape 243"/>
          <p:cNvSpPr/>
          <p:nvPr/>
        </p:nvSpPr>
        <p:spPr>
          <a:xfrm>
            <a:off x="8357616" y="5472286"/>
            <a:ext cx="880673" cy="183138"/>
          </a:xfrm>
          <a:prstGeom prst="rect">
            <a:avLst/>
          </a:prstGeom>
          <a:solidFill>
            <a:srgbClr val="2587C5"/>
          </a:solidFill>
          <a:ln w="6350">
            <a:solidFill>
              <a:srgbClr val="FFFFFF"/>
            </a:solidFill>
            <a:prstDash val="solid"/>
          </a:ln>
        </p:spPr>
      </p:sp>
      <p:sp>
        <p:nvSpPr>
          <p:cNvPr id="246" name="Text 244"/>
          <p:cNvSpPr txBox="1"/>
          <p:nvPr/>
        </p:nvSpPr>
        <p:spPr>
          <a:xfrm>
            <a:off x="8357616" y="5472286"/>
            <a:ext cx="88067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7" name="Shape 245"/>
          <p:cNvSpPr/>
          <p:nvPr/>
        </p:nvSpPr>
        <p:spPr>
          <a:xfrm>
            <a:off x="9238289" y="5472286"/>
            <a:ext cx="1619914" cy="183138"/>
          </a:xfrm>
          <a:prstGeom prst="rect">
            <a:avLst/>
          </a:prstGeom>
          <a:solidFill>
            <a:srgbClr val="8FBEE6"/>
          </a:solidFill>
          <a:ln w="6350">
            <a:solidFill>
              <a:srgbClr val="FFFFFF"/>
            </a:solidFill>
            <a:prstDash val="solid"/>
          </a:ln>
        </p:spPr>
      </p:sp>
      <p:sp>
        <p:nvSpPr>
          <p:cNvPr id="248" name="Text 246"/>
          <p:cNvSpPr txBox="1"/>
          <p:nvPr/>
        </p:nvSpPr>
        <p:spPr>
          <a:xfrm>
            <a:off x="9238289" y="5472286"/>
            <a:ext cx="161991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51</a:t>
            </a:r>
            <a:endParaRPr lang="en-US" sz="1300" dirty="0"/>
          </a:p>
        </p:txBody>
      </p:sp>
      <p:sp>
        <p:nvSpPr>
          <p:cNvPr id="249" name="Shape 247"/>
          <p:cNvSpPr/>
          <p:nvPr/>
        </p:nvSpPr>
        <p:spPr>
          <a:xfrm>
            <a:off x="10858202" y="5472286"/>
            <a:ext cx="654094" cy="183138"/>
          </a:xfrm>
          <a:prstGeom prst="rect">
            <a:avLst/>
          </a:prstGeom>
          <a:solidFill>
            <a:srgbClr val="D9D9D9"/>
          </a:solidFill>
          <a:ln w="6350">
            <a:solidFill>
              <a:srgbClr val="FFFFFF"/>
            </a:solidFill>
            <a:prstDash val="solid"/>
          </a:ln>
        </p:spPr>
      </p:sp>
      <p:sp>
        <p:nvSpPr>
          <p:cNvPr id="250" name="Text 248"/>
          <p:cNvSpPr txBox="1"/>
          <p:nvPr/>
        </p:nvSpPr>
        <p:spPr>
          <a:xfrm>
            <a:off x="10858202" y="5472286"/>
            <a:ext cx="654094" cy="183138"/>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251" name="Shape 249"/>
          <p:cNvSpPr/>
          <p:nvPr/>
        </p:nvSpPr>
        <p:spPr>
          <a:xfrm>
            <a:off x="457200" y="6126480"/>
            <a:ext cx="11274552" cy="615696"/>
          </a:xfrm>
          <a:prstGeom prst="rect">
            <a:avLst/>
          </a:prstGeom>
          <a:solidFill>
            <a:srgbClr val="EDF4FA"/>
          </a:solidFill>
          <a:ln/>
        </p:spPr>
      </p:sp>
      <p:sp>
        <p:nvSpPr>
          <p:cNvPr id="252" name="Text 25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Customer pay is 52.5% of labor sale (52.8% in 2025), warranty 23.8%, internal 23.7%. Honda Spokane is most customer-pay at 70.3%.</a:t>
            </a:r>
            <a:endParaRPr lang="en-US" sz="1600"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CP Labor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labor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ELR</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labor sale divided by CP RO count. It combines how much we sell with what we collect for 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1.87 hours per RO  </a:t>
            </a:r>
            <a:pPr algn="ctr" indent="0" marL="0">
              <a:buNone/>
            </a:pPr>
            <a:r>
              <a:rPr lang="en-US" sz="1400" b="1" dirty="0">
                <a:solidFill>
                  <a:srgbClr val="0B2C4A"/>
                </a:solidFill>
                <a:latin typeface="Inter" pitchFamily="34" charset="0"/>
                <a:ea typeface="Inter" pitchFamily="34" charset="-122"/>
                <a:cs typeface="Inter" pitchFamily="34" charset="-120"/>
              </a:rPr>
              <a:t>× $162.42</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CP labor per RO  </a:t>
            </a:r>
            <a:pPr algn="ctr" indent="0" marL="0">
              <a:buNone/>
            </a:pPr>
            <a:r>
              <a:rPr lang="en-US" sz="1400" b="1" dirty="0">
                <a:solidFill>
                  <a:srgbClr val="0B2C4A"/>
                </a:solidFill>
                <a:latin typeface="Inter" pitchFamily="34" charset="0"/>
                <a:ea typeface="Inter" pitchFamily="34" charset="-122"/>
                <a:cs typeface="Inter" pitchFamily="34" charset="-120"/>
              </a:rPr>
              <a:t>$304</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Focus on CP labor dollars per RO and every other metric rises with it.</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With additional labor sales come additional parts sales.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single best metric to measure a service advisor's performance.</a:t>
            </a:r>
            <a:endParaRPr lang="en-US" sz="1500" dirty="0"/>
          </a:p>
        </p:txBody>
      </p:sp>
      <p:sp>
        <p:nvSpPr>
          <p:cNvPr id="18" name="Shape 16"/>
          <p:cNvSpPr/>
          <p:nvPr/>
        </p:nvSpPr>
        <p:spPr>
          <a:xfrm>
            <a:off x="5138928" y="3410712"/>
            <a:ext cx="45720" cy="1133856"/>
          </a:xfrm>
          <a:prstGeom prst="rect">
            <a:avLst/>
          </a:prstGeom>
          <a:solidFill>
            <a:srgbClr val="2587C5"/>
          </a:solidFill>
          <a:ln/>
        </p:spPr>
      </p:sp>
      <p:sp>
        <p:nvSpPr>
          <p:cNvPr id="19" name="Text 17"/>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Written process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Follow it on every car: a multi-point inspection every time</a:t>
            </a:r>
            <a:endParaRPr lang="en-US" sz="1400" dirty="0"/>
          </a:p>
        </p:txBody>
      </p:sp>
      <p:sp>
        <p:nvSpPr>
          <p:cNvPr id="20" name="Shape 18"/>
          <p:cNvSpPr/>
          <p:nvPr/>
        </p:nvSpPr>
        <p:spPr>
          <a:xfrm>
            <a:off x="8394192" y="3410712"/>
            <a:ext cx="45720" cy="1133856"/>
          </a:xfrm>
          <a:prstGeom prst="rect">
            <a:avLst/>
          </a:prstGeom>
          <a:solidFill>
            <a:srgbClr val="2587C5"/>
          </a:solidFill>
          <a:ln/>
        </p:spPr>
      </p:sp>
      <p:sp>
        <p:nvSpPr>
          <p:cNvPr id="21" name="Text 19"/>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Service menu</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Present the menu and its recommendations, consistently, every customer</a:t>
            </a:r>
            <a:endParaRPr lang="en-US" sz="1400" dirty="0"/>
          </a:p>
        </p:txBody>
      </p:sp>
      <p:sp>
        <p:nvSpPr>
          <p:cNvPr id="22" name="Shape 20"/>
          <p:cNvSpPr/>
          <p:nvPr/>
        </p:nvSpPr>
        <p:spPr>
          <a:xfrm>
            <a:off x="5138928" y="4654296"/>
            <a:ext cx="45720" cy="1133856"/>
          </a:xfrm>
          <a:prstGeom prst="rect">
            <a:avLst/>
          </a:prstGeom>
          <a:solidFill>
            <a:srgbClr val="2587C5"/>
          </a:solidFill>
          <a:ln/>
        </p:spPr>
      </p:sp>
      <p:sp>
        <p:nvSpPr>
          <p:cNvPr id="23" name="Text 21"/>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Pay plans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Reward advisors for CP labor sales and gross: what they control, and a true measure of their performance</a:t>
            </a:r>
            <a:endParaRPr lang="en-US" sz="1400" dirty="0"/>
          </a:p>
        </p:txBody>
      </p:sp>
      <p:sp>
        <p:nvSpPr>
          <p:cNvPr id="24" name="Shape 22"/>
          <p:cNvSpPr/>
          <p:nvPr/>
        </p:nvSpPr>
        <p:spPr>
          <a:xfrm>
            <a:off x="8394192" y="4654296"/>
            <a:ext cx="45720" cy="1133856"/>
          </a:xfrm>
          <a:prstGeom prst="rect">
            <a:avLst/>
          </a:prstGeom>
          <a:solidFill>
            <a:srgbClr val="2587C5"/>
          </a:solidFill>
          <a:ln/>
        </p:spPr>
      </p:sp>
      <p:sp>
        <p:nvSpPr>
          <p:cNvPr id="25" name="Text 23"/>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 and accountability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What gets tracked gets improved: accountability through visibility</a:t>
            </a:r>
            <a:endParaRPr lang="en-US" sz="1400" dirty="0"/>
          </a:p>
        </p:txBody>
      </p:sp>
      <p:sp>
        <p:nvSpPr>
          <p:cNvPr id="26" name="Shape 24"/>
          <p:cNvSpPr/>
          <p:nvPr/>
        </p:nvSpPr>
        <p:spPr>
          <a:xfrm>
            <a:off x="457200" y="6126480"/>
            <a:ext cx="11274552" cy="341376"/>
          </a:xfrm>
          <a:prstGeom prst="rect">
            <a:avLst/>
          </a:prstGeom>
          <a:solidFill>
            <a:srgbClr val="E6F6EE"/>
          </a:solidFill>
          <a:ln/>
        </p:spPr>
      </p:sp>
      <p:sp>
        <p:nvSpPr>
          <p:cNvPr id="27" name="Text 25"/>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Group: $304 CP labor per RO, up $17. With ROs flat, the $4,899,376 labor gain came from selling more per visit.</a:t>
            </a:r>
            <a:endParaRPr lang="en-US" sz="14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Labor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Labor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tech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labor dollar we keep after paying the technician.</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ONE HOUR SOLD</a:t>
            </a:r>
            <a:endParaRPr lang="en-US" sz="1400" dirty="0"/>
          </a:p>
        </p:txBody>
      </p:sp>
      <p:sp>
        <p:nvSpPr>
          <p:cNvPr id="9" name="Shape 7"/>
          <p:cNvSpPr/>
          <p:nvPr/>
        </p:nvSpPr>
        <p:spPr>
          <a:xfrm>
            <a:off x="2286000" y="2340864"/>
            <a:ext cx="227914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Sell 1 hour at  </a:t>
            </a:r>
            <a:pPr algn="ctr" indent="0" marL="0">
              <a:buNone/>
            </a:pPr>
            <a:r>
              <a:rPr lang="en-US" sz="1400" b="1" dirty="0">
                <a:solidFill>
                  <a:srgbClr val="0B2C4A"/>
                </a:solidFill>
                <a:latin typeface="Inter" pitchFamily="34" charset="0"/>
                <a:ea typeface="Inter" pitchFamily="34" charset="-122"/>
                <a:cs typeface="Inter" pitchFamily="34" charset="-120"/>
              </a:rPr>
              <a:t>$162</a:t>
            </a:r>
            <a:endParaRPr lang="en-US" sz="1400" dirty="0"/>
          </a:p>
        </p:txBody>
      </p:sp>
      <p:sp>
        <p:nvSpPr>
          <p:cNvPr id="11" name="Shape 9"/>
          <p:cNvSpPr/>
          <p:nvPr/>
        </p:nvSpPr>
        <p:spPr>
          <a:xfrm>
            <a:off x="4674870" y="2340864"/>
            <a:ext cx="2279142" cy="457200"/>
          </a:xfrm>
          <a:prstGeom prst="rect">
            <a:avLst/>
          </a:prstGeom>
          <a:solidFill>
            <a:srgbClr val="FFFFFF"/>
          </a:solidFill>
          <a:ln w="9525">
            <a:solidFill>
              <a:srgbClr val="D9D9D9"/>
            </a:solidFill>
            <a:prstDash val="solid"/>
          </a:ln>
        </p:spPr>
      </p:sp>
      <p:sp>
        <p:nvSpPr>
          <p:cNvPr id="12" name="Text 10"/>
          <p:cNvSpPr txBox="1"/>
          <p:nvPr/>
        </p:nvSpPr>
        <p:spPr>
          <a:xfrm>
            <a:off x="474802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Pay the tech  </a:t>
            </a:r>
            <a:pPr algn="ctr" indent="0" marL="0">
              <a:buNone/>
            </a:pPr>
            <a:r>
              <a:rPr lang="en-US" sz="1400" b="1" dirty="0">
                <a:solidFill>
                  <a:srgbClr val="0B2C4A"/>
                </a:solidFill>
                <a:latin typeface="Inter" pitchFamily="34" charset="0"/>
                <a:ea typeface="Inter" pitchFamily="34" charset="-122"/>
                <a:cs typeface="Inter" pitchFamily="34" charset="-120"/>
              </a:rPr>
              <a:t>$31</a:t>
            </a:r>
            <a:endParaRPr lang="en-US" sz="1400" dirty="0"/>
          </a:p>
        </p:txBody>
      </p:sp>
      <p:sp>
        <p:nvSpPr>
          <p:cNvPr id="13" name="Shape 11"/>
          <p:cNvSpPr/>
          <p:nvPr/>
        </p:nvSpPr>
        <p:spPr>
          <a:xfrm>
            <a:off x="7063740" y="2340864"/>
            <a:ext cx="2279142" cy="457200"/>
          </a:xfrm>
          <a:prstGeom prst="rect">
            <a:avLst/>
          </a:prstGeom>
          <a:solidFill>
            <a:srgbClr val="FFFFFF"/>
          </a:solidFill>
          <a:ln w="9525">
            <a:solidFill>
              <a:srgbClr val="D9D9D9"/>
            </a:solidFill>
            <a:prstDash val="solid"/>
          </a:ln>
        </p:spPr>
      </p:sp>
      <p:sp>
        <p:nvSpPr>
          <p:cNvPr id="14" name="Text 12"/>
          <p:cNvSpPr txBox="1"/>
          <p:nvPr/>
        </p:nvSpPr>
        <p:spPr>
          <a:xfrm>
            <a:off x="713689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We keep  </a:t>
            </a:r>
            <a:pPr algn="ctr" indent="0" marL="0">
              <a:buNone/>
            </a:pPr>
            <a:r>
              <a:rPr lang="en-US" sz="1400" b="1" dirty="0">
                <a:solidFill>
                  <a:srgbClr val="0B2C4A"/>
                </a:solidFill>
                <a:latin typeface="Inter" pitchFamily="34" charset="0"/>
                <a:ea typeface="Inter" pitchFamily="34" charset="-122"/>
                <a:cs typeface="Inter" pitchFamily="34" charset="-120"/>
              </a:rPr>
              <a:t>$131</a:t>
            </a:r>
            <a:endParaRPr lang="en-US" sz="1400" dirty="0"/>
          </a:p>
        </p:txBody>
      </p:sp>
      <p:sp>
        <p:nvSpPr>
          <p:cNvPr id="15" name="Shape 13"/>
          <p:cNvSpPr/>
          <p:nvPr/>
        </p:nvSpPr>
        <p:spPr>
          <a:xfrm>
            <a:off x="9452610" y="2340864"/>
            <a:ext cx="2279142" cy="457200"/>
          </a:xfrm>
          <a:prstGeom prst="rect">
            <a:avLst/>
          </a:prstGeom>
          <a:solidFill>
            <a:srgbClr val="FFFFFF"/>
          </a:solidFill>
          <a:ln w="9525">
            <a:solidFill>
              <a:srgbClr val="D9D9D9"/>
            </a:solidFill>
            <a:prstDash val="solid"/>
          </a:ln>
        </p:spPr>
      </p:sp>
      <p:sp>
        <p:nvSpPr>
          <p:cNvPr id="16" name="Text 14"/>
          <p:cNvSpPr txBox="1"/>
          <p:nvPr/>
        </p:nvSpPr>
        <p:spPr>
          <a:xfrm>
            <a:off x="952576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$131 ÷ $162  </a:t>
            </a:r>
            <a:pPr algn="ctr" indent="0" marL="0">
              <a:buNone/>
            </a:pPr>
            <a:r>
              <a:rPr lang="en-US" sz="1400" b="1" dirty="0">
                <a:solidFill>
                  <a:srgbClr val="0B2C4A"/>
                </a:solidFill>
                <a:latin typeface="Inter" pitchFamily="34" charset="0"/>
                <a:ea typeface="Inter" pitchFamily="34" charset="-122"/>
                <a:cs typeface="Inter" pitchFamily="34" charset="-120"/>
              </a:rPr>
              <a:t>81%</a:t>
            </a:r>
            <a:endParaRPr lang="en-US" sz="1400" dirty="0"/>
          </a:p>
        </p:txBody>
      </p:sp>
      <p:sp>
        <p:nvSpPr>
          <p:cNvPr id="17" name="Shape 15"/>
          <p:cNvSpPr/>
          <p:nvPr/>
        </p:nvSpPr>
        <p:spPr>
          <a:xfrm>
            <a:off x="457200" y="2907792"/>
            <a:ext cx="4343400" cy="3081528"/>
          </a:xfrm>
          <a:prstGeom prst="rect">
            <a:avLst/>
          </a:prstGeom>
          <a:solidFill>
            <a:srgbClr val="FFFFFF"/>
          </a:solidFill>
          <a:ln/>
        </p:spPr>
      </p:sp>
      <p:sp>
        <p:nvSpPr>
          <p:cNvPr id="18" name="Shape 16"/>
          <p:cNvSpPr/>
          <p:nvPr/>
        </p:nvSpPr>
        <p:spPr>
          <a:xfrm>
            <a:off x="4937760" y="2907792"/>
            <a:ext cx="6793992" cy="3081528"/>
          </a:xfrm>
          <a:prstGeom prst="rect">
            <a:avLst/>
          </a:prstGeom>
          <a:solidFill>
            <a:srgbClr val="FFFFFF"/>
          </a:solidFill>
          <a:ln/>
        </p:spPr>
      </p:sp>
      <p:sp>
        <p:nvSpPr>
          <p:cNvPr id="19" name="Text 17"/>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0" name="Text 18"/>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1" name="Text 19"/>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target range is 78% to 80%: not too high, not too low. Hold it by matching the tech to the job, not by squeezing tech pay.</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low means tech cost is out of line with what the job sells for.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high can mean techs are underpaid on the work they do, which costs us techs.</a:t>
            </a:r>
            <a:endParaRPr lang="en-US" sz="1500" dirty="0"/>
          </a:p>
        </p:txBody>
      </p:sp>
      <p:sp>
        <p:nvSpPr>
          <p:cNvPr id="22" name="Shape 20"/>
          <p:cNvSpPr/>
          <p:nvPr/>
        </p:nvSpPr>
        <p:spPr>
          <a:xfrm>
            <a:off x="5138928" y="3410712"/>
            <a:ext cx="45720" cy="1133856"/>
          </a:xfrm>
          <a:prstGeom prst="rect">
            <a:avLst/>
          </a:prstGeom>
          <a:solidFill>
            <a:srgbClr val="2587C5"/>
          </a:solidFill>
          <a:ln/>
        </p:spPr>
      </p:sp>
      <p:sp>
        <p:nvSpPr>
          <p:cNvPr id="23" name="Text 21"/>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Effective labor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 tech cost, higher ELR = higher margin</a:t>
            </a:r>
            <a:endParaRPr lang="en-US" sz="1400" dirty="0"/>
          </a:p>
        </p:txBody>
      </p:sp>
      <p:sp>
        <p:nvSpPr>
          <p:cNvPr id="24" name="Shape 22"/>
          <p:cNvSpPr/>
          <p:nvPr/>
        </p:nvSpPr>
        <p:spPr>
          <a:xfrm>
            <a:off x="7309104" y="3410712"/>
            <a:ext cx="45720" cy="1133856"/>
          </a:xfrm>
          <a:prstGeom prst="rect">
            <a:avLst/>
          </a:prstGeom>
          <a:solidFill>
            <a:srgbClr val="2587C5"/>
          </a:solidFill>
          <a:ln/>
        </p:spPr>
      </p:sp>
      <p:sp>
        <p:nvSpPr>
          <p:cNvPr id="25" name="Text 23"/>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 pay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Flat-rate pay per hour against the rate we sell</a:t>
            </a:r>
            <a:endParaRPr lang="en-US" sz="1400" dirty="0"/>
          </a:p>
        </p:txBody>
      </p:sp>
      <p:sp>
        <p:nvSpPr>
          <p:cNvPr id="26" name="Shape 24"/>
          <p:cNvSpPr/>
          <p:nvPr/>
        </p:nvSpPr>
        <p:spPr>
          <a:xfrm>
            <a:off x="9479280" y="3410712"/>
            <a:ext cx="45720" cy="1133856"/>
          </a:xfrm>
          <a:prstGeom prst="rect">
            <a:avLst/>
          </a:prstGeom>
          <a:solidFill>
            <a:srgbClr val="2587C5"/>
          </a:solidFill>
          <a:ln/>
        </p:spPr>
      </p:sp>
      <p:sp>
        <p:nvSpPr>
          <p:cNvPr id="27" name="Text 25"/>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job</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Skill-code costing: don't pay a master-tech rate on an oil change</a:t>
            </a:r>
            <a:endParaRPr lang="en-US" sz="1400" dirty="0"/>
          </a:p>
        </p:txBody>
      </p:sp>
      <p:sp>
        <p:nvSpPr>
          <p:cNvPr id="28" name="Shape 26"/>
          <p:cNvSpPr/>
          <p:nvPr/>
        </p:nvSpPr>
        <p:spPr>
          <a:xfrm>
            <a:off x="5138928" y="4654296"/>
            <a:ext cx="45720" cy="1133856"/>
          </a:xfrm>
          <a:prstGeom prst="rect">
            <a:avLst/>
          </a:prstGeom>
          <a:solidFill>
            <a:srgbClr val="2587C5"/>
          </a:solidFill>
          <a:ln/>
        </p:spPr>
      </p:sp>
      <p:sp>
        <p:nvSpPr>
          <p:cNvPr id="29" name="Text 27"/>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Type of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Maintenance runs a lower margin than repair at full door rate</a:t>
            </a:r>
            <a:endParaRPr lang="en-US" sz="1400" dirty="0"/>
          </a:p>
        </p:txBody>
      </p:sp>
      <p:sp>
        <p:nvSpPr>
          <p:cNvPr id="30" name="Shape 28"/>
          <p:cNvSpPr/>
          <p:nvPr/>
        </p:nvSpPr>
        <p:spPr>
          <a:xfrm>
            <a:off x="7309104" y="4654296"/>
            <a:ext cx="45720" cy="1133856"/>
          </a:xfrm>
          <a:prstGeom prst="rect">
            <a:avLst/>
          </a:prstGeom>
          <a:solidFill>
            <a:srgbClr val="2587C5"/>
          </a:solidFill>
          <a:ln/>
        </p:spPr>
      </p:sp>
      <p:sp>
        <p:nvSpPr>
          <p:cNvPr id="31" name="Text 29"/>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Low-rate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Internal detail and other low-dollar-per-hour work pull the margin down</a:t>
            </a:r>
            <a:endParaRPr lang="en-US" sz="1400" dirty="0"/>
          </a:p>
        </p:txBody>
      </p:sp>
      <p:sp>
        <p:nvSpPr>
          <p:cNvPr id="32" name="Shape 30"/>
          <p:cNvSpPr/>
          <p:nvPr/>
        </p:nvSpPr>
        <p:spPr>
          <a:xfrm>
            <a:off x="9479280" y="4654296"/>
            <a:ext cx="45720" cy="1133856"/>
          </a:xfrm>
          <a:prstGeom prst="rect">
            <a:avLst/>
          </a:prstGeom>
          <a:solidFill>
            <a:srgbClr val="2587C5"/>
          </a:solidFill>
          <a:ln/>
        </p:spPr>
      </p:sp>
      <p:sp>
        <p:nvSpPr>
          <p:cNvPr id="33" name="Text 31"/>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it and keep controls in place</a:t>
            </a:r>
            <a:endParaRPr lang="en-US" sz="1400" dirty="0"/>
          </a:p>
        </p:txBody>
      </p:sp>
      <p:sp>
        <p:nvSpPr>
          <p:cNvPr id="34" name="Shape 32"/>
          <p:cNvSpPr/>
          <p:nvPr/>
        </p:nvSpPr>
        <p:spPr>
          <a:xfrm>
            <a:off x="457200" y="6126480"/>
            <a:ext cx="11274552" cy="371856"/>
          </a:xfrm>
          <a:prstGeom prst="rect">
            <a:avLst/>
          </a:prstGeom>
          <a:solidFill>
            <a:srgbClr val="EDF4FA"/>
          </a:solidFill>
          <a:ln/>
        </p:spPr>
      </p:sp>
      <p:sp>
        <p:nvSpPr>
          <p:cNvPr id="35" name="Text 33"/>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80.8% CP labor gross profit, down 0.1 pts and just above the 78-80% target range.</a:t>
            </a:r>
            <a:endParaRPr lang="en-US" sz="1600"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Labor Gross Profit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graphicFrame>
        <p:nvGraphicFramePr>
          <p:cNvPr id="23" name="Chart 6" descr=""/>
          <p:cNvGraphicFramePr/>
          <p:nvPr/>
        </p:nvGraphicFramePr>
        <p:xfrm>
          <a:off x="621792" y="3218688"/>
          <a:ext cx="10945368" cy="2679192"/>
        </p:xfrm>
        <a:graphic>
          <a:graphicData uri="http://schemas.openxmlformats.org/drawingml/2006/chart">
            <c:chart xmlns:c="http://schemas.openxmlformats.org/drawingml/2006/chart" r:id="rId8"/>
          </a:graphicData>
        </a:graphic>
      </p:graphicFrame>
      <p:graphicFrame>
        <p:nvGraphicFramePr>
          <p:cNvPr id="24" name="Chart 7" descr=""/>
          <p:cNvGraphicFramePr/>
          <p:nvPr/>
        </p:nvGraphicFramePr>
        <p:xfrm>
          <a:off x="621792" y="3218688"/>
          <a:ext cx="10945368" cy="2679192"/>
        </p:xfrm>
        <a:graphic>
          <a:graphicData uri="http://schemas.openxmlformats.org/drawingml/2006/chart">
            <c:chart xmlns:c="http://schemas.openxmlformats.org/drawingml/2006/chart" r:id="rId9"/>
          </a:graphicData>
        </a:graphic>
      </p:graphicFrame>
      <p:sp>
        <p:nvSpPr>
          <p:cNvPr id="25" name="Shape 15"/>
          <p:cNvSpPr/>
          <p:nvPr/>
        </p:nvSpPr>
        <p:spPr>
          <a:xfrm>
            <a:off x="3762756" y="3049524"/>
            <a:ext cx="310896" cy="45720"/>
          </a:xfrm>
          <a:prstGeom prst="rect">
            <a:avLst/>
          </a:prstGeom>
          <a:solidFill>
            <a:srgbClr val="9AA3AD"/>
          </a:solidFill>
          <a:ln/>
        </p:spPr>
      </p:sp>
      <p:sp>
        <p:nvSpPr>
          <p:cNvPr id="26" name="Shape 16"/>
          <p:cNvSpPr/>
          <p:nvPr/>
        </p:nvSpPr>
        <p:spPr>
          <a:xfrm>
            <a:off x="3863340" y="3017520"/>
            <a:ext cx="109728" cy="109728"/>
          </a:xfrm>
          <a:prstGeom prst="ellipse">
            <a:avLst/>
          </a:prstGeom>
          <a:solidFill>
            <a:srgbClr val="9AA3AD"/>
          </a:solidFill>
          <a:ln/>
        </p:spPr>
      </p:sp>
      <p:sp>
        <p:nvSpPr>
          <p:cNvPr id="27"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8" name="Shape 18"/>
          <p:cNvSpPr/>
          <p:nvPr/>
        </p:nvSpPr>
        <p:spPr>
          <a:xfrm>
            <a:off x="4997196" y="3049524"/>
            <a:ext cx="310896" cy="45720"/>
          </a:xfrm>
          <a:prstGeom prst="rect">
            <a:avLst/>
          </a:prstGeom>
          <a:solidFill>
            <a:srgbClr val="2587C5"/>
          </a:solidFill>
          <a:ln/>
        </p:spPr>
      </p:sp>
      <p:sp>
        <p:nvSpPr>
          <p:cNvPr id="29" name="Shape 19"/>
          <p:cNvSpPr/>
          <p:nvPr/>
        </p:nvSpPr>
        <p:spPr>
          <a:xfrm>
            <a:off x="5097780" y="3017520"/>
            <a:ext cx="109728" cy="109728"/>
          </a:xfrm>
          <a:prstGeom prst="ellipse">
            <a:avLst/>
          </a:prstGeom>
          <a:solidFill>
            <a:srgbClr val="2587C5"/>
          </a:solidFill>
          <a:ln/>
        </p:spPr>
      </p:sp>
      <p:sp>
        <p:nvSpPr>
          <p:cNvPr id="30"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31" name="Shape 21"/>
          <p:cNvSpPr/>
          <p:nvPr/>
        </p:nvSpPr>
        <p:spPr>
          <a:xfrm>
            <a:off x="6231636" y="3049524"/>
            <a:ext cx="73152" cy="36576"/>
          </a:xfrm>
          <a:prstGeom prst="rect">
            <a:avLst/>
          </a:prstGeom>
          <a:solidFill>
            <a:srgbClr val="595959"/>
          </a:solidFill>
          <a:ln/>
        </p:spPr>
      </p:sp>
      <p:sp>
        <p:nvSpPr>
          <p:cNvPr id="32" name="Shape 22"/>
          <p:cNvSpPr/>
          <p:nvPr/>
        </p:nvSpPr>
        <p:spPr>
          <a:xfrm>
            <a:off x="6350508" y="3049524"/>
            <a:ext cx="73152" cy="36576"/>
          </a:xfrm>
          <a:prstGeom prst="rect">
            <a:avLst/>
          </a:prstGeom>
          <a:solidFill>
            <a:srgbClr val="595959"/>
          </a:solidFill>
          <a:ln/>
        </p:spPr>
      </p:sp>
      <p:sp>
        <p:nvSpPr>
          <p:cNvPr id="33" name="Shape 23"/>
          <p:cNvSpPr/>
          <p:nvPr/>
        </p:nvSpPr>
        <p:spPr>
          <a:xfrm>
            <a:off x="6469380" y="3049524"/>
            <a:ext cx="73152" cy="36576"/>
          </a:xfrm>
          <a:prstGeom prst="rect">
            <a:avLst/>
          </a:prstGeom>
          <a:solidFill>
            <a:srgbClr val="595959"/>
          </a:solidFill>
          <a:ln/>
        </p:spPr>
      </p:sp>
      <p:sp>
        <p:nvSpPr>
          <p:cNvPr id="34"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Target range 78–80%</a:t>
            </a:r>
            <a:endParaRPr lang="en-US" sz="1400" dirty="0"/>
          </a:p>
        </p:txBody>
      </p:sp>
      <p:sp>
        <p:nvSpPr>
          <p:cNvPr id="35" name="Shape 25"/>
          <p:cNvSpPr/>
          <p:nvPr/>
        </p:nvSpPr>
        <p:spPr>
          <a:xfrm>
            <a:off x="457200" y="6126480"/>
            <a:ext cx="11274552" cy="371856"/>
          </a:xfrm>
          <a:prstGeom prst="rect">
            <a:avLst/>
          </a:prstGeom>
          <a:solidFill>
            <a:srgbClr val="FBEBEA"/>
          </a:solidFill>
          <a:ln/>
        </p:spPr>
      </p:sp>
      <p:sp>
        <p:nvSpPr>
          <p:cNvPr id="36" name="Text 26"/>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0.1 pts to 80.8%, behind 2025 in six of nine months. The target range is 78–80%.</a:t>
            </a:r>
            <a:endParaRPr lang="en-US" sz="16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Parts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Parts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customer-pay parts dollar we keep after the cost of the part.</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The pricing matrix raises gross without selling one more part.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Consistent pricing: the same part costs every customer the same.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CP parts pricing supports the warranty parts reimbursement rate.</a:t>
            </a:r>
            <a:endParaRPr lang="en-US" sz="1600" dirty="0"/>
          </a:p>
        </p:txBody>
      </p:sp>
      <p:sp>
        <p:nvSpPr>
          <p:cNvPr id="13" name="Shape 11"/>
          <p:cNvSpPr/>
          <p:nvPr/>
        </p:nvSpPr>
        <p:spPr>
          <a:xfrm>
            <a:off x="5138928" y="2843784"/>
            <a:ext cx="45720" cy="1121027"/>
          </a:xfrm>
          <a:prstGeom prst="rect">
            <a:avLst/>
          </a:prstGeom>
          <a:solidFill>
            <a:srgbClr val="2587C5"/>
          </a:solidFill>
          <a:ln/>
        </p:spPr>
      </p:sp>
      <p:sp>
        <p:nvSpPr>
          <p:cNvPr id="14" name="Text 12"/>
          <p:cNvSpPr txBox="1"/>
          <p:nvPr/>
        </p:nvSpPr>
        <p:spPr>
          <a:xfrm>
            <a:off x="5266944"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how it is set up, check parts actually sell at matrix prices, and review it against your gross goals</a:t>
            </a:r>
            <a:endParaRPr lang="en-US" sz="1400" dirty="0"/>
          </a:p>
        </p:txBody>
      </p:sp>
      <p:sp>
        <p:nvSpPr>
          <p:cNvPr id="15" name="Shape 13"/>
          <p:cNvSpPr/>
          <p:nvPr/>
        </p:nvSpPr>
        <p:spPr>
          <a:xfrm>
            <a:off x="8394192" y="2843784"/>
            <a:ext cx="45720" cy="1121027"/>
          </a:xfrm>
          <a:prstGeom prst="rect">
            <a:avLst/>
          </a:prstGeom>
          <a:solidFill>
            <a:srgbClr val="2587C5"/>
          </a:solidFill>
          <a:ln/>
        </p:spPr>
      </p:sp>
      <p:sp>
        <p:nvSpPr>
          <p:cNvPr id="16" name="Text 14"/>
          <p:cNvSpPr txBox="1"/>
          <p:nvPr/>
        </p:nvSpPr>
        <p:spPr>
          <a:xfrm>
            <a:off x="8522208"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 and overrides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discounts and manual price changes; keep safeguards in place</a:t>
            </a:r>
            <a:endParaRPr lang="en-US" sz="1400" dirty="0"/>
          </a:p>
        </p:txBody>
      </p:sp>
      <p:sp>
        <p:nvSpPr>
          <p:cNvPr id="17" name="Shape 15"/>
          <p:cNvSpPr/>
          <p:nvPr/>
        </p:nvSpPr>
        <p:spPr>
          <a:xfrm>
            <a:off x="5138928" y="4074539"/>
            <a:ext cx="45720" cy="801942"/>
          </a:xfrm>
          <a:prstGeom prst="rect">
            <a:avLst/>
          </a:prstGeom>
          <a:solidFill>
            <a:srgbClr val="2587C5"/>
          </a:solidFill>
          <a:ln/>
        </p:spPr>
      </p:sp>
      <p:sp>
        <p:nvSpPr>
          <p:cNvPr id="18" name="Text 16"/>
          <p:cNvSpPr txBox="1"/>
          <p:nvPr/>
        </p:nvSpPr>
        <p:spPr>
          <a:xfrm>
            <a:off x="5266944"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Stay competitive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Balance margin with price, especially on high-cost parts</a:t>
            </a:r>
            <a:endParaRPr lang="en-US" sz="1400" dirty="0"/>
          </a:p>
        </p:txBody>
      </p:sp>
      <p:sp>
        <p:nvSpPr>
          <p:cNvPr id="19" name="Shape 17"/>
          <p:cNvSpPr/>
          <p:nvPr/>
        </p:nvSpPr>
        <p:spPr>
          <a:xfrm>
            <a:off x="8394192" y="4074539"/>
            <a:ext cx="45720" cy="801942"/>
          </a:xfrm>
          <a:prstGeom prst="rect">
            <a:avLst/>
          </a:prstGeom>
          <a:solidFill>
            <a:srgbClr val="2587C5"/>
          </a:solidFill>
          <a:ln/>
        </p:spPr>
      </p:sp>
      <p:sp>
        <p:nvSpPr>
          <p:cNvPr id="20" name="Text 18"/>
          <p:cNvSpPr txBox="1"/>
          <p:nvPr/>
        </p:nvSpPr>
        <p:spPr>
          <a:xfrm>
            <a:off x="8522208"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Tires and competitive items carry thinner margins</a:t>
            </a:r>
            <a:endParaRPr lang="en-US" sz="1400" dirty="0"/>
          </a:p>
        </p:txBody>
      </p:sp>
      <p:sp>
        <p:nvSpPr>
          <p:cNvPr id="21" name="Shape 19"/>
          <p:cNvSpPr/>
          <p:nvPr/>
        </p:nvSpPr>
        <p:spPr>
          <a:xfrm>
            <a:off x="5138928" y="4986210"/>
            <a:ext cx="45720" cy="801942"/>
          </a:xfrm>
          <a:prstGeom prst="rect">
            <a:avLst/>
          </a:prstGeom>
          <a:solidFill>
            <a:srgbClr val="2587C5"/>
          </a:solidFill>
          <a:ln/>
        </p:spPr>
      </p:sp>
      <p:sp>
        <p:nvSpPr>
          <p:cNvPr id="22" name="Text 20"/>
          <p:cNvSpPr txBox="1"/>
          <p:nvPr/>
        </p:nvSpPr>
        <p:spPr>
          <a:xfrm>
            <a:off x="5266944"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Bundled maintenance parts priced to protect margin</a:t>
            </a:r>
            <a:endParaRPr lang="en-US" sz="1400" dirty="0"/>
          </a:p>
        </p:txBody>
      </p:sp>
      <p:sp>
        <p:nvSpPr>
          <p:cNvPr id="23" name="Shape 21"/>
          <p:cNvSpPr/>
          <p:nvPr/>
        </p:nvSpPr>
        <p:spPr>
          <a:xfrm>
            <a:off x="457200" y="6126480"/>
            <a:ext cx="11274552" cy="371856"/>
          </a:xfrm>
          <a:prstGeom prst="rect">
            <a:avLst/>
          </a:prstGeom>
          <a:solidFill>
            <a:srgbClr val="E6F6EE"/>
          </a:solidFill>
          <a:ln/>
        </p:spPr>
      </p:sp>
      <p:sp>
        <p:nvSpPr>
          <p:cNvPr id="24"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40.7% CP parts gross profit, up 1.2 pts and ahead of 2025 in all nine months.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