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01.xml" ContentType="application/vnd.openxmlformats-officedocument.presentationml.notesSlide+xml"/>
  <Override PartName="/ppt/notesSlides/notesSlide103.xml" ContentType="application/vnd.openxmlformats-officedocument.presentationml.notesSlide+xml"/>
  <Override PartName="/ppt/notesSlides/notesSlide105.xml" ContentType="application/vnd.openxmlformats-officedocument.presentationml.notesSlide+xml"/>
  <Override PartName="/ppt/notesSlides/notesSlide107.xml" ContentType="application/vnd.openxmlformats-officedocument.presentationml.notesSlide+xml"/>
  <Override PartName="/ppt/notesSlides/notesSlide109.xml" ContentType="application/vnd.openxmlformats-officedocument.presentationml.notesSlide+xml"/>
  <Override PartName="/ppt/notesSlides/notesSlide111.xml" ContentType="application/vnd.openxmlformats-officedocument.presentationml.notesSlide+xml"/>
  <Override PartName="/ppt/notesSlides/notesSlide113.xml" ContentType="application/vnd.openxmlformats-officedocument.presentationml.notesSlide+xml"/>
  <Override PartName="/ppt/notesSlides/notesSlide115.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8.xml" ContentType="application/vnd.openxmlformats-officedocument.presentationml.notesSlide+xml"/>
  <Override PartName="/ppt/notesSlides/notesSlide140.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7.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2.xml" ContentType="application/vnd.openxmlformats-officedocument.presentationml.slide+xml"/>
  <Override PartName="/ppt/slides/slide104.xml" ContentType="application/vnd.openxmlformats-officedocument.presentationml.slide+xml"/>
  <Override PartName="/ppt/slides/slide106.xml" ContentType="application/vnd.openxmlformats-officedocument.presentationml.slide+xml"/>
  <Override PartName="/ppt/slides/slide108.xml" ContentType="application/vnd.openxmlformats-officedocument.presentationml.slide+xml"/>
  <Override PartName="/ppt/slides/slide110.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35.xml" ContentType="application/vnd.openxmlformats-officedocument.presentationml.slide+xml"/>
  <Override PartName="/ppt/slides/slide137.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4.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4.xml" ContentType="application/vnd.openxmlformats-officedocument.presentationml.slide+xml"/>
  <Override PartName="/ppt/slides/slide96.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47" r:id="rId98"/>
    <p:sldId id="348" r:id="rId99"/>
    <p:sldId id="354" r:id="rId105"/>
    <p:sldId id="356" r:id="rId107"/>
    <p:sldId id="358" r:id="rId109"/>
    <p:sldId id="360" r:id="rId111"/>
    <p:sldId id="362" r:id="rId113"/>
    <p:sldId id="364" r:id="rId115"/>
    <p:sldId id="366" r:id="rId117"/>
    <p:sldId id="368" r:id="rId119"/>
    <p:sldId id="370" r:id="rId121"/>
    <p:sldId id="385" r:id="rId136"/>
    <p:sldId id="386" r:id="rId137"/>
    <p:sldId id="393" r:id="rId144"/>
    <p:sldId id="395" r:id="rId146"/>
    <p:sldId id="399" r:id="rId150"/>
    <p:sldId id="400" r:id="rId151"/>
    <p:sldId id="402" r:id="rId153"/>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98" Type="http://schemas.openxmlformats.org/officeDocument/2006/relationships/slide" Target="slides/slide87.xml"/><Relationship Id="rId99" Type="http://schemas.openxmlformats.org/officeDocument/2006/relationships/slide" Target="slides/slide88.xml"/><Relationship Id="rId105" Type="http://schemas.openxmlformats.org/officeDocument/2006/relationships/slide" Target="slides/slide94.xml"/><Relationship Id="rId107" Type="http://schemas.openxmlformats.org/officeDocument/2006/relationships/slide" Target="slides/slide96.xml"/><Relationship Id="rId109" Type="http://schemas.openxmlformats.org/officeDocument/2006/relationships/slide" Target="slides/slide98.xml"/><Relationship Id="rId111" Type="http://schemas.openxmlformats.org/officeDocument/2006/relationships/slide" Target="slides/slide100.xml"/><Relationship Id="rId113" Type="http://schemas.openxmlformats.org/officeDocument/2006/relationships/slide" Target="slides/slide102.xml"/><Relationship Id="rId115" Type="http://schemas.openxmlformats.org/officeDocument/2006/relationships/slide" Target="slides/slide104.xml"/><Relationship Id="rId117" Type="http://schemas.openxmlformats.org/officeDocument/2006/relationships/slide" Target="slides/slide106.xml"/><Relationship Id="rId119" Type="http://schemas.openxmlformats.org/officeDocument/2006/relationships/slide" Target="slides/slide108.xml"/><Relationship Id="rId121" Type="http://schemas.openxmlformats.org/officeDocument/2006/relationships/slide" Target="slides/slide110.xml"/><Relationship Id="rId136" Type="http://schemas.openxmlformats.org/officeDocument/2006/relationships/slide" Target="slides/slide127.xml"/><Relationship Id="rId137" Type="http://schemas.openxmlformats.org/officeDocument/2006/relationships/slide" Target="slides/slide128.xml"/><Relationship Id="rId144" Type="http://schemas.openxmlformats.org/officeDocument/2006/relationships/slide" Target="slides/slide135.xml"/><Relationship Id="rId146" Type="http://schemas.openxmlformats.org/officeDocument/2006/relationships/slide" Target="slides/slide137.xml"/><Relationship Id="rId150" Type="http://schemas.openxmlformats.org/officeDocument/2006/relationships/slide" Target="slides/slide141.xml"/><Relationship Id="rId151" Type="http://schemas.openxmlformats.org/officeDocument/2006/relationships/slide" Target="slides/slide142.xml"/><Relationship Id="rId153" Type="http://schemas.openxmlformats.org/officeDocument/2006/relationships/slide" Target="slides/slide144.xml"/></Relationships>
</file>

<file path=ppt/charts/_rels/chart81.xml.rels><?xml version='1.0' encoding='UTF-8' standalone='yes'?>
<Relationships xmlns="http://schemas.openxmlformats.org/package/2006/relationships"><Relationship Id="rId1" Type="http://schemas.openxmlformats.org/officeDocument/2006/relationships/package" Target="../embeddings/Microsoft_Excel_Worksheet81.xlsx"/></Relationships>
</file>

<file path=ppt/charts/_rels/chart82.xml.rels><?xml version='1.0' encoding='UTF-8' standalone='yes'?>
<Relationships xmlns="http://schemas.openxmlformats.org/package/2006/relationships"><Relationship Id="rId1" Type="http://schemas.openxmlformats.org/officeDocument/2006/relationships/package" Target="../embeddings/Microsoft_Excel_Worksheet82.xlsx"/></Relationships>
</file>

<file path=ppt/charts/_rels/chart83.xml.rels><?xml version='1.0' encoding='UTF-8' standalone='yes'?>
<Relationships xmlns="http://schemas.openxmlformats.org/package/2006/relationships"><Relationship Id="rId1" Type="http://schemas.openxmlformats.org/officeDocument/2006/relationships/package" Target="../embeddings/Microsoft_Excel_Worksheet83.xlsx"/></Relationships>
</file>

<file path=ppt/charts/_rels/chart84.xml.rels><?xml version='1.0' encoding='UTF-8' standalone='yes'?>
<Relationships xmlns="http://schemas.openxmlformats.org/package/2006/relationships"><Relationship Id="rId1" Type="http://schemas.openxmlformats.org/officeDocument/2006/relationships/package" Target="../embeddings/Microsoft_Excel_Worksheet84.xlsx"/></Relationships>
</file>

<file path=ppt/charts/_rels/chart85.xml.rels><?xml version='1.0' encoding='UTF-8' standalone='yes'?>
<Relationships xmlns="http://schemas.openxmlformats.org/package/2006/relationships"><Relationship Id="rId1" Type="http://schemas.openxmlformats.org/officeDocument/2006/relationships/package" Target="../embeddings/Microsoft_Excel_Worksheet85.xlsx"/></Relationships>
</file>

<file path=ppt/charts/_rels/chart86.xml.rels><?xml version='1.0' encoding='UTF-8' standalone='yes'?>
<Relationships xmlns="http://schemas.openxmlformats.org/package/2006/relationships"><Relationship Id="rId1" Type="http://schemas.openxmlformats.org/officeDocument/2006/relationships/package" Target="../embeddings/Microsoft_Excel_Worksheet86.xlsx"/></Relationships>
</file>

<file path=ppt/charts/_rels/chart87.xml.rels><?xml version='1.0' encoding='UTF-8' standalone='yes'?>
<Relationships xmlns="http://schemas.openxmlformats.org/package/2006/relationships"><Relationship Id="rId1" Type="http://schemas.openxmlformats.org/officeDocument/2006/relationships/package" Target="../embeddings/Microsoft_Excel_Worksheet87.xlsx"/></Relationships>
</file>

<file path=ppt/charts/_rels/chart88.xml.rels><?xml version='1.0' encoding='UTF-8' standalone='yes'?>
<Relationships xmlns="http://schemas.openxmlformats.org/package/2006/relationships"><Relationship Id="rId1" Type="http://schemas.openxmlformats.org/officeDocument/2006/relationships/package" Target="../embeddings/Microsoft_Excel_Worksheet88.xlsx"/></Relationships>
</file>

<file path=ppt/charts/_rels/chart89.xml.rels><?xml version='1.0' encoding='UTF-8' standalone='yes'?>
<Relationships xmlns="http://schemas.openxmlformats.org/package/2006/relationships"><Relationship Id="rId1" Type="http://schemas.openxmlformats.org/officeDocument/2006/relationships/package" Target="../embeddings/Microsoft_Excel_Worksheet89.xlsx"/></Relationships>
</file>

<file path=ppt/charts/_rels/chart90.xml.rels><?xml version='1.0' encoding='UTF-8' standalone='yes'?>
<Relationships xmlns="http://schemas.openxmlformats.org/package/2006/relationships"><Relationship Id="rId1" Type="http://schemas.openxmlformats.org/officeDocument/2006/relationships/package" Target="../embeddings/Microsoft_Excel_Worksheet90.xlsx"/></Relationships>
</file>

<file path=ppt/charts/_rels/chart91.xml.rels><?xml version='1.0' encoding='UTF-8' standalone='yes'?>
<Relationships xmlns="http://schemas.openxmlformats.org/package/2006/relationships"><Relationship Id="rId1" Type="http://schemas.openxmlformats.org/officeDocument/2006/relationships/package" Target="../embeddings/Microsoft_Excel_Worksheet91.xlsx"/></Relationships>
</file>

<file path=ppt/charts/_rels/chart92.xml.rels><?xml version='1.0' encoding='UTF-8' standalone='yes'?>
<Relationships xmlns="http://schemas.openxmlformats.org/package/2006/relationships"><Relationship Id="rId1" Type="http://schemas.openxmlformats.org/officeDocument/2006/relationships/package" Target="../embeddings/Microsoft_Excel_Worksheet92.xlsx"/></Relationships>
</file>

<file path=ppt/charts/_rels/chart93.xml.rels><?xml version='1.0' encoding='UTF-8' standalone='yes'?>
<Relationships xmlns="http://schemas.openxmlformats.org/package/2006/relationships"><Relationship Id="rId1" Type="http://schemas.openxmlformats.org/officeDocument/2006/relationships/package" Target="../embeddings/Microsoft_Excel_Worksheet93.xlsx"/></Relationships>
</file>

<file path=ppt/charts/_rels/chart94.xml.rels><?xml version='1.0' encoding='UTF-8' standalone='yes'?>
<Relationships xmlns="http://schemas.openxmlformats.org/package/2006/relationships"><Relationship Id="rId1" Type="http://schemas.openxmlformats.org/officeDocument/2006/relationships/package" Target="../embeddings/Microsoft_Excel_Worksheet94.xlsx"/></Relationships>
</file>

<file path=ppt/charts/_rels/chart95.xml.rels><?xml version='1.0' encoding='UTF-8' standalone='yes'?>
<Relationships xmlns="http://schemas.openxmlformats.org/package/2006/relationships"><Relationship Id="rId1" Type="http://schemas.openxmlformats.org/officeDocument/2006/relationships/package" Target="../embeddings/Microsoft_Excel_Worksheet95.xlsx"/></Relationships>
</file>

<file path=ppt/charts/_rels/chart96.xml.rels><?xml version='1.0' encoding='UTF-8' standalone='yes'?>
<Relationships xmlns="http://schemas.openxmlformats.org/package/2006/relationships"><Relationship Id="rId1" Type="http://schemas.openxmlformats.org/officeDocument/2006/relationships/package" Target="../embeddings/Microsoft_Excel_Worksheet96.xlsx"/></Relationships>
</file>

<file path=ppt/charts/_rels/chart97.xml.rels><?xml version='1.0' encoding='UTF-8' standalone='yes'?>
<Relationships xmlns="http://schemas.openxmlformats.org/package/2006/relationships"><Relationship Id="rId1" Type="http://schemas.openxmlformats.org/officeDocument/2006/relationships/package" Target="../embeddings/Microsoft_Excel_Worksheet97.xlsx"/></Relationships>
</file>

<file path=ppt/charts/_rels/chart98.xml.rels><?xml version='1.0' encoding='UTF-8' standalone='yes'?>
<Relationships xmlns="http://schemas.openxmlformats.org/package/2006/relationships"><Relationship Id="rId1" Type="http://schemas.openxmlformats.org/officeDocument/2006/relationships/package" Target="../embeddings/Microsoft_Excel_Worksheet98.xlsx"/></Relationships>
</file>

<file path=ppt/charts/_rels/chart99.xml.rels><?xml version='1.0' encoding='UTF-8' standalone='yes'?>
<Relationships xmlns="http://schemas.openxmlformats.org/package/2006/relationships"><Relationship Id="rId1" Type="http://schemas.openxmlformats.org/officeDocument/2006/relationships/package" Target="../embeddings/Microsoft_Excel_Worksheet99.xlsx"/></Relationships>
</file>

<file path=ppt/charts/_rels/chart100.xml.rels><?xml version='1.0' encoding='UTF-8' standalone='yes'?>
<Relationships xmlns="http://schemas.openxmlformats.org/package/2006/relationships"><Relationship Id="rId1" Type="http://schemas.openxmlformats.org/officeDocument/2006/relationships/package" Target="../embeddings/Microsoft_Excel_Worksheet100.xlsx"/></Relationships>
</file>

<file path=ppt/charts/_rels/chart101.xml.rels><?xml version='1.0' encoding='UTF-8' standalone='yes'?>
<Relationships xmlns="http://schemas.openxmlformats.org/package/2006/relationships"><Relationship Id="rId1" Type="http://schemas.openxmlformats.org/officeDocument/2006/relationships/package" Target="../embeddings/Microsoft_Excel_Worksheet101.xlsx"/></Relationships>
</file>

<file path=ppt/charts/_rels/chart102.xml.rels><?xml version='1.0' encoding='UTF-8' standalone='yes'?>
<Relationships xmlns="http://schemas.openxmlformats.org/package/2006/relationships"><Relationship Id="rId1" Type="http://schemas.openxmlformats.org/officeDocument/2006/relationships/package" Target="../embeddings/Microsoft_Excel_Worksheet102.xlsx"/></Relationships>
</file>

<file path=ppt/charts/_rels/chart103.xml.rels><?xml version='1.0' encoding='UTF-8' standalone='yes'?>
<Relationships xmlns="http://schemas.openxmlformats.org/package/2006/relationships"><Relationship Id="rId1" Type="http://schemas.openxmlformats.org/officeDocument/2006/relationships/package" Target="../embeddings/Microsoft_Excel_Worksheet103.xlsx"/></Relationships>
</file>

<file path=ppt/charts/_rels/chart104.xml.rels><?xml version='1.0' encoding='UTF-8' standalone='yes'?>
<Relationships xmlns="http://schemas.openxmlformats.org/package/2006/relationships"><Relationship Id="rId1" Type="http://schemas.openxmlformats.org/officeDocument/2006/relationships/package" Target="../embeddings/Microsoft_Excel_Worksheet104.xlsx"/></Relationships>
</file>

<file path=ppt/charts/chart8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12.2</c:v>
                </c:pt>
                <c:pt idx="1">
                  <c:v>13.3</c:v>
                </c:pt>
                <c:pt idx="2">
                  <c:v>13.4</c:v>
                </c:pt>
                <c:pt idx="3">
                  <c:v>14.2</c:v>
                </c:pt>
                <c:pt idx="4">
                  <c:v>13.6</c:v>
                </c:pt>
                <c:pt idx="5">
                  <c:v>13.5</c:v>
                </c:pt>
                <c:pt idx="6">
                  <c:v>13.3</c:v>
                </c:pt>
                <c:pt idx="7">
                  <c:v>13</c:v>
                </c:pt>
                <c:pt idx="8">
                  <c:v>13.1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12.2</c:v>
                </c:pt>
                <c:pt idx="1">
                  <c:v>13.3</c:v>
                </c:pt>
                <c:pt idx="2">
                  <c:v>13.4</c:v>
                </c:pt>
                <c:pt idx="3">
                  <c:v>14.2</c:v>
                </c:pt>
                <c:pt idx="4">
                  <c:v>13.6</c:v>
                </c:pt>
                <c:pt idx="5">
                  <c:v>13.5</c:v>
                </c:pt>
                <c:pt idx="6">
                  <c:v>13.3</c:v>
                </c:pt>
                <c:pt idx="7">
                  <c:v>13</c:v>
                </c:pt>
                <c:pt idx="8">
                  <c:v>13.1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12.1</c:v>
                </c:pt>
                <c:pt idx="10">
                  <c:v>12.3</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11.2</c:v>
                </c:pt>
                <c:pt idx="1">
                  <c:v>12.3</c:v>
                </c:pt>
                <c:pt idx="2">
                  <c:v>12.8</c:v>
                </c:pt>
                <c:pt idx="3">
                  <c:v>12.7</c:v>
                </c:pt>
                <c:pt idx="4">
                  <c:v>12.3</c:v>
                </c:pt>
                <c:pt idx="5">
                  <c:v>11.6</c:v>
                </c:pt>
                <c:pt idx="6">
                  <c:v>11.3</c:v>
                </c:pt>
                <c:pt idx="7">
                  <c:v>11.6</c:v>
                </c:pt>
                <c:pt idx="8">
                  <c:v>11.5</c:v>
                </c:pt>
                <c:pt idx="9">
                  <c:v/>
                </c:pt>
                <c:pt idx="10">
                  <c:v/>
                </c:pt>
                <c:pt idx="11">
                  <c:v>11.8</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bench0</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11.2</c:v>
                </c:pt>
                <c:pt idx="1">
                  <c:v>12.3</c:v>
                </c:pt>
                <c:pt idx="2">
                  <c:v>12.8</c:v>
                </c:pt>
                <c:pt idx="3">
                  <c:v>12.7</c:v>
                </c:pt>
                <c:pt idx="4">
                  <c:v>12.3</c:v>
                </c:pt>
                <c:pt idx="5">
                  <c:v>11.6</c:v>
                </c:pt>
                <c:pt idx="6">
                  <c:v>11.3</c:v>
                </c:pt>
                <c:pt idx="7">
                  <c:v>11.6</c:v>
                </c:pt>
                <c:pt idx="8">
                  <c:v>11.5</c:v>
                </c:pt>
                <c:pt idx="9">
                  <c:v>12.1</c:v>
                </c:pt>
                <c:pt idx="10">
                  <c:v>12.3</c:v>
                </c:pt>
                <c:pt idx="11">
                  <c:v>11.8</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7.6</c:v>
                </c:pt>
                <c:pt idx="1">
                  <c:v>8.4</c:v>
                </c:pt>
                <c:pt idx="2">
                  <c:v>8.7</c:v>
                </c:pt>
                <c:pt idx="3">
                  <c:v>8.8</c:v>
                </c:pt>
                <c:pt idx="4">
                  <c:v>8.6</c:v>
                </c:pt>
                <c:pt idx="5">
                  <c:v>8.5</c:v>
                </c:pt>
                <c:pt idx="6">
                  <c:v>8.3</c:v>
                </c:pt>
                <c:pt idx="7">
                  <c:v>8.5</c:v>
                </c:pt>
                <c:pt idx="8">
                  <c:v>8.1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7.6</c:v>
                </c:pt>
                <c:pt idx="1">
                  <c:v>8.4</c:v>
                </c:pt>
                <c:pt idx="2">
                  <c:v>8.7</c:v>
                </c:pt>
                <c:pt idx="3">
                  <c:v>8.8</c:v>
                </c:pt>
                <c:pt idx="4">
                  <c:v>8.6</c:v>
                </c:pt>
                <c:pt idx="5">
                  <c:v>8.5</c:v>
                </c:pt>
                <c:pt idx="6">
                  <c:v>8.3</c:v>
                </c:pt>
                <c:pt idx="7">
                  <c:v>8.5</c:v>
                </c:pt>
                <c:pt idx="8">
                  <c:v>8.1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
                </c:pt>
                <c:pt idx="10">
                  <c:v>6.8</c:v>
                </c:pt>
                <c:pt idx="11">
                  <c:v>6.8</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6.3</c:v>
                </c:pt>
                <c:pt idx="1">
                  <c:v>7.1</c:v>
                </c:pt>
                <c:pt idx="2">
                  <c:v>7.6</c:v>
                </c:pt>
                <c:pt idx="3">
                  <c:v>6.9</c:v>
                </c:pt>
                <c:pt idx="4">
                  <c:v>7.1</c:v>
                </c:pt>
                <c:pt idx="5">
                  <c:v>7</c:v>
                </c:pt>
                <c:pt idx="6">
                  <c:v>6.9</c:v>
                </c:pt>
                <c:pt idx="7">
                  <c:v>7</c:v>
                </c:pt>
                <c:pt idx="8">
                  <c:v>6.7</c:v>
                </c:pt>
                <c:pt idx="9">
                  <c:v>6.6</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bench0</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6.3</c:v>
                </c:pt>
                <c:pt idx="1">
                  <c:v>7.1</c:v>
                </c:pt>
                <c:pt idx="2">
                  <c:v>7.6</c:v>
                </c:pt>
                <c:pt idx="3">
                  <c:v>6.9</c:v>
                </c:pt>
                <c:pt idx="4">
                  <c:v>7.1</c:v>
                </c:pt>
                <c:pt idx="5">
                  <c:v>7</c:v>
                </c:pt>
                <c:pt idx="6">
                  <c:v>6.9</c:v>
                </c:pt>
                <c:pt idx="7">
                  <c:v>7</c:v>
                </c:pt>
                <c:pt idx="8">
                  <c:v>6.7</c:v>
                </c:pt>
                <c:pt idx="9">
                  <c:v>6.6</c:v>
                </c:pt>
                <c:pt idx="10">
                  <c:v>6.8</c:v>
                </c:pt>
                <c:pt idx="11">
                  <c:v>6.8</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8.5</c:v>
                </c:pt>
                <c:pt idx="1">
                  <c:v>9</c:v>
                </c:pt>
                <c:pt idx="2">
                  <c:v>9.8</c:v>
                </c:pt>
                <c:pt idx="3">
                  <c:v>9.9</c:v>
                </c:pt>
                <c:pt idx="4">
                  <c:v>9.8</c:v>
                </c:pt>
                <c:pt idx="5">
                  <c:v>9.4</c:v>
                </c:pt>
                <c:pt idx="6">
                  <c:v>9</c:v>
                </c:pt>
                <c:pt idx="7">
                  <c:v>8.9</c:v>
                </c:pt>
                <c:pt idx="8">
                  <c:v>9.3</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8.5</c:v>
                </c:pt>
                <c:pt idx="1">
                  <c:v>9</c:v>
                </c:pt>
                <c:pt idx="2">
                  <c:v>9.8</c:v>
                </c:pt>
                <c:pt idx="3">
                  <c:v>9.9</c:v>
                </c:pt>
                <c:pt idx="4">
                  <c:v>9.8</c:v>
                </c:pt>
                <c:pt idx="5">
                  <c:v>9.4</c:v>
                </c:pt>
                <c:pt idx="6">
                  <c:v>9</c:v>
                </c:pt>
                <c:pt idx="7">
                  <c:v>8.9</c:v>
                </c:pt>
                <c:pt idx="8">
                  <c:v>9.3</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7.5</c:v>
                </c:pt>
                <c:pt idx="10">
                  <c:v>7.5</c:v>
                </c:pt>
                <c:pt idx="11">
                  <c:v>7.5</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7.4</c:v>
                </c:pt>
                <c:pt idx="1">
                  <c:v>7.9</c:v>
                </c:pt>
                <c:pt idx="2">
                  <c:v>8.2</c:v>
                </c:pt>
                <c:pt idx="3">
                  <c:v>8.1</c:v>
                </c:pt>
                <c:pt idx="4">
                  <c:v>8.2</c:v>
                </c:pt>
                <c:pt idx="5">
                  <c:v>8</c:v>
                </c:pt>
                <c:pt idx="6">
                  <c:v>7.8</c:v>
                </c:pt>
                <c:pt idx="7">
                  <c:v>8.1</c:v>
                </c:pt>
                <c:pt idx="8">
                  <c:v>7.5</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bench0</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7.4</c:v>
                </c:pt>
                <c:pt idx="1">
                  <c:v>7.9</c:v>
                </c:pt>
                <c:pt idx="2">
                  <c:v>8.2</c:v>
                </c:pt>
                <c:pt idx="3">
                  <c:v>8.1</c:v>
                </c:pt>
                <c:pt idx="4">
                  <c:v>8.2</c:v>
                </c:pt>
                <c:pt idx="5">
                  <c:v>8</c:v>
                </c:pt>
                <c:pt idx="6">
                  <c:v>7.8</c:v>
                </c:pt>
                <c:pt idx="7">
                  <c:v>8.1</c:v>
                </c:pt>
                <c:pt idx="8">
                  <c:v>7.5</c:v>
                </c:pt>
                <c:pt idx="9">
                  <c:v>7.5</c:v>
                </c:pt>
                <c:pt idx="10">
                  <c:v>7.5</c:v>
                </c:pt>
                <c:pt idx="11">
                  <c:v>7.5</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5.4</c:v>
                </c:pt>
                <c:pt idx="1">
                  <c:v>5.8</c:v>
                </c:pt>
                <c:pt idx="2">
                  <c:v>6.2</c:v>
                </c:pt>
                <c:pt idx="3">
                  <c:v>6</c:v>
                </c:pt>
                <c:pt idx="4">
                  <c:v>6.3</c:v>
                </c:pt>
                <c:pt idx="5">
                  <c:v>5.9</c:v>
                </c:pt>
                <c:pt idx="6">
                  <c:v>5.6</c:v>
                </c:pt>
                <c:pt idx="7">
                  <c:v>5.3</c:v>
                </c:pt>
                <c:pt idx="8">
                  <c:v>5.8</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1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5.4</c:v>
                </c:pt>
                <c:pt idx="1">
                  <c:v>5.8</c:v>
                </c:pt>
                <c:pt idx="2">
                  <c:v>6.2</c:v>
                </c:pt>
                <c:pt idx="3">
                  <c:v>6</c:v>
                </c:pt>
                <c:pt idx="4">
                  <c:v>6.3</c:v>
                </c:pt>
                <c:pt idx="5">
                  <c:v>5.9</c:v>
                </c:pt>
                <c:pt idx="6">
                  <c:v>5.6</c:v>
                </c:pt>
                <c:pt idx="7">
                  <c:v>5.3</c:v>
                </c:pt>
                <c:pt idx="8">
                  <c:v>5.8</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
                </c:pt>
                <c:pt idx="10">
                  <c:v>4.8</c:v>
                </c:pt>
                <c:pt idx="11">
                  <c:v>4.9</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3.9</c:v>
                </c:pt>
                <c:pt idx="1">
                  <c:v>4.6</c:v>
                </c:pt>
                <c:pt idx="2">
                  <c:v>4.9</c:v>
                </c:pt>
                <c:pt idx="3">
                  <c:v>4.9</c:v>
                </c:pt>
                <c:pt idx="4">
                  <c:v>4.6</c:v>
                </c:pt>
                <c:pt idx="5">
                  <c:v>4.7</c:v>
                </c:pt>
                <c:pt idx="6">
                  <c:v>4.3</c:v>
                </c:pt>
                <c:pt idx="7">
                  <c:v>4.7</c:v>
                </c:pt>
                <c:pt idx="8">
                  <c:v>4.5</c:v>
                </c:pt>
                <c:pt idx="9">
                  <c:v>4.6</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bench0</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7.5</c:v>
                </c:pt>
                <c:pt idx="1">
                  <c:v>7.5</c:v>
                </c:pt>
                <c:pt idx="2">
                  <c:v>7.5</c:v>
                </c:pt>
                <c:pt idx="3">
                  <c:v>7.5</c:v>
                </c:pt>
                <c:pt idx="4">
                  <c:v>7.5</c:v>
                </c:pt>
                <c:pt idx="5">
                  <c:v>7.5</c:v>
                </c:pt>
                <c:pt idx="6">
                  <c:v>7.5</c:v>
                </c:pt>
                <c:pt idx="7">
                  <c:v>7.5</c:v>
                </c:pt>
                <c:pt idx="8">
                  <c:v>7.5</c:v>
                </c:pt>
                <c:pt idx="9">
                  <c:v>7.5</c:v>
                </c:pt>
                <c:pt idx="10">
                  <c:v>7.5</c:v>
                </c:pt>
                <c:pt idx="11">
                  <c:v>7.5</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3.9</c:v>
                </c:pt>
                <c:pt idx="1">
                  <c:v>4.6</c:v>
                </c:pt>
                <c:pt idx="2">
                  <c:v>4.9</c:v>
                </c:pt>
                <c:pt idx="3">
                  <c:v>4.9</c:v>
                </c:pt>
                <c:pt idx="4">
                  <c:v>4.6</c:v>
                </c:pt>
                <c:pt idx="5">
                  <c:v>4.7</c:v>
                </c:pt>
                <c:pt idx="6">
                  <c:v>4.3</c:v>
                </c:pt>
                <c:pt idx="7">
                  <c:v>4.7</c:v>
                </c:pt>
                <c:pt idx="8">
                  <c:v>4.5</c:v>
                </c:pt>
                <c:pt idx="9">
                  <c:v>4.6</c:v>
                </c:pt>
                <c:pt idx="10">
                  <c:v>4.8</c:v>
                </c:pt>
                <c:pt idx="11">
                  <c:v>4.9</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Opcodes section, after the section break and before Alignment %.</a:t>
            </a:r>
          </a:p>
          <a:p>
            <a:r>
              <a:t>Said: Roundtable slides 11, 12, 14 (Road to the Sale, Maintenance Menus, MPI Mandate); Jan GM slide 15 / May GM slide 11 (Road to the Sale). Fuel service is 5.8% vs 7.5% (4,731 short).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Opcode Benchmarks, after Road to the Sale and ahead of MPI Completion % (Noah, Oct 23: maintenance visits and a complete MPI go hand in hand).</a:t>
            </a:r>
          </a:p>
          <a:p>
            <a:r>
              <a:t>Talk track (Noah, Oct 25): go to the dentist for a quick cleaning and they don't tell you something is starting to look like a cavity: that is a disservice. Get cars in quickly, perform a complete, comprehensive MPI, and make the proper recommendations at that time. This is critical, and it can't be left to entry-level employees alone: someone with experience who knows what to look for has to be looking at these cars. Depending on work mix, maintenance can be 25% to 75% of a store's service. Many stores focus on getting more cars in the door, which is great, and we want both, but they miss the opportunities they already have. Processes and policies make sure we capitalize on them: every car, every time.</a:t>
            </a:r>
          </a:p>
          <a:p>
            <a:r>
              <a:t>The 52.5% customer-pay share of labor sale tile was dropped with the rewrite.</a:t>
            </a:r>
          </a:p>
          <a:p>
            <a:r>
              <a:t>Said: Jan GM slide 8 / May GM slide 7 (Express Service), reworded.</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month. Same-store, INEOS excluded (opened 2026). GMC Prescott body shop labor excluded. ALIGNMENT % = alignment ROs ÷ customer-pay ROs on the op-code report basis. YTD from YTD totals, not the mean of months.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 year = Jan-Sep x 12 / 9. Stores at or above the benchmark are not shown and do not offset anyone. Alignment: every store, gross a year above (+) or below (-) the benchmark at the store's own gross per service; group gross per service $129. Rate = Jan-Sep closing %.Near-zero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TOYOTA SPOKANE: 4.2%, −$225K a year at $90/service</a:t>
            </a:r>
          </a:p>
          <a:p>
            <a:r>
              <a:t>TOYOTA FLAGSTAFF: 9.7%, −$90K a year at $84/service</a:t>
            </a:r>
          </a:p>
          <a:p>
            <a:r>
              <a:t>NISSAN: 7.4%, −$83K a year at $119/service</a:t>
            </a:r>
          </a:p>
          <a:p>
            <a:r>
              <a:t>KIA LV: 9.7%, −$77K a year at $135/service</a:t>
            </a:r>
          </a:p>
          <a:p>
            <a:r>
              <a:t>CHEVY LV: 12.8%, −$75K a year at $136/service</a:t>
            </a:r>
          </a:p>
          <a:p>
            <a:r>
              <a:t>CDJR POST FALLS: 4.2%, −$57K a year at $74/service</a:t>
            </a:r>
          </a:p>
          <a:p>
            <a:r>
              <a:t>TOYOTA PRESCOTT: 12.3%, −$49K a year at $103/service</a:t>
            </a:r>
          </a:p>
          <a:p>
            <a:r>
              <a:t>KIA ST GEORGE: 8.0%, −$38K a year at $105/service</a:t>
            </a:r>
          </a:p>
          <a:p>
            <a:r>
              <a:t>HONDA SPOKANE: 12.5%, −$36K a year at $124/service</a:t>
            </a:r>
          </a:p>
          <a:p>
            <a:r>
              <a:t>AUDI RENO: 11.8%, −$34K a year at $230/service</a:t>
            </a:r>
          </a:p>
          <a:p>
            <a:r>
              <a:t>TOYOTA HENDERSON: 14.5%, −$33K a year at $102/service</a:t>
            </a:r>
          </a:p>
          <a:p>
            <a:r>
              <a:t>LEXUS: 11.3%, −$33K a year at $147/service</a:t>
            </a:r>
          </a:p>
          <a:p>
            <a:r>
              <a:t>LINCOLN: 8.4%, −$26K a year at $114/service</a:t>
            </a:r>
          </a:p>
          <a:p>
            <a:r>
              <a:t>CHEVY GMC BULLHEAD: 11.1%, −$25K a year at $78/service</a:t>
            </a:r>
          </a:p>
          <a:p>
            <a:r>
              <a:t>VW HENDERSON: 13.6%, −$23K a year at $245/service</a:t>
            </a:r>
          </a:p>
          <a:p>
            <a:r>
              <a:t>SUBARU ST GEORGE: 11.0%, −$23K a year at $78/service</a:t>
            </a:r>
          </a:p>
          <a:p>
            <a:r>
              <a:t>HONDA FLAGSTAFF: 11.0%, −$21K a year at $100/service</a:t>
            </a:r>
          </a:p>
          <a:p>
            <a:r>
              <a:t>VW ST GEORGE: 5.6%, −$18K a year at $74/service</a:t>
            </a:r>
          </a:p>
          <a:p>
            <a:r>
              <a:t>SUBARU PRESCOTT: 12.5%, −$12K a year at $73/service</a:t>
            </a:r>
          </a:p>
          <a:p>
            <a:r>
              <a:t>GMC PRESCOTT: 11.7%, −$11K a year at $85/service</a:t>
            </a:r>
          </a:p>
          <a:p>
            <a:r>
              <a:t>LR RENO: 12.8%, −$10K a year at $259/service (capped; raw $715/service)</a:t>
            </a:r>
          </a:p>
          <a:p>
            <a:r>
              <a:t>SUBARU LV: 14.5%, −$10K a year at $117/service</a:t>
            </a:r>
          </a:p>
          <a:p>
            <a:r>
              <a:t>CADILLAC: 13.8%, −$9K a year at $115/service</a:t>
            </a:r>
          </a:p>
          <a:p>
            <a:r>
              <a:t>VOLVO: 13.8%, −$7K a year at $142/service</a:t>
            </a:r>
          </a:p>
          <a:p>
            <a:r>
              <a:t>HYUNDAI ST GEORGE: 14.8%, −$865 a year at $121/service</a:t>
            </a:r>
          </a:p>
          <a:p>
            <a:r>
              <a:t>ACURA: 17.5%, +$14K a year at $117/service</a:t>
            </a:r>
          </a:p>
          <a:p>
            <a:r>
              <a:t>MAZDA: 16.6%, +$17K a year at $132/service</a:t>
            </a:r>
          </a:p>
          <a:p>
            <a:r>
              <a:t>LR LV: 17.3%, +$23K a year at $210/service</a:t>
            </a:r>
          </a:p>
          <a:p>
            <a:r>
              <a:t>HONDA NORTH: 16.1%, +$27K a year at $112/service</a:t>
            </a:r>
          </a:p>
          <a:p>
            <a:r>
              <a:t>LR HENDERSON: 24.4%, +$41K a year at $209/service</a:t>
            </a:r>
          </a:p>
          <a:p>
            <a:r>
              <a:t>HYUNDAI PRESCOTT: 21.7%, +$42K a year at $228/service</a:t>
            </a:r>
          </a:p>
          <a:p>
            <a:r>
              <a:t>AUDI HENDERSON: 27.5%, +$163K a year at $259/service (capped; raw $390/service)</a:t>
            </a:r>
          </a:p>
          <a:p>
            <a:r>
              <a:t>HONDA HENDERSON: 21.3%, +$229K a year at $121/service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month. Same-store, INEOS excluded (opened 2026). GMC Prescott body shop labor excluded. BALANCE % = balance ROs ÷ customer-pay ROs on the op-code report basis. YTD from YTD totals, not the mean of months.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 year = Jan-Sep x 12 / 9. Stores at or above the benchmark are not shown and do not offset anyone. Tire Balance: every store, gross a year above (+) or below (-) the benchmark at the store's own gross per service; group gross per service $75. Rate = Jan-Sep closing %.Near-zero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TOYOTA SPOKANE: 0.4%, −$180K a year at $53/service</a:t>
            </a:r>
          </a:p>
          <a:p>
            <a:r>
              <a:t>TOYOTA HENDERSON: 11.2%, −$147K a year at $55/service</a:t>
            </a:r>
          </a:p>
          <a:p>
            <a:r>
              <a:t>TOYOTA PRESCOTT: 6.1%, −$132K a year at $83/service</a:t>
            </a:r>
          </a:p>
          <a:p>
            <a:r>
              <a:t>SUBARU ST GEORGE: 3.6%, −$125K a year at $149/service (capped; raw $247/service)</a:t>
            </a:r>
          </a:p>
          <a:p>
            <a:r>
              <a:t>TOYOTA FLAGSTAFF: 4.9%, −$109K a year at $54/service</a:t>
            </a:r>
          </a:p>
          <a:p>
            <a:r>
              <a:t>CHEVY LV: 7.3%, −$106K a year at $53/service</a:t>
            </a:r>
          </a:p>
          <a:p>
            <a:r>
              <a:t>HONDA SPOKANE: 2.1%, −$80K a year at $52/service</a:t>
            </a:r>
          </a:p>
          <a:p>
            <a:r>
              <a:t>NISSAN: 1.0%, −$77K a year at $59/service</a:t>
            </a:r>
          </a:p>
          <a:p>
            <a:r>
              <a:t>CDJR POST FALLS: 1.2%, −$73K a year at $75/service</a:t>
            </a:r>
          </a:p>
          <a:p>
            <a:r>
              <a:t>KIA LV: 5.2%, −$72K a year at $68/service</a:t>
            </a:r>
          </a:p>
          <a:p>
            <a:r>
              <a:t>LEXUS: 0.0%, −$68K a year at $75/service (group avg)</a:t>
            </a:r>
          </a:p>
          <a:p>
            <a:r>
              <a:t>SUBARU LV: 10.2%, −$68K a year at $75/service</a:t>
            </a:r>
          </a:p>
          <a:p>
            <a:r>
              <a:t>AUDI HENDERSON: 0.0%, −$56K a year at $75/service (group avg)</a:t>
            </a:r>
          </a:p>
          <a:p>
            <a:r>
              <a:t>AUDI RENO: 0.1%, −$52K a year at $75/service (group avg)</a:t>
            </a:r>
          </a:p>
          <a:p>
            <a:r>
              <a:t>HONDA FLAGSTAFF: 1.3%, −$52K a year at $70/service</a:t>
            </a:r>
          </a:p>
          <a:p>
            <a:r>
              <a:t>HONDA NORTH: 12.0%, −$38K a year at $64/service</a:t>
            </a:r>
          </a:p>
          <a:p>
            <a:r>
              <a:t>HYUNDAI ST GEORGE: 1.2%, −$36K a year at $58/service</a:t>
            </a:r>
          </a:p>
          <a:p>
            <a:r>
              <a:t>LINCOLN: 1.6%, −$31K a year at $66/service</a:t>
            </a:r>
          </a:p>
          <a:p>
            <a:r>
              <a:t>VW ST GEORGE: 0.4%, −$28K a year at $75/service (group avg)</a:t>
            </a:r>
          </a:p>
          <a:p>
            <a:r>
              <a:t>VW HENDERSON: 8.2%, −$27K a year at $60/service</a:t>
            </a:r>
          </a:p>
          <a:p>
            <a:r>
              <a:t>GMC PRESCOTT: 7.7%, −$27K a year at $90/service</a:t>
            </a:r>
          </a:p>
          <a:p>
            <a:r>
              <a:t>CHEVY GMC BULLHEAD: 9.0%, −$21K a year at $42/service</a:t>
            </a:r>
          </a:p>
          <a:p>
            <a:r>
              <a:t>KIA ST GEORGE: 7.7%, −$18K a year at $48/service</a:t>
            </a:r>
          </a:p>
          <a:p>
            <a:r>
              <a:t>CADILLAC: 5.9%, −$14K a year at $22/service</a:t>
            </a:r>
          </a:p>
          <a:p>
            <a:r>
              <a:t>MAZDA: 13.1%, −$11K a year at $79/service</a:t>
            </a:r>
          </a:p>
          <a:p>
            <a:r>
              <a:t>VOLVO: 11.7%, −$8K a year at $51/service</a:t>
            </a:r>
          </a:p>
          <a:p>
            <a:r>
              <a:t>HYUNDAI PRESCOTT: 13.5%, −$6K a year at $149/service (capped; raw $311/service)</a:t>
            </a:r>
          </a:p>
          <a:p>
            <a:r>
              <a:t>ACURA: 14.1%, −$3K a year at $64/service</a:t>
            </a:r>
          </a:p>
          <a:p>
            <a:r>
              <a:t>SUBARU PRESCOTT: 14.9%, −$34 a year at $34/service</a:t>
            </a:r>
          </a:p>
          <a:p>
            <a:r>
              <a:t>LR RENO: 16.9%, +$6K a year at $149/service (capped; raw $647/service)</a:t>
            </a:r>
          </a:p>
          <a:p>
            <a:r>
              <a:t>LR LV: 16.9%, +$14K a year at $149/service</a:t>
            </a:r>
          </a:p>
          <a:p>
            <a:r>
              <a:t>LR HENDERSON: 27.0%, +$31K a year at $122/service</a:t>
            </a:r>
          </a:p>
          <a:p>
            <a:r>
              <a:t>HONDA HENDERSON: 18.4%, +$70K a year at $68/service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month. Same-store, INEOS excluded (opened 2026). GMC Prescott body shop labor excluded. BRAKE FLUID % = brake fluid service ROs ÷ customer-pay ROs on the op-code report basis. YTD from YTD totals, not the mean of months.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 year = Jan-Sep x 12 / 9. Stores at or above the benchmark are not shown and do not offset anyone. Brake Fluid: every store, gross a year above (+) or below (-) the benchmark at the store's own gross per service; group gross per service $189. Rate = Jan-Sep closing %.Near-zero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CHEVY LV: 5.7%, −$151K a year at $138/service</a:t>
            </a:r>
          </a:p>
          <a:p>
            <a:r>
              <a:t>TOYOTA SPOKANE: 7.0%, −$80K a year at $117/service</a:t>
            </a:r>
          </a:p>
          <a:p>
            <a:r>
              <a:t>AUDI RENO: 1.9%, −$78K a year at $206/service</a:t>
            </a:r>
          </a:p>
          <a:p>
            <a:r>
              <a:t>AUDI HENDERSON: 2.4%, −$74K a year at $196/service</a:t>
            </a:r>
          </a:p>
          <a:p>
            <a:r>
              <a:t>HONDA FLAGSTAFF: 3.1%, −$67K a year at $184/service</a:t>
            </a:r>
          </a:p>
          <a:p>
            <a:r>
              <a:t>CADILLAC: 4.6%, −$57K a year at $150/service</a:t>
            </a:r>
          </a:p>
          <a:p>
            <a:r>
              <a:t>CDJR POST FALLS: 4.2%, −$53K a year at $128/service</a:t>
            </a:r>
          </a:p>
          <a:p>
            <a:r>
              <a:t>TOYOTA FLAGSTAFF: 8.0%, −$48K a year at $123/service</a:t>
            </a:r>
          </a:p>
          <a:p>
            <a:r>
              <a:t>TOYOTA PRESCOTT: 8.4%, −$32K a year at $112/service</a:t>
            </a:r>
          </a:p>
          <a:p>
            <a:r>
              <a:t>HYUNDAI ST GEORGE: 4.7%, −$32K a year at $134/service</a:t>
            </a:r>
          </a:p>
          <a:p>
            <a:r>
              <a:t>KIA ST GEORGE: 5.9%, −$25K a year at $119/service</a:t>
            </a:r>
          </a:p>
          <a:p>
            <a:r>
              <a:t>KIA LV: 8.2%, −$22K a year at $120/service</a:t>
            </a:r>
          </a:p>
          <a:p>
            <a:r>
              <a:t>CHEVY GMC BULLHEAD: 7.0%, −$21K a year at $87/service</a:t>
            </a:r>
          </a:p>
          <a:p>
            <a:r>
              <a:t>GMC PRESCOTT: 6.0%, −$21K a year at $127/service</a:t>
            </a:r>
          </a:p>
          <a:p>
            <a:r>
              <a:t>LR RENO: 7.2%, −$20K a year at $377/service (capped; raw $1,380/service)</a:t>
            </a:r>
          </a:p>
          <a:p>
            <a:r>
              <a:t>MAZDA: 8.4%, −$18K a year at $154/service</a:t>
            </a:r>
          </a:p>
          <a:p>
            <a:r>
              <a:t>LEXUS: 8.3%, −$15K a year at $154/service</a:t>
            </a:r>
          </a:p>
          <a:p>
            <a:r>
              <a:t>VW ST GEORGE: 5.4%, −$13K a year at $111/service</a:t>
            </a:r>
          </a:p>
          <a:p>
            <a:r>
              <a:t>LINCOLN: 7.5%, −$11K a year at $126/service</a:t>
            </a:r>
          </a:p>
          <a:p>
            <a:r>
              <a:t>VW HENDERSON: 9.5%, −$4K a year at $134/service</a:t>
            </a:r>
          </a:p>
          <a:p>
            <a:r>
              <a:t>HYUNDAI PRESCOTT: 9.6%, −$3K a year at $354/service</a:t>
            </a:r>
          </a:p>
          <a:p>
            <a:r>
              <a:t>HONDA SPOKANE: 10.3%, +$5K a year at $126/service</a:t>
            </a:r>
          </a:p>
          <a:p>
            <a:r>
              <a:t>TOYOTA HENDERSON: 10.0%, +$7K a year at $141/service</a:t>
            </a:r>
          </a:p>
          <a:p>
            <a:r>
              <a:t>SUBARU LV: 10.1%, +$9K a year at $333/service</a:t>
            </a:r>
          </a:p>
          <a:p>
            <a:r>
              <a:t>SUBARU PRESCOTT: 10.6%, +$16K a year at $377/service (capped; raw $380/service)</a:t>
            </a:r>
          </a:p>
          <a:p>
            <a:r>
              <a:t>ACURA: 12.7%, +$20K a year at $147/service</a:t>
            </a:r>
          </a:p>
          <a:p>
            <a:r>
              <a:t>SUBARU ST GEORGE: 10.7%, +$21K a year at $377/service (capped; raw $489/service)</a:t>
            </a:r>
          </a:p>
          <a:p>
            <a:r>
              <a:t>NISSAN: 11.6%, +$24K a year at $155/service</a:t>
            </a:r>
          </a:p>
          <a:p>
            <a:r>
              <a:t>VOLVO: 11.9%, +$33K a year at $377/service (capped; raw $538/service)</a:t>
            </a:r>
          </a:p>
          <a:p>
            <a:r>
              <a:t>LR HENDERSON: 14.3%, +$34K a year at $377/service (capped; raw $709/service)</a:t>
            </a:r>
          </a:p>
          <a:p>
            <a:r>
              <a:t>HONDA NORTH: 12.1%, +$67K a year at $160/service</a:t>
            </a:r>
          </a:p>
          <a:p>
            <a:r>
              <a:t>LR LV: 20.6%, +$187K a year at $377/service (capped; raw $424/service)</a:t>
            </a:r>
          </a:p>
          <a:p>
            <a:r>
              <a:t>HONDA HENDERSON: 15.5%, +$260K a year at $155/service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month. Same-store, INEOS excluded (opened 2026). GMC Prescott body shop labor excluded. FUEL SERVICE % = fuel service ROs ÷ customer-pay ROs on the op-code report basis. YTD from YTD totals, not the mean of months.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 year = Jan-Sep x 12 / 9. Stores at or above the benchmark are not shown and do not offset anyone. Fuel System Service: every store, gross a year above (+) or below (-) the benchmark at the store's own gross per service; group gross per service $165. Rate = Jan-Sep closing %.Near-zero stores are included on purpose (Noah, Oct 19 2026): some stores sell little of a service by OEM recommendation or local habit (e.g. Spokane customers swap seasonal tires, so fewer balances), but not every customer fits that pattern, so the opportunity is real. A store with a high RO count can show more opportunity than one selling at zero.</a:t>
            </a:r>
          </a:p>
          <a:p>
            <a:r>
              <a:t>CHEVY LV: 5.2%, −$142K a year at $243/service</a:t>
            </a:r>
          </a:p>
          <a:p>
            <a:r>
              <a:t>TOYOTA HENDERSON: 6.0%, −$129K a year at $122/service</a:t>
            </a:r>
          </a:p>
          <a:p>
            <a:r>
              <a:t>TOYOTA FLAGSTAFF: 1.6%, −$109K a year at $93/service</a:t>
            </a:r>
          </a:p>
          <a:p>
            <a:r>
              <a:t>VW HENDERSON: 0.0%, −$85K a year at $165/service (group avg)</a:t>
            </a:r>
          </a:p>
          <a:p>
            <a:r>
              <a:t>KIA LV: 3.2%, −$76K a year at $163/service</a:t>
            </a:r>
          </a:p>
          <a:p>
            <a:r>
              <a:t>HONDA SPOKANE: 3.2%, −$75K a year at $147/service</a:t>
            </a:r>
          </a:p>
          <a:p>
            <a:r>
              <a:t>CHEVY GMC BULLHEAD: 2.7%, −$65K a year at $163/service</a:t>
            </a:r>
          </a:p>
          <a:p>
            <a:r>
              <a:t>NISSAN: 4.1%, −$64K a year at $206/service</a:t>
            </a:r>
          </a:p>
          <a:p>
            <a:r>
              <a:t>AUDI HENDERSON: 0.0%, −$62K a year at $165/service (group avg)</a:t>
            </a:r>
          </a:p>
          <a:p>
            <a:r>
              <a:t>CDJR POST FALLS: 3.0%, −$62K a year at $192/service</a:t>
            </a:r>
          </a:p>
          <a:p>
            <a:r>
              <a:t>HONDA FLAGSTAFF: 0.7%, −$60K a year at $165/service (group avg)</a:t>
            </a:r>
          </a:p>
          <a:p>
            <a:r>
              <a:t>TOYOTA SPOKANE: 5.8%, −$56K a year at $145/service</a:t>
            </a:r>
          </a:p>
          <a:p>
            <a:r>
              <a:t>VOLVO: 0.0%, −$56K a year at $165/service (group avg)</a:t>
            </a:r>
          </a:p>
          <a:p>
            <a:r>
              <a:t>AUDI RENO: 0.8%, −$51K a year at $165/service (group avg)</a:t>
            </a:r>
          </a:p>
          <a:p>
            <a:r>
              <a:t>CADILLAC: 5.1%, −$46K a year at $269/service</a:t>
            </a:r>
          </a:p>
          <a:p>
            <a:r>
              <a:t>LR HENDERSON: 2.5%, −$34K a year at $329/service (capped; raw $774/service)</a:t>
            </a:r>
          </a:p>
          <a:p>
            <a:r>
              <a:t>VW ST GEORGE: 2.7%, −$29K a year at $236/service</a:t>
            </a:r>
          </a:p>
          <a:p>
            <a:r>
              <a:t>MAZDA: 5.2%, −$26K a year at $150/service</a:t>
            </a:r>
          </a:p>
          <a:p>
            <a:r>
              <a:t>LEXUS: 4.2%, −$25K a year at $128/service</a:t>
            </a:r>
          </a:p>
          <a:p>
            <a:r>
              <a:t>LR LV: 5.5%, −$24K a year at $258/service</a:t>
            </a:r>
          </a:p>
          <a:p>
            <a:r>
              <a:t>GMC PRESCOTT: 3.6%, −$21K a year at $133/service</a:t>
            </a:r>
          </a:p>
          <a:p>
            <a:r>
              <a:t>TOYOTA PRESCOTT: 6.4%, −$19K a year at $101/service</a:t>
            </a:r>
          </a:p>
          <a:p>
            <a:r>
              <a:t>LR RENO: 4.5%, −$18K a year at $329/service (capped; raw $1,631/service)</a:t>
            </a:r>
          </a:p>
          <a:p>
            <a:r>
              <a:t>HYUNDAI ST GEORGE: 5.8%, −$13K a year at $176/service</a:t>
            </a:r>
          </a:p>
          <a:p>
            <a:r>
              <a:t>SUBARU LV: 7.0%, −$10K a year at $130/service</a:t>
            </a:r>
          </a:p>
          <a:p>
            <a:r>
              <a:t>HYUNDAI PRESCOTT: 7.3%, −$1K a year at $329/service (capped; raw $459/service)</a:t>
            </a:r>
          </a:p>
          <a:p>
            <a:r>
              <a:t>HONDA NORTH: 7.6%, +$4K a year at $118/service</a:t>
            </a:r>
          </a:p>
          <a:p>
            <a:r>
              <a:t>LINCOLN: 8.2%, +$4K a year at $175/service</a:t>
            </a:r>
          </a:p>
          <a:p>
            <a:r>
              <a:t>KIA ST GEORGE: 8.9%, +$12K a year at $154/service</a:t>
            </a:r>
          </a:p>
          <a:p>
            <a:r>
              <a:t>ACURA: 9.3%, +$13K a year at $145/service</a:t>
            </a:r>
          </a:p>
          <a:p>
            <a:r>
              <a:t>SUBARU PRESCOTT: 9.7%, +$51K a year at $329/service (capped; raw $406/service)</a:t>
            </a:r>
          </a:p>
          <a:p>
            <a:r>
              <a:t>SUBARU ST GEORGE: 13.8%, +$72K a year at $153/service</a:t>
            </a:r>
          </a:p>
          <a:p>
            <a:r>
              <a:t>HONDA HENDERSON: 12.0%, +$185K a year at $135/service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 year = Jan-Sep x 12 / 9. Stores at or above the benchmark are not shown and do not offset anyone. Alignment, tire balance, brake fluid and fuel system service added together, every store: gross a year above (+) or below (-) the four benchmarks, at the store's own gross per service. Below-benchmark services count against above-benchmark ones here.TOYOTA SPOKANE: −$541K a year against the four benchmarks; under 4 of 4</a:t>
            </a:r>
          </a:p>
          <a:p>
            <a:r>
              <a:t>CHEVY LV: −$475K a year against the four benchmarks; under 4 of 4</a:t>
            </a:r>
          </a:p>
          <a:p>
            <a:r>
              <a:t>TOYOTA FLAGSTAFF: −$356K a year against the four benchmarks; under 4 of 4</a:t>
            </a:r>
          </a:p>
          <a:p>
            <a:r>
              <a:t>TOYOTA HENDERSON: −$302K a year against the four benchmarks; under 3 of 4</a:t>
            </a:r>
          </a:p>
          <a:p>
            <a:r>
              <a:t>KIA LV: −$247K a year against the four benchmarks; under 4 of 4</a:t>
            </a:r>
          </a:p>
          <a:p>
            <a:r>
              <a:t>CDJR POST FALLS: −$245K a year against the four benchmarks; under 4 of 4</a:t>
            </a:r>
          </a:p>
          <a:p>
            <a:r>
              <a:t>TOYOTA PRESCOTT: −$233K a year against the four benchmarks; under 4 of 4</a:t>
            </a:r>
          </a:p>
          <a:p>
            <a:r>
              <a:t>AUDI RENO: −$216K a year against the four benchmarks; under 4 of 4</a:t>
            </a:r>
          </a:p>
          <a:p>
            <a:r>
              <a:t>HONDA FLAGSTAFF: −$200K a year against the four benchmarks; under 4 of 4</a:t>
            </a:r>
          </a:p>
          <a:p>
            <a:r>
              <a:t>NISSAN: −$200K a year against the four benchmarks; under 3 of 4</a:t>
            </a:r>
          </a:p>
          <a:p>
            <a:r>
              <a:t>HONDA SPOKANE: −$186K a year against the four benchmarks; under 3 of 4</a:t>
            </a:r>
          </a:p>
          <a:p>
            <a:r>
              <a:t>LEXUS: −$141K a year against the four benchmarks; under 4 of 4</a:t>
            </a:r>
          </a:p>
          <a:p>
            <a:r>
              <a:t>VW HENDERSON: −$140K a year against the four benchmarks; under 4 of 4</a:t>
            </a:r>
          </a:p>
          <a:p>
            <a:r>
              <a:t>CHEVY GMC BULLHEAD: −$133K a year against the four benchmarks; under 4 of 4</a:t>
            </a:r>
          </a:p>
          <a:p>
            <a:r>
              <a:t>CADILLAC: −$126K a year against the four benchmarks; under 4 of 4</a:t>
            </a:r>
          </a:p>
          <a:p>
            <a:r>
              <a:t>VW ST GEORGE: −$88K a year against the four benchmarks; under 4 of 4</a:t>
            </a:r>
          </a:p>
          <a:p>
            <a:r>
              <a:t>HYUNDAI ST GEORGE: −$81K a year against the four benchmarks; under 4 of 4</a:t>
            </a:r>
          </a:p>
          <a:p>
            <a:r>
              <a:t>GMC PRESCOTT: −$80K a year against the four benchmarks; under 4 of 4</a:t>
            </a:r>
          </a:p>
          <a:p>
            <a:r>
              <a:t>SUBARU LV: −$79K a year against the four benchmarks; under 3 of 4</a:t>
            </a:r>
          </a:p>
          <a:p>
            <a:r>
              <a:t>KIA ST GEORGE: −$70K a year against the four benchmarks; under 3 of 4</a:t>
            </a:r>
          </a:p>
          <a:p>
            <a:r>
              <a:t>LINCOLN: −$64K a year against the four benchmarks; under 3 of 4</a:t>
            </a:r>
          </a:p>
          <a:p>
            <a:r>
              <a:t>SUBARU ST GEORGE: −$55K a year against the four benchmarks; under 2 of 4</a:t>
            </a:r>
          </a:p>
          <a:p>
            <a:r>
              <a:t>LR RENO: −$43K a year against the four benchmarks; under 3 of 4</a:t>
            </a:r>
          </a:p>
          <a:p>
            <a:r>
              <a:t>VOLVO: −$38K a year against the four benchmarks; under 3 of 4</a:t>
            </a:r>
          </a:p>
          <a:p>
            <a:r>
              <a:t>MAZDA: −$38K a year against the four benchmarks; under 3 of 4</a:t>
            </a:r>
          </a:p>
          <a:p>
            <a:r>
              <a:t>AUDI HENDERSON: −$30K a year against the four benchmarks; under 3 of 4</a:t>
            </a:r>
          </a:p>
          <a:p>
            <a:r>
              <a:t>HYUNDAI PRESCOTT: +$31K a year against the four benchmarks; under 3 of 4</a:t>
            </a:r>
          </a:p>
          <a:p>
            <a:r>
              <a:t>ACURA: +$45K a year against the four benchmarks; under 1 of 4</a:t>
            </a:r>
          </a:p>
          <a:p>
            <a:r>
              <a:t>SUBARU PRESCOTT: +$55K a year against the four benchmarks; under 2 of 4</a:t>
            </a:r>
          </a:p>
          <a:p>
            <a:r>
              <a:t>HONDA NORTH: +$60K a year against the four benchmarks; under 1 of 4</a:t>
            </a:r>
          </a:p>
          <a:p>
            <a:r>
              <a:t>LR HENDERSON: +$72K a year against the four benchmarks; under 1 of 4</a:t>
            </a:r>
          </a:p>
          <a:p>
            <a:r>
              <a:t>LR LV: +$201K a year against the four benchmarks; under 1 of 4</a:t>
            </a:r>
          </a:p>
          <a:p>
            <a:r>
              <a:t>HONDA HENDERSON: +$743K a year against the four benchmarks; under 0 of 4</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Productivity section, after the section break and before Fixed Gross per Fixed Employee.</a:t>
            </a:r>
          </a:p>
          <a:p>
            <a:r>
              <a:t>Said: Roundtable slide 6 (People); Jan GM slide 57 (Technician Pipeline).</a:t>
            </a:r>
          </a:p>
          <a:p>
            <a:r>
              <a:t>Bay tile (Oct 26): counted technicians (proficiency basis, Dec 25 2025 - Oct 9 2026, 9.49 months) flagged 841,721 sold hours, 583 techs = 152 sold hours per tech a month; labor gross $132.13 + parts gross $55.85 = $187.98 per sold hour, all pay types (Qlik Closed ROs) = $28,584 a month per tech. One tech per bay assumed (1:1 tech to stall). The -2.3% CP &amp; W RO tile was dropped for it.</a:t>
            </a:r>
          </a:p>
          <a:p>
            <a:r>
              <a:t>Numbers rebuilt 2026-10-20 on ADP headcount (Employee Master extract 10/19/2026); the Qlik headcount history undercounted 2025.</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Productivity section, before CP &amp; W ROs per Service Advisor.</a:t>
            </a:r>
          </a:p>
          <a:p>
            <a:r>
              <a:t>Said: Jan GM slide 16 / May GM slide 12 (Pay Plans aka Work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Technician Proficiency section, after the section break and before the store proficiency ranker.</a:t>
            </a:r>
          </a:p>
          <a:p>
            <a:r>
              <a:t>Said: Roundtable slide 22 (Technicians &amp; Stalls); Jan GM slide 52 / May GM slide 16 (MPI Completion and Tech Efficiency).</a:t>
            </a:r>
          </a:p>
          <a:p>
            <a:r>
              <a:t>Now: proficiency slides (ADP worked hours + Qlik sold hours, Dec 25-Oct 9, with the foreman 30%, tech 10%, role-change and keying-error rules).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right after 'What Is Technician Proficiency?'.</a:t>
            </a:r>
          </a:p>
          <a:p>
            <a:r>
              <a:t>Rules as applied on the proficiency slides (Oct 16 2026). Express techs at stores that pool express hours are mostly excluded by the 10% rule.</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Each technician under 85% lifted to 85% of their own worked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 Per mo = labor + parts gross. Under 85% = technicians under 85% of all counted. Store = store proficiency.ACURA: 67.4%; 11 of 11 under 85%; gap 2,954 hrs; labor $50K/mo + parts $26K/mo; tech pay $14K/mo; 25.4% of $299K/mo RO gross; top quarter 74% (3 techs); 3.46 ROs/tech day; 1.75 hrs/RO</a:t>
            </a:r>
          </a:p>
          <a:p>
            <a:r>
              <a:t>AUDI HENDERSON: 91.0%; 13 of 23 under 85%; gap 3,426 hrs; labor $81K/mo + parts $20K/mo; tech pay $14K/mo; 8.3% of $1.23M/mo RO gross; top quarter 135% (6 techs); 2.77 ROs/tech day; 3.23 hrs/RO</a:t>
            </a:r>
          </a:p>
          <a:p>
            <a:r>
              <a:t>AUDI RENO: 117.1%; 4 of 10 under 85%; gap 826 hrs; labor $14K/mo + parts $6K/mo; tech pay $4K/mo; 4.0% of $504K/mo RO gross; top quarter 194% (2 techs); 4.08 ROs/tech day; 2.88 hrs/RO</a:t>
            </a:r>
          </a:p>
          <a:p>
            <a:r>
              <a:t>CADILLAC: 87.7%; 16 of 29 under 85%; gap 6,705 hrs; labor $108K/mo + parts $49K/mo; tech pay $24K/mo; 13.6% of $1.16M/mo RO gross; top quarter 143% (7 techs); 2.48 ROs/tech day; 3.41 hrs/RO</a:t>
            </a:r>
          </a:p>
          <a:p>
            <a:r>
              <a:t>CDJR POST FALLS: 71.2%; 9 of 14 under 85%; gap 5,005 hrs; labor $68K/mo + parts $32K/mo; tech pay $18K/mo; 24.6% of $408K/mo RO gross; top quarter 129% (4 techs); 3.77 ROs/tech day; 2.25 hrs/RO</a:t>
            </a:r>
          </a:p>
          <a:p>
            <a:r>
              <a:t>CHEVY GMC BULLHEAD: 68.4%; 16 of 20 under 85%; gap 5,809 hrs; labor $73K/mo + parts $39K/mo; tech pay $20K/mo; 23.2% of $483K/mo RO gross; top quarter 96% (5 techs); 3.06 ROs/tech day; 2.19 hrs/RO</a:t>
            </a:r>
          </a:p>
          <a:p>
            <a:r>
              <a:t>CHEVY LV: 103.4%; 16 of 51 under 85%; gap 5,102 hrs; labor $62K/mo + parts $25K/mo; tech pay $17K/mo; 5.2% of $1.69M/mo RO gross; top quarter 164% (13 techs); 3.95 ROs/tech day; 2.69 hrs/RO</a:t>
            </a:r>
          </a:p>
          <a:p>
            <a:r>
              <a:t>GMC PRESCOTT: 73.6%; 7 of 12 under 85%; gap 2,741 hrs; labor $31K/mo + parts $17K/mo; tech pay $12K/mo; 14.4% of $333K/mo RO gross; top quarter 104% (3 techs); 3.59 ROs/tech day; 4.21 hrs/RO</a:t>
            </a:r>
          </a:p>
          <a:p>
            <a:r>
              <a:t>HONDA FLAGSTAFF: 78.5%; 4 of 6 under 85%; gap 2,217 hrs; labor $28K/mo + parts $12K/mo; tech pay $8K/mo; 19.6% of $202K/mo RO gross; top quarter 131% (2 techs); 5.23 ROs/tech day; 1.85 hrs/RO</a:t>
            </a:r>
          </a:p>
          <a:p>
            <a:r>
              <a:t>HONDA HENDERSON: 118.5%; 5 of 28 under 85%; gap 669 hrs; labor $9K/mo + parts $4K/mo; tech pay $2K/mo; 0.8% of $1.54M/mo RO gross; top quarter 172% (7 techs); 6.04 ROs/tech day; 2.11 hrs/RO</a:t>
            </a:r>
          </a:p>
          <a:p>
            <a:r>
              <a:t>HONDA NORTH: 109.3%; 4 of 22 under 85%; gap 764 hrs; labor $9K/mo + parts $4K/mo; tech pay $2K/mo; 1.4% of $949K/mo RO gross; top quarter 152% (6 techs); 6.08 ROs/tech day; 2.29 hrs/RO</a:t>
            </a:r>
          </a:p>
          <a:p>
            <a:r>
              <a:t>HONDA SPOKANE: 109.0%; 2 of 15 under 85%; gap 57 hrs; labor $1K/mo + parts $0K/mo; tech pay $0K/mo; 0.2% of $453K/mo RO gross; top quarter 130% (4 techs); 6.24 ROs/tech day; 2.14 hrs/RO</a:t>
            </a:r>
          </a:p>
          <a:p>
            <a:r>
              <a:t>HYUNDAI PRESCOTT: 78.8%; 6 of 9 under 85%; gap 1,873 hrs; labor $23K/mo + parts $11K/mo; tech pay $8K/mo; 18.5% of $185K/mo RO gross; top quarter 113% (2 techs); 3.75 ROs/tech day; 1.78 hrs/RO</a:t>
            </a:r>
          </a:p>
          <a:p>
            <a:r>
              <a:t>HYUNDAI ST GEORGE: 69.0%; 8 of 11 under 85%; gap 3,952 hrs; labor $58K/mo + parts $30K/mo; tech pay $13K/mo; 31.9% of $277K/mo RO gross; top quarter 122% (3 techs); 4.23 ROs/tech day; 1.45 hrs/RO</a:t>
            </a:r>
          </a:p>
          <a:p>
            <a:r>
              <a:t>KIA LV: 76.8%; 16 of 20 under 85%; gap 3,389 hrs; labor $51K/mo + parts $23K/mo; tech pay $12K/mo; 11.6% of $643K/mo RO gross; top quarter 101% (5 techs); 5.22 ROs/tech day; 1.70 hrs/RO</a:t>
            </a:r>
          </a:p>
          <a:p>
            <a:r>
              <a:t>KIA ST GEORGE: 67.5%; 9 of 12 under 85%; gap 3,713 hrs; labor $48K/mo + parts $29K/mo; tech pay $11K/mo; 29.7% of $258K/mo RO gross; top quarter 98% (3 techs); 4.25 ROs/tech day; 1.31 hrs/RO</a:t>
            </a:r>
          </a:p>
          <a:p>
            <a:r>
              <a:t>LEXUS: 104.7%; 6 of 11 under 85%; gap 1,451 hrs; labor $24K/mo + parts $7K/mo; tech pay $5K/mo; 7.9% of $400K/mo RO gross; top quarter 178% (3 techs); 4.01 ROs/tech day; 2.44 hrs/RO</a:t>
            </a:r>
          </a:p>
          <a:p>
            <a:r>
              <a:t>LINCOLN: 94.9%; 5 of 11 under 85%; gap 1,236 hrs; labor $17K/mo + parts $7K/mo; tech pay $4K/mo; 7.6% of $312K/mo RO gross; top quarter 125% (3 techs); 3.24 ROs/tech day; 2.35 hrs/RO</a:t>
            </a:r>
          </a:p>
          <a:p>
            <a:r>
              <a:t>LR HENDERSON: 106.0%; 3 of 7 under 85%; gap 567 hrs; labor $9K/mo + parts $5K/mo; tech pay $2K/mo; 4.2% of $357K/mo RO gross; top quarter 145% (2 techs); 2.94 ROs/tech day; 3.68 hrs/RO</a:t>
            </a:r>
          </a:p>
          <a:p>
            <a:r>
              <a:t>LR LV: 91.2%; 8 of 16 under 85%; gap 2,154 hrs; labor $42K/mo + parts $21K/mo; tech pay $9K/mo; 9.0% of $702K/mo RO gross; top quarter 131% (4 techs); 2.41 ROs/tech day; 3.54 hrs/RO</a:t>
            </a:r>
          </a:p>
          <a:p>
            <a:r>
              <a:t>LR RENO: 81.4%; 2 of 6 under 85%; gap 724 hrs; labor $14K/mo + parts $7K/mo; tech pay $3K/mo; 8.0% of $257K/mo RO gross; top quarter 96% (2 techs); 2.36 ROs/tech day; 3.20 hrs/RO</a:t>
            </a:r>
          </a:p>
          <a:p>
            <a:r>
              <a:t>MAZDA: 101.6%; 4 of 11 under 85%; gap 415 hrs; labor $6K/mo + parts $3K/mo; tech pay $1K/mo; 2.7% of $322K/mo RO gross; top quarter 123% (3 techs); 5.78 ROs/tech day; 1.54 hrs/RO</a:t>
            </a:r>
          </a:p>
          <a:p>
            <a:r>
              <a:t>NISSAN: 91.1%; 8 of 17 under 85%; gap 2,291 hrs; labor $30K/mo + parts $13K/mo; tech pay $9K/mo; 8.0% of $532K/mo RO gross; top quarter 132% (4 techs); 4.08 ROs/tech day; 2.29 hrs/RO</a:t>
            </a:r>
          </a:p>
          <a:p>
            <a:r>
              <a:t>SUBARU LV: 96.9%; 11 of 27 under 85%; gap 2,050 hrs; labor $29K/mo + parts $15K/mo; tech pay $5K/mo; 4.1% of $1.07M/mo RO gross; top quarter 132% (7 techs); 4.64 ROs/tech day; 2.07 hrs/RO</a:t>
            </a:r>
          </a:p>
          <a:p>
            <a:r>
              <a:t>SUBARU PRESCOTT: 98.4%; 6 of 12 under 85%; gap 3,523 hrs; labor $37K/mo + parts $21K/mo; tech pay $13K/mo; 20.0% of $288K/mo RO gross; top quarter 179% (3 techs); 4.73 ROs/tech day; 1.68 hrs/RO</a:t>
            </a:r>
          </a:p>
          <a:p>
            <a:r>
              <a:t>SUBARU ST GEORGE: 109.7%; 3 of 12 under 85%; gap 1,248 hrs; labor $14K/mo + parts $8K/mo; tech pay $5K/mo; 5.8% of $382K/mo RO gross; top quarter 146% (3 techs); 4.11 ROs/tech day; 2.20 hrs/RO</a:t>
            </a:r>
          </a:p>
          <a:p>
            <a:r>
              <a:t>TOYOTA FLAGSTAFF: 102.4%; 6 of 18 under 85%; gap 662 hrs; labor $8K/mo + parts $3K/mo; tech pay $2K/mo; 1.9% of $542K/mo RO gross; top quarter 151% (4 techs); 4.96 ROs/tech day; 1.84 hrs/RO</a:t>
            </a:r>
          </a:p>
          <a:p>
            <a:r>
              <a:t>TOYOTA HENDERSON: 104.3%; 20 of 59 under 85%; gap 4,057 hrs; labor $51K/mo + parts $19K/mo; tech pay $14K/mo; 2.9% of $2.44M/mo RO gross; top quarter 153% (15 techs); 6.41 ROs/tech day; 1.88 hrs/RO</a:t>
            </a:r>
          </a:p>
          <a:p>
            <a:r>
              <a:t>TOYOTA PRESCOTT: 83.6%; 11 of 22 under 85%; gap 4,174 hrs; labor $57K/mo + parts $20K/mo; tech pay $16K/mo; 13.5% of $573K/mo RO gross; top quarter 118% (6 techs); 4.22 ROs/tech day; 1.72 hrs/RO</a:t>
            </a:r>
          </a:p>
          <a:p>
            <a:r>
              <a:t>TOYOTA SPOKANE: 108.0%; 4 of 28 under 85%; gap 745 hrs; labor $8K/mo + parts $4K/mo; tech pay $3K/mo; 1.9% of $609K/mo RO gross; top quarter 134% (7 techs); 5.36 ROs/tech day; 1.81 hrs/RO</a:t>
            </a:r>
          </a:p>
          <a:p>
            <a:r>
              <a:t>VOLVO: 72.3%; 8 of 9 under 85%; gap 1,963 hrs; labor $40K/mo + parts $22K/mo; tech pay $5K/mo; 14.8% of $417K/mo RO gross; top quarter 89% (2 techs); 3.81 ROs/tech day; 1.92 hrs/RO</a:t>
            </a:r>
          </a:p>
          <a:p>
            <a:r>
              <a:t>VW HENDERSON: 92.2%; 6 of 19 under 85%; gap 1,416 hrs; labor $19K/mo + parts $5K/mo; tech pay $4K/mo; 4.8% of $516K/mo RO gross; top quarter 115% (5 techs); 3.77 ROs/tech day; 2.28 hrs/RO</a:t>
            </a:r>
          </a:p>
          <a:p>
            <a:r>
              <a:t>VW ST GEORGE: 70.0%; 5 of 5 under 85%; gap 1,149 hrs; labor $13K/mo + parts $7K/mo; tech pay $3K/mo; 19.0% of $109K/mo RO gross; top quarter 76% (1 techs); 3.81 ROs/tech day; 1.65 hrs/RO</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Each technician under 85% lifted to 85% of their own worked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 Missed and Gross are per month. Share = missed labor + parts gross / labor + parts gross on the store's closed ROs, all pay types, same dates (includes work on shared tech codes). Not P&amp;L gross: counter and wholesale parts are excluded because techs do not produce them.ACURA: 67.4%; 11 of 11 under 85%; gap 2,954 hrs; labor $50K/mo + parts $26K/mo; tech pay $14K/mo; 25.4% of $299K/mo RO gross; top quarter 74% (3 techs); 3.46 ROs/tech day; 1.75 hrs/RO</a:t>
            </a:r>
          </a:p>
          <a:p>
            <a:r>
              <a:t>AUDI HENDERSON: 91.0%; 13 of 23 under 85%; gap 3,426 hrs; labor $81K/mo + parts $20K/mo; tech pay $14K/mo; 8.3% of $1.23M/mo RO gross; top quarter 135% (6 techs); 2.77 ROs/tech day; 3.23 hrs/RO</a:t>
            </a:r>
          </a:p>
          <a:p>
            <a:r>
              <a:t>AUDI RENO: 117.1%; 4 of 10 under 85%; gap 826 hrs; labor $14K/mo + parts $6K/mo; tech pay $4K/mo; 4.0% of $504K/mo RO gross; top quarter 194% (2 techs); 4.08 ROs/tech day; 2.88 hrs/RO</a:t>
            </a:r>
          </a:p>
          <a:p>
            <a:r>
              <a:t>CADILLAC: 87.7%; 16 of 29 under 85%; gap 6,705 hrs; labor $108K/mo + parts $49K/mo; tech pay $24K/mo; 13.6% of $1.16M/mo RO gross; top quarter 143% (7 techs); 2.48 ROs/tech day; 3.41 hrs/RO</a:t>
            </a:r>
          </a:p>
          <a:p>
            <a:r>
              <a:t>CDJR POST FALLS: 71.2%; 9 of 14 under 85%; gap 5,005 hrs; labor $68K/mo + parts $32K/mo; tech pay $18K/mo; 24.6% of $408K/mo RO gross; top quarter 129% (4 techs); 3.77 ROs/tech day; 2.25 hrs/RO</a:t>
            </a:r>
          </a:p>
          <a:p>
            <a:r>
              <a:t>CHEVY GMC BULLHEAD: 68.4%; 16 of 20 under 85%; gap 5,809 hrs; labor $73K/mo + parts $39K/mo; tech pay $20K/mo; 23.2% of $483K/mo RO gross; top quarter 96% (5 techs); 3.06 ROs/tech day; 2.19 hrs/RO</a:t>
            </a:r>
          </a:p>
          <a:p>
            <a:r>
              <a:t>CHEVY LV: 103.4%; 16 of 51 under 85%; gap 5,102 hrs; labor $62K/mo + parts $25K/mo; tech pay $17K/mo; 5.2% of $1.69M/mo RO gross; top quarter 164% (13 techs); 3.95 ROs/tech day; 2.69 hrs/RO</a:t>
            </a:r>
          </a:p>
          <a:p>
            <a:r>
              <a:t>GMC PRESCOTT: 73.6%; 7 of 12 under 85%; gap 2,741 hrs; labor $31K/mo + parts $17K/mo; tech pay $12K/mo; 14.4% of $333K/mo RO gross; top quarter 104% (3 techs); 3.59 ROs/tech day; 4.21 hrs/RO</a:t>
            </a:r>
          </a:p>
          <a:p>
            <a:r>
              <a:t>HONDA FLAGSTAFF: 78.5%; 4 of 6 under 85%; gap 2,217 hrs; labor $28K/mo + parts $12K/mo; tech pay $8K/mo; 19.6% of $202K/mo RO gross; top quarter 131% (2 techs); 5.23 ROs/tech day; 1.85 hrs/RO</a:t>
            </a:r>
          </a:p>
          <a:p>
            <a:r>
              <a:t>HONDA HENDERSON: 118.5%; 5 of 28 under 85%; gap 669 hrs; labor $9K/mo + parts $4K/mo; tech pay $2K/mo; 0.8% of $1.54M/mo RO gross; top quarter 172% (7 techs); 6.04 ROs/tech day; 2.11 hrs/RO</a:t>
            </a:r>
          </a:p>
          <a:p>
            <a:r>
              <a:t>HONDA NORTH: 109.3%; 4 of 22 under 85%; gap 764 hrs; labor $9K/mo + parts $4K/mo; tech pay $2K/mo; 1.4% of $949K/mo RO gross; top quarter 152% (6 techs); 6.08 ROs/tech day; 2.29 hrs/RO</a:t>
            </a:r>
          </a:p>
          <a:p>
            <a:r>
              <a:t>HONDA SPOKANE: 109.0%; 2 of 15 under 85%; gap 57 hrs; labor $1K/mo + parts $0K/mo; tech pay $0K/mo; 0.2% of $453K/mo RO gross; top quarter 130% (4 techs); 6.24 ROs/tech day; 2.14 hrs/RO</a:t>
            </a:r>
          </a:p>
          <a:p>
            <a:r>
              <a:t>HYUNDAI PRESCOTT: 78.8%; 6 of 9 under 85%; gap 1,873 hrs; labor $23K/mo + parts $11K/mo; tech pay $8K/mo; 18.5% of $185K/mo RO gross; top quarter 113% (2 techs); 3.75 ROs/tech day; 1.78 hrs/RO</a:t>
            </a:r>
          </a:p>
          <a:p>
            <a:r>
              <a:t>HYUNDAI ST GEORGE: 69.0%; 8 of 11 under 85%; gap 3,952 hrs; labor $58K/mo + parts $30K/mo; tech pay $13K/mo; 31.9% of $277K/mo RO gross; top quarter 122% (3 techs); 4.23 ROs/tech day; 1.45 hrs/RO</a:t>
            </a:r>
          </a:p>
          <a:p>
            <a:r>
              <a:t>KIA LV: 76.8%; 16 of 20 under 85%; gap 3,389 hrs; labor $51K/mo + parts $23K/mo; tech pay $12K/mo; 11.6% of $643K/mo RO gross; top quarter 101% (5 techs); 5.22 ROs/tech day; 1.70 hrs/RO</a:t>
            </a:r>
          </a:p>
          <a:p>
            <a:r>
              <a:t>KIA ST GEORGE: 67.5%; 9 of 12 under 85%; gap 3,713 hrs; labor $48K/mo + parts $29K/mo; tech pay $11K/mo; 29.7% of $258K/mo RO gross; top quarter 98% (3 techs); 4.25 ROs/tech day; 1.31 hrs/RO</a:t>
            </a:r>
          </a:p>
          <a:p>
            <a:r>
              <a:t>LEXUS: 104.7%; 6 of 11 under 85%; gap 1,451 hrs; labor $24K/mo + parts $7K/mo; tech pay $5K/mo; 7.9% of $400K/mo RO gross; top quarter 178% (3 techs); 4.01 ROs/tech day; 2.44 hrs/RO</a:t>
            </a:r>
          </a:p>
          <a:p>
            <a:r>
              <a:t>LINCOLN: 94.9%; 5 of 11 under 85%; gap 1,236 hrs; labor $17K/mo + parts $7K/mo; tech pay $4K/mo; 7.6% of $312K/mo RO gross; top quarter 125% (3 techs); 3.24 ROs/tech day; 2.35 hrs/RO</a:t>
            </a:r>
          </a:p>
          <a:p>
            <a:r>
              <a:t>LR HENDERSON: 106.0%; 3 of 7 under 85%; gap 567 hrs; labor $9K/mo + parts $5K/mo; tech pay $2K/mo; 4.2% of $357K/mo RO gross; top quarter 145% (2 techs); 2.94 ROs/tech day; 3.68 hrs/RO</a:t>
            </a:r>
          </a:p>
          <a:p>
            <a:r>
              <a:t>LR LV: 91.2%; 8 of 16 under 85%; gap 2,154 hrs; labor $42K/mo + parts $21K/mo; tech pay $9K/mo; 9.0% of $702K/mo RO gross; top quarter 131% (4 techs); 2.41 ROs/tech day; 3.54 hrs/RO</a:t>
            </a:r>
          </a:p>
          <a:p>
            <a:r>
              <a:t>LR RENO: 81.4%; 2 of 6 under 85%; gap 724 hrs; labor $14K/mo + parts $7K/mo; tech pay $3K/mo; 8.0% of $257K/mo RO gross; top quarter 96% (2 techs); 2.36 ROs/tech day; 3.20 hrs/RO</a:t>
            </a:r>
          </a:p>
          <a:p>
            <a:r>
              <a:t>MAZDA: 101.6%; 4 of 11 under 85%; gap 415 hrs; labor $6K/mo + parts $3K/mo; tech pay $1K/mo; 2.7% of $322K/mo RO gross; top quarter 123% (3 techs); 5.78 ROs/tech day; 1.54 hrs/RO</a:t>
            </a:r>
          </a:p>
          <a:p>
            <a:r>
              <a:t>NISSAN: 91.1%; 8 of 17 under 85%; gap 2,291 hrs; labor $30K/mo + parts $13K/mo; tech pay $9K/mo; 8.0% of $532K/mo RO gross; top quarter 132% (4 techs); 4.08 ROs/tech day; 2.29 hrs/RO</a:t>
            </a:r>
          </a:p>
          <a:p>
            <a:r>
              <a:t>SUBARU LV: 96.9%; 11 of 27 under 85%; gap 2,050 hrs; labor $29K/mo + parts $15K/mo; tech pay $5K/mo; 4.1% of $1.07M/mo RO gross; top quarter 132% (7 techs); 4.64 ROs/tech day; 2.07 hrs/RO</a:t>
            </a:r>
          </a:p>
          <a:p>
            <a:r>
              <a:t>SUBARU PRESCOTT: 98.4%; 6 of 12 under 85%; gap 3,523 hrs; labor $37K/mo + parts $21K/mo; tech pay $13K/mo; 20.0% of $288K/mo RO gross; top quarter 179% (3 techs); 4.73 ROs/tech day; 1.68 hrs/RO</a:t>
            </a:r>
          </a:p>
          <a:p>
            <a:r>
              <a:t>SUBARU ST GEORGE: 109.7%; 3 of 12 under 85%; gap 1,248 hrs; labor $14K/mo + parts $8K/mo; tech pay $5K/mo; 5.8% of $382K/mo RO gross; top quarter 146% (3 techs); 4.11 ROs/tech day; 2.20 hrs/RO</a:t>
            </a:r>
          </a:p>
          <a:p>
            <a:r>
              <a:t>TOYOTA FLAGSTAFF: 102.4%; 6 of 18 under 85%; gap 662 hrs; labor $8K/mo + parts $3K/mo; tech pay $2K/mo; 1.9% of $542K/mo RO gross; top quarter 151% (4 techs); 4.96 ROs/tech day; 1.84 hrs/RO</a:t>
            </a:r>
          </a:p>
          <a:p>
            <a:r>
              <a:t>TOYOTA HENDERSON: 104.3%; 20 of 59 under 85%; gap 4,057 hrs; labor $51K/mo + parts $19K/mo; tech pay $14K/mo; 2.9% of $2.44M/mo RO gross; top quarter 153% (15 techs); 6.41 ROs/tech day; 1.88 hrs/RO</a:t>
            </a:r>
          </a:p>
          <a:p>
            <a:r>
              <a:t>TOYOTA PRESCOTT: 83.6%; 11 of 22 under 85%; gap 4,174 hrs; labor $57K/mo + parts $20K/mo; tech pay $16K/mo; 13.5% of $573K/mo RO gross; top quarter 118% (6 techs); 4.22 ROs/tech day; 1.72 hrs/RO</a:t>
            </a:r>
          </a:p>
          <a:p>
            <a:r>
              <a:t>TOYOTA SPOKANE: 108.0%; 4 of 28 under 85%; gap 745 hrs; labor $8K/mo + parts $4K/mo; tech pay $3K/mo; 1.9% of $609K/mo RO gross; top quarter 134% (7 techs); 5.36 ROs/tech day; 1.81 hrs/RO</a:t>
            </a:r>
          </a:p>
          <a:p>
            <a:r>
              <a:t>VOLVO: 72.3%; 8 of 9 under 85%; gap 1,963 hrs; labor $40K/mo + parts $22K/mo; tech pay $5K/mo; 14.8% of $417K/mo RO gross; top quarter 89% (2 techs); 3.81 ROs/tech day; 1.92 hrs/RO</a:t>
            </a:r>
          </a:p>
          <a:p>
            <a:r>
              <a:t>VW HENDERSON: 92.2%; 6 of 19 under 85%; gap 1,416 hrs; labor $19K/mo + parts $5K/mo; tech pay $4K/mo; 4.8% of $516K/mo RO gross; top quarter 115% (5 techs); 3.77 ROs/tech day; 2.28 hrs/RO</a:t>
            </a:r>
          </a:p>
          <a:p>
            <a:r>
              <a:t>VW ST GEORGE: 70.0%; 5 of 5 under 85%; gap 1,149 hrs; labor $13K/mo + parts $7K/mo; tech pay $3K/mo; 19.0% of $109K/mo RO gross; top quarter 76% (1 techs); 3.81 ROs/tech day; 1.65 hrs/RO</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Value of a minute = each store's counted technicians' labor gross + parts gross per sold hour, divided by 60 (Qlik - Closed Repair Orders, all pay types, same rates as the proficiency opportunity slides). Tech-days = counted techs' worked hours (ADP) / 8 per day. Assumes each minute saved becomes a minute of flagged work. 583 counted technicians, same-store, INEOS excluded. Month = Dec 25, 2025 - Oct 9, 2026 / 9.49; year = month x 12. A year = one minute a day for every counted tech at the store, for a year. Per min = gross per tech minute.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1.xml"/><Relationship Id="rId3" Type="http://schemas.openxmlformats.org/officeDocument/2006/relationships/chart" Target="../charts/chart82.xml"/><Relationship Id="rId4" Type="http://schemas.openxmlformats.org/officeDocument/2006/relationships/chart" Target="../charts/chart83.xml"/><Relationship Id="rId5" Type="http://schemas.openxmlformats.org/officeDocument/2006/relationships/chart" Target="../charts/chart84.xml"/><Relationship Id="rId6" Type="http://schemas.openxmlformats.org/officeDocument/2006/relationships/chart" Target="../charts/chart85.xml"/><Relationship Id="rId7" Type="http://schemas.openxmlformats.org/officeDocument/2006/relationships/chart" Target="../charts/chart86.xml"/><Relationship Id="rId8" Type="http://schemas.openxmlformats.org/officeDocument/2006/relationships/notesSlide" Target="../notesSlides/notesSlide9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7.xml"/><Relationship Id="rId3" Type="http://schemas.openxmlformats.org/officeDocument/2006/relationships/chart" Target="../charts/chart88.xml"/><Relationship Id="rId4" Type="http://schemas.openxmlformats.org/officeDocument/2006/relationships/chart" Target="../charts/chart89.xml"/><Relationship Id="rId5" Type="http://schemas.openxmlformats.org/officeDocument/2006/relationships/chart" Target="../charts/chart90.xml"/><Relationship Id="rId6" Type="http://schemas.openxmlformats.org/officeDocument/2006/relationships/chart" Target="../charts/chart91.xml"/><Relationship Id="rId7" Type="http://schemas.openxmlformats.org/officeDocument/2006/relationships/chart" Target="../charts/chart92.xml"/><Relationship Id="rId8" Type="http://schemas.openxmlformats.org/officeDocument/2006/relationships/notesSlide" Target="../notesSlides/notesSlide10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93.xml"/><Relationship Id="rId3" Type="http://schemas.openxmlformats.org/officeDocument/2006/relationships/chart" Target="../charts/chart94.xml"/><Relationship Id="rId4" Type="http://schemas.openxmlformats.org/officeDocument/2006/relationships/chart" Target="../charts/chart95.xml"/><Relationship Id="rId5" Type="http://schemas.openxmlformats.org/officeDocument/2006/relationships/chart" Target="../charts/chart96.xml"/><Relationship Id="rId6" Type="http://schemas.openxmlformats.org/officeDocument/2006/relationships/chart" Target="../charts/chart97.xml"/><Relationship Id="rId7" Type="http://schemas.openxmlformats.org/officeDocument/2006/relationships/chart" Target="../charts/chart98.xml"/><Relationship Id="rId8" Type="http://schemas.openxmlformats.org/officeDocument/2006/relationships/notesSlide" Target="../notesSlides/notesSlide10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99.xml"/><Relationship Id="rId3" Type="http://schemas.openxmlformats.org/officeDocument/2006/relationships/chart" Target="../charts/chart100.xml"/><Relationship Id="rId4" Type="http://schemas.openxmlformats.org/officeDocument/2006/relationships/chart" Target="../charts/chart101.xml"/><Relationship Id="rId5" Type="http://schemas.openxmlformats.org/officeDocument/2006/relationships/chart" Target="../charts/chart102.xml"/><Relationship Id="rId6" Type="http://schemas.openxmlformats.org/officeDocument/2006/relationships/chart" Target="../charts/chart103.xml"/><Relationship Id="rId7" Type="http://schemas.openxmlformats.org/officeDocument/2006/relationships/chart" Target="../charts/chart104.xml"/><Relationship Id="rId8" Type="http://schemas.openxmlformats.org/officeDocument/2006/relationships/notesSlide" Target="../notesSlides/notesSlide11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Road To The Sale</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Every advisor, every customer: timely meet and greet at the vehicle</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Walk-around with the customer: hood, tires and wipers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Review history and previously declined items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Time and mileage recommendations from an accurate, available menu</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MPI mandate: every car, every time</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Consistency is key: trained, documented and actively managed</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We produce hours. Every service or repair not recommended is hours a technician never gets the chance to earn</a:t>
            </a:r>
            <a:endParaRPr lang="en-US" sz="1600" dirty="0"/>
          </a:p>
        </p:txBody>
      </p:sp>
      <p:sp>
        <p:nvSpPr>
          <p:cNvPr id="10" name="Shape 8"/>
          <p:cNvSpPr/>
          <p:nvPr/>
        </p:nvSpPr>
        <p:spPr>
          <a:xfrm>
            <a:off x="7269480" y="1920240"/>
            <a:ext cx="54864" cy="111252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Up in all four</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Alignment, balance, brake fluid and fuel service each rose 1.2-1.4 pts and beat 2025 every month.</a:t>
            </a:r>
            <a:endParaRPr lang="en-US" sz="1400" dirty="0"/>
          </a:p>
        </p:txBody>
      </p:sp>
      <p:sp>
        <p:nvSpPr>
          <p:cNvPr id="13" name="Shape 11"/>
          <p:cNvSpPr/>
          <p:nvPr/>
        </p:nvSpPr>
        <p:spPr>
          <a:xfrm>
            <a:off x="7269480" y="3261360"/>
            <a:ext cx="54864" cy="1112520"/>
          </a:xfrm>
          <a:prstGeom prst="rect">
            <a:avLst/>
          </a:prstGeom>
          <a:solidFill>
            <a:srgbClr val="C2352F"/>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18,493</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Balances short of the 15% benchmark. The group is at 8.3%.</a:t>
            </a:r>
            <a:endParaRPr lang="en-US" sz="1400" dirty="0"/>
          </a:p>
        </p:txBody>
      </p:sp>
      <p:sp>
        <p:nvSpPr>
          <p:cNvPr id="16" name="Shape 14"/>
          <p:cNvSpPr/>
          <p:nvPr/>
        </p:nvSpPr>
        <p:spPr>
          <a:xfrm>
            <a:off x="7269480" y="4602480"/>
            <a:ext cx="54864" cy="1112520"/>
          </a:xfrm>
          <a:prstGeom prst="rect">
            <a:avLst/>
          </a:prstGeom>
          <a:solidFill>
            <a:srgbClr val="C2352F"/>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4,821</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Alignments short of 15%; the group is at 13.2%. Brake fluid is 0.7 pts from its 10%.</a:t>
            </a:r>
            <a:endParaRPr lang="en-US" sz="1400" dirty="0"/>
          </a:p>
        </p:txBody>
      </p:sp>
      <p:sp>
        <p:nvSpPr>
          <p:cNvPr id="19" name="Shape 17"/>
          <p:cNvSpPr/>
          <p:nvPr/>
        </p:nvSpPr>
        <p:spPr>
          <a:xfrm>
            <a:off x="457200" y="6126480"/>
            <a:ext cx="11274552" cy="371856"/>
          </a:xfrm>
          <a:prstGeom prst="rect">
            <a:avLst/>
          </a:prstGeom>
          <a:solidFill>
            <a:srgbClr val="EDF4FA"/>
          </a:solidFill>
          <a:ln/>
        </p:spPr>
      </p:sp>
      <p:sp>
        <p:nvSpPr>
          <p:cNvPr id="20" name="Text 1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every car gets the walk-around and the menu. The benchmarks are where that process lands.</a:t>
            </a:r>
            <a:endParaRPr lang="en-US" sz="1600" dirty="0"/>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Basic Maintenance Service</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On-demand maintenance appointments: get cars in quickly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A complete, comprehensive multi-point inspection on every visit, with the right recommendations at that time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Experienced eyes on every car: entry-level staff alone won't know what to look for</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An oil change that misses worn brakes or a leaking water pump is a disservice to the customer</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More cars in the door is great, but first make the most of every car already in the shop</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Processes and policies that make it happen: every car, every time</a:t>
            </a:r>
            <a:endParaRPr lang="en-US" sz="1800" dirty="0"/>
          </a:p>
        </p:txBody>
      </p:sp>
      <p:sp>
        <p:nvSpPr>
          <p:cNvPr id="10" name="Shape 8"/>
          <p:cNvSpPr/>
          <p:nvPr/>
        </p:nvSpPr>
        <p:spPr>
          <a:xfrm>
            <a:off x="7269480" y="1920240"/>
            <a:ext cx="54864" cy="1783080"/>
          </a:xfrm>
          <a:prstGeom prst="rect">
            <a:avLst/>
          </a:prstGeom>
          <a:solidFill>
            <a:srgbClr val="2587C5"/>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54.3%</a:t>
            </a:r>
            <a:endParaRPr lang="en-US" sz="3000" dirty="0"/>
          </a:p>
        </p:txBody>
      </p:sp>
      <p:sp>
        <p:nvSpPr>
          <p:cNvPr id="12" name="Text 10"/>
          <p:cNvSpPr txBox="1"/>
          <p:nvPr/>
        </p:nvSpPr>
        <p:spPr>
          <a:xfrm>
            <a:off x="7452360" y="244144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Maintenance share of customer-pay labor across the group; repair 30.5%. Depending on work mix, maintenance runs 25% to 75% of a store's service.</a:t>
            </a:r>
            <a:endParaRPr lang="en-US" sz="1400" dirty="0"/>
          </a:p>
        </p:txBody>
      </p:sp>
      <p:sp>
        <p:nvSpPr>
          <p:cNvPr id="13" name="Shape 11"/>
          <p:cNvSpPr/>
          <p:nvPr/>
        </p:nvSpPr>
        <p:spPr>
          <a:xfrm>
            <a:off x="7269480" y="3931920"/>
            <a:ext cx="54864" cy="1783080"/>
          </a:xfrm>
          <a:prstGeom prst="rect">
            <a:avLst/>
          </a:prstGeom>
          <a:solidFill>
            <a:srgbClr val="C2352F"/>
          </a:solidFill>
          <a:ln/>
        </p:spPr>
      </p:sp>
      <p:sp>
        <p:nvSpPr>
          <p:cNvPr id="14" name="Text 12"/>
          <p:cNvSpPr txBox="1"/>
          <p:nvPr/>
        </p:nvSpPr>
        <p:spPr>
          <a:xfrm>
            <a:off x="7452360" y="388620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Unknown hours</a:t>
            </a:r>
            <a:endParaRPr lang="en-US" sz="3000" dirty="0"/>
          </a:p>
        </p:txBody>
      </p:sp>
      <p:sp>
        <p:nvSpPr>
          <p:cNvPr id="15" name="Text 13"/>
          <p:cNvSpPr txBox="1"/>
          <p:nvPr/>
        </p:nvSpPr>
        <p:spPr>
          <a:xfrm>
            <a:off x="7452360" y="445312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Buying every maintenance service we offer might come to $2,500. The work the inspection finds is worth far more, and we lose all of it when we turn a car away or can't book the time the customer wants.</a:t>
            </a:r>
            <a:endParaRPr lang="en-US" sz="1400" dirty="0"/>
          </a:p>
        </p:txBody>
      </p:sp>
      <p:sp>
        <p:nvSpPr>
          <p:cNvPr id="16" name="Shape 14"/>
          <p:cNvSpPr/>
          <p:nvPr/>
        </p:nvSpPr>
        <p:spPr>
          <a:xfrm>
            <a:off x="457200" y="6126480"/>
            <a:ext cx="11274552" cy="615696"/>
          </a:xfrm>
          <a:prstGeom prst="rect">
            <a:avLst/>
          </a:prstGeom>
          <a:solidFill>
            <a:srgbClr val="EDF4FA"/>
          </a:solidFill>
          <a:ln/>
        </p:spPr>
      </p:sp>
      <p:sp>
        <p:nvSpPr>
          <p:cNvPr id="17" name="Text 1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capitalize on every maintenance visit: in quickly, inspected completely by someone who knows what to look for, and every finding recommended.</a:t>
            </a:r>
            <a:endParaRPr lang="en-US" sz="1600" dirty="0"/>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11.9%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13.2%</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+11.4%</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Alignment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3762756" y="3049524"/>
            <a:ext cx="310896" cy="45720"/>
          </a:xfrm>
          <a:prstGeom prst="rect">
            <a:avLst/>
          </a:prstGeom>
          <a:solidFill>
            <a:srgbClr val="9AA3AD"/>
          </a:solidFill>
          <a:ln/>
        </p:spPr>
      </p:sp>
      <p:sp>
        <p:nvSpPr>
          <p:cNvPr id="24" name="Shape 16"/>
          <p:cNvSpPr/>
          <p:nvPr/>
        </p:nvSpPr>
        <p:spPr>
          <a:xfrm>
            <a:off x="3863340" y="3017520"/>
            <a:ext cx="109728" cy="109728"/>
          </a:xfrm>
          <a:prstGeom prst="ellipse">
            <a:avLst/>
          </a:prstGeom>
          <a:solidFill>
            <a:srgbClr val="9AA3AD"/>
          </a:solidFill>
          <a:ln/>
        </p:spPr>
      </p:sp>
      <p:sp>
        <p:nvSpPr>
          <p:cNvPr id="25" name="Text 17"/>
          <p:cNvSpPr txBox="1"/>
          <p:nvPr/>
        </p:nvSpPr>
        <p:spPr>
          <a:xfrm>
            <a:off x="414680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4997196" y="3049524"/>
            <a:ext cx="310896" cy="45720"/>
          </a:xfrm>
          <a:prstGeom prst="rect">
            <a:avLst/>
          </a:prstGeom>
          <a:solidFill>
            <a:srgbClr val="2587C5"/>
          </a:solidFill>
          <a:ln/>
        </p:spPr>
      </p:sp>
      <p:sp>
        <p:nvSpPr>
          <p:cNvPr id="27" name="Shape 19"/>
          <p:cNvSpPr/>
          <p:nvPr/>
        </p:nvSpPr>
        <p:spPr>
          <a:xfrm>
            <a:off x="5097780" y="3017520"/>
            <a:ext cx="109728" cy="109728"/>
          </a:xfrm>
          <a:prstGeom prst="ellipse">
            <a:avLst/>
          </a:prstGeom>
          <a:solidFill>
            <a:srgbClr val="2587C5"/>
          </a:solidFill>
          <a:ln/>
        </p:spPr>
      </p:sp>
      <p:sp>
        <p:nvSpPr>
          <p:cNvPr id="28" name="Text 20"/>
          <p:cNvSpPr txBox="1"/>
          <p:nvPr/>
        </p:nvSpPr>
        <p:spPr>
          <a:xfrm>
            <a:off x="538124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6231636" y="3049524"/>
            <a:ext cx="73152" cy="36576"/>
          </a:xfrm>
          <a:prstGeom prst="rect">
            <a:avLst/>
          </a:prstGeom>
          <a:solidFill>
            <a:srgbClr val="595959"/>
          </a:solidFill>
          <a:ln/>
        </p:spPr>
      </p:sp>
      <p:sp>
        <p:nvSpPr>
          <p:cNvPr id="30" name="Shape 22"/>
          <p:cNvSpPr/>
          <p:nvPr/>
        </p:nvSpPr>
        <p:spPr>
          <a:xfrm>
            <a:off x="6350508" y="3049524"/>
            <a:ext cx="73152" cy="36576"/>
          </a:xfrm>
          <a:prstGeom prst="rect">
            <a:avLst/>
          </a:prstGeom>
          <a:solidFill>
            <a:srgbClr val="595959"/>
          </a:solidFill>
          <a:ln/>
        </p:spPr>
      </p:sp>
      <p:sp>
        <p:nvSpPr>
          <p:cNvPr id="31" name="Shape 23"/>
          <p:cNvSpPr/>
          <p:nvPr/>
        </p:nvSpPr>
        <p:spPr>
          <a:xfrm>
            <a:off x="6469380" y="3049524"/>
            <a:ext cx="73152" cy="36576"/>
          </a:xfrm>
          <a:prstGeom prst="rect">
            <a:avLst/>
          </a:prstGeom>
          <a:solidFill>
            <a:srgbClr val="595959"/>
          </a:solidFill>
          <a:ln/>
        </p:spPr>
      </p:sp>
      <p:sp>
        <p:nvSpPr>
          <p:cNvPr id="32" name="Text 24"/>
          <p:cNvSpPr txBox="1"/>
          <p:nvPr/>
        </p:nvSpPr>
        <p:spPr>
          <a:xfrm>
            <a:off x="6615684" y="2926080"/>
            <a:ext cx="23774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Benchmark 15%</a:t>
            </a:r>
            <a:endParaRPr lang="en-US" sz="1400" dirty="0"/>
          </a:p>
        </p:txBody>
      </p:sp>
      <p:sp>
        <p:nvSpPr>
          <p:cNvPr id="33" name="Shape 25"/>
          <p:cNvSpPr/>
          <p:nvPr/>
        </p:nvSpPr>
        <p:spPr>
          <a:xfrm>
            <a:off x="457200" y="6126480"/>
            <a:ext cx="11274552" cy="615696"/>
          </a:xfrm>
          <a:prstGeom prst="rect">
            <a:avLst/>
          </a:prstGeom>
          <a:solidFill>
            <a:srgbClr val="E6F6EE"/>
          </a:solidFill>
          <a:ln/>
        </p:spPr>
      </p:sp>
      <p:sp>
        <p:nvSpPr>
          <p:cNvPr id="34"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1.4 pts to 13.2%, ahead of 2025 in all nine months, but 1.7 pts under the 15% benchmark — 4,821 alignments short.</a:t>
            </a:r>
            <a:endParaRPr lang="en-US" sz="1600" dirty="0"/>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ANNUALIZED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Variance from Benchmark</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417880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5276088"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 name="Shape 6"/>
          <p:cNvSpPr/>
          <p:nvPr/>
        </p:nvSpPr>
        <p:spPr>
          <a:xfrm>
            <a:off x="3602724" y="1700784"/>
            <a:ext cx="10973" cy="4224528"/>
          </a:xfrm>
          <a:prstGeom prst="rect">
            <a:avLst/>
          </a:prstGeom>
          <a:solidFill>
            <a:srgbClr val="9AA3AD"/>
          </a:solidFill>
          <a:ln/>
        </p:spPr>
      </p:sp>
      <p:sp>
        <p:nvSpPr>
          <p:cNvPr id="9" name="Text 7"/>
          <p:cNvSpPr txBox="1"/>
          <p:nvPr/>
        </p:nvSpPr>
        <p:spPr>
          <a:xfrm>
            <a:off x="972921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0" name="Text 8"/>
          <p:cNvSpPr txBox="1"/>
          <p:nvPr/>
        </p:nvSpPr>
        <p:spPr>
          <a:xfrm>
            <a:off x="10826496"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Shape 9"/>
          <p:cNvSpPr/>
          <p:nvPr/>
        </p:nvSpPr>
        <p:spPr>
          <a:xfrm>
            <a:off x="9153132" y="1700784"/>
            <a:ext cx="10973" cy="3976026"/>
          </a:xfrm>
          <a:prstGeom prst="rect">
            <a:avLst/>
          </a:prstGeom>
          <a:solidFill>
            <a:srgbClr val="9AA3AD"/>
          </a:solidFill>
          <a:ln/>
        </p:spPr>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4" name="Shape 12"/>
          <p:cNvSpPr/>
          <p:nvPr/>
        </p:nvSpPr>
        <p:spPr>
          <a:xfrm>
            <a:off x="3608210" y="1756697"/>
            <a:ext cx="515734" cy="136676"/>
          </a:xfrm>
          <a:prstGeom prst="rect">
            <a:avLst/>
          </a:prstGeom>
          <a:solidFill>
            <a:srgbClr val="12A566"/>
          </a:solidFill>
          <a:ln/>
        </p:spPr>
      </p:sp>
      <p:sp>
        <p:nvSpPr>
          <p:cNvPr id="15" name="Text 13"/>
          <p:cNvSpPr txBox="1"/>
          <p:nvPr/>
        </p:nvSpPr>
        <p:spPr>
          <a:xfrm>
            <a:off x="417880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+$229K</a:t>
            </a:r>
            <a:endParaRPr lang="en-US" sz="1300" dirty="0"/>
          </a:p>
        </p:txBody>
      </p:sp>
      <p:sp>
        <p:nvSpPr>
          <p:cNvPr id="16" name="Text 14"/>
          <p:cNvSpPr txBox="1"/>
          <p:nvPr/>
        </p:nvSpPr>
        <p:spPr>
          <a:xfrm>
            <a:off x="5276088"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21.3%</a:t>
            </a:r>
            <a:endParaRPr lang="en-US" sz="1300" dirty="0"/>
          </a:p>
        </p:txBody>
      </p:sp>
      <p:sp>
        <p:nvSpPr>
          <p:cNvPr id="17" name="Text 15"/>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9" name="Shape 17"/>
          <p:cNvSpPr/>
          <p:nvPr/>
        </p:nvSpPr>
        <p:spPr>
          <a:xfrm>
            <a:off x="3608210" y="2005199"/>
            <a:ext cx="368621" cy="136676"/>
          </a:xfrm>
          <a:prstGeom prst="rect">
            <a:avLst/>
          </a:prstGeom>
          <a:solidFill>
            <a:srgbClr val="12A566"/>
          </a:solidFill>
          <a:ln/>
        </p:spPr>
      </p:sp>
      <p:sp>
        <p:nvSpPr>
          <p:cNvPr id="20" name="Text 18"/>
          <p:cNvSpPr txBox="1"/>
          <p:nvPr/>
        </p:nvSpPr>
        <p:spPr>
          <a:xfrm>
            <a:off x="417880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+$163K</a:t>
            </a:r>
            <a:endParaRPr lang="en-US" sz="1300" dirty="0"/>
          </a:p>
        </p:txBody>
      </p:sp>
      <p:sp>
        <p:nvSpPr>
          <p:cNvPr id="21" name="Text 19"/>
          <p:cNvSpPr txBox="1"/>
          <p:nvPr/>
        </p:nvSpPr>
        <p:spPr>
          <a:xfrm>
            <a:off x="5276088"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a:t>
            </a:r>
            <a:endParaRPr lang="en-US" sz="1300" dirty="0"/>
          </a:p>
        </p:txBody>
      </p:sp>
      <p:sp>
        <p:nvSpPr>
          <p:cNvPr id="22" name="Text 20"/>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3" name="Text 21"/>
          <p:cNvSpPr txBox="1"/>
          <p:nvPr/>
        </p:nvSpPr>
        <p:spPr>
          <a:xfrm>
            <a:off x="1014984"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4" name="Shape 22"/>
          <p:cNvSpPr/>
          <p:nvPr/>
        </p:nvSpPr>
        <p:spPr>
          <a:xfrm>
            <a:off x="3608210" y="2253700"/>
            <a:ext cx="93661" cy="136676"/>
          </a:xfrm>
          <a:prstGeom prst="rect">
            <a:avLst/>
          </a:prstGeom>
          <a:solidFill>
            <a:srgbClr val="12A566"/>
          </a:solidFill>
          <a:ln/>
        </p:spPr>
      </p:sp>
      <p:sp>
        <p:nvSpPr>
          <p:cNvPr id="25" name="Text 23"/>
          <p:cNvSpPr txBox="1"/>
          <p:nvPr/>
        </p:nvSpPr>
        <p:spPr>
          <a:xfrm>
            <a:off x="417880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+$42K</a:t>
            </a:r>
            <a:endParaRPr lang="en-US" sz="1300" dirty="0"/>
          </a:p>
        </p:txBody>
      </p:sp>
      <p:sp>
        <p:nvSpPr>
          <p:cNvPr id="26" name="Text 24"/>
          <p:cNvSpPr txBox="1"/>
          <p:nvPr/>
        </p:nvSpPr>
        <p:spPr>
          <a:xfrm>
            <a:off x="5276088"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21.7%</a:t>
            </a:r>
            <a:endParaRPr lang="en-US" sz="1300" dirty="0"/>
          </a:p>
        </p:txBody>
      </p:sp>
      <p:sp>
        <p:nvSpPr>
          <p:cNvPr id="27" name="Text 25"/>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8" name="Text 26"/>
          <p:cNvSpPr txBox="1"/>
          <p:nvPr/>
        </p:nvSpPr>
        <p:spPr>
          <a:xfrm>
            <a:off x="1014984"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9" name="Shape 27"/>
          <p:cNvSpPr/>
          <p:nvPr/>
        </p:nvSpPr>
        <p:spPr>
          <a:xfrm>
            <a:off x="3608210" y="2502202"/>
            <a:ext cx="92519" cy="136676"/>
          </a:xfrm>
          <a:prstGeom prst="rect">
            <a:avLst/>
          </a:prstGeom>
          <a:solidFill>
            <a:srgbClr val="12A566"/>
          </a:solidFill>
          <a:ln/>
        </p:spPr>
      </p:sp>
      <p:sp>
        <p:nvSpPr>
          <p:cNvPr id="30" name="Text 28"/>
          <p:cNvSpPr txBox="1"/>
          <p:nvPr/>
        </p:nvSpPr>
        <p:spPr>
          <a:xfrm>
            <a:off x="417880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+$41K</a:t>
            </a:r>
            <a:endParaRPr lang="en-US" sz="1300" dirty="0"/>
          </a:p>
        </p:txBody>
      </p:sp>
      <p:sp>
        <p:nvSpPr>
          <p:cNvPr id="31" name="Text 29"/>
          <p:cNvSpPr txBox="1"/>
          <p:nvPr/>
        </p:nvSpPr>
        <p:spPr>
          <a:xfrm>
            <a:off x="5276088"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a:t>
            </a:r>
            <a:endParaRPr lang="en-US" sz="1300" dirty="0"/>
          </a:p>
        </p:txBody>
      </p:sp>
      <p:sp>
        <p:nvSpPr>
          <p:cNvPr id="32" name="Text 30"/>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3" name="Text 31"/>
          <p:cNvSpPr txBox="1"/>
          <p:nvPr/>
        </p:nvSpPr>
        <p:spPr>
          <a:xfrm>
            <a:off x="1014984"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4" name="Shape 32"/>
          <p:cNvSpPr/>
          <p:nvPr/>
        </p:nvSpPr>
        <p:spPr>
          <a:xfrm>
            <a:off x="3608210" y="2750703"/>
            <a:ext cx="60439" cy="136676"/>
          </a:xfrm>
          <a:prstGeom prst="rect">
            <a:avLst/>
          </a:prstGeom>
          <a:solidFill>
            <a:srgbClr val="12A566"/>
          </a:solidFill>
          <a:ln/>
        </p:spPr>
      </p:sp>
      <p:sp>
        <p:nvSpPr>
          <p:cNvPr id="35" name="Text 33"/>
          <p:cNvSpPr txBox="1"/>
          <p:nvPr/>
        </p:nvSpPr>
        <p:spPr>
          <a:xfrm>
            <a:off x="4178808" y="2694791"/>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+$27K</a:t>
            </a:r>
            <a:endParaRPr lang="en-US" sz="1300" dirty="0"/>
          </a:p>
        </p:txBody>
      </p:sp>
      <p:sp>
        <p:nvSpPr>
          <p:cNvPr id="36" name="Text 34"/>
          <p:cNvSpPr txBox="1"/>
          <p:nvPr/>
        </p:nvSpPr>
        <p:spPr>
          <a:xfrm>
            <a:off x="5276088"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a:t>
            </a:r>
            <a:endParaRPr lang="en-US" sz="1300" dirty="0"/>
          </a:p>
        </p:txBody>
      </p:sp>
      <p:sp>
        <p:nvSpPr>
          <p:cNvPr id="37" name="Text 3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8" name="Text 36"/>
          <p:cNvSpPr txBox="1"/>
          <p:nvPr/>
        </p:nvSpPr>
        <p:spPr>
          <a:xfrm>
            <a:off x="1014984"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39" name="Shape 37"/>
          <p:cNvSpPr/>
          <p:nvPr/>
        </p:nvSpPr>
        <p:spPr>
          <a:xfrm>
            <a:off x="3608210" y="2999205"/>
            <a:ext cx="52903" cy="136676"/>
          </a:xfrm>
          <a:prstGeom prst="rect">
            <a:avLst/>
          </a:prstGeom>
          <a:solidFill>
            <a:srgbClr val="12A566"/>
          </a:solidFill>
          <a:ln/>
        </p:spPr>
      </p:sp>
      <p:sp>
        <p:nvSpPr>
          <p:cNvPr id="40" name="Text 38"/>
          <p:cNvSpPr txBox="1"/>
          <p:nvPr/>
        </p:nvSpPr>
        <p:spPr>
          <a:xfrm>
            <a:off x="4178808" y="294329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+$23K</a:t>
            </a:r>
            <a:endParaRPr lang="en-US" sz="1300" dirty="0"/>
          </a:p>
        </p:txBody>
      </p:sp>
      <p:sp>
        <p:nvSpPr>
          <p:cNvPr id="41" name="Text 39"/>
          <p:cNvSpPr txBox="1"/>
          <p:nvPr/>
        </p:nvSpPr>
        <p:spPr>
          <a:xfrm>
            <a:off x="5276088"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17.3%</a:t>
            </a:r>
            <a:endParaRPr lang="en-US" sz="1300" dirty="0"/>
          </a:p>
        </p:txBody>
      </p:sp>
      <p:sp>
        <p:nvSpPr>
          <p:cNvPr id="42" name="Text 40"/>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3" name="Text 41"/>
          <p:cNvSpPr txBox="1"/>
          <p:nvPr/>
        </p:nvSpPr>
        <p:spPr>
          <a:xfrm>
            <a:off x="1014984"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4" name="Shape 42"/>
          <p:cNvSpPr/>
          <p:nvPr/>
        </p:nvSpPr>
        <p:spPr>
          <a:xfrm>
            <a:off x="3608210" y="3247707"/>
            <a:ext cx="38422" cy="136676"/>
          </a:xfrm>
          <a:prstGeom prst="rect">
            <a:avLst/>
          </a:prstGeom>
          <a:solidFill>
            <a:srgbClr val="12A566"/>
          </a:solidFill>
          <a:ln/>
        </p:spPr>
      </p:sp>
      <p:sp>
        <p:nvSpPr>
          <p:cNvPr id="45" name="Text 43"/>
          <p:cNvSpPr txBox="1"/>
          <p:nvPr/>
        </p:nvSpPr>
        <p:spPr>
          <a:xfrm>
            <a:off x="4178808" y="319179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+$17K</a:t>
            </a:r>
            <a:endParaRPr lang="en-US" sz="1300" dirty="0"/>
          </a:p>
        </p:txBody>
      </p:sp>
      <p:sp>
        <p:nvSpPr>
          <p:cNvPr id="46" name="Text 44"/>
          <p:cNvSpPr txBox="1"/>
          <p:nvPr/>
        </p:nvSpPr>
        <p:spPr>
          <a:xfrm>
            <a:off x="5276088"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16.6%</a:t>
            </a:r>
            <a:endParaRPr lang="en-US" sz="1300" dirty="0"/>
          </a:p>
        </p:txBody>
      </p:sp>
      <p:sp>
        <p:nvSpPr>
          <p:cNvPr id="47" name="Text 45"/>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8" name="Text 46"/>
          <p:cNvSpPr txBox="1"/>
          <p:nvPr/>
        </p:nvSpPr>
        <p:spPr>
          <a:xfrm>
            <a:off x="1014984"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9" name="Shape 47"/>
          <p:cNvSpPr/>
          <p:nvPr/>
        </p:nvSpPr>
        <p:spPr>
          <a:xfrm>
            <a:off x="3608210" y="3496208"/>
            <a:ext cx="32407" cy="136676"/>
          </a:xfrm>
          <a:prstGeom prst="rect">
            <a:avLst/>
          </a:prstGeom>
          <a:solidFill>
            <a:srgbClr val="12A566"/>
          </a:solidFill>
          <a:ln/>
        </p:spPr>
      </p:sp>
      <p:sp>
        <p:nvSpPr>
          <p:cNvPr id="50" name="Text 48"/>
          <p:cNvSpPr txBox="1"/>
          <p:nvPr/>
        </p:nvSpPr>
        <p:spPr>
          <a:xfrm>
            <a:off x="4178808" y="344029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+$14K</a:t>
            </a:r>
            <a:endParaRPr lang="en-US" sz="1300" dirty="0"/>
          </a:p>
        </p:txBody>
      </p:sp>
      <p:sp>
        <p:nvSpPr>
          <p:cNvPr id="51" name="Text 49"/>
          <p:cNvSpPr txBox="1"/>
          <p:nvPr/>
        </p:nvSpPr>
        <p:spPr>
          <a:xfrm>
            <a:off x="5276088"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a:t>
            </a:r>
            <a:endParaRPr lang="en-US" sz="1300" dirty="0"/>
          </a:p>
        </p:txBody>
      </p:sp>
      <p:sp>
        <p:nvSpPr>
          <p:cNvPr id="52" name="Text 50"/>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3" name="Text 51"/>
          <p:cNvSpPr txBox="1"/>
          <p:nvPr/>
        </p:nvSpPr>
        <p:spPr>
          <a:xfrm>
            <a:off x="1014984"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4" name="Shape 52"/>
          <p:cNvSpPr/>
          <p:nvPr/>
        </p:nvSpPr>
        <p:spPr>
          <a:xfrm>
            <a:off x="3606258" y="3744710"/>
            <a:ext cx="18288" cy="136676"/>
          </a:xfrm>
          <a:prstGeom prst="rect">
            <a:avLst/>
          </a:prstGeom>
          <a:solidFill>
            <a:srgbClr val="C2352F"/>
          </a:solidFill>
          <a:ln/>
        </p:spPr>
      </p:sp>
      <p:sp>
        <p:nvSpPr>
          <p:cNvPr id="55" name="Text 53"/>
          <p:cNvSpPr txBox="1"/>
          <p:nvPr/>
        </p:nvSpPr>
        <p:spPr>
          <a:xfrm>
            <a:off x="4178808"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−$865</a:t>
            </a:r>
            <a:endParaRPr lang="en-US" sz="1300" dirty="0"/>
          </a:p>
        </p:txBody>
      </p:sp>
      <p:sp>
        <p:nvSpPr>
          <p:cNvPr id="56" name="Text 54"/>
          <p:cNvSpPr txBox="1"/>
          <p:nvPr/>
        </p:nvSpPr>
        <p:spPr>
          <a:xfrm>
            <a:off x="5276088"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a:t>
            </a:r>
            <a:endParaRPr lang="en-US" sz="1300" dirty="0"/>
          </a:p>
        </p:txBody>
      </p:sp>
      <p:sp>
        <p:nvSpPr>
          <p:cNvPr id="57" name="Text 55"/>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58" name="Text 56"/>
          <p:cNvSpPr txBox="1"/>
          <p:nvPr/>
        </p:nvSpPr>
        <p:spPr>
          <a:xfrm>
            <a:off x="1014984"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59" name="Shape 57"/>
          <p:cNvSpPr/>
          <p:nvPr/>
        </p:nvSpPr>
        <p:spPr>
          <a:xfrm>
            <a:off x="3591832" y="3993212"/>
            <a:ext cx="18288" cy="136676"/>
          </a:xfrm>
          <a:prstGeom prst="rect">
            <a:avLst/>
          </a:prstGeom>
          <a:solidFill>
            <a:srgbClr val="C2352F"/>
          </a:solidFill>
          <a:ln/>
        </p:spPr>
      </p:sp>
      <p:sp>
        <p:nvSpPr>
          <p:cNvPr id="60" name="Text 58"/>
          <p:cNvSpPr txBox="1"/>
          <p:nvPr/>
        </p:nvSpPr>
        <p:spPr>
          <a:xfrm>
            <a:off x="4178808"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−$7K</a:t>
            </a:r>
            <a:endParaRPr lang="en-US" sz="1300" dirty="0"/>
          </a:p>
        </p:txBody>
      </p:sp>
      <p:sp>
        <p:nvSpPr>
          <p:cNvPr id="61" name="Text 59"/>
          <p:cNvSpPr txBox="1"/>
          <p:nvPr/>
        </p:nvSpPr>
        <p:spPr>
          <a:xfrm>
            <a:off x="5276088"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13.8%</a:t>
            </a:r>
            <a:endParaRPr lang="en-US" sz="1300" dirty="0"/>
          </a:p>
        </p:txBody>
      </p:sp>
      <p:sp>
        <p:nvSpPr>
          <p:cNvPr id="62" name="Text 6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3" name="Text 61"/>
          <p:cNvSpPr txBox="1"/>
          <p:nvPr/>
        </p:nvSpPr>
        <p:spPr>
          <a:xfrm>
            <a:off x="1014984"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4" name="Shape 62"/>
          <p:cNvSpPr/>
          <p:nvPr/>
        </p:nvSpPr>
        <p:spPr>
          <a:xfrm>
            <a:off x="3587605" y="4241713"/>
            <a:ext cx="20606" cy="136676"/>
          </a:xfrm>
          <a:prstGeom prst="rect">
            <a:avLst/>
          </a:prstGeom>
          <a:solidFill>
            <a:srgbClr val="C2352F"/>
          </a:solidFill>
          <a:ln/>
        </p:spPr>
      </p:sp>
      <p:sp>
        <p:nvSpPr>
          <p:cNvPr id="65" name="Text 63"/>
          <p:cNvSpPr txBox="1"/>
          <p:nvPr/>
        </p:nvSpPr>
        <p:spPr>
          <a:xfrm>
            <a:off x="4178808"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−$9K</a:t>
            </a:r>
            <a:endParaRPr lang="en-US" sz="1300" dirty="0"/>
          </a:p>
        </p:txBody>
      </p:sp>
      <p:sp>
        <p:nvSpPr>
          <p:cNvPr id="66" name="Text 64"/>
          <p:cNvSpPr txBox="1"/>
          <p:nvPr/>
        </p:nvSpPr>
        <p:spPr>
          <a:xfrm>
            <a:off x="5276088"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13.8%</a:t>
            </a:r>
            <a:endParaRPr lang="en-US" sz="1300" dirty="0"/>
          </a:p>
        </p:txBody>
      </p:sp>
      <p:sp>
        <p:nvSpPr>
          <p:cNvPr id="67" name="Text 65"/>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68" name="Text 66"/>
          <p:cNvSpPr txBox="1"/>
          <p:nvPr/>
        </p:nvSpPr>
        <p:spPr>
          <a:xfrm>
            <a:off x="1014984"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9" name="Shape 67"/>
          <p:cNvSpPr/>
          <p:nvPr/>
        </p:nvSpPr>
        <p:spPr>
          <a:xfrm>
            <a:off x="3586165" y="4490215"/>
            <a:ext cx="22045" cy="136676"/>
          </a:xfrm>
          <a:prstGeom prst="rect">
            <a:avLst/>
          </a:prstGeom>
          <a:solidFill>
            <a:srgbClr val="C2352F"/>
          </a:solidFill>
          <a:ln/>
        </p:spPr>
      </p:sp>
      <p:sp>
        <p:nvSpPr>
          <p:cNvPr id="70" name="Text 68"/>
          <p:cNvSpPr txBox="1"/>
          <p:nvPr/>
        </p:nvSpPr>
        <p:spPr>
          <a:xfrm>
            <a:off x="4178808"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−$10K</a:t>
            </a:r>
            <a:endParaRPr lang="en-US" sz="1300" dirty="0"/>
          </a:p>
        </p:txBody>
      </p:sp>
      <p:sp>
        <p:nvSpPr>
          <p:cNvPr id="71" name="Text 69"/>
          <p:cNvSpPr txBox="1"/>
          <p:nvPr/>
        </p:nvSpPr>
        <p:spPr>
          <a:xfrm>
            <a:off x="5276088"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14.5%</a:t>
            </a:r>
            <a:endParaRPr lang="en-US" sz="1300" dirty="0"/>
          </a:p>
        </p:txBody>
      </p:sp>
      <p:sp>
        <p:nvSpPr>
          <p:cNvPr id="72" name="Text 70"/>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3" name="Text 71"/>
          <p:cNvSpPr txBox="1"/>
          <p:nvPr/>
        </p:nvSpPr>
        <p:spPr>
          <a:xfrm>
            <a:off x="1014984"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74" name="Shape 72"/>
          <p:cNvSpPr/>
          <p:nvPr/>
        </p:nvSpPr>
        <p:spPr>
          <a:xfrm>
            <a:off x="3584721" y="4738717"/>
            <a:ext cx="23489" cy="136676"/>
          </a:xfrm>
          <a:prstGeom prst="rect">
            <a:avLst/>
          </a:prstGeom>
          <a:solidFill>
            <a:srgbClr val="C2352F"/>
          </a:solidFill>
          <a:ln/>
        </p:spPr>
      </p:sp>
      <p:sp>
        <p:nvSpPr>
          <p:cNvPr id="75" name="Text 73"/>
          <p:cNvSpPr txBox="1"/>
          <p:nvPr/>
        </p:nvSpPr>
        <p:spPr>
          <a:xfrm>
            <a:off x="417880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−$10K</a:t>
            </a:r>
            <a:endParaRPr lang="en-US" sz="1300" dirty="0"/>
          </a:p>
        </p:txBody>
      </p:sp>
      <p:sp>
        <p:nvSpPr>
          <p:cNvPr id="76" name="Text 74"/>
          <p:cNvSpPr txBox="1"/>
          <p:nvPr/>
        </p:nvSpPr>
        <p:spPr>
          <a:xfrm>
            <a:off x="5276088"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12.8%</a:t>
            </a:r>
            <a:endParaRPr lang="en-US" sz="1300" dirty="0"/>
          </a:p>
        </p:txBody>
      </p:sp>
      <p:sp>
        <p:nvSpPr>
          <p:cNvPr id="77" name="Text 75"/>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78" name="Text 76"/>
          <p:cNvSpPr txBox="1"/>
          <p:nvPr/>
        </p:nvSpPr>
        <p:spPr>
          <a:xfrm>
            <a:off x="1014984"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9" name="Shape 77"/>
          <p:cNvSpPr/>
          <p:nvPr/>
        </p:nvSpPr>
        <p:spPr>
          <a:xfrm>
            <a:off x="3582272" y="4987218"/>
            <a:ext cx="25938" cy="136676"/>
          </a:xfrm>
          <a:prstGeom prst="rect">
            <a:avLst/>
          </a:prstGeom>
          <a:solidFill>
            <a:srgbClr val="C2352F"/>
          </a:solidFill>
          <a:ln/>
        </p:spPr>
      </p:sp>
      <p:sp>
        <p:nvSpPr>
          <p:cNvPr id="80" name="Text 78"/>
          <p:cNvSpPr txBox="1"/>
          <p:nvPr/>
        </p:nvSpPr>
        <p:spPr>
          <a:xfrm>
            <a:off x="417880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−$11K</a:t>
            </a:r>
            <a:endParaRPr lang="en-US" sz="1300" dirty="0"/>
          </a:p>
        </p:txBody>
      </p:sp>
      <p:sp>
        <p:nvSpPr>
          <p:cNvPr id="81" name="Text 79"/>
          <p:cNvSpPr txBox="1"/>
          <p:nvPr/>
        </p:nvSpPr>
        <p:spPr>
          <a:xfrm>
            <a:off x="5276088"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a:t>
            </a:r>
            <a:endParaRPr lang="en-US" sz="1300" dirty="0"/>
          </a:p>
        </p:txBody>
      </p:sp>
      <p:sp>
        <p:nvSpPr>
          <p:cNvPr id="82" name="Text 80"/>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3" name="Text 81"/>
          <p:cNvSpPr txBox="1"/>
          <p:nvPr/>
        </p:nvSpPr>
        <p:spPr>
          <a:xfrm>
            <a:off x="1014984"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4" name="Shape 82"/>
          <p:cNvSpPr/>
          <p:nvPr/>
        </p:nvSpPr>
        <p:spPr>
          <a:xfrm>
            <a:off x="3580943" y="5235720"/>
            <a:ext cx="27268" cy="136676"/>
          </a:xfrm>
          <a:prstGeom prst="rect">
            <a:avLst/>
          </a:prstGeom>
          <a:solidFill>
            <a:srgbClr val="C2352F"/>
          </a:solidFill>
          <a:ln/>
        </p:spPr>
      </p:sp>
      <p:sp>
        <p:nvSpPr>
          <p:cNvPr id="85" name="Text 83"/>
          <p:cNvSpPr txBox="1"/>
          <p:nvPr/>
        </p:nvSpPr>
        <p:spPr>
          <a:xfrm>
            <a:off x="417880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−$12K</a:t>
            </a:r>
            <a:endParaRPr lang="en-US" sz="1300" dirty="0"/>
          </a:p>
        </p:txBody>
      </p:sp>
      <p:sp>
        <p:nvSpPr>
          <p:cNvPr id="86" name="Text 84"/>
          <p:cNvSpPr txBox="1"/>
          <p:nvPr/>
        </p:nvSpPr>
        <p:spPr>
          <a:xfrm>
            <a:off x="5276088"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a:t>
            </a:r>
            <a:endParaRPr lang="en-US" sz="1300" dirty="0"/>
          </a:p>
        </p:txBody>
      </p:sp>
      <p:sp>
        <p:nvSpPr>
          <p:cNvPr id="87" name="Text 8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88" name="Text 86"/>
          <p:cNvSpPr txBox="1"/>
          <p:nvPr/>
        </p:nvSpPr>
        <p:spPr>
          <a:xfrm>
            <a:off x="1014984"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9" name="Shape 87"/>
          <p:cNvSpPr/>
          <p:nvPr/>
        </p:nvSpPr>
        <p:spPr>
          <a:xfrm>
            <a:off x="3568116" y="5484222"/>
            <a:ext cx="40094" cy="136676"/>
          </a:xfrm>
          <a:prstGeom prst="rect">
            <a:avLst/>
          </a:prstGeom>
          <a:solidFill>
            <a:srgbClr val="C2352F"/>
          </a:solidFill>
          <a:ln/>
        </p:spPr>
      </p:sp>
      <p:sp>
        <p:nvSpPr>
          <p:cNvPr id="90" name="Text 88"/>
          <p:cNvSpPr txBox="1"/>
          <p:nvPr/>
        </p:nvSpPr>
        <p:spPr>
          <a:xfrm>
            <a:off x="417880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−$18K</a:t>
            </a:r>
            <a:endParaRPr lang="en-US" sz="1300" dirty="0"/>
          </a:p>
        </p:txBody>
      </p:sp>
      <p:sp>
        <p:nvSpPr>
          <p:cNvPr id="91" name="Text 89"/>
          <p:cNvSpPr txBox="1"/>
          <p:nvPr/>
        </p:nvSpPr>
        <p:spPr>
          <a:xfrm>
            <a:off x="5276088"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a:t>
            </a:r>
            <a:endParaRPr lang="en-US" sz="1300" dirty="0"/>
          </a:p>
        </p:txBody>
      </p:sp>
      <p:sp>
        <p:nvSpPr>
          <p:cNvPr id="92" name="Text 90"/>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3" name="Text 91"/>
          <p:cNvSpPr txBox="1"/>
          <p:nvPr/>
        </p:nvSpPr>
        <p:spPr>
          <a:xfrm>
            <a:off x="1014984" y="567681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4" name="Shape 92"/>
          <p:cNvSpPr/>
          <p:nvPr/>
        </p:nvSpPr>
        <p:spPr>
          <a:xfrm>
            <a:off x="3560947" y="5732723"/>
            <a:ext cx="47264" cy="136676"/>
          </a:xfrm>
          <a:prstGeom prst="rect">
            <a:avLst/>
          </a:prstGeom>
          <a:solidFill>
            <a:srgbClr val="C2352F"/>
          </a:solidFill>
          <a:ln/>
        </p:spPr>
      </p:sp>
      <p:sp>
        <p:nvSpPr>
          <p:cNvPr id="95" name="Text 93"/>
          <p:cNvSpPr txBox="1"/>
          <p:nvPr/>
        </p:nvSpPr>
        <p:spPr>
          <a:xfrm>
            <a:off x="417880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96" name="Text 94"/>
          <p:cNvSpPr txBox="1"/>
          <p:nvPr/>
        </p:nvSpPr>
        <p:spPr>
          <a:xfrm>
            <a:off x="5276088" y="567681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a:t>
            </a:r>
            <a:endParaRPr lang="en-US" sz="1300" dirty="0"/>
          </a:p>
        </p:txBody>
      </p:sp>
      <p:sp>
        <p:nvSpPr>
          <p:cNvPr id="97" name="Text 95"/>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98" name="Text 96"/>
          <p:cNvSpPr txBox="1"/>
          <p:nvPr/>
        </p:nvSpPr>
        <p:spPr>
          <a:xfrm>
            <a:off x="6565392"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9" name="Shape 97"/>
          <p:cNvSpPr/>
          <p:nvPr/>
        </p:nvSpPr>
        <p:spPr>
          <a:xfrm>
            <a:off x="9107541" y="1756697"/>
            <a:ext cx="51077" cy="136676"/>
          </a:xfrm>
          <a:prstGeom prst="rect">
            <a:avLst/>
          </a:prstGeom>
          <a:solidFill>
            <a:srgbClr val="C2352F"/>
          </a:solidFill>
          <a:ln/>
        </p:spPr>
      </p:sp>
      <p:sp>
        <p:nvSpPr>
          <p:cNvPr id="100" name="Text 98"/>
          <p:cNvSpPr txBox="1"/>
          <p:nvPr/>
        </p:nvSpPr>
        <p:spPr>
          <a:xfrm>
            <a:off x="972921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−$23K</a:t>
            </a:r>
            <a:endParaRPr lang="en-US" sz="1300" dirty="0"/>
          </a:p>
        </p:txBody>
      </p:sp>
      <p:sp>
        <p:nvSpPr>
          <p:cNvPr id="101" name="Text 99"/>
          <p:cNvSpPr txBox="1"/>
          <p:nvPr/>
        </p:nvSpPr>
        <p:spPr>
          <a:xfrm>
            <a:off x="10826496"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a:t>
            </a:r>
            <a:endParaRPr lang="en-US" sz="1300" dirty="0"/>
          </a:p>
        </p:txBody>
      </p:sp>
      <p:sp>
        <p:nvSpPr>
          <p:cNvPr id="102" name="Text 100"/>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3" name="Text 101"/>
          <p:cNvSpPr txBox="1"/>
          <p:nvPr/>
        </p:nvSpPr>
        <p:spPr>
          <a:xfrm>
            <a:off x="6565392"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4" name="Shape 102"/>
          <p:cNvSpPr/>
          <p:nvPr/>
        </p:nvSpPr>
        <p:spPr>
          <a:xfrm>
            <a:off x="9105708" y="2005199"/>
            <a:ext cx="52910" cy="136676"/>
          </a:xfrm>
          <a:prstGeom prst="rect">
            <a:avLst/>
          </a:prstGeom>
          <a:solidFill>
            <a:srgbClr val="C2352F"/>
          </a:solidFill>
          <a:ln/>
        </p:spPr>
      </p:sp>
      <p:sp>
        <p:nvSpPr>
          <p:cNvPr id="105" name="Text 103"/>
          <p:cNvSpPr txBox="1"/>
          <p:nvPr/>
        </p:nvSpPr>
        <p:spPr>
          <a:xfrm>
            <a:off x="972921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−$23K</a:t>
            </a:r>
            <a:endParaRPr lang="en-US" sz="1300" dirty="0"/>
          </a:p>
        </p:txBody>
      </p:sp>
      <p:sp>
        <p:nvSpPr>
          <p:cNvPr id="106" name="Text 104"/>
          <p:cNvSpPr txBox="1"/>
          <p:nvPr/>
        </p:nvSpPr>
        <p:spPr>
          <a:xfrm>
            <a:off x="10826496"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a:t>
            </a:r>
            <a:endParaRPr lang="en-US" sz="1300" dirty="0"/>
          </a:p>
        </p:txBody>
      </p:sp>
      <p:sp>
        <p:nvSpPr>
          <p:cNvPr id="107" name="Text 105"/>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08" name="Text 106"/>
          <p:cNvSpPr txBox="1"/>
          <p:nvPr/>
        </p:nvSpPr>
        <p:spPr>
          <a:xfrm>
            <a:off x="6565392"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09" name="Shape 107"/>
          <p:cNvSpPr/>
          <p:nvPr/>
        </p:nvSpPr>
        <p:spPr>
          <a:xfrm>
            <a:off x="9101403" y="2253700"/>
            <a:ext cx="57215" cy="136676"/>
          </a:xfrm>
          <a:prstGeom prst="rect">
            <a:avLst/>
          </a:prstGeom>
          <a:solidFill>
            <a:srgbClr val="C2352F"/>
          </a:solidFill>
          <a:ln/>
        </p:spPr>
      </p:sp>
      <p:sp>
        <p:nvSpPr>
          <p:cNvPr id="110" name="Text 108"/>
          <p:cNvSpPr txBox="1"/>
          <p:nvPr/>
        </p:nvSpPr>
        <p:spPr>
          <a:xfrm>
            <a:off x="972921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−$25K</a:t>
            </a:r>
            <a:endParaRPr lang="en-US" sz="1300" dirty="0"/>
          </a:p>
        </p:txBody>
      </p:sp>
      <p:sp>
        <p:nvSpPr>
          <p:cNvPr id="111" name="Text 109"/>
          <p:cNvSpPr txBox="1"/>
          <p:nvPr/>
        </p:nvSpPr>
        <p:spPr>
          <a:xfrm>
            <a:off x="10826496"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11.1%</a:t>
            </a:r>
            <a:endParaRPr lang="en-US" sz="1300" dirty="0"/>
          </a:p>
        </p:txBody>
      </p:sp>
      <p:sp>
        <p:nvSpPr>
          <p:cNvPr id="112" name="Text 11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3" name="Text 111"/>
          <p:cNvSpPr txBox="1"/>
          <p:nvPr/>
        </p:nvSpPr>
        <p:spPr>
          <a:xfrm>
            <a:off x="6565392"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4" name="Shape 112"/>
          <p:cNvSpPr/>
          <p:nvPr/>
        </p:nvSpPr>
        <p:spPr>
          <a:xfrm>
            <a:off x="9099265" y="2502202"/>
            <a:ext cx="59354" cy="136676"/>
          </a:xfrm>
          <a:prstGeom prst="rect">
            <a:avLst/>
          </a:prstGeom>
          <a:solidFill>
            <a:srgbClr val="C2352F"/>
          </a:solidFill>
          <a:ln/>
        </p:spPr>
      </p:sp>
      <p:sp>
        <p:nvSpPr>
          <p:cNvPr id="115" name="Text 113"/>
          <p:cNvSpPr txBox="1"/>
          <p:nvPr/>
        </p:nvSpPr>
        <p:spPr>
          <a:xfrm>
            <a:off x="972921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−$26K</a:t>
            </a:r>
            <a:endParaRPr lang="en-US" sz="1300" dirty="0"/>
          </a:p>
        </p:txBody>
      </p:sp>
      <p:sp>
        <p:nvSpPr>
          <p:cNvPr id="116" name="Text 114"/>
          <p:cNvSpPr txBox="1"/>
          <p:nvPr/>
        </p:nvSpPr>
        <p:spPr>
          <a:xfrm>
            <a:off x="10826496"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
        <p:nvSpPr>
          <p:cNvPr id="117" name="Text 115"/>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18" name="Text 116"/>
          <p:cNvSpPr txBox="1"/>
          <p:nvPr/>
        </p:nvSpPr>
        <p:spPr>
          <a:xfrm>
            <a:off x="6565392"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19" name="Shape 117"/>
          <p:cNvSpPr/>
          <p:nvPr/>
        </p:nvSpPr>
        <p:spPr>
          <a:xfrm>
            <a:off x="9084954" y="2750703"/>
            <a:ext cx="73665" cy="136676"/>
          </a:xfrm>
          <a:prstGeom prst="rect">
            <a:avLst/>
          </a:prstGeom>
          <a:solidFill>
            <a:srgbClr val="C2352F"/>
          </a:solidFill>
          <a:ln/>
        </p:spPr>
      </p:sp>
      <p:sp>
        <p:nvSpPr>
          <p:cNvPr id="120" name="Text 118"/>
          <p:cNvSpPr txBox="1"/>
          <p:nvPr/>
        </p:nvSpPr>
        <p:spPr>
          <a:xfrm>
            <a:off x="972921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−$33K</a:t>
            </a:r>
            <a:endParaRPr lang="en-US" sz="1300" dirty="0"/>
          </a:p>
        </p:txBody>
      </p:sp>
      <p:sp>
        <p:nvSpPr>
          <p:cNvPr id="121" name="Text 119"/>
          <p:cNvSpPr txBox="1"/>
          <p:nvPr/>
        </p:nvSpPr>
        <p:spPr>
          <a:xfrm>
            <a:off x="10826496"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11.3%</a:t>
            </a:r>
            <a:endParaRPr lang="en-US" sz="1300" dirty="0"/>
          </a:p>
        </p:txBody>
      </p:sp>
      <p:sp>
        <p:nvSpPr>
          <p:cNvPr id="122" name="Text 120"/>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3" name="Text 121"/>
          <p:cNvSpPr txBox="1"/>
          <p:nvPr/>
        </p:nvSpPr>
        <p:spPr>
          <a:xfrm>
            <a:off x="6565392"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4" name="Shape 122"/>
          <p:cNvSpPr/>
          <p:nvPr/>
        </p:nvSpPr>
        <p:spPr>
          <a:xfrm>
            <a:off x="9083815" y="2999205"/>
            <a:ext cx="74803" cy="136676"/>
          </a:xfrm>
          <a:prstGeom prst="rect">
            <a:avLst/>
          </a:prstGeom>
          <a:solidFill>
            <a:srgbClr val="C2352F"/>
          </a:solidFill>
          <a:ln/>
        </p:spPr>
      </p:sp>
      <p:sp>
        <p:nvSpPr>
          <p:cNvPr id="125" name="Text 123"/>
          <p:cNvSpPr txBox="1"/>
          <p:nvPr/>
        </p:nvSpPr>
        <p:spPr>
          <a:xfrm>
            <a:off x="972921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−$33K</a:t>
            </a:r>
            <a:endParaRPr lang="en-US" sz="1300" dirty="0"/>
          </a:p>
        </p:txBody>
      </p:sp>
      <p:sp>
        <p:nvSpPr>
          <p:cNvPr id="126" name="Text 124"/>
          <p:cNvSpPr txBox="1"/>
          <p:nvPr/>
        </p:nvSpPr>
        <p:spPr>
          <a:xfrm>
            <a:off x="10826496"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14.5%</a:t>
            </a:r>
            <a:endParaRPr lang="en-US" sz="1300" dirty="0"/>
          </a:p>
        </p:txBody>
      </p:sp>
      <p:sp>
        <p:nvSpPr>
          <p:cNvPr id="127" name="Text 125"/>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28" name="Text 126"/>
          <p:cNvSpPr txBox="1"/>
          <p:nvPr/>
        </p:nvSpPr>
        <p:spPr>
          <a:xfrm>
            <a:off x="6565392"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29" name="Shape 127"/>
          <p:cNvSpPr/>
          <p:nvPr/>
        </p:nvSpPr>
        <p:spPr>
          <a:xfrm>
            <a:off x="9081129" y="3247707"/>
            <a:ext cx="77490" cy="136676"/>
          </a:xfrm>
          <a:prstGeom prst="rect">
            <a:avLst/>
          </a:prstGeom>
          <a:solidFill>
            <a:srgbClr val="C2352F"/>
          </a:solidFill>
          <a:ln/>
        </p:spPr>
      </p:sp>
      <p:sp>
        <p:nvSpPr>
          <p:cNvPr id="130" name="Text 128"/>
          <p:cNvSpPr txBox="1"/>
          <p:nvPr/>
        </p:nvSpPr>
        <p:spPr>
          <a:xfrm>
            <a:off x="972921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−$34K</a:t>
            </a:r>
            <a:endParaRPr lang="en-US" sz="1300" dirty="0"/>
          </a:p>
        </p:txBody>
      </p:sp>
      <p:sp>
        <p:nvSpPr>
          <p:cNvPr id="131" name="Text 129"/>
          <p:cNvSpPr txBox="1"/>
          <p:nvPr/>
        </p:nvSpPr>
        <p:spPr>
          <a:xfrm>
            <a:off x="10826496"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11.8%</a:t>
            </a:r>
            <a:endParaRPr lang="en-US" sz="1300" dirty="0"/>
          </a:p>
        </p:txBody>
      </p:sp>
      <p:sp>
        <p:nvSpPr>
          <p:cNvPr id="132" name="Text 130"/>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3" name="Text 131"/>
          <p:cNvSpPr txBox="1"/>
          <p:nvPr/>
        </p:nvSpPr>
        <p:spPr>
          <a:xfrm>
            <a:off x="6565392"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34" name="Shape 132"/>
          <p:cNvSpPr/>
          <p:nvPr/>
        </p:nvSpPr>
        <p:spPr>
          <a:xfrm>
            <a:off x="9076646" y="3496208"/>
            <a:ext cx="81973" cy="136676"/>
          </a:xfrm>
          <a:prstGeom prst="rect">
            <a:avLst/>
          </a:prstGeom>
          <a:solidFill>
            <a:srgbClr val="C2352F"/>
          </a:solidFill>
          <a:ln/>
        </p:spPr>
      </p:sp>
      <p:sp>
        <p:nvSpPr>
          <p:cNvPr id="135" name="Text 133"/>
          <p:cNvSpPr txBox="1"/>
          <p:nvPr/>
        </p:nvSpPr>
        <p:spPr>
          <a:xfrm>
            <a:off x="972921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−$36K</a:t>
            </a:r>
            <a:endParaRPr lang="en-US" sz="1300" dirty="0"/>
          </a:p>
        </p:txBody>
      </p:sp>
      <p:sp>
        <p:nvSpPr>
          <p:cNvPr id="136" name="Text 134"/>
          <p:cNvSpPr txBox="1"/>
          <p:nvPr/>
        </p:nvSpPr>
        <p:spPr>
          <a:xfrm>
            <a:off x="10826496"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a:t>
            </a:r>
            <a:endParaRPr lang="en-US" sz="1300" dirty="0"/>
          </a:p>
        </p:txBody>
      </p:sp>
      <p:sp>
        <p:nvSpPr>
          <p:cNvPr id="137" name="Text 135"/>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38" name="Text 136"/>
          <p:cNvSpPr txBox="1"/>
          <p:nvPr/>
        </p:nvSpPr>
        <p:spPr>
          <a:xfrm>
            <a:off x="6565392"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39" name="Shape 137"/>
          <p:cNvSpPr/>
          <p:nvPr/>
        </p:nvSpPr>
        <p:spPr>
          <a:xfrm>
            <a:off x="9072387" y="3744710"/>
            <a:ext cx="86231" cy="136676"/>
          </a:xfrm>
          <a:prstGeom prst="rect">
            <a:avLst/>
          </a:prstGeom>
          <a:solidFill>
            <a:srgbClr val="C2352F"/>
          </a:solidFill>
          <a:ln/>
        </p:spPr>
      </p:sp>
      <p:sp>
        <p:nvSpPr>
          <p:cNvPr id="140" name="Text 138"/>
          <p:cNvSpPr txBox="1"/>
          <p:nvPr/>
        </p:nvSpPr>
        <p:spPr>
          <a:xfrm>
            <a:off x="972921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−$38K</a:t>
            </a:r>
            <a:endParaRPr lang="en-US" sz="1300" dirty="0"/>
          </a:p>
        </p:txBody>
      </p:sp>
      <p:sp>
        <p:nvSpPr>
          <p:cNvPr id="141" name="Text 139"/>
          <p:cNvSpPr txBox="1"/>
          <p:nvPr/>
        </p:nvSpPr>
        <p:spPr>
          <a:xfrm>
            <a:off x="10826496"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8.0%</a:t>
            </a:r>
            <a:endParaRPr lang="en-US" sz="1300" dirty="0"/>
          </a:p>
        </p:txBody>
      </p:sp>
      <p:sp>
        <p:nvSpPr>
          <p:cNvPr id="142" name="Text 140"/>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3" name="Text 141"/>
          <p:cNvSpPr txBox="1"/>
          <p:nvPr/>
        </p:nvSpPr>
        <p:spPr>
          <a:xfrm>
            <a:off x="6565392"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44" name="Shape 142"/>
          <p:cNvSpPr/>
          <p:nvPr/>
        </p:nvSpPr>
        <p:spPr>
          <a:xfrm>
            <a:off x="9047176" y="3993212"/>
            <a:ext cx="111443" cy="136676"/>
          </a:xfrm>
          <a:prstGeom prst="rect">
            <a:avLst/>
          </a:prstGeom>
          <a:solidFill>
            <a:srgbClr val="C2352F"/>
          </a:solidFill>
          <a:ln/>
        </p:spPr>
      </p:sp>
      <p:sp>
        <p:nvSpPr>
          <p:cNvPr id="145" name="Text 143"/>
          <p:cNvSpPr txBox="1"/>
          <p:nvPr/>
        </p:nvSpPr>
        <p:spPr>
          <a:xfrm>
            <a:off x="972921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−$49K</a:t>
            </a:r>
            <a:endParaRPr lang="en-US" sz="1300" dirty="0"/>
          </a:p>
        </p:txBody>
      </p:sp>
      <p:sp>
        <p:nvSpPr>
          <p:cNvPr id="146" name="Text 144"/>
          <p:cNvSpPr txBox="1"/>
          <p:nvPr/>
        </p:nvSpPr>
        <p:spPr>
          <a:xfrm>
            <a:off x="10826496"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a:t>
            </a:r>
            <a:endParaRPr lang="en-US" sz="1300" dirty="0"/>
          </a:p>
        </p:txBody>
      </p:sp>
      <p:sp>
        <p:nvSpPr>
          <p:cNvPr id="147" name="Text 145"/>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48" name="Text 146"/>
          <p:cNvSpPr txBox="1"/>
          <p:nvPr/>
        </p:nvSpPr>
        <p:spPr>
          <a:xfrm>
            <a:off x="6565392"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49" name="Shape 147"/>
          <p:cNvSpPr/>
          <p:nvPr/>
        </p:nvSpPr>
        <p:spPr>
          <a:xfrm>
            <a:off x="9029635" y="4241713"/>
            <a:ext cx="128983" cy="136676"/>
          </a:xfrm>
          <a:prstGeom prst="rect">
            <a:avLst/>
          </a:prstGeom>
          <a:solidFill>
            <a:srgbClr val="C2352F"/>
          </a:solidFill>
          <a:ln/>
        </p:spPr>
      </p:sp>
      <p:sp>
        <p:nvSpPr>
          <p:cNvPr id="150" name="Text 148"/>
          <p:cNvSpPr txBox="1"/>
          <p:nvPr/>
        </p:nvSpPr>
        <p:spPr>
          <a:xfrm>
            <a:off x="972921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−$57K</a:t>
            </a:r>
            <a:endParaRPr lang="en-US" sz="1300" dirty="0"/>
          </a:p>
        </p:txBody>
      </p:sp>
      <p:sp>
        <p:nvSpPr>
          <p:cNvPr id="151" name="Text 149"/>
          <p:cNvSpPr txBox="1"/>
          <p:nvPr/>
        </p:nvSpPr>
        <p:spPr>
          <a:xfrm>
            <a:off x="10826496"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52" name="Text 150"/>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53" name="Text 151"/>
          <p:cNvSpPr txBox="1"/>
          <p:nvPr/>
        </p:nvSpPr>
        <p:spPr>
          <a:xfrm>
            <a:off x="6565392"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54" name="Shape 152"/>
          <p:cNvSpPr/>
          <p:nvPr/>
        </p:nvSpPr>
        <p:spPr>
          <a:xfrm>
            <a:off x="8988331" y="4490215"/>
            <a:ext cx="170287" cy="136676"/>
          </a:xfrm>
          <a:prstGeom prst="rect">
            <a:avLst/>
          </a:prstGeom>
          <a:solidFill>
            <a:srgbClr val="C2352F"/>
          </a:solidFill>
          <a:ln/>
        </p:spPr>
      </p:sp>
      <p:sp>
        <p:nvSpPr>
          <p:cNvPr id="155" name="Text 153"/>
          <p:cNvSpPr txBox="1"/>
          <p:nvPr/>
        </p:nvSpPr>
        <p:spPr>
          <a:xfrm>
            <a:off x="972921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−$75K</a:t>
            </a:r>
            <a:endParaRPr lang="en-US" sz="1300" dirty="0"/>
          </a:p>
        </p:txBody>
      </p:sp>
      <p:sp>
        <p:nvSpPr>
          <p:cNvPr id="156" name="Text 154"/>
          <p:cNvSpPr txBox="1"/>
          <p:nvPr/>
        </p:nvSpPr>
        <p:spPr>
          <a:xfrm>
            <a:off x="10826496"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12.8%</a:t>
            </a:r>
            <a:endParaRPr lang="en-US" sz="1300" dirty="0"/>
          </a:p>
        </p:txBody>
      </p:sp>
      <p:sp>
        <p:nvSpPr>
          <p:cNvPr id="157" name="Text 155"/>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58" name="Text 156"/>
          <p:cNvSpPr txBox="1"/>
          <p:nvPr/>
        </p:nvSpPr>
        <p:spPr>
          <a:xfrm>
            <a:off x="6565392"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59" name="Shape 157"/>
          <p:cNvSpPr/>
          <p:nvPr/>
        </p:nvSpPr>
        <p:spPr>
          <a:xfrm>
            <a:off x="8985336" y="4738717"/>
            <a:ext cx="173282" cy="136676"/>
          </a:xfrm>
          <a:prstGeom prst="rect">
            <a:avLst/>
          </a:prstGeom>
          <a:solidFill>
            <a:srgbClr val="C2352F"/>
          </a:solidFill>
          <a:ln/>
        </p:spPr>
      </p:sp>
      <p:sp>
        <p:nvSpPr>
          <p:cNvPr id="160" name="Text 158"/>
          <p:cNvSpPr txBox="1"/>
          <p:nvPr/>
        </p:nvSpPr>
        <p:spPr>
          <a:xfrm>
            <a:off x="972921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−$77K</a:t>
            </a:r>
            <a:endParaRPr lang="en-US" sz="1300" dirty="0"/>
          </a:p>
        </p:txBody>
      </p:sp>
      <p:sp>
        <p:nvSpPr>
          <p:cNvPr id="161" name="Text 159"/>
          <p:cNvSpPr txBox="1"/>
          <p:nvPr/>
        </p:nvSpPr>
        <p:spPr>
          <a:xfrm>
            <a:off x="10826496"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162" name="Text 16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63" name="Text 161"/>
          <p:cNvSpPr txBox="1"/>
          <p:nvPr/>
        </p:nvSpPr>
        <p:spPr>
          <a:xfrm>
            <a:off x="6565392"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64" name="Shape 162"/>
          <p:cNvSpPr/>
          <p:nvPr/>
        </p:nvSpPr>
        <p:spPr>
          <a:xfrm>
            <a:off x="8971042" y="4987218"/>
            <a:ext cx="187577" cy="136676"/>
          </a:xfrm>
          <a:prstGeom prst="rect">
            <a:avLst/>
          </a:prstGeom>
          <a:solidFill>
            <a:srgbClr val="C2352F"/>
          </a:solidFill>
          <a:ln/>
        </p:spPr>
      </p:sp>
      <p:sp>
        <p:nvSpPr>
          <p:cNvPr id="165" name="Text 163"/>
          <p:cNvSpPr txBox="1"/>
          <p:nvPr/>
        </p:nvSpPr>
        <p:spPr>
          <a:xfrm>
            <a:off x="972921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−$83K</a:t>
            </a:r>
            <a:endParaRPr lang="en-US" sz="1300" dirty="0"/>
          </a:p>
        </p:txBody>
      </p:sp>
      <p:sp>
        <p:nvSpPr>
          <p:cNvPr id="166" name="Text 164"/>
          <p:cNvSpPr txBox="1"/>
          <p:nvPr/>
        </p:nvSpPr>
        <p:spPr>
          <a:xfrm>
            <a:off x="10826496"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7.4%</a:t>
            </a:r>
            <a:endParaRPr lang="en-US" sz="1300" dirty="0"/>
          </a:p>
        </p:txBody>
      </p:sp>
      <p:sp>
        <p:nvSpPr>
          <p:cNvPr id="167" name="Text 165"/>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68" name="Text 166"/>
          <p:cNvSpPr txBox="1"/>
          <p:nvPr/>
        </p:nvSpPr>
        <p:spPr>
          <a:xfrm>
            <a:off x="6565392"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9" name="Shape 167"/>
          <p:cNvSpPr/>
          <p:nvPr/>
        </p:nvSpPr>
        <p:spPr>
          <a:xfrm>
            <a:off x="8955629" y="5235720"/>
            <a:ext cx="202990" cy="136676"/>
          </a:xfrm>
          <a:prstGeom prst="rect">
            <a:avLst/>
          </a:prstGeom>
          <a:solidFill>
            <a:srgbClr val="C2352F"/>
          </a:solidFill>
          <a:ln/>
        </p:spPr>
      </p:sp>
      <p:sp>
        <p:nvSpPr>
          <p:cNvPr id="170" name="Text 168"/>
          <p:cNvSpPr txBox="1"/>
          <p:nvPr/>
        </p:nvSpPr>
        <p:spPr>
          <a:xfrm>
            <a:off x="972921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−$90K</a:t>
            </a:r>
            <a:endParaRPr lang="en-US" sz="1300" dirty="0"/>
          </a:p>
        </p:txBody>
      </p:sp>
      <p:sp>
        <p:nvSpPr>
          <p:cNvPr id="171" name="Text 169"/>
          <p:cNvSpPr txBox="1"/>
          <p:nvPr/>
        </p:nvSpPr>
        <p:spPr>
          <a:xfrm>
            <a:off x="10826496"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172" name="Text 170"/>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73" name="Text 171"/>
          <p:cNvSpPr txBox="1"/>
          <p:nvPr/>
        </p:nvSpPr>
        <p:spPr>
          <a:xfrm>
            <a:off x="6565392"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74" name="Shape 172"/>
          <p:cNvSpPr/>
          <p:nvPr/>
        </p:nvSpPr>
        <p:spPr>
          <a:xfrm>
            <a:off x="8650224" y="5484222"/>
            <a:ext cx="508394" cy="136676"/>
          </a:xfrm>
          <a:prstGeom prst="rect">
            <a:avLst/>
          </a:prstGeom>
          <a:solidFill>
            <a:srgbClr val="C2352F"/>
          </a:solidFill>
          <a:ln/>
        </p:spPr>
      </p:sp>
      <p:sp>
        <p:nvSpPr>
          <p:cNvPr id="175" name="Text 173"/>
          <p:cNvSpPr txBox="1"/>
          <p:nvPr/>
        </p:nvSpPr>
        <p:spPr>
          <a:xfrm>
            <a:off x="972921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−$225K</a:t>
            </a:r>
            <a:endParaRPr lang="en-US" sz="1300" dirty="0"/>
          </a:p>
        </p:txBody>
      </p:sp>
      <p:sp>
        <p:nvSpPr>
          <p:cNvPr id="176" name="Text 174"/>
          <p:cNvSpPr txBox="1"/>
          <p:nvPr/>
        </p:nvSpPr>
        <p:spPr>
          <a:xfrm>
            <a:off x="10826496"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77" name="Shape 175"/>
          <p:cNvSpPr/>
          <p:nvPr/>
        </p:nvSpPr>
        <p:spPr>
          <a:xfrm>
            <a:off x="6085332" y="1700784"/>
            <a:ext cx="10973" cy="4224528"/>
          </a:xfrm>
          <a:prstGeom prst="rect">
            <a:avLst/>
          </a:prstGeom>
          <a:solidFill>
            <a:srgbClr val="D9D9D9"/>
          </a:solidFill>
          <a:ln/>
        </p:spPr>
      </p:sp>
      <p:sp>
        <p:nvSpPr>
          <p:cNvPr id="178" name="Shape 176"/>
          <p:cNvSpPr/>
          <p:nvPr/>
        </p:nvSpPr>
        <p:spPr>
          <a:xfrm>
            <a:off x="457200" y="6126480"/>
            <a:ext cx="11274552" cy="341376"/>
          </a:xfrm>
          <a:prstGeom prst="rect">
            <a:avLst/>
          </a:prstGeom>
          <a:solidFill>
            <a:srgbClr val="FBEBEA"/>
          </a:solidFill>
          <a:ln/>
        </p:spPr>
      </p:sp>
      <p:sp>
        <p:nvSpPr>
          <p:cNvPr id="179" name="Text 177"/>
          <p:cNvSpPr txBox="1"/>
          <p:nvPr/>
        </p:nvSpPr>
        <p:spPr>
          <a:xfrm>
            <a:off x="658368" y="6144768"/>
            <a:ext cx="10927080" cy="304800"/>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25 stores under 15% leave $1,029,276 a year; 8 are at or above it. Toyota Spokane is furthest below at −$225K.</a:t>
            </a:r>
            <a:endParaRPr lang="en-US" sz="1400" dirty="0"/>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Balance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6.9%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8.3%</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+20.0%</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Balance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3762756" y="3049524"/>
            <a:ext cx="310896" cy="45720"/>
          </a:xfrm>
          <a:prstGeom prst="rect">
            <a:avLst/>
          </a:prstGeom>
          <a:solidFill>
            <a:srgbClr val="9AA3AD"/>
          </a:solidFill>
          <a:ln/>
        </p:spPr>
      </p:sp>
      <p:sp>
        <p:nvSpPr>
          <p:cNvPr id="24" name="Shape 16"/>
          <p:cNvSpPr/>
          <p:nvPr/>
        </p:nvSpPr>
        <p:spPr>
          <a:xfrm>
            <a:off x="3863340" y="3017520"/>
            <a:ext cx="109728" cy="109728"/>
          </a:xfrm>
          <a:prstGeom prst="ellipse">
            <a:avLst/>
          </a:prstGeom>
          <a:solidFill>
            <a:srgbClr val="9AA3AD"/>
          </a:solidFill>
          <a:ln/>
        </p:spPr>
      </p:sp>
      <p:sp>
        <p:nvSpPr>
          <p:cNvPr id="25" name="Text 17"/>
          <p:cNvSpPr txBox="1"/>
          <p:nvPr/>
        </p:nvSpPr>
        <p:spPr>
          <a:xfrm>
            <a:off x="414680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4997196" y="3049524"/>
            <a:ext cx="310896" cy="45720"/>
          </a:xfrm>
          <a:prstGeom prst="rect">
            <a:avLst/>
          </a:prstGeom>
          <a:solidFill>
            <a:srgbClr val="2587C5"/>
          </a:solidFill>
          <a:ln/>
        </p:spPr>
      </p:sp>
      <p:sp>
        <p:nvSpPr>
          <p:cNvPr id="27" name="Shape 19"/>
          <p:cNvSpPr/>
          <p:nvPr/>
        </p:nvSpPr>
        <p:spPr>
          <a:xfrm>
            <a:off x="5097780" y="3017520"/>
            <a:ext cx="109728" cy="109728"/>
          </a:xfrm>
          <a:prstGeom prst="ellipse">
            <a:avLst/>
          </a:prstGeom>
          <a:solidFill>
            <a:srgbClr val="2587C5"/>
          </a:solidFill>
          <a:ln/>
        </p:spPr>
      </p:sp>
      <p:sp>
        <p:nvSpPr>
          <p:cNvPr id="28" name="Text 20"/>
          <p:cNvSpPr txBox="1"/>
          <p:nvPr/>
        </p:nvSpPr>
        <p:spPr>
          <a:xfrm>
            <a:off x="538124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6231636" y="3049524"/>
            <a:ext cx="73152" cy="36576"/>
          </a:xfrm>
          <a:prstGeom prst="rect">
            <a:avLst/>
          </a:prstGeom>
          <a:solidFill>
            <a:srgbClr val="595959"/>
          </a:solidFill>
          <a:ln/>
        </p:spPr>
      </p:sp>
      <p:sp>
        <p:nvSpPr>
          <p:cNvPr id="30" name="Shape 22"/>
          <p:cNvSpPr/>
          <p:nvPr/>
        </p:nvSpPr>
        <p:spPr>
          <a:xfrm>
            <a:off x="6350508" y="3049524"/>
            <a:ext cx="73152" cy="36576"/>
          </a:xfrm>
          <a:prstGeom prst="rect">
            <a:avLst/>
          </a:prstGeom>
          <a:solidFill>
            <a:srgbClr val="595959"/>
          </a:solidFill>
          <a:ln/>
        </p:spPr>
      </p:sp>
      <p:sp>
        <p:nvSpPr>
          <p:cNvPr id="31" name="Shape 23"/>
          <p:cNvSpPr/>
          <p:nvPr/>
        </p:nvSpPr>
        <p:spPr>
          <a:xfrm>
            <a:off x="6469380" y="3049524"/>
            <a:ext cx="73152" cy="36576"/>
          </a:xfrm>
          <a:prstGeom prst="rect">
            <a:avLst/>
          </a:prstGeom>
          <a:solidFill>
            <a:srgbClr val="595959"/>
          </a:solidFill>
          <a:ln/>
        </p:spPr>
      </p:sp>
      <p:sp>
        <p:nvSpPr>
          <p:cNvPr id="32" name="Text 24"/>
          <p:cNvSpPr txBox="1"/>
          <p:nvPr/>
        </p:nvSpPr>
        <p:spPr>
          <a:xfrm>
            <a:off x="6615684" y="2926080"/>
            <a:ext cx="23774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Benchmark 15%</a:t>
            </a:r>
            <a:endParaRPr lang="en-US" sz="1400" dirty="0"/>
          </a:p>
        </p:txBody>
      </p:sp>
      <p:sp>
        <p:nvSpPr>
          <p:cNvPr id="33" name="Shape 25"/>
          <p:cNvSpPr/>
          <p:nvPr/>
        </p:nvSpPr>
        <p:spPr>
          <a:xfrm>
            <a:off x="457200" y="6126480"/>
            <a:ext cx="11274552" cy="615696"/>
          </a:xfrm>
          <a:prstGeom prst="rect">
            <a:avLst/>
          </a:prstGeom>
          <a:solidFill>
            <a:srgbClr val="E6F6EE"/>
          </a:solidFill>
          <a:ln/>
        </p:spPr>
      </p:sp>
      <p:sp>
        <p:nvSpPr>
          <p:cNvPr id="34"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1.4 pts to 8.3%, ahead of 2025 in all nine months, but 6.6 pts under the 15% benchmark — 18,493 balances short.</a:t>
            </a:r>
            <a:endParaRPr lang="en-US" sz="1600" dirty="0"/>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ANNUALIZED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Tire Balance Variance from Benchmark</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417880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5276088"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 name="Shape 6"/>
          <p:cNvSpPr/>
          <p:nvPr/>
        </p:nvSpPr>
        <p:spPr>
          <a:xfrm>
            <a:off x="3831949" y="1700784"/>
            <a:ext cx="10973" cy="4224528"/>
          </a:xfrm>
          <a:prstGeom prst="rect">
            <a:avLst/>
          </a:prstGeom>
          <a:solidFill>
            <a:srgbClr val="9AA3AD"/>
          </a:solidFill>
          <a:ln/>
        </p:spPr>
      </p:sp>
      <p:sp>
        <p:nvSpPr>
          <p:cNvPr id="9" name="Text 7"/>
          <p:cNvSpPr txBox="1"/>
          <p:nvPr/>
        </p:nvSpPr>
        <p:spPr>
          <a:xfrm>
            <a:off x="972921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0" name="Text 8"/>
          <p:cNvSpPr txBox="1"/>
          <p:nvPr/>
        </p:nvSpPr>
        <p:spPr>
          <a:xfrm>
            <a:off x="10826496"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Shape 9"/>
          <p:cNvSpPr/>
          <p:nvPr/>
        </p:nvSpPr>
        <p:spPr>
          <a:xfrm>
            <a:off x="9382357" y="1700784"/>
            <a:ext cx="10973" cy="3976026"/>
          </a:xfrm>
          <a:prstGeom prst="rect">
            <a:avLst/>
          </a:prstGeom>
          <a:solidFill>
            <a:srgbClr val="9AA3AD"/>
          </a:solidFill>
          <a:ln/>
        </p:spPr>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4" name="Shape 12"/>
          <p:cNvSpPr/>
          <p:nvPr/>
        </p:nvSpPr>
        <p:spPr>
          <a:xfrm>
            <a:off x="3837435" y="1756697"/>
            <a:ext cx="286509" cy="136676"/>
          </a:xfrm>
          <a:prstGeom prst="rect">
            <a:avLst/>
          </a:prstGeom>
          <a:solidFill>
            <a:srgbClr val="12A566"/>
          </a:solidFill>
          <a:ln/>
        </p:spPr>
      </p:sp>
      <p:sp>
        <p:nvSpPr>
          <p:cNvPr id="15" name="Text 13"/>
          <p:cNvSpPr txBox="1"/>
          <p:nvPr/>
        </p:nvSpPr>
        <p:spPr>
          <a:xfrm>
            <a:off x="417880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+$70K</a:t>
            </a:r>
            <a:endParaRPr lang="en-US" sz="1300" dirty="0"/>
          </a:p>
        </p:txBody>
      </p:sp>
      <p:sp>
        <p:nvSpPr>
          <p:cNvPr id="16" name="Text 14"/>
          <p:cNvSpPr txBox="1"/>
          <p:nvPr/>
        </p:nvSpPr>
        <p:spPr>
          <a:xfrm>
            <a:off x="5276088"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a:t>
            </a:r>
            <a:endParaRPr lang="en-US" sz="1300" dirty="0"/>
          </a:p>
        </p:txBody>
      </p:sp>
      <p:sp>
        <p:nvSpPr>
          <p:cNvPr id="17" name="Text 15"/>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9" name="Shape 17"/>
          <p:cNvSpPr/>
          <p:nvPr/>
        </p:nvSpPr>
        <p:spPr>
          <a:xfrm>
            <a:off x="3837435" y="2005199"/>
            <a:ext cx="125398" cy="136676"/>
          </a:xfrm>
          <a:prstGeom prst="rect">
            <a:avLst/>
          </a:prstGeom>
          <a:solidFill>
            <a:srgbClr val="12A566"/>
          </a:solidFill>
          <a:ln/>
        </p:spPr>
      </p:sp>
      <p:sp>
        <p:nvSpPr>
          <p:cNvPr id="20" name="Text 18"/>
          <p:cNvSpPr txBox="1"/>
          <p:nvPr/>
        </p:nvSpPr>
        <p:spPr>
          <a:xfrm>
            <a:off x="417880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+$31K</a:t>
            </a:r>
            <a:endParaRPr lang="en-US" sz="1300" dirty="0"/>
          </a:p>
        </p:txBody>
      </p:sp>
      <p:sp>
        <p:nvSpPr>
          <p:cNvPr id="21" name="Text 19"/>
          <p:cNvSpPr txBox="1"/>
          <p:nvPr/>
        </p:nvSpPr>
        <p:spPr>
          <a:xfrm>
            <a:off x="5276088"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27.0%</a:t>
            </a:r>
            <a:endParaRPr lang="en-US" sz="1300" dirty="0"/>
          </a:p>
        </p:txBody>
      </p:sp>
      <p:sp>
        <p:nvSpPr>
          <p:cNvPr id="22" name="Text 20"/>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3" name="Text 21"/>
          <p:cNvSpPr txBox="1"/>
          <p:nvPr/>
        </p:nvSpPr>
        <p:spPr>
          <a:xfrm>
            <a:off x="1014984"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4" name="Shape 22"/>
          <p:cNvSpPr/>
          <p:nvPr/>
        </p:nvSpPr>
        <p:spPr>
          <a:xfrm>
            <a:off x="3837435" y="2253700"/>
            <a:ext cx="56794" cy="136676"/>
          </a:xfrm>
          <a:prstGeom prst="rect">
            <a:avLst/>
          </a:prstGeom>
          <a:solidFill>
            <a:srgbClr val="12A566"/>
          </a:solidFill>
          <a:ln/>
        </p:spPr>
      </p:sp>
      <p:sp>
        <p:nvSpPr>
          <p:cNvPr id="25" name="Text 23"/>
          <p:cNvSpPr txBox="1"/>
          <p:nvPr/>
        </p:nvSpPr>
        <p:spPr>
          <a:xfrm>
            <a:off x="417880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+$14K</a:t>
            </a:r>
            <a:endParaRPr lang="en-US" sz="1300" dirty="0"/>
          </a:p>
        </p:txBody>
      </p:sp>
      <p:sp>
        <p:nvSpPr>
          <p:cNvPr id="26" name="Text 24"/>
          <p:cNvSpPr txBox="1"/>
          <p:nvPr/>
        </p:nvSpPr>
        <p:spPr>
          <a:xfrm>
            <a:off x="5276088"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a:t>
            </a:r>
            <a:endParaRPr lang="en-US" sz="1300" dirty="0"/>
          </a:p>
        </p:txBody>
      </p:sp>
      <p:sp>
        <p:nvSpPr>
          <p:cNvPr id="27" name="Text 25"/>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8" name="Text 26"/>
          <p:cNvSpPr txBox="1"/>
          <p:nvPr/>
        </p:nvSpPr>
        <p:spPr>
          <a:xfrm>
            <a:off x="1014984"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9" name="Shape 27"/>
          <p:cNvSpPr/>
          <p:nvPr/>
        </p:nvSpPr>
        <p:spPr>
          <a:xfrm>
            <a:off x="3837435" y="2502202"/>
            <a:ext cx="22738" cy="136676"/>
          </a:xfrm>
          <a:prstGeom prst="rect">
            <a:avLst/>
          </a:prstGeom>
          <a:solidFill>
            <a:srgbClr val="12A566"/>
          </a:solidFill>
          <a:ln/>
        </p:spPr>
      </p:sp>
      <p:sp>
        <p:nvSpPr>
          <p:cNvPr id="30" name="Text 28"/>
          <p:cNvSpPr txBox="1"/>
          <p:nvPr/>
        </p:nvSpPr>
        <p:spPr>
          <a:xfrm>
            <a:off x="417880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+$6K</a:t>
            </a:r>
            <a:endParaRPr lang="en-US" sz="1300" dirty="0"/>
          </a:p>
        </p:txBody>
      </p:sp>
      <p:sp>
        <p:nvSpPr>
          <p:cNvPr id="31" name="Text 29"/>
          <p:cNvSpPr txBox="1"/>
          <p:nvPr/>
        </p:nvSpPr>
        <p:spPr>
          <a:xfrm>
            <a:off x="5276088"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a:t>
            </a:r>
            <a:endParaRPr lang="en-US" sz="1300" dirty="0"/>
          </a:p>
        </p:txBody>
      </p:sp>
      <p:sp>
        <p:nvSpPr>
          <p:cNvPr id="32" name="Text 30"/>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3" name="Text 31"/>
          <p:cNvSpPr txBox="1"/>
          <p:nvPr/>
        </p:nvSpPr>
        <p:spPr>
          <a:xfrm>
            <a:off x="1014984"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4" name="Shape 32"/>
          <p:cNvSpPr/>
          <p:nvPr/>
        </p:nvSpPr>
        <p:spPr>
          <a:xfrm>
            <a:off x="3837294" y="2750703"/>
            <a:ext cx="18288" cy="136676"/>
          </a:xfrm>
          <a:prstGeom prst="rect">
            <a:avLst/>
          </a:prstGeom>
          <a:solidFill>
            <a:srgbClr val="C2352F"/>
          </a:solidFill>
          <a:ln/>
        </p:spPr>
      </p:sp>
      <p:sp>
        <p:nvSpPr>
          <p:cNvPr id="35" name="Text 33"/>
          <p:cNvSpPr txBox="1"/>
          <p:nvPr/>
        </p:nvSpPr>
        <p:spPr>
          <a:xfrm>
            <a:off x="4178808"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a:t>
            </a:r>
            <a:endParaRPr lang="en-US" sz="1300" dirty="0"/>
          </a:p>
        </p:txBody>
      </p:sp>
      <p:sp>
        <p:nvSpPr>
          <p:cNvPr id="36" name="Text 34"/>
          <p:cNvSpPr txBox="1"/>
          <p:nvPr/>
        </p:nvSpPr>
        <p:spPr>
          <a:xfrm>
            <a:off x="5276088"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a:t>
            </a:r>
            <a:endParaRPr lang="en-US" sz="1300" dirty="0"/>
          </a:p>
        </p:txBody>
      </p:sp>
      <p:sp>
        <p:nvSpPr>
          <p:cNvPr id="37" name="Text 3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8" name="Text 36"/>
          <p:cNvSpPr txBox="1"/>
          <p:nvPr/>
        </p:nvSpPr>
        <p:spPr>
          <a:xfrm>
            <a:off x="1014984"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9" name="Shape 37"/>
          <p:cNvSpPr/>
          <p:nvPr/>
        </p:nvSpPr>
        <p:spPr>
          <a:xfrm>
            <a:off x="3826086" y="2999205"/>
            <a:ext cx="18288" cy="136676"/>
          </a:xfrm>
          <a:prstGeom prst="rect">
            <a:avLst/>
          </a:prstGeom>
          <a:solidFill>
            <a:srgbClr val="C2352F"/>
          </a:solidFill>
          <a:ln/>
        </p:spPr>
      </p:sp>
      <p:sp>
        <p:nvSpPr>
          <p:cNvPr id="40" name="Text 38"/>
          <p:cNvSpPr txBox="1"/>
          <p:nvPr/>
        </p:nvSpPr>
        <p:spPr>
          <a:xfrm>
            <a:off x="4178808"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−$3K</a:t>
            </a:r>
            <a:endParaRPr lang="en-US" sz="1300" dirty="0"/>
          </a:p>
        </p:txBody>
      </p:sp>
      <p:sp>
        <p:nvSpPr>
          <p:cNvPr id="41" name="Text 39"/>
          <p:cNvSpPr txBox="1"/>
          <p:nvPr/>
        </p:nvSpPr>
        <p:spPr>
          <a:xfrm>
            <a:off x="5276088"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a:t>
            </a:r>
            <a:endParaRPr lang="en-US" sz="1300" dirty="0"/>
          </a:p>
        </p:txBody>
      </p:sp>
      <p:sp>
        <p:nvSpPr>
          <p:cNvPr id="42" name="Text 40"/>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3" name="Text 41"/>
          <p:cNvSpPr txBox="1"/>
          <p:nvPr/>
        </p:nvSpPr>
        <p:spPr>
          <a:xfrm>
            <a:off x="1014984"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4" name="Shape 42"/>
          <p:cNvSpPr/>
          <p:nvPr/>
        </p:nvSpPr>
        <p:spPr>
          <a:xfrm>
            <a:off x="3813350" y="3247707"/>
            <a:ext cx="24085" cy="136676"/>
          </a:xfrm>
          <a:prstGeom prst="rect">
            <a:avLst/>
          </a:prstGeom>
          <a:solidFill>
            <a:srgbClr val="C2352F"/>
          </a:solidFill>
          <a:ln/>
        </p:spPr>
      </p:sp>
      <p:sp>
        <p:nvSpPr>
          <p:cNvPr id="45" name="Text 43"/>
          <p:cNvSpPr txBox="1"/>
          <p:nvPr/>
        </p:nvSpPr>
        <p:spPr>
          <a:xfrm>
            <a:off x="4178808"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−$6K</a:t>
            </a:r>
            <a:endParaRPr lang="en-US" sz="1300" dirty="0"/>
          </a:p>
        </p:txBody>
      </p:sp>
      <p:sp>
        <p:nvSpPr>
          <p:cNvPr id="46" name="Text 44"/>
          <p:cNvSpPr txBox="1"/>
          <p:nvPr/>
        </p:nvSpPr>
        <p:spPr>
          <a:xfrm>
            <a:off x="5276088"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13.5%</a:t>
            </a:r>
            <a:endParaRPr lang="en-US" sz="1300" dirty="0"/>
          </a:p>
        </p:txBody>
      </p:sp>
      <p:sp>
        <p:nvSpPr>
          <p:cNvPr id="47" name="Text 45"/>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8" name="Text 46"/>
          <p:cNvSpPr txBox="1"/>
          <p:nvPr/>
        </p:nvSpPr>
        <p:spPr>
          <a:xfrm>
            <a:off x="1014984"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49" name="Shape 47"/>
          <p:cNvSpPr/>
          <p:nvPr/>
        </p:nvSpPr>
        <p:spPr>
          <a:xfrm>
            <a:off x="3806604" y="3496208"/>
            <a:ext cx="30831" cy="136676"/>
          </a:xfrm>
          <a:prstGeom prst="rect">
            <a:avLst/>
          </a:prstGeom>
          <a:solidFill>
            <a:srgbClr val="C2352F"/>
          </a:solidFill>
          <a:ln/>
        </p:spPr>
      </p:sp>
      <p:sp>
        <p:nvSpPr>
          <p:cNvPr id="50" name="Text 48"/>
          <p:cNvSpPr txBox="1"/>
          <p:nvPr/>
        </p:nvSpPr>
        <p:spPr>
          <a:xfrm>
            <a:off x="4178808"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−$8K</a:t>
            </a:r>
            <a:endParaRPr lang="en-US" sz="1300" dirty="0"/>
          </a:p>
        </p:txBody>
      </p:sp>
      <p:sp>
        <p:nvSpPr>
          <p:cNvPr id="51" name="Text 49"/>
          <p:cNvSpPr txBox="1"/>
          <p:nvPr/>
        </p:nvSpPr>
        <p:spPr>
          <a:xfrm>
            <a:off x="5276088"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a:t>
            </a:r>
            <a:endParaRPr lang="en-US" sz="1300" dirty="0"/>
          </a:p>
        </p:txBody>
      </p:sp>
      <p:sp>
        <p:nvSpPr>
          <p:cNvPr id="52" name="Text 50"/>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3" name="Text 51"/>
          <p:cNvSpPr txBox="1"/>
          <p:nvPr/>
        </p:nvSpPr>
        <p:spPr>
          <a:xfrm>
            <a:off x="1014984"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4" name="Shape 52"/>
          <p:cNvSpPr/>
          <p:nvPr/>
        </p:nvSpPr>
        <p:spPr>
          <a:xfrm>
            <a:off x="3792816" y="3744710"/>
            <a:ext cx="44619" cy="136676"/>
          </a:xfrm>
          <a:prstGeom prst="rect">
            <a:avLst/>
          </a:prstGeom>
          <a:solidFill>
            <a:srgbClr val="C2352F"/>
          </a:solidFill>
          <a:ln/>
        </p:spPr>
      </p:sp>
      <p:sp>
        <p:nvSpPr>
          <p:cNvPr id="55" name="Text 53"/>
          <p:cNvSpPr txBox="1"/>
          <p:nvPr/>
        </p:nvSpPr>
        <p:spPr>
          <a:xfrm>
            <a:off x="4178808"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−$11K</a:t>
            </a:r>
            <a:endParaRPr lang="en-US" sz="1300" dirty="0"/>
          </a:p>
        </p:txBody>
      </p:sp>
      <p:sp>
        <p:nvSpPr>
          <p:cNvPr id="56" name="Text 54"/>
          <p:cNvSpPr txBox="1"/>
          <p:nvPr/>
        </p:nvSpPr>
        <p:spPr>
          <a:xfrm>
            <a:off x="5276088"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13.1%</a:t>
            </a:r>
            <a:endParaRPr lang="en-US" sz="1300" dirty="0"/>
          </a:p>
        </p:txBody>
      </p:sp>
      <p:sp>
        <p:nvSpPr>
          <p:cNvPr id="57" name="Text 55"/>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58" name="Text 56"/>
          <p:cNvSpPr txBox="1"/>
          <p:nvPr/>
        </p:nvSpPr>
        <p:spPr>
          <a:xfrm>
            <a:off x="1014984"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9" name="Shape 57"/>
          <p:cNvSpPr/>
          <p:nvPr/>
        </p:nvSpPr>
        <p:spPr>
          <a:xfrm>
            <a:off x="3778841" y="3993212"/>
            <a:ext cx="58594" cy="136676"/>
          </a:xfrm>
          <a:prstGeom prst="rect">
            <a:avLst/>
          </a:prstGeom>
          <a:solidFill>
            <a:srgbClr val="C2352F"/>
          </a:solidFill>
          <a:ln/>
        </p:spPr>
      </p:sp>
      <p:sp>
        <p:nvSpPr>
          <p:cNvPr id="60" name="Text 58"/>
          <p:cNvSpPr txBox="1"/>
          <p:nvPr/>
        </p:nvSpPr>
        <p:spPr>
          <a:xfrm>
            <a:off x="4178808"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−$14K</a:t>
            </a:r>
            <a:endParaRPr lang="en-US" sz="1300" dirty="0"/>
          </a:p>
        </p:txBody>
      </p:sp>
      <p:sp>
        <p:nvSpPr>
          <p:cNvPr id="61" name="Text 59"/>
          <p:cNvSpPr txBox="1"/>
          <p:nvPr/>
        </p:nvSpPr>
        <p:spPr>
          <a:xfrm>
            <a:off x="5276088"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62" name="Text 6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3" name="Text 61"/>
          <p:cNvSpPr txBox="1"/>
          <p:nvPr/>
        </p:nvSpPr>
        <p:spPr>
          <a:xfrm>
            <a:off x="1014984"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4" name="Shape 62"/>
          <p:cNvSpPr/>
          <p:nvPr/>
        </p:nvSpPr>
        <p:spPr>
          <a:xfrm>
            <a:off x="3762034" y="4241713"/>
            <a:ext cx="75401" cy="136676"/>
          </a:xfrm>
          <a:prstGeom prst="rect">
            <a:avLst/>
          </a:prstGeom>
          <a:solidFill>
            <a:srgbClr val="C2352F"/>
          </a:solidFill>
          <a:ln/>
        </p:spPr>
      </p:sp>
      <p:sp>
        <p:nvSpPr>
          <p:cNvPr id="65" name="Text 63"/>
          <p:cNvSpPr txBox="1"/>
          <p:nvPr/>
        </p:nvSpPr>
        <p:spPr>
          <a:xfrm>
            <a:off x="4178808"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−$18K</a:t>
            </a:r>
            <a:endParaRPr lang="en-US" sz="1300" dirty="0"/>
          </a:p>
        </p:txBody>
      </p:sp>
      <p:sp>
        <p:nvSpPr>
          <p:cNvPr id="66" name="Text 64"/>
          <p:cNvSpPr txBox="1"/>
          <p:nvPr/>
        </p:nvSpPr>
        <p:spPr>
          <a:xfrm>
            <a:off x="5276088"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a:t>
            </a:r>
            <a:endParaRPr lang="en-US" sz="1300" dirty="0"/>
          </a:p>
        </p:txBody>
      </p:sp>
      <p:sp>
        <p:nvSpPr>
          <p:cNvPr id="67" name="Text 65"/>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68" name="Text 66"/>
          <p:cNvSpPr txBox="1"/>
          <p:nvPr/>
        </p:nvSpPr>
        <p:spPr>
          <a:xfrm>
            <a:off x="1014984"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9" name="Shape 67"/>
          <p:cNvSpPr/>
          <p:nvPr/>
        </p:nvSpPr>
        <p:spPr>
          <a:xfrm>
            <a:off x="3751798" y="4490215"/>
            <a:ext cx="85637" cy="136676"/>
          </a:xfrm>
          <a:prstGeom prst="rect">
            <a:avLst/>
          </a:prstGeom>
          <a:solidFill>
            <a:srgbClr val="C2352F"/>
          </a:solidFill>
          <a:ln/>
        </p:spPr>
      </p:sp>
      <p:sp>
        <p:nvSpPr>
          <p:cNvPr id="70" name="Text 68"/>
          <p:cNvSpPr txBox="1"/>
          <p:nvPr/>
        </p:nvSpPr>
        <p:spPr>
          <a:xfrm>
            <a:off x="4178808"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71" name="Text 69"/>
          <p:cNvSpPr txBox="1"/>
          <p:nvPr/>
        </p:nvSpPr>
        <p:spPr>
          <a:xfrm>
            <a:off x="5276088"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9.0%</a:t>
            </a:r>
            <a:endParaRPr lang="en-US" sz="1300" dirty="0"/>
          </a:p>
        </p:txBody>
      </p:sp>
      <p:sp>
        <p:nvSpPr>
          <p:cNvPr id="72" name="Text 70"/>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3" name="Text 71"/>
          <p:cNvSpPr txBox="1"/>
          <p:nvPr/>
        </p:nvSpPr>
        <p:spPr>
          <a:xfrm>
            <a:off x="1014984"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4" name="Shape 72"/>
          <p:cNvSpPr/>
          <p:nvPr/>
        </p:nvSpPr>
        <p:spPr>
          <a:xfrm>
            <a:off x="3727198" y="4738717"/>
            <a:ext cx="110237" cy="136676"/>
          </a:xfrm>
          <a:prstGeom prst="rect">
            <a:avLst/>
          </a:prstGeom>
          <a:solidFill>
            <a:srgbClr val="C2352F"/>
          </a:solidFill>
          <a:ln/>
        </p:spPr>
      </p:sp>
      <p:sp>
        <p:nvSpPr>
          <p:cNvPr id="75" name="Text 73"/>
          <p:cNvSpPr txBox="1"/>
          <p:nvPr/>
        </p:nvSpPr>
        <p:spPr>
          <a:xfrm>
            <a:off x="417880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−$27K</a:t>
            </a:r>
            <a:endParaRPr lang="en-US" sz="1300" dirty="0"/>
          </a:p>
        </p:txBody>
      </p:sp>
      <p:sp>
        <p:nvSpPr>
          <p:cNvPr id="76" name="Text 74"/>
          <p:cNvSpPr txBox="1"/>
          <p:nvPr/>
        </p:nvSpPr>
        <p:spPr>
          <a:xfrm>
            <a:off x="5276088"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a:t>
            </a:r>
            <a:endParaRPr lang="en-US" sz="1300" dirty="0"/>
          </a:p>
        </p:txBody>
      </p:sp>
      <p:sp>
        <p:nvSpPr>
          <p:cNvPr id="77" name="Text 75"/>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78" name="Text 76"/>
          <p:cNvSpPr txBox="1"/>
          <p:nvPr/>
        </p:nvSpPr>
        <p:spPr>
          <a:xfrm>
            <a:off x="1014984"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9" name="Shape 77"/>
          <p:cNvSpPr/>
          <p:nvPr/>
        </p:nvSpPr>
        <p:spPr>
          <a:xfrm>
            <a:off x="3725070" y="4987218"/>
            <a:ext cx="112366" cy="136676"/>
          </a:xfrm>
          <a:prstGeom prst="rect">
            <a:avLst/>
          </a:prstGeom>
          <a:solidFill>
            <a:srgbClr val="C2352F"/>
          </a:solidFill>
          <a:ln/>
        </p:spPr>
      </p:sp>
      <p:sp>
        <p:nvSpPr>
          <p:cNvPr id="80" name="Text 78"/>
          <p:cNvSpPr txBox="1"/>
          <p:nvPr/>
        </p:nvSpPr>
        <p:spPr>
          <a:xfrm>
            <a:off x="417880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−$27K</a:t>
            </a:r>
            <a:endParaRPr lang="en-US" sz="1300" dirty="0"/>
          </a:p>
        </p:txBody>
      </p:sp>
      <p:sp>
        <p:nvSpPr>
          <p:cNvPr id="81" name="Text 79"/>
          <p:cNvSpPr txBox="1"/>
          <p:nvPr/>
        </p:nvSpPr>
        <p:spPr>
          <a:xfrm>
            <a:off x="5276088"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a:t>
            </a:r>
            <a:endParaRPr lang="en-US" sz="1300" dirty="0"/>
          </a:p>
        </p:txBody>
      </p:sp>
      <p:sp>
        <p:nvSpPr>
          <p:cNvPr id="82" name="Text 80"/>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3" name="Text 81"/>
          <p:cNvSpPr txBox="1"/>
          <p:nvPr/>
        </p:nvSpPr>
        <p:spPr>
          <a:xfrm>
            <a:off x="1014984"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4" name="Shape 82"/>
          <p:cNvSpPr/>
          <p:nvPr/>
        </p:nvSpPr>
        <p:spPr>
          <a:xfrm>
            <a:off x="3723194" y="5235720"/>
            <a:ext cx="114242" cy="136676"/>
          </a:xfrm>
          <a:prstGeom prst="rect">
            <a:avLst/>
          </a:prstGeom>
          <a:solidFill>
            <a:srgbClr val="C2352F"/>
          </a:solidFill>
          <a:ln/>
        </p:spPr>
      </p:sp>
      <p:sp>
        <p:nvSpPr>
          <p:cNvPr id="85" name="Text 83"/>
          <p:cNvSpPr txBox="1"/>
          <p:nvPr/>
        </p:nvSpPr>
        <p:spPr>
          <a:xfrm>
            <a:off x="417880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−$28K</a:t>
            </a:r>
            <a:endParaRPr lang="en-US" sz="1300" dirty="0"/>
          </a:p>
        </p:txBody>
      </p:sp>
      <p:sp>
        <p:nvSpPr>
          <p:cNvPr id="86" name="Text 84"/>
          <p:cNvSpPr txBox="1"/>
          <p:nvPr/>
        </p:nvSpPr>
        <p:spPr>
          <a:xfrm>
            <a:off x="5276088"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0.4%</a:t>
            </a:r>
            <a:endParaRPr lang="en-US" sz="1300" dirty="0"/>
          </a:p>
        </p:txBody>
      </p:sp>
      <p:sp>
        <p:nvSpPr>
          <p:cNvPr id="87" name="Text 8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88" name="Text 86"/>
          <p:cNvSpPr txBox="1"/>
          <p:nvPr/>
        </p:nvSpPr>
        <p:spPr>
          <a:xfrm>
            <a:off x="1014984"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3710862" y="5484222"/>
            <a:ext cx="126574" cy="136676"/>
          </a:xfrm>
          <a:prstGeom prst="rect">
            <a:avLst/>
          </a:prstGeom>
          <a:solidFill>
            <a:srgbClr val="C2352F"/>
          </a:solidFill>
          <a:ln/>
        </p:spPr>
      </p:sp>
      <p:sp>
        <p:nvSpPr>
          <p:cNvPr id="90" name="Text 88"/>
          <p:cNvSpPr txBox="1"/>
          <p:nvPr/>
        </p:nvSpPr>
        <p:spPr>
          <a:xfrm>
            <a:off x="417880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−$31K</a:t>
            </a:r>
            <a:endParaRPr lang="en-US" sz="1300" dirty="0"/>
          </a:p>
        </p:txBody>
      </p:sp>
      <p:sp>
        <p:nvSpPr>
          <p:cNvPr id="91" name="Text 89"/>
          <p:cNvSpPr txBox="1"/>
          <p:nvPr/>
        </p:nvSpPr>
        <p:spPr>
          <a:xfrm>
            <a:off x="5276088"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92" name="Text 90"/>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3" name="Text 91"/>
          <p:cNvSpPr txBox="1"/>
          <p:nvPr/>
        </p:nvSpPr>
        <p:spPr>
          <a:xfrm>
            <a:off x="1014984" y="567681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4" name="Shape 92"/>
          <p:cNvSpPr/>
          <p:nvPr/>
        </p:nvSpPr>
        <p:spPr>
          <a:xfrm>
            <a:off x="3690964" y="5732723"/>
            <a:ext cx="146471" cy="136676"/>
          </a:xfrm>
          <a:prstGeom prst="rect">
            <a:avLst/>
          </a:prstGeom>
          <a:solidFill>
            <a:srgbClr val="C2352F"/>
          </a:solidFill>
          <a:ln/>
        </p:spPr>
      </p:sp>
      <p:sp>
        <p:nvSpPr>
          <p:cNvPr id="95" name="Text 93"/>
          <p:cNvSpPr txBox="1"/>
          <p:nvPr/>
        </p:nvSpPr>
        <p:spPr>
          <a:xfrm>
            <a:off x="417880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−$36K</a:t>
            </a:r>
            <a:endParaRPr lang="en-US" sz="1300" dirty="0"/>
          </a:p>
        </p:txBody>
      </p:sp>
      <p:sp>
        <p:nvSpPr>
          <p:cNvPr id="96" name="Text 94"/>
          <p:cNvSpPr txBox="1"/>
          <p:nvPr/>
        </p:nvSpPr>
        <p:spPr>
          <a:xfrm>
            <a:off x="5276088" y="567681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97" name="Text 95"/>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98" name="Text 96"/>
          <p:cNvSpPr txBox="1"/>
          <p:nvPr/>
        </p:nvSpPr>
        <p:spPr>
          <a:xfrm>
            <a:off x="6565392"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99" name="Shape 97"/>
          <p:cNvSpPr/>
          <p:nvPr/>
        </p:nvSpPr>
        <p:spPr>
          <a:xfrm>
            <a:off x="9230771" y="1756697"/>
            <a:ext cx="157072" cy="136676"/>
          </a:xfrm>
          <a:prstGeom prst="rect">
            <a:avLst/>
          </a:prstGeom>
          <a:solidFill>
            <a:srgbClr val="C2352F"/>
          </a:solidFill>
          <a:ln/>
        </p:spPr>
      </p:sp>
      <p:sp>
        <p:nvSpPr>
          <p:cNvPr id="100" name="Text 98"/>
          <p:cNvSpPr txBox="1"/>
          <p:nvPr/>
        </p:nvSpPr>
        <p:spPr>
          <a:xfrm>
            <a:off x="972921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−$38K</a:t>
            </a:r>
            <a:endParaRPr lang="en-US" sz="1300" dirty="0"/>
          </a:p>
        </p:txBody>
      </p:sp>
      <p:sp>
        <p:nvSpPr>
          <p:cNvPr id="101" name="Text 99"/>
          <p:cNvSpPr txBox="1"/>
          <p:nvPr/>
        </p:nvSpPr>
        <p:spPr>
          <a:xfrm>
            <a:off x="10826496"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a:t>
            </a:r>
            <a:endParaRPr lang="en-US" sz="1300" dirty="0"/>
          </a:p>
        </p:txBody>
      </p:sp>
      <p:sp>
        <p:nvSpPr>
          <p:cNvPr id="102" name="Text 100"/>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3" name="Text 101"/>
          <p:cNvSpPr txBox="1"/>
          <p:nvPr/>
        </p:nvSpPr>
        <p:spPr>
          <a:xfrm>
            <a:off x="6565392"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4" name="Shape 102"/>
          <p:cNvSpPr/>
          <p:nvPr/>
        </p:nvSpPr>
        <p:spPr>
          <a:xfrm>
            <a:off x="9175412" y="2005199"/>
            <a:ext cx="212431" cy="136676"/>
          </a:xfrm>
          <a:prstGeom prst="rect">
            <a:avLst/>
          </a:prstGeom>
          <a:solidFill>
            <a:srgbClr val="C2352F"/>
          </a:solidFill>
          <a:ln/>
        </p:spPr>
      </p:sp>
      <p:sp>
        <p:nvSpPr>
          <p:cNvPr id="105" name="Text 103"/>
          <p:cNvSpPr txBox="1"/>
          <p:nvPr/>
        </p:nvSpPr>
        <p:spPr>
          <a:xfrm>
            <a:off x="972921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−$52K</a:t>
            </a:r>
            <a:endParaRPr lang="en-US" sz="1300" dirty="0"/>
          </a:p>
        </p:txBody>
      </p:sp>
      <p:sp>
        <p:nvSpPr>
          <p:cNvPr id="106" name="Text 104"/>
          <p:cNvSpPr txBox="1"/>
          <p:nvPr/>
        </p:nvSpPr>
        <p:spPr>
          <a:xfrm>
            <a:off x="10826496"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a:t>
            </a:r>
            <a:endParaRPr lang="en-US" sz="1300" dirty="0"/>
          </a:p>
        </p:txBody>
      </p:sp>
      <p:sp>
        <p:nvSpPr>
          <p:cNvPr id="107" name="Text 105"/>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08" name="Text 106"/>
          <p:cNvSpPr txBox="1"/>
          <p:nvPr/>
        </p:nvSpPr>
        <p:spPr>
          <a:xfrm>
            <a:off x="6565392"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9" name="Shape 107"/>
          <p:cNvSpPr/>
          <p:nvPr/>
        </p:nvSpPr>
        <p:spPr>
          <a:xfrm>
            <a:off x="9174770" y="2253700"/>
            <a:ext cx="213073" cy="136676"/>
          </a:xfrm>
          <a:prstGeom prst="rect">
            <a:avLst/>
          </a:prstGeom>
          <a:solidFill>
            <a:srgbClr val="C2352F"/>
          </a:solidFill>
          <a:ln/>
        </p:spPr>
      </p:sp>
      <p:sp>
        <p:nvSpPr>
          <p:cNvPr id="110" name="Text 108"/>
          <p:cNvSpPr txBox="1"/>
          <p:nvPr/>
        </p:nvSpPr>
        <p:spPr>
          <a:xfrm>
            <a:off x="972921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−$52K</a:t>
            </a:r>
            <a:endParaRPr lang="en-US" sz="1300" dirty="0"/>
          </a:p>
        </p:txBody>
      </p:sp>
      <p:sp>
        <p:nvSpPr>
          <p:cNvPr id="111" name="Text 109"/>
          <p:cNvSpPr txBox="1"/>
          <p:nvPr/>
        </p:nvSpPr>
        <p:spPr>
          <a:xfrm>
            <a:off x="10826496"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0.1%</a:t>
            </a:r>
            <a:endParaRPr lang="en-US" sz="1300" dirty="0"/>
          </a:p>
        </p:txBody>
      </p:sp>
      <p:sp>
        <p:nvSpPr>
          <p:cNvPr id="112" name="Text 11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3" name="Text 111"/>
          <p:cNvSpPr txBox="1"/>
          <p:nvPr/>
        </p:nvSpPr>
        <p:spPr>
          <a:xfrm>
            <a:off x="6565392"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14" name="Shape 112"/>
          <p:cNvSpPr/>
          <p:nvPr/>
        </p:nvSpPr>
        <p:spPr>
          <a:xfrm>
            <a:off x="9156849" y="2502202"/>
            <a:ext cx="230994" cy="136676"/>
          </a:xfrm>
          <a:prstGeom prst="rect">
            <a:avLst/>
          </a:prstGeom>
          <a:solidFill>
            <a:srgbClr val="C2352F"/>
          </a:solidFill>
          <a:ln/>
        </p:spPr>
      </p:sp>
      <p:sp>
        <p:nvSpPr>
          <p:cNvPr id="115" name="Text 113"/>
          <p:cNvSpPr txBox="1"/>
          <p:nvPr/>
        </p:nvSpPr>
        <p:spPr>
          <a:xfrm>
            <a:off x="972921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−$56K</a:t>
            </a:r>
            <a:endParaRPr lang="en-US" sz="1300" dirty="0"/>
          </a:p>
        </p:txBody>
      </p:sp>
      <p:sp>
        <p:nvSpPr>
          <p:cNvPr id="116" name="Text 114"/>
          <p:cNvSpPr txBox="1"/>
          <p:nvPr/>
        </p:nvSpPr>
        <p:spPr>
          <a:xfrm>
            <a:off x="10826496"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17" name="Text 115"/>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18" name="Text 116"/>
          <p:cNvSpPr txBox="1"/>
          <p:nvPr/>
        </p:nvSpPr>
        <p:spPr>
          <a:xfrm>
            <a:off x="6565392"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19" name="Shape 117"/>
          <p:cNvSpPr/>
          <p:nvPr/>
        </p:nvSpPr>
        <p:spPr>
          <a:xfrm>
            <a:off x="9109512" y="2750703"/>
            <a:ext cx="278331" cy="136676"/>
          </a:xfrm>
          <a:prstGeom prst="rect">
            <a:avLst/>
          </a:prstGeom>
          <a:solidFill>
            <a:srgbClr val="C2352F"/>
          </a:solidFill>
          <a:ln/>
        </p:spPr>
      </p:sp>
      <p:sp>
        <p:nvSpPr>
          <p:cNvPr id="120" name="Text 118"/>
          <p:cNvSpPr txBox="1"/>
          <p:nvPr/>
        </p:nvSpPr>
        <p:spPr>
          <a:xfrm>
            <a:off x="972921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−$68K</a:t>
            </a:r>
            <a:endParaRPr lang="en-US" sz="1300" dirty="0"/>
          </a:p>
        </p:txBody>
      </p:sp>
      <p:sp>
        <p:nvSpPr>
          <p:cNvPr id="121" name="Text 119"/>
          <p:cNvSpPr txBox="1"/>
          <p:nvPr/>
        </p:nvSpPr>
        <p:spPr>
          <a:xfrm>
            <a:off x="10826496"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a:t>
            </a:r>
            <a:endParaRPr lang="en-US" sz="1300" dirty="0"/>
          </a:p>
        </p:txBody>
      </p:sp>
      <p:sp>
        <p:nvSpPr>
          <p:cNvPr id="122" name="Text 120"/>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3" name="Text 121"/>
          <p:cNvSpPr txBox="1"/>
          <p:nvPr/>
        </p:nvSpPr>
        <p:spPr>
          <a:xfrm>
            <a:off x="6565392"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4" name="Shape 122"/>
          <p:cNvSpPr/>
          <p:nvPr/>
        </p:nvSpPr>
        <p:spPr>
          <a:xfrm>
            <a:off x="9109414" y="2999205"/>
            <a:ext cx="278430" cy="136676"/>
          </a:xfrm>
          <a:prstGeom prst="rect">
            <a:avLst/>
          </a:prstGeom>
          <a:solidFill>
            <a:srgbClr val="C2352F"/>
          </a:solidFill>
          <a:ln/>
        </p:spPr>
      </p:sp>
      <p:sp>
        <p:nvSpPr>
          <p:cNvPr id="125" name="Text 123"/>
          <p:cNvSpPr txBox="1"/>
          <p:nvPr/>
        </p:nvSpPr>
        <p:spPr>
          <a:xfrm>
            <a:off x="972921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−$68K</a:t>
            </a:r>
            <a:endParaRPr lang="en-US" sz="1300" dirty="0"/>
          </a:p>
        </p:txBody>
      </p:sp>
      <p:sp>
        <p:nvSpPr>
          <p:cNvPr id="126" name="Text 124"/>
          <p:cNvSpPr txBox="1"/>
          <p:nvPr/>
        </p:nvSpPr>
        <p:spPr>
          <a:xfrm>
            <a:off x="10826496"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27" name="Text 125"/>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28" name="Text 126"/>
          <p:cNvSpPr txBox="1"/>
          <p:nvPr/>
        </p:nvSpPr>
        <p:spPr>
          <a:xfrm>
            <a:off x="6565392"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29" name="Shape 127"/>
          <p:cNvSpPr/>
          <p:nvPr/>
        </p:nvSpPr>
        <p:spPr>
          <a:xfrm>
            <a:off x="9093262" y="3247707"/>
            <a:ext cx="294581" cy="136676"/>
          </a:xfrm>
          <a:prstGeom prst="rect">
            <a:avLst/>
          </a:prstGeom>
          <a:solidFill>
            <a:srgbClr val="C2352F"/>
          </a:solidFill>
          <a:ln/>
        </p:spPr>
      </p:sp>
      <p:sp>
        <p:nvSpPr>
          <p:cNvPr id="130" name="Text 128"/>
          <p:cNvSpPr txBox="1"/>
          <p:nvPr/>
        </p:nvSpPr>
        <p:spPr>
          <a:xfrm>
            <a:off x="972921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−$72K</a:t>
            </a:r>
            <a:endParaRPr lang="en-US" sz="1300" dirty="0"/>
          </a:p>
        </p:txBody>
      </p:sp>
      <p:sp>
        <p:nvSpPr>
          <p:cNvPr id="131" name="Text 129"/>
          <p:cNvSpPr txBox="1"/>
          <p:nvPr/>
        </p:nvSpPr>
        <p:spPr>
          <a:xfrm>
            <a:off x="10826496"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132" name="Text 130"/>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3" name="Text 131"/>
          <p:cNvSpPr txBox="1"/>
          <p:nvPr/>
        </p:nvSpPr>
        <p:spPr>
          <a:xfrm>
            <a:off x="6565392"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34" name="Shape 132"/>
          <p:cNvSpPr/>
          <p:nvPr/>
        </p:nvSpPr>
        <p:spPr>
          <a:xfrm>
            <a:off x="9087005" y="3496208"/>
            <a:ext cx="300838" cy="136676"/>
          </a:xfrm>
          <a:prstGeom prst="rect">
            <a:avLst/>
          </a:prstGeom>
          <a:solidFill>
            <a:srgbClr val="C2352F"/>
          </a:solidFill>
          <a:ln/>
        </p:spPr>
      </p:sp>
      <p:sp>
        <p:nvSpPr>
          <p:cNvPr id="135" name="Text 133"/>
          <p:cNvSpPr txBox="1"/>
          <p:nvPr/>
        </p:nvSpPr>
        <p:spPr>
          <a:xfrm>
            <a:off x="972921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−$73K</a:t>
            </a:r>
            <a:endParaRPr lang="en-US" sz="1300" dirty="0"/>
          </a:p>
        </p:txBody>
      </p:sp>
      <p:sp>
        <p:nvSpPr>
          <p:cNvPr id="136" name="Text 134"/>
          <p:cNvSpPr txBox="1"/>
          <p:nvPr/>
        </p:nvSpPr>
        <p:spPr>
          <a:xfrm>
            <a:off x="10826496"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137" name="Text 135"/>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38" name="Text 136"/>
          <p:cNvSpPr txBox="1"/>
          <p:nvPr/>
        </p:nvSpPr>
        <p:spPr>
          <a:xfrm>
            <a:off x="6565392"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39" name="Shape 137"/>
          <p:cNvSpPr/>
          <p:nvPr/>
        </p:nvSpPr>
        <p:spPr>
          <a:xfrm>
            <a:off x="9073146" y="3744710"/>
            <a:ext cx="314698" cy="136676"/>
          </a:xfrm>
          <a:prstGeom prst="rect">
            <a:avLst/>
          </a:prstGeom>
          <a:solidFill>
            <a:srgbClr val="C2352F"/>
          </a:solidFill>
          <a:ln/>
        </p:spPr>
      </p:sp>
      <p:sp>
        <p:nvSpPr>
          <p:cNvPr id="140" name="Text 138"/>
          <p:cNvSpPr txBox="1"/>
          <p:nvPr/>
        </p:nvSpPr>
        <p:spPr>
          <a:xfrm>
            <a:off x="972921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−$77K</a:t>
            </a:r>
            <a:endParaRPr lang="en-US" sz="1300" dirty="0"/>
          </a:p>
        </p:txBody>
      </p:sp>
      <p:sp>
        <p:nvSpPr>
          <p:cNvPr id="141" name="Text 139"/>
          <p:cNvSpPr txBox="1"/>
          <p:nvPr/>
        </p:nvSpPr>
        <p:spPr>
          <a:xfrm>
            <a:off x="10826496"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a:t>
            </a:r>
            <a:endParaRPr lang="en-US" sz="1300" dirty="0"/>
          </a:p>
        </p:txBody>
      </p:sp>
      <p:sp>
        <p:nvSpPr>
          <p:cNvPr id="142" name="Text 140"/>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3" name="Text 141"/>
          <p:cNvSpPr txBox="1"/>
          <p:nvPr/>
        </p:nvSpPr>
        <p:spPr>
          <a:xfrm>
            <a:off x="6565392"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44" name="Shape 142"/>
          <p:cNvSpPr/>
          <p:nvPr/>
        </p:nvSpPr>
        <p:spPr>
          <a:xfrm>
            <a:off x="9059221" y="3993212"/>
            <a:ext cx="328622" cy="136676"/>
          </a:xfrm>
          <a:prstGeom prst="rect">
            <a:avLst/>
          </a:prstGeom>
          <a:solidFill>
            <a:srgbClr val="C2352F"/>
          </a:solidFill>
          <a:ln/>
        </p:spPr>
      </p:sp>
      <p:sp>
        <p:nvSpPr>
          <p:cNvPr id="145" name="Text 143"/>
          <p:cNvSpPr txBox="1"/>
          <p:nvPr/>
        </p:nvSpPr>
        <p:spPr>
          <a:xfrm>
            <a:off x="972921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−$80K</a:t>
            </a:r>
            <a:endParaRPr lang="en-US" sz="1300" dirty="0"/>
          </a:p>
        </p:txBody>
      </p:sp>
      <p:sp>
        <p:nvSpPr>
          <p:cNvPr id="146" name="Text 144"/>
          <p:cNvSpPr txBox="1"/>
          <p:nvPr/>
        </p:nvSpPr>
        <p:spPr>
          <a:xfrm>
            <a:off x="10826496"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a:t>
            </a:r>
            <a:endParaRPr lang="en-US" sz="1300" dirty="0"/>
          </a:p>
        </p:txBody>
      </p:sp>
      <p:sp>
        <p:nvSpPr>
          <p:cNvPr id="147" name="Text 145"/>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48" name="Text 146"/>
          <p:cNvSpPr txBox="1"/>
          <p:nvPr/>
        </p:nvSpPr>
        <p:spPr>
          <a:xfrm>
            <a:off x="6565392"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49" name="Shape 147"/>
          <p:cNvSpPr/>
          <p:nvPr/>
        </p:nvSpPr>
        <p:spPr>
          <a:xfrm>
            <a:off x="8951542" y="4241713"/>
            <a:ext cx="436301" cy="136676"/>
          </a:xfrm>
          <a:prstGeom prst="rect">
            <a:avLst/>
          </a:prstGeom>
          <a:solidFill>
            <a:srgbClr val="C2352F"/>
          </a:solidFill>
          <a:ln/>
        </p:spPr>
      </p:sp>
      <p:sp>
        <p:nvSpPr>
          <p:cNvPr id="150" name="Text 148"/>
          <p:cNvSpPr txBox="1"/>
          <p:nvPr/>
        </p:nvSpPr>
        <p:spPr>
          <a:xfrm>
            <a:off x="972921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−$106K</a:t>
            </a:r>
            <a:endParaRPr lang="en-US" sz="1300" dirty="0"/>
          </a:p>
        </p:txBody>
      </p:sp>
      <p:sp>
        <p:nvSpPr>
          <p:cNvPr id="151" name="Text 149"/>
          <p:cNvSpPr txBox="1"/>
          <p:nvPr/>
        </p:nvSpPr>
        <p:spPr>
          <a:xfrm>
            <a:off x="10826496"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a:t>
            </a:r>
            <a:endParaRPr lang="en-US" sz="1300" dirty="0"/>
          </a:p>
        </p:txBody>
      </p:sp>
      <p:sp>
        <p:nvSpPr>
          <p:cNvPr id="152" name="Text 150"/>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53" name="Text 151"/>
          <p:cNvSpPr txBox="1"/>
          <p:nvPr/>
        </p:nvSpPr>
        <p:spPr>
          <a:xfrm>
            <a:off x="6565392"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54" name="Shape 152"/>
          <p:cNvSpPr/>
          <p:nvPr/>
        </p:nvSpPr>
        <p:spPr>
          <a:xfrm>
            <a:off x="8940210" y="4490215"/>
            <a:ext cx="447633" cy="136676"/>
          </a:xfrm>
          <a:prstGeom prst="rect">
            <a:avLst/>
          </a:prstGeom>
          <a:solidFill>
            <a:srgbClr val="C2352F"/>
          </a:solidFill>
          <a:ln/>
        </p:spPr>
      </p:sp>
      <p:sp>
        <p:nvSpPr>
          <p:cNvPr id="155" name="Text 153"/>
          <p:cNvSpPr txBox="1"/>
          <p:nvPr/>
        </p:nvSpPr>
        <p:spPr>
          <a:xfrm>
            <a:off x="972921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−$109K</a:t>
            </a:r>
            <a:endParaRPr lang="en-US" sz="1300" dirty="0"/>
          </a:p>
        </p:txBody>
      </p:sp>
      <p:sp>
        <p:nvSpPr>
          <p:cNvPr id="156" name="Text 154"/>
          <p:cNvSpPr txBox="1"/>
          <p:nvPr/>
        </p:nvSpPr>
        <p:spPr>
          <a:xfrm>
            <a:off x="10826496"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a:t>
            </a:r>
            <a:endParaRPr lang="en-US" sz="1300" dirty="0"/>
          </a:p>
        </p:txBody>
      </p:sp>
      <p:sp>
        <p:nvSpPr>
          <p:cNvPr id="157" name="Text 155"/>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58" name="Text 156"/>
          <p:cNvSpPr txBox="1"/>
          <p:nvPr/>
        </p:nvSpPr>
        <p:spPr>
          <a:xfrm>
            <a:off x="6565392"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59" name="Shape 157"/>
          <p:cNvSpPr/>
          <p:nvPr/>
        </p:nvSpPr>
        <p:spPr>
          <a:xfrm>
            <a:off x="8875154" y="4738717"/>
            <a:ext cx="512690" cy="136676"/>
          </a:xfrm>
          <a:prstGeom prst="rect">
            <a:avLst/>
          </a:prstGeom>
          <a:solidFill>
            <a:srgbClr val="C2352F"/>
          </a:solidFill>
          <a:ln/>
        </p:spPr>
      </p:sp>
      <p:sp>
        <p:nvSpPr>
          <p:cNvPr id="160" name="Text 158"/>
          <p:cNvSpPr txBox="1"/>
          <p:nvPr/>
        </p:nvSpPr>
        <p:spPr>
          <a:xfrm>
            <a:off x="972921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−$125K</a:t>
            </a:r>
            <a:endParaRPr lang="en-US" sz="1300" dirty="0"/>
          </a:p>
        </p:txBody>
      </p:sp>
      <p:sp>
        <p:nvSpPr>
          <p:cNvPr id="161" name="Text 159"/>
          <p:cNvSpPr txBox="1"/>
          <p:nvPr/>
        </p:nvSpPr>
        <p:spPr>
          <a:xfrm>
            <a:off x="10826496"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a:t>
            </a:r>
            <a:endParaRPr lang="en-US" sz="1300" dirty="0"/>
          </a:p>
        </p:txBody>
      </p:sp>
      <p:sp>
        <p:nvSpPr>
          <p:cNvPr id="162" name="Text 16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63" name="Text 161"/>
          <p:cNvSpPr txBox="1"/>
          <p:nvPr/>
        </p:nvSpPr>
        <p:spPr>
          <a:xfrm>
            <a:off x="6565392"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64" name="Shape 162"/>
          <p:cNvSpPr/>
          <p:nvPr/>
        </p:nvSpPr>
        <p:spPr>
          <a:xfrm>
            <a:off x="8844728" y="4987218"/>
            <a:ext cx="543115" cy="136676"/>
          </a:xfrm>
          <a:prstGeom prst="rect">
            <a:avLst/>
          </a:prstGeom>
          <a:solidFill>
            <a:srgbClr val="C2352F"/>
          </a:solidFill>
          <a:ln/>
        </p:spPr>
      </p:sp>
      <p:sp>
        <p:nvSpPr>
          <p:cNvPr id="165" name="Text 163"/>
          <p:cNvSpPr txBox="1"/>
          <p:nvPr/>
        </p:nvSpPr>
        <p:spPr>
          <a:xfrm>
            <a:off x="972921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−$132K</a:t>
            </a:r>
            <a:endParaRPr lang="en-US" sz="1300" dirty="0"/>
          </a:p>
        </p:txBody>
      </p:sp>
      <p:sp>
        <p:nvSpPr>
          <p:cNvPr id="166" name="Text 164"/>
          <p:cNvSpPr txBox="1"/>
          <p:nvPr/>
        </p:nvSpPr>
        <p:spPr>
          <a:xfrm>
            <a:off x="10826496"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6.1%</a:t>
            </a:r>
            <a:endParaRPr lang="en-US" sz="1300" dirty="0"/>
          </a:p>
        </p:txBody>
      </p:sp>
      <p:sp>
        <p:nvSpPr>
          <p:cNvPr id="167" name="Text 165"/>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68" name="Text 166"/>
          <p:cNvSpPr txBox="1"/>
          <p:nvPr/>
        </p:nvSpPr>
        <p:spPr>
          <a:xfrm>
            <a:off x="6565392"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69" name="Shape 167"/>
          <p:cNvSpPr/>
          <p:nvPr/>
        </p:nvSpPr>
        <p:spPr>
          <a:xfrm>
            <a:off x="8783012" y="5235720"/>
            <a:ext cx="604831" cy="136676"/>
          </a:xfrm>
          <a:prstGeom prst="rect">
            <a:avLst/>
          </a:prstGeom>
          <a:solidFill>
            <a:srgbClr val="C2352F"/>
          </a:solidFill>
          <a:ln/>
        </p:spPr>
      </p:sp>
      <p:sp>
        <p:nvSpPr>
          <p:cNvPr id="170" name="Text 168"/>
          <p:cNvSpPr txBox="1"/>
          <p:nvPr/>
        </p:nvSpPr>
        <p:spPr>
          <a:xfrm>
            <a:off x="972921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−$147K</a:t>
            </a:r>
            <a:endParaRPr lang="en-US" sz="1300" dirty="0"/>
          </a:p>
        </p:txBody>
      </p:sp>
      <p:sp>
        <p:nvSpPr>
          <p:cNvPr id="171" name="Text 169"/>
          <p:cNvSpPr txBox="1"/>
          <p:nvPr/>
        </p:nvSpPr>
        <p:spPr>
          <a:xfrm>
            <a:off x="10826496"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11.2%</a:t>
            </a:r>
            <a:endParaRPr lang="en-US" sz="1300" dirty="0"/>
          </a:p>
        </p:txBody>
      </p:sp>
      <p:sp>
        <p:nvSpPr>
          <p:cNvPr id="172" name="Text 170"/>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73" name="Text 171"/>
          <p:cNvSpPr txBox="1"/>
          <p:nvPr/>
        </p:nvSpPr>
        <p:spPr>
          <a:xfrm>
            <a:off x="6565392"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74" name="Shape 172"/>
          <p:cNvSpPr/>
          <p:nvPr/>
        </p:nvSpPr>
        <p:spPr>
          <a:xfrm>
            <a:off x="8650224" y="5484222"/>
            <a:ext cx="737619" cy="136676"/>
          </a:xfrm>
          <a:prstGeom prst="rect">
            <a:avLst/>
          </a:prstGeom>
          <a:solidFill>
            <a:srgbClr val="C2352F"/>
          </a:solidFill>
          <a:ln/>
        </p:spPr>
      </p:sp>
      <p:sp>
        <p:nvSpPr>
          <p:cNvPr id="175" name="Text 173"/>
          <p:cNvSpPr txBox="1"/>
          <p:nvPr/>
        </p:nvSpPr>
        <p:spPr>
          <a:xfrm>
            <a:off x="972921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−$180K</a:t>
            </a:r>
            <a:endParaRPr lang="en-US" sz="1300" dirty="0"/>
          </a:p>
        </p:txBody>
      </p:sp>
      <p:sp>
        <p:nvSpPr>
          <p:cNvPr id="176" name="Text 174"/>
          <p:cNvSpPr txBox="1"/>
          <p:nvPr/>
        </p:nvSpPr>
        <p:spPr>
          <a:xfrm>
            <a:off x="10826496"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0.4%</a:t>
            </a:r>
            <a:endParaRPr lang="en-US" sz="1300" dirty="0"/>
          </a:p>
        </p:txBody>
      </p:sp>
      <p:sp>
        <p:nvSpPr>
          <p:cNvPr id="177" name="Shape 175"/>
          <p:cNvSpPr/>
          <p:nvPr/>
        </p:nvSpPr>
        <p:spPr>
          <a:xfrm>
            <a:off x="6085332" y="1700784"/>
            <a:ext cx="10973" cy="4224528"/>
          </a:xfrm>
          <a:prstGeom prst="rect">
            <a:avLst/>
          </a:prstGeom>
          <a:solidFill>
            <a:srgbClr val="D9D9D9"/>
          </a:solidFill>
          <a:ln/>
        </p:spPr>
      </p:sp>
      <p:sp>
        <p:nvSpPr>
          <p:cNvPr id="178" name="Shape 176"/>
          <p:cNvSpPr/>
          <p:nvPr/>
        </p:nvSpPr>
        <p:spPr>
          <a:xfrm>
            <a:off x="457200" y="6126480"/>
            <a:ext cx="11274552" cy="341376"/>
          </a:xfrm>
          <a:prstGeom prst="rect">
            <a:avLst/>
          </a:prstGeom>
          <a:solidFill>
            <a:srgbClr val="FBEBEA"/>
          </a:solidFill>
          <a:ln/>
        </p:spPr>
      </p:sp>
      <p:sp>
        <p:nvSpPr>
          <p:cNvPr id="179" name="Text 177"/>
          <p:cNvSpPr txBox="1"/>
          <p:nvPr/>
        </p:nvSpPr>
        <p:spPr>
          <a:xfrm>
            <a:off x="658368" y="6144768"/>
            <a:ext cx="10927080" cy="304800"/>
          </a:xfrm>
          <a:prstGeom prst="rect">
            <a:avLst/>
          </a:prstGeom>
          <a:noFill/>
          <a:ln/>
        </p:spPr>
        <p:txBody>
          <a:bodyPr wrap="square" lIns="0" tIns="0" rIns="0" bIns="0" rtlCol="0" anchor="ctr"/>
          <a:lstStyle/>
          <a:p>
            <a:pPr indent="0" marL="0">
              <a:buNone/>
            </a:pPr>
            <a:r>
              <a:rPr lang="en-US" sz="1400" b="1" dirty="0">
                <a:solidFill>
                  <a:srgbClr val="A82B26"/>
                </a:solidFill>
                <a:latin typeface="Inter" pitchFamily="34" charset="0"/>
                <a:ea typeface="Inter" pitchFamily="34" charset="-122"/>
                <a:cs typeface="Inter" pitchFamily="34" charset="-120"/>
              </a:rPr>
              <a:t>29 stores under 15% leave $1,664,385 a year; 4 are at or above it. Toyota Spokane is furthest below at −$180K.</a:t>
            </a:r>
            <a:endParaRPr lang="en-US" sz="1400" dirty="0"/>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9.2%</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+17.5%</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Brake Fluid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3762756" y="3049524"/>
            <a:ext cx="310896" cy="45720"/>
          </a:xfrm>
          <a:prstGeom prst="rect">
            <a:avLst/>
          </a:prstGeom>
          <a:solidFill>
            <a:srgbClr val="9AA3AD"/>
          </a:solidFill>
          <a:ln/>
        </p:spPr>
      </p:sp>
      <p:sp>
        <p:nvSpPr>
          <p:cNvPr id="24" name="Shape 16"/>
          <p:cNvSpPr/>
          <p:nvPr/>
        </p:nvSpPr>
        <p:spPr>
          <a:xfrm>
            <a:off x="3863340" y="3017520"/>
            <a:ext cx="109728" cy="109728"/>
          </a:xfrm>
          <a:prstGeom prst="ellipse">
            <a:avLst/>
          </a:prstGeom>
          <a:solidFill>
            <a:srgbClr val="9AA3AD"/>
          </a:solidFill>
          <a:ln/>
        </p:spPr>
      </p:sp>
      <p:sp>
        <p:nvSpPr>
          <p:cNvPr id="25" name="Text 17"/>
          <p:cNvSpPr txBox="1"/>
          <p:nvPr/>
        </p:nvSpPr>
        <p:spPr>
          <a:xfrm>
            <a:off x="414680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4997196" y="3049524"/>
            <a:ext cx="310896" cy="45720"/>
          </a:xfrm>
          <a:prstGeom prst="rect">
            <a:avLst/>
          </a:prstGeom>
          <a:solidFill>
            <a:srgbClr val="2587C5"/>
          </a:solidFill>
          <a:ln/>
        </p:spPr>
      </p:sp>
      <p:sp>
        <p:nvSpPr>
          <p:cNvPr id="27" name="Shape 19"/>
          <p:cNvSpPr/>
          <p:nvPr/>
        </p:nvSpPr>
        <p:spPr>
          <a:xfrm>
            <a:off x="5097780" y="3017520"/>
            <a:ext cx="109728" cy="109728"/>
          </a:xfrm>
          <a:prstGeom prst="ellipse">
            <a:avLst/>
          </a:prstGeom>
          <a:solidFill>
            <a:srgbClr val="2587C5"/>
          </a:solidFill>
          <a:ln/>
        </p:spPr>
      </p:sp>
      <p:sp>
        <p:nvSpPr>
          <p:cNvPr id="28" name="Text 20"/>
          <p:cNvSpPr txBox="1"/>
          <p:nvPr/>
        </p:nvSpPr>
        <p:spPr>
          <a:xfrm>
            <a:off x="538124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6231636" y="3049524"/>
            <a:ext cx="73152" cy="36576"/>
          </a:xfrm>
          <a:prstGeom prst="rect">
            <a:avLst/>
          </a:prstGeom>
          <a:solidFill>
            <a:srgbClr val="595959"/>
          </a:solidFill>
          <a:ln/>
        </p:spPr>
      </p:sp>
      <p:sp>
        <p:nvSpPr>
          <p:cNvPr id="30" name="Shape 22"/>
          <p:cNvSpPr/>
          <p:nvPr/>
        </p:nvSpPr>
        <p:spPr>
          <a:xfrm>
            <a:off x="6350508" y="3049524"/>
            <a:ext cx="73152" cy="36576"/>
          </a:xfrm>
          <a:prstGeom prst="rect">
            <a:avLst/>
          </a:prstGeom>
          <a:solidFill>
            <a:srgbClr val="595959"/>
          </a:solidFill>
          <a:ln/>
        </p:spPr>
      </p:sp>
      <p:sp>
        <p:nvSpPr>
          <p:cNvPr id="31" name="Shape 23"/>
          <p:cNvSpPr/>
          <p:nvPr/>
        </p:nvSpPr>
        <p:spPr>
          <a:xfrm>
            <a:off x="6469380" y="3049524"/>
            <a:ext cx="73152" cy="36576"/>
          </a:xfrm>
          <a:prstGeom prst="rect">
            <a:avLst/>
          </a:prstGeom>
          <a:solidFill>
            <a:srgbClr val="595959"/>
          </a:solidFill>
          <a:ln/>
        </p:spPr>
      </p:sp>
      <p:sp>
        <p:nvSpPr>
          <p:cNvPr id="32" name="Text 24"/>
          <p:cNvSpPr txBox="1"/>
          <p:nvPr/>
        </p:nvSpPr>
        <p:spPr>
          <a:xfrm>
            <a:off x="6615684" y="2926080"/>
            <a:ext cx="23774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Benchmark 10%</a:t>
            </a:r>
            <a:endParaRPr lang="en-US" sz="1400" dirty="0"/>
          </a:p>
        </p:txBody>
      </p:sp>
      <p:sp>
        <p:nvSpPr>
          <p:cNvPr id="33" name="Shape 25"/>
          <p:cNvSpPr/>
          <p:nvPr/>
        </p:nvSpPr>
        <p:spPr>
          <a:xfrm>
            <a:off x="457200" y="6126480"/>
            <a:ext cx="11274552" cy="615696"/>
          </a:xfrm>
          <a:prstGeom prst="rect">
            <a:avLst/>
          </a:prstGeom>
          <a:solidFill>
            <a:srgbClr val="E6F6EE"/>
          </a:solidFill>
          <a:ln/>
        </p:spPr>
      </p:sp>
      <p:sp>
        <p:nvSpPr>
          <p:cNvPr id="34"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1.4 pts to 9.2%, ahead of 2025 in all nine months, but 0.7 pts under the 10% benchmark — 1,985 brake fluid services short.</a:t>
            </a:r>
            <a:endParaRPr lang="en-US" sz="1600" dirty="0"/>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ANNUALIZED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Variance from Benchmark</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417880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5276088"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 name="Shape 6"/>
          <p:cNvSpPr/>
          <p:nvPr/>
        </p:nvSpPr>
        <p:spPr>
          <a:xfrm>
            <a:off x="3470240" y="1700784"/>
            <a:ext cx="10973" cy="4224528"/>
          </a:xfrm>
          <a:prstGeom prst="rect">
            <a:avLst/>
          </a:prstGeom>
          <a:solidFill>
            <a:srgbClr val="9AA3AD"/>
          </a:solidFill>
          <a:ln/>
        </p:spPr>
      </p:sp>
      <p:sp>
        <p:nvSpPr>
          <p:cNvPr id="9" name="Text 7"/>
          <p:cNvSpPr txBox="1"/>
          <p:nvPr/>
        </p:nvSpPr>
        <p:spPr>
          <a:xfrm>
            <a:off x="972921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0" name="Text 8"/>
          <p:cNvSpPr txBox="1"/>
          <p:nvPr/>
        </p:nvSpPr>
        <p:spPr>
          <a:xfrm>
            <a:off x="10826496"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Shape 9"/>
          <p:cNvSpPr/>
          <p:nvPr/>
        </p:nvSpPr>
        <p:spPr>
          <a:xfrm>
            <a:off x="9020648" y="1700784"/>
            <a:ext cx="10973" cy="3976026"/>
          </a:xfrm>
          <a:prstGeom prst="rect">
            <a:avLst/>
          </a:prstGeom>
          <a:solidFill>
            <a:srgbClr val="9AA3AD"/>
          </a:solidFill>
          <a:ln/>
        </p:spPr>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4" name="Shape 12"/>
          <p:cNvSpPr/>
          <p:nvPr/>
        </p:nvSpPr>
        <p:spPr>
          <a:xfrm>
            <a:off x="3475726" y="1756697"/>
            <a:ext cx="648218" cy="136676"/>
          </a:xfrm>
          <a:prstGeom prst="rect">
            <a:avLst/>
          </a:prstGeom>
          <a:solidFill>
            <a:srgbClr val="12A566"/>
          </a:solidFill>
          <a:ln/>
        </p:spPr>
      </p:sp>
      <p:sp>
        <p:nvSpPr>
          <p:cNvPr id="15" name="Text 13"/>
          <p:cNvSpPr txBox="1"/>
          <p:nvPr/>
        </p:nvSpPr>
        <p:spPr>
          <a:xfrm>
            <a:off x="417880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+$260K</a:t>
            </a:r>
            <a:endParaRPr lang="en-US" sz="1300" dirty="0"/>
          </a:p>
        </p:txBody>
      </p:sp>
      <p:sp>
        <p:nvSpPr>
          <p:cNvPr id="16" name="Text 14"/>
          <p:cNvSpPr txBox="1"/>
          <p:nvPr/>
        </p:nvSpPr>
        <p:spPr>
          <a:xfrm>
            <a:off x="5276088"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a:t>
            </a:r>
            <a:endParaRPr lang="en-US" sz="1300" dirty="0"/>
          </a:p>
        </p:txBody>
      </p:sp>
      <p:sp>
        <p:nvSpPr>
          <p:cNvPr id="17" name="Text 15"/>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9" name="Shape 17"/>
          <p:cNvSpPr/>
          <p:nvPr/>
        </p:nvSpPr>
        <p:spPr>
          <a:xfrm>
            <a:off x="3475726" y="2005199"/>
            <a:ext cx="467053" cy="136676"/>
          </a:xfrm>
          <a:prstGeom prst="rect">
            <a:avLst/>
          </a:prstGeom>
          <a:solidFill>
            <a:srgbClr val="12A566"/>
          </a:solidFill>
          <a:ln/>
        </p:spPr>
      </p:sp>
      <p:sp>
        <p:nvSpPr>
          <p:cNvPr id="20" name="Text 18"/>
          <p:cNvSpPr txBox="1"/>
          <p:nvPr/>
        </p:nvSpPr>
        <p:spPr>
          <a:xfrm>
            <a:off x="417880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+$187K</a:t>
            </a:r>
            <a:endParaRPr lang="en-US" sz="1300" dirty="0"/>
          </a:p>
        </p:txBody>
      </p:sp>
      <p:sp>
        <p:nvSpPr>
          <p:cNvPr id="21" name="Text 19"/>
          <p:cNvSpPr txBox="1"/>
          <p:nvPr/>
        </p:nvSpPr>
        <p:spPr>
          <a:xfrm>
            <a:off x="5276088"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20.6%</a:t>
            </a:r>
            <a:endParaRPr lang="en-US" sz="1300" dirty="0"/>
          </a:p>
        </p:txBody>
      </p:sp>
      <p:sp>
        <p:nvSpPr>
          <p:cNvPr id="22" name="Text 20"/>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3" name="Text 21"/>
          <p:cNvSpPr txBox="1"/>
          <p:nvPr/>
        </p:nvSpPr>
        <p:spPr>
          <a:xfrm>
            <a:off x="1014984"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4" name="Shape 22"/>
          <p:cNvSpPr/>
          <p:nvPr/>
        </p:nvSpPr>
        <p:spPr>
          <a:xfrm>
            <a:off x="3475726" y="2253700"/>
            <a:ext cx="168095" cy="136676"/>
          </a:xfrm>
          <a:prstGeom prst="rect">
            <a:avLst/>
          </a:prstGeom>
          <a:solidFill>
            <a:srgbClr val="12A566"/>
          </a:solidFill>
          <a:ln/>
        </p:spPr>
      </p:sp>
      <p:sp>
        <p:nvSpPr>
          <p:cNvPr id="25" name="Text 23"/>
          <p:cNvSpPr txBox="1"/>
          <p:nvPr/>
        </p:nvSpPr>
        <p:spPr>
          <a:xfrm>
            <a:off x="417880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+$67K</a:t>
            </a:r>
            <a:endParaRPr lang="en-US" sz="1300" dirty="0"/>
          </a:p>
        </p:txBody>
      </p:sp>
      <p:sp>
        <p:nvSpPr>
          <p:cNvPr id="26" name="Text 24"/>
          <p:cNvSpPr txBox="1"/>
          <p:nvPr/>
        </p:nvSpPr>
        <p:spPr>
          <a:xfrm>
            <a:off x="5276088"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12.1%</a:t>
            </a:r>
            <a:endParaRPr lang="en-US" sz="1300" dirty="0"/>
          </a:p>
        </p:txBody>
      </p:sp>
      <p:sp>
        <p:nvSpPr>
          <p:cNvPr id="27" name="Text 25"/>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8" name="Text 26"/>
          <p:cNvSpPr txBox="1"/>
          <p:nvPr/>
        </p:nvSpPr>
        <p:spPr>
          <a:xfrm>
            <a:off x="1014984"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9" name="Shape 27"/>
          <p:cNvSpPr/>
          <p:nvPr/>
        </p:nvSpPr>
        <p:spPr>
          <a:xfrm>
            <a:off x="3475726" y="2502202"/>
            <a:ext cx="84155" cy="136676"/>
          </a:xfrm>
          <a:prstGeom prst="rect">
            <a:avLst/>
          </a:prstGeom>
          <a:solidFill>
            <a:srgbClr val="12A566"/>
          </a:solidFill>
          <a:ln/>
        </p:spPr>
      </p:sp>
      <p:sp>
        <p:nvSpPr>
          <p:cNvPr id="30" name="Text 28"/>
          <p:cNvSpPr txBox="1"/>
          <p:nvPr/>
        </p:nvSpPr>
        <p:spPr>
          <a:xfrm>
            <a:off x="417880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+$34K</a:t>
            </a:r>
            <a:endParaRPr lang="en-US" sz="1300" dirty="0"/>
          </a:p>
        </p:txBody>
      </p:sp>
      <p:sp>
        <p:nvSpPr>
          <p:cNvPr id="31" name="Text 29"/>
          <p:cNvSpPr txBox="1"/>
          <p:nvPr/>
        </p:nvSpPr>
        <p:spPr>
          <a:xfrm>
            <a:off x="5276088"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14.3%</a:t>
            </a:r>
            <a:endParaRPr lang="en-US" sz="1300" dirty="0"/>
          </a:p>
        </p:txBody>
      </p:sp>
      <p:sp>
        <p:nvSpPr>
          <p:cNvPr id="32" name="Text 30"/>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3" name="Text 31"/>
          <p:cNvSpPr txBox="1"/>
          <p:nvPr/>
        </p:nvSpPr>
        <p:spPr>
          <a:xfrm>
            <a:off x="1014984"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4" name="Shape 32"/>
          <p:cNvSpPr/>
          <p:nvPr/>
        </p:nvSpPr>
        <p:spPr>
          <a:xfrm>
            <a:off x="3475726" y="2750703"/>
            <a:ext cx="81270" cy="136676"/>
          </a:xfrm>
          <a:prstGeom prst="rect">
            <a:avLst/>
          </a:prstGeom>
          <a:solidFill>
            <a:srgbClr val="12A566"/>
          </a:solidFill>
          <a:ln/>
        </p:spPr>
      </p:sp>
      <p:sp>
        <p:nvSpPr>
          <p:cNvPr id="35" name="Text 33"/>
          <p:cNvSpPr txBox="1"/>
          <p:nvPr/>
        </p:nvSpPr>
        <p:spPr>
          <a:xfrm>
            <a:off x="4178808" y="2694791"/>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+$33K</a:t>
            </a:r>
            <a:endParaRPr lang="en-US" sz="1300" dirty="0"/>
          </a:p>
        </p:txBody>
      </p:sp>
      <p:sp>
        <p:nvSpPr>
          <p:cNvPr id="36" name="Text 34"/>
          <p:cNvSpPr txBox="1"/>
          <p:nvPr/>
        </p:nvSpPr>
        <p:spPr>
          <a:xfrm>
            <a:off x="5276088"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11.9%</a:t>
            </a:r>
            <a:endParaRPr lang="en-US" sz="1300" dirty="0"/>
          </a:p>
        </p:txBody>
      </p:sp>
      <p:sp>
        <p:nvSpPr>
          <p:cNvPr id="37" name="Text 3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8" name="Text 36"/>
          <p:cNvSpPr txBox="1"/>
          <p:nvPr/>
        </p:nvSpPr>
        <p:spPr>
          <a:xfrm>
            <a:off x="1014984"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9" name="Shape 37"/>
          <p:cNvSpPr/>
          <p:nvPr/>
        </p:nvSpPr>
        <p:spPr>
          <a:xfrm>
            <a:off x="3475726" y="2999205"/>
            <a:ext cx="58927" cy="136676"/>
          </a:xfrm>
          <a:prstGeom prst="rect">
            <a:avLst/>
          </a:prstGeom>
          <a:solidFill>
            <a:srgbClr val="12A566"/>
          </a:solidFill>
          <a:ln/>
        </p:spPr>
      </p:sp>
      <p:sp>
        <p:nvSpPr>
          <p:cNvPr id="40" name="Text 38"/>
          <p:cNvSpPr txBox="1"/>
          <p:nvPr/>
        </p:nvSpPr>
        <p:spPr>
          <a:xfrm>
            <a:off x="4178808" y="294329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+$24K</a:t>
            </a:r>
            <a:endParaRPr lang="en-US" sz="1300" dirty="0"/>
          </a:p>
        </p:txBody>
      </p:sp>
      <p:sp>
        <p:nvSpPr>
          <p:cNvPr id="41" name="Text 39"/>
          <p:cNvSpPr txBox="1"/>
          <p:nvPr/>
        </p:nvSpPr>
        <p:spPr>
          <a:xfrm>
            <a:off x="5276088"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a:t>
            </a:r>
            <a:endParaRPr lang="en-US" sz="1300" dirty="0"/>
          </a:p>
        </p:txBody>
      </p:sp>
      <p:sp>
        <p:nvSpPr>
          <p:cNvPr id="42" name="Text 40"/>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3" name="Text 41"/>
          <p:cNvSpPr txBox="1"/>
          <p:nvPr/>
        </p:nvSpPr>
        <p:spPr>
          <a:xfrm>
            <a:off x="1014984"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44" name="Shape 42"/>
          <p:cNvSpPr/>
          <p:nvPr/>
        </p:nvSpPr>
        <p:spPr>
          <a:xfrm>
            <a:off x="3475726" y="3247707"/>
            <a:ext cx="52299" cy="136676"/>
          </a:xfrm>
          <a:prstGeom prst="rect">
            <a:avLst/>
          </a:prstGeom>
          <a:solidFill>
            <a:srgbClr val="12A566"/>
          </a:solidFill>
          <a:ln/>
        </p:spPr>
      </p:sp>
      <p:sp>
        <p:nvSpPr>
          <p:cNvPr id="45" name="Text 43"/>
          <p:cNvSpPr txBox="1"/>
          <p:nvPr/>
        </p:nvSpPr>
        <p:spPr>
          <a:xfrm>
            <a:off x="4178808" y="319179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+$21K</a:t>
            </a:r>
            <a:endParaRPr lang="en-US" sz="1300" dirty="0"/>
          </a:p>
        </p:txBody>
      </p:sp>
      <p:sp>
        <p:nvSpPr>
          <p:cNvPr id="46" name="Text 44"/>
          <p:cNvSpPr txBox="1"/>
          <p:nvPr/>
        </p:nvSpPr>
        <p:spPr>
          <a:xfrm>
            <a:off x="5276088"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10.7%</a:t>
            </a:r>
            <a:endParaRPr lang="en-US" sz="1300" dirty="0"/>
          </a:p>
        </p:txBody>
      </p:sp>
      <p:sp>
        <p:nvSpPr>
          <p:cNvPr id="47" name="Text 45"/>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8" name="Text 46"/>
          <p:cNvSpPr txBox="1"/>
          <p:nvPr/>
        </p:nvSpPr>
        <p:spPr>
          <a:xfrm>
            <a:off x="1014984"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9" name="Shape 47"/>
          <p:cNvSpPr/>
          <p:nvPr/>
        </p:nvSpPr>
        <p:spPr>
          <a:xfrm>
            <a:off x="3475726" y="3496208"/>
            <a:ext cx="48881" cy="136676"/>
          </a:xfrm>
          <a:prstGeom prst="rect">
            <a:avLst/>
          </a:prstGeom>
          <a:solidFill>
            <a:srgbClr val="12A566"/>
          </a:solidFill>
          <a:ln/>
        </p:spPr>
      </p:sp>
      <p:sp>
        <p:nvSpPr>
          <p:cNvPr id="50" name="Text 48"/>
          <p:cNvSpPr txBox="1"/>
          <p:nvPr/>
        </p:nvSpPr>
        <p:spPr>
          <a:xfrm>
            <a:off x="4178808" y="344029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+$20K</a:t>
            </a:r>
            <a:endParaRPr lang="en-US" sz="1300" dirty="0"/>
          </a:p>
        </p:txBody>
      </p:sp>
      <p:sp>
        <p:nvSpPr>
          <p:cNvPr id="51" name="Text 49"/>
          <p:cNvSpPr txBox="1"/>
          <p:nvPr/>
        </p:nvSpPr>
        <p:spPr>
          <a:xfrm>
            <a:off x="5276088"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12.7%</a:t>
            </a:r>
            <a:endParaRPr lang="en-US" sz="1300" dirty="0"/>
          </a:p>
        </p:txBody>
      </p:sp>
      <p:sp>
        <p:nvSpPr>
          <p:cNvPr id="52" name="Text 50"/>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3" name="Text 51"/>
          <p:cNvSpPr txBox="1"/>
          <p:nvPr/>
        </p:nvSpPr>
        <p:spPr>
          <a:xfrm>
            <a:off x="1014984"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4" name="Shape 52"/>
          <p:cNvSpPr/>
          <p:nvPr/>
        </p:nvSpPr>
        <p:spPr>
          <a:xfrm>
            <a:off x="3475726" y="3744710"/>
            <a:ext cx="39506" cy="136676"/>
          </a:xfrm>
          <a:prstGeom prst="rect">
            <a:avLst/>
          </a:prstGeom>
          <a:solidFill>
            <a:srgbClr val="12A566"/>
          </a:solidFill>
          <a:ln/>
        </p:spPr>
      </p:sp>
      <p:sp>
        <p:nvSpPr>
          <p:cNvPr id="55" name="Text 53"/>
          <p:cNvSpPr txBox="1"/>
          <p:nvPr/>
        </p:nvSpPr>
        <p:spPr>
          <a:xfrm>
            <a:off x="4178808" y="368879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+$16K</a:t>
            </a:r>
            <a:endParaRPr lang="en-US" sz="1300" dirty="0"/>
          </a:p>
        </p:txBody>
      </p:sp>
      <p:sp>
        <p:nvSpPr>
          <p:cNvPr id="56" name="Text 54"/>
          <p:cNvSpPr txBox="1"/>
          <p:nvPr/>
        </p:nvSpPr>
        <p:spPr>
          <a:xfrm>
            <a:off x="5276088"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a:t>
            </a:r>
            <a:endParaRPr lang="en-US" sz="1300" dirty="0"/>
          </a:p>
        </p:txBody>
      </p:sp>
      <p:sp>
        <p:nvSpPr>
          <p:cNvPr id="57" name="Text 55"/>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58" name="Text 56"/>
          <p:cNvSpPr txBox="1"/>
          <p:nvPr/>
        </p:nvSpPr>
        <p:spPr>
          <a:xfrm>
            <a:off x="1014984"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9" name="Shape 57"/>
          <p:cNvSpPr/>
          <p:nvPr/>
        </p:nvSpPr>
        <p:spPr>
          <a:xfrm>
            <a:off x="3475726" y="3993212"/>
            <a:ext cx="22119" cy="136676"/>
          </a:xfrm>
          <a:prstGeom prst="rect">
            <a:avLst/>
          </a:prstGeom>
          <a:solidFill>
            <a:srgbClr val="12A566"/>
          </a:solidFill>
          <a:ln/>
        </p:spPr>
      </p:sp>
      <p:sp>
        <p:nvSpPr>
          <p:cNvPr id="60" name="Text 58"/>
          <p:cNvSpPr txBox="1"/>
          <p:nvPr/>
        </p:nvSpPr>
        <p:spPr>
          <a:xfrm>
            <a:off x="4178808" y="393729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+$9K</a:t>
            </a:r>
            <a:endParaRPr lang="en-US" sz="1300" dirty="0"/>
          </a:p>
        </p:txBody>
      </p:sp>
      <p:sp>
        <p:nvSpPr>
          <p:cNvPr id="61" name="Text 59"/>
          <p:cNvSpPr txBox="1"/>
          <p:nvPr/>
        </p:nvSpPr>
        <p:spPr>
          <a:xfrm>
            <a:off x="5276088"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10.1%</a:t>
            </a:r>
            <a:endParaRPr lang="en-US" sz="1300" dirty="0"/>
          </a:p>
        </p:txBody>
      </p:sp>
      <p:sp>
        <p:nvSpPr>
          <p:cNvPr id="62" name="Text 6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3" name="Text 61"/>
          <p:cNvSpPr txBox="1"/>
          <p:nvPr/>
        </p:nvSpPr>
        <p:spPr>
          <a:xfrm>
            <a:off x="1014984"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4" name="Shape 62"/>
          <p:cNvSpPr/>
          <p:nvPr/>
        </p:nvSpPr>
        <p:spPr>
          <a:xfrm>
            <a:off x="3475726" y="4241713"/>
            <a:ext cx="18288" cy="136676"/>
          </a:xfrm>
          <a:prstGeom prst="rect">
            <a:avLst/>
          </a:prstGeom>
          <a:solidFill>
            <a:srgbClr val="12A566"/>
          </a:solidFill>
          <a:ln/>
        </p:spPr>
      </p:sp>
      <p:sp>
        <p:nvSpPr>
          <p:cNvPr id="65" name="Text 63"/>
          <p:cNvSpPr txBox="1"/>
          <p:nvPr/>
        </p:nvSpPr>
        <p:spPr>
          <a:xfrm>
            <a:off x="4178808" y="4185800"/>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+$7K</a:t>
            </a:r>
            <a:endParaRPr lang="en-US" sz="1300" dirty="0"/>
          </a:p>
        </p:txBody>
      </p:sp>
      <p:sp>
        <p:nvSpPr>
          <p:cNvPr id="66" name="Text 64"/>
          <p:cNvSpPr txBox="1"/>
          <p:nvPr/>
        </p:nvSpPr>
        <p:spPr>
          <a:xfrm>
            <a:off x="5276088"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10.0%</a:t>
            </a:r>
            <a:endParaRPr lang="en-US" sz="1300" dirty="0"/>
          </a:p>
        </p:txBody>
      </p:sp>
      <p:sp>
        <p:nvSpPr>
          <p:cNvPr id="67" name="Text 65"/>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68" name="Text 66"/>
          <p:cNvSpPr txBox="1"/>
          <p:nvPr/>
        </p:nvSpPr>
        <p:spPr>
          <a:xfrm>
            <a:off x="1014984"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9" name="Shape 67"/>
          <p:cNvSpPr/>
          <p:nvPr/>
        </p:nvSpPr>
        <p:spPr>
          <a:xfrm>
            <a:off x="3475726" y="4490215"/>
            <a:ext cx="18288" cy="136676"/>
          </a:xfrm>
          <a:prstGeom prst="rect">
            <a:avLst/>
          </a:prstGeom>
          <a:solidFill>
            <a:srgbClr val="12A566"/>
          </a:solidFill>
          <a:ln/>
        </p:spPr>
      </p:sp>
      <p:sp>
        <p:nvSpPr>
          <p:cNvPr id="70" name="Text 68"/>
          <p:cNvSpPr txBox="1"/>
          <p:nvPr/>
        </p:nvSpPr>
        <p:spPr>
          <a:xfrm>
            <a:off x="4178808" y="443430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+$5K</a:t>
            </a:r>
            <a:endParaRPr lang="en-US" sz="1300" dirty="0"/>
          </a:p>
        </p:txBody>
      </p:sp>
      <p:sp>
        <p:nvSpPr>
          <p:cNvPr id="71" name="Text 69"/>
          <p:cNvSpPr txBox="1"/>
          <p:nvPr/>
        </p:nvSpPr>
        <p:spPr>
          <a:xfrm>
            <a:off x="5276088"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a:t>
            </a:r>
            <a:endParaRPr lang="en-US" sz="1300" dirty="0"/>
          </a:p>
        </p:txBody>
      </p:sp>
      <p:sp>
        <p:nvSpPr>
          <p:cNvPr id="72" name="Text 70"/>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3" name="Text 71"/>
          <p:cNvSpPr txBox="1"/>
          <p:nvPr/>
        </p:nvSpPr>
        <p:spPr>
          <a:xfrm>
            <a:off x="1014984"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4" name="Shape 72"/>
          <p:cNvSpPr/>
          <p:nvPr/>
        </p:nvSpPr>
        <p:spPr>
          <a:xfrm>
            <a:off x="3467487" y="4738717"/>
            <a:ext cx="18288" cy="136676"/>
          </a:xfrm>
          <a:prstGeom prst="rect">
            <a:avLst/>
          </a:prstGeom>
          <a:solidFill>
            <a:srgbClr val="C2352F"/>
          </a:solidFill>
          <a:ln/>
        </p:spPr>
      </p:sp>
      <p:sp>
        <p:nvSpPr>
          <p:cNvPr id="75" name="Text 73"/>
          <p:cNvSpPr txBox="1"/>
          <p:nvPr/>
        </p:nvSpPr>
        <p:spPr>
          <a:xfrm>
            <a:off x="417880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−$3K</a:t>
            </a:r>
            <a:endParaRPr lang="en-US" sz="1300" dirty="0"/>
          </a:p>
        </p:txBody>
      </p:sp>
      <p:sp>
        <p:nvSpPr>
          <p:cNvPr id="76" name="Text 74"/>
          <p:cNvSpPr txBox="1"/>
          <p:nvPr/>
        </p:nvSpPr>
        <p:spPr>
          <a:xfrm>
            <a:off x="5276088"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9.6%</a:t>
            </a:r>
            <a:endParaRPr lang="en-US" sz="1300" dirty="0"/>
          </a:p>
        </p:txBody>
      </p:sp>
      <p:sp>
        <p:nvSpPr>
          <p:cNvPr id="77" name="Text 75"/>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78" name="Text 76"/>
          <p:cNvSpPr txBox="1"/>
          <p:nvPr/>
        </p:nvSpPr>
        <p:spPr>
          <a:xfrm>
            <a:off x="1014984"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9" name="Shape 77"/>
          <p:cNvSpPr/>
          <p:nvPr/>
        </p:nvSpPr>
        <p:spPr>
          <a:xfrm>
            <a:off x="3464806" y="4987218"/>
            <a:ext cx="18288" cy="136676"/>
          </a:xfrm>
          <a:prstGeom prst="rect">
            <a:avLst/>
          </a:prstGeom>
          <a:solidFill>
            <a:srgbClr val="C2352F"/>
          </a:solidFill>
          <a:ln/>
        </p:spPr>
      </p:sp>
      <p:sp>
        <p:nvSpPr>
          <p:cNvPr id="80" name="Text 78"/>
          <p:cNvSpPr txBox="1"/>
          <p:nvPr/>
        </p:nvSpPr>
        <p:spPr>
          <a:xfrm>
            <a:off x="417880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−$4K</a:t>
            </a:r>
            <a:endParaRPr lang="en-US" sz="1300" dirty="0"/>
          </a:p>
        </p:txBody>
      </p:sp>
      <p:sp>
        <p:nvSpPr>
          <p:cNvPr id="81" name="Text 79"/>
          <p:cNvSpPr txBox="1"/>
          <p:nvPr/>
        </p:nvSpPr>
        <p:spPr>
          <a:xfrm>
            <a:off x="5276088"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9.5%</a:t>
            </a:r>
            <a:endParaRPr lang="en-US" sz="1300" dirty="0"/>
          </a:p>
        </p:txBody>
      </p:sp>
      <p:sp>
        <p:nvSpPr>
          <p:cNvPr id="82" name="Text 80"/>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3" name="Text 81"/>
          <p:cNvSpPr txBox="1"/>
          <p:nvPr/>
        </p:nvSpPr>
        <p:spPr>
          <a:xfrm>
            <a:off x="1014984"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4" name="Shape 82"/>
          <p:cNvSpPr/>
          <p:nvPr/>
        </p:nvSpPr>
        <p:spPr>
          <a:xfrm>
            <a:off x="3448532" y="5235720"/>
            <a:ext cx="27195" cy="136676"/>
          </a:xfrm>
          <a:prstGeom prst="rect">
            <a:avLst/>
          </a:prstGeom>
          <a:solidFill>
            <a:srgbClr val="C2352F"/>
          </a:solidFill>
          <a:ln/>
        </p:spPr>
      </p:sp>
      <p:sp>
        <p:nvSpPr>
          <p:cNvPr id="85" name="Text 83"/>
          <p:cNvSpPr txBox="1"/>
          <p:nvPr/>
        </p:nvSpPr>
        <p:spPr>
          <a:xfrm>
            <a:off x="417880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−$11K</a:t>
            </a:r>
            <a:endParaRPr lang="en-US" sz="1300" dirty="0"/>
          </a:p>
        </p:txBody>
      </p:sp>
      <p:sp>
        <p:nvSpPr>
          <p:cNvPr id="86" name="Text 84"/>
          <p:cNvSpPr txBox="1"/>
          <p:nvPr/>
        </p:nvSpPr>
        <p:spPr>
          <a:xfrm>
            <a:off x="5276088"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7.5%</a:t>
            </a:r>
            <a:endParaRPr lang="en-US" sz="1300" dirty="0"/>
          </a:p>
        </p:txBody>
      </p:sp>
      <p:sp>
        <p:nvSpPr>
          <p:cNvPr id="87" name="Text 8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88" name="Text 86"/>
          <p:cNvSpPr txBox="1"/>
          <p:nvPr/>
        </p:nvSpPr>
        <p:spPr>
          <a:xfrm>
            <a:off x="1014984"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9" name="Shape 87"/>
          <p:cNvSpPr/>
          <p:nvPr/>
        </p:nvSpPr>
        <p:spPr>
          <a:xfrm>
            <a:off x="3443206" y="5484222"/>
            <a:ext cx="32520" cy="136676"/>
          </a:xfrm>
          <a:prstGeom prst="rect">
            <a:avLst/>
          </a:prstGeom>
          <a:solidFill>
            <a:srgbClr val="C2352F"/>
          </a:solidFill>
          <a:ln/>
        </p:spPr>
      </p:sp>
      <p:sp>
        <p:nvSpPr>
          <p:cNvPr id="90" name="Text 88"/>
          <p:cNvSpPr txBox="1"/>
          <p:nvPr/>
        </p:nvSpPr>
        <p:spPr>
          <a:xfrm>
            <a:off x="417880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91" name="Text 89"/>
          <p:cNvSpPr txBox="1"/>
          <p:nvPr/>
        </p:nvSpPr>
        <p:spPr>
          <a:xfrm>
            <a:off x="5276088"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5.4%</a:t>
            </a:r>
            <a:endParaRPr lang="en-US" sz="1300" dirty="0"/>
          </a:p>
        </p:txBody>
      </p:sp>
      <p:sp>
        <p:nvSpPr>
          <p:cNvPr id="92" name="Text 90"/>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3" name="Text 91"/>
          <p:cNvSpPr txBox="1"/>
          <p:nvPr/>
        </p:nvSpPr>
        <p:spPr>
          <a:xfrm>
            <a:off x="1014984" y="567681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94" name="Shape 92"/>
          <p:cNvSpPr/>
          <p:nvPr/>
        </p:nvSpPr>
        <p:spPr>
          <a:xfrm>
            <a:off x="3438055" y="5732723"/>
            <a:ext cx="37671" cy="136676"/>
          </a:xfrm>
          <a:prstGeom prst="rect">
            <a:avLst/>
          </a:prstGeom>
          <a:solidFill>
            <a:srgbClr val="C2352F"/>
          </a:solidFill>
          <a:ln/>
        </p:spPr>
      </p:sp>
      <p:sp>
        <p:nvSpPr>
          <p:cNvPr id="95" name="Text 93"/>
          <p:cNvSpPr txBox="1"/>
          <p:nvPr/>
        </p:nvSpPr>
        <p:spPr>
          <a:xfrm>
            <a:off x="417880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−$15K</a:t>
            </a:r>
            <a:endParaRPr lang="en-US" sz="1300" dirty="0"/>
          </a:p>
        </p:txBody>
      </p:sp>
      <p:sp>
        <p:nvSpPr>
          <p:cNvPr id="96" name="Text 94"/>
          <p:cNvSpPr txBox="1"/>
          <p:nvPr/>
        </p:nvSpPr>
        <p:spPr>
          <a:xfrm>
            <a:off x="5276088" y="567681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a:t>
            </a:r>
            <a:endParaRPr lang="en-US" sz="1300" dirty="0"/>
          </a:p>
        </p:txBody>
      </p:sp>
      <p:sp>
        <p:nvSpPr>
          <p:cNvPr id="97" name="Text 95"/>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98" name="Text 96"/>
          <p:cNvSpPr txBox="1"/>
          <p:nvPr/>
        </p:nvSpPr>
        <p:spPr>
          <a:xfrm>
            <a:off x="6565392"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99" name="Shape 97"/>
          <p:cNvSpPr/>
          <p:nvPr/>
        </p:nvSpPr>
        <p:spPr>
          <a:xfrm>
            <a:off x="8982059" y="1756697"/>
            <a:ext cx="44076" cy="136676"/>
          </a:xfrm>
          <a:prstGeom prst="rect">
            <a:avLst/>
          </a:prstGeom>
          <a:solidFill>
            <a:srgbClr val="C2352F"/>
          </a:solidFill>
          <a:ln/>
        </p:spPr>
      </p:sp>
      <p:sp>
        <p:nvSpPr>
          <p:cNvPr id="100" name="Text 98"/>
          <p:cNvSpPr txBox="1"/>
          <p:nvPr/>
        </p:nvSpPr>
        <p:spPr>
          <a:xfrm>
            <a:off x="972921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−$18K</a:t>
            </a:r>
            <a:endParaRPr lang="en-US" sz="1300" dirty="0"/>
          </a:p>
        </p:txBody>
      </p:sp>
      <p:sp>
        <p:nvSpPr>
          <p:cNvPr id="101" name="Text 99"/>
          <p:cNvSpPr txBox="1"/>
          <p:nvPr/>
        </p:nvSpPr>
        <p:spPr>
          <a:xfrm>
            <a:off x="10826496"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
        <p:nvSpPr>
          <p:cNvPr id="102" name="Text 100"/>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3" name="Text 101"/>
          <p:cNvSpPr txBox="1"/>
          <p:nvPr/>
        </p:nvSpPr>
        <p:spPr>
          <a:xfrm>
            <a:off x="6565392"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4" name="Shape 102"/>
          <p:cNvSpPr/>
          <p:nvPr/>
        </p:nvSpPr>
        <p:spPr>
          <a:xfrm>
            <a:off x="8977096" y="2005199"/>
            <a:ext cx="49038" cy="136676"/>
          </a:xfrm>
          <a:prstGeom prst="rect">
            <a:avLst/>
          </a:prstGeom>
          <a:solidFill>
            <a:srgbClr val="C2352F"/>
          </a:solidFill>
          <a:ln/>
        </p:spPr>
      </p:sp>
      <p:sp>
        <p:nvSpPr>
          <p:cNvPr id="105" name="Text 103"/>
          <p:cNvSpPr txBox="1"/>
          <p:nvPr/>
        </p:nvSpPr>
        <p:spPr>
          <a:xfrm>
            <a:off x="972921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−$20K</a:t>
            </a:r>
            <a:endParaRPr lang="en-US" sz="1300" dirty="0"/>
          </a:p>
        </p:txBody>
      </p:sp>
      <p:sp>
        <p:nvSpPr>
          <p:cNvPr id="106" name="Text 104"/>
          <p:cNvSpPr txBox="1"/>
          <p:nvPr/>
        </p:nvSpPr>
        <p:spPr>
          <a:xfrm>
            <a:off x="10826496"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7.2%</a:t>
            </a:r>
            <a:endParaRPr lang="en-US" sz="1300" dirty="0"/>
          </a:p>
        </p:txBody>
      </p:sp>
      <p:sp>
        <p:nvSpPr>
          <p:cNvPr id="107" name="Text 105"/>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08" name="Text 106"/>
          <p:cNvSpPr txBox="1"/>
          <p:nvPr/>
        </p:nvSpPr>
        <p:spPr>
          <a:xfrm>
            <a:off x="6565392"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9" name="Shape 107"/>
          <p:cNvSpPr/>
          <p:nvPr/>
        </p:nvSpPr>
        <p:spPr>
          <a:xfrm>
            <a:off x="8974752" y="2253700"/>
            <a:ext cx="51383" cy="136676"/>
          </a:xfrm>
          <a:prstGeom prst="rect">
            <a:avLst/>
          </a:prstGeom>
          <a:solidFill>
            <a:srgbClr val="C2352F"/>
          </a:solidFill>
          <a:ln/>
        </p:spPr>
      </p:sp>
      <p:sp>
        <p:nvSpPr>
          <p:cNvPr id="110" name="Text 108"/>
          <p:cNvSpPr txBox="1"/>
          <p:nvPr/>
        </p:nvSpPr>
        <p:spPr>
          <a:xfrm>
            <a:off x="972921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111" name="Text 109"/>
          <p:cNvSpPr txBox="1"/>
          <p:nvPr/>
        </p:nvSpPr>
        <p:spPr>
          <a:xfrm>
            <a:off x="10826496"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a:t>
            </a:r>
            <a:endParaRPr lang="en-US" sz="1300" dirty="0"/>
          </a:p>
        </p:txBody>
      </p:sp>
      <p:sp>
        <p:nvSpPr>
          <p:cNvPr id="112" name="Text 11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3" name="Text 111"/>
          <p:cNvSpPr txBox="1"/>
          <p:nvPr/>
        </p:nvSpPr>
        <p:spPr>
          <a:xfrm>
            <a:off x="6565392"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14" name="Shape 112"/>
          <p:cNvSpPr/>
          <p:nvPr/>
        </p:nvSpPr>
        <p:spPr>
          <a:xfrm>
            <a:off x="8973015" y="2502202"/>
            <a:ext cx="53119" cy="136676"/>
          </a:xfrm>
          <a:prstGeom prst="rect">
            <a:avLst/>
          </a:prstGeom>
          <a:solidFill>
            <a:srgbClr val="C2352F"/>
          </a:solidFill>
          <a:ln/>
        </p:spPr>
      </p:sp>
      <p:sp>
        <p:nvSpPr>
          <p:cNvPr id="115" name="Text 113"/>
          <p:cNvSpPr txBox="1"/>
          <p:nvPr/>
        </p:nvSpPr>
        <p:spPr>
          <a:xfrm>
            <a:off x="972921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116" name="Text 114"/>
          <p:cNvSpPr txBox="1"/>
          <p:nvPr/>
        </p:nvSpPr>
        <p:spPr>
          <a:xfrm>
            <a:off x="10826496"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117" name="Text 115"/>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18" name="Text 116"/>
          <p:cNvSpPr txBox="1"/>
          <p:nvPr/>
        </p:nvSpPr>
        <p:spPr>
          <a:xfrm>
            <a:off x="6565392"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19" name="Shape 117"/>
          <p:cNvSpPr/>
          <p:nvPr/>
        </p:nvSpPr>
        <p:spPr>
          <a:xfrm>
            <a:off x="8970285" y="2750703"/>
            <a:ext cx="55850" cy="136676"/>
          </a:xfrm>
          <a:prstGeom prst="rect">
            <a:avLst/>
          </a:prstGeom>
          <a:solidFill>
            <a:srgbClr val="C2352F"/>
          </a:solidFill>
          <a:ln/>
        </p:spPr>
      </p:sp>
      <p:sp>
        <p:nvSpPr>
          <p:cNvPr id="120" name="Text 118"/>
          <p:cNvSpPr txBox="1"/>
          <p:nvPr/>
        </p:nvSpPr>
        <p:spPr>
          <a:xfrm>
            <a:off x="972921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121" name="Text 119"/>
          <p:cNvSpPr txBox="1"/>
          <p:nvPr/>
        </p:nvSpPr>
        <p:spPr>
          <a:xfrm>
            <a:off x="10826496"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a:t>
            </a:r>
            <a:endParaRPr lang="en-US" sz="1300" dirty="0"/>
          </a:p>
        </p:txBody>
      </p:sp>
      <p:sp>
        <p:nvSpPr>
          <p:cNvPr id="122" name="Text 120"/>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3" name="Text 121"/>
          <p:cNvSpPr txBox="1"/>
          <p:nvPr/>
        </p:nvSpPr>
        <p:spPr>
          <a:xfrm>
            <a:off x="6565392"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24" name="Shape 122"/>
          <p:cNvSpPr/>
          <p:nvPr/>
        </p:nvSpPr>
        <p:spPr>
          <a:xfrm>
            <a:off x="8963737" y="2999205"/>
            <a:ext cx="62398" cy="136676"/>
          </a:xfrm>
          <a:prstGeom prst="rect">
            <a:avLst/>
          </a:prstGeom>
          <a:solidFill>
            <a:srgbClr val="C2352F"/>
          </a:solidFill>
          <a:ln/>
        </p:spPr>
      </p:sp>
      <p:sp>
        <p:nvSpPr>
          <p:cNvPr id="125" name="Text 123"/>
          <p:cNvSpPr txBox="1"/>
          <p:nvPr/>
        </p:nvSpPr>
        <p:spPr>
          <a:xfrm>
            <a:off x="972921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−$25K</a:t>
            </a:r>
            <a:endParaRPr lang="en-US" sz="1300" dirty="0"/>
          </a:p>
        </p:txBody>
      </p:sp>
      <p:sp>
        <p:nvSpPr>
          <p:cNvPr id="126" name="Text 124"/>
          <p:cNvSpPr txBox="1"/>
          <p:nvPr/>
        </p:nvSpPr>
        <p:spPr>
          <a:xfrm>
            <a:off x="10826496"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127" name="Text 125"/>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28" name="Text 126"/>
          <p:cNvSpPr txBox="1"/>
          <p:nvPr/>
        </p:nvSpPr>
        <p:spPr>
          <a:xfrm>
            <a:off x="6565392"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29" name="Shape 127"/>
          <p:cNvSpPr/>
          <p:nvPr/>
        </p:nvSpPr>
        <p:spPr>
          <a:xfrm>
            <a:off x="8947585" y="3247707"/>
            <a:ext cx="78550" cy="136676"/>
          </a:xfrm>
          <a:prstGeom prst="rect">
            <a:avLst/>
          </a:prstGeom>
          <a:solidFill>
            <a:srgbClr val="C2352F"/>
          </a:solidFill>
          <a:ln/>
        </p:spPr>
      </p:sp>
      <p:sp>
        <p:nvSpPr>
          <p:cNvPr id="130" name="Text 128"/>
          <p:cNvSpPr txBox="1"/>
          <p:nvPr/>
        </p:nvSpPr>
        <p:spPr>
          <a:xfrm>
            <a:off x="972921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−$32K</a:t>
            </a:r>
            <a:endParaRPr lang="en-US" sz="1300" dirty="0"/>
          </a:p>
        </p:txBody>
      </p:sp>
      <p:sp>
        <p:nvSpPr>
          <p:cNvPr id="131" name="Text 129"/>
          <p:cNvSpPr txBox="1"/>
          <p:nvPr/>
        </p:nvSpPr>
        <p:spPr>
          <a:xfrm>
            <a:off x="10826496"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4.7%</a:t>
            </a:r>
            <a:endParaRPr lang="en-US" sz="1300" dirty="0"/>
          </a:p>
        </p:txBody>
      </p:sp>
      <p:sp>
        <p:nvSpPr>
          <p:cNvPr id="132" name="Text 130"/>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3" name="Text 131"/>
          <p:cNvSpPr txBox="1"/>
          <p:nvPr/>
        </p:nvSpPr>
        <p:spPr>
          <a:xfrm>
            <a:off x="6565392"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34" name="Shape 132"/>
          <p:cNvSpPr/>
          <p:nvPr/>
        </p:nvSpPr>
        <p:spPr>
          <a:xfrm>
            <a:off x="8946049" y="3496208"/>
            <a:ext cx="80086" cy="136676"/>
          </a:xfrm>
          <a:prstGeom prst="rect">
            <a:avLst/>
          </a:prstGeom>
          <a:solidFill>
            <a:srgbClr val="C2352F"/>
          </a:solidFill>
          <a:ln/>
        </p:spPr>
      </p:sp>
      <p:sp>
        <p:nvSpPr>
          <p:cNvPr id="135" name="Text 133"/>
          <p:cNvSpPr txBox="1"/>
          <p:nvPr/>
        </p:nvSpPr>
        <p:spPr>
          <a:xfrm>
            <a:off x="972921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−$32K</a:t>
            </a:r>
            <a:endParaRPr lang="en-US" sz="1300" dirty="0"/>
          </a:p>
        </p:txBody>
      </p:sp>
      <p:sp>
        <p:nvSpPr>
          <p:cNvPr id="136" name="Text 134"/>
          <p:cNvSpPr txBox="1"/>
          <p:nvPr/>
        </p:nvSpPr>
        <p:spPr>
          <a:xfrm>
            <a:off x="10826496"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8.4%</a:t>
            </a:r>
            <a:endParaRPr lang="en-US" sz="1300" dirty="0"/>
          </a:p>
        </p:txBody>
      </p:sp>
      <p:sp>
        <p:nvSpPr>
          <p:cNvPr id="137" name="Text 135"/>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38" name="Text 136"/>
          <p:cNvSpPr txBox="1"/>
          <p:nvPr/>
        </p:nvSpPr>
        <p:spPr>
          <a:xfrm>
            <a:off x="6565392"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39" name="Shape 137"/>
          <p:cNvSpPr/>
          <p:nvPr/>
        </p:nvSpPr>
        <p:spPr>
          <a:xfrm>
            <a:off x="8907086" y="3744710"/>
            <a:ext cx="119049" cy="136676"/>
          </a:xfrm>
          <a:prstGeom prst="rect">
            <a:avLst/>
          </a:prstGeom>
          <a:solidFill>
            <a:srgbClr val="C2352F"/>
          </a:solidFill>
          <a:ln/>
        </p:spPr>
      </p:sp>
      <p:sp>
        <p:nvSpPr>
          <p:cNvPr id="140" name="Text 138"/>
          <p:cNvSpPr txBox="1"/>
          <p:nvPr/>
        </p:nvSpPr>
        <p:spPr>
          <a:xfrm>
            <a:off x="972921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141" name="Text 139"/>
          <p:cNvSpPr txBox="1"/>
          <p:nvPr/>
        </p:nvSpPr>
        <p:spPr>
          <a:xfrm>
            <a:off x="10826496"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8.0%</a:t>
            </a:r>
            <a:endParaRPr lang="en-US" sz="1300" dirty="0"/>
          </a:p>
        </p:txBody>
      </p:sp>
      <p:sp>
        <p:nvSpPr>
          <p:cNvPr id="142" name="Text 140"/>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3" name="Text 141"/>
          <p:cNvSpPr txBox="1"/>
          <p:nvPr/>
        </p:nvSpPr>
        <p:spPr>
          <a:xfrm>
            <a:off x="6565392"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44" name="Shape 142"/>
          <p:cNvSpPr/>
          <p:nvPr/>
        </p:nvSpPr>
        <p:spPr>
          <a:xfrm>
            <a:off x="8895233" y="3993212"/>
            <a:ext cx="130901" cy="136676"/>
          </a:xfrm>
          <a:prstGeom prst="rect">
            <a:avLst/>
          </a:prstGeom>
          <a:solidFill>
            <a:srgbClr val="C2352F"/>
          </a:solidFill>
          <a:ln/>
        </p:spPr>
      </p:sp>
      <p:sp>
        <p:nvSpPr>
          <p:cNvPr id="145" name="Text 143"/>
          <p:cNvSpPr txBox="1"/>
          <p:nvPr/>
        </p:nvSpPr>
        <p:spPr>
          <a:xfrm>
            <a:off x="972921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−$53K</a:t>
            </a:r>
            <a:endParaRPr lang="en-US" sz="1300" dirty="0"/>
          </a:p>
        </p:txBody>
      </p:sp>
      <p:sp>
        <p:nvSpPr>
          <p:cNvPr id="146" name="Text 144"/>
          <p:cNvSpPr txBox="1"/>
          <p:nvPr/>
        </p:nvSpPr>
        <p:spPr>
          <a:xfrm>
            <a:off x="10826496"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147" name="Text 145"/>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48" name="Text 146"/>
          <p:cNvSpPr txBox="1"/>
          <p:nvPr/>
        </p:nvSpPr>
        <p:spPr>
          <a:xfrm>
            <a:off x="6565392"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49" name="Shape 147"/>
          <p:cNvSpPr/>
          <p:nvPr/>
        </p:nvSpPr>
        <p:spPr>
          <a:xfrm>
            <a:off x="8884789" y="4241713"/>
            <a:ext cx="141346" cy="136676"/>
          </a:xfrm>
          <a:prstGeom prst="rect">
            <a:avLst/>
          </a:prstGeom>
          <a:solidFill>
            <a:srgbClr val="C2352F"/>
          </a:solidFill>
          <a:ln/>
        </p:spPr>
      </p:sp>
      <p:sp>
        <p:nvSpPr>
          <p:cNvPr id="150" name="Text 148"/>
          <p:cNvSpPr txBox="1"/>
          <p:nvPr/>
        </p:nvSpPr>
        <p:spPr>
          <a:xfrm>
            <a:off x="972921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−$57K</a:t>
            </a:r>
            <a:endParaRPr lang="en-US" sz="1300" dirty="0"/>
          </a:p>
        </p:txBody>
      </p:sp>
      <p:sp>
        <p:nvSpPr>
          <p:cNvPr id="151" name="Text 149"/>
          <p:cNvSpPr txBox="1"/>
          <p:nvPr/>
        </p:nvSpPr>
        <p:spPr>
          <a:xfrm>
            <a:off x="10826496"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a:t>
            </a:r>
            <a:endParaRPr lang="en-US" sz="1300" dirty="0"/>
          </a:p>
        </p:txBody>
      </p:sp>
      <p:sp>
        <p:nvSpPr>
          <p:cNvPr id="152" name="Text 150"/>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53" name="Text 151"/>
          <p:cNvSpPr txBox="1"/>
          <p:nvPr/>
        </p:nvSpPr>
        <p:spPr>
          <a:xfrm>
            <a:off x="6565392"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54" name="Shape 152"/>
          <p:cNvSpPr/>
          <p:nvPr/>
        </p:nvSpPr>
        <p:spPr>
          <a:xfrm>
            <a:off x="8858308" y="4490215"/>
            <a:ext cx="167826" cy="136676"/>
          </a:xfrm>
          <a:prstGeom prst="rect">
            <a:avLst/>
          </a:prstGeom>
          <a:solidFill>
            <a:srgbClr val="C2352F"/>
          </a:solidFill>
          <a:ln/>
        </p:spPr>
      </p:sp>
      <p:sp>
        <p:nvSpPr>
          <p:cNvPr id="155" name="Text 153"/>
          <p:cNvSpPr txBox="1"/>
          <p:nvPr/>
        </p:nvSpPr>
        <p:spPr>
          <a:xfrm>
            <a:off x="972921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−$67K</a:t>
            </a:r>
            <a:endParaRPr lang="en-US" sz="1300" dirty="0"/>
          </a:p>
        </p:txBody>
      </p:sp>
      <p:sp>
        <p:nvSpPr>
          <p:cNvPr id="156" name="Text 154"/>
          <p:cNvSpPr txBox="1"/>
          <p:nvPr/>
        </p:nvSpPr>
        <p:spPr>
          <a:xfrm>
            <a:off x="10826496"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a:t>
            </a:r>
            <a:endParaRPr lang="en-US" sz="1300" dirty="0"/>
          </a:p>
        </p:txBody>
      </p:sp>
      <p:sp>
        <p:nvSpPr>
          <p:cNvPr id="157" name="Text 155"/>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58" name="Text 156"/>
          <p:cNvSpPr txBox="1"/>
          <p:nvPr/>
        </p:nvSpPr>
        <p:spPr>
          <a:xfrm>
            <a:off x="6565392"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59" name="Shape 157"/>
          <p:cNvSpPr/>
          <p:nvPr/>
        </p:nvSpPr>
        <p:spPr>
          <a:xfrm>
            <a:off x="8840630" y="4738717"/>
            <a:ext cx="185505" cy="136676"/>
          </a:xfrm>
          <a:prstGeom prst="rect">
            <a:avLst/>
          </a:prstGeom>
          <a:solidFill>
            <a:srgbClr val="C2352F"/>
          </a:solidFill>
          <a:ln/>
        </p:spPr>
      </p:sp>
      <p:sp>
        <p:nvSpPr>
          <p:cNvPr id="160" name="Text 158"/>
          <p:cNvSpPr txBox="1"/>
          <p:nvPr/>
        </p:nvSpPr>
        <p:spPr>
          <a:xfrm>
            <a:off x="972921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−$74K</a:t>
            </a:r>
            <a:endParaRPr lang="en-US" sz="1300" dirty="0"/>
          </a:p>
        </p:txBody>
      </p:sp>
      <p:sp>
        <p:nvSpPr>
          <p:cNvPr id="161" name="Text 159"/>
          <p:cNvSpPr txBox="1"/>
          <p:nvPr/>
        </p:nvSpPr>
        <p:spPr>
          <a:xfrm>
            <a:off x="10826496"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162" name="Text 16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63" name="Text 161"/>
          <p:cNvSpPr txBox="1"/>
          <p:nvPr/>
        </p:nvSpPr>
        <p:spPr>
          <a:xfrm>
            <a:off x="6565392"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64" name="Shape 162"/>
          <p:cNvSpPr/>
          <p:nvPr/>
        </p:nvSpPr>
        <p:spPr>
          <a:xfrm>
            <a:off x="8831965" y="4987218"/>
            <a:ext cx="194169" cy="136676"/>
          </a:xfrm>
          <a:prstGeom prst="rect">
            <a:avLst/>
          </a:prstGeom>
          <a:solidFill>
            <a:srgbClr val="C2352F"/>
          </a:solidFill>
          <a:ln/>
        </p:spPr>
      </p:sp>
      <p:sp>
        <p:nvSpPr>
          <p:cNvPr id="165" name="Text 163"/>
          <p:cNvSpPr txBox="1"/>
          <p:nvPr/>
        </p:nvSpPr>
        <p:spPr>
          <a:xfrm>
            <a:off x="972921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−$78K</a:t>
            </a:r>
            <a:endParaRPr lang="en-US" sz="1300" dirty="0"/>
          </a:p>
        </p:txBody>
      </p:sp>
      <p:sp>
        <p:nvSpPr>
          <p:cNvPr id="166" name="Text 164"/>
          <p:cNvSpPr txBox="1"/>
          <p:nvPr/>
        </p:nvSpPr>
        <p:spPr>
          <a:xfrm>
            <a:off x="10826496"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a:t>
            </a:r>
            <a:endParaRPr lang="en-US" sz="1300" dirty="0"/>
          </a:p>
        </p:txBody>
      </p:sp>
      <p:sp>
        <p:nvSpPr>
          <p:cNvPr id="167" name="Text 165"/>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68" name="Text 166"/>
          <p:cNvSpPr txBox="1"/>
          <p:nvPr/>
        </p:nvSpPr>
        <p:spPr>
          <a:xfrm>
            <a:off x="6565392"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69" name="Shape 167"/>
          <p:cNvSpPr/>
          <p:nvPr/>
        </p:nvSpPr>
        <p:spPr>
          <a:xfrm>
            <a:off x="8826849" y="5235720"/>
            <a:ext cx="199286" cy="136676"/>
          </a:xfrm>
          <a:prstGeom prst="rect">
            <a:avLst/>
          </a:prstGeom>
          <a:solidFill>
            <a:srgbClr val="C2352F"/>
          </a:solidFill>
          <a:ln/>
        </p:spPr>
      </p:sp>
      <p:sp>
        <p:nvSpPr>
          <p:cNvPr id="170" name="Text 168"/>
          <p:cNvSpPr txBox="1"/>
          <p:nvPr/>
        </p:nvSpPr>
        <p:spPr>
          <a:xfrm>
            <a:off x="972921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−$80K</a:t>
            </a:r>
            <a:endParaRPr lang="en-US" sz="1300" dirty="0"/>
          </a:p>
        </p:txBody>
      </p:sp>
      <p:sp>
        <p:nvSpPr>
          <p:cNvPr id="171" name="Text 169"/>
          <p:cNvSpPr txBox="1"/>
          <p:nvPr/>
        </p:nvSpPr>
        <p:spPr>
          <a:xfrm>
            <a:off x="10826496"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172" name="Text 170"/>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73" name="Text 171"/>
          <p:cNvSpPr txBox="1"/>
          <p:nvPr/>
        </p:nvSpPr>
        <p:spPr>
          <a:xfrm>
            <a:off x="6565392"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74" name="Shape 172"/>
          <p:cNvSpPr/>
          <p:nvPr/>
        </p:nvSpPr>
        <p:spPr>
          <a:xfrm>
            <a:off x="8650224" y="5484222"/>
            <a:ext cx="375910" cy="136676"/>
          </a:xfrm>
          <a:prstGeom prst="rect">
            <a:avLst/>
          </a:prstGeom>
          <a:solidFill>
            <a:srgbClr val="C2352F"/>
          </a:solidFill>
          <a:ln/>
        </p:spPr>
      </p:sp>
      <p:sp>
        <p:nvSpPr>
          <p:cNvPr id="175" name="Text 173"/>
          <p:cNvSpPr txBox="1"/>
          <p:nvPr/>
        </p:nvSpPr>
        <p:spPr>
          <a:xfrm>
            <a:off x="972921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−$151K</a:t>
            </a:r>
            <a:endParaRPr lang="en-US" sz="1300" dirty="0"/>
          </a:p>
        </p:txBody>
      </p:sp>
      <p:sp>
        <p:nvSpPr>
          <p:cNvPr id="176" name="Text 174"/>
          <p:cNvSpPr txBox="1"/>
          <p:nvPr/>
        </p:nvSpPr>
        <p:spPr>
          <a:xfrm>
            <a:off x="10826496"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5.7%</a:t>
            </a:r>
            <a:endParaRPr lang="en-US" sz="1300" dirty="0"/>
          </a:p>
        </p:txBody>
      </p:sp>
      <p:sp>
        <p:nvSpPr>
          <p:cNvPr id="177" name="Shape 175"/>
          <p:cNvSpPr/>
          <p:nvPr/>
        </p:nvSpPr>
        <p:spPr>
          <a:xfrm>
            <a:off x="6085332" y="1700784"/>
            <a:ext cx="10973" cy="4224528"/>
          </a:xfrm>
          <a:prstGeom prst="rect">
            <a:avLst/>
          </a:prstGeom>
          <a:solidFill>
            <a:srgbClr val="D9D9D9"/>
          </a:solidFill>
          <a:ln/>
        </p:spPr>
      </p:sp>
      <p:sp>
        <p:nvSpPr>
          <p:cNvPr id="178" name="Shape 176"/>
          <p:cNvSpPr/>
          <p:nvPr/>
        </p:nvSpPr>
        <p:spPr>
          <a:xfrm>
            <a:off x="457200" y="6126480"/>
            <a:ext cx="11274552" cy="356616"/>
          </a:xfrm>
          <a:prstGeom prst="rect">
            <a:avLst/>
          </a:prstGeom>
          <a:solidFill>
            <a:srgbClr val="FBEBEA"/>
          </a:solidFill>
          <a:ln/>
        </p:spPr>
      </p:sp>
      <p:sp>
        <p:nvSpPr>
          <p:cNvPr id="179" name="Text 177"/>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A82B26"/>
                </a:solidFill>
                <a:latin typeface="Inter" pitchFamily="34" charset="0"/>
                <a:ea typeface="Inter" pitchFamily="34" charset="-122"/>
                <a:cs typeface="Inter" pitchFamily="34" charset="-120"/>
              </a:rPr>
              <a:t>21 stores under 10% leave $844,657 a year; 12 are at or above it. Chevy LV is furthest below at −$151K.</a:t>
            </a:r>
            <a:endParaRPr lang="en-US" sz="1500" dirty="0"/>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Service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4.5%</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5.8%</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+1.2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+27.3%</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Fuel Service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3762756" y="3049524"/>
            <a:ext cx="310896" cy="45720"/>
          </a:xfrm>
          <a:prstGeom prst="rect">
            <a:avLst/>
          </a:prstGeom>
          <a:solidFill>
            <a:srgbClr val="9AA3AD"/>
          </a:solidFill>
          <a:ln/>
        </p:spPr>
      </p:sp>
      <p:sp>
        <p:nvSpPr>
          <p:cNvPr id="24" name="Shape 16"/>
          <p:cNvSpPr/>
          <p:nvPr/>
        </p:nvSpPr>
        <p:spPr>
          <a:xfrm>
            <a:off x="3863340" y="3017520"/>
            <a:ext cx="109728" cy="109728"/>
          </a:xfrm>
          <a:prstGeom prst="ellipse">
            <a:avLst/>
          </a:prstGeom>
          <a:solidFill>
            <a:srgbClr val="9AA3AD"/>
          </a:solidFill>
          <a:ln/>
        </p:spPr>
      </p:sp>
      <p:sp>
        <p:nvSpPr>
          <p:cNvPr id="25" name="Text 17"/>
          <p:cNvSpPr txBox="1"/>
          <p:nvPr/>
        </p:nvSpPr>
        <p:spPr>
          <a:xfrm>
            <a:off x="414680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4997196" y="3049524"/>
            <a:ext cx="310896" cy="45720"/>
          </a:xfrm>
          <a:prstGeom prst="rect">
            <a:avLst/>
          </a:prstGeom>
          <a:solidFill>
            <a:srgbClr val="2587C5"/>
          </a:solidFill>
          <a:ln/>
        </p:spPr>
      </p:sp>
      <p:sp>
        <p:nvSpPr>
          <p:cNvPr id="27" name="Shape 19"/>
          <p:cNvSpPr/>
          <p:nvPr/>
        </p:nvSpPr>
        <p:spPr>
          <a:xfrm>
            <a:off x="5097780" y="3017520"/>
            <a:ext cx="109728" cy="109728"/>
          </a:xfrm>
          <a:prstGeom prst="ellipse">
            <a:avLst/>
          </a:prstGeom>
          <a:solidFill>
            <a:srgbClr val="2587C5"/>
          </a:solidFill>
          <a:ln/>
        </p:spPr>
      </p:sp>
      <p:sp>
        <p:nvSpPr>
          <p:cNvPr id="28" name="Text 20"/>
          <p:cNvSpPr txBox="1"/>
          <p:nvPr/>
        </p:nvSpPr>
        <p:spPr>
          <a:xfrm>
            <a:off x="538124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6231636" y="3049524"/>
            <a:ext cx="73152" cy="36576"/>
          </a:xfrm>
          <a:prstGeom prst="rect">
            <a:avLst/>
          </a:prstGeom>
          <a:solidFill>
            <a:srgbClr val="595959"/>
          </a:solidFill>
          <a:ln/>
        </p:spPr>
      </p:sp>
      <p:sp>
        <p:nvSpPr>
          <p:cNvPr id="30" name="Shape 22"/>
          <p:cNvSpPr/>
          <p:nvPr/>
        </p:nvSpPr>
        <p:spPr>
          <a:xfrm>
            <a:off x="6350508" y="3049524"/>
            <a:ext cx="73152" cy="36576"/>
          </a:xfrm>
          <a:prstGeom prst="rect">
            <a:avLst/>
          </a:prstGeom>
          <a:solidFill>
            <a:srgbClr val="595959"/>
          </a:solidFill>
          <a:ln/>
        </p:spPr>
      </p:sp>
      <p:sp>
        <p:nvSpPr>
          <p:cNvPr id="31" name="Shape 23"/>
          <p:cNvSpPr/>
          <p:nvPr/>
        </p:nvSpPr>
        <p:spPr>
          <a:xfrm>
            <a:off x="6469380" y="3049524"/>
            <a:ext cx="73152" cy="36576"/>
          </a:xfrm>
          <a:prstGeom prst="rect">
            <a:avLst/>
          </a:prstGeom>
          <a:solidFill>
            <a:srgbClr val="595959"/>
          </a:solidFill>
          <a:ln/>
        </p:spPr>
      </p:sp>
      <p:sp>
        <p:nvSpPr>
          <p:cNvPr id="32" name="Text 24"/>
          <p:cNvSpPr txBox="1"/>
          <p:nvPr/>
        </p:nvSpPr>
        <p:spPr>
          <a:xfrm>
            <a:off x="6615684" y="2926080"/>
            <a:ext cx="23774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Benchmark 7.5%</a:t>
            </a:r>
            <a:endParaRPr lang="en-US" sz="1400" dirty="0"/>
          </a:p>
        </p:txBody>
      </p:sp>
      <p:sp>
        <p:nvSpPr>
          <p:cNvPr id="33" name="Shape 25"/>
          <p:cNvSpPr/>
          <p:nvPr/>
        </p:nvSpPr>
        <p:spPr>
          <a:xfrm>
            <a:off x="457200" y="6126480"/>
            <a:ext cx="11274552" cy="615696"/>
          </a:xfrm>
          <a:prstGeom prst="rect">
            <a:avLst/>
          </a:prstGeom>
          <a:solidFill>
            <a:srgbClr val="E6F6EE"/>
          </a:solidFill>
          <a:ln/>
        </p:spPr>
      </p:sp>
      <p:sp>
        <p:nvSpPr>
          <p:cNvPr id="34"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1.2 pts to 5.8%, ahead of 2025 in all nine months, but 1.7 pts under the 7.5% benchmark — 4,731 fuel services short.</a:t>
            </a:r>
            <a:endParaRPr lang="en-US" sz="1600" dirty="0"/>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ANNUALIZED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System Service Variance from Benchmark</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417880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5276088"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8" name="Shape 6"/>
          <p:cNvSpPr/>
          <p:nvPr/>
        </p:nvSpPr>
        <p:spPr>
          <a:xfrm>
            <a:off x="3540063" y="1700784"/>
            <a:ext cx="10973" cy="4224528"/>
          </a:xfrm>
          <a:prstGeom prst="rect">
            <a:avLst/>
          </a:prstGeom>
          <a:solidFill>
            <a:srgbClr val="9AA3AD"/>
          </a:solidFill>
          <a:ln/>
        </p:spPr>
      </p:sp>
      <p:sp>
        <p:nvSpPr>
          <p:cNvPr id="9" name="Text 7"/>
          <p:cNvSpPr txBox="1"/>
          <p:nvPr/>
        </p:nvSpPr>
        <p:spPr>
          <a:xfrm>
            <a:off x="972921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0" name="Text 8"/>
          <p:cNvSpPr txBox="1"/>
          <p:nvPr/>
        </p:nvSpPr>
        <p:spPr>
          <a:xfrm>
            <a:off x="10826496" y="1316736"/>
            <a:ext cx="6400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Rate</a:t>
            </a:r>
            <a:endParaRPr lang="en-US" sz="1400" dirty="0"/>
          </a:p>
        </p:txBody>
      </p:sp>
      <p:sp>
        <p:nvSpPr>
          <p:cNvPr id="11" name="Shape 9"/>
          <p:cNvSpPr/>
          <p:nvPr/>
        </p:nvSpPr>
        <p:spPr>
          <a:xfrm>
            <a:off x="9090471" y="1700784"/>
            <a:ext cx="10973" cy="3976026"/>
          </a:xfrm>
          <a:prstGeom prst="rect">
            <a:avLst/>
          </a:prstGeom>
          <a:solidFill>
            <a:srgbClr val="9AA3AD"/>
          </a:solidFill>
          <a:ln/>
        </p:spPr>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4" name="Shape 12"/>
          <p:cNvSpPr/>
          <p:nvPr/>
        </p:nvSpPr>
        <p:spPr>
          <a:xfrm>
            <a:off x="3545549" y="1756697"/>
            <a:ext cx="578395" cy="136676"/>
          </a:xfrm>
          <a:prstGeom prst="rect">
            <a:avLst/>
          </a:prstGeom>
          <a:solidFill>
            <a:srgbClr val="12A566"/>
          </a:solidFill>
          <a:ln/>
        </p:spPr>
      </p:sp>
      <p:sp>
        <p:nvSpPr>
          <p:cNvPr id="15" name="Text 13"/>
          <p:cNvSpPr txBox="1"/>
          <p:nvPr/>
        </p:nvSpPr>
        <p:spPr>
          <a:xfrm>
            <a:off x="417880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+$185K</a:t>
            </a:r>
            <a:endParaRPr lang="en-US" sz="1300" dirty="0"/>
          </a:p>
        </p:txBody>
      </p:sp>
      <p:sp>
        <p:nvSpPr>
          <p:cNvPr id="16" name="Text 14"/>
          <p:cNvSpPr txBox="1"/>
          <p:nvPr/>
        </p:nvSpPr>
        <p:spPr>
          <a:xfrm>
            <a:off x="5276088"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12.0%</a:t>
            </a:r>
            <a:endParaRPr lang="en-US" sz="1300" dirty="0"/>
          </a:p>
        </p:txBody>
      </p:sp>
      <p:sp>
        <p:nvSpPr>
          <p:cNvPr id="17" name="Text 15"/>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9" name="Shape 17"/>
          <p:cNvSpPr/>
          <p:nvPr/>
        </p:nvSpPr>
        <p:spPr>
          <a:xfrm>
            <a:off x="3545549" y="2005199"/>
            <a:ext cx="224689" cy="136676"/>
          </a:xfrm>
          <a:prstGeom prst="rect">
            <a:avLst/>
          </a:prstGeom>
          <a:solidFill>
            <a:srgbClr val="12A566"/>
          </a:solidFill>
          <a:ln/>
        </p:spPr>
      </p:sp>
      <p:sp>
        <p:nvSpPr>
          <p:cNvPr id="20" name="Text 18"/>
          <p:cNvSpPr txBox="1"/>
          <p:nvPr/>
        </p:nvSpPr>
        <p:spPr>
          <a:xfrm>
            <a:off x="417880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+$72K</a:t>
            </a:r>
            <a:endParaRPr lang="en-US" sz="1300" dirty="0"/>
          </a:p>
        </p:txBody>
      </p:sp>
      <p:sp>
        <p:nvSpPr>
          <p:cNvPr id="21" name="Text 19"/>
          <p:cNvSpPr txBox="1"/>
          <p:nvPr/>
        </p:nvSpPr>
        <p:spPr>
          <a:xfrm>
            <a:off x="5276088"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13.8%</a:t>
            </a:r>
            <a:endParaRPr lang="en-US" sz="1300" dirty="0"/>
          </a:p>
        </p:txBody>
      </p:sp>
      <p:sp>
        <p:nvSpPr>
          <p:cNvPr id="22" name="Text 20"/>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3" name="Text 21"/>
          <p:cNvSpPr txBox="1"/>
          <p:nvPr/>
        </p:nvSpPr>
        <p:spPr>
          <a:xfrm>
            <a:off x="1014984"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4" name="Shape 22"/>
          <p:cNvSpPr/>
          <p:nvPr/>
        </p:nvSpPr>
        <p:spPr>
          <a:xfrm>
            <a:off x="3545549" y="2253700"/>
            <a:ext cx="160950" cy="136676"/>
          </a:xfrm>
          <a:prstGeom prst="rect">
            <a:avLst/>
          </a:prstGeom>
          <a:solidFill>
            <a:srgbClr val="12A566"/>
          </a:solidFill>
          <a:ln/>
        </p:spPr>
      </p:sp>
      <p:sp>
        <p:nvSpPr>
          <p:cNvPr id="25" name="Text 23"/>
          <p:cNvSpPr txBox="1"/>
          <p:nvPr/>
        </p:nvSpPr>
        <p:spPr>
          <a:xfrm>
            <a:off x="417880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+$51K</a:t>
            </a:r>
            <a:endParaRPr lang="en-US" sz="1300" dirty="0"/>
          </a:p>
        </p:txBody>
      </p:sp>
      <p:sp>
        <p:nvSpPr>
          <p:cNvPr id="26" name="Text 24"/>
          <p:cNvSpPr txBox="1"/>
          <p:nvPr/>
        </p:nvSpPr>
        <p:spPr>
          <a:xfrm>
            <a:off x="5276088"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27" name="Text 25"/>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8" name="Text 26"/>
          <p:cNvSpPr txBox="1"/>
          <p:nvPr/>
        </p:nvSpPr>
        <p:spPr>
          <a:xfrm>
            <a:off x="1014984"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9" name="Shape 27"/>
          <p:cNvSpPr/>
          <p:nvPr/>
        </p:nvSpPr>
        <p:spPr>
          <a:xfrm>
            <a:off x="3545549" y="2502202"/>
            <a:ext cx="41697" cy="136676"/>
          </a:xfrm>
          <a:prstGeom prst="rect">
            <a:avLst/>
          </a:prstGeom>
          <a:solidFill>
            <a:srgbClr val="12A566"/>
          </a:solidFill>
          <a:ln/>
        </p:spPr>
      </p:sp>
      <p:sp>
        <p:nvSpPr>
          <p:cNvPr id="30" name="Text 28"/>
          <p:cNvSpPr txBox="1"/>
          <p:nvPr/>
        </p:nvSpPr>
        <p:spPr>
          <a:xfrm>
            <a:off x="417880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+$13K</a:t>
            </a:r>
            <a:endParaRPr lang="en-US" sz="1300" dirty="0"/>
          </a:p>
        </p:txBody>
      </p:sp>
      <p:sp>
        <p:nvSpPr>
          <p:cNvPr id="31" name="Text 29"/>
          <p:cNvSpPr txBox="1"/>
          <p:nvPr/>
        </p:nvSpPr>
        <p:spPr>
          <a:xfrm>
            <a:off x="5276088"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9.3%</a:t>
            </a:r>
            <a:endParaRPr lang="en-US" sz="1300" dirty="0"/>
          </a:p>
        </p:txBody>
      </p:sp>
      <p:sp>
        <p:nvSpPr>
          <p:cNvPr id="32" name="Text 30"/>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3" name="Text 31"/>
          <p:cNvSpPr txBox="1"/>
          <p:nvPr/>
        </p:nvSpPr>
        <p:spPr>
          <a:xfrm>
            <a:off x="1014984"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4" name="Shape 32"/>
          <p:cNvSpPr/>
          <p:nvPr/>
        </p:nvSpPr>
        <p:spPr>
          <a:xfrm>
            <a:off x="3545549" y="2750703"/>
            <a:ext cx="36360" cy="136676"/>
          </a:xfrm>
          <a:prstGeom prst="rect">
            <a:avLst/>
          </a:prstGeom>
          <a:solidFill>
            <a:srgbClr val="12A566"/>
          </a:solidFill>
          <a:ln/>
        </p:spPr>
      </p:sp>
      <p:sp>
        <p:nvSpPr>
          <p:cNvPr id="35" name="Text 33"/>
          <p:cNvSpPr txBox="1"/>
          <p:nvPr/>
        </p:nvSpPr>
        <p:spPr>
          <a:xfrm>
            <a:off x="4178808" y="2694791"/>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+$12K</a:t>
            </a:r>
            <a:endParaRPr lang="en-US" sz="1300" dirty="0"/>
          </a:p>
        </p:txBody>
      </p:sp>
      <p:sp>
        <p:nvSpPr>
          <p:cNvPr id="36" name="Text 34"/>
          <p:cNvSpPr txBox="1"/>
          <p:nvPr/>
        </p:nvSpPr>
        <p:spPr>
          <a:xfrm>
            <a:off x="5276088"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8.9%</a:t>
            </a:r>
            <a:endParaRPr lang="en-US" sz="1300" dirty="0"/>
          </a:p>
        </p:txBody>
      </p:sp>
      <p:sp>
        <p:nvSpPr>
          <p:cNvPr id="37" name="Text 3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8" name="Text 36"/>
          <p:cNvSpPr txBox="1"/>
          <p:nvPr/>
        </p:nvSpPr>
        <p:spPr>
          <a:xfrm>
            <a:off x="1014984"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9" name="Shape 37"/>
          <p:cNvSpPr/>
          <p:nvPr/>
        </p:nvSpPr>
        <p:spPr>
          <a:xfrm>
            <a:off x="3545549" y="2999205"/>
            <a:ext cx="18288" cy="136676"/>
          </a:xfrm>
          <a:prstGeom prst="rect">
            <a:avLst/>
          </a:prstGeom>
          <a:solidFill>
            <a:srgbClr val="12A566"/>
          </a:solidFill>
          <a:ln/>
        </p:spPr>
      </p:sp>
      <p:sp>
        <p:nvSpPr>
          <p:cNvPr id="40" name="Text 38"/>
          <p:cNvSpPr txBox="1"/>
          <p:nvPr/>
        </p:nvSpPr>
        <p:spPr>
          <a:xfrm>
            <a:off x="4178808" y="294329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+$4K</a:t>
            </a:r>
            <a:endParaRPr lang="en-US" sz="1300" dirty="0"/>
          </a:p>
        </p:txBody>
      </p:sp>
      <p:sp>
        <p:nvSpPr>
          <p:cNvPr id="41" name="Text 39"/>
          <p:cNvSpPr txBox="1"/>
          <p:nvPr/>
        </p:nvSpPr>
        <p:spPr>
          <a:xfrm>
            <a:off x="5276088"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a:t>
            </a:r>
            <a:endParaRPr lang="en-US" sz="1300" dirty="0"/>
          </a:p>
        </p:txBody>
      </p:sp>
      <p:sp>
        <p:nvSpPr>
          <p:cNvPr id="42" name="Text 40"/>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3" name="Text 41"/>
          <p:cNvSpPr txBox="1"/>
          <p:nvPr/>
        </p:nvSpPr>
        <p:spPr>
          <a:xfrm>
            <a:off x="1014984"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4" name="Shape 42"/>
          <p:cNvSpPr/>
          <p:nvPr/>
        </p:nvSpPr>
        <p:spPr>
          <a:xfrm>
            <a:off x="3545549" y="3247707"/>
            <a:ext cx="18288" cy="136676"/>
          </a:xfrm>
          <a:prstGeom prst="rect">
            <a:avLst/>
          </a:prstGeom>
          <a:solidFill>
            <a:srgbClr val="12A566"/>
          </a:solidFill>
          <a:ln/>
        </p:spPr>
      </p:sp>
      <p:sp>
        <p:nvSpPr>
          <p:cNvPr id="45" name="Text 43"/>
          <p:cNvSpPr txBox="1"/>
          <p:nvPr/>
        </p:nvSpPr>
        <p:spPr>
          <a:xfrm>
            <a:off x="4178808" y="319179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+$4K</a:t>
            </a:r>
            <a:endParaRPr lang="en-US" sz="1300" dirty="0"/>
          </a:p>
        </p:txBody>
      </p:sp>
      <p:sp>
        <p:nvSpPr>
          <p:cNvPr id="46" name="Text 44"/>
          <p:cNvSpPr txBox="1"/>
          <p:nvPr/>
        </p:nvSpPr>
        <p:spPr>
          <a:xfrm>
            <a:off x="5276088"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a:t>
            </a:r>
            <a:endParaRPr lang="en-US" sz="1300" dirty="0"/>
          </a:p>
        </p:txBody>
      </p:sp>
      <p:sp>
        <p:nvSpPr>
          <p:cNvPr id="47" name="Text 45"/>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8" name="Text 46"/>
          <p:cNvSpPr txBox="1"/>
          <p:nvPr/>
        </p:nvSpPr>
        <p:spPr>
          <a:xfrm>
            <a:off x="1014984"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9" name="Shape 47"/>
          <p:cNvSpPr/>
          <p:nvPr/>
        </p:nvSpPr>
        <p:spPr>
          <a:xfrm>
            <a:off x="3541770" y="3496208"/>
            <a:ext cx="18288" cy="136676"/>
          </a:xfrm>
          <a:prstGeom prst="rect">
            <a:avLst/>
          </a:prstGeom>
          <a:solidFill>
            <a:srgbClr val="C2352F"/>
          </a:solidFill>
          <a:ln/>
        </p:spPr>
      </p:sp>
      <p:sp>
        <p:nvSpPr>
          <p:cNvPr id="50" name="Text 48"/>
          <p:cNvSpPr txBox="1"/>
          <p:nvPr/>
        </p:nvSpPr>
        <p:spPr>
          <a:xfrm>
            <a:off x="4178808"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−$1K</a:t>
            </a:r>
            <a:endParaRPr lang="en-US" sz="1300" dirty="0"/>
          </a:p>
        </p:txBody>
      </p:sp>
      <p:sp>
        <p:nvSpPr>
          <p:cNvPr id="51" name="Text 49"/>
          <p:cNvSpPr txBox="1"/>
          <p:nvPr/>
        </p:nvSpPr>
        <p:spPr>
          <a:xfrm>
            <a:off x="5276088"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a:t>
            </a:r>
            <a:endParaRPr lang="en-US" sz="1300" dirty="0"/>
          </a:p>
        </p:txBody>
      </p:sp>
      <p:sp>
        <p:nvSpPr>
          <p:cNvPr id="52" name="Text 50"/>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3" name="Text 51"/>
          <p:cNvSpPr txBox="1"/>
          <p:nvPr/>
        </p:nvSpPr>
        <p:spPr>
          <a:xfrm>
            <a:off x="1014984"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4" name="Shape 52"/>
          <p:cNvSpPr/>
          <p:nvPr/>
        </p:nvSpPr>
        <p:spPr>
          <a:xfrm>
            <a:off x="3513580" y="3744710"/>
            <a:ext cx="31969" cy="136676"/>
          </a:xfrm>
          <a:prstGeom prst="rect">
            <a:avLst/>
          </a:prstGeom>
          <a:solidFill>
            <a:srgbClr val="C2352F"/>
          </a:solidFill>
          <a:ln/>
        </p:spPr>
      </p:sp>
      <p:sp>
        <p:nvSpPr>
          <p:cNvPr id="55" name="Text 53"/>
          <p:cNvSpPr txBox="1"/>
          <p:nvPr/>
        </p:nvSpPr>
        <p:spPr>
          <a:xfrm>
            <a:off x="4178808"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−$10K</a:t>
            </a:r>
            <a:endParaRPr lang="en-US" sz="1300" dirty="0"/>
          </a:p>
        </p:txBody>
      </p:sp>
      <p:sp>
        <p:nvSpPr>
          <p:cNvPr id="56" name="Text 54"/>
          <p:cNvSpPr txBox="1"/>
          <p:nvPr/>
        </p:nvSpPr>
        <p:spPr>
          <a:xfrm>
            <a:off x="5276088"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57" name="Text 55"/>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58" name="Text 56"/>
          <p:cNvSpPr txBox="1"/>
          <p:nvPr/>
        </p:nvSpPr>
        <p:spPr>
          <a:xfrm>
            <a:off x="1014984"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9" name="Shape 57"/>
          <p:cNvSpPr/>
          <p:nvPr/>
        </p:nvSpPr>
        <p:spPr>
          <a:xfrm>
            <a:off x="3505684" y="3993212"/>
            <a:ext cx="39865" cy="136676"/>
          </a:xfrm>
          <a:prstGeom prst="rect">
            <a:avLst/>
          </a:prstGeom>
          <a:solidFill>
            <a:srgbClr val="C2352F"/>
          </a:solidFill>
          <a:ln/>
        </p:spPr>
      </p:sp>
      <p:sp>
        <p:nvSpPr>
          <p:cNvPr id="60" name="Text 58"/>
          <p:cNvSpPr txBox="1"/>
          <p:nvPr/>
        </p:nvSpPr>
        <p:spPr>
          <a:xfrm>
            <a:off x="4178808"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61" name="Text 59"/>
          <p:cNvSpPr txBox="1"/>
          <p:nvPr/>
        </p:nvSpPr>
        <p:spPr>
          <a:xfrm>
            <a:off x="5276088"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a:t>
            </a:r>
            <a:endParaRPr lang="en-US" sz="1300" dirty="0"/>
          </a:p>
        </p:txBody>
      </p:sp>
      <p:sp>
        <p:nvSpPr>
          <p:cNvPr id="62" name="Text 6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3" name="Text 61"/>
          <p:cNvSpPr txBox="1"/>
          <p:nvPr/>
        </p:nvSpPr>
        <p:spPr>
          <a:xfrm>
            <a:off x="1014984"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4" name="Shape 62"/>
          <p:cNvSpPr/>
          <p:nvPr/>
        </p:nvSpPr>
        <p:spPr>
          <a:xfrm>
            <a:off x="3488418" y="4241713"/>
            <a:ext cx="57131" cy="136676"/>
          </a:xfrm>
          <a:prstGeom prst="rect">
            <a:avLst/>
          </a:prstGeom>
          <a:solidFill>
            <a:srgbClr val="C2352F"/>
          </a:solidFill>
          <a:ln/>
        </p:spPr>
      </p:sp>
      <p:sp>
        <p:nvSpPr>
          <p:cNvPr id="65" name="Text 63"/>
          <p:cNvSpPr txBox="1"/>
          <p:nvPr/>
        </p:nvSpPr>
        <p:spPr>
          <a:xfrm>
            <a:off x="4178808"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−$18K</a:t>
            </a:r>
            <a:endParaRPr lang="en-US" sz="1300" dirty="0"/>
          </a:p>
        </p:txBody>
      </p:sp>
      <p:sp>
        <p:nvSpPr>
          <p:cNvPr id="66" name="Text 64"/>
          <p:cNvSpPr txBox="1"/>
          <p:nvPr/>
        </p:nvSpPr>
        <p:spPr>
          <a:xfrm>
            <a:off x="5276088"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a:t>
            </a:r>
            <a:endParaRPr lang="en-US" sz="1300" dirty="0"/>
          </a:p>
        </p:txBody>
      </p:sp>
      <p:sp>
        <p:nvSpPr>
          <p:cNvPr id="67" name="Text 65"/>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68" name="Text 66"/>
          <p:cNvSpPr txBox="1"/>
          <p:nvPr/>
        </p:nvSpPr>
        <p:spPr>
          <a:xfrm>
            <a:off x="1014984"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9" name="Shape 67"/>
          <p:cNvSpPr/>
          <p:nvPr/>
        </p:nvSpPr>
        <p:spPr>
          <a:xfrm>
            <a:off x="3486400" y="4490215"/>
            <a:ext cx="59150" cy="136676"/>
          </a:xfrm>
          <a:prstGeom prst="rect">
            <a:avLst/>
          </a:prstGeom>
          <a:solidFill>
            <a:srgbClr val="C2352F"/>
          </a:solidFill>
          <a:ln/>
        </p:spPr>
      </p:sp>
      <p:sp>
        <p:nvSpPr>
          <p:cNvPr id="70" name="Text 68"/>
          <p:cNvSpPr txBox="1"/>
          <p:nvPr/>
        </p:nvSpPr>
        <p:spPr>
          <a:xfrm>
            <a:off x="4178808"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−$19K</a:t>
            </a:r>
            <a:endParaRPr lang="en-US" sz="1300" dirty="0"/>
          </a:p>
        </p:txBody>
      </p:sp>
      <p:sp>
        <p:nvSpPr>
          <p:cNvPr id="71" name="Text 69"/>
          <p:cNvSpPr txBox="1"/>
          <p:nvPr/>
        </p:nvSpPr>
        <p:spPr>
          <a:xfrm>
            <a:off x="5276088"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a:t>
            </a:r>
            <a:endParaRPr lang="en-US" sz="1300" dirty="0"/>
          </a:p>
        </p:txBody>
      </p:sp>
      <p:sp>
        <p:nvSpPr>
          <p:cNvPr id="72" name="Text 70"/>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3" name="Text 71"/>
          <p:cNvSpPr txBox="1"/>
          <p:nvPr/>
        </p:nvSpPr>
        <p:spPr>
          <a:xfrm>
            <a:off x="1014984"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4" name="Shape 72"/>
          <p:cNvSpPr/>
          <p:nvPr/>
        </p:nvSpPr>
        <p:spPr>
          <a:xfrm>
            <a:off x="3479069" y="4738717"/>
            <a:ext cx="66480" cy="136676"/>
          </a:xfrm>
          <a:prstGeom prst="rect">
            <a:avLst/>
          </a:prstGeom>
          <a:solidFill>
            <a:srgbClr val="C2352F"/>
          </a:solidFill>
          <a:ln/>
        </p:spPr>
      </p:sp>
      <p:sp>
        <p:nvSpPr>
          <p:cNvPr id="75" name="Text 73"/>
          <p:cNvSpPr txBox="1"/>
          <p:nvPr/>
        </p:nvSpPr>
        <p:spPr>
          <a:xfrm>
            <a:off x="417880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76" name="Text 74"/>
          <p:cNvSpPr txBox="1"/>
          <p:nvPr/>
        </p:nvSpPr>
        <p:spPr>
          <a:xfrm>
            <a:off x="5276088"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3.6%</a:t>
            </a:r>
            <a:endParaRPr lang="en-US" sz="1300" dirty="0"/>
          </a:p>
        </p:txBody>
      </p:sp>
      <p:sp>
        <p:nvSpPr>
          <p:cNvPr id="77" name="Text 75"/>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78" name="Text 76"/>
          <p:cNvSpPr txBox="1"/>
          <p:nvPr/>
        </p:nvSpPr>
        <p:spPr>
          <a:xfrm>
            <a:off x="1014984"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9" name="Shape 77"/>
          <p:cNvSpPr/>
          <p:nvPr/>
        </p:nvSpPr>
        <p:spPr>
          <a:xfrm>
            <a:off x="3470893" y="4987218"/>
            <a:ext cx="74656" cy="136676"/>
          </a:xfrm>
          <a:prstGeom prst="rect">
            <a:avLst/>
          </a:prstGeom>
          <a:solidFill>
            <a:srgbClr val="C2352F"/>
          </a:solidFill>
          <a:ln/>
        </p:spPr>
      </p:sp>
      <p:sp>
        <p:nvSpPr>
          <p:cNvPr id="80" name="Text 78"/>
          <p:cNvSpPr txBox="1"/>
          <p:nvPr/>
        </p:nvSpPr>
        <p:spPr>
          <a:xfrm>
            <a:off x="417880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−$24K</a:t>
            </a:r>
            <a:endParaRPr lang="en-US" sz="1300" dirty="0"/>
          </a:p>
        </p:txBody>
      </p:sp>
      <p:sp>
        <p:nvSpPr>
          <p:cNvPr id="81" name="Text 79"/>
          <p:cNvSpPr txBox="1"/>
          <p:nvPr/>
        </p:nvSpPr>
        <p:spPr>
          <a:xfrm>
            <a:off x="5276088"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5.5%</a:t>
            </a:r>
            <a:endParaRPr lang="en-US" sz="1300" dirty="0"/>
          </a:p>
        </p:txBody>
      </p:sp>
      <p:sp>
        <p:nvSpPr>
          <p:cNvPr id="82" name="Text 80"/>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3" name="Text 81"/>
          <p:cNvSpPr txBox="1"/>
          <p:nvPr/>
        </p:nvSpPr>
        <p:spPr>
          <a:xfrm>
            <a:off x="1014984"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84" name="Shape 82"/>
          <p:cNvSpPr/>
          <p:nvPr/>
        </p:nvSpPr>
        <p:spPr>
          <a:xfrm>
            <a:off x="3467487" y="5235720"/>
            <a:ext cx="78062" cy="136676"/>
          </a:xfrm>
          <a:prstGeom prst="rect">
            <a:avLst/>
          </a:prstGeom>
          <a:solidFill>
            <a:srgbClr val="C2352F"/>
          </a:solidFill>
          <a:ln/>
        </p:spPr>
      </p:sp>
      <p:sp>
        <p:nvSpPr>
          <p:cNvPr id="85" name="Text 83"/>
          <p:cNvSpPr txBox="1"/>
          <p:nvPr/>
        </p:nvSpPr>
        <p:spPr>
          <a:xfrm>
            <a:off x="417880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−$25K</a:t>
            </a:r>
            <a:endParaRPr lang="en-US" sz="1300" dirty="0"/>
          </a:p>
        </p:txBody>
      </p:sp>
      <p:sp>
        <p:nvSpPr>
          <p:cNvPr id="86" name="Text 84"/>
          <p:cNvSpPr txBox="1"/>
          <p:nvPr/>
        </p:nvSpPr>
        <p:spPr>
          <a:xfrm>
            <a:off x="5276088"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a:t>
            </a:r>
            <a:endParaRPr lang="en-US" sz="1300" dirty="0"/>
          </a:p>
        </p:txBody>
      </p:sp>
      <p:sp>
        <p:nvSpPr>
          <p:cNvPr id="87" name="Text 8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88" name="Text 86"/>
          <p:cNvSpPr txBox="1"/>
          <p:nvPr/>
        </p:nvSpPr>
        <p:spPr>
          <a:xfrm>
            <a:off x="1014984"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89" name="Shape 87"/>
          <p:cNvSpPr/>
          <p:nvPr/>
        </p:nvSpPr>
        <p:spPr>
          <a:xfrm>
            <a:off x="3463887" y="5484222"/>
            <a:ext cx="81662" cy="136676"/>
          </a:xfrm>
          <a:prstGeom prst="rect">
            <a:avLst/>
          </a:prstGeom>
          <a:solidFill>
            <a:srgbClr val="C2352F"/>
          </a:solidFill>
          <a:ln/>
        </p:spPr>
      </p:sp>
      <p:sp>
        <p:nvSpPr>
          <p:cNvPr id="90" name="Text 88"/>
          <p:cNvSpPr txBox="1"/>
          <p:nvPr/>
        </p:nvSpPr>
        <p:spPr>
          <a:xfrm>
            <a:off x="417880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−$26K</a:t>
            </a:r>
            <a:endParaRPr lang="en-US" sz="1300" dirty="0"/>
          </a:p>
        </p:txBody>
      </p:sp>
      <p:sp>
        <p:nvSpPr>
          <p:cNvPr id="91" name="Text 89"/>
          <p:cNvSpPr txBox="1"/>
          <p:nvPr/>
        </p:nvSpPr>
        <p:spPr>
          <a:xfrm>
            <a:off x="5276088"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92" name="Text 90"/>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3" name="Text 91"/>
          <p:cNvSpPr txBox="1"/>
          <p:nvPr/>
        </p:nvSpPr>
        <p:spPr>
          <a:xfrm>
            <a:off x="1014984" y="567681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4" name="Shape 92"/>
          <p:cNvSpPr/>
          <p:nvPr/>
        </p:nvSpPr>
        <p:spPr>
          <a:xfrm>
            <a:off x="3455112" y="5732723"/>
            <a:ext cx="90437" cy="136676"/>
          </a:xfrm>
          <a:prstGeom prst="rect">
            <a:avLst/>
          </a:prstGeom>
          <a:solidFill>
            <a:srgbClr val="C2352F"/>
          </a:solidFill>
          <a:ln/>
        </p:spPr>
      </p:sp>
      <p:sp>
        <p:nvSpPr>
          <p:cNvPr id="95" name="Text 93"/>
          <p:cNvSpPr txBox="1"/>
          <p:nvPr/>
        </p:nvSpPr>
        <p:spPr>
          <a:xfrm>
            <a:off x="417880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−$29K</a:t>
            </a:r>
            <a:endParaRPr lang="en-US" sz="1300" dirty="0"/>
          </a:p>
        </p:txBody>
      </p:sp>
      <p:sp>
        <p:nvSpPr>
          <p:cNvPr id="96" name="Text 94"/>
          <p:cNvSpPr txBox="1"/>
          <p:nvPr/>
        </p:nvSpPr>
        <p:spPr>
          <a:xfrm>
            <a:off x="5276088" y="567681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97" name="Text 95"/>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98" name="Text 96"/>
          <p:cNvSpPr txBox="1"/>
          <p:nvPr/>
        </p:nvSpPr>
        <p:spPr>
          <a:xfrm>
            <a:off x="6565392"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99" name="Shape 97"/>
          <p:cNvSpPr/>
          <p:nvPr/>
        </p:nvSpPr>
        <p:spPr>
          <a:xfrm>
            <a:off x="8990249" y="1756697"/>
            <a:ext cx="105708" cy="136676"/>
          </a:xfrm>
          <a:prstGeom prst="rect">
            <a:avLst/>
          </a:prstGeom>
          <a:solidFill>
            <a:srgbClr val="C2352F"/>
          </a:solidFill>
          <a:ln/>
        </p:spPr>
      </p:sp>
      <p:sp>
        <p:nvSpPr>
          <p:cNvPr id="100" name="Text 98"/>
          <p:cNvSpPr txBox="1"/>
          <p:nvPr/>
        </p:nvSpPr>
        <p:spPr>
          <a:xfrm>
            <a:off x="972921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−$34K</a:t>
            </a:r>
            <a:endParaRPr lang="en-US" sz="1300" dirty="0"/>
          </a:p>
        </p:txBody>
      </p:sp>
      <p:sp>
        <p:nvSpPr>
          <p:cNvPr id="101" name="Text 99"/>
          <p:cNvSpPr txBox="1"/>
          <p:nvPr/>
        </p:nvSpPr>
        <p:spPr>
          <a:xfrm>
            <a:off x="10826496" y="170078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a:t>
            </a:r>
            <a:endParaRPr lang="en-US" sz="1300" dirty="0"/>
          </a:p>
        </p:txBody>
      </p:sp>
      <p:sp>
        <p:nvSpPr>
          <p:cNvPr id="102" name="Text 100"/>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3" name="Text 101"/>
          <p:cNvSpPr txBox="1"/>
          <p:nvPr/>
        </p:nvSpPr>
        <p:spPr>
          <a:xfrm>
            <a:off x="6565392"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4" name="Shape 102"/>
          <p:cNvSpPr/>
          <p:nvPr/>
        </p:nvSpPr>
        <p:spPr>
          <a:xfrm>
            <a:off x="8952406" y="2005199"/>
            <a:ext cx="143551" cy="136676"/>
          </a:xfrm>
          <a:prstGeom prst="rect">
            <a:avLst/>
          </a:prstGeom>
          <a:solidFill>
            <a:srgbClr val="C2352F"/>
          </a:solidFill>
          <a:ln/>
        </p:spPr>
      </p:sp>
      <p:sp>
        <p:nvSpPr>
          <p:cNvPr id="105" name="Text 103"/>
          <p:cNvSpPr txBox="1"/>
          <p:nvPr/>
        </p:nvSpPr>
        <p:spPr>
          <a:xfrm>
            <a:off x="972921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−$46K</a:t>
            </a:r>
            <a:endParaRPr lang="en-US" sz="1300" dirty="0"/>
          </a:p>
        </p:txBody>
      </p:sp>
      <p:sp>
        <p:nvSpPr>
          <p:cNvPr id="106" name="Text 104"/>
          <p:cNvSpPr txBox="1"/>
          <p:nvPr/>
        </p:nvSpPr>
        <p:spPr>
          <a:xfrm>
            <a:off x="10826496" y="194928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a:t>
            </a:r>
            <a:endParaRPr lang="en-US" sz="1300" dirty="0"/>
          </a:p>
        </p:txBody>
      </p:sp>
      <p:sp>
        <p:nvSpPr>
          <p:cNvPr id="107" name="Text 105"/>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08" name="Text 106"/>
          <p:cNvSpPr txBox="1"/>
          <p:nvPr/>
        </p:nvSpPr>
        <p:spPr>
          <a:xfrm>
            <a:off x="6565392"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9" name="Shape 107"/>
          <p:cNvSpPr/>
          <p:nvPr/>
        </p:nvSpPr>
        <p:spPr>
          <a:xfrm>
            <a:off x="8934853" y="2253700"/>
            <a:ext cx="161104" cy="136676"/>
          </a:xfrm>
          <a:prstGeom prst="rect">
            <a:avLst/>
          </a:prstGeom>
          <a:solidFill>
            <a:srgbClr val="C2352F"/>
          </a:solidFill>
          <a:ln/>
        </p:spPr>
      </p:sp>
      <p:sp>
        <p:nvSpPr>
          <p:cNvPr id="110" name="Text 108"/>
          <p:cNvSpPr txBox="1"/>
          <p:nvPr/>
        </p:nvSpPr>
        <p:spPr>
          <a:xfrm>
            <a:off x="972921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−$51K</a:t>
            </a:r>
            <a:endParaRPr lang="en-US" sz="1300" dirty="0"/>
          </a:p>
        </p:txBody>
      </p:sp>
      <p:sp>
        <p:nvSpPr>
          <p:cNvPr id="111" name="Text 109"/>
          <p:cNvSpPr txBox="1"/>
          <p:nvPr/>
        </p:nvSpPr>
        <p:spPr>
          <a:xfrm>
            <a:off x="10826496" y="219778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0.8%</a:t>
            </a:r>
            <a:endParaRPr lang="en-US" sz="1300" dirty="0"/>
          </a:p>
        </p:txBody>
      </p:sp>
      <p:sp>
        <p:nvSpPr>
          <p:cNvPr id="112" name="Text 11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3" name="Text 111"/>
          <p:cNvSpPr txBox="1"/>
          <p:nvPr/>
        </p:nvSpPr>
        <p:spPr>
          <a:xfrm>
            <a:off x="6565392"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14" name="Shape 112"/>
          <p:cNvSpPr/>
          <p:nvPr/>
        </p:nvSpPr>
        <p:spPr>
          <a:xfrm>
            <a:off x="8920647" y="2502202"/>
            <a:ext cx="175310" cy="136676"/>
          </a:xfrm>
          <a:prstGeom prst="rect">
            <a:avLst/>
          </a:prstGeom>
          <a:solidFill>
            <a:srgbClr val="C2352F"/>
          </a:solidFill>
          <a:ln/>
        </p:spPr>
      </p:sp>
      <p:sp>
        <p:nvSpPr>
          <p:cNvPr id="115" name="Text 113"/>
          <p:cNvSpPr txBox="1"/>
          <p:nvPr/>
        </p:nvSpPr>
        <p:spPr>
          <a:xfrm>
            <a:off x="972921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−$56K</a:t>
            </a:r>
            <a:endParaRPr lang="en-US" sz="1300" dirty="0"/>
          </a:p>
        </p:txBody>
      </p:sp>
      <p:sp>
        <p:nvSpPr>
          <p:cNvPr id="116" name="Text 114"/>
          <p:cNvSpPr txBox="1"/>
          <p:nvPr/>
        </p:nvSpPr>
        <p:spPr>
          <a:xfrm>
            <a:off x="10826496" y="244628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17" name="Text 115"/>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18" name="Text 116"/>
          <p:cNvSpPr txBox="1"/>
          <p:nvPr/>
        </p:nvSpPr>
        <p:spPr>
          <a:xfrm>
            <a:off x="6565392"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19" name="Shape 117"/>
          <p:cNvSpPr/>
          <p:nvPr/>
        </p:nvSpPr>
        <p:spPr>
          <a:xfrm>
            <a:off x="8920267" y="2750703"/>
            <a:ext cx="175690" cy="136676"/>
          </a:xfrm>
          <a:prstGeom prst="rect">
            <a:avLst/>
          </a:prstGeom>
          <a:solidFill>
            <a:srgbClr val="C2352F"/>
          </a:solidFill>
          <a:ln/>
        </p:spPr>
      </p:sp>
      <p:sp>
        <p:nvSpPr>
          <p:cNvPr id="120" name="Text 118"/>
          <p:cNvSpPr txBox="1"/>
          <p:nvPr/>
        </p:nvSpPr>
        <p:spPr>
          <a:xfrm>
            <a:off x="972921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−$56K</a:t>
            </a:r>
            <a:endParaRPr lang="en-US" sz="1300" dirty="0"/>
          </a:p>
        </p:txBody>
      </p:sp>
      <p:sp>
        <p:nvSpPr>
          <p:cNvPr id="121" name="Text 119"/>
          <p:cNvSpPr txBox="1"/>
          <p:nvPr/>
        </p:nvSpPr>
        <p:spPr>
          <a:xfrm>
            <a:off x="10826496" y="2694791"/>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a:t>
            </a:r>
            <a:endParaRPr lang="en-US" sz="1300" dirty="0"/>
          </a:p>
        </p:txBody>
      </p:sp>
      <p:sp>
        <p:nvSpPr>
          <p:cNvPr id="122" name="Text 120"/>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3" name="Text 121"/>
          <p:cNvSpPr txBox="1"/>
          <p:nvPr/>
        </p:nvSpPr>
        <p:spPr>
          <a:xfrm>
            <a:off x="6565392"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24" name="Shape 122"/>
          <p:cNvSpPr/>
          <p:nvPr/>
        </p:nvSpPr>
        <p:spPr>
          <a:xfrm>
            <a:off x="8908211" y="2999205"/>
            <a:ext cx="187746" cy="136676"/>
          </a:xfrm>
          <a:prstGeom prst="rect">
            <a:avLst/>
          </a:prstGeom>
          <a:solidFill>
            <a:srgbClr val="C2352F"/>
          </a:solidFill>
          <a:ln/>
        </p:spPr>
      </p:sp>
      <p:sp>
        <p:nvSpPr>
          <p:cNvPr id="125" name="Text 123"/>
          <p:cNvSpPr txBox="1"/>
          <p:nvPr/>
        </p:nvSpPr>
        <p:spPr>
          <a:xfrm>
            <a:off x="972921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−$60K</a:t>
            </a:r>
            <a:endParaRPr lang="en-US" sz="1300" dirty="0"/>
          </a:p>
        </p:txBody>
      </p:sp>
      <p:sp>
        <p:nvSpPr>
          <p:cNvPr id="126" name="Text 124"/>
          <p:cNvSpPr txBox="1"/>
          <p:nvPr/>
        </p:nvSpPr>
        <p:spPr>
          <a:xfrm>
            <a:off x="10826496" y="294329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0.7%</a:t>
            </a:r>
            <a:endParaRPr lang="en-US" sz="1300" dirty="0"/>
          </a:p>
        </p:txBody>
      </p:sp>
      <p:sp>
        <p:nvSpPr>
          <p:cNvPr id="127" name="Text 125"/>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28" name="Text 126"/>
          <p:cNvSpPr txBox="1"/>
          <p:nvPr/>
        </p:nvSpPr>
        <p:spPr>
          <a:xfrm>
            <a:off x="6565392"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29" name="Shape 127"/>
          <p:cNvSpPr/>
          <p:nvPr/>
        </p:nvSpPr>
        <p:spPr>
          <a:xfrm>
            <a:off x="8902495" y="3247707"/>
            <a:ext cx="193462" cy="136676"/>
          </a:xfrm>
          <a:prstGeom prst="rect">
            <a:avLst/>
          </a:prstGeom>
          <a:solidFill>
            <a:srgbClr val="C2352F"/>
          </a:solidFill>
          <a:ln/>
        </p:spPr>
      </p:sp>
      <p:sp>
        <p:nvSpPr>
          <p:cNvPr id="130" name="Text 128"/>
          <p:cNvSpPr txBox="1"/>
          <p:nvPr/>
        </p:nvSpPr>
        <p:spPr>
          <a:xfrm>
            <a:off x="972921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−$62K</a:t>
            </a:r>
            <a:endParaRPr lang="en-US" sz="1300" dirty="0"/>
          </a:p>
        </p:txBody>
      </p:sp>
      <p:sp>
        <p:nvSpPr>
          <p:cNvPr id="131" name="Text 129"/>
          <p:cNvSpPr txBox="1"/>
          <p:nvPr/>
        </p:nvSpPr>
        <p:spPr>
          <a:xfrm>
            <a:off x="10826496" y="319179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a:t>
            </a:r>
            <a:endParaRPr lang="en-US" sz="1300" dirty="0"/>
          </a:p>
        </p:txBody>
      </p:sp>
      <p:sp>
        <p:nvSpPr>
          <p:cNvPr id="132" name="Text 130"/>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3" name="Text 131"/>
          <p:cNvSpPr txBox="1"/>
          <p:nvPr/>
        </p:nvSpPr>
        <p:spPr>
          <a:xfrm>
            <a:off x="6565392"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34" name="Shape 132"/>
          <p:cNvSpPr/>
          <p:nvPr/>
        </p:nvSpPr>
        <p:spPr>
          <a:xfrm>
            <a:off x="8901220" y="3496208"/>
            <a:ext cx="194737" cy="136676"/>
          </a:xfrm>
          <a:prstGeom prst="rect">
            <a:avLst/>
          </a:prstGeom>
          <a:solidFill>
            <a:srgbClr val="C2352F"/>
          </a:solidFill>
          <a:ln/>
        </p:spPr>
      </p:sp>
      <p:sp>
        <p:nvSpPr>
          <p:cNvPr id="135" name="Text 133"/>
          <p:cNvSpPr txBox="1"/>
          <p:nvPr/>
        </p:nvSpPr>
        <p:spPr>
          <a:xfrm>
            <a:off x="972921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−$62K</a:t>
            </a:r>
            <a:endParaRPr lang="en-US" sz="1300" dirty="0"/>
          </a:p>
        </p:txBody>
      </p:sp>
      <p:sp>
        <p:nvSpPr>
          <p:cNvPr id="136" name="Text 134"/>
          <p:cNvSpPr txBox="1"/>
          <p:nvPr/>
        </p:nvSpPr>
        <p:spPr>
          <a:xfrm>
            <a:off x="10826496" y="3440296"/>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37" name="Text 135"/>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38" name="Text 136"/>
          <p:cNvSpPr txBox="1"/>
          <p:nvPr/>
        </p:nvSpPr>
        <p:spPr>
          <a:xfrm>
            <a:off x="6565392"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39" name="Shape 137"/>
          <p:cNvSpPr/>
          <p:nvPr/>
        </p:nvSpPr>
        <p:spPr>
          <a:xfrm>
            <a:off x="8896811" y="3744710"/>
            <a:ext cx="199146" cy="136676"/>
          </a:xfrm>
          <a:prstGeom prst="rect">
            <a:avLst/>
          </a:prstGeom>
          <a:solidFill>
            <a:srgbClr val="C2352F"/>
          </a:solidFill>
          <a:ln/>
        </p:spPr>
      </p:sp>
      <p:sp>
        <p:nvSpPr>
          <p:cNvPr id="140" name="Text 138"/>
          <p:cNvSpPr txBox="1"/>
          <p:nvPr/>
        </p:nvSpPr>
        <p:spPr>
          <a:xfrm>
            <a:off x="972921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−$64K</a:t>
            </a:r>
            <a:endParaRPr lang="en-US" sz="1300" dirty="0"/>
          </a:p>
        </p:txBody>
      </p:sp>
      <p:sp>
        <p:nvSpPr>
          <p:cNvPr id="141" name="Text 139"/>
          <p:cNvSpPr txBox="1"/>
          <p:nvPr/>
        </p:nvSpPr>
        <p:spPr>
          <a:xfrm>
            <a:off x="10826496" y="368879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142" name="Text 140"/>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3" name="Text 141"/>
          <p:cNvSpPr txBox="1"/>
          <p:nvPr/>
        </p:nvSpPr>
        <p:spPr>
          <a:xfrm>
            <a:off x="6565392"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44" name="Shape 142"/>
          <p:cNvSpPr/>
          <p:nvPr/>
        </p:nvSpPr>
        <p:spPr>
          <a:xfrm>
            <a:off x="8891747" y="3993212"/>
            <a:ext cx="204210" cy="136676"/>
          </a:xfrm>
          <a:prstGeom prst="rect">
            <a:avLst/>
          </a:prstGeom>
          <a:solidFill>
            <a:srgbClr val="C2352F"/>
          </a:solidFill>
          <a:ln/>
        </p:spPr>
      </p:sp>
      <p:sp>
        <p:nvSpPr>
          <p:cNvPr id="145" name="Text 143"/>
          <p:cNvSpPr txBox="1"/>
          <p:nvPr/>
        </p:nvSpPr>
        <p:spPr>
          <a:xfrm>
            <a:off x="972921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−$65K</a:t>
            </a:r>
            <a:endParaRPr lang="en-US" sz="1300" dirty="0"/>
          </a:p>
        </p:txBody>
      </p:sp>
      <p:sp>
        <p:nvSpPr>
          <p:cNvPr id="146" name="Text 144"/>
          <p:cNvSpPr txBox="1"/>
          <p:nvPr/>
        </p:nvSpPr>
        <p:spPr>
          <a:xfrm>
            <a:off x="10826496" y="393729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147" name="Text 145"/>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48" name="Text 146"/>
          <p:cNvSpPr txBox="1"/>
          <p:nvPr/>
        </p:nvSpPr>
        <p:spPr>
          <a:xfrm>
            <a:off x="6565392"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49" name="Shape 147"/>
          <p:cNvSpPr/>
          <p:nvPr/>
        </p:nvSpPr>
        <p:spPr>
          <a:xfrm>
            <a:off x="8860792" y="4241713"/>
            <a:ext cx="235165" cy="136676"/>
          </a:xfrm>
          <a:prstGeom prst="rect">
            <a:avLst/>
          </a:prstGeom>
          <a:solidFill>
            <a:srgbClr val="C2352F"/>
          </a:solidFill>
          <a:ln/>
        </p:spPr>
      </p:sp>
      <p:sp>
        <p:nvSpPr>
          <p:cNvPr id="150" name="Text 148"/>
          <p:cNvSpPr txBox="1"/>
          <p:nvPr/>
        </p:nvSpPr>
        <p:spPr>
          <a:xfrm>
            <a:off x="972921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−$75K</a:t>
            </a:r>
            <a:endParaRPr lang="en-US" sz="1300" dirty="0"/>
          </a:p>
        </p:txBody>
      </p:sp>
      <p:sp>
        <p:nvSpPr>
          <p:cNvPr id="151" name="Text 149"/>
          <p:cNvSpPr txBox="1"/>
          <p:nvPr/>
        </p:nvSpPr>
        <p:spPr>
          <a:xfrm>
            <a:off x="10826496" y="4185800"/>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a:t>
            </a:r>
            <a:endParaRPr lang="en-US" sz="1300" dirty="0"/>
          </a:p>
        </p:txBody>
      </p:sp>
      <p:sp>
        <p:nvSpPr>
          <p:cNvPr id="152" name="Text 150"/>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53" name="Text 151"/>
          <p:cNvSpPr txBox="1"/>
          <p:nvPr/>
        </p:nvSpPr>
        <p:spPr>
          <a:xfrm>
            <a:off x="6565392"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54" name="Shape 152"/>
          <p:cNvSpPr/>
          <p:nvPr/>
        </p:nvSpPr>
        <p:spPr>
          <a:xfrm>
            <a:off x="8859151" y="4490215"/>
            <a:ext cx="236806" cy="136676"/>
          </a:xfrm>
          <a:prstGeom prst="rect">
            <a:avLst/>
          </a:prstGeom>
          <a:solidFill>
            <a:srgbClr val="C2352F"/>
          </a:solidFill>
          <a:ln/>
        </p:spPr>
      </p:sp>
      <p:sp>
        <p:nvSpPr>
          <p:cNvPr id="155" name="Text 153"/>
          <p:cNvSpPr txBox="1"/>
          <p:nvPr/>
        </p:nvSpPr>
        <p:spPr>
          <a:xfrm>
            <a:off x="972921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−$76K</a:t>
            </a:r>
            <a:endParaRPr lang="en-US" sz="1300" dirty="0"/>
          </a:p>
        </p:txBody>
      </p:sp>
      <p:sp>
        <p:nvSpPr>
          <p:cNvPr id="156" name="Text 154"/>
          <p:cNvSpPr txBox="1"/>
          <p:nvPr/>
        </p:nvSpPr>
        <p:spPr>
          <a:xfrm>
            <a:off x="10826496" y="4434302"/>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a:t>
            </a:r>
            <a:endParaRPr lang="en-US" sz="1300" dirty="0"/>
          </a:p>
        </p:txBody>
      </p:sp>
      <p:sp>
        <p:nvSpPr>
          <p:cNvPr id="157" name="Text 155"/>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58" name="Text 156"/>
          <p:cNvSpPr txBox="1"/>
          <p:nvPr/>
        </p:nvSpPr>
        <p:spPr>
          <a:xfrm>
            <a:off x="6565392"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59" name="Shape 157"/>
          <p:cNvSpPr/>
          <p:nvPr/>
        </p:nvSpPr>
        <p:spPr>
          <a:xfrm>
            <a:off x="8830828" y="4738717"/>
            <a:ext cx="265129" cy="136676"/>
          </a:xfrm>
          <a:prstGeom prst="rect">
            <a:avLst/>
          </a:prstGeom>
          <a:solidFill>
            <a:srgbClr val="C2352F"/>
          </a:solidFill>
          <a:ln/>
        </p:spPr>
      </p:sp>
      <p:sp>
        <p:nvSpPr>
          <p:cNvPr id="160" name="Text 158"/>
          <p:cNvSpPr txBox="1"/>
          <p:nvPr/>
        </p:nvSpPr>
        <p:spPr>
          <a:xfrm>
            <a:off x="972921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−$85K</a:t>
            </a:r>
            <a:endParaRPr lang="en-US" sz="1300" dirty="0"/>
          </a:p>
        </p:txBody>
      </p:sp>
      <p:sp>
        <p:nvSpPr>
          <p:cNvPr id="161" name="Text 159"/>
          <p:cNvSpPr txBox="1"/>
          <p:nvPr/>
        </p:nvSpPr>
        <p:spPr>
          <a:xfrm>
            <a:off x="10826496" y="4682804"/>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0.0%</a:t>
            </a:r>
            <a:endParaRPr lang="en-US" sz="1300" dirty="0"/>
          </a:p>
        </p:txBody>
      </p:sp>
      <p:sp>
        <p:nvSpPr>
          <p:cNvPr id="162" name="Text 16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63" name="Text 161"/>
          <p:cNvSpPr txBox="1"/>
          <p:nvPr/>
        </p:nvSpPr>
        <p:spPr>
          <a:xfrm>
            <a:off x="6565392"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4" name="Shape 162"/>
          <p:cNvSpPr/>
          <p:nvPr/>
        </p:nvSpPr>
        <p:spPr>
          <a:xfrm>
            <a:off x="8754888" y="4987218"/>
            <a:ext cx="341069" cy="136676"/>
          </a:xfrm>
          <a:prstGeom prst="rect">
            <a:avLst/>
          </a:prstGeom>
          <a:solidFill>
            <a:srgbClr val="C2352F"/>
          </a:solidFill>
          <a:ln/>
        </p:spPr>
      </p:sp>
      <p:sp>
        <p:nvSpPr>
          <p:cNvPr id="165" name="Text 163"/>
          <p:cNvSpPr txBox="1"/>
          <p:nvPr/>
        </p:nvSpPr>
        <p:spPr>
          <a:xfrm>
            <a:off x="972921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−$109K</a:t>
            </a:r>
            <a:endParaRPr lang="en-US" sz="1300" dirty="0"/>
          </a:p>
        </p:txBody>
      </p:sp>
      <p:sp>
        <p:nvSpPr>
          <p:cNvPr id="166" name="Text 164"/>
          <p:cNvSpPr txBox="1"/>
          <p:nvPr/>
        </p:nvSpPr>
        <p:spPr>
          <a:xfrm>
            <a:off x="10826496" y="4931305"/>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167" name="Text 165"/>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68" name="Text 166"/>
          <p:cNvSpPr txBox="1"/>
          <p:nvPr/>
        </p:nvSpPr>
        <p:spPr>
          <a:xfrm>
            <a:off x="6565392"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69" name="Shape 167"/>
          <p:cNvSpPr/>
          <p:nvPr/>
        </p:nvSpPr>
        <p:spPr>
          <a:xfrm>
            <a:off x="8693205" y="5235720"/>
            <a:ext cx="402752" cy="136676"/>
          </a:xfrm>
          <a:prstGeom prst="rect">
            <a:avLst/>
          </a:prstGeom>
          <a:solidFill>
            <a:srgbClr val="C2352F"/>
          </a:solidFill>
          <a:ln/>
        </p:spPr>
      </p:sp>
      <p:sp>
        <p:nvSpPr>
          <p:cNvPr id="170" name="Text 168"/>
          <p:cNvSpPr txBox="1"/>
          <p:nvPr/>
        </p:nvSpPr>
        <p:spPr>
          <a:xfrm>
            <a:off x="972921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−$129K</a:t>
            </a:r>
            <a:endParaRPr lang="en-US" sz="1300" dirty="0"/>
          </a:p>
        </p:txBody>
      </p:sp>
      <p:sp>
        <p:nvSpPr>
          <p:cNvPr id="171" name="Text 169"/>
          <p:cNvSpPr txBox="1"/>
          <p:nvPr/>
        </p:nvSpPr>
        <p:spPr>
          <a:xfrm>
            <a:off x="10826496" y="5179807"/>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a:t>
            </a:r>
            <a:endParaRPr lang="en-US" sz="1300" dirty="0"/>
          </a:p>
        </p:txBody>
      </p:sp>
      <p:sp>
        <p:nvSpPr>
          <p:cNvPr id="172" name="Text 170"/>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73" name="Text 171"/>
          <p:cNvSpPr txBox="1"/>
          <p:nvPr/>
        </p:nvSpPr>
        <p:spPr>
          <a:xfrm>
            <a:off x="6565392"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74" name="Shape 172"/>
          <p:cNvSpPr/>
          <p:nvPr/>
        </p:nvSpPr>
        <p:spPr>
          <a:xfrm>
            <a:off x="8650224" y="5484222"/>
            <a:ext cx="445733" cy="136676"/>
          </a:xfrm>
          <a:prstGeom prst="rect">
            <a:avLst/>
          </a:prstGeom>
          <a:solidFill>
            <a:srgbClr val="C2352F"/>
          </a:solidFill>
          <a:ln/>
        </p:spPr>
      </p:sp>
      <p:sp>
        <p:nvSpPr>
          <p:cNvPr id="175" name="Text 173"/>
          <p:cNvSpPr txBox="1"/>
          <p:nvPr/>
        </p:nvSpPr>
        <p:spPr>
          <a:xfrm>
            <a:off x="972921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−$142K</a:t>
            </a:r>
            <a:endParaRPr lang="en-US" sz="1300" dirty="0"/>
          </a:p>
        </p:txBody>
      </p:sp>
      <p:sp>
        <p:nvSpPr>
          <p:cNvPr id="176" name="Text 174"/>
          <p:cNvSpPr txBox="1"/>
          <p:nvPr/>
        </p:nvSpPr>
        <p:spPr>
          <a:xfrm>
            <a:off x="10826496" y="5428309"/>
            <a:ext cx="6400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5.2%</a:t>
            </a:r>
            <a:endParaRPr lang="en-US" sz="1300" dirty="0"/>
          </a:p>
        </p:txBody>
      </p:sp>
      <p:sp>
        <p:nvSpPr>
          <p:cNvPr id="177" name="Shape 175"/>
          <p:cNvSpPr/>
          <p:nvPr/>
        </p:nvSpPr>
        <p:spPr>
          <a:xfrm>
            <a:off x="6085332" y="1700784"/>
            <a:ext cx="10973" cy="4224528"/>
          </a:xfrm>
          <a:prstGeom prst="rect">
            <a:avLst/>
          </a:prstGeom>
          <a:solidFill>
            <a:srgbClr val="D9D9D9"/>
          </a:solidFill>
          <a:ln/>
        </p:spPr>
      </p:sp>
      <p:sp>
        <p:nvSpPr>
          <p:cNvPr id="178" name="Shape 176"/>
          <p:cNvSpPr/>
          <p:nvPr/>
        </p:nvSpPr>
        <p:spPr>
          <a:xfrm>
            <a:off x="457200" y="6126480"/>
            <a:ext cx="11274552" cy="356616"/>
          </a:xfrm>
          <a:prstGeom prst="rect">
            <a:avLst/>
          </a:prstGeom>
          <a:solidFill>
            <a:srgbClr val="FBEBEA"/>
          </a:solidFill>
          <a:ln/>
        </p:spPr>
      </p:sp>
      <p:sp>
        <p:nvSpPr>
          <p:cNvPr id="179" name="Text 177"/>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A82B26"/>
                </a:solidFill>
                <a:latin typeface="Inter" pitchFamily="34" charset="0"/>
                <a:ea typeface="Inter" pitchFamily="34" charset="-122"/>
                <a:cs typeface="Inter" pitchFamily="34" charset="-120"/>
              </a:rPr>
              <a:t>26 stores under 7.5% leave $1,356,881 a year; 7 are at or above it. Chevy LV is furthest below at −$142K.</a:t>
            </a:r>
            <a:endParaRPr lang="en-US" sz="1500" dirty="0"/>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ANNUALIZED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Variance from Benchmark by Store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481888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Shape 5"/>
          <p:cNvSpPr/>
          <p:nvPr/>
        </p:nvSpPr>
        <p:spPr>
          <a:xfrm>
            <a:off x="3795511" y="1700784"/>
            <a:ext cx="10973" cy="4224528"/>
          </a:xfrm>
          <a:prstGeom prst="rect">
            <a:avLst/>
          </a:prstGeom>
          <a:solidFill>
            <a:srgbClr val="9AA3AD"/>
          </a:solidFill>
          <a:ln/>
        </p:spPr>
      </p:sp>
      <p:sp>
        <p:nvSpPr>
          <p:cNvPr id="8" name="Text 6"/>
          <p:cNvSpPr txBox="1"/>
          <p:nvPr/>
        </p:nvSpPr>
        <p:spPr>
          <a:xfrm>
            <a:off x="1036929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9" name="Shape 7"/>
          <p:cNvSpPr/>
          <p:nvPr/>
        </p:nvSpPr>
        <p:spPr>
          <a:xfrm>
            <a:off x="9345919" y="1700784"/>
            <a:ext cx="10973" cy="3976026"/>
          </a:xfrm>
          <a:prstGeom prst="rect">
            <a:avLst/>
          </a:prstGeom>
          <a:solidFill>
            <a:srgbClr val="9AA3AD"/>
          </a:solidFill>
          <a:ln/>
        </p:spPr>
      </p:sp>
      <p:sp>
        <p:nvSpPr>
          <p:cNvPr id="10" name="Text 8"/>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1" name="Text 9"/>
          <p:cNvSpPr txBox="1"/>
          <p:nvPr/>
        </p:nvSpPr>
        <p:spPr>
          <a:xfrm>
            <a:off x="1014984"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2" name="Shape 10"/>
          <p:cNvSpPr/>
          <p:nvPr/>
        </p:nvSpPr>
        <p:spPr>
          <a:xfrm>
            <a:off x="3800997" y="1756697"/>
            <a:ext cx="963027" cy="136676"/>
          </a:xfrm>
          <a:prstGeom prst="rect">
            <a:avLst/>
          </a:prstGeom>
          <a:solidFill>
            <a:srgbClr val="12A566"/>
          </a:solidFill>
          <a:ln/>
        </p:spPr>
      </p:sp>
      <p:sp>
        <p:nvSpPr>
          <p:cNvPr id="13" name="Text 11"/>
          <p:cNvSpPr txBox="1"/>
          <p:nvPr/>
        </p:nvSpPr>
        <p:spPr>
          <a:xfrm>
            <a:off x="481888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+$743K</a:t>
            </a:r>
            <a:endParaRPr lang="en-US" sz="1300" dirty="0"/>
          </a:p>
        </p:txBody>
      </p:sp>
      <p:sp>
        <p:nvSpPr>
          <p:cNvPr id="14" name="Text 12"/>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5" name="Text 13"/>
          <p:cNvSpPr txBox="1"/>
          <p:nvPr/>
        </p:nvSpPr>
        <p:spPr>
          <a:xfrm>
            <a:off x="1014984"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6" name="Shape 14"/>
          <p:cNvSpPr/>
          <p:nvPr/>
        </p:nvSpPr>
        <p:spPr>
          <a:xfrm>
            <a:off x="3800997" y="2005199"/>
            <a:ext cx="260306" cy="136676"/>
          </a:xfrm>
          <a:prstGeom prst="rect">
            <a:avLst/>
          </a:prstGeom>
          <a:solidFill>
            <a:srgbClr val="12A566"/>
          </a:solidFill>
          <a:ln/>
        </p:spPr>
      </p:sp>
      <p:sp>
        <p:nvSpPr>
          <p:cNvPr id="17" name="Text 15"/>
          <p:cNvSpPr txBox="1"/>
          <p:nvPr/>
        </p:nvSpPr>
        <p:spPr>
          <a:xfrm>
            <a:off x="481888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+$201K</a:t>
            </a:r>
            <a:endParaRPr lang="en-US" sz="1300" dirty="0"/>
          </a:p>
        </p:txBody>
      </p:sp>
      <p:sp>
        <p:nvSpPr>
          <p:cNvPr id="18" name="Text 16"/>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19" name="Text 17"/>
          <p:cNvSpPr txBox="1"/>
          <p:nvPr/>
        </p:nvSpPr>
        <p:spPr>
          <a:xfrm>
            <a:off x="1014984"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0" name="Shape 18"/>
          <p:cNvSpPr/>
          <p:nvPr/>
        </p:nvSpPr>
        <p:spPr>
          <a:xfrm>
            <a:off x="3800997" y="2253700"/>
            <a:ext cx="92755" cy="136676"/>
          </a:xfrm>
          <a:prstGeom prst="rect">
            <a:avLst/>
          </a:prstGeom>
          <a:solidFill>
            <a:srgbClr val="12A566"/>
          </a:solidFill>
          <a:ln/>
        </p:spPr>
      </p:sp>
      <p:sp>
        <p:nvSpPr>
          <p:cNvPr id="21" name="Text 19"/>
          <p:cNvSpPr txBox="1"/>
          <p:nvPr/>
        </p:nvSpPr>
        <p:spPr>
          <a:xfrm>
            <a:off x="481888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+$72K</a:t>
            </a:r>
            <a:endParaRPr lang="en-US" sz="1300" dirty="0"/>
          </a:p>
        </p:txBody>
      </p:sp>
      <p:sp>
        <p:nvSpPr>
          <p:cNvPr id="22" name="Text 20"/>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3" name="Text 21"/>
          <p:cNvSpPr txBox="1"/>
          <p:nvPr/>
        </p:nvSpPr>
        <p:spPr>
          <a:xfrm>
            <a:off x="1014984"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4" name="Shape 22"/>
          <p:cNvSpPr/>
          <p:nvPr/>
        </p:nvSpPr>
        <p:spPr>
          <a:xfrm>
            <a:off x="3800997" y="2502202"/>
            <a:ext cx="77707" cy="136676"/>
          </a:xfrm>
          <a:prstGeom prst="rect">
            <a:avLst/>
          </a:prstGeom>
          <a:solidFill>
            <a:srgbClr val="12A566"/>
          </a:solidFill>
          <a:ln/>
        </p:spPr>
      </p:sp>
      <p:sp>
        <p:nvSpPr>
          <p:cNvPr id="25" name="Text 23"/>
          <p:cNvSpPr txBox="1"/>
          <p:nvPr/>
        </p:nvSpPr>
        <p:spPr>
          <a:xfrm>
            <a:off x="481888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+$60K</a:t>
            </a:r>
            <a:endParaRPr lang="en-US" sz="1300" dirty="0"/>
          </a:p>
        </p:txBody>
      </p:sp>
      <p:sp>
        <p:nvSpPr>
          <p:cNvPr id="26" name="Text 24"/>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7" name="Text 25"/>
          <p:cNvSpPr txBox="1"/>
          <p:nvPr/>
        </p:nvSpPr>
        <p:spPr>
          <a:xfrm>
            <a:off x="1014984"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8" name="Shape 26"/>
          <p:cNvSpPr/>
          <p:nvPr/>
        </p:nvSpPr>
        <p:spPr>
          <a:xfrm>
            <a:off x="3800997" y="2750703"/>
            <a:ext cx="71427" cy="136676"/>
          </a:xfrm>
          <a:prstGeom prst="rect">
            <a:avLst/>
          </a:prstGeom>
          <a:solidFill>
            <a:srgbClr val="12A566"/>
          </a:solidFill>
          <a:ln/>
        </p:spPr>
      </p:sp>
      <p:sp>
        <p:nvSpPr>
          <p:cNvPr id="29" name="Text 27"/>
          <p:cNvSpPr txBox="1"/>
          <p:nvPr/>
        </p:nvSpPr>
        <p:spPr>
          <a:xfrm>
            <a:off x="4818888" y="2694791"/>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+$55K</a:t>
            </a:r>
            <a:endParaRPr lang="en-US" sz="1300" dirty="0"/>
          </a:p>
        </p:txBody>
      </p:sp>
      <p:sp>
        <p:nvSpPr>
          <p:cNvPr id="30" name="Text 28"/>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1" name="Text 29"/>
          <p:cNvSpPr txBox="1"/>
          <p:nvPr/>
        </p:nvSpPr>
        <p:spPr>
          <a:xfrm>
            <a:off x="1014984"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2" name="Shape 30"/>
          <p:cNvSpPr/>
          <p:nvPr/>
        </p:nvSpPr>
        <p:spPr>
          <a:xfrm>
            <a:off x="3800997" y="2999205"/>
            <a:ext cx="57698" cy="136676"/>
          </a:xfrm>
          <a:prstGeom prst="rect">
            <a:avLst/>
          </a:prstGeom>
          <a:solidFill>
            <a:srgbClr val="12A566"/>
          </a:solidFill>
          <a:ln/>
        </p:spPr>
      </p:sp>
      <p:sp>
        <p:nvSpPr>
          <p:cNvPr id="33" name="Text 31"/>
          <p:cNvSpPr txBox="1"/>
          <p:nvPr/>
        </p:nvSpPr>
        <p:spPr>
          <a:xfrm>
            <a:off x="4818888" y="294329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+$45K</a:t>
            </a:r>
            <a:endParaRPr lang="en-US" sz="1300" dirty="0"/>
          </a:p>
        </p:txBody>
      </p:sp>
      <p:sp>
        <p:nvSpPr>
          <p:cNvPr id="34" name="Text 32"/>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5" name="Text 33"/>
          <p:cNvSpPr txBox="1"/>
          <p:nvPr/>
        </p:nvSpPr>
        <p:spPr>
          <a:xfrm>
            <a:off x="1014984"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36" name="Shape 34"/>
          <p:cNvSpPr/>
          <p:nvPr/>
        </p:nvSpPr>
        <p:spPr>
          <a:xfrm>
            <a:off x="3800997" y="3247707"/>
            <a:ext cx="40337" cy="136676"/>
          </a:xfrm>
          <a:prstGeom prst="rect">
            <a:avLst/>
          </a:prstGeom>
          <a:solidFill>
            <a:srgbClr val="12A566"/>
          </a:solidFill>
          <a:ln/>
        </p:spPr>
      </p:sp>
      <p:sp>
        <p:nvSpPr>
          <p:cNvPr id="37" name="Text 35"/>
          <p:cNvSpPr txBox="1"/>
          <p:nvPr/>
        </p:nvSpPr>
        <p:spPr>
          <a:xfrm>
            <a:off x="4818888" y="319179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+$31K</a:t>
            </a:r>
            <a:endParaRPr lang="en-US" sz="1300" dirty="0"/>
          </a:p>
        </p:txBody>
      </p:sp>
      <p:sp>
        <p:nvSpPr>
          <p:cNvPr id="38" name="Text 36"/>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39" name="Text 37"/>
          <p:cNvSpPr txBox="1"/>
          <p:nvPr/>
        </p:nvSpPr>
        <p:spPr>
          <a:xfrm>
            <a:off x="1014984"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40" name="Shape 38"/>
          <p:cNvSpPr/>
          <p:nvPr/>
        </p:nvSpPr>
        <p:spPr>
          <a:xfrm>
            <a:off x="3762731" y="3496208"/>
            <a:ext cx="38266" cy="136676"/>
          </a:xfrm>
          <a:prstGeom prst="rect">
            <a:avLst/>
          </a:prstGeom>
          <a:solidFill>
            <a:srgbClr val="C2352F"/>
          </a:solidFill>
          <a:ln/>
        </p:spPr>
      </p:sp>
      <p:sp>
        <p:nvSpPr>
          <p:cNvPr id="41" name="Text 39"/>
          <p:cNvSpPr txBox="1"/>
          <p:nvPr/>
        </p:nvSpPr>
        <p:spPr>
          <a:xfrm>
            <a:off x="4818888"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−$30K</a:t>
            </a:r>
            <a:endParaRPr lang="en-US" sz="1300" dirty="0"/>
          </a:p>
        </p:txBody>
      </p:sp>
      <p:sp>
        <p:nvSpPr>
          <p:cNvPr id="42" name="Text 40"/>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3" name="Text 41"/>
          <p:cNvSpPr txBox="1"/>
          <p:nvPr/>
        </p:nvSpPr>
        <p:spPr>
          <a:xfrm>
            <a:off x="1014984"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4" name="Shape 42"/>
          <p:cNvSpPr/>
          <p:nvPr/>
        </p:nvSpPr>
        <p:spPr>
          <a:xfrm>
            <a:off x="3752270" y="3744710"/>
            <a:ext cx="48727" cy="136676"/>
          </a:xfrm>
          <a:prstGeom prst="rect">
            <a:avLst/>
          </a:prstGeom>
          <a:solidFill>
            <a:srgbClr val="C2352F"/>
          </a:solidFill>
          <a:ln/>
        </p:spPr>
      </p:sp>
      <p:sp>
        <p:nvSpPr>
          <p:cNvPr id="45" name="Text 43"/>
          <p:cNvSpPr txBox="1"/>
          <p:nvPr/>
        </p:nvSpPr>
        <p:spPr>
          <a:xfrm>
            <a:off x="4818888"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−$38K</a:t>
            </a:r>
            <a:endParaRPr lang="en-US" sz="1300" dirty="0"/>
          </a:p>
        </p:txBody>
      </p:sp>
      <p:sp>
        <p:nvSpPr>
          <p:cNvPr id="46" name="Text 44"/>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7" name="Text 45"/>
          <p:cNvSpPr txBox="1"/>
          <p:nvPr/>
        </p:nvSpPr>
        <p:spPr>
          <a:xfrm>
            <a:off x="1014984"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48" name="Shape 46"/>
          <p:cNvSpPr/>
          <p:nvPr/>
        </p:nvSpPr>
        <p:spPr>
          <a:xfrm>
            <a:off x="3751591" y="3993212"/>
            <a:ext cx="49407" cy="136676"/>
          </a:xfrm>
          <a:prstGeom prst="rect">
            <a:avLst/>
          </a:prstGeom>
          <a:solidFill>
            <a:srgbClr val="C2352F"/>
          </a:solidFill>
          <a:ln/>
        </p:spPr>
      </p:sp>
      <p:sp>
        <p:nvSpPr>
          <p:cNvPr id="49" name="Text 47"/>
          <p:cNvSpPr txBox="1"/>
          <p:nvPr/>
        </p:nvSpPr>
        <p:spPr>
          <a:xfrm>
            <a:off x="4818888"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−$38K</a:t>
            </a:r>
            <a:endParaRPr lang="en-US" sz="1300" dirty="0"/>
          </a:p>
        </p:txBody>
      </p:sp>
      <p:sp>
        <p:nvSpPr>
          <p:cNvPr id="50" name="Text 48"/>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1" name="Text 49"/>
          <p:cNvSpPr txBox="1"/>
          <p:nvPr/>
        </p:nvSpPr>
        <p:spPr>
          <a:xfrm>
            <a:off x="1014984"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52" name="Shape 50"/>
          <p:cNvSpPr/>
          <p:nvPr/>
        </p:nvSpPr>
        <p:spPr>
          <a:xfrm>
            <a:off x="3745550" y="4241713"/>
            <a:ext cx="55448" cy="136676"/>
          </a:xfrm>
          <a:prstGeom prst="rect">
            <a:avLst/>
          </a:prstGeom>
          <a:solidFill>
            <a:srgbClr val="C2352F"/>
          </a:solidFill>
          <a:ln/>
        </p:spPr>
      </p:sp>
      <p:sp>
        <p:nvSpPr>
          <p:cNvPr id="53" name="Text 51"/>
          <p:cNvSpPr txBox="1"/>
          <p:nvPr/>
        </p:nvSpPr>
        <p:spPr>
          <a:xfrm>
            <a:off x="4818888"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−$43K</a:t>
            </a:r>
            <a:endParaRPr lang="en-US" sz="1300" dirty="0"/>
          </a:p>
        </p:txBody>
      </p:sp>
      <p:sp>
        <p:nvSpPr>
          <p:cNvPr id="54" name="Text 52"/>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5" name="Text 53"/>
          <p:cNvSpPr txBox="1"/>
          <p:nvPr/>
        </p:nvSpPr>
        <p:spPr>
          <a:xfrm>
            <a:off x="1014984"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6" name="Shape 54"/>
          <p:cNvSpPr/>
          <p:nvPr/>
        </p:nvSpPr>
        <p:spPr>
          <a:xfrm>
            <a:off x="3729945" y="4490215"/>
            <a:ext cx="71053" cy="136676"/>
          </a:xfrm>
          <a:prstGeom prst="rect">
            <a:avLst/>
          </a:prstGeom>
          <a:solidFill>
            <a:srgbClr val="C2352F"/>
          </a:solidFill>
          <a:ln/>
        </p:spPr>
      </p:sp>
      <p:sp>
        <p:nvSpPr>
          <p:cNvPr id="57" name="Text 55"/>
          <p:cNvSpPr txBox="1"/>
          <p:nvPr/>
        </p:nvSpPr>
        <p:spPr>
          <a:xfrm>
            <a:off x="4818888"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−$55K</a:t>
            </a:r>
            <a:endParaRPr lang="en-US" sz="1300" dirty="0"/>
          </a:p>
        </p:txBody>
      </p:sp>
      <p:sp>
        <p:nvSpPr>
          <p:cNvPr id="58" name="Text 56"/>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59" name="Text 57"/>
          <p:cNvSpPr txBox="1"/>
          <p:nvPr/>
        </p:nvSpPr>
        <p:spPr>
          <a:xfrm>
            <a:off x="1014984"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60" name="Shape 58"/>
          <p:cNvSpPr/>
          <p:nvPr/>
        </p:nvSpPr>
        <p:spPr>
          <a:xfrm>
            <a:off x="3718481" y="4738717"/>
            <a:ext cx="82517" cy="136676"/>
          </a:xfrm>
          <a:prstGeom prst="rect">
            <a:avLst/>
          </a:prstGeom>
          <a:solidFill>
            <a:srgbClr val="C2352F"/>
          </a:solidFill>
          <a:ln/>
        </p:spPr>
      </p:sp>
      <p:sp>
        <p:nvSpPr>
          <p:cNvPr id="61" name="Text 59"/>
          <p:cNvSpPr txBox="1"/>
          <p:nvPr/>
        </p:nvSpPr>
        <p:spPr>
          <a:xfrm>
            <a:off x="481888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−$64K</a:t>
            </a:r>
            <a:endParaRPr lang="en-US" sz="1300" dirty="0"/>
          </a:p>
        </p:txBody>
      </p:sp>
      <p:sp>
        <p:nvSpPr>
          <p:cNvPr id="62" name="Text 60"/>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3" name="Text 61"/>
          <p:cNvSpPr txBox="1"/>
          <p:nvPr/>
        </p:nvSpPr>
        <p:spPr>
          <a:xfrm>
            <a:off x="1014984"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4" name="Shape 62"/>
          <p:cNvSpPr/>
          <p:nvPr/>
        </p:nvSpPr>
        <p:spPr>
          <a:xfrm>
            <a:off x="3710263" y="4987218"/>
            <a:ext cx="90735" cy="136676"/>
          </a:xfrm>
          <a:prstGeom prst="rect">
            <a:avLst/>
          </a:prstGeom>
          <a:solidFill>
            <a:srgbClr val="C2352F"/>
          </a:solidFill>
          <a:ln/>
        </p:spPr>
      </p:sp>
      <p:sp>
        <p:nvSpPr>
          <p:cNvPr id="65" name="Text 63"/>
          <p:cNvSpPr txBox="1"/>
          <p:nvPr/>
        </p:nvSpPr>
        <p:spPr>
          <a:xfrm>
            <a:off x="481888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−$70K</a:t>
            </a:r>
            <a:endParaRPr lang="en-US" sz="1300" dirty="0"/>
          </a:p>
        </p:txBody>
      </p:sp>
      <p:sp>
        <p:nvSpPr>
          <p:cNvPr id="66" name="Text 64"/>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7" name="Text 65"/>
          <p:cNvSpPr txBox="1"/>
          <p:nvPr/>
        </p:nvSpPr>
        <p:spPr>
          <a:xfrm>
            <a:off x="1014984"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8" name="Shape 66"/>
          <p:cNvSpPr/>
          <p:nvPr/>
        </p:nvSpPr>
        <p:spPr>
          <a:xfrm>
            <a:off x="3698735" y="5235720"/>
            <a:ext cx="102262" cy="136676"/>
          </a:xfrm>
          <a:prstGeom prst="rect">
            <a:avLst/>
          </a:prstGeom>
          <a:solidFill>
            <a:srgbClr val="C2352F"/>
          </a:solidFill>
          <a:ln/>
        </p:spPr>
      </p:sp>
      <p:sp>
        <p:nvSpPr>
          <p:cNvPr id="69" name="Text 67"/>
          <p:cNvSpPr txBox="1"/>
          <p:nvPr/>
        </p:nvSpPr>
        <p:spPr>
          <a:xfrm>
            <a:off x="481888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−$79K</a:t>
            </a:r>
            <a:endParaRPr lang="en-US" sz="1300" dirty="0"/>
          </a:p>
        </p:txBody>
      </p:sp>
      <p:sp>
        <p:nvSpPr>
          <p:cNvPr id="70" name="Text 68"/>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1" name="Text 69"/>
          <p:cNvSpPr txBox="1"/>
          <p:nvPr/>
        </p:nvSpPr>
        <p:spPr>
          <a:xfrm>
            <a:off x="1014984"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2" name="Shape 70"/>
          <p:cNvSpPr/>
          <p:nvPr/>
        </p:nvSpPr>
        <p:spPr>
          <a:xfrm>
            <a:off x="3697071" y="5484222"/>
            <a:ext cx="103926" cy="136676"/>
          </a:xfrm>
          <a:prstGeom prst="rect">
            <a:avLst/>
          </a:prstGeom>
          <a:solidFill>
            <a:srgbClr val="C2352F"/>
          </a:solidFill>
          <a:ln/>
        </p:spPr>
      </p:sp>
      <p:sp>
        <p:nvSpPr>
          <p:cNvPr id="73" name="Text 71"/>
          <p:cNvSpPr txBox="1"/>
          <p:nvPr/>
        </p:nvSpPr>
        <p:spPr>
          <a:xfrm>
            <a:off x="481888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−$80K</a:t>
            </a:r>
            <a:endParaRPr lang="en-US" sz="1300" dirty="0"/>
          </a:p>
        </p:txBody>
      </p:sp>
      <p:sp>
        <p:nvSpPr>
          <p:cNvPr id="74" name="Text 72"/>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5" name="Text 73"/>
          <p:cNvSpPr txBox="1"/>
          <p:nvPr/>
        </p:nvSpPr>
        <p:spPr>
          <a:xfrm>
            <a:off x="1014984" y="567681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6" name="Shape 74"/>
          <p:cNvSpPr/>
          <p:nvPr/>
        </p:nvSpPr>
        <p:spPr>
          <a:xfrm>
            <a:off x="3696290" y="5732723"/>
            <a:ext cx="104707" cy="136676"/>
          </a:xfrm>
          <a:prstGeom prst="rect">
            <a:avLst/>
          </a:prstGeom>
          <a:solidFill>
            <a:srgbClr val="C2352F"/>
          </a:solidFill>
          <a:ln/>
        </p:spPr>
      </p:sp>
      <p:sp>
        <p:nvSpPr>
          <p:cNvPr id="77" name="Text 75"/>
          <p:cNvSpPr txBox="1"/>
          <p:nvPr/>
        </p:nvSpPr>
        <p:spPr>
          <a:xfrm>
            <a:off x="481888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−$81K</a:t>
            </a:r>
            <a:endParaRPr lang="en-US" sz="1300" dirty="0"/>
          </a:p>
        </p:txBody>
      </p:sp>
      <p:sp>
        <p:nvSpPr>
          <p:cNvPr id="78" name="Text 76"/>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79" name="Text 77"/>
          <p:cNvSpPr txBox="1"/>
          <p:nvPr/>
        </p:nvSpPr>
        <p:spPr>
          <a:xfrm>
            <a:off x="6565392"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0" name="Shape 78"/>
          <p:cNvSpPr/>
          <p:nvPr/>
        </p:nvSpPr>
        <p:spPr>
          <a:xfrm>
            <a:off x="9237983" y="1756697"/>
            <a:ext cx="113423" cy="136676"/>
          </a:xfrm>
          <a:prstGeom prst="rect">
            <a:avLst/>
          </a:prstGeom>
          <a:solidFill>
            <a:srgbClr val="C2352F"/>
          </a:solidFill>
          <a:ln/>
        </p:spPr>
      </p:sp>
      <p:sp>
        <p:nvSpPr>
          <p:cNvPr id="81" name="Text 79"/>
          <p:cNvSpPr txBox="1"/>
          <p:nvPr/>
        </p:nvSpPr>
        <p:spPr>
          <a:xfrm>
            <a:off x="1036929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−$88K</a:t>
            </a:r>
            <a:endParaRPr lang="en-US" sz="1300" dirty="0"/>
          </a:p>
        </p:txBody>
      </p:sp>
      <p:sp>
        <p:nvSpPr>
          <p:cNvPr id="82" name="Text 80"/>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3" name="Text 81"/>
          <p:cNvSpPr txBox="1"/>
          <p:nvPr/>
        </p:nvSpPr>
        <p:spPr>
          <a:xfrm>
            <a:off x="6565392"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84" name="Shape 82"/>
          <p:cNvSpPr/>
          <p:nvPr/>
        </p:nvSpPr>
        <p:spPr>
          <a:xfrm>
            <a:off x="9188179" y="2005199"/>
            <a:ext cx="163227" cy="136676"/>
          </a:xfrm>
          <a:prstGeom prst="rect">
            <a:avLst/>
          </a:prstGeom>
          <a:solidFill>
            <a:srgbClr val="C2352F"/>
          </a:solidFill>
          <a:ln/>
        </p:spPr>
      </p:sp>
      <p:sp>
        <p:nvSpPr>
          <p:cNvPr id="85" name="Text 83"/>
          <p:cNvSpPr txBox="1"/>
          <p:nvPr/>
        </p:nvSpPr>
        <p:spPr>
          <a:xfrm>
            <a:off x="1036929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−$126K</a:t>
            </a:r>
            <a:endParaRPr lang="en-US" sz="1300" dirty="0"/>
          </a:p>
        </p:txBody>
      </p:sp>
      <p:sp>
        <p:nvSpPr>
          <p:cNvPr id="86" name="Text 84"/>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7" name="Text 85"/>
          <p:cNvSpPr txBox="1"/>
          <p:nvPr/>
        </p:nvSpPr>
        <p:spPr>
          <a:xfrm>
            <a:off x="6565392"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8" name="Shape 86"/>
          <p:cNvSpPr/>
          <p:nvPr/>
        </p:nvSpPr>
        <p:spPr>
          <a:xfrm>
            <a:off x="9179400" y="2253700"/>
            <a:ext cx="172006" cy="136676"/>
          </a:xfrm>
          <a:prstGeom prst="rect">
            <a:avLst/>
          </a:prstGeom>
          <a:solidFill>
            <a:srgbClr val="C2352F"/>
          </a:solidFill>
          <a:ln/>
        </p:spPr>
      </p:sp>
      <p:sp>
        <p:nvSpPr>
          <p:cNvPr id="89" name="Text 87"/>
          <p:cNvSpPr txBox="1"/>
          <p:nvPr/>
        </p:nvSpPr>
        <p:spPr>
          <a:xfrm>
            <a:off x="1036929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−$133K</a:t>
            </a:r>
            <a:endParaRPr lang="en-US" sz="1300" dirty="0"/>
          </a:p>
        </p:txBody>
      </p:sp>
      <p:sp>
        <p:nvSpPr>
          <p:cNvPr id="90" name="Text 88"/>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1" name="Text 89"/>
          <p:cNvSpPr txBox="1"/>
          <p:nvPr/>
        </p:nvSpPr>
        <p:spPr>
          <a:xfrm>
            <a:off x="6565392"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2" name="Shape 90"/>
          <p:cNvSpPr/>
          <p:nvPr/>
        </p:nvSpPr>
        <p:spPr>
          <a:xfrm>
            <a:off x="9170174" y="2502202"/>
            <a:ext cx="181231" cy="136676"/>
          </a:xfrm>
          <a:prstGeom prst="rect">
            <a:avLst/>
          </a:prstGeom>
          <a:solidFill>
            <a:srgbClr val="C2352F"/>
          </a:solidFill>
          <a:ln/>
        </p:spPr>
      </p:sp>
      <p:sp>
        <p:nvSpPr>
          <p:cNvPr id="93" name="Text 91"/>
          <p:cNvSpPr txBox="1"/>
          <p:nvPr/>
        </p:nvSpPr>
        <p:spPr>
          <a:xfrm>
            <a:off x="1036929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−$140K</a:t>
            </a:r>
            <a:endParaRPr lang="en-US" sz="1300" dirty="0"/>
          </a:p>
        </p:txBody>
      </p:sp>
      <p:sp>
        <p:nvSpPr>
          <p:cNvPr id="94" name="Text 92"/>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5" name="Text 93"/>
          <p:cNvSpPr txBox="1"/>
          <p:nvPr/>
        </p:nvSpPr>
        <p:spPr>
          <a:xfrm>
            <a:off x="6565392"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96" name="Shape 94"/>
          <p:cNvSpPr/>
          <p:nvPr/>
        </p:nvSpPr>
        <p:spPr>
          <a:xfrm>
            <a:off x="9169305" y="2750703"/>
            <a:ext cx="182101" cy="136676"/>
          </a:xfrm>
          <a:prstGeom prst="rect">
            <a:avLst/>
          </a:prstGeom>
          <a:solidFill>
            <a:srgbClr val="C2352F"/>
          </a:solidFill>
          <a:ln/>
        </p:spPr>
      </p:sp>
      <p:sp>
        <p:nvSpPr>
          <p:cNvPr id="97" name="Text 95"/>
          <p:cNvSpPr txBox="1"/>
          <p:nvPr/>
        </p:nvSpPr>
        <p:spPr>
          <a:xfrm>
            <a:off x="1036929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−$141K</a:t>
            </a:r>
            <a:endParaRPr lang="en-US" sz="1300" dirty="0"/>
          </a:p>
        </p:txBody>
      </p:sp>
      <p:sp>
        <p:nvSpPr>
          <p:cNvPr id="98" name="Text 96"/>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99" name="Text 97"/>
          <p:cNvSpPr txBox="1"/>
          <p:nvPr/>
        </p:nvSpPr>
        <p:spPr>
          <a:xfrm>
            <a:off x="6565392"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00" name="Shape 98"/>
          <p:cNvSpPr/>
          <p:nvPr/>
        </p:nvSpPr>
        <p:spPr>
          <a:xfrm>
            <a:off x="9109792" y="2999205"/>
            <a:ext cx="241613" cy="136676"/>
          </a:xfrm>
          <a:prstGeom prst="rect">
            <a:avLst/>
          </a:prstGeom>
          <a:solidFill>
            <a:srgbClr val="C2352F"/>
          </a:solidFill>
          <a:ln/>
        </p:spPr>
      </p:sp>
      <p:sp>
        <p:nvSpPr>
          <p:cNvPr id="101" name="Text 99"/>
          <p:cNvSpPr txBox="1"/>
          <p:nvPr/>
        </p:nvSpPr>
        <p:spPr>
          <a:xfrm>
            <a:off x="1036929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−$186K</a:t>
            </a:r>
            <a:endParaRPr lang="en-US" sz="1300" dirty="0"/>
          </a:p>
        </p:txBody>
      </p:sp>
      <p:sp>
        <p:nvSpPr>
          <p:cNvPr id="102" name="Text 100"/>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3" name="Text 101"/>
          <p:cNvSpPr txBox="1"/>
          <p:nvPr/>
        </p:nvSpPr>
        <p:spPr>
          <a:xfrm>
            <a:off x="6565392"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4" name="Shape 102"/>
          <p:cNvSpPr/>
          <p:nvPr/>
        </p:nvSpPr>
        <p:spPr>
          <a:xfrm>
            <a:off x="9092573" y="3247707"/>
            <a:ext cx="258833" cy="136676"/>
          </a:xfrm>
          <a:prstGeom prst="rect">
            <a:avLst/>
          </a:prstGeom>
          <a:solidFill>
            <a:srgbClr val="C2352F"/>
          </a:solidFill>
          <a:ln/>
        </p:spPr>
      </p:sp>
      <p:sp>
        <p:nvSpPr>
          <p:cNvPr id="105" name="Text 103"/>
          <p:cNvSpPr txBox="1"/>
          <p:nvPr/>
        </p:nvSpPr>
        <p:spPr>
          <a:xfrm>
            <a:off x="1036929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−$200K</a:t>
            </a:r>
            <a:endParaRPr lang="en-US" sz="1300" dirty="0"/>
          </a:p>
        </p:txBody>
      </p:sp>
      <p:sp>
        <p:nvSpPr>
          <p:cNvPr id="106" name="Text 104"/>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7" name="Text 105"/>
          <p:cNvSpPr txBox="1"/>
          <p:nvPr/>
        </p:nvSpPr>
        <p:spPr>
          <a:xfrm>
            <a:off x="6565392"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8" name="Shape 106"/>
          <p:cNvSpPr/>
          <p:nvPr/>
        </p:nvSpPr>
        <p:spPr>
          <a:xfrm>
            <a:off x="9092243" y="3496208"/>
            <a:ext cx="259162" cy="136676"/>
          </a:xfrm>
          <a:prstGeom prst="rect">
            <a:avLst/>
          </a:prstGeom>
          <a:solidFill>
            <a:srgbClr val="C2352F"/>
          </a:solidFill>
          <a:ln/>
        </p:spPr>
      </p:sp>
      <p:sp>
        <p:nvSpPr>
          <p:cNvPr id="109" name="Text 107"/>
          <p:cNvSpPr txBox="1"/>
          <p:nvPr/>
        </p:nvSpPr>
        <p:spPr>
          <a:xfrm>
            <a:off x="1036929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−$200K</a:t>
            </a:r>
            <a:endParaRPr lang="en-US" sz="1300" dirty="0"/>
          </a:p>
        </p:txBody>
      </p:sp>
      <p:sp>
        <p:nvSpPr>
          <p:cNvPr id="110" name="Text 108"/>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1" name="Text 109"/>
          <p:cNvSpPr txBox="1"/>
          <p:nvPr/>
        </p:nvSpPr>
        <p:spPr>
          <a:xfrm>
            <a:off x="6565392"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12" name="Shape 110"/>
          <p:cNvSpPr/>
          <p:nvPr/>
        </p:nvSpPr>
        <p:spPr>
          <a:xfrm>
            <a:off x="9072005" y="3744710"/>
            <a:ext cx="279401" cy="136676"/>
          </a:xfrm>
          <a:prstGeom prst="rect">
            <a:avLst/>
          </a:prstGeom>
          <a:solidFill>
            <a:srgbClr val="C2352F"/>
          </a:solidFill>
          <a:ln/>
        </p:spPr>
      </p:sp>
      <p:sp>
        <p:nvSpPr>
          <p:cNvPr id="113" name="Text 111"/>
          <p:cNvSpPr txBox="1"/>
          <p:nvPr/>
        </p:nvSpPr>
        <p:spPr>
          <a:xfrm>
            <a:off x="1036929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−$216K</a:t>
            </a:r>
            <a:endParaRPr lang="en-US" sz="1300" dirty="0"/>
          </a:p>
        </p:txBody>
      </p:sp>
      <p:sp>
        <p:nvSpPr>
          <p:cNvPr id="114" name="Text 112"/>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5" name="Text 113"/>
          <p:cNvSpPr txBox="1"/>
          <p:nvPr/>
        </p:nvSpPr>
        <p:spPr>
          <a:xfrm>
            <a:off x="6565392"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16" name="Shape 114"/>
          <p:cNvSpPr/>
          <p:nvPr/>
        </p:nvSpPr>
        <p:spPr>
          <a:xfrm>
            <a:off x="9049807" y="3993212"/>
            <a:ext cx="301599" cy="136676"/>
          </a:xfrm>
          <a:prstGeom prst="rect">
            <a:avLst/>
          </a:prstGeom>
          <a:solidFill>
            <a:srgbClr val="C2352F"/>
          </a:solidFill>
          <a:ln/>
        </p:spPr>
      </p:sp>
      <p:sp>
        <p:nvSpPr>
          <p:cNvPr id="117" name="Text 115"/>
          <p:cNvSpPr txBox="1"/>
          <p:nvPr/>
        </p:nvSpPr>
        <p:spPr>
          <a:xfrm>
            <a:off x="1036929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−$233K</a:t>
            </a:r>
            <a:endParaRPr lang="en-US" sz="1300" dirty="0"/>
          </a:p>
        </p:txBody>
      </p:sp>
      <p:sp>
        <p:nvSpPr>
          <p:cNvPr id="118" name="Text 116"/>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19" name="Text 117"/>
          <p:cNvSpPr txBox="1"/>
          <p:nvPr/>
        </p:nvSpPr>
        <p:spPr>
          <a:xfrm>
            <a:off x="6565392"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20" name="Shape 118"/>
          <p:cNvSpPr/>
          <p:nvPr/>
        </p:nvSpPr>
        <p:spPr>
          <a:xfrm>
            <a:off x="9034236" y="4241713"/>
            <a:ext cx="317170" cy="136676"/>
          </a:xfrm>
          <a:prstGeom prst="rect">
            <a:avLst/>
          </a:prstGeom>
          <a:solidFill>
            <a:srgbClr val="C2352F"/>
          </a:solidFill>
          <a:ln/>
        </p:spPr>
      </p:sp>
      <p:sp>
        <p:nvSpPr>
          <p:cNvPr id="121" name="Text 119"/>
          <p:cNvSpPr txBox="1"/>
          <p:nvPr/>
        </p:nvSpPr>
        <p:spPr>
          <a:xfrm>
            <a:off x="1036929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−$245K</a:t>
            </a:r>
            <a:endParaRPr lang="en-US" sz="1300" dirty="0"/>
          </a:p>
        </p:txBody>
      </p:sp>
      <p:sp>
        <p:nvSpPr>
          <p:cNvPr id="122" name="Text 120"/>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3" name="Text 121"/>
          <p:cNvSpPr txBox="1"/>
          <p:nvPr/>
        </p:nvSpPr>
        <p:spPr>
          <a:xfrm>
            <a:off x="6565392"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24" name="Shape 122"/>
          <p:cNvSpPr/>
          <p:nvPr/>
        </p:nvSpPr>
        <p:spPr>
          <a:xfrm>
            <a:off x="9031867" y="4490215"/>
            <a:ext cx="319539" cy="136676"/>
          </a:xfrm>
          <a:prstGeom prst="rect">
            <a:avLst/>
          </a:prstGeom>
          <a:solidFill>
            <a:srgbClr val="C2352F"/>
          </a:solidFill>
          <a:ln/>
        </p:spPr>
      </p:sp>
      <p:sp>
        <p:nvSpPr>
          <p:cNvPr id="125" name="Text 123"/>
          <p:cNvSpPr txBox="1"/>
          <p:nvPr/>
        </p:nvSpPr>
        <p:spPr>
          <a:xfrm>
            <a:off x="1036929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−$247K</a:t>
            </a:r>
            <a:endParaRPr lang="en-US" sz="1300" dirty="0"/>
          </a:p>
        </p:txBody>
      </p:sp>
      <p:sp>
        <p:nvSpPr>
          <p:cNvPr id="126" name="Text 124"/>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7" name="Text 125"/>
          <p:cNvSpPr txBox="1"/>
          <p:nvPr/>
        </p:nvSpPr>
        <p:spPr>
          <a:xfrm>
            <a:off x="6565392"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8" name="Shape 126"/>
          <p:cNvSpPr/>
          <p:nvPr/>
        </p:nvSpPr>
        <p:spPr>
          <a:xfrm>
            <a:off x="8959526" y="4738717"/>
            <a:ext cx="391880" cy="136676"/>
          </a:xfrm>
          <a:prstGeom prst="rect">
            <a:avLst/>
          </a:prstGeom>
          <a:solidFill>
            <a:srgbClr val="C2352F"/>
          </a:solidFill>
          <a:ln/>
        </p:spPr>
      </p:sp>
      <p:sp>
        <p:nvSpPr>
          <p:cNvPr id="129" name="Text 127"/>
          <p:cNvSpPr txBox="1"/>
          <p:nvPr/>
        </p:nvSpPr>
        <p:spPr>
          <a:xfrm>
            <a:off x="1036929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−$302K</a:t>
            </a:r>
            <a:endParaRPr lang="en-US" sz="1300" dirty="0"/>
          </a:p>
        </p:txBody>
      </p:sp>
      <p:sp>
        <p:nvSpPr>
          <p:cNvPr id="130" name="Text 128"/>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1" name="Text 129"/>
          <p:cNvSpPr txBox="1"/>
          <p:nvPr/>
        </p:nvSpPr>
        <p:spPr>
          <a:xfrm>
            <a:off x="6565392"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32" name="Shape 130"/>
          <p:cNvSpPr/>
          <p:nvPr/>
        </p:nvSpPr>
        <p:spPr>
          <a:xfrm>
            <a:off x="8890482" y="4987218"/>
            <a:ext cx="460924" cy="136676"/>
          </a:xfrm>
          <a:prstGeom prst="rect">
            <a:avLst/>
          </a:prstGeom>
          <a:solidFill>
            <a:srgbClr val="C2352F"/>
          </a:solidFill>
          <a:ln/>
        </p:spPr>
      </p:sp>
      <p:sp>
        <p:nvSpPr>
          <p:cNvPr id="133" name="Text 131"/>
          <p:cNvSpPr txBox="1"/>
          <p:nvPr/>
        </p:nvSpPr>
        <p:spPr>
          <a:xfrm>
            <a:off x="1036929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−$356K</a:t>
            </a:r>
            <a:endParaRPr lang="en-US" sz="1300" dirty="0"/>
          </a:p>
        </p:txBody>
      </p:sp>
      <p:sp>
        <p:nvSpPr>
          <p:cNvPr id="134" name="Text 132"/>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5" name="Text 133"/>
          <p:cNvSpPr txBox="1"/>
          <p:nvPr/>
        </p:nvSpPr>
        <p:spPr>
          <a:xfrm>
            <a:off x="6565392"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36" name="Shape 134"/>
          <p:cNvSpPr/>
          <p:nvPr/>
        </p:nvSpPr>
        <p:spPr>
          <a:xfrm>
            <a:off x="8735965" y="5235720"/>
            <a:ext cx="615441" cy="136676"/>
          </a:xfrm>
          <a:prstGeom prst="rect">
            <a:avLst/>
          </a:prstGeom>
          <a:solidFill>
            <a:srgbClr val="C2352F"/>
          </a:solidFill>
          <a:ln/>
        </p:spPr>
      </p:sp>
      <p:sp>
        <p:nvSpPr>
          <p:cNvPr id="137" name="Text 135"/>
          <p:cNvSpPr txBox="1"/>
          <p:nvPr/>
        </p:nvSpPr>
        <p:spPr>
          <a:xfrm>
            <a:off x="1036929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−$475K</a:t>
            </a:r>
            <a:endParaRPr lang="en-US" sz="1300" dirty="0"/>
          </a:p>
        </p:txBody>
      </p:sp>
      <p:sp>
        <p:nvSpPr>
          <p:cNvPr id="138" name="Text 136"/>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39" name="Text 137"/>
          <p:cNvSpPr txBox="1"/>
          <p:nvPr/>
        </p:nvSpPr>
        <p:spPr>
          <a:xfrm>
            <a:off x="6565392"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40" name="Shape 138"/>
          <p:cNvSpPr/>
          <p:nvPr/>
        </p:nvSpPr>
        <p:spPr>
          <a:xfrm>
            <a:off x="8650224" y="5484222"/>
            <a:ext cx="701181" cy="136676"/>
          </a:xfrm>
          <a:prstGeom prst="rect">
            <a:avLst/>
          </a:prstGeom>
          <a:solidFill>
            <a:srgbClr val="C2352F"/>
          </a:solidFill>
          <a:ln/>
        </p:spPr>
      </p:sp>
      <p:sp>
        <p:nvSpPr>
          <p:cNvPr id="141" name="Text 139"/>
          <p:cNvSpPr txBox="1"/>
          <p:nvPr/>
        </p:nvSpPr>
        <p:spPr>
          <a:xfrm>
            <a:off x="1036929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−$541K</a:t>
            </a:r>
            <a:endParaRPr lang="en-US" sz="1300" dirty="0"/>
          </a:p>
        </p:txBody>
      </p:sp>
      <p:sp>
        <p:nvSpPr>
          <p:cNvPr id="142" name="Shape 140"/>
          <p:cNvSpPr/>
          <p:nvPr/>
        </p:nvSpPr>
        <p:spPr>
          <a:xfrm>
            <a:off x="6085332" y="1700784"/>
            <a:ext cx="10973" cy="4224528"/>
          </a:xfrm>
          <a:prstGeom prst="rect">
            <a:avLst/>
          </a:prstGeom>
          <a:solidFill>
            <a:srgbClr val="D9D9D9"/>
          </a:solidFill>
          <a:ln/>
        </p:spPr>
      </p:sp>
      <p:sp>
        <p:nvSpPr>
          <p:cNvPr id="143" name="Shape 141"/>
          <p:cNvSpPr/>
          <p:nvPr/>
        </p:nvSpPr>
        <p:spPr>
          <a:xfrm>
            <a:off x="457200" y="6126480"/>
            <a:ext cx="11274552" cy="615696"/>
          </a:xfrm>
          <a:prstGeom prst="rect">
            <a:avLst/>
          </a:prstGeom>
          <a:solidFill>
            <a:srgbClr val="FBEBEA"/>
          </a:solidFill>
          <a:ln/>
        </p:spPr>
      </p:sp>
      <p:sp>
        <p:nvSpPr>
          <p:cNvPr id="144" name="Text 142"/>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Toyota Spokane is furthest below at −$541K a year; 7 of 33 stores are ahead of benchmark across the four services. 15 stores are under all four.</a:t>
            </a:r>
            <a:endParaRPr lang="en-US" sz="1600" dirty="0"/>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People</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Our most valuable asset: this is what separates us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Invest in training and a defined career path. Be the best place to work.</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Grow your own techs, advisors and managers: apprentice programs, develop your bench, train your replacement</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Always be teaching, training and educating</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What does being short-handed cost? Limited scheduling, lost opportunities, missed MPIs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Clear pay plans, job descriptions and expectations</a:t>
            </a:r>
            <a:endParaRPr lang="en-US" sz="1800" dirty="0"/>
          </a:p>
        </p:txBody>
      </p:sp>
      <p:sp>
        <p:nvSpPr>
          <p:cNvPr id="10" name="Shape 8"/>
          <p:cNvSpPr/>
          <p:nvPr/>
        </p:nvSpPr>
        <p:spPr>
          <a:xfrm>
            <a:off x="7269480" y="1920240"/>
            <a:ext cx="54864" cy="1112520"/>
          </a:xfrm>
          <a:prstGeom prst="rect">
            <a:avLst/>
          </a:prstGeom>
          <a:solidFill>
            <a:srgbClr val="2587C5"/>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−76</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ops staff, Sep to Sep, to 1,540 (−4.7%): technicians −17, advisors −7, managers −3.</a:t>
            </a:r>
            <a:endParaRPr lang="en-US" sz="1400" dirty="0"/>
          </a:p>
        </p:txBody>
      </p:sp>
      <p:sp>
        <p:nvSpPr>
          <p:cNvPr id="13" name="Shape 11"/>
          <p:cNvSpPr/>
          <p:nvPr/>
        </p:nvSpPr>
        <p:spPr>
          <a:xfrm>
            <a:off x="7269480" y="3261360"/>
            <a:ext cx="54864" cy="1112520"/>
          </a:xfrm>
          <a:prstGeom prst="rect">
            <a:avLst/>
          </a:prstGeom>
          <a:solidFill>
            <a:srgbClr val="12A566"/>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$13,617</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gross per fixed employee a month, up $1,207. Gross grew 4.1% with 5.1% fewer people.</a:t>
            </a:r>
            <a:endParaRPr lang="en-US" sz="1400" dirty="0"/>
          </a:p>
        </p:txBody>
      </p:sp>
      <p:sp>
        <p:nvSpPr>
          <p:cNvPr id="16" name="Shape 14"/>
          <p:cNvSpPr/>
          <p:nvPr/>
        </p:nvSpPr>
        <p:spPr>
          <a:xfrm>
            <a:off x="7269480" y="4602480"/>
            <a:ext cx="54864" cy="1112520"/>
          </a:xfrm>
          <a:prstGeom prst="rect">
            <a:avLst/>
          </a:prstGeom>
          <a:solidFill>
            <a:srgbClr val="C2352F"/>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$28,600</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Gross an average tech's bay produces a month: 152 sold hours at $188 each. An empty or idle bay misses all of it.</a:t>
            </a:r>
            <a:endParaRPr lang="en-US" sz="1400" dirty="0"/>
          </a:p>
        </p:txBody>
      </p:sp>
      <p:sp>
        <p:nvSpPr>
          <p:cNvPr id="19" name="Shape 17"/>
          <p:cNvSpPr/>
          <p:nvPr/>
        </p:nvSpPr>
        <p:spPr>
          <a:xfrm>
            <a:off x="457200" y="6126480"/>
            <a:ext cx="11274552" cy="615696"/>
          </a:xfrm>
          <a:prstGeom prst="rect">
            <a:avLst/>
          </a:prstGeom>
          <a:solidFill>
            <a:srgbClr val="EDF4FA"/>
          </a:solidFill>
          <a:ln/>
        </p:spPr>
      </p:sp>
      <p:sp>
        <p:nvSpPr>
          <p:cNvPr id="20" name="Text 1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keep every seat filled with someone who adds hours. Being short-handed costs appointments, MPIs and sold hours.</a:t>
            </a:r>
            <a:endParaRPr lang="en-US" sz="1600" dirty="0"/>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Pay Plans Are Work Instructions</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Clear and easily understood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Based on customer-pay performance: CP labor or gross per RO, hours per RO, maintenance penetration, total sales or gross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Incentivize improvement in the metrics that make the biggest difference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Move every technician to flat rate and away from hourly: it rewards productivity and makes proficiency easy to track</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Base versus bonus: a 50/50 ratio</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Every system is perfectly designed to get the results it gets</a:t>
            </a:r>
            <a:endParaRPr lang="en-US" sz="1800" dirty="0"/>
          </a:p>
        </p:txBody>
      </p:sp>
      <p:sp>
        <p:nvSpPr>
          <p:cNvPr id="10" name="Shape 8"/>
          <p:cNvSpPr/>
          <p:nvPr/>
        </p:nvSpPr>
        <p:spPr>
          <a:xfrm>
            <a:off x="7269480" y="1920240"/>
            <a:ext cx="54864" cy="178308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$304</a:t>
            </a:r>
            <a:endParaRPr lang="en-US" sz="3000" dirty="0"/>
          </a:p>
        </p:txBody>
      </p:sp>
      <p:sp>
        <p:nvSpPr>
          <p:cNvPr id="12" name="Text 10"/>
          <p:cNvSpPr txBox="1"/>
          <p:nvPr/>
        </p:nvSpPr>
        <p:spPr>
          <a:xfrm>
            <a:off x="7452360" y="244144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labor per RO, the number the plans should pay on. Up $17.</a:t>
            </a:r>
            <a:endParaRPr lang="en-US" sz="1400" dirty="0"/>
          </a:p>
        </p:txBody>
      </p:sp>
      <p:sp>
        <p:nvSpPr>
          <p:cNvPr id="13" name="Shape 11"/>
          <p:cNvSpPr/>
          <p:nvPr/>
        </p:nvSpPr>
        <p:spPr>
          <a:xfrm>
            <a:off x="7269480" y="3931920"/>
            <a:ext cx="54864" cy="1783080"/>
          </a:xfrm>
          <a:prstGeom prst="rect">
            <a:avLst/>
          </a:prstGeom>
          <a:solidFill>
            <a:srgbClr val="12A566"/>
          </a:solidFill>
          <a:ln/>
        </p:spPr>
      </p:sp>
      <p:sp>
        <p:nvSpPr>
          <p:cNvPr id="14" name="Text 12"/>
          <p:cNvSpPr txBox="1"/>
          <p:nvPr/>
        </p:nvSpPr>
        <p:spPr>
          <a:xfrm>
            <a:off x="7452360" y="388620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94.7%</a:t>
            </a:r>
            <a:endParaRPr lang="en-US" sz="3000" dirty="0"/>
          </a:p>
        </p:txBody>
      </p:sp>
      <p:sp>
        <p:nvSpPr>
          <p:cNvPr id="15" name="Text 13"/>
          <p:cNvSpPr txBox="1"/>
          <p:nvPr/>
        </p:nvSpPr>
        <p:spPr>
          <a:xfrm>
            <a:off x="7452360" y="445312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Technician proficiency, Jan-Sep: 20 of 33 stores at or above 85%. Flat-rate pay rewards what techs produce.</a:t>
            </a:r>
            <a:endParaRPr lang="en-US" sz="1400" dirty="0"/>
          </a:p>
        </p:txBody>
      </p:sp>
      <p:sp>
        <p:nvSpPr>
          <p:cNvPr id="16" name="Shape 14"/>
          <p:cNvSpPr/>
          <p:nvPr/>
        </p:nvSpPr>
        <p:spPr>
          <a:xfrm>
            <a:off x="457200" y="6126480"/>
            <a:ext cx="11274552" cy="371856"/>
          </a:xfrm>
          <a:prstGeom prst="rect">
            <a:avLst/>
          </a:prstGeom>
          <a:solidFill>
            <a:srgbClr val="EDF4FA"/>
          </a:solidFill>
          <a:ln/>
        </p:spPr>
      </p:sp>
      <p:sp>
        <p:nvSpPr>
          <p:cNvPr id="17" name="Text 1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check that every advisor and tech pay plan pays for the numbers on these slides.</a:t>
            </a:r>
            <a:endParaRPr lang="en-US" sz="1600" dirty="0"/>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Technicians &amp; Stalls</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1:1 tech to stall unless you run on-demand appointments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Tech level in line with job skill: right tech, right job</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5/6 of staff on schedule at all times, Saturdays included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90%+ MPI completion; track and report technician efficiency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Use scoreboarding and communicate to techs where they stand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Set clear objectives and give feedback: no one can be held to a goal they don't know. We're responsible for the knowing</a:t>
            </a:r>
            <a:endParaRPr lang="en-US" sz="1800" dirty="0"/>
          </a:p>
        </p:txBody>
      </p:sp>
      <p:sp>
        <p:nvSpPr>
          <p:cNvPr id="10" name="Shape 8"/>
          <p:cNvSpPr/>
          <p:nvPr/>
        </p:nvSpPr>
        <p:spPr>
          <a:xfrm>
            <a:off x="7269480" y="1920240"/>
            <a:ext cx="54864" cy="111252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94.7%</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Group technician proficiency (sold hours / worked hours). 20 of 33 stores at or above 85%.</a:t>
            </a:r>
            <a:endParaRPr lang="en-US" sz="1400" dirty="0"/>
          </a:p>
        </p:txBody>
      </p:sp>
      <p:sp>
        <p:nvSpPr>
          <p:cNvPr id="13" name="Shape 11"/>
          <p:cNvSpPr/>
          <p:nvPr/>
        </p:nvSpPr>
        <p:spPr>
          <a:xfrm>
            <a:off x="7269480" y="3261360"/>
            <a:ext cx="54864" cy="1112520"/>
          </a:xfrm>
          <a:prstGeom prst="rect">
            <a:avLst/>
          </a:prstGeom>
          <a:solidFill>
            <a:srgbClr val="C2352F"/>
          </a:solidFill>
          <a:ln/>
        </p:spPr>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262 of 583</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Counted technicians under 85%. Every store has at least one.</a:t>
            </a:r>
            <a:endParaRPr lang="en-US" sz="1400" dirty="0"/>
          </a:p>
        </p:txBody>
      </p:sp>
      <p:sp>
        <p:nvSpPr>
          <p:cNvPr id="16" name="Shape 14"/>
          <p:cNvSpPr/>
          <p:nvPr/>
        </p:nvSpPr>
        <p:spPr>
          <a:xfrm>
            <a:off x="7269480" y="4602480"/>
            <a:ext cx="54864" cy="1112520"/>
          </a:xfrm>
          <a:prstGeom prst="rect">
            <a:avLst/>
          </a:prstGeom>
          <a:solidFill>
            <a:srgbClr val="C2352F"/>
          </a:solidFill>
          <a:ln/>
        </p:spPr>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$1.65M a month</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Gross missed if each of them reached 85%: no extra hours, techs or bays.</a:t>
            </a:r>
            <a:endParaRPr lang="en-US" sz="1400" dirty="0"/>
          </a:p>
        </p:txBody>
      </p:sp>
      <p:sp>
        <p:nvSpPr>
          <p:cNvPr id="19" name="Shape 17"/>
          <p:cNvSpPr/>
          <p:nvPr/>
        </p:nvSpPr>
        <p:spPr>
          <a:xfrm>
            <a:off x="457200" y="6126480"/>
            <a:ext cx="11274552" cy="615696"/>
          </a:xfrm>
          <a:prstGeom prst="rect">
            <a:avLst/>
          </a:prstGeom>
          <a:solidFill>
            <a:srgbClr val="EDF4FA"/>
          </a:solidFill>
          <a:ln/>
        </p:spPr>
      </p:sp>
      <p:sp>
        <p:nvSpPr>
          <p:cNvPr id="20" name="Text 1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set clear goals, show every tech where they stand every week, and give feedback. The best techs in each store already prove 85% is possible.</a:t>
            </a:r>
            <a:endParaRPr lang="en-US" sz="1600" dirty="0"/>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How We Measured 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Sold hours (Qlik)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worked hours (ADP, regular + overtime)</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Matched by tech number, all pay types, Dec 25, 2025 to Oct 9, 2026. Store = total sold hours / total worked hours.</a:t>
            </a:r>
            <a:endParaRPr lang="en-US" sz="15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WHO COUNTS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THE RULES</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Service technicians, express technicians, service team leaders and shop foremen: everyone whose job is to produce sold hours</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Not counted: body shop, detail and tint</a:t>
            </a:r>
            <a:endParaRPr lang="en-US" sz="1600" dirty="0"/>
          </a:p>
        </p:txBody>
      </p:sp>
      <p:sp>
        <p:nvSpPr>
          <p:cNvPr id="13" name="Shape 11"/>
          <p:cNvSpPr/>
          <p:nvPr/>
        </p:nvSpPr>
        <p:spPr>
          <a:xfrm>
            <a:off x="5138928" y="2843784"/>
            <a:ext cx="45720" cy="908304"/>
          </a:xfrm>
          <a:prstGeom prst="rect">
            <a:avLst/>
          </a:prstGeom>
          <a:solidFill>
            <a:srgbClr val="2587C5"/>
          </a:solidFill>
          <a:ln/>
        </p:spPr>
      </p:sp>
      <p:sp>
        <p:nvSpPr>
          <p:cNvPr id="14" name="Text 12"/>
          <p:cNvSpPr txBox="1"/>
          <p:nvPr/>
        </p:nvSpPr>
        <p:spPr>
          <a:xfrm>
            <a:off x="5266944" y="2843784"/>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Shop foremen above 30%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a foreman is mainly dispatching</a:t>
            </a:r>
            <a:endParaRPr lang="en-US" sz="1400" dirty="0"/>
          </a:p>
        </p:txBody>
      </p:sp>
      <p:sp>
        <p:nvSpPr>
          <p:cNvPr id="15" name="Shape 13"/>
          <p:cNvSpPr/>
          <p:nvPr/>
        </p:nvSpPr>
        <p:spPr>
          <a:xfrm>
            <a:off x="8394192" y="2843784"/>
            <a:ext cx="45720" cy="908304"/>
          </a:xfrm>
          <a:prstGeom prst="rect">
            <a:avLst/>
          </a:prstGeom>
          <a:solidFill>
            <a:srgbClr val="2587C5"/>
          </a:solidFill>
          <a:ln/>
        </p:spPr>
      </p:sp>
      <p:sp>
        <p:nvSpPr>
          <p:cNvPr id="16" name="Text 14"/>
          <p:cNvSpPr txBox="1"/>
          <p:nvPr/>
        </p:nvSpPr>
        <p:spPr>
          <a:xfrm>
            <a:off x="8522208" y="2843784"/>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Techs above 10%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they are not working as a line tech</a:t>
            </a:r>
            <a:endParaRPr lang="en-US" sz="1400" dirty="0"/>
          </a:p>
        </p:txBody>
      </p:sp>
      <p:sp>
        <p:nvSpPr>
          <p:cNvPr id="17" name="Shape 15"/>
          <p:cNvSpPr/>
          <p:nvPr/>
        </p:nvSpPr>
        <p:spPr>
          <a:xfrm>
            <a:off x="5138928" y="3861816"/>
            <a:ext cx="45720" cy="908304"/>
          </a:xfrm>
          <a:prstGeom prst="rect">
            <a:avLst/>
          </a:prstGeom>
          <a:solidFill>
            <a:srgbClr val="2587C5"/>
          </a:solidFill>
          <a:ln/>
        </p:spPr>
      </p:sp>
      <p:sp>
        <p:nvSpPr>
          <p:cNvPr id="18" name="Text 16"/>
          <p:cNvSpPr txBox="1"/>
          <p:nvPr/>
        </p:nvSpPr>
        <p:spPr>
          <a:xfrm>
            <a:off x="5266944" y="3861816"/>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Role changes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Worked hours trimmed to the months a tech actually flagged</a:t>
            </a:r>
            <a:endParaRPr lang="en-US" sz="1400" dirty="0"/>
          </a:p>
        </p:txBody>
      </p:sp>
      <p:sp>
        <p:nvSpPr>
          <p:cNvPr id="19" name="Shape 17"/>
          <p:cNvSpPr/>
          <p:nvPr/>
        </p:nvSpPr>
        <p:spPr>
          <a:xfrm>
            <a:off x="8394192" y="3861816"/>
            <a:ext cx="45720" cy="908304"/>
          </a:xfrm>
          <a:prstGeom prst="rect">
            <a:avLst/>
          </a:prstGeom>
          <a:solidFill>
            <a:srgbClr val="2587C5"/>
          </a:solidFill>
          <a:ln/>
        </p:spPr>
      </p:sp>
      <p:sp>
        <p:nvSpPr>
          <p:cNvPr id="20" name="Text 18"/>
          <p:cNvSpPr txBox="1"/>
          <p:nvPr/>
        </p:nvSpPr>
        <p:spPr>
          <a:xfrm>
            <a:off x="8522208" y="3861816"/>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Keying errors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Example: 940 hours keyed on a single $0 line</a:t>
            </a:r>
            <a:endParaRPr lang="en-US" sz="1400" dirty="0"/>
          </a:p>
        </p:txBody>
      </p:sp>
      <p:sp>
        <p:nvSpPr>
          <p:cNvPr id="21" name="Shape 19"/>
          <p:cNvSpPr/>
          <p:nvPr/>
        </p:nvSpPr>
        <p:spPr>
          <a:xfrm>
            <a:off x="5138928" y="4879848"/>
            <a:ext cx="45720" cy="908304"/>
          </a:xfrm>
          <a:prstGeom prst="rect">
            <a:avLst/>
          </a:prstGeom>
          <a:solidFill>
            <a:srgbClr val="2587C5"/>
          </a:solidFill>
          <a:ln/>
        </p:spPr>
      </p:sp>
      <p:sp>
        <p:nvSpPr>
          <p:cNvPr id="22" name="Text 20"/>
          <p:cNvSpPr txBox="1"/>
          <p:nvPr/>
        </p:nvSpPr>
        <p:spPr>
          <a:xfrm>
            <a:off x="5266944" y="4879848"/>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Shared tech numbers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Example: hours flagged to a shop code like 999, not a person</a:t>
            </a:r>
            <a:endParaRPr lang="en-US" sz="1400" dirty="0"/>
          </a:p>
        </p:txBody>
      </p:sp>
      <p:sp>
        <p:nvSpPr>
          <p:cNvPr id="23" name="Shape 21"/>
          <p:cNvSpPr/>
          <p:nvPr/>
        </p:nvSpPr>
        <p:spPr>
          <a:xfrm>
            <a:off x="8394192" y="4879848"/>
            <a:ext cx="45720" cy="908304"/>
          </a:xfrm>
          <a:prstGeom prst="rect">
            <a:avLst/>
          </a:prstGeom>
          <a:solidFill>
            <a:srgbClr val="2587C5"/>
          </a:solidFill>
          <a:ln/>
        </p:spPr>
      </p:sp>
      <p:sp>
        <p:nvSpPr>
          <p:cNvPr id="24" name="Text 22"/>
          <p:cNvSpPr txBox="1"/>
          <p:nvPr/>
        </p:nvSpPr>
        <p:spPr>
          <a:xfrm>
            <a:off x="8522208" y="4879848"/>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Opportunity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Each tech under 85% raised to 85% of their own worked hours</a:t>
            </a:r>
            <a:endParaRPr lang="en-US" sz="1400" dirty="0"/>
          </a:p>
        </p:txBody>
      </p:sp>
      <p:sp>
        <p:nvSpPr>
          <p:cNvPr id="25" name="Shape 23"/>
          <p:cNvSpPr/>
          <p:nvPr/>
        </p:nvSpPr>
        <p:spPr>
          <a:xfrm>
            <a:off x="457200" y="6126480"/>
            <a:ext cx="11274552" cy="356616"/>
          </a:xfrm>
          <a:prstGeom prst="rect">
            <a:avLst/>
          </a:prstGeom>
          <a:solidFill>
            <a:srgbClr val="EDF4FA"/>
          </a:solidFill>
          <a:ln/>
        </p:spPr>
      </p:sp>
      <p:sp>
        <p:nvSpPr>
          <p:cNvPr id="26" name="Text 24"/>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The rules keep non-tech time and data errors out of the numbers, and every store is measured the same way.</a:t>
            </a:r>
            <a:endParaRPr lang="en-US" sz="1500" dirty="0"/>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Proficiency Opportunity by Store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520440"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mo</a:t>
            </a:r>
            <a:endParaRPr lang="en-US" sz="1400" dirty="0"/>
          </a:p>
        </p:txBody>
      </p:sp>
      <p:sp>
        <p:nvSpPr>
          <p:cNvPr id="7" name="Text 5"/>
          <p:cNvSpPr txBox="1"/>
          <p:nvPr/>
        </p:nvSpPr>
        <p:spPr>
          <a:xfrm>
            <a:off x="4306824" y="1316736"/>
            <a:ext cx="93268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Under 85%</a:t>
            </a:r>
            <a:endParaRPr lang="en-US" sz="1400" dirty="0"/>
          </a:p>
        </p:txBody>
      </p:sp>
      <p:sp>
        <p:nvSpPr>
          <p:cNvPr id="8" name="Text 6"/>
          <p:cNvSpPr txBox="1"/>
          <p:nvPr/>
        </p:nvSpPr>
        <p:spPr>
          <a:xfrm>
            <a:off x="5239512" y="1316736"/>
            <a:ext cx="67665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9" name="Text 7"/>
          <p:cNvSpPr txBox="1"/>
          <p:nvPr/>
        </p:nvSpPr>
        <p:spPr>
          <a:xfrm>
            <a:off x="9070848"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mo</a:t>
            </a:r>
            <a:endParaRPr lang="en-US" sz="1400" dirty="0"/>
          </a:p>
        </p:txBody>
      </p:sp>
      <p:sp>
        <p:nvSpPr>
          <p:cNvPr id="10" name="Text 8"/>
          <p:cNvSpPr txBox="1"/>
          <p:nvPr/>
        </p:nvSpPr>
        <p:spPr>
          <a:xfrm>
            <a:off x="9857232" y="1316736"/>
            <a:ext cx="93268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Under 85%</a:t>
            </a:r>
            <a:endParaRPr lang="en-US" sz="1400" dirty="0"/>
          </a:p>
        </p:txBody>
      </p:sp>
      <p:sp>
        <p:nvSpPr>
          <p:cNvPr id="11" name="Text 9"/>
          <p:cNvSpPr txBox="1"/>
          <p:nvPr/>
        </p:nvSpPr>
        <p:spPr>
          <a:xfrm>
            <a:off x="10789920" y="1316736"/>
            <a:ext cx="67665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4" name="Shape 12"/>
          <p:cNvSpPr/>
          <p:nvPr/>
        </p:nvSpPr>
        <p:spPr>
          <a:xfrm>
            <a:off x="2871216" y="1756697"/>
            <a:ext cx="594360" cy="136676"/>
          </a:xfrm>
          <a:prstGeom prst="rect">
            <a:avLst/>
          </a:prstGeom>
          <a:solidFill>
            <a:srgbClr val="C2352F"/>
          </a:solidFill>
          <a:ln/>
        </p:spPr>
      </p:sp>
      <p:sp>
        <p:nvSpPr>
          <p:cNvPr id="15" name="Text 13"/>
          <p:cNvSpPr txBox="1"/>
          <p:nvPr/>
        </p:nvSpPr>
        <p:spPr>
          <a:xfrm>
            <a:off x="3520440"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$158K</a:t>
            </a:r>
            <a:endParaRPr lang="en-US" sz="1300" dirty="0"/>
          </a:p>
        </p:txBody>
      </p:sp>
      <p:sp>
        <p:nvSpPr>
          <p:cNvPr id="16" name="Text 14"/>
          <p:cNvSpPr txBox="1"/>
          <p:nvPr/>
        </p:nvSpPr>
        <p:spPr>
          <a:xfrm>
            <a:off x="4306824" y="170078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29</a:t>
            </a:r>
            <a:endParaRPr lang="en-US" sz="1300" dirty="0"/>
          </a:p>
        </p:txBody>
      </p:sp>
      <p:sp>
        <p:nvSpPr>
          <p:cNvPr id="17" name="Text 15"/>
          <p:cNvSpPr txBox="1"/>
          <p:nvPr/>
        </p:nvSpPr>
        <p:spPr>
          <a:xfrm>
            <a:off x="5239512" y="170078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87%</a:t>
            </a:r>
            <a:endParaRPr lang="en-US" sz="1300" dirty="0"/>
          </a:p>
        </p:txBody>
      </p:sp>
      <p:sp>
        <p:nvSpPr>
          <p:cNvPr id="18" name="Text 16"/>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20" name="Shape 18"/>
          <p:cNvSpPr/>
          <p:nvPr/>
        </p:nvSpPr>
        <p:spPr>
          <a:xfrm>
            <a:off x="2871216" y="2005199"/>
            <a:ext cx="423252" cy="136676"/>
          </a:xfrm>
          <a:prstGeom prst="rect">
            <a:avLst/>
          </a:prstGeom>
          <a:solidFill>
            <a:srgbClr val="C2352F"/>
          </a:solidFill>
          <a:ln/>
        </p:spPr>
      </p:sp>
      <p:sp>
        <p:nvSpPr>
          <p:cNvPr id="21" name="Text 19"/>
          <p:cNvSpPr txBox="1"/>
          <p:nvPr/>
        </p:nvSpPr>
        <p:spPr>
          <a:xfrm>
            <a:off x="3520440"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$112K</a:t>
            </a:r>
            <a:endParaRPr lang="en-US" sz="1300" dirty="0"/>
          </a:p>
        </p:txBody>
      </p:sp>
      <p:sp>
        <p:nvSpPr>
          <p:cNvPr id="22" name="Text 20"/>
          <p:cNvSpPr txBox="1"/>
          <p:nvPr/>
        </p:nvSpPr>
        <p:spPr>
          <a:xfrm>
            <a:off x="4306824" y="1949286"/>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20</a:t>
            </a:r>
            <a:endParaRPr lang="en-US" sz="1300" dirty="0"/>
          </a:p>
        </p:txBody>
      </p:sp>
      <p:sp>
        <p:nvSpPr>
          <p:cNvPr id="23" name="Text 21"/>
          <p:cNvSpPr txBox="1"/>
          <p:nvPr/>
        </p:nvSpPr>
        <p:spPr>
          <a:xfrm>
            <a:off x="5239512" y="1949286"/>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68%</a:t>
            </a:r>
            <a:endParaRPr lang="en-US" sz="1300" dirty="0"/>
          </a:p>
        </p:txBody>
      </p:sp>
      <p:sp>
        <p:nvSpPr>
          <p:cNvPr id="24" name="Text 22"/>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5" name="Text 23"/>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6" name="Shape 24"/>
          <p:cNvSpPr/>
          <p:nvPr/>
        </p:nvSpPr>
        <p:spPr>
          <a:xfrm>
            <a:off x="2871216" y="2253700"/>
            <a:ext cx="383101" cy="136676"/>
          </a:xfrm>
          <a:prstGeom prst="rect">
            <a:avLst/>
          </a:prstGeom>
          <a:solidFill>
            <a:srgbClr val="C2352F"/>
          </a:solidFill>
          <a:ln/>
        </p:spPr>
      </p:sp>
      <p:sp>
        <p:nvSpPr>
          <p:cNvPr id="27" name="Text 25"/>
          <p:cNvSpPr txBox="1"/>
          <p:nvPr/>
        </p:nvSpPr>
        <p:spPr>
          <a:xfrm>
            <a:off x="3520440"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$102K</a:t>
            </a:r>
            <a:endParaRPr lang="en-US" sz="1300" dirty="0"/>
          </a:p>
        </p:txBody>
      </p:sp>
      <p:sp>
        <p:nvSpPr>
          <p:cNvPr id="28" name="Text 26"/>
          <p:cNvSpPr txBox="1"/>
          <p:nvPr/>
        </p:nvSpPr>
        <p:spPr>
          <a:xfrm>
            <a:off x="4306824" y="219778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 of 23</a:t>
            </a:r>
            <a:endParaRPr lang="en-US" sz="1300" dirty="0"/>
          </a:p>
        </p:txBody>
      </p:sp>
      <p:sp>
        <p:nvSpPr>
          <p:cNvPr id="29" name="Text 27"/>
          <p:cNvSpPr txBox="1"/>
          <p:nvPr/>
        </p:nvSpPr>
        <p:spPr>
          <a:xfrm>
            <a:off x="5239512" y="219778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a:t>
            </a:r>
            <a:endParaRPr lang="en-US" sz="1300" dirty="0"/>
          </a:p>
        </p:txBody>
      </p:sp>
      <p:sp>
        <p:nvSpPr>
          <p:cNvPr id="30" name="Text 28"/>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32" name="Shape 30"/>
          <p:cNvSpPr/>
          <p:nvPr/>
        </p:nvSpPr>
        <p:spPr>
          <a:xfrm>
            <a:off x="2871216" y="2502202"/>
            <a:ext cx="377643" cy="136676"/>
          </a:xfrm>
          <a:prstGeom prst="rect">
            <a:avLst/>
          </a:prstGeom>
          <a:solidFill>
            <a:srgbClr val="C2352F"/>
          </a:solidFill>
          <a:ln/>
        </p:spPr>
      </p:sp>
      <p:sp>
        <p:nvSpPr>
          <p:cNvPr id="33" name="Text 31"/>
          <p:cNvSpPr txBox="1"/>
          <p:nvPr/>
        </p:nvSpPr>
        <p:spPr>
          <a:xfrm>
            <a:off x="3520440"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$100K</a:t>
            </a:r>
            <a:endParaRPr lang="en-US" sz="1300" dirty="0"/>
          </a:p>
        </p:txBody>
      </p:sp>
      <p:sp>
        <p:nvSpPr>
          <p:cNvPr id="34" name="Text 32"/>
          <p:cNvSpPr txBox="1"/>
          <p:nvPr/>
        </p:nvSpPr>
        <p:spPr>
          <a:xfrm>
            <a:off x="4306824" y="244628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 of 14</a:t>
            </a:r>
            <a:endParaRPr lang="en-US" sz="1300" dirty="0"/>
          </a:p>
        </p:txBody>
      </p:sp>
      <p:sp>
        <p:nvSpPr>
          <p:cNvPr id="35" name="Text 33"/>
          <p:cNvSpPr txBox="1"/>
          <p:nvPr/>
        </p:nvSpPr>
        <p:spPr>
          <a:xfrm>
            <a:off x="5239512" y="244628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71%</a:t>
            </a:r>
            <a:endParaRPr lang="en-US" sz="1300" dirty="0"/>
          </a:p>
        </p:txBody>
      </p:sp>
      <p:sp>
        <p:nvSpPr>
          <p:cNvPr id="36" name="Text 34"/>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38" name="Shape 36"/>
          <p:cNvSpPr/>
          <p:nvPr/>
        </p:nvSpPr>
        <p:spPr>
          <a:xfrm>
            <a:off x="2871216" y="2750703"/>
            <a:ext cx="332905" cy="136676"/>
          </a:xfrm>
          <a:prstGeom prst="rect">
            <a:avLst/>
          </a:prstGeom>
          <a:solidFill>
            <a:srgbClr val="C2352F"/>
          </a:solidFill>
          <a:ln/>
        </p:spPr>
      </p:sp>
      <p:sp>
        <p:nvSpPr>
          <p:cNvPr id="39" name="Text 37"/>
          <p:cNvSpPr txBox="1"/>
          <p:nvPr/>
        </p:nvSpPr>
        <p:spPr>
          <a:xfrm>
            <a:off x="3520440"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$88K</a:t>
            </a:r>
            <a:endParaRPr lang="en-US" sz="1300" dirty="0"/>
          </a:p>
        </p:txBody>
      </p:sp>
      <p:sp>
        <p:nvSpPr>
          <p:cNvPr id="40" name="Text 38"/>
          <p:cNvSpPr txBox="1"/>
          <p:nvPr/>
        </p:nvSpPr>
        <p:spPr>
          <a:xfrm>
            <a:off x="4306824" y="2694791"/>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11</a:t>
            </a:r>
            <a:endParaRPr lang="en-US" sz="1300" dirty="0"/>
          </a:p>
        </p:txBody>
      </p:sp>
      <p:sp>
        <p:nvSpPr>
          <p:cNvPr id="41" name="Text 39"/>
          <p:cNvSpPr txBox="1"/>
          <p:nvPr/>
        </p:nvSpPr>
        <p:spPr>
          <a:xfrm>
            <a:off x="5239512" y="2694791"/>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a:t>
            </a:r>
            <a:endParaRPr lang="en-US" sz="1300" dirty="0"/>
          </a:p>
        </p:txBody>
      </p:sp>
      <p:sp>
        <p:nvSpPr>
          <p:cNvPr id="42" name="Text 40"/>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3" name="Text 41"/>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44" name="Shape 42"/>
          <p:cNvSpPr/>
          <p:nvPr/>
        </p:nvSpPr>
        <p:spPr>
          <a:xfrm>
            <a:off x="2871216" y="2999205"/>
            <a:ext cx="329038" cy="136676"/>
          </a:xfrm>
          <a:prstGeom prst="rect">
            <a:avLst/>
          </a:prstGeom>
          <a:solidFill>
            <a:srgbClr val="C2352F"/>
          </a:solidFill>
          <a:ln/>
        </p:spPr>
      </p:sp>
      <p:sp>
        <p:nvSpPr>
          <p:cNvPr id="45" name="Text 43"/>
          <p:cNvSpPr txBox="1"/>
          <p:nvPr/>
        </p:nvSpPr>
        <p:spPr>
          <a:xfrm>
            <a:off x="3520440"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$87K</a:t>
            </a:r>
            <a:endParaRPr lang="en-US" sz="1300" dirty="0"/>
          </a:p>
        </p:txBody>
      </p:sp>
      <p:sp>
        <p:nvSpPr>
          <p:cNvPr id="46" name="Text 44"/>
          <p:cNvSpPr txBox="1"/>
          <p:nvPr/>
        </p:nvSpPr>
        <p:spPr>
          <a:xfrm>
            <a:off x="4306824" y="2943292"/>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51</a:t>
            </a:r>
            <a:endParaRPr lang="en-US" sz="1300" dirty="0"/>
          </a:p>
        </p:txBody>
      </p:sp>
      <p:sp>
        <p:nvSpPr>
          <p:cNvPr id="47" name="Text 45"/>
          <p:cNvSpPr txBox="1"/>
          <p:nvPr/>
        </p:nvSpPr>
        <p:spPr>
          <a:xfrm>
            <a:off x="5239512" y="2943292"/>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a:t>
            </a:r>
            <a:endParaRPr lang="en-US" sz="1300" dirty="0"/>
          </a:p>
        </p:txBody>
      </p:sp>
      <p:sp>
        <p:nvSpPr>
          <p:cNvPr id="48" name="Text 46"/>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9" name="Text 47"/>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50" name="Shape 48"/>
          <p:cNvSpPr/>
          <p:nvPr/>
        </p:nvSpPr>
        <p:spPr>
          <a:xfrm>
            <a:off x="2871216" y="3247707"/>
            <a:ext cx="291475" cy="136676"/>
          </a:xfrm>
          <a:prstGeom prst="rect">
            <a:avLst/>
          </a:prstGeom>
          <a:solidFill>
            <a:srgbClr val="C2352F"/>
          </a:solidFill>
          <a:ln/>
        </p:spPr>
      </p:sp>
      <p:sp>
        <p:nvSpPr>
          <p:cNvPr id="51" name="Text 49"/>
          <p:cNvSpPr txBox="1"/>
          <p:nvPr/>
        </p:nvSpPr>
        <p:spPr>
          <a:xfrm>
            <a:off x="3520440"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$77K</a:t>
            </a:r>
            <a:endParaRPr lang="en-US" sz="1300" dirty="0"/>
          </a:p>
        </p:txBody>
      </p:sp>
      <p:sp>
        <p:nvSpPr>
          <p:cNvPr id="52" name="Text 50"/>
          <p:cNvSpPr txBox="1"/>
          <p:nvPr/>
        </p:nvSpPr>
        <p:spPr>
          <a:xfrm>
            <a:off x="4306824" y="319179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22</a:t>
            </a:r>
            <a:endParaRPr lang="en-US" sz="1300" dirty="0"/>
          </a:p>
        </p:txBody>
      </p:sp>
      <p:sp>
        <p:nvSpPr>
          <p:cNvPr id="53" name="Text 51"/>
          <p:cNvSpPr txBox="1"/>
          <p:nvPr/>
        </p:nvSpPr>
        <p:spPr>
          <a:xfrm>
            <a:off x="5239512" y="319179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a:t>
            </a:r>
            <a:endParaRPr lang="en-US" sz="1300" dirty="0"/>
          </a:p>
        </p:txBody>
      </p:sp>
      <p:sp>
        <p:nvSpPr>
          <p:cNvPr id="54" name="Text 52"/>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5" name="Text 53"/>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56" name="Shape 54"/>
          <p:cNvSpPr/>
          <p:nvPr/>
        </p:nvSpPr>
        <p:spPr>
          <a:xfrm>
            <a:off x="2871216" y="3496208"/>
            <a:ext cx="288910" cy="136676"/>
          </a:xfrm>
          <a:prstGeom prst="rect">
            <a:avLst/>
          </a:prstGeom>
          <a:solidFill>
            <a:srgbClr val="C2352F"/>
          </a:solidFill>
          <a:ln/>
        </p:spPr>
      </p:sp>
      <p:sp>
        <p:nvSpPr>
          <p:cNvPr id="57" name="Text 55"/>
          <p:cNvSpPr txBox="1"/>
          <p:nvPr/>
        </p:nvSpPr>
        <p:spPr>
          <a:xfrm>
            <a:off x="3520440"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$77K</a:t>
            </a:r>
            <a:endParaRPr lang="en-US" sz="1300" dirty="0"/>
          </a:p>
        </p:txBody>
      </p:sp>
      <p:sp>
        <p:nvSpPr>
          <p:cNvPr id="58" name="Text 56"/>
          <p:cNvSpPr txBox="1"/>
          <p:nvPr/>
        </p:nvSpPr>
        <p:spPr>
          <a:xfrm>
            <a:off x="4306824" y="3440296"/>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 of 12</a:t>
            </a:r>
            <a:endParaRPr lang="en-US" sz="1300" dirty="0"/>
          </a:p>
        </p:txBody>
      </p:sp>
      <p:sp>
        <p:nvSpPr>
          <p:cNvPr id="59" name="Text 57"/>
          <p:cNvSpPr txBox="1"/>
          <p:nvPr/>
        </p:nvSpPr>
        <p:spPr>
          <a:xfrm>
            <a:off x="5239512" y="3440296"/>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67%</a:t>
            </a:r>
            <a:endParaRPr lang="en-US" sz="1300" dirty="0"/>
          </a:p>
        </p:txBody>
      </p:sp>
      <p:sp>
        <p:nvSpPr>
          <p:cNvPr id="60" name="Text 58"/>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1" name="Text 59"/>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62" name="Shape 60"/>
          <p:cNvSpPr/>
          <p:nvPr/>
        </p:nvSpPr>
        <p:spPr>
          <a:xfrm>
            <a:off x="2871216" y="3744710"/>
            <a:ext cx="286162" cy="136676"/>
          </a:xfrm>
          <a:prstGeom prst="rect">
            <a:avLst/>
          </a:prstGeom>
          <a:solidFill>
            <a:srgbClr val="C2352F"/>
          </a:solidFill>
          <a:ln/>
        </p:spPr>
      </p:sp>
      <p:sp>
        <p:nvSpPr>
          <p:cNvPr id="63" name="Text 61"/>
          <p:cNvSpPr txBox="1"/>
          <p:nvPr/>
        </p:nvSpPr>
        <p:spPr>
          <a:xfrm>
            <a:off x="3520440"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$76K</a:t>
            </a:r>
            <a:endParaRPr lang="en-US" sz="1300" dirty="0"/>
          </a:p>
        </p:txBody>
      </p:sp>
      <p:sp>
        <p:nvSpPr>
          <p:cNvPr id="64" name="Text 62"/>
          <p:cNvSpPr txBox="1"/>
          <p:nvPr/>
        </p:nvSpPr>
        <p:spPr>
          <a:xfrm>
            <a:off x="4306824" y="368879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11</a:t>
            </a:r>
            <a:endParaRPr lang="en-US" sz="1300" dirty="0"/>
          </a:p>
        </p:txBody>
      </p:sp>
      <p:sp>
        <p:nvSpPr>
          <p:cNvPr id="65" name="Text 63"/>
          <p:cNvSpPr txBox="1"/>
          <p:nvPr/>
        </p:nvSpPr>
        <p:spPr>
          <a:xfrm>
            <a:off x="5239512" y="368879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67%</a:t>
            </a:r>
            <a:endParaRPr lang="en-US" sz="1300" dirty="0"/>
          </a:p>
        </p:txBody>
      </p:sp>
      <p:sp>
        <p:nvSpPr>
          <p:cNvPr id="66" name="Text 64"/>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7" name="Text 65"/>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68" name="Shape 66"/>
          <p:cNvSpPr/>
          <p:nvPr/>
        </p:nvSpPr>
        <p:spPr>
          <a:xfrm>
            <a:off x="2871216" y="3993212"/>
            <a:ext cx="280027" cy="136676"/>
          </a:xfrm>
          <a:prstGeom prst="rect">
            <a:avLst/>
          </a:prstGeom>
          <a:solidFill>
            <a:srgbClr val="C2352F"/>
          </a:solidFill>
          <a:ln/>
        </p:spPr>
      </p:sp>
      <p:sp>
        <p:nvSpPr>
          <p:cNvPr id="69" name="Text 67"/>
          <p:cNvSpPr txBox="1"/>
          <p:nvPr/>
        </p:nvSpPr>
        <p:spPr>
          <a:xfrm>
            <a:off x="3520440"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$74K</a:t>
            </a:r>
            <a:endParaRPr lang="en-US" sz="1300" dirty="0"/>
          </a:p>
        </p:txBody>
      </p:sp>
      <p:sp>
        <p:nvSpPr>
          <p:cNvPr id="70" name="Text 68"/>
          <p:cNvSpPr txBox="1"/>
          <p:nvPr/>
        </p:nvSpPr>
        <p:spPr>
          <a:xfrm>
            <a:off x="4306824" y="393729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20</a:t>
            </a:r>
            <a:endParaRPr lang="en-US" sz="1300" dirty="0"/>
          </a:p>
        </p:txBody>
      </p:sp>
      <p:sp>
        <p:nvSpPr>
          <p:cNvPr id="71" name="Text 69"/>
          <p:cNvSpPr txBox="1"/>
          <p:nvPr/>
        </p:nvSpPr>
        <p:spPr>
          <a:xfrm>
            <a:off x="5239512" y="393729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a:t>
            </a:r>
            <a:endParaRPr lang="en-US" sz="1300" dirty="0"/>
          </a:p>
        </p:txBody>
      </p:sp>
      <p:sp>
        <p:nvSpPr>
          <p:cNvPr id="72" name="Text 7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3" name="Text 71"/>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74" name="Shape 72"/>
          <p:cNvSpPr/>
          <p:nvPr/>
        </p:nvSpPr>
        <p:spPr>
          <a:xfrm>
            <a:off x="2871216" y="4241713"/>
            <a:ext cx="264542" cy="136676"/>
          </a:xfrm>
          <a:prstGeom prst="rect">
            <a:avLst/>
          </a:prstGeom>
          <a:solidFill>
            <a:srgbClr val="C2352F"/>
          </a:solidFill>
          <a:ln/>
        </p:spPr>
      </p:sp>
      <p:sp>
        <p:nvSpPr>
          <p:cNvPr id="75" name="Text 73"/>
          <p:cNvSpPr txBox="1"/>
          <p:nvPr/>
        </p:nvSpPr>
        <p:spPr>
          <a:xfrm>
            <a:off x="3520440"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$70K</a:t>
            </a:r>
            <a:endParaRPr lang="en-US" sz="1300" dirty="0"/>
          </a:p>
        </p:txBody>
      </p:sp>
      <p:sp>
        <p:nvSpPr>
          <p:cNvPr id="76" name="Text 74"/>
          <p:cNvSpPr txBox="1"/>
          <p:nvPr/>
        </p:nvSpPr>
        <p:spPr>
          <a:xfrm>
            <a:off x="4306824" y="4185800"/>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 of 59</a:t>
            </a:r>
            <a:endParaRPr lang="en-US" sz="1300" dirty="0"/>
          </a:p>
        </p:txBody>
      </p:sp>
      <p:sp>
        <p:nvSpPr>
          <p:cNvPr id="77" name="Text 75"/>
          <p:cNvSpPr txBox="1"/>
          <p:nvPr/>
        </p:nvSpPr>
        <p:spPr>
          <a:xfrm>
            <a:off x="5239512" y="4185800"/>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104%</a:t>
            </a:r>
            <a:endParaRPr lang="en-US" sz="1300" dirty="0"/>
          </a:p>
        </p:txBody>
      </p:sp>
      <p:sp>
        <p:nvSpPr>
          <p:cNvPr id="78" name="Text 76"/>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9" name="Text 77"/>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80" name="Shape 78"/>
          <p:cNvSpPr/>
          <p:nvPr/>
        </p:nvSpPr>
        <p:spPr>
          <a:xfrm>
            <a:off x="2871216" y="4490215"/>
            <a:ext cx="238147" cy="136676"/>
          </a:xfrm>
          <a:prstGeom prst="rect">
            <a:avLst/>
          </a:prstGeom>
          <a:solidFill>
            <a:srgbClr val="C2352F"/>
          </a:solidFill>
          <a:ln/>
        </p:spPr>
      </p:sp>
      <p:sp>
        <p:nvSpPr>
          <p:cNvPr id="81" name="Text 79"/>
          <p:cNvSpPr txBox="1"/>
          <p:nvPr/>
        </p:nvSpPr>
        <p:spPr>
          <a:xfrm>
            <a:off x="3520440"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$63K</a:t>
            </a:r>
            <a:endParaRPr lang="en-US" sz="1300" dirty="0"/>
          </a:p>
        </p:txBody>
      </p:sp>
      <p:sp>
        <p:nvSpPr>
          <p:cNvPr id="82" name="Text 80"/>
          <p:cNvSpPr txBox="1"/>
          <p:nvPr/>
        </p:nvSpPr>
        <p:spPr>
          <a:xfrm>
            <a:off x="4306824" y="4434302"/>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16</a:t>
            </a:r>
            <a:endParaRPr lang="en-US" sz="1300" dirty="0"/>
          </a:p>
        </p:txBody>
      </p:sp>
      <p:sp>
        <p:nvSpPr>
          <p:cNvPr id="83" name="Text 81"/>
          <p:cNvSpPr txBox="1"/>
          <p:nvPr/>
        </p:nvSpPr>
        <p:spPr>
          <a:xfrm>
            <a:off x="5239512" y="4434302"/>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a:t>
            </a:r>
            <a:endParaRPr lang="en-US" sz="1300" dirty="0"/>
          </a:p>
        </p:txBody>
      </p:sp>
      <p:sp>
        <p:nvSpPr>
          <p:cNvPr id="84" name="Text 82"/>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5" name="Text 83"/>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86" name="Shape 84"/>
          <p:cNvSpPr/>
          <p:nvPr/>
        </p:nvSpPr>
        <p:spPr>
          <a:xfrm>
            <a:off x="2871216" y="4738717"/>
            <a:ext cx="233408" cy="136676"/>
          </a:xfrm>
          <a:prstGeom prst="rect">
            <a:avLst/>
          </a:prstGeom>
          <a:solidFill>
            <a:srgbClr val="C2352F"/>
          </a:solidFill>
          <a:ln/>
        </p:spPr>
      </p:sp>
      <p:sp>
        <p:nvSpPr>
          <p:cNvPr id="87" name="Text 85"/>
          <p:cNvSpPr txBox="1"/>
          <p:nvPr/>
        </p:nvSpPr>
        <p:spPr>
          <a:xfrm>
            <a:off x="3520440"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$62K</a:t>
            </a:r>
            <a:endParaRPr lang="en-US" sz="1300" dirty="0"/>
          </a:p>
        </p:txBody>
      </p:sp>
      <p:sp>
        <p:nvSpPr>
          <p:cNvPr id="88" name="Text 86"/>
          <p:cNvSpPr txBox="1"/>
          <p:nvPr/>
        </p:nvSpPr>
        <p:spPr>
          <a:xfrm>
            <a:off x="4306824" y="468280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9</a:t>
            </a:r>
            <a:endParaRPr lang="en-US" sz="1300" dirty="0"/>
          </a:p>
        </p:txBody>
      </p:sp>
      <p:sp>
        <p:nvSpPr>
          <p:cNvPr id="89" name="Text 87"/>
          <p:cNvSpPr txBox="1"/>
          <p:nvPr/>
        </p:nvSpPr>
        <p:spPr>
          <a:xfrm>
            <a:off x="5239512" y="468280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72%</a:t>
            </a:r>
            <a:endParaRPr lang="en-US" sz="1300" dirty="0"/>
          </a:p>
        </p:txBody>
      </p:sp>
      <p:sp>
        <p:nvSpPr>
          <p:cNvPr id="90" name="Text 88"/>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1" name="Text 89"/>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92" name="Shape 90"/>
          <p:cNvSpPr/>
          <p:nvPr/>
        </p:nvSpPr>
        <p:spPr>
          <a:xfrm>
            <a:off x="2871216" y="4987218"/>
            <a:ext cx="217057" cy="136676"/>
          </a:xfrm>
          <a:prstGeom prst="rect">
            <a:avLst/>
          </a:prstGeom>
          <a:solidFill>
            <a:srgbClr val="C2352F"/>
          </a:solidFill>
          <a:ln/>
        </p:spPr>
      </p:sp>
      <p:sp>
        <p:nvSpPr>
          <p:cNvPr id="93" name="Text 91"/>
          <p:cNvSpPr txBox="1"/>
          <p:nvPr/>
        </p:nvSpPr>
        <p:spPr>
          <a:xfrm>
            <a:off x="3520440"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$58K</a:t>
            </a:r>
            <a:endParaRPr lang="en-US" sz="1300" dirty="0"/>
          </a:p>
        </p:txBody>
      </p:sp>
      <p:sp>
        <p:nvSpPr>
          <p:cNvPr id="94" name="Text 92"/>
          <p:cNvSpPr txBox="1"/>
          <p:nvPr/>
        </p:nvSpPr>
        <p:spPr>
          <a:xfrm>
            <a:off x="4306824" y="4931305"/>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12</a:t>
            </a:r>
            <a:endParaRPr lang="en-US" sz="1300" dirty="0"/>
          </a:p>
        </p:txBody>
      </p:sp>
      <p:sp>
        <p:nvSpPr>
          <p:cNvPr id="95" name="Text 93"/>
          <p:cNvSpPr txBox="1"/>
          <p:nvPr/>
        </p:nvSpPr>
        <p:spPr>
          <a:xfrm>
            <a:off x="5239512" y="4931305"/>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98%</a:t>
            </a:r>
            <a:endParaRPr lang="en-US" sz="1300" dirty="0"/>
          </a:p>
        </p:txBody>
      </p:sp>
      <p:sp>
        <p:nvSpPr>
          <p:cNvPr id="96" name="Text 94"/>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7" name="Text 95"/>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98" name="Shape 96"/>
          <p:cNvSpPr/>
          <p:nvPr/>
        </p:nvSpPr>
        <p:spPr>
          <a:xfrm>
            <a:off x="2871216" y="5235720"/>
            <a:ext cx="180426" cy="136676"/>
          </a:xfrm>
          <a:prstGeom prst="rect">
            <a:avLst/>
          </a:prstGeom>
          <a:solidFill>
            <a:srgbClr val="C2352F"/>
          </a:solidFill>
          <a:ln/>
        </p:spPr>
      </p:sp>
      <p:sp>
        <p:nvSpPr>
          <p:cNvPr id="99" name="Text 97"/>
          <p:cNvSpPr txBox="1"/>
          <p:nvPr/>
        </p:nvSpPr>
        <p:spPr>
          <a:xfrm>
            <a:off x="3520440"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100" name="Text 98"/>
          <p:cNvSpPr txBox="1"/>
          <p:nvPr/>
        </p:nvSpPr>
        <p:spPr>
          <a:xfrm>
            <a:off x="4306824" y="517980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 of 12</a:t>
            </a:r>
            <a:endParaRPr lang="en-US" sz="1300" dirty="0"/>
          </a:p>
        </p:txBody>
      </p:sp>
      <p:sp>
        <p:nvSpPr>
          <p:cNvPr id="101" name="Text 99"/>
          <p:cNvSpPr txBox="1"/>
          <p:nvPr/>
        </p:nvSpPr>
        <p:spPr>
          <a:xfrm>
            <a:off x="5239512" y="517980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a:t>
            </a:r>
            <a:endParaRPr lang="en-US" sz="1300" dirty="0"/>
          </a:p>
        </p:txBody>
      </p:sp>
      <p:sp>
        <p:nvSpPr>
          <p:cNvPr id="102" name="Text 100"/>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3" name="Text 101"/>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04" name="Shape 102"/>
          <p:cNvSpPr/>
          <p:nvPr/>
        </p:nvSpPr>
        <p:spPr>
          <a:xfrm>
            <a:off x="2871216" y="5484222"/>
            <a:ext cx="164601" cy="136676"/>
          </a:xfrm>
          <a:prstGeom prst="rect">
            <a:avLst/>
          </a:prstGeom>
          <a:solidFill>
            <a:srgbClr val="C2352F"/>
          </a:solidFill>
          <a:ln/>
        </p:spPr>
      </p:sp>
      <p:sp>
        <p:nvSpPr>
          <p:cNvPr id="105" name="Text 103"/>
          <p:cNvSpPr txBox="1"/>
          <p:nvPr/>
        </p:nvSpPr>
        <p:spPr>
          <a:xfrm>
            <a:off x="3520440"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$44K</a:t>
            </a:r>
            <a:endParaRPr lang="en-US" sz="1300" dirty="0"/>
          </a:p>
        </p:txBody>
      </p:sp>
      <p:sp>
        <p:nvSpPr>
          <p:cNvPr id="106" name="Text 104"/>
          <p:cNvSpPr txBox="1"/>
          <p:nvPr/>
        </p:nvSpPr>
        <p:spPr>
          <a:xfrm>
            <a:off x="4306824" y="542830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27</a:t>
            </a:r>
            <a:endParaRPr lang="en-US" sz="1300" dirty="0"/>
          </a:p>
        </p:txBody>
      </p:sp>
      <p:sp>
        <p:nvSpPr>
          <p:cNvPr id="107" name="Text 105"/>
          <p:cNvSpPr txBox="1"/>
          <p:nvPr/>
        </p:nvSpPr>
        <p:spPr>
          <a:xfrm>
            <a:off x="5239512" y="542830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96%</a:t>
            </a:r>
            <a:endParaRPr lang="en-US" sz="1300" dirty="0"/>
          </a:p>
        </p:txBody>
      </p:sp>
      <p:sp>
        <p:nvSpPr>
          <p:cNvPr id="108" name="Text 106"/>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9" name="Text 107"/>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10" name="Shape 108"/>
          <p:cNvSpPr/>
          <p:nvPr/>
        </p:nvSpPr>
        <p:spPr>
          <a:xfrm>
            <a:off x="2871216" y="5732723"/>
            <a:ext cx="159807" cy="136676"/>
          </a:xfrm>
          <a:prstGeom prst="rect">
            <a:avLst/>
          </a:prstGeom>
          <a:solidFill>
            <a:srgbClr val="C2352F"/>
          </a:solidFill>
          <a:ln/>
        </p:spPr>
      </p:sp>
      <p:sp>
        <p:nvSpPr>
          <p:cNvPr id="111" name="Text 109"/>
          <p:cNvSpPr txBox="1"/>
          <p:nvPr/>
        </p:nvSpPr>
        <p:spPr>
          <a:xfrm>
            <a:off x="3520440" y="567681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$42K</a:t>
            </a:r>
            <a:endParaRPr lang="en-US" sz="1300" dirty="0"/>
          </a:p>
        </p:txBody>
      </p:sp>
      <p:sp>
        <p:nvSpPr>
          <p:cNvPr id="112" name="Text 110"/>
          <p:cNvSpPr txBox="1"/>
          <p:nvPr/>
        </p:nvSpPr>
        <p:spPr>
          <a:xfrm>
            <a:off x="4306824" y="5676810"/>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17</a:t>
            </a:r>
            <a:endParaRPr lang="en-US" sz="1300" dirty="0"/>
          </a:p>
        </p:txBody>
      </p:sp>
      <p:sp>
        <p:nvSpPr>
          <p:cNvPr id="113" name="Text 111"/>
          <p:cNvSpPr txBox="1"/>
          <p:nvPr/>
        </p:nvSpPr>
        <p:spPr>
          <a:xfrm>
            <a:off x="5239512" y="5676810"/>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a:t>
            </a:r>
            <a:endParaRPr lang="en-US" sz="1300" dirty="0"/>
          </a:p>
        </p:txBody>
      </p:sp>
      <p:sp>
        <p:nvSpPr>
          <p:cNvPr id="114" name="Text 112"/>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15" name="Text 113"/>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6" name="Shape 114"/>
          <p:cNvSpPr/>
          <p:nvPr/>
        </p:nvSpPr>
        <p:spPr>
          <a:xfrm>
            <a:off x="8421624" y="1756697"/>
            <a:ext cx="148734" cy="136676"/>
          </a:xfrm>
          <a:prstGeom prst="rect">
            <a:avLst/>
          </a:prstGeom>
          <a:solidFill>
            <a:srgbClr val="C2352F"/>
          </a:solidFill>
          <a:ln/>
        </p:spPr>
      </p:sp>
      <p:sp>
        <p:nvSpPr>
          <p:cNvPr id="117" name="Text 115"/>
          <p:cNvSpPr txBox="1"/>
          <p:nvPr/>
        </p:nvSpPr>
        <p:spPr>
          <a:xfrm>
            <a:off x="9070848"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$39K</a:t>
            </a:r>
            <a:endParaRPr lang="en-US" sz="1300" dirty="0"/>
          </a:p>
        </p:txBody>
      </p:sp>
      <p:sp>
        <p:nvSpPr>
          <p:cNvPr id="118" name="Text 116"/>
          <p:cNvSpPr txBox="1"/>
          <p:nvPr/>
        </p:nvSpPr>
        <p:spPr>
          <a:xfrm>
            <a:off x="9857232" y="170078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6</a:t>
            </a:r>
            <a:endParaRPr lang="en-US" sz="1300" dirty="0"/>
          </a:p>
        </p:txBody>
      </p:sp>
      <p:sp>
        <p:nvSpPr>
          <p:cNvPr id="119" name="Text 117"/>
          <p:cNvSpPr txBox="1"/>
          <p:nvPr/>
        </p:nvSpPr>
        <p:spPr>
          <a:xfrm>
            <a:off x="10789920" y="170078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a:t>
            </a:r>
            <a:endParaRPr lang="en-US" sz="1300" dirty="0"/>
          </a:p>
        </p:txBody>
      </p:sp>
      <p:sp>
        <p:nvSpPr>
          <p:cNvPr id="120" name="Text 118"/>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1" name="Text 119"/>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22" name="Shape 120"/>
          <p:cNvSpPr/>
          <p:nvPr/>
        </p:nvSpPr>
        <p:spPr>
          <a:xfrm>
            <a:off x="8421624" y="2005199"/>
            <a:ext cx="129329" cy="136676"/>
          </a:xfrm>
          <a:prstGeom prst="rect">
            <a:avLst/>
          </a:prstGeom>
          <a:solidFill>
            <a:srgbClr val="C2352F"/>
          </a:solidFill>
          <a:ln/>
        </p:spPr>
      </p:sp>
      <p:sp>
        <p:nvSpPr>
          <p:cNvPr id="123" name="Text 121"/>
          <p:cNvSpPr txBox="1"/>
          <p:nvPr/>
        </p:nvSpPr>
        <p:spPr>
          <a:xfrm>
            <a:off x="9070848"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$34K</a:t>
            </a:r>
            <a:endParaRPr lang="en-US" sz="1300" dirty="0"/>
          </a:p>
        </p:txBody>
      </p:sp>
      <p:sp>
        <p:nvSpPr>
          <p:cNvPr id="124" name="Text 122"/>
          <p:cNvSpPr txBox="1"/>
          <p:nvPr/>
        </p:nvSpPr>
        <p:spPr>
          <a:xfrm>
            <a:off x="9857232" y="1949286"/>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9</a:t>
            </a:r>
            <a:endParaRPr lang="en-US" sz="1300" dirty="0"/>
          </a:p>
        </p:txBody>
      </p:sp>
      <p:sp>
        <p:nvSpPr>
          <p:cNvPr id="125" name="Text 123"/>
          <p:cNvSpPr txBox="1"/>
          <p:nvPr/>
        </p:nvSpPr>
        <p:spPr>
          <a:xfrm>
            <a:off x="10789920" y="1949286"/>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a:t>
            </a:r>
            <a:endParaRPr lang="en-US" sz="1300" dirty="0"/>
          </a:p>
        </p:txBody>
      </p:sp>
      <p:sp>
        <p:nvSpPr>
          <p:cNvPr id="126" name="Text 124"/>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7" name="Text 125"/>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28" name="Shape 126"/>
          <p:cNvSpPr/>
          <p:nvPr/>
        </p:nvSpPr>
        <p:spPr>
          <a:xfrm>
            <a:off x="8421624" y="2253700"/>
            <a:ext cx="119109" cy="136676"/>
          </a:xfrm>
          <a:prstGeom prst="rect">
            <a:avLst/>
          </a:prstGeom>
          <a:solidFill>
            <a:srgbClr val="C2352F"/>
          </a:solidFill>
          <a:ln/>
        </p:spPr>
      </p:sp>
      <p:sp>
        <p:nvSpPr>
          <p:cNvPr id="129" name="Text 127"/>
          <p:cNvSpPr txBox="1"/>
          <p:nvPr/>
        </p:nvSpPr>
        <p:spPr>
          <a:xfrm>
            <a:off x="9070848"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$32K</a:t>
            </a:r>
            <a:endParaRPr lang="en-US" sz="1300" dirty="0"/>
          </a:p>
        </p:txBody>
      </p:sp>
      <p:sp>
        <p:nvSpPr>
          <p:cNvPr id="130" name="Text 128"/>
          <p:cNvSpPr txBox="1"/>
          <p:nvPr/>
        </p:nvSpPr>
        <p:spPr>
          <a:xfrm>
            <a:off x="9857232" y="219778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11</a:t>
            </a:r>
            <a:endParaRPr lang="en-US" sz="1300" dirty="0"/>
          </a:p>
        </p:txBody>
      </p:sp>
      <p:sp>
        <p:nvSpPr>
          <p:cNvPr id="131" name="Text 129"/>
          <p:cNvSpPr txBox="1"/>
          <p:nvPr/>
        </p:nvSpPr>
        <p:spPr>
          <a:xfrm>
            <a:off x="10789920" y="219778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104%</a:t>
            </a:r>
            <a:endParaRPr lang="en-US" sz="1300" dirty="0"/>
          </a:p>
        </p:txBody>
      </p:sp>
      <p:sp>
        <p:nvSpPr>
          <p:cNvPr id="132" name="Text 13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34" name="Shape 132"/>
          <p:cNvSpPr/>
          <p:nvPr/>
        </p:nvSpPr>
        <p:spPr>
          <a:xfrm>
            <a:off x="8421624" y="2502202"/>
            <a:ext cx="92701" cy="136676"/>
          </a:xfrm>
          <a:prstGeom prst="rect">
            <a:avLst/>
          </a:prstGeom>
          <a:solidFill>
            <a:srgbClr val="C2352F"/>
          </a:solidFill>
          <a:ln/>
        </p:spPr>
      </p:sp>
      <p:sp>
        <p:nvSpPr>
          <p:cNvPr id="135" name="Text 133"/>
          <p:cNvSpPr txBox="1"/>
          <p:nvPr/>
        </p:nvSpPr>
        <p:spPr>
          <a:xfrm>
            <a:off x="9070848"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$25K</a:t>
            </a:r>
            <a:endParaRPr lang="en-US" sz="1300" dirty="0"/>
          </a:p>
        </p:txBody>
      </p:sp>
      <p:sp>
        <p:nvSpPr>
          <p:cNvPr id="136" name="Text 134"/>
          <p:cNvSpPr txBox="1"/>
          <p:nvPr/>
        </p:nvSpPr>
        <p:spPr>
          <a:xfrm>
            <a:off x="9857232" y="244628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19</a:t>
            </a:r>
            <a:endParaRPr lang="en-US" sz="1300" dirty="0"/>
          </a:p>
        </p:txBody>
      </p:sp>
      <p:sp>
        <p:nvSpPr>
          <p:cNvPr id="137" name="Text 135"/>
          <p:cNvSpPr txBox="1"/>
          <p:nvPr/>
        </p:nvSpPr>
        <p:spPr>
          <a:xfrm>
            <a:off x="10789920" y="244628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92%</a:t>
            </a:r>
            <a:endParaRPr lang="en-US" sz="1300" dirty="0"/>
          </a:p>
        </p:txBody>
      </p:sp>
      <p:sp>
        <p:nvSpPr>
          <p:cNvPr id="138" name="Text 136"/>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40" name="Shape 138"/>
          <p:cNvSpPr/>
          <p:nvPr/>
        </p:nvSpPr>
        <p:spPr>
          <a:xfrm>
            <a:off x="8421624" y="2750703"/>
            <a:ext cx="89382" cy="136676"/>
          </a:xfrm>
          <a:prstGeom prst="rect">
            <a:avLst/>
          </a:prstGeom>
          <a:solidFill>
            <a:srgbClr val="C2352F"/>
          </a:solidFill>
          <a:ln/>
        </p:spPr>
      </p:sp>
      <p:sp>
        <p:nvSpPr>
          <p:cNvPr id="141" name="Text 139"/>
          <p:cNvSpPr txBox="1"/>
          <p:nvPr/>
        </p:nvSpPr>
        <p:spPr>
          <a:xfrm>
            <a:off x="9070848"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$24K</a:t>
            </a:r>
            <a:endParaRPr lang="en-US" sz="1300" dirty="0"/>
          </a:p>
        </p:txBody>
      </p:sp>
      <p:sp>
        <p:nvSpPr>
          <p:cNvPr id="142" name="Text 140"/>
          <p:cNvSpPr txBox="1"/>
          <p:nvPr/>
        </p:nvSpPr>
        <p:spPr>
          <a:xfrm>
            <a:off x="9857232" y="2694791"/>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11</a:t>
            </a:r>
            <a:endParaRPr lang="en-US" sz="1300" dirty="0"/>
          </a:p>
        </p:txBody>
      </p:sp>
      <p:sp>
        <p:nvSpPr>
          <p:cNvPr id="143" name="Text 141"/>
          <p:cNvSpPr txBox="1"/>
          <p:nvPr/>
        </p:nvSpPr>
        <p:spPr>
          <a:xfrm>
            <a:off x="10789920" y="2694791"/>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a:t>
            </a:r>
            <a:endParaRPr lang="en-US" sz="1300" dirty="0"/>
          </a:p>
        </p:txBody>
      </p:sp>
      <p:sp>
        <p:nvSpPr>
          <p:cNvPr id="144" name="Text 142"/>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5" name="Text 143"/>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46" name="Shape 144"/>
          <p:cNvSpPr/>
          <p:nvPr/>
        </p:nvSpPr>
        <p:spPr>
          <a:xfrm>
            <a:off x="8421624" y="2999205"/>
            <a:ext cx="83365" cy="136676"/>
          </a:xfrm>
          <a:prstGeom prst="rect">
            <a:avLst/>
          </a:prstGeom>
          <a:solidFill>
            <a:srgbClr val="C2352F"/>
          </a:solidFill>
          <a:ln/>
        </p:spPr>
      </p:sp>
      <p:sp>
        <p:nvSpPr>
          <p:cNvPr id="147" name="Text 145"/>
          <p:cNvSpPr txBox="1"/>
          <p:nvPr/>
        </p:nvSpPr>
        <p:spPr>
          <a:xfrm>
            <a:off x="9070848"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148" name="Text 146"/>
          <p:cNvSpPr txBox="1"/>
          <p:nvPr/>
        </p:nvSpPr>
        <p:spPr>
          <a:xfrm>
            <a:off x="9857232" y="2943292"/>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12</a:t>
            </a:r>
            <a:endParaRPr lang="en-US" sz="1300" dirty="0"/>
          </a:p>
        </p:txBody>
      </p:sp>
      <p:sp>
        <p:nvSpPr>
          <p:cNvPr id="149" name="Text 147"/>
          <p:cNvSpPr txBox="1"/>
          <p:nvPr/>
        </p:nvSpPr>
        <p:spPr>
          <a:xfrm>
            <a:off x="10789920" y="2943292"/>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a:t>
            </a:r>
            <a:endParaRPr lang="en-US" sz="1300" dirty="0"/>
          </a:p>
        </p:txBody>
      </p:sp>
      <p:sp>
        <p:nvSpPr>
          <p:cNvPr id="150" name="Text 148"/>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1" name="Text 149"/>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52" name="Shape 150"/>
          <p:cNvSpPr/>
          <p:nvPr/>
        </p:nvSpPr>
        <p:spPr>
          <a:xfrm>
            <a:off x="8421624" y="3247707"/>
            <a:ext cx="78085" cy="136676"/>
          </a:xfrm>
          <a:prstGeom prst="rect">
            <a:avLst/>
          </a:prstGeom>
          <a:solidFill>
            <a:srgbClr val="C2352F"/>
          </a:solidFill>
          <a:ln/>
        </p:spPr>
      </p:sp>
      <p:sp>
        <p:nvSpPr>
          <p:cNvPr id="153" name="Text 151"/>
          <p:cNvSpPr txBox="1"/>
          <p:nvPr/>
        </p:nvSpPr>
        <p:spPr>
          <a:xfrm>
            <a:off x="9070848"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154" name="Text 152"/>
          <p:cNvSpPr txBox="1"/>
          <p:nvPr/>
        </p:nvSpPr>
        <p:spPr>
          <a:xfrm>
            <a:off x="9857232" y="319179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5</a:t>
            </a:r>
            <a:endParaRPr lang="en-US" sz="1300" dirty="0"/>
          </a:p>
        </p:txBody>
      </p:sp>
      <p:sp>
        <p:nvSpPr>
          <p:cNvPr id="155" name="Text 153"/>
          <p:cNvSpPr txBox="1"/>
          <p:nvPr/>
        </p:nvSpPr>
        <p:spPr>
          <a:xfrm>
            <a:off x="10789920" y="319179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156" name="Text 154"/>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57" name="Text 155"/>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58" name="Shape 156"/>
          <p:cNvSpPr/>
          <p:nvPr/>
        </p:nvSpPr>
        <p:spPr>
          <a:xfrm>
            <a:off x="8421624" y="3496208"/>
            <a:ext cx="77498" cy="136676"/>
          </a:xfrm>
          <a:prstGeom prst="rect">
            <a:avLst/>
          </a:prstGeom>
          <a:solidFill>
            <a:srgbClr val="C2352F"/>
          </a:solidFill>
          <a:ln/>
        </p:spPr>
      </p:sp>
      <p:sp>
        <p:nvSpPr>
          <p:cNvPr id="159" name="Text 157"/>
          <p:cNvSpPr txBox="1"/>
          <p:nvPr/>
        </p:nvSpPr>
        <p:spPr>
          <a:xfrm>
            <a:off x="9070848"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160" name="Text 158"/>
          <p:cNvSpPr txBox="1"/>
          <p:nvPr/>
        </p:nvSpPr>
        <p:spPr>
          <a:xfrm>
            <a:off x="9857232" y="3440296"/>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6</a:t>
            </a:r>
            <a:endParaRPr lang="en-US" sz="1300" dirty="0"/>
          </a:p>
        </p:txBody>
      </p:sp>
      <p:sp>
        <p:nvSpPr>
          <p:cNvPr id="161" name="Text 159"/>
          <p:cNvSpPr txBox="1"/>
          <p:nvPr/>
        </p:nvSpPr>
        <p:spPr>
          <a:xfrm>
            <a:off x="10789920" y="3440296"/>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81%</a:t>
            </a:r>
            <a:endParaRPr lang="en-US" sz="1300" dirty="0"/>
          </a:p>
        </p:txBody>
      </p:sp>
      <p:sp>
        <p:nvSpPr>
          <p:cNvPr id="162" name="Text 160"/>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3" name="Text 161"/>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64" name="Shape 162"/>
          <p:cNvSpPr/>
          <p:nvPr/>
        </p:nvSpPr>
        <p:spPr>
          <a:xfrm>
            <a:off x="8421624" y="3744710"/>
            <a:ext cx="75663" cy="136676"/>
          </a:xfrm>
          <a:prstGeom prst="rect">
            <a:avLst/>
          </a:prstGeom>
          <a:solidFill>
            <a:srgbClr val="C2352F"/>
          </a:solidFill>
          <a:ln/>
        </p:spPr>
      </p:sp>
      <p:sp>
        <p:nvSpPr>
          <p:cNvPr id="165" name="Text 163"/>
          <p:cNvSpPr txBox="1"/>
          <p:nvPr/>
        </p:nvSpPr>
        <p:spPr>
          <a:xfrm>
            <a:off x="9070848"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$20K</a:t>
            </a:r>
            <a:endParaRPr lang="en-US" sz="1300" dirty="0"/>
          </a:p>
        </p:txBody>
      </p:sp>
      <p:sp>
        <p:nvSpPr>
          <p:cNvPr id="166" name="Text 164"/>
          <p:cNvSpPr txBox="1"/>
          <p:nvPr/>
        </p:nvSpPr>
        <p:spPr>
          <a:xfrm>
            <a:off x="9857232" y="368879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10</a:t>
            </a:r>
            <a:endParaRPr lang="en-US" sz="1300" dirty="0"/>
          </a:p>
        </p:txBody>
      </p:sp>
      <p:sp>
        <p:nvSpPr>
          <p:cNvPr id="167" name="Text 165"/>
          <p:cNvSpPr txBox="1"/>
          <p:nvPr/>
        </p:nvSpPr>
        <p:spPr>
          <a:xfrm>
            <a:off x="10789920" y="368879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a:t>
            </a:r>
            <a:endParaRPr lang="en-US" sz="1300" dirty="0"/>
          </a:p>
        </p:txBody>
      </p:sp>
      <p:sp>
        <p:nvSpPr>
          <p:cNvPr id="168" name="Text 166"/>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69" name="Text 167"/>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70" name="Shape 168"/>
          <p:cNvSpPr/>
          <p:nvPr/>
        </p:nvSpPr>
        <p:spPr>
          <a:xfrm>
            <a:off x="8421624" y="3993212"/>
            <a:ext cx="56358" cy="136676"/>
          </a:xfrm>
          <a:prstGeom prst="rect">
            <a:avLst/>
          </a:prstGeom>
          <a:solidFill>
            <a:srgbClr val="C2352F"/>
          </a:solidFill>
          <a:ln/>
        </p:spPr>
      </p:sp>
      <p:sp>
        <p:nvSpPr>
          <p:cNvPr id="171" name="Text 169"/>
          <p:cNvSpPr txBox="1"/>
          <p:nvPr/>
        </p:nvSpPr>
        <p:spPr>
          <a:xfrm>
            <a:off x="9070848"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$15K</a:t>
            </a:r>
            <a:endParaRPr lang="en-US" sz="1300" dirty="0"/>
          </a:p>
        </p:txBody>
      </p:sp>
      <p:sp>
        <p:nvSpPr>
          <p:cNvPr id="172" name="Text 170"/>
          <p:cNvSpPr txBox="1"/>
          <p:nvPr/>
        </p:nvSpPr>
        <p:spPr>
          <a:xfrm>
            <a:off x="9857232" y="393729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7</a:t>
            </a:r>
            <a:endParaRPr lang="en-US" sz="1300" dirty="0"/>
          </a:p>
        </p:txBody>
      </p:sp>
      <p:sp>
        <p:nvSpPr>
          <p:cNvPr id="173" name="Text 171"/>
          <p:cNvSpPr txBox="1"/>
          <p:nvPr/>
        </p:nvSpPr>
        <p:spPr>
          <a:xfrm>
            <a:off x="10789920" y="393729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a:t>
            </a:r>
            <a:endParaRPr lang="en-US" sz="1300" dirty="0"/>
          </a:p>
        </p:txBody>
      </p:sp>
      <p:sp>
        <p:nvSpPr>
          <p:cNvPr id="174" name="Text 172"/>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75" name="Text 173"/>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6" name="Shape 174"/>
          <p:cNvSpPr/>
          <p:nvPr/>
        </p:nvSpPr>
        <p:spPr>
          <a:xfrm>
            <a:off x="8421624" y="4241713"/>
            <a:ext cx="48801" cy="136676"/>
          </a:xfrm>
          <a:prstGeom prst="rect">
            <a:avLst/>
          </a:prstGeom>
          <a:solidFill>
            <a:srgbClr val="C2352F"/>
          </a:solidFill>
          <a:ln/>
        </p:spPr>
      </p:sp>
      <p:sp>
        <p:nvSpPr>
          <p:cNvPr id="177" name="Text 175"/>
          <p:cNvSpPr txBox="1"/>
          <p:nvPr/>
        </p:nvSpPr>
        <p:spPr>
          <a:xfrm>
            <a:off x="9070848"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178" name="Text 176"/>
          <p:cNvSpPr txBox="1"/>
          <p:nvPr/>
        </p:nvSpPr>
        <p:spPr>
          <a:xfrm>
            <a:off x="9857232" y="4185800"/>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28</a:t>
            </a:r>
            <a:endParaRPr lang="en-US" sz="1300" dirty="0"/>
          </a:p>
        </p:txBody>
      </p:sp>
      <p:sp>
        <p:nvSpPr>
          <p:cNvPr id="179" name="Text 177"/>
          <p:cNvSpPr txBox="1"/>
          <p:nvPr/>
        </p:nvSpPr>
        <p:spPr>
          <a:xfrm>
            <a:off x="10789920" y="4185800"/>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118%</a:t>
            </a:r>
            <a:endParaRPr lang="en-US" sz="1300" dirty="0"/>
          </a:p>
        </p:txBody>
      </p:sp>
      <p:sp>
        <p:nvSpPr>
          <p:cNvPr id="180" name="Text 178"/>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1" name="Text 179"/>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82" name="Shape 180"/>
          <p:cNvSpPr/>
          <p:nvPr/>
        </p:nvSpPr>
        <p:spPr>
          <a:xfrm>
            <a:off x="8421624" y="4490215"/>
            <a:ext cx="48716" cy="136676"/>
          </a:xfrm>
          <a:prstGeom prst="rect">
            <a:avLst/>
          </a:prstGeom>
          <a:solidFill>
            <a:srgbClr val="C2352F"/>
          </a:solidFill>
          <a:ln/>
        </p:spPr>
      </p:sp>
      <p:sp>
        <p:nvSpPr>
          <p:cNvPr id="183" name="Text 181"/>
          <p:cNvSpPr txBox="1"/>
          <p:nvPr/>
        </p:nvSpPr>
        <p:spPr>
          <a:xfrm>
            <a:off x="9070848"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184" name="Text 182"/>
          <p:cNvSpPr txBox="1"/>
          <p:nvPr/>
        </p:nvSpPr>
        <p:spPr>
          <a:xfrm>
            <a:off x="9857232" y="4434302"/>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22</a:t>
            </a:r>
            <a:endParaRPr lang="en-US" sz="1300" dirty="0"/>
          </a:p>
        </p:txBody>
      </p:sp>
      <p:sp>
        <p:nvSpPr>
          <p:cNvPr id="185" name="Text 183"/>
          <p:cNvSpPr txBox="1"/>
          <p:nvPr/>
        </p:nvSpPr>
        <p:spPr>
          <a:xfrm>
            <a:off x="10789920" y="4434302"/>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a:t>
            </a:r>
            <a:endParaRPr lang="en-US" sz="1300" dirty="0"/>
          </a:p>
        </p:txBody>
      </p:sp>
      <p:sp>
        <p:nvSpPr>
          <p:cNvPr id="186" name="Text 184"/>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87" name="Text 185"/>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88" name="Shape 186"/>
          <p:cNvSpPr/>
          <p:nvPr/>
        </p:nvSpPr>
        <p:spPr>
          <a:xfrm>
            <a:off x="8421624" y="4738717"/>
            <a:ext cx="42835" cy="136676"/>
          </a:xfrm>
          <a:prstGeom prst="rect">
            <a:avLst/>
          </a:prstGeom>
          <a:solidFill>
            <a:srgbClr val="C2352F"/>
          </a:solidFill>
          <a:ln/>
        </p:spPr>
      </p:sp>
      <p:sp>
        <p:nvSpPr>
          <p:cNvPr id="189" name="Text 187"/>
          <p:cNvSpPr txBox="1"/>
          <p:nvPr/>
        </p:nvSpPr>
        <p:spPr>
          <a:xfrm>
            <a:off x="9070848"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$11K</a:t>
            </a:r>
            <a:endParaRPr lang="en-US" sz="1300" dirty="0"/>
          </a:p>
        </p:txBody>
      </p:sp>
      <p:sp>
        <p:nvSpPr>
          <p:cNvPr id="190" name="Text 188"/>
          <p:cNvSpPr txBox="1"/>
          <p:nvPr/>
        </p:nvSpPr>
        <p:spPr>
          <a:xfrm>
            <a:off x="9857232" y="468280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28</a:t>
            </a:r>
            <a:endParaRPr lang="en-US" sz="1300" dirty="0"/>
          </a:p>
        </p:txBody>
      </p:sp>
      <p:sp>
        <p:nvSpPr>
          <p:cNvPr id="191" name="Text 189"/>
          <p:cNvSpPr txBox="1"/>
          <p:nvPr/>
        </p:nvSpPr>
        <p:spPr>
          <a:xfrm>
            <a:off x="10789920" y="468280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108%</a:t>
            </a:r>
            <a:endParaRPr lang="en-US" sz="1300" dirty="0"/>
          </a:p>
        </p:txBody>
      </p:sp>
      <p:sp>
        <p:nvSpPr>
          <p:cNvPr id="192" name="Text 19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3" name="Text 191"/>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94" name="Shape 192"/>
          <p:cNvSpPr/>
          <p:nvPr/>
        </p:nvSpPr>
        <p:spPr>
          <a:xfrm>
            <a:off x="8421624" y="4987218"/>
            <a:ext cx="39448" cy="136676"/>
          </a:xfrm>
          <a:prstGeom prst="rect">
            <a:avLst/>
          </a:prstGeom>
          <a:solidFill>
            <a:srgbClr val="C2352F"/>
          </a:solidFill>
          <a:ln/>
        </p:spPr>
      </p:sp>
      <p:sp>
        <p:nvSpPr>
          <p:cNvPr id="195" name="Text 193"/>
          <p:cNvSpPr txBox="1"/>
          <p:nvPr/>
        </p:nvSpPr>
        <p:spPr>
          <a:xfrm>
            <a:off x="9070848"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$10K</a:t>
            </a:r>
            <a:endParaRPr lang="en-US" sz="1300" dirty="0"/>
          </a:p>
        </p:txBody>
      </p:sp>
      <p:sp>
        <p:nvSpPr>
          <p:cNvPr id="196" name="Text 194"/>
          <p:cNvSpPr txBox="1"/>
          <p:nvPr/>
        </p:nvSpPr>
        <p:spPr>
          <a:xfrm>
            <a:off x="9857232" y="4931305"/>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18</a:t>
            </a:r>
            <a:endParaRPr lang="en-US" sz="1300" dirty="0"/>
          </a:p>
        </p:txBody>
      </p:sp>
      <p:sp>
        <p:nvSpPr>
          <p:cNvPr id="197" name="Text 195"/>
          <p:cNvSpPr txBox="1"/>
          <p:nvPr/>
        </p:nvSpPr>
        <p:spPr>
          <a:xfrm>
            <a:off x="10789920" y="4931305"/>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a:t>
            </a:r>
            <a:endParaRPr lang="en-US" sz="1300" dirty="0"/>
          </a:p>
        </p:txBody>
      </p:sp>
      <p:sp>
        <p:nvSpPr>
          <p:cNvPr id="198" name="Text 196"/>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99" name="Text 197"/>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200" name="Shape 198"/>
          <p:cNvSpPr/>
          <p:nvPr/>
        </p:nvSpPr>
        <p:spPr>
          <a:xfrm>
            <a:off x="8421624" y="5235720"/>
            <a:ext cx="32291" cy="136676"/>
          </a:xfrm>
          <a:prstGeom prst="rect">
            <a:avLst/>
          </a:prstGeom>
          <a:solidFill>
            <a:srgbClr val="C2352F"/>
          </a:solidFill>
          <a:ln/>
        </p:spPr>
      </p:sp>
      <p:sp>
        <p:nvSpPr>
          <p:cNvPr id="201" name="Text 199"/>
          <p:cNvSpPr txBox="1"/>
          <p:nvPr/>
        </p:nvSpPr>
        <p:spPr>
          <a:xfrm>
            <a:off x="9070848"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$9K</a:t>
            </a:r>
            <a:endParaRPr lang="en-US" sz="1300" dirty="0"/>
          </a:p>
        </p:txBody>
      </p:sp>
      <p:sp>
        <p:nvSpPr>
          <p:cNvPr id="202" name="Text 200"/>
          <p:cNvSpPr txBox="1"/>
          <p:nvPr/>
        </p:nvSpPr>
        <p:spPr>
          <a:xfrm>
            <a:off x="9857232" y="517980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11</a:t>
            </a:r>
            <a:endParaRPr lang="en-US" sz="1300" dirty="0"/>
          </a:p>
        </p:txBody>
      </p:sp>
      <p:sp>
        <p:nvSpPr>
          <p:cNvPr id="203" name="Text 201"/>
          <p:cNvSpPr txBox="1"/>
          <p:nvPr/>
        </p:nvSpPr>
        <p:spPr>
          <a:xfrm>
            <a:off x="10789920" y="517980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101%</a:t>
            </a:r>
            <a:endParaRPr lang="en-US" sz="1300" dirty="0"/>
          </a:p>
        </p:txBody>
      </p:sp>
      <p:sp>
        <p:nvSpPr>
          <p:cNvPr id="204" name="Text 202"/>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05" name="Text 203"/>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206" name="Shape 204"/>
          <p:cNvSpPr/>
          <p:nvPr/>
        </p:nvSpPr>
        <p:spPr>
          <a:xfrm>
            <a:off x="8421624" y="5484222"/>
            <a:ext cx="18288" cy="136676"/>
          </a:xfrm>
          <a:prstGeom prst="rect">
            <a:avLst/>
          </a:prstGeom>
          <a:solidFill>
            <a:srgbClr val="C2352F"/>
          </a:solidFill>
          <a:ln/>
        </p:spPr>
      </p:sp>
      <p:sp>
        <p:nvSpPr>
          <p:cNvPr id="207" name="Text 205"/>
          <p:cNvSpPr txBox="1"/>
          <p:nvPr/>
        </p:nvSpPr>
        <p:spPr>
          <a:xfrm>
            <a:off x="9070848"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$1K</a:t>
            </a:r>
            <a:endParaRPr lang="en-US" sz="1300" dirty="0"/>
          </a:p>
        </p:txBody>
      </p:sp>
      <p:sp>
        <p:nvSpPr>
          <p:cNvPr id="208" name="Text 206"/>
          <p:cNvSpPr txBox="1"/>
          <p:nvPr/>
        </p:nvSpPr>
        <p:spPr>
          <a:xfrm>
            <a:off x="9857232" y="542830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15</a:t>
            </a:r>
            <a:endParaRPr lang="en-US" sz="1300" dirty="0"/>
          </a:p>
        </p:txBody>
      </p:sp>
      <p:sp>
        <p:nvSpPr>
          <p:cNvPr id="209" name="Text 207"/>
          <p:cNvSpPr txBox="1"/>
          <p:nvPr/>
        </p:nvSpPr>
        <p:spPr>
          <a:xfrm>
            <a:off x="10789920" y="542830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a:t>
            </a:r>
            <a:endParaRPr lang="en-US" sz="1300" dirty="0"/>
          </a:p>
        </p:txBody>
      </p:sp>
      <p:sp>
        <p:nvSpPr>
          <p:cNvPr id="210" name="Shape 208"/>
          <p:cNvSpPr/>
          <p:nvPr/>
        </p:nvSpPr>
        <p:spPr>
          <a:xfrm>
            <a:off x="6085332" y="1700784"/>
            <a:ext cx="10973" cy="4224528"/>
          </a:xfrm>
          <a:prstGeom prst="rect">
            <a:avLst/>
          </a:prstGeom>
          <a:solidFill>
            <a:srgbClr val="D9D9D9"/>
          </a:solidFill>
          <a:ln/>
        </p:spPr>
      </p:sp>
      <p:sp>
        <p:nvSpPr>
          <p:cNvPr id="211" name="Shape 209"/>
          <p:cNvSpPr/>
          <p:nvPr/>
        </p:nvSpPr>
        <p:spPr>
          <a:xfrm>
            <a:off x="457200" y="6126480"/>
            <a:ext cx="11274552" cy="348996"/>
          </a:xfrm>
          <a:prstGeom prst="rect">
            <a:avLst/>
          </a:prstGeom>
          <a:solidFill>
            <a:srgbClr val="FBEBEA"/>
          </a:solidFill>
          <a:ln/>
        </p:spPr>
      </p:sp>
      <p:sp>
        <p:nvSpPr>
          <p:cNvPr id="212" name="Text 210"/>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A82B26"/>
                </a:solidFill>
                <a:latin typeface="Inter" pitchFamily="34" charset="0"/>
                <a:ea typeface="Inter" pitchFamily="34" charset="-122"/>
                <a:cs typeface="Inter" pitchFamily="34" charset="-120"/>
              </a:rPr>
              <a:t>Six stores hold $647K a month, led by Cadillac at $158K. 6 stores at or above 85% still leave $537K a month.</a:t>
            </a:r>
            <a:endParaRPr lang="en-US" sz="1450" dirty="0"/>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Opportunity as a Share of Gross</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39242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Share</a:t>
            </a:r>
            <a:endParaRPr lang="en-US" sz="1400" dirty="0"/>
          </a:p>
        </p:txBody>
      </p:sp>
      <p:sp>
        <p:nvSpPr>
          <p:cNvPr id="7" name="Text 5"/>
          <p:cNvSpPr txBox="1"/>
          <p:nvPr/>
        </p:nvSpPr>
        <p:spPr>
          <a:xfrm>
            <a:off x="417880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8" name="Text 6"/>
          <p:cNvSpPr txBox="1"/>
          <p:nvPr/>
        </p:nvSpPr>
        <p:spPr>
          <a:xfrm>
            <a:off x="504748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a:t>
            </a:r>
            <a:endParaRPr lang="en-US" sz="1400" dirty="0"/>
          </a:p>
        </p:txBody>
      </p:sp>
      <p:sp>
        <p:nvSpPr>
          <p:cNvPr id="9" name="Text 7"/>
          <p:cNvSpPr txBox="1"/>
          <p:nvPr/>
        </p:nvSpPr>
        <p:spPr>
          <a:xfrm>
            <a:off x="894283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Share</a:t>
            </a:r>
            <a:endParaRPr lang="en-US" sz="1400" dirty="0"/>
          </a:p>
        </p:txBody>
      </p:sp>
      <p:sp>
        <p:nvSpPr>
          <p:cNvPr id="10" name="Text 8"/>
          <p:cNvSpPr txBox="1"/>
          <p:nvPr/>
        </p:nvSpPr>
        <p:spPr>
          <a:xfrm>
            <a:off x="972921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11" name="Text 9"/>
          <p:cNvSpPr txBox="1"/>
          <p:nvPr/>
        </p:nvSpPr>
        <p:spPr>
          <a:xfrm>
            <a:off x="1059789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a:t>
            </a:r>
            <a:endParaRPr lang="en-US" sz="1400" dirty="0"/>
          </a:p>
        </p:txBody>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4" name="Shape 12"/>
          <p:cNvSpPr/>
          <p:nvPr/>
        </p:nvSpPr>
        <p:spPr>
          <a:xfrm>
            <a:off x="2871216" y="1756697"/>
            <a:ext cx="466344" cy="136676"/>
          </a:xfrm>
          <a:prstGeom prst="rect">
            <a:avLst/>
          </a:prstGeom>
          <a:solidFill>
            <a:srgbClr val="C2352F"/>
          </a:solidFill>
          <a:ln/>
        </p:spPr>
      </p:sp>
      <p:sp>
        <p:nvSpPr>
          <p:cNvPr id="15" name="Text 13"/>
          <p:cNvSpPr txBox="1"/>
          <p:nvPr/>
        </p:nvSpPr>
        <p:spPr>
          <a:xfrm>
            <a:off x="3392424"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a:t>
            </a:r>
            <a:endParaRPr lang="en-US" sz="1300" dirty="0"/>
          </a:p>
        </p:txBody>
      </p:sp>
      <p:sp>
        <p:nvSpPr>
          <p:cNvPr id="16" name="Text 14"/>
          <p:cNvSpPr txBox="1"/>
          <p:nvPr/>
        </p:nvSpPr>
        <p:spPr>
          <a:xfrm>
            <a:off x="417880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$88K</a:t>
            </a:r>
            <a:endParaRPr lang="en-US" sz="1300" dirty="0"/>
          </a:p>
        </p:txBody>
      </p:sp>
      <p:sp>
        <p:nvSpPr>
          <p:cNvPr id="17" name="Text 15"/>
          <p:cNvSpPr txBox="1"/>
          <p:nvPr/>
        </p:nvSpPr>
        <p:spPr>
          <a:xfrm>
            <a:off x="504748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$277K</a:t>
            </a:r>
            <a:endParaRPr lang="en-US" sz="1300" dirty="0"/>
          </a:p>
        </p:txBody>
      </p:sp>
      <p:sp>
        <p:nvSpPr>
          <p:cNvPr id="18" name="Text 16"/>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20" name="Shape 18"/>
          <p:cNvSpPr/>
          <p:nvPr/>
        </p:nvSpPr>
        <p:spPr>
          <a:xfrm>
            <a:off x="2871216" y="2005199"/>
            <a:ext cx="435113" cy="136676"/>
          </a:xfrm>
          <a:prstGeom prst="rect">
            <a:avLst/>
          </a:prstGeom>
          <a:solidFill>
            <a:srgbClr val="C2352F"/>
          </a:solidFill>
          <a:ln/>
        </p:spPr>
      </p:sp>
      <p:sp>
        <p:nvSpPr>
          <p:cNvPr id="21" name="Text 19"/>
          <p:cNvSpPr txBox="1"/>
          <p:nvPr/>
        </p:nvSpPr>
        <p:spPr>
          <a:xfrm>
            <a:off x="3392424"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30%</a:t>
            </a:r>
            <a:endParaRPr lang="en-US" sz="1300" dirty="0"/>
          </a:p>
        </p:txBody>
      </p:sp>
      <p:sp>
        <p:nvSpPr>
          <p:cNvPr id="22" name="Text 20"/>
          <p:cNvSpPr txBox="1"/>
          <p:nvPr/>
        </p:nvSpPr>
        <p:spPr>
          <a:xfrm>
            <a:off x="417880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$77K</a:t>
            </a:r>
            <a:endParaRPr lang="en-US" sz="1300" dirty="0"/>
          </a:p>
        </p:txBody>
      </p:sp>
      <p:sp>
        <p:nvSpPr>
          <p:cNvPr id="23" name="Text 21"/>
          <p:cNvSpPr txBox="1"/>
          <p:nvPr/>
        </p:nvSpPr>
        <p:spPr>
          <a:xfrm>
            <a:off x="504748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$258K</a:t>
            </a:r>
            <a:endParaRPr lang="en-US" sz="1300" dirty="0"/>
          </a:p>
        </p:txBody>
      </p:sp>
      <p:sp>
        <p:nvSpPr>
          <p:cNvPr id="24" name="Text 22"/>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5" name="Text 23"/>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26" name="Shape 24"/>
          <p:cNvSpPr/>
          <p:nvPr/>
        </p:nvSpPr>
        <p:spPr>
          <a:xfrm>
            <a:off x="2871216" y="2253700"/>
            <a:ext cx="371948" cy="136676"/>
          </a:xfrm>
          <a:prstGeom prst="rect">
            <a:avLst/>
          </a:prstGeom>
          <a:solidFill>
            <a:srgbClr val="C2352F"/>
          </a:solidFill>
          <a:ln/>
        </p:spPr>
      </p:sp>
      <p:sp>
        <p:nvSpPr>
          <p:cNvPr id="27" name="Text 25"/>
          <p:cNvSpPr txBox="1"/>
          <p:nvPr/>
        </p:nvSpPr>
        <p:spPr>
          <a:xfrm>
            <a:off x="3392424"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a:t>
            </a:r>
            <a:endParaRPr lang="en-US" sz="1300" dirty="0"/>
          </a:p>
        </p:txBody>
      </p:sp>
      <p:sp>
        <p:nvSpPr>
          <p:cNvPr id="28" name="Text 26"/>
          <p:cNvSpPr txBox="1"/>
          <p:nvPr/>
        </p:nvSpPr>
        <p:spPr>
          <a:xfrm>
            <a:off x="417880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$76K</a:t>
            </a:r>
            <a:endParaRPr lang="en-US" sz="1300" dirty="0"/>
          </a:p>
        </p:txBody>
      </p:sp>
      <p:sp>
        <p:nvSpPr>
          <p:cNvPr id="29" name="Text 27"/>
          <p:cNvSpPr txBox="1"/>
          <p:nvPr/>
        </p:nvSpPr>
        <p:spPr>
          <a:xfrm>
            <a:off x="504748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$299K</a:t>
            </a:r>
            <a:endParaRPr lang="en-US" sz="1300" dirty="0"/>
          </a:p>
        </p:txBody>
      </p:sp>
      <p:sp>
        <p:nvSpPr>
          <p:cNvPr id="30" name="Text 28"/>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32" name="Shape 30"/>
          <p:cNvSpPr/>
          <p:nvPr/>
        </p:nvSpPr>
        <p:spPr>
          <a:xfrm>
            <a:off x="2871216" y="2502202"/>
            <a:ext cx="359385" cy="136676"/>
          </a:xfrm>
          <a:prstGeom prst="rect">
            <a:avLst/>
          </a:prstGeom>
          <a:solidFill>
            <a:srgbClr val="C2352F"/>
          </a:solidFill>
          <a:ln/>
        </p:spPr>
      </p:sp>
      <p:sp>
        <p:nvSpPr>
          <p:cNvPr id="33" name="Text 31"/>
          <p:cNvSpPr txBox="1"/>
          <p:nvPr/>
        </p:nvSpPr>
        <p:spPr>
          <a:xfrm>
            <a:off x="3392424"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a:t>
            </a:r>
            <a:endParaRPr lang="en-US" sz="1300" dirty="0"/>
          </a:p>
        </p:txBody>
      </p:sp>
      <p:sp>
        <p:nvSpPr>
          <p:cNvPr id="34" name="Text 32"/>
          <p:cNvSpPr txBox="1"/>
          <p:nvPr/>
        </p:nvSpPr>
        <p:spPr>
          <a:xfrm>
            <a:off x="417880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$100K</a:t>
            </a:r>
            <a:endParaRPr lang="en-US" sz="1300" dirty="0"/>
          </a:p>
        </p:txBody>
      </p:sp>
      <p:sp>
        <p:nvSpPr>
          <p:cNvPr id="35" name="Text 33"/>
          <p:cNvSpPr txBox="1"/>
          <p:nvPr/>
        </p:nvSpPr>
        <p:spPr>
          <a:xfrm>
            <a:off x="504748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$408K</a:t>
            </a:r>
            <a:endParaRPr lang="en-US" sz="1300" dirty="0"/>
          </a:p>
        </p:txBody>
      </p:sp>
      <p:sp>
        <p:nvSpPr>
          <p:cNvPr id="36" name="Text 34"/>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38" name="Shape 36"/>
          <p:cNvSpPr/>
          <p:nvPr/>
        </p:nvSpPr>
        <p:spPr>
          <a:xfrm>
            <a:off x="2871216" y="2750703"/>
            <a:ext cx="339754" cy="136676"/>
          </a:xfrm>
          <a:prstGeom prst="rect">
            <a:avLst/>
          </a:prstGeom>
          <a:solidFill>
            <a:srgbClr val="C2352F"/>
          </a:solidFill>
          <a:ln/>
        </p:spPr>
      </p:sp>
      <p:sp>
        <p:nvSpPr>
          <p:cNvPr id="39" name="Text 37"/>
          <p:cNvSpPr txBox="1"/>
          <p:nvPr/>
        </p:nvSpPr>
        <p:spPr>
          <a:xfrm>
            <a:off x="3392424"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a:t>
            </a:r>
            <a:endParaRPr lang="en-US" sz="1300" dirty="0"/>
          </a:p>
        </p:txBody>
      </p:sp>
      <p:sp>
        <p:nvSpPr>
          <p:cNvPr id="40" name="Text 38"/>
          <p:cNvSpPr txBox="1"/>
          <p:nvPr/>
        </p:nvSpPr>
        <p:spPr>
          <a:xfrm>
            <a:off x="417880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$112K</a:t>
            </a:r>
            <a:endParaRPr lang="en-US" sz="1300" dirty="0"/>
          </a:p>
        </p:txBody>
      </p:sp>
      <p:sp>
        <p:nvSpPr>
          <p:cNvPr id="41" name="Text 39"/>
          <p:cNvSpPr txBox="1"/>
          <p:nvPr/>
        </p:nvSpPr>
        <p:spPr>
          <a:xfrm>
            <a:off x="504748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$483K</a:t>
            </a:r>
            <a:endParaRPr lang="en-US" sz="1300" dirty="0"/>
          </a:p>
        </p:txBody>
      </p:sp>
      <p:sp>
        <p:nvSpPr>
          <p:cNvPr id="42" name="Text 40"/>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3" name="Text 41"/>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4" name="Shape 42"/>
          <p:cNvSpPr/>
          <p:nvPr/>
        </p:nvSpPr>
        <p:spPr>
          <a:xfrm>
            <a:off x="2871216" y="2999205"/>
            <a:ext cx="292285" cy="136676"/>
          </a:xfrm>
          <a:prstGeom prst="rect">
            <a:avLst/>
          </a:prstGeom>
          <a:solidFill>
            <a:srgbClr val="C2352F"/>
          </a:solidFill>
          <a:ln/>
        </p:spPr>
      </p:sp>
      <p:sp>
        <p:nvSpPr>
          <p:cNvPr id="45" name="Text 43"/>
          <p:cNvSpPr txBox="1"/>
          <p:nvPr/>
        </p:nvSpPr>
        <p:spPr>
          <a:xfrm>
            <a:off x="3392424"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a:t>
            </a:r>
            <a:endParaRPr lang="en-US" sz="1300" dirty="0"/>
          </a:p>
        </p:txBody>
      </p:sp>
      <p:sp>
        <p:nvSpPr>
          <p:cNvPr id="46" name="Text 44"/>
          <p:cNvSpPr txBox="1"/>
          <p:nvPr/>
        </p:nvSpPr>
        <p:spPr>
          <a:xfrm>
            <a:off x="417880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$58K</a:t>
            </a:r>
            <a:endParaRPr lang="en-US" sz="1300" dirty="0"/>
          </a:p>
        </p:txBody>
      </p:sp>
      <p:sp>
        <p:nvSpPr>
          <p:cNvPr id="47" name="Text 45"/>
          <p:cNvSpPr txBox="1"/>
          <p:nvPr/>
        </p:nvSpPr>
        <p:spPr>
          <a:xfrm>
            <a:off x="504748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$288K</a:t>
            </a:r>
            <a:endParaRPr lang="en-US" sz="1300" dirty="0"/>
          </a:p>
        </p:txBody>
      </p:sp>
      <p:sp>
        <p:nvSpPr>
          <p:cNvPr id="48" name="Text 46"/>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9" name="Text 47"/>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50" name="Shape 48"/>
          <p:cNvSpPr/>
          <p:nvPr/>
        </p:nvSpPr>
        <p:spPr>
          <a:xfrm>
            <a:off x="2871216" y="3247707"/>
            <a:ext cx="286413" cy="136676"/>
          </a:xfrm>
          <a:prstGeom prst="rect">
            <a:avLst/>
          </a:prstGeom>
          <a:solidFill>
            <a:srgbClr val="C2352F"/>
          </a:solidFill>
          <a:ln/>
        </p:spPr>
      </p:sp>
      <p:sp>
        <p:nvSpPr>
          <p:cNvPr id="51" name="Text 49"/>
          <p:cNvSpPr txBox="1"/>
          <p:nvPr/>
        </p:nvSpPr>
        <p:spPr>
          <a:xfrm>
            <a:off x="3392424"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a:t>
            </a:r>
            <a:endParaRPr lang="en-US" sz="1300" dirty="0"/>
          </a:p>
        </p:txBody>
      </p:sp>
      <p:sp>
        <p:nvSpPr>
          <p:cNvPr id="52" name="Text 50"/>
          <p:cNvSpPr txBox="1"/>
          <p:nvPr/>
        </p:nvSpPr>
        <p:spPr>
          <a:xfrm>
            <a:off x="417880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$39K</a:t>
            </a:r>
            <a:endParaRPr lang="en-US" sz="1300" dirty="0"/>
          </a:p>
        </p:txBody>
      </p:sp>
      <p:sp>
        <p:nvSpPr>
          <p:cNvPr id="53" name="Text 51"/>
          <p:cNvSpPr txBox="1"/>
          <p:nvPr/>
        </p:nvSpPr>
        <p:spPr>
          <a:xfrm>
            <a:off x="504748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$202K</a:t>
            </a:r>
            <a:endParaRPr lang="en-US" sz="1300" dirty="0"/>
          </a:p>
        </p:txBody>
      </p:sp>
      <p:sp>
        <p:nvSpPr>
          <p:cNvPr id="54" name="Text 52"/>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5" name="Text 53"/>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56" name="Shape 54"/>
          <p:cNvSpPr/>
          <p:nvPr/>
        </p:nvSpPr>
        <p:spPr>
          <a:xfrm>
            <a:off x="2871216" y="3496208"/>
            <a:ext cx="277524" cy="136676"/>
          </a:xfrm>
          <a:prstGeom prst="rect">
            <a:avLst/>
          </a:prstGeom>
          <a:solidFill>
            <a:srgbClr val="C2352F"/>
          </a:solidFill>
          <a:ln/>
        </p:spPr>
      </p:sp>
      <p:sp>
        <p:nvSpPr>
          <p:cNvPr id="57" name="Text 55"/>
          <p:cNvSpPr txBox="1"/>
          <p:nvPr/>
        </p:nvSpPr>
        <p:spPr>
          <a:xfrm>
            <a:off x="3392424"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a:t>
            </a:r>
            <a:endParaRPr lang="en-US" sz="1300" dirty="0"/>
          </a:p>
        </p:txBody>
      </p:sp>
      <p:sp>
        <p:nvSpPr>
          <p:cNvPr id="58" name="Text 56"/>
          <p:cNvSpPr txBox="1"/>
          <p:nvPr/>
        </p:nvSpPr>
        <p:spPr>
          <a:xfrm>
            <a:off x="417880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$21K</a:t>
            </a:r>
            <a:endParaRPr lang="en-US" sz="1300" dirty="0"/>
          </a:p>
        </p:txBody>
      </p:sp>
      <p:sp>
        <p:nvSpPr>
          <p:cNvPr id="59" name="Text 57"/>
          <p:cNvSpPr txBox="1"/>
          <p:nvPr/>
        </p:nvSpPr>
        <p:spPr>
          <a:xfrm>
            <a:off x="504748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$109K</a:t>
            </a:r>
            <a:endParaRPr lang="en-US" sz="1300" dirty="0"/>
          </a:p>
        </p:txBody>
      </p:sp>
      <p:sp>
        <p:nvSpPr>
          <p:cNvPr id="60" name="Text 58"/>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1" name="Text 59"/>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62" name="Shape 60"/>
          <p:cNvSpPr/>
          <p:nvPr/>
        </p:nvSpPr>
        <p:spPr>
          <a:xfrm>
            <a:off x="2871216" y="3744710"/>
            <a:ext cx="270873" cy="136676"/>
          </a:xfrm>
          <a:prstGeom prst="rect">
            <a:avLst/>
          </a:prstGeom>
          <a:solidFill>
            <a:srgbClr val="C2352F"/>
          </a:solidFill>
          <a:ln/>
        </p:spPr>
      </p:sp>
      <p:sp>
        <p:nvSpPr>
          <p:cNvPr id="63" name="Text 61"/>
          <p:cNvSpPr txBox="1"/>
          <p:nvPr/>
        </p:nvSpPr>
        <p:spPr>
          <a:xfrm>
            <a:off x="3392424"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a:t>
            </a:r>
            <a:endParaRPr lang="en-US" sz="1300" dirty="0"/>
          </a:p>
        </p:txBody>
      </p:sp>
      <p:sp>
        <p:nvSpPr>
          <p:cNvPr id="64" name="Text 62"/>
          <p:cNvSpPr txBox="1"/>
          <p:nvPr/>
        </p:nvSpPr>
        <p:spPr>
          <a:xfrm>
            <a:off x="417880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$34K</a:t>
            </a:r>
            <a:endParaRPr lang="en-US" sz="1300" dirty="0"/>
          </a:p>
        </p:txBody>
      </p:sp>
      <p:sp>
        <p:nvSpPr>
          <p:cNvPr id="65" name="Text 63"/>
          <p:cNvSpPr txBox="1"/>
          <p:nvPr/>
        </p:nvSpPr>
        <p:spPr>
          <a:xfrm>
            <a:off x="504748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$185K</a:t>
            </a:r>
            <a:endParaRPr lang="en-US" sz="1300" dirty="0"/>
          </a:p>
        </p:txBody>
      </p:sp>
      <p:sp>
        <p:nvSpPr>
          <p:cNvPr id="66" name="Text 64"/>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7" name="Text 65"/>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68" name="Shape 66"/>
          <p:cNvSpPr/>
          <p:nvPr/>
        </p:nvSpPr>
        <p:spPr>
          <a:xfrm>
            <a:off x="2871216" y="3993212"/>
            <a:ext cx="217136" cy="136676"/>
          </a:xfrm>
          <a:prstGeom prst="rect">
            <a:avLst/>
          </a:prstGeom>
          <a:solidFill>
            <a:srgbClr val="C2352F"/>
          </a:solidFill>
          <a:ln/>
        </p:spPr>
      </p:sp>
      <p:sp>
        <p:nvSpPr>
          <p:cNvPr id="69" name="Text 67"/>
          <p:cNvSpPr txBox="1"/>
          <p:nvPr/>
        </p:nvSpPr>
        <p:spPr>
          <a:xfrm>
            <a:off x="3392424"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a:t>
            </a:r>
            <a:endParaRPr lang="en-US" sz="1300" dirty="0"/>
          </a:p>
        </p:txBody>
      </p:sp>
      <p:sp>
        <p:nvSpPr>
          <p:cNvPr id="70" name="Text 68"/>
          <p:cNvSpPr txBox="1"/>
          <p:nvPr/>
        </p:nvSpPr>
        <p:spPr>
          <a:xfrm>
            <a:off x="417880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$62K</a:t>
            </a:r>
            <a:endParaRPr lang="en-US" sz="1300" dirty="0"/>
          </a:p>
        </p:txBody>
      </p:sp>
      <p:sp>
        <p:nvSpPr>
          <p:cNvPr id="71" name="Text 69"/>
          <p:cNvSpPr txBox="1"/>
          <p:nvPr/>
        </p:nvSpPr>
        <p:spPr>
          <a:xfrm>
            <a:off x="504748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$417K</a:t>
            </a:r>
            <a:endParaRPr lang="en-US" sz="1300" dirty="0"/>
          </a:p>
        </p:txBody>
      </p:sp>
      <p:sp>
        <p:nvSpPr>
          <p:cNvPr id="72" name="Text 7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3" name="Text 71"/>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74" name="Shape 72"/>
          <p:cNvSpPr/>
          <p:nvPr/>
        </p:nvSpPr>
        <p:spPr>
          <a:xfrm>
            <a:off x="2871216" y="4241713"/>
            <a:ext cx="210283" cy="136676"/>
          </a:xfrm>
          <a:prstGeom prst="rect">
            <a:avLst/>
          </a:prstGeom>
          <a:solidFill>
            <a:srgbClr val="C2352F"/>
          </a:solidFill>
          <a:ln/>
        </p:spPr>
      </p:sp>
      <p:sp>
        <p:nvSpPr>
          <p:cNvPr id="75" name="Text 73"/>
          <p:cNvSpPr txBox="1"/>
          <p:nvPr/>
        </p:nvSpPr>
        <p:spPr>
          <a:xfrm>
            <a:off x="3392424"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a:t>
            </a:r>
            <a:endParaRPr lang="en-US" sz="1300" dirty="0"/>
          </a:p>
        </p:txBody>
      </p:sp>
      <p:sp>
        <p:nvSpPr>
          <p:cNvPr id="76" name="Text 74"/>
          <p:cNvSpPr txBox="1"/>
          <p:nvPr/>
        </p:nvSpPr>
        <p:spPr>
          <a:xfrm>
            <a:off x="417880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$48K</a:t>
            </a:r>
            <a:endParaRPr lang="en-US" sz="1300" dirty="0"/>
          </a:p>
        </p:txBody>
      </p:sp>
      <p:sp>
        <p:nvSpPr>
          <p:cNvPr id="77" name="Text 75"/>
          <p:cNvSpPr txBox="1"/>
          <p:nvPr/>
        </p:nvSpPr>
        <p:spPr>
          <a:xfrm>
            <a:off x="504748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$333K</a:t>
            </a:r>
            <a:endParaRPr lang="en-US" sz="1300" dirty="0"/>
          </a:p>
        </p:txBody>
      </p:sp>
      <p:sp>
        <p:nvSpPr>
          <p:cNvPr id="78" name="Text 76"/>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9" name="Text 77"/>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80" name="Shape 78"/>
          <p:cNvSpPr/>
          <p:nvPr/>
        </p:nvSpPr>
        <p:spPr>
          <a:xfrm>
            <a:off x="2871216" y="4490215"/>
            <a:ext cx="199373" cy="136676"/>
          </a:xfrm>
          <a:prstGeom prst="rect">
            <a:avLst/>
          </a:prstGeom>
          <a:solidFill>
            <a:srgbClr val="C2352F"/>
          </a:solidFill>
          <a:ln/>
        </p:spPr>
      </p:sp>
      <p:sp>
        <p:nvSpPr>
          <p:cNvPr id="81" name="Text 79"/>
          <p:cNvSpPr txBox="1"/>
          <p:nvPr/>
        </p:nvSpPr>
        <p:spPr>
          <a:xfrm>
            <a:off x="3392424"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a:t>
            </a:r>
            <a:endParaRPr lang="en-US" sz="1300" dirty="0"/>
          </a:p>
        </p:txBody>
      </p:sp>
      <p:sp>
        <p:nvSpPr>
          <p:cNvPr id="82" name="Text 80"/>
          <p:cNvSpPr txBox="1"/>
          <p:nvPr/>
        </p:nvSpPr>
        <p:spPr>
          <a:xfrm>
            <a:off x="417880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$158K</a:t>
            </a:r>
            <a:endParaRPr lang="en-US" sz="1300" dirty="0"/>
          </a:p>
        </p:txBody>
      </p:sp>
      <p:sp>
        <p:nvSpPr>
          <p:cNvPr id="83" name="Text 81"/>
          <p:cNvSpPr txBox="1"/>
          <p:nvPr/>
        </p:nvSpPr>
        <p:spPr>
          <a:xfrm>
            <a:off x="504748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$1.16M</a:t>
            </a:r>
            <a:endParaRPr lang="en-US" sz="1300" dirty="0"/>
          </a:p>
        </p:txBody>
      </p:sp>
      <p:sp>
        <p:nvSpPr>
          <p:cNvPr id="84" name="Text 82"/>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5" name="Text 83"/>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6" name="Shape 84"/>
          <p:cNvSpPr/>
          <p:nvPr/>
        </p:nvSpPr>
        <p:spPr>
          <a:xfrm>
            <a:off x="2871216" y="4738717"/>
            <a:ext cx="197385" cy="136676"/>
          </a:xfrm>
          <a:prstGeom prst="rect">
            <a:avLst/>
          </a:prstGeom>
          <a:solidFill>
            <a:srgbClr val="C2352F"/>
          </a:solidFill>
          <a:ln/>
        </p:spPr>
      </p:sp>
      <p:sp>
        <p:nvSpPr>
          <p:cNvPr id="87" name="Text 85"/>
          <p:cNvSpPr txBox="1"/>
          <p:nvPr/>
        </p:nvSpPr>
        <p:spPr>
          <a:xfrm>
            <a:off x="3392424"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a:t>
            </a:r>
            <a:endParaRPr lang="en-US" sz="1300" dirty="0"/>
          </a:p>
        </p:txBody>
      </p:sp>
      <p:sp>
        <p:nvSpPr>
          <p:cNvPr id="88" name="Text 86"/>
          <p:cNvSpPr txBox="1"/>
          <p:nvPr/>
        </p:nvSpPr>
        <p:spPr>
          <a:xfrm>
            <a:off x="417880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$77K</a:t>
            </a:r>
            <a:endParaRPr lang="en-US" sz="1300" dirty="0"/>
          </a:p>
        </p:txBody>
      </p:sp>
      <p:sp>
        <p:nvSpPr>
          <p:cNvPr id="89" name="Text 87"/>
          <p:cNvSpPr txBox="1"/>
          <p:nvPr/>
        </p:nvSpPr>
        <p:spPr>
          <a:xfrm>
            <a:off x="504748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$573K</a:t>
            </a:r>
            <a:endParaRPr lang="en-US" sz="1300" dirty="0"/>
          </a:p>
        </p:txBody>
      </p:sp>
      <p:sp>
        <p:nvSpPr>
          <p:cNvPr id="90" name="Text 88"/>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1" name="Text 89"/>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92" name="Shape 90"/>
          <p:cNvSpPr/>
          <p:nvPr/>
        </p:nvSpPr>
        <p:spPr>
          <a:xfrm>
            <a:off x="2871216" y="4987218"/>
            <a:ext cx="169024" cy="136676"/>
          </a:xfrm>
          <a:prstGeom prst="rect">
            <a:avLst/>
          </a:prstGeom>
          <a:solidFill>
            <a:srgbClr val="C2352F"/>
          </a:solidFill>
          <a:ln/>
        </p:spPr>
      </p:sp>
      <p:sp>
        <p:nvSpPr>
          <p:cNvPr id="93" name="Text 91"/>
          <p:cNvSpPr txBox="1"/>
          <p:nvPr/>
        </p:nvSpPr>
        <p:spPr>
          <a:xfrm>
            <a:off x="3392424"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a:t>
            </a:r>
            <a:endParaRPr lang="en-US" sz="1300" dirty="0"/>
          </a:p>
        </p:txBody>
      </p:sp>
      <p:sp>
        <p:nvSpPr>
          <p:cNvPr id="94" name="Text 92"/>
          <p:cNvSpPr txBox="1"/>
          <p:nvPr/>
        </p:nvSpPr>
        <p:spPr>
          <a:xfrm>
            <a:off x="417880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$74K</a:t>
            </a:r>
            <a:endParaRPr lang="en-US" sz="1300" dirty="0"/>
          </a:p>
        </p:txBody>
      </p:sp>
      <p:sp>
        <p:nvSpPr>
          <p:cNvPr id="95" name="Text 93"/>
          <p:cNvSpPr txBox="1"/>
          <p:nvPr/>
        </p:nvSpPr>
        <p:spPr>
          <a:xfrm>
            <a:off x="504748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$643K</a:t>
            </a:r>
            <a:endParaRPr lang="en-US" sz="1300" dirty="0"/>
          </a:p>
        </p:txBody>
      </p:sp>
      <p:sp>
        <p:nvSpPr>
          <p:cNvPr id="96" name="Text 94"/>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7" name="Text 95"/>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98" name="Shape 96"/>
          <p:cNvSpPr/>
          <p:nvPr/>
        </p:nvSpPr>
        <p:spPr>
          <a:xfrm>
            <a:off x="2871216" y="5235720"/>
            <a:ext cx="131586" cy="136676"/>
          </a:xfrm>
          <a:prstGeom prst="rect">
            <a:avLst/>
          </a:prstGeom>
          <a:solidFill>
            <a:srgbClr val="C2352F"/>
          </a:solidFill>
          <a:ln/>
        </p:spPr>
      </p:sp>
      <p:sp>
        <p:nvSpPr>
          <p:cNvPr id="99" name="Text 97"/>
          <p:cNvSpPr txBox="1"/>
          <p:nvPr/>
        </p:nvSpPr>
        <p:spPr>
          <a:xfrm>
            <a:off x="3392424"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a:t>
            </a:r>
            <a:endParaRPr lang="en-US" sz="1300" dirty="0"/>
          </a:p>
        </p:txBody>
      </p:sp>
      <p:sp>
        <p:nvSpPr>
          <p:cNvPr id="100" name="Text 98"/>
          <p:cNvSpPr txBox="1"/>
          <p:nvPr/>
        </p:nvSpPr>
        <p:spPr>
          <a:xfrm>
            <a:off x="417880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$63K</a:t>
            </a:r>
            <a:endParaRPr lang="en-US" sz="1300" dirty="0"/>
          </a:p>
        </p:txBody>
      </p:sp>
      <p:sp>
        <p:nvSpPr>
          <p:cNvPr id="101" name="Text 99"/>
          <p:cNvSpPr txBox="1"/>
          <p:nvPr/>
        </p:nvSpPr>
        <p:spPr>
          <a:xfrm>
            <a:off x="504748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$702K</a:t>
            </a:r>
            <a:endParaRPr lang="en-US" sz="1300" dirty="0"/>
          </a:p>
        </p:txBody>
      </p:sp>
      <p:sp>
        <p:nvSpPr>
          <p:cNvPr id="102" name="Text 100"/>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3" name="Text 101"/>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04" name="Shape 102"/>
          <p:cNvSpPr/>
          <p:nvPr/>
        </p:nvSpPr>
        <p:spPr>
          <a:xfrm>
            <a:off x="2871216" y="5484222"/>
            <a:ext cx="120839" cy="136676"/>
          </a:xfrm>
          <a:prstGeom prst="rect">
            <a:avLst/>
          </a:prstGeom>
          <a:solidFill>
            <a:srgbClr val="C2352F"/>
          </a:solidFill>
          <a:ln/>
        </p:spPr>
      </p:sp>
      <p:sp>
        <p:nvSpPr>
          <p:cNvPr id="105" name="Text 103"/>
          <p:cNvSpPr txBox="1"/>
          <p:nvPr/>
        </p:nvSpPr>
        <p:spPr>
          <a:xfrm>
            <a:off x="3392424"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06" name="Text 104"/>
          <p:cNvSpPr txBox="1"/>
          <p:nvPr/>
        </p:nvSpPr>
        <p:spPr>
          <a:xfrm>
            <a:off x="417880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$102K</a:t>
            </a:r>
            <a:endParaRPr lang="en-US" sz="1300" dirty="0"/>
          </a:p>
        </p:txBody>
      </p:sp>
      <p:sp>
        <p:nvSpPr>
          <p:cNvPr id="107" name="Text 105"/>
          <p:cNvSpPr txBox="1"/>
          <p:nvPr/>
        </p:nvSpPr>
        <p:spPr>
          <a:xfrm>
            <a:off x="504748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$1.23M</a:t>
            </a:r>
            <a:endParaRPr lang="en-US" sz="1300" dirty="0"/>
          </a:p>
        </p:txBody>
      </p:sp>
      <p:sp>
        <p:nvSpPr>
          <p:cNvPr id="108" name="Text 106"/>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9" name="Text 107"/>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10" name="Shape 108"/>
          <p:cNvSpPr/>
          <p:nvPr/>
        </p:nvSpPr>
        <p:spPr>
          <a:xfrm>
            <a:off x="2871216" y="5732723"/>
            <a:ext cx="116857" cy="136676"/>
          </a:xfrm>
          <a:prstGeom prst="rect">
            <a:avLst/>
          </a:prstGeom>
          <a:solidFill>
            <a:srgbClr val="C2352F"/>
          </a:solidFill>
          <a:ln/>
        </p:spPr>
      </p:sp>
      <p:sp>
        <p:nvSpPr>
          <p:cNvPr id="111" name="Text 109"/>
          <p:cNvSpPr txBox="1"/>
          <p:nvPr/>
        </p:nvSpPr>
        <p:spPr>
          <a:xfrm>
            <a:off x="3392424" y="567681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12" name="Text 110"/>
          <p:cNvSpPr txBox="1"/>
          <p:nvPr/>
        </p:nvSpPr>
        <p:spPr>
          <a:xfrm>
            <a:off x="417880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$21K</a:t>
            </a:r>
            <a:endParaRPr lang="en-US" sz="1300" dirty="0"/>
          </a:p>
        </p:txBody>
      </p:sp>
      <p:sp>
        <p:nvSpPr>
          <p:cNvPr id="113" name="Text 111"/>
          <p:cNvSpPr txBox="1"/>
          <p:nvPr/>
        </p:nvSpPr>
        <p:spPr>
          <a:xfrm>
            <a:off x="504748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$257K</a:t>
            </a:r>
            <a:endParaRPr lang="en-US" sz="1300" dirty="0"/>
          </a:p>
        </p:txBody>
      </p:sp>
      <p:sp>
        <p:nvSpPr>
          <p:cNvPr id="114" name="Text 112"/>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15" name="Text 113"/>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16" name="Shape 114"/>
          <p:cNvSpPr/>
          <p:nvPr/>
        </p:nvSpPr>
        <p:spPr>
          <a:xfrm>
            <a:off x="8421624" y="1756697"/>
            <a:ext cx="116484" cy="136676"/>
          </a:xfrm>
          <a:prstGeom prst="rect">
            <a:avLst/>
          </a:prstGeom>
          <a:solidFill>
            <a:srgbClr val="C2352F"/>
          </a:solidFill>
          <a:ln/>
        </p:spPr>
      </p:sp>
      <p:sp>
        <p:nvSpPr>
          <p:cNvPr id="117" name="Text 115"/>
          <p:cNvSpPr txBox="1"/>
          <p:nvPr/>
        </p:nvSpPr>
        <p:spPr>
          <a:xfrm>
            <a:off x="8942832"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18" name="Text 116"/>
          <p:cNvSpPr txBox="1"/>
          <p:nvPr/>
        </p:nvSpPr>
        <p:spPr>
          <a:xfrm>
            <a:off x="972921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$42K</a:t>
            </a:r>
            <a:endParaRPr lang="en-US" sz="1300" dirty="0"/>
          </a:p>
        </p:txBody>
      </p:sp>
      <p:sp>
        <p:nvSpPr>
          <p:cNvPr id="119" name="Text 117"/>
          <p:cNvSpPr txBox="1"/>
          <p:nvPr/>
        </p:nvSpPr>
        <p:spPr>
          <a:xfrm>
            <a:off x="1059789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$532K</a:t>
            </a:r>
            <a:endParaRPr lang="en-US" sz="1300" dirty="0"/>
          </a:p>
        </p:txBody>
      </p:sp>
      <p:sp>
        <p:nvSpPr>
          <p:cNvPr id="120" name="Text 118"/>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1" name="Text 119"/>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22" name="Shape 120"/>
          <p:cNvSpPr/>
          <p:nvPr/>
        </p:nvSpPr>
        <p:spPr>
          <a:xfrm>
            <a:off x="8421624" y="2005199"/>
            <a:ext cx="115541" cy="136676"/>
          </a:xfrm>
          <a:prstGeom prst="rect">
            <a:avLst/>
          </a:prstGeom>
          <a:solidFill>
            <a:srgbClr val="C2352F"/>
          </a:solidFill>
          <a:ln/>
        </p:spPr>
      </p:sp>
      <p:sp>
        <p:nvSpPr>
          <p:cNvPr id="123" name="Text 121"/>
          <p:cNvSpPr txBox="1"/>
          <p:nvPr/>
        </p:nvSpPr>
        <p:spPr>
          <a:xfrm>
            <a:off x="8942832"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24" name="Text 122"/>
          <p:cNvSpPr txBox="1"/>
          <p:nvPr/>
        </p:nvSpPr>
        <p:spPr>
          <a:xfrm>
            <a:off x="972921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$32K</a:t>
            </a:r>
            <a:endParaRPr lang="en-US" sz="1300" dirty="0"/>
          </a:p>
        </p:txBody>
      </p:sp>
      <p:sp>
        <p:nvSpPr>
          <p:cNvPr id="125" name="Text 123"/>
          <p:cNvSpPr txBox="1"/>
          <p:nvPr/>
        </p:nvSpPr>
        <p:spPr>
          <a:xfrm>
            <a:off x="1059789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$400K</a:t>
            </a:r>
            <a:endParaRPr lang="en-US" sz="1300" dirty="0"/>
          </a:p>
        </p:txBody>
      </p:sp>
      <p:sp>
        <p:nvSpPr>
          <p:cNvPr id="126" name="Text 124"/>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7" name="Text 125"/>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8" name="Shape 126"/>
          <p:cNvSpPr/>
          <p:nvPr/>
        </p:nvSpPr>
        <p:spPr>
          <a:xfrm>
            <a:off x="8421624" y="2253700"/>
            <a:ext cx="111161" cy="136676"/>
          </a:xfrm>
          <a:prstGeom prst="rect">
            <a:avLst/>
          </a:prstGeom>
          <a:solidFill>
            <a:srgbClr val="C2352F"/>
          </a:solidFill>
          <a:ln/>
        </p:spPr>
      </p:sp>
      <p:sp>
        <p:nvSpPr>
          <p:cNvPr id="129" name="Text 127"/>
          <p:cNvSpPr txBox="1"/>
          <p:nvPr/>
        </p:nvSpPr>
        <p:spPr>
          <a:xfrm>
            <a:off x="8942832"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30" name="Text 128"/>
          <p:cNvSpPr txBox="1"/>
          <p:nvPr/>
        </p:nvSpPr>
        <p:spPr>
          <a:xfrm>
            <a:off x="972921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$24K</a:t>
            </a:r>
            <a:endParaRPr lang="en-US" sz="1300" dirty="0"/>
          </a:p>
        </p:txBody>
      </p:sp>
      <p:sp>
        <p:nvSpPr>
          <p:cNvPr id="131" name="Text 129"/>
          <p:cNvSpPr txBox="1"/>
          <p:nvPr/>
        </p:nvSpPr>
        <p:spPr>
          <a:xfrm>
            <a:off x="1059789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$312K</a:t>
            </a:r>
            <a:endParaRPr lang="en-US" sz="1300" dirty="0"/>
          </a:p>
        </p:txBody>
      </p:sp>
      <p:sp>
        <p:nvSpPr>
          <p:cNvPr id="132" name="Text 13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4" name="Shape 132"/>
          <p:cNvSpPr/>
          <p:nvPr/>
        </p:nvSpPr>
        <p:spPr>
          <a:xfrm>
            <a:off x="8421624" y="2502202"/>
            <a:ext cx="84754" cy="136676"/>
          </a:xfrm>
          <a:prstGeom prst="rect">
            <a:avLst/>
          </a:prstGeom>
          <a:solidFill>
            <a:srgbClr val="C2352F"/>
          </a:solidFill>
          <a:ln/>
        </p:spPr>
      </p:sp>
      <p:sp>
        <p:nvSpPr>
          <p:cNvPr id="135" name="Text 133"/>
          <p:cNvSpPr txBox="1"/>
          <p:nvPr/>
        </p:nvSpPr>
        <p:spPr>
          <a:xfrm>
            <a:off x="8942832"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a:t>
            </a:r>
            <a:endParaRPr lang="en-US" sz="1300" dirty="0"/>
          </a:p>
        </p:txBody>
      </p:sp>
      <p:sp>
        <p:nvSpPr>
          <p:cNvPr id="136" name="Text 134"/>
          <p:cNvSpPr txBox="1"/>
          <p:nvPr/>
        </p:nvSpPr>
        <p:spPr>
          <a:xfrm>
            <a:off x="972921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$22K</a:t>
            </a:r>
            <a:endParaRPr lang="en-US" sz="1300" dirty="0"/>
          </a:p>
        </p:txBody>
      </p:sp>
      <p:sp>
        <p:nvSpPr>
          <p:cNvPr id="137" name="Text 135"/>
          <p:cNvSpPr txBox="1"/>
          <p:nvPr/>
        </p:nvSpPr>
        <p:spPr>
          <a:xfrm>
            <a:off x="1059789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$382K</a:t>
            </a:r>
            <a:endParaRPr lang="en-US" sz="1300" dirty="0"/>
          </a:p>
        </p:txBody>
      </p:sp>
      <p:sp>
        <p:nvSpPr>
          <p:cNvPr id="138" name="Text 136"/>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40" name="Shape 138"/>
          <p:cNvSpPr/>
          <p:nvPr/>
        </p:nvSpPr>
        <p:spPr>
          <a:xfrm>
            <a:off x="8421624" y="2750703"/>
            <a:ext cx="75701" cy="136676"/>
          </a:xfrm>
          <a:prstGeom prst="rect">
            <a:avLst/>
          </a:prstGeom>
          <a:solidFill>
            <a:srgbClr val="C2352F"/>
          </a:solidFill>
          <a:ln/>
        </p:spPr>
      </p:sp>
      <p:sp>
        <p:nvSpPr>
          <p:cNvPr id="141" name="Text 139"/>
          <p:cNvSpPr txBox="1"/>
          <p:nvPr/>
        </p:nvSpPr>
        <p:spPr>
          <a:xfrm>
            <a:off x="8942832"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a:t>
            </a:r>
            <a:endParaRPr lang="en-US" sz="1300" dirty="0"/>
          </a:p>
        </p:txBody>
      </p:sp>
      <p:sp>
        <p:nvSpPr>
          <p:cNvPr id="142" name="Text 140"/>
          <p:cNvSpPr txBox="1"/>
          <p:nvPr/>
        </p:nvSpPr>
        <p:spPr>
          <a:xfrm>
            <a:off x="972921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$87K</a:t>
            </a:r>
            <a:endParaRPr lang="en-US" sz="1300" dirty="0"/>
          </a:p>
        </p:txBody>
      </p:sp>
      <p:sp>
        <p:nvSpPr>
          <p:cNvPr id="143" name="Text 141"/>
          <p:cNvSpPr txBox="1"/>
          <p:nvPr/>
        </p:nvSpPr>
        <p:spPr>
          <a:xfrm>
            <a:off x="1059789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$1.69M</a:t>
            </a:r>
            <a:endParaRPr lang="en-US" sz="1300" dirty="0"/>
          </a:p>
        </p:txBody>
      </p:sp>
      <p:sp>
        <p:nvSpPr>
          <p:cNvPr id="144" name="Text 142"/>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5" name="Text 143"/>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46" name="Shape 144"/>
          <p:cNvSpPr/>
          <p:nvPr/>
        </p:nvSpPr>
        <p:spPr>
          <a:xfrm>
            <a:off x="8421624" y="2999205"/>
            <a:ext cx="69750" cy="136676"/>
          </a:xfrm>
          <a:prstGeom prst="rect">
            <a:avLst/>
          </a:prstGeom>
          <a:solidFill>
            <a:srgbClr val="C2352F"/>
          </a:solidFill>
          <a:ln/>
        </p:spPr>
      </p:sp>
      <p:sp>
        <p:nvSpPr>
          <p:cNvPr id="147" name="Text 145"/>
          <p:cNvSpPr txBox="1"/>
          <p:nvPr/>
        </p:nvSpPr>
        <p:spPr>
          <a:xfrm>
            <a:off x="8942832"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a:t>
            </a:r>
            <a:endParaRPr lang="en-US" sz="1300" dirty="0"/>
          </a:p>
        </p:txBody>
      </p:sp>
      <p:sp>
        <p:nvSpPr>
          <p:cNvPr id="148" name="Text 146"/>
          <p:cNvSpPr txBox="1"/>
          <p:nvPr/>
        </p:nvSpPr>
        <p:spPr>
          <a:xfrm>
            <a:off x="972921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$25K</a:t>
            </a:r>
            <a:endParaRPr lang="en-US" sz="1300" dirty="0"/>
          </a:p>
        </p:txBody>
      </p:sp>
      <p:sp>
        <p:nvSpPr>
          <p:cNvPr id="149" name="Text 147"/>
          <p:cNvSpPr txBox="1"/>
          <p:nvPr/>
        </p:nvSpPr>
        <p:spPr>
          <a:xfrm>
            <a:off x="1059789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$516K</a:t>
            </a:r>
            <a:endParaRPr lang="en-US" sz="1300" dirty="0"/>
          </a:p>
        </p:txBody>
      </p:sp>
      <p:sp>
        <p:nvSpPr>
          <p:cNvPr id="150" name="Text 148"/>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1" name="Text 149"/>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52" name="Shape 150"/>
          <p:cNvSpPr/>
          <p:nvPr/>
        </p:nvSpPr>
        <p:spPr>
          <a:xfrm>
            <a:off x="8421624" y="3247707"/>
            <a:ext cx="61333" cy="136676"/>
          </a:xfrm>
          <a:prstGeom prst="rect">
            <a:avLst/>
          </a:prstGeom>
          <a:solidFill>
            <a:srgbClr val="C2352F"/>
          </a:solidFill>
          <a:ln/>
        </p:spPr>
      </p:sp>
      <p:sp>
        <p:nvSpPr>
          <p:cNvPr id="153" name="Text 151"/>
          <p:cNvSpPr txBox="1"/>
          <p:nvPr/>
        </p:nvSpPr>
        <p:spPr>
          <a:xfrm>
            <a:off x="8942832"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a:t>
            </a:r>
            <a:endParaRPr lang="en-US" sz="1300" dirty="0"/>
          </a:p>
        </p:txBody>
      </p:sp>
      <p:sp>
        <p:nvSpPr>
          <p:cNvPr id="154" name="Text 152"/>
          <p:cNvSpPr txBox="1"/>
          <p:nvPr/>
        </p:nvSpPr>
        <p:spPr>
          <a:xfrm>
            <a:off x="972921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$15K</a:t>
            </a:r>
            <a:endParaRPr lang="en-US" sz="1300" dirty="0"/>
          </a:p>
        </p:txBody>
      </p:sp>
      <p:sp>
        <p:nvSpPr>
          <p:cNvPr id="155" name="Text 153"/>
          <p:cNvSpPr txBox="1"/>
          <p:nvPr/>
        </p:nvSpPr>
        <p:spPr>
          <a:xfrm>
            <a:off x="1059789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$357K</a:t>
            </a:r>
            <a:endParaRPr lang="en-US" sz="1300" dirty="0"/>
          </a:p>
        </p:txBody>
      </p:sp>
      <p:sp>
        <p:nvSpPr>
          <p:cNvPr id="156" name="Text 154"/>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57" name="Text 155"/>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58" name="Shape 156"/>
          <p:cNvSpPr/>
          <p:nvPr/>
        </p:nvSpPr>
        <p:spPr>
          <a:xfrm>
            <a:off x="8421624" y="3496208"/>
            <a:ext cx="59486" cy="136676"/>
          </a:xfrm>
          <a:prstGeom prst="rect">
            <a:avLst/>
          </a:prstGeom>
          <a:solidFill>
            <a:srgbClr val="C2352F"/>
          </a:solidFill>
          <a:ln/>
        </p:spPr>
      </p:sp>
      <p:sp>
        <p:nvSpPr>
          <p:cNvPr id="159" name="Text 157"/>
          <p:cNvSpPr txBox="1"/>
          <p:nvPr/>
        </p:nvSpPr>
        <p:spPr>
          <a:xfrm>
            <a:off x="8942832"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a:t>
            </a:r>
            <a:endParaRPr lang="en-US" sz="1300" dirty="0"/>
          </a:p>
        </p:txBody>
      </p:sp>
      <p:sp>
        <p:nvSpPr>
          <p:cNvPr id="160" name="Text 158"/>
          <p:cNvSpPr txBox="1"/>
          <p:nvPr/>
        </p:nvSpPr>
        <p:spPr>
          <a:xfrm>
            <a:off x="972921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$44K</a:t>
            </a:r>
            <a:endParaRPr lang="en-US" sz="1300" dirty="0"/>
          </a:p>
        </p:txBody>
      </p:sp>
      <p:sp>
        <p:nvSpPr>
          <p:cNvPr id="161" name="Text 159"/>
          <p:cNvSpPr txBox="1"/>
          <p:nvPr/>
        </p:nvSpPr>
        <p:spPr>
          <a:xfrm>
            <a:off x="1059789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$1.07M</a:t>
            </a:r>
            <a:endParaRPr lang="en-US" sz="1300" dirty="0"/>
          </a:p>
        </p:txBody>
      </p:sp>
      <p:sp>
        <p:nvSpPr>
          <p:cNvPr id="162" name="Text 160"/>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3" name="Text 161"/>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64" name="Shape 162"/>
          <p:cNvSpPr/>
          <p:nvPr/>
        </p:nvSpPr>
        <p:spPr>
          <a:xfrm>
            <a:off x="8421624" y="3744710"/>
            <a:ext cx="58291" cy="136676"/>
          </a:xfrm>
          <a:prstGeom prst="rect">
            <a:avLst/>
          </a:prstGeom>
          <a:solidFill>
            <a:srgbClr val="C2352F"/>
          </a:solidFill>
          <a:ln/>
        </p:spPr>
      </p:sp>
      <p:sp>
        <p:nvSpPr>
          <p:cNvPr id="165" name="Text 163"/>
          <p:cNvSpPr txBox="1"/>
          <p:nvPr/>
        </p:nvSpPr>
        <p:spPr>
          <a:xfrm>
            <a:off x="8942832"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a:t>
            </a:r>
            <a:endParaRPr lang="en-US" sz="1300" dirty="0"/>
          </a:p>
        </p:txBody>
      </p:sp>
      <p:sp>
        <p:nvSpPr>
          <p:cNvPr id="166" name="Text 164"/>
          <p:cNvSpPr txBox="1"/>
          <p:nvPr/>
        </p:nvSpPr>
        <p:spPr>
          <a:xfrm>
            <a:off x="972921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$20K</a:t>
            </a:r>
            <a:endParaRPr lang="en-US" sz="1300" dirty="0"/>
          </a:p>
        </p:txBody>
      </p:sp>
      <p:sp>
        <p:nvSpPr>
          <p:cNvPr id="167" name="Text 165"/>
          <p:cNvSpPr txBox="1"/>
          <p:nvPr/>
        </p:nvSpPr>
        <p:spPr>
          <a:xfrm>
            <a:off x="1059789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$504K</a:t>
            </a:r>
            <a:endParaRPr lang="en-US" sz="1300" dirty="0"/>
          </a:p>
        </p:txBody>
      </p:sp>
      <p:sp>
        <p:nvSpPr>
          <p:cNvPr id="168" name="Text 166"/>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69" name="Text 167"/>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70" name="Shape 168"/>
          <p:cNvSpPr/>
          <p:nvPr/>
        </p:nvSpPr>
        <p:spPr>
          <a:xfrm>
            <a:off x="8421624" y="3993212"/>
            <a:ext cx="42032" cy="136676"/>
          </a:xfrm>
          <a:prstGeom prst="rect">
            <a:avLst/>
          </a:prstGeom>
          <a:solidFill>
            <a:srgbClr val="C2352F"/>
          </a:solidFill>
          <a:ln/>
        </p:spPr>
      </p:sp>
      <p:sp>
        <p:nvSpPr>
          <p:cNvPr id="171" name="Text 169"/>
          <p:cNvSpPr txBox="1"/>
          <p:nvPr/>
        </p:nvSpPr>
        <p:spPr>
          <a:xfrm>
            <a:off x="8942832"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a:t>
            </a:r>
            <a:endParaRPr lang="en-US" sz="1300" dirty="0"/>
          </a:p>
        </p:txBody>
      </p:sp>
      <p:sp>
        <p:nvSpPr>
          <p:cNvPr id="172" name="Text 170"/>
          <p:cNvSpPr txBox="1"/>
          <p:nvPr/>
        </p:nvSpPr>
        <p:spPr>
          <a:xfrm>
            <a:off x="972921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$70K</a:t>
            </a:r>
            <a:endParaRPr lang="en-US" sz="1300" dirty="0"/>
          </a:p>
        </p:txBody>
      </p:sp>
      <p:sp>
        <p:nvSpPr>
          <p:cNvPr id="173" name="Text 171"/>
          <p:cNvSpPr txBox="1"/>
          <p:nvPr/>
        </p:nvSpPr>
        <p:spPr>
          <a:xfrm>
            <a:off x="1059789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$2.44M</a:t>
            </a:r>
            <a:endParaRPr lang="en-US" sz="1300" dirty="0"/>
          </a:p>
        </p:txBody>
      </p:sp>
      <p:sp>
        <p:nvSpPr>
          <p:cNvPr id="174" name="Text 172"/>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75" name="Text 173"/>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76" name="Shape 174"/>
          <p:cNvSpPr/>
          <p:nvPr/>
        </p:nvSpPr>
        <p:spPr>
          <a:xfrm>
            <a:off x="8421624" y="4241713"/>
            <a:ext cx="38916" cy="136676"/>
          </a:xfrm>
          <a:prstGeom prst="rect">
            <a:avLst/>
          </a:prstGeom>
          <a:solidFill>
            <a:srgbClr val="C2352F"/>
          </a:solidFill>
          <a:ln/>
        </p:spPr>
      </p:sp>
      <p:sp>
        <p:nvSpPr>
          <p:cNvPr id="177" name="Text 175"/>
          <p:cNvSpPr txBox="1"/>
          <p:nvPr/>
        </p:nvSpPr>
        <p:spPr>
          <a:xfrm>
            <a:off x="8942832"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a:t>
            </a:r>
            <a:endParaRPr lang="en-US" sz="1300" dirty="0"/>
          </a:p>
        </p:txBody>
      </p:sp>
      <p:sp>
        <p:nvSpPr>
          <p:cNvPr id="178" name="Text 176"/>
          <p:cNvSpPr txBox="1"/>
          <p:nvPr/>
        </p:nvSpPr>
        <p:spPr>
          <a:xfrm>
            <a:off x="972921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$9K</a:t>
            </a:r>
            <a:endParaRPr lang="en-US" sz="1300" dirty="0"/>
          </a:p>
        </p:txBody>
      </p:sp>
      <p:sp>
        <p:nvSpPr>
          <p:cNvPr id="179" name="Text 177"/>
          <p:cNvSpPr txBox="1"/>
          <p:nvPr/>
        </p:nvSpPr>
        <p:spPr>
          <a:xfrm>
            <a:off x="1059789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$322K</a:t>
            </a:r>
            <a:endParaRPr lang="en-US" sz="1300" dirty="0"/>
          </a:p>
        </p:txBody>
      </p:sp>
      <p:sp>
        <p:nvSpPr>
          <p:cNvPr id="180" name="Text 178"/>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1" name="Text 179"/>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82" name="Shape 180"/>
          <p:cNvSpPr/>
          <p:nvPr/>
        </p:nvSpPr>
        <p:spPr>
          <a:xfrm>
            <a:off x="8421624" y="4490215"/>
            <a:ext cx="28242" cy="136676"/>
          </a:xfrm>
          <a:prstGeom prst="rect">
            <a:avLst/>
          </a:prstGeom>
          <a:solidFill>
            <a:srgbClr val="C2352F"/>
          </a:solidFill>
          <a:ln/>
        </p:spPr>
      </p:sp>
      <p:sp>
        <p:nvSpPr>
          <p:cNvPr id="183" name="Text 181"/>
          <p:cNvSpPr txBox="1"/>
          <p:nvPr/>
        </p:nvSpPr>
        <p:spPr>
          <a:xfrm>
            <a:off x="8942832"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a:t>
            </a:r>
            <a:endParaRPr lang="en-US" sz="1300" dirty="0"/>
          </a:p>
        </p:txBody>
      </p:sp>
      <p:sp>
        <p:nvSpPr>
          <p:cNvPr id="184" name="Text 182"/>
          <p:cNvSpPr txBox="1"/>
          <p:nvPr/>
        </p:nvSpPr>
        <p:spPr>
          <a:xfrm>
            <a:off x="972921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$10K</a:t>
            </a:r>
            <a:endParaRPr lang="en-US" sz="1300" dirty="0"/>
          </a:p>
        </p:txBody>
      </p:sp>
      <p:sp>
        <p:nvSpPr>
          <p:cNvPr id="185" name="Text 183"/>
          <p:cNvSpPr txBox="1"/>
          <p:nvPr/>
        </p:nvSpPr>
        <p:spPr>
          <a:xfrm>
            <a:off x="1059789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$542K</a:t>
            </a:r>
            <a:endParaRPr lang="en-US" sz="1300" dirty="0"/>
          </a:p>
        </p:txBody>
      </p:sp>
      <p:sp>
        <p:nvSpPr>
          <p:cNvPr id="186" name="Text 184"/>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87" name="Text 185"/>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88" name="Shape 186"/>
          <p:cNvSpPr/>
          <p:nvPr/>
        </p:nvSpPr>
        <p:spPr>
          <a:xfrm>
            <a:off x="8421624" y="4738717"/>
            <a:ext cx="27287" cy="136676"/>
          </a:xfrm>
          <a:prstGeom prst="rect">
            <a:avLst/>
          </a:prstGeom>
          <a:solidFill>
            <a:srgbClr val="C2352F"/>
          </a:solidFill>
          <a:ln/>
        </p:spPr>
      </p:sp>
      <p:sp>
        <p:nvSpPr>
          <p:cNvPr id="189" name="Text 187"/>
          <p:cNvSpPr txBox="1"/>
          <p:nvPr/>
        </p:nvSpPr>
        <p:spPr>
          <a:xfrm>
            <a:off x="8942832"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a:t>
            </a:r>
            <a:endParaRPr lang="en-US" sz="1300" dirty="0"/>
          </a:p>
        </p:txBody>
      </p:sp>
      <p:sp>
        <p:nvSpPr>
          <p:cNvPr id="190" name="Text 188"/>
          <p:cNvSpPr txBox="1"/>
          <p:nvPr/>
        </p:nvSpPr>
        <p:spPr>
          <a:xfrm>
            <a:off x="972921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$11K</a:t>
            </a:r>
            <a:endParaRPr lang="en-US" sz="1300" dirty="0"/>
          </a:p>
        </p:txBody>
      </p:sp>
      <p:sp>
        <p:nvSpPr>
          <p:cNvPr id="191" name="Text 189"/>
          <p:cNvSpPr txBox="1"/>
          <p:nvPr/>
        </p:nvSpPr>
        <p:spPr>
          <a:xfrm>
            <a:off x="1059789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$609K</a:t>
            </a:r>
            <a:endParaRPr lang="en-US" sz="1300" dirty="0"/>
          </a:p>
        </p:txBody>
      </p:sp>
      <p:sp>
        <p:nvSpPr>
          <p:cNvPr id="192" name="Text 19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3" name="Text 191"/>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94" name="Shape 192"/>
          <p:cNvSpPr/>
          <p:nvPr/>
        </p:nvSpPr>
        <p:spPr>
          <a:xfrm>
            <a:off x="8421624" y="4987218"/>
            <a:ext cx="19910" cy="136676"/>
          </a:xfrm>
          <a:prstGeom prst="rect">
            <a:avLst/>
          </a:prstGeom>
          <a:solidFill>
            <a:srgbClr val="C2352F"/>
          </a:solidFill>
          <a:ln/>
        </p:spPr>
      </p:sp>
      <p:sp>
        <p:nvSpPr>
          <p:cNvPr id="195" name="Text 193"/>
          <p:cNvSpPr txBox="1"/>
          <p:nvPr/>
        </p:nvSpPr>
        <p:spPr>
          <a:xfrm>
            <a:off x="8942832"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a:t>
            </a:r>
            <a:endParaRPr lang="en-US" sz="1300" dirty="0"/>
          </a:p>
        </p:txBody>
      </p:sp>
      <p:sp>
        <p:nvSpPr>
          <p:cNvPr id="196" name="Text 194"/>
          <p:cNvSpPr txBox="1"/>
          <p:nvPr/>
        </p:nvSpPr>
        <p:spPr>
          <a:xfrm>
            <a:off x="972921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$13K</a:t>
            </a:r>
            <a:endParaRPr lang="en-US" sz="1300" dirty="0"/>
          </a:p>
        </p:txBody>
      </p:sp>
      <p:sp>
        <p:nvSpPr>
          <p:cNvPr id="197" name="Text 195"/>
          <p:cNvSpPr txBox="1"/>
          <p:nvPr/>
        </p:nvSpPr>
        <p:spPr>
          <a:xfrm>
            <a:off x="1059789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$949K</a:t>
            </a:r>
            <a:endParaRPr lang="en-US" sz="1300" dirty="0"/>
          </a:p>
        </p:txBody>
      </p:sp>
      <p:sp>
        <p:nvSpPr>
          <p:cNvPr id="198" name="Text 196"/>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99" name="Text 197"/>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00" name="Shape 198"/>
          <p:cNvSpPr/>
          <p:nvPr/>
        </p:nvSpPr>
        <p:spPr>
          <a:xfrm>
            <a:off x="8421624" y="5235720"/>
            <a:ext cx="18288" cy="136676"/>
          </a:xfrm>
          <a:prstGeom prst="rect">
            <a:avLst/>
          </a:prstGeom>
          <a:solidFill>
            <a:srgbClr val="C2352F"/>
          </a:solidFill>
          <a:ln/>
        </p:spPr>
      </p:sp>
      <p:sp>
        <p:nvSpPr>
          <p:cNvPr id="201" name="Text 199"/>
          <p:cNvSpPr txBox="1"/>
          <p:nvPr/>
        </p:nvSpPr>
        <p:spPr>
          <a:xfrm>
            <a:off x="8942832"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a:t>
            </a:r>
            <a:endParaRPr lang="en-US" sz="1300" dirty="0"/>
          </a:p>
        </p:txBody>
      </p:sp>
      <p:sp>
        <p:nvSpPr>
          <p:cNvPr id="202" name="Text 200"/>
          <p:cNvSpPr txBox="1"/>
          <p:nvPr/>
        </p:nvSpPr>
        <p:spPr>
          <a:xfrm>
            <a:off x="972921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$13K</a:t>
            </a:r>
            <a:endParaRPr lang="en-US" sz="1300" dirty="0"/>
          </a:p>
        </p:txBody>
      </p:sp>
      <p:sp>
        <p:nvSpPr>
          <p:cNvPr id="203" name="Text 201"/>
          <p:cNvSpPr txBox="1"/>
          <p:nvPr/>
        </p:nvSpPr>
        <p:spPr>
          <a:xfrm>
            <a:off x="1059789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$1.54M</a:t>
            </a:r>
            <a:endParaRPr lang="en-US" sz="1300" dirty="0"/>
          </a:p>
        </p:txBody>
      </p:sp>
      <p:sp>
        <p:nvSpPr>
          <p:cNvPr id="204" name="Text 202"/>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05" name="Text 203"/>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206" name="Shape 204"/>
          <p:cNvSpPr/>
          <p:nvPr/>
        </p:nvSpPr>
        <p:spPr>
          <a:xfrm>
            <a:off x="8421624" y="5484222"/>
            <a:ext cx="18288" cy="136676"/>
          </a:xfrm>
          <a:prstGeom prst="rect">
            <a:avLst/>
          </a:prstGeom>
          <a:solidFill>
            <a:srgbClr val="C2352F"/>
          </a:solidFill>
          <a:ln/>
        </p:spPr>
      </p:sp>
      <p:sp>
        <p:nvSpPr>
          <p:cNvPr id="207" name="Text 205"/>
          <p:cNvSpPr txBox="1"/>
          <p:nvPr/>
        </p:nvSpPr>
        <p:spPr>
          <a:xfrm>
            <a:off x="8942832"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0%</a:t>
            </a:r>
            <a:endParaRPr lang="en-US" sz="1300" dirty="0"/>
          </a:p>
        </p:txBody>
      </p:sp>
      <p:sp>
        <p:nvSpPr>
          <p:cNvPr id="208" name="Text 206"/>
          <p:cNvSpPr txBox="1"/>
          <p:nvPr/>
        </p:nvSpPr>
        <p:spPr>
          <a:xfrm>
            <a:off x="972921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$1K</a:t>
            </a:r>
            <a:endParaRPr lang="en-US" sz="1300" dirty="0"/>
          </a:p>
        </p:txBody>
      </p:sp>
      <p:sp>
        <p:nvSpPr>
          <p:cNvPr id="209" name="Text 207"/>
          <p:cNvSpPr txBox="1"/>
          <p:nvPr/>
        </p:nvSpPr>
        <p:spPr>
          <a:xfrm>
            <a:off x="1059789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$453K</a:t>
            </a:r>
            <a:endParaRPr lang="en-US" sz="1300" dirty="0"/>
          </a:p>
        </p:txBody>
      </p:sp>
      <p:sp>
        <p:nvSpPr>
          <p:cNvPr id="210" name="Shape 208"/>
          <p:cNvSpPr/>
          <p:nvPr/>
        </p:nvSpPr>
        <p:spPr>
          <a:xfrm>
            <a:off x="6085332" y="1700784"/>
            <a:ext cx="10973" cy="4224528"/>
          </a:xfrm>
          <a:prstGeom prst="rect">
            <a:avLst/>
          </a:prstGeom>
          <a:solidFill>
            <a:srgbClr val="D9D9D9"/>
          </a:solidFill>
          <a:ln/>
        </p:spPr>
      </p:sp>
      <p:sp>
        <p:nvSpPr>
          <p:cNvPr id="211" name="Shape 209"/>
          <p:cNvSpPr/>
          <p:nvPr/>
        </p:nvSpPr>
        <p:spPr>
          <a:xfrm>
            <a:off x="457200" y="6126480"/>
            <a:ext cx="11274552" cy="615696"/>
          </a:xfrm>
          <a:prstGeom prst="rect">
            <a:avLst/>
          </a:prstGeom>
          <a:solidFill>
            <a:srgbClr val="FBEBEA"/>
          </a:solidFill>
          <a:ln/>
        </p:spPr>
      </p:sp>
      <p:sp>
        <p:nvSpPr>
          <p:cNvPr id="212" name="Text 21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Group-wide the gap is 8.1% of RO gross. 5 stores are missing a fifth or more, led by Hyundai St George at 32% ($88K of $277K a month).</a:t>
            </a:r>
            <a:endParaRPr lang="en-US" sz="1600" dirty="0"/>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a Tech Minute Is Worth</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474720" y="1316736"/>
            <a:ext cx="96012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 year</a:t>
            </a:r>
            <a:endParaRPr lang="en-US" sz="1400" dirty="0"/>
          </a:p>
        </p:txBody>
      </p:sp>
      <p:sp>
        <p:nvSpPr>
          <p:cNvPr id="7" name="Text 5"/>
          <p:cNvSpPr txBox="1"/>
          <p:nvPr/>
        </p:nvSpPr>
        <p:spPr>
          <a:xfrm>
            <a:off x="4434840" y="1316736"/>
            <a:ext cx="73152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Techs</a:t>
            </a:r>
            <a:endParaRPr lang="en-US" sz="1400" dirty="0"/>
          </a:p>
        </p:txBody>
      </p:sp>
      <p:sp>
        <p:nvSpPr>
          <p:cNvPr id="8" name="Text 6"/>
          <p:cNvSpPr txBox="1"/>
          <p:nvPr/>
        </p:nvSpPr>
        <p:spPr>
          <a:xfrm>
            <a:off x="516636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min</a:t>
            </a:r>
            <a:endParaRPr lang="en-US" sz="1400" dirty="0"/>
          </a:p>
        </p:txBody>
      </p:sp>
      <p:sp>
        <p:nvSpPr>
          <p:cNvPr id="9" name="Text 7"/>
          <p:cNvSpPr txBox="1"/>
          <p:nvPr/>
        </p:nvSpPr>
        <p:spPr>
          <a:xfrm>
            <a:off x="9025128" y="1316736"/>
            <a:ext cx="96012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 year</a:t>
            </a:r>
            <a:endParaRPr lang="en-US" sz="1400" dirty="0"/>
          </a:p>
        </p:txBody>
      </p:sp>
      <p:sp>
        <p:nvSpPr>
          <p:cNvPr id="10" name="Text 8"/>
          <p:cNvSpPr txBox="1"/>
          <p:nvPr/>
        </p:nvSpPr>
        <p:spPr>
          <a:xfrm>
            <a:off x="9985248" y="1316736"/>
            <a:ext cx="73152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Techs</a:t>
            </a:r>
            <a:endParaRPr lang="en-US" sz="1400" dirty="0"/>
          </a:p>
        </p:txBody>
      </p:sp>
      <p:sp>
        <p:nvSpPr>
          <p:cNvPr id="11" name="Text 9"/>
          <p:cNvSpPr txBox="1"/>
          <p:nvPr/>
        </p:nvSpPr>
        <p:spPr>
          <a:xfrm>
            <a:off x="1071676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min</a:t>
            </a:r>
            <a:endParaRPr lang="en-US" sz="1400" dirty="0"/>
          </a:p>
        </p:txBody>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4" name="Shape 12"/>
          <p:cNvSpPr/>
          <p:nvPr/>
        </p:nvSpPr>
        <p:spPr>
          <a:xfrm>
            <a:off x="2871216" y="1756697"/>
            <a:ext cx="548640" cy="136676"/>
          </a:xfrm>
          <a:prstGeom prst="rect">
            <a:avLst/>
          </a:prstGeom>
          <a:solidFill>
            <a:srgbClr val="2587C5"/>
          </a:solidFill>
          <a:ln/>
        </p:spPr>
      </p:sp>
      <p:sp>
        <p:nvSpPr>
          <p:cNvPr id="15" name="Text 13"/>
          <p:cNvSpPr txBox="1"/>
          <p:nvPr/>
        </p:nvSpPr>
        <p:spPr>
          <a:xfrm>
            <a:off x="3474720" y="1700784"/>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$43,256</a:t>
            </a:r>
            <a:endParaRPr lang="en-US" sz="1300" dirty="0"/>
          </a:p>
        </p:txBody>
      </p:sp>
      <p:sp>
        <p:nvSpPr>
          <p:cNvPr id="16" name="Text 14"/>
          <p:cNvSpPr txBox="1"/>
          <p:nvPr/>
        </p:nvSpPr>
        <p:spPr>
          <a:xfrm>
            <a:off x="4434840" y="1700784"/>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59</a:t>
            </a:r>
            <a:endParaRPr lang="en-US" sz="1300" dirty="0"/>
          </a:p>
        </p:txBody>
      </p:sp>
      <p:sp>
        <p:nvSpPr>
          <p:cNvPr id="17" name="Text 15"/>
          <p:cNvSpPr txBox="1"/>
          <p:nvPr/>
        </p:nvSpPr>
        <p:spPr>
          <a:xfrm>
            <a:off x="5166360" y="170078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$2.74</a:t>
            </a:r>
            <a:endParaRPr lang="en-US" sz="1300" dirty="0"/>
          </a:p>
        </p:txBody>
      </p:sp>
      <p:sp>
        <p:nvSpPr>
          <p:cNvPr id="18" name="Text 16"/>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20" name="Shape 18"/>
          <p:cNvSpPr/>
          <p:nvPr/>
        </p:nvSpPr>
        <p:spPr>
          <a:xfrm>
            <a:off x="2871216" y="2005199"/>
            <a:ext cx="428287" cy="136676"/>
          </a:xfrm>
          <a:prstGeom prst="rect">
            <a:avLst/>
          </a:prstGeom>
          <a:solidFill>
            <a:srgbClr val="2587C5"/>
          </a:solidFill>
          <a:ln/>
        </p:spPr>
      </p:sp>
      <p:sp>
        <p:nvSpPr>
          <p:cNvPr id="21" name="Text 19"/>
          <p:cNvSpPr txBox="1"/>
          <p:nvPr/>
        </p:nvSpPr>
        <p:spPr>
          <a:xfrm>
            <a:off x="3474720" y="1949286"/>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$33,767</a:t>
            </a:r>
            <a:endParaRPr lang="en-US" sz="1300" dirty="0"/>
          </a:p>
        </p:txBody>
      </p:sp>
      <p:sp>
        <p:nvSpPr>
          <p:cNvPr id="22" name="Text 20"/>
          <p:cNvSpPr txBox="1"/>
          <p:nvPr/>
        </p:nvSpPr>
        <p:spPr>
          <a:xfrm>
            <a:off x="4434840" y="1949286"/>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a:t>
            </a:r>
            <a:endParaRPr lang="en-US" sz="1300" dirty="0"/>
          </a:p>
        </p:txBody>
      </p:sp>
      <p:sp>
        <p:nvSpPr>
          <p:cNvPr id="23" name="Text 21"/>
          <p:cNvSpPr txBox="1"/>
          <p:nvPr/>
        </p:nvSpPr>
        <p:spPr>
          <a:xfrm>
            <a:off x="5166360" y="1949286"/>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$2.71</a:t>
            </a:r>
            <a:endParaRPr lang="en-US" sz="1300" dirty="0"/>
          </a:p>
        </p:txBody>
      </p:sp>
      <p:sp>
        <p:nvSpPr>
          <p:cNvPr id="24" name="Text 22"/>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5" name="Text 23"/>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26" name="Shape 24"/>
          <p:cNvSpPr/>
          <p:nvPr/>
        </p:nvSpPr>
        <p:spPr>
          <a:xfrm>
            <a:off x="2871216" y="2253700"/>
            <a:ext cx="359802" cy="136676"/>
          </a:xfrm>
          <a:prstGeom prst="rect">
            <a:avLst/>
          </a:prstGeom>
          <a:solidFill>
            <a:srgbClr val="2587C5"/>
          </a:solidFill>
          <a:ln/>
        </p:spPr>
      </p:sp>
      <p:sp>
        <p:nvSpPr>
          <p:cNvPr id="27" name="Text 25"/>
          <p:cNvSpPr txBox="1"/>
          <p:nvPr/>
        </p:nvSpPr>
        <p:spPr>
          <a:xfrm>
            <a:off x="3474720" y="2197787"/>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$28,367</a:t>
            </a:r>
            <a:endParaRPr lang="en-US" sz="1300" dirty="0"/>
          </a:p>
        </p:txBody>
      </p:sp>
      <p:sp>
        <p:nvSpPr>
          <p:cNvPr id="28" name="Text 26"/>
          <p:cNvSpPr txBox="1"/>
          <p:nvPr/>
        </p:nvSpPr>
        <p:spPr>
          <a:xfrm>
            <a:off x="4434840" y="2197787"/>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a:t>
            </a:r>
            <a:endParaRPr lang="en-US" sz="1300" dirty="0"/>
          </a:p>
        </p:txBody>
      </p:sp>
      <p:sp>
        <p:nvSpPr>
          <p:cNvPr id="29" name="Text 27"/>
          <p:cNvSpPr txBox="1"/>
          <p:nvPr/>
        </p:nvSpPr>
        <p:spPr>
          <a:xfrm>
            <a:off x="5166360" y="219778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$3.72</a:t>
            </a:r>
            <a:endParaRPr lang="en-US" sz="1300" dirty="0"/>
          </a:p>
        </p:txBody>
      </p:sp>
      <p:sp>
        <p:nvSpPr>
          <p:cNvPr id="30" name="Text 28"/>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32" name="Shape 30"/>
          <p:cNvSpPr/>
          <p:nvPr/>
        </p:nvSpPr>
        <p:spPr>
          <a:xfrm>
            <a:off x="2871216" y="2502202"/>
            <a:ext cx="345673" cy="136676"/>
          </a:xfrm>
          <a:prstGeom prst="rect">
            <a:avLst/>
          </a:prstGeom>
          <a:solidFill>
            <a:srgbClr val="2587C5"/>
          </a:solidFill>
          <a:ln/>
        </p:spPr>
      </p:sp>
      <p:sp>
        <p:nvSpPr>
          <p:cNvPr id="33" name="Text 31"/>
          <p:cNvSpPr txBox="1"/>
          <p:nvPr/>
        </p:nvSpPr>
        <p:spPr>
          <a:xfrm>
            <a:off x="3474720" y="2446289"/>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$27,253</a:t>
            </a:r>
            <a:endParaRPr lang="en-US" sz="1300" dirty="0"/>
          </a:p>
        </p:txBody>
      </p:sp>
      <p:sp>
        <p:nvSpPr>
          <p:cNvPr id="34" name="Text 32"/>
          <p:cNvSpPr txBox="1"/>
          <p:nvPr/>
        </p:nvSpPr>
        <p:spPr>
          <a:xfrm>
            <a:off x="4434840" y="2446289"/>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a:t>
            </a:r>
            <a:endParaRPr lang="en-US" sz="1300" dirty="0"/>
          </a:p>
        </p:txBody>
      </p:sp>
      <p:sp>
        <p:nvSpPr>
          <p:cNvPr id="35" name="Text 33"/>
          <p:cNvSpPr txBox="1"/>
          <p:nvPr/>
        </p:nvSpPr>
        <p:spPr>
          <a:xfrm>
            <a:off x="5166360" y="244628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$4.69</a:t>
            </a:r>
            <a:endParaRPr lang="en-US" sz="1300" dirty="0"/>
          </a:p>
        </p:txBody>
      </p:sp>
      <p:sp>
        <p:nvSpPr>
          <p:cNvPr id="36" name="Text 34"/>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38" name="Shape 36"/>
          <p:cNvSpPr/>
          <p:nvPr/>
        </p:nvSpPr>
        <p:spPr>
          <a:xfrm>
            <a:off x="2871216" y="2750703"/>
            <a:ext cx="316030" cy="136676"/>
          </a:xfrm>
          <a:prstGeom prst="rect">
            <a:avLst/>
          </a:prstGeom>
          <a:solidFill>
            <a:srgbClr val="2587C5"/>
          </a:solidFill>
          <a:ln/>
        </p:spPr>
      </p:sp>
      <p:sp>
        <p:nvSpPr>
          <p:cNvPr id="39" name="Text 37"/>
          <p:cNvSpPr txBox="1"/>
          <p:nvPr/>
        </p:nvSpPr>
        <p:spPr>
          <a:xfrm>
            <a:off x="3474720" y="2694791"/>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$24,916</a:t>
            </a:r>
            <a:endParaRPr lang="en-US" sz="1300" dirty="0"/>
          </a:p>
        </p:txBody>
      </p:sp>
      <p:sp>
        <p:nvSpPr>
          <p:cNvPr id="40" name="Text 38"/>
          <p:cNvSpPr txBox="1"/>
          <p:nvPr/>
        </p:nvSpPr>
        <p:spPr>
          <a:xfrm>
            <a:off x="4434840" y="2694791"/>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a:t>
            </a:r>
            <a:endParaRPr lang="en-US" sz="1300" dirty="0"/>
          </a:p>
        </p:txBody>
      </p:sp>
      <p:sp>
        <p:nvSpPr>
          <p:cNvPr id="41" name="Text 39"/>
          <p:cNvSpPr txBox="1"/>
          <p:nvPr/>
        </p:nvSpPr>
        <p:spPr>
          <a:xfrm>
            <a:off x="5166360" y="2694791"/>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$3.06</a:t>
            </a:r>
            <a:endParaRPr lang="en-US" sz="1300" dirty="0"/>
          </a:p>
        </p:txBody>
      </p:sp>
      <p:sp>
        <p:nvSpPr>
          <p:cNvPr id="42" name="Text 40"/>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3" name="Text 41"/>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44" name="Shape 42"/>
          <p:cNvSpPr/>
          <p:nvPr/>
        </p:nvSpPr>
        <p:spPr>
          <a:xfrm>
            <a:off x="2871216" y="2999205"/>
            <a:ext cx="288890" cy="136676"/>
          </a:xfrm>
          <a:prstGeom prst="rect">
            <a:avLst/>
          </a:prstGeom>
          <a:solidFill>
            <a:srgbClr val="2587C5"/>
          </a:solidFill>
          <a:ln/>
        </p:spPr>
      </p:sp>
      <p:sp>
        <p:nvSpPr>
          <p:cNvPr id="45" name="Text 43"/>
          <p:cNvSpPr txBox="1"/>
          <p:nvPr/>
        </p:nvSpPr>
        <p:spPr>
          <a:xfrm>
            <a:off x="3474720" y="2943292"/>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$22,777</a:t>
            </a:r>
            <a:endParaRPr lang="en-US" sz="1300" dirty="0"/>
          </a:p>
        </p:txBody>
      </p:sp>
      <p:sp>
        <p:nvSpPr>
          <p:cNvPr id="46" name="Text 44"/>
          <p:cNvSpPr txBox="1"/>
          <p:nvPr/>
        </p:nvSpPr>
        <p:spPr>
          <a:xfrm>
            <a:off x="4434840" y="2943292"/>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47" name="Text 45"/>
          <p:cNvSpPr txBox="1"/>
          <p:nvPr/>
        </p:nvSpPr>
        <p:spPr>
          <a:xfrm>
            <a:off x="5166360" y="2943292"/>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$3.37</a:t>
            </a:r>
            <a:endParaRPr lang="en-US" sz="1300" dirty="0"/>
          </a:p>
        </p:txBody>
      </p:sp>
      <p:sp>
        <p:nvSpPr>
          <p:cNvPr id="48" name="Text 46"/>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9" name="Text 47"/>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50" name="Shape 48"/>
          <p:cNvSpPr/>
          <p:nvPr/>
        </p:nvSpPr>
        <p:spPr>
          <a:xfrm>
            <a:off x="2871216" y="3247707"/>
            <a:ext cx="206935" cy="136676"/>
          </a:xfrm>
          <a:prstGeom prst="rect">
            <a:avLst/>
          </a:prstGeom>
          <a:solidFill>
            <a:srgbClr val="2587C5"/>
          </a:solidFill>
          <a:ln/>
        </p:spPr>
      </p:sp>
      <p:sp>
        <p:nvSpPr>
          <p:cNvPr id="51" name="Text 49"/>
          <p:cNvSpPr txBox="1"/>
          <p:nvPr/>
        </p:nvSpPr>
        <p:spPr>
          <a:xfrm>
            <a:off x="3474720" y="3191794"/>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$16,315</a:t>
            </a:r>
            <a:endParaRPr lang="en-US" sz="1300" dirty="0"/>
          </a:p>
        </p:txBody>
      </p:sp>
      <p:sp>
        <p:nvSpPr>
          <p:cNvPr id="52" name="Text 50"/>
          <p:cNvSpPr txBox="1"/>
          <p:nvPr/>
        </p:nvSpPr>
        <p:spPr>
          <a:xfrm>
            <a:off x="4434840" y="3191794"/>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a:t>
            </a:r>
            <a:endParaRPr lang="en-US" sz="1300" dirty="0"/>
          </a:p>
        </p:txBody>
      </p:sp>
      <p:sp>
        <p:nvSpPr>
          <p:cNvPr id="53" name="Text 51"/>
          <p:cNvSpPr txBox="1"/>
          <p:nvPr/>
        </p:nvSpPr>
        <p:spPr>
          <a:xfrm>
            <a:off x="5166360" y="319179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$4.64</a:t>
            </a:r>
            <a:endParaRPr lang="en-US" sz="1300" dirty="0"/>
          </a:p>
        </p:txBody>
      </p:sp>
      <p:sp>
        <p:nvSpPr>
          <p:cNvPr id="54" name="Text 52"/>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5" name="Text 53"/>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56" name="Shape 54"/>
          <p:cNvSpPr/>
          <p:nvPr/>
        </p:nvSpPr>
        <p:spPr>
          <a:xfrm>
            <a:off x="2871216" y="3496208"/>
            <a:ext cx="205982" cy="136676"/>
          </a:xfrm>
          <a:prstGeom prst="rect">
            <a:avLst/>
          </a:prstGeom>
          <a:solidFill>
            <a:srgbClr val="2587C5"/>
          </a:solidFill>
          <a:ln/>
        </p:spPr>
      </p:sp>
      <p:sp>
        <p:nvSpPr>
          <p:cNvPr id="57" name="Text 55"/>
          <p:cNvSpPr txBox="1"/>
          <p:nvPr/>
        </p:nvSpPr>
        <p:spPr>
          <a:xfrm>
            <a:off x="3474720" y="3440296"/>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$16,240</a:t>
            </a:r>
            <a:endParaRPr lang="en-US" sz="1300" dirty="0"/>
          </a:p>
        </p:txBody>
      </p:sp>
      <p:sp>
        <p:nvSpPr>
          <p:cNvPr id="58" name="Text 56"/>
          <p:cNvSpPr txBox="1"/>
          <p:nvPr/>
        </p:nvSpPr>
        <p:spPr>
          <a:xfrm>
            <a:off x="4434840" y="3440296"/>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a:t>
            </a:r>
            <a:endParaRPr lang="en-US" sz="1300" dirty="0"/>
          </a:p>
        </p:txBody>
      </p:sp>
      <p:sp>
        <p:nvSpPr>
          <p:cNvPr id="59" name="Text 57"/>
          <p:cNvSpPr txBox="1"/>
          <p:nvPr/>
        </p:nvSpPr>
        <p:spPr>
          <a:xfrm>
            <a:off x="5166360" y="3440296"/>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$2.93</a:t>
            </a:r>
            <a:endParaRPr lang="en-US" sz="1300" dirty="0"/>
          </a:p>
        </p:txBody>
      </p:sp>
      <p:sp>
        <p:nvSpPr>
          <p:cNvPr id="60" name="Text 58"/>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1" name="Text 59"/>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62" name="Shape 60"/>
          <p:cNvSpPr/>
          <p:nvPr/>
        </p:nvSpPr>
        <p:spPr>
          <a:xfrm>
            <a:off x="2871216" y="3744710"/>
            <a:ext cx="193357" cy="136676"/>
          </a:xfrm>
          <a:prstGeom prst="rect">
            <a:avLst/>
          </a:prstGeom>
          <a:solidFill>
            <a:srgbClr val="2587C5"/>
          </a:solidFill>
          <a:ln/>
        </p:spPr>
      </p:sp>
      <p:sp>
        <p:nvSpPr>
          <p:cNvPr id="63" name="Text 61"/>
          <p:cNvSpPr txBox="1"/>
          <p:nvPr/>
        </p:nvSpPr>
        <p:spPr>
          <a:xfrm>
            <a:off x="3474720" y="3688797"/>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$15,245</a:t>
            </a:r>
            <a:endParaRPr lang="en-US" sz="1300" dirty="0"/>
          </a:p>
        </p:txBody>
      </p:sp>
      <p:sp>
        <p:nvSpPr>
          <p:cNvPr id="64" name="Text 62"/>
          <p:cNvSpPr txBox="1"/>
          <p:nvPr/>
        </p:nvSpPr>
        <p:spPr>
          <a:xfrm>
            <a:off x="4434840" y="3688797"/>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a:t>
            </a:r>
            <a:endParaRPr lang="en-US" sz="1300" dirty="0"/>
          </a:p>
        </p:txBody>
      </p:sp>
      <p:sp>
        <p:nvSpPr>
          <p:cNvPr id="65" name="Text 63"/>
          <p:cNvSpPr txBox="1"/>
          <p:nvPr/>
        </p:nvSpPr>
        <p:spPr>
          <a:xfrm>
            <a:off x="5166360" y="368879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$2.68</a:t>
            </a:r>
            <a:endParaRPr lang="en-US" sz="1300" dirty="0"/>
          </a:p>
        </p:txBody>
      </p:sp>
      <p:sp>
        <p:nvSpPr>
          <p:cNvPr id="66" name="Text 64"/>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7" name="Text 65"/>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68" name="Shape 66"/>
          <p:cNvSpPr/>
          <p:nvPr/>
        </p:nvSpPr>
        <p:spPr>
          <a:xfrm>
            <a:off x="2871216" y="3993212"/>
            <a:ext cx="186973" cy="136676"/>
          </a:xfrm>
          <a:prstGeom prst="rect">
            <a:avLst/>
          </a:prstGeom>
          <a:solidFill>
            <a:srgbClr val="2587C5"/>
          </a:solidFill>
          <a:ln/>
        </p:spPr>
      </p:sp>
      <p:sp>
        <p:nvSpPr>
          <p:cNvPr id="69" name="Text 67"/>
          <p:cNvSpPr txBox="1"/>
          <p:nvPr/>
        </p:nvSpPr>
        <p:spPr>
          <a:xfrm>
            <a:off x="3474720" y="3937299"/>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$14,741</a:t>
            </a:r>
            <a:endParaRPr lang="en-US" sz="1300" dirty="0"/>
          </a:p>
        </p:txBody>
      </p:sp>
      <p:sp>
        <p:nvSpPr>
          <p:cNvPr id="70" name="Text 68"/>
          <p:cNvSpPr txBox="1"/>
          <p:nvPr/>
        </p:nvSpPr>
        <p:spPr>
          <a:xfrm>
            <a:off x="4434840" y="3937299"/>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a:t>
            </a:r>
            <a:endParaRPr lang="en-US" sz="1300" dirty="0"/>
          </a:p>
        </p:txBody>
      </p:sp>
      <p:sp>
        <p:nvSpPr>
          <p:cNvPr id="71" name="Text 69"/>
          <p:cNvSpPr txBox="1"/>
          <p:nvPr/>
        </p:nvSpPr>
        <p:spPr>
          <a:xfrm>
            <a:off x="5166360" y="393729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$3.47</a:t>
            </a:r>
            <a:endParaRPr lang="en-US" sz="1300" dirty="0"/>
          </a:p>
        </p:txBody>
      </p:sp>
      <p:sp>
        <p:nvSpPr>
          <p:cNvPr id="72" name="Text 7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3" name="Text 71"/>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74" name="Shape 72"/>
          <p:cNvSpPr/>
          <p:nvPr/>
        </p:nvSpPr>
        <p:spPr>
          <a:xfrm>
            <a:off x="2871216" y="4241713"/>
            <a:ext cx="178245" cy="136676"/>
          </a:xfrm>
          <a:prstGeom prst="rect">
            <a:avLst/>
          </a:prstGeom>
          <a:solidFill>
            <a:srgbClr val="2587C5"/>
          </a:solidFill>
          <a:ln/>
        </p:spPr>
      </p:sp>
      <p:sp>
        <p:nvSpPr>
          <p:cNvPr id="75" name="Text 73"/>
          <p:cNvSpPr txBox="1"/>
          <p:nvPr/>
        </p:nvSpPr>
        <p:spPr>
          <a:xfrm>
            <a:off x="3474720" y="4185800"/>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$14,053</a:t>
            </a:r>
            <a:endParaRPr lang="en-US" sz="1300" dirty="0"/>
          </a:p>
        </p:txBody>
      </p:sp>
      <p:sp>
        <p:nvSpPr>
          <p:cNvPr id="76" name="Text 74"/>
          <p:cNvSpPr txBox="1"/>
          <p:nvPr/>
        </p:nvSpPr>
        <p:spPr>
          <a:xfrm>
            <a:off x="4434840" y="4185800"/>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a:t>
            </a:r>
            <a:endParaRPr lang="en-US" sz="1300" dirty="0"/>
          </a:p>
        </p:txBody>
      </p:sp>
      <p:sp>
        <p:nvSpPr>
          <p:cNvPr id="77" name="Text 75"/>
          <p:cNvSpPr txBox="1"/>
          <p:nvPr/>
        </p:nvSpPr>
        <p:spPr>
          <a:xfrm>
            <a:off x="5166360" y="4185800"/>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$3.06</a:t>
            </a:r>
            <a:endParaRPr lang="en-US" sz="1300" dirty="0"/>
          </a:p>
        </p:txBody>
      </p:sp>
      <p:sp>
        <p:nvSpPr>
          <p:cNvPr id="78" name="Text 76"/>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9" name="Text 77"/>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80" name="Shape 78"/>
          <p:cNvSpPr/>
          <p:nvPr/>
        </p:nvSpPr>
        <p:spPr>
          <a:xfrm>
            <a:off x="2871216" y="4490215"/>
            <a:ext cx="160884" cy="136676"/>
          </a:xfrm>
          <a:prstGeom prst="rect">
            <a:avLst/>
          </a:prstGeom>
          <a:solidFill>
            <a:srgbClr val="2587C5"/>
          </a:solidFill>
          <a:ln/>
        </p:spPr>
      </p:sp>
      <p:sp>
        <p:nvSpPr>
          <p:cNvPr id="81" name="Text 79"/>
          <p:cNvSpPr txBox="1"/>
          <p:nvPr/>
        </p:nvSpPr>
        <p:spPr>
          <a:xfrm>
            <a:off x="3474720" y="4434302"/>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$12,684</a:t>
            </a:r>
            <a:endParaRPr lang="en-US" sz="1300" dirty="0"/>
          </a:p>
        </p:txBody>
      </p:sp>
      <p:sp>
        <p:nvSpPr>
          <p:cNvPr id="82" name="Text 80"/>
          <p:cNvSpPr txBox="1"/>
          <p:nvPr/>
        </p:nvSpPr>
        <p:spPr>
          <a:xfrm>
            <a:off x="4434840" y="4434302"/>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a:t>
            </a:r>
            <a:endParaRPr lang="en-US" sz="1300" dirty="0"/>
          </a:p>
        </p:txBody>
      </p:sp>
      <p:sp>
        <p:nvSpPr>
          <p:cNvPr id="83" name="Text 81"/>
          <p:cNvSpPr txBox="1"/>
          <p:nvPr/>
        </p:nvSpPr>
        <p:spPr>
          <a:xfrm>
            <a:off x="5166360" y="4434302"/>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$2.41</a:t>
            </a:r>
            <a:endParaRPr lang="en-US" sz="1300" dirty="0"/>
          </a:p>
        </p:txBody>
      </p:sp>
      <p:sp>
        <p:nvSpPr>
          <p:cNvPr id="84" name="Text 82"/>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5" name="Text 83"/>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6" name="Shape 84"/>
          <p:cNvSpPr/>
          <p:nvPr/>
        </p:nvSpPr>
        <p:spPr>
          <a:xfrm>
            <a:off x="2871216" y="4738717"/>
            <a:ext cx="159478" cy="136676"/>
          </a:xfrm>
          <a:prstGeom prst="rect">
            <a:avLst/>
          </a:prstGeom>
          <a:solidFill>
            <a:srgbClr val="2587C5"/>
          </a:solidFill>
          <a:ln/>
        </p:spPr>
      </p:sp>
      <p:sp>
        <p:nvSpPr>
          <p:cNvPr id="87" name="Text 85"/>
          <p:cNvSpPr txBox="1"/>
          <p:nvPr/>
        </p:nvSpPr>
        <p:spPr>
          <a:xfrm>
            <a:off x="3474720" y="4682804"/>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$12,574</a:t>
            </a:r>
            <a:endParaRPr lang="en-US" sz="1300" dirty="0"/>
          </a:p>
        </p:txBody>
      </p:sp>
      <p:sp>
        <p:nvSpPr>
          <p:cNvPr id="88" name="Text 86"/>
          <p:cNvSpPr txBox="1"/>
          <p:nvPr/>
        </p:nvSpPr>
        <p:spPr>
          <a:xfrm>
            <a:off x="4434840" y="4682804"/>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89" name="Text 87"/>
          <p:cNvSpPr txBox="1"/>
          <p:nvPr/>
        </p:nvSpPr>
        <p:spPr>
          <a:xfrm>
            <a:off x="5166360" y="468280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$2.93</a:t>
            </a:r>
            <a:endParaRPr lang="en-US" sz="1300" dirty="0"/>
          </a:p>
        </p:txBody>
      </p:sp>
      <p:sp>
        <p:nvSpPr>
          <p:cNvPr id="90" name="Text 88"/>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1" name="Text 89"/>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92" name="Shape 90"/>
          <p:cNvSpPr/>
          <p:nvPr/>
        </p:nvSpPr>
        <p:spPr>
          <a:xfrm>
            <a:off x="2871216" y="4987218"/>
            <a:ext cx="156386" cy="136676"/>
          </a:xfrm>
          <a:prstGeom prst="rect">
            <a:avLst/>
          </a:prstGeom>
          <a:solidFill>
            <a:srgbClr val="2587C5"/>
          </a:solidFill>
          <a:ln/>
        </p:spPr>
      </p:sp>
      <p:sp>
        <p:nvSpPr>
          <p:cNvPr id="93" name="Text 91"/>
          <p:cNvSpPr txBox="1"/>
          <p:nvPr/>
        </p:nvSpPr>
        <p:spPr>
          <a:xfrm>
            <a:off x="3474720" y="4931305"/>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$12,330</a:t>
            </a:r>
            <a:endParaRPr lang="en-US" sz="1300" dirty="0"/>
          </a:p>
        </p:txBody>
      </p:sp>
      <p:sp>
        <p:nvSpPr>
          <p:cNvPr id="94" name="Text 92"/>
          <p:cNvSpPr txBox="1"/>
          <p:nvPr/>
        </p:nvSpPr>
        <p:spPr>
          <a:xfrm>
            <a:off x="4434840" y="4931305"/>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a:t>
            </a:r>
            <a:endParaRPr lang="en-US" sz="1300" dirty="0"/>
          </a:p>
        </p:txBody>
      </p:sp>
      <p:sp>
        <p:nvSpPr>
          <p:cNvPr id="95" name="Text 93"/>
          <p:cNvSpPr txBox="1"/>
          <p:nvPr/>
        </p:nvSpPr>
        <p:spPr>
          <a:xfrm>
            <a:off x="5166360" y="4931305"/>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$2.50</a:t>
            </a:r>
            <a:endParaRPr lang="en-US" sz="1300" dirty="0"/>
          </a:p>
        </p:txBody>
      </p:sp>
      <p:sp>
        <p:nvSpPr>
          <p:cNvPr id="96" name="Text 94"/>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7" name="Text 95"/>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8" name="Shape 96"/>
          <p:cNvSpPr/>
          <p:nvPr/>
        </p:nvSpPr>
        <p:spPr>
          <a:xfrm>
            <a:off x="2871216" y="5235720"/>
            <a:ext cx="151472" cy="136676"/>
          </a:xfrm>
          <a:prstGeom prst="rect">
            <a:avLst/>
          </a:prstGeom>
          <a:solidFill>
            <a:srgbClr val="2587C5"/>
          </a:solidFill>
          <a:ln/>
        </p:spPr>
      </p:sp>
      <p:sp>
        <p:nvSpPr>
          <p:cNvPr id="99" name="Text 97"/>
          <p:cNvSpPr txBox="1"/>
          <p:nvPr/>
        </p:nvSpPr>
        <p:spPr>
          <a:xfrm>
            <a:off x="3474720" y="5179807"/>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$11,942</a:t>
            </a:r>
            <a:endParaRPr lang="en-US" sz="1300" dirty="0"/>
          </a:p>
        </p:txBody>
      </p:sp>
      <p:sp>
        <p:nvSpPr>
          <p:cNvPr id="100" name="Text 98"/>
          <p:cNvSpPr txBox="1"/>
          <p:nvPr/>
        </p:nvSpPr>
        <p:spPr>
          <a:xfrm>
            <a:off x="4434840" y="5179807"/>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a:t>
            </a:r>
            <a:endParaRPr lang="en-US" sz="1300" dirty="0"/>
          </a:p>
        </p:txBody>
      </p:sp>
      <p:sp>
        <p:nvSpPr>
          <p:cNvPr id="101" name="Text 99"/>
          <p:cNvSpPr txBox="1"/>
          <p:nvPr/>
        </p:nvSpPr>
        <p:spPr>
          <a:xfrm>
            <a:off x="5166360" y="517980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a:t>
            </a:r>
            <a:endParaRPr lang="en-US" sz="1300" dirty="0"/>
          </a:p>
        </p:txBody>
      </p:sp>
      <p:sp>
        <p:nvSpPr>
          <p:cNvPr id="102" name="Text 100"/>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3" name="Text 101"/>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04" name="Shape 102"/>
          <p:cNvSpPr/>
          <p:nvPr/>
        </p:nvSpPr>
        <p:spPr>
          <a:xfrm>
            <a:off x="2871216" y="5484222"/>
            <a:ext cx="144704" cy="136676"/>
          </a:xfrm>
          <a:prstGeom prst="rect">
            <a:avLst/>
          </a:prstGeom>
          <a:solidFill>
            <a:srgbClr val="2587C5"/>
          </a:solidFill>
          <a:ln/>
        </p:spPr>
      </p:sp>
      <p:sp>
        <p:nvSpPr>
          <p:cNvPr id="105" name="Text 103"/>
          <p:cNvSpPr txBox="1"/>
          <p:nvPr/>
        </p:nvSpPr>
        <p:spPr>
          <a:xfrm>
            <a:off x="3474720" y="5428309"/>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$11,409</a:t>
            </a:r>
            <a:endParaRPr lang="en-US" sz="1300" dirty="0"/>
          </a:p>
        </p:txBody>
      </p:sp>
      <p:sp>
        <p:nvSpPr>
          <p:cNvPr id="106" name="Text 104"/>
          <p:cNvSpPr txBox="1"/>
          <p:nvPr/>
        </p:nvSpPr>
        <p:spPr>
          <a:xfrm>
            <a:off x="4434840" y="5428309"/>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107" name="Text 105"/>
          <p:cNvSpPr txBox="1"/>
          <p:nvPr/>
        </p:nvSpPr>
        <p:spPr>
          <a:xfrm>
            <a:off x="5166360" y="542830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$4.99</a:t>
            </a:r>
            <a:endParaRPr lang="en-US" sz="1300" dirty="0"/>
          </a:p>
        </p:txBody>
      </p:sp>
      <p:sp>
        <p:nvSpPr>
          <p:cNvPr id="108" name="Text 106"/>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9" name="Text 107"/>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10" name="Shape 108"/>
          <p:cNvSpPr/>
          <p:nvPr/>
        </p:nvSpPr>
        <p:spPr>
          <a:xfrm>
            <a:off x="2871216" y="5732723"/>
            <a:ext cx="136953" cy="136676"/>
          </a:xfrm>
          <a:prstGeom prst="rect">
            <a:avLst/>
          </a:prstGeom>
          <a:solidFill>
            <a:srgbClr val="2587C5"/>
          </a:solidFill>
          <a:ln/>
        </p:spPr>
      </p:sp>
      <p:sp>
        <p:nvSpPr>
          <p:cNvPr id="111" name="Text 109"/>
          <p:cNvSpPr txBox="1"/>
          <p:nvPr/>
        </p:nvSpPr>
        <p:spPr>
          <a:xfrm>
            <a:off x="3474720" y="5676810"/>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$10,798</a:t>
            </a:r>
            <a:endParaRPr lang="en-US" sz="1300" dirty="0"/>
          </a:p>
        </p:txBody>
      </p:sp>
      <p:sp>
        <p:nvSpPr>
          <p:cNvPr id="112" name="Text 110"/>
          <p:cNvSpPr txBox="1"/>
          <p:nvPr/>
        </p:nvSpPr>
        <p:spPr>
          <a:xfrm>
            <a:off x="4434840" y="5676810"/>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113" name="Text 111"/>
          <p:cNvSpPr txBox="1"/>
          <p:nvPr/>
        </p:nvSpPr>
        <p:spPr>
          <a:xfrm>
            <a:off x="5166360" y="5676810"/>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$4.06</a:t>
            </a:r>
            <a:endParaRPr lang="en-US" sz="1300" dirty="0"/>
          </a:p>
        </p:txBody>
      </p:sp>
      <p:sp>
        <p:nvSpPr>
          <p:cNvPr id="114" name="Text 112"/>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15" name="Text 113"/>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16" name="Shape 114"/>
          <p:cNvSpPr/>
          <p:nvPr/>
        </p:nvSpPr>
        <p:spPr>
          <a:xfrm>
            <a:off x="8421624" y="1756697"/>
            <a:ext cx="129525" cy="136676"/>
          </a:xfrm>
          <a:prstGeom prst="rect">
            <a:avLst/>
          </a:prstGeom>
          <a:solidFill>
            <a:srgbClr val="2587C5"/>
          </a:solidFill>
          <a:ln/>
        </p:spPr>
      </p:sp>
      <p:sp>
        <p:nvSpPr>
          <p:cNvPr id="117" name="Text 115"/>
          <p:cNvSpPr txBox="1"/>
          <p:nvPr/>
        </p:nvSpPr>
        <p:spPr>
          <a:xfrm>
            <a:off x="9025128" y="1700784"/>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$10,212</a:t>
            </a:r>
            <a:endParaRPr lang="en-US" sz="1300" dirty="0"/>
          </a:p>
        </p:txBody>
      </p:sp>
      <p:sp>
        <p:nvSpPr>
          <p:cNvPr id="118" name="Text 116"/>
          <p:cNvSpPr txBox="1"/>
          <p:nvPr/>
        </p:nvSpPr>
        <p:spPr>
          <a:xfrm>
            <a:off x="9985248" y="1700784"/>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a:t>
            </a:r>
            <a:endParaRPr lang="en-US" sz="1300" dirty="0"/>
          </a:p>
        </p:txBody>
      </p:sp>
      <p:sp>
        <p:nvSpPr>
          <p:cNvPr id="119" name="Text 117"/>
          <p:cNvSpPr txBox="1"/>
          <p:nvPr/>
        </p:nvSpPr>
        <p:spPr>
          <a:xfrm>
            <a:off x="10716768" y="170078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$3.17</a:t>
            </a:r>
            <a:endParaRPr lang="en-US" sz="1300" dirty="0"/>
          </a:p>
        </p:txBody>
      </p:sp>
      <p:sp>
        <p:nvSpPr>
          <p:cNvPr id="120" name="Text 118"/>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1" name="Text 119"/>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22" name="Shape 120"/>
          <p:cNvSpPr/>
          <p:nvPr/>
        </p:nvSpPr>
        <p:spPr>
          <a:xfrm>
            <a:off x="8421624" y="2005199"/>
            <a:ext cx="116104" cy="136676"/>
          </a:xfrm>
          <a:prstGeom prst="rect">
            <a:avLst/>
          </a:prstGeom>
          <a:solidFill>
            <a:srgbClr val="2587C5"/>
          </a:solidFill>
          <a:ln/>
        </p:spPr>
      </p:sp>
      <p:sp>
        <p:nvSpPr>
          <p:cNvPr id="123" name="Text 121"/>
          <p:cNvSpPr txBox="1"/>
          <p:nvPr/>
        </p:nvSpPr>
        <p:spPr>
          <a:xfrm>
            <a:off x="9025128" y="1949286"/>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$9,154</a:t>
            </a:r>
            <a:endParaRPr lang="en-US" sz="1300" dirty="0"/>
          </a:p>
        </p:txBody>
      </p:sp>
      <p:sp>
        <p:nvSpPr>
          <p:cNvPr id="124" name="Text 122"/>
          <p:cNvSpPr txBox="1"/>
          <p:nvPr/>
        </p:nvSpPr>
        <p:spPr>
          <a:xfrm>
            <a:off x="9985248" y="1949286"/>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125" name="Text 123"/>
          <p:cNvSpPr txBox="1"/>
          <p:nvPr/>
        </p:nvSpPr>
        <p:spPr>
          <a:xfrm>
            <a:off x="10716768" y="1949286"/>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$3.27</a:t>
            </a:r>
            <a:endParaRPr lang="en-US" sz="1300" dirty="0"/>
          </a:p>
        </p:txBody>
      </p:sp>
      <p:sp>
        <p:nvSpPr>
          <p:cNvPr id="126" name="Text 124"/>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7" name="Text 125"/>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28" name="Shape 126"/>
          <p:cNvSpPr/>
          <p:nvPr/>
        </p:nvSpPr>
        <p:spPr>
          <a:xfrm>
            <a:off x="8421624" y="2253700"/>
            <a:ext cx="111671" cy="136676"/>
          </a:xfrm>
          <a:prstGeom prst="rect">
            <a:avLst/>
          </a:prstGeom>
          <a:solidFill>
            <a:srgbClr val="2587C5"/>
          </a:solidFill>
          <a:ln/>
        </p:spPr>
      </p:sp>
      <p:sp>
        <p:nvSpPr>
          <p:cNvPr id="129" name="Text 127"/>
          <p:cNvSpPr txBox="1"/>
          <p:nvPr/>
        </p:nvSpPr>
        <p:spPr>
          <a:xfrm>
            <a:off x="9025128" y="2197787"/>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$8,804</a:t>
            </a:r>
            <a:endParaRPr lang="en-US" sz="1300" dirty="0"/>
          </a:p>
        </p:txBody>
      </p:sp>
      <p:sp>
        <p:nvSpPr>
          <p:cNvPr id="130" name="Text 128"/>
          <p:cNvSpPr txBox="1"/>
          <p:nvPr/>
        </p:nvSpPr>
        <p:spPr>
          <a:xfrm>
            <a:off x="9985248" y="2197787"/>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131" name="Text 129"/>
          <p:cNvSpPr txBox="1"/>
          <p:nvPr/>
        </p:nvSpPr>
        <p:spPr>
          <a:xfrm>
            <a:off x="10716768" y="219778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$3.45</a:t>
            </a:r>
            <a:endParaRPr lang="en-US" sz="1300" dirty="0"/>
          </a:p>
        </p:txBody>
      </p:sp>
      <p:sp>
        <p:nvSpPr>
          <p:cNvPr id="132" name="Text 13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4" name="Shape 132"/>
          <p:cNvSpPr/>
          <p:nvPr/>
        </p:nvSpPr>
        <p:spPr>
          <a:xfrm>
            <a:off x="8421624" y="2502202"/>
            <a:ext cx="107204" cy="136676"/>
          </a:xfrm>
          <a:prstGeom prst="rect">
            <a:avLst/>
          </a:prstGeom>
          <a:solidFill>
            <a:srgbClr val="2587C5"/>
          </a:solidFill>
          <a:ln/>
        </p:spPr>
      </p:sp>
      <p:sp>
        <p:nvSpPr>
          <p:cNvPr id="135" name="Text 133"/>
          <p:cNvSpPr txBox="1"/>
          <p:nvPr/>
        </p:nvSpPr>
        <p:spPr>
          <a:xfrm>
            <a:off x="9025128" y="2446289"/>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$8,452</a:t>
            </a:r>
            <a:endParaRPr lang="en-US" sz="1300" dirty="0"/>
          </a:p>
        </p:txBody>
      </p:sp>
      <p:sp>
        <p:nvSpPr>
          <p:cNvPr id="136" name="Text 134"/>
          <p:cNvSpPr txBox="1"/>
          <p:nvPr/>
        </p:nvSpPr>
        <p:spPr>
          <a:xfrm>
            <a:off x="9985248" y="2446289"/>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137" name="Text 135"/>
          <p:cNvSpPr txBox="1"/>
          <p:nvPr/>
        </p:nvSpPr>
        <p:spPr>
          <a:xfrm>
            <a:off x="10716768" y="244628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$2.80</a:t>
            </a:r>
            <a:endParaRPr lang="en-US" sz="1300" dirty="0"/>
          </a:p>
        </p:txBody>
      </p:sp>
      <p:sp>
        <p:nvSpPr>
          <p:cNvPr id="138" name="Text 136"/>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40" name="Shape 138"/>
          <p:cNvSpPr/>
          <p:nvPr/>
        </p:nvSpPr>
        <p:spPr>
          <a:xfrm>
            <a:off x="8421624" y="2750703"/>
            <a:ext cx="105090" cy="136676"/>
          </a:xfrm>
          <a:prstGeom prst="rect">
            <a:avLst/>
          </a:prstGeom>
          <a:solidFill>
            <a:srgbClr val="2587C5"/>
          </a:solidFill>
          <a:ln/>
        </p:spPr>
      </p:sp>
      <p:sp>
        <p:nvSpPr>
          <p:cNvPr id="141" name="Text 139"/>
          <p:cNvSpPr txBox="1"/>
          <p:nvPr/>
        </p:nvSpPr>
        <p:spPr>
          <a:xfrm>
            <a:off x="9025128" y="2694791"/>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$8,285</a:t>
            </a:r>
            <a:endParaRPr lang="en-US" sz="1300" dirty="0"/>
          </a:p>
        </p:txBody>
      </p:sp>
      <p:sp>
        <p:nvSpPr>
          <p:cNvPr id="142" name="Text 140"/>
          <p:cNvSpPr txBox="1"/>
          <p:nvPr/>
        </p:nvSpPr>
        <p:spPr>
          <a:xfrm>
            <a:off x="9985248" y="2694791"/>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a:t>
            </a:r>
            <a:endParaRPr lang="en-US" sz="1300" dirty="0"/>
          </a:p>
        </p:txBody>
      </p:sp>
      <p:sp>
        <p:nvSpPr>
          <p:cNvPr id="143" name="Text 141"/>
          <p:cNvSpPr txBox="1"/>
          <p:nvPr/>
        </p:nvSpPr>
        <p:spPr>
          <a:xfrm>
            <a:off x="10716768" y="2694791"/>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$3.84</a:t>
            </a:r>
            <a:endParaRPr lang="en-US" sz="1300" dirty="0"/>
          </a:p>
        </p:txBody>
      </p:sp>
      <p:sp>
        <p:nvSpPr>
          <p:cNvPr id="144" name="Text 142"/>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5" name="Text 143"/>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46" name="Shape 144"/>
          <p:cNvSpPr/>
          <p:nvPr/>
        </p:nvSpPr>
        <p:spPr>
          <a:xfrm>
            <a:off x="8421624" y="2999205"/>
            <a:ext cx="102344" cy="136676"/>
          </a:xfrm>
          <a:prstGeom prst="rect">
            <a:avLst/>
          </a:prstGeom>
          <a:solidFill>
            <a:srgbClr val="2587C5"/>
          </a:solidFill>
          <a:ln/>
        </p:spPr>
      </p:sp>
      <p:sp>
        <p:nvSpPr>
          <p:cNvPr id="147" name="Text 145"/>
          <p:cNvSpPr txBox="1"/>
          <p:nvPr/>
        </p:nvSpPr>
        <p:spPr>
          <a:xfrm>
            <a:off x="9025128" y="2943292"/>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$8,069</a:t>
            </a:r>
            <a:endParaRPr lang="en-US" sz="1300" dirty="0"/>
          </a:p>
        </p:txBody>
      </p:sp>
      <p:sp>
        <p:nvSpPr>
          <p:cNvPr id="148" name="Text 146"/>
          <p:cNvSpPr txBox="1"/>
          <p:nvPr/>
        </p:nvSpPr>
        <p:spPr>
          <a:xfrm>
            <a:off x="9985248" y="2943292"/>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149" name="Text 147"/>
          <p:cNvSpPr txBox="1"/>
          <p:nvPr/>
        </p:nvSpPr>
        <p:spPr>
          <a:xfrm>
            <a:off x="10716768" y="2943292"/>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$3.03</a:t>
            </a:r>
            <a:endParaRPr lang="en-US" sz="1300" dirty="0"/>
          </a:p>
        </p:txBody>
      </p:sp>
      <p:sp>
        <p:nvSpPr>
          <p:cNvPr id="150" name="Text 148"/>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1" name="Text 149"/>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52" name="Shape 150"/>
          <p:cNvSpPr/>
          <p:nvPr/>
        </p:nvSpPr>
        <p:spPr>
          <a:xfrm>
            <a:off x="8421624" y="3247707"/>
            <a:ext cx="95727" cy="136676"/>
          </a:xfrm>
          <a:prstGeom prst="rect">
            <a:avLst/>
          </a:prstGeom>
          <a:solidFill>
            <a:srgbClr val="2587C5"/>
          </a:solidFill>
          <a:ln/>
        </p:spPr>
      </p:sp>
      <p:sp>
        <p:nvSpPr>
          <p:cNvPr id="153" name="Text 151"/>
          <p:cNvSpPr txBox="1"/>
          <p:nvPr/>
        </p:nvSpPr>
        <p:spPr>
          <a:xfrm>
            <a:off x="9025128" y="3191794"/>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$7,547</a:t>
            </a:r>
            <a:endParaRPr lang="en-US" sz="1300" dirty="0"/>
          </a:p>
        </p:txBody>
      </p:sp>
      <p:sp>
        <p:nvSpPr>
          <p:cNvPr id="154" name="Text 152"/>
          <p:cNvSpPr txBox="1"/>
          <p:nvPr/>
        </p:nvSpPr>
        <p:spPr>
          <a:xfrm>
            <a:off x="9985248" y="3191794"/>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155" name="Text 153"/>
          <p:cNvSpPr txBox="1"/>
          <p:nvPr/>
        </p:nvSpPr>
        <p:spPr>
          <a:xfrm>
            <a:off x="10716768" y="319179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$3.53</a:t>
            </a:r>
            <a:endParaRPr lang="en-US" sz="1300" dirty="0"/>
          </a:p>
        </p:txBody>
      </p:sp>
      <p:sp>
        <p:nvSpPr>
          <p:cNvPr id="156" name="Text 154"/>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57" name="Text 155"/>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58" name="Shape 156"/>
          <p:cNvSpPr/>
          <p:nvPr/>
        </p:nvSpPr>
        <p:spPr>
          <a:xfrm>
            <a:off x="8421624" y="3496208"/>
            <a:ext cx="93782" cy="136676"/>
          </a:xfrm>
          <a:prstGeom prst="rect">
            <a:avLst/>
          </a:prstGeom>
          <a:solidFill>
            <a:srgbClr val="2587C5"/>
          </a:solidFill>
          <a:ln/>
        </p:spPr>
      </p:sp>
      <p:sp>
        <p:nvSpPr>
          <p:cNvPr id="159" name="Text 157"/>
          <p:cNvSpPr txBox="1"/>
          <p:nvPr/>
        </p:nvSpPr>
        <p:spPr>
          <a:xfrm>
            <a:off x="9025128" y="3440296"/>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$7,394</a:t>
            </a:r>
            <a:endParaRPr lang="en-US" sz="1300" dirty="0"/>
          </a:p>
        </p:txBody>
      </p:sp>
      <p:sp>
        <p:nvSpPr>
          <p:cNvPr id="160" name="Text 158"/>
          <p:cNvSpPr txBox="1"/>
          <p:nvPr/>
        </p:nvSpPr>
        <p:spPr>
          <a:xfrm>
            <a:off x="9985248" y="3440296"/>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161" name="Text 159"/>
          <p:cNvSpPr txBox="1"/>
          <p:nvPr/>
        </p:nvSpPr>
        <p:spPr>
          <a:xfrm>
            <a:off x="10716768" y="3440296"/>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$3.27</a:t>
            </a:r>
            <a:endParaRPr lang="en-US" sz="1300" dirty="0"/>
          </a:p>
        </p:txBody>
      </p:sp>
      <p:sp>
        <p:nvSpPr>
          <p:cNvPr id="162" name="Text 160"/>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3" name="Text 161"/>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64" name="Shape 162"/>
          <p:cNvSpPr/>
          <p:nvPr/>
        </p:nvSpPr>
        <p:spPr>
          <a:xfrm>
            <a:off x="8421624" y="3744710"/>
            <a:ext cx="91945" cy="136676"/>
          </a:xfrm>
          <a:prstGeom prst="rect">
            <a:avLst/>
          </a:prstGeom>
          <a:solidFill>
            <a:srgbClr val="2587C5"/>
          </a:solidFill>
          <a:ln/>
        </p:spPr>
      </p:sp>
      <p:sp>
        <p:nvSpPr>
          <p:cNvPr id="165" name="Text 163"/>
          <p:cNvSpPr txBox="1"/>
          <p:nvPr/>
        </p:nvSpPr>
        <p:spPr>
          <a:xfrm>
            <a:off x="9025128" y="3688797"/>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$7,249</a:t>
            </a:r>
            <a:endParaRPr lang="en-US" sz="1300" dirty="0"/>
          </a:p>
        </p:txBody>
      </p:sp>
      <p:sp>
        <p:nvSpPr>
          <p:cNvPr id="166" name="Text 164"/>
          <p:cNvSpPr txBox="1"/>
          <p:nvPr/>
        </p:nvSpPr>
        <p:spPr>
          <a:xfrm>
            <a:off x="9985248" y="3688797"/>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167" name="Text 165"/>
          <p:cNvSpPr txBox="1"/>
          <p:nvPr/>
        </p:nvSpPr>
        <p:spPr>
          <a:xfrm>
            <a:off x="10716768" y="368879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$2.59</a:t>
            </a:r>
            <a:endParaRPr lang="en-US" sz="1300" dirty="0"/>
          </a:p>
        </p:txBody>
      </p:sp>
      <p:sp>
        <p:nvSpPr>
          <p:cNvPr id="168" name="Text 166"/>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69" name="Text 167"/>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70" name="Shape 168"/>
          <p:cNvSpPr/>
          <p:nvPr/>
        </p:nvSpPr>
        <p:spPr>
          <a:xfrm>
            <a:off x="8421624" y="3993212"/>
            <a:ext cx="91642" cy="136676"/>
          </a:xfrm>
          <a:prstGeom prst="rect">
            <a:avLst/>
          </a:prstGeom>
          <a:solidFill>
            <a:srgbClr val="2587C5"/>
          </a:solidFill>
          <a:ln/>
        </p:spPr>
      </p:sp>
      <p:sp>
        <p:nvSpPr>
          <p:cNvPr id="171" name="Text 169"/>
          <p:cNvSpPr txBox="1"/>
          <p:nvPr/>
        </p:nvSpPr>
        <p:spPr>
          <a:xfrm>
            <a:off x="9025128" y="3937299"/>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$7,225</a:t>
            </a:r>
            <a:endParaRPr lang="en-US" sz="1300" dirty="0"/>
          </a:p>
        </p:txBody>
      </p:sp>
      <p:sp>
        <p:nvSpPr>
          <p:cNvPr id="172" name="Text 170"/>
          <p:cNvSpPr txBox="1"/>
          <p:nvPr/>
        </p:nvSpPr>
        <p:spPr>
          <a:xfrm>
            <a:off x="9985248" y="3937299"/>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a:t>
            </a:r>
            <a:endParaRPr lang="en-US" sz="1300" dirty="0"/>
          </a:p>
        </p:txBody>
      </p:sp>
      <p:sp>
        <p:nvSpPr>
          <p:cNvPr id="173" name="Text 171"/>
          <p:cNvSpPr txBox="1"/>
          <p:nvPr/>
        </p:nvSpPr>
        <p:spPr>
          <a:xfrm>
            <a:off x="10716768" y="393729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$2.83</a:t>
            </a:r>
            <a:endParaRPr lang="en-US" sz="1300" dirty="0"/>
          </a:p>
        </p:txBody>
      </p:sp>
      <p:sp>
        <p:nvSpPr>
          <p:cNvPr id="174" name="Text 172"/>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75" name="Text 173"/>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76" name="Shape 174"/>
          <p:cNvSpPr/>
          <p:nvPr/>
        </p:nvSpPr>
        <p:spPr>
          <a:xfrm>
            <a:off x="8421624" y="4241713"/>
            <a:ext cx="90578" cy="136676"/>
          </a:xfrm>
          <a:prstGeom prst="rect">
            <a:avLst/>
          </a:prstGeom>
          <a:solidFill>
            <a:srgbClr val="2587C5"/>
          </a:solidFill>
          <a:ln/>
        </p:spPr>
      </p:sp>
      <p:sp>
        <p:nvSpPr>
          <p:cNvPr id="177" name="Text 175"/>
          <p:cNvSpPr txBox="1"/>
          <p:nvPr/>
        </p:nvSpPr>
        <p:spPr>
          <a:xfrm>
            <a:off x="9025128" y="4185800"/>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$7,141</a:t>
            </a:r>
            <a:endParaRPr lang="en-US" sz="1300" dirty="0"/>
          </a:p>
        </p:txBody>
      </p:sp>
      <p:sp>
        <p:nvSpPr>
          <p:cNvPr id="178" name="Text 176"/>
          <p:cNvSpPr txBox="1"/>
          <p:nvPr/>
        </p:nvSpPr>
        <p:spPr>
          <a:xfrm>
            <a:off x="9985248" y="4185800"/>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a:t>
            </a:r>
            <a:endParaRPr lang="en-US" sz="1300" dirty="0"/>
          </a:p>
        </p:txBody>
      </p:sp>
      <p:sp>
        <p:nvSpPr>
          <p:cNvPr id="179" name="Text 177"/>
          <p:cNvSpPr txBox="1"/>
          <p:nvPr/>
        </p:nvSpPr>
        <p:spPr>
          <a:xfrm>
            <a:off x="10716768" y="4185800"/>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$4.17</a:t>
            </a:r>
            <a:endParaRPr lang="en-US" sz="1300" dirty="0"/>
          </a:p>
        </p:txBody>
      </p:sp>
      <p:sp>
        <p:nvSpPr>
          <p:cNvPr id="180" name="Text 178"/>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1" name="Text 179"/>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82" name="Shape 180"/>
          <p:cNvSpPr/>
          <p:nvPr/>
        </p:nvSpPr>
        <p:spPr>
          <a:xfrm>
            <a:off x="8421624" y="4490215"/>
            <a:ext cx="83490" cy="136676"/>
          </a:xfrm>
          <a:prstGeom prst="rect">
            <a:avLst/>
          </a:prstGeom>
          <a:solidFill>
            <a:srgbClr val="2587C5"/>
          </a:solidFill>
          <a:ln/>
        </p:spPr>
      </p:sp>
      <p:sp>
        <p:nvSpPr>
          <p:cNvPr id="183" name="Text 181"/>
          <p:cNvSpPr txBox="1"/>
          <p:nvPr/>
        </p:nvSpPr>
        <p:spPr>
          <a:xfrm>
            <a:off x="9025128" y="4434302"/>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$6,583</a:t>
            </a:r>
            <a:endParaRPr lang="en-US" sz="1300" dirty="0"/>
          </a:p>
        </p:txBody>
      </p:sp>
      <p:sp>
        <p:nvSpPr>
          <p:cNvPr id="184" name="Text 182"/>
          <p:cNvSpPr txBox="1"/>
          <p:nvPr/>
        </p:nvSpPr>
        <p:spPr>
          <a:xfrm>
            <a:off x="9985248" y="4434302"/>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a:t>
            </a:r>
            <a:endParaRPr lang="en-US" sz="1300" dirty="0"/>
          </a:p>
        </p:txBody>
      </p:sp>
      <p:sp>
        <p:nvSpPr>
          <p:cNvPr id="185" name="Text 183"/>
          <p:cNvSpPr txBox="1"/>
          <p:nvPr/>
        </p:nvSpPr>
        <p:spPr>
          <a:xfrm>
            <a:off x="10716768" y="4434302"/>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$4.49</a:t>
            </a:r>
            <a:endParaRPr lang="en-US" sz="1300" dirty="0"/>
          </a:p>
        </p:txBody>
      </p:sp>
      <p:sp>
        <p:nvSpPr>
          <p:cNvPr id="186" name="Text 184"/>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87" name="Text 185"/>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88" name="Shape 186"/>
          <p:cNvSpPr/>
          <p:nvPr/>
        </p:nvSpPr>
        <p:spPr>
          <a:xfrm>
            <a:off x="8421624" y="4738717"/>
            <a:ext cx="82594" cy="136676"/>
          </a:xfrm>
          <a:prstGeom prst="rect">
            <a:avLst/>
          </a:prstGeom>
          <a:solidFill>
            <a:srgbClr val="2587C5"/>
          </a:solidFill>
          <a:ln/>
        </p:spPr>
      </p:sp>
      <p:sp>
        <p:nvSpPr>
          <p:cNvPr id="189" name="Text 187"/>
          <p:cNvSpPr txBox="1"/>
          <p:nvPr/>
        </p:nvSpPr>
        <p:spPr>
          <a:xfrm>
            <a:off x="9025128" y="4682804"/>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$6,512</a:t>
            </a:r>
            <a:endParaRPr lang="en-US" sz="1300" dirty="0"/>
          </a:p>
        </p:txBody>
      </p:sp>
      <p:sp>
        <p:nvSpPr>
          <p:cNvPr id="190" name="Text 188"/>
          <p:cNvSpPr txBox="1"/>
          <p:nvPr/>
        </p:nvSpPr>
        <p:spPr>
          <a:xfrm>
            <a:off x="9985248" y="4682804"/>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a:t>
            </a:r>
            <a:endParaRPr lang="en-US" sz="1300" dirty="0"/>
          </a:p>
        </p:txBody>
      </p:sp>
      <p:sp>
        <p:nvSpPr>
          <p:cNvPr id="191" name="Text 189"/>
          <p:cNvSpPr txBox="1"/>
          <p:nvPr/>
        </p:nvSpPr>
        <p:spPr>
          <a:xfrm>
            <a:off x="10716768" y="4682804"/>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$2.76</a:t>
            </a:r>
            <a:endParaRPr lang="en-US" sz="1300" dirty="0"/>
          </a:p>
        </p:txBody>
      </p:sp>
      <p:sp>
        <p:nvSpPr>
          <p:cNvPr id="192" name="Text 19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3" name="Text 191"/>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94" name="Shape 192"/>
          <p:cNvSpPr/>
          <p:nvPr/>
        </p:nvSpPr>
        <p:spPr>
          <a:xfrm>
            <a:off x="8421624" y="4987218"/>
            <a:ext cx="67141" cy="136676"/>
          </a:xfrm>
          <a:prstGeom prst="rect">
            <a:avLst/>
          </a:prstGeom>
          <a:solidFill>
            <a:srgbClr val="2587C5"/>
          </a:solidFill>
          <a:ln/>
        </p:spPr>
      </p:sp>
      <p:sp>
        <p:nvSpPr>
          <p:cNvPr id="195" name="Text 193"/>
          <p:cNvSpPr txBox="1"/>
          <p:nvPr/>
        </p:nvSpPr>
        <p:spPr>
          <a:xfrm>
            <a:off x="9025128" y="4931305"/>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$5,294</a:t>
            </a:r>
            <a:endParaRPr lang="en-US" sz="1300" dirty="0"/>
          </a:p>
        </p:txBody>
      </p:sp>
      <p:sp>
        <p:nvSpPr>
          <p:cNvPr id="196" name="Text 194"/>
          <p:cNvSpPr txBox="1"/>
          <p:nvPr/>
        </p:nvSpPr>
        <p:spPr>
          <a:xfrm>
            <a:off x="9985248" y="4931305"/>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197" name="Text 195"/>
          <p:cNvSpPr txBox="1"/>
          <p:nvPr/>
        </p:nvSpPr>
        <p:spPr>
          <a:xfrm>
            <a:off x="10716768" y="4931305"/>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$2.90</a:t>
            </a:r>
            <a:endParaRPr lang="en-US" sz="1300" dirty="0"/>
          </a:p>
        </p:txBody>
      </p:sp>
      <p:sp>
        <p:nvSpPr>
          <p:cNvPr id="198" name="Text 196"/>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99" name="Text 197"/>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200" name="Shape 198"/>
          <p:cNvSpPr/>
          <p:nvPr/>
        </p:nvSpPr>
        <p:spPr>
          <a:xfrm>
            <a:off x="8421624" y="5235720"/>
            <a:ext cx="54968" cy="136676"/>
          </a:xfrm>
          <a:prstGeom prst="rect">
            <a:avLst/>
          </a:prstGeom>
          <a:solidFill>
            <a:srgbClr val="2587C5"/>
          </a:solidFill>
          <a:ln/>
        </p:spPr>
      </p:sp>
      <p:sp>
        <p:nvSpPr>
          <p:cNvPr id="201" name="Text 199"/>
          <p:cNvSpPr txBox="1"/>
          <p:nvPr/>
        </p:nvSpPr>
        <p:spPr>
          <a:xfrm>
            <a:off x="9025128" y="5179807"/>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$4,334</a:t>
            </a:r>
            <a:endParaRPr lang="en-US" sz="1300" dirty="0"/>
          </a:p>
        </p:txBody>
      </p:sp>
      <p:sp>
        <p:nvSpPr>
          <p:cNvPr id="202" name="Text 200"/>
          <p:cNvSpPr txBox="1"/>
          <p:nvPr/>
        </p:nvSpPr>
        <p:spPr>
          <a:xfrm>
            <a:off x="9985248" y="5179807"/>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a:t>
            </a:r>
            <a:endParaRPr lang="en-US" sz="1300" dirty="0"/>
          </a:p>
        </p:txBody>
      </p:sp>
      <p:sp>
        <p:nvSpPr>
          <p:cNvPr id="203" name="Text 201"/>
          <p:cNvSpPr txBox="1"/>
          <p:nvPr/>
        </p:nvSpPr>
        <p:spPr>
          <a:xfrm>
            <a:off x="10716768" y="5179807"/>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$2.82</a:t>
            </a:r>
            <a:endParaRPr lang="en-US" sz="1300" dirty="0"/>
          </a:p>
        </p:txBody>
      </p:sp>
      <p:sp>
        <p:nvSpPr>
          <p:cNvPr id="204" name="Text 202"/>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05" name="Text 203"/>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206" name="Shape 204"/>
          <p:cNvSpPr/>
          <p:nvPr/>
        </p:nvSpPr>
        <p:spPr>
          <a:xfrm>
            <a:off x="8421624" y="5484222"/>
            <a:ext cx="43862" cy="136676"/>
          </a:xfrm>
          <a:prstGeom prst="rect">
            <a:avLst/>
          </a:prstGeom>
          <a:solidFill>
            <a:srgbClr val="2587C5"/>
          </a:solidFill>
          <a:ln/>
        </p:spPr>
      </p:sp>
      <p:sp>
        <p:nvSpPr>
          <p:cNvPr id="207" name="Text 205"/>
          <p:cNvSpPr txBox="1"/>
          <p:nvPr/>
        </p:nvSpPr>
        <p:spPr>
          <a:xfrm>
            <a:off x="9025128" y="5428309"/>
            <a:ext cx="960120" cy="24850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$3,458</a:t>
            </a:r>
            <a:endParaRPr lang="en-US" sz="1300" dirty="0"/>
          </a:p>
        </p:txBody>
      </p:sp>
      <p:sp>
        <p:nvSpPr>
          <p:cNvPr id="208" name="Text 206"/>
          <p:cNvSpPr txBox="1"/>
          <p:nvPr/>
        </p:nvSpPr>
        <p:spPr>
          <a:xfrm>
            <a:off x="9985248" y="5428309"/>
            <a:ext cx="73152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a:t>
            </a:r>
            <a:endParaRPr lang="en-US" sz="1300" dirty="0"/>
          </a:p>
        </p:txBody>
      </p:sp>
      <p:sp>
        <p:nvSpPr>
          <p:cNvPr id="209" name="Text 207"/>
          <p:cNvSpPr txBox="1"/>
          <p:nvPr/>
        </p:nvSpPr>
        <p:spPr>
          <a:xfrm>
            <a:off x="10716768" y="5428309"/>
            <a:ext cx="74980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a:t>
            </a:r>
            <a:endParaRPr lang="en-US" sz="1300" dirty="0"/>
          </a:p>
        </p:txBody>
      </p:sp>
      <p:sp>
        <p:nvSpPr>
          <p:cNvPr id="210" name="Shape 208"/>
          <p:cNvSpPr/>
          <p:nvPr/>
        </p:nvSpPr>
        <p:spPr>
          <a:xfrm>
            <a:off x="6085332" y="1700784"/>
            <a:ext cx="10973" cy="4224528"/>
          </a:xfrm>
          <a:prstGeom prst="rect">
            <a:avLst/>
          </a:prstGeom>
          <a:solidFill>
            <a:srgbClr val="D9D9D9"/>
          </a:solidFill>
          <a:ln/>
        </p:spPr>
      </p:sp>
      <p:sp>
        <p:nvSpPr>
          <p:cNvPr id="211" name="Shape 209"/>
          <p:cNvSpPr/>
          <p:nvPr/>
        </p:nvSpPr>
        <p:spPr>
          <a:xfrm>
            <a:off x="457200" y="6126480"/>
            <a:ext cx="11274552" cy="341376"/>
          </a:xfrm>
          <a:prstGeom prst="rect">
            <a:avLst/>
          </a:prstGeom>
          <a:solidFill>
            <a:srgbClr val="EDF4FA"/>
          </a:solidFill>
          <a:ln/>
        </p:spPr>
      </p:sp>
      <p:sp>
        <p:nvSpPr>
          <p:cNvPr id="212" name="Text 210"/>
          <p:cNvSpPr txBox="1"/>
          <p:nvPr/>
        </p:nvSpPr>
        <p:spPr>
          <a:xfrm>
            <a:off x="658368" y="6144768"/>
            <a:ext cx="10927080" cy="30480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One minute a day per tech: Toyota Henderson $43,256 a year. Volvo techs are worth the most per minute at $4.99.</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2026-10-26T20:24:03Z</dcterms:created>
  <dcterms:modified xsi:type="dcterms:W3CDTF">2026-10-26T20:24:03Z</dcterms:modified>
</cp:coreProperties>
</file>