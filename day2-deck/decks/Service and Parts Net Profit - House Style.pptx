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Mechanical Dept as the P&amp;L Detail statement reports it. Jan-Sep 2026 gross $126,872,257, department expenses $99,175,043, profit $27,697,214; 2025 $120,574,871 / $97,800,650 / $22,774,222. Sales per $1 of profit: Mechanical net sales $182,131,162 / $27,697,214 = $6.58. Service sales are labor sales on the Mechanical department; parts sold on service ROs are parts department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three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P&amp;A Dept as the P&amp;L Detail statement reports it. Jan-Sep 2026 gross $61,927,467, department expenses $39,174,787, profit $22,752,680; 2025 $60,756,286 / $38,194,373 / $22,561,913. Sales per $1 of profit: P&amp;A net sales $165,675,400 / $22,752,680 = $7.28. Parts sales include parts sold to the service department on 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three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chart" Target="/ppt/charts/chart14.xml"/><Relationship Id="rId10" Type="http://schemas.openxmlformats.org/officeDocument/2006/relationships/chart" Target="/ppt/charts/chart15.xml"/><Relationship Id="rId11" Type="http://schemas.openxmlformats.org/officeDocument/2006/relationships/chart" Target="/ppt/charts/chart16.xml"/><Relationship Id="rId12" Type="http://schemas.openxmlformats.org/officeDocument/2006/relationships/chart" Target="/ppt/charts/chart17.xml"/><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chart" Target="/ppt/charts/chart29.xml"/><Relationship Id="rId7" Type="http://schemas.openxmlformats.org/officeDocument/2006/relationships/chart" Target="/ppt/charts/chart30.xml"/><Relationship Id="rId8" Type="http://schemas.openxmlformats.org/officeDocument/2006/relationships/chart" Target="/ppt/charts/chart31.xml"/><Relationship Id="rId9" Type="http://schemas.openxmlformats.org/officeDocument/2006/relationships/chart" Target="/ppt/charts/chart32.xml"/><Relationship Id="rId10" Type="http://schemas.openxmlformats.org/officeDocument/2006/relationships/chart" Target="/ppt/charts/chart33.xml"/><Relationship Id="rId11" Type="http://schemas.openxmlformats.org/officeDocument/2006/relationships/chart" Target="/ppt/charts/chart34.xml"/><Relationship Id="rId12" Type="http://schemas.openxmlformats.org/officeDocument/2006/relationships/chart" Target="/ppt/charts/chart35.xml"/><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Service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service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$99.18M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$27.70M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service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Technicians and advisors: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Proficiency: more sold hours from the same techs and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loaners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$27.70M service net profit, +21.6%. Gross grew +5.2%; department expenses +1.4%.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Shape 17"/>
          <p:cNvSpPr/>
          <p:nvPr/>
        </p:nvSpPr>
        <p:spPr>
          <a:xfrm>
            <a:off x="4084320" y="4803648"/>
            <a:ext cx="64008" cy="1405128"/>
          </a:xfrm>
          <a:prstGeom prst="rect">
            <a:avLst/>
          </a:prstGeom>
          <a:solidFill>
            <a:srgbClr val="12A566"/>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4"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32"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37"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3"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Shape 41"/>
          <p:cNvSpPr/>
          <p:nvPr/>
        </p:nvSpPr>
        <p:spPr>
          <a:xfrm>
            <a:off x="11466576" y="1847088"/>
            <a:ext cx="64008" cy="1405128"/>
          </a:xfrm>
          <a:prstGeom prst="rect">
            <a:avLst/>
          </a:prstGeom>
          <a:solidFill>
            <a:srgbClr val="12A566"/>
          </a:solidFill>
          <a:ln/>
        </p:spPr>
      </p:sp>
      <p:sp>
        <p:nvSpPr>
          <p:cNvPr id="50" name="Text 42"/>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1" name="Text 43"/>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52"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3"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55" name="Text 45"/>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56" name="Text 46"/>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7" name="Text 47"/>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58"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9"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60" name="Text 48"/>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61" name="Text 49"/>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62" name="Shape 50"/>
          <p:cNvSpPr/>
          <p:nvPr/>
        </p:nvSpPr>
        <p:spPr>
          <a:xfrm>
            <a:off x="8040624" y="4767072"/>
            <a:ext cx="3489960" cy="1478280"/>
          </a:xfrm>
          <a:prstGeom prst="rect">
            <a:avLst/>
          </a:prstGeom>
          <a:solidFill>
            <a:srgbClr val="F7F7F7"/>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6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Parts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parts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$39.17M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$22.75M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parts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on every RO, matrix pricing, wholesale that covers its own cost</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wholesale and drivers: staffing to the workload, pay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Inventory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Fill rate, obsolescence and carrying cost</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Freight, delivery vehicles, supplies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$22.75M parts net profit, +0.8%. Gross grew +1.9%; department expenses +2.6%.</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3325368"/>
            <a:ext cx="64008" cy="1405128"/>
          </a:xfrm>
          <a:prstGeom prst="rect">
            <a:avLst/>
          </a:prstGeom>
          <a:solidFill>
            <a:srgbClr val="12A566"/>
          </a:solidFill>
          <a:ln/>
        </p:spPr>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Shape 25"/>
          <p:cNvSpPr/>
          <p:nvPr/>
        </p:nvSpPr>
        <p:spPr>
          <a:xfrm>
            <a:off x="7775448" y="1847088"/>
            <a:ext cx="64008" cy="1405128"/>
          </a:xfrm>
          <a:prstGeom prst="rect">
            <a:avLst/>
          </a:prstGeom>
          <a:solidFill>
            <a:srgbClr val="2587C5"/>
          </a:solidFill>
          <a:ln/>
        </p:spPr>
      </p:sp>
      <p:sp>
        <p:nvSpPr>
          <p:cNvPr id="31" name="Text 26"/>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2" name="Text 27"/>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33"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4" name="Text 28"/>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35" name="Text 29"/>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36" name="Text 30"/>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7" name="Text 31"/>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38"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9" name="Text 32"/>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40" name="Text 33"/>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41" name="Shape 34"/>
          <p:cNvSpPr/>
          <p:nvPr/>
        </p:nvSpPr>
        <p:spPr>
          <a:xfrm>
            <a:off x="4349496" y="4767072"/>
            <a:ext cx="3489960" cy="1478280"/>
          </a:xfrm>
          <a:prstGeom prst="rect">
            <a:avLst/>
          </a:prstGeom>
          <a:solidFill>
            <a:srgbClr val="F7F7F7"/>
          </a:solidFill>
          <a:ln/>
        </p:spPr>
      </p:sp>
      <p:sp>
        <p:nvSpPr>
          <p:cNvPr id="42" name="Text 35"/>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3" name="Text 36"/>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44"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46" name="Text 38"/>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47" name="Shape 39"/>
          <p:cNvSpPr/>
          <p:nvPr/>
        </p:nvSpPr>
        <p:spPr>
          <a:xfrm>
            <a:off x="8040624" y="1371600"/>
            <a:ext cx="3489960" cy="45720"/>
          </a:xfrm>
          <a:prstGeom prst="rect">
            <a:avLst/>
          </a:prstGeom>
          <a:solidFill>
            <a:srgbClr val="2587C5"/>
          </a:solidFill>
          <a:ln/>
        </p:spPr>
      </p:sp>
      <p:sp>
        <p:nvSpPr>
          <p:cNvPr id="48" name="Text 4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9" name="Shape 41"/>
          <p:cNvSpPr/>
          <p:nvPr/>
        </p:nvSpPr>
        <p:spPr>
          <a:xfrm>
            <a:off x="8040624" y="1810512"/>
            <a:ext cx="3489960" cy="1478280"/>
          </a:xfrm>
          <a:prstGeom prst="rect">
            <a:avLst/>
          </a:prstGeom>
          <a:solidFill>
            <a:srgbClr val="F7F7F7"/>
          </a:solidFill>
          <a:ln/>
        </p:spPr>
      </p:sp>
      <p:sp>
        <p:nvSpPr>
          <p:cNvPr id="50" name="Text 42"/>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1" name="Text 43"/>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52"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3"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55" name="Text 45"/>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56" name="Shape 46"/>
          <p:cNvSpPr/>
          <p:nvPr/>
        </p:nvSpPr>
        <p:spPr>
          <a:xfrm>
            <a:off x="11466576" y="3325368"/>
            <a:ext cx="64008" cy="1405128"/>
          </a:xfrm>
          <a:prstGeom prst="rect">
            <a:avLst/>
          </a:prstGeom>
          <a:solidFill>
            <a:srgbClr val="12A566"/>
          </a:solidFill>
          <a:ln/>
        </p:spPr>
      </p:sp>
      <p:sp>
        <p:nvSpPr>
          <p:cNvPr id="57" name="Text 4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8" name="Text 4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5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6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61" name="Text 49"/>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62" name="Text 50"/>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63" name="Shape 51"/>
          <p:cNvSpPr/>
          <p:nvPr/>
        </p:nvSpPr>
        <p:spPr>
          <a:xfrm>
            <a:off x="8040624" y="4767072"/>
            <a:ext cx="3489960" cy="1478280"/>
          </a:xfrm>
          <a:prstGeom prst="rect">
            <a:avLst/>
          </a:prstGeom>
          <a:solidFill>
            <a:srgbClr val="F7F7F7"/>
          </a:solidFill>
          <a:ln/>
        </p:spPr>
      </p:sp>
      <p:sp>
        <p:nvSpPr>
          <p:cNvPr id="64" name="Shape 52"/>
          <p:cNvSpPr/>
          <p:nvPr/>
        </p:nvSpPr>
        <p:spPr>
          <a:xfrm>
            <a:off x="11466576" y="4803648"/>
            <a:ext cx="64008" cy="1405128"/>
          </a:xfrm>
          <a:prstGeom prst="rect">
            <a:avLst/>
          </a:prstGeom>
          <a:solidFill>
            <a:srgbClr val="2587C5"/>
          </a:solidFill>
          <a:ln/>
        </p:spPr>
      </p:sp>
      <p:sp>
        <p:nvSpPr>
          <p:cNvPr id="65" name="Text 5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6" name="Text 5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67"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8"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9" name="Text 55"/>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70" name="Text 56"/>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2026-10-29T16:33:48Z</dcterms:created>
  <dcterms:modified xsi:type="dcterms:W3CDTF">2026-10-29T16:33:48Z</dcterms:modified>
</cp:coreProperties>
</file>