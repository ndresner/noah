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4.54</c:v>
                </c:pt>
                <c:pt idx="2">
                  <c:v>5.97</c:v>
                </c:pt>
                <c:pt idx="3">
                  <c:v>6.14</c:v>
                </c:pt>
                <c:pt idx="4">
                  <c:v>5.16</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4.54</c:v>
                </c:pt>
                <c:pt idx="2">
                  <c:v>5.97</c:v>
                </c:pt>
                <c:pt idx="3">
                  <c:v>6.14</c:v>
                </c:pt>
                <c:pt idx="4">
                  <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
                </c:pt>
                <c:pt idx="2">
                  <c:v/>
                </c:pt>
                <c:pt idx="3">
                  <c:v/>
                </c:pt>
                <c:pt idx="4">
                  <c:v>5.16</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
                </c:pt>
                <c:pt idx="2">
                  <c:v/>
                </c:pt>
                <c:pt idx="3">
                  <c:v/>
                </c:pt>
                <c:pt idx="4">
                  <c:v>5.37</c:v>
                </c:pt>
                <c:pt idx="5">
                  <c:v/>
                </c:pt>
                <c:pt idx="6">
                  <c:v/>
                </c:pt>
                <c:pt idx="7">
                  <c:v/>
                </c:pt>
                <c:pt idx="8">
                  <c:v/>
                </c:pt>
                <c:pt idx="9">
                  <c:v>6.1</c:v>
                </c:pt>
                <c:pt idx="10">
                  <c:v/>
                </c:pt>
                <c:pt idx="11">
                  <c:v>4.32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4.4</c:v>
                </c:pt>
                <c:pt idx="2">
                  <c:v>5.19</c:v>
                </c:pt>
                <c:pt idx="3">
                  <c:v>5.55</c:v>
                </c:pt>
                <c:pt idx="4">
                  <c:v/>
                </c:pt>
                <c:pt idx="5">
                  <c:v>5.22</c:v>
                </c:pt>
                <c:pt idx="6">
                  <c:v>5.56</c:v>
                </c:pt>
                <c:pt idx="7">
                  <c:v>5.08</c:v>
                </c:pt>
                <c:pt idx="8">
                  <c:v>3.91</c:v>
                </c:pt>
                <c:pt idx="9">
                  <c:v/>
                </c:pt>
                <c:pt idx="10">
                  <c:v>3.67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4.4</c:v>
                </c:pt>
                <c:pt idx="2">
                  <c:v>5.19</c:v>
                </c:pt>
                <c:pt idx="3">
                  <c:v>5.55</c:v>
                </c:pt>
                <c:pt idx="4">
                  <c:v>5.37</c:v>
                </c:pt>
                <c:pt idx="5">
                  <c:v>5.22</c:v>
                </c:pt>
                <c:pt idx="6">
                  <c:v>5.56</c:v>
                </c:pt>
                <c:pt idx="7">
                  <c:v>5.08</c:v>
                </c:pt>
                <c:pt idx="8">
                  <c:v>3.91</c:v>
                </c:pt>
                <c:pt idx="9">
                  <c:v>6.1</c:v>
                </c:pt>
                <c:pt idx="10">
                  <c:v>3.67</c:v>
                </c:pt>
                <c:pt idx="11">
                  <c:v>4.32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673214.4099999999</c:v>
                </c:pt>
                <c:pt idx="1">
                  <c:v>667043.93</c:v>
                </c:pt>
                <c:pt idx="2">
                  <c:v>660698.5700000001</c:v>
                </c:pt>
                <c:pt idx="3">
                  <c:v>783779.69</c:v>
                </c:pt>
                <c:pt idx="4">
                  <c:v>686251.59</c:v>
                </c:pt>
                <c:pt idx="5">
                  <c:v>762803.78</c:v>
                </c:pt>
                <c:pt idx="6">
                  <c:v>862929.99</c:v>
                </c:pt>
                <c:pt idx="7">
                  <c:v>726104.11</c:v>
                </c:pt>
                <c:pt idx="8">
                  <c:v>591602.85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82933.0308000001"/>
          <c:min val="562615.42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426367.52</c:v>
                </c:pt>
                <c:pt idx="1">
                  <c:v>359449.32999999996</c:v>
                </c:pt>
                <c:pt idx="2">
                  <c:v>344941.30000000005</c:v>
                </c:pt>
                <c:pt idx="3">
                  <c:v>467680.61</c:v>
                </c:pt>
                <c:pt idx="4">
                  <c:v>501380.55</c:v>
                </c:pt>
                <c:pt idx="5">
                  <c:v>528913.37</c:v>
                </c:pt>
                <c:pt idx="6">
                  <c:v>498520.88</c:v>
                </c:pt>
                <c:pt idx="7">
                  <c:v>533962.25</c:v>
                </c:pt>
                <c:pt idx="8">
                  <c:v>445357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631319.72</c:v>
                </c:pt>
                <c:pt idx="1">
                  <c:v>546833.85</c:v>
                </c:pt>
                <c:pt idx="2">
                  <c:v>542606.93</c:v>
                </c:pt>
                <c:pt idx="3">
                  <c:v>590782.32</c:v>
                </c:pt>
                <c:pt idx="4">
                  <c:v>414490.05</c:v>
                </c:pt>
                <c:pt idx="5">
                  <c:v>470078.17000000004</c:v>
                </c:pt>
                <c:pt idx="6">
                  <c:v>746155.96</c:v>
                </c:pt>
                <c:pt idx="7">
                  <c:v>500529.55</c:v>
                </c:pt>
                <c:pt idx="8">
                  <c:v>502102.01999999996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78253.1327999999"/>
          <c:min val="312844.1272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174589.61</c:v>
                </c:pt>
                <c:pt idx="1">
                  <c:v>95405.77</c:v>
                </c:pt>
                <c:pt idx="2">
                  <c:v>140625.01</c:v>
                </c:pt>
                <c:pt idx="3">
                  <c:v>203321.24</c:v>
                </c:pt>
                <c:pt idx="4">
                  <c:v>219850.85</c:v>
                </c:pt>
                <c:pt idx="5">
                  <c:v>252107.89</c:v>
                </c:pt>
                <c:pt idx="6">
                  <c:v>232479.66</c:v>
                </c:pt>
                <c:pt idx="7">
                  <c:v>295546.51</c:v>
                </c:pt>
                <c:pt idx="8">
                  <c:v>218835.64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249580.28</c:v>
                </c:pt>
                <c:pt idx="1">
                  <c:v>274924.13</c:v>
                </c:pt>
                <c:pt idx="2">
                  <c:v>284945.48</c:v>
                </c:pt>
                <c:pt idx="3">
                  <c:v>417111.44</c:v>
                </c:pt>
                <c:pt idx="4">
                  <c:v>224022.98</c:v>
                </c:pt>
                <c:pt idx="5">
                  <c:v>244327.32</c:v>
                </c:pt>
                <c:pt idx="6">
                  <c:v>316671.08999999997</c:v>
                </c:pt>
                <c:pt idx="7">
                  <c:v>338493.80000000005</c:v>
                </c:pt>
                <c:pt idx="8">
                  <c:v>248463.19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2847.8936"/>
          <c:min val="69669.3164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245650.74</c:v>
                </c:pt>
                <c:pt idx="1">
                  <c:v>205123.04</c:v>
                </c:pt>
                <c:pt idx="2">
                  <c:v>363576.81</c:v>
                </c:pt>
                <c:pt idx="3">
                  <c:v>412964.21</c:v>
                </c:pt>
                <c:pt idx="4">
                  <c:v>375704.95</c:v>
                </c:pt>
                <c:pt idx="5">
                  <c:v>294757.57</c:v>
                </c:pt>
                <c:pt idx="6">
                  <c:v>348013.7</c:v>
                </c:pt>
                <c:pt idx="7">
                  <c:v>340023.29000000004</c:v>
                </c:pt>
                <c:pt idx="8">
                  <c:v>324492.52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6252.89080000005"/>
          <c:min val="98567.01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120502.33</c:v>
                </c:pt>
                <c:pt idx="1">
                  <c:v>137723.4</c:v>
                </c:pt>
                <c:pt idx="2">
                  <c:v>146104.6</c:v>
                </c:pt>
                <c:pt idx="3">
                  <c:v>105201.39</c:v>
                </c:pt>
                <c:pt idx="4">
                  <c:v>223669.27000000002</c:v>
                </c:pt>
                <c:pt idx="5">
                  <c:v>209534.28999999998</c:v>
                </c:pt>
                <c:pt idx="6">
                  <c:v>220370.36000000002</c:v>
                </c:pt>
                <c:pt idx="7">
                  <c:v>220706.81</c:v>
                </c:pt>
                <c:pt idx="8">
                  <c:v>164187.72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140485.17</c:v>
                </c:pt>
                <c:pt idx="1">
                  <c:v>80036.92</c:v>
                </c:pt>
                <c:pt idx="2">
                  <c:v>90158.89</c:v>
                </c:pt>
                <c:pt idx="3">
                  <c:v>132751.79</c:v>
                </c:pt>
                <c:pt idx="4">
                  <c:v>138796.77</c:v>
                </c:pt>
                <c:pt idx="5">
                  <c:v>130956.01000000001</c:v>
                </c:pt>
                <c:pt idx="6">
                  <c:v>162421.52</c:v>
                </c:pt>
                <c:pt idx="7">
                  <c:v>120607.87</c:v>
                </c:pt>
                <c:pt idx="8">
                  <c:v>94286.11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159.858"/>
          <c:min val="68546.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170486.2</c:v>
                </c:pt>
                <c:pt idx="1">
                  <c:v>142584.58</c:v>
                </c:pt>
                <c:pt idx="2">
                  <c:v>169880.13</c:v>
                </c:pt>
                <c:pt idx="3">
                  <c:v>98520.33</c:v>
                </c:pt>
                <c:pt idx="4">
                  <c:v>128191.81</c:v>
                </c:pt>
                <c:pt idx="5">
                  <c:v>56035.07000000001</c:v>
                </c:pt>
                <c:pt idx="6">
                  <c:v>114671.90000000001</c:v>
                </c:pt>
                <c:pt idx="7">
                  <c:v>49038.1900000001</c:v>
                </c:pt>
                <c:pt idx="8">
                  <c:v>37765.13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48124.9100000001</c:v>
                </c:pt>
                <c:pt idx="1">
                  <c:v>67628.62</c:v>
                </c:pt>
                <c:pt idx="2">
                  <c:v>85568.91</c:v>
                </c:pt>
                <c:pt idx="3">
                  <c:v>74715.74</c:v>
                </c:pt>
                <c:pt idx="4">
                  <c:v>77653.98000000001</c:v>
                </c:pt>
                <c:pt idx="5">
                  <c:v>96905.8</c:v>
                </c:pt>
                <c:pt idx="6">
                  <c:v>150361.94</c:v>
                </c:pt>
                <c:pt idx="7">
                  <c:v>56361.46</c:v>
                </c:pt>
                <c:pt idx="8">
                  <c:v>42003.899999999994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1103.8856"/>
          <c:min val="27147.4443999999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585853.4766666667</c:v>
                </c:pt>
                <c:pt idx="1">
                  <c:v>585853.4766666667</c:v>
                </c:pt>
                <c:pt idx="2">
                  <c:v>585853.4766666667</c:v>
                </c:pt>
                <c:pt idx="3">
                  <c:v>585853.4766666667</c:v>
                </c:pt>
                <c:pt idx="4">
                  <c:v>585853.4766666667</c:v>
                </c:pt>
                <c:pt idx="5">
                  <c:v>585853.4766666667</c:v>
                </c:pt>
                <c:pt idx="6">
                  <c:v>585853.4766666667</c:v>
                </c:pt>
                <c:pt idx="7">
                  <c:v>585853.4766666667</c:v>
                </c:pt>
                <c:pt idx="8">
                  <c:v>585853.4766666667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573373.03</c:v>
                </c:pt>
                <c:pt idx="1">
                  <c:v>430536.70999999996</c:v>
                </c:pt>
                <c:pt idx="2">
                  <c:v>753650.69</c:v>
                </c:pt>
                <c:pt idx="3">
                  <c:v>652757.3</c:v>
                </c:pt>
                <c:pt idx="4">
                  <c:v>679631.37</c:v>
                </c:pt>
                <c:pt idx="5">
                  <c:v>813403.42</c:v>
                </c:pt>
                <c:pt idx="6">
                  <c:v>825379.6699999999</c:v>
                </c:pt>
                <c:pt idx="7">
                  <c:v>692141.1499999999</c:v>
                </c:pt>
                <c:pt idx="8">
                  <c:v>657769.0599999999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795469.33</c:v>
                </c:pt>
                <c:pt idx="1">
                  <c:v>795469.33</c:v>
                </c:pt>
                <c:pt idx="2">
                  <c:v>795469.33</c:v>
                </c:pt>
                <c:pt idx="3">
                  <c:v>795469.33</c:v>
                </c:pt>
                <c:pt idx="4">
                  <c:v>795469.33</c:v>
                </c:pt>
                <c:pt idx="5">
                  <c:v>795469.33</c:v>
                </c:pt>
                <c:pt idx="6">
                  <c:v>795469.33</c:v>
                </c:pt>
                <c:pt idx="7">
                  <c:v>795469.33</c:v>
                </c:pt>
                <c:pt idx="8">
                  <c:v>795469.33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181033.52666666667</c:v>
                </c:pt>
                <c:pt idx="1">
                  <c:v>181033.52666666667</c:v>
                </c:pt>
                <c:pt idx="2">
                  <c:v>181033.52666666667</c:v>
                </c:pt>
                <c:pt idx="3">
                  <c:v>181033.52666666667</c:v>
                </c:pt>
                <c:pt idx="4">
                  <c:v>181033.52666666667</c:v>
                </c:pt>
                <c:pt idx="5">
                  <c:v>181033.52666666667</c:v>
                </c:pt>
                <c:pt idx="6">
                  <c:v>181033.52666666667</c:v>
                </c:pt>
                <c:pt idx="7">
                  <c:v>181033.52666666667</c:v>
                </c:pt>
                <c:pt idx="8">
                  <c:v>181033.52666666667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GM statement. Jan-Sep 2026, same-store, INEOS excluded (opened 2026).PLACE: Profitability, in front of Fixed Ops Absorption % (the next slide, the trend). The breakdown of total store fixed expenses is on this slide. The denominator is the P&amp;L's Fixed Expenses line on the GM statement: the whole store's expenses (new, used, service, parts and the GMC Prescott body shop, as on the P&amp;L)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GM statement. Jan-Sep 2026, same-store, INEOS excluded (opened 2026). Fixed Expenses line by account class, every department of the store; categories reconcile to the line to the cent ($242,850,782).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included.PLACE: opening, right after Why We Are Here (Noah, Oct 24): the high-level view of service and parts before the sections. Department profit as the P&amp;L Detail statement reports it (DEPARTMENT PROFIT OR LOSS, Mechanical and P&amp;A). Jan-Sep 2026 gross $188,799,724, department expenses $138,349,830, profit $50,449,894; 2025 $181,331,157 / $135,995,022 / $45,336,135. Store-level costs the P&amp;L does not split by department (management fees, other income) sit outside it. Same basis as the service and parts net to gross slides. Revenue per $1 of net: service + parts net sales $347,806,562 (P&amp;L Detail NET SALES, Mechanical $182,131,162 + P&amp;A $165,675,400) / net profit $50,449,894 = $6.89; net profit is 14.5 cents of every sales dollar. Parts sales include parts sold to the service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Jan-Sep 2026 vs Jan-Sep 2025; 2025 shown January-December. Store rows reconcile to the group,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Lincoln, Subaru Prescott and GMC Prescott turned a 2025 loss into a profit (green rows); VW St George went from a profit to a loss (red row). 24 of 33 stores grew fixed ops net profit, January through September year to date.Source: Qlik - Profit &amp; Loss, Detail statement. Same-store, INEOS excluded (opened 2026). Fixed ops net profit = service (Mechanical) + parts (P&amp;A) department profit: department gross less the department's own expenses; GMC Prescott body shop is its own department and is not included. Ranked by dollar change, Jan-Sep 2026 vs Jan-Sep 2025; percent change alongside, top three and bottom three by percent marked. Percent change = dollar change / 2025 profit; where 2025 was a loss, divided by the size of the loss, so an improvement reads as positive.Green band: lost money in fixed ops in 2025, made money in 2026 (Lincoln −$389K to $94K, Subaru Prescott −$55K to $129K and GMC Prescott −$125K to $20K). Red band: made money in 2025, lost money in 2026 (VW St George $153K to −$59K).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three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chart" Target="/ppt/charts/chart11.xml"/><Relationship Id="rId6" Type="http://schemas.openxmlformats.org/officeDocument/2006/relationships/chart" Target="/ppt/charts/chart12.xml"/><Relationship Id="rId7" Type="http://schemas.openxmlformats.org/officeDocument/2006/relationships/chart" Target="/ppt/charts/chart13.xml"/><Relationship Id="rId8" Type="http://schemas.openxmlformats.org/officeDocument/2006/relationships/chart" Target="/ppt/charts/chart14.xml"/><Relationship Id="rId9" Type="http://schemas.openxmlformats.org/officeDocument/2006/relationships/chart" Target="/ppt/charts/chart15.xml"/><Relationship Id="rId10" Type="http://schemas.openxmlformats.org/officeDocument/2006/relationships/chart" Target="/ppt/charts/chart16.xml"/><Relationship Id="rId11" Type="http://schemas.openxmlformats.org/officeDocument/2006/relationships/chart" Target="/ppt/charts/chart17.xml"/><Relationship Id="rId12" Type="http://schemas.openxmlformats.org/officeDocument/2006/relationships/chart" Target="/ppt/charts/chart18.xml"/><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dealership's fixed expenses are covered by parts and service gross profit.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Store Fixed Expenses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PEOPLE</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$147.9M</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61% · Salaries and wages, payroll taxes, benefits, PTO</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2587C5"/>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BUILDING &amp; EQUIPMENT</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$39.1M</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16% · Rent, depreciation, property taxes, utilities, insurance, building and equipment repairs</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2587C5"/>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SYSTEMS &amp; SERVICES</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$36.4M</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15% · DMS and IT, outside services, phones, legal and audit</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2587C5"/>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EVERYTHING ELSE</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$19.5M</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8% · Service and parts advertising, training, company vehicles, freight, supplies, travel, other taxes</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Not included: sales and F&amp;I commissions, delivery, policy, floorplan interest and new and used vehicle advertising, the costs that rise and fall with each car sold.</a:t>
            </a:r>
            <a:endParaRPr lang="en-US" sz="1700" dirty="0"/>
          </a:p>
        </p:txBody>
      </p:sp>
      <p:sp>
        <p:nvSpPr>
          <p:cNvPr id="27" name="Shape 25"/>
          <p:cNvSpPr/>
          <p:nvPr/>
        </p:nvSpPr>
        <p:spPr>
          <a:xfrm>
            <a:off x="457200" y="6126480"/>
            <a:ext cx="11274552" cy="615696"/>
          </a:xfrm>
          <a:prstGeom prst="rect">
            <a:avLst/>
          </a:prstGeom>
          <a:solidFill>
            <a:srgbClr val="EDF4F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$242.9M of fixed expenses Jan-Sep 2026; fixed ops gross of $189.7M covers 78.1% of it. People are 61% of the total.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Fixed ops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parts and service generate after their allocated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$138.35M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$50.45M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fixed ops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and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parts and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largest expense: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gross from the same team and the same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company vehicles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$50.45M fixed ops net profit, +11.3%. Gross grew +4.1%; department expenses +1.7%.</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$45.34M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$50.45M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+$5.11M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+$5.11M (+11.3%) year to date; 7 of nine months ahead of 2025, largest gain in September, +$1.61M.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NET PROFIT</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$50.45M</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$7.83M</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79080"/>
            <a:ext cx="1419699"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$6.08M</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440491"/>
            <a:ext cx="1154907"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$4.94M</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2980944" y="2701901"/>
            <a:ext cx="775885"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$3.32M</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9" name="Shape 27"/>
          <p:cNvSpPr/>
          <p:nvPr/>
        </p:nvSpPr>
        <p:spPr>
          <a:xfrm>
            <a:off x="2980944" y="2963312"/>
            <a:ext cx="686722"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$2.94M</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224723"/>
            <a:ext cx="606903"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$2.60M</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37" name="Shape 35"/>
          <p:cNvSpPr/>
          <p:nvPr/>
        </p:nvSpPr>
        <p:spPr>
          <a:xfrm>
            <a:off x="2980944" y="3486134"/>
            <a:ext cx="529462"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$2.27M</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2980944" y="3747545"/>
            <a:ext cx="477227"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$2.04M</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45" name="Shape 43"/>
          <p:cNvSpPr/>
          <p:nvPr/>
        </p:nvSpPr>
        <p:spPr>
          <a:xfrm>
            <a:off x="2980944" y="4008956"/>
            <a:ext cx="424033"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$1.82M</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9" name="Shape 47"/>
          <p:cNvSpPr/>
          <p:nvPr/>
        </p:nvSpPr>
        <p:spPr>
          <a:xfrm>
            <a:off x="2980944" y="4270366"/>
            <a:ext cx="421495"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$1.80M</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3" name="Shape 51"/>
          <p:cNvSpPr/>
          <p:nvPr/>
        </p:nvSpPr>
        <p:spPr>
          <a:xfrm>
            <a:off x="2980944" y="4531777"/>
            <a:ext cx="310696"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$1.33M</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7" name="Shape 55"/>
          <p:cNvSpPr/>
          <p:nvPr/>
        </p:nvSpPr>
        <p:spPr>
          <a:xfrm>
            <a:off x="2980944" y="4793188"/>
            <a:ext cx="308094"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$1.32M</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1" name="Shape 59"/>
          <p:cNvSpPr/>
          <p:nvPr/>
        </p:nvSpPr>
        <p:spPr>
          <a:xfrm>
            <a:off x="2980944" y="5054599"/>
            <a:ext cx="279934"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$1.20M</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5" name="Shape 63"/>
          <p:cNvSpPr/>
          <p:nvPr/>
        </p:nvSpPr>
        <p:spPr>
          <a:xfrm>
            <a:off x="2980944" y="5316010"/>
            <a:ext cx="273031"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$1.17M</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9" name="Shape 67"/>
          <p:cNvSpPr/>
          <p:nvPr/>
        </p:nvSpPr>
        <p:spPr>
          <a:xfrm>
            <a:off x="2980944" y="5577420"/>
            <a:ext cx="272418"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$1.17M</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73" name="Shape 71"/>
          <p:cNvSpPr/>
          <p:nvPr/>
        </p:nvSpPr>
        <p:spPr>
          <a:xfrm>
            <a:off x="2980944" y="5838831"/>
            <a:ext cx="261785"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$1.12M</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77" name="Shape 75"/>
          <p:cNvSpPr/>
          <p:nvPr/>
        </p:nvSpPr>
        <p:spPr>
          <a:xfrm>
            <a:off x="2980944" y="6100242"/>
            <a:ext cx="254692"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$1.09M</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1" name="Shape 79"/>
          <p:cNvSpPr/>
          <p:nvPr/>
        </p:nvSpPr>
        <p:spPr>
          <a:xfrm>
            <a:off x="8531352" y="1917669"/>
            <a:ext cx="230085"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$985,141</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5" name="Shape 83"/>
          <p:cNvSpPr/>
          <p:nvPr/>
        </p:nvSpPr>
        <p:spPr>
          <a:xfrm>
            <a:off x="8531352" y="2179080"/>
            <a:ext cx="210561"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$901,549</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440491"/>
            <a:ext cx="186954"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$800,469</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3" name="Shape 91"/>
          <p:cNvSpPr/>
          <p:nvPr/>
        </p:nvSpPr>
        <p:spPr>
          <a:xfrm>
            <a:off x="8531352" y="2701901"/>
            <a:ext cx="164685"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$705,121</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97" name="Shape 95"/>
          <p:cNvSpPr/>
          <p:nvPr/>
        </p:nvSpPr>
        <p:spPr>
          <a:xfrm>
            <a:off x="8531352" y="2963312"/>
            <a:ext cx="163331"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$699,325</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1" name="Shape 99"/>
          <p:cNvSpPr/>
          <p:nvPr/>
        </p:nvSpPr>
        <p:spPr>
          <a:xfrm>
            <a:off x="8531352" y="3224723"/>
            <a:ext cx="158180"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$677,269</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8531352" y="3486134"/>
            <a:ext cx="117270"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$502,109</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8531352" y="3747545"/>
            <a:ext cx="111208"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$476,154</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3" name="Shape 111"/>
          <p:cNvSpPr/>
          <p:nvPr/>
        </p:nvSpPr>
        <p:spPr>
          <a:xfrm>
            <a:off x="8531352" y="4008956"/>
            <a:ext cx="99951"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$427,953</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7" name="Shape 115"/>
          <p:cNvSpPr/>
          <p:nvPr/>
        </p:nvSpPr>
        <p:spPr>
          <a:xfrm>
            <a:off x="8531352" y="4270366"/>
            <a:ext cx="30021" cy="120249"/>
          </a:xfrm>
          <a:prstGeom prst="rect">
            <a:avLst/>
          </a:prstGeom>
          <a:solidFill>
            <a:srgbClr val="2587C5"/>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$128,541</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1" name="Shape 119"/>
          <p:cNvSpPr/>
          <p:nvPr/>
        </p:nvSpPr>
        <p:spPr>
          <a:xfrm>
            <a:off x="8531352" y="4531777"/>
            <a:ext cx="25197" cy="120249"/>
          </a:xfrm>
          <a:prstGeom prst="rect">
            <a:avLst/>
          </a:prstGeom>
          <a:solidFill>
            <a:srgbClr val="2587C5"/>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$107,886</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31352" y="4793188"/>
            <a:ext cx="22055" cy="120249"/>
          </a:xfrm>
          <a:prstGeom prst="rect">
            <a:avLst/>
          </a:prstGeom>
          <a:solidFill>
            <a:srgbClr val="2587C5"/>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$94,430</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9" name="Shape 127"/>
          <p:cNvSpPr/>
          <p:nvPr/>
        </p:nvSpPr>
        <p:spPr>
          <a:xfrm>
            <a:off x="8531352" y="5054599"/>
            <a:ext cx="18567" cy="120249"/>
          </a:xfrm>
          <a:prstGeom prst="rect">
            <a:avLst/>
          </a:prstGeom>
          <a:solidFill>
            <a:srgbClr val="2587C5"/>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$79,496</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3" name="Shape 131"/>
          <p:cNvSpPr/>
          <p:nvPr/>
        </p:nvSpPr>
        <p:spPr>
          <a:xfrm>
            <a:off x="8531352" y="5316010"/>
            <a:ext cx="18288" cy="120249"/>
          </a:xfrm>
          <a:prstGeom prst="rect">
            <a:avLst/>
          </a:prstGeom>
          <a:solidFill>
            <a:srgbClr val="2587C5"/>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$19,561</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31352" y="5577420"/>
            <a:ext cx="18288" cy="120249"/>
          </a:xfrm>
          <a:prstGeom prst="rect">
            <a:avLst/>
          </a:prstGeom>
          <a:solidFill>
            <a:srgbClr val="C2352F"/>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−$58,644</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31352" y="5838831"/>
            <a:ext cx="31883" cy="120249"/>
          </a:xfrm>
          <a:prstGeom prst="rect">
            <a:avLst/>
          </a:prstGeom>
          <a:solidFill>
            <a:srgbClr val="C2352F"/>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−$136,511</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NET PROFIT</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+$5.11M  ·  +11.3%</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+$1.42M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+22.1%</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338388"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+$838K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+20.4%</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7" name="Shape 25"/>
          <p:cNvSpPr/>
          <p:nvPr/>
        </p:nvSpPr>
        <p:spPr>
          <a:xfrm>
            <a:off x="3579876" y="2629341"/>
            <a:ext cx="309104"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+$766K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+41.8%</a:t>
            </a:r>
            <a:endParaRPr lang="en-US" sz="1200" dirty="0"/>
          </a:p>
        </p:txBody>
      </p:sp>
      <p:sp>
        <p:nvSpPr>
          <p:cNvPr id="30" name="Text 28"/>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2" name="Shape 30"/>
          <p:cNvSpPr/>
          <p:nvPr/>
        </p:nvSpPr>
        <p:spPr>
          <a:xfrm>
            <a:off x="3579876" y="2853100"/>
            <a:ext cx="279424" cy="102929"/>
          </a:xfrm>
          <a:prstGeom prst="rect">
            <a:avLst/>
          </a:prstGeom>
          <a:solidFill>
            <a:srgbClr val="12A566"/>
          </a:solidFill>
          <a:ln/>
        </p:spPr>
      </p:sp>
      <p:sp>
        <p:nvSpPr>
          <p:cNvPr id="33" name="Text 31"/>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+$692K</a:t>
            </a:r>
            <a:endParaRPr lang="en-US" sz="1200" dirty="0"/>
          </a:p>
        </p:txBody>
      </p:sp>
      <p:sp>
        <p:nvSpPr>
          <p:cNvPr id="34" name="Text 32"/>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+12.9%</a:t>
            </a:r>
            <a:endParaRPr lang="en-US" sz="1200" dirty="0"/>
          </a:p>
        </p:txBody>
      </p:sp>
      <p:sp>
        <p:nvSpPr>
          <p:cNvPr id="35" name="Shape 33"/>
          <p:cNvSpPr/>
          <p:nvPr/>
        </p:nvSpPr>
        <p:spPr>
          <a:xfrm>
            <a:off x="612648" y="3025588"/>
            <a:ext cx="5138928" cy="205471"/>
          </a:xfrm>
          <a:prstGeom prst="rect">
            <a:avLst/>
          </a:prstGeom>
          <a:solidFill>
            <a:srgbClr val="E6F6EE"/>
          </a:solidFill>
          <a:ln/>
        </p:spPr>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8" name="Shape 36"/>
          <p:cNvSpPr/>
          <p:nvPr/>
        </p:nvSpPr>
        <p:spPr>
          <a:xfrm>
            <a:off x="3579876" y="3076859"/>
            <a:ext cx="195258"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+$484K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+124.3%</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3" name="Shape 41"/>
          <p:cNvSpPr/>
          <p:nvPr/>
        </p:nvSpPr>
        <p:spPr>
          <a:xfrm>
            <a:off x="3579876" y="3300618"/>
            <a:ext cx="170398"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+$422K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+30.5%</a:t>
            </a:r>
            <a:endParaRPr lang="en-US" sz="1200" dirty="0"/>
          </a:p>
        </p:txBody>
      </p:sp>
      <p:sp>
        <p:nvSpPr>
          <p:cNvPr id="46" name="Text 44"/>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7" name="Text 45"/>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8" name="Shape 46"/>
          <p:cNvSpPr/>
          <p:nvPr/>
        </p:nvSpPr>
        <p:spPr>
          <a:xfrm>
            <a:off x="3579876" y="3524377"/>
            <a:ext cx="136037" cy="102929"/>
          </a:xfrm>
          <a:prstGeom prst="rect">
            <a:avLst/>
          </a:prstGeom>
          <a:solidFill>
            <a:srgbClr val="12A566"/>
          </a:solidFill>
          <a:ln/>
        </p:spPr>
      </p:sp>
      <p:sp>
        <p:nvSpPr>
          <p:cNvPr id="49" name="Text 47"/>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+$337K</a:t>
            </a:r>
            <a:endParaRPr lang="en-US" sz="1200" dirty="0"/>
          </a:p>
        </p:txBody>
      </p:sp>
      <p:sp>
        <p:nvSpPr>
          <p:cNvPr id="50" name="Text 48"/>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+43.0%</a:t>
            </a:r>
            <a:endParaRPr lang="en-US" sz="1200" dirty="0"/>
          </a:p>
        </p:txBody>
      </p:sp>
      <p:sp>
        <p:nvSpPr>
          <p:cNvPr id="51" name="Text 49"/>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2" name="Text 50"/>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53" name="Shape 51"/>
          <p:cNvSpPr/>
          <p:nvPr/>
        </p:nvSpPr>
        <p:spPr>
          <a:xfrm>
            <a:off x="3579876" y="3748136"/>
            <a:ext cx="117971" cy="102929"/>
          </a:xfrm>
          <a:prstGeom prst="rect">
            <a:avLst/>
          </a:prstGeom>
          <a:solidFill>
            <a:srgbClr val="12A566"/>
          </a:solidFill>
          <a:ln/>
        </p:spPr>
      </p:sp>
      <p:sp>
        <p:nvSpPr>
          <p:cNvPr id="54" name="Text 52"/>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+$292K</a:t>
            </a:r>
            <a:endParaRPr lang="en-US" sz="1200" dirty="0"/>
          </a:p>
        </p:txBody>
      </p:sp>
      <p:sp>
        <p:nvSpPr>
          <p:cNvPr id="55" name="Text 53"/>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+215.4%</a:t>
            </a:r>
            <a:endParaRPr lang="en-US" sz="1200" dirty="0"/>
          </a:p>
        </p:txBody>
      </p:sp>
      <p:sp>
        <p:nvSpPr>
          <p:cNvPr id="56" name="Shape 54"/>
          <p:cNvSpPr/>
          <p:nvPr/>
        </p:nvSpPr>
        <p:spPr>
          <a:xfrm>
            <a:off x="5907024" y="3733441"/>
            <a:ext cx="54864" cy="132319"/>
          </a:xfrm>
          <a:prstGeom prst="rect">
            <a:avLst/>
          </a:prstGeom>
          <a:solidFill>
            <a:srgbClr val="12A566"/>
          </a:solidFill>
          <a:ln/>
        </p:spPr>
      </p:sp>
      <p:sp>
        <p:nvSpPr>
          <p:cNvPr id="57" name="Text 55"/>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8" name="Text 56"/>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9" name="Shape 57"/>
          <p:cNvSpPr/>
          <p:nvPr/>
        </p:nvSpPr>
        <p:spPr>
          <a:xfrm>
            <a:off x="3579876" y="3971895"/>
            <a:ext cx="115044" cy="102929"/>
          </a:xfrm>
          <a:prstGeom prst="rect">
            <a:avLst/>
          </a:prstGeom>
          <a:solidFill>
            <a:srgbClr val="12A566"/>
          </a:solidFill>
          <a:ln/>
        </p:spPr>
      </p:sp>
      <p:sp>
        <p:nvSpPr>
          <p:cNvPr id="60" name="Text 58"/>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+$285K</a:t>
            </a:r>
            <a:endParaRPr lang="en-US" sz="1200" dirty="0"/>
          </a:p>
        </p:txBody>
      </p:sp>
      <p:sp>
        <p:nvSpPr>
          <p:cNvPr id="61" name="Text 59"/>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+32.3%</a:t>
            </a:r>
            <a:endParaRPr lang="en-US" sz="1200" dirty="0"/>
          </a:p>
        </p:txBody>
      </p:sp>
      <p:sp>
        <p:nvSpPr>
          <p:cNvPr id="62" name="Text 60"/>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3" name="Text 61"/>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4" name="Shape 62"/>
          <p:cNvSpPr/>
          <p:nvPr/>
        </p:nvSpPr>
        <p:spPr>
          <a:xfrm>
            <a:off x="3579876" y="4195654"/>
            <a:ext cx="87555" cy="102929"/>
          </a:xfrm>
          <a:prstGeom prst="rect">
            <a:avLst/>
          </a:prstGeom>
          <a:solidFill>
            <a:srgbClr val="12A566"/>
          </a:solidFill>
          <a:ln/>
        </p:spPr>
      </p:sp>
      <p:sp>
        <p:nvSpPr>
          <p:cNvPr id="65" name="Text 63"/>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+$217K</a:t>
            </a:r>
            <a:endParaRPr lang="en-US" sz="1200" dirty="0"/>
          </a:p>
        </p:txBody>
      </p:sp>
      <p:sp>
        <p:nvSpPr>
          <p:cNvPr id="66" name="Text 64"/>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+83.7%</a:t>
            </a:r>
            <a:endParaRPr lang="en-US" sz="1200" dirty="0"/>
          </a:p>
        </p:txBody>
      </p:sp>
      <p:sp>
        <p:nvSpPr>
          <p:cNvPr id="67" name="Text 65"/>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8" name="Text 66"/>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9" name="Shape 67"/>
          <p:cNvSpPr/>
          <p:nvPr/>
        </p:nvSpPr>
        <p:spPr>
          <a:xfrm>
            <a:off x="3579876" y="4419414"/>
            <a:ext cx="83153" cy="102929"/>
          </a:xfrm>
          <a:prstGeom prst="rect">
            <a:avLst/>
          </a:prstGeom>
          <a:solidFill>
            <a:srgbClr val="12A566"/>
          </a:solidFill>
          <a:ln/>
        </p:spPr>
      </p:sp>
      <p:sp>
        <p:nvSpPr>
          <p:cNvPr id="70" name="Text 68"/>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+$206K</a:t>
            </a:r>
            <a:endParaRPr lang="en-US" sz="1200" dirty="0"/>
          </a:p>
        </p:txBody>
      </p:sp>
      <p:sp>
        <p:nvSpPr>
          <p:cNvPr id="71" name="Text 69"/>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+20.8%</a:t>
            </a:r>
            <a:endParaRPr lang="en-US" sz="1200" dirty="0"/>
          </a:p>
        </p:txBody>
      </p:sp>
      <p:sp>
        <p:nvSpPr>
          <p:cNvPr id="72" name="Shape 70"/>
          <p:cNvSpPr/>
          <p:nvPr/>
        </p:nvSpPr>
        <p:spPr>
          <a:xfrm>
            <a:off x="612648" y="4591902"/>
            <a:ext cx="5138928" cy="205471"/>
          </a:xfrm>
          <a:prstGeom prst="rect">
            <a:avLst/>
          </a:prstGeom>
          <a:solidFill>
            <a:srgbClr val="E6F6EE"/>
          </a:solidFill>
          <a:ln/>
        </p:spPr>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5" name="Shape 73"/>
          <p:cNvSpPr/>
          <p:nvPr/>
        </p:nvSpPr>
        <p:spPr>
          <a:xfrm>
            <a:off x="3579876" y="4643173"/>
            <a:ext cx="73936"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+$183K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+335.3%</a:t>
            </a:r>
            <a:endParaRPr lang="en-US" sz="1200" dirty="0"/>
          </a:p>
        </p:txBody>
      </p:sp>
      <p:sp>
        <p:nvSpPr>
          <p:cNvPr id="78" name="Shape 76"/>
          <p:cNvSpPr/>
          <p:nvPr/>
        </p:nvSpPr>
        <p:spPr>
          <a:xfrm>
            <a:off x="5907024" y="4628478"/>
            <a:ext cx="54864" cy="132319"/>
          </a:xfrm>
          <a:prstGeom prst="rect">
            <a:avLst/>
          </a:prstGeom>
          <a:solidFill>
            <a:srgbClr val="12A566"/>
          </a:solidFill>
          <a:ln/>
        </p:spPr>
      </p:sp>
      <p:sp>
        <p:nvSpPr>
          <p:cNvPr id="79" name="Text 77"/>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0" name="Text 78"/>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1" name="Shape 79"/>
          <p:cNvSpPr/>
          <p:nvPr/>
        </p:nvSpPr>
        <p:spPr>
          <a:xfrm>
            <a:off x="3579876" y="4866932"/>
            <a:ext cx="62602" cy="102929"/>
          </a:xfrm>
          <a:prstGeom prst="rect">
            <a:avLst/>
          </a:prstGeom>
          <a:solidFill>
            <a:srgbClr val="12A566"/>
          </a:solidFill>
          <a:ln/>
        </p:spPr>
      </p:sp>
      <p:sp>
        <p:nvSpPr>
          <p:cNvPr id="82" name="Text 80"/>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+$155K</a:t>
            </a:r>
            <a:endParaRPr lang="en-US" sz="1200" dirty="0"/>
          </a:p>
        </p:txBody>
      </p:sp>
      <p:sp>
        <p:nvSpPr>
          <p:cNvPr id="83" name="Text 81"/>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+13.2%</a:t>
            </a:r>
            <a:endParaRPr lang="en-US" sz="1200" dirty="0"/>
          </a:p>
        </p:txBody>
      </p:sp>
      <p:sp>
        <p:nvSpPr>
          <p:cNvPr id="84" name="Text 82"/>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5" name="Text 83"/>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6" name="Shape 84"/>
          <p:cNvSpPr/>
          <p:nvPr/>
        </p:nvSpPr>
        <p:spPr>
          <a:xfrm>
            <a:off x="3579876" y="5090691"/>
            <a:ext cx="61490" cy="102929"/>
          </a:xfrm>
          <a:prstGeom prst="rect">
            <a:avLst/>
          </a:prstGeom>
          <a:solidFill>
            <a:srgbClr val="12A566"/>
          </a:solidFill>
          <a:ln/>
        </p:spPr>
      </p:sp>
      <p:sp>
        <p:nvSpPr>
          <p:cNvPr id="87" name="Text 85"/>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+$152K</a:t>
            </a:r>
            <a:endParaRPr lang="en-US" sz="1200" dirty="0"/>
          </a:p>
        </p:txBody>
      </p:sp>
      <p:sp>
        <p:nvSpPr>
          <p:cNvPr id="88" name="Text 86"/>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a:t>
            </a:r>
            <a:endParaRPr lang="en-US" sz="1200" dirty="0"/>
          </a:p>
        </p:txBody>
      </p:sp>
      <p:sp>
        <p:nvSpPr>
          <p:cNvPr id="89" name="Shape 87"/>
          <p:cNvSpPr/>
          <p:nvPr/>
        </p:nvSpPr>
        <p:spPr>
          <a:xfrm>
            <a:off x="612648" y="5263179"/>
            <a:ext cx="5138928" cy="205471"/>
          </a:xfrm>
          <a:prstGeom prst="rect">
            <a:avLst/>
          </a:prstGeom>
          <a:solidFill>
            <a:srgbClr val="E6F6EE"/>
          </a:solidFill>
          <a:ln/>
        </p:spPr>
      </p:sp>
      <p:sp>
        <p:nvSpPr>
          <p:cNvPr id="90" name="Text 88"/>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1" name="Text 89"/>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2" name="Shape 90"/>
          <p:cNvSpPr/>
          <p:nvPr/>
        </p:nvSpPr>
        <p:spPr>
          <a:xfrm>
            <a:off x="3579876" y="5314450"/>
            <a:ext cx="58162" cy="102929"/>
          </a:xfrm>
          <a:prstGeom prst="rect">
            <a:avLst/>
          </a:prstGeom>
          <a:solidFill>
            <a:srgbClr val="12A566"/>
          </a:solidFill>
          <a:ln/>
        </p:spPr>
      </p:sp>
      <p:sp>
        <p:nvSpPr>
          <p:cNvPr id="93" name="Text 91"/>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+$144K</a:t>
            </a:r>
            <a:endParaRPr lang="en-US" sz="1200" dirty="0"/>
          </a:p>
        </p:txBody>
      </p:sp>
      <p:sp>
        <p:nvSpPr>
          <p:cNvPr id="94" name="Text 92"/>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+115.7%</a:t>
            </a:r>
            <a:endParaRPr lang="en-US" sz="1200" dirty="0"/>
          </a:p>
        </p:txBody>
      </p:sp>
      <p:sp>
        <p:nvSpPr>
          <p:cNvPr id="95" name="Text 93"/>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6" name="Text 94"/>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97" name="Shape 95"/>
          <p:cNvSpPr/>
          <p:nvPr/>
        </p:nvSpPr>
        <p:spPr>
          <a:xfrm>
            <a:off x="3579876" y="5538209"/>
            <a:ext cx="54233" cy="102929"/>
          </a:xfrm>
          <a:prstGeom prst="rect">
            <a:avLst/>
          </a:prstGeom>
          <a:solidFill>
            <a:srgbClr val="12A566"/>
          </a:solidFill>
          <a:ln/>
        </p:spPr>
      </p:sp>
      <p:sp>
        <p:nvSpPr>
          <p:cNvPr id="98" name="Text 96"/>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99" name="Text 97"/>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+24.7%</a:t>
            </a:r>
            <a:endParaRPr lang="en-US" sz="1200" dirty="0"/>
          </a:p>
        </p:txBody>
      </p:sp>
      <p:sp>
        <p:nvSpPr>
          <p:cNvPr id="100" name="Text 98"/>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1" name="Text 99"/>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2" name="Shape 100"/>
          <p:cNvSpPr/>
          <p:nvPr/>
        </p:nvSpPr>
        <p:spPr>
          <a:xfrm>
            <a:off x="3579876" y="5761968"/>
            <a:ext cx="52684" cy="102929"/>
          </a:xfrm>
          <a:prstGeom prst="rect">
            <a:avLst/>
          </a:prstGeom>
          <a:solidFill>
            <a:srgbClr val="12A566"/>
          </a:solidFill>
          <a:ln/>
        </p:spPr>
      </p:sp>
      <p:sp>
        <p:nvSpPr>
          <p:cNvPr id="103" name="Text 101"/>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+$131K</a:t>
            </a:r>
            <a:endParaRPr lang="en-US" sz="1200" dirty="0"/>
          </a:p>
        </p:txBody>
      </p:sp>
      <p:sp>
        <p:nvSpPr>
          <p:cNvPr id="104" name="Text 102"/>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+16.9%</a:t>
            </a:r>
            <a:endParaRPr lang="en-US" sz="1200" dirty="0"/>
          </a:p>
        </p:txBody>
      </p:sp>
      <p:sp>
        <p:nvSpPr>
          <p:cNvPr id="105" name="Text 103"/>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6" name="Text 104"/>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07" name="Shape 105"/>
          <p:cNvSpPr/>
          <p:nvPr/>
        </p:nvSpPr>
        <p:spPr>
          <a:xfrm>
            <a:off x="9130284" y="2181823"/>
            <a:ext cx="45718" cy="102929"/>
          </a:xfrm>
          <a:prstGeom prst="rect">
            <a:avLst/>
          </a:prstGeom>
          <a:solidFill>
            <a:srgbClr val="12A566"/>
          </a:solidFill>
          <a:ln/>
        </p:spPr>
      </p:sp>
      <p:sp>
        <p:nvSpPr>
          <p:cNvPr id="108" name="Text 106"/>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+$113K</a:t>
            </a:r>
            <a:endParaRPr lang="en-US" sz="1200" dirty="0"/>
          </a:p>
        </p:txBody>
      </p:sp>
      <p:sp>
        <p:nvSpPr>
          <p:cNvPr id="109" name="Text 107"/>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+10.7%</a:t>
            </a:r>
            <a:endParaRPr lang="en-US" sz="1200" dirty="0"/>
          </a:p>
        </p:txBody>
      </p:sp>
      <p:sp>
        <p:nvSpPr>
          <p:cNvPr id="110" name="Text 108"/>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11" name="Text 109"/>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12" name="Shape 110"/>
          <p:cNvSpPr/>
          <p:nvPr/>
        </p:nvSpPr>
        <p:spPr>
          <a:xfrm>
            <a:off x="9130284" y="2405582"/>
            <a:ext cx="39446" cy="102929"/>
          </a:xfrm>
          <a:prstGeom prst="rect">
            <a:avLst/>
          </a:prstGeom>
          <a:solidFill>
            <a:srgbClr val="12A566"/>
          </a:solidFill>
          <a:ln/>
        </p:spPr>
      </p:sp>
      <p:sp>
        <p:nvSpPr>
          <p:cNvPr id="113" name="Text 111"/>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+$98K</a:t>
            </a:r>
            <a:endParaRPr lang="en-US" sz="1200" dirty="0"/>
          </a:p>
        </p:txBody>
      </p:sp>
      <p:sp>
        <p:nvSpPr>
          <p:cNvPr id="114" name="Text 112"/>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a:t>
            </a:r>
            <a:endParaRPr lang="en-US" sz="1200" dirty="0"/>
          </a:p>
        </p:txBody>
      </p:sp>
      <p:sp>
        <p:nvSpPr>
          <p:cNvPr id="115" name="Text 113"/>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6" name="Text 114"/>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17" name="Shape 115"/>
          <p:cNvSpPr/>
          <p:nvPr/>
        </p:nvSpPr>
        <p:spPr>
          <a:xfrm>
            <a:off x="9130284" y="2629341"/>
            <a:ext cx="38729" cy="102929"/>
          </a:xfrm>
          <a:prstGeom prst="rect">
            <a:avLst/>
          </a:prstGeom>
          <a:solidFill>
            <a:srgbClr val="12A566"/>
          </a:solidFill>
          <a:ln/>
        </p:spPr>
      </p:sp>
      <p:sp>
        <p:nvSpPr>
          <p:cNvPr id="118" name="Text 116"/>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+$96K</a:t>
            </a:r>
            <a:endParaRPr lang="en-US" sz="1200" dirty="0"/>
          </a:p>
        </p:txBody>
      </p:sp>
      <p:sp>
        <p:nvSpPr>
          <p:cNvPr id="119" name="Text 117"/>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+41.3%</a:t>
            </a:r>
            <a:endParaRPr lang="en-US" sz="1200" dirty="0"/>
          </a:p>
        </p:txBody>
      </p:sp>
      <p:sp>
        <p:nvSpPr>
          <p:cNvPr id="120" name="Text 118"/>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21" name="Text 119"/>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2" name="Shape 120"/>
          <p:cNvSpPr/>
          <p:nvPr/>
        </p:nvSpPr>
        <p:spPr>
          <a:xfrm>
            <a:off x="9130284" y="2853100"/>
            <a:ext cx="21715" cy="102929"/>
          </a:xfrm>
          <a:prstGeom prst="rect">
            <a:avLst/>
          </a:prstGeom>
          <a:solidFill>
            <a:srgbClr val="12A566"/>
          </a:solidFill>
          <a:ln/>
        </p:spPr>
      </p:sp>
      <p:sp>
        <p:nvSpPr>
          <p:cNvPr id="123" name="Text 121"/>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+$54K</a:t>
            </a:r>
            <a:endParaRPr lang="en-US" sz="1200" dirty="0"/>
          </a:p>
        </p:txBody>
      </p:sp>
      <p:sp>
        <p:nvSpPr>
          <p:cNvPr id="124" name="Text 122"/>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a:t>
            </a:r>
            <a:endParaRPr lang="en-US" sz="1200" dirty="0"/>
          </a:p>
        </p:txBody>
      </p:sp>
      <p:sp>
        <p:nvSpPr>
          <p:cNvPr id="125" name="Text 123"/>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6" name="Text 124"/>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7" name="Shape 125"/>
          <p:cNvSpPr/>
          <p:nvPr/>
        </p:nvSpPr>
        <p:spPr>
          <a:xfrm>
            <a:off x="9130284" y="3076859"/>
            <a:ext cx="21414" cy="102929"/>
          </a:xfrm>
          <a:prstGeom prst="rect">
            <a:avLst/>
          </a:prstGeom>
          <a:solidFill>
            <a:srgbClr val="12A566"/>
          </a:solidFill>
          <a:ln/>
        </p:spPr>
      </p:sp>
      <p:sp>
        <p:nvSpPr>
          <p:cNvPr id="128" name="Text 126"/>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+$53K</a:t>
            </a:r>
            <a:endParaRPr lang="en-US" sz="1200" dirty="0"/>
          </a:p>
        </p:txBody>
      </p:sp>
      <p:sp>
        <p:nvSpPr>
          <p:cNvPr id="129" name="Text 127"/>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+200.6%</a:t>
            </a:r>
            <a:endParaRPr lang="en-US" sz="1200" dirty="0"/>
          </a:p>
        </p:txBody>
      </p:sp>
      <p:sp>
        <p:nvSpPr>
          <p:cNvPr id="130" name="Shape 128"/>
          <p:cNvSpPr/>
          <p:nvPr/>
        </p:nvSpPr>
        <p:spPr>
          <a:xfrm>
            <a:off x="11457432" y="3062164"/>
            <a:ext cx="54864" cy="132319"/>
          </a:xfrm>
          <a:prstGeom prst="rect">
            <a:avLst/>
          </a:prstGeom>
          <a:solidFill>
            <a:srgbClr val="12A566"/>
          </a:solidFill>
          <a:ln/>
        </p:spPr>
      </p:sp>
      <p:sp>
        <p:nvSpPr>
          <p:cNvPr id="131" name="Text 129"/>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32" name="Text 130"/>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33" name="Shape 131"/>
          <p:cNvSpPr/>
          <p:nvPr/>
        </p:nvSpPr>
        <p:spPr>
          <a:xfrm>
            <a:off x="9130284" y="3300618"/>
            <a:ext cx="12802" cy="102929"/>
          </a:xfrm>
          <a:prstGeom prst="rect">
            <a:avLst/>
          </a:prstGeom>
          <a:solidFill>
            <a:srgbClr val="12A566"/>
          </a:solidFill>
          <a:ln/>
        </p:spPr>
      </p:sp>
      <p:sp>
        <p:nvSpPr>
          <p:cNvPr id="134" name="Text 132"/>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+$6K</a:t>
            </a:r>
            <a:endParaRPr lang="en-US" sz="1200" dirty="0"/>
          </a:p>
        </p:txBody>
      </p:sp>
      <p:sp>
        <p:nvSpPr>
          <p:cNvPr id="135" name="Text 133"/>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a:t>
            </a:r>
            <a:endParaRPr lang="en-US" sz="1200" dirty="0"/>
          </a:p>
        </p:txBody>
      </p:sp>
      <p:sp>
        <p:nvSpPr>
          <p:cNvPr id="136" name="Text 134"/>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7" name="Text 135"/>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38" name="Shape 136"/>
          <p:cNvSpPr/>
          <p:nvPr/>
        </p:nvSpPr>
        <p:spPr>
          <a:xfrm>
            <a:off x="9130284" y="3524377"/>
            <a:ext cx="12802" cy="102929"/>
          </a:xfrm>
          <a:prstGeom prst="rect">
            <a:avLst/>
          </a:prstGeom>
          <a:solidFill>
            <a:srgbClr val="12A566"/>
          </a:solidFill>
          <a:ln/>
        </p:spPr>
      </p:sp>
      <p:sp>
        <p:nvSpPr>
          <p:cNvPr id="139" name="Text 137"/>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+$3K</a:t>
            </a:r>
            <a:endParaRPr lang="en-US" sz="1200" dirty="0"/>
          </a:p>
        </p:txBody>
      </p:sp>
      <p:sp>
        <p:nvSpPr>
          <p:cNvPr id="140" name="Text 138"/>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a:t>
            </a:r>
            <a:endParaRPr lang="en-US" sz="1200" dirty="0"/>
          </a:p>
        </p:txBody>
      </p:sp>
      <p:sp>
        <p:nvSpPr>
          <p:cNvPr id="141" name="Text 139"/>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42" name="Text 140"/>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43" name="Shape 141"/>
          <p:cNvSpPr/>
          <p:nvPr/>
        </p:nvSpPr>
        <p:spPr>
          <a:xfrm>
            <a:off x="9099640" y="3748136"/>
            <a:ext cx="30644" cy="102929"/>
          </a:xfrm>
          <a:prstGeom prst="rect">
            <a:avLst/>
          </a:prstGeom>
          <a:solidFill>
            <a:srgbClr val="C2352F"/>
          </a:solidFill>
          <a:ln/>
        </p:spPr>
      </p:sp>
      <p:sp>
        <p:nvSpPr>
          <p:cNvPr id="144" name="Text 142"/>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−$76K</a:t>
            </a:r>
            <a:endParaRPr lang="en-US" sz="1200" dirty="0"/>
          </a:p>
        </p:txBody>
      </p:sp>
      <p:sp>
        <p:nvSpPr>
          <p:cNvPr id="145" name="Text 143"/>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a:t>
            </a:r>
            <a:endParaRPr lang="en-US" sz="1200" dirty="0"/>
          </a:p>
        </p:txBody>
      </p:sp>
      <p:sp>
        <p:nvSpPr>
          <p:cNvPr id="146" name="Text 144"/>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7" name="Text 145"/>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48" name="Shape 146"/>
          <p:cNvSpPr/>
          <p:nvPr/>
        </p:nvSpPr>
        <p:spPr>
          <a:xfrm>
            <a:off x="9095358" y="3971895"/>
            <a:ext cx="34926" cy="102929"/>
          </a:xfrm>
          <a:prstGeom prst="rect">
            <a:avLst/>
          </a:prstGeom>
          <a:solidFill>
            <a:srgbClr val="C2352F"/>
          </a:solidFill>
          <a:ln/>
        </p:spPr>
      </p:sp>
      <p:sp>
        <p:nvSpPr>
          <p:cNvPr id="149" name="Text 147"/>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−$87K</a:t>
            </a:r>
            <a:endParaRPr lang="en-US" sz="1200" dirty="0"/>
          </a:p>
        </p:txBody>
      </p:sp>
      <p:sp>
        <p:nvSpPr>
          <p:cNvPr id="150" name="Text 148"/>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−8.1%</a:t>
            </a:r>
            <a:endParaRPr lang="en-US" sz="1200" dirty="0"/>
          </a:p>
        </p:txBody>
      </p:sp>
      <p:sp>
        <p:nvSpPr>
          <p:cNvPr id="151" name="Text 149"/>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2" name="Text 150"/>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53" name="Shape 151"/>
          <p:cNvSpPr/>
          <p:nvPr/>
        </p:nvSpPr>
        <p:spPr>
          <a:xfrm>
            <a:off x="9091461" y="4195654"/>
            <a:ext cx="38823" cy="102929"/>
          </a:xfrm>
          <a:prstGeom prst="rect">
            <a:avLst/>
          </a:prstGeom>
          <a:solidFill>
            <a:srgbClr val="C2352F"/>
          </a:solidFill>
          <a:ln/>
        </p:spPr>
      </p:sp>
      <p:sp>
        <p:nvSpPr>
          <p:cNvPr id="154" name="Text 152"/>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−$96K</a:t>
            </a:r>
            <a:endParaRPr lang="en-US" sz="1200" dirty="0"/>
          </a:p>
        </p:txBody>
      </p:sp>
      <p:sp>
        <p:nvSpPr>
          <p:cNvPr id="155" name="Text 153"/>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−47.1%</a:t>
            </a:r>
            <a:endParaRPr lang="en-US" sz="1200" dirty="0"/>
          </a:p>
        </p:txBody>
      </p:sp>
      <p:sp>
        <p:nvSpPr>
          <p:cNvPr id="156" name="Shape 154"/>
          <p:cNvSpPr/>
          <p:nvPr/>
        </p:nvSpPr>
        <p:spPr>
          <a:xfrm>
            <a:off x="11457432" y="4180960"/>
            <a:ext cx="54864" cy="132319"/>
          </a:xfrm>
          <a:prstGeom prst="rect">
            <a:avLst/>
          </a:prstGeom>
          <a:solidFill>
            <a:srgbClr val="C2352F"/>
          </a:solidFill>
          <a:ln/>
        </p:spPr>
      </p:sp>
      <p:sp>
        <p:nvSpPr>
          <p:cNvPr id="157" name="Text 155"/>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8" name="Text 156"/>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59" name="Shape 157"/>
          <p:cNvSpPr/>
          <p:nvPr/>
        </p:nvSpPr>
        <p:spPr>
          <a:xfrm>
            <a:off x="9071103" y="4419414"/>
            <a:ext cx="59181" cy="102929"/>
          </a:xfrm>
          <a:prstGeom prst="rect">
            <a:avLst/>
          </a:prstGeom>
          <a:solidFill>
            <a:srgbClr val="C2352F"/>
          </a:solidFill>
          <a:ln/>
        </p:spPr>
      </p:sp>
      <p:sp>
        <p:nvSpPr>
          <p:cNvPr id="160" name="Text 158"/>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−$147K</a:t>
            </a:r>
            <a:endParaRPr lang="en-US" sz="1200" dirty="0"/>
          </a:p>
        </p:txBody>
      </p:sp>
      <p:sp>
        <p:nvSpPr>
          <p:cNvPr id="161" name="Text 159"/>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62" name="Text 160"/>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3" name="Text 161"/>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9058567" y="4643173"/>
            <a:ext cx="71717" cy="102929"/>
          </a:xfrm>
          <a:prstGeom prst="rect">
            <a:avLst/>
          </a:prstGeom>
          <a:solidFill>
            <a:srgbClr val="C2352F"/>
          </a:solidFill>
          <a:ln/>
        </p:spPr>
      </p:sp>
      <p:sp>
        <p:nvSpPr>
          <p:cNvPr id="165" name="Text 163"/>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−$178K</a:t>
            </a:r>
            <a:endParaRPr lang="en-US" sz="1200" dirty="0"/>
          </a:p>
        </p:txBody>
      </p:sp>
      <p:sp>
        <p:nvSpPr>
          <p:cNvPr id="166" name="Text 164"/>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−8.9%</a:t>
            </a:r>
            <a:endParaRPr lang="en-US" sz="1200" dirty="0"/>
          </a:p>
        </p:txBody>
      </p:sp>
      <p:sp>
        <p:nvSpPr>
          <p:cNvPr id="167" name="Shape 165"/>
          <p:cNvSpPr/>
          <p:nvPr/>
        </p:nvSpPr>
        <p:spPr>
          <a:xfrm>
            <a:off x="6163056" y="4815661"/>
            <a:ext cx="5138928" cy="205471"/>
          </a:xfrm>
          <a:prstGeom prst="rect">
            <a:avLst/>
          </a:prstGeom>
          <a:solidFill>
            <a:srgbClr val="FBEBEA"/>
          </a:solidFill>
          <a:ln/>
        </p:spPr>
      </p:sp>
      <p:sp>
        <p:nvSpPr>
          <p:cNvPr id="168" name="Text 166"/>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9" name="Text 167"/>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70" name="Shape 168"/>
          <p:cNvSpPr/>
          <p:nvPr/>
        </p:nvSpPr>
        <p:spPr>
          <a:xfrm>
            <a:off x="9044670" y="4866932"/>
            <a:ext cx="85614" cy="102929"/>
          </a:xfrm>
          <a:prstGeom prst="rect">
            <a:avLst/>
          </a:prstGeom>
          <a:solidFill>
            <a:srgbClr val="C2352F"/>
          </a:solidFill>
          <a:ln/>
        </p:spPr>
      </p:sp>
      <p:sp>
        <p:nvSpPr>
          <p:cNvPr id="171" name="Text 169"/>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−$212K</a:t>
            </a:r>
            <a:endParaRPr lang="en-US" sz="1200" dirty="0"/>
          </a:p>
        </p:txBody>
      </p:sp>
      <p:sp>
        <p:nvSpPr>
          <p:cNvPr id="172" name="Text 170"/>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−138.2%</a:t>
            </a:r>
            <a:endParaRPr lang="en-US" sz="1200" dirty="0"/>
          </a:p>
        </p:txBody>
      </p:sp>
      <p:sp>
        <p:nvSpPr>
          <p:cNvPr id="173" name="Shape 171"/>
          <p:cNvSpPr/>
          <p:nvPr/>
        </p:nvSpPr>
        <p:spPr>
          <a:xfrm>
            <a:off x="11457432" y="4852237"/>
            <a:ext cx="54864" cy="132319"/>
          </a:xfrm>
          <a:prstGeom prst="rect">
            <a:avLst/>
          </a:prstGeom>
          <a:solidFill>
            <a:srgbClr val="C2352F"/>
          </a:solidFill>
          <a:ln/>
        </p:spPr>
      </p:sp>
      <p:sp>
        <p:nvSpPr>
          <p:cNvPr id="174" name="Text 172"/>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5" name="Text 173"/>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6" name="Shape 174"/>
          <p:cNvSpPr/>
          <p:nvPr/>
        </p:nvSpPr>
        <p:spPr>
          <a:xfrm>
            <a:off x="9022168" y="5090691"/>
            <a:ext cx="108116" cy="102929"/>
          </a:xfrm>
          <a:prstGeom prst="rect">
            <a:avLst/>
          </a:prstGeom>
          <a:solidFill>
            <a:srgbClr val="C2352F"/>
          </a:solidFill>
          <a:ln/>
        </p:spPr>
      </p:sp>
      <p:sp>
        <p:nvSpPr>
          <p:cNvPr id="177" name="Text 175"/>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−$268K</a:t>
            </a:r>
            <a:endParaRPr lang="en-US" sz="1200" dirty="0"/>
          </a:p>
        </p:txBody>
      </p:sp>
      <p:sp>
        <p:nvSpPr>
          <p:cNvPr id="178" name="Text 176"/>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−27.7%</a:t>
            </a:r>
            <a:endParaRPr lang="en-US" sz="1200" dirty="0"/>
          </a:p>
        </p:txBody>
      </p:sp>
      <p:sp>
        <p:nvSpPr>
          <p:cNvPr id="179" name="Text 177"/>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80" name="Text 178"/>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81" name="Shape 179"/>
          <p:cNvSpPr/>
          <p:nvPr/>
        </p:nvSpPr>
        <p:spPr>
          <a:xfrm>
            <a:off x="8945616" y="5314450"/>
            <a:ext cx="184668" cy="102929"/>
          </a:xfrm>
          <a:prstGeom prst="rect">
            <a:avLst/>
          </a:prstGeom>
          <a:solidFill>
            <a:srgbClr val="C2352F"/>
          </a:solidFill>
          <a:ln/>
        </p:spPr>
      </p:sp>
      <p:sp>
        <p:nvSpPr>
          <p:cNvPr id="182" name="Text 180"/>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−$457K</a:t>
            </a:r>
            <a:endParaRPr lang="en-US" sz="1200" dirty="0"/>
          </a:p>
        </p:txBody>
      </p:sp>
      <p:sp>
        <p:nvSpPr>
          <p:cNvPr id="183" name="Text 181"/>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−29.6%</a:t>
            </a:r>
            <a:endParaRPr lang="en-US" sz="1200" dirty="0"/>
          </a:p>
        </p:txBody>
      </p:sp>
      <p:sp>
        <p:nvSpPr>
          <p:cNvPr id="184" name="Shape 182"/>
          <p:cNvSpPr/>
          <p:nvPr/>
        </p:nvSpPr>
        <p:spPr>
          <a:xfrm>
            <a:off x="11457432" y="5299755"/>
            <a:ext cx="54864" cy="132319"/>
          </a:xfrm>
          <a:prstGeom prst="rect">
            <a:avLst/>
          </a:prstGeom>
          <a:solidFill>
            <a:srgbClr val="C2352F"/>
          </a:solidFill>
          <a:ln/>
        </p:spPr>
      </p:sp>
      <p:sp>
        <p:nvSpPr>
          <p:cNvPr id="185" name="Text 183"/>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6" name="Text 184"/>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7" name="Shape 185"/>
          <p:cNvSpPr/>
          <p:nvPr/>
        </p:nvSpPr>
        <p:spPr>
          <a:xfrm>
            <a:off x="8870602" y="5538209"/>
            <a:ext cx="259682" cy="102929"/>
          </a:xfrm>
          <a:prstGeom prst="rect">
            <a:avLst/>
          </a:prstGeom>
          <a:solidFill>
            <a:srgbClr val="C2352F"/>
          </a:solidFill>
          <a:ln/>
        </p:spPr>
      </p:sp>
      <p:sp>
        <p:nvSpPr>
          <p:cNvPr id="188" name="Text 186"/>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−$643K</a:t>
            </a:r>
            <a:endParaRPr lang="en-US" sz="1200" dirty="0"/>
          </a:p>
        </p:txBody>
      </p:sp>
      <p:sp>
        <p:nvSpPr>
          <p:cNvPr id="189" name="Text 187"/>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−22.1%</a:t>
            </a:r>
            <a:endParaRPr lang="en-US" sz="1200" dirty="0"/>
          </a:p>
        </p:txBody>
      </p:sp>
      <p:sp>
        <p:nvSpPr>
          <p:cNvPr id="190" name="Shape 188"/>
          <p:cNvSpPr/>
          <p:nvPr/>
        </p:nvSpPr>
        <p:spPr>
          <a:xfrm>
            <a:off x="3574390" y="2121408"/>
            <a:ext cx="10973" cy="3803904"/>
          </a:xfrm>
          <a:prstGeom prst="rect">
            <a:avLst/>
          </a:prstGeom>
          <a:solidFill>
            <a:srgbClr val="9AA3AD"/>
          </a:solidFill>
          <a:ln/>
        </p:spPr>
      </p:sp>
      <p:sp>
        <p:nvSpPr>
          <p:cNvPr id="191" name="Shape 189"/>
          <p:cNvSpPr/>
          <p:nvPr/>
        </p:nvSpPr>
        <p:spPr>
          <a:xfrm>
            <a:off x="9124798" y="2121408"/>
            <a:ext cx="10973" cy="3803904"/>
          </a:xfrm>
          <a:prstGeom prst="rect">
            <a:avLst/>
          </a:prstGeom>
          <a:solidFill>
            <a:srgbClr val="9AA3AD"/>
          </a:solidFill>
          <a:ln/>
        </p:spPr>
      </p:sp>
      <p:sp>
        <p:nvSpPr>
          <p:cNvPr id="192" name="Shape 190"/>
          <p:cNvSpPr/>
          <p:nvPr/>
        </p:nvSpPr>
        <p:spPr>
          <a:xfrm>
            <a:off x="6085332" y="2121408"/>
            <a:ext cx="10973" cy="3803904"/>
          </a:xfrm>
          <a:prstGeom prst="rect">
            <a:avLst/>
          </a:prstGeom>
          <a:solidFill>
            <a:srgbClr val="D9D9D9"/>
          </a:solidFill>
          <a:ln/>
        </p:spPr>
      </p:sp>
      <p:sp>
        <p:nvSpPr>
          <p:cNvPr id="194" name="Shape 191"/>
          <p:cNvSpPr/>
          <p:nvPr/>
        </p:nvSpPr>
        <p:spPr>
          <a:xfrm>
            <a:off x="457200" y="6126480"/>
            <a:ext cx="11274552" cy="371856"/>
          </a:xfrm>
          <a:prstGeom prst="rect">
            <a:avLst/>
          </a:prstGeom>
          <a:solidFill>
            <a:srgbClr val="EDF4FA"/>
          </a:solidFill>
          <a:ln/>
        </p:spPr>
      </p:sp>
      <p:sp>
        <p:nvSpPr>
          <p:cNvPr id="195" name="Text 19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24 of 33 stores grew fixed ops net profit, January through September year to date.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graphicFrame>
        <p:nvGraphicFramePr>
          <p:cNvPr id="13" name="Chart 0" descr=""/>
          <p:cNvGraphicFramePr/>
          <p:nvPr/>
        </p:nvGraphicFramePr>
        <p:xfrm>
          <a:off x="1097280" y="2697480"/>
          <a:ext cx="1972056" cy="502615"/>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graphicFrame>
        <p:nvGraphicFramePr>
          <p:cNvPr id="18" name="Chart 1" descr=""/>
          <p:cNvGraphicFramePr/>
          <p:nvPr/>
        </p:nvGraphicFramePr>
        <p:xfrm>
          <a:off x="1097280" y="4175760"/>
          <a:ext cx="1972056" cy="502615"/>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+20.4%</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graphicFrame>
        <p:nvGraphicFramePr>
          <p:cNvPr id="24" name="Chart 2" descr=""/>
          <p:cNvGraphicFramePr/>
          <p:nvPr/>
        </p:nvGraphicFramePr>
        <p:xfrm>
          <a:off x="1097280" y="5654040"/>
          <a:ext cx="1972056" cy="502615"/>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+41.8%</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Shape 25"/>
          <p:cNvSpPr/>
          <p:nvPr/>
        </p:nvSpPr>
        <p:spPr>
          <a:xfrm>
            <a:off x="7775448" y="1847088"/>
            <a:ext cx="64008" cy="1405128"/>
          </a:xfrm>
          <a:prstGeom prst="rect">
            <a:avLst/>
          </a:prstGeom>
          <a:solidFill>
            <a:srgbClr val="2587C5"/>
          </a:solidFill>
          <a:ln/>
        </p:spPr>
      </p:sp>
      <p:sp>
        <p:nvSpPr>
          <p:cNvPr id="31" name="Text 26"/>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2" name="Text 27"/>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graphicFrame>
        <p:nvGraphicFramePr>
          <p:cNvPr id="33" name="Chart 3" descr=""/>
          <p:cNvGraphicFramePr/>
          <p:nvPr/>
        </p:nvGraphicFramePr>
        <p:xfrm>
          <a:off x="4788408" y="2697480"/>
          <a:ext cx="1972056" cy="502615"/>
        </p:xfrm>
        <a:graphic xmlns:a="http://schemas.openxmlformats.org/drawingml/2006/main">
          <a:graphicData uri="http://schemas.openxmlformats.org/drawingml/2006/chart">
            <c:chart xmlns:c="http://schemas.openxmlformats.org/drawingml/2006/chart" r:id="rId4"/>
          </a:graphicData>
        </a:graphic>
      </p:graphicFrame>
      <p:sp>
        <p:nvSpPr>
          <p:cNvPr id="34" name="Text 28"/>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5" name="Text 29"/>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36" name="Text 30"/>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7" name="Text 31"/>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graphicFrame>
        <p:nvGraphicFramePr>
          <p:cNvPr id="38" name="Chart 4" descr=""/>
          <p:cNvGraphicFramePr/>
          <p:nvPr/>
        </p:nvGraphicFramePr>
        <p:xfrm>
          <a:off x="4788408" y="4175760"/>
          <a:ext cx="1972056" cy="502615"/>
        </p:xfrm>
        <a:graphic xmlns:a="http://schemas.openxmlformats.org/drawingml/2006/main">
          <a:graphicData uri="http://schemas.openxmlformats.org/drawingml/2006/chart">
            <c:chart xmlns:c="http://schemas.openxmlformats.org/drawingml/2006/chart" r:id="rId5"/>
          </a:graphicData>
        </a:graphic>
      </p:graphicFrame>
      <p:sp>
        <p:nvSpPr>
          <p:cNvPr id="39" name="Text 32"/>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0" name="Text 33"/>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−29.6%</a:t>
            </a:r>
            <a:endParaRPr lang="en-US" sz="1300" dirty="0"/>
          </a:p>
        </p:txBody>
      </p:sp>
      <p:sp>
        <p:nvSpPr>
          <p:cNvPr id="41" name="Shape 34"/>
          <p:cNvSpPr/>
          <p:nvPr/>
        </p:nvSpPr>
        <p:spPr>
          <a:xfrm>
            <a:off x="4349496" y="4767072"/>
            <a:ext cx="3489960" cy="1478280"/>
          </a:xfrm>
          <a:prstGeom prst="rect">
            <a:avLst/>
          </a:prstGeom>
          <a:solidFill>
            <a:srgbClr val="F7F7F7"/>
          </a:solidFill>
          <a:ln/>
        </p:spPr>
      </p:sp>
      <p:sp>
        <p:nvSpPr>
          <p:cNvPr id="42" name="Text 35"/>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3" name="Text 36"/>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graphicFrame>
        <p:nvGraphicFramePr>
          <p:cNvPr id="44" name="Chart 5" descr=""/>
          <p:cNvGraphicFramePr/>
          <p:nvPr/>
        </p:nvGraphicFramePr>
        <p:xfrm>
          <a:off x="4788408" y="5654040"/>
          <a:ext cx="1972056" cy="502615"/>
        </p:xfrm>
        <a:graphic xmlns:a="http://schemas.openxmlformats.org/drawingml/2006/main">
          <a:graphicData uri="http://schemas.openxmlformats.org/drawingml/2006/chart">
            <c:chart xmlns:c="http://schemas.openxmlformats.org/drawingml/2006/chart" r:id="rId6"/>
          </a:graphicData>
        </a:graphic>
      </p:graphicFrame>
      <p:sp>
        <p:nvSpPr>
          <p:cNvPr id="45" name="Text 37"/>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6" name="Text 38"/>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−27.7%</a:t>
            </a:r>
            <a:endParaRPr lang="en-US" sz="1300" dirty="0"/>
          </a:p>
        </p:txBody>
      </p:sp>
      <p:sp>
        <p:nvSpPr>
          <p:cNvPr id="47" name="Shape 39"/>
          <p:cNvSpPr/>
          <p:nvPr/>
        </p:nvSpPr>
        <p:spPr>
          <a:xfrm>
            <a:off x="8040624" y="1371600"/>
            <a:ext cx="3489960" cy="45720"/>
          </a:xfrm>
          <a:prstGeom prst="rect">
            <a:avLst/>
          </a:prstGeom>
          <a:solidFill>
            <a:srgbClr val="2587C5"/>
          </a:solidFill>
          <a:ln/>
        </p:spPr>
      </p:sp>
      <p:sp>
        <p:nvSpPr>
          <p:cNvPr id="48" name="Text 4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9" name="Shape 41"/>
          <p:cNvSpPr/>
          <p:nvPr/>
        </p:nvSpPr>
        <p:spPr>
          <a:xfrm>
            <a:off x="8040624" y="1810512"/>
            <a:ext cx="3489960" cy="1478280"/>
          </a:xfrm>
          <a:prstGeom prst="rect">
            <a:avLst/>
          </a:prstGeom>
          <a:solidFill>
            <a:srgbClr val="F7F7F7"/>
          </a:solidFill>
          <a:ln/>
        </p:spPr>
      </p:sp>
      <p:sp>
        <p:nvSpPr>
          <p:cNvPr id="50" name="Text 42"/>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1" name="Text 43"/>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graphicFrame>
        <p:nvGraphicFramePr>
          <p:cNvPr id="52" name="Chart 6"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7"/>
          </a:graphicData>
        </a:graphic>
      </p:graphicFrame>
      <p:graphicFrame>
        <p:nvGraphicFramePr>
          <p:cNvPr id="53" name="Chart 7"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8"/>
          </a:graphicData>
        </a:graphic>
      </p:graphicFrame>
      <p:sp>
        <p:nvSpPr>
          <p:cNvPr id="54" name="Text 44"/>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5" name="Text 45"/>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+23.8%</a:t>
            </a:r>
            <a:endParaRPr lang="en-US" sz="1300" dirty="0"/>
          </a:p>
        </p:txBody>
      </p:sp>
      <p:sp>
        <p:nvSpPr>
          <p:cNvPr id="56" name="Shape 46"/>
          <p:cNvSpPr/>
          <p:nvPr/>
        </p:nvSpPr>
        <p:spPr>
          <a:xfrm>
            <a:off x="11466576" y="3325368"/>
            <a:ext cx="64008" cy="1405128"/>
          </a:xfrm>
          <a:prstGeom prst="rect">
            <a:avLst/>
          </a:prstGeom>
          <a:solidFill>
            <a:srgbClr val="12A566"/>
          </a:solidFill>
          <a:ln/>
        </p:spPr>
      </p:sp>
      <p:sp>
        <p:nvSpPr>
          <p:cNvPr id="57" name="Text 4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8" name="Text 4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graphicFrame>
        <p:nvGraphicFramePr>
          <p:cNvPr id="59" name="Chart 8"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9"/>
          </a:graphicData>
        </a:graphic>
      </p:graphicFrame>
      <p:graphicFrame>
        <p:nvGraphicFramePr>
          <p:cNvPr id="60" name="Chart 9"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10"/>
          </a:graphicData>
        </a:graphic>
      </p:graphicFrame>
      <p:sp>
        <p:nvSpPr>
          <p:cNvPr id="61" name="Text 49"/>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2" name="Text 50"/>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+17.4%</a:t>
            </a:r>
            <a:endParaRPr lang="en-US" sz="1300" dirty="0"/>
          </a:p>
        </p:txBody>
      </p:sp>
      <p:sp>
        <p:nvSpPr>
          <p:cNvPr id="63" name="Shape 51"/>
          <p:cNvSpPr/>
          <p:nvPr/>
        </p:nvSpPr>
        <p:spPr>
          <a:xfrm>
            <a:off x="8040624" y="4767072"/>
            <a:ext cx="3489960" cy="1478280"/>
          </a:xfrm>
          <a:prstGeom prst="rect">
            <a:avLst/>
          </a:prstGeom>
          <a:solidFill>
            <a:srgbClr val="F7F7F7"/>
          </a:solidFill>
          <a:ln/>
        </p:spPr>
      </p:sp>
      <p:sp>
        <p:nvSpPr>
          <p:cNvPr id="64" name="Shape 52"/>
          <p:cNvSpPr/>
          <p:nvPr/>
        </p:nvSpPr>
        <p:spPr>
          <a:xfrm>
            <a:off x="11466576" y="4803648"/>
            <a:ext cx="64008" cy="1405128"/>
          </a:xfrm>
          <a:prstGeom prst="rect">
            <a:avLst/>
          </a:prstGeom>
          <a:solidFill>
            <a:srgbClr val="2587C5"/>
          </a:solidFill>
          <a:ln/>
        </p:spPr>
      </p:sp>
      <p:sp>
        <p:nvSpPr>
          <p:cNvPr id="65" name="Text 5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6" name="Text 5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graphicFrame>
        <p:nvGraphicFramePr>
          <p:cNvPr id="67" name="Chart 10"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1"/>
          </a:graphicData>
        </a:graphic>
      </p:graphicFrame>
      <p:graphicFrame>
        <p:nvGraphicFramePr>
          <p:cNvPr id="68" name="Chart 11"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2"/>
          </a:graphicData>
        </a:graphic>
      </p:graphicFrame>
      <p:sp>
        <p:nvSpPr>
          <p:cNvPr id="69" name="Text 55"/>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70" name="Text 56"/>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2026-10-29T16:33:48Z</dcterms:created>
  <dcterms:modified xsi:type="dcterms:W3CDTF">2026-10-29T16:33:48Z</dcterms:modified>
</cp:coreProperties>
</file>