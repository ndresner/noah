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w="38100" cap="flat">
              <a:solidFill>
                <a:srgbClr val="2587C5"/>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4.54</c:v>
                </c:pt>
                <c:pt idx="2">
                  <c:v>5.97</c:v>
                </c:pt>
                <c:pt idx="3">
                  <c:v>6.14</c:v>
                </c:pt>
                <c:pt idx="4">
                  <c:v>5.16</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majorGridlines>
          <c:spPr>
            <a:ln w="9525" cap="flat">
              <a:solidFill>
                <a:srgbClr val="D9D9D9"/>
              </a:solidFill>
              <a:prstDash val="solid"/>
              <a:round/>
            </a:ln>
          </c:spPr>
        </c:majorGridlines>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4.54</c:v>
                </c:pt>
                <c:pt idx="2">
                  <c:v>5.97</c:v>
                </c:pt>
                <c:pt idx="3">
                  <c:v>6.14</c:v>
                </c:pt>
                <c:pt idx="4">
                  <c:v/>
                </c:pt>
                <c:pt idx="5">
                  <c:v>5.82</c:v>
                </c:pt>
                <c:pt idx="6">
                  <c:v>6.72</c:v>
                </c:pt>
                <c:pt idx="7">
                  <c:v>5.99</c:v>
                </c:pt>
                <c:pt idx="8">
                  <c:v>5.53</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2026</c:v>
                </c:pt>
              </c:strCache>
            </c:strRef>
          </c:tx>
          <c:spPr>
            <a:solidFill>
              <a:srgbClr val="2587C5"/>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2587C5"/>
              </a:solidFill>
              <a:ln w="9525" cap="flat">
                <a:solidFill>
                  <a:srgbClr val="2587C5"/>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4.58</c:v>
                </c:pt>
                <c:pt idx="1">
                  <c:v/>
                </c:pt>
                <c:pt idx="2">
                  <c:v/>
                </c:pt>
                <c:pt idx="3">
                  <c:v/>
                </c:pt>
                <c:pt idx="4">
                  <c:v>5.16</c:v>
                </c:pt>
                <c:pt idx="5">
                  <c:v/>
                </c:pt>
                <c:pt idx="6">
                  <c:v/>
                </c:pt>
                <c:pt idx="7">
                  <c:v/>
                </c:pt>
                <c:pt idx="8">
                  <c:v/>
                </c:pt>
                <c:pt idx="9">
                  <c:v/>
                </c:pt>
                <c:pt idx="10">
                  <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
                </c:pt>
                <c:pt idx="2">
                  <c:v/>
                </c:pt>
                <c:pt idx="3">
                  <c:v/>
                </c:pt>
                <c:pt idx="4">
                  <c:v>5.37</c:v>
                </c:pt>
                <c:pt idx="5">
                  <c:v/>
                </c:pt>
                <c:pt idx="6">
                  <c:v/>
                </c:pt>
                <c:pt idx="7">
                  <c:v/>
                </c:pt>
                <c:pt idx="8">
                  <c:v/>
                </c:pt>
                <c:pt idx="9">
                  <c:v>6.1</c:v>
                </c:pt>
                <c:pt idx="10">
                  <c:v/>
                </c:pt>
                <c:pt idx="11">
                  <c:v>4.32</c:v>
                </c:pt>
              </c:numCache>
            </c:numRef>
          </c:val>
          <c:smooth val="0"/>
        </c:ser>
        <c:dLbls>
          <c:numFmt formatCode="0.0" sourceLinked="0"/>
          <c:txPr>
            <a:bodyPr/>
            <a:lstStyle/>
            <a:p>
              <a:pPr>
                <a:defRPr b="0" i="0" strike="noStrike" sz="14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a:noFill/>
            </a:ln>
            <a:effectLst/>
          </c:spPr>
          <c:invertIfNegative val="0"/>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c:symbol val="non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
                </c:pt>
                <c:pt idx="1">
                  <c:v>4.4</c:v>
                </c:pt>
                <c:pt idx="2">
                  <c:v>5.19</c:v>
                </c:pt>
                <c:pt idx="3">
                  <c:v>5.55</c:v>
                </c:pt>
                <c:pt idx="4">
                  <c:v/>
                </c:pt>
                <c:pt idx="5">
                  <c:v>5.22</c:v>
                </c:pt>
                <c:pt idx="6">
                  <c:v>5.56</c:v>
                </c:pt>
                <c:pt idx="7">
                  <c:v>5.08</c:v>
                </c:pt>
                <c:pt idx="8">
                  <c:v>3.91</c:v>
                </c:pt>
                <c:pt idx="9">
                  <c:v/>
                </c:pt>
                <c:pt idx="10">
                  <c:v>3.67</c:v>
                </c:pt>
                <c:pt idx="11">
                  <c:v/>
                </c:pt>
              </c:numCache>
            </c:numRef>
          </c:val>
          <c:smooth val="0"/>
        </c:ser>
        <c:dLbls>
          <c:numFmt formatCode="0.0" sourceLinked="0"/>
          <c:txPr>
            <a:bodyPr/>
            <a:lstStyle/>
            <a:p>
              <a:pPr>
                <a:defRPr b="0" i="0" strike="noStrike" sz="1400" u="none">
                  <a:solidFill>
                    <a:srgbClr val="1A1A1A"/>
                  </a:solidFill>
                  <a:latin typeface="+mn-lt"/>
                </a:defRPr>
              </a:pPr>
            </a:p>
          </c:txPr>
          <c:dLblPos val="b"/>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400" b="0" i="0" u="none" strike="noStrike">
                <a:solidFill>
                  <a:srgbClr val="FFFFFF"/>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FFFFFF"/>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2025</c:v>
                </c:pt>
              </c:strCache>
            </c:strRef>
          </c:tx>
          <c:spPr>
            <a:solidFill>
              <a:srgbClr val="9AA3AD"/>
            </a:solidFill>
            <a:ln w="38100" cap="flat">
              <a:solidFill>
                <a:srgbClr val="9AA3AD"/>
              </a:solidFill>
              <a:prstDash val="solid"/>
              <a:round/>
            </a:ln>
            <a:effectLst/>
          </c:spPr>
          <c:invertIfNegative val="0"/>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c:symbol val="circle"/>
            <c:size val="8"/>
            <c:spPr>
              <a:solidFill>
                <a:srgbClr val="9AA3AD"/>
              </a:solidFill>
              <a:ln w="9525" cap="flat">
                <a:solidFill>
                  <a:srgbClr val="9AA3AD"/>
                </a:solidFill>
                <a:prstDash val="solid"/>
                <a:round/>
              </a:ln>
              <a:effectLst/>
            </c:spPr>
          </c:marker>
          <c:cat>
            <c:multiLvlStrRef>
              <c:f>Sheet1!$A$2:$A$13</c:f>
              <c:multiLvlStrCache>
                <c:ptCount val="12"/>
                <c:lvl>
                  <c:pt idx="0">
                    <c:v>Jan</c:v>
                  </c:pt>
                  <c:pt idx="1">
                    <c:v>Feb</c:v>
                  </c:pt>
                  <c:pt idx="2">
                    <c:v>Mar</c:v>
                  </c:pt>
                  <c:pt idx="3">
                    <c:v>Apr</c:v>
                  </c:pt>
                  <c:pt idx="4">
                    <c:v>May</c:v>
                  </c:pt>
                  <c:pt idx="5">
                    <c:v>Jun</c:v>
                  </c:pt>
                  <c:pt idx="6">
                    <c:v>Jul</c:v>
                  </c:pt>
                  <c:pt idx="7">
                    <c:v>Aug</c:v>
                  </c:pt>
                  <c:pt idx="8">
                    <c:v>Sep</c:v>
                  </c:pt>
                  <c:pt idx="9">
                    <c:v>Oct</c:v>
                  </c:pt>
                  <c:pt idx="10">
                    <c:v>Nov</c:v>
                  </c:pt>
                  <c:pt idx="11">
                    <c:v>Dec</c:v>
                  </c:pt>
                </c:lvl>
              </c:multiLvlStrCache>
            </c:multiLvlStrRef>
          </c:cat>
          <c:val>
            <c:numRef>
              <c:f>Sheet1!$B$2:$B$13</c:f>
              <c:numCache>
                <c:formatCode>General</c:formatCode>
                <c:ptCount val="12"/>
                <c:pt idx="0">
                  <c:v>5.05</c:v>
                </c:pt>
                <c:pt idx="1">
                  <c:v>4.4</c:v>
                </c:pt>
                <c:pt idx="2">
                  <c:v>5.19</c:v>
                </c:pt>
                <c:pt idx="3">
                  <c:v>5.55</c:v>
                </c:pt>
                <c:pt idx="4">
                  <c:v>5.37</c:v>
                </c:pt>
                <c:pt idx="5">
                  <c:v>5.22</c:v>
                </c:pt>
                <c:pt idx="6">
                  <c:v>5.56</c:v>
                </c:pt>
                <c:pt idx="7">
                  <c:v>5.08</c:v>
                </c:pt>
                <c:pt idx="8">
                  <c:v>3.91</c:v>
                </c:pt>
                <c:pt idx="9">
                  <c:v>6.1</c:v>
                </c:pt>
                <c:pt idx="10">
                  <c:v>3.67</c:v>
                </c:pt>
                <c:pt idx="11">
                  <c:v>4.32</c:v>
                </c:pt>
              </c:numCache>
            </c:numRef>
          </c:val>
          <c:smooth val="0"/>
        </c:ser>
        <c:dLbls>
          <c:numFmt formatCode="0.0" sourceLinked="0"/>
          <c:txPr>
            <a:bodyPr/>
            <a:lstStyle/>
            <a:p>
              <a:pPr>
                <a:defRPr b="0" i="0" strike="noStrike" sz="14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A1A1A"/>
                </a:solidFill>
                <a:latin typeface="+mn-lt"/>
              </a:defRPr>
            </a:pPr>
            <a:endParaRPr lang="en-US"/>
          </a:p>
        </c:txPr>
        <c:crossAx val="2094734552"/>
        <c:crosses val="min"/>
        <c:auto val="1"/>
        <c:lblAlgn val="ctr"/>
        <c:noMultiLvlLbl val="1"/>
      </c:catAx>
      <c:valAx>
        <c:axId val="2094734552"/>
        <c:scaling>
          <c:orientation val="minMax"/>
          <c:max val="8"/>
          <c:min val="2"/>
        </c:scaling>
        <c:delete val="0"/>
        <c:axPos val="l"/>
        <c:numFmt formatCode="$0&quot;M&quot;" sourceLinked="0"/>
        <c:majorTickMark val="out"/>
        <c:minorTickMark val="none"/>
        <c:tickLblPos val="nextTo"/>
        <c:spPr>
          <a:ln w="12700" cap="flat">
            <a:noFill/>
            <a:prstDash val="solid"/>
            <a:round/>
          </a:ln>
        </c:spPr>
        <c:txPr>
          <a:bodyPr/>
          <a:lstStyle/>
          <a:p>
            <a:pPr>
              <a:defRPr sz="1400" b="0" i="0" u="none" strike="noStrike">
                <a:solidFill>
                  <a:srgbClr val="595959"/>
                </a:solidFill>
                <a:latin typeface="+mn-lt"/>
              </a:defRPr>
            </a:pPr>
            <a:endParaRPr lang="en-US"/>
          </a:p>
        </c:txPr>
        <c:crossAx val="2094734554"/>
        <c:crosses val="autoZero"/>
        <c:crossBetween val="between"/>
        <c:majorUnit val="2"/>
      </c:valAx>
      <c:spPr>
        <a:solidFill>
          <a:srgbClr val="FFFFFF">
            <a:alpha val="0"/>
          </a:srgbClr>
        </a:solidFill>
        <a:ln>
          <a:noFill/>
        </a:ln>
        <a:effectLst/>
      </c:spPr>
    </c:plotArea>
    <c:plotVisOnly val="1"/>
    <c:dispBlanksAs val="span"/>
  </c:chart>
  <c:spPr>
    <a:solidFill>
      <a:srgbClr val="FFFFFF">
        <a:alpha val="0"/>
      </a:srgbClr>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2026).PLACE: Profitability, in front of Fixed Ops Absorption % (the next slide, the trend). The breakdown of total store fixed expenses is on this slide. The denominator is the P&amp;L's Fixed Expenses line on the GM statement: the whole store's expenses (new, used, service and parts; the GMC Prescott body shop is taken out, as everywhere in the deck) less the costs that move with each car sold: sales and F&amp;I commissions, delivery, policy, floorplan interest, and new and used vehicle advertising. That matches the standard dealer definition: fixed ops gross divided by total store overhead, excluding the variable costs of selling cars. Jan-Sep 2026 same-store: $242,385,781 of fixed expenses out of $304,576,351 total expense.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GM statement. Jan-Sep 2026, same-store, INEOS excluded (opened 2026). Fixed Expenses line by account class, every department of the store; categories reconcile to the line to the cent ($242,385,781).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included.PLACE: opening, right after Why We Are Here (Noah, Oct 24): the high-level view of service and parts before the sections. Department profit as the P&amp;L Detail statement reports it (DEPARTMENT PROFIT OR LOSS, Mechanical and P&amp;A). Jan-Sep 2026 gross $188,799,724, department expenses $138,349,830, profit $50,449,894; 2025 $181,331,157 / $135,995,022 / $45,336,135. Store-level costs the P&amp;L does not split by department (management fees, other income) sit outside it. Same basis as the service and parts net to gross slides. Revenue per $1 of net: service + parts net sales $347,806,562 (P&amp;L Detail NET SALES, Mechanical $182,131,162 + P&amp;A $165,675,400) / net profit $50,449,894 = $6.89; net profit is 14.5 cents of every sales dollar. Parts sales include parts sold to the service department.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 vs Jan-Sep 2025; 2025 shown January-December. Store rows reconcile to the group, both years.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 Qlik - Profit &amp; Loss, Detail statement. Same-store, INEOS excluded (opened 2026). Fixed ops net profit = service (Mechanical) + parts (P&amp;A) department profit: department gross less the department's own expenses; GMC Prescott body shop is its own department and is not included. Jan-Sep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Lincoln, Subaru Prescott and GMC Prescott turned a 2025 loss into a profit (green rows); VW St George went from a profit to a loss (red row). 24 of 33 stores grew fixed ops net profit, January through September year to date.Source: Qlik - Profit &amp; Loss, Detail statement. Same-store, INEOS excluded (opened 2026). Fixed ops net profit = service (Mechanical) + parts (P&amp;A) department profit: department gross less the department's own expenses; GMC Prescott body shop is its own department and is not included. Ranked by dollar change, Jan-Sep 2026 vs Jan-Sep 2025; percent change alongside, top three and bottom three by percent marked. Percent change = dollar change / 2025 profit; where 2025 was a loss, divided by the size of the loss, so an improvement reads as positive.Green band: lost money in fixed ops in 2025, made money in 2026 (Lincoln −$389K to $94K, Subaru Prescott −$55K to $129K and GMC Prescott −$125K to $20K). Red band: made money in 2025, lost money in 2026 (VW St George $153K to −$59K).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Takeaway with the store call-outs (off the slide): Ask Toyota Henderson, Audi Henderson and Cadillac what changed. Ask Chevy LV, VW Henderson and Toyota Spokane what got in the way. Ask Honda Henderson, Toyota Henderson and Chevy LV what they started this year.Source: Qlik - Profit &amp; Loss, Detail statement. Same-store, INEOS excluded (opened 2026). Fixed ops net profit = service (Mechanical) + parts (P&amp;A) department profit: department gross less the department's own expenses; GMC Prescott body shop is its own department and is not included. Top and bottom five stores by dollar change in fixed ops net profit, Jan-Sep 2026 vs 2025 (dollars, not percent: several stores lost money in 2025). Moving now: Jul-Sep 2026 vs Jan-Mar 2026, each store against itself (monthly averages); the group moved +$1.05M a month on the same basis, so part of every store's change is seasonal. Green bar at the right of a row: the store is on both the top five vs last year and the top five moving now. Blue bar: a turnaround, on the bottom five vs last year and the top five moving now.Conversation starter: each top store says one thing they started doing; each bottom store says what got in the way and what they would try. The room trades ideas. Moving now: ask the top three what they started this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chart" Target="/ppt/charts/chart3.xml"/><Relationship Id="rId4" Type="http://schemas.openxmlformats.org/officeDocument/2006/relationships/chart" Target="/ppt/charts/chart4.xml"/><Relationship Id="rId5" Type="http://schemas.openxmlformats.org/officeDocument/2006/relationships/chart" Target="/ppt/charts/chart5.xml"/><Relationship Id="rId6" Type="http://schemas.openxmlformats.org/officeDocument/2006/relationships/chart" Target="/ppt/charts/chart6.xml"/><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Absorption</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400" b="1" dirty="0">
                <a:solidFill>
                  <a:srgbClr val="0B2C4A"/>
                </a:solidFill>
                <a:latin typeface="Inter" pitchFamily="34" charset="0"/>
                <a:ea typeface="Inter" pitchFamily="34" charset="-122"/>
                <a:cs typeface="Inter" pitchFamily="34" charset="-120"/>
              </a:rPr>
              <a:t>Fixed absorption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fixed ops gross  </a:t>
            </a:r>
            <a:pPr indent="0" marL="0">
              <a:buNone/>
            </a:pPr>
            <a:r>
              <a:rPr lang="en-US" sz="2400" b="1" dirty="0">
                <a:solidFill>
                  <a:srgbClr val="2587C5"/>
                </a:solidFill>
                <a:latin typeface="Inter" pitchFamily="34" charset="0"/>
                <a:ea typeface="Inter" pitchFamily="34" charset="-122"/>
                <a:cs typeface="Inter" pitchFamily="34" charset="-120"/>
              </a:rPr>
              <a:t>÷  </a:t>
            </a:r>
            <a:pPr indent="0" marL="0">
              <a:buNone/>
            </a:pPr>
            <a:r>
              <a:rPr lang="en-US" sz="2400" b="1" dirty="0">
                <a:solidFill>
                  <a:srgbClr val="0B2C4A"/>
                </a:solidFill>
                <a:latin typeface="Inter" pitchFamily="34" charset="0"/>
                <a:ea typeface="Inter" pitchFamily="34" charset="-122"/>
                <a:cs typeface="Inter" pitchFamily="34" charset="-120"/>
              </a:rPr>
              <a:t>total store fixed expenses</a:t>
            </a:r>
            <a:endParaRPr lang="en-US" sz="24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How much of the dealership's fixed expenses are covered by parts and service gross profit.</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READING IT</a:t>
            </a:r>
            <a:endParaRPr lang="en-US" sz="1400" dirty="0"/>
          </a:p>
        </p:txBody>
      </p:sp>
      <p:sp>
        <p:nvSpPr>
          <p:cNvPr id="9" name="Shape 7"/>
          <p:cNvSpPr/>
          <p:nvPr/>
        </p:nvSpPr>
        <p:spPr>
          <a:xfrm>
            <a:off x="2286000" y="2340864"/>
            <a:ext cx="466801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At 100%  </a:t>
            </a:r>
            <a:pPr algn="ctr" indent="0" marL="0">
              <a:buNone/>
            </a:pPr>
            <a:r>
              <a:rPr lang="en-US" sz="1400" b="1" dirty="0">
                <a:solidFill>
                  <a:srgbClr val="0B2C4A"/>
                </a:solidFill>
                <a:latin typeface="Inter" pitchFamily="34" charset="0"/>
                <a:ea typeface="Inter" pitchFamily="34" charset="-122"/>
                <a:cs typeface="Inter" pitchFamily="34" charset="-120"/>
              </a:rPr>
              <a:t>fixed ops covers every fixed expense</a:t>
            </a:r>
            <a:endParaRPr lang="en-US" sz="1400" dirty="0"/>
          </a:p>
        </p:txBody>
      </p:sp>
      <p:sp>
        <p:nvSpPr>
          <p:cNvPr id="11" name="Shape 9"/>
          <p:cNvSpPr/>
          <p:nvPr/>
        </p:nvSpPr>
        <p:spPr>
          <a:xfrm>
            <a:off x="7063740" y="2340864"/>
            <a:ext cx="4668012" cy="457200"/>
          </a:xfrm>
          <a:prstGeom prst="rect">
            <a:avLst/>
          </a:prstGeom>
          <a:solidFill>
            <a:srgbClr val="FFFFFF"/>
          </a:solidFill>
          <a:ln w="9525">
            <a:solidFill>
              <a:srgbClr val="D9D9D9"/>
            </a:solidFill>
            <a:prstDash val="solid"/>
          </a:ln>
        </p:spPr>
      </p:sp>
      <p:sp>
        <p:nvSpPr>
          <p:cNvPr id="12" name="Text 10"/>
          <p:cNvSpPr txBox="1"/>
          <p:nvPr/>
        </p:nvSpPr>
        <p:spPr>
          <a:xfrm>
            <a:off x="7136892" y="2340864"/>
            <a:ext cx="452170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Group today  </a:t>
            </a:r>
            <a:pPr algn="ctr" indent="0" marL="0">
              <a:buNone/>
            </a:pPr>
            <a:r>
              <a:rPr lang="en-US" sz="1400" b="1" dirty="0">
                <a:solidFill>
                  <a:srgbClr val="0B2C4A"/>
                </a:solidFill>
                <a:latin typeface="Inter" pitchFamily="34" charset="0"/>
                <a:ea typeface="Inter" pitchFamily="34" charset="-122"/>
                <a:cs typeface="Inter" pitchFamily="34" charset="-120"/>
              </a:rPr>
              <a:t>77.9%</a:t>
            </a:r>
            <a:endParaRPr lang="en-US" sz="1400" dirty="0"/>
          </a:p>
        </p:txBody>
      </p:sp>
      <p:sp>
        <p:nvSpPr>
          <p:cNvPr id="13" name="Shape 11"/>
          <p:cNvSpPr/>
          <p:nvPr/>
        </p:nvSpPr>
        <p:spPr>
          <a:xfrm>
            <a:off x="457200" y="2907792"/>
            <a:ext cx="4343400" cy="3081528"/>
          </a:xfrm>
          <a:prstGeom prst="rect">
            <a:avLst/>
          </a:prstGeom>
          <a:solidFill>
            <a:srgbClr val="FFFFFF"/>
          </a:solidFill>
          <a:ln/>
        </p:spPr>
      </p:sp>
      <p:sp>
        <p:nvSpPr>
          <p:cNvPr id="14" name="Shape 12"/>
          <p:cNvSpPr/>
          <p:nvPr/>
        </p:nvSpPr>
        <p:spPr>
          <a:xfrm>
            <a:off x="4937760" y="2907792"/>
            <a:ext cx="6793992" cy="3081528"/>
          </a:xfrm>
          <a:prstGeom prst="rect">
            <a:avLst/>
          </a:prstGeom>
          <a:solidFill>
            <a:srgbClr val="FFFFFF"/>
          </a:solidFill>
          <a:ln/>
        </p:spPr>
      </p:sp>
      <p:sp>
        <p:nvSpPr>
          <p:cNvPr id="15" name="Text 13"/>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6" name="Text 14"/>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WHAT'S IN TOTAL STORE FIXED EXPENSES</a:t>
            </a:r>
            <a:endParaRPr lang="en-US" sz="1400" dirty="0"/>
          </a:p>
        </p:txBody>
      </p:sp>
      <p:sp>
        <p:nvSpPr>
          <p:cNvPr id="17" name="Text 15"/>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At 100%, the store covers its fixed costs before it sells a car.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protects the store when car sales slow.</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the clearest measure of fixed ops' value to the dealership.</a:t>
            </a:r>
            <a:endParaRPr lang="en-US" sz="1500" dirty="0"/>
          </a:p>
        </p:txBody>
      </p:sp>
      <p:sp>
        <p:nvSpPr>
          <p:cNvPr id="18" name="Shape 16"/>
          <p:cNvSpPr/>
          <p:nvPr/>
        </p:nvSpPr>
        <p:spPr>
          <a:xfrm>
            <a:off x="5138928" y="3410712"/>
            <a:ext cx="45720" cy="1020803"/>
          </a:xfrm>
          <a:prstGeom prst="rect">
            <a:avLst/>
          </a:prstGeom>
          <a:solidFill>
            <a:srgbClr val="2587C5"/>
          </a:solidFill>
          <a:ln/>
        </p:spPr>
      </p:sp>
      <p:sp>
        <p:nvSpPr>
          <p:cNvPr id="19" name="Text 17"/>
          <p:cNvSpPr txBox="1"/>
          <p:nvPr/>
        </p:nvSpPr>
        <p:spPr>
          <a:xfrm>
            <a:off x="5266944"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Salaries and wages, payroll taxes, benefits, PTO: every department</a:t>
            </a:r>
            <a:endParaRPr lang="en-US" sz="1400" dirty="0"/>
          </a:p>
        </p:txBody>
      </p:sp>
      <p:sp>
        <p:nvSpPr>
          <p:cNvPr id="20" name="Shape 18"/>
          <p:cNvSpPr/>
          <p:nvPr/>
        </p:nvSpPr>
        <p:spPr>
          <a:xfrm>
            <a:off x="8394192" y="3410712"/>
            <a:ext cx="45720" cy="1020803"/>
          </a:xfrm>
          <a:prstGeom prst="rect">
            <a:avLst/>
          </a:prstGeom>
          <a:solidFill>
            <a:srgbClr val="2587C5"/>
          </a:solidFill>
          <a:ln/>
        </p:spPr>
      </p:sp>
      <p:sp>
        <p:nvSpPr>
          <p:cNvPr id="21" name="Text 19"/>
          <p:cNvSpPr txBox="1"/>
          <p:nvPr/>
        </p:nvSpPr>
        <p:spPr>
          <a:xfrm>
            <a:off x="8522208" y="3410712"/>
            <a:ext cx="2962656" cy="1020803"/>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building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Rent, depreciation, property taxes, utilities, insurance, repairs</a:t>
            </a:r>
            <a:endParaRPr lang="en-US" sz="1400" dirty="0"/>
          </a:p>
        </p:txBody>
      </p:sp>
      <p:sp>
        <p:nvSpPr>
          <p:cNvPr id="22" name="Shape 20"/>
          <p:cNvSpPr/>
          <p:nvPr/>
        </p:nvSpPr>
        <p:spPr>
          <a:xfrm>
            <a:off x="5138928" y="4541243"/>
            <a:ext cx="45720" cy="1246909"/>
          </a:xfrm>
          <a:prstGeom prst="rect">
            <a:avLst/>
          </a:prstGeom>
          <a:solidFill>
            <a:srgbClr val="2587C5"/>
          </a:solidFill>
          <a:ln/>
        </p:spPr>
      </p:sp>
      <p:sp>
        <p:nvSpPr>
          <p:cNvPr id="23" name="Text 21"/>
          <p:cNvSpPr txBox="1"/>
          <p:nvPr/>
        </p:nvSpPr>
        <p:spPr>
          <a:xfrm>
            <a:off x="5266944"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Included: systems and other</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DMS and IT, outside services, phones, training, supplies</a:t>
            </a:r>
            <a:endParaRPr lang="en-US" sz="1400" dirty="0"/>
          </a:p>
        </p:txBody>
      </p:sp>
      <p:sp>
        <p:nvSpPr>
          <p:cNvPr id="24" name="Shape 22"/>
          <p:cNvSpPr/>
          <p:nvPr/>
        </p:nvSpPr>
        <p:spPr>
          <a:xfrm>
            <a:off x="8394192" y="4541243"/>
            <a:ext cx="45720" cy="1246909"/>
          </a:xfrm>
          <a:prstGeom prst="rect">
            <a:avLst/>
          </a:prstGeom>
          <a:solidFill>
            <a:srgbClr val="2587C5"/>
          </a:solidFill>
          <a:ln/>
        </p:spPr>
      </p:sp>
      <p:sp>
        <p:nvSpPr>
          <p:cNvPr id="25" name="Text 23"/>
          <p:cNvSpPr txBox="1"/>
          <p:nvPr/>
        </p:nvSpPr>
        <p:spPr>
          <a:xfrm>
            <a:off x="8522208" y="4541243"/>
            <a:ext cx="2962656" cy="1246909"/>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Not included</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Sales and F&amp;I commissions, delivery, floorplan interest, new and used vehicle advertising</a:t>
            </a:r>
            <a:endParaRPr lang="en-US" sz="1400" dirty="0"/>
          </a:p>
        </p:txBody>
      </p:sp>
      <p:sp>
        <p:nvSpPr>
          <p:cNvPr id="26" name="Shape 24"/>
          <p:cNvSpPr/>
          <p:nvPr/>
        </p:nvSpPr>
        <p:spPr>
          <a:xfrm>
            <a:off x="457200" y="6126480"/>
            <a:ext cx="11274552" cy="371856"/>
          </a:xfrm>
          <a:prstGeom prst="rect">
            <a:avLst/>
          </a:prstGeom>
          <a:solidFill>
            <a:srgbClr val="E6F6EE"/>
          </a:solidFill>
          <a:ln/>
        </p:spPr>
      </p:sp>
      <p:sp>
        <p:nvSpPr>
          <p:cNvPr id="27" name="Text 25"/>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77.9% absorption, up 2.1 pts. Fixed gross grew 4.1%; fixed expenses 1.4%.</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PROFITABILITY</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Total Store Fixed Expenses</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713232" y="1481328"/>
            <a:ext cx="2539746" cy="3017520"/>
          </a:xfrm>
          <a:prstGeom prst="rect">
            <a:avLst/>
          </a:prstGeom>
          <a:solidFill>
            <a:srgbClr val="F7F7F7"/>
          </a:solidFill>
          <a:ln/>
        </p:spPr>
      </p:sp>
      <p:sp>
        <p:nvSpPr>
          <p:cNvPr id="7" name="Shape 5"/>
          <p:cNvSpPr/>
          <p:nvPr/>
        </p:nvSpPr>
        <p:spPr>
          <a:xfrm>
            <a:off x="713232" y="1481328"/>
            <a:ext cx="2539746" cy="64008"/>
          </a:xfrm>
          <a:prstGeom prst="rect">
            <a:avLst/>
          </a:prstGeom>
          <a:solidFill>
            <a:srgbClr val="2587C5"/>
          </a:solidFill>
          <a:ln/>
        </p:spPr>
      </p:sp>
      <p:sp>
        <p:nvSpPr>
          <p:cNvPr id="8" name="Text 6"/>
          <p:cNvSpPr txBox="1"/>
          <p:nvPr/>
        </p:nvSpPr>
        <p:spPr>
          <a:xfrm>
            <a:off x="896112"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PEOPLE</a:t>
            </a:r>
            <a:endParaRPr lang="en-US" sz="1400" dirty="0"/>
          </a:p>
        </p:txBody>
      </p:sp>
      <p:sp>
        <p:nvSpPr>
          <p:cNvPr id="9" name="Text 7"/>
          <p:cNvSpPr txBox="1"/>
          <p:nvPr/>
        </p:nvSpPr>
        <p:spPr>
          <a:xfrm>
            <a:off x="896112"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$147.7M</a:t>
            </a:r>
            <a:endParaRPr lang="en-US" sz="3600" dirty="0"/>
          </a:p>
        </p:txBody>
      </p:sp>
      <p:sp>
        <p:nvSpPr>
          <p:cNvPr id="10" name="Text 8"/>
          <p:cNvSpPr txBox="1"/>
          <p:nvPr/>
        </p:nvSpPr>
        <p:spPr>
          <a:xfrm>
            <a:off x="896112"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61% · Salaries and wages, payroll taxes, benefits, PTO</a:t>
            </a:r>
            <a:endParaRPr lang="en-US" sz="1400" dirty="0"/>
          </a:p>
        </p:txBody>
      </p:sp>
      <p:sp>
        <p:nvSpPr>
          <p:cNvPr id="11" name="Shape 9"/>
          <p:cNvSpPr/>
          <p:nvPr/>
        </p:nvSpPr>
        <p:spPr>
          <a:xfrm>
            <a:off x="3454146" y="1481328"/>
            <a:ext cx="2539746" cy="3017520"/>
          </a:xfrm>
          <a:prstGeom prst="rect">
            <a:avLst/>
          </a:prstGeom>
          <a:solidFill>
            <a:srgbClr val="F7F7F7"/>
          </a:solidFill>
          <a:ln/>
        </p:spPr>
      </p:sp>
      <p:sp>
        <p:nvSpPr>
          <p:cNvPr id="12" name="Shape 10"/>
          <p:cNvSpPr/>
          <p:nvPr/>
        </p:nvSpPr>
        <p:spPr>
          <a:xfrm>
            <a:off x="3454146" y="1481328"/>
            <a:ext cx="2539746" cy="64008"/>
          </a:xfrm>
          <a:prstGeom prst="rect">
            <a:avLst/>
          </a:prstGeom>
          <a:solidFill>
            <a:srgbClr val="2587C5"/>
          </a:solidFill>
          <a:ln/>
        </p:spPr>
      </p:sp>
      <p:sp>
        <p:nvSpPr>
          <p:cNvPr id="13" name="Text 11"/>
          <p:cNvSpPr txBox="1"/>
          <p:nvPr/>
        </p:nvSpPr>
        <p:spPr>
          <a:xfrm>
            <a:off x="3637026"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BUILDING &amp; EQUIPMENT</a:t>
            </a:r>
            <a:endParaRPr lang="en-US" sz="1400" dirty="0"/>
          </a:p>
        </p:txBody>
      </p:sp>
      <p:sp>
        <p:nvSpPr>
          <p:cNvPr id="14" name="Text 12"/>
          <p:cNvSpPr txBox="1"/>
          <p:nvPr/>
        </p:nvSpPr>
        <p:spPr>
          <a:xfrm>
            <a:off x="3637026"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$39.0M</a:t>
            </a:r>
            <a:endParaRPr lang="en-US" sz="3600" dirty="0"/>
          </a:p>
        </p:txBody>
      </p:sp>
      <p:sp>
        <p:nvSpPr>
          <p:cNvPr id="15" name="Text 13"/>
          <p:cNvSpPr txBox="1"/>
          <p:nvPr/>
        </p:nvSpPr>
        <p:spPr>
          <a:xfrm>
            <a:off x="3637026"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16% · Rent, depreciation, property taxes, utilities, insurance, building and equipment repairs</a:t>
            </a:r>
            <a:endParaRPr lang="en-US" sz="1400" dirty="0"/>
          </a:p>
        </p:txBody>
      </p:sp>
      <p:sp>
        <p:nvSpPr>
          <p:cNvPr id="16" name="Shape 14"/>
          <p:cNvSpPr/>
          <p:nvPr/>
        </p:nvSpPr>
        <p:spPr>
          <a:xfrm>
            <a:off x="6195060" y="1481328"/>
            <a:ext cx="2539746" cy="3017520"/>
          </a:xfrm>
          <a:prstGeom prst="rect">
            <a:avLst/>
          </a:prstGeom>
          <a:solidFill>
            <a:srgbClr val="F7F7F7"/>
          </a:solidFill>
          <a:ln/>
        </p:spPr>
      </p:sp>
      <p:sp>
        <p:nvSpPr>
          <p:cNvPr id="17" name="Shape 15"/>
          <p:cNvSpPr/>
          <p:nvPr/>
        </p:nvSpPr>
        <p:spPr>
          <a:xfrm>
            <a:off x="6195060" y="1481328"/>
            <a:ext cx="2539746" cy="64008"/>
          </a:xfrm>
          <a:prstGeom prst="rect">
            <a:avLst/>
          </a:prstGeom>
          <a:solidFill>
            <a:srgbClr val="2587C5"/>
          </a:solidFill>
          <a:ln/>
        </p:spPr>
      </p:sp>
      <p:sp>
        <p:nvSpPr>
          <p:cNvPr id="18" name="Text 16"/>
          <p:cNvSpPr txBox="1"/>
          <p:nvPr/>
        </p:nvSpPr>
        <p:spPr>
          <a:xfrm>
            <a:off x="6377940"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SYSTEMS &amp; SERVICES</a:t>
            </a:r>
            <a:endParaRPr lang="en-US" sz="1400" dirty="0"/>
          </a:p>
        </p:txBody>
      </p:sp>
      <p:sp>
        <p:nvSpPr>
          <p:cNvPr id="19" name="Text 17"/>
          <p:cNvSpPr txBox="1"/>
          <p:nvPr/>
        </p:nvSpPr>
        <p:spPr>
          <a:xfrm>
            <a:off x="6377940"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$36.3M</a:t>
            </a:r>
            <a:endParaRPr lang="en-US" sz="3600" dirty="0"/>
          </a:p>
        </p:txBody>
      </p:sp>
      <p:sp>
        <p:nvSpPr>
          <p:cNvPr id="20" name="Text 18"/>
          <p:cNvSpPr txBox="1"/>
          <p:nvPr/>
        </p:nvSpPr>
        <p:spPr>
          <a:xfrm>
            <a:off x="6377940"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15% · DMS and IT, outside services, phones, legal and audit</a:t>
            </a:r>
            <a:endParaRPr lang="en-US" sz="1400" dirty="0"/>
          </a:p>
        </p:txBody>
      </p:sp>
      <p:sp>
        <p:nvSpPr>
          <p:cNvPr id="21" name="Shape 19"/>
          <p:cNvSpPr/>
          <p:nvPr/>
        </p:nvSpPr>
        <p:spPr>
          <a:xfrm>
            <a:off x="8935974" y="1481328"/>
            <a:ext cx="2539746" cy="3017520"/>
          </a:xfrm>
          <a:prstGeom prst="rect">
            <a:avLst/>
          </a:prstGeom>
          <a:solidFill>
            <a:srgbClr val="F7F7F7"/>
          </a:solidFill>
          <a:ln/>
        </p:spPr>
      </p:sp>
      <p:sp>
        <p:nvSpPr>
          <p:cNvPr id="22" name="Shape 20"/>
          <p:cNvSpPr/>
          <p:nvPr/>
        </p:nvSpPr>
        <p:spPr>
          <a:xfrm>
            <a:off x="8935974" y="1481328"/>
            <a:ext cx="2539746" cy="64008"/>
          </a:xfrm>
          <a:prstGeom prst="rect">
            <a:avLst/>
          </a:prstGeom>
          <a:solidFill>
            <a:srgbClr val="2587C5"/>
          </a:solidFill>
          <a:ln/>
        </p:spPr>
      </p:sp>
      <p:sp>
        <p:nvSpPr>
          <p:cNvPr id="23" name="Text 21"/>
          <p:cNvSpPr txBox="1"/>
          <p:nvPr/>
        </p:nvSpPr>
        <p:spPr>
          <a:xfrm>
            <a:off x="9118854" y="1691640"/>
            <a:ext cx="2173986" cy="566928"/>
          </a:xfrm>
          <a:prstGeom prst="rect">
            <a:avLst/>
          </a:prstGeom>
          <a:noFill/>
          <a:ln/>
        </p:spPr>
        <p:txBody>
          <a:bodyPr wrap="square" lIns="0" tIns="0" rIns="0" bIns="0" rtlCol="0" anchor="t"/>
          <a:lstStyle/>
          <a:p>
            <a:pPr indent="0" marL="0">
              <a:buNone/>
            </a:pPr>
            <a:r>
              <a:rPr lang="en-US" sz="1400" b="1" spc="80" kern="0" dirty="0">
                <a:solidFill>
                  <a:srgbClr val="595959"/>
                </a:solidFill>
                <a:latin typeface="Inter" pitchFamily="34" charset="0"/>
                <a:ea typeface="Inter" pitchFamily="34" charset="-122"/>
                <a:cs typeface="Inter" pitchFamily="34" charset="-120"/>
              </a:rPr>
              <a:t>EVERYTHING ELSE</a:t>
            </a:r>
            <a:endParaRPr lang="en-US" sz="1400" dirty="0"/>
          </a:p>
        </p:txBody>
      </p:sp>
      <p:sp>
        <p:nvSpPr>
          <p:cNvPr id="24" name="Text 22"/>
          <p:cNvSpPr txBox="1"/>
          <p:nvPr/>
        </p:nvSpPr>
        <p:spPr>
          <a:xfrm>
            <a:off x="9118854" y="2286000"/>
            <a:ext cx="2173986" cy="868680"/>
          </a:xfrm>
          <a:prstGeom prst="rect">
            <a:avLst/>
          </a:prstGeom>
          <a:noFill/>
          <a:ln/>
        </p:spPr>
        <p:txBody>
          <a:bodyPr wrap="square" lIns="0" tIns="0" rIns="0" bIns="0" rtlCol="0" anchor="ctr">
            <a:normAutofit/>
          </a:bodyPr>
          <a:lstStyle/>
          <a:p>
            <a:pPr indent="0" marL="0">
              <a:buNone/>
            </a:pPr>
            <a:r>
              <a:rPr lang="en-US" sz="3600" b="1" dirty="0">
                <a:solidFill>
                  <a:srgbClr val="0B2C4A"/>
                </a:solidFill>
                <a:latin typeface="Inter" pitchFamily="34" charset="0"/>
                <a:ea typeface="Inter" pitchFamily="34" charset="-122"/>
                <a:cs typeface="Inter" pitchFamily="34" charset="-120"/>
              </a:rPr>
              <a:t>$19.4M</a:t>
            </a:r>
            <a:endParaRPr lang="en-US" sz="3600" dirty="0"/>
          </a:p>
        </p:txBody>
      </p:sp>
      <p:sp>
        <p:nvSpPr>
          <p:cNvPr id="25" name="Text 23"/>
          <p:cNvSpPr txBox="1"/>
          <p:nvPr/>
        </p:nvSpPr>
        <p:spPr>
          <a:xfrm>
            <a:off x="9118854" y="3200400"/>
            <a:ext cx="2173986" cy="1188720"/>
          </a:xfrm>
          <a:prstGeom prst="rect">
            <a:avLst/>
          </a:prstGeom>
          <a:noFill/>
          <a:ln/>
        </p:spPr>
        <p:txBody>
          <a:bodyPr wrap="square" lIns="0" tIns="0" rIns="0" bIns="0" rtlCol="0" anchor="t"/>
          <a:lstStyle/>
          <a:p>
            <a:pPr indent="0" marL="0">
              <a:buNone/>
            </a:pPr>
            <a:r>
              <a:rPr lang="en-US" sz="1400" dirty="0">
                <a:solidFill>
                  <a:srgbClr val="1A1A1A"/>
                </a:solidFill>
                <a:latin typeface="Inter" pitchFamily="34" charset="0"/>
                <a:ea typeface="Inter" pitchFamily="34" charset="-122"/>
                <a:cs typeface="Inter" pitchFamily="34" charset="-120"/>
              </a:rPr>
              <a:t>8% · Service and parts advertising, training, company vehicles, freight, supplies, travel, other taxes</a:t>
            </a:r>
            <a:endParaRPr lang="en-US" sz="1400" dirty="0"/>
          </a:p>
        </p:txBody>
      </p:sp>
      <p:sp>
        <p:nvSpPr>
          <p:cNvPr id="26" name="Text 24"/>
          <p:cNvSpPr txBox="1"/>
          <p:nvPr/>
        </p:nvSpPr>
        <p:spPr>
          <a:xfrm>
            <a:off x="713232" y="4709160"/>
            <a:ext cx="10762488" cy="914400"/>
          </a:xfrm>
          <a:prstGeom prst="rect">
            <a:avLst/>
          </a:prstGeom>
          <a:noFill/>
          <a:ln/>
        </p:spPr>
        <p:txBody>
          <a:bodyPr wrap="square" lIns="0" tIns="0" rIns="0" bIns="0" rtlCol="0" anchor="ctr"/>
          <a:lstStyle/>
          <a:p>
            <a:pPr indent="0" marL="0">
              <a:buNone/>
            </a:pPr>
            <a:r>
              <a:rPr lang="en-US" sz="1700" dirty="0">
                <a:solidFill>
                  <a:srgbClr val="1A1A1A"/>
                </a:solidFill>
                <a:latin typeface="Inter" pitchFamily="34" charset="0"/>
                <a:ea typeface="Inter" pitchFamily="34" charset="-122"/>
                <a:cs typeface="Inter" pitchFamily="34" charset="-120"/>
              </a:rPr>
              <a:t>Not included: sales and F&amp;I commissions, delivery, policy, floorplan interest and new and used vehicle advertising, the costs that rise and fall with each car sold.</a:t>
            </a:r>
            <a:endParaRPr lang="en-US" sz="1700" dirty="0"/>
          </a:p>
        </p:txBody>
      </p:sp>
      <p:sp>
        <p:nvSpPr>
          <p:cNvPr id="27" name="Shape 25"/>
          <p:cNvSpPr/>
          <p:nvPr/>
        </p:nvSpPr>
        <p:spPr>
          <a:xfrm>
            <a:off x="457200" y="6126480"/>
            <a:ext cx="11274552" cy="615696"/>
          </a:xfrm>
          <a:prstGeom prst="rect">
            <a:avLst/>
          </a:prstGeom>
          <a:solidFill>
            <a:srgbClr val="EDF4FA"/>
          </a:solidFill>
          <a:ln/>
        </p:spPr>
      </p:sp>
      <p:sp>
        <p:nvSpPr>
          <p:cNvPr id="28" name="Text 26"/>
          <p:cNvSpPr txBox="1"/>
          <p:nvPr/>
        </p:nvSpPr>
        <p:spPr>
          <a:xfrm>
            <a:off x="658368" y="6144768"/>
            <a:ext cx="10927080" cy="57912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$242.4M of fixed expenses Jan-Sep 2026; fixed ops gross of $188.8M covers 77.9% of it. People are 61% of the total.</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24128"/>
          </a:xfrm>
          <a:prstGeom prst="rect">
            <a:avLst/>
          </a:prstGeom>
          <a:solidFill>
            <a:srgbClr val="EDF4FA"/>
          </a:solidFill>
          <a:ln/>
        </p:spPr>
      </p:sp>
      <p:sp>
        <p:nvSpPr>
          <p:cNvPr id="6" name="Text 4"/>
          <p:cNvSpPr txBox="1"/>
          <p:nvPr/>
        </p:nvSpPr>
        <p:spPr>
          <a:xfrm>
            <a:off x="685800" y="1243584"/>
            <a:ext cx="10835640" cy="566928"/>
          </a:xfrm>
          <a:prstGeom prst="rect">
            <a:avLst/>
          </a:prstGeom>
          <a:noFill/>
          <a:ln/>
        </p:spPr>
        <p:txBody>
          <a:bodyPr wrap="square" lIns="0" tIns="0" rIns="0" bIns="0" rtlCol="0" anchor="ctr">
            <a:normAutofit/>
          </a:bodyPr>
          <a:lstStyle/>
          <a:p>
            <a:pPr indent="0" marL="0">
              <a:buNone/>
            </a:pPr>
            <a:r>
              <a:rPr lang="en-US" sz="2200" b="1" dirty="0">
                <a:solidFill>
                  <a:srgbClr val="0B2C4A"/>
                </a:solidFill>
                <a:latin typeface="Inter" pitchFamily="34" charset="0"/>
                <a:ea typeface="Inter" pitchFamily="34" charset="-122"/>
                <a:cs typeface="Inter" pitchFamily="34" charset="-120"/>
              </a:rPr>
              <a:t>Fixed ops net profit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gross  </a:t>
            </a:r>
            <a:pPr indent="0" marL="0">
              <a:buNone/>
            </a:pPr>
            <a:r>
              <a:rPr lang="en-US" sz="2200" b="1" dirty="0">
                <a:solidFill>
                  <a:srgbClr val="2587C5"/>
                </a:solidFill>
                <a:latin typeface="Inter" pitchFamily="34" charset="0"/>
                <a:ea typeface="Inter" pitchFamily="34" charset="-122"/>
                <a:cs typeface="Inter" pitchFamily="34" charset="-120"/>
              </a:rPr>
              <a:t>−  </a:t>
            </a:r>
            <a:pPr indent="0" marL="0">
              <a:buNone/>
            </a:pPr>
            <a:r>
              <a:rPr lang="en-US" sz="2200" b="1" dirty="0">
                <a:solidFill>
                  <a:srgbClr val="0B2C4A"/>
                </a:solidFill>
                <a:latin typeface="Inter" pitchFamily="34" charset="0"/>
                <a:ea typeface="Inter" pitchFamily="34" charset="-122"/>
                <a:cs typeface="Inter" pitchFamily="34" charset="-120"/>
              </a:rPr>
              <a:t>service &amp; parts expenses</a:t>
            </a:r>
            <a:endParaRPr lang="en-US" sz="2200" dirty="0"/>
          </a:p>
        </p:txBody>
      </p:sp>
      <p:sp>
        <p:nvSpPr>
          <p:cNvPr id="7" name="Text 5"/>
          <p:cNvSpPr txBox="1"/>
          <p:nvPr/>
        </p:nvSpPr>
        <p:spPr>
          <a:xfrm>
            <a:off x="685800" y="1783080"/>
            <a:ext cx="10835640" cy="420624"/>
          </a:xfrm>
          <a:prstGeom prst="rect">
            <a:avLst/>
          </a:prstGeom>
          <a:noFill/>
          <a:ln/>
        </p:spPr>
        <p:txBody>
          <a:bodyPr wrap="square" lIns="0" tIns="0" rIns="0" bIns="0" rtlCol="0" anchor="ctr"/>
          <a:lstStyle/>
          <a:p>
            <a:pPr indent="0" marL="0">
              <a:buNone/>
            </a:pPr>
            <a:r>
              <a:rPr lang="en-US" sz="1500" dirty="0">
                <a:solidFill>
                  <a:srgbClr val="595959"/>
                </a:solidFill>
                <a:latin typeface="Inter" pitchFamily="34" charset="0"/>
                <a:ea typeface="Inter" pitchFamily="34" charset="-122"/>
                <a:cs typeface="Inter" pitchFamily="34" charset="-120"/>
              </a:rPr>
              <a:t>The profit parts and service generate after their allocated expenses are covered.</a:t>
            </a:r>
            <a:endParaRPr lang="en-US" sz="1500" dirty="0"/>
          </a:p>
        </p:txBody>
      </p:sp>
      <p:sp>
        <p:nvSpPr>
          <p:cNvPr id="8" name="Text 6"/>
          <p:cNvSpPr txBox="1"/>
          <p:nvPr/>
        </p:nvSpPr>
        <p:spPr>
          <a:xfrm>
            <a:off x="457200" y="2340864"/>
            <a:ext cx="1828800" cy="457200"/>
          </a:xfrm>
          <a:prstGeom prst="rect">
            <a:avLst/>
          </a:prstGeom>
          <a:noFill/>
          <a:ln/>
        </p:spPr>
        <p:txBody>
          <a:bodyPr wrap="square" lIns="0" tIns="0" rIns="0" bIns="0" rtlCol="0" anchor="ctr"/>
          <a:lstStyle/>
          <a:p>
            <a:pPr indent="0" marL="0">
              <a:buNone/>
            </a:pPr>
            <a:r>
              <a:rPr lang="en-US" sz="1400" b="1" spc="80" kern="0" dirty="0">
                <a:solidFill>
                  <a:srgbClr val="595959"/>
                </a:solidFill>
                <a:latin typeface="Inter" pitchFamily="34" charset="0"/>
                <a:ea typeface="Inter" pitchFamily="34" charset="-122"/>
                <a:cs typeface="Inter" pitchFamily="34" charset="-120"/>
              </a:rPr>
              <a:t>OUR NUMBERS</a:t>
            </a:r>
            <a:endParaRPr lang="en-US" sz="1400" dirty="0"/>
          </a:p>
        </p:txBody>
      </p:sp>
      <p:sp>
        <p:nvSpPr>
          <p:cNvPr id="9" name="Shape 7"/>
          <p:cNvSpPr/>
          <p:nvPr/>
        </p:nvSpPr>
        <p:spPr>
          <a:xfrm>
            <a:off x="2286000" y="2340864"/>
            <a:ext cx="3075432" cy="457200"/>
          </a:xfrm>
          <a:prstGeom prst="rect">
            <a:avLst/>
          </a:prstGeom>
          <a:solidFill>
            <a:srgbClr val="FFFFFF"/>
          </a:solidFill>
          <a:ln w="9525">
            <a:solidFill>
              <a:srgbClr val="D9D9D9"/>
            </a:solidFill>
            <a:prstDash val="solid"/>
          </a:ln>
        </p:spPr>
      </p:sp>
      <p:sp>
        <p:nvSpPr>
          <p:cNvPr id="10" name="Text 8"/>
          <p:cNvSpPr txBox="1"/>
          <p:nvPr/>
        </p:nvSpPr>
        <p:spPr>
          <a:xfrm>
            <a:off x="235915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Gross  </a:t>
            </a:r>
            <a:pPr algn="ctr" indent="0" marL="0">
              <a:buNone/>
            </a:pPr>
            <a:r>
              <a:rPr lang="en-US" sz="1400" b="1" dirty="0">
                <a:solidFill>
                  <a:srgbClr val="0B2C4A"/>
                </a:solidFill>
                <a:latin typeface="Inter" pitchFamily="34" charset="0"/>
                <a:ea typeface="Inter" pitchFamily="34" charset="-122"/>
                <a:cs typeface="Inter" pitchFamily="34" charset="-120"/>
              </a:rPr>
              <a:t>$188.80M</a:t>
            </a:r>
            <a:endParaRPr lang="en-US" sz="1400" dirty="0"/>
          </a:p>
        </p:txBody>
      </p:sp>
      <p:sp>
        <p:nvSpPr>
          <p:cNvPr id="11" name="Shape 9"/>
          <p:cNvSpPr/>
          <p:nvPr/>
        </p:nvSpPr>
        <p:spPr>
          <a:xfrm>
            <a:off x="5471160" y="2340864"/>
            <a:ext cx="3075432" cy="457200"/>
          </a:xfrm>
          <a:prstGeom prst="rect">
            <a:avLst/>
          </a:prstGeom>
          <a:solidFill>
            <a:srgbClr val="FFFFFF"/>
          </a:solidFill>
          <a:ln w="9525">
            <a:solidFill>
              <a:srgbClr val="D9D9D9"/>
            </a:solidFill>
            <a:prstDash val="solid"/>
          </a:ln>
        </p:spPr>
      </p:sp>
      <p:sp>
        <p:nvSpPr>
          <p:cNvPr id="12" name="Text 10"/>
          <p:cNvSpPr txBox="1"/>
          <p:nvPr/>
        </p:nvSpPr>
        <p:spPr>
          <a:xfrm>
            <a:off x="554431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Expenses  </a:t>
            </a:r>
            <a:pPr algn="ctr" indent="0" marL="0">
              <a:buNone/>
            </a:pPr>
            <a:r>
              <a:rPr lang="en-US" sz="1400" b="1" dirty="0">
                <a:solidFill>
                  <a:srgbClr val="0B2C4A"/>
                </a:solidFill>
                <a:latin typeface="Inter" pitchFamily="34" charset="0"/>
                <a:ea typeface="Inter" pitchFamily="34" charset="-122"/>
                <a:cs typeface="Inter" pitchFamily="34" charset="-120"/>
              </a:rPr>
              <a:t>$138.35M</a:t>
            </a:r>
            <a:endParaRPr lang="en-US" sz="1400" dirty="0"/>
          </a:p>
        </p:txBody>
      </p:sp>
      <p:sp>
        <p:nvSpPr>
          <p:cNvPr id="13" name="Shape 11"/>
          <p:cNvSpPr/>
          <p:nvPr/>
        </p:nvSpPr>
        <p:spPr>
          <a:xfrm>
            <a:off x="8656320" y="2340864"/>
            <a:ext cx="3075432" cy="457200"/>
          </a:xfrm>
          <a:prstGeom prst="rect">
            <a:avLst/>
          </a:prstGeom>
          <a:solidFill>
            <a:srgbClr val="FFFFFF"/>
          </a:solidFill>
          <a:ln w="9525">
            <a:solidFill>
              <a:srgbClr val="D9D9D9"/>
            </a:solidFill>
            <a:prstDash val="solid"/>
          </a:ln>
        </p:spPr>
      </p:sp>
      <p:sp>
        <p:nvSpPr>
          <p:cNvPr id="14" name="Text 12"/>
          <p:cNvSpPr txBox="1"/>
          <p:nvPr/>
        </p:nvSpPr>
        <p:spPr>
          <a:xfrm>
            <a:off x="8729472" y="2340864"/>
            <a:ext cx="2929128" cy="457200"/>
          </a:xfrm>
          <a:prstGeom prst="rect">
            <a:avLst/>
          </a:prstGeom>
          <a:noFill/>
          <a:ln/>
        </p:spPr>
        <p:txBody>
          <a:bodyPr wrap="square" lIns="0" tIns="0" rIns="0" bIns="0" rtlCol="0" anchor="ctr">
            <a:normAutofit/>
          </a:bodyPr>
          <a:lstStyle/>
          <a:p>
            <a:pPr algn="ctr" indent="0" marL="0">
              <a:buNone/>
            </a:pPr>
            <a:r>
              <a:rPr lang="en-US" sz="1400" dirty="0">
                <a:solidFill>
                  <a:srgbClr val="1A1A1A"/>
                </a:solidFill>
                <a:latin typeface="Inter" pitchFamily="34" charset="0"/>
                <a:ea typeface="Inter" pitchFamily="34" charset="-122"/>
                <a:cs typeface="Inter" pitchFamily="34" charset="-120"/>
              </a:rPr>
              <a:t>= Net profit  </a:t>
            </a:r>
            <a:pPr algn="ctr" indent="0" marL="0">
              <a:buNone/>
            </a:pPr>
            <a:r>
              <a:rPr lang="en-US" sz="1400" b="1" dirty="0">
                <a:solidFill>
                  <a:srgbClr val="0B2C4A"/>
                </a:solidFill>
                <a:latin typeface="Inter" pitchFamily="34" charset="0"/>
                <a:ea typeface="Inter" pitchFamily="34" charset="-122"/>
                <a:cs typeface="Inter" pitchFamily="34" charset="-120"/>
              </a:rPr>
              <a:t>$50.45M</a:t>
            </a:r>
            <a:endParaRPr lang="en-US" sz="1400" dirty="0"/>
          </a:p>
        </p:txBody>
      </p:sp>
      <p:sp>
        <p:nvSpPr>
          <p:cNvPr id="15" name="Shape 13"/>
          <p:cNvSpPr/>
          <p:nvPr/>
        </p:nvSpPr>
        <p:spPr>
          <a:xfrm>
            <a:off x="457200" y="2907792"/>
            <a:ext cx="4343400" cy="3081528"/>
          </a:xfrm>
          <a:prstGeom prst="rect">
            <a:avLst/>
          </a:prstGeom>
          <a:solidFill>
            <a:srgbClr val="FFFFFF"/>
          </a:solidFill>
          <a:ln/>
        </p:spPr>
      </p:sp>
      <p:sp>
        <p:nvSpPr>
          <p:cNvPr id="16" name="Shape 14"/>
          <p:cNvSpPr/>
          <p:nvPr/>
        </p:nvSpPr>
        <p:spPr>
          <a:xfrm>
            <a:off x="4937760" y="2907792"/>
            <a:ext cx="6793992" cy="3081528"/>
          </a:xfrm>
          <a:prstGeom prst="rect">
            <a:avLst/>
          </a:prstGeom>
          <a:solidFill>
            <a:srgbClr val="FFFFFF"/>
          </a:solidFill>
          <a:ln/>
        </p:spPr>
      </p:sp>
      <p:sp>
        <p:nvSpPr>
          <p:cNvPr id="17" name="Text 15"/>
          <p:cNvSpPr txBox="1"/>
          <p:nvPr/>
        </p:nvSpPr>
        <p:spPr>
          <a:xfrm>
            <a:off x="658368" y="3035808"/>
            <a:ext cx="393192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WHY IT MATTERS</a:t>
            </a:r>
            <a:endParaRPr lang="en-US" sz="1400" dirty="0"/>
          </a:p>
        </p:txBody>
      </p:sp>
      <p:sp>
        <p:nvSpPr>
          <p:cNvPr id="18" name="Text 16"/>
          <p:cNvSpPr txBox="1"/>
          <p:nvPr/>
        </p:nvSpPr>
        <p:spPr>
          <a:xfrm>
            <a:off x="5138928" y="3035808"/>
            <a:ext cx="6400800" cy="292608"/>
          </a:xfrm>
          <a:prstGeom prst="rect">
            <a:avLst/>
          </a:prstGeom>
          <a:noFill/>
          <a:ln/>
        </p:spPr>
        <p:txBody>
          <a:bodyPr wrap="square" lIns="0" tIns="0" rIns="0" bIns="0" rtlCol="0" anchor="ctr"/>
          <a:lstStyle/>
          <a:p>
            <a:pPr indent="0" marL="0">
              <a:buNone/>
            </a:pPr>
            <a:r>
              <a:rPr lang="en-US" sz="1400" b="1" spc="100" kern="0" dirty="0">
                <a:solidFill>
                  <a:srgbClr val="0B2C4A"/>
                </a:solidFill>
                <a:latin typeface="Inter" pitchFamily="34" charset="0"/>
                <a:ea typeface="Inter" pitchFamily="34" charset="-122"/>
                <a:cs typeface="Inter" pitchFamily="34" charset="-120"/>
              </a:rPr>
              <a:t>WHAT MOVES IT</a:t>
            </a:r>
            <a:endParaRPr lang="en-US" sz="1400" dirty="0"/>
          </a:p>
        </p:txBody>
      </p:sp>
      <p:sp>
        <p:nvSpPr>
          <p:cNvPr id="19" name="Text 17"/>
          <p:cNvSpPr txBox="1"/>
          <p:nvPr/>
        </p:nvSpPr>
        <p:spPr>
          <a:xfrm>
            <a:off x="658368" y="3410712"/>
            <a:ext cx="3977640" cy="2441448"/>
          </a:xfrm>
          <a:prstGeom prst="rect">
            <a:avLst/>
          </a:prstGeom>
          <a:noFill/>
          <a:ln/>
        </p:spPr>
        <p:txBody>
          <a:bodyPr wrap="square" lIns="0" tIns="0" rIns="0" bIns="0" rtlCol="0" anchor="t"/>
          <a:lstStyle/>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It is what fixed ops actually contributes to the store.</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Gross can grow while profit shrinks if expenses grow faster.</a:t>
            </a:r>
            <a:endParaRPr lang="en-US" sz="1500" dirty="0"/>
          </a:p>
          <a:p>
            <a:pPr marL="203200" indent="-203200">
              <a:spcAft>
                <a:spcPts val="600"/>
              </a:spcAft>
              <a:buSzPct val="100000"/>
              <a:buChar char="•"/>
            </a:pPr>
            <a:r>
              <a:rPr lang="en-US" sz="1500" dirty="0">
                <a:solidFill>
                  <a:srgbClr val="1A1A1A"/>
                </a:solidFill>
                <a:latin typeface="Inter" pitchFamily="34" charset="0"/>
                <a:ea typeface="Inter" pitchFamily="34" charset="-122"/>
                <a:cs typeface="Inter" pitchFamily="34" charset="-120"/>
              </a:rPr>
              <a:t>Every dollar of expense saved drops straight to the bottom line. Earning that $1 takes $7 in service and parts sales.</a:t>
            </a:r>
            <a:endParaRPr lang="en-US" sz="1500" dirty="0"/>
          </a:p>
        </p:txBody>
      </p:sp>
      <p:sp>
        <p:nvSpPr>
          <p:cNvPr id="20" name="Shape 18"/>
          <p:cNvSpPr/>
          <p:nvPr/>
        </p:nvSpPr>
        <p:spPr>
          <a:xfrm>
            <a:off x="5138928" y="3410712"/>
            <a:ext cx="45720" cy="1133856"/>
          </a:xfrm>
          <a:prstGeom prst="rect">
            <a:avLst/>
          </a:prstGeom>
          <a:solidFill>
            <a:srgbClr val="2587C5"/>
          </a:solidFill>
          <a:ln/>
        </p:spPr>
      </p:sp>
      <p:sp>
        <p:nvSpPr>
          <p:cNvPr id="21" name="Text 19"/>
          <p:cNvSpPr txBox="1"/>
          <p:nvPr/>
        </p:nvSpPr>
        <p:spPr>
          <a:xfrm>
            <a:off x="5266944"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Gross</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Car count, hours per RO, effective labor rate, parts and labor margin</a:t>
            </a:r>
            <a:endParaRPr lang="en-US" sz="1400" dirty="0"/>
          </a:p>
        </p:txBody>
      </p:sp>
      <p:sp>
        <p:nvSpPr>
          <p:cNvPr id="22" name="Shape 20"/>
          <p:cNvSpPr/>
          <p:nvPr/>
        </p:nvSpPr>
        <p:spPr>
          <a:xfrm>
            <a:off x="8394192" y="3410712"/>
            <a:ext cx="45720" cy="1133856"/>
          </a:xfrm>
          <a:prstGeom prst="rect">
            <a:avLst/>
          </a:prstGeom>
          <a:solidFill>
            <a:srgbClr val="2587C5"/>
          </a:solidFill>
          <a:ln/>
        </p:spPr>
      </p:sp>
      <p:sp>
        <p:nvSpPr>
          <p:cNvPr id="23" name="Text 21"/>
          <p:cNvSpPr txBox="1"/>
          <p:nvPr/>
        </p:nvSpPr>
        <p:spPr>
          <a:xfrm>
            <a:off x="8522208" y="3410712"/>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People</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The largest expense: staffing to the workload, pay plans tied to performance</a:t>
            </a:r>
            <a:endParaRPr lang="en-US" sz="1400" dirty="0"/>
          </a:p>
        </p:txBody>
      </p:sp>
      <p:sp>
        <p:nvSpPr>
          <p:cNvPr id="24" name="Shape 22"/>
          <p:cNvSpPr/>
          <p:nvPr/>
        </p:nvSpPr>
        <p:spPr>
          <a:xfrm>
            <a:off x="5138928" y="4654296"/>
            <a:ext cx="45720" cy="1133856"/>
          </a:xfrm>
          <a:prstGeom prst="rect">
            <a:avLst/>
          </a:prstGeom>
          <a:solidFill>
            <a:srgbClr val="2587C5"/>
          </a:solidFill>
          <a:ln/>
        </p:spPr>
      </p:sp>
      <p:sp>
        <p:nvSpPr>
          <p:cNvPr id="25" name="Text 23"/>
          <p:cNvSpPr txBox="1"/>
          <p:nvPr/>
        </p:nvSpPr>
        <p:spPr>
          <a:xfrm>
            <a:off x="5266944"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Productivity</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More gross from the same team and the same stalls</a:t>
            </a:r>
            <a:endParaRPr lang="en-US" sz="1400" dirty="0"/>
          </a:p>
        </p:txBody>
      </p:sp>
      <p:sp>
        <p:nvSpPr>
          <p:cNvPr id="26" name="Shape 24"/>
          <p:cNvSpPr/>
          <p:nvPr/>
        </p:nvSpPr>
        <p:spPr>
          <a:xfrm>
            <a:off x="8394192" y="4654296"/>
            <a:ext cx="45720" cy="1133856"/>
          </a:xfrm>
          <a:prstGeom prst="rect">
            <a:avLst/>
          </a:prstGeom>
          <a:solidFill>
            <a:srgbClr val="2587C5"/>
          </a:solidFill>
          <a:ln/>
        </p:spPr>
      </p:sp>
      <p:sp>
        <p:nvSpPr>
          <p:cNvPr id="27" name="Text 25"/>
          <p:cNvSpPr txBox="1"/>
          <p:nvPr/>
        </p:nvSpPr>
        <p:spPr>
          <a:xfrm>
            <a:off x="8522208" y="4654296"/>
            <a:ext cx="2962656" cy="1133856"/>
          </a:xfrm>
          <a:prstGeom prst="rect">
            <a:avLst/>
          </a:prstGeom>
          <a:noFill/>
          <a:ln/>
        </p:spPr>
        <p:txBody>
          <a:bodyPr wrap="square" lIns="0" tIns="0" rIns="0" bIns="0" rtlCol="0" anchor="t"/>
          <a:lstStyle/>
          <a:p>
            <a:pPr indent="0" marL="0">
              <a:buNone/>
            </a:pPr>
            <a:r>
              <a:rPr lang="en-US" sz="1400" b="1" dirty="0">
                <a:solidFill>
                  <a:srgbClr val="1A1A1A"/>
                </a:solidFill>
                <a:latin typeface="Inter" pitchFamily="34" charset="0"/>
                <a:ea typeface="Inter" pitchFamily="34" charset="-122"/>
                <a:cs typeface="Inter" pitchFamily="34" charset="-120"/>
              </a:rPr>
              <a:t>Spending</a:t>
            </a:r>
            <a:endParaRPr lang="en-US" sz="1400" dirty="0"/>
          </a:p>
          <a:p>
            <a:pPr indent="0" marL="0">
              <a:buNone/>
            </a:pPr>
            <a:r>
              <a:rPr lang="en-US" sz="1400" dirty="0">
                <a:solidFill>
                  <a:srgbClr val="595959"/>
                </a:solidFill>
                <a:latin typeface="Inter" pitchFamily="34" charset="0"/>
                <a:ea typeface="Inter" pitchFamily="34" charset="-122"/>
                <a:cs typeface="Inter" pitchFamily="34" charset="-120"/>
              </a:rPr>
              <a:t>Supplies, outside services, service policy, advertising, company vehicles</a:t>
            </a:r>
            <a:endParaRPr lang="en-US" sz="1400" dirty="0"/>
          </a:p>
        </p:txBody>
      </p:sp>
      <p:sp>
        <p:nvSpPr>
          <p:cNvPr id="28" name="Shape 26"/>
          <p:cNvSpPr/>
          <p:nvPr/>
        </p:nvSpPr>
        <p:spPr>
          <a:xfrm>
            <a:off x="457200" y="6126480"/>
            <a:ext cx="11274552" cy="371856"/>
          </a:xfrm>
          <a:prstGeom prst="rect">
            <a:avLst/>
          </a:prstGeom>
          <a:solidFill>
            <a:srgbClr val="E6F6EE"/>
          </a:solidFill>
          <a:ln/>
        </p:spPr>
      </p:sp>
      <p:sp>
        <p:nvSpPr>
          <p:cNvPr id="29" name="Text 27"/>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Group: $50.45M fixed ops net profit, +11.3%. Gross grew +4.1%; department expenses +1.7%.</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1005840"/>
          </a:xfrm>
          <a:prstGeom prst="rect">
            <a:avLst/>
          </a:prstGeom>
          <a:solidFill>
            <a:srgbClr val="FFFFFF"/>
          </a:solidFill>
          <a:ln/>
        </p:spPr>
      </p:sp>
      <p:sp>
        <p:nvSpPr>
          <p:cNvPr id="6" name="Text 4"/>
          <p:cNvSpPr txBox="1"/>
          <p:nvPr/>
        </p:nvSpPr>
        <p:spPr>
          <a:xfrm>
            <a:off x="68580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2025 YTD</a:t>
            </a:r>
            <a:endParaRPr lang="en-US" sz="1400" dirty="0"/>
          </a:p>
        </p:txBody>
      </p:sp>
      <p:sp>
        <p:nvSpPr>
          <p:cNvPr id="7" name="Text 5"/>
          <p:cNvSpPr txBox="1"/>
          <p:nvPr/>
        </p:nvSpPr>
        <p:spPr>
          <a:xfrm>
            <a:off x="68580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$45.34M</a:t>
            </a:r>
            <a:endParaRPr lang="en-US" sz="3000" dirty="0"/>
          </a:p>
        </p:txBody>
      </p:sp>
      <p:sp>
        <p:nvSpPr>
          <p:cNvPr id="8" name="Text 6"/>
          <p:cNvSpPr txBox="1"/>
          <p:nvPr/>
        </p:nvSpPr>
        <p:spPr>
          <a:xfrm>
            <a:off x="347472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2026 YTD</a:t>
            </a:r>
            <a:endParaRPr lang="en-US" sz="1400" dirty="0"/>
          </a:p>
        </p:txBody>
      </p:sp>
      <p:sp>
        <p:nvSpPr>
          <p:cNvPr id="9" name="Text 7"/>
          <p:cNvSpPr txBox="1"/>
          <p:nvPr/>
        </p:nvSpPr>
        <p:spPr>
          <a:xfrm>
            <a:off x="3474720" y="1554480"/>
            <a:ext cx="2697480" cy="548640"/>
          </a:xfrm>
          <a:prstGeom prst="rect">
            <a:avLst/>
          </a:prstGeom>
          <a:noFill/>
          <a:ln/>
        </p:spPr>
        <p:txBody>
          <a:bodyPr wrap="square" lIns="0" tIns="0" rIns="0" bIns="0" rtlCol="0" anchor="ctr"/>
          <a:lstStyle/>
          <a:p>
            <a:pPr indent="0" marL="0">
              <a:buNone/>
            </a:pPr>
            <a:r>
              <a:rPr lang="en-US" sz="3000" b="1" dirty="0">
                <a:solidFill>
                  <a:srgbClr val="1A1A1A"/>
                </a:solidFill>
                <a:latin typeface="Inter" pitchFamily="34" charset="0"/>
                <a:ea typeface="Inter" pitchFamily="34" charset="-122"/>
                <a:cs typeface="Inter" pitchFamily="34" charset="-120"/>
              </a:rPr>
              <a:t>$50.45M</a:t>
            </a:r>
            <a:endParaRPr lang="en-US" sz="3000" dirty="0"/>
          </a:p>
        </p:txBody>
      </p:sp>
      <p:sp>
        <p:nvSpPr>
          <p:cNvPr id="10" name="Text 8"/>
          <p:cNvSpPr txBox="1"/>
          <p:nvPr/>
        </p:nvSpPr>
        <p:spPr>
          <a:xfrm>
            <a:off x="626364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VARIANCE</a:t>
            </a:r>
            <a:endParaRPr lang="en-US" sz="1400" dirty="0"/>
          </a:p>
        </p:txBody>
      </p:sp>
      <p:sp>
        <p:nvSpPr>
          <p:cNvPr id="11" name="Text 9"/>
          <p:cNvSpPr txBox="1"/>
          <p:nvPr/>
        </p:nvSpPr>
        <p:spPr>
          <a:xfrm>
            <a:off x="626364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+$5.11M</a:t>
            </a:r>
            <a:endParaRPr lang="en-US" sz="3000" dirty="0"/>
          </a:p>
        </p:txBody>
      </p:sp>
      <p:sp>
        <p:nvSpPr>
          <p:cNvPr id="12" name="Text 10"/>
          <p:cNvSpPr txBox="1"/>
          <p:nvPr/>
        </p:nvSpPr>
        <p:spPr>
          <a:xfrm>
            <a:off x="9052560" y="1335024"/>
            <a:ext cx="2651760" cy="23774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VAR %</a:t>
            </a:r>
            <a:endParaRPr lang="en-US" sz="1400" dirty="0"/>
          </a:p>
        </p:txBody>
      </p:sp>
      <p:sp>
        <p:nvSpPr>
          <p:cNvPr id="13" name="Text 11"/>
          <p:cNvSpPr txBox="1"/>
          <p:nvPr/>
        </p:nvSpPr>
        <p:spPr>
          <a:xfrm>
            <a:off x="9052560" y="1554480"/>
            <a:ext cx="2697480" cy="548640"/>
          </a:xfrm>
          <a:prstGeom prst="rect">
            <a:avLst/>
          </a:prstGeom>
          <a:noFill/>
          <a:ln/>
        </p:spPr>
        <p:txBody>
          <a:bodyPr wrap="square" lIns="0" tIns="0" rIns="0" bIns="0" rtlCol="0" anchor="ctr"/>
          <a:lstStyle/>
          <a:p>
            <a:pPr indent="0" marL="0">
              <a:buNone/>
            </a:pPr>
            <a:r>
              <a:rPr lang="en-US" sz="3000" b="1" dirty="0">
                <a:solidFill>
                  <a:srgbClr val="0B7A4A"/>
                </a:solidFill>
                <a:latin typeface="Inter" pitchFamily="34" charset="0"/>
                <a:ea typeface="Inter" pitchFamily="34" charset="-122"/>
                <a:cs typeface="Inter" pitchFamily="34" charset="-120"/>
              </a:rPr>
              <a:t>+11.3%</a:t>
            </a:r>
            <a:endParaRPr lang="en-US" sz="3000" dirty="0"/>
          </a:p>
        </p:txBody>
      </p:sp>
      <p:sp>
        <p:nvSpPr>
          <p:cNvPr id="14" name="Shape 12"/>
          <p:cNvSpPr/>
          <p:nvPr/>
        </p:nvSpPr>
        <p:spPr>
          <a:xfrm>
            <a:off x="457200" y="2322576"/>
            <a:ext cx="11274552" cy="3666744"/>
          </a:xfrm>
          <a:prstGeom prst="rect">
            <a:avLst/>
          </a:prstGeom>
          <a:solidFill>
            <a:srgbClr val="FFFFFF"/>
          </a:solidFill>
          <a:ln/>
        </p:spPr>
      </p:sp>
      <p:sp>
        <p:nvSpPr>
          <p:cNvPr id="15" name="Text 13"/>
          <p:cNvSpPr txBox="1"/>
          <p:nvPr/>
        </p:nvSpPr>
        <p:spPr>
          <a:xfrm>
            <a:off x="685800" y="2459736"/>
            <a:ext cx="10817352" cy="292608"/>
          </a:xfrm>
          <a:prstGeom prst="rect">
            <a:avLst/>
          </a:prstGeom>
          <a:noFill/>
          <a:ln/>
        </p:spPr>
        <p:txBody>
          <a:bodyPr wrap="square" lIns="0" tIns="0" rIns="0" bIns="0" rtlCol="0" anchor="ctr"/>
          <a:lstStyle/>
          <a:p>
            <a:pPr indent="0" marL="0">
              <a:buNone/>
            </a:pPr>
            <a:r>
              <a:rPr lang="en-US" sz="1500" dirty="0">
                <a:solidFill>
                  <a:srgbClr val="1A1A1A"/>
                </a:solidFill>
                <a:latin typeface="Inter" pitchFamily="34" charset="0"/>
                <a:ea typeface="Inter" pitchFamily="34" charset="-122"/>
                <a:cs typeface="Inter" pitchFamily="34" charset="-120"/>
              </a:rPr>
              <a:t>Fixed ops net profit by month, 2025 against 2026 ($M)</a:t>
            </a:r>
            <a:endParaRPr lang="en-US" sz="1500" dirty="0"/>
          </a:p>
        </p:txBody>
      </p:sp>
      <p:sp>
        <p:nvSpPr>
          <p:cNvPr id="16" name="Shape 14"/>
          <p:cNvSpPr/>
          <p:nvPr/>
        </p:nvSpPr>
        <p:spPr>
          <a:xfrm>
            <a:off x="685800" y="2807208"/>
            <a:ext cx="10817352" cy="10973"/>
          </a:xfrm>
          <a:prstGeom prst="rect">
            <a:avLst/>
          </a:prstGeom>
          <a:solidFill>
            <a:srgbClr val="1A1A1A"/>
          </a:solidFill>
          <a:ln/>
        </p:spPr>
      </p:sp>
      <p:graphicFrame>
        <p:nvGraphicFramePr>
          <p:cNvPr id="17" name="Chart 0"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1"/>
          </a:graphicData>
        </a:graphic>
      </p:graphicFrame>
      <p:graphicFrame>
        <p:nvGraphicFramePr>
          <p:cNvPr id="18" name="Chart 1"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2"/>
          </a:graphicData>
        </a:graphic>
      </p:graphicFrame>
      <p:graphicFrame>
        <p:nvGraphicFramePr>
          <p:cNvPr id="19" name="Chart 2"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3"/>
          </a:graphicData>
        </a:graphic>
      </p:graphicFrame>
      <p:graphicFrame>
        <p:nvGraphicFramePr>
          <p:cNvPr id="20" name="Chart 3"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4"/>
          </a:graphicData>
        </a:graphic>
      </p:graphicFrame>
      <p:graphicFrame>
        <p:nvGraphicFramePr>
          <p:cNvPr id="21" name="Chart 4"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5"/>
          </a:graphicData>
        </a:graphic>
      </p:graphicFrame>
      <p:graphicFrame>
        <p:nvGraphicFramePr>
          <p:cNvPr id="22" name="Chart 5" descr=""/>
          <p:cNvGraphicFramePr/>
          <p:nvPr/>
        </p:nvGraphicFramePr>
        <p:xfrm>
          <a:off x="621792" y="3218688"/>
          <a:ext cx="10945368" cy="2679192"/>
        </p:xfrm>
        <a:graphic xmlns:a="http://schemas.openxmlformats.org/drawingml/2006/main">
          <a:graphicData uri="http://schemas.openxmlformats.org/drawingml/2006/chart">
            <c:chart xmlns:c="http://schemas.openxmlformats.org/drawingml/2006/chart" r:id="rId6"/>
          </a:graphicData>
        </a:graphic>
      </p:graphicFrame>
      <p:sp>
        <p:nvSpPr>
          <p:cNvPr id="23" name="Shape 15"/>
          <p:cNvSpPr/>
          <p:nvPr/>
        </p:nvSpPr>
        <p:spPr>
          <a:xfrm>
            <a:off x="4951476" y="3049524"/>
            <a:ext cx="310896" cy="45720"/>
          </a:xfrm>
          <a:prstGeom prst="rect">
            <a:avLst/>
          </a:prstGeom>
          <a:solidFill>
            <a:srgbClr val="9AA3AD"/>
          </a:solidFill>
          <a:ln/>
        </p:spPr>
      </p:sp>
      <p:sp>
        <p:nvSpPr>
          <p:cNvPr id="24" name="Shape 16"/>
          <p:cNvSpPr/>
          <p:nvPr/>
        </p:nvSpPr>
        <p:spPr>
          <a:xfrm>
            <a:off x="5052060" y="3017520"/>
            <a:ext cx="109728" cy="109728"/>
          </a:xfrm>
          <a:prstGeom prst="ellipse">
            <a:avLst/>
          </a:prstGeom>
          <a:solidFill>
            <a:srgbClr val="9AA3AD"/>
          </a:solidFill>
          <a:ln/>
        </p:spPr>
      </p:sp>
      <p:sp>
        <p:nvSpPr>
          <p:cNvPr id="25" name="Text 17"/>
          <p:cNvSpPr txBox="1"/>
          <p:nvPr/>
        </p:nvSpPr>
        <p:spPr>
          <a:xfrm>
            <a:off x="533552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2025</a:t>
            </a:r>
            <a:endParaRPr lang="en-US" sz="1400" dirty="0"/>
          </a:p>
        </p:txBody>
      </p:sp>
      <p:sp>
        <p:nvSpPr>
          <p:cNvPr id="26" name="Shape 18"/>
          <p:cNvSpPr/>
          <p:nvPr/>
        </p:nvSpPr>
        <p:spPr>
          <a:xfrm>
            <a:off x="6185916" y="3049524"/>
            <a:ext cx="310896" cy="45720"/>
          </a:xfrm>
          <a:prstGeom prst="rect">
            <a:avLst/>
          </a:prstGeom>
          <a:solidFill>
            <a:srgbClr val="2587C5"/>
          </a:solidFill>
          <a:ln/>
        </p:spPr>
      </p:sp>
      <p:sp>
        <p:nvSpPr>
          <p:cNvPr id="27" name="Shape 19"/>
          <p:cNvSpPr/>
          <p:nvPr/>
        </p:nvSpPr>
        <p:spPr>
          <a:xfrm>
            <a:off x="6286500" y="3017520"/>
            <a:ext cx="109728" cy="109728"/>
          </a:xfrm>
          <a:prstGeom prst="ellipse">
            <a:avLst/>
          </a:prstGeom>
          <a:solidFill>
            <a:srgbClr val="2587C5"/>
          </a:solidFill>
          <a:ln/>
        </p:spPr>
      </p:sp>
      <p:sp>
        <p:nvSpPr>
          <p:cNvPr id="28" name="Text 20"/>
          <p:cNvSpPr txBox="1"/>
          <p:nvPr/>
        </p:nvSpPr>
        <p:spPr>
          <a:xfrm>
            <a:off x="6569964" y="2926080"/>
            <a:ext cx="777240" cy="292608"/>
          </a:xfrm>
          <a:prstGeom prst="rect">
            <a:avLst/>
          </a:prstGeom>
          <a:noFill/>
          <a:ln/>
        </p:spPr>
        <p:txBody>
          <a:bodyPr wrap="square" lIns="0" tIns="0" rIns="0" bIns="0" rtlCol="0" anchor="ctr"/>
          <a:lstStyle/>
          <a:p>
            <a:pPr indent="0" marL="0">
              <a:buNone/>
            </a:pPr>
            <a:r>
              <a:rPr lang="en-US" sz="1400" dirty="0">
                <a:solidFill>
                  <a:srgbClr val="1A1A1A"/>
                </a:solidFill>
                <a:latin typeface="Inter" pitchFamily="34" charset="0"/>
                <a:ea typeface="Inter" pitchFamily="34" charset="-122"/>
                <a:cs typeface="Inter" pitchFamily="34" charset="-120"/>
              </a:rPr>
              <a:t>2026</a:t>
            </a:r>
            <a:endParaRPr lang="en-US" sz="1400" dirty="0"/>
          </a:p>
        </p:txBody>
      </p:sp>
      <p:sp>
        <p:nvSpPr>
          <p:cNvPr id="29" name="Shape 21"/>
          <p:cNvSpPr/>
          <p:nvPr/>
        </p:nvSpPr>
        <p:spPr>
          <a:xfrm>
            <a:off x="457200" y="6126480"/>
            <a:ext cx="11274552" cy="371856"/>
          </a:xfrm>
          <a:prstGeom prst="rect">
            <a:avLst/>
          </a:prstGeom>
          <a:solidFill>
            <a:srgbClr val="E6F6EE"/>
          </a:solidFill>
          <a:ln/>
        </p:spPr>
      </p:sp>
      <p:sp>
        <p:nvSpPr>
          <p:cNvPr id="30" name="Text 2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7A4A"/>
                </a:solidFill>
                <a:latin typeface="Inter" pitchFamily="34" charset="0"/>
                <a:ea typeface="Inter" pitchFamily="34" charset="-122"/>
                <a:cs typeface="Inter" pitchFamily="34" charset="-120"/>
              </a:rPr>
              <a:t>+$5.11M (+11.3%) year to date; 7 of nine months ahead of 2025, largest gain in September, +$1.61M.</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spc="90" kern="0" dirty="0">
                <a:solidFill>
                  <a:srgbClr val="595959"/>
                </a:solidFill>
                <a:latin typeface="Inter" pitchFamily="34" charset="0"/>
                <a:ea typeface="Inter" pitchFamily="34" charset="-122"/>
                <a:cs typeface="Inter" pitchFamily="34" charset="-120"/>
              </a:rPr>
              <a:t>SEPTEMBER 2026 YTD</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2C4A"/>
                </a:solidFill>
                <a:latin typeface="Inter" pitchFamily="34" charset="0"/>
                <a:ea typeface="Inter" pitchFamily="34" charset="-122"/>
                <a:cs typeface="Inter" pitchFamily="34" charset="-120"/>
              </a:rPr>
              <a:t>$50.45M</a:t>
            </a:r>
            <a:endParaRPr lang="en-US" sz="2000" dirty="0"/>
          </a:p>
        </p:txBody>
      </p:sp>
      <p:sp>
        <p:nvSpPr>
          <p:cNvPr id="11" name="Text 9"/>
          <p:cNvSpPr txBox="1"/>
          <p:nvPr/>
        </p:nvSpPr>
        <p:spPr>
          <a:xfrm>
            <a:off x="658368"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2" name="Text 10"/>
          <p:cNvSpPr txBox="1"/>
          <p:nvPr/>
        </p:nvSpPr>
        <p:spPr>
          <a:xfrm>
            <a:off x="1014984"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3" name="Shape 11"/>
          <p:cNvSpPr/>
          <p:nvPr/>
        </p:nvSpPr>
        <p:spPr>
          <a:xfrm>
            <a:off x="2980944" y="1917669"/>
            <a:ext cx="1828800" cy="120249"/>
          </a:xfrm>
          <a:prstGeom prst="rect">
            <a:avLst/>
          </a:prstGeom>
          <a:solidFill>
            <a:srgbClr val="2587C5"/>
          </a:solidFill>
          <a:ln/>
        </p:spPr>
      </p:sp>
      <p:sp>
        <p:nvSpPr>
          <p:cNvPr id="14" name="Text 12"/>
          <p:cNvSpPr txBox="1"/>
          <p:nvPr/>
        </p:nvSpPr>
        <p:spPr>
          <a:xfrm>
            <a:off x="4855464"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$7.83M</a:t>
            </a:r>
            <a:endParaRPr lang="en-US" sz="1200" dirty="0"/>
          </a:p>
        </p:txBody>
      </p:sp>
      <p:sp>
        <p:nvSpPr>
          <p:cNvPr id="15" name="Text 13"/>
          <p:cNvSpPr txBox="1"/>
          <p:nvPr/>
        </p:nvSpPr>
        <p:spPr>
          <a:xfrm>
            <a:off x="658368"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16" name="Text 14"/>
          <p:cNvSpPr txBox="1"/>
          <p:nvPr/>
        </p:nvSpPr>
        <p:spPr>
          <a:xfrm>
            <a:off x="1014984"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17" name="Shape 15"/>
          <p:cNvSpPr/>
          <p:nvPr/>
        </p:nvSpPr>
        <p:spPr>
          <a:xfrm>
            <a:off x="2980944" y="2179080"/>
            <a:ext cx="1419699" cy="120249"/>
          </a:xfrm>
          <a:prstGeom prst="rect">
            <a:avLst/>
          </a:prstGeom>
          <a:solidFill>
            <a:srgbClr val="2587C5"/>
          </a:solidFill>
          <a:ln/>
        </p:spPr>
      </p:sp>
      <p:sp>
        <p:nvSpPr>
          <p:cNvPr id="18" name="Text 16"/>
          <p:cNvSpPr txBox="1"/>
          <p:nvPr/>
        </p:nvSpPr>
        <p:spPr>
          <a:xfrm>
            <a:off x="4855464"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$6.08M</a:t>
            </a:r>
            <a:endParaRPr lang="en-US" sz="1200" dirty="0"/>
          </a:p>
        </p:txBody>
      </p:sp>
      <p:sp>
        <p:nvSpPr>
          <p:cNvPr id="19" name="Text 17"/>
          <p:cNvSpPr txBox="1"/>
          <p:nvPr/>
        </p:nvSpPr>
        <p:spPr>
          <a:xfrm>
            <a:off x="658368"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0" name="Text 18"/>
          <p:cNvSpPr txBox="1"/>
          <p:nvPr/>
        </p:nvSpPr>
        <p:spPr>
          <a:xfrm>
            <a:off x="1014984"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1" name="Shape 19"/>
          <p:cNvSpPr/>
          <p:nvPr/>
        </p:nvSpPr>
        <p:spPr>
          <a:xfrm>
            <a:off x="2980944" y="2440491"/>
            <a:ext cx="1154907" cy="120249"/>
          </a:xfrm>
          <a:prstGeom prst="rect">
            <a:avLst/>
          </a:prstGeom>
          <a:solidFill>
            <a:srgbClr val="2587C5"/>
          </a:solidFill>
          <a:ln/>
        </p:spPr>
      </p:sp>
      <p:sp>
        <p:nvSpPr>
          <p:cNvPr id="22" name="Text 20"/>
          <p:cNvSpPr txBox="1"/>
          <p:nvPr/>
        </p:nvSpPr>
        <p:spPr>
          <a:xfrm>
            <a:off x="4855464"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$4.94M</a:t>
            </a:r>
            <a:endParaRPr lang="en-US" sz="1200" dirty="0"/>
          </a:p>
        </p:txBody>
      </p:sp>
      <p:sp>
        <p:nvSpPr>
          <p:cNvPr id="23" name="Text 21"/>
          <p:cNvSpPr txBox="1"/>
          <p:nvPr/>
        </p:nvSpPr>
        <p:spPr>
          <a:xfrm>
            <a:off x="658368"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24" name="Text 22"/>
          <p:cNvSpPr txBox="1"/>
          <p:nvPr/>
        </p:nvSpPr>
        <p:spPr>
          <a:xfrm>
            <a:off x="1014984"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25" name="Shape 23"/>
          <p:cNvSpPr/>
          <p:nvPr/>
        </p:nvSpPr>
        <p:spPr>
          <a:xfrm>
            <a:off x="2980944" y="2701901"/>
            <a:ext cx="775885" cy="120249"/>
          </a:xfrm>
          <a:prstGeom prst="rect">
            <a:avLst/>
          </a:prstGeom>
          <a:solidFill>
            <a:srgbClr val="2587C5"/>
          </a:solidFill>
          <a:ln/>
        </p:spPr>
      </p:sp>
      <p:sp>
        <p:nvSpPr>
          <p:cNvPr id="26" name="Text 24"/>
          <p:cNvSpPr txBox="1"/>
          <p:nvPr/>
        </p:nvSpPr>
        <p:spPr>
          <a:xfrm>
            <a:off x="4855464"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$3.32M</a:t>
            </a:r>
            <a:endParaRPr lang="en-US" sz="1200" dirty="0"/>
          </a:p>
        </p:txBody>
      </p:sp>
      <p:sp>
        <p:nvSpPr>
          <p:cNvPr id="27" name="Text 25"/>
          <p:cNvSpPr txBox="1"/>
          <p:nvPr/>
        </p:nvSpPr>
        <p:spPr>
          <a:xfrm>
            <a:off x="658368"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28" name="Text 26"/>
          <p:cNvSpPr txBox="1"/>
          <p:nvPr/>
        </p:nvSpPr>
        <p:spPr>
          <a:xfrm>
            <a:off x="1014984"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29" name="Shape 27"/>
          <p:cNvSpPr/>
          <p:nvPr/>
        </p:nvSpPr>
        <p:spPr>
          <a:xfrm>
            <a:off x="2980944" y="2963312"/>
            <a:ext cx="686722" cy="120249"/>
          </a:xfrm>
          <a:prstGeom prst="rect">
            <a:avLst/>
          </a:prstGeom>
          <a:solidFill>
            <a:srgbClr val="2587C5"/>
          </a:solidFill>
          <a:ln/>
        </p:spPr>
      </p:sp>
      <p:sp>
        <p:nvSpPr>
          <p:cNvPr id="30" name="Text 28"/>
          <p:cNvSpPr txBox="1"/>
          <p:nvPr/>
        </p:nvSpPr>
        <p:spPr>
          <a:xfrm>
            <a:off x="4855464"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$2.94M</a:t>
            </a:r>
            <a:endParaRPr lang="en-US" sz="1200" dirty="0"/>
          </a:p>
        </p:txBody>
      </p:sp>
      <p:sp>
        <p:nvSpPr>
          <p:cNvPr id="31" name="Text 29"/>
          <p:cNvSpPr txBox="1"/>
          <p:nvPr/>
        </p:nvSpPr>
        <p:spPr>
          <a:xfrm>
            <a:off x="658368"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32" name="Text 30"/>
          <p:cNvSpPr txBox="1"/>
          <p:nvPr/>
        </p:nvSpPr>
        <p:spPr>
          <a:xfrm>
            <a:off x="1014984"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33" name="Shape 31"/>
          <p:cNvSpPr/>
          <p:nvPr/>
        </p:nvSpPr>
        <p:spPr>
          <a:xfrm>
            <a:off x="2980944" y="3224723"/>
            <a:ext cx="606903" cy="120249"/>
          </a:xfrm>
          <a:prstGeom prst="rect">
            <a:avLst/>
          </a:prstGeom>
          <a:solidFill>
            <a:srgbClr val="2587C5"/>
          </a:solidFill>
          <a:ln/>
        </p:spPr>
      </p:sp>
      <p:sp>
        <p:nvSpPr>
          <p:cNvPr id="34" name="Text 32"/>
          <p:cNvSpPr txBox="1"/>
          <p:nvPr/>
        </p:nvSpPr>
        <p:spPr>
          <a:xfrm>
            <a:off x="4855464"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$2.60M</a:t>
            </a:r>
            <a:endParaRPr lang="en-US" sz="1200" dirty="0"/>
          </a:p>
        </p:txBody>
      </p:sp>
      <p:sp>
        <p:nvSpPr>
          <p:cNvPr id="35" name="Text 33"/>
          <p:cNvSpPr txBox="1"/>
          <p:nvPr/>
        </p:nvSpPr>
        <p:spPr>
          <a:xfrm>
            <a:off x="658368"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36" name="Text 34"/>
          <p:cNvSpPr txBox="1"/>
          <p:nvPr/>
        </p:nvSpPr>
        <p:spPr>
          <a:xfrm>
            <a:off x="1014984"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37" name="Shape 35"/>
          <p:cNvSpPr/>
          <p:nvPr/>
        </p:nvSpPr>
        <p:spPr>
          <a:xfrm>
            <a:off x="2980944" y="3486134"/>
            <a:ext cx="529462" cy="120249"/>
          </a:xfrm>
          <a:prstGeom prst="rect">
            <a:avLst/>
          </a:prstGeom>
          <a:solidFill>
            <a:srgbClr val="2587C5"/>
          </a:solidFill>
          <a:ln/>
        </p:spPr>
      </p:sp>
      <p:sp>
        <p:nvSpPr>
          <p:cNvPr id="38" name="Text 36"/>
          <p:cNvSpPr txBox="1"/>
          <p:nvPr/>
        </p:nvSpPr>
        <p:spPr>
          <a:xfrm>
            <a:off x="4855464"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$2.27M</a:t>
            </a:r>
            <a:endParaRPr lang="en-US" sz="1200" dirty="0"/>
          </a:p>
        </p:txBody>
      </p:sp>
      <p:sp>
        <p:nvSpPr>
          <p:cNvPr id="39" name="Text 37"/>
          <p:cNvSpPr txBox="1"/>
          <p:nvPr/>
        </p:nvSpPr>
        <p:spPr>
          <a:xfrm>
            <a:off x="658368"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40" name="Text 38"/>
          <p:cNvSpPr txBox="1"/>
          <p:nvPr/>
        </p:nvSpPr>
        <p:spPr>
          <a:xfrm>
            <a:off x="1014984"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41" name="Shape 39"/>
          <p:cNvSpPr/>
          <p:nvPr/>
        </p:nvSpPr>
        <p:spPr>
          <a:xfrm>
            <a:off x="2980944" y="3747545"/>
            <a:ext cx="477227" cy="120249"/>
          </a:xfrm>
          <a:prstGeom prst="rect">
            <a:avLst/>
          </a:prstGeom>
          <a:solidFill>
            <a:srgbClr val="2587C5"/>
          </a:solidFill>
          <a:ln/>
        </p:spPr>
      </p:sp>
      <p:sp>
        <p:nvSpPr>
          <p:cNvPr id="42" name="Text 40"/>
          <p:cNvSpPr txBox="1"/>
          <p:nvPr/>
        </p:nvSpPr>
        <p:spPr>
          <a:xfrm>
            <a:off x="4855464"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$2.04M</a:t>
            </a:r>
            <a:endParaRPr lang="en-US" sz="1200" dirty="0"/>
          </a:p>
        </p:txBody>
      </p:sp>
      <p:sp>
        <p:nvSpPr>
          <p:cNvPr id="43" name="Text 41"/>
          <p:cNvSpPr txBox="1"/>
          <p:nvPr/>
        </p:nvSpPr>
        <p:spPr>
          <a:xfrm>
            <a:off x="658368"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44" name="Text 42"/>
          <p:cNvSpPr txBox="1"/>
          <p:nvPr/>
        </p:nvSpPr>
        <p:spPr>
          <a:xfrm>
            <a:off x="1014984"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45" name="Shape 43"/>
          <p:cNvSpPr/>
          <p:nvPr/>
        </p:nvSpPr>
        <p:spPr>
          <a:xfrm>
            <a:off x="2980944" y="4008956"/>
            <a:ext cx="424033" cy="120249"/>
          </a:xfrm>
          <a:prstGeom prst="rect">
            <a:avLst/>
          </a:prstGeom>
          <a:solidFill>
            <a:srgbClr val="2587C5"/>
          </a:solidFill>
          <a:ln/>
        </p:spPr>
      </p:sp>
      <p:sp>
        <p:nvSpPr>
          <p:cNvPr id="46" name="Text 44"/>
          <p:cNvSpPr txBox="1"/>
          <p:nvPr/>
        </p:nvSpPr>
        <p:spPr>
          <a:xfrm>
            <a:off x="4855464"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$1.82M</a:t>
            </a:r>
            <a:endParaRPr lang="en-US" sz="1200" dirty="0"/>
          </a:p>
        </p:txBody>
      </p:sp>
      <p:sp>
        <p:nvSpPr>
          <p:cNvPr id="47" name="Text 45"/>
          <p:cNvSpPr txBox="1"/>
          <p:nvPr/>
        </p:nvSpPr>
        <p:spPr>
          <a:xfrm>
            <a:off x="658368"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48" name="Text 46"/>
          <p:cNvSpPr txBox="1"/>
          <p:nvPr/>
        </p:nvSpPr>
        <p:spPr>
          <a:xfrm>
            <a:off x="1014984"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9" name="Shape 47"/>
          <p:cNvSpPr/>
          <p:nvPr/>
        </p:nvSpPr>
        <p:spPr>
          <a:xfrm>
            <a:off x="2980944" y="4270366"/>
            <a:ext cx="421495" cy="120249"/>
          </a:xfrm>
          <a:prstGeom prst="rect">
            <a:avLst/>
          </a:prstGeom>
          <a:solidFill>
            <a:srgbClr val="2587C5"/>
          </a:solidFill>
          <a:ln/>
        </p:spPr>
      </p:sp>
      <p:sp>
        <p:nvSpPr>
          <p:cNvPr id="50" name="Text 48"/>
          <p:cNvSpPr txBox="1"/>
          <p:nvPr/>
        </p:nvSpPr>
        <p:spPr>
          <a:xfrm>
            <a:off x="4855464"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$1.80M</a:t>
            </a:r>
            <a:endParaRPr lang="en-US" sz="1200" dirty="0"/>
          </a:p>
        </p:txBody>
      </p:sp>
      <p:sp>
        <p:nvSpPr>
          <p:cNvPr id="51" name="Text 49"/>
          <p:cNvSpPr txBox="1"/>
          <p:nvPr/>
        </p:nvSpPr>
        <p:spPr>
          <a:xfrm>
            <a:off x="658368"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52" name="Text 50"/>
          <p:cNvSpPr txBox="1"/>
          <p:nvPr/>
        </p:nvSpPr>
        <p:spPr>
          <a:xfrm>
            <a:off x="1014984"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53" name="Shape 51"/>
          <p:cNvSpPr/>
          <p:nvPr/>
        </p:nvSpPr>
        <p:spPr>
          <a:xfrm>
            <a:off x="2980944" y="4531777"/>
            <a:ext cx="310696" cy="120249"/>
          </a:xfrm>
          <a:prstGeom prst="rect">
            <a:avLst/>
          </a:prstGeom>
          <a:solidFill>
            <a:srgbClr val="2587C5"/>
          </a:solidFill>
          <a:ln/>
        </p:spPr>
      </p:sp>
      <p:sp>
        <p:nvSpPr>
          <p:cNvPr id="54" name="Text 52"/>
          <p:cNvSpPr txBox="1"/>
          <p:nvPr/>
        </p:nvSpPr>
        <p:spPr>
          <a:xfrm>
            <a:off x="4855464"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$1.33M</a:t>
            </a:r>
            <a:endParaRPr lang="en-US" sz="1200" dirty="0"/>
          </a:p>
        </p:txBody>
      </p:sp>
      <p:sp>
        <p:nvSpPr>
          <p:cNvPr id="55" name="Text 53"/>
          <p:cNvSpPr txBox="1"/>
          <p:nvPr/>
        </p:nvSpPr>
        <p:spPr>
          <a:xfrm>
            <a:off x="658368"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56" name="Text 54"/>
          <p:cNvSpPr txBox="1"/>
          <p:nvPr/>
        </p:nvSpPr>
        <p:spPr>
          <a:xfrm>
            <a:off x="1014984"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57" name="Shape 55"/>
          <p:cNvSpPr/>
          <p:nvPr/>
        </p:nvSpPr>
        <p:spPr>
          <a:xfrm>
            <a:off x="2980944" y="4793188"/>
            <a:ext cx="308094" cy="120249"/>
          </a:xfrm>
          <a:prstGeom prst="rect">
            <a:avLst/>
          </a:prstGeom>
          <a:solidFill>
            <a:srgbClr val="2587C5"/>
          </a:solidFill>
          <a:ln/>
        </p:spPr>
      </p:sp>
      <p:sp>
        <p:nvSpPr>
          <p:cNvPr id="58" name="Text 56"/>
          <p:cNvSpPr txBox="1"/>
          <p:nvPr/>
        </p:nvSpPr>
        <p:spPr>
          <a:xfrm>
            <a:off x="4855464"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$1.32M</a:t>
            </a:r>
            <a:endParaRPr lang="en-US" sz="1200" dirty="0"/>
          </a:p>
        </p:txBody>
      </p:sp>
      <p:sp>
        <p:nvSpPr>
          <p:cNvPr id="59" name="Text 57"/>
          <p:cNvSpPr txBox="1"/>
          <p:nvPr/>
        </p:nvSpPr>
        <p:spPr>
          <a:xfrm>
            <a:off x="658368"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60" name="Text 58"/>
          <p:cNvSpPr txBox="1"/>
          <p:nvPr/>
        </p:nvSpPr>
        <p:spPr>
          <a:xfrm>
            <a:off x="1014984"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1" name="Shape 59"/>
          <p:cNvSpPr/>
          <p:nvPr/>
        </p:nvSpPr>
        <p:spPr>
          <a:xfrm>
            <a:off x="2980944" y="5054599"/>
            <a:ext cx="279934" cy="120249"/>
          </a:xfrm>
          <a:prstGeom prst="rect">
            <a:avLst/>
          </a:prstGeom>
          <a:solidFill>
            <a:srgbClr val="2587C5"/>
          </a:solidFill>
          <a:ln/>
        </p:spPr>
      </p:sp>
      <p:sp>
        <p:nvSpPr>
          <p:cNvPr id="62" name="Text 60"/>
          <p:cNvSpPr txBox="1"/>
          <p:nvPr/>
        </p:nvSpPr>
        <p:spPr>
          <a:xfrm>
            <a:off x="4855464"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$1.20M</a:t>
            </a:r>
            <a:endParaRPr lang="en-US" sz="1200" dirty="0"/>
          </a:p>
        </p:txBody>
      </p:sp>
      <p:sp>
        <p:nvSpPr>
          <p:cNvPr id="63" name="Text 61"/>
          <p:cNvSpPr txBox="1"/>
          <p:nvPr/>
        </p:nvSpPr>
        <p:spPr>
          <a:xfrm>
            <a:off x="658368"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64" name="Text 62"/>
          <p:cNvSpPr txBox="1"/>
          <p:nvPr/>
        </p:nvSpPr>
        <p:spPr>
          <a:xfrm>
            <a:off x="1014984"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65" name="Shape 63"/>
          <p:cNvSpPr/>
          <p:nvPr/>
        </p:nvSpPr>
        <p:spPr>
          <a:xfrm>
            <a:off x="2980944" y="5316010"/>
            <a:ext cx="273031" cy="120249"/>
          </a:xfrm>
          <a:prstGeom prst="rect">
            <a:avLst/>
          </a:prstGeom>
          <a:solidFill>
            <a:srgbClr val="2587C5"/>
          </a:solidFill>
          <a:ln/>
        </p:spPr>
      </p:sp>
      <p:sp>
        <p:nvSpPr>
          <p:cNvPr id="66" name="Text 64"/>
          <p:cNvSpPr txBox="1"/>
          <p:nvPr/>
        </p:nvSpPr>
        <p:spPr>
          <a:xfrm>
            <a:off x="4855464"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67" name="Text 65"/>
          <p:cNvSpPr txBox="1"/>
          <p:nvPr/>
        </p:nvSpPr>
        <p:spPr>
          <a:xfrm>
            <a:off x="658368"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68" name="Text 66"/>
          <p:cNvSpPr txBox="1"/>
          <p:nvPr/>
        </p:nvSpPr>
        <p:spPr>
          <a:xfrm>
            <a:off x="1014984"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69" name="Shape 67"/>
          <p:cNvSpPr/>
          <p:nvPr/>
        </p:nvSpPr>
        <p:spPr>
          <a:xfrm>
            <a:off x="2980944" y="5577420"/>
            <a:ext cx="272418" cy="120249"/>
          </a:xfrm>
          <a:prstGeom prst="rect">
            <a:avLst/>
          </a:prstGeom>
          <a:solidFill>
            <a:srgbClr val="2587C5"/>
          </a:solidFill>
          <a:ln/>
        </p:spPr>
      </p:sp>
      <p:sp>
        <p:nvSpPr>
          <p:cNvPr id="70" name="Text 68"/>
          <p:cNvSpPr txBox="1"/>
          <p:nvPr/>
        </p:nvSpPr>
        <p:spPr>
          <a:xfrm>
            <a:off x="4855464" y="550684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$1.17M</a:t>
            </a:r>
            <a:endParaRPr lang="en-US" sz="1200" dirty="0"/>
          </a:p>
        </p:txBody>
      </p:sp>
      <p:sp>
        <p:nvSpPr>
          <p:cNvPr id="71" name="Text 69"/>
          <p:cNvSpPr txBox="1"/>
          <p:nvPr/>
        </p:nvSpPr>
        <p:spPr>
          <a:xfrm>
            <a:off x="658368"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72" name="Text 70"/>
          <p:cNvSpPr txBox="1"/>
          <p:nvPr/>
        </p:nvSpPr>
        <p:spPr>
          <a:xfrm>
            <a:off x="1014984"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73" name="Shape 71"/>
          <p:cNvSpPr/>
          <p:nvPr/>
        </p:nvSpPr>
        <p:spPr>
          <a:xfrm>
            <a:off x="2980944" y="5838831"/>
            <a:ext cx="261785" cy="120249"/>
          </a:xfrm>
          <a:prstGeom prst="rect">
            <a:avLst/>
          </a:prstGeom>
          <a:solidFill>
            <a:srgbClr val="2587C5"/>
          </a:solidFill>
          <a:ln/>
        </p:spPr>
      </p:sp>
      <p:sp>
        <p:nvSpPr>
          <p:cNvPr id="74" name="Text 72"/>
          <p:cNvSpPr txBox="1"/>
          <p:nvPr/>
        </p:nvSpPr>
        <p:spPr>
          <a:xfrm>
            <a:off x="4855464" y="576825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$1.12M</a:t>
            </a:r>
            <a:endParaRPr lang="en-US" sz="1200" dirty="0"/>
          </a:p>
        </p:txBody>
      </p:sp>
      <p:sp>
        <p:nvSpPr>
          <p:cNvPr id="75" name="Text 73"/>
          <p:cNvSpPr txBox="1"/>
          <p:nvPr/>
        </p:nvSpPr>
        <p:spPr>
          <a:xfrm>
            <a:off x="658368" y="602966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76" name="Text 74"/>
          <p:cNvSpPr txBox="1"/>
          <p:nvPr/>
        </p:nvSpPr>
        <p:spPr>
          <a:xfrm>
            <a:off x="1014984" y="602966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77" name="Shape 75"/>
          <p:cNvSpPr/>
          <p:nvPr/>
        </p:nvSpPr>
        <p:spPr>
          <a:xfrm>
            <a:off x="2980944" y="6100242"/>
            <a:ext cx="254692" cy="120249"/>
          </a:xfrm>
          <a:prstGeom prst="rect">
            <a:avLst/>
          </a:prstGeom>
          <a:solidFill>
            <a:srgbClr val="2587C5"/>
          </a:solidFill>
          <a:ln/>
        </p:spPr>
      </p:sp>
      <p:sp>
        <p:nvSpPr>
          <p:cNvPr id="78" name="Text 76"/>
          <p:cNvSpPr txBox="1"/>
          <p:nvPr/>
        </p:nvSpPr>
        <p:spPr>
          <a:xfrm>
            <a:off x="4855464" y="602966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$1.09M</a:t>
            </a:r>
            <a:endParaRPr lang="en-US" sz="1200" dirty="0"/>
          </a:p>
        </p:txBody>
      </p:sp>
      <p:sp>
        <p:nvSpPr>
          <p:cNvPr id="79" name="Text 77"/>
          <p:cNvSpPr txBox="1"/>
          <p:nvPr/>
        </p:nvSpPr>
        <p:spPr>
          <a:xfrm>
            <a:off x="6208776" y="184708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80" name="Text 78"/>
          <p:cNvSpPr txBox="1"/>
          <p:nvPr/>
        </p:nvSpPr>
        <p:spPr>
          <a:xfrm>
            <a:off x="6565392" y="184708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81" name="Shape 79"/>
          <p:cNvSpPr/>
          <p:nvPr/>
        </p:nvSpPr>
        <p:spPr>
          <a:xfrm>
            <a:off x="8531352" y="1917669"/>
            <a:ext cx="230085" cy="120249"/>
          </a:xfrm>
          <a:prstGeom prst="rect">
            <a:avLst/>
          </a:prstGeom>
          <a:solidFill>
            <a:srgbClr val="2587C5"/>
          </a:solidFill>
          <a:ln/>
        </p:spPr>
      </p:sp>
      <p:sp>
        <p:nvSpPr>
          <p:cNvPr id="82" name="Text 80"/>
          <p:cNvSpPr txBox="1"/>
          <p:nvPr/>
        </p:nvSpPr>
        <p:spPr>
          <a:xfrm>
            <a:off x="10405872" y="184708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$985,141</a:t>
            </a:r>
            <a:endParaRPr lang="en-US" sz="1200" dirty="0"/>
          </a:p>
        </p:txBody>
      </p:sp>
      <p:sp>
        <p:nvSpPr>
          <p:cNvPr id="83" name="Text 81"/>
          <p:cNvSpPr txBox="1"/>
          <p:nvPr/>
        </p:nvSpPr>
        <p:spPr>
          <a:xfrm>
            <a:off x="6208776" y="210849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84" name="Text 82"/>
          <p:cNvSpPr txBox="1"/>
          <p:nvPr/>
        </p:nvSpPr>
        <p:spPr>
          <a:xfrm>
            <a:off x="6565392" y="210849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85" name="Shape 83"/>
          <p:cNvSpPr/>
          <p:nvPr/>
        </p:nvSpPr>
        <p:spPr>
          <a:xfrm>
            <a:off x="8531352" y="2179080"/>
            <a:ext cx="210561" cy="120249"/>
          </a:xfrm>
          <a:prstGeom prst="rect">
            <a:avLst/>
          </a:prstGeom>
          <a:solidFill>
            <a:srgbClr val="2587C5"/>
          </a:solidFill>
          <a:ln/>
        </p:spPr>
      </p:sp>
      <p:sp>
        <p:nvSpPr>
          <p:cNvPr id="86" name="Text 84"/>
          <p:cNvSpPr txBox="1"/>
          <p:nvPr/>
        </p:nvSpPr>
        <p:spPr>
          <a:xfrm>
            <a:off x="10405872" y="210849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$901,549</a:t>
            </a:r>
            <a:endParaRPr lang="en-US" sz="1200" dirty="0"/>
          </a:p>
        </p:txBody>
      </p:sp>
      <p:sp>
        <p:nvSpPr>
          <p:cNvPr id="87" name="Text 85"/>
          <p:cNvSpPr txBox="1"/>
          <p:nvPr/>
        </p:nvSpPr>
        <p:spPr>
          <a:xfrm>
            <a:off x="6208776" y="236991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88" name="Text 86"/>
          <p:cNvSpPr txBox="1"/>
          <p:nvPr/>
        </p:nvSpPr>
        <p:spPr>
          <a:xfrm>
            <a:off x="6565392" y="236991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89" name="Shape 87"/>
          <p:cNvSpPr/>
          <p:nvPr/>
        </p:nvSpPr>
        <p:spPr>
          <a:xfrm>
            <a:off x="8531352" y="2440491"/>
            <a:ext cx="186954" cy="120249"/>
          </a:xfrm>
          <a:prstGeom prst="rect">
            <a:avLst/>
          </a:prstGeom>
          <a:solidFill>
            <a:srgbClr val="2587C5"/>
          </a:solidFill>
          <a:ln/>
        </p:spPr>
      </p:sp>
      <p:sp>
        <p:nvSpPr>
          <p:cNvPr id="90" name="Text 88"/>
          <p:cNvSpPr txBox="1"/>
          <p:nvPr/>
        </p:nvSpPr>
        <p:spPr>
          <a:xfrm>
            <a:off x="10405872" y="236991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$800,469</a:t>
            </a:r>
            <a:endParaRPr lang="en-US" sz="1200" dirty="0"/>
          </a:p>
        </p:txBody>
      </p:sp>
      <p:sp>
        <p:nvSpPr>
          <p:cNvPr id="91" name="Text 89"/>
          <p:cNvSpPr txBox="1"/>
          <p:nvPr/>
        </p:nvSpPr>
        <p:spPr>
          <a:xfrm>
            <a:off x="6208776" y="263132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92" name="Text 90"/>
          <p:cNvSpPr txBox="1"/>
          <p:nvPr/>
        </p:nvSpPr>
        <p:spPr>
          <a:xfrm>
            <a:off x="6565392" y="263132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93" name="Shape 91"/>
          <p:cNvSpPr/>
          <p:nvPr/>
        </p:nvSpPr>
        <p:spPr>
          <a:xfrm>
            <a:off x="8531352" y="2701901"/>
            <a:ext cx="164685" cy="120249"/>
          </a:xfrm>
          <a:prstGeom prst="rect">
            <a:avLst/>
          </a:prstGeom>
          <a:solidFill>
            <a:srgbClr val="2587C5"/>
          </a:solidFill>
          <a:ln/>
        </p:spPr>
      </p:sp>
      <p:sp>
        <p:nvSpPr>
          <p:cNvPr id="94" name="Text 92"/>
          <p:cNvSpPr txBox="1"/>
          <p:nvPr/>
        </p:nvSpPr>
        <p:spPr>
          <a:xfrm>
            <a:off x="10405872" y="2631320"/>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$705,121</a:t>
            </a:r>
            <a:endParaRPr lang="en-US" sz="1200" dirty="0"/>
          </a:p>
        </p:txBody>
      </p:sp>
      <p:sp>
        <p:nvSpPr>
          <p:cNvPr id="95" name="Text 93"/>
          <p:cNvSpPr txBox="1"/>
          <p:nvPr/>
        </p:nvSpPr>
        <p:spPr>
          <a:xfrm>
            <a:off x="6208776" y="2892731"/>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96" name="Text 94"/>
          <p:cNvSpPr txBox="1"/>
          <p:nvPr/>
        </p:nvSpPr>
        <p:spPr>
          <a:xfrm>
            <a:off x="6565392" y="2892731"/>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97" name="Shape 95"/>
          <p:cNvSpPr/>
          <p:nvPr/>
        </p:nvSpPr>
        <p:spPr>
          <a:xfrm>
            <a:off x="8531352" y="2963312"/>
            <a:ext cx="163331" cy="120249"/>
          </a:xfrm>
          <a:prstGeom prst="rect">
            <a:avLst/>
          </a:prstGeom>
          <a:solidFill>
            <a:srgbClr val="2587C5"/>
          </a:solidFill>
          <a:ln/>
        </p:spPr>
      </p:sp>
      <p:sp>
        <p:nvSpPr>
          <p:cNvPr id="98" name="Text 96"/>
          <p:cNvSpPr txBox="1"/>
          <p:nvPr/>
        </p:nvSpPr>
        <p:spPr>
          <a:xfrm>
            <a:off x="10405872" y="2892731"/>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$699,325</a:t>
            </a:r>
            <a:endParaRPr lang="en-US" sz="1200" dirty="0"/>
          </a:p>
        </p:txBody>
      </p:sp>
      <p:sp>
        <p:nvSpPr>
          <p:cNvPr id="99" name="Text 97"/>
          <p:cNvSpPr txBox="1"/>
          <p:nvPr/>
        </p:nvSpPr>
        <p:spPr>
          <a:xfrm>
            <a:off x="6208776" y="3154142"/>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00" name="Text 98"/>
          <p:cNvSpPr txBox="1"/>
          <p:nvPr/>
        </p:nvSpPr>
        <p:spPr>
          <a:xfrm>
            <a:off x="6565392" y="3154142"/>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101" name="Shape 99"/>
          <p:cNvSpPr/>
          <p:nvPr/>
        </p:nvSpPr>
        <p:spPr>
          <a:xfrm>
            <a:off x="8531352" y="3224723"/>
            <a:ext cx="158180" cy="120249"/>
          </a:xfrm>
          <a:prstGeom prst="rect">
            <a:avLst/>
          </a:prstGeom>
          <a:solidFill>
            <a:srgbClr val="2587C5"/>
          </a:solidFill>
          <a:ln/>
        </p:spPr>
      </p:sp>
      <p:sp>
        <p:nvSpPr>
          <p:cNvPr id="102" name="Text 100"/>
          <p:cNvSpPr txBox="1"/>
          <p:nvPr/>
        </p:nvSpPr>
        <p:spPr>
          <a:xfrm>
            <a:off x="10405872" y="3154142"/>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$677,269</a:t>
            </a:r>
            <a:endParaRPr lang="en-US" sz="1200" dirty="0"/>
          </a:p>
        </p:txBody>
      </p:sp>
      <p:sp>
        <p:nvSpPr>
          <p:cNvPr id="103" name="Text 101"/>
          <p:cNvSpPr txBox="1"/>
          <p:nvPr/>
        </p:nvSpPr>
        <p:spPr>
          <a:xfrm>
            <a:off x="6208776" y="3415553"/>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04" name="Text 102"/>
          <p:cNvSpPr txBox="1"/>
          <p:nvPr/>
        </p:nvSpPr>
        <p:spPr>
          <a:xfrm>
            <a:off x="6565392" y="3415553"/>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05" name="Shape 103"/>
          <p:cNvSpPr/>
          <p:nvPr/>
        </p:nvSpPr>
        <p:spPr>
          <a:xfrm>
            <a:off x="8531352" y="3486134"/>
            <a:ext cx="117270" cy="120249"/>
          </a:xfrm>
          <a:prstGeom prst="rect">
            <a:avLst/>
          </a:prstGeom>
          <a:solidFill>
            <a:srgbClr val="2587C5"/>
          </a:solidFill>
          <a:ln/>
        </p:spPr>
      </p:sp>
      <p:sp>
        <p:nvSpPr>
          <p:cNvPr id="106" name="Text 104"/>
          <p:cNvSpPr txBox="1"/>
          <p:nvPr/>
        </p:nvSpPr>
        <p:spPr>
          <a:xfrm>
            <a:off x="10405872" y="3415553"/>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$502,109</a:t>
            </a:r>
            <a:endParaRPr lang="en-US" sz="1200" dirty="0"/>
          </a:p>
        </p:txBody>
      </p:sp>
      <p:sp>
        <p:nvSpPr>
          <p:cNvPr id="107" name="Text 105"/>
          <p:cNvSpPr txBox="1"/>
          <p:nvPr/>
        </p:nvSpPr>
        <p:spPr>
          <a:xfrm>
            <a:off x="6208776" y="3676964"/>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08" name="Text 106"/>
          <p:cNvSpPr txBox="1"/>
          <p:nvPr/>
        </p:nvSpPr>
        <p:spPr>
          <a:xfrm>
            <a:off x="6565392" y="3676964"/>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109" name="Shape 107"/>
          <p:cNvSpPr/>
          <p:nvPr/>
        </p:nvSpPr>
        <p:spPr>
          <a:xfrm>
            <a:off x="8531352" y="3747545"/>
            <a:ext cx="111208" cy="120249"/>
          </a:xfrm>
          <a:prstGeom prst="rect">
            <a:avLst/>
          </a:prstGeom>
          <a:solidFill>
            <a:srgbClr val="2587C5"/>
          </a:solidFill>
          <a:ln/>
        </p:spPr>
      </p:sp>
      <p:sp>
        <p:nvSpPr>
          <p:cNvPr id="110" name="Text 108"/>
          <p:cNvSpPr txBox="1"/>
          <p:nvPr/>
        </p:nvSpPr>
        <p:spPr>
          <a:xfrm>
            <a:off x="10405872" y="3676964"/>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$476,154</a:t>
            </a:r>
            <a:endParaRPr lang="en-US" sz="1200" dirty="0"/>
          </a:p>
        </p:txBody>
      </p:sp>
      <p:sp>
        <p:nvSpPr>
          <p:cNvPr id="111" name="Text 109"/>
          <p:cNvSpPr txBox="1"/>
          <p:nvPr/>
        </p:nvSpPr>
        <p:spPr>
          <a:xfrm>
            <a:off x="6208776" y="393837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12" name="Text 110"/>
          <p:cNvSpPr txBox="1"/>
          <p:nvPr/>
        </p:nvSpPr>
        <p:spPr>
          <a:xfrm>
            <a:off x="6565392" y="393837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113" name="Shape 111"/>
          <p:cNvSpPr/>
          <p:nvPr/>
        </p:nvSpPr>
        <p:spPr>
          <a:xfrm>
            <a:off x="8531352" y="4008956"/>
            <a:ext cx="99951" cy="120249"/>
          </a:xfrm>
          <a:prstGeom prst="rect">
            <a:avLst/>
          </a:prstGeom>
          <a:solidFill>
            <a:srgbClr val="2587C5"/>
          </a:solidFill>
          <a:ln/>
        </p:spPr>
      </p:sp>
      <p:sp>
        <p:nvSpPr>
          <p:cNvPr id="114" name="Text 112"/>
          <p:cNvSpPr txBox="1"/>
          <p:nvPr/>
        </p:nvSpPr>
        <p:spPr>
          <a:xfrm>
            <a:off x="10405872" y="393837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$427,953</a:t>
            </a:r>
            <a:endParaRPr lang="en-US" sz="1200" dirty="0"/>
          </a:p>
        </p:txBody>
      </p:sp>
      <p:sp>
        <p:nvSpPr>
          <p:cNvPr id="115" name="Text 113"/>
          <p:cNvSpPr txBox="1"/>
          <p:nvPr/>
        </p:nvSpPr>
        <p:spPr>
          <a:xfrm>
            <a:off x="6208776" y="4199785"/>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16" name="Text 114"/>
          <p:cNvSpPr txBox="1"/>
          <p:nvPr/>
        </p:nvSpPr>
        <p:spPr>
          <a:xfrm>
            <a:off x="6565392" y="4199785"/>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117" name="Shape 115"/>
          <p:cNvSpPr/>
          <p:nvPr/>
        </p:nvSpPr>
        <p:spPr>
          <a:xfrm>
            <a:off x="8531352" y="4270366"/>
            <a:ext cx="30021" cy="120249"/>
          </a:xfrm>
          <a:prstGeom prst="rect">
            <a:avLst/>
          </a:prstGeom>
          <a:solidFill>
            <a:srgbClr val="2587C5"/>
          </a:solidFill>
          <a:ln/>
        </p:spPr>
      </p:sp>
      <p:sp>
        <p:nvSpPr>
          <p:cNvPr id="118" name="Text 116"/>
          <p:cNvSpPr txBox="1"/>
          <p:nvPr/>
        </p:nvSpPr>
        <p:spPr>
          <a:xfrm>
            <a:off x="10405872" y="4199785"/>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$128,541</a:t>
            </a:r>
            <a:endParaRPr lang="en-US" sz="1200" dirty="0"/>
          </a:p>
        </p:txBody>
      </p:sp>
      <p:sp>
        <p:nvSpPr>
          <p:cNvPr id="119" name="Text 117"/>
          <p:cNvSpPr txBox="1"/>
          <p:nvPr/>
        </p:nvSpPr>
        <p:spPr>
          <a:xfrm>
            <a:off x="6208776" y="4461196"/>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20" name="Text 118"/>
          <p:cNvSpPr txBox="1"/>
          <p:nvPr/>
        </p:nvSpPr>
        <p:spPr>
          <a:xfrm>
            <a:off x="6565392" y="4461196"/>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21" name="Shape 119"/>
          <p:cNvSpPr/>
          <p:nvPr/>
        </p:nvSpPr>
        <p:spPr>
          <a:xfrm>
            <a:off x="8531352" y="4531777"/>
            <a:ext cx="25197" cy="120249"/>
          </a:xfrm>
          <a:prstGeom prst="rect">
            <a:avLst/>
          </a:prstGeom>
          <a:solidFill>
            <a:srgbClr val="2587C5"/>
          </a:solidFill>
          <a:ln/>
        </p:spPr>
      </p:sp>
      <p:sp>
        <p:nvSpPr>
          <p:cNvPr id="122" name="Text 120"/>
          <p:cNvSpPr txBox="1"/>
          <p:nvPr/>
        </p:nvSpPr>
        <p:spPr>
          <a:xfrm>
            <a:off x="10405872" y="4461196"/>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$107,886</a:t>
            </a:r>
            <a:endParaRPr lang="en-US" sz="1200" dirty="0"/>
          </a:p>
        </p:txBody>
      </p:sp>
      <p:sp>
        <p:nvSpPr>
          <p:cNvPr id="123" name="Text 121"/>
          <p:cNvSpPr txBox="1"/>
          <p:nvPr/>
        </p:nvSpPr>
        <p:spPr>
          <a:xfrm>
            <a:off x="6208776" y="4722607"/>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24" name="Text 122"/>
          <p:cNvSpPr txBox="1"/>
          <p:nvPr/>
        </p:nvSpPr>
        <p:spPr>
          <a:xfrm>
            <a:off x="6565392" y="4722607"/>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125" name="Shape 123"/>
          <p:cNvSpPr/>
          <p:nvPr/>
        </p:nvSpPr>
        <p:spPr>
          <a:xfrm>
            <a:off x="8531352" y="4793188"/>
            <a:ext cx="22055" cy="120249"/>
          </a:xfrm>
          <a:prstGeom prst="rect">
            <a:avLst/>
          </a:prstGeom>
          <a:solidFill>
            <a:srgbClr val="2587C5"/>
          </a:solidFill>
          <a:ln/>
        </p:spPr>
      </p:sp>
      <p:sp>
        <p:nvSpPr>
          <p:cNvPr id="126" name="Text 124"/>
          <p:cNvSpPr txBox="1"/>
          <p:nvPr/>
        </p:nvSpPr>
        <p:spPr>
          <a:xfrm>
            <a:off x="10405872" y="4722607"/>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$94,430</a:t>
            </a:r>
            <a:endParaRPr lang="en-US" sz="1200" dirty="0"/>
          </a:p>
        </p:txBody>
      </p:sp>
      <p:sp>
        <p:nvSpPr>
          <p:cNvPr id="127" name="Text 125"/>
          <p:cNvSpPr txBox="1"/>
          <p:nvPr/>
        </p:nvSpPr>
        <p:spPr>
          <a:xfrm>
            <a:off x="6208776" y="4984018"/>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28" name="Text 126"/>
          <p:cNvSpPr txBox="1"/>
          <p:nvPr/>
        </p:nvSpPr>
        <p:spPr>
          <a:xfrm>
            <a:off x="6565392" y="4984018"/>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9" name="Shape 127"/>
          <p:cNvSpPr/>
          <p:nvPr/>
        </p:nvSpPr>
        <p:spPr>
          <a:xfrm>
            <a:off x="8531352" y="5054599"/>
            <a:ext cx="18567" cy="120249"/>
          </a:xfrm>
          <a:prstGeom prst="rect">
            <a:avLst/>
          </a:prstGeom>
          <a:solidFill>
            <a:srgbClr val="2587C5"/>
          </a:solidFill>
          <a:ln/>
        </p:spPr>
      </p:sp>
      <p:sp>
        <p:nvSpPr>
          <p:cNvPr id="130" name="Text 128"/>
          <p:cNvSpPr txBox="1"/>
          <p:nvPr/>
        </p:nvSpPr>
        <p:spPr>
          <a:xfrm>
            <a:off x="10405872" y="4984018"/>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$79,496</a:t>
            </a:r>
            <a:endParaRPr lang="en-US" sz="1200" dirty="0"/>
          </a:p>
        </p:txBody>
      </p:sp>
      <p:sp>
        <p:nvSpPr>
          <p:cNvPr id="131" name="Text 129"/>
          <p:cNvSpPr txBox="1"/>
          <p:nvPr/>
        </p:nvSpPr>
        <p:spPr>
          <a:xfrm>
            <a:off x="6208776" y="5245429"/>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32" name="Text 130"/>
          <p:cNvSpPr txBox="1"/>
          <p:nvPr/>
        </p:nvSpPr>
        <p:spPr>
          <a:xfrm>
            <a:off x="6565392" y="5245429"/>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133" name="Shape 131"/>
          <p:cNvSpPr/>
          <p:nvPr/>
        </p:nvSpPr>
        <p:spPr>
          <a:xfrm>
            <a:off x="8531352" y="5316010"/>
            <a:ext cx="18288" cy="120249"/>
          </a:xfrm>
          <a:prstGeom prst="rect">
            <a:avLst/>
          </a:prstGeom>
          <a:solidFill>
            <a:srgbClr val="2587C5"/>
          </a:solidFill>
          <a:ln/>
        </p:spPr>
      </p:sp>
      <p:sp>
        <p:nvSpPr>
          <p:cNvPr id="134" name="Text 132"/>
          <p:cNvSpPr txBox="1"/>
          <p:nvPr/>
        </p:nvSpPr>
        <p:spPr>
          <a:xfrm>
            <a:off x="10405872" y="5245429"/>
            <a:ext cx="1097280" cy="261411"/>
          </a:xfrm>
          <a:prstGeom prst="rect">
            <a:avLst/>
          </a:prstGeom>
          <a:noFill/>
          <a:ln/>
        </p:spPr>
        <p:txBody>
          <a:bodyPr wrap="square" lIns="0" tIns="0" rIns="0" bIns="0" rtlCol="0" anchor="ctr"/>
          <a:lstStyle/>
          <a:p>
            <a:pPr algn="r" indent="0" marL="0">
              <a:buNone/>
            </a:pPr>
            <a:r>
              <a:rPr lang="en-US" sz="1200" dirty="0">
                <a:solidFill>
                  <a:srgbClr val="1A1A1A"/>
                </a:solidFill>
                <a:latin typeface="Inter" pitchFamily="34" charset="0"/>
                <a:ea typeface="Inter" pitchFamily="34" charset="-122"/>
                <a:cs typeface="Inter" pitchFamily="34" charset="-120"/>
              </a:rPr>
              <a:t>$19,561</a:t>
            </a:r>
            <a:endParaRPr lang="en-US" sz="1200" dirty="0"/>
          </a:p>
        </p:txBody>
      </p:sp>
      <p:sp>
        <p:nvSpPr>
          <p:cNvPr id="135" name="Text 133"/>
          <p:cNvSpPr txBox="1"/>
          <p:nvPr/>
        </p:nvSpPr>
        <p:spPr>
          <a:xfrm>
            <a:off x="6208776" y="550684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36" name="Text 134"/>
          <p:cNvSpPr txBox="1"/>
          <p:nvPr/>
        </p:nvSpPr>
        <p:spPr>
          <a:xfrm>
            <a:off x="6565392" y="550684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37" name="Shape 135"/>
          <p:cNvSpPr/>
          <p:nvPr/>
        </p:nvSpPr>
        <p:spPr>
          <a:xfrm>
            <a:off x="8531352" y="5577420"/>
            <a:ext cx="18288" cy="120249"/>
          </a:xfrm>
          <a:prstGeom prst="rect">
            <a:avLst/>
          </a:prstGeom>
          <a:solidFill>
            <a:srgbClr val="C2352F"/>
          </a:solidFill>
          <a:ln/>
        </p:spPr>
      </p:sp>
      <p:sp>
        <p:nvSpPr>
          <p:cNvPr id="138" name="Text 136"/>
          <p:cNvSpPr txBox="1"/>
          <p:nvPr/>
        </p:nvSpPr>
        <p:spPr>
          <a:xfrm>
            <a:off x="10405872" y="550684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−$58,644</a:t>
            </a:r>
            <a:endParaRPr lang="en-US" sz="1200" dirty="0"/>
          </a:p>
        </p:txBody>
      </p:sp>
      <p:sp>
        <p:nvSpPr>
          <p:cNvPr id="139" name="Text 137"/>
          <p:cNvSpPr txBox="1"/>
          <p:nvPr/>
        </p:nvSpPr>
        <p:spPr>
          <a:xfrm>
            <a:off x="6208776" y="5768250"/>
            <a:ext cx="310896" cy="261411"/>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40" name="Text 138"/>
          <p:cNvSpPr txBox="1"/>
          <p:nvPr/>
        </p:nvSpPr>
        <p:spPr>
          <a:xfrm>
            <a:off x="6565392" y="5768250"/>
            <a:ext cx="1920240" cy="261411"/>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41" name="Shape 139"/>
          <p:cNvSpPr/>
          <p:nvPr/>
        </p:nvSpPr>
        <p:spPr>
          <a:xfrm>
            <a:off x="8531352" y="5838831"/>
            <a:ext cx="31883" cy="120249"/>
          </a:xfrm>
          <a:prstGeom prst="rect">
            <a:avLst/>
          </a:prstGeom>
          <a:solidFill>
            <a:srgbClr val="C2352F"/>
          </a:solidFill>
          <a:ln/>
        </p:spPr>
      </p:sp>
      <p:sp>
        <p:nvSpPr>
          <p:cNvPr id="142" name="Text 140"/>
          <p:cNvSpPr txBox="1"/>
          <p:nvPr/>
        </p:nvSpPr>
        <p:spPr>
          <a:xfrm>
            <a:off x="10405872" y="5768250"/>
            <a:ext cx="1097280" cy="261411"/>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−$136,511</a:t>
            </a:r>
            <a:endParaRPr lang="en-US" sz="1200" dirty="0"/>
          </a:p>
        </p:txBody>
      </p:sp>
      <p:sp>
        <p:nvSpPr>
          <p:cNvPr id="143" name="Shape 141"/>
          <p:cNvSpPr/>
          <p:nvPr/>
        </p:nvSpPr>
        <p:spPr>
          <a:xfrm>
            <a:off x="6085332" y="1847088"/>
            <a:ext cx="10973" cy="4443984"/>
          </a:xfrm>
          <a:prstGeom prst="rect">
            <a:avLst/>
          </a:prstGeom>
          <a:solidFill>
            <a:srgbClr val="D9D9D9"/>
          </a:solidFill>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4782312"/>
          </a:xfrm>
          <a:prstGeom prst="rect">
            <a:avLst/>
          </a:prstGeom>
          <a:solidFill>
            <a:srgbClr val="FFFFFF"/>
          </a:solidFill>
          <a:ln/>
        </p:spPr>
      </p:sp>
      <p:sp>
        <p:nvSpPr>
          <p:cNvPr id="6" name="Shape 4"/>
          <p:cNvSpPr/>
          <p:nvPr/>
        </p:nvSpPr>
        <p:spPr>
          <a:xfrm>
            <a:off x="658368" y="1335024"/>
            <a:ext cx="10872216" cy="420624"/>
          </a:xfrm>
          <a:prstGeom prst="rect">
            <a:avLst/>
          </a:prstGeom>
          <a:solidFill>
            <a:srgbClr val="EDF4FA"/>
          </a:solidFill>
          <a:ln/>
        </p:spPr>
      </p:sp>
      <p:sp>
        <p:nvSpPr>
          <p:cNvPr id="7" name="Shape 5"/>
          <p:cNvSpPr/>
          <p:nvPr/>
        </p:nvSpPr>
        <p:spPr>
          <a:xfrm>
            <a:off x="658368" y="1335024"/>
            <a:ext cx="59436" cy="420624"/>
          </a:xfrm>
          <a:prstGeom prst="rect">
            <a:avLst/>
          </a:prstGeom>
          <a:solidFill>
            <a:srgbClr val="0B2C4A"/>
          </a:solidFill>
          <a:ln/>
        </p:spPr>
      </p:sp>
      <p:sp>
        <p:nvSpPr>
          <p:cNvPr id="8" name="Text 6"/>
          <p:cNvSpPr txBox="1"/>
          <p:nvPr/>
        </p:nvSpPr>
        <p:spPr>
          <a:xfrm>
            <a:off x="859536" y="1335024"/>
            <a:ext cx="2499360" cy="420624"/>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FIXED OPS NET PROFIT</a:t>
            </a:r>
            <a:endParaRPr lang="en-US" sz="1500" dirty="0"/>
          </a:p>
        </p:txBody>
      </p:sp>
      <p:sp>
        <p:nvSpPr>
          <p:cNvPr id="9" name="Text 7"/>
          <p:cNvSpPr txBox="1"/>
          <p:nvPr/>
        </p:nvSpPr>
        <p:spPr>
          <a:xfrm>
            <a:off x="3413760" y="1335024"/>
            <a:ext cx="4632960" cy="420624"/>
          </a:xfrm>
          <a:prstGeom prst="rect">
            <a:avLst/>
          </a:prstGeom>
          <a:noFill/>
          <a:ln/>
        </p:spPr>
        <p:txBody>
          <a:bodyPr wrap="square" lIns="0" tIns="0" rIns="0" bIns="0" rtlCol="0" anchor="ctr"/>
          <a:lstStyle/>
          <a:p>
            <a:pPr indent="0" marL="0">
              <a:buNone/>
            </a:pPr>
            <a:r>
              <a:rPr lang="en-US" sz="1400" b="1" spc="90" kern="0" dirty="0">
                <a:solidFill>
                  <a:srgbClr val="0B2C4A"/>
                </a:solidFill>
                <a:latin typeface="Inter" pitchFamily="34" charset="0"/>
                <a:ea typeface="Inter" pitchFamily="34" charset="-122"/>
                <a:cs typeface="Inter" pitchFamily="34" charset="-120"/>
              </a:rPr>
              <a:t>YEAR-OVER-YEAR CHANGE</a:t>
            </a:r>
            <a:endParaRPr lang="en-US" sz="1400" dirty="0"/>
          </a:p>
        </p:txBody>
      </p:sp>
      <p:sp>
        <p:nvSpPr>
          <p:cNvPr id="10" name="Text 8"/>
          <p:cNvSpPr txBox="1"/>
          <p:nvPr/>
        </p:nvSpPr>
        <p:spPr>
          <a:xfrm>
            <a:off x="8138160" y="1335024"/>
            <a:ext cx="3291840" cy="420624"/>
          </a:xfrm>
          <a:prstGeom prst="rect">
            <a:avLst/>
          </a:prstGeom>
          <a:noFill/>
          <a:ln/>
        </p:spPr>
        <p:txBody>
          <a:bodyPr wrap="square" lIns="0" tIns="0" rIns="0" bIns="0" rtlCol="0" anchor="ctr"/>
          <a:lstStyle/>
          <a:p>
            <a:pPr algn="r" indent="0" marL="0">
              <a:buNone/>
            </a:pPr>
            <a:r>
              <a:rPr lang="en-US" sz="2000" b="1" dirty="0">
                <a:solidFill>
                  <a:srgbClr val="0B7A4A"/>
                </a:solidFill>
                <a:latin typeface="Inter" pitchFamily="34" charset="0"/>
                <a:ea typeface="Inter" pitchFamily="34" charset="-122"/>
                <a:cs typeface="Inter" pitchFamily="34" charset="-120"/>
              </a:rPr>
              <a:t>+$5.11M  ·  +11.3%</a:t>
            </a:r>
            <a:endParaRPr lang="en-US" sz="2000" dirty="0"/>
          </a:p>
        </p:txBody>
      </p:sp>
      <p:sp>
        <p:nvSpPr>
          <p:cNvPr id="11" name="Text 9"/>
          <p:cNvSpPr txBox="1"/>
          <p:nvPr/>
        </p:nvSpPr>
        <p:spPr>
          <a:xfrm>
            <a:off x="4206240"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2" name="Text 10"/>
          <p:cNvSpPr txBox="1"/>
          <p:nvPr/>
        </p:nvSpPr>
        <p:spPr>
          <a:xfrm>
            <a:off x="4983480"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3" name="Text 11"/>
          <p:cNvSpPr txBox="1"/>
          <p:nvPr/>
        </p:nvSpPr>
        <p:spPr>
          <a:xfrm>
            <a:off x="9756648" y="1828800"/>
            <a:ext cx="77724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a:t>
            </a:r>
            <a:endParaRPr lang="en-US" sz="1400" dirty="0"/>
          </a:p>
        </p:txBody>
      </p:sp>
      <p:sp>
        <p:nvSpPr>
          <p:cNvPr id="14" name="Text 12"/>
          <p:cNvSpPr txBox="1"/>
          <p:nvPr/>
        </p:nvSpPr>
        <p:spPr>
          <a:xfrm>
            <a:off x="10533888" y="1828800"/>
            <a:ext cx="868680" cy="256032"/>
          </a:xfrm>
          <a:prstGeom prst="rect">
            <a:avLst/>
          </a:prstGeom>
          <a:noFill/>
          <a:ln/>
        </p:spPr>
        <p:txBody>
          <a:bodyPr wrap="square" lIns="0" tIns="0" rIns="0" bIns="0" rtlCol="0" anchor="ctr"/>
          <a:lstStyle/>
          <a:p>
            <a:pPr algn="r" indent="0" marL="0">
              <a:buNone/>
            </a:pPr>
            <a:r>
              <a:rPr lang="en-US" sz="1400" b="1" dirty="0">
                <a:solidFill>
                  <a:srgbClr val="595959"/>
                </a:solidFill>
                <a:latin typeface="Inter" pitchFamily="34" charset="0"/>
                <a:ea typeface="Inter" pitchFamily="34" charset="-122"/>
                <a:cs typeface="Inter" pitchFamily="34" charset="-120"/>
              </a:rPr>
              <a:t>Change</a:t>
            </a:r>
            <a:endParaRPr lang="en-US" sz="1400" dirty="0"/>
          </a:p>
        </p:txBody>
      </p:sp>
      <p:sp>
        <p:nvSpPr>
          <p:cNvPr id="15" name="Text 13"/>
          <p:cNvSpPr txBox="1"/>
          <p:nvPr/>
        </p:nvSpPr>
        <p:spPr>
          <a:xfrm>
            <a:off x="658368"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a:t>
            </a:r>
            <a:endParaRPr lang="en-US" sz="1200" dirty="0"/>
          </a:p>
        </p:txBody>
      </p:sp>
      <p:sp>
        <p:nvSpPr>
          <p:cNvPr id="16" name="Text 14"/>
          <p:cNvSpPr txBox="1"/>
          <p:nvPr/>
        </p:nvSpPr>
        <p:spPr>
          <a:xfrm>
            <a:off x="1014984"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HENDERSON</a:t>
            </a:r>
            <a:endParaRPr lang="en-US" sz="1200" dirty="0"/>
          </a:p>
        </p:txBody>
      </p:sp>
      <p:sp>
        <p:nvSpPr>
          <p:cNvPr id="17" name="Shape 15"/>
          <p:cNvSpPr/>
          <p:nvPr/>
        </p:nvSpPr>
        <p:spPr>
          <a:xfrm>
            <a:off x="3579876" y="2181823"/>
            <a:ext cx="571500" cy="102929"/>
          </a:xfrm>
          <a:prstGeom prst="rect">
            <a:avLst/>
          </a:prstGeom>
          <a:solidFill>
            <a:srgbClr val="12A566"/>
          </a:solidFill>
          <a:ln/>
        </p:spPr>
      </p:sp>
      <p:sp>
        <p:nvSpPr>
          <p:cNvPr id="18" name="Text 16"/>
          <p:cNvSpPr txBox="1"/>
          <p:nvPr/>
        </p:nvSpPr>
        <p:spPr>
          <a:xfrm>
            <a:off x="4206240"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+$1.42M</a:t>
            </a:r>
            <a:endParaRPr lang="en-US" sz="1200" dirty="0"/>
          </a:p>
        </p:txBody>
      </p:sp>
      <p:sp>
        <p:nvSpPr>
          <p:cNvPr id="19" name="Text 17"/>
          <p:cNvSpPr txBox="1"/>
          <p:nvPr/>
        </p:nvSpPr>
        <p:spPr>
          <a:xfrm>
            <a:off x="4983480"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+22.1%</a:t>
            </a:r>
            <a:endParaRPr lang="en-US" sz="1200" dirty="0"/>
          </a:p>
        </p:txBody>
      </p:sp>
      <p:sp>
        <p:nvSpPr>
          <p:cNvPr id="20" name="Text 18"/>
          <p:cNvSpPr txBox="1"/>
          <p:nvPr/>
        </p:nvSpPr>
        <p:spPr>
          <a:xfrm>
            <a:off x="658368"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a:t>
            </a:r>
            <a:endParaRPr lang="en-US" sz="1200" dirty="0"/>
          </a:p>
        </p:txBody>
      </p:sp>
      <p:sp>
        <p:nvSpPr>
          <p:cNvPr id="21" name="Text 19"/>
          <p:cNvSpPr txBox="1"/>
          <p:nvPr/>
        </p:nvSpPr>
        <p:spPr>
          <a:xfrm>
            <a:off x="1014984"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HENDERSON</a:t>
            </a:r>
            <a:endParaRPr lang="en-US" sz="1200" dirty="0"/>
          </a:p>
        </p:txBody>
      </p:sp>
      <p:sp>
        <p:nvSpPr>
          <p:cNvPr id="22" name="Shape 20"/>
          <p:cNvSpPr/>
          <p:nvPr/>
        </p:nvSpPr>
        <p:spPr>
          <a:xfrm>
            <a:off x="3579876" y="2405582"/>
            <a:ext cx="338388" cy="102929"/>
          </a:xfrm>
          <a:prstGeom prst="rect">
            <a:avLst/>
          </a:prstGeom>
          <a:solidFill>
            <a:srgbClr val="12A566"/>
          </a:solidFill>
          <a:ln/>
        </p:spPr>
      </p:sp>
      <p:sp>
        <p:nvSpPr>
          <p:cNvPr id="23" name="Text 21"/>
          <p:cNvSpPr txBox="1"/>
          <p:nvPr/>
        </p:nvSpPr>
        <p:spPr>
          <a:xfrm>
            <a:off x="4206240"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+$838K</a:t>
            </a:r>
            <a:endParaRPr lang="en-US" sz="1200" dirty="0"/>
          </a:p>
        </p:txBody>
      </p:sp>
      <p:sp>
        <p:nvSpPr>
          <p:cNvPr id="24" name="Text 22"/>
          <p:cNvSpPr txBox="1"/>
          <p:nvPr/>
        </p:nvSpPr>
        <p:spPr>
          <a:xfrm>
            <a:off x="4983480"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+20.4%</a:t>
            </a:r>
            <a:endParaRPr lang="en-US" sz="1200" dirty="0"/>
          </a:p>
        </p:txBody>
      </p:sp>
      <p:sp>
        <p:nvSpPr>
          <p:cNvPr id="25" name="Text 23"/>
          <p:cNvSpPr txBox="1"/>
          <p:nvPr/>
        </p:nvSpPr>
        <p:spPr>
          <a:xfrm>
            <a:off x="658368"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a:t>
            </a:r>
            <a:endParaRPr lang="en-US" sz="1200" dirty="0"/>
          </a:p>
        </p:txBody>
      </p:sp>
      <p:sp>
        <p:nvSpPr>
          <p:cNvPr id="26" name="Text 24"/>
          <p:cNvSpPr txBox="1"/>
          <p:nvPr/>
        </p:nvSpPr>
        <p:spPr>
          <a:xfrm>
            <a:off x="1014984"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CADILLAC</a:t>
            </a:r>
            <a:endParaRPr lang="en-US" sz="1200" dirty="0"/>
          </a:p>
        </p:txBody>
      </p:sp>
      <p:sp>
        <p:nvSpPr>
          <p:cNvPr id="27" name="Shape 25"/>
          <p:cNvSpPr/>
          <p:nvPr/>
        </p:nvSpPr>
        <p:spPr>
          <a:xfrm>
            <a:off x="3579876" y="2629341"/>
            <a:ext cx="309104" cy="102929"/>
          </a:xfrm>
          <a:prstGeom prst="rect">
            <a:avLst/>
          </a:prstGeom>
          <a:solidFill>
            <a:srgbClr val="12A566"/>
          </a:solidFill>
          <a:ln/>
        </p:spPr>
      </p:sp>
      <p:sp>
        <p:nvSpPr>
          <p:cNvPr id="28" name="Text 26"/>
          <p:cNvSpPr txBox="1"/>
          <p:nvPr/>
        </p:nvSpPr>
        <p:spPr>
          <a:xfrm>
            <a:off x="4206240"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+$766K</a:t>
            </a:r>
            <a:endParaRPr lang="en-US" sz="1200" dirty="0"/>
          </a:p>
        </p:txBody>
      </p:sp>
      <p:sp>
        <p:nvSpPr>
          <p:cNvPr id="29" name="Text 27"/>
          <p:cNvSpPr txBox="1"/>
          <p:nvPr/>
        </p:nvSpPr>
        <p:spPr>
          <a:xfrm>
            <a:off x="4983480"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+41.8%</a:t>
            </a:r>
            <a:endParaRPr lang="en-US" sz="1200" dirty="0"/>
          </a:p>
        </p:txBody>
      </p:sp>
      <p:sp>
        <p:nvSpPr>
          <p:cNvPr id="30" name="Text 28"/>
          <p:cNvSpPr txBox="1"/>
          <p:nvPr/>
        </p:nvSpPr>
        <p:spPr>
          <a:xfrm>
            <a:off x="658368"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4</a:t>
            </a:r>
            <a:endParaRPr lang="en-US" sz="1200" dirty="0"/>
          </a:p>
        </p:txBody>
      </p:sp>
      <p:sp>
        <p:nvSpPr>
          <p:cNvPr id="31" name="Text 29"/>
          <p:cNvSpPr txBox="1"/>
          <p:nvPr/>
        </p:nvSpPr>
        <p:spPr>
          <a:xfrm>
            <a:off x="1014984"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HENDERSON</a:t>
            </a:r>
            <a:endParaRPr lang="en-US" sz="1200" dirty="0"/>
          </a:p>
        </p:txBody>
      </p:sp>
      <p:sp>
        <p:nvSpPr>
          <p:cNvPr id="32" name="Shape 30"/>
          <p:cNvSpPr/>
          <p:nvPr/>
        </p:nvSpPr>
        <p:spPr>
          <a:xfrm>
            <a:off x="3579876" y="2853100"/>
            <a:ext cx="279424" cy="102929"/>
          </a:xfrm>
          <a:prstGeom prst="rect">
            <a:avLst/>
          </a:prstGeom>
          <a:solidFill>
            <a:srgbClr val="12A566"/>
          </a:solidFill>
          <a:ln/>
        </p:spPr>
      </p:sp>
      <p:sp>
        <p:nvSpPr>
          <p:cNvPr id="33" name="Text 31"/>
          <p:cNvSpPr txBox="1"/>
          <p:nvPr/>
        </p:nvSpPr>
        <p:spPr>
          <a:xfrm>
            <a:off x="4206240"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+$692K</a:t>
            </a:r>
            <a:endParaRPr lang="en-US" sz="1200" dirty="0"/>
          </a:p>
        </p:txBody>
      </p:sp>
      <p:sp>
        <p:nvSpPr>
          <p:cNvPr id="34" name="Text 32"/>
          <p:cNvSpPr txBox="1"/>
          <p:nvPr/>
        </p:nvSpPr>
        <p:spPr>
          <a:xfrm>
            <a:off x="4983480"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+12.9%</a:t>
            </a:r>
            <a:endParaRPr lang="en-US" sz="1200" dirty="0"/>
          </a:p>
        </p:txBody>
      </p:sp>
      <p:sp>
        <p:nvSpPr>
          <p:cNvPr id="35" name="Shape 33"/>
          <p:cNvSpPr/>
          <p:nvPr/>
        </p:nvSpPr>
        <p:spPr>
          <a:xfrm>
            <a:off x="612648" y="3025588"/>
            <a:ext cx="5138928" cy="205471"/>
          </a:xfrm>
          <a:prstGeom prst="rect">
            <a:avLst/>
          </a:prstGeom>
          <a:solidFill>
            <a:srgbClr val="E6F6EE"/>
          </a:solidFill>
          <a:ln/>
        </p:spPr>
      </p:sp>
      <p:sp>
        <p:nvSpPr>
          <p:cNvPr id="36" name="Text 34"/>
          <p:cNvSpPr txBox="1"/>
          <p:nvPr/>
        </p:nvSpPr>
        <p:spPr>
          <a:xfrm>
            <a:off x="658368"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5</a:t>
            </a:r>
            <a:endParaRPr lang="en-US" sz="1200" dirty="0"/>
          </a:p>
        </p:txBody>
      </p:sp>
      <p:sp>
        <p:nvSpPr>
          <p:cNvPr id="37" name="Text 35"/>
          <p:cNvSpPr txBox="1"/>
          <p:nvPr/>
        </p:nvSpPr>
        <p:spPr>
          <a:xfrm>
            <a:off x="1014984"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LINCOLN</a:t>
            </a:r>
            <a:endParaRPr lang="en-US" sz="1200" dirty="0"/>
          </a:p>
        </p:txBody>
      </p:sp>
      <p:sp>
        <p:nvSpPr>
          <p:cNvPr id="38" name="Shape 36"/>
          <p:cNvSpPr/>
          <p:nvPr/>
        </p:nvSpPr>
        <p:spPr>
          <a:xfrm>
            <a:off x="3579876" y="3076859"/>
            <a:ext cx="195258" cy="102929"/>
          </a:xfrm>
          <a:prstGeom prst="rect">
            <a:avLst/>
          </a:prstGeom>
          <a:solidFill>
            <a:srgbClr val="12A566"/>
          </a:solidFill>
          <a:ln/>
        </p:spPr>
      </p:sp>
      <p:sp>
        <p:nvSpPr>
          <p:cNvPr id="39" name="Text 37"/>
          <p:cNvSpPr txBox="1"/>
          <p:nvPr/>
        </p:nvSpPr>
        <p:spPr>
          <a:xfrm>
            <a:off x="4206240"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+$484K</a:t>
            </a:r>
            <a:endParaRPr lang="en-US" sz="1200" dirty="0"/>
          </a:p>
        </p:txBody>
      </p:sp>
      <p:sp>
        <p:nvSpPr>
          <p:cNvPr id="40" name="Text 38"/>
          <p:cNvSpPr txBox="1"/>
          <p:nvPr/>
        </p:nvSpPr>
        <p:spPr>
          <a:xfrm>
            <a:off x="4983480"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+124.3%</a:t>
            </a:r>
            <a:endParaRPr lang="en-US" sz="1200" dirty="0"/>
          </a:p>
        </p:txBody>
      </p:sp>
      <p:sp>
        <p:nvSpPr>
          <p:cNvPr id="41" name="Text 39"/>
          <p:cNvSpPr txBox="1"/>
          <p:nvPr/>
        </p:nvSpPr>
        <p:spPr>
          <a:xfrm>
            <a:off x="658368"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6</a:t>
            </a:r>
            <a:endParaRPr lang="en-US" sz="1200" dirty="0"/>
          </a:p>
        </p:txBody>
      </p:sp>
      <p:sp>
        <p:nvSpPr>
          <p:cNvPr id="42" name="Text 40"/>
          <p:cNvSpPr txBox="1"/>
          <p:nvPr/>
        </p:nvSpPr>
        <p:spPr>
          <a:xfrm>
            <a:off x="1014984"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LV</a:t>
            </a:r>
            <a:endParaRPr lang="en-US" sz="1200" dirty="0"/>
          </a:p>
        </p:txBody>
      </p:sp>
      <p:sp>
        <p:nvSpPr>
          <p:cNvPr id="43" name="Shape 41"/>
          <p:cNvSpPr/>
          <p:nvPr/>
        </p:nvSpPr>
        <p:spPr>
          <a:xfrm>
            <a:off x="3579876" y="3300618"/>
            <a:ext cx="170398" cy="102929"/>
          </a:xfrm>
          <a:prstGeom prst="rect">
            <a:avLst/>
          </a:prstGeom>
          <a:solidFill>
            <a:srgbClr val="12A566"/>
          </a:solidFill>
          <a:ln/>
        </p:spPr>
      </p:sp>
      <p:sp>
        <p:nvSpPr>
          <p:cNvPr id="44" name="Text 42"/>
          <p:cNvSpPr txBox="1"/>
          <p:nvPr/>
        </p:nvSpPr>
        <p:spPr>
          <a:xfrm>
            <a:off x="4206240"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+$422K</a:t>
            </a:r>
            <a:endParaRPr lang="en-US" sz="1200" dirty="0"/>
          </a:p>
        </p:txBody>
      </p:sp>
      <p:sp>
        <p:nvSpPr>
          <p:cNvPr id="45" name="Text 43"/>
          <p:cNvSpPr txBox="1"/>
          <p:nvPr/>
        </p:nvSpPr>
        <p:spPr>
          <a:xfrm>
            <a:off x="4983480"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+30.5%</a:t>
            </a:r>
            <a:endParaRPr lang="en-US" sz="1200" dirty="0"/>
          </a:p>
        </p:txBody>
      </p:sp>
      <p:sp>
        <p:nvSpPr>
          <p:cNvPr id="46" name="Text 44"/>
          <p:cNvSpPr txBox="1"/>
          <p:nvPr/>
        </p:nvSpPr>
        <p:spPr>
          <a:xfrm>
            <a:off x="658368"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7</a:t>
            </a:r>
            <a:endParaRPr lang="en-US" sz="1200" dirty="0"/>
          </a:p>
        </p:txBody>
      </p:sp>
      <p:sp>
        <p:nvSpPr>
          <p:cNvPr id="47" name="Text 45"/>
          <p:cNvSpPr txBox="1"/>
          <p:nvPr/>
        </p:nvSpPr>
        <p:spPr>
          <a:xfrm>
            <a:off x="1014984"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GMC BULLHEAD</a:t>
            </a:r>
            <a:endParaRPr lang="en-US" sz="1200" dirty="0"/>
          </a:p>
        </p:txBody>
      </p:sp>
      <p:sp>
        <p:nvSpPr>
          <p:cNvPr id="48" name="Shape 46"/>
          <p:cNvSpPr/>
          <p:nvPr/>
        </p:nvSpPr>
        <p:spPr>
          <a:xfrm>
            <a:off x="3579876" y="3524377"/>
            <a:ext cx="136037" cy="102929"/>
          </a:xfrm>
          <a:prstGeom prst="rect">
            <a:avLst/>
          </a:prstGeom>
          <a:solidFill>
            <a:srgbClr val="12A566"/>
          </a:solidFill>
          <a:ln/>
        </p:spPr>
      </p:sp>
      <p:sp>
        <p:nvSpPr>
          <p:cNvPr id="49" name="Text 47"/>
          <p:cNvSpPr txBox="1"/>
          <p:nvPr/>
        </p:nvSpPr>
        <p:spPr>
          <a:xfrm>
            <a:off x="4206240"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+$337K</a:t>
            </a:r>
            <a:endParaRPr lang="en-US" sz="1200" dirty="0"/>
          </a:p>
        </p:txBody>
      </p:sp>
      <p:sp>
        <p:nvSpPr>
          <p:cNvPr id="50" name="Text 48"/>
          <p:cNvSpPr txBox="1"/>
          <p:nvPr/>
        </p:nvSpPr>
        <p:spPr>
          <a:xfrm>
            <a:off x="4983480"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+43.0%</a:t>
            </a:r>
            <a:endParaRPr lang="en-US" sz="1200" dirty="0"/>
          </a:p>
        </p:txBody>
      </p:sp>
      <p:sp>
        <p:nvSpPr>
          <p:cNvPr id="51" name="Text 49"/>
          <p:cNvSpPr txBox="1"/>
          <p:nvPr/>
        </p:nvSpPr>
        <p:spPr>
          <a:xfrm>
            <a:off x="658368"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8</a:t>
            </a:r>
            <a:endParaRPr lang="en-US" sz="1200" dirty="0"/>
          </a:p>
        </p:txBody>
      </p:sp>
      <p:sp>
        <p:nvSpPr>
          <p:cNvPr id="52" name="Text 50"/>
          <p:cNvSpPr txBox="1"/>
          <p:nvPr/>
        </p:nvSpPr>
        <p:spPr>
          <a:xfrm>
            <a:off x="1014984"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RENO</a:t>
            </a:r>
            <a:endParaRPr lang="en-US" sz="1200" dirty="0"/>
          </a:p>
        </p:txBody>
      </p:sp>
      <p:sp>
        <p:nvSpPr>
          <p:cNvPr id="53" name="Shape 51"/>
          <p:cNvSpPr/>
          <p:nvPr/>
        </p:nvSpPr>
        <p:spPr>
          <a:xfrm>
            <a:off x="3579876" y="3748136"/>
            <a:ext cx="117971" cy="102929"/>
          </a:xfrm>
          <a:prstGeom prst="rect">
            <a:avLst/>
          </a:prstGeom>
          <a:solidFill>
            <a:srgbClr val="12A566"/>
          </a:solidFill>
          <a:ln/>
        </p:spPr>
      </p:sp>
      <p:sp>
        <p:nvSpPr>
          <p:cNvPr id="54" name="Text 52"/>
          <p:cNvSpPr txBox="1"/>
          <p:nvPr/>
        </p:nvSpPr>
        <p:spPr>
          <a:xfrm>
            <a:off x="4206240" y="3687721"/>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+$292K</a:t>
            </a:r>
            <a:endParaRPr lang="en-US" sz="1200" dirty="0"/>
          </a:p>
        </p:txBody>
      </p:sp>
      <p:sp>
        <p:nvSpPr>
          <p:cNvPr id="55" name="Text 53"/>
          <p:cNvSpPr txBox="1"/>
          <p:nvPr/>
        </p:nvSpPr>
        <p:spPr>
          <a:xfrm>
            <a:off x="4983480" y="3687721"/>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+215.4%</a:t>
            </a:r>
            <a:endParaRPr lang="en-US" sz="1200" dirty="0"/>
          </a:p>
        </p:txBody>
      </p:sp>
      <p:sp>
        <p:nvSpPr>
          <p:cNvPr id="56" name="Shape 54"/>
          <p:cNvSpPr/>
          <p:nvPr/>
        </p:nvSpPr>
        <p:spPr>
          <a:xfrm>
            <a:off x="5907024" y="3733441"/>
            <a:ext cx="54864" cy="132319"/>
          </a:xfrm>
          <a:prstGeom prst="rect">
            <a:avLst/>
          </a:prstGeom>
          <a:solidFill>
            <a:srgbClr val="12A566"/>
          </a:solidFill>
          <a:ln/>
        </p:spPr>
      </p:sp>
      <p:sp>
        <p:nvSpPr>
          <p:cNvPr id="57" name="Text 55"/>
          <p:cNvSpPr txBox="1"/>
          <p:nvPr/>
        </p:nvSpPr>
        <p:spPr>
          <a:xfrm>
            <a:off x="658368"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9</a:t>
            </a:r>
            <a:endParaRPr lang="en-US" sz="1200" dirty="0"/>
          </a:p>
        </p:txBody>
      </p:sp>
      <p:sp>
        <p:nvSpPr>
          <p:cNvPr id="58" name="Text 56"/>
          <p:cNvSpPr txBox="1"/>
          <p:nvPr/>
        </p:nvSpPr>
        <p:spPr>
          <a:xfrm>
            <a:off x="1014984"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PRESCOTT</a:t>
            </a:r>
            <a:endParaRPr lang="en-US" sz="1200" dirty="0"/>
          </a:p>
        </p:txBody>
      </p:sp>
      <p:sp>
        <p:nvSpPr>
          <p:cNvPr id="59" name="Shape 57"/>
          <p:cNvSpPr/>
          <p:nvPr/>
        </p:nvSpPr>
        <p:spPr>
          <a:xfrm>
            <a:off x="3579876" y="3971895"/>
            <a:ext cx="115044" cy="102929"/>
          </a:xfrm>
          <a:prstGeom prst="rect">
            <a:avLst/>
          </a:prstGeom>
          <a:solidFill>
            <a:srgbClr val="12A566"/>
          </a:solidFill>
          <a:ln/>
        </p:spPr>
      </p:sp>
      <p:sp>
        <p:nvSpPr>
          <p:cNvPr id="60" name="Text 58"/>
          <p:cNvSpPr txBox="1"/>
          <p:nvPr/>
        </p:nvSpPr>
        <p:spPr>
          <a:xfrm>
            <a:off x="4206240" y="391148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+$285K</a:t>
            </a:r>
            <a:endParaRPr lang="en-US" sz="1200" dirty="0"/>
          </a:p>
        </p:txBody>
      </p:sp>
      <p:sp>
        <p:nvSpPr>
          <p:cNvPr id="61" name="Text 59"/>
          <p:cNvSpPr txBox="1"/>
          <p:nvPr/>
        </p:nvSpPr>
        <p:spPr>
          <a:xfrm>
            <a:off x="4983480" y="391148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+32.3%</a:t>
            </a:r>
            <a:endParaRPr lang="en-US" sz="1200" dirty="0"/>
          </a:p>
        </p:txBody>
      </p:sp>
      <p:sp>
        <p:nvSpPr>
          <p:cNvPr id="62" name="Text 60"/>
          <p:cNvSpPr txBox="1"/>
          <p:nvPr/>
        </p:nvSpPr>
        <p:spPr>
          <a:xfrm>
            <a:off x="658368"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10</a:t>
            </a:r>
            <a:endParaRPr lang="en-US" sz="1200" dirty="0"/>
          </a:p>
        </p:txBody>
      </p:sp>
      <p:sp>
        <p:nvSpPr>
          <p:cNvPr id="63" name="Text 61"/>
          <p:cNvSpPr txBox="1"/>
          <p:nvPr/>
        </p:nvSpPr>
        <p:spPr>
          <a:xfrm>
            <a:off x="1014984"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ACURA</a:t>
            </a:r>
            <a:endParaRPr lang="en-US" sz="1200" dirty="0"/>
          </a:p>
        </p:txBody>
      </p:sp>
      <p:sp>
        <p:nvSpPr>
          <p:cNvPr id="64" name="Shape 62"/>
          <p:cNvSpPr/>
          <p:nvPr/>
        </p:nvSpPr>
        <p:spPr>
          <a:xfrm>
            <a:off x="3579876" y="4195654"/>
            <a:ext cx="87555" cy="102929"/>
          </a:xfrm>
          <a:prstGeom prst="rect">
            <a:avLst/>
          </a:prstGeom>
          <a:solidFill>
            <a:srgbClr val="12A566"/>
          </a:solidFill>
          <a:ln/>
        </p:spPr>
      </p:sp>
      <p:sp>
        <p:nvSpPr>
          <p:cNvPr id="65" name="Text 63"/>
          <p:cNvSpPr txBox="1"/>
          <p:nvPr/>
        </p:nvSpPr>
        <p:spPr>
          <a:xfrm>
            <a:off x="4206240" y="4135240"/>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+$217K</a:t>
            </a:r>
            <a:endParaRPr lang="en-US" sz="1200" dirty="0"/>
          </a:p>
        </p:txBody>
      </p:sp>
      <p:sp>
        <p:nvSpPr>
          <p:cNvPr id="66" name="Text 64"/>
          <p:cNvSpPr txBox="1"/>
          <p:nvPr/>
        </p:nvSpPr>
        <p:spPr>
          <a:xfrm>
            <a:off x="4983480" y="4135240"/>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+83.7%</a:t>
            </a:r>
            <a:endParaRPr lang="en-US" sz="1200" dirty="0"/>
          </a:p>
        </p:txBody>
      </p:sp>
      <p:sp>
        <p:nvSpPr>
          <p:cNvPr id="67" name="Text 65"/>
          <p:cNvSpPr txBox="1"/>
          <p:nvPr/>
        </p:nvSpPr>
        <p:spPr>
          <a:xfrm>
            <a:off x="658368"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11</a:t>
            </a:r>
            <a:endParaRPr lang="en-US" sz="1200" dirty="0"/>
          </a:p>
        </p:txBody>
      </p:sp>
      <p:sp>
        <p:nvSpPr>
          <p:cNvPr id="68" name="Text 66"/>
          <p:cNvSpPr txBox="1"/>
          <p:nvPr/>
        </p:nvSpPr>
        <p:spPr>
          <a:xfrm>
            <a:off x="1014984"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LEXUS</a:t>
            </a:r>
            <a:endParaRPr lang="en-US" sz="1200" dirty="0"/>
          </a:p>
        </p:txBody>
      </p:sp>
      <p:sp>
        <p:nvSpPr>
          <p:cNvPr id="69" name="Shape 67"/>
          <p:cNvSpPr/>
          <p:nvPr/>
        </p:nvSpPr>
        <p:spPr>
          <a:xfrm>
            <a:off x="3579876" y="4419414"/>
            <a:ext cx="83153" cy="102929"/>
          </a:xfrm>
          <a:prstGeom prst="rect">
            <a:avLst/>
          </a:prstGeom>
          <a:solidFill>
            <a:srgbClr val="12A566"/>
          </a:solidFill>
          <a:ln/>
        </p:spPr>
      </p:sp>
      <p:sp>
        <p:nvSpPr>
          <p:cNvPr id="70" name="Text 68"/>
          <p:cNvSpPr txBox="1"/>
          <p:nvPr/>
        </p:nvSpPr>
        <p:spPr>
          <a:xfrm>
            <a:off x="4206240" y="4358999"/>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+$206K</a:t>
            </a:r>
            <a:endParaRPr lang="en-US" sz="1200" dirty="0"/>
          </a:p>
        </p:txBody>
      </p:sp>
      <p:sp>
        <p:nvSpPr>
          <p:cNvPr id="71" name="Text 69"/>
          <p:cNvSpPr txBox="1"/>
          <p:nvPr/>
        </p:nvSpPr>
        <p:spPr>
          <a:xfrm>
            <a:off x="4983480" y="4358999"/>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+20.8%</a:t>
            </a:r>
            <a:endParaRPr lang="en-US" sz="1200" dirty="0"/>
          </a:p>
        </p:txBody>
      </p:sp>
      <p:sp>
        <p:nvSpPr>
          <p:cNvPr id="72" name="Shape 70"/>
          <p:cNvSpPr/>
          <p:nvPr/>
        </p:nvSpPr>
        <p:spPr>
          <a:xfrm>
            <a:off x="612648" y="4591902"/>
            <a:ext cx="5138928" cy="205471"/>
          </a:xfrm>
          <a:prstGeom prst="rect">
            <a:avLst/>
          </a:prstGeom>
          <a:solidFill>
            <a:srgbClr val="E6F6EE"/>
          </a:solidFill>
          <a:ln/>
        </p:spPr>
      </p:sp>
      <p:sp>
        <p:nvSpPr>
          <p:cNvPr id="73" name="Text 71"/>
          <p:cNvSpPr txBox="1"/>
          <p:nvPr/>
        </p:nvSpPr>
        <p:spPr>
          <a:xfrm>
            <a:off x="658368"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12</a:t>
            </a:r>
            <a:endParaRPr lang="en-US" sz="1200" dirty="0"/>
          </a:p>
        </p:txBody>
      </p:sp>
      <p:sp>
        <p:nvSpPr>
          <p:cNvPr id="74" name="Text 72"/>
          <p:cNvSpPr txBox="1"/>
          <p:nvPr/>
        </p:nvSpPr>
        <p:spPr>
          <a:xfrm>
            <a:off x="1014984"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PRESCOTT</a:t>
            </a:r>
            <a:endParaRPr lang="en-US" sz="1200" dirty="0"/>
          </a:p>
        </p:txBody>
      </p:sp>
      <p:sp>
        <p:nvSpPr>
          <p:cNvPr id="75" name="Shape 73"/>
          <p:cNvSpPr/>
          <p:nvPr/>
        </p:nvSpPr>
        <p:spPr>
          <a:xfrm>
            <a:off x="3579876" y="4643173"/>
            <a:ext cx="73936" cy="102929"/>
          </a:xfrm>
          <a:prstGeom prst="rect">
            <a:avLst/>
          </a:prstGeom>
          <a:solidFill>
            <a:srgbClr val="12A566"/>
          </a:solidFill>
          <a:ln/>
        </p:spPr>
      </p:sp>
      <p:sp>
        <p:nvSpPr>
          <p:cNvPr id="76" name="Text 74"/>
          <p:cNvSpPr txBox="1"/>
          <p:nvPr/>
        </p:nvSpPr>
        <p:spPr>
          <a:xfrm>
            <a:off x="4206240" y="458275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+$183K</a:t>
            </a:r>
            <a:endParaRPr lang="en-US" sz="1200" dirty="0"/>
          </a:p>
        </p:txBody>
      </p:sp>
      <p:sp>
        <p:nvSpPr>
          <p:cNvPr id="77" name="Text 75"/>
          <p:cNvSpPr txBox="1"/>
          <p:nvPr/>
        </p:nvSpPr>
        <p:spPr>
          <a:xfrm>
            <a:off x="4983480" y="458275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+335.3%</a:t>
            </a:r>
            <a:endParaRPr lang="en-US" sz="1200" dirty="0"/>
          </a:p>
        </p:txBody>
      </p:sp>
      <p:sp>
        <p:nvSpPr>
          <p:cNvPr id="78" name="Shape 76"/>
          <p:cNvSpPr/>
          <p:nvPr/>
        </p:nvSpPr>
        <p:spPr>
          <a:xfrm>
            <a:off x="5907024" y="4628478"/>
            <a:ext cx="54864" cy="132319"/>
          </a:xfrm>
          <a:prstGeom prst="rect">
            <a:avLst/>
          </a:prstGeom>
          <a:solidFill>
            <a:srgbClr val="12A566"/>
          </a:solidFill>
          <a:ln/>
        </p:spPr>
      </p:sp>
      <p:sp>
        <p:nvSpPr>
          <p:cNvPr id="79" name="Text 77"/>
          <p:cNvSpPr txBox="1"/>
          <p:nvPr/>
        </p:nvSpPr>
        <p:spPr>
          <a:xfrm>
            <a:off x="658368"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13</a:t>
            </a:r>
            <a:endParaRPr lang="en-US" sz="1200" dirty="0"/>
          </a:p>
        </p:txBody>
      </p:sp>
      <p:sp>
        <p:nvSpPr>
          <p:cNvPr id="80" name="Text 78"/>
          <p:cNvSpPr txBox="1"/>
          <p:nvPr/>
        </p:nvSpPr>
        <p:spPr>
          <a:xfrm>
            <a:off x="1014984"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VOLVO</a:t>
            </a:r>
            <a:endParaRPr lang="en-US" sz="1200" dirty="0"/>
          </a:p>
        </p:txBody>
      </p:sp>
      <p:sp>
        <p:nvSpPr>
          <p:cNvPr id="81" name="Shape 79"/>
          <p:cNvSpPr/>
          <p:nvPr/>
        </p:nvSpPr>
        <p:spPr>
          <a:xfrm>
            <a:off x="3579876" y="4866932"/>
            <a:ext cx="62602" cy="102929"/>
          </a:xfrm>
          <a:prstGeom prst="rect">
            <a:avLst/>
          </a:prstGeom>
          <a:solidFill>
            <a:srgbClr val="12A566"/>
          </a:solidFill>
          <a:ln/>
        </p:spPr>
      </p:sp>
      <p:sp>
        <p:nvSpPr>
          <p:cNvPr id="82" name="Text 80"/>
          <p:cNvSpPr txBox="1"/>
          <p:nvPr/>
        </p:nvSpPr>
        <p:spPr>
          <a:xfrm>
            <a:off x="4206240" y="480651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+$155K</a:t>
            </a:r>
            <a:endParaRPr lang="en-US" sz="1200" dirty="0"/>
          </a:p>
        </p:txBody>
      </p:sp>
      <p:sp>
        <p:nvSpPr>
          <p:cNvPr id="83" name="Text 81"/>
          <p:cNvSpPr txBox="1"/>
          <p:nvPr/>
        </p:nvSpPr>
        <p:spPr>
          <a:xfrm>
            <a:off x="4983480" y="480651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+13.2%</a:t>
            </a:r>
            <a:endParaRPr lang="en-US" sz="1200" dirty="0"/>
          </a:p>
        </p:txBody>
      </p:sp>
      <p:sp>
        <p:nvSpPr>
          <p:cNvPr id="84" name="Text 82"/>
          <p:cNvSpPr txBox="1"/>
          <p:nvPr/>
        </p:nvSpPr>
        <p:spPr>
          <a:xfrm>
            <a:off x="658368"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14</a:t>
            </a:r>
            <a:endParaRPr lang="en-US" sz="1200" dirty="0"/>
          </a:p>
        </p:txBody>
      </p:sp>
      <p:sp>
        <p:nvSpPr>
          <p:cNvPr id="85" name="Text 83"/>
          <p:cNvSpPr txBox="1"/>
          <p:nvPr/>
        </p:nvSpPr>
        <p:spPr>
          <a:xfrm>
            <a:off x="1014984"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LV</a:t>
            </a:r>
            <a:endParaRPr lang="en-US" sz="1200" dirty="0"/>
          </a:p>
        </p:txBody>
      </p:sp>
      <p:sp>
        <p:nvSpPr>
          <p:cNvPr id="86" name="Shape 84"/>
          <p:cNvSpPr/>
          <p:nvPr/>
        </p:nvSpPr>
        <p:spPr>
          <a:xfrm>
            <a:off x="3579876" y="5090691"/>
            <a:ext cx="61490" cy="102929"/>
          </a:xfrm>
          <a:prstGeom prst="rect">
            <a:avLst/>
          </a:prstGeom>
          <a:solidFill>
            <a:srgbClr val="12A566"/>
          </a:solidFill>
          <a:ln/>
        </p:spPr>
      </p:sp>
      <p:sp>
        <p:nvSpPr>
          <p:cNvPr id="87" name="Text 85"/>
          <p:cNvSpPr txBox="1"/>
          <p:nvPr/>
        </p:nvSpPr>
        <p:spPr>
          <a:xfrm>
            <a:off x="4206240" y="503027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+$152K</a:t>
            </a:r>
            <a:endParaRPr lang="en-US" sz="1200" dirty="0"/>
          </a:p>
        </p:txBody>
      </p:sp>
      <p:sp>
        <p:nvSpPr>
          <p:cNvPr id="88" name="Text 86"/>
          <p:cNvSpPr txBox="1"/>
          <p:nvPr/>
        </p:nvSpPr>
        <p:spPr>
          <a:xfrm>
            <a:off x="4983480" y="503027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+8.1%</a:t>
            </a:r>
            <a:endParaRPr lang="en-US" sz="1200" dirty="0"/>
          </a:p>
        </p:txBody>
      </p:sp>
      <p:sp>
        <p:nvSpPr>
          <p:cNvPr id="89" name="Shape 87"/>
          <p:cNvSpPr/>
          <p:nvPr/>
        </p:nvSpPr>
        <p:spPr>
          <a:xfrm>
            <a:off x="612648" y="5263179"/>
            <a:ext cx="5138928" cy="205471"/>
          </a:xfrm>
          <a:prstGeom prst="rect">
            <a:avLst/>
          </a:prstGeom>
          <a:solidFill>
            <a:srgbClr val="E6F6EE"/>
          </a:solidFill>
          <a:ln/>
        </p:spPr>
      </p:sp>
      <p:sp>
        <p:nvSpPr>
          <p:cNvPr id="90" name="Text 88"/>
          <p:cNvSpPr txBox="1"/>
          <p:nvPr/>
        </p:nvSpPr>
        <p:spPr>
          <a:xfrm>
            <a:off x="658368"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15</a:t>
            </a:r>
            <a:endParaRPr lang="en-US" sz="1200" dirty="0"/>
          </a:p>
        </p:txBody>
      </p:sp>
      <p:sp>
        <p:nvSpPr>
          <p:cNvPr id="91" name="Text 89"/>
          <p:cNvSpPr txBox="1"/>
          <p:nvPr/>
        </p:nvSpPr>
        <p:spPr>
          <a:xfrm>
            <a:off x="1014984"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GMC PRESCOTT</a:t>
            </a:r>
            <a:endParaRPr lang="en-US" sz="1200" dirty="0"/>
          </a:p>
        </p:txBody>
      </p:sp>
      <p:sp>
        <p:nvSpPr>
          <p:cNvPr id="92" name="Shape 90"/>
          <p:cNvSpPr/>
          <p:nvPr/>
        </p:nvSpPr>
        <p:spPr>
          <a:xfrm>
            <a:off x="3579876" y="5314450"/>
            <a:ext cx="58162" cy="102929"/>
          </a:xfrm>
          <a:prstGeom prst="rect">
            <a:avLst/>
          </a:prstGeom>
          <a:solidFill>
            <a:srgbClr val="12A566"/>
          </a:solidFill>
          <a:ln/>
        </p:spPr>
      </p:sp>
      <p:sp>
        <p:nvSpPr>
          <p:cNvPr id="93" name="Text 91"/>
          <p:cNvSpPr txBox="1"/>
          <p:nvPr/>
        </p:nvSpPr>
        <p:spPr>
          <a:xfrm>
            <a:off x="4206240" y="525403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+$144K</a:t>
            </a:r>
            <a:endParaRPr lang="en-US" sz="1200" dirty="0"/>
          </a:p>
        </p:txBody>
      </p:sp>
      <p:sp>
        <p:nvSpPr>
          <p:cNvPr id="94" name="Text 92"/>
          <p:cNvSpPr txBox="1"/>
          <p:nvPr/>
        </p:nvSpPr>
        <p:spPr>
          <a:xfrm>
            <a:off x="4983480" y="525403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+115.7%</a:t>
            </a:r>
            <a:endParaRPr lang="en-US" sz="1200" dirty="0"/>
          </a:p>
        </p:txBody>
      </p:sp>
      <p:sp>
        <p:nvSpPr>
          <p:cNvPr id="95" name="Text 93"/>
          <p:cNvSpPr txBox="1"/>
          <p:nvPr/>
        </p:nvSpPr>
        <p:spPr>
          <a:xfrm>
            <a:off x="658368"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16</a:t>
            </a:r>
            <a:endParaRPr lang="en-US" sz="1200" dirty="0"/>
          </a:p>
        </p:txBody>
      </p:sp>
      <p:sp>
        <p:nvSpPr>
          <p:cNvPr id="96" name="Text 94"/>
          <p:cNvSpPr txBox="1"/>
          <p:nvPr/>
        </p:nvSpPr>
        <p:spPr>
          <a:xfrm>
            <a:off x="1014984"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NISSAN</a:t>
            </a:r>
            <a:endParaRPr lang="en-US" sz="1200" dirty="0"/>
          </a:p>
        </p:txBody>
      </p:sp>
      <p:sp>
        <p:nvSpPr>
          <p:cNvPr id="97" name="Shape 95"/>
          <p:cNvSpPr/>
          <p:nvPr/>
        </p:nvSpPr>
        <p:spPr>
          <a:xfrm>
            <a:off x="3579876" y="5538209"/>
            <a:ext cx="54233" cy="102929"/>
          </a:xfrm>
          <a:prstGeom prst="rect">
            <a:avLst/>
          </a:prstGeom>
          <a:solidFill>
            <a:srgbClr val="12A566"/>
          </a:solidFill>
          <a:ln/>
        </p:spPr>
      </p:sp>
      <p:sp>
        <p:nvSpPr>
          <p:cNvPr id="98" name="Text 96"/>
          <p:cNvSpPr txBox="1"/>
          <p:nvPr/>
        </p:nvSpPr>
        <p:spPr>
          <a:xfrm>
            <a:off x="4206240" y="547779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+$134K</a:t>
            </a:r>
            <a:endParaRPr lang="en-US" sz="1200" dirty="0"/>
          </a:p>
        </p:txBody>
      </p:sp>
      <p:sp>
        <p:nvSpPr>
          <p:cNvPr id="99" name="Text 97"/>
          <p:cNvSpPr txBox="1"/>
          <p:nvPr/>
        </p:nvSpPr>
        <p:spPr>
          <a:xfrm>
            <a:off x="4983480" y="547779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+24.7%</a:t>
            </a:r>
            <a:endParaRPr lang="en-US" sz="1200" dirty="0"/>
          </a:p>
        </p:txBody>
      </p:sp>
      <p:sp>
        <p:nvSpPr>
          <p:cNvPr id="100" name="Text 98"/>
          <p:cNvSpPr txBox="1"/>
          <p:nvPr/>
        </p:nvSpPr>
        <p:spPr>
          <a:xfrm>
            <a:off x="658368" y="570155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17</a:t>
            </a:r>
            <a:endParaRPr lang="en-US" sz="1200" dirty="0"/>
          </a:p>
        </p:txBody>
      </p:sp>
      <p:sp>
        <p:nvSpPr>
          <p:cNvPr id="101" name="Text 99"/>
          <p:cNvSpPr txBox="1"/>
          <p:nvPr/>
        </p:nvSpPr>
        <p:spPr>
          <a:xfrm>
            <a:off x="1014984" y="570155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FLAGSTAFF</a:t>
            </a:r>
            <a:endParaRPr lang="en-US" sz="1200" dirty="0"/>
          </a:p>
        </p:txBody>
      </p:sp>
      <p:sp>
        <p:nvSpPr>
          <p:cNvPr id="102" name="Shape 100"/>
          <p:cNvSpPr/>
          <p:nvPr/>
        </p:nvSpPr>
        <p:spPr>
          <a:xfrm>
            <a:off x="3579876" y="5761968"/>
            <a:ext cx="52684" cy="102929"/>
          </a:xfrm>
          <a:prstGeom prst="rect">
            <a:avLst/>
          </a:prstGeom>
          <a:solidFill>
            <a:srgbClr val="12A566"/>
          </a:solidFill>
          <a:ln/>
        </p:spPr>
      </p:sp>
      <p:sp>
        <p:nvSpPr>
          <p:cNvPr id="103" name="Text 101"/>
          <p:cNvSpPr txBox="1"/>
          <p:nvPr/>
        </p:nvSpPr>
        <p:spPr>
          <a:xfrm>
            <a:off x="4206240" y="570155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+$131K</a:t>
            </a:r>
            <a:endParaRPr lang="en-US" sz="1200" dirty="0"/>
          </a:p>
        </p:txBody>
      </p:sp>
      <p:sp>
        <p:nvSpPr>
          <p:cNvPr id="104" name="Text 102"/>
          <p:cNvSpPr txBox="1"/>
          <p:nvPr/>
        </p:nvSpPr>
        <p:spPr>
          <a:xfrm>
            <a:off x="4983480" y="570155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+16.9%</a:t>
            </a:r>
            <a:endParaRPr lang="en-US" sz="1200" dirty="0"/>
          </a:p>
        </p:txBody>
      </p:sp>
      <p:sp>
        <p:nvSpPr>
          <p:cNvPr id="105" name="Text 103"/>
          <p:cNvSpPr txBox="1"/>
          <p:nvPr/>
        </p:nvSpPr>
        <p:spPr>
          <a:xfrm>
            <a:off x="6208776" y="212140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18</a:t>
            </a:r>
            <a:endParaRPr lang="en-US" sz="1200" dirty="0"/>
          </a:p>
        </p:txBody>
      </p:sp>
      <p:sp>
        <p:nvSpPr>
          <p:cNvPr id="106" name="Text 104"/>
          <p:cNvSpPr txBox="1"/>
          <p:nvPr/>
        </p:nvSpPr>
        <p:spPr>
          <a:xfrm>
            <a:off x="6565392" y="212140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ST GEORGE</a:t>
            </a:r>
            <a:endParaRPr lang="en-US" sz="1200" dirty="0"/>
          </a:p>
        </p:txBody>
      </p:sp>
      <p:sp>
        <p:nvSpPr>
          <p:cNvPr id="107" name="Shape 105"/>
          <p:cNvSpPr/>
          <p:nvPr/>
        </p:nvSpPr>
        <p:spPr>
          <a:xfrm>
            <a:off x="9130284" y="2181823"/>
            <a:ext cx="45718" cy="102929"/>
          </a:xfrm>
          <a:prstGeom prst="rect">
            <a:avLst/>
          </a:prstGeom>
          <a:solidFill>
            <a:srgbClr val="12A566"/>
          </a:solidFill>
          <a:ln/>
        </p:spPr>
      </p:sp>
      <p:sp>
        <p:nvSpPr>
          <p:cNvPr id="108" name="Text 106"/>
          <p:cNvSpPr txBox="1"/>
          <p:nvPr/>
        </p:nvSpPr>
        <p:spPr>
          <a:xfrm>
            <a:off x="9756648" y="2121408"/>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+$113K</a:t>
            </a:r>
            <a:endParaRPr lang="en-US" sz="1200" dirty="0"/>
          </a:p>
        </p:txBody>
      </p:sp>
      <p:sp>
        <p:nvSpPr>
          <p:cNvPr id="109" name="Text 107"/>
          <p:cNvSpPr txBox="1"/>
          <p:nvPr/>
        </p:nvSpPr>
        <p:spPr>
          <a:xfrm>
            <a:off x="10533888" y="2121408"/>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+10.7%</a:t>
            </a:r>
            <a:endParaRPr lang="en-US" sz="1200" dirty="0"/>
          </a:p>
        </p:txBody>
      </p:sp>
      <p:sp>
        <p:nvSpPr>
          <p:cNvPr id="110" name="Text 108"/>
          <p:cNvSpPr txBox="1"/>
          <p:nvPr/>
        </p:nvSpPr>
        <p:spPr>
          <a:xfrm>
            <a:off x="6208776" y="234516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19</a:t>
            </a:r>
            <a:endParaRPr lang="en-US" sz="1200" dirty="0"/>
          </a:p>
        </p:txBody>
      </p:sp>
      <p:sp>
        <p:nvSpPr>
          <p:cNvPr id="111" name="Text 109"/>
          <p:cNvSpPr txBox="1"/>
          <p:nvPr/>
        </p:nvSpPr>
        <p:spPr>
          <a:xfrm>
            <a:off x="6565392" y="234516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LR HENDERSON</a:t>
            </a:r>
            <a:endParaRPr lang="en-US" sz="1200" dirty="0"/>
          </a:p>
        </p:txBody>
      </p:sp>
      <p:sp>
        <p:nvSpPr>
          <p:cNvPr id="112" name="Shape 110"/>
          <p:cNvSpPr/>
          <p:nvPr/>
        </p:nvSpPr>
        <p:spPr>
          <a:xfrm>
            <a:off x="9130284" y="2405582"/>
            <a:ext cx="39446" cy="102929"/>
          </a:xfrm>
          <a:prstGeom prst="rect">
            <a:avLst/>
          </a:prstGeom>
          <a:solidFill>
            <a:srgbClr val="12A566"/>
          </a:solidFill>
          <a:ln/>
        </p:spPr>
      </p:sp>
      <p:sp>
        <p:nvSpPr>
          <p:cNvPr id="113" name="Text 111"/>
          <p:cNvSpPr txBox="1"/>
          <p:nvPr/>
        </p:nvSpPr>
        <p:spPr>
          <a:xfrm>
            <a:off x="9756648" y="2345167"/>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+$98K</a:t>
            </a:r>
            <a:endParaRPr lang="en-US" sz="1200" dirty="0"/>
          </a:p>
        </p:txBody>
      </p:sp>
      <p:sp>
        <p:nvSpPr>
          <p:cNvPr id="114" name="Text 112"/>
          <p:cNvSpPr txBox="1"/>
          <p:nvPr/>
        </p:nvSpPr>
        <p:spPr>
          <a:xfrm>
            <a:off x="10533888" y="2345167"/>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+16.1%</a:t>
            </a:r>
            <a:endParaRPr lang="en-US" sz="1200" dirty="0"/>
          </a:p>
        </p:txBody>
      </p:sp>
      <p:sp>
        <p:nvSpPr>
          <p:cNvPr id="115" name="Text 113"/>
          <p:cNvSpPr txBox="1"/>
          <p:nvPr/>
        </p:nvSpPr>
        <p:spPr>
          <a:xfrm>
            <a:off x="6208776" y="256892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20</a:t>
            </a:r>
            <a:endParaRPr lang="en-US" sz="1200" dirty="0"/>
          </a:p>
        </p:txBody>
      </p:sp>
      <p:sp>
        <p:nvSpPr>
          <p:cNvPr id="116" name="Text 114"/>
          <p:cNvSpPr txBox="1"/>
          <p:nvPr/>
        </p:nvSpPr>
        <p:spPr>
          <a:xfrm>
            <a:off x="6565392" y="256892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PRESCOTT</a:t>
            </a:r>
            <a:endParaRPr lang="en-US" sz="1200" dirty="0"/>
          </a:p>
        </p:txBody>
      </p:sp>
      <p:sp>
        <p:nvSpPr>
          <p:cNvPr id="117" name="Shape 115"/>
          <p:cNvSpPr/>
          <p:nvPr/>
        </p:nvSpPr>
        <p:spPr>
          <a:xfrm>
            <a:off x="9130284" y="2629341"/>
            <a:ext cx="38729" cy="102929"/>
          </a:xfrm>
          <a:prstGeom prst="rect">
            <a:avLst/>
          </a:prstGeom>
          <a:solidFill>
            <a:srgbClr val="12A566"/>
          </a:solidFill>
          <a:ln/>
        </p:spPr>
      </p:sp>
      <p:sp>
        <p:nvSpPr>
          <p:cNvPr id="118" name="Text 116"/>
          <p:cNvSpPr txBox="1"/>
          <p:nvPr/>
        </p:nvSpPr>
        <p:spPr>
          <a:xfrm>
            <a:off x="9756648" y="2568926"/>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+$96K</a:t>
            </a:r>
            <a:endParaRPr lang="en-US" sz="1200" dirty="0"/>
          </a:p>
        </p:txBody>
      </p:sp>
      <p:sp>
        <p:nvSpPr>
          <p:cNvPr id="119" name="Text 117"/>
          <p:cNvSpPr txBox="1"/>
          <p:nvPr/>
        </p:nvSpPr>
        <p:spPr>
          <a:xfrm>
            <a:off x="10533888" y="2568926"/>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+41.3%</a:t>
            </a:r>
            <a:endParaRPr lang="en-US" sz="1200" dirty="0"/>
          </a:p>
        </p:txBody>
      </p:sp>
      <p:sp>
        <p:nvSpPr>
          <p:cNvPr id="120" name="Text 118"/>
          <p:cNvSpPr txBox="1"/>
          <p:nvPr/>
        </p:nvSpPr>
        <p:spPr>
          <a:xfrm>
            <a:off x="6208776" y="279268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21</a:t>
            </a:r>
            <a:endParaRPr lang="en-US" sz="1200" dirty="0"/>
          </a:p>
        </p:txBody>
      </p:sp>
      <p:sp>
        <p:nvSpPr>
          <p:cNvPr id="121" name="Text 119"/>
          <p:cNvSpPr txBox="1"/>
          <p:nvPr/>
        </p:nvSpPr>
        <p:spPr>
          <a:xfrm>
            <a:off x="6565392" y="279268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CDJR POST FALLS</a:t>
            </a:r>
            <a:endParaRPr lang="en-US" sz="1200" dirty="0"/>
          </a:p>
        </p:txBody>
      </p:sp>
      <p:sp>
        <p:nvSpPr>
          <p:cNvPr id="122" name="Shape 120"/>
          <p:cNvSpPr/>
          <p:nvPr/>
        </p:nvSpPr>
        <p:spPr>
          <a:xfrm>
            <a:off x="9130284" y="2853100"/>
            <a:ext cx="21715" cy="102929"/>
          </a:xfrm>
          <a:prstGeom prst="rect">
            <a:avLst/>
          </a:prstGeom>
          <a:solidFill>
            <a:srgbClr val="12A566"/>
          </a:solidFill>
          <a:ln/>
        </p:spPr>
      </p:sp>
      <p:sp>
        <p:nvSpPr>
          <p:cNvPr id="123" name="Text 121"/>
          <p:cNvSpPr txBox="1"/>
          <p:nvPr/>
        </p:nvSpPr>
        <p:spPr>
          <a:xfrm>
            <a:off x="9756648" y="2792685"/>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+$54K</a:t>
            </a:r>
            <a:endParaRPr lang="en-US" sz="1200" dirty="0"/>
          </a:p>
        </p:txBody>
      </p:sp>
      <p:sp>
        <p:nvSpPr>
          <p:cNvPr id="124" name="Text 122"/>
          <p:cNvSpPr txBox="1"/>
          <p:nvPr/>
        </p:nvSpPr>
        <p:spPr>
          <a:xfrm>
            <a:off x="10533888" y="2792685"/>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+7.2%</a:t>
            </a:r>
            <a:endParaRPr lang="en-US" sz="1200" dirty="0"/>
          </a:p>
        </p:txBody>
      </p:sp>
      <p:sp>
        <p:nvSpPr>
          <p:cNvPr id="125" name="Text 123"/>
          <p:cNvSpPr txBox="1"/>
          <p:nvPr/>
        </p:nvSpPr>
        <p:spPr>
          <a:xfrm>
            <a:off x="6208776" y="301644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22</a:t>
            </a:r>
            <a:endParaRPr lang="en-US" sz="1200" dirty="0"/>
          </a:p>
        </p:txBody>
      </p:sp>
      <p:sp>
        <p:nvSpPr>
          <p:cNvPr id="126" name="Text 124"/>
          <p:cNvSpPr txBox="1"/>
          <p:nvPr/>
        </p:nvSpPr>
        <p:spPr>
          <a:xfrm>
            <a:off x="6565392" y="301644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FLAGSTAFF</a:t>
            </a:r>
            <a:endParaRPr lang="en-US" sz="1200" dirty="0"/>
          </a:p>
        </p:txBody>
      </p:sp>
      <p:sp>
        <p:nvSpPr>
          <p:cNvPr id="127" name="Shape 125"/>
          <p:cNvSpPr/>
          <p:nvPr/>
        </p:nvSpPr>
        <p:spPr>
          <a:xfrm>
            <a:off x="9130284" y="3076859"/>
            <a:ext cx="21414" cy="102929"/>
          </a:xfrm>
          <a:prstGeom prst="rect">
            <a:avLst/>
          </a:prstGeom>
          <a:solidFill>
            <a:srgbClr val="12A566"/>
          </a:solidFill>
          <a:ln/>
        </p:spPr>
      </p:sp>
      <p:sp>
        <p:nvSpPr>
          <p:cNvPr id="128" name="Text 126"/>
          <p:cNvSpPr txBox="1"/>
          <p:nvPr/>
        </p:nvSpPr>
        <p:spPr>
          <a:xfrm>
            <a:off x="9756648" y="3016444"/>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+$53K</a:t>
            </a:r>
            <a:endParaRPr lang="en-US" sz="1200" dirty="0"/>
          </a:p>
        </p:txBody>
      </p:sp>
      <p:sp>
        <p:nvSpPr>
          <p:cNvPr id="129" name="Text 127"/>
          <p:cNvSpPr txBox="1"/>
          <p:nvPr/>
        </p:nvSpPr>
        <p:spPr>
          <a:xfrm>
            <a:off x="10533888" y="3016444"/>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+200.6%</a:t>
            </a:r>
            <a:endParaRPr lang="en-US" sz="1200" dirty="0"/>
          </a:p>
        </p:txBody>
      </p:sp>
      <p:sp>
        <p:nvSpPr>
          <p:cNvPr id="130" name="Shape 128"/>
          <p:cNvSpPr/>
          <p:nvPr/>
        </p:nvSpPr>
        <p:spPr>
          <a:xfrm>
            <a:off x="11457432" y="3062164"/>
            <a:ext cx="54864" cy="132319"/>
          </a:xfrm>
          <a:prstGeom prst="rect">
            <a:avLst/>
          </a:prstGeom>
          <a:solidFill>
            <a:srgbClr val="12A566"/>
          </a:solidFill>
          <a:ln/>
        </p:spPr>
      </p:sp>
      <p:sp>
        <p:nvSpPr>
          <p:cNvPr id="131" name="Text 129"/>
          <p:cNvSpPr txBox="1"/>
          <p:nvPr/>
        </p:nvSpPr>
        <p:spPr>
          <a:xfrm>
            <a:off x="6208776" y="3240203"/>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23</a:t>
            </a:r>
            <a:endParaRPr lang="en-US" sz="1200" dirty="0"/>
          </a:p>
        </p:txBody>
      </p:sp>
      <p:sp>
        <p:nvSpPr>
          <p:cNvPr id="132" name="Text 130"/>
          <p:cNvSpPr txBox="1"/>
          <p:nvPr/>
        </p:nvSpPr>
        <p:spPr>
          <a:xfrm>
            <a:off x="6565392" y="3240203"/>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SUBARU LV</a:t>
            </a:r>
            <a:endParaRPr lang="en-US" sz="1200" dirty="0"/>
          </a:p>
        </p:txBody>
      </p:sp>
      <p:sp>
        <p:nvSpPr>
          <p:cNvPr id="133" name="Shape 131"/>
          <p:cNvSpPr/>
          <p:nvPr/>
        </p:nvSpPr>
        <p:spPr>
          <a:xfrm>
            <a:off x="9130284" y="3300618"/>
            <a:ext cx="12802" cy="102929"/>
          </a:xfrm>
          <a:prstGeom prst="rect">
            <a:avLst/>
          </a:prstGeom>
          <a:solidFill>
            <a:srgbClr val="12A566"/>
          </a:solidFill>
          <a:ln/>
        </p:spPr>
      </p:sp>
      <p:sp>
        <p:nvSpPr>
          <p:cNvPr id="134" name="Text 132"/>
          <p:cNvSpPr txBox="1"/>
          <p:nvPr/>
        </p:nvSpPr>
        <p:spPr>
          <a:xfrm>
            <a:off x="9756648" y="3240203"/>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+$6K</a:t>
            </a:r>
            <a:endParaRPr lang="en-US" sz="1200" dirty="0"/>
          </a:p>
        </p:txBody>
      </p:sp>
      <p:sp>
        <p:nvSpPr>
          <p:cNvPr id="135" name="Text 133"/>
          <p:cNvSpPr txBox="1"/>
          <p:nvPr/>
        </p:nvSpPr>
        <p:spPr>
          <a:xfrm>
            <a:off x="10533888" y="3240203"/>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36" name="Text 134"/>
          <p:cNvSpPr txBox="1"/>
          <p:nvPr/>
        </p:nvSpPr>
        <p:spPr>
          <a:xfrm>
            <a:off x="6208776" y="3463962"/>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24</a:t>
            </a:r>
            <a:endParaRPr lang="en-US" sz="1200" dirty="0"/>
          </a:p>
        </p:txBody>
      </p:sp>
      <p:sp>
        <p:nvSpPr>
          <p:cNvPr id="137" name="Text 135"/>
          <p:cNvSpPr txBox="1"/>
          <p:nvPr/>
        </p:nvSpPr>
        <p:spPr>
          <a:xfrm>
            <a:off x="6565392" y="3463962"/>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SPOKANE</a:t>
            </a:r>
            <a:endParaRPr lang="en-US" sz="1200" dirty="0"/>
          </a:p>
        </p:txBody>
      </p:sp>
      <p:sp>
        <p:nvSpPr>
          <p:cNvPr id="138" name="Shape 136"/>
          <p:cNvSpPr/>
          <p:nvPr/>
        </p:nvSpPr>
        <p:spPr>
          <a:xfrm>
            <a:off x="9130284" y="3524377"/>
            <a:ext cx="12802" cy="102929"/>
          </a:xfrm>
          <a:prstGeom prst="rect">
            <a:avLst/>
          </a:prstGeom>
          <a:solidFill>
            <a:srgbClr val="12A566"/>
          </a:solidFill>
          <a:ln/>
        </p:spPr>
      </p:sp>
      <p:sp>
        <p:nvSpPr>
          <p:cNvPr id="139" name="Text 137"/>
          <p:cNvSpPr txBox="1"/>
          <p:nvPr/>
        </p:nvSpPr>
        <p:spPr>
          <a:xfrm>
            <a:off x="9756648" y="3463962"/>
            <a:ext cx="777240" cy="223759"/>
          </a:xfrm>
          <a:prstGeom prst="rect">
            <a:avLst/>
          </a:prstGeom>
          <a:noFill/>
          <a:ln/>
        </p:spPr>
        <p:txBody>
          <a:bodyPr wrap="square" lIns="0" tIns="0" rIns="0" bIns="0" rtlCol="0" anchor="ctr"/>
          <a:lstStyle/>
          <a:p>
            <a:pPr algn="r" indent="0" marL="0">
              <a:buNone/>
            </a:pPr>
            <a:r>
              <a:rPr lang="en-US" sz="1200" b="1" dirty="0">
                <a:solidFill>
                  <a:srgbClr val="0B7A4A"/>
                </a:solidFill>
                <a:latin typeface="Inter" pitchFamily="34" charset="0"/>
                <a:ea typeface="Inter" pitchFamily="34" charset="-122"/>
                <a:cs typeface="Inter" pitchFamily="34" charset="-120"/>
              </a:rPr>
              <a:t>+$3K</a:t>
            </a:r>
            <a:endParaRPr lang="en-US" sz="1200" dirty="0"/>
          </a:p>
        </p:txBody>
      </p:sp>
      <p:sp>
        <p:nvSpPr>
          <p:cNvPr id="140" name="Text 138"/>
          <p:cNvSpPr txBox="1"/>
          <p:nvPr/>
        </p:nvSpPr>
        <p:spPr>
          <a:xfrm>
            <a:off x="10533888" y="3463962"/>
            <a:ext cx="868680" cy="223759"/>
          </a:xfrm>
          <a:prstGeom prst="rect">
            <a:avLst/>
          </a:prstGeom>
          <a:noFill/>
          <a:ln/>
        </p:spPr>
        <p:txBody>
          <a:bodyPr wrap="square" lIns="0" tIns="0" rIns="0" bIns="0" rtlCol="0" anchor="ctr"/>
          <a:lstStyle/>
          <a:p>
            <a:pPr algn="r" indent="0" marL="0">
              <a:buNone/>
            </a:pPr>
            <a:r>
              <a:rPr lang="en-US" sz="1200" dirty="0">
                <a:solidFill>
                  <a:srgbClr val="0B7A4A"/>
                </a:solidFill>
                <a:latin typeface="Inter" pitchFamily="34" charset="0"/>
                <a:ea typeface="Inter" pitchFamily="34" charset="-122"/>
                <a:cs typeface="Inter" pitchFamily="34" charset="-120"/>
              </a:rPr>
              <a:t>+0.2%</a:t>
            </a:r>
            <a:endParaRPr lang="en-US" sz="1200" dirty="0"/>
          </a:p>
        </p:txBody>
      </p:sp>
      <p:sp>
        <p:nvSpPr>
          <p:cNvPr id="141" name="Text 139"/>
          <p:cNvSpPr txBox="1"/>
          <p:nvPr/>
        </p:nvSpPr>
        <p:spPr>
          <a:xfrm>
            <a:off x="6208776" y="3687721"/>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25</a:t>
            </a:r>
            <a:endParaRPr lang="en-US" sz="1200" dirty="0"/>
          </a:p>
        </p:txBody>
      </p:sp>
      <p:sp>
        <p:nvSpPr>
          <p:cNvPr id="142" name="Text 140"/>
          <p:cNvSpPr txBox="1"/>
          <p:nvPr/>
        </p:nvSpPr>
        <p:spPr>
          <a:xfrm>
            <a:off x="6565392" y="3687721"/>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HONDA NORTH</a:t>
            </a:r>
            <a:endParaRPr lang="en-US" sz="1200" dirty="0"/>
          </a:p>
        </p:txBody>
      </p:sp>
      <p:sp>
        <p:nvSpPr>
          <p:cNvPr id="143" name="Shape 141"/>
          <p:cNvSpPr/>
          <p:nvPr/>
        </p:nvSpPr>
        <p:spPr>
          <a:xfrm>
            <a:off x="9099640" y="3748136"/>
            <a:ext cx="30644" cy="102929"/>
          </a:xfrm>
          <a:prstGeom prst="rect">
            <a:avLst/>
          </a:prstGeom>
          <a:solidFill>
            <a:srgbClr val="C2352F"/>
          </a:solidFill>
          <a:ln/>
        </p:spPr>
      </p:sp>
      <p:sp>
        <p:nvSpPr>
          <p:cNvPr id="144" name="Text 142"/>
          <p:cNvSpPr txBox="1"/>
          <p:nvPr/>
        </p:nvSpPr>
        <p:spPr>
          <a:xfrm>
            <a:off x="9756648" y="3687721"/>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−$76K</a:t>
            </a:r>
            <a:endParaRPr lang="en-US" sz="1200" dirty="0"/>
          </a:p>
        </p:txBody>
      </p:sp>
      <p:sp>
        <p:nvSpPr>
          <p:cNvPr id="145" name="Text 143"/>
          <p:cNvSpPr txBox="1"/>
          <p:nvPr/>
        </p:nvSpPr>
        <p:spPr>
          <a:xfrm>
            <a:off x="10533888" y="3687721"/>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a:t>
            </a:r>
            <a:endParaRPr lang="en-US" sz="1200" dirty="0"/>
          </a:p>
        </p:txBody>
      </p:sp>
      <p:sp>
        <p:nvSpPr>
          <p:cNvPr id="146" name="Text 144"/>
          <p:cNvSpPr txBox="1"/>
          <p:nvPr/>
        </p:nvSpPr>
        <p:spPr>
          <a:xfrm>
            <a:off x="6208776" y="391148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26</a:t>
            </a:r>
            <a:endParaRPr lang="en-US" sz="1200" dirty="0"/>
          </a:p>
        </p:txBody>
      </p:sp>
      <p:sp>
        <p:nvSpPr>
          <p:cNvPr id="147" name="Text 145"/>
          <p:cNvSpPr txBox="1"/>
          <p:nvPr/>
        </p:nvSpPr>
        <p:spPr>
          <a:xfrm>
            <a:off x="6565392" y="391148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MAZDA</a:t>
            </a:r>
            <a:endParaRPr lang="en-US" sz="1200" dirty="0"/>
          </a:p>
        </p:txBody>
      </p:sp>
      <p:sp>
        <p:nvSpPr>
          <p:cNvPr id="148" name="Shape 146"/>
          <p:cNvSpPr/>
          <p:nvPr/>
        </p:nvSpPr>
        <p:spPr>
          <a:xfrm>
            <a:off x="9095358" y="3971895"/>
            <a:ext cx="34926" cy="102929"/>
          </a:xfrm>
          <a:prstGeom prst="rect">
            <a:avLst/>
          </a:prstGeom>
          <a:solidFill>
            <a:srgbClr val="C2352F"/>
          </a:solidFill>
          <a:ln/>
        </p:spPr>
      </p:sp>
      <p:sp>
        <p:nvSpPr>
          <p:cNvPr id="149" name="Text 147"/>
          <p:cNvSpPr txBox="1"/>
          <p:nvPr/>
        </p:nvSpPr>
        <p:spPr>
          <a:xfrm>
            <a:off x="9756648" y="391148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−$87K</a:t>
            </a:r>
            <a:endParaRPr lang="en-US" sz="1200" dirty="0"/>
          </a:p>
        </p:txBody>
      </p:sp>
      <p:sp>
        <p:nvSpPr>
          <p:cNvPr id="150" name="Text 148"/>
          <p:cNvSpPr txBox="1"/>
          <p:nvPr/>
        </p:nvSpPr>
        <p:spPr>
          <a:xfrm>
            <a:off x="10533888" y="391148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−8.1%</a:t>
            </a:r>
            <a:endParaRPr lang="en-US" sz="1200" dirty="0"/>
          </a:p>
        </p:txBody>
      </p:sp>
      <p:sp>
        <p:nvSpPr>
          <p:cNvPr id="151" name="Text 149"/>
          <p:cNvSpPr txBox="1"/>
          <p:nvPr/>
        </p:nvSpPr>
        <p:spPr>
          <a:xfrm>
            <a:off x="6208776" y="4135240"/>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27</a:t>
            </a:r>
            <a:endParaRPr lang="en-US" sz="1200" dirty="0"/>
          </a:p>
        </p:txBody>
      </p:sp>
      <p:sp>
        <p:nvSpPr>
          <p:cNvPr id="152" name="Text 150"/>
          <p:cNvSpPr txBox="1"/>
          <p:nvPr/>
        </p:nvSpPr>
        <p:spPr>
          <a:xfrm>
            <a:off x="6565392" y="4135240"/>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HYUNDAI ST GEORGE</a:t>
            </a:r>
            <a:endParaRPr lang="en-US" sz="1200" dirty="0"/>
          </a:p>
        </p:txBody>
      </p:sp>
      <p:sp>
        <p:nvSpPr>
          <p:cNvPr id="153" name="Shape 151"/>
          <p:cNvSpPr/>
          <p:nvPr/>
        </p:nvSpPr>
        <p:spPr>
          <a:xfrm>
            <a:off x="9091461" y="4195654"/>
            <a:ext cx="38823" cy="102929"/>
          </a:xfrm>
          <a:prstGeom prst="rect">
            <a:avLst/>
          </a:prstGeom>
          <a:solidFill>
            <a:srgbClr val="C2352F"/>
          </a:solidFill>
          <a:ln/>
        </p:spPr>
      </p:sp>
      <p:sp>
        <p:nvSpPr>
          <p:cNvPr id="154" name="Text 152"/>
          <p:cNvSpPr txBox="1"/>
          <p:nvPr/>
        </p:nvSpPr>
        <p:spPr>
          <a:xfrm>
            <a:off x="9756648" y="4135240"/>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−$96K</a:t>
            </a:r>
            <a:endParaRPr lang="en-US" sz="1200" dirty="0"/>
          </a:p>
        </p:txBody>
      </p:sp>
      <p:sp>
        <p:nvSpPr>
          <p:cNvPr id="155" name="Text 153"/>
          <p:cNvSpPr txBox="1"/>
          <p:nvPr/>
        </p:nvSpPr>
        <p:spPr>
          <a:xfrm>
            <a:off x="10533888" y="4135240"/>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−47.1%</a:t>
            </a:r>
            <a:endParaRPr lang="en-US" sz="1200" dirty="0"/>
          </a:p>
        </p:txBody>
      </p:sp>
      <p:sp>
        <p:nvSpPr>
          <p:cNvPr id="156" name="Shape 154"/>
          <p:cNvSpPr/>
          <p:nvPr/>
        </p:nvSpPr>
        <p:spPr>
          <a:xfrm>
            <a:off x="11457432" y="4180960"/>
            <a:ext cx="54864" cy="132319"/>
          </a:xfrm>
          <a:prstGeom prst="rect">
            <a:avLst/>
          </a:prstGeom>
          <a:solidFill>
            <a:srgbClr val="C2352F"/>
          </a:solidFill>
          <a:ln/>
        </p:spPr>
      </p:sp>
      <p:sp>
        <p:nvSpPr>
          <p:cNvPr id="157" name="Text 155"/>
          <p:cNvSpPr txBox="1"/>
          <p:nvPr/>
        </p:nvSpPr>
        <p:spPr>
          <a:xfrm>
            <a:off x="6208776" y="4358999"/>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28</a:t>
            </a:r>
            <a:endParaRPr lang="en-US" sz="1200" dirty="0"/>
          </a:p>
        </p:txBody>
      </p:sp>
      <p:sp>
        <p:nvSpPr>
          <p:cNvPr id="158" name="Text 156"/>
          <p:cNvSpPr txBox="1"/>
          <p:nvPr/>
        </p:nvSpPr>
        <p:spPr>
          <a:xfrm>
            <a:off x="6565392" y="4358999"/>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KIA ST GEORGE</a:t>
            </a:r>
            <a:endParaRPr lang="en-US" sz="1200" dirty="0"/>
          </a:p>
        </p:txBody>
      </p:sp>
      <p:sp>
        <p:nvSpPr>
          <p:cNvPr id="159" name="Shape 157"/>
          <p:cNvSpPr/>
          <p:nvPr/>
        </p:nvSpPr>
        <p:spPr>
          <a:xfrm>
            <a:off x="9071103" y="4419414"/>
            <a:ext cx="59181" cy="102929"/>
          </a:xfrm>
          <a:prstGeom prst="rect">
            <a:avLst/>
          </a:prstGeom>
          <a:solidFill>
            <a:srgbClr val="C2352F"/>
          </a:solidFill>
          <a:ln/>
        </p:spPr>
      </p:sp>
      <p:sp>
        <p:nvSpPr>
          <p:cNvPr id="160" name="Text 158"/>
          <p:cNvSpPr txBox="1"/>
          <p:nvPr/>
        </p:nvSpPr>
        <p:spPr>
          <a:xfrm>
            <a:off x="9756648" y="4358999"/>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−$147K</a:t>
            </a:r>
            <a:endParaRPr lang="en-US" sz="1200" dirty="0"/>
          </a:p>
        </p:txBody>
      </p:sp>
      <p:sp>
        <p:nvSpPr>
          <p:cNvPr id="161" name="Text 159"/>
          <p:cNvSpPr txBox="1"/>
          <p:nvPr/>
        </p:nvSpPr>
        <p:spPr>
          <a:xfrm>
            <a:off x="10533888" y="4358999"/>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−22.6%</a:t>
            </a:r>
            <a:endParaRPr lang="en-US" sz="1200" dirty="0"/>
          </a:p>
        </p:txBody>
      </p:sp>
      <p:sp>
        <p:nvSpPr>
          <p:cNvPr id="162" name="Text 160"/>
          <p:cNvSpPr txBox="1"/>
          <p:nvPr/>
        </p:nvSpPr>
        <p:spPr>
          <a:xfrm>
            <a:off x="6208776" y="4582758"/>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29</a:t>
            </a:r>
            <a:endParaRPr lang="en-US" sz="1200" dirty="0"/>
          </a:p>
        </p:txBody>
      </p:sp>
      <p:sp>
        <p:nvSpPr>
          <p:cNvPr id="163" name="Text 161"/>
          <p:cNvSpPr txBox="1"/>
          <p:nvPr/>
        </p:nvSpPr>
        <p:spPr>
          <a:xfrm>
            <a:off x="6565392" y="4582758"/>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AUDI RENO</a:t>
            </a:r>
            <a:endParaRPr lang="en-US" sz="1200" dirty="0"/>
          </a:p>
        </p:txBody>
      </p:sp>
      <p:sp>
        <p:nvSpPr>
          <p:cNvPr id="164" name="Shape 162"/>
          <p:cNvSpPr/>
          <p:nvPr/>
        </p:nvSpPr>
        <p:spPr>
          <a:xfrm>
            <a:off x="9058567" y="4643173"/>
            <a:ext cx="71717" cy="102929"/>
          </a:xfrm>
          <a:prstGeom prst="rect">
            <a:avLst/>
          </a:prstGeom>
          <a:solidFill>
            <a:srgbClr val="C2352F"/>
          </a:solidFill>
          <a:ln/>
        </p:spPr>
      </p:sp>
      <p:sp>
        <p:nvSpPr>
          <p:cNvPr id="165" name="Text 163"/>
          <p:cNvSpPr txBox="1"/>
          <p:nvPr/>
        </p:nvSpPr>
        <p:spPr>
          <a:xfrm>
            <a:off x="9756648" y="4582758"/>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−$178K</a:t>
            </a:r>
            <a:endParaRPr lang="en-US" sz="1200" dirty="0"/>
          </a:p>
        </p:txBody>
      </p:sp>
      <p:sp>
        <p:nvSpPr>
          <p:cNvPr id="166" name="Text 164"/>
          <p:cNvSpPr txBox="1"/>
          <p:nvPr/>
        </p:nvSpPr>
        <p:spPr>
          <a:xfrm>
            <a:off x="10533888" y="4582758"/>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−8.9%</a:t>
            </a:r>
            <a:endParaRPr lang="en-US" sz="1200" dirty="0"/>
          </a:p>
        </p:txBody>
      </p:sp>
      <p:sp>
        <p:nvSpPr>
          <p:cNvPr id="167" name="Shape 165"/>
          <p:cNvSpPr/>
          <p:nvPr/>
        </p:nvSpPr>
        <p:spPr>
          <a:xfrm>
            <a:off x="6163056" y="4815661"/>
            <a:ext cx="5138928" cy="205471"/>
          </a:xfrm>
          <a:prstGeom prst="rect">
            <a:avLst/>
          </a:prstGeom>
          <a:solidFill>
            <a:srgbClr val="FBEBEA"/>
          </a:solidFill>
          <a:ln/>
        </p:spPr>
      </p:sp>
      <p:sp>
        <p:nvSpPr>
          <p:cNvPr id="168" name="Text 166"/>
          <p:cNvSpPr txBox="1"/>
          <p:nvPr/>
        </p:nvSpPr>
        <p:spPr>
          <a:xfrm>
            <a:off x="6208776" y="4806517"/>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30</a:t>
            </a:r>
            <a:endParaRPr lang="en-US" sz="1200" dirty="0"/>
          </a:p>
        </p:txBody>
      </p:sp>
      <p:sp>
        <p:nvSpPr>
          <p:cNvPr id="169" name="Text 167"/>
          <p:cNvSpPr txBox="1"/>
          <p:nvPr/>
        </p:nvSpPr>
        <p:spPr>
          <a:xfrm>
            <a:off x="6565392" y="4806517"/>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ST GEORGE</a:t>
            </a:r>
            <a:endParaRPr lang="en-US" sz="1200" dirty="0"/>
          </a:p>
        </p:txBody>
      </p:sp>
      <p:sp>
        <p:nvSpPr>
          <p:cNvPr id="170" name="Shape 168"/>
          <p:cNvSpPr/>
          <p:nvPr/>
        </p:nvSpPr>
        <p:spPr>
          <a:xfrm>
            <a:off x="9044670" y="4866932"/>
            <a:ext cx="85614" cy="102929"/>
          </a:xfrm>
          <a:prstGeom prst="rect">
            <a:avLst/>
          </a:prstGeom>
          <a:solidFill>
            <a:srgbClr val="C2352F"/>
          </a:solidFill>
          <a:ln/>
        </p:spPr>
      </p:sp>
      <p:sp>
        <p:nvSpPr>
          <p:cNvPr id="171" name="Text 169"/>
          <p:cNvSpPr txBox="1"/>
          <p:nvPr/>
        </p:nvSpPr>
        <p:spPr>
          <a:xfrm>
            <a:off x="9756648" y="4806517"/>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−$212K</a:t>
            </a:r>
            <a:endParaRPr lang="en-US" sz="1200" dirty="0"/>
          </a:p>
        </p:txBody>
      </p:sp>
      <p:sp>
        <p:nvSpPr>
          <p:cNvPr id="172" name="Text 170"/>
          <p:cNvSpPr txBox="1"/>
          <p:nvPr/>
        </p:nvSpPr>
        <p:spPr>
          <a:xfrm>
            <a:off x="10533888" y="4806517"/>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−138.2%</a:t>
            </a:r>
            <a:endParaRPr lang="en-US" sz="1200" dirty="0"/>
          </a:p>
        </p:txBody>
      </p:sp>
      <p:sp>
        <p:nvSpPr>
          <p:cNvPr id="173" name="Shape 171"/>
          <p:cNvSpPr/>
          <p:nvPr/>
        </p:nvSpPr>
        <p:spPr>
          <a:xfrm>
            <a:off x="11457432" y="4852237"/>
            <a:ext cx="54864" cy="132319"/>
          </a:xfrm>
          <a:prstGeom prst="rect">
            <a:avLst/>
          </a:prstGeom>
          <a:solidFill>
            <a:srgbClr val="C2352F"/>
          </a:solidFill>
          <a:ln/>
        </p:spPr>
      </p:sp>
      <p:sp>
        <p:nvSpPr>
          <p:cNvPr id="174" name="Text 172"/>
          <p:cNvSpPr txBox="1"/>
          <p:nvPr/>
        </p:nvSpPr>
        <p:spPr>
          <a:xfrm>
            <a:off x="6208776" y="5030276"/>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31</a:t>
            </a:r>
            <a:endParaRPr lang="en-US" sz="1200" dirty="0"/>
          </a:p>
        </p:txBody>
      </p:sp>
      <p:sp>
        <p:nvSpPr>
          <p:cNvPr id="175" name="Text 173"/>
          <p:cNvSpPr txBox="1"/>
          <p:nvPr/>
        </p:nvSpPr>
        <p:spPr>
          <a:xfrm>
            <a:off x="6565392" y="5030276"/>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TOYOTA SPOKANE</a:t>
            </a:r>
            <a:endParaRPr lang="en-US" sz="1200" dirty="0"/>
          </a:p>
        </p:txBody>
      </p:sp>
      <p:sp>
        <p:nvSpPr>
          <p:cNvPr id="176" name="Shape 174"/>
          <p:cNvSpPr/>
          <p:nvPr/>
        </p:nvSpPr>
        <p:spPr>
          <a:xfrm>
            <a:off x="9022168" y="5090691"/>
            <a:ext cx="108116" cy="102929"/>
          </a:xfrm>
          <a:prstGeom prst="rect">
            <a:avLst/>
          </a:prstGeom>
          <a:solidFill>
            <a:srgbClr val="C2352F"/>
          </a:solidFill>
          <a:ln/>
        </p:spPr>
      </p:sp>
      <p:sp>
        <p:nvSpPr>
          <p:cNvPr id="177" name="Text 175"/>
          <p:cNvSpPr txBox="1"/>
          <p:nvPr/>
        </p:nvSpPr>
        <p:spPr>
          <a:xfrm>
            <a:off x="9756648" y="5030276"/>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−$268K</a:t>
            </a:r>
            <a:endParaRPr lang="en-US" sz="1200" dirty="0"/>
          </a:p>
        </p:txBody>
      </p:sp>
      <p:sp>
        <p:nvSpPr>
          <p:cNvPr id="178" name="Text 176"/>
          <p:cNvSpPr txBox="1"/>
          <p:nvPr/>
        </p:nvSpPr>
        <p:spPr>
          <a:xfrm>
            <a:off x="10533888" y="5030276"/>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−27.7%</a:t>
            </a:r>
            <a:endParaRPr lang="en-US" sz="1200" dirty="0"/>
          </a:p>
        </p:txBody>
      </p:sp>
      <p:sp>
        <p:nvSpPr>
          <p:cNvPr id="179" name="Text 177"/>
          <p:cNvSpPr txBox="1"/>
          <p:nvPr/>
        </p:nvSpPr>
        <p:spPr>
          <a:xfrm>
            <a:off x="6208776" y="5254035"/>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32</a:t>
            </a:r>
            <a:endParaRPr lang="en-US" sz="1200" dirty="0"/>
          </a:p>
        </p:txBody>
      </p:sp>
      <p:sp>
        <p:nvSpPr>
          <p:cNvPr id="180" name="Text 178"/>
          <p:cNvSpPr txBox="1"/>
          <p:nvPr/>
        </p:nvSpPr>
        <p:spPr>
          <a:xfrm>
            <a:off x="6565392" y="5254035"/>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VW HENDERSON</a:t>
            </a:r>
            <a:endParaRPr lang="en-US" sz="1200" dirty="0"/>
          </a:p>
        </p:txBody>
      </p:sp>
      <p:sp>
        <p:nvSpPr>
          <p:cNvPr id="181" name="Shape 179"/>
          <p:cNvSpPr/>
          <p:nvPr/>
        </p:nvSpPr>
        <p:spPr>
          <a:xfrm>
            <a:off x="8945616" y="5314450"/>
            <a:ext cx="184668" cy="102929"/>
          </a:xfrm>
          <a:prstGeom prst="rect">
            <a:avLst/>
          </a:prstGeom>
          <a:solidFill>
            <a:srgbClr val="C2352F"/>
          </a:solidFill>
          <a:ln/>
        </p:spPr>
      </p:sp>
      <p:sp>
        <p:nvSpPr>
          <p:cNvPr id="182" name="Text 180"/>
          <p:cNvSpPr txBox="1"/>
          <p:nvPr/>
        </p:nvSpPr>
        <p:spPr>
          <a:xfrm>
            <a:off x="9756648" y="5254035"/>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−$457K</a:t>
            </a:r>
            <a:endParaRPr lang="en-US" sz="1200" dirty="0"/>
          </a:p>
        </p:txBody>
      </p:sp>
      <p:sp>
        <p:nvSpPr>
          <p:cNvPr id="183" name="Text 181"/>
          <p:cNvSpPr txBox="1"/>
          <p:nvPr/>
        </p:nvSpPr>
        <p:spPr>
          <a:xfrm>
            <a:off x="10533888" y="5254035"/>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−29.6%</a:t>
            </a:r>
            <a:endParaRPr lang="en-US" sz="1200" dirty="0"/>
          </a:p>
        </p:txBody>
      </p:sp>
      <p:sp>
        <p:nvSpPr>
          <p:cNvPr id="184" name="Shape 182"/>
          <p:cNvSpPr/>
          <p:nvPr/>
        </p:nvSpPr>
        <p:spPr>
          <a:xfrm>
            <a:off x="11457432" y="5299755"/>
            <a:ext cx="54864" cy="132319"/>
          </a:xfrm>
          <a:prstGeom prst="rect">
            <a:avLst/>
          </a:prstGeom>
          <a:solidFill>
            <a:srgbClr val="C2352F"/>
          </a:solidFill>
          <a:ln/>
        </p:spPr>
      </p:sp>
      <p:sp>
        <p:nvSpPr>
          <p:cNvPr id="185" name="Text 183"/>
          <p:cNvSpPr txBox="1"/>
          <p:nvPr/>
        </p:nvSpPr>
        <p:spPr>
          <a:xfrm>
            <a:off x="6208776" y="5477794"/>
            <a:ext cx="310896" cy="223759"/>
          </a:xfrm>
          <a:prstGeom prst="rect">
            <a:avLst/>
          </a:prstGeom>
          <a:noFill/>
          <a:ln/>
        </p:spPr>
        <p:txBody>
          <a:bodyPr wrap="square" lIns="0" tIns="0" rIns="0" bIns="0" rtlCol="0" anchor="ctr"/>
          <a:lstStyle/>
          <a:p>
            <a:pPr algn="r" indent="0" marL="0">
              <a:buNone/>
            </a:pPr>
            <a:r>
              <a:rPr lang="en-US" sz="1200" dirty="0">
                <a:solidFill>
                  <a:srgbClr val="9AA3AD"/>
                </a:solidFill>
                <a:latin typeface="Inter" pitchFamily="34" charset="0"/>
                <a:ea typeface="Inter" pitchFamily="34" charset="-122"/>
                <a:cs typeface="Inter" pitchFamily="34" charset="-120"/>
              </a:rPr>
              <a:t>33</a:t>
            </a:r>
            <a:endParaRPr lang="en-US" sz="1200" dirty="0"/>
          </a:p>
        </p:txBody>
      </p:sp>
      <p:sp>
        <p:nvSpPr>
          <p:cNvPr id="186" name="Text 184"/>
          <p:cNvSpPr txBox="1"/>
          <p:nvPr/>
        </p:nvSpPr>
        <p:spPr>
          <a:xfrm>
            <a:off x="6565392" y="5477794"/>
            <a:ext cx="1920240" cy="223759"/>
          </a:xfrm>
          <a:prstGeom prst="rect">
            <a:avLst/>
          </a:prstGeom>
          <a:noFill/>
          <a:ln/>
        </p:spPr>
        <p:txBody>
          <a:bodyPr wrap="square" lIns="0" tIns="0" rIns="0" bIns="0" rtlCol="0" anchor="ctr"/>
          <a:lstStyle/>
          <a:p>
            <a:pPr indent="0" marL="0">
              <a:buNone/>
            </a:pPr>
            <a:r>
              <a:rPr lang="en-US" sz="1200" dirty="0">
                <a:solidFill>
                  <a:srgbClr val="1A1A1A"/>
                </a:solidFill>
                <a:latin typeface="Inter" pitchFamily="34" charset="0"/>
                <a:ea typeface="Inter" pitchFamily="34" charset="-122"/>
                <a:cs typeface="Inter" pitchFamily="34" charset="-120"/>
              </a:rPr>
              <a:t>CHEVY LV</a:t>
            </a:r>
            <a:endParaRPr lang="en-US" sz="1200" dirty="0"/>
          </a:p>
        </p:txBody>
      </p:sp>
      <p:sp>
        <p:nvSpPr>
          <p:cNvPr id="187" name="Shape 185"/>
          <p:cNvSpPr/>
          <p:nvPr/>
        </p:nvSpPr>
        <p:spPr>
          <a:xfrm>
            <a:off x="8870602" y="5538209"/>
            <a:ext cx="259682" cy="102929"/>
          </a:xfrm>
          <a:prstGeom prst="rect">
            <a:avLst/>
          </a:prstGeom>
          <a:solidFill>
            <a:srgbClr val="C2352F"/>
          </a:solidFill>
          <a:ln/>
        </p:spPr>
      </p:sp>
      <p:sp>
        <p:nvSpPr>
          <p:cNvPr id="188" name="Text 186"/>
          <p:cNvSpPr txBox="1"/>
          <p:nvPr/>
        </p:nvSpPr>
        <p:spPr>
          <a:xfrm>
            <a:off x="9756648" y="5477794"/>
            <a:ext cx="777240" cy="223759"/>
          </a:xfrm>
          <a:prstGeom prst="rect">
            <a:avLst/>
          </a:prstGeom>
          <a:noFill/>
          <a:ln/>
        </p:spPr>
        <p:txBody>
          <a:bodyPr wrap="square" lIns="0" tIns="0" rIns="0" bIns="0" rtlCol="0" anchor="ctr"/>
          <a:lstStyle/>
          <a:p>
            <a:pPr algn="r" indent="0" marL="0">
              <a:buNone/>
            </a:pPr>
            <a:r>
              <a:rPr lang="en-US" sz="1200" b="1" dirty="0">
                <a:solidFill>
                  <a:srgbClr val="A82B26"/>
                </a:solidFill>
                <a:latin typeface="Inter" pitchFamily="34" charset="0"/>
                <a:ea typeface="Inter" pitchFamily="34" charset="-122"/>
                <a:cs typeface="Inter" pitchFamily="34" charset="-120"/>
              </a:rPr>
              <a:t>−$643K</a:t>
            </a:r>
            <a:endParaRPr lang="en-US" sz="1200" dirty="0"/>
          </a:p>
        </p:txBody>
      </p:sp>
      <p:sp>
        <p:nvSpPr>
          <p:cNvPr id="189" name="Text 187"/>
          <p:cNvSpPr txBox="1"/>
          <p:nvPr/>
        </p:nvSpPr>
        <p:spPr>
          <a:xfrm>
            <a:off x="10533888" y="5477794"/>
            <a:ext cx="868680" cy="223759"/>
          </a:xfrm>
          <a:prstGeom prst="rect">
            <a:avLst/>
          </a:prstGeom>
          <a:noFill/>
          <a:ln/>
        </p:spPr>
        <p:txBody>
          <a:bodyPr wrap="square" lIns="0" tIns="0" rIns="0" bIns="0" rtlCol="0" anchor="ctr"/>
          <a:lstStyle/>
          <a:p>
            <a:pPr algn="r" indent="0" marL="0">
              <a:buNone/>
            </a:pPr>
            <a:r>
              <a:rPr lang="en-US" sz="1200" dirty="0">
                <a:solidFill>
                  <a:srgbClr val="A82B26"/>
                </a:solidFill>
                <a:latin typeface="Inter" pitchFamily="34" charset="0"/>
                <a:ea typeface="Inter" pitchFamily="34" charset="-122"/>
                <a:cs typeface="Inter" pitchFamily="34" charset="-120"/>
              </a:rPr>
              <a:t>−22.1%</a:t>
            </a:r>
            <a:endParaRPr lang="en-US" sz="1200" dirty="0"/>
          </a:p>
        </p:txBody>
      </p:sp>
      <p:sp>
        <p:nvSpPr>
          <p:cNvPr id="190" name="Shape 188"/>
          <p:cNvSpPr/>
          <p:nvPr/>
        </p:nvSpPr>
        <p:spPr>
          <a:xfrm>
            <a:off x="3574390" y="2121408"/>
            <a:ext cx="10973" cy="3803904"/>
          </a:xfrm>
          <a:prstGeom prst="rect">
            <a:avLst/>
          </a:prstGeom>
          <a:solidFill>
            <a:srgbClr val="9AA3AD"/>
          </a:solidFill>
          <a:ln/>
        </p:spPr>
      </p:sp>
      <p:sp>
        <p:nvSpPr>
          <p:cNvPr id="191" name="Shape 189"/>
          <p:cNvSpPr/>
          <p:nvPr/>
        </p:nvSpPr>
        <p:spPr>
          <a:xfrm>
            <a:off x="9124798" y="2121408"/>
            <a:ext cx="10973" cy="3803904"/>
          </a:xfrm>
          <a:prstGeom prst="rect">
            <a:avLst/>
          </a:prstGeom>
          <a:solidFill>
            <a:srgbClr val="9AA3AD"/>
          </a:solidFill>
          <a:ln/>
        </p:spPr>
      </p:sp>
      <p:sp>
        <p:nvSpPr>
          <p:cNvPr id="192" name="Shape 190"/>
          <p:cNvSpPr/>
          <p:nvPr/>
        </p:nvSpPr>
        <p:spPr>
          <a:xfrm>
            <a:off x="6085332" y="2121408"/>
            <a:ext cx="10973" cy="3803904"/>
          </a:xfrm>
          <a:prstGeom prst="rect">
            <a:avLst/>
          </a:prstGeom>
          <a:solidFill>
            <a:srgbClr val="D9D9D9"/>
          </a:solidFill>
          <a:ln/>
        </p:spPr>
      </p:sp>
      <p:sp>
        <p:nvSpPr>
          <p:cNvPr id="194" name="Shape 191"/>
          <p:cNvSpPr/>
          <p:nvPr/>
        </p:nvSpPr>
        <p:spPr>
          <a:xfrm>
            <a:off x="457200" y="6126480"/>
            <a:ext cx="11274552" cy="371856"/>
          </a:xfrm>
          <a:prstGeom prst="rect">
            <a:avLst/>
          </a:prstGeom>
          <a:solidFill>
            <a:srgbClr val="EDF4FA"/>
          </a:solidFill>
          <a:ln/>
        </p:spPr>
      </p:sp>
      <p:sp>
        <p:nvSpPr>
          <p:cNvPr id="195" name="Text 192"/>
          <p:cNvSpPr txBox="1"/>
          <p:nvPr/>
        </p:nvSpPr>
        <p:spPr>
          <a:xfrm>
            <a:off x="658368" y="6144768"/>
            <a:ext cx="10927080" cy="335280"/>
          </a:xfrm>
          <a:prstGeom prst="rect">
            <a:avLst/>
          </a:prstGeom>
          <a:noFill/>
          <a:ln/>
        </p:spPr>
        <p:txBody>
          <a:bodyPr wrap="square" lIns="0" tIns="0" rIns="0" bIns="0" rtlCol="0" anchor="ctr"/>
          <a:lstStyle/>
          <a:p>
            <a:pPr indent="0" marL="0">
              <a:buNone/>
            </a:pPr>
            <a:r>
              <a:rPr lang="en-US" sz="1600" b="1" dirty="0">
                <a:solidFill>
                  <a:srgbClr val="0B2C4A"/>
                </a:solidFill>
                <a:latin typeface="Inter" pitchFamily="34" charset="0"/>
                <a:ea typeface="Inter" pitchFamily="34" charset="-122"/>
                <a:cs typeface="Inter" pitchFamily="34" charset="-120"/>
              </a:rPr>
              <a:t>24 of 33 stores grew fixed ops net profit, January through September year to date.</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DEDED"/>
        </a:solidFill>
      </p:bgPr>
    </p:bg>
    <p:spTree>
      <p:nvGrpSpPr>
        <p:cNvPr id="1" name=""/>
        <p:cNvGrpSpPr/>
        <p:nvPr/>
      </p:nvGrpSpPr>
      <p:grpSpPr>
        <a:xfrm>
          <a:off x="0" y="0"/>
          <a:ext cx="0" cy="0"/>
          <a:chOff x="0" y="0"/>
          <a:chExt cx="0" cy="0"/>
        </a:xfrm>
      </p:grpSpPr>
      <p:sp>
        <p:nvSpPr>
          <p:cNvPr id="2" name="Shape 0"/>
          <p:cNvSpPr/>
          <p:nvPr/>
        </p:nvSpPr>
        <p:spPr>
          <a:xfrm>
            <a:off x="457200" y="402336"/>
            <a:ext cx="50292" cy="192024"/>
          </a:xfrm>
          <a:prstGeom prst="rect">
            <a:avLst/>
          </a:prstGeom>
          <a:solidFill>
            <a:srgbClr val="2587C5"/>
          </a:solidFill>
          <a:ln/>
        </p:spPr>
      </p:sp>
      <p:sp>
        <p:nvSpPr>
          <p:cNvPr id="3" name="Text 1"/>
          <p:cNvSpPr txBox="1"/>
          <p:nvPr/>
        </p:nvSpPr>
        <p:spPr>
          <a:xfrm>
            <a:off x="621792" y="338328"/>
            <a:ext cx="8229600" cy="274320"/>
          </a:xfrm>
          <a:prstGeom prst="rect">
            <a:avLst/>
          </a:prstGeom>
          <a:noFill/>
          <a:ln/>
        </p:spPr>
        <p:txBody>
          <a:bodyPr wrap="square" lIns="0" tIns="0" rIns="0" bIns="0" rtlCol="0" anchor="ctr"/>
          <a:lstStyle/>
          <a:p>
            <a:pPr indent="0" marL="0">
              <a:buNone/>
            </a:pPr>
            <a:r>
              <a:rPr lang="en-US" sz="1400" b="1" spc="110" kern="0" dirty="0">
                <a:solidFill>
                  <a:srgbClr val="595959"/>
                </a:solidFill>
                <a:latin typeface="Inter" pitchFamily="34" charset="0"/>
                <a:ea typeface="Inter" pitchFamily="34" charset="-122"/>
                <a:cs typeface="Inter" pitchFamily="34" charset="-120"/>
              </a:rPr>
              <a:t>FIXED OPS NET PROFIT</a:t>
            </a:r>
            <a:endParaRPr lang="en-US" sz="1400" dirty="0"/>
          </a:p>
        </p:txBody>
      </p:sp>
      <p:sp>
        <p:nvSpPr>
          <p:cNvPr id="4" name="Text 2"/>
          <p:cNvSpPr txBox="1"/>
          <p:nvPr/>
        </p:nvSpPr>
        <p:spPr>
          <a:xfrm>
            <a:off x="457200" y="640080"/>
            <a:ext cx="11338560" cy="502920"/>
          </a:xfrm>
          <a:prstGeom prst="rect">
            <a:avLst/>
          </a:prstGeom>
          <a:noFill/>
          <a:ln/>
        </p:spPr>
        <p:txBody>
          <a:bodyPr wrap="square" lIns="0" tIns="0" rIns="0" bIns="0" rtlCol="0" anchor="ctr"/>
          <a:lstStyle/>
          <a:p>
            <a:pPr indent="0" marL="0">
              <a:buNone/>
            </a:pPr>
            <a:r>
              <a:rPr lang="en-US" sz="2800" dirty="0">
                <a:solidFill>
                  <a:srgbClr val="1A1A1A"/>
                </a:solidFill>
                <a:latin typeface="Inter" pitchFamily="34" charset="0"/>
                <a:ea typeface="Inter" pitchFamily="34" charset="-122"/>
                <a:cs typeface="Inter" pitchFamily="34" charset="-120"/>
              </a:rPr>
              <a:t>Fixed Ops Net Profit</a:t>
            </a:r>
            <a:endParaRPr lang="en-US" sz="2800" dirty="0"/>
          </a:p>
        </p:txBody>
      </p:sp>
      <p:sp>
        <p:nvSpPr>
          <p:cNvPr id="5" name="Shape 3"/>
          <p:cNvSpPr/>
          <p:nvPr/>
        </p:nvSpPr>
        <p:spPr>
          <a:xfrm>
            <a:off x="457200" y="1207008"/>
            <a:ext cx="11274552" cy="5148072"/>
          </a:xfrm>
          <a:prstGeom prst="rect">
            <a:avLst/>
          </a:prstGeom>
          <a:solidFill>
            <a:srgbClr val="FFFFFF"/>
          </a:solidFill>
          <a:ln/>
        </p:spPr>
      </p:sp>
      <p:sp>
        <p:nvSpPr>
          <p:cNvPr id="6" name="Shape 4"/>
          <p:cNvSpPr/>
          <p:nvPr/>
        </p:nvSpPr>
        <p:spPr>
          <a:xfrm>
            <a:off x="658368" y="1371600"/>
            <a:ext cx="3489960" cy="45720"/>
          </a:xfrm>
          <a:prstGeom prst="rect">
            <a:avLst/>
          </a:prstGeom>
          <a:solidFill>
            <a:srgbClr val="12A566"/>
          </a:solidFill>
          <a:ln/>
        </p:spPr>
      </p:sp>
      <p:sp>
        <p:nvSpPr>
          <p:cNvPr id="7" name="Text 5"/>
          <p:cNvSpPr txBox="1"/>
          <p:nvPr/>
        </p:nvSpPr>
        <p:spPr>
          <a:xfrm>
            <a:off x="749808"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7A4A"/>
                </a:solidFill>
                <a:latin typeface="Inter" pitchFamily="34" charset="0"/>
                <a:ea typeface="Inter" pitchFamily="34" charset="-122"/>
                <a:cs typeface="Inter" pitchFamily="34" charset="-120"/>
              </a:rPr>
              <a:t>TOP 5 VS LAST YEAR</a:t>
            </a:r>
            <a:endParaRPr lang="en-US" sz="1500" dirty="0"/>
          </a:p>
        </p:txBody>
      </p:sp>
      <p:sp>
        <p:nvSpPr>
          <p:cNvPr id="8" name="Text 6"/>
          <p:cNvSpPr txBox="1"/>
          <p:nvPr/>
        </p:nvSpPr>
        <p:spPr>
          <a:xfrm>
            <a:off x="749808"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9" name="Shape 7"/>
          <p:cNvSpPr/>
          <p:nvPr/>
        </p:nvSpPr>
        <p:spPr>
          <a:xfrm>
            <a:off x="658368" y="2103120"/>
            <a:ext cx="3489960" cy="828446"/>
          </a:xfrm>
          <a:prstGeom prst="rect">
            <a:avLst/>
          </a:prstGeom>
          <a:solidFill>
            <a:srgbClr val="F7F7F7"/>
          </a:solidFill>
          <a:ln/>
        </p:spPr>
      </p:sp>
      <p:sp>
        <p:nvSpPr>
          <p:cNvPr id="10" name="Shape 8"/>
          <p:cNvSpPr/>
          <p:nvPr/>
        </p:nvSpPr>
        <p:spPr>
          <a:xfrm>
            <a:off x="4084320" y="2139696"/>
            <a:ext cx="64008" cy="755294"/>
          </a:xfrm>
          <a:prstGeom prst="rect">
            <a:avLst/>
          </a:prstGeom>
          <a:solidFill>
            <a:srgbClr val="12A566"/>
          </a:solidFill>
          <a:ln/>
        </p:spPr>
      </p:sp>
      <p:sp>
        <p:nvSpPr>
          <p:cNvPr id="11" name="Text 9"/>
          <p:cNvSpPr txBox="1"/>
          <p:nvPr/>
        </p:nvSpPr>
        <p:spPr>
          <a:xfrm>
            <a:off x="749808"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12" name="Text 10"/>
          <p:cNvSpPr txBox="1"/>
          <p:nvPr/>
        </p:nvSpPr>
        <p:spPr>
          <a:xfrm>
            <a:off x="1097280"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$6.41M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$7.83M</a:t>
            </a:r>
            <a:endParaRPr lang="en-US" sz="1400" dirty="0"/>
          </a:p>
        </p:txBody>
      </p:sp>
      <p:sp>
        <p:nvSpPr>
          <p:cNvPr id="13" name="Text 11"/>
          <p:cNvSpPr txBox="1"/>
          <p:nvPr/>
        </p:nvSpPr>
        <p:spPr>
          <a:xfrm>
            <a:off x="2941320"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+$1.42M</a:t>
            </a:r>
            <a:endParaRPr lang="en-US" sz="1600" dirty="0"/>
          </a:p>
        </p:txBody>
      </p:sp>
      <p:sp>
        <p:nvSpPr>
          <p:cNvPr id="14" name="Text 12"/>
          <p:cNvSpPr txBox="1"/>
          <p:nvPr/>
        </p:nvSpPr>
        <p:spPr>
          <a:xfrm>
            <a:off x="749808"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15" name="Text 13"/>
          <p:cNvSpPr txBox="1"/>
          <p:nvPr/>
        </p:nvSpPr>
        <p:spPr>
          <a:xfrm>
            <a:off x="1097280"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$4.11M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$4.94M</a:t>
            </a:r>
            <a:endParaRPr lang="en-US" sz="1400" dirty="0"/>
          </a:p>
        </p:txBody>
      </p:sp>
      <p:sp>
        <p:nvSpPr>
          <p:cNvPr id="16" name="Text 14"/>
          <p:cNvSpPr txBox="1"/>
          <p:nvPr/>
        </p:nvSpPr>
        <p:spPr>
          <a:xfrm>
            <a:off x="2941320"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+$838K</a:t>
            </a:r>
            <a:endParaRPr lang="en-US" sz="1600" dirty="0"/>
          </a:p>
        </p:txBody>
      </p:sp>
      <p:sp>
        <p:nvSpPr>
          <p:cNvPr id="17" name="Shape 15"/>
          <p:cNvSpPr/>
          <p:nvPr/>
        </p:nvSpPr>
        <p:spPr>
          <a:xfrm>
            <a:off x="658368" y="3760013"/>
            <a:ext cx="3489960" cy="828446"/>
          </a:xfrm>
          <a:prstGeom prst="rect">
            <a:avLst/>
          </a:prstGeom>
          <a:solidFill>
            <a:srgbClr val="F7F7F7"/>
          </a:solidFill>
          <a:ln/>
        </p:spPr>
      </p:sp>
      <p:sp>
        <p:nvSpPr>
          <p:cNvPr id="18" name="Text 16"/>
          <p:cNvSpPr txBox="1"/>
          <p:nvPr/>
        </p:nvSpPr>
        <p:spPr>
          <a:xfrm>
            <a:off x="749808"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19" name="Text 17"/>
          <p:cNvSpPr txBox="1"/>
          <p:nvPr/>
        </p:nvSpPr>
        <p:spPr>
          <a:xfrm>
            <a:off x="1097280"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Cadillac</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$1.83M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$2.60M</a:t>
            </a:r>
            <a:endParaRPr lang="en-US" sz="1400" dirty="0"/>
          </a:p>
        </p:txBody>
      </p:sp>
      <p:sp>
        <p:nvSpPr>
          <p:cNvPr id="20" name="Text 18"/>
          <p:cNvSpPr txBox="1"/>
          <p:nvPr/>
        </p:nvSpPr>
        <p:spPr>
          <a:xfrm>
            <a:off x="2941320"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+$766K</a:t>
            </a:r>
            <a:endParaRPr lang="en-US" sz="1600" dirty="0"/>
          </a:p>
        </p:txBody>
      </p:sp>
      <p:sp>
        <p:nvSpPr>
          <p:cNvPr id="21" name="Shape 19"/>
          <p:cNvSpPr/>
          <p:nvPr/>
        </p:nvSpPr>
        <p:spPr>
          <a:xfrm>
            <a:off x="4084320" y="4625035"/>
            <a:ext cx="64008" cy="755294"/>
          </a:xfrm>
          <a:prstGeom prst="rect">
            <a:avLst/>
          </a:prstGeom>
          <a:solidFill>
            <a:srgbClr val="12A566"/>
          </a:solidFill>
          <a:ln/>
        </p:spPr>
      </p:sp>
      <p:sp>
        <p:nvSpPr>
          <p:cNvPr id="22" name="Text 20"/>
          <p:cNvSpPr txBox="1"/>
          <p:nvPr/>
        </p:nvSpPr>
        <p:spPr>
          <a:xfrm>
            <a:off x="749808"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23" name="Text 21"/>
          <p:cNvSpPr txBox="1"/>
          <p:nvPr/>
        </p:nvSpPr>
        <p:spPr>
          <a:xfrm>
            <a:off x="1097280"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$5.39M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$6.08M</a:t>
            </a:r>
            <a:endParaRPr lang="en-US" sz="1400" dirty="0"/>
          </a:p>
        </p:txBody>
      </p:sp>
      <p:sp>
        <p:nvSpPr>
          <p:cNvPr id="24" name="Text 22"/>
          <p:cNvSpPr txBox="1"/>
          <p:nvPr/>
        </p:nvSpPr>
        <p:spPr>
          <a:xfrm>
            <a:off x="2941320"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+$692K</a:t>
            </a:r>
            <a:endParaRPr lang="en-US" sz="1600" dirty="0"/>
          </a:p>
        </p:txBody>
      </p:sp>
      <p:sp>
        <p:nvSpPr>
          <p:cNvPr id="25" name="Shape 23"/>
          <p:cNvSpPr/>
          <p:nvPr/>
        </p:nvSpPr>
        <p:spPr>
          <a:xfrm>
            <a:off x="658368" y="5416906"/>
            <a:ext cx="3489960" cy="828446"/>
          </a:xfrm>
          <a:prstGeom prst="rect">
            <a:avLst/>
          </a:prstGeom>
          <a:solidFill>
            <a:srgbClr val="F7F7F7"/>
          </a:solidFill>
          <a:ln/>
        </p:spPr>
      </p:sp>
      <p:sp>
        <p:nvSpPr>
          <p:cNvPr id="26" name="Text 24"/>
          <p:cNvSpPr txBox="1"/>
          <p:nvPr/>
        </p:nvSpPr>
        <p:spPr>
          <a:xfrm>
            <a:off x="749808"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27" name="Text 25"/>
          <p:cNvSpPr txBox="1"/>
          <p:nvPr/>
        </p:nvSpPr>
        <p:spPr>
          <a:xfrm>
            <a:off x="1097280"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Lincoln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−$389K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$94K</a:t>
            </a:r>
            <a:endParaRPr lang="en-US" sz="1400" dirty="0"/>
          </a:p>
        </p:txBody>
      </p:sp>
      <p:sp>
        <p:nvSpPr>
          <p:cNvPr id="28" name="Text 26"/>
          <p:cNvSpPr txBox="1"/>
          <p:nvPr/>
        </p:nvSpPr>
        <p:spPr>
          <a:xfrm>
            <a:off x="2941320"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+$484K</a:t>
            </a:r>
            <a:endParaRPr lang="en-US" sz="1600" dirty="0"/>
          </a:p>
        </p:txBody>
      </p:sp>
      <p:sp>
        <p:nvSpPr>
          <p:cNvPr id="29" name="Shape 27"/>
          <p:cNvSpPr/>
          <p:nvPr/>
        </p:nvSpPr>
        <p:spPr>
          <a:xfrm>
            <a:off x="4349496" y="1371600"/>
            <a:ext cx="3489960" cy="45720"/>
          </a:xfrm>
          <a:prstGeom prst="rect">
            <a:avLst/>
          </a:prstGeom>
          <a:solidFill>
            <a:srgbClr val="C2352F"/>
          </a:solidFill>
          <a:ln/>
        </p:spPr>
      </p:sp>
      <p:sp>
        <p:nvSpPr>
          <p:cNvPr id="30" name="Text 28"/>
          <p:cNvSpPr txBox="1"/>
          <p:nvPr/>
        </p:nvSpPr>
        <p:spPr>
          <a:xfrm>
            <a:off x="4440936" y="1444752"/>
            <a:ext cx="3307080" cy="274320"/>
          </a:xfrm>
          <a:prstGeom prst="rect">
            <a:avLst/>
          </a:prstGeom>
          <a:noFill/>
          <a:ln/>
        </p:spPr>
        <p:txBody>
          <a:bodyPr wrap="square" lIns="0" tIns="0" rIns="0" bIns="0" rtlCol="0" anchor="ctr"/>
          <a:lstStyle/>
          <a:p>
            <a:pPr indent="0" marL="0">
              <a:buNone/>
            </a:pPr>
            <a:r>
              <a:rPr lang="en-US" sz="1500" b="1" spc="100" kern="0" dirty="0">
                <a:solidFill>
                  <a:srgbClr val="A82B26"/>
                </a:solidFill>
                <a:latin typeface="Inter" pitchFamily="34" charset="0"/>
                <a:ea typeface="Inter" pitchFamily="34" charset="-122"/>
                <a:cs typeface="Inter" pitchFamily="34" charset="-120"/>
              </a:rPr>
              <a:t>BOTTOM 5 VS LAST YEAR</a:t>
            </a:r>
            <a:endParaRPr lang="en-US" sz="1500" dirty="0"/>
          </a:p>
        </p:txBody>
      </p:sp>
      <p:sp>
        <p:nvSpPr>
          <p:cNvPr id="31" name="Text 29"/>
          <p:cNvSpPr txBox="1"/>
          <p:nvPr/>
        </p:nvSpPr>
        <p:spPr>
          <a:xfrm>
            <a:off x="4440936"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Jan–Sep, this year vs last</a:t>
            </a:r>
            <a:endParaRPr lang="en-US" sz="1200" dirty="0"/>
          </a:p>
        </p:txBody>
      </p:sp>
      <p:sp>
        <p:nvSpPr>
          <p:cNvPr id="32" name="Shape 30"/>
          <p:cNvSpPr/>
          <p:nvPr/>
        </p:nvSpPr>
        <p:spPr>
          <a:xfrm>
            <a:off x="4349496" y="2103120"/>
            <a:ext cx="3489960" cy="828446"/>
          </a:xfrm>
          <a:prstGeom prst="rect">
            <a:avLst/>
          </a:prstGeom>
          <a:solidFill>
            <a:srgbClr val="F7F7F7"/>
          </a:solidFill>
          <a:ln/>
        </p:spPr>
      </p:sp>
      <p:sp>
        <p:nvSpPr>
          <p:cNvPr id="33" name="Shape 31"/>
          <p:cNvSpPr/>
          <p:nvPr/>
        </p:nvSpPr>
        <p:spPr>
          <a:xfrm>
            <a:off x="7775448" y="2139696"/>
            <a:ext cx="64008" cy="755294"/>
          </a:xfrm>
          <a:prstGeom prst="rect">
            <a:avLst/>
          </a:prstGeom>
          <a:solidFill>
            <a:srgbClr val="2587C5"/>
          </a:solidFill>
          <a:ln/>
        </p:spPr>
      </p:sp>
      <p:sp>
        <p:nvSpPr>
          <p:cNvPr id="34" name="Text 32"/>
          <p:cNvSpPr txBox="1"/>
          <p:nvPr/>
        </p:nvSpPr>
        <p:spPr>
          <a:xfrm>
            <a:off x="4440936"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33</a:t>
            </a:r>
            <a:endParaRPr lang="en-US" sz="1500" dirty="0"/>
          </a:p>
        </p:txBody>
      </p:sp>
      <p:sp>
        <p:nvSpPr>
          <p:cNvPr id="35" name="Text 33"/>
          <p:cNvSpPr txBox="1"/>
          <p:nvPr/>
        </p:nvSpPr>
        <p:spPr>
          <a:xfrm>
            <a:off x="4788408"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$2.91M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$2.27M</a:t>
            </a:r>
            <a:endParaRPr lang="en-US" sz="1400" dirty="0"/>
          </a:p>
        </p:txBody>
      </p:sp>
      <p:sp>
        <p:nvSpPr>
          <p:cNvPr id="36" name="Text 34"/>
          <p:cNvSpPr txBox="1"/>
          <p:nvPr/>
        </p:nvSpPr>
        <p:spPr>
          <a:xfrm>
            <a:off x="6632448" y="2103120"/>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−$643K</a:t>
            </a:r>
            <a:endParaRPr lang="en-US" sz="1600" dirty="0"/>
          </a:p>
        </p:txBody>
      </p:sp>
      <p:sp>
        <p:nvSpPr>
          <p:cNvPr id="37" name="Text 35"/>
          <p:cNvSpPr txBox="1"/>
          <p:nvPr/>
        </p:nvSpPr>
        <p:spPr>
          <a:xfrm>
            <a:off x="4440936"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32</a:t>
            </a:r>
            <a:endParaRPr lang="en-US" sz="1500" dirty="0"/>
          </a:p>
        </p:txBody>
      </p:sp>
      <p:sp>
        <p:nvSpPr>
          <p:cNvPr id="38" name="Text 36"/>
          <p:cNvSpPr txBox="1"/>
          <p:nvPr/>
        </p:nvSpPr>
        <p:spPr>
          <a:xfrm>
            <a:off x="4788408"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$1.55M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$1.09M</a:t>
            </a:r>
            <a:endParaRPr lang="en-US" sz="1400" dirty="0"/>
          </a:p>
        </p:txBody>
      </p:sp>
      <p:sp>
        <p:nvSpPr>
          <p:cNvPr id="39" name="Text 37"/>
          <p:cNvSpPr txBox="1"/>
          <p:nvPr/>
        </p:nvSpPr>
        <p:spPr>
          <a:xfrm>
            <a:off x="6632448" y="293156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−$457K</a:t>
            </a:r>
            <a:endParaRPr lang="en-US" sz="1600" dirty="0"/>
          </a:p>
        </p:txBody>
      </p:sp>
      <p:sp>
        <p:nvSpPr>
          <p:cNvPr id="40" name="Shape 38"/>
          <p:cNvSpPr/>
          <p:nvPr/>
        </p:nvSpPr>
        <p:spPr>
          <a:xfrm>
            <a:off x="4349496" y="3760013"/>
            <a:ext cx="3489960" cy="828446"/>
          </a:xfrm>
          <a:prstGeom prst="rect">
            <a:avLst/>
          </a:prstGeom>
          <a:solidFill>
            <a:srgbClr val="F7F7F7"/>
          </a:solidFill>
          <a:ln/>
        </p:spPr>
      </p:sp>
      <p:sp>
        <p:nvSpPr>
          <p:cNvPr id="41" name="Text 39"/>
          <p:cNvSpPr txBox="1"/>
          <p:nvPr/>
        </p:nvSpPr>
        <p:spPr>
          <a:xfrm>
            <a:off x="4440936"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31</a:t>
            </a:r>
            <a:endParaRPr lang="en-US" sz="1500" dirty="0"/>
          </a:p>
        </p:txBody>
      </p:sp>
      <p:sp>
        <p:nvSpPr>
          <p:cNvPr id="42" name="Text 40"/>
          <p:cNvSpPr txBox="1"/>
          <p:nvPr/>
        </p:nvSpPr>
        <p:spPr>
          <a:xfrm>
            <a:off x="4788408"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Spokane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$967K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$699K</a:t>
            </a:r>
            <a:endParaRPr lang="en-US" sz="1400" dirty="0"/>
          </a:p>
        </p:txBody>
      </p:sp>
      <p:sp>
        <p:nvSpPr>
          <p:cNvPr id="43" name="Text 41"/>
          <p:cNvSpPr txBox="1"/>
          <p:nvPr/>
        </p:nvSpPr>
        <p:spPr>
          <a:xfrm>
            <a:off x="6632448" y="3760013"/>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−$268K</a:t>
            </a:r>
            <a:endParaRPr lang="en-US" sz="1600" dirty="0"/>
          </a:p>
        </p:txBody>
      </p:sp>
      <p:sp>
        <p:nvSpPr>
          <p:cNvPr id="44" name="Text 42"/>
          <p:cNvSpPr txBox="1"/>
          <p:nvPr/>
        </p:nvSpPr>
        <p:spPr>
          <a:xfrm>
            <a:off x="4440936"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30</a:t>
            </a:r>
            <a:endParaRPr lang="en-US" sz="1500" dirty="0"/>
          </a:p>
        </p:txBody>
      </p:sp>
      <p:sp>
        <p:nvSpPr>
          <p:cNvPr id="45" name="Text 43"/>
          <p:cNvSpPr txBox="1"/>
          <p:nvPr/>
        </p:nvSpPr>
        <p:spPr>
          <a:xfrm>
            <a:off x="4788408"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VW St George</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$153K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−$59K</a:t>
            </a:r>
            <a:endParaRPr lang="en-US" sz="1400" dirty="0"/>
          </a:p>
        </p:txBody>
      </p:sp>
      <p:sp>
        <p:nvSpPr>
          <p:cNvPr id="46" name="Text 44"/>
          <p:cNvSpPr txBox="1"/>
          <p:nvPr/>
        </p:nvSpPr>
        <p:spPr>
          <a:xfrm>
            <a:off x="6632448" y="4588459"/>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−$212K</a:t>
            </a:r>
            <a:endParaRPr lang="en-US" sz="1600" dirty="0"/>
          </a:p>
        </p:txBody>
      </p:sp>
      <p:sp>
        <p:nvSpPr>
          <p:cNvPr id="47" name="Shape 45"/>
          <p:cNvSpPr/>
          <p:nvPr/>
        </p:nvSpPr>
        <p:spPr>
          <a:xfrm>
            <a:off x="4349496" y="5416906"/>
            <a:ext cx="3489960" cy="828446"/>
          </a:xfrm>
          <a:prstGeom prst="rect">
            <a:avLst/>
          </a:prstGeom>
          <a:solidFill>
            <a:srgbClr val="F7F7F7"/>
          </a:solidFill>
          <a:ln/>
        </p:spPr>
      </p:sp>
      <p:sp>
        <p:nvSpPr>
          <p:cNvPr id="48" name="Text 46"/>
          <p:cNvSpPr txBox="1"/>
          <p:nvPr/>
        </p:nvSpPr>
        <p:spPr>
          <a:xfrm>
            <a:off x="4440936"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29</a:t>
            </a:r>
            <a:endParaRPr lang="en-US" sz="1500" dirty="0"/>
          </a:p>
        </p:txBody>
      </p:sp>
      <p:sp>
        <p:nvSpPr>
          <p:cNvPr id="49" name="Text 47"/>
          <p:cNvSpPr txBox="1"/>
          <p:nvPr/>
        </p:nvSpPr>
        <p:spPr>
          <a:xfrm>
            <a:off x="4788408"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Audi Reno</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$1.99M  →  </a:t>
            </a:r>
            <a:pPr indent="0" marL="0">
              <a:spcAft>
                <a:spcPts val="200"/>
              </a:spcAft>
              <a:buNone/>
            </a:pPr>
            <a:r>
              <a:rPr lang="en-US" sz="1200" b="1" dirty="0">
                <a:solidFill>
                  <a:srgbClr val="A82B26"/>
                </a:solidFill>
                <a:latin typeface="Inter" pitchFamily="34" charset="0"/>
                <a:ea typeface="Inter" pitchFamily="34" charset="-122"/>
                <a:cs typeface="Inter" pitchFamily="34" charset="-120"/>
              </a:rPr>
              <a:t>$1.82M</a:t>
            </a:r>
            <a:endParaRPr lang="en-US" sz="1400" dirty="0"/>
          </a:p>
        </p:txBody>
      </p:sp>
      <p:sp>
        <p:nvSpPr>
          <p:cNvPr id="50" name="Text 48"/>
          <p:cNvSpPr txBox="1"/>
          <p:nvPr/>
        </p:nvSpPr>
        <p:spPr>
          <a:xfrm>
            <a:off x="6632448" y="5416906"/>
            <a:ext cx="1115568" cy="828446"/>
          </a:xfrm>
          <a:prstGeom prst="rect">
            <a:avLst/>
          </a:prstGeom>
          <a:noFill/>
          <a:ln/>
        </p:spPr>
        <p:txBody>
          <a:bodyPr wrap="square" lIns="0" tIns="0" rIns="0" bIns="0" rtlCol="0" anchor="ctr"/>
          <a:lstStyle/>
          <a:p>
            <a:pPr algn="r" indent="0" marL="0">
              <a:buNone/>
            </a:pPr>
            <a:r>
              <a:rPr lang="en-US" sz="1600" b="1" dirty="0">
                <a:solidFill>
                  <a:srgbClr val="A82B26"/>
                </a:solidFill>
                <a:latin typeface="Inter" pitchFamily="34" charset="0"/>
                <a:ea typeface="Inter" pitchFamily="34" charset="-122"/>
                <a:cs typeface="Inter" pitchFamily="34" charset="-120"/>
              </a:rPr>
              <a:t>−$178K</a:t>
            </a:r>
            <a:endParaRPr lang="en-US" sz="1600" dirty="0"/>
          </a:p>
        </p:txBody>
      </p:sp>
      <p:sp>
        <p:nvSpPr>
          <p:cNvPr id="51" name="Shape 49"/>
          <p:cNvSpPr/>
          <p:nvPr/>
        </p:nvSpPr>
        <p:spPr>
          <a:xfrm>
            <a:off x="8040624" y="1371600"/>
            <a:ext cx="3489960" cy="45720"/>
          </a:xfrm>
          <a:prstGeom prst="rect">
            <a:avLst/>
          </a:prstGeom>
          <a:solidFill>
            <a:srgbClr val="2587C5"/>
          </a:solidFill>
          <a:ln/>
        </p:spPr>
      </p:sp>
      <p:sp>
        <p:nvSpPr>
          <p:cNvPr id="52" name="Text 50"/>
          <p:cNvSpPr txBox="1"/>
          <p:nvPr/>
        </p:nvSpPr>
        <p:spPr>
          <a:xfrm>
            <a:off x="8132064" y="1444752"/>
            <a:ext cx="3307080" cy="274320"/>
          </a:xfrm>
          <a:prstGeom prst="rect">
            <a:avLst/>
          </a:prstGeom>
          <a:noFill/>
          <a:ln/>
        </p:spPr>
        <p:txBody>
          <a:bodyPr wrap="square" lIns="0" tIns="0" rIns="0" bIns="0" rtlCol="0" anchor="ctr"/>
          <a:lstStyle/>
          <a:p>
            <a:pPr indent="0" marL="0">
              <a:buNone/>
            </a:pPr>
            <a:r>
              <a:rPr lang="en-US" sz="1500" b="1" spc="100" kern="0" dirty="0">
                <a:solidFill>
                  <a:srgbClr val="0B2C4A"/>
                </a:solidFill>
                <a:latin typeface="Inter" pitchFamily="34" charset="0"/>
                <a:ea typeface="Inter" pitchFamily="34" charset="-122"/>
                <a:cs typeface="Inter" pitchFamily="34" charset="-120"/>
              </a:rPr>
              <a:t>TOP 5 MOVING NOW</a:t>
            </a:r>
            <a:endParaRPr lang="en-US" sz="1500" dirty="0"/>
          </a:p>
        </p:txBody>
      </p:sp>
      <p:sp>
        <p:nvSpPr>
          <p:cNvPr id="53" name="Text 51"/>
          <p:cNvSpPr txBox="1"/>
          <p:nvPr/>
        </p:nvSpPr>
        <p:spPr>
          <a:xfrm>
            <a:off x="8132064" y="1737360"/>
            <a:ext cx="3307080" cy="274320"/>
          </a:xfrm>
          <a:prstGeom prst="rect">
            <a:avLst/>
          </a:prstGeom>
          <a:noFill/>
          <a:ln/>
        </p:spPr>
        <p:txBody>
          <a:bodyPr wrap="square" lIns="0" tIns="0" rIns="0" bIns="0" rtlCol="0" anchor="ctr"/>
          <a:lstStyle/>
          <a:p>
            <a:pPr indent="0" marL="0">
              <a:buNone/>
            </a:pPr>
            <a:r>
              <a:rPr lang="en-US" sz="1200" dirty="0">
                <a:solidFill>
                  <a:srgbClr val="595959"/>
                </a:solidFill>
                <a:latin typeface="Inter" pitchFamily="34" charset="0"/>
                <a:ea typeface="Inter" pitchFamily="34" charset="-122"/>
                <a:cs typeface="Inter" pitchFamily="34" charset="-120"/>
              </a:rPr>
              <a:t>Q3 vs Q1, this year</a:t>
            </a:r>
            <a:endParaRPr lang="en-US" sz="1200" dirty="0"/>
          </a:p>
        </p:txBody>
      </p:sp>
      <p:sp>
        <p:nvSpPr>
          <p:cNvPr id="54" name="Shape 52"/>
          <p:cNvSpPr/>
          <p:nvPr/>
        </p:nvSpPr>
        <p:spPr>
          <a:xfrm>
            <a:off x="8040624" y="2103120"/>
            <a:ext cx="3489960" cy="828446"/>
          </a:xfrm>
          <a:prstGeom prst="rect">
            <a:avLst/>
          </a:prstGeom>
          <a:solidFill>
            <a:srgbClr val="F7F7F7"/>
          </a:solidFill>
          <a:ln/>
        </p:spPr>
      </p:sp>
      <p:sp>
        <p:nvSpPr>
          <p:cNvPr id="55" name="Shape 53"/>
          <p:cNvSpPr/>
          <p:nvPr/>
        </p:nvSpPr>
        <p:spPr>
          <a:xfrm>
            <a:off x="11466576" y="2139696"/>
            <a:ext cx="64008" cy="755294"/>
          </a:xfrm>
          <a:prstGeom prst="rect">
            <a:avLst/>
          </a:prstGeom>
          <a:solidFill>
            <a:srgbClr val="12A566"/>
          </a:solidFill>
          <a:ln/>
        </p:spPr>
      </p:sp>
      <p:sp>
        <p:nvSpPr>
          <p:cNvPr id="56" name="Text 54"/>
          <p:cNvSpPr txBox="1"/>
          <p:nvPr/>
        </p:nvSpPr>
        <p:spPr>
          <a:xfrm>
            <a:off x="8132064" y="2103120"/>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1</a:t>
            </a:r>
            <a:endParaRPr lang="en-US" sz="1500" dirty="0"/>
          </a:p>
        </p:txBody>
      </p:sp>
      <p:sp>
        <p:nvSpPr>
          <p:cNvPr id="57" name="Text 55"/>
          <p:cNvSpPr txBox="1"/>
          <p:nvPr/>
        </p:nvSpPr>
        <p:spPr>
          <a:xfrm>
            <a:off x="8479536" y="2103120"/>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$586K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$725K</a:t>
            </a:r>
            <a:endParaRPr lang="en-US" sz="1400" dirty="0"/>
          </a:p>
        </p:txBody>
      </p:sp>
      <p:sp>
        <p:nvSpPr>
          <p:cNvPr id="58" name="Text 56"/>
          <p:cNvSpPr txBox="1"/>
          <p:nvPr/>
        </p:nvSpPr>
        <p:spPr>
          <a:xfrm>
            <a:off x="10323576" y="2103120"/>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+$139K</a:t>
            </a:r>
            <a:endParaRPr lang="en-US" sz="1600" dirty="0"/>
          </a:p>
        </p:txBody>
      </p:sp>
      <p:sp>
        <p:nvSpPr>
          <p:cNvPr id="59" name="Shape 57"/>
          <p:cNvSpPr/>
          <p:nvPr/>
        </p:nvSpPr>
        <p:spPr>
          <a:xfrm>
            <a:off x="11466576" y="2968142"/>
            <a:ext cx="64008" cy="755294"/>
          </a:xfrm>
          <a:prstGeom prst="rect">
            <a:avLst/>
          </a:prstGeom>
          <a:solidFill>
            <a:srgbClr val="12A566"/>
          </a:solidFill>
          <a:ln/>
        </p:spPr>
      </p:sp>
      <p:sp>
        <p:nvSpPr>
          <p:cNvPr id="60" name="Text 58"/>
          <p:cNvSpPr txBox="1"/>
          <p:nvPr/>
        </p:nvSpPr>
        <p:spPr>
          <a:xfrm>
            <a:off x="8132064" y="293156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2</a:t>
            </a:r>
            <a:endParaRPr lang="en-US" sz="1500" dirty="0"/>
          </a:p>
        </p:txBody>
      </p:sp>
      <p:sp>
        <p:nvSpPr>
          <p:cNvPr id="61" name="Text 59"/>
          <p:cNvSpPr txBox="1"/>
          <p:nvPr/>
        </p:nvSpPr>
        <p:spPr>
          <a:xfrm>
            <a:off x="8479536" y="293156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Toyota Henderson</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$795K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$934K</a:t>
            </a:r>
            <a:endParaRPr lang="en-US" sz="1400" dirty="0"/>
          </a:p>
        </p:txBody>
      </p:sp>
      <p:sp>
        <p:nvSpPr>
          <p:cNvPr id="62" name="Text 60"/>
          <p:cNvSpPr txBox="1"/>
          <p:nvPr/>
        </p:nvSpPr>
        <p:spPr>
          <a:xfrm>
            <a:off x="10323576" y="293156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+$138K</a:t>
            </a:r>
            <a:endParaRPr lang="en-US" sz="1600" dirty="0"/>
          </a:p>
        </p:txBody>
      </p:sp>
      <p:sp>
        <p:nvSpPr>
          <p:cNvPr id="63" name="Shape 61"/>
          <p:cNvSpPr/>
          <p:nvPr/>
        </p:nvSpPr>
        <p:spPr>
          <a:xfrm>
            <a:off x="8040624" y="3760013"/>
            <a:ext cx="3489960" cy="828446"/>
          </a:xfrm>
          <a:prstGeom prst="rect">
            <a:avLst/>
          </a:prstGeom>
          <a:solidFill>
            <a:srgbClr val="F7F7F7"/>
          </a:solidFill>
          <a:ln/>
        </p:spPr>
      </p:sp>
      <p:sp>
        <p:nvSpPr>
          <p:cNvPr id="64" name="Shape 62"/>
          <p:cNvSpPr/>
          <p:nvPr/>
        </p:nvSpPr>
        <p:spPr>
          <a:xfrm>
            <a:off x="11466576" y="3796589"/>
            <a:ext cx="64008" cy="755294"/>
          </a:xfrm>
          <a:prstGeom prst="rect">
            <a:avLst/>
          </a:prstGeom>
          <a:solidFill>
            <a:srgbClr val="2587C5"/>
          </a:solidFill>
          <a:ln/>
        </p:spPr>
      </p:sp>
      <p:sp>
        <p:nvSpPr>
          <p:cNvPr id="65" name="Text 63"/>
          <p:cNvSpPr txBox="1"/>
          <p:nvPr/>
        </p:nvSpPr>
        <p:spPr>
          <a:xfrm>
            <a:off x="8132064" y="3760013"/>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3</a:t>
            </a:r>
            <a:endParaRPr lang="en-US" sz="1500" dirty="0"/>
          </a:p>
        </p:txBody>
      </p:sp>
      <p:sp>
        <p:nvSpPr>
          <p:cNvPr id="66" name="Text 64"/>
          <p:cNvSpPr txBox="1"/>
          <p:nvPr/>
        </p:nvSpPr>
        <p:spPr>
          <a:xfrm>
            <a:off x="8479536" y="3760013"/>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Chevy LV</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$181K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$294K</a:t>
            </a:r>
            <a:endParaRPr lang="en-US" sz="1400" dirty="0"/>
          </a:p>
        </p:txBody>
      </p:sp>
      <p:sp>
        <p:nvSpPr>
          <p:cNvPr id="67" name="Text 65"/>
          <p:cNvSpPr txBox="1"/>
          <p:nvPr/>
        </p:nvSpPr>
        <p:spPr>
          <a:xfrm>
            <a:off x="10323576" y="3760013"/>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+$113K</a:t>
            </a:r>
            <a:endParaRPr lang="en-US" sz="1600" dirty="0"/>
          </a:p>
        </p:txBody>
      </p:sp>
      <p:sp>
        <p:nvSpPr>
          <p:cNvPr id="68" name="Text 66"/>
          <p:cNvSpPr txBox="1"/>
          <p:nvPr/>
        </p:nvSpPr>
        <p:spPr>
          <a:xfrm>
            <a:off x="8132064" y="4588459"/>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4</a:t>
            </a:r>
            <a:endParaRPr lang="en-US" sz="1500" dirty="0"/>
          </a:p>
        </p:txBody>
      </p:sp>
      <p:sp>
        <p:nvSpPr>
          <p:cNvPr id="69" name="Text 67"/>
          <p:cNvSpPr txBox="1"/>
          <p:nvPr/>
        </p:nvSpPr>
        <p:spPr>
          <a:xfrm>
            <a:off x="8479536" y="4588459"/>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Honda North</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$316K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$408K</a:t>
            </a:r>
            <a:endParaRPr lang="en-US" sz="1400" dirty="0"/>
          </a:p>
        </p:txBody>
      </p:sp>
      <p:sp>
        <p:nvSpPr>
          <p:cNvPr id="70" name="Text 68"/>
          <p:cNvSpPr txBox="1"/>
          <p:nvPr/>
        </p:nvSpPr>
        <p:spPr>
          <a:xfrm>
            <a:off x="10323576" y="4588459"/>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+$92K</a:t>
            </a:r>
            <a:endParaRPr lang="en-US" sz="1600" dirty="0"/>
          </a:p>
        </p:txBody>
      </p:sp>
      <p:sp>
        <p:nvSpPr>
          <p:cNvPr id="71" name="Shape 69"/>
          <p:cNvSpPr/>
          <p:nvPr/>
        </p:nvSpPr>
        <p:spPr>
          <a:xfrm>
            <a:off x="8040624" y="5416906"/>
            <a:ext cx="3489960" cy="828446"/>
          </a:xfrm>
          <a:prstGeom prst="rect">
            <a:avLst/>
          </a:prstGeom>
          <a:solidFill>
            <a:srgbClr val="F7F7F7"/>
          </a:solidFill>
          <a:ln/>
        </p:spPr>
      </p:sp>
      <p:sp>
        <p:nvSpPr>
          <p:cNvPr id="72" name="Text 70"/>
          <p:cNvSpPr txBox="1"/>
          <p:nvPr/>
        </p:nvSpPr>
        <p:spPr>
          <a:xfrm>
            <a:off x="8132064" y="5416906"/>
            <a:ext cx="365760" cy="828446"/>
          </a:xfrm>
          <a:prstGeom prst="rect">
            <a:avLst/>
          </a:prstGeom>
          <a:noFill/>
          <a:ln/>
        </p:spPr>
        <p:txBody>
          <a:bodyPr wrap="square" lIns="0" tIns="0" rIns="0" bIns="0" rtlCol="0" anchor="ctr"/>
          <a:lstStyle/>
          <a:p>
            <a:pPr indent="0" marL="0">
              <a:buNone/>
            </a:pPr>
            <a:r>
              <a:rPr lang="en-US" sz="1500" b="1" dirty="0">
                <a:solidFill>
                  <a:srgbClr val="0B2C4A"/>
                </a:solidFill>
                <a:latin typeface="Inter" pitchFamily="34" charset="0"/>
                <a:ea typeface="Inter" pitchFamily="34" charset="-122"/>
                <a:cs typeface="Inter" pitchFamily="34" charset="-120"/>
              </a:rPr>
              <a:t>5</a:t>
            </a:r>
            <a:endParaRPr lang="en-US" sz="1500" dirty="0"/>
          </a:p>
        </p:txBody>
      </p:sp>
      <p:sp>
        <p:nvSpPr>
          <p:cNvPr id="73" name="Text 71"/>
          <p:cNvSpPr txBox="1"/>
          <p:nvPr/>
        </p:nvSpPr>
        <p:spPr>
          <a:xfrm>
            <a:off x="8479536" y="5416906"/>
            <a:ext cx="1825752" cy="828446"/>
          </a:xfrm>
          <a:prstGeom prst="rect">
            <a:avLst/>
          </a:prstGeom>
          <a:noFill/>
          <a:ln/>
        </p:spPr>
        <p:txBody>
          <a:bodyPr wrap="square" lIns="0" tIns="0" rIns="0" bIns="0" rtlCol="0" anchor="ctr"/>
          <a:lstStyle/>
          <a:p>
            <a:pPr indent="0" marL="0">
              <a:spcAft>
                <a:spcPts val="200"/>
              </a:spcAft>
              <a:buNone/>
            </a:pPr>
            <a:r>
              <a:rPr lang="en-US" sz="1400" b="1" dirty="0">
                <a:solidFill>
                  <a:srgbClr val="1A1A1A"/>
                </a:solidFill>
                <a:latin typeface="Inter" pitchFamily="34" charset="0"/>
                <a:ea typeface="Inter" pitchFamily="34" charset="-122"/>
                <a:cs typeface="Inter" pitchFamily="34" charset="-120"/>
              </a:rPr>
              <a:t>Mazda</a:t>
            </a:r>
            <a:endParaRPr lang="en-US" sz="1400" dirty="0"/>
          </a:p>
          <a:p>
            <a:pPr indent="0" marL="0">
              <a:spcAft>
                <a:spcPts val="200"/>
              </a:spcAft>
              <a:buNone/>
            </a:pPr>
            <a:r>
              <a:rPr lang="en-US" sz="1200" dirty="0">
                <a:solidFill>
                  <a:srgbClr val="595959"/>
                </a:solidFill>
                <a:latin typeface="Inter" pitchFamily="34" charset="0"/>
                <a:ea typeface="Inter" pitchFamily="34" charset="-122"/>
                <a:cs typeface="Inter" pitchFamily="34" charset="-120"/>
              </a:rPr>
              <a:t>$71K  →  </a:t>
            </a:r>
            <a:pPr indent="0" marL="0">
              <a:spcAft>
                <a:spcPts val="200"/>
              </a:spcAft>
              <a:buNone/>
            </a:pPr>
            <a:r>
              <a:rPr lang="en-US" sz="1200" b="1" dirty="0">
                <a:solidFill>
                  <a:srgbClr val="0B7A4A"/>
                </a:solidFill>
                <a:latin typeface="Inter" pitchFamily="34" charset="0"/>
                <a:ea typeface="Inter" pitchFamily="34" charset="-122"/>
                <a:cs typeface="Inter" pitchFamily="34" charset="-120"/>
              </a:rPr>
              <a:t>$155K</a:t>
            </a:r>
            <a:endParaRPr lang="en-US" sz="1400" dirty="0"/>
          </a:p>
        </p:txBody>
      </p:sp>
      <p:sp>
        <p:nvSpPr>
          <p:cNvPr id="74" name="Text 72"/>
          <p:cNvSpPr txBox="1"/>
          <p:nvPr/>
        </p:nvSpPr>
        <p:spPr>
          <a:xfrm>
            <a:off x="10323576" y="5416906"/>
            <a:ext cx="1115568" cy="828446"/>
          </a:xfrm>
          <a:prstGeom prst="rect">
            <a:avLst/>
          </a:prstGeom>
          <a:noFill/>
          <a:ln/>
        </p:spPr>
        <p:txBody>
          <a:bodyPr wrap="square" lIns="0" tIns="0" rIns="0" bIns="0" rtlCol="0" anchor="ctr"/>
          <a:lstStyle/>
          <a:p>
            <a:pPr algn="r" indent="0" marL="0">
              <a:buNone/>
            </a:pPr>
            <a:r>
              <a:rPr lang="en-US" sz="1600" b="1" dirty="0">
                <a:solidFill>
                  <a:srgbClr val="0B7A4A"/>
                </a:solidFill>
                <a:latin typeface="Inter" pitchFamily="34" charset="0"/>
                <a:ea typeface="Inter" pitchFamily="34" charset="-122"/>
                <a:cs typeface="Inter" pitchFamily="34" charset="-120"/>
              </a:rPr>
              <a:t>+$84K</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nte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nte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2026-10-28T17:01:54Z</dcterms:created>
  <dcterms:modified xsi:type="dcterms:W3CDTF">2026-10-28T17:01:54Z</dcterms:modified>
</cp:coreProperties>
</file>