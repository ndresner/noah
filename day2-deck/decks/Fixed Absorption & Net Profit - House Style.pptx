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GM statement. Jan-Sep 2026, same-store, INEOS excluded (opened 2026).PLACE: Profitability, in front of Fixed Ops Absorption % (the next slide, the trend). The breakdown of total store fixed expenses is on this slide. The denominator is the P&amp;L's Fixed Expenses line on the GM statement: the whole store's expenses (new, used, service, parts and the GMC Prescott body shop, as on the P&amp;L)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GM statement. Jan-Sep 2026, same-store, INEOS excluded (opened 2026). Fixed Expenses line by account class, every department of the store; categories reconcile to the line to the cent ($242,850,782).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Lincoln, Subaru Prescott and GMC Prescott turned a 2025 loss into a profit (green rows); VW St George went from a profit to a loss (red row). 24 of 33 stores grew fixed ops net profit, January through September year to date.Source: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Store Fixed Expenses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PEOPLE</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$147.9M</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61% · Salaries and wages, payroll taxes, benefits, PTO</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2587C5"/>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BUILDING &amp; EQUIPMENT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$39.1M</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16% · Rent, depreciation, property taxes, utilities, insurance, building and equipment repairs</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2587C5"/>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SYSTEMS &amp; SERVICES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$36.4M</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15% · DMS and IT, outside services, phones, legal and audit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EVERYTHING ELSE</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$19.5M</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8% · Service and parts advertising, training, company vehicles, freight, supplies, travel, other taxes</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Not included: sales and F&amp;I commissions, delivery, policy, floorplan interest and new and used vehicle advertising, the costs that rise and fall with each car sold.</a:t>
            </a:r>
            <a:endParaRPr lang="en-US" sz="1700" dirty="0"/>
          </a:p>
        </p:txBody>
      </p:sp>
      <p:sp>
        <p:nvSpPr>
          <p:cNvPr id="27" name="Shape 25"/>
          <p:cNvSpPr/>
          <p:nvPr/>
        </p:nvSpPr>
        <p:spPr>
          <a:xfrm>
            <a:off x="457200" y="6126480"/>
            <a:ext cx="11274552" cy="615696"/>
          </a:xfrm>
          <a:prstGeom prst="rect">
            <a:avLst/>
          </a:prstGeom>
          <a:solidFill>
            <a:srgbClr val="EDF4F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$242.9M of fixed expenses Jan-Sep 2026; fixed ops gross of $189.7M covers 78.1% of it. People are 61% of the total.</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largest gain in September, +$1.61M.</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1969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54907"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7588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86722"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60690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486134"/>
            <a:ext cx="529462"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77227"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4008956"/>
            <a:ext cx="42403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42149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531777"/>
            <a:ext cx="31069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308094"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5054599"/>
            <a:ext cx="27993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273031"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577420"/>
            <a:ext cx="272418"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838831"/>
            <a:ext cx="261785"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25469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7669"/>
            <a:ext cx="230085"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79080"/>
            <a:ext cx="210561"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186954"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701901"/>
            <a:ext cx="16468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963312"/>
            <a:ext cx="163331"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15818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486134"/>
            <a:ext cx="1172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11120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4008956"/>
            <a:ext cx="99951"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270366"/>
            <a:ext cx="3002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2519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22055"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5054599"/>
            <a:ext cx="1856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316010"/>
            <a:ext cx="18288"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18288"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31883"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fixed ops net profit, January through September year to date.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+20.4%</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+41.8%</a:t>
            </a:r>
            <a:endParaRPr lang="en-US" sz="1300" dirty="0"/>
          </a:p>
        </p:txBody>
      </p:sp>
      <p:sp>
        <p:nvSpPr>
          <p:cNvPr id="24" name="Shape 22"/>
          <p:cNvSpPr/>
          <p:nvPr/>
        </p:nvSpPr>
        <p:spPr>
          <a:xfrm>
            <a:off x="4084320" y="4625035"/>
            <a:ext cx="64008" cy="755294"/>
          </a:xfrm>
          <a:prstGeom prst="rect">
            <a:avLst/>
          </a:prstGeom>
          <a:solidFill>
            <a:srgbClr val="12A566"/>
          </a:solidFill>
          <a:ln/>
        </p:spPr>
      </p:sp>
      <p:sp>
        <p:nvSpPr>
          <p:cNvPr id="25" name="Text 23"/>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7" name="Text 25"/>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8" name="Text 26"/>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+12.9%</a:t>
            </a:r>
            <a:endParaRPr lang="en-US" sz="1300" dirty="0"/>
          </a:p>
        </p:txBody>
      </p:sp>
      <p:sp>
        <p:nvSpPr>
          <p:cNvPr id="29" name="Shape 27"/>
          <p:cNvSpPr/>
          <p:nvPr/>
        </p:nvSpPr>
        <p:spPr>
          <a:xfrm>
            <a:off x="658368" y="5416906"/>
            <a:ext cx="3489960" cy="828446"/>
          </a:xfrm>
          <a:prstGeom prst="rect">
            <a:avLst/>
          </a:prstGeom>
          <a:solidFill>
            <a:srgbClr val="F7F7F7"/>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+124.3%</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Shape 36"/>
          <p:cNvSpPr/>
          <p:nvPr/>
        </p:nvSpPr>
        <p:spPr>
          <a:xfrm>
            <a:off x="7775448" y="2139696"/>
            <a:ext cx="64008" cy="755294"/>
          </a:xfrm>
          <a:prstGeom prst="rect">
            <a:avLst/>
          </a:prstGeom>
          <a:solidFill>
            <a:srgbClr val="2587C5"/>
          </a:solidFill>
          <a:ln/>
        </p:spPr>
      </p:sp>
      <p:sp>
        <p:nvSpPr>
          <p:cNvPr id="39" name="Text 37"/>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41" name="Text 39"/>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42" name="Text 40"/>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43" name="Text 41"/>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45" name="Text 43"/>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46" name="Text 44"/>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−29.6%</a:t>
            </a:r>
            <a:endParaRPr lang="en-US" sz="1300" dirty="0"/>
          </a:p>
        </p:txBody>
      </p:sp>
      <p:sp>
        <p:nvSpPr>
          <p:cNvPr id="47" name="Shape 45"/>
          <p:cNvSpPr/>
          <p:nvPr/>
        </p:nvSpPr>
        <p:spPr>
          <a:xfrm>
            <a:off x="4349496" y="3760013"/>
            <a:ext cx="3489960" cy="828446"/>
          </a:xfrm>
          <a:prstGeom prst="rect">
            <a:avLst/>
          </a:prstGeom>
          <a:solidFill>
            <a:srgbClr val="F7F7F7"/>
          </a:solidFill>
          <a:ln/>
        </p:spPr>
      </p:sp>
      <p:sp>
        <p:nvSpPr>
          <p:cNvPr id="48" name="Text 4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50" name="Text 48"/>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51" name="Text 49"/>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−27.7%</a:t>
            </a:r>
            <a:endParaRPr lang="en-US" sz="1300" dirty="0"/>
          </a:p>
        </p:txBody>
      </p:sp>
      <p:sp>
        <p:nvSpPr>
          <p:cNvPr id="52" name="Text 5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54" name="Text 52"/>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55" name="Text 53"/>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−138.2%</a:t>
            </a:r>
            <a:endParaRPr lang="en-US" sz="1300" dirty="0"/>
          </a:p>
        </p:txBody>
      </p:sp>
      <p:sp>
        <p:nvSpPr>
          <p:cNvPr id="56" name="Shape 54"/>
          <p:cNvSpPr/>
          <p:nvPr/>
        </p:nvSpPr>
        <p:spPr>
          <a:xfrm>
            <a:off x="4349496" y="5416906"/>
            <a:ext cx="3489960" cy="828446"/>
          </a:xfrm>
          <a:prstGeom prst="rect">
            <a:avLst/>
          </a:prstGeom>
          <a:solidFill>
            <a:srgbClr val="F7F7F7"/>
          </a:solidFill>
          <a:ln/>
        </p:spPr>
      </p:sp>
      <p:sp>
        <p:nvSpPr>
          <p:cNvPr id="57" name="Text 5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59" name="Text 57"/>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60" name="Text 58"/>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61" name="Shape 59"/>
          <p:cNvSpPr/>
          <p:nvPr/>
        </p:nvSpPr>
        <p:spPr>
          <a:xfrm>
            <a:off x="8040624" y="1371600"/>
            <a:ext cx="3489960" cy="45720"/>
          </a:xfrm>
          <a:prstGeom prst="rect">
            <a:avLst/>
          </a:prstGeom>
          <a:solidFill>
            <a:srgbClr val="2587C5"/>
          </a:solidFill>
          <a:ln/>
        </p:spPr>
      </p:sp>
      <p:sp>
        <p:nvSpPr>
          <p:cNvPr id="62" name="Text 6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Text 6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4" name="Shape 62"/>
          <p:cNvSpPr/>
          <p:nvPr/>
        </p:nvSpPr>
        <p:spPr>
          <a:xfrm>
            <a:off x="8040624" y="2103120"/>
            <a:ext cx="3489960" cy="828446"/>
          </a:xfrm>
          <a:prstGeom prst="rect">
            <a:avLst/>
          </a:prstGeom>
          <a:solidFill>
            <a:srgbClr val="F7F7F7"/>
          </a:solidFill>
          <a:ln/>
        </p:spPr>
      </p:sp>
      <p:sp>
        <p:nvSpPr>
          <p:cNvPr id="65" name="Shape 63"/>
          <p:cNvSpPr/>
          <p:nvPr/>
        </p:nvSpPr>
        <p:spPr>
          <a:xfrm>
            <a:off x="11466576" y="2139696"/>
            <a:ext cx="64008" cy="755294"/>
          </a:xfrm>
          <a:prstGeom prst="rect">
            <a:avLst/>
          </a:prstGeom>
          <a:solidFill>
            <a:srgbClr val="12A566"/>
          </a:solidFill>
          <a:ln/>
        </p:spPr>
      </p:sp>
      <p:sp>
        <p:nvSpPr>
          <p:cNvPr id="66" name="Text 6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7" name="Text 6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68" name="Text 66"/>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69" name="Text 67"/>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+23.8%</a:t>
            </a:r>
            <a:endParaRPr lang="en-US" sz="1300" dirty="0"/>
          </a:p>
        </p:txBody>
      </p:sp>
      <p:sp>
        <p:nvSpPr>
          <p:cNvPr id="70" name="Shape 68"/>
          <p:cNvSpPr/>
          <p:nvPr/>
        </p:nvSpPr>
        <p:spPr>
          <a:xfrm>
            <a:off x="11466576" y="2968142"/>
            <a:ext cx="64008" cy="755294"/>
          </a:xfrm>
          <a:prstGeom prst="rect">
            <a:avLst/>
          </a:prstGeom>
          <a:solidFill>
            <a:srgbClr val="12A566"/>
          </a:solidFill>
          <a:ln/>
        </p:spPr>
      </p:sp>
      <p:sp>
        <p:nvSpPr>
          <p:cNvPr id="71" name="Text 69"/>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2" name="Text 70"/>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73" name="Text 71"/>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74" name="Text 72"/>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75" name="Shape 73"/>
          <p:cNvSpPr/>
          <p:nvPr/>
        </p:nvSpPr>
        <p:spPr>
          <a:xfrm>
            <a:off x="8040624" y="3760013"/>
            <a:ext cx="3489960" cy="828446"/>
          </a:xfrm>
          <a:prstGeom prst="rect">
            <a:avLst/>
          </a:prstGeom>
          <a:solidFill>
            <a:srgbClr val="F7F7F7"/>
          </a:solidFill>
          <a:ln/>
        </p:spPr>
      </p:sp>
      <p:sp>
        <p:nvSpPr>
          <p:cNvPr id="76" name="Shape 74"/>
          <p:cNvSpPr/>
          <p:nvPr/>
        </p:nvSpPr>
        <p:spPr>
          <a:xfrm>
            <a:off x="11466576" y="3796589"/>
            <a:ext cx="64008" cy="755294"/>
          </a:xfrm>
          <a:prstGeom prst="rect">
            <a:avLst/>
          </a:prstGeom>
          <a:solidFill>
            <a:srgbClr val="2587C5"/>
          </a:solidFill>
          <a:ln/>
        </p:spPr>
      </p:sp>
      <p:sp>
        <p:nvSpPr>
          <p:cNvPr id="77" name="Text 75"/>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76"/>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79" name="Text 77"/>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80" name="Text 78"/>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+62.3%</a:t>
            </a:r>
            <a:endParaRPr lang="en-US" sz="1300" dirty="0"/>
          </a:p>
        </p:txBody>
      </p:sp>
      <p:sp>
        <p:nvSpPr>
          <p:cNvPr id="81" name="Text 79"/>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80"/>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83" name="Text 81"/>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84" name="Text 82"/>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85" name="Shape 83"/>
          <p:cNvSpPr/>
          <p:nvPr/>
        </p:nvSpPr>
        <p:spPr>
          <a:xfrm>
            <a:off x="8040624" y="5416906"/>
            <a:ext cx="3489960" cy="828446"/>
          </a:xfrm>
          <a:prstGeom prst="rect">
            <a:avLst/>
          </a:prstGeom>
          <a:solidFill>
            <a:srgbClr val="F7F7F7"/>
          </a:solidFill>
          <a:ln/>
        </p:spPr>
      </p:sp>
      <p:sp>
        <p:nvSpPr>
          <p:cNvPr id="86" name="Text 8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8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88" name="Text 86"/>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89" name="Text 87"/>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+119.4%</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2026-10-28T19:12:11Z</dcterms:created>
  <dcterms:modified xsi:type="dcterms:W3CDTF">2026-10-28T19:12:11Z</dcterms:modified>
</cp:coreProperties>
</file>