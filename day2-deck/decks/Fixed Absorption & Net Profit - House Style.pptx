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4.54</c:v>
                </c:pt>
                <c:pt idx="2">
                  <c:v>5.97</c:v>
                </c:pt>
                <c:pt idx="3">
                  <c:v>6.14</c:v>
                </c:pt>
                <c:pt idx="4">
                  <c:v>5.16</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4.54</c:v>
                </c:pt>
                <c:pt idx="2">
                  <c:v>5.97</c:v>
                </c:pt>
                <c:pt idx="3">
                  <c:v>6.14</c:v>
                </c:pt>
                <c:pt idx="4">
                  <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
                </c:pt>
                <c:pt idx="2">
                  <c:v/>
                </c:pt>
                <c:pt idx="3">
                  <c:v/>
                </c:pt>
                <c:pt idx="4">
                  <c:v>5.16</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
                </c:pt>
                <c:pt idx="2">
                  <c:v/>
                </c:pt>
                <c:pt idx="3">
                  <c:v/>
                </c:pt>
                <c:pt idx="4">
                  <c:v>5.37</c:v>
                </c:pt>
                <c:pt idx="5">
                  <c:v/>
                </c:pt>
                <c:pt idx="6">
                  <c:v/>
                </c:pt>
                <c:pt idx="7">
                  <c:v/>
                </c:pt>
                <c:pt idx="8">
                  <c:v/>
                </c:pt>
                <c:pt idx="9">
                  <c:v>6.1</c:v>
                </c:pt>
                <c:pt idx="10">
                  <c:v/>
                </c:pt>
                <c:pt idx="11">
                  <c:v>4.32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4.4</c:v>
                </c:pt>
                <c:pt idx="2">
                  <c:v>5.19</c:v>
                </c:pt>
                <c:pt idx="3">
                  <c:v>5.55</c:v>
                </c:pt>
                <c:pt idx="4">
                  <c:v/>
                </c:pt>
                <c:pt idx="5">
                  <c:v>5.22</c:v>
                </c:pt>
                <c:pt idx="6">
                  <c:v>5.56</c:v>
                </c:pt>
                <c:pt idx="7">
                  <c:v>5.08</c:v>
                </c:pt>
                <c:pt idx="8">
                  <c:v>3.91</c:v>
                </c:pt>
                <c:pt idx="9">
                  <c:v/>
                </c:pt>
                <c:pt idx="10">
                  <c:v>3.67</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4.4</c:v>
                </c:pt>
                <c:pt idx="2">
                  <c:v>5.19</c:v>
                </c:pt>
                <c:pt idx="3">
                  <c:v>5.55</c:v>
                </c:pt>
                <c:pt idx="4">
                  <c:v>5.37</c:v>
                </c:pt>
                <c:pt idx="5">
                  <c:v>5.22</c:v>
                </c:pt>
                <c:pt idx="6">
                  <c:v>5.56</c:v>
                </c:pt>
                <c:pt idx="7">
                  <c:v>5.08</c:v>
                </c:pt>
                <c:pt idx="8">
                  <c:v>3.91</c:v>
                </c:pt>
                <c:pt idx="9">
                  <c:v>6.1</c:v>
                </c:pt>
                <c:pt idx="10">
                  <c:v>3.67</c:v>
                </c:pt>
                <c:pt idx="11">
                  <c:v>4.32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GM statement. Jan-Sep 2026, same-store, INEOS excluded (opened 2026).PLACE: Profitability, in front of Fixed Ops Absorption %; the next slide breaks down the fixed expenses. The denominator is the P&amp;L's Fixed Expenses line on the GM statement: the whole store's expenses (new, used, service, parts, body shop) less the costs that move with each car sold: sales and F&amp;I commissions, delivery, policy, floorplan interest, and new and used vehicle advertising. That matches the standard dealer definition: fixed ops gross divided by total store overhead, excluding the variable costs of selling cars. Jan-Sep 2026 same-store: $242,850,782 of fixed expenses out of $305,051,366 total expense.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GM statement. Jan-Sep 2026, same-store, INEOS excluded (opened 2026). Fixed Expenses line by account class, every department of the store; categories reconcile to the line to the cent ($242,850,782).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Same-store, INEOS excluded (opened 2026). Fixed ops net profit = service (Mechanical) + parts (P&amp;A) department profit: department gross less the department's own expenses; GMC Prescott body shop is its own department and is not included.PLACE: opening, right after Why We Are Here (Noah, Oct 24): the high-level view of service and parts before the sections. Department profit as the P&amp;L Detail statement reports it (DEPARTMENT PROFIT OR LOSS, Mechanical and P&amp;A). Jan-Sep 2026 gross $188,799,724, department expenses $138,349,830, profit $50,449,894; 2025 $181,331,157 / $135,995,022 / $45,336,135. Store-level costs the P&amp;L does not split by department (management fees, other income) sit outside it. Same basis as the service and parts net to gross slides. Revenue per $1 of net: service + parts net sales $347,806,562 (P&amp;L Detail NET SALES, Mechanical $182,131,162 + P&amp;A $165,675,400) / net profit $50,449,894 = $6.89; net profit is 14.5 cents of every sales dollar. Parts sales include parts sold to the service department.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 vs Jan-Sep 2025; 2025 shown January-December. Store rows reconcile to the group, both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Same-store, INEOS excluded (opened 2026). Fixed ops net profit = service (Mechanical) + parts (P&amp;A) department profit: department gross less the department's own expenses; GMC Prescott body shop is its own department and is not included. Ranked by dollar change, Jan-Sep 2026 vs Jan-Sep 2025; percent change alongside, top three and bottom three by percent marked. Percent change = dollar change / 2025 profit; where 2025 was a loss, divided by the size of the loss, so an improvement reads as positive.Green band: lost money in fixed ops in 2025, made money in 2026 (Lincoln −$389K to $94K, Subaru Prescott −$55K to $129K and GMC Prescott −$125K to $20K). Red band: made money in 2025, lost money in 2026 (VW St George $153K to −$59K).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Same-store, INEOS excluded (opened 2026). Fixed ops net profit = service (Mechanical) + parts (P&amp;A) department profit: department gross less the department's own expenses; GMC Prescott body shop is its own department and is not included. Top and bottom five stores by dollar change in fixed ops net profit, Jan-Sep 2026 vs 2025 (dollars, not percent: several stores lost money in 2025). Moving now: Jul-Sep 2026 vs Jan-Mar 2026, each store against itself (monthly averages); the group moved +$1.05M a month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How much of the whole store's fixed expenses, not just service and parts expenses, the service and parts gross pays for.</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296063"/>
          </a:xfrm>
          <a:prstGeom prst="rect">
            <a:avLst/>
          </a:prstGeom>
          <a:solidFill>
            <a:srgbClr val="2587C5"/>
          </a:solidFill>
          <a:ln/>
        </p:spPr>
      </p:sp>
      <p:sp>
        <p:nvSpPr>
          <p:cNvPr id="19" name="Text 17"/>
          <p:cNvSpPr txBox="1"/>
          <p:nvPr/>
        </p:nvSpPr>
        <p:spPr>
          <a:xfrm>
            <a:off x="5266944" y="3410712"/>
            <a:ext cx="2962656" cy="129606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ops 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Everything on the customer-pay slides: ROs, hours, ELR, margin</a:t>
            </a:r>
            <a:endParaRPr lang="en-US" sz="1400" dirty="0"/>
          </a:p>
        </p:txBody>
      </p:sp>
      <p:sp>
        <p:nvSpPr>
          <p:cNvPr id="20" name="Shape 18"/>
          <p:cNvSpPr/>
          <p:nvPr/>
        </p:nvSpPr>
        <p:spPr>
          <a:xfrm>
            <a:off x="8394192" y="3410712"/>
            <a:ext cx="45720" cy="1296063"/>
          </a:xfrm>
          <a:prstGeom prst="rect">
            <a:avLst/>
          </a:prstGeom>
          <a:solidFill>
            <a:srgbClr val="2587C5"/>
          </a:solidFill>
          <a:ln/>
        </p:spPr>
      </p:sp>
      <p:sp>
        <p:nvSpPr>
          <p:cNvPr id="21" name="Text 19"/>
          <p:cNvSpPr txBox="1"/>
          <p:nvPr/>
        </p:nvSpPr>
        <p:spPr>
          <a:xfrm>
            <a:off x="8522208" y="3410712"/>
            <a:ext cx="2962656" cy="129606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Store 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department's people, rent and systems, carried whether or not a car sells</a:t>
            </a:r>
            <a:endParaRPr lang="en-US" sz="1400" dirty="0"/>
          </a:p>
        </p:txBody>
      </p:sp>
      <p:sp>
        <p:nvSpPr>
          <p:cNvPr id="22" name="Shape 20"/>
          <p:cNvSpPr/>
          <p:nvPr/>
        </p:nvSpPr>
        <p:spPr>
          <a:xfrm>
            <a:off x="5138928" y="4816503"/>
            <a:ext cx="45720" cy="971649"/>
          </a:xfrm>
          <a:prstGeom prst="rect">
            <a:avLst/>
          </a:prstGeom>
          <a:solidFill>
            <a:srgbClr val="2587C5"/>
          </a:solidFill>
          <a:ln/>
        </p:spPr>
      </p:sp>
      <p:sp>
        <p:nvSpPr>
          <p:cNvPr id="23" name="Text 21"/>
          <p:cNvSpPr txBox="1"/>
          <p:nvPr/>
        </p:nvSpPr>
        <p:spPr>
          <a:xfrm>
            <a:off x="5266944" y="4816503"/>
            <a:ext cx="2962656" cy="97164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Warranty and internal</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Gross from warranty and reconditioning counts too</a:t>
            </a:r>
            <a:endParaRPr lang="en-US" sz="1400" dirty="0"/>
          </a:p>
        </p:txBody>
      </p:sp>
      <p:sp>
        <p:nvSpPr>
          <p:cNvPr id="24" name="Shape 22"/>
          <p:cNvSpPr/>
          <p:nvPr/>
        </p:nvSpPr>
        <p:spPr>
          <a:xfrm>
            <a:off x="8394192" y="4816503"/>
            <a:ext cx="45720" cy="971649"/>
          </a:xfrm>
          <a:prstGeom prst="rect">
            <a:avLst/>
          </a:prstGeom>
          <a:solidFill>
            <a:srgbClr val="2587C5"/>
          </a:solidFill>
          <a:ln/>
        </p:spPr>
      </p:sp>
      <p:sp>
        <p:nvSpPr>
          <p:cNvPr id="25" name="Text 23"/>
          <p:cNvSpPr txBox="1"/>
          <p:nvPr/>
        </p:nvSpPr>
        <p:spPr>
          <a:xfrm>
            <a:off x="8522208" y="4816503"/>
            <a:ext cx="2962656" cy="97164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and wholesale parts gross counts as well</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in Total Store Fixed Expenses?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2587C5"/>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PEOPLE</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$147.9M</a:t>
            </a:r>
            <a:endParaRPr lang="en-US" sz="36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61% · Salaries and wages, payroll taxes, benefits, PTO</a:t>
            </a:r>
            <a:endParaRPr lang="en-US" sz="14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2587C5"/>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BUILDING &amp; EQUIPMENT</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$39.1M</a:t>
            </a:r>
            <a:endParaRPr lang="en-US" sz="36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16% · Rent, depreciation, property taxes, utilities, insurance, building and equipment repairs</a:t>
            </a:r>
            <a:endParaRPr lang="en-US" sz="14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2587C5"/>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SYSTEMS &amp; SERVICES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$36.4M</a:t>
            </a:r>
            <a:endParaRPr lang="en-US" sz="36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15% · DMS and IT, outside services, phones, legal and audit</a:t>
            </a:r>
            <a:endParaRPr lang="en-US" sz="14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EVERYTHING ELSE</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$19.5M</a:t>
            </a:r>
            <a:endParaRPr lang="en-US" sz="36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8% · Service and parts advertising, training, company vehicles, freight, supplies, travel, other taxes</a:t>
            </a:r>
            <a:endParaRPr lang="en-US" sz="14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Not included: sales and F&amp;I commissions, delivery, policy, floorplan interest and new and used vehicle advertising, the costs that rise and fall with each car sold.</a:t>
            </a:r>
            <a:endParaRPr lang="en-US" sz="1700" dirty="0"/>
          </a:p>
        </p:txBody>
      </p:sp>
      <p:sp>
        <p:nvSpPr>
          <p:cNvPr id="27" name="Shape 25"/>
          <p:cNvSpPr/>
          <p:nvPr/>
        </p:nvSpPr>
        <p:spPr>
          <a:xfrm>
            <a:off x="457200" y="6126480"/>
            <a:ext cx="11274552" cy="615696"/>
          </a:xfrm>
          <a:prstGeom prst="rect">
            <a:avLst/>
          </a:prstGeom>
          <a:solidFill>
            <a:srgbClr val="EDF4FA"/>
          </a:solidFill>
          <a:ln/>
        </p:spPr>
      </p:sp>
      <p:sp>
        <p:nvSpPr>
          <p:cNvPr id="28"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$242.9M of fixed expenses Jan-Sep 2026; fixed ops gross of $189.7M covers 78.1% of it. People are 61% of the total.</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Ops Net Profit?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Fixed ops net profit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gross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expenses</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What service and parts keep after paying their own people, building, systems and supplies.</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Gross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Expenses  </a:t>
            </a:r>
            <a:pPr algn="ctr" indent="0" marL="0">
              <a:buNone/>
            </a:pPr>
            <a:r>
              <a:rPr lang="en-US" sz="1400" b="1" dirty="0">
                <a:solidFill>
                  <a:srgbClr val="0B2C4A"/>
                </a:solidFill>
                <a:latin typeface="Inter" pitchFamily="34" charset="0"/>
                <a:ea typeface="Inter" pitchFamily="34" charset="-122"/>
                <a:cs typeface="Inter" pitchFamily="34" charset="-120"/>
              </a:rPr>
              <a:t>$138.35M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Net profit  </a:t>
            </a:r>
            <a:pPr algn="ctr" indent="0" marL="0">
              <a:buNone/>
            </a:pPr>
            <a:r>
              <a:rPr lang="en-US" sz="1400" b="1" dirty="0">
                <a:solidFill>
                  <a:srgbClr val="0B2C4A"/>
                </a:solidFill>
                <a:latin typeface="Inter" pitchFamily="34" charset="0"/>
                <a:ea typeface="Inter" pitchFamily="34" charset="-122"/>
                <a:cs typeface="Inter" pitchFamily="34" charset="-120"/>
              </a:rPr>
              <a:t>$50.45M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what fixed ops actually contributes to the store.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profit shrinks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 dollar of expense saved drops straight to the bottom line. Adding that same $1 through sales takes about $6.89 of service and parts sales.</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lever in this deck: ROs, hours, ELR, margin</a:t>
            </a:r>
            <a:endParaRPr lang="en-US" sz="1400" dirty="0"/>
          </a:p>
        </p:txBody>
      </p:sp>
      <p:sp>
        <p:nvSpPr>
          <p:cNvPr id="22" name="Shape 20"/>
          <p:cNvSpPr/>
          <p:nvPr/>
        </p:nvSpPr>
        <p:spPr>
          <a:xfrm>
            <a:off x="8394192" y="3410712"/>
            <a:ext cx="45720" cy="1133856"/>
          </a:xfrm>
          <a:prstGeom prst="rect">
            <a:avLst/>
          </a:prstGeom>
          <a:solidFill>
            <a:srgbClr val="2587C5"/>
          </a:solidFill>
          <a:ln/>
        </p:spPr>
      </p:sp>
      <p:sp>
        <p:nvSpPr>
          <p:cNvPr id="23" name="Text 21"/>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largest expense: staffing to the workload, pay plans tied to gross</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Productivity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gross from the same team and the same stalls</a:t>
            </a:r>
            <a:endParaRPr lang="en-US" sz="1400" dirty="0"/>
          </a:p>
        </p:txBody>
      </p:sp>
      <p:sp>
        <p:nvSpPr>
          <p:cNvPr id="26" name="Shape 24"/>
          <p:cNvSpPr/>
          <p:nvPr/>
        </p:nvSpPr>
        <p:spPr>
          <a:xfrm>
            <a:off x="8394192" y="4654296"/>
            <a:ext cx="45720" cy="1133856"/>
          </a:xfrm>
          <a:prstGeom prst="rect">
            <a:avLst/>
          </a:prstGeom>
          <a:solidFill>
            <a:srgbClr val="2587C5"/>
          </a:solidFill>
          <a:ln/>
        </p:spPr>
      </p:sp>
      <p:sp>
        <p:nvSpPr>
          <p:cNvPr id="27" name="Text 25"/>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Spending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outside services, policy and comebacks</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$50.45M fixed ops net profit, +11.3%. Gross grew +4.1%; department expenses +1.7%.</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$45.34M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$50.45M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+$5.11M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net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+$5.11M (+11.3%) year to date; 7 of nine months ahead of 2025, best September at +$1.61M.</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$50.45M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$7.83M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419699"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391651"/>
            <a:ext cx="1154907"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7588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$3.32M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86722"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606903"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7" name="Shape 35"/>
          <p:cNvSpPr/>
          <p:nvPr/>
        </p:nvSpPr>
        <p:spPr>
          <a:xfrm>
            <a:off x="2980944" y="3351233"/>
            <a:ext cx="529462"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77227"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2980944" y="3831024"/>
            <a:ext cx="424033"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$1.82M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421495"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2980944" y="4310815"/>
            <a:ext cx="310696"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2980944" y="4550711"/>
            <a:ext cx="308094"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$1.32M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2980944" y="4790606"/>
            <a:ext cx="27993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$1.20M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273031"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2980944" y="5270397"/>
            <a:ext cx="272418"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3" name="Shape 71"/>
          <p:cNvSpPr/>
          <p:nvPr/>
        </p:nvSpPr>
        <p:spPr>
          <a:xfrm>
            <a:off x="2980944" y="5510293"/>
            <a:ext cx="261785"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25469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31352" y="1911860"/>
            <a:ext cx="230085"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$985,141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31352" y="2151755"/>
            <a:ext cx="210561"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$901,549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186954"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$800,469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8531352" y="2631546"/>
            <a:ext cx="164685"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$705,121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8531352" y="2871442"/>
            <a:ext cx="163331"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$699,325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31352" y="3111337"/>
            <a:ext cx="158180"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$677,269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8531352" y="3351233"/>
            <a:ext cx="117270"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$502,109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111208"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$476,154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31352" y="3831024"/>
            <a:ext cx="99951"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$427,953</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7" name="Shape 115"/>
          <p:cNvSpPr/>
          <p:nvPr/>
        </p:nvSpPr>
        <p:spPr>
          <a:xfrm>
            <a:off x="8531352" y="4070920"/>
            <a:ext cx="30021"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$128,541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25197"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$107,886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22055"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$94,430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31352" y="4790606"/>
            <a:ext cx="1856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$79,496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31352" y="5030502"/>
            <a:ext cx="18288"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$19,561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18288" cy="110352"/>
          </a:xfrm>
          <a:prstGeom prst="rect">
            <a:avLst/>
          </a:prstGeom>
          <a:solidFill>
            <a:srgbClr val="C2352F"/>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−$58,644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31352" y="5510293"/>
            <a:ext cx="31883" cy="110352"/>
          </a:xfrm>
          <a:prstGeom prst="rect">
            <a:avLst/>
          </a:prstGeom>
          <a:solidFill>
            <a:srgbClr val="C2352F"/>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−$136,511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615696"/>
          </a:xfrm>
          <a:prstGeom prst="rect">
            <a:avLst/>
          </a:prstGeom>
          <a:solidFill>
            <a:srgbClr val="EDF4FA"/>
          </a:solidFill>
          <a:ln/>
        </p:spPr>
      </p:sp>
      <p:sp>
        <p:nvSpPr>
          <p:cNvPr id="145" name="Text 14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$7.83M of the group's $50.45M. 2 stores are losing money in fixed ops, Hyundai Prescott the most at −$136,511.</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+$5.11M  ·  +11.3%</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338388"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+$838K</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7" name="Shape 25"/>
          <p:cNvSpPr/>
          <p:nvPr/>
        </p:nvSpPr>
        <p:spPr>
          <a:xfrm>
            <a:off x="3579876" y="2629341"/>
            <a:ext cx="309104"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+$766K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2" name="Shape 30"/>
          <p:cNvSpPr/>
          <p:nvPr/>
        </p:nvSpPr>
        <p:spPr>
          <a:xfrm>
            <a:off x="3579876" y="2853100"/>
            <a:ext cx="279424"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+$692K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+12.9%</a:t>
            </a:r>
            <a:endParaRPr lang="en-US" sz="1200" dirty="0"/>
          </a:p>
        </p:txBody>
      </p:sp>
      <p:sp>
        <p:nvSpPr>
          <p:cNvPr id="35" name="Shape 33"/>
          <p:cNvSpPr/>
          <p:nvPr/>
        </p:nvSpPr>
        <p:spPr>
          <a:xfrm>
            <a:off x="612648" y="3025588"/>
            <a:ext cx="5138928" cy="205471"/>
          </a:xfrm>
          <a:prstGeom prst="rect">
            <a:avLst/>
          </a:prstGeom>
          <a:solidFill>
            <a:srgbClr val="E6F6EE"/>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19525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+$484K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3" name="Shape 41"/>
          <p:cNvSpPr/>
          <p:nvPr/>
        </p:nvSpPr>
        <p:spPr>
          <a:xfrm>
            <a:off x="3579876" y="3300618"/>
            <a:ext cx="170398"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8" name="Shape 46"/>
          <p:cNvSpPr/>
          <p:nvPr/>
        </p:nvSpPr>
        <p:spPr>
          <a:xfrm>
            <a:off x="3579876" y="3524377"/>
            <a:ext cx="136037"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+$337K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1" name="Text 49"/>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2" name="Text 50"/>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53" name="Shape 51"/>
          <p:cNvSpPr/>
          <p:nvPr/>
        </p:nvSpPr>
        <p:spPr>
          <a:xfrm>
            <a:off x="3579876" y="3748136"/>
            <a:ext cx="117971" cy="102929"/>
          </a:xfrm>
          <a:prstGeom prst="rect">
            <a:avLst/>
          </a:prstGeom>
          <a:solidFill>
            <a:srgbClr val="12A566"/>
          </a:solidFill>
          <a:ln/>
        </p:spPr>
      </p:sp>
      <p:sp>
        <p:nvSpPr>
          <p:cNvPr id="54" name="Text 52"/>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55" name="Text 53"/>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+215.4%</a:t>
            </a:r>
            <a:endParaRPr lang="en-US" sz="1200" dirty="0"/>
          </a:p>
        </p:txBody>
      </p:sp>
      <p:sp>
        <p:nvSpPr>
          <p:cNvPr id="56" name="Shape 54"/>
          <p:cNvSpPr/>
          <p:nvPr/>
        </p:nvSpPr>
        <p:spPr>
          <a:xfrm>
            <a:off x="5907024" y="3733441"/>
            <a:ext cx="54864" cy="132319"/>
          </a:xfrm>
          <a:prstGeom prst="rect">
            <a:avLst/>
          </a:prstGeom>
          <a:solidFill>
            <a:srgbClr val="12A566"/>
          </a:solidFill>
          <a:ln/>
        </p:spPr>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9" name="Shape 57"/>
          <p:cNvSpPr/>
          <p:nvPr/>
        </p:nvSpPr>
        <p:spPr>
          <a:xfrm>
            <a:off x="3579876" y="3971895"/>
            <a:ext cx="115044"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+$285K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+32.3%</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4" name="Shape 62"/>
          <p:cNvSpPr/>
          <p:nvPr/>
        </p:nvSpPr>
        <p:spPr>
          <a:xfrm>
            <a:off x="3579876" y="4195654"/>
            <a:ext cx="87555"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+83.7%</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9" name="Shape 67"/>
          <p:cNvSpPr/>
          <p:nvPr/>
        </p:nvSpPr>
        <p:spPr>
          <a:xfrm>
            <a:off x="3579876" y="4419414"/>
            <a:ext cx="83153"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+$206K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72" name="Shape 70"/>
          <p:cNvSpPr/>
          <p:nvPr/>
        </p:nvSpPr>
        <p:spPr>
          <a:xfrm>
            <a:off x="612648" y="4591902"/>
            <a:ext cx="5138928" cy="205471"/>
          </a:xfrm>
          <a:prstGeom prst="rect">
            <a:avLst/>
          </a:prstGeom>
          <a:solidFill>
            <a:srgbClr val="E6F6EE"/>
          </a:solidFill>
          <a:ln/>
        </p:spPr>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5" name="Shape 73"/>
          <p:cNvSpPr/>
          <p:nvPr/>
        </p:nvSpPr>
        <p:spPr>
          <a:xfrm>
            <a:off x="3579876" y="4643173"/>
            <a:ext cx="73936"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+335.3%</a:t>
            </a:r>
            <a:endParaRPr lang="en-US" sz="1200" dirty="0"/>
          </a:p>
        </p:txBody>
      </p:sp>
      <p:sp>
        <p:nvSpPr>
          <p:cNvPr id="78" name="Shape 76"/>
          <p:cNvSpPr/>
          <p:nvPr/>
        </p:nvSpPr>
        <p:spPr>
          <a:xfrm>
            <a:off x="5907024" y="4628478"/>
            <a:ext cx="54864" cy="132319"/>
          </a:xfrm>
          <a:prstGeom prst="rect">
            <a:avLst/>
          </a:prstGeom>
          <a:solidFill>
            <a:srgbClr val="12A566"/>
          </a:solidFill>
          <a:ln/>
        </p:spPr>
      </p:sp>
      <p:sp>
        <p:nvSpPr>
          <p:cNvPr id="79" name="Text 77"/>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0" name="Text 78"/>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3579876" y="4866932"/>
            <a:ext cx="62602" cy="102929"/>
          </a:xfrm>
          <a:prstGeom prst="rect">
            <a:avLst/>
          </a:prstGeom>
          <a:solidFill>
            <a:srgbClr val="12A566"/>
          </a:solidFill>
          <a:ln/>
        </p:spPr>
      </p:sp>
      <p:sp>
        <p:nvSpPr>
          <p:cNvPr id="82" name="Text 80"/>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+$155K</a:t>
            </a:r>
            <a:endParaRPr lang="en-US" sz="1200" dirty="0"/>
          </a:p>
        </p:txBody>
      </p:sp>
      <p:sp>
        <p:nvSpPr>
          <p:cNvPr id="83" name="Text 81"/>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+13.2%</a:t>
            </a:r>
            <a:endParaRPr lang="en-US" sz="1200" dirty="0"/>
          </a:p>
        </p:txBody>
      </p:sp>
      <p:sp>
        <p:nvSpPr>
          <p:cNvPr id="84" name="Text 82"/>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5" name="Text 83"/>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6" name="Shape 84"/>
          <p:cNvSpPr/>
          <p:nvPr/>
        </p:nvSpPr>
        <p:spPr>
          <a:xfrm>
            <a:off x="3579876" y="5090691"/>
            <a:ext cx="61490" cy="102929"/>
          </a:xfrm>
          <a:prstGeom prst="rect">
            <a:avLst/>
          </a:prstGeom>
          <a:solidFill>
            <a:srgbClr val="12A566"/>
          </a:solidFill>
          <a:ln/>
        </p:spPr>
      </p:sp>
      <p:sp>
        <p:nvSpPr>
          <p:cNvPr id="87" name="Text 85"/>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+$152K</a:t>
            </a:r>
            <a:endParaRPr lang="en-US" sz="1200" dirty="0"/>
          </a:p>
        </p:txBody>
      </p:sp>
      <p:sp>
        <p:nvSpPr>
          <p:cNvPr id="88" name="Text 86"/>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89" name="Shape 87"/>
          <p:cNvSpPr/>
          <p:nvPr/>
        </p:nvSpPr>
        <p:spPr>
          <a:xfrm>
            <a:off x="612648" y="5263179"/>
            <a:ext cx="5138928" cy="205471"/>
          </a:xfrm>
          <a:prstGeom prst="rect">
            <a:avLst/>
          </a:prstGeom>
          <a:solidFill>
            <a:srgbClr val="E6F6EE"/>
          </a:solidFill>
          <a:ln/>
        </p:spPr>
      </p:sp>
      <p:sp>
        <p:nvSpPr>
          <p:cNvPr id="90" name="Text 88"/>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1" name="Text 89"/>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2" name="Shape 90"/>
          <p:cNvSpPr/>
          <p:nvPr/>
        </p:nvSpPr>
        <p:spPr>
          <a:xfrm>
            <a:off x="3579876" y="5314450"/>
            <a:ext cx="58162" cy="102929"/>
          </a:xfrm>
          <a:prstGeom prst="rect">
            <a:avLst/>
          </a:prstGeom>
          <a:solidFill>
            <a:srgbClr val="12A566"/>
          </a:solidFill>
          <a:ln/>
        </p:spPr>
      </p:sp>
      <p:sp>
        <p:nvSpPr>
          <p:cNvPr id="93" name="Text 91"/>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+$144K</a:t>
            </a:r>
            <a:endParaRPr lang="en-US" sz="1200" dirty="0"/>
          </a:p>
        </p:txBody>
      </p:sp>
      <p:sp>
        <p:nvSpPr>
          <p:cNvPr id="94" name="Text 92"/>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+115.7%</a:t>
            </a:r>
            <a:endParaRPr lang="en-US" sz="1200" dirty="0"/>
          </a:p>
        </p:txBody>
      </p:sp>
      <p:sp>
        <p:nvSpPr>
          <p:cNvPr id="95" name="Text 93"/>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6" name="Text 94"/>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3579876" y="5538209"/>
            <a:ext cx="54233" cy="102929"/>
          </a:xfrm>
          <a:prstGeom prst="rect">
            <a:avLst/>
          </a:prstGeom>
          <a:solidFill>
            <a:srgbClr val="12A566"/>
          </a:solidFill>
          <a:ln/>
        </p:spPr>
      </p:sp>
      <p:sp>
        <p:nvSpPr>
          <p:cNvPr id="98" name="Text 96"/>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+$134K</a:t>
            </a:r>
            <a:endParaRPr lang="en-US" sz="1200" dirty="0"/>
          </a:p>
        </p:txBody>
      </p:sp>
      <p:sp>
        <p:nvSpPr>
          <p:cNvPr id="99" name="Text 97"/>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00" name="Text 98"/>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1" name="Text 99"/>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2" name="Shape 100"/>
          <p:cNvSpPr/>
          <p:nvPr/>
        </p:nvSpPr>
        <p:spPr>
          <a:xfrm>
            <a:off x="3579876" y="5761968"/>
            <a:ext cx="52684" cy="102929"/>
          </a:xfrm>
          <a:prstGeom prst="rect">
            <a:avLst/>
          </a:prstGeom>
          <a:solidFill>
            <a:srgbClr val="12A566"/>
          </a:solidFill>
          <a:ln/>
        </p:spPr>
      </p:sp>
      <p:sp>
        <p:nvSpPr>
          <p:cNvPr id="103" name="Text 101"/>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+$131K</a:t>
            </a:r>
            <a:endParaRPr lang="en-US" sz="1200" dirty="0"/>
          </a:p>
        </p:txBody>
      </p:sp>
      <p:sp>
        <p:nvSpPr>
          <p:cNvPr id="104" name="Text 102"/>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105" name="Text 103"/>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6" name="Text 104"/>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181823"/>
            <a:ext cx="45718" cy="102929"/>
          </a:xfrm>
          <a:prstGeom prst="rect">
            <a:avLst/>
          </a:prstGeom>
          <a:solidFill>
            <a:srgbClr val="12A566"/>
          </a:solidFill>
          <a:ln/>
        </p:spPr>
      </p:sp>
      <p:sp>
        <p:nvSpPr>
          <p:cNvPr id="108" name="Text 106"/>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09" name="Text 107"/>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110" name="Text 108"/>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1" name="Text 109"/>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405582"/>
            <a:ext cx="39446" cy="102929"/>
          </a:xfrm>
          <a:prstGeom prst="rect">
            <a:avLst/>
          </a:prstGeom>
          <a:solidFill>
            <a:srgbClr val="12A566"/>
          </a:solidFill>
          <a:ln/>
        </p:spPr>
      </p:sp>
      <p:sp>
        <p:nvSpPr>
          <p:cNvPr id="113" name="Text 111"/>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+$98K</a:t>
            </a:r>
            <a:endParaRPr lang="en-US" sz="1200" dirty="0"/>
          </a:p>
        </p:txBody>
      </p:sp>
      <p:sp>
        <p:nvSpPr>
          <p:cNvPr id="114" name="Text 112"/>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115" name="Text 11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6" name="Text 11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9130284" y="2629341"/>
            <a:ext cx="38729" cy="102929"/>
          </a:xfrm>
          <a:prstGeom prst="rect">
            <a:avLst/>
          </a:prstGeom>
          <a:solidFill>
            <a:srgbClr val="12A566"/>
          </a:solidFill>
          <a:ln/>
        </p:spPr>
      </p:sp>
      <p:sp>
        <p:nvSpPr>
          <p:cNvPr id="118" name="Text 116"/>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+$96K</a:t>
            </a:r>
            <a:endParaRPr lang="en-US" sz="1200" dirty="0"/>
          </a:p>
        </p:txBody>
      </p:sp>
      <p:sp>
        <p:nvSpPr>
          <p:cNvPr id="119" name="Text 117"/>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+41.3%</a:t>
            </a:r>
            <a:endParaRPr lang="en-US" sz="1200" dirty="0"/>
          </a:p>
        </p:txBody>
      </p:sp>
      <p:sp>
        <p:nvSpPr>
          <p:cNvPr id="120" name="Text 118"/>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1" name="Text 119"/>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2" name="Shape 120"/>
          <p:cNvSpPr/>
          <p:nvPr/>
        </p:nvSpPr>
        <p:spPr>
          <a:xfrm>
            <a:off x="9130284" y="2853100"/>
            <a:ext cx="21715" cy="102929"/>
          </a:xfrm>
          <a:prstGeom prst="rect">
            <a:avLst/>
          </a:prstGeom>
          <a:solidFill>
            <a:srgbClr val="12A566"/>
          </a:solidFill>
          <a:ln/>
        </p:spPr>
      </p:sp>
      <p:sp>
        <p:nvSpPr>
          <p:cNvPr id="123" name="Text 121"/>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+$54K</a:t>
            </a:r>
            <a:endParaRPr lang="en-US" sz="1200" dirty="0"/>
          </a:p>
        </p:txBody>
      </p:sp>
      <p:sp>
        <p:nvSpPr>
          <p:cNvPr id="124" name="Text 122"/>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a:t>
            </a:r>
            <a:endParaRPr lang="en-US" sz="1200" dirty="0"/>
          </a:p>
        </p:txBody>
      </p:sp>
      <p:sp>
        <p:nvSpPr>
          <p:cNvPr id="125" name="Text 123"/>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6" name="Text 124"/>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7" name="Shape 125"/>
          <p:cNvSpPr/>
          <p:nvPr/>
        </p:nvSpPr>
        <p:spPr>
          <a:xfrm>
            <a:off x="9130284" y="3076859"/>
            <a:ext cx="21414" cy="102929"/>
          </a:xfrm>
          <a:prstGeom prst="rect">
            <a:avLst/>
          </a:prstGeom>
          <a:solidFill>
            <a:srgbClr val="12A566"/>
          </a:solidFill>
          <a:ln/>
        </p:spPr>
      </p:sp>
      <p:sp>
        <p:nvSpPr>
          <p:cNvPr id="128" name="Text 126"/>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+$53K</a:t>
            </a:r>
            <a:endParaRPr lang="en-US" sz="1200" dirty="0"/>
          </a:p>
        </p:txBody>
      </p:sp>
      <p:sp>
        <p:nvSpPr>
          <p:cNvPr id="129" name="Text 127"/>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+200.6%</a:t>
            </a:r>
            <a:endParaRPr lang="en-US" sz="1200" dirty="0"/>
          </a:p>
        </p:txBody>
      </p:sp>
      <p:sp>
        <p:nvSpPr>
          <p:cNvPr id="130" name="Shape 128"/>
          <p:cNvSpPr/>
          <p:nvPr/>
        </p:nvSpPr>
        <p:spPr>
          <a:xfrm>
            <a:off x="11457432" y="3062164"/>
            <a:ext cx="54864" cy="132319"/>
          </a:xfrm>
          <a:prstGeom prst="rect">
            <a:avLst/>
          </a:prstGeom>
          <a:solidFill>
            <a:srgbClr val="12A566"/>
          </a:solidFill>
          <a:ln/>
        </p:spPr>
      </p:sp>
      <p:sp>
        <p:nvSpPr>
          <p:cNvPr id="131" name="Text 12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3" name="Shape 131"/>
          <p:cNvSpPr/>
          <p:nvPr/>
        </p:nvSpPr>
        <p:spPr>
          <a:xfrm>
            <a:off x="9130284" y="3300618"/>
            <a:ext cx="12802" cy="102929"/>
          </a:xfrm>
          <a:prstGeom prst="rect">
            <a:avLst/>
          </a:prstGeom>
          <a:solidFill>
            <a:srgbClr val="12A566"/>
          </a:solidFill>
          <a:ln/>
        </p:spPr>
      </p:sp>
      <p:sp>
        <p:nvSpPr>
          <p:cNvPr id="134" name="Text 132"/>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+$6K</a:t>
            </a:r>
            <a:endParaRPr lang="en-US" sz="1200" dirty="0"/>
          </a:p>
        </p:txBody>
      </p:sp>
      <p:sp>
        <p:nvSpPr>
          <p:cNvPr id="135" name="Text 133"/>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36" name="Text 13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8" name="Shape 136"/>
          <p:cNvSpPr/>
          <p:nvPr/>
        </p:nvSpPr>
        <p:spPr>
          <a:xfrm>
            <a:off x="9130284" y="3524377"/>
            <a:ext cx="12802" cy="102929"/>
          </a:xfrm>
          <a:prstGeom prst="rect">
            <a:avLst/>
          </a:prstGeom>
          <a:solidFill>
            <a:srgbClr val="12A566"/>
          </a:solidFill>
          <a:ln/>
        </p:spPr>
      </p:sp>
      <p:sp>
        <p:nvSpPr>
          <p:cNvPr id="139" name="Text 137"/>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+$3K</a:t>
            </a:r>
            <a:endParaRPr lang="en-US" sz="1200" dirty="0"/>
          </a:p>
        </p:txBody>
      </p:sp>
      <p:sp>
        <p:nvSpPr>
          <p:cNvPr id="140" name="Text 138"/>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41" name="Text 13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3" name="Shape 141"/>
          <p:cNvSpPr/>
          <p:nvPr/>
        </p:nvSpPr>
        <p:spPr>
          <a:xfrm>
            <a:off x="9099640" y="3748136"/>
            <a:ext cx="30644" cy="102929"/>
          </a:xfrm>
          <a:prstGeom prst="rect">
            <a:avLst/>
          </a:prstGeom>
          <a:solidFill>
            <a:srgbClr val="C2352F"/>
          </a:solidFill>
          <a:ln/>
        </p:spPr>
      </p:sp>
      <p:sp>
        <p:nvSpPr>
          <p:cNvPr id="144" name="Text 142"/>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−$76K</a:t>
            </a:r>
            <a:endParaRPr lang="en-US" sz="1200" dirty="0"/>
          </a:p>
        </p:txBody>
      </p:sp>
      <p:sp>
        <p:nvSpPr>
          <p:cNvPr id="145" name="Text 143"/>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46" name="Text 14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8" name="Shape 146"/>
          <p:cNvSpPr/>
          <p:nvPr/>
        </p:nvSpPr>
        <p:spPr>
          <a:xfrm>
            <a:off x="9095358" y="3971895"/>
            <a:ext cx="34926" cy="102929"/>
          </a:xfrm>
          <a:prstGeom prst="rect">
            <a:avLst/>
          </a:prstGeom>
          <a:solidFill>
            <a:srgbClr val="C2352F"/>
          </a:solidFill>
          <a:ln/>
        </p:spPr>
      </p:sp>
      <p:sp>
        <p:nvSpPr>
          <p:cNvPr id="149" name="Text 147"/>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−$87K</a:t>
            </a:r>
            <a:endParaRPr lang="en-US" sz="1200" dirty="0"/>
          </a:p>
        </p:txBody>
      </p:sp>
      <p:sp>
        <p:nvSpPr>
          <p:cNvPr id="150" name="Text 148"/>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a:t>
            </a:r>
            <a:endParaRPr lang="en-US" sz="1200" dirty="0"/>
          </a:p>
        </p:txBody>
      </p:sp>
      <p:sp>
        <p:nvSpPr>
          <p:cNvPr id="151" name="Text 14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9091461" y="4195654"/>
            <a:ext cx="38823" cy="102929"/>
          </a:xfrm>
          <a:prstGeom prst="rect">
            <a:avLst/>
          </a:prstGeom>
          <a:solidFill>
            <a:srgbClr val="C2352F"/>
          </a:solidFill>
          <a:ln/>
        </p:spPr>
      </p:sp>
      <p:sp>
        <p:nvSpPr>
          <p:cNvPr id="154" name="Text 152"/>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−$96K</a:t>
            </a:r>
            <a:endParaRPr lang="en-US" sz="1200" dirty="0"/>
          </a:p>
        </p:txBody>
      </p:sp>
      <p:sp>
        <p:nvSpPr>
          <p:cNvPr id="155" name="Text 153"/>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−47.1%</a:t>
            </a:r>
            <a:endParaRPr lang="en-US" sz="1200" dirty="0"/>
          </a:p>
        </p:txBody>
      </p:sp>
      <p:sp>
        <p:nvSpPr>
          <p:cNvPr id="156" name="Shape 154"/>
          <p:cNvSpPr/>
          <p:nvPr/>
        </p:nvSpPr>
        <p:spPr>
          <a:xfrm>
            <a:off x="11457432" y="4180960"/>
            <a:ext cx="54864" cy="132319"/>
          </a:xfrm>
          <a:prstGeom prst="rect">
            <a:avLst/>
          </a:prstGeom>
          <a:solidFill>
            <a:srgbClr val="C2352F"/>
          </a:solidFill>
          <a:ln/>
        </p:spPr>
      </p:sp>
      <p:sp>
        <p:nvSpPr>
          <p:cNvPr id="157" name="Text 155"/>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8" name="Text 156"/>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9" name="Shape 157"/>
          <p:cNvSpPr/>
          <p:nvPr/>
        </p:nvSpPr>
        <p:spPr>
          <a:xfrm>
            <a:off x="9071103" y="4419414"/>
            <a:ext cx="59181" cy="102929"/>
          </a:xfrm>
          <a:prstGeom prst="rect">
            <a:avLst/>
          </a:prstGeom>
          <a:solidFill>
            <a:srgbClr val="C2352F"/>
          </a:solidFill>
          <a:ln/>
        </p:spPr>
      </p:sp>
      <p:sp>
        <p:nvSpPr>
          <p:cNvPr id="160" name="Text 158"/>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−$147K</a:t>
            </a:r>
            <a:endParaRPr lang="en-US" sz="1200" dirty="0"/>
          </a:p>
        </p:txBody>
      </p:sp>
      <p:sp>
        <p:nvSpPr>
          <p:cNvPr id="161" name="Text 159"/>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62" name="Text 160"/>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3" name="Text 161"/>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9058567" y="4643173"/>
            <a:ext cx="71717" cy="102929"/>
          </a:xfrm>
          <a:prstGeom prst="rect">
            <a:avLst/>
          </a:prstGeom>
          <a:solidFill>
            <a:srgbClr val="C2352F"/>
          </a:solidFill>
          <a:ln/>
        </p:spPr>
      </p:sp>
      <p:sp>
        <p:nvSpPr>
          <p:cNvPr id="165" name="Text 163"/>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−$178K</a:t>
            </a:r>
            <a:endParaRPr lang="en-US" sz="1200" dirty="0"/>
          </a:p>
        </p:txBody>
      </p:sp>
      <p:sp>
        <p:nvSpPr>
          <p:cNvPr id="166" name="Text 164"/>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67" name="Shape 165"/>
          <p:cNvSpPr/>
          <p:nvPr/>
        </p:nvSpPr>
        <p:spPr>
          <a:xfrm>
            <a:off x="6163056" y="4815661"/>
            <a:ext cx="5138928" cy="205471"/>
          </a:xfrm>
          <a:prstGeom prst="rect">
            <a:avLst/>
          </a:prstGeom>
          <a:solidFill>
            <a:srgbClr val="FBEBEA"/>
          </a:solidFill>
          <a:ln/>
        </p:spPr>
      </p:sp>
      <p:sp>
        <p:nvSpPr>
          <p:cNvPr id="168" name="Text 166"/>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9" name="Text 167"/>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0" name="Shape 168"/>
          <p:cNvSpPr/>
          <p:nvPr/>
        </p:nvSpPr>
        <p:spPr>
          <a:xfrm>
            <a:off x="9044670" y="4866932"/>
            <a:ext cx="85614" cy="102929"/>
          </a:xfrm>
          <a:prstGeom prst="rect">
            <a:avLst/>
          </a:prstGeom>
          <a:solidFill>
            <a:srgbClr val="C2352F"/>
          </a:solidFill>
          <a:ln/>
        </p:spPr>
      </p:sp>
      <p:sp>
        <p:nvSpPr>
          <p:cNvPr id="171" name="Text 169"/>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−$212K</a:t>
            </a:r>
            <a:endParaRPr lang="en-US" sz="1200" dirty="0"/>
          </a:p>
        </p:txBody>
      </p:sp>
      <p:sp>
        <p:nvSpPr>
          <p:cNvPr id="172" name="Text 170"/>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−138.2%</a:t>
            </a:r>
            <a:endParaRPr lang="en-US" sz="1200" dirty="0"/>
          </a:p>
        </p:txBody>
      </p:sp>
      <p:sp>
        <p:nvSpPr>
          <p:cNvPr id="173" name="Shape 171"/>
          <p:cNvSpPr/>
          <p:nvPr/>
        </p:nvSpPr>
        <p:spPr>
          <a:xfrm>
            <a:off x="11457432" y="4852237"/>
            <a:ext cx="54864" cy="132319"/>
          </a:xfrm>
          <a:prstGeom prst="rect">
            <a:avLst/>
          </a:prstGeom>
          <a:solidFill>
            <a:srgbClr val="C2352F"/>
          </a:solidFill>
          <a:ln/>
        </p:spPr>
      </p:sp>
      <p:sp>
        <p:nvSpPr>
          <p:cNvPr id="174" name="Text 172"/>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5" name="Text 173"/>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6" name="Shape 174"/>
          <p:cNvSpPr/>
          <p:nvPr/>
        </p:nvSpPr>
        <p:spPr>
          <a:xfrm>
            <a:off x="9022168" y="5090691"/>
            <a:ext cx="108116" cy="102929"/>
          </a:xfrm>
          <a:prstGeom prst="rect">
            <a:avLst/>
          </a:prstGeom>
          <a:solidFill>
            <a:srgbClr val="C2352F"/>
          </a:solidFill>
          <a:ln/>
        </p:spPr>
      </p:sp>
      <p:sp>
        <p:nvSpPr>
          <p:cNvPr id="177" name="Text 175"/>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−$268K</a:t>
            </a:r>
            <a:endParaRPr lang="en-US" sz="1200" dirty="0"/>
          </a:p>
        </p:txBody>
      </p:sp>
      <p:sp>
        <p:nvSpPr>
          <p:cNvPr id="178" name="Text 176"/>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−27.7%</a:t>
            </a:r>
            <a:endParaRPr lang="en-US" sz="1200" dirty="0"/>
          </a:p>
        </p:txBody>
      </p:sp>
      <p:sp>
        <p:nvSpPr>
          <p:cNvPr id="179" name="Text 177"/>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80" name="Text 178"/>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1" name="Shape 179"/>
          <p:cNvSpPr/>
          <p:nvPr/>
        </p:nvSpPr>
        <p:spPr>
          <a:xfrm>
            <a:off x="8945616" y="5314450"/>
            <a:ext cx="184668" cy="102929"/>
          </a:xfrm>
          <a:prstGeom prst="rect">
            <a:avLst/>
          </a:prstGeom>
          <a:solidFill>
            <a:srgbClr val="C2352F"/>
          </a:solidFill>
          <a:ln/>
        </p:spPr>
      </p:sp>
      <p:sp>
        <p:nvSpPr>
          <p:cNvPr id="182" name="Text 180"/>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−$457K</a:t>
            </a:r>
            <a:endParaRPr lang="en-US" sz="1200" dirty="0"/>
          </a:p>
        </p:txBody>
      </p:sp>
      <p:sp>
        <p:nvSpPr>
          <p:cNvPr id="183" name="Text 181"/>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−29.6%</a:t>
            </a:r>
            <a:endParaRPr lang="en-US" sz="1200" dirty="0"/>
          </a:p>
        </p:txBody>
      </p:sp>
      <p:sp>
        <p:nvSpPr>
          <p:cNvPr id="184" name="Shape 182"/>
          <p:cNvSpPr/>
          <p:nvPr/>
        </p:nvSpPr>
        <p:spPr>
          <a:xfrm>
            <a:off x="11457432" y="5299755"/>
            <a:ext cx="54864" cy="132319"/>
          </a:xfrm>
          <a:prstGeom prst="rect">
            <a:avLst/>
          </a:prstGeom>
          <a:solidFill>
            <a:srgbClr val="C2352F"/>
          </a:solidFill>
          <a:ln/>
        </p:spPr>
      </p:sp>
      <p:sp>
        <p:nvSpPr>
          <p:cNvPr id="185" name="Text 18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6" name="Text 18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7" name="Shape 185"/>
          <p:cNvSpPr/>
          <p:nvPr/>
        </p:nvSpPr>
        <p:spPr>
          <a:xfrm>
            <a:off x="8870602" y="5538209"/>
            <a:ext cx="259682" cy="102929"/>
          </a:xfrm>
          <a:prstGeom prst="rect">
            <a:avLst/>
          </a:prstGeom>
          <a:solidFill>
            <a:srgbClr val="C2352F"/>
          </a:solidFill>
          <a:ln/>
        </p:spPr>
      </p:sp>
      <p:sp>
        <p:nvSpPr>
          <p:cNvPr id="188" name="Text 18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−$643K</a:t>
            </a:r>
            <a:endParaRPr lang="en-US" sz="1200" dirty="0"/>
          </a:p>
        </p:txBody>
      </p:sp>
      <p:sp>
        <p:nvSpPr>
          <p:cNvPr id="189" name="Text 18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90" name="Shape 188"/>
          <p:cNvSpPr/>
          <p:nvPr/>
        </p:nvSpPr>
        <p:spPr>
          <a:xfrm>
            <a:off x="3574390" y="2121408"/>
            <a:ext cx="10973" cy="3803904"/>
          </a:xfrm>
          <a:prstGeom prst="rect">
            <a:avLst/>
          </a:prstGeom>
          <a:solidFill>
            <a:srgbClr val="9AA3AD"/>
          </a:solidFill>
          <a:ln/>
        </p:spPr>
      </p:sp>
      <p:sp>
        <p:nvSpPr>
          <p:cNvPr id="191" name="Shape 189"/>
          <p:cNvSpPr/>
          <p:nvPr/>
        </p:nvSpPr>
        <p:spPr>
          <a:xfrm>
            <a:off x="9124798" y="2121408"/>
            <a:ext cx="10973" cy="3803904"/>
          </a:xfrm>
          <a:prstGeom prst="rect">
            <a:avLst/>
          </a:prstGeom>
          <a:solidFill>
            <a:srgbClr val="9AA3AD"/>
          </a:solidFill>
          <a:ln/>
        </p:spPr>
      </p:sp>
      <p:sp>
        <p:nvSpPr>
          <p:cNvPr id="192" name="Shape 190"/>
          <p:cNvSpPr/>
          <p:nvPr/>
        </p:nvSpPr>
        <p:spPr>
          <a:xfrm>
            <a:off x="6085332" y="2121408"/>
            <a:ext cx="10973" cy="3803904"/>
          </a:xfrm>
          <a:prstGeom prst="rect">
            <a:avLst/>
          </a:prstGeom>
          <a:solidFill>
            <a:srgbClr val="D9D9D9"/>
          </a:solidFill>
          <a:ln/>
        </p:spPr>
      </p:sp>
      <p:sp>
        <p:nvSpPr>
          <p:cNvPr id="193" name="Shape 191"/>
          <p:cNvSpPr/>
          <p:nvPr/>
        </p:nvSpPr>
        <p:spPr>
          <a:xfrm>
            <a:off x="457200" y="6126480"/>
            <a:ext cx="11274552" cy="615696"/>
          </a:xfrm>
          <a:prstGeom prst="rect">
            <a:avLst/>
          </a:prstGeom>
          <a:solidFill>
            <a:srgbClr val="EDF4FA"/>
          </a:solidFill>
          <a:ln/>
        </p:spPr>
      </p:sp>
      <p:sp>
        <p:nvSpPr>
          <p:cNvPr id="194" name="Text 19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Lincoln, Subaru Prescott and GMC Prescott turned a 2025 loss into a profit (green rows); VW St George went from a profit to a loss (red row). 24 of 33 stores grew.</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$7.83M</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+$1.42M</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$4.94M</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+$838K</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$2.60M</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+$766K</a:t>
            </a:r>
            <a:endParaRPr lang="en-US" sz="1600" dirty="0"/>
          </a:p>
        </p:txBody>
      </p:sp>
      <p:sp>
        <p:nvSpPr>
          <p:cNvPr id="21" name="Shape 19"/>
          <p:cNvSpPr/>
          <p:nvPr/>
        </p:nvSpPr>
        <p:spPr>
          <a:xfrm>
            <a:off x="4084320" y="4405579"/>
            <a:ext cx="64008" cy="682142"/>
          </a:xfrm>
          <a:prstGeom prst="rect">
            <a:avLst/>
          </a:prstGeom>
          <a:solidFill>
            <a:srgbClr val="12A566"/>
          </a:solidFill>
          <a:ln/>
        </p:spPr>
      </p:sp>
      <p:sp>
        <p:nvSpPr>
          <p:cNvPr id="22" name="Text 20"/>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$5.39M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$6.08M</a:t>
            </a:r>
            <a:endParaRPr lang="en-US" sz="1400" dirty="0"/>
          </a:p>
        </p:txBody>
      </p:sp>
      <p:sp>
        <p:nvSpPr>
          <p:cNvPr id="24" name="Text 22"/>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+$692K</a:t>
            </a:r>
            <a:endParaRPr lang="en-US" sz="1600" dirty="0"/>
          </a:p>
        </p:txBody>
      </p:sp>
      <p:sp>
        <p:nvSpPr>
          <p:cNvPr id="25" name="Shape 23"/>
          <p:cNvSpPr/>
          <p:nvPr/>
        </p:nvSpPr>
        <p:spPr>
          <a:xfrm>
            <a:off x="658368" y="5124298"/>
            <a:ext cx="3489960" cy="755294"/>
          </a:xfrm>
          <a:prstGeom prst="rect">
            <a:avLst/>
          </a:prstGeom>
          <a:solidFill>
            <a:srgbClr val="F7F7F7"/>
          </a:solidFill>
          <a:ln/>
        </p:spPr>
      </p:sp>
      <p:sp>
        <p:nvSpPr>
          <p:cNvPr id="26" name="Text 24"/>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$94K</a:t>
            </a:r>
            <a:endParaRPr lang="en-US" sz="1400" dirty="0"/>
          </a:p>
        </p:txBody>
      </p:sp>
      <p:sp>
        <p:nvSpPr>
          <p:cNvPr id="28" name="Text 26"/>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+$484K</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2" name="Shape 30"/>
          <p:cNvSpPr/>
          <p:nvPr/>
        </p:nvSpPr>
        <p:spPr>
          <a:xfrm>
            <a:off x="4349496" y="2103120"/>
            <a:ext cx="3489960" cy="755294"/>
          </a:xfrm>
          <a:prstGeom prst="rect">
            <a:avLst/>
          </a:prstGeom>
          <a:solidFill>
            <a:srgbClr val="F7F7F7"/>
          </a:solidFill>
          <a:ln/>
        </p:spPr>
      </p:sp>
      <p:sp>
        <p:nvSpPr>
          <p:cNvPr id="33" name="Text 31"/>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$2.27M</a:t>
            </a:r>
            <a:endParaRPr lang="en-US" sz="1400" dirty="0"/>
          </a:p>
        </p:txBody>
      </p:sp>
      <p:sp>
        <p:nvSpPr>
          <p:cNvPr id="35" name="Text 33"/>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−$643K</a:t>
            </a:r>
            <a:endParaRPr lang="en-US" sz="1600" dirty="0"/>
          </a:p>
        </p:txBody>
      </p:sp>
      <p:sp>
        <p:nvSpPr>
          <p:cNvPr id="36" name="Text 34"/>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$1.09M</a:t>
            </a:r>
            <a:endParaRPr lang="en-US" sz="1400" dirty="0"/>
          </a:p>
        </p:txBody>
      </p:sp>
      <p:sp>
        <p:nvSpPr>
          <p:cNvPr id="38" name="Text 36"/>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−$457K</a:t>
            </a:r>
            <a:endParaRPr lang="en-US" sz="1600" dirty="0"/>
          </a:p>
        </p:txBody>
      </p:sp>
      <p:sp>
        <p:nvSpPr>
          <p:cNvPr id="39" name="Shape 37"/>
          <p:cNvSpPr/>
          <p:nvPr/>
        </p:nvSpPr>
        <p:spPr>
          <a:xfrm>
            <a:off x="4349496" y="3613709"/>
            <a:ext cx="3489960" cy="755294"/>
          </a:xfrm>
          <a:prstGeom prst="rect">
            <a:avLst/>
          </a:prstGeom>
          <a:solidFill>
            <a:srgbClr val="F7F7F7"/>
          </a:solidFill>
          <a:ln/>
        </p:spPr>
      </p:sp>
      <p:sp>
        <p:nvSpPr>
          <p:cNvPr id="40" name="Text 38"/>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$699K</a:t>
            </a:r>
            <a:endParaRPr lang="en-US" sz="1400" dirty="0"/>
          </a:p>
        </p:txBody>
      </p:sp>
      <p:sp>
        <p:nvSpPr>
          <p:cNvPr id="42" name="Text 40"/>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−$268K</a:t>
            </a:r>
            <a:endParaRPr lang="en-US" sz="1600" dirty="0"/>
          </a:p>
        </p:txBody>
      </p:sp>
      <p:sp>
        <p:nvSpPr>
          <p:cNvPr id="43" name="Text 41"/>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−$59K</a:t>
            </a:r>
            <a:endParaRPr lang="en-US" sz="1400" dirty="0"/>
          </a:p>
        </p:txBody>
      </p:sp>
      <p:sp>
        <p:nvSpPr>
          <p:cNvPr id="45" name="Text 43"/>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−$212K</a:t>
            </a:r>
            <a:endParaRPr lang="en-US" sz="1600" dirty="0"/>
          </a:p>
        </p:txBody>
      </p:sp>
      <p:sp>
        <p:nvSpPr>
          <p:cNvPr id="46" name="Shape 44"/>
          <p:cNvSpPr/>
          <p:nvPr/>
        </p:nvSpPr>
        <p:spPr>
          <a:xfrm>
            <a:off x="4349496" y="5124298"/>
            <a:ext cx="3489960" cy="755294"/>
          </a:xfrm>
          <a:prstGeom prst="rect">
            <a:avLst/>
          </a:prstGeom>
          <a:solidFill>
            <a:srgbClr val="F7F7F7"/>
          </a:solidFill>
          <a:ln/>
        </p:spPr>
      </p:sp>
      <p:sp>
        <p:nvSpPr>
          <p:cNvPr id="47" name="Text 45"/>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$1.82M</a:t>
            </a:r>
            <a:endParaRPr lang="en-US" sz="1400" dirty="0"/>
          </a:p>
        </p:txBody>
      </p:sp>
      <p:sp>
        <p:nvSpPr>
          <p:cNvPr id="49" name="Text 47"/>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−$178K</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3" name="Shape 51"/>
          <p:cNvSpPr/>
          <p:nvPr/>
        </p:nvSpPr>
        <p:spPr>
          <a:xfrm>
            <a:off x="8040624" y="2103120"/>
            <a:ext cx="3489960" cy="755294"/>
          </a:xfrm>
          <a:prstGeom prst="rect">
            <a:avLst/>
          </a:prstGeom>
          <a:solidFill>
            <a:srgbClr val="F7F7F7"/>
          </a:solidFill>
          <a:ln/>
        </p:spPr>
      </p:sp>
      <p:sp>
        <p:nvSpPr>
          <p:cNvPr id="54" name="Shape 52"/>
          <p:cNvSpPr/>
          <p:nvPr/>
        </p:nvSpPr>
        <p:spPr>
          <a:xfrm>
            <a:off x="11466576" y="2139696"/>
            <a:ext cx="64008" cy="682142"/>
          </a:xfrm>
          <a:prstGeom prst="rect">
            <a:avLst/>
          </a:prstGeom>
          <a:solidFill>
            <a:srgbClr val="12A566"/>
          </a:solidFill>
          <a:ln/>
        </p:spPr>
      </p:sp>
      <p:sp>
        <p:nvSpPr>
          <p:cNvPr id="55" name="Text 53"/>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$586K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$725K</a:t>
            </a:r>
            <a:endParaRPr lang="en-US" sz="1400" dirty="0"/>
          </a:p>
        </p:txBody>
      </p:sp>
      <p:sp>
        <p:nvSpPr>
          <p:cNvPr id="57" name="Text 55"/>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+$139K</a:t>
            </a:r>
            <a:endParaRPr lang="en-US" sz="1600" dirty="0"/>
          </a:p>
        </p:txBody>
      </p:sp>
      <p:sp>
        <p:nvSpPr>
          <p:cNvPr id="58" name="Shape 56"/>
          <p:cNvSpPr/>
          <p:nvPr/>
        </p:nvSpPr>
        <p:spPr>
          <a:xfrm>
            <a:off x="11466576" y="2894990"/>
            <a:ext cx="64008" cy="682142"/>
          </a:xfrm>
          <a:prstGeom prst="rect">
            <a:avLst/>
          </a:prstGeom>
          <a:solidFill>
            <a:srgbClr val="12A566"/>
          </a:solidFill>
          <a:ln/>
        </p:spPr>
      </p:sp>
      <p:sp>
        <p:nvSpPr>
          <p:cNvPr id="59" name="Text 57"/>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$934K</a:t>
            </a:r>
            <a:endParaRPr lang="en-US" sz="1400" dirty="0"/>
          </a:p>
        </p:txBody>
      </p:sp>
      <p:sp>
        <p:nvSpPr>
          <p:cNvPr id="61" name="Text 59"/>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+$138K</a:t>
            </a:r>
            <a:endParaRPr lang="en-US" sz="1600" dirty="0"/>
          </a:p>
        </p:txBody>
      </p:sp>
      <p:sp>
        <p:nvSpPr>
          <p:cNvPr id="62" name="Shape 60"/>
          <p:cNvSpPr/>
          <p:nvPr/>
        </p:nvSpPr>
        <p:spPr>
          <a:xfrm>
            <a:off x="8040624" y="3613709"/>
            <a:ext cx="3489960" cy="755294"/>
          </a:xfrm>
          <a:prstGeom prst="rect">
            <a:avLst/>
          </a:prstGeom>
          <a:solidFill>
            <a:srgbClr val="F7F7F7"/>
          </a:solidFill>
          <a:ln/>
        </p:spPr>
      </p:sp>
      <p:sp>
        <p:nvSpPr>
          <p:cNvPr id="63" name="Text 6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$294K</a:t>
            </a:r>
            <a:endParaRPr lang="en-US" sz="1400" dirty="0"/>
          </a:p>
        </p:txBody>
      </p:sp>
      <p:sp>
        <p:nvSpPr>
          <p:cNvPr id="65" name="Text 63"/>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+$113K</a:t>
            </a:r>
            <a:endParaRPr lang="en-US" sz="1600" dirty="0"/>
          </a:p>
        </p:txBody>
      </p:sp>
      <p:sp>
        <p:nvSpPr>
          <p:cNvPr id="66" name="Text 64"/>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$408K</a:t>
            </a:r>
            <a:endParaRPr lang="en-US" sz="1400" dirty="0"/>
          </a:p>
        </p:txBody>
      </p:sp>
      <p:sp>
        <p:nvSpPr>
          <p:cNvPr id="68" name="Text 66"/>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+$92K</a:t>
            </a:r>
            <a:endParaRPr lang="en-US" sz="1600" dirty="0"/>
          </a:p>
        </p:txBody>
      </p:sp>
      <p:sp>
        <p:nvSpPr>
          <p:cNvPr id="69" name="Shape 67"/>
          <p:cNvSpPr/>
          <p:nvPr/>
        </p:nvSpPr>
        <p:spPr>
          <a:xfrm>
            <a:off x="8040624" y="5124298"/>
            <a:ext cx="3489960" cy="755294"/>
          </a:xfrm>
          <a:prstGeom prst="rect">
            <a:avLst/>
          </a:prstGeom>
          <a:solidFill>
            <a:srgbClr val="F7F7F7"/>
          </a:solidFill>
          <a:ln/>
        </p:spPr>
      </p:sp>
      <p:sp>
        <p:nvSpPr>
          <p:cNvPr id="70" name="Text 6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$155K</a:t>
            </a:r>
            <a:endParaRPr lang="en-US" sz="1400" dirty="0"/>
          </a:p>
        </p:txBody>
      </p:sp>
      <p:sp>
        <p:nvSpPr>
          <p:cNvPr id="72" name="Text 70"/>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+$84K</a:t>
            </a:r>
            <a:endParaRPr lang="en-US" sz="1600" dirty="0"/>
          </a:p>
        </p:txBody>
      </p:sp>
      <p:sp>
        <p:nvSpPr>
          <p:cNvPr id="73" name="Shape 71"/>
          <p:cNvSpPr/>
          <p:nvPr/>
        </p:nvSpPr>
        <p:spPr>
          <a:xfrm>
            <a:off x="457200" y="6126480"/>
            <a:ext cx="11274552" cy="585216"/>
          </a:xfrm>
          <a:prstGeom prst="rect">
            <a:avLst/>
          </a:prstGeom>
          <a:solidFill>
            <a:srgbClr val="EDF4FA"/>
          </a:solidFill>
          <a:ln/>
        </p:spPr>
      </p:sp>
      <p:sp>
        <p:nvSpPr>
          <p:cNvPr id="74" name="Text 72"/>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Toyota Henderson, Audi Henderson and Cadillac what changed. Ask Chevy LV, VW Henderson and Toyota Spokane what got in the way. Ask Honda Henderson, Toyota Henderson and Chevy LV what they started this year.</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2026-10-24T23:00:59Z</dcterms:created>
  <dcterms:modified xsi:type="dcterms:W3CDTF">2026-10-24T23:00:59Z</dcterms:modified>
</cp:coreProperties>
</file>