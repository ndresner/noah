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2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2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12" r:id="rId163"/>
    <p:sldId id="413" r:id="rId164"/>
    <p:sldId id="414" r:id="rId165"/>
    <p:sldId id="415" r:id="rId166"/>
    <p:sldId id="416" r:id="rId167"/>
    <p:sldId id="492" r:id="rId243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243" Type="http://schemas.openxmlformats.org/officeDocument/2006/relationships/slide" Target="slides/slide2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Before → after, by measure:</a:t>
            </a:r>
          </a:p>
          <a:p>
            <a:r>
              <a:t>CP Gross: top LINCOLN $865K → $1.26M; SUBARU PRESCOTT $832K → $1.21M; SUBARU ST GEORGE $1.48M → $1.98M. Bottom CHEVY LV $7.40M → $7.08M; AUDI RENO $3.38M → $2.90M; VW ST GEORGE $702K → $560K.</a:t>
            </a:r>
          </a:p>
          <a:p>
            <a:r>
              <a:t>CP RO Count: top KIA LV 7,156 → 8,133; HYUNDAI PRESCOTT 1,784 → 2,010; GMC PRESCOTT 2,810 → 3,107. Bottom AUDI RENO 4,379 → 3,917; HYUNDAI ST GEORGE 3,784 → 3,349; VW ST GEORGE 2,251 → 1,919.</a:t>
            </a:r>
          </a:p>
          <a:p>
            <a:r>
              <a:t>CP Hours per RO: top HYUNDAI ST GEORGE 1.03 → 1.43; SUBARU ST GEORGE 1.75 → 2.30; KIA ST GEORGE 0.99 → 1.29. Bottom VOLVO 2.58 → 2.28; VW ST GEORGE 1.95 → 1.71; LR RENO 4.04 → 3.48.</a:t>
            </a:r>
          </a:p>
          <a:p>
            <a:r>
              <a:t>CP ELR: top HONDA SPOKANE $117.05 → $143.89; VOLVO $181.59 → $222.12; LINCOLN $139.55 → $167.64. Bottom ACURA $221.78 → $210.50; SUBARU ST GEORGE $148.84 → $138.48; KIA LV $184.36 → $149.23.</a:t>
            </a:r>
          </a:p>
          <a:p>
            <a:r>
              <a:t>CP Parts GP %: top ACURA 38.7% → 44.9%; NISSAN 38.2% → 42.7%; SUBARU PRESCOTT 31.0% → 34.8%. Bottom HYUNDAI PRESCOTT 39.9% → 39.4%; TOYOTA SPOKANE 45.3% → 44.5%; AUDI HENDERSON 35.8% → 33.6%.Takeaway with the store call-outs (off the slide): Most top-three finishes: Lincoln, Subaru Prescott and Subaru St George (2 of 5). Most bottom-three: VW St George (3 of 5).Source: Qlik - Closed Repair Orders. Customer pay, by close date. Same-store, 33 stores (INEOS excluded, opened 2026). GMC Prescott body shop labor types excluded. CP gross = CP labor gross + CP parts gross. Change is Jan-Sep 2026 vs Jan-Sep 2025. Ranked by percent change (points for parts GP %), so store size does not drive the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Before → after, by measure:</a:t>
            </a:r>
          </a:p>
          <a:p>
            <a:r>
              <a:t>CP Gross per Month: top MAZDA $155K → $209K; KIA ST GEORGE $85K → $112K; CDJR POST FALLS $218K → $279K. Bottom SUBARU ST GEORGE $220K → $218K; HONDA HENDERSON $841K → $823K; CADILLAC $317K → $283K.</a:t>
            </a:r>
          </a:p>
          <a:p>
            <a:r>
              <a:t>CP ROs per Month: top LEXUS 425 → 570; CDJR POST FALLS 543 → 667; LR LV 350 → 415. Bottom VW ST GEORGE 207 → 203; HYUNDAI ST GEORGE 377 → 365; CADILLAC 609 → 582.</a:t>
            </a:r>
          </a:p>
          <a:p>
            <a:r>
              <a:t>CP Hours per RO: top MAZDA 1.35 → 1.65; HYUNDAI PRESCOTT 1.56 → 1.76; HYUNDAI ST GEORGE 1.37 → 1.54. Bottom HONDA HENDERSON 2.06 → 1.86; VW HENDERSON 2.66 → 2.37; CADILLAC 2.85 → 2.45.</a:t>
            </a:r>
          </a:p>
          <a:p>
            <a:r>
              <a:t>CP ELR: top VW ST GEORGE $128.27 → $141.89; AUDI RENO $227.34 → $244.12; HONDA SPOKANE $139.40 → $147.93. Bottom SUBARU ST GEORGE $141.07 → $136.71; LEXUS $196.84 → $187.42; ACURA $232.02 → $199.04.</a:t>
            </a:r>
          </a:p>
          <a:p>
            <a:r>
              <a:t>CP Parts GP %: top ACURA 39.4% → 46.6%; VW ST GEORGE 39.1% → 43.8%; GMC PRESCOTT 35.3% → 39.2%. Bottom CHEVY LV 38.2% → 35.0%; LINCOLN 39.9% → 36.0%; HONDA HENDERSON 44.3% → 40.0%.Takeaway with the store call-outs (off the slide): Most top-three finishes: Mazda, CDJR Post Falls and VW St George (2 of 5). Most bottom-three: Honda Henderson and Cadillac (3 of 5).Source: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 with the store call-outs (off the slide): Last year: Subaru Prescott leads. Moving now: Three stores tie. Eight stores make both views.Source: Qlik - Closed Repair Orders. Customer pay, by close date. Same-store, 33 stores (INEOS excluded, opened 2026). GMC Prescott body shop labor types excluded. CP gross = CP labor gross + CP parts gross. Left: Jan-Sep 2026 vs Jan-Sep 2025. Right: Q3 2026 vs Q1 2026. Top-5 finishes counted across five measures (parts $ per RO dropped, Oct 23); top six stores shown in each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 Each row is the top Q1-to-Q3 mover on that measure. Opcode row: MAZDA tops 3 of the four opcode lists; its biggest move is shown. Opcode closing % = ROs with the service ÷ customer-pay ROs on the op-code report basis.</a:t>
            </a:r>
          </a:p>
          <a:p/>
          <a:p>
            <a:r>
              <a:t>MAZDA's August opcode increase was confirmed with the store as a real change (Noah, Oct 19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Labor + parts gross a year, each from its own slide: Technician Proficiency (each tech under 85% raised to 85%, monthly x 12), Hours per RO (0.1 hr x CP ROs at each store's gross per hour), Op Codes (stores under each benchmark brought to it), One More CP RO a Day (307 open days), Tech Minute (ten minutes per tech per day). Jan-Sep 2026, same-store, 33 stores. The levers overlap - op code services are part of hours per RO, and selling more hours needs tech time - so they are not added together.Talk track: every line is the GM's and the service manager's together (Noah, Oct 27). Each line has its own slide earlier in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Talking points: Service Manager Roundtable (Nov 15, 2024) and GM meeting decks (Jan and May 2026). Data: Qlik (Profit &amp; Loss, Closed Repair Orders, Productivity), Jan-Sep 2026 vs 2025, same-store, 33 stores, INEOS excluded.PLACE: the close, after the last Productivity / Proficiency slide.</a:t>
            </a:r>
          </a:p>
          <a:p>
            <a:r>
              <a:t>Said: Roundtable slide 24 (Misc &amp; Closing). Commitments are reviewed at the next meeting (Noah, Oct 27): keep a list of what each store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Than Last Year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Jan–Sep 2026 vs Jan–Sep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9264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7552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+6.4%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+46.0%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+45.3%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+33.8%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−4.4%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−14.1%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−20.1%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05302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123590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123590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+0.1%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123590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123590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+13.6%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3123590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123590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+12.6%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3123590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123590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+10.5%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3123590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123590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−10.5%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3123590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123590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−11.4%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3123590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123590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−14.7%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241341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259629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259629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+3.6%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5259629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259629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+39.1%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259629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59629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5259629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259629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+30.7%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259629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259629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−11.7%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5259629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59629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−12.5%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5259629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259629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−13.7%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77379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395667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7395667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+2.2%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7395667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7395667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+22.9%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7395667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395667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+22.3%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7395667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7395667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+20.1%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395667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7395667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−5.0%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7395667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7395667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−6.9%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7395667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7395667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−19.0%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513418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9531706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9531706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+1.2 pts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9531706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9531706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 pts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9531706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531706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+4.5 pts</a:t>
            </a:r>
            <a:endParaRPr lang="en-US" sz="1600" dirty="0"/>
          </a:p>
        </p:txBody>
      </p:sp>
      <p:sp>
        <p:nvSpPr>
          <p:cNvPr id="86" name="Text 84"/>
          <p:cNvSpPr txBox="1"/>
          <p:nvPr/>
        </p:nvSpPr>
        <p:spPr>
          <a:xfrm>
            <a:off x="9531706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531706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+3.8 pts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9531706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531706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 pts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9531706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9531706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−0.8 pts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9531706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9531706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6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Q3 2026 vs Q1 2026 (gross and ROs per month). Group change = the season.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9264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7552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+8.4%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+34.6%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+27.8%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−0.9%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−2.0%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−10.7%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05302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123590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123590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+7.5%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123590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123590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+34.0%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3123590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123590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+22.8%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3123590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123590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+18.6%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3123590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123590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−2.0%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3123590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123590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−3.0%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3123590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123590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−4.3%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241341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259629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259629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−1.8%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5259629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259629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259629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59629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+13.1%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5259629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259629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+12.2%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259629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259629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−9.9%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5259629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59629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−10.6%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5259629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259629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−14.0%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77379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395667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7395667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+1.1%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7395667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7395667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7395667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395667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+7.3%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7395667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7395667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+6.1%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395667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7395667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−3.0%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7395667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7395667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−4.7%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7395667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7395667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−14.2%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513418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9531706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9531706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0.0 pts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9531706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9531706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 pts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9531706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531706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+4.6 pts</a:t>
            </a:r>
            <a:endParaRPr lang="en-US" sz="1600" dirty="0"/>
          </a:p>
        </p:txBody>
      </p:sp>
      <p:sp>
        <p:nvSpPr>
          <p:cNvPr id="86" name="Text 84"/>
          <p:cNvSpPr txBox="1"/>
          <p:nvPr/>
        </p:nvSpPr>
        <p:spPr>
          <a:xfrm>
            <a:off x="9531706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531706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9531706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531706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−3.1 pts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9531706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9531706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9531706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9531706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−4.2 pts</a:t>
            </a:r>
            <a:endParaRPr lang="en-US" sz="1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Ways to Read Improvement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than last year · Jan–Sep 2026 vs Jan–Sep 2025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five measures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780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hours/RO, ELR, parts GP%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351837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30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ELR, parts GP%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2937053"/>
            <a:ext cx="72009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30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6484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ROs, hours/RO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522269"/>
            <a:ext cx="72009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30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2336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4107485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30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1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818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ROs, hours/RO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43400" y="4692701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330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404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ROs, parts GP%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43400" y="5277917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330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72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0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now · Q3 vs Q1, this year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00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five measures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36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46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24780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ROs, hours/RO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058400" y="2351837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1045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44652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hours/RO, ELR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058400" y="2937053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1045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336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46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6446520" y="36484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ELR, parts GP%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058400" y="3522269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1045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6446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446520" y="42336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058400" y="4107485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1045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6336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446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6446520" y="4818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0058400" y="4692701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1045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63" name="Text 61"/>
          <p:cNvSpPr txBox="1"/>
          <p:nvPr/>
        </p:nvSpPr>
        <p:spPr>
          <a:xfrm>
            <a:off x="6446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6446520" y="5404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ELR, parts GP%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10058400" y="5277917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1045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now: Three stores tie. Eight stores make both views.</a:t>
            </a:r>
            <a:endParaRPr lang="en-US" sz="16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Moved 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773936"/>
            <a:ext cx="10945368" cy="548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7739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7739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 per Month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7739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$155K → $209K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17739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+34.6%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23225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23225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 per Month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3225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425 → 570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23225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32257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+34.0%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" y="2871216"/>
            <a:ext cx="10945368" cy="548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28712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28712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28712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1.35 → 1.65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28712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28712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34198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3419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34198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$128.27 → $141.89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726680" y="341985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34198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" y="3968496"/>
            <a:ext cx="10945368" cy="548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9808" y="39684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3520440" y="39684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3968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 → 46.6%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396849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396849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 pts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" y="45171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3520440" y="45171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alignment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0" y="45171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12.6% → 22.8%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726680" y="45171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326880" y="45171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 pts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stores, one question each: what did you start doing that month? One sentence, before you leave.</a:t>
            </a:r>
            <a:endParaRPr lang="en-US" sz="155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Money 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3533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LEVER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53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A YEAR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3533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55648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17556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tech under 85% reaches 85%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556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$19,763,184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75564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parts staging, approvals, coaching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542032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25420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more hours on every CP RO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54203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$6,602,564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54203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on every car, the menu, Road to the Sale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328416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28416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3284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store at the four op code benchmarks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32841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$4,895,199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2841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Alignment, balance, brake fluid, fuel service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14800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114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more customer-pay RO a day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1148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$4,473,284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1148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Phones, scheduler, retention, marketing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4901184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901184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" y="49011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minutes a day saved for every tech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490118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$4,443,804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90118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to the bay, tools and keys in place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number is gross on cars, bays and techs we already have, except one more RO a day. They overlap, so read each on its own.</a:t>
            </a:r>
            <a:endParaRPr lang="en-US" sz="16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DECISIONS · CLOSE · BEFORE YOU LEAVE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MONEY 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you learn today?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us one or two things you are going to act on and implement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one number you will check every day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a store that leads where you trail: ask what they do differently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this room in FMGSVCMGR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review your commitments at the next meeting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hr per RO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Worth $4,543,691 of labor at today's ELR.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$4.9M a year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store at all four opcode benchmarks: $4,895,199 in labor and parts gross.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$1.65M a month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 proficiency, lifting each tech under 85% to 85%.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name your one or two commitments out loud, with a number attached, before you leave the room.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2026-10-27T23:33:43Z</dcterms:created>
  <dcterms:modified xsi:type="dcterms:W3CDTF">2026-10-27T23:33:43Z</dcterms:modified>
</cp:coreProperties>
</file>