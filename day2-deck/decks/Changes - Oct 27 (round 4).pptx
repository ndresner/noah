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3.xml" ContentType="application/vnd.openxmlformats-officedocument.presentationml.notesSlide+xml"/>
  <Override PartName="/ppt/notesSlides/notesSlide161.xml" ContentType="application/vnd.openxmlformats-officedocument.presentationml.notesSlide+xml"/>
  <Override PartName="/ppt/notesSlides/notesSlide18.xml" ContentType="application/vnd.openxmlformats-officedocument.presentationml.notesSlide+xml"/>
  <Override PartName="/ppt/notesSlides/notesSlide34.xml" ContentType="application/vnd.openxmlformats-officedocument.presentationml.notesSlide+xml"/>
  <Override PartName="/ppt/notesSlides/notesSlide87.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0.xml" ContentType="application/vnd.openxmlformats-officedocument.presentationml.slide+xml"/>
  <Override PartName="/ppt/slides/slide111.xml" ContentType="application/vnd.openxmlformats-officedocument.presentationml.slide+xml"/>
  <Override PartName="/ppt/slides/slide160.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19"/>
    <p:sldId id="273" r:id="rId24"/>
    <p:sldId id="289" r:id="rId40"/>
    <p:sldId id="342" r:id="rId93"/>
    <p:sldId id="352" r:id="rId103"/>
    <p:sldId id="370" r:id="rId121"/>
    <p:sldId id="371" r:id="rId122"/>
    <p:sldId id="416" r:id="rId167"/>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9" Type="http://schemas.openxmlformats.org/officeDocument/2006/relationships/slide" Target="slides/slide4.xml"/><Relationship Id="rId24" Type="http://schemas.openxmlformats.org/officeDocument/2006/relationships/slide" Target="slides/slide9.xml"/><Relationship Id="rId40" Type="http://schemas.openxmlformats.org/officeDocument/2006/relationships/slide" Target="slides/slide27.xml"/><Relationship Id="rId93" Type="http://schemas.openxmlformats.org/officeDocument/2006/relationships/slide" Target="slides/slide81.xml"/><Relationship Id="rId103" Type="http://schemas.openxmlformats.org/officeDocument/2006/relationships/slide" Target="slides/slide92.xml"/><Relationship Id="rId121" Type="http://schemas.openxmlformats.org/officeDocument/2006/relationships/slide" Target="slides/slide110.xml"/><Relationship Id="rId122" Type="http://schemas.openxmlformats.org/officeDocument/2006/relationships/slide" Target="slides/slide111.xml"/><Relationship Id="rId167" Type="http://schemas.openxmlformats.org/officeDocument/2006/relationships/slide" Target="slides/slide1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Fixed ops net profit = service (Mechanical) + parts (P&amp;A) department profit: department gross less the department's own expenses; GMC Prescott body shop is its own department and is not included.PLACE: opening, right after Why We Are Here (Noah, Oct 24): the high-level view of service and parts before the sections. Department profit as the P&amp;L Detail statement reports it (DEPARTMENT PROFIT OR LOSS, Mechanical and P&amp;A). Jan-Sep 2026 gross $188,799,724, department expenses $138,349,830, profit $50,449,894; 2025 $181,331,157 / $135,995,022 / $45,336,135. Store-level costs the P&amp;L does not split by department (management fees, other income) sit outside it. Same basis as the service and parts net to gross slides. Revenue per $1 of net: service + parts net sales $347,806,562 (P&amp;L Detail NET SALES, Mechanical $182,131,162 + P&amp;A $165,675,400) / net profit $50,449,894 = $6.89; net profit is 14.5 cents of every sales dollar. Parts sales include parts sold to the service department.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Fixed Ops Accounting TB, fixed gross (service and parts), monthly by store, January 2021 - September 2026. A record = the store's highest month on file; months before a store opened are ignored. GMC Prescott service on the TB includes body shop gross.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GM statement. Jan-Sep 2026, same-store, INEOS excluded (opened 2026).PLACE: Profitability, in front of Fixed Ops Absorption %; the next slide breaks down the fixed expenses. The denominator is the P&amp;L's Fixed Expenses line on the GM statement: the whole store's expenses (new, used, service, parts, body shop)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$242,850,782 of fixed expenses out of $305,051,366 total expense.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Gross Profit %.</a:t>
            </a:r>
          </a:p>
          <a:p>
            <a:r>
              <a:t>Why understand your parts pricing matrix (Noah, Oct 26): (1) Maximize gross profit: price parts to maximize profitability; find gross without more volume. (2) Consistent pricing: every customer charged the same for the same part; no incorrect prices from bad setups or manual overrides. (3) Stay competitive: avoid markups that make repairs too expensive; balance profit with price on higher-cost parts. (4) Check the matrix is applied: parts actually sell at matrix prices; find parts, labor types or transactions that bypass it. (5) Warranty reimbursement: customer-pay parts pricing drives the warranty parts reimbursement rate, so good pricing supports a higher rate and more warranty gross. (6) Control the strategy: know how your matrix is configured and review it against your gross profit goals. Takeaway: the matrix is one of the most effective tools for improving profit without more volume.</a:t>
            </a:r>
          </a:p>
          <a:p>
            <a:r>
              <a:t>5 reasons parts gross profit % matters (Noah, Oct 26): (1) Maximizes profitability: higher GP % earns more from the same volume; small improvements add up over a year. (2) Measures pricing effectiveness: are parts sold at the right prices; where to improve matrices, discounts and markups. (3) Controls discounts and cost increases: shows when discounting cuts profit, and when rising parts costs are not reflected in selling prices. (4) Supports dealership profit: parts gross covers department expenses, adds to net profit and helps fixed ops absorb store overhead. (5) Identifies opportunities: compare against targets, history and other stores; find weak categories (customer pay, wholesale, warranty, internal). Takeaway: parts GP % measures how well we turn parts sales into profit; raising it is one of the most direct ways to grow profit without more volume.</a:t>
            </a:r>
          </a:p>
          <a:p>
            <a:r>
              <a:t>37 cents (Oct 26): P&amp;L Detail, Jan-Sep 2026 same-store, parts department profit $22.75M / parts gross $61.93M = 36.7% (2025 37.1%); service 21.8% (2025 18.9%); new and used lose money at the department level; parts beats service in 31 of 33 stores (not Honda Henderson, VW Henderson). F&amp;I income less F&amp;I commissions is higher (about 80%) but F&amp;I is not a P&amp;L department and its other costs sit in new and used, so say 'department'. Department view: about $87M of other income (doc fees, packs, factory money, holdback) is booked outside the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 Benchmarks, after MPI and Video Completion %, ahead of the op code closing % slides (moved out of Internal, Oct 23).</a:t>
            </a:r>
          </a:p>
          <a:p>
            <a:r>
              <a:t>Said: Jan GM slide 19 / May GM slide 15 (Tracking &amp; Accountability); Roundtable slide 16 (Performance Tracking).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tire balance, brake fluid and fuel system service added together, every store: gross Jan-Sep 2026 above (+) or below (-) the four benchmarks, at the store's own gross per service. Opcodes = the four services' opcodes above (+) or below (-) their benchmarks, added together; green / red bar = top / bottom three by opcodes. Below-benchmark services count against above-benchmark ones here.TOYOTA SPOKANE: −$406K, −5,191 opcodes Jan-Sep against the four benchmarks; under 4 of 4</a:t>
            </a:r>
          </a:p>
          <a:p>
            <a:r>
              <a:t>CHEVY LV: −$356K, −3,177 opcodes Jan-Sep against the four benchmarks; under 4 of 4</a:t>
            </a:r>
          </a:p>
          <a:p>
            <a:r>
              <a:t>TOYOTA FLAGSTAFF: −$267K, −3,494 opcodes Jan-Sep against the four benchmarks; under 4 of 4</a:t>
            </a:r>
          </a:p>
          <a:p>
            <a:r>
              <a:t>TOYOTA HENDERSON: −$227K, −3,005 opcodes Jan-Sep against the four benchmarks; under 3 of 4</a:t>
            </a:r>
          </a:p>
          <a:p>
            <a:r>
              <a:t>KIA LV: −$185K, −1,708 opcodes Jan-Sep against the four benchmarks; under 4 of 4</a:t>
            </a:r>
          </a:p>
          <a:p>
            <a:r>
              <a:t>CDJR POST FALLS: −$184K, −1,863 opcodes Jan-Sep against the four benchmarks; under 4 of 4</a:t>
            </a:r>
          </a:p>
          <a:p>
            <a:r>
              <a:t>TOYOTA PRESCOTT: −$175K, −1,906 opcodes Jan-Sep against the four benchmarks; under 4 of 4</a:t>
            </a:r>
          </a:p>
          <a:p>
            <a:r>
              <a:t>AUDI RENO: −$162K, −1,152 opcodes Jan-Sep against the four benchmarks; under 4 of 4</a:t>
            </a:r>
          </a:p>
          <a:p>
            <a:r>
              <a:t>HONDA FLAGSTAFF: −$150K, −1,257 opcodes Jan-Sep against the four benchmarks; under 4 of 4</a:t>
            </a:r>
          </a:p>
          <a:p>
            <a:r>
              <a:t>NISSAN: −$150K, −1,613 opcodes Jan-Sep against the four benchmarks; under 3 of 4</a:t>
            </a:r>
          </a:p>
          <a:p>
            <a:r>
              <a:t>HONDA SPOKANE: −$140K, −1,717 opcodes Jan-Sep against the four benchmarks; under 3 of 4</a:t>
            </a:r>
          </a:p>
          <a:p>
            <a:r>
              <a:t>LEXUS: −$105K, −1,068 opcodes Jan-Sep against the four benchmarks; under 4 of 4</a:t>
            </a:r>
          </a:p>
          <a:p>
            <a:r>
              <a:t>VW HENDERSON: −$105K, −827 opcodes Jan-Sep against the four benchmarks; under 4 of 4</a:t>
            </a:r>
          </a:p>
          <a:p>
            <a:r>
              <a:t>CHEVY GMC BULLHEAD: −$100K, −1,100 opcodes Jan-Sep against the four benchmarks; under 4 of 4</a:t>
            </a:r>
          </a:p>
          <a:p>
            <a:r>
              <a:t>CADILLAC: −$94K, −954 opcodes Jan-Sep against the four benchmarks; under 4 of 4</a:t>
            </a:r>
          </a:p>
          <a:p>
            <a:r>
              <a:t>VW ST GEORGE: −$66K, −640 opcodes Jan-Sep against the four benchmarks; under 4 of 4</a:t>
            </a:r>
          </a:p>
          <a:p>
            <a:r>
              <a:t>HYUNDAI ST GEORGE: −$61K, −697 opcodes Jan-Sep against the four benchmarks; under 4 of 4</a:t>
            </a:r>
          </a:p>
          <a:p>
            <a:r>
              <a:t>GMC PRESCOTT: −$60K, −568 opcodes Jan-Sep against the four benchmarks; under 4 of 4</a:t>
            </a:r>
          </a:p>
          <a:p>
            <a:r>
              <a:t>SUBARU LV: −$59K, −783 opcodes Jan-Sep against the four benchmarks; under 3 of 4</a:t>
            </a:r>
          </a:p>
          <a:p>
            <a:r>
              <a:t>KIA ST GEORGE: −$53K, −660 opcodes Jan-Sep against the four benchmarks; under 3 of 4</a:t>
            </a:r>
          </a:p>
          <a:p>
            <a:r>
              <a:t>LINCOLN: −$48K, −569 opcodes Jan-Sep against the four benchmarks; under 3 of 4</a:t>
            </a:r>
          </a:p>
          <a:p>
            <a:r>
              <a:t>SUBARU ST GEORGE: −$41K, −452 opcodes Jan-Sep against the four benchmarks; under 2 of 4</a:t>
            </a:r>
          </a:p>
          <a:p>
            <a:r>
              <a:t>LR RENO: −$32K, −83 opcodes Jan-Sep against the four benchmarks; under 3 of 4</a:t>
            </a:r>
          </a:p>
          <a:p>
            <a:r>
              <a:t>VOLVO: −$29K, −340 opcodes Jan-Sep against the four benchmarks; under 3 of 4</a:t>
            </a:r>
          </a:p>
          <a:p>
            <a:r>
              <a:t>MAZDA: −$28K, −223 opcodes Jan-Sep against the four benchmarks; under 3 of 4</a:t>
            </a:r>
          </a:p>
          <a:p>
            <a:r>
              <a:t>AUDI HENDERSON: −$22K, −661 opcodes Jan-Sep against the four benchmarks; under 3 of 4</a:t>
            </a:r>
          </a:p>
          <a:p>
            <a:r>
              <a:t>HYUNDAI PRESCOTT: +$23K, +97 opcodes Jan-Sep against the four benchmarks; under 3 of 4</a:t>
            </a:r>
          </a:p>
          <a:p>
            <a:r>
              <a:t>ACURA: +$33K, +228 opcodes Jan-Sep against the four benchmarks; under 1 of 4</a:t>
            </a:r>
          </a:p>
          <a:p>
            <a:r>
              <a:t>SUBARU PRESCOTT: +$41K, +24 opcodes Jan-Sep against the four benchmarks; under 2 of 4</a:t>
            </a:r>
          </a:p>
          <a:p>
            <a:r>
              <a:t>HONDA NORTH: +$45K, +70 opcodes Jan-Sep against the four benchmarks; under 1 of 4</a:t>
            </a:r>
          </a:p>
          <a:p>
            <a:r>
              <a:t>LR HENDERSON: +$54K, +324 opcodes Jan-Sep against the four benchmarks; under 1 of 4</a:t>
            </a:r>
          </a:p>
          <a:p>
            <a:r>
              <a:t>LR LV: +$151K, +456 opcodes Jan-Sep against the four benchmarks; under 1 of 4</a:t>
            </a:r>
          </a:p>
          <a:p>
            <a:r>
              <a:t>HONDA HENDERSON: +$557K, +4,476 opcodes Jan-Sep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anyone.Talk track: every one of these cars is already on a customer-pay RO in our drive. The inspection and the menu find the need; the advisor presents it.</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the close, after the last Productivity / Proficiency slide.</a:t>
            </a:r>
          </a:p>
          <a:p>
            <a:r>
              <a:t>Said: Roundtable slide 24 (Misc &amp; Closing). Commitments tracking was dropped for this meeting, so this asks for commitments without a scorecard.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Fixed Ops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txBody>
          <a:bodyPr/>
          <a:p/>
        </p:txBody>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Fixed ops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parts and service generate after their allocated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txBody>
          <a:bodyPr/>
          <a:p/>
        </p:txBody>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txBody>
          <a:bodyPr/>
          <a:p/>
        </p:txBody>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$138.35M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txBody>
          <a:bodyPr/>
          <a:p/>
        </p:txBody>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$50.45M</a:t>
            </a:r>
            <a:endParaRPr lang="en-US" sz="1400" dirty="0"/>
          </a:p>
        </p:txBody>
      </p:sp>
      <p:sp>
        <p:nvSpPr>
          <p:cNvPr id="15" name="Shape 13"/>
          <p:cNvSpPr/>
          <p:nvPr/>
        </p:nvSpPr>
        <p:spPr>
          <a:xfrm>
            <a:off x="457200" y="2907792"/>
            <a:ext cx="4343400" cy="3081528"/>
          </a:xfrm>
          <a:prstGeom prst="rect">
            <a:avLst/>
          </a:prstGeom>
          <a:solidFill>
            <a:srgbClr val="FFFFFF"/>
          </a:solidFill>
          <a:ln/>
        </p:spPr>
        <p:txBody>
          <a:bodyPr/>
          <a:p/>
        </p:txBody>
      </p:sp>
      <p:sp>
        <p:nvSpPr>
          <p:cNvPr id="16" name="Shape 14"/>
          <p:cNvSpPr/>
          <p:nvPr/>
        </p:nvSpPr>
        <p:spPr>
          <a:xfrm>
            <a:off x="4937760" y="2907792"/>
            <a:ext cx="6793992" cy="3081528"/>
          </a:xfrm>
          <a:prstGeom prst="rect">
            <a:avLst/>
          </a:prstGeom>
          <a:solidFill>
            <a:srgbClr val="FFFFFF"/>
          </a:solidFill>
          <a:ln/>
        </p:spPr>
        <p:txBody>
          <a:bodyPr/>
          <a:p/>
        </p:txBody>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fixed ops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service and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txBody>
          <a:bodyPr/>
          <a:p/>
        </p:txBody>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Car count, hours per RO, effective labor rate, parts and labor margin</a:t>
            </a:r>
            <a:endParaRPr lang="en-US" sz="1400" dirty="0"/>
          </a:p>
        </p:txBody>
      </p:sp>
      <p:sp>
        <p:nvSpPr>
          <p:cNvPr id="22" name="Shape 20"/>
          <p:cNvSpPr/>
          <p:nvPr/>
        </p:nvSpPr>
        <p:spPr>
          <a:xfrm>
            <a:off x="8394192" y="3410712"/>
            <a:ext cx="45720" cy="1133856"/>
          </a:xfrm>
          <a:prstGeom prst="rect">
            <a:avLst/>
          </a:prstGeom>
          <a:solidFill>
            <a:srgbClr val="2587C5"/>
          </a:solidFill>
          <a:ln/>
        </p:spPr>
        <p:txBody>
          <a:bodyPr/>
          <a:p/>
        </p:txBody>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largest expense: staffing to the workload, pay plans tied to performance</a:t>
            </a:r>
            <a:endParaRPr lang="en-US" sz="1400" dirty="0"/>
          </a:p>
        </p:txBody>
      </p:sp>
      <p:sp>
        <p:nvSpPr>
          <p:cNvPr id="24" name="Shape 22"/>
          <p:cNvSpPr/>
          <p:nvPr/>
        </p:nvSpPr>
        <p:spPr>
          <a:xfrm>
            <a:off x="5138928" y="4654296"/>
            <a:ext cx="45720" cy="1133856"/>
          </a:xfrm>
          <a:prstGeom prst="rect">
            <a:avLst/>
          </a:prstGeom>
          <a:solidFill>
            <a:srgbClr val="2587C5"/>
          </a:solidFill>
          <a:ln/>
        </p:spPr>
        <p:txBody>
          <a:bodyPr/>
          <a:p/>
        </p:txBody>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gross from the same team and the same stalls</a:t>
            </a:r>
            <a:endParaRPr lang="en-US" sz="1400" dirty="0"/>
          </a:p>
        </p:txBody>
      </p:sp>
      <p:sp>
        <p:nvSpPr>
          <p:cNvPr id="26" name="Shape 24"/>
          <p:cNvSpPr/>
          <p:nvPr/>
        </p:nvSpPr>
        <p:spPr>
          <a:xfrm>
            <a:off x="8394192" y="4654296"/>
            <a:ext cx="45720" cy="1133856"/>
          </a:xfrm>
          <a:prstGeom prst="rect">
            <a:avLst/>
          </a:prstGeom>
          <a:solidFill>
            <a:srgbClr val="2587C5"/>
          </a:solidFill>
          <a:ln/>
        </p:spPr>
        <p:txBody>
          <a:bodyPr/>
          <a:p/>
        </p:txBody>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service policy, advertising, company vehicles</a:t>
            </a:r>
            <a:endParaRPr lang="en-US" sz="1400" dirty="0"/>
          </a:p>
        </p:txBody>
      </p:sp>
      <p:sp>
        <p:nvSpPr>
          <p:cNvPr id="28" name="Shape 26"/>
          <p:cNvSpPr/>
          <p:nvPr/>
        </p:nvSpPr>
        <p:spPr>
          <a:xfrm>
            <a:off x="457200" y="6126480"/>
            <a:ext cx="11274552" cy="371856"/>
          </a:xfrm>
          <a:prstGeom prst="rect">
            <a:avLst/>
          </a:prstGeom>
          <a:solidFill>
            <a:srgbClr val="E6F6EE"/>
          </a:solidFill>
          <a:ln/>
        </p:spPr>
        <p:txBody>
          <a:bodyPr/>
          <a:p/>
        </p:txBody>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$50.45M fixed ops net profit, +11.3%. Gross grew +4.1%; department expenses +1.7%.</a:t>
            </a:r>
            <a:endParaRPr lang="en-US" sz="16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 Record Year</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713232" y="1481328"/>
            <a:ext cx="2539746" cy="3017520"/>
          </a:xfrm>
          <a:prstGeom prst="rect">
            <a:avLst/>
          </a:prstGeom>
          <a:solidFill>
            <a:srgbClr val="F7F7F7"/>
          </a:solidFill>
          <a:ln/>
        </p:spPr>
        <p:txBody>
          <a:bodyPr/>
          <a:p/>
        </p:txBody>
      </p:sp>
      <p:sp>
        <p:nvSpPr>
          <p:cNvPr id="7" name="Shape 5"/>
          <p:cNvSpPr/>
          <p:nvPr/>
        </p:nvSpPr>
        <p:spPr>
          <a:xfrm>
            <a:off x="713232" y="1481328"/>
            <a:ext cx="2539746" cy="64008"/>
          </a:xfrm>
          <a:prstGeom prst="rect">
            <a:avLst/>
          </a:prstGeom>
          <a:solidFill>
            <a:srgbClr val="12A566"/>
          </a:solidFill>
          <a:ln/>
        </p:spPr>
        <p:txBody>
          <a:bodyPr/>
          <a:p/>
        </p:txBody>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STORES WITH ALL-TIME RECORD MONTHS</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23</a:t>
            </a:r>
            <a:endParaRPr lang="en-US" sz="40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of 33 set their best month ever in service, parts or combined during 2026.</a:t>
            </a:r>
            <a:endParaRPr lang="en-US" sz="1500" dirty="0"/>
          </a:p>
        </p:txBody>
      </p:sp>
      <p:sp>
        <p:nvSpPr>
          <p:cNvPr id="11" name="Shape 9"/>
          <p:cNvSpPr/>
          <p:nvPr/>
        </p:nvSpPr>
        <p:spPr>
          <a:xfrm>
            <a:off x="3454146" y="1481328"/>
            <a:ext cx="2539746" cy="3017520"/>
          </a:xfrm>
          <a:prstGeom prst="rect">
            <a:avLst/>
          </a:prstGeom>
          <a:solidFill>
            <a:srgbClr val="F7F7F7"/>
          </a:solidFill>
          <a:ln/>
        </p:spPr>
        <p:txBody>
          <a:bodyPr/>
          <a:p/>
        </p:txBody>
      </p:sp>
      <p:sp>
        <p:nvSpPr>
          <p:cNvPr id="12" name="Shape 10"/>
          <p:cNvSpPr/>
          <p:nvPr/>
        </p:nvSpPr>
        <p:spPr>
          <a:xfrm>
            <a:off x="3454146" y="1481328"/>
            <a:ext cx="2539746" cy="64008"/>
          </a:xfrm>
          <a:prstGeom prst="rect">
            <a:avLst/>
          </a:prstGeom>
          <a:solidFill>
            <a:srgbClr val="12A566"/>
          </a:solidFill>
          <a:ln/>
        </p:spPr>
        <p:txBody>
          <a:bodyPr/>
          <a:p/>
        </p:txBody>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STORE RECORDS SET</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98</a:t>
            </a:r>
            <a:endParaRPr lang="en-US" sz="40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all-time monthly records across those stores: service, parts and combined counted separately.</a:t>
            </a:r>
            <a:endParaRPr lang="en-US" sz="1500" dirty="0"/>
          </a:p>
        </p:txBody>
      </p:sp>
      <p:sp>
        <p:nvSpPr>
          <p:cNvPr id="16" name="Shape 14"/>
          <p:cNvSpPr/>
          <p:nvPr/>
        </p:nvSpPr>
        <p:spPr>
          <a:xfrm>
            <a:off x="6195060" y="1481328"/>
            <a:ext cx="2539746" cy="3017520"/>
          </a:xfrm>
          <a:prstGeom prst="rect">
            <a:avLst/>
          </a:prstGeom>
          <a:solidFill>
            <a:srgbClr val="F7F7F7"/>
          </a:solidFill>
          <a:ln/>
        </p:spPr>
        <p:txBody>
          <a:bodyPr/>
          <a:p/>
        </p:txBody>
      </p:sp>
      <p:sp>
        <p:nvSpPr>
          <p:cNvPr id="17" name="Shape 15"/>
          <p:cNvSpPr/>
          <p:nvPr/>
        </p:nvSpPr>
        <p:spPr>
          <a:xfrm>
            <a:off x="6195060" y="1481328"/>
            <a:ext cx="2539746" cy="64008"/>
          </a:xfrm>
          <a:prstGeom prst="rect">
            <a:avLst/>
          </a:prstGeom>
          <a:solidFill>
            <a:srgbClr val="12A566"/>
          </a:solidFill>
          <a:ln/>
        </p:spPr>
        <p:txBody>
          <a:bodyPr/>
          <a:p/>
        </p:txBody>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BEST JANUARY–SEPTEMBER EVER</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25</a:t>
            </a:r>
            <a:endParaRPr lang="en-US" sz="40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stores had their best January–September ever in combined fixed gross.</a:t>
            </a:r>
            <a:endParaRPr lang="en-US" sz="1500" dirty="0"/>
          </a:p>
        </p:txBody>
      </p:sp>
      <p:sp>
        <p:nvSpPr>
          <p:cNvPr id="21" name="Shape 19"/>
          <p:cNvSpPr/>
          <p:nvPr/>
        </p:nvSpPr>
        <p:spPr>
          <a:xfrm>
            <a:off x="8935974" y="1481328"/>
            <a:ext cx="2539746" cy="3017520"/>
          </a:xfrm>
          <a:prstGeom prst="rect">
            <a:avLst/>
          </a:prstGeom>
          <a:solidFill>
            <a:srgbClr val="F7F7F7"/>
          </a:solidFill>
          <a:ln/>
        </p:spPr>
        <p:txBody>
          <a:bodyPr/>
          <a:p/>
        </p:txBody>
      </p:sp>
      <p:sp>
        <p:nvSpPr>
          <p:cNvPr id="22" name="Shape 20"/>
          <p:cNvSpPr/>
          <p:nvPr/>
        </p:nvSpPr>
        <p:spPr>
          <a:xfrm>
            <a:off x="8935974" y="1481328"/>
            <a:ext cx="2539746" cy="64008"/>
          </a:xfrm>
          <a:prstGeom prst="rect">
            <a:avLst/>
          </a:prstGeom>
          <a:solidFill>
            <a:srgbClr val="12A566"/>
          </a:solidFill>
          <a:ln/>
        </p:spPr>
        <p:txBody>
          <a:bodyPr/>
          <a:p/>
        </p:txBody>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STORES WHO SET A RECORD AND THEN RESET IT</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16</a:t>
            </a:r>
            <a:endParaRPr lang="en-US" sz="40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stores set a record and then topped it again later in the year.</a:t>
            </a:r>
            <a:endParaRPr lang="en-US" sz="15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Most records set this year: Honda Spokane 9, Nissan 9, Toyota Henderson 8, Honda Henderson 7 and Subaru St George 7.</a:t>
            </a:r>
            <a:endParaRPr lang="en-US" sz="1700" dirty="0"/>
          </a:p>
        </p:txBody>
      </p:sp>
      <p:sp>
        <p:nvSpPr>
          <p:cNvPr id="27" name="Shape 25"/>
          <p:cNvSpPr/>
          <p:nvPr/>
        </p:nvSpPr>
        <p:spPr>
          <a:xfrm>
            <a:off x="457200" y="6126480"/>
            <a:ext cx="11274552" cy="348996"/>
          </a:xfrm>
          <a:prstGeom prst="rect">
            <a:avLst/>
          </a:prstGeom>
          <a:solidFill>
            <a:srgbClr val="E6F6EE"/>
          </a:solidFill>
          <a:ln/>
        </p:spPr>
        <p:txBody>
          <a:bodyPr/>
          <a:p/>
        </p:txBody>
      </p:sp>
      <p:sp>
        <p:nvSpPr>
          <p:cNvPr id="28" name="Text 26"/>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7A4A"/>
                </a:solidFill>
                <a:latin typeface="Inter" pitchFamily="34" charset="0"/>
                <a:ea typeface="Inter" pitchFamily="34" charset="-122"/>
                <a:cs typeface="Inter" pitchFamily="34" charset="-120"/>
              </a:rPr>
              <a:t>Jul alone brought 11 combined store records. Every one of these stores can tell the room what they changed.</a:t>
            </a:r>
            <a:endParaRPr lang="en-US" sz="145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txBody>
          <a:bodyPr/>
          <a:p/>
        </p:txBody>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dealership's fixed expenses are covered by parts and service gross profit.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txBody>
          <a:bodyPr/>
          <a:p/>
        </p:txBody>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txBody>
          <a:bodyPr/>
          <a:p/>
        </p:txBody>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txBody>
          <a:bodyPr/>
          <a:p/>
        </p:txBody>
      </p:sp>
      <p:sp>
        <p:nvSpPr>
          <p:cNvPr id="14" name="Shape 12"/>
          <p:cNvSpPr/>
          <p:nvPr/>
        </p:nvSpPr>
        <p:spPr>
          <a:xfrm>
            <a:off x="4937760" y="2907792"/>
            <a:ext cx="6793992" cy="3081528"/>
          </a:xfrm>
          <a:prstGeom prst="rect">
            <a:avLst/>
          </a:prstGeom>
          <a:solidFill>
            <a:srgbClr val="FFFFFF"/>
          </a:solidFill>
          <a:ln/>
        </p:spPr>
        <p:txBody>
          <a:bodyPr/>
          <a:p/>
        </p:txBody>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WHAT'S IN TOTAL STORE FIXED EXPENSES</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20803"/>
          </a:xfrm>
          <a:prstGeom prst="rect">
            <a:avLst/>
          </a:prstGeom>
          <a:solidFill>
            <a:srgbClr val="2587C5"/>
          </a:solidFill>
          <a:ln/>
        </p:spPr>
        <p:txBody>
          <a:bodyPr/>
          <a:p/>
        </p:txBody>
      </p:sp>
      <p:sp>
        <p:nvSpPr>
          <p:cNvPr id="19" name="Text 17"/>
          <p:cNvSpPr txBox="1"/>
          <p:nvPr/>
        </p:nvSpPr>
        <p:spPr>
          <a:xfrm>
            <a:off x="5266944"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Salaries and wages, payroll taxes, benefits, PTO: every department</a:t>
            </a:r>
            <a:endParaRPr lang="en-US" sz="1400" dirty="0"/>
          </a:p>
        </p:txBody>
      </p:sp>
      <p:sp>
        <p:nvSpPr>
          <p:cNvPr id="20" name="Shape 18"/>
          <p:cNvSpPr/>
          <p:nvPr/>
        </p:nvSpPr>
        <p:spPr>
          <a:xfrm>
            <a:off x="8394192" y="3410712"/>
            <a:ext cx="45720" cy="1020803"/>
          </a:xfrm>
          <a:prstGeom prst="rect">
            <a:avLst/>
          </a:prstGeom>
          <a:solidFill>
            <a:srgbClr val="2587C5"/>
          </a:solidFill>
          <a:ln/>
        </p:spPr>
        <p:txBody>
          <a:bodyPr/>
          <a:p/>
        </p:txBody>
      </p:sp>
      <p:sp>
        <p:nvSpPr>
          <p:cNvPr id="21" name="Text 19"/>
          <p:cNvSpPr txBox="1"/>
          <p:nvPr/>
        </p:nvSpPr>
        <p:spPr>
          <a:xfrm>
            <a:off x="8522208"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building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depreciation, property taxes, utilities, insurance, repairs</a:t>
            </a:r>
            <a:endParaRPr lang="en-US" sz="1400" dirty="0"/>
          </a:p>
        </p:txBody>
      </p:sp>
      <p:sp>
        <p:nvSpPr>
          <p:cNvPr id="22" name="Shape 20"/>
          <p:cNvSpPr/>
          <p:nvPr/>
        </p:nvSpPr>
        <p:spPr>
          <a:xfrm>
            <a:off x="5138928" y="4541243"/>
            <a:ext cx="45720" cy="1246909"/>
          </a:xfrm>
          <a:prstGeom prst="rect">
            <a:avLst/>
          </a:prstGeom>
          <a:solidFill>
            <a:srgbClr val="2587C5"/>
          </a:solidFill>
          <a:ln/>
        </p:spPr>
        <p:txBody>
          <a:bodyPr/>
          <a:p/>
        </p:txBody>
      </p:sp>
      <p:sp>
        <p:nvSpPr>
          <p:cNvPr id="23" name="Text 21"/>
          <p:cNvSpPr txBox="1"/>
          <p:nvPr/>
        </p:nvSpPr>
        <p:spPr>
          <a:xfrm>
            <a:off x="5266944"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systems and other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DMS and IT, outside services, phones, training, supplies</a:t>
            </a:r>
            <a:endParaRPr lang="en-US" sz="1400" dirty="0"/>
          </a:p>
        </p:txBody>
      </p:sp>
      <p:sp>
        <p:nvSpPr>
          <p:cNvPr id="24" name="Shape 22"/>
          <p:cNvSpPr/>
          <p:nvPr/>
        </p:nvSpPr>
        <p:spPr>
          <a:xfrm>
            <a:off x="8394192" y="4541243"/>
            <a:ext cx="45720" cy="1246909"/>
          </a:xfrm>
          <a:prstGeom prst="rect">
            <a:avLst/>
          </a:prstGeom>
          <a:solidFill>
            <a:srgbClr val="2587C5"/>
          </a:solidFill>
          <a:ln/>
        </p:spPr>
        <p:txBody>
          <a:bodyPr/>
          <a:p/>
        </p:txBody>
      </p:sp>
      <p:sp>
        <p:nvSpPr>
          <p:cNvPr id="25" name="Text 23"/>
          <p:cNvSpPr txBox="1"/>
          <p:nvPr/>
        </p:nvSpPr>
        <p:spPr>
          <a:xfrm>
            <a:off x="8522208"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Not included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Sales and F&amp;I commissions, delivery, floorplan interest, new and used vehicle advertising</a:t>
            </a:r>
            <a:endParaRPr lang="en-US" sz="1400" dirty="0"/>
          </a:p>
        </p:txBody>
      </p:sp>
      <p:sp>
        <p:nvSpPr>
          <p:cNvPr id="26" name="Shape 24"/>
          <p:cNvSpPr/>
          <p:nvPr/>
        </p:nvSpPr>
        <p:spPr>
          <a:xfrm>
            <a:off x="457200" y="6126480"/>
            <a:ext cx="11274552" cy="371856"/>
          </a:xfrm>
          <a:prstGeom prst="rect">
            <a:avLst/>
          </a:prstGeom>
          <a:solidFill>
            <a:srgbClr val="E6F6EE"/>
          </a:solidFill>
          <a:ln/>
        </p:spPr>
        <p:txBody>
          <a:bodyPr/>
          <a:p/>
        </p:txBody>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Parts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txBody>
          <a:bodyPr/>
          <a:p/>
        </p:txBody>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Parts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customer-pay parts dollar we keep, less the cost of the part.</a:t>
            </a:r>
            <a:endParaRPr lang="en-US" sz="1500" dirty="0"/>
          </a:p>
        </p:txBody>
      </p:sp>
      <p:sp>
        <p:nvSpPr>
          <p:cNvPr id="8" name="Shape 6"/>
          <p:cNvSpPr/>
          <p:nvPr/>
        </p:nvSpPr>
        <p:spPr>
          <a:xfrm>
            <a:off x="457200" y="2340864"/>
            <a:ext cx="4343400" cy="3648456"/>
          </a:xfrm>
          <a:prstGeom prst="rect">
            <a:avLst/>
          </a:prstGeom>
          <a:solidFill>
            <a:srgbClr val="FFFFFF"/>
          </a:solidFill>
          <a:ln/>
        </p:spPr>
        <p:txBody>
          <a:bodyPr/>
          <a:p/>
        </p:txBody>
      </p:sp>
      <p:sp>
        <p:nvSpPr>
          <p:cNvPr id="9" name="Shape 7"/>
          <p:cNvSpPr/>
          <p:nvPr/>
        </p:nvSpPr>
        <p:spPr>
          <a:xfrm>
            <a:off x="4937760" y="2340864"/>
            <a:ext cx="6793992" cy="3648456"/>
          </a:xfrm>
          <a:prstGeom prst="rect">
            <a:avLst/>
          </a:prstGeom>
          <a:solidFill>
            <a:srgbClr val="FFFFFF"/>
          </a:solidFill>
          <a:ln/>
        </p:spPr>
        <p:txBody>
          <a:bodyPr/>
          <a:p/>
        </p:txBody>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Parts keeps about 37¢ of every gross dollar after its own expenses, the most of any department (service 22¢): margin goes almost straight to the bottom line.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whether parts sell at the right price: matrix, markups and discounts.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flags heavy discounting, or cost increases we have not passed on.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CP parts pricing supports the warranty parts reimbursement rate.</a:t>
            </a:r>
            <a:endParaRPr lang="en-US" sz="1500" dirty="0"/>
          </a:p>
        </p:txBody>
      </p:sp>
      <p:sp>
        <p:nvSpPr>
          <p:cNvPr id="13" name="Shape 11"/>
          <p:cNvSpPr/>
          <p:nvPr/>
        </p:nvSpPr>
        <p:spPr>
          <a:xfrm>
            <a:off x="5138928" y="2843784"/>
            <a:ext cx="45720" cy="1121027"/>
          </a:xfrm>
          <a:prstGeom prst="rect">
            <a:avLst/>
          </a:prstGeom>
          <a:solidFill>
            <a:srgbClr val="2587C5"/>
          </a:solidFill>
          <a:ln/>
        </p:spPr>
        <p:txBody>
          <a:bodyPr/>
          <a:p/>
        </p:txBody>
      </p:sp>
      <p:sp>
        <p:nvSpPr>
          <p:cNvPr id="14" name="Text 12"/>
          <p:cNvSpPr txBox="1"/>
          <p:nvPr/>
        </p:nvSpPr>
        <p:spPr>
          <a:xfrm>
            <a:off x="5266944"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how it is set up, make sure pricing follows the matrix setup, and review it against your gross goals</a:t>
            </a:r>
            <a:endParaRPr lang="en-US" sz="1400" dirty="0"/>
          </a:p>
        </p:txBody>
      </p:sp>
      <p:sp>
        <p:nvSpPr>
          <p:cNvPr id="15" name="Shape 13"/>
          <p:cNvSpPr/>
          <p:nvPr/>
        </p:nvSpPr>
        <p:spPr>
          <a:xfrm>
            <a:off x="8394192" y="2843784"/>
            <a:ext cx="45720" cy="1121027"/>
          </a:xfrm>
          <a:prstGeom prst="rect">
            <a:avLst/>
          </a:prstGeom>
          <a:solidFill>
            <a:srgbClr val="2587C5"/>
          </a:solidFill>
          <a:ln/>
        </p:spPr>
        <p:txBody>
          <a:bodyPr/>
          <a:p/>
        </p:txBody>
      </p:sp>
      <p:sp>
        <p:nvSpPr>
          <p:cNvPr id="16" name="Text 14"/>
          <p:cNvSpPr txBox="1"/>
          <p:nvPr/>
        </p:nvSpPr>
        <p:spPr>
          <a:xfrm>
            <a:off x="8522208"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 and overrides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discounts and manual price changes; keep safeguards in place</a:t>
            </a:r>
            <a:endParaRPr lang="en-US" sz="1400" dirty="0"/>
          </a:p>
        </p:txBody>
      </p:sp>
      <p:sp>
        <p:nvSpPr>
          <p:cNvPr id="17" name="Shape 15"/>
          <p:cNvSpPr/>
          <p:nvPr/>
        </p:nvSpPr>
        <p:spPr>
          <a:xfrm>
            <a:off x="5138928" y="4074539"/>
            <a:ext cx="45720" cy="801942"/>
          </a:xfrm>
          <a:prstGeom prst="rect">
            <a:avLst/>
          </a:prstGeom>
          <a:solidFill>
            <a:srgbClr val="2587C5"/>
          </a:solidFill>
          <a:ln/>
        </p:spPr>
        <p:txBody>
          <a:bodyPr/>
          <a:p/>
        </p:txBody>
      </p:sp>
      <p:sp>
        <p:nvSpPr>
          <p:cNvPr id="18" name="Text 16"/>
          <p:cNvSpPr txBox="1"/>
          <p:nvPr/>
        </p:nvSpPr>
        <p:spPr>
          <a:xfrm>
            <a:off x="5266944"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Stay competitive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Balance margin with price, especially on high-cost parts</a:t>
            </a:r>
            <a:endParaRPr lang="en-US" sz="1400" dirty="0"/>
          </a:p>
        </p:txBody>
      </p:sp>
      <p:sp>
        <p:nvSpPr>
          <p:cNvPr id="19" name="Shape 17"/>
          <p:cNvSpPr/>
          <p:nvPr/>
        </p:nvSpPr>
        <p:spPr>
          <a:xfrm>
            <a:off x="8394192" y="4074539"/>
            <a:ext cx="45720" cy="801942"/>
          </a:xfrm>
          <a:prstGeom prst="rect">
            <a:avLst/>
          </a:prstGeom>
          <a:solidFill>
            <a:srgbClr val="2587C5"/>
          </a:solidFill>
          <a:ln/>
        </p:spPr>
        <p:txBody>
          <a:bodyPr/>
          <a:p/>
        </p:txBody>
      </p:sp>
      <p:sp>
        <p:nvSpPr>
          <p:cNvPr id="20" name="Text 18"/>
          <p:cNvSpPr txBox="1"/>
          <p:nvPr/>
        </p:nvSpPr>
        <p:spPr>
          <a:xfrm>
            <a:off x="8522208"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Tires and competitive items carry thinner margins</a:t>
            </a:r>
            <a:endParaRPr lang="en-US" sz="1400" dirty="0"/>
          </a:p>
        </p:txBody>
      </p:sp>
      <p:sp>
        <p:nvSpPr>
          <p:cNvPr id="21" name="Shape 19"/>
          <p:cNvSpPr/>
          <p:nvPr/>
        </p:nvSpPr>
        <p:spPr>
          <a:xfrm>
            <a:off x="5138928" y="4986210"/>
            <a:ext cx="45720" cy="801942"/>
          </a:xfrm>
          <a:prstGeom prst="rect">
            <a:avLst/>
          </a:prstGeom>
          <a:solidFill>
            <a:srgbClr val="2587C5"/>
          </a:solidFill>
          <a:ln/>
        </p:spPr>
        <p:txBody>
          <a:bodyPr/>
          <a:p/>
        </p:txBody>
      </p:sp>
      <p:sp>
        <p:nvSpPr>
          <p:cNvPr id="22" name="Text 20"/>
          <p:cNvSpPr txBox="1"/>
          <p:nvPr/>
        </p:nvSpPr>
        <p:spPr>
          <a:xfrm>
            <a:off x="5266944"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Bundled maintenance parts priced to protect margin</a:t>
            </a:r>
            <a:endParaRPr lang="en-US" sz="1400" dirty="0"/>
          </a:p>
        </p:txBody>
      </p:sp>
      <p:sp>
        <p:nvSpPr>
          <p:cNvPr id="23" name="Shape 21"/>
          <p:cNvSpPr/>
          <p:nvPr/>
        </p:nvSpPr>
        <p:spPr>
          <a:xfrm>
            <a:off x="8394192" y="4986210"/>
            <a:ext cx="45720" cy="801942"/>
          </a:xfrm>
          <a:prstGeom prst="rect">
            <a:avLst/>
          </a:prstGeom>
          <a:solidFill>
            <a:srgbClr val="2587C5"/>
          </a:solidFill>
          <a:ln/>
        </p:spPr>
        <p:txBody>
          <a:bodyPr/>
          <a:p/>
        </p:txBody>
      </p:sp>
      <p:sp>
        <p:nvSpPr>
          <p:cNvPr id="24" name="Text 22"/>
          <p:cNvSpPr txBox="1"/>
          <p:nvPr/>
        </p:nvSpPr>
        <p:spPr>
          <a:xfrm>
            <a:off x="8522208"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and actively manage your parts GP %: know where you stand and adjust as needed</a:t>
            </a:r>
            <a:endParaRPr lang="en-US" sz="1400" dirty="0"/>
          </a:p>
        </p:txBody>
      </p:sp>
      <p:sp>
        <p:nvSpPr>
          <p:cNvPr id="25" name="Shape 23"/>
          <p:cNvSpPr/>
          <p:nvPr/>
        </p:nvSpPr>
        <p:spPr>
          <a:xfrm>
            <a:off x="457200" y="6126480"/>
            <a:ext cx="11274552" cy="371856"/>
          </a:xfrm>
          <a:prstGeom prst="rect">
            <a:avLst/>
          </a:prstGeom>
          <a:solidFill>
            <a:srgbClr val="E6F6EE"/>
          </a:solidFill>
          <a:ln/>
        </p:spPr>
        <p:txBody>
          <a:bodyPr/>
          <a:p/>
        </p:txBody>
      </p:sp>
      <p:sp>
        <p:nvSpPr>
          <p:cNvPr id="26" name="Text 24"/>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40.7% CP parts gross profit, up 1.2 pts and ahead of 2025 in all nine months.</a:t>
            </a:r>
            <a:endParaRPr lang="en-US" sz="16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Tracking &amp; Accountability</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Daily review of the Viz 'Op Code' and 'Performance Report' and the Fixed Ops DOC</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Give feedback quickly and often. Trends start early: don't wait until the 15th.</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Tracked metrics improve performance; we are responsible for the knowing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Scoreboard techs and advisors: CP $ per RO, ELR, MPI completion, closing %, key op codes</a:t>
            </a:r>
            <a:endParaRPr lang="en-US" sz="1800" dirty="0"/>
          </a:p>
        </p:txBody>
      </p:sp>
      <p:sp>
        <p:nvSpPr>
          <p:cNvPr id="10" name="Shape 8"/>
          <p:cNvSpPr/>
          <p:nvPr/>
        </p:nvSpPr>
        <p:spPr>
          <a:xfrm>
            <a:off x="7269480" y="1920240"/>
            <a:ext cx="54864" cy="3794760"/>
          </a:xfrm>
          <a:prstGeom prst="rect">
            <a:avLst/>
          </a:prstGeom>
          <a:solidFill>
            <a:srgbClr val="C2352F"/>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81.3%</a:t>
            </a:r>
            <a:endParaRPr lang="en-US" sz="3000" dirty="0"/>
          </a:p>
        </p:txBody>
      </p:sp>
      <p:sp>
        <p:nvSpPr>
          <p:cNvPr id="12" name="Text 10"/>
          <p:cNvSpPr txBox="1"/>
          <p:nvPr/>
        </p:nvSpPr>
        <p:spPr>
          <a:xfrm>
            <a:off x="7452360" y="2441448"/>
            <a:ext cx="4023360" cy="329184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MPI completion, July to September (store-reported). 12 of 33 stores at the 90% benchmark.</a:t>
            </a:r>
            <a:endParaRPr lang="en-US" sz="1400" dirty="0"/>
          </a:p>
        </p:txBody>
      </p:sp>
      <p:sp>
        <p:nvSpPr>
          <p:cNvPr id="13" name="Shape 11"/>
          <p:cNvSpPr/>
          <p:nvPr/>
        </p:nvSpPr>
        <p:spPr>
          <a:xfrm>
            <a:off x="457200" y="6126480"/>
            <a:ext cx="11274552" cy="615696"/>
          </a:xfrm>
          <a:prstGeom prst="rect">
            <a:avLst/>
          </a:prstGeom>
          <a:solidFill>
            <a:srgbClr val="EDF4FA"/>
          </a:solidFill>
          <a:ln/>
        </p:spPr>
        <p:txBody>
          <a:bodyPr/>
          <a:p/>
        </p:txBody>
      </p:sp>
      <p:sp>
        <p:nvSpPr>
          <p:cNvPr id="14" name="Text 1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if it isn't described, it can't be tracked. Clean up op code descriptions so the reports show what you sell.</a:t>
            </a:r>
            <a:endParaRPr lang="en-US" sz="16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9502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Shape 6"/>
          <p:cNvSpPr/>
          <p:nvPr/>
        </p:nvSpPr>
        <p:spPr>
          <a:xfrm>
            <a:off x="3429510" y="1700784"/>
            <a:ext cx="10973" cy="4224528"/>
          </a:xfrm>
          <a:prstGeom prst="rect">
            <a:avLst/>
          </a:prstGeom>
          <a:solidFill>
            <a:srgbClr val="9AA3AD"/>
          </a:solidFill>
          <a:ln/>
        </p:spPr>
        <p:txBody>
          <a:bodyPr/>
          <a:p/>
        </p:txBody>
      </p:sp>
      <p:sp>
        <p:nvSpPr>
          <p:cNvPr id="9" name="Text 7"/>
          <p:cNvSpPr txBox="1"/>
          <p:nvPr/>
        </p:nvSpPr>
        <p:spPr>
          <a:xfrm>
            <a:off x="95006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1" name="Shape 9"/>
          <p:cNvSpPr/>
          <p:nvPr/>
        </p:nvSpPr>
        <p:spPr>
          <a:xfrm>
            <a:off x="8979918" y="1700784"/>
            <a:ext cx="10973" cy="3976026"/>
          </a:xfrm>
          <a:prstGeom prst="rect">
            <a:avLst/>
          </a:prstGeom>
          <a:solidFill>
            <a:srgbClr val="9AA3AD"/>
          </a:solidFill>
          <a:ln/>
        </p:spPr>
        <p:txBody>
          <a:bodyPr/>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434996" y="1756697"/>
            <a:ext cx="460348" cy="136676"/>
          </a:xfrm>
          <a:prstGeom prst="rect">
            <a:avLst/>
          </a:prstGeom>
          <a:solidFill>
            <a:srgbClr val="12A566"/>
          </a:solidFill>
          <a:ln/>
        </p:spPr>
        <p:txBody>
          <a:bodyPr/>
          <a:p/>
        </p:txBody>
      </p:sp>
      <p:sp>
        <p:nvSpPr>
          <p:cNvPr id="15" name="Text 13"/>
          <p:cNvSpPr txBox="1"/>
          <p:nvPr/>
        </p:nvSpPr>
        <p:spPr>
          <a:xfrm>
            <a:off x="39502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+$557K</a:t>
            </a:r>
            <a:endParaRPr lang="en-US" sz="1300" dirty="0"/>
          </a:p>
        </p:txBody>
      </p:sp>
      <p:sp>
        <p:nvSpPr>
          <p:cNvPr id="16" name="Text 14"/>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+4,476</a:t>
            </a:r>
            <a:endParaRPr lang="en-US" sz="1300" dirty="0"/>
          </a:p>
        </p:txBody>
      </p:sp>
      <p:sp>
        <p:nvSpPr>
          <p:cNvPr id="17" name="Shape 15"/>
          <p:cNvSpPr/>
          <p:nvPr/>
        </p:nvSpPr>
        <p:spPr>
          <a:xfrm>
            <a:off x="5971032" y="1746504"/>
            <a:ext cx="54864" cy="157062"/>
          </a:xfrm>
          <a:prstGeom prst="rect">
            <a:avLst/>
          </a:prstGeom>
          <a:solidFill>
            <a:srgbClr val="12A566"/>
          </a:solidFill>
          <a:ln/>
        </p:spPr>
        <p:txBody>
          <a:bodyPr/>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0" name="Shape 18"/>
          <p:cNvSpPr/>
          <p:nvPr/>
        </p:nvSpPr>
        <p:spPr>
          <a:xfrm>
            <a:off x="3434996" y="2005199"/>
            <a:ext cx="124432" cy="136676"/>
          </a:xfrm>
          <a:prstGeom prst="rect">
            <a:avLst/>
          </a:prstGeom>
          <a:solidFill>
            <a:srgbClr val="12A566"/>
          </a:solidFill>
          <a:ln/>
        </p:spPr>
        <p:txBody>
          <a:bodyPr/>
          <a:p/>
        </p:txBody>
      </p:sp>
      <p:sp>
        <p:nvSpPr>
          <p:cNvPr id="21" name="Text 19"/>
          <p:cNvSpPr txBox="1"/>
          <p:nvPr/>
        </p:nvSpPr>
        <p:spPr>
          <a:xfrm>
            <a:off x="39502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+$151K</a:t>
            </a:r>
            <a:endParaRPr lang="en-US" sz="1300" dirty="0"/>
          </a:p>
        </p:txBody>
      </p:sp>
      <p:sp>
        <p:nvSpPr>
          <p:cNvPr id="22" name="Text 20"/>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+456</a:t>
            </a:r>
            <a:endParaRPr lang="en-US" sz="1300" dirty="0"/>
          </a:p>
        </p:txBody>
      </p:sp>
      <p:sp>
        <p:nvSpPr>
          <p:cNvPr id="23" name="Shape 21"/>
          <p:cNvSpPr/>
          <p:nvPr/>
        </p:nvSpPr>
        <p:spPr>
          <a:xfrm>
            <a:off x="5971032" y="1995006"/>
            <a:ext cx="54864" cy="157062"/>
          </a:xfrm>
          <a:prstGeom prst="rect">
            <a:avLst/>
          </a:prstGeom>
          <a:solidFill>
            <a:srgbClr val="12A566"/>
          </a:solidFill>
          <a:ln/>
        </p:spPr>
        <p:txBody>
          <a:bodyPr/>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6" name="Shape 24"/>
          <p:cNvSpPr/>
          <p:nvPr/>
        </p:nvSpPr>
        <p:spPr>
          <a:xfrm>
            <a:off x="3434996" y="2253700"/>
            <a:ext cx="44339" cy="136676"/>
          </a:xfrm>
          <a:prstGeom prst="rect">
            <a:avLst/>
          </a:prstGeom>
          <a:solidFill>
            <a:srgbClr val="12A566"/>
          </a:solidFill>
          <a:ln/>
        </p:spPr>
        <p:txBody>
          <a:bodyPr/>
          <a:p/>
        </p:txBody>
      </p:sp>
      <p:sp>
        <p:nvSpPr>
          <p:cNvPr id="27" name="Text 25"/>
          <p:cNvSpPr txBox="1"/>
          <p:nvPr/>
        </p:nvSpPr>
        <p:spPr>
          <a:xfrm>
            <a:off x="39502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28" name="Text 26"/>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+324</a:t>
            </a:r>
            <a:endParaRPr lang="en-US" sz="1300" dirty="0"/>
          </a:p>
        </p:txBody>
      </p:sp>
      <p:sp>
        <p:nvSpPr>
          <p:cNvPr id="29" name="Shape 27"/>
          <p:cNvSpPr/>
          <p:nvPr/>
        </p:nvSpPr>
        <p:spPr>
          <a:xfrm>
            <a:off x="5971032" y="2243507"/>
            <a:ext cx="54864" cy="157062"/>
          </a:xfrm>
          <a:prstGeom prst="rect">
            <a:avLst/>
          </a:prstGeom>
          <a:solidFill>
            <a:srgbClr val="12A566"/>
          </a:solidFill>
          <a:ln/>
        </p:spPr>
        <p:txBody>
          <a:bodyPr/>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2" name="Shape 30"/>
          <p:cNvSpPr/>
          <p:nvPr/>
        </p:nvSpPr>
        <p:spPr>
          <a:xfrm>
            <a:off x="3434996" y="2502202"/>
            <a:ext cx="37145" cy="136676"/>
          </a:xfrm>
          <a:prstGeom prst="rect">
            <a:avLst/>
          </a:prstGeom>
          <a:solidFill>
            <a:srgbClr val="12A566"/>
          </a:solidFill>
          <a:ln/>
        </p:spPr>
        <p:txBody>
          <a:bodyPr/>
          <a:p/>
        </p:txBody>
      </p:sp>
      <p:sp>
        <p:nvSpPr>
          <p:cNvPr id="33" name="Text 31"/>
          <p:cNvSpPr txBox="1"/>
          <p:nvPr/>
        </p:nvSpPr>
        <p:spPr>
          <a:xfrm>
            <a:off x="39502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34" name="Text 32"/>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35" name="Text 33"/>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6" name="Text 34"/>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7" name="Shape 35"/>
          <p:cNvSpPr/>
          <p:nvPr/>
        </p:nvSpPr>
        <p:spPr>
          <a:xfrm>
            <a:off x="3434996" y="2750703"/>
            <a:ext cx="34144" cy="136676"/>
          </a:xfrm>
          <a:prstGeom prst="rect">
            <a:avLst/>
          </a:prstGeom>
          <a:solidFill>
            <a:srgbClr val="12A566"/>
          </a:solidFill>
          <a:ln/>
        </p:spPr>
        <p:txBody>
          <a:bodyPr/>
          <a:p/>
        </p:txBody>
      </p:sp>
      <p:sp>
        <p:nvSpPr>
          <p:cNvPr id="38" name="Text 36"/>
          <p:cNvSpPr txBox="1"/>
          <p:nvPr/>
        </p:nvSpPr>
        <p:spPr>
          <a:xfrm>
            <a:off x="39502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39" name="Text 37"/>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40" name="Text 38"/>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1" name="Text 39"/>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2" name="Shape 40"/>
          <p:cNvSpPr/>
          <p:nvPr/>
        </p:nvSpPr>
        <p:spPr>
          <a:xfrm>
            <a:off x="3434996" y="2999205"/>
            <a:ext cx="27581" cy="136676"/>
          </a:xfrm>
          <a:prstGeom prst="rect">
            <a:avLst/>
          </a:prstGeom>
          <a:solidFill>
            <a:srgbClr val="12A566"/>
          </a:solidFill>
          <a:ln/>
        </p:spPr>
        <p:txBody>
          <a:bodyPr/>
          <a:p/>
        </p:txBody>
      </p:sp>
      <p:sp>
        <p:nvSpPr>
          <p:cNvPr id="43" name="Text 41"/>
          <p:cNvSpPr txBox="1"/>
          <p:nvPr/>
        </p:nvSpPr>
        <p:spPr>
          <a:xfrm>
            <a:off x="39502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44" name="Text 42"/>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+228</a:t>
            </a:r>
            <a:endParaRPr lang="en-US" sz="1300" dirty="0"/>
          </a:p>
        </p:txBody>
      </p:sp>
      <p:sp>
        <p:nvSpPr>
          <p:cNvPr id="45" name="Text 43"/>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6" name="Text 44"/>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7" name="Shape 45"/>
          <p:cNvSpPr/>
          <p:nvPr/>
        </p:nvSpPr>
        <p:spPr>
          <a:xfrm>
            <a:off x="3434996" y="3247707"/>
            <a:ext cx="19282" cy="136676"/>
          </a:xfrm>
          <a:prstGeom prst="rect">
            <a:avLst/>
          </a:prstGeom>
          <a:solidFill>
            <a:srgbClr val="12A566"/>
          </a:solidFill>
          <a:ln/>
        </p:spPr>
        <p:txBody>
          <a:bodyPr/>
          <a:p/>
        </p:txBody>
      </p:sp>
      <p:sp>
        <p:nvSpPr>
          <p:cNvPr id="48" name="Text 46"/>
          <p:cNvSpPr txBox="1"/>
          <p:nvPr/>
        </p:nvSpPr>
        <p:spPr>
          <a:xfrm>
            <a:off x="39502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49" name="Text 47"/>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50" name="Text 48"/>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1" name="Text 49"/>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2" name="Shape 50"/>
          <p:cNvSpPr/>
          <p:nvPr/>
        </p:nvSpPr>
        <p:spPr>
          <a:xfrm>
            <a:off x="3416704" y="3496208"/>
            <a:ext cx="18292" cy="136676"/>
          </a:xfrm>
          <a:prstGeom prst="rect">
            <a:avLst/>
          </a:prstGeom>
          <a:solidFill>
            <a:srgbClr val="C2352F"/>
          </a:solidFill>
          <a:ln/>
        </p:spPr>
        <p:txBody>
          <a:bodyPr/>
          <a:p/>
        </p:txBody>
      </p:sp>
      <p:sp>
        <p:nvSpPr>
          <p:cNvPr id="53" name="Text 51"/>
          <p:cNvSpPr txBox="1"/>
          <p:nvPr/>
        </p:nvSpPr>
        <p:spPr>
          <a:xfrm>
            <a:off x="39502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54" name="Text 52"/>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−661</a:t>
            </a:r>
            <a:endParaRPr lang="en-US" sz="1300" dirty="0"/>
          </a:p>
        </p:txBody>
      </p:sp>
      <p:sp>
        <p:nvSpPr>
          <p:cNvPr id="55" name="Text 5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6" name="Text 54"/>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7" name="Shape 55"/>
          <p:cNvSpPr/>
          <p:nvPr/>
        </p:nvSpPr>
        <p:spPr>
          <a:xfrm>
            <a:off x="3411703" y="3744710"/>
            <a:ext cx="23293" cy="136676"/>
          </a:xfrm>
          <a:prstGeom prst="rect">
            <a:avLst/>
          </a:prstGeom>
          <a:solidFill>
            <a:srgbClr val="C2352F"/>
          </a:solidFill>
          <a:ln/>
        </p:spPr>
        <p:txBody>
          <a:bodyPr/>
          <a:p/>
        </p:txBody>
      </p:sp>
      <p:sp>
        <p:nvSpPr>
          <p:cNvPr id="58" name="Text 56"/>
          <p:cNvSpPr txBox="1"/>
          <p:nvPr/>
        </p:nvSpPr>
        <p:spPr>
          <a:xfrm>
            <a:off x="39502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59" name="Text 57"/>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−223</a:t>
            </a:r>
            <a:endParaRPr lang="en-US" sz="1300" dirty="0"/>
          </a:p>
        </p:txBody>
      </p:sp>
      <p:sp>
        <p:nvSpPr>
          <p:cNvPr id="60" name="Text 58"/>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1" name="Text 59"/>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2" name="Shape 60"/>
          <p:cNvSpPr/>
          <p:nvPr/>
        </p:nvSpPr>
        <p:spPr>
          <a:xfrm>
            <a:off x="3411379" y="3993212"/>
            <a:ext cx="23618" cy="136676"/>
          </a:xfrm>
          <a:prstGeom prst="rect">
            <a:avLst/>
          </a:prstGeom>
          <a:solidFill>
            <a:srgbClr val="C2352F"/>
          </a:solidFill>
          <a:ln/>
        </p:spPr>
        <p:txBody>
          <a:bodyPr/>
          <a:p/>
        </p:txBody>
      </p:sp>
      <p:sp>
        <p:nvSpPr>
          <p:cNvPr id="63" name="Text 61"/>
          <p:cNvSpPr txBox="1"/>
          <p:nvPr/>
        </p:nvSpPr>
        <p:spPr>
          <a:xfrm>
            <a:off x="39502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64" name="Text 62"/>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−340</a:t>
            </a:r>
            <a:endParaRPr lang="en-US" sz="1300" dirty="0"/>
          </a:p>
        </p:txBody>
      </p:sp>
      <p:sp>
        <p:nvSpPr>
          <p:cNvPr id="65" name="Text 63"/>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6" name="Text 64"/>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7" name="Shape 65"/>
          <p:cNvSpPr/>
          <p:nvPr/>
        </p:nvSpPr>
        <p:spPr>
          <a:xfrm>
            <a:off x="3408491" y="4241713"/>
            <a:ext cx="26505" cy="136676"/>
          </a:xfrm>
          <a:prstGeom prst="rect">
            <a:avLst/>
          </a:prstGeom>
          <a:solidFill>
            <a:srgbClr val="C2352F"/>
          </a:solidFill>
          <a:ln/>
        </p:spPr>
        <p:txBody>
          <a:bodyPr/>
          <a:p/>
        </p:txBody>
      </p:sp>
      <p:sp>
        <p:nvSpPr>
          <p:cNvPr id="68" name="Text 66"/>
          <p:cNvSpPr txBox="1"/>
          <p:nvPr/>
        </p:nvSpPr>
        <p:spPr>
          <a:xfrm>
            <a:off x="39502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69" name="Text 67"/>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70" name="Text 68"/>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1" name="Text 69"/>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2" name="Shape 70"/>
          <p:cNvSpPr/>
          <p:nvPr/>
        </p:nvSpPr>
        <p:spPr>
          <a:xfrm>
            <a:off x="3401031" y="4490215"/>
            <a:ext cx="33965" cy="136676"/>
          </a:xfrm>
          <a:prstGeom prst="rect">
            <a:avLst/>
          </a:prstGeom>
          <a:solidFill>
            <a:srgbClr val="C2352F"/>
          </a:solidFill>
          <a:ln/>
        </p:spPr>
        <p:txBody>
          <a:bodyPr/>
          <a:p/>
        </p:txBody>
      </p:sp>
      <p:sp>
        <p:nvSpPr>
          <p:cNvPr id="73" name="Text 71"/>
          <p:cNvSpPr txBox="1"/>
          <p:nvPr/>
        </p:nvSpPr>
        <p:spPr>
          <a:xfrm>
            <a:off x="39502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−$41K</a:t>
            </a:r>
            <a:endParaRPr lang="en-US" sz="1300" dirty="0"/>
          </a:p>
        </p:txBody>
      </p:sp>
      <p:sp>
        <p:nvSpPr>
          <p:cNvPr id="74" name="Text 72"/>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−452</a:t>
            </a:r>
            <a:endParaRPr lang="en-US" sz="1300" dirty="0"/>
          </a:p>
        </p:txBody>
      </p:sp>
      <p:sp>
        <p:nvSpPr>
          <p:cNvPr id="75" name="Text 73"/>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6" name="Text 74"/>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7" name="Shape 75"/>
          <p:cNvSpPr/>
          <p:nvPr/>
        </p:nvSpPr>
        <p:spPr>
          <a:xfrm>
            <a:off x="3395551" y="4738717"/>
            <a:ext cx="39445" cy="136676"/>
          </a:xfrm>
          <a:prstGeom prst="rect">
            <a:avLst/>
          </a:prstGeom>
          <a:solidFill>
            <a:srgbClr val="C2352F"/>
          </a:solidFill>
          <a:ln/>
        </p:spPr>
        <p:txBody>
          <a:bodyPr/>
          <a:p/>
        </p:txBody>
      </p:sp>
      <p:sp>
        <p:nvSpPr>
          <p:cNvPr id="78" name="Text 76"/>
          <p:cNvSpPr txBox="1"/>
          <p:nvPr/>
        </p:nvSpPr>
        <p:spPr>
          <a:xfrm>
            <a:off x="39502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79" name="Text 77"/>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−569</a:t>
            </a:r>
            <a:endParaRPr lang="en-US" sz="1300" dirty="0"/>
          </a:p>
        </p:txBody>
      </p:sp>
      <p:sp>
        <p:nvSpPr>
          <p:cNvPr id="80" name="Text 7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1" name="Text 79"/>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2" name="Shape 80"/>
          <p:cNvSpPr/>
          <p:nvPr/>
        </p:nvSpPr>
        <p:spPr>
          <a:xfrm>
            <a:off x="3391623" y="4987218"/>
            <a:ext cx="43373" cy="136676"/>
          </a:xfrm>
          <a:prstGeom prst="rect">
            <a:avLst/>
          </a:prstGeom>
          <a:solidFill>
            <a:srgbClr val="C2352F"/>
          </a:solidFill>
          <a:ln/>
        </p:spPr>
        <p:txBody>
          <a:bodyPr/>
          <a:p/>
        </p:txBody>
      </p:sp>
      <p:sp>
        <p:nvSpPr>
          <p:cNvPr id="83" name="Text 81"/>
          <p:cNvSpPr txBox="1"/>
          <p:nvPr/>
        </p:nvSpPr>
        <p:spPr>
          <a:xfrm>
            <a:off x="39502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84" name="Text 82"/>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−660</a:t>
            </a:r>
            <a:endParaRPr lang="en-US" sz="1300" dirty="0"/>
          </a:p>
        </p:txBody>
      </p:sp>
      <p:sp>
        <p:nvSpPr>
          <p:cNvPr id="85" name="Text 83"/>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6" name="Text 84"/>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7" name="Shape 85"/>
          <p:cNvSpPr/>
          <p:nvPr/>
        </p:nvSpPr>
        <p:spPr>
          <a:xfrm>
            <a:off x="3386113" y="5235720"/>
            <a:ext cx="48884" cy="136676"/>
          </a:xfrm>
          <a:prstGeom prst="rect">
            <a:avLst/>
          </a:prstGeom>
          <a:solidFill>
            <a:srgbClr val="C2352F"/>
          </a:solidFill>
          <a:ln/>
        </p:spPr>
        <p:txBody>
          <a:bodyPr/>
          <a:p/>
        </p:txBody>
      </p:sp>
      <p:sp>
        <p:nvSpPr>
          <p:cNvPr id="88" name="Text 86"/>
          <p:cNvSpPr txBox="1"/>
          <p:nvPr/>
        </p:nvSpPr>
        <p:spPr>
          <a:xfrm>
            <a:off x="39502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−$59K</a:t>
            </a:r>
            <a:endParaRPr lang="en-US" sz="1300" dirty="0"/>
          </a:p>
        </p:txBody>
      </p:sp>
      <p:sp>
        <p:nvSpPr>
          <p:cNvPr id="89" name="Text 87"/>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−783</a:t>
            </a:r>
            <a:endParaRPr lang="en-US" sz="1300" dirty="0"/>
          </a:p>
        </p:txBody>
      </p:sp>
      <p:sp>
        <p:nvSpPr>
          <p:cNvPr id="90" name="Text 88"/>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1" name="Text 89"/>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2" name="Shape 90"/>
          <p:cNvSpPr/>
          <p:nvPr/>
        </p:nvSpPr>
        <p:spPr>
          <a:xfrm>
            <a:off x="3385317" y="5484222"/>
            <a:ext cx="49679" cy="136676"/>
          </a:xfrm>
          <a:prstGeom prst="rect">
            <a:avLst/>
          </a:prstGeom>
          <a:solidFill>
            <a:srgbClr val="C2352F"/>
          </a:solidFill>
          <a:ln/>
        </p:spPr>
        <p:txBody>
          <a:bodyPr/>
          <a:p/>
        </p:txBody>
      </p:sp>
      <p:sp>
        <p:nvSpPr>
          <p:cNvPr id="93" name="Text 91"/>
          <p:cNvSpPr txBox="1"/>
          <p:nvPr/>
        </p:nvSpPr>
        <p:spPr>
          <a:xfrm>
            <a:off x="39502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94" name="Text 92"/>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−568</a:t>
            </a:r>
            <a:endParaRPr lang="en-US" sz="1300" dirty="0"/>
          </a:p>
        </p:txBody>
      </p:sp>
      <p:sp>
        <p:nvSpPr>
          <p:cNvPr id="95" name="Text 93"/>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6" name="Text 94"/>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7" name="Shape 95"/>
          <p:cNvSpPr/>
          <p:nvPr/>
        </p:nvSpPr>
        <p:spPr>
          <a:xfrm>
            <a:off x="3384944" y="5732723"/>
            <a:ext cx="50052" cy="136676"/>
          </a:xfrm>
          <a:prstGeom prst="rect">
            <a:avLst/>
          </a:prstGeom>
          <a:solidFill>
            <a:srgbClr val="C2352F"/>
          </a:solidFill>
          <a:ln/>
        </p:spPr>
        <p:txBody>
          <a:bodyPr/>
          <a:p/>
        </p:txBody>
      </p:sp>
      <p:sp>
        <p:nvSpPr>
          <p:cNvPr id="98" name="Text 96"/>
          <p:cNvSpPr txBox="1"/>
          <p:nvPr/>
        </p:nvSpPr>
        <p:spPr>
          <a:xfrm>
            <a:off x="39502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−$61K</a:t>
            </a:r>
            <a:endParaRPr lang="en-US" sz="1300" dirty="0"/>
          </a:p>
        </p:txBody>
      </p:sp>
      <p:sp>
        <p:nvSpPr>
          <p:cNvPr id="99" name="Text 97"/>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−697</a:t>
            </a:r>
            <a:endParaRPr lang="en-US" sz="1300" dirty="0"/>
          </a:p>
        </p:txBody>
      </p:sp>
      <p:sp>
        <p:nvSpPr>
          <p:cNvPr id="100" name="Text 98"/>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1" name="Text 99"/>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931186" y="1756697"/>
            <a:ext cx="54219" cy="136676"/>
          </a:xfrm>
          <a:prstGeom prst="rect">
            <a:avLst/>
          </a:prstGeom>
          <a:solidFill>
            <a:srgbClr val="C2352F"/>
          </a:solidFill>
          <a:ln/>
        </p:spPr>
        <p:txBody>
          <a:bodyPr/>
          <a:p/>
        </p:txBody>
      </p:sp>
      <p:sp>
        <p:nvSpPr>
          <p:cNvPr id="103" name="Text 101"/>
          <p:cNvSpPr txBox="1"/>
          <p:nvPr/>
        </p:nvSpPr>
        <p:spPr>
          <a:xfrm>
            <a:off x="95006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−$66K</a:t>
            </a:r>
            <a:endParaRPr lang="en-US" sz="1300" dirty="0"/>
          </a:p>
        </p:txBody>
      </p:sp>
      <p:sp>
        <p:nvSpPr>
          <p:cNvPr id="104" name="Text 102"/>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−640</a:t>
            </a:r>
            <a:endParaRPr lang="en-US" sz="1300" dirty="0"/>
          </a:p>
        </p:txBody>
      </p:sp>
      <p:sp>
        <p:nvSpPr>
          <p:cNvPr id="105" name="Text 103"/>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6" name="Text 104"/>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7" name="Shape 105"/>
          <p:cNvSpPr/>
          <p:nvPr/>
        </p:nvSpPr>
        <p:spPr>
          <a:xfrm>
            <a:off x="8907378" y="2005199"/>
            <a:ext cx="78026" cy="136676"/>
          </a:xfrm>
          <a:prstGeom prst="rect">
            <a:avLst/>
          </a:prstGeom>
          <a:solidFill>
            <a:srgbClr val="C2352F"/>
          </a:solidFill>
          <a:ln/>
        </p:spPr>
        <p:txBody>
          <a:bodyPr/>
          <a:p/>
        </p:txBody>
      </p:sp>
      <p:sp>
        <p:nvSpPr>
          <p:cNvPr id="108" name="Text 106"/>
          <p:cNvSpPr txBox="1"/>
          <p:nvPr/>
        </p:nvSpPr>
        <p:spPr>
          <a:xfrm>
            <a:off x="95006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09" name="Text 107"/>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−954</a:t>
            </a:r>
            <a:endParaRPr lang="en-US" sz="1300" dirty="0"/>
          </a:p>
        </p:txBody>
      </p:sp>
      <p:sp>
        <p:nvSpPr>
          <p:cNvPr id="110" name="Text 108"/>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1" name="Text 109"/>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2" name="Shape 110"/>
          <p:cNvSpPr/>
          <p:nvPr/>
        </p:nvSpPr>
        <p:spPr>
          <a:xfrm>
            <a:off x="8903182" y="2253700"/>
            <a:ext cx="82223" cy="136676"/>
          </a:xfrm>
          <a:prstGeom prst="rect">
            <a:avLst/>
          </a:prstGeom>
          <a:solidFill>
            <a:srgbClr val="C2352F"/>
          </a:solidFill>
          <a:ln/>
        </p:spPr>
        <p:txBody>
          <a:bodyPr/>
          <a:p/>
        </p:txBody>
      </p:sp>
      <p:sp>
        <p:nvSpPr>
          <p:cNvPr id="113" name="Text 111"/>
          <p:cNvSpPr txBox="1"/>
          <p:nvPr/>
        </p:nvSpPr>
        <p:spPr>
          <a:xfrm>
            <a:off x="95006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114" name="Text 112"/>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−1,100</a:t>
            </a:r>
            <a:endParaRPr lang="en-US" sz="1300" dirty="0"/>
          </a:p>
        </p:txBody>
      </p:sp>
      <p:sp>
        <p:nvSpPr>
          <p:cNvPr id="115" name="Text 113"/>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6" name="Text 114"/>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7" name="Shape 115"/>
          <p:cNvSpPr/>
          <p:nvPr/>
        </p:nvSpPr>
        <p:spPr>
          <a:xfrm>
            <a:off x="8898772" y="2502202"/>
            <a:ext cx="86632" cy="136676"/>
          </a:xfrm>
          <a:prstGeom prst="rect">
            <a:avLst/>
          </a:prstGeom>
          <a:solidFill>
            <a:srgbClr val="C2352F"/>
          </a:solidFill>
          <a:ln/>
        </p:spPr>
        <p:txBody>
          <a:bodyPr/>
          <a:p/>
        </p:txBody>
      </p:sp>
      <p:sp>
        <p:nvSpPr>
          <p:cNvPr id="118" name="Text 116"/>
          <p:cNvSpPr txBox="1"/>
          <p:nvPr/>
        </p:nvSpPr>
        <p:spPr>
          <a:xfrm>
            <a:off x="95006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19" name="Text 117"/>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−827</a:t>
            </a:r>
            <a:endParaRPr lang="en-US" sz="1300" dirty="0"/>
          </a:p>
        </p:txBody>
      </p:sp>
      <p:sp>
        <p:nvSpPr>
          <p:cNvPr id="120" name="Text 118"/>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1" name="Text 119"/>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2" name="Shape 120"/>
          <p:cNvSpPr/>
          <p:nvPr/>
        </p:nvSpPr>
        <p:spPr>
          <a:xfrm>
            <a:off x="8898356" y="2750703"/>
            <a:ext cx="87048" cy="136676"/>
          </a:xfrm>
          <a:prstGeom prst="rect">
            <a:avLst/>
          </a:prstGeom>
          <a:solidFill>
            <a:srgbClr val="C2352F"/>
          </a:solidFill>
          <a:ln/>
        </p:spPr>
        <p:txBody>
          <a:bodyPr/>
          <a:p/>
        </p:txBody>
      </p:sp>
      <p:sp>
        <p:nvSpPr>
          <p:cNvPr id="123" name="Text 121"/>
          <p:cNvSpPr txBox="1"/>
          <p:nvPr/>
        </p:nvSpPr>
        <p:spPr>
          <a:xfrm>
            <a:off x="95006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24" name="Text 122"/>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−1,068</a:t>
            </a:r>
            <a:endParaRPr lang="en-US" sz="1300" dirty="0"/>
          </a:p>
        </p:txBody>
      </p:sp>
      <p:sp>
        <p:nvSpPr>
          <p:cNvPr id="125" name="Text 123"/>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6" name="Text 124"/>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7" name="Shape 125"/>
          <p:cNvSpPr/>
          <p:nvPr/>
        </p:nvSpPr>
        <p:spPr>
          <a:xfrm>
            <a:off x="8869908" y="2999205"/>
            <a:ext cx="115496" cy="136676"/>
          </a:xfrm>
          <a:prstGeom prst="rect">
            <a:avLst/>
          </a:prstGeom>
          <a:solidFill>
            <a:srgbClr val="C2352F"/>
          </a:solidFill>
          <a:ln/>
        </p:spPr>
        <p:txBody>
          <a:bodyPr/>
          <a:p/>
        </p:txBody>
      </p:sp>
      <p:sp>
        <p:nvSpPr>
          <p:cNvPr id="128" name="Text 126"/>
          <p:cNvSpPr txBox="1"/>
          <p:nvPr/>
        </p:nvSpPr>
        <p:spPr>
          <a:xfrm>
            <a:off x="95006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129" name="Text 127"/>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−1,717</a:t>
            </a:r>
            <a:endParaRPr lang="en-US" sz="1300" dirty="0"/>
          </a:p>
        </p:txBody>
      </p:sp>
      <p:sp>
        <p:nvSpPr>
          <p:cNvPr id="130" name="Text 12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1" name="Text 129"/>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2" name="Shape 130"/>
          <p:cNvSpPr/>
          <p:nvPr/>
        </p:nvSpPr>
        <p:spPr>
          <a:xfrm>
            <a:off x="8861676" y="3247707"/>
            <a:ext cx="123728" cy="136676"/>
          </a:xfrm>
          <a:prstGeom prst="rect">
            <a:avLst/>
          </a:prstGeom>
          <a:solidFill>
            <a:srgbClr val="C2352F"/>
          </a:solidFill>
          <a:ln/>
        </p:spPr>
        <p:txBody>
          <a:bodyPr/>
          <a:p/>
        </p:txBody>
      </p:sp>
      <p:sp>
        <p:nvSpPr>
          <p:cNvPr id="133" name="Text 131"/>
          <p:cNvSpPr txBox="1"/>
          <p:nvPr/>
        </p:nvSpPr>
        <p:spPr>
          <a:xfrm>
            <a:off x="95006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34" name="Text 132"/>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−1,613</a:t>
            </a:r>
            <a:endParaRPr lang="en-US" sz="1300" dirty="0"/>
          </a:p>
        </p:txBody>
      </p:sp>
      <p:sp>
        <p:nvSpPr>
          <p:cNvPr id="135" name="Text 133"/>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6" name="Text 134"/>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7" name="Shape 135"/>
          <p:cNvSpPr/>
          <p:nvPr/>
        </p:nvSpPr>
        <p:spPr>
          <a:xfrm>
            <a:off x="8861519" y="3496208"/>
            <a:ext cx="123885" cy="136676"/>
          </a:xfrm>
          <a:prstGeom prst="rect">
            <a:avLst/>
          </a:prstGeom>
          <a:solidFill>
            <a:srgbClr val="C2352F"/>
          </a:solidFill>
          <a:ln/>
        </p:spPr>
        <p:txBody>
          <a:bodyPr/>
          <a:p/>
        </p:txBody>
      </p:sp>
      <p:sp>
        <p:nvSpPr>
          <p:cNvPr id="138" name="Text 136"/>
          <p:cNvSpPr txBox="1"/>
          <p:nvPr/>
        </p:nvSpPr>
        <p:spPr>
          <a:xfrm>
            <a:off x="95006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39" name="Text 137"/>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−1,257</a:t>
            </a:r>
            <a:endParaRPr lang="en-US" sz="1300" dirty="0"/>
          </a:p>
        </p:txBody>
      </p:sp>
      <p:sp>
        <p:nvSpPr>
          <p:cNvPr id="140" name="Text 138"/>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1" name="Text 139"/>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42" name="Shape 140"/>
          <p:cNvSpPr/>
          <p:nvPr/>
        </p:nvSpPr>
        <p:spPr>
          <a:xfrm>
            <a:off x="8851844" y="3744710"/>
            <a:ext cx="133560" cy="136676"/>
          </a:xfrm>
          <a:prstGeom prst="rect">
            <a:avLst/>
          </a:prstGeom>
          <a:solidFill>
            <a:srgbClr val="C2352F"/>
          </a:solidFill>
          <a:ln/>
        </p:spPr>
        <p:txBody>
          <a:bodyPr/>
          <a:p/>
        </p:txBody>
      </p:sp>
      <p:sp>
        <p:nvSpPr>
          <p:cNvPr id="143" name="Text 141"/>
          <p:cNvSpPr txBox="1"/>
          <p:nvPr/>
        </p:nvSpPr>
        <p:spPr>
          <a:xfrm>
            <a:off x="95006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−$162K</a:t>
            </a:r>
            <a:endParaRPr lang="en-US" sz="1300" dirty="0"/>
          </a:p>
        </p:txBody>
      </p:sp>
      <p:sp>
        <p:nvSpPr>
          <p:cNvPr id="144" name="Text 142"/>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−1,152</a:t>
            </a:r>
            <a:endParaRPr lang="en-US" sz="1300" dirty="0"/>
          </a:p>
        </p:txBody>
      </p:sp>
      <p:sp>
        <p:nvSpPr>
          <p:cNvPr id="145" name="Text 143"/>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6" name="Text 144"/>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47" name="Shape 145"/>
          <p:cNvSpPr/>
          <p:nvPr/>
        </p:nvSpPr>
        <p:spPr>
          <a:xfrm>
            <a:off x="8841233" y="3993212"/>
            <a:ext cx="144171" cy="136676"/>
          </a:xfrm>
          <a:prstGeom prst="rect">
            <a:avLst/>
          </a:prstGeom>
          <a:solidFill>
            <a:srgbClr val="C2352F"/>
          </a:solidFill>
          <a:ln/>
        </p:spPr>
        <p:txBody>
          <a:bodyPr/>
          <a:p/>
        </p:txBody>
      </p:sp>
      <p:sp>
        <p:nvSpPr>
          <p:cNvPr id="148" name="Text 146"/>
          <p:cNvSpPr txBox="1"/>
          <p:nvPr/>
        </p:nvSpPr>
        <p:spPr>
          <a:xfrm>
            <a:off x="95006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−$175K</a:t>
            </a:r>
            <a:endParaRPr lang="en-US" sz="1300" dirty="0"/>
          </a:p>
        </p:txBody>
      </p:sp>
      <p:sp>
        <p:nvSpPr>
          <p:cNvPr id="149" name="Text 147"/>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−1,906</a:t>
            </a:r>
            <a:endParaRPr lang="en-US" sz="1300" dirty="0"/>
          </a:p>
        </p:txBody>
      </p:sp>
      <p:sp>
        <p:nvSpPr>
          <p:cNvPr id="150" name="Text 148"/>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1" name="Text 149"/>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833790" y="4241713"/>
            <a:ext cx="151614" cy="136676"/>
          </a:xfrm>
          <a:prstGeom prst="rect">
            <a:avLst/>
          </a:prstGeom>
          <a:solidFill>
            <a:srgbClr val="C2352F"/>
          </a:solidFill>
          <a:ln/>
        </p:spPr>
        <p:txBody>
          <a:bodyPr/>
          <a:p/>
        </p:txBody>
      </p:sp>
      <p:sp>
        <p:nvSpPr>
          <p:cNvPr id="153" name="Text 151"/>
          <p:cNvSpPr txBox="1"/>
          <p:nvPr/>
        </p:nvSpPr>
        <p:spPr>
          <a:xfrm>
            <a:off x="95006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−$184K</a:t>
            </a:r>
            <a:endParaRPr lang="en-US" sz="1300" dirty="0"/>
          </a:p>
        </p:txBody>
      </p:sp>
      <p:sp>
        <p:nvSpPr>
          <p:cNvPr id="154" name="Text 152"/>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−1,863</a:t>
            </a:r>
            <a:endParaRPr lang="en-US" sz="1300" dirty="0"/>
          </a:p>
        </p:txBody>
      </p:sp>
      <p:sp>
        <p:nvSpPr>
          <p:cNvPr id="155" name="Text 153"/>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6" name="Text 154"/>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7" name="Shape 155"/>
          <p:cNvSpPr/>
          <p:nvPr/>
        </p:nvSpPr>
        <p:spPr>
          <a:xfrm>
            <a:off x="8832658" y="4490215"/>
            <a:ext cx="152747" cy="136676"/>
          </a:xfrm>
          <a:prstGeom prst="rect">
            <a:avLst/>
          </a:prstGeom>
          <a:solidFill>
            <a:srgbClr val="C2352F"/>
          </a:solidFill>
          <a:ln/>
        </p:spPr>
        <p:txBody>
          <a:bodyPr/>
          <a:p/>
        </p:txBody>
      </p:sp>
      <p:sp>
        <p:nvSpPr>
          <p:cNvPr id="158" name="Text 156"/>
          <p:cNvSpPr txBox="1"/>
          <p:nvPr/>
        </p:nvSpPr>
        <p:spPr>
          <a:xfrm>
            <a:off x="95006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−$185K</a:t>
            </a:r>
            <a:endParaRPr lang="en-US" sz="1300" dirty="0"/>
          </a:p>
        </p:txBody>
      </p:sp>
      <p:sp>
        <p:nvSpPr>
          <p:cNvPr id="159" name="Text 157"/>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−1,708</a:t>
            </a:r>
            <a:endParaRPr lang="en-US" sz="1300" dirty="0"/>
          </a:p>
        </p:txBody>
      </p:sp>
      <p:sp>
        <p:nvSpPr>
          <p:cNvPr id="160" name="Text 158"/>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1" name="Text 159"/>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2" name="Shape 160"/>
          <p:cNvSpPr/>
          <p:nvPr/>
        </p:nvSpPr>
        <p:spPr>
          <a:xfrm>
            <a:off x="8798077" y="4738717"/>
            <a:ext cx="187327" cy="136676"/>
          </a:xfrm>
          <a:prstGeom prst="rect">
            <a:avLst/>
          </a:prstGeom>
          <a:solidFill>
            <a:srgbClr val="C2352F"/>
          </a:solidFill>
          <a:ln/>
        </p:spPr>
        <p:txBody>
          <a:bodyPr/>
          <a:p/>
        </p:txBody>
      </p:sp>
      <p:sp>
        <p:nvSpPr>
          <p:cNvPr id="163" name="Text 161"/>
          <p:cNvSpPr txBox="1"/>
          <p:nvPr/>
        </p:nvSpPr>
        <p:spPr>
          <a:xfrm>
            <a:off x="95006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−$227K</a:t>
            </a:r>
            <a:endParaRPr lang="en-US" sz="1300" dirty="0"/>
          </a:p>
        </p:txBody>
      </p:sp>
      <p:sp>
        <p:nvSpPr>
          <p:cNvPr id="164" name="Text 162"/>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−3,005</a:t>
            </a:r>
            <a:endParaRPr lang="en-US" sz="1300" dirty="0"/>
          </a:p>
        </p:txBody>
      </p:sp>
      <p:sp>
        <p:nvSpPr>
          <p:cNvPr id="165" name="Text 163"/>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6" name="Text 164"/>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7" name="Shape 165"/>
          <p:cNvSpPr/>
          <p:nvPr/>
        </p:nvSpPr>
        <p:spPr>
          <a:xfrm>
            <a:off x="8765072" y="4987218"/>
            <a:ext cx="220332" cy="136676"/>
          </a:xfrm>
          <a:prstGeom prst="rect">
            <a:avLst/>
          </a:prstGeom>
          <a:solidFill>
            <a:srgbClr val="C2352F"/>
          </a:solidFill>
          <a:ln/>
        </p:spPr>
        <p:txBody>
          <a:bodyPr/>
          <a:p/>
        </p:txBody>
      </p:sp>
      <p:sp>
        <p:nvSpPr>
          <p:cNvPr id="168" name="Text 166"/>
          <p:cNvSpPr txBox="1"/>
          <p:nvPr/>
        </p:nvSpPr>
        <p:spPr>
          <a:xfrm>
            <a:off x="95006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−$267K</a:t>
            </a:r>
            <a:endParaRPr lang="en-US" sz="1300" dirty="0"/>
          </a:p>
        </p:txBody>
      </p:sp>
      <p:sp>
        <p:nvSpPr>
          <p:cNvPr id="169" name="Text 167"/>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−3,494</a:t>
            </a:r>
            <a:endParaRPr lang="en-US" sz="1300" dirty="0"/>
          </a:p>
        </p:txBody>
      </p:sp>
      <p:sp>
        <p:nvSpPr>
          <p:cNvPr id="170" name="Shape 168"/>
          <p:cNvSpPr/>
          <p:nvPr/>
        </p:nvSpPr>
        <p:spPr>
          <a:xfrm>
            <a:off x="11521440" y="4977025"/>
            <a:ext cx="54864" cy="157062"/>
          </a:xfrm>
          <a:prstGeom prst="rect">
            <a:avLst/>
          </a:prstGeom>
          <a:solidFill>
            <a:srgbClr val="C2352F"/>
          </a:solidFill>
          <a:ln/>
        </p:spPr>
        <p:txBody>
          <a:bodyPr/>
          <a:p/>
        </p:txBody>
      </p:sp>
      <p:sp>
        <p:nvSpPr>
          <p:cNvPr id="171" name="Text 169"/>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2" name="Text 170"/>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73" name="Shape 171"/>
          <p:cNvSpPr/>
          <p:nvPr/>
        </p:nvSpPr>
        <p:spPr>
          <a:xfrm>
            <a:off x="8691210" y="5235720"/>
            <a:ext cx="294194" cy="136676"/>
          </a:xfrm>
          <a:prstGeom prst="rect">
            <a:avLst/>
          </a:prstGeom>
          <a:solidFill>
            <a:srgbClr val="C2352F"/>
          </a:solidFill>
          <a:ln/>
        </p:spPr>
        <p:txBody>
          <a:bodyPr/>
          <a:p/>
        </p:txBody>
      </p:sp>
      <p:sp>
        <p:nvSpPr>
          <p:cNvPr id="174" name="Text 172"/>
          <p:cNvSpPr txBox="1"/>
          <p:nvPr/>
        </p:nvSpPr>
        <p:spPr>
          <a:xfrm>
            <a:off x="95006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175" name="Text 173"/>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−3,177</a:t>
            </a:r>
            <a:endParaRPr lang="en-US" sz="1300" dirty="0"/>
          </a:p>
        </p:txBody>
      </p:sp>
      <p:sp>
        <p:nvSpPr>
          <p:cNvPr id="176" name="Shape 174"/>
          <p:cNvSpPr/>
          <p:nvPr/>
        </p:nvSpPr>
        <p:spPr>
          <a:xfrm>
            <a:off x="11521440" y="5225527"/>
            <a:ext cx="54864" cy="157062"/>
          </a:xfrm>
          <a:prstGeom prst="rect">
            <a:avLst/>
          </a:prstGeom>
          <a:solidFill>
            <a:srgbClr val="C2352F"/>
          </a:solidFill>
          <a:ln/>
        </p:spPr>
        <p:txBody>
          <a:bodyPr/>
          <a:p/>
        </p:txBody>
      </p:sp>
      <p:sp>
        <p:nvSpPr>
          <p:cNvPr id="177" name="Text 175"/>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8" name="Text 176"/>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9" name="Shape 177"/>
          <p:cNvSpPr/>
          <p:nvPr/>
        </p:nvSpPr>
        <p:spPr>
          <a:xfrm>
            <a:off x="8650224" y="5484222"/>
            <a:ext cx="335180" cy="136676"/>
          </a:xfrm>
          <a:prstGeom prst="rect">
            <a:avLst/>
          </a:prstGeom>
          <a:solidFill>
            <a:srgbClr val="C2352F"/>
          </a:solidFill>
          <a:ln/>
        </p:spPr>
        <p:txBody>
          <a:bodyPr/>
          <a:p/>
        </p:txBody>
      </p:sp>
      <p:sp>
        <p:nvSpPr>
          <p:cNvPr id="180" name="Text 178"/>
          <p:cNvSpPr txBox="1"/>
          <p:nvPr/>
        </p:nvSpPr>
        <p:spPr>
          <a:xfrm>
            <a:off x="95006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−$406K</a:t>
            </a:r>
            <a:endParaRPr lang="en-US" sz="1300" dirty="0"/>
          </a:p>
        </p:txBody>
      </p:sp>
      <p:sp>
        <p:nvSpPr>
          <p:cNvPr id="181" name="Text 179"/>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−5,191</a:t>
            </a:r>
            <a:endParaRPr lang="en-US" sz="1300" dirty="0"/>
          </a:p>
        </p:txBody>
      </p:sp>
      <p:sp>
        <p:nvSpPr>
          <p:cNvPr id="182" name="Shape 180"/>
          <p:cNvSpPr/>
          <p:nvPr/>
        </p:nvSpPr>
        <p:spPr>
          <a:xfrm>
            <a:off x="11521440" y="5474029"/>
            <a:ext cx="54864" cy="157062"/>
          </a:xfrm>
          <a:prstGeom prst="rect">
            <a:avLst/>
          </a:prstGeom>
          <a:solidFill>
            <a:srgbClr val="C2352F"/>
          </a:solidFill>
          <a:ln/>
        </p:spPr>
        <p:txBody>
          <a:bodyPr/>
          <a:p/>
        </p:txBody>
      </p:sp>
      <p:sp>
        <p:nvSpPr>
          <p:cNvPr id="183" name="Shape 181"/>
          <p:cNvSpPr/>
          <p:nvPr/>
        </p:nvSpPr>
        <p:spPr>
          <a:xfrm>
            <a:off x="6085332" y="1700784"/>
            <a:ext cx="10973" cy="4224528"/>
          </a:xfrm>
          <a:prstGeom prst="rect">
            <a:avLst/>
          </a:prstGeom>
          <a:solidFill>
            <a:srgbClr val="D9D9D9"/>
          </a:solidFill>
          <a:ln/>
        </p:spPr>
        <p:txBody>
          <a:bodyPr/>
          <a:p/>
        </p:txBody>
      </p:sp>
      <p:sp>
        <p:nvSpPr>
          <p:cNvPr id="184" name="Shape 182"/>
          <p:cNvSpPr/>
          <p:nvPr/>
        </p:nvSpPr>
        <p:spPr>
          <a:xfrm>
            <a:off x="457200" y="6126480"/>
            <a:ext cx="11274552" cy="615696"/>
          </a:xfrm>
          <a:prstGeom prst="rect">
            <a:avLst/>
          </a:prstGeom>
          <a:solidFill>
            <a:srgbClr val="FBEBEA"/>
          </a:solidFill>
          <a:ln/>
        </p:spPr>
        <p:txBody>
          <a:bodyPr/>
          <a:p/>
        </p:txBody>
      </p:sp>
      <p:sp>
        <p:nvSpPr>
          <p:cNvPr id="185" name="Text 183"/>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Toyota Spokane is furthest below at −$406K so far this year; 7 of 33 stores are ahead of benchmark across the four services. 15 stores are under all four.</a:t>
            </a:r>
            <a:endParaRPr lang="en-US" sz="160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Every Store at Benchmark</a:t>
            </a:r>
            <a:endParaRPr lang="en-US" sz="2800" dirty="0"/>
          </a:p>
        </p:txBody>
      </p:sp>
      <p:sp>
        <p:nvSpPr>
          <p:cNvPr id="5" name="Shape 3"/>
          <p:cNvSpPr/>
          <p:nvPr/>
        </p:nvSpPr>
        <p:spPr>
          <a:xfrm>
            <a:off x="457200" y="1207008"/>
            <a:ext cx="11274552" cy="4645152"/>
          </a:xfrm>
          <a:prstGeom prst="rect">
            <a:avLst/>
          </a:prstGeom>
          <a:solidFill>
            <a:srgbClr val="FFFFFF"/>
          </a:solidFill>
          <a:ln/>
        </p:spPr>
        <p:txBody>
          <a:bodyPr/>
          <a:p/>
        </p:txBody>
      </p:sp>
      <p:sp>
        <p:nvSpPr>
          <p:cNvPr id="6" name="Text 4"/>
          <p:cNvSpPr txBox="1"/>
          <p:nvPr/>
        </p:nvSpPr>
        <p:spPr>
          <a:xfrm>
            <a:off x="731520" y="1481328"/>
            <a:ext cx="10725912" cy="329184"/>
          </a:xfrm>
          <a:prstGeom prst="rect">
            <a:avLst/>
          </a:prstGeom>
          <a:noFill/>
          <a:ln/>
        </p:spPr>
        <p:txBody>
          <a:bodyPr wrap="square" lIns="0" tIns="0" rIns="0" bIns="0" rtlCol="0" anchor="ctr"/>
          <a:lstStyle/>
          <a:p>
            <a:pPr algn="ctr" indent="0" marL="0">
              <a:buNone/>
            </a:pPr>
            <a:r>
              <a:rPr lang="en-US" sz="1600" b="1" spc="140" kern="0" dirty="0">
                <a:solidFill>
                  <a:srgbClr val="0B2C4A"/>
                </a:solidFill>
                <a:latin typeface="Inter" pitchFamily="34" charset="0"/>
                <a:ea typeface="Inter" pitchFamily="34" charset="-122"/>
                <a:cs typeface="Inter" pitchFamily="34" charset="-120"/>
              </a:rPr>
              <a:t>IF EVERY STORE REACHED ALL FOUR BENCHMARKS</a:t>
            </a:r>
            <a:endParaRPr lang="en-US" sz="1600" dirty="0"/>
          </a:p>
        </p:txBody>
      </p:sp>
      <p:sp>
        <p:nvSpPr>
          <p:cNvPr id="7" name="Text 5"/>
          <p:cNvSpPr txBox="1"/>
          <p:nvPr/>
        </p:nvSpPr>
        <p:spPr>
          <a:xfrm>
            <a:off x="731520" y="1874520"/>
            <a:ext cx="10725912" cy="1234440"/>
          </a:xfrm>
          <a:prstGeom prst="rect">
            <a:avLst/>
          </a:prstGeom>
          <a:noFill/>
          <a:ln/>
        </p:spPr>
        <p:txBody>
          <a:bodyPr wrap="square" lIns="0" tIns="0" rIns="0" bIns="0" rtlCol="0" anchor="ctr"/>
          <a:lstStyle/>
          <a:p>
            <a:pPr algn="ctr" indent="0" marL="0">
              <a:buNone/>
            </a:pPr>
            <a:r>
              <a:rPr lang="en-US" sz="8000" b="1" dirty="0">
                <a:solidFill>
                  <a:srgbClr val="0B7A4A"/>
                </a:solidFill>
                <a:latin typeface="Inter" pitchFamily="34" charset="0"/>
                <a:ea typeface="Inter" pitchFamily="34" charset="-122"/>
                <a:cs typeface="Inter" pitchFamily="34" charset="-120"/>
              </a:rPr>
              <a:t>$4,895,199</a:t>
            </a:r>
            <a:endParaRPr lang="en-US" sz="8000" dirty="0"/>
          </a:p>
        </p:txBody>
      </p:sp>
      <p:sp>
        <p:nvSpPr>
          <p:cNvPr id="8" name="Text 6"/>
          <p:cNvSpPr txBox="1"/>
          <p:nvPr/>
        </p:nvSpPr>
        <p:spPr>
          <a:xfrm>
            <a:off x="731520" y="3090672"/>
            <a:ext cx="10725912" cy="411480"/>
          </a:xfrm>
          <a:prstGeom prst="rect">
            <a:avLst/>
          </a:prstGeom>
          <a:noFill/>
          <a:ln/>
        </p:spPr>
        <p:txBody>
          <a:bodyPr wrap="square" lIns="0" tIns="0" rIns="0" bIns="0" rtlCol="0" anchor="ctr"/>
          <a:lstStyle/>
          <a:p>
            <a:pPr algn="ctr" indent="0" marL="0">
              <a:buNone/>
            </a:pPr>
            <a:r>
              <a:rPr lang="en-US" sz="2000" dirty="0">
                <a:solidFill>
                  <a:srgbClr val="595959"/>
                </a:solidFill>
                <a:latin typeface="Inter" pitchFamily="34" charset="0"/>
                <a:ea typeface="Inter" pitchFamily="34" charset="-122"/>
                <a:cs typeface="Inter" pitchFamily="34" charset="-120"/>
              </a:rPr>
              <a:t>a year in labor and parts gross · $407,933 a month</a:t>
            </a:r>
            <a:endParaRPr lang="en-US" sz="2000" dirty="0"/>
          </a:p>
        </p:txBody>
      </p:sp>
      <p:sp>
        <p:nvSpPr>
          <p:cNvPr id="9" name="Shape 7"/>
          <p:cNvSpPr/>
          <p:nvPr/>
        </p:nvSpPr>
        <p:spPr>
          <a:xfrm>
            <a:off x="736092" y="3794760"/>
            <a:ext cx="2542032" cy="1691640"/>
          </a:xfrm>
          <a:prstGeom prst="rect">
            <a:avLst/>
          </a:prstGeom>
          <a:solidFill>
            <a:srgbClr val="F7F7F7"/>
          </a:solidFill>
          <a:ln/>
        </p:spPr>
        <p:txBody>
          <a:bodyPr/>
          <a:p/>
        </p:txBody>
      </p:sp>
      <p:sp>
        <p:nvSpPr>
          <p:cNvPr id="10" name="Shape 8"/>
          <p:cNvSpPr/>
          <p:nvPr/>
        </p:nvSpPr>
        <p:spPr>
          <a:xfrm>
            <a:off x="736092" y="3794760"/>
            <a:ext cx="2542032" cy="64008"/>
          </a:xfrm>
          <a:prstGeom prst="rect">
            <a:avLst/>
          </a:prstGeom>
          <a:solidFill>
            <a:srgbClr val="12A566"/>
          </a:solidFill>
          <a:ln/>
        </p:spPr>
        <p:txBody>
          <a:bodyPr/>
          <a:p/>
        </p:txBody>
      </p:sp>
      <p:sp>
        <p:nvSpPr>
          <p:cNvPr id="11" name="Text 9"/>
          <p:cNvSpPr txBox="1"/>
          <p:nvPr/>
        </p:nvSpPr>
        <p:spPr>
          <a:xfrm>
            <a:off x="827532"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ALIGNMENT · 15%</a:t>
            </a:r>
            <a:endParaRPr lang="en-US" sz="1400" dirty="0"/>
          </a:p>
        </p:txBody>
      </p:sp>
      <p:sp>
        <p:nvSpPr>
          <p:cNvPr id="12" name="Text 10"/>
          <p:cNvSpPr txBox="1"/>
          <p:nvPr/>
        </p:nvSpPr>
        <p:spPr>
          <a:xfrm>
            <a:off x="827532"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$1,029,276</a:t>
            </a:r>
            <a:endParaRPr lang="en-US" sz="2600" dirty="0"/>
          </a:p>
        </p:txBody>
      </p:sp>
      <p:sp>
        <p:nvSpPr>
          <p:cNvPr id="13" name="Text 11"/>
          <p:cNvSpPr txBox="1"/>
          <p:nvPr/>
        </p:nvSpPr>
        <p:spPr>
          <a:xfrm>
            <a:off x="827532"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9,935 more services a year</a:t>
            </a:r>
            <a:endParaRPr lang="en-US" sz="1400" dirty="0"/>
          </a:p>
        </p:txBody>
      </p:sp>
      <p:sp>
        <p:nvSpPr>
          <p:cNvPr id="14" name="Shape 12"/>
          <p:cNvSpPr/>
          <p:nvPr/>
        </p:nvSpPr>
        <p:spPr>
          <a:xfrm>
            <a:off x="3461004" y="3794760"/>
            <a:ext cx="2542032" cy="1691640"/>
          </a:xfrm>
          <a:prstGeom prst="rect">
            <a:avLst/>
          </a:prstGeom>
          <a:solidFill>
            <a:srgbClr val="F7F7F7"/>
          </a:solidFill>
          <a:ln/>
        </p:spPr>
        <p:txBody>
          <a:bodyPr/>
          <a:p/>
        </p:txBody>
      </p:sp>
      <p:sp>
        <p:nvSpPr>
          <p:cNvPr id="15" name="Shape 13"/>
          <p:cNvSpPr/>
          <p:nvPr/>
        </p:nvSpPr>
        <p:spPr>
          <a:xfrm>
            <a:off x="3461004" y="3794760"/>
            <a:ext cx="2542032" cy="64008"/>
          </a:xfrm>
          <a:prstGeom prst="rect">
            <a:avLst/>
          </a:prstGeom>
          <a:solidFill>
            <a:srgbClr val="12A566"/>
          </a:solidFill>
          <a:ln/>
        </p:spPr>
        <p:txBody>
          <a:bodyPr/>
          <a:p/>
        </p:txBody>
      </p:sp>
      <p:sp>
        <p:nvSpPr>
          <p:cNvPr id="16" name="Text 14"/>
          <p:cNvSpPr txBox="1"/>
          <p:nvPr/>
        </p:nvSpPr>
        <p:spPr>
          <a:xfrm>
            <a:off x="3552444"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TIRE BALANCE · 15%</a:t>
            </a:r>
            <a:endParaRPr lang="en-US" sz="1400" dirty="0"/>
          </a:p>
        </p:txBody>
      </p:sp>
      <p:sp>
        <p:nvSpPr>
          <p:cNvPr id="17" name="Text 15"/>
          <p:cNvSpPr txBox="1"/>
          <p:nvPr/>
        </p:nvSpPr>
        <p:spPr>
          <a:xfrm>
            <a:off x="3552444"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$1,664,385</a:t>
            </a:r>
            <a:endParaRPr lang="en-US" sz="2600" dirty="0"/>
          </a:p>
        </p:txBody>
      </p:sp>
      <p:sp>
        <p:nvSpPr>
          <p:cNvPr id="18" name="Text 16"/>
          <p:cNvSpPr txBox="1"/>
          <p:nvPr/>
        </p:nvSpPr>
        <p:spPr>
          <a:xfrm>
            <a:off x="3552444"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26,062 more services a year</a:t>
            </a:r>
            <a:endParaRPr lang="en-US" sz="1400" dirty="0"/>
          </a:p>
        </p:txBody>
      </p:sp>
      <p:sp>
        <p:nvSpPr>
          <p:cNvPr id="19" name="Shape 17"/>
          <p:cNvSpPr/>
          <p:nvPr/>
        </p:nvSpPr>
        <p:spPr>
          <a:xfrm>
            <a:off x="6185916" y="3794760"/>
            <a:ext cx="2542032" cy="1691640"/>
          </a:xfrm>
          <a:prstGeom prst="rect">
            <a:avLst/>
          </a:prstGeom>
          <a:solidFill>
            <a:srgbClr val="F7F7F7"/>
          </a:solidFill>
          <a:ln/>
        </p:spPr>
        <p:txBody>
          <a:bodyPr/>
          <a:p/>
        </p:txBody>
      </p:sp>
      <p:sp>
        <p:nvSpPr>
          <p:cNvPr id="20" name="Shape 18"/>
          <p:cNvSpPr/>
          <p:nvPr/>
        </p:nvSpPr>
        <p:spPr>
          <a:xfrm>
            <a:off x="6185916" y="3794760"/>
            <a:ext cx="2542032" cy="64008"/>
          </a:xfrm>
          <a:prstGeom prst="rect">
            <a:avLst/>
          </a:prstGeom>
          <a:solidFill>
            <a:srgbClr val="12A566"/>
          </a:solidFill>
          <a:ln/>
        </p:spPr>
        <p:txBody>
          <a:bodyPr/>
          <a:p/>
        </p:txBody>
      </p:sp>
      <p:sp>
        <p:nvSpPr>
          <p:cNvPr id="21" name="Text 19"/>
          <p:cNvSpPr txBox="1"/>
          <p:nvPr/>
        </p:nvSpPr>
        <p:spPr>
          <a:xfrm>
            <a:off x="6277356"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BRAKE FLUID · 10%</a:t>
            </a:r>
            <a:endParaRPr lang="en-US" sz="1400" dirty="0"/>
          </a:p>
        </p:txBody>
      </p:sp>
      <p:sp>
        <p:nvSpPr>
          <p:cNvPr id="22" name="Text 20"/>
          <p:cNvSpPr txBox="1"/>
          <p:nvPr/>
        </p:nvSpPr>
        <p:spPr>
          <a:xfrm>
            <a:off x="6277356"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$844,657</a:t>
            </a:r>
            <a:endParaRPr lang="en-US" sz="2600" dirty="0"/>
          </a:p>
        </p:txBody>
      </p:sp>
      <p:sp>
        <p:nvSpPr>
          <p:cNvPr id="23" name="Text 21"/>
          <p:cNvSpPr txBox="1"/>
          <p:nvPr/>
        </p:nvSpPr>
        <p:spPr>
          <a:xfrm>
            <a:off x="6277356"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5,919 more services a year</a:t>
            </a:r>
            <a:endParaRPr lang="en-US" sz="1400" dirty="0"/>
          </a:p>
        </p:txBody>
      </p:sp>
      <p:sp>
        <p:nvSpPr>
          <p:cNvPr id="24" name="Shape 22"/>
          <p:cNvSpPr/>
          <p:nvPr/>
        </p:nvSpPr>
        <p:spPr>
          <a:xfrm>
            <a:off x="8910828" y="3794760"/>
            <a:ext cx="2542032" cy="1691640"/>
          </a:xfrm>
          <a:prstGeom prst="rect">
            <a:avLst/>
          </a:prstGeom>
          <a:solidFill>
            <a:srgbClr val="F7F7F7"/>
          </a:solidFill>
          <a:ln/>
        </p:spPr>
        <p:txBody>
          <a:bodyPr/>
          <a:p/>
        </p:txBody>
      </p:sp>
      <p:sp>
        <p:nvSpPr>
          <p:cNvPr id="25" name="Shape 23"/>
          <p:cNvSpPr/>
          <p:nvPr/>
        </p:nvSpPr>
        <p:spPr>
          <a:xfrm>
            <a:off x="8910828" y="3794760"/>
            <a:ext cx="2542032" cy="64008"/>
          </a:xfrm>
          <a:prstGeom prst="rect">
            <a:avLst/>
          </a:prstGeom>
          <a:solidFill>
            <a:srgbClr val="12A566"/>
          </a:solidFill>
          <a:ln/>
        </p:spPr>
        <p:txBody>
          <a:bodyPr/>
          <a:p/>
        </p:txBody>
      </p:sp>
      <p:sp>
        <p:nvSpPr>
          <p:cNvPr id="26" name="Text 24"/>
          <p:cNvSpPr txBox="1"/>
          <p:nvPr/>
        </p:nvSpPr>
        <p:spPr>
          <a:xfrm>
            <a:off x="9002268" y="3950208"/>
            <a:ext cx="2359152" cy="329184"/>
          </a:xfrm>
          <a:prstGeom prst="rect">
            <a:avLst/>
          </a:prstGeom>
          <a:noFill/>
          <a:ln/>
        </p:spPr>
        <p:txBody>
          <a:bodyPr wrap="square" lIns="0" tIns="0" rIns="0" bIns="0" rtlCol="0" anchor="ctr"/>
          <a:lstStyle/>
          <a:p>
            <a:pPr algn="ctr" indent="0" marL="0">
              <a:buNone/>
            </a:pPr>
            <a:r>
              <a:rPr lang="en-US" sz="1400" b="1" spc="60" kern="0" dirty="0">
                <a:solidFill>
                  <a:srgbClr val="595959"/>
                </a:solidFill>
                <a:latin typeface="Inter" pitchFamily="34" charset="0"/>
                <a:ea typeface="Inter" pitchFamily="34" charset="-122"/>
                <a:cs typeface="Inter" pitchFamily="34" charset="-120"/>
              </a:rPr>
              <a:t>FUEL SERVICE · 7.5%</a:t>
            </a:r>
            <a:endParaRPr lang="en-US" sz="1400" dirty="0"/>
          </a:p>
        </p:txBody>
      </p:sp>
      <p:sp>
        <p:nvSpPr>
          <p:cNvPr id="27" name="Text 25"/>
          <p:cNvSpPr txBox="1"/>
          <p:nvPr/>
        </p:nvSpPr>
        <p:spPr>
          <a:xfrm>
            <a:off x="9002268" y="4315968"/>
            <a:ext cx="2359152" cy="548640"/>
          </a:xfrm>
          <a:prstGeom prst="rect">
            <a:avLst/>
          </a:prstGeom>
          <a:noFill/>
          <a:ln/>
        </p:spPr>
        <p:txBody>
          <a:bodyPr wrap="square" lIns="0" tIns="0" rIns="0" bIns="0" rtlCol="0" anchor="ctr"/>
          <a:lstStyle/>
          <a:p>
            <a:pPr algn="ctr" indent="0" marL="0">
              <a:buNone/>
            </a:pPr>
            <a:r>
              <a:rPr lang="en-US" sz="2600" b="1" dirty="0">
                <a:solidFill>
                  <a:srgbClr val="0B2C4A"/>
                </a:solidFill>
                <a:latin typeface="Inter" pitchFamily="34" charset="0"/>
                <a:ea typeface="Inter" pitchFamily="34" charset="-122"/>
                <a:cs typeface="Inter" pitchFamily="34" charset="-120"/>
              </a:rPr>
              <a:t>$1,356,881</a:t>
            </a:r>
            <a:endParaRPr lang="en-US" sz="2600" dirty="0"/>
          </a:p>
        </p:txBody>
      </p:sp>
      <p:sp>
        <p:nvSpPr>
          <p:cNvPr id="28" name="Text 26"/>
          <p:cNvSpPr txBox="1"/>
          <p:nvPr/>
        </p:nvSpPr>
        <p:spPr>
          <a:xfrm>
            <a:off x="9002268" y="4892040"/>
            <a:ext cx="2359152" cy="365760"/>
          </a:xfrm>
          <a:prstGeom prst="rect">
            <a:avLst/>
          </a:prstGeom>
          <a:noFill/>
          <a:ln/>
        </p:spPr>
        <p:txBody>
          <a:bodyPr wrap="square" lIns="0" tIns="0" rIns="0" bIns="0" rtlCol="0" anchor="ctr"/>
          <a:lstStyle/>
          <a:p>
            <a:pPr algn="ctr" indent="0" marL="0">
              <a:buNone/>
            </a:pPr>
            <a:r>
              <a:rPr lang="en-US" sz="1400" dirty="0">
                <a:solidFill>
                  <a:srgbClr val="1A1A1A"/>
                </a:solidFill>
                <a:latin typeface="Inter" pitchFamily="34" charset="0"/>
                <a:ea typeface="Inter" pitchFamily="34" charset="-122"/>
                <a:cs typeface="Inter" pitchFamily="34" charset="-120"/>
              </a:rPr>
              <a:t>8,527 more services a year</a:t>
            </a:r>
            <a:endParaRPr lang="en-US" sz="1400" dirty="0"/>
          </a:p>
        </p:txBody>
      </p:sp>
      <p:sp>
        <p:nvSpPr>
          <p:cNvPr id="29" name="Shape 27"/>
          <p:cNvSpPr/>
          <p:nvPr/>
        </p:nvSpPr>
        <p:spPr>
          <a:xfrm>
            <a:off x="457200" y="6126480"/>
            <a:ext cx="11274552" cy="371856"/>
          </a:xfrm>
          <a:prstGeom prst="rect">
            <a:avLst/>
          </a:prstGeom>
          <a:solidFill>
            <a:srgbClr val="E6F6EE"/>
          </a:solidFill>
          <a:ln/>
        </p:spPr>
        <p:txBody>
          <a:bodyPr/>
          <a:p/>
        </p:txBody>
      </p:sp>
      <p:sp>
        <p:nvSpPr>
          <p:cNvPr id="30" name="Text 2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50,442 more services a year on cars already in our drives. No new customers needed.</a:t>
            </a:r>
            <a:endParaRPr lang="en-US" sz="1600" dirty="0"/>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Before You Leave</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THE MONEY IS</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What did you learn today?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Give us one or two things you are going to act on and implement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Pick the one number you will check every day, and name who owns it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Call a store that leads where you trail: ask what they do differently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Reach this room in FMGSVCMGR</a:t>
            </a:r>
            <a:endParaRPr lang="en-US" sz="1800" dirty="0"/>
          </a:p>
        </p:txBody>
      </p:sp>
      <p:sp>
        <p:nvSpPr>
          <p:cNvPr id="10" name="Shape 8"/>
          <p:cNvSpPr/>
          <p:nvPr/>
        </p:nvSpPr>
        <p:spPr>
          <a:xfrm>
            <a:off x="7269480" y="1920240"/>
            <a:ext cx="54864" cy="1112520"/>
          </a:xfrm>
          <a:prstGeom prst="rect">
            <a:avLst/>
          </a:prstGeom>
          <a:solidFill>
            <a:srgbClr val="12A566"/>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0.1 hr per RO</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Worth $4,543,691 of labor at today's ELR.</a:t>
            </a:r>
            <a:endParaRPr lang="en-US" sz="1400" dirty="0"/>
          </a:p>
        </p:txBody>
      </p:sp>
      <p:sp>
        <p:nvSpPr>
          <p:cNvPr id="13" name="Shape 11"/>
          <p:cNvSpPr/>
          <p:nvPr/>
        </p:nvSpPr>
        <p:spPr>
          <a:xfrm>
            <a:off x="7269480" y="3261360"/>
            <a:ext cx="54864" cy="1112520"/>
          </a:xfrm>
          <a:prstGeom prst="rect">
            <a:avLst/>
          </a:prstGeom>
          <a:solidFill>
            <a:srgbClr val="C2352F"/>
          </a:solidFill>
          <a:ln/>
        </p:spPr>
        <p:txBody>
          <a:bodyPr/>
          <a:p/>
        </p:txBody>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18,493 balances</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The largest benchmark gap, at 8.3% against 15%.</a:t>
            </a:r>
            <a:endParaRPr lang="en-US" sz="1400" dirty="0"/>
          </a:p>
        </p:txBody>
      </p:sp>
      <p:sp>
        <p:nvSpPr>
          <p:cNvPr id="16" name="Shape 14"/>
          <p:cNvSpPr/>
          <p:nvPr/>
        </p:nvSpPr>
        <p:spPr>
          <a:xfrm>
            <a:off x="7269480" y="4602480"/>
            <a:ext cx="54864" cy="1112520"/>
          </a:xfrm>
          <a:prstGeom prst="rect">
            <a:avLst/>
          </a:prstGeom>
          <a:solidFill>
            <a:srgbClr val="C2352F"/>
          </a:solidFill>
          <a:ln/>
        </p:spPr>
        <p:txBody>
          <a:bodyPr/>
          <a:p/>
        </p:txBody>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$1.65M a month</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lifting each tech under 85% to 85%.</a:t>
            </a:r>
            <a:endParaRPr lang="en-US" sz="1400" dirty="0"/>
          </a:p>
        </p:txBody>
      </p:sp>
      <p:sp>
        <p:nvSpPr>
          <p:cNvPr id="19" name="Shape 17"/>
          <p:cNvSpPr/>
          <p:nvPr/>
        </p:nvSpPr>
        <p:spPr>
          <a:xfrm>
            <a:off x="457200" y="6126480"/>
            <a:ext cx="11274552" cy="364236"/>
          </a:xfrm>
          <a:prstGeom prst="rect">
            <a:avLst/>
          </a:prstGeom>
          <a:solidFill>
            <a:srgbClr val="E6F6EE"/>
          </a:solidFill>
          <a:ln/>
        </p:spPr>
        <p:txBody>
          <a:bodyPr/>
          <a:p/>
        </p:txBody>
      </p:sp>
      <p:sp>
        <p:nvSpPr>
          <p:cNvPr id="20" name="Text 18"/>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The ask: name your one or two commitments out loud, with a number attached, before you leave the room.</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