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Lincoln makes three of six lists; three stores make two.Source: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 Period: Jan–Sep 2026 vs Jan–Sep 2025. Stores with under 50 CP ROs in the base period not ranked (none were excluded).
Review note: percent change rewards a store coming off a weak base. The before → after values are on the card so the room sees the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Lincoln and Kia St George each make three of six lists.Source: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 Period: Jul–Sep 2026 vs Jul–Sep 2025. Stores with under 50 CP ROs in the base period not ranked (none were excluded).
Review note: percent change rewards a store coming off a weak base. The before → after values are on the card so the room sees the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Lincoln has 6 top-3 finishes of 12. 8 stores make a top-3 list in both periods.Source: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 Top-3 finishes counted across six measures in each of two periods (Jan-Sep and Jul-Sep), 12 lists in all. Top 8 stores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Lincoln leads both periods. Three stores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Kia LV leads Jan–Sep; LR Reno leads the last 90 days. Three stores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Hyundai St George leads both periods. Hyundai St George and Kia St George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Honda Spokane leads Jan–Sep; Lincoln leads the last 90 days. Five stores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Lincoln leads both periods. Three stores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Acura leads both periods. Acura and Subaru Prescott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Stores · January–September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three stores on each measure, vs Jan–Sep 2025</a:t>
            </a:r>
            <a:endParaRPr lang="en-US" sz="1400" dirty="0"/>
          </a:p>
        </p:txBody>
      </p:sp>
      <p:sp>
        <p:nvSpPr>
          <p:cNvPr id="7" name="Shape 5"/>
          <p:cNvSpPr/>
          <p:nvPr/>
        </p:nvSpPr>
        <p:spPr>
          <a:xfrm>
            <a:off x="713232" y="1682496"/>
            <a:ext cx="3453384" cy="1938528"/>
          </a:xfrm>
          <a:prstGeom prst="rect">
            <a:avLst/>
          </a:prstGeom>
          <a:solidFill>
            <a:srgbClr val="F7F7F7"/>
          </a:solidFill>
          <a:ln/>
        </p:spPr>
      </p:sp>
      <p:sp>
        <p:nvSpPr>
          <p:cNvPr id="8" name="Shape 6"/>
          <p:cNvSpPr/>
          <p:nvPr/>
        </p:nvSpPr>
        <p:spPr>
          <a:xfrm>
            <a:off x="713232" y="1682496"/>
            <a:ext cx="3453384" cy="54864"/>
          </a:xfrm>
          <a:prstGeom prst="rect">
            <a:avLst/>
          </a:prstGeom>
          <a:solidFill>
            <a:srgbClr val="12A566"/>
          </a:solidFill>
          <a:ln/>
        </p:spPr>
      </p:sp>
      <p:sp>
        <p:nvSpPr>
          <p:cNvPr id="9" name="Text 7"/>
          <p:cNvSpPr txBox="1"/>
          <p:nvPr/>
        </p:nvSpPr>
        <p:spPr>
          <a:xfrm>
            <a:off x="859536"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GROSS</a:t>
            </a:r>
            <a:endParaRPr lang="en-US" sz="1400" dirty="0"/>
          </a:p>
        </p:txBody>
      </p:sp>
      <p:sp>
        <p:nvSpPr>
          <p:cNvPr id="10" name="Text 8"/>
          <p:cNvSpPr txBox="1"/>
          <p:nvPr/>
        </p:nvSpPr>
        <p:spPr>
          <a:xfrm>
            <a:off x="2795016"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+6.4%</a:t>
            </a:r>
            <a:endParaRPr lang="en-US" sz="1300" dirty="0"/>
          </a:p>
        </p:txBody>
      </p:sp>
      <p:sp>
        <p:nvSpPr>
          <p:cNvPr id="11" name="Text 9"/>
          <p:cNvSpPr txBox="1"/>
          <p:nvPr/>
        </p:nvSpPr>
        <p:spPr>
          <a:xfrm>
            <a:off x="859536"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12" name="Text 10"/>
          <p:cNvSpPr txBox="1"/>
          <p:nvPr/>
        </p:nvSpPr>
        <p:spPr>
          <a:xfrm>
            <a:off x="1115568"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3" name="Text 11"/>
          <p:cNvSpPr txBox="1"/>
          <p:nvPr/>
        </p:nvSpPr>
        <p:spPr>
          <a:xfrm>
            <a:off x="1115568"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$865K → $1.26M</a:t>
            </a:r>
            <a:endParaRPr lang="en-US" sz="1300" dirty="0"/>
          </a:p>
        </p:txBody>
      </p:sp>
      <p:sp>
        <p:nvSpPr>
          <p:cNvPr id="14" name="Text 12"/>
          <p:cNvSpPr txBox="1"/>
          <p:nvPr/>
        </p:nvSpPr>
        <p:spPr>
          <a:xfrm>
            <a:off x="2886456"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+46.0%</a:t>
            </a:r>
            <a:endParaRPr lang="en-US" sz="1800" dirty="0"/>
          </a:p>
        </p:txBody>
      </p:sp>
      <p:sp>
        <p:nvSpPr>
          <p:cNvPr id="15" name="Text 13"/>
          <p:cNvSpPr txBox="1"/>
          <p:nvPr/>
        </p:nvSpPr>
        <p:spPr>
          <a:xfrm>
            <a:off x="859536"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16" name="Text 14"/>
          <p:cNvSpPr txBox="1"/>
          <p:nvPr/>
        </p:nvSpPr>
        <p:spPr>
          <a:xfrm>
            <a:off x="1115568"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17" name="Text 15"/>
          <p:cNvSpPr txBox="1"/>
          <p:nvPr/>
        </p:nvSpPr>
        <p:spPr>
          <a:xfrm>
            <a:off x="1115568"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$832K → $1.21M</a:t>
            </a:r>
            <a:endParaRPr lang="en-US" sz="1300" dirty="0"/>
          </a:p>
        </p:txBody>
      </p:sp>
      <p:sp>
        <p:nvSpPr>
          <p:cNvPr id="18" name="Text 16"/>
          <p:cNvSpPr txBox="1"/>
          <p:nvPr/>
        </p:nvSpPr>
        <p:spPr>
          <a:xfrm>
            <a:off x="2886456"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+45.3%</a:t>
            </a:r>
            <a:endParaRPr lang="en-US" sz="1800" dirty="0"/>
          </a:p>
        </p:txBody>
      </p:sp>
      <p:sp>
        <p:nvSpPr>
          <p:cNvPr id="19" name="Text 17"/>
          <p:cNvSpPr txBox="1"/>
          <p:nvPr/>
        </p:nvSpPr>
        <p:spPr>
          <a:xfrm>
            <a:off x="859536"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20" name="Text 18"/>
          <p:cNvSpPr txBox="1"/>
          <p:nvPr/>
        </p:nvSpPr>
        <p:spPr>
          <a:xfrm>
            <a:off x="1115568"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21" name="Text 19"/>
          <p:cNvSpPr txBox="1"/>
          <p:nvPr/>
        </p:nvSpPr>
        <p:spPr>
          <a:xfrm>
            <a:off x="1115568"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$1.48M → $1.98M</a:t>
            </a:r>
            <a:endParaRPr lang="en-US" sz="1300" dirty="0"/>
          </a:p>
        </p:txBody>
      </p:sp>
      <p:sp>
        <p:nvSpPr>
          <p:cNvPr id="22" name="Text 20"/>
          <p:cNvSpPr txBox="1"/>
          <p:nvPr/>
        </p:nvSpPr>
        <p:spPr>
          <a:xfrm>
            <a:off x="2886456"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+33.8%</a:t>
            </a:r>
            <a:endParaRPr lang="en-US" sz="1800" dirty="0"/>
          </a:p>
        </p:txBody>
      </p:sp>
      <p:sp>
        <p:nvSpPr>
          <p:cNvPr id="23" name="Shape 21"/>
          <p:cNvSpPr/>
          <p:nvPr/>
        </p:nvSpPr>
        <p:spPr>
          <a:xfrm>
            <a:off x="4367784" y="1682496"/>
            <a:ext cx="3453384" cy="1938528"/>
          </a:xfrm>
          <a:prstGeom prst="rect">
            <a:avLst/>
          </a:prstGeom>
          <a:solidFill>
            <a:srgbClr val="F7F7F7"/>
          </a:solidFill>
          <a:ln/>
        </p:spPr>
      </p:sp>
      <p:sp>
        <p:nvSpPr>
          <p:cNvPr id="24" name="Shape 22"/>
          <p:cNvSpPr/>
          <p:nvPr/>
        </p:nvSpPr>
        <p:spPr>
          <a:xfrm>
            <a:off x="4367784" y="1682496"/>
            <a:ext cx="3453384" cy="54864"/>
          </a:xfrm>
          <a:prstGeom prst="rect">
            <a:avLst/>
          </a:prstGeom>
          <a:solidFill>
            <a:srgbClr val="12A566"/>
          </a:solidFill>
          <a:ln/>
        </p:spPr>
      </p:sp>
      <p:sp>
        <p:nvSpPr>
          <p:cNvPr id="25" name="Text 23"/>
          <p:cNvSpPr txBox="1"/>
          <p:nvPr/>
        </p:nvSpPr>
        <p:spPr>
          <a:xfrm>
            <a:off x="4514088"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RO COUNT</a:t>
            </a:r>
            <a:endParaRPr lang="en-US" sz="1400" dirty="0"/>
          </a:p>
        </p:txBody>
      </p:sp>
      <p:sp>
        <p:nvSpPr>
          <p:cNvPr id="26" name="Text 24"/>
          <p:cNvSpPr txBox="1"/>
          <p:nvPr/>
        </p:nvSpPr>
        <p:spPr>
          <a:xfrm>
            <a:off x="6449568"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+0.1%</a:t>
            </a:r>
            <a:endParaRPr lang="en-US" sz="1300" dirty="0"/>
          </a:p>
        </p:txBody>
      </p:sp>
      <p:sp>
        <p:nvSpPr>
          <p:cNvPr id="27" name="Text 25"/>
          <p:cNvSpPr txBox="1"/>
          <p:nvPr/>
        </p:nvSpPr>
        <p:spPr>
          <a:xfrm>
            <a:off x="4514088"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28" name="Text 26"/>
          <p:cNvSpPr txBox="1"/>
          <p:nvPr/>
        </p:nvSpPr>
        <p:spPr>
          <a:xfrm>
            <a:off x="4770120"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29" name="Text 27"/>
          <p:cNvSpPr txBox="1"/>
          <p:nvPr/>
        </p:nvSpPr>
        <p:spPr>
          <a:xfrm>
            <a:off x="4770120"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7,156 → 8,133</a:t>
            </a:r>
            <a:endParaRPr lang="en-US" sz="1300" dirty="0"/>
          </a:p>
        </p:txBody>
      </p:sp>
      <p:sp>
        <p:nvSpPr>
          <p:cNvPr id="30" name="Text 28"/>
          <p:cNvSpPr txBox="1"/>
          <p:nvPr/>
        </p:nvSpPr>
        <p:spPr>
          <a:xfrm>
            <a:off x="6541008"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+13.6%</a:t>
            </a:r>
            <a:endParaRPr lang="en-US" sz="1800" dirty="0"/>
          </a:p>
        </p:txBody>
      </p:sp>
      <p:sp>
        <p:nvSpPr>
          <p:cNvPr id="31" name="Text 29"/>
          <p:cNvSpPr txBox="1"/>
          <p:nvPr/>
        </p:nvSpPr>
        <p:spPr>
          <a:xfrm>
            <a:off x="4514088"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32" name="Text 30"/>
          <p:cNvSpPr txBox="1"/>
          <p:nvPr/>
        </p:nvSpPr>
        <p:spPr>
          <a:xfrm>
            <a:off x="4770120"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33" name="Text 31"/>
          <p:cNvSpPr txBox="1"/>
          <p:nvPr/>
        </p:nvSpPr>
        <p:spPr>
          <a:xfrm>
            <a:off x="4770120"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1,784 → 2,010</a:t>
            </a:r>
            <a:endParaRPr lang="en-US" sz="1300" dirty="0"/>
          </a:p>
        </p:txBody>
      </p:sp>
      <p:sp>
        <p:nvSpPr>
          <p:cNvPr id="34" name="Text 32"/>
          <p:cNvSpPr txBox="1"/>
          <p:nvPr/>
        </p:nvSpPr>
        <p:spPr>
          <a:xfrm>
            <a:off x="6541008"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+12.6%</a:t>
            </a:r>
            <a:endParaRPr lang="en-US" sz="1800" dirty="0"/>
          </a:p>
        </p:txBody>
      </p:sp>
      <p:sp>
        <p:nvSpPr>
          <p:cNvPr id="35" name="Text 33"/>
          <p:cNvSpPr txBox="1"/>
          <p:nvPr/>
        </p:nvSpPr>
        <p:spPr>
          <a:xfrm>
            <a:off x="4514088"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36" name="Text 34"/>
          <p:cNvSpPr txBox="1"/>
          <p:nvPr/>
        </p:nvSpPr>
        <p:spPr>
          <a:xfrm>
            <a:off x="4770120"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37" name="Text 35"/>
          <p:cNvSpPr txBox="1"/>
          <p:nvPr/>
        </p:nvSpPr>
        <p:spPr>
          <a:xfrm>
            <a:off x="4770120"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2,810 → 3,107</a:t>
            </a:r>
            <a:endParaRPr lang="en-US" sz="1300" dirty="0"/>
          </a:p>
        </p:txBody>
      </p:sp>
      <p:sp>
        <p:nvSpPr>
          <p:cNvPr id="38" name="Text 36"/>
          <p:cNvSpPr txBox="1"/>
          <p:nvPr/>
        </p:nvSpPr>
        <p:spPr>
          <a:xfrm>
            <a:off x="6541008"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+10.5%</a:t>
            </a:r>
            <a:endParaRPr lang="en-US" sz="1800" dirty="0"/>
          </a:p>
        </p:txBody>
      </p:sp>
      <p:sp>
        <p:nvSpPr>
          <p:cNvPr id="39" name="Shape 37"/>
          <p:cNvSpPr/>
          <p:nvPr/>
        </p:nvSpPr>
        <p:spPr>
          <a:xfrm>
            <a:off x="8022336" y="1682496"/>
            <a:ext cx="3453384" cy="1938528"/>
          </a:xfrm>
          <a:prstGeom prst="rect">
            <a:avLst/>
          </a:prstGeom>
          <a:solidFill>
            <a:srgbClr val="F7F7F7"/>
          </a:solidFill>
          <a:ln/>
        </p:spPr>
      </p:sp>
      <p:sp>
        <p:nvSpPr>
          <p:cNvPr id="40" name="Shape 38"/>
          <p:cNvSpPr/>
          <p:nvPr/>
        </p:nvSpPr>
        <p:spPr>
          <a:xfrm>
            <a:off x="8022336" y="1682496"/>
            <a:ext cx="3453384" cy="54864"/>
          </a:xfrm>
          <a:prstGeom prst="rect">
            <a:avLst/>
          </a:prstGeom>
          <a:solidFill>
            <a:srgbClr val="12A566"/>
          </a:solidFill>
          <a:ln/>
        </p:spPr>
      </p:sp>
      <p:sp>
        <p:nvSpPr>
          <p:cNvPr id="41" name="Text 39"/>
          <p:cNvSpPr txBox="1"/>
          <p:nvPr/>
        </p:nvSpPr>
        <p:spPr>
          <a:xfrm>
            <a:off x="8168640"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HOURS PER RO</a:t>
            </a:r>
            <a:endParaRPr lang="en-US" sz="1400" dirty="0"/>
          </a:p>
        </p:txBody>
      </p:sp>
      <p:sp>
        <p:nvSpPr>
          <p:cNvPr id="42" name="Text 40"/>
          <p:cNvSpPr txBox="1"/>
          <p:nvPr/>
        </p:nvSpPr>
        <p:spPr>
          <a:xfrm>
            <a:off x="10104120"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+3.6%</a:t>
            </a:r>
            <a:endParaRPr lang="en-US" sz="1300" dirty="0"/>
          </a:p>
        </p:txBody>
      </p:sp>
      <p:sp>
        <p:nvSpPr>
          <p:cNvPr id="43" name="Text 41"/>
          <p:cNvSpPr txBox="1"/>
          <p:nvPr/>
        </p:nvSpPr>
        <p:spPr>
          <a:xfrm>
            <a:off x="8168640"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44" name="Text 42"/>
          <p:cNvSpPr txBox="1"/>
          <p:nvPr/>
        </p:nvSpPr>
        <p:spPr>
          <a:xfrm>
            <a:off x="8424672"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45" name="Text 43"/>
          <p:cNvSpPr txBox="1"/>
          <p:nvPr/>
        </p:nvSpPr>
        <p:spPr>
          <a:xfrm>
            <a:off x="8424672"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1.03 → 1.43</a:t>
            </a:r>
            <a:endParaRPr lang="en-US" sz="1300" dirty="0"/>
          </a:p>
        </p:txBody>
      </p:sp>
      <p:sp>
        <p:nvSpPr>
          <p:cNvPr id="46" name="Text 44"/>
          <p:cNvSpPr txBox="1"/>
          <p:nvPr/>
        </p:nvSpPr>
        <p:spPr>
          <a:xfrm>
            <a:off x="10195560"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+39.1%</a:t>
            </a:r>
            <a:endParaRPr lang="en-US" sz="1800" dirty="0"/>
          </a:p>
        </p:txBody>
      </p:sp>
      <p:sp>
        <p:nvSpPr>
          <p:cNvPr id="47" name="Text 45"/>
          <p:cNvSpPr txBox="1"/>
          <p:nvPr/>
        </p:nvSpPr>
        <p:spPr>
          <a:xfrm>
            <a:off x="8168640"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48" name="Text 46"/>
          <p:cNvSpPr txBox="1"/>
          <p:nvPr/>
        </p:nvSpPr>
        <p:spPr>
          <a:xfrm>
            <a:off x="8424672"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49" name="Text 47"/>
          <p:cNvSpPr txBox="1"/>
          <p:nvPr/>
        </p:nvSpPr>
        <p:spPr>
          <a:xfrm>
            <a:off x="8424672"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1.75 → 2.30</a:t>
            </a:r>
            <a:endParaRPr lang="en-US" sz="1300" dirty="0"/>
          </a:p>
        </p:txBody>
      </p:sp>
      <p:sp>
        <p:nvSpPr>
          <p:cNvPr id="50" name="Text 48"/>
          <p:cNvSpPr txBox="1"/>
          <p:nvPr/>
        </p:nvSpPr>
        <p:spPr>
          <a:xfrm>
            <a:off x="10195560"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+31.3%</a:t>
            </a:r>
            <a:endParaRPr lang="en-US" sz="1800" dirty="0"/>
          </a:p>
        </p:txBody>
      </p:sp>
      <p:sp>
        <p:nvSpPr>
          <p:cNvPr id="51" name="Text 49"/>
          <p:cNvSpPr txBox="1"/>
          <p:nvPr/>
        </p:nvSpPr>
        <p:spPr>
          <a:xfrm>
            <a:off x="8168640"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52" name="Text 50"/>
          <p:cNvSpPr txBox="1"/>
          <p:nvPr/>
        </p:nvSpPr>
        <p:spPr>
          <a:xfrm>
            <a:off x="8424672"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53" name="Text 51"/>
          <p:cNvSpPr txBox="1"/>
          <p:nvPr/>
        </p:nvSpPr>
        <p:spPr>
          <a:xfrm>
            <a:off x="8424672"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0.99 → 1.29</a:t>
            </a:r>
            <a:endParaRPr lang="en-US" sz="1300" dirty="0"/>
          </a:p>
        </p:txBody>
      </p:sp>
      <p:sp>
        <p:nvSpPr>
          <p:cNvPr id="54" name="Text 52"/>
          <p:cNvSpPr txBox="1"/>
          <p:nvPr/>
        </p:nvSpPr>
        <p:spPr>
          <a:xfrm>
            <a:off x="10195560"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+30.7%</a:t>
            </a:r>
            <a:endParaRPr lang="en-US" sz="1800" dirty="0"/>
          </a:p>
        </p:txBody>
      </p:sp>
      <p:sp>
        <p:nvSpPr>
          <p:cNvPr id="55" name="Shape 53"/>
          <p:cNvSpPr/>
          <p:nvPr/>
        </p:nvSpPr>
        <p:spPr>
          <a:xfrm>
            <a:off x="713232" y="3749040"/>
            <a:ext cx="3453384" cy="1938528"/>
          </a:xfrm>
          <a:prstGeom prst="rect">
            <a:avLst/>
          </a:prstGeom>
          <a:solidFill>
            <a:srgbClr val="F7F7F7"/>
          </a:solidFill>
          <a:ln/>
        </p:spPr>
      </p:sp>
      <p:sp>
        <p:nvSpPr>
          <p:cNvPr id="56" name="Shape 54"/>
          <p:cNvSpPr/>
          <p:nvPr/>
        </p:nvSpPr>
        <p:spPr>
          <a:xfrm>
            <a:off x="713232" y="3749040"/>
            <a:ext cx="3453384" cy="54864"/>
          </a:xfrm>
          <a:prstGeom prst="rect">
            <a:avLst/>
          </a:prstGeom>
          <a:solidFill>
            <a:srgbClr val="12A566"/>
          </a:solidFill>
          <a:ln/>
        </p:spPr>
      </p:sp>
      <p:sp>
        <p:nvSpPr>
          <p:cNvPr id="57" name="Text 55"/>
          <p:cNvSpPr txBox="1"/>
          <p:nvPr/>
        </p:nvSpPr>
        <p:spPr>
          <a:xfrm>
            <a:off x="859536"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ELR</a:t>
            </a:r>
            <a:endParaRPr lang="en-US" sz="1400" dirty="0"/>
          </a:p>
        </p:txBody>
      </p:sp>
      <p:sp>
        <p:nvSpPr>
          <p:cNvPr id="58" name="Text 56"/>
          <p:cNvSpPr txBox="1"/>
          <p:nvPr/>
        </p:nvSpPr>
        <p:spPr>
          <a:xfrm>
            <a:off x="2795016"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+2.2%</a:t>
            </a:r>
            <a:endParaRPr lang="en-US" sz="1300" dirty="0"/>
          </a:p>
        </p:txBody>
      </p:sp>
      <p:sp>
        <p:nvSpPr>
          <p:cNvPr id="59" name="Text 57"/>
          <p:cNvSpPr txBox="1"/>
          <p:nvPr/>
        </p:nvSpPr>
        <p:spPr>
          <a:xfrm>
            <a:off x="859536"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60" name="Text 58"/>
          <p:cNvSpPr txBox="1"/>
          <p:nvPr/>
        </p:nvSpPr>
        <p:spPr>
          <a:xfrm>
            <a:off x="1115568"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61" name="Text 59"/>
          <p:cNvSpPr txBox="1"/>
          <p:nvPr/>
        </p:nvSpPr>
        <p:spPr>
          <a:xfrm>
            <a:off x="1115568"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$117.05 → $143.89</a:t>
            </a:r>
            <a:endParaRPr lang="en-US" sz="1300" dirty="0"/>
          </a:p>
        </p:txBody>
      </p:sp>
      <p:sp>
        <p:nvSpPr>
          <p:cNvPr id="62" name="Text 60"/>
          <p:cNvSpPr txBox="1"/>
          <p:nvPr/>
        </p:nvSpPr>
        <p:spPr>
          <a:xfrm>
            <a:off x="2886456"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+22.9%</a:t>
            </a:r>
            <a:endParaRPr lang="en-US" sz="1800" dirty="0"/>
          </a:p>
        </p:txBody>
      </p:sp>
      <p:sp>
        <p:nvSpPr>
          <p:cNvPr id="63" name="Text 61"/>
          <p:cNvSpPr txBox="1"/>
          <p:nvPr/>
        </p:nvSpPr>
        <p:spPr>
          <a:xfrm>
            <a:off x="859536"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64" name="Text 62"/>
          <p:cNvSpPr txBox="1"/>
          <p:nvPr/>
        </p:nvSpPr>
        <p:spPr>
          <a:xfrm>
            <a:off x="1115568"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VOLVO</a:t>
            </a:r>
            <a:endParaRPr lang="en-US" sz="1400" dirty="0"/>
          </a:p>
        </p:txBody>
      </p:sp>
      <p:sp>
        <p:nvSpPr>
          <p:cNvPr id="65" name="Text 63"/>
          <p:cNvSpPr txBox="1"/>
          <p:nvPr/>
        </p:nvSpPr>
        <p:spPr>
          <a:xfrm>
            <a:off x="1115568"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$181.59 → $222.12</a:t>
            </a:r>
            <a:endParaRPr lang="en-US" sz="1300" dirty="0"/>
          </a:p>
        </p:txBody>
      </p:sp>
      <p:sp>
        <p:nvSpPr>
          <p:cNvPr id="66" name="Text 64"/>
          <p:cNvSpPr txBox="1"/>
          <p:nvPr/>
        </p:nvSpPr>
        <p:spPr>
          <a:xfrm>
            <a:off x="2886456"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+22.3%</a:t>
            </a:r>
            <a:endParaRPr lang="en-US" sz="1800" dirty="0"/>
          </a:p>
        </p:txBody>
      </p:sp>
      <p:sp>
        <p:nvSpPr>
          <p:cNvPr id="67" name="Text 65"/>
          <p:cNvSpPr txBox="1"/>
          <p:nvPr/>
        </p:nvSpPr>
        <p:spPr>
          <a:xfrm>
            <a:off x="859536"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68" name="Text 66"/>
          <p:cNvSpPr txBox="1"/>
          <p:nvPr/>
        </p:nvSpPr>
        <p:spPr>
          <a:xfrm>
            <a:off x="1115568"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69" name="Text 67"/>
          <p:cNvSpPr txBox="1"/>
          <p:nvPr/>
        </p:nvSpPr>
        <p:spPr>
          <a:xfrm>
            <a:off x="1115568"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$139.55 → $167.64</a:t>
            </a:r>
            <a:endParaRPr lang="en-US" sz="1300" dirty="0"/>
          </a:p>
        </p:txBody>
      </p:sp>
      <p:sp>
        <p:nvSpPr>
          <p:cNvPr id="70" name="Text 68"/>
          <p:cNvSpPr txBox="1"/>
          <p:nvPr/>
        </p:nvSpPr>
        <p:spPr>
          <a:xfrm>
            <a:off x="2886456"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+20.1%</a:t>
            </a:r>
            <a:endParaRPr lang="en-US" sz="1800" dirty="0"/>
          </a:p>
        </p:txBody>
      </p:sp>
      <p:sp>
        <p:nvSpPr>
          <p:cNvPr id="71" name="Shape 69"/>
          <p:cNvSpPr/>
          <p:nvPr/>
        </p:nvSpPr>
        <p:spPr>
          <a:xfrm>
            <a:off x="4367784" y="3749040"/>
            <a:ext cx="3453384" cy="1938528"/>
          </a:xfrm>
          <a:prstGeom prst="rect">
            <a:avLst/>
          </a:prstGeom>
          <a:solidFill>
            <a:srgbClr val="F7F7F7"/>
          </a:solidFill>
          <a:ln/>
        </p:spPr>
      </p:sp>
      <p:sp>
        <p:nvSpPr>
          <p:cNvPr id="72" name="Shape 70"/>
          <p:cNvSpPr/>
          <p:nvPr/>
        </p:nvSpPr>
        <p:spPr>
          <a:xfrm>
            <a:off x="4367784" y="3749040"/>
            <a:ext cx="3453384" cy="54864"/>
          </a:xfrm>
          <a:prstGeom prst="rect">
            <a:avLst/>
          </a:prstGeom>
          <a:solidFill>
            <a:srgbClr val="12A566"/>
          </a:solidFill>
          <a:ln/>
        </p:spPr>
      </p:sp>
      <p:sp>
        <p:nvSpPr>
          <p:cNvPr id="73" name="Text 71"/>
          <p:cNvSpPr txBox="1"/>
          <p:nvPr/>
        </p:nvSpPr>
        <p:spPr>
          <a:xfrm>
            <a:off x="4514088"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PARTS $ PER RO</a:t>
            </a:r>
            <a:endParaRPr lang="en-US" sz="1400" dirty="0"/>
          </a:p>
        </p:txBody>
      </p:sp>
      <p:sp>
        <p:nvSpPr>
          <p:cNvPr id="74" name="Text 72"/>
          <p:cNvSpPr txBox="1"/>
          <p:nvPr/>
        </p:nvSpPr>
        <p:spPr>
          <a:xfrm>
            <a:off x="6449568"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+4.1%</a:t>
            </a:r>
            <a:endParaRPr lang="en-US" sz="1300" dirty="0"/>
          </a:p>
        </p:txBody>
      </p:sp>
      <p:sp>
        <p:nvSpPr>
          <p:cNvPr id="75" name="Text 73"/>
          <p:cNvSpPr txBox="1"/>
          <p:nvPr/>
        </p:nvSpPr>
        <p:spPr>
          <a:xfrm>
            <a:off x="4514088"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76" name="Text 74"/>
          <p:cNvSpPr txBox="1"/>
          <p:nvPr/>
        </p:nvSpPr>
        <p:spPr>
          <a:xfrm>
            <a:off x="4770120"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77" name="Text 75"/>
          <p:cNvSpPr txBox="1"/>
          <p:nvPr/>
        </p:nvSpPr>
        <p:spPr>
          <a:xfrm>
            <a:off x="4770120"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$281 → $363</a:t>
            </a:r>
            <a:endParaRPr lang="en-US" sz="1300" dirty="0"/>
          </a:p>
        </p:txBody>
      </p:sp>
      <p:sp>
        <p:nvSpPr>
          <p:cNvPr id="78" name="Text 76"/>
          <p:cNvSpPr txBox="1"/>
          <p:nvPr/>
        </p:nvSpPr>
        <p:spPr>
          <a:xfrm>
            <a:off x="6541008"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+28.9%</a:t>
            </a:r>
            <a:endParaRPr lang="en-US" sz="1800" dirty="0"/>
          </a:p>
        </p:txBody>
      </p:sp>
      <p:sp>
        <p:nvSpPr>
          <p:cNvPr id="79" name="Text 77"/>
          <p:cNvSpPr txBox="1"/>
          <p:nvPr/>
        </p:nvSpPr>
        <p:spPr>
          <a:xfrm>
            <a:off x="4514088"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80" name="Text 78"/>
          <p:cNvSpPr txBox="1"/>
          <p:nvPr/>
        </p:nvSpPr>
        <p:spPr>
          <a:xfrm>
            <a:off x="4770120"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81" name="Text 79"/>
          <p:cNvSpPr txBox="1"/>
          <p:nvPr/>
        </p:nvSpPr>
        <p:spPr>
          <a:xfrm>
            <a:off x="4770120"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$193 → $240</a:t>
            </a:r>
            <a:endParaRPr lang="en-US" sz="1300" dirty="0"/>
          </a:p>
        </p:txBody>
      </p:sp>
      <p:sp>
        <p:nvSpPr>
          <p:cNvPr id="82" name="Text 80"/>
          <p:cNvSpPr txBox="1"/>
          <p:nvPr/>
        </p:nvSpPr>
        <p:spPr>
          <a:xfrm>
            <a:off x="6541008"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+24.7%</a:t>
            </a:r>
            <a:endParaRPr lang="en-US" sz="1800" dirty="0"/>
          </a:p>
        </p:txBody>
      </p:sp>
      <p:sp>
        <p:nvSpPr>
          <p:cNvPr id="83" name="Text 81"/>
          <p:cNvSpPr txBox="1"/>
          <p:nvPr/>
        </p:nvSpPr>
        <p:spPr>
          <a:xfrm>
            <a:off x="4514088"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84" name="Text 82"/>
          <p:cNvSpPr txBox="1"/>
          <p:nvPr/>
        </p:nvSpPr>
        <p:spPr>
          <a:xfrm>
            <a:off x="4770120"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85" name="Text 83"/>
          <p:cNvSpPr txBox="1"/>
          <p:nvPr/>
        </p:nvSpPr>
        <p:spPr>
          <a:xfrm>
            <a:off x="4770120"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$181 → $219</a:t>
            </a:r>
            <a:endParaRPr lang="en-US" sz="1300" dirty="0"/>
          </a:p>
        </p:txBody>
      </p:sp>
      <p:sp>
        <p:nvSpPr>
          <p:cNvPr id="86" name="Text 84"/>
          <p:cNvSpPr txBox="1"/>
          <p:nvPr/>
        </p:nvSpPr>
        <p:spPr>
          <a:xfrm>
            <a:off x="6541008"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+21.0%</a:t>
            </a:r>
            <a:endParaRPr lang="en-US" sz="1800" dirty="0"/>
          </a:p>
        </p:txBody>
      </p:sp>
      <p:sp>
        <p:nvSpPr>
          <p:cNvPr id="87" name="Shape 85"/>
          <p:cNvSpPr/>
          <p:nvPr/>
        </p:nvSpPr>
        <p:spPr>
          <a:xfrm>
            <a:off x="8022336" y="3749040"/>
            <a:ext cx="3453384" cy="1938528"/>
          </a:xfrm>
          <a:prstGeom prst="rect">
            <a:avLst/>
          </a:prstGeom>
          <a:solidFill>
            <a:srgbClr val="F7F7F7"/>
          </a:solidFill>
          <a:ln/>
        </p:spPr>
      </p:sp>
      <p:sp>
        <p:nvSpPr>
          <p:cNvPr id="88" name="Shape 86"/>
          <p:cNvSpPr/>
          <p:nvPr/>
        </p:nvSpPr>
        <p:spPr>
          <a:xfrm>
            <a:off x="8022336" y="3749040"/>
            <a:ext cx="3453384" cy="54864"/>
          </a:xfrm>
          <a:prstGeom prst="rect">
            <a:avLst/>
          </a:prstGeom>
          <a:solidFill>
            <a:srgbClr val="12A566"/>
          </a:solidFill>
          <a:ln/>
        </p:spPr>
      </p:sp>
      <p:sp>
        <p:nvSpPr>
          <p:cNvPr id="89" name="Text 87"/>
          <p:cNvSpPr txBox="1"/>
          <p:nvPr/>
        </p:nvSpPr>
        <p:spPr>
          <a:xfrm>
            <a:off x="8168640"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PARTS GP %</a:t>
            </a:r>
            <a:endParaRPr lang="en-US" sz="1400" dirty="0"/>
          </a:p>
        </p:txBody>
      </p:sp>
      <p:sp>
        <p:nvSpPr>
          <p:cNvPr id="90" name="Text 88"/>
          <p:cNvSpPr txBox="1"/>
          <p:nvPr/>
        </p:nvSpPr>
        <p:spPr>
          <a:xfrm>
            <a:off x="10104120"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+1.2 pts</a:t>
            </a:r>
            <a:endParaRPr lang="en-US" sz="1300" dirty="0"/>
          </a:p>
        </p:txBody>
      </p:sp>
      <p:sp>
        <p:nvSpPr>
          <p:cNvPr id="91" name="Text 89"/>
          <p:cNvSpPr txBox="1"/>
          <p:nvPr/>
        </p:nvSpPr>
        <p:spPr>
          <a:xfrm>
            <a:off x="8168640"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92" name="Text 90"/>
          <p:cNvSpPr txBox="1"/>
          <p:nvPr/>
        </p:nvSpPr>
        <p:spPr>
          <a:xfrm>
            <a:off x="8424672"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93" name="Text 91"/>
          <p:cNvSpPr txBox="1"/>
          <p:nvPr/>
        </p:nvSpPr>
        <p:spPr>
          <a:xfrm>
            <a:off x="8424672"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38.7% → 44.9%</a:t>
            </a:r>
            <a:endParaRPr lang="en-US" sz="1300" dirty="0"/>
          </a:p>
        </p:txBody>
      </p:sp>
      <p:sp>
        <p:nvSpPr>
          <p:cNvPr id="94" name="Text 92"/>
          <p:cNvSpPr txBox="1"/>
          <p:nvPr/>
        </p:nvSpPr>
        <p:spPr>
          <a:xfrm>
            <a:off x="10195560"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+6.1 pts</a:t>
            </a:r>
            <a:endParaRPr lang="en-US" sz="1800" dirty="0"/>
          </a:p>
        </p:txBody>
      </p:sp>
      <p:sp>
        <p:nvSpPr>
          <p:cNvPr id="95" name="Text 93"/>
          <p:cNvSpPr txBox="1"/>
          <p:nvPr/>
        </p:nvSpPr>
        <p:spPr>
          <a:xfrm>
            <a:off x="8168640"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96" name="Text 94"/>
          <p:cNvSpPr txBox="1"/>
          <p:nvPr/>
        </p:nvSpPr>
        <p:spPr>
          <a:xfrm>
            <a:off x="8424672"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NISSAN</a:t>
            </a:r>
            <a:endParaRPr lang="en-US" sz="1400" dirty="0"/>
          </a:p>
        </p:txBody>
      </p:sp>
      <p:sp>
        <p:nvSpPr>
          <p:cNvPr id="97" name="Text 95"/>
          <p:cNvSpPr txBox="1"/>
          <p:nvPr/>
        </p:nvSpPr>
        <p:spPr>
          <a:xfrm>
            <a:off x="8424672"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38.2% → 42.7%</a:t>
            </a:r>
            <a:endParaRPr lang="en-US" sz="1300" dirty="0"/>
          </a:p>
        </p:txBody>
      </p:sp>
      <p:sp>
        <p:nvSpPr>
          <p:cNvPr id="98" name="Text 96"/>
          <p:cNvSpPr txBox="1"/>
          <p:nvPr/>
        </p:nvSpPr>
        <p:spPr>
          <a:xfrm>
            <a:off x="10195560"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+4.5 pts</a:t>
            </a:r>
            <a:endParaRPr lang="en-US" sz="1800" dirty="0"/>
          </a:p>
        </p:txBody>
      </p:sp>
      <p:sp>
        <p:nvSpPr>
          <p:cNvPr id="99" name="Text 97"/>
          <p:cNvSpPr txBox="1"/>
          <p:nvPr/>
        </p:nvSpPr>
        <p:spPr>
          <a:xfrm>
            <a:off x="8168640"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100" name="Text 98"/>
          <p:cNvSpPr txBox="1"/>
          <p:nvPr/>
        </p:nvSpPr>
        <p:spPr>
          <a:xfrm>
            <a:off x="8424672"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101" name="Text 99"/>
          <p:cNvSpPr txBox="1"/>
          <p:nvPr/>
        </p:nvSpPr>
        <p:spPr>
          <a:xfrm>
            <a:off x="8424672"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31.0% → 34.8%</a:t>
            </a:r>
            <a:endParaRPr lang="en-US" sz="1300" dirty="0"/>
          </a:p>
        </p:txBody>
      </p:sp>
      <p:sp>
        <p:nvSpPr>
          <p:cNvPr id="102" name="Text 100"/>
          <p:cNvSpPr txBox="1"/>
          <p:nvPr/>
        </p:nvSpPr>
        <p:spPr>
          <a:xfrm>
            <a:off x="10195560"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+3.8 pts</a:t>
            </a:r>
            <a:endParaRPr lang="en-US" sz="1800" dirty="0"/>
          </a:p>
        </p:txBody>
      </p:sp>
      <p:sp>
        <p:nvSpPr>
          <p:cNvPr id="104" name="Shape 101"/>
          <p:cNvSpPr/>
          <p:nvPr/>
        </p:nvSpPr>
        <p:spPr>
          <a:xfrm>
            <a:off x="457200" y="6126480"/>
            <a:ext cx="11274552" cy="371856"/>
          </a:xfrm>
          <a:prstGeom prst="rect">
            <a:avLst/>
          </a:prstGeom>
          <a:solidFill>
            <a:srgbClr val="E6F6EE"/>
          </a:solidFill>
          <a:ln/>
        </p:spPr>
      </p:sp>
      <p:sp>
        <p:nvSpPr>
          <p:cNvPr id="105" name="Text 10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Three stores make two.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Stores · Last 90 Days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three stores on each measure, Jul–Sep vs Jul–Sep 2025</a:t>
            </a:r>
            <a:endParaRPr lang="en-US" sz="1400" dirty="0"/>
          </a:p>
        </p:txBody>
      </p:sp>
      <p:sp>
        <p:nvSpPr>
          <p:cNvPr id="7" name="Shape 5"/>
          <p:cNvSpPr/>
          <p:nvPr/>
        </p:nvSpPr>
        <p:spPr>
          <a:xfrm>
            <a:off x="713232" y="1682496"/>
            <a:ext cx="3453384" cy="1938528"/>
          </a:xfrm>
          <a:prstGeom prst="rect">
            <a:avLst/>
          </a:prstGeom>
          <a:solidFill>
            <a:srgbClr val="F7F7F7"/>
          </a:solidFill>
          <a:ln/>
        </p:spPr>
      </p:sp>
      <p:sp>
        <p:nvSpPr>
          <p:cNvPr id="8" name="Shape 6"/>
          <p:cNvSpPr/>
          <p:nvPr/>
        </p:nvSpPr>
        <p:spPr>
          <a:xfrm>
            <a:off x="713232" y="1682496"/>
            <a:ext cx="3453384" cy="54864"/>
          </a:xfrm>
          <a:prstGeom prst="rect">
            <a:avLst/>
          </a:prstGeom>
          <a:solidFill>
            <a:srgbClr val="12A566"/>
          </a:solidFill>
          <a:ln/>
        </p:spPr>
      </p:sp>
      <p:sp>
        <p:nvSpPr>
          <p:cNvPr id="9" name="Text 7"/>
          <p:cNvSpPr txBox="1"/>
          <p:nvPr/>
        </p:nvSpPr>
        <p:spPr>
          <a:xfrm>
            <a:off x="859536"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GROSS</a:t>
            </a:r>
            <a:endParaRPr lang="en-US" sz="1400" dirty="0"/>
          </a:p>
        </p:txBody>
      </p:sp>
      <p:sp>
        <p:nvSpPr>
          <p:cNvPr id="10" name="Text 8"/>
          <p:cNvSpPr txBox="1"/>
          <p:nvPr/>
        </p:nvSpPr>
        <p:spPr>
          <a:xfrm>
            <a:off x="2795016"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+8.4%</a:t>
            </a:r>
            <a:endParaRPr lang="en-US" sz="1300" dirty="0"/>
          </a:p>
        </p:txBody>
      </p:sp>
      <p:sp>
        <p:nvSpPr>
          <p:cNvPr id="11" name="Text 9"/>
          <p:cNvSpPr txBox="1"/>
          <p:nvPr/>
        </p:nvSpPr>
        <p:spPr>
          <a:xfrm>
            <a:off x="859536"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12" name="Text 10"/>
          <p:cNvSpPr txBox="1"/>
          <p:nvPr/>
        </p:nvSpPr>
        <p:spPr>
          <a:xfrm>
            <a:off x="1115568"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3" name="Text 11"/>
          <p:cNvSpPr txBox="1"/>
          <p:nvPr/>
        </p:nvSpPr>
        <p:spPr>
          <a:xfrm>
            <a:off x="1115568"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$243K → $418K</a:t>
            </a:r>
            <a:endParaRPr lang="en-US" sz="1300" dirty="0"/>
          </a:p>
        </p:txBody>
      </p:sp>
      <p:sp>
        <p:nvSpPr>
          <p:cNvPr id="14" name="Text 12"/>
          <p:cNvSpPr txBox="1"/>
          <p:nvPr/>
        </p:nvSpPr>
        <p:spPr>
          <a:xfrm>
            <a:off x="2886456"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+72.1%</a:t>
            </a:r>
            <a:endParaRPr lang="en-US" sz="1800" dirty="0"/>
          </a:p>
        </p:txBody>
      </p:sp>
      <p:sp>
        <p:nvSpPr>
          <p:cNvPr id="15" name="Text 13"/>
          <p:cNvSpPr txBox="1"/>
          <p:nvPr/>
        </p:nvSpPr>
        <p:spPr>
          <a:xfrm>
            <a:off x="859536"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16" name="Text 14"/>
          <p:cNvSpPr txBox="1"/>
          <p:nvPr/>
        </p:nvSpPr>
        <p:spPr>
          <a:xfrm>
            <a:off x="1115568"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7" name="Text 15"/>
          <p:cNvSpPr txBox="1"/>
          <p:nvPr/>
        </p:nvSpPr>
        <p:spPr>
          <a:xfrm>
            <a:off x="1115568"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$237K → $336K</a:t>
            </a:r>
            <a:endParaRPr lang="en-US" sz="1300" dirty="0"/>
          </a:p>
        </p:txBody>
      </p:sp>
      <p:sp>
        <p:nvSpPr>
          <p:cNvPr id="18" name="Text 16"/>
          <p:cNvSpPr txBox="1"/>
          <p:nvPr/>
        </p:nvSpPr>
        <p:spPr>
          <a:xfrm>
            <a:off x="2886456"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+41.5%</a:t>
            </a:r>
            <a:endParaRPr lang="en-US" sz="1800" dirty="0"/>
          </a:p>
        </p:txBody>
      </p:sp>
      <p:sp>
        <p:nvSpPr>
          <p:cNvPr id="19" name="Text 17"/>
          <p:cNvSpPr txBox="1"/>
          <p:nvPr/>
        </p:nvSpPr>
        <p:spPr>
          <a:xfrm>
            <a:off x="859536"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20" name="Text 18"/>
          <p:cNvSpPr txBox="1"/>
          <p:nvPr/>
        </p:nvSpPr>
        <p:spPr>
          <a:xfrm>
            <a:off x="1115568"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21" name="Text 19"/>
          <p:cNvSpPr txBox="1"/>
          <p:nvPr/>
        </p:nvSpPr>
        <p:spPr>
          <a:xfrm>
            <a:off x="1115568"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$291K → $410K</a:t>
            </a:r>
            <a:endParaRPr lang="en-US" sz="1300" dirty="0"/>
          </a:p>
        </p:txBody>
      </p:sp>
      <p:sp>
        <p:nvSpPr>
          <p:cNvPr id="22" name="Text 20"/>
          <p:cNvSpPr txBox="1"/>
          <p:nvPr/>
        </p:nvSpPr>
        <p:spPr>
          <a:xfrm>
            <a:off x="2886456"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+41.0%</a:t>
            </a:r>
            <a:endParaRPr lang="en-US" sz="1800" dirty="0"/>
          </a:p>
        </p:txBody>
      </p:sp>
      <p:sp>
        <p:nvSpPr>
          <p:cNvPr id="23" name="Shape 21"/>
          <p:cNvSpPr/>
          <p:nvPr/>
        </p:nvSpPr>
        <p:spPr>
          <a:xfrm>
            <a:off x="4367784" y="1682496"/>
            <a:ext cx="3453384" cy="1938528"/>
          </a:xfrm>
          <a:prstGeom prst="rect">
            <a:avLst/>
          </a:prstGeom>
          <a:solidFill>
            <a:srgbClr val="F7F7F7"/>
          </a:solidFill>
          <a:ln/>
        </p:spPr>
      </p:sp>
      <p:sp>
        <p:nvSpPr>
          <p:cNvPr id="24" name="Shape 22"/>
          <p:cNvSpPr/>
          <p:nvPr/>
        </p:nvSpPr>
        <p:spPr>
          <a:xfrm>
            <a:off x="4367784" y="1682496"/>
            <a:ext cx="3453384" cy="54864"/>
          </a:xfrm>
          <a:prstGeom prst="rect">
            <a:avLst/>
          </a:prstGeom>
          <a:solidFill>
            <a:srgbClr val="12A566"/>
          </a:solidFill>
          <a:ln/>
        </p:spPr>
      </p:sp>
      <p:sp>
        <p:nvSpPr>
          <p:cNvPr id="25" name="Text 23"/>
          <p:cNvSpPr txBox="1"/>
          <p:nvPr/>
        </p:nvSpPr>
        <p:spPr>
          <a:xfrm>
            <a:off x="4514088"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RO COUNT</a:t>
            </a:r>
            <a:endParaRPr lang="en-US" sz="1400" dirty="0"/>
          </a:p>
        </p:txBody>
      </p:sp>
      <p:sp>
        <p:nvSpPr>
          <p:cNvPr id="26" name="Text 24"/>
          <p:cNvSpPr txBox="1"/>
          <p:nvPr/>
        </p:nvSpPr>
        <p:spPr>
          <a:xfrm>
            <a:off x="6449568"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+2.0%</a:t>
            </a:r>
            <a:endParaRPr lang="en-US" sz="1300" dirty="0"/>
          </a:p>
        </p:txBody>
      </p:sp>
      <p:sp>
        <p:nvSpPr>
          <p:cNvPr id="27" name="Text 25"/>
          <p:cNvSpPr txBox="1"/>
          <p:nvPr/>
        </p:nvSpPr>
        <p:spPr>
          <a:xfrm>
            <a:off x="4514088"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28" name="Text 26"/>
          <p:cNvSpPr txBox="1"/>
          <p:nvPr/>
        </p:nvSpPr>
        <p:spPr>
          <a:xfrm>
            <a:off x="4770120"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29" name="Text 27"/>
          <p:cNvSpPr txBox="1"/>
          <p:nvPr/>
        </p:nvSpPr>
        <p:spPr>
          <a:xfrm>
            <a:off x="4770120"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406 → 489</a:t>
            </a:r>
            <a:endParaRPr lang="en-US" sz="1300" dirty="0"/>
          </a:p>
        </p:txBody>
      </p:sp>
      <p:sp>
        <p:nvSpPr>
          <p:cNvPr id="30" name="Text 28"/>
          <p:cNvSpPr txBox="1"/>
          <p:nvPr/>
        </p:nvSpPr>
        <p:spPr>
          <a:xfrm>
            <a:off x="6541008"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+20.4%</a:t>
            </a:r>
            <a:endParaRPr lang="en-US" sz="1800" dirty="0"/>
          </a:p>
        </p:txBody>
      </p:sp>
      <p:sp>
        <p:nvSpPr>
          <p:cNvPr id="31" name="Text 29"/>
          <p:cNvSpPr txBox="1"/>
          <p:nvPr/>
        </p:nvSpPr>
        <p:spPr>
          <a:xfrm>
            <a:off x="4514088"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32" name="Text 30"/>
          <p:cNvSpPr txBox="1"/>
          <p:nvPr/>
        </p:nvSpPr>
        <p:spPr>
          <a:xfrm>
            <a:off x="4770120"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33" name="Text 31"/>
          <p:cNvSpPr txBox="1"/>
          <p:nvPr/>
        </p:nvSpPr>
        <p:spPr>
          <a:xfrm>
            <a:off x="4770120"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930 → 1,109</a:t>
            </a:r>
            <a:endParaRPr lang="en-US" sz="1300" dirty="0"/>
          </a:p>
        </p:txBody>
      </p:sp>
      <p:sp>
        <p:nvSpPr>
          <p:cNvPr id="34" name="Text 32"/>
          <p:cNvSpPr txBox="1"/>
          <p:nvPr/>
        </p:nvSpPr>
        <p:spPr>
          <a:xfrm>
            <a:off x="6541008"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+19.2%</a:t>
            </a:r>
            <a:endParaRPr lang="en-US" sz="1800" dirty="0"/>
          </a:p>
        </p:txBody>
      </p:sp>
      <p:sp>
        <p:nvSpPr>
          <p:cNvPr id="35" name="Text 33"/>
          <p:cNvSpPr txBox="1"/>
          <p:nvPr/>
        </p:nvSpPr>
        <p:spPr>
          <a:xfrm>
            <a:off x="4514088"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36" name="Text 34"/>
          <p:cNvSpPr txBox="1"/>
          <p:nvPr/>
        </p:nvSpPr>
        <p:spPr>
          <a:xfrm>
            <a:off x="4770120"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LV</a:t>
            </a:r>
            <a:endParaRPr lang="en-US" sz="1400" dirty="0"/>
          </a:p>
        </p:txBody>
      </p:sp>
      <p:sp>
        <p:nvSpPr>
          <p:cNvPr id="37" name="Text 35"/>
          <p:cNvSpPr txBox="1"/>
          <p:nvPr/>
        </p:nvSpPr>
        <p:spPr>
          <a:xfrm>
            <a:off x="4770120"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1,061 → 1,246</a:t>
            </a:r>
            <a:endParaRPr lang="en-US" sz="1300" dirty="0"/>
          </a:p>
        </p:txBody>
      </p:sp>
      <p:sp>
        <p:nvSpPr>
          <p:cNvPr id="38" name="Text 36"/>
          <p:cNvSpPr txBox="1"/>
          <p:nvPr/>
        </p:nvSpPr>
        <p:spPr>
          <a:xfrm>
            <a:off x="6541008"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+17.4%</a:t>
            </a:r>
            <a:endParaRPr lang="en-US" sz="1800" dirty="0"/>
          </a:p>
        </p:txBody>
      </p:sp>
      <p:sp>
        <p:nvSpPr>
          <p:cNvPr id="39" name="Shape 37"/>
          <p:cNvSpPr/>
          <p:nvPr/>
        </p:nvSpPr>
        <p:spPr>
          <a:xfrm>
            <a:off x="8022336" y="1682496"/>
            <a:ext cx="3453384" cy="1938528"/>
          </a:xfrm>
          <a:prstGeom prst="rect">
            <a:avLst/>
          </a:prstGeom>
          <a:solidFill>
            <a:srgbClr val="F7F7F7"/>
          </a:solidFill>
          <a:ln/>
        </p:spPr>
      </p:sp>
      <p:sp>
        <p:nvSpPr>
          <p:cNvPr id="40" name="Shape 38"/>
          <p:cNvSpPr/>
          <p:nvPr/>
        </p:nvSpPr>
        <p:spPr>
          <a:xfrm>
            <a:off x="8022336" y="1682496"/>
            <a:ext cx="3453384" cy="54864"/>
          </a:xfrm>
          <a:prstGeom prst="rect">
            <a:avLst/>
          </a:prstGeom>
          <a:solidFill>
            <a:srgbClr val="12A566"/>
          </a:solidFill>
          <a:ln/>
        </p:spPr>
      </p:sp>
      <p:sp>
        <p:nvSpPr>
          <p:cNvPr id="41" name="Text 39"/>
          <p:cNvSpPr txBox="1"/>
          <p:nvPr/>
        </p:nvSpPr>
        <p:spPr>
          <a:xfrm>
            <a:off x="8168640"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HOURS PER RO</a:t>
            </a:r>
            <a:endParaRPr lang="en-US" sz="1400" dirty="0"/>
          </a:p>
        </p:txBody>
      </p:sp>
      <p:sp>
        <p:nvSpPr>
          <p:cNvPr id="42" name="Text 40"/>
          <p:cNvSpPr txBox="1"/>
          <p:nvPr/>
        </p:nvSpPr>
        <p:spPr>
          <a:xfrm>
            <a:off x="10104120"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+3.1%</a:t>
            </a:r>
            <a:endParaRPr lang="en-US" sz="1300" dirty="0"/>
          </a:p>
        </p:txBody>
      </p:sp>
      <p:sp>
        <p:nvSpPr>
          <p:cNvPr id="43" name="Text 41"/>
          <p:cNvSpPr txBox="1"/>
          <p:nvPr/>
        </p:nvSpPr>
        <p:spPr>
          <a:xfrm>
            <a:off x="8168640"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44" name="Text 42"/>
          <p:cNvSpPr txBox="1"/>
          <p:nvPr/>
        </p:nvSpPr>
        <p:spPr>
          <a:xfrm>
            <a:off x="8424672"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45" name="Text 43"/>
          <p:cNvSpPr txBox="1"/>
          <p:nvPr/>
        </p:nvSpPr>
        <p:spPr>
          <a:xfrm>
            <a:off x="8424672"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1.07 → 1.54</a:t>
            </a:r>
            <a:endParaRPr lang="en-US" sz="1300" dirty="0"/>
          </a:p>
        </p:txBody>
      </p:sp>
      <p:sp>
        <p:nvSpPr>
          <p:cNvPr id="46" name="Text 44"/>
          <p:cNvSpPr txBox="1"/>
          <p:nvPr/>
        </p:nvSpPr>
        <p:spPr>
          <a:xfrm>
            <a:off x="10195560"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+44.7%</a:t>
            </a:r>
            <a:endParaRPr lang="en-US" sz="1800" dirty="0"/>
          </a:p>
        </p:txBody>
      </p:sp>
      <p:sp>
        <p:nvSpPr>
          <p:cNvPr id="47" name="Text 45"/>
          <p:cNvSpPr txBox="1"/>
          <p:nvPr/>
        </p:nvSpPr>
        <p:spPr>
          <a:xfrm>
            <a:off x="8168640"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48" name="Text 46"/>
          <p:cNvSpPr txBox="1"/>
          <p:nvPr/>
        </p:nvSpPr>
        <p:spPr>
          <a:xfrm>
            <a:off x="8424672"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49" name="Text 47"/>
          <p:cNvSpPr txBox="1"/>
          <p:nvPr/>
        </p:nvSpPr>
        <p:spPr>
          <a:xfrm>
            <a:off x="8424672"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0.98 → 1.38</a:t>
            </a:r>
            <a:endParaRPr lang="en-US" sz="1300" dirty="0"/>
          </a:p>
        </p:txBody>
      </p:sp>
      <p:sp>
        <p:nvSpPr>
          <p:cNvPr id="50" name="Text 48"/>
          <p:cNvSpPr txBox="1"/>
          <p:nvPr/>
        </p:nvSpPr>
        <p:spPr>
          <a:xfrm>
            <a:off x="10195560"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+41.1%</a:t>
            </a:r>
            <a:endParaRPr lang="en-US" sz="1800" dirty="0"/>
          </a:p>
        </p:txBody>
      </p:sp>
      <p:sp>
        <p:nvSpPr>
          <p:cNvPr id="51" name="Text 49"/>
          <p:cNvSpPr txBox="1"/>
          <p:nvPr/>
        </p:nvSpPr>
        <p:spPr>
          <a:xfrm>
            <a:off x="8168640"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52" name="Text 50"/>
          <p:cNvSpPr txBox="1"/>
          <p:nvPr/>
        </p:nvSpPr>
        <p:spPr>
          <a:xfrm>
            <a:off x="8424672"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53" name="Text 51"/>
          <p:cNvSpPr txBox="1"/>
          <p:nvPr/>
        </p:nvSpPr>
        <p:spPr>
          <a:xfrm>
            <a:off x="8424672"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1.29 → 1.65</a:t>
            </a:r>
            <a:endParaRPr lang="en-US" sz="1300" dirty="0"/>
          </a:p>
        </p:txBody>
      </p:sp>
      <p:sp>
        <p:nvSpPr>
          <p:cNvPr id="54" name="Text 52"/>
          <p:cNvSpPr txBox="1"/>
          <p:nvPr/>
        </p:nvSpPr>
        <p:spPr>
          <a:xfrm>
            <a:off x="10195560"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+27.5%</a:t>
            </a:r>
            <a:endParaRPr lang="en-US" sz="1800" dirty="0"/>
          </a:p>
        </p:txBody>
      </p:sp>
      <p:sp>
        <p:nvSpPr>
          <p:cNvPr id="55" name="Shape 53"/>
          <p:cNvSpPr/>
          <p:nvPr/>
        </p:nvSpPr>
        <p:spPr>
          <a:xfrm>
            <a:off x="713232" y="3749040"/>
            <a:ext cx="3453384" cy="1938528"/>
          </a:xfrm>
          <a:prstGeom prst="rect">
            <a:avLst/>
          </a:prstGeom>
          <a:solidFill>
            <a:srgbClr val="F7F7F7"/>
          </a:solidFill>
          <a:ln/>
        </p:spPr>
      </p:sp>
      <p:sp>
        <p:nvSpPr>
          <p:cNvPr id="56" name="Shape 54"/>
          <p:cNvSpPr/>
          <p:nvPr/>
        </p:nvSpPr>
        <p:spPr>
          <a:xfrm>
            <a:off x="713232" y="3749040"/>
            <a:ext cx="3453384" cy="54864"/>
          </a:xfrm>
          <a:prstGeom prst="rect">
            <a:avLst/>
          </a:prstGeom>
          <a:solidFill>
            <a:srgbClr val="12A566"/>
          </a:solidFill>
          <a:ln/>
        </p:spPr>
      </p:sp>
      <p:sp>
        <p:nvSpPr>
          <p:cNvPr id="57" name="Text 55"/>
          <p:cNvSpPr txBox="1"/>
          <p:nvPr/>
        </p:nvSpPr>
        <p:spPr>
          <a:xfrm>
            <a:off x="859536"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ELR</a:t>
            </a:r>
            <a:endParaRPr lang="en-US" sz="1400" dirty="0"/>
          </a:p>
        </p:txBody>
      </p:sp>
      <p:sp>
        <p:nvSpPr>
          <p:cNvPr id="58" name="Text 56"/>
          <p:cNvSpPr txBox="1"/>
          <p:nvPr/>
        </p:nvSpPr>
        <p:spPr>
          <a:xfrm>
            <a:off x="2795016"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+2.5%</a:t>
            </a:r>
            <a:endParaRPr lang="en-US" sz="1300" dirty="0"/>
          </a:p>
        </p:txBody>
      </p:sp>
      <p:sp>
        <p:nvSpPr>
          <p:cNvPr id="59" name="Text 57"/>
          <p:cNvSpPr txBox="1"/>
          <p:nvPr/>
        </p:nvSpPr>
        <p:spPr>
          <a:xfrm>
            <a:off x="859536"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60" name="Text 58"/>
          <p:cNvSpPr txBox="1"/>
          <p:nvPr/>
        </p:nvSpPr>
        <p:spPr>
          <a:xfrm>
            <a:off x="1115568"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61" name="Text 59"/>
          <p:cNvSpPr txBox="1"/>
          <p:nvPr/>
        </p:nvSpPr>
        <p:spPr>
          <a:xfrm>
            <a:off x="1115568"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$134.86 → $167.22</a:t>
            </a:r>
            <a:endParaRPr lang="en-US" sz="1300" dirty="0"/>
          </a:p>
        </p:txBody>
      </p:sp>
      <p:sp>
        <p:nvSpPr>
          <p:cNvPr id="62" name="Text 60"/>
          <p:cNvSpPr txBox="1"/>
          <p:nvPr/>
        </p:nvSpPr>
        <p:spPr>
          <a:xfrm>
            <a:off x="2886456"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+23.9%</a:t>
            </a:r>
            <a:endParaRPr lang="en-US" sz="1800" dirty="0"/>
          </a:p>
        </p:txBody>
      </p:sp>
      <p:sp>
        <p:nvSpPr>
          <p:cNvPr id="63" name="Text 61"/>
          <p:cNvSpPr txBox="1"/>
          <p:nvPr/>
        </p:nvSpPr>
        <p:spPr>
          <a:xfrm>
            <a:off x="859536"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64" name="Text 62"/>
          <p:cNvSpPr txBox="1"/>
          <p:nvPr/>
        </p:nvSpPr>
        <p:spPr>
          <a:xfrm>
            <a:off x="1115568"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65" name="Text 63"/>
          <p:cNvSpPr txBox="1"/>
          <p:nvPr/>
        </p:nvSpPr>
        <p:spPr>
          <a:xfrm>
            <a:off x="1115568"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$119.95 → $147.93</a:t>
            </a:r>
            <a:endParaRPr lang="en-US" sz="1300" dirty="0"/>
          </a:p>
        </p:txBody>
      </p:sp>
      <p:sp>
        <p:nvSpPr>
          <p:cNvPr id="66" name="Text 64"/>
          <p:cNvSpPr txBox="1"/>
          <p:nvPr/>
        </p:nvSpPr>
        <p:spPr>
          <a:xfrm>
            <a:off x="2886456"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+23.3%</a:t>
            </a:r>
            <a:endParaRPr lang="en-US" sz="1800" dirty="0"/>
          </a:p>
        </p:txBody>
      </p:sp>
      <p:sp>
        <p:nvSpPr>
          <p:cNvPr id="67" name="Text 65"/>
          <p:cNvSpPr txBox="1"/>
          <p:nvPr/>
        </p:nvSpPr>
        <p:spPr>
          <a:xfrm>
            <a:off x="859536"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68" name="Text 66"/>
          <p:cNvSpPr txBox="1"/>
          <p:nvPr/>
        </p:nvSpPr>
        <p:spPr>
          <a:xfrm>
            <a:off x="1115568"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VOLVO</a:t>
            </a:r>
            <a:endParaRPr lang="en-US" sz="1400" dirty="0"/>
          </a:p>
        </p:txBody>
      </p:sp>
      <p:sp>
        <p:nvSpPr>
          <p:cNvPr id="69" name="Text 67"/>
          <p:cNvSpPr txBox="1"/>
          <p:nvPr/>
        </p:nvSpPr>
        <p:spPr>
          <a:xfrm>
            <a:off x="1115568"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$183.95 → $225.50</a:t>
            </a:r>
            <a:endParaRPr lang="en-US" sz="1300" dirty="0"/>
          </a:p>
        </p:txBody>
      </p:sp>
      <p:sp>
        <p:nvSpPr>
          <p:cNvPr id="70" name="Text 68"/>
          <p:cNvSpPr txBox="1"/>
          <p:nvPr/>
        </p:nvSpPr>
        <p:spPr>
          <a:xfrm>
            <a:off x="2886456"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+22.5%</a:t>
            </a:r>
            <a:endParaRPr lang="en-US" sz="1800" dirty="0"/>
          </a:p>
        </p:txBody>
      </p:sp>
      <p:sp>
        <p:nvSpPr>
          <p:cNvPr id="71" name="Shape 69"/>
          <p:cNvSpPr/>
          <p:nvPr/>
        </p:nvSpPr>
        <p:spPr>
          <a:xfrm>
            <a:off x="4367784" y="3749040"/>
            <a:ext cx="3453384" cy="1938528"/>
          </a:xfrm>
          <a:prstGeom prst="rect">
            <a:avLst/>
          </a:prstGeom>
          <a:solidFill>
            <a:srgbClr val="F7F7F7"/>
          </a:solidFill>
          <a:ln/>
        </p:spPr>
      </p:sp>
      <p:sp>
        <p:nvSpPr>
          <p:cNvPr id="72" name="Shape 70"/>
          <p:cNvSpPr/>
          <p:nvPr/>
        </p:nvSpPr>
        <p:spPr>
          <a:xfrm>
            <a:off x="4367784" y="3749040"/>
            <a:ext cx="3453384" cy="54864"/>
          </a:xfrm>
          <a:prstGeom prst="rect">
            <a:avLst/>
          </a:prstGeom>
          <a:solidFill>
            <a:srgbClr val="12A566"/>
          </a:solidFill>
          <a:ln/>
        </p:spPr>
      </p:sp>
      <p:sp>
        <p:nvSpPr>
          <p:cNvPr id="73" name="Text 71"/>
          <p:cNvSpPr txBox="1"/>
          <p:nvPr/>
        </p:nvSpPr>
        <p:spPr>
          <a:xfrm>
            <a:off x="4514088"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PARTS $ PER RO</a:t>
            </a:r>
            <a:endParaRPr lang="en-US" sz="1400" dirty="0"/>
          </a:p>
        </p:txBody>
      </p:sp>
      <p:sp>
        <p:nvSpPr>
          <p:cNvPr id="74" name="Text 72"/>
          <p:cNvSpPr txBox="1"/>
          <p:nvPr/>
        </p:nvSpPr>
        <p:spPr>
          <a:xfrm>
            <a:off x="6449568"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+3.8%</a:t>
            </a:r>
            <a:endParaRPr lang="en-US" sz="1300" dirty="0"/>
          </a:p>
        </p:txBody>
      </p:sp>
      <p:sp>
        <p:nvSpPr>
          <p:cNvPr id="75" name="Text 73"/>
          <p:cNvSpPr txBox="1"/>
          <p:nvPr/>
        </p:nvSpPr>
        <p:spPr>
          <a:xfrm>
            <a:off x="4514088"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76" name="Text 74"/>
          <p:cNvSpPr txBox="1"/>
          <p:nvPr/>
        </p:nvSpPr>
        <p:spPr>
          <a:xfrm>
            <a:off x="4770120"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77" name="Text 75"/>
          <p:cNvSpPr txBox="1"/>
          <p:nvPr/>
        </p:nvSpPr>
        <p:spPr>
          <a:xfrm>
            <a:off x="4770120"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$266 → $373</a:t>
            </a:r>
            <a:endParaRPr lang="en-US" sz="1300" dirty="0"/>
          </a:p>
        </p:txBody>
      </p:sp>
      <p:sp>
        <p:nvSpPr>
          <p:cNvPr id="78" name="Text 76"/>
          <p:cNvSpPr txBox="1"/>
          <p:nvPr/>
        </p:nvSpPr>
        <p:spPr>
          <a:xfrm>
            <a:off x="6541008"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+40.0%</a:t>
            </a:r>
            <a:endParaRPr lang="en-US" sz="1800" dirty="0"/>
          </a:p>
        </p:txBody>
      </p:sp>
      <p:sp>
        <p:nvSpPr>
          <p:cNvPr id="79" name="Text 77"/>
          <p:cNvSpPr txBox="1"/>
          <p:nvPr/>
        </p:nvSpPr>
        <p:spPr>
          <a:xfrm>
            <a:off x="4514088"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80" name="Text 78"/>
          <p:cNvSpPr txBox="1"/>
          <p:nvPr/>
        </p:nvSpPr>
        <p:spPr>
          <a:xfrm>
            <a:off x="4770120"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81" name="Text 79"/>
          <p:cNvSpPr txBox="1"/>
          <p:nvPr/>
        </p:nvSpPr>
        <p:spPr>
          <a:xfrm>
            <a:off x="4770120"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$182 → $234</a:t>
            </a:r>
            <a:endParaRPr lang="en-US" sz="1300" dirty="0"/>
          </a:p>
        </p:txBody>
      </p:sp>
      <p:sp>
        <p:nvSpPr>
          <p:cNvPr id="82" name="Text 80"/>
          <p:cNvSpPr txBox="1"/>
          <p:nvPr/>
        </p:nvSpPr>
        <p:spPr>
          <a:xfrm>
            <a:off x="6541008"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+28.7%</a:t>
            </a:r>
            <a:endParaRPr lang="en-US" sz="1800" dirty="0"/>
          </a:p>
        </p:txBody>
      </p:sp>
      <p:sp>
        <p:nvSpPr>
          <p:cNvPr id="83" name="Text 81"/>
          <p:cNvSpPr txBox="1"/>
          <p:nvPr/>
        </p:nvSpPr>
        <p:spPr>
          <a:xfrm>
            <a:off x="4514088"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84" name="Text 82"/>
          <p:cNvSpPr txBox="1"/>
          <p:nvPr/>
        </p:nvSpPr>
        <p:spPr>
          <a:xfrm>
            <a:off x="4770120"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85" name="Text 83"/>
          <p:cNvSpPr txBox="1"/>
          <p:nvPr/>
        </p:nvSpPr>
        <p:spPr>
          <a:xfrm>
            <a:off x="4770120"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$793 → $988</a:t>
            </a:r>
            <a:endParaRPr lang="en-US" sz="1300" dirty="0"/>
          </a:p>
        </p:txBody>
      </p:sp>
      <p:sp>
        <p:nvSpPr>
          <p:cNvPr id="86" name="Text 84"/>
          <p:cNvSpPr txBox="1"/>
          <p:nvPr/>
        </p:nvSpPr>
        <p:spPr>
          <a:xfrm>
            <a:off x="6541008"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+24.6%</a:t>
            </a:r>
            <a:endParaRPr lang="en-US" sz="1800" dirty="0"/>
          </a:p>
        </p:txBody>
      </p:sp>
      <p:sp>
        <p:nvSpPr>
          <p:cNvPr id="87" name="Shape 85"/>
          <p:cNvSpPr/>
          <p:nvPr/>
        </p:nvSpPr>
        <p:spPr>
          <a:xfrm>
            <a:off x="8022336" y="3749040"/>
            <a:ext cx="3453384" cy="1938528"/>
          </a:xfrm>
          <a:prstGeom prst="rect">
            <a:avLst/>
          </a:prstGeom>
          <a:solidFill>
            <a:srgbClr val="F7F7F7"/>
          </a:solidFill>
          <a:ln/>
        </p:spPr>
      </p:sp>
      <p:sp>
        <p:nvSpPr>
          <p:cNvPr id="88" name="Shape 86"/>
          <p:cNvSpPr/>
          <p:nvPr/>
        </p:nvSpPr>
        <p:spPr>
          <a:xfrm>
            <a:off x="8022336" y="3749040"/>
            <a:ext cx="3453384" cy="54864"/>
          </a:xfrm>
          <a:prstGeom prst="rect">
            <a:avLst/>
          </a:prstGeom>
          <a:solidFill>
            <a:srgbClr val="12A566"/>
          </a:solidFill>
          <a:ln/>
        </p:spPr>
      </p:sp>
      <p:sp>
        <p:nvSpPr>
          <p:cNvPr id="89" name="Text 87"/>
          <p:cNvSpPr txBox="1"/>
          <p:nvPr/>
        </p:nvSpPr>
        <p:spPr>
          <a:xfrm>
            <a:off x="8168640"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PARTS GP %</a:t>
            </a:r>
            <a:endParaRPr lang="en-US" sz="1400" dirty="0"/>
          </a:p>
        </p:txBody>
      </p:sp>
      <p:sp>
        <p:nvSpPr>
          <p:cNvPr id="90" name="Text 88"/>
          <p:cNvSpPr txBox="1"/>
          <p:nvPr/>
        </p:nvSpPr>
        <p:spPr>
          <a:xfrm>
            <a:off x="10104120"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+1.2 pts</a:t>
            </a:r>
            <a:endParaRPr lang="en-US" sz="1300" dirty="0"/>
          </a:p>
        </p:txBody>
      </p:sp>
      <p:sp>
        <p:nvSpPr>
          <p:cNvPr id="91" name="Text 89"/>
          <p:cNvSpPr txBox="1"/>
          <p:nvPr/>
        </p:nvSpPr>
        <p:spPr>
          <a:xfrm>
            <a:off x="8168640"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92" name="Text 90"/>
          <p:cNvSpPr txBox="1"/>
          <p:nvPr/>
        </p:nvSpPr>
        <p:spPr>
          <a:xfrm>
            <a:off x="8424672"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93" name="Text 91"/>
          <p:cNvSpPr txBox="1"/>
          <p:nvPr/>
        </p:nvSpPr>
        <p:spPr>
          <a:xfrm>
            <a:off x="8424672"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38.8% → 46.6%</a:t>
            </a:r>
            <a:endParaRPr lang="en-US" sz="1300" dirty="0"/>
          </a:p>
        </p:txBody>
      </p:sp>
      <p:sp>
        <p:nvSpPr>
          <p:cNvPr id="94" name="Text 92"/>
          <p:cNvSpPr txBox="1"/>
          <p:nvPr/>
        </p:nvSpPr>
        <p:spPr>
          <a:xfrm>
            <a:off x="10195560"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+7.7 pts</a:t>
            </a:r>
            <a:endParaRPr lang="en-US" sz="1800" dirty="0"/>
          </a:p>
        </p:txBody>
      </p:sp>
      <p:sp>
        <p:nvSpPr>
          <p:cNvPr id="95" name="Text 93"/>
          <p:cNvSpPr txBox="1"/>
          <p:nvPr/>
        </p:nvSpPr>
        <p:spPr>
          <a:xfrm>
            <a:off x="8168640"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96" name="Text 94"/>
          <p:cNvSpPr txBox="1"/>
          <p:nvPr/>
        </p:nvSpPr>
        <p:spPr>
          <a:xfrm>
            <a:off x="8424672"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97" name="Text 95"/>
          <p:cNvSpPr txBox="1"/>
          <p:nvPr/>
        </p:nvSpPr>
        <p:spPr>
          <a:xfrm>
            <a:off x="8424672"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38.2% → 42.4%</a:t>
            </a:r>
            <a:endParaRPr lang="en-US" sz="1300" dirty="0"/>
          </a:p>
        </p:txBody>
      </p:sp>
      <p:sp>
        <p:nvSpPr>
          <p:cNvPr id="98" name="Text 96"/>
          <p:cNvSpPr txBox="1"/>
          <p:nvPr/>
        </p:nvSpPr>
        <p:spPr>
          <a:xfrm>
            <a:off x="10195560"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+4.1 pts</a:t>
            </a:r>
            <a:endParaRPr lang="en-US" sz="1800" dirty="0"/>
          </a:p>
        </p:txBody>
      </p:sp>
      <p:sp>
        <p:nvSpPr>
          <p:cNvPr id="99" name="Text 97"/>
          <p:cNvSpPr txBox="1"/>
          <p:nvPr/>
        </p:nvSpPr>
        <p:spPr>
          <a:xfrm>
            <a:off x="8168640"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100" name="Text 98"/>
          <p:cNvSpPr txBox="1"/>
          <p:nvPr/>
        </p:nvSpPr>
        <p:spPr>
          <a:xfrm>
            <a:off x="8424672"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101" name="Text 99"/>
          <p:cNvSpPr txBox="1"/>
          <p:nvPr/>
        </p:nvSpPr>
        <p:spPr>
          <a:xfrm>
            <a:off x="8424672"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39.7% → 43.8%</a:t>
            </a:r>
            <a:endParaRPr lang="en-US" sz="1300" dirty="0"/>
          </a:p>
        </p:txBody>
      </p:sp>
      <p:sp>
        <p:nvSpPr>
          <p:cNvPr id="102" name="Text 100"/>
          <p:cNvSpPr txBox="1"/>
          <p:nvPr/>
        </p:nvSpPr>
        <p:spPr>
          <a:xfrm>
            <a:off x="10195560"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+4.0 pts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Who Shows Up Most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2926080" y="1335024"/>
            <a:ext cx="2560320" cy="310896"/>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Top-3 finishes of 12</a:t>
            </a:r>
            <a:endParaRPr lang="en-US" sz="1400" dirty="0"/>
          </a:p>
        </p:txBody>
      </p:sp>
      <p:sp>
        <p:nvSpPr>
          <p:cNvPr id="7" name="Text 5"/>
          <p:cNvSpPr txBox="1"/>
          <p:nvPr/>
        </p:nvSpPr>
        <p:spPr>
          <a:xfrm>
            <a:off x="6172200" y="1335024"/>
            <a:ext cx="2560320" cy="310896"/>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Jan–Sep</a:t>
            </a:r>
            <a:endParaRPr lang="en-US" sz="1400" dirty="0"/>
          </a:p>
        </p:txBody>
      </p:sp>
      <p:sp>
        <p:nvSpPr>
          <p:cNvPr id="8" name="Text 6"/>
          <p:cNvSpPr txBox="1"/>
          <p:nvPr/>
        </p:nvSpPr>
        <p:spPr>
          <a:xfrm>
            <a:off x="8823960" y="1335024"/>
            <a:ext cx="2560320" cy="310896"/>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Last 90 days</a:t>
            </a:r>
            <a:endParaRPr lang="en-US" sz="1400" dirty="0"/>
          </a:p>
        </p:txBody>
      </p:sp>
      <p:sp>
        <p:nvSpPr>
          <p:cNvPr id="9" name="Shape 7"/>
          <p:cNvSpPr/>
          <p:nvPr/>
        </p:nvSpPr>
        <p:spPr>
          <a:xfrm>
            <a:off x="621792" y="1792224"/>
            <a:ext cx="10945368" cy="484632"/>
          </a:xfrm>
          <a:prstGeom prst="rect">
            <a:avLst/>
          </a:prstGeom>
          <a:solidFill>
            <a:srgbClr val="F7F7F7"/>
          </a:solidFill>
          <a:ln/>
        </p:spPr>
      </p:sp>
      <p:sp>
        <p:nvSpPr>
          <p:cNvPr id="10" name="Text 8"/>
          <p:cNvSpPr txBox="1"/>
          <p:nvPr/>
        </p:nvSpPr>
        <p:spPr>
          <a:xfrm>
            <a:off x="713232" y="1792224"/>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1" name="Shape 9"/>
          <p:cNvSpPr/>
          <p:nvPr/>
        </p:nvSpPr>
        <p:spPr>
          <a:xfrm>
            <a:off x="2926080" y="1913382"/>
            <a:ext cx="2651760" cy="242316"/>
          </a:xfrm>
          <a:prstGeom prst="rect">
            <a:avLst/>
          </a:prstGeom>
          <a:solidFill>
            <a:srgbClr val="12A566"/>
          </a:solidFill>
          <a:ln/>
        </p:spPr>
      </p:sp>
      <p:sp>
        <p:nvSpPr>
          <p:cNvPr id="12" name="Text 10"/>
          <p:cNvSpPr txBox="1"/>
          <p:nvPr/>
        </p:nvSpPr>
        <p:spPr>
          <a:xfrm>
            <a:off x="5486400" y="1792224"/>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a:t>
            </a:r>
            <a:endParaRPr lang="en-US" sz="1600" dirty="0"/>
          </a:p>
        </p:txBody>
      </p:sp>
      <p:sp>
        <p:nvSpPr>
          <p:cNvPr id="13" name="Text 11"/>
          <p:cNvSpPr txBox="1"/>
          <p:nvPr/>
        </p:nvSpPr>
        <p:spPr>
          <a:xfrm>
            <a:off x="6172200" y="1792224"/>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 ELR, parts $/RO</a:t>
            </a:r>
            <a:endParaRPr lang="en-US" sz="1300" dirty="0"/>
          </a:p>
        </p:txBody>
      </p:sp>
      <p:sp>
        <p:nvSpPr>
          <p:cNvPr id="14" name="Text 12"/>
          <p:cNvSpPr txBox="1"/>
          <p:nvPr/>
        </p:nvSpPr>
        <p:spPr>
          <a:xfrm>
            <a:off x="8823960" y="1792224"/>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 ELR, parts $/RO</a:t>
            </a:r>
            <a:endParaRPr lang="en-US" sz="1300" dirty="0"/>
          </a:p>
        </p:txBody>
      </p:sp>
      <p:sp>
        <p:nvSpPr>
          <p:cNvPr id="15" name="Text 13"/>
          <p:cNvSpPr txBox="1"/>
          <p:nvPr/>
        </p:nvSpPr>
        <p:spPr>
          <a:xfrm>
            <a:off x="713232" y="2276856"/>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6" name="Shape 14"/>
          <p:cNvSpPr/>
          <p:nvPr/>
        </p:nvSpPr>
        <p:spPr>
          <a:xfrm>
            <a:off x="2926080" y="2398014"/>
            <a:ext cx="1767840" cy="242316"/>
          </a:xfrm>
          <a:prstGeom prst="rect">
            <a:avLst/>
          </a:prstGeom>
          <a:solidFill>
            <a:srgbClr val="12A566"/>
          </a:solidFill>
          <a:ln/>
        </p:spPr>
      </p:sp>
      <p:sp>
        <p:nvSpPr>
          <p:cNvPr id="17" name="Text 15"/>
          <p:cNvSpPr txBox="1"/>
          <p:nvPr/>
        </p:nvSpPr>
        <p:spPr>
          <a:xfrm>
            <a:off x="5486400" y="2276856"/>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a:t>
            </a:r>
            <a:endParaRPr lang="en-US" sz="1600" dirty="0"/>
          </a:p>
        </p:txBody>
      </p:sp>
      <p:sp>
        <p:nvSpPr>
          <p:cNvPr id="18" name="Text 16"/>
          <p:cNvSpPr txBox="1"/>
          <p:nvPr/>
        </p:nvSpPr>
        <p:spPr>
          <a:xfrm>
            <a:off x="6172200" y="2276856"/>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hours/RO</a:t>
            </a:r>
            <a:endParaRPr lang="en-US" sz="1300" dirty="0"/>
          </a:p>
        </p:txBody>
      </p:sp>
      <p:sp>
        <p:nvSpPr>
          <p:cNvPr id="19" name="Text 17"/>
          <p:cNvSpPr txBox="1"/>
          <p:nvPr/>
        </p:nvSpPr>
        <p:spPr>
          <a:xfrm>
            <a:off x="8823960" y="2276856"/>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 hours/RO, parts GP%</a:t>
            </a:r>
            <a:endParaRPr lang="en-US" sz="1300" dirty="0"/>
          </a:p>
        </p:txBody>
      </p:sp>
      <p:sp>
        <p:nvSpPr>
          <p:cNvPr id="20" name="Shape 18"/>
          <p:cNvSpPr/>
          <p:nvPr/>
        </p:nvSpPr>
        <p:spPr>
          <a:xfrm>
            <a:off x="621792" y="2761488"/>
            <a:ext cx="10945368" cy="484632"/>
          </a:xfrm>
          <a:prstGeom prst="rect">
            <a:avLst/>
          </a:prstGeom>
          <a:solidFill>
            <a:srgbClr val="F7F7F7"/>
          </a:solidFill>
          <a:ln/>
        </p:spPr>
      </p:sp>
      <p:sp>
        <p:nvSpPr>
          <p:cNvPr id="21" name="Text 19"/>
          <p:cNvSpPr txBox="1"/>
          <p:nvPr/>
        </p:nvSpPr>
        <p:spPr>
          <a:xfrm>
            <a:off x="713232" y="2761488"/>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22" name="Shape 20"/>
          <p:cNvSpPr/>
          <p:nvPr/>
        </p:nvSpPr>
        <p:spPr>
          <a:xfrm>
            <a:off x="2926080" y="2882646"/>
            <a:ext cx="1325880" cy="242316"/>
          </a:xfrm>
          <a:prstGeom prst="rect">
            <a:avLst/>
          </a:prstGeom>
          <a:solidFill>
            <a:srgbClr val="12A566"/>
          </a:solidFill>
          <a:ln/>
        </p:spPr>
      </p:sp>
      <p:sp>
        <p:nvSpPr>
          <p:cNvPr id="23" name="Text 21"/>
          <p:cNvSpPr txBox="1"/>
          <p:nvPr/>
        </p:nvSpPr>
        <p:spPr>
          <a:xfrm>
            <a:off x="5486400" y="2761488"/>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24" name="Text 22"/>
          <p:cNvSpPr txBox="1"/>
          <p:nvPr/>
        </p:nvSpPr>
        <p:spPr>
          <a:xfrm>
            <a:off x="6172200" y="2761488"/>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 parts GP%</a:t>
            </a:r>
            <a:endParaRPr lang="en-US" sz="1300" dirty="0"/>
          </a:p>
        </p:txBody>
      </p:sp>
      <p:sp>
        <p:nvSpPr>
          <p:cNvPr id="25" name="Text 23"/>
          <p:cNvSpPr txBox="1"/>
          <p:nvPr/>
        </p:nvSpPr>
        <p:spPr>
          <a:xfrm>
            <a:off x="8823960" y="2761488"/>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a:t>
            </a:r>
            <a:endParaRPr lang="en-US" sz="1300" dirty="0"/>
          </a:p>
        </p:txBody>
      </p:sp>
      <p:sp>
        <p:nvSpPr>
          <p:cNvPr id="26" name="Text 24"/>
          <p:cNvSpPr txBox="1"/>
          <p:nvPr/>
        </p:nvSpPr>
        <p:spPr>
          <a:xfrm>
            <a:off x="713232" y="3246120"/>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27" name="Shape 25"/>
          <p:cNvSpPr/>
          <p:nvPr/>
        </p:nvSpPr>
        <p:spPr>
          <a:xfrm>
            <a:off x="2926080" y="3367278"/>
            <a:ext cx="1325880" cy="242316"/>
          </a:xfrm>
          <a:prstGeom prst="rect">
            <a:avLst/>
          </a:prstGeom>
          <a:solidFill>
            <a:srgbClr val="12A566"/>
          </a:solidFill>
          <a:ln/>
        </p:spPr>
      </p:sp>
      <p:sp>
        <p:nvSpPr>
          <p:cNvPr id="28" name="Text 26"/>
          <p:cNvSpPr txBox="1"/>
          <p:nvPr/>
        </p:nvSpPr>
        <p:spPr>
          <a:xfrm>
            <a:off x="5486400" y="3246120"/>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29" name="Text 27"/>
          <p:cNvSpPr txBox="1"/>
          <p:nvPr/>
        </p:nvSpPr>
        <p:spPr>
          <a:xfrm>
            <a:off x="6172200" y="3246120"/>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hours/RO, parts $/RO</a:t>
            </a:r>
            <a:endParaRPr lang="en-US" sz="1300" dirty="0"/>
          </a:p>
        </p:txBody>
      </p:sp>
      <p:sp>
        <p:nvSpPr>
          <p:cNvPr id="30" name="Text 28"/>
          <p:cNvSpPr txBox="1"/>
          <p:nvPr/>
        </p:nvSpPr>
        <p:spPr>
          <a:xfrm>
            <a:off x="8823960" y="3246120"/>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hours/RO</a:t>
            </a:r>
            <a:endParaRPr lang="en-US" sz="1300" dirty="0"/>
          </a:p>
        </p:txBody>
      </p:sp>
      <p:sp>
        <p:nvSpPr>
          <p:cNvPr id="31" name="Shape 29"/>
          <p:cNvSpPr/>
          <p:nvPr/>
        </p:nvSpPr>
        <p:spPr>
          <a:xfrm>
            <a:off x="621792" y="3730752"/>
            <a:ext cx="10945368" cy="484632"/>
          </a:xfrm>
          <a:prstGeom prst="rect">
            <a:avLst/>
          </a:prstGeom>
          <a:solidFill>
            <a:srgbClr val="F7F7F7"/>
          </a:solidFill>
          <a:ln/>
        </p:spPr>
      </p:sp>
      <p:sp>
        <p:nvSpPr>
          <p:cNvPr id="32" name="Text 30"/>
          <p:cNvSpPr txBox="1"/>
          <p:nvPr/>
        </p:nvSpPr>
        <p:spPr>
          <a:xfrm>
            <a:off x="713232" y="3730752"/>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33" name="Shape 31"/>
          <p:cNvSpPr/>
          <p:nvPr/>
        </p:nvSpPr>
        <p:spPr>
          <a:xfrm>
            <a:off x="2926080" y="3851910"/>
            <a:ext cx="883920" cy="242316"/>
          </a:xfrm>
          <a:prstGeom prst="rect">
            <a:avLst/>
          </a:prstGeom>
          <a:solidFill>
            <a:srgbClr val="12A566"/>
          </a:solidFill>
          <a:ln/>
        </p:spPr>
      </p:sp>
      <p:sp>
        <p:nvSpPr>
          <p:cNvPr id="34" name="Text 32"/>
          <p:cNvSpPr txBox="1"/>
          <p:nvPr/>
        </p:nvSpPr>
        <p:spPr>
          <a:xfrm>
            <a:off x="5486400" y="3730752"/>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35" name="Text 33"/>
          <p:cNvSpPr txBox="1"/>
          <p:nvPr/>
        </p:nvSpPr>
        <p:spPr>
          <a:xfrm>
            <a:off x="6172200" y="3730752"/>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RO count</a:t>
            </a:r>
            <a:endParaRPr lang="en-US" sz="1300" dirty="0"/>
          </a:p>
        </p:txBody>
      </p:sp>
      <p:sp>
        <p:nvSpPr>
          <p:cNvPr id="36" name="Text 34"/>
          <p:cNvSpPr txBox="1"/>
          <p:nvPr/>
        </p:nvSpPr>
        <p:spPr>
          <a:xfrm>
            <a:off x="8823960" y="3730752"/>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RO count</a:t>
            </a:r>
            <a:endParaRPr lang="en-US" sz="1300" dirty="0"/>
          </a:p>
        </p:txBody>
      </p:sp>
      <p:sp>
        <p:nvSpPr>
          <p:cNvPr id="37" name="Text 35"/>
          <p:cNvSpPr txBox="1"/>
          <p:nvPr/>
        </p:nvSpPr>
        <p:spPr>
          <a:xfrm>
            <a:off x="713232" y="4215384"/>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38" name="Shape 36"/>
          <p:cNvSpPr/>
          <p:nvPr/>
        </p:nvSpPr>
        <p:spPr>
          <a:xfrm>
            <a:off x="2926080" y="4336542"/>
            <a:ext cx="883920" cy="242316"/>
          </a:xfrm>
          <a:prstGeom prst="rect">
            <a:avLst/>
          </a:prstGeom>
          <a:solidFill>
            <a:srgbClr val="12A566"/>
          </a:solidFill>
          <a:ln/>
        </p:spPr>
      </p:sp>
      <p:sp>
        <p:nvSpPr>
          <p:cNvPr id="39" name="Text 37"/>
          <p:cNvSpPr txBox="1"/>
          <p:nvPr/>
        </p:nvSpPr>
        <p:spPr>
          <a:xfrm>
            <a:off x="5486400" y="4215384"/>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40" name="Text 38"/>
          <p:cNvSpPr txBox="1"/>
          <p:nvPr/>
        </p:nvSpPr>
        <p:spPr>
          <a:xfrm>
            <a:off x="6172200" y="4215384"/>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ELR</a:t>
            </a:r>
            <a:endParaRPr lang="en-US" sz="1300" dirty="0"/>
          </a:p>
        </p:txBody>
      </p:sp>
      <p:sp>
        <p:nvSpPr>
          <p:cNvPr id="41" name="Text 39"/>
          <p:cNvSpPr txBox="1"/>
          <p:nvPr/>
        </p:nvSpPr>
        <p:spPr>
          <a:xfrm>
            <a:off x="8823960" y="4215384"/>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ELR</a:t>
            </a:r>
            <a:endParaRPr lang="en-US" sz="1300" dirty="0"/>
          </a:p>
        </p:txBody>
      </p:sp>
      <p:sp>
        <p:nvSpPr>
          <p:cNvPr id="42" name="Shape 40"/>
          <p:cNvSpPr/>
          <p:nvPr/>
        </p:nvSpPr>
        <p:spPr>
          <a:xfrm>
            <a:off x="621792" y="4700016"/>
            <a:ext cx="10945368" cy="484632"/>
          </a:xfrm>
          <a:prstGeom prst="rect">
            <a:avLst/>
          </a:prstGeom>
          <a:solidFill>
            <a:srgbClr val="F7F7F7"/>
          </a:solidFill>
          <a:ln/>
        </p:spPr>
      </p:sp>
      <p:sp>
        <p:nvSpPr>
          <p:cNvPr id="43" name="Text 41"/>
          <p:cNvSpPr txBox="1"/>
          <p:nvPr/>
        </p:nvSpPr>
        <p:spPr>
          <a:xfrm>
            <a:off x="713232" y="4700016"/>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VOLVO</a:t>
            </a:r>
            <a:endParaRPr lang="en-US" sz="1400" dirty="0"/>
          </a:p>
        </p:txBody>
      </p:sp>
      <p:sp>
        <p:nvSpPr>
          <p:cNvPr id="44" name="Shape 42"/>
          <p:cNvSpPr/>
          <p:nvPr/>
        </p:nvSpPr>
        <p:spPr>
          <a:xfrm>
            <a:off x="2926080" y="4821174"/>
            <a:ext cx="883920" cy="242316"/>
          </a:xfrm>
          <a:prstGeom prst="rect">
            <a:avLst/>
          </a:prstGeom>
          <a:solidFill>
            <a:srgbClr val="12A566"/>
          </a:solidFill>
          <a:ln/>
        </p:spPr>
      </p:sp>
      <p:sp>
        <p:nvSpPr>
          <p:cNvPr id="45" name="Text 43"/>
          <p:cNvSpPr txBox="1"/>
          <p:nvPr/>
        </p:nvSpPr>
        <p:spPr>
          <a:xfrm>
            <a:off x="5486400" y="4700016"/>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46" name="Text 44"/>
          <p:cNvSpPr txBox="1"/>
          <p:nvPr/>
        </p:nvSpPr>
        <p:spPr>
          <a:xfrm>
            <a:off x="6172200" y="4700016"/>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ELR</a:t>
            </a:r>
            <a:endParaRPr lang="en-US" sz="1300" dirty="0"/>
          </a:p>
        </p:txBody>
      </p:sp>
      <p:sp>
        <p:nvSpPr>
          <p:cNvPr id="47" name="Text 45"/>
          <p:cNvSpPr txBox="1"/>
          <p:nvPr/>
        </p:nvSpPr>
        <p:spPr>
          <a:xfrm>
            <a:off x="8823960" y="4700016"/>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ELR</a:t>
            </a:r>
            <a:endParaRPr lang="en-US" sz="1300" dirty="0"/>
          </a:p>
        </p:txBody>
      </p:sp>
      <p:sp>
        <p:nvSpPr>
          <p:cNvPr id="48" name="Text 46"/>
          <p:cNvSpPr txBox="1"/>
          <p:nvPr/>
        </p:nvSpPr>
        <p:spPr>
          <a:xfrm>
            <a:off x="713232" y="5184648"/>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49" name="Shape 47"/>
          <p:cNvSpPr/>
          <p:nvPr/>
        </p:nvSpPr>
        <p:spPr>
          <a:xfrm>
            <a:off x="2926080" y="5305806"/>
            <a:ext cx="883920" cy="242316"/>
          </a:xfrm>
          <a:prstGeom prst="rect">
            <a:avLst/>
          </a:prstGeom>
          <a:solidFill>
            <a:srgbClr val="12A566"/>
          </a:solidFill>
          <a:ln/>
        </p:spPr>
      </p:sp>
      <p:sp>
        <p:nvSpPr>
          <p:cNvPr id="50" name="Text 48"/>
          <p:cNvSpPr txBox="1"/>
          <p:nvPr/>
        </p:nvSpPr>
        <p:spPr>
          <a:xfrm>
            <a:off x="5486400" y="5184648"/>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51" name="Text 49"/>
          <p:cNvSpPr txBox="1"/>
          <p:nvPr/>
        </p:nvSpPr>
        <p:spPr>
          <a:xfrm>
            <a:off x="6172200" y="5184648"/>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parts GP%</a:t>
            </a:r>
            <a:endParaRPr lang="en-US" sz="1300" dirty="0"/>
          </a:p>
        </p:txBody>
      </p:sp>
      <p:sp>
        <p:nvSpPr>
          <p:cNvPr id="52" name="Text 50"/>
          <p:cNvSpPr txBox="1"/>
          <p:nvPr/>
        </p:nvSpPr>
        <p:spPr>
          <a:xfrm>
            <a:off x="8823960" y="5184648"/>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parts GP%</a:t>
            </a:r>
            <a:endParaRPr lang="en-US" sz="1300" dirty="0"/>
          </a:p>
        </p:txBody>
      </p:sp>
      <p:sp>
        <p:nvSpPr>
          <p:cNvPr id="54" name="Shape 51"/>
          <p:cNvSpPr/>
          <p:nvPr/>
        </p:nvSpPr>
        <p:spPr>
          <a:xfrm>
            <a:off x="457200" y="6126480"/>
            <a:ext cx="11274552" cy="371856"/>
          </a:xfrm>
          <a:prstGeom prst="rect">
            <a:avLst/>
          </a:prstGeom>
          <a:solidFill>
            <a:srgbClr val="E6F6EE"/>
          </a:solidFill>
          <a:ln/>
        </p:spPr>
      </p:sp>
      <p:sp>
        <p:nvSpPr>
          <p:cNvPr id="55" name="Text 5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8 stores make a top-3 list in both periods.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Gross</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+6.4% · 27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$865K → $1.26M</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+46.0%</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$832K → $1.21M</a:t>
            </a:r>
            <a:endParaRPr lang="en-US" sz="1300" dirty="0"/>
          </a:p>
        </p:txBody>
      </p:sp>
      <p:sp>
        <p:nvSpPr>
          <p:cNvPr id="18" name="Shape 16"/>
          <p:cNvSpPr/>
          <p:nvPr/>
        </p:nvSpPr>
        <p:spPr>
          <a:xfrm>
            <a:off x="3383280" y="3127248"/>
            <a:ext cx="1260956"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+45.3%</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ST GEORGE</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$1.48M → $1.98M</a:t>
            </a:r>
            <a:endParaRPr lang="en-US" sz="1300" dirty="0"/>
          </a:p>
        </p:txBody>
      </p:sp>
      <p:sp>
        <p:nvSpPr>
          <p:cNvPr id="24" name="Shape 22"/>
          <p:cNvSpPr/>
          <p:nvPr/>
        </p:nvSpPr>
        <p:spPr>
          <a:xfrm>
            <a:off x="3383280" y="3785616"/>
            <a:ext cx="939340"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+33.8%</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$657K → $862K</a:t>
            </a:r>
            <a:endParaRPr lang="en-US" sz="1300" dirty="0"/>
          </a:p>
        </p:txBody>
      </p:sp>
      <p:sp>
        <p:nvSpPr>
          <p:cNvPr id="29" name="Shape 27"/>
          <p:cNvSpPr/>
          <p:nvPr/>
        </p:nvSpPr>
        <p:spPr>
          <a:xfrm>
            <a:off x="3383280" y="4443984"/>
            <a:ext cx="862566"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+31.0%</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LEXUS</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$1.63M → $2.10M</a:t>
            </a:r>
            <a:endParaRPr lang="en-US" sz="1300" dirty="0"/>
          </a:p>
        </p:txBody>
      </p:sp>
      <p:sp>
        <p:nvSpPr>
          <p:cNvPr id="35" name="Shape 33"/>
          <p:cNvSpPr/>
          <p:nvPr/>
        </p:nvSpPr>
        <p:spPr>
          <a:xfrm>
            <a:off x="3383280" y="5102352"/>
            <a:ext cx="800277"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+28.8%</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+8.4% · 29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$243K → $418K</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+72.1%</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$237K → $336K</a:t>
            </a:r>
            <a:endParaRPr lang="en-US" sz="1300" dirty="0"/>
          </a:p>
        </p:txBody>
      </p:sp>
      <p:sp>
        <p:nvSpPr>
          <p:cNvPr id="50" name="Shape 48"/>
          <p:cNvSpPr/>
          <p:nvPr/>
        </p:nvSpPr>
        <p:spPr>
          <a:xfrm>
            <a:off x="9098280" y="3127248"/>
            <a:ext cx="738338"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+41.5%</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$291K → $410K</a:t>
            </a:r>
            <a:endParaRPr lang="en-US" sz="1300" dirty="0"/>
          </a:p>
        </p:txBody>
      </p:sp>
      <p:sp>
        <p:nvSpPr>
          <p:cNvPr id="56" name="Shape 54"/>
          <p:cNvSpPr/>
          <p:nvPr/>
        </p:nvSpPr>
        <p:spPr>
          <a:xfrm>
            <a:off x="9098280" y="3785616"/>
            <a:ext cx="729189"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+41.0%</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GMC PRESCOTT</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$268K → $358K</a:t>
            </a:r>
            <a:endParaRPr lang="en-US" sz="1300" dirty="0"/>
          </a:p>
        </p:txBody>
      </p:sp>
      <p:sp>
        <p:nvSpPr>
          <p:cNvPr id="61" name="Shape 59"/>
          <p:cNvSpPr/>
          <p:nvPr/>
        </p:nvSpPr>
        <p:spPr>
          <a:xfrm>
            <a:off x="9098280" y="4443984"/>
            <a:ext cx="592350"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+33.3%</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$473K → $626K</a:t>
            </a:r>
            <a:endParaRPr lang="en-US" sz="1300" dirty="0"/>
          </a:p>
        </p:txBody>
      </p:sp>
      <p:sp>
        <p:nvSpPr>
          <p:cNvPr id="67" name="Shape 65"/>
          <p:cNvSpPr/>
          <p:nvPr/>
        </p:nvSpPr>
        <p:spPr>
          <a:xfrm>
            <a:off x="9098280" y="5102352"/>
            <a:ext cx="574697"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+32.3%</a:t>
            </a:r>
            <a:endParaRPr lang="en-US" sz="1700" dirty="0"/>
          </a:p>
        </p:txBody>
      </p:sp>
      <p:sp>
        <p:nvSpPr>
          <p:cNvPr id="70" name="Shape 67"/>
          <p:cNvSpPr/>
          <p:nvPr/>
        </p:nvSpPr>
        <p:spPr>
          <a:xfrm>
            <a:off x="457200" y="6126480"/>
            <a:ext cx="11274552" cy="371856"/>
          </a:xfrm>
          <a:prstGeom prst="rect">
            <a:avLst/>
          </a:prstGeom>
          <a:solidFill>
            <a:srgbClr val="E6F6EE"/>
          </a:solidFill>
          <a:ln/>
        </p:spPr>
      </p:sp>
      <p:sp>
        <p:nvSpPr>
          <p:cNvPr id="71" name="Text 6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Three stores are top five in both.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RO Count</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+0.1% · 20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LV</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7,156 → 8,133</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+13.6%</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PRESCOTT</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1,784 → 2,010</a:t>
            </a:r>
            <a:endParaRPr lang="en-US" sz="1300" dirty="0"/>
          </a:p>
        </p:txBody>
      </p:sp>
      <p:sp>
        <p:nvSpPr>
          <p:cNvPr id="18" name="Shape 16"/>
          <p:cNvSpPr/>
          <p:nvPr/>
        </p:nvSpPr>
        <p:spPr>
          <a:xfrm>
            <a:off x="3383280" y="3127248"/>
            <a:ext cx="1187828"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+12.6%</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GMC PRESCOTT</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2,810 → 3,107</a:t>
            </a:r>
            <a:endParaRPr lang="en-US" sz="1300" dirty="0"/>
          </a:p>
        </p:txBody>
      </p:sp>
      <p:sp>
        <p:nvSpPr>
          <p:cNvPr id="24" name="Shape 22"/>
          <p:cNvSpPr/>
          <p:nvPr/>
        </p:nvSpPr>
        <p:spPr>
          <a:xfrm>
            <a:off x="3383280" y="3785616"/>
            <a:ext cx="991038"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+10.5%</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ST GEORGE</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5,042 → 5,553</a:t>
            </a:r>
            <a:endParaRPr lang="en-US" sz="1300" dirty="0"/>
          </a:p>
        </p:txBody>
      </p:sp>
      <p:sp>
        <p:nvSpPr>
          <p:cNvPr id="29" name="Shape 27"/>
          <p:cNvSpPr/>
          <p:nvPr/>
        </p:nvSpPr>
        <p:spPr>
          <a:xfrm>
            <a:off x="3383280" y="4443984"/>
            <a:ext cx="950294"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+10.1%</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RENO</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1,303 → 1,421</a:t>
            </a:r>
            <a:endParaRPr lang="en-US" sz="1300" dirty="0"/>
          </a:p>
        </p:txBody>
      </p:sp>
      <p:sp>
        <p:nvSpPr>
          <p:cNvPr id="35" name="Shape 33"/>
          <p:cNvSpPr/>
          <p:nvPr/>
        </p:nvSpPr>
        <p:spPr>
          <a:xfrm>
            <a:off x="3383280" y="5102352"/>
            <a:ext cx="849137"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+9.0%</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+2.0% · 20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RENO</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406 → 489</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+20.4%</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GMC PRESCOTT</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930 → 1,109</a:t>
            </a:r>
            <a:endParaRPr lang="en-US" sz="1300" dirty="0"/>
          </a:p>
        </p:txBody>
      </p:sp>
      <p:sp>
        <p:nvSpPr>
          <p:cNvPr id="50" name="Shape 48"/>
          <p:cNvSpPr/>
          <p:nvPr/>
        </p:nvSpPr>
        <p:spPr>
          <a:xfrm>
            <a:off x="9098280" y="3127248"/>
            <a:ext cx="1205264"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+19.2%</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LV</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1,061 → 1,246</a:t>
            </a:r>
            <a:endParaRPr lang="en-US" sz="1300" dirty="0"/>
          </a:p>
        </p:txBody>
      </p:sp>
      <p:sp>
        <p:nvSpPr>
          <p:cNvPr id="56" name="Shape 54"/>
          <p:cNvSpPr/>
          <p:nvPr/>
        </p:nvSpPr>
        <p:spPr>
          <a:xfrm>
            <a:off x="9098280" y="3785616"/>
            <a:ext cx="1091864"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+17.4%</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AUDI HENDERSON</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1,144 → 1,304</a:t>
            </a:r>
            <a:endParaRPr lang="en-US" sz="1300" dirty="0"/>
          </a:p>
        </p:txBody>
      </p:sp>
      <p:sp>
        <p:nvSpPr>
          <p:cNvPr id="61" name="Shape 59"/>
          <p:cNvSpPr/>
          <p:nvPr/>
        </p:nvSpPr>
        <p:spPr>
          <a:xfrm>
            <a:off x="9098280" y="4443984"/>
            <a:ext cx="875802"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+13.9%</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LV</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2,374 → 2,700</a:t>
            </a:r>
            <a:endParaRPr lang="en-US" sz="1300" dirty="0"/>
          </a:p>
        </p:txBody>
      </p:sp>
      <p:sp>
        <p:nvSpPr>
          <p:cNvPr id="67" name="Shape 65"/>
          <p:cNvSpPr/>
          <p:nvPr/>
        </p:nvSpPr>
        <p:spPr>
          <a:xfrm>
            <a:off x="9098280" y="5102352"/>
            <a:ext cx="859902"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+13.7%</a:t>
            </a:r>
            <a:endParaRPr lang="en-US" sz="1700" dirty="0"/>
          </a:p>
        </p:txBody>
      </p:sp>
      <p:sp>
        <p:nvSpPr>
          <p:cNvPr id="70" name="Shape 67"/>
          <p:cNvSpPr/>
          <p:nvPr/>
        </p:nvSpPr>
        <p:spPr>
          <a:xfrm>
            <a:off x="457200" y="6126480"/>
            <a:ext cx="11274552" cy="371856"/>
          </a:xfrm>
          <a:prstGeom prst="rect">
            <a:avLst/>
          </a:prstGeom>
          <a:solidFill>
            <a:srgbClr val="E6F6EE"/>
          </a:solidFill>
          <a:ln/>
        </p:spPr>
      </p:sp>
      <p:sp>
        <p:nvSpPr>
          <p:cNvPr id="71" name="Text 6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Three stores are top five in both.</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Hours per RO</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+3.6% · 26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ST GEORGE</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1.03 → 1.43</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+39.1%</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ST GEORGE</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1.75 → 2.30</a:t>
            </a:r>
            <a:endParaRPr lang="en-US" sz="1300" dirty="0"/>
          </a:p>
        </p:txBody>
      </p:sp>
      <p:sp>
        <p:nvSpPr>
          <p:cNvPr id="18" name="Shape 16"/>
          <p:cNvSpPr/>
          <p:nvPr/>
        </p:nvSpPr>
        <p:spPr>
          <a:xfrm>
            <a:off x="3383280" y="3127248"/>
            <a:ext cx="1023826"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+31.3%</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0.99 → 1.29</a:t>
            </a:r>
            <a:endParaRPr lang="en-US" sz="1300" dirty="0"/>
          </a:p>
        </p:txBody>
      </p:sp>
      <p:sp>
        <p:nvSpPr>
          <p:cNvPr id="24" name="Shape 22"/>
          <p:cNvSpPr/>
          <p:nvPr/>
        </p:nvSpPr>
        <p:spPr>
          <a:xfrm>
            <a:off x="3383280" y="3785616"/>
            <a:ext cx="1005399"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+30.7%</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1.34 → 1.60</a:t>
            </a:r>
            <a:endParaRPr lang="en-US" sz="1300" dirty="0"/>
          </a:p>
        </p:txBody>
      </p:sp>
      <p:sp>
        <p:nvSpPr>
          <p:cNvPr id="29" name="Shape 27"/>
          <p:cNvSpPr/>
          <p:nvPr/>
        </p:nvSpPr>
        <p:spPr>
          <a:xfrm>
            <a:off x="3383280" y="4443984"/>
            <a:ext cx="640574"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+19.5%</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LV</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1.32 → 1.57</a:t>
            </a:r>
            <a:endParaRPr lang="en-US" sz="1300" dirty="0"/>
          </a:p>
        </p:txBody>
      </p:sp>
      <p:sp>
        <p:nvSpPr>
          <p:cNvPr id="35" name="Shape 33"/>
          <p:cNvSpPr/>
          <p:nvPr/>
        </p:nvSpPr>
        <p:spPr>
          <a:xfrm>
            <a:off x="3383280" y="5102352"/>
            <a:ext cx="612671"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+18.7%</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+3.1% · 23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ST GEORGE</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1.07 → 1.54</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+44.7%</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0.98 → 1.38</a:t>
            </a:r>
            <a:endParaRPr lang="en-US" sz="1300" dirty="0"/>
          </a:p>
        </p:txBody>
      </p:sp>
      <p:sp>
        <p:nvSpPr>
          <p:cNvPr id="50" name="Shape 48"/>
          <p:cNvSpPr/>
          <p:nvPr/>
        </p:nvSpPr>
        <p:spPr>
          <a:xfrm>
            <a:off x="9098280" y="3127248"/>
            <a:ext cx="1177847"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+41.1%</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1.29 → 1.65</a:t>
            </a:r>
            <a:endParaRPr lang="en-US" sz="1300" dirty="0"/>
          </a:p>
        </p:txBody>
      </p:sp>
      <p:sp>
        <p:nvSpPr>
          <p:cNvPr id="56" name="Shape 54"/>
          <p:cNvSpPr/>
          <p:nvPr/>
        </p:nvSpPr>
        <p:spPr>
          <a:xfrm>
            <a:off x="9098280" y="3785616"/>
            <a:ext cx="788509"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+27.5%</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LV</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3.39 → 4.07</a:t>
            </a:r>
            <a:endParaRPr lang="en-US" sz="1300" dirty="0"/>
          </a:p>
        </p:txBody>
      </p:sp>
      <p:sp>
        <p:nvSpPr>
          <p:cNvPr id="61" name="Shape 59"/>
          <p:cNvSpPr/>
          <p:nvPr/>
        </p:nvSpPr>
        <p:spPr>
          <a:xfrm>
            <a:off x="9098280" y="4443984"/>
            <a:ext cx="576271"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+20.1%</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2.07 → 2.44</a:t>
            </a:r>
            <a:endParaRPr lang="en-US" sz="1300" dirty="0"/>
          </a:p>
        </p:txBody>
      </p:sp>
      <p:sp>
        <p:nvSpPr>
          <p:cNvPr id="67" name="Shape 65"/>
          <p:cNvSpPr/>
          <p:nvPr/>
        </p:nvSpPr>
        <p:spPr>
          <a:xfrm>
            <a:off x="9098280" y="5102352"/>
            <a:ext cx="504347"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+17.6%</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ELR</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+2.2% · 19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HONDA SPOKANE</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$117.05 → $143.89</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+22.9%</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VOLVO</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$181.59 → $222.12</a:t>
            </a:r>
            <a:endParaRPr lang="en-US" sz="1300" dirty="0"/>
          </a:p>
        </p:txBody>
      </p:sp>
      <p:sp>
        <p:nvSpPr>
          <p:cNvPr id="18" name="Shape 16"/>
          <p:cNvSpPr/>
          <p:nvPr/>
        </p:nvSpPr>
        <p:spPr>
          <a:xfrm>
            <a:off x="3383280" y="3127248"/>
            <a:ext cx="1246113"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+22.3%</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$139.55 → $167.64</a:t>
            </a:r>
            <a:endParaRPr lang="en-US" sz="1300" dirty="0"/>
          </a:p>
        </p:txBody>
      </p:sp>
      <p:sp>
        <p:nvSpPr>
          <p:cNvPr id="24" name="Shape 22"/>
          <p:cNvSpPr/>
          <p:nvPr/>
        </p:nvSpPr>
        <p:spPr>
          <a:xfrm>
            <a:off x="3383280" y="3785616"/>
            <a:ext cx="1123401"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+20.1%</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NISSAN</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$153.87 → $175.90</a:t>
            </a:r>
            <a:endParaRPr lang="en-US" sz="1300" dirty="0"/>
          </a:p>
        </p:txBody>
      </p:sp>
      <p:sp>
        <p:nvSpPr>
          <p:cNvPr id="29" name="Shape 27"/>
          <p:cNvSpPr/>
          <p:nvPr/>
        </p:nvSpPr>
        <p:spPr>
          <a:xfrm>
            <a:off x="3383280" y="4443984"/>
            <a:ext cx="799074"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+14.3%</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$122.25 → $139.13</a:t>
            </a:r>
            <a:endParaRPr lang="en-US" sz="1300" dirty="0"/>
          </a:p>
        </p:txBody>
      </p:sp>
      <p:sp>
        <p:nvSpPr>
          <p:cNvPr id="35" name="Shape 33"/>
          <p:cNvSpPr/>
          <p:nvPr/>
        </p:nvSpPr>
        <p:spPr>
          <a:xfrm>
            <a:off x="3383280" y="5102352"/>
            <a:ext cx="770788"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+13.8%</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+2.5% · 22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$134.86 → $167.22</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+23.9%</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HONDA SPOKANE</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$119.95 → $147.93</a:t>
            </a:r>
            <a:endParaRPr lang="en-US" sz="1300" dirty="0"/>
          </a:p>
        </p:txBody>
      </p:sp>
      <p:sp>
        <p:nvSpPr>
          <p:cNvPr id="50" name="Shape 48"/>
          <p:cNvSpPr/>
          <p:nvPr/>
        </p:nvSpPr>
        <p:spPr>
          <a:xfrm>
            <a:off x="9098280" y="3127248"/>
            <a:ext cx="1244425"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+23.3%</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VOLVO</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$183.95 → $225.50</a:t>
            </a:r>
            <a:endParaRPr lang="en-US" sz="1300" dirty="0"/>
          </a:p>
        </p:txBody>
      </p:sp>
      <p:sp>
        <p:nvSpPr>
          <p:cNvPr id="56" name="Shape 54"/>
          <p:cNvSpPr/>
          <p:nvPr/>
        </p:nvSpPr>
        <p:spPr>
          <a:xfrm>
            <a:off x="9098280" y="3785616"/>
            <a:ext cx="1205012"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+22.5%</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NISSAN</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$160.07 → $180.14</a:t>
            </a:r>
            <a:endParaRPr lang="en-US" sz="1300" dirty="0"/>
          </a:p>
        </p:txBody>
      </p:sp>
      <p:sp>
        <p:nvSpPr>
          <p:cNvPr id="61" name="Shape 59"/>
          <p:cNvSpPr/>
          <p:nvPr/>
        </p:nvSpPr>
        <p:spPr>
          <a:xfrm>
            <a:off x="9098280" y="4443984"/>
            <a:ext cx="669135"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+12.5%</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$125.74 → $139.81</a:t>
            </a:r>
            <a:endParaRPr lang="en-US" sz="1300" dirty="0"/>
          </a:p>
        </p:txBody>
      </p:sp>
      <p:sp>
        <p:nvSpPr>
          <p:cNvPr id="67" name="Shape 65"/>
          <p:cNvSpPr/>
          <p:nvPr/>
        </p:nvSpPr>
        <p:spPr>
          <a:xfrm>
            <a:off x="9098280" y="5102352"/>
            <a:ext cx="596701"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+11.1%</a:t>
            </a:r>
            <a:endParaRPr lang="en-US" sz="1700" dirty="0"/>
          </a:p>
        </p:txBody>
      </p:sp>
      <p:sp>
        <p:nvSpPr>
          <p:cNvPr id="70" name="Shape 67"/>
          <p:cNvSpPr/>
          <p:nvPr/>
        </p:nvSpPr>
        <p:spPr>
          <a:xfrm>
            <a:off x="457200" y="6126480"/>
            <a:ext cx="11274552" cy="371856"/>
          </a:xfrm>
          <a:prstGeom prst="rect">
            <a:avLst/>
          </a:prstGeom>
          <a:solidFill>
            <a:srgbClr val="E6F6EE"/>
          </a:solidFill>
          <a:ln/>
        </p:spPr>
      </p:sp>
      <p:sp>
        <p:nvSpPr>
          <p:cNvPr id="71" name="Text 6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Five stores are top five in both.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Parts $ per RO</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+4.1% · 24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$281 → $363</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+28.9%</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LEXUS</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$193 → $240</a:t>
            </a:r>
            <a:endParaRPr lang="en-US" sz="1300" dirty="0"/>
          </a:p>
        </p:txBody>
      </p:sp>
      <p:sp>
        <p:nvSpPr>
          <p:cNvPr id="18" name="Shape 16"/>
          <p:cNvSpPr/>
          <p:nvPr/>
        </p:nvSpPr>
        <p:spPr>
          <a:xfrm>
            <a:off x="3383280" y="3127248"/>
            <a:ext cx="1095538"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+24.7%</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ST GEORGE</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$181 → $219</a:t>
            </a:r>
            <a:endParaRPr lang="en-US" sz="1300" dirty="0"/>
          </a:p>
        </p:txBody>
      </p:sp>
      <p:sp>
        <p:nvSpPr>
          <p:cNvPr id="24" name="Shape 22"/>
          <p:cNvSpPr/>
          <p:nvPr/>
        </p:nvSpPr>
        <p:spPr>
          <a:xfrm>
            <a:off x="3383280" y="3785616"/>
            <a:ext cx="930538"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+21.0%</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HONDA FLAGSTAFF</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$179 → $212</a:t>
            </a:r>
            <a:endParaRPr lang="en-US" sz="1300" dirty="0"/>
          </a:p>
        </p:txBody>
      </p:sp>
      <p:sp>
        <p:nvSpPr>
          <p:cNvPr id="29" name="Shape 27"/>
          <p:cNvSpPr/>
          <p:nvPr/>
        </p:nvSpPr>
        <p:spPr>
          <a:xfrm>
            <a:off x="3383280" y="4443984"/>
            <a:ext cx="829801"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+18.7%</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ST GEORGE</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$238 → $280</a:t>
            </a:r>
            <a:endParaRPr lang="en-US" sz="1300" dirty="0"/>
          </a:p>
        </p:txBody>
      </p:sp>
      <p:sp>
        <p:nvSpPr>
          <p:cNvPr id="35" name="Shape 33"/>
          <p:cNvSpPr/>
          <p:nvPr/>
        </p:nvSpPr>
        <p:spPr>
          <a:xfrm>
            <a:off x="3383280" y="5102352"/>
            <a:ext cx="781605"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+17.6%</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+3.8% · 24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$266 → $373</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+40.0%</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HONDA FLAGSTAFF</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$182 → $234</a:t>
            </a:r>
            <a:endParaRPr lang="en-US" sz="1300" dirty="0"/>
          </a:p>
        </p:txBody>
      </p:sp>
      <p:sp>
        <p:nvSpPr>
          <p:cNvPr id="50" name="Shape 48"/>
          <p:cNvSpPr/>
          <p:nvPr/>
        </p:nvSpPr>
        <p:spPr>
          <a:xfrm>
            <a:off x="9098280" y="3127248"/>
            <a:ext cx="919791"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+28.7%</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HENDERSON</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$793 → $988</a:t>
            </a:r>
            <a:endParaRPr lang="en-US" sz="1300" dirty="0"/>
          </a:p>
        </p:txBody>
      </p:sp>
      <p:sp>
        <p:nvSpPr>
          <p:cNvPr id="56" name="Shape 54"/>
          <p:cNvSpPr/>
          <p:nvPr/>
        </p:nvSpPr>
        <p:spPr>
          <a:xfrm>
            <a:off x="9098280" y="3785616"/>
            <a:ext cx="786898"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+24.6%</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NISSAN</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$234 → $285</a:t>
            </a:r>
            <a:endParaRPr lang="en-US" sz="1300" dirty="0"/>
          </a:p>
        </p:txBody>
      </p:sp>
      <p:sp>
        <p:nvSpPr>
          <p:cNvPr id="61" name="Shape 59"/>
          <p:cNvSpPr/>
          <p:nvPr/>
        </p:nvSpPr>
        <p:spPr>
          <a:xfrm>
            <a:off x="9098280" y="4443984"/>
            <a:ext cx="697812"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+21.8%</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ST GEORGE</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$197 → $234</a:t>
            </a:r>
            <a:endParaRPr lang="en-US" sz="1300" dirty="0"/>
          </a:p>
        </p:txBody>
      </p:sp>
      <p:sp>
        <p:nvSpPr>
          <p:cNvPr id="67" name="Shape 65"/>
          <p:cNvSpPr/>
          <p:nvPr/>
        </p:nvSpPr>
        <p:spPr>
          <a:xfrm>
            <a:off x="9098280" y="5102352"/>
            <a:ext cx="597749"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+18.7%</a:t>
            </a:r>
            <a:endParaRPr lang="en-US" sz="1700" dirty="0"/>
          </a:p>
        </p:txBody>
      </p:sp>
      <p:sp>
        <p:nvSpPr>
          <p:cNvPr id="70" name="Shape 67"/>
          <p:cNvSpPr/>
          <p:nvPr/>
        </p:nvSpPr>
        <p:spPr>
          <a:xfrm>
            <a:off x="457200" y="6126480"/>
            <a:ext cx="11274552" cy="371856"/>
          </a:xfrm>
          <a:prstGeom prst="rect">
            <a:avLst/>
          </a:prstGeom>
          <a:solidFill>
            <a:srgbClr val="E6F6EE"/>
          </a:solidFill>
          <a:ln/>
        </p:spPr>
      </p:sp>
      <p:sp>
        <p:nvSpPr>
          <p:cNvPr id="71" name="Text 6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Three stores are top five in both.</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Parts GP %</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+1.2 pts · 28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ACURA</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38.7% → 44.9%</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+6.1 pts</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NISSAN</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38.2% → 42.7%</a:t>
            </a:r>
            <a:endParaRPr lang="en-US" sz="1300" dirty="0"/>
          </a:p>
        </p:txBody>
      </p:sp>
      <p:sp>
        <p:nvSpPr>
          <p:cNvPr id="18" name="Shape 16"/>
          <p:cNvSpPr/>
          <p:nvPr/>
        </p:nvSpPr>
        <p:spPr>
          <a:xfrm>
            <a:off x="3383280" y="3127248"/>
            <a:ext cx="943982"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+4.5 pts</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31.0% → 34.8%</a:t>
            </a:r>
            <a:endParaRPr lang="en-US" sz="1300" dirty="0"/>
          </a:p>
        </p:txBody>
      </p:sp>
      <p:sp>
        <p:nvSpPr>
          <p:cNvPr id="24" name="Shape 22"/>
          <p:cNvSpPr/>
          <p:nvPr/>
        </p:nvSpPr>
        <p:spPr>
          <a:xfrm>
            <a:off x="3383280" y="3785616"/>
            <a:ext cx="796646"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+3.8 pts</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33.7% → 37.0%</a:t>
            </a:r>
            <a:endParaRPr lang="en-US" sz="1300" dirty="0"/>
          </a:p>
        </p:txBody>
      </p:sp>
      <p:sp>
        <p:nvSpPr>
          <p:cNvPr id="29" name="Shape 27"/>
          <p:cNvSpPr/>
          <p:nvPr/>
        </p:nvSpPr>
        <p:spPr>
          <a:xfrm>
            <a:off x="3383280" y="4443984"/>
            <a:ext cx="692935"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+3.3 pts</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RENO</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41.3% → 44.6%</a:t>
            </a:r>
            <a:endParaRPr lang="en-US" sz="1300" dirty="0"/>
          </a:p>
        </p:txBody>
      </p:sp>
      <p:sp>
        <p:nvSpPr>
          <p:cNvPr id="35" name="Shape 33"/>
          <p:cNvSpPr/>
          <p:nvPr/>
        </p:nvSpPr>
        <p:spPr>
          <a:xfrm>
            <a:off x="3383280" y="5102352"/>
            <a:ext cx="687685"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+3.2 pts</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+1.2 pts · 27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ACURA</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38.8% → 46.6%</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+7.7 pts</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38.2% → 42.4%</a:t>
            </a:r>
            <a:endParaRPr lang="en-US" sz="1300" dirty="0"/>
          </a:p>
        </p:txBody>
      </p:sp>
      <p:sp>
        <p:nvSpPr>
          <p:cNvPr id="50" name="Shape 48"/>
          <p:cNvSpPr/>
          <p:nvPr/>
        </p:nvSpPr>
        <p:spPr>
          <a:xfrm>
            <a:off x="9098280" y="3127248"/>
            <a:ext cx="686566"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+4.1 pts</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VW ST GEORGE</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39.7% → 43.8%</a:t>
            </a:r>
            <a:endParaRPr lang="en-US" sz="1300" dirty="0"/>
          </a:p>
        </p:txBody>
      </p:sp>
      <p:sp>
        <p:nvSpPr>
          <p:cNvPr id="56" name="Shape 54"/>
          <p:cNvSpPr/>
          <p:nvPr/>
        </p:nvSpPr>
        <p:spPr>
          <a:xfrm>
            <a:off x="9098280" y="3785616"/>
            <a:ext cx="670906"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+4.0 pts</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31.0% → 34.9%</a:t>
            </a:r>
            <a:endParaRPr lang="en-US" sz="1300" dirty="0"/>
          </a:p>
        </p:txBody>
      </p:sp>
      <p:sp>
        <p:nvSpPr>
          <p:cNvPr id="61" name="Shape 59"/>
          <p:cNvSpPr/>
          <p:nvPr/>
        </p:nvSpPr>
        <p:spPr>
          <a:xfrm>
            <a:off x="9098280" y="4443984"/>
            <a:ext cx="632324"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+3.8 pts</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LV</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39.3% → 42.6%</a:t>
            </a:r>
            <a:endParaRPr lang="en-US" sz="1300" dirty="0"/>
          </a:p>
        </p:txBody>
      </p:sp>
      <p:sp>
        <p:nvSpPr>
          <p:cNvPr id="67" name="Shape 65"/>
          <p:cNvSpPr/>
          <p:nvPr/>
        </p:nvSpPr>
        <p:spPr>
          <a:xfrm>
            <a:off x="9098280" y="5102352"/>
            <a:ext cx="546860"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+3.3 pts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2026-10-27T18:05:23Z</dcterms:created>
  <dcterms:modified xsi:type="dcterms:W3CDTF">2026-10-27T18:05:23Z</dcterms:modified>
</cp:coreProperties>
</file>