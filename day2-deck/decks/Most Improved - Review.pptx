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Lincoln makes three of six lists; three stores make two.Source: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Jan–Sep 2026 vs Jan–Sep 2025. Stores with under 50 CP ROs in the base period not ranked (none were excluded).
Review note: percent change rewards a store coming off a weak base. The before → after values are on the card so the room sees the starting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Lincoln and Kia St George each make three of six lists.Source: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Jul–Sep 2026 vs Jul–Sep 2025. Stores with under 50 CP ROs in the base period not ranked (none were excluded).
Review note: percent change rewards a store coming off a weak base. The before → after values are on the card so the room sees the starting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Lincoln has 6 top-3 finishes of 12. 8 stores make a top-3 list in both periods.Source: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Top-3 finishes counted across six measures in each of two periods (Jan-Sep and Jul-Sep), 12 lists in all. Top 8 stores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Lincoln leads both periods. Three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Kia LV leads Jan–Sep; LR Reno leads the last 90 days. Three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Hyundai St George leads both periods. Hyundai St George and Kia St George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Honda Spokane leads Jan–Sep; Lincoln leads the last 90 days. Five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Lincoln leads both periods. Three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Acura leads both periods. Acura and Subaru Prescott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January–September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vs Jan–Sep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+46.0%</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+45.3%</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+33.8%</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+13.6%</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+12.6%</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+10.5%</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+39.1%</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+31.3%</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+30.7%</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+20.1%</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+28.9%</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+21.0%</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+6.1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+3.8 pts</a:t>
            </a:r>
            <a:endParaRPr lang="en-US" sz="1800" dirty="0"/>
          </a:p>
        </p:txBody>
      </p:sp>
      <p:sp>
        <p:nvSpPr>
          <p:cNvPr id="104" name="Shape 101"/>
          <p:cNvSpPr/>
          <p:nvPr/>
        </p:nvSpPr>
        <p:spPr>
          <a:xfrm>
            <a:off x="457200" y="6126480"/>
            <a:ext cx="11274552" cy="371856"/>
          </a:xfrm>
          <a:prstGeom prst="rect">
            <a:avLst/>
          </a:prstGeom>
          <a:solidFill>
            <a:srgbClr val="E6F6EE"/>
          </a:solidFill>
          <a:ln/>
        </p:spPr>
      </p:sp>
      <p:sp>
        <p:nvSpPr>
          <p:cNvPr id="105"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make two.</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Last 90 Days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Jul–Sep vs Jul–Sep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+72.1%</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+41.5%</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+41.0%</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+2.0%</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+20.4%</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+19.2%</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+17.4%</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+3.1%</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+44.7%</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+41.1%</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+27.5%</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+2.5%</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+22.5%</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+3.8%</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+40.0%</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+24.6%</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+7.7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 pts</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Who Shows Up Most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292608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Top-3 finishes of 12</a:t>
            </a:r>
            <a:endParaRPr lang="en-US" sz="1400" dirty="0"/>
          </a:p>
        </p:txBody>
      </p:sp>
      <p:sp>
        <p:nvSpPr>
          <p:cNvPr id="7" name="Text 5"/>
          <p:cNvSpPr txBox="1"/>
          <p:nvPr/>
        </p:nvSpPr>
        <p:spPr>
          <a:xfrm>
            <a:off x="617220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8" name="Text 6"/>
          <p:cNvSpPr txBox="1"/>
          <p:nvPr/>
        </p:nvSpPr>
        <p:spPr>
          <a:xfrm>
            <a:off x="882396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Last 90 days</a:t>
            </a:r>
            <a:endParaRPr lang="en-US" sz="1400" dirty="0"/>
          </a:p>
        </p:txBody>
      </p:sp>
      <p:sp>
        <p:nvSpPr>
          <p:cNvPr id="9" name="Shape 7"/>
          <p:cNvSpPr/>
          <p:nvPr/>
        </p:nvSpPr>
        <p:spPr>
          <a:xfrm>
            <a:off x="621792" y="1792224"/>
            <a:ext cx="10945368" cy="484632"/>
          </a:xfrm>
          <a:prstGeom prst="rect">
            <a:avLst/>
          </a:prstGeom>
          <a:solidFill>
            <a:srgbClr val="F7F7F7"/>
          </a:solidFill>
          <a:ln/>
        </p:spPr>
      </p:sp>
      <p:sp>
        <p:nvSpPr>
          <p:cNvPr id="10" name="Text 8"/>
          <p:cNvSpPr txBox="1"/>
          <p:nvPr/>
        </p:nvSpPr>
        <p:spPr>
          <a:xfrm>
            <a:off x="713232" y="179222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Shape 9"/>
          <p:cNvSpPr/>
          <p:nvPr/>
        </p:nvSpPr>
        <p:spPr>
          <a:xfrm>
            <a:off x="2926080" y="1913382"/>
            <a:ext cx="2651760" cy="242316"/>
          </a:xfrm>
          <a:prstGeom prst="rect">
            <a:avLst/>
          </a:prstGeom>
          <a:solidFill>
            <a:srgbClr val="12A566"/>
          </a:solidFill>
          <a:ln/>
        </p:spPr>
      </p:sp>
      <p:sp>
        <p:nvSpPr>
          <p:cNvPr id="12" name="Text 10"/>
          <p:cNvSpPr txBox="1"/>
          <p:nvPr/>
        </p:nvSpPr>
        <p:spPr>
          <a:xfrm>
            <a:off x="5486400" y="179222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a:t>
            </a:r>
            <a:endParaRPr lang="en-US" sz="1600" dirty="0"/>
          </a:p>
        </p:txBody>
      </p:sp>
      <p:sp>
        <p:nvSpPr>
          <p:cNvPr id="13" name="Text 11"/>
          <p:cNvSpPr txBox="1"/>
          <p:nvPr/>
        </p:nvSpPr>
        <p:spPr>
          <a:xfrm>
            <a:off x="617220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4" name="Text 12"/>
          <p:cNvSpPr txBox="1"/>
          <p:nvPr/>
        </p:nvSpPr>
        <p:spPr>
          <a:xfrm>
            <a:off x="882396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5" name="Text 13"/>
          <p:cNvSpPr txBox="1"/>
          <p:nvPr/>
        </p:nvSpPr>
        <p:spPr>
          <a:xfrm>
            <a:off x="713232" y="227685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6" name="Shape 14"/>
          <p:cNvSpPr/>
          <p:nvPr/>
        </p:nvSpPr>
        <p:spPr>
          <a:xfrm>
            <a:off x="2926080" y="2398014"/>
            <a:ext cx="1767840" cy="242316"/>
          </a:xfrm>
          <a:prstGeom prst="rect">
            <a:avLst/>
          </a:prstGeom>
          <a:solidFill>
            <a:srgbClr val="12A566"/>
          </a:solidFill>
          <a:ln/>
        </p:spPr>
      </p:sp>
      <p:sp>
        <p:nvSpPr>
          <p:cNvPr id="17" name="Text 15"/>
          <p:cNvSpPr txBox="1"/>
          <p:nvPr/>
        </p:nvSpPr>
        <p:spPr>
          <a:xfrm>
            <a:off x="5486400" y="227685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a:t>
            </a:r>
            <a:endParaRPr lang="en-US" sz="1600" dirty="0"/>
          </a:p>
        </p:txBody>
      </p:sp>
      <p:sp>
        <p:nvSpPr>
          <p:cNvPr id="18" name="Text 16"/>
          <p:cNvSpPr txBox="1"/>
          <p:nvPr/>
        </p:nvSpPr>
        <p:spPr>
          <a:xfrm>
            <a:off x="617220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19" name="Text 17"/>
          <p:cNvSpPr txBox="1"/>
          <p:nvPr/>
        </p:nvSpPr>
        <p:spPr>
          <a:xfrm>
            <a:off x="882396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hours/RO, parts GP%</a:t>
            </a:r>
            <a:endParaRPr lang="en-US" sz="1300" dirty="0"/>
          </a:p>
        </p:txBody>
      </p:sp>
      <p:sp>
        <p:nvSpPr>
          <p:cNvPr id="20" name="Shape 18"/>
          <p:cNvSpPr/>
          <p:nvPr/>
        </p:nvSpPr>
        <p:spPr>
          <a:xfrm>
            <a:off x="621792" y="2761488"/>
            <a:ext cx="10945368" cy="484632"/>
          </a:xfrm>
          <a:prstGeom prst="rect">
            <a:avLst/>
          </a:prstGeom>
          <a:solidFill>
            <a:srgbClr val="F7F7F7"/>
          </a:solidFill>
          <a:ln/>
        </p:spPr>
      </p:sp>
      <p:sp>
        <p:nvSpPr>
          <p:cNvPr id="21" name="Text 19"/>
          <p:cNvSpPr txBox="1"/>
          <p:nvPr/>
        </p:nvSpPr>
        <p:spPr>
          <a:xfrm>
            <a:off x="713232" y="276148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2" name="Shape 20"/>
          <p:cNvSpPr/>
          <p:nvPr/>
        </p:nvSpPr>
        <p:spPr>
          <a:xfrm>
            <a:off x="2926080" y="2882646"/>
            <a:ext cx="1325880" cy="242316"/>
          </a:xfrm>
          <a:prstGeom prst="rect">
            <a:avLst/>
          </a:prstGeom>
          <a:solidFill>
            <a:srgbClr val="12A566"/>
          </a:solidFill>
          <a:ln/>
        </p:spPr>
      </p:sp>
      <p:sp>
        <p:nvSpPr>
          <p:cNvPr id="23" name="Text 21"/>
          <p:cNvSpPr txBox="1"/>
          <p:nvPr/>
        </p:nvSpPr>
        <p:spPr>
          <a:xfrm>
            <a:off x="5486400" y="276148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4" name="Text 22"/>
          <p:cNvSpPr txBox="1"/>
          <p:nvPr/>
        </p:nvSpPr>
        <p:spPr>
          <a:xfrm>
            <a:off x="617220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parts GP%</a:t>
            </a:r>
            <a:endParaRPr lang="en-US" sz="1300" dirty="0"/>
          </a:p>
        </p:txBody>
      </p:sp>
      <p:sp>
        <p:nvSpPr>
          <p:cNvPr id="25" name="Text 23"/>
          <p:cNvSpPr txBox="1"/>
          <p:nvPr/>
        </p:nvSpPr>
        <p:spPr>
          <a:xfrm>
            <a:off x="882396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a:t>
            </a:r>
            <a:endParaRPr lang="en-US" sz="1300" dirty="0"/>
          </a:p>
        </p:txBody>
      </p:sp>
      <p:sp>
        <p:nvSpPr>
          <p:cNvPr id="26" name="Text 24"/>
          <p:cNvSpPr txBox="1"/>
          <p:nvPr/>
        </p:nvSpPr>
        <p:spPr>
          <a:xfrm>
            <a:off x="713232" y="3246120"/>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Shape 25"/>
          <p:cNvSpPr/>
          <p:nvPr/>
        </p:nvSpPr>
        <p:spPr>
          <a:xfrm>
            <a:off x="2926080" y="3367278"/>
            <a:ext cx="1325880" cy="242316"/>
          </a:xfrm>
          <a:prstGeom prst="rect">
            <a:avLst/>
          </a:prstGeom>
          <a:solidFill>
            <a:srgbClr val="12A566"/>
          </a:solidFill>
          <a:ln/>
        </p:spPr>
      </p:sp>
      <p:sp>
        <p:nvSpPr>
          <p:cNvPr id="28" name="Text 26"/>
          <p:cNvSpPr txBox="1"/>
          <p:nvPr/>
        </p:nvSpPr>
        <p:spPr>
          <a:xfrm>
            <a:off x="5486400" y="3246120"/>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9" name="Text 27"/>
          <p:cNvSpPr txBox="1"/>
          <p:nvPr/>
        </p:nvSpPr>
        <p:spPr>
          <a:xfrm>
            <a:off x="617220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 parts $/RO</a:t>
            </a:r>
            <a:endParaRPr lang="en-US" sz="1300" dirty="0"/>
          </a:p>
        </p:txBody>
      </p:sp>
      <p:sp>
        <p:nvSpPr>
          <p:cNvPr id="30" name="Text 28"/>
          <p:cNvSpPr txBox="1"/>
          <p:nvPr/>
        </p:nvSpPr>
        <p:spPr>
          <a:xfrm>
            <a:off x="882396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31" name="Shape 29"/>
          <p:cNvSpPr/>
          <p:nvPr/>
        </p:nvSpPr>
        <p:spPr>
          <a:xfrm>
            <a:off x="621792" y="3730752"/>
            <a:ext cx="10945368" cy="484632"/>
          </a:xfrm>
          <a:prstGeom prst="rect">
            <a:avLst/>
          </a:prstGeom>
          <a:solidFill>
            <a:srgbClr val="F7F7F7"/>
          </a:solidFill>
          <a:ln/>
        </p:spPr>
      </p:sp>
      <p:sp>
        <p:nvSpPr>
          <p:cNvPr id="32" name="Text 30"/>
          <p:cNvSpPr txBox="1"/>
          <p:nvPr/>
        </p:nvSpPr>
        <p:spPr>
          <a:xfrm>
            <a:off x="713232" y="3730752"/>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Shape 31"/>
          <p:cNvSpPr/>
          <p:nvPr/>
        </p:nvSpPr>
        <p:spPr>
          <a:xfrm>
            <a:off x="2926080" y="3851910"/>
            <a:ext cx="883920" cy="242316"/>
          </a:xfrm>
          <a:prstGeom prst="rect">
            <a:avLst/>
          </a:prstGeom>
          <a:solidFill>
            <a:srgbClr val="12A566"/>
          </a:solidFill>
          <a:ln/>
        </p:spPr>
      </p:sp>
      <p:sp>
        <p:nvSpPr>
          <p:cNvPr id="34" name="Text 32"/>
          <p:cNvSpPr txBox="1"/>
          <p:nvPr/>
        </p:nvSpPr>
        <p:spPr>
          <a:xfrm>
            <a:off x="5486400" y="3730752"/>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617220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882396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7" name="Text 35"/>
          <p:cNvSpPr txBox="1"/>
          <p:nvPr/>
        </p:nvSpPr>
        <p:spPr>
          <a:xfrm>
            <a:off x="713232" y="421538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38" name="Shape 36"/>
          <p:cNvSpPr/>
          <p:nvPr/>
        </p:nvSpPr>
        <p:spPr>
          <a:xfrm>
            <a:off x="2926080" y="4336542"/>
            <a:ext cx="883920" cy="242316"/>
          </a:xfrm>
          <a:prstGeom prst="rect">
            <a:avLst/>
          </a:prstGeom>
          <a:solidFill>
            <a:srgbClr val="12A566"/>
          </a:solidFill>
          <a:ln/>
        </p:spPr>
      </p:sp>
      <p:sp>
        <p:nvSpPr>
          <p:cNvPr id="39" name="Text 37"/>
          <p:cNvSpPr txBox="1"/>
          <p:nvPr/>
        </p:nvSpPr>
        <p:spPr>
          <a:xfrm>
            <a:off x="5486400" y="421538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0" name="Text 38"/>
          <p:cNvSpPr txBox="1"/>
          <p:nvPr/>
        </p:nvSpPr>
        <p:spPr>
          <a:xfrm>
            <a:off x="617220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1" name="Text 39"/>
          <p:cNvSpPr txBox="1"/>
          <p:nvPr/>
        </p:nvSpPr>
        <p:spPr>
          <a:xfrm>
            <a:off x="882396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2" name="Shape 40"/>
          <p:cNvSpPr/>
          <p:nvPr/>
        </p:nvSpPr>
        <p:spPr>
          <a:xfrm>
            <a:off x="621792" y="4700016"/>
            <a:ext cx="10945368" cy="484632"/>
          </a:xfrm>
          <a:prstGeom prst="rect">
            <a:avLst/>
          </a:prstGeom>
          <a:solidFill>
            <a:srgbClr val="F7F7F7"/>
          </a:solidFill>
          <a:ln/>
        </p:spPr>
      </p:sp>
      <p:sp>
        <p:nvSpPr>
          <p:cNvPr id="43" name="Text 41"/>
          <p:cNvSpPr txBox="1"/>
          <p:nvPr/>
        </p:nvSpPr>
        <p:spPr>
          <a:xfrm>
            <a:off x="713232" y="470001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4" name="Shape 42"/>
          <p:cNvSpPr/>
          <p:nvPr/>
        </p:nvSpPr>
        <p:spPr>
          <a:xfrm>
            <a:off x="2926080" y="4821174"/>
            <a:ext cx="883920" cy="242316"/>
          </a:xfrm>
          <a:prstGeom prst="rect">
            <a:avLst/>
          </a:prstGeom>
          <a:solidFill>
            <a:srgbClr val="12A566"/>
          </a:solidFill>
          <a:ln/>
        </p:spPr>
      </p:sp>
      <p:sp>
        <p:nvSpPr>
          <p:cNvPr id="45" name="Text 43"/>
          <p:cNvSpPr txBox="1"/>
          <p:nvPr/>
        </p:nvSpPr>
        <p:spPr>
          <a:xfrm>
            <a:off x="5486400" y="470001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6" name="Text 44"/>
          <p:cNvSpPr txBox="1"/>
          <p:nvPr/>
        </p:nvSpPr>
        <p:spPr>
          <a:xfrm>
            <a:off x="617220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7" name="Text 45"/>
          <p:cNvSpPr txBox="1"/>
          <p:nvPr/>
        </p:nvSpPr>
        <p:spPr>
          <a:xfrm>
            <a:off x="882396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8" name="Text 46"/>
          <p:cNvSpPr txBox="1"/>
          <p:nvPr/>
        </p:nvSpPr>
        <p:spPr>
          <a:xfrm>
            <a:off x="713232" y="518464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9" name="Shape 47"/>
          <p:cNvSpPr/>
          <p:nvPr/>
        </p:nvSpPr>
        <p:spPr>
          <a:xfrm>
            <a:off x="2926080" y="5305806"/>
            <a:ext cx="883920" cy="242316"/>
          </a:xfrm>
          <a:prstGeom prst="rect">
            <a:avLst/>
          </a:prstGeom>
          <a:solidFill>
            <a:srgbClr val="12A566"/>
          </a:solidFill>
          <a:ln/>
        </p:spPr>
      </p:sp>
      <p:sp>
        <p:nvSpPr>
          <p:cNvPr id="50" name="Text 48"/>
          <p:cNvSpPr txBox="1"/>
          <p:nvPr/>
        </p:nvSpPr>
        <p:spPr>
          <a:xfrm>
            <a:off x="5486400" y="518464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51" name="Text 49"/>
          <p:cNvSpPr txBox="1"/>
          <p:nvPr/>
        </p:nvSpPr>
        <p:spPr>
          <a:xfrm>
            <a:off x="617220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2" name="Text 50"/>
          <p:cNvSpPr txBox="1"/>
          <p:nvPr/>
        </p:nvSpPr>
        <p:spPr>
          <a:xfrm>
            <a:off x="882396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4" name="Shape 51"/>
          <p:cNvSpPr/>
          <p:nvPr/>
        </p:nvSpPr>
        <p:spPr>
          <a:xfrm>
            <a:off x="457200" y="6126480"/>
            <a:ext cx="11274552" cy="371856"/>
          </a:xfrm>
          <a:prstGeom prst="rect">
            <a:avLst/>
          </a:prstGeom>
          <a:solidFill>
            <a:srgbClr val="E6F6EE"/>
          </a:solidFill>
          <a:ln/>
        </p:spPr>
      </p:sp>
      <p:sp>
        <p:nvSpPr>
          <p:cNvPr id="55" name="Text 5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8 stores make a top-3 list in both periods.</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Gross</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+6.4% · 27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+46.0%</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Shape 16"/>
          <p:cNvSpPr/>
          <p:nvPr/>
        </p:nvSpPr>
        <p:spPr>
          <a:xfrm>
            <a:off x="3383280" y="3127248"/>
            <a:ext cx="126095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4" name="Shape 22"/>
          <p:cNvSpPr/>
          <p:nvPr/>
        </p:nvSpPr>
        <p:spPr>
          <a:xfrm>
            <a:off x="3383280" y="3785616"/>
            <a:ext cx="939340"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+33.8%</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$657K → $862K</a:t>
            </a:r>
            <a:endParaRPr lang="en-US" sz="1300" dirty="0"/>
          </a:p>
        </p:txBody>
      </p:sp>
      <p:sp>
        <p:nvSpPr>
          <p:cNvPr id="29" name="Shape 27"/>
          <p:cNvSpPr/>
          <p:nvPr/>
        </p:nvSpPr>
        <p:spPr>
          <a:xfrm>
            <a:off x="3383280" y="4443984"/>
            <a:ext cx="862566"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+31.0%</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$1.63M → $2.10M</a:t>
            </a:r>
            <a:endParaRPr lang="en-US" sz="1300" dirty="0"/>
          </a:p>
        </p:txBody>
      </p:sp>
      <p:sp>
        <p:nvSpPr>
          <p:cNvPr id="35" name="Shape 33"/>
          <p:cNvSpPr/>
          <p:nvPr/>
        </p:nvSpPr>
        <p:spPr>
          <a:xfrm>
            <a:off x="3383280" y="5102352"/>
            <a:ext cx="80027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+8.4% · 29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+72.1%</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50" name="Shape 48"/>
          <p:cNvSpPr/>
          <p:nvPr/>
        </p:nvSpPr>
        <p:spPr>
          <a:xfrm>
            <a:off x="9098280" y="3127248"/>
            <a:ext cx="738338"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+41.5%</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56" name="Shape 54"/>
          <p:cNvSpPr/>
          <p:nvPr/>
        </p:nvSpPr>
        <p:spPr>
          <a:xfrm>
            <a:off x="9098280" y="3785616"/>
            <a:ext cx="72918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+41.0%</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$268K → $358K</a:t>
            </a:r>
            <a:endParaRPr lang="en-US" sz="1300" dirty="0"/>
          </a:p>
        </p:txBody>
      </p:sp>
      <p:sp>
        <p:nvSpPr>
          <p:cNvPr id="61" name="Shape 59"/>
          <p:cNvSpPr/>
          <p:nvPr/>
        </p:nvSpPr>
        <p:spPr>
          <a:xfrm>
            <a:off x="9098280" y="4443984"/>
            <a:ext cx="592350"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+33.3%</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$473K → $626K</a:t>
            </a:r>
            <a:endParaRPr lang="en-US" sz="1300" dirty="0"/>
          </a:p>
        </p:txBody>
      </p:sp>
      <p:sp>
        <p:nvSpPr>
          <p:cNvPr id="67" name="Shape 65"/>
          <p:cNvSpPr/>
          <p:nvPr/>
        </p:nvSpPr>
        <p:spPr>
          <a:xfrm>
            <a:off x="9098280" y="5102352"/>
            <a:ext cx="57469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+32.3%</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are top five in both.</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RO Count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+0.1% · 20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+13.6%</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18" name="Shape 16"/>
          <p:cNvSpPr/>
          <p:nvPr/>
        </p:nvSpPr>
        <p:spPr>
          <a:xfrm>
            <a:off x="3383280" y="3127248"/>
            <a:ext cx="118782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+12.6%</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24" name="Shape 22"/>
          <p:cNvSpPr/>
          <p:nvPr/>
        </p:nvSpPr>
        <p:spPr>
          <a:xfrm>
            <a:off x="3383280" y="3785616"/>
            <a:ext cx="9910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+10.5%</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5,042 → 5,553</a:t>
            </a:r>
            <a:endParaRPr lang="en-US" sz="1300" dirty="0"/>
          </a:p>
        </p:txBody>
      </p:sp>
      <p:sp>
        <p:nvSpPr>
          <p:cNvPr id="29" name="Shape 27"/>
          <p:cNvSpPr/>
          <p:nvPr/>
        </p:nvSpPr>
        <p:spPr>
          <a:xfrm>
            <a:off x="3383280" y="4443984"/>
            <a:ext cx="95029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+10.1%</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1,303 → 1,421</a:t>
            </a:r>
            <a:endParaRPr lang="en-US" sz="1300" dirty="0"/>
          </a:p>
        </p:txBody>
      </p:sp>
      <p:sp>
        <p:nvSpPr>
          <p:cNvPr id="35" name="Shape 33"/>
          <p:cNvSpPr/>
          <p:nvPr/>
        </p:nvSpPr>
        <p:spPr>
          <a:xfrm>
            <a:off x="3383280" y="5102352"/>
            <a:ext cx="84913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+9.0%</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+2.0% · 20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+20.4%</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50" name="Shape 48"/>
          <p:cNvSpPr/>
          <p:nvPr/>
        </p:nvSpPr>
        <p:spPr>
          <a:xfrm>
            <a:off x="9098280" y="3127248"/>
            <a:ext cx="1205264"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+19.2%</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56" name="Shape 54"/>
          <p:cNvSpPr/>
          <p:nvPr/>
        </p:nvSpPr>
        <p:spPr>
          <a:xfrm>
            <a:off x="9098280" y="3785616"/>
            <a:ext cx="1091864"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+17.4%</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AUDI HENDERSON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1,144 → 1,304</a:t>
            </a:r>
            <a:endParaRPr lang="en-US" sz="1300" dirty="0"/>
          </a:p>
        </p:txBody>
      </p:sp>
      <p:sp>
        <p:nvSpPr>
          <p:cNvPr id="61" name="Shape 59"/>
          <p:cNvSpPr/>
          <p:nvPr/>
        </p:nvSpPr>
        <p:spPr>
          <a:xfrm>
            <a:off x="9098280" y="4443984"/>
            <a:ext cx="87580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+13.9%</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2,374 → 2,700</a:t>
            </a:r>
            <a:endParaRPr lang="en-US" sz="1300" dirty="0"/>
          </a:p>
        </p:txBody>
      </p:sp>
      <p:sp>
        <p:nvSpPr>
          <p:cNvPr id="67" name="Shape 65"/>
          <p:cNvSpPr/>
          <p:nvPr/>
        </p:nvSpPr>
        <p:spPr>
          <a:xfrm>
            <a:off x="9098280" y="5102352"/>
            <a:ext cx="859902"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+13.7%</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are top five in both.</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Hours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+3.6% · 26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+39.1%</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18" name="Shape 16"/>
          <p:cNvSpPr/>
          <p:nvPr/>
        </p:nvSpPr>
        <p:spPr>
          <a:xfrm>
            <a:off x="3383280" y="3127248"/>
            <a:ext cx="102382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24" name="Shape 22"/>
          <p:cNvSpPr/>
          <p:nvPr/>
        </p:nvSpPr>
        <p:spPr>
          <a:xfrm>
            <a:off x="3383280" y="3785616"/>
            <a:ext cx="1005399"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+30.7%</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 → 1.60</a:t>
            </a:r>
            <a:endParaRPr lang="en-US" sz="1300" dirty="0"/>
          </a:p>
        </p:txBody>
      </p:sp>
      <p:sp>
        <p:nvSpPr>
          <p:cNvPr id="29" name="Shape 27"/>
          <p:cNvSpPr/>
          <p:nvPr/>
        </p:nvSpPr>
        <p:spPr>
          <a:xfrm>
            <a:off x="3383280" y="4443984"/>
            <a:ext cx="6405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+19.5%</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1.32 → 1.57</a:t>
            </a:r>
            <a:endParaRPr lang="en-US" sz="1300" dirty="0"/>
          </a:p>
        </p:txBody>
      </p:sp>
      <p:sp>
        <p:nvSpPr>
          <p:cNvPr id="35" name="Shape 33"/>
          <p:cNvSpPr/>
          <p:nvPr/>
        </p:nvSpPr>
        <p:spPr>
          <a:xfrm>
            <a:off x="3383280" y="5102352"/>
            <a:ext cx="612671"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+3.1% · 23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+44.7%</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Shape 48"/>
          <p:cNvSpPr/>
          <p:nvPr/>
        </p:nvSpPr>
        <p:spPr>
          <a:xfrm>
            <a:off x="9098280" y="3127248"/>
            <a:ext cx="1177847"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+41.1%</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6" name="Shape 54"/>
          <p:cNvSpPr/>
          <p:nvPr/>
        </p:nvSpPr>
        <p:spPr>
          <a:xfrm>
            <a:off x="9098280" y="3785616"/>
            <a:ext cx="78850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+27.5%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3.39 → 4.07</a:t>
            </a:r>
            <a:endParaRPr lang="en-US" sz="1300" dirty="0"/>
          </a:p>
        </p:txBody>
      </p:sp>
      <p:sp>
        <p:nvSpPr>
          <p:cNvPr id="61" name="Shape 59"/>
          <p:cNvSpPr/>
          <p:nvPr/>
        </p:nvSpPr>
        <p:spPr>
          <a:xfrm>
            <a:off x="9098280" y="4443984"/>
            <a:ext cx="576271"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2.07 → 2.44</a:t>
            </a:r>
            <a:endParaRPr lang="en-US" sz="1300" dirty="0"/>
          </a:p>
        </p:txBody>
      </p:sp>
      <p:sp>
        <p:nvSpPr>
          <p:cNvPr id="67" name="Shape 65"/>
          <p:cNvSpPr/>
          <p:nvPr/>
        </p:nvSpPr>
        <p:spPr>
          <a:xfrm>
            <a:off x="9098280" y="5102352"/>
            <a:ext cx="50434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ELR</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+2.2% · 19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18" name="Shape 16"/>
          <p:cNvSpPr/>
          <p:nvPr/>
        </p:nvSpPr>
        <p:spPr>
          <a:xfrm>
            <a:off x="3383280" y="3127248"/>
            <a:ext cx="1246113"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24" name="Shape 22"/>
          <p:cNvSpPr/>
          <p:nvPr/>
        </p:nvSpPr>
        <p:spPr>
          <a:xfrm>
            <a:off x="3383280" y="3785616"/>
            <a:ext cx="1123401"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$153.87 → $175.90</a:t>
            </a:r>
            <a:endParaRPr lang="en-US" sz="1300" dirty="0"/>
          </a:p>
        </p:txBody>
      </p:sp>
      <p:sp>
        <p:nvSpPr>
          <p:cNvPr id="29" name="Shape 27"/>
          <p:cNvSpPr/>
          <p:nvPr/>
        </p:nvSpPr>
        <p:spPr>
          <a:xfrm>
            <a:off x="3383280" y="4443984"/>
            <a:ext cx="7990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+14.3%</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$122.25 → $139.13</a:t>
            </a:r>
            <a:endParaRPr lang="en-US" sz="1300" dirty="0"/>
          </a:p>
        </p:txBody>
      </p:sp>
      <p:sp>
        <p:nvSpPr>
          <p:cNvPr id="35" name="Shape 33"/>
          <p:cNvSpPr/>
          <p:nvPr/>
        </p:nvSpPr>
        <p:spPr>
          <a:xfrm>
            <a:off x="3383280" y="5102352"/>
            <a:ext cx="770788"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+2.5% · 22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+23.9%</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50" name="Shape 48"/>
          <p:cNvSpPr/>
          <p:nvPr/>
        </p:nvSpPr>
        <p:spPr>
          <a:xfrm>
            <a:off x="9098280" y="3127248"/>
            <a:ext cx="1244425"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+23.3%</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56" name="Shape 54"/>
          <p:cNvSpPr/>
          <p:nvPr/>
        </p:nvSpPr>
        <p:spPr>
          <a:xfrm>
            <a:off x="9098280" y="3785616"/>
            <a:ext cx="1205012"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$160.07 → $180.14</a:t>
            </a:r>
            <a:endParaRPr lang="en-US" sz="1300" dirty="0"/>
          </a:p>
        </p:txBody>
      </p:sp>
      <p:sp>
        <p:nvSpPr>
          <p:cNvPr id="61" name="Shape 59"/>
          <p:cNvSpPr/>
          <p:nvPr/>
        </p:nvSpPr>
        <p:spPr>
          <a:xfrm>
            <a:off x="9098280" y="4443984"/>
            <a:ext cx="669135"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+12.5%</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$125.74 → $139.81</a:t>
            </a:r>
            <a:endParaRPr lang="en-US" sz="1300" dirty="0"/>
          </a:p>
        </p:txBody>
      </p:sp>
      <p:sp>
        <p:nvSpPr>
          <p:cNvPr id="67" name="Shape 65"/>
          <p:cNvSpPr/>
          <p:nvPr/>
        </p:nvSpPr>
        <p:spPr>
          <a:xfrm>
            <a:off x="9098280" y="5102352"/>
            <a:ext cx="596701"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+11.1%</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Five stores are top five in both.</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+4.1% · 24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18" name="Shape 16"/>
          <p:cNvSpPr/>
          <p:nvPr/>
        </p:nvSpPr>
        <p:spPr>
          <a:xfrm>
            <a:off x="3383280" y="3127248"/>
            <a:ext cx="109553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+24.7%</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24" name="Shape 22"/>
          <p:cNvSpPr/>
          <p:nvPr/>
        </p:nvSpPr>
        <p:spPr>
          <a:xfrm>
            <a:off x="3383280" y="3785616"/>
            <a:ext cx="9305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+21.0%</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$179 → $212</a:t>
            </a:r>
            <a:endParaRPr lang="en-US" sz="1300" dirty="0"/>
          </a:p>
        </p:txBody>
      </p:sp>
      <p:sp>
        <p:nvSpPr>
          <p:cNvPr id="29" name="Shape 27"/>
          <p:cNvSpPr/>
          <p:nvPr/>
        </p:nvSpPr>
        <p:spPr>
          <a:xfrm>
            <a:off x="3383280" y="4443984"/>
            <a:ext cx="829801"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$238 → $280</a:t>
            </a:r>
            <a:endParaRPr lang="en-US" sz="1300" dirty="0"/>
          </a:p>
        </p:txBody>
      </p:sp>
      <p:sp>
        <p:nvSpPr>
          <p:cNvPr id="35" name="Shape 33"/>
          <p:cNvSpPr/>
          <p:nvPr/>
        </p:nvSpPr>
        <p:spPr>
          <a:xfrm>
            <a:off x="3383280" y="5102352"/>
            <a:ext cx="78160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+3.8% · 24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+40.0%</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50" name="Shape 48"/>
          <p:cNvSpPr/>
          <p:nvPr/>
        </p:nvSpPr>
        <p:spPr>
          <a:xfrm>
            <a:off x="9098280" y="3127248"/>
            <a:ext cx="919791"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+28.7%</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HENDERSON</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56" name="Shape 54"/>
          <p:cNvSpPr/>
          <p:nvPr/>
        </p:nvSpPr>
        <p:spPr>
          <a:xfrm>
            <a:off x="9098280" y="3785616"/>
            <a:ext cx="786898"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+24.6%</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$234 → $285</a:t>
            </a:r>
            <a:endParaRPr lang="en-US" sz="1300" dirty="0"/>
          </a:p>
        </p:txBody>
      </p:sp>
      <p:sp>
        <p:nvSpPr>
          <p:cNvPr id="61" name="Shape 59"/>
          <p:cNvSpPr/>
          <p:nvPr/>
        </p:nvSpPr>
        <p:spPr>
          <a:xfrm>
            <a:off x="9098280" y="4443984"/>
            <a:ext cx="69781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+21.8%</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$197 → $234</a:t>
            </a:r>
            <a:endParaRPr lang="en-US" sz="1300" dirty="0"/>
          </a:p>
        </p:txBody>
      </p:sp>
      <p:sp>
        <p:nvSpPr>
          <p:cNvPr id="67" name="Shape 65"/>
          <p:cNvSpPr/>
          <p:nvPr/>
        </p:nvSpPr>
        <p:spPr>
          <a:xfrm>
            <a:off x="9098280" y="5102352"/>
            <a:ext cx="597749"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are top five in both.</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GP %</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28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+6.1 pts</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18" name="Shape 16"/>
          <p:cNvSpPr/>
          <p:nvPr/>
        </p:nvSpPr>
        <p:spPr>
          <a:xfrm>
            <a:off x="3383280" y="3127248"/>
            <a:ext cx="943982"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 pts</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24" name="Shape 22"/>
          <p:cNvSpPr/>
          <p:nvPr/>
        </p:nvSpPr>
        <p:spPr>
          <a:xfrm>
            <a:off x="3383280" y="3785616"/>
            <a:ext cx="796646"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33.7% → 37.0%</a:t>
            </a:r>
            <a:endParaRPr lang="en-US" sz="1300" dirty="0"/>
          </a:p>
        </p:txBody>
      </p:sp>
      <p:sp>
        <p:nvSpPr>
          <p:cNvPr id="29" name="Shape 27"/>
          <p:cNvSpPr/>
          <p:nvPr/>
        </p:nvSpPr>
        <p:spPr>
          <a:xfrm>
            <a:off x="3383280" y="4443984"/>
            <a:ext cx="692935"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41.3% → 44.6%</a:t>
            </a:r>
            <a:endParaRPr lang="en-US" sz="1300" dirty="0"/>
          </a:p>
        </p:txBody>
      </p:sp>
      <p:sp>
        <p:nvSpPr>
          <p:cNvPr id="35" name="Shape 33"/>
          <p:cNvSpPr/>
          <p:nvPr/>
        </p:nvSpPr>
        <p:spPr>
          <a:xfrm>
            <a:off x="3383280" y="5102352"/>
            <a:ext cx="68768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 pts</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27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+7.7 pts</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50" name="Shape 48"/>
          <p:cNvSpPr/>
          <p:nvPr/>
        </p:nvSpPr>
        <p:spPr>
          <a:xfrm>
            <a:off x="9098280" y="3127248"/>
            <a:ext cx="686566"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 pts</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56" name="Shape 54"/>
          <p:cNvSpPr/>
          <p:nvPr/>
        </p:nvSpPr>
        <p:spPr>
          <a:xfrm>
            <a:off x="9098280" y="3785616"/>
            <a:ext cx="670906"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 pts</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34.9%</a:t>
            </a:r>
            <a:endParaRPr lang="en-US" sz="1300" dirty="0"/>
          </a:p>
        </p:txBody>
      </p:sp>
      <p:sp>
        <p:nvSpPr>
          <p:cNvPr id="61" name="Shape 59"/>
          <p:cNvSpPr/>
          <p:nvPr/>
        </p:nvSpPr>
        <p:spPr>
          <a:xfrm>
            <a:off x="9098280" y="4443984"/>
            <a:ext cx="632324"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39.3% → 42.6%</a:t>
            </a:r>
            <a:endParaRPr lang="en-US" sz="1300" dirty="0"/>
          </a:p>
        </p:txBody>
      </p:sp>
      <p:sp>
        <p:nvSpPr>
          <p:cNvPr id="67" name="Shape 65"/>
          <p:cNvSpPr/>
          <p:nvPr/>
        </p:nvSpPr>
        <p:spPr>
          <a:xfrm>
            <a:off x="9098280" y="5102352"/>
            <a:ext cx="546860"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2026-10-27T21:57:49Z</dcterms:created>
  <dcterms:modified xsi:type="dcterms:W3CDTF">2026-10-27T21:57:49Z</dcterms:modified>
</cp:coreProperties>
</file>