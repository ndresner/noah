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25 of 33 stores collect less labor margin on internal work than on customer pay; the group is −2.7 pts. Widest: Audi Reno (−20.0 pts), LR LV (−13.9 pts) and LR Henderson (−12.2 pts).Source: Qlik - Closed Repair Orders. Jan-Sep 2026 by close month. Same-store, INEOS excluded (opened 2026). GMC Prescott body shop labor types excluded. Gap = internal GP% minus customer-pay GP%, in points. Green: internal at or above the store's own customer-pay rate; red: below. Dashed line: the group gap (−2.7 pts). At or above customer pay: Cadillac, Chevy GMC Bullhead, GMC Prescott, Hyundai Prescott, Hyundai St George, Kia LV, Kia St George and VW St George. A gap can be a policy (internal detail, used-car recon pricing) rather than a miss; confirm with the store before calling it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28 of 33 stores collect less parts margin on internal work than on customer pay; the group is −4.2 pts. Widest: LR LV (−17.6 pts), Honda Flagstaff (−15.4 pts) and Audi Reno (−14.7 pts).Source: Qlik - Closed Repair Orders. Jan-Sep 2026 by close month. Same-store, INEOS excluded (opened 2026). GMC Prescott body shop labor types excluded. Gap = internal GP% minus customer-pay GP%, in points. Green: internal at or above the store's own customer-pay rate; red: below. Dashed line: the group gap (−4.2 pts). At or above customer pay: Chevy LV, Honda Henderson, Subaru Prescott, Toyota Henderson and Volvo. A gap can be a policy (internal detail, used-car recon pricing) rather than a miss; confirm with the store before calling it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vs Customer-Pay Labor Gross Profit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16736"/>
            <a:ext cx="10872216" cy="38404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16736"/>
            <a:ext cx="54864" cy="384048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41248" y="1316736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CUSTOMER PAY 80.8%      INTERNAL 78.1%      GAP </a:t>
            </a:r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−2.7 pts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gap = internal minus own CP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715768" y="1773936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40480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407408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974336" y="1773936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GAP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249778" y="2103120"/>
            <a:ext cx="10973" cy="3822192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" name="Shape 12"/>
          <p:cNvSpPr/>
          <p:nvPr/>
        </p:nvSpPr>
        <p:spPr>
          <a:xfrm>
            <a:off x="3183188" y="2103120"/>
            <a:ext cx="0" cy="3822192"/>
          </a:xfrm>
          <a:prstGeom prst="line">
            <a:avLst/>
          </a:prstGeom>
          <a:noFill/>
          <a:ln w="12700">
            <a:solidFill>
              <a:srgbClr val="0B2C4A"/>
            </a:solidFill>
            <a:prstDash val="dash"/>
          </a:ln>
        </p:spPr>
      </p:sp>
      <p:sp>
        <p:nvSpPr>
          <p:cNvPr id="15" name="Text 13"/>
          <p:cNvSpPr txBox="1"/>
          <p:nvPr/>
        </p:nvSpPr>
        <p:spPr>
          <a:xfrm>
            <a:off x="8266176" y="1773936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390888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9957816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24744" y="1773936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GAP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800186" y="2103120"/>
            <a:ext cx="10973" cy="3597357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20" name="Shape 18"/>
          <p:cNvSpPr/>
          <p:nvPr/>
        </p:nvSpPr>
        <p:spPr>
          <a:xfrm>
            <a:off x="8733596" y="2103120"/>
            <a:ext cx="0" cy="3597357"/>
          </a:xfrm>
          <a:prstGeom prst="line">
            <a:avLst/>
          </a:prstGeom>
          <a:noFill/>
          <a:ln w="12700">
            <a:solidFill>
              <a:srgbClr val="0B2C4A"/>
            </a:solidFill>
            <a:prstDash val="dash"/>
          </a:ln>
        </p:spPr>
      </p:sp>
      <p:sp>
        <p:nvSpPr>
          <p:cNvPr id="21" name="Text 19"/>
          <p:cNvSpPr txBox="1"/>
          <p:nvPr/>
        </p:nvSpPr>
        <p:spPr>
          <a:xfrm>
            <a:off x="658368" y="210312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255264" y="2153708"/>
            <a:ext cx="130113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840480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77.3%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4407408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82.1%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974336" y="210312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+4.8 pts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85216" y="2327955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327955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255264" y="2378543"/>
            <a:ext cx="129665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840480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67.7%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407408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72.5%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4974336" y="2327955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+4.8 pts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255279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255264" y="2603377"/>
            <a:ext cx="104292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840480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79.4%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4407408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83.3%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4974336" y="255279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85216" y="277762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58368" y="277762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3255264" y="2828212"/>
            <a:ext cx="96492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3840480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72.2%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4407408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75.8%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4974336" y="277762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+3.6 pts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00245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3255264" y="3053047"/>
            <a:ext cx="77376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3840480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78.7%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4407408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81.5%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4974336" y="300245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+2.9 pts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585216" y="322729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22729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3255264" y="3277882"/>
            <a:ext cx="65728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840480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82.9%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4407408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85.3%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4974336" y="322729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+2.4 pts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658368" y="345212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3255264" y="3502717"/>
            <a:ext cx="65019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3840480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79.5%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4407408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81.9%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4974336" y="345212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+2.4 pts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585216" y="367696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58368" y="367696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61" name="Shape 59"/>
          <p:cNvSpPr/>
          <p:nvPr/>
        </p:nvSpPr>
        <p:spPr>
          <a:xfrm>
            <a:off x="3255264" y="3727552"/>
            <a:ext cx="23117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3840480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79.4%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4407408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80.2%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4974336" y="367696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+0.9 pts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658368" y="390179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66" name="Shape 64"/>
          <p:cNvSpPr/>
          <p:nvPr/>
        </p:nvSpPr>
        <p:spPr>
          <a:xfrm>
            <a:off x="3253849" y="3952386"/>
            <a:ext cx="914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3840480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79.8%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4407408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79.8%</a:t>
            </a:r>
            <a:endParaRPr lang="en-US" sz="1300" dirty="0"/>
          </a:p>
        </p:txBody>
      </p:sp>
      <p:sp>
        <p:nvSpPr>
          <p:cNvPr id="69" name="Text 67"/>
          <p:cNvSpPr txBox="1"/>
          <p:nvPr/>
        </p:nvSpPr>
        <p:spPr>
          <a:xfrm>
            <a:off x="4974336" y="390179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−0.1 pts</a:t>
            </a:r>
            <a:endParaRPr lang="en-US" sz="1300" dirty="0"/>
          </a:p>
        </p:txBody>
      </p:sp>
      <p:sp>
        <p:nvSpPr>
          <p:cNvPr id="70" name="Shape 68"/>
          <p:cNvSpPr/>
          <p:nvPr/>
        </p:nvSpPr>
        <p:spPr>
          <a:xfrm>
            <a:off x="585216" y="412663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658368" y="412663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72" name="Shape 70"/>
          <p:cNvSpPr/>
          <p:nvPr/>
        </p:nvSpPr>
        <p:spPr>
          <a:xfrm>
            <a:off x="3250197" y="4177221"/>
            <a:ext cx="914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3840480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86.1%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4407408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85.9%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4974336" y="412663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−0.2 pts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658368" y="435146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77" name="Shape 75"/>
          <p:cNvSpPr/>
          <p:nvPr/>
        </p:nvSpPr>
        <p:spPr>
          <a:xfrm>
            <a:off x="3245953" y="4402056"/>
            <a:ext cx="9311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3840480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83.2%</a:t>
            </a:r>
            <a:endParaRPr lang="en-US" sz="1300" dirty="0"/>
          </a:p>
        </p:txBody>
      </p:sp>
      <p:sp>
        <p:nvSpPr>
          <p:cNvPr id="79" name="Text 77"/>
          <p:cNvSpPr txBox="1"/>
          <p:nvPr/>
        </p:nvSpPr>
        <p:spPr>
          <a:xfrm>
            <a:off x="4407408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82.8%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4974336" y="435146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−0.3 pts</a:t>
            </a:r>
            <a:endParaRPr lang="en-US" sz="1300" dirty="0"/>
          </a:p>
        </p:txBody>
      </p:sp>
      <p:sp>
        <p:nvSpPr>
          <p:cNvPr id="81" name="Shape 79"/>
          <p:cNvSpPr/>
          <p:nvPr/>
        </p:nvSpPr>
        <p:spPr>
          <a:xfrm>
            <a:off x="585216" y="457630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658368" y="457630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3244900" y="4626891"/>
            <a:ext cx="1036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3840480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74.1%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4407408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73.8%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4974336" y="457630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−0.4 pts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658368" y="480113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88" name="Shape 86"/>
          <p:cNvSpPr/>
          <p:nvPr/>
        </p:nvSpPr>
        <p:spPr>
          <a:xfrm>
            <a:off x="3221879" y="4851726"/>
            <a:ext cx="33385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3840480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79.4%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4407408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78.2%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4974336" y="480113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−1.2 pts</a:t>
            </a:r>
            <a:endParaRPr lang="en-US" sz="1300" dirty="0"/>
          </a:p>
        </p:txBody>
      </p:sp>
      <p:sp>
        <p:nvSpPr>
          <p:cNvPr id="92" name="Shape 90"/>
          <p:cNvSpPr/>
          <p:nvPr/>
        </p:nvSpPr>
        <p:spPr>
          <a:xfrm>
            <a:off x="585216" y="502597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658368" y="502597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94" name="Shape 92"/>
          <p:cNvSpPr/>
          <p:nvPr/>
        </p:nvSpPr>
        <p:spPr>
          <a:xfrm>
            <a:off x="3198494" y="5076561"/>
            <a:ext cx="56770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3840480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79.3%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4407408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77.2%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4974336" y="502597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−2.1 pts</a:t>
            </a:r>
            <a:endParaRPr lang="en-US" sz="1300" dirty="0"/>
          </a:p>
        </p:txBody>
      </p:sp>
      <p:sp>
        <p:nvSpPr>
          <p:cNvPr id="98" name="Text 96"/>
          <p:cNvSpPr txBox="1"/>
          <p:nvPr/>
        </p:nvSpPr>
        <p:spPr>
          <a:xfrm>
            <a:off x="658368" y="525080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99" name="Shape 97"/>
          <p:cNvSpPr/>
          <p:nvPr/>
        </p:nvSpPr>
        <p:spPr>
          <a:xfrm>
            <a:off x="3198327" y="5301395"/>
            <a:ext cx="56937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3840480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78.5%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4407408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76.4%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4974336" y="525080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−2.1 pts</a:t>
            </a:r>
            <a:endParaRPr lang="en-US" sz="1300" dirty="0"/>
          </a:p>
        </p:txBody>
      </p:sp>
      <p:sp>
        <p:nvSpPr>
          <p:cNvPr id="103" name="Shape 101"/>
          <p:cNvSpPr/>
          <p:nvPr/>
        </p:nvSpPr>
        <p:spPr>
          <a:xfrm>
            <a:off x="585216" y="5475642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658368" y="5475642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05" name="Shape 103"/>
          <p:cNvSpPr/>
          <p:nvPr/>
        </p:nvSpPr>
        <p:spPr>
          <a:xfrm>
            <a:off x="3197693" y="5526230"/>
            <a:ext cx="57571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3840480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84.4%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4407408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82.3%</a:t>
            </a:r>
            <a:endParaRPr lang="en-US" sz="1300" dirty="0"/>
          </a:p>
        </p:txBody>
      </p:sp>
      <p:sp>
        <p:nvSpPr>
          <p:cNvPr id="108" name="Text 106"/>
          <p:cNvSpPr txBox="1"/>
          <p:nvPr/>
        </p:nvSpPr>
        <p:spPr>
          <a:xfrm>
            <a:off x="4974336" y="5475642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−2.1 pts</a:t>
            </a:r>
            <a:endParaRPr lang="en-US" sz="1300" dirty="0"/>
          </a:p>
        </p:txBody>
      </p:sp>
      <p:sp>
        <p:nvSpPr>
          <p:cNvPr id="109" name="Text 107"/>
          <p:cNvSpPr txBox="1"/>
          <p:nvPr/>
        </p:nvSpPr>
        <p:spPr>
          <a:xfrm>
            <a:off x="658368" y="5700477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110" name="Shape 108"/>
          <p:cNvSpPr/>
          <p:nvPr/>
        </p:nvSpPr>
        <p:spPr>
          <a:xfrm>
            <a:off x="3195970" y="5751065"/>
            <a:ext cx="5929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1" name="Text 109"/>
          <p:cNvSpPr txBox="1"/>
          <p:nvPr/>
        </p:nvSpPr>
        <p:spPr>
          <a:xfrm>
            <a:off x="3840480" y="5700477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73.9%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4407408" y="5700477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71.7%</a:t>
            </a:r>
            <a:endParaRPr lang="en-US" sz="1300" dirty="0"/>
          </a:p>
        </p:txBody>
      </p:sp>
      <p:sp>
        <p:nvSpPr>
          <p:cNvPr id="113" name="Text 111"/>
          <p:cNvSpPr txBox="1"/>
          <p:nvPr/>
        </p:nvSpPr>
        <p:spPr>
          <a:xfrm>
            <a:off x="4974336" y="5700477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−2.2 pts</a:t>
            </a:r>
            <a:endParaRPr lang="en-US" sz="1300" dirty="0"/>
          </a:p>
        </p:txBody>
      </p:sp>
      <p:sp>
        <p:nvSpPr>
          <p:cNvPr id="114" name="Text 112"/>
          <p:cNvSpPr txBox="1"/>
          <p:nvPr/>
        </p:nvSpPr>
        <p:spPr>
          <a:xfrm>
            <a:off x="6208776" y="210312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115" name="Shape 113"/>
          <p:cNvSpPr/>
          <p:nvPr/>
        </p:nvSpPr>
        <p:spPr>
          <a:xfrm>
            <a:off x="8734848" y="2153708"/>
            <a:ext cx="7082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6" name="Text 114"/>
          <p:cNvSpPr txBox="1"/>
          <p:nvPr/>
        </p:nvSpPr>
        <p:spPr>
          <a:xfrm>
            <a:off x="9390888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78.6%</a:t>
            </a:r>
            <a:endParaRPr lang="en-US" sz="1300" dirty="0"/>
          </a:p>
        </p:txBody>
      </p:sp>
      <p:sp>
        <p:nvSpPr>
          <p:cNvPr id="117" name="Text 115"/>
          <p:cNvSpPr txBox="1"/>
          <p:nvPr/>
        </p:nvSpPr>
        <p:spPr>
          <a:xfrm>
            <a:off x="9957816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76.0%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10524744" y="210312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−2.6 pts</a:t>
            </a:r>
            <a:endParaRPr lang="en-US" sz="1300" dirty="0"/>
          </a:p>
        </p:txBody>
      </p:sp>
      <p:sp>
        <p:nvSpPr>
          <p:cNvPr id="119" name="Shape 117"/>
          <p:cNvSpPr/>
          <p:nvPr/>
        </p:nvSpPr>
        <p:spPr>
          <a:xfrm>
            <a:off x="6135624" y="2327955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6208776" y="2327955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121" name="Shape 119"/>
          <p:cNvSpPr/>
          <p:nvPr/>
        </p:nvSpPr>
        <p:spPr>
          <a:xfrm>
            <a:off x="8730906" y="2378543"/>
            <a:ext cx="74766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9390888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85.0%</a:t>
            </a:r>
            <a:endParaRPr lang="en-US" sz="1300" dirty="0"/>
          </a:p>
        </p:txBody>
      </p:sp>
      <p:sp>
        <p:nvSpPr>
          <p:cNvPr id="123" name="Text 121"/>
          <p:cNvSpPr txBox="1"/>
          <p:nvPr/>
        </p:nvSpPr>
        <p:spPr>
          <a:xfrm>
            <a:off x="9957816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82.2%</a:t>
            </a:r>
            <a:endParaRPr lang="en-US" sz="1300" dirty="0"/>
          </a:p>
        </p:txBody>
      </p:sp>
      <p:sp>
        <p:nvSpPr>
          <p:cNvPr id="124" name="Text 122"/>
          <p:cNvSpPr txBox="1"/>
          <p:nvPr/>
        </p:nvSpPr>
        <p:spPr>
          <a:xfrm>
            <a:off x="10524744" y="2327955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−2.8 pts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6208776" y="255279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26" name="Shape 124"/>
          <p:cNvSpPr/>
          <p:nvPr/>
        </p:nvSpPr>
        <p:spPr>
          <a:xfrm>
            <a:off x="8716961" y="2603377"/>
            <a:ext cx="88711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7" name="Text 125"/>
          <p:cNvSpPr txBox="1"/>
          <p:nvPr/>
        </p:nvSpPr>
        <p:spPr>
          <a:xfrm>
            <a:off x="9390888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75.7%</a:t>
            </a:r>
            <a:endParaRPr lang="en-US" sz="1300" dirty="0"/>
          </a:p>
        </p:txBody>
      </p:sp>
      <p:sp>
        <p:nvSpPr>
          <p:cNvPr id="128" name="Text 126"/>
          <p:cNvSpPr txBox="1"/>
          <p:nvPr/>
        </p:nvSpPr>
        <p:spPr>
          <a:xfrm>
            <a:off x="9957816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72.4%</a:t>
            </a:r>
            <a:endParaRPr lang="en-US" sz="1300" dirty="0"/>
          </a:p>
        </p:txBody>
      </p:sp>
      <p:sp>
        <p:nvSpPr>
          <p:cNvPr id="129" name="Text 127"/>
          <p:cNvSpPr txBox="1"/>
          <p:nvPr/>
        </p:nvSpPr>
        <p:spPr>
          <a:xfrm>
            <a:off x="10524744" y="255279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−3.3 pts</a:t>
            </a:r>
            <a:endParaRPr lang="en-US" sz="1300" dirty="0"/>
          </a:p>
        </p:txBody>
      </p:sp>
      <p:sp>
        <p:nvSpPr>
          <p:cNvPr id="130" name="Shape 128"/>
          <p:cNvSpPr/>
          <p:nvPr/>
        </p:nvSpPr>
        <p:spPr>
          <a:xfrm>
            <a:off x="6135624" y="277762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31" name="Text 129"/>
          <p:cNvSpPr txBox="1"/>
          <p:nvPr/>
        </p:nvSpPr>
        <p:spPr>
          <a:xfrm>
            <a:off x="6208776" y="277762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132" name="Shape 130"/>
          <p:cNvSpPr/>
          <p:nvPr/>
        </p:nvSpPr>
        <p:spPr>
          <a:xfrm>
            <a:off x="8711353" y="2828212"/>
            <a:ext cx="94319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3" name="Text 131"/>
          <p:cNvSpPr txBox="1"/>
          <p:nvPr/>
        </p:nvSpPr>
        <p:spPr>
          <a:xfrm>
            <a:off x="9390888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84.3%</a:t>
            </a:r>
            <a:endParaRPr lang="en-US" sz="1300" dirty="0"/>
          </a:p>
        </p:txBody>
      </p:sp>
      <p:sp>
        <p:nvSpPr>
          <p:cNvPr id="134" name="Text 132"/>
          <p:cNvSpPr txBox="1"/>
          <p:nvPr/>
        </p:nvSpPr>
        <p:spPr>
          <a:xfrm>
            <a:off x="9957816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80.8%</a:t>
            </a:r>
            <a:endParaRPr lang="en-US" sz="1300" dirty="0"/>
          </a:p>
        </p:txBody>
      </p:sp>
      <p:sp>
        <p:nvSpPr>
          <p:cNvPr id="135" name="Text 133"/>
          <p:cNvSpPr txBox="1"/>
          <p:nvPr/>
        </p:nvSpPr>
        <p:spPr>
          <a:xfrm>
            <a:off x="10524744" y="277762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−3.5 pts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6208776" y="300245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137" name="Shape 135"/>
          <p:cNvSpPr/>
          <p:nvPr/>
        </p:nvSpPr>
        <p:spPr>
          <a:xfrm>
            <a:off x="8703971" y="3053047"/>
            <a:ext cx="101701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9390888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88.6%</a:t>
            </a:r>
            <a:endParaRPr lang="en-US" sz="1300" dirty="0"/>
          </a:p>
        </p:txBody>
      </p:sp>
      <p:sp>
        <p:nvSpPr>
          <p:cNvPr id="139" name="Text 137"/>
          <p:cNvSpPr txBox="1"/>
          <p:nvPr/>
        </p:nvSpPr>
        <p:spPr>
          <a:xfrm>
            <a:off x="9957816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84.8%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10524744" y="300245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−3.8 pts</a:t>
            </a:r>
            <a:endParaRPr lang="en-US" sz="1300" dirty="0"/>
          </a:p>
        </p:txBody>
      </p:sp>
      <p:sp>
        <p:nvSpPr>
          <p:cNvPr id="141" name="Shape 139"/>
          <p:cNvSpPr/>
          <p:nvPr/>
        </p:nvSpPr>
        <p:spPr>
          <a:xfrm>
            <a:off x="6135624" y="322729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6208776" y="322729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143" name="Shape 141"/>
          <p:cNvSpPr/>
          <p:nvPr/>
        </p:nvSpPr>
        <p:spPr>
          <a:xfrm>
            <a:off x="8701890" y="3277882"/>
            <a:ext cx="103782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9390888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79.5%</a:t>
            </a:r>
            <a:endParaRPr lang="en-US" sz="1300" dirty="0"/>
          </a:p>
        </p:txBody>
      </p:sp>
      <p:sp>
        <p:nvSpPr>
          <p:cNvPr id="145" name="Text 143"/>
          <p:cNvSpPr txBox="1"/>
          <p:nvPr/>
        </p:nvSpPr>
        <p:spPr>
          <a:xfrm>
            <a:off x="9957816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75.7%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10524744" y="322729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−3.8 pts</a:t>
            </a:r>
            <a:endParaRPr lang="en-US" sz="1300" dirty="0"/>
          </a:p>
        </p:txBody>
      </p:sp>
      <p:sp>
        <p:nvSpPr>
          <p:cNvPr id="147" name="Text 145"/>
          <p:cNvSpPr txBox="1"/>
          <p:nvPr/>
        </p:nvSpPr>
        <p:spPr>
          <a:xfrm>
            <a:off x="6208776" y="345212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148" name="Shape 146"/>
          <p:cNvSpPr/>
          <p:nvPr/>
        </p:nvSpPr>
        <p:spPr>
          <a:xfrm>
            <a:off x="8679444" y="3502717"/>
            <a:ext cx="126228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9390888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84.4%</a:t>
            </a:r>
            <a:endParaRPr lang="en-US" sz="1300" dirty="0"/>
          </a:p>
        </p:txBody>
      </p:sp>
      <p:sp>
        <p:nvSpPr>
          <p:cNvPr id="150" name="Text 148"/>
          <p:cNvSpPr txBox="1"/>
          <p:nvPr/>
        </p:nvSpPr>
        <p:spPr>
          <a:xfrm>
            <a:off x="9957816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79.7%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10524744" y="345212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−4.7 pts</a:t>
            </a:r>
            <a:endParaRPr lang="en-US" sz="1300" dirty="0"/>
          </a:p>
        </p:txBody>
      </p:sp>
      <p:sp>
        <p:nvSpPr>
          <p:cNvPr id="152" name="Shape 150"/>
          <p:cNvSpPr/>
          <p:nvPr/>
        </p:nvSpPr>
        <p:spPr>
          <a:xfrm>
            <a:off x="6135624" y="367696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3" name="Text 151"/>
          <p:cNvSpPr txBox="1"/>
          <p:nvPr/>
        </p:nvSpPr>
        <p:spPr>
          <a:xfrm>
            <a:off x="6208776" y="367696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154" name="Shape 152"/>
          <p:cNvSpPr/>
          <p:nvPr/>
        </p:nvSpPr>
        <p:spPr>
          <a:xfrm>
            <a:off x="8672194" y="3727552"/>
            <a:ext cx="133478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5" name="Text 153"/>
          <p:cNvSpPr txBox="1"/>
          <p:nvPr/>
        </p:nvSpPr>
        <p:spPr>
          <a:xfrm>
            <a:off x="9390888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79.1%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9957816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74.2%</a:t>
            </a:r>
            <a:endParaRPr lang="en-US" sz="1300" dirty="0"/>
          </a:p>
        </p:txBody>
      </p:sp>
      <p:sp>
        <p:nvSpPr>
          <p:cNvPr id="157" name="Text 155"/>
          <p:cNvSpPr txBox="1"/>
          <p:nvPr/>
        </p:nvSpPr>
        <p:spPr>
          <a:xfrm>
            <a:off x="10524744" y="367696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−4.9 pts</a:t>
            </a:r>
            <a:endParaRPr lang="en-US" sz="1300" dirty="0"/>
          </a:p>
        </p:txBody>
      </p:sp>
      <p:sp>
        <p:nvSpPr>
          <p:cNvPr id="158" name="Text 156"/>
          <p:cNvSpPr txBox="1"/>
          <p:nvPr/>
        </p:nvSpPr>
        <p:spPr>
          <a:xfrm>
            <a:off x="6208776" y="390179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159" name="Shape 157"/>
          <p:cNvSpPr/>
          <p:nvPr/>
        </p:nvSpPr>
        <p:spPr>
          <a:xfrm>
            <a:off x="8624168" y="3952386"/>
            <a:ext cx="18150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0" name="Text 158"/>
          <p:cNvSpPr txBox="1"/>
          <p:nvPr/>
        </p:nvSpPr>
        <p:spPr>
          <a:xfrm>
            <a:off x="9390888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82.0%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9957816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75.2%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10524744" y="390179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−6.7 pts</a:t>
            </a:r>
            <a:endParaRPr lang="en-US" sz="1300" dirty="0"/>
          </a:p>
        </p:txBody>
      </p:sp>
      <p:sp>
        <p:nvSpPr>
          <p:cNvPr id="163" name="Shape 161"/>
          <p:cNvSpPr/>
          <p:nvPr/>
        </p:nvSpPr>
        <p:spPr>
          <a:xfrm>
            <a:off x="6135624" y="412663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6208776" y="412663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165" name="Shape 163"/>
          <p:cNvSpPr/>
          <p:nvPr/>
        </p:nvSpPr>
        <p:spPr>
          <a:xfrm>
            <a:off x="8616775" y="4177221"/>
            <a:ext cx="188897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6" name="Text 164"/>
          <p:cNvSpPr txBox="1"/>
          <p:nvPr/>
        </p:nvSpPr>
        <p:spPr>
          <a:xfrm>
            <a:off x="9390888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86.0%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9957816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79.0%</a:t>
            </a:r>
            <a:endParaRPr lang="en-US" sz="1300" dirty="0"/>
          </a:p>
        </p:txBody>
      </p:sp>
      <p:sp>
        <p:nvSpPr>
          <p:cNvPr id="168" name="Text 166"/>
          <p:cNvSpPr txBox="1"/>
          <p:nvPr/>
        </p:nvSpPr>
        <p:spPr>
          <a:xfrm>
            <a:off x="10524744" y="412663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−7.0 pts</a:t>
            </a:r>
            <a:endParaRPr lang="en-US" sz="1300" dirty="0"/>
          </a:p>
        </p:txBody>
      </p:sp>
      <p:sp>
        <p:nvSpPr>
          <p:cNvPr id="169" name="Text 167"/>
          <p:cNvSpPr txBox="1"/>
          <p:nvPr/>
        </p:nvSpPr>
        <p:spPr>
          <a:xfrm>
            <a:off x="6208776" y="435146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170" name="Shape 168"/>
          <p:cNvSpPr/>
          <p:nvPr/>
        </p:nvSpPr>
        <p:spPr>
          <a:xfrm>
            <a:off x="8590345" y="4402056"/>
            <a:ext cx="215327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1" name="Text 169"/>
          <p:cNvSpPr txBox="1"/>
          <p:nvPr/>
        </p:nvSpPr>
        <p:spPr>
          <a:xfrm>
            <a:off x="9390888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83.5%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9957816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75.5%</a:t>
            </a:r>
            <a:endParaRPr lang="en-US" sz="1300" dirty="0"/>
          </a:p>
        </p:txBody>
      </p:sp>
      <p:sp>
        <p:nvSpPr>
          <p:cNvPr id="173" name="Text 171"/>
          <p:cNvSpPr txBox="1"/>
          <p:nvPr/>
        </p:nvSpPr>
        <p:spPr>
          <a:xfrm>
            <a:off x="10524744" y="435146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−8.0 pts</a:t>
            </a:r>
            <a:endParaRPr lang="en-US" sz="1300" dirty="0"/>
          </a:p>
        </p:txBody>
      </p:sp>
      <p:sp>
        <p:nvSpPr>
          <p:cNvPr id="174" name="Shape 172"/>
          <p:cNvSpPr/>
          <p:nvPr/>
        </p:nvSpPr>
        <p:spPr>
          <a:xfrm>
            <a:off x="6135624" y="457630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5" name="Text 173"/>
          <p:cNvSpPr txBox="1"/>
          <p:nvPr/>
        </p:nvSpPr>
        <p:spPr>
          <a:xfrm>
            <a:off x="6208776" y="457630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76" name="Shape 174"/>
          <p:cNvSpPr/>
          <p:nvPr/>
        </p:nvSpPr>
        <p:spPr>
          <a:xfrm>
            <a:off x="8562958" y="4626891"/>
            <a:ext cx="24271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7" name="Text 175"/>
          <p:cNvSpPr txBox="1"/>
          <p:nvPr/>
        </p:nvSpPr>
        <p:spPr>
          <a:xfrm>
            <a:off x="9390888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77.8%</a:t>
            </a:r>
            <a:endParaRPr lang="en-US" sz="1300" dirty="0"/>
          </a:p>
        </p:txBody>
      </p:sp>
      <p:sp>
        <p:nvSpPr>
          <p:cNvPr id="178" name="Text 176"/>
          <p:cNvSpPr txBox="1"/>
          <p:nvPr/>
        </p:nvSpPr>
        <p:spPr>
          <a:xfrm>
            <a:off x="9957816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68.8%</a:t>
            </a:r>
            <a:endParaRPr lang="en-US" sz="1300" dirty="0"/>
          </a:p>
        </p:txBody>
      </p:sp>
      <p:sp>
        <p:nvSpPr>
          <p:cNvPr id="179" name="Text 177"/>
          <p:cNvSpPr txBox="1"/>
          <p:nvPr/>
        </p:nvSpPr>
        <p:spPr>
          <a:xfrm>
            <a:off x="10524744" y="457630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−9.0 pts</a:t>
            </a:r>
            <a:endParaRPr lang="en-US" sz="1300" dirty="0"/>
          </a:p>
        </p:txBody>
      </p:sp>
      <p:sp>
        <p:nvSpPr>
          <p:cNvPr id="180" name="Text 178"/>
          <p:cNvSpPr txBox="1"/>
          <p:nvPr/>
        </p:nvSpPr>
        <p:spPr>
          <a:xfrm>
            <a:off x="6208776" y="480113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181" name="Shape 179"/>
          <p:cNvSpPr/>
          <p:nvPr/>
        </p:nvSpPr>
        <p:spPr>
          <a:xfrm>
            <a:off x="8514572" y="4851726"/>
            <a:ext cx="291100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82" name="Text 180"/>
          <p:cNvSpPr txBox="1"/>
          <p:nvPr/>
        </p:nvSpPr>
        <p:spPr>
          <a:xfrm>
            <a:off x="9390888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78.5%</a:t>
            </a:r>
            <a:endParaRPr lang="en-US" sz="1300" dirty="0"/>
          </a:p>
        </p:txBody>
      </p:sp>
      <p:sp>
        <p:nvSpPr>
          <p:cNvPr id="183" name="Text 181"/>
          <p:cNvSpPr txBox="1"/>
          <p:nvPr/>
        </p:nvSpPr>
        <p:spPr>
          <a:xfrm>
            <a:off x="9957816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67.8%</a:t>
            </a:r>
            <a:endParaRPr lang="en-US" sz="1300" dirty="0"/>
          </a:p>
        </p:txBody>
      </p:sp>
      <p:sp>
        <p:nvSpPr>
          <p:cNvPr id="184" name="Text 182"/>
          <p:cNvSpPr txBox="1"/>
          <p:nvPr/>
        </p:nvSpPr>
        <p:spPr>
          <a:xfrm>
            <a:off x="10524744" y="480113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−10.8 pts</a:t>
            </a:r>
            <a:endParaRPr lang="en-US" sz="1300" dirty="0"/>
          </a:p>
        </p:txBody>
      </p:sp>
      <p:sp>
        <p:nvSpPr>
          <p:cNvPr id="185" name="Shape 183"/>
          <p:cNvSpPr/>
          <p:nvPr/>
        </p:nvSpPr>
        <p:spPr>
          <a:xfrm>
            <a:off x="6135624" y="502597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86" name="Text 184"/>
          <p:cNvSpPr txBox="1"/>
          <p:nvPr/>
        </p:nvSpPr>
        <p:spPr>
          <a:xfrm>
            <a:off x="6208776" y="502597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187" name="Shape 185"/>
          <p:cNvSpPr/>
          <p:nvPr/>
        </p:nvSpPr>
        <p:spPr>
          <a:xfrm>
            <a:off x="8475849" y="5076561"/>
            <a:ext cx="329823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88" name="Text 186"/>
          <p:cNvSpPr txBox="1"/>
          <p:nvPr/>
        </p:nvSpPr>
        <p:spPr>
          <a:xfrm>
            <a:off x="9390888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82.4%</a:t>
            </a:r>
            <a:endParaRPr lang="en-US" sz="1300" dirty="0"/>
          </a:p>
        </p:txBody>
      </p:sp>
      <p:sp>
        <p:nvSpPr>
          <p:cNvPr id="189" name="Text 187"/>
          <p:cNvSpPr txBox="1"/>
          <p:nvPr/>
        </p:nvSpPr>
        <p:spPr>
          <a:xfrm>
            <a:off x="9957816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70.2%</a:t>
            </a:r>
            <a:endParaRPr lang="en-US" sz="1300" dirty="0"/>
          </a:p>
        </p:txBody>
      </p:sp>
      <p:sp>
        <p:nvSpPr>
          <p:cNvPr id="190" name="Text 188"/>
          <p:cNvSpPr txBox="1"/>
          <p:nvPr/>
        </p:nvSpPr>
        <p:spPr>
          <a:xfrm>
            <a:off x="10524744" y="502597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−12.2 pts</a:t>
            </a:r>
            <a:endParaRPr lang="en-US" sz="1300" dirty="0"/>
          </a:p>
        </p:txBody>
      </p:sp>
      <p:sp>
        <p:nvSpPr>
          <p:cNvPr id="191" name="Text 189"/>
          <p:cNvSpPr txBox="1"/>
          <p:nvPr/>
        </p:nvSpPr>
        <p:spPr>
          <a:xfrm>
            <a:off x="6208776" y="525080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192" name="Shape 190"/>
          <p:cNvSpPr/>
          <p:nvPr/>
        </p:nvSpPr>
        <p:spPr>
          <a:xfrm>
            <a:off x="8430963" y="5301395"/>
            <a:ext cx="374709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93" name="Text 191"/>
          <p:cNvSpPr txBox="1"/>
          <p:nvPr/>
        </p:nvSpPr>
        <p:spPr>
          <a:xfrm>
            <a:off x="9390888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83.9%</a:t>
            </a:r>
            <a:endParaRPr lang="en-US" sz="1300" dirty="0"/>
          </a:p>
        </p:txBody>
      </p:sp>
      <p:sp>
        <p:nvSpPr>
          <p:cNvPr id="194" name="Text 192"/>
          <p:cNvSpPr txBox="1"/>
          <p:nvPr/>
        </p:nvSpPr>
        <p:spPr>
          <a:xfrm>
            <a:off x="9957816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70.0%</a:t>
            </a:r>
            <a:endParaRPr lang="en-US" sz="1300" dirty="0"/>
          </a:p>
        </p:txBody>
      </p:sp>
      <p:sp>
        <p:nvSpPr>
          <p:cNvPr id="195" name="Text 193"/>
          <p:cNvSpPr txBox="1"/>
          <p:nvPr/>
        </p:nvSpPr>
        <p:spPr>
          <a:xfrm>
            <a:off x="10524744" y="525080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−13.9 pts</a:t>
            </a:r>
            <a:endParaRPr lang="en-US" sz="1300" dirty="0"/>
          </a:p>
        </p:txBody>
      </p:sp>
      <p:sp>
        <p:nvSpPr>
          <p:cNvPr id="196" name="Shape 194"/>
          <p:cNvSpPr/>
          <p:nvPr/>
        </p:nvSpPr>
        <p:spPr>
          <a:xfrm>
            <a:off x="6135624" y="5475642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97" name="Text 195"/>
          <p:cNvSpPr txBox="1"/>
          <p:nvPr/>
        </p:nvSpPr>
        <p:spPr>
          <a:xfrm>
            <a:off x="6208776" y="5475642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198" name="Shape 196"/>
          <p:cNvSpPr/>
          <p:nvPr/>
        </p:nvSpPr>
        <p:spPr>
          <a:xfrm>
            <a:off x="8266176" y="5526230"/>
            <a:ext cx="539496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99" name="Text 197"/>
          <p:cNvSpPr txBox="1"/>
          <p:nvPr/>
        </p:nvSpPr>
        <p:spPr>
          <a:xfrm>
            <a:off x="9390888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78.8%</a:t>
            </a:r>
            <a:endParaRPr lang="en-US" sz="1300" dirty="0"/>
          </a:p>
        </p:txBody>
      </p:sp>
      <p:sp>
        <p:nvSpPr>
          <p:cNvPr id="200" name="Text 198"/>
          <p:cNvSpPr txBox="1"/>
          <p:nvPr/>
        </p:nvSpPr>
        <p:spPr>
          <a:xfrm>
            <a:off x="9957816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58.8%</a:t>
            </a:r>
            <a:endParaRPr lang="en-US" sz="1300" dirty="0"/>
          </a:p>
        </p:txBody>
      </p:sp>
      <p:sp>
        <p:nvSpPr>
          <p:cNvPr id="201" name="Text 199"/>
          <p:cNvSpPr txBox="1"/>
          <p:nvPr/>
        </p:nvSpPr>
        <p:spPr>
          <a:xfrm>
            <a:off x="10524744" y="5475642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−20.0 pts</a:t>
            </a:r>
            <a:endParaRPr lang="en-US" sz="1300" dirty="0"/>
          </a:p>
        </p:txBody>
      </p:sp>
      <p:sp>
        <p:nvSpPr>
          <p:cNvPr id="203" name="Shape 200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4" name="Text 201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of 33 stores collect less labor margin on internal work than on customer pay; the group is −2.7 pts.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vs Customer-Pay Parts Gross Profit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16736"/>
            <a:ext cx="10872216" cy="38404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16736"/>
            <a:ext cx="54864" cy="384048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41248" y="1316736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CUSTOMER PAY 40.7%      INTERNAL 36.5%      GAP </a:t>
            </a:r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−4.2 pts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gap = internal minus own CP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715768" y="1773936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40480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407408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974336" y="1773936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GAP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249778" y="2103120"/>
            <a:ext cx="10973" cy="3822192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" name="Shape 12"/>
          <p:cNvSpPr/>
          <p:nvPr/>
        </p:nvSpPr>
        <p:spPr>
          <a:xfrm>
            <a:off x="3125947" y="2103120"/>
            <a:ext cx="0" cy="3822192"/>
          </a:xfrm>
          <a:prstGeom prst="line">
            <a:avLst/>
          </a:prstGeom>
          <a:noFill/>
          <a:ln w="12700">
            <a:solidFill>
              <a:srgbClr val="0B2C4A"/>
            </a:solidFill>
            <a:prstDash val="dash"/>
          </a:ln>
        </p:spPr>
      </p:sp>
      <p:sp>
        <p:nvSpPr>
          <p:cNvPr id="15" name="Text 13"/>
          <p:cNvSpPr txBox="1"/>
          <p:nvPr/>
        </p:nvSpPr>
        <p:spPr>
          <a:xfrm>
            <a:off x="8266176" y="1773936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390888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9957816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24744" y="1773936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GAP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800186" y="2103120"/>
            <a:ext cx="10973" cy="3597357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20" name="Shape 18"/>
          <p:cNvSpPr/>
          <p:nvPr/>
        </p:nvSpPr>
        <p:spPr>
          <a:xfrm>
            <a:off x="8676355" y="2103120"/>
            <a:ext cx="0" cy="3597357"/>
          </a:xfrm>
          <a:prstGeom prst="line">
            <a:avLst/>
          </a:prstGeom>
          <a:noFill/>
          <a:ln w="12700">
            <a:solidFill>
              <a:srgbClr val="0B2C4A"/>
            </a:solidFill>
            <a:prstDash val="dash"/>
          </a:ln>
        </p:spPr>
      </p:sp>
      <p:sp>
        <p:nvSpPr>
          <p:cNvPr id="21" name="Text 19"/>
          <p:cNvSpPr txBox="1"/>
          <p:nvPr/>
        </p:nvSpPr>
        <p:spPr>
          <a:xfrm>
            <a:off x="658368" y="210312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255264" y="2153708"/>
            <a:ext cx="150363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840480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40.2%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4407408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45.1%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974336" y="210312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+4.9 pts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85216" y="2327955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327955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255264" y="2378543"/>
            <a:ext cx="70154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840480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34.8%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407408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37.0%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4974336" y="2327955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+2.3 pts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255279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255264" y="2603377"/>
            <a:ext cx="38107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840480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42.1%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4407408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43.3%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4974336" y="255279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+1.2 pts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85216" y="277762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58368" y="277762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3255264" y="2828212"/>
            <a:ext cx="20517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3840480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36.2%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4407408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36.8%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4974336" y="277762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+0.7 pts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00245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3255264" y="3053047"/>
            <a:ext cx="9144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3840480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42.5%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4407408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42.7%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4974336" y="300245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+0.1 pts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585216" y="322729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22729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3222182" y="3277882"/>
            <a:ext cx="33082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840480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37.2%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4407408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36.1%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4974336" y="322729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−1.1 pts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658368" y="345212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3179597" y="3502717"/>
            <a:ext cx="75667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3840480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4407408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37.0%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4974336" y="345212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−2.5 pts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585216" y="367696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58368" y="367696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61" name="Shape 59"/>
          <p:cNvSpPr/>
          <p:nvPr/>
        </p:nvSpPr>
        <p:spPr>
          <a:xfrm>
            <a:off x="3178337" y="3727552"/>
            <a:ext cx="76927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3840480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37.0%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4407408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34.5%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4974336" y="367696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−2.5 pts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658368" y="390179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66" name="Shape 64"/>
          <p:cNvSpPr/>
          <p:nvPr/>
        </p:nvSpPr>
        <p:spPr>
          <a:xfrm>
            <a:off x="3177426" y="3952386"/>
            <a:ext cx="77838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3840480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43.4%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4407408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40.9%</a:t>
            </a:r>
            <a:endParaRPr lang="en-US" sz="1300" dirty="0"/>
          </a:p>
        </p:txBody>
      </p:sp>
      <p:sp>
        <p:nvSpPr>
          <p:cNvPr id="69" name="Text 67"/>
          <p:cNvSpPr txBox="1"/>
          <p:nvPr/>
        </p:nvSpPr>
        <p:spPr>
          <a:xfrm>
            <a:off x="4974336" y="390179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−2.5 pts</a:t>
            </a:r>
            <a:endParaRPr lang="en-US" sz="1300" dirty="0"/>
          </a:p>
        </p:txBody>
      </p:sp>
      <p:sp>
        <p:nvSpPr>
          <p:cNvPr id="70" name="Shape 68"/>
          <p:cNvSpPr/>
          <p:nvPr/>
        </p:nvSpPr>
        <p:spPr>
          <a:xfrm>
            <a:off x="585216" y="412663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658368" y="412663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72" name="Shape 70"/>
          <p:cNvSpPr/>
          <p:nvPr/>
        </p:nvSpPr>
        <p:spPr>
          <a:xfrm>
            <a:off x="3137487" y="4177221"/>
            <a:ext cx="117777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3840480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40.3%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4407408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36.5%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4974336" y="412663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−3.8 pts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658368" y="435146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77" name="Shape 75"/>
          <p:cNvSpPr/>
          <p:nvPr/>
        </p:nvSpPr>
        <p:spPr>
          <a:xfrm>
            <a:off x="3136637" y="4402056"/>
            <a:ext cx="118627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3840480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40.2%</a:t>
            </a:r>
            <a:endParaRPr lang="en-US" sz="1300" dirty="0"/>
          </a:p>
        </p:txBody>
      </p:sp>
      <p:sp>
        <p:nvSpPr>
          <p:cNvPr id="79" name="Text 77"/>
          <p:cNvSpPr txBox="1"/>
          <p:nvPr/>
        </p:nvSpPr>
        <p:spPr>
          <a:xfrm>
            <a:off x="4407408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36.3%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4974336" y="435146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−3.9 pts</a:t>
            </a:r>
            <a:endParaRPr lang="en-US" sz="1300" dirty="0"/>
          </a:p>
        </p:txBody>
      </p:sp>
      <p:sp>
        <p:nvSpPr>
          <p:cNvPr id="81" name="Shape 79"/>
          <p:cNvSpPr/>
          <p:nvPr/>
        </p:nvSpPr>
        <p:spPr>
          <a:xfrm>
            <a:off x="585216" y="457630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658368" y="457630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3096612" y="4626891"/>
            <a:ext cx="158652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3840480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41.9%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4407408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36.7%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4974336" y="457630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−5.2 pts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658368" y="480113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88" name="Shape 86"/>
          <p:cNvSpPr/>
          <p:nvPr/>
        </p:nvSpPr>
        <p:spPr>
          <a:xfrm>
            <a:off x="3081235" y="4851726"/>
            <a:ext cx="174029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3840480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37.0%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4407408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31.3%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4974336" y="480113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−5.7 pts</a:t>
            </a:r>
            <a:endParaRPr lang="en-US" sz="1300" dirty="0"/>
          </a:p>
        </p:txBody>
      </p:sp>
      <p:sp>
        <p:nvSpPr>
          <p:cNvPr id="92" name="Shape 90"/>
          <p:cNvSpPr/>
          <p:nvPr/>
        </p:nvSpPr>
        <p:spPr>
          <a:xfrm>
            <a:off x="585216" y="502597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658368" y="502597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94" name="Shape 92"/>
          <p:cNvSpPr/>
          <p:nvPr/>
        </p:nvSpPr>
        <p:spPr>
          <a:xfrm>
            <a:off x="3077450" y="5076561"/>
            <a:ext cx="17781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3840480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42.7%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4407408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36.9%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4974336" y="502597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−5.8 pts</a:t>
            </a:r>
            <a:endParaRPr lang="en-US" sz="1300" dirty="0"/>
          </a:p>
        </p:txBody>
      </p:sp>
      <p:sp>
        <p:nvSpPr>
          <p:cNvPr id="98" name="Text 96"/>
          <p:cNvSpPr txBox="1"/>
          <p:nvPr/>
        </p:nvSpPr>
        <p:spPr>
          <a:xfrm>
            <a:off x="658368" y="525080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99" name="Shape 97"/>
          <p:cNvSpPr/>
          <p:nvPr/>
        </p:nvSpPr>
        <p:spPr>
          <a:xfrm>
            <a:off x="3070973" y="5301395"/>
            <a:ext cx="184291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3840480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4407408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33.4%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4974336" y="525080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−6.0 pts</a:t>
            </a:r>
            <a:endParaRPr lang="en-US" sz="1300" dirty="0"/>
          </a:p>
        </p:txBody>
      </p:sp>
      <p:sp>
        <p:nvSpPr>
          <p:cNvPr id="103" name="Shape 101"/>
          <p:cNvSpPr/>
          <p:nvPr/>
        </p:nvSpPr>
        <p:spPr>
          <a:xfrm>
            <a:off x="585216" y="5475642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658368" y="5475642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105" name="Shape 103"/>
          <p:cNvSpPr/>
          <p:nvPr/>
        </p:nvSpPr>
        <p:spPr>
          <a:xfrm>
            <a:off x="3060053" y="5526230"/>
            <a:ext cx="195211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3840480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36.9%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4407408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30.5%</a:t>
            </a:r>
            <a:endParaRPr lang="en-US" sz="1300" dirty="0"/>
          </a:p>
        </p:txBody>
      </p:sp>
      <p:sp>
        <p:nvSpPr>
          <p:cNvPr id="108" name="Text 106"/>
          <p:cNvSpPr txBox="1"/>
          <p:nvPr/>
        </p:nvSpPr>
        <p:spPr>
          <a:xfrm>
            <a:off x="4974336" y="5475642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−6.4 pts</a:t>
            </a:r>
            <a:endParaRPr lang="en-US" sz="1300" dirty="0"/>
          </a:p>
        </p:txBody>
      </p:sp>
      <p:sp>
        <p:nvSpPr>
          <p:cNvPr id="109" name="Text 107"/>
          <p:cNvSpPr txBox="1"/>
          <p:nvPr/>
        </p:nvSpPr>
        <p:spPr>
          <a:xfrm>
            <a:off x="658368" y="5700477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110" name="Shape 108"/>
          <p:cNvSpPr/>
          <p:nvPr/>
        </p:nvSpPr>
        <p:spPr>
          <a:xfrm>
            <a:off x="3033339" y="5751065"/>
            <a:ext cx="221925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1" name="Text 109"/>
          <p:cNvSpPr txBox="1"/>
          <p:nvPr/>
        </p:nvSpPr>
        <p:spPr>
          <a:xfrm>
            <a:off x="3840480" y="5700477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47.0%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4407408" y="5700477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39.7%</a:t>
            </a:r>
            <a:endParaRPr lang="en-US" sz="1300" dirty="0"/>
          </a:p>
        </p:txBody>
      </p:sp>
      <p:sp>
        <p:nvSpPr>
          <p:cNvPr id="113" name="Text 111"/>
          <p:cNvSpPr txBox="1"/>
          <p:nvPr/>
        </p:nvSpPr>
        <p:spPr>
          <a:xfrm>
            <a:off x="4974336" y="5700477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−7.2 pts</a:t>
            </a:r>
            <a:endParaRPr lang="en-US" sz="1300" dirty="0"/>
          </a:p>
        </p:txBody>
      </p:sp>
      <p:sp>
        <p:nvSpPr>
          <p:cNvPr id="114" name="Text 112"/>
          <p:cNvSpPr txBox="1"/>
          <p:nvPr/>
        </p:nvSpPr>
        <p:spPr>
          <a:xfrm>
            <a:off x="6208776" y="210312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115" name="Shape 113"/>
          <p:cNvSpPr/>
          <p:nvPr/>
        </p:nvSpPr>
        <p:spPr>
          <a:xfrm>
            <a:off x="8575710" y="2153708"/>
            <a:ext cx="229962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6" name="Text 114"/>
          <p:cNvSpPr txBox="1"/>
          <p:nvPr/>
        </p:nvSpPr>
        <p:spPr>
          <a:xfrm>
            <a:off x="9390888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33.6%</a:t>
            </a:r>
            <a:endParaRPr lang="en-US" sz="1300" dirty="0"/>
          </a:p>
        </p:txBody>
      </p:sp>
      <p:sp>
        <p:nvSpPr>
          <p:cNvPr id="117" name="Text 115"/>
          <p:cNvSpPr txBox="1"/>
          <p:nvPr/>
        </p:nvSpPr>
        <p:spPr>
          <a:xfrm>
            <a:off x="9957816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26.2%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10524744" y="210312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−7.5 pts</a:t>
            </a:r>
            <a:endParaRPr lang="en-US" sz="1300" dirty="0"/>
          </a:p>
        </p:txBody>
      </p:sp>
      <p:sp>
        <p:nvSpPr>
          <p:cNvPr id="119" name="Shape 117"/>
          <p:cNvSpPr/>
          <p:nvPr/>
        </p:nvSpPr>
        <p:spPr>
          <a:xfrm>
            <a:off x="6135624" y="2327955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6208776" y="2327955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21" name="Shape 119"/>
          <p:cNvSpPr/>
          <p:nvPr/>
        </p:nvSpPr>
        <p:spPr>
          <a:xfrm>
            <a:off x="8565630" y="2378543"/>
            <a:ext cx="240042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9390888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44.5%</a:t>
            </a:r>
            <a:endParaRPr lang="en-US" sz="1300" dirty="0"/>
          </a:p>
        </p:txBody>
      </p:sp>
      <p:sp>
        <p:nvSpPr>
          <p:cNvPr id="123" name="Text 121"/>
          <p:cNvSpPr txBox="1"/>
          <p:nvPr/>
        </p:nvSpPr>
        <p:spPr>
          <a:xfrm>
            <a:off x="9957816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36.6%</a:t>
            </a:r>
            <a:endParaRPr lang="en-US" sz="1300" dirty="0"/>
          </a:p>
        </p:txBody>
      </p:sp>
      <p:sp>
        <p:nvSpPr>
          <p:cNvPr id="124" name="Text 122"/>
          <p:cNvSpPr txBox="1"/>
          <p:nvPr/>
        </p:nvSpPr>
        <p:spPr>
          <a:xfrm>
            <a:off x="10524744" y="2327955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−7.8 pts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6208776" y="255279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126" name="Shape 124"/>
          <p:cNvSpPr/>
          <p:nvPr/>
        </p:nvSpPr>
        <p:spPr>
          <a:xfrm>
            <a:off x="8564916" y="2603377"/>
            <a:ext cx="240756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7" name="Text 125"/>
          <p:cNvSpPr txBox="1"/>
          <p:nvPr/>
        </p:nvSpPr>
        <p:spPr>
          <a:xfrm>
            <a:off x="9390888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49.0%</a:t>
            </a:r>
            <a:endParaRPr lang="en-US" sz="1300" dirty="0"/>
          </a:p>
        </p:txBody>
      </p:sp>
      <p:sp>
        <p:nvSpPr>
          <p:cNvPr id="128" name="Text 126"/>
          <p:cNvSpPr txBox="1"/>
          <p:nvPr/>
        </p:nvSpPr>
        <p:spPr>
          <a:xfrm>
            <a:off x="9957816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41.2%</a:t>
            </a:r>
            <a:endParaRPr lang="en-US" sz="1300" dirty="0"/>
          </a:p>
        </p:txBody>
      </p:sp>
      <p:sp>
        <p:nvSpPr>
          <p:cNvPr id="129" name="Text 127"/>
          <p:cNvSpPr txBox="1"/>
          <p:nvPr/>
        </p:nvSpPr>
        <p:spPr>
          <a:xfrm>
            <a:off x="10524744" y="255279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−7.8 pts</a:t>
            </a:r>
            <a:endParaRPr lang="en-US" sz="1300" dirty="0"/>
          </a:p>
        </p:txBody>
      </p:sp>
      <p:sp>
        <p:nvSpPr>
          <p:cNvPr id="130" name="Shape 128"/>
          <p:cNvSpPr/>
          <p:nvPr/>
        </p:nvSpPr>
        <p:spPr>
          <a:xfrm>
            <a:off x="6135624" y="277762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31" name="Text 129"/>
          <p:cNvSpPr txBox="1"/>
          <p:nvPr/>
        </p:nvSpPr>
        <p:spPr>
          <a:xfrm>
            <a:off x="6208776" y="277762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132" name="Shape 130"/>
          <p:cNvSpPr/>
          <p:nvPr/>
        </p:nvSpPr>
        <p:spPr>
          <a:xfrm>
            <a:off x="8545748" y="2828212"/>
            <a:ext cx="25992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3" name="Text 131"/>
          <p:cNvSpPr txBox="1"/>
          <p:nvPr/>
        </p:nvSpPr>
        <p:spPr>
          <a:xfrm>
            <a:off x="9390888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43.6%</a:t>
            </a:r>
            <a:endParaRPr lang="en-US" sz="1300" dirty="0"/>
          </a:p>
        </p:txBody>
      </p:sp>
      <p:sp>
        <p:nvSpPr>
          <p:cNvPr id="134" name="Text 132"/>
          <p:cNvSpPr txBox="1"/>
          <p:nvPr/>
        </p:nvSpPr>
        <p:spPr>
          <a:xfrm>
            <a:off x="9957816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35.1%</a:t>
            </a:r>
            <a:endParaRPr lang="en-US" sz="1300" dirty="0"/>
          </a:p>
        </p:txBody>
      </p:sp>
      <p:sp>
        <p:nvSpPr>
          <p:cNvPr id="135" name="Text 133"/>
          <p:cNvSpPr txBox="1"/>
          <p:nvPr/>
        </p:nvSpPr>
        <p:spPr>
          <a:xfrm>
            <a:off x="10524744" y="277762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−8.5 pts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6208776" y="300245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137" name="Shape 135"/>
          <p:cNvSpPr/>
          <p:nvPr/>
        </p:nvSpPr>
        <p:spPr>
          <a:xfrm>
            <a:off x="8541222" y="3053047"/>
            <a:ext cx="264450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9390888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43.1%</a:t>
            </a:r>
            <a:endParaRPr lang="en-US" sz="1300" dirty="0"/>
          </a:p>
        </p:txBody>
      </p:sp>
      <p:sp>
        <p:nvSpPr>
          <p:cNvPr id="139" name="Text 137"/>
          <p:cNvSpPr txBox="1"/>
          <p:nvPr/>
        </p:nvSpPr>
        <p:spPr>
          <a:xfrm>
            <a:off x="9957816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34.5%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10524744" y="300245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−8.6 pts</a:t>
            </a:r>
            <a:endParaRPr lang="en-US" sz="1300" dirty="0"/>
          </a:p>
        </p:txBody>
      </p:sp>
      <p:sp>
        <p:nvSpPr>
          <p:cNvPr id="141" name="Shape 139"/>
          <p:cNvSpPr/>
          <p:nvPr/>
        </p:nvSpPr>
        <p:spPr>
          <a:xfrm>
            <a:off x="6135624" y="322729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6208776" y="322729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143" name="Shape 141"/>
          <p:cNvSpPr/>
          <p:nvPr/>
        </p:nvSpPr>
        <p:spPr>
          <a:xfrm>
            <a:off x="8534757" y="3277882"/>
            <a:ext cx="270915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9390888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41.7%</a:t>
            </a:r>
            <a:endParaRPr lang="en-US" sz="1300" dirty="0"/>
          </a:p>
        </p:txBody>
      </p:sp>
      <p:sp>
        <p:nvSpPr>
          <p:cNvPr id="145" name="Text 143"/>
          <p:cNvSpPr txBox="1"/>
          <p:nvPr/>
        </p:nvSpPr>
        <p:spPr>
          <a:xfrm>
            <a:off x="9957816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32.8%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10524744" y="322729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−8.8 pts</a:t>
            </a:r>
            <a:endParaRPr lang="en-US" sz="1300" dirty="0"/>
          </a:p>
        </p:txBody>
      </p:sp>
      <p:sp>
        <p:nvSpPr>
          <p:cNvPr id="147" name="Text 145"/>
          <p:cNvSpPr txBox="1"/>
          <p:nvPr/>
        </p:nvSpPr>
        <p:spPr>
          <a:xfrm>
            <a:off x="6208776" y="345212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148" name="Shape 146"/>
          <p:cNvSpPr/>
          <p:nvPr/>
        </p:nvSpPr>
        <p:spPr>
          <a:xfrm>
            <a:off x="8499284" y="3502717"/>
            <a:ext cx="306388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9390888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42.5%</a:t>
            </a:r>
            <a:endParaRPr lang="en-US" sz="1300" dirty="0"/>
          </a:p>
        </p:txBody>
      </p:sp>
      <p:sp>
        <p:nvSpPr>
          <p:cNvPr id="150" name="Text 148"/>
          <p:cNvSpPr txBox="1"/>
          <p:nvPr/>
        </p:nvSpPr>
        <p:spPr>
          <a:xfrm>
            <a:off x="9957816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32.5%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10524744" y="345212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−10.0 pts</a:t>
            </a:r>
            <a:endParaRPr lang="en-US" sz="1300" dirty="0"/>
          </a:p>
        </p:txBody>
      </p:sp>
      <p:sp>
        <p:nvSpPr>
          <p:cNvPr id="152" name="Shape 150"/>
          <p:cNvSpPr/>
          <p:nvPr/>
        </p:nvSpPr>
        <p:spPr>
          <a:xfrm>
            <a:off x="6135624" y="367696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3" name="Text 151"/>
          <p:cNvSpPr txBox="1"/>
          <p:nvPr/>
        </p:nvSpPr>
        <p:spPr>
          <a:xfrm>
            <a:off x="6208776" y="367696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154" name="Shape 152"/>
          <p:cNvSpPr/>
          <p:nvPr/>
        </p:nvSpPr>
        <p:spPr>
          <a:xfrm>
            <a:off x="8496238" y="3727552"/>
            <a:ext cx="30943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5" name="Text 153"/>
          <p:cNvSpPr txBox="1"/>
          <p:nvPr/>
        </p:nvSpPr>
        <p:spPr>
          <a:xfrm>
            <a:off x="9390888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36.9%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9957816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26.8%</a:t>
            </a:r>
            <a:endParaRPr lang="en-US" sz="1300" dirty="0"/>
          </a:p>
        </p:txBody>
      </p:sp>
      <p:sp>
        <p:nvSpPr>
          <p:cNvPr id="157" name="Text 155"/>
          <p:cNvSpPr txBox="1"/>
          <p:nvPr/>
        </p:nvSpPr>
        <p:spPr>
          <a:xfrm>
            <a:off x="10524744" y="367696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−10.1 pts</a:t>
            </a:r>
            <a:endParaRPr lang="en-US" sz="1300" dirty="0"/>
          </a:p>
        </p:txBody>
      </p:sp>
      <p:sp>
        <p:nvSpPr>
          <p:cNvPr id="158" name="Text 156"/>
          <p:cNvSpPr txBox="1"/>
          <p:nvPr/>
        </p:nvSpPr>
        <p:spPr>
          <a:xfrm>
            <a:off x="6208776" y="390179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159" name="Shape 157"/>
          <p:cNvSpPr/>
          <p:nvPr/>
        </p:nvSpPr>
        <p:spPr>
          <a:xfrm>
            <a:off x="8493166" y="3952386"/>
            <a:ext cx="312506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0" name="Text 158"/>
          <p:cNvSpPr txBox="1"/>
          <p:nvPr/>
        </p:nvSpPr>
        <p:spPr>
          <a:xfrm>
            <a:off x="9390888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41.9%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9957816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31.7%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10524744" y="390179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−10.2 pts</a:t>
            </a:r>
            <a:endParaRPr lang="en-US" sz="1300" dirty="0"/>
          </a:p>
        </p:txBody>
      </p:sp>
      <p:sp>
        <p:nvSpPr>
          <p:cNvPr id="163" name="Shape 161"/>
          <p:cNvSpPr/>
          <p:nvPr/>
        </p:nvSpPr>
        <p:spPr>
          <a:xfrm>
            <a:off x="6135624" y="412663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6208776" y="412663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165" name="Shape 163"/>
          <p:cNvSpPr/>
          <p:nvPr/>
        </p:nvSpPr>
        <p:spPr>
          <a:xfrm>
            <a:off x="8491434" y="4177221"/>
            <a:ext cx="314238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6" name="Text 164"/>
          <p:cNvSpPr txBox="1"/>
          <p:nvPr/>
        </p:nvSpPr>
        <p:spPr>
          <a:xfrm>
            <a:off x="9390888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41.0%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9957816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30.8%</a:t>
            </a:r>
            <a:endParaRPr lang="en-US" sz="1300" dirty="0"/>
          </a:p>
        </p:txBody>
      </p:sp>
      <p:sp>
        <p:nvSpPr>
          <p:cNvPr id="168" name="Text 166"/>
          <p:cNvSpPr txBox="1"/>
          <p:nvPr/>
        </p:nvSpPr>
        <p:spPr>
          <a:xfrm>
            <a:off x="10524744" y="412663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−10.2 pts</a:t>
            </a:r>
            <a:endParaRPr lang="en-US" sz="1300" dirty="0"/>
          </a:p>
        </p:txBody>
      </p:sp>
      <p:sp>
        <p:nvSpPr>
          <p:cNvPr id="169" name="Text 167"/>
          <p:cNvSpPr txBox="1"/>
          <p:nvPr/>
        </p:nvSpPr>
        <p:spPr>
          <a:xfrm>
            <a:off x="6208776" y="435146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170" name="Shape 168"/>
          <p:cNvSpPr/>
          <p:nvPr/>
        </p:nvSpPr>
        <p:spPr>
          <a:xfrm>
            <a:off x="8472728" y="4402056"/>
            <a:ext cx="33294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1" name="Text 169"/>
          <p:cNvSpPr txBox="1"/>
          <p:nvPr/>
        </p:nvSpPr>
        <p:spPr>
          <a:xfrm>
            <a:off x="9390888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44.9%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9957816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34.0%</a:t>
            </a:r>
            <a:endParaRPr lang="en-US" sz="1300" dirty="0"/>
          </a:p>
        </p:txBody>
      </p:sp>
      <p:sp>
        <p:nvSpPr>
          <p:cNvPr id="173" name="Text 171"/>
          <p:cNvSpPr txBox="1"/>
          <p:nvPr/>
        </p:nvSpPr>
        <p:spPr>
          <a:xfrm>
            <a:off x="10524744" y="435146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−10.8 pts</a:t>
            </a:r>
            <a:endParaRPr lang="en-US" sz="1300" dirty="0"/>
          </a:p>
        </p:txBody>
      </p:sp>
      <p:sp>
        <p:nvSpPr>
          <p:cNvPr id="174" name="Shape 172"/>
          <p:cNvSpPr/>
          <p:nvPr/>
        </p:nvSpPr>
        <p:spPr>
          <a:xfrm>
            <a:off x="6135624" y="457630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5" name="Text 173"/>
          <p:cNvSpPr txBox="1"/>
          <p:nvPr/>
        </p:nvSpPr>
        <p:spPr>
          <a:xfrm>
            <a:off x="6208776" y="457630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176" name="Shape 174"/>
          <p:cNvSpPr/>
          <p:nvPr/>
        </p:nvSpPr>
        <p:spPr>
          <a:xfrm>
            <a:off x="8461553" y="4626891"/>
            <a:ext cx="344119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7" name="Text 175"/>
          <p:cNvSpPr txBox="1"/>
          <p:nvPr/>
        </p:nvSpPr>
        <p:spPr>
          <a:xfrm>
            <a:off x="9390888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35.6%</a:t>
            </a:r>
            <a:endParaRPr lang="en-US" sz="1300" dirty="0"/>
          </a:p>
        </p:txBody>
      </p:sp>
      <p:sp>
        <p:nvSpPr>
          <p:cNvPr id="178" name="Text 176"/>
          <p:cNvSpPr txBox="1"/>
          <p:nvPr/>
        </p:nvSpPr>
        <p:spPr>
          <a:xfrm>
            <a:off x="9957816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24.4%</a:t>
            </a:r>
            <a:endParaRPr lang="en-US" sz="1300" dirty="0"/>
          </a:p>
        </p:txBody>
      </p:sp>
      <p:sp>
        <p:nvSpPr>
          <p:cNvPr id="179" name="Text 177"/>
          <p:cNvSpPr txBox="1"/>
          <p:nvPr/>
        </p:nvSpPr>
        <p:spPr>
          <a:xfrm>
            <a:off x="10524744" y="457630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−11.2 pts</a:t>
            </a:r>
            <a:endParaRPr lang="en-US" sz="1300" dirty="0"/>
          </a:p>
        </p:txBody>
      </p:sp>
      <p:sp>
        <p:nvSpPr>
          <p:cNvPr id="180" name="Text 178"/>
          <p:cNvSpPr txBox="1"/>
          <p:nvPr/>
        </p:nvSpPr>
        <p:spPr>
          <a:xfrm>
            <a:off x="6208776" y="480113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81" name="Shape 179"/>
          <p:cNvSpPr/>
          <p:nvPr/>
        </p:nvSpPr>
        <p:spPr>
          <a:xfrm>
            <a:off x="8358802" y="4851726"/>
            <a:ext cx="446870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82" name="Text 180"/>
          <p:cNvSpPr txBox="1"/>
          <p:nvPr/>
        </p:nvSpPr>
        <p:spPr>
          <a:xfrm>
            <a:off x="9390888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44.6%</a:t>
            </a:r>
            <a:endParaRPr lang="en-US" sz="1300" dirty="0"/>
          </a:p>
        </p:txBody>
      </p:sp>
      <p:sp>
        <p:nvSpPr>
          <p:cNvPr id="183" name="Text 181"/>
          <p:cNvSpPr txBox="1"/>
          <p:nvPr/>
        </p:nvSpPr>
        <p:spPr>
          <a:xfrm>
            <a:off x="9957816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30.1%</a:t>
            </a:r>
            <a:endParaRPr lang="en-US" sz="1300" dirty="0"/>
          </a:p>
        </p:txBody>
      </p:sp>
      <p:sp>
        <p:nvSpPr>
          <p:cNvPr id="184" name="Text 182"/>
          <p:cNvSpPr txBox="1"/>
          <p:nvPr/>
        </p:nvSpPr>
        <p:spPr>
          <a:xfrm>
            <a:off x="10524744" y="480113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−14.5 pts</a:t>
            </a:r>
            <a:endParaRPr lang="en-US" sz="1300" dirty="0"/>
          </a:p>
        </p:txBody>
      </p:sp>
      <p:sp>
        <p:nvSpPr>
          <p:cNvPr id="185" name="Shape 183"/>
          <p:cNvSpPr/>
          <p:nvPr/>
        </p:nvSpPr>
        <p:spPr>
          <a:xfrm>
            <a:off x="6135624" y="502597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86" name="Text 184"/>
          <p:cNvSpPr txBox="1"/>
          <p:nvPr/>
        </p:nvSpPr>
        <p:spPr>
          <a:xfrm>
            <a:off x="6208776" y="502597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187" name="Shape 185"/>
          <p:cNvSpPr/>
          <p:nvPr/>
        </p:nvSpPr>
        <p:spPr>
          <a:xfrm>
            <a:off x="8352988" y="5076561"/>
            <a:ext cx="45268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88" name="Text 186"/>
          <p:cNvSpPr txBox="1"/>
          <p:nvPr/>
        </p:nvSpPr>
        <p:spPr>
          <a:xfrm>
            <a:off x="9390888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43.4%</a:t>
            </a:r>
            <a:endParaRPr lang="en-US" sz="1300" dirty="0"/>
          </a:p>
        </p:txBody>
      </p:sp>
      <p:sp>
        <p:nvSpPr>
          <p:cNvPr id="189" name="Text 187"/>
          <p:cNvSpPr txBox="1"/>
          <p:nvPr/>
        </p:nvSpPr>
        <p:spPr>
          <a:xfrm>
            <a:off x="9957816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28.7%</a:t>
            </a:r>
            <a:endParaRPr lang="en-US" sz="1300" dirty="0"/>
          </a:p>
        </p:txBody>
      </p:sp>
      <p:sp>
        <p:nvSpPr>
          <p:cNvPr id="190" name="Text 188"/>
          <p:cNvSpPr txBox="1"/>
          <p:nvPr/>
        </p:nvSpPr>
        <p:spPr>
          <a:xfrm>
            <a:off x="10524744" y="502597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−14.7 pts</a:t>
            </a:r>
            <a:endParaRPr lang="en-US" sz="1300" dirty="0"/>
          </a:p>
        </p:txBody>
      </p:sp>
      <p:sp>
        <p:nvSpPr>
          <p:cNvPr id="191" name="Text 189"/>
          <p:cNvSpPr txBox="1"/>
          <p:nvPr/>
        </p:nvSpPr>
        <p:spPr>
          <a:xfrm>
            <a:off x="6208776" y="525080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92" name="Shape 190"/>
          <p:cNvSpPr/>
          <p:nvPr/>
        </p:nvSpPr>
        <p:spPr>
          <a:xfrm>
            <a:off x="8331777" y="5301395"/>
            <a:ext cx="473895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93" name="Text 191"/>
          <p:cNvSpPr txBox="1"/>
          <p:nvPr/>
        </p:nvSpPr>
        <p:spPr>
          <a:xfrm>
            <a:off x="9390888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45.1%</a:t>
            </a:r>
            <a:endParaRPr lang="en-US" sz="1300" dirty="0"/>
          </a:p>
        </p:txBody>
      </p:sp>
      <p:sp>
        <p:nvSpPr>
          <p:cNvPr id="194" name="Text 192"/>
          <p:cNvSpPr txBox="1"/>
          <p:nvPr/>
        </p:nvSpPr>
        <p:spPr>
          <a:xfrm>
            <a:off x="9957816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29.7%</a:t>
            </a:r>
            <a:endParaRPr lang="en-US" sz="1300" dirty="0"/>
          </a:p>
        </p:txBody>
      </p:sp>
      <p:sp>
        <p:nvSpPr>
          <p:cNvPr id="195" name="Text 193"/>
          <p:cNvSpPr txBox="1"/>
          <p:nvPr/>
        </p:nvSpPr>
        <p:spPr>
          <a:xfrm>
            <a:off x="10524744" y="525080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−15.4 pts</a:t>
            </a:r>
            <a:endParaRPr lang="en-US" sz="1300" dirty="0"/>
          </a:p>
        </p:txBody>
      </p:sp>
      <p:sp>
        <p:nvSpPr>
          <p:cNvPr id="196" name="Shape 194"/>
          <p:cNvSpPr/>
          <p:nvPr/>
        </p:nvSpPr>
        <p:spPr>
          <a:xfrm>
            <a:off x="6135624" y="5475642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97" name="Text 195"/>
          <p:cNvSpPr txBox="1"/>
          <p:nvPr/>
        </p:nvSpPr>
        <p:spPr>
          <a:xfrm>
            <a:off x="6208776" y="5475642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198" name="Shape 196"/>
          <p:cNvSpPr/>
          <p:nvPr/>
        </p:nvSpPr>
        <p:spPr>
          <a:xfrm>
            <a:off x="8266176" y="5526230"/>
            <a:ext cx="539496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99" name="Text 197"/>
          <p:cNvSpPr txBox="1"/>
          <p:nvPr/>
        </p:nvSpPr>
        <p:spPr>
          <a:xfrm>
            <a:off x="9390888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42.8%</a:t>
            </a:r>
            <a:endParaRPr lang="en-US" sz="1300" dirty="0"/>
          </a:p>
        </p:txBody>
      </p:sp>
      <p:sp>
        <p:nvSpPr>
          <p:cNvPr id="200" name="Text 198"/>
          <p:cNvSpPr txBox="1"/>
          <p:nvPr/>
        </p:nvSpPr>
        <p:spPr>
          <a:xfrm>
            <a:off x="9957816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25.2%</a:t>
            </a:r>
            <a:endParaRPr lang="en-US" sz="1300" dirty="0"/>
          </a:p>
        </p:txBody>
      </p:sp>
      <p:sp>
        <p:nvSpPr>
          <p:cNvPr id="201" name="Text 199"/>
          <p:cNvSpPr txBox="1"/>
          <p:nvPr/>
        </p:nvSpPr>
        <p:spPr>
          <a:xfrm>
            <a:off x="10524744" y="5475642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−17.6 pts</a:t>
            </a:r>
            <a:endParaRPr lang="en-US" sz="1300" dirty="0"/>
          </a:p>
        </p:txBody>
      </p:sp>
      <p:sp>
        <p:nvSpPr>
          <p:cNvPr id="203" name="Shape 200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4" name="Text 201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 of 33 stores collect less parts margin on internal work than on customer pay; the group is −4.2 pts.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2026-10-27T17:17:43Z</dcterms:created>
  <dcterms:modified xsi:type="dcterms:W3CDTF">2026-10-27T17:17:43Z</dcterms:modified>
</cp:coreProperties>
</file>