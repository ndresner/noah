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(−2.7 pts), red below. 8 stores run internal at or above customer pay: CADILLAC, CHEVY GMC BULLHEAD, GMC PRESCOTT, HYUNDAI PRESCOTT, HYUNDAI ST GEORGE, KIA LV, KIA ST GEORGE and VW ST GEORGE.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Source: Qlik - Closed Repair Orders. Jan-Sep 2026 by close month. Same-store, INEOS excluded (opened 2026). GMC Prescott body shop labor types excluded. Gap = internal GP% minus customer-pay GP%, in points. Green at or better than the group gap (−4.2 pts), red below. 5 stores run internal at or above customer pay: CHEVY LV, HONDA HENDERSON, SUBARU PRESCOTT, TOYOTA HENDERSON and VOLVO. A wide gap can be a policy (internal detail, used-car recon pricing) rather than a miss; confirm with the store before calling it out.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83188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733596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3011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12966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1042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9649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77376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55264" y="3277882"/>
            <a:ext cx="6572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255264" y="3502717"/>
            <a:ext cx="65019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255264" y="3727552"/>
            <a:ext cx="231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253849" y="3952386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250197" y="4177221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245953" y="4402056"/>
            <a:ext cx="931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244900" y="4626891"/>
            <a:ext cx="1036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221879" y="4851726"/>
            <a:ext cx="33385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198494" y="5076561"/>
            <a:ext cx="56770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198327" y="5301395"/>
            <a:ext cx="5693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197693" y="5526230"/>
            <a:ext cx="57571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195970" y="5751065"/>
            <a:ext cx="5929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734848" y="2153708"/>
            <a:ext cx="7082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730906" y="2378543"/>
            <a:ext cx="7476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716961" y="2603377"/>
            <a:ext cx="887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711353" y="2828212"/>
            <a:ext cx="943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703971" y="3053047"/>
            <a:ext cx="10170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701890" y="3277882"/>
            <a:ext cx="10378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679444" y="3502717"/>
            <a:ext cx="12622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672194" y="3727552"/>
            <a:ext cx="13347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624168" y="3952386"/>
            <a:ext cx="18150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616775" y="4177221"/>
            <a:ext cx="18889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590345" y="4402056"/>
            <a:ext cx="215327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562958" y="4626891"/>
            <a:ext cx="2427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514572" y="4851726"/>
            <a:ext cx="29110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475849" y="5076561"/>
            <a:ext cx="329823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430963" y="5301395"/>
            <a:ext cx="37470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A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green = gap at or better than the group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49778" y="2103120"/>
            <a:ext cx="10973" cy="3822192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14" name="Shape 12"/>
          <p:cNvSpPr/>
          <p:nvPr/>
        </p:nvSpPr>
        <p:spPr>
          <a:xfrm>
            <a:off x="3125947" y="2103120"/>
            <a:ext cx="0" cy="3822192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15" name="Text 13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8800186" y="2103120"/>
            <a:ext cx="10973" cy="3597357"/>
          </a:xfrm>
          <a:prstGeom prst="rect">
            <a:avLst/>
          </a:prstGeom>
          <a:solidFill>
            <a:srgbClr val="9AA3AD"/>
          </a:solidFill>
          <a:ln/>
        </p:spPr>
      </p:sp>
      <p:sp>
        <p:nvSpPr>
          <p:cNvPr id="20" name="Shape 18"/>
          <p:cNvSpPr/>
          <p:nvPr/>
        </p:nvSpPr>
        <p:spPr>
          <a:xfrm>
            <a:off x="8676355" y="2103120"/>
            <a:ext cx="0" cy="3597357"/>
          </a:xfrm>
          <a:prstGeom prst="line">
            <a:avLst/>
          </a:prstGeom>
          <a:noFill/>
          <a:ln w="12700">
            <a:solidFill>
              <a:srgbClr val="0B2C4A"/>
            </a:solidFill>
            <a:prstDash val="dash"/>
          </a:ln>
        </p:spPr>
      </p:sp>
      <p:sp>
        <p:nvSpPr>
          <p:cNvPr id="21" name="Text 19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3255264" y="2153708"/>
            <a:ext cx="150363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" name="Text 23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255264" y="2378543"/>
            <a:ext cx="7015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255264" y="2603377"/>
            <a:ext cx="3810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6" name="Text 34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7" name="Shape 35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3255264" y="2828212"/>
            <a:ext cx="2051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2" name="Text 40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3" name="Text 41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4" name="Shape 42"/>
          <p:cNvSpPr/>
          <p:nvPr/>
        </p:nvSpPr>
        <p:spPr>
          <a:xfrm>
            <a:off x="3255264" y="3053047"/>
            <a:ext cx="9144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0" name="Shape 48"/>
          <p:cNvSpPr/>
          <p:nvPr/>
        </p:nvSpPr>
        <p:spPr>
          <a:xfrm>
            <a:off x="3222182" y="3277882"/>
            <a:ext cx="33082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54" name="Text 52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5" name="Shape 53"/>
          <p:cNvSpPr/>
          <p:nvPr/>
        </p:nvSpPr>
        <p:spPr>
          <a:xfrm>
            <a:off x="3179597" y="3502717"/>
            <a:ext cx="7566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56" name="Text 5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57" name="Text 5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58" name="Text 5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59" name="Shape 5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61" name="Shape 59"/>
          <p:cNvSpPr/>
          <p:nvPr/>
        </p:nvSpPr>
        <p:spPr>
          <a:xfrm>
            <a:off x="3178337" y="3727552"/>
            <a:ext cx="769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3" name="Text 61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64" name="Text 62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5" name="Text 63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66" name="Shape 64"/>
          <p:cNvSpPr/>
          <p:nvPr/>
        </p:nvSpPr>
        <p:spPr>
          <a:xfrm>
            <a:off x="3177426" y="3952386"/>
            <a:ext cx="77838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67" name="Text 65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69" name="Text 67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0" name="Shape 68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1" name="Text 69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72" name="Shape 70"/>
          <p:cNvSpPr/>
          <p:nvPr/>
        </p:nvSpPr>
        <p:spPr>
          <a:xfrm>
            <a:off x="3137487" y="4177221"/>
            <a:ext cx="11777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74" name="Text 72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77" name="Shape 75"/>
          <p:cNvSpPr/>
          <p:nvPr/>
        </p:nvSpPr>
        <p:spPr>
          <a:xfrm>
            <a:off x="3136637" y="4402056"/>
            <a:ext cx="118627" cy="123659"/>
          </a:xfrm>
          <a:prstGeom prst="rect">
            <a:avLst/>
          </a:prstGeom>
          <a:solidFill>
            <a:srgbClr val="12A566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79" name="Text 77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80" name="Text 78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81" name="Shape 79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83" name="Shape 81"/>
          <p:cNvSpPr/>
          <p:nvPr/>
        </p:nvSpPr>
        <p:spPr>
          <a:xfrm>
            <a:off x="3096612" y="4626891"/>
            <a:ext cx="15865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85" name="Text 8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86" name="Text 8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87" name="Text 8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88" name="Shape 86"/>
          <p:cNvSpPr/>
          <p:nvPr/>
        </p:nvSpPr>
        <p:spPr>
          <a:xfrm>
            <a:off x="3081235" y="4851726"/>
            <a:ext cx="17402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92" name="Shape 90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93" name="Text 91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94" name="Shape 92"/>
          <p:cNvSpPr/>
          <p:nvPr/>
        </p:nvSpPr>
        <p:spPr>
          <a:xfrm>
            <a:off x="3077450" y="5076561"/>
            <a:ext cx="17781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95" name="Text 93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96" name="Text 94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3070973" y="5301395"/>
            <a:ext cx="18429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01" name="Text 99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02" name="Text 100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03" name="Shape 101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05" name="Shape 103"/>
          <p:cNvSpPr/>
          <p:nvPr/>
        </p:nvSpPr>
        <p:spPr>
          <a:xfrm>
            <a:off x="3060053" y="5526230"/>
            <a:ext cx="195211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06" name="Text 104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08" name="Text 106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09" name="Text 107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10" name="Shape 108"/>
          <p:cNvSpPr/>
          <p:nvPr/>
        </p:nvSpPr>
        <p:spPr>
          <a:xfrm>
            <a:off x="3033339" y="5751065"/>
            <a:ext cx="22192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14" name="Text 11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15" name="Shape 113"/>
          <p:cNvSpPr/>
          <p:nvPr/>
        </p:nvSpPr>
        <p:spPr>
          <a:xfrm>
            <a:off x="8575710" y="2153708"/>
            <a:ext cx="22996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17" name="Text 115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18" name="Text 116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19" name="Shape 117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20" name="Text 118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21" name="Shape 119"/>
          <p:cNvSpPr/>
          <p:nvPr/>
        </p:nvSpPr>
        <p:spPr>
          <a:xfrm>
            <a:off x="8565630" y="2378543"/>
            <a:ext cx="240042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2" name="Text 120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23" name="Text 121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24" name="Text 122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25" name="Text 123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26" name="Shape 124"/>
          <p:cNvSpPr/>
          <p:nvPr/>
        </p:nvSpPr>
        <p:spPr>
          <a:xfrm>
            <a:off x="8564916" y="2603377"/>
            <a:ext cx="24075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27" name="Text 125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29" name="Text 127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30" name="Shape 128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1" name="Text 129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2" name="Shape 130"/>
          <p:cNvSpPr/>
          <p:nvPr/>
        </p:nvSpPr>
        <p:spPr>
          <a:xfrm>
            <a:off x="8545748" y="2828212"/>
            <a:ext cx="25992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3" name="Text 131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34" name="Text 132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37" name="Shape 135"/>
          <p:cNvSpPr/>
          <p:nvPr/>
        </p:nvSpPr>
        <p:spPr>
          <a:xfrm>
            <a:off x="8541222" y="3053047"/>
            <a:ext cx="26445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38" name="Text 13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39" name="Text 13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40" name="Text 13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41" name="Shape 13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42" name="Text 14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43" name="Shape 141"/>
          <p:cNvSpPr/>
          <p:nvPr/>
        </p:nvSpPr>
        <p:spPr>
          <a:xfrm>
            <a:off x="8534757" y="3277882"/>
            <a:ext cx="27091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4" name="Text 142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45" name="Text 143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46" name="Text 144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47" name="Text 145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48" name="Shape 146"/>
          <p:cNvSpPr/>
          <p:nvPr/>
        </p:nvSpPr>
        <p:spPr>
          <a:xfrm>
            <a:off x="8499284" y="3502717"/>
            <a:ext cx="30638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49" name="Text 147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51" name="Text 149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52" name="Shape 150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3" name="Text 151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54" name="Shape 152"/>
          <p:cNvSpPr/>
          <p:nvPr/>
        </p:nvSpPr>
        <p:spPr>
          <a:xfrm>
            <a:off x="8496238" y="3727552"/>
            <a:ext cx="30943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55" name="Text 153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56" name="Text 154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159" name="Shape 157"/>
          <p:cNvSpPr/>
          <p:nvPr/>
        </p:nvSpPr>
        <p:spPr>
          <a:xfrm>
            <a:off x="8493166" y="3952386"/>
            <a:ext cx="31250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0" name="Text 158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61" name="Text 159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162" name="Text 160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3" name="Shape 161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4" name="Text 162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165" name="Shape 163"/>
          <p:cNvSpPr/>
          <p:nvPr/>
        </p:nvSpPr>
        <p:spPr>
          <a:xfrm>
            <a:off x="8491434" y="4177221"/>
            <a:ext cx="314238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66" name="Text 16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167" name="Text 16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168" name="Text 16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169" name="Text 16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70" name="Shape 168"/>
          <p:cNvSpPr/>
          <p:nvPr/>
        </p:nvSpPr>
        <p:spPr>
          <a:xfrm>
            <a:off x="8472728" y="4402056"/>
            <a:ext cx="33294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174" name="Shape 172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75" name="Text 173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76" name="Shape 174"/>
          <p:cNvSpPr/>
          <p:nvPr/>
        </p:nvSpPr>
        <p:spPr>
          <a:xfrm>
            <a:off x="8461553" y="4626891"/>
            <a:ext cx="344119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77" name="Text 175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178" name="Text 176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8358802" y="4851726"/>
            <a:ext cx="446870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183" name="Text 181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184" name="Text 182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185" name="Shape 183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187" name="Shape 185"/>
          <p:cNvSpPr/>
          <p:nvPr/>
        </p:nvSpPr>
        <p:spPr>
          <a:xfrm>
            <a:off x="8352988" y="5076561"/>
            <a:ext cx="452684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88" name="Text 186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190" name="Text 188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191" name="Text 189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192" name="Shape 190"/>
          <p:cNvSpPr/>
          <p:nvPr/>
        </p:nvSpPr>
        <p:spPr>
          <a:xfrm>
            <a:off x="8331777" y="5301395"/>
            <a:ext cx="473895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266176" y="5526230"/>
            <a:ext cx="539496" cy="123659"/>
          </a:xfrm>
          <a:prstGeom prst="rect">
            <a:avLst/>
          </a:prstGeom>
          <a:solidFill>
            <a:srgbClr val="C2352F"/>
          </a:solidFill>
          <a:ln/>
        </p:spPr>
      </p:sp>
      <p:sp>
        <p:nvSpPr>
          <p:cNvPr id="199" name="Text 197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00" name="Text 198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01" name="Text 199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02" name="Shape 200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03" name="Text 201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Labor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80.8%      INTERNAL 78.1%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−2.7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02139" y="2201821"/>
            <a:ext cx="14855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33559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48211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77.3%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108087" y="2426656"/>
            <a:ext cx="1480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03950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187550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67.7%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72.5%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+4.8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469490" y="2651491"/>
            <a:ext cx="11907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00910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519983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+3.9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46206" y="2876326"/>
            <a:ext cx="11016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177626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87794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+3.6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445098" y="3101161"/>
            <a:ext cx="8834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376518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4861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78.7%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81.5%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+2.9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575605" y="3325996"/>
            <a:ext cx="75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507025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582070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82.9%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85.3%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470065" y="3550830"/>
            <a:ext cx="7423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40148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47572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81.9%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+2.4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467609" y="3775665"/>
            <a:ext cx="263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399029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425422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80.2%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+0.9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78988" y="4000500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1202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410408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79.8%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−0.1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668137" y="4225335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605342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599557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86.1%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85.9%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−0.2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573014" y="4450170"/>
            <a:ext cx="106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515065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504434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82.8%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−0.3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293888" y="4675004"/>
            <a:ext cx="11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237141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25308" y="462014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74.1%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73.8%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−0.4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429695" y="4899839"/>
            <a:ext cx="381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399231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361115" y="484497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79.4%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78.2%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−1.2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400294" y="5124674"/>
            <a:ext cx="648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396530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331714" y="506981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79.3%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77.2%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373993" y="5349509"/>
            <a:ext cx="650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70420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305413" y="529464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557028" y="5574344"/>
            <a:ext cx="657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5541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488448" y="5519480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82.3%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−2.1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229189" y="5799179"/>
            <a:ext cx="6769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228307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160609" y="5744315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73.9%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71.7%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912269" y="2201821"/>
            <a:ext cx="8086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924551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843689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76.0%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−2.6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9104456" y="2426656"/>
            <a:ext cx="8536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121240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9035876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85.0%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82.2%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8801530" y="2651491"/>
            <a:ext cx="1012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8834235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73295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72.4%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−3.3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9060644" y="2876326"/>
            <a:ext cx="10768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99752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992064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84.3%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80.8%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9185604" y="3101161"/>
            <a:ext cx="11611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233139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9117024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88.6%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84.8%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903365" y="3325996"/>
            <a:ext cx="1184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53277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834785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79.5%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75.7%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9029152" y="3550830"/>
            <a:ext cx="14412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104691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960572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84.4%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79.7%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−4.7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857207" y="3775665"/>
            <a:ext cx="15239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94102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788627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79.1%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74.2%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−4.9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890071" y="4000500"/>
            <a:ext cx="20723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9028721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821491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82.0%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75.2%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−6.7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9004765" y="4225335"/>
            <a:ext cx="21567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9151856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936185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86.0%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79.0%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−7.0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898070" y="4450170"/>
            <a:ext cx="24584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753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829490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83.5%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75.5%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−8.0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692698" y="4675004"/>
            <a:ext cx="2771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901234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624118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77.8%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68.8%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−9.0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59621" y="4899839"/>
            <a:ext cx="33236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8923402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91041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78.5%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67.8%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734634" y="5124674"/>
            <a:ext cx="37657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2625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666054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82.4%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70.2%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−12.2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728847" y="5349509"/>
            <a:ext cx="42781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088086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66026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83.9%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70.0%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−13.9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383021" y="5574344"/>
            <a:ext cx="61596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8930404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144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78.8%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58.8%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−20.0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1569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79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labor margin runs 2.7 pts below customer pay across the group; 18 of 33 stores are at or better than that gap. Widest: Audi Reno (−20.0 pts), LR LV (−13.9 pts) and LR Henderson (−12.2 pts).</a:t>
            </a:r>
            <a:endParaRPr lang="en-US" sz="1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DED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402336"/>
            <a:ext cx="50292" cy="192024"/>
          </a:xfrm>
          <a:prstGeom prst="rect">
            <a:avLst/>
          </a:prstGeom>
          <a:solidFill>
            <a:srgbClr val="2587C5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21792" y="338328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10" kern="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WARRANTY &amp; INTERNAL · OPTION B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640080"/>
            <a:ext cx="11338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vs Customer-Pay Parts Gross Profit %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457200" y="1207008"/>
            <a:ext cx="11274552" cy="4782312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58368" y="1316736"/>
            <a:ext cx="10872216" cy="384048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7" name="Shape 5"/>
          <p:cNvSpPr/>
          <p:nvPr/>
        </p:nvSpPr>
        <p:spPr>
          <a:xfrm>
            <a:off x="658368" y="1316736"/>
            <a:ext cx="54864" cy="384048"/>
          </a:xfrm>
          <a:prstGeom prst="rect">
            <a:avLst/>
          </a:prstGeom>
          <a:solidFill>
            <a:srgbClr val="0B2C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41248" y="1316736"/>
            <a:ext cx="10607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GROUP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CUSTOMER PAY 40.7%      INTERNAL 36.5%      GAP </a:t>
            </a:r>
            <a:pPr indent="0" marL="0">
              <a:buNone/>
            </a:pPr>
            <a:r>
              <a:rPr lang="en-US" sz="150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−4.2 pts</a:t>
            </a:r>
            <a:pPr indent="0" marL="0">
              <a:buNone/>
            </a:pPr>
            <a:r>
              <a:rPr lang="en-US" sz="1500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      navy dot = CP, green/red dot = internal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2715768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3840480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440740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974336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266176" y="1773936"/>
            <a:ext cx="10789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390888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CP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9957816" y="1773936"/>
            <a:ext cx="5669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10524744" y="1773936"/>
            <a:ext cx="85953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595959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GAP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HENDERSON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3443130" y="2201821"/>
            <a:ext cx="1760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" name="Shape 17"/>
          <p:cNvSpPr/>
          <p:nvPr/>
        </p:nvSpPr>
        <p:spPr>
          <a:xfrm>
            <a:off x="3374550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" name="Shape 18"/>
          <p:cNvSpPr/>
          <p:nvPr/>
        </p:nvSpPr>
        <p:spPr>
          <a:xfrm>
            <a:off x="3550594" y="214695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3840480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440740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974336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+4.9 pts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585216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658368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PRESCOTT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3246517" y="2426656"/>
            <a:ext cx="8213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7" name="Shape 25"/>
          <p:cNvSpPr/>
          <p:nvPr/>
        </p:nvSpPr>
        <p:spPr>
          <a:xfrm>
            <a:off x="3177937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8" name="Shape 26"/>
          <p:cNvSpPr/>
          <p:nvPr/>
        </p:nvSpPr>
        <p:spPr>
          <a:xfrm>
            <a:off x="3260074" y="237179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3840480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34.8%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440740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4974336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+2.3 pts</a:t>
            </a:r>
            <a:endParaRPr lang="en-US" sz="1300" dirty="0"/>
          </a:p>
        </p:txBody>
      </p:sp>
      <p:sp>
        <p:nvSpPr>
          <p:cNvPr id="32" name="Text 30"/>
          <p:cNvSpPr txBox="1"/>
          <p:nvPr/>
        </p:nvSpPr>
        <p:spPr>
          <a:xfrm>
            <a:off x="658368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HENDERSON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510339" y="2651491"/>
            <a:ext cx="44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34" name="Shape 32"/>
          <p:cNvSpPr/>
          <p:nvPr/>
        </p:nvSpPr>
        <p:spPr>
          <a:xfrm>
            <a:off x="3441759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35" name="Shape 33"/>
          <p:cNvSpPr/>
          <p:nvPr/>
        </p:nvSpPr>
        <p:spPr>
          <a:xfrm>
            <a:off x="3486374" y="259662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3840480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42.1%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440740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43.3%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4974336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+1.2 pts</a:t>
            </a:r>
            <a:endParaRPr lang="en-US" sz="1300" dirty="0"/>
          </a:p>
        </p:txBody>
      </p:sp>
      <p:sp>
        <p:nvSpPr>
          <p:cNvPr id="39" name="Shape 37"/>
          <p:cNvSpPr/>
          <p:nvPr/>
        </p:nvSpPr>
        <p:spPr>
          <a:xfrm>
            <a:off x="585216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58368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LV</a:t>
            </a:r>
            <a:endParaRPr lang="en-US" sz="1300" dirty="0"/>
          </a:p>
        </p:txBody>
      </p:sp>
      <p:sp>
        <p:nvSpPr>
          <p:cNvPr id="41" name="Shape 39"/>
          <p:cNvSpPr/>
          <p:nvPr/>
        </p:nvSpPr>
        <p:spPr>
          <a:xfrm>
            <a:off x="3297045" y="2876326"/>
            <a:ext cx="24021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2" name="Shape 40"/>
          <p:cNvSpPr/>
          <p:nvPr/>
        </p:nvSpPr>
        <p:spPr>
          <a:xfrm>
            <a:off x="3228465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43" name="Shape 41"/>
          <p:cNvSpPr/>
          <p:nvPr/>
        </p:nvSpPr>
        <p:spPr>
          <a:xfrm>
            <a:off x="3252486" y="282146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3840480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36.2%</a:t>
            </a:r>
            <a:endParaRPr lang="en-US" sz="1300" dirty="0"/>
          </a:p>
        </p:txBody>
      </p:sp>
      <p:sp>
        <p:nvSpPr>
          <p:cNvPr id="45" name="Text 43"/>
          <p:cNvSpPr txBox="1"/>
          <p:nvPr/>
        </p:nvSpPr>
        <p:spPr>
          <a:xfrm>
            <a:off x="440740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36.8%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4974336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+0.7 pts</a:t>
            </a:r>
            <a:endParaRPr lang="en-US" sz="1300" dirty="0"/>
          </a:p>
        </p:txBody>
      </p:sp>
      <p:sp>
        <p:nvSpPr>
          <p:cNvPr id="47" name="Text 45"/>
          <p:cNvSpPr txBox="1"/>
          <p:nvPr/>
        </p:nvSpPr>
        <p:spPr>
          <a:xfrm>
            <a:off x="658368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VOLVO</a:t>
            </a:r>
            <a:endParaRPr lang="en-US" sz="1300" dirty="0"/>
          </a:p>
        </p:txBody>
      </p:sp>
      <p:sp>
        <p:nvSpPr>
          <p:cNvPr id="48" name="Shape 46"/>
          <p:cNvSpPr/>
          <p:nvPr/>
        </p:nvSpPr>
        <p:spPr>
          <a:xfrm>
            <a:off x="3525560" y="3101161"/>
            <a:ext cx="914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49" name="Shape 47"/>
          <p:cNvSpPr/>
          <p:nvPr/>
        </p:nvSpPr>
        <p:spPr>
          <a:xfrm>
            <a:off x="3456980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0" name="Shape 48"/>
          <p:cNvSpPr/>
          <p:nvPr/>
        </p:nvSpPr>
        <p:spPr>
          <a:xfrm>
            <a:off x="3462180" y="3046297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1" name="Text 49"/>
          <p:cNvSpPr txBox="1"/>
          <p:nvPr/>
        </p:nvSpPr>
        <p:spPr>
          <a:xfrm>
            <a:off x="3840480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52" name="Text 50"/>
          <p:cNvSpPr txBox="1"/>
          <p:nvPr/>
        </p:nvSpPr>
        <p:spPr>
          <a:xfrm>
            <a:off x="440740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53" name="Text 51"/>
          <p:cNvSpPr txBox="1"/>
          <p:nvPr/>
        </p:nvSpPr>
        <p:spPr>
          <a:xfrm>
            <a:off x="4974336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+0.1 pts</a:t>
            </a:r>
            <a:endParaRPr lang="en-US" sz="1300" dirty="0"/>
          </a:p>
        </p:txBody>
      </p:sp>
      <p:sp>
        <p:nvSpPr>
          <p:cNvPr id="54" name="Shape 52"/>
          <p:cNvSpPr/>
          <p:nvPr/>
        </p:nvSpPr>
        <p:spPr>
          <a:xfrm>
            <a:off x="585216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658368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CHEVY GMC BULLHEAD</a:t>
            </a:r>
            <a:endParaRPr lang="en-US" sz="1300" dirty="0"/>
          </a:p>
        </p:txBody>
      </p:sp>
      <p:sp>
        <p:nvSpPr>
          <p:cNvPr id="56" name="Shape 54"/>
          <p:cNvSpPr/>
          <p:nvPr/>
        </p:nvSpPr>
        <p:spPr>
          <a:xfrm>
            <a:off x="3293929" y="3325996"/>
            <a:ext cx="387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57" name="Shape 55"/>
          <p:cNvSpPr/>
          <p:nvPr/>
        </p:nvSpPr>
        <p:spPr>
          <a:xfrm>
            <a:off x="3264081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58" name="Shape 56"/>
          <p:cNvSpPr/>
          <p:nvPr/>
        </p:nvSpPr>
        <p:spPr>
          <a:xfrm>
            <a:off x="3225349" y="3271132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59" name="Text 57"/>
          <p:cNvSpPr txBox="1"/>
          <p:nvPr/>
        </p:nvSpPr>
        <p:spPr>
          <a:xfrm>
            <a:off x="3840480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37.2%</a:t>
            </a:r>
            <a:endParaRPr lang="en-US" sz="1300" dirty="0"/>
          </a:p>
        </p:txBody>
      </p:sp>
      <p:sp>
        <p:nvSpPr>
          <p:cNvPr id="60" name="Text 58"/>
          <p:cNvSpPr txBox="1"/>
          <p:nvPr/>
        </p:nvSpPr>
        <p:spPr>
          <a:xfrm>
            <a:off x="440740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36.1%</a:t>
            </a:r>
            <a:endParaRPr lang="en-US" sz="1300" dirty="0"/>
          </a:p>
        </p:txBody>
      </p:sp>
      <p:sp>
        <p:nvSpPr>
          <p:cNvPr id="61" name="Text 59"/>
          <p:cNvSpPr txBox="1"/>
          <p:nvPr/>
        </p:nvSpPr>
        <p:spPr>
          <a:xfrm>
            <a:off x="4974336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−1.1 pts</a:t>
            </a:r>
            <a:endParaRPr lang="en-US" sz="1300" dirty="0"/>
          </a:p>
        </p:txBody>
      </p:sp>
      <p:sp>
        <p:nvSpPr>
          <p:cNvPr id="62" name="Text 60"/>
          <p:cNvSpPr txBox="1"/>
          <p:nvPr/>
        </p:nvSpPr>
        <p:spPr>
          <a:xfrm>
            <a:off x="658368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ST GEORGE</a:t>
            </a:r>
            <a:endParaRPr lang="en-US" sz="1300" dirty="0"/>
          </a:p>
        </p:txBody>
      </p:sp>
      <p:sp>
        <p:nvSpPr>
          <p:cNvPr id="63" name="Shape 61"/>
          <p:cNvSpPr/>
          <p:nvPr/>
        </p:nvSpPr>
        <p:spPr>
          <a:xfrm>
            <a:off x="3326510" y="3550830"/>
            <a:ext cx="8859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64" name="Shape 62"/>
          <p:cNvSpPr/>
          <p:nvPr/>
        </p:nvSpPr>
        <p:spPr>
          <a:xfrm>
            <a:off x="3346520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65" name="Shape 63"/>
          <p:cNvSpPr/>
          <p:nvPr/>
        </p:nvSpPr>
        <p:spPr>
          <a:xfrm>
            <a:off x="3257930" y="349596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3840480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67" name="Text 65"/>
          <p:cNvSpPr txBox="1"/>
          <p:nvPr/>
        </p:nvSpPr>
        <p:spPr>
          <a:xfrm>
            <a:off x="440740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68" name="Text 66"/>
          <p:cNvSpPr txBox="1"/>
          <p:nvPr/>
        </p:nvSpPr>
        <p:spPr>
          <a:xfrm>
            <a:off x="4974336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69" name="Shape 67"/>
          <p:cNvSpPr/>
          <p:nvPr/>
        </p:nvSpPr>
        <p:spPr>
          <a:xfrm>
            <a:off x="585216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70" name="Text 68"/>
          <p:cNvSpPr txBox="1"/>
          <p:nvPr/>
        </p:nvSpPr>
        <p:spPr>
          <a:xfrm>
            <a:off x="658368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LINCOLN</a:t>
            </a:r>
            <a:endParaRPr lang="en-US" sz="1300" dirty="0"/>
          </a:p>
        </p:txBody>
      </p:sp>
      <p:sp>
        <p:nvSpPr>
          <p:cNvPr id="71" name="Shape 69"/>
          <p:cNvSpPr/>
          <p:nvPr/>
        </p:nvSpPr>
        <p:spPr>
          <a:xfrm>
            <a:off x="3236489" y="3775665"/>
            <a:ext cx="9006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2" name="Shape 70"/>
          <p:cNvSpPr/>
          <p:nvPr/>
        </p:nvSpPr>
        <p:spPr>
          <a:xfrm>
            <a:off x="325797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73" name="Shape 71"/>
          <p:cNvSpPr/>
          <p:nvPr/>
        </p:nvSpPr>
        <p:spPr>
          <a:xfrm>
            <a:off x="3167909" y="372080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74" name="Text 72"/>
          <p:cNvSpPr txBox="1"/>
          <p:nvPr/>
        </p:nvSpPr>
        <p:spPr>
          <a:xfrm>
            <a:off x="3840480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75" name="Text 73"/>
          <p:cNvSpPr txBox="1"/>
          <p:nvPr/>
        </p:nvSpPr>
        <p:spPr>
          <a:xfrm>
            <a:off x="440740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76" name="Text 74"/>
          <p:cNvSpPr txBox="1"/>
          <p:nvPr/>
        </p:nvSpPr>
        <p:spPr>
          <a:xfrm>
            <a:off x="4974336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77" name="Text 75"/>
          <p:cNvSpPr txBox="1"/>
          <p:nvPr/>
        </p:nvSpPr>
        <p:spPr>
          <a:xfrm>
            <a:off x="658368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NORTH</a:t>
            </a:r>
            <a:endParaRPr lang="en-US" sz="1300" dirty="0"/>
          </a:p>
        </p:txBody>
      </p:sp>
      <p:sp>
        <p:nvSpPr>
          <p:cNvPr id="78" name="Shape 76"/>
          <p:cNvSpPr/>
          <p:nvPr/>
        </p:nvSpPr>
        <p:spPr>
          <a:xfrm>
            <a:off x="3465703" y="4000500"/>
            <a:ext cx="9113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79" name="Shape 77"/>
          <p:cNvSpPr/>
          <p:nvPr/>
        </p:nvSpPr>
        <p:spPr>
          <a:xfrm>
            <a:off x="3488255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0" name="Shape 78"/>
          <p:cNvSpPr/>
          <p:nvPr/>
        </p:nvSpPr>
        <p:spPr>
          <a:xfrm>
            <a:off x="3397123" y="394563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1" name="Text 79"/>
          <p:cNvSpPr txBox="1"/>
          <p:nvPr/>
        </p:nvSpPr>
        <p:spPr>
          <a:xfrm>
            <a:off x="3840480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82" name="Text 80"/>
          <p:cNvSpPr txBox="1"/>
          <p:nvPr/>
        </p:nvSpPr>
        <p:spPr>
          <a:xfrm>
            <a:off x="440740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40.9%</a:t>
            </a:r>
            <a:endParaRPr lang="en-US" sz="1300" dirty="0"/>
          </a:p>
        </p:txBody>
      </p:sp>
      <p:sp>
        <p:nvSpPr>
          <p:cNvPr id="83" name="Text 81"/>
          <p:cNvSpPr txBox="1"/>
          <p:nvPr/>
        </p:nvSpPr>
        <p:spPr>
          <a:xfrm>
            <a:off x="4974336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−2.5 pts</a:t>
            </a:r>
            <a:endParaRPr lang="en-US" sz="1300" dirty="0"/>
          </a:p>
        </p:txBody>
      </p:sp>
      <p:sp>
        <p:nvSpPr>
          <p:cNvPr id="84" name="Shape 82"/>
          <p:cNvSpPr/>
          <p:nvPr/>
        </p:nvSpPr>
        <p:spPr>
          <a:xfrm>
            <a:off x="585216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58368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MAZDA</a:t>
            </a:r>
            <a:endParaRPr lang="en-US" sz="1300" dirty="0"/>
          </a:p>
        </p:txBody>
      </p:sp>
      <p:sp>
        <p:nvSpPr>
          <p:cNvPr id="86" name="Shape 84"/>
          <p:cNvSpPr/>
          <p:nvPr/>
        </p:nvSpPr>
        <p:spPr>
          <a:xfrm>
            <a:off x="3309192" y="4225335"/>
            <a:ext cx="13789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87" name="Shape 85"/>
          <p:cNvSpPr/>
          <p:nvPr/>
        </p:nvSpPr>
        <p:spPr>
          <a:xfrm>
            <a:off x="3378505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88" name="Shape 86"/>
          <p:cNvSpPr/>
          <p:nvPr/>
        </p:nvSpPr>
        <p:spPr>
          <a:xfrm>
            <a:off x="3240612" y="4170471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89" name="Text 87"/>
          <p:cNvSpPr txBox="1"/>
          <p:nvPr/>
        </p:nvSpPr>
        <p:spPr>
          <a:xfrm>
            <a:off x="3840480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40.3%</a:t>
            </a:r>
            <a:endParaRPr lang="en-US" sz="1300" dirty="0"/>
          </a:p>
        </p:txBody>
      </p:sp>
      <p:sp>
        <p:nvSpPr>
          <p:cNvPr id="90" name="Text 88"/>
          <p:cNvSpPr txBox="1"/>
          <p:nvPr/>
        </p:nvSpPr>
        <p:spPr>
          <a:xfrm>
            <a:off x="440740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36.5%</a:t>
            </a:r>
            <a:endParaRPr lang="en-US" sz="1300" dirty="0"/>
          </a:p>
        </p:txBody>
      </p:sp>
      <p:sp>
        <p:nvSpPr>
          <p:cNvPr id="91" name="Text 89"/>
          <p:cNvSpPr txBox="1"/>
          <p:nvPr/>
        </p:nvSpPr>
        <p:spPr>
          <a:xfrm>
            <a:off x="4974336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−3.8 pts</a:t>
            </a:r>
            <a:endParaRPr lang="en-US" sz="1300" dirty="0"/>
          </a:p>
        </p:txBody>
      </p:sp>
      <p:sp>
        <p:nvSpPr>
          <p:cNvPr id="92" name="Text 90"/>
          <p:cNvSpPr txBox="1"/>
          <p:nvPr/>
        </p:nvSpPr>
        <p:spPr>
          <a:xfrm>
            <a:off x="658368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LV</a:t>
            </a:r>
            <a:endParaRPr lang="en-US" sz="1300" dirty="0"/>
          </a:p>
        </p:txBody>
      </p:sp>
      <p:sp>
        <p:nvSpPr>
          <p:cNvPr id="93" name="Shape 91"/>
          <p:cNvSpPr/>
          <p:nvPr/>
        </p:nvSpPr>
        <p:spPr>
          <a:xfrm>
            <a:off x="3302099" y="4450170"/>
            <a:ext cx="13888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94" name="Shape 92"/>
          <p:cNvSpPr/>
          <p:nvPr/>
        </p:nvSpPr>
        <p:spPr>
          <a:xfrm>
            <a:off x="3372406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95" name="Shape 93"/>
          <p:cNvSpPr/>
          <p:nvPr/>
        </p:nvSpPr>
        <p:spPr>
          <a:xfrm>
            <a:off x="3233519" y="4395306"/>
            <a:ext cx="137160" cy="137160"/>
          </a:xfrm>
          <a:prstGeom prst="ellipse">
            <a:avLst/>
          </a:prstGeom>
          <a:solidFill>
            <a:srgbClr val="12A566"/>
          </a:solidFill>
          <a:ln/>
        </p:spPr>
      </p:sp>
      <p:sp>
        <p:nvSpPr>
          <p:cNvPr id="96" name="Text 94"/>
          <p:cNvSpPr txBox="1"/>
          <p:nvPr/>
        </p:nvSpPr>
        <p:spPr>
          <a:xfrm>
            <a:off x="3840480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40.2%</a:t>
            </a:r>
            <a:endParaRPr lang="en-US" sz="1300" dirty="0"/>
          </a:p>
        </p:txBody>
      </p:sp>
      <p:sp>
        <p:nvSpPr>
          <p:cNvPr id="97" name="Text 95"/>
          <p:cNvSpPr txBox="1"/>
          <p:nvPr/>
        </p:nvSpPr>
        <p:spPr>
          <a:xfrm>
            <a:off x="440740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36.3%</a:t>
            </a:r>
            <a:endParaRPr lang="en-US" sz="1300" dirty="0"/>
          </a:p>
        </p:txBody>
      </p:sp>
      <p:sp>
        <p:nvSpPr>
          <p:cNvPr id="98" name="Text 96"/>
          <p:cNvSpPr txBox="1"/>
          <p:nvPr/>
        </p:nvSpPr>
        <p:spPr>
          <a:xfrm>
            <a:off x="4974336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0B7A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−3.9 pts</a:t>
            </a:r>
            <a:endParaRPr lang="en-US" sz="1300" dirty="0"/>
          </a:p>
        </p:txBody>
      </p:sp>
      <p:sp>
        <p:nvSpPr>
          <p:cNvPr id="99" name="Shape 97"/>
          <p:cNvSpPr/>
          <p:nvPr/>
        </p:nvSpPr>
        <p:spPr>
          <a:xfrm>
            <a:off x="585216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00" name="Text 98"/>
          <p:cNvSpPr txBox="1"/>
          <p:nvPr/>
        </p:nvSpPr>
        <p:spPr>
          <a:xfrm>
            <a:off x="658368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ST GEORGE</a:t>
            </a:r>
            <a:endParaRPr lang="en-US" sz="1300" dirty="0"/>
          </a:p>
        </p:txBody>
      </p:sp>
      <p:sp>
        <p:nvSpPr>
          <p:cNvPr id="101" name="Shape 99"/>
          <p:cNvSpPr/>
          <p:nvPr/>
        </p:nvSpPr>
        <p:spPr>
          <a:xfrm>
            <a:off x="3317186" y="4675004"/>
            <a:ext cx="18574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2" name="Shape 100"/>
          <p:cNvSpPr/>
          <p:nvPr/>
        </p:nvSpPr>
        <p:spPr>
          <a:xfrm>
            <a:off x="343435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3248606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04" name="Text 102"/>
          <p:cNvSpPr txBox="1"/>
          <p:nvPr/>
        </p:nvSpPr>
        <p:spPr>
          <a:xfrm>
            <a:off x="3840480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105" name="Text 103"/>
          <p:cNvSpPr txBox="1"/>
          <p:nvPr/>
        </p:nvSpPr>
        <p:spPr>
          <a:xfrm>
            <a:off x="440740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36.7%</a:t>
            </a:r>
            <a:endParaRPr lang="en-US" sz="1300" dirty="0"/>
          </a:p>
        </p:txBody>
      </p:sp>
      <p:sp>
        <p:nvSpPr>
          <p:cNvPr id="106" name="Text 104"/>
          <p:cNvSpPr txBox="1"/>
          <p:nvPr/>
        </p:nvSpPr>
        <p:spPr>
          <a:xfrm>
            <a:off x="4974336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−5.2 pts</a:t>
            </a:r>
            <a:endParaRPr lang="en-US" sz="1300" dirty="0"/>
          </a:p>
        </p:txBody>
      </p:sp>
      <p:sp>
        <p:nvSpPr>
          <p:cNvPr id="107" name="Text 105"/>
          <p:cNvSpPr txBox="1"/>
          <p:nvPr/>
        </p:nvSpPr>
        <p:spPr>
          <a:xfrm>
            <a:off x="658368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GMC PRESCOTT</a:t>
            </a:r>
            <a:endParaRPr lang="en-US" sz="1300" dirty="0"/>
          </a:p>
        </p:txBody>
      </p:sp>
      <p:sp>
        <p:nvSpPr>
          <p:cNvPr id="108" name="Shape 106"/>
          <p:cNvSpPr/>
          <p:nvPr/>
        </p:nvSpPr>
        <p:spPr>
          <a:xfrm>
            <a:off x="3123543" y="4899839"/>
            <a:ext cx="2037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09" name="Shape 107"/>
          <p:cNvSpPr/>
          <p:nvPr/>
        </p:nvSpPr>
        <p:spPr>
          <a:xfrm>
            <a:off x="3258715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3054963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1" name="Text 109"/>
          <p:cNvSpPr txBox="1"/>
          <p:nvPr/>
        </p:nvSpPr>
        <p:spPr>
          <a:xfrm>
            <a:off x="3840480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37.0%</a:t>
            </a:r>
            <a:endParaRPr lang="en-US" sz="1300" dirty="0"/>
          </a:p>
        </p:txBody>
      </p:sp>
      <p:sp>
        <p:nvSpPr>
          <p:cNvPr id="112" name="Text 110"/>
          <p:cNvSpPr txBox="1"/>
          <p:nvPr/>
        </p:nvSpPr>
        <p:spPr>
          <a:xfrm>
            <a:off x="440740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31.3%</a:t>
            </a:r>
            <a:endParaRPr lang="en-US" sz="1300" dirty="0"/>
          </a:p>
        </p:txBody>
      </p:sp>
      <p:sp>
        <p:nvSpPr>
          <p:cNvPr id="113" name="Text 111"/>
          <p:cNvSpPr txBox="1"/>
          <p:nvPr/>
        </p:nvSpPr>
        <p:spPr>
          <a:xfrm>
            <a:off x="4974336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−5.7 pts</a:t>
            </a:r>
            <a:endParaRPr lang="en-US" sz="1300" dirty="0"/>
          </a:p>
        </p:txBody>
      </p:sp>
      <p:sp>
        <p:nvSpPr>
          <p:cNvPr id="114" name="Shape 112"/>
          <p:cNvSpPr/>
          <p:nvPr/>
        </p:nvSpPr>
        <p:spPr>
          <a:xfrm>
            <a:off x="585216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15" name="Text 113"/>
          <p:cNvSpPr txBox="1"/>
          <p:nvPr/>
        </p:nvSpPr>
        <p:spPr>
          <a:xfrm>
            <a:off x="658368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NISSAN</a:t>
            </a:r>
            <a:endParaRPr lang="en-US" sz="1300" dirty="0"/>
          </a:p>
        </p:txBody>
      </p:sp>
      <p:sp>
        <p:nvSpPr>
          <p:cNvPr id="116" name="Shape 114"/>
          <p:cNvSpPr/>
          <p:nvPr/>
        </p:nvSpPr>
        <p:spPr>
          <a:xfrm>
            <a:off x="3323749" y="5124674"/>
            <a:ext cx="208184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17" name="Shape 115"/>
          <p:cNvSpPr/>
          <p:nvPr/>
        </p:nvSpPr>
        <p:spPr>
          <a:xfrm>
            <a:off x="3463352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3255169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19" name="Text 117"/>
          <p:cNvSpPr txBox="1"/>
          <p:nvPr/>
        </p:nvSpPr>
        <p:spPr>
          <a:xfrm>
            <a:off x="3840480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42.7%</a:t>
            </a:r>
            <a:endParaRPr lang="en-US" sz="1300" dirty="0"/>
          </a:p>
        </p:txBody>
      </p:sp>
      <p:sp>
        <p:nvSpPr>
          <p:cNvPr id="120" name="Text 118"/>
          <p:cNvSpPr txBox="1"/>
          <p:nvPr/>
        </p:nvSpPr>
        <p:spPr>
          <a:xfrm>
            <a:off x="440740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21" name="Text 119"/>
          <p:cNvSpPr txBox="1"/>
          <p:nvPr/>
        </p:nvSpPr>
        <p:spPr>
          <a:xfrm>
            <a:off x="4974336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−5.8 pts</a:t>
            </a:r>
            <a:endParaRPr lang="en-US" sz="1300" dirty="0"/>
          </a:p>
        </p:txBody>
      </p:sp>
      <p:sp>
        <p:nvSpPr>
          <p:cNvPr id="122" name="Text 120"/>
          <p:cNvSpPr txBox="1"/>
          <p:nvPr/>
        </p:nvSpPr>
        <p:spPr>
          <a:xfrm>
            <a:off x="658368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HYUNDAI PRESCOTT</a:t>
            </a:r>
            <a:endParaRPr lang="en-US" sz="1300" dirty="0"/>
          </a:p>
        </p:txBody>
      </p:sp>
      <p:sp>
        <p:nvSpPr>
          <p:cNvPr id="123" name="Shape 121"/>
          <p:cNvSpPr/>
          <p:nvPr/>
        </p:nvSpPr>
        <p:spPr>
          <a:xfrm>
            <a:off x="3196577" y="5349509"/>
            <a:ext cx="21576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24" name="Shape 122"/>
          <p:cNvSpPr/>
          <p:nvPr/>
        </p:nvSpPr>
        <p:spPr>
          <a:xfrm>
            <a:off x="3343763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25" name="Shape 123"/>
          <p:cNvSpPr/>
          <p:nvPr/>
        </p:nvSpPr>
        <p:spPr>
          <a:xfrm>
            <a:off x="3127997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26" name="Text 124"/>
          <p:cNvSpPr txBox="1"/>
          <p:nvPr/>
        </p:nvSpPr>
        <p:spPr>
          <a:xfrm>
            <a:off x="3840480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39.4%</a:t>
            </a:r>
            <a:endParaRPr lang="en-US" sz="1300" dirty="0"/>
          </a:p>
        </p:txBody>
      </p:sp>
      <p:sp>
        <p:nvSpPr>
          <p:cNvPr id="127" name="Text 125"/>
          <p:cNvSpPr txBox="1"/>
          <p:nvPr/>
        </p:nvSpPr>
        <p:spPr>
          <a:xfrm>
            <a:off x="440740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33.4%</a:t>
            </a:r>
            <a:endParaRPr lang="en-US" sz="1300" dirty="0"/>
          </a:p>
        </p:txBody>
      </p:sp>
      <p:sp>
        <p:nvSpPr>
          <p:cNvPr id="128" name="Text 126"/>
          <p:cNvSpPr txBox="1"/>
          <p:nvPr/>
        </p:nvSpPr>
        <p:spPr>
          <a:xfrm>
            <a:off x="4974336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−6.0 pts</a:t>
            </a:r>
            <a:endParaRPr lang="en-US" sz="1300" dirty="0"/>
          </a:p>
        </p:txBody>
      </p:sp>
      <p:sp>
        <p:nvSpPr>
          <p:cNvPr id="129" name="Shape 127"/>
          <p:cNvSpPr/>
          <p:nvPr/>
        </p:nvSpPr>
        <p:spPr>
          <a:xfrm>
            <a:off x="585216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30" name="Text 128"/>
          <p:cNvSpPr txBox="1"/>
          <p:nvPr/>
        </p:nvSpPr>
        <p:spPr>
          <a:xfrm>
            <a:off x="658368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FLAGSTAFF</a:t>
            </a:r>
            <a:endParaRPr lang="en-US" sz="1300" dirty="0"/>
          </a:p>
        </p:txBody>
      </p:sp>
      <p:sp>
        <p:nvSpPr>
          <p:cNvPr id="131" name="Shape 129"/>
          <p:cNvSpPr/>
          <p:nvPr/>
        </p:nvSpPr>
        <p:spPr>
          <a:xfrm>
            <a:off x="3094741" y="5574344"/>
            <a:ext cx="22855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2" name="Shape 130"/>
          <p:cNvSpPr/>
          <p:nvPr/>
        </p:nvSpPr>
        <p:spPr>
          <a:xfrm>
            <a:off x="3254713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33" name="Shape 131"/>
          <p:cNvSpPr/>
          <p:nvPr/>
        </p:nvSpPr>
        <p:spPr>
          <a:xfrm>
            <a:off x="302616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34" name="Text 132"/>
          <p:cNvSpPr txBox="1"/>
          <p:nvPr/>
        </p:nvSpPr>
        <p:spPr>
          <a:xfrm>
            <a:off x="3840480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135" name="Text 133"/>
          <p:cNvSpPr txBox="1"/>
          <p:nvPr/>
        </p:nvSpPr>
        <p:spPr>
          <a:xfrm>
            <a:off x="440740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30.5%</a:t>
            </a:r>
            <a:endParaRPr lang="en-US" sz="1300" dirty="0"/>
          </a:p>
        </p:txBody>
      </p:sp>
      <p:sp>
        <p:nvSpPr>
          <p:cNvPr id="136" name="Text 134"/>
          <p:cNvSpPr txBox="1"/>
          <p:nvPr/>
        </p:nvSpPr>
        <p:spPr>
          <a:xfrm>
            <a:off x="4974336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−6.4 pts</a:t>
            </a:r>
            <a:endParaRPr lang="en-US" sz="1300" dirty="0"/>
          </a:p>
        </p:txBody>
      </p:sp>
      <p:sp>
        <p:nvSpPr>
          <p:cNvPr id="137" name="Text 135"/>
          <p:cNvSpPr txBox="1"/>
          <p:nvPr/>
        </p:nvSpPr>
        <p:spPr>
          <a:xfrm>
            <a:off x="658368" y="5700477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SPOKANE</a:t>
            </a:r>
            <a:endParaRPr lang="en-US" sz="1300" dirty="0"/>
          </a:p>
        </p:txBody>
      </p:sp>
      <p:sp>
        <p:nvSpPr>
          <p:cNvPr id="138" name="Shape 136"/>
          <p:cNvSpPr/>
          <p:nvPr/>
        </p:nvSpPr>
        <p:spPr>
          <a:xfrm>
            <a:off x="3425612" y="5799179"/>
            <a:ext cx="25982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39" name="Shape 137"/>
          <p:cNvSpPr/>
          <p:nvPr/>
        </p:nvSpPr>
        <p:spPr>
          <a:xfrm>
            <a:off x="3616861" y="574431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0" name="Shape 138"/>
          <p:cNvSpPr/>
          <p:nvPr/>
        </p:nvSpPr>
        <p:spPr>
          <a:xfrm>
            <a:off x="3357032" y="574431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1" name="Text 139"/>
          <p:cNvSpPr txBox="1"/>
          <p:nvPr/>
        </p:nvSpPr>
        <p:spPr>
          <a:xfrm>
            <a:off x="3840480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47.0%</a:t>
            </a:r>
            <a:endParaRPr lang="en-US" sz="1300" dirty="0"/>
          </a:p>
        </p:txBody>
      </p:sp>
      <p:sp>
        <p:nvSpPr>
          <p:cNvPr id="142" name="Text 140"/>
          <p:cNvSpPr txBox="1"/>
          <p:nvPr/>
        </p:nvSpPr>
        <p:spPr>
          <a:xfrm>
            <a:off x="4407408" y="5700477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39.7%</a:t>
            </a:r>
            <a:endParaRPr lang="en-US" sz="1300" dirty="0"/>
          </a:p>
        </p:txBody>
      </p:sp>
      <p:sp>
        <p:nvSpPr>
          <p:cNvPr id="143" name="Text 141"/>
          <p:cNvSpPr txBox="1"/>
          <p:nvPr/>
        </p:nvSpPr>
        <p:spPr>
          <a:xfrm>
            <a:off x="4974336" y="5700477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−7.2 pts</a:t>
            </a:r>
            <a:endParaRPr lang="en-US" sz="1300" dirty="0"/>
          </a:p>
        </p:txBody>
      </p:sp>
      <p:sp>
        <p:nvSpPr>
          <p:cNvPr id="144" name="Text 142"/>
          <p:cNvSpPr txBox="1"/>
          <p:nvPr/>
        </p:nvSpPr>
        <p:spPr>
          <a:xfrm>
            <a:off x="6208776" y="210312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HENDERSON</a:t>
            </a:r>
            <a:endParaRPr lang="en-US" sz="1300" dirty="0"/>
          </a:p>
        </p:txBody>
      </p:sp>
      <p:sp>
        <p:nvSpPr>
          <p:cNvPr id="145" name="Shape 143"/>
          <p:cNvSpPr/>
          <p:nvPr/>
        </p:nvSpPr>
        <p:spPr>
          <a:xfrm>
            <a:off x="8487596" y="2201821"/>
            <a:ext cx="2692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46" name="Shape 144"/>
          <p:cNvSpPr/>
          <p:nvPr/>
        </p:nvSpPr>
        <p:spPr>
          <a:xfrm>
            <a:off x="8688254" y="214695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47" name="Shape 145"/>
          <p:cNvSpPr/>
          <p:nvPr/>
        </p:nvSpPr>
        <p:spPr>
          <a:xfrm>
            <a:off x="8419016" y="214695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48" name="Text 146"/>
          <p:cNvSpPr txBox="1"/>
          <p:nvPr/>
        </p:nvSpPr>
        <p:spPr>
          <a:xfrm>
            <a:off x="9390888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33.6%</a:t>
            </a:r>
            <a:endParaRPr lang="en-US" sz="1300" dirty="0"/>
          </a:p>
        </p:txBody>
      </p:sp>
      <p:sp>
        <p:nvSpPr>
          <p:cNvPr id="149" name="Text 147"/>
          <p:cNvSpPr txBox="1"/>
          <p:nvPr/>
        </p:nvSpPr>
        <p:spPr>
          <a:xfrm>
            <a:off x="9957816" y="210312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26.2%</a:t>
            </a:r>
            <a:endParaRPr lang="en-US" sz="1300" dirty="0"/>
          </a:p>
        </p:txBody>
      </p:sp>
      <p:sp>
        <p:nvSpPr>
          <p:cNvPr id="150" name="Text 148"/>
          <p:cNvSpPr txBox="1"/>
          <p:nvPr/>
        </p:nvSpPr>
        <p:spPr>
          <a:xfrm>
            <a:off x="10524744" y="210312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−7.5 pts</a:t>
            </a:r>
            <a:endParaRPr lang="en-US" sz="1300" dirty="0"/>
          </a:p>
        </p:txBody>
      </p:sp>
      <p:sp>
        <p:nvSpPr>
          <p:cNvPr id="151" name="Shape 149"/>
          <p:cNvSpPr/>
          <p:nvPr/>
        </p:nvSpPr>
        <p:spPr>
          <a:xfrm>
            <a:off x="6135624" y="2327955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52" name="Text 150"/>
          <p:cNvSpPr txBox="1"/>
          <p:nvPr/>
        </p:nvSpPr>
        <p:spPr>
          <a:xfrm>
            <a:off x="6208776" y="2327955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SPOKANE</a:t>
            </a:r>
            <a:endParaRPr lang="en-US" sz="1300" dirty="0"/>
          </a:p>
        </p:txBody>
      </p:sp>
      <p:sp>
        <p:nvSpPr>
          <p:cNvPr id="153" name="Shape 151"/>
          <p:cNvSpPr/>
          <p:nvPr/>
        </p:nvSpPr>
        <p:spPr>
          <a:xfrm>
            <a:off x="8864741" y="2426656"/>
            <a:ext cx="28104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54" name="Shape 152"/>
          <p:cNvSpPr/>
          <p:nvPr/>
        </p:nvSpPr>
        <p:spPr>
          <a:xfrm>
            <a:off x="9077201" y="237179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55" name="Shape 153"/>
          <p:cNvSpPr/>
          <p:nvPr/>
        </p:nvSpPr>
        <p:spPr>
          <a:xfrm>
            <a:off x="8796161" y="237179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56" name="Text 154"/>
          <p:cNvSpPr txBox="1"/>
          <p:nvPr/>
        </p:nvSpPr>
        <p:spPr>
          <a:xfrm>
            <a:off x="9390888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44.5%</a:t>
            </a:r>
            <a:endParaRPr lang="en-US" sz="1300" dirty="0"/>
          </a:p>
        </p:txBody>
      </p:sp>
      <p:sp>
        <p:nvSpPr>
          <p:cNvPr id="157" name="Text 155"/>
          <p:cNvSpPr txBox="1"/>
          <p:nvPr/>
        </p:nvSpPr>
        <p:spPr>
          <a:xfrm>
            <a:off x="9957816" y="2327955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36.6%</a:t>
            </a:r>
            <a:endParaRPr lang="en-US" sz="1300" dirty="0"/>
          </a:p>
        </p:txBody>
      </p:sp>
      <p:sp>
        <p:nvSpPr>
          <p:cNvPr id="158" name="Text 156"/>
          <p:cNvSpPr txBox="1"/>
          <p:nvPr/>
        </p:nvSpPr>
        <p:spPr>
          <a:xfrm>
            <a:off x="10524744" y="2327955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59" name="Text 157"/>
          <p:cNvSpPr txBox="1"/>
          <p:nvPr/>
        </p:nvSpPr>
        <p:spPr>
          <a:xfrm>
            <a:off x="6208776" y="2552790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LEXUS</a:t>
            </a:r>
            <a:endParaRPr lang="en-US" sz="1300" dirty="0"/>
          </a:p>
        </p:txBody>
      </p:sp>
      <p:sp>
        <p:nvSpPr>
          <p:cNvPr id="160" name="Shape 158"/>
          <p:cNvSpPr/>
          <p:nvPr/>
        </p:nvSpPr>
        <p:spPr>
          <a:xfrm>
            <a:off x="9028280" y="2651491"/>
            <a:ext cx="28187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1" name="Shape 159"/>
          <p:cNvSpPr/>
          <p:nvPr/>
        </p:nvSpPr>
        <p:spPr>
          <a:xfrm>
            <a:off x="9241576" y="259662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62" name="Shape 160"/>
          <p:cNvSpPr/>
          <p:nvPr/>
        </p:nvSpPr>
        <p:spPr>
          <a:xfrm>
            <a:off x="8959700" y="259662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9390888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49.0%</a:t>
            </a:r>
            <a:endParaRPr lang="en-US" sz="1300" dirty="0"/>
          </a:p>
        </p:txBody>
      </p:sp>
      <p:sp>
        <p:nvSpPr>
          <p:cNvPr id="164" name="Text 162"/>
          <p:cNvSpPr txBox="1"/>
          <p:nvPr/>
        </p:nvSpPr>
        <p:spPr>
          <a:xfrm>
            <a:off x="9957816" y="2552790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41.2%</a:t>
            </a:r>
            <a:endParaRPr lang="en-US" sz="1300" dirty="0"/>
          </a:p>
        </p:txBody>
      </p:sp>
      <p:sp>
        <p:nvSpPr>
          <p:cNvPr id="165" name="Text 163"/>
          <p:cNvSpPr txBox="1"/>
          <p:nvPr/>
        </p:nvSpPr>
        <p:spPr>
          <a:xfrm>
            <a:off x="10524744" y="2552790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−7.8 pts</a:t>
            </a:r>
            <a:endParaRPr lang="en-US" sz="1300" dirty="0"/>
          </a:p>
        </p:txBody>
      </p:sp>
      <p:sp>
        <p:nvSpPr>
          <p:cNvPr id="166" name="Shape 164"/>
          <p:cNvSpPr/>
          <p:nvPr/>
        </p:nvSpPr>
        <p:spPr>
          <a:xfrm>
            <a:off x="6135624" y="277762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67" name="Text 165"/>
          <p:cNvSpPr txBox="1"/>
          <p:nvPr/>
        </p:nvSpPr>
        <p:spPr>
          <a:xfrm>
            <a:off x="6208776" y="277762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SUBARU ST GEORGE</a:t>
            </a:r>
            <a:endParaRPr lang="en-US" sz="1300" dirty="0"/>
          </a:p>
        </p:txBody>
      </p:sp>
      <p:sp>
        <p:nvSpPr>
          <p:cNvPr id="168" name="Shape 166"/>
          <p:cNvSpPr/>
          <p:nvPr/>
        </p:nvSpPr>
        <p:spPr>
          <a:xfrm>
            <a:off x="8809703" y="2876326"/>
            <a:ext cx="3043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69" name="Shape 167"/>
          <p:cNvSpPr/>
          <p:nvPr/>
        </p:nvSpPr>
        <p:spPr>
          <a:xfrm>
            <a:off x="9045441" y="282146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0" name="Shape 168"/>
          <p:cNvSpPr/>
          <p:nvPr/>
        </p:nvSpPr>
        <p:spPr>
          <a:xfrm>
            <a:off x="8741123" y="282146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1" name="Text 169"/>
          <p:cNvSpPr txBox="1"/>
          <p:nvPr/>
        </p:nvSpPr>
        <p:spPr>
          <a:xfrm>
            <a:off x="9390888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43.6%</a:t>
            </a:r>
            <a:endParaRPr lang="en-US" sz="1300" dirty="0"/>
          </a:p>
        </p:txBody>
      </p:sp>
      <p:sp>
        <p:nvSpPr>
          <p:cNvPr id="172" name="Text 170"/>
          <p:cNvSpPr txBox="1"/>
          <p:nvPr/>
        </p:nvSpPr>
        <p:spPr>
          <a:xfrm>
            <a:off x="9957816" y="277762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35.1%</a:t>
            </a:r>
            <a:endParaRPr lang="en-US" sz="1300" dirty="0"/>
          </a:p>
        </p:txBody>
      </p:sp>
      <p:sp>
        <p:nvSpPr>
          <p:cNvPr id="173" name="Text 171"/>
          <p:cNvSpPr txBox="1"/>
          <p:nvPr/>
        </p:nvSpPr>
        <p:spPr>
          <a:xfrm>
            <a:off x="10524744" y="277762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−8.5 pts</a:t>
            </a:r>
            <a:endParaRPr lang="en-US" sz="1300" dirty="0"/>
          </a:p>
        </p:txBody>
      </p:sp>
      <p:sp>
        <p:nvSpPr>
          <p:cNvPr id="174" name="Text 172"/>
          <p:cNvSpPr txBox="1"/>
          <p:nvPr/>
        </p:nvSpPr>
        <p:spPr>
          <a:xfrm>
            <a:off x="6208776" y="300245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HENDERSON</a:t>
            </a:r>
            <a:endParaRPr lang="en-US" sz="1300" dirty="0"/>
          </a:p>
        </p:txBody>
      </p:sp>
      <p:sp>
        <p:nvSpPr>
          <p:cNvPr id="175" name="Shape 173"/>
          <p:cNvSpPr/>
          <p:nvPr/>
        </p:nvSpPr>
        <p:spPr>
          <a:xfrm>
            <a:off x="8785895" y="3101161"/>
            <a:ext cx="309616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76" name="Shape 174"/>
          <p:cNvSpPr/>
          <p:nvPr/>
        </p:nvSpPr>
        <p:spPr>
          <a:xfrm>
            <a:off x="9026931" y="3046297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77" name="Shape 175"/>
          <p:cNvSpPr/>
          <p:nvPr/>
        </p:nvSpPr>
        <p:spPr>
          <a:xfrm>
            <a:off x="8717315" y="3046297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78" name="Text 176"/>
          <p:cNvSpPr txBox="1"/>
          <p:nvPr/>
        </p:nvSpPr>
        <p:spPr>
          <a:xfrm>
            <a:off x="9390888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43.1%</a:t>
            </a:r>
            <a:endParaRPr lang="en-US" sz="1300" dirty="0"/>
          </a:p>
        </p:txBody>
      </p:sp>
      <p:sp>
        <p:nvSpPr>
          <p:cNvPr id="179" name="Text 177"/>
          <p:cNvSpPr txBox="1"/>
          <p:nvPr/>
        </p:nvSpPr>
        <p:spPr>
          <a:xfrm>
            <a:off x="9957816" y="300245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34.5%</a:t>
            </a:r>
            <a:endParaRPr lang="en-US" sz="1300" dirty="0"/>
          </a:p>
        </p:txBody>
      </p:sp>
      <p:sp>
        <p:nvSpPr>
          <p:cNvPr id="180" name="Text 178"/>
          <p:cNvSpPr txBox="1"/>
          <p:nvPr/>
        </p:nvSpPr>
        <p:spPr>
          <a:xfrm>
            <a:off x="10524744" y="300245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−8.6 pts</a:t>
            </a:r>
            <a:endParaRPr lang="en-US" sz="1300" dirty="0"/>
          </a:p>
        </p:txBody>
      </p:sp>
      <p:sp>
        <p:nvSpPr>
          <p:cNvPr id="181" name="Shape 179"/>
          <p:cNvSpPr/>
          <p:nvPr/>
        </p:nvSpPr>
        <p:spPr>
          <a:xfrm>
            <a:off x="6135624" y="322729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82" name="Text 180"/>
          <p:cNvSpPr txBox="1"/>
          <p:nvPr/>
        </p:nvSpPr>
        <p:spPr>
          <a:xfrm>
            <a:off x="6208776" y="322729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TOYOTA PRESCOTT</a:t>
            </a:r>
            <a:endParaRPr lang="en-US" sz="1300" dirty="0"/>
          </a:p>
        </p:txBody>
      </p:sp>
      <p:sp>
        <p:nvSpPr>
          <p:cNvPr id="183" name="Shape 181"/>
          <p:cNvSpPr/>
          <p:nvPr/>
        </p:nvSpPr>
        <p:spPr>
          <a:xfrm>
            <a:off x="8728317" y="3325996"/>
            <a:ext cx="317185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84" name="Shape 182"/>
          <p:cNvSpPr/>
          <p:nvPr/>
        </p:nvSpPr>
        <p:spPr>
          <a:xfrm>
            <a:off x="8976922" y="3271132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85" name="Shape 183"/>
          <p:cNvSpPr/>
          <p:nvPr/>
        </p:nvSpPr>
        <p:spPr>
          <a:xfrm>
            <a:off x="8659737" y="3271132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86" name="Text 184"/>
          <p:cNvSpPr txBox="1"/>
          <p:nvPr/>
        </p:nvSpPr>
        <p:spPr>
          <a:xfrm>
            <a:off x="9390888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41.7%</a:t>
            </a:r>
            <a:endParaRPr lang="en-US" sz="1300" dirty="0"/>
          </a:p>
        </p:txBody>
      </p:sp>
      <p:sp>
        <p:nvSpPr>
          <p:cNvPr id="187" name="Text 185"/>
          <p:cNvSpPr txBox="1"/>
          <p:nvPr/>
        </p:nvSpPr>
        <p:spPr>
          <a:xfrm>
            <a:off x="9957816" y="322729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32.8%</a:t>
            </a:r>
            <a:endParaRPr lang="en-US" sz="1300" dirty="0"/>
          </a:p>
        </p:txBody>
      </p:sp>
      <p:sp>
        <p:nvSpPr>
          <p:cNvPr id="188" name="Text 186"/>
          <p:cNvSpPr txBox="1"/>
          <p:nvPr/>
        </p:nvSpPr>
        <p:spPr>
          <a:xfrm>
            <a:off x="10524744" y="322729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−8.8 pts</a:t>
            </a:r>
            <a:endParaRPr lang="en-US" sz="1300" dirty="0"/>
          </a:p>
        </p:txBody>
      </p:sp>
      <p:sp>
        <p:nvSpPr>
          <p:cNvPr id="189" name="Text 187"/>
          <p:cNvSpPr txBox="1"/>
          <p:nvPr/>
        </p:nvSpPr>
        <p:spPr>
          <a:xfrm>
            <a:off x="6208776" y="345212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KIA LV</a:t>
            </a:r>
            <a:endParaRPr lang="en-US" sz="1300" dirty="0"/>
          </a:p>
        </p:txBody>
      </p:sp>
      <p:sp>
        <p:nvSpPr>
          <p:cNvPr id="190" name="Shape 188"/>
          <p:cNvSpPr/>
          <p:nvPr/>
        </p:nvSpPr>
        <p:spPr>
          <a:xfrm>
            <a:off x="8717087" y="3550830"/>
            <a:ext cx="35871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1" name="Shape 189"/>
          <p:cNvSpPr/>
          <p:nvPr/>
        </p:nvSpPr>
        <p:spPr>
          <a:xfrm>
            <a:off x="9007225" y="349596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192" name="Shape 190"/>
          <p:cNvSpPr/>
          <p:nvPr/>
        </p:nvSpPr>
        <p:spPr>
          <a:xfrm>
            <a:off x="8648507" y="349596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193" name="Text 191"/>
          <p:cNvSpPr txBox="1"/>
          <p:nvPr/>
        </p:nvSpPr>
        <p:spPr>
          <a:xfrm>
            <a:off x="9390888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42.5%</a:t>
            </a:r>
            <a:endParaRPr lang="en-US" sz="1300" dirty="0"/>
          </a:p>
        </p:txBody>
      </p:sp>
      <p:sp>
        <p:nvSpPr>
          <p:cNvPr id="194" name="Text 192"/>
          <p:cNvSpPr txBox="1"/>
          <p:nvPr/>
        </p:nvSpPr>
        <p:spPr>
          <a:xfrm>
            <a:off x="9957816" y="345212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32.5%</a:t>
            </a:r>
            <a:endParaRPr lang="en-US" sz="1300" dirty="0"/>
          </a:p>
        </p:txBody>
      </p:sp>
      <p:sp>
        <p:nvSpPr>
          <p:cNvPr id="195" name="Text 193"/>
          <p:cNvSpPr txBox="1"/>
          <p:nvPr/>
        </p:nvSpPr>
        <p:spPr>
          <a:xfrm>
            <a:off x="10524744" y="345212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−10.0 pts</a:t>
            </a:r>
            <a:endParaRPr lang="en-US" sz="1300" dirty="0"/>
          </a:p>
        </p:txBody>
      </p:sp>
      <p:sp>
        <p:nvSpPr>
          <p:cNvPr id="196" name="Shape 194"/>
          <p:cNvSpPr/>
          <p:nvPr/>
        </p:nvSpPr>
        <p:spPr>
          <a:xfrm>
            <a:off x="6135624" y="3676964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197" name="Text 195"/>
          <p:cNvSpPr txBox="1"/>
          <p:nvPr/>
        </p:nvSpPr>
        <p:spPr>
          <a:xfrm>
            <a:off x="6208776" y="3676964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HENDERSON</a:t>
            </a:r>
            <a:endParaRPr lang="en-US" sz="1300" dirty="0"/>
          </a:p>
        </p:txBody>
      </p:sp>
      <p:sp>
        <p:nvSpPr>
          <p:cNvPr id="198" name="Shape 196"/>
          <p:cNvSpPr/>
          <p:nvPr/>
        </p:nvSpPr>
        <p:spPr>
          <a:xfrm>
            <a:off x="8512041" y="3775665"/>
            <a:ext cx="36228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199" name="Shape 197"/>
          <p:cNvSpPr/>
          <p:nvPr/>
        </p:nvSpPr>
        <p:spPr>
          <a:xfrm>
            <a:off x="8805744" y="372080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0" name="Shape 198"/>
          <p:cNvSpPr/>
          <p:nvPr/>
        </p:nvSpPr>
        <p:spPr>
          <a:xfrm>
            <a:off x="8443461" y="372080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1" name="Text 199"/>
          <p:cNvSpPr txBox="1"/>
          <p:nvPr/>
        </p:nvSpPr>
        <p:spPr>
          <a:xfrm>
            <a:off x="9390888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36.9%</a:t>
            </a:r>
            <a:endParaRPr lang="en-US" sz="1300" dirty="0"/>
          </a:p>
        </p:txBody>
      </p:sp>
      <p:sp>
        <p:nvSpPr>
          <p:cNvPr id="202" name="Text 200"/>
          <p:cNvSpPr txBox="1"/>
          <p:nvPr/>
        </p:nvSpPr>
        <p:spPr>
          <a:xfrm>
            <a:off x="9957816" y="3676964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26.8%</a:t>
            </a:r>
            <a:endParaRPr lang="en-US" sz="1300" dirty="0"/>
          </a:p>
        </p:txBody>
      </p:sp>
      <p:sp>
        <p:nvSpPr>
          <p:cNvPr id="203" name="Text 201"/>
          <p:cNvSpPr txBox="1"/>
          <p:nvPr/>
        </p:nvSpPr>
        <p:spPr>
          <a:xfrm>
            <a:off x="10524744" y="3676964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−10.1 pts</a:t>
            </a:r>
            <a:endParaRPr lang="en-US" sz="1300" dirty="0"/>
          </a:p>
        </p:txBody>
      </p:sp>
      <p:sp>
        <p:nvSpPr>
          <p:cNvPr id="204" name="Text 202"/>
          <p:cNvSpPr txBox="1"/>
          <p:nvPr/>
        </p:nvSpPr>
        <p:spPr>
          <a:xfrm>
            <a:off x="6208776" y="3901799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VW ST GEORGE</a:t>
            </a:r>
            <a:endParaRPr lang="en-US" sz="1300" dirty="0"/>
          </a:p>
        </p:txBody>
      </p:sp>
      <p:sp>
        <p:nvSpPr>
          <p:cNvPr id="205" name="Shape 203"/>
          <p:cNvSpPr/>
          <p:nvPr/>
        </p:nvSpPr>
        <p:spPr>
          <a:xfrm>
            <a:off x="8687444" y="4000500"/>
            <a:ext cx="365880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06" name="Shape 204"/>
          <p:cNvSpPr/>
          <p:nvPr/>
        </p:nvSpPr>
        <p:spPr>
          <a:xfrm>
            <a:off x="8984744" y="394563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07" name="Shape 205"/>
          <p:cNvSpPr/>
          <p:nvPr/>
        </p:nvSpPr>
        <p:spPr>
          <a:xfrm>
            <a:off x="8618864" y="394563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08" name="Text 206"/>
          <p:cNvSpPr txBox="1"/>
          <p:nvPr/>
        </p:nvSpPr>
        <p:spPr>
          <a:xfrm>
            <a:off x="9390888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41.9%</a:t>
            </a:r>
            <a:endParaRPr lang="en-US" sz="1300" dirty="0"/>
          </a:p>
        </p:txBody>
      </p:sp>
      <p:sp>
        <p:nvSpPr>
          <p:cNvPr id="209" name="Text 207"/>
          <p:cNvSpPr txBox="1"/>
          <p:nvPr/>
        </p:nvSpPr>
        <p:spPr>
          <a:xfrm>
            <a:off x="9957816" y="3901799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31.7%</a:t>
            </a:r>
            <a:endParaRPr lang="en-US" sz="1300" dirty="0"/>
          </a:p>
        </p:txBody>
      </p:sp>
      <p:sp>
        <p:nvSpPr>
          <p:cNvPr id="210" name="Text 208"/>
          <p:cNvSpPr txBox="1"/>
          <p:nvPr/>
        </p:nvSpPr>
        <p:spPr>
          <a:xfrm>
            <a:off x="10524744" y="3901799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1" name="Shape 209"/>
          <p:cNvSpPr/>
          <p:nvPr/>
        </p:nvSpPr>
        <p:spPr>
          <a:xfrm>
            <a:off x="6135624" y="412663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12" name="Text 210"/>
          <p:cNvSpPr txBox="1"/>
          <p:nvPr/>
        </p:nvSpPr>
        <p:spPr>
          <a:xfrm>
            <a:off x="6208776" y="412663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CADILLAC</a:t>
            </a:r>
            <a:endParaRPr lang="en-US" sz="1300" dirty="0"/>
          </a:p>
        </p:txBody>
      </p:sp>
      <p:sp>
        <p:nvSpPr>
          <p:cNvPr id="213" name="Shape 211"/>
          <p:cNvSpPr/>
          <p:nvPr/>
        </p:nvSpPr>
        <p:spPr>
          <a:xfrm>
            <a:off x="8654442" y="4225335"/>
            <a:ext cx="367907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14" name="Shape 212"/>
          <p:cNvSpPr/>
          <p:nvPr/>
        </p:nvSpPr>
        <p:spPr>
          <a:xfrm>
            <a:off x="8953769" y="4170471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15" name="Shape 213"/>
          <p:cNvSpPr/>
          <p:nvPr/>
        </p:nvSpPr>
        <p:spPr>
          <a:xfrm>
            <a:off x="8585862" y="4170471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16" name="Text 214"/>
          <p:cNvSpPr txBox="1"/>
          <p:nvPr/>
        </p:nvSpPr>
        <p:spPr>
          <a:xfrm>
            <a:off x="9390888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41.0%</a:t>
            </a:r>
            <a:endParaRPr lang="en-US" sz="1300" dirty="0"/>
          </a:p>
        </p:txBody>
      </p:sp>
      <p:sp>
        <p:nvSpPr>
          <p:cNvPr id="217" name="Text 215"/>
          <p:cNvSpPr txBox="1"/>
          <p:nvPr/>
        </p:nvSpPr>
        <p:spPr>
          <a:xfrm>
            <a:off x="9957816" y="412663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30.8%</a:t>
            </a:r>
            <a:endParaRPr lang="en-US" sz="1300" dirty="0"/>
          </a:p>
        </p:txBody>
      </p:sp>
      <p:sp>
        <p:nvSpPr>
          <p:cNvPr id="218" name="Text 216"/>
          <p:cNvSpPr txBox="1"/>
          <p:nvPr/>
        </p:nvSpPr>
        <p:spPr>
          <a:xfrm>
            <a:off x="10524744" y="412663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−10.2 pts</a:t>
            </a:r>
            <a:endParaRPr lang="en-US" sz="1300" dirty="0"/>
          </a:p>
        </p:txBody>
      </p:sp>
      <p:sp>
        <p:nvSpPr>
          <p:cNvPr id="219" name="Text 217"/>
          <p:cNvSpPr txBox="1"/>
          <p:nvPr/>
        </p:nvSpPr>
        <p:spPr>
          <a:xfrm>
            <a:off x="6208776" y="435146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ACURA</a:t>
            </a:r>
            <a:endParaRPr lang="en-US" sz="1300" dirty="0"/>
          </a:p>
        </p:txBody>
      </p:sp>
      <p:sp>
        <p:nvSpPr>
          <p:cNvPr id="220" name="Shape 218"/>
          <p:cNvSpPr/>
          <p:nvPr/>
        </p:nvSpPr>
        <p:spPr>
          <a:xfrm>
            <a:off x="8770408" y="4450170"/>
            <a:ext cx="38980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1" name="Shape 219"/>
          <p:cNvSpPr/>
          <p:nvPr/>
        </p:nvSpPr>
        <p:spPr>
          <a:xfrm>
            <a:off x="9091637" y="4395306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22" name="Shape 220"/>
          <p:cNvSpPr/>
          <p:nvPr/>
        </p:nvSpPr>
        <p:spPr>
          <a:xfrm>
            <a:off x="8701828" y="4395306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23" name="Text 221"/>
          <p:cNvSpPr txBox="1"/>
          <p:nvPr/>
        </p:nvSpPr>
        <p:spPr>
          <a:xfrm>
            <a:off x="9390888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44.9%</a:t>
            </a:r>
            <a:endParaRPr lang="en-US" sz="1300" dirty="0"/>
          </a:p>
        </p:txBody>
      </p:sp>
      <p:sp>
        <p:nvSpPr>
          <p:cNvPr id="224" name="Text 222"/>
          <p:cNvSpPr txBox="1"/>
          <p:nvPr/>
        </p:nvSpPr>
        <p:spPr>
          <a:xfrm>
            <a:off x="9957816" y="435146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34.0%</a:t>
            </a:r>
            <a:endParaRPr lang="en-US" sz="1300" dirty="0"/>
          </a:p>
        </p:txBody>
      </p:sp>
      <p:sp>
        <p:nvSpPr>
          <p:cNvPr id="225" name="Text 223"/>
          <p:cNvSpPr txBox="1"/>
          <p:nvPr/>
        </p:nvSpPr>
        <p:spPr>
          <a:xfrm>
            <a:off x="10524744" y="435146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−10.8 pts</a:t>
            </a:r>
            <a:endParaRPr lang="en-US" sz="1300" dirty="0"/>
          </a:p>
        </p:txBody>
      </p:sp>
      <p:sp>
        <p:nvSpPr>
          <p:cNvPr id="226" name="Shape 224"/>
          <p:cNvSpPr/>
          <p:nvPr/>
        </p:nvSpPr>
        <p:spPr>
          <a:xfrm>
            <a:off x="6135624" y="457630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27" name="Text 225"/>
          <p:cNvSpPr txBox="1"/>
          <p:nvPr/>
        </p:nvSpPr>
        <p:spPr>
          <a:xfrm>
            <a:off x="6208776" y="457630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CDJR POST FALLS</a:t>
            </a:r>
            <a:endParaRPr lang="en-US" sz="1300" dirty="0"/>
          </a:p>
        </p:txBody>
      </p:sp>
      <p:sp>
        <p:nvSpPr>
          <p:cNvPr id="228" name="Shape 226"/>
          <p:cNvSpPr/>
          <p:nvPr/>
        </p:nvSpPr>
        <p:spPr>
          <a:xfrm>
            <a:off x="8425794" y="4675004"/>
            <a:ext cx="4028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29" name="Shape 227"/>
          <p:cNvSpPr/>
          <p:nvPr/>
        </p:nvSpPr>
        <p:spPr>
          <a:xfrm>
            <a:off x="8760105" y="462014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0" name="Shape 228"/>
          <p:cNvSpPr/>
          <p:nvPr/>
        </p:nvSpPr>
        <p:spPr>
          <a:xfrm>
            <a:off x="8357214" y="462014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1" name="Text 229"/>
          <p:cNvSpPr txBox="1"/>
          <p:nvPr/>
        </p:nvSpPr>
        <p:spPr>
          <a:xfrm>
            <a:off x="9390888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35.6%</a:t>
            </a:r>
            <a:endParaRPr lang="en-US" sz="1300" dirty="0"/>
          </a:p>
        </p:txBody>
      </p:sp>
      <p:sp>
        <p:nvSpPr>
          <p:cNvPr id="232" name="Text 230"/>
          <p:cNvSpPr txBox="1"/>
          <p:nvPr/>
        </p:nvSpPr>
        <p:spPr>
          <a:xfrm>
            <a:off x="9957816" y="457630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24.4%</a:t>
            </a:r>
            <a:endParaRPr lang="en-US" sz="1300" dirty="0"/>
          </a:p>
        </p:txBody>
      </p:sp>
      <p:sp>
        <p:nvSpPr>
          <p:cNvPr id="233" name="Text 231"/>
          <p:cNvSpPr txBox="1"/>
          <p:nvPr/>
        </p:nvSpPr>
        <p:spPr>
          <a:xfrm>
            <a:off x="10524744" y="457630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−11.2 pts</a:t>
            </a:r>
            <a:endParaRPr lang="en-US" sz="1300" dirty="0"/>
          </a:p>
        </p:txBody>
      </p:sp>
      <p:sp>
        <p:nvSpPr>
          <p:cNvPr id="234" name="Text 232"/>
          <p:cNvSpPr txBox="1"/>
          <p:nvPr/>
        </p:nvSpPr>
        <p:spPr>
          <a:xfrm>
            <a:off x="6208776" y="480113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RENO</a:t>
            </a:r>
            <a:endParaRPr lang="en-US" sz="1300" dirty="0"/>
          </a:p>
        </p:txBody>
      </p:sp>
      <p:sp>
        <p:nvSpPr>
          <p:cNvPr id="235" name="Shape 233"/>
          <p:cNvSpPr/>
          <p:nvPr/>
        </p:nvSpPr>
        <p:spPr>
          <a:xfrm>
            <a:off x="8627876" y="4899839"/>
            <a:ext cx="523192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36" name="Shape 234"/>
          <p:cNvSpPr/>
          <p:nvPr/>
        </p:nvSpPr>
        <p:spPr>
          <a:xfrm>
            <a:off x="9082487" y="484497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37" name="Shape 235"/>
          <p:cNvSpPr/>
          <p:nvPr/>
        </p:nvSpPr>
        <p:spPr>
          <a:xfrm>
            <a:off x="8559296" y="484497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38" name="Text 236"/>
          <p:cNvSpPr txBox="1"/>
          <p:nvPr/>
        </p:nvSpPr>
        <p:spPr>
          <a:xfrm>
            <a:off x="9390888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44.6%</a:t>
            </a:r>
            <a:endParaRPr lang="en-US" sz="1300" dirty="0"/>
          </a:p>
        </p:txBody>
      </p:sp>
      <p:sp>
        <p:nvSpPr>
          <p:cNvPr id="239" name="Text 237"/>
          <p:cNvSpPr txBox="1"/>
          <p:nvPr/>
        </p:nvSpPr>
        <p:spPr>
          <a:xfrm>
            <a:off x="9957816" y="480113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30.1%</a:t>
            </a:r>
            <a:endParaRPr lang="en-US" sz="1300" dirty="0"/>
          </a:p>
        </p:txBody>
      </p:sp>
      <p:sp>
        <p:nvSpPr>
          <p:cNvPr id="240" name="Text 238"/>
          <p:cNvSpPr txBox="1"/>
          <p:nvPr/>
        </p:nvSpPr>
        <p:spPr>
          <a:xfrm>
            <a:off x="10524744" y="480113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−14.5 pts</a:t>
            </a:r>
            <a:endParaRPr lang="en-US" sz="1300" dirty="0"/>
          </a:p>
        </p:txBody>
      </p:sp>
      <p:sp>
        <p:nvSpPr>
          <p:cNvPr id="241" name="Shape 239"/>
          <p:cNvSpPr/>
          <p:nvPr/>
        </p:nvSpPr>
        <p:spPr>
          <a:xfrm>
            <a:off x="6135624" y="5025973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42" name="Text 240"/>
          <p:cNvSpPr txBox="1"/>
          <p:nvPr/>
        </p:nvSpPr>
        <p:spPr>
          <a:xfrm>
            <a:off x="6208776" y="5025973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AUDI RENO</a:t>
            </a:r>
            <a:endParaRPr lang="en-US" sz="1300" dirty="0"/>
          </a:p>
        </p:txBody>
      </p:sp>
      <p:sp>
        <p:nvSpPr>
          <p:cNvPr id="243" name="Shape 241"/>
          <p:cNvSpPr/>
          <p:nvPr/>
        </p:nvSpPr>
        <p:spPr>
          <a:xfrm>
            <a:off x="8579382" y="5124674"/>
            <a:ext cx="529999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44" name="Shape 242"/>
          <p:cNvSpPr/>
          <p:nvPr/>
        </p:nvSpPr>
        <p:spPr>
          <a:xfrm>
            <a:off x="9040801" y="506981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45" name="Shape 243"/>
          <p:cNvSpPr/>
          <p:nvPr/>
        </p:nvSpPr>
        <p:spPr>
          <a:xfrm>
            <a:off x="8510802" y="506981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46" name="Text 244"/>
          <p:cNvSpPr txBox="1"/>
          <p:nvPr/>
        </p:nvSpPr>
        <p:spPr>
          <a:xfrm>
            <a:off x="9390888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43.4%</a:t>
            </a:r>
            <a:endParaRPr lang="en-US" sz="1300" dirty="0"/>
          </a:p>
        </p:txBody>
      </p:sp>
      <p:sp>
        <p:nvSpPr>
          <p:cNvPr id="247" name="Text 245"/>
          <p:cNvSpPr txBox="1"/>
          <p:nvPr/>
        </p:nvSpPr>
        <p:spPr>
          <a:xfrm>
            <a:off x="9957816" y="5025973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28.7%</a:t>
            </a:r>
            <a:endParaRPr lang="en-US" sz="1300" dirty="0"/>
          </a:p>
        </p:txBody>
      </p:sp>
      <p:sp>
        <p:nvSpPr>
          <p:cNvPr id="248" name="Text 246"/>
          <p:cNvSpPr txBox="1"/>
          <p:nvPr/>
        </p:nvSpPr>
        <p:spPr>
          <a:xfrm>
            <a:off x="10524744" y="5025973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−14.7 pts</a:t>
            </a:r>
            <a:endParaRPr lang="en-US" sz="1300" dirty="0"/>
          </a:p>
        </p:txBody>
      </p:sp>
      <p:sp>
        <p:nvSpPr>
          <p:cNvPr id="249" name="Text 247"/>
          <p:cNvSpPr txBox="1"/>
          <p:nvPr/>
        </p:nvSpPr>
        <p:spPr>
          <a:xfrm>
            <a:off x="6208776" y="5250808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HONDA FLAGSTAFF</a:t>
            </a:r>
            <a:endParaRPr lang="en-US" sz="1300" dirty="0"/>
          </a:p>
        </p:txBody>
      </p:sp>
      <p:sp>
        <p:nvSpPr>
          <p:cNvPr id="250" name="Shape 248"/>
          <p:cNvSpPr/>
          <p:nvPr/>
        </p:nvSpPr>
        <p:spPr>
          <a:xfrm>
            <a:off x="8614506" y="5349509"/>
            <a:ext cx="554833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1" name="Shape 249"/>
          <p:cNvSpPr/>
          <p:nvPr/>
        </p:nvSpPr>
        <p:spPr>
          <a:xfrm>
            <a:off x="9100759" y="5294645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52" name="Shape 250"/>
          <p:cNvSpPr/>
          <p:nvPr/>
        </p:nvSpPr>
        <p:spPr>
          <a:xfrm>
            <a:off x="8545926" y="5294645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53" name="Text 251"/>
          <p:cNvSpPr txBox="1"/>
          <p:nvPr/>
        </p:nvSpPr>
        <p:spPr>
          <a:xfrm>
            <a:off x="9390888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45.1%</a:t>
            </a:r>
            <a:endParaRPr lang="en-US" sz="1300" dirty="0"/>
          </a:p>
        </p:txBody>
      </p:sp>
      <p:sp>
        <p:nvSpPr>
          <p:cNvPr id="254" name="Text 252"/>
          <p:cNvSpPr txBox="1"/>
          <p:nvPr/>
        </p:nvSpPr>
        <p:spPr>
          <a:xfrm>
            <a:off x="9957816" y="5250808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29.7%</a:t>
            </a:r>
            <a:endParaRPr lang="en-US" sz="1300" dirty="0"/>
          </a:p>
        </p:txBody>
      </p:sp>
      <p:sp>
        <p:nvSpPr>
          <p:cNvPr id="255" name="Text 253"/>
          <p:cNvSpPr txBox="1"/>
          <p:nvPr/>
        </p:nvSpPr>
        <p:spPr>
          <a:xfrm>
            <a:off x="10524744" y="5250808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−15.4 pts</a:t>
            </a:r>
            <a:endParaRPr lang="en-US" sz="1300" dirty="0"/>
          </a:p>
        </p:txBody>
      </p:sp>
      <p:sp>
        <p:nvSpPr>
          <p:cNvPr id="256" name="Shape 254"/>
          <p:cNvSpPr/>
          <p:nvPr/>
        </p:nvSpPr>
        <p:spPr>
          <a:xfrm>
            <a:off x="6135624" y="5475642"/>
            <a:ext cx="5394960" cy="224835"/>
          </a:xfrm>
          <a:prstGeom prst="rect">
            <a:avLst/>
          </a:prstGeom>
          <a:solidFill>
            <a:srgbClr val="F7F7F7"/>
          </a:solidFill>
          <a:ln/>
        </p:spPr>
      </p:sp>
      <p:sp>
        <p:nvSpPr>
          <p:cNvPr id="257" name="Text 255"/>
          <p:cNvSpPr txBox="1"/>
          <p:nvPr/>
        </p:nvSpPr>
        <p:spPr>
          <a:xfrm>
            <a:off x="6208776" y="5475642"/>
            <a:ext cx="2011680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LR LV</a:t>
            </a:r>
            <a:endParaRPr lang="en-US" sz="1300" dirty="0"/>
          </a:p>
        </p:txBody>
      </p:sp>
      <p:sp>
        <p:nvSpPr>
          <p:cNvPr id="258" name="Shape 256"/>
          <p:cNvSpPr/>
          <p:nvPr/>
        </p:nvSpPr>
        <p:spPr>
          <a:xfrm>
            <a:off x="8453821" y="5574344"/>
            <a:ext cx="631638" cy="27432"/>
          </a:xfrm>
          <a:prstGeom prst="rect">
            <a:avLst/>
          </a:prstGeom>
          <a:solidFill>
            <a:srgbClr val="D9D9D9"/>
          </a:solidFill>
          <a:ln/>
        </p:spPr>
      </p:sp>
      <p:sp>
        <p:nvSpPr>
          <p:cNvPr id="259" name="Shape 257"/>
          <p:cNvSpPr/>
          <p:nvPr/>
        </p:nvSpPr>
        <p:spPr>
          <a:xfrm>
            <a:off x="9016879" y="5519480"/>
            <a:ext cx="137160" cy="137160"/>
          </a:xfrm>
          <a:prstGeom prst="ellipse">
            <a:avLst/>
          </a:prstGeom>
          <a:solidFill>
            <a:srgbClr val="0B2C4A"/>
          </a:solidFill>
          <a:ln/>
        </p:spPr>
      </p:sp>
      <p:sp>
        <p:nvSpPr>
          <p:cNvPr id="260" name="Shape 258"/>
          <p:cNvSpPr/>
          <p:nvPr/>
        </p:nvSpPr>
        <p:spPr>
          <a:xfrm>
            <a:off x="8385241" y="5519480"/>
            <a:ext cx="137160" cy="137160"/>
          </a:xfrm>
          <a:prstGeom prst="ellipse">
            <a:avLst/>
          </a:prstGeom>
          <a:solidFill>
            <a:srgbClr val="C2352F"/>
          </a:solidFill>
          <a:ln/>
        </p:spPr>
      </p:sp>
      <p:sp>
        <p:nvSpPr>
          <p:cNvPr id="261" name="Text 259"/>
          <p:cNvSpPr txBox="1"/>
          <p:nvPr/>
        </p:nvSpPr>
        <p:spPr>
          <a:xfrm>
            <a:off x="9390888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42.8%</a:t>
            </a:r>
            <a:endParaRPr lang="en-US" sz="1300" dirty="0"/>
          </a:p>
        </p:txBody>
      </p:sp>
      <p:sp>
        <p:nvSpPr>
          <p:cNvPr id="262" name="Text 260"/>
          <p:cNvSpPr txBox="1"/>
          <p:nvPr/>
        </p:nvSpPr>
        <p:spPr>
          <a:xfrm>
            <a:off x="9957816" y="5475642"/>
            <a:ext cx="566928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25.2%</a:t>
            </a:r>
            <a:endParaRPr lang="en-US" sz="1300" dirty="0"/>
          </a:p>
        </p:txBody>
      </p:sp>
      <p:sp>
        <p:nvSpPr>
          <p:cNvPr id="263" name="Text 261"/>
          <p:cNvSpPr txBox="1"/>
          <p:nvPr/>
        </p:nvSpPr>
        <p:spPr>
          <a:xfrm>
            <a:off x="10524744" y="5475642"/>
            <a:ext cx="859536" cy="22483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A82B2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−17.6 pts</a:t>
            </a:r>
            <a:endParaRPr lang="en-US" sz="1300" dirty="0"/>
          </a:p>
        </p:txBody>
      </p:sp>
      <p:sp>
        <p:nvSpPr>
          <p:cNvPr id="264" name="Shape 262"/>
          <p:cNvSpPr/>
          <p:nvPr/>
        </p:nvSpPr>
        <p:spPr>
          <a:xfrm>
            <a:off x="457200" y="6126480"/>
            <a:ext cx="11274552" cy="600456"/>
          </a:xfrm>
          <a:prstGeom prst="rect">
            <a:avLst/>
          </a:prstGeom>
          <a:solidFill>
            <a:srgbClr val="EDF4FA"/>
          </a:solidFill>
          <a:ln/>
        </p:spPr>
      </p:sp>
      <p:sp>
        <p:nvSpPr>
          <p:cNvPr id="265" name="Text 263"/>
          <p:cNvSpPr txBox="1"/>
          <p:nvPr/>
        </p:nvSpPr>
        <p:spPr>
          <a:xfrm>
            <a:off x="658368" y="6144768"/>
            <a:ext cx="10927080" cy="563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B2C4A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Internal parts margin runs 4.2 pts below customer pay across the group; 11 of 33 stores are at or better than that gap. Widest: LR LV (−17.6 pts), Honda Flagstaff (−15.4 pts) and Audi Reno (−14.7 pts).</a:t>
            </a:r>
            <a:endParaRPr lang="en-US" sz="15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Inter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Inter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2026-10-21T21:13:55Z</dcterms:created>
  <dcterms:modified xsi:type="dcterms:W3CDTF">2026-10-21T21:13:55Z</dcterms:modified>
</cp:coreProperties>
</file>