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(−2.7 pts), red below. 8 stores run internal at or above customer pay: CADILLAC, CHEVY GMC BULLHEAD, GMC PRESCOTT, HYUNDAI PRESCOTT, HYUNDAI ST GEORGE, KIA LV, KIA ST GEORGE and VW ST GEORGE.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(−4.2 pts), red below. 5 stores run internal at or above customer pay: CHEVY LV, HONDA HENDERSON, SUBARU PRESCOTT, TOYOTA HENDERSON and VOLVO.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(−2.7 pts), red below. 8 stores run internal at or above customer pay: CADILLAC, CHEVY GMC BULLHEAD, GMC PRESCOTT, HYUNDAI PRESCOTT, HYUNDAI ST GEORGE, KIA LV, KIA ST GEORGE and VW ST GEORGE.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(−4.2 pts), red below. 5 stores run internal at or above customer pay: CHEVY LV, HONDA HENDERSON, SUBARU PRESCOTT, TOYOTA HENDERSON and VOLVO.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green = gap at or better than the 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margin runs 2.7 pts below customer pay across the group; 18 of 33 stores are at or better than that gap. Widest: Audi Reno (−20.0 pts), LR LV (−13.9 pts) and LR Henderson (−12.2 pts).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green = gap at or better than the 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004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margin runs 4.2 pts below customer pay across the group; 11 of 33 stores are at or better than that gap. Widest: LR LV (−17.6 pts), Honda Flagstaff (−15.4 pts) and Audi Reno (−14.7 pts).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navy dot = CP, green/red dot = internal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02139" y="2201821"/>
            <a:ext cx="14855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3559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482114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108087" y="2426656"/>
            <a:ext cx="14804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3039507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7550" y="237179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469490" y="2651491"/>
            <a:ext cx="11907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3400910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35" name="Shape 33"/>
          <p:cNvSpPr/>
          <p:nvPr/>
        </p:nvSpPr>
        <p:spPr>
          <a:xfrm>
            <a:off x="3519983" y="259662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46206" y="2876326"/>
            <a:ext cx="11016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3177626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43" name="Shape 41"/>
          <p:cNvSpPr/>
          <p:nvPr/>
        </p:nvSpPr>
        <p:spPr>
          <a:xfrm>
            <a:off x="3287794" y="282146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445098" y="3101161"/>
            <a:ext cx="8834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3376518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0" name="Shape 48"/>
          <p:cNvSpPr/>
          <p:nvPr/>
        </p:nvSpPr>
        <p:spPr>
          <a:xfrm>
            <a:off x="3464861" y="304629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575605" y="3325996"/>
            <a:ext cx="750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3507025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8" name="Shape 56"/>
          <p:cNvSpPr/>
          <p:nvPr/>
        </p:nvSpPr>
        <p:spPr>
          <a:xfrm>
            <a:off x="3582070" y="327113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470065" y="3550830"/>
            <a:ext cx="7423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3401485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65" name="Shape 63"/>
          <p:cNvSpPr/>
          <p:nvPr/>
        </p:nvSpPr>
        <p:spPr>
          <a:xfrm>
            <a:off x="3475720" y="349596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3467609" y="3775665"/>
            <a:ext cx="2639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3399029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73" name="Shape 71"/>
          <p:cNvSpPr/>
          <p:nvPr/>
        </p:nvSpPr>
        <p:spPr>
          <a:xfrm>
            <a:off x="3425422" y="372080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478988" y="4000500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3412024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0" name="Shape 78"/>
          <p:cNvSpPr/>
          <p:nvPr/>
        </p:nvSpPr>
        <p:spPr>
          <a:xfrm>
            <a:off x="3410408" y="394563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3668137" y="4225335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3605342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8" name="Shape 86"/>
          <p:cNvSpPr/>
          <p:nvPr/>
        </p:nvSpPr>
        <p:spPr>
          <a:xfrm>
            <a:off x="3599557" y="417047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3573014" y="4450170"/>
            <a:ext cx="106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3515065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95" name="Shape 93"/>
          <p:cNvSpPr/>
          <p:nvPr/>
        </p:nvSpPr>
        <p:spPr>
          <a:xfrm>
            <a:off x="3504434" y="439530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3293888" y="4675004"/>
            <a:ext cx="1183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237141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25308" y="462014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3429695" y="4899839"/>
            <a:ext cx="381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99231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61115" y="484497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3400294" y="5124674"/>
            <a:ext cx="648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396530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1714" y="506981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3373993" y="5349509"/>
            <a:ext cx="6500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0420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305413" y="529464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1" name="Shape 129"/>
          <p:cNvSpPr/>
          <p:nvPr/>
        </p:nvSpPr>
        <p:spPr>
          <a:xfrm>
            <a:off x="3557028" y="5574344"/>
            <a:ext cx="657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554179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88448" y="551948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3229189" y="5799179"/>
            <a:ext cx="6769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228307" y="574431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160609" y="574431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8912269" y="2201821"/>
            <a:ext cx="8086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924551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843689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9104456" y="2426656"/>
            <a:ext cx="8536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121240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035876" y="237179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801530" y="2651491"/>
            <a:ext cx="10128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834235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732950" y="259662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9060644" y="2876326"/>
            <a:ext cx="10768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099752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8992064" y="282146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9185604" y="3101161"/>
            <a:ext cx="11611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233139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9117024" y="304629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8903365" y="3325996"/>
            <a:ext cx="1184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953277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8834785" y="327113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9029152" y="3550830"/>
            <a:ext cx="14412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104691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8960572" y="349596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857207" y="3775665"/>
            <a:ext cx="15239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9" name="Shape 197"/>
          <p:cNvSpPr/>
          <p:nvPr/>
        </p:nvSpPr>
        <p:spPr>
          <a:xfrm>
            <a:off x="894102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788627" y="372080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8890071" y="4000500"/>
            <a:ext cx="2072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6" name="Shape 204"/>
          <p:cNvSpPr/>
          <p:nvPr/>
        </p:nvSpPr>
        <p:spPr>
          <a:xfrm>
            <a:off x="9028721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821491" y="394563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13" name="Shape 211"/>
          <p:cNvSpPr/>
          <p:nvPr/>
        </p:nvSpPr>
        <p:spPr>
          <a:xfrm>
            <a:off x="9004765" y="4225335"/>
            <a:ext cx="21567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51856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8936185" y="417047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898070" y="4450170"/>
            <a:ext cx="24584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9075337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8829490" y="439530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224" name="Text 222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225" name="Text 223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8692698" y="4675004"/>
            <a:ext cx="2771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8901234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624118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1" name="Text 229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232" name="Text 230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8659621" y="4899839"/>
            <a:ext cx="33236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8923402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8591041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239" name="Text 237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2" name="Text 240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8734634" y="5124674"/>
            <a:ext cx="37657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042625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666054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247" name="Text 245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248" name="Text 246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249" name="Text 247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50" name="Shape 248"/>
          <p:cNvSpPr/>
          <p:nvPr/>
        </p:nvSpPr>
        <p:spPr>
          <a:xfrm>
            <a:off x="8728847" y="5349509"/>
            <a:ext cx="42781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1" name="Shape 249"/>
          <p:cNvSpPr/>
          <p:nvPr/>
        </p:nvSpPr>
        <p:spPr>
          <a:xfrm>
            <a:off x="9088086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52" name="Shape 250"/>
          <p:cNvSpPr/>
          <p:nvPr/>
        </p:nvSpPr>
        <p:spPr>
          <a:xfrm>
            <a:off x="8660267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53" name="Text 25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254" name="Text 25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255" name="Text 25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256" name="Shape 25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58" name="Shape 256"/>
          <p:cNvSpPr/>
          <p:nvPr/>
        </p:nvSpPr>
        <p:spPr>
          <a:xfrm>
            <a:off x="8383021" y="5574344"/>
            <a:ext cx="61596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9" name="Shape 257"/>
          <p:cNvSpPr/>
          <p:nvPr/>
        </p:nvSpPr>
        <p:spPr>
          <a:xfrm>
            <a:off x="8930404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60" name="Shape 258"/>
          <p:cNvSpPr/>
          <p:nvPr/>
        </p:nvSpPr>
        <p:spPr>
          <a:xfrm>
            <a:off x="831444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62" name="Text 260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63" name="Text 261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64" name="Shape 26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margin runs 2.7 pts below customer pay across the group; 18 of 33 stores are at or better than that gap. Widest: Audi Reno (−20.0 pts), LR LV (−13.9 pts) and LR Henderson (−12.2 pts).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navy dot = CP, green/red dot = internal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43130" y="2201821"/>
            <a:ext cx="1760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374550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550594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246517" y="2426656"/>
            <a:ext cx="8213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3177937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0074" y="237179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510339" y="2651491"/>
            <a:ext cx="446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3441759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35" name="Shape 33"/>
          <p:cNvSpPr/>
          <p:nvPr/>
        </p:nvSpPr>
        <p:spPr>
          <a:xfrm>
            <a:off x="3486374" y="259662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97045" y="2876326"/>
            <a:ext cx="2402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3228465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43" name="Shape 41"/>
          <p:cNvSpPr/>
          <p:nvPr/>
        </p:nvSpPr>
        <p:spPr>
          <a:xfrm>
            <a:off x="3252486" y="282146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525560" y="3101161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3456980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0" name="Shape 48"/>
          <p:cNvSpPr/>
          <p:nvPr/>
        </p:nvSpPr>
        <p:spPr>
          <a:xfrm>
            <a:off x="3462180" y="304629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293929" y="3325996"/>
            <a:ext cx="3873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3264081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8" name="Shape 56"/>
          <p:cNvSpPr/>
          <p:nvPr/>
        </p:nvSpPr>
        <p:spPr>
          <a:xfrm>
            <a:off x="3225349" y="327113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326510" y="3550830"/>
            <a:ext cx="8859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3346520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65" name="Shape 63"/>
          <p:cNvSpPr/>
          <p:nvPr/>
        </p:nvSpPr>
        <p:spPr>
          <a:xfrm>
            <a:off x="3257930" y="349596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3236489" y="3775665"/>
            <a:ext cx="9006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325797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73" name="Shape 71"/>
          <p:cNvSpPr/>
          <p:nvPr/>
        </p:nvSpPr>
        <p:spPr>
          <a:xfrm>
            <a:off x="3167909" y="372080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465703" y="4000500"/>
            <a:ext cx="9113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3488255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0" name="Shape 78"/>
          <p:cNvSpPr/>
          <p:nvPr/>
        </p:nvSpPr>
        <p:spPr>
          <a:xfrm>
            <a:off x="3397123" y="394563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3309192" y="4225335"/>
            <a:ext cx="13789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3378505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8" name="Shape 86"/>
          <p:cNvSpPr/>
          <p:nvPr/>
        </p:nvSpPr>
        <p:spPr>
          <a:xfrm>
            <a:off x="3240612" y="417047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3302099" y="4450170"/>
            <a:ext cx="13888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3372406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95" name="Shape 93"/>
          <p:cNvSpPr/>
          <p:nvPr/>
        </p:nvSpPr>
        <p:spPr>
          <a:xfrm>
            <a:off x="3233519" y="439530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3317186" y="4675004"/>
            <a:ext cx="18574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4355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48606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3123543" y="4899839"/>
            <a:ext cx="20375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258715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54963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3323749" y="5124674"/>
            <a:ext cx="20818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463352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255169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3196577" y="5349509"/>
            <a:ext cx="21576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43763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127997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1" name="Shape 129"/>
          <p:cNvSpPr/>
          <p:nvPr/>
        </p:nvSpPr>
        <p:spPr>
          <a:xfrm>
            <a:off x="3094741" y="5574344"/>
            <a:ext cx="22855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254713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02616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3425612" y="5799179"/>
            <a:ext cx="25982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616861" y="574431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357032" y="574431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8487596" y="2201821"/>
            <a:ext cx="26923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688254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419016" y="214695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864741" y="2426656"/>
            <a:ext cx="28104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077201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796161" y="237179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9028280" y="2651491"/>
            <a:ext cx="28187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1" name="Shape 159"/>
          <p:cNvSpPr/>
          <p:nvPr/>
        </p:nvSpPr>
        <p:spPr>
          <a:xfrm>
            <a:off x="9241576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959700" y="259662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809703" y="2876326"/>
            <a:ext cx="3043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045441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8741123" y="282146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8785895" y="3101161"/>
            <a:ext cx="3096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026931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8717315" y="304629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8728317" y="3325996"/>
            <a:ext cx="31718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976922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8659737" y="327113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717087" y="3550830"/>
            <a:ext cx="3587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007225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8648507" y="349596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512041" y="3775665"/>
            <a:ext cx="36228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9" name="Shape 197"/>
          <p:cNvSpPr/>
          <p:nvPr/>
        </p:nvSpPr>
        <p:spPr>
          <a:xfrm>
            <a:off x="880574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443461" y="372080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8687444" y="4000500"/>
            <a:ext cx="36588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984744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618864" y="394563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13" name="Shape 211"/>
          <p:cNvSpPr/>
          <p:nvPr/>
        </p:nvSpPr>
        <p:spPr>
          <a:xfrm>
            <a:off x="8654442" y="4225335"/>
            <a:ext cx="36790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4" name="Shape 212"/>
          <p:cNvSpPr/>
          <p:nvPr/>
        </p:nvSpPr>
        <p:spPr>
          <a:xfrm>
            <a:off x="8953769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8585862" y="417047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770408" y="4450170"/>
            <a:ext cx="38980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9091637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8701828" y="439530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224" name="Text 222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225" name="Text 223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8425794" y="4675004"/>
            <a:ext cx="4028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8760105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357214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1" name="Text 229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232" name="Text 230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8627876" y="4899839"/>
            <a:ext cx="5231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9082487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8559296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239" name="Text 237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2" name="Text 240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8579382" y="5124674"/>
            <a:ext cx="52999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040801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510802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247" name="Text 245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248" name="Text 246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249" name="Text 247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250" name="Shape 248"/>
          <p:cNvSpPr/>
          <p:nvPr/>
        </p:nvSpPr>
        <p:spPr>
          <a:xfrm>
            <a:off x="8614506" y="5349509"/>
            <a:ext cx="55483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1" name="Shape 249"/>
          <p:cNvSpPr/>
          <p:nvPr/>
        </p:nvSpPr>
        <p:spPr>
          <a:xfrm>
            <a:off x="9100759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52" name="Shape 250"/>
          <p:cNvSpPr/>
          <p:nvPr/>
        </p:nvSpPr>
        <p:spPr>
          <a:xfrm>
            <a:off x="8545926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53" name="Text 25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4" name="Text 25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255" name="Text 25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256" name="Shape 25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58" name="Shape 256"/>
          <p:cNvSpPr/>
          <p:nvPr/>
        </p:nvSpPr>
        <p:spPr>
          <a:xfrm>
            <a:off x="8453821" y="5574344"/>
            <a:ext cx="63163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016879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60" name="Shape 258"/>
          <p:cNvSpPr/>
          <p:nvPr/>
        </p:nvSpPr>
        <p:spPr>
          <a:xfrm>
            <a:off x="838524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62" name="Text 260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63" name="Text 261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64" name="Shape 262"/>
          <p:cNvSpPr/>
          <p:nvPr/>
        </p:nvSpPr>
        <p:spPr>
          <a:xfrm>
            <a:off x="457200" y="6126480"/>
            <a:ext cx="11274552" cy="6004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8368" y="6144768"/>
            <a:ext cx="109270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margin runs 4.2 pts below customer pay across the group; 11 of 33 stores are at or better than that gap. Widest: LR LV (−17.6 pts), Honda Flagstaff (−15.4 pts) and Audi Reno (−14.7 pts).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2026-10-24T00:53:02Z</dcterms:created>
  <dcterms:modified xsi:type="dcterms:W3CDTF">2026-10-24T00:53:02Z</dcterms:modified>
</cp:coreProperties>
</file>