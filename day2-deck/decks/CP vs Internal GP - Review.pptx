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25 of 33 stores collect less labor margin on internal work than on customer pay; the group is −2.7 pts. Widest: Audi Reno (−20.0 pts), LR LV (−13.9 pts) and LR Henderson (−12.2 pts).Source: Qlik - Closed Repair Orders. Jan-Sep 2026 by close month. Same-store, INEOS excluded (opened 2026). GMC Prescott body shop labor types excluded. Gap = internal GP% minus customer-pay GP%, in points. Green: internal at or above the store's own customer-pay rate; red: below. Dashed line: the group gap (−2.7 pts). At or above customer pay: Cadillac, Chevy GMC Bullhead, GMC Prescott, Hyundai Prescott, Hyundai St George, Kia LV, Kia St George and VW St George. A gap can be a policy (internal detail, used-car recon pricing) rather than a miss; confirm with the store before calling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28 of 33 stores collect less parts margin on internal work than on customer pay; the group is −4.2 pts. Widest: LR LV (−17.6 pts), Honda Flagstaff (−15.4 pts) and Audi Reno (−14.7 pts).Source: Qlik - Closed Repair Orders. Jan-Sep 2026 by close month. Same-store, INEOS excluded (opened 2026). GMC Prescott body shop labor types excluded. Gap = internal GP% minus customer-pay GP%, in points. Green: internal at or above the store's own customer-pay rate; red: below. Dashed line: the group gap (−4.2 pts). At or above customer pay: Chevy LV, Honda Henderson, Subaru Prescott, Toyota Henderson and Volvo. A gap can be a policy (internal detail, used-car recon pricing) rather than a miss; confirm with the store before calling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vs Customer-Pay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16736"/>
            <a:ext cx="10872216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16736"/>
            <a:ext cx="54864" cy="38404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CUSTOMER PAY 80.8%      INTERNAL 78.1%      GAP </a:t>
            </a:r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−2.7 pts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gap = internal minus own CP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49778" y="2103120"/>
            <a:ext cx="10973" cy="382219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" name="Shape 12"/>
          <p:cNvSpPr/>
          <p:nvPr/>
        </p:nvSpPr>
        <p:spPr>
          <a:xfrm>
            <a:off x="3183188" y="2103120"/>
            <a:ext cx="0" cy="3822192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8266176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39088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957816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24744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800186" y="2103120"/>
            <a:ext cx="10973" cy="3597357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0" name="Shape 18"/>
          <p:cNvSpPr/>
          <p:nvPr/>
        </p:nvSpPr>
        <p:spPr>
          <a:xfrm>
            <a:off x="8733596" y="2103120"/>
            <a:ext cx="0" cy="3597357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58368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55264" y="2153708"/>
            <a:ext cx="130113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840480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77.3%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0740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82.1%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974336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5216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55264" y="2378543"/>
            <a:ext cx="129665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40480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67.7%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72.5%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74336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255264" y="2603377"/>
            <a:ext cx="104292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40480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0740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83.3%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74336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5216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8368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255264" y="2828212"/>
            <a:ext cx="96492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840480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40740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75.8%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4974336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+3.6 pts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255264" y="3053047"/>
            <a:ext cx="77376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840480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78.7%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0740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974336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255264" y="3277882"/>
            <a:ext cx="65728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40480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82.9%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85.3%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974336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3255264" y="3502717"/>
            <a:ext cx="65019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840480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79.5%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440740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81.9%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974336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85216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3255264" y="3727552"/>
            <a:ext cx="2311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3840480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0740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80.2%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74336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 pts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253849" y="3952386"/>
            <a:ext cx="914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840480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0740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4974336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−0.1 pts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585216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58368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3250197" y="4177221"/>
            <a:ext cx="914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840480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86.1%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440740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85.9%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974336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−0.2 pts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3245953" y="4402056"/>
            <a:ext cx="931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3840480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83.2%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0740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82.8%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74336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−0.3 pts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585216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3244900" y="4626891"/>
            <a:ext cx="1036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40480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74.1%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40740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73.8%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4974336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−0.4 pts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3221879" y="4851726"/>
            <a:ext cx="3338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840480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78.2%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974336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−1.2 pts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585216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198494" y="5076561"/>
            <a:ext cx="5677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840480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79.3%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0740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77.2%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974336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3198327" y="5301395"/>
            <a:ext cx="5693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840480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78.5%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440740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76.4%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4974336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585216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658368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3197693" y="5526230"/>
            <a:ext cx="5757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3840480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84.4%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440740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82.3%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4974336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658368" y="5700477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3195970" y="5751065"/>
            <a:ext cx="5929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40480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07408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71.7%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4974336" y="5700477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−2.2 pts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8734848" y="2153708"/>
            <a:ext cx="7082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939088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78.6%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9957816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76.0%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524744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 pts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730906" y="2378543"/>
            <a:ext cx="7476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939088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85.0%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957816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82.2%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524744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−2.8 pts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716961" y="2603377"/>
            <a:ext cx="8871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939088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9957816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72.4%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10524744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−3.3 pts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6135624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6208776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8711353" y="2828212"/>
            <a:ext cx="9431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39088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84.3%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9957816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10524744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−3.5 pts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8703971" y="3053047"/>
            <a:ext cx="10170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39088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88.6%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9957816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84.8%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24744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141" name="Shape 139"/>
          <p:cNvSpPr/>
          <p:nvPr/>
        </p:nvSpPr>
        <p:spPr>
          <a:xfrm>
            <a:off x="6135624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6208776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701890" y="3277882"/>
            <a:ext cx="10378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39088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79.5%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57816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24744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679444" y="3502717"/>
            <a:ext cx="12622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39088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84.4%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57816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79.7%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24744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 pts</a:t>
            </a:r>
            <a:endParaRPr lang="en-US" sz="1300" dirty="0"/>
          </a:p>
        </p:txBody>
      </p:sp>
      <p:sp>
        <p:nvSpPr>
          <p:cNvPr id="152" name="Shape 150"/>
          <p:cNvSpPr/>
          <p:nvPr/>
        </p:nvSpPr>
        <p:spPr>
          <a:xfrm>
            <a:off x="6135624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6208776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672194" y="3727552"/>
            <a:ext cx="13347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39088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79.1%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9957816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74.2%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524744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−4.9 pts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6208776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624168" y="3952386"/>
            <a:ext cx="18150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39088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82.0%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9957816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75.2%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0524744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−6.7 pts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6135624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6208776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165" name="Shape 163"/>
          <p:cNvSpPr/>
          <p:nvPr/>
        </p:nvSpPr>
        <p:spPr>
          <a:xfrm>
            <a:off x="8616775" y="4177221"/>
            <a:ext cx="18889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939088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86.0%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9957816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24744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−7.0 pts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6208776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70" name="Shape 168"/>
          <p:cNvSpPr/>
          <p:nvPr/>
        </p:nvSpPr>
        <p:spPr>
          <a:xfrm>
            <a:off x="8590345" y="4402056"/>
            <a:ext cx="21532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9088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83.5%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75.5%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524744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−8.0 pts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6135624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6208776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76" name="Shape 174"/>
          <p:cNvSpPr/>
          <p:nvPr/>
        </p:nvSpPr>
        <p:spPr>
          <a:xfrm>
            <a:off x="8562958" y="4626891"/>
            <a:ext cx="24271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39088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77.8%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57816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68.8%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524744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−9.0 pts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8514572" y="4851726"/>
            <a:ext cx="29110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939088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78.5%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9957816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67.8%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10524744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−10.8 pts</a:t>
            </a:r>
            <a:endParaRPr lang="en-US" sz="1300" dirty="0"/>
          </a:p>
        </p:txBody>
      </p:sp>
      <p:sp>
        <p:nvSpPr>
          <p:cNvPr id="185" name="Shape 183"/>
          <p:cNvSpPr/>
          <p:nvPr/>
        </p:nvSpPr>
        <p:spPr>
          <a:xfrm>
            <a:off x="6135624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208776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87" name="Shape 185"/>
          <p:cNvSpPr/>
          <p:nvPr/>
        </p:nvSpPr>
        <p:spPr>
          <a:xfrm>
            <a:off x="8475849" y="5076561"/>
            <a:ext cx="329823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939088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82.4%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9957816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70.2%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10524744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−12.2 pts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6208776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92" name="Shape 190"/>
          <p:cNvSpPr/>
          <p:nvPr/>
        </p:nvSpPr>
        <p:spPr>
          <a:xfrm>
            <a:off x="8430963" y="5301395"/>
            <a:ext cx="37470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939088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83.9%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9957816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10524744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−13.9 pts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6135624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208776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8266176" y="5526230"/>
            <a:ext cx="53949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939088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78.8%</a:t>
            </a:r>
            <a:endParaRPr lang="en-US" sz="1300" dirty="0"/>
          </a:p>
        </p:txBody>
      </p:sp>
      <p:sp>
        <p:nvSpPr>
          <p:cNvPr id="200" name="Text 198"/>
          <p:cNvSpPr txBox="1"/>
          <p:nvPr/>
        </p:nvSpPr>
        <p:spPr>
          <a:xfrm>
            <a:off x="9957816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58.8%</a:t>
            </a:r>
            <a:endParaRPr lang="en-US" sz="1300" dirty="0"/>
          </a:p>
        </p:txBody>
      </p:sp>
      <p:sp>
        <p:nvSpPr>
          <p:cNvPr id="201" name="Text 199"/>
          <p:cNvSpPr txBox="1"/>
          <p:nvPr/>
        </p:nvSpPr>
        <p:spPr>
          <a:xfrm>
            <a:off x="10524744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−20.0 pts</a:t>
            </a:r>
            <a:endParaRPr lang="en-US" sz="1300" dirty="0"/>
          </a:p>
        </p:txBody>
      </p:sp>
      <p:sp>
        <p:nvSpPr>
          <p:cNvPr id="203" name="Shape 200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4" name="Text 201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collect less labor margin on internal work than on customer pay; the group is −2.7 pts.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vs Customer-Pay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16736"/>
            <a:ext cx="10872216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16736"/>
            <a:ext cx="54864" cy="38404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CUSTOMER PAY 40.7%      INTERNAL 36.5%      GAP </a:t>
            </a:r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 pts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gap = internal minus own CP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49778" y="2103120"/>
            <a:ext cx="10973" cy="382219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" name="Shape 12"/>
          <p:cNvSpPr/>
          <p:nvPr/>
        </p:nvSpPr>
        <p:spPr>
          <a:xfrm>
            <a:off x="3125947" y="2103120"/>
            <a:ext cx="0" cy="3822192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8266176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39088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957816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24744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800186" y="2103120"/>
            <a:ext cx="10973" cy="3597357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0" name="Shape 18"/>
          <p:cNvSpPr/>
          <p:nvPr/>
        </p:nvSpPr>
        <p:spPr>
          <a:xfrm>
            <a:off x="8676355" y="2103120"/>
            <a:ext cx="0" cy="3597357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58368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55264" y="2153708"/>
            <a:ext cx="150363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840480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0740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974336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 pts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5216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55264" y="2378543"/>
            <a:ext cx="7015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40480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34.8%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74336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+2.3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255264" y="2603377"/>
            <a:ext cx="3810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40480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42.1%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0740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43.3%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74336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5216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8368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255264" y="2828212"/>
            <a:ext cx="2051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840480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40740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4974336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+0.7 pts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255264" y="3053047"/>
            <a:ext cx="914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840480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42.5%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0740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974336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+0.1 pts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222182" y="3277882"/>
            <a:ext cx="3308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40480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37.2%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36.1%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974336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−1.1 pts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3179597" y="3502717"/>
            <a:ext cx="7566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840480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440740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974336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85216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3178337" y="3727552"/>
            <a:ext cx="7692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3840480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0740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74336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177426" y="3952386"/>
            <a:ext cx="7783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840480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43.4%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0740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4974336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585216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58368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3137487" y="4177221"/>
            <a:ext cx="11777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840480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40.3%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440740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974336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3136637" y="4402056"/>
            <a:ext cx="11862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3840480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0740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36.3%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74336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−3.9 pts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585216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3096612" y="4626891"/>
            <a:ext cx="15865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40480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40740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36.7%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4974336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−5.2 pts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3081235" y="4851726"/>
            <a:ext cx="17402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840480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31.3%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974336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−5.7 pts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585216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077450" y="5076561"/>
            <a:ext cx="17781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840480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0740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974336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−5.8 pts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3070973" y="5301395"/>
            <a:ext cx="18429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840480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440740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33.4%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4974336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−6.0 pts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585216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658368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3060053" y="5526230"/>
            <a:ext cx="19521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3840480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440740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30.5%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4974336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−6.4 pts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658368" y="5700477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3033339" y="5751065"/>
            <a:ext cx="22192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40480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47.0%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07408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39.7%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4974336" y="5700477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−7.2 pts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8575710" y="2153708"/>
            <a:ext cx="22996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939088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33.6%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9957816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26.2%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524744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−7.5 pts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565630" y="2378543"/>
            <a:ext cx="24004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939088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44.5%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957816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524744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 pts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564916" y="2603377"/>
            <a:ext cx="24075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939088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49.0%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9957816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41.2%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10524744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 pts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6135624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6208776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8545748" y="2828212"/>
            <a:ext cx="25992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39088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43.6%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9957816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10524744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−8.5 pts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8541222" y="3053047"/>
            <a:ext cx="26445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39088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43.1%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9957816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24744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−8.6 pts</a:t>
            </a:r>
            <a:endParaRPr lang="en-US" sz="1300" dirty="0"/>
          </a:p>
        </p:txBody>
      </p:sp>
      <p:sp>
        <p:nvSpPr>
          <p:cNvPr id="141" name="Shape 139"/>
          <p:cNvSpPr/>
          <p:nvPr/>
        </p:nvSpPr>
        <p:spPr>
          <a:xfrm>
            <a:off x="6135624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6208776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534757" y="3277882"/>
            <a:ext cx="27091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39088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41.7%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57816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32.8%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24744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−8.8 pts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499284" y="3502717"/>
            <a:ext cx="30638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39088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42.5%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57816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32.5%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24744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−10.0 pts</a:t>
            </a:r>
            <a:endParaRPr lang="en-US" sz="1300" dirty="0"/>
          </a:p>
        </p:txBody>
      </p:sp>
      <p:sp>
        <p:nvSpPr>
          <p:cNvPr id="152" name="Shape 150"/>
          <p:cNvSpPr/>
          <p:nvPr/>
        </p:nvSpPr>
        <p:spPr>
          <a:xfrm>
            <a:off x="6135624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6208776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496238" y="3727552"/>
            <a:ext cx="30943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39088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9957816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26.8%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524744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−10.1 pts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6208776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493166" y="3952386"/>
            <a:ext cx="31250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39088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9957816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0524744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−10.2 pts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6135624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6208776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65" name="Shape 163"/>
          <p:cNvSpPr/>
          <p:nvPr/>
        </p:nvSpPr>
        <p:spPr>
          <a:xfrm>
            <a:off x="8491434" y="4177221"/>
            <a:ext cx="31423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939088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41.0%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9957816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30.8%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24744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−10.2 pts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6208776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70" name="Shape 168"/>
          <p:cNvSpPr/>
          <p:nvPr/>
        </p:nvSpPr>
        <p:spPr>
          <a:xfrm>
            <a:off x="8472728" y="4402056"/>
            <a:ext cx="33294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9088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44.9%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34.0%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524744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−10.8 pts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6135624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6208776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76" name="Shape 174"/>
          <p:cNvSpPr/>
          <p:nvPr/>
        </p:nvSpPr>
        <p:spPr>
          <a:xfrm>
            <a:off x="8461553" y="4626891"/>
            <a:ext cx="34411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39088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35.6%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57816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524744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−11.2 pts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8358802" y="4851726"/>
            <a:ext cx="44687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939088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44.6%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9957816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30.1%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10524744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−14.5 pts</a:t>
            </a:r>
            <a:endParaRPr lang="en-US" sz="1300" dirty="0"/>
          </a:p>
        </p:txBody>
      </p:sp>
      <p:sp>
        <p:nvSpPr>
          <p:cNvPr id="185" name="Shape 183"/>
          <p:cNvSpPr/>
          <p:nvPr/>
        </p:nvSpPr>
        <p:spPr>
          <a:xfrm>
            <a:off x="6135624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208776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87" name="Shape 185"/>
          <p:cNvSpPr/>
          <p:nvPr/>
        </p:nvSpPr>
        <p:spPr>
          <a:xfrm>
            <a:off x="8352988" y="5076561"/>
            <a:ext cx="45268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939088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43.4%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9957816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28.7%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10524744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 pts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6208776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92" name="Shape 190"/>
          <p:cNvSpPr/>
          <p:nvPr/>
        </p:nvSpPr>
        <p:spPr>
          <a:xfrm>
            <a:off x="8331777" y="5301395"/>
            <a:ext cx="47389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939088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9957816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29.7%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10524744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−15.4 pts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6135624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208776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8266176" y="5526230"/>
            <a:ext cx="53949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939088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42.8%</a:t>
            </a:r>
            <a:endParaRPr lang="en-US" sz="1300" dirty="0"/>
          </a:p>
        </p:txBody>
      </p:sp>
      <p:sp>
        <p:nvSpPr>
          <p:cNvPr id="200" name="Text 198"/>
          <p:cNvSpPr txBox="1"/>
          <p:nvPr/>
        </p:nvSpPr>
        <p:spPr>
          <a:xfrm>
            <a:off x="9957816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25.2%</a:t>
            </a:r>
            <a:endParaRPr lang="en-US" sz="1300" dirty="0"/>
          </a:p>
        </p:txBody>
      </p:sp>
      <p:sp>
        <p:nvSpPr>
          <p:cNvPr id="201" name="Text 199"/>
          <p:cNvSpPr txBox="1"/>
          <p:nvPr/>
        </p:nvSpPr>
        <p:spPr>
          <a:xfrm>
            <a:off x="10524744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−17.6 pts</a:t>
            </a:r>
            <a:endParaRPr lang="en-US" sz="1300" dirty="0"/>
          </a:p>
        </p:txBody>
      </p:sp>
      <p:sp>
        <p:nvSpPr>
          <p:cNvPr id="203" name="Shape 200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4" name="Text 201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 of 33 stores collect less parts margin on internal work than on customer pay; the group is −4.2 pts.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2026-10-28T15:29:16Z</dcterms:created>
  <dcterms:modified xsi:type="dcterms:W3CDTF">2026-10-28T15:29:16Z</dcterms:modified>
</cp:coreProperties>
</file>