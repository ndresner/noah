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25 of 33 stores collect less labor margin on internal work than on customer pay; the group is −2.7 pts. Widest: Audi Reno (−20.0 pts), LR LV (−13.9 pts) and LR Henderson (−12.2 pts).Source: Qlik - Closed Repair Orders. Jan-Sep 2026 by close month. Same-store, INEOS excluded (opened 2026). GMC Prescott body shop labor types excluded. Gap = internal GP% minus customer-pay GP%, in points. Green: internal at or above the store's own customer-pay rate; red: below. Dashed line: the group gap (−2.7 pts). At or above customer pay: Cadillac, Chevy GMC Bullhead, GMC Prescott, Hyundai Prescott, Hyundai St George, Kia LV, Kia St George and VW St George. A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28 of 33 stores collect less parts margin on internal work than on customer pay; the group is −4.2 pts. Widest: LR LV (−17.6 pts), Honda Flagstaff (−15.4 pts) and Audi Reno (−14.7 pts).Source: Qlik - Closed Repair Orders. Jan-Sep 2026 by close month. Same-store, INEOS excluded (opened 2026). GMC Prescott body shop labor types excluded. Gap = internal GP% minus customer-pay GP%, in points. Green: internal at or above the store's own customer-pay rate; red: below. Dashed line: the group gap (−4.2 pts). At or above customer pay: Chevy LV, Honda Henderson, Subaru Prescott, Toyota Henderson and Volvo. A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Labor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80.8%      INTERNAL 78.1%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−2.7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gap = internal minus own CP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9778" y="2103120"/>
            <a:ext cx="10973" cy="3822192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Shape 12"/>
          <p:cNvSpPr/>
          <p:nvPr/>
        </p:nvSpPr>
        <p:spPr>
          <a:xfrm>
            <a:off x="3183188" y="2103120"/>
            <a:ext cx="0" cy="3822192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00186" y="2103120"/>
            <a:ext cx="10973" cy="3597357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733596" y="2103120"/>
            <a:ext cx="0" cy="3597357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8368" y="210312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2153708"/>
            <a:ext cx="130113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82.1%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210312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" y="2327955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327955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55264" y="2378543"/>
            <a:ext cx="129665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72.5%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27955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5279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55264" y="2603377"/>
            <a:ext cx="104292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0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07408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83.3%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974336" y="255279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" y="277762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277762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55264" y="2828212"/>
            <a:ext cx="96492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40480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07408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74336" y="277762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00245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55264" y="3053047"/>
            <a:ext cx="77376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40480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78.7%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74336" y="300245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22729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22729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255264" y="3277882"/>
            <a:ext cx="65728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82.9%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85.3%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322729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45212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55264" y="3502717"/>
            <a:ext cx="65019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840480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407408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81.9%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974336" y="345212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5216" y="367696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67696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55264" y="3727552"/>
            <a:ext cx="23117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840480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07408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80.2%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74336" y="367696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 pts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390179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253849" y="3952386"/>
            <a:ext cx="914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40480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07408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974336" y="390179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85216" y="412663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12663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250197" y="4177221"/>
            <a:ext cx="914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840480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407408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85.9%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974336" y="412663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 pts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35146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245953" y="4402056"/>
            <a:ext cx="931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840480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07408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82.8%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74336" y="435146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85216" y="457630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457630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244900" y="4626891"/>
            <a:ext cx="1036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40480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407408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57630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−0.4 pts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480113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221879" y="4851726"/>
            <a:ext cx="33385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78.2%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80113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−1.2 pts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85216" y="502597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502597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198494" y="5076561"/>
            <a:ext cx="56770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840480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79.3%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974336" y="502597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25080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3198327" y="5301395"/>
            <a:ext cx="5693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840480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4407408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974336" y="525080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85216" y="5475642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58368" y="5475642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197693" y="5526230"/>
            <a:ext cx="5757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3840480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4407408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82.3%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974336" y="5475642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658368" y="5700477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195970" y="5751065"/>
            <a:ext cx="5929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5700477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5700477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5700477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 pts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210312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8734848" y="2153708"/>
            <a:ext cx="7082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9390888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9957816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76.0%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524744" y="210312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−2.6 pts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327955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327955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730906" y="2378543"/>
            <a:ext cx="74766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390888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85.0%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957816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82.2%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524744" y="2327955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−2.8 pts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55279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716961" y="2603377"/>
            <a:ext cx="8871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390888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957816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524744" y="255279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−3.3 pts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6135624" y="277762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277762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711353" y="2828212"/>
            <a:ext cx="94319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390888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84.3%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9957816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80.8%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10524744" y="277762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−3.5 pts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00245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703971" y="3053047"/>
            <a:ext cx="10170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390888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957816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84.8%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24744" y="300245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135624" y="322729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208776" y="322729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701890" y="3277882"/>
            <a:ext cx="103782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390888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957816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24744" y="322729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345212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679444" y="3502717"/>
            <a:ext cx="126228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390888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79.7%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24744" y="345212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 pts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6135624" y="367696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208776" y="367696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672194" y="3727552"/>
            <a:ext cx="133478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390888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79.1%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24744" y="367696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−4.9 pts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90179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624168" y="3952386"/>
            <a:ext cx="18150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390888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82.0%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9957816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0524744" y="390179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−6.7 pts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6135624" y="412663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6208776" y="412663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8616775" y="4177221"/>
            <a:ext cx="18889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9390888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9957816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24744" y="412663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 pts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6208776" y="435146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8590345" y="4402056"/>
            <a:ext cx="21532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83.5%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75.5%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435146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−8.0 pts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6135624" y="457630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6208776" y="457630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8562958" y="4626891"/>
            <a:ext cx="24271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390888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77.8%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57816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68.8%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524744" y="457630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−9.0 pts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80113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8514572" y="4851726"/>
            <a:ext cx="291100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390888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9957816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67.8%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10524744" y="480113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6135624" y="502597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6208776" y="502597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475849" y="5076561"/>
            <a:ext cx="329823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390888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82.4%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957816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70.2%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524744" y="502597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−12.2 pts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6208776" y="525080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8430963" y="5301395"/>
            <a:ext cx="374709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83.9%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525080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−13.9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5475642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5475642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266176" y="5526230"/>
            <a:ext cx="539496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9390888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78.8%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9957816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58.8%</a:t>
            </a:r>
            <a:endParaRPr lang="en-US" sz="1300" dirty="0"/>
          </a:p>
        </p:txBody>
      </p:sp>
      <p:sp>
        <p:nvSpPr>
          <p:cNvPr id="201" name="Text 199"/>
          <p:cNvSpPr txBox="1"/>
          <p:nvPr/>
        </p:nvSpPr>
        <p:spPr>
          <a:xfrm>
            <a:off x="10524744" y="5475642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−20.0 pts</a:t>
            </a:r>
            <a:endParaRPr lang="en-US" sz="1300" dirty="0"/>
          </a:p>
        </p:txBody>
      </p:sp>
      <p:sp>
        <p:nvSpPr>
          <p:cNvPr id="203" name="Shape 200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4" name="Text 201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collect less labor margin on internal work than on customer pay; the group is −2.7 pts.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Parts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40.7%      INTERNAL 36.5%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gap = internal minus own CP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9778" y="2103120"/>
            <a:ext cx="10973" cy="3822192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Shape 12"/>
          <p:cNvSpPr/>
          <p:nvPr/>
        </p:nvSpPr>
        <p:spPr>
          <a:xfrm>
            <a:off x="3125947" y="2103120"/>
            <a:ext cx="0" cy="3822192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00186" y="2103120"/>
            <a:ext cx="10973" cy="3597357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76355" y="2103120"/>
            <a:ext cx="0" cy="3597357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8368" y="210312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2153708"/>
            <a:ext cx="150363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210312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 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" y="2327955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327955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55264" y="2378543"/>
            <a:ext cx="70154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34.8%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27955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+2.3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5279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55264" y="2603377"/>
            <a:ext cx="38107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0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42.1%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07408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974336" y="255279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" y="277762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277762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55264" y="2828212"/>
            <a:ext cx="20517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40480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07408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74336" y="277762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+0.7 pts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00245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55264" y="3053047"/>
            <a:ext cx="9144" cy="12365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40480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74336" y="300245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22729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22729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222182" y="3277882"/>
            <a:ext cx="33082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36.1%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322729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45212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79597" y="3502717"/>
            <a:ext cx="7566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840480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407408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974336" y="345212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5216" y="367696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67696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178337" y="3727552"/>
            <a:ext cx="7692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840480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07408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74336" y="367696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390179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177426" y="3952386"/>
            <a:ext cx="77838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40480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07408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974336" y="390179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85216" y="412663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12663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37487" y="4177221"/>
            <a:ext cx="11777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840480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407408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974336" y="412663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35146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136637" y="4402056"/>
            <a:ext cx="118627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840480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07408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36.3%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74336" y="435146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85216" y="457630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457630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096612" y="4626891"/>
            <a:ext cx="158652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40480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407408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36.7%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57630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−5.2 pts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480113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081235" y="4851726"/>
            <a:ext cx="174029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31.3%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80113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−5.7 pts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85216" y="502597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502597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077450" y="5076561"/>
            <a:ext cx="17781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840480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974336" y="502597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−5.8 pts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25080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3070973" y="5301395"/>
            <a:ext cx="18429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840480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4407408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33.4%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974336" y="525080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−6.0 pts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85216" y="5475642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58368" y="5475642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060053" y="5526230"/>
            <a:ext cx="195211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3840480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4407408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30.5%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974336" y="5475642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−6.4 pts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658368" y="5700477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033339" y="5751065"/>
            <a:ext cx="221925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5700477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47.0%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5700477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39.7%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5700477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 pts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210312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8575710" y="2153708"/>
            <a:ext cx="229962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9390888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9957816" y="210312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26.2%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524744" y="210312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−7.5 pts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327955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327955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565630" y="2378543"/>
            <a:ext cx="240042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390888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44.5%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957816" y="2327955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524744" y="2327955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552790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564916" y="2603377"/>
            <a:ext cx="240756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390888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957816" y="2552790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41.2%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524744" y="2552790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6135624" y="277762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277762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545748" y="2828212"/>
            <a:ext cx="25992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390888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43.6%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9957816" y="277762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10524744" y="277762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−8.5 pts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00245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541222" y="3053047"/>
            <a:ext cx="264450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390888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43.1%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957816" y="300245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24744" y="300245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−8.6 pts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135624" y="322729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208776" y="322729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534757" y="3277882"/>
            <a:ext cx="270915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390888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957816" y="322729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24744" y="322729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−8.8 pts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345212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499284" y="3502717"/>
            <a:ext cx="306388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390888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345212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32.5%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24744" y="345212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−10.0 pts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6135624" y="3676964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208776" y="3676964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496238" y="3727552"/>
            <a:ext cx="30943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390888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676964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24744" y="3676964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901799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493166" y="3952386"/>
            <a:ext cx="312506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390888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9957816" y="3901799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0524744" y="3901799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6135624" y="412663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6208776" y="412663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8491434" y="4177221"/>
            <a:ext cx="314238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9390888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41.0%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9957816" y="412663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30.8%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24744" y="412663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6208776" y="435146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8472728" y="4402056"/>
            <a:ext cx="33294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44.9%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435146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34.0%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435146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6135624" y="457630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6208776" y="457630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8461553" y="4626891"/>
            <a:ext cx="344119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390888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35.6%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57816" y="457630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524744" y="457630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−11.2 pts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80113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8358802" y="4851726"/>
            <a:ext cx="446870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390888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44.6%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9957816" y="480113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30.1%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10524744" y="480113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−14.5 pts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6135624" y="5025973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6208776" y="5025973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352988" y="5076561"/>
            <a:ext cx="452684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390888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957816" y="5025973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28.7%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524744" y="5025973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 pts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6208776" y="5250808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8331777" y="5301395"/>
            <a:ext cx="473895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5250808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29.7%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5250808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−15.4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5475642"/>
            <a:ext cx="5394960" cy="224835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5475642"/>
            <a:ext cx="2011680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266176" y="5526230"/>
            <a:ext cx="539496" cy="12365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9390888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42.8%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9957816" y="5475642"/>
            <a:ext cx="566928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25.2%</a:t>
            </a:r>
            <a:endParaRPr lang="en-US" sz="1300" dirty="0"/>
          </a:p>
        </p:txBody>
      </p:sp>
      <p:sp>
        <p:nvSpPr>
          <p:cNvPr id="201" name="Text 199"/>
          <p:cNvSpPr txBox="1"/>
          <p:nvPr/>
        </p:nvSpPr>
        <p:spPr>
          <a:xfrm>
            <a:off x="10524744" y="5475642"/>
            <a:ext cx="859536" cy="22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−17.6 pts</a:t>
            </a:r>
            <a:endParaRPr lang="en-US" sz="1300" dirty="0"/>
          </a:p>
        </p:txBody>
      </p:sp>
      <p:sp>
        <p:nvSpPr>
          <p:cNvPr id="203" name="Shape 200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4" name="Text 201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of 33 stores collect less parts margin on internal work than on customer pay; the group is −4.2 pts.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2026-10-29T16:32:18Z</dcterms:created>
  <dcterms:modified xsi:type="dcterms:W3CDTF">2026-10-29T16:32:18Z</dcterms:modified>
</cp:coreProperties>
</file>