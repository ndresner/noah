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Fixed Ops Accounting TB, fixed gross (service and parts), monthly by store, January 2021 - September 2026. A record = the store's highest month on file; months before a store opened are ignored. GMC Prescott service on the TB includes body shop gross.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Fixed Ops Accounting TB, fixed gross (service and parts), monthly by store, January 2021 - September 2026. A record = the store's highest month on file; months before a store opened are ignored. GMC Prescott service on the TB includes body shop gross. Records = each month a store beat its best-ever service, parts or combined month; one month can count up to three.OPTION A. Records by store (month: service / parts / combined, with the record it beat):
Toyota Henderson: service Apr 2026 $1.86M (beat $1.78M, Apr 2025); service Jul 2026 $1.98M (beat $1.86M, Apr 2026); parts Jun 2026 $747K (beat $734K, Dec 2024); parts Aug 2026 $748K (beat $747K, Jun 2026); parts Sep 2026 $803K (beat $748K, Aug 2026); combined Apr 2026 $2.52M (beat $2.45M, Apr 2025); combined Jun 2026 $2.55M (beat $2.52M, Apr 2026); combined Jul 2026 $2.72M (beat $2.55M, Jun 2026)
Honda Spokane: service Mar 2026 $309K (beat $290K, May 2025); service Apr 2026 $316K (beat $309K, Mar 2026); service Jun 2026 $343K (beat $316K, Apr 2026); service Jul 2026 $360K (beat $343K, Jun 2026); parts Jul 2026 $182K (beat $168K, Aug 2025); combined Mar 2026 $457K (beat $448K, May 2025); combined Apr 2026 $473K (beat $457K, Mar 2026); combined Jun 2026 $503K (beat $473K, Apr 2026); combined Jul 2026 $542K (beat $503K, Jun 2026)
Nissan: service Mar 2026 $374K (beat $374K, May 2025); service Jun 2026 $379K (beat $374K, Mar 2026); service Sep 2026 $393K (beat $379K, Jun 2026); parts Jun 2026 $191K (beat $187K, Aug 2024); parts Jul 2026 $210K (beat $191K, Jun 2026); combined Mar 2026 $546K (beat $535K, May 2025); combined Jun 2026 $570K (beat $546K, Mar 2026); combined Jul 2026 $580K (beat $570K, Jun 2026); combined Sep 2026 $593K (beat $580K, Jul 2026)
Subaru St George: service Jan 2026 $256K (beat $246K, Apr 2025); service Mar 2026 $270K (beat $256K, Jan 2026); parts Mar 2026 $146K (beat $144K, Apr 2025); parts Apr 2026 $156K (beat $146K, Mar 2026); parts Jun 2026 $174K (beat $156K, Apr 2026); combined Mar 2026 $416K (beat $391K, Apr 2025); combined Jun 2026 $438K (beat $416K, Mar 2026)
Hyundai St George: service Jan 2026 $155K (beat $152K, Dec 2025); service Mar 2026 $170K (beat $155K, Jan 2026); service Jul 2026 $173K (beat $170K, Mar 2026); service Sep 2026 $179K (beat $173K, Jul 2026)
Honda Henderson: service Mar 2026 $1.26M (beat $1.23M, Mar 2025); service Jun 2026 $1.29M (beat $1.26M, Mar 2026); service Jul 2026 $1.30M (beat $1.29M, Jun 2026); parts Jul 2026 $495K (beat $475K, Apr 2024); combined Mar 2026 $1.72M (beat $1.67M, Apr 2024); combined Jun 2026 $1.75M (beat $1.72M, Mar 2026); combined Jul 2026 $1.79M (beat $1.75M, Jun 2026)
Hyundai Prescott: service Mar 2026 $125K (beat $96K, Jul 2025); service Jul 2026 $142K (beat $125K, Mar 2026); parts Feb 2026 $78K (beat $72K, Jul 2025); combined Feb 2026 $170K (beat $168K, Jul 2025); combined Mar 2026 $182K (beat $170K, Feb 2026); combined Jul 2026 $206K (beat $182K, Mar 2026)
Lincoln: service Aug 2026 $247K (beat $243K, Dec 2025); service Sep 2026 $262K (beat $247K, Aug 2026); parts Mar 2026 $116K (beat $105K, Dec 2025); combined Mar 2026 $358K (beat $349K, Dec 2025); combined Aug 2026 $359K (beat $358K, Mar 2026); combined Sep 2026 $369K (beat $359K, Aug 2026)
LR Henderson: service Aug 2026 $276K (beat $270K, Dec 2024); service Sep 2026 $281K (beat $276K, Aug 2026); parts Jul 2026 $173K (beat $168K, Feb 2025); combined Jul 2026 $434K (beat $420K, Feb 2025)
Toyota Flagstaff: service Mar 2026 $374K (beat $358K, Oct 2024); service Apr 2026 $377K (beat $374K, Mar 2026); service May 2026 $382K (beat $377K, Apr 2026); combined Mar 2026 $532K (beat $497K, Jan 2025)
Audi Henderson: parts Jul 2026 $591K (beat $524K, Dec 2024); combined Apr 2026 $1.45M (beat $1.39M, Dec 2025); combined Jul 2026 $1.60M (beat $1.45M, Apr 2026)
Mazda: service Aug 2026 $285K (beat $256K, Mar 2025); service Sep 2026 $302K (beat $285K, Aug 2026); parts Sep 2026 $200K (beat $172K, Jun 2025); combined Aug 2026 $417K (beat $412K, Jun 2025); combined Sep 2026 $503K (beat $417K, Aug 2026)
Kia St George: service Apr 2026 $158K (beat $153K, Sep 2025); service Jul 2026 $187K (beat $158K, Apr 2026); parts Jul 2026 $134K (beat $120K, Oct 2025); combined Jul 2026 $321K (beat $270K, Sep 2025)
Lexus: service Mar 2026 $341K (beat $341K, Oct 2025); service May 2026 $342K (beat $341K, Mar 2026); parts May 2026 $154K (beat $149K, Oct 2025); combined May 2026 $497K (beat $490K, Oct 2025)
Toyota Prescott: service Mar 2026 $397K (beat $377K, Dec 2025); service Apr 2026 $463K (beat $397K, Mar 2026); parts Apr 2026 $204K (beat $203K, Apr 2025); combined Apr 2026 $667K (beat $563K, Aug 2023)
Volvo: service Apr 2026 $294K (beat $288K, Aug 2024); service Jun 2026 $305K (beat $294K, Apr 2026)
CDJR Post Falls: service Jul 2026 $312K (beat $305K, Apr 2025); combined Jul 2026 $481K (beat $468K, Aug 2024)
GMC Prescott: parts Apr 2026 $148K (beat $123K, Oct 2024); combined Apr 2026 $314K (beat $304K, Oct 2024)
LR LV: service Jul 2026 $544K (beat $509K, May 2024); combined Jul 2026 $845K (beat $817K, May 2024)
LR Reno: service Aug 2026 $204K (beat $190K, Jan 2025); combined Aug 2026 $312K (beat $294K, Aug 2024)
Subaru Prescott: combined Apr 2026 $354K (beat $349K, Apr 2025)
Toyota Spokane: service Jul 2026 $470K (beat $450K, Oct 2025); combined Jul 2026 $777K (beat $760K, Oct 2025)
Kia LV: service Sep 2026 $492K (beat $472K, Oct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Fixed Ops Accounting TB, fixed gross (service and parts), monthly by store, January 2021 - September 2026. A record = the store's highest month on file; months before a store opened are ignored. GMC Prescott service on the TB includes body shop gross. Count = every record set: service, parts and combined counted separately. Months listed are the months each record was set.OPTION B: one line per store, how many records and which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Fixed Ops Accounting TB, fixed gross (service and parts), monthly by store, January 2021 - September 2026. A record = the store's highest month on file; months before a store opened are ignored. GMC Prescott service on the TB includes body shop gross. Records counted separately for service, parts and combined.OPTION C: the six stores with the most records in words; everyone else on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RECORDS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 Record Year</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713232" y="1481328"/>
            <a:ext cx="2539746" cy="3017520"/>
          </a:xfrm>
          <a:prstGeom prst="rect">
            <a:avLst/>
          </a:prstGeom>
          <a:solidFill>
            <a:srgbClr val="F7F7F7"/>
          </a:solidFill>
          <a:ln/>
        </p:spPr>
      </p:sp>
      <p:sp>
        <p:nvSpPr>
          <p:cNvPr id="7" name="Shape 5"/>
          <p:cNvSpPr/>
          <p:nvPr/>
        </p:nvSpPr>
        <p:spPr>
          <a:xfrm>
            <a:off x="713232" y="1481328"/>
            <a:ext cx="2539746" cy="64008"/>
          </a:xfrm>
          <a:prstGeom prst="rect">
            <a:avLst/>
          </a:prstGeom>
          <a:solidFill>
            <a:srgbClr val="12A566"/>
          </a:solidFill>
          <a:ln/>
        </p:spPr>
      </p:sp>
      <p:sp>
        <p:nvSpPr>
          <p:cNvPr id="8" name="Text 6"/>
          <p:cNvSpPr txBox="1"/>
          <p:nvPr/>
        </p:nvSpPr>
        <p:spPr>
          <a:xfrm>
            <a:off x="896112"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STORES WITH AN ALL-TIME RECORD MONTH</a:t>
            </a:r>
            <a:endParaRPr lang="en-US" sz="1400" dirty="0"/>
          </a:p>
        </p:txBody>
      </p:sp>
      <p:sp>
        <p:nvSpPr>
          <p:cNvPr id="9" name="Text 7"/>
          <p:cNvSpPr txBox="1"/>
          <p:nvPr/>
        </p:nvSpPr>
        <p:spPr>
          <a:xfrm>
            <a:off x="896112"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0B7A4A"/>
                </a:solidFill>
                <a:latin typeface="Inter" pitchFamily="34" charset="0"/>
                <a:ea typeface="Inter" pitchFamily="34" charset="-122"/>
                <a:cs typeface="Inter" pitchFamily="34" charset="-120"/>
              </a:rPr>
              <a:t>23</a:t>
            </a:r>
            <a:endParaRPr lang="en-US" sz="4000" dirty="0"/>
          </a:p>
        </p:txBody>
      </p:sp>
      <p:sp>
        <p:nvSpPr>
          <p:cNvPr id="10" name="Text 8"/>
          <p:cNvSpPr txBox="1"/>
          <p:nvPr/>
        </p:nvSpPr>
        <p:spPr>
          <a:xfrm>
            <a:off x="896112"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of 33 set their best month ever in service, parts or combined during 2026.</a:t>
            </a:r>
            <a:endParaRPr lang="en-US" sz="1500" dirty="0"/>
          </a:p>
        </p:txBody>
      </p:sp>
      <p:sp>
        <p:nvSpPr>
          <p:cNvPr id="11" name="Shape 9"/>
          <p:cNvSpPr/>
          <p:nvPr/>
        </p:nvSpPr>
        <p:spPr>
          <a:xfrm>
            <a:off x="3454146" y="1481328"/>
            <a:ext cx="2539746" cy="3017520"/>
          </a:xfrm>
          <a:prstGeom prst="rect">
            <a:avLst/>
          </a:prstGeom>
          <a:solidFill>
            <a:srgbClr val="F7F7F7"/>
          </a:solidFill>
          <a:ln/>
        </p:spPr>
      </p:sp>
      <p:sp>
        <p:nvSpPr>
          <p:cNvPr id="12" name="Shape 10"/>
          <p:cNvSpPr/>
          <p:nvPr/>
        </p:nvSpPr>
        <p:spPr>
          <a:xfrm>
            <a:off x="3454146" y="1481328"/>
            <a:ext cx="2539746" cy="64008"/>
          </a:xfrm>
          <a:prstGeom prst="rect">
            <a:avLst/>
          </a:prstGeom>
          <a:solidFill>
            <a:srgbClr val="12A566"/>
          </a:solidFill>
          <a:ln/>
        </p:spPr>
      </p:sp>
      <p:sp>
        <p:nvSpPr>
          <p:cNvPr id="13" name="Text 11"/>
          <p:cNvSpPr txBox="1"/>
          <p:nvPr/>
        </p:nvSpPr>
        <p:spPr>
          <a:xfrm>
            <a:off x="3637026"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RECORDS SET</a:t>
            </a:r>
            <a:endParaRPr lang="en-US" sz="1400" dirty="0"/>
          </a:p>
        </p:txBody>
      </p:sp>
      <p:sp>
        <p:nvSpPr>
          <p:cNvPr id="14" name="Text 12"/>
          <p:cNvSpPr txBox="1"/>
          <p:nvPr/>
        </p:nvSpPr>
        <p:spPr>
          <a:xfrm>
            <a:off x="3637026"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0B7A4A"/>
                </a:solidFill>
                <a:latin typeface="Inter" pitchFamily="34" charset="0"/>
                <a:ea typeface="Inter" pitchFamily="34" charset="-122"/>
                <a:cs typeface="Inter" pitchFamily="34" charset="-120"/>
              </a:rPr>
              <a:t>98</a:t>
            </a:r>
            <a:endParaRPr lang="en-US" sz="4000" dirty="0"/>
          </a:p>
        </p:txBody>
      </p:sp>
      <p:sp>
        <p:nvSpPr>
          <p:cNvPr id="15" name="Text 13"/>
          <p:cNvSpPr txBox="1"/>
          <p:nvPr/>
        </p:nvSpPr>
        <p:spPr>
          <a:xfrm>
            <a:off x="3637026"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all-time monthly records across those stores: service, parts and combined counted separately.</a:t>
            </a:r>
            <a:endParaRPr lang="en-US" sz="1500" dirty="0"/>
          </a:p>
        </p:txBody>
      </p:sp>
      <p:sp>
        <p:nvSpPr>
          <p:cNvPr id="16" name="Shape 14"/>
          <p:cNvSpPr/>
          <p:nvPr/>
        </p:nvSpPr>
        <p:spPr>
          <a:xfrm>
            <a:off x="6195060" y="1481328"/>
            <a:ext cx="2539746" cy="3017520"/>
          </a:xfrm>
          <a:prstGeom prst="rect">
            <a:avLst/>
          </a:prstGeom>
          <a:solidFill>
            <a:srgbClr val="F7F7F7"/>
          </a:solidFill>
          <a:ln/>
        </p:spPr>
      </p:sp>
      <p:sp>
        <p:nvSpPr>
          <p:cNvPr id="17" name="Shape 15"/>
          <p:cNvSpPr/>
          <p:nvPr/>
        </p:nvSpPr>
        <p:spPr>
          <a:xfrm>
            <a:off x="6195060" y="1481328"/>
            <a:ext cx="2539746" cy="64008"/>
          </a:xfrm>
          <a:prstGeom prst="rect">
            <a:avLst/>
          </a:prstGeom>
          <a:solidFill>
            <a:srgbClr val="12A566"/>
          </a:solidFill>
          <a:ln/>
        </p:spPr>
      </p:sp>
      <p:sp>
        <p:nvSpPr>
          <p:cNvPr id="18" name="Text 16"/>
          <p:cNvSpPr txBox="1"/>
          <p:nvPr/>
        </p:nvSpPr>
        <p:spPr>
          <a:xfrm>
            <a:off x="6377940"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BEST JANUARY–SEPTEMBER EVER</a:t>
            </a:r>
            <a:endParaRPr lang="en-US" sz="1400" dirty="0"/>
          </a:p>
        </p:txBody>
      </p:sp>
      <p:sp>
        <p:nvSpPr>
          <p:cNvPr id="19" name="Text 17"/>
          <p:cNvSpPr txBox="1"/>
          <p:nvPr/>
        </p:nvSpPr>
        <p:spPr>
          <a:xfrm>
            <a:off x="6377940"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0B7A4A"/>
                </a:solidFill>
                <a:latin typeface="Inter" pitchFamily="34" charset="0"/>
                <a:ea typeface="Inter" pitchFamily="34" charset="-122"/>
                <a:cs typeface="Inter" pitchFamily="34" charset="-120"/>
              </a:rPr>
              <a:t>25</a:t>
            </a:r>
            <a:endParaRPr lang="en-US" sz="4000" dirty="0"/>
          </a:p>
        </p:txBody>
      </p:sp>
      <p:sp>
        <p:nvSpPr>
          <p:cNvPr id="20" name="Text 18"/>
          <p:cNvSpPr txBox="1"/>
          <p:nvPr/>
        </p:nvSpPr>
        <p:spPr>
          <a:xfrm>
            <a:off x="6377940"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stores had their best January–September ever in combined fixed gross.</a:t>
            </a:r>
            <a:endParaRPr lang="en-US" sz="1500" dirty="0"/>
          </a:p>
        </p:txBody>
      </p:sp>
      <p:sp>
        <p:nvSpPr>
          <p:cNvPr id="21" name="Shape 19"/>
          <p:cNvSpPr/>
          <p:nvPr/>
        </p:nvSpPr>
        <p:spPr>
          <a:xfrm>
            <a:off x="8935974" y="1481328"/>
            <a:ext cx="2539746" cy="3017520"/>
          </a:xfrm>
          <a:prstGeom prst="rect">
            <a:avLst/>
          </a:prstGeom>
          <a:solidFill>
            <a:srgbClr val="F7F7F7"/>
          </a:solidFill>
          <a:ln/>
        </p:spPr>
      </p:sp>
      <p:sp>
        <p:nvSpPr>
          <p:cNvPr id="22" name="Shape 20"/>
          <p:cNvSpPr/>
          <p:nvPr/>
        </p:nvSpPr>
        <p:spPr>
          <a:xfrm>
            <a:off x="8935974" y="1481328"/>
            <a:ext cx="2539746" cy="64008"/>
          </a:xfrm>
          <a:prstGeom prst="rect">
            <a:avLst/>
          </a:prstGeom>
          <a:solidFill>
            <a:srgbClr val="12A566"/>
          </a:solidFill>
          <a:ln/>
        </p:spPr>
      </p:sp>
      <p:sp>
        <p:nvSpPr>
          <p:cNvPr id="23" name="Text 21"/>
          <p:cNvSpPr txBox="1"/>
          <p:nvPr/>
        </p:nvSpPr>
        <p:spPr>
          <a:xfrm>
            <a:off x="9118854"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BROKE IT, THEN BROKE IT AGAIN</a:t>
            </a:r>
            <a:endParaRPr lang="en-US" sz="1400" dirty="0"/>
          </a:p>
        </p:txBody>
      </p:sp>
      <p:sp>
        <p:nvSpPr>
          <p:cNvPr id="24" name="Text 22"/>
          <p:cNvSpPr txBox="1"/>
          <p:nvPr/>
        </p:nvSpPr>
        <p:spPr>
          <a:xfrm>
            <a:off x="9118854"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0B7A4A"/>
                </a:solidFill>
                <a:latin typeface="Inter" pitchFamily="34" charset="0"/>
                <a:ea typeface="Inter" pitchFamily="34" charset="-122"/>
                <a:cs typeface="Inter" pitchFamily="34" charset="-120"/>
              </a:rPr>
              <a:t>16</a:t>
            </a:r>
            <a:endParaRPr lang="en-US" sz="4000" dirty="0"/>
          </a:p>
        </p:txBody>
      </p:sp>
      <p:sp>
        <p:nvSpPr>
          <p:cNvPr id="25" name="Text 23"/>
          <p:cNvSpPr txBox="1"/>
          <p:nvPr/>
        </p:nvSpPr>
        <p:spPr>
          <a:xfrm>
            <a:off x="9118854"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stores set a record and then beat it again later in the year.</a:t>
            </a:r>
            <a:endParaRPr lang="en-US" sz="1500" dirty="0"/>
          </a:p>
        </p:txBody>
      </p:sp>
      <p:sp>
        <p:nvSpPr>
          <p:cNvPr id="26" name="Text 24"/>
          <p:cNvSpPr txBox="1"/>
          <p:nvPr/>
        </p:nvSpPr>
        <p:spPr>
          <a:xfrm>
            <a:off x="713232" y="4709160"/>
            <a:ext cx="10762488" cy="914400"/>
          </a:xfrm>
          <a:prstGeom prst="rect">
            <a:avLst/>
          </a:prstGeom>
          <a:noFill/>
          <a:ln/>
        </p:spPr>
        <p:txBody>
          <a:bodyPr wrap="square" lIns="0" tIns="0" rIns="0" bIns="0" rtlCol="0" anchor="ctr"/>
          <a:lstStyle/>
          <a:p>
            <a:pPr indent="0" marL="0">
              <a:buNone/>
            </a:pPr>
            <a:r>
              <a:rPr lang="en-US" sz="1700" dirty="0">
                <a:solidFill>
                  <a:srgbClr val="1A1A1A"/>
                </a:solidFill>
                <a:latin typeface="Inter" pitchFamily="34" charset="0"/>
                <a:ea typeface="Inter" pitchFamily="34" charset="-122"/>
                <a:cs typeface="Inter" pitchFamily="34" charset="-120"/>
              </a:rPr>
              <a:t>Most records set this year: Honda Spokane 9, Nissan 9, Toyota Henderson 8, Honda Henderson 7 and Subaru St George 7.</a:t>
            </a:r>
            <a:endParaRPr lang="en-US" sz="1700" dirty="0"/>
          </a:p>
        </p:txBody>
      </p:sp>
      <p:sp>
        <p:nvSpPr>
          <p:cNvPr id="27" name="Shape 25"/>
          <p:cNvSpPr/>
          <p:nvPr/>
        </p:nvSpPr>
        <p:spPr>
          <a:xfrm>
            <a:off x="457200" y="6126480"/>
            <a:ext cx="11274552" cy="348996"/>
          </a:xfrm>
          <a:prstGeom prst="rect">
            <a:avLst/>
          </a:prstGeom>
          <a:solidFill>
            <a:srgbClr val="E6F6EE"/>
          </a:solidFill>
          <a:ln/>
        </p:spPr>
      </p:sp>
      <p:sp>
        <p:nvSpPr>
          <p:cNvPr id="28" name="Text 26"/>
          <p:cNvSpPr txBox="1"/>
          <p:nvPr/>
        </p:nvSpPr>
        <p:spPr>
          <a:xfrm>
            <a:off x="658368" y="6144768"/>
            <a:ext cx="10927080" cy="312420"/>
          </a:xfrm>
          <a:prstGeom prst="rect">
            <a:avLst/>
          </a:prstGeom>
          <a:noFill/>
          <a:ln/>
        </p:spPr>
        <p:txBody>
          <a:bodyPr wrap="square" lIns="0" tIns="0" rIns="0" bIns="0" rtlCol="0" anchor="ctr"/>
          <a:lstStyle/>
          <a:p>
            <a:pPr indent="0" marL="0">
              <a:buNone/>
            </a:pPr>
            <a:r>
              <a:rPr lang="en-US" sz="1450" b="1" dirty="0">
                <a:solidFill>
                  <a:srgbClr val="0B7A4A"/>
                </a:solidFill>
                <a:latin typeface="Inter" pitchFamily="34" charset="0"/>
                <a:ea typeface="Inter" pitchFamily="34" charset="-122"/>
                <a:cs typeface="Inter" pitchFamily="34" charset="-120"/>
              </a:rPr>
              <a:t>Jul alone brought 11 combined store records. Every one of these stores can tell the room what they changed.</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RECORDS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Records Set in 2026</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3483864"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Records</a:t>
            </a:r>
            <a:endParaRPr lang="en-US" sz="1400" dirty="0"/>
          </a:p>
        </p:txBody>
      </p:sp>
      <p:sp>
        <p:nvSpPr>
          <p:cNvPr id="7" name="Text 5"/>
          <p:cNvSpPr txBox="1"/>
          <p:nvPr/>
        </p:nvSpPr>
        <p:spPr>
          <a:xfrm>
            <a:off x="4270248" y="1316736"/>
            <a:ext cx="50292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Svc</a:t>
            </a:r>
            <a:endParaRPr lang="en-US" sz="1400" dirty="0"/>
          </a:p>
        </p:txBody>
      </p:sp>
      <p:sp>
        <p:nvSpPr>
          <p:cNvPr id="8" name="Text 6"/>
          <p:cNvSpPr txBox="1"/>
          <p:nvPr/>
        </p:nvSpPr>
        <p:spPr>
          <a:xfrm>
            <a:off x="4773168" y="1316736"/>
            <a:ext cx="54864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Parts</a:t>
            </a:r>
            <a:endParaRPr lang="en-US" sz="1400" dirty="0"/>
          </a:p>
        </p:txBody>
      </p:sp>
      <p:sp>
        <p:nvSpPr>
          <p:cNvPr id="9" name="Text 7"/>
          <p:cNvSpPr txBox="1"/>
          <p:nvPr/>
        </p:nvSpPr>
        <p:spPr>
          <a:xfrm>
            <a:off x="5321808" y="1316736"/>
            <a:ext cx="59436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Comb.</a:t>
            </a:r>
            <a:endParaRPr lang="en-US" sz="1400" dirty="0"/>
          </a:p>
        </p:txBody>
      </p:sp>
      <p:sp>
        <p:nvSpPr>
          <p:cNvPr id="10" name="Text 8"/>
          <p:cNvSpPr txBox="1"/>
          <p:nvPr/>
        </p:nvSpPr>
        <p:spPr>
          <a:xfrm>
            <a:off x="9034272"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Records</a:t>
            </a:r>
            <a:endParaRPr lang="en-US" sz="1400" dirty="0"/>
          </a:p>
        </p:txBody>
      </p:sp>
      <p:sp>
        <p:nvSpPr>
          <p:cNvPr id="11" name="Text 9"/>
          <p:cNvSpPr txBox="1"/>
          <p:nvPr/>
        </p:nvSpPr>
        <p:spPr>
          <a:xfrm>
            <a:off x="9820656" y="1316736"/>
            <a:ext cx="50292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Svc</a:t>
            </a:r>
            <a:endParaRPr lang="en-US" sz="1400" dirty="0"/>
          </a:p>
        </p:txBody>
      </p:sp>
      <p:sp>
        <p:nvSpPr>
          <p:cNvPr id="12" name="Text 10"/>
          <p:cNvSpPr txBox="1"/>
          <p:nvPr/>
        </p:nvSpPr>
        <p:spPr>
          <a:xfrm>
            <a:off x="10323576" y="1316736"/>
            <a:ext cx="54864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Parts</a:t>
            </a:r>
            <a:endParaRPr lang="en-US" sz="1400" dirty="0"/>
          </a:p>
        </p:txBody>
      </p:sp>
      <p:sp>
        <p:nvSpPr>
          <p:cNvPr id="13" name="Text 11"/>
          <p:cNvSpPr txBox="1"/>
          <p:nvPr/>
        </p:nvSpPr>
        <p:spPr>
          <a:xfrm>
            <a:off x="10872216" y="1316736"/>
            <a:ext cx="59436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Comb.</a:t>
            </a:r>
            <a:endParaRPr lang="en-US" sz="1400" dirty="0"/>
          </a:p>
        </p:txBody>
      </p:sp>
      <p:sp>
        <p:nvSpPr>
          <p:cNvPr id="14" name="Text 12"/>
          <p:cNvSpPr txBox="1"/>
          <p:nvPr/>
        </p:nvSpPr>
        <p:spPr>
          <a:xfrm>
            <a:off x="658368" y="1700784"/>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5" name="Text 13"/>
          <p:cNvSpPr txBox="1"/>
          <p:nvPr/>
        </p:nvSpPr>
        <p:spPr>
          <a:xfrm>
            <a:off x="1014984" y="1700784"/>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6" name="Shape 14"/>
          <p:cNvSpPr/>
          <p:nvPr/>
        </p:nvSpPr>
        <p:spPr>
          <a:xfrm>
            <a:off x="2871216" y="1779994"/>
            <a:ext cx="557784" cy="193624"/>
          </a:xfrm>
          <a:prstGeom prst="rect">
            <a:avLst/>
          </a:prstGeom>
          <a:solidFill>
            <a:srgbClr val="12A566"/>
          </a:solidFill>
          <a:ln/>
        </p:spPr>
      </p:sp>
      <p:sp>
        <p:nvSpPr>
          <p:cNvPr id="17" name="Text 15"/>
          <p:cNvSpPr txBox="1"/>
          <p:nvPr/>
        </p:nvSpPr>
        <p:spPr>
          <a:xfrm>
            <a:off x="3483864" y="1700784"/>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a:t>
            </a:r>
            <a:endParaRPr lang="en-US" sz="1300" dirty="0"/>
          </a:p>
        </p:txBody>
      </p:sp>
      <p:sp>
        <p:nvSpPr>
          <p:cNvPr id="18" name="Text 16"/>
          <p:cNvSpPr txBox="1"/>
          <p:nvPr/>
        </p:nvSpPr>
        <p:spPr>
          <a:xfrm>
            <a:off x="4270248" y="1700784"/>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a:t>
            </a:r>
            <a:endParaRPr lang="en-US" sz="1300" dirty="0"/>
          </a:p>
        </p:txBody>
      </p:sp>
      <p:sp>
        <p:nvSpPr>
          <p:cNvPr id="19" name="Text 17"/>
          <p:cNvSpPr txBox="1"/>
          <p:nvPr/>
        </p:nvSpPr>
        <p:spPr>
          <a:xfrm>
            <a:off x="4773168" y="1700784"/>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20" name="Text 18"/>
          <p:cNvSpPr txBox="1"/>
          <p:nvPr/>
        </p:nvSpPr>
        <p:spPr>
          <a:xfrm>
            <a:off x="5321808" y="1700784"/>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a:t>
            </a:r>
            <a:endParaRPr lang="en-US" sz="1300" dirty="0"/>
          </a:p>
        </p:txBody>
      </p:sp>
      <p:sp>
        <p:nvSpPr>
          <p:cNvPr id="21" name="Text 19"/>
          <p:cNvSpPr txBox="1"/>
          <p:nvPr/>
        </p:nvSpPr>
        <p:spPr>
          <a:xfrm>
            <a:off x="658368" y="2052828"/>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22" name="Text 20"/>
          <p:cNvSpPr txBox="1"/>
          <p:nvPr/>
        </p:nvSpPr>
        <p:spPr>
          <a:xfrm>
            <a:off x="1014984" y="2052828"/>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23" name="Shape 21"/>
          <p:cNvSpPr/>
          <p:nvPr/>
        </p:nvSpPr>
        <p:spPr>
          <a:xfrm>
            <a:off x="2871216" y="2132038"/>
            <a:ext cx="557784" cy="193624"/>
          </a:xfrm>
          <a:prstGeom prst="rect">
            <a:avLst/>
          </a:prstGeom>
          <a:solidFill>
            <a:srgbClr val="12A566"/>
          </a:solidFill>
          <a:ln/>
        </p:spPr>
      </p:sp>
      <p:sp>
        <p:nvSpPr>
          <p:cNvPr id="24" name="Text 22"/>
          <p:cNvSpPr txBox="1"/>
          <p:nvPr/>
        </p:nvSpPr>
        <p:spPr>
          <a:xfrm>
            <a:off x="3483864" y="2052828"/>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a:t>
            </a:r>
            <a:endParaRPr lang="en-US" sz="1300" dirty="0"/>
          </a:p>
        </p:txBody>
      </p:sp>
      <p:sp>
        <p:nvSpPr>
          <p:cNvPr id="25" name="Text 23"/>
          <p:cNvSpPr txBox="1"/>
          <p:nvPr/>
        </p:nvSpPr>
        <p:spPr>
          <a:xfrm>
            <a:off x="4270248" y="2052828"/>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a:t>
            </a:r>
            <a:endParaRPr lang="en-US" sz="1300" dirty="0"/>
          </a:p>
        </p:txBody>
      </p:sp>
      <p:sp>
        <p:nvSpPr>
          <p:cNvPr id="26" name="Text 24"/>
          <p:cNvSpPr txBox="1"/>
          <p:nvPr/>
        </p:nvSpPr>
        <p:spPr>
          <a:xfrm>
            <a:off x="4773168" y="2052828"/>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27" name="Text 25"/>
          <p:cNvSpPr txBox="1"/>
          <p:nvPr/>
        </p:nvSpPr>
        <p:spPr>
          <a:xfrm>
            <a:off x="5321808" y="2052828"/>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a:t>
            </a:r>
            <a:endParaRPr lang="en-US" sz="1300" dirty="0"/>
          </a:p>
        </p:txBody>
      </p:sp>
      <p:sp>
        <p:nvSpPr>
          <p:cNvPr id="28" name="Text 26"/>
          <p:cNvSpPr txBox="1"/>
          <p:nvPr/>
        </p:nvSpPr>
        <p:spPr>
          <a:xfrm>
            <a:off x="658368" y="2404872"/>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9" name="Text 27"/>
          <p:cNvSpPr txBox="1"/>
          <p:nvPr/>
        </p:nvSpPr>
        <p:spPr>
          <a:xfrm>
            <a:off x="1014984" y="2404872"/>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30" name="Shape 28"/>
          <p:cNvSpPr/>
          <p:nvPr/>
        </p:nvSpPr>
        <p:spPr>
          <a:xfrm>
            <a:off x="2871216" y="2484082"/>
            <a:ext cx="495808" cy="193624"/>
          </a:xfrm>
          <a:prstGeom prst="rect">
            <a:avLst/>
          </a:prstGeom>
          <a:solidFill>
            <a:srgbClr val="12A566"/>
          </a:solidFill>
          <a:ln/>
        </p:spPr>
      </p:sp>
      <p:sp>
        <p:nvSpPr>
          <p:cNvPr id="31" name="Text 29"/>
          <p:cNvSpPr txBox="1"/>
          <p:nvPr/>
        </p:nvSpPr>
        <p:spPr>
          <a:xfrm>
            <a:off x="3483864" y="2404872"/>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8</a:t>
            </a:r>
            <a:endParaRPr lang="en-US" sz="1300" dirty="0"/>
          </a:p>
        </p:txBody>
      </p:sp>
      <p:sp>
        <p:nvSpPr>
          <p:cNvPr id="32" name="Text 30"/>
          <p:cNvSpPr txBox="1"/>
          <p:nvPr/>
        </p:nvSpPr>
        <p:spPr>
          <a:xfrm>
            <a:off x="4270248" y="2404872"/>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33" name="Text 31"/>
          <p:cNvSpPr txBox="1"/>
          <p:nvPr/>
        </p:nvSpPr>
        <p:spPr>
          <a:xfrm>
            <a:off x="4773168" y="2404872"/>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a:t>
            </a:r>
            <a:endParaRPr lang="en-US" sz="1300" dirty="0"/>
          </a:p>
        </p:txBody>
      </p:sp>
      <p:sp>
        <p:nvSpPr>
          <p:cNvPr id="34" name="Text 32"/>
          <p:cNvSpPr txBox="1"/>
          <p:nvPr/>
        </p:nvSpPr>
        <p:spPr>
          <a:xfrm>
            <a:off x="5321808" y="2404872"/>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a:t>
            </a:r>
            <a:endParaRPr lang="en-US" sz="1300" dirty="0"/>
          </a:p>
        </p:txBody>
      </p:sp>
      <p:sp>
        <p:nvSpPr>
          <p:cNvPr id="35" name="Text 33"/>
          <p:cNvSpPr txBox="1"/>
          <p:nvPr/>
        </p:nvSpPr>
        <p:spPr>
          <a:xfrm>
            <a:off x="658368" y="2756916"/>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6" name="Text 34"/>
          <p:cNvSpPr txBox="1"/>
          <p:nvPr/>
        </p:nvSpPr>
        <p:spPr>
          <a:xfrm>
            <a:off x="1014984" y="2756916"/>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37" name="Shape 35"/>
          <p:cNvSpPr/>
          <p:nvPr/>
        </p:nvSpPr>
        <p:spPr>
          <a:xfrm>
            <a:off x="2871216" y="2836126"/>
            <a:ext cx="433832" cy="193624"/>
          </a:xfrm>
          <a:prstGeom prst="rect">
            <a:avLst/>
          </a:prstGeom>
          <a:solidFill>
            <a:srgbClr val="12A566"/>
          </a:solidFill>
          <a:ln/>
        </p:spPr>
      </p:sp>
      <p:sp>
        <p:nvSpPr>
          <p:cNvPr id="38" name="Text 36"/>
          <p:cNvSpPr txBox="1"/>
          <p:nvPr/>
        </p:nvSpPr>
        <p:spPr>
          <a:xfrm>
            <a:off x="3483864" y="2756916"/>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a:t>
            </a:r>
            <a:endParaRPr lang="en-US" sz="1300" dirty="0"/>
          </a:p>
        </p:txBody>
      </p:sp>
      <p:sp>
        <p:nvSpPr>
          <p:cNvPr id="39" name="Text 37"/>
          <p:cNvSpPr txBox="1"/>
          <p:nvPr/>
        </p:nvSpPr>
        <p:spPr>
          <a:xfrm>
            <a:off x="4270248" y="2756916"/>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a:t>
            </a:r>
            <a:endParaRPr lang="en-US" sz="1300" dirty="0"/>
          </a:p>
        </p:txBody>
      </p:sp>
      <p:sp>
        <p:nvSpPr>
          <p:cNvPr id="40" name="Text 38"/>
          <p:cNvSpPr txBox="1"/>
          <p:nvPr/>
        </p:nvSpPr>
        <p:spPr>
          <a:xfrm>
            <a:off x="4773168" y="2756916"/>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41" name="Text 39"/>
          <p:cNvSpPr txBox="1"/>
          <p:nvPr/>
        </p:nvSpPr>
        <p:spPr>
          <a:xfrm>
            <a:off x="5321808" y="2756916"/>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a:t>
            </a:r>
            <a:endParaRPr lang="en-US" sz="1300" dirty="0"/>
          </a:p>
        </p:txBody>
      </p:sp>
      <p:sp>
        <p:nvSpPr>
          <p:cNvPr id="42" name="Text 40"/>
          <p:cNvSpPr txBox="1"/>
          <p:nvPr/>
        </p:nvSpPr>
        <p:spPr>
          <a:xfrm>
            <a:off x="658368" y="3108960"/>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43" name="Text 41"/>
          <p:cNvSpPr txBox="1"/>
          <p:nvPr/>
        </p:nvSpPr>
        <p:spPr>
          <a:xfrm>
            <a:off x="1014984" y="3108960"/>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44" name="Shape 42"/>
          <p:cNvSpPr/>
          <p:nvPr/>
        </p:nvSpPr>
        <p:spPr>
          <a:xfrm>
            <a:off x="2871216" y="3188170"/>
            <a:ext cx="433832" cy="193624"/>
          </a:xfrm>
          <a:prstGeom prst="rect">
            <a:avLst/>
          </a:prstGeom>
          <a:solidFill>
            <a:srgbClr val="12A566"/>
          </a:solidFill>
          <a:ln/>
        </p:spPr>
      </p:sp>
      <p:sp>
        <p:nvSpPr>
          <p:cNvPr id="45" name="Text 43"/>
          <p:cNvSpPr txBox="1"/>
          <p:nvPr/>
        </p:nvSpPr>
        <p:spPr>
          <a:xfrm>
            <a:off x="3483864" y="3108960"/>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a:t>
            </a:r>
            <a:endParaRPr lang="en-US" sz="1300" dirty="0"/>
          </a:p>
        </p:txBody>
      </p:sp>
      <p:sp>
        <p:nvSpPr>
          <p:cNvPr id="46" name="Text 44"/>
          <p:cNvSpPr txBox="1"/>
          <p:nvPr/>
        </p:nvSpPr>
        <p:spPr>
          <a:xfrm>
            <a:off x="4270248" y="3108960"/>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47" name="Text 45"/>
          <p:cNvSpPr txBox="1"/>
          <p:nvPr/>
        </p:nvSpPr>
        <p:spPr>
          <a:xfrm>
            <a:off x="4773168" y="3108960"/>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a:t>
            </a:r>
            <a:endParaRPr lang="en-US" sz="1300" dirty="0"/>
          </a:p>
        </p:txBody>
      </p:sp>
      <p:sp>
        <p:nvSpPr>
          <p:cNvPr id="48" name="Text 46"/>
          <p:cNvSpPr txBox="1"/>
          <p:nvPr/>
        </p:nvSpPr>
        <p:spPr>
          <a:xfrm>
            <a:off x="5321808" y="3108960"/>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49" name="Text 47"/>
          <p:cNvSpPr txBox="1"/>
          <p:nvPr/>
        </p:nvSpPr>
        <p:spPr>
          <a:xfrm>
            <a:off x="658368" y="3461004"/>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50" name="Text 48"/>
          <p:cNvSpPr txBox="1"/>
          <p:nvPr/>
        </p:nvSpPr>
        <p:spPr>
          <a:xfrm>
            <a:off x="1014984" y="3461004"/>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51" name="Shape 49"/>
          <p:cNvSpPr/>
          <p:nvPr/>
        </p:nvSpPr>
        <p:spPr>
          <a:xfrm>
            <a:off x="2871216" y="3540214"/>
            <a:ext cx="371856" cy="193624"/>
          </a:xfrm>
          <a:prstGeom prst="rect">
            <a:avLst/>
          </a:prstGeom>
          <a:solidFill>
            <a:srgbClr val="12A566"/>
          </a:solidFill>
          <a:ln/>
        </p:spPr>
      </p:sp>
      <p:sp>
        <p:nvSpPr>
          <p:cNvPr id="52" name="Text 50"/>
          <p:cNvSpPr txBox="1"/>
          <p:nvPr/>
        </p:nvSpPr>
        <p:spPr>
          <a:xfrm>
            <a:off x="3483864" y="3461004"/>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6</a:t>
            </a:r>
            <a:endParaRPr lang="en-US" sz="1300" dirty="0"/>
          </a:p>
        </p:txBody>
      </p:sp>
      <p:sp>
        <p:nvSpPr>
          <p:cNvPr id="53" name="Text 51"/>
          <p:cNvSpPr txBox="1"/>
          <p:nvPr/>
        </p:nvSpPr>
        <p:spPr>
          <a:xfrm>
            <a:off x="4270248" y="3461004"/>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54" name="Text 52"/>
          <p:cNvSpPr txBox="1"/>
          <p:nvPr/>
        </p:nvSpPr>
        <p:spPr>
          <a:xfrm>
            <a:off x="4773168" y="3461004"/>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55" name="Text 53"/>
          <p:cNvSpPr txBox="1"/>
          <p:nvPr/>
        </p:nvSpPr>
        <p:spPr>
          <a:xfrm>
            <a:off x="5321808" y="3461004"/>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a:t>
            </a:r>
            <a:endParaRPr lang="en-US" sz="1300" dirty="0"/>
          </a:p>
        </p:txBody>
      </p:sp>
      <p:sp>
        <p:nvSpPr>
          <p:cNvPr id="56" name="Text 54"/>
          <p:cNvSpPr txBox="1"/>
          <p:nvPr/>
        </p:nvSpPr>
        <p:spPr>
          <a:xfrm>
            <a:off x="658368" y="3813048"/>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57" name="Text 55"/>
          <p:cNvSpPr txBox="1"/>
          <p:nvPr/>
        </p:nvSpPr>
        <p:spPr>
          <a:xfrm>
            <a:off x="1014984" y="3813048"/>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58" name="Shape 56"/>
          <p:cNvSpPr/>
          <p:nvPr/>
        </p:nvSpPr>
        <p:spPr>
          <a:xfrm>
            <a:off x="2871216" y="3892258"/>
            <a:ext cx="371856" cy="193624"/>
          </a:xfrm>
          <a:prstGeom prst="rect">
            <a:avLst/>
          </a:prstGeom>
          <a:solidFill>
            <a:srgbClr val="12A566"/>
          </a:solidFill>
          <a:ln/>
        </p:spPr>
      </p:sp>
      <p:sp>
        <p:nvSpPr>
          <p:cNvPr id="59" name="Text 57"/>
          <p:cNvSpPr txBox="1"/>
          <p:nvPr/>
        </p:nvSpPr>
        <p:spPr>
          <a:xfrm>
            <a:off x="3483864" y="3813048"/>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6</a:t>
            </a:r>
            <a:endParaRPr lang="en-US" sz="1300" dirty="0"/>
          </a:p>
        </p:txBody>
      </p:sp>
      <p:sp>
        <p:nvSpPr>
          <p:cNvPr id="60" name="Text 58"/>
          <p:cNvSpPr txBox="1"/>
          <p:nvPr/>
        </p:nvSpPr>
        <p:spPr>
          <a:xfrm>
            <a:off x="4270248" y="3813048"/>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61" name="Text 59"/>
          <p:cNvSpPr txBox="1"/>
          <p:nvPr/>
        </p:nvSpPr>
        <p:spPr>
          <a:xfrm>
            <a:off x="4773168" y="3813048"/>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62" name="Text 60"/>
          <p:cNvSpPr txBox="1"/>
          <p:nvPr/>
        </p:nvSpPr>
        <p:spPr>
          <a:xfrm>
            <a:off x="5321808" y="3813048"/>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a:t>
            </a:r>
            <a:endParaRPr lang="en-US" sz="1300" dirty="0"/>
          </a:p>
        </p:txBody>
      </p:sp>
      <p:sp>
        <p:nvSpPr>
          <p:cNvPr id="63" name="Text 61"/>
          <p:cNvSpPr txBox="1"/>
          <p:nvPr/>
        </p:nvSpPr>
        <p:spPr>
          <a:xfrm>
            <a:off x="658368" y="4165092"/>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64" name="Text 62"/>
          <p:cNvSpPr txBox="1"/>
          <p:nvPr/>
        </p:nvSpPr>
        <p:spPr>
          <a:xfrm>
            <a:off x="1014984" y="4165092"/>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65" name="Shape 63"/>
          <p:cNvSpPr/>
          <p:nvPr/>
        </p:nvSpPr>
        <p:spPr>
          <a:xfrm>
            <a:off x="2871216" y="4244302"/>
            <a:ext cx="309880" cy="193624"/>
          </a:xfrm>
          <a:prstGeom prst="rect">
            <a:avLst/>
          </a:prstGeom>
          <a:solidFill>
            <a:srgbClr val="12A566"/>
          </a:solidFill>
          <a:ln/>
        </p:spPr>
      </p:sp>
      <p:sp>
        <p:nvSpPr>
          <p:cNvPr id="66" name="Text 64"/>
          <p:cNvSpPr txBox="1"/>
          <p:nvPr/>
        </p:nvSpPr>
        <p:spPr>
          <a:xfrm>
            <a:off x="3483864" y="4165092"/>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a:t>
            </a:r>
            <a:endParaRPr lang="en-US" sz="1300" dirty="0"/>
          </a:p>
        </p:txBody>
      </p:sp>
      <p:sp>
        <p:nvSpPr>
          <p:cNvPr id="67" name="Text 65"/>
          <p:cNvSpPr txBox="1"/>
          <p:nvPr/>
        </p:nvSpPr>
        <p:spPr>
          <a:xfrm>
            <a:off x="4270248" y="4165092"/>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68" name="Text 66"/>
          <p:cNvSpPr txBox="1"/>
          <p:nvPr/>
        </p:nvSpPr>
        <p:spPr>
          <a:xfrm>
            <a:off x="4773168" y="4165092"/>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69" name="Text 67"/>
          <p:cNvSpPr txBox="1"/>
          <p:nvPr/>
        </p:nvSpPr>
        <p:spPr>
          <a:xfrm>
            <a:off x="5321808" y="4165092"/>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70" name="Text 68"/>
          <p:cNvSpPr txBox="1"/>
          <p:nvPr/>
        </p:nvSpPr>
        <p:spPr>
          <a:xfrm>
            <a:off x="658368" y="4517136"/>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71" name="Text 69"/>
          <p:cNvSpPr txBox="1"/>
          <p:nvPr/>
        </p:nvSpPr>
        <p:spPr>
          <a:xfrm>
            <a:off x="1014984" y="4517136"/>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72" name="Shape 70"/>
          <p:cNvSpPr/>
          <p:nvPr/>
        </p:nvSpPr>
        <p:spPr>
          <a:xfrm>
            <a:off x="2871216" y="4596346"/>
            <a:ext cx="247904" cy="193624"/>
          </a:xfrm>
          <a:prstGeom prst="rect">
            <a:avLst/>
          </a:prstGeom>
          <a:solidFill>
            <a:srgbClr val="12A566"/>
          </a:solidFill>
          <a:ln/>
        </p:spPr>
      </p:sp>
      <p:sp>
        <p:nvSpPr>
          <p:cNvPr id="73" name="Text 71"/>
          <p:cNvSpPr txBox="1"/>
          <p:nvPr/>
        </p:nvSpPr>
        <p:spPr>
          <a:xfrm>
            <a:off x="3483864" y="4517136"/>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a:t>
            </a:r>
            <a:endParaRPr lang="en-US" sz="1300" dirty="0"/>
          </a:p>
        </p:txBody>
      </p:sp>
      <p:sp>
        <p:nvSpPr>
          <p:cNvPr id="74" name="Text 72"/>
          <p:cNvSpPr txBox="1"/>
          <p:nvPr/>
        </p:nvSpPr>
        <p:spPr>
          <a:xfrm>
            <a:off x="4270248" y="4517136"/>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75" name="Text 73"/>
          <p:cNvSpPr txBox="1"/>
          <p:nvPr/>
        </p:nvSpPr>
        <p:spPr>
          <a:xfrm>
            <a:off x="4773168" y="4517136"/>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76" name="Text 74"/>
          <p:cNvSpPr txBox="1"/>
          <p:nvPr/>
        </p:nvSpPr>
        <p:spPr>
          <a:xfrm>
            <a:off x="5321808" y="4517136"/>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77" name="Text 75"/>
          <p:cNvSpPr txBox="1"/>
          <p:nvPr/>
        </p:nvSpPr>
        <p:spPr>
          <a:xfrm>
            <a:off x="658368" y="4869180"/>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78" name="Text 76"/>
          <p:cNvSpPr txBox="1"/>
          <p:nvPr/>
        </p:nvSpPr>
        <p:spPr>
          <a:xfrm>
            <a:off x="1014984" y="4869180"/>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79" name="Shape 77"/>
          <p:cNvSpPr/>
          <p:nvPr/>
        </p:nvSpPr>
        <p:spPr>
          <a:xfrm>
            <a:off x="2871216" y="4948390"/>
            <a:ext cx="247904" cy="193624"/>
          </a:xfrm>
          <a:prstGeom prst="rect">
            <a:avLst/>
          </a:prstGeom>
          <a:solidFill>
            <a:srgbClr val="12A566"/>
          </a:solidFill>
          <a:ln/>
        </p:spPr>
      </p:sp>
      <p:sp>
        <p:nvSpPr>
          <p:cNvPr id="80" name="Text 78"/>
          <p:cNvSpPr txBox="1"/>
          <p:nvPr/>
        </p:nvSpPr>
        <p:spPr>
          <a:xfrm>
            <a:off x="3483864" y="4869180"/>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a:t>
            </a:r>
            <a:endParaRPr lang="en-US" sz="1300" dirty="0"/>
          </a:p>
        </p:txBody>
      </p:sp>
      <p:sp>
        <p:nvSpPr>
          <p:cNvPr id="81" name="Text 79"/>
          <p:cNvSpPr txBox="1"/>
          <p:nvPr/>
        </p:nvSpPr>
        <p:spPr>
          <a:xfrm>
            <a:off x="4270248" y="4869180"/>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82" name="Text 80"/>
          <p:cNvSpPr txBox="1"/>
          <p:nvPr/>
        </p:nvSpPr>
        <p:spPr>
          <a:xfrm>
            <a:off x="4773168" y="4869180"/>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83" name="Text 81"/>
          <p:cNvSpPr txBox="1"/>
          <p:nvPr/>
        </p:nvSpPr>
        <p:spPr>
          <a:xfrm>
            <a:off x="5321808" y="4869180"/>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84" name="Text 82"/>
          <p:cNvSpPr txBox="1"/>
          <p:nvPr/>
        </p:nvSpPr>
        <p:spPr>
          <a:xfrm>
            <a:off x="658368" y="5221224"/>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85" name="Text 83"/>
          <p:cNvSpPr txBox="1"/>
          <p:nvPr/>
        </p:nvSpPr>
        <p:spPr>
          <a:xfrm>
            <a:off x="1014984" y="5221224"/>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86" name="Shape 84"/>
          <p:cNvSpPr/>
          <p:nvPr/>
        </p:nvSpPr>
        <p:spPr>
          <a:xfrm>
            <a:off x="2871216" y="5300434"/>
            <a:ext cx="247904" cy="193624"/>
          </a:xfrm>
          <a:prstGeom prst="rect">
            <a:avLst/>
          </a:prstGeom>
          <a:solidFill>
            <a:srgbClr val="12A566"/>
          </a:solidFill>
          <a:ln/>
        </p:spPr>
      </p:sp>
      <p:sp>
        <p:nvSpPr>
          <p:cNvPr id="87" name="Text 85"/>
          <p:cNvSpPr txBox="1"/>
          <p:nvPr/>
        </p:nvSpPr>
        <p:spPr>
          <a:xfrm>
            <a:off x="3483864" y="5221224"/>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a:t>
            </a:r>
            <a:endParaRPr lang="en-US" sz="1300" dirty="0"/>
          </a:p>
        </p:txBody>
      </p:sp>
      <p:sp>
        <p:nvSpPr>
          <p:cNvPr id="88" name="Text 86"/>
          <p:cNvSpPr txBox="1"/>
          <p:nvPr/>
        </p:nvSpPr>
        <p:spPr>
          <a:xfrm>
            <a:off x="4270248" y="5221224"/>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89" name="Text 87"/>
          <p:cNvSpPr txBox="1"/>
          <p:nvPr/>
        </p:nvSpPr>
        <p:spPr>
          <a:xfrm>
            <a:off x="4773168" y="5221224"/>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90" name="Text 88"/>
          <p:cNvSpPr txBox="1"/>
          <p:nvPr/>
        </p:nvSpPr>
        <p:spPr>
          <a:xfrm>
            <a:off x="5321808" y="5221224"/>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91" name="Text 89"/>
          <p:cNvSpPr txBox="1"/>
          <p:nvPr/>
        </p:nvSpPr>
        <p:spPr>
          <a:xfrm>
            <a:off x="658368" y="5573268"/>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92" name="Text 90"/>
          <p:cNvSpPr txBox="1"/>
          <p:nvPr/>
        </p:nvSpPr>
        <p:spPr>
          <a:xfrm>
            <a:off x="1014984" y="5573268"/>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93" name="Shape 91"/>
          <p:cNvSpPr/>
          <p:nvPr/>
        </p:nvSpPr>
        <p:spPr>
          <a:xfrm>
            <a:off x="2871216" y="5652478"/>
            <a:ext cx="247904" cy="193624"/>
          </a:xfrm>
          <a:prstGeom prst="rect">
            <a:avLst/>
          </a:prstGeom>
          <a:solidFill>
            <a:srgbClr val="12A566"/>
          </a:solidFill>
          <a:ln/>
        </p:spPr>
      </p:sp>
      <p:sp>
        <p:nvSpPr>
          <p:cNvPr id="94" name="Text 92"/>
          <p:cNvSpPr txBox="1"/>
          <p:nvPr/>
        </p:nvSpPr>
        <p:spPr>
          <a:xfrm>
            <a:off x="3483864" y="5573268"/>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a:t>
            </a:r>
            <a:endParaRPr lang="en-US" sz="1300" dirty="0"/>
          </a:p>
        </p:txBody>
      </p:sp>
      <p:sp>
        <p:nvSpPr>
          <p:cNvPr id="95" name="Text 93"/>
          <p:cNvSpPr txBox="1"/>
          <p:nvPr/>
        </p:nvSpPr>
        <p:spPr>
          <a:xfrm>
            <a:off x="4270248" y="5573268"/>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a:t>
            </a:r>
            <a:endParaRPr lang="en-US" sz="1300" dirty="0"/>
          </a:p>
        </p:txBody>
      </p:sp>
      <p:sp>
        <p:nvSpPr>
          <p:cNvPr id="96" name="Text 94"/>
          <p:cNvSpPr txBox="1"/>
          <p:nvPr/>
        </p:nvSpPr>
        <p:spPr>
          <a:xfrm>
            <a:off x="4773168" y="5573268"/>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97" name="Text 95"/>
          <p:cNvSpPr txBox="1"/>
          <p:nvPr/>
        </p:nvSpPr>
        <p:spPr>
          <a:xfrm>
            <a:off x="5321808" y="5573268"/>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98" name="Text 96"/>
          <p:cNvSpPr txBox="1"/>
          <p:nvPr/>
        </p:nvSpPr>
        <p:spPr>
          <a:xfrm>
            <a:off x="6208776" y="1700784"/>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99" name="Text 97"/>
          <p:cNvSpPr txBox="1"/>
          <p:nvPr/>
        </p:nvSpPr>
        <p:spPr>
          <a:xfrm>
            <a:off x="6565392" y="1700784"/>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00" name="Shape 98"/>
          <p:cNvSpPr/>
          <p:nvPr/>
        </p:nvSpPr>
        <p:spPr>
          <a:xfrm>
            <a:off x="8421624" y="1779994"/>
            <a:ext cx="247904" cy="193624"/>
          </a:xfrm>
          <a:prstGeom prst="rect">
            <a:avLst/>
          </a:prstGeom>
          <a:solidFill>
            <a:srgbClr val="12A566"/>
          </a:solidFill>
          <a:ln/>
        </p:spPr>
      </p:sp>
      <p:sp>
        <p:nvSpPr>
          <p:cNvPr id="101" name="Text 99"/>
          <p:cNvSpPr txBox="1"/>
          <p:nvPr/>
        </p:nvSpPr>
        <p:spPr>
          <a:xfrm>
            <a:off x="9034272" y="1700784"/>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a:t>
            </a:r>
            <a:endParaRPr lang="en-US" sz="1300" dirty="0"/>
          </a:p>
        </p:txBody>
      </p:sp>
      <p:sp>
        <p:nvSpPr>
          <p:cNvPr id="102" name="Text 100"/>
          <p:cNvSpPr txBox="1"/>
          <p:nvPr/>
        </p:nvSpPr>
        <p:spPr>
          <a:xfrm>
            <a:off x="9820656" y="1700784"/>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103" name="Text 101"/>
          <p:cNvSpPr txBox="1"/>
          <p:nvPr/>
        </p:nvSpPr>
        <p:spPr>
          <a:xfrm>
            <a:off x="10323576" y="1700784"/>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04" name="Text 102"/>
          <p:cNvSpPr txBox="1"/>
          <p:nvPr/>
        </p:nvSpPr>
        <p:spPr>
          <a:xfrm>
            <a:off x="10872216" y="1700784"/>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05" name="Text 103"/>
          <p:cNvSpPr txBox="1"/>
          <p:nvPr/>
        </p:nvSpPr>
        <p:spPr>
          <a:xfrm>
            <a:off x="6208776" y="2052828"/>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106" name="Text 104"/>
          <p:cNvSpPr txBox="1"/>
          <p:nvPr/>
        </p:nvSpPr>
        <p:spPr>
          <a:xfrm>
            <a:off x="6565392" y="2052828"/>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07" name="Shape 105"/>
          <p:cNvSpPr/>
          <p:nvPr/>
        </p:nvSpPr>
        <p:spPr>
          <a:xfrm>
            <a:off x="8421624" y="2132038"/>
            <a:ext cx="247904" cy="193624"/>
          </a:xfrm>
          <a:prstGeom prst="rect">
            <a:avLst/>
          </a:prstGeom>
          <a:solidFill>
            <a:srgbClr val="12A566"/>
          </a:solidFill>
          <a:ln/>
        </p:spPr>
      </p:sp>
      <p:sp>
        <p:nvSpPr>
          <p:cNvPr id="108" name="Text 106"/>
          <p:cNvSpPr txBox="1"/>
          <p:nvPr/>
        </p:nvSpPr>
        <p:spPr>
          <a:xfrm>
            <a:off x="9034272" y="2052828"/>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a:t>
            </a:r>
            <a:endParaRPr lang="en-US" sz="1300" dirty="0"/>
          </a:p>
        </p:txBody>
      </p:sp>
      <p:sp>
        <p:nvSpPr>
          <p:cNvPr id="109" name="Text 107"/>
          <p:cNvSpPr txBox="1"/>
          <p:nvPr/>
        </p:nvSpPr>
        <p:spPr>
          <a:xfrm>
            <a:off x="9820656" y="2052828"/>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a:t>
            </a:r>
            <a:endParaRPr lang="en-US" sz="1300" dirty="0"/>
          </a:p>
        </p:txBody>
      </p:sp>
      <p:sp>
        <p:nvSpPr>
          <p:cNvPr id="110" name="Text 108"/>
          <p:cNvSpPr txBox="1"/>
          <p:nvPr/>
        </p:nvSpPr>
        <p:spPr>
          <a:xfrm>
            <a:off x="10323576" y="2052828"/>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11" name="Text 109"/>
          <p:cNvSpPr txBox="1"/>
          <p:nvPr/>
        </p:nvSpPr>
        <p:spPr>
          <a:xfrm>
            <a:off x="10872216" y="2052828"/>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12" name="Text 110"/>
          <p:cNvSpPr txBox="1"/>
          <p:nvPr/>
        </p:nvSpPr>
        <p:spPr>
          <a:xfrm>
            <a:off x="6208776" y="2404872"/>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113" name="Text 111"/>
          <p:cNvSpPr txBox="1"/>
          <p:nvPr/>
        </p:nvSpPr>
        <p:spPr>
          <a:xfrm>
            <a:off x="6565392" y="2404872"/>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14" name="Shape 112"/>
          <p:cNvSpPr/>
          <p:nvPr/>
        </p:nvSpPr>
        <p:spPr>
          <a:xfrm>
            <a:off x="8421624" y="2484082"/>
            <a:ext cx="185928" cy="193624"/>
          </a:xfrm>
          <a:prstGeom prst="rect">
            <a:avLst/>
          </a:prstGeom>
          <a:solidFill>
            <a:srgbClr val="12A566"/>
          </a:solidFill>
          <a:ln/>
        </p:spPr>
      </p:sp>
      <p:sp>
        <p:nvSpPr>
          <p:cNvPr id="115" name="Text 113"/>
          <p:cNvSpPr txBox="1"/>
          <p:nvPr/>
        </p:nvSpPr>
        <p:spPr>
          <a:xfrm>
            <a:off x="9034272" y="2404872"/>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a:t>
            </a:r>
            <a:endParaRPr lang="en-US" sz="1300" dirty="0"/>
          </a:p>
        </p:txBody>
      </p:sp>
      <p:sp>
        <p:nvSpPr>
          <p:cNvPr id="116" name="Text 114"/>
          <p:cNvSpPr txBox="1"/>
          <p:nvPr/>
        </p:nvSpPr>
        <p:spPr>
          <a:xfrm>
            <a:off x="9820656" y="2404872"/>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17" name="Text 115"/>
          <p:cNvSpPr txBox="1"/>
          <p:nvPr/>
        </p:nvSpPr>
        <p:spPr>
          <a:xfrm>
            <a:off x="10323576" y="2404872"/>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18" name="Text 116"/>
          <p:cNvSpPr txBox="1"/>
          <p:nvPr/>
        </p:nvSpPr>
        <p:spPr>
          <a:xfrm>
            <a:off x="10872216" y="2404872"/>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119" name="Text 117"/>
          <p:cNvSpPr txBox="1"/>
          <p:nvPr/>
        </p:nvSpPr>
        <p:spPr>
          <a:xfrm>
            <a:off x="6208776" y="2756916"/>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20" name="Text 118"/>
          <p:cNvSpPr txBox="1"/>
          <p:nvPr/>
        </p:nvSpPr>
        <p:spPr>
          <a:xfrm>
            <a:off x="6565392" y="2756916"/>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21" name="Shape 119"/>
          <p:cNvSpPr/>
          <p:nvPr/>
        </p:nvSpPr>
        <p:spPr>
          <a:xfrm>
            <a:off x="8421624" y="2836126"/>
            <a:ext cx="123952" cy="193624"/>
          </a:xfrm>
          <a:prstGeom prst="rect">
            <a:avLst/>
          </a:prstGeom>
          <a:solidFill>
            <a:srgbClr val="12A566"/>
          </a:solidFill>
          <a:ln/>
        </p:spPr>
      </p:sp>
      <p:sp>
        <p:nvSpPr>
          <p:cNvPr id="122" name="Text 120"/>
          <p:cNvSpPr txBox="1"/>
          <p:nvPr/>
        </p:nvSpPr>
        <p:spPr>
          <a:xfrm>
            <a:off x="9034272" y="2756916"/>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a:t>
            </a:r>
            <a:endParaRPr lang="en-US" sz="1300" dirty="0"/>
          </a:p>
        </p:txBody>
      </p:sp>
      <p:sp>
        <p:nvSpPr>
          <p:cNvPr id="123" name="Text 121"/>
          <p:cNvSpPr txBox="1"/>
          <p:nvPr/>
        </p:nvSpPr>
        <p:spPr>
          <a:xfrm>
            <a:off x="9820656" y="2756916"/>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24" name="Text 122"/>
          <p:cNvSpPr txBox="1"/>
          <p:nvPr/>
        </p:nvSpPr>
        <p:spPr>
          <a:xfrm>
            <a:off x="10323576" y="2756916"/>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25" name="Text 123"/>
          <p:cNvSpPr txBox="1"/>
          <p:nvPr/>
        </p:nvSpPr>
        <p:spPr>
          <a:xfrm>
            <a:off x="10872216" y="2756916"/>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26" name="Text 124"/>
          <p:cNvSpPr txBox="1"/>
          <p:nvPr/>
        </p:nvSpPr>
        <p:spPr>
          <a:xfrm>
            <a:off x="6208776" y="3108960"/>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27" name="Text 125"/>
          <p:cNvSpPr txBox="1"/>
          <p:nvPr/>
        </p:nvSpPr>
        <p:spPr>
          <a:xfrm>
            <a:off x="6565392" y="3108960"/>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28" name="Shape 126"/>
          <p:cNvSpPr/>
          <p:nvPr/>
        </p:nvSpPr>
        <p:spPr>
          <a:xfrm>
            <a:off x="8421624" y="3188170"/>
            <a:ext cx="123952" cy="193624"/>
          </a:xfrm>
          <a:prstGeom prst="rect">
            <a:avLst/>
          </a:prstGeom>
          <a:solidFill>
            <a:srgbClr val="12A566"/>
          </a:solidFill>
          <a:ln/>
        </p:spPr>
      </p:sp>
      <p:sp>
        <p:nvSpPr>
          <p:cNvPr id="129" name="Text 127"/>
          <p:cNvSpPr txBox="1"/>
          <p:nvPr/>
        </p:nvSpPr>
        <p:spPr>
          <a:xfrm>
            <a:off x="9034272" y="3108960"/>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a:t>
            </a:r>
            <a:endParaRPr lang="en-US" sz="1300" dirty="0"/>
          </a:p>
        </p:txBody>
      </p:sp>
      <p:sp>
        <p:nvSpPr>
          <p:cNvPr id="130" name="Text 128"/>
          <p:cNvSpPr txBox="1"/>
          <p:nvPr/>
        </p:nvSpPr>
        <p:spPr>
          <a:xfrm>
            <a:off x="9820656" y="3108960"/>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31" name="Text 129"/>
          <p:cNvSpPr txBox="1"/>
          <p:nvPr/>
        </p:nvSpPr>
        <p:spPr>
          <a:xfrm>
            <a:off x="10323576" y="3108960"/>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32" name="Text 130"/>
          <p:cNvSpPr txBox="1"/>
          <p:nvPr/>
        </p:nvSpPr>
        <p:spPr>
          <a:xfrm>
            <a:off x="10872216" y="3108960"/>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33" name="Text 131"/>
          <p:cNvSpPr txBox="1"/>
          <p:nvPr/>
        </p:nvSpPr>
        <p:spPr>
          <a:xfrm>
            <a:off x="6208776" y="3461004"/>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34" name="Text 132"/>
          <p:cNvSpPr txBox="1"/>
          <p:nvPr/>
        </p:nvSpPr>
        <p:spPr>
          <a:xfrm>
            <a:off x="6565392" y="3461004"/>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35" name="Shape 133"/>
          <p:cNvSpPr/>
          <p:nvPr/>
        </p:nvSpPr>
        <p:spPr>
          <a:xfrm>
            <a:off x="8421624" y="3540214"/>
            <a:ext cx="123952" cy="193624"/>
          </a:xfrm>
          <a:prstGeom prst="rect">
            <a:avLst/>
          </a:prstGeom>
          <a:solidFill>
            <a:srgbClr val="12A566"/>
          </a:solidFill>
          <a:ln/>
        </p:spPr>
      </p:sp>
      <p:sp>
        <p:nvSpPr>
          <p:cNvPr id="136" name="Text 134"/>
          <p:cNvSpPr txBox="1"/>
          <p:nvPr/>
        </p:nvSpPr>
        <p:spPr>
          <a:xfrm>
            <a:off x="9034272" y="3461004"/>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a:t>
            </a:r>
            <a:endParaRPr lang="en-US" sz="1300" dirty="0"/>
          </a:p>
        </p:txBody>
      </p:sp>
      <p:sp>
        <p:nvSpPr>
          <p:cNvPr id="137" name="Text 135"/>
          <p:cNvSpPr txBox="1"/>
          <p:nvPr/>
        </p:nvSpPr>
        <p:spPr>
          <a:xfrm>
            <a:off x="9820656" y="3461004"/>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38" name="Text 136"/>
          <p:cNvSpPr txBox="1"/>
          <p:nvPr/>
        </p:nvSpPr>
        <p:spPr>
          <a:xfrm>
            <a:off x="10323576" y="3461004"/>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39" name="Text 137"/>
          <p:cNvSpPr txBox="1"/>
          <p:nvPr/>
        </p:nvSpPr>
        <p:spPr>
          <a:xfrm>
            <a:off x="10872216" y="3461004"/>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40" name="Text 138"/>
          <p:cNvSpPr txBox="1"/>
          <p:nvPr/>
        </p:nvSpPr>
        <p:spPr>
          <a:xfrm>
            <a:off x="6208776" y="3813048"/>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41" name="Text 139"/>
          <p:cNvSpPr txBox="1"/>
          <p:nvPr/>
        </p:nvSpPr>
        <p:spPr>
          <a:xfrm>
            <a:off x="6565392" y="3813048"/>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42" name="Shape 140"/>
          <p:cNvSpPr/>
          <p:nvPr/>
        </p:nvSpPr>
        <p:spPr>
          <a:xfrm>
            <a:off x="8421624" y="3892258"/>
            <a:ext cx="123952" cy="193624"/>
          </a:xfrm>
          <a:prstGeom prst="rect">
            <a:avLst/>
          </a:prstGeom>
          <a:solidFill>
            <a:srgbClr val="12A566"/>
          </a:solidFill>
          <a:ln/>
        </p:spPr>
      </p:sp>
      <p:sp>
        <p:nvSpPr>
          <p:cNvPr id="143" name="Text 141"/>
          <p:cNvSpPr txBox="1"/>
          <p:nvPr/>
        </p:nvSpPr>
        <p:spPr>
          <a:xfrm>
            <a:off x="9034272" y="3813048"/>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a:t>
            </a:r>
            <a:endParaRPr lang="en-US" sz="1300" dirty="0"/>
          </a:p>
        </p:txBody>
      </p:sp>
      <p:sp>
        <p:nvSpPr>
          <p:cNvPr id="144" name="Text 142"/>
          <p:cNvSpPr txBox="1"/>
          <p:nvPr/>
        </p:nvSpPr>
        <p:spPr>
          <a:xfrm>
            <a:off x="9820656" y="3813048"/>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45" name="Text 143"/>
          <p:cNvSpPr txBox="1"/>
          <p:nvPr/>
        </p:nvSpPr>
        <p:spPr>
          <a:xfrm>
            <a:off x="10323576" y="3813048"/>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46" name="Text 144"/>
          <p:cNvSpPr txBox="1"/>
          <p:nvPr/>
        </p:nvSpPr>
        <p:spPr>
          <a:xfrm>
            <a:off x="10872216" y="3813048"/>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47" name="Text 145"/>
          <p:cNvSpPr txBox="1"/>
          <p:nvPr/>
        </p:nvSpPr>
        <p:spPr>
          <a:xfrm>
            <a:off x="6208776" y="4165092"/>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48" name="Text 146"/>
          <p:cNvSpPr txBox="1"/>
          <p:nvPr/>
        </p:nvSpPr>
        <p:spPr>
          <a:xfrm>
            <a:off x="6565392" y="4165092"/>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49" name="Shape 147"/>
          <p:cNvSpPr/>
          <p:nvPr/>
        </p:nvSpPr>
        <p:spPr>
          <a:xfrm>
            <a:off x="8421624" y="4244302"/>
            <a:ext cx="123952" cy="193624"/>
          </a:xfrm>
          <a:prstGeom prst="rect">
            <a:avLst/>
          </a:prstGeom>
          <a:solidFill>
            <a:srgbClr val="12A566"/>
          </a:solidFill>
          <a:ln/>
        </p:spPr>
      </p:sp>
      <p:sp>
        <p:nvSpPr>
          <p:cNvPr id="150" name="Text 148"/>
          <p:cNvSpPr txBox="1"/>
          <p:nvPr/>
        </p:nvSpPr>
        <p:spPr>
          <a:xfrm>
            <a:off x="9034272" y="4165092"/>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a:t>
            </a:r>
            <a:endParaRPr lang="en-US" sz="1300" dirty="0"/>
          </a:p>
        </p:txBody>
      </p:sp>
      <p:sp>
        <p:nvSpPr>
          <p:cNvPr id="151" name="Text 149"/>
          <p:cNvSpPr txBox="1"/>
          <p:nvPr/>
        </p:nvSpPr>
        <p:spPr>
          <a:xfrm>
            <a:off x="9820656" y="4165092"/>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52" name="Text 150"/>
          <p:cNvSpPr txBox="1"/>
          <p:nvPr/>
        </p:nvSpPr>
        <p:spPr>
          <a:xfrm>
            <a:off x="10323576" y="4165092"/>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53" name="Text 151"/>
          <p:cNvSpPr txBox="1"/>
          <p:nvPr/>
        </p:nvSpPr>
        <p:spPr>
          <a:xfrm>
            <a:off x="10872216" y="4165092"/>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54" name="Text 152"/>
          <p:cNvSpPr txBox="1"/>
          <p:nvPr/>
        </p:nvSpPr>
        <p:spPr>
          <a:xfrm>
            <a:off x="6208776" y="4517136"/>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55" name="Text 153"/>
          <p:cNvSpPr txBox="1"/>
          <p:nvPr/>
        </p:nvSpPr>
        <p:spPr>
          <a:xfrm>
            <a:off x="6565392" y="4517136"/>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56" name="Shape 154"/>
          <p:cNvSpPr/>
          <p:nvPr/>
        </p:nvSpPr>
        <p:spPr>
          <a:xfrm>
            <a:off x="8421624" y="4596346"/>
            <a:ext cx="123952" cy="193624"/>
          </a:xfrm>
          <a:prstGeom prst="rect">
            <a:avLst/>
          </a:prstGeom>
          <a:solidFill>
            <a:srgbClr val="12A566"/>
          </a:solidFill>
          <a:ln/>
        </p:spPr>
      </p:sp>
      <p:sp>
        <p:nvSpPr>
          <p:cNvPr id="157" name="Text 155"/>
          <p:cNvSpPr txBox="1"/>
          <p:nvPr/>
        </p:nvSpPr>
        <p:spPr>
          <a:xfrm>
            <a:off x="9034272" y="4517136"/>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a:t>
            </a:r>
            <a:endParaRPr lang="en-US" sz="1300" dirty="0"/>
          </a:p>
        </p:txBody>
      </p:sp>
      <p:sp>
        <p:nvSpPr>
          <p:cNvPr id="158" name="Text 156"/>
          <p:cNvSpPr txBox="1"/>
          <p:nvPr/>
        </p:nvSpPr>
        <p:spPr>
          <a:xfrm>
            <a:off x="9820656" y="4517136"/>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159" name="Text 157"/>
          <p:cNvSpPr txBox="1"/>
          <p:nvPr/>
        </p:nvSpPr>
        <p:spPr>
          <a:xfrm>
            <a:off x="10323576" y="4517136"/>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60" name="Text 158"/>
          <p:cNvSpPr txBox="1"/>
          <p:nvPr/>
        </p:nvSpPr>
        <p:spPr>
          <a:xfrm>
            <a:off x="10872216" y="4517136"/>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61" name="Text 159"/>
          <p:cNvSpPr txBox="1"/>
          <p:nvPr/>
        </p:nvSpPr>
        <p:spPr>
          <a:xfrm>
            <a:off x="6208776" y="4869180"/>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62" name="Text 160"/>
          <p:cNvSpPr txBox="1"/>
          <p:nvPr/>
        </p:nvSpPr>
        <p:spPr>
          <a:xfrm>
            <a:off x="6565392" y="4869180"/>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63" name="Shape 161"/>
          <p:cNvSpPr/>
          <p:nvPr/>
        </p:nvSpPr>
        <p:spPr>
          <a:xfrm>
            <a:off x="8421624" y="4948390"/>
            <a:ext cx="61976" cy="193624"/>
          </a:xfrm>
          <a:prstGeom prst="rect">
            <a:avLst/>
          </a:prstGeom>
          <a:solidFill>
            <a:srgbClr val="12A566"/>
          </a:solidFill>
          <a:ln/>
        </p:spPr>
      </p:sp>
      <p:sp>
        <p:nvSpPr>
          <p:cNvPr id="164" name="Text 162"/>
          <p:cNvSpPr txBox="1"/>
          <p:nvPr/>
        </p:nvSpPr>
        <p:spPr>
          <a:xfrm>
            <a:off x="9034272" y="4869180"/>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a:t>
            </a:r>
            <a:endParaRPr lang="en-US" sz="1300" dirty="0"/>
          </a:p>
        </p:txBody>
      </p:sp>
      <p:sp>
        <p:nvSpPr>
          <p:cNvPr id="165" name="Text 163"/>
          <p:cNvSpPr txBox="1"/>
          <p:nvPr/>
        </p:nvSpPr>
        <p:spPr>
          <a:xfrm>
            <a:off x="9820656" y="4869180"/>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66" name="Text 164"/>
          <p:cNvSpPr txBox="1"/>
          <p:nvPr/>
        </p:nvSpPr>
        <p:spPr>
          <a:xfrm>
            <a:off x="10323576" y="4869180"/>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67" name="Text 165"/>
          <p:cNvSpPr txBox="1"/>
          <p:nvPr/>
        </p:nvSpPr>
        <p:spPr>
          <a:xfrm>
            <a:off x="10872216" y="4869180"/>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68" name="Text 166"/>
          <p:cNvSpPr txBox="1"/>
          <p:nvPr/>
        </p:nvSpPr>
        <p:spPr>
          <a:xfrm>
            <a:off x="6208776" y="5221224"/>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69" name="Text 167"/>
          <p:cNvSpPr txBox="1"/>
          <p:nvPr/>
        </p:nvSpPr>
        <p:spPr>
          <a:xfrm>
            <a:off x="6565392" y="5221224"/>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70" name="Shape 168"/>
          <p:cNvSpPr/>
          <p:nvPr/>
        </p:nvSpPr>
        <p:spPr>
          <a:xfrm>
            <a:off x="8421624" y="5300434"/>
            <a:ext cx="61976" cy="193624"/>
          </a:xfrm>
          <a:prstGeom prst="rect">
            <a:avLst/>
          </a:prstGeom>
          <a:solidFill>
            <a:srgbClr val="12A566"/>
          </a:solidFill>
          <a:ln/>
        </p:spPr>
      </p:sp>
      <p:sp>
        <p:nvSpPr>
          <p:cNvPr id="171" name="Text 169"/>
          <p:cNvSpPr txBox="1"/>
          <p:nvPr/>
        </p:nvSpPr>
        <p:spPr>
          <a:xfrm>
            <a:off x="9034272" y="5221224"/>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a:t>
            </a:r>
            <a:endParaRPr lang="en-US" sz="1300" dirty="0"/>
          </a:p>
        </p:txBody>
      </p:sp>
      <p:sp>
        <p:nvSpPr>
          <p:cNvPr id="172" name="Text 170"/>
          <p:cNvSpPr txBox="1"/>
          <p:nvPr/>
        </p:nvSpPr>
        <p:spPr>
          <a:xfrm>
            <a:off x="9820656" y="5221224"/>
            <a:ext cx="5029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73" name="Text 171"/>
          <p:cNvSpPr txBox="1"/>
          <p:nvPr/>
        </p:nvSpPr>
        <p:spPr>
          <a:xfrm>
            <a:off x="10323576" y="5221224"/>
            <a:ext cx="54864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74" name="Text 172"/>
          <p:cNvSpPr txBox="1"/>
          <p:nvPr/>
        </p:nvSpPr>
        <p:spPr>
          <a:xfrm>
            <a:off x="10872216" y="5221224"/>
            <a:ext cx="59436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75" name="Shape 173"/>
          <p:cNvSpPr/>
          <p:nvPr/>
        </p:nvSpPr>
        <p:spPr>
          <a:xfrm>
            <a:off x="6085332" y="1700784"/>
            <a:ext cx="10973" cy="4224528"/>
          </a:xfrm>
          <a:prstGeom prst="rect">
            <a:avLst/>
          </a:prstGeom>
          <a:solidFill>
            <a:srgbClr val="D9D9D9"/>
          </a:solidFill>
          <a:ln/>
        </p:spPr>
      </p:sp>
      <p:sp>
        <p:nvSpPr>
          <p:cNvPr id="176" name="Shape 174"/>
          <p:cNvSpPr/>
          <p:nvPr/>
        </p:nvSpPr>
        <p:spPr>
          <a:xfrm>
            <a:off x="457200" y="6126480"/>
            <a:ext cx="11274552" cy="371856"/>
          </a:xfrm>
          <a:prstGeom prst="rect">
            <a:avLst/>
          </a:prstGeom>
          <a:solidFill>
            <a:srgbClr val="E6F6EE"/>
          </a:solidFill>
          <a:ln/>
        </p:spPr>
      </p:sp>
      <p:sp>
        <p:nvSpPr>
          <p:cNvPr id="177" name="Text 17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23 stores set 98 all-time monthly records in 2026. Honda Spokane and Nissan lead with 9 each.</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RECORDS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 Set Records in 2026</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585216" y="1316736"/>
            <a:ext cx="5440680" cy="379476"/>
          </a:xfrm>
          <a:prstGeom prst="rect">
            <a:avLst/>
          </a:prstGeom>
          <a:solidFill>
            <a:srgbClr val="F7F7F7"/>
          </a:solidFill>
          <a:ln/>
        </p:spPr>
      </p:sp>
      <p:sp>
        <p:nvSpPr>
          <p:cNvPr id="7" name="Text 5"/>
          <p:cNvSpPr txBox="1"/>
          <p:nvPr/>
        </p:nvSpPr>
        <p:spPr>
          <a:xfrm>
            <a:off x="658368" y="1316736"/>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9</a:t>
            </a:r>
            <a:endParaRPr lang="en-US" sz="1400" dirty="0"/>
          </a:p>
        </p:txBody>
      </p:sp>
      <p:sp>
        <p:nvSpPr>
          <p:cNvPr id="8" name="Text 6"/>
          <p:cNvSpPr txBox="1"/>
          <p:nvPr/>
        </p:nvSpPr>
        <p:spPr>
          <a:xfrm>
            <a:off x="1115568" y="1316736"/>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HONDA SPOKANE</a:t>
            </a:r>
            <a:endParaRPr lang="en-US" sz="1200" dirty="0"/>
          </a:p>
        </p:txBody>
      </p:sp>
      <p:sp>
        <p:nvSpPr>
          <p:cNvPr id="9" name="Text 7"/>
          <p:cNvSpPr txBox="1"/>
          <p:nvPr/>
        </p:nvSpPr>
        <p:spPr>
          <a:xfrm>
            <a:off x="2898648" y="1316736"/>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Service: Mar, Apr, Jun, Jul  ·  Parts: Jul  ·  Combined: Mar, Apr, Jun, Jul</a:t>
            </a:r>
            <a:endParaRPr lang="en-US" sz="1200" dirty="0"/>
          </a:p>
        </p:txBody>
      </p:sp>
      <p:sp>
        <p:nvSpPr>
          <p:cNvPr id="10" name="Text 8"/>
          <p:cNvSpPr txBox="1"/>
          <p:nvPr/>
        </p:nvSpPr>
        <p:spPr>
          <a:xfrm>
            <a:off x="658368" y="1696212"/>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9</a:t>
            </a:r>
            <a:endParaRPr lang="en-US" sz="1400" dirty="0"/>
          </a:p>
        </p:txBody>
      </p:sp>
      <p:sp>
        <p:nvSpPr>
          <p:cNvPr id="11" name="Text 9"/>
          <p:cNvSpPr txBox="1"/>
          <p:nvPr/>
        </p:nvSpPr>
        <p:spPr>
          <a:xfrm>
            <a:off x="1115568" y="1696212"/>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NISSAN</a:t>
            </a:r>
            <a:endParaRPr lang="en-US" sz="1200" dirty="0"/>
          </a:p>
        </p:txBody>
      </p:sp>
      <p:sp>
        <p:nvSpPr>
          <p:cNvPr id="12" name="Text 10"/>
          <p:cNvSpPr txBox="1"/>
          <p:nvPr/>
        </p:nvSpPr>
        <p:spPr>
          <a:xfrm>
            <a:off x="2898648" y="1696212"/>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Service: Mar, Jun, Sep  ·  Parts: Jun, Jul  ·  Combined: Mar, Jun, Jul, Sep</a:t>
            </a:r>
            <a:endParaRPr lang="en-US" sz="1200" dirty="0"/>
          </a:p>
        </p:txBody>
      </p:sp>
      <p:sp>
        <p:nvSpPr>
          <p:cNvPr id="13" name="Shape 11"/>
          <p:cNvSpPr/>
          <p:nvPr/>
        </p:nvSpPr>
        <p:spPr>
          <a:xfrm>
            <a:off x="585216" y="2075688"/>
            <a:ext cx="5440680" cy="379476"/>
          </a:xfrm>
          <a:prstGeom prst="rect">
            <a:avLst/>
          </a:prstGeom>
          <a:solidFill>
            <a:srgbClr val="F7F7F7"/>
          </a:solidFill>
          <a:ln/>
        </p:spPr>
      </p:sp>
      <p:sp>
        <p:nvSpPr>
          <p:cNvPr id="14" name="Text 12"/>
          <p:cNvSpPr txBox="1"/>
          <p:nvPr/>
        </p:nvSpPr>
        <p:spPr>
          <a:xfrm>
            <a:off x="658368" y="2075688"/>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8</a:t>
            </a:r>
            <a:endParaRPr lang="en-US" sz="1400" dirty="0"/>
          </a:p>
        </p:txBody>
      </p:sp>
      <p:sp>
        <p:nvSpPr>
          <p:cNvPr id="15" name="Text 13"/>
          <p:cNvSpPr txBox="1"/>
          <p:nvPr/>
        </p:nvSpPr>
        <p:spPr>
          <a:xfrm>
            <a:off x="1115568" y="2075688"/>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6" name="Text 14"/>
          <p:cNvSpPr txBox="1"/>
          <p:nvPr/>
        </p:nvSpPr>
        <p:spPr>
          <a:xfrm>
            <a:off x="2898648" y="2075688"/>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Service: Apr, Jul  ·  Parts: Jun, Aug, Sep  ·  Combined: Apr, Jun, Jul</a:t>
            </a:r>
            <a:endParaRPr lang="en-US" sz="1200" dirty="0"/>
          </a:p>
        </p:txBody>
      </p:sp>
      <p:sp>
        <p:nvSpPr>
          <p:cNvPr id="17" name="Text 15"/>
          <p:cNvSpPr txBox="1"/>
          <p:nvPr/>
        </p:nvSpPr>
        <p:spPr>
          <a:xfrm>
            <a:off x="658368" y="2455164"/>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7</a:t>
            </a:r>
            <a:endParaRPr lang="en-US" sz="1400" dirty="0"/>
          </a:p>
        </p:txBody>
      </p:sp>
      <p:sp>
        <p:nvSpPr>
          <p:cNvPr id="18" name="Text 16"/>
          <p:cNvSpPr txBox="1"/>
          <p:nvPr/>
        </p:nvSpPr>
        <p:spPr>
          <a:xfrm>
            <a:off x="1115568" y="2455164"/>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HONDA HENDERSON</a:t>
            </a:r>
            <a:endParaRPr lang="en-US" sz="1200" dirty="0"/>
          </a:p>
        </p:txBody>
      </p:sp>
      <p:sp>
        <p:nvSpPr>
          <p:cNvPr id="19" name="Text 17"/>
          <p:cNvSpPr txBox="1"/>
          <p:nvPr/>
        </p:nvSpPr>
        <p:spPr>
          <a:xfrm>
            <a:off x="2898648" y="2455164"/>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Service: Mar, Jun, Jul  ·  Parts: Jul  ·  Combined: Mar, Jun, Jul</a:t>
            </a:r>
            <a:endParaRPr lang="en-US" sz="1200" dirty="0"/>
          </a:p>
        </p:txBody>
      </p:sp>
      <p:sp>
        <p:nvSpPr>
          <p:cNvPr id="20" name="Shape 18"/>
          <p:cNvSpPr/>
          <p:nvPr/>
        </p:nvSpPr>
        <p:spPr>
          <a:xfrm>
            <a:off x="585216" y="2834640"/>
            <a:ext cx="5440680" cy="379476"/>
          </a:xfrm>
          <a:prstGeom prst="rect">
            <a:avLst/>
          </a:prstGeom>
          <a:solidFill>
            <a:srgbClr val="F7F7F7"/>
          </a:solidFill>
          <a:ln/>
        </p:spPr>
      </p:sp>
      <p:sp>
        <p:nvSpPr>
          <p:cNvPr id="21" name="Text 19"/>
          <p:cNvSpPr txBox="1"/>
          <p:nvPr/>
        </p:nvSpPr>
        <p:spPr>
          <a:xfrm>
            <a:off x="658368" y="2834640"/>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7</a:t>
            </a:r>
            <a:endParaRPr lang="en-US" sz="1400" dirty="0"/>
          </a:p>
        </p:txBody>
      </p:sp>
      <p:sp>
        <p:nvSpPr>
          <p:cNvPr id="22" name="Text 20"/>
          <p:cNvSpPr txBox="1"/>
          <p:nvPr/>
        </p:nvSpPr>
        <p:spPr>
          <a:xfrm>
            <a:off x="1115568" y="2834640"/>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SUBARU ST GEORGE</a:t>
            </a:r>
            <a:endParaRPr lang="en-US" sz="1200" dirty="0"/>
          </a:p>
        </p:txBody>
      </p:sp>
      <p:sp>
        <p:nvSpPr>
          <p:cNvPr id="23" name="Text 21"/>
          <p:cNvSpPr txBox="1"/>
          <p:nvPr/>
        </p:nvSpPr>
        <p:spPr>
          <a:xfrm>
            <a:off x="2898648" y="2834640"/>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Service: Jan, Mar  ·  Parts: Mar, Apr, Jun  ·  Combined: Mar, Jun</a:t>
            </a:r>
            <a:endParaRPr lang="en-US" sz="1200" dirty="0"/>
          </a:p>
        </p:txBody>
      </p:sp>
      <p:sp>
        <p:nvSpPr>
          <p:cNvPr id="24" name="Text 22"/>
          <p:cNvSpPr txBox="1"/>
          <p:nvPr/>
        </p:nvSpPr>
        <p:spPr>
          <a:xfrm>
            <a:off x="658368" y="3214116"/>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6</a:t>
            </a:r>
            <a:endParaRPr lang="en-US" sz="1400" dirty="0"/>
          </a:p>
        </p:txBody>
      </p:sp>
      <p:sp>
        <p:nvSpPr>
          <p:cNvPr id="25" name="Text 23"/>
          <p:cNvSpPr txBox="1"/>
          <p:nvPr/>
        </p:nvSpPr>
        <p:spPr>
          <a:xfrm>
            <a:off x="1115568" y="3214116"/>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HYUNDAI PRESCOTT</a:t>
            </a:r>
            <a:endParaRPr lang="en-US" sz="1200" dirty="0"/>
          </a:p>
        </p:txBody>
      </p:sp>
      <p:sp>
        <p:nvSpPr>
          <p:cNvPr id="26" name="Text 24"/>
          <p:cNvSpPr txBox="1"/>
          <p:nvPr/>
        </p:nvSpPr>
        <p:spPr>
          <a:xfrm>
            <a:off x="2898648" y="3214116"/>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Service: Mar, Jul  ·  Parts: Feb  ·  Combined: Feb, Mar, Jul</a:t>
            </a:r>
            <a:endParaRPr lang="en-US" sz="1200" dirty="0"/>
          </a:p>
        </p:txBody>
      </p:sp>
      <p:sp>
        <p:nvSpPr>
          <p:cNvPr id="27" name="Shape 25"/>
          <p:cNvSpPr/>
          <p:nvPr/>
        </p:nvSpPr>
        <p:spPr>
          <a:xfrm>
            <a:off x="585216" y="3593592"/>
            <a:ext cx="5440680" cy="379476"/>
          </a:xfrm>
          <a:prstGeom prst="rect">
            <a:avLst/>
          </a:prstGeom>
          <a:solidFill>
            <a:srgbClr val="F7F7F7"/>
          </a:solidFill>
          <a:ln/>
        </p:spPr>
      </p:sp>
      <p:sp>
        <p:nvSpPr>
          <p:cNvPr id="28" name="Text 26"/>
          <p:cNvSpPr txBox="1"/>
          <p:nvPr/>
        </p:nvSpPr>
        <p:spPr>
          <a:xfrm>
            <a:off x="658368" y="3593592"/>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6</a:t>
            </a:r>
            <a:endParaRPr lang="en-US" sz="1400" dirty="0"/>
          </a:p>
        </p:txBody>
      </p:sp>
      <p:sp>
        <p:nvSpPr>
          <p:cNvPr id="29" name="Text 27"/>
          <p:cNvSpPr txBox="1"/>
          <p:nvPr/>
        </p:nvSpPr>
        <p:spPr>
          <a:xfrm>
            <a:off x="1115568" y="3593592"/>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LINCOLN</a:t>
            </a:r>
            <a:endParaRPr lang="en-US" sz="1200" dirty="0"/>
          </a:p>
        </p:txBody>
      </p:sp>
      <p:sp>
        <p:nvSpPr>
          <p:cNvPr id="30" name="Text 28"/>
          <p:cNvSpPr txBox="1"/>
          <p:nvPr/>
        </p:nvSpPr>
        <p:spPr>
          <a:xfrm>
            <a:off x="2898648" y="3593592"/>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Service: Aug, Sep  ·  Parts: Mar  ·  Combined: Mar, Aug, Sep</a:t>
            </a:r>
            <a:endParaRPr lang="en-US" sz="1200" dirty="0"/>
          </a:p>
        </p:txBody>
      </p:sp>
      <p:sp>
        <p:nvSpPr>
          <p:cNvPr id="31" name="Text 29"/>
          <p:cNvSpPr txBox="1"/>
          <p:nvPr/>
        </p:nvSpPr>
        <p:spPr>
          <a:xfrm>
            <a:off x="658368" y="3973068"/>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5</a:t>
            </a:r>
            <a:endParaRPr lang="en-US" sz="1400" dirty="0"/>
          </a:p>
        </p:txBody>
      </p:sp>
      <p:sp>
        <p:nvSpPr>
          <p:cNvPr id="32" name="Text 30"/>
          <p:cNvSpPr txBox="1"/>
          <p:nvPr/>
        </p:nvSpPr>
        <p:spPr>
          <a:xfrm>
            <a:off x="1115568" y="3973068"/>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MAZDA</a:t>
            </a:r>
            <a:endParaRPr lang="en-US" sz="1200" dirty="0"/>
          </a:p>
        </p:txBody>
      </p:sp>
      <p:sp>
        <p:nvSpPr>
          <p:cNvPr id="33" name="Text 31"/>
          <p:cNvSpPr txBox="1"/>
          <p:nvPr/>
        </p:nvSpPr>
        <p:spPr>
          <a:xfrm>
            <a:off x="2898648" y="3973068"/>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Service: Aug, Sep  ·  Parts: Sep  ·  Combined: Aug, Sep</a:t>
            </a:r>
            <a:endParaRPr lang="en-US" sz="1200" dirty="0"/>
          </a:p>
        </p:txBody>
      </p:sp>
      <p:sp>
        <p:nvSpPr>
          <p:cNvPr id="34" name="Shape 32"/>
          <p:cNvSpPr/>
          <p:nvPr/>
        </p:nvSpPr>
        <p:spPr>
          <a:xfrm>
            <a:off x="585216" y="4352544"/>
            <a:ext cx="5440680" cy="379476"/>
          </a:xfrm>
          <a:prstGeom prst="rect">
            <a:avLst/>
          </a:prstGeom>
          <a:solidFill>
            <a:srgbClr val="F7F7F7"/>
          </a:solidFill>
          <a:ln/>
        </p:spPr>
      </p:sp>
      <p:sp>
        <p:nvSpPr>
          <p:cNvPr id="35" name="Text 33"/>
          <p:cNvSpPr txBox="1"/>
          <p:nvPr/>
        </p:nvSpPr>
        <p:spPr>
          <a:xfrm>
            <a:off x="658368" y="4352544"/>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4</a:t>
            </a:r>
            <a:endParaRPr lang="en-US" sz="1400" dirty="0"/>
          </a:p>
        </p:txBody>
      </p:sp>
      <p:sp>
        <p:nvSpPr>
          <p:cNvPr id="36" name="Text 34"/>
          <p:cNvSpPr txBox="1"/>
          <p:nvPr/>
        </p:nvSpPr>
        <p:spPr>
          <a:xfrm>
            <a:off x="1115568" y="4352544"/>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KIA ST GEORGE</a:t>
            </a:r>
            <a:endParaRPr lang="en-US" sz="1200" dirty="0"/>
          </a:p>
        </p:txBody>
      </p:sp>
      <p:sp>
        <p:nvSpPr>
          <p:cNvPr id="37" name="Text 35"/>
          <p:cNvSpPr txBox="1"/>
          <p:nvPr/>
        </p:nvSpPr>
        <p:spPr>
          <a:xfrm>
            <a:off x="2898648" y="4352544"/>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Service: Apr, Jul  ·  Parts: Jul  ·  Combined: Jul</a:t>
            </a:r>
            <a:endParaRPr lang="en-US" sz="1200" dirty="0"/>
          </a:p>
        </p:txBody>
      </p:sp>
      <p:sp>
        <p:nvSpPr>
          <p:cNvPr id="38" name="Text 36"/>
          <p:cNvSpPr txBox="1"/>
          <p:nvPr/>
        </p:nvSpPr>
        <p:spPr>
          <a:xfrm>
            <a:off x="658368" y="4732020"/>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4</a:t>
            </a:r>
            <a:endParaRPr lang="en-US" sz="1400" dirty="0"/>
          </a:p>
        </p:txBody>
      </p:sp>
      <p:sp>
        <p:nvSpPr>
          <p:cNvPr id="39" name="Text 37"/>
          <p:cNvSpPr txBox="1"/>
          <p:nvPr/>
        </p:nvSpPr>
        <p:spPr>
          <a:xfrm>
            <a:off x="1115568" y="4732020"/>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LEXUS</a:t>
            </a:r>
            <a:endParaRPr lang="en-US" sz="1200" dirty="0"/>
          </a:p>
        </p:txBody>
      </p:sp>
      <p:sp>
        <p:nvSpPr>
          <p:cNvPr id="40" name="Text 38"/>
          <p:cNvSpPr txBox="1"/>
          <p:nvPr/>
        </p:nvSpPr>
        <p:spPr>
          <a:xfrm>
            <a:off x="2898648" y="4732020"/>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Service: Mar, May  ·  Parts: May  ·  Combined: May</a:t>
            </a:r>
            <a:endParaRPr lang="en-US" sz="1200" dirty="0"/>
          </a:p>
        </p:txBody>
      </p:sp>
      <p:sp>
        <p:nvSpPr>
          <p:cNvPr id="41" name="Shape 39"/>
          <p:cNvSpPr/>
          <p:nvPr/>
        </p:nvSpPr>
        <p:spPr>
          <a:xfrm>
            <a:off x="585216" y="5111496"/>
            <a:ext cx="5440680" cy="379476"/>
          </a:xfrm>
          <a:prstGeom prst="rect">
            <a:avLst/>
          </a:prstGeom>
          <a:solidFill>
            <a:srgbClr val="F7F7F7"/>
          </a:solidFill>
          <a:ln/>
        </p:spPr>
      </p:sp>
      <p:sp>
        <p:nvSpPr>
          <p:cNvPr id="42" name="Text 40"/>
          <p:cNvSpPr txBox="1"/>
          <p:nvPr/>
        </p:nvSpPr>
        <p:spPr>
          <a:xfrm>
            <a:off x="658368" y="5111496"/>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4</a:t>
            </a:r>
            <a:endParaRPr lang="en-US" sz="1400" dirty="0"/>
          </a:p>
        </p:txBody>
      </p:sp>
      <p:sp>
        <p:nvSpPr>
          <p:cNvPr id="43" name="Text 41"/>
          <p:cNvSpPr txBox="1"/>
          <p:nvPr/>
        </p:nvSpPr>
        <p:spPr>
          <a:xfrm>
            <a:off x="1115568" y="5111496"/>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LR HENDERSON</a:t>
            </a:r>
            <a:endParaRPr lang="en-US" sz="1200" dirty="0"/>
          </a:p>
        </p:txBody>
      </p:sp>
      <p:sp>
        <p:nvSpPr>
          <p:cNvPr id="44" name="Text 42"/>
          <p:cNvSpPr txBox="1"/>
          <p:nvPr/>
        </p:nvSpPr>
        <p:spPr>
          <a:xfrm>
            <a:off x="2898648" y="5111496"/>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Service: Aug, Sep  ·  Parts: Jul  ·  Combined: Jul</a:t>
            </a:r>
            <a:endParaRPr lang="en-US" sz="1200" dirty="0"/>
          </a:p>
        </p:txBody>
      </p:sp>
      <p:sp>
        <p:nvSpPr>
          <p:cNvPr id="45" name="Text 43"/>
          <p:cNvSpPr txBox="1"/>
          <p:nvPr/>
        </p:nvSpPr>
        <p:spPr>
          <a:xfrm>
            <a:off x="658368" y="5490972"/>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4</a:t>
            </a:r>
            <a:endParaRPr lang="en-US" sz="1400" dirty="0"/>
          </a:p>
        </p:txBody>
      </p:sp>
      <p:sp>
        <p:nvSpPr>
          <p:cNvPr id="46" name="Text 44"/>
          <p:cNvSpPr txBox="1"/>
          <p:nvPr/>
        </p:nvSpPr>
        <p:spPr>
          <a:xfrm>
            <a:off x="1115568" y="5490972"/>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TOYOTA FLAGSTAFF</a:t>
            </a:r>
            <a:endParaRPr lang="en-US" sz="1200" dirty="0"/>
          </a:p>
        </p:txBody>
      </p:sp>
      <p:sp>
        <p:nvSpPr>
          <p:cNvPr id="47" name="Text 45"/>
          <p:cNvSpPr txBox="1"/>
          <p:nvPr/>
        </p:nvSpPr>
        <p:spPr>
          <a:xfrm>
            <a:off x="2898648" y="5490972"/>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Service: Mar, Apr, May  ·  Combined: Mar</a:t>
            </a:r>
            <a:endParaRPr lang="en-US" sz="1200" dirty="0"/>
          </a:p>
        </p:txBody>
      </p:sp>
      <p:sp>
        <p:nvSpPr>
          <p:cNvPr id="48" name="Shape 46"/>
          <p:cNvSpPr/>
          <p:nvPr/>
        </p:nvSpPr>
        <p:spPr>
          <a:xfrm>
            <a:off x="6163056" y="1316736"/>
            <a:ext cx="5440680" cy="379476"/>
          </a:xfrm>
          <a:prstGeom prst="rect">
            <a:avLst/>
          </a:prstGeom>
          <a:solidFill>
            <a:srgbClr val="F7F7F7"/>
          </a:solidFill>
          <a:ln/>
        </p:spPr>
      </p:sp>
      <p:sp>
        <p:nvSpPr>
          <p:cNvPr id="49" name="Text 47"/>
          <p:cNvSpPr txBox="1"/>
          <p:nvPr/>
        </p:nvSpPr>
        <p:spPr>
          <a:xfrm>
            <a:off x="6236208" y="1316736"/>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6693408" y="1316736"/>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TOYOTA PRESCOTT</a:t>
            </a:r>
            <a:endParaRPr lang="en-US" sz="1200" dirty="0"/>
          </a:p>
        </p:txBody>
      </p:sp>
      <p:sp>
        <p:nvSpPr>
          <p:cNvPr id="51" name="Text 49"/>
          <p:cNvSpPr txBox="1"/>
          <p:nvPr/>
        </p:nvSpPr>
        <p:spPr>
          <a:xfrm>
            <a:off x="8476488" y="1316736"/>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Service: Mar, Apr  ·  Parts: Apr  ·  Combined: Apr</a:t>
            </a:r>
            <a:endParaRPr lang="en-US" sz="1200" dirty="0"/>
          </a:p>
        </p:txBody>
      </p:sp>
      <p:sp>
        <p:nvSpPr>
          <p:cNvPr id="52" name="Text 50"/>
          <p:cNvSpPr txBox="1"/>
          <p:nvPr/>
        </p:nvSpPr>
        <p:spPr>
          <a:xfrm>
            <a:off x="6236208" y="1696212"/>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4</a:t>
            </a:r>
            <a:endParaRPr lang="en-US" sz="1400" dirty="0"/>
          </a:p>
        </p:txBody>
      </p:sp>
      <p:sp>
        <p:nvSpPr>
          <p:cNvPr id="53" name="Text 51"/>
          <p:cNvSpPr txBox="1"/>
          <p:nvPr/>
        </p:nvSpPr>
        <p:spPr>
          <a:xfrm>
            <a:off x="6693408" y="1696212"/>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54" name="Text 52"/>
          <p:cNvSpPr txBox="1"/>
          <p:nvPr/>
        </p:nvSpPr>
        <p:spPr>
          <a:xfrm>
            <a:off x="8476488" y="1696212"/>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Service: Jan, Mar, Jul, Sep</a:t>
            </a:r>
            <a:endParaRPr lang="en-US" sz="1200" dirty="0"/>
          </a:p>
        </p:txBody>
      </p:sp>
      <p:sp>
        <p:nvSpPr>
          <p:cNvPr id="55" name="Shape 53"/>
          <p:cNvSpPr/>
          <p:nvPr/>
        </p:nvSpPr>
        <p:spPr>
          <a:xfrm>
            <a:off x="6163056" y="2075688"/>
            <a:ext cx="5440680" cy="379476"/>
          </a:xfrm>
          <a:prstGeom prst="rect">
            <a:avLst/>
          </a:prstGeom>
          <a:solidFill>
            <a:srgbClr val="F7F7F7"/>
          </a:solidFill>
          <a:ln/>
        </p:spPr>
      </p:sp>
      <p:sp>
        <p:nvSpPr>
          <p:cNvPr id="56" name="Text 54"/>
          <p:cNvSpPr txBox="1"/>
          <p:nvPr/>
        </p:nvSpPr>
        <p:spPr>
          <a:xfrm>
            <a:off x="6236208" y="2075688"/>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3</a:t>
            </a:r>
            <a:endParaRPr lang="en-US" sz="1400" dirty="0"/>
          </a:p>
        </p:txBody>
      </p:sp>
      <p:sp>
        <p:nvSpPr>
          <p:cNvPr id="57" name="Text 55"/>
          <p:cNvSpPr txBox="1"/>
          <p:nvPr/>
        </p:nvSpPr>
        <p:spPr>
          <a:xfrm>
            <a:off x="6693408" y="2075688"/>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AUDI HENDERSON</a:t>
            </a:r>
            <a:endParaRPr lang="en-US" sz="1200" dirty="0"/>
          </a:p>
        </p:txBody>
      </p:sp>
      <p:sp>
        <p:nvSpPr>
          <p:cNvPr id="58" name="Text 56"/>
          <p:cNvSpPr txBox="1"/>
          <p:nvPr/>
        </p:nvSpPr>
        <p:spPr>
          <a:xfrm>
            <a:off x="8476488" y="2075688"/>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Parts: Jul  ·  Combined: Apr, Jul</a:t>
            </a:r>
            <a:endParaRPr lang="en-US" sz="1200" dirty="0"/>
          </a:p>
        </p:txBody>
      </p:sp>
      <p:sp>
        <p:nvSpPr>
          <p:cNvPr id="59" name="Text 57"/>
          <p:cNvSpPr txBox="1"/>
          <p:nvPr/>
        </p:nvSpPr>
        <p:spPr>
          <a:xfrm>
            <a:off x="6236208" y="2455164"/>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2</a:t>
            </a:r>
            <a:endParaRPr lang="en-US" sz="1400" dirty="0"/>
          </a:p>
        </p:txBody>
      </p:sp>
      <p:sp>
        <p:nvSpPr>
          <p:cNvPr id="60" name="Text 58"/>
          <p:cNvSpPr txBox="1"/>
          <p:nvPr/>
        </p:nvSpPr>
        <p:spPr>
          <a:xfrm>
            <a:off x="6693408" y="2455164"/>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CDJR POST FALLS</a:t>
            </a:r>
            <a:endParaRPr lang="en-US" sz="1200" dirty="0"/>
          </a:p>
        </p:txBody>
      </p:sp>
      <p:sp>
        <p:nvSpPr>
          <p:cNvPr id="61" name="Text 59"/>
          <p:cNvSpPr txBox="1"/>
          <p:nvPr/>
        </p:nvSpPr>
        <p:spPr>
          <a:xfrm>
            <a:off x="8476488" y="2455164"/>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Service: Jul  ·  Combined: Jul</a:t>
            </a:r>
            <a:endParaRPr lang="en-US" sz="1200" dirty="0"/>
          </a:p>
        </p:txBody>
      </p:sp>
      <p:sp>
        <p:nvSpPr>
          <p:cNvPr id="62" name="Shape 60"/>
          <p:cNvSpPr/>
          <p:nvPr/>
        </p:nvSpPr>
        <p:spPr>
          <a:xfrm>
            <a:off x="6163056" y="2834640"/>
            <a:ext cx="5440680" cy="379476"/>
          </a:xfrm>
          <a:prstGeom prst="rect">
            <a:avLst/>
          </a:prstGeom>
          <a:solidFill>
            <a:srgbClr val="F7F7F7"/>
          </a:solidFill>
          <a:ln/>
        </p:spPr>
      </p:sp>
      <p:sp>
        <p:nvSpPr>
          <p:cNvPr id="63" name="Text 61"/>
          <p:cNvSpPr txBox="1"/>
          <p:nvPr/>
        </p:nvSpPr>
        <p:spPr>
          <a:xfrm>
            <a:off x="6236208" y="2834640"/>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2</a:t>
            </a:r>
            <a:endParaRPr lang="en-US" sz="1400" dirty="0"/>
          </a:p>
        </p:txBody>
      </p:sp>
      <p:sp>
        <p:nvSpPr>
          <p:cNvPr id="64" name="Text 62"/>
          <p:cNvSpPr txBox="1"/>
          <p:nvPr/>
        </p:nvSpPr>
        <p:spPr>
          <a:xfrm>
            <a:off x="6693408" y="2834640"/>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GMC PRESCOTT</a:t>
            </a:r>
            <a:endParaRPr lang="en-US" sz="1200" dirty="0"/>
          </a:p>
        </p:txBody>
      </p:sp>
      <p:sp>
        <p:nvSpPr>
          <p:cNvPr id="65" name="Text 63"/>
          <p:cNvSpPr txBox="1"/>
          <p:nvPr/>
        </p:nvSpPr>
        <p:spPr>
          <a:xfrm>
            <a:off x="8476488" y="2834640"/>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Parts: Apr  ·  Combined: Apr</a:t>
            </a:r>
            <a:endParaRPr lang="en-US" sz="1200" dirty="0"/>
          </a:p>
        </p:txBody>
      </p:sp>
      <p:sp>
        <p:nvSpPr>
          <p:cNvPr id="66" name="Text 64"/>
          <p:cNvSpPr txBox="1"/>
          <p:nvPr/>
        </p:nvSpPr>
        <p:spPr>
          <a:xfrm>
            <a:off x="6236208" y="3214116"/>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2</a:t>
            </a:r>
            <a:endParaRPr lang="en-US" sz="1400" dirty="0"/>
          </a:p>
        </p:txBody>
      </p:sp>
      <p:sp>
        <p:nvSpPr>
          <p:cNvPr id="67" name="Text 65"/>
          <p:cNvSpPr txBox="1"/>
          <p:nvPr/>
        </p:nvSpPr>
        <p:spPr>
          <a:xfrm>
            <a:off x="6693408" y="3214116"/>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LR LV</a:t>
            </a:r>
            <a:endParaRPr lang="en-US" sz="1200" dirty="0"/>
          </a:p>
        </p:txBody>
      </p:sp>
      <p:sp>
        <p:nvSpPr>
          <p:cNvPr id="68" name="Text 66"/>
          <p:cNvSpPr txBox="1"/>
          <p:nvPr/>
        </p:nvSpPr>
        <p:spPr>
          <a:xfrm>
            <a:off x="8476488" y="3214116"/>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Service: Jul  ·  Combined: Jul</a:t>
            </a:r>
            <a:endParaRPr lang="en-US" sz="1200" dirty="0"/>
          </a:p>
        </p:txBody>
      </p:sp>
      <p:sp>
        <p:nvSpPr>
          <p:cNvPr id="69" name="Shape 67"/>
          <p:cNvSpPr/>
          <p:nvPr/>
        </p:nvSpPr>
        <p:spPr>
          <a:xfrm>
            <a:off x="6163056" y="3593592"/>
            <a:ext cx="5440680" cy="379476"/>
          </a:xfrm>
          <a:prstGeom prst="rect">
            <a:avLst/>
          </a:prstGeom>
          <a:solidFill>
            <a:srgbClr val="F7F7F7"/>
          </a:solidFill>
          <a:ln/>
        </p:spPr>
      </p:sp>
      <p:sp>
        <p:nvSpPr>
          <p:cNvPr id="70" name="Text 68"/>
          <p:cNvSpPr txBox="1"/>
          <p:nvPr/>
        </p:nvSpPr>
        <p:spPr>
          <a:xfrm>
            <a:off x="6236208" y="3593592"/>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2</a:t>
            </a:r>
            <a:endParaRPr lang="en-US" sz="1400" dirty="0"/>
          </a:p>
        </p:txBody>
      </p:sp>
      <p:sp>
        <p:nvSpPr>
          <p:cNvPr id="71" name="Text 69"/>
          <p:cNvSpPr txBox="1"/>
          <p:nvPr/>
        </p:nvSpPr>
        <p:spPr>
          <a:xfrm>
            <a:off x="6693408" y="3593592"/>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LR RENO</a:t>
            </a:r>
            <a:endParaRPr lang="en-US" sz="1200" dirty="0"/>
          </a:p>
        </p:txBody>
      </p:sp>
      <p:sp>
        <p:nvSpPr>
          <p:cNvPr id="72" name="Text 70"/>
          <p:cNvSpPr txBox="1"/>
          <p:nvPr/>
        </p:nvSpPr>
        <p:spPr>
          <a:xfrm>
            <a:off x="8476488" y="3593592"/>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Service: Aug  ·  Combined: Aug</a:t>
            </a:r>
            <a:endParaRPr lang="en-US" sz="1200" dirty="0"/>
          </a:p>
        </p:txBody>
      </p:sp>
      <p:sp>
        <p:nvSpPr>
          <p:cNvPr id="73" name="Text 71"/>
          <p:cNvSpPr txBox="1"/>
          <p:nvPr/>
        </p:nvSpPr>
        <p:spPr>
          <a:xfrm>
            <a:off x="6236208" y="3973068"/>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2</a:t>
            </a:r>
            <a:endParaRPr lang="en-US" sz="1400" dirty="0"/>
          </a:p>
        </p:txBody>
      </p:sp>
      <p:sp>
        <p:nvSpPr>
          <p:cNvPr id="74" name="Text 72"/>
          <p:cNvSpPr txBox="1"/>
          <p:nvPr/>
        </p:nvSpPr>
        <p:spPr>
          <a:xfrm>
            <a:off x="6693408" y="3973068"/>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TOYOTA SPOKANE</a:t>
            </a:r>
            <a:endParaRPr lang="en-US" sz="1200" dirty="0"/>
          </a:p>
        </p:txBody>
      </p:sp>
      <p:sp>
        <p:nvSpPr>
          <p:cNvPr id="75" name="Text 73"/>
          <p:cNvSpPr txBox="1"/>
          <p:nvPr/>
        </p:nvSpPr>
        <p:spPr>
          <a:xfrm>
            <a:off x="8476488" y="3973068"/>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Service: Jul  ·  Combined: Jul</a:t>
            </a:r>
            <a:endParaRPr lang="en-US" sz="1200" dirty="0"/>
          </a:p>
        </p:txBody>
      </p:sp>
      <p:sp>
        <p:nvSpPr>
          <p:cNvPr id="76" name="Shape 74"/>
          <p:cNvSpPr/>
          <p:nvPr/>
        </p:nvSpPr>
        <p:spPr>
          <a:xfrm>
            <a:off x="6163056" y="4352544"/>
            <a:ext cx="5440680" cy="379476"/>
          </a:xfrm>
          <a:prstGeom prst="rect">
            <a:avLst/>
          </a:prstGeom>
          <a:solidFill>
            <a:srgbClr val="F7F7F7"/>
          </a:solidFill>
          <a:ln/>
        </p:spPr>
      </p:sp>
      <p:sp>
        <p:nvSpPr>
          <p:cNvPr id="77" name="Text 75"/>
          <p:cNvSpPr txBox="1"/>
          <p:nvPr/>
        </p:nvSpPr>
        <p:spPr>
          <a:xfrm>
            <a:off x="6236208" y="4352544"/>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2</a:t>
            </a:r>
            <a:endParaRPr lang="en-US" sz="1400" dirty="0"/>
          </a:p>
        </p:txBody>
      </p:sp>
      <p:sp>
        <p:nvSpPr>
          <p:cNvPr id="78" name="Text 76"/>
          <p:cNvSpPr txBox="1"/>
          <p:nvPr/>
        </p:nvSpPr>
        <p:spPr>
          <a:xfrm>
            <a:off x="6693408" y="4352544"/>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VOLVO</a:t>
            </a:r>
            <a:endParaRPr lang="en-US" sz="1200" dirty="0"/>
          </a:p>
        </p:txBody>
      </p:sp>
      <p:sp>
        <p:nvSpPr>
          <p:cNvPr id="79" name="Text 77"/>
          <p:cNvSpPr txBox="1"/>
          <p:nvPr/>
        </p:nvSpPr>
        <p:spPr>
          <a:xfrm>
            <a:off x="8476488" y="4352544"/>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Service: Apr, Jun</a:t>
            </a:r>
            <a:endParaRPr lang="en-US" sz="1200" dirty="0"/>
          </a:p>
        </p:txBody>
      </p:sp>
      <p:sp>
        <p:nvSpPr>
          <p:cNvPr id="80" name="Text 78"/>
          <p:cNvSpPr txBox="1"/>
          <p:nvPr/>
        </p:nvSpPr>
        <p:spPr>
          <a:xfrm>
            <a:off x="6236208" y="4732020"/>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1</a:t>
            </a:r>
            <a:endParaRPr lang="en-US" sz="1400" dirty="0"/>
          </a:p>
        </p:txBody>
      </p:sp>
      <p:sp>
        <p:nvSpPr>
          <p:cNvPr id="81" name="Text 79"/>
          <p:cNvSpPr txBox="1"/>
          <p:nvPr/>
        </p:nvSpPr>
        <p:spPr>
          <a:xfrm>
            <a:off x="6693408" y="4732020"/>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SUBARU PRESCOTT</a:t>
            </a:r>
            <a:endParaRPr lang="en-US" sz="1200" dirty="0"/>
          </a:p>
        </p:txBody>
      </p:sp>
      <p:sp>
        <p:nvSpPr>
          <p:cNvPr id="82" name="Text 80"/>
          <p:cNvSpPr txBox="1"/>
          <p:nvPr/>
        </p:nvSpPr>
        <p:spPr>
          <a:xfrm>
            <a:off x="8476488" y="4732020"/>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Combined: Apr</a:t>
            </a:r>
            <a:endParaRPr lang="en-US" sz="1200" dirty="0"/>
          </a:p>
        </p:txBody>
      </p:sp>
      <p:sp>
        <p:nvSpPr>
          <p:cNvPr id="83" name="Shape 81"/>
          <p:cNvSpPr/>
          <p:nvPr/>
        </p:nvSpPr>
        <p:spPr>
          <a:xfrm>
            <a:off x="6163056" y="5111496"/>
            <a:ext cx="5440680" cy="379476"/>
          </a:xfrm>
          <a:prstGeom prst="rect">
            <a:avLst/>
          </a:prstGeom>
          <a:solidFill>
            <a:srgbClr val="F7F7F7"/>
          </a:solidFill>
          <a:ln/>
        </p:spPr>
      </p:sp>
      <p:sp>
        <p:nvSpPr>
          <p:cNvPr id="84" name="Text 82"/>
          <p:cNvSpPr txBox="1"/>
          <p:nvPr/>
        </p:nvSpPr>
        <p:spPr>
          <a:xfrm>
            <a:off x="6236208" y="5111496"/>
            <a:ext cx="365760" cy="379476"/>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1</a:t>
            </a:r>
            <a:endParaRPr lang="en-US" sz="1400" dirty="0"/>
          </a:p>
        </p:txBody>
      </p:sp>
      <p:sp>
        <p:nvSpPr>
          <p:cNvPr id="85" name="Text 83"/>
          <p:cNvSpPr txBox="1"/>
          <p:nvPr/>
        </p:nvSpPr>
        <p:spPr>
          <a:xfrm>
            <a:off x="6693408" y="5111496"/>
            <a:ext cx="1783080" cy="379476"/>
          </a:xfrm>
          <a:prstGeom prst="rect">
            <a:avLst/>
          </a:prstGeom>
          <a:noFill/>
          <a:ln/>
        </p:spPr>
        <p:txBody>
          <a:bodyPr wrap="square" lIns="0" tIns="0" rIns="0" bIns="0" rtlCol="0" anchor="ctr"/>
          <a:lstStyle/>
          <a:p>
            <a:pPr indent="0" marL="0">
              <a:buNone/>
            </a:pPr>
            <a:r>
              <a:rPr lang="en-US" sz="1200" b="1" dirty="0">
                <a:solidFill>
                  <a:srgbClr val="1A1A1A"/>
                </a:solidFill>
                <a:latin typeface="Inter" pitchFamily="34" charset="0"/>
                <a:ea typeface="Inter" pitchFamily="34" charset="-122"/>
                <a:cs typeface="Inter" pitchFamily="34" charset="-120"/>
              </a:rPr>
              <a:t>KIA LV</a:t>
            </a:r>
            <a:endParaRPr lang="en-US" sz="1200" dirty="0"/>
          </a:p>
        </p:txBody>
      </p:sp>
      <p:sp>
        <p:nvSpPr>
          <p:cNvPr id="86" name="Text 84"/>
          <p:cNvSpPr txBox="1"/>
          <p:nvPr/>
        </p:nvSpPr>
        <p:spPr>
          <a:xfrm>
            <a:off x="8476488" y="5111496"/>
            <a:ext cx="3108960" cy="379476"/>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Service: Sep</a:t>
            </a:r>
            <a:endParaRPr lang="en-US" sz="1200" dirty="0"/>
          </a:p>
        </p:txBody>
      </p:sp>
      <p:sp>
        <p:nvSpPr>
          <p:cNvPr id="87" name="Shape 85"/>
          <p:cNvSpPr/>
          <p:nvPr/>
        </p:nvSpPr>
        <p:spPr>
          <a:xfrm>
            <a:off x="457200" y="6126480"/>
            <a:ext cx="11274552" cy="371856"/>
          </a:xfrm>
          <a:prstGeom prst="rect">
            <a:avLst/>
          </a:prstGeom>
          <a:solidFill>
            <a:srgbClr val="E6F6EE"/>
          </a:solidFill>
          <a:ln/>
        </p:spPr>
      </p:sp>
      <p:sp>
        <p:nvSpPr>
          <p:cNvPr id="88" name="Text 86"/>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23 stores set 98 records. Honda Spokane and Nissan set 9 each.</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RECORDS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Record Setters</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3526536" cy="1746504"/>
          </a:xfrm>
          <a:prstGeom prst="rect">
            <a:avLst/>
          </a:prstGeom>
          <a:solidFill>
            <a:srgbClr val="F7F7F7"/>
          </a:solidFill>
          <a:ln/>
        </p:spPr>
      </p:sp>
      <p:sp>
        <p:nvSpPr>
          <p:cNvPr id="7" name="Shape 5"/>
          <p:cNvSpPr/>
          <p:nvPr/>
        </p:nvSpPr>
        <p:spPr>
          <a:xfrm>
            <a:off x="658368" y="1371600"/>
            <a:ext cx="54864" cy="1746504"/>
          </a:xfrm>
          <a:prstGeom prst="rect">
            <a:avLst/>
          </a:prstGeom>
          <a:solidFill>
            <a:srgbClr val="12A566"/>
          </a:solidFill>
          <a:ln/>
        </p:spPr>
      </p:sp>
      <p:sp>
        <p:nvSpPr>
          <p:cNvPr id="8" name="Text 6"/>
          <p:cNvSpPr txBox="1"/>
          <p:nvPr/>
        </p:nvSpPr>
        <p:spPr>
          <a:xfrm>
            <a:off x="841248" y="1463040"/>
            <a:ext cx="3252216" cy="329184"/>
          </a:xfrm>
          <a:prstGeom prst="rect">
            <a:avLst/>
          </a:prstGeom>
          <a:noFill/>
          <a:ln/>
        </p:spPr>
        <p:txBody>
          <a:bodyPr wrap="square" lIns="0" tIns="0" rIns="0" bIns="0" rtlCol="0" anchor="ctr"/>
          <a:lstStyle/>
          <a:p>
            <a:pPr indent="0" marL="0">
              <a:buNone/>
            </a:pPr>
            <a:r>
              <a:rPr lang="en-US" sz="1700" b="1" dirty="0">
                <a:solidFill>
                  <a:srgbClr val="1A1A1A"/>
                </a:solidFill>
                <a:latin typeface="Inter" pitchFamily="34" charset="0"/>
                <a:ea typeface="Inter" pitchFamily="34" charset="-122"/>
                <a:cs typeface="Inter" pitchFamily="34" charset="-120"/>
              </a:rPr>
              <a:t>Honda Spokane   </a:t>
            </a:r>
            <a:pPr indent="0" marL="0">
              <a:buNone/>
            </a:pPr>
            <a:r>
              <a:rPr lang="en-US" sz="1500" b="1" dirty="0">
                <a:solidFill>
                  <a:srgbClr val="0B7A4A"/>
                </a:solidFill>
                <a:latin typeface="Inter" pitchFamily="34" charset="0"/>
                <a:ea typeface="Inter" pitchFamily="34" charset="-122"/>
                <a:cs typeface="Inter" pitchFamily="34" charset="-120"/>
              </a:rPr>
              <a:t>9 records</a:t>
            </a:r>
            <a:endParaRPr lang="en-US" sz="1700" dirty="0"/>
          </a:p>
        </p:txBody>
      </p:sp>
      <p:sp>
        <p:nvSpPr>
          <p:cNvPr id="9" name="Text 7"/>
          <p:cNvSpPr txBox="1"/>
          <p:nvPr/>
        </p:nvSpPr>
        <p:spPr>
          <a:xfrm>
            <a:off x="841248" y="1828800"/>
            <a:ext cx="3252216" cy="1197864"/>
          </a:xfrm>
          <a:prstGeom prst="rect">
            <a:avLst/>
          </a:prstGeom>
          <a:noFill/>
          <a:ln/>
        </p:spPr>
        <p:txBody>
          <a:bodyPr wrap="square" lIns="0" tIns="0" rIns="0" bIns="0" rtlCol="0" anchor="t"/>
          <a:lstStyle/>
          <a:p>
            <a:pPr indent="0" marL="0">
              <a:buNone/>
            </a:pPr>
            <a:r>
              <a:rPr lang="en-US" sz="1400" dirty="0">
                <a:solidFill>
                  <a:srgbClr val="595959"/>
                </a:solidFill>
                <a:latin typeface="Inter" pitchFamily="34" charset="0"/>
                <a:ea typeface="Inter" pitchFamily="34" charset="-122"/>
                <a:cs typeface="Inter" pitchFamily="34" charset="-120"/>
              </a:rPr>
              <a:t>Best combined month ever 4 times (Mar, Apr, Jun, Jul), now $542K. Service record 4 times. Parts record in Jul.</a:t>
            </a:r>
            <a:endParaRPr lang="en-US" sz="1400" dirty="0"/>
          </a:p>
        </p:txBody>
      </p:sp>
      <p:sp>
        <p:nvSpPr>
          <p:cNvPr id="10" name="Shape 8"/>
          <p:cNvSpPr/>
          <p:nvPr/>
        </p:nvSpPr>
        <p:spPr>
          <a:xfrm>
            <a:off x="4331208" y="1371600"/>
            <a:ext cx="3526536" cy="1746504"/>
          </a:xfrm>
          <a:prstGeom prst="rect">
            <a:avLst/>
          </a:prstGeom>
          <a:solidFill>
            <a:srgbClr val="F7F7F7"/>
          </a:solidFill>
          <a:ln/>
        </p:spPr>
      </p:sp>
      <p:sp>
        <p:nvSpPr>
          <p:cNvPr id="11" name="Shape 9"/>
          <p:cNvSpPr/>
          <p:nvPr/>
        </p:nvSpPr>
        <p:spPr>
          <a:xfrm>
            <a:off x="4331208" y="1371600"/>
            <a:ext cx="54864" cy="1746504"/>
          </a:xfrm>
          <a:prstGeom prst="rect">
            <a:avLst/>
          </a:prstGeom>
          <a:solidFill>
            <a:srgbClr val="12A566"/>
          </a:solidFill>
          <a:ln/>
        </p:spPr>
      </p:sp>
      <p:sp>
        <p:nvSpPr>
          <p:cNvPr id="12" name="Text 10"/>
          <p:cNvSpPr txBox="1"/>
          <p:nvPr/>
        </p:nvSpPr>
        <p:spPr>
          <a:xfrm>
            <a:off x="4514088" y="1463040"/>
            <a:ext cx="3252216" cy="329184"/>
          </a:xfrm>
          <a:prstGeom prst="rect">
            <a:avLst/>
          </a:prstGeom>
          <a:noFill/>
          <a:ln/>
        </p:spPr>
        <p:txBody>
          <a:bodyPr wrap="square" lIns="0" tIns="0" rIns="0" bIns="0" rtlCol="0" anchor="ctr"/>
          <a:lstStyle/>
          <a:p>
            <a:pPr indent="0" marL="0">
              <a:buNone/>
            </a:pPr>
            <a:r>
              <a:rPr lang="en-US" sz="1700" b="1" dirty="0">
                <a:solidFill>
                  <a:srgbClr val="1A1A1A"/>
                </a:solidFill>
                <a:latin typeface="Inter" pitchFamily="34" charset="0"/>
                <a:ea typeface="Inter" pitchFamily="34" charset="-122"/>
                <a:cs typeface="Inter" pitchFamily="34" charset="-120"/>
              </a:rPr>
              <a:t>Nissan   </a:t>
            </a:r>
            <a:pPr indent="0" marL="0">
              <a:buNone/>
            </a:pPr>
            <a:r>
              <a:rPr lang="en-US" sz="1500" b="1" dirty="0">
                <a:solidFill>
                  <a:srgbClr val="0B7A4A"/>
                </a:solidFill>
                <a:latin typeface="Inter" pitchFamily="34" charset="0"/>
                <a:ea typeface="Inter" pitchFamily="34" charset="-122"/>
                <a:cs typeface="Inter" pitchFamily="34" charset="-120"/>
              </a:rPr>
              <a:t>9 records</a:t>
            </a:r>
            <a:endParaRPr lang="en-US" sz="1700" dirty="0"/>
          </a:p>
        </p:txBody>
      </p:sp>
      <p:sp>
        <p:nvSpPr>
          <p:cNvPr id="13" name="Text 11"/>
          <p:cNvSpPr txBox="1"/>
          <p:nvPr/>
        </p:nvSpPr>
        <p:spPr>
          <a:xfrm>
            <a:off x="4514088" y="1828800"/>
            <a:ext cx="3252216" cy="1197864"/>
          </a:xfrm>
          <a:prstGeom prst="rect">
            <a:avLst/>
          </a:prstGeom>
          <a:noFill/>
          <a:ln/>
        </p:spPr>
        <p:txBody>
          <a:bodyPr wrap="square" lIns="0" tIns="0" rIns="0" bIns="0" rtlCol="0" anchor="t"/>
          <a:lstStyle/>
          <a:p>
            <a:pPr indent="0" marL="0">
              <a:buNone/>
            </a:pPr>
            <a:r>
              <a:rPr lang="en-US" sz="1400" dirty="0">
                <a:solidFill>
                  <a:srgbClr val="595959"/>
                </a:solidFill>
                <a:latin typeface="Inter" pitchFamily="34" charset="0"/>
                <a:ea typeface="Inter" pitchFamily="34" charset="-122"/>
                <a:cs typeface="Inter" pitchFamily="34" charset="-120"/>
              </a:rPr>
              <a:t>Best combined month ever 4 times (Mar, Jun, Jul, Sep), now $593K. Service record 3 times. Parts record 2 times.</a:t>
            </a:r>
            <a:endParaRPr lang="en-US" sz="1400" dirty="0"/>
          </a:p>
        </p:txBody>
      </p:sp>
      <p:sp>
        <p:nvSpPr>
          <p:cNvPr id="14" name="Shape 12"/>
          <p:cNvSpPr/>
          <p:nvPr/>
        </p:nvSpPr>
        <p:spPr>
          <a:xfrm>
            <a:off x="8004048" y="1371600"/>
            <a:ext cx="3526536" cy="1746504"/>
          </a:xfrm>
          <a:prstGeom prst="rect">
            <a:avLst/>
          </a:prstGeom>
          <a:solidFill>
            <a:srgbClr val="F7F7F7"/>
          </a:solidFill>
          <a:ln/>
        </p:spPr>
      </p:sp>
      <p:sp>
        <p:nvSpPr>
          <p:cNvPr id="15" name="Shape 13"/>
          <p:cNvSpPr/>
          <p:nvPr/>
        </p:nvSpPr>
        <p:spPr>
          <a:xfrm>
            <a:off x="8004048" y="1371600"/>
            <a:ext cx="54864" cy="1746504"/>
          </a:xfrm>
          <a:prstGeom prst="rect">
            <a:avLst/>
          </a:prstGeom>
          <a:solidFill>
            <a:srgbClr val="12A566"/>
          </a:solidFill>
          <a:ln/>
        </p:spPr>
      </p:sp>
      <p:sp>
        <p:nvSpPr>
          <p:cNvPr id="16" name="Text 14"/>
          <p:cNvSpPr txBox="1"/>
          <p:nvPr/>
        </p:nvSpPr>
        <p:spPr>
          <a:xfrm>
            <a:off x="8186928" y="1463040"/>
            <a:ext cx="3252216" cy="329184"/>
          </a:xfrm>
          <a:prstGeom prst="rect">
            <a:avLst/>
          </a:prstGeom>
          <a:noFill/>
          <a:ln/>
        </p:spPr>
        <p:txBody>
          <a:bodyPr wrap="square" lIns="0" tIns="0" rIns="0" bIns="0" rtlCol="0" anchor="ctr"/>
          <a:lstStyle/>
          <a:p>
            <a:pPr indent="0" marL="0">
              <a:buNone/>
            </a:pPr>
            <a:r>
              <a:rPr lang="en-US" sz="1700" b="1" dirty="0">
                <a:solidFill>
                  <a:srgbClr val="1A1A1A"/>
                </a:solidFill>
                <a:latin typeface="Inter" pitchFamily="34" charset="0"/>
                <a:ea typeface="Inter" pitchFamily="34" charset="-122"/>
                <a:cs typeface="Inter" pitchFamily="34" charset="-120"/>
              </a:rPr>
              <a:t>Toyota Henderson   </a:t>
            </a:r>
            <a:pPr indent="0" marL="0">
              <a:buNone/>
            </a:pPr>
            <a:r>
              <a:rPr lang="en-US" sz="1500" b="1" dirty="0">
                <a:solidFill>
                  <a:srgbClr val="0B7A4A"/>
                </a:solidFill>
                <a:latin typeface="Inter" pitchFamily="34" charset="0"/>
                <a:ea typeface="Inter" pitchFamily="34" charset="-122"/>
                <a:cs typeface="Inter" pitchFamily="34" charset="-120"/>
              </a:rPr>
              <a:t>8 records</a:t>
            </a:r>
            <a:endParaRPr lang="en-US" sz="1700" dirty="0"/>
          </a:p>
        </p:txBody>
      </p:sp>
      <p:sp>
        <p:nvSpPr>
          <p:cNvPr id="17" name="Text 15"/>
          <p:cNvSpPr txBox="1"/>
          <p:nvPr/>
        </p:nvSpPr>
        <p:spPr>
          <a:xfrm>
            <a:off x="8186928" y="1828800"/>
            <a:ext cx="3252216" cy="1197864"/>
          </a:xfrm>
          <a:prstGeom prst="rect">
            <a:avLst/>
          </a:prstGeom>
          <a:noFill/>
          <a:ln/>
        </p:spPr>
        <p:txBody>
          <a:bodyPr wrap="square" lIns="0" tIns="0" rIns="0" bIns="0" rtlCol="0" anchor="t"/>
          <a:lstStyle/>
          <a:p>
            <a:pPr indent="0" marL="0">
              <a:buNone/>
            </a:pPr>
            <a:r>
              <a:rPr lang="en-US" sz="1400" dirty="0">
                <a:solidFill>
                  <a:srgbClr val="595959"/>
                </a:solidFill>
                <a:latin typeface="Inter" pitchFamily="34" charset="0"/>
                <a:ea typeface="Inter" pitchFamily="34" charset="-122"/>
                <a:cs typeface="Inter" pitchFamily="34" charset="-120"/>
              </a:rPr>
              <a:t>Best combined month ever 3 times (Apr, Jun, Jul), now $2.72M. Service record 2 times. Parts record 3 times.</a:t>
            </a:r>
            <a:endParaRPr lang="en-US" sz="1400" dirty="0"/>
          </a:p>
        </p:txBody>
      </p:sp>
      <p:sp>
        <p:nvSpPr>
          <p:cNvPr id="18" name="Shape 16"/>
          <p:cNvSpPr/>
          <p:nvPr/>
        </p:nvSpPr>
        <p:spPr>
          <a:xfrm>
            <a:off x="658368" y="3264408"/>
            <a:ext cx="3526536" cy="1746504"/>
          </a:xfrm>
          <a:prstGeom prst="rect">
            <a:avLst/>
          </a:prstGeom>
          <a:solidFill>
            <a:srgbClr val="F7F7F7"/>
          </a:solidFill>
          <a:ln/>
        </p:spPr>
      </p:sp>
      <p:sp>
        <p:nvSpPr>
          <p:cNvPr id="19" name="Shape 17"/>
          <p:cNvSpPr/>
          <p:nvPr/>
        </p:nvSpPr>
        <p:spPr>
          <a:xfrm>
            <a:off x="658368" y="3264408"/>
            <a:ext cx="54864" cy="1746504"/>
          </a:xfrm>
          <a:prstGeom prst="rect">
            <a:avLst/>
          </a:prstGeom>
          <a:solidFill>
            <a:srgbClr val="12A566"/>
          </a:solidFill>
          <a:ln/>
        </p:spPr>
      </p:sp>
      <p:sp>
        <p:nvSpPr>
          <p:cNvPr id="20" name="Text 18"/>
          <p:cNvSpPr txBox="1"/>
          <p:nvPr/>
        </p:nvSpPr>
        <p:spPr>
          <a:xfrm>
            <a:off x="841248" y="3355848"/>
            <a:ext cx="3252216" cy="329184"/>
          </a:xfrm>
          <a:prstGeom prst="rect">
            <a:avLst/>
          </a:prstGeom>
          <a:noFill/>
          <a:ln/>
        </p:spPr>
        <p:txBody>
          <a:bodyPr wrap="square" lIns="0" tIns="0" rIns="0" bIns="0" rtlCol="0" anchor="ctr"/>
          <a:lstStyle/>
          <a:p>
            <a:pPr indent="0" marL="0">
              <a:buNone/>
            </a:pPr>
            <a:r>
              <a:rPr lang="en-US" sz="1700" b="1" dirty="0">
                <a:solidFill>
                  <a:srgbClr val="1A1A1A"/>
                </a:solidFill>
                <a:latin typeface="Inter" pitchFamily="34" charset="0"/>
                <a:ea typeface="Inter" pitchFamily="34" charset="-122"/>
                <a:cs typeface="Inter" pitchFamily="34" charset="-120"/>
              </a:rPr>
              <a:t>Honda Henderson   </a:t>
            </a:r>
            <a:pPr indent="0" marL="0">
              <a:buNone/>
            </a:pPr>
            <a:r>
              <a:rPr lang="en-US" sz="1500" b="1" dirty="0">
                <a:solidFill>
                  <a:srgbClr val="0B7A4A"/>
                </a:solidFill>
                <a:latin typeface="Inter" pitchFamily="34" charset="0"/>
                <a:ea typeface="Inter" pitchFamily="34" charset="-122"/>
                <a:cs typeface="Inter" pitchFamily="34" charset="-120"/>
              </a:rPr>
              <a:t>7 records</a:t>
            </a:r>
            <a:endParaRPr lang="en-US" sz="1700" dirty="0"/>
          </a:p>
        </p:txBody>
      </p:sp>
      <p:sp>
        <p:nvSpPr>
          <p:cNvPr id="21" name="Text 19"/>
          <p:cNvSpPr txBox="1"/>
          <p:nvPr/>
        </p:nvSpPr>
        <p:spPr>
          <a:xfrm>
            <a:off x="841248" y="3721608"/>
            <a:ext cx="3252216" cy="1197864"/>
          </a:xfrm>
          <a:prstGeom prst="rect">
            <a:avLst/>
          </a:prstGeom>
          <a:noFill/>
          <a:ln/>
        </p:spPr>
        <p:txBody>
          <a:bodyPr wrap="square" lIns="0" tIns="0" rIns="0" bIns="0" rtlCol="0" anchor="t"/>
          <a:lstStyle/>
          <a:p>
            <a:pPr indent="0" marL="0">
              <a:buNone/>
            </a:pPr>
            <a:r>
              <a:rPr lang="en-US" sz="1400" dirty="0">
                <a:solidFill>
                  <a:srgbClr val="595959"/>
                </a:solidFill>
                <a:latin typeface="Inter" pitchFamily="34" charset="0"/>
                <a:ea typeface="Inter" pitchFamily="34" charset="-122"/>
                <a:cs typeface="Inter" pitchFamily="34" charset="-120"/>
              </a:rPr>
              <a:t>Best combined month ever 3 times (Mar, Jun, Jul), now $1.79M. Service record 3 times. Parts record in Jul.</a:t>
            </a:r>
            <a:endParaRPr lang="en-US" sz="1400" dirty="0"/>
          </a:p>
        </p:txBody>
      </p:sp>
      <p:sp>
        <p:nvSpPr>
          <p:cNvPr id="22" name="Shape 20"/>
          <p:cNvSpPr/>
          <p:nvPr/>
        </p:nvSpPr>
        <p:spPr>
          <a:xfrm>
            <a:off x="4331208" y="3264408"/>
            <a:ext cx="3526536" cy="1746504"/>
          </a:xfrm>
          <a:prstGeom prst="rect">
            <a:avLst/>
          </a:prstGeom>
          <a:solidFill>
            <a:srgbClr val="F7F7F7"/>
          </a:solidFill>
          <a:ln/>
        </p:spPr>
      </p:sp>
      <p:sp>
        <p:nvSpPr>
          <p:cNvPr id="23" name="Shape 21"/>
          <p:cNvSpPr/>
          <p:nvPr/>
        </p:nvSpPr>
        <p:spPr>
          <a:xfrm>
            <a:off x="4331208" y="3264408"/>
            <a:ext cx="54864" cy="1746504"/>
          </a:xfrm>
          <a:prstGeom prst="rect">
            <a:avLst/>
          </a:prstGeom>
          <a:solidFill>
            <a:srgbClr val="12A566"/>
          </a:solidFill>
          <a:ln/>
        </p:spPr>
      </p:sp>
      <p:sp>
        <p:nvSpPr>
          <p:cNvPr id="24" name="Text 22"/>
          <p:cNvSpPr txBox="1"/>
          <p:nvPr/>
        </p:nvSpPr>
        <p:spPr>
          <a:xfrm>
            <a:off x="4514088" y="3355848"/>
            <a:ext cx="3252216" cy="329184"/>
          </a:xfrm>
          <a:prstGeom prst="rect">
            <a:avLst/>
          </a:prstGeom>
          <a:noFill/>
          <a:ln/>
        </p:spPr>
        <p:txBody>
          <a:bodyPr wrap="square" lIns="0" tIns="0" rIns="0" bIns="0" rtlCol="0" anchor="ctr"/>
          <a:lstStyle/>
          <a:p>
            <a:pPr indent="0" marL="0">
              <a:buNone/>
            </a:pPr>
            <a:r>
              <a:rPr lang="en-US" sz="1700" b="1" dirty="0">
                <a:solidFill>
                  <a:srgbClr val="1A1A1A"/>
                </a:solidFill>
                <a:latin typeface="Inter" pitchFamily="34" charset="0"/>
                <a:ea typeface="Inter" pitchFamily="34" charset="-122"/>
                <a:cs typeface="Inter" pitchFamily="34" charset="-120"/>
              </a:rPr>
              <a:t>Subaru St George   </a:t>
            </a:r>
            <a:pPr indent="0" marL="0">
              <a:buNone/>
            </a:pPr>
            <a:r>
              <a:rPr lang="en-US" sz="1500" b="1" dirty="0">
                <a:solidFill>
                  <a:srgbClr val="0B7A4A"/>
                </a:solidFill>
                <a:latin typeface="Inter" pitchFamily="34" charset="0"/>
                <a:ea typeface="Inter" pitchFamily="34" charset="-122"/>
                <a:cs typeface="Inter" pitchFamily="34" charset="-120"/>
              </a:rPr>
              <a:t>7 records</a:t>
            </a:r>
            <a:endParaRPr lang="en-US" sz="1700" dirty="0"/>
          </a:p>
        </p:txBody>
      </p:sp>
      <p:sp>
        <p:nvSpPr>
          <p:cNvPr id="25" name="Text 23"/>
          <p:cNvSpPr txBox="1"/>
          <p:nvPr/>
        </p:nvSpPr>
        <p:spPr>
          <a:xfrm>
            <a:off x="4514088" y="3721608"/>
            <a:ext cx="3252216" cy="1197864"/>
          </a:xfrm>
          <a:prstGeom prst="rect">
            <a:avLst/>
          </a:prstGeom>
          <a:noFill/>
          <a:ln/>
        </p:spPr>
        <p:txBody>
          <a:bodyPr wrap="square" lIns="0" tIns="0" rIns="0" bIns="0" rtlCol="0" anchor="t"/>
          <a:lstStyle/>
          <a:p>
            <a:pPr indent="0" marL="0">
              <a:buNone/>
            </a:pPr>
            <a:r>
              <a:rPr lang="en-US" sz="1400" dirty="0">
                <a:solidFill>
                  <a:srgbClr val="595959"/>
                </a:solidFill>
                <a:latin typeface="Inter" pitchFamily="34" charset="0"/>
                <a:ea typeface="Inter" pitchFamily="34" charset="-122"/>
                <a:cs typeface="Inter" pitchFamily="34" charset="-120"/>
              </a:rPr>
              <a:t>Best combined month ever 2 times (Mar, Jun), now $438K. Service record 2 times. Parts record 3 times.</a:t>
            </a:r>
            <a:endParaRPr lang="en-US" sz="1400" dirty="0"/>
          </a:p>
        </p:txBody>
      </p:sp>
      <p:sp>
        <p:nvSpPr>
          <p:cNvPr id="26" name="Shape 24"/>
          <p:cNvSpPr/>
          <p:nvPr/>
        </p:nvSpPr>
        <p:spPr>
          <a:xfrm>
            <a:off x="8004048" y="3264408"/>
            <a:ext cx="3526536" cy="1746504"/>
          </a:xfrm>
          <a:prstGeom prst="rect">
            <a:avLst/>
          </a:prstGeom>
          <a:solidFill>
            <a:srgbClr val="F7F7F7"/>
          </a:solidFill>
          <a:ln/>
        </p:spPr>
      </p:sp>
      <p:sp>
        <p:nvSpPr>
          <p:cNvPr id="27" name="Shape 25"/>
          <p:cNvSpPr/>
          <p:nvPr/>
        </p:nvSpPr>
        <p:spPr>
          <a:xfrm>
            <a:off x="8004048" y="3264408"/>
            <a:ext cx="54864" cy="1746504"/>
          </a:xfrm>
          <a:prstGeom prst="rect">
            <a:avLst/>
          </a:prstGeom>
          <a:solidFill>
            <a:srgbClr val="12A566"/>
          </a:solidFill>
          <a:ln/>
        </p:spPr>
      </p:sp>
      <p:sp>
        <p:nvSpPr>
          <p:cNvPr id="28" name="Text 26"/>
          <p:cNvSpPr txBox="1"/>
          <p:nvPr/>
        </p:nvSpPr>
        <p:spPr>
          <a:xfrm>
            <a:off x="8186928" y="3355848"/>
            <a:ext cx="3252216" cy="329184"/>
          </a:xfrm>
          <a:prstGeom prst="rect">
            <a:avLst/>
          </a:prstGeom>
          <a:noFill/>
          <a:ln/>
        </p:spPr>
        <p:txBody>
          <a:bodyPr wrap="square" lIns="0" tIns="0" rIns="0" bIns="0" rtlCol="0" anchor="ctr"/>
          <a:lstStyle/>
          <a:p>
            <a:pPr indent="0" marL="0">
              <a:buNone/>
            </a:pPr>
            <a:r>
              <a:rPr lang="en-US" sz="1700" b="1" dirty="0">
                <a:solidFill>
                  <a:srgbClr val="1A1A1A"/>
                </a:solidFill>
                <a:latin typeface="Inter" pitchFamily="34" charset="0"/>
                <a:ea typeface="Inter" pitchFamily="34" charset="-122"/>
                <a:cs typeface="Inter" pitchFamily="34" charset="-120"/>
              </a:rPr>
              <a:t>Hyundai Prescott   </a:t>
            </a:r>
            <a:pPr indent="0" marL="0">
              <a:buNone/>
            </a:pPr>
            <a:r>
              <a:rPr lang="en-US" sz="1500" b="1" dirty="0">
                <a:solidFill>
                  <a:srgbClr val="0B7A4A"/>
                </a:solidFill>
                <a:latin typeface="Inter" pitchFamily="34" charset="0"/>
                <a:ea typeface="Inter" pitchFamily="34" charset="-122"/>
                <a:cs typeface="Inter" pitchFamily="34" charset="-120"/>
              </a:rPr>
              <a:t>6 records</a:t>
            </a:r>
            <a:endParaRPr lang="en-US" sz="1700" dirty="0"/>
          </a:p>
        </p:txBody>
      </p:sp>
      <p:sp>
        <p:nvSpPr>
          <p:cNvPr id="29" name="Text 27"/>
          <p:cNvSpPr txBox="1"/>
          <p:nvPr/>
        </p:nvSpPr>
        <p:spPr>
          <a:xfrm>
            <a:off x="8186928" y="3721608"/>
            <a:ext cx="3252216" cy="1197864"/>
          </a:xfrm>
          <a:prstGeom prst="rect">
            <a:avLst/>
          </a:prstGeom>
          <a:noFill/>
          <a:ln/>
        </p:spPr>
        <p:txBody>
          <a:bodyPr wrap="square" lIns="0" tIns="0" rIns="0" bIns="0" rtlCol="0" anchor="t"/>
          <a:lstStyle/>
          <a:p>
            <a:pPr indent="0" marL="0">
              <a:buNone/>
            </a:pPr>
            <a:r>
              <a:rPr lang="en-US" sz="1400" dirty="0">
                <a:solidFill>
                  <a:srgbClr val="595959"/>
                </a:solidFill>
                <a:latin typeface="Inter" pitchFamily="34" charset="0"/>
                <a:ea typeface="Inter" pitchFamily="34" charset="-122"/>
                <a:cs typeface="Inter" pitchFamily="34" charset="-120"/>
              </a:rPr>
              <a:t>Best combined month ever 3 times (Feb, Mar, Jul), now $206K. Service record 2 times. Parts record in Feb.</a:t>
            </a:r>
            <a:endParaRPr lang="en-US" sz="1400" dirty="0"/>
          </a:p>
        </p:txBody>
      </p:sp>
      <p:sp>
        <p:nvSpPr>
          <p:cNvPr id="30" name="Text 28"/>
          <p:cNvSpPr txBox="1"/>
          <p:nvPr/>
        </p:nvSpPr>
        <p:spPr>
          <a:xfrm>
            <a:off x="658368" y="5202936"/>
            <a:ext cx="10881360" cy="7132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Also set records: </a:t>
            </a:r>
            <a:pPr indent="0" marL="0">
              <a:buNone/>
            </a:pPr>
            <a:r>
              <a:rPr lang="en-US" sz="1400" dirty="0">
                <a:solidFill>
                  <a:srgbClr val="595959"/>
                </a:solidFill>
                <a:latin typeface="Inter" pitchFamily="34" charset="0"/>
                <a:ea typeface="Inter" pitchFamily="34" charset="-122"/>
                <a:cs typeface="Inter" pitchFamily="34" charset="-120"/>
              </a:rPr>
              <a:t>Lincoln (6), Mazda (5), Kia St George (4), Lexus (4), LR Henderson (4), Toyota Flagstaff (4), Toyota Prescott (4), Hyundai St George (4), Audi Henderson (3), CDJR Post Falls (2), GMC Prescott (2), LR LV (2), LR Reno (2), Toyota Spokane (2), Volvo (2), Subaru Prescott (1), Kia LV (1)</a:t>
            </a:r>
            <a:endParaRPr lang="en-US" sz="1400" dirty="0"/>
          </a:p>
        </p:txBody>
      </p:sp>
      <p:sp>
        <p:nvSpPr>
          <p:cNvPr id="31" name="Shape 29"/>
          <p:cNvSpPr/>
          <p:nvPr/>
        </p:nvSpPr>
        <p:spPr>
          <a:xfrm>
            <a:off x="457200" y="6126480"/>
            <a:ext cx="11274552" cy="371856"/>
          </a:xfrm>
          <a:prstGeom prst="rect">
            <a:avLst/>
          </a:prstGeom>
          <a:solidFill>
            <a:srgbClr val="E6F6EE"/>
          </a:solidFill>
          <a:ln/>
        </p:spPr>
      </p:sp>
      <p:sp>
        <p:nvSpPr>
          <p:cNvPr id="32" name="Text 30"/>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Ask Honda Spokane, Nissan and Toyota Henderson what changed this year.</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2026-10-26T17:32:10Z</dcterms:created>
  <dcterms:modified xsi:type="dcterms:W3CDTF">2026-10-26T17:32:10Z</dcterms:modified>
</cp:coreProperties>
</file>