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7.xml" ContentType="application/vnd.openxmlformats-officedocument.presentationml.notesSlide+xml"/>
  <Override PartName="/ppt/notesSlides/notesSlide7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70.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2" r:id="rId23"/>
    <p:sldId id="331" r:id="rId8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3" Type="http://schemas.openxmlformats.org/officeDocument/2006/relationships/slide" Target="slides/slide8.xml"/><Relationship Id="rId82"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Toyota Henderson, Audi Henderson and Cadillac what changed. Ask Chevy LV, VW Henderson and Toyota Spokane what got in the way. Ask Honda Henderson, Toyota Henderson and Chevy LV what they started this year.Source: Qlik - Profit &amp; Loss, Detail statement. Same-store, INEOS excluded (opened 2026). Fixed ops net profit = service (Mechanical) + parts (P&amp;A) department profit: department gross less the department's own expenses; GMC Prescott body shop is its own department and is not included. Top and bottom five stores by dollar change in fixed ops net profit, Jan-Sep 2026 vs 2025 (dollars, not percent: several stores lost money in 2025). Moving now: Jul-Sep 2026 vs Jan-Mar 2026, each store against itself (monthly averages); the group moved +$1.05M a month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with the store call-outs (off the slide): Ask Honda Spokane, Volvo and Lincoln what changed. Ask Kia LV, Subaru St George and Acura what got in the way. Ask VW St George, Audi Reno and Honda Spokane what they started this year.Source: Qlik - Closed Repair Orders. Customer pay, Jan-Sep by close month. Same-store, INEOS excluded (opened 2026). GMC Prescott body shop labor types excluded. Customer-pay labor sale / customer-pay sold hours. Top and bottom five stores by change in CP ELR, Jan-Sep 2026 vs 2025. Moving now: Jul-Sep 2026 vs Jan-Mar 2026, each store against itself; the group moved +1.1% on the same basis, so part of every store's change is seasonal. Green bar at the right of a row: the store is on both the top five vs last year and the top five moving now.Conversation starter: each top store says one thing they started doing; each bottom store says what got in the way and what they would try. The room trades ideas. Moving now: ask the top three what they started this year.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Shape 8"/>
          <p:cNvSpPr/>
          <p:nvPr/>
        </p:nvSpPr>
        <p:spPr>
          <a:xfrm>
            <a:off x="4084320" y="2139696"/>
            <a:ext cx="64008" cy="755294"/>
          </a:xfrm>
          <a:prstGeom prst="rect">
            <a:avLst/>
          </a:prstGeom>
          <a:solidFill>
            <a:srgbClr val="12A566"/>
          </a:solidFill>
          <a:ln/>
        </p:spPr>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$6.41M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$7.83M</a:t>
            </a:r>
            <a:endParaRPr lang="en-US" sz="1400" dirty="0"/>
          </a:p>
        </p:txBody>
      </p:sp>
      <p:sp>
        <p:nvSpPr>
          <p:cNvPr id="13" name="Text 11"/>
          <p:cNvSpPr txBox="1"/>
          <p:nvPr/>
        </p:nvSpPr>
        <p:spPr>
          <a:xfrm>
            <a:off x="2941320"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+$1.42M</a:t>
            </a:r>
            <a:endParaRPr lang="en-US" sz="1600" dirty="0"/>
          </a:p>
        </p:txBody>
      </p:sp>
      <p:sp>
        <p:nvSpPr>
          <p:cNvPr id="14" name="Text 12"/>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5" name="Text 13"/>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$4.11M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$4.94M</a:t>
            </a:r>
            <a:endParaRPr lang="en-US" sz="1400" dirty="0"/>
          </a:p>
        </p:txBody>
      </p:sp>
      <p:sp>
        <p:nvSpPr>
          <p:cNvPr id="16" name="Text 14"/>
          <p:cNvSpPr txBox="1"/>
          <p:nvPr/>
        </p:nvSpPr>
        <p:spPr>
          <a:xfrm>
            <a:off x="2941320"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+$838K</a:t>
            </a:r>
            <a:endParaRPr lang="en-US" sz="1600" dirty="0"/>
          </a:p>
        </p:txBody>
      </p:sp>
      <p:sp>
        <p:nvSpPr>
          <p:cNvPr id="17" name="Shape 15"/>
          <p:cNvSpPr/>
          <p:nvPr/>
        </p:nvSpPr>
        <p:spPr>
          <a:xfrm>
            <a:off x="658368" y="3760013"/>
            <a:ext cx="3489960" cy="828446"/>
          </a:xfrm>
          <a:prstGeom prst="rect">
            <a:avLst/>
          </a:prstGeom>
          <a:solidFill>
            <a:srgbClr val="F7F7F7"/>
          </a:solidFill>
          <a:ln/>
        </p:spPr>
      </p:sp>
      <p:sp>
        <p:nvSpPr>
          <p:cNvPr id="18" name="Text 16"/>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9" name="Text 17"/>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Cadillac</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$1.83M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$2.60M</a:t>
            </a:r>
            <a:endParaRPr lang="en-US" sz="1400" dirty="0"/>
          </a:p>
        </p:txBody>
      </p:sp>
      <p:sp>
        <p:nvSpPr>
          <p:cNvPr id="20" name="Text 18"/>
          <p:cNvSpPr txBox="1"/>
          <p:nvPr/>
        </p:nvSpPr>
        <p:spPr>
          <a:xfrm>
            <a:off x="2941320"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+$766K</a:t>
            </a:r>
            <a:endParaRPr lang="en-US" sz="1600" dirty="0"/>
          </a:p>
        </p:txBody>
      </p:sp>
      <p:sp>
        <p:nvSpPr>
          <p:cNvPr id="21" name="Shape 19"/>
          <p:cNvSpPr/>
          <p:nvPr/>
        </p:nvSpPr>
        <p:spPr>
          <a:xfrm>
            <a:off x="4084320" y="4625035"/>
            <a:ext cx="64008" cy="755294"/>
          </a:xfrm>
          <a:prstGeom prst="rect">
            <a:avLst/>
          </a:prstGeom>
          <a:solidFill>
            <a:srgbClr val="12A566"/>
          </a:solidFill>
          <a:ln/>
        </p:spPr>
      </p:sp>
      <p:sp>
        <p:nvSpPr>
          <p:cNvPr id="22" name="Text 20"/>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3" name="Text 21"/>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$5.39M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$6.08M</a:t>
            </a:r>
            <a:endParaRPr lang="en-US" sz="1400" dirty="0"/>
          </a:p>
        </p:txBody>
      </p:sp>
      <p:sp>
        <p:nvSpPr>
          <p:cNvPr id="24" name="Text 22"/>
          <p:cNvSpPr txBox="1"/>
          <p:nvPr/>
        </p:nvSpPr>
        <p:spPr>
          <a:xfrm>
            <a:off x="2941320"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+$692K</a:t>
            </a:r>
            <a:endParaRPr lang="en-US" sz="1600" dirty="0"/>
          </a:p>
        </p:txBody>
      </p:sp>
      <p:sp>
        <p:nvSpPr>
          <p:cNvPr id="25" name="Shape 23"/>
          <p:cNvSpPr/>
          <p:nvPr/>
        </p:nvSpPr>
        <p:spPr>
          <a:xfrm>
            <a:off x="658368" y="5416906"/>
            <a:ext cx="3489960" cy="828446"/>
          </a:xfrm>
          <a:prstGeom prst="rect">
            <a:avLst/>
          </a:prstGeom>
          <a:solidFill>
            <a:srgbClr val="F7F7F7"/>
          </a:solidFill>
          <a:ln/>
        </p:spPr>
      </p:sp>
      <p:sp>
        <p:nvSpPr>
          <p:cNvPr id="26" name="Text 24"/>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27" name="Text 25"/>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−$389K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$94K</a:t>
            </a:r>
            <a:endParaRPr lang="en-US" sz="1400" dirty="0"/>
          </a:p>
        </p:txBody>
      </p:sp>
      <p:sp>
        <p:nvSpPr>
          <p:cNvPr id="28" name="Text 26"/>
          <p:cNvSpPr txBox="1"/>
          <p:nvPr/>
        </p:nvSpPr>
        <p:spPr>
          <a:xfrm>
            <a:off x="2941320"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+$484K</a:t>
            </a:r>
            <a:endParaRPr lang="en-US" sz="1600" dirty="0"/>
          </a:p>
        </p:txBody>
      </p:sp>
      <p:sp>
        <p:nvSpPr>
          <p:cNvPr id="29" name="Shape 27"/>
          <p:cNvSpPr/>
          <p:nvPr/>
        </p:nvSpPr>
        <p:spPr>
          <a:xfrm>
            <a:off x="4349496" y="1371600"/>
            <a:ext cx="3489960" cy="45720"/>
          </a:xfrm>
          <a:prstGeom prst="rect">
            <a:avLst/>
          </a:prstGeom>
          <a:solidFill>
            <a:srgbClr val="C2352F"/>
          </a:solidFill>
          <a:ln/>
        </p:spPr>
      </p:sp>
      <p:sp>
        <p:nvSpPr>
          <p:cNvPr id="30" name="Text 28"/>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1" name="Text 29"/>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2" name="Shape 30"/>
          <p:cNvSpPr/>
          <p:nvPr/>
        </p:nvSpPr>
        <p:spPr>
          <a:xfrm>
            <a:off x="4349496" y="2103120"/>
            <a:ext cx="3489960" cy="828446"/>
          </a:xfrm>
          <a:prstGeom prst="rect">
            <a:avLst/>
          </a:prstGeom>
          <a:solidFill>
            <a:srgbClr val="F7F7F7"/>
          </a:solidFill>
          <a:ln/>
        </p:spPr>
      </p:sp>
      <p:sp>
        <p:nvSpPr>
          <p:cNvPr id="33" name="Shape 31"/>
          <p:cNvSpPr/>
          <p:nvPr/>
        </p:nvSpPr>
        <p:spPr>
          <a:xfrm>
            <a:off x="7775448" y="2139696"/>
            <a:ext cx="64008" cy="755294"/>
          </a:xfrm>
          <a:prstGeom prst="rect">
            <a:avLst/>
          </a:prstGeom>
          <a:solidFill>
            <a:srgbClr val="2587C5"/>
          </a:solidFill>
          <a:ln/>
        </p:spPr>
      </p:sp>
      <p:sp>
        <p:nvSpPr>
          <p:cNvPr id="34" name="Text 32"/>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5" name="Text 33"/>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$2.91M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$2.27M</a:t>
            </a:r>
            <a:endParaRPr lang="en-US" sz="1400" dirty="0"/>
          </a:p>
        </p:txBody>
      </p:sp>
      <p:sp>
        <p:nvSpPr>
          <p:cNvPr id="36" name="Text 34"/>
          <p:cNvSpPr txBox="1"/>
          <p:nvPr/>
        </p:nvSpPr>
        <p:spPr>
          <a:xfrm>
            <a:off x="6632448" y="2103120"/>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−$643K</a:t>
            </a:r>
            <a:endParaRPr lang="en-US" sz="1600" dirty="0"/>
          </a:p>
        </p:txBody>
      </p:sp>
      <p:sp>
        <p:nvSpPr>
          <p:cNvPr id="37" name="Text 35"/>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38" name="Text 36"/>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$1.55M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$1.09M</a:t>
            </a:r>
            <a:endParaRPr lang="en-US" sz="1400" dirty="0"/>
          </a:p>
        </p:txBody>
      </p:sp>
      <p:sp>
        <p:nvSpPr>
          <p:cNvPr id="39" name="Text 37"/>
          <p:cNvSpPr txBox="1"/>
          <p:nvPr/>
        </p:nvSpPr>
        <p:spPr>
          <a:xfrm>
            <a:off x="6632448" y="293156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−$457K</a:t>
            </a:r>
            <a:endParaRPr lang="en-US" sz="1600" dirty="0"/>
          </a:p>
        </p:txBody>
      </p:sp>
      <p:sp>
        <p:nvSpPr>
          <p:cNvPr id="40" name="Shape 38"/>
          <p:cNvSpPr/>
          <p:nvPr/>
        </p:nvSpPr>
        <p:spPr>
          <a:xfrm>
            <a:off x="4349496" y="3760013"/>
            <a:ext cx="3489960" cy="828446"/>
          </a:xfrm>
          <a:prstGeom prst="rect">
            <a:avLst/>
          </a:prstGeom>
          <a:solidFill>
            <a:srgbClr val="F7F7F7"/>
          </a:solidFill>
          <a:ln/>
        </p:spPr>
      </p:sp>
      <p:sp>
        <p:nvSpPr>
          <p:cNvPr id="41" name="Text 39"/>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2" name="Text 40"/>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$967K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$699K</a:t>
            </a:r>
            <a:endParaRPr lang="en-US" sz="1400" dirty="0"/>
          </a:p>
        </p:txBody>
      </p:sp>
      <p:sp>
        <p:nvSpPr>
          <p:cNvPr id="43" name="Text 41"/>
          <p:cNvSpPr txBox="1"/>
          <p:nvPr/>
        </p:nvSpPr>
        <p:spPr>
          <a:xfrm>
            <a:off x="6632448" y="3760013"/>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−$268K</a:t>
            </a:r>
            <a:endParaRPr lang="en-US" sz="1600" dirty="0"/>
          </a:p>
        </p:txBody>
      </p:sp>
      <p:sp>
        <p:nvSpPr>
          <p:cNvPr id="44" name="Text 42"/>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45" name="Text 43"/>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$153K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−$59K</a:t>
            </a:r>
            <a:endParaRPr lang="en-US" sz="1400" dirty="0"/>
          </a:p>
        </p:txBody>
      </p:sp>
      <p:sp>
        <p:nvSpPr>
          <p:cNvPr id="46" name="Text 44"/>
          <p:cNvSpPr txBox="1"/>
          <p:nvPr/>
        </p:nvSpPr>
        <p:spPr>
          <a:xfrm>
            <a:off x="6632448" y="4588459"/>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−$212K</a:t>
            </a:r>
            <a:endParaRPr lang="en-US" sz="1600" dirty="0"/>
          </a:p>
        </p:txBody>
      </p:sp>
      <p:sp>
        <p:nvSpPr>
          <p:cNvPr id="47" name="Shape 45"/>
          <p:cNvSpPr/>
          <p:nvPr/>
        </p:nvSpPr>
        <p:spPr>
          <a:xfrm>
            <a:off x="4349496" y="5416906"/>
            <a:ext cx="3489960" cy="828446"/>
          </a:xfrm>
          <a:prstGeom prst="rect">
            <a:avLst/>
          </a:prstGeom>
          <a:solidFill>
            <a:srgbClr val="F7F7F7"/>
          </a:solidFill>
          <a:ln/>
        </p:spPr>
      </p:sp>
      <p:sp>
        <p:nvSpPr>
          <p:cNvPr id="48" name="Text 46"/>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49" name="Text 47"/>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$1.99M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$1.82M</a:t>
            </a:r>
            <a:endParaRPr lang="en-US" sz="1400" dirty="0"/>
          </a:p>
        </p:txBody>
      </p:sp>
      <p:sp>
        <p:nvSpPr>
          <p:cNvPr id="50" name="Text 48"/>
          <p:cNvSpPr txBox="1"/>
          <p:nvPr/>
        </p:nvSpPr>
        <p:spPr>
          <a:xfrm>
            <a:off x="6632448" y="5416906"/>
            <a:ext cx="1115568" cy="828446"/>
          </a:xfrm>
          <a:prstGeom prst="rect">
            <a:avLst/>
          </a:prstGeom>
          <a:noFill/>
          <a:ln/>
        </p:spPr>
        <p:txBody>
          <a:bodyPr wrap="square" lIns="0" tIns="0" rIns="0" bIns="0" rtlCol="0" anchor="ctr"/>
          <a:lstStyle/>
          <a:p>
            <a:pPr algn="r" indent="0" marL="0">
              <a:buNone/>
            </a:pPr>
            <a:r>
              <a:rPr lang="en-US" sz="1600" b="1" dirty="0">
                <a:solidFill>
                  <a:srgbClr val="A82B26"/>
                </a:solidFill>
                <a:latin typeface="Inter" pitchFamily="34" charset="0"/>
                <a:ea typeface="Inter" pitchFamily="34" charset="-122"/>
                <a:cs typeface="Inter" pitchFamily="34" charset="-120"/>
              </a:rPr>
              <a:t>−$178K</a:t>
            </a:r>
            <a:endParaRPr lang="en-US" sz="1600" dirty="0"/>
          </a:p>
        </p:txBody>
      </p:sp>
      <p:sp>
        <p:nvSpPr>
          <p:cNvPr id="51" name="Shape 49"/>
          <p:cNvSpPr/>
          <p:nvPr/>
        </p:nvSpPr>
        <p:spPr>
          <a:xfrm>
            <a:off x="8040624" y="1371600"/>
            <a:ext cx="3489960" cy="45720"/>
          </a:xfrm>
          <a:prstGeom prst="rect">
            <a:avLst/>
          </a:prstGeom>
          <a:solidFill>
            <a:srgbClr val="2587C5"/>
          </a:solidFill>
          <a:ln/>
        </p:spPr>
      </p:sp>
      <p:sp>
        <p:nvSpPr>
          <p:cNvPr id="52" name="Text 50"/>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53" name="Text 51"/>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54" name="Shape 52"/>
          <p:cNvSpPr/>
          <p:nvPr/>
        </p:nvSpPr>
        <p:spPr>
          <a:xfrm>
            <a:off x="8040624" y="2103120"/>
            <a:ext cx="3489960" cy="828446"/>
          </a:xfrm>
          <a:prstGeom prst="rect">
            <a:avLst/>
          </a:prstGeom>
          <a:solidFill>
            <a:srgbClr val="F7F7F7"/>
          </a:solidFill>
          <a:ln/>
        </p:spPr>
      </p:sp>
      <p:sp>
        <p:nvSpPr>
          <p:cNvPr id="55" name="Shape 53"/>
          <p:cNvSpPr/>
          <p:nvPr/>
        </p:nvSpPr>
        <p:spPr>
          <a:xfrm>
            <a:off x="11466576" y="2139696"/>
            <a:ext cx="64008" cy="755294"/>
          </a:xfrm>
          <a:prstGeom prst="rect">
            <a:avLst/>
          </a:prstGeom>
          <a:solidFill>
            <a:srgbClr val="12A566"/>
          </a:solidFill>
          <a:ln/>
        </p:spPr>
      </p:sp>
      <p:sp>
        <p:nvSpPr>
          <p:cNvPr id="56" name="Text 54"/>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57" name="Text 55"/>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$586K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$725K</a:t>
            </a:r>
            <a:endParaRPr lang="en-US" sz="1400" dirty="0"/>
          </a:p>
        </p:txBody>
      </p:sp>
      <p:sp>
        <p:nvSpPr>
          <p:cNvPr id="58" name="Text 56"/>
          <p:cNvSpPr txBox="1"/>
          <p:nvPr/>
        </p:nvSpPr>
        <p:spPr>
          <a:xfrm>
            <a:off x="10323576" y="2103120"/>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+$139K</a:t>
            </a:r>
            <a:endParaRPr lang="en-US" sz="1600" dirty="0"/>
          </a:p>
        </p:txBody>
      </p:sp>
      <p:sp>
        <p:nvSpPr>
          <p:cNvPr id="59" name="Shape 57"/>
          <p:cNvSpPr/>
          <p:nvPr/>
        </p:nvSpPr>
        <p:spPr>
          <a:xfrm>
            <a:off x="11466576" y="2968142"/>
            <a:ext cx="64008" cy="755294"/>
          </a:xfrm>
          <a:prstGeom prst="rect">
            <a:avLst/>
          </a:prstGeom>
          <a:solidFill>
            <a:srgbClr val="12A566"/>
          </a:solidFill>
          <a:ln/>
        </p:spPr>
      </p:sp>
      <p:sp>
        <p:nvSpPr>
          <p:cNvPr id="60" name="Text 58"/>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1" name="Text 59"/>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Toyota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$795K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$934K</a:t>
            </a:r>
            <a:endParaRPr lang="en-US" sz="1400" dirty="0"/>
          </a:p>
        </p:txBody>
      </p:sp>
      <p:sp>
        <p:nvSpPr>
          <p:cNvPr id="62" name="Text 60"/>
          <p:cNvSpPr txBox="1"/>
          <p:nvPr/>
        </p:nvSpPr>
        <p:spPr>
          <a:xfrm>
            <a:off x="10323576" y="293156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+$138K</a:t>
            </a:r>
            <a:endParaRPr lang="en-US" sz="1600" dirty="0"/>
          </a:p>
        </p:txBody>
      </p:sp>
      <p:sp>
        <p:nvSpPr>
          <p:cNvPr id="63" name="Shape 61"/>
          <p:cNvSpPr/>
          <p:nvPr/>
        </p:nvSpPr>
        <p:spPr>
          <a:xfrm>
            <a:off x="8040624" y="3760013"/>
            <a:ext cx="3489960" cy="828446"/>
          </a:xfrm>
          <a:prstGeom prst="rect">
            <a:avLst/>
          </a:prstGeom>
          <a:solidFill>
            <a:srgbClr val="F7F7F7"/>
          </a:solidFill>
          <a:ln/>
        </p:spPr>
      </p:sp>
      <p:sp>
        <p:nvSpPr>
          <p:cNvPr id="64" name="Shape 62"/>
          <p:cNvSpPr/>
          <p:nvPr/>
        </p:nvSpPr>
        <p:spPr>
          <a:xfrm>
            <a:off x="11466576" y="3796589"/>
            <a:ext cx="64008" cy="755294"/>
          </a:xfrm>
          <a:prstGeom prst="rect">
            <a:avLst/>
          </a:prstGeom>
          <a:solidFill>
            <a:srgbClr val="2587C5"/>
          </a:solidFill>
          <a:ln/>
        </p:spPr>
      </p:sp>
      <p:sp>
        <p:nvSpPr>
          <p:cNvPr id="65" name="Text 63"/>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66" name="Text 64"/>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Chevy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$294K</a:t>
            </a:r>
            <a:endParaRPr lang="en-US" sz="1400" dirty="0"/>
          </a:p>
        </p:txBody>
      </p:sp>
      <p:sp>
        <p:nvSpPr>
          <p:cNvPr id="67" name="Text 65"/>
          <p:cNvSpPr txBox="1"/>
          <p:nvPr/>
        </p:nvSpPr>
        <p:spPr>
          <a:xfrm>
            <a:off x="10323576" y="3760013"/>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+$113K</a:t>
            </a:r>
            <a:endParaRPr lang="en-US" sz="1600" dirty="0"/>
          </a:p>
        </p:txBody>
      </p:sp>
      <p:sp>
        <p:nvSpPr>
          <p:cNvPr id="68" name="Text 66"/>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69" name="Text 67"/>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$316K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$408K</a:t>
            </a:r>
            <a:endParaRPr lang="en-US" sz="1400" dirty="0"/>
          </a:p>
        </p:txBody>
      </p:sp>
      <p:sp>
        <p:nvSpPr>
          <p:cNvPr id="70" name="Text 68"/>
          <p:cNvSpPr txBox="1"/>
          <p:nvPr/>
        </p:nvSpPr>
        <p:spPr>
          <a:xfrm>
            <a:off x="10323576" y="4588459"/>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+$92K</a:t>
            </a:r>
            <a:endParaRPr lang="en-US" sz="1600" dirty="0"/>
          </a:p>
        </p:txBody>
      </p:sp>
      <p:sp>
        <p:nvSpPr>
          <p:cNvPr id="71" name="Shape 69"/>
          <p:cNvSpPr/>
          <p:nvPr/>
        </p:nvSpPr>
        <p:spPr>
          <a:xfrm>
            <a:off x="8040624" y="5416906"/>
            <a:ext cx="3489960" cy="828446"/>
          </a:xfrm>
          <a:prstGeom prst="rect">
            <a:avLst/>
          </a:prstGeom>
          <a:solidFill>
            <a:srgbClr val="F7F7F7"/>
          </a:solidFill>
          <a:ln/>
        </p:spPr>
      </p:sp>
      <p:sp>
        <p:nvSpPr>
          <p:cNvPr id="72" name="Text 70"/>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73" name="Text 71"/>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Mazda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$71K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$155K</a:t>
            </a:r>
            <a:endParaRPr lang="en-US" sz="1400" dirty="0"/>
          </a:p>
        </p:txBody>
      </p:sp>
      <p:sp>
        <p:nvSpPr>
          <p:cNvPr id="74" name="Text 72"/>
          <p:cNvSpPr txBox="1"/>
          <p:nvPr/>
        </p:nvSpPr>
        <p:spPr>
          <a:xfrm>
            <a:off x="10323576" y="5416906"/>
            <a:ext cx="1115568" cy="828446"/>
          </a:xfrm>
          <a:prstGeom prst="rect">
            <a:avLst/>
          </a:prstGeom>
          <a:noFill/>
          <a:ln/>
        </p:spPr>
        <p:txBody>
          <a:bodyPr wrap="square" lIns="0" tIns="0" rIns="0" bIns="0" rtlCol="0" anchor="ctr"/>
          <a:lstStyle/>
          <a:p>
            <a:pPr algn="r" indent="0" marL="0">
              <a:buNone/>
            </a:pPr>
            <a:r>
              <a:rPr lang="en-US" sz="1600" b="1" dirty="0">
                <a:solidFill>
                  <a:srgbClr val="0B7A4A"/>
                </a:solidFill>
                <a:latin typeface="Inter" pitchFamily="34" charset="0"/>
                <a:ea typeface="Inter" pitchFamily="34" charset="-122"/>
                <a:cs typeface="Inter" pitchFamily="34" charset="-120"/>
              </a:rPr>
              <a:t>+$84K</a:t>
            </a:r>
            <a:endParaRPr lang="en-US" sz="1600" dirty="0"/>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Shape 8"/>
          <p:cNvSpPr/>
          <p:nvPr/>
        </p:nvSpPr>
        <p:spPr>
          <a:xfrm>
            <a:off x="4084320" y="2139696"/>
            <a:ext cx="64008" cy="755294"/>
          </a:xfrm>
          <a:prstGeom prst="rect">
            <a:avLst/>
          </a:prstGeom>
          <a:solidFill>
            <a:srgbClr val="12A566"/>
          </a:solidFill>
          <a:ln/>
        </p:spPr>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$117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$144</a:t>
            </a:r>
            <a:endParaRPr lang="en-US" sz="1400" dirty="0"/>
          </a:p>
        </p:txBody>
      </p:sp>
      <p:sp>
        <p:nvSpPr>
          <p:cNvPr id="13" name="Text 11"/>
          <p:cNvSpPr txBox="1"/>
          <p:nvPr/>
        </p:nvSpPr>
        <p:spPr>
          <a:xfrm>
            <a:off x="2941320"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+22.9%</a:t>
            </a:r>
            <a:endParaRPr lang="en-US" sz="1600" dirty="0"/>
          </a:p>
        </p:txBody>
      </p:sp>
      <p:sp>
        <p:nvSpPr>
          <p:cNvPr id="14" name="Text 12"/>
          <p:cNvSpPr txBox="1"/>
          <p:nvPr/>
        </p:nvSpPr>
        <p:spPr>
          <a:xfrm>
            <a:off x="2941320"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a:t>
            </a:r>
            <a:endParaRPr lang="en-US" sz="1300" dirty="0"/>
          </a:p>
        </p:txBody>
      </p:sp>
      <p:sp>
        <p:nvSpPr>
          <p:cNvPr id="15" name="Text 13"/>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6" name="Text 14"/>
          <p:cNvSpPr txBox="1"/>
          <p:nvPr/>
        </p:nvSpPr>
        <p:spPr>
          <a:xfrm>
            <a:off x="1097280"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Volvo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$222</a:t>
            </a:r>
            <a:endParaRPr lang="en-US" sz="1400" dirty="0"/>
          </a:p>
        </p:txBody>
      </p:sp>
      <p:sp>
        <p:nvSpPr>
          <p:cNvPr id="17" name="Text 15"/>
          <p:cNvSpPr txBox="1"/>
          <p:nvPr/>
        </p:nvSpPr>
        <p:spPr>
          <a:xfrm>
            <a:off x="2941320"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+22.3%</a:t>
            </a:r>
            <a:endParaRPr lang="en-US" sz="1600" dirty="0"/>
          </a:p>
        </p:txBody>
      </p:sp>
      <p:sp>
        <p:nvSpPr>
          <p:cNvPr id="18" name="Text 16"/>
          <p:cNvSpPr txBox="1"/>
          <p:nvPr/>
        </p:nvSpPr>
        <p:spPr>
          <a:xfrm>
            <a:off x="2941320"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+$41</a:t>
            </a:r>
            <a:endParaRPr lang="en-US" sz="1300" dirty="0"/>
          </a:p>
        </p:txBody>
      </p:sp>
      <p:sp>
        <p:nvSpPr>
          <p:cNvPr id="19" name="Shape 17"/>
          <p:cNvSpPr/>
          <p:nvPr/>
        </p:nvSpPr>
        <p:spPr>
          <a:xfrm>
            <a:off x="658368" y="3760013"/>
            <a:ext cx="3489960" cy="828446"/>
          </a:xfrm>
          <a:prstGeom prst="rect">
            <a:avLst/>
          </a:prstGeom>
          <a:solidFill>
            <a:srgbClr val="F7F7F7"/>
          </a:solidFill>
          <a:ln/>
        </p:spPr>
      </p:sp>
      <p:sp>
        <p:nvSpPr>
          <p:cNvPr id="20" name="Text 18"/>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1" name="Text 19"/>
          <p:cNvSpPr txBox="1"/>
          <p:nvPr/>
        </p:nvSpPr>
        <p:spPr>
          <a:xfrm>
            <a:off x="1097280"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Lincoln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$140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$168</a:t>
            </a:r>
            <a:endParaRPr lang="en-US" sz="1400" dirty="0"/>
          </a:p>
        </p:txBody>
      </p:sp>
      <p:sp>
        <p:nvSpPr>
          <p:cNvPr id="22" name="Text 20"/>
          <p:cNvSpPr txBox="1"/>
          <p:nvPr/>
        </p:nvSpPr>
        <p:spPr>
          <a:xfrm>
            <a:off x="2941320"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+20.1%</a:t>
            </a:r>
            <a:endParaRPr lang="en-US" sz="1600" dirty="0"/>
          </a:p>
        </p:txBody>
      </p:sp>
      <p:sp>
        <p:nvSpPr>
          <p:cNvPr id="23" name="Text 21"/>
          <p:cNvSpPr txBox="1"/>
          <p:nvPr/>
        </p:nvSpPr>
        <p:spPr>
          <a:xfrm>
            <a:off x="2941320"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+$28</a:t>
            </a:r>
            <a:endParaRPr lang="en-US" sz="1300" dirty="0"/>
          </a:p>
        </p:txBody>
      </p:sp>
      <p:sp>
        <p:nvSpPr>
          <p:cNvPr id="24" name="Text 22"/>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25" name="Text 23"/>
          <p:cNvSpPr txBox="1"/>
          <p:nvPr/>
        </p:nvSpPr>
        <p:spPr>
          <a:xfrm>
            <a:off x="1097280"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Nissan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$154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$176</a:t>
            </a:r>
            <a:endParaRPr lang="en-US" sz="1400" dirty="0"/>
          </a:p>
        </p:txBody>
      </p:sp>
      <p:sp>
        <p:nvSpPr>
          <p:cNvPr id="26" name="Text 24"/>
          <p:cNvSpPr txBox="1"/>
          <p:nvPr/>
        </p:nvSpPr>
        <p:spPr>
          <a:xfrm>
            <a:off x="2941320"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+14.3%</a:t>
            </a:r>
            <a:endParaRPr lang="en-US" sz="1600" dirty="0"/>
          </a:p>
        </p:txBody>
      </p:sp>
      <p:sp>
        <p:nvSpPr>
          <p:cNvPr id="27" name="Text 25"/>
          <p:cNvSpPr txBox="1"/>
          <p:nvPr/>
        </p:nvSpPr>
        <p:spPr>
          <a:xfrm>
            <a:off x="2941320"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a:t>
            </a:r>
            <a:endParaRPr lang="en-US" sz="1300" dirty="0"/>
          </a:p>
        </p:txBody>
      </p:sp>
      <p:sp>
        <p:nvSpPr>
          <p:cNvPr id="28" name="Shape 26"/>
          <p:cNvSpPr/>
          <p:nvPr/>
        </p:nvSpPr>
        <p:spPr>
          <a:xfrm>
            <a:off x="658368" y="5416906"/>
            <a:ext cx="3489960" cy="828446"/>
          </a:xfrm>
          <a:prstGeom prst="rect">
            <a:avLst/>
          </a:prstGeom>
          <a:solidFill>
            <a:srgbClr val="F7F7F7"/>
          </a:solidFill>
          <a:ln/>
        </p:spPr>
      </p:sp>
      <p:sp>
        <p:nvSpPr>
          <p:cNvPr id="29" name="Text 27"/>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30" name="Text 28"/>
          <p:cNvSpPr txBox="1"/>
          <p:nvPr/>
        </p:nvSpPr>
        <p:spPr>
          <a:xfrm>
            <a:off x="1097280"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$122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$139</a:t>
            </a:r>
            <a:endParaRPr lang="en-US" sz="1400" dirty="0"/>
          </a:p>
        </p:txBody>
      </p:sp>
      <p:sp>
        <p:nvSpPr>
          <p:cNvPr id="31" name="Text 29"/>
          <p:cNvSpPr txBox="1"/>
          <p:nvPr/>
        </p:nvSpPr>
        <p:spPr>
          <a:xfrm>
            <a:off x="2941320"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+13.8%</a:t>
            </a:r>
            <a:endParaRPr lang="en-US" sz="1600" dirty="0"/>
          </a:p>
        </p:txBody>
      </p:sp>
      <p:sp>
        <p:nvSpPr>
          <p:cNvPr id="32" name="Text 30"/>
          <p:cNvSpPr txBox="1"/>
          <p:nvPr/>
        </p:nvSpPr>
        <p:spPr>
          <a:xfrm>
            <a:off x="2941320"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33" name="Shape 31"/>
          <p:cNvSpPr/>
          <p:nvPr/>
        </p:nvSpPr>
        <p:spPr>
          <a:xfrm>
            <a:off x="4349496" y="1371600"/>
            <a:ext cx="3489960" cy="45720"/>
          </a:xfrm>
          <a:prstGeom prst="rect">
            <a:avLst/>
          </a:prstGeom>
          <a:solidFill>
            <a:srgbClr val="C2352F"/>
          </a:solidFill>
          <a:ln/>
        </p:spPr>
      </p:sp>
      <p:sp>
        <p:nvSpPr>
          <p:cNvPr id="34" name="Text 3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35" name="Text 33"/>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36" name="Shape 34"/>
          <p:cNvSpPr/>
          <p:nvPr/>
        </p:nvSpPr>
        <p:spPr>
          <a:xfrm>
            <a:off x="4349496" y="2103120"/>
            <a:ext cx="3489960" cy="828446"/>
          </a:xfrm>
          <a:prstGeom prst="rect">
            <a:avLst/>
          </a:prstGeom>
          <a:solidFill>
            <a:srgbClr val="F7F7F7"/>
          </a:solidFill>
          <a:ln/>
        </p:spPr>
      </p:sp>
      <p:sp>
        <p:nvSpPr>
          <p:cNvPr id="37" name="Shape 35"/>
          <p:cNvSpPr/>
          <p:nvPr/>
        </p:nvSpPr>
        <p:spPr>
          <a:xfrm>
            <a:off x="7775448" y="2139696"/>
            <a:ext cx="64008" cy="755294"/>
          </a:xfrm>
          <a:prstGeom prst="rect">
            <a:avLst/>
          </a:prstGeom>
          <a:solidFill>
            <a:srgbClr val="2587C5"/>
          </a:solidFill>
          <a:ln/>
        </p:spPr>
      </p:sp>
      <p:sp>
        <p:nvSpPr>
          <p:cNvPr id="38" name="Text 36"/>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39" name="Text 37"/>
          <p:cNvSpPr txBox="1"/>
          <p:nvPr/>
        </p:nvSpPr>
        <p:spPr>
          <a:xfrm>
            <a:off x="4788408"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$184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$149</a:t>
            </a:r>
            <a:endParaRPr lang="en-US" sz="1400" dirty="0"/>
          </a:p>
        </p:txBody>
      </p:sp>
      <p:sp>
        <p:nvSpPr>
          <p:cNvPr id="40" name="Text 38"/>
          <p:cNvSpPr txBox="1"/>
          <p:nvPr/>
        </p:nvSpPr>
        <p:spPr>
          <a:xfrm>
            <a:off x="6632448" y="2202534"/>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−19.1%</a:t>
            </a:r>
            <a:endParaRPr lang="en-US" sz="1600" dirty="0"/>
          </a:p>
        </p:txBody>
      </p:sp>
      <p:sp>
        <p:nvSpPr>
          <p:cNvPr id="41" name="Text 39"/>
          <p:cNvSpPr txBox="1"/>
          <p:nvPr/>
        </p:nvSpPr>
        <p:spPr>
          <a:xfrm>
            <a:off x="6632448"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−$35</a:t>
            </a:r>
            <a:endParaRPr lang="en-US" sz="1300" dirty="0"/>
          </a:p>
        </p:txBody>
      </p:sp>
      <p:sp>
        <p:nvSpPr>
          <p:cNvPr id="42" name="Text 40"/>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43" name="Text 41"/>
          <p:cNvSpPr txBox="1"/>
          <p:nvPr/>
        </p:nvSpPr>
        <p:spPr>
          <a:xfrm>
            <a:off x="4788408"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$138</a:t>
            </a:r>
            <a:endParaRPr lang="en-US" sz="1400" dirty="0"/>
          </a:p>
        </p:txBody>
      </p:sp>
      <p:sp>
        <p:nvSpPr>
          <p:cNvPr id="44" name="Text 42"/>
          <p:cNvSpPr txBox="1"/>
          <p:nvPr/>
        </p:nvSpPr>
        <p:spPr>
          <a:xfrm>
            <a:off x="6632448" y="3030980"/>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−7.0%</a:t>
            </a:r>
            <a:endParaRPr lang="en-US" sz="1600" dirty="0"/>
          </a:p>
        </p:txBody>
      </p:sp>
      <p:sp>
        <p:nvSpPr>
          <p:cNvPr id="45" name="Text 43"/>
          <p:cNvSpPr txBox="1"/>
          <p:nvPr/>
        </p:nvSpPr>
        <p:spPr>
          <a:xfrm>
            <a:off x="6632448"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−$10</a:t>
            </a:r>
            <a:endParaRPr lang="en-US" sz="1300" dirty="0"/>
          </a:p>
        </p:txBody>
      </p:sp>
      <p:sp>
        <p:nvSpPr>
          <p:cNvPr id="46" name="Shape 44"/>
          <p:cNvSpPr/>
          <p:nvPr/>
        </p:nvSpPr>
        <p:spPr>
          <a:xfrm>
            <a:off x="4349496" y="3760013"/>
            <a:ext cx="3489960" cy="828446"/>
          </a:xfrm>
          <a:prstGeom prst="rect">
            <a:avLst/>
          </a:prstGeom>
          <a:solidFill>
            <a:srgbClr val="F7F7F7"/>
          </a:solidFill>
          <a:ln/>
        </p:spPr>
      </p:sp>
      <p:sp>
        <p:nvSpPr>
          <p:cNvPr id="47" name="Text 45"/>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48" name="Text 46"/>
          <p:cNvSpPr txBox="1"/>
          <p:nvPr/>
        </p:nvSpPr>
        <p:spPr>
          <a:xfrm>
            <a:off x="4788408"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Acura</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$222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$211</a:t>
            </a:r>
            <a:endParaRPr lang="en-US" sz="1400" dirty="0"/>
          </a:p>
        </p:txBody>
      </p:sp>
      <p:sp>
        <p:nvSpPr>
          <p:cNvPr id="49" name="Text 47"/>
          <p:cNvSpPr txBox="1"/>
          <p:nvPr/>
        </p:nvSpPr>
        <p:spPr>
          <a:xfrm>
            <a:off x="6632448" y="3859426"/>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−5.1%</a:t>
            </a:r>
            <a:endParaRPr lang="en-US" sz="1600" dirty="0"/>
          </a:p>
        </p:txBody>
      </p:sp>
      <p:sp>
        <p:nvSpPr>
          <p:cNvPr id="50" name="Text 48"/>
          <p:cNvSpPr txBox="1"/>
          <p:nvPr/>
        </p:nvSpPr>
        <p:spPr>
          <a:xfrm>
            <a:off x="6632448"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a:t>
            </a:r>
            <a:endParaRPr lang="en-US" sz="1300" dirty="0"/>
          </a:p>
        </p:txBody>
      </p:sp>
      <p:sp>
        <p:nvSpPr>
          <p:cNvPr id="51" name="Text 49"/>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52" name="Text 50"/>
          <p:cNvSpPr txBox="1"/>
          <p:nvPr/>
        </p:nvSpPr>
        <p:spPr>
          <a:xfrm>
            <a:off x="4788408"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$137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$130</a:t>
            </a:r>
            <a:endParaRPr lang="en-US" sz="1400" dirty="0"/>
          </a:p>
        </p:txBody>
      </p:sp>
      <p:sp>
        <p:nvSpPr>
          <p:cNvPr id="53" name="Text 51"/>
          <p:cNvSpPr txBox="1"/>
          <p:nvPr/>
        </p:nvSpPr>
        <p:spPr>
          <a:xfrm>
            <a:off x="6632448" y="4687873"/>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−4.6%</a:t>
            </a:r>
            <a:endParaRPr lang="en-US" sz="1600" dirty="0"/>
          </a:p>
        </p:txBody>
      </p:sp>
      <p:sp>
        <p:nvSpPr>
          <p:cNvPr id="54" name="Text 52"/>
          <p:cNvSpPr txBox="1"/>
          <p:nvPr/>
        </p:nvSpPr>
        <p:spPr>
          <a:xfrm>
            <a:off x="6632448"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a:t>
            </a:r>
            <a:endParaRPr lang="en-US" sz="1300" dirty="0"/>
          </a:p>
        </p:txBody>
      </p:sp>
      <p:sp>
        <p:nvSpPr>
          <p:cNvPr id="55" name="Shape 53"/>
          <p:cNvSpPr/>
          <p:nvPr/>
        </p:nvSpPr>
        <p:spPr>
          <a:xfrm>
            <a:off x="4349496" y="5416906"/>
            <a:ext cx="3489960" cy="828446"/>
          </a:xfrm>
          <a:prstGeom prst="rect">
            <a:avLst/>
          </a:prstGeom>
          <a:solidFill>
            <a:srgbClr val="F7F7F7"/>
          </a:solidFill>
          <a:ln/>
        </p:spPr>
      </p:sp>
      <p:sp>
        <p:nvSpPr>
          <p:cNvPr id="56" name="Text 54"/>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57" name="Text 55"/>
          <p:cNvSpPr txBox="1"/>
          <p:nvPr/>
        </p:nvSpPr>
        <p:spPr>
          <a:xfrm>
            <a:off x="4788408"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$279  →  </a:t>
            </a:r>
            <a:pPr indent="0" marL="0">
              <a:spcAft>
                <a:spcPts val="200"/>
              </a:spcAft>
              <a:buNone/>
            </a:pPr>
            <a:r>
              <a:rPr lang="en-US" sz="1200" b="1" dirty="0">
                <a:solidFill>
                  <a:srgbClr val="A82B26"/>
                </a:solidFill>
                <a:latin typeface="Inter" pitchFamily="34" charset="0"/>
                <a:ea typeface="Inter" pitchFamily="34" charset="-122"/>
                <a:cs typeface="Inter" pitchFamily="34" charset="-120"/>
              </a:rPr>
              <a:t>$266</a:t>
            </a:r>
            <a:endParaRPr lang="en-US" sz="1400" dirty="0"/>
          </a:p>
        </p:txBody>
      </p:sp>
      <p:sp>
        <p:nvSpPr>
          <p:cNvPr id="58" name="Text 56"/>
          <p:cNvSpPr txBox="1"/>
          <p:nvPr/>
        </p:nvSpPr>
        <p:spPr>
          <a:xfrm>
            <a:off x="6632448" y="5516319"/>
            <a:ext cx="1115568" cy="414223"/>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−4.5%</a:t>
            </a:r>
            <a:endParaRPr lang="en-US" sz="1600" dirty="0"/>
          </a:p>
        </p:txBody>
      </p:sp>
      <p:sp>
        <p:nvSpPr>
          <p:cNvPr id="59" name="Text 57"/>
          <p:cNvSpPr txBox="1"/>
          <p:nvPr/>
        </p:nvSpPr>
        <p:spPr>
          <a:xfrm>
            <a:off x="6632448"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−$13</a:t>
            </a:r>
            <a:endParaRPr lang="en-US" sz="1300" dirty="0"/>
          </a:p>
        </p:txBody>
      </p:sp>
      <p:sp>
        <p:nvSpPr>
          <p:cNvPr id="60" name="Shape 58"/>
          <p:cNvSpPr/>
          <p:nvPr/>
        </p:nvSpPr>
        <p:spPr>
          <a:xfrm>
            <a:off x="8040624" y="1371600"/>
            <a:ext cx="3489960" cy="45720"/>
          </a:xfrm>
          <a:prstGeom prst="rect">
            <a:avLst/>
          </a:prstGeom>
          <a:solidFill>
            <a:srgbClr val="2587C5"/>
          </a:solidFill>
          <a:ln/>
        </p:spPr>
      </p:sp>
      <p:sp>
        <p:nvSpPr>
          <p:cNvPr id="61" name="Text 59"/>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62" name="Text 60"/>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63" name="Shape 61"/>
          <p:cNvSpPr/>
          <p:nvPr/>
        </p:nvSpPr>
        <p:spPr>
          <a:xfrm>
            <a:off x="8040624" y="2103120"/>
            <a:ext cx="3489960" cy="828446"/>
          </a:xfrm>
          <a:prstGeom prst="rect">
            <a:avLst/>
          </a:prstGeom>
          <a:solidFill>
            <a:srgbClr val="F7F7F7"/>
          </a:solidFill>
          <a:ln/>
        </p:spPr>
      </p:sp>
      <p:sp>
        <p:nvSpPr>
          <p:cNvPr id="64" name="Text 62"/>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65" name="Text 63"/>
          <p:cNvSpPr txBox="1"/>
          <p:nvPr/>
        </p:nvSpPr>
        <p:spPr>
          <a:xfrm>
            <a:off x="8479536" y="2103120"/>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$128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$142</a:t>
            </a:r>
            <a:endParaRPr lang="en-US" sz="1400" dirty="0"/>
          </a:p>
        </p:txBody>
      </p:sp>
      <p:sp>
        <p:nvSpPr>
          <p:cNvPr id="66" name="Text 64"/>
          <p:cNvSpPr txBox="1"/>
          <p:nvPr/>
        </p:nvSpPr>
        <p:spPr>
          <a:xfrm>
            <a:off x="10323576" y="2202534"/>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+10.6%</a:t>
            </a:r>
            <a:endParaRPr lang="en-US" sz="1600" dirty="0"/>
          </a:p>
        </p:txBody>
      </p:sp>
      <p:sp>
        <p:nvSpPr>
          <p:cNvPr id="67" name="Text 65"/>
          <p:cNvSpPr txBox="1"/>
          <p:nvPr/>
        </p:nvSpPr>
        <p:spPr>
          <a:xfrm>
            <a:off x="10323576" y="2583619"/>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a:t>
            </a:r>
            <a:endParaRPr lang="en-US" sz="1300" dirty="0"/>
          </a:p>
        </p:txBody>
      </p:sp>
      <p:sp>
        <p:nvSpPr>
          <p:cNvPr id="68" name="Text 66"/>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69" name="Text 67"/>
          <p:cNvSpPr txBox="1"/>
          <p:nvPr/>
        </p:nvSpPr>
        <p:spPr>
          <a:xfrm>
            <a:off x="8479536" y="293156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Audi Reno</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$227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$244</a:t>
            </a:r>
            <a:endParaRPr lang="en-US" sz="1400" dirty="0"/>
          </a:p>
        </p:txBody>
      </p:sp>
      <p:sp>
        <p:nvSpPr>
          <p:cNvPr id="70" name="Text 68"/>
          <p:cNvSpPr txBox="1"/>
          <p:nvPr/>
        </p:nvSpPr>
        <p:spPr>
          <a:xfrm>
            <a:off x="10323576" y="3030980"/>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+7.4%</a:t>
            </a:r>
            <a:endParaRPr lang="en-US" sz="1600" dirty="0"/>
          </a:p>
        </p:txBody>
      </p:sp>
      <p:sp>
        <p:nvSpPr>
          <p:cNvPr id="71" name="Text 69"/>
          <p:cNvSpPr txBox="1"/>
          <p:nvPr/>
        </p:nvSpPr>
        <p:spPr>
          <a:xfrm>
            <a:off x="10323576" y="341206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a:t>
            </a:r>
            <a:endParaRPr lang="en-US" sz="1300" dirty="0"/>
          </a:p>
        </p:txBody>
      </p:sp>
      <p:sp>
        <p:nvSpPr>
          <p:cNvPr id="72" name="Shape 70"/>
          <p:cNvSpPr/>
          <p:nvPr/>
        </p:nvSpPr>
        <p:spPr>
          <a:xfrm>
            <a:off x="8040624" y="3760013"/>
            <a:ext cx="3489960" cy="828446"/>
          </a:xfrm>
          <a:prstGeom prst="rect">
            <a:avLst/>
          </a:prstGeom>
          <a:solidFill>
            <a:srgbClr val="F7F7F7"/>
          </a:solidFill>
          <a:ln/>
        </p:spPr>
      </p:sp>
      <p:sp>
        <p:nvSpPr>
          <p:cNvPr id="73" name="Shape 71"/>
          <p:cNvSpPr/>
          <p:nvPr/>
        </p:nvSpPr>
        <p:spPr>
          <a:xfrm>
            <a:off x="11466576" y="3796589"/>
            <a:ext cx="64008" cy="755294"/>
          </a:xfrm>
          <a:prstGeom prst="rect">
            <a:avLst/>
          </a:prstGeom>
          <a:solidFill>
            <a:srgbClr val="12A566"/>
          </a:solidFill>
          <a:ln/>
        </p:spPr>
      </p:sp>
      <p:sp>
        <p:nvSpPr>
          <p:cNvPr id="74" name="Text 72"/>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75" name="Text 73"/>
          <p:cNvSpPr txBox="1"/>
          <p:nvPr/>
        </p:nvSpPr>
        <p:spPr>
          <a:xfrm>
            <a:off x="8479536" y="3760013"/>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Honda Spokane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$148</a:t>
            </a:r>
            <a:endParaRPr lang="en-US" sz="1400" dirty="0"/>
          </a:p>
        </p:txBody>
      </p:sp>
      <p:sp>
        <p:nvSpPr>
          <p:cNvPr id="76" name="Text 74"/>
          <p:cNvSpPr txBox="1"/>
          <p:nvPr/>
        </p:nvSpPr>
        <p:spPr>
          <a:xfrm>
            <a:off x="10323576" y="3859426"/>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+6.1%</a:t>
            </a:r>
            <a:endParaRPr lang="en-US" sz="1600" dirty="0"/>
          </a:p>
        </p:txBody>
      </p:sp>
      <p:sp>
        <p:nvSpPr>
          <p:cNvPr id="77" name="Text 75"/>
          <p:cNvSpPr txBox="1"/>
          <p:nvPr/>
        </p:nvSpPr>
        <p:spPr>
          <a:xfrm>
            <a:off x="10323576" y="4240512"/>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a:t>
            </a:r>
            <a:endParaRPr lang="en-US" sz="1300" dirty="0"/>
          </a:p>
        </p:txBody>
      </p:sp>
      <p:sp>
        <p:nvSpPr>
          <p:cNvPr id="78" name="Shape 76"/>
          <p:cNvSpPr/>
          <p:nvPr/>
        </p:nvSpPr>
        <p:spPr>
          <a:xfrm>
            <a:off x="11466576" y="4625035"/>
            <a:ext cx="64008" cy="755294"/>
          </a:xfrm>
          <a:prstGeom prst="rect">
            <a:avLst/>
          </a:prstGeom>
          <a:solidFill>
            <a:srgbClr val="2587C5"/>
          </a:solidFill>
          <a:ln/>
        </p:spPr>
      </p:sp>
      <p:sp>
        <p:nvSpPr>
          <p:cNvPr id="79" name="Text 77"/>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80" name="Text 78"/>
          <p:cNvSpPr txBox="1"/>
          <p:nvPr/>
        </p:nvSpPr>
        <p:spPr>
          <a:xfrm>
            <a:off x="8479536" y="4588459"/>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LV</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$143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$151</a:t>
            </a:r>
            <a:endParaRPr lang="en-US" sz="1400" dirty="0"/>
          </a:p>
        </p:txBody>
      </p:sp>
      <p:sp>
        <p:nvSpPr>
          <p:cNvPr id="81" name="Text 79"/>
          <p:cNvSpPr txBox="1"/>
          <p:nvPr/>
        </p:nvSpPr>
        <p:spPr>
          <a:xfrm>
            <a:off x="10323576" y="4687873"/>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+5.7%</a:t>
            </a:r>
            <a:endParaRPr lang="en-US" sz="1600" dirty="0"/>
          </a:p>
        </p:txBody>
      </p:sp>
      <p:sp>
        <p:nvSpPr>
          <p:cNvPr id="82" name="Text 80"/>
          <p:cNvSpPr txBox="1"/>
          <p:nvPr/>
        </p:nvSpPr>
        <p:spPr>
          <a:xfrm>
            <a:off x="10323576" y="5068958"/>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a:t>
            </a:r>
            <a:endParaRPr lang="en-US" sz="1300" dirty="0"/>
          </a:p>
        </p:txBody>
      </p:sp>
      <p:sp>
        <p:nvSpPr>
          <p:cNvPr id="83" name="Shape 81"/>
          <p:cNvSpPr/>
          <p:nvPr/>
        </p:nvSpPr>
        <p:spPr>
          <a:xfrm>
            <a:off x="8040624" y="5416906"/>
            <a:ext cx="3489960" cy="828446"/>
          </a:xfrm>
          <a:prstGeom prst="rect">
            <a:avLst/>
          </a:prstGeom>
          <a:solidFill>
            <a:srgbClr val="F7F7F7"/>
          </a:solidFill>
          <a:ln/>
        </p:spPr>
      </p:sp>
      <p:sp>
        <p:nvSpPr>
          <p:cNvPr id="84" name="Text 82"/>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85" name="Text 83"/>
          <p:cNvSpPr txBox="1"/>
          <p:nvPr/>
        </p:nvSpPr>
        <p:spPr>
          <a:xfrm>
            <a:off x="8479536" y="5416906"/>
            <a:ext cx="1825752" cy="828446"/>
          </a:xfrm>
          <a:prstGeom prst="rect">
            <a:avLst/>
          </a:prstGeom>
          <a:noFill/>
          <a:ln/>
        </p:spPr>
        <p:txBody>
          <a:bodyPr wrap="square" lIns="0" tIns="0" rIns="0" bIns="0" rtlCol="0" anchor="ctr"/>
          <a:lstStyle/>
          <a:p>
            <a:pPr indent="0" marL="0">
              <a:spcAft>
                <a:spcPts val="200"/>
              </a:spcAft>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a:p>
            <a:pPr indent="0" marL="0">
              <a:spcAft>
                <a:spcPts val="200"/>
              </a:spcAft>
              <a:buNone/>
            </a:pPr>
            <a:r>
              <a:rPr lang="en-US" sz="1200" dirty="0">
                <a:solidFill>
                  <a:srgbClr val="595959"/>
                </a:solidFill>
                <a:latin typeface="Inter" pitchFamily="34" charset="0"/>
                <a:ea typeface="Inter" pitchFamily="34" charset="-122"/>
                <a:cs typeface="Inter" pitchFamily="34" charset="-120"/>
              </a:rPr>
              <a:t>$139  →  </a:t>
            </a:r>
            <a:pPr indent="0" marL="0">
              <a:spcAft>
                <a:spcPts val="200"/>
              </a:spcAft>
              <a:buNone/>
            </a:pPr>
            <a:r>
              <a:rPr lang="en-US" sz="1200" b="1" dirty="0">
                <a:solidFill>
                  <a:srgbClr val="0B7A4A"/>
                </a:solidFill>
                <a:latin typeface="Inter" pitchFamily="34" charset="0"/>
                <a:ea typeface="Inter" pitchFamily="34" charset="-122"/>
                <a:cs typeface="Inter" pitchFamily="34" charset="-120"/>
              </a:rPr>
              <a:t>$146</a:t>
            </a:r>
            <a:endParaRPr lang="en-US" sz="1400" dirty="0"/>
          </a:p>
        </p:txBody>
      </p:sp>
      <p:sp>
        <p:nvSpPr>
          <p:cNvPr id="86" name="Text 84"/>
          <p:cNvSpPr txBox="1"/>
          <p:nvPr/>
        </p:nvSpPr>
        <p:spPr>
          <a:xfrm>
            <a:off x="10323576" y="5516319"/>
            <a:ext cx="1115568" cy="414223"/>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+5.0%</a:t>
            </a:r>
            <a:endParaRPr lang="en-US" sz="1600" dirty="0"/>
          </a:p>
        </p:txBody>
      </p:sp>
      <p:sp>
        <p:nvSpPr>
          <p:cNvPr id="87" name="Text 85"/>
          <p:cNvSpPr txBox="1"/>
          <p:nvPr/>
        </p:nvSpPr>
        <p:spPr>
          <a:xfrm>
            <a:off x="10323576" y="5897405"/>
            <a:ext cx="1115568" cy="265103"/>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2026-10-27T23:33:43Z</dcterms:created>
  <dcterms:modified xsi:type="dcterms:W3CDTF">2026-10-27T23:33:43Z</dcterms:modified>
</cp:coreProperties>
</file>