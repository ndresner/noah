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8" Type="http://schemas.openxmlformats.org/officeDocument/2006/relationships/slide" Target="slides/slide13.xml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 w="38100" cap="flat">
              <a:solidFill>
                <a:srgbClr val="2587C5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1.94</c:v>
                </c:pt>
                <c:pt idx="2">
                  <c:v>2.46</c:v>
                </c:pt>
                <c:pt idx="3">
                  <c:v>2.72</c:v>
                </c:pt>
                <c:pt idx="4">
                  <c:v>2.16</c:v>
                </c:pt>
                <c:pt idx="5">
                  <c:v>2.66</c:v>
                </c:pt>
                <c:pt idx="6">
                  <c:v>3.14</c:v>
                </c:pt>
                <c:pt idx="7">
                  <c:v>2.75</c:v>
                </c:pt>
                <c:pt idx="8">
                  <c:v>2.78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>2.46</c:v>
                </c:pt>
                <c:pt idx="3">
                  <c:v>2.72</c:v>
                </c:pt>
                <c:pt idx="4">
                  <c:v/>
                </c:pt>
                <c:pt idx="5">
                  <c:v>2.66</c:v>
                </c:pt>
                <c:pt idx="6">
                  <c:v>3.14</c:v>
                </c:pt>
                <c:pt idx="7">
                  <c:v>2.75</c:v>
                </c:pt>
                <c:pt idx="8">
                  <c:v>2.78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587C5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587C5"/>
              </a:solidFill>
              <a:ln w="9525" cap="flat">
                <a:solidFill>
                  <a:srgbClr val="25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1.94</c:v>
                </c:pt>
                <c:pt idx="2">
                  <c:v/>
                </c:pt>
                <c:pt idx="3">
                  <c:v/>
                </c:pt>
                <c:pt idx="4">
                  <c:v>2.16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2.79</c:v>
                </c:pt>
                <c:pt idx="1">
                  <c:v>2.37</c:v>
                </c:pt>
                <c:pt idx="2">
                  <c:v/>
                </c:pt>
                <c:pt idx="3">
                  <c:v/>
                </c:pt>
                <c:pt idx="4">
                  <c:v>2.45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3.21</c:v>
                </c:pt>
                <c:pt idx="10">
                  <c:v/>
                </c:pt>
                <c:pt idx="11">
                  <c:v>2.16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>
              <a:noFill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>2.31</c:v>
                </c:pt>
                <c:pt idx="3">
                  <c:v>2.58</c:v>
                </c:pt>
                <c:pt idx="4">
                  <c:v/>
                </c:pt>
                <c:pt idx="5">
                  <c:v>2.59</c:v>
                </c:pt>
                <c:pt idx="6">
                  <c:v>2.77</c:v>
                </c:pt>
                <c:pt idx="7">
                  <c:v>2.43</c:v>
                </c:pt>
                <c:pt idx="8">
                  <c:v>2.28</c:v>
                </c:pt>
                <c:pt idx="9">
                  <c:v/>
                </c:pt>
                <c:pt idx="10">
                  <c:v>1.97</c:v>
                </c:pt>
                <c:pt idx="11">
                  <c:v/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2.79</c:v>
                </c:pt>
                <c:pt idx="1">
                  <c:v>2.37</c:v>
                </c:pt>
                <c:pt idx="2">
                  <c:v>2.31</c:v>
                </c:pt>
                <c:pt idx="3">
                  <c:v>2.58</c:v>
                </c:pt>
                <c:pt idx="4">
                  <c:v>2.45</c:v>
                </c:pt>
                <c:pt idx="5">
                  <c:v>2.59</c:v>
                </c:pt>
                <c:pt idx="6">
                  <c:v>2.77</c:v>
                </c:pt>
                <c:pt idx="7">
                  <c:v>2.43</c:v>
                </c:pt>
                <c:pt idx="8">
                  <c:v>2.28</c:v>
                </c:pt>
                <c:pt idx="9">
                  <c:v>3.21</c:v>
                </c:pt>
                <c:pt idx="10">
                  <c:v>1.97</c:v>
                </c:pt>
                <c:pt idx="11">
                  <c:v>2.16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numFmt formatCode="$0.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Loss, Detail statement. Same-store, INEOS excluded (opened 2026). Parts net profit = P&amp;A department profit: department gross less the department's own expenses; GMC Prescott body shop is its own department and is not included. Jan-Sep 2026 vs Jan-Sep 2025; 2025 shown January-December. Store rows reconcile to the group, both years. P&amp;A department expenses Jan-Sep, 2025 to 2026 (P&amp;L Detail): total total expenses $38,194,373 to $39,174,787; personnel total personnel expense $22,779,551 to $22,353,382; outside services outside services (other) $2,463,996 to $2,954,466; IT services info. technology services $1,758,912 to $2,238,264; advertising advertising $2,046,030 to $1,963,261; advertising rebates (a credit) -$680,064 to -$281,952; rent rent $3,837,561 to $3,938,417.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2.xml"/><Relationship Id="rId3" Type="http://schemas.openxmlformats.org/officeDocument/2006/relationships/chart" Target="../charts/chart53.xml"/><Relationship Id="rId4" Type="http://schemas.openxmlformats.org/officeDocument/2006/relationships/chart" Target="../charts/chart54.xml"/><Relationship Id="rId5" Type="http://schemas.openxmlformats.org/officeDocument/2006/relationships/chart" Target="../charts/chart55.xml"/><Relationship Id="rId6" Type="http://schemas.openxmlformats.org/officeDocument/2006/relationships/chart" Target="../charts/chart56.xml"/><Relationship Id="rId7" Type="http://schemas.openxmlformats.org/officeDocument/2006/relationships/chart" Target="../charts/chart57.xml"/><Relationship Id="rId8" Type="http://schemas.openxmlformats.org/officeDocument/2006/relationships/notesSlide" Target="../notesSlides/notesSlide22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NET PROFIT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Net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YTD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$22.56M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YTD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$22.75M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+$190,767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11274552" cy="3666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85800" y="245973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net profit by month, 2025 against 2026 ($M)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07208"/>
            <a:ext cx="10817352" cy="1097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graphicFrame>
        <p:nvGraphicFramePr>
          <p:cNvPr id="17" name="Chart 0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9" name="Chart 2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Chart 3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1" name="Chart 4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2" name="Chart 5" descr=""/>
          <p:cNvGraphicFramePr/>
          <p:nvPr/>
        </p:nvGraphicFramePr>
        <p:xfrm>
          <a:off x="621792" y="3218688"/>
          <a:ext cx="10945368" cy="267919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3" name="Shape 15"/>
          <p:cNvSpPr/>
          <p:nvPr/>
        </p:nvSpPr>
        <p:spPr>
          <a:xfrm>
            <a:off x="4951476" y="3049524"/>
            <a:ext cx="310896" cy="45720"/>
          </a:xfrm>
          <a:prstGeom prst="rect">
            <a:avLst/>
          </a:prstGeom>
          <a:solidFill>
            <a:srgbClr val="9AA3AD"/>
          </a:solidFill>
          <a:ln/>
        </p:spPr>
        <p:txBody>
          <a:bodyPr/>
          <a:p/>
        </p:txBody>
      </p:sp>
      <p:sp>
        <p:nvSpPr>
          <p:cNvPr id="24" name="Shape 16"/>
          <p:cNvSpPr/>
          <p:nvPr/>
        </p:nvSpPr>
        <p:spPr>
          <a:xfrm>
            <a:off x="5052060" y="3017520"/>
            <a:ext cx="109728" cy="109728"/>
          </a:xfrm>
          <a:prstGeom prst="ellipse">
            <a:avLst/>
          </a:prstGeom>
          <a:solidFill>
            <a:srgbClr val="9AA3AD"/>
          </a:solidFill>
          <a:ln/>
        </p:spPr>
        <p:txBody>
          <a:bodyPr/>
          <a:p/>
        </p:txBody>
      </p:sp>
      <p:sp>
        <p:nvSpPr>
          <p:cNvPr id="25" name="Text 17"/>
          <p:cNvSpPr txBox="1"/>
          <p:nvPr/>
        </p:nvSpPr>
        <p:spPr>
          <a:xfrm>
            <a:off x="533552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185916" y="3049524"/>
            <a:ext cx="310896" cy="45720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6286500" y="3017520"/>
            <a:ext cx="109728" cy="109728"/>
          </a:xfrm>
          <a:prstGeom prst="ellipse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8" name="Text 20"/>
          <p:cNvSpPr txBox="1"/>
          <p:nvPr/>
        </p:nvSpPr>
        <p:spPr>
          <a:xfrm>
            <a:off x="6569964" y="2926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30" name="Text 2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grew 1.9%, expenses 2.6%. Personnel down $426K; outside services up $490K, IT up $479K, advertising rebates down $398K.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2026-10-29T04:52:04Z</dcterms:created>
  <dcterms:modified xsi:type="dcterms:W3CDTF">2026-10-29T04:52:04Z</dcterms:modified>
</cp:coreProperties>
</file>