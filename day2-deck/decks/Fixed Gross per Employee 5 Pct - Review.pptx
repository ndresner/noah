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Gross: Qlik - Productivity app, P&amp;L Total Gross Profit - Fixed Ops. Headcount: ADP Employee Master extract 10/19/2026 (rebuilt 2026-10-20; the Qlik headcount history undercounted). Fixed gross per fixed employee = gross / fixed employees, Jan-Sep 2026 monthly average. Same-store, INEOS excluded (opened 2026). GMC Prescott body shop gross and body shop staff excluded. Each store is measured against its own number: Target = today + 5%. Gross/yr = 5% x the store's gross per employee x its average fixed employees x 12 (the same staff producing 5% more). Per working day uses 307 days open a year (6 days a week less the 6 service holidays). Today and Target = fixed gross per fixed employee a month.Framing: every store is measured against itself, so an Audi store does not set a Lincoln store's target. 5% is roughly one more customer-pay RO a day for a small store, or a few tenths of an hour per RO.
TOYOTA HENDERSON: $14,174 today -&gt; $14,883 target per employee a month; 177.1 fixed employees; $1,506,225 a year
CHEVY LV: $12,042 today -&gt; $12,644 target per employee a month; 152.7 fixed employees; $1,103,005 a year
HONDA HENDERSON: $16,061 today -&gt; $16,864 target per employee a month; 99.8 fixed employees; $961,535 a year
AUDI HENDERSON: $23,461 today -&gt; $24,634 target per employee a month; 58.4 fixed employees; $822,684 a year
SUBARU LV: $12,874 today -&gt; $13,518 target per employee a month; 87.0 fixed employees; $672,026 a year
CADILLAC: $14,260 today -&gt; $14,973 target per employee a month; 74.8 fixed employees; $639,799 a year
HONDA NORTH: $14,604 today -&gt; $15,334 target per employee a month; 65.6 fixed employees; $574,425 a year
LR LV: $18,148 today -&gt; $19,056 target per employee a month; 40.4 fixed employees; $440,403 a year
KIA LV: $13,289 today -&gt; $13,954 target per employee a month; 51.4 fixed employees; $410,199 a year
TOYOTA SPOKANE: $11,128 today -&gt; $11,685 target per employee a month; 59.2 fixed employees; $395,423 a year
TOYOTA PRESCOTT: $11,044 today -&gt; $11,596 target per employee a month; 51.1 fixed employees; $338,685 a year
VW HENDERSON: $12,006 today -&gt; $12,606 target per employee a month; 44.3 fixed employees; $319,353 a year
NISSAN: $11,957 today -&gt; $12,555 target per employee a month; 44.4 fixed employees; $318,864 a year
CHEVY GMC BULLHEAD: $10,391 today -&gt; $10,911 target per employee a month; 48.4 fixed employees; $302,035 a year
TOYOTA FLAGSTAFF: $10,794 today -&gt; $11,333 target per employee a month; 46.0 fixed employees; $297,906 a year
AUDI RENO: $14,916 today -&gt; $15,662 target per employee a month; 33.2 fixed employees; $297,322 a year
HONDA SPOKANE: $12,871 today -&gt; $13,514 target per employee a month; 36.1 fixed employees; $278,863 a year
LEXUS: $16,919 today -&gt; $17,765 target per employee a month; 27.2 fixed employees; $276,346 a year
VOLVO: $18,549 today -&gt; $19,476 target per employee a month; 23.4 fixed employees; $260,917 a year
CDJR POST FALLS: $9,953 today -&gt; $10,450 target per employee a month; 39.7 fixed employees; $236,877 a year
SUBARU ST GEORGE: $15,556 today -&gt; $16,333 target per employee a month; 25.1 fixed employees; $234,372 a year
LR HENDERSON: $18,268 today -&gt; $19,182 target per employee a month; 20.8 fixed employees; $227,743 a year
MAZDA: $15,966 today -&gt; $16,765 target per employee a month; 23.0 fixed employees; $220,335 a year
LINCOLN: $10,963 today -&gt; $11,511 target per employee a month; 30.2 fixed employees; $198,802 a year
ACURA: $12,364 today -&gt; $12,982 target per employee a month; 26.0 fixed employees; $192,877 a year
SUBARU PRESCOTT: $12,501 today -&gt; $13,126 target per employee a month; 24.0 fixed employees; $180,016 a year
KIA ST GEORGE: $12,103 today -&gt; $12,709 target per employee a month; 21.4 fixed employees; $155,730 a year
HYUNDAI ST GEORGE: $11,541 today -&gt; $12,118 target per employee a month; 22.0 fixed employees; $152,344 a year
GMC PRESCOTT: $9,498 today -&gt; $9,973 target per employee a month; 26.6 fixed employees; $151,334 a year
LR RENO: $15,226 today -&gt; $15,988 target per employee a month; 16.1 fixed employees; $147,187 a year
HONDA FLAGSTAFF: $9,149 today -&gt; $9,607 target per employee a month; 19.3 fixed employees; $106,131 a year
HYUNDAI PRESCOTT: $11,631 today -&gt; $12,212 target per employee a month; 14.7 fixed employees; $102,351 a year
VW ST GEORGE: $9,878 today -&gt; $10,372 target per employee a month; 10.9 fixed employees; $64,535 a year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5% More per Employee Is Worth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502152" y="1316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Gross/yr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16552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316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Gross/yr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966960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16768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170078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71216" y="1756697"/>
            <a:ext cx="576072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02152" y="170078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$1.51M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170078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$14.2K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170078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$14.9K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194928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71216" y="2005199"/>
            <a:ext cx="421856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02152" y="1949286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$1.10M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16552" y="1949286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$12.0K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1949286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$12.6K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" y="219778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71216" y="2253700"/>
            <a:ext cx="367749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02152" y="219778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$962K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16552" y="219778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$16.1K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219778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$16.9K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244628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71216" y="2502202"/>
            <a:ext cx="31464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02152" y="244628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$823K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416552" y="244628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$23.5K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244628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$24.6K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" y="2694791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871216" y="2750703"/>
            <a:ext cx="25702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502152" y="2694791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$672K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416552" y="2694791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$12.9K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66360" y="2694791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$13.5K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294329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71216" y="2999205"/>
            <a:ext cx="244698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502152" y="2943292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$640K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416552" y="2943292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$14.3K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166360" y="2943292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$15.0K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14984" y="319179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871216" y="3247707"/>
            <a:ext cx="219695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502152" y="319179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$574K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416552" y="319179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$14.6K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166360" y="319179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$15.3K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14984" y="344029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871216" y="3496208"/>
            <a:ext cx="168437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502152" y="3440296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$440K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416552" y="3440296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$18.1K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166360" y="3440296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$19.1K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368879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871216" y="3744710"/>
            <a:ext cx="156885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502152" y="368879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$410K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416552" y="368879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$13.3K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166360" y="368879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$14.0K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14984" y="393729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871216" y="3993212"/>
            <a:ext cx="15123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3502152" y="393729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$395K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4416552" y="393729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$11.1K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5166360" y="393729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$11.7K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418580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2871216" y="4241713"/>
            <a:ext cx="12953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3502152" y="4185800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$339K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4416552" y="4185800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$11.0K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5166360" y="4185800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$11.6K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1014984" y="443430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871216" y="4490215"/>
            <a:ext cx="122140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3502152" y="4434302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$319K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4416552" y="4434302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$12.0K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5166360" y="4434302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$12.6K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14984" y="468280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2871216" y="4738717"/>
            <a:ext cx="121953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3502152" y="468280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$319K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4416552" y="468280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$12.0K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5166360" y="468280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$12.6K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1014984" y="4931305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2871216" y="4987218"/>
            <a:ext cx="115516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3502152" y="4931305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$302K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4416552" y="4931305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$10.4K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5166360" y="4931305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$10.9K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1014984" y="517980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2871216" y="5235720"/>
            <a:ext cx="113938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3502152" y="517980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$298K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4416552" y="517980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$10.8K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5166360" y="517980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$11.3K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1014984" y="542830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2871216" y="5484222"/>
            <a:ext cx="11371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3502152" y="542830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$297K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4416552" y="542830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$14.9K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5166360" y="542830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$15.7K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1014984" y="567681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2871216" y="5732723"/>
            <a:ext cx="10665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502152" y="5676810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$279K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4416552" y="5676810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$12.9K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5166360" y="5676810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$13.5K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565392" y="170078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8421624" y="1756697"/>
            <a:ext cx="105692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9052560" y="170078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$276K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9966960" y="170078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$16.9K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10716768" y="170078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$17.8K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194928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8421624" y="2005199"/>
            <a:ext cx="99790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9052560" y="1949286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$261K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9966960" y="1949286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$18.5K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10716768" y="1949286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$19.5K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219778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8421624" y="2253700"/>
            <a:ext cx="90596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9052560" y="219778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$237K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966960" y="219778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$10.0K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716768" y="219778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$10.5K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565392" y="244628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8421624" y="2502202"/>
            <a:ext cx="89638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9052560" y="244628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$234K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9966960" y="244628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$15.6K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10716768" y="244628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$16.3K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565392" y="2694791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8421624" y="2750703"/>
            <a:ext cx="87103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9052560" y="2694791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$228K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9966960" y="2694791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$18.3K</a:t>
            </a:r>
            <a:endParaRPr lang="en-US" sz="1300" dirty="0"/>
          </a:p>
        </p:txBody>
      </p:sp>
      <p:sp>
        <p:nvSpPr>
          <p:cNvPr id="143" name="Text 141"/>
          <p:cNvSpPr txBox="1"/>
          <p:nvPr/>
        </p:nvSpPr>
        <p:spPr>
          <a:xfrm>
            <a:off x="10716768" y="2694791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$19.2K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565392" y="294329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8421624" y="2999205"/>
            <a:ext cx="84269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9052560" y="2943292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$220K</a:t>
            </a:r>
            <a:endParaRPr lang="en-US" sz="1300" dirty="0"/>
          </a:p>
        </p:txBody>
      </p:sp>
      <p:sp>
        <p:nvSpPr>
          <p:cNvPr id="148" name="Text 146"/>
          <p:cNvSpPr txBox="1"/>
          <p:nvPr/>
        </p:nvSpPr>
        <p:spPr>
          <a:xfrm>
            <a:off x="9966960" y="2943292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$16.0K</a:t>
            </a:r>
            <a:endParaRPr lang="en-US" sz="1300" dirty="0"/>
          </a:p>
        </p:txBody>
      </p:sp>
      <p:sp>
        <p:nvSpPr>
          <p:cNvPr id="149" name="Text 147"/>
          <p:cNvSpPr txBox="1"/>
          <p:nvPr/>
        </p:nvSpPr>
        <p:spPr>
          <a:xfrm>
            <a:off x="10716768" y="2943292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$16.8K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6565392" y="319179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52" name="Shape 150"/>
          <p:cNvSpPr/>
          <p:nvPr/>
        </p:nvSpPr>
        <p:spPr>
          <a:xfrm>
            <a:off x="8421624" y="3247707"/>
            <a:ext cx="7603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9052560" y="319179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$199K</a:t>
            </a:r>
            <a:endParaRPr lang="en-US" sz="1300" dirty="0"/>
          </a:p>
        </p:txBody>
      </p:sp>
      <p:sp>
        <p:nvSpPr>
          <p:cNvPr id="154" name="Text 152"/>
          <p:cNvSpPr txBox="1"/>
          <p:nvPr/>
        </p:nvSpPr>
        <p:spPr>
          <a:xfrm>
            <a:off x="9966960" y="319179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$11.0K</a:t>
            </a:r>
            <a:endParaRPr lang="en-US" sz="1300" dirty="0"/>
          </a:p>
        </p:txBody>
      </p:sp>
      <p:sp>
        <p:nvSpPr>
          <p:cNvPr id="155" name="Text 153"/>
          <p:cNvSpPr txBox="1"/>
          <p:nvPr/>
        </p:nvSpPr>
        <p:spPr>
          <a:xfrm>
            <a:off x="10716768" y="319179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$11.5K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57" name="Text 155"/>
          <p:cNvSpPr txBox="1"/>
          <p:nvPr/>
        </p:nvSpPr>
        <p:spPr>
          <a:xfrm>
            <a:off x="6565392" y="3440296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8421624" y="3496208"/>
            <a:ext cx="73768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9052560" y="3440296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$193K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9966960" y="3440296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$12.4K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716768" y="3440296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$13.0K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63" name="Text 161"/>
          <p:cNvSpPr txBox="1"/>
          <p:nvPr/>
        </p:nvSpPr>
        <p:spPr>
          <a:xfrm>
            <a:off x="6565392" y="368879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64" name="Shape 162"/>
          <p:cNvSpPr/>
          <p:nvPr/>
        </p:nvSpPr>
        <p:spPr>
          <a:xfrm>
            <a:off x="8421624" y="3744710"/>
            <a:ext cx="68849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9052560" y="368879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$180K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9966960" y="368879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$12.5K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10716768" y="368879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$13.1K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69" name="Text 167"/>
          <p:cNvSpPr txBox="1"/>
          <p:nvPr/>
        </p:nvSpPr>
        <p:spPr>
          <a:xfrm>
            <a:off x="6565392" y="393729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8421624" y="3993212"/>
            <a:ext cx="59561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9052560" y="393729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$156K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966960" y="393729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$12.1K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716768" y="393729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$12.7K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75" name="Text 173"/>
          <p:cNvSpPr txBox="1"/>
          <p:nvPr/>
        </p:nvSpPr>
        <p:spPr>
          <a:xfrm>
            <a:off x="6565392" y="4185800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76" name="Shape 174"/>
          <p:cNvSpPr/>
          <p:nvPr/>
        </p:nvSpPr>
        <p:spPr>
          <a:xfrm>
            <a:off x="8421624" y="4241713"/>
            <a:ext cx="58266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9052560" y="4185800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$152K</a:t>
            </a:r>
            <a:endParaRPr lang="en-US" sz="1300" dirty="0"/>
          </a:p>
        </p:txBody>
      </p:sp>
      <p:sp>
        <p:nvSpPr>
          <p:cNvPr id="178" name="Text 176"/>
          <p:cNvSpPr txBox="1"/>
          <p:nvPr/>
        </p:nvSpPr>
        <p:spPr>
          <a:xfrm>
            <a:off x="9966960" y="4185800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$11.5K</a:t>
            </a:r>
            <a:endParaRPr lang="en-US" sz="1300" dirty="0"/>
          </a:p>
        </p:txBody>
      </p:sp>
      <p:sp>
        <p:nvSpPr>
          <p:cNvPr id="179" name="Text 177"/>
          <p:cNvSpPr txBox="1"/>
          <p:nvPr/>
        </p:nvSpPr>
        <p:spPr>
          <a:xfrm>
            <a:off x="10716768" y="4185800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$12.1K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81" name="Text 179"/>
          <p:cNvSpPr txBox="1"/>
          <p:nvPr/>
        </p:nvSpPr>
        <p:spPr>
          <a:xfrm>
            <a:off x="6565392" y="4434302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82" name="Shape 180"/>
          <p:cNvSpPr/>
          <p:nvPr/>
        </p:nvSpPr>
        <p:spPr>
          <a:xfrm>
            <a:off x="8421624" y="4490215"/>
            <a:ext cx="57879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83" name="Text 181"/>
          <p:cNvSpPr txBox="1"/>
          <p:nvPr/>
        </p:nvSpPr>
        <p:spPr>
          <a:xfrm>
            <a:off x="9052560" y="4434302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$151K</a:t>
            </a:r>
            <a:endParaRPr lang="en-US" sz="1300" dirty="0"/>
          </a:p>
        </p:txBody>
      </p:sp>
      <p:sp>
        <p:nvSpPr>
          <p:cNvPr id="184" name="Text 182"/>
          <p:cNvSpPr txBox="1"/>
          <p:nvPr/>
        </p:nvSpPr>
        <p:spPr>
          <a:xfrm>
            <a:off x="9966960" y="4434302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$9.5K</a:t>
            </a:r>
            <a:endParaRPr lang="en-US" sz="1300" dirty="0"/>
          </a:p>
        </p:txBody>
      </p:sp>
      <p:sp>
        <p:nvSpPr>
          <p:cNvPr id="185" name="Text 183"/>
          <p:cNvSpPr txBox="1"/>
          <p:nvPr/>
        </p:nvSpPr>
        <p:spPr>
          <a:xfrm>
            <a:off x="10716768" y="4434302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$10.0K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87" name="Text 185"/>
          <p:cNvSpPr txBox="1"/>
          <p:nvPr/>
        </p:nvSpPr>
        <p:spPr>
          <a:xfrm>
            <a:off x="6565392" y="4682804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88" name="Shape 186"/>
          <p:cNvSpPr/>
          <p:nvPr/>
        </p:nvSpPr>
        <p:spPr>
          <a:xfrm>
            <a:off x="8421624" y="4738717"/>
            <a:ext cx="56293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89" name="Text 187"/>
          <p:cNvSpPr txBox="1"/>
          <p:nvPr/>
        </p:nvSpPr>
        <p:spPr>
          <a:xfrm>
            <a:off x="9052560" y="468280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$147K</a:t>
            </a:r>
            <a:endParaRPr lang="en-US" sz="1300" dirty="0"/>
          </a:p>
        </p:txBody>
      </p:sp>
      <p:sp>
        <p:nvSpPr>
          <p:cNvPr id="190" name="Text 188"/>
          <p:cNvSpPr txBox="1"/>
          <p:nvPr/>
        </p:nvSpPr>
        <p:spPr>
          <a:xfrm>
            <a:off x="9966960" y="468280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$15.2K</a:t>
            </a:r>
            <a:endParaRPr lang="en-US" sz="1300" dirty="0"/>
          </a:p>
        </p:txBody>
      </p:sp>
      <p:sp>
        <p:nvSpPr>
          <p:cNvPr id="191" name="Text 189"/>
          <p:cNvSpPr txBox="1"/>
          <p:nvPr/>
        </p:nvSpPr>
        <p:spPr>
          <a:xfrm>
            <a:off x="10716768" y="4682804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$16.0K</a:t>
            </a:r>
            <a:endParaRPr lang="en-US" sz="1300" dirty="0"/>
          </a:p>
        </p:txBody>
      </p:sp>
      <p:sp>
        <p:nvSpPr>
          <p:cNvPr id="192" name="Text 190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93" name="Text 191"/>
          <p:cNvSpPr txBox="1"/>
          <p:nvPr/>
        </p:nvSpPr>
        <p:spPr>
          <a:xfrm>
            <a:off x="6565392" y="4931305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94" name="Shape 192"/>
          <p:cNvSpPr/>
          <p:nvPr/>
        </p:nvSpPr>
        <p:spPr>
          <a:xfrm>
            <a:off x="8421624" y="4987218"/>
            <a:ext cx="40591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5" name="Text 193"/>
          <p:cNvSpPr txBox="1"/>
          <p:nvPr/>
        </p:nvSpPr>
        <p:spPr>
          <a:xfrm>
            <a:off x="9052560" y="4931305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$106K</a:t>
            </a:r>
            <a:endParaRPr lang="en-US" sz="1300" dirty="0"/>
          </a:p>
        </p:txBody>
      </p:sp>
      <p:sp>
        <p:nvSpPr>
          <p:cNvPr id="196" name="Text 194"/>
          <p:cNvSpPr txBox="1"/>
          <p:nvPr/>
        </p:nvSpPr>
        <p:spPr>
          <a:xfrm>
            <a:off x="9966960" y="4931305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$9.1K</a:t>
            </a:r>
            <a:endParaRPr lang="en-US" sz="1300" dirty="0"/>
          </a:p>
        </p:txBody>
      </p:sp>
      <p:sp>
        <p:nvSpPr>
          <p:cNvPr id="197" name="Text 195"/>
          <p:cNvSpPr txBox="1"/>
          <p:nvPr/>
        </p:nvSpPr>
        <p:spPr>
          <a:xfrm>
            <a:off x="10716768" y="4931305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$9.6K</a:t>
            </a:r>
            <a:endParaRPr lang="en-US" sz="1300" dirty="0"/>
          </a:p>
        </p:txBody>
      </p:sp>
      <p:sp>
        <p:nvSpPr>
          <p:cNvPr id="198" name="Text 196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99" name="Text 197"/>
          <p:cNvSpPr txBox="1"/>
          <p:nvPr/>
        </p:nvSpPr>
        <p:spPr>
          <a:xfrm>
            <a:off x="6565392" y="5179807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200" name="Shape 198"/>
          <p:cNvSpPr/>
          <p:nvPr/>
        </p:nvSpPr>
        <p:spPr>
          <a:xfrm>
            <a:off x="8421624" y="5235720"/>
            <a:ext cx="39145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01" name="Text 199"/>
          <p:cNvSpPr txBox="1"/>
          <p:nvPr/>
        </p:nvSpPr>
        <p:spPr>
          <a:xfrm>
            <a:off x="9052560" y="517980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$102K</a:t>
            </a:r>
            <a:endParaRPr lang="en-US" sz="1300" dirty="0"/>
          </a:p>
        </p:txBody>
      </p:sp>
      <p:sp>
        <p:nvSpPr>
          <p:cNvPr id="202" name="Text 200"/>
          <p:cNvSpPr txBox="1"/>
          <p:nvPr/>
        </p:nvSpPr>
        <p:spPr>
          <a:xfrm>
            <a:off x="9966960" y="517980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$11.6K</a:t>
            </a:r>
            <a:endParaRPr lang="en-US" sz="1300" dirty="0"/>
          </a:p>
        </p:txBody>
      </p:sp>
      <p:sp>
        <p:nvSpPr>
          <p:cNvPr id="203" name="Text 201"/>
          <p:cNvSpPr txBox="1"/>
          <p:nvPr/>
        </p:nvSpPr>
        <p:spPr>
          <a:xfrm>
            <a:off x="10716768" y="5179807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$12.2K</a:t>
            </a:r>
            <a:endParaRPr lang="en-US" sz="1300" dirty="0"/>
          </a:p>
        </p:txBody>
      </p:sp>
      <p:sp>
        <p:nvSpPr>
          <p:cNvPr id="204" name="Text 202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205" name="Text 203"/>
          <p:cNvSpPr txBox="1"/>
          <p:nvPr/>
        </p:nvSpPr>
        <p:spPr>
          <a:xfrm>
            <a:off x="6565392" y="5428309"/>
            <a:ext cx="1783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206" name="Shape 204"/>
          <p:cNvSpPr/>
          <p:nvPr/>
        </p:nvSpPr>
        <p:spPr>
          <a:xfrm>
            <a:off x="8421624" y="5484222"/>
            <a:ext cx="24682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07" name="Text 205"/>
          <p:cNvSpPr txBox="1"/>
          <p:nvPr/>
        </p:nvSpPr>
        <p:spPr>
          <a:xfrm>
            <a:off x="9052560" y="542830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$65K</a:t>
            </a:r>
            <a:endParaRPr lang="en-US" sz="1300" dirty="0"/>
          </a:p>
        </p:txBody>
      </p:sp>
      <p:sp>
        <p:nvSpPr>
          <p:cNvPr id="208" name="Text 206"/>
          <p:cNvSpPr txBox="1"/>
          <p:nvPr/>
        </p:nvSpPr>
        <p:spPr>
          <a:xfrm>
            <a:off x="9966960" y="542830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$9.9K</a:t>
            </a:r>
            <a:endParaRPr lang="en-US" sz="1300" dirty="0"/>
          </a:p>
        </p:txBody>
      </p:sp>
      <p:sp>
        <p:nvSpPr>
          <p:cNvPr id="209" name="Text 207"/>
          <p:cNvSpPr txBox="1"/>
          <p:nvPr/>
        </p:nvSpPr>
        <p:spPr>
          <a:xfrm>
            <a:off x="10716768" y="5428309"/>
            <a:ext cx="749808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$10.4K</a:t>
            </a:r>
            <a:endParaRPr lang="en-US" sz="1300" dirty="0"/>
          </a:p>
        </p:txBody>
      </p:sp>
      <p:sp>
        <p:nvSpPr>
          <p:cNvPr id="210" name="Shape 208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1" name="Shape 209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12" name="Text 210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 more gross from the people already on staff is worth $12,586,648 a year. For the average employee that is $681 more a month, about $27 a working day.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2026-10-26T20:23:58Z</dcterms:created>
  <dcterms:modified xsi:type="dcterms:W3CDTF">2026-10-26T20:23:58Z</dcterms:modified>
</cp:coreProperties>
</file>