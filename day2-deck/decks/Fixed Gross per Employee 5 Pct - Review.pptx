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Gross: Qlik - Productivity app, P&amp;L Total Gross Profit - Fixed Ops. Headcount: ADP Employee Master extract 10/19/2026 (rebuilt 2026-10-20; the Qlik headcount history undercounted). Fixed gross per fixed employee = gross / fixed employees, Jan-Sep 2026 monthly average. Same-store, INEOS excluded (opened 2026). GMC Prescott body shop gross and body shop staff excluded. Each store is measured against its own number: Target = today + 5%. Gross/yr = 5% x the store's gross per employee x its average fixed employees x 12 (the same staff producing 5% more). Per working day uses 307 days open a year (6 days a week less the 6 service holidays). Today and Target = fixed gross per fixed employee a month.Framing: every store is measured against itself, so an Audi store does not set a Lincoln store's target. 5% is roughly one more customer-pay RO a day for a small store, or a few tenths of an hour per RO.
TOYOTA HENDERSON: $14,174 today -&gt; $14,883 target per employee a month; 177.1 fixed employees; $1,506,225 a year
CHEVY LV: $12,042 today -&gt; $12,644 target per employee a month; 152.7 fixed employees; $1,103,005 a year
HONDA HENDERSON: $16,061 today -&gt; $16,864 target per employee a month; 99.8 fixed employees; $961,535 a year
AUDI HENDERSON: $23,461 today -&gt; $24,634 target per employee a month; 58.4 fixed employees; $822,684 a year
SUBARU LV: $12,874 today -&gt; $13,518 target per employee a month; 87.0 fixed employees; $672,026 a year
CADILLAC: $14,260 today -&gt; $14,973 target per employee a month; 74.8 fixed employees; $639,799 a year
HONDA NORTH: $14,604 today -&gt; $15,334 target per employee a month; 65.6 fixed employees; $574,425 a year
LR LV: $18,148 today -&gt; $19,056 target per employee a month; 40.4 fixed employees; $440,403 a year
KIA LV: $13,289 today -&gt; $13,954 target per employee a month; 51.4 fixed employees; $410,199 a year
TOYOTA SPOKANE: $11,128 today -&gt; $11,685 target per employee a month; 59.2 fixed employees; $395,423 a year
TOYOTA PRESCOTT: $11,044 today -&gt; $11,596 target per employee a month; 51.1 fixed employees; $338,685 a year
VW HENDERSON: $12,006 today -&gt; $12,606 target per employee a month; 44.3 fixed employees; $319,353 a year
NISSAN: $11,957 today -&gt; $12,555 target per employee a month; 44.4 fixed employees; $318,864 a year
CHEVY GMC BULLHEAD: $10,391 today -&gt; $10,911 target per employee a month; 48.4 fixed employees; $302,035 a year
TOYOTA FLAGSTAFF: $10,794 today -&gt; $11,333 target per employee a month; 46.0 fixed employees; $297,906 a year
AUDI RENO: $14,916 today -&gt; $15,662 target per employee a month; 33.2 fixed employees; $297,322 a year
HONDA SPOKANE: $12,871 today -&gt; $13,514 target per employee a month; 36.1 fixed employees; $278,863 a year
LEXUS: $16,919 today -&gt; $17,765 target per employee a month; 27.2 fixed employees; $276,346 a year
VOLVO: $18,549 today -&gt; $19,476 target per employee a month; 23.4 fixed employees; $260,917 a year
CDJR POST FALLS: $9,953 today -&gt; $10,450 target per employee a month; 39.7 fixed employees; $236,877 a year
SUBARU ST GEORGE: $15,556 today -&gt; $16,333 target per employee a month; 25.1 fixed employees; $234,372 a year
LR HENDERSON: $18,268 today -&gt; $19,182 target per employee a month; 20.8 fixed employees; $227,743 a year
MAZDA: $15,966 today -&gt; $16,765 target per employee a month; 23.0 fixed employees; $220,335 a year
LINCOLN: $10,963 today -&gt; $11,511 target per employee a month; 30.2 fixed employees; $198,802 a year
ACURA: $12,364 today -&gt; $12,982 target per employee a month; 26.0 fixed employees; $192,877 a year
SUBARU PRESCOTT: $12,501 today -&gt; $13,126 target per employee a month; 24.0 fixed employees; $180,016 a year
KIA ST GEORGE: $12,103 today -&gt; $12,709 target per employee a month; 21.4 fixed employees; $155,730 a year
HYUNDAI ST GEORGE: $11,541 today -&gt; $12,118 target per employee a month; 22.0 fixed employees; $152,344 a year
GMC PRESCOTT: $9,498 today -&gt; $9,973 target per employee a month; 26.6 fixed employees; $151,334 a year
LR RENO: $15,226 today -&gt; $15,988 target per employee a month; 16.1 fixed employees; $147,187 a year
HONDA FLAGSTAFF: $9,149 today -&gt; $9,607 target per employee a month; 19.3 fixed employees; $106,131 a year
HYUNDAI PRESCOTT: $11,631 today -&gt; $12,212 target per employee a month; 14.7 fixed employees; $102,351 a year
VW ST GEORGE: $9,878 today -&gt; $10,372 target per employee a month; 10.9 fixed employees; $64,535 a year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5% More per Employee Is Worth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456432" y="131673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370832" y="131673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120640" y="131673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006840" y="131673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921240" y="131673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671048" y="131673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70078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670048" y="1756697"/>
            <a:ext cx="73152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56432" y="170078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$1.51M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370832" y="170078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$14.2K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120640" y="170078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$14.9K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1949286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670048" y="2005199"/>
            <a:ext cx="53569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456432" y="194928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$1.10M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370832" y="194928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$12.0K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120640" y="194928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$12.6K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" y="219778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2670048" y="2253700"/>
            <a:ext cx="46698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456432" y="219778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$962K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370832" y="219778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$16.1K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120640" y="219778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$16.9K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44628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670048" y="2502202"/>
            <a:ext cx="39954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456432" y="244628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$823K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370832" y="244628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$23.5K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120640" y="244628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$24.6K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694791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670048" y="2750703"/>
            <a:ext cx="32637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456432" y="2694791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$672K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370832" y="2694791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$12.9K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5120640" y="2694791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$13.5K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58368" y="2943292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70048" y="2999205"/>
            <a:ext cx="31072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456432" y="294329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$640K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370832" y="294329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$14.3K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120640" y="294329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$15.0K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19179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70048" y="3247707"/>
            <a:ext cx="27897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456432" y="319179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$574K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4370832" y="319179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$14.6K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5120640" y="319179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$15.3K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3440296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2670048" y="3496208"/>
            <a:ext cx="21388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456432" y="344029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$440K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4370832" y="344029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$18.1K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5120640" y="344029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$19.1K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368879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2670048" y="3744710"/>
            <a:ext cx="19921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456432" y="368879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$410K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4370832" y="368879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$13.3K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5120640" y="368879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$14.0K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658368" y="393729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2670048" y="3993212"/>
            <a:ext cx="19204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456432" y="393729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$395K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4370832" y="393729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$11.1K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120640" y="393729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$11.7K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4185800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2670048" y="4241713"/>
            <a:ext cx="164487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3456432" y="4185800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$339K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4370832" y="418580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$11.0K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5120640" y="418580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$11.6K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4434302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2670048" y="4490215"/>
            <a:ext cx="15509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456432" y="443430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$319K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4370832" y="443430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$12.0K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5120640" y="443430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$12.6K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468280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73" name="Shape 71"/>
          <p:cNvSpPr/>
          <p:nvPr/>
        </p:nvSpPr>
        <p:spPr>
          <a:xfrm>
            <a:off x="2670048" y="4738717"/>
            <a:ext cx="15486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456432" y="468280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$319K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370832" y="468280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$12.0K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5120640" y="468280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$12.6K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58368" y="4931305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2670048" y="4987218"/>
            <a:ext cx="14668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3456432" y="4931305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$302K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4370832" y="4931305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$10.4K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120640" y="4931305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$10.9K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58368" y="517980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2670048" y="5235720"/>
            <a:ext cx="14468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456432" y="517980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$298K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4370832" y="517980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$10.8K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5120640" y="517980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$11.3K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58368" y="542830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2670048" y="5484222"/>
            <a:ext cx="14439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456432" y="542830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$297K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4370832" y="542830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$14.9K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5120640" y="542830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$15.7K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58368" y="5676810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93" name="Shape 91"/>
          <p:cNvSpPr/>
          <p:nvPr/>
        </p:nvSpPr>
        <p:spPr>
          <a:xfrm>
            <a:off x="2670048" y="5732723"/>
            <a:ext cx="13543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3456432" y="5676810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$279K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4370832" y="567681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$12.9K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5120640" y="567681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$13.5K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6208776" y="170078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8220456" y="1756697"/>
            <a:ext cx="13421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9006840" y="170078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$276K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9921240" y="170078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$16.9K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10671048" y="170078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$17.8K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208776" y="1949286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103" name="Shape 101"/>
          <p:cNvSpPr/>
          <p:nvPr/>
        </p:nvSpPr>
        <p:spPr>
          <a:xfrm>
            <a:off x="8220456" y="2005199"/>
            <a:ext cx="12671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006840" y="194928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$261K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9921240" y="194928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$18.5K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10671048" y="194928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$19.5K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219778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08" name="Shape 106"/>
          <p:cNvSpPr/>
          <p:nvPr/>
        </p:nvSpPr>
        <p:spPr>
          <a:xfrm>
            <a:off x="8220456" y="2253700"/>
            <a:ext cx="11504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9006840" y="219778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$237K</a:t>
            </a:r>
            <a:endParaRPr lang="en-US" sz="1300" dirty="0"/>
          </a:p>
        </p:txBody>
      </p:sp>
      <p:sp>
        <p:nvSpPr>
          <p:cNvPr id="110" name="Text 108"/>
          <p:cNvSpPr txBox="1"/>
          <p:nvPr/>
        </p:nvSpPr>
        <p:spPr>
          <a:xfrm>
            <a:off x="9921240" y="219778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$10.0K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10671048" y="219778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$10.5K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244628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113" name="Shape 111"/>
          <p:cNvSpPr/>
          <p:nvPr/>
        </p:nvSpPr>
        <p:spPr>
          <a:xfrm>
            <a:off x="8220456" y="2502202"/>
            <a:ext cx="11382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9006840" y="244628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$234K</a:t>
            </a:r>
            <a:endParaRPr lang="en-US" sz="1300" dirty="0"/>
          </a:p>
        </p:txBody>
      </p:sp>
      <p:sp>
        <p:nvSpPr>
          <p:cNvPr id="115" name="Text 113"/>
          <p:cNvSpPr txBox="1"/>
          <p:nvPr/>
        </p:nvSpPr>
        <p:spPr>
          <a:xfrm>
            <a:off x="9921240" y="244628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$15.6K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10671048" y="244628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$16.3K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6208776" y="2694791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18" name="Shape 116"/>
          <p:cNvSpPr/>
          <p:nvPr/>
        </p:nvSpPr>
        <p:spPr>
          <a:xfrm>
            <a:off x="8220456" y="2750703"/>
            <a:ext cx="110607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9006840" y="2694791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$228K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9921240" y="2694791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$18.3K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10671048" y="2694791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$19.2K</a:t>
            </a:r>
            <a:endParaRPr lang="en-US" sz="1300" dirty="0"/>
          </a:p>
        </p:txBody>
      </p:sp>
      <p:sp>
        <p:nvSpPr>
          <p:cNvPr id="122" name="Text 120"/>
          <p:cNvSpPr txBox="1"/>
          <p:nvPr/>
        </p:nvSpPr>
        <p:spPr>
          <a:xfrm>
            <a:off x="6208776" y="2943292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123" name="Shape 121"/>
          <p:cNvSpPr/>
          <p:nvPr/>
        </p:nvSpPr>
        <p:spPr>
          <a:xfrm>
            <a:off x="8220456" y="2999205"/>
            <a:ext cx="10700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9006840" y="294329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$220K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9921240" y="294329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$16.0K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10671048" y="294329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$16.8K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319179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128" name="Shape 126"/>
          <p:cNvSpPr/>
          <p:nvPr/>
        </p:nvSpPr>
        <p:spPr>
          <a:xfrm>
            <a:off x="8220456" y="3247707"/>
            <a:ext cx="9655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006840" y="319179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$199K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9921240" y="319179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$11.0K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671048" y="319179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$11.5K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3440296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33" name="Shape 131"/>
          <p:cNvSpPr/>
          <p:nvPr/>
        </p:nvSpPr>
        <p:spPr>
          <a:xfrm>
            <a:off x="8220456" y="3496208"/>
            <a:ext cx="9367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9006840" y="344029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$193K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9921240" y="344029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$12.4K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10671048" y="344029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$13.0K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6208776" y="368879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138" name="Shape 136"/>
          <p:cNvSpPr/>
          <p:nvPr/>
        </p:nvSpPr>
        <p:spPr>
          <a:xfrm>
            <a:off x="8220456" y="3744710"/>
            <a:ext cx="87427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9006840" y="368879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$180K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9921240" y="368879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$12.5K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10671048" y="368879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$13.1K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6208776" y="393729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43" name="Shape 141"/>
          <p:cNvSpPr/>
          <p:nvPr/>
        </p:nvSpPr>
        <p:spPr>
          <a:xfrm>
            <a:off x="8220456" y="3993212"/>
            <a:ext cx="7563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9006840" y="393729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$156K</a:t>
            </a:r>
            <a:endParaRPr lang="en-US" sz="1300" dirty="0"/>
          </a:p>
        </p:txBody>
      </p:sp>
      <p:sp>
        <p:nvSpPr>
          <p:cNvPr id="145" name="Text 143"/>
          <p:cNvSpPr txBox="1"/>
          <p:nvPr/>
        </p:nvSpPr>
        <p:spPr>
          <a:xfrm>
            <a:off x="9921240" y="393729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$12.1K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671048" y="393729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$12.7K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4185800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48" name="Shape 146"/>
          <p:cNvSpPr/>
          <p:nvPr/>
        </p:nvSpPr>
        <p:spPr>
          <a:xfrm>
            <a:off x="8220456" y="4241713"/>
            <a:ext cx="7398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9006840" y="4185800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$152K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9921240" y="418580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$11.5K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671048" y="418580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$12.1K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6208776" y="4434302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53" name="Shape 151"/>
          <p:cNvSpPr/>
          <p:nvPr/>
        </p:nvSpPr>
        <p:spPr>
          <a:xfrm>
            <a:off x="8220456" y="4490215"/>
            <a:ext cx="73497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4" name="Text 152"/>
          <p:cNvSpPr txBox="1"/>
          <p:nvPr/>
        </p:nvSpPr>
        <p:spPr>
          <a:xfrm>
            <a:off x="9006840" y="443430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$151K</a:t>
            </a:r>
            <a:endParaRPr lang="en-US" sz="1300" dirty="0"/>
          </a:p>
        </p:txBody>
      </p:sp>
      <p:sp>
        <p:nvSpPr>
          <p:cNvPr id="155" name="Text 153"/>
          <p:cNvSpPr txBox="1"/>
          <p:nvPr/>
        </p:nvSpPr>
        <p:spPr>
          <a:xfrm>
            <a:off x="9921240" y="443430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$9.5K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10671048" y="443430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$10.0K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6208776" y="468280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58" name="Shape 156"/>
          <p:cNvSpPr/>
          <p:nvPr/>
        </p:nvSpPr>
        <p:spPr>
          <a:xfrm>
            <a:off x="8220456" y="4738717"/>
            <a:ext cx="7148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9006840" y="468280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$147K</a:t>
            </a:r>
            <a:endParaRPr lang="en-US" sz="1300" dirty="0"/>
          </a:p>
        </p:txBody>
      </p:sp>
      <p:sp>
        <p:nvSpPr>
          <p:cNvPr id="160" name="Text 158"/>
          <p:cNvSpPr txBox="1"/>
          <p:nvPr/>
        </p:nvSpPr>
        <p:spPr>
          <a:xfrm>
            <a:off x="9921240" y="468280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$15.2K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10671048" y="468280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$16.0K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6208776" y="4931305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63" name="Shape 161"/>
          <p:cNvSpPr/>
          <p:nvPr/>
        </p:nvSpPr>
        <p:spPr>
          <a:xfrm>
            <a:off x="8220456" y="4987218"/>
            <a:ext cx="5154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9006840" y="4931305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$106K</a:t>
            </a:r>
            <a:endParaRPr lang="en-US" sz="1300" dirty="0"/>
          </a:p>
        </p:txBody>
      </p:sp>
      <p:sp>
        <p:nvSpPr>
          <p:cNvPr id="165" name="Text 163"/>
          <p:cNvSpPr txBox="1"/>
          <p:nvPr/>
        </p:nvSpPr>
        <p:spPr>
          <a:xfrm>
            <a:off x="9921240" y="4931305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$9.1K</a:t>
            </a:r>
            <a:endParaRPr lang="en-US" sz="1300" dirty="0"/>
          </a:p>
        </p:txBody>
      </p:sp>
      <p:sp>
        <p:nvSpPr>
          <p:cNvPr id="166" name="Text 164"/>
          <p:cNvSpPr txBox="1"/>
          <p:nvPr/>
        </p:nvSpPr>
        <p:spPr>
          <a:xfrm>
            <a:off x="10671048" y="4931305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$9.6K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6208776" y="517980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168" name="Shape 166"/>
          <p:cNvSpPr/>
          <p:nvPr/>
        </p:nvSpPr>
        <p:spPr>
          <a:xfrm>
            <a:off x="8220456" y="5235720"/>
            <a:ext cx="4970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9" name="Text 167"/>
          <p:cNvSpPr txBox="1"/>
          <p:nvPr/>
        </p:nvSpPr>
        <p:spPr>
          <a:xfrm>
            <a:off x="9006840" y="517980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$102K</a:t>
            </a:r>
            <a:endParaRPr lang="en-US" sz="1300" dirty="0"/>
          </a:p>
        </p:txBody>
      </p:sp>
      <p:sp>
        <p:nvSpPr>
          <p:cNvPr id="170" name="Text 168"/>
          <p:cNvSpPr txBox="1"/>
          <p:nvPr/>
        </p:nvSpPr>
        <p:spPr>
          <a:xfrm>
            <a:off x="9921240" y="517980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$11.6K</a:t>
            </a:r>
            <a:endParaRPr lang="en-US" sz="1300" dirty="0"/>
          </a:p>
        </p:txBody>
      </p:sp>
      <p:sp>
        <p:nvSpPr>
          <p:cNvPr id="171" name="Text 169"/>
          <p:cNvSpPr txBox="1"/>
          <p:nvPr/>
        </p:nvSpPr>
        <p:spPr>
          <a:xfrm>
            <a:off x="10671048" y="517980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$12.2K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6208776" y="542830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173" name="Shape 171"/>
          <p:cNvSpPr/>
          <p:nvPr/>
        </p:nvSpPr>
        <p:spPr>
          <a:xfrm>
            <a:off x="8220456" y="5484222"/>
            <a:ext cx="3134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4" name="Text 172"/>
          <p:cNvSpPr txBox="1"/>
          <p:nvPr/>
        </p:nvSpPr>
        <p:spPr>
          <a:xfrm>
            <a:off x="9006840" y="542830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$65K</a:t>
            </a:r>
            <a:endParaRPr lang="en-US" sz="1300" dirty="0"/>
          </a:p>
        </p:txBody>
      </p:sp>
      <p:sp>
        <p:nvSpPr>
          <p:cNvPr id="175" name="Text 173"/>
          <p:cNvSpPr txBox="1"/>
          <p:nvPr/>
        </p:nvSpPr>
        <p:spPr>
          <a:xfrm>
            <a:off x="9921240" y="542830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$9.9K</a:t>
            </a:r>
            <a:endParaRPr lang="en-US" sz="1300" dirty="0"/>
          </a:p>
        </p:txBody>
      </p:sp>
      <p:sp>
        <p:nvSpPr>
          <p:cNvPr id="176" name="Text 174"/>
          <p:cNvSpPr txBox="1"/>
          <p:nvPr/>
        </p:nvSpPr>
        <p:spPr>
          <a:xfrm>
            <a:off x="10671048" y="542830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$10.4K</a:t>
            </a:r>
            <a:endParaRPr lang="en-US" sz="1300" dirty="0"/>
          </a:p>
        </p:txBody>
      </p:sp>
      <p:sp>
        <p:nvSpPr>
          <p:cNvPr id="177" name="Shape 175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8" name="Text 176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5% more gross from the people already on staff is worth $12,586,648 a year. For the average employee that is $681 more a month, about $27 a working day.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2026-10-22T19:24:26Z</dcterms:created>
  <dcterms:modified xsi:type="dcterms:W3CDTF">2026-10-22T19:24:26Z</dcterms:modified>
</cp:coreProperties>
</file>