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Earlier</c:v>
                </c:pt>
              </c:strCache>
            </c:strRef>
          </c:tx>
          <c:spPr>
            <a:solidFill>
              <a:srgbClr val="9AA3AD"/>
            </a:solidFill>
            <a:effectLst/>
          </c:spPr>
          <c:invertIfNegative val="0"/>
          <c:dLbls>
            <c:numFmt formatCode="$0.0&quot;M&quot;;;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2021</c:v>
                  </c:pt>
                  <c:pt idx="1">
                    <c:v>2022</c:v>
                  </c:pt>
                  <c:pt idx="2">
                    <c:v>2023</c:v>
                  </c:pt>
                  <c:pt idx="3">
                    <c:v>2024</c:v>
                  </c:pt>
                  <c:pt idx="4">
                    <c:v>2025</c:v>
                  </c:pt>
                  <c:pt idx="5">
                    <c:v>2026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111.43</c:v>
                </c:pt>
                <c:pt idx="1">
                  <c:v>126.71</c:v>
                </c:pt>
                <c:pt idx="2">
                  <c:v>143.75</c:v>
                </c:pt>
                <c:pt idx="3">
                  <c:v>156.71</c:v>
                </c:pt>
                <c:pt idx="4">
                  <c:v>181.62</c:v>
                </c:pt>
                <c:pt idx="5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Latest</c:v>
                </c:pt>
              </c:strCache>
            </c:strRef>
          </c:tx>
          <c:spPr>
            <a:solidFill>
              <a:srgbClr val="2587C5"/>
            </a:solidFill>
            <a:effectLst/>
          </c:spPr>
          <c:invertIfNegative val="0"/>
          <c:dLbls>
            <c:numFmt formatCode="$0.0&quot;M&quot;;;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2021</c:v>
                  </c:pt>
                  <c:pt idx="1">
                    <c:v>2022</c:v>
                  </c:pt>
                  <c:pt idx="2">
                    <c:v>2023</c:v>
                  </c:pt>
                  <c:pt idx="3">
                    <c:v>2024</c:v>
                  </c:pt>
                  <c:pt idx="4">
                    <c:v>2025</c:v>
                  </c:pt>
                  <c:pt idx="5">
                    <c:v>2026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188.95</c:v>
                </c:pt>
              </c:numCache>
            </c:numRef>
          </c:val>
        </c:ser>
        <c:dLbls>
          <c:numFmt formatCode="$0.0&quot;M&quot;;;" sourceLinked="0"/>
          <c:txPr>
            <a:bodyPr/>
            <a:lstStyle/>
            <a:p>
              <a:pPr>
                <a:defRPr b="1" i="0" strike="noStrike" sz="1400" u="none">
                  <a:solidFill>
                    <a:srgbClr val="FFFFFF"/>
                  </a:solidFill>
                  <a:latin typeface="+mn-lt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1A1A1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Qlik - Fixed Ops Accounting TB (Family FIXED GROSS, service + parts, body shop excluded), pulled Oct 8 2026. History Jan 2021 - Sep 2026; months before a store opened are ignored. Same-store, INEOS excluded. Matches the P&amp;L for every store except GMC PRESCOTT service (TB higher by $153,746 Jan-Sep 2026, $286,430 Jan-Sep 2025; GMC PRESCOTT's combined record holds on both). Group = sum of 33 stores. TB group total differs from the P&amp;L figure used elsewhere in the deck ($188.80M) by the GMC PRESCOTT difference above.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Qlik - Fixed Ops Accounting TB (Family FIXED GROSS, service + parts, body shop excluded), pulled Oct 8 2026. History Jan 2021 - Sep 2026; months before a store opened are ignored. Same-store, INEOS excluded. Matches the P&amp;L for every store except GMC PRESCOTT service (TB higher by $153,746 Jan-Sep 2026, $286,430 Jan-Sep 2025; GMC PRESCOTT's combined record holds on both). Record = Jan-Sep 2026 above every prior Jan-Sep for that store. % = combined gain over the previous best Jan-Sep. Stores with shorter histories count the same: HONDA SPOKANE (from 2025), HYUNDAI PRESCOTT (from 2023), LR HENDERSON (from 2022), NISSAN (from 2024). Order: records in all three first, then by % 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Qlik - Fixed Ops Accounting TB (Family FIXED GROSS, service + parts, body shop excluded), pulled Oct 8 2026. History Jan 2021 - Sep 2026; months before a store opened are ignored. Same-store, INEOS excluded. Matches the P&amp;L for every store except GMC PRESCOTT service (TB higher by $153,746 Jan-Sep 2026, $286,430 Jan-Sep 2025; GMC PRESCOTT's combined record holds on both). Combined service + parts, Jan-Sep 2026 vs the store's best prior Jan-Sep.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Qlik - Fixed Ops Accounting TB (Family FIXED GROSS, service + parts, body shop excluded), pulled Oct 8 2026. History Jan 2021 - Sep 2026; months before a store opened are ignored. Same-store, INEOS excluded. Matches the P&amp;L for every store except GMC PRESCOTT service (TB higher by $153,746 Jan-Sep 2026, $286,430 Jan-Sep 2025; GMC PRESCOTT's combined record holds on both). Combined service + parts, Jan-Sep 2026 vs the store's best prior Jan-Sep.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Qlik - Fixed Ops Accounting TB (Family FIXED GROSS, service + parts, body shop excluded), pulled Oct 8 2026. History Jan 2021 - Sep 2026; months before a store opened are ignored. Same-store, INEOS excluded. Matches the P&amp;L for every store except GMC PRESCOTT service (TB higher by $153,746 Jan-Sep 2026, $286,430 Jan-Sep 2025; GMC PRESCOTT's combined record holds on both). Count of times a store set a new all-time monthly high in service, parts or combined gross, Jan-Sep 2026. Each new high counts, so a record beaten twice counts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Month each record was set, by store:
AUDI HENDERSON: parts record reset once (Jul); combined record reset twice (Apr, Jul).
CDJR POST FALLS: service record reset once (Jul); combined record reset once (Jul).
GMC PRESCOTT: parts record reset once (Apr); combined record reset once (Apr).
HONDA HENDERSON: service record reset 3 times (Mar, Jun, Jul); parts record reset once (Jul); combined record reset 3 times (Mar, Jun, Jul).
HONDA SPOKANE: service record reset 4 times (Mar, Apr, Jun, Jul); parts record reset once (Jul); combined record reset 4 times (Mar, Apr, Jun, Jul).
HYUNDAI PRESCOTT: service record reset twice (Mar, Jul); parts record reset once (Feb); combined record reset 3 times (Feb, Mar, Jul).
HYUNDAI ST GEORGE: service record reset 4 times (Jan, Mar, Jul, Sep).
KIA LV: service record reset once (Sep).
KIA ST GEORGE: service record reset twice (Apr, Jul); parts record reset once (Jul); combined record reset once (Jul).
LEXUS: service record reset twice (Mar, May); parts record reset once (May); combined record reset once (May).
LINCOLN: service record reset twice (Aug, Sep); parts record reset once (Mar); combined record reset 3 times (Mar, Aug, Sep).
LR HENDERSON: service record reset twice (Aug, Sep); parts record reset once (Jul); combined record reset once (Jul).
LR LV: service record reset once (Jul); combined record reset once (Jul).
LR RENO: service record reset once (Aug); combined record reset once (Aug).
MAZDA: service record reset twice (Aug, Sep); parts record reset once (Sep); combined record reset twice (Aug, Sep).
NISSAN: service record reset 3 times (Mar, Jun, Sep); parts record reset twice (Jun, Jul); combined record reset 4 times (Mar, Jun, Jul, Sep).
SUBARU PRESCOTT: combined record reset once (Apr).
SUBARU ST GEORGE: service record reset twice (Jan, Mar); parts record reset 3 times (Mar, Apr, Jun); combined record reset twice (Mar, Jun).
TOYOTA FLAGSTAFF: service record reset 3 times (Mar, Apr, May); combined record reset once (Mar).
TOYOTA HENDERSON: service record reset twice (Apr, Jul); parts record reset 3 times (Jun, Aug, Sep); combined record reset 3 times (Apr, Jun, Jul).
TOYOTA PRESCOTT: service record reset twice (Mar, Apr); parts record reset once (Apr); combined record reset once (Apr).
TOYOTA SPOKANE: service record reset once (Jul); combined record reset once (Jul).
VOLVO: service record reset twice (Apr, Jun).
Source: Qlik - Fixed Ops Accounting TB (Family FIXED GROSS, service + parts, body shop excluded), pulled Oct 8 2026. History Jan 2021 - Sep 2026; months before a store opened are ignored. Same-store, INEOS excluded. Matches the P&amp;L for every store except GMC PRESCOTT service (TB higher by $153,746 Jan-Sep 2026, $286,430 Jan-Sep 2025; GMC PRESCOTT's combined record holds on both). Count of times a store set a new all-time monthly high, Jan-Sep 2026. SVC = service gross, PTS = parts gross, TOT = service + parts combined. Each new high counts, so a record beaten twice counts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 RECORDS · A RECORD YEAR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Gross Profit - Fixed Ops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7589520" cy="47823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344168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fixed gross, January–September, by year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1691640"/>
            <a:ext cx="7132320" cy="10973"/>
          </a:xfrm>
          <a:prstGeom prst="rect">
            <a:avLst/>
          </a:prstGeom>
          <a:solidFill>
            <a:srgbClr val="1A1A1A"/>
          </a:solidFill>
          <a:ln/>
        </p:spPr>
      </p:sp>
      <p:graphicFrame>
        <p:nvGraphicFramePr>
          <p:cNvPr id="8" name="Chart 0" descr=""/>
          <p:cNvGraphicFramePr/>
          <p:nvPr/>
        </p:nvGraphicFramePr>
        <p:xfrm>
          <a:off x="621792" y="1810512"/>
          <a:ext cx="7269480" cy="405079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8229600" y="1207008"/>
            <a:ext cx="3502152" cy="47823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458200" y="1344168"/>
            <a:ext cx="3044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it says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8458200" y="1691640"/>
            <a:ext cx="3044952" cy="1097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2" name="Shape 9"/>
          <p:cNvSpPr/>
          <p:nvPr/>
        </p:nvSpPr>
        <p:spPr>
          <a:xfrm>
            <a:off x="8458200" y="1938528"/>
            <a:ext cx="100584" cy="100584"/>
          </a:xfrm>
          <a:prstGeom prst="ellipse">
            <a:avLst/>
          </a:prstGeom>
          <a:solidFill>
            <a:srgbClr val="2587C5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705088" y="1810512"/>
            <a:ext cx="2834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587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Best month ever: July 2026, $22.73M.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8458200" y="3072384"/>
            <a:ext cx="100584" cy="100584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705088" y="2944368"/>
            <a:ext cx="2834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of the group's 7 best months came in 2026.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8458200" y="4206240"/>
            <a:ext cx="100584" cy="100584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705088" y="4078224"/>
            <a:ext cx="2834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 of 33 stores had their best January–September ever.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457200" y="6126480"/>
            <a:ext cx="11274552" cy="371856"/>
          </a:xfrm>
          <a:prstGeom prst="rect">
            <a:avLst/>
          </a:prstGeom>
          <a:solidFill>
            <a:srgbClr val="E6F6EE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58368" y="6144768"/>
            <a:ext cx="1092708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January–September fixed gross has grown every year since 2021, to $188.95M in 2026.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 RECORDS · RECORD BOARD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Best January–September Ever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47823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642616" y="1316736"/>
            <a:ext cx="585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SVC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227832" y="1316736"/>
            <a:ext cx="585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PTS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813048" y="1316736"/>
            <a:ext cx="585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398264" y="1316736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JAN–SEP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239512" y="1316736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VS BEST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193024" y="1316736"/>
            <a:ext cx="585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SVC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778240" y="1316736"/>
            <a:ext cx="585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PTS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363456" y="1316736"/>
            <a:ext cx="585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9948672" y="1316736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JAN–SEP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789920" y="1316736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VS BEST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58368" y="1700784"/>
            <a:ext cx="1984248" cy="32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PRESCOTT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857500" y="1785542"/>
            <a:ext cx="155448" cy="155448"/>
          </a:xfrm>
          <a:prstGeom prst="ellipse">
            <a:avLst/>
          </a:prstGeom>
          <a:solidFill>
            <a:srgbClr val="12A566"/>
          </a:solidFill>
          <a:ln w="12700">
            <a:solidFill>
              <a:srgbClr val="12A56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42716" y="1785542"/>
            <a:ext cx="155448" cy="155448"/>
          </a:xfrm>
          <a:prstGeom prst="ellipse">
            <a:avLst/>
          </a:prstGeom>
          <a:solidFill>
            <a:srgbClr val="12A566"/>
          </a:solidFill>
          <a:ln w="12700">
            <a:solidFill>
              <a:srgbClr val="12A56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027932" y="1785542"/>
            <a:ext cx="155448" cy="155448"/>
          </a:xfrm>
          <a:prstGeom prst="ellipse">
            <a:avLst/>
          </a:prstGeom>
          <a:solidFill>
            <a:srgbClr val="12A566"/>
          </a:solidFill>
          <a:ln w="12700">
            <a:solidFill>
              <a:srgbClr val="12A56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398264" y="1700784"/>
            <a:ext cx="841248" cy="32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$1.54M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239512" y="1700784"/>
            <a:ext cx="786384" cy="32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+35.7%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85216" y="2025748"/>
            <a:ext cx="5486400" cy="32496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58368" y="2025748"/>
            <a:ext cx="1984248" cy="32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LINCOLN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857500" y="2110506"/>
            <a:ext cx="155448" cy="155448"/>
          </a:xfrm>
          <a:prstGeom prst="ellipse">
            <a:avLst/>
          </a:prstGeom>
          <a:solidFill>
            <a:srgbClr val="12A566"/>
          </a:solidFill>
          <a:ln w="12700">
            <a:solidFill>
              <a:srgbClr val="12A56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42716" y="2110506"/>
            <a:ext cx="155448" cy="155448"/>
          </a:xfrm>
          <a:prstGeom prst="ellipse">
            <a:avLst/>
          </a:prstGeom>
          <a:solidFill>
            <a:srgbClr val="12A566"/>
          </a:solidFill>
          <a:ln w="12700">
            <a:solidFill>
              <a:srgbClr val="12A56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027932" y="2110506"/>
            <a:ext cx="155448" cy="155448"/>
          </a:xfrm>
          <a:prstGeom prst="ellipse">
            <a:avLst/>
          </a:prstGeom>
          <a:solidFill>
            <a:srgbClr val="12A566"/>
          </a:solidFill>
          <a:ln w="12700">
            <a:solidFill>
              <a:srgbClr val="12A56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398264" y="2025748"/>
            <a:ext cx="841248" cy="32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$2.98M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5239512" y="2025748"/>
            <a:ext cx="786384" cy="32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+31.6%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58368" y="2350711"/>
            <a:ext cx="1984248" cy="32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LEXUS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857500" y="2435469"/>
            <a:ext cx="155448" cy="155448"/>
          </a:xfrm>
          <a:prstGeom prst="ellipse">
            <a:avLst/>
          </a:prstGeom>
          <a:solidFill>
            <a:srgbClr val="12A566"/>
          </a:solidFill>
          <a:ln w="12700">
            <a:solidFill>
              <a:srgbClr val="12A56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442716" y="2435469"/>
            <a:ext cx="155448" cy="155448"/>
          </a:xfrm>
          <a:prstGeom prst="ellipse">
            <a:avLst/>
          </a:prstGeom>
          <a:solidFill>
            <a:srgbClr val="12A566"/>
          </a:solidFill>
          <a:ln w="12700">
            <a:solidFill>
              <a:srgbClr val="12A56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027932" y="2435469"/>
            <a:ext cx="155448" cy="155448"/>
          </a:xfrm>
          <a:prstGeom prst="ellipse">
            <a:avLst/>
          </a:prstGeom>
          <a:solidFill>
            <a:srgbClr val="12A566"/>
          </a:solidFill>
          <a:ln w="12700">
            <a:solidFill>
              <a:srgbClr val="12A56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398264" y="2350711"/>
            <a:ext cx="841248" cy="32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$4.15M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5239512" y="2350711"/>
            <a:ext cx="786384" cy="32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+22.5%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85216" y="2675675"/>
            <a:ext cx="5486400" cy="32496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58368" y="2675675"/>
            <a:ext cx="1984248" cy="32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HENDERSON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2857500" y="2760433"/>
            <a:ext cx="155448" cy="155448"/>
          </a:xfrm>
          <a:prstGeom prst="ellipse">
            <a:avLst/>
          </a:prstGeom>
          <a:solidFill>
            <a:srgbClr val="12A566"/>
          </a:solidFill>
          <a:ln w="12700">
            <a:solidFill>
              <a:srgbClr val="12A56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442716" y="2760433"/>
            <a:ext cx="155448" cy="155448"/>
          </a:xfrm>
          <a:prstGeom prst="ellipse">
            <a:avLst/>
          </a:prstGeom>
          <a:solidFill>
            <a:srgbClr val="12A566"/>
          </a:solidFill>
          <a:ln w="12700">
            <a:solidFill>
              <a:srgbClr val="12A56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027932" y="2760433"/>
            <a:ext cx="155448" cy="155448"/>
          </a:xfrm>
          <a:prstGeom prst="ellipse">
            <a:avLst/>
          </a:prstGeom>
          <a:solidFill>
            <a:srgbClr val="12A566"/>
          </a:solidFill>
          <a:ln w="12700">
            <a:solidFill>
              <a:srgbClr val="12A566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398264" y="2675675"/>
            <a:ext cx="841248" cy="32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$12.34M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5239512" y="2675675"/>
            <a:ext cx="786384" cy="32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+16.0%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658368" y="3000639"/>
            <a:ext cx="1984248" cy="32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PRESCOTT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2857500" y="3085397"/>
            <a:ext cx="155448" cy="155448"/>
          </a:xfrm>
          <a:prstGeom prst="ellipse">
            <a:avLst/>
          </a:prstGeom>
          <a:solidFill>
            <a:srgbClr val="12A566"/>
          </a:solidFill>
          <a:ln w="12700">
            <a:solidFill>
              <a:srgbClr val="12A56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442716" y="3085397"/>
            <a:ext cx="155448" cy="155448"/>
          </a:xfrm>
          <a:prstGeom prst="ellipse">
            <a:avLst/>
          </a:prstGeom>
          <a:solidFill>
            <a:srgbClr val="12A566"/>
          </a:solidFill>
          <a:ln w="12700">
            <a:solidFill>
              <a:srgbClr val="12A56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027932" y="3085397"/>
            <a:ext cx="155448" cy="155448"/>
          </a:xfrm>
          <a:prstGeom prst="ellipse">
            <a:avLst/>
          </a:prstGeom>
          <a:solidFill>
            <a:srgbClr val="12A566"/>
          </a:solidFill>
          <a:ln w="12700">
            <a:solidFill>
              <a:srgbClr val="12A566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4398264" y="3000639"/>
            <a:ext cx="841248" cy="32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$2.70M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5239512" y="3000639"/>
            <a:ext cx="786384" cy="32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+15.7%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585216" y="3325602"/>
            <a:ext cx="5486400" cy="32496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658368" y="3325602"/>
            <a:ext cx="1984248" cy="32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ST GEORGE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2857500" y="3410360"/>
            <a:ext cx="155448" cy="155448"/>
          </a:xfrm>
          <a:prstGeom prst="ellipse">
            <a:avLst/>
          </a:prstGeom>
          <a:solidFill>
            <a:srgbClr val="12A566"/>
          </a:solidFill>
          <a:ln w="12700">
            <a:solidFill>
              <a:srgbClr val="12A56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442716" y="3410360"/>
            <a:ext cx="155448" cy="155448"/>
          </a:xfrm>
          <a:prstGeom prst="ellipse">
            <a:avLst/>
          </a:prstGeom>
          <a:solidFill>
            <a:srgbClr val="12A566"/>
          </a:solidFill>
          <a:ln w="12700">
            <a:solidFill>
              <a:srgbClr val="12A56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027932" y="3410360"/>
            <a:ext cx="155448" cy="155448"/>
          </a:xfrm>
          <a:prstGeom prst="ellipse">
            <a:avLst/>
          </a:prstGeom>
          <a:solidFill>
            <a:srgbClr val="12A566"/>
          </a:solidFill>
          <a:ln w="12700">
            <a:solidFill>
              <a:srgbClr val="12A566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4398264" y="3325602"/>
            <a:ext cx="841248" cy="32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$3.52M</a:t>
            </a:r>
            <a:endParaRPr lang="en-US" sz="1300" dirty="0"/>
          </a:p>
        </p:txBody>
      </p:sp>
      <p:sp>
        <p:nvSpPr>
          <p:cNvPr id="54" name="Text 52"/>
          <p:cNvSpPr txBox="1"/>
          <p:nvPr/>
        </p:nvSpPr>
        <p:spPr>
          <a:xfrm>
            <a:off x="5239512" y="3325602"/>
            <a:ext cx="786384" cy="32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+15.5%</a:t>
            </a:r>
            <a:endParaRPr lang="en-US" sz="1300" dirty="0"/>
          </a:p>
        </p:txBody>
      </p:sp>
      <p:sp>
        <p:nvSpPr>
          <p:cNvPr id="55" name="Text 53"/>
          <p:cNvSpPr txBox="1"/>
          <p:nvPr/>
        </p:nvSpPr>
        <p:spPr>
          <a:xfrm>
            <a:off x="658368" y="3650566"/>
            <a:ext cx="1984248" cy="32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FLAGSTAFF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2857500" y="3735324"/>
            <a:ext cx="155448" cy="155448"/>
          </a:xfrm>
          <a:prstGeom prst="ellipse">
            <a:avLst/>
          </a:prstGeom>
          <a:solidFill>
            <a:srgbClr val="12A566"/>
          </a:solidFill>
          <a:ln w="12700">
            <a:solidFill>
              <a:srgbClr val="12A56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442716" y="3735324"/>
            <a:ext cx="155448" cy="155448"/>
          </a:xfrm>
          <a:prstGeom prst="ellipse">
            <a:avLst/>
          </a:prstGeom>
          <a:solidFill>
            <a:srgbClr val="12A566"/>
          </a:solidFill>
          <a:ln w="12700">
            <a:solidFill>
              <a:srgbClr val="12A56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027932" y="3735324"/>
            <a:ext cx="155448" cy="155448"/>
          </a:xfrm>
          <a:prstGeom prst="ellipse">
            <a:avLst/>
          </a:prstGeom>
          <a:solidFill>
            <a:srgbClr val="12A566"/>
          </a:solidFill>
          <a:ln w="12700">
            <a:solidFill>
              <a:srgbClr val="12A566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4398264" y="3650566"/>
            <a:ext cx="841248" cy="32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$4.47M</a:t>
            </a:r>
            <a:endParaRPr lang="en-US" sz="1300" dirty="0"/>
          </a:p>
        </p:txBody>
      </p:sp>
      <p:sp>
        <p:nvSpPr>
          <p:cNvPr id="60" name="Text 58"/>
          <p:cNvSpPr txBox="1"/>
          <p:nvPr/>
        </p:nvSpPr>
        <p:spPr>
          <a:xfrm>
            <a:off x="5239512" y="3650566"/>
            <a:ext cx="786384" cy="32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+10.4%</a:t>
            </a:r>
            <a:endParaRPr lang="en-US" sz="1300" dirty="0"/>
          </a:p>
        </p:txBody>
      </p:sp>
      <p:sp>
        <p:nvSpPr>
          <p:cNvPr id="61" name="Shape 59"/>
          <p:cNvSpPr/>
          <p:nvPr/>
        </p:nvSpPr>
        <p:spPr>
          <a:xfrm>
            <a:off x="585216" y="3975530"/>
            <a:ext cx="5486400" cy="32496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62" name="Text 60"/>
          <p:cNvSpPr txBox="1"/>
          <p:nvPr/>
        </p:nvSpPr>
        <p:spPr>
          <a:xfrm>
            <a:off x="658368" y="3975530"/>
            <a:ext cx="1984248" cy="32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NISSAN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2857500" y="4060288"/>
            <a:ext cx="155448" cy="155448"/>
          </a:xfrm>
          <a:prstGeom prst="ellipse">
            <a:avLst/>
          </a:prstGeom>
          <a:solidFill>
            <a:srgbClr val="12A566"/>
          </a:solidFill>
          <a:ln w="12700">
            <a:solidFill>
              <a:srgbClr val="12A56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3442716" y="4060288"/>
            <a:ext cx="155448" cy="155448"/>
          </a:xfrm>
          <a:prstGeom prst="ellipse">
            <a:avLst/>
          </a:prstGeom>
          <a:solidFill>
            <a:srgbClr val="12A566"/>
          </a:solidFill>
          <a:ln w="12700">
            <a:solidFill>
              <a:srgbClr val="12A566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027932" y="4060288"/>
            <a:ext cx="155448" cy="155448"/>
          </a:xfrm>
          <a:prstGeom prst="ellipse">
            <a:avLst/>
          </a:prstGeom>
          <a:solidFill>
            <a:srgbClr val="12A566"/>
          </a:solidFill>
          <a:ln w="12700">
            <a:solidFill>
              <a:srgbClr val="12A566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4398264" y="3975530"/>
            <a:ext cx="841248" cy="32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$4.78M</a:t>
            </a:r>
            <a:endParaRPr lang="en-US" sz="1300" dirty="0"/>
          </a:p>
        </p:txBody>
      </p:sp>
      <p:sp>
        <p:nvSpPr>
          <p:cNvPr id="67" name="Text 65"/>
          <p:cNvSpPr txBox="1"/>
          <p:nvPr/>
        </p:nvSpPr>
        <p:spPr>
          <a:xfrm>
            <a:off x="5239512" y="3975530"/>
            <a:ext cx="786384" cy="32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+10.2%</a:t>
            </a:r>
            <a:endParaRPr lang="en-US" sz="1300" dirty="0"/>
          </a:p>
        </p:txBody>
      </p:sp>
      <p:sp>
        <p:nvSpPr>
          <p:cNvPr id="68" name="Text 66"/>
          <p:cNvSpPr txBox="1"/>
          <p:nvPr/>
        </p:nvSpPr>
        <p:spPr>
          <a:xfrm>
            <a:off x="658368" y="4300494"/>
            <a:ext cx="1984248" cy="32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ST GEORGE</a:t>
            </a:r>
            <a:endParaRPr lang="en-US" sz="1300" dirty="0"/>
          </a:p>
        </p:txBody>
      </p:sp>
      <p:sp>
        <p:nvSpPr>
          <p:cNvPr id="69" name="Shape 67"/>
          <p:cNvSpPr/>
          <p:nvPr/>
        </p:nvSpPr>
        <p:spPr>
          <a:xfrm>
            <a:off x="2857500" y="4385251"/>
            <a:ext cx="155448" cy="155448"/>
          </a:xfrm>
          <a:prstGeom prst="ellipse">
            <a:avLst/>
          </a:prstGeom>
          <a:solidFill>
            <a:srgbClr val="12A566"/>
          </a:solidFill>
          <a:ln w="12700">
            <a:solidFill>
              <a:srgbClr val="12A566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3442716" y="4385251"/>
            <a:ext cx="155448" cy="155448"/>
          </a:xfrm>
          <a:prstGeom prst="ellipse">
            <a:avLst/>
          </a:prstGeom>
          <a:solidFill>
            <a:srgbClr val="12A566"/>
          </a:solidFill>
          <a:ln w="12700">
            <a:solidFill>
              <a:srgbClr val="12A566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027932" y="4385251"/>
            <a:ext cx="155448" cy="155448"/>
          </a:xfrm>
          <a:prstGeom prst="ellipse">
            <a:avLst/>
          </a:prstGeom>
          <a:solidFill>
            <a:srgbClr val="12A566"/>
          </a:solidFill>
          <a:ln w="12700">
            <a:solidFill>
              <a:srgbClr val="12A566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4398264" y="4300494"/>
            <a:ext cx="841248" cy="32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$2.34M</a:t>
            </a:r>
            <a:endParaRPr lang="en-US" sz="1300" dirty="0"/>
          </a:p>
        </p:txBody>
      </p:sp>
      <p:sp>
        <p:nvSpPr>
          <p:cNvPr id="73" name="Text 71"/>
          <p:cNvSpPr txBox="1"/>
          <p:nvPr/>
        </p:nvSpPr>
        <p:spPr>
          <a:xfrm>
            <a:off x="5239512" y="4300494"/>
            <a:ext cx="786384" cy="32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+10.1%</a:t>
            </a:r>
            <a:endParaRPr lang="en-US" sz="1300" dirty="0"/>
          </a:p>
        </p:txBody>
      </p:sp>
      <p:sp>
        <p:nvSpPr>
          <p:cNvPr id="74" name="Shape 72"/>
          <p:cNvSpPr/>
          <p:nvPr/>
        </p:nvSpPr>
        <p:spPr>
          <a:xfrm>
            <a:off x="585216" y="4625457"/>
            <a:ext cx="5486400" cy="32496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75" name="Text 73"/>
          <p:cNvSpPr txBox="1"/>
          <p:nvPr/>
        </p:nvSpPr>
        <p:spPr>
          <a:xfrm>
            <a:off x="658368" y="4625457"/>
            <a:ext cx="1984248" cy="32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HENDERSON</a:t>
            </a:r>
            <a:endParaRPr lang="en-US" sz="1300" dirty="0"/>
          </a:p>
        </p:txBody>
      </p:sp>
      <p:sp>
        <p:nvSpPr>
          <p:cNvPr id="76" name="Shape 74"/>
          <p:cNvSpPr/>
          <p:nvPr/>
        </p:nvSpPr>
        <p:spPr>
          <a:xfrm>
            <a:off x="2857500" y="4710215"/>
            <a:ext cx="155448" cy="155448"/>
          </a:xfrm>
          <a:prstGeom prst="ellipse">
            <a:avLst/>
          </a:prstGeom>
          <a:solidFill>
            <a:srgbClr val="12A566"/>
          </a:solidFill>
          <a:ln w="12700">
            <a:solidFill>
              <a:srgbClr val="12A566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442716" y="4710215"/>
            <a:ext cx="155448" cy="155448"/>
          </a:xfrm>
          <a:prstGeom prst="ellipse">
            <a:avLst/>
          </a:prstGeom>
          <a:solidFill>
            <a:srgbClr val="12A566"/>
          </a:solidFill>
          <a:ln w="12700">
            <a:solidFill>
              <a:srgbClr val="12A566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027932" y="4710215"/>
            <a:ext cx="155448" cy="155448"/>
          </a:xfrm>
          <a:prstGeom prst="ellipse">
            <a:avLst/>
          </a:prstGeom>
          <a:solidFill>
            <a:srgbClr val="12A566"/>
          </a:solidFill>
          <a:ln w="12700">
            <a:solidFill>
              <a:srgbClr val="12A566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4398264" y="4625457"/>
            <a:ext cx="841248" cy="32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$22.59M</a:t>
            </a:r>
            <a:endParaRPr lang="en-US" sz="1300" dirty="0"/>
          </a:p>
        </p:txBody>
      </p:sp>
      <p:sp>
        <p:nvSpPr>
          <p:cNvPr id="80" name="Text 78"/>
          <p:cNvSpPr txBox="1"/>
          <p:nvPr/>
        </p:nvSpPr>
        <p:spPr>
          <a:xfrm>
            <a:off x="5239512" y="4625457"/>
            <a:ext cx="786384" cy="32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+8.5%</a:t>
            </a:r>
            <a:endParaRPr lang="en-US" sz="1300" dirty="0"/>
          </a:p>
        </p:txBody>
      </p:sp>
      <p:sp>
        <p:nvSpPr>
          <p:cNvPr id="81" name="Text 79"/>
          <p:cNvSpPr txBox="1"/>
          <p:nvPr/>
        </p:nvSpPr>
        <p:spPr>
          <a:xfrm>
            <a:off x="658368" y="4950421"/>
            <a:ext cx="1984248" cy="32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HENDERSON</a:t>
            </a:r>
            <a:endParaRPr lang="en-US" sz="1300" dirty="0"/>
          </a:p>
        </p:txBody>
      </p:sp>
      <p:sp>
        <p:nvSpPr>
          <p:cNvPr id="82" name="Shape 80"/>
          <p:cNvSpPr/>
          <p:nvPr/>
        </p:nvSpPr>
        <p:spPr>
          <a:xfrm>
            <a:off x="2857500" y="5035179"/>
            <a:ext cx="155448" cy="155448"/>
          </a:xfrm>
          <a:prstGeom prst="ellipse">
            <a:avLst/>
          </a:prstGeom>
          <a:solidFill>
            <a:srgbClr val="12A566"/>
          </a:solidFill>
          <a:ln w="12700">
            <a:solidFill>
              <a:srgbClr val="12A566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3442716" y="5035179"/>
            <a:ext cx="155448" cy="155448"/>
          </a:xfrm>
          <a:prstGeom prst="ellipse">
            <a:avLst/>
          </a:prstGeom>
          <a:solidFill>
            <a:srgbClr val="12A566"/>
          </a:solidFill>
          <a:ln w="12700">
            <a:solidFill>
              <a:srgbClr val="12A566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4027932" y="5035179"/>
            <a:ext cx="155448" cy="155448"/>
          </a:xfrm>
          <a:prstGeom prst="ellipse">
            <a:avLst/>
          </a:prstGeom>
          <a:solidFill>
            <a:srgbClr val="12A566"/>
          </a:solidFill>
          <a:ln w="12700">
            <a:solidFill>
              <a:srgbClr val="12A566"/>
            </a:solidFill>
            <a:prstDash val="solid"/>
          </a:ln>
        </p:spPr>
      </p:sp>
      <p:sp>
        <p:nvSpPr>
          <p:cNvPr id="85" name="Text 83"/>
          <p:cNvSpPr txBox="1"/>
          <p:nvPr/>
        </p:nvSpPr>
        <p:spPr>
          <a:xfrm>
            <a:off x="4398264" y="4950421"/>
            <a:ext cx="841248" cy="32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$14.42M</a:t>
            </a:r>
            <a:endParaRPr lang="en-US" sz="1300" dirty="0"/>
          </a:p>
        </p:txBody>
      </p:sp>
      <p:sp>
        <p:nvSpPr>
          <p:cNvPr id="86" name="Text 84"/>
          <p:cNvSpPr txBox="1"/>
          <p:nvPr/>
        </p:nvSpPr>
        <p:spPr>
          <a:xfrm>
            <a:off x="5239512" y="4950421"/>
            <a:ext cx="786384" cy="32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+4.2%</a:t>
            </a:r>
            <a:endParaRPr lang="en-US" sz="1300" dirty="0"/>
          </a:p>
        </p:txBody>
      </p:sp>
      <p:sp>
        <p:nvSpPr>
          <p:cNvPr id="87" name="Shape 85"/>
          <p:cNvSpPr/>
          <p:nvPr/>
        </p:nvSpPr>
        <p:spPr>
          <a:xfrm>
            <a:off x="585216" y="5275385"/>
            <a:ext cx="5486400" cy="32496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88" name="Text 86"/>
          <p:cNvSpPr txBox="1"/>
          <p:nvPr/>
        </p:nvSpPr>
        <p:spPr>
          <a:xfrm>
            <a:off x="658368" y="5275385"/>
            <a:ext cx="1984248" cy="32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MAZDA</a:t>
            </a:r>
            <a:endParaRPr lang="en-US" sz="1300" dirty="0"/>
          </a:p>
        </p:txBody>
      </p:sp>
      <p:sp>
        <p:nvSpPr>
          <p:cNvPr id="89" name="Shape 87"/>
          <p:cNvSpPr/>
          <p:nvPr/>
        </p:nvSpPr>
        <p:spPr>
          <a:xfrm>
            <a:off x="2857500" y="5360142"/>
            <a:ext cx="155448" cy="155448"/>
          </a:xfrm>
          <a:prstGeom prst="ellipse">
            <a:avLst/>
          </a:prstGeom>
          <a:solidFill>
            <a:srgbClr val="12A566"/>
          </a:solidFill>
          <a:ln w="12700">
            <a:solidFill>
              <a:srgbClr val="12A566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3442716" y="5360142"/>
            <a:ext cx="155448" cy="155448"/>
          </a:xfrm>
          <a:prstGeom prst="ellipse">
            <a:avLst/>
          </a:prstGeom>
          <a:solidFill>
            <a:srgbClr val="12A566"/>
          </a:solidFill>
          <a:ln w="12700">
            <a:solidFill>
              <a:srgbClr val="12A566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4027932" y="5360142"/>
            <a:ext cx="155448" cy="155448"/>
          </a:xfrm>
          <a:prstGeom prst="ellipse">
            <a:avLst/>
          </a:prstGeom>
          <a:solidFill>
            <a:srgbClr val="12A566"/>
          </a:solidFill>
          <a:ln w="12700">
            <a:solidFill>
              <a:srgbClr val="12A566"/>
            </a:solidFill>
            <a:prstDash val="solid"/>
          </a:ln>
        </p:spPr>
      </p:sp>
      <p:sp>
        <p:nvSpPr>
          <p:cNvPr id="92" name="Text 90"/>
          <p:cNvSpPr txBox="1"/>
          <p:nvPr/>
        </p:nvSpPr>
        <p:spPr>
          <a:xfrm>
            <a:off x="4398264" y="5275385"/>
            <a:ext cx="841248" cy="32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$3.31M</a:t>
            </a:r>
            <a:endParaRPr lang="en-US" sz="1300" dirty="0"/>
          </a:p>
        </p:txBody>
      </p:sp>
      <p:sp>
        <p:nvSpPr>
          <p:cNvPr id="93" name="Text 91"/>
          <p:cNvSpPr txBox="1"/>
          <p:nvPr/>
        </p:nvSpPr>
        <p:spPr>
          <a:xfrm>
            <a:off x="5239512" y="5275385"/>
            <a:ext cx="786384" cy="32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+3.7%</a:t>
            </a:r>
            <a:endParaRPr lang="en-US" sz="1300" dirty="0"/>
          </a:p>
        </p:txBody>
      </p:sp>
      <p:sp>
        <p:nvSpPr>
          <p:cNvPr id="94" name="Text 92"/>
          <p:cNvSpPr txBox="1"/>
          <p:nvPr/>
        </p:nvSpPr>
        <p:spPr>
          <a:xfrm>
            <a:off x="658368" y="5600348"/>
            <a:ext cx="1984248" cy="32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HENDERSON</a:t>
            </a:r>
            <a:endParaRPr lang="en-US" sz="1300" dirty="0"/>
          </a:p>
        </p:txBody>
      </p:sp>
      <p:sp>
        <p:nvSpPr>
          <p:cNvPr id="95" name="Shape 93"/>
          <p:cNvSpPr/>
          <p:nvPr/>
        </p:nvSpPr>
        <p:spPr>
          <a:xfrm>
            <a:off x="2857500" y="5685106"/>
            <a:ext cx="155448" cy="155448"/>
          </a:xfrm>
          <a:prstGeom prst="ellipse">
            <a:avLst/>
          </a:prstGeom>
          <a:solidFill>
            <a:srgbClr val="12A566"/>
          </a:solidFill>
          <a:ln w="12700">
            <a:solidFill>
              <a:srgbClr val="12A566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442716" y="5685106"/>
            <a:ext cx="155448" cy="155448"/>
          </a:xfrm>
          <a:prstGeom prst="ellipse">
            <a:avLst/>
          </a:prstGeom>
          <a:solidFill>
            <a:srgbClr val="12A566"/>
          </a:solidFill>
          <a:ln w="12700">
            <a:solidFill>
              <a:srgbClr val="12A566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4027932" y="5685106"/>
            <a:ext cx="155448" cy="155448"/>
          </a:xfrm>
          <a:prstGeom prst="ellipse">
            <a:avLst/>
          </a:prstGeom>
          <a:solidFill>
            <a:srgbClr val="12A566"/>
          </a:solidFill>
          <a:ln w="12700">
            <a:solidFill>
              <a:srgbClr val="12A566"/>
            </a:solidFill>
            <a:prstDash val="solid"/>
          </a:ln>
        </p:spPr>
      </p:sp>
      <p:sp>
        <p:nvSpPr>
          <p:cNvPr id="98" name="Text 96"/>
          <p:cNvSpPr txBox="1"/>
          <p:nvPr/>
        </p:nvSpPr>
        <p:spPr>
          <a:xfrm>
            <a:off x="4398264" y="5600348"/>
            <a:ext cx="841248" cy="32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$3.42M</a:t>
            </a:r>
            <a:endParaRPr lang="en-US" sz="1300" dirty="0"/>
          </a:p>
        </p:txBody>
      </p:sp>
      <p:sp>
        <p:nvSpPr>
          <p:cNvPr id="99" name="Text 97"/>
          <p:cNvSpPr txBox="1"/>
          <p:nvPr/>
        </p:nvSpPr>
        <p:spPr>
          <a:xfrm>
            <a:off x="5239512" y="5600348"/>
            <a:ext cx="786384" cy="32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+2.8%</a:t>
            </a:r>
            <a:endParaRPr lang="en-US" sz="1300" dirty="0"/>
          </a:p>
        </p:txBody>
      </p:sp>
      <p:sp>
        <p:nvSpPr>
          <p:cNvPr id="100" name="Text 98"/>
          <p:cNvSpPr txBox="1"/>
          <p:nvPr/>
        </p:nvSpPr>
        <p:spPr>
          <a:xfrm>
            <a:off x="6208776" y="1700784"/>
            <a:ext cx="1984248" cy="32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PRESCOTT</a:t>
            </a:r>
            <a:endParaRPr lang="en-US" sz="1300" dirty="0"/>
          </a:p>
        </p:txBody>
      </p:sp>
      <p:sp>
        <p:nvSpPr>
          <p:cNvPr id="101" name="Shape 99"/>
          <p:cNvSpPr/>
          <p:nvPr/>
        </p:nvSpPr>
        <p:spPr>
          <a:xfrm>
            <a:off x="8407908" y="1785542"/>
            <a:ext cx="155448" cy="155448"/>
          </a:xfrm>
          <a:prstGeom prst="ellipse">
            <a:avLst/>
          </a:prstGeom>
          <a:solidFill>
            <a:srgbClr val="12A566"/>
          </a:solidFill>
          <a:ln w="12700">
            <a:solidFill>
              <a:srgbClr val="12A566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8993124" y="1785542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9578340" y="1785542"/>
            <a:ext cx="155448" cy="155448"/>
          </a:xfrm>
          <a:prstGeom prst="ellipse">
            <a:avLst/>
          </a:prstGeom>
          <a:solidFill>
            <a:srgbClr val="12A566"/>
          </a:solidFill>
          <a:ln w="12700">
            <a:solidFill>
              <a:srgbClr val="12A566"/>
            </a:solidFill>
            <a:prstDash val="solid"/>
          </a:ln>
        </p:spPr>
      </p:sp>
      <p:sp>
        <p:nvSpPr>
          <p:cNvPr id="104" name="Text 102"/>
          <p:cNvSpPr txBox="1"/>
          <p:nvPr/>
        </p:nvSpPr>
        <p:spPr>
          <a:xfrm>
            <a:off x="9948672" y="1700784"/>
            <a:ext cx="841248" cy="32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$5.08M</a:t>
            </a:r>
            <a:endParaRPr lang="en-US" sz="1300" dirty="0"/>
          </a:p>
        </p:txBody>
      </p:sp>
      <p:sp>
        <p:nvSpPr>
          <p:cNvPr id="105" name="Text 103"/>
          <p:cNvSpPr txBox="1"/>
          <p:nvPr/>
        </p:nvSpPr>
        <p:spPr>
          <a:xfrm>
            <a:off x="10789920" y="1700784"/>
            <a:ext cx="786384" cy="32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+13.0%</a:t>
            </a:r>
            <a:endParaRPr lang="en-US" sz="1300" dirty="0"/>
          </a:p>
        </p:txBody>
      </p:sp>
      <p:sp>
        <p:nvSpPr>
          <p:cNvPr id="106" name="Shape 104"/>
          <p:cNvSpPr/>
          <p:nvPr/>
        </p:nvSpPr>
        <p:spPr>
          <a:xfrm>
            <a:off x="6135624" y="2025748"/>
            <a:ext cx="5486400" cy="32496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07" name="Text 105"/>
          <p:cNvSpPr txBox="1"/>
          <p:nvPr/>
        </p:nvSpPr>
        <p:spPr>
          <a:xfrm>
            <a:off x="6208776" y="2025748"/>
            <a:ext cx="1984248" cy="32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SPOKANE</a:t>
            </a:r>
            <a:endParaRPr lang="en-US" sz="1300" dirty="0"/>
          </a:p>
        </p:txBody>
      </p:sp>
      <p:sp>
        <p:nvSpPr>
          <p:cNvPr id="108" name="Shape 106"/>
          <p:cNvSpPr/>
          <p:nvPr/>
        </p:nvSpPr>
        <p:spPr>
          <a:xfrm>
            <a:off x="8407908" y="2110506"/>
            <a:ext cx="155448" cy="155448"/>
          </a:xfrm>
          <a:prstGeom prst="ellipse">
            <a:avLst/>
          </a:prstGeom>
          <a:solidFill>
            <a:srgbClr val="12A566"/>
          </a:solidFill>
          <a:ln w="12700">
            <a:solidFill>
              <a:srgbClr val="12A566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8993124" y="2110506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9578340" y="2110506"/>
            <a:ext cx="155448" cy="155448"/>
          </a:xfrm>
          <a:prstGeom prst="ellipse">
            <a:avLst/>
          </a:prstGeom>
          <a:solidFill>
            <a:srgbClr val="12A566"/>
          </a:solidFill>
          <a:ln w="12700">
            <a:solidFill>
              <a:srgbClr val="12A566"/>
            </a:solidFill>
            <a:prstDash val="solid"/>
          </a:ln>
        </p:spPr>
      </p:sp>
      <p:sp>
        <p:nvSpPr>
          <p:cNvPr id="111" name="Text 109"/>
          <p:cNvSpPr txBox="1"/>
          <p:nvPr/>
        </p:nvSpPr>
        <p:spPr>
          <a:xfrm>
            <a:off x="9948672" y="2025748"/>
            <a:ext cx="841248" cy="32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$5.93M</a:t>
            </a:r>
            <a:endParaRPr lang="en-US" sz="1300" dirty="0"/>
          </a:p>
        </p:txBody>
      </p:sp>
      <p:sp>
        <p:nvSpPr>
          <p:cNvPr id="112" name="Text 110"/>
          <p:cNvSpPr txBox="1"/>
          <p:nvPr/>
        </p:nvSpPr>
        <p:spPr>
          <a:xfrm>
            <a:off x="10789920" y="2025748"/>
            <a:ext cx="786384" cy="32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+10.1%</a:t>
            </a:r>
            <a:endParaRPr lang="en-US" sz="1300" dirty="0"/>
          </a:p>
        </p:txBody>
      </p:sp>
      <p:sp>
        <p:nvSpPr>
          <p:cNvPr id="113" name="Text 111"/>
          <p:cNvSpPr txBox="1"/>
          <p:nvPr/>
        </p:nvSpPr>
        <p:spPr>
          <a:xfrm>
            <a:off x="6208776" y="2350711"/>
            <a:ext cx="1984248" cy="32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SPOKANE</a:t>
            </a:r>
            <a:endParaRPr lang="en-US" sz="1300" dirty="0"/>
          </a:p>
        </p:txBody>
      </p:sp>
      <p:sp>
        <p:nvSpPr>
          <p:cNvPr id="114" name="Shape 112"/>
          <p:cNvSpPr/>
          <p:nvPr/>
        </p:nvSpPr>
        <p:spPr>
          <a:xfrm>
            <a:off x="8407908" y="2435469"/>
            <a:ext cx="155448" cy="155448"/>
          </a:xfrm>
          <a:prstGeom prst="ellipse">
            <a:avLst/>
          </a:prstGeom>
          <a:solidFill>
            <a:srgbClr val="12A566"/>
          </a:solidFill>
          <a:ln w="12700">
            <a:solidFill>
              <a:srgbClr val="12A566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8993124" y="2435469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9578340" y="2435469"/>
            <a:ext cx="155448" cy="155448"/>
          </a:xfrm>
          <a:prstGeom prst="ellipse">
            <a:avLst/>
          </a:prstGeom>
          <a:solidFill>
            <a:srgbClr val="12A566"/>
          </a:solidFill>
          <a:ln w="12700">
            <a:solidFill>
              <a:srgbClr val="12A566"/>
            </a:solidFill>
            <a:prstDash val="solid"/>
          </a:ln>
        </p:spPr>
      </p:sp>
      <p:sp>
        <p:nvSpPr>
          <p:cNvPr id="117" name="Text 115"/>
          <p:cNvSpPr txBox="1"/>
          <p:nvPr/>
        </p:nvSpPr>
        <p:spPr>
          <a:xfrm>
            <a:off x="9948672" y="2350711"/>
            <a:ext cx="841248" cy="32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$4.18M</a:t>
            </a:r>
            <a:endParaRPr lang="en-US" sz="1300" dirty="0"/>
          </a:p>
        </p:txBody>
      </p:sp>
      <p:sp>
        <p:nvSpPr>
          <p:cNvPr id="118" name="Text 116"/>
          <p:cNvSpPr txBox="1"/>
          <p:nvPr/>
        </p:nvSpPr>
        <p:spPr>
          <a:xfrm>
            <a:off x="10789920" y="2350711"/>
            <a:ext cx="786384" cy="32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+9.7%</a:t>
            </a:r>
            <a:endParaRPr lang="en-US" sz="1300" dirty="0"/>
          </a:p>
        </p:txBody>
      </p:sp>
      <p:sp>
        <p:nvSpPr>
          <p:cNvPr id="119" name="Shape 117"/>
          <p:cNvSpPr/>
          <p:nvPr/>
        </p:nvSpPr>
        <p:spPr>
          <a:xfrm>
            <a:off x="6135624" y="2675675"/>
            <a:ext cx="5486400" cy="32496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20" name="Text 118"/>
          <p:cNvSpPr txBox="1"/>
          <p:nvPr/>
        </p:nvSpPr>
        <p:spPr>
          <a:xfrm>
            <a:off x="6208776" y="2675675"/>
            <a:ext cx="1984248" cy="32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RENO</a:t>
            </a:r>
            <a:endParaRPr lang="en-US" sz="1300" dirty="0"/>
          </a:p>
        </p:txBody>
      </p:sp>
      <p:sp>
        <p:nvSpPr>
          <p:cNvPr id="121" name="Shape 119"/>
          <p:cNvSpPr/>
          <p:nvPr/>
        </p:nvSpPr>
        <p:spPr>
          <a:xfrm>
            <a:off x="8407908" y="2760433"/>
            <a:ext cx="155448" cy="155448"/>
          </a:xfrm>
          <a:prstGeom prst="ellipse">
            <a:avLst/>
          </a:prstGeom>
          <a:solidFill>
            <a:srgbClr val="12A566"/>
          </a:solidFill>
          <a:ln w="12700">
            <a:solidFill>
              <a:srgbClr val="12A566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8993124" y="2760433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9578340" y="2760433"/>
            <a:ext cx="155448" cy="155448"/>
          </a:xfrm>
          <a:prstGeom prst="ellipse">
            <a:avLst/>
          </a:prstGeom>
          <a:solidFill>
            <a:srgbClr val="12A566"/>
          </a:solidFill>
          <a:ln w="12700">
            <a:solidFill>
              <a:srgbClr val="12A566"/>
            </a:solidFill>
            <a:prstDash val="solid"/>
          </a:ln>
        </p:spPr>
      </p:sp>
      <p:sp>
        <p:nvSpPr>
          <p:cNvPr id="124" name="Text 122"/>
          <p:cNvSpPr txBox="1"/>
          <p:nvPr/>
        </p:nvSpPr>
        <p:spPr>
          <a:xfrm>
            <a:off x="9948672" y="2675675"/>
            <a:ext cx="841248" cy="32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$2.21M</a:t>
            </a:r>
            <a:endParaRPr lang="en-US" sz="1300" dirty="0"/>
          </a:p>
        </p:txBody>
      </p:sp>
      <p:sp>
        <p:nvSpPr>
          <p:cNvPr id="125" name="Text 123"/>
          <p:cNvSpPr txBox="1"/>
          <p:nvPr/>
        </p:nvSpPr>
        <p:spPr>
          <a:xfrm>
            <a:off x="10789920" y="2675675"/>
            <a:ext cx="786384" cy="32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+7.6%</a:t>
            </a:r>
            <a:endParaRPr lang="en-US" sz="1300" dirty="0"/>
          </a:p>
        </p:txBody>
      </p:sp>
      <p:sp>
        <p:nvSpPr>
          <p:cNvPr id="126" name="Text 124"/>
          <p:cNvSpPr txBox="1"/>
          <p:nvPr/>
        </p:nvSpPr>
        <p:spPr>
          <a:xfrm>
            <a:off x="6208776" y="3000639"/>
            <a:ext cx="1984248" cy="32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CADILLAC</a:t>
            </a:r>
            <a:endParaRPr lang="en-US" sz="1300" dirty="0"/>
          </a:p>
        </p:txBody>
      </p:sp>
      <p:sp>
        <p:nvSpPr>
          <p:cNvPr id="127" name="Shape 125"/>
          <p:cNvSpPr/>
          <p:nvPr/>
        </p:nvSpPr>
        <p:spPr>
          <a:xfrm>
            <a:off x="8407908" y="3085397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8993124" y="3085397"/>
            <a:ext cx="155448" cy="155448"/>
          </a:xfrm>
          <a:prstGeom prst="ellipse">
            <a:avLst/>
          </a:prstGeom>
          <a:solidFill>
            <a:srgbClr val="12A566"/>
          </a:solidFill>
          <a:ln w="12700">
            <a:solidFill>
              <a:srgbClr val="12A566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9578340" y="3085397"/>
            <a:ext cx="155448" cy="155448"/>
          </a:xfrm>
          <a:prstGeom prst="ellipse">
            <a:avLst/>
          </a:prstGeom>
          <a:solidFill>
            <a:srgbClr val="12A566"/>
          </a:solidFill>
          <a:ln w="12700">
            <a:solidFill>
              <a:srgbClr val="12A566"/>
            </a:solidFill>
            <a:prstDash val="solid"/>
          </a:ln>
        </p:spPr>
      </p:sp>
      <p:sp>
        <p:nvSpPr>
          <p:cNvPr id="130" name="Text 128"/>
          <p:cNvSpPr txBox="1"/>
          <p:nvPr/>
        </p:nvSpPr>
        <p:spPr>
          <a:xfrm>
            <a:off x="9948672" y="3000639"/>
            <a:ext cx="841248" cy="32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$9.60M</a:t>
            </a:r>
            <a:endParaRPr lang="en-US" sz="1300" dirty="0"/>
          </a:p>
        </p:txBody>
      </p:sp>
      <p:sp>
        <p:nvSpPr>
          <p:cNvPr id="131" name="Text 129"/>
          <p:cNvSpPr txBox="1"/>
          <p:nvPr/>
        </p:nvSpPr>
        <p:spPr>
          <a:xfrm>
            <a:off x="10789920" y="3000639"/>
            <a:ext cx="786384" cy="32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+7.4%</a:t>
            </a:r>
            <a:endParaRPr lang="en-US" sz="1300" dirty="0"/>
          </a:p>
        </p:txBody>
      </p:sp>
      <p:sp>
        <p:nvSpPr>
          <p:cNvPr id="132" name="Shape 130"/>
          <p:cNvSpPr/>
          <p:nvPr/>
        </p:nvSpPr>
        <p:spPr>
          <a:xfrm>
            <a:off x="6135624" y="3325602"/>
            <a:ext cx="5486400" cy="32496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33" name="Text 131"/>
          <p:cNvSpPr txBox="1"/>
          <p:nvPr/>
        </p:nvSpPr>
        <p:spPr>
          <a:xfrm>
            <a:off x="6208776" y="3325602"/>
            <a:ext cx="1984248" cy="32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ST GEORGE</a:t>
            </a:r>
            <a:endParaRPr lang="en-US" sz="1300" dirty="0"/>
          </a:p>
        </p:txBody>
      </p:sp>
      <p:sp>
        <p:nvSpPr>
          <p:cNvPr id="134" name="Shape 132"/>
          <p:cNvSpPr/>
          <p:nvPr/>
        </p:nvSpPr>
        <p:spPr>
          <a:xfrm>
            <a:off x="8407908" y="3410360"/>
            <a:ext cx="155448" cy="155448"/>
          </a:xfrm>
          <a:prstGeom prst="ellipse">
            <a:avLst/>
          </a:prstGeom>
          <a:solidFill>
            <a:srgbClr val="12A566"/>
          </a:solidFill>
          <a:ln w="12700">
            <a:solidFill>
              <a:srgbClr val="12A566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8993124" y="3410360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9578340" y="3410360"/>
            <a:ext cx="155448" cy="155448"/>
          </a:xfrm>
          <a:prstGeom prst="ellipse">
            <a:avLst/>
          </a:prstGeom>
          <a:solidFill>
            <a:srgbClr val="12A566"/>
          </a:solidFill>
          <a:ln w="12700">
            <a:solidFill>
              <a:srgbClr val="12A566"/>
            </a:solidFill>
            <a:prstDash val="solid"/>
          </a:ln>
        </p:spPr>
      </p:sp>
      <p:sp>
        <p:nvSpPr>
          <p:cNvPr id="137" name="Text 135"/>
          <p:cNvSpPr txBox="1"/>
          <p:nvPr/>
        </p:nvSpPr>
        <p:spPr>
          <a:xfrm>
            <a:off x="9948672" y="3325602"/>
            <a:ext cx="841248" cy="32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$2.29M</a:t>
            </a:r>
            <a:endParaRPr lang="en-US" sz="1300" dirty="0"/>
          </a:p>
        </p:txBody>
      </p:sp>
      <p:sp>
        <p:nvSpPr>
          <p:cNvPr id="138" name="Text 136"/>
          <p:cNvSpPr txBox="1"/>
          <p:nvPr/>
        </p:nvSpPr>
        <p:spPr>
          <a:xfrm>
            <a:off x="10789920" y="3325602"/>
            <a:ext cx="786384" cy="32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+4.0%</a:t>
            </a:r>
            <a:endParaRPr lang="en-US" sz="1300" dirty="0"/>
          </a:p>
        </p:txBody>
      </p:sp>
      <p:sp>
        <p:nvSpPr>
          <p:cNvPr id="139" name="Text 137"/>
          <p:cNvSpPr txBox="1"/>
          <p:nvPr/>
        </p:nvSpPr>
        <p:spPr>
          <a:xfrm>
            <a:off x="6208776" y="3650566"/>
            <a:ext cx="1984248" cy="32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LV</a:t>
            </a:r>
            <a:endParaRPr lang="en-US" sz="1300" dirty="0"/>
          </a:p>
        </p:txBody>
      </p:sp>
      <p:sp>
        <p:nvSpPr>
          <p:cNvPr id="140" name="Shape 138"/>
          <p:cNvSpPr/>
          <p:nvPr/>
        </p:nvSpPr>
        <p:spPr>
          <a:xfrm>
            <a:off x="8407908" y="3735324"/>
            <a:ext cx="155448" cy="155448"/>
          </a:xfrm>
          <a:prstGeom prst="ellipse">
            <a:avLst/>
          </a:prstGeom>
          <a:solidFill>
            <a:srgbClr val="12A566"/>
          </a:solidFill>
          <a:ln w="12700">
            <a:solidFill>
              <a:srgbClr val="12A566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8993124" y="3735324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9578340" y="3735324"/>
            <a:ext cx="155448" cy="155448"/>
          </a:xfrm>
          <a:prstGeom prst="ellipse">
            <a:avLst/>
          </a:prstGeom>
          <a:solidFill>
            <a:srgbClr val="12A566"/>
          </a:solidFill>
          <a:ln w="12700">
            <a:solidFill>
              <a:srgbClr val="12A566"/>
            </a:solidFill>
            <a:prstDash val="solid"/>
          </a:ln>
        </p:spPr>
      </p:sp>
      <p:sp>
        <p:nvSpPr>
          <p:cNvPr id="143" name="Text 141"/>
          <p:cNvSpPr txBox="1"/>
          <p:nvPr/>
        </p:nvSpPr>
        <p:spPr>
          <a:xfrm>
            <a:off x="9948672" y="3650566"/>
            <a:ext cx="841248" cy="32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$6.61M</a:t>
            </a:r>
            <a:endParaRPr lang="en-US" sz="1300" dirty="0"/>
          </a:p>
        </p:txBody>
      </p:sp>
      <p:sp>
        <p:nvSpPr>
          <p:cNvPr id="144" name="Text 142"/>
          <p:cNvSpPr txBox="1"/>
          <p:nvPr/>
        </p:nvSpPr>
        <p:spPr>
          <a:xfrm>
            <a:off x="10789920" y="3650566"/>
            <a:ext cx="786384" cy="32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+2.0%</a:t>
            </a:r>
            <a:endParaRPr lang="en-US" sz="1300" dirty="0"/>
          </a:p>
        </p:txBody>
      </p:sp>
      <p:sp>
        <p:nvSpPr>
          <p:cNvPr id="145" name="Shape 143"/>
          <p:cNvSpPr/>
          <p:nvPr/>
        </p:nvSpPr>
        <p:spPr>
          <a:xfrm>
            <a:off x="6135624" y="3975530"/>
            <a:ext cx="5486400" cy="32496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46" name="Text 144"/>
          <p:cNvSpPr txBox="1"/>
          <p:nvPr/>
        </p:nvSpPr>
        <p:spPr>
          <a:xfrm>
            <a:off x="6208776" y="3975530"/>
            <a:ext cx="1984248" cy="32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LV</a:t>
            </a:r>
            <a:endParaRPr lang="en-US" sz="1300" dirty="0"/>
          </a:p>
        </p:txBody>
      </p:sp>
      <p:sp>
        <p:nvSpPr>
          <p:cNvPr id="147" name="Shape 145"/>
          <p:cNvSpPr/>
          <p:nvPr/>
        </p:nvSpPr>
        <p:spPr>
          <a:xfrm>
            <a:off x="8407908" y="4060288"/>
            <a:ext cx="155448" cy="155448"/>
          </a:xfrm>
          <a:prstGeom prst="ellipse">
            <a:avLst/>
          </a:prstGeom>
          <a:solidFill>
            <a:srgbClr val="12A566"/>
          </a:solidFill>
          <a:ln w="12700">
            <a:solidFill>
              <a:srgbClr val="12A566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8993124" y="4060288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9578340" y="4060288"/>
            <a:ext cx="155448" cy="155448"/>
          </a:xfrm>
          <a:prstGeom prst="ellipse">
            <a:avLst/>
          </a:prstGeom>
          <a:solidFill>
            <a:srgbClr val="12A566"/>
          </a:solidFill>
          <a:ln w="12700">
            <a:solidFill>
              <a:srgbClr val="12A566"/>
            </a:solidFill>
            <a:prstDash val="solid"/>
          </a:ln>
        </p:spPr>
      </p:sp>
      <p:sp>
        <p:nvSpPr>
          <p:cNvPr id="150" name="Text 148"/>
          <p:cNvSpPr txBox="1"/>
          <p:nvPr/>
        </p:nvSpPr>
        <p:spPr>
          <a:xfrm>
            <a:off x="9948672" y="3975530"/>
            <a:ext cx="841248" cy="32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$6.15M</a:t>
            </a:r>
            <a:endParaRPr lang="en-US" sz="1300" dirty="0"/>
          </a:p>
        </p:txBody>
      </p:sp>
      <p:sp>
        <p:nvSpPr>
          <p:cNvPr id="151" name="Text 149"/>
          <p:cNvSpPr txBox="1"/>
          <p:nvPr/>
        </p:nvSpPr>
        <p:spPr>
          <a:xfrm>
            <a:off x="10789920" y="3975530"/>
            <a:ext cx="786384" cy="32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+2.0%</a:t>
            </a:r>
            <a:endParaRPr lang="en-US" sz="1300" dirty="0"/>
          </a:p>
        </p:txBody>
      </p:sp>
      <p:sp>
        <p:nvSpPr>
          <p:cNvPr id="152" name="Text 150"/>
          <p:cNvSpPr txBox="1"/>
          <p:nvPr/>
        </p:nvSpPr>
        <p:spPr>
          <a:xfrm>
            <a:off x="6208776" y="4300494"/>
            <a:ext cx="1984248" cy="32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GMC PRESCOTT</a:t>
            </a:r>
            <a:endParaRPr lang="en-US" sz="1300" dirty="0"/>
          </a:p>
        </p:txBody>
      </p:sp>
      <p:sp>
        <p:nvSpPr>
          <p:cNvPr id="153" name="Shape 151"/>
          <p:cNvSpPr/>
          <p:nvPr/>
        </p:nvSpPr>
        <p:spPr>
          <a:xfrm>
            <a:off x="8407908" y="4385251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8993124" y="4385251"/>
            <a:ext cx="155448" cy="155448"/>
          </a:xfrm>
          <a:prstGeom prst="ellipse">
            <a:avLst/>
          </a:prstGeom>
          <a:solidFill>
            <a:srgbClr val="12A566"/>
          </a:solidFill>
          <a:ln w="12700">
            <a:solidFill>
              <a:srgbClr val="12A566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9578340" y="4385251"/>
            <a:ext cx="155448" cy="155448"/>
          </a:xfrm>
          <a:prstGeom prst="ellipse">
            <a:avLst/>
          </a:prstGeom>
          <a:solidFill>
            <a:srgbClr val="12A566"/>
          </a:solidFill>
          <a:ln w="12700">
            <a:solidFill>
              <a:srgbClr val="12A566"/>
            </a:solidFill>
            <a:prstDash val="solid"/>
          </a:ln>
        </p:spPr>
      </p:sp>
      <p:sp>
        <p:nvSpPr>
          <p:cNvPr id="156" name="Text 154"/>
          <p:cNvSpPr txBox="1"/>
          <p:nvPr/>
        </p:nvSpPr>
        <p:spPr>
          <a:xfrm>
            <a:off x="9948672" y="4300494"/>
            <a:ext cx="841248" cy="32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$2.42M</a:t>
            </a:r>
            <a:endParaRPr lang="en-US" sz="1300" dirty="0"/>
          </a:p>
        </p:txBody>
      </p:sp>
      <p:sp>
        <p:nvSpPr>
          <p:cNvPr id="157" name="Text 155"/>
          <p:cNvSpPr txBox="1"/>
          <p:nvPr/>
        </p:nvSpPr>
        <p:spPr>
          <a:xfrm>
            <a:off x="10789920" y="4300494"/>
            <a:ext cx="786384" cy="32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+1.9%</a:t>
            </a:r>
            <a:endParaRPr lang="en-US" sz="1300" dirty="0"/>
          </a:p>
        </p:txBody>
      </p:sp>
      <p:sp>
        <p:nvSpPr>
          <p:cNvPr id="158" name="Shape 156"/>
          <p:cNvSpPr/>
          <p:nvPr/>
        </p:nvSpPr>
        <p:spPr>
          <a:xfrm>
            <a:off x="6135624" y="4625457"/>
            <a:ext cx="5486400" cy="32496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59" name="Text 157"/>
          <p:cNvSpPr txBox="1"/>
          <p:nvPr/>
        </p:nvSpPr>
        <p:spPr>
          <a:xfrm>
            <a:off x="6208776" y="4625457"/>
            <a:ext cx="1984248" cy="32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VOLVO</a:t>
            </a:r>
            <a:endParaRPr lang="en-US" sz="1300" dirty="0"/>
          </a:p>
        </p:txBody>
      </p:sp>
      <p:sp>
        <p:nvSpPr>
          <p:cNvPr id="160" name="Shape 158"/>
          <p:cNvSpPr/>
          <p:nvPr/>
        </p:nvSpPr>
        <p:spPr>
          <a:xfrm>
            <a:off x="8407908" y="4710215"/>
            <a:ext cx="155448" cy="155448"/>
          </a:xfrm>
          <a:prstGeom prst="ellipse">
            <a:avLst/>
          </a:prstGeom>
          <a:solidFill>
            <a:srgbClr val="12A566"/>
          </a:solidFill>
          <a:ln w="12700">
            <a:solidFill>
              <a:srgbClr val="12A566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8993124" y="4710215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9578340" y="4710215"/>
            <a:ext cx="155448" cy="155448"/>
          </a:xfrm>
          <a:prstGeom prst="ellipse">
            <a:avLst/>
          </a:prstGeom>
          <a:solidFill>
            <a:srgbClr val="12A566"/>
          </a:solidFill>
          <a:ln w="12700">
            <a:solidFill>
              <a:srgbClr val="12A566"/>
            </a:solidFill>
            <a:prstDash val="solid"/>
          </a:ln>
        </p:spPr>
      </p:sp>
      <p:sp>
        <p:nvSpPr>
          <p:cNvPr id="163" name="Text 161"/>
          <p:cNvSpPr txBox="1"/>
          <p:nvPr/>
        </p:nvSpPr>
        <p:spPr>
          <a:xfrm>
            <a:off x="9948672" y="4625457"/>
            <a:ext cx="841248" cy="32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$3.91M</a:t>
            </a:r>
            <a:endParaRPr lang="en-US" sz="1300" dirty="0"/>
          </a:p>
        </p:txBody>
      </p:sp>
      <p:sp>
        <p:nvSpPr>
          <p:cNvPr id="164" name="Text 162"/>
          <p:cNvSpPr txBox="1"/>
          <p:nvPr/>
        </p:nvSpPr>
        <p:spPr>
          <a:xfrm>
            <a:off x="10789920" y="4625457"/>
            <a:ext cx="786384" cy="32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+1.6%</a:t>
            </a:r>
            <a:endParaRPr lang="en-US" sz="1300" dirty="0"/>
          </a:p>
        </p:txBody>
      </p:sp>
      <p:sp>
        <p:nvSpPr>
          <p:cNvPr id="165" name="Text 163"/>
          <p:cNvSpPr txBox="1"/>
          <p:nvPr/>
        </p:nvSpPr>
        <p:spPr>
          <a:xfrm>
            <a:off x="6208776" y="4950421"/>
            <a:ext cx="1984248" cy="32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FLAGSTAFF</a:t>
            </a:r>
            <a:endParaRPr lang="en-US" sz="1300" dirty="0"/>
          </a:p>
        </p:txBody>
      </p:sp>
      <p:sp>
        <p:nvSpPr>
          <p:cNvPr id="166" name="Shape 164"/>
          <p:cNvSpPr/>
          <p:nvPr/>
        </p:nvSpPr>
        <p:spPr>
          <a:xfrm>
            <a:off x="8407908" y="5035179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8993124" y="5035179"/>
            <a:ext cx="155448" cy="155448"/>
          </a:xfrm>
          <a:prstGeom prst="ellipse">
            <a:avLst/>
          </a:prstGeom>
          <a:solidFill>
            <a:srgbClr val="12A566"/>
          </a:solidFill>
          <a:ln w="12700">
            <a:solidFill>
              <a:srgbClr val="12A566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9578340" y="5035179"/>
            <a:ext cx="155448" cy="155448"/>
          </a:xfrm>
          <a:prstGeom prst="ellipse">
            <a:avLst/>
          </a:prstGeom>
          <a:solidFill>
            <a:srgbClr val="12A566"/>
          </a:solidFill>
          <a:ln w="12700">
            <a:solidFill>
              <a:srgbClr val="12A566"/>
            </a:solidFill>
            <a:prstDash val="solid"/>
          </a:ln>
        </p:spPr>
      </p:sp>
      <p:sp>
        <p:nvSpPr>
          <p:cNvPr id="169" name="Text 167"/>
          <p:cNvSpPr txBox="1"/>
          <p:nvPr/>
        </p:nvSpPr>
        <p:spPr>
          <a:xfrm>
            <a:off x="9948672" y="4950421"/>
            <a:ext cx="841248" cy="32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$1.59M</a:t>
            </a:r>
            <a:endParaRPr lang="en-US" sz="1300" dirty="0"/>
          </a:p>
        </p:txBody>
      </p:sp>
      <p:sp>
        <p:nvSpPr>
          <p:cNvPr id="170" name="Text 168"/>
          <p:cNvSpPr txBox="1"/>
          <p:nvPr/>
        </p:nvSpPr>
        <p:spPr>
          <a:xfrm>
            <a:off x="10789920" y="4950421"/>
            <a:ext cx="786384" cy="32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+1.4%</a:t>
            </a:r>
            <a:endParaRPr lang="en-US" sz="1300" dirty="0"/>
          </a:p>
        </p:txBody>
      </p:sp>
      <p:sp>
        <p:nvSpPr>
          <p:cNvPr id="171" name="Shape 169"/>
          <p:cNvSpPr/>
          <p:nvPr/>
        </p:nvSpPr>
        <p:spPr>
          <a:xfrm>
            <a:off x="6135624" y="5275385"/>
            <a:ext cx="5486400" cy="32496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72" name="Text 170"/>
          <p:cNvSpPr txBox="1"/>
          <p:nvPr/>
        </p:nvSpPr>
        <p:spPr>
          <a:xfrm>
            <a:off x="6208776" y="5275385"/>
            <a:ext cx="1984248" cy="32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GMC BULLHEAD</a:t>
            </a:r>
            <a:endParaRPr lang="en-US" sz="1300" dirty="0"/>
          </a:p>
        </p:txBody>
      </p:sp>
      <p:sp>
        <p:nvSpPr>
          <p:cNvPr id="173" name="Shape 171"/>
          <p:cNvSpPr/>
          <p:nvPr/>
        </p:nvSpPr>
        <p:spPr>
          <a:xfrm>
            <a:off x="8407908" y="5360142"/>
            <a:ext cx="155448" cy="155448"/>
          </a:xfrm>
          <a:prstGeom prst="ellipse">
            <a:avLst/>
          </a:prstGeom>
          <a:solidFill>
            <a:srgbClr val="12A566"/>
          </a:solidFill>
          <a:ln w="12700">
            <a:solidFill>
              <a:srgbClr val="12A566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8993124" y="5360142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9578340" y="5360142"/>
            <a:ext cx="155448" cy="155448"/>
          </a:xfrm>
          <a:prstGeom prst="ellipse">
            <a:avLst/>
          </a:prstGeom>
          <a:solidFill>
            <a:srgbClr val="12A566"/>
          </a:solidFill>
          <a:ln w="12700">
            <a:solidFill>
              <a:srgbClr val="12A566"/>
            </a:solidFill>
            <a:prstDash val="solid"/>
          </a:ln>
        </p:spPr>
      </p:sp>
      <p:sp>
        <p:nvSpPr>
          <p:cNvPr id="176" name="Text 174"/>
          <p:cNvSpPr txBox="1"/>
          <p:nvPr/>
        </p:nvSpPr>
        <p:spPr>
          <a:xfrm>
            <a:off x="9948672" y="5275385"/>
            <a:ext cx="841248" cy="32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$4.53M</a:t>
            </a:r>
            <a:endParaRPr lang="en-US" sz="1300" dirty="0"/>
          </a:p>
        </p:txBody>
      </p:sp>
      <p:sp>
        <p:nvSpPr>
          <p:cNvPr id="177" name="Text 175"/>
          <p:cNvSpPr txBox="1"/>
          <p:nvPr/>
        </p:nvSpPr>
        <p:spPr>
          <a:xfrm>
            <a:off x="10789920" y="5275385"/>
            <a:ext cx="786384" cy="32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+0.8%</a:t>
            </a:r>
            <a:endParaRPr lang="en-US" sz="1300" dirty="0"/>
          </a:p>
        </p:txBody>
      </p:sp>
      <p:sp>
        <p:nvSpPr>
          <p:cNvPr id="178" name="Shape 176"/>
          <p:cNvSpPr/>
          <p:nvPr/>
        </p:nvSpPr>
        <p:spPr>
          <a:xfrm>
            <a:off x="457200" y="6126480"/>
            <a:ext cx="11274552" cy="371856"/>
          </a:xfrm>
          <a:prstGeom prst="rect">
            <a:avLst/>
          </a:prstGeom>
          <a:solidFill>
            <a:srgbClr val="E6F6EE"/>
          </a:solidFill>
          <a:ln/>
        </p:spPr>
      </p:sp>
      <p:sp>
        <p:nvSpPr>
          <p:cNvPr id="179" name="Text 177"/>
          <p:cNvSpPr txBox="1"/>
          <p:nvPr/>
        </p:nvSpPr>
        <p:spPr>
          <a:xfrm>
            <a:off x="658368" y="6144768"/>
            <a:ext cx="1092708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 of 33 stores set a January–September record; 13 set it in service, parts and total.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 RECORDS · SPOTLIGHT BY %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Best January–September Ever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47823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1481328"/>
            <a:ext cx="2539746" cy="301752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7" name="Shape 5"/>
          <p:cNvSpPr/>
          <p:nvPr/>
        </p:nvSpPr>
        <p:spPr>
          <a:xfrm>
            <a:off x="713232" y="1481328"/>
            <a:ext cx="2539746" cy="64008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96112" y="1691640"/>
            <a:ext cx="21739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PRESCOTT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2286000"/>
            <a:ext cx="217398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+35.7%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896112" y="3200400"/>
            <a:ext cx="217398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$1.54M vs $1.13M, the previous best (2025).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454146" y="1481328"/>
            <a:ext cx="2539746" cy="301752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2" name="Shape 10"/>
          <p:cNvSpPr/>
          <p:nvPr/>
        </p:nvSpPr>
        <p:spPr>
          <a:xfrm>
            <a:off x="3454146" y="1481328"/>
            <a:ext cx="2539746" cy="64008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637026" y="1691640"/>
            <a:ext cx="21739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LINCOLN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637026" y="2286000"/>
            <a:ext cx="217398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+31.6%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3637026" y="3200400"/>
            <a:ext cx="217398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$2.98M vs $2.26M, the previous best (2025).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195060" y="1481328"/>
            <a:ext cx="2539746" cy="301752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7" name="Shape 15"/>
          <p:cNvSpPr/>
          <p:nvPr/>
        </p:nvSpPr>
        <p:spPr>
          <a:xfrm>
            <a:off x="6195060" y="1481328"/>
            <a:ext cx="2539746" cy="64008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377940" y="1691640"/>
            <a:ext cx="21739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LEXUS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377940" y="2286000"/>
            <a:ext cx="217398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+22.5%</a:t>
            </a:r>
            <a:endParaRPr lang="en-US" sz="4000" dirty="0"/>
          </a:p>
        </p:txBody>
      </p:sp>
      <p:sp>
        <p:nvSpPr>
          <p:cNvPr id="20" name="Text 18"/>
          <p:cNvSpPr txBox="1"/>
          <p:nvPr/>
        </p:nvSpPr>
        <p:spPr>
          <a:xfrm>
            <a:off x="6377940" y="3200400"/>
            <a:ext cx="217398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$4.15M vs $3.38M, the previous best (2025).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935974" y="1481328"/>
            <a:ext cx="2539746" cy="301752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2" name="Shape 20"/>
          <p:cNvSpPr/>
          <p:nvPr/>
        </p:nvSpPr>
        <p:spPr>
          <a:xfrm>
            <a:off x="8935974" y="1481328"/>
            <a:ext cx="2539746" cy="64008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118854" y="1691640"/>
            <a:ext cx="21739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HENDERSON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9118854" y="2286000"/>
            <a:ext cx="217398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+16.0%</a:t>
            </a:r>
            <a:endParaRPr lang="en-US" sz="4000" dirty="0"/>
          </a:p>
        </p:txBody>
      </p:sp>
      <p:sp>
        <p:nvSpPr>
          <p:cNvPr id="25" name="Text 23"/>
          <p:cNvSpPr txBox="1"/>
          <p:nvPr/>
        </p:nvSpPr>
        <p:spPr>
          <a:xfrm>
            <a:off x="9118854" y="3200400"/>
            <a:ext cx="217398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$12.34M vs $10.64M, the previous best (2025).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713232" y="4709160"/>
            <a:ext cx="107624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changed? Each of these stores tells the room one thing they did differently this year.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457200" y="6126480"/>
            <a:ext cx="11274552" cy="348996"/>
          </a:xfrm>
          <a:prstGeom prst="rect">
            <a:avLst/>
          </a:prstGeom>
          <a:solidFill>
            <a:srgbClr val="E6F6EE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58368" y="6144768"/>
            <a:ext cx="10927080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Prescott, Lincoln, Lexus and Audi Henderson beat their previous best by the most in percentage terms.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 RECORDS · SPOTLIGHT BY $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Best January–September Ever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47823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1481328"/>
            <a:ext cx="2539746" cy="301752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7" name="Shape 5"/>
          <p:cNvSpPr/>
          <p:nvPr/>
        </p:nvSpPr>
        <p:spPr>
          <a:xfrm>
            <a:off x="713232" y="1481328"/>
            <a:ext cx="2539746" cy="64008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96112" y="1691640"/>
            <a:ext cx="21739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HENDERSON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2286000"/>
            <a:ext cx="217398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+$1.77M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896112" y="3200400"/>
            <a:ext cx="217398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$22.59M vs $20.82M, the previous best (2025); +8.5%.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454146" y="1481328"/>
            <a:ext cx="2539746" cy="301752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2" name="Shape 10"/>
          <p:cNvSpPr/>
          <p:nvPr/>
        </p:nvSpPr>
        <p:spPr>
          <a:xfrm>
            <a:off x="3454146" y="1481328"/>
            <a:ext cx="2539746" cy="64008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637026" y="1691640"/>
            <a:ext cx="21739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HENDERSON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637026" y="2286000"/>
            <a:ext cx="217398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+$1.70M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3637026" y="3200400"/>
            <a:ext cx="217398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$12.34M vs $10.64M, the previous best (2025); +16.0%.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195060" y="1481328"/>
            <a:ext cx="2539746" cy="301752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7" name="Shape 15"/>
          <p:cNvSpPr/>
          <p:nvPr/>
        </p:nvSpPr>
        <p:spPr>
          <a:xfrm>
            <a:off x="6195060" y="1481328"/>
            <a:ext cx="2539746" cy="64008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377940" y="1691640"/>
            <a:ext cx="21739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LEXUS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377940" y="2286000"/>
            <a:ext cx="217398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+$0.76M</a:t>
            </a:r>
            <a:endParaRPr lang="en-US" sz="4000" dirty="0"/>
          </a:p>
        </p:txBody>
      </p:sp>
      <p:sp>
        <p:nvSpPr>
          <p:cNvPr id="20" name="Text 18"/>
          <p:cNvSpPr txBox="1"/>
          <p:nvPr/>
        </p:nvSpPr>
        <p:spPr>
          <a:xfrm>
            <a:off x="6377940" y="3200400"/>
            <a:ext cx="217398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$4.15M vs $3.38M, the previous best (2025); +22.5%.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935974" y="1481328"/>
            <a:ext cx="2539746" cy="301752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2" name="Shape 20"/>
          <p:cNvSpPr/>
          <p:nvPr/>
        </p:nvSpPr>
        <p:spPr>
          <a:xfrm>
            <a:off x="8935974" y="1481328"/>
            <a:ext cx="2539746" cy="64008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118854" y="1691640"/>
            <a:ext cx="21739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LINCOLN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9118854" y="2286000"/>
            <a:ext cx="217398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+$0.72M</a:t>
            </a:r>
            <a:endParaRPr lang="en-US" sz="4000" dirty="0"/>
          </a:p>
        </p:txBody>
      </p:sp>
      <p:sp>
        <p:nvSpPr>
          <p:cNvPr id="25" name="Text 23"/>
          <p:cNvSpPr txBox="1"/>
          <p:nvPr/>
        </p:nvSpPr>
        <p:spPr>
          <a:xfrm>
            <a:off x="9118854" y="3200400"/>
            <a:ext cx="217398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$2.98M vs $2.26M, the previous best (2025); +31.6%.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713232" y="4709160"/>
            <a:ext cx="107624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changed? Each of these stores tells the room one thing they did differently this year.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457200" y="6126480"/>
            <a:ext cx="11274552" cy="364236"/>
          </a:xfrm>
          <a:prstGeom prst="rect">
            <a:avLst/>
          </a:prstGeom>
          <a:solidFill>
            <a:srgbClr val="E6F6EE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58368" y="6144768"/>
            <a:ext cx="10927080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Henderson, Audi Henderson, Lexus and Lincoln beat their previous best by the most in dollars.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 RECORDS · OPTION: RANKER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Monthly Gross Records Set in 2026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47823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818888" y="1316736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RECORDS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369296" y="1316736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RECORDS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1700784"/>
            <a:ext cx="1938528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SPOKANE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670048" y="1779994"/>
            <a:ext cx="2093976" cy="19362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818888" y="1700784"/>
            <a:ext cx="105156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2052828"/>
            <a:ext cx="1938528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NISSAN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670048" y="2132038"/>
            <a:ext cx="2093976" cy="19362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818888" y="2052828"/>
            <a:ext cx="105156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" y="2404872"/>
            <a:ext cx="1938528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HENDERSON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670048" y="2484082"/>
            <a:ext cx="1861312" cy="19362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818888" y="2404872"/>
            <a:ext cx="105156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58368" y="2756916"/>
            <a:ext cx="1938528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HENDERSON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670048" y="2836126"/>
            <a:ext cx="1628648" cy="19362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818888" y="2756916"/>
            <a:ext cx="105156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58368" y="3108960"/>
            <a:ext cx="1938528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ST GEORGE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670048" y="3188170"/>
            <a:ext cx="1628648" cy="19362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818888" y="3108960"/>
            <a:ext cx="105156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58368" y="3461004"/>
            <a:ext cx="1938528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PRESCOTT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670048" y="3540214"/>
            <a:ext cx="1395984" cy="19362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818888" y="3461004"/>
            <a:ext cx="105156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58368" y="3813048"/>
            <a:ext cx="1938528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LINCOLN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670048" y="3892258"/>
            <a:ext cx="1395984" cy="19362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4818888" y="3813048"/>
            <a:ext cx="105156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58368" y="4165092"/>
            <a:ext cx="1938528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MAZDA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670048" y="4244302"/>
            <a:ext cx="1163320" cy="19362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4818888" y="4165092"/>
            <a:ext cx="105156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658368" y="4517136"/>
            <a:ext cx="1938528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ST GEORGE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2670048" y="4596346"/>
            <a:ext cx="930656" cy="19362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4818888" y="4517136"/>
            <a:ext cx="105156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658368" y="4869180"/>
            <a:ext cx="1938528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ST GEORGE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2670048" y="4948390"/>
            <a:ext cx="930656" cy="19362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4818888" y="4869180"/>
            <a:ext cx="105156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658368" y="5221224"/>
            <a:ext cx="1938528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LEXUS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2670048" y="5300434"/>
            <a:ext cx="930656" cy="19362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4818888" y="5221224"/>
            <a:ext cx="105156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658368" y="5573268"/>
            <a:ext cx="1938528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HENDERSON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2670048" y="5652478"/>
            <a:ext cx="930656" cy="19362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4818888" y="5573268"/>
            <a:ext cx="105156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6208776" y="1700784"/>
            <a:ext cx="1938528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FLAGSTAFF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8220456" y="1779994"/>
            <a:ext cx="930656" cy="19362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10369296" y="1700784"/>
            <a:ext cx="105156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6208776" y="2052828"/>
            <a:ext cx="1938528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PRESCOTT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8220456" y="2132038"/>
            <a:ext cx="930656" cy="19362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10369296" y="2052828"/>
            <a:ext cx="105156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300" dirty="0"/>
          </a:p>
        </p:txBody>
      </p:sp>
      <p:sp>
        <p:nvSpPr>
          <p:cNvPr id="50" name="Text 48"/>
          <p:cNvSpPr txBox="1"/>
          <p:nvPr/>
        </p:nvSpPr>
        <p:spPr>
          <a:xfrm>
            <a:off x="6208776" y="2404872"/>
            <a:ext cx="1938528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HENDERSON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8220456" y="2484082"/>
            <a:ext cx="697992" cy="19362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10369296" y="2404872"/>
            <a:ext cx="105156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300" dirty="0"/>
          </a:p>
        </p:txBody>
      </p:sp>
      <p:sp>
        <p:nvSpPr>
          <p:cNvPr id="53" name="Text 51"/>
          <p:cNvSpPr txBox="1"/>
          <p:nvPr/>
        </p:nvSpPr>
        <p:spPr>
          <a:xfrm>
            <a:off x="6208776" y="2756916"/>
            <a:ext cx="1938528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GMC PRESCOTT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8220456" y="2836126"/>
            <a:ext cx="465328" cy="19362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10369296" y="2756916"/>
            <a:ext cx="105156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56" name="Text 54"/>
          <p:cNvSpPr txBox="1"/>
          <p:nvPr/>
        </p:nvSpPr>
        <p:spPr>
          <a:xfrm>
            <a:off x="6208776" y="3108960"/>
            <a:ext cx="1938528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CDJR POST FALLS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8220456" y="3188170"/>
            <a:ext cx="465328" cy="19362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10369296" y="3108960"/>
            <a:ext cx="105156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59" name="Text 57"/>
          <p:cNvSpPr txBox="1"/>
          <p:nvPr/>
        </p:nvSpPr>
        <p:spPr>
          <a:xfrm>
            <a:off x="6208776" y="3461004"/>
            <a:ext cx="1938528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LV</a:t>
            </a:r>
            <a:endParaRPr lang="en-US" sz="1300" dirty="0"/>
          </a:p>
        </p:txBody>
      </p:sp>
      <p:sp>
        <p:nvSpPr>
          <p:cNvPr id="60" name="Shape 58"/>
          <p:cNvSpPr/>
          <p:nvPr/>
        </p:nvSpPr>
        <p:spPr>
          <a:xfrm>
            <a:off x="8220456" y="3540214"/>
            <a:ext cx="465328" cy="19362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61" name="Text 59"/>
          <p:cNvSpPr txBox="1"/>
          <p:nvPr/>
        </p:nvSpPr>
        <p:spPr>
          <a:xfrm>
            <a:off x="10369296" y="3461004"/>
            <a:ext cx="105156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62" name="Text 60"/>
          <p:cNvSpPr txBox="1"/>
          <p:nvPr/>
        </p:nvSpPr>
        <p:spPr>
          <a:xfrm>
            <a:off x="6208776" y="3813048"/>
            <a:ext cx="1938528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RENO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8220456" y="3892258"/>
            <a:ext cx="465328" cy="19362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64" name="Text 62"/>
          <p:cNvSpPr txBox="1"/>
          <p:nvPr/>
        </p:nvSpPr>
        <p:spPr>
          <a:xfrm>
            <a:off x="10369296" y="3813048"/>
            <a:ext cx="105156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65" name="Text 63"/>
          <p:cNvSpPr txBox="1"/>
          <p:nvPr/>
        </p:nvSpPr>
        <p:spPr>
          <a:xfrm>
            <a:off x="6208776" y="4165092"/>
            <a:ext cx="1938528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SPOKANE</a:t>
            </a:r>
            <a:endParaRPr lang="en-US" sz="1300" dirty="0"/>
          </a:p>
        </p:txBody>
      </p:sp>
      <p:sp>
        <p:nvSpPr>
          <p:cNvPr id="66" name="Shape 64"/>
          <p:cNvSpPr/>
          <p:nvPr/>
        </p:nvSpPr>
        <p:spPr>
          <a:xfrm>
            <a:off x="8220456" y="4244302"/>
            <a:ext cx="465328" cy="19362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67" name="Text 65"/>
          <p:cNvSpPr txBox="1"/>
          <p:nvPr/>
        </p:nvSpPr>
        <p:spPr>
          <a:xfrm>
            <a:off x="10369296" y="4165092"/>
            <a:ext cx="105156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68" name="Text 66"/>
          <p:cNvSpPr txBox="1"/>
          <p:nvPr/>
        </p:nvSpPr>
        <p:spPr>
          <a:xfrm>
            <a:off x="6208776" y="4517136"/>
            <a:ext cx="1938528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VOLVO</a:t>
            </a:r>
            <a:endParaRPr lang="en-US" sz="1300" dirty="0"/>
          </a:p>
        </p:txBody>
      </p:sp>
      <p:sp>
        <p:nvSpPr>
          <p:cNvPr id="69" name="Shape 67"/>
          <p:cNvSpPr/>
          <p:nvPr/>
        </p:nvSpPr>
        <p:spPr>
          <a:xfrm>
            <a:off x="8220456" y="4596346"/>
            <a:ext cx="465328" cy="19362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70" name="Text 68"/>
          <p:cNvSpPr txBox="1"/>
          <p:nvPr/>
        </p:nvSpPr>
        <p:spPr>
          <a:xfrm>
            <a:off x="10369296" y="4517136"/>
            <a:ext cx="105156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71" name="Text 69"/>
          <p:cNvSpPr txBox="1"/>
          <p:nvPr/>
        </p:nvSpPr>
        <p:spPr>
          <a:xfrm>
            <a:off x="6208776" y="4869180"/>
            <a:ext cx="1938528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LV</a:t>
            </a:r>
            <a:endParaRPr lang="en-US" sz="1300" dirty="0"/>
          </a:p>
        </p:txBody>
      </p:sp>
      <p:sp>
        <p:nvSpPr>
          <p:cNvPr id="72" name="Shape 70"/>
          <p:cNvSpPr/>
          <p:nvPr/>
        </p:nvSpPr>
        <p:spPr>
          <a:xfrm>
            <a:off x="8220456" y="4948390"/>
            <a:ext cx="232664" cy="19362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73" name="Text 71"/>
          <p:cNvSpPr txBox="1"/>
          <p:nvPr/>
        </p:nvSpPr>
        <p:spPr>
          <a:xfrm>
            <a:off x="10369296" y="4869180"/>
            <a:ext cx="105156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74" name="Text 72"/>
          <p:cNvSpPr txBox="1"/>
          <p:nvPr/>
        </p:nvSpPr>
        <p:spPr>
          <a:xfrm>
            <a:off x="6208776" y="5221224"/>
            <a:ext cx="1938528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PRESCOTT</a:t>
            </a:r>
            <a:endParaRPr lang="en-US" sz="1300" dirty="0"/>
          </a:p>
        </p:txBody>
      </p:sp>
      <p:sp>
        <p:nvSpPr>
          <p:cNvPr id="75" name="Shape 73"/>
          <p:cNvSpPr/>
          <p:nvPr/>
        </p:nvSpPr>
        <p:spPr>
          <a:xfrm>
            <a:off x="8220456" y="5300434"/>
            <a:ext cx="232664" cy="19362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76" name="Text 74"/>
          <p:cNvSpPr txBox="1"/>
          <p:nvPr/>
        </p:nvSpPr>
        <p:spPr>
          <a:xfrm>
            <a:off x="10369296" y="5221224"/>
            <a:ext cx="105156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77" name="Shape 75"/>
          <p:cNvSpPr/>
          <p:nvPr/>
        </p:nvSpPr>
        <p:spPr>
          <a:xfrm>
            <a:off x="457200" y="6126480"/>
            <a:ext cx="11274552" cy="371856"/>
          </a:xfrm>
          <a:prstGeom prst="rect">
            <a:avLst/>
          </a:prstGeom>
          <a:solidFill>
            <a:srgbClr val="E6F6EE"/>
          </a:solidFill>
          <a:ln/>
        </p:spPr>
      </p:sp>
      <p:sp>
        <p:nvSpPr>
          <p:cNvPr id="78" name="Text 76"/>
          <p:cNvSpPr txBox="1"/>
          <p:nvPr/>
        </p:nvSpPr>
        <p:spPr>
          <a:xfrm>
            <a:off x="658368" y="6144768"/>
            <a:ext cx="1092708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 of 33 stores set a new monthly record in 2026; Honda Spokane and Nissan set the most, 9 each.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 RECORDS · OPTION: RANKER BY CATEGORY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Monthly Gross Records Set in 2026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47823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" y="1417320"/>
            <a:ext cx="128016" cy="128016"/>
          </a:xfrm>
          <a:prstGeom prst="rect">
            <a:avLst/>
          </a:prstGeom>
          <a:solidFill>
            <a:srgbClr val="0B7A4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41248" y="1316736"/>
            <a:ext cx="8732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824228" y="1417320"/>
            <a:ext cx="128016" cy="12801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007108" y="1316736"/>
            <a:ext cx="6812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98064" y="1417320"/>
            <a:ext cx="128016" cy="128016"/>
          </a:xfrm>
          <a:prstGeom prst="rect">
            <a:avLst/>
          </a:prstGeom>
          <a:solidFill>
            <a:srgbClr val="8ED3B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980944" y="1316736"/>
            <a:ext cx="9692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Combined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959352" y="1316736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SVC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462272" y="1316736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PTS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965192" y="1316736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468112" y="1316736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08776" y="1417320"/>
            <a:ext cx="128016" cy="128016"/>
          </a:xfrm>
          <a:prstGeom prst="rect">
            <a:avLst/>
          </a:prstGeom>
          <a:solidFill>
            <a:srgbClr val="0B7A4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391656" y="1316736"/>
            <a:ext cx="8732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374636" y="1417320"/>
            <a:ext cx="128016" cy="12801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557516" y="1316736"/>
            <a:ext cx="6812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348472" y="1417320"/>
            <a:ext cx="128016" cy="128016"/>
          </a:xfrm>
          <a:prstGeom prst="rect">
            <a:avLst/>
          </a:prstGeom>
          <a:solidFill>
            <a:srgbClr val="8ED3B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531352" y="1316736"/>
            <a:ext cx="9692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Combined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9509760" y="1316736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SVC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0012680" y="1316736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PTS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0515600" y="1316736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1018520" y="1316736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58368" y="1700784"/>
            <a:ext cx="1938528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SPOKANE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670048" y="1779994"/>
            <a:ext cx="540512" cy="193624"/>
          </a:xfrm>
          <a:prstGeom prst="rect">
            <a:avLst/>
          </a:prstGeom>
          <a:solidFill>
            <a:srgbClr val="0B7A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10560" y="1779994"/>
            <a:ext cx="135128" cy="193624"/>
          </a:xfrm>
          <a:prstGeom prst="rect">
            <a:avLst/>
          </a:prstGeom>
          <a:solidFill>
            <a:srgbClr val="12A566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345688" y="1779994"/>
            <a:ext cx="540512" cy="193624"/>
          </a:xfrm>
          <a:prstGeom prst="rect">
            <a:avLst/>
          </a:prstGeom>
          <a:solidFill>
            <a:srgbClr val="8ED3B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959352" y="1700784"/>
            <a:ext cx="5029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4462272" y="1700784"/>
            <a:ext cx="5029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4965192" y="1700784"/>
            <a:ext cx="5029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5468112" y="1700784"/>
            <a:ext cx="5486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658368" y="2052828"/>
            <a:ext cx="1938528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NISSAN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2670048" y="2132038"/>
            <a:ext cx="405384" cy="193624"/>
          </a:xfrm>
          <a:prstGeom prst="rect">
            <a:avLst/>
          </a:prstGeom>
          <a:solidFill>
            <a:srgbClr val="0B7A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075432" y="2132038"/>
            <a:ext cx="270256" cy="193624"/>
          </a:xfrm>
          <a:prstGeom prst="rect">
            <a:avLst/>
          </a:prstGeom>
          <a:solidFill>
            <a:srgbClr val="12A566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345688" y="2132038"/>
            <a:ext cx="540512" cy="193624"/>
          </a:xfrm>
          <a:prstGeom prst="rect">
            <a:avLst/>
          </a:prstGeom>
          <a:solidFill>
            <a:srgbClr val="8ED3B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3959352" y="2052828"/>
            <a:ext cx="5029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4462272" y="2052828"/>
            <a:ext cx="5029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4965192" y="2052828"/>
            <a:ext cx="5029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5468112" y="2052828"/>
            <a:ext cx="5486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658368" y="2404872"/>
            <a:ext cx="1938528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HENDERSON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2670048" y="2484082"/>
            <a:ext cx="270256" cy="193624"/>
          </a:xfrm>
          <a:prstGeom prst="rect">
            <a:avLst/>
          </a:prstGeom>
          <a:solidFill>
            <a:srgbClr val="0B7A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940304" y="2484082"/>
            <a:ext cx="405384" cy="193624"/>
          </a:xfrm>
          <a:prstGeom prst="rect">
            <a:avLst/>
          </a:prstGeom>
          <a:solidFill>
            <a:srgbClr val="12A566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345688" y="2484082"/>
            <a:ext cx="405384" cy="193624"/>
          </a:xfrm>
          <a:prstGeom prst="rect">
            <a:avLst/>
          </a:prstGeom>
          <a:solidFill>
            <a:srgbClr val="8ED3B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3959352" y="2404872"/>
            <a:ext cx="5029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4462272" y="2404872"/>
            <a:ext cx="5029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300" dirty="0"/>
          </a:p>
        </p:txBody>
      </p:sp>
      <p:sp>
        <p:nvSpPr>
          <p:cNvPr id="48" name="Text 46"/>
          <p:cNvSpPr txBox="1"/>
          <p:nvPr/>
        </p:nvSpPr>
        <p:spPr>
          <a:xfrm>
            <a:off x="4965192" y="2404872"/>
            <a:ext cx="5029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300" dirty="0"/>
          </a:p>
        </p:txBody>
      </p:sp>
      <p:sp>
        <p:nvSpPr>
          <p:cNvPr id="49" name="Text 47"/>
          <p:cNvSpPr txBox="1"/>
          <p:nvPr/>
        </p:nvSpPr>
        <p:spPr>
          <a:xfrm>
            <a:off x="5468112" y="2404872"/>
            <a:ext cx="5486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300" dirty="0"/>
          </a:p>
        </p:txBody>
      </p:sp>
      <p:sp>
        <p:nvSpPr>
          <p:cNvPr id="50" name="Text 48"/>
          <p:cNvSpPr txBox="1"/>
          <p:nvPr/>
        </p:nvSpPr>
        <p:spPr>
          <a:xfrm>
            <a:off x="658368" y="2756916"/>
            <a:ext cx="1938528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HENDERSON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2670048" y="2836126"/>
            <a:ext cx="405384" cy="193624"/>
          </a:xfrm>
          <a:prstGeom prst="rect">
            <a:avLst/>
          </a:prstGeom>
          <a:solidFill>
            <a:srgbClr val="0B7A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075432" y="2836126"/>
            <a:ext cx="135128" cy="193624"/>
          </a:xfrm>
          <a:prstGeom prst="rect">
            <a:avLst/>
          </a:prstGeom>
          <a:solidFill>
            <a:srgbClr val="12A566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210560" y="2836126"/>
            <a:ext cx="405384" cy="193624"/>
          </a:xfrm>
          <a:prstGeom prst="rect">
            <a:avLst/>
          </a:prstGeom>
          <a:solidFill>
            <a:srgbClr val="8ED3B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3959352" y="2756916"/>
            <a:ext cx="5029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300" dirty="0"/>
          </a:p>
        </p:txBody>
      </p:sp>
      <p:sp>
        <p:nvSpPr>
          <p:cNvPr id="55" name="Text 53"/>
          <p:cNvSpPr txBox="1"/>
          <p:nvPr/>
        </p:nvSpPr>
        <p:spPr>
          <a:xfrm>
            <a:off x="4462272" y="2756916"/>
            <a:ext cx="5029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56" name="Text 54"/>
          <p:cNvSpPr txBox="1"/>
          <p:nvPr/>
        </p:nvSpPr>
        <p:spPr>
          <a:xfrm>
            <a:off x="4965192" y="2756916"/>
            <a:ext cx="5029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300" dirty="0"/>
          </a:p>
        </p:txBody>
      </p:sp>
      <p:sp>
        <p:nvSpPr>
          <p:cNvPr id="57" name="Text 55"/>
          <p:cNvSpPr txBox="1"/>
          <p:nvPr/>
        </p:nvSpPr>
        <p:spPr>
          <a:xfrm>
            <a:off x="5468112" y="2756916"/>
            <a:ext cx="5486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300" dirty="0"/>
          </a:p>
        </p:txBody>
      </p:sp>
      <p:sp>
        <p:nvSpPr>
          <p:cNvPr id="58" name="Text 56"/>
          <p:cNvSpPr txBox="1"/>
          <p:nvPr/>
        </p:nvSpPr>
        <p:spPr>
          <a:xfrm>
            <a:off x="658368" y="3108960"/>
            <a:ext cx="1938528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ST GEORGE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2670048" y="3188170"/>
            <a:ext cx="270256" cy="193624"/>
          </a:xfrm>
          <a:prstGeom prst="rect">
            <a:avLst/>
          </a:prstGeom>
          <a:solidFill>
            <a:srgbClr val="0B7A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940304" y="3188170"/>
            <a:ext cx="405384" cy="193624"/>
          </a:xfrm>
          <a:prstGeom prst="rect">
            <a:avLst/>
          </a:prstGeom>
          <a:solidFill>
            <a:srgbClr val="12A566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3345688" y="3188170"/>
            <a:ext cx="270256" cy="193624"/>
          </a:xfrm>
          <a:prstGeom prst="rect">
            <a:avLst/>
          </a:prstGeom>
          <a:solidFill>
            <a:srgbClr val="8ED3B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3959352" y="3108960"/>
            <a:ext cx="5029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63" name="Text 61"/>
          <p:cNvSpPr txBox="1"/>
          <p:nvPr/>
        </p:nvSpPr>
        <p:spPr>
          <a:xfrm>
            <a:off x="4462272" y="3108960"/>
            <a:ext cx="5029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300" dirty="0"/>
          </a:p>
        </p:txBody>
      </p:sp>
      <p:sp>
        <p:nvSpPr>
          <p:cNvPr id="64" name="Text 62"/>
          <p:cNvSpPr txBox="1"/>
          <p:nvPr/>
        </p:nvSpPr>
        <p:spPr>
          <a:xfrm>
            <a:off x="4965192" y="3108960"/>
            <a:ext cx="5029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65" name="Text 63"/>
          <p:cNvSpPr txBox="1"/>
          <p:nvPr/>
        </p:nvSpPr>
        <p:spPr>
          <a:xfrm>
            <a:off x="5468112" y="3108960"/>
            <a:ext cx="5486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300" dirty="0"/>
          </a:p>
        </p:txBody>
      </p:sp>
      <p:sp>
        <p:nvSpPr>
          <p:cNvPr id="66" name="Text 64"/>
          <p:cNvSpPr txBox="1"/>
          <p:nvPr/>
        </p:nvSpPr>
        <p:spPr>
          <a:xfrm>
            <a:off x="658368" y="3461004"/>
            <a:ext cx="1938528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PRESCOTT</a:t>
            </a:r>
            <a:endParaRPr lang="en-US" sz="1300" dirty="0"/>
          </a:p>
        </p:txBody>
      </p:sp>
      <p:sp>
        <p:nvSpPr>
          <p:cNvPr id="67" name="Shape 65"/>
          <p:cNvSpPr/>
          <p:nvPr/>
        </p:nvSpPr>
        <p:spPr>
          <a:xfrm>
            <a:off x="2670048" y="3540214"/>
            <a:ext cx="270256" cy="193624"/>
          </a:xfrm>
          <a:prstGeom prst="rect">
            <a:avLst/>
          </a:prstGeom>
          <a:solidFill>
            <a:srgbClr val="0B7A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940304" y="3540214"/>
            <a:ext cx="135128" cy="193624"/>
          </a:xfrm>
          <a:prstGeom prst="rect">
            <a:avLst/>
          </a:prstGeom>
          <a:solidFill>
            <a:srgbClr val="12A566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3075432" y="3540214"/>
            <a:ext cx="405384" cy="193624"/>
          </a:xfrm>
          <a:prstGeom prst="rect">
            <a:avLst/>
          </a:prstGeom>
          <a:solidFill>
            <a:srgbClr val="8ED3B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3959352" y="3461004"/>
            <a:ext cx="5029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71" name="Text 69"/>
          <p:cNvSpPr txBox="1"/>
          <p:nvPr/>
        </p:nvSpPr>
        <p:spPr>
          <a:xfrm>
            <a:off x="4462272" y="3461004"/>
            <a:ext cx="5029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72" name="Text 70"/>
          <p:cNvSpPr txBox="1"/>
          <p:nvPr/>
        </p:nvSpPr>
        <p:spPr>
          <a:xfrm>
            <a:off x="4965192" y="3461004"/>
            <a:ext cx="5029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300" dirty="0"/>
          </a:p>
        </p:txBody>
      </p:sp>
      <p:sp>
        <p:nvSpPr>
          <p:cNvPr id="73" name="Text 71"/>
          <p:cNvSpPr txBox="1"/>
          <p:nvPr/>
        </p:nvSpPr>
        <p:spPr>
          <a:xfrm>
            <a:off x="5468112" y="3461004"/>
            <a:ext cx="5486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300" dirty="0"/>
          </a:p>
        </p:txBody>
      </p:sp>
      <p:sp>
        <p:nvSpPr>
          <p:cNvPr id="74" name="Text 72"/>
          <p:cNvSpPr txBox="1"/>
          <p:nvPr/>
        </p:nvSpPr>
        <p:spPr>
          <a:xfrm>
            <a:off x="658368" y="3813048"/>
            <a:ext cx="1938528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LINCOLN</a:t>
            </a:r>
            <a:endParaRPr lang="en-US" sz="1300" dirty="0"/>
          </a:p>
        </p:txBody>
      </p:sp>
      <p:sp>
        <p:nvSpPr>
          <p:cNvPr id="75" name="Shape 73"/>
          <p:cNvSpPr/>
          <p:nvPr/>
        </p:nvSpPr>
        <p:spPr>
          <a:xfrm>
            <a:off x="2670048" y="3892258"/>
            <a:ext cx="270256" cy="193624"/>
          </a:xfrm>
          <a:prstGeom prst="rect">
            <a:avLst/>
          </a:prstGeom>
          <a:solidFill>
            <a:srgbClr val="0B7A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940304" y="3892258"/>
            <a:ext cx="135128" cy="193624"/>
          </a:xfrm>
          <a:prstGeom prst="rect">
            <a:avLst/>
          </a:prstGeom>
          <a:solidFill>
            <a:srgbClr val="12A566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075432" y="3892258"/>
            <a:ext cx="405384" cy="193624"/>
          </a:xfrm>
          <a:prstGeom prst="rect">
            <a:avLst/>
          </a:prstGeom>
          <a:solidFill>
            <a:srgbClr val="8ED3B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3959352" y="3813048"/>
            <a:ext cx="5029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79" name="Text 77"/>
          <p:cNvSpPr txBox="1"/>
          <p:nvPr/>
        </p:nvSpPr>
        <p:spPr>
          <a:xfrm>
            <a:off x="4462272" y="3813048"/>
            <a:ext cx="5029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80" name="Text 78"/>
          <p:cNvSpPr txBox="1"/>
          <p:nvPr/>
        </p:nvSpPr>
        <p:spPr>
          <a:xfrm>
            <a:off x="4965192" y="3813048"/>
            <a:ext cx="5029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300" dirty="0"/>
          </a:p>
        </p:txBody>
      </p:sp>
      <p:sp>
        <p:nvSpPr>
          <p:cNvPr id="81" name="Text 79"/>
          <p:cNvSpPr txBox="1"/>
          <p:nvPr/>
        </p:nvSpPr>
        <p:spPr>
          <a:xfrm>
            <a:off x="5468112" y="3813048"/>
            <a:ext cx="5486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300" dirty="0"/>
          </a:p>
        </p:txBody>
      </p:sp>
      <p:sp>
        <p:nvSpPr>
          <p:cNvPr id="82" name="Text 80"/>
          <p:cNvSpPr txBox="1"/>
          <p:nvPr/>
        </p:nvSpPr>
        <p:spPr>
          <a:xfrm>
            <a:off x="658368" y="4165092"/>
            <a:ext cx="1938528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MAZDA</a:t>
            </a:r>
            <a:endParaRPr lang="en-US" sz="1300" dirty="0"/>
          </a:p>
        </p:txBody>
      </p:sp>
      <p:sp>
        <p:nvSpPr>
          <p:cNvPr id="83" name="Shape 81"/>
          <p:cNvSpPr/>
          <p:nvPr/>
        </p:nvSpPr>
        <p:spPr>
          <a:xfrm>
            <a:off x="2670048" y="4244302"/>
            <a:ext cx="270256" cy="193624"/>
          </a:xfrm>
          <a:prstGeom prst="rect">
            <a:avLst/>
          </a:prstGeom>
          <a:solidFill>
            <a:srgbClr val="0B7A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2940304" y="4244302"/>
            <a:ext cx="135128" cy="193624"/>
          </a:xfrm>
          <a:prstGeom prst="rect">
            <a:avLst/>
          </a:prstGeom>
          <a:solidFill>
            <a:srgbClr val="12A566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3075432" y="4244302"/>
            <a:ext cx="270256" cy="193624"/>
          </a:xfrm>
          <a:prstGeom prst="rect">
            <a:avLst/>
          </a:prstGeom>
          <a:solidFill>
            <a:srgbClr val="8ED3B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6" name="Text 84"/>
          <p:cNvSpPr txBox="1"/>
          <p:nvPr/>
        </p:nvSpPr>
        <p:spPr>
          <a:xfrm>
            <a:off x="3959352" y="4165092"/>
            <a:ext cx="5029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87" name="Text 85"/>
          <p:cNvSpPr txBox="1"/>
          <p:nvPr/>
        </p:nvSpPr>
        <p:spPr>
          <a:xfrm>
            <a:off x="4462272" y="4165092"/>
            <a:ext cx="5029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88" name="Text 86"/>
          <p:cNvSpPr txBox="1"/>
          <p:nvPr/>
        </p:nvSpPr>
        <p:spPr>
          <a:xfrm>
            <a:off x="4965192" y="4165092"/>
            <a:ext cx="5029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89" name="Text 87"/>
          <p:cNvSpPr txBox="1"/>
          <p:nvPr/>
        </p:nvSpPr>
        <p:spPr>
          <a:xfrm>
            <a:off x="5468112" y="4165092"/>
            <a:ext cx="5486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300" dirty="0"/>
          </a:p>
        </p:txBody>
      </p:sp>
      <p:sp>
        <p:nvSpPr>
          <p:cNvPr id="90" name="Text 88"/>
          <p:cNvSpPr txBox="1"/>
          <p:nvPr/>
        </p:nvSpPr>
        <p:spPr>
          <a:xfrm>
            <a:off x="658368" y="4517136"/>
            <a:ext cx="1938528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ST GEORGE</a:t>
            </a:r>
            <a:endParaRPr lang="en-US" sz="1300" dirty="0"/>
          </a:p>
        </p:txBody>
      </p:sp>
      <p:sp>
        <p:nvSpPr>
          <p:cNvPr id="91" name="Shape 89"/>
          <p:cNvSpPr/>
          <p:nvPr/>
        </p:nvSpPr>
        <p:spPr>
          <a:xfrm>
            <a:off x="2670048" y="4596346"/>
            <a:ext cx="270256" cy="193624"/>
          </a:xfrm>
          <a:prstGeom prst="rect">
            <a:avLst/>
          </a:prstGeom>
          <a:solidFill>
            <a:srgbClr val="0B7A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2940304" y="4596346"/>
            <a:ext cx="135128" cy="193624"/>
          </a:xfrm>
          <a:prstGeom prst="rect">
            <a:avLst/>
          </a:prstGeom>
          <a:solidFill>
            <a:srgbClr val="12A566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075432" y="4596346"/>
            <a:ext cx="135128" cy="193624"/>
          </a:xfrm>
          <a:prstGeom prst="rect">
            <a:avLst/>
          </a:prstGeom>
          <a:solidFill>
            <a:srgbClr val="8ED3B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4" name="Text 92"/>
          <p:cNvSpPr txBox="1"/>
          <p:nvPr/>
        </p:nvSpPr>
        <p:spPr>
          <a:xfrm>
            <a:off x="3959352" y="4517136"/>
            <a:ext cx="5029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95" name="Text 93"/>
          <p:cNvSpPr txBox="1"/>
          <p:nvPr/>
        </p:nvSpPr>
        <p:spPr>
          <a:xfrm>
            <a:off x="4462272" y="4517136"/>
            <a:ext cx="5029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96" name="Text 94"/>
          <p:cNvSpPr txBox="1"/>
          <p:nvPr/>
        </p:nvSpPr>
        <p:spPr>
          <a:xfrm>
            <a:off x="4965192" y="4517136"/>
            <a:ext cx="5029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97" name="Text 95"/>
          <p:cNvSpPr txBox="1"/>
          <p:nvPr/>
        </p:nvSpPr>
        <p:spPr>
          <a:xfrm>
            <a:off x="5468112" y="4517136"/>
            <a:ext cx="5486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300" dirty="0"/>
          </a:p>
        </p:txBody>
      </p:sp>
      <p:sp>
        <p:nvSpPr>
          <p:cNvPr id="98" name="Text 96"/>
          <p:cNvSpPr txBox="1"/>
          <p:nvPr/>
        </p:nvSpPr>
        <p:spPr>
          <a:xfrm>
            <a:off x="658368" y="4869180"/>
            <a:ext cx="1938528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LEXUS</a:t>
            </a:r>
            <a:endParaRPr lang="en-US" sz="1300" dirty="0"/>
          </a:p>
        </p:txBody>
      </p:sp>
      <p:sp>
        <p:nvSpPr>
          <p:cNvPr id="99" name="Shape 97"/>
          <p:cNvSpPr/>
          <p:nvPr/>
        </p:nvSpPr>
        <p:spPr>
          <a:xfrm>
            <a:off x="2670048" y="4948390"/>
            <a:ext cx="270256" cy="193624"/>
          </a:xfrm>
          <a:prstGeom prst="rect">
            <a:avLst/>
          </a:prstGeom>
          <a:solidFill>
            <a:srgbClr val="0B7A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2940304" y="4948390"/>
            <a:ext cx="135128" cy="193624"/>
          </a:xfrm>
          <a:prstGeom prst="rect">
            <a:avLst/>
          </a:prstGeom>
          <a:solidFill>
            <a:srgbClr val="12A566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3075432" y="4948390"/>
            <a:ext cx="135128" cy="193624"/>
          </a:xfrm>
          <a:prstGeom prst="rect">
            <a:avLst/>
          </a:prstGeom>
          <a:solidFill>
            <a:srgbClr val="8ED3B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2" name="Text 100"/>
          <p:cNvSpPr txBox="1"/>
          <p:nvPr/>
        </p:nvSpPr>
        <p:spPr>
          <a:xfrm>
            <a:off x="3959352" y="4869180"/>
            <a:ext cx="5029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103" name="Text 101"/>
          <p:cNvSpPr txBox="1"/>
          <p:nvPr/>
        </p:nvSpPr>
        <p:spPr>
          <a:xfrm>
            <a:off x="4462272" y="4869180"/>
            <a:ext cx="5029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104" name="Text 102"/>
          <p:cNvSpPr txBox="1"/>
          <p:nvPr/>
        </p:nvSpPr>
        <p:spPr>
          <a:xfrm>
            <a:off x="4965192" y="4869180"/>
            <a:ext cx="5029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105" name="Text 103"/>
          <p:cNvSpPr txBox="1"/>
          <p:nvPr/>
        </p:nvSpPr>
        <p:spPr>
          <a:xfrm>
            <a:off x="5468112" y="4869180"/>
            <a:ext cx="5486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300" dirty="0"/>
          </a:p>
        </p:txBody>
      </p:sp>
      <p:sp>
        <p:nvSpPr>
          <p:cNvPr id="106" name="Text 104"/>
          <p:cNvSpPr txBox="1"/>
          <p:nvPr/>
        </p:nvSpPr>
        <p:spPr>
          <a:xfrm>
            <a:off x="658368" y="5221224"/>
            <a:ext cx="1938528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HENDERSON</a:t>
            </a:r>
            <a:endParaRPr lang="en-US" sz="1300" dirty="0"/>
          </a:p>
        </p:txBody>
      </p:sp>
      <p:sp>
        <p:nvSpPr>
          <p:cNvPr id="107" name="Shape 105"/>
          <p:cNvSpPr/>
          <p:nvPr/>
        </p:nvSpPr>
        <p:spPr>
          <a:xfrm>
            <a:off x="2670048" y="5300434"/>
            <a:ext cx="270256" cy="193624"/>
          </a:xfrm>
          <a:prstGeom prst="rect">
            <a:avLst/>
          </a:prstGeom>
          <a:solidFill>
            <a:srgbClr val="0B7A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2940304" y="5300434"/>
            <a:ext cx="135128" cy="193624"/>
          </a:xfrm>
          <a:prstGeom prst="rect">
            <a:avLst/>
          </a:prstGeom>
          <a:solidFill>
            <a:srgbClr val="12A566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3075432" y="5300434"/>
            <a:ext cx="135128" cy="193624"/>
          </a:xfrm>
          <a:prstGeom prst="rect">
            <a:avLst/>
          </a:prstGeom>
          <a:solidFill>
            <a:srgbClr val="8ED3B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0" name="Text 108"/>
          <p:cNvSpPr txBox="1"/>
          <p:nvPr/>
        </p:nvSpPr>
        <p:spPr>
          <a:xfrm>
            <a:off x="3959352" y="5221224"/>
            <a:ext cx="5029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111" name="Text 109"/>
          <p:cNvSpPr txBox="1"/>
          <p:nvPr/>
        </p:nvSpPr>
        <p:spPr>
          <a:xfrm>
            <a:off x="4462272" y="5221224"/>
            <a:ext cx="5029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112" name="Text 110"/>
          <p:cNvSpPr txBox="1"/>
          <p:nvPr/>
        </p:nvSpPr>
        <p:spPr>
          <a:xfrm>
            <a:off x="4965192" y="5221224"/>
            <a:ext cx="5029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113" name="Text 111"/>
          <p:cNvSpPr txBox="1"/>
          <p:nvPr/>
        </p:nvSpPr>
        <p:spPr>
          <a:xfrm>
            <a:off x="5468112" y="5221224"/>
            <a:ext cx="5486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300" dirty="0"/>
          </a:p>
        </p:txBody>
      </p:sp>
      <p:sp>
        <p:nvSpPr>
          <p:cNvPr id="114" name="Text 112"/>
          <p:cNvSpPr txBox="1"/>
          <p:nvPr/>
        </p:nvSpPr>
        <p:spPr>
          <a:xfrm>
            <a:off x="658368" y="5573268"/>
            <a:ext cx="1938528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FLAGSTAFF</a:t>
            </a:r>
            <a:endParaRPr lang="en-US" sz="1300" dirty="0"/>
          </a:p>
        </p:txBody>
      </p:sp>
      <p:sp>
        <p:nvSpPr>
          <p:cNvPr id="115" name="Shape 113"/>
          <p:cNvSpPr/>
          <p:nvPr/>
        </p:nvSpPr>
        <p:spPr>
          <a:xfrm>
            <a:off x="2670048" y="5652478"/>
            <a:ext cx="405384" cy="193624"/>
          </a:xfrm>
          <a:prstGeom prst="rect">
            <a:avLst/>
          </a:prstGeom>
          <a:solidFill>
            <a:srgbClr val="0B7A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3075432" y="5652478"/>
            <a:ext cx="135128" cy="193624"/>
          </a:xfrm>
          <a:prstGeom prst="rect">
            <a:avLst/>
          </a:prstGeom>
          <a:solidFill>
            <a:srgbClr val="8ED3B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7" name="Text 115"/>
          <p:cNvSpPr txBox="1"/>
          <p:nvPr/>
        </p:nvSpPr>
        <p:spPr>
          <a:xfrm>
            <a:off x="3959352" y="5573268"/>
            <a:ext cx="5029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300" dirty="0"/>
          </a:p>
        </p:txBody>
      </p:sp>
      <p:sp>
        <p:nvSpPr>
          <p:cNvPr id="118" name="Text 116"/>
          <p:cNvSpPr txBox="1"/>
          <p:nvPr/>
        </p:nvSpPr>
        <p:spPr>
          <a:xfrm>
            <a:off x="4462272" y="5573268"/>
            <a:ext cx="5029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–</a:t>
            </a:r>
            <a:endParaRPr lang="en-US" sz="1300" dirty="0"/>
          </a:p>
        </p:txBody>
      </p:sp>
      <p:sp>
        <p:nvSpPr>
          <p:cNvPr id="119" name="Text 117"/>
          <p:cNvSpPr txBox="1"/>
          <p:nvPr/>
        </p:nvSpPr>
        <p:spPr>
          <a:xfrm>
            <a:off x="4965192" y="5573268"/>
            <a:ext cx="5029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120" name="Text 118"/>
          <p:cNvSpPr txBox="1"/>
          <p:nvPr/>
        </p:nvSpPr>
        <p:spPr>
          <a:xfrm>
            <a:off x="5468112" y="5573268"/>
            <a:ext cx="5486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300" dirty="0"/>
          </a:p>
        </p:txBody>
      </p:sp>
      <p:sp>
        <p:nvSpPr>
          <p:cNvPr id="121" name="Text 119"/>
          <p:cNvSpPr txBox="1"/>
          <p:nvPr/>
        </p:nvSpPr>
        <p:spPr>
          <a:xfrm>
            <a:off x="6208776" y="1700784"/>
            <a:ext cx="1938528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PRESCOTT</a:t>
            </a:r>
            <a:endParaRPr lang="en-US" sz="1300" dirty="0"/>
          </a:p>
        </p:txBody>
      </p:sp>
      <p:sp>
        <p:nvSpPr>
          <p:cNvPr id="122" name="Shape 120"/>
          <p:cNvSpPr/>
          <p:nvPr/>
        </p:nvSpPr>
        <p:spPr>
          <a:xfrm>
            <a:off x="8220456" y="1779994"/>
            <a:ext cx="270256" cy="193624"/>
          </a:xfrm>
          <a:prstGeom prst="rect">
            <a:avLst/>
          </a:prstGeom>
          <a:solidFill>
            <a:srgbClr val="0B7A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8490712" y="1779994"/>
            <a:ext cx="135128" cy="193624"/>
          </a:xfrm>
          <a:prstGeom prst="rect">
            <a:avLst/>
          </a:prstGeom>
          <a:solidFill>
            <a:srgbClr val="12A566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8625840" y="1779994"/>
            <a:ext cx="135128" cy="193624"/>
          </a:xfrm>
          <a:prstGeom prst="rect">
            <a:avLst/>
          </a:prstGeom>
          <a:solidFill>
            <a:srgbClr val="8ED3B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5" name="Text 123"/>
          <p:cNvSpPr txBox="1"/>
          <p:nvPr/>
        </p:nvSpPr>
        <p:spPr>
          <a:xfrm>
            <a:off x="9509760" y="1700784"/>
            <a:ext cx="5029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126" name="Text 124"/>
          <p:cNvSpPr txBox="1"/>
          <p:nvPr/>
        </p:nvSpPr>
        <p:spPr>
          <a:xfrm>
            <a:off x="10012680" y="1700784"/>
            <a:ext cx="5029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127" name="Text 125"/>
          <p:cNvSpPr txBox="1"/>
          <p:nvPr/>
        </p:nvSpPr>
        <p:spPr>
          <a:xfrm>
            <a:off x="10515600" y="1700784"/>
            <a:ext cx="5029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128" name="Text 126"/>
          <p:cNvSpPr txBox="1"/>
          <p:nvPr/>
        </p:nvSpPr>
        <p:spPr>
          <a:xfrm>
            <a:off x="11018520" y="1700784"/>
            <a:ext cx="5486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300" dirty="0"/>
          </a:p>
        </p:txBody>
      </p:sp>
      <p:sp>
        <p:nvSpPr>
          <p:cNvPr id="129" name="Text 127"/>
          <p:cNvSpPr txBox="1"/>
          <p:nvPr/>
        </p:nvSpPr>
        <p:spPr>
          <a:xfrm>
            <a:off x="6208776" y="2052828"/>
            <a:ext cx="1938528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ST GEORGE</a:t>
            </a:r>
            <a:endParaRPr lang="en-US" sz="1300" dirty="0"/>
          </a:p>
        </p:txBody>
      </p:sp>
      <p:sp>
        <p:nvSpPr>
          <p:cNvPr id="130" name="Shape 128"/>
          <p:cNvSpPr/>
          <p:nvPr/>
        </p:nvSpPr>
        <p:spPr>
          <a:xfrm>
            <a:off x="8220456" y="2132038"/>
            <a:ext cx="540512" cy="193624"/>
          </a:xfrm>
          <a:prstGeom prst="rect">
            <a:avLst/>
          </a:prstGeom>
          <a:solidFill>
            <a:srgbClr val="0B7A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31" name="Text 129"/>
          <p:cNvSpPr txBox="1"/>
          <p:nvPr/>
        </p:nvSpPr>
        <p:spPr>
          <a:xfrm>
            <a:off x="9509760" y="2052828"/>
            <a:ext cx="5029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300" dirty="0"/>
          </a:p>
        </p:txBody>
      </p:sp>
      <p:sp>
        <p:nvSpPr>
          <p:cNvPr id="132" name="Text 130"/>
          <p:cNvSpPr txBox="1"/>
          <p:nvPr/>
        </p:nvSpPr>
        <p:spPr>
          <a:xfrm>
            <a:off x="10012680" y="2052828"/>
            <a:ext cx="5029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–</a:t>
            </a:r>
            <a:endParaRPr lang="en-US" sz="1300" dirty="0"/>
          </a:p>
        </p:txBody>
      </p:sp>
      <p:sp>
        <p:nvSpPr>
          <p:cNvPr id="133" name="Text 131"/>
          <p:cNvSpPr txBox="1"/>
          <p:nvPr/>
        </p:nvSpPr>
        <p:spPr>
          <a:xfrm>
            <a:off x="10515600" y="2052828"/>
            <a:ext cx="5029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–</a:t>
            </a:r>
            <a:endParaRPr lang="en-US" sz="1300" dirty="0"/>
          </a:p>
        </p:txBody>
      </p:sp>
      <p:sp>
        <p:nvSpPr>
          <p:cNvPr id="134" name="Text 132"/>
          <p:cNvSpPr txBox="1"/>
          <p:nvPr/>
        </p:nvSpPr>
        <p:spPr>
          <a:xfrm>
            <a:off x="11018520" y="2052828"/>
            <a:ext cx="5486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300" dirty="0"/>
          </a:p>
        </p:txBody>
      </p:sp>
      <p:sp>
        <p:nvSpPr>
          <p:cNvPr id="135" name="Text 133"/>
          <p:cNvSpPr txBox="1"/>
          <p:nvPr/>
        </p:nvSpPr>
        <p:spPr>
          <a:xfrm>
            <a:off x="6208776" y="2404872"/>
            <a:ext cx="1938528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HENDERSON</a:t>
            </a:r>
            <a:endParaRPr lang="en-US" sz="1300" dirty="0"/>
          </a:p>
        </p:txBody>
      </p:sp>
      <p:sp>
        <p:nvSpPr>
          <p:cNvPr id="136" name="Shape 134"/>
          <p:cNvSpPr/>
          <p:nvPr/>
        </p:nvSpPr>
        <p:spPr>
          <a:xfrm>
            <a:off x="8220456" y="2484082"/>
            <a:ext cx="135128" cy="193624"/>
          </a:xfrm>
          <a:prstGeom prst="rect">
            <a:avLst/>
          </a:prstGeom>
          <a:solidFill>
            <a:srgbClr val="12A566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8355584" y="2484082"/>
            <a:ext cx="270256" cy="193624"/>
          </a:xfrm>
          <a:prstGeom prst="rect">
            <a:avLst/>
          </a:prstGeom>
          <a:solidFill>
            <a:srgbClr val="8ED3B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38" name="Text 136"/>
          <p:cNvSpPr txBox="1"/>
          <p:nvPr/>
        </p:nvSpPr>
        <p:spPr>
          <a:xfrm>
            <a:off x="9509760" y="2404872"/>
            <a:ext cx="5029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–</a:t>
            </a:r>
            <a:endParaRPr lang="en-US" sz="1300" dirty="0"/>
          </a:p>
        </p:txBody>
      </p:sp>
      <p:sp>
        <p:nvSpPr>
          <p:cNvPr id="139" name="Text 137"/>
          <p:cNvSpPr txBox="1"/>
          <p:nvPr/>
        </p:nvSpPr>
        <p:spPr>
          <a:xfrm>
            <a:off x="10012680" y="2404872"/>
            <a:ext cx="5029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140" name="Text 138"/>
          <p:cNvSpPr txBox="1"/>
          <p:nvPr/>
        </p:nvSpPr>
        <p:spPr>
          <a:xfrm>
            <a:off x="10515600" y="2404872"/>
            <a:ext cx="5029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141" name="Text 139"/>
          <p:cNvSpPr txBox="1"/>
          <p:nvPr/>
        </p:nvSpPr>
        <p:spPr>
          <a:xfrm>
            <a:off x="11018520" y="2404872"/>
            <a:ext cx="5486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300" dirty="0"/>
          </a:p>
        </p:txBody>
      </p:sp>
      <p:sp>
        <p:nvSpPr>
          <p:cNvPr id="142" name="Text 140"/>
          <p:cNvSpPr txBox="1"/>
          <p:nvPr/>
        </p:nvSpPr>
        <p:spPr>
          <a:xfrm>
            <a:off x="6208776" y="2756916"/>
            <a:ext cx="1938528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GMC PRESCOTT</a:t>
            </a:r>
            <a:endParaRPr lang="en-US" sz="1300" dirty="0"/>
          </a:p>
        </p:txBody>
      </p:sp>
      <p:sp>
        <p:nvSpPr>
          <p:cNvPr id="143" name="Shape 141"/>
          <p:cNvSpPr/>
          <p:nvPr/>
        </p:nvSpPr>
        <p:spPr>
          <a:xfrm>
            <a:off x="8220456" y="2836126"/>
            <a:ext cx="135128" cy="193624"/>
          </a:xfrm>
          <a:prstGeom prst="rect">
            <a:avLst/>
          </a:prstGeom>
          <a:solidFill>
            <a:srgbClr val="12A566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8355584" y="2836126"/>
            <a:ext cx="135128" cy="193624"/>
          </a:xfrm>
          <a:prstGeom prst="rect">
            <a:avLst/>
          </a:prstGeom>
          <a:solidFill>
            <a:srgbClr val="8ED3B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45" name="Text 143"/>
          <p:cNvSpPr txBox="1"/>
          <p:nvPr/>
        </p:nvSpPr>
        <p:spPr>
          <a:xfrm>
            <a:off x="9509760" y="2756916"/>
            <a:ext cx="5029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–</a:t>
            </a:r>
            <a:endParaRPr lang="en-US" sz="1300" dirty="0"/>
          </a:p>
        </p:txBody>
      </p:sp>
      <p:sp>
        <p:nvSpPr>
          <p:cNvPr id="146" name="Text 144"/>
          <p:cNvSpPr txBox="1"/>
          <p:nvPr/>
        </p:nvSpPr>
        <p:spPr>
          <a:xfrm>
            <a:off x="10012680" y="2756916"/>
            <a:ext cx="5029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147" name="Text 145"/>
          <p:cNvSpPr txBox="1"/>
          <p:nvPr/>
        </p:nvSpPr>
        <p:spPr>
          <a:xfrm>
            <a:off x="10515600" y="2756916"/>
            <a:ext cx="5029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148" name="Text 146"/>
          <p:cNvSpPr txBox="1"/>
          <p:nvPr/>
        </p:nvSpPr>
        <p:spPr>
          <a:xfrm>
            <a:off x="11018520" y="2756916"/>
            <a:ext cx="5486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149" name="Text 147"/>
          <p:cNvSpPr txBox="1"/>
          <p:nvPr/>
        </p:nvSpPr>
        <p:spPr>
          <a:xfrm>
            <a:off x="6208776" y="3108960"/>
            <a:ext cx="1938528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CDJR POST FALLS</a:t>
            </a:r>
            <a:endParaRPr lang="en-US" sz="1300" dirty="0"/>
          </a:p>
        </p:txBody>
      </p:sp>
      <p:sp>
        <p:nvSpPr>
          <p:cNvPr id="150" name="Shape 148"/>
          <p:cNvSpPr/>
          <p:nvPr/>
        </p:nvSpPr>
        <p:spPr>
          <a:xfrm>
            <a:off x="8220456" y="3188170"/>
            <a:ext cx="135128" cy="193624"/>
          </a:xfrm>
          <a:prstGeom prst="rect">
            <a:avLst/>
          </a:prstGeom>
          <a:solidFill>
            <a:srgbClr val="0B7A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8355584" y="3188170"/>
            <a:ext cx="135128" cy="193624"/>
          </a:xfrm>
          <a:prstGeom prst="rect">
            <a:avLst/>
          </a:prstGeom>
          <a:solidFill>
            <a:srgbClr val="8ED3B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52" name="Text 150"/>
          <p:cNvSpPr txBox="1"/>
          <p:nvPr/>
        </p:nvSpPr>
        <p:spPr>
          <a:xfrm>
            <a:off x="9509760" y="3108960"/>
            <a:ext cx="5029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153" name="Text 151"/>
          <p:cNvSpPr txBox="1"/>
          <p:nvPr/>
        </p:nvSpPr>
        <p:spPr>
          <a:xfrm>
            <a:off x="10012680" y="3108960"/>
            <a:ext cx="5029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–</a:t>
            </a:r>
            <a:endParaRPr lang="en-US" sz="1300" dirty="0"/>
          </a:p>
        </p:txBody>
      </p:sp>
      <p:sp>
        <p:nvSpPr>
          <p:cNvPr id="154" name="Text 152"/>
          <p:cNvSpPr txBox="1"/>
          <p:nvPr/>
        </p:nvSpPr>
        <p:spPr>
          <a:xfrm>
            <a:off x="10515600" y="3108960"/>
            <a:ext cx="5029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155" name="Text 153"/>
          <p:cNvSpPr txBox="1"/>
          <p:nvPr/>
        </p:nvSpPr>
        <p:spPr>
          <a:xfrm>
            <a:off x="11018520" y="3108960"/>
            <a:ext cx="5486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156" name="Text 154"/>
          <p:cNvSpPr txBox="1"/>
          <p:nvPr/>
        </p:nvSpPr>
        <p:spPr>
          <a:xfrm>
            <a:off x="6208776" y="3461004"/>
            <a:ext cx="1938528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LV</a:t>
            </a:r>
            <a:endParaRPr lang="en-US" sz="1300" dirty="0"/>
          </a:p>
        </p:txBody>
      </p:sp>
      <p:sp>
        <p:nvSpPr>
          <p:cNvPr id="157" name="Shape 155"/>
          <p:cNvSpPr/>
          <p:nvPr/>
        </p:nvSpPr>
        <p:spPr>
          <a:xfrm>
            <a:off x="8220456" y="3540214"/>
            <a:ext cx="135128" cy="193624"/>
          </a:xfrm>
          <a:prstGeom prst="rect">
            <a:avLst/>
          </a:prstGeom>
          <a:solidFill>
            <a:srgbClr val="0B7A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8355584" y="3540214"/>
            <a:ext cx="135128" cy="193624"/>
          </a:xfrm>
          <a:prstGeom prst="rect">
            <a:avLst/>
          </a:prstGeom>
          <a:solidFill>
            <a:srgbClr val="8ED3B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59" name="Text 157"/>
          <p:cNvSpPr txBox="1"/>
          <p:nvPr/>
        </p:nvSpPr>
        <p:spPr>
          <a:xfrm>
            <a:off x="9509760" y="3461004"/>
            <a:ext cx="5029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160" name="Text 158"/>
          <p:cNvSpPr txBox="1"/>
          <p:nvPr/>
        </p:nvSpPr>
        <p:spPr>
          <a:xfrm>
            <a:off x="10012680" y="3461004"/>
            <a:ext cx="5029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–</a:t>
            </a:r>
            <a:endParaRPr lang="en-US" sz="1300" dirty="0"/>
          </a:p>
        </p:txBody>
      </p:sp>
      <p:sp>
        <p:nvSpPr>
          <p:cNvPr id="161" name="Text 159"/>
          <p:cNvSpPr txBox="1"/>
          <p:nvPr/>
        </p:nvSpPr>
        <p:spPr>
          <a:xfrm>
            <a:off x="10515600" y="3461004"/>
            <a:ext cx="5029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162" name="Text 160"/>
          <p:cNvSpPr txBox="1"/>
          <p:nvPr/>
        </p:nvSpPr>
        <p:spPr>
          <a:xfrm>
            <a:off x="11018520" y="3461004"/>
            <a:ext cx="5486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163" name="Text 161"/>
          <p:cNvSpPr txBox="1"/>
          <p:nvPr/>
        </p:nvSpPr>
        <p:spPr>
          <a:xfrm>
            <a:off x="6208776" y="3813048"/>
            <a:ext cx="1938528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RENO</a:t>
            </a:r>
            <a:endParaRPr lang="en-US" sz="1300" dirty="0"/>
          </a:p>
        </p:txBody>
      </p:sp>
      <p:sp>
        <p:nvSpPr>
          <p:cNvPr id="164" name="Shape 162"/>
          <p:cNvSpPr/>
          <p:nvPr/>
        </p:nvSpPr>
        <p:spPr>
          <a:xfrm>
            <a:off x="8220456" y="3892258"/>
            <a:ext cx="135128" cy="193624"/>
          </a:xfrm>
          <a:prstGeom prst="rect">
            <a:avLst/>
          </a:prstGeom>
          <a:solidFill>
            <a:srgbClr val="0B7A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8355584" y="3892258"/>
            <a:ext cx="135128" cy="193624"/>
          </a:xfrm>
          <a:prstGeom prst="rect">
            <a:avLst/>
          </a:prstGeom>
          <a:solidFill>
            <a:srgbClr val="8ED3B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66" name="Text 164"/>
          <p:cNvSpPr txBox="1"/>
          <p:nvPr/>
        </p:nvSpPr>
        <p:spPr>
          <a:xfrm>
            <a:off x="9509760" y="3813048"/>
            <a:ext cx="5029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167" name="Text 165"/>
          <p:cNvSpPr txBox="1"/>
          <p:nvPr/>
        </p:nvSpPr>
        <p:spPr>
          <a:xfrm>
            <a:off x="10012680" y="3813048"/>
            <a:ext cx="5029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–</a:t>
            </a:r>
            <a:endParaRPr lang="en-US" sz="1300" dirty="0"/>
          </a:p>
        </p:txBody>
      </p:sp>
      <p:sp>
        <p:nvSpPr>
          <p:cNvPr id="168" name="Text 166"/>
          <p:cNvSpPr txBox="1"/>
          <p:nvPr/>
        </p:nvSpPr>
        <p:spPr>
          <a:xfrm>
            <a:off x="10515600" y="3813048"/>
            <a:ext cx="5029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169" name="Text 167"/>
          <p:cNvSpPr txBox="1"/>
          <p:nvPr/>
        </p:nvSpPr>
        <p:spPr>
          <a:xfrm>
            <a:off x="11018520" y="3813048"/>
            <a:ext cx="5486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170" name="Text 168"/>
          <p:cNvSpPr txBox="1"/>
          <p:nvPr/>
        </p:nvSpPr>
        <p:spPr>
          <a:xfrm>
            <a:off x="6208776" y="4165092"/>
            <a:ext cx="1938528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SPOKANE</a:t>
            </a:r>
            <a:endParaRPr lang="en-US" sz="1300" dirty="0"/>
          </a:p>
        </p:txBody>
      </p:sp>
      <p:sp>
        <p:nvSpPr>
          <p:cNvPr id="171" name="Shape 169"/>
          <p:cNvSpPr/>
          <p:nvPr/>
        </p:nvSpPr>
        <p:spPr>
          <a:xfrm>
            <a:off x="8220456" y="4244302"/>
            <a:ext cx="135128" cy="193624"/>
          </a:xfrm>
          <a:prstGeom prst="rect">
            <a:avLst/>
          </a:prstGeom>
          <a:solidFill>
            <a:srgbClr val="0B7A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8355584" y="4244302"/>
            <a:ext cx="135128" cy="193624"/>
          </a:xfrm>
          <a:prstGeom prst="rect">
            <a:avLst/>
          </a:prstGeom>
          <a:solidFill>
            <a:srgbClr val="8ED3B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73" name="Text 171"/>
          <p:cNvSpPr txBox="1"/>
          <p:nvPr/>
        </p:nvSpPr>
        <p:spPr>
          <a:xfrm>
            <a:off x="9509760" y="4165092"/>
            <a:ext cx="5029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174" name="Text 172"/>
          <p:cNvSpPr txBox="1"/>
          <p:nvPr/>
        </p:nvSpPr>
        <p:spPr>
          <a:xfrm>
            <a:off x="10012680" y="4165092"/>
            <a:ext cx="5029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–</a:t>
            </a:r>
            <a:endParaRPr lang="en-US" sz="1300" dirty="0"/>
          </a:p>
        </p:txBody>
      </p:sp>
      <p:sp>
        <p:nvSpPr>
          <p:cNvPr id="175" name="Text 173"/>
          <p:cNvSpPr txBox="1"/>
          <p:nvPr/>
        </p:nvSpPr>
        <p:spPr>
          <a:xfrm>
            <a:off x="10515600" y="4165092"/>
            <a:ext cx="5029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176" name="Text 174"/>
          <p:cNvSpPr txBox="1"/>
          <p:nvPr/>
        </p:nvSpPr>
        <p:spPr>
          <a:xfrm>
            <a:off x="11018520" y="4165092"/>
            <a:ext cx="5486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177" name="Text 175"/>
          <p:cNvSpPr txBox="1"/>
          <p:nvPr/>
        </p:nvSpPr>
        <p:spPr>
          <a:xfrm>
            <a:off x="6208776" y="4517136"/>
            <a:ext cx="1938528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VOLVO</a:t>
            </a:r>
            <a:endParaRPr lang="en-US" sz="1300" dirty="0"/>
          </a:p>
        </p:txBody>
      </p:sp>
      <p:sp>
        <p:nvSpPr>
          <p:cNvPr id="178" name="Shape 176"/>
          <p:cNvSpPr/>
          <p:nvPr/>
        </p:nvSpPr>
        <p:spPr>
          <a:xfrm>
            <a:off x="8220456" y="4596346"/>
            <a:ext cx="270256" cy="193624"/>
          </a:xfrm>
          <a:prstGeom prst="rect">
            <a:avLst/>
          </a:prstGeom>
          <a:solidFill>
            <a:srgbClr val="0B7A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79" name="Text 177"/>
          <p:cNvSpPr txBox="1"/>
          <p:nvPr/>
        </p:nvSpPr>
        <p:spPr>
          <a:xfrm>
            <a:off x="9509760" y="4517136"/>
            <a:ext cx="5029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180" name="Text 178"/>
          <p:cNvSpPr txBox="1"/>
          <p:nvPr/>
        </p:nvSpPr>
        <p:spPr>
          <a:xfrm>
            <a:off x="10012680" y="4517136"/>
            <a:ext cx="5029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–</a:t>
            </a:r>
            <a:endParaRPr lang="en-US" sz="1300" dirty="0"/>
          </a:p>
        </p:txBody>
      </p:sp>
      <p:sp>
        <p:nvSpPr>
          <p:cNvPr id="181" name="Text 179"/>
          <p:cNvSpPr txBox="1"/>
          <p:nvPr/>
        </p:nvSpPr>
        <p:spPr>
          <a:xfrm>
            <a:off x="10515600" y="4517136"/>
            <a:ext cx="5029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–</a:t>
            </a:r>
            <a:endParaRPr lang="en-US" sz="1300" dirty="0"/>
          </a:p>
        </p:txBody>
      </p:sp>
      <p:sp>
        <p:nvSpPr>
          <p:cNvPr id="182" name="Text 180"/>
          <p:cNvSpPr txBox="1"/>
          <p:nvPr/>
        </p:nvSpPr>
        <p:spPr>
          <a:xfrm>
            <a:off x="11018520" y="4517136"/>
            <a:ext cx="5486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183" name="Text 181"/>
          <p:cNvSpPr txBox="1"/>
          <p:nvPr/>
        </p:nvSpPr>
        <p:spPr>
          <a:xfrm>
            <a:off x="6208776" y="4869180"/>
            <a:ext cx="1938528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PRESCOTT</a:t>
            </a:r>
            <a:endParaRPr lang="en-US" sz="1300" dirty="0"/>
          </a:p>
        </p:txBody>
      </p:sp>
      <p:sp>
        <p:nvSpPr>
          <p:cNvPr id="184" name="Shape 182"/>
          <p:cNvSpPr/>
          <p:nvPr/>
        </p:nvSpPr>
        <p:spPr>
          <a:xfrm>
            <a:off x="8220456" y="4948390"/>
            <a:ext cx="135128" cy="193624"/>
          </a:xfrm>
          <a:prstGeom prst="rect">
            <a:avLst/>
          </a:prstGeom>
          <a:solidFill>
            <a:srgbClr val="8ED3B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85" name="Text 183"/>
          <p:cNvSpPr txBox="1"/>
          <p:nvPr/>
        </p:nvSpPr>
        <p:spPr>
          <a:xfrm>
            <a:off x="9509760" y="4869180"/>
            <a:ext cx="5029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–</a:t>
            </a:r>
            <a:endParaRPr lang="en-US" sz="1300" dirty="0"/>
          </a:p>
        </p:txBody>
      </p:sp>
      <p:sp>
        <p:nvSpPr>
          <p:cNvPr id="186" name="Text 184"/>
          <p:cNvSpPr txBox="1"/>
          <p:nvPr/>
        </p:nvSpPr>
        <p:spPr>
          <a:xfrm>
            <a:off x="10012680" y="4869180"/>
            <a:ext cx="5029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–</a:t>
            </a:r>
            <a:endParaRPr lang="en-US" sz="1300" dirty="0"/>
          </a:p>
        </p:txBody>
      </p:sp>
      <p:sp>
        <p:nvSpPr>
          <p:cNvPr id="187" name="Text 185"/>
          <p:cNvSpPr txBox="1"/>
          <p:nvPr/>
        </p:nvSpPr>
        <p:spPr>
          <a:xfrm>
            <a:off x="10515600" y="4869180"/>
            <a:ext cx="5029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188" name="Text 186"/>
          <p:cNvSpPr txBox="1"/>
          <p:nvPr/>
        </p:nvSpPr>
        <p:spPr>
          <a:xfrm>
            <a:off x="11018520" y="4869180"/>
            <a:ext cx="5486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189" name="Text 187"/>
          <p:cNvSpPr txBox="1"/>
          <p:nvPr/>
        </p:nvSpPr>
        <p:spPr>
          <a:xfrm>
            <a:off x="6208776" y="5221224"/>
            <a:ext cx="1938528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LV</a:t>
            </a:r>
            <a:endParaRPr lang="en-US" sz="1300" dirty="0"/>
          </a:p>
        </p:txBody>
      </p:sp>
      <p:sp>
        <p:nvSpPr>
          <p:cNvPr id="190" name="Shape 188"/>
          <p:cNvSpPr/>
          <p:nvPr/>
        </p:nvSpPr>
        <p:spPr>
          <a:xfrm>
            <a:off x="8220456" y="5300434"/>
            <a:ext cx="135128" cy="193624"/>
          </a:xfrm>
          <a:prstGeom prst="rect">
            <a:avLst/>
          </a:prstGeom>
          <a:solidFill>
            <a:srgbClr val="0B7A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91" name="Text 189"/>
          <p:cNvSpPr txBox="1"/>
          <p:nvPr/>
        </p:nvSpPr>
        <p:spPr>
          <a:xfrm>
            <a:off x="9509760" y="5221224"/>
            <a:ext cx="5029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192" name="Text 190"/>
          <p:cNvSpPr txBox="1"/>
          <p:nvPr/>
        </p:nvSpPr>
        <p:spPr>
          <a:xfrm>
            <a:off x="10012680" y="5221224"/>
            <a:ext cx="5029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–</a:t>
            </a:r>
            <a:endParaRPr lang="en-US" sz="1300" dirty="0"/>
          </a:p>
        </p:txBody>
      </p:sp>
      <p:sp>
        <p:nvSpPr>
          <p:cNvPr id="193" name="Text 191"/>
          <p:cNvSpPr txBox="1"/>
          <p:nvPr/>
        </p:nvSpPr>
        <p:spPr>
          <a:xfrm>
            <a:off x="10515600" y="5221224"/>
            <a:ext cx="5029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–</a:t>
            </a:r>
            <a:endParaRPr lang="en-US" sz="1300" dirty="0"/>
          </a:p>
        </p:txBody>
      </p:sp>
      <p:sp>
        <p:nvSpPr>
          <p:cNvPr id="194" name="Text 192"/>
          <p:cNvSpPr txBox="1"/>
          <p:nvPr/>
        </p:nvSpPr>
        <p:spPr>
          <a:xfrm>
            <a:off x="11018520" y="5221224"/>
            <a:ext cx="5486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195" name="Shape 193"/>
          <p:cNvSpPr/>
          <p:nvPr/>
        </p:nvSpPr>
        <p:spPr>
          <a:xfrm>
            <a:off x="457200" y="6126480"/>
            <a:ext cx="11274552" cy="356616"/>
          </a:xfrm>
          <a:prstGeom prst="rect">
            <a:avLst/>
          </a:prstGeom>
          <a:solidFill>
            <a:srgbClr val="E6F6EE"/>
          </a:solidFill>
          <a:ln/>
        </p:spPr>
      </p:sp>
      <p:sp>
        <p:nvSpPr>
          <p:cNvPr id="196" name="Text 194"/>
          <p:cNvSpPr txBox="1"/>
          <p:nvPr/>
        </p:nvSpPr>
        <p:spPr>
          <a:xfrm>
            <a:off x="658368" y="6144768"/>
            <a:ext cx="10927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 of 33 stores set 98 new monthly records in 2026: 42 in service, 19 in parts and 37 in combined gross.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2026-10-21T21:04:29Z</dcterms:created>
  <dcterms:modified xsi:type="dcterms:W3CDTF">2026-10-21T21:04:29Z</dcterms:modified>
</cp:coreProperties>
</file>