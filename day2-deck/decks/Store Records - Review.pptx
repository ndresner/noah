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Earlier</c:v>
                </c:pt>
              </c:strCache>
            </c:strRef>
          </c:tx>
          <c:spPr>
            <a:solidFill>
              <a:srgbClr val="9AA3AD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111.43</c:v>
                </c:pt>
                <c:pt idx="1">
                  <c:v>126.71</c:v>
                </c:pt>
                <c:pt idx="2">
                  <c:v>143.75</c:v>
                </c:pt>
                <c:pt idx="3">
                  <c:v>156.71</c:v>
                </c:pt>
                <c:pt idx="4">
                  <c:v>181.62</c:v>
                </c:pt>
                <c:pt idx="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Latest</c:v>
                </c:pt>
              </c:strCache>
            </c:strRef>
          </c:tx>
          <c:spPr>
            <a:solidFill>
              <a:srgbClr val="2587C5"/>
            </a:solidFill>
            <a:effectLst/>
          </c:spPr>
          <c:invertIfNegative val="0"/>
          <c:dLbls>
            <c:numFmt formatCode="$0.0&quot;M&quot;;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2021</c:v>
                  </c:pt>
                  <c:pt idx="1">
                    <c:v>2022</c:v>
                  </c:pt>
                  <c:pt idx="2">
                    <c:v>2023</c:v>
                  </c:pt>
                  <c:pt idx="3">
                    <c:v>2024</c:v>
                  </c:pt>
                  <c:pt idx="4">
                    <c:v>2025</c:v>
                  </c:pt>
                  <c:pt idx="5">
                    <c:v>2026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188.95</c:v>
                </c:pt>
              </c:numCache>
            </c:numRef>
          </c:val>
        </c:ser>
        <c:dLbls>
          <c:numFmt formatCode="$0.0&quot;M&quot;;;" sourceLinked="0"/>
          <c:txPr>
            <a:bodyPr/>
            <a:lstStyle/>
            <a:p>
              <a:pPr>
                <a:defRPr b="1" i="0" strike="noStrike" sz="14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Group = sum of 33 stores. TB group total differs from the P&amp;L figure used elsewhere in the deck ($188.80M) by the GMC PRESCOTT difference above.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Record = Jan-Sep 2026 above every prior Jan-Sep for that store. % = combined gain over the previous best Jan-Sep. Stores with shorter histories count the same: HONDA SPOKANE (from 2025), HYUNDAI PRESCOTT (from 2023), LR HENDERSON (from 2022), NISSAN (from 2024). Order: records in all three first, then by % gain.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Hyundai Prescott, Lincoln, Lexus and Audi Henderson beat their previous best by the most in percentage terms.Source: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Toyota Henderson, Audi Henderson, Lexus and Lincoln beat their previous best by the most in dollars.Source: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Combined service + parts, Jan-Sep 2026 vs the store's best prior Jan-Sep.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23 of 33 stores set a new monthly record in 2026; Honda Spokane and Nissan set the most, 9 each.Source: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 in service, parts or combined gross, Jan-Sep 2026.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Month each record was set, by store:
AUDI HENDERSON: parts record reset once (Jul); combined record reset twice (Apr, Jul).
CDJR POST FALLS: service record reset once (Jul); combined record reset once (Jul).
GMC PRESCOTT: parts record reset once (Apr); combined record reset once (Apr).
HONDA HENDERSON: service record reset 3 times (Mar, Jun, Jul); parts record reset once (Jul); combined record reset 3 times (Mar, Jun, Jul).
HONDA SPOKANE: service record reset 4 times (Mar, Apr, Jun, Jul); parts record reset once (Jul); combined record reset 4 times (Mar, Apr, Jun, Jul).
HYUNDAI PRESCOTT: service record reset twice (Mar, Jul); parts record reset once (Feb); combined record reset 3 times (Feb, Mar, Jul).
HYUNDAI ST GEORGE: service record reset 4 times (Jan, Mar, Jul, Sep).
KIA LV: service record reset once (Sep).
KIA ST GEORGE: service record reset twice (Apr, Jul); parts record reset once (Jul); combined record reset once (Jul).
LEXUS: service record reset twice (Mar, May); parts record reset once (May); combined record reset once (May).
LINCOLN: service record reset twice (Aug, Sep); parts record reset once (Mar); combined record reset 3 times (Mar, Aug, Sep).
LR HENDERSON: service record reset twice (Aug, Sep); parts record reset once (Jul); combined record reset once (Jul).
LR LV: service record reset once (Jul); combined record reset once (Jul).
LR RENO: service record reset once (Aug); combined record reset once (Aug).
MAZDA: service record reset twice (Aug, Sep); parts record reset once (Sep); combined record reset twice (Aug, Sep).
NISSAN: service record reset 3 times (Mar, Jun, Sep); parts record reset twice (Jun, Jul); combined record reset 4 times (Mar, Jun, Jul, Sep).
SUBARU PRESCOTT: combined record reset once (Apr).
SUBARU ST GEORGE: service record reset twice (Jan, Mar); parts record reset 3 times (Mar, Apr, Jun); combined record reset twice (Mar, Jun).
TOYOTA FLAGSTAFF: service record reset 3 times (Mar, Apr, May); combined record reset once (Mar).
TOYOTA HENDERSON: service record reset twice (Apr, Jul); parts record reset 3 times (Jun, Aug, Sep); combined record reset 3 times (Apr, Jun, Jul).
TOYOTA PRESCOTT: service record reset twice (Mar, Apr); parts record reset once (Apr); combined record reset once (Apr).
TOYOTA SPOKANE: service record reset once (Jul); combined record reset once (Jul).
VOLVO: service record reset twice (Apr, Jun).
Source: Qlik - Fixed Ops Accounting TB (Family FIXED GROSS, service + parts, body shop excluded), pulled Oct 8 2026. History Jan 2021 - Sep 2026; months before a store opened are ignored. Same-store, INEOS excluded. Matches the P&amp;L for every store except GMC PRESCOTT service (TB higher by $153,746 Jan-Sep 2026, $286,430 Jan-Sep 2025; GMC PRESCOTT's combined record holds on both). Count of times a store set a new all-time monthly high, Jan-Sep 2026. SVC = service gross, PTS = parts gross, TOT = service + parts combined. Each new high counts, so a record beaten twice counts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A RECORD YEAR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Gross Profit - Fixed Ops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758952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fixed gross, January–September, by year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7132320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621792" y="1810512"/>
          <a:ext cx="7269480" cy="4050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207008"/>
            <a:ext cx="35021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458200" y="1344168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says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458200" y="1691640"/>
            <a:ext cx="30449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Shape 9"/>
          <p:cNvSpPr/>
          <p:nvPr/>
        </p:nvSpPr>
        <p:spPr>
          <a:xfrm>
            <a:off x="8458200" y="1938528"/>
            <a:ext cx="100584" cy="100584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705088" y="1810512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month ever: July 2026, $22.73M.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458200" y="3072384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05088" y="29443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of the group's 7 best months came in 2026.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8458200" y="4206240"/>
            <a:ext cx="100584" cy="100584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705088" y="4078224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had their best January–September ever.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January–September fixed gross has grown every year since 2021, to $188.95M in 2026.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RECORD BOARD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64261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27832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813048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23951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193024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778240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363456" y="1316736"/>
            <a:ext cx="585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948672" y="1316736"/>
            <a:ext cx="8412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0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BEST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85750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2716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027932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398264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239512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85216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8368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285750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42716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27932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98264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85750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42716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27932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398264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5239512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85216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8368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85750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442716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27932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398264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239512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85750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442716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027932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4398264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$2.70M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239512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+15.7%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285750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442716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027932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398264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$3.52M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5239512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285750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442716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027932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4398264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$4.47M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5239512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+10.4%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585216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85750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3442716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027932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398264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$4.78M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5239512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+10.2%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285750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442716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027932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4398264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$2.34M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239512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585216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658368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76" name="Shape 74"/>
          <p:cNvSpPr/>
          <p:nvPr/>
        </p:nvSpPr>
        <p:spPr>
          <a:xfrm>
            <a:off x="285750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442716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4027932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4398264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5239512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+8.5%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658368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285750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3442716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4027932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4398264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$14.42M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239512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+4.2%</a:t>
            </a:r>
            <a:endParaRPr lang="en-US" sz="1300" dirty="0"/>
          </a:p>
        </p:txBody>
      </p:sp>
      <p:sp>
        <p:nvSpPr>
          <p:cNvPr id="87" name="Shape 85"/>
          <p:cNvSpPr/>
          <p:nvPr/>
        </p:nvSpPr>
        <p:spPr>
          <a:xfrm>
            <a:off x="585216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658368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9" name="Shape 87"/>
          <p:cNvSpPr/>
          <p:nvPr/>
        </p:nvSpPr>
        <p:spPr>
          <a:xfrm>
            <a:off x="285750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42716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027932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2" name="Text 90"/>
          <p:cNvSpPr txBox="1"/>
          <p:nvPr/>
        </p:nvSpPr>
        <p:spPr>
          <a:xfrm>
            <a:off x="4398264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$3.31M</a:t>
            </a:r>
            <a:endParaRPr lang="en-US" sz="1300" dirty="0"/>
          </a:p>
        </p:txBody>
      </p:sp>
      <p:sp>
        <p:nvSpPr>
          <p:cNvPr id="93" name="Text 91"/>
          <p:cNvSpPr txBox="1"/>
          <p:nvPr/>
        </p:nvSpPr>
        <p:spPr>
          <a:xfrm>
            <a:off x="5239512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+3.7%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658368" y="56003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95" name="Shape 93"/>
          <p:cNvSpPr/>
          <p:nvPr/>
        </p:nvSpPr>
        <p:spPr>
          <a:xfrm>
            <a:off x="2857500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442716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4027932" y="56851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4398264" y="56003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$3.42M</a:t>
            </a:r>
            <a:endParaRPr lang="en-US" sz="1300" dirty="0"/>
          </a:p>
        </p:txBody>
      </p:sp>
      <p:sp>
        <p:nvSpPr>
          <p:cNvPr id="99" name="Text 97"/>
          <p:cNvSpPr txBox="1"/>
          <p:nvPr/>
        </p:nvSpPr>
        <p:spPr>
          <a:xfrm>
            <a:off x="5239512" y="56003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+2.8%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170078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8407908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993124" y="17855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9578340" y="17855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9948672" y="170078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$5.08M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10789920" y="170078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+13.0%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6135624" y="2025748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6208776" y="2025748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407908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993124" y="2110506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9578340" y="2110506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9948672" y="2025748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$5.93M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10789920" y="2025748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6208776" y="235071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407908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93124" y="243546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578340" y="243546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9948672" y="235071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$4.18M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789920" y="235071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+9.7%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67567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67567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407908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8993124" y="2760433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9578340" y="2760433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9948672" y="267567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$2.21M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89920" y="267567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+7.6%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3000639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27" name="Shape 125"/>
          <p:cNvSpPr/>
          <p:nvPr/>
        </p:nvSpPr>
        <p:spPr>
          <a:xfrm>
            <a:off x="8407908" y="3085397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8993124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9578340" y="3085397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9948672" y="3000639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$9.60M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89920" y="3000639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6135624" y="3325602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208776" y="3325602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407908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8993124" y="3410360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578340" y="3410360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37" name="Text 135"/>
          <p:cNvSpPr txBox="1"/>
          <p:nvPr/>
        </p:nvSpPr>
        <p:spPr>
          <a:xfrm>
            <a:off x="9948672" y="3325602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$2.29M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10789920" y="3325602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+4.0%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3650566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8407908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8993124" y="3735324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9578340" y="3735324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3" name="Text 141"/>
          <p:cNvSpPr txBox="1"/>
          <p:nvPr/>
        </p:nvSpPr>
        <p:spPr>
          <a:xfrm>
            <a:off x="9948672" y="3650566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$6.61M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10789920" y="3650566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6135624" y="3975530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208776" y="3975530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7" name="Shape 145"/>
          <p:cNvSpPr/>
          <p:nvPr/>
        </p:nvSpPr>
        <p:spPr>
          <a:xfrm>
            <a:off x="8407908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8993124" y="4060288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9578340" y="4060288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0" name="Text 148"/>
          <p:cNvSpPr txBox="1"/>
          <p:nvPr/>
        </p:nvSpPr>
        <p:spPr>
          <a:xfrm>
            <a:off x="9948672" y="3975530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$6.15M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789920" y="3975530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+2.0%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300494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407908" y="4385251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8993124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578340" y="4385251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56" name="Text 154"/>
          <p:cNvSpPr txBox="1"/>
          <p:nvPr/>
        </p:nvSpPr>
        <p:spPr>
          <a:xfrm>
            <a:off x="9948672" y="4300494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$2.42M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789920" y="4300494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+1.9%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6135624" y="4625457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6208776" y="4625457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407908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8993124" y="4710215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578340" y="4710215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3" name="Text 161"/>
          <p:cNvSpPr txBox="1"/>
          <p:nvPr/>
        </p:nvSpPr>
        <p:spPr>
          <a:xfrm>
            <a:off x="9948672" y="4625457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$3.91M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10789920" y="4625457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+1.6%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6208776" y="4950421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8407908" y="5035179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993124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9578340" y="5035179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69" name="Text 167"/>
          <p:cNvSpPr txBox="1"/>
          <p:nvPr/>
        </p:nvSpPr>
        <p:spPr>
          <a:xfrm>
            <a:off x="9948672" y="4950421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$1.59M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10789920" y="4950421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+1.4%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6135624" y="5275385"/>
            <a:ext cx="5486400" cy="3249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6208776" y="5275385"/>
            <a:ext cx="1984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407908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8993124" y="5360142"/>
            <a:ext cx="155448" cy="1554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9AA3AD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9578340" y="5360142"/>
            <a:ext cx="155448" cy="155448"/>
          </a:xfrm>
          <a:prstGeom prst="ellipse">
            <a:avLst/>
          </a:prstGeom>
          <a:solidFill>
            <a:srgbClr val="12A566"/>
          </a:solidFill>
          <a:ln w="12700">
            <a:solidFill>
              <a:srgbClr val="12A566"/>
            </a:solidFill>
            <a:prstDash val="solid"/>
          </a:ln>
        </p:spPr>
      </p:sp>
      <p:sp>
        <p:nvSpPr>
          <p:cNvPr id="176" name="Text 174"/>
          <p:cNvSpPr txBox="1"/>
          <p:nvPr/>
        </p:nvSpPr>
        <p:spPr>
          <a:xfrm>
            <a:off x="9948672" y="5275385"/>
            <a:ext cx="841248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$4.53M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10789920" y="5275385"/>
            <a:ext cx="786384" cy="324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+0.8%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of 33 stores set a January–September record; 13 set it in service, parts and total.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%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+35.7%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$1.54M vs $1.13M, the previous best (2025).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+31.6%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+22.5%</a:t>
            </a:r>
            <a:endParaRPr lang="en-US" sz="40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+16.0%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SPOTLIGHT BY $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January–September Ever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51480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" name="Shape 5"/>
          <p:cNvSpPr/>
          <p:nvPr/>
        </p:nvSpPr>
        <p:spPr>
          <a:xfrm>
            <a:off x="713232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96112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+$1.77M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$22.59M vs $20.82M, the previous best (2025); +8.5%.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454146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4146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37026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37026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+$1.70M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3637026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$12.34M vs $10.64M, the previous best (2025); +16.0%.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195060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6195060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77940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377940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+$0.76M</a:t>
            </a:r>
            <a:endParaRPr lang="en-US" sz="3200" dirty="0"/>
          </a:p>
        </p:txBody>
      </p:sp>
      <p:sp>
        <p:nvSpPr>
          <p:cNvPr id="20" name="Text 18"/>
          <p:cNvSpPr txBox="1"/>
          <p:nvPr/>
        </p:nvSpPr>
        <p:spPr>
          <a:xfrm>
            <a:off x="6377940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$4.15M vs $3.38M, the previous best (2025); +22.5%.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935974" y="1481328"/>
            <a:ext cx="2539746" cy="3017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" name="Shape 20"/>
          <p:cNvSpPr/>
          <p:nvPr/>
        </p:nvSpPr>
        <p:spPr>
          <a:xfrm>
            <a:off x="8935974" y="1481328"/>
            <a:ext cx="2539746" cy="6400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118854" y="1691640"/>
            <a:ext cx="217398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8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18854" y="2286000"/>
            <a:ext cx="217398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+$0.72M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9118854" y="3200400"/>
            <a:ext cx="217398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$2.98M vs $2.26M, the previous best (2025); +31.6%.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713232" y="4709160"/>
            <a:ext cx="10762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changed? Each of these stores tells the room one thing they did differently this year.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864608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415016" y="131673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79994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132038"/>
            <a:ext cx="170992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64608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484082"/>
            <a:ext cx="151993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864608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836126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64608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3188170"/>
            <a:ext cx="132994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64608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3540214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864608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892258"/>
            <a:ext cx="113995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64608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4244302"/>
            <a:ext cx="949960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864608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4596346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864608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4948390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4864608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530043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864608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557326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557326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565247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864608" y="557326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208776" y="170078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6565392" y="170078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8650224" y="1779994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415016" y="170078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208776" y="205282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565392" y="205282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8650224" y="2132038"/>
            <a:ext cx="759968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415016" y="205282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208776" y="240487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6565392" y="240487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8650224" y="2484082"/>
            <a:ext cx="569976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415016" y="240487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208776" y="275691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6565392" y="275691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8650224" y="283612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415016" y="275691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208776" y="310896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310896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8650224" y="3188170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415016" y="310896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346100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346100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3540214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415016" y="346100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3813048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3813048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3892258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415016" y="3813048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4165092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4165092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4244302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415016" y="4165092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4517136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4517136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4596346"/>
            <a:ext cx="379984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415016" y="4517136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4869180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4869180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4948390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415016" y="4869180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5221224"/>
            <a:ext cx="310896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5221224"/>
            <a:ext cx="201168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5300434"/>
            <a:ext cx="189992" cy="193624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415016" y="5221224"/>
            <a:ext cx="105156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0" name="Shape 9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9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03" name="Text 10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a new monthly record in 2026.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 RECORDS · OPTION: RANKER BY CATEGORY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Gross Records Set in 2026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824228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007108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98064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980944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95935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6227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965192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68112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08776" y="1417320"/>
            <a:ext cx="128016" cy="128016"/>
          </a:xfrm>
          <a:prstGeom prst="rect">
            <a:avLst/>
          </a:prstGeom>
          <a:solidFill>
            <a:srgbClr val="0B7A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91656" y="1316736"/>
            <a:ext cx="8732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74636" y="1417320"/>
            <a:ext cx="128016" cy="128016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57516" y="1316736"/>
            <a:ext cx="6812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348472" y="1417320"/>
            <a:ext cx="128016" cy="128016"/>
          </a:xfrm>
          <a:prstGeom prst="rect">
            <a:avLst/>
          </a:prstGeom>
          <a:solidFill>
            <a:srgbClr val="8ED3B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531352" y="1316736"/>
            <a:ext cx="969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50976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SVC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01268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PTS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0" y="1316736"/>
            <a:ext cx="502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018520" y="131673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670048" y="1779994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10560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45688" y="1779994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95935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6227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965192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68112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658368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670048" y="213203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75432" y="2132038"/>
            <a:ext cx="270256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45688" y="2132038"/>
            <a:ext cx="540512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95935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965192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468112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248408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40304" y="2484082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345688" y="2484082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95935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46227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4965192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5468112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2670048" y="2836126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075432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210560" y="2836126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395935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46227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4965192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5468112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658368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2670048" y="318817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2940304" y="3188170"/>
            <a:ext cx="405384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345688" y="3188170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395935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6227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65192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468112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2670048" y="354021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940304" y="354021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075432" y="3540214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95935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446227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4965192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73" name="Text 71"/>
          <p:cNvSpPr txBox="1"/>
          <p:nvPr/>
        </p:nvSpPr>
        <p:spPr>
          <a:xfrm>
            <a:off x="5468112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658368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5" name="Shape 73"/>
          <p:cNvSpPr/>
          <p:nvPr/>
        </p:nvSpPr>
        <p:spPr>
          <a:xfrm>
            <a:off x="2670048" y="3892258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2940304" y="3892258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075432" y="3892258"/>
            <a:ext cx="405384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395935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6227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65192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468112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4244302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2940304" y="424430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3075432" y="424430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395935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446227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965192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468112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91" name="Shape 89"/>
          <p:cNvSpPr/>
          <p:nvPr/>
        </p:nvSpPr>
        <p:spPr>
          <a:xfrm>
            <a:off x="2670048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940304" y="459634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075432" y="459634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395935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46227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965192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5468112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2670048" y="4948390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0304" y="4948390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3075432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395935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03" name="Text 101"/>
          <p:cNvSpPr txBox="1"/>
          <p:nvPr/>
        </p:nvSpPr>
        <p:spPr>
          <a:xfrm>
            <a:off x="446227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4965192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5468112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658368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07" name="Shape 105"/>
          <p:cNvSpPr/>
          <p:nvPr/>
        </p:nvSpPr>
        <p:spPr>
          <a:xfrm>
            <a:off x="2670048" y="530043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940304" y="530043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3075432" y="530043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0" name="Text 108"/>
          <p:cNvSpPr txBox="1"/>
          <p:nvPr/>
        </p:nvSpPr>
        <p:spPr>
          <a:xfrm>
            <a:off x="395935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446227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965192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468112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58368" y="557326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2670048" y="5652478"/>
            <a:ext cx="405384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3075432" y="565247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95935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446227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4965192" y="557326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5468112" y="557326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6208776" y="170078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220456" y="1779994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8490712" y="1779994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8625840" y="177999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950976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01268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10515600" y="170078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11018520" y="170078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6208776" y="205282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220456" y="2132038"/>
            <a:ext cx="540512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50976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1001268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10515600" y="205282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11018520" y="205282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40487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6" name="Shape 134"/>
          <p:cNvSpPr/>
          <p:nvPr/>
        </p:nvSpPr>
        <p:spPr>
          <a:xfrm>
            <a:off x="8220456" y="2484082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8355584" y="2484082"/>
            <a:ext cx="270256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8" name="Text 136"/>
          <p:cNvSpPr txBox="1"/>
          <p:nvPr/>
        </p:nvSpPr>
        <p:spPr>
          <a:xfrm>
            <a:off x="950976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1001268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15600" y="240487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1018520" y="240487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275691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2836126"/>
            <a:ext cx="135128" cy="193624"/>
          </a:xfrm>
          <a:prstGeom prst="rect">
            <a:avLst/>
          </a:prstGeom>
          <a:solidFill>
            <a:srgbClr val="12A56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8355584" y="2836126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5" name="Text 143"/>
          <p:cNvSpPr txBox="1"/>
          <p:nvPr/>
        </p:nvSpPr>
        <p:spPr>
          <a:xfrm>
            <a:off x="950976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01268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10515600" y="275691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11018520" y="275691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6208776" y="310896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50" name="Shape 148"/>
          <p:cNvSpPr/>
          <p:nvPr/>
        </p:nvSpPr>
        <p:spPr>
          <a:xfrm>
            <a:off x="8220456" y="3188170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8355584" y="318817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2" name="Text 150"/>
          <p:cNvSpPr txBox="1"/>
          <p:nvPr/>
        </p:nvSpPr>
        <p:spPr>
          <a:xfrm>
            <a:off x="950976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3" name="Text 151"/>
          <p:cNvSpPr txBox="1"/>
          <p:nvPr/>
        </p:nvSpPr>
        <p:spPr>
          <a:xfrm>
            <a:off x="1001268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10515600" y="310896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1018520" y="310896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6100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57" name="Shape 155"/>
          <p:cNvSpPr/>
          <p:nvPr/>
        </p:nvSpPr>
        <p:spPr>
          <a:xfrm>
            <a:off x="8220456" y="354021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8355584" y="3540214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9" name="Text 157"/>
          <p:cNvSpPr txBox="1"/>
          <p:nvPr/>
        </p:nvSpPr>
        <p:spPr>
          <a:xfrm>
            <a:off x="950976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1001268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515600" y="346100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1018520" y="346100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63" name="Text 161"/>
          <p:cNvSpPr txBox="1"/>
          <p:nvPr/>
        </p:nvSpPr>
        <p:spPr>
          <a:xfrm>
            <a:off x="6208776" y="3813048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64" name="Shape 162"/>
          <p:cNvSpPr/>
          <p:nvPr/>
        </p:nvSpPr>
        <p:spPr>
          <a:xfrm>
            <a:off x="8220456" y="3892258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8355584" y="3892258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6" name="Text 164"/>
          <p:cNvSpPr txBox="1"/>
          <p:nvPr/>
        </p:nvSpPr>
        <p:spPr>
          <a:xfrm>
            <a:off x="950976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01268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15600" y="3813048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11018520" y="3813048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6208776" y="4165092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71" name="Shape 169"/>
          <p:cNvSpPr/>
          <p:nvPr/>
        </p:nvSpPr>
        <p:spPr>
          <a:xfrm>
            <a:off x="8220456" y="4244302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8355584" y="4244302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3" name="Text 171"/>
          <p:cNvSpPr txBox="1"/>
          <p:nvPr/>
        </p:nvSpPr>
        <p:spPr>
          <a:xfrm>
            <a:off x="950976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1001268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10515600" y="4165092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1018520" y="4165092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77" name="Text 175"/>
          <p:cNvSpPr txBox="1"/>
          <p:nvPr/>
        </p:nvSpPr>
        <p:spPr>
          <a:xfrm>
            <a:off x="6208776" y="4517136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8" name="Shape 176"/>
          <p:cNvSpPr/>
          <p:nvPr/>
        </p:nvSpPr>
        <p:spPr>
          <a:xfrm>
            <a:off x="8220456" y="4596346"/>
            <a:ext cx="270256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9" name="Text 177"/>
          <p:cNvSpPr txBox="1"/>
          <p:nvPr/>
        </p:nvSpPr>
        <p:spPr>
          <a:xfrm>
            <a:off x="950976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01268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1" name="Text 179"/>
          <p:cNvSpPr txBox="1"/>
          <p:nvPr/>
        </p:nvSpPr>
        <p:spPr>
          <a:xfrm>
            <a:off x="10515600" y="4517136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2" name="Text 180"/>
          <p:cNvSpPr txBox="1"/>
          <p:nvPr/>
        </p:nvSpPr>
        <p:spPr>
          <a:xfrm>
            <a:off x="11018520" y="4517136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6208776" y="4869180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84" name="Shape 182"/>
          <p:cNvSpPr/>
          <p:nvPr/>
        </p:nvSpPr>
        <p:spPr>
          <a:xfrm>
            <a:off x="8220456" y="4948390"/>
            <a:ext cx="135128" cy="193624"/>
          </a:xfrm>
          <a:prstGeom prst="rect">
            <a:avLst/>
          </a:prstGeom>
          <a:solidFill>
            <a:srgbClr val="8ED3B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5" name="Text 183"/>
          <p:cNvSpPr txBox="1"/>
          <p:nvPr/>
        </p:nvSpPr>
        <p:spPr>
          <a:xfrm>
            <a:off x="950976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1001268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10515600" y="4869180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1018520" y="4869180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5221224"/>
            <a:ext cx="1938528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220456" y="5300434"/>
            <a:ext cx="135128" cy="193624"/>
          </a:xfrm>
          <a:prstGeom prst="rect">
            <a:avLst/>
          </a:prstGeom>
          <a:solidFill>
            <a:srgbClr val="0B7A4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1" name="Text 189"/>
          <p:cNvSpPr txBox="1"/>
          <p:nvPr/>
        </p:nvSpPr>
        <p:spPr>
          <a:xfrm>
            <a:off x="950976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1001268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3" name="Text 191"/>
          <p:cNvSpPr txBox="1"/>
          <p:nvPr/>
        </p:nvSpPr>
        <p:spPr>
          <a:xfrm>
            <a:off x="10515600" y="5221224"/>
            <a:ext cx="50292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–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11018520" y="5221224"/>
            <a:ext cx="548640" cy="3520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300" dirty="0"/>
          </a:p>
        </p:txBody>
      </p:sp>
      <p:sp>
        <p:nvSpPr>
          <p:cNvPr id="195" name="Shape 193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set 98 new monthly records in 2026: 42 in service, 19 in parts and 37 in combined gross.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2026-10-27T21:57:52Z</dcterms:created>
  <dcterms:modified xsi:type="dcterms:W3CDTF">2026-10-27T21:57:52Z</dcterms:modified>
</cp:coreProperties>
</file>