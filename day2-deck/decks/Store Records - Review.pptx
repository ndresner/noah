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Earlier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111.43</c:v>
                </c:pt>
                <c:pt idx="1">
                  <c:v>126.71</c:v>
                </c:pt>
                <c:pt idx="2">
                  <c:v>143.75</c:v>
                </c:pt>
                <c:pt idx="3">
                  <c:v>156.71</c:v>
                </c:pt>
                <c:pt idx="4">
                  <c:v>181.62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Latest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188.95</c:v>
                </c:pt>
              </c:numCache>
            </c:numRef>
          </c:val>
        </c:ser>
        <c:dLbls>
          <c:numFmt formatCode="$0.0&quot;M&quot;;;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Group = sum of 33 stores. TB group total differs from the P&amp;L figure used elsewhere in the deck ($188.80M) by the GMC PRESCOTT difference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Record = Jan-Sep 2026 above every prior Jan-Sep for that store. % = combined gain over the previous best Jan-Sep. Stores with shorter histories count the same: HONDA SPOKANE (from 2025), HYUNDAI PRESCOTT (from 2023), LR HENDERSON (from 2022), NISSAN (from 2024). Order: records in all three first, then by %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 in service, parts or combined gross, Jan-Sep 2026.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 each record was set, by store:
AUDI HENDERSON: parts record reset once (Jul); combined record reset twice (Apr, Jul).
CDJR POST FALLS: service record reset once (Jul); combined record reset once (Jul).
GMC PRESCOTT: parts record reset once (Apr); combined record reset once (Apr).
HONDA HENDERSON: service record reset 3 times (Mar, Jun, Jul); parts record reset once (Jul); combined record reset 3 times (Mar, Jun, Jul).
HONDA SPOKANE: service record reset 4 times (Mar, Apr, Jun, Jul); parts record reset once (Jul); combined record reset 4 times (Mar, Apr, Jun, Jul).
HYUNDAI PRESCOTT: service record reset twice (Mar, Jul); parts record reset once (Feb); combined record reset 3 times (Feb, Mar, Jul).
HYUNDAI ST GEORGE: service record reset 4 times (Jan, Mar, Jul, Sep).
KIA LV: service record reset once (Sep).
KIA ST GEORGE: service record reset twice (Apr, Jul); parts record reset once (Jul); combined record reset once (Jul).
LEXUS: service record reset twice (Mar, May); parts record reset once (May); combined record reset once (May).
LINCOLN: service record reset twice (Aug, Sep); parts record reset once (Mar); combined record reset 3 times (Mar, Aug, Sep).
LR HENDERSON: service record reset twice (Aug, Sep); parts record reset once (Jul); combined record reset once (Jul).
LR LV: service record reset once (Jul); combined record reset once (Jul).
LR RENO: service record reset once (Aug); combined record reset once (Aug).
MAZDA: service record reset twice (Aug, Sep); parts record reset once (Sep); combined record reset twice (Aug, Sep).
NISSAN: service record reset 3 times (Mar, Jun, Sep); parts record reset twice (Jun, Jul); combined record reset 4 times (Mar, Jun, Jul, Sep).
SUBARU PRESCOTT: combined record reset once (Apr).
SUBARU ST GEORGE: service record reset twice (Jan, Mar); parts record reset 3 times (Mar, Apr, Jun); combined record reset twice (Mar, Jun).
TOYOTA FLAGSTAFF: service record reset 3 times (Mar, Apr, May); combined record reset once (Mar).
TOYOTA HENDERSON: service record reset twice (Apr, Jul); parts record reset 3 times (Jun, Aug, Sep); combined record reset 3 times (Apr, Jun, Jul).
TOYOTA PRESCOTT: service record reset twice (Mar, Apr); parts record reset once (Apr); combined record reset once (Apr).
TOYOTA SPOKANE: service record reset once (Jul); combined record reset once (Jul).
VOLVO: service record reset twice (Apr, Jun).
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high, Jan-Sep 2026. SVC = service gross, PTS = parts gross, TOT = service + parts combined.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A RECORD YEAR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fixed gross, January–September, by year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810512"/>
          <a:ext cx="7269480" cy="405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 ever: July 2026, $22.73M.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the group's 7 best months came in 2026.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had their best January–September ever.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fixed gross has grown every year since 2021, to $188.95M in 2026.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RECORD BOARD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4261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27832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13048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3951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193024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36345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94867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0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5750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2716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7932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98264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9512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85216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5750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2716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27932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98264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85750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42716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27932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98264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39512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5216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750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42716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27932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398264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39512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85750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42716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27932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398264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239512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5750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42716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27932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398264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5239512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5750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442716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27932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398264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239512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85216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85750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42716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027932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398264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39512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85750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442716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027932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398264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239512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85216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85750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42716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27932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398264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5239512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85750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442716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027932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398264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39512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585216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85750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42716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027932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398264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5239512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+3.7%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003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2857500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42716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027932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398264" y="56003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5239512" y="56003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+2.8%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407908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993124" y="17855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57834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9948672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789920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6135624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208776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407908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993124" y="211050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57834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9948672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10789920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6208776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407908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993124" y="24354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57834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9948672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89920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+9.7%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407908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993124" y="276043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7834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9948672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89920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8407908" y="308539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8993124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57834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9948672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89920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6135624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208776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07908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993124" y="341036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57834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9948672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789920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07908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993124" y="373532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7834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9948672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10789920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6135624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6208776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8407908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993124" y="40602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57834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9948672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789920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407908" y="4385251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8993124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57834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9948672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789920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6135624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208776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407908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8993124" y="4710215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57834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9948672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10789920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8407908" y="503517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993124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7834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948672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789920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6135624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6208776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407908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993124" y="53601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57834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9948672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10789920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+0.8%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set a January–September record; 13 set it in service, parts and total.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%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 vs $1.13M, the previous best (2025).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Prescott, Lincoln, Lexus and Audi Henderson beat their previous best by the most in percentage terms.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$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 vs $20.82M, the previous best (2025); +8.5%.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(2025); +16.0%.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+$0.76M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(2025); +22.5%.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+$0.72M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(2025); +31.6%.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Henderson, Audi Henderson, Lexus and Lincoln beat their previous best by the most in dollars.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64608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415016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79994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4608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132038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64608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484082"/>
            <a:ext cx="151993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64608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836126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64608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3188170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64608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3540214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892258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864608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4244302"/>
            <a:ext cx="94996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864608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4596346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864608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4948390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864608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530043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864608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557326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565247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864608" y="557326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565392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8650224" y="177999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415016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65392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650224" y="213203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415016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65392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8650224" y="2484082"/>
            <a:ext cx="56997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15016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6565392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8650224" y="283612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415016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565392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650224" y="3188170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415016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3540214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415016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3892258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415016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4244302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415016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459634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415016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4948390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415016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5300434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415016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1" name="Shape 9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a new monthly record in 2026; Honda Spokane and Nissan set the most, 9 each.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 BY CATEGORY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4228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07108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98064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6227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6519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68112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08776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91656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74636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57516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48472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1352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01268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018520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70048" y="1779994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10560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45688" y="1779994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5935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6227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96519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68112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670048" y="213203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75432" y="2132038"/>
            <a:ext cx="270256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45688" y="2132038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95935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96519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468112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248408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0304" y="2484082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45688" y="2484082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95935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6227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96519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468112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670048" y="2836126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075432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10560" y="2836126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95935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6227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6519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468112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670048" y="318817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940304" y="3188170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45688" y="3188170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95935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6227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6519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468112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670048" y="354021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940304" y="354021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75432" y="3540214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95935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46227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496519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468112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2670048" y="3892258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40304" y="3892258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75432" y="3892258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5935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6227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6519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68112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424430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940304" y="424430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075432" y="424430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95935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46227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96519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468112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2670048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940304" y="459634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075432" y="459634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395935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46227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96519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468112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2670048" y="494839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0304" y="4948390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075432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395935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446227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496519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5468112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2670048" y="530043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940304" y="530043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075432" y="530043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395935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446227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96519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468112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58368" y="557326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670048" y="565247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075432" y="565247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95935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446227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496519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5468112" y="557326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220456" y="177999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490712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8625840" y="177999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50976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01268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1051560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11018520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6208776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220456" y="2132038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50976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01268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1051560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11018520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220456" y="248408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355584" y="248408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950976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01268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1560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1018520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55584" y="283612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50976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01268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1051560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1018520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6208776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50" name="Shape 148"/>
          <p:cNvSpPr/>
          <p:nvPr/>
        </p:nvSpPr>
        <p:spPr>
          <a:xfrm>
            <a:off x="8220456" y="3188170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355584" y="318817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950976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01268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51560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1018520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8220456" y="354021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355584" y="354021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950976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01268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1560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1018520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6208776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220456" y="3892258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8355584" y="389225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50976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01268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1560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1018520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8220456" y="4244302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355584" y="4244302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950976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01268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51560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1018520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6208776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8220456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950976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01268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51560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11018520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6208776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8220456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950976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1001268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51560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1018520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220456" y="530043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 txBox="1"/>
          <p:nvPr/>
        </p:nvSpPr>
        <p:spPr>
          <a:xfrm>
            <a:off x="950976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1001268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51560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11018520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Shape 193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98 new monthly records in 2026: 42 in service, 19 in parts and 37 in combined gross.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2026-10-24T20:52:28Z</dcterms:created>
  <dcterms:modified xsi:type="dcterms:W3CDTF">2026-10-24T20:52:28Z</dcterms:modified>
</cp:coreProperties>
</file>