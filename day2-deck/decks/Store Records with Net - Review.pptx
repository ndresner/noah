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Qlik - Fixed Ops Accounting TB, fixed gross (service and parts), monthly by store, January 2021 - September 2026. A record = the store's highest month on file; months before a store opened are ignored. GMC Prescott service on the TB includes body shop gross. Net: best January–September fixed ops net profit ever = service + parts department profit (Qlik - Profit &amp; Loss, Detail statement), Jan-Sep 2026 above every Jan-Sep 2021-2025 on file; Honda Spokane and Nissan from 2024.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Takeaway with the store call-outs (off the slide): 23 stores set 98 all-time monthly records in 2026. Honda Spokane and Nissan lead with 9 each.Source: Qlik - Fixed Ops Accounting TB, fixed gross (service and parts), monthly by store, January 2021 - September 2026. A record = the store's highest month on file; months before a store opened are ignored. GMC Prescott service on the TB includes body shop gross. Records = each month a store beat its best-ever service, parts or combined month; one month can count up to three.Records by store (month: service / parts / combined, with the record it beat):
Toyota Henderson: service Apr 2026 $1.86M (beat $1.78M, Apr 2025); service Jul 2026 $1.98M (beat $1.86M, Apr 2026); parts Jun 2026 $747K (beat $734K, Dec 2024); parts Aug 2026 $748K (beat $747K, Jun 2026); parts Sep 2026 $803K (beat $748K, Aug 2026); combined Apr 2026 $2.52M (beat $2.45M, Apr 2025); combined Jun 2026 $2.55M (beat $2.52M, Apr 2026); combined Jul 2026 $2.72M (beat $2.55M, Jun 2026)
Honda Spokane: service Mar 2026 $309K (beat $290K, May 2025); service Apr 2026 $316K (beat $309K, Mar 2026); service Jun 2026 $343K (beat $316K, Apr 2026); service Jul 2026 $360K (beat $343K, Jun 2026); parts Jul 2026 $182K (beat $168K, Aug 2025); combined Mar 2026 $457K (beat $448K, May 2025); combined Apr 2026 $473K (beat $457K, Mar 2026); combined Jun 2026 $503K (beat $473K, Apr 2026); combined Jul 2026 $542K (beat $503K, Jun 2026)
Nissan: service Mar 2026 $374K (beat $374K, May 2025); service Jun 2026 $379K (beat $374K, Mar 2026); service Sep 2026 $393K (beat $379K, Jun 2026); parts Jun 2026 $191K (beat $187K, Aug 2024); parts Jul 2026 $210K (beat $191K, Jun 2026); combined Mar 2026 $546K (beat $535K, May 2025); combined Jun 2026 $570K (beat $546K, Mar 2026); combined Jul 2026 $580K (beat $570K, Jun 2026); combined Sep 2026 $593K (beat $580K, Jul 2026)
Subaru St George: service Jan 2026 $256K (beat $246K, Apr 2025); service Mar 2026 $270K (beat $256K, Jan 2026); parts Mar 2026 $146K (beat $144K, Apr 2025); parts Apr 2026 $156K (beat $146K, Mar 2026); parts Jun 2026 $174K (beat $156K, Apr 2026); combined Mar 2026 $416K (beat $391K, Apr 2025); combined Jun 2026 $438K (beat $416K, Mar 2026)
Hyundai St George: service Jan 2026 $155K (beat $152K, Dec 2025); service Mar 2026 $170K (beat $155K, Jan 2026); service Jul 2026 $173K (beat $170K, Mar 2026); service Sep 2026 $179K (beat $173K, Jul 2026)
Honda Henderson: service Mar 2026 $1.26M (beat $1.23M, Mar 2025); service Jun 2026 $1.29M (beat $1.26M, Mar 2026); service Jul 2026 $1.30M (beat $1.29M, Jun 2026); parts Jul 2026 $495K (beat $475K, Apr 2024); combined Mar 2026 $1.72M (beat $1.67M, Apr 2024); combined Jun 2026 $1.75M (beat $1.72M, Mar 2026); combined Jul 2026 $1.79M (beat $1.75M, Jun 2026)
Hyundai Prescott: service Mar 2026 $125K (beat $96K, Jul 2025); service Jul 2026 $142K (beat $125K, Mar 2026); parts Feb 2026 $78K (beat $72K, Jul 2025); combined Feb 2026 $170K (beat $168K, Jul 2025); combined Mar 2026 $182K (beat $170K, Feb 2026); combined Jul 2026 $206K (beat $182K, Mar 2026)
Lincoln: service Aug 2026 $247K (beat $243K, Dec 2025); service Sep 2026 $262K (beat $247K, Aug 2026); parts Mar 2026 $116K (beat $105K, Dec 2025); combined Mar 2026 $358K (beat $349K, Dec 2025); combined Aug 2026 $359K (beat $358K, Mar 2026); combined Sep 2026 $369K (beat $359K, Aug 2026)
LR Henderson: service Aug 2026 $276K (beat $270K, Dec 2024); service Sep 2026 $281K (beat $276K, Aug 2026); parts Jul 2026 $173K (beat $168K, Feb 2025); combined Jul 2026 $434K (beat $420K, Feb 2025)
Toyota Flagstaff: service Mar 2026 $374K (beat $358K, Oct 2024); service Apr 2026 $377K (beat $374K, Mar 2026); service May 2026 $382K (beat $377K, Apr 2026); combined Mar 2026 $532K (beat $497K, Jan 2025)
Audi Henderson: parts Jul 2026 $591K (beat $524K, Dec 2024); combined Apr 2026 $1.45M (beat $1.39M, Dec 2025); combined Jul 2026 $1.60M (beat $1.45M, Apr 2026)
Mazda: service Aug 2026 $285K (beat $256K, Mar 2025); service Sep 2026 $302K (beat $285K, Aug 2026); parts Sep 2026 $200K (beat $172K, Jun 2025); combined Aug 2026 $417K (beat $412K, Jun 2025); combined Sep 2026 $503K (beat $417K, Aug 2026)
Kia St George: service Apr 2026 $158K (beat $153K, Sep 2025); service Jul 2026 $187K (beat $158K, Apr 2026); parts Jul 2026 $134K (beat $120K, Oct 2025); combined Jul 2026 $321K (beat $270K, Sep 2025)
Lexus: service Mar 2026 $341K (beat $341K, Oct 2025); service May 2026 $342K (beat $341K, Mar 2026); parts May 2026 $154K (beat $149K, Oct 2025); combined May 2026 $497K (beat $490K, Oct 2025)
Toyota Prescott: service Mar 2026 $397K (beat $377K, Dec 2025); service Apr 2026 $463K (beat $397K, Mar 2026); parts Apr 2026 $204K (beat $203K, Apr 2025); combined Apr 2026 $667K (beat $563K, Aug 2023)
Volvo: service Apr 2026 $294K (beat $288K, Aug 2024); service Jun 2026 $305K (beat $294K, Apr 2026)
CDJR Post Falls: service Jul 2026 $312K (beat $305K, Apr 2025); combined Jul 2026 $481K (beat $468K, Aug 2024)
GMC Prescott: parts Apr 2026 $148K (beat $123K, Oct 2024); combined Apr 2026 $314K (beat $304K, Oct 2024)
LR LV: service Jul 2026 $544K (beat $509K, May 2024); combined Jul 2026 $845K (beat $817K, May 2024)
LR Reno: service Aug 2026 $204K (beat $190K, Jan 2025); combined Aug 2026 $312K (beat $294K, Aug 2024)
Subaru Prescott: combined Apr 2026 $354K (beat $349K, Apr 2025)
Toyota Spokane: service Jul 2026 $470K (beat $450K, Oct 2025); combined Jul 2026 $777K (beat $760K, Oct 2025)
Kia LV: service Sep 2026 $492K (beat $472K, Oct 2024)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Gross: Qlik - Fixed Ops Accounting TB, combined service + parts fixed gross, Jan-Sep 2026 above every Jan-Sep on file (2021-2025). Net: best January–September fixed ops net profit ever = service + parts department profit (Qlik - Profit &amp; Loss, Detail statement), Jan-Sep 2026 above every Jan-Sep 2021-2025 on file; Honda Spokane and Nissan from 2024.Net profit, Jan-Sep 2026 vs the best prior Jan-Sep:
Acura: $476K vs $259K (2025)
Audi Henderson: $4.94M vs $4.11M (2025)
Cadillac: $2.60M vs $1.83M (2025)
CDJR Post Falls: $800K vs $747K (2025)
Chevy GMC Bullhead: $1.12M vs $784K (2025)
Honda Henderson: $6.08M vs $5.84M (2024)
Honda Spokane: $1.32M vs $1.32M (2025)
Kia LV: $1.80M vs $1.38M (2025)
Lexus: $1.20M vs $993K (2025)
Lincoln: $94K vs −$61K (2023)
LR Henderson: $705K vs $607K (2025)
LR LV: $2.04M vs $1.89M (2025)
LR Reno: $428K vs $244K (2023)
Nissan: $677K vs $543K (2025)
Subaru LV: $2.94M vs $2.93M (2025)
Subaru Prescott: $129K vs $110K (2023)
Subaru St George: $1.17M vs $1.06M (2025)
Toyota Flagstaff: $902K vs $771K (2025)
Toyota Henderson: $7.83M vs $6.41M (2025)
Toyota Prescott: $1.17M vs $881K (2025)
Volvo: $1.33M vs $1.18M (2025)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RECORDS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Record Year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782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481328"/>
            <a:ext cx="1991563" cy="301752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7" name="Shape 5"/>
          <p:cNvSpPr/>
          <p:nvPr/>
        </p:nvSpPr>
        <p:spPr>
          <a:xfrm>
            <a:off x="713232" y="1481328"/>
            <a:ext cx="1991563" cy="64008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96112" y="1691640"/>
            <a:ext cx="16258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STORES WITH ALL-TIME RECORD MONTHS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2286000"/>
            <a:ext cx="162580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3200400"/>
            <a:ext cx="1625803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33 set their best month ever in service, parts or combined during 2026.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905963" y="1481328"/>
            <a:ext cx="1991563" cy="301752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2" name="Shape 10"/>
          <p:cNvSpPr/>
          <p:nvPr/>
        </p:nvSpPr>
        <p:spPr>
          <a:xfrm>
            <a:off x="2905963" y="1481328"/>
            <a:ext cx="1991563" cy="64008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088843" y="1691640"/>
            <a:ext cx="16258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RECORDS SET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088843" y="2286000"/>
            <a:ext cx="162580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98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3088843" y="3200400"/>
            <a:ext cx="1625803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all-time monthly records across those stores: service, parts and combined counted separately.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098694" y="1481328"/>
            <a:ext cx="1991563" cy="301752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7" name="Shape 15"/>
          <p:cNvSpPr/>
          <p:nvPr/>
        </p:nvSpPr>
        <p:spPr>
          <a:xfrm>
            <a:off x="5098694" y="1481328"/>
            <a:ext cx="1991563" cy="64008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281574" y="1691640"/>
            <a:ext cx="16258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JANUARY–SEPTEMBER EVER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281574" y="2286000"/>
            <a:ext cx="162580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</a:t>
            </a:r>
            <a:endParaRPr lang="en-US" sz="4000" dirty="0"/>
          </a:p>
        </p:txBody>
      </p:sp>
      <p:sp>
        <p:nvSpPr>
          <p:cNvPr id="20" name="Text 18"/>
          <p:cNvSpPr txBox="1"/>
          <p:nvPr/>
        </p:nvSpPr>
        <p:spPr>
          <a:xfrm>
            <a:off x="5281574" y="3200400"/>
            <a:ext cx="1625803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stores had their best January–September ever in combined fixed gross.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291426" y="1481328"/>
            <a:ext cx="1991563" cy="301752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2" name="Shape 20"/>
          <p:cNvSpPr/>
          <p:nvPr/>
        </p:nvSpPr>
        <p:spPr>
          <a:xfrm>
            <a:off x="7291426" y="1481328"/>
            <a:ext cx="1991563" cy="64008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474306" y="1691640"/>
            <a:ext cx="16258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STORES WHO SET A RECORD AND THEN RESET IT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474306" y="2286000"/>
            <a:ext cx="162580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4000" dirty="0"/>
          </a:p>
        </p:txBody>
      </p:sp>
      <p:sp>
        <p:nvSpPr>
          <p:cNvPr id="25" name="Text 23"/>
          <p:cNvSpPr txBox="1"/>
          <p:nvPr/>
        </p:nvSpPr>
        <p:spPr>
          <a:xfrm>
            <a:off x="7474306" y="3200400"/>
            <a:ext cx="1625803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stores set a record and then topped it again later in the year.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9484157" y="1481328"/>
            <a:ext cx="1991563" cy="301752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7" name="Shape 25"/>
          <p:cNvSpPr/>
          <p:nvPr/>
        </p:nvSpPr>
        <p:spPr>
          <a:xfrm>
            <a:off x="9484157" y="1481328"/>
            <a:ext cx="1991563" cy="64008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667037" y="1691640"/>
            <a:ext cx="16258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JANUARY–SEPTEMBER NET PROFIT EVER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9667037" y="2286000"/>
            <a:ext cx="162580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</a:t>
            </a:r>
            <a:endParaRPr lang="en-US" sz="4000" dirty="0"/>
          </a:p>
        </p:txBody>
      </p:sp>
      <p:sp>
        <p:nvSpPr>
          <p:cNvPr id="30" name="Text 28"/>
          <p:cNvSpPr txBox="1"/>
          <p:nvPr/>
        </p:nvSpPr>
        <p:spPr>
          <a:xfrm>
            <a:off x="9667037" y="3200400"/>
            <a:ext cx="1625803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stores had their best January–September ever in fixed ops net profit; 18 also set the gross record.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713232" y="4709160"/>
            <a:ext cx="107624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records set this year: Honda Spokane 9, Nissan 9, Toyota Henderson 8, Honda Henderson 7 and Subaru St George 7.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457200" y="6126480"/>
            <a:ext cx="11274552" cy="371856"/>
          </a:xfrm>
          <a:prstGeom prst="rect">
            <a:avLst/>
          </a:prstGeom>
          <a:solidFill>
            <a:srgbClr val="E6F6EE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58368" y="6144768"/>
            <a:ext cx="1092708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Jul alone brought 11 combined store records.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RECORDS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Records Set in 2026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782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026664" y="1316736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813048" y="1316736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Svc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471416" y="1316736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184648" y="1316736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Comb.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577072" y="1316736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9363456" y="1316736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Svc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021824" y="1316736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735056" y="1316736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Comb.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" y="1700784"/>
            <a:ext cx="310896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14984" y="1700784"/>
            <a:ext cx="17830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SPOKANE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871216" y="1779994"/>
            <a:ext cx="100584" cy="19362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026664" y="1700784"/>
            <a:ext cx="786384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813048" y="1700784"/>
            <a:ext cx="65836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471416" y="1700784"/>
            <a:ext cx="713232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184648" y="1700784"/>
            <a:ext cx="7315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58368" y="2052828"/>
            <a:ext cx="310896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014984" y="2052828"/>
            <a:ext cx="17830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NISSAN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871216" y="2132038"/>
            <a:ext cx="100584" cy="19362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3026664" y="2052828"/>
            <a:ext cx="786384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3813048" y="2052828"/>
            <a:ext cx="65836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471416" y="2052828"/>
            <a:ext cx="713232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184648" y="2052828"/>
            <a:ext cx="7315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58368" y="2404872"/>
            <a:ext cx="310896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014984" y="2404872"/>
            <a:ext cx="17830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HENDERSON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871216" y="2484082"/>
            <a:ext cx="89408" cy="19362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3026664" y="2404872"/>
            <a:ext cx="786384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3813048" y="2404872"/>
            <a:ext cx="65836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4471416" y="2404872"/>
            <a:ext cx="713232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5184648" y="2404872"/>
            <a:ext cx="7315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658368" y="2756916"/>
            <a:ext cx="310896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1014984" y="2756916"/>
            <a:ext cx="17830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HENDERSON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871216" y="2836126"/>
            <a:ext cx="78232" cy="19362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3026664" y="2756916"/>
            <a:ext cx="786384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3813048" y="2756916"/>
            <a:ext cx="65836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4471416" y="2756916"/>
            <a:ext cx="713232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5184648" y="2756916"/>
            <a:ext cx="7315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658368" y="3108960"/>
            <a:ext cx="310896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1014984" y="3108960"/>
            <a:ext cx="17830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ST GEORGE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2871216" y="3188170"/>
            <a:ext cx="78232" cy="19362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3026664" y="3108960"/>
            <a:ext cx="786384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3813048" y="3108960"/>
            <a:ext cx="65836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4471416" y="3108960"/>
            <a:ext cx="713232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5184648" y="3108960"/>
            <a:ext cx="7315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49" name="Text 47"/>
          <p:cNvSpPr txBox="1"/>
          <p:nvPr/>
        </p:nvSpPr>
        <p:spPr>
          <a:xfrm>
            <a:off x="658368" y="3461004"/>
            <a:ext cx="310896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1014984" y="3461004"/>
            <a:ext cx="17830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2871216" y="3540214"/>
            <a:ext cx="67056" cy="19362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3026664" y="3461004"/>
            <a:ext cx="786384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300" dirty="0"/>
          </a:p>
        </p:txBody>
      </p:sp>
      <p:sp>
        <p:nvSpPr>
          <p:cNvPr id="53" name="Text 51"/>
          <p:cNvSpPr txBox="1"/>
          <p:nvPr/>
        </p:nvSpPr>
        <p:spPr>
          <a:xfrm>
            <a:off x="3813048" y="3461004"/>
            <a:ext cx="65836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54" name="Text 52"/>
          <p:cNvSpPr txBox="1"/>
          <p:nvPr/>
        </p:nvSpPr>
        <p:spPr>
          <a:xfrm>
            <a:off x="4471416" y="3461004"/>
            <a:ext cx="713232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55" name="Text 53"/>
          <p:cNvSpPr txBox="1"/>
          <p:nvPr/>
        </p:nvSpPr>
        <p:spPr>
          <a:xfrm>
            <a:off x="5184648" y="3461004"/>
            <a:ext cx="7315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00" dirty="0"/>
          </a:p>
        </p:txBody>
      </p:sp>
      <p:sp>
        <p:nvSpPr>
          <p:cNvPr id="56" name="Text 54"/>
          <p:cNvSpPr txBox="1"/>
          <p:nvPr/>
        </p:nvSpPr>
        <p:spPr>
          <a:xfrm>
            <a:off x="658368" y="3813048"/>
            <a:ext cx="310896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200" dirty="0"/>
          </a:p>
        </p:txBody>
      </p:sp>
      <p:sp>
        <p:nvSpPr>
          <p:cNvPr id="57" name="Text 55"/>
          <p:cNvSpPr txBox="1"/>
          <p:nvPr/>
        </p:nvSpPr>
        <p:spPr>
          <a:xfrm>
            <a:off x="1014984" y="3813048"/>
            <a:ext cx="17830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LINCOLN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2871216" y="3892258"/>
            <a:ext cx="67056" cy="19362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3026664" y="3813048"/>
            <a:ext cx="786384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300" dirty="0"/>
          </a:p>
        </p:txBody>
      </p:sp>
      <p:sp>
        <p:nvSpPr>
          <p:cNvPr id="60" name="Text 58"/>
          <p:cNvSpPr txBox="1"/>
          <p:nvPr/>
        </p:nvSpPr>
        <p:spPr>
          <a:xfrm>
            <a:off x="3813048" y="3813048"/>
            <a:ext cx="65836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61" name="Text 59"/>
          <p:cNvSpPr txBox="1"/>
          <p:nvPr/>
        </p:nvSpPr>
        <p:spPr>
          <a:xfrm>
            <a:off x="4471416" y="3813048"/>
            <a:ext cx="713232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62" name="Text 60"/>
          <p:cNvSpPr txBox="1"/>
          <p:nvPr/>
        </p:nvSpPr>
        <p:spPr>
          <a:xfrm>
            <a:off x="5184648" y="3813048"/>
            <a:ext cx="7315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00" dirty="0"/>
          </a:p>
        </p:txBody>
      </p:sp>
      <p:sp>
        <p:nvSpPr>
          <p:cNvPr id="63" name="Text 61"/>
          <p:cNvSpPr txBox="1"/>
          <p:nvPr/>
        </p:nvSpPr>
        <p:spPr>
          <a:xfrm>
            <a:off x="658368" y="4165092"/>
            <a:ext cx="310896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200" dirty="0"/>
          </a:p>
        </p:txBody>
      </p:sp>
      <p:sp>
        <p:nvSpPr>
          <p:cNvPr id="64" name="Text 62"/>
          <p:cNvSpPr txBox="1"/>
          <p:nvPr/>
        </p:nvSpPr>
        <p:spPr>
          <a:xfrm>
            <a:off x="1014984" y="4165092"/>
            <a:ext cx="17830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2871216" y="4244302"/>
            <a:ext cx="55880" cy="19362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66" name="Text 64"/>
          <p:cNvSpPr txBox="1"/>
          <p:nvPr/>
        </p:nvSpPr>
        <p:spPr>
          <a:xfrm>
            <a:off x="3026664" y="4165092"/>
            <a:ext cx="786384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300" dirty="0"/>
          </a:p>
        </p:txBody>
      </p:sp>
      <p:sp>
        <p:nvSpPr>
          <p:cNvPr id="67" name="Text 65"/>
          <p:cNvSpPr txBox="1"/>
          <p:nvPr/>
        </p:nvSpPr>
        <p:spPr>
          <a:xfrm>
            <a:off x="3813048" y="4165092"/>
            <a:ext cx="65836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68" name="Text 66"/>
          <p:cNvSpPr txBox="1"/>
          <p:nvPr/>
        </p:nvSpPr>
        <p:spPr>
          <a:xfrm>
            <a:off x="4471416" y="4165092"/>
            <a:ext cx="713232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69" name="Text 67"/>
          <p:cNvSpPr txBox="1"/>
          <p:nvPr/>
        </p:nvSpPr>
        <p:spPr>
          <a:xfrm>
            <a:off x="5184648" y="4165092"/>
            <a:ext cx="7315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70" name="Text 68"/>
          <p:cNvSpPr txBox="1"/>
          <p:nvPr/>
        </p:nvSpPr>
        <p:spPr>
          <a:xfrm>
            <a:off x="658368" y="4517136"/>
            <a:ext cx="310896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200" dirty="0"/>
          </a:p>
        </p:txBody>
      </p:sp>
      <p:sp>
        <p:nvSpPr>
          <p:cNvPr id="71" name="Text 69"/>
          <p:cNvSpPr txBox="1"/>
          <p:nvPr/>
        </p:nvSpPr>
        <p:spPr>
          <a:xfrm>
            <a:off x="1014984" y="4517136"/>
            <a:ext cx="17830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2871216" y="4596346"/>
            <a:ext cx="44704" cy="19362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73" name="Text 71"/>
          <p:cNvSpPr txBox="1"/>
          <p:nvPr/>
        </p:nvSpPr>
        <p:spPr>
          <a:xfrm>
            <a:off x="3026664" y="4517136"/>
            <a:ext cx="786384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300" dirty="0"/>
          </a:p>
        </p:txBody>
      </p:sp>
      <p:sp>
        <p:nvSpPr>
          <p:cNvPr id="74" name="Text 72"/>
          <p:cNvSpPr txBox="1"/>
          <p:nvPr/>
        </p:nvSpPr>
        <p:spPr>
          <a:xfrm>
            <a:off x="3813048" y="4517136"/>
            <a:ext cx="65836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75" name="Text 73"/>
          <p:cNvSpPr txBox="1"/>
          <p:nvPr/>
        </p:nvSpPr>
        <p:spPr>
          <a:xfrm>
            <a:off x="4471416" y="4517136"/>
            <a:ext cx="713232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76" name="Text 74"/>
          <p:cNvSpPr txBox="1"/>
          <p:nvPr/>
        </p:nvSpPr>
        <p:spPr>
          <a:xfrm>
            <a:off x="5184648" y="4517136"/>
            <a:ext cx="7315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77" name="Text 75"/>
          <p:cNvSpPr txBox="1"/>
          <p:nvPr/>
        </p:nvSpPr>
        <p:spPr>
          <a:xfrm>
            <a:off x="658368" y="4869180"/>
            <a:ext cx="310896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200" dirty="0"/>
          </a:p>
        </p:txBody>
      </p:sp>
      <p:sp>
        <p:nvSpPr>
          <p:cNvPr id="78" name="Text 76"/>
          <p:cNvSpPr txBox="1"/>
          <p:nvPr/>
        </p:nvSpPr>
        <p:spPr>
          <a:xfrm>
            <a:off x="1014984" y="4869180"/>
            <a:ext cx="17830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LEXUS</a:t>
            </a:r>
            <a:endParaRPr lang="en-US" sz="1200" dirty="0"/>
          </a:p>
        </p:txBody>
      </p:sp>
      <p:sp>
        <p:nvSpPr>
          <p:cNvPr id="79" name="Shape 77"/>
          <p:cNvSpPr/>
          <p:nvPr/>
        </p:nvSpPr>
        <p:spPr>
          <a:xfrm>
            <a:off x="2871216" y="4948390"/>
            <a:ext cx="44704" cy="19362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80" name="Text 78"/>
          <p:cNvSpPr txBox="1"/>
          <p:nvPr/>
        </p:nvSpPr>
        <p:spPr>
          <a:xfrm>
            <a:off x="3026664" y="4869180"/>
            <a:ext cx="786384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300" dirty="0"/>
          </a:p>
        </p:txBody>
      </p:sp>
      <p:sp>
        <p:nvSpPr>
          <p:cNvPr id="81" name="Text 79"/>
          <p:cNvSpPr txBox="1"/>
          <p:nvPr/>
        </p:nvSpPr>
        <p:spPr>
          <a:xfrm>
            <a:off x="3813048" y="4869180"/>
            <a:ext cx="65836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82" name="Text 80"/>
          <p:cNvSpPr txBox="1"/>
          <p:nvPr/>
        </p:nvSpPr>
        <p:spPr>
          <a:xfrm>
            <a:off x="4471416" y="4869180"/>
            <a:ext cx="713232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83" name="Text 81"/>
          <p:cNvSpPr txBox="1"/>
          <p:nvPr/>
        </p:nvSpPr>
        <p:spPr>
          <a:xfrm>
            <a:off x="5184648" y="4869180"/>
            <a:ext cx="7315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84" name="Text 82"/>
          <p:cNvSpPr txBox="1"/>
          <p:nvPr/>
        </p:nvSpPr>
        <p:spPr>
          <a:xfrm>
            <a:off x="658368" y="5221224"/>
            <a:ext cx="310896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200" dirty="0"/>
          </a:p>
        </p:txBody>
      </p:sp>
      <p:sp>
        <p:nvSpPr>
          <p:cNvPr id="85" name="Text 83"/>
          <p:cNvSpPr txBox="1"/>
          <p:nvPr/>
        </p:nvSpPr>
        <p:spPr>
          <a:xfrm>
            <a:off x="1014984" y="5221224"/>
            <a:ext cx="17830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HENDERSON</a:t>
            </a:r>
            <a:endParaRPr lang="en-US" sz="1200" dirty="0"/>
          </a:p>
        </p:txBody>
      </p:sp>
      <p:sp>
        <p:nvSpPr>
          <p:cNvPr id="86" name="Shape 84"/>
          <p:cNvSpPr/>
          <p:nvPr/>
        </p:nvSpPr>
        <p:spPr>
          <a:xfrm>
            <a:off x="2871216" y="5300434"/>
            <a:ext cx="44704" cy="19362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87" name="Text 85"/>
          <p:cNvSpPr txBox="1"/>
          <p:nvPr/>
        </p:nvSpPr>
        <p:spPr>
          <a:xfrm>
            <a:off x="3026664" y="5221224"/>
            <a:ext cx="786384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300" dirty="0"/>
          </a:p>
        </p:txBody>
      </p:sp>
      <p:sp>
        <p:nvSpPr>
          <p:cNvPr id="88" name="Text 86"/>
          <p:cNvSpPr txBox="1"/>
          <p:nvPr/>
        </p:nvSpPr>
        <p:spPr>
          <a:xfrm>
            <a:off x="3813048" y="5221224"/>
            <a:ext cx="65836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89" name="Text 87"/>
          <p:cNvSpPr txBox="1"/>
          <p:nvPr/>
        </p:nvSpPr>
        <p:spPr>
          <a:xfrm>
            <a:off x="4471416" y="5221224"/>
            <a:ext cx="713232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90" name="Text 88"/>
          <p:cNvSpPr txBox="1"/>
          <p:nvPr/>
        </p:nvSpPr>
        <p:spPr>
          <a:xfrm>
            <a:off x="5184648" y="5221224"/>
            <a:ext cx="7315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91" name="Text 89"/>
          <p:cNvSpPr txBox="1"/>
          <p:nvPr/>
        </p:nvSpPr>
        <p:spPr>
          <a:xfrm>
            <a:off x="658368" y="5573268"/>
            <a:ext cx="310896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200" dirty="0"/>
          </a:p>
        </p:txBody>
      </p:sp>
      <p:sp>
        <p:nvSpPr>
          <p:cNvPr id="92" name="Text 90"/>
          <p:cNvSpPr txBox="1"/>
          <p:nvPr/>
        </p:nvSpPr>
        <p:spPr>
          <a:xfrm>
            <a:off x="1014984" y="5573268"/>
            <a:ext cx="17830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FLAGSTAFF</a:t>
            </a:r>
            <a:endParaRPr lang="en-US" sz="1200" dirty="0"/>
          </a:p>
        </p:txBody>
      </p:sp>
      <p:sp>
        <p:nvSpPr>
          <p:cNvPr id="93" name="Shape 91"/>
          <p:cNvSpPr/>
          <p:nvPr/>
        </p:nvSpPr>
        <p:spPr>
          <a:xfrm>
            <a:off x="2871216" y="5652478"/>
            <a:ext cx="44704" cy="19362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94" name="Text 92"/>
          <p:cNvSpPr txBox="1"/>
          <p:nvPr/>
        </p:nvSpPr>
        <p:spPr>
          <a:xfrm>
            <a:off x="3026664" y="5573268"/>
            <a:ext cx="786384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300" dirty="0"/>
          </a:p>
        </p:txBody>
      </p:sp>
      <p:sp>
        <p:nvSpPr>
          <p:cNvPr id="95" name="Text 93"/>
          <p:cNvSpPr txBox="1"/>
          <p:nvPr/>
        </p:nvSpPr>
        <p:spPr>
          <a:xfrm>
            <a:off x="3813048" y="5573268"/>
            <a:ext cx="65836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00" dirty="0"/>
          </a:p>
        </p:txBody>
      </p:sp>
      <p:sp>
        <p:nvSpPr>
          <p:cNvPr id="96" name="Text 94"/>
          <p:cNvSpPr txBox="1"/>
          <p:nvPr/>
        </p:nvSpPr>
        <p:spPr>
          <a:xfrm>
            <a:off x="4471416" y="5573268"/>
            <a:ext cx="713232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</a:t>
            </a:r>
            <a:endParaRPr lang="en-US" sz="1300" dirty="0"/>
          </a:p>
        </p:txBody>
      </p:sp>
      <p:sp>
        <p:nvSpPr>
          <p:cNvPr id="97" name="Text 95"/>
          <p:cNvSpPr txBox="1"/>
          <p:nvPr/>
        </p:nvSpPr>
        <p:spPr>
          <a:xfrm>
            <a:off x="5184648" y="5573268"/>
            <a:ext cx="7315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98" name="Text 96"/>
          <p:cNvSpPr txBox="1"/>
          <p:nvPr/>
        </p:nvSpPr>
        <p:spPr>
          <a:xfrm>
            <a:off x="6208776" y="1700784"/>
            <a:ext cx="310896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1200" dirty="0"/>
          </a:p>
        </p:txBody>
      </p:sp>
      <p:sp>
        <p:nvSpPr>
          <p:cNvPr id="99" name="Text 97"/>
          <p:cNvSpPr txBox="1"/>
          <p:nvPr/>
        </p:nvSpPr>
        <p:spPr>
          <a:xfrm>
            <a:off x="6565392" y="1700784"/>
            <a:ext cx="17830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PRESCOTT</a:t>
            </a:r>
            <a:endParaRPr lang="en-US" sz="1200" dirty="0"/>
          </a:p>
        </p:txBody>
      </p:sp>
      <p:sp>
        <p:nvSpPr>
          <p:cNvPr id="100" name="Shape 98"/>
          <p:cNvSpPr/>
          <p:nvPr/>
        </p:nvSpPr>
        <p:spPr>
          <a:xfrm>
            <a:off x="8421624" y="1779994"/>
            <a:ext cx="44704" cy="19362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01" name="Text 99"/>
          <p:cNvSpPr txBox="1"/>
          <p:nvPr/>
        </p:nvSpPr>
        <p:spPr>
          <a:xfrm>
            <a:off x="8577072" y="1700784"/>
            <a:ext cx="786384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300" dirty="0"/>
          </a:p>
        </p:txBody>
      </p:sp>
      <p:sp>
        <p:nvSpPr>
          <p:cNvPr id="102" name="Text 100"/>
          <p:cNvSpPr txBox="1"/>
          <p:nvPr/>
        </p:nvSpPr>
        <p:spPr>
          <a:xfrm>
            <a:off x="9363456" y="1700784"/>
            <a:ext cx="65836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103" name="Text 101"/>
          <p:cNvSpPr txBox="1"/>
          <p:nvPr/>
        </p:nvSpPr>
        <p:spPr>
          <a:xfrm>
            <a:off x="10021824" y="1700784"/>
            <a:ext cx="713232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04" name="Text 102"/>
          <p:cNvSpPr txBox="1"/>
          <p:nvPr/>
        </p:nvSpPr>
        <p:spPr>
          <a:xfrm>
            <a:off x="10735056" y="1700784"/>
            <a:ext cx="7315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05" name="Text 103"/>
          <p:cNvSpPr txBox="1"/>
          <p:nvPr/>
        </p:nvSpPr>
        <p:spPr>
          <a:xfrm>
            <a:off x="6208776" y="2052828"/>
            <a:ext cx="310896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1200" dirty="0"/>
          </a:p>
        </p:txBody>
      </p:sp>
      <p:sp>
        <p:nvSpPr>
          <p:cNvPr id="106" name="Text 104"/>
          <p:cNvSpPr txBox="1"/>
          <p:nvPr/>
        </p:nvSpPr>
        <p:spPr>
          <a:xfrm>
            <a:off x="6565392" y="2052828"/>
            <a:ext cx="17830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ST GEORGE</a:t>
            </a:r>
            <a:endParaRPr lang="en-US" sz="1200" dirty="0"/>
          </a:p>
        </p:txBody>
      </p:sp>
      <p:sp>
        <p:nvSpPr>
          <p:cNvPr id="107" name="Shape 105"/>
          <p:cNvSpPr/>
          <p:nvPr/>
        </p:nvSpPr>
        <p:spPr>
          <a:xfrm>
            <a:off x="8421624" y="2132038"/>
            <a:ext cx="44704" cy="19362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08" name="Text 106"/>
          <p:cNvSpPr txBox="1"/>
          <p:nvPr/>
        </p:nvSpPr>
        <p:spPr>
          <a:xfrm>
            <a:off x="8577072" y="2052828"/>
            <a:ext cx="786384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300" dirty="0"/>
          </a:p>
        </p:txBody>
      </p:sp>
      <p:sp>
        <p:nvSpPr>
          <p:cNvPr id="109" name="Text 107"/>
          <p:cNvSpPr txBox="1"/>
          <p:nvPr/>
        </p:nvSpPr>
        <p:spPr>
          <a:xfrm>
            <a:off x="9363456" y="2052828"/>
            <a:ext cx="65836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300" dirty="0"/>
          </a:p>
        </p:txBody>
      </p:sp>
      <p:sp>
        <p:nvSpPr>
          <p:cNvPr id="110" name="Text 108"/>
          <p:cNvSpPr txBox="1"/>
          <p:nvPr/>
        </p:nvSpPr>
        <p:spPr>
          <a:xfrm>
            <a:off x="10021824" y="2052828"/>
            <a:ext cx="713232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</a:t>
            </a:r>
            <a:endParaRPr lang="en-US" sz="1300" dirty="0"/>
          </a:p>
        </p:txBody>
      </p:sp>
      <p:sp>
        <p:nvSpPr>
          <p:cNvPr id="111" name="Text 109"/>
          <p:cNvSpPr txBox="1"/>
          <p:nvPr/>
        </p:nvSpPr>
        <p:spPr>
          <a:xfrm>
            <a:off x="10735056" y="2052828"/>
            <a:ext cx="7315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</a:t>
            </a:r>
            <a:endParaRPr lang="en-US" sz="1300" dirty="0"/>
          </a:p>
        </p:txBody>
      </p:sp>
      <p:sp>
        <p:nvSpPr>
          <p:cNvPr id="112" name="Text 110"/>
          <p:cNvSpPr txBox="1"/>
          <p:nvPr/>
        </p:nvSpPr>
        <p:spPr>
          <a:xfrm>
            <a:off x="6208776" y="2404872"/>
            <a:ext cx="310896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1200" dirty="0"/>
          </a:p>
        </p:txBody>
      </p:sp>
      <p:sp>
        <p:nvSpPr>
          <p:cNvPr id="113" name="Text 111"/>
          <p:cNvSpPr txBox="1"/>
          <p:nvPr/>
        </p:nvSpPr>
        <p:spPr>
          <a:xfrm>
            <a:off x="6565392" y="2404872"/>
            <a:ext cx="17830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HENDERSON</a:t>
            </a:r>
            <a:endParaRPr lang="en-US" sz="1200" dirty="0"/>
          </a:p>
        </p:txBody>
      </p:sp>
      <p:sp>
        <p:nvSpPr>
          <p:cNvPr id="114" name="Shape 112"/>
          <p:cNvSpPr/>
          <p:nvPr/>
        </p:nvSpPr>
        <p:spPr>
          <a:xfrm>
            <a:off x="8421624" y="2484082"/>
            <a:ext cx="33528" cy="19362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15" name="Text 113"/>
          <p:cNvSpPr txBox="1"/>
          <p:nvPr/>
        </p:nvSpPr>
        <p:spPr>
          <a:xfrm>
            <a:off x="8577072" y="2404872"/>
            <a:ext cx="786384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00" dirty="0"/>
          </a:p>
        </p:txBody>
      </p:sp>
      <p:sp>
        <p:nvSpPr>
          <p:cNvPr id="116" name="Text 114"/>
          <p:cNvSpPr txBox="1"/>
          <p:nvPr/>
        </p:nvSpPr>
        <p:spPr>
          <a:xfrm>
            <a:off x="9363456" y="2404872"/>
            <a:ext cx="65836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</a:t>
            </a:r>
            <a:endParaRPr lang="en-US" sz="1300" dirty="0"/>
          </a:p>
        </p:txBody>
      </p:sp>
      <p:sp>
        <p:nvSpPr>
          <p:cNvPr id="117" name="Text 115"/>
          <p:cNvSpPr txBox="1"/>
          <p:nvPr/>
        </p:nvSpPr>
        <p:spPr>
          <a:xfrm>
            <a:off x="10021824" y="2404872"/>
            <a:ext cx="713232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18" name="Text 116"/>
          <p:cNvSpPr txBox="1"/>
          <p:nvPr/>
        </p:nvSpPr>
        <p:spPr>
          <a:xfrm>
            <a:off x="10735056" y="2404872"/>
            <a:ext cx="7315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119" name="Text 117"/>
          <p:cNvSpPr txBox="1"/>
          <p:nvPr/>
        </p:nvSpPr>
        <p:spPr>
          <a:xfrm>
            <a:off x="6208776" y="2756916"/>
            <a:ext cx="310896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1200" dirty="0"/>
          </a:p>
        </p:txBody>
      </p:sp>
      <p:sp>
        <p:nvSpPr>
          <p:cNvPr id="120" name="Text 118"/>
          <p:cNvSpPr txBox="1"/>
          <p:nvPr/>
        </p:nvSpPr>
        <p:spPr>
          <a:xfrm>
            <a:off x="6565392" y="2756916"/>
            <a:ext cx="17830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CDJR POST FALLS</a:t>
            </a:r>
            <a:endParaRPr lang="en-US" sz="1200" dirty="0"/>
          </a:p>
        </p:txBody>
      </p:sp>
      <p:sp>
        <p:nvSpPr>
          <p:cNvPr id="121" name="Shape 119"/>
          <p:cNvSpPr/>
          <p:nvPr/>
        </p:nvSpPr>
        <p:spPr>
          <a:xfrm>
            <a:off x="8421624" y="2836126"/>
            <a:ext cx="22352" cy="19362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22" name="Text 120"/>
          <p:cNvSpPr txBox="1"/>
          <p:nvPr/>
        </p:nvSpPr>
        <p:spPr>
          <a:xfrm>
            <a:off x="8577072" y="2756916"/>
            <a:ext cx="786384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123" name="Text 121"/>
          <p:cNvSpPr txBox="1"/>
          <p:nvPr/>
        </p:nvSpPr>
        <p:spPr>
          <a:xfrm>
            <a:off x="9363456" y="2756916"/>
            <a:ext cx="65836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24" name="Text 122"/>
          <p:cNvSpPr txBox="1"/>
          <p:nvPr/>
        </p:nvSpPr>
        <p:spPr>
          <a:xfrm>
            <a:off x="10021824" y="2756916"/>
            <a:ext cx="713232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</a:t>
            </a:r>
            <a:endParaRPr lang="en-US" sz="1300" dirty="0"/>
          </a:p>
        </p:txBody>
      </p:sp>
      <p:sp>
        <p:nvSpPr>
          <p:cNvPr id="125" name="Text 123"/>
          <p:cNvSpPr txBox="1"/>
          <p:nvPr/>
        </p:nvSpPr>
        <p:spPr>
          <a:xfrm>
            <a:off x="10735056" y="2756916"/>
            <a:ext cx="7315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26" name="Text 124"/>
          <p:cNvSpPr txBox="1"/>
          <p:nvPr/>
        </p:nvSpPr>
        <p:spPr>
          <a:xfrm>
            <a:off x="6208776" y="3108960"/>
            <a:ext cx="310896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</a:t>
            </a:r>
            <a:endParaRPr lang="en-US" sz="1200" dirty="0"/>
          </a:p>
        </p:txBody>
      </p:sp>
      <p:sp>
        <p:nvSpPr>
          <p:cNvPr id="127" name="Text 125"/>
          <p:cNvSpPr txBox="1"/>
          <p:nvPr/>
        </p:nvSpPr>
        <p:spPr>
          <a:xfrm>
            <a:off x="6565392" y="3108960"/>
            <a:ext cx="17830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GMC PRESCOTT</a:t>
            </a:r>
            <a:endParaRPr lang="en-US" sz="1200" dirty="0"/>
          </a:p>
        </p:txBody>
      </p:sp>
      <p:sp>
        <p:nvSpPr>
          <p:cNvPr id="128" name="Shape 126"/>
          <p:cNvSpPr/>
          <p:nvPr/>
        </p:nvSpPr>
        <p:spPr>
          <a:xfrm>
            <a:off x="8421624" y="3188170"/>
            <a:ext cx="22352" cy="19362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29" name="Text 127"/>
          <p:cNvSpPr txBox="1"/>
          <p:nvPr/>
        </p:nvSpPr>
        <p:spPr>
          <a:xfrm>
            <a:off x="8577072" y="3108960"/>
            <a:ext cx="786384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130" name="Text 128"/>
          <p:cNvSpPr txBox="1"/>
          <p:nvPr/>
        </p:nvSpPr>
        <p:spPr>
          <a:xfrm>
            <a:off x="9363456" y="3108960"/>
            <a:ext cx="65836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</a:t>
            </a:r>
            <a:endParaRPr lang="en-US" sz="1300" dirty="0"/>
          </a:p>
        </p:txBody>
      </p:sp>
      <p:sp>
        <p:nvSpPr>
          <p:cNvPr id="131" name="Text 129"/>
          <p:cNvSpPr txBox="1"/>
          <p:nvPr/>
        </p:nvSpPr>
        <p:spPr>
          <a:xfrm>
            <a:off x="10021824" y="3108960"/>
            <a:ext cx="713232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32" name="Text 130"/>
          <p:cNvSpPr txBox="1"/>
          <p:nvPr/>
        </p:nvSpPr>
        <p:spPr>
          <a:xfrm>
            <a:off x="10735056" y="3108960"/>
            <a:ext cx="7315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33" name="Text 131"/>
          <p:cNvSpPr txBox="1"/>
          <p:nvPr/>
        </p:nvSpPr>
        <p:spPr>
          <a:xfrm>
            <a:off x="6208776" y="3461004"/>
            <a:ext cx="310896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1200" dirty="0"/>
          </a:p>
        </p:txBody>
      </p:sp>
      <p:sp>
        <p:nvSpPr>
          <p:cNvPr id="134" name="Text 132"/>
          <p:cNvSpPr txBox="1"/>
          <p:nvPr/>
        </p:nvSpPr>
        <p:spPr>
          <a:xfrm>
            <a:off x="6565392" y="3461004"/>
            <a:ext cx="17830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LV</a:t>
            </a:r>
            <a:endParaRPr lang="en-US" sz="1200" dirty="0"/>
          </a:p>
        </p:txBody>
      </p:sp>
      <p:sp>
        <p:nvSpPr>
          <p:cNvPr id="135" name="Shape 133"/>
          <p:cNvSpPr/>
          <p:nvPr/>
        </p:nvSpPr>
        <p:spPr>
          <a:xfrm>
            <a:off x="8421624" y="3540214"/>
            <a:ext cx="22352" cy="19362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36" name="Text 134"/>
          <p:cNvSpPr txBox="1"/>
          <p:nvPr/>
        </p:nvSpPr>
        <p:spPr>
          <a:xfrm>
            <a:off x="8577072" y="3461004"/>
            <a:ext cx="786384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137" name="Text 135"/>
          <p:cNvSpPr txBox="1"/>
          <p:nvPr/>
        </p:nvSpPr>
        <p:spPr>
          <a:xfrm>
            <a:off x="9363456" y="3461004"/>
            <a:ext cx="65836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38" name="Text 136"/>
          <p:cNvSpPr txBox="1"/>
          <p:nvPr/>
        </p:nvSpPr>
        <p:spPr>
          <a:xfrm>
            <a:off x="10021824" y="3461004"/>
            <a:ext cx="713232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</a:t>
            </a:r>
            <a:endParaRPr lang="en-US" sz="1300" dirty="0"/>
          </a:p>
        </p:txBody>
      </p:sp>
      <p:sp>
        <p:nvSpPr>
          <p:cNvPr id="139" name="Text 137"/>
          <p:cNvSpPr txBox="1"/>
          <p:nvPr/>
        </p:nvSpPr>
        <p:spPr>
          <a:xfrm>
            <a:off x="10735056" y="3461004"/>
            <a:ext cx="7315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40" name="Text 138"/>
          <p:cNvSpPr txBox="1"/>
          <p:nvPr/>
        </p:nvSpPr>
        <p:spPr>
          <a:xfrm>
            <a:off x="6208776" y="3813048"/>
            <a:ext cx="310896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</a:t>
            </a:r>
            <a:endParaRPr lang="en-US" sz="1200" dirty="0"/>
          </a:p>
        </p:txBody>
      </p:sp>
      <p:sp>
        <p:nvSpPr>
          <p:cNvPr id="141" name="Text 139"/>
          <p:cNvSpPr txBox="1"/>
          <p:nvPr/>
        </p:nvSpPr>
        <p:spPr>
          <a:xfrm>
            <a:off x="6565392" y="3813048"/>
            <a:ext cx="17830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RENO</a:t>
            </a:r>
            <a:endParaRPr lang="en-US" sz="1200" dirty="0"/>
          </a:p>
        </p:txBody>
      </p:sp>
      <p:sp>
        <p:nvSpPr>
          <p:cNvPr id="142" name="Shape 140"/>
          <p:cNvSpPr/>
          <p:nvPr/>
        </p:nvSpPr>
        <p:spPr>
          <a:xfrm>
            <a:off x="8421624" y="3892258"/>
            <a:ext cx="22352" cy="19362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43" name="Text 141"/>
          <p:cNvSpPr txBox="1"/>
          <p:nvPr/>
        </p:nvSpPr>
        <p:spPr>
          <a:xfrm>
            <a:off x="8577072" y="3813048"/>
            <a:ext cx="786384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144" name="Text 142"/>
          <p:cNvSpPr txBox="1"/>
          <p:nvPr/>
        </p:nvSpPr>
        <p:spPr>
          <a:xfrm>
            <a:off x="9363456" y="3813048"/>
            <a:ext cx="65836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45" name="Text 143"/>
          <p:cNvSpPr txBox="1"/>
          <p:nvPr/>
        </p:nvSpPr>
        <p:spPr>
          <a:xfrm>
            <a:off x="10021824" y="3813048"/>
            <a:ext cx="713232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</a:t>
            </a:r>
            <a:endParaRPr lang="en-US" sz="1300" dirty="0"/>
          </a:p>
        </p:txBody>
      </p:sp>
      <p:sp>
        <p:nvSpPr>
          <p:cNvPr id="146" name="Text 144"/>
          <p:cNvSpPr txBox="1"/>
          <p:nvPr/>
        </p:nvSpPr>
        <p:spPr>
          <a:xfrm>
            <a:off x="10735056" y="3813048"/>
            <a:ext cx="7315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47" name="Text 145"/>
          <p:cNvSpPr txBox="1"/>
          <p:nvPr/>
        </p:nvSpPr>
        <p:spPr>
          <a:xfrm>
            <a:off x="6208776" y="4165092"/>
            <a:ext cx="310896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endParaRPr lang="en-US" sz="1200" dirty="0"/>
          </a:p>
        </p:txBody>
      </p:sp>
      <p:sp>
        <p:nvSpPr>
          <p:cNvPr id="148" name="Text 146"/>
          <p:cNvSpPr txBox="1"/>
          <p:nvPr/>
        </p:nvSpPr>
        <p:spPr>
          <a:xfrm>
            <a:off x="6565392" y="4165092"/>
            <a:ext cx="17830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SPOKANE</a:t>
            </a:r>
            <a:endParaRPr lang="en-US" sz="1200" dirty="0"/>
          </a:p>
        </p:txBody>
      </p:sp>
      <p:sp>
        <p:nvSpPr>
          <p:cNvPr id="149" name="Shape 147"/>
          <p:cNvSpPr/>
          <p:nvPr/>
        </p:nvSpPr>
        <p:spPr>
          <a:xfrm>
            <a:off x="8421624" y="4244302"/>
            <a:ext cx="22352" cy="19362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50" name="Text 148"/>
          <p:cNvSpPr txBox="1"/>
          <p:nvPr/>
        </p:nvSpPr>
        <p:spPr>
          <a:xfrm>
            <a:off x="8577072" y="4165092"/>
            <a:ext cx="786384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151" name="Text 149"/>
          <p:cNvSpPr txBox="1"/>
          <p:nvPr/>
        </p:nvSpPr>
        <p:spPr>
          <a:xfrm>
            <a:off x="9363456" y="4165092"/>
            <a:ext cx="65836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52" name="Text 150"/>
          <p:cNvSpPr txBox="1"/>
          <p:nvPr/>
        </p:nvSpPr>
        <p:spPr>
          <a:xfrm>
            <a:off x="10021824" y="4165092"/>
            <a:ext cx="713232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</a:t>
            </a:r>
            <a:endParaRPr lang="en-US" sz="1300" dirty="0"/>
          </a:p>
        </p:txBody>
      </p:sp>
      <p:sp>
        <p:nvSpPr>
          <p:cNvPr id="153" name="Text 151"/>
          <p:cNvSpPr txBox="1"/>
          <p:nvPr/>
        </p:nvSpPr>
        <p:spPr>
          <a:xfrm>
            <a:off x="10735056" y="4165092"/>
            <a:ext cx="7315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54" name="Text 152"/>
          <p:cNvSpPr txBox="1"/>
          <p:nvPr/>
        </p:nvSpPr>
        <p:spPr>
          <a:xfrm>
            <a:off x="6208776" y="4517136"/>
            <a:ext cx="310896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</a:t>
            </a:r>
            <a:endParaRPr lang="en-US" sz="1200" dirty="0"/>
          </a:p>
        </p:txBody>
      </p:sp>
      <p:sp>
        <p:nvSpPr>
          <p:cNvPr id="155" name="Text 153"/>
          <p:cNvSpPr txBox="1"/>
          <p:nvPr/>
        </p:nvSpPr>
        <p:spPr>
          <a:xfrm>
            <a:off x="6565392" y="4517136"/>
            <a:ext cx="17830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VOLVO</a:t>
            </a:r>
            <a:endParaRPr lang="en-US" sz="1200" dirty="0"/>
          </a:p>
        </p:txBody>
      </p:sp>
      <p:sp>
        <p:nvSpPr>
          <p:cNvPr id="156" name="Shape 154"/>
          <p:cNvSpPr/>
          <p:nvPr/>
        </p:nvSpPr>
        <p:spPr>
          <a:xfrm>
            <a:off x="8421624" y="4596346"/>
            <a:ext cx="22352" cy="19362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57" name="Text 155"/>
          <p:cNvSpPr txBox="1"/>
          <p:nvPr/>
        </p:nvSpPr>
        <p:spPr>
          <a:xfrm>
            <a:off x="8577072" y="4517136"/>
            <a:ext cx="786384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158" name="Text 156"/>
          <p:cNvSpPr txBox="1"/>
          <p:nvPr/>
        </p:nvSpPr>
        <p:spPr>
          <a:xfrm>
            <a:off x="9363456" y="4517136"/>
            <a:ext cx="65836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159" name="Text 157"/>
          <p:cNvSpPr txBox="1"/>
          <p:nvPr/>
        </p:nvSpPr>
        <p:spPr>
          <a:xfrm>
            <a:off x="10021824" y="4517136"/>
            <a:ext cx="713232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</a:t>
            </a:r>
            <a:endParaRPr lang="en-US" sz="1300" dirty="0"/>
          </a:p>
        </p:txBody>
      </p:sp>
      <p:sp>
        <p:nvSpPr>
          <p:cNvPr id="160" name="Text 158"/>
          <p:cNvSpPr txBox="1"/>
          <p:nvPr/>
        </p:nvSpPr>
        <p:spPr>
          <a:xfrm>
            <a:off x="10735056" y="4517136"/>
            <a:ext cx="7315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</a:t>
            </a:r>
            <a:endParaRPr lang="en-US" sz="1300" dirty="0"/>
          </a:p>
        </p:txBody>
      </p:sp>
      <p:sp>
        <p:nvSpPr>
          <p:cNvPr id="161" name="Text 159"/>
          <p:cNvSpPr txBox="1"/>
          <p:nvPr/>
        </p:nvSpPr>
        <p:spPr>
          <a:xfrm>
            <a:off x="6208776" y="4869180"/>
            <a:ext cx="310896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</a:t>
            </a:r>
            <a:endParaRPr lang="en-US" sz="1200" dirty="0"/>
          </a:p>
        </p:txBody>
      </p:sp>
      <p:sp>
        <p:nvSpPr>
          <p:cNvPr id="162" name="Text 160"/>
          <p:cNvSpPr txBox="1"/>
          <p:nvPr/>
        </p:nvSpPr>
        <p:spPr>
          <a:xfrm>
            <a:off x="6565392" y="4869180"/>
            <a:ext cx="17830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PRESCOTT</a:t>
            </a:r>
            <a:endParaRPr lang="en-US" sz="1200" dirty="0"/>
          </a:p>
        </p:txBody>
      </p:sp>
      <p:sp>
        <p:nvSpPr>
          <p:cNvPr id="163" name="Shape 161"/>
          <p:cNvSpPr/>
          <p:nvPr/>
        </p:nvSpPr>
        <p:spPr>
          <a:xfrm>
            <a:off x="8421624" y="4948390"/>
            <a:ext cx="18288" cy="19362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64" name="Text 162"/>
          <p:cNvSpPr txBox="1"/>
          <p:nvPr/>
        </p:nvSpPr>
        <p:spPr>
          <a:xfrm>
            <a:off x="8577072" y="4869180"/>
            <a:ext cx="786384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65" name="Text 163"/>
          <p:cNvSpPr txBox="1"/>
          <p:nvPr/>
        </p:nvSpPr>
        <p:spPr>
          <a:xfrm>
            <a:off x="9363456" y="4869180"/>
            <a:ext cx="65836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</a:t>
            </a:r>
            <a:endParaRPr lang="en-US" sz="1300" dirty="0"/>
          </a:p>
        </p:txBody>
      </p:sp>
      <p:sp>
        <p:nvSpPr>
          <p:cNvPr id="166" name="Text 164"/>
          <p:cNvSpPr txBox="1"/>
          <p:nvPr/>
        </p:nvSpPr>
        <p:spPr>
          <a:xfrm>
            <a:off x="10021824" y="4869180"/>
            <a:ext cx="713232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</a:t>
            </a:r>
            <a:endParaRPr lang="en-US" sz="1300" dirty="0"/>
          </a:p>
        </p:txBody>
      </p:sp>
      <p:sp>
        <p:nvSpPr>
          <p:cNvPr id="167" name="Text 165"/>
          <p:cNvSpPr txBox="1"/>
          <p:nvPr/>
        </p:nvSpPr>
        <p:spPr>
          <a:xfrm>
            <a:off x="10735056" y="4869180"/>
            <a:ext cx="7315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68" name="Text 166"/>
          <p:cNvSpPr txBox="1"/>
          <p:nvPr/>
        </p:nvSpPr>
        <p:spPr>
          <a:xfrm>
            <a:off x="6208776" y="5221224"/>
            <a:ext cx="310896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</a:t>
            </a:r>
            <a:endParaRPr lang="en-US" sz="1200" dirty="0"/>
          </a:p>
        </p:txBody>
      </p:sp>
      <p:sp>
        <p:nvSpPr>
          <p:cNvPr id="169" name="Text 167"/>
          <p:cNvSpPr txBox="1"/>
          <p:nvPr/>
        </p:nvSpPr>
        <p:spPr>
          <a:xfrm>
            <a:off x="6565392" y="5221224"/>
            <a:ext cx="17830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LV</a:t>
            </a:r>
            <a:endParaRPr lang="en-US" sz="1200" dirty="0"/>
          </a:p>
        </p:txBody>
      </p:sp>
      <p:sp>
        <p:nvSpPr>
          <p:cNvPr id="170" name="Shape 168"/>
          <p:cNvSpPr/>
          <p:nvPr/>
        </p:nvSpPr>
        <p:spPr>
          <a:xfrm>
            <a:off x="8421624" y="5300434"/>
            <a:ext cx="18288" cy="19362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71" name="Text 169"/>
          <p:cNvSpPr txBox="1"/>
          <p:nvPr/>
        </p:nvSpPr>
        <p:spPr>
          <a:xfrm>
            <a:off x="8577072" y="5221224"/>
            <a:ext cx="786384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72" name="Text 170"/>
          <p:cNvSpPr txBox="1"/>
          <p:nvPr/>
        </p:nvSpPr>
        <p:spPr>
          <a:xfrm>
            <a:off x="9363456" y="5221224"/>
            <a:ext cx="65836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73" name="Text 171"/>
          <p:cNvSpPr txBox="1"/>
          <p:nvPr/>
        </p:nvSpPr>
        <p:spPr>
          <a:xfrm>
            <a:off x="10021824" y="5221224"/>
            <a:ext cx="713232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</a:t>
            </a:r>
            <a:endParaRPr lang="en-US" sz="1300" dirty="0"/>
          </a:p>
        </p:txBody>
      </p:sp>
      <p:sp>
        <p:nvSpPr>
          <p:cNvPr id="174" name="Text 172"/>
          <p:cNvSpPr txBox="1"/>
          <p:nvPr/>
        </p:nvSpPr>
        <p:spPr>
          <a:xfrm>
            <a:off x="10735056" y="5221224"/>
            <a:ext cx="7315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</a:t>
            </a:r>
            <a:endParaRPr lang="en-US" sz="1300" dirty="0"/>
          </a:p>
        </p:txBody>
      </p:sp>
      <p:sp>
        <p:nvSpPr>
          <p:cNvPr id="175" name="Shape 173"/>
          <p:cNvSpPr/>
          <p:nvPr/>
        </p:nvSpPr>
        <p:spPr>
          <a:xfrm>
            <a:off x="6085332" y="1700784"/>
            <a:ext cx="10973" cy="4224528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77" name="Shape 174"/>
          <p:cNvSpPr/>
          <p:nvPr/>
        </p:nvSpPr>
        <p:spPr>
          <a:xfrm>
            <a:off x="457200" y="6126480"/>
            <a:ext cx="11274552" cy="371856"/>
          </a:xfrm>
          <a:prstGeom prst="rect">
            <a:avLst/>
          </a:prstGeom>
          <a:solidFill>
            <a:srgbClr val="E6F6EE"/>
          </a:solidFill>
          <a:ln/>
        </p:spPr>
      </p:sp>
      <p:sp>
        <p:nvSpPr>
          <p:cNvPr id="178" name="Text 175"/>
          <p:cNvSpPr txBox="1"/>
          <p:nvPr/>
        </p:nvSpPr>
        <p:spPr>
          <a:xfrm>
            <a:off x="658368" y="6144768"/>
            <a:ext cx="1092708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 stores set 98 all-time monthly records in 2026.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RECORDS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January–September Ever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782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1371600"/>
            <a:ext cx="5234940" cy="4572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" y="1463040"/>
            <a:ext cx="42291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GROSS AND NET PROFIT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978908" y="1408176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1920240"/>
            <a:ext cx="252603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HENDERSON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CADILLAC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GMC BULLHEAD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HENDERSON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SPOKANE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LV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LEXUS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LINCOLN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HENDERSON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275838" y="1920240"/>
            <a:ext cx="252603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LV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RENO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NISSAN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PRESCOTT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ST GEORGE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FLAGSTAFF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HENDERSON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PRESCOTT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VOLVO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94476" y="1371600"/>
            <a:ext cx="2617470" cy="45720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185916" y="1463040"/>
            <a:ext cx="16116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GROSS ONLY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797546" y="1408176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6185916" y="1920240"/>
            <a:ext cx="243459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GMC PRESCOTT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FLAGSTAFF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ST GEORGE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SPOKANE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913114" y="1371600"/>
            <a:ext cx="2617470" cy="45720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004554" y="1463040"/>
            <a:ext cx="16116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 PROFIT ONLY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0616184" y="1408176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9004554" y="1920240"/>
            <a:ext cx="243459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ACURA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CDJR POST FALLS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LV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6126480"/>
            <a:ext cx="11274552" cy="364236"/>
          </a:xfrm>
          <a:prstGeom prst="rect">
            <a:avLst/>
          </a:prstGeom>
          <a:solidFill>
            <a:srgbClr val="E6F6E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8368" y="6144768"/>
            <a:ext cx="1092708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 stores set a January–September record in fixed gross and 21 in fixed ops net profit; 18 did both.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2026-10-29T05:53:59Z</dcterms:created>
  <dcterms:modified xsi:type="dcterms:W3CDTF">2026-10-29T05:53:59Z</dcterms:modified>
</cp:coreProperties>
</file>