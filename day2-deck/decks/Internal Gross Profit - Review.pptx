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78.4</c:v>
                </c:pt>
                <c:pt idx="3">
                  <c:v>78.3</c:v>
                </c:pt>
                <c:pt idx="4">
                  <c:v>78.8</c:v>
                </c:pt>
                <c:pt idx="5">
                  <c:v>77.8</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78.4</c:v>
                </c:pt>
                <c:pt idx="3">
                  <c:v>78.3</c:v>
                </c:pt>
                <c:pt idx="4">
                  <c:v>78.8</c:v>
                </c:pt>
                <c:pt idx="5">
                  <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
                </c:pt>
                <c:pt idx="3">
                  <c:v/>
                </c:pt>
                <c:pt idx="4">
                  <c:v/>
                </c:pt>
                <c:pt idx="5">
                  <c:v>77.8</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
                </c:pt>
                <c:pt idx="3">
                  <c:v/>
                </c:pt>
                <c:pt idx="4">
                  <c:v/>
                </c:pt>
                <c:pt idx="5">
                  <c:v>78.3</c:v>
                </c:pt>
                <c:pt idx="6">
                  <c:v/>
                </c:pt>
                <c:pt idx="7">
                  <c:v/>
                </c:pt>
                <c:pt idx="8">
                  <c:v/>
                </c:pt>
                <c:pt idx="9">
                  <c:v>77.9</c:v>
                </c:pt>
                <c:pt idx="10">
                  <c:v/>
                </c:pt>
                <c:pt idx="11">
                  <c:v>78.4</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77.9</c:v>
                </c:pt>
                <c:pt idx="3">
                  <c:v>78</c:v>
                </c:pt>
                <c:pt idx="4">
                  <c:v>78.5</c:v>
                </c:pt>
                <c:pt idx="5">
                  <c:v/>
                </c:pt>
                <c:pt idx="6">
                  <c:v>77.7</c:v>
                </c:pt>
                <c:pt idx="7">
                  <c:v>77.4</c:v>
                </c:pt>
                <c:pt idx="8">
                  <c:v>77.3</c:v>
                </c:pt>
                <c:pt idx="9">
                  <c:v/>
                </c:pt>
                <c:pt idx="10">
                  <c:v>77.4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77.9</c:v>
                </c:pt>
                <c:pt idx="3">
                  <c:v>78</c:v>
                </c:pt>
                <c:pt idx="4">
                  <c:v>78.5</c:v>
                </c:pt>
                <c:pt idx="5">
                  <c:v>78.3</c:v>
                </c:pt>
                <c:pt idx="6">
                  <c:v>77.7</c:v>
                </c:pt>
                <c:pt idx="7">
                  <c:v>77.4</c:v>
                </c:pt>
                <c:pt idx="8">
                  <c:v>77.3</c:v>
                </c:pt>
                <c:pt idx="9">
                  <c:v>77.9</c:v>
                </c:pt>
                <c:pt idx="10">
                  <c:v>77.4</c:v>
                </c:pt>
                <c:pt idx="11">
                  <c:v>78.4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36.4</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36.4</c:v>
                </c:pt>
                <c:pt idx="4">
                  <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36.7</c:v>
                </c:pt>
                <c:pt idx="4">
                  <c:v/>
                </c:pt>
                <c:pt idx="5">
                  <c:v/>
                </c:pt>
                <c:pt idx="6">
                  <c:v/>
                </c:pt>
                <c:pt idx="7">
                  <c:v/>
                </c:pt>
                <c:pt idx="8">
                  <c:v/>
                </c:pt>
                <c:pt idx="9">
                  <c:v/>
                </c:pt>
                <c:pt idx="10">
                  <c:v/>
                </c:pt>
                <c:pt idx="11">
                  <c:v>35.4</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
                </c:pt>
                <c:pt idx="4">
                  <c:v>35.5</c:v>
                </c:pt>
                <c:pt idx="5">
                  <c:v>36.7</c:v>
                </c:pt>
                <c:pt idx="6">
                  <c:v>36.4</c:v>
                </c:pt>
                <c:pt idx="7">
                  <c:v>35.3</c:v>
                </c:pt>
                <c:pt idx="8">
                  <c:v>36.1</c:v>
                </c:pt>
                <c:pt idx="9">
                  <c:v>35.4</c:v>
                </c:pt>
                <c:pt idx="10">
                  <c:v>35.2</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36.7</c:v>
                </c:pt>
                <c:pt idx="4">
                  <c:v>35.5</c:v>
                </c:pt>
                <c:pt idx="5">
                  <c:v>36.7</c:v>
                </c:pt>
                <c:pt idx="6">
                  <c:v>36.4</c:v>
                </c:pt>
                <c:pt idx="7">
                  <c:v>35.3</c:v>
                </c:pt>
                <c:pt idx="8">
                  <c:v>36.1</c:v>
                </c:pt>
                <c:pt idx="9">
                  <c:v>35.4</c:v>
                </c:pt>
                <c:pt idx="10">
                  <c:v>35.2</c:v>
                </c:pt>
                <c:pt idx="11">
                  <c:v>35.4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Internal pay type, Jan-Sep by close month. Same-store, INEOS excluded (opened 2026). GMC Prescott body shop labor types excluded. Internal labor gross / internal labor sale. A higher internal margin adds service gross but is a cost to used cars.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16 of 33 stores at or above the 78.1% group, led by Honda Henderson at 85.9%. Audi Reno is lowest at 58.8%.Source: Qlik - Closed Repair Orders. Internal pay type, Jan-Sep by close month. Same-store, INEOS excluded (opened 2026). GMC Prescott body shop labor types excluded. Internal labor gross / internal labor sale. A higher internal margin adds service gross but is a cost to used cars. Jan-Sep 2026 YTD. Green at or above the group, red below. Bars start at 50.0% so differences are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19 of 33 stores raised internal labor GP%, led by Acura at +5.6 pts to 77.2%. 14 declined; Nissan fell most at −8.8 pts.Source: Qlik - Closed Repair Orders. Internal pay type, Jan-Sep by close month. Same-store, INEOS excluded (opened 2026). GMC Prescott body shop labor types excluded. Change in Internal Labor Gross Profit %,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Acura, Honda Spokane and LR Reno what changed. Ask Nissan, LR LV and Mazda what got in the way. Ask LR Henderson, Kia St George and Hyundai St George what they started this year.Source: Qlik - Closed Repair Orders. Internal pay type, Jan-Sep by close month. Same-store, INEOS excluded (opened 2026). GMC Prescott body shop labor types excluded. Internal labor gross / internal labor sale. A higher internal margin adds service gross but is a cost to used cars. Top and bottom five stores by change in Internal Labor Gross Profit %, Jan-Sep 2026 vs 2025. Moving now: Jul-Sep 2026 vs Jan-Mar 2026, each store against itself; the group moved +0.5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13 of 33 stores at or above the 36.5% group, led by Toyota Henderson at 45.1%. CDJR Post Falls is lowest at 24.4%.Source: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Jan-Sep 2026 YTD. Green at or above the group, red below. Bars start at 20.0% so differences are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21 of 33 stores raised internal parts GP%, led by Acura at +6.2 pts to 34.0%. 12 declined; VW St George fell most at −4.8 pts.Source: Qlik - Closed Repair Orders. Internal pay type, Jan-Sep by close month. Same-store, INEOS excluded (opened 2026). GMC Prescott body shop labor types excluded. Change in Internal Parts Gross Profit %,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Acura, Hyundai Prescott and Honda Flagstaff what changed. Ask VW St George, Kia LV and GMC Prescott what got in the way. Ask LR Reno, CDJR Post Falls and LR Henderson what they started this year.Source: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Top and bottom five stores by change in Internal Parts Gross Profit %, Jan-Sep 2026 vs 2025. Moving now: Jul-Sep 2026 vs Jan-Mar 2026, each store against itself; the group moved +0.5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chart" Target="/ppt/charts/chart3.xml"/><Relationship Id="rId4" Type="http://schemas.openxmlformats.org/officeDocument/2006/relationships/chart" Target="/ppt/charts/chart4.xml"/><Relationship Id="rId5" Type="http://schemas.openxmlformats.org/officeDocument/2006/relationships/chart" Target="/ppt/charts/chart5.xml"/><Relationship Id="rId6" Type="http://schemas.openxmlformats.org/officeDocument/2006/relationships/chart" Target="/ppt/charts/chart6.xml"/><Relationship Id="rId7" Type="http://schemas.openxmlformats.org/officeDocument/2006/relationships/slideLayout" Target="../slideLayouts/slideLayout1.xml"/><Relationship Id="rId8"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chart" Target="/ppt/charts/chart8.xml"/><Relationship Id="rId3" Type="http://schemas.openxmlformats.org/officeDocument/2006/relationships/chart" Target="/ppt/charts/chart9.xml"/><Relationship Id="rId4" Type="http://schemas.openxmlformats.org/officeDocument/2006/relationships/chart" Target="/ppt/charts/chart10.xml"/><Relationship Id="rId5" Type="http://schemas.openxmlformats.org/officeDocument/2006/relationships/chart" Target="/ppt/charts/chart11.xml"/><Relationship Id="rId6" Type="http://schemas.openxmlformats.org/officeDocument/2006/relationships/chart" Target="/ppt/charts/chart12.xml"/><Relationship Id="rId7" Type="http://schemas.openxmlformats.org/officeDocument/2006/relationships/slideLayout" Target="../slideLayouts/slideLayout1.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0.2 pts to 78.1%, ahead of 2025 in six of nine months.</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LABOR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78.1%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008376" y="2146957"/>
            <a:ext cx="1664906"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64128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5" name="Shape 23"/>
          <p:cNvSpPr/>
          <p:nvPr/>
        </p:nvSpPr>
        <p:spPr>
          <a:xfrm>
            <a:off x="3008376" y="2626748"/>
            <a:ext cx="156998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9" name="Shape 27"/>
          <p:cNvSpPr/>
          <p:nvPr/>
        </p:nvSpPr>
        <p:spPr>
          <a:xfrm>
            <a:off x="3008376" y="2866644"/>
            <a:ext cx="154621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82.8%</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521776"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008376" y="3346435"/>
            <a:ext cx="151722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008376" y="3586331"/>
            <a:ext cx="1512092"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008376" y="3826226"/>
            <a:ext cx="1502318"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9" name="Shape 47"/>
          <p:cNvSpPr/>
          <p:nvPr/>
        </p:nvSpPr>
        <p:spPr>
          <a:xfrm>
            <a:off x="3008376" y="4066122"/>
            <a:ext cx="1485717"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008376" y="4306017"/>
            <a:ext cx="1450241"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008376" y="4545913"/>
            <a:ext cx="1425422"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1" name="Shape 59"/>
          <p:cNvSpPr/>
          <p:nvPr/>
        </p:nvSpPr>
        <p:spPr>
          <a:xfrm>
            <a:off x="3008376" y="4785808"/>
            <a:ext cx="1402468"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3008376" y="5025704"/>
            <a:ext cx="1402095"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79.7%</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008376" y="5265599"/>
            <a:ext cx="1364813"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008376" y="5505495"/>
            <a:ext cx="132710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7" name="Shape 75"/>
          <p:cNvSpPr/>
          <p:nvPr/>
        </p:nvSpPr>
        <p:spPr>
          <a:xfrm>
            <a:off x="3008376" y="5745390"/>
            <a:ext cx="128216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1241952"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5" name="Shape 83"/>
          <p:cNvSpPr/>
          <p:nvPr/>
        </p:nvSpPr>
        <p:spPr>
          <a:xfrm>
            <a:off x="8558784" y="2146957"/>
            <a:ext cx="1223403"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9" name="Shape 87"/>
          <p:cNvSpPr/>
          <p:nvPr/>
        </p:nvSpPr>
        <p:spPr>
          <a:xfrm>
            <a:off x="8558784" y="2386853"/>
            <a:ext cx="121501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58784" y="2626748"/>
            <a:ext cx="1209791"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8558784" y="2866644"/>
            <a:ext cx="1201696"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8558784" y="3106540"/>
            <a:ext cx="1189467"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8558784" y="3346435"/>
            <a:ext cx="1139224"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9" name="Shape 107"/>
          <p:cNvSpPr/>
          <p:nvPr/>
        </p:nvSpPr>
        <p:spPr>
          <a:xfrm>
            <a:off x="8558784" y="3586331"/>
            <a:ext cx="1119486"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3" name="Shape 111"/>
          <p:cNvSpPr/>
          <p:nvPr/>
        </p:nvSpPr>
        <p:spPr>
          <a:xfrm>
            <a:off x="8558784" y="3826226"/>
            <a:ext cx="106176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7" name="Shape 115"/>
          <p:cNvSpPr/>
          <p:nvPr/>
        </p:nvSpPr>
        <p:spPr>
          <a:xfrm>
            <a:off x="8558784" y="4066122"/>
            <a:ext cx="1054105"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1" name="Shape 119"/>
          <p:cNvSpPr/>
          <p:nvPr/>
        </p:nvSpPr>
        <p:spPr>
          <a:xfrm>
            <a:off x="8558784" y="4306017"/>
            <a:ext cx="102057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5" name="Shape 123"/>
          <p:cNvSpPr/>
          <p:nvPr/>
        </p:nvSpPr>
        <p:spPr>
          <a:xfrm>
            <a:off x="8558784" y="4545913"/>
            <a:ext cx="95183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9" name="Shape 127"/>
          <p:cNvSpPr/>
          <p:nvPr/>
        </p:nvSpPr>
        <p:spPr>
          <a:xfrm>
            <a:off x="8558784" y="4785808"/>
            <a:ext cx="942987"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58784" y="5025704"/>
            <a:ext cx="88772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7" name="Shape 135"/>
          <p:cNvSpPr/>
          <p:nvPr/>
        </p:nvSpPr>
        <p:spPr>
          <a:xfrm>
            <a:off x="8558784" y="5265599"/>
            <a:ext cx="837155"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1" name="Shape 139"/>
          <p:cNvSpPr/>
          <p:nvPr/>
        </p:nvSpPr>
        <p:spPr>
          <a:xfrm>
            <a:off x="8558784" y="5505495"/>
            <a:ext cx="41428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58.8%</a:t>
            </a:r>
            <a:endParaRPr lang="en-US" sz="1200" dirty="0"/>
          </a:p>
        </p:txBody>
      </p:sp>
      <p:sp>
        <p:nvSpPr>
          <p:cNvPr id="143" name="Shape 141"/>
          <p:cNvSpPr/>
          <p:nvPr/>
        </p:nvSpPr>
        <p:spPr>
          <a:xfrm>
            <a:off x="4326190" y="1847088"/>
            <a:ext cx="14630" cy="4078224"/>
          </a:xfrm>
          <a:prstGeom prst="rect">
            <a:avLst/>
          </a:prstGeom>
          <a:solidFill>
            <a:srgbClr val="0B2C4A"/>
          </a:solidFill>
          <a:ln/>
        </p:spPr>
      </p:sp>
      <p:sp>
        <p:nvSpPr>
          <p:cNvPr id="144" name="Shape 142"/>
          <p:cNvSpPr/>
          <p:nvPr/>
        </p:nvSpPr>
        <p:spPr>
          <a:xfrm>
            <a:off x="987659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16 of 33 stores at or above the 78.1% group.</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LABOR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+0.2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49460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32679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30913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26496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9" name="Shape 27"/>
          <p:cNvSpPr/>
          <p:nvPr/>
        </p:nvSpPr>
        <p:spPr>
          <a:xfrm>
            <a:off x="3785616" y="2871442"/>
            <a:ext cx="211975"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3" name="Shape 31"/>
          <p:cNvSpPr/>
          <p:nvPr/>
        </p:nvSpPr>
        <p:spPr>
          <a:xfrm>
            <a:off x="3785616" y="3111337"/>
            <a:ext cx="19431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7" name="Shape 35"/>
          <p:cNvSpPr/>
          <p:nvPr/>
        </p:nvSpPr>
        <p:spPr>
          <a:xfrm>
            <a:off x="3785616" y="3351233"/>
            <a:ext cx="185478"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1" name="Shape 39"/>
          <p:cNvSpPr/>
          <p:nvPr/>
        </p:nvSpPr>
        <p:spPr>
          <a:xfrm>
            <a:off x="3785616" y="3591128"/>
            <a:ext cx="158981"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41316"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32484"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32484"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85616" y="4550711"/>
            <a:ext cx="12365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1" name="Shape 59"/>
          <p:cNvSpPr/>
          <p:nvPr/>
        </p:nvSpPr>
        <p:spPr>
          <a:xfrm>
            <a:off x="3785616" y="4790606"/>
            <a:ext cx="97155"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65" name="Shape 63"/>
          <p:cNvSpPr/>
          <p:nvPr/>
        </p:nvSpPr>
        <p:spPr>
          <a:xfrm>
            <a:off x="3785616" y="5030502"/>
            <a:ext cx="7065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3785616" y="5270397"/>
            <a:ext cx="35329"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785616" y="5510293"/>
            <a:ext cx="35329"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2649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300695" y="2391651"/>
            <a:ext cx="35329"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93" name="Shape 91"/>
          <p:cNvSpPr/>
          <p:nvPr/>
        </p:nvSpPr>
        <p:spPr>
          <a:xfrm>
            <a:off x="9247701" y="2631546"/>
            <a:ext cx="88323"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9230037" y="2871442"/>
            <a:ext cx="105987"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12372" y="3111337"/>
            <a:ext cx="123652"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03540" y="3351233"/>
            <a:ext cx="132484"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9" name="Shape 107"/>
          <p:cNvSpPr/>
          <p:nvPr/>
        </p:nvSpPr>
        <p:spPr>
          <a:xfrm>
            <a:off x="9106385" y="3591128"/>
            <a:ext cx="229639"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97553" y="3831024"/>
            <a:ext cx="238471"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−2.7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7" name="Shape 115"/>
          <p:cNvSpPr/>
          <p:nvPr/>
        </p:nvSpPr>
        <p:spPr>
          <a:xfrm>
            <a:off x="9062224" y="4070920"/>
            <a:ext cx="273800"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9035727" y="4310815"/>
            <a:ext cx="300297"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−3.4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5" name="Shape 123"/>
          <p:cNvSpPr/>
          <p:nvPr/>
        </p:nvSpPr>
        <p:spPr>
          <a:xfrm>
            <a:off x="8947404" y="4550711"/>
            <a:ext cx="388620"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−4.4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929739" y="4790606"/>
            <a:ext cx="406285"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8859081" y="5030502"/>
            <a:ext cx="47694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−5.4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7" name="Shape 135"/>
          <p:cNvSpPr/>
          <p:nvPr/>
        </p:nvSpPr>
        <p:spPr>
          <a:xfrm>
            <a:off x="8841417" y="5270397"/>
            <a:ext cx="494607"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19 of 33 stores raised internal labor GP%. 14 declined.</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77.2%</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79.8%</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Text 15"/>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82.3%</a:t>
            </a:r>
            <a:endParaRPr lang="en-US" sz="1400" dirty="0"/>
          </a:p>
        </p:txBody>
      </p:sp>
      <p:sp>
        <p:nvSpPr>
          <p:cNvPr id="19" name="Text 17"/>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 pts</a:t>
            </a:r>
            <a:endParaRPr lang="en-US" sz="1600" dirty="0"/>
          </a:p>
        </p:txBody>
      </p:sp>
      <p:sp>
        <p:nvSpPr>
          <p:cNvPr id="20" name="Shape 18"/>
          <p:cNvSpPr/>
          <p:nvPr/>
        </p:nvSpPr>
        <p:spPr>
          <a:xfrm>
            <a:off x="4084320" y="4625035"/>
            <a:ext cx="64008" cy="755294"/>
          </a:xfrm>
          <a:prstGeom prst="rect">
            <a:avLst/>
          </a:prstGeom>
          <a:solidFill>
            <a:srgbClr val="12A566"/>
          </a:solidFill>
          <a:ln/>
        </p:spPr>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85.3%</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 pts</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82.8%</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67.8%</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−8.8 pts</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70.0%</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−5.6 pts</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79.7%</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−5.4 pts</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73.8%</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 pts</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72.5%</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−4.4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Text 5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72.6%</a:t>
            </a:r>
            <a:endParaRPr lang="en-US" sz="1400" dirty="0"/>
          </a:p>
        </p:txBody>
      </p:sp>
      <p:sp>
        <p:nvSpPr>
          <p:cNvPr id="55" name="Text 53"/>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+6.4 pts</a:t>
            </a:r>
            <a:endParaRPr lang="en-US" sz="1600" dirty="0"/>
          </a:p>
        </p:txBody>
      </p:sp>
      <p:sp>
        <p:nvSpPr>
          <p:cNvPr id="56" name="Text 54"/>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82.0%</a:t>
            </a:r>
            <a:endParaRPr lang="en-US" sz="1400" dirty="0"/>
          </a:p>
        </p:txBody>
      </p:sp>
      <p:sp>
        <p:nvSpPr>
          <p:cNvPr id="58" name="Text 56"/>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59" name="Shape 57"/>
          <p:cNvSpPr/>
          <p:nvPr/>
        </p:nvSpPr>
        <p:spPr>
          <a:xfrm>
            <a:off x="8040624" y="3760013"/>
            <a:ext cx="3489960" cy="828446"/>
          </a:xfrm>
          <a:prstGeom prst="rect">
            <a:avLst/>
          </a:prstGeom>
          <a:solidFill>
            <a:srgbClr val="F7F7F7"/>
          </a:solidFill>
          <a:ln/>
        </p:spPr>
      </p:sp>
      <p:sp>
        <p:nvSpPr>
          <p:cNvPr id="60" name="Shape 58"/>
          <p:cNvSpPr/>
          <p:nvPr/>
        </p:nvSpPr>
        <p:spPr>
          <a:xfrm>
            <a:off x="11466576" y="3796589"/>
            <a:ext cx="64008" cy="755294"/>
          </a:xfrm>
          <a:prstGeom prst="rect">
            <a:avLst/>
          </a:prstGeom>
          <a:solidFill>
            <a:srgbClr val="12A566"/>
          </a:solidFill>
          <a:ln/>
        </p:spPr>
      </p:sp>
      <p:sp>
        <p:nvSpPr>
          <p:cNvPr id="61" name="Text 59"/>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83.0%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87.1%</a:t>
            </a:r>
            <a:endParaRPr lang="en-US" sz="1400" dirty="0"/>
          </a:p>
        </p:txBody>
      </p:sp>
      <p:sp>
        <p:nvSpPr>
          <p:cNvPr id="63" name="Text 61"/>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64" name="Text 62"/>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76.4%</a:t>
            </a:r>
            <a:endParaRPr lang="en-US" sz="1400" dirty="0"/>
          </a:p>
        </p:txBody>
      </p:sp>
      <p:sp>
        <p:nvSpPr>
          <p:cNvPr id="66" name="Text 64"/>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67" name="Shape 65"/>
          <p:cNvSpPr/>
          <p:nvPr/>
        </p:nvSpPr>
        <p:spPr>
          <a:xfrm>
            <a:off x="8040624" y="5416906"/>
            <a:ext cx="3489960" cy="828446"/>
          </a:xfrm>
          <a:prstGeom prst="rect">
            <a:avLst/>
          </a:prstGeom>
          <a:solidFill>
            <a:srgbClr val="F7F7F7"/>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79.7%</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36.5%</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+0.5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0.5 pts to 36.5%, ahead of 2025 in eight of nine months.</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PARTS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36.5%</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57138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526083"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008376" y="2626748"/>
            <a:ext cx="142705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41.2%</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008376" y="2866644"/>
            <a:ext cx="1404264"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008376" y="3106540"/>
            <a:ext cx="1329194"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008376" y="3346435"/>
            <a:ext cx="114763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1" name="Shape 39"/>
          <p:cNvSpPr/>
          <p:nvPr/>
        </p:nvSpPr>
        <p:spPr>
          <a:xfrm>
            <a:off x="3008376" y="3586331"/>
            <a:ext cx="1143623"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5" name="Shape 43"/>
          <p:cNvSpPr/>
          <p:nvPr/>
        </p:nvSpPr>
        <p:spPr>
          <a:xfrm>
            <a:off x="3008376" y="3826226"/>
            <a:ext cx="113845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008376" y="4066122"/>
            <a:ext cx="1133430"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3" name="Shape 51"/>
          <p:cNvSpPr/>
          <p:nvPr/>
        </p:nvSpPr>
        <p:spPr>
          <a:xfrm>
            <a:off x="3008376" y="4306017"/>
            <a:ext cx="1126165"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36.7%</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7" name="Shape 55"/>
          <p:cNvSpPr/>
          <p:nvPr/>
        </p:nvSpPr>
        <p:spPr>
          <a:xfrm>
            <a:off x="3008376" y="4545913"/>
            <a:ext cx="1120821"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3008376" y="4785808"/>
            <a:ext cx="111119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008376" y="5025704"/>
            <a:ext cx="1097912"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3008376" y="5265599"/>
            <a:ext cx="1082615"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3" name="Shape 71"/>
          <p:cNvSpPr/>
          <p:nvPr/>
        </p:nvSpPr>
        <p:spPr>
          <a:xfrm>
            <a:off x="3008376" y="5505495"/>
            <a:ext cx="1017763"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77" name="Shape 75"/>
          <p:cNvSpPr/>
          <p:nvPr/>
        </p:nvSpPr>
        <p:spPr>
          <a:xfrm>
            <a:off x="3008376" y="5745390"/>
            <a:ext cx="975057"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1" name="Shape 79"/>
          <p:cNvSpPr/>
          <p:nvPr/>
        </p:nvSpPr>
        <p:spPr>
          <a:xfrm>
            <a:off x="8558784" y="1907062"/>
            <a:ext cx="973182"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5" name="Shape 83"/>
          <p:cNvSpPr/>
          <p:nvPr/>
        </p:nvSpPr>
        <p:spPr>
          <a:xfrm>
            <a:off x="8558784" y="2146957"/>
            <a:ext cx="944183"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9" name="Shape 87"/>
          <p:cNvSpPr/>
          <p:nvPr/>
        </p:nvSpPr>
        <p:spPr>
          <a:xfrm>
            <a:off x="8558784" y="2386853"/>
            <a:ext cx="900321"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626748"/>
            <a:ext cx="86536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7" name="Shape 95"/>
          <p:cNvSpPr/>
          <p:nvPr/>
        </p:nvSpPr>
        <p:spPr>
          <a:xfrm>
            <a:off x="8558784" y="2866644"/>
            <a:ext cx="844338"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8558784" y="3106540"/>
            <a:ext cx="78883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763564"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9" name="Shape 107"/>
          <p:cNvSpPr/>
          <p:nvPr/>
        </p:nvSpPr>
        <p:spPr>
          <a:xfrm>
            <a:off x="8558784" y="3586331"/>
            <a:ext cx="727033"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58784" y="3826226"/>
            <a:ext cx="7096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7" name="Shape 115"/>
          <p:cNvSpPr/>
          <p:nvPr/>
        </p:nvSpPr>
        <p:spPr>
          <a:xfrm>
            <a:off x="8558784" y="4066122"/>
            <a:ext cx="67728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8558784" y="4306017"/>
            <a:ext cx="652252"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586483"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9" name="Shape 127"/>
          <p:cNvSpPr/>
          <p:nvPr/>
        </p:nvSpPr>
        <p:spPr>
          <a:xfrm>
            <a:off x="8558784" y="4785808"/>
            <a:ext cx="460386"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26.8%</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3" name="Shape 131"/>
          <p:cNvSpPr/>
          <p:nvPr/>
        </p:nvSpPr>
        <p:spPr>
          <a:xfrm>
            <a:off x="8558784" y="5025704"/>
            <a:ext cx="41461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7" name="Shape 135"/>
          <p:cNvSpPr/>
          <p:nvPr/>
        </p:nvSpPr>
        <p:spPr>
          <a:xfrm>
            <a:off x="8558784" y="5265599"/>
            <a:ext cx="35136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1" name="Shape 139"/>
          <p:cNvSpPr/>
          <p:nvPr/>
        </p:nvSpPr>
        <p:spPr>
          <a:xfrm>
            <a:off x="8558784" y="5505495"/>
            <a:ext cx="298886"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24.4%</a:t>
            </a:r>
            <a:endParaRPr lang="en-US" sz="1200" dirty="0"/>
          </a:p>
        </p:txBody>
      </p:sp>
      <p:sp>
        <p:nvSpPr>
          <p:cNvPr id="143" name="Shape 141"/>
          <p:cNvSpPr/>
          <p:nvPr/>
        </p:nvSpPr>
        <p:spPr>
          <a:xfrm>
            <a:off x="4109587" y="1847088"/>
            <a:ext cx="14630" cy="4078224"/>
          </a:xfrm>
          <a:prstGeom prst="rect">
            <a:avLst/>
          </a:prstGeom>
          <a:solidFill>
            <a:srgbClr val="0B2C4A"/>
          </a:solidFill>
          <a:ln/>
        </p:spPr>
      </p:sp>
      <p:sp>
        <p:nvSpPr>
          <p:cNvPr id="144" name="Shape 142"/>
          <p:cNvSpPr/>
          <p:nvPr/>
        </p:nvSpPr>
        <p:spPr>
          <a:xfrm>
            <a:off x="9659995"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36.5% group.</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PARTS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+0.5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752168"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785616" y="2391651"/>
            <a:ext cx="55159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5" name="Shape 23"/>
          <p:cNvSpPr/>
          <p:nvPr/>
        </p:nvSpPr>
        <p:spPr>
          <a:xfrm>
            <a:off x="3785616" y="2631546"/>
            <a:ext cx="41369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9" name="Shape 27"/>
          <p:cNvSpPr/>
          <p:nvPr/>
        </p:nvSpPr>
        <p:spPr>
          <a:xfrm>
            <a:off x="3785616" y="2871442"/>
            <a:ext cx="41369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363548"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2593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1" name="Shape 39"/>
          <p:cNvSpPr/>
          <p:nvPr/>
        </p:nvSpPr>
        <p:spPr>
          <a:xfrm>
            <a:off x="3785616" y="3591128"/>
            <a:ext cx="313403"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313403"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9" name="Shape 47"/>
          <p:cNvSpPr/>
          <p:nvPr/>
        </p:nvSpPr>
        <p:spPr>
          <a:xfrm>
            <a:off x="3785616" y="4070920"/>
            <a:ext cx="25072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250723"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7" name="Shape 55"/>
          <p:cNvSpPr/>
          <p:nvPr/>
        </p:nvSpPr>
        <p:spPr>
          <a:xfrm>
            <a:off x="3785616" y="4550711"/>
            <a:ext cx="213114"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3785616" y="4790606"/>
            <a:ext cx="18804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5" name="Shape 63"/>
          <p:cNvSpPr/>
          <p:nvPr/>
        </p:nvSpPr>
        <p:spPr>
          <a:xfrm>
            <a:off x="3785616" y="5030502"/>
            <a:ext cx="188042"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9" name="Shape 67"/>
          <p:cNvSpPr/>
          <p:nvPr/>
        </p:nvSpPr>
        <p:spPr>
          <a:xfrm>
            <a:off x="3785616" y="5270397"/>
            <a:ext cx="18804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3" name="Shape 71"/>
          <p:cNvSpPr/>
          <p:nvPr/>
        </p:nvSpPr>
        <p:spPr>
          <a:xfrm>
            <a:off x="3785616" y="5510293"/>
            <a:ext cx="150434"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85616" y="5750188"/>
            <a:ext cx="150434"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1" name="Shape 79"/>
          <p:cNvSpPr/>
          <p:nvPr/>
        </p:nvSpPr>
        <p:spPr>
          <a:xfrm>
            <a:off x="9336024" y="1911860"/>
            <a:ext cx="125361"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5" name="Shape 83"/>
          <p:cNvSpPr/>
          <p:nvPr/>
        </p:nvSpPr>
        <p:spPr>
          <a:xfrm>
            <a:off x="9336024" y="2151755"/>
            <a:ext cx="112825"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9336024" y="2391651"/>
            <a:ext cx="50145"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9336024" y="2631546"/>
            <a:ext cx="37608"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298416" y="2871442"/>
            <a:ext cx="37608"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9298416" y="3111337"/>
            <a:ext cx="37608"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210663" y="3351233"/>
            <a:ext cx="12536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9" name="Shape 107"/>
          <p:cNvSpPr/>
          <p:nvPr/>
        </p:nvSpPr>
        <p:spPr>
          <a:xfrm>
            <a:off x="9047693" y="3591128"/>
            <a:ext cx="28833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10085" y="3831024"/>
            <a:ext cx="325939"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17" name="Shape 115"/>
          <p:cNvSpPr/>
          <p:nvPr/>
        </p:nvSpPr>
        <p:spPr>
          <a:xfrm>
            <a:off x="8972476" y="4070920"/>
            <a:ext cx="363548"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8972476" y="4310815"/>
            <a:ext cx="363548"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959940" y="4550711"/>
            <a:ext cx="37608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9" name="Shape 127"/>
          <p:cNvSpPr/>
          <p:nvPr/>
        </p:nvSpPr>
        <p:spPr>
          <a:xfrm>
            <a:off x="8872187" y="4790606"/>
            <a:ext cx="463837"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−3.7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3" name="Shape 131"/>
          <p:cNvSpPr/>
          <p:nvPr/>
        </p:nvSpPr>
        <p:spPr>
          <a:xfrm>
            <a:off x="8872187" y="5030502"/>
            <a:ext cx="463837"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7" name="Shape 135"/>
          <p:cNvSpPr/>
          <p:nvPr/>
        </p:nvSpPr>
        <p:spPr>
          <a:xfrm>
            <a:off x="8759362" y="5270397"/>
            <a:ext cx="57666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34290" y="5510293"/>
            <a:ext cx="601734"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21 of 33 stores raised internal parts GP%. 12 declined.</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34.0%</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33.4%</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+6.0 pts</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29.7%</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+4.4 pts</a:t>
            </a:r>
            <a:endParaRPr lang="en-US" sz="1600" dirty="0"/>
          </a:p>
        </p:txBody>
      </p:sp>
      <p:sp>
        <p:nvSpPr>
          <p:cNvPr id="21" name="Shape 19"/>
          <p:cNvSpPr/>
          <p:nvPr/>
        </p:nvSpPr>
        <p:spPr>
          <a:xfrm>
            <a:off x="4084320" y="4625035"/>
            <a:ext cx="64008" cy="755294"/>
          </a:xfrm>
          <a:prstGeom prst="rect">
            <a:avLst/>
          </a:prstGeom>
          <a:solidFill>
            <a:srgbClr val="12A566"/>
          </a:solidFill>
          <a:ln/>
        </p:spPr>
      </p:sp>
      <p:sp>
        <p:nvSpPr>
          <p:cNvPr id="22" name="Text 20"/>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45.1%</a:t>
            </a:r>
            <a:endParaRPr lang="en-US" sz="1400" dirty="0"/>
          </a:p>
        </p:txBody>
      </p:sp>
      <p:sp>
        <p:nvSpPr>
          <p:cNvPr id="24" name="Text 22"/>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5" name="Shape 23"/>
          <p:cNvSpPr/>
          <p:nvPr/>
        </p:nvSpPr>
        <p:spPr>
          <a:xfrm>
            <a:off x="658368" y="5416906"/>
            <a:ext cx="3489960" cy="828446"/>
          </a:xfrm>
          <a:prstGeom prst="rect">
            <a:avLst/>
          </a:prstGeom>
          <a:solidFill>
            <a:srgbClr val="F7F7F7"/>
          </a:solidFill>
          <a:ln/>
        </p:spPr>
      </p:sp>
      <p:sp>
        <p:nvSpPr>
          <p:cNvPr id="26" name="Text 24"/>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26.8%</a:t>
            </a:r>
            <a:endParaRPr lang="en-US" sz="1400" dirty="0"/>
          </a:p>
        </p:txBody>
      </p:sp>
      <p:sp>
        <p:nvSpPr>
          <p:cNvPr id="28" name="Text 26"/>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2" name="Shape 30"/>
          <p:cNvSpPr/>
          <p:nvPr/>
        </p:nvSpPr>
        <p:spPr>
          <a:xfrm>
            <a:off x="4349496" y="2103120"/>
            <a:ext cx="3489960" cy="828446"/>
          </a:xfrm>
          <a:prstGeom prst="rect">
            <a:avLst/>
          </a:prstGeom>
          <a:solidFill>
            <a:srgbClr val="F7F7F7"/>
          </a:solidFill>
          <a:ln/>
        </p:spPr>
      </p:sp>
      <p:sp>
        <p:nvSpPr>
          <p:cNvPr id="33" name="Text 31"/>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31.7%</a:t>
            </a:r>
            <a:endParaRPr lang="en-US" sz="1400" dirty="0"/>
          </a:p>
        </p:txBody>
      </p:sp>
      <p:sp>
        <p:nvSpPr>
          <p:cNvPr id="35" name="Text 33"/>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−4.8 pts</a:t>
            </a:r>
            <a:endParaRPr lang="en-US" sz="1600" dirty="0"/>
          </a:p>
        </p:txBody>
      </p:sp>
      <p:sp>
        <p:nvSpPr>
          <p:cNvPr id="36" name="Text 34"/>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32.5%</a:t>
            </a:r>
            <a:endParaRPr lang="en-US" sz="1400" dirty="0"/>
          </a:p>
        </p:txBody>
      </p:sp>
      <p:sp>
        <p:nvSpPr>
          <p:cNvPr id="38" name="Text 36"/>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 pts</a:t>
            </a:r>
            <a:endParaRPr lang="en-US" sz="1600" dirty="0"/>
          </a:p>
        </p:txBody>
      </p:sp>
      <p:sp>
        <p:nvSpPr>
          <p:cNvPr id="39" name="Shape 37"/>
          <p:cNvSpPr/>
          <p:nvPr/>
        </p:nvSpPr>
        <p:spPr>
          <a:xfrm>
            <a:off x="4349496" y="3760013"/>
            <a:ext cx="3489960" cy="828446"/>
          </a:xfrm>
          <a:prstGeom prst="rect">
            <a:avLst/>
          </a:prstGeom>
          <a:solidFill>
            <a:srgbClr val="F7F7F7"/>
          </a:solidFill>
          <a:ln/>
        </p:spPr>
      </p:sp>
      <p:sp>
        <p:nvSpPr>
          <p:cNvPr id="40" name="Text 38"/>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31.3%</a:t>
            </a:r>
            <a:endParaRPr lang="en-US" sz="1400" dirty="0"/>
          </a:p>
        </p:txBody>
      </p:sp>
      <p:sp>
        <p:nvSpPr>
          <p:cNvPr id="42" name="Text 40"/>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−3.7 pts</a:t>
            </a:r>
            <a:endParaRPr lang="en-US" sz="1600" dirty="0"/>
          </a:p>
        </p:txBody>
      </p:sp>
      <p:sp>
        <p:nvSpPr>
          <p:cNvPr id="43" name="Text 41"/>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25.2%</a:t>
            </a:r>
            <a:endParaRPr lang="en-US" sz="1400" dirty="0"/>
          </a:p>
        </p:txBody>
      </p:sp>
      <p:sp>
        <p:nvSpPr>
          <p:cNvPr id="45" name="Text 43"/>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−3.7 pts</a:t>
            </a:r>
            <a:endParaRPr lang="en-US" sz="1600" dirty="0"/>
          </a:p>
        </p:txBody>
      </p:sp>
      <p:sp>
        <p:nvSpPr>
          <p:cNvPr id="46" name="Shape 44"/>
          <p:cNvSpPr/>
          <p:nvPr/>
        </p:nvSpPr>
        <p:spPr>
          <a:xfrm>
            <a:off x="4349496" y="5416906"/>
            <a:ext cx="3489960" cy="828446"/>
          </a:xfrm>
          <a:prstGeom prst="rect">
            <a:avLst/>
          </a:prstGeom>
          <a:solidFill>
            <a:srgbClr val="F7F7F7"/>
          </a:solidFill>
          <a:ln/>
        </p:spPr>
      </p:sp>
      <p:sp>
        <p:nvSpPr>
          <p:cNvPr id="47" name="Text 45"/>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30.8%</a:t>
            </a:r>
            <a:endParaRPr lang="en-US" sz="1400" dirty="0"/>
          </a:p>
        </p:txBody>
      </p:sp>
      <p:sp>
        <p:nvSpPr>
          <p:cNvPr id="49" name="Text 47"/>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−3.0 pts</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3" name="Shape 51"/>
          <p:cNvSpPr/>
          <p:nvPr/>
        </p:nvSpPr>
        <p:spPr>
          <a:xfrm>
            <a:off x="8040624" y="2103120"/>
            <a:ext cx="3489960" cy="828446"/>
          </a:xfrm>
          <a:prstGeom prst="rect">
            <a:avLst/>
          </a:prstGeom>
          <a:solidFill>
            <a:srgbClr val="F7F7F7"/>
          </a:solidFill>
          <a:ln/>
        </p:spPr>
      </p:sp>
      <p:sp>
        <p:nvSpPr>
          <p:cNvPr id="54" name="Text 52"/>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5" name="Text 53"/>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34.8%</a:t>
            </a:r>
            <a:endParaRPr lang="en-US" sz="1400" dirty="0"/>
          </a:p>
        </p:txBody>
      </p:sp>
      <p:sp>
        <p:nvSpPr>
          <p:cNvPr id="56" name="Text 54"/>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+12.0 pts</a:t>
            </a:r>
            <a:endParaRPr lang="en-US" sz="1600" dirty="0"/>
          </a:p>
        </p:txBody>
      </p:sp>
      <p:sp>
        <p:nvSpPr>
          <p:cNvPr id="57" name="Text 55"/>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8" name="Text 56"/>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26.4%</a:t>
            </a:r>
            <a:endParaRPr lang="en-US" sz="1400" dirty="0"/>
          </a:p>
        </p:txBody>
      </p:sp>
      <p:sp>
        <p:nvSpPr>
          <p:cNvPr id="59" name="Text 57"/>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60" name="Shape 58"/>
          <p:cNvSpPr/>
          <p:nvPr/>
        </p:nvSpPr>
        <p:spPr>
          <a:xfrm>
            <a:off x="8040624" y="3760013"/>
            <a:ext cx="3489960" cy="828446"/>
          </a:xfrm>
          <a:prstGeom prst="rect">
            <a:avLst/>
          </a:prstGeom>
          <a:solidFill>
            <a:srgbClr val="F7F7F7"/>
          </a:solidFill>
          <a:ln/>
        </p:spPr>
      </p:sp>
      <p:sp>
        <p:nvSpPr>
          <p:cNvPr id="61" name="Text 59"/>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35.6%</a:t>
            </a:r>
            <a:endParaRPr lang="en-US" sz="1400" dirty="0"/>
          </a:p>
        </p:txBody>
      </p:sp>
      <p:sp>
        <p:nvSpPr>
          <p:cNvPr id="63" name="Text 61"/>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64" name="Shape 62"/>
          <p:cNvSpPr/>
          <p:nvPr/>
        </p:nvSpPr>
        <p:spPr>
          <a:xfrm>
            <a:off x="11466576" y="4625035"/>
            <a:ext cx="64008" cy="755294"/>
          </a:xfrm>
          <a:prstGeom prst="rect">
            <a:avLst/>
          </a:prstGeom>
          <a:solidFill>
            <a:srgbClr val="12A566"/>
          </a:solidFill>
          <a:ln/>
        </p:spPr>
      </p:sp>
      <p:sp>
        <p:nvSpPr>
          <p:cNvPr id="65" name="Text 63"/>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6" name="Text 64"/>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34.5%</a:t>
            </a:r>
            <a:endParaRPr lang="en-US" sz="1400" dirty="0"/>
          </a:p>
        </p:txBody>
      </p:sp>
      <p:sp>
        <p:nvSpPr>
          <p:cNvPr id="67" name="Text 65"/>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68" name="Shape 66"/>
          <p:cNvSpPr/>
          <p:nvPr/>
        </p:nvSpPr>
        <p:spPr>
          <a:xfrm>
            <a:off x="8040624" y="5416906"/>
            <a:ext cx="3489960" cy="828446"/>
          </a:xfrm>
          <a:prstGeom prst="rect">
            <a:avLst/>
          </a:prstGeom>
          <a:solidFill>
            <a:srgbClr val="F7F7F7"/>
          </a:solidFill>
          <a:ln/>
        </p:spPr>
      </p:sp>
      <p:sp>
        <p:nvSpPr>
          <p:cNvPr id="69" name="Shape 67"/>
          <p:cNvSpPr/>
          <p:nvPr/>
        </p:nvSpPr>
        <p:spPr>
          <a:xfrm>
            <a:off x="11466576" y="5453482"/>
            <a:ext cx="64008" cy="755294"/>
          </a:xfrm>
          <a:prstGeom prst="rect">
            <a:avLst/>
          </a:prstGeom>
          <a:solidFill>
            <a:srgbClr val="12A566"/>
          </a:solidFill>
          <a:ln/>
        </p:spPr>
      </p:sp>
      <p:sp>
        <p:nvSpPr>
          <p:cNvPr id="70" name="Text 68"/>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44.7%</a:t>
            </a:r>
            <a:endParaRPr lang="en-US" sz="1400" dirty="0"/>
          </a:p>
        </p:txBody>
      </p:sp>
      <p:sp>
        <p:nvSpPr>
          <p:cNvPr id="72" name="Text 70"/>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2026-10-28T15:31:23Z</dcterms:created>
  <dcterms:modified xsi:type="dcterms:W3CDTF">2026-10-28T15:31:23Z</dcterms:modified>
</cp:coreProperties>
</file>