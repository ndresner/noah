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Jan-Sep 2026 YTD. Green at or above the group, red below. Bars start at 50.0% so differences are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Change in Internal Labor Gross Profit %,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Jan-Sep 2026 YTD. Green at or above the group, red below. Bars start at 20.0% so differences are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Change in Internal Parts Gross Profit %,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77.9%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+0.3%</a:t>
            </a:r>
            <a:endParaRPr lang="en-US" sz="3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77.6%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77.5%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−0.0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77.4%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−0.6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77.9%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+0.4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+0.3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+0.2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77.8%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−0.6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77.7%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+1.0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77.4%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77.9%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77.3%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+1.0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0.3 pts to 78.1%, ahead of 2025 in six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89888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71800" y="1453358"/>
            <a:ext cx="1828800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55464" y="1389888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643768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971800" y="1707239"/>
            <a:ext cx="1799898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55464" y="1643768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897649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971800" y="1961119"/>
            <a:ext cx="1774357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97649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51529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971800" y="2215000"/>
            <a:ext cx="1697284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55464" y="2151529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405410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2468880"/>
            <a:ext cx="1671585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55464" y="2405410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59290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71800" y="2722760"/>
            <a:ext cx="1645163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55464" y="2659290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913171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2976641"/>
            <a:ext cx="1640239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913171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3167051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971800" y="3230521"/>
            <a:ext cx="1634694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55464" y="3167051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3420932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971800" y="3484402"/>
            <a:ext cx="1624128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855464" y="3420932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58368" y="3674812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71800" y="3738282"/>
            <a:ext cx="1606180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55464" y="3674812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928693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71800" y="3992163"/>
            <a:ext cx="1567828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928693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4182573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4246043"/>
            <a:ext cx="1540997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55464" y="4182573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4436454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971800" y="4499924"/>
            <a:ext cx="1516182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855464" y="4436454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4690334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971800" y="4753804"/>
            <a:ext cx="1515778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855464" y="4690334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944215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71800" y="5007685"/>
            <a:ext cx="1475473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944215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5198095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71800" y="5261565"/>
            <a:ext cx="1434711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855464" y="5198095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585216" y="5447404"/>
            <a:ext cx="5413248" cy="2447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58368" y="5451976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971800" y="5515446"/>
            <a:ext cx="1432572" cy="1269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855464" y="5451976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208776" y="1389888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8522208" y="1453358"/>
            <a:ext cx="1386119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10405872" y="1389888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208776" y="1643768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522208" y="1707239"/>
            <a:ext cx="1342650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405872" y="1643768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208776" y="1897649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8522208" y="1961119"/>
            <a:ext cx="1322598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0405872" y="1897649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2151529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522208" y="2215000"/>
            <a:ext cx="1313531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05872" y="2151529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208776" y="2405410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8522208" y="2468880"/>
            <a:ext cx="1307882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405872" y="2405410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6208776" y="2659290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522208" y="2722760"/>
            <a:ext cx="1299131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405872" y="2659290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2913171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8522208" y="2976641"/>
            <a:ext cx="1285910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405872" y="2913171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3167051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8522208" y="3230521"/>
            <a:ext cx="1231594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0405872" y="3167051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3420932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522208" y="3484402"/>
            <a:ext cx="1210255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05872" y="3420932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6208776" y="3674812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522208" y="3738282"/>
            <a:ext cx="1147850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405872" y="3674812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3928693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8522208" y="3992163"/>
            <a:ext cx="1139573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3928693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4182573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8522208" y="4246043"/>
            <a:ext cx="1103323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10405872" y="4182573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208776" y="4436454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8522208" y="4499924"/>
            <a:ext cx="1029010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10405872" y="4436454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4690334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522208" y="4753804"/>
            <a:ext cx="1019446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405872" y="4690334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4944215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522208" y="5007685"/>
            <a:ext cx="959699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4944215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5198095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522208" y="5261565"/>
            <a:ext cx="905032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10405872" y="5198095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5451976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8522208" y="5515446"/>
            <a:ext cx="447876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10405872" y="5451976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4397057" y="1389888"/>
            <a:ext cx="14630" cy="431596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947465" y="1389888"/>
            <a:ext cx="14630" cy="431596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33 stores at or above the 78.1% group, led by HONDA HENDERSON at 85.9%. AUDI RENO is lowest at 58.8%.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133502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SAME-STORE, 33 STORES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13048" y="1909246"/>
            <a:ext cx="52464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+5.6 pts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813048" y="2139459"/>
            <a:ext cx="34160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 pts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813048" y="2369673"/>
            <a:ext cx="32117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813048" y="2599887"/>
            <a:ext cx="27929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 pts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13048" y="2830100"/>
            <a:ext cx="22692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813048" y="3060314"/>
            <a:ext cx="20339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813048" y="3290528"/>
            <a:ext cx="199921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813048" y="3520741"/>
            <a:ext cx="17002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813048" y="3750955"/>
            <a:ext cx="15117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 pts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813048" y="3981169"/>
            <a:ext cx="139944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813048" y="4211382"/>
            <a:ext cx="13922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813048" y="4441596"/>
            <a:ext cx="12420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813048" y="4671809"/>
            <a:ext cx="10067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3813048" y="4902023"/>
            <a:ext cx="72874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 pts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813048" y="5132237"/>
            <a:ext cx="3825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3813048" y="5362450"/>
            <a:ext cx="3637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53050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813048" y="5592664"/>
            <a:ext cx="2810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53050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9363456" y="1909246"/>
            <a:ext cx="1280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259568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208776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9363456" y="2139459"/>
            <a:ext cx="1280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259568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+0.0 pts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9325832" y="2369673"/>
            <a:ext cx="37624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0259568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208776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9273698" y="2599887"/>
            <a:ext cx="89758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59568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208776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9246982" y="2830100"/>
            <a:ext cx="116474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59568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−1.3 pts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9231584" y="3060314"/>
            <a:ext cx="13187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259568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 pts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9220670" y="3290528"/>
            <a:ext cx="142786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259568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−1.5 pts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9122817" y="3520741"/>
            <a:ext cx="240639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10259568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9104616" y="3750955"/>
            <a:ext cx="258840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259568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6208776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9071201" y="3981169"/>
            <a:ext cx="292255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259568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9044832" y="4211382"/>
            <a:ext cx="318624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259568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−3.4 pts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8959904" y="4441596"/>
            <a:ext cx="40355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259568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8932749" y="4671809"/>
            <a:ext cx="430707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10259568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8865728" y="4902023"/>
            <a:ext cx="497728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259568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−5.3 pts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8840717" y="5132237"/>
            <a:ext cx="522739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259568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−5.6 pts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540496" y="5362450"/>
            <a:ext cx="822960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0259568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807562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357970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of 33 stores raised internal labor GP%, led by ACURA at +5.6 pts to 77.2%. 14 declined; NISSAN fell most at −8.8 pts.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36.0%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+0.5 pts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35.1%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+0.8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35.5%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+0.4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+0.0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−0.3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35.5%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37.2%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+1.8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37.0%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+0.2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+0.2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35.3%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+0.8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 pts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0.5 pts to 36.5%, ahead of 2025 in eight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89888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71800" y="1453358"/>
            <a:ext cx="1828800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55464" y="1389888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643768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971800" y="1707239"/>
            <a:ext cx="1698798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55464" y="1643768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897649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971800" y="1961119"/>
            <a:ext cx="1649820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97649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51529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971800" y="2215000"/>
            <a:ext cx="1542758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55464" y="2151529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405410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2468880"/>
            <a:ext cx="1518124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55464" y="2405410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59290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71800" y="2722760"/>
            <a:ext cx="1436966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55464" y="2659290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913171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2976641"/>
            <a:ext cx="1240689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913171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3167051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971800" y="3230521"/>
            <a:ext cx="1236349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55464" y="3167051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3420932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971800" y="3484402"/>
            <a:ext cx="1230759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855464" y="3420932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58368" y="3674812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71800" y="3738282"/>
            <a:ext cx="1225329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55464" y="3674812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928693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71800" y="3992163"/>
            <a:ext cx="1217475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928693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4182573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4246043"/>
            <a:ext cx="1211698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55464" y="4182573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4436454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971800" y="4499924"/>
            <a:ext cx="1201293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855464" y="4436454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85216" y="4685762"/>
            <a:ext cx="5413248" cy="2447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58368" y="4690334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71800" y="4753804"/>
            <a:ext cx="1198407" cy="1269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855464" y="4690334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4944215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971800" y="5007685"/>
            <a:ext cx="1186932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855464" y="4944215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198095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971800" y="5261565"/>
            <a:ext cx="1170394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5198095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5451976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971800" y="5515446"/>
            <a:ext cx="1100284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855464" y="5451976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208776" y="1389888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8522208" y="1453358"/>
            <a:ext cx="1054116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10405872" y="1389888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208776" y="1643768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522208" y="1707239"/>
            <a:ext cx="1052088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405872" y="1643768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208776" y="1897649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8522208" y="1961119"/>
            <a:ext cx="1020738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0405872" y="1897649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2151529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522208" y="2215000"/>
            <a:ext cx="973320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05872" y="2151529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208776" y="2405410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8522208" y="2468880"/>
            <a:ext cx="935530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405872" y="2405410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6208776" y="2659290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522208" y="2722760"/>
            <a:ext cx="912798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405872" y="2659290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2913171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8522208" y="2976641"/>
            <a:ext cx="852790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405872" y="2913171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3167051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8522208" y="3230521"/>
            <a:ext cx="825475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0405872" y="3167051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3420932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522208" y="3484402"/>
            <a:ext cx="785982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05872" y="3420932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6208776" y="3674812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522208" y="3738282"/>
            <a:ext cx="767171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405872" y="3674812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3928693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8522208" y="3992163"/>
            <a:ext cx="732203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3928693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4182573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8522208" y="4246043"/>
            <a:ext cx="705138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10405872" y="4182573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208776" y="4436454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8522208" y="4499924"/>
            <a:ext cx="634035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10405872" y="4436454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4690334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522208" y="4753804"/>
            <a:ext cx="497714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405872" y="4690334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4944215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522208" y="5007685"/>
            <a:ext cx="448229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4944215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5198095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522208" y="5261565"/>
            <a:ext cx="379857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10405872" y="5198095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5451976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8522208" y="5515446"/>
            <a:ext cx="323120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10405872" y="5451976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4162891" y="1389888"/>
            <a:ext cx="14630" cy="431596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713299" y="1389888"/>
            <a:ext cx="14630" cy="431596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of 33 stores at or above the 36.5% group, led by TOYOTA HENDERSON at 45.1%. CDJR POST FALLS is lowest at 24.4%.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133502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SAME-STORE, 33 STORES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+0.5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13048" y="1909246"/>
            <a:ext cx="82296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813048" y="2139459"/>
            <a:ext cx="79087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+6.0 pts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813048" y="2369673"/>
            <a:ext cx="57689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+4.4 pts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813048" y="2599887"/>
            <a:ext cx="43607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13048" y="2830100"/>
            <a:ext cx="434191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813048" y="3060314"/>
            <a:ext cx="38771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813048" y="3290528"/>
            <a:ext cx="340614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+2.6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813048" y="3520741"/>
            <a:ext cx="33270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813048" y="3750955"/>
            <a:ext cx="31900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813048" y="3981169"/>
            <a:ext cx="27593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813048" y="4211382"/>
            <a:ext cx="26858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 pts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813048" y="4441596"/>
            <a:ext cx="22350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 pts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813048" y="4671809"/>
            <a:ext cx="20353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3813048" y="4902023"/>
            <a:ext cx="202081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813048" y="5132237"/>
            <a:ext cx="20206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3813048" y="5362450"/>
            <a:ext cx="16832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53050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813048" y="5592664"/>
            <a:ext cx="15409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53050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9363456" y="1909246"/>
            <a:ext cx="124956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259568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208776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9363456" y="2139459"/>
            <a:ext cx="11950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259568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9363456" y="2369673"/>
            <a:ext cx="5413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0259568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208776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9363456" y="2599887"/>
            <a:ext cx="4507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59568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208776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9332162" y="2830100"/>
            <a:ext cx="31294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59568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9318245" y="3060314"/>
            <a:ext cx="45211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259568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9234799" y="3290528"/>
            <a:ext cx="128657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259568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9060820" y="3520741"/>
            <a:ext cx="302636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10259568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 pts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9020066" y="3750955"/>
            <a:ext cx="343390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259568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6208776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970241" y="3981169"/>
            <a:ext cx="393215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259568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969612" y="4211382"/>
            <a:ext cx="393844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259568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8963759" y="4441596"/>
            <a:ext cx="399697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259568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8882294" y="4671809"/>
            <a:ext cx="48116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10259568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 pts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8875568" y="4902023"/>
            <a:ext cx="487888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259568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−3.7 pts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8753817" y="5132237"/>
            <a:ext cx="609639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259568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723891" y="5362450"/>
            <a:ext cx="639565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0259568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 pts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807562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357970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of 33 stores raised internal parts GP%, led by ACURA at +6.2 pts to 34.0%. 12 declined; VW ST GEORGE fell most at −4.8 pts.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2026-10-21T17:16:29Z</dcterms:created>
  <dcterms:modified xsi:type="dcterms:W3CDTF">2026-10-21T17:16:29Z</dcterms:modified>
</cp:coreProperties>
</file>