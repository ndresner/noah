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16 of 33 stores at or above the 78.1% group, led by Honda Henderson at 85.9%. Audi Reno is lowest at 58.8%.Source: Qlik - Closed Repair Orders. Internal pay type, Jan-Sep by close month. Same-store, INEOS excluded (opened 2026). GMC Prescott body shop labor types excluded. Internal labor gross / internal labor sale. A higher internal margin adds service gross but is a cost to used cars. Jan-Sep 2026 YTD. Green at or above the group, red below. Bars start at 50.0%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13 of 33 stores at or above the 36.5% group, led by Toyota Henderson at 45.1%. CDJR Post Falls is lowest at 24.4%.Source: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Jan-Sep 2026 YTD. Green at or above the group, red below. Bars start at 20.0%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chart" Target="/ppt/charts/chart12.xml"/><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64906"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64128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5" name="Shape 23"/>
          <p:cNvSpPr/>
          <p:nvPr/>
        </p:nvSpPr>
        <p:spPr>
          <a:xfrm>
            <a:off x="3008376" y="2626748"/>
            <a:ext cx="156998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008376" y="2866644"/>
            <a:ext cx="154621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82.8%</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52177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008376" y="3346435"/>
            <a:ext cx="151722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008376" y="3586331"/>
            <a:ext cx="151209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008376" y="3826226"/>
            <a:ext cx="1502318"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9" name="Shape 47"/>
          <p:cNvSpPr/>
          <p:nvPr/>
        </p:nvSpPr>
        <p:spPr>
          <a:xfrm>
            <a:off x="3008376" y="4066122"/>
            <a:ext cx="14857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008376" y="4306017"/>
            <a:ext cx="1450241"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008376" y="4545913"/>
            <a:ext cx="142542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1" name="Shape 59"/>
          <p:cNvSpPr/>
          <p:nvPr/>
        </p:nvSpPr>
        <p:spPr>
          <a:xfrm>
            <a:off x="3008376" y="4785808"/>
            <a:ext cx="1402468"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402095"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136481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3271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008376" y="5745390"/>
            <a:ext cx="128216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24195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8558784" y="2146957"/>
            <a:ext cx="122340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8558784" y="2386853"/>
            <a:ext cx="121501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58784" y="2626748"/>
            <a:ext cx="120979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8558784" y="2866644"/>
            <a:ext cx="12016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8558784" y="3106540"/>
            <a:ext cx="118946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8558784" y="3346435"/>
            <a:ext cx="113922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58784" y="3586331"/>
            <a:ext cx="1119486"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3" name="Shape 111"/>
          <p:cNvSpPr/>
          <p:nvPr/>
        </p:nvSpPr>
        <p:spPr>
          <a:xfrm>
            <a:off x="8558784" y="3826226"/>
            <a:ext cx="106176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105410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1" name="Shape 119"/>
          <p:cNvSpPr/>
          <p:nvPr/>
        </p:nvSpPr>
        <p:spPr>
          <a:xfrm>
            <a:off x="8558784" y="4306017"/>
            <a:ext cx="102057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95183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9" name="Shape 127"/>
          <p:cNvSpPr/>
          <p:nvPr/>
        </p:nvSpPr>
        <p:spPr>
          <a:xfrm>
            <a:off x="8558784" y="4785808"/>
            <a:ext cx="942987"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8877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7" name="Shape 135"/>
          <p:cNvSpPr/>
          <p:nvPr/>
        </p:nvSpPr>
        <p:spPr>
          <a:xfrm>
            <a:off x="8558784" y="5265599"/>
            <a:ext cx="837155"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41428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58.8%</a:t>
            </a:r>
            <a:endParaRPr lang="en-US" sz="1200" dirty="0"/>
          </a:p>
        </p:txBody>
      </p:sp>
      <p:sp>
        <p:nvSpPr>
          <p:cNvPr id="143" name="Shape 141"/>
          <p:cNvSpPr/>
          <p:nvPr/>
        </p:nvSpPr>
        <p:spPr>
          <a:xfrm>
            <a:off x="4326190" y="1847088"/>
            <a:ext cx="14630" cy="4078224"/>
          </a:xfrm>
          <a:prstGeom prst="rect">
            <a:avLst/>
          </a:prstGeom>
          <a:solidFill>
            <a:srgbClr val="0B2C4A"/>
          </a:solidFill>
          <a:ln/>
        </p:spPr>
      </p:sp>
      <p:sp>
        <p:nvSpPr>
          <p:cNvPr id="144" name="Shape 142"/>
          <p:cNvSpPr/>
          <p:nvPr/>
        </p:nvSpPr>
        <p:spPr>
          <a:xfrm>
            <a:off x="98765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16 of 33 stores at or above the 78.1% group.</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36.5%</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7138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26083"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2705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41.2%</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140426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008376" y="3106540"/>
            <a:ext cx="1329194"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008376" y="3346435"/>
            <a:ext cx="114763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1" name="Shape 39"/>
          <p:cNvSpPr/>
          <p:nvPr/>
        </p:nvSpPr>
        <p:spPr>
          <a:xfrm>
            <a:off x="3008376" y="3586331"/>
            <a:ext cx="114362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5" name="Shape 43"/>
          <p:cNvSpPr/>
          <p:nvPr/>
        </p:nvSpPr>
        <p:spPr>
          <a:xfrm>
            <a:off x="3008376" y="3826226"/>
            <a:ext cx="11384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133430"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3008376" y="4306017"/>
            <a:ext cx="1126165"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7" name="Shape 55"/>
          <p:cNvSpPr/>
          <p:nvPr/>
        </p:nvSpPr>
        <p:spPr>
          <a:xfrm>
            <a:off x="3008376" y="4545913"/>
            <a:ext cx="1120821"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3008376" y="4785808"/>
            <a:ext cx="11111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097912"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008376" y="5265599"/>
            <a:ext cx="108261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5505495"/>
            <a:ext cx="101776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77" name="Shape 75"/>
          <p:cNvSpPr/>
          <p:nvPr/>
        </p:nvSpPr>
        <p:spPr>
          <a:xfrm>
            <a:off x="3008376" y="5745390"/>
            <a:ext cx="975057"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1" name="Shape 79"/>
          <p:cNvSpPr/>
          <p:nvPr/>
        </p:nvSpPr>
        <p:spPr>
          <a:xfrm>
            <a:off x="8558784" y="1907062"/>
            <a:ext cx="973182"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8558784" y="2146957"/>
            <a:ext cx="944183"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89" name="Shape 87"/>
          <p:cNvSpPr/>
          <p:nvPr/>
        </p:nvSpPr>
        <p:spPr>
          <a:xfrm>
            <a:off x="8558784" y="2386853"/>
            <a:ext cx="900321"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86536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7" name="Shape 95"/>
          <p:cNvSpPr/>
          <p:nvPr/>
        </p:nvSpPr>
        <p:spPr>
          <a:xfrm>
            <a:off x="8558784" y="2866644"/>
            <a:ext cx="84433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8558784" y="3106540"/>
            <a:ext cx="7888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763564"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9" name="Shape 107"/>
          <p:cNvSpPr/>
          <p:nvPr/>
        </p:nvSpPr>
        <p:spPr>
          <a:xfrm>
            <a:off x="8558784" y="3586331"/>
            <a:ext cx="72703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7096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558784" y="4066122"/>
            <a:ext cx="67728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8558784" y="4306017"/>
            <a:ext cx="652252"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58648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8558784" y="4785808"/>
            <a:ext cx="4603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3" name="Shape 131"/>
          <p:cNvSpPr/>
          <p:nvPr/>
        </p:nvSpPr>
        <p:spPr>
          <a:xfrm>
            <a:off x="8558784" y="5025704"/>
            <a:ext cx="41461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558784" y="5265599"/>
            <a:ext cx="35136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98886"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24.4%</a:t>
            </a:r>
            <a:endParaRPr lang="en-US" sz="1200" dirty="0"/>
          </a:p>
        </p:txBody>
      </p:sp>
      <p:sp>
        <p:nvSpPr>
          <p:cNvPr id="143" name="Shape 141"/>
          <p:cNvSpPr/>
          <p:nvPr/>
        </p:nvSpPr>
        <p:spPr>
          <a:xfrm>
            <a:off x="4109587" y="1847088"/>
            <a:ext cx="14630" cy="4078224"/>
          </a:xfrm>
          <a:prstGeom prst="rect">
            <a:avLst/>
          </a:prstGeom>
          <a:solidFill>
            <a:srgbClr val="0B2C4A"/>
          </a:solidFill>
          <a:ln/>
        </p:spPr>
      </p:sp>
      <p:sp>
        <p:nvSpPr>
          <p:cNvPr id="144" name="Shape 142"/>
          <p:cNvSpPr/>
          <p:nvPr/>
        </p:nvSpPr>
        <p:spPr>
          <a:xfrm>
            <a:off x="965999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36.5% group.</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2026-10-27T17:17:45Z</dcterms:created>
  <dcterms:modified xsi:type="dcterms:W3CDTF">2026-10-27T17:17:45Z</dcterms:modified>
</cp:coreProperties>
</file>