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77.5</c:v>
                </c:pt>
                <c:pt idx="1">
                  <c:v>77.4</c:v>
                </c:pt>
                <c:pt idx="2">
                  <c:v>78.4</c:v>
                </c:pt>
                <c:pt idx="3">
                  <c:v>78.3</c:v>
                </c:pt>
                <c:pt idx="4">
                  <c:v>78.8</c:v>
                </c:pt>
                <c:pt idx="5">
                  <c:v>77.8</c:v>
                </c:pt>
                <c:pt idx="6">
                  <c:v>78.7</c:v>
                </c:pt>
                <c:pt idx="7">
                  <c:v>77.9</c:v>
                </c:pt>
                <c:pt idx="8">
                  <c:v>78.2</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2"/>
          <c:min val="74"/>
        </c:scaling>
        <c:delete val="0"/>
        <c:axPos val="l"/>
        <c:majorGridlines>
          <c:spPr>
            <a:ln w="9525" cap="flat">
              <a:solidFill>
                <a:srgbClr val="D9D9D9"/>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78.4</c:v>
                </c:pt>
                <c:pt idx="3">
                  <c:v>78.3</c:v>
                </c:pt>
                <c:pt idx="4">
                  <c:v>78.8</c:v>
                </c:pt>
                <c:pt idx="5">
                  <c:v/>
                </c:pt>
                <c:pt idx="6">
                  <c:v>78.7</c:v>
                </c:pt>
                <c:pt idx="7">
                  <c:v>77.9</c:v>
                </c:pt>
                <c:pt idx="8">
                  <c:v>78.2</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2"/>
          <c:min val="74"/>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77.5</c:v>
                </c:pt>
                <c:pt idx="1">
                  <c:v>77.4</c:v>
                </c:pt>
                <c:pt idx="2">
                  <c:v/>
                </c:pt>
                <c:pt idx="3">
                  <c:v/>
                </c:pt>
                <c:pt idx="4">
                  <c:v/>
                </c:pt>
                <c:pt idx="5">
                  <c:v>77.8</c:v>
                </c:pt>
                <c:pt idx="6">
                  <c:v/>
                </c:pt>
                <c:pt idx="7">
                  <c:v/>
                </c:pt>
                <c:pt idx="8">
                  <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2"/>
          <c:min val="74"/>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77.6</c:v>
                </c:pt>
                <c:pt idx="1">
                  <c:v>78</c:v>
                </c:pt>
                <c:pt idx="2">
                  <c:v/>
                </c:pt>
                <c:pt idx="3">
                  <c:v/>
                </c:pt>
                <c:pt idx="4">
                  <c:v/>
                </c:pt>
                <c:pt idx="5">
                  <c:v>78.3</c:v>
                </c:pt>
                <c:pt idx="6">
                  <c:v/>
                </c:pt>
                <c:pt idx="7">
                  <c:v/>
                </c:pt>
                <c:pt idx="8">
                  <c:v/>
                </c:pt>
                <c:pt idx="9">
                  <c:v>77.9</c:v>
                </c:pt>
                <c:pt idx="10">
                  <c:v/>
                </c:pt>
                <c:pt idx="11">
                  <c:v>78.4</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2"/>
          <c:min val="74"/>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77.9</c:v>
                </c:pt>
                <c:pt idx="3">
                  <c:v>78</c:v>
                </c:pt>
                <c:pt idx="4">
                  <c:v>78.5</c:v>
                </c:pt>
                <c:pt idx="5">
                  <c:v/>
                </c:pt>
                <c:pt idx="6">
                  <c:v>77.7</c:v>
                </c:pt>
                <c:pt idx="7">
                  <c:v>77.4</c:v>
                </c:pt>
                <c:pt idx="8">
                  <c:v>77.3</c:v>
                </c:pt>
                <c:pt idx="9">
                  <c:v/>
                </c:pt>
                <c:pt idx="10">
                  <c:v>77.4</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2"/>
          <c:min val="74"/>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77.6</c:v>
                </c:pt>
                <c:pt idx="1">
                  <c:v>78</c:v>
                </c:pt>
                <c:pt idx="2">
                  <c:v>77.9</c:v>
                </c:pt>
                <c:pt idx="3">
                  <c:v>78</c:v>
                </c:pt>
                <c:pt idx="4">
                  <c:v>78.5</c:v>
                </c:pt>
                <c:pt idx="5">
                  <c:v>78.3</c:v>
                </c:pt>
                <c:pt idx="6">
                  <c:v>77.7</c:v>
                </c:pt>
                <c:pt idx="7">
                  <c:v>77.4</c:v>
                </c:pt>
                <c:pt idx="8">
                  <c:v>77.3</c:v>
                </c:pt>
                <c:pt idx="9">
                  <c:v>77.9</c:v>
                </c:pt>
                <c:pt idx="10">
                  <c:v>77.4</c:v>
                </c:pt>
                <c:pt idx="11">
                  <c:v>78.4</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82"/>
          <c:min val="74"/>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35.9</c:v>
                </c:pt>
                <c:pt idx="1">
                  <c:v>35.9</c:v>
                </c:pt>
                <c:pt idx="2">
                  <c:v>36.3</c:v>
                </c:pt>
                <c:pt idx="3">
                  <c:v>36.4</c:v>
                </c:pt>
                <c:pt idx="4">
                  <c:v>37.2</c:v>
                </c:pt>
                <c:pt idx="5">
                  <c:v>37</c:v>
                </c:pt>
                <c:pt idx="6">
                  <c:v>36.6</c:v>
                </c:pt>
                <c:pt idx="7">
                  <c:v>36.1</c:v>
                </c:pt>
                <c:pt idx="8">
                  <c:v>36.7</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38"/>
          <c:min val="34"/>
        </c:scaling>
        <c:delete val="0"/>
        <c:axPos val="l"/>
        <c:majorGridlines>
          <c:spPr>
            <a:ln w="9525" cap="flat">
              <a:solidFill>
                <a:srgbClr val="D9D9D9"/>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35.9</c:v>
                </c:pt>
                <c:pt idx="1">
                  <c:v>35.9</c:v>
                </c:pt>
                <c:pt idx="2">
                  <c:v>36.3</c:v>
                </c:pt>
                <c:pt idx="3">
                  <c:v/>
                </c:pt>
                <c:pt idx="4">
                  <c:v>37.2</c:v>
                </c:pt>
                <c:pt idx="5">
                  <c:v>37</c:v>
                </c:pt>
                <c:pt idx="6">
                  <c:v>36.6</c:v>
                </c:pt>
                <c:pt idx="7">
                  <c:v>36.1</c:v>
                </c:pt>
                <c:pt idx="8">
                  <c:v>36.7</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38"/>
          <c:min val="34"/>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
                </c:pt>
                <c:pt idx="3">
                  <c:v>36.4</c:v>
                </c:pt>
                <c:pt idx="4">
                  <c:v/>
                </c:pt>
                <c:pt idx="5">
                  <c:v/>
                </c:pt>
                <c:pt idx="6">
                  <c:v/>
                </c:pt>
                <c:pt idx="7">
                  <c:v/>
                </c:pt>
                <c:pt idx="8">
                  <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38"/>
          <c:min val="34"/>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
                </c:pt>
                <c:pt idx="3">
                  <c:v>36.7</c:v>
                </c:pt>
                <c:pt idx="4">
                  <c:v/>
                </c:pt>
                <c:pt idx="5">
                  <c:v/>
                </c:pt>
                <c:pt idx="6">
                  <c:v/>
                </c:pt>
                <c:pt idx="7">
                  <c:v/>
                </c:pt>
                <c:pt idx="8">
                  <c:v/>
                </c:pt>
                <c:pt idx="9">
                  <c:v/>
                </c:pt>
                <c:pt idx="10">
                  <c:v/>
                </c:pt>
                <c:pt idx="11">
                  <c:v>35.4</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38"/>
          <c:min val="34"/>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35.1</c:v>
                </c:pt>
                <c:pt idx="1">
                  <c:v>35.5</c:v>
                </c:pt>
                <c:pt idx="2">
                  <c:v>36.2</c:v>
                </c:pt>
                <c:pt idx="3">
                  <c:v/>
                </c:pt>
                <c:pt idx="4">
                  <c:v>35.5</c:v>
                </c:pt>
                <c:pt idx="5">
                  <c:v>36.7</c:v>
                </c:pt>
                <c:pt idx="6">
                  <c:v>36.4</c:v>
                </c:pt>
                <c:pt idx="7">
                  <c:v>35.3</c:v>
                </c:pt>
                <c:pt idx="8">
                  <c:v>36.1</c:v>
                </c:pt>
                <c:pt idx="9">
                  <c:v>35.4</c:v>
                </c:pt>
                <c:pt idx="10">
                  <c:v>35.2</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38"/>
          <c:min val="34"/>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35.1</c:v>
                </c:pt>
                <c:pt idx="1">
                  <c:v>35.5</c:v>
                </c:pt>
                <c:pt idx="2">
                  <c:v>36.2</c:v>
                </c:pt>
                <c:pt idx="3">
                  <c:v>36.7</c:v>
                </c:pt>
                <c:pt idx="4">
                  <c:v>35.5</c:v>
                </c:pt>
                <c:pt idx="5">
                  <c:v>36.7</c:v>
                </c:pt>
                <c:pt idx="6">
                  <c:v>36.4</c:v>
                </c:pt>
                <c:pt idx="7">
                  <c:v>35.3</c:v>
                </c:pt>
                <c:pt idx="8">
                  <c:v>36.1</c:v>
                </c:pt>
                <c:pt idx="9">
                  <c:v>35.4</c:v>
                </c:pt>
                <c:pt idx="10">
                  <c:v>35.2</c:v>
                </c:pt>
                <c:pt idx="11">
                  <c:v>35.4</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38"/>
          <c:min val="34"/>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Internal pay type, Jan-Sep by close month. Same-store, INEOS excluded (opened 2026). GMC Prescott body shop labor types excluded. Internal labor gross / internal labor sale. A higher internal margin adds service gross but is a cost to used cars. YTD from YTD totals, not the mean of months. Store rows reconcile to the group on every input, both years. 2025 shown January-December; October-December pulled Oct 22 on the same basis (chart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Internal pay type, Jan-Sep by close month. Same-store, INEOS excluded (opened 2026). GMC Prescott body shop labor types excluded. Internal labor gross / internal labor sale. A higher internal margin adds service gross but is a cost to used cars. Jan-Sep 2026 YTD. Green at or above the group, red below. Bars start at 50.0% so differences are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Internal pay type, Jan-Sep by close month. Same-store, INEOS excluded (opened 2026). GMC Prescott body shop labor types excluded. Change in Internal Labor Gross Profit %,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Internal pay type, Jan-Sep by close month. Same-store, INEOS excluded (opened 2026). GMC Prescott body shop labor types excluded. Internal labor gross / internal labor sale. A higher internal margin adds service gross but is a cost to used cars. Top and bottom five stores by change in Internal Labor Gross Profit %, Jan-Sep 2026 vs 2025. Moving now: Jul-Sep 2026 vs Jan-Mar 2026, each store against itself; the group moved +0.5 pts on the same basis, so part of every store's change is seasonal. Green bar at the right of a row: the store is on both the top five vs last year and the top five moving now.Conversation starter: each top store says one thing they started doing; each bottom store says what got in the way and what they would try. The room trades ideas. Moving now: ask the top three what they started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Internal pay type, Jan-Sep by close month. Same-store, INEOS excluded (opened 2026). GMC Prescott body shop labor types excluded. Internal parts gross / internal parts sale on repair orders. A higher internal margin adds parts gross but is a cost to used cars. YTD from YTD totals, not the mean of months. Store rows reconcile to the group on every input, both years. 2025 shown January-December; October-December pulled Oct 22 on the same basis (chart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Internal pay type, Jan-Sep by close month. Same-store, INEOS excluded (opened 2026). GMC Prescott body shop labor types excluded. Internal parts gross / internal parts sale on repair orders. A higher internal margin adds parts gross but is a cost to used cars. Jan-Sep 2026 YTD. Green at or above the group, red below. Bars start at 20.0% so differences are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Internal pay type, Jan-Sep by close month. Same-store, INEOS excluded (opened 2026). GMC Prescott body shop labor types excluded. Change in Internal Parts Gross Profit %,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Internal pay type, Jan-Sep by close month. Same-store, INEOS excluded (opened 2026). GMC Prescott body shop labor types excluded. Internal parts gross / internal parts sale on repair orders. A higher internal margin adds parts gross but is a cost to used cars. Top and bottom five stores by change in Internal Parts Gross Profit %, Jan-Sep 2026 vs 2025. Moving now: Jul-Sep 2026 vs Jan-Mar 2026, each store against itself; the group moved +0.5 pts on the same basis, so part of every store's change is seasonal. Green bar at the right of a row: the store is on both the top five vs last year and the top five moving now.Conversation starter: each top store says one thing they started doing; each bottom store says what got in the way and what they would try. The room trades ideas. Moving now: ask the top three what they started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chart" Target="/ppt/charts/chart4.xml"/><Relationship Id="rId5" Type="http://schemas.openxmlformats.org/officeDocument/2006/relationships/chart" Target="/ppt/charts/chart5.xml"/><Relationship Id="rId6" Type="http://schemas.openxmlformats.org/officeDocument/2006/relationships/chart" Target="/ppt/charts/chart6.xml"/><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chart" Target="/ppt/charts/chart8.xml"/><Relationship Id="rId3" Type="http://schemas.openxmlformats.org/officeDocument/2006/relationships/chart" Target="/ppt/charts/chart9.xml"/><Relationship Id="rId4" Type="http://schemas.openxmlformats.org/officeDocument/2006/relationships/chart" Target="/ppt/charts/chart10.xml"/><Relationship Id="rId5" Type="http://schemas.openxmlformats.org/officeDocument/2006/relationships/chart" Target="/ppt/charts/chart11.xml"/><Relationship Id="rId6" Type="http://schemas.openxmlformats.org/officeDocument/2006/relationships/chart" Target="/ppt/charts/chart12.xml"/><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INTERNAL</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Internal Labor Gross Profit %</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77.9%</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78.1%</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+0.3 pts</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+0.3%</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Internal Labor Gross Profit % by month, 2025 against 2026</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Chart 1"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2"/>
          </a:graphicData>
        </a:graphic>
      </p:graphicFrame>
      <p:graphicFrame>
        <p:nvGraphicFramePr>
          <p:cNvPr id="19" name="Chart 2"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3"/>
          </a:graphicData>
        </a:graphic>
      </p:graphicFrame>
      <p:graphicFrame>
        <p:nvGraphicFramePr>
          <p:cNvPr id="20" name="Chart 3"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4"/>
          </a:graphicData>
        </a:graphic>
      </p:graphicFrame>
      <p:graphicFrame>
        <p:nvGraphicFramePr>
          <p:cNvPr id="21" name="Chart 4"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5"/>
          </a:graphicData>
        </a:graphic>
      </p:graphicFrame>
      <p:graphicFrame>
        <p:nvGraphicFramePr>
          <p:cNvPr id="22" name="Chart 5"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6"/>
          </a:graphicData>
        </a:graphic>
      </p:graphicFrame>
      <p:sp>
        <p:nvSpPr>
          <p:cNvPr id="23" name="Shape 15"/>
          <p:cNvSpPr/>
          <p:nvPr/>
        </p:nvSpPr>
        <p:spPr>
          <a:xfrm>
            <a:off x="4951476" y="3049524"/>
            <a:ext cx="310896" cy="45720"/>
          </a:xfrm>
          <a:prstGeom prst="rect">
            <a:avLst/>
          </a:prstGeom>
          <a:solidFill>
            <a:srgbClr val="9AA3AD"/>
          </a:solidFill>
          <a:ln/>
        </p:spPr>
      </p:sp>
      <p:sp>
        <p:nvSpPr>
          <p:cNvPr id="24" name="Shape 16"/>
          <p:cNvSpPr/>
          <p:nvPr/>
        </p:nvSpPr>
        <p:spPr>
          <a:xfrm>
            <a:off x="5052060" y="3017520"/>
            <a:ext cx="109728" cy="109728"/>
          </a:xfrm>
          <a:prstGeom prst="ellipse">
            <a:avLst/>
          </a:prstGeom>
          <a:solidFill>
            <a:srgbClr val="9AA3AD"/>
          </a:solidFill>
          <a:ln/>
        </p:spPr>
      </p:sp>
      <p:sp>
        <p:nvSpPr>
          <p:cNvPr id="25" name="Text 17"/>
          <p:cNvSpPr txBox="1"/>
          <p:nvPr/>
        </p:nvSpPr>
        <p:spPr>
          <a:xfrm>
            <a:off x="533552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6" name="Shape 18"/>
          <p:cNvSpPr/>
          <p:nvPr/>
        </p:nvSpPr>
        <p:spPr>
          <a:xfrm>
            <a:off x="6185916" y="3049524"/>
            <a:ext cx="310896" cy="45720"/>
          </a:xfrm>
          <a:prstGeom prst="rect">
            <a:avLst/>
          </a:prstGeom>
          <a:solidFill>
            <a:srgbClr val="2587C5"/>
          </a:solidFill>
          <a:ln/>
        </p:spPr>
      </p:sp>
      <p:sp>
        <p:nvSpPr>
          <p:cNvPr id="27" name="Shape 19"/>
          <p:cNvSpPr/>
          <p:nvPr/>
        </p:nvSpPr>
        <p:spPr>
          <a:xfrm>
            <a:off x="6286500" y="3017520"/>
            <a:ext cx="109728" cy="109728"/>
          </a:xfrm>
          <a:prstGeom prst="ellipse">
            <a:avLst/>
          </a:prstGeom>
          <a:solidFill>
            <a:srgbClr val="2587C5"/>
          </a:solidFill>
          <a:ln/>
        </p:spPr>
      </p:sp>
      <p:sp>
        <p:nvSpPr>
          <p:cNvPr id="28" name="Text 20"/>
          <p:cNvSpPr txBox="1"/>
          <p:nvPr/>
        </p:nvSpPr>
        <p:spPr>
          <a:xfrm>
            <a:off x="656996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9" name="Shape 21"/>
          <p:cNvSpPr/>
          <p:nvPr/>
        </p:nvSpPr>
        <p:spPr>
          <a:xfrm>
            <a:off x="457200" y="6126480"/>
            <a:ext cx="11274552" cy="371856"/>
          </a:xfrm>
          <a:prstGeom prst="rect">
            <a:avLst/>
          </a:prstGeom>
          <a:solidFill>
            <a:srgbClr val="E6F6EE"/>
          </a:solidFill>
          <a:ln/>
        </p:spPr>
      </p:sp>
      <p:sp>
        <p:nvSpPr>
          <p:cNvPr id="30" name="Text 22"/>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0.3 pts to 78.1%, ahead of 2025 in six of nine months.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INTERNAL</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Internal Labor Gross Profit %</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356235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INTERNAL LABOR GROSS PROFIT %</a:t>
            </a:r>
            <a:endParaRPr lang="en-US" sz="1500" dirty="0"/>
          </a:p>
        </p:txBody>
      </p:sp>
      <p:sp>
        <p:nvSpPr>
          <p:cNvPr id="9" name="Text 7"/>
          <p:cNvSpPr txBox="1"/>
          <p:nvPr/>
        </p:nvSpPr>
        <p:spPr>
          <a:xfrm>
            <a:off x="4476750" y="1335024"/>
            <a:ext cx="356997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SEPTEMBER 2026 YTD</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78.1%</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13" name="Shape 11"/>
          <p:cNvSpPr/>
          <p:nvPr/>
        </p:nvSpPr>
        <p:spPr>
          <a:xfrm>
            <a:off x="3008376" y="1907062"/>
            <a:ext cx="1691640" cy="119948"/>
          </a:xfrm>
          <a:prstGeom prst="rect">
            <a:avLst/>
          </a:prstGeom>
          <a:solidFill>
            <a:srgbClr val="12A566"/>
          </a:solidFill>
          <a:ln/>
        </p:spPr>
      </p:sp>
      <p:sp>
        <p:nvSpPr>
          <p:cNvPr id="14" name="Text 12"/>
          <p:cNvSpPr txBox="1"/>
          <p:nvPr/>
        </p:nvSpPr>
        <p:spPr>
          <a:xfrm>
            <a:off x="4754880" y="1847088"/>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85.9%</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7" name="Shape 15"/>
          <p:cNvSpPr/>
          <p:nvPr/>
        </p:nvSpPr>
        <p:spPr>
          <a:xfrm>
            <a:off x="3008376" y="2146957"/>
            <a:ext cx="1664906" cy="119948"/>
          </a:xfrm>
          <a:prstGeom prst="rect">
            <a:avLst/>
          </a:prstGeom>
          <a:solidFill>
            <a:srgbClr val="12A566"/>
          </a:solidFill>
          <a:ln/>
        </p:spPr>
      </p:sp>
      <p:sp>
        <p:nvSpPr>
          <p:cNvPr id="18" name="Text 16"/>
          <p:cNvSpPr txBox="1"/>
          <p:nvPr/>
        </p:nvSpPr>
        <p:spPr>
          <a:xfrm>
            <a:off x="4754880" y="2086984"/>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85.3%</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21" name="Shape 19"/>
          <p:cNvSpPr/>
          <p:nvPr/>
        </p:nvSpPr>
        <p:spPr>
          <a:xfrm>
            <a:off x="3008376" y="2386853"/>
            <a:ext cx="1641280" cy="119948"/>
          </a:xfrm>
          <a:prstGeom prst="rect">
            <a:avLst/>
          </a:prstGeom>
          <a:solidFill>
            <a:srgbClr val="12A566"/>
          </a:solidFill>
          <a:ln/>
        </p:spPr>
      </p:sp>
      <p:sp>
        <p:nvSpPr>
          <p:cNvPr id="22" name="Text 20"/>
          <p:cNvSpPr txBox="1"/>
          <p:nvPr/>
        </p:nvSpPr>
        <p:spPr>
          <a:xfrm>
            <a:off x="4754880" y="2326879"/>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84.8%</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25" name="Shape 23"/>
          <p:cNvSpPr/>
          <p:nvPr/>
        </p:nvSpPr>
        <p:spPr>
          <a:xfrm>
            <a:off x="3008376" y="2626748"/>
            <a:ext cx="1569988" cy="119948"/>
          </a:xfrm>
          <a:prstGeom prst="rect">
            <a:avLst/>
          </a:prstGeom>
          <a:solidFill>
            <a:srgbClr val="12A566"/>
          </a:solidFill>
          <a:ln/>
        </p:spPr>
      </p:sp>
      <p:sp>
        <p:nvSpPr>
          <p:cNvPr id="26" name="Text 24"/>
          <p:cNvSpPr txBox="1"/>
          <p:nvPr/>
        </p:nvSpPr>
        <p:spPr>
          <a:xfrm>
            <a:off x="4754880" y="2566775"/>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83.3%</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29" name="Shape 27"/>
          <p:cNvSpPr/>
          <p:nvPr/>
        </p:nvSpPr>
        <p:spPr>
          <a:xfrm>
            <a:off x="3008376" y="2866644"/>
            <a:ext cx="1546216" cy="119948"/>
          </a:xfrm>
          <a:prstGeom prst="rect">
            <a:avLst/>
          </a:prstGeom>
          <a:solidFill>
            <a:srgbClr val="12A566"/>
          </a:solidFill>
          <a:ln/>
        </p:spPr>
      </p:sp>
      <p:sp>
        <p:nvSpPr>
          <p:cNvPr id="30" name="Text 28"/>
          <p:cNvSpPr txBox="1"/>
          <p:nvPr/>
        </p:nvSpPr>
        <p:spPr>
          <a:xfrm>
            <a:off x="4754880" y="2806670"/>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82.8%</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33" name="Shape 31"/>
          <p:cNvSpPr/>
          <p:nvPr/>
        </p:nvSpPr>
        <p:spPr>
          <a:xfrm>
            <a:off x="3008376" y="3106540"/>
            <a:ext cx="1521776" cy="119948"/>
          </a:xfrm>
          <a:prstGeom prst="rect">
            <a:avLst/>
          </a:prstGeom>
          <a:solidFill>
            <a:srgbClr val="12A566"/>
          </a:solidFill>
          <a:ln/>
        </p:spPr>
      </p:sp>
      <p:sp>
        <p:nvSpPr>
          <p:cNvPr id="34" name="Text 32"/>
          <p:cNvSpPr txBox="1"/>
          <p:nvPr/>
        </p:nvSpPr>
        <p:spPr>
          <a:xfrm>
            <a:off x="4754880" y="3046566"/>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82.3%</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37" name="Shape 35"/>
          <p:cNvSpPr/>
          <p:nvPr/>
        </p:nvSpPr>
        <p:spPr>
          <a:xfrm>
            <a:off x="3008376" y="3346435"/>
            <a:ext cx="1517221" cy="119948"/>
          </a:xfrm>
          <a:prstGeom prst="rect">
            <a:avLst/>
          </a:prstGeom>
          <a:solidFill>
            <a:srgbClr val="12A566"/>
          </a:solidFill>
          <a:ln/>
        </p:spPr>
      </p:sp>
      <p:sp>
        <p:nvSpPr>
          <p:cNvPr id="38" name="Text 36"/>
          <p:cNvSpPr txBox="1"/>
          <p:nvPr/>
        </p:nvSpPr>
        <p:spPr>
          <a:xfrm>
            <a:off x="4754880" y="3286461"/>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82.2%</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41" name="Shape 39"/>
          <p:cNvSpPr/>
          <p:nvPr/>
        </p:nvSpPr>
        <p:spPr>
          <a:xfrm>
            <a:off x="3008376" y="3586331"/>
            <a:ext cx="1512092" cy="119948"/>
          </a:xfrm>
          <a:prstGeom prst="rect">
            <a:avLst/>
          </a:prstGeom>
          <a:solidFill>
            <a:srgbClr val="12A566"/>
          </a:solidFill>
          <a:ln/>
        </p:spPr>
      </p:sp>
      <p:sp>
        <p:nvSpPr>
          <p:cNvPr id="42" name="Text 40"/>
          <p:cNvSpPr txBox="1"/>
          <p:nvPr/>
        </p:nvSpPr>
        <p:spPr>
          <a:xfrm>
            <a:off x="4754880" y="3526357"/>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82.1%</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45" name="Shape 43"/>
          <p:cNvSpPr/>
          <p:nvPr/>
        </p:nvSpPr>
        <p:spPr>
          <a:xfrm>
            <a:off x="3008376" y="3826226"/>
            <a:ext cx="1502318" cy="119948"/>
          </a:xfrm>
          <a:prstGeom prst="rect">
            <a:avLst/>
          </a:prstGeom>
          <a:solidFill>
            <a:srgbClr val="12A566"/>
          </a:solidFill>
          <a:ln/>
        </p:spPr>
      </p:sp>
      <p:sp>
        <p:nvSpPr>
          <p:cNvPr id="46" name="Text 44"/>
          <p:cNvSpPr txBox="1"/>
          <p:nvPr/>
        </p:nvSpPr>
        <p:spPr>
          <a:xfrm>
            <a:off x="4754880" y="3766252"/>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81.9%</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49" name="Shape 47"/>
          <p:cNvSpPr/>
          <p:nvPr/>
        </p:nvSpPr>
        <p:spPr>
          <a:xfrm>
            <a:off x="3008376" y="4066122"/>
            <a:ext cx="1485717" cy="119948"/>
          </a:xfrm>
          <a:prstGeom prst="rect">
            <a:avLst/>
          </a:prstGeom>
          <a:solidFill>
            <a:srgbClr val="12A566"/>
          </a:solidFill>
          <a:ln/>
        </p:spPr>
      </p:sp>
      <p:sp>
        <p:nvSpPr>
          <p:cNvPr id="50" name="Text 48"/>
          <p:cNvSpPr txBox="1"/>
          <p:nvPr/>
        </p:nvSpPr>
        <p:spPr>
          <a:xfrm>
            <a:off x="4754880" y="4006148"/>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81.5%</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53" name="Shape 51"/>
          <p:cNvSpPr/>
          <p:nvPr/>
        </p:nvSpPr>
        <p:spPr>
          <a:xfrm>
            <a:off x="3008376" y="4306017"/>
            <a:ext cx="1450241" cy="119948"/>
          </a:xfrm>
          <a:prstGeom prst="rect">
            <a:avLst/>
          </a:prstGeom>
          <a:solidFill>
            <a:srgbClr val="12A566"/>
          </a:solidFill>
          <a:ln/>
        </p:spPr>
      </p:sp>
      <p:sp>
        <p:nvSpPr>
          <p:cNvPr id="54" name="Text 52"/>
          <p:cNvSpPr txBox="1"/>
          <p:nvPr/>
        </p:nvSpPr>
        <p:spPr>
          <a:xfrm>
            <a:off x="4754880" y="4246043"/>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80.8%</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57" name="Shape 55"/>
          <p:cNvSpPr/>
          <p:nvPr/>
        </p:nvSpPr>
        <p:spPr>
          <a:xfrm>
            <a:off x="3008376" y="4545913"/>
            <a:ext cx="1425422" cy="119948"/>
          </a:xfrm>
          <a:prstGeom prst="rect">
            <a:avLst/>
          </a:prstGeom>
          <a:solidFill>
            <a:srgbClr val="12A566"/>
          </a:solidFill>
          <a:ln/>
        </p:spPr>
      </p:sp>
      <p:sp>
        <p:nvSpPr>
          <p:cNvPr id="58" name="Text 56"/>
          <p:cNvSpPr txBox="1"/>
          <p:nvPr/>
        </p:nvSpPr>
        <p:spPr>
          <a:xfrm>
            <a:off x="4754880" y="4485939"/>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80.2%</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61" name="Shape 59"/>
          <p:cNvSpPr/>
          <p:nvPr/>
        </p:nvSpPr>
        <p:spPr>
          <a:xfrm>
            <a:off x="3008376" y="4785808"/>
            <a:ext cx="1402468" cy="119948"/>
          </a:xfrm>
          <a:prstGeom prst="rect">
            <a:avLst/>
          </a:prstGeom>
          <a:solidFill>
            <a:srgbClr val="12A566"/>
          </a:solidFill>
          <a:ln/>
        </p:spPr>
      </p:sp>
      <p:sp>
        <p:nvSpPr>
          <p:cNvPr id="62" name="Text 60"/>
          <p:cNvSpPr txBox="1"/>
          <p:nvPr/>
        </p:nvSpPr>
        <p:spPr>
          <a:xfrm>
            <a:off x="4754880" y="4725834"/>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79.8%</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65" name="Shape 63"/>
          <p:cNvSpPr/>
          <p:nvPr/>
        </p:nvSpPr>
        <p:spPr>
          <a:xfrm>
            <a:off x="3008376" y="5025704"/>
            <a:ext cx="1402095" cy="119948"/>
          </a:xfrm>
          <a:prstGeom prst="rect">
            <a:avLst/>
          </a:prstGeom>
          <a:solidFill>
            <a:srgbClr val="12A566"/>
          </a:solidFill>
          <a:ln/>
        </p:spPr>
      </p:sp>
      <p:sp>
        <p:nvSpPr>
          <p:cNvPr id="66" name="Text 64"/>
          <p:cNvSpPr txBox="1"/>
          <p:nvPr/>
        </p:nvSpPr>
        <p:spPr>
          <a:xfrm>
            <a:off x="4754880" y="4965730"/>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79.7%</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69" name="Shape 67"/>
          <p:cNvSpPr/>
          <p:nvPr/>
        </p:nvSpPr>
        <p:spPr>
          <a:xfrm>
            <a:off x="3008376" y="5265599"/>
            <a:ext cx="1364813" cy="119948"/>
          </a:xfrm>
          <a:prstGeom prst="rect">
            <a:avLst/>
          </a:prstGeom>
          <a:solidFill>
            <a:srgbClr val="12A566"/>
          </a:solidFill>
          <a:ln/>
        </p:spPr>
      </p:sp>
      <p:sp>
        <p:nvSpPr>
          <p:cNvPr id="70" name="Text 68"/>
          <p:cNvSpPr txBox="1"/>
          <p:nvPr/>
        </p:nvSpPr>
        <p:spPr>
          <a:xfrm>
            <a:off x="4754880" y="5205625"/>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79.0%</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73" name="Shape 71"/>
          <p:cNvSpPr/>
          <p:nvPr/>
        </p:nvSpPr>
        <p:spPr>
          <a:xfrm>
            <a:off x="3008376" y="5505495"/>
            <a:ext cx="1327108" cy="119948"/>
          </a:xfrm>
          <a:prstGeom prst="rect">
            <a:avLst/>
          </a:prstGeom>
          <a:solidFill>
            <a:srgbClr val="12A566"/>
          </a:solidFill>
          <a:ln/>
        </p:spPr>
      </p:sp>
      <p:sp>
        <p:nvSpPr>
          <p:cNvPr id="74" name="Text 72"/>
          <p:cNvSpPr txBox="1"/>
          <p:nvPr/>
        </p:nvSpPr>
        <p:spPr>
          <a:xfrm>
            <a:off x="4754880" y="5445521"/>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78.2%</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77" name="Shape 75"/>
          <p:cNvSpPr/>
          <p:nvPr/>
        </p:nvSpPr>
        <p:spPr>
          <a:xfrm>
            <a:off x="3008376" y="5745390"/>
            <a:ext cx="1282160" cy="119948"/>
          </a:xfrm>
          <a:prstGeom prst="rect">
            <a:avLst/>
          </a:prstGeom>
          <a:solidFill>
            <a:srgbClr val="C2352F"/>
          </a:solidFill>
          <a:ln/>
        </p:spPr>
      </p:sp>
      <p:sp>
        <p:nvSpPr>
          <p:cNvPr id="78" name="Text 76"/>
          <p:cNvSpPr txBox="1"/>
          <p:nvPr/>
        </p:nvSpPr>
        <p:spPr>
          <a:xfrm>
            <a:off x="4754880" y="5685416"/>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77.2%</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81" name="Shape 79"/>
          <p:cNvSpPr/>
          <p:nvPr/>
        </p:nvSpPr>
        <p:spPr>
          <a:xfrm>
            <a:off x="8558784" y="1907062"/>
            <a:ext cx="1241952" cy="119948"/>
          </a:xfrm>
          <a:prstGeom prst="rect">
            <a:avLst/>
          </a:prstGeom>
          <a:solidFill>
            <a:srgbClr val="C2352F"/>
          </a:solidFill>
          <a:ln/>
        </p:spPr>
      </p:sp>
      <p:sp>
        <p:nvSpPr>
          <p:cNvPr id="82" name="Text 80"/>
          <p:cNvSpPr txBox="1"/>
          <p:nvPr/>
        </p:nvSpPr>
        <p:spPr>
          <a:xfrm>
            <a:off x="10305288" y="1847088"/>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76.4%</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85" name="Shape 83"/>
          <p:cNvSpPr/>
          <p:nvPr/>
        </p:nvSpPr>
        <p:spPr>
          <a:xfrm>
            <a:off x="8558784" y="2146957"/>
            <a:ext cx="1223403" cy="119948"/>
          </a:xfrm>
          <a:prstGeom prst="rect">
            <a:avLst/>
          </a:prstGeom>
          <a:solidFill>
            <a:srgbClr val="C2352F"/>
          </a:solidFill>
          <a:ln/>
        </p:spPr>
      </p:sp>
      <p:sp>
        <p:nvSpPr>
          <p:cNvPr id="86" name="Text 84"/>
          <p:cNvSpPr txBox="1"/>
          <p:nvPr/>
        </p:nvSpPr>
        <p:spPr>
          <a:xfrm>
            <a:off x="10305288" y="2086984"/>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76.0%</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89" name="Shape 87"/>
          <p:cNvSpPr/>
          <p:nvPr/>
        </p:nvSpPr>
        <p:spPr>
          <a:xfrm>
            <a:off x="8558784" y="2386853"/>
            <a:ext cx="1215016" cy="119948"/>
          </a:xfrm>
          <a:prstGeom prst="rect">
            <a:avLst/>
          </a:prstGeom>
          <a:solidFill>
            <a:srgbClr val="C2352F"/>
          </a:solidFill>
          <a:ln/>
        </p:spPr>
      </p:sp>
      <p:sp>
        <p:nvSpPr>
          <p:cNvPr id="90" name="Text 88"/>
          <p:cNvSpPr txBox="1"/>
          <p:nvPr/>
        </p:nvSpPr>
        <p:spPr>
          <a:xfrm>
            <a:off x="10305288" y="2326879"/>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75.8%</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93" name="Shape 91"/>
          <p:cNvSpPr/>
          <p:nvPr/>
        </p:nvSpPr>
        <p:spPr>
          <a:xfrm>
            <a:off x="8558784" y="2626748"/>
            <a:ext cx="1209791" cy="119948"/>
          </a:xfrm>
          <a:prstGeom prst="rect">
            <a:avLst/>
          </a:prstGeom>
          <a:solidFill>
            <a:srgbClr val="C2352F"/>
          </a:solidFill>
          <a:ln/>
        </p:spPr>
      </p:sp>
      <p:sp>
        <p:nvSpPr>
          <p:cNvPr id="94" name="Text 92"/>
          <p:cNvSpPr txBox="1"/>
          <p:nvPr/>
        </p:nvSpPr>
        <p:spPr>
          <a:xfrm>
            <a:off x="10305288" y="2566775"/>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75.7%</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97" name="Shape 95"/>
          <p:cNvSpPr/>
          <p:nvPr/>
        </p:nvSpPr>
        <p:spPr>
          <a:xfrm>
            <a:off x="8558784" y="2866644"/>
            <a:ext cx="1201696" cy="119948"/>
          </a:xfrm>
          <a:prstGeom prst="rect">
            <a:avLst/>
          </a:prstGeom>
          <a:solidFill>
            <a:srgbClr val="C2352F"/>
          </a:solidFill>
          <a:ln/>
        </p:spPr>
      </p:sp>
      <p:sp>
        <p:nvSpPr>
          <p:cNvPr id="98" name="Text 96"/>
          <p:cNvSpPr txBox="1"/>
          <p:nvPr/>
        </p:nvSpPr>
        <p:spPr>
          <a:xfrm>
            <a:off x="10305288" y="2806670"/>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75.5%</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101" name="Shape 99"/>
          <p:cNvSpPr/>
          <p:nvPr/>
        </p:nvSpPr>
        <p:spPr>
          <a:xfrm>
            <a:off x="8558784" y="3106540"/>
            <a:ext cx="1189467" cy="119948"/>
          </a:xfrm>
          <a:prstGeom prst="rect">
            <a:avLst/>
          </a:prstGeom>
          <a:solidFill>
            <a:srgbClr val="C2352F"/>
          </a:solidFill>
          <a:ln/>
        </p:spPr>
      </p:sp>
      <p:sp>
        <p:nvSpPr>
          <p:cNvPr id="102" name="Text 100"/>
          <p:cNvSpPr txBox="1"/>
          <p:nvPr/>
        </p:nvSpPr>
        <p:spPr>
          <a:xfrm>
            <a:off x="10305288" y="3046566"/>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75.2%</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105" name="Shape 103"/>
          <p:cNvSpPr/>
          <p:nvPr/>
        </p:nvSpPr>
        <p:spPr>
          <a:xfrm>
            <a:off x="8558784" y="3346435"/>
            <a:ext cx="1139224" cy="119948"/>
          </a:xfrm>
          <a:prstGeom prst="rect">
            <a:avLst/>
          </a:prstGeom>
          <a:solidFill>
            <a:srgbClr val="C2352F"/>
          </a:solidFill>
          <a:ln/>
        </p:spPr>
      </p:sp>
      <p:sp>
        <p:nvSpPr>
          <p:cNvPr id="106" name="Text 104"/>
          <p:cNvSpPr txBox="1"/>
          <p:nvPr/>
        </p:nvSpPr>
        <p:spPr>
          <a:xfrm>
            <a:off x="10305288" y="328646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74.2%</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109" name="Shape 107"/>
          <p:cNvSpPr/>
          <p:nvPr/>
        </p:nvSpPr>
        <p:spPr>
          <a:xfrm>
            <a:off x="8558784" y="3586331"/>
            <a:ext cx="1119486" cy="119948"/>
          </a:xfrm>
          <a:prstGeom prst="rect">
            <a:avLst/>
          </a:prstGeom>
          <a:solidFill>
            <a:srgbClr val="C2352F"/>
          </a:solidFill>
          <a:ln/>
        </p:spPr>
      </p:sp>
      <p:sp>
        <p:nvSpPr>
          <p:cNvPr id="110" name="Text 108"/>
          <p:cNvSpPr txBox="1"/>
          <p:nvPr/>
        </p:nvSpPr>
        <p:spPr>
          <a:xfrm>
            <a:off x="10305288" y="3526357"/>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73.8%</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13" name="Shape 111"/>
          <p:cNvSpPr/>
          <p:nvPr/>
        </p:nvSpPr>
        <p:spPr>
          <a:xfrm>
            <a:off x="8558784" y="3826226"/>
            <a:ext cx="1061761" cy="119948"/>
          </a:xfrm>
          <a:prstGeom prst="rect">
            <a:avLst/>
          </a:prstGeom>
          <a:solidFill>
            <a:srgbClr val="C2352F"/>
          </a:solidFill>
          <a:ln/>
        </p:spPr>
      </p:sp>
      <p:sp>
        <p:nvSpPr>
          <p:cNvPr id="114" name="Text 112"/>
          <p:cNvSpPr txBox="1"/>
          <p:nvPr/>
        </p:nvSpPr>
        <p:spPr>
          <a:xfrm>
            <a:off x="10305288" y="3766252"/>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72.5%</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17" name="Shape 115"/>
          <p:cNvSpPr/>
          <p:nvPr/>
        </p:nvSpPr>
        <p:spPr>
          <a:xfrm>
            <a:off x="8558784" y="4066122"/>
            <a:ext cx="1054105" cy="119948"/>
          </a:xfrm>
          <a:prstGeom prst="rect">
            <a:avLst/>
          </a:prstGeom>
          <a:solidFill>
            <a:srgbClr val="C2352F"/>
          </a:solidFill>
          <a:ln/>
        </p:spPr>
      </p:sp>
      <p:sp>
        <p:nvSpPr>
          <p:cNvPr id="118" name="Text 116"/>
          <p:cNvSpPr txBox="1"/>
          <p:nvPr/>
        </p:nvSpPr>
        <p:spPr>
          <a:xfrm>
            <a:off x="10305288" y="4006148"/>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72.4%</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121" name="Shape 119"/>
          <p:cNvSpPr/>
          <p:nvPr/>
        </p:nvSpPr>
        <p:spPr>
          <a:xfrm>
            <a:off x="8558784" y="4306017"/>
            <a:ext cx="1020574" cy="119948"/>
          </a:xfrm>
          <a:prstGeom prst="rect">
            <a:avLst/>
          </a:prstGeom>
          <a:solidFill>
            <a:srgbClr val="C2352F"/>
          </a:solidFill>
          <a:ln/>
        </p:spPr>
      </p:sp>
      <p:sp>
        <p:nvSpPr>
          <p:cNvPr id="122" name="Text 120"/>
          <p:cNvSpPr txBox="1"/>
          <p:nvPr/>
        </p:nvSpPr>
        <p:spPr>
          <a:xfrm>
            <a:off x="10305288" y="4246043"/>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71.7%</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125" name="Shape 123"/>
          <p:cNvSpPr/>
          <p:nvPr/>
        </p:nvSpPr>
        <p:spPr>
          <a:xfrm>
            <a:off x="8558784" y="4545913"/>
            <a:ext cx="951834" cy="119948"/>
          </a:xfrm>
          <a:prstGeom prst="rect">
            <a:avLst/>
          </a:prstGeom>
          <a:solidFill>
            <a:srgbClr val="C2352F"/>
          </a:solidFill>
          <a:ln/>
        </p:spPr>
      </p:sp>
      <p:sp>
        <p:nvSpPr>
          <p:cNvPr id="126" name="Text 124"/>
          <p:cNvSpPr txBox="1"/>
          <p:nvPr/>
        </p:nvSpPr>
        <p:spPr>
          <a:xfrm>
            <a:off x="10305288" y="4485939"/>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70.2%</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129" name="Shape 127"/>
          <p:cNvSpPr/>
          <p:nvPr/>
        </p:nvSpPr>
        <p:spPr>
          <a:xfrm>
            <a:off x="8558784" y="4785808"/>
            <a:ext cx="942987" cy="119948"/>
          </a:xfrm>
          <a:prstGeom prst="rect">
            <a:avLst/>
          </a:prstGeom>
          <a:solidFill>
            <a:srgbClr val="C2352F"/>
          </a:solidFill>
          <a:ln/>
        </p:spPr>
      </p:sp>
      <p:sp>
        <p:nvSpPr>
          <p:cNvPr id="130" name="Text 128"/>
          <p:cNvSpPr txBox="1"/>
          <p:nvPr/>
        </p:nvSpPr>
        <p:spPr>
          <a:xfrm>
            <a:off x="10305288" y="4725834"/>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70.0%</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33" name="Shape 131"/>
          <p:cNvSpPr/>
          <p:nvPr/>
        </p:nvSpPr>
        <p:spPr>
          <a:xfrm>
            <a:off x="8558784" y="5025704"/>
            <a:ext cx="887722" cy="119948"/>
          </a:xfrm>
          <a:prstGeom prst="rect">
            <a:avLst/>
          </a:prstGeom>
          <a:solidFill>
            <a:srgbClr val="C2352F"/>
          </a:solidFill>
          <a:ln/>
        </p:spPr>
      </p:sp>
      <p:sp>
        <p:nvSpPr>
          <p:cNvPr id="134" name="Text 132"/>
          <p:cNvSpPr txBox="1"/>
          <p:nvPr/>
        </p:nvSpPr>
        <p:spPr>
          <a:xfrm>
            <a:off x="10305288" y="4965730"/>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68.8%</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137" name="Shape 135"/>
          <p:cNvSpPr/>
          <p:nvPr/>
        </p:nvSpPr>
        <p:spPr>
          <a:xfrm>
            <a:off x="8558784" y="5265599"/>
            <a:ext cx="837155" cy="119948"/>
          </a:xfrm>
          <a:prstGeom prst="rect">
            <a:avLst/>
          </a:prstGeom>
          <a:solidFill>
            <a:srgbClr val="C2352F"/>
          </a:solidFill>
          <a:ln/>
        </p:spPr>
      </p:sp>
      <p:sp>
        <p:nvSpPr>
          <p:cNvPr id="138" name="Text 136"/>
          <p:cNvSpPr txBox="1"/>
          <p:nvPr/>
        </p:nvSpPr>
        <p:spPr>
          <a:xfrm>
            <a:off x="10305288" y="5205625"/>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67.8%</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41" name="Shape 139"/>
          <p:cNvSpPr/>
          <p:nvPr/>
        </p:nvSpPr>
        <p:spPr>
          <a:xfrm>
            <a:off x="8558784" y="5505495"/>
            <a:ext cx="414285" cy="119948"/>
          </a:xfrm>
          <a:prstGeom prst="rect">
            <a:avLst/>
          </a:prstGeom>
          <a:solidFill>
            <a:srgbClr val="C2352F"/>
          </a:solidFill>
          <a:ln/>
        </p:spPr>
      </p:sp>
      <p:sp>
        <p:nvSpPr>
          <p:cNvPr id="142" name="Text 140"/>
          <p:cNvSpPr txBox="1"/>
          <p:nvPr/>
        </p:nvSpPr>
        <p:spPr>
          <a:xfrm>
            <a:off x="10305288" y="544552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58.8%</a:t>
            </a:r>
            <a:endParaRPr lang="en-US" sz="1200" dirty="0"/>
          </a:p>
        </p:txBody>
      </p:sp>
      <p:sp>
        <p:nvSpPr>
          <p:cNvPr id="143" name="Shape 141"/>
          <p:cNvSpPr/>
          <p:nvPr/>
        </p:nvSpPr>
        <p:spPr>
          <a:xfrm>
            <a:off x="4326190" y="1847088"/>
            <a:ext cx="14630" cy="4078224"/>
          </a:xfrm>
          <a:prstGeom prst="rect">
            <a:avLst/>
          </a:prstGeom>
          <a:solidFill>
            <a:srgbClr val="0B2C4A"/>
          </a:solidFill>
          <a:ln/>
        </p:spPr>
      </p:sp>
      <p:sp>
        <p:nvSpPr>
          <p:cNvPr id="144" name="Shape 142"/>
          <p:cNvSpPr/>
          <p:nvPr/>
        </p:nvSpPr>
        <p:spPr>
          <a:xfrm>
            <a:off x="9876598" y="1847088"/>
            <a:ext cx="14630" cy="4078224"/>
          </a:xfrm>
          <a:prstGeom prst="rect">
            <a:avLst/>
          </a:prstGeom>
          <a:solidFill>
            <a:srgbClr val="0B2C4A"/>
          </a:solidFill>
          <a:ln/>
        </p:spPr>
      </p:sp>
      <p:sp>
        <p:nvSpPr>
          <p:cNvPr id="145" name="Shape 143"/>
          <p:cNvSpPr/>
          <p:nvPr/>
        </p:nvSpPr>
        <p:spPr>
          <a:xfrm>
            <a:off x="6085332" y="1847088"/>
            <a:ext cx="10973" cy="4078224"/>
          </a:xfrm>
          <a:prstGeom prst="rect">
            <a:avLst/>
          </a:prstGeom>
          <a:solidFill>
            <a:srgbClr val="D9D9D9"/>
          </a:solidFill>
          <a:ln/>
        </p:spPr>
      </p:sp>
      <p:sp>
        <p:nvSpPr>
          <p:cNvPr id="146" name="Shape 144"/>
          <p:cNvSpPr/>
          <p:nvPr/>
        </p:nvSpPr>
        <p:spPr>
          <a:xfrm>
            <a:off x="457200" y="6126480"/>
            <a:ext cx="11274552" cy="348996"/>
          </a:xfrm>
          <a:prstGeom prst="rect">
            <a:avLst/>
          </a:prstGeom>
          <a:solidFill>
            <a:srgbClr val="EDF4FA"/>
          </a:solidFill>
          <a:ln/>
        </p:spPr>
      </p:sp>
      <p:sp>
        <p:nvSpPr>
          <p:cNvPr id="147" name="Text 145"/>
          <p:cNvSpPr txBox="1"/>
          <p:nvPr/>
        </p:nvSpPr>
        <p:spPr>
          <a:xfrm>
            <a:off x="658368" y="6144768"/>
            <a:ext cx="10927080" cy="312420"/>
          </a:xfrm>
          <a:prstGeom prst="rect">
            <a:avLst/>
          </a:prstGeom>
          <a:noFill/>
          <a:ln/>
        </p:spPr>
        <p:txBody>
          <a:bodyPr wrap="square" lIns="0" tIns="0" rIns="0" bIns="0" rtlCol="0" anchor="ctr"/>
          <a:lstStyle/>
          <a:p>
            <a:pPr indent="0" marL="0">
              <a:buNone/>
            </a:pPr>
            <a:r>
              <a:rPr lang="en-US" sz="1450" b="1" dirty="0">
                <a:solidFill>
                  <a:srgbClr val="0B2C4A"/>
                </a:solidFill>
                <a:latin typeface="Inter" pitchFamily="34" charset="0"/>
                <a:ea typeface="Inter" pitchFamily="34" charset="-122"/>
                <a:cs typeface="Inter" pitchFamily="34" charset="-120"/>
              </a:rPr>
              <a:t>16 of 33 stores at or above the 78.1% group, led by Honda Henderson at 85.9%. Audi Reno is lowest at 58.8%.</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INTERNAL</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Internal Labor Gross Profit %</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356235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INTERNAL LABOR GROSS PROFIT %</a:t>
            </a:r>
            <a:endParaRPr lang="en-US" sz="1500" dirty="0"/>
          </a:p>
        </p:txBody>
      </p:sp>
      <p:sp>
        <p:nvSpPr>
          <p:cNvPr id="9" name="Text 7"/>
          <p:cNvSpPr txBox="1"/>
          <p:nvPr/>
        </p:nvSpPr>
        <p:spPr>
          <a:xfrm>
            <a:off x="4476750" y="1335024"/>
            <a:ext cx="356997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YEAR-OVER-YEAR CHANGE</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7A4A"/>
                </a:solidFill>
                <a:latin typeface="Inter" pitchFamily="34" charset="0"/>
                <a:ea typeface="Inter" pitchFamily="34" charset="-122"/>
                <a:cs typeface="Inter" pitchFamily="34" charset="-120"/>
              </a:rPr>
              <a:t>+0.3 pts</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3" name="Shape 11"/>
          <p:cNvSpPr/>
          <p:nvPr/>
        </p:nvSpPr>
        <p:spPr>
          <a:xfrm>
            <a:off x="3785616" y="1911860"/>
            <a:ext cx="495495" cy="110352"/>
          </a:xfrm>
          <a:prstGeom prst="rect">
            <a:avLst/>
          </a:prstGeom>
          <a:solidFill>
            <a:srgbClr val="12A566"/>
          </a:solidFill>
          <a:ln/>
        </p:spPr>
      </p:sp>
      <p:sp>
        <p:nvSpPr>
          <p:cNvPr id="14" name="Text 12"/>
          <p:cNvSpPr txBox="1"/>
          <p:nvPr/>
        </p:nvSpPr>
        <p:spPr>
          <a:xfrm>
            <a:off x="4617720" y="184708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+5.6 pts</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17" name="Shape 15"/>
          <p:cNvSpPr/>
          <p:nvPr/>
        </p:nvSpPr>
        <p:spPr>
          <a:xfrm>
            <a:off x="3785616" y="2151755"/>
            <a:ext cx="322622" cy="110352"/>
          </a:xfrm>
          <a:prstGeom prst="rect">
            <a:avLst/>
          </a:prstGeom>
          <a:solidFill>
            <a:srgbClr val="12A566"/>
          </a:solidFill>
          <a:ln/>
        </p:spPr>
      </p:sp>
      <p:sp>
        <p:nvSpPr>
          <p:cNvPr id="18" name="Text 16"/>
          <p:cNvSpPr txBox="1"/>
          <p:nvPr/>
        </p:nvSpPr>
        <p:spPr>
          <a:xfrm>
            <a:off x="4617720" y="208698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+3.7 pts</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21" name="Shape 19"/>
          <p:cNvSpPr/>
          <p:nvPr/>
        </p:nvSpPr>
        <p:spPr>
          <a:xfrm>
            <a:off x="3785616" y="2391651"/>
            <a:ext cx="303335" cy="110352"/>
          </a:xfrm>
          <a:prstGeom prst="rect">
            <a:avLst/>
          </a:prstGeom>
          <a:solidFill>
            <a:srgbClr val="12A566"/>
          </a:solidFill>
          <a:ln/>
        </p:spPr>
      </p:sp>
      <p:sp>
        <p:nvSpPr>
          <p:cNvPr id="22" name="Text 20"/>
          <p:cNvSpPr txBox="1"/>
          <p:nvPr/>
        </p:nvSpPr>
        <p:spPr>
          <a:xfrm>
            <a:off x="4617720" y="232687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+3.4 pts</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25" name="Shape 23"/>
          <p:cNvSpPr/>
          <p:nvPr/>
        </p:nvSpPr>
        <p:spPr>
          <a:xfrm>
            <a:off x="3785616" y="2631546"/>
            <a:ext cx="263778" cy="110352"/>
          </a:xfrm>
          <a:prstGeom prst="rect">
            <a:avLst/>
          </a:prstGeom>
          <a:solidFill>
            <a:srgbClr val="12A566"/>
          </a:solidFill>
          <a:ln/>
        </p:spPr>
      </p:sp>
      <p:sp>
        <p:nvSpPr>
          <p:cNvPr id="26" name="Text 24"/>
          <p:cNvSpPr txBox="1"/>
          <p:nvPr/>
        </p:nvSpPr>
        <p:spPr>
          <a:xfrm>
            <a:off x="4617720" y="256677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+3.0 pts</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29" name="Shape 27"/>
          <p:cNvSpPr/>
          <p:nvPr/>
        </p:nvSpPr>
        <p:spPr>
          <a:xfrm>
            <a:off x="3785616" y="2871442"/>
            <a:ext cx="214318" cy="110352"/>
          </a:xfrm>
          <a:prstGeom prst="rect">
            <a:avLst/>
          </a:prstGeom>
          <a:solidFill>
            <a:srgbClr val="12A566"/>
          </a:solidFill>
          <a:ln/>
        </p:spPr>
      </p:sp>
      <p:sp>
        <p:nvSpPr>
          <p:cNvPr id="30" name="Text 28"/>
          <p:cNvSpPr txBox="1"/>
          <p:nvPr/>
        </p:nvSpPr>
        <p:spPr>
          <a:xfrm>
            <a:off x="4617720" y="280667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+2.4 pts</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33" name="Shape 31"/>
          <p:cNvSpPr/>
          <p:nvPr/>
        </p:nvSpPr>
        <p:spPr>
          <a:xfrm>
            <a:off x="3785616" y="3111337"/>
            <a:ext cx="192096" cy="110352"/>
          </a:xfrm>
          <a:prstGeom prst="rect">
            <a:avLst/>
          </a:prstGeom>
          <a:solidFill>
            <a:srgbClr val="12A566"/>
          </a:solidFill>
          <a:ln/>
        </p:spPr>
      </p:sp>
      <p:sp>
        <p:nvSpPr>
          <p:cNvPr id="34" name="Text 32"/>
          <p:cNvSpPr txBox="1"/>
          <p:nvPr/>
        </p:nvSpPr>
        <p:spPr>
          <a:xfrm>
            <a:off x="4617720" y="3046566"/>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+2.2 pts</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37" name="Shape 35"/>
          <p:cNvSpPr/>
          <p:nvPr/>
        </p:nvSpPr>
        <p:spPr>
          <a:xfrm>
            <a:off x="3785616" y="3351233"/>
            <a:ext cx="188815" cy="110352"/>
          </a:xfrm>
          <a:prstGeom prst="rect">
            <a:avLst/>
          </a:prstGeom>
          <a:solidFill>
            <a:srgbClr val="12A566"/>
          </a:solidFill>
          <a:ln/>
        </p:spPr>
      </p:sp>
      <p:sp>
        <p:nvSpPr>
          <p:cNvPr id="38" name="Text 36"/>
          <p:cNvSpPr txBox="1"/>
          <p:nvPr/>
        </p:nvSpPr>
        <p:spPr>
          <a:xfrm>
            <a:off x="4617720" y="3286461"/>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+2.1 pts</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41" name="Shape 39"/>
          <p:cNvSpPr/>
          <p:nvPr/>
        </p:nvSpPr>
        <p:spPr>
          <a:xfrm>
            <a:off x="3785616" y="3591128"/>
            <a:ext cx="160577" cy="110352"/>
          </a:xfrm>
          <a:prstGeom prst="rect">
            <a:avLst/>
          </a:prstGeom>
          <a:solidFill>
            <a:srgbClr val="12A566"/>
          </a:solidFill>
          <a:ln/>
        </p:spPr>
      </p:sp>
      <p:sp>
        <p:nvSpPr>
          <p:cNvPr id="42" name="Text 40"/>
          <p:cNvSpPr txBox="1"/>
          <p:nvPr/>
        </p:nvSpPr>
        <p:spPr>
          <a:xfrm>
            <a:off x="4617720" y="3526357"/>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+1.8 pts</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45" name="Shape 43"/>
          <p:cNvSpPr/>
          <p:nvPr/>
        </p:nvSpPr>
        <p:spPr>
          <a:xfrm>
            <a:off x="3785616" y="3831024"/>
            <a:ext cx="142780" cy="110352"/>
          </a:xfrm>
          <a:prstGeom prst="rect">
            <a:avLst/>
          </a:prstGeom>
          <a:solidFill>
            <a:srgbClr val="12A566"/>
          </a:solidFill>
          <a:ln/>
        </p:spPr>
      </p:sp>
      <p:sp>
        <p:nvSpPr>
          <p:cNvPr id="46" name="Text 44"/>
          <p:cNvSpPr txBox="1"/>
          <p:nvPr/>
        </p:nvSpPr>
        <p:spPr>
          <a:xfrm>
            <a:off x="4617720" y="3766252"/>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+1.6 pts</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49" name="Shape 47"/>
          <p:cNvSpPr/>
          <p:nvPr/>
        </p:nvSpPr>
        <p:spPr>
          <a:xfrm>
            <a:off x="3785616" y="4070920"/>
            <a:ext cx="132169" cy="110352"/>
          </a:xfrm>
          <a:prstGeom prst="rect">
            <a:avLst/>
          </a:prstGeom>
          <a:solidFill>
            <a:srgbClr val="12A566"/>
          </a:solidFill>
          <a:ln/>
        </p:spPr>
      </p:sp>
      <p:sp>
        <p:nvSpPr>
          <p:cNvPr id="50" name="Text 48"/>
          <p:cNvSpPr txBox="1"/>
          <p:nvPr/>
        </p:nvSpPr>
        <p:spPr>
          <a:xfrm>
            <a:off x="4617720" y="400614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+1.5 pts</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53" name="Shape 51"/>
          <p:cNvSpPr/>
          <p:nvPr/>
        </p:nvSpPr>
        <p:spPr>
          <a:xfrm>
            <a:off x="3785616" y="4310815"/>
            <a:ext cx="131489" cy="110352"/>
          </a:xfrm>
          <a:prstGeom prst="rect">
            <a:avLst/>
          </a:prstGeom>
          <a:solidFill>
            <a:srgbClr val="12A566"/>
          </a:solidFill>
          <a:ln/>
        </p:spPr>
      </p:sp>
      <p:sp>
        <p:nvSpPr>
          <p:cNvPr id="54" name="Text 52"/>
          <p:cNvSpPr txBox="1"/>
          <p:nvPr/>
        </p:nvSpPr>
        <p:spPr>
          <a:xfrm>
            <a:off x="4617720" y="4246043"/>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+1.5 pts</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57" name="Shape 55"/>
          <p:cNvSpPr/>
          <p:nvPr/>
        </p:nvSpPr>
        <p:spPr>
          <a:xfrm>
            <a:off x="3785616" y="4550711"/>
            <a:ext cx="117300" cy="110352"/>
          </a:xfrm>
          <a:prstGeom prst="rect">
            <a:avLst/>
          </a:prstGeom>
          <a:solidFill>
            <a:srgbClr val="12A566"/>
          </a:solidFill>
          <a:ln/>
        </p:spPr>
      </p:sp>
      <p:sp>
        <p:nvSpPr>
          <p:cNvPr id="58" name="Text 56"/>
          <p:cNvSpPr txBox="1"/>
          <p:nvPr/>
        </p:nvSpPr>
        <p:spPr>
          <a:xfrm>
            <a:off x="4617720" y="448593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+1.3 pts</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61" name="Shape 59"/>
          <p:cNvSpPr/>
          <p:nvPr/>
        </p:nvSpPr>
        <p:spPr>
          <a:xfrm>
            <a:off x="3785616" y="4790606"/>
            <a:ext cx="95080" cy="110352"/>
          </a:xfrm>
          <a:prstGeom prst="rect">
            <a:avLst/>
          </a:prstGeom>
          <a:solidFill>
            <a:srgbClr val="12A566"/>
          </a:solidFill>
          <a:ln/>
        </p:spPr>
      </p:sp>
      <p:sp>
        <p:nvSpPr>
          <p:cNvPr id="62" name="Text 60"/>
          <p:cNvSpPr txBox="1"/>
          <p:nvPr/>
        </p:nvSpPr>
        <p:spPr>
          <a:xfrm>
            <a:off x="4617720" y="472583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+1.1 pts</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65" name="Shape 63"/>
          <p:cNvSpPr/>
          <p:nvPr/>
        </p:nvSpPr>
        <p:spPr>
          <a:xfrm>
            <a:off x="3785616" y="5030502"/>
            <a:ext cx="68825" cy="110352"/>
          </a:xfrm>
          <a:prstGeom prst="rect">
            <a:avLst/>
          </a:prstGeom>
          <a:solidFill>
            <a:srgbClr val="12A566"/>
          </a:solidFill>
          <a:ln/>
        </p:spPr>
      </p:sp>
      <p:sp>
        <p:nvSpPr>
          <p:cNvPr id="66" name="Text 64"/>
          <p:cNvSpPr txBox="1"/>
          <p:nvPr/>
        </p:nvSpPr>
        <p:spPr>
          <a:xfrm>
            <a:off x="4617720" y="496573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+0.8 pts</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69" name="Shape 67"/>
          <p:cNvSpPr/>
          <p:nvPr/>
        </p:nvSpPr>
        <p:spPr>
          <a:xfrm>
            <a:off x="3785616" y="5270397"/>
            <a:ext cx="36133" cy="110352"/>
          </a:xfrm>
          <a:prstGeom prst="rect">
            <a:avLst/>
          </a:prstGeom>
          <a:solidFill>
            <a:srgbClr val="12A566"/>
          </a:solidFill>
          <a:ln/>
        </p:spPr>
      </p:sp>
      <p:sp>
        <p:nvSpPr>
          <p:cNvPr id="70" name="Text 68"/>
          <p:cNvSpPr txBox="1"/>
          <p:nvPr/>
        </p:nvSpPr>
        <p:spPr>
          <a:xfrm>
            <a:off x="4617720" y="520562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+0.4 pts</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73" name="Shape 71"/>
          <p:cNvSpPr/>
          <p:nvPr/>
        </p:nvSpPr>
        <p:spPr>
          <a:xfrm>
            <a:off x="3785616" y="5510293"/>
            <a:ext cx="34356" cy="110352"/>
          </a:xfrm>
          <a:prstGeom prst="rect">
            <a:avLst/>
          </a:prstGeom>
          <a:solidFill>
            <a:srgbClr val="12A566"/>
          </a:solidFill>
          <a:ln/>
        </p:spPr>
      </p:sp>
      <p:sp>
        <p:nvSpPr>
          <p:cNvPr id="74" name="Text 72"/>
          <p:cNvSpPr txBox="1"/>
          <p:nvPr/>
        </p:nvSpPr>
        <p:spPr>
          <a:xfrm>
            <a:off x="4617720" y="5445521"/>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+0.4 pts</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77" name="Shape 75"/>
          <p:cNvSpPr/>
          <p:nvPr/>
        </p:nvSpPr>
        <p:spPr>
          <a:xfrm>
            <a:off x="3785616" y="5750188"/>
            <a:ext cx="26542" cy="110352"/>
          </a:xfrm>
          <a:prstGeom prst="rect">
            <a:avLst/>
          </a:prstGeom>
          <a:solidFill>
            <a:srgbClr val="12A566"/>
          </a:solidFill>
          <a:ln/>
        </p:spPr>
      </p:sp>
      <p:sp>
        <p:nvSpPr>
          <p:cNvPr id="78" name="Text 76"/>
          <p:cNvSpPr txBox="1"/>
          <p:nvPr/>
        </p:nvSpPr>
        <p:spPr>
          <a:xfrm>
            <a:off x="4617720" y="5685416"/>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+0.3 pts</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81" name="Shape 79"/>
          <p:cNvSpPr/>
          <p:nvPr/>
        </p:nvSpPr>
        <p:spPr>
          <a:xfrm>
            <a:off x="9336024" y="1911860"/>
            <a:ext cx="12802" cy="110352"/>
          </a:xfrm>
          <a:prstGeom prst="rect">
            <a:avLst/>
          </a:prstGeom>
          <a:solidFill>
            <a:srgbClr val="12A566"/>
          </a:solidFill>
          <a:ln/>
        </p:spPr>
      </p:sp>
      <p:sp>
        <p:nvSpPr>
          <p:cNvPr id="82" name="Text 80"/>
          <p:cNvSpPr txBox="1"/>
          <p:nvPr/>
        </p:nvSpPr>
        <p:spPr>
          <a:xfrm>
            <a:off x="10168128" y="184708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+0.1 pts</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85" name="Shape 83"/>
          <p:cNvSpPr/>
          <p:nvPr/>
        </p:nvSpPr>
        <p:spPr>
          <a:xfrm>
            <a:off x="9336024" y="2151755"/>
            <a:ext cx="12802" cy="110352"/>
          </a:xfrm>
          <a:prstGeom prst="rect">
            <a:avLst/>
          </a:prstGeom>
          <a:solidFill>
            <a:srgbClr val="12A566"/>
          </a:solidFill>
          <a:ln/>
        </p:spPr>
      </p:sp>
      <p:sp>
        <p:nvSpPr>
          <p:cNvPr id="86" name="Text 84"/>
          <p:cNvSpPr txBox="1"/>
          <p:nvPr/>
        </p:nvSpPr>
        <p:spPr>
          <a:xfrm>
            <a:off x="10168128" y="208698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+0.0 pts</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89" name="Shape 87"/>
          <p:cNvSpPr/>
          <p:nvPr/>
        </p:nvSpPr>
        <p:spPr>
          <a:xfrm>
            <a:off x="9300490" y="2391651"/>
            <a:ext cx="35534" cy="110352"/>
          </a:xfrm>
          <a:prstGeom prst="rect">
            <a:avLst/>
          </a:prstGeom>
          <a:solidFill>
            <a:srgbClr val="C2352F"/>
          </a:solidFill>
          <a:ln/>
        </p:spPr>
      </p:sp>
      <p:sp>
        <p:nvSpPr>
          <p:cNvPr id="90" name="Text 88"/>
          <p:cNvSpPr txBox="1"/>
          <p:nvPr/>
        </p:nvSpPr>
        <p:spPr>
          <a:xfrm>
            <a:off x="10168128" y="2326879"/>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−0.4 pts</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93" name="Shape 91"/>
          <p:cNvSpPr/>
          <p:nvPr/>
        </p:nvSpPr>
        <p:spPr>
          <a:xfrm>
            <a:off x="9251253" y="2631546"/>
            <a:ext cx="84771" cy="110352"/>
          </a:xfrm>
          <a:prstGeom prst="rect">
            <a:avLst/>
          </a:prstGeom>
          <a:solidFill>
            <a:srgbClr val="C2352F"/>
          </a:solidFill>
          <a:ln/>
        </p:spPr>
      </p:sp>
      <p:sp>
        <p:nvSpPr>
          <p:cNvPr id="94" name="Text 92"/>
          <p:cNvSpPr txBox="1"/>
          <p:nvPr/>
        </p:nvSpPr>
        <p:spPr>
          <a:xfrm>
            <a:off x="10168128" y="2566775"/>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−1.0 pts</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97" name="Shape 95"/>
          <p:cNvSpPr/>
          <p:nvPr/>
        </p:nvSpPr>
        <p:spPr>
          <a:xfrm>
            <a:off x="9226020" y="2871442"/>
            <a:ext cx="110004" cy="110352"/>
          </a:xfrm>
          <a:prstGeom prst="rect">
            <a:avLst/>
          </a:prstGeom>
          <a:solidFill>
            <a:srgbClr val="C2352F"/>
          </a:solidFill>
          <a:ln/>
        </p:spPr>
      </p:sp>
      <p:sp>
        <p:nvSpPr>
          <p:cNvPr id="98" name="Text 96"/>
          <p:cNvSpPr txBox="1"/>
          <p:nvPr/>
        </p:nvSpPr>
        <p:spPr>
          <a:xfrm>
            <a:off x="10168128" y="2806670"/>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−1.3 pts</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101" name="Shape 99"/>
          <p:cNvSpPr/>
          <p:nvPr/>
        </p:nvSpPr>
        <p:spPr>
          <a:xfrm>
            <a:off x="9211478" y="3111337"/>
            <a:ext cx="124546" cy="110352"/>
          </a:xfrm>
          <a:prstGeom prst="rect">
            <a:avLst/>
          </a:prstGeom>
          <a:solidFill>
            <a:srgbClr val="C2352F"/>
          </a:solidFill>
          <a:ln/>
        </p:spPr>
      </p:sp>
      <p:sp>
        <p:nvSpPr>
          <p:cNvPr id="102" name="Text 100"/>
          <p:cNvSpPr txBox="1"/>
          <p:nvPr/>
        </p:nvSpPr>
        <p:spPr>
          <a:xfrm>
            <a:off x="10168128" y="3046566"/>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−1.4 pts</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05" name="Shape 103"/>
          <p:cNvSpPr/>
          <p:nvPr/>
        </p:nvSpPr>
        <p:spPr>
          <a:xfrm>
            <a:off x="9201170" y="3351233"/>
            <a:ext cx="134854" cy="110352"/>
          </a:xfrm>
          <a:prstGeom prst="rect">
            <a:avLst/>
          </a:prstGeom>
          <a:solidFill>
            <a:srgbClr val="C2352F"/>
          </a:solidFill>
          <a:ln/>
        </p:spPr>
      </p:sp>
      <p:sp>
        <p:nvSpPr>
          <p:cNvPr id="106" name="Text 104"/>
          <p:cNvSpPr txBox="1"/>
          <p:nvPr/>
        </p:nvSpPr>
        <p:spPr>
          <a:xfrm>
            <a:off x="10168128" y="3286461"/>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−1.5 pts</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09" name="Shape 107"/>
          <p:cNvSpPr/>
          <p:nvPr/>
        </p:nvSpPr>
        <p:spPr>
          <a:xfrm>
            <a:off x="9108753" y="3591128"/>
            <a:ext cx="227271" cy="110352"/>
          </a:xfrm>
          <a:prstGeom prst="rect">
            <a:avLst/>
          </a:prstGeom>
          <a:solidFill>
            <a:srgbClr val="C2352F"/>
          </a:solidFill>
          <a:ln/>
        </p:spPr>
      </p:sp>
      <p:sp>
        <p:nvSpPr>
          <p:cNvPr id="110" name="Text 108"/>
          <p:cNvSpPr txBox="1"/>
          <p:nvPr/>
        </p:nvSpPr>
        <p:spPr>
          <a:xfrm>
            <a:off x="10168128" y="3526357"/>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−2.6 pts</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113" name="Shape 111"/>
          <p:cNvSpPr/>
          <p:nvPr/>
        </p:nvSpPr>
        <p:spPr>
          <a:xfrm>
            <a:off x="9091564" y="3831024"/>
            <a:ext cx="244460" cy="110352"/>
          </a:xfrm>
          <a:prstGeom prst="rect">
            <a:avLst/>
          </a:prstGeom>
          <a:solidFill>
            <a:srgbClr val="C2352F"/>
          </a:solidFill>
          <a:ln/>
        </p:spPr>
      </p:sp>
      <p:sp>
        <p:nvSpPr>
          <p:cNvPr id="114" name="Text 112"/>
          <p:cNvSpPr txBox="1"/>
          <p:nvPr/>
        </p:nvSpPr>
        <p:spPr>
          <a:xfrm>
            <a:off x="10168128" y="3766252"/>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−2.8 pts</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17" name="Shape 115"/>
          <p:cNvSpPr/>
          <p:nvPr/>
        </p:nvSpPr>
        <p:spPr>
          <a:xfrm>
            <a:off x="9060005" y="4070920"/>
            <a:ext cx="276019" cy="110352"/>
          </a:xfrm>
          <a:prstGeom prst="rect">
            <a:avLst/>
          </a:prstGeom>
          <a:solidFill>
            <a:srgbClr val="C2352F"/>
          </a:solidFill>
          <a:ln/>
        </p:spPr>
      </p:sp>
      <p:sp>
        <p:nvSpPr>
          <p:cNvPr id="118" name="Text 116"/>
          <p:cNvSpPr txBox="1"/>
          <p:nvPr/>
        </p:nvSpPr>
        <p:spPr>
          <a:xfrm>
            <a:off x="10168128" y="4006148"/>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−3.1 pts</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121" name="Shape 119"/>
          <p:cNvSpPr/>
          <p:nvPr/>
        </p:nvSpPr>
        <p:spPr>
          <a:xfrm>
            <a:off x="9035101" y="4310815"/>
            <a:ext cx="300923" cy="110352"/>
          </a:xfrm>
          <a:prstGeom prst="rect">
            <a:avLst/>
          </a:prstGeom>
          <a:solidFill>
            <a:srgbClr val="C2352F"/>
          </a:solidFill>
          <a:ln/>
        </p:spPr>
      </p:sp>
      <p:sp>
        <p:nvSpPr>
          <p:cNvPr id="122" name="Text 120"/>
          <p:cNvSpPr txBox="1"/>
          <p:nvPr/>
        </p:nvSpPr>
        <p:spPr>
          <a:xfrm>
            <a:off x="10168128" y="4246043"/>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−3.4 pts</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25" name="Shape 123"/>
          <p:cNvSpPr/>
          <p:nvPr/>
        </p:nvSpPr>
        <p:spPr>
          <a:xfrm>
            <a:off x="8954892" y="4550711"/>
            <a:ext cx="381132" cy="110352"/>
          </a:xfrm>
          <a:prstGeom prst="rect">
            <a:avLst/>
          </a:prstGeom>
          <a:solidFill>
            <a:srgbClr val="C2352F"/>
          </a:solidFill>
          <a:ln/>
        </p:spPr>
      </p:sp>
      <p:sp>
        <p:nvSpPr>
          <p:cNvPr id="126" name="Text 124"/>
          <p:cNvSpPr txBox="1"/>
          <p:nvPr/>
        </p:nvSpPr>
        <p:spPr>
          <a:xfrm>
            <a:off x="10168128" y="4485939"/>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−4.3 pts</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129" name="Shape 127"/>
          <p:cNvSpPr/>
          <p:nvPr/>
        </p:nvSpPr>
        <p:spPr>
          <a:xfrm>
            <a:off x="8929245" y="4790606"/>
            <a:ext cx="406779" cy="110352"/>
          </a:xfrm>
          <a:prstGeom prst="rect">
            <a:avLst/>
          </a:prstGeom>
          <a:solidFill>
            <a:srgbClr val="C2352F"/>
          </a:solidFill>
          <a:ln/>
        </p:spPr>
      </p:sp>
      <p:sp>
        <p:nvSpPr>
          <p:cNvPr id="130" name="Text 128"/>
          <p:cNvSpPr txBox="1"/>
          <p:nvPr/>
        </p:nvSpPr>
        <p:spPr>
          <a:xfrm>
            <a:off x="10168128" y="4725834"/>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−4.6 pts</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133" name="Shape 131"/>
          <p:cNvSpPr/>
          <p:nvPr/>
        </p:nvSpPr>
        <p:spPr>
          <a:xfrm>
            <a:off x="8865948" y="5030502"/>
            <a:ext cx="470076" cy="110352"/>
          </a:xfrm>
          <a:prstGeom prst="rect">
            <a:avLst/>
          </a:prstGeom>
          <a:solidFill>
            <a:srgbClr val="C2352F"/>
          </a:solidFill>
          <a:ln/>
        </p:spPr>
      </p:sp>
      <p:sp>
        <p:nvSpPr>
          <p:cNvPr id="134" name="Text 132"/>
          <p:cNvSpPr txBox="1"/>
          <p:nvPr/>
        </p:nvSpPr>
        <p:spPr>
          <a:xfrm>
            <a:off x="10168128" y="4965730"/>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−5.3 pts</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137" name="Shape 135"/>
          <p:cNvSpPr/>
          <p:nvPr/>
        </p:nvSpPr>
        <p:spPr>
          <a:xfrm>
            <a:off x="8842326" y="5270397"/>
            <a:ext cx="493698" cy="110352"/>
          </a:xfrm>
          <a:prstGeom prst="rect">
            <a:avLst/>
          </a:prstGeom>
          <a:solidFill>
            <a:srgbClr val="C2352F"/>
          </a:solidFill>
          <a:ln/>
        </p:spPr>
      </p:sp>
      <p:sp>
        <p:nvSpPr>
          <p:cNvPr id="138" name="Text 136"/>
          <p:cNvSpPr txBox="1"/>
          <p:nvPr/>
        </p:nvSpPr>
        <p:spPr>
          <a:xfrm>
            <a:off x="10168128" y="5205625"/>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−5.6 pts</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141" name="Shape 139"/>
          <p:cNvSpPr/>
          <p:nvPr/>
        </p:nvSpPr>
        <p:spPr>
          <a:xfrm>
            <a:off x="8558784" y="5510293"/>
            <a:ext cx="777240" cy="110352"/>
          </a:xfrm>
          <a:prstGeom prst="rect">
            <a:avLst/>
          </a:prstGeom>
          <a:solidFill>
            <a:srgbClr val="C2352F"/>
          </a:solidFill>
          <a:ln/>
        </p:spPr>
      </p:sp>
      <p:sp>
        <p:nvSpPr>
          <p:cNvPr id="142" name="Text 140"/>
          <p:cNvSpPr txBox="1"/>
          <p:nvPr/>
        </p:nvSpPr>
        <p:spPr>
          <a:xfrm>
            <a:off x="10168128" y="5445521"/>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−8.8 pts</a:t>
            </a:r>
            <a:endParaRPr lang="en-US" sz="1200" dirty="0"/>
          </a:p>
        </p:txBody>
      </p:sp>
      <p:sp>
        <p:nvSpPr>
          <p:cNvPr id="143" name="Shape 141"/>
          <p:cNvSpPr/>
          <p:nvPr/>
        </p:nvSpPr>
        <p:spPr>
          <a:xfrm>
            <a:off x="3780130" y="1847088"/>
            <a:ext cx="10973" cy="4078224"/>
          </a:xfrm>
          <a:prstGeom prst="rect">
            <a:avLst/>
          </a:prstGeom>
          <a:solidFill>
            <a:srgbClr val="9AA3AD"/>
          </a:solidFill>
          <a:ln/>
        </p:spPr>
      </p:sp>
      <p:sp>
        <p:nvSpPr>
          <p:cNvPr id="144" name="Shape 142"/>
          <p:cNvSpPr/>
          <p:nvPr/>
        </p:nvSpPr>
        <p:spPr>
          <a:xfrm>
            <a:off x="9330538" y="1847088"/>
            <a:ext cx="10973" cy="4078224"/>
          </a:xfrm>
          <a:prstGeom prst="rect">
            <a:avLst/>
          </a:prstGeom>
          <a:solidFill>
            <a:srgbClr val="9AA3AD"/>
          </a:solidFill>
          <a:ln/>
        </p:spPr>
      </p:sp>
      <p:sp>
        <p:nvSpPr>
          <p:cNvPr id="145" name="Shape 143"/>
          <p:cNvSpPr/>
          <p:nvPr/>
        </p:nvSpPr>
        <p:spPr>
          <a:xfrm>
            <a:off x="6085332" y="1847088"/>
            <a:ext cx="10973" cy="4078224"/>
          </a:xfrm>
          <a:prstGeom prst="rect">
            <a:avLst/>
          </a:prstGeom>
          <a:solidFill>
            <a:srgbClr val="D9D9D9"/>
          </a:solidFill>
          <a:ln/>
        </p:spPr>
      </p:sp>
      <p:sp>
        <p:nvSpPr>
          <p:cNvPr id="146" name="Shape 144"/>
          <p:cNvSpPr/>
          <p:nvPr/>
        </p:nvSpPr>
        <p:spPr>
          <a:xfrm>
            <a:off x="457200" y="6126480"/>
            <a:ext cx="11274552" cy="615696"/>
          </a:xfrm>
          <a:prstGeom prst="rect">
            <a:avLst/>
          </a:prstGeom>
          <a:solidFill>
            <a:srgbClr val="E6F6EE"/>
          </a:solidFill>
          <a:ln/>
        </p:spPr>
      </p:sp>
      <p:sp>
        <p:nvSpPr>
          <p:cNvPr id="147" name="Text 145"/>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19 of 33 stores raised internal labor GP%, led by Acura at +5.6 pts to 77.2%. 14 declined; Nissan fell most at −8.8 pts.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INTERNAL</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Internal Labor Gross Profit %</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71600"/>
            <a:ext cx="3489960" cy="45720"/>
          </a:xfrm>
          <a:prstGeom prst="rect">
            <a:avLst/>
          </a:prstGeom>
          <a:solidFill>
            <a:srgbClr val="12A566"/>
          </a:solidFill>
          <a:ln/>
        </p:spPr>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2026 vs Jan–Sep 2025</a:t>
            </a:r>
            <a:endParaRPr lang="en-US" sz="1200" dirty="0"/>
          </a:p>
        </p:txBody>
      </p:sp>
      <p:sp>
        <p:nvSpPr>
          <p:cNvPr id="9" name="Shape 7"/>
          <p:cNvSpPr/>
          <p:nvPr/>
        </p:nvSpPr>
        <p:spPr>
          <a:xfrm>
            <a:off x="658368" y="2103120"/>
            <a:ext cx="3489960" cy="755294"/>
          </a:xfrm>
          <a:prstGeom prst="rect">
            <a:avLst/>
          </a:prstGeom>
          <a:solidFill>
            <a:srgbClr val="F7F7F7"/>
          </a:solidFill>
          <a:ln/>
        </p:spPr>
      </p:sp>
      <p:sp>
        <p:nvSpPr>
          <p:cNvPr id="10" name="Text 8"/>
          <p:cNvSpPr txBox="1"/>
          <p:nvPr/>
        </p:nvSpPr>
        <p:spPr>
          <a:xfrm>
            <a:off x="749808"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71.6%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77.2%</a:t>
            </a:r>
            <a:endParaRPr lang="en-US" sz="1400" dirty="0"/>
          </a:p>
        </p:txBody>
      </p:sp>
      <p:sp>
        <p:nvSpPr>
          <p:cNvPr id="12" name="Text 10"/>
          <p:cNvSpPr txBox="1"/>
          <p:nvPr/>
        </p:nvSpPr>
        <p:spPr>
          <a:xfrm>
            <a:off x="2941320" y="2103120"/>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+5.6 pts</a:t>
            </a:r>
            <a:endParaRPr lang="en-US" sz="1600" dirty="0"/>
          </a:p>
        </p:txBody>
      </p:sp>
      <p:sp>
        <p:nvSpPr>
          <p:cNvPr id="13" name="Text 11"/>
          <p:cNvSpPr txBox="1"/>
          <p:nvPr/>
        </p:nvSpPr>
        <p:spPr>
          <a:xfrm>
            <a:off x="749808"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4" name="Text 12"/>
          <p:cNvSpPr txBox="1"/>
          <p:nvPr/>
        </p:nvSpPr>
        <p:spPr>
          <a:xfrm>
            <a:off x="1097280"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76.1%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79.8%</a:t>
            </a:r>
            <a:endParaRPr lang="en-US" sz="1400" dirty="0"/>
          </a:p>
        </p:txBody>
      </p:sp>
      <p:sp>
        <p:nvSpPr>
          <p:cNvPr id="15" name="Text 13"/>
          <p:cNvSpPr txBox="1"/>
          <p:nvPr/>
        </p:nvSpPr>
        <p:spPr>
          <a:xfrm>
            <a:off x="2941320" y="2858414"/>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+3.7 pts</a:t>
            </a:r>
            <a:endParaRPr lang="en-US" sz="1600" dirty="0"/>
          </a:p>
        </p:txBody>
      </p:sp>
      <p:sp>
        <p:nvSpPr>
          <p:cNvPr id="16" name="Shape 14"/>
          <p:cNvSpPr/>
          <p:nvPr/>
        </p:nvSpPr>
        <p:spPr>
          <a:xfrm>
            <a:off x="658368" y="3613709"/>
            <a:ext cx="3489960" cy="755294"/>
          </a:xfrm>
          <a:prstGeom prst="rect">
            <a:avLst/>
          </a:prstGeom>
          <a:solidFill>
            <a:srgbClr val="F7F7F7"/>
          </a:solidFill>
          <a:ln/>
        </p:spPr>
      </p:sp>
      <p:sp>
        <p:nvSpPr>
          <p:cNvPr id="17" name="Text 15"/>
          <p:cNvSpPr txBox="1"/>
          <p:nvPr/>
        </p:nvSpPr>
        <p:spPr>
          <a:xfrm>
            <a:off x="749808"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8" name="Text 16"/>
          <p:cNvSpPr txBox="1"/>
          <p:nvPr/>
        </p:nvSpPr>
        <p:spPr>
          <a:xfrm>
            <a:off x="1097280"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78.8%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82.3%</a:t>
            </a:r>
            <a:endParaRPr lang="en-US" sz="1400" dirty="0"/>
          </a:p>
        </p:txBody>
      </p:sp>
      <p:sp>
        <p:nvSpPr>
          <p:cNvPr id="19" name="Text 17"/>
          <p:cNvSpPr txBox="1"/>
          <p:nvPr/>
        </p:nvSpPr>
        <p:spPr>
          <a:xfrm>
            <a:off x="2941320" y="3613709"/>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+3.4 pts</a:t>
            </a:r>
            <a:endParaRPr lang="en-US" sz="1600" dirty="0"/>
          </a:p>
        </p:txBody>
      </p:sp>
      <p:sp>
        <p:nvSpPr>
          <p:cNvPr id="20" name="Shape 18"/>
          <p:cNvSpPr/>
          <p:nvPr/>
        </p:nvSpPr>
        <p:spPr>
          <a:xfrm>
            <a:off x="4084320" y="4405579"/>
            <a:ext cx="64008" cy="682142"/>
          </a:xfrm>
          <a:prstGeom prst="rect">
            <a:avLst/>
          </a:prstGeom>
          <a:solidFill>
            <a:srgbClr val="12A566"/>
          </a:solidFill>
          <a:ln/>
        </p:spPr>
      </p:sp>
      <p:sp>
        <p:nvSpPr>
          <p:cNvPr id="21" name="Text 19"/>
          <p:cNvSpPr txBox="1"/>
          <p:nvPr/>
        </p:nvSpPr>
        <p:spPr>
          <a:xfrm>
            <a:off x="749808"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2" name="Text 20"/>
          <p:cNvSpPr txBox="1"/>
          <p:nvPr/>
        </p:nvSpPr>
        <p:spPr>
          <a:xfrm>
            <a:off x="1097280"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82.3%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85.3%</a:t>
            </a:r>
            <a:endParaRPr lang="en-US" sz="1400" dirty="0"/>
          </a:p>
        </p:txBody>
      </p:sp>
      <p:sp>
        <p:nvSpPr>
          <p:cNvPr id="23" name="Text 21"/>
          <p:cNvSpPr txBox="1"/>
          <p:nvPr/>
        </p:nvSpPr>
        <p:spPr>
          <a:xfrm>
            <a:off x="2941320" y="4369003"/>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+3.0 pts</a:t>
            </a:r>
            <a:endParaRPr lang="en-US" sz="1600" dirty="0"/>
          </a:p>
        </p:txBody>
      </p:sp>
      <p:sp>
        <p:nvSpPr>
          <p:cNvPr id="24" name="Shape 22"/>
          <p:cNvSpPr/>
          <p:nvPr/>
        </p:nvSpPr>
        <p:spPr>
          <a:xfrm>
            <a:off x="658368" y="5124298"/>
            <a:ext cx="3489960" cy="755294"/>
          </a:xfrm>
          <a:prstGeom prst="rect">
            <a:avLst/>
          </a:prstGeom>
          <a:solidFill>
            <a:srgbClr val="F7F7F7"/>
          </a:solidFill>
          <a:ln/>
        </p:spPr>
      </p:sp>
      <p:sp>
        <p:nvSpPr>
          <p:cNvPr id="25" name="Text 23"/>
          <p:cNvSpPr txBox="1"/>
          <p:nvPr/>
        </p:nvSpPr>
        <p:spPr>
          <a:xfrm>
            <a:off x="749808"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6" name="Text 24"/>
          <p:cNvSpPr txBox="1"/>
          <p:nvPr/>
        </p:nvSpPr>
        <p:spPr>
          <a:xfrm>
            <a:off x="1097280"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80.4%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82.8%</a:t>
            </a:r>
            <a:endParaRPr lang="en-US" sz="1400" dirty="0"/>
          </a:p>
        </p:txBody>
      </p:sp>
      <p:sp>
        <p:nvSpPr>
          <p:cNvPr id="27" name="Text 25"/>
          <p:cNvSpPr txBox="1"/>
          <p:nvPr/>
        </p:nvSpPr>
        <p:spPr>
          <a:xfrm>
            <a:off x="2941320" y="5124298"/>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+2.4 pts</a:t>
            </a:r>
            <a:endParaRPr lang="en-US" sz="1600" dirty="0"/>
          </a:p>
        </p:txBody>
      </p:sp>
      <p:sp>
        <p:nvSpPr>
          <p:cNvPr id="28" name="Shape 26"/>
          <p:cNvSpPr/>
          <p:nvPr/>
        </p:nvSpPr>
        <p:spPr>
          <a:xfrm>
            <a:off x="4349496" y="1371600"/>
            <a:ext cx="3489960" cy="45720"/>
          </a:xfrm>
          <a:prstGeom prst="rect">
            <a:avLst/>
          </a:prstGeom>
          <a:solidFill>
            <a:srgbClr val="C2352F"/>
          </a:solidFill>
          <a:ln/>
        </p:spPr>
      </p:sp>
      <p:sp>
        <p:nvSpPr>
          <p:cNvPr id="29" name="Text 27"/>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0" name="Text 28"/>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2026 vs Jan–Sep 2025</a:t>
            </a:r>
            <a:endParaRPr lang="en-US" sz="1200" dirty="0"/>
          </a:p>
        </p:txBody>
      </p:sp>
      <p:sp>
        <p:nvSpPr>
          <p:cNvPr id="31" name="Shape 29"/>
          <p:cNvSpPr/>
          <p:nvPr/>
        </p:nvSpPr>
        <p:spPr>
          <a:xfrm>
            <a:off x="4349496" y="2103120"/>
            <a:ext cx="3489960" cy="755294"/>
          </a:xfrm>
          <a:prstGeom prst="rect">
            <a:avLst/>
          </a:prstGeom>
          <a:solidFill>
            <a:srgbClr val="F7F7F7"/>
          </a:solidFill>
          <a:ln/>
        </p:spPr>
      </p:sp>
      <p:sp>
        <p:nvSpPr>
          <p:cNvPr id="32" name="Text 30"/>
          <p:cNvSpPr txBox="1"/>
          <p:nvPr/>
        </p:nvSpPr>
        <p:spPr>
          <a:xfrm>
            <a:off x="4440936"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3" name="Text 31"/>
          <p:cNvSpPr txBox="1"/>
          <p:nvPr/>
        </p:nvSpPr>
        <p:spPr>
          <a:xfrm>
            <a:off x="4788408"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76.6%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67.8%</a:t>
            </a:r>
            <a:endParaRPr lang="en-US" sz="1400" dirty="0"/>
          </a:p>
        </p:txBody>
      </p:sp>
      <p:sp>
        <p:nvSpPr>
          <p:cNvPr id="34" name="Text 32"/>
          <p:cNvSpPr txBox="1"/>
          <p:nvPr/>
        </p:nvSpPr>
        <p:spPr>
          <a:xfrm>
            <a:off x="6632448" y="2103120"/>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−8.8 pts</a:t>
            </a:r>
            <a:endParaRPr lang="en-US" sz="1600" dirty="0"/>
          </a:p>
        </p:txBody>
      </p:sp>
      <p:sp>
        <p:nvSpPr>
          <p:cNvPr id="35" name="Text 33"/>
          <p:cNvSpPr txBox="1"/>
          <p:nvPr/>
        </p:nvSpPr>
        <p:spPr>
          <a:xfrm>
            <a:off x="4440936"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6" name="Text 34"/>
          <p:cNvSpPr txBox="1"/>
          <p:nvPr/>
        </p:nvSpPr>
        <p:spPr>
          <a:xfrm>
            <a:off x="4788408"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75.6%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70.0%</a:t>
            </a:r>
            <a:endParaRPr lang="en-US" sz="1400" dirty="0"/>
          </a:p>
        </p:txBody>
      </p:sp>
      <p:sp>
        <p:nvSpPr>
          <p:cNvPr id="37" name="Text 35"/>
          <p:cNvSpPr txBox="1"/>
          <p:nvPr/>
        </p:nvSpPr>
        <p:spPr>
          <a:xfrm>
            <a:off x="6632448" y="2858414"/>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−5.6 pts</a:t>
            </a:r>
            <a:endParaRPr lang="en-US" sz="1600" dirty="0"/>
          </a:p>
        </p:txBody>
      </p:sp>
      <p:sp>
        <p:nvSpPr>
          <p:cNvPr id="38" name="Shape 36"/>
          <p:cNvSpPr/>
          <p:nvPr/>
        </p:nvSpPr>
        <p:spPr>
          <a:xfrm>
            <a:off x="4349496" y="3613709"/>
            <a:ext cx="3489960" cy="755294"/>
          </a:xfrm>
          <a:prstGeom prst="rect">
            <a:avLst/>
          </a:prstGeom>
          <a:solidFill>
            <a:srgbClr val="F7F7F7"/>
          </a:solidFill>
          <a:ln/>
        </p:spPr>
      </p:sp>
      <p:sp>
        <p:nvSpPr>
          <p:cNvPr id="39" name="Text 37"/>
          <p:cNvSpPr txBox="1"/>
          <p:nvPr/>
        </p:nvSpPr>
        <p:spPr>
          <a:xfrm>
            <a:off x="4440936"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0" name="Text 38"/>
          <p:cNvSpPr txBox="1"/>
          <p:nvPr/>
        </p:nvSpPr>
        <p:spPr>
          <a:xfrm>
            <a:off x="4788408"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85.1%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79.7%</a:t>
            </a:r>
            <a:endParaRPr lang="en-US" sz="1400" dirty="0"/>
          </a:p>
        </p:txBody>
      </p:sp>
      <p:sp>
        <p:nvSpPr>
          <p:cNvPr id="41" name="Text 39"/>
          <p:cNvSpPr txBox="1"/>
          <p:nvPr/>
        </p:nvSpPr>
        <p:spPr>
          <a:xfrm>
            <a:off x="6632448" y="3613709"/>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−5.3 pts</a:t>
            </a:r>
            <a:endParaRPr lang="en-US" sz="1600" dirty="0"/>
          </a:p>
        </p:txBody>
      </p:sp>
      <p:sp>
        <p:nvSpPr>
          <p:cNvPr id="42" name="Text 40"/>
          <p:cNvSpPr txBox="1"/>
          <p:nvPr/>
        </p:nvSpPr>
        <p:spPr>
          <a:xfrm>
            <a:off x="4440936"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3" name="Text 41"/>
          <p:cNvSpPr txBox="1"/>
          <p:nvPr/>
        </p:nvSpPr>
        <p:spPr>
          <a:xfrm>
            <a:off x="4788408"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78.4%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73.8%</a:t>
            </a:r>
            <a:endParaRPr lang="en-US" sz="1400" dirty="0"/>
          </a:p>
        </p:txBody>
      </p:sp>
      <p:sp>
        <p:nvSpPr>
          <p:cNvPr id="44" name="Text 42"/>
          <p:cNvSpPr txBox="1"/>
          <p:nvPr/>
        </p:nvSpPr>
        <p:spPr>
          <a:xfrm>
            <a:off x="6632448" y="4369003"/>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−4.6 pts</a:t>
            </a:r>
            <a:endParaRPr lang="en-US" sz="1600" dirty="0"/>
          </a:p>
        </p:txBody>
      </p:sp>
      <p:sp>
        <p:nvSpPr>
          <p:cNvPr id="45" name="Shape 43"/>
          <p:cNvSpPr/>
          <p:nvPr/>
        </p:nvSpPr>
        <p:spPr>
          <a:xfrm>
            <a:off x="4349496" y="5124298"/>
            <a:ext cx="3489960" cy="755294"/>
          </a:xfrm>
          <a:prstGeom prst="rect">
            <a:avLst/>
          </a:prstGeom>
          <a:solidFill>
            <a:srgbClr val="F7F7F7"/>
          </a:solidFill>
          <a:ln/>
        </p:spPr>
      </p:sp>
      <p:sp>
        <p:nvSpPr>
          <p:cNvPr id="46" name="Text 44"/>
          <p:cNvSpPr txBox="1"/>
          <p:nvPr/>
        </p:nvSpPr>
        <p:spPr>
          <a:xfrm>
            <a:off x="4440936"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47" name="Text 45"/>
          <p:cNvSpPr txBox="1"/>
          <p:nvPr/>
        </p:nvSpPr>
        <p:spPr>
          <a:xfrm>
            <a:off x="4788408"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76.9%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72.5%</a:t>
            </a:r>
            <a:endParaRPr lang="en-US" sz="1400" dirty="0"/>
          </a:p>
        </p:txBody>
      </p:sp>
      <p:sp>
        <p:nvSpPr>
          <p:cNvPr id="48" name="Text 46"/>
          <p:cNvSpPr txBox="1"/>
          <p:nvPr/>
        </p:nvSpPr>
        <p:spPr>
          <a:xfrm>
            <a:off x="6632448" y="5124298"/>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−4.3 pts</a:t>
            </a:r>
            <a:endParaRPr lang="en-US" sz="1600" dirty="0"/>
          </a:p>
        </p:txBody>
      </p:sp>
      <p:sp>
        <p:nvSpPr>
          <p:cNvPr id="49" name="Shape 47"/>
          <p:cNvSpPr/>
          <p:nvPr/>
        </p:nvSpPr>
        <p:spPr>
          <a:xfrm>
            <a:off x="8040624" y="1371600"/>
            <a:ext cx="3489960" cy="45720"/>
          </a:xfrm>
          <a:prstGeom prst="rect">
            <a:avLst/>
          </a:prstGeom>
          <a:solidFill>
            <a:srgbClr val="2587C5"/>
          </a:solidFill>
          <a:ln/>
        </p:spPr>
      </p:sp>
      <p:sp>
        <p:nvSpPr>
          <p:cNvPr id="50" name="Text 48"/>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1" name="Text 49"/>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Jul–Sep vs Jan–Mar 2026</a:t>
            </a:r>
            <a:endParaRPr lang="en-US" sz="1200" dirty="0"/>
          </a:p>
        </p:txBody>
      </p:sp>
      <p:sp>
        <p:nvSpPr>
          <p:cNvPr id="52" name="Shape 50"/>
          <p:cNvSpPr/>
          <p:nvPr/>
        </p:nvSpPr>
        <p:spPr>
          <a:xfrm>
            <a:off x="8040624" y="2103120"/>
            <a:ext cx="3489960" cy="755294"/>
          </a:xfrm>
          <a:prstGeom prst="rect">
            <a:avLst/>
          </a:prstGeom>
          <a:solidFill>
            <a:srgbClr val="F7F7F7"/>
          </a:solidFill>
          <a:ln/>
        </p:spPr>
      </p:sp>
      <p:sp>
        <p:nvSpPr>
          <p:cNvPr id="53" name="Text 51"/>
          <p:cNvSpPr txBox="1"/>
          <p:nvPr/>
        </p:nvSpPr>
        <p:spPr>
          <a:xfrm>
            <a:off x="8132064"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4" name="Text 52"/>
          <p:cNvSpPr txBox="1"/>
          <p:nvPr/>
        </p:nvSpPr>
        <p:spPr>
          <a:xfrm>
            <a:off x="8479536"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66.2%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72.6%</a:t>
            </a:r>
            <a:endParaRPr lang="en-US" sz="1400" dirty="0"/>
          </a:p>
        </p:txBody>
      </p:sp>
      <p:sp>
        <p:nvSpPr>
          <p:cNvPr id="55" name="Text 53"/>
          <p:cNvSpPr txBox="1"/>
          <p:nvPr/>
        </p:nvSpPr>
        <p:spPr>
          <a:xfrm>
            <a:off x="10323576" y="2103120"/>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+6.4 pts</a:t>
            </a:r>
            <a:endParaRPr lang="en-US" sz="1600" dirty="0"/>
          </a:p>
        </p:txBody>
      </p:sp>
      <p:sp>
        <p:nvSpPr>
          <p:cNvPr id="56" name="Text 54"/>
          <p:cNvSpPr txBox="1"/>
          <p:nvPr/>
        </p:nvSpPr>
        <p:spPr>
          <a:xfrm>
            <a:off x="8132064"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57" name="Text 55"/>
          <p:cNvSpPr txBox="1"/>
          <p:nvPr/>
        </p:nvSpPr>
        <p:spPr>
          <a:xfrm>
            <a:off x="8479536"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76.8%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82.0%</a:t>
            </a:r>
            <a:endParaRPr lang="en-US" sz="1400" dirty="0"/>
          </a:p>
        </p:txBody>
      </p:sp>
      <p:sp>
        <p:nvSpPr>
          <p:cNvPr id="58" name="Text 56"/>
          <p:cNvSpPr txBox="1"/>
          <p:nvPr/>
        </p:nvSpPr>
        <p:spPr>
          <a:xfrm>
            <a:off x="10323576" y="2858414"/>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+5.2 pts</a:t>
            </a:r>
            <a:endParaRPr lang="en-US" sz="1600" dirty="0"/>
          </a:p>
        </p:txBody>
      </p:sp>
      <p:sp>
        <p:nvSpPr>
          <p:cNvPr id="59" name="Shape 57"/>
          <p:cNvSpPr/>
          <p:nvPr/>
        </p:nvSpPr>
        <p:spPr>
          <a:xfrm>
            <a:off x="8040624" y="3613709"/>
            <a:ext cx="3489960" cy="755294"/>
          </a:xfrm>
          <a:prstGeom prst="rect">
            <a:avLst/>
          </a:prstGeom>
          <a:solidFill>
            <a:srgbClr val="F7F7F7"/>
          </a:solidFill>
          <a:ln/>
        </p:spPr>
      </p:sp>
      <p:sp>
        <p:nvSpPr>
          <p:cNvPr id="60" name="Shape 58"/>
          <p:cNvSpPr/>
          <p:nvPr/>
        </p:nvSpPr>
        <p:spPr>
          <a:xfrm>
            <a:off x="11466576" y="3650285"/>
            <a:ext cx="64008" cy="682142"/>
          </a:xfrm>
          <a:prstGeom prst="rect">
            <a:avLst/>
          </a:prstGeom>
          <a:solidFill>
            <a:srgbClr val="12A566"/>
          </a:solidFill>
          <a:ln/>
        </p:spPr>
      </p:sp>
      <p:sp>
        <p:nvSpPr>
          <p:cNvPr id="61" name="Text 59"/>
          <p:cNvSpPr txBox="1"/>
          <p:nvPr/>
        </p:nvSpPr>
        <p:spPr>
          <a:xfrm>
            <a:off x="8132064"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2" name="Text 60"/>
          <p:cNvSpPr txBox="1"/>
          <p:nvPr/>
        </p:nvSpPr>
        <p:spPr>
          <a:xfrm>
            <a:off x="8479536"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83.0%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87.1%</a:t>
            </a:r>
            <a:endParaRPr lang="en-US" sz="1400" dirty="0"/>
          </a:p>
        </p:txBody>
      </p:sp>
      <p:sp>
        <p:nvSpPr>
          <p:cNvPr id="63" name="Text 61"/>
          <p:cNvSpPr txBox="1"/>
          <p:nvPr/>
        </p:nvSpPr>
        <p:spPr>
          <a:xfrm>
            <a:off x="10323576" y="3613709"/>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+4.1 pts</a:t>
            </a:r>
            <a:endParaRPr lang="en-US" sz="1600" dirty="0"/>
          </a:p>
        </p:txBody>
      </p:sp>
      <p:sp>
        <p:nvSpPr>
          <p:cNvPr id="64" name="Text 62"/>
          <p:cNvSpPr txBox="1"/>
          <p:nvPr/>
        </p:nvSpPr>
        <p:spPr>
          <a:xfrm>
            <a:off x="8132064"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65" name="Text 63"/>
          <p:cNvSpPr txBox="1"/>
          <p:nvPr/>
        </p:nvSpPr>
        <p:spPr>
          <a:xfrm>
            <a:off x="8479536"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72.5%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76.4%</a:t>
            </a:r>
            <a:endParaRPr lang="en-US" sz="1400" dirty="0"/>
          </a:p>
        </p:txBody>
      </p:sp>
      <p:sp>
        <p:nvSpPr>
          <p:cNvPr id="66" name="Text 64"/>
          <p:cNvSpPr txBox="1"/>
          <p:nvPr/>
        </p:nvSpPr>
        <p:spPr>
          <a:xfrm>
            <a:off x="10323576" y="4369003"/>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+3.9 pts</a:t>
            </a:r>
            <a:endParaRPr lang="en-US" sz="1600" dirty="0"/>
          </a:p>
        </p:txBody>
      </p:sp>
      <p:sp>
        <p:nvSpPr>
          <p:cNvPr id="67" name="Shape 65"/>
          <p:cNvSpPr/>
          <p:nvPr/>
        </p:nvSpPr>
        <p:spPr>
          <a:xfrm>
            <a:off x="8040624" y="5124298"/>
            <a:ext cx="3489960" cy="755294"/>
          </a:xfrm>
          <a:prstGeom prst="rect">
            <a:avLst/>
          </a:prstGeom>
          <a:solidFill>
            <a:srgbClr val="F7F7F7"/>
          </a:solidFill>
          <a:ln/>
        </p:spPr>
      </p:sp>
      <p:sp>
        <p:nvSpPr>
          <p:cNvPr id="68" name="Text 66"/>
          <p:cNvSpPr txBox="1"/>
          <p:nvPr/>
        </p:nvSpPr>
        <p:spPr>
          <a:xfrm>
            <a:off x="8132064"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69" name="Text 67"/>
          <p:cNvSpPr txBox="1"/>
          <p:nvPr/>
        </p:nvSpPr>
        <p:spPr>
          <a:xfrm>
            <a:off x="8479536"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76.4%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79.7%</a:t>
            </a:r>
            <a:endParaRPr lang="en-US" sz="1400" dirty="0"/>
          </a:p>
        </p:txBody>
      </p:sp>
      <p:sp>
        <p:nvSpPr>
          <p:cNvPr id="70" name="Text 68"/>
          <p:cNvSpPr txBox="1"/>
          <p:nvPr/>
        </p:nvSpPr>
        <p:spPr>
          <a:xfrm>
            <a:off x="10323576" y="5124298"/>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+3.3 pts</a:t>
            </a:r>
            <a:endParaRPr lang="en-US" sz="1600" dirty="0"/>
          </a:p>
        </p:txBody>
      </p:sp>
      <p:sp>
        <p:nvSpPr>
          <p:cNvPr id="71" name="Shape 69"/>
          <p:cNvSpPr/>
          <p:nvPr/>
        </p:nvSpPr>
        <p:spPr>
          <a:xfrm>
            <a:off x="457200" y="6126480"/>
            <a:ext cx="11274552" cy="615696"/>
          </a:xfrm>
          <a:prstGeom prst="rect">
            <a:avLst/>
          </a:prstGeom>
          <a:solidFill>
            <a:srgbClr val="EDF4FA"/>
          </a:solidFill>
          <a:ln/>
        </p:spPr>
      </p:sp>
      <p:sp>
        <p:nvSpPr>
          <p:cNvPr id="72" name="Text 70"/>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Ask Acura, Honda Spokane and LR Reno what changed. Ask Nissan, LR LV and Mazda what got in the way. Ask LR Henderson, Kia St George and Hyundai St George what they started this year.</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INTERNAL</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Internal Parts Gross Profit %</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36.0%</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36.5%</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+0.5 pts</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+1.4%</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Internal Parts Gross Profit % by month, 2025 against 2026</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Chart 1"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2"/>
          </a:graphicData>
        </a:graphic>
      </p:graphicFrame>
      <p:graphicFrame>
        <p:nvGraphicFramePr>
          <p:cNvPr id="19" name="Chart 2"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3"/>
          </a:graphicData>
        </a:graphic>
      </p:graphicFrame>
      <p:graphicFrame>
        <p:nvGraphicFramePr>
          <p:cNvPr id="20" name="Chart 3"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4"/>
          </a:graphicData>
        </a:graphic>
      </p:graphicFrame>
      <p:graphicFrame>
        <p:nvGraphicFramePr>
          <p:cNvPr id="21" name="Chart 4"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5"/>
          </a:graphicData>
        </a:graphic>
      </p:graphicFrame>
      <p:graphicFrame>
        <p:nvGraphicFramePr>
          <p:cNvPr id="22" name="Chart 5"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6"/>
          </a:graphicData>
        </a:graphic>
      </p:graphicFrame>
      <p:sp>
        <p:nvSpPr>
          <p:cNvPr id="23" name="Shape 15"/>
          <p:cNvSpPr/>
          <p:nvPr/>
        </p:nvSpPr>
        <p:spPr>
          <a:xfrm>
            <a:off x="4951476" y="3049524"/>
            <a:ext cx="310896" cy="45720"/>
          </a:xfrm>
          <a:prstGeom prst="rect">
            <a:avLst/>
          </a:prstGeom>
          <a:solidFill>
            <a:srgbClr val="9AA3AD"/>
          </a:solidFill>
          <a:ln/>
        </p:spPr>
      </p:sp>
      <p:sp>
        <p:nvSpPr>
          <p:cNvPr id="24" name="Shape 16"/>
          <p:cNvSpPr/>
          <p:nvPr/>
        </p:nvSpPr>
        <p:spPr>
          <a:xfrm>
            <a:off x="5052060" y="3017520"/>
            <a:ext cx="109728" cy="109728"/>
          </a:xfrm>
          <a:prstGeom prst="ellipse">
            <a:avLst/>
          </a:prstGeom>
          <a:solidFill>
            <a:srgbClr val="9AA3AD"/>
          </a:solidFill>
          <a:ln/>
        </p:spPr>
      </p:sp>
      <p:sp>
        <p:nvSpPr>
          <p:cNvPr id="25" name="Text 17"/>
          <p:cNvSpPr txBox="1"/>
          <p:nvPr/>
        </p:nvSpPr>
        <p:spPr>
          <a:xfrm>
            <a:off x="533552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6" name="Shape 18"/>
          <p:cNvSpPr/>
          <p:nvPr/>
        </p:nvSpPr>
        <p:spPr>
          <a:xfrm>
            <a:off x="6185916" y="3049524"/>
            <a:ext cx="310896" cy="45720"/>
          </a:xfrm>
          <a:prstGeom prst="rect">
            <a:avLst/>
          </a:prstGeom>
          <a:solidFill>
            <a:srgbClr val="2587C5"/>
          </a:solidFill>
          <a:ln/>
        </p:spPr>
      </p:sp>
      <p:sp>
        <p:nvSpPr>
          <p:cNvPr id="27" name="Shape 19"/>
          <p:cNvSpPr/>
          <p:nvPr/>
        </p:nvSpPr>
        <p:spPr>
          <a:xfrm>
            <a:off x="6286500" y="3017520"/>
            <a:ext cx="109728" cy="109728"/>
          </a:xfrm>
          <a:prstGeom prst="ellipse">
            <a:avLst/>
          </a:prstGeom>
          <a:solidFill>
            <a:srgbClr val="2587C5"/>
          </a:solidFill>
          <a:ln/>
        </p:spPr>
      </p:sp>
      <p:sp>
        <p:nvSpPr>
          <p:cNvPr id="28" name="Text 20"/>
          <p:cNvSpPr txBox="1"/>
          <p:nvPr/>
        </p:nvSpPr>
        <p:spPr>
          <a:xfrm>
            <a:off x="656996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9" name="Shape 21"/>
          <p:cNvSpPr/>
          <p:nvPr/>
        </p:nvSpPr>
        <p:spPr>
          <a:xfrm>
            <a:off x="457200" y="6126480"/>
            <a:ext cx="11274552" cy="371856"/>
          </a:xfrm>
          <a:prstGeom prst="rect">
            <a:avLst/>
          </a:prstGeom>
          <a:solidFill>
            <a:srgbClr val="E6F6EE"/>
          </a:solidFill>
          <a:ln/>
        </p:spPr>
      </p:sp>
      <p:sp>
        <p:nvSpPr>
          <p:cNvPr id="30" name="Text 22"/>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0.5 pts to 36.5%, ahead of 2025 in eight of nine months.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INTERNAL</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Internal Parts Gross Profit %</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356235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INTERNAL PARTS GROSS PROFIT %</a:t>
            </a:r>
            <a:endParaRPr lang="en-US" sz="1500" dirty="0"/>
          </a:p>
        </p:txBody>
      </p:sp>
      <p:sp>
        <p:nvSpPr>
          <p:cNvPr id="9" name="Text 7"/>
          <p:cNvSpPr txBox="1"/>
          <p:nvPr/>
        </p:nvSpPr>
        <p:spPr>
          <a:xfrm>
            <a:off x="4476750" y="1335024"/>
            <a:ext cx="356997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SEPTEMBER 2026 YTD</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36.5%</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3" name="Shape 11"/>
          <p:cNvSpPr/>
          <p:nvPr/>
        </p:nvSpPr>
        <p:spPr>
          <a:xfrm>
            <a:off x="3008376" y="1907062"/>
            <a:ext cx="1691640" cy="119948"/>
          </a:xfrm>
          <a:prstGeom prst="rect">
            <a:avLst/>
          </a:prstGeom>
          <a:solidFill>
            <a:srgbClr val="12A566"/>
          </a:solidFill>
          <a:ln/>
        </p:spPr>
      </p:sp>
      <p:sp>
        <p:nvSpPr>
          <p:cNvPr id="14" name="Text 12"/>
          <p:cNvSpPr txBox="1"/>
          <p:nvPr/>
        </p:nvSpPr>
        <p:spPr>
          <a:xfrm>
            <a:off x="4754880" y="1847088"/>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45.1%</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17" name="Shape 15"/>
          <p:cNvSpPr/>
          <p:nvPr/>
        </p:nvSpPr>
        <p:spPr>
          <a:xfrm>
            <a:off x="3008376" y="2146957"/>
            <a:ext cx="1571389" cy="119948"/>
          </a:xfrm>
          <a:prstGeom prst="rect">
            <a:avLst/>
          </a:prstGeom>
          <a:solidFill>
            <a:srgbClr val="12A566"/>
          </a:solidFill>
          <a:ln/>
        </p:spPr>
      </p:sp>
      <p:sp>
        <p:nvSpPr>
          <p:cNvPr id="18" name="Text 16"/>
          <p:cNvSpPr txBox="1"/>
          <p:nvPr/>
        </p:nvSpPr>
        <p:spPr>
          <a:xfrm>
            <a:off x="4754880" y="2086984"/>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43.3%</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21" name="Shape 19"/>
          <p:cNvSpPr/>
          <p:nvPr/>
        </p:nvSpPr>
        <p:spPr>
          <a:xfrm>
            <a:off x="3008376" y="2386853"/>
            <a:ext cx="1526083" cy="119948"/>
          </a:xfrm>
          <a:prstGeom prst="rect">
            <a:avLst/>
          </a:prstGeom>
          <a:solidFill>
            <a:srgbClr val="12A566"/>
          </a:solidFill>
          <a:ln/>
        </p:spPr>
      </p:sp>
      <p:sp>
        <p:nvSpPr>
          <p:cNvPr id="22" name="Text 20"/>
          <p:cNvSpPr txBox="1"/>
          <p:nvPr/>
        </p:nvSpPr>
        <p:spPr>
          <a:xfrm>
            <a:off x="4754880" y="2326879"/>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42.7%</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25" name="Shape 23"/>
          <p:cNvSpPr/>
          <p:nvPr/>
        </p:nvSpPr>
        <p:spPr>
          <a:xfrm>
            <a:off x="3008376" y="2626748"/>
            <a:ext cx="1427052" cy="119948"/>
          </a:xfrm>
          <a:prstGeom prst="rect">
            <a:avLst/>
          </a:prstGeom>
          <a:solidFill>
            <a:srgbClr val="12A566"/>
          </a:solidFill>
          <a:ln/>
        </p:spPr>
      </p:sp>
      <p:sp>
        <p:nvSpPr>
          <p:cNvPr id="26" name="Text 24"/>
          <p:cNvSpPr txBox="1"/>
          <p:nvPr/>
        </p:nvSpPr>
        <p:spPr>
          <a:xfrm>
            <a:off x="4754880" y="2566775"/>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41.2%</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29" name="Shape 27"/>
          <p:cNvSpPr/>
          <p:nvPr/>
        </p:nvSpPr>
        <p:spPr>
          <a:xfrm>
            <a:off x="3008376" y="2866644"/>
            <a:ext cx="1404264" cy="119948"/>
          </a:xfrm>
          <a:prstGeom prst="rect">
            <a:avLst/>
          </a:prstGeom>
          <a:solidFill>
            <a:srgbClr val="12A566"/>
          </a:solidFill>
          <a:ln/>
        </p:spPr>
      </p:sp>
      <p:sp>
        <p:nvSpPr>
          <p:cNvPr id="30" name="Text 28"/>
          <p:cNvSpPr txBox="1"/>
          <p:nvPr/>
        </p:nvSpPr>
        <p:spPr>
          <a:xfrm>
            <a:off x="4754880" y="2806670"/>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40.9%</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33" name="Shape 31"/>
          <p:cNvSpPr/>
          <p:nvPr/>
        </p:nvSpPr>
        <p:spPr>
          <a:xfrm>
            <a:off x="3008376" y="3106540"/>
            <a:ext cx="1329194" cy="119948"/>
          </a:xfrm>
          <a:prstGeom prst="rect">
            <a:avLst/>
          </a:prstGeom>
          <a:solidFill>
            <a:srgbClr val="12A566"/>
          </a:solidFill>
          <a:ln/>
        </p:spPr>
      </p:sp>
      <p:sp>
        <p:nvSpPr>
          <p:cNvPr id="34" name="Text 32"/>
          <p:cNvSpPr txBox="1"/>
          <p:nvPr/>
        </p:nvSpPr>
        <p:spPr>
          <a:xfrm>
            <a:off x="4754880" y="3046566"/>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39.7%</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37" name="Shape 35"/>
          <p:cNvSpPr/>
          <p:nvPr/>
        </p:nvSpPr>
        <p:spPr>
          <a:xfrm>
            <a:off x="3008376" y="3346435"/>
            <a:ext cx="1147637" cy="119948"/>
          </a:xfrm>
          <a:prstGeom prst="rect">
            <a:avLst/>
          </a:prstGeom>
          <a:solidFill>
            <a:srgbClr val="12A566"/>
          </a:solidFill>
          <a:ln/>
        </p:spPr>
      </p:sp>
      <p:sp>
        <p:nvSpPr>
          <p:cNvPr id="38" name="Text 36"/>
          <p:cNvSpPr txBox="1"/>
          <p:nvPr/>
        </p:nvSpPr>
        <p:spPr>
          <a:xfrm>
            <a:off x="4754880" y="3286461"/>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37.0%</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41" name="Shape 39"/>
          <p:cNvSpPr/>
          <p:nvPr/>
        </p:nvSpPr>
        <p:spPr>
          <a:xfrm>
            <a:off x="3008376" y="3586331"/>
            <a:ext cx="1143623" cy="119948"/>
          </a:xfrm>
          <a:prstGeom prst="rect">
            <a:avLst/>
          </a:prstGeom>
          <a:solidFill>
            <a:srgbClr val="12A566"/>
          </a:solidFill>
          <a:ln/>
        </p:spPr>
      </p:sp>
      <p:sp>
        <p:nvSpPr>
          <p:cNvPr id="42" name="Text 40"/>
          <p:cNvSpPr txBox="1"/>
          <p:nvPr/>
        </p:nvSpPr>
        <p:spPr>
          <a:xfrm>
            <a:off x="4754880" y="3526357"/>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37.0%</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45" name="Shape 43"/>
          <p:cNvSpPr/>
          <p:nvPr/>
        </p:nvSpPr>
        <p:spPr>
          <a:xfrm>
            <a:off x="3008376" y="3826226"/>
            <a:ext cx="1138452" cy="119948"/>
          </a:xfrm>
          <a:prstGeom prst="rect">
            <a:avLst/>
          </a:prstGeom>
          <a:solidFill>
            <a:srgbClr val="12A566"/>
          </a:solidFill>
          <a:ln/>
        </p:spPr>
      </p:sp>
      <p:sp>
        <p:nvSpPr>
          <p:cNvPr id="46" name="Text 44"/>
          <p:cNvSpPr txBox="1"/>
          <p:nvPr/>
        </p:nvSpPr>
        <p:spPr>
          <a:xfrm>
            <a:off x="4754880" y="3766252"/>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36.9%</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49" name="Shape 47"/>
          <p:cNvSpPr/>
          <p:nvPr/>
        </p:nvSpPr>
        <p:spPr>
          <a:xfrm>
            <a:off x="3008376" y="4066122"/>
            <a:ext cx="1133430" cy="119948"/>
          </a:xfrm>
          <a:prstGeom prst="rect">
            <a:avLst/>
          </a:prstGeom>
          <a:solidFill>
            <a:srgbClr val="12A566"/>
          </a:solidFill>
          <a:ln/>
        </p:spPr>
      </p:sp>
      <p:sp>
        <p:nvSpPr>
          <p:cNvPr id="50" name="Text 48"/>
          <p:cNvSpPr txBox="1"/>
          <p:nvPr/>
        </p:nvSpPr>
        <p:spPr>
          <a:xfrm>
            <a:off x="4754880" y="4006148"/>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36.8%</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53" name="Shape 51"/>
          <p:cNvSpPr/>
          <p:nvPr/>
        </p:nvSpPr>
        <p:spPr>
          <a:xfrm>
            <a:off x="3008376" y="4306017"/>
            <a:ext cx="1126165" cy="119948"/>
          </a:xfrm>
          <a:prstGeom prst="rect">
            <a:avLst/>
          </a:prstGeom>
          <a:solidFill>
            <a:srgbClr val="12A566"/>
          </a:solidFill>
          <a:ln/>
        </p:spPr>
      </p:sp>
      <p:sp>
        <p:nvSpPr>
          <p:cNvPr id="54" name="Text 52"/>
          <p:cNvSpPr txBox="1"/>
          <p:nvPr/>
        </p:nvSpPr>
        <p:spPr>
          <a:xfrm>
            <a:off x="4754880" y="4246043"/>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36.7%</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57" name="Shape 55"/>
          <p:cNvSpPr/>
          <p:nvPr/>
        </p:nvSpPr>
        <p:spPr>
          <a:xfrm>
            <a:off x="3008376" y="4545913"/>
            <a:ext cx="1120821" cy="119948"/>
          </a:xfrm>
          <a:prstGeom prst="rect">
            <a:avLst/>
          </a:prstGeom>
          <a:solidFill>
            <a:srgbClr val="12A566"/>
          </a:solidFill>
          <a:ln/>
        </p:spPr>
      </p:sp>
      <p:sp>
        <p:nvSpPr>
          <p:cNvPr id="58" name="Text 56"/>
          <p:cNvSpPr txBox="1"/>
          <p:nvPr/>
        </p:nvSpPr>
        <p:spPr>
          <a:xfrm>
            <a:off x="4754880" y="4485939"/>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36.6%</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61" name="Shape 59"/>
          <p:cNvSpPr/>
          <p:nvPr/>
        </p:nvSpPr>
        <p:spPr>
          <a:xfrm>
            <a:off x="3008376" y="4785808"/>
            <a:ext cx="1111196" cy="119948"/>
          </a:xfrm>
          <a:prstGeom prst="rect">
            <a:avLst/>
          </a:prstGeom>
          <a:solidFill>
            <a:srgbClr val="12A566"/>
          </a:solidFill>
          <a:ln/>
        </p:spPr>
      </p:sp>
      <p:sp>
        <p:nvSpPr>
          <p:cNvPr id="62" name="Text 60"/>
          <p:cNvSpPr txBox="1"/>
          <p:nvPr/>
        </p:nvSpPr>
        <p:spPr>
          <a:xfrm>
            <a:off x="4754880" y="4725834"/>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36.5%</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65" name="Shape 63"/>
          <p:cNvSpPr/>
          <p:nvPr/>
        </p:nvSpPr>
        <p:spPr>
          <a:xfrm>
            <a:off x="3008376" y="5025704"/>
            <a:ext cx="1097912" cy="119948"/>
          </a:xfrm>
          <a:prstGeom prst="rect">
            <a:avLst/>
          </a:prstGeom>
          <a:solidFill>
            <a:srgbClr val="C2352F"/>
          </a:solidFill>
          <a:ln/>
        </p:spPr>
      </p:sp>
      <p:sp>
        <p:nvSpPr>
          <p:cNvPr id="66" name="Text 64"/>
          <p:cNvSpPr txBox="1"/>
          <p:nvPr/>
        </p:nvSpPr>
        <p:spPr>
          <a:xfrm>
            <a:off x="4754880" y="4965730"/>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36.3%</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69" name="Shape 67"/>
          <p:cNvSpPr/>
          <p:nvPr/>
        </p:nvSpPr>
        <p:spPr>
          <a:xfrm>
            <a:off x="3008376" y="5265599"/>
            <a:ext cx="1082615" cy="119948"/>
          </a:xfrm>
          <a:prstGeom prst="rect">
            <a:avLst/>
          </a:prstGeom>
          <a:solidFill>
            <a:srgbClr val="C2352F"/>
          </a:solidFill>
          <a:ln/>
        </p:spPr>
      </p:sp>
      <p:sp>
        <p:nvSpPr>
          <p:cNvPr id="70" name="Text 68"/>
          <p:cNvSpPr txBox="1"/>
          <p:nvPr/>
        </p:nvSpPr>
        <p:spPr>
          <a:xfrm>
            <a:off x="4754880" y="5205625"/>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36.1%</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73" name="Shape 71"/>
          <p:cNvSpPr/>
          <p:nvPr/>
        </p:nvSpPr>
        <p:spPr>
          <a:xfrm>
            <a:off x="3008376" y="5505495"/>
            <a:ext cx="1017763" cy="119948"/>
          </a:xfrm>
          <a:prstGeom prst="rect">
            <a:avLst/>
          </a:prstGeom>
          <a:solidFill>
            <a:srgbClr val="C2352F"/>
          </a:solidFill>
          <a:ln/>
        </p:spPr>
      </p:sp>
      <p:sp>
        <p:nvSpPr>
          <p:cNvPr id="74" name="Text 72"/>
          <p:cNvSpPr txBox="1"/>
          <p:nvPr/>
        </p:nvSpPr>
        <p:spPr>
          <a:xfrm>
            <a:off x="4754880" y="544552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35.1%</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77" name="Shape 75"/>
          <p:cNvSpPr/>
          <p:nvPr/>
        </p:nvSpPr>
        <p:spPr>
          <a:xfrm>
            <a:off x="3008376" y="5745390"/>
            <a:ext cx="975057" cy="119948"/>
          </a:xfrm>
          <a:prstGeom prst="rect">
            <a:avLst/>
          </a:prstGeom>
          <a:solidFill>
            <a:srgbClr val="C2352F"/>
          </a:solidFill>
          <a:ln/>
        </p:spPr>
      </p:sp>
      <p:sp>
        <p:nvSpPr>
          <p:cNvPr id="78" name="Text 76"/>
          <p:cNvSpPr txBox="1"/>
          <p:nvPr/>
        </p:nvSpPr>
        <p:spPr>
          <a:xfrm>
            <a:off x="4754880" y="5685416"/>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34.5%</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81" name="Shape 79"/>
          <p:cNvSpPr/>
          <p:nvPr/>
        </p:nvSpPr>
        <p:spPr>
          <a:xfrm>
            <a:off x="8558784" y="1907062"/>
            <a:ext cx="973182" cy="119948"/>
          </a:xfrm>
          <a:prstGeom prst="rect">
            <a:avLst/>
          </a:prstGeom>
          <a:solidFill>
            <a:srgbClr val="C2352F"/>
          </a:solidFill>
          <a:ln/>
        </p:spPr>
      </p:sp>
      <p:sp>
        <p:nvSpPr>
          <p:cNvPr id="82" name="Text 80"/>
          <p:cNvSpPr txBox="1"/>
          <p:nvPr/>
        </p:nvSpPr>
        <p:spPr>
          <a:xfrm>
            <a:off x="10305288" y="1847088"/>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34.5%</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85" name="Shape 83"/>
          <p:cNvSpPr/>
          <p:nvPr/>
        </p:nvSpPr>
        <p:spPr>
          <a:xfrm>
            <a:off x="8558784" y="2146957"/>
            <a:ext cx="944183" cy="119948"/>
          </a:xfrm>
          <a:prstGeom prst="rect">
            <a:avLst/>
          </a:prstGeom>
          <a:solidFill>
            <a:srgbClr val="C2352F"/>
          </a:solidFill>
          <a:ln/>
        </p:spPr>
      </p:sp>
      <p:sp>
        <p:nvSpPr>
          <p:cNvPr id="86" name="Text 84"/>
          <p:cNvSpPr txBox="1"/>
          <p:nvPr/>
        </p:nvSpPr>
        <p:spPr>
          <a:xfrm>
            <a:off x="10305288" y="2086984"/>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34.0%</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89" name="Shape 87"/>
          <p:cNvSpPr/>
          <p:nvPr/>
        </p:nvSpPr>
        <p:spPr>
          <a:xfrm>
            <a:off x="8558784" y="2386853"/>
            <a:ext cx="900321" cy="119948"/>
          </a:xfrm>
          <a:prstGeom prst="rect">
            <a:avLst/>
          </a:prstGeom>
          <a:solidFill>
            <a:srgbClr val="C2352F"/>
          </a:solidFill>
          <a:ln/>
        </p:spPr>
      </p:sp>
      <p:sp>
        <p:nvSpPr>
          <p:cNvPr id="90" name="Text 88"/>
          <p:cNvSpPr txBox="1"/>
          <p:nvPr/>
        </p:nvSpPr>
        <p:spPr>
          <a:xfrm>
            <a:off x="10305288" y="2326879"/>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33.4%</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93" name="Shape 91"/>
          <p:cNvSpPr/>
          <p:nvPr/>
        </p:nvSpPr>
        <p:spPr>
          <a:xfrm>
            <a:off x="8558784" y="2626748"/>
            <a:ext cx="865365" cy="119948"/>
          </a:xfrm>
          <a:prstGeom prst="rect">
            <a:avLst/>
          </a:prstGeom>
          <a:solidFill>
            <a:srgbClr val="C2352F"/>
          </a:solidFill>
          <a:ln/>
        </p:spPr>
      </p:sp>
      <p:sp>
        <p:nvSpPr>
          <p:cNvPr id="94" name="Text 92"/>
          <p:cNvSpPr txBox="1"/>
          <p:nvPr/>
        </p:nvSpPr>
        <p:spPr>
          <a:xfrm>
            <a:off x="10305288" y="2566775"/>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32.8%</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97" name="Shape 95"/>
          <p:cNvSpPr/>
          <p:nvPr/>
        </p:nvSpPr>
        <p:spPr>
          <a:xfrm>
            <a:off x="8558784" y="2866644"/>
            <a:ext cx="844338" cy="119948"/>
          </a:xfrm>
          <a:prstGeom prst="rect">
            <a:avLst/>
          </a:prstGeom>
          <a:solidFill>
            <a:srgbClr val="C2352F"/>
          </a:solidFill>
          <a:ln/>
        </p:spPr>
      </p:sp>
      <p:sp>
        <p:nvSpPr>
          <p:cNvPr id="98" name="Text 96"/>
          <p:cNvSpPr txBox="1"/>
          <p:nvPr/>
        </p:nvSpPr>
        <p:spPr>
          <a:xfrm>
            <a:off x="10305288" y="2806670"/>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32.5%</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01" name="Shape 99"/>
          <p:cNvSpPr/>
          <p:nvPr/>
        </p:nvSpPr>
        <p:spPr>
          <a:xfrm>
            <a:off x="8558784" y="3106540"/>
            <a:ext cx="788830" cy="119948"/>
          </a:xfrm>
          <a:prstGeom prst="rect">
            <a:avLst/>
          </a:prstGeom>
          <a:solidFill>
            <a:srgbClr val="C2352F"/>
          </a:solidFill>
          <a:ln/>
        </p:spPr>
      </p:sp>
      <p:sp>
        <p:nvSpPr>
          <p:cNvPr id="102" name="Text 100"/>
          <p:cNvSpPr txBox="1"/>
          <p:nvPr/>
        </p:nvSpPr>
        <p:spPr>
          <a:xfrm>
            <a:off x="10305288" y="3046566"/>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31.7%</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05" name="Shape 103"/>
          <p:cNvSpPr/>
          <p:nvPr/>
        </p:nvSpPr>
        <p:spPr>
          <a:xfrm>
            <a:off x="8558784" y="3346435"/>
            <a:ext cx="763564" cy="119948"/>
          </a:xfrm>
          <a:prstGeom prst="rect">
            <a:avLst/>
          </a:prstGeom>
          <a:solidFill>
            <a:srgbClr val="C2352F"/>
          </a:solidFill>
          <a:ln/>
        </p:spPr>
      </p:sp>
      <p:sp>
        <p:nvSpPr>
          <p:cNvPr id="106" name="Text 104"/>
          <p:cNvSpPr txBox="1"/>
          <p:nvPr/>
        </p:nvSpPr>
        <p:spPr>
          <a:xfrm>
            <a:off x="10305288" y="328646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31.3%</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109" name="Shape 107"/>
          <p:cNvSpPr/>
          <p:nvPr/>
        </p:nvSpPr>
        <p:spPr>
          <a:xfrm>
            <a:off x="8558784" y="3586331"/>
            <a:ext cx="727033" cy="119948"/>
          </a:xfrm>
          <a:prstGeom prst="rect">
            <a:avLst/>
          </a:prstGeom>
          <a:solidFill>
            <a:srgbClr val="C2352F"/>
          </a:solidFill>
          <a:ln/>
        </p:spPr>
      </p:sp>
      <p:sp>
        <p:nvSpPr>
          <p:cNvPr id="110" name="Text 108"/>
          <p:cNvSpPr txBox="1"/>
          <p:nvPr/>
        </p:nvSpPr>
        <p:spPr>
          <a:xfrm>
            <a:off x="10305288" y="3526357"/>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30.8%</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113" name="Shape 111"/>
          <p:cNvSpPr/>
          <p:nvPr/>
        </p:nvSpPr>
        <p:spPr>
          <a:xfrm>
            <a:off x="8558784" y="3826226"/>
            <a:ext cx="709633" cy="119948"/>
          </a:xfrm>
          <a:prstGeom prst="rect">
            <a:avLst/>
          </a:prstGeom>
          <a:solidFill>
            <a:srgbClr val="C2352F"/>
          </a:solidFill>
          <a:ln/>
        </p:spPr>
      </p:sp>
      <p:sp>
        <p:nvSpPr>
          <p:cNvPr id="114" name="Text 112"/>
          <p:cNvSpPr txBox="1"/>
          <p:nvPr/>
        </p:nvSpPr>
        <p:spPr>
          <a:xfrm>
            <a:off x="10305288" y="3766252"/>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30.5%</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117" name="Shape 115"/>
          <p:cNvSpPr/>
          <p:nvPr/>
        </p:nvSpPr>
        <p:spPr>
          <a:xfrm>
            <a:off x="8558784" y="4066122"/>
            <a:ext cx="677288" cy="119948"/>
          </a:xfrm>
          <a:prstGeom prst="rect">
            <a:avLst/>
          </a:prstGeom>
          <a:solidFill>
            <a:srgbClr val="C2352F"/>
          </a:solidFill>
          <a:ln/>
        </p:spPr>
      </p:sp>
      <p:sp>
        <p:nvSpPr>
          <p:cNvPr id="118" name="Text 116"/>
          <p:cNvSpPr txBox="1"/>
          <p:nvPr/>
        </p:nvSpPr>
        <p:spPr>
          <a:xfrm>
            <a:off x="10305288" y="4006148"/>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30.1%</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21" name="Shape 119"/>
          <p:cNvSpPr/>
          <p:nvPr/>
        </p:nvSpPr>
        <p:spPr>
          <a:xfrm>
            <a:off x="8558784" y="4306017"/>
            <a:ext cx="652252" cy="119948"/>
          </a:xfrm>
          <a:prstGeom prst="rect">
            <a:avLst/>
          </a:prstGeom>
          <a:solidFill>
            <a:srgbClr val="C2352F"/>
          </a:solidFill>
          <a:ln/>
        </p:spPr>
      </p:sp>
      <p:sp>
        <p:nvSpPr>
          <p:cNvPr id="122" name="Text 120"/>
          <p:cNvSpPr txBox="1"/>
          <p:nvPr/>
        </p:nvSpPr>
        <p:spPr>
          <a:xfrm>
            <a:off x="10305288" y="4246043"/>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29.7%</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25" name="Shape 123"/>
          <p:cNvSpPr/>
          <p:nvPr/>
        </p:nvSpPr>
        <p:spPr>
          <a:xfrm>
            <a:off x="8558784" y="4545913"/>
            <a:ext cx="586483" cy="119948"/>
          </a:xfrm>
          <a:prstGeom prst="rect">
            <a:avLst/>
          </a:prstGeom>
          <a:solidFill>
            <a:srgbClr val="C2352F"/>
          </a:solidFill>
          <a:ln/>
        </p:spPr>
      </p:sp>
      <p:sp>
        <p:nvSpPr>
          <p:cNvPr id="126" name="Text 124"/>
          <p:cNvSpPr txBox="1"/>
          <p:nvPr/>
        </p:nvSpPr>
        <p:spPr>
          <a:xfrm>
            <a:off x="10305288" y="4485939"/>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28.7%</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29" name="Shape 127"/>
          <p:cNvSpPr/>
          <p:nvPr/>
        </p:nvSpPr>
        <p:spPr>
          <a:xfrm>
            <a:off x="8558784" y="4785808"/>
            <a:ext cx="460386" cy="119948"/>
          </a:xfrm>
          <a:prstGeom prst="rect">
            <a:avLst/>
          </a:prstGeom>
          <a:solidFill>
            <a:srgbClr val="C2352F"/>
          </a:solidFill>
          <a:ln/>
        </p:spPr>
      </p:sp>
      <p:sp>
        <p:nvSpPr>
          <p:cNvPr id="130" name="Text 128"/>
          <p:cNvSpPr txBox="1"/>
          <p:nvPr/>
        </p:nvSpPr>
        <p:spPr>
          <a:xfrm>
            <a:off x="10305288" y="4725834"/>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26.8%</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133" name="Shape 131"/>
          <p:cNvSpPr/>
          <p:nvPr/>
        </p:nvSpPr>
        <p:spPr>
          <a:xfrm>
            <a:off x="8558784" y="5025704"/>
            <a:ext cx="414612" cy="119948"/>
          </a:xfrm>
          <a:prstGeom prst="rect">
            <a:avLst/>
          </a:prstGeom>
          <a:solidFill>
            <a:srgbClr val="C2352F"/>
          </a:solidFill>
          <a:ln/>
        </p:spPr>
      </p:sp>
      <p:sp>
        <p:nvSpPr>
          <p:cNvPr id="134" name="Text 132"/>
          <p:cNvSpPr txBox="1"/>
          <p:nvPr/>
        </p:nvSpPr>
        <p:spPr>
          <a:xfrm>
            <a:off x="10305288" y="4965730"/>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26.2%</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137" name="Shape 135"/>
          <p:cNvSpPr/>
          <p:nvPr/>
        </p:nvSpPr>
        <p:spPr>
          <a:xfrm>
            <a:off x="8558784" y="5265599"/>
            <a:ext cx="351368" cy="119948"/>
          </a:xfrm>
          <a:prstGeom prst="rect">
            <a:avLst/>
          </a:prstGeom>
          <a:solidFill>
            <a:srgbClr val="C2352F"/>
          </a:solidFill>
          <a:ln/>
        </p:spPr>
      </p:sp>
      <p:sp>
        <p:nvSpPr>
          <p:cNvPr id="138" name="Text 136"/>
          <p:cNvSpPr txBox="1"/>
          <p:nvPr/>
        </p:nvSpPr>
        <p:spPr>
          <a:xfrm>
            <a:off x="10305288" y="5205625"/>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25.2%</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141" name="Shape 139"/>
          <p:cNvSpPr/>
          <p:nvPr/>
        </p:nvSpPr>
        <p:spPr>
          <a:xfrm>
            <a:off x="8558784" y="5505495"/>
            <a:ext cx="298886" cy="119948"/>
          </a:xfrm>
          <a:prstGeom prst="rect">
            <a:avLst/>
          </a:prstGeom>
          <a:solidFill>
            <a:srgbClr val="C2352F"/>
          </a:solidFill>
          <a:ln/>
        </p:spPr>
      </p:sp>
      <p:sp>
        <p:nvSpPr>
          <p:cNvPr id="142" name="Text 140"/>
          <p:cNvSpPr txBox="1"/>
          <p:nvPr/>
        </p:nvSpPr>
        <p:spPr>
          <a:xfrm>
            <a:off x="10305288" y="544552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24.4%</a:t>
            </a:r>
            <a:endParaRPr lang="en-US" sz="1200" dirty="0"/>
          </a:p>
        </p:txBody>
      </p:sp>
      <p:sp>
        <p:nvSpPr>
          <p:cNvPr id="143" name="Shape 141"/>
          <p:cNvSpPr/>
          <p:nvPr/>
        </p:nvSpPr>
        <p:spPr>
          <a:xfrm>
            <a:off x="4109587" y="1847088"/>
            <a:ext cx="14630" cy="4078224"/>
          </a:xfrm>
          <a:prstGeom prst="rect">
            <a:avLst/>
          </a:prstGeom>
          <a:solidFill>
            <a:srgbClr val="0B2C4A"/>
          </a:solidFill>
          <a:ln/>
        </p:spPr>
      </p:sp>
      <p:sp>
        <p:nvSpPr>
          <p:cNvPr id="144" name="Shape 142"/>
          <p:cNvSpPr/>
          <p:nvPr/>
        </p:nvSpPr>
        <p:spPr>
          <a:xfrm>
            <a:off x="9659995" y="1847088"/>
            <a:ext cx="14630" cy="4078224"/>
          </a:xfrm>
          <a:prstGeom prst="rect">
            <a:avLst/>
          </a:prstGeom>
          <a:solidFill>
            <a:srgbClr val="0B2C4A"/>
          </a:solidFill>
          <a:ln/>
        </p:spPr>
      </p:sp>
      <p:sp>
        <p:nvSpPr>
          <p:cNvPr id="145" name="Shape 143"/>
          <p:cNvSpPr/>
          <p:nvPr/>
        </p:nvSpPr>
        <p:spPr>
          <a:xfrm>
            <a:off x="6085332" y="1847088"/>
            <a:ext cx="10973" cy="4078224"/>
          </a:xfrm>
          <a:prstGeom prst="rect">
            <a:avLst/>
          </a:prstGeom>
          <a:solidFill>
            <a:srgbClr val="D9D9D9"/>
          </a:solidFill>
          <a:ln/>
        </p:spPr>
      </p:sp>
      <p:sp>
        <p:nvSpPr>
          <p:cNvPr id="146" name="Shape 144"/>
          <p:cNvSpPr/>
          <p:nvPr/>
        </p:nvSpPr>
        <p:spPr>
          <a:xfrm>
            <a:off x="457200" y="6126480"/>
            <a:ext cx="11274552" cy="615696"/>
          </a:xfrm>
          <a:prstGeom prst="rect">
            <a:avLst/>
          </a:prstGeom>
          <a:solidFill>
            <a:srgbClr val="EDF4FA"/>
          </a:solidFill>
          <a:ln/>
        </p:spPr>
      </p:sp>
      <p:sp>
        <p:nvSpPr>
          <p:cNvPr id="147" name="Text 145"/>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13 of 33 stores at or above the 36.5% group, led by Toyota Henderson at 45.1%. CDJR Post Falls is lowest at 24.4%.</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INTERNAL</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Internal Parts Gross Profit %</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356235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INTERNAL PARTS GROSS PROFIT %</a:t>
            </a:r>
            <a:endParaRPr lang="en-US" sz="1500" dirty="0"/>
          </a:p>
        </p:txBody>
      </p:sp>
      <p:sp>
        <p:nvSpPr>
          <p:cNvPr id="9" name="Text 7"/>
          <p:cNvSpPr txBox="1"/>
          <p:nvPr/>
        </p:nvSpPr>
        <p:spPr>
          <a:xfrm>
            <a:off x="4476750" y="1335024"/>
            <a:ext cx="356997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YEAR-OVER-YEAR CHANGE</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7A4A"/>
                </a:solidFill>
                <a:latin typeface="Inter" pitchFamily="34" charset="0"/>
                <a:ea typeface="Inter" pitchFamily="34" charset="-122"/>
                <a:cs typeface="Inter" pitchFamily="34" charset="-120"/>
              </a:rPr>
              <a:t>+0.5 pts</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3" name="Shape 11"/>
          <p:cNvSpPr/>
          <p:nvPr/>
        </p:nvSpPr>
        <p:spPr>
          <a:xfrm>
            <a:off x="3785616" y="1911860"/>
            <a:ext cx="777240" cy="110352"/>
          </a:xfrm>
          <a:prstGeom prst="rect">
            <a:avLst/>
          </a:prstGeom>
          <a:solidFill>
            <a:srgbClr val="12A566"/>
          </a:solidFill>
          <a:ln/>
        </p:spPr>
      </p:sp>
      <p:sp>
        <p:nvSpPr>
          <p:cNvPr id="14" name="Text 12"/>
          <p:cNvSpPr txBox="1"/>
          <p:nvPr/>
        </p:nvSpPr>
        <p:spPr>
          <a:xfrm>
            <a:off x="4617720" y="184708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+6.2 pts</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7" name="Shape 15"/>
          <p:cNvSpPr/>
          <p:nvPr/>
        </p:nvSpPr>
        <p:spPr>
          <a:xfrm>
            <a:off x="3785616" y="2151755"/>
            <a:ext cx="746935" cy="110352"/>
          </a:xfrm>
          <a:prstGeom prst="rect">
            <a:avLst/>
          </a:prstGeom>
          <a:solidFill>
            <a:srgbClr val="12A566"/>
          </a:solidFill>
          <a:ln/>
        </p:spPr>
      </p:sp>
      <p:sp>
        <p:nvSpPr>
          <p:cNvPr id="18" name="Text 16"/>
          <p:cNvSpPr txBox="1"/>
          <p:nvPr/>
        </p:nvSpPr>
        <p:spPr>
          <a:xfrm>
            <a:off x="4617720" y="208698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+6.0 pts</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21" name="Shape 19"/>
          <p:cNvSpPr/>
          <p:nvPr/>
        </p:nvSpPr>
        <p:spPr>
          <a:xfrm>
            <a:off x="3785616" y="2391651"/>
            <a:ext cx="544841" cy="110352"/>
          </a:xfrm>
          <a:prstGeom prst="rect">
            <a:avLst/>
          </a:prstGeom>
          <a:solidFill>
            <a:srgbClr val="12A566"/>
          </a:solidFill>
          <a:ln/>
        </p:spPr>
      </p:sp>
      <p:sp>
        <p:nvSpPr>
          <p:cNvPr id="22" name="Text 20"/>
          <p:cNvSpPr txBox="1"/>
          <p:nvPr/>
        </p:nvSpPr>
        <p:spPr>
          <a:xfrm>
            <a:off x="4617720" y="232687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+4.4 pts</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25" name="Shape 23"/>
          <p:cNvSpPr/>
          <p:nvPr/>
        </p:nvSpPr>
        <p:spPr>
          <a:xfrm>
            <a:off x="3785616" y="2631546"/>
            <a:ext cx="411845" cy="110352"/>
          </a:xfrm>
          <a:prstGeom prst="rect">
            <a:avLst/>
          </a:prstGeom>
          <a:solidFill>
            <a:srgbClr val="12A566"/>
          </a:solidFill>
          <a:ln/>
        </p:spPr>
      </p:sp>
      <p:sp>
        <p:nvSpPr>
          <p:cNvPr id="26" name="Text 24"/>
          <p:cNvSpPr txBox="1"/>
          <p:nvPr/>
        </p:nvSpPr>
        <p:spPr>
          <a:xfrm>
            <a:off x="4617720" y="256677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+3.3 pts</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29" name="Shape 27"/>
          <p:cNvSpPr/>
          <p:nvPr/>
        </p:nvSpPr>
        <p:spPr>
          <a:xfrm>
            <a:off x="3785616" y="2871442"/>
            <a:ext cx="410069" cy="110352"/>
          </a:xfrm>
          <a:prstGeom prst="rect">
            <a:avLst/>
          </a:prstGeom>
          <a:solidFill>
            <a:srgbClr val="12A566"/>
          </a:solidFill>
          <a:ln/>
        </p:spPr>
      </p:sp>
      <p:sp>
        <p:nvSpPr>
          <p:cNvPr id="30" name="Text 28"/>
          <p:cNvSpPr txBox="1"/>
          <p:nvPr/>
        </p:nvSpPr>
        <p:spPr>
          <a:xfrm>
            <a:off x="4617720" y="280667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+3.3 pts</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33" name="Shape 31"/>
          <p:cNvSpPr/>
          <p:nvPr/>
        </p:nvSpPr>
        <p:spPr>
          <a:xfrm>
            <a:off x="3785616" y="3111337"/>
            <a:ext cx="366175" cy="110352"/>
          </a:xfrm>
          <a:prstGeom prst="rect">
            <a:avLst/>
          </a:prstGeom>
          <a:solidFill>
            <a:srgbClr val="12A566"/>
          </a:solidFill>
          <a:ln/>
        </p:spPr>
      </p:sp>
      <p:sp>
        <p:nvSpPr>
          <p:cNvPr id="34" name="Text 32"/>
          <p:cNvSpPr txBox="1"/>
          <p:nvPr/>
        </p:nvSpPr>
        <p:spPr>
          <a:xfrm>
            <a:off x="4617720" y="3046566"/>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+2.9 pts</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37" name="Shape 35"/>
          <p:cNvSpPr/>
          <p:nvPr/>
        </p:nvSpPr>
        <p:spPr>
          <a:xfrm>
            <a:off x="3785616" y="3351233"/>
            <a:ext cx="321691" cy="110352"/>
          </a:xfrm>
          <a:prstGeom prst="rect">
            <a:avLst/>
          </a:prstGeom>
          <a:solidFill>
            <a:srgbClr val="12A566"/>
          </a:solidFill>
          <a:ln/>
        </p:spPr>
      </p:sp>
      <p:sp>
        <p:nvSpPr>
          <p:cNvPr id="38" name="Text 36"/>
          <p:cNvSpPr txBox="1"/>
          <p:nvPr/>
        </p:nvSpPr>
        <p:spPr>
          <a:xfrm>
            <a:off x="4617720" y="3286461"/>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+2.6 pts</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41" name="Shape 39"/>
          <p:cNvSpPr/>
          <p:nvPr/>
        </p:nvSpPr>
        <p:spPr>
          <a:xfrm>
            <a:off x="3785616" y="3591128"/>
            <a:ext cx="314225" cy="110352"/>
          </a:xfrm>
          <a:prstGeom prst="rect">
            <a:avLst/>
          </a:prstGeom>
          <a:solidFill>
            <a:srgbClr val="12A566"/>
          </a:solidFill>
          <a:ln/>
        </p:spPr>
      </p:sp>
      <p:sp>
        <p:nvSpPr>
          <p:cNvPr id="42" name="Text 40"/>
          <p:cNvSpPr txBox="1"/>
          <p:nvPr/>
        </p:nvSpPr>
        <p:spPr>
          <a:xfrm>
            <a:off x="4617720" y="3526357"/>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+2.5 pts</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45" name="Shape 43"/>
          <p:cNvSpPr/>
          <p:nvPr/>
        </p:nvSpPr>
        <p:spPr>
          <a:xfrm>
            <a:off x="3785616" y="3831024"/>
            <a:ext cx="301280" cy="110352"/>
          </a:xfrm>
          <a:prstGeom prst="rect">
            <a:avLst/>
          </a:prstGeom>
          <a:solidFill>
            <a:srgbClr val="12A566"/>
          </a:solidFill>
          <a:ln/>
        </p:spPr>
      </p:sp>
      <p:sp>
        <p:nvSpPr>
          <p:cNvPr id="46" name="Text 44"/>
          <p:cNvSpPr txBox="1"/>
          <p:nvPr/>
        </p:nvSpPr>
        <p:spPr>
          <a:xfrm>
            <a:off x="4617720" y="3766252"/>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+2.4 pts</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49" name="Shape 47"/>
          <p:cNvSpPr/>
          <p:nvPr/>
        </p:nvSpPr>
        <p:spPr>
          <a:xfrm>
            <a:off x="3785616" y="4070920"/>
            <a:ext cx="260605" cy="110352"/>
          </a:xfrm>
          <a:prstGeom prst="rect">
            <a:avLst/>
          </a:prstGeom>
          <a:solidFill>
            <a:srgbClr val="12A566"/>
          </a:solidFill>
          <a:ln/>
        </p:spPr>
      </p:sp>
      <p:sp>
        <p:nvSpPr>
          <p:cNvPr id="50" name="Text 48"/>
          <p:cNvSpPr txBox="1"/>
          <p:nvPr/>
        </p:nvSpPr>
        <p:spPr>
          <a:xfrm>
            <a:off x="4617720" y="400614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+2.1 pts</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53" name="Shape 51"/>
          <p:cNvSpPr/>
          <p:nvPr/>
        </p:nvSpPr>
        <p:spPr>
          <a:xfrm>
            <a:off x="3785616" y="4310815"/>
            <a:ext cx="253666" cy="110352"/>
          </a:xfrm>
          <a:prstGeom prst="rect">
            <a:avLst/>
          </a:prstGeom>
          <a:solidFill>
            <a:srgbClr val="12A566"/>
          </a:solidFill>
          <a:ln/>
        </p:spPr>
      </p:sp>
      <p:sp>
        <p:nvSpPr>
          <p:cNvPr id="54" name="Text 52"/>
          <p:cNvSpPr txBox="1"/>
          <p:nvPr/>
        </p:nvSpPr>
        <p:spPr>
          <a:xfrm>
            <a:off x="4617720" y="4246043"/>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+2.0 pts</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57" name="Shape 55"/>
          <p:cNvSpPr/>
          <p:nvPr/>
        </p:nvSpPr>
        <p:spPr>
          <a:xfrm>
            <a:off x="3785616" y="4550711"/>
            <a:ext cx="211088" cy="110352"/>
          </a:xfrm>
          <a:prstGeom prst="rect">
            <a:avLst/>
          </a:prstGeom>
          <a:solidFill>
            <a:srgbClr val="12A566"/>
          </a:solidFill>
          <a:ln/>
        </p:spPr>
      </p:sp>
      <p:sp>
        <p:nvSpPr>
          <p:cNvPr id="58" name="Text 56"/>
          <p:cNvSpPr txBox="1"/>
          <p:nvPr/>
        </p:nvSpPr>
        <p:spPr>
          <a:xfrm>
            <a:off x="4617720" y="448593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+1.7 pts</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61" name="Shape 59"/>
          <p:cNvSpPr/>
          <p:nvPr/>
        </p:nvSpPr>
        <p:spPr>
          <a:xfrm>
            <a:off x="3785616" y="4790606"/>
            <a:ext cx="192231" cy="110352"/>
          </a:xfrm>
          <a:prstGeom prst="rect">
            <a:avLst/>
          </a:prstGeom>
          <a:solidFill>
            <a:srgbClr val="12A566"/>
          </a:solidFill>
          <a:ln/>
        </p:spPr>
      </p:sp>
      <p:sp>
        <p:nvSpPr>
          <p:cNvPr id="62" name="Text 60"/>
          <p:cNvSpPr txBox="1"/>
          <p:nvPr/>
        </p:nvSpPr>
        <p:spPr>
          <a:xfrm>
            <a:off x="4617720" y="472583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+1.5 pts</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65" name="Shape 63"/>
          <p:cNvSpPr/>
          <p:nvPr/>
        </p:nvSpPr>
        <p:spPr>
          <a:xfrm>
            <a:off x="3785616" y="5030502"/>
            <a:ext cx="190854" cy="110352"/>
          </a:xfrm>
          <a:prstGeom prst="rect">
            <a:avLst/>
          </a:prstGeom>
          <a:solidFill>
            <a:srgbClr val="12A566"/>
          </a:solidFill>
          <a:ln/>
        </p:spPr>
      </p:sp>
      <p:sp>
        <p:nvSpPr>
          <p:cNvPr id="66" name="Text 64"/>
          <p:cNvSpPr txBox="1"/>
          <p:nvPr/>
        </p:nvSpPr>
        <p:spPr>
          <a:xfrm>
            <a:off x="4617720" y="496573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+1.5 pts</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69" name="Shape 67"/>
          <p:cNvSpPr/>
          <p:nvPr/>
        </p:nvSpPr>
        <p:spPr>
          <a:xfrm>
            <a:off x="3785616" y="5270397"/>
            <a:ext cx="190842" cy="110352"/>
          </a:xfrm>
          <a:prstGeom prst="rect">
            <a:avLst/>
          </a:prstGeom>
          <a:solidFill>
            <a:srgbClr val="12A566"/>
          </a:solidFill>
          <a:ln/>
        </p:spPr>
      </p:sp>
      <p:sp>
        <p:nvSpPr>
          <p:cNvPr id="70" name="Text 68"/>
          <p:cNvSpPr txBox="1"/>
          <p:nvPr/>
        </p:nvSpPr>
        <p:spPr>
          <a:xfrm>
            <a:off x="4617720" y="520562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+1.5 pts</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73" name="Shape 71"/>
          <p:cNvSpPr/>
          <p:nvPr/>
        </p:nvSpPr>
        <p:spPr>
          <a:xfrm>
            <a:off x="3785616" y="5510293"/>
            <a:ext cx="158978" cy="110352"/>
          </a:xfrm>
          <a:prstGeom prst="rect">
            <a:avLst/>
          </a:prstGeom>
          <a:solidFill>
            <a:srgbClr val="12A566"/>
          </a:solidFill>
          <a:ln/>
        </p:spPr>
      </p:sp>
      <p:sp>
        <p:nvSpPr>
          <p:cNvPr id="74" name="Text 72"/>
          <p:cNvSpPr txBox="1"/>
          <p:nvPr/>
        </p:nvSpPr>
        <p:spPr>
          <a:xfrm>
            <a:off x="4617720" y="5445521"/>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+1.3 pts</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77" name="Shape 75"/>
          <p:cNvSpPr/>
          <p:nvPr/>
        </p:nvSpPr>
        <p:spPr>
          <a:xfrm>
            <a:off x="3785616" y="5750188"/>
            <a:ext cx="145538" cy="110352"/>
          </a:xfrm>
          <a:prstGeom prst="rect">
            <a:avLst/>
          </a:prstGeom>
          <a:solidFill>
            <a:srgbClr val="12A566"/>
          </a:solidFill>
          <a:ln/>
        </p:spPr>
      </p:sp>
      <p:sp>
        <p:nvSpPr>
          <p:cNvPr id="78" name="Text 76"/>
          <p:cNvSpPr txBox="1"/>
          <p:nvPr/>
        </p:nvSpPr>
        <p:spPr>
          <a:xfrm>
            <a:off x="4617720" y="5685416"/>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+1.2 pts</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81" name="Shape 79"/>
          <p:cNvSpPr/>
          <p:nvPr/>
        </p:nvSpPr>
        <p:spPr>
          <a:xfrm>
            <a:off x="9336024" y="1911860"/>
            <a:ext cx="118014" cy="110352"/>
          </a:xfrm>
          <a:prstGeom prst="rect">
            <a:avLst/>
          </a:prstGeom>
          <a:solidFill>
            <a:srgbClr val="12A566"/>
          </a:solidFill>
          <a:ln/>
        </p:spPr>
      </p:sp>
      <p:sp>
        <p:nvSpPr>
          <p:cNvPr id="82" name="Text 80"/>
          <p:cNvSpPr txBox="1"/>
          <p:nvPr/>
        </p:nvSpPr>
        <p:spPr>
          <a:xfrm>
            <a:off x="10168128" y="184708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+0.9 pts</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85" name="Shape 83"/>
          <p:cNvSpPr/>
          <p:nvPr/>
        </p:nvSpPr>
        <p:spPr>
          <a:xfrm>
            <a:off x="9336024" y="2151755"/>
            <a:ext cx="112861" cy="110352"/>
          </a:xfrm>
          <a:prstGeom prst="rect">
            <a:avLst/>
          </a:prstGeom>
          <a:solidFill>
            <a:srgbClr val="12A566"/>
          </a:solidFill>
          <a:ln/>
        </p:spPr>
      </p:sp>
      <p:sp>
        <p:nvSpPr>
          <p:cNvPr id="86" name="Text 84"/>
          <p:cNvSpPr txBox="1"/>
          <p:nvPr/>
        </p:nvSpPr>
        <p:spPr>
          <a:xfrm>
            <a:off x="10168128" y="208698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+0.9 pts</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89" name="Shape 87"/>
          <p:cNvSpPr/>
          <p:nvPr/>
        </p:nvSpPr>
        <p:spPr>
          <a:xfrm>
            <a:off x="9336024" y="2391651"/>
            <a:ext cx="51131" cy="110352"/>
          </a:xfrm>
          <a:prstGeom prst="rect">
            <a:avLst/>
          </a:prstGeom>
          <a:solidFill>
            <a:srgbClr val="12A566"/>
          </a:solidFill>
          <a:ln/>
        </p:spPr>
      </p:sp>
      <p:sp>
        <p:nvSpPr>
          <p:cNvPr id="90" name="Text 88"/>
          <p:cNvSpPr txBox="1"/>
          <p:nvPr/>
        </p:nvSpPr>
        <p:spPr>
          <a:xfrm>
            <a:off x="10168128" y="232687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+0.4 pts</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93" name="Shape 91"/>
          <p:cNvSpPr/>
          <p:nvPr/>
        </p:nvSpPr>
        <p:spPr>
          <a:xfrm>
            <a:off x="9336024" y="2631546"/>
            <a:ext cx="42573" cy="110352"/>
          </a:xfrm>
          <a:prstGeom prst="rect">
            <a:avLst/>
          </a:prstGeom>
          <a:solidFill>
            <a:srgbClr val="12A566"/>
          </a:solidFill>
          <a:ln/>
        </p:spPr>
      </p:sp>
      <p:sp>
        <p:nvSpPr>
          <p:cNvPr id="94" name="Text 92"/>
          <p:cNvSpPr txBox="1"/>
          <p:nvPr/>
        </p:nvSpPr>
        <p:spPr>
          <a:xfrm>
            <a:off x="10168128" y="256677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+0.3 pts</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97" name="Shape 95"/>
          <p:cNvSpPr/>
          <p:nvPr/>
        </p:nvSpPr>
        <p:spPr>
          <a:xfrm>
            <a:off x="9306469" y="2871442"/>
            <a:ext cx="29555" cy="110352"/>
          </a:xfrm>
          <a:prstGeom prst="rect">
            <a:avLst/>
          </a:prstGeom>
          <a:solidFill>
            <a:srgbClr val="C2352F"/>
          </a:solidFill>
          <a:ln/>
        </p:spPr>
      </p:sp>
      <p:sp>
        <p:nvSpPr>
          <p:cNvPr id="98" name="Text 96"/>
          <p:cNvSpPr txBox="1"/>
          <p:nvPr/>
        </p:nvSpPr>
        <p:spPr>
          <a:xfrm>
            <a:off x="10168128" y="2806670"/>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−0.2 pts</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101" name="Shape 99"/>
          <p:cNvSpPr/>
          <p:nvPr/>
        </p:nvSpPr>
        <p:spPr>
          <a:xfrm>
            <a:off x="9293325" y="3111337"/>
            <a:ext cx="42699" cy="110352"/>
          </a:xfrm>
          <a:prstGeom prst="rect">
            <a:avLst/>
          </a:prstGeom>
          <a:solidFill>
            <a:srgbClr val="C2352F"/>
          </a:solidFill>
          <a:ln/>
        </p:spPr>
      </p:sp>
      <p:sp>
        <p:nvSpPr>
          <p:cNvPr id="102" name="Text 100"/>
          <p:cNvSpPr txBox="1"/>
          <p:nvPr/>
        </p:nvSpPr>
        <p:spPr>
          <a:xfrm>
            <a:off x="10168128" y="3046566"/>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−0.3 pts</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105" name="Shape 103"/>
          <p:cNvSpPr/>
          <p:nvPr/>
        </p:nvSpPr>
        <p:spPr>
          <a:xfrm>
            <a:off x="9214515" y="3351233"/>
            <a:ext cx="121509" cy="110352"/>
          </a:xfrm>
          <a:prstGeom prst="rect">
            <a:avLst/>
          </a:prstGeom>
          <a:solidFill>
            <a:srgbClr val="C2352F"/>
          </a:solidFill>
          <a:ln/>
        </p:spPr>
      </p:sp>
      <p:sp>
        <p:nvSpPr>
          <p:cNvPr id="106" name="Text 104"/>
          <p:cNvSpPr txBox="1"/>
          <p:nvPr/>
        </p:nvSpPr>
        <p:spPr>
          <a:xfrm>
            <a:off x="10168128" y="3286461"/>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−1.0 pts</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09" name="Shape 107"/>
          <p:cNvSpPr/>
          <p:nvPr/>
        </p:nvSpPr>
        <p:spPr>
          <a:xfrm>
            <a:off x="9050201" y="3591128"/>
            <a:ext cx="285823" cy="110352"/>
          </a:xfrm>
          <a:prstGeom prst="rect">
            <a:avLst/>
          </a:prstGeom>
          <a:solidFill>
            <a:srgbClr val="C2352F"/>
          </a:solidFill>
          <a:ln/>
        </p:spPr>
      </p:sp>
      <p:sp>
        <p:nvSpPr>
          <p:cNvPr id="110" name="Text 108"/>
          <p:cNvSpPr txBox="1"/>
          <p:nvPr/>
        </p:nvSpPr>
        <p:spPr>
          <a:xfrm>
            <a:off x="10168128" y="3526357"/>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−2.3 pts</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113" name="Shape 111"/>
          <p:cNvSpPr/>
          <p:nvPr/>
        </p:nvSpPr>
        <p:spPr>
          <a:xfrm>
            <a:off x="9011711" y="3831024"/>
            <a:ext cx="324313" cy="110352"/>
          </a:xfrm>
          <a:prstGeom prst="rect">
            <a:avLst/>
          </a:prstGeom>
          <a:solidFill>
            <a:srgbClr val="C2352F"/>
          </a:solidFill>
          <a:ln/>
        </p:spPr>
      </p:sp>
      <p:sp>
        <p:nvSpPr>
          <p:cNvPr id="114" name="Text 112"/>
          <p:cNvSpPr txBox="1"/>
          <p:nvPr/>
        </p:nvSpPr>
        <p:spPr>
          <a:xfrm>
            <a:off x="10168128" y="3766252"/>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−2.6 pts</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117" name="Shape 115"/>
          <p:cNvSpPr/>
          <p:nvPr/>
        </p:nvSpPr>
        <p:spPr>
          <a:xfrm>
            <a:off x="8964654" y="4070920"/>
            <a:ext cx="371370" cy="110352"/>
          </a:xfrm>
          <a:prstGeom prst="rect">
            <a:avLst/>
          </a:prstGeom>
          <a:solidFill>
            <a:srgbClr val="C2352F"/>
          </a:solidFill>
          <a:ln/>
        </p:spPr>
      </p:sp>
      <p:sp>
        <p:nvSpPr>
          <p:cNvPr id="118" name="Text 116"/>
          <p:cNvSpPr txBox="1"/>
          <p:nvPr/>
        </p:nvSpPr>
        <p:spPr>
          <a:xfrm>
            <a:off x="10168128" y="4006148"/>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−3.0 pts</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121" name="Shape 119"/>
          <p:cNvSpPr/>
          <p:nvPr/>
        </p:nvSpPr>
        <p:spPr>
          <a:xfrm>
            <a:off x="8964060" y="4310815"/>
            <a:ext cx="371964" cy="110352"/>
          </a:xfrm>
          <a:prstGeom prst="rect">
            <a:avLst/>
          </a:prstGeom>
          <a:solidFill>
            <a:srgbClr val="C2352F"/>
          </a:solidFill>
          <a:ln/>
        </p:spPr>
      </p:sp>
      <p:sp>
        <p:nvSpPr>
          <p:cNvPr id="122" name="Text 120"/>
          <p:cNvSpPr txBox="1"/>
          <p:nvPr/>
        </p:nvSpPr>
        <p:spPr>
          <a:xfrm>
            <a:off x="10168128" y="4246043"/>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−3.0 pts</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125" name="Shape 123"/>
          <p:cNvSpPr/>
          <p:nvPr/>
        </p:nvSpPr>
        <p:spPr>
          <a:xfrm>
            <a:off x="8958532" y="4550711"/>
            <a:ext cx="377492" cy="110352"/>
          </a:xfrm>
          <a:prstGeom prst="rect">
            <a:avLst/>
          </a:prstGeom>
          <a:solidFill>
            <a:srgbClr val="C2352F"/>
          </a:solidFill>
          <a:ln/>
        </p:spPr>
      </p:sp>
      <p:sp>
        <p:nvSpPr>
          <p:cNvPr id="126" name="Text 124"/>
          <p:cNvSpPr txBox="1"/>
          <p:nvPr/>
        </p:nvSpPr>
        <p:spPr>
          <a:xfrm>
            <a:off x="10168128" y="4485939"/>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−3.0 pts</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29" name="Shape 127"/>
          <p:cNvSpPr/>
          <p:nvPr/>
        </p:nvSpPr>
        <p:spPr>
          <a:xfrm>
            <a:off x="8881593" y="4790606"/>
            <a:ext cx="454431" cy="110352"/>
          </a:xfrm>
          <a:prstGeom prst="rect">
            <a:avLst/>
          </a:prstGeom>
          <a:solidFill>
            <a:srgbClr val="C2352F"/>
          </a:solidFill>
          <a:ln/>
        </p:spPr>
      </p:sp>
      <p:sp>
        <p:nvSpPr>
          <p:cNvPr id="130" name="Text 128"/>
          <p:cNvSpPr txBox="1"/>
          <p:nvPr/>
        </p:nvSpPr>
        <p:spPr>
          <a:xfrm>
            <a:off x="10168128" y="4725834"/>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−3.6 pts</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133" name="Shape 131"/>
          <p:cNvSpPr/>
          <p:nvPr/>
        </p:nvSpPr>
        <p:spPr>
          <a:xfrm>
            <a:off x="8875241" y="5030502"/>
            <a:ext cx="460783" cy="110352"/>
          </a:xfrm>
          <a:prstGeom prst="rect">
            <a:avLst/>
          </a:prstGeom>
          <a:solidFill>
            <a:srgbClr val="C2352F"/>
          </a:solidFill>
          <a:ln/>
        </p:spPr>
      </p:sp>
      <p:sp>
        <p:nvSpPr>
          <p:cNvPr id="134" name="Text 132"/>
          <p:cNvSpPr txBox="1"/>
          <p:nvPr/>
        </p:nvSpPr>
        <p:spPr>
          <a:xfrm>
            <a:off x="10168128" y="4965730"/>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−3.7 pts</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137" name="Shape 135"/>
          <p:cNvSpPr/>
          <p:nvPr/>
        </p:nvSpPr>
        <p:spPr>
          <a:xfrm>
            <a:off x="8760254" y="5270397"/>
            <a:ext cx="575770" cy="110352"/>
          </a:xfrm>
          <a:prstGeom prst="rect">
            <a:avLst/>
          </a:prstGeom>
          <a:solidFill>
            <a:srgbClr val="C2352F"/>
          </a:solidFill>
          <a:ln/>
        </p:spPr>
      </p:sp>
      <p:sp>
        <p:nvSpPr>
          <p:cNvPr id="138" name="Text 136"/>
          <p:cNvSpPr txBox="1"/>
          <p:nvPr/>
        </p:nvSpPr>
        <p:spPr>
          <a:xfrm>
            <a:off x="10168128" y="5205625"/>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−4.6 pts</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41" name="Shape 139"/>
          <p:cNvSpPr/>
          <p:nvPr/>
        </p:nvSpPr>
        <p:spPr>
          <a:xfrm>
            <a:off x="8731990" y="5510293"/>
            <a:ext cx="604034" cy="110352"/>
          </a:xfrm>
          <a:prstGeom prst="rect">
            <a:avLst/>
          </a:prstGeom>
          <a:solidFill>
            <a:srgbClr val="C2352F"/>
          </a:solidFill>
          <a:ln/>
        </p:spPr>
      </p:sp>
      <p:sp>
        <p:nvSpPr>
          <p:cNvPr id="142" name="Text 140"/>
          <p:cNvSpPr txBox="1"/>
          <p:nvPr/>
        </p:nvSpPr>
        <p:spPr>
          <a:xfrm>
            <a:off x="10168128" y="5445521"/>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−4.8 pts</a:t>
            </a:r>
            <a:endParaRPr lang="en-US" sz="1200" dirty="0"/>
          </a:p>
        </p:txBody>
      </p:sp>
      <p:sp>
        <p:nvSpPr>
          <p:cNvPr id="143" name="Shape 141"/>
          <p:cNvSpPr/>
          <p:nvPr/>
        </p:nvSpPr>
        <p:spPr>
          <a:xfrm>
            <a:off x="3780130" y="1847088"/>
            <a:ext cx="10973" cy="4078224"/>
          </a:xfrm>
          <a:prstGeom prst="rect">
            <a:avLst/>
          </a:prstGeom>
          <a:solidFill>
            <a:srgbClr val="9AA3AD"/>
          </a:solidFill>
          <a:ln/>
        </p:spPr>
      </p:sp>
      <p:sp>
        <p:nvSpPr>
          <p:cNvPr id="144" name="Shape 142"/>
          <p:cNvSpPr/>
          <p:nvPr/>
        </p:nvSpPr>
        <p:spPr>
          <a:xfrm>
            <a:off x="9330538" y="1847088"/>
            <a:ext cx="10973" cy="4078224"/>
          </a:xfrm>
          <a:prstGeom prst="rect">
            <a:avLst/>
          </a:prstGeom>
          <a:solidFill>
            <a:srgbClr val="9AA3AD"/>
          </a:solidFill>
          <a:ln/>
        </p:spPr>
      </p:sp>
      <p:sp>
        <p:nvSpPr>
          <p:cNvPr id="145" name="Shape 143"/>
          <p:cNvSpPr/>
          <p:nvPr/>
        </p:nvSpPr>
        <p:spPr>
          <a:xfrm>
            <a:off x="6085332" y="1847088"/>
            <a:ext cx="10973" cy="4078224"/>
          </a:xfrm>
          <a:prstGeom prst="rect">
            <a:avLst/>
          </a:prstGeom>
          <a:solidFill>
            <a:srgbClr val="D9D9D9"/>
          </a:solidFill>
          <a:ln/>
        </p:spPr>
      </p:sp>
      <p:sp>
        <p:nvSpPr>
          <p:cNvPr id="146" name="Shape 144"/>
          <p:cNvSpPr/>
          <p:nvPr/>
        </p:nvSpPr>
        <p:spPr>
          <a:xfrm>
            <a:off x="457200" y="6126480"/>
            <a:ext cx="11274552" cy="615696"/>
          </a:xfrm>
          <a:prstGeom prst="rect">
            <a:avLst/>
          </a:prstGeom>
          <a:solidFill>
            <a:srgbClr val="E6F6EE"/>
          </a:solidFill>
          <a:ln/>
        </p:spPr>
      </p:sp>
      <p:sp>
        <p:nvSpPr>
          <p:cNvPr id="147" name="Text 145"/>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21 of 33 stores raised internal parts GP%, led by Acura at +6.2 pts to 34.0%. 12 declined; VW St George fell most at −4.8 pts.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INTERNAL</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Internal Parts Gross Profit %</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71600"/>
            <a:ext cx="3489960" cy="45720"/>
          </a:xfrm>
          <a:prstGeom prst="rect">
            <a:avLst/>
          </a:prstGeom>
          <a:solidFill>
            <a:srgbClr val="12A566"/>
          </a:solidFill>
          <a:ln/>
        </p:spPr>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2026 vs Jan–Sep 2025</a:t>
            </a:r>
            <a:endParaRPr lang="en-US" sz="1200" dirty="0"/>
          </a:p>
        </p:txBody>
      </p:sp>
      <p:sp>
        <p:nvSpPr>
          <p:cNvPr id="9" name="Shape 7"/>
          <p:cNvSpPr/>
          <p:nvPr/>
        </p:nvSpPr>
        <p:spPr>
          <a:xfrm>
            <a:off x="658368" y="2103120"/>
            <a:ext cx="3489960" cy="755294"/>
          </a:xfrm>
          <a:prstGeom prst="rect">
            <a:avLst/>
          </a:prstGeom>
          <a:solidFill>
            <a:srgbClr val="F7F7F7"/>
          </a:solidFill>
          <a:ln/>
        </p:spPr>
      </p:sp>
      <p:sp>
        <p:nvSpPr>
          <p:cNvPr id="10" name="Shape 8"/>
          <p:cNvSpPr/>
          <p:nvPr/>
        </p:nvSpPr>
        <p:spPr>
          <a:xfrm>
            <a:off x="4084320" y="2139696"/>
            <a:ext cx="64008" cy="682142"/>
          </a:xfrm>
          <a:prstGeom prst="rect">
            <a:avLst/>
          </a:prstGeom>
          <a:solidFill>
            <a:srgbClr val="12A566"/>
          </a:solidFill>
          <a:ln/>
        </p:spPr>
      </p:sp>
      <p:sp>
        <p:nvSpPr>
          <p:cNvPr id="11" name="Text 9"/>
          <p:cNvSpPr txBox="1"/>
          <p:nvPr/>
        </p:nvSpPr>
        <p:spPr>
          <a:xfrm>
            <a:off x="749808"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27.8%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34.0%</a:t>
            </a:r>
            <a:endParaRPr lang="en-US" sz="1400" dirty="0"/>
          </a:p>
        </p:txBody>
      </p:sp>
      <p:sp>
        <p:nvSpPr>
          <p:cNvPr id="13" name="Text 11"/>
          <p:cNvSpPr txBox="1"/>
          <p:nvPr/>
        </p:nvSpPr>
        <p:spPr>
          <a:xfrm>
            <a:off x="2941320" y="2103120"/>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+6.2 pts</a:t>
            </a:r>
            <a:endParaRPr lang="en-US" sz="1600" dirty="0"/>
          </a:p>
        </p:txBody>
      </p:sp>
      <p:sp>
        <p:nvSpPr>
          <p:cNvPr id="14" name="Text 12"/>
          <p:cNvSpPr txBox="1"/>
          <p:nvPr/>
        </p:nvSpPr>
        <p:spPr>
          <a:xfrm>
            <a:off x="749808"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5" name="Text 13"/>
          <p:cNvSpPr txBox="1"/>
          <p:nvPr/>
        </p:nvSpPr>
        <p:spPr>
          <a:xfrm>
            <a:off x="1097280"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27.4%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33.4%</a:t>
            </a:r>
            <a:endParaRPr lang="en-US" sz="1400" dirty="0"/>
          </a:p>
        </p:txBody>
      </p:sp>
      <p:sp>
        <p:nvSpPr>
          <p:cNvPr id="16" name="Text 14"/>
          <p:cNvSpPr txBox="1"/>
          <p:nvPr/>
        </p:nvSpPr>
        <p:spPr>
          <a:xfrm>
            <a:off x="2941320" y="2858414"/>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+6.0 pts</a:t>
            </a:r>
            <a:endParaRPr lang="en-US" sz="1600" dirty="0"/>
          </a:p>
        </p:txBody>
      </p:sp>
      <p:sp>
        <p:nvSpPr>
          <p:cNvPr id="17" name="Shape 15"/>
          <p:cNvSpPr/>
          <p:nvPr/>
        </p:nvSpPr>
        <p:spPr>
          <a:xfrm>
            <a:off x="658368" y="3613709"/>
            <a:ext cx="3489960" cy="755294"/>
          </a:xfrm>
          <a:prstGeom prst="rect">
            <a:avLst/>
          </a:prstGeom>
          <a:solidFill>
            <a:srgbClr val="F7F7F7"/>
          </a:solidFill>
          <a:ln/>
        </p:spPr>
      </p:sp>
      <p:sp>
        <p:nvSpPr>
          <p:cNvPr id="18" name="Text 16"/>
          <p:cNvSpPr txBox="1"/>
          <p:nvPr/>
        </p:nvSpPr>
        <p:spPr>
          <a:xfrm>
            <a:off x="749808"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9" name="Text 17"/>
          <p:cNvSpPr txBox="1"/>
          <p:nvPr/>
        </p:nvSpPr>
        <p:spPr>
          <a:xfrm>
            <a:off x="1097280"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Flagstaff</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25.3%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29.7%</a:t>
            </a:r>
            <a:endParaRPr lang="en-US" sz="1400" dirty="0"/>
          </a:p>
        </p:txBody>
      </p:sp>
      <p:sp>
        <p:nvSpPr>
          <p:cNvPr id="20" name="Text 18"/>
          <p:cNvSpPr txBox="1"/>
          <p:nvPr/>
        </p:nvSpPr>
        <p:spPr>
          <a:xfrm>
            <a:off x="2941320" y="3613709"/>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+4.4 pts</a:t>
            </a:r>
            <a:endParaRPr lang="en-US" sz="1600" dirty="0"/>
          </a:p>
        </p:txBody>
      </p:sp>
      <p:sp>
        <p:nvSpPr>
          <p:cNvPr id="21" name="Text 19"/>
          <p:cNvSpPr txBox="1"/>
          <p:nvPr/>
        </p:nvSpPr>
        <p:spPr>
          <a:xfrm>
            <a:off x="749808"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2" name="Text 20"/>
          <p:cNvSpPr txBox="1"/>
          <p:nvPr/>
        </p:nvSpPr>
        <p:spPr>
          <a:xfrm>
            <a:off x="1097280"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23.5%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26.8%</a:t>
            </a:r>
            <a:endParaRPr lang="en-US" sz="1400" dirty="0"/>
          </a:p>
        </p:txBody>
      </p:sp>
      <p:sp>
        <p:nvSpPr>
          <p:cNvPr id="23" name="Text 21"/>
          <p:cNvSpPr txBox="1"/>
          <p:nvPr/>
        </p:nvSpPr>
        <p:spPr>
          <a:xfrm>
            <a:off x="2941320" y="4369003"/>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+3.3 pts</a:t>
            </a:r>
            <a:endParaRPr lang="en-US" sz="1600" dirty="0"/>
          </a:p>
        </p:txBody>
      </p:sp>
      <p:sp>
        <p:nvSpPr>
          <p:cNvPr id="24" name="Shape 22"/>
          <p:cNvSpPr/>
          <p:nvPr/>
        </p:nvSpPr>
        <p:spPr>
          <a:xfrm>
            <a:off x="658368" y="5124298"/>
            <a:ext cx="3489960" cy="755294"/>
          </a:xfrm>
          <a:prstGeom prst="rect">
            <a:avLst/>
          </a:prstGeom>
          <a:solidFill>
            <a:srgbClr val="F7F7F7"/>
          </a:solidFill>
          <a:ln/>
        </p:spPr>
      </p:sp>
      <p:sp>
        <p:nvSpPr>
          <p:cNvPr id="25" name="Text 23"/>
          <p:cNvSpPr txBox="1"/>
          <p:nvPr/>
        </p:nvSpPr>
        <p:spPr>
          <a:xfrm>
            <a:off x="749808"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6" name="Text 24"/>
          <p:cNvSpPr txBox="1"/>
          <p:nvPr/>
        </p:nvSpPr>
        <p:spPr>
          <a:xfrm>
            <a:off x="1097280"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41.8%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45.1%</a:t>
            </a:r>
            <a:endParaRPr lang="en-US" sz="1400" dirty="0"/>
          </a:p>
        </p:txBody>
      </p:sp>
      <p:sp>
        <p:nvSpPr>
          <p:cNvPr id="27" name="Text 25"/>
          <p:cNvSpPr txBox="1"/>
          <p:nvPr/>
        </p:nvSpPr>
        <p:spPr>
          <a:xfrm>
            <a:off x="2941320" y="5124298"/>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+3.3 pts</a:t>
            </a:r>
            <a:endParaRPr lang="en-US" sz="1600" dirty="0"/>
          </a:p>
        </p:txBody>
      </p:sp>
      <p:sp>
        <p:nvSpPr>
          <p:cNvPr id="28" name="Shape 26"/>
          <p:cNvSpPr/>
          <p:nvPr/>
        </p:nvSpPr>
        <p:spPr>
          <a:xfrm>
            <a:off x="4349496" y="1371600"/>
            <a:ext cx="3489960" cy="45720"/>
          </a:xfrm>
          <a:prstGeom prst="rect">
            <a:avLst/>
          </a:prstGeom>
          <a:solidFill>
            <a:srgbClr val="C2352F"/>
          </a:solidFill>
          <a:ln/>
        </p:spPr>
      </p:sp>
      <p:sp>
        <p:nvSpPr>
          <p:cNvPr id="29" name="Text 27"/>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0" name="Text 28"/>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2026 vs Jan–Sep 2025</a:t>
            </a:r>
            <a:endParaRPr lang="en-US" sz="1200" dirty="0"/>
          </a:p>
        </p:txBody>
      </p:sp>
      <p:sp>
        <p:nvSpPr>
          <p:cNvPr id="31" name="Shape 29"/>
          <p:cNvSpPr/>
          <p:nvPr/>
        </p:nvSpPr>
        <p:spPr>
          <a:xfrm>
            <a:off x="4349496" y="2103120"/>
            <a:ext cx="3489960" cy="755294"/>
          </a:xfrm>
          <a:prstGeom prst="rect">
            <a:avLst/>
          </a:prstGeom>
          <a:solidFill>
            <a:srgbClr val="F7F7F7"/>
          </a:solidFill>
          <a:ln/>
        </p:spPr>
      </p:sp>
      <p:sp>
        <p:nvSpPr>
          <p:cNvPr id="32" name="Text 30"/>
          <p:cNvSpPr txBox="1"/>
          <p:nvPr/>
        </p:nvSpPr>
        <p:spPr>
          <a:xfrm>
            <a:off x="4440936"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3" name="Text 31"/>
          <p:cNvSpPr txBox="1"/>
          <p:nvPr/>
        </p:nvSpPr>
        <p:spPr>
          <a:xfrm>
            <a:off x="4788408"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36.5%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31.7%</a:t>
            </a:r>
            <a:endParaRPr lang="en-US" sz="1400" dirty="0"/>
          </a:p>
        </p:txBody>
      </p:sp>
      <p:sp>
        <p:nvSpPr>
          <p:cNvPr id="34" name="Text 32"/>
          <p:cNvSpPr txBox="1"/>
          <p:nvPr/>
        </p:nvSpPr>
        <p:spPr>
          <a:xfrm>
            <a:off x="6632448" y="2103120"/>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−4.8 pts</a:t>
            </a:r>
            <a:endParaRPr lang="en-US" sz="1600" dirty="0"/>
          </a:p>
        </p:txBody>
      </p:sp>
      <p:sp>
        <p:nvSpPr>
          <p:cNvPr id="35" name="Text 33"/>
          <p:cNvSpPr txBox="1"/>
          <p:nvPr/>
        </p:nvSpPr>
        <p:spPr>
          <a:xfrm>
            <a:off x="4440936"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6" name="Text 34"/>
          <p:cNvSpPr txBox="1"/>
          <p:nvPr/>
        </p:nvSpPr>
        <p:spPr>
          <a:xfrm>
            <a:off x="4788408"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37.1%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32.5%</a:t>
            </a:r>
            <a:endParaRPr lang="en-US" sz="1400" dirty="0"/>
          </a:p>
        </p:txBody>
      </p:sp>
      <p:sp>
        <p:nvSpPr>
          <p:cNvPr id="37" name="Text 35"/>
          <p:cNvSpPr txBox="1"/>
          <p:nvPr/>
        </p:nvSpPr>
        <p:spPr>
          <a:xfrm>
            <a:off x="6632448" y="2858414"/>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−4.6 pts</a:t>
            </a:r>
            <a:endParaRPr lang="en-US" sz="1600" dirty="0"/>
          </a:p>
        </p:txBody>
      </p:sp>
      <p:sp>
        <p:nvSpPr>
          <p:cNvPr id="38" name="Shape 36"/>
          <p:cNvSpPr/>
          <p:nvPr/>
        </p:nvSpPr>
        <p:spPr>
          <a:xfrm>
            <a:off x="4349496" y="3613709"/>
            <a:ext cx="3489960" cy="755294"/>
          </a:xfrm>
          <a:prstGeom prst="rect">
            <a:avLst/>
          </a:prstGeom>
          <a:solidFill>
            <a:srgbClr val="F7F7F7"/>
          </a:solidFill>
          <a:ln/>
        </p:spPr>
      </p:sp>
      <p:sp>
        <p:nvSpPr>
          <p:cNvPr id="39" name="Text 37"/>
          <p:cNvSpPr txBox="1"/>
          <p:nvPr/>
        </p:nvSpPr>
        <p:spPr>
          <a:xfrm>
            <a:off x="4440936"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0" name="Text 38"/>
          <p:cNvSpPr txBox="1"/>
          <p:nvPr/>
        </p:nvSpPr>
        <p:spPr>
          <a:xfrm>
            <a:off x="4788408"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28.9%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25.2%</a:t>
            </a:r>
            <a:endParaRPr lang="en-US" sz="1400" dirty="0"/>
          </a:p>
        </p:txBody>
      </p:sp>
      <p:sp>
        <p:nvSpPr>
          <p:cNvPr id="41" name="Text 39"/>
          <p:cNvSpPr txBox="1"/>
          <p:nvPr/>
        </p:nvSpPr>
        <p:spPr>
          <a:xfrm>
            <a:off x="6632448" y="3613709"/>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−3.7 pts</a:t>
            </a:r>
            <a:endParaRPr lang="en-US" sz="1600" dirty="0"/>
          </a:p>
        </p:txBody>
      </p:sp>
      <p:sp>
        <p:nvSpPr>
          <p:cNvPr id="42" name="Text 40"/>
          <p:cNvSpPr txBox="1"/>
          <p:nvPr/>
        </p:nvSpPr>
        <p:spPr>
          <a:xfrm>
            <a:off x="4440936"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3" name="Text 41"/>
          <p:cNvSpPr txBox="1"/>
          <p:nvPr/>
        </p:nvSpPr>
        <p:spPr>
          <a:xfrm>
            <a:off x="4788408"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35.0%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31.3%</a:t>
            </a:r>
            <a:endParaRPr lang="en-US" sz="1400" dirty="0"/>
          </a:p>
        </p:txBody>
      </p:sp>
      <p:sp>
        <p:nvSpPr>
          <p:cNvPr id="44" name="Text 42"/>
          <p:cNvSpPr txBox="1"/>
          <p:nvPr/>
        </p:nvSpPr>
        <p:spPr>
          <a:xfrm>
            <a:off x="6632448" y="4369003"/>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−3.6 pts</a:t>
            </a:r>
            <a:endParaRPr lang="en-US" sz="1600" dirty="0"/>
          </a:p>
        </p:txBody>
      </p:sp>
      <p:sp>
        <p:nvSpPr>
          <p:cNvPr id="45" name="Shape 43"/>
          <p:cNvSpPr/>
          <p:nvPr/>
        </p:nvSpPr>
        <p:spPr>
          <a:xfrm>
            <a:off x="4349496" y="5124298"/>
            <a:ext cx="3489960" cy="755294"/>
          </a:xfrm>
          <a:prstGeom prst="rect">
            <a:avLst/>
          </a:prstGeom>
          <a:solidFill>
            <a:srgbClr val="F7F7F7"/>
          </a:solidFill>
          <a:ln/>
        </p:spPr>
      </p:sp>
      <p:sp>
        <p:nvSpPr>
          <p:cNvPr id="46" name="Text 44"/>
          <p:cNvSpPr txBox="1"/>
          <p:nvPr/>
        </p:nvSpPr>
        <p:spPr>
          <a:xfrm>
            <a:off x="4440936"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47" name="Text 45"/>
          <p:cNvSpPr txBox="1"/>
          <p:nvPr/>
        </p:nvSpPr>
        <p:spPr>
          <a:xfrm>
            <a:off x="4788408"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Cadillac</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33.8%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30.8%</a:t>
            </a:r>
            <a:endParaRPr lang="en-US" sz="1400" dirty="0"/>
          </a:p>
        </p:txBody>
      </p:sp>
      <p:sp>
        <p:nvSpPr>
          <p:cNvPr id="48" name="Text 46"/>
          <p:cNvSpPr txBox="1"/>
          <p:nvPr/>
        </p:nvSpPr>
        <p:spPr>
          <a:xfrm>
            <a:off x="6632448" y="5124298"/>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−3.0 pts</a:t>
            </a:r>
            <a:endParaRPr lang="en-US" sz="1600" dirty="0"/>
          </a:p>
        </p:txBody>
      </p:sp>
      <p:sp>
        <p:nvSpPr>
          <p:cNvPr id="49" name="Shape 47"/>
          <p:cNvSpPr/>
          <p:nvPr/>
        </p:nvSpPr>
        <p:spPr>
          <a:xfrm>
            <a:off x="8040624" y="1371600"/>
            <a:ext cx="3489960" cy="45720"/>
          </a:xfrm>
          <a:prstGeom prst="rect">
            <a:avLst/>
          </a:prstGeom>
          <a:solidFill>
            <a:srgbClr val="2587C5"/>
          </a:solidFill>
          <a:ln/>
        </p:spPr>
      </p:sp>
      <p:sp>
        <p:nvSpPr>
          <p:cNvPr id="50" name="Text 48"/>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1" name="Text 49"/>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Jul–Sep vs Jan–Mar 2026</a:t>
            </a:r>
            <a:endParaRPr lang="en-US" sz="1200" dirty="0"/>
          </a:p>
        </p:txBody>
      </p:sp>
      <p:sp>
        <p:nvSpPr>
          <p:cNvPr id="52" name="Shape 50"/>
          <p:cNvSpPr/>
          <p:nvPr/>
        </p:nvSpPr>
        <p:spPr>
          <a:xfrm>
            <a:off x="8040624" y="2103120"/>
            <a:ext cx="3489960" cy="755294"/>
          </a:xfrm>
          <a:prstGeom prst="rect">
            <a:avLst/>
          </a:prstGeom>
          <a:solidFill>
            <a:srgbClr val="F7F7F7"/>
          </a:solidFill>
          <a:ln/>
        </p:spPr>
      </p:sp>
      <p:sp>
        <p:nvSpPr>
          <p:cNvPr id="53" name="Text 51"/>
          <p:cNvSpPr txBox="1"/>
          <p:nvPr/>
        </p:nvSpPr>
        <p:spPr>
          <a:xfrm>
            <a:off x="8132064"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4" name="Text 52"/>
          <p:cNvSpPr txBox="1"/>
          <p:nvPr/>
        </p:nvSpPr>
        <p:spPr>
          <a:xfrm>
            <a:off x="8479536"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34.8%</a:t>
            </a:r>
            <a:endParaRPr lang="en-US" sz="1400" dirty="0"/>
          </a:p>
        </p:txBody>
      </p:sp>
      <p:sp>
        <p:nvSpPr>
          <p:cNvPr id="55" name="Text 53"/>
          <p:cNvSpPr txBox="1"/>
          <p:nvPr/>
        </p:nvSpPr>
        <p:spPr>
          <a:xfrm>
            <a:off x="10323576" y="2103120"/>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+11.9 pts</a:t>
            </a:r>
            <a:endParaRPr lang="en-US" sz="1600" dirty="0"/>
          </a:p>
        </p:txBody>
      </p:sp>
      <p:sp>
        <p:nvSpPr>
          <p:cNvPr id="56" name="Text 54"/>
          <p:cNvSpPr txBox="1"/>
          <p:nvPr/>
        </p:nvSpPr>
        <p:spPr>
          <a:xfrm>
            <a:off x="8132064"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57" name="Text 55"/>
          <p:cNvSpPr txBox="1"/>
          <p:nvPr/>
        </p:nvSpPr>
        <p:spPr>
          <a:xfrm>
            <a:off x="8479536"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20.2%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26.4%</a:t>
            </a:r>
            <a:endParaRPr lang="en-US" sz="1400" dirty="0"/>
          </a:p>
        </p:txBody>
      </p:sp>
      <p:sp>
        <p:nvSpPr>
          <p:cNvPr id="58" name="Text 56"/>
          <p:cNvSpPr txBox="1"/>
          <p:nvPr/>
        </p:nvSpPr>
        <p:spPr>
          <a:xfrm>
            <a:off x="10323576" y="2858414"/>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+6.2 pts</a:t>
            </a:r>
            <a:endParaRPr lang="en-US" sz="1600" dirty="0"/>
          </a:p>
        </p:txBody>
      </p:sp>
      <p:sp>
        <p:nvSpPr>
          <p:cNvPr id="59" name="Shape 57"/>
          <p:cNvSpPr/>
          <p:nvPr/>
        </p:nvSpPr>
        <p:spPr>
          <a:xfrm>
            <a:off x="8040624" y="3613709"/>
            <a:ext cx="3489960" cy="755294"/>
          </a:xfrm>
          <a:prstGeom prst="rect">
            <a:avLst/>
          </a:prstGeom>
          <a:solidFill>
            <a:srgbClr val="F7F7F7"/>
          </a:solidFill>
          <a:ln/>
        </p:spPr>
      </p:sp>
      <p:sp>
        <p:nvSpPr>
          <p:cNvPr id="60" name="Text 58"/>
          <p:cNvSpPr txBox="1"/>
          <p:nvPr/>
        </p:nvSpPr>
        <p:spPr>
          <a:xfrm>
            <a:off x="8132064"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1" name="Text 59"/>
          <p:cNvSpPr txBox="1"/>
          <p:nvPr/>
        </p:nvSpPr>
        <p:spPr>
          <a:xfrm>
            <a:off x="8479536"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31.5%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35.6%</a:t>
            </a:r>
            <a:endParaRPr lang="en-US" sz="1400" dirty="0"/>
          </a:p>
        </p:txBody>
      </p:sp>
      <p:sp>
        <p:nvSpPr>
          <p:cNvPr id="62" name="Text 60"/>
          <p:cNvSpPr txBox="1"/>
          <p:nvPr/>
        </p:nvSpPr>
        <p:spPr>
          <a:xfrm>
            <a:off x="10323576" y="3613709"/>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+4.2 pts</a:t>
            </a:r>
            <a:endParaRPr lang="en-US" sz="1600" dirty="0"/>
          </a:p>
        </p:txBody>
      </p:sp>
      <p:sp>
        <p:nvSpPr>
          <p:cNvPr id="63" name="Shape 61"/>
          <p:cNvSpPr/>
          <p:nvPr/>
        </p:nvSpPr>
        <p:spPr>
          <a:xfrm>
            <a:off x="11466576" y="4405579"/>
            <a:ext cx="64008" cy="682142"/>
          </a:xfrm>
          <a:prstGeom prst="rect">
            <a:avLst/>
          </a:prstGeom>
          <a:solidFill>
            <a:srgbClr val="12A566"/>
          </a:solidFill>
          <a:ln/>
        </p:spPr>
      </p:sp>
      <p:sp>
        <p:nvSpPr>
          <p:cNvPr id="64" name="Text 62"/>
          <p:cNvSpPr txBox="1"/>
          <p:nvPr/>
        </p:nvSpPr>
        <p:spPr>
          <a:xfrm>
            <a:off x="8132064"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65" name="Text 63"/>
          <p:cNvSpPr txBox="1"/>
          <p:nvPr/>
        </p:nvSpPr>
        <p:spPr>
          <a:xfrm>
            <a:off x="8479536"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31.3%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34.5%</a:t>
            </a:r>
            <a:endParaRPr lang="en-US" sz="1400" dirty="0"/>
          </a:p>
        </p:txBody>
      </p:sp>
      <p:sp>
        <p:nvSpPr>
          <p:cNvPr id="66" name="Text 64"/>
          <p:cNvSpPr txBox="1"/>
          <p:nvPr/>
        </p:nvSpPr>
        <p:spPr>
          <a:xfrm>
            <a:off x="10323576" y="4369003"/>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+3.2 pts</a:t>
            </a:r>
            <a:endParaRPr lang="en-US" sz="1600" dirty="0"/>
          </a:p>
        </p:txBody>
      </p:sp>
      <p:sp>
        <p:nvSpPr>
          <p:cNvPr id="67" name="Shape 65"/>
          <p:cNvSpPr/>
          <p:nvPr/>
        </p:nvSpPr>
        <p:spPr>
          <a:xfrm>
            <a:off x="8040624" y="5124298"/>
            <a:ext cx="3489960" cy="755294"/>
          </a:xfrm>
          <a:prstGeom prst="rect">
            <a:avLst/>
          </a:prstGeom>
          <a:solidFill>
            <a:srgbClr val="F7F7F7"/>
          </a:solidFill>
          <a:ln/>
        </p:spPr>
      </p:sp>
      <p:sp>
        <p:nvSpPr>
          <p:cNvPr id="68" name="Text 66"/>
          <p:cNvSpPr txBox="1"/>
          <p:nvPr/>
        </p:nvSpPr>
        <p:spPr>
          <a:xfrm>
            <a:off x="8132064"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69" name="Text 67"/>
          <p:cNvSpPr txBox="1"/>
          <p:nvPr/>
        </p:nvSpPr>
        <p:spPr>
          <a:xfrm>
            <a:off x="8479536"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35.2%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37.9%</a:t>
            </a:r>
            <a:endParaRPr lang="en-US" sz="1400" dirty="0"/>
          </a:p>
        </p:txBody>
      </p:sp>
      <p:sp>
        <p:nvSpPr>
          <p:cNvPr id="70" name="Text 68"/>
          <p:cNvSpPr txBox="1"/>
          <p:nvPr/>
        </p:nvSpPr>
        <p:spPr>
          <a:xfrm>
            <a:off x="10323576" y="5124298"/>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+2.7 pts</a:t>
            </a:r>
            <a:endParaRPr lang="en-US" sz="1600" dirty="0"/>
          </a:p>
        </p:txBody>
      </p:sp>
      <p:sp>
        <p:nvSpPr>
          <p:cNvPr id="71" name="Shape 69"/>
          <p:cNvSpPr/>
          <p:nvPr/>
        </p:nvSpPr>
        <p:spPr>
          <a:xfrm>
            <a:off x="457200" y="6126480"/>
            <a:ext cx="11274552" cy="615696"/>
          </a:xfrm>
          <a:prstGeom prst="rect">
            <a:avLst/>
          </a:prstGeom>
          <a:solidFill>
            <a:srgbClr val="EDF4FA"/>
          </a:solidFill>
          <a:ln/>
        </p:spPr>
      </p:sp>
      <p:sp>
        <p:nvSpPr>
          <p:cNvPr id="72" name="Text 70"/>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Ask Acura, Hyundai Prescott and Honda Flagstaff what changed. Ask VW St George, Kia LV and LR LV what got in the way. Ask LR Reno, CDJR Post Falls and LR Henderson what they started this year.</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2026-10-24T20:52:24Z</dcterms:created>
  <dcterms:modified xsi:type="dcterms:W3CDTF">2026-10-24T20:52:24Z</dcterms:modified>
</cp:coreProperties>
</file>