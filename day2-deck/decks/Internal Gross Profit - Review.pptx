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77.5</c:v>
                </c:pt>
                <c:pt idx="1">
                  <c:v>77.4</c:v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>77.8</c:v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78.4</c:v>
                </c:pt>
                <c:pt idx="3">
                  <c:v>78.3</c:v>
                </c:pt>
                <c:pt idx="4">
                  <c:v>78.8</c:v>
                </c:pt>
                <c:pt idx="5">
                  <c:v/>
                </c:pt>
                <c:pt idx="6">
                  <c:v>78.7</c:v>
                </c:pt>
                <c:pt idx="7">
                  <c:v>77.9</c:v>
                </c:pt>
                <c:pt idx="8">
                  <c:v>78.2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77.5</c:v>
                </c:pt>
                <c:pt idx="1">
                  <c:v>77.4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77.8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77.6</c:v>
                </c:pt>
                <c:pt idx="1">
                  <c:v>78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78.3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/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77.6</c:v>
                </c:pt>
                <c:pt idx="1">
                  <c:v>78</c:v>
                </c:pt>
                <c:pt idx="2">
                  <c:v>77.9</c:v>
                </c:pt>
                <c:pt idx="3">
                  <c:v>78</c:v>
                </c:pt>
                <c:pt idx="4">
                  <c:v>78.5</c:v>
                </c:pt>
                <c:pt idx="5">
                  <c:v>78.3</c:v>
                </c:pt>
                <c:pt idx="6">
                  <c:v>77.7</c:v>
                </c:pt>
                <c:pt idx="7">
                  <c:v>77.4</c:v>
                </c:pt>
                <c:pt idx="8">
                  <c:v>77.3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2"/>
          <c:min val="7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>36.4</c:v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35.9</c:v>
                </c:pt>
                <c:pt idx="1">
                  <c:v>35.9</c:v>
                </c:pt>
                <c:pt idx="2">
                  <c:v>36.3</c:v>
                </c:pt>
                <c:pt idx="3">
                  <c:v/>
                </c:pt>
                <c:pt idx="4">
                  <c:v>37.2</c:v>
                </c:pt>
                <c:pt idx="5">
                  <c:v>37</c:v>
                </c:pt>
                <c:pt idx="6">
                  <c:v>36.6</c:v>
                </c:pt>
                <c:pt idx="7">
                  <c:v>36.1</c:v>
                </c:pt>
                <c:pt idx="8">
                  <c:v>36.7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36.7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/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35.1</c:v>
                </c:pt>
                <c:pt idx="1">
                  <c:v>35.5</c:v>
                </c:pt>
                <c:pt idx="2">
                  <c:v>36.2</c:v>
                </c:pt>
                <c:pt idx="3">
                  <c:v>36.7</c:v>
                </c:pt>
                <c:pt idx="4">
                  <c:v>35.5</c:v>
                </c:pt>
                <c:pt idx="5">
                  <c:v>36.7</c:v>
                </c:pt>
                <c:pt idx="6">
                  <c:v>36.4</c:v>
                </c:pt>
                <c:pt idx="7">
                  <c:v>35.3</c:v>
                </c:pt>
                <c:pt idx="8">
                  <c:v>36.1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38"/>
          <c:min val="3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labor gross / internal labor sale. A higher internal margin adds service gross but is a cost to used cars. Jan-Sep 2026 YTD. Green at or above the group, red below. Bars start at 50.0%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Labor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YTD from YTD totals, not the mean of months. Store rows reconcile to the group on every input, both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Internal parts gross / internal parts sale on repair orders. A higher internal margin adds parts gross but is a cost to used cars. Jan-Sep 2026 YTD. Green at or above the group, red below. Bars start at 20.0% so differences are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Internal pay type, Jan-Sep by close month. Same-store, INEOS excluded (opened 2026). GMC Prescott body shop labor types excluded. Change in Internal Parts Gross Profit %,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chart" Target="/ppt/charts/chart11.xml"/><Relationship Id="rId6" Type="http://schemas.openxmlformats.org/officeDocument/2006/relationships/chart" Target="/ppt/charts/chart1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0.3 pts to 78.1%, ahead of 2025 in six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649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6412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5699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54621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52177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5172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5120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50231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4857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45024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4254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40246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4020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36481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32710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28216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2419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223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2150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2097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2016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18946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1392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1194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10617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1054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10205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9518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9429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8772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3715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4142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32619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87659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33 stores at or above the 78.1% group, led by Honda Henderson at 85.9%. Audi Reno is lowest at 58.8%.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4954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+5.6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3226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033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3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14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92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888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605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2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321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314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173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950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88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361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343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6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+0.0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00490" y="2391651"/>
            <a:ext cx="355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251253" y="2631546"/>
            <a:ext cx="847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226020" y="2871442"/>
            <a:ext cx="110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−1.3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11478" y="3111337"/>
            <a:ext cx="12454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01170" y="3351233"/>
            <a:ext cx="1348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−1.5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108753" y="3591128"/>
            <a:ext cx="22727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91564" y="3831024"/>
            <a:ext cx="2444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60005" y="4070920"/>
            <a:ext cx="27601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035101" y="4310815"/>
            <a:ext cx="3009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4892" y="4550711"/>
            <a:ext cx="38113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929245" y="4790606"/>
            <a:ext cx="40677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65948" y="5030502"/>
            <a:ext cx="4700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−5.3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42326" y="5270397"/>
            <a:ext cx="49369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of 33 stores raised internal labor GP%, led by Acura at +5.6 pts to 77.2%. 14 declined; Nissan fell most at −8.8 pts.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0.5 pts to 36.5%, ahead of 2025 in eight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713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2608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270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0426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2919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4763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36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384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3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2616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1208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1119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979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826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1776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75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731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441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003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865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8443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7888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7635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7270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096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677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522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58648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603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414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3513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9888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10958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5999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33 stores at or above the 36.5% group, led by Toyota Henderson at 45.1%. CDJR Post Falls is lowest at 24.4%.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35623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GROSS PROFIT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76750" y="1335024"/>
            <a:ext cx="356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+0.5 pts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469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+6.0 pts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448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+4.4 pts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411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1006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3661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21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 pts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1422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012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60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53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 pts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108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922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9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908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 pts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589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455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1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286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511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425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+0.3 pts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06469" y="2871442"/>
            <a:ext cx="2955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293325" y="3111337"/>
            <a:ext cx="4269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14515" y="3351233"/>
            <a:ext cx="121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 pts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50201" y="3591128"/>
            <a:ext cx="28582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 pts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11711" y="3831024"/>
            <a:ext cx="324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4654" y="4070920"/>
            <a:ext cx="3713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964060" y="4310815"/>
            <a:ext cx="37196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958532" y="4550711"/>
            <a:ext cx="37749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 pts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881593" y="4790606"/>
            <a:ext cx="4544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875241" y="5030502"/>
            <a:ext cx="46078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−3.7 pts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760254" y="5270397"/>
            <a:ext cx="5757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−4.6 pts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731990" y="5510293"/>
            <a:ext cx="60403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 pts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raised internal parts GP%, led by Acura at +6.2 pts to 34.0%. 12 declined; VW St George fell most at −4.8 pts.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2026-10-21T21:04:29Z</dcterms:created>
  <dcterms:modified xsi:type="dcterms:W3CDTF">2026-10-21T21:04:29Z</dcterms:modified>
</cp:coreProperties>
</file>