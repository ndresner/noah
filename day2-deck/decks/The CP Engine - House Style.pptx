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31247</c:v>
                </c:pt>
                <c:pt idx="3">
                  <c:v>31754</c:v>
                </c:pt>
                <c:pt idx="4">
                  <c:v>31740</c:v>
                </c:pt>
                <c:pt idx="5">
                  <c:v>31179</c:v>
                </c:pt>
                <c:pt idx="6">
                  <c:v>32360</c:v>
                </c:pt>
                <c:pt idx="7">
                  <c:v>31996</c:v>
                </c:pt>
                <c:pt idx="8">
                  <c:v>29989</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30678</c:v>
                </c:pt>
                <c:pt idx="1">
                  <c:v>27329</c:v>
                </c:pt>
                <c:pt idx="2">
                  <c:v>31531</c:v>
                </c:pt>
                <c:pt idx="3">
                  <c:v>30786</c:v>
                </c:pt>
                <c:pt idx="4">
                  <c:v>30636</c:v>
                </c:pt>
                <c:pt idx="5">
                  <c:v>32541</c:v>
                </c:pt>
                <c:pt idx="6">
                  <c:v>33097</c:v>
                </c:pt>
                <c:pt idx="7">
                  <c:v>32319</c:v>
                </c:pt>
                <c:pt idx="8">
                  <c:v>30839</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80.7</c:v>
                </c:pt>
                <c:pt idx="2">
                  <c:v>80.8</c:v>
                </c:pt>
                <c:pt idx="3">
                  <c:v>80.7</c:v>
                </c:pt>
                <c:pt idx="4">
                  <c:v>80.7</c:v>
                </c:pt>
                <c:pt idx="5">
                  <c:v>80.8</c:v>
                </c:pt>
                <c:pt idx="6">
                  <c:v>80.8</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
                </c:pt>
                <c:pt idx="2">
                  <c:v/>
                </c:pt>
                <c:pt idx="3">
                  <c:v/>
                </c:pt>
                <c:pt idx="4">
                  <c:v/>
                </c:pt>
                <c:pt idx="5">
                  <c:v/>
                </c:pt>
                <c:pt idx="6">
                  <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80.7</c:v>
                </c:pt>
                <c:pt idx="2">
                  <c:v>80.8</c:v>
                </c:pt>
                <c:pt idx="3">
                  <c:v>80.7</c:v>
                </c:pt>
                <c:pt idx="4">
                  <c:v>80.7</c:v>
                </c:pt>
                <c:pt idx="5">
                  <c:v>80.8</c:v>
                </c:pt>
                <c:pt idx="6">
                  <c:v>80.8</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80.9</c:v>
                </c:pt>
                <c:pt idx="2">
                  <c:v>80.9</c:v>
                </c:pt>
                <c:pt idx="3">
                  <c:v>80.8</c:v>
                </c:pt>
                <c:pt idx="4">
                  <c:v>80.8</c:v>
                </c:pt>
                <c:pt idx="5">
                  <c:v>81.1</c:v>
                </c:pt>
                <c:pt idx="6">
                  <c:v>81</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
                </c:pt>
                <c:pt idx="2">
                  <c:v/>
                </c:pt>
                <c:pt idx="3">
                  <c:v/>
                </c:pt>
                <c:pt idx="4">
                  <c:v/>
                </c:pt>
                <c:pt idx="5">
                  <c:v/>
                </c:pt>
                <c:pt idx="6">
                  <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80.9</c:v>
                </c:pt>
                <c:pt idx="2">
                  <c:v>80.9</c:v>
                </c:pt>
                <c:pt idx="3">
                  <c:v>80.8</c:v>
                </c:pt>
                <c:pt idx="4">
                  <c:v>80.8</c:v>
                </c:pt>
                <c:pt idx="5">
                  <c:v>81.1</c:v>
                </c:pt>
                <c:pt idx="6">
                  <c:v>81</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Hours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$264.87 (Diesel/Corvette)
AUDI HENDERSON: premium $399.00 (Lambo Non-Grid)
VW HENDERSON: premium $210.00 (EV)
CHEVY GMC BULLHEAD: premium $199.87 (Non-Standard Grid)
SUBARU ST GEORGE: premium $210.00 (EV)
HONDA FLAGSTAFF: premium $215.00 (EV)
GMC PRESCOTT: premium $230.00 (EV)
KIA ST GEORGE: premium $195.00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$244.12 / door $235.87 = 103.4%
VOLVO: ELR $225.50 / door $249.95 = 90.2%
CHEVY GMC BULLHEAD: ELR $161.80 / door $179.87 = 89.9%
HYUNDAI ST GEORGE: ELR $165.96 / door $184.87 = 89.7%
ACURA: ELR $199.04 / door $224.87 = 88.5%
LR RENO: ELR $238.62 / door $275.00 = 86.7%
HONDA FLAGSTAFF: ELR $159.69 / door $185.00 = 86.3%
HONDA SPOKANE: ELR $147.93 / door $179.00 = 82.6%
LEXUS: ELR $187.42 / door $229.95 = 81.5%
CDJR POST FALLS: ELR $161.93 / door $199.95 = 80.9%
TOYOTA PRESCOTT: ELR $155.78 / door $195.00 = 79.8%
LR HENDERSON: ELR $234.48 / door $294.87 = 79.5%
KIA ST GEORGE: ELR $146.04 / door $185.00 = 78.9%
MAZDA: ELR $165.67 / door $209.87 = 78.9%
VW HENDERSON: ELR $160.84 / door $204.87 = 78.5%
VW ST GEORGE: ELR $141.89 / door $184.87 = 76.7%
AUDI HENDERSON: ELR $266.72 / door $348.87 = 76.4%
LR LV: ELR $233.88 / door $310.00 = 75.4%
SUBARU LV: ELR $162.12 / door $215.37 = 75.2%
NISSAN: ELR $180.14 / door $239.87 = 75.1%
TOYOTA FLAGSTAFF: ELR $142.51 / door $190.00 = 75.0%
SUBARU ST GEORGE: ELR $136.71 / door $185.00 = 73.8%
TOYOTA HENDERSON: ELR $154.55 / door $211.26 = 73.1%
HONDA HENDERSON: ELR $153.45 / door $211.87 = 72.4%
HONDA NORTH: ELR $149.70 / door $211.87 = 70.6%
KIA LV: ELR $150.72 / door $219.87 = 68.5%
LINCOLN: ELR $167.22 / door $244.87 = 68.2%
TOYOTA SPOKANE: ELR $124.92 / door $185.00 = 67.5%
GMC PRESCOTT: ELR $146.92 / door $220.00 = 66.7%
SUBARU PRESCOTT: ELR $139.81 / door $210.00 = 66.5%
CHEVY LV: ELR $146.25 / door $224.87 = 65.0%
HYUNDAI PRESCOTT: ELR $136.12 / door $210.00 = 64.8%
CADILLAC: ELR $175.47 / door $285.00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chart" Target="/ppt/charts/chart13.xml"/><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chart" Target="/ppt/charts/chart16.xml"/><Relationship Id="rId4" Type="http://schemas.openxmlformats.org/officeDocument/2006/relationships/chart" Target="/ppt/charts/chart17.xml"/><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chart" Target="/ppt/charts/chart20.xml"/><Relationship Id="rId4" Type="http://schemas.openxmlformats.org/officeDocument/2006/relationships/chart" Target="/ppt/charts/chart21.xml"/><Relationship Id="rId5" Type="http://schemas.openxmlformats.org/officeDocument/2006/relationships/chart" Target="/ppt/charts/chart22.xml"/><Relationship Id="rId6" Type="http://schemas.openxmlformats.org/officeDocument/2006/relationships/chart" Target="/ppt/charts/chart23.xml"/><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xmlns:a="http://schemas.openxmlformats.org/drawingml/2006/main">
          <a:graphicData uri="http://schemas.openxmlformats.org/drawingml/2006/chart">
            <c:chart xmlns:c="http://schemas.openxmlformats.org/drawingml/2006/chart" r:id="rId1"/>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3.99</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1" name="Shape 9"/>
          <p:cNvSpPr/>
          <p:nvPr/>
        </p:nvSpPr>
        <p:spPr>
          <a:xfrm>
            <a:off x="2267712" y="2156577"/>
            <a:ext cx="1030041"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3.99</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 name="Shape 12"/>
          <p:cNvSpPr/>
          <p:nvPr/>
        </p:nvSpPr>
        <p:spPr>
          <a:xfrm>
            <a:off x="2267712" y="2477321"/>
            <a:ext cx="900016"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3.48</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7" name="Shape 15"/>
          <p:cNvSpPr/>
          <p:nvPr/>
        </p:nvSpPr>
        <p:spPr>
          <a:xfrm>
            <a:off x="2267712" y="2798064"/>
            <a:ext cx="899733"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3.48</a:t>
            </a:r>
            <a:endParaRPr lang="en-US" sz="1300" dirty="0"/>
          </a:p>
        </p:txBody>
      </p:sp>
      <p:sp>
        <p:nvSpPr>
          <p:cNvPr id="19" name="Shape 17"/>
          <p:cNvSpPr/>
          <p:nvPr/>
        </p:nvSpPr>
        <p:spPr>
          <a:xfrm>
            <a:off x="603504" y="3038622"/>
            <a:ext cx="3566160" cy="311599"/>
          </a:xfrm>
          <a:prstGeom prst="rect">
            <a:avLst/>
          </a:prstGeom>
          <a:solidFill>
            <a:srgbClr val="EDF4FA"/>
          </a:solidFill>
          <a:ln/>
        </p:spPr>
      </p:sp>
      <p:sp>
        <p:nvSpPr>
          <p:cNvPr id="20" name="Text 18"/>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1" name="Shape 19"/>
          <p:cNvSpPr/>
          <p:nvPr/>
        </p:nvSpPr>
        <p:spPr>
          <a:xfrm>
            <a:off x="2267712" y="3118807"/>
            <a:ext cx="749289" cy="160372"/>
          </a:xfrm>
          <a:prstGeom prst="rect">
            <a:avLst/>
          </a:prstGeom>
          <a:solidFill>
            <a:srgbClr val="0B2C4A"/>
          </a:solidFill>
          <a:ln/>
        </p:spPr>
      </p:sp>
      <p:sp>
        <p:nvSpPr>
          <p:cNvPr id="22" name="Text 20"/>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2.90</a:t>
            </a:r>
            <a:endParaRPr lang="en-US" sz="1300" dirty="0"/>
          </a:p>
        </p:txBody>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 name="Shape 22"/>
          <p:cNvSpPr/>
          <p:nvPr/>
        </p:nvSpPr>
        <p:spPr>
          <a:xfrm>
            <a:off x="2267712" y="3439551"/>
            <a:ext cx="705361" cy="160372"/>
          </a:xfrm>
          <a:prstGeom prst="rect">
            <a:avLst/>
          </a:prstGeom>
          <a:solidFill>
            <a:srgbClr val="C2352F"/>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2.73</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7" name="Shape 25"/>
          <p:cNvSpPr/>
          <p:nvPr/>
        </p:nvSpPr>
        <p:spPr>
          <a:xfrm>
            <a:off x="2267712" y="3760294"/>
            <a:ext cx="704590"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2.73</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0" name="Shape 28"/>
          <p:cNvSpPr/>
          <p:nvPr/>
        </p:nvSpPr>
        <p:spPr>
          <a:xfrm>
            <a:off x="2267712" y="4081038"/>
            <a:ext cx="641802"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2.48</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3" name="Shape 31"/>
          <p:cNvSpPr/>
          <p:nvPr/>
        </p:nvSpPr>
        <p:spPr>
          <a:xfrm>
            <a:off x="2267712" y="4401781"/>
            <a:ext cx="588446"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2.28</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6" name="Shape 34"/>
          <p:cNvSpPr/>
          <p:nvPr/>
        </p:nvSpPr>
        <p:spPr>
          <a:xfrm>
            <a:off x="2267712" y="4722524"/>
            <a:ext cx="538154"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2.08</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2.90  </a:t>
            </a:r>
            <a:pPr indent="0" marL="0">
              <a:buNone/>
            </a:pPr>
            <a:r>
              <a:rPr lang="en-US" sz="1400" b="1" dirty="0">
                <a:solidFill>
                  <a:srgbClr val="0B7A4A"/>
                </a:solidFill>
                <a:latin typeface="Inter" pitchFamily="34" charset="0"/>
                <a:ea typeface="Inter" pitchFamily="34" charset="-122"/>
                <a:cs typeface="Inter" pitchFamily="34" charset="-120"/>
              </a:rPr>
              <a:t>(+0.06)</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1.75  </a:t>
            </a:r>
            <a:pPr indent="0" marL="0">
              <a:buNone/>
            </a:pPr>
            <a:r>
              <a:rPr lang="en-US" sz="1400" b="1" dirty="0">
                <a:solidFill>
                  <a:srgbClr val="0B7A4A"/>
                </a:solidFill>
                <a:latin typeface="Inter" pitchFamily="34" charset="0"/>
                <a:ea typeface="Inter" pitchFamily="34" charset="-122"/>
                <a:cs typeface="Inter" pitchFamily="34" charset="-120"/>
              </a:rPr>
              <a:t>(+0.06)</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2.49</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5" name="Shape 43"/>
          <p:cNvSpPr/>
          <p:nvPr/>
        </p:nvSpPr>
        <p:spPr>
          <a:xfrm>
            <a:off x="6291072" y="2156577"/>
            <a:ext cx="579287"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2.30</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8" name="Shape 46"/>
          <p:cNvSpPr/>
          <p:nvPr/>
        </p:nvSpPr>
        <p:spPr>
          <a:xfrm>
            <a:off x="6291072" y="2477321"/>
            <a:ext cx="579196"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2.30</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1" name="Shape 49"/>
          <p:cNvSpPr/>
          <p:nvPr/>
        </p:nvSpPr>
        <p:spPr>
          <a:xfrm>
            <a:off x="6291072" y="2798064"/>
            <a:ext cx="554590"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2.20</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4" name="Shape 52"/>
          <p:cNvSpPr/>
          <p:nvPr/>
        </p:nvSpPr>
        <p:spPr>
          <a:xfrm>
            <a:off x="6291072" y="3118807"/>
            <a:ext cx="531685"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2.11</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7" name="Shape 55"/>
          <p:cNvSpPr/>
          <p:nvPr/>
        </p:nvSpPr>
        <p:spPr>
          <a:xfrm>
            <a:off x="6291072" y="3439551"/>
            <a:ext cx="508980"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2.02</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0" name="Shape 58"/>
          <p:cNvSpPr/>
          <p:nvPr/>
        </p:nvSpPr>
        <p:spPr>
          <a:xfrm>
            <a:off x="6291072" y="3760294"/>
            <a:ext cx="505731"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2.01</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6291072" y="4081038"/>
            <a:ext cx="495913"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1.97</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6" name="Shape 64"/>
          <p:cNvSpPr/>
          <p:nvPr/>
        </p:nvSpPr>
        <p:spPr>
          <a:xfrm>
            <a:off x="6291072" y="4401781"/>
            <a:ext cx="493081"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1.96</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6291072" y="4722524"/>
            <a:ext cx="490542"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1.95</a:t>
            </a:r>
            <a:endParaRPr lang="en-US" sz="1300" dirty="0"/>
          </a:p>
        </p:txBody>
      </p:sp>
      <p:sp>
        <p:nvSpPr>
          <p:cNvPr id="71" name="Shape 69"/>
          <p:cNvSpPr/>
          <p:nvPr/>
        </p:nvSpPr>
        <p:spPr>
          <a:xfrm>
            <a:off x="4261104" y="4963082"/>
            <a:ext cx="3529584" cy="311599"/>
          </a:xfrm>
          <a:prstGeom prst="rect">
            <a:avLst/>
          </a:prstGeom>
          <a:solidFill>
            <a:srgbClr val="EDF4FA"/>
          </a:solidFill>
          <a:ln/>
        </p:spPr>
      </p:sp>
      <p:sp>
        <p:nvSpPr>
          <p:cNvPr id="72" name="Text 70"/>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73" name="Shape 71"/>
          <p:cNvSpPr/>
          <p:nvPr/>
        </p:nvSpPr>
        <p:spPr>
          <a:xfrm>
            <a:off x="6291072" y="5043268"/>
            <a:ext cx="439804" cy="160372"/>
          </a:xfrm>
          <a:prstGeom prst="rect">
            <a:avLst/>
          </a:prstGeom>
          <a:solidFill>
            <a:srgbClr val="0B2C4A"/>
          </a:solidFill>
          <a:ln/>
        </p:spPr>
      </p:sp>
      <p:sp>
        <p:nvSpPr>
          <p:cNvPr id="74" name="Text 72"/>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1.75</a:t>
            </a:r>
            <a:endParaRPr lang="en-US" sz="1300" dirty="0"/>
          </a:p>
        </p:txBody>
      </p:sp>
      <p:sp>
        <p:nvSpPr>
          <p:cNvPr id="75" name="Text 73"/>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6" name="Shape 74"/>
          <p:cNvSpPr/>
          <p:nvPr/>
        </p:nvSpPr>
        <p:spPr>
          <a:xfrm>
            <a:off x="6291072" y="5364011"/>
            <a:ext cx="438976" cy="160372"/>
          </a:xfrm>
          <a:prstGeom prst="rect">
            <a:avLst/>
          </a:prstGeom>
          <a:solidFill>
            <a:srgbClr val="C2352F"/>
          </a:solidFill>
          <a:ln/>
        </p:spPr>
      </p:sp>
      <p:sp>
        <p:nvSpPr>
          <p:cNvPr id="77" name="Text 75"/>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1.74</a:t>
            </a:r>
            <a:endParaRPr lang="en-US" sz="1300" dirty="0"/>
          </a:p>
        </p:txBody>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9" name="Shape 77"/>
          <p:cNvSpPr/>
          <p:nvPr/>
        </p:nvSpPr>
        <p:spPr>
          <a:xfrm>
            <a:off x="6291072" y="5684754"/>
            <a:ext cx="430143" cy="160372"/>
          </a:xfrm>
          <a:prstGeom prst="rect">
            <a:avLst/>
          </a:prstGeom>
          <a:solidFill>
            <a:srgbClr val="C2352F"/>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1.71</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Shape 80"/>
          <p:cNvSpPr/>
          <p:nvPr/>
        </p:nvSpPr>
        <p:spPr>
          <a:xfrm>
            <a:off x="9893808" y="1835834"/>
            <a:ext cx="419539"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1.67</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5" name="Shape 83"/>
          <p:cNvSpPr/>
          <p:nvPr/>
        </p:nvSpPr>
        <p:spPr>
          <a:xfrm>
            <a:off x="9893808" y="2156577"/>
            <a:ext cx="412033"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1.64</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8" name="Shape 86"/>
          <p:cNvSpPr/>
          <p:nvPr/>
        </p:nvSpPr>
        <p:spPr>
          <a:xfrm>
            <a:off x="9893808" y="2477321"/>
            <a:ext cx="402432"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1.60</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1" name="Shape 89"/>
          <p:cNvSpPr/>
          <p:nvPr/>
        </p:nvSpPr>
        <p:spPr>
          <a:xfrm>
            <a:off x="9893808" y="2798064"/>
            <a:ext cx="395193"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1.57</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94" name="Shape 92"/>
          <p:cNvSpPr/>
          <p:nvPr/>
        </p:nvSpPr>
        <p:spPr>
          <a:xfrm>
            <a:off x="9893808" y="3118807"/>
            <a:ext cx="373339"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1.48</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7" name="Shape 95"/>
          <p:cNvSpPr/>
          <p:nvPr/>
        </p:nvSpPr>
        <p:spPr>
          <a:xfrm>
            <a:off x="9893808" y="3439551"/>
            <a:ext cx="370773"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00" name="Shape 98"/>
          <p:cNvSpPr/>
          <p:nvPr/>
        </p:nvSpPr>
        <p:spPr>
          <a:xfrm>
            <a:off x="9893808" y="3760294"/>
            <a:ext cx="366723"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1.46</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03" name="Shape 101"/>
          <p:cNvSpPr/>
          <p:nvPr/>
        </p:nvSpPr>
        <p:spPr>
          <a:xfrm>
            <a:off x="9893808" y="4081038"/>
            <a:ext cx="359896"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6" name="Shape 104"/>
          <p:cNvSpPr/>
          <p:nvPr/>
        </p:nvSpPr>
        <p:spPr>
          <a:xfrm>
            <a:off x="9893808" y="4401781"/>
            <a:ext cx="357762"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1.42</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9" name="Shape 107"/>
          <p:cNvSpPr/>
          <p:nvPr/>
        </p:nvSpPr>
        <p:spPr>
          <a:xfrm>
            <a:off x="9893808" y="4722524"/>
            <a:ext cx="354023"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1.41</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2" name="Shape 110"/>
          <p:cNvSpPr/>
          <p:nvPr/>
        </p:nvSpPr>
        <p:spPr>
          <a:xfrm>
            <a:off x="9893808" y="5043268"/>
            <a:ext cx="348438"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1.38</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5" name="Shape 113"/>
          <p:cNvSpPr/>
          <p:nvPr/>
        </p:nvSpPr>
        <p:spPr>
          <a:xfrm>
            <a:off x="9893808" y="5364011"/>
            <a:ext cx="324886"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1.29</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$266.32</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267712" y="2156577"/>
            <a:ext cx="909937"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$235.07</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4" name="Shape 12"/>
          <p:cNvSpPr/>
          <p:nvPr/>
        </p:nvSpPr>
        <p:spPr>
          <a:xfrm>
            <a:off x="2267712" y="2477321"/>
            <a:ext cx="907949"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$234.55</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 name="Shape 15"/>
          <p:cNvSpPr/>
          <p:nvPr/>
        </p:nvSpPr>
        <p:spPr>
          <a:xfrm>
            <a:off x="2267712" y="2798064"/>
            <a:ext cx="905009"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$233.79</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2267712" y="3118807"/>
            <a:ext cx="903719"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$233.46</a:t>
            </a:r>
            <a:endParaRPr lang="en-US" sz="1300" dirty="0"/>
          </a:p>
        </p:txBody>
      </p:sp>
      <p:sp>
        <p:nvSpPr>
          <p:cNvPr id="22" name="Text 20"/>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 name="Shape 21"/>
          <p:cNvSpPr/>
          <p:nvPr/>
        </p:nvSpPr>
        <p:spPr>
          <a:xfrm>
            <a:off x="2267712" y="3439551"/>
            <a:ext cx="859813" cy="160372"/>
          </a:xfrm>
          <a:prstGeom prst="rect">
            <a:avLst/>
          </a:prstGeom>
          <a:solidFill>
            <a:srgbClr val="12A566"/>
          </a:solidFill>
          <a:ln/>
        </p:spPr>
      </p:sp>
      <p:sp>
        <p:nvSpPr>
          <p:cNvPr id="24" name="Text 22"/>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$222.12</a:t>
            </a:r>
            <a:endParaRPr lang="en-US" sz="1300" dirty="0"/>
          </a:p>
        </p:txBody>
      </p:sp>
      <p:sp>
        <p:nvSpPr>
          <p:cNvPr id="25" name="Shape 23"/>
          <p:cNvSpPr/>
          <p:nvPr/>
        </p:nvSpPr>
        <p:spPr>
          <a:xfrm>
            <a:off x="603504" y="3680108"/>
            <a:ext cx="3566160" cy="311599"/>
          </a:xfrm>
          <a:prstGeom prst="rect">
            <a:avLst/>
          </a:prstGeom>
          <a:solidFill>
            <a:srgbClr val="EDF4FA"/>
          </a:solidFill>
          <a:ln/>
        </p:spPr>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7" name="Shape 25"/>
          <p:cNvSpPr/>
          <p:nvPr/>
        </p:nvSpPr>
        <p:spPr>
          <a:xfrm>
            <a:off x="2267712" y="3760294"/>
            <a:ext cx="843067" cy="160372"/>
          </a:xfrm>
          <a:prstGeom prst="rect">
            <a:avLst/>
          </a:prstGeom>
          <a:solidFill>
            <a:srgbClr val="0B2C4A"/>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$217.79</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267712" y="4081038"/>
            <a:ext cx="748218"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$193.29</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3" name="Shape 31"/>
          <p:cNvSpPr/>
          <p:nvPr/>
        </p:nvSpPr>
        <p:spPr>
          <a:xfrm>
            <a:off x="2267712" y="4401781"/>
            <a:ext cx="658116"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$170.01</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6" name="Shape 34"/>
          <p:cNvSpPr/>
          <p:nvPr/>
        </p:nvSpPr>
        <p:spPr>
          <a:xfrm>
            <a:off x="2267712" y="4722524"/>
            <a:ext cx="648916"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$167.64</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$217.79  </a:t>
            </a:r>
            <a:pPr indent="0" marL="0">
              <a:buNone/>
            </a:pPr>
            <a:r>
              <a:rPr lang="en-US" sz="1400" b="1" dirty="0">
                <a:solidFill>
                  <a:srgbClr val="0B7A4A"/>
                </a:solidFill>
                <a:latin typeface="Inter" pitchFamily="34" charset="0"/>
                <a:ea typeface="Inter" pitchFamily="34" charset="-122"/>
                <a:cs typeface="Inter" pitchFamily="34" charset="-120"/>
              </a:rPr>
              <a:t>(+$6.75)</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$151.32  </a:t>
            </a:r>
            <a:pPr indent="0" marL="0">
              <a:buNone/>
            </a:pPr>
            <a:r>
              <a:rPr lang="en-US" sz="1400" b="1" dirty="0">
                <a:solidFill>
                  <a:srgbClr val="0B7A4A"/>
                </a:solidFill>
                <a:latin typeface="Inter" pitchFamily="34" charset="0"/>
                <a:ea typeface="Inter" pitchFamily="34" charset="-122"/>
                <a:cs typeface="Inter" pitchFamily="34" charset="-120"/>
              </a:rPr>
              <a:t>(+$3.00)</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$210.50</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5" name="Shape 43"/>
          <p:cNvSpPr/>
          <p:nvPr/>
        </p:nvSpPr>
        <p:spPr>
          <a:xfrm>
            <a:off x="6291072" y="2156577"/>
            <a:ext cx="524370"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$175.90</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8" name="Shape 46"/>
          <p:cNvSpPr/>
          <p:nvPr/>
        </p:nvSpPr>
        <p:spPr>
          <a:xfrm>
            <a:off x="6291072" y="2477321"/>
            <a:ext cx="496190"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$166.44</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1" name="Shape 49"/>
          <p:cNvSpPr/>
          <p:nvPr/>
        </p:nvSpPr>
        <p:spPr>
          <a:xfrm>
            <a:off x="6291072" y="2798064"/>
            <a:ext cx="487825"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$163.64</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4" name="Shape 52"/>
          <p:cNvSpPr/>
          <p:nvPr/>
        </p:nvSpPr>
        <p:spPr>
          <a:xfrm>
            <a:off x="6291072" y="3118807"/>
            <a:ext cx="485485"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$162.85</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6291072" y="3439551"/>
            <a:ext cx="478952"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$160.66</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0" name="Shape 58"/>
          <p:cNvSpPr/>
          <p:nvPr/>
        </p:nvSpPr>
        <p:spPr>
          <a:xfrm>
            <a:off x="6291072" y="3760294"/>
            <a:ext cx="475697"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$159.57</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6291072" y="4081038"/>
            <a:ext cx="475119"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$159.38</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6" name="Shape 64"/>
          <p:cNvSpPr/>
          <p:nvPr/>
        </p:nvSpPr>
        <p:spPr>
          <a:xfrm>
            <a:off x="6291072" y="4401781"/>
            <a:ext cx="469045"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$157.34</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9" name="Shape 67"/>
          <p:cNvSpPr/>
          <p:nvPr/>
        </p:nvSpPr>
        <p:spPr>
          <a:xfrm>
            <a:off x="6291072" y="4722524"/>
            <a:ext cx="465606"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$156.18</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6291072" y="5043268"/>
            <a:ext cx="460611"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$154.51</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5" name="Shape 73"/>
          <p:cNvSpPr/>
          <p:nvPr/>
        </p:nvSpPr>
        <p:spPr>
          <a:xfrm>
            <a:off x="6291072" y="5364011"/>
            <a:ext cx="456968"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$153.29</a:t>
            </a:r>
            <a:endParaRPr lang="en-US" sz="1300" dirty="0"/>
          </a:p>
        </p:txBody>
      </p:sp>
      <p:sp>
        <p:nvSpPr>
          <p:cNvPr id="77" name="Shape 75"/>
          <p:cNvSpPr/>
          <p:nvPr/>
        </p:nvSpPr>
        <p:spPr>
          <a:xfrm>
            <a:off x="4261104" y="5604569"/>
            <a:ext cx="3529584" cy="311599"/>
          </a:xfrm>
          <a:prstGeom prst="rect">
            <a:avLst/>
          </a:prstGeom>
          <a:solidFill>
            <a:srgbClr val="EDF4FA"/>
          </a:solidFill>
          <a:ln/>
        </p:spPr>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79" name="Shape 77"/>
          <p:cNvSpPr/>
          <p:nvPr/>
        </p:nvSpPr>
        <p:spPr>
          <a:xfrm>
            <a:off x="6291072" y="5684754"/>
            <a:ext cx="451095" cy="160372"/>
          </a:xfrm>
          <a:prstGeom prst="rect">
            <a:avLst/>
          </a:prstGeom>
          <a:solidFill>
            <a:srgbClr val="0B2C4A"/>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$151.32</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2" name="Shape 80"/>
          <p:cNvSpPr/>
          <p:nvPr/>
        </p:nvSpPr>
        <p:spPr>
          <a:xfrm>
            <a:off x="9893808" y="1835834"/>
            <a:ext cx="444873"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$149.23</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5" name="Shape 83"/>
          <p:cNvSpPr/>
          <p:nvPr/>
        </p:nvSpPr>
        <p:spPr>
          <a:xfrm>
            <a:off x="9893808" y="2156577"/>
            <a:ext cx="441895"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$148.23</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8" name="Shape 86"/>
          <p:cNvSpPr/>
          <p:nvPr/>
        </p:nvSpPr>
        <p:spPr>
          <a:xfrm>
            <a:off x="9893808" y="2477321"/>
            <a:ext cx="430759"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$144.50</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1" name="Shape 89"/>
          <p:cNvSpPr/>
          <p:nvPr/>
        </p:nvSpPr>
        <p:spPr>
          <a:xfrm>
            <a:off x="9893808" y="2798064"/>
            <a:ext cx="428958"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$143.89</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4" name="Shape 92"/>
          <p:cNvSpPr/>
          <p:nvPr/>
        </p:nvSpPr>
        <p:spPr>
          <a:xfrm>
            <a:off x="9893808" y="3118807"/>
            <a:ext cx="426467"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$143.06</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7" name="Shape 95"/>
          <p:cNvSpPr/>
          <p:nvPr/>
        </p:nvSpPr>
        <p:spPr>
          <a:xfrm>
            <a:off x="9893808" y="3439551"/>
            <a:ext cx="425697"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$142.80</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0" name="Shape 98"/>
          <p:cNvSpPr/>
          <p:nvPr/>
        </p:nvSpPr>
        <p:spPr>
          <a:xfrm>
            <a:off x="9893808" y="3760294"/>
            <a:ext cx="420646"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$141.10</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9893808" y="4081038"/>
            <a:ext cx="414760"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$139.13</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9893808" y="4401781"/>
            <a:ext cx="412834"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$138.48</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9" name="Shape 107"/>
          <p:cNvSpPr/>
          <p:nvPr/>
        </p:nvSpPr>
        <p:spPr>
          <a:xfrm>
            <a:off x="9893808" y="4722524"/>
            <a:ext cx="402913"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$135.15</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2" name="Shape 110"/>
          <p:cNvSpPr/>
          <p:nvPr/>
        </p:nvSpPr>
        <p:spPr>
          <a:xfrm>
            <a:off x="9893808" y="5043268"/>
            <a:ext cx="388906"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$130.46</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5" name="Shape 113"/>
          <p:cNvSpPr/>
          <p:nvPr/>
        </p:nvSpPr>
        <p:spPr>
          <a:xfrm>
            <a:off x="9893808" y="5364011"/>
            <a:ext cx="375885"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$126.09</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$933</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1" name="Shape 9"/>
          <p:cNvSpPr/>
          <p:nvPr/>
        </p:nvSpPr>
        <p:spPr>
          <a:xfrm>
            <a:off x="2267712" y="2156577"/>
            <a:ext cx="1028573"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$931</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 name="Shape 12"/>
          <p:cNvSpPr/>
          <p:nvPr/>
        </p:nvSpPr>
        <p:spPr>
          <a:xfrm>
            <a:off x="2267712" y="2477321"/>
            <a:ext cx="1025253"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$928</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7" name="Shape 15"/>
          <p:cNvSpPr/>
          <p:nvPr/>
        </p:nvSpPr>
        <p:spPr>
          <a:xfrm>
            <a:off x="2267712" y="2798064"/>
            <a:ext cx="902656"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$817</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0" name="Shape 18"/>
          <p:cNvSpPr/>
          <p:nvPr/>
        </p:nvSpPr>
        <p:spPr>
          <a:xfrm>
            <a:off x="2267712" y="3118807"/>
            <a:ext cx="708427"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$641</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698005"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$632</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7" name="Shape 25"/>
          <p:cNvSpPr/>
          <p:nvPr/>
        </p:nvSpPr>
        <p:spPr>
          <a:xfrm>
            <a:off x="2267712" y="3760294"/>
            <a:ext cx="559059"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$506</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0" name="Shape 28"/>
          <p:cNvSpPr/>
          <p:nvPr/>
        </p:nvSpPr>
        <p:spPr>
          <a:xfrm>
            <a:off x="2267712" y="4081038"/>
            <a:ext cx="512934"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$464</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267712" y="4401781"/>
            <a:ext cx="460190"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$416</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6" name="Shape 34"/>
          <p:cNvSpPr/>
          <p:nvPr/>
        </p:nvSpPr>
        <p:spPr>
          <a:xfrm>
            <a:off x="2267712" y="4722524"/>
            <a:ext cx="444920"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$403</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$632  </a:t>
            </a:r>
            <a:pPr indent="0" marL="0">
              <a:buNone/>
            </a:pPr>
            <a:r>
              <a:rPr lang="en-US" sz="1400" b="1" dirty="0">
                <a:solidFill>
                  <a:srgbClr val="0B7A4A"/>
                </a:solidFill>
                <a:latin typeface="Inter" pitchFamily="34" charset="0"/>
                <a:ea typeface="Inter" pitchFamily="34" charset="-122"/>
                <a:cs typeface="Inter" pitchFamily="34" charset="-120"/>
              </a:rPr>
              <a:t>(+$33)</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$264  </a:t>
            </a:r>
            <a:pPr indent="0" marL="0">
              <a:buNone/>
            </a:pPr>
            <a:r>
              <a:rPr lang="en-US" sz="1400" b="1" dirty="0">
                <a:solidFill>
                  <a:srgbClr val="0B7A4A"/>
                </a:solidFill>
                <a:latin typeface="Inter" pitchFamily="34" charset="0"/>
                <a:ea typeface="Inter" pitchFamily="34" charset="-122"/>
                <a:cs typeface="Inter" pitchFamily="34" charset="-120"/>
              </a:rPr>
              <a:t>(+$15)</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$389</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5" name="Shape 43"/>
          <p:cNvSpPr/>
          <p:nvPr/>
        </p:nvSpPr>
        <p:spPr>
          <a:xfrm>
            <a:off x="6291072" y="2156577"/>
            <a:ext cx="598789"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$371</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8" name="Shape 46"/>
          <p:cNvSpPr/>
          <p:nvPr/>
        </p:nvSpPr>
        <p:spPr>
          <a:xfrm>
            <a:off x="6291072" y="2477321"/>
            <a:ext cx="570486"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$354</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1" name="Shape 49"/>
          <p:cNvSpPr/>
          <p:nvPr/>
        </p:nvSpPr>
        <p:spPr>
          <a:xfrm>
            <a:off x="6291072" y="2798064"/>
            <a:ext cx="535931"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$332</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4" name="Shape 52"/>
          <p:cNvSpPr/>
          <p:nvPr/>
        </p:nvSpPr>
        <p:spPr>
          <a:xfrm>
            <a:off x="6291072" y="3118807"/>
            <a:ext cx="513550"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$318</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7" name="Shape 55"/>
          <p:cNvSpPr/>
          <p:nvPr/>
        </p:nvSpPr>
        <p:spPr>
          <a:xfrm>
            <a:off x="6291072" y="3439551"/>
            <a:ext cx="501174"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$311</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0" name="Shape 58"/>
          <p:cNvSpPr/>
          <p:nvPr/>
        </p:nvSpPr>
        <p:spPr>
          <a:xfrm>
            <a:off x="6291072" y="3760294"/>
            <a:ext cx="486714"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$302</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3" name="Shape 61"/>
          <p:cNvSpPr/>
          <p:nvPr/>
        </p:nvSpPr>
        <p:spPr>
          <a:xfrm>
            <a:off x="6291072" y="4081038"/>
            <a:ext cx="483060"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$299</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6" name="Shape 64"/>
          <p:cNvSpPr/>
          <p:nvPr/>
        </p:nvSpPr>
        <p:spPr>
          <a:xfrm>
            <a:off x="6291072" y="4401781"/>
            <a:ext cx="482181"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$299</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6291072" y="4722524"/>
            <a:ext cx="465926"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$289</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6291072" y="5043268"/>
            <a:ext cx="451632"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$280</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5" name="Shape 73"/>
          <p:cNvSpPr/>
          <p:nvPr/>
        </p:nvSpPr>
        <p:spPr>
          <a:xfrm>
            <a:off x="6291072" y="5364011"/>
            <a:ext cx="442219"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$274</a:t>
            </a:r>
            <a:endParaRPr lang="en-US" sz="1300" dirty="0"/>
          </a:p>
        </p:txBody>
      </p:sp>
      <p:sp>
        <p:nvSpPr>
          <p:cNvPr id="77" name="Text 75"/>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78" name="Shape 76"/>
          <p:cNvSpPr/>
          <p:nvPr/>
        </p:nvSpPr>
        <p:spPr>
          <a:xfrm>
            <a:off x="6291072" y="5684754"/>
            <a:ext cx="437452" cy="160372"/>
          </a:xfrm>
          <a:prstGeom prst="rect">
            <a:avLst/>
          </a:prstGeom>
          <a:solidFill>
            <a:srgbClr val="12A566"/>
          </a:solidFill>
          <a:ln/>
        </p:spPr>
      </p:sp>
      <p:sp>
        <p:nvSpPr>
          <p:cNvPr id="79" name="Text 77"/>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$271</a:t>
            </a:r>
            <a:endParaRPr lang="en-US" sz="1300" dirty="0"/>
          </a:p>
        </p:txBody>
      </p:sp>
      <p:sp>
        <p:nvSpPr>
          <p:cNvPr id="80" name="Shape 78"/>
          <p:cNvSpPr/>
          <p:nvPr/>
        </p:nvSpPr>
        <p:spPr>
          <a:xfrm>
            <a:off x="7863840" y="1755648"/>
            <a:ext cx="3529584" cy="311599"/>
          </a:xfrm>
          <a:prstGeom prst="rect">
            <a:avLst/>
          </a:prstGeom>
          <a:solidFill>
            <a:srgbClr val="EDF4FA"/>
          </a:solidFill>
          <a:ln/>
        </p:spPr>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82" name="Shape 80"/>
          <p:cNvSpPr/>
          <p:nvPr/>
        </p:nvSpPr>
        <p:spPr>
          <a:xfrm>
            <a:off x="9893808" y="1835834"/>
            <a:ext cx="426097" cy="160372"/>
          </a:xfrm>
          <a:prstGeom prst="rect">
            <a:avLst/>
          </a:prstGeom>
          <a:solidFill>
            <a:srgbClr val="0B2C4A"/>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$264</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5" name="Shape 83"/>
          <p:cNvSpPr/>
          <p:nvPr/>
        </p:nvSpPr>
        <p:spPr>
          <a:xfrm>
            <a:off x="9893808" y="2156577"/>
            <a:ext cx="384223"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$238</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9893808" y="2477321"/>
            <a:ext cx="383536"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$238</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1" name="Shape 89"/>
          <p:cNvSpPr/>
          <p:nvPr/>
        </p:nvSpPr>
        <p:spPr>
          <a:xfrm>
            <a:off x="9893808" y="2798064"/>
            <a:ext cx="377596"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$234</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9893808" y="3118807"/>
            <a:ext cx="372225"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$231</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7" name="Shape 95"/>
          <p:cNvSpPr/>
          <p:nvPr/>
        </p:nvSpPr>
        <p:spPr>
          <a:xfrm>
            <a:off x="9893808" y="3439551"/>
            <a:ext cx="366796"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$227</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0" name="Shape 98"/>
          <p:cNvSpPr/>
          <p:nvPr/>
        </p:nvSpPr>
        <p:spPr>
          <a:xfrm>
            <a:off x="9893808" y="3760294"/>
            <a:ext cx="358486"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$222</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3" name="Shape 101"/>
          <p:cNvSpPr/>
          <p:nvPr/>
        </p:nvSpPr>
        <p:spPr>
          <a:xfrm>
            <a:off x="9893808" y="4081038"/>
            <a:ext cx="355557"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$220</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6" name="Shape 104"/>
          <p:cNvSpPr/>
          <p:nvPr/>
        </p:nvSpPr>
        <p:spPr>
          <a:xfrm>
            <a:off x="9893808" y="4401781"/>
            <a:ext cx="344158"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$213</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9" name="Shape 107"/>
          <p:cNvSpPr/>
          <p:nvPr/>
        </p:nvSpPr>
        <p:spPr>
          <a:xfrm>
            <a:off x="9893808" y="4722524"/>
            <a:ext cx="323678"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$201</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2" name="Shape 110"/>
          <p:cNvSpPr/>
          <p:nvPr/>
        </p:nvSpPr>
        <p:spPr>
          <a:xfrm>
            <a:off x="9893808" y="5043268"/>
            <a:ext cx="301397"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$187</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5" name="Shape 113"/>
          <p:cNvSpPr/>
          <p:nvPr/>
        </p:nvSpPr>
        <p:spPr>
          <a:xfrm>
            <a:off x="9893808" y="5364011"/>
            <a:ext cx="293515"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$182</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$926</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1" name="Shape 9"/>
          <p:cNvSpPr/>
          <p:nvPr/>
        </p:nvSpPr>
        <p:spPr>
          <a:xfrm>
            <a:off x="2267712" y="2156577"/>
            <a:ext cx="939609"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$844</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4" name="Shape 12"/>
          <p:cNvSpPr/>
          <p:nvPr/>
        </p:nvSpPr>
        <p:spPr>
          <a:xfrm>
            <a:off x="2267712" y="2477321"/>
            <a:ext cx="905544"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$814</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 name="Shape 15"/>
          <p:cNvSpPr/>
          <p:nvPr/>
        </p:nvSpPr>
        <p:spPr>
          <a:xfrm>
            <a:off x="2267712" y="2798064"/>
            <a:ext cx="820245"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$737</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0" name="Shape 18"/>
          <p:cNvSpPr/>
          <p:nvPr/>
        </p:nvSpPr>
        <p:spPr>
          <a:xfrm>
            <a:off x="2267712" y="3118807"/>
            <a:ext cx="603026"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$542</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594783"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$534</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7" name="Shape 25"/>
          <p:cNvSpPr/>
          <p:nvPr/>
        </p:nvSpPr>
        <p:spPr>
          <a:xfrm>
            <a:off x="2267712" y="3760294"/>
            <a:ext cx="560785"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$504</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0" name="Shape 28"/>
          <p:cNvSpPr/>
          <p:nvPr/>
        </p:nvSpPr>
        <p:spPr>
          <a:xfrm>
            <a:off x="2267712" y="4081038"/>
            <a:ext cx="403834"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$363</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3" name="Shape 31"/>
          <p:cNvSpPr/>
          <p:nvPr/>
        </p:nvSpPr>
        <p:spPr>
          <a:xfrm>
            <a:off x="2267712" y="4401781"/>
            <a:ext cx="389252"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$350</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6" name="Shape 34"/>
          <p:cNvSpPr/>
          <p:nvPr/>
        </p:nvSpPr>
        <p:spPr>
          <a:xfrm>
            <a:off x="2267712" y="4722524"/>
            <a:ext cx="267398"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$240</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$534  </a:t>
            </a:r>
            <a:pP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$202  </a:t>
            </a:r>
            <a:pPr indent="0" marL="0">
              <a:buNone/>
            </a:pPr>
            <a:r>
              <a:rPr lang="en-US" sz="1400" b="1" dirty="0">
                <a:solidFill>
                  <a:srgbClr val="0B7A4A"/>
                </a:solidFill>
                <a:latin typeface="Inter" pitchFamily="34" charset="0"/>
                <a:ea typeface="Inter" pitchFamily="34" charset="-122"/>
                <a:cs typeface="Inter" pitchFamily="34" charset="-120"/>
              </a:rPr>
              <a:t>(+$9)</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$332</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5" name="Shape 43"/>
          <p:cNvSpPr/>
          <p:nvPr/>
        </p:nvSpPr>
        <p:spPr>
          <a:xfrm>
            <a:off x="6291072" y="2156577"/>
            <a:ext cx="549290"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$290</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8" name="Shape 46"/>
          <p:cNvSpPr/>
          <p:nvPr/>
        </p:nvSpPr>
        <p:spPr>
          <a:xfrm>
            <a:off x="6291072" y="2477321"/>
            <a:ext cx="532049"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$281</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1" name="Shape 49"/>
          <p:cNvSpPr/>
          <p:nvPr/>
        </p:nvSpPr>
        <p:spPr>
          <a:xfrm>
            <a:off x="6291072" y="2798064"/>
            <a:ext cx="530476"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$280</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4" name="Shape 52"/>
          <p:cNvSpPr/>
          <p:nvPr/>
        </p:nvSpPr>
        <p:spPr>
          <a:xfrm>
            <a:off x="6291072" y="3118807"/>
            <a:ext cx="530317"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$280</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7" name="Shape 55"/>
          <p:cNvSpPr/>
          <p:nvPr/>
        </p:nvSpPr>
        <p:spPr>
          <a:xfrm>
            <a:off x="6291072" y="3439551"/>
            <a:ext cx="522725"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$276</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0" name="Shape 58"/>
          <p:cNvSpPr/>
          <p:nvPr/>
        </p:nvSpPr>
        <p:spPr>
          <a:xfrm>
            <a:off x="6291072" y="3760294"/>
            <a:ext cx="508315"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$269</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3" name="Shape 61"/>
          <p:cNvSpPr/>
          <p:nvPr/>
        </p:nvSpPr>
        <p:spPr>
          <a:xfrm>
            <a:off x="6291072" y="4081038"/>
            <a:ext cx="499621"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$264</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66" name="Shape 64"/>
          <p:cNvSpPr/>
          <p:nvPr/>
        </p:nvSpPr>
        <p:spPr>
          <a:xfrm>
            <a:off x="6291072" y="4401781"/>
            <a:ext cx="490656"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$259</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9" name="Shape 67"/>
          <p:cNvSpPr/>
          <p:nvPr/>
        </p:nvSpPr>
        <p:spPr>
          <a:xfrm>
            <a:off x="6291072" y="4722524"/>
            <a:ext cx="445055"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$235</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2" name="Shape 70"/>
          <p:cNvSpPr/>
          <p:nvPr/>
        </p:nvSpPr>
        <p:spPr>
          <a:xfrm>
            <a:off x="6291072" y="5043268"/>
            <a:ext cx="413647"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$219</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5" name="Shape 73"/>
          <p:cNvSpPr/>
          <p:nvPr/>
        </p:nvSpPr>
        <p:spPr>
          <a:xfrm>
            <a:off x="6291072" y="5364011"/>
            <a:ext cx="409648"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$217</a:t>
            </a:r>
            <a:endParaRPr lang="en-US" sz="1300" dirty="0"/>
          </a:p>
        </p:txBody>
      </p:sp>
      <p:sp>
        <p:nvSpPr>
          <p:cNvPr id="77" name="Text 75"/>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6291072" y="5684754"/>
            <a:ext cx="403417" cy="160372"/>
          </a:xfrm>
          <a:prstGeom prst="rect">
            <a:avLst/>
          </a:prstGeom>
          <a:solidFill>
            <a:srgbClr val="12A566"/>
          </a:solidFill>
          <a:ln/>
        </p:spPr>
      </p:sp>
      <p:sp>
        <p:nvSpPr>
          <p:cNvPr id="79" name="Text 77"/>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$213</a:t>
            </a:r>
            <a:endParaRPr lang="en-US" sz="1300" dirty="0"/>
          </a:p>
        </p:txBody>
      </p:sp>
      <p:sp>
        <p:nvSpPr>
          <p:cNvPr id="80" name="Text 78"/>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1" name="Shape 79"/>
          <p:cNvSpPr/>
          <p:nvPr/>
        </p:nvSpPr>
        <p:spPr>
          <a:xfrm>
            <a:off x="9893808" y="1835834"/>
            <a:ext cx="402285" cy="160372"/>
          </a:xfrm>
          <a:prstGeom prst="rect">
            <a:avLst/>
          </a:prstGeom>
          <a:solidFill>
            <a:srgbClr val="12A566"/>
          </a:solidFill>
          <a:ln/>
        </p:spPr>
      </p:sp>
      <p:sp>
        <p:nvSpPr>
          <p:cNvPr id="82" name="Text 80"/>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$213</a:t>
            </a:r>
            <a:endParaRPr lang="en-US" sz="1300" dirty="0"/>
          </a:p>
        </p:txBody>
      </p:sp>
      <p:sp>
        <p:nvSpPr>
          <p:cNvPr id="83" name="Text 81"/>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4" name="Shape 82"/>
          <p:cNvSpPr/>
          <p:nvPr/>
        </p:nvSpPr>
        <p:spPr>
          <a:xfrm>
            <a:off x="9893808" y="2156577"/>
            <a:ext cx="401345" cy="160372"/>
          </a:xfrm>
          <a:prstGeom prst="rect">
            <a:avLst/>
          </a:prstGeom>
          <a:solidFill>
            <a:srgbClr val="12A566"/>
          </a:solidFill>
          <a:ln/>
        </p:spPr>
      </p:sp>
      <p:sp>
        <p:nvSpPr>
          <p:cNvPr id="85" name="Text 83"/>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Shape 85"/>
          <p:cNvSpPr/>
          <p:nvPr/>
        </p:nvSpPr>
        <p:spPr>
          <a:xfrm>
            <a:off x="9893808" y="2477321"/>
            <a:ext cx="393477" cy="160372"/>
          </a:xfrm>
          <a:prstGeom prst="rect">
            <a:avLst/>
          </a:prstGeom>
          <a:solidFill>
            <a:srgbClr val="12A566"/>
          </a:solidFill>
          <a:ln/>
        </p:spPr>
      </p:sp>
      <p:sp>
        <p:nvSpPr>
          <p:cNvPr id="88" name="Text 86"/>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$208</a:t>
            </a:r>
            <a:endParaRPr lang="en-US" sz="1300" dirty="0"/>
          </a:p>
        </p:txBody>
      </p:sp>
      <p:sp>
        <p:nvSpPr>
          <p:cNvPr id="89" name="Shape 87"/>
          <p:cNvSpPr/>
          <p:nvPr/>
        </p:nvSpPr>
        <p:spPr>
          <a:xfrm>
            <a:off x="7863840" y="2717878"/>
            <a:ext cx="3529584" cy="311599"/>
          </a:xfrm>
          <a:prstGeom prst="rect">
            <a:avLst/>
          </a:prstGeom>
          <a:solidFill>
            <a:srgbClr val="EDF4FA"/>
          </a:solidFill>
          <a:ln/>
        </p:spPr>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91" name="Shape 89"/>
          <p:cNvSpPr/>
          <p:nvPr/>
        </p:nvSpPr>
        <p:spPr>
          <a:xfrm>
            <a:off x="9893808" y="2798064"/>
            <a:ext cx="382510" cy="160372"/>
          </a:xfrm>
          <a:prstGeom prst="rect">
            <a:avLst/>
          </a:prstGeom>
          <a:solidFill>
            <a:srgbClr val="0B2C4A"/>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4" name="Shape 92"/>
          <p:cNvSpPr/>
          <p:nvPr/>
        </p:nvSpPr>
        <p:spPr>
          <a:xfrm>
            <a:off x="9893808" y="3118807"/>
            <a:ext cx="370852"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$196</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7" name="Shape 95"/>
          <p:cNvSpPr/>
          <p:nvPr/>
        </p:nvSpPr>
        <p:spPr>
          <a:xfrm>
            <a:off x="9893808" y="3439551"/>
            <a:ext cx="365344"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$193</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0" name="Shape 98"/>
          <p:cNvSpPr/>
          <p:nvPr/>
        </p:nvSpPr>
        <p:spPr>
          <a:xfrm>
            <a:off x="9893808" y="3760294"/>
            <a:ext cx="346140"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$183</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9893808" y="4081038"/>
            <a:ext cx="342275"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$181</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Shape 104"/>
          <p:cNvSpPr/>
          <p:nvPr/>
        </p:nvSpPr>
        <p:spPr>
          <a:xfrm>
            <a:off x="9893808" y="4401781"/>
            <a:ext cx="321936"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$170</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9" name="Shape 107"/>
          <p:cNvSpPr/>
          <p:nvPr/>
        </p:nvSpPr>
        <p:spPr>
          <a:xfrm>
            <a:off x="9893808" y="4722524"/>
            <a:ext cx="290572"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2" name="Shape 110"/>
          <p:cNvSpPr/>
          <p:nvPr/>
        </p:nvSpPr>
        <p:spPr>
          <a:xfrm>
            <a:off x="9893808" y="5043268"/>
            <a:ext cx="289524"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$153</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9893808" y="5364011"/>
            <a:ext cx="281601"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$149</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2026-10-21T21:13:50Z</dcterms:created>
  <dcterms:modified xsi:type="dcterms:W3CDTF">2026-10-21T21:13:50Z</dcterms:modified>
</cp:coreProperties>
</file>