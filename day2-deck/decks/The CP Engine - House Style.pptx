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240</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D - door rate by store, split by labor grid, standard rate only. Store door rate sheet (Oct 15 2026); averages weighted by Jul-Sep CP sold hours. Bars start at $100. INEOS on the sheet but excluded (same-store).
CHEVY LV: premium $265 (Diesel/Corvette)
AUDI HENDERSON: premium $399 (Lambo Non-Grid)
VW HENDERSON: premium $210 (EV)
CHEVY GMC BULLHEAD: premium $200 (Non-Standard Grid)
SUBARU ST GEORGE: premium $210 (EV)
HONDA FLAGSTAFF: premium $215 (EV)
GMC PRESCOTT: premium $230 (EV)
KIA ST GEORGE: premium $195 (EV)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E - door rate by store with premium rates, split by labor grid. Store door rate sheet (Oct 15 2026); averages weighted by Jul-Sep CP sold hours. Bars start at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Jul–Sep: 25 of 33 stores realize at least 70% of door rate; the group is at 74.7%. Audi Reno leads at 103.4%; Cadillac is lowest at 61.5%.Source: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
AUDI RENO: ELR $244 / door $236 = 103.4%
VOLVO: ELR $225 / door $250 = 90.2%
CHEVY GMC BULLHEAD: ELR $162 / door $180 = 89.9%
HYUNDAI ST GEORGE: ELR $166 / door $185 = 89.7%
ACURA: ELR $199 / door $225 = 88.5%
LR RENO: ELR $239 / door $275 = 86.7%
HONDA FLAGSTAFF: ELR $160 / door $185 = 86.3%
HONDA SPOKANE: ELR $148 / door $179 = 82.6%
LEXUS: ELR $187 / door $230 = 81.5%
CDJR POST FALLS: ELR $162 / door $200 = 80.9%
TOYOTA PRESCOTT: ELR $156 / door $195 = 79.8%
LR HENDERSON: ELR $234 / door $295 = 79.5%
KIA ST GEORGE: ELR $146 / door $185 = 78.9%
MAZDA: ELR $166 / door $210 = 78.9%
VW HENDERSON: ELR $161 / door $205 = 78.5%
VW ST GEORGE: ELR $142 / door $185 = 76.7%
AUDI HENDERSON: ELR $267 / door $349 = 76.4%
LR LV: ELR $234 / door $310 = 75.4%
SUBARU LV: ELR $162 / door $215 = 75.2%
NISSAN: ELR $180 / door $240 = 75.1%
TOYOTA FLAGSTAFF: ELR $143 / door $190 = 75.0%
SUBARU ST GEORGE: ELR $137 / door $185 = 73.8%
TOYOTA HENDERSON: ELR $155 / door $211 = 73.1%
HONDA HENDERSON: ELR $153 / door $212 = 72.4%
HONDA NORTH: ELR $150 / door $212 = 70.6%
KIA LV: ELR $151 / door $220 = 68.5%
LINCOLN: ELR $167 / door $245 = 68.2%
TOYOTA SPOKANE: ELR $125 / door $185 = 67.5%
GMC PRESCOTT: ELR $147 / door $220 = 66.7%
SUBARU PRESCOTT: ELR $140 / door $210 = 66.5%
CHEVY LV: ELR $146 / door $225 = 65.0%
HYUNDAI PRESCOTT: ELR $136 / door $210 = 64.8%
CADILLAC: ELR $175 / door $285 = 61.5%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Jul–Sep: 25 of 33 stores realize at least 70% of door rate; the group is at 74.7%. Cadillac is lowest at 61.5%.Source: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Jul–Sep: 25 of 33 stores at or above 70% of door rate. Cadillac runs $175 against a $200 target.Source: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C - split by labor grid.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$534 and 16 of 24 others beat $202. CDJR Post Falls leads non-luxury at $332.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24 of 33 stores grew CP parts per RO, led by LR Henderson at +$95 to $926. 9 declined; LR Reno fell most at −$62.Source: Qlik - Closed Repair Orders. Customer pay, Jan-Sep by close month. Same-store, INEOS excluded (opened 2026). GMC Prescott body shop labor types excluded. Change in CP Parts $ per RO,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LR Henderson, Lincoln and Lexus what changed. Ask LR Reno, Audi Reno and Kia LV what got in the way. Ask LR Reno, LR Henderson and Audi Henderson what they started this year.Source: Qlik - Closed Repair Orders. Customer pay, Jan-Sep by close month. Same-store, INEOS excluded (opened 2026). GMC Prescott body shop labor types excluded. Customer-pay parts sale / all customer-pay ROs (governed Parts Sale/RO). Top and bottom five stores by change in CP Parts $ per RO, Jan-Sep 2026 vs 2025. Moving now: Jul-Sep 2026 vs Jan-Mar 2026, each store against itself; the group moved +$12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28 of 33 stores improved parts margin, led by Acura at +6.2 pts to 44.9%. 5 declined; Audi Henderson fell most at −2.2 pts.Source: Qlik - Closed Repair Orders. Customer pay, Jan-Sep by close month. Same-store, INEOS excluded (opened 2026). GMC Prescott body shop labor types excluded. Change in CP Parts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chart" Target="/ppt/charts/chart18.xml"/><Relationship Id="rId3" Type="http://schemas.openxmlformats.org/officeDocument/2006/relationships/chart" Target="/ppt/charts/chart19.xml"/><Relationship Id="rId4" Type="http://schemas.openxmlformats.org/officeDocument/2006/relationships/chart" Target="/ppt/charts/chart20.xml"/><Relationship Id="rId5" Type="http://schemas.openxmlformats.org/officeDocument/2006/relationships/chart" Target="/ppt/charts/chart21.xml"/><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chart" Target="/ppt/charts/chart23.xml"/><Relationship Id="rId3" Type="http://schemas.openxmlformats.org/officeDocument/2006/relationships/chart" Target="/ppt/charts/chart24.xml"/><Relationship Id="rId4" Type="http://schemas.openxmlformats.org/officeDocument/2006/relationships/chart" Target="/ppt/charts/chart25.xml"/><Relationship Id="rId5" Type="http://schemas.openxmlformats.org/officeDocument/2006/relationships/chart" Target="/ppt/charts/chart26.xml"/><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chart" Target="/ppt/charts/chart28.xml"/><Relationship Id="rId3" Type="http://schemas.openxmlformats.org/officeDocument/2006/relationships/chart" Target="/ppt/charts/chart29.xml"/><Relationship Id="rId4" Type="http://schemas.openxmlformats.org/officeDocument/2006/relationships/chart" Target="/ppt/charts/chart30.xml"/><Relationship Id="rId5" Type="http://schemas.openxmlformats.org/officeDocument/2006/relationships/chart" Target="/ppt/charts/chart31.xml"/><Relationship Id="rId6" Type="http://schemas.openxmlformats.org/officeDocument/2006/relationships/chart" Target="/ppt/charts/chart32.xml"/><Relationship Id="rId7" Type="http://schemas.openxmlformats.org/officeDocument/2006/relationships/chart" Target="/ppt/charts/chart33.xml"/><Relationship Id="rId8" Type="http://schemas.openxmlformats.org/officeDocument/2006/relationships/chart" Target="/ppt/charts/chart34.xml"/><Relationship Id="rId9" Type="http://schemas.openxmlformats.org/officeDocument/2006/relationships/slideLayout" Target="../slideLayouts/slideLayout1.xml"/><Relationship Id="rId10"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35.xml"/><Relationship Id="rId2" Type="http://schemas.openxmlformats.org/officeDocument/2006/relationships/chart" Target="/ppt/charts/chart36.xml"/><Relationship Id="rId3" Type="http://schemas.openxmlformats.org/officeDocument/2006/relationships/chart" Target="/ppt/charts/chart37.xml"/><Relationship Id="rId4" Type="http://schemas.openxmlformats.org/officeDocument/2006/relationships/chart" Target="/ppt/charts/chart38.xml"/><Relationship Id="rId5" Type="http://schemas.openxmlformats.org/officeDocument/2006/relationships/chart" Target="/ppt/charts/chart39.xml"/><Relationship Id="rId6" Type="http://schemas.openxmlformats.org/officeDocument/2006/relationships/slideLayout" Target="../slideLayouts/slideLayout1.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0.07 to 1.87, ahead of 2025 in all nine months. Each 0.1 hour per RO is worth $6.6M a year in gross.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Shape 18"/>
          <p:cNvSpPr/>
          <p:nvPr/>
        </p:nvSpPr>
        <p:spPr>
          <a:xfrm>
            <a:off x="4084320" y="3796589"/>
            <a:ext cx="64008" cy="755294"/>
          </a:xfrm>
          <a:prstGeom prst="rect">
            <a:avLst/>
          </a:prstGeom>
          <a:solidFill>
            <a:srgbClr val="12A566"/>
          </a:solidFill>
          <a:ln/>
        </p:spPr>
      </p:sp>
      <p:sp>
        <p:nvSpPr>
          <p:cNvPr id="21" name="Text 19"/>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416906"/>
            <a:ext cx="3489960" cy="828446"/>
          </a:xfrm>
          <a:prstGeom prst="rect">
            <a:avLst/>
          </a:prstGeom>
          <a:solidFill>
            <a:srgbClr val="F7F7F7"/>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625035"/>
            <a:ext cx="64008" cy="755294"/>
          </a:xfrm>
          <a:prstGeom prst="rect">
            <a:avLst/>
          </a:prstGeom>
          <a:solidFill>
            <a:srgbClr val="12A566"/>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403250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304495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304495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304495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304495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304495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Shape 35"/>
          <p:cNvSpPr/>
          <p:nvPr/>
        </p:nvSpPr>
        <p:spPr>
          <a:xfrm>
            <a:off x="7775448" y="2139696"/>
            <a:ext cx="64008" cy="755294"/>
          </a:xfrm>
          <a:prstGeom prst="rect">
            <a:avLst/>
          </a:prstGeom>
          <a:solidFill>
            <a:srgbClr val="2587C5"/>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8" name="Shape 76"/>
          <p:cNvSpPr/>
          <p:nvPr/>
        </p:nvSpPr>
        <p:spPr>
          <a:xfrm>
            <a:off x="11466576" y="4625035"/>
            <a:ext cx="64008" cy="755294"/>
          </a:xfrm>
          <a:prstGeom prst="rect">
            <a:avLst/>
          </a:prstGeom>
          <a:solidFill>
            <a:srgbClr val="2587C5"/>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47472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4224528"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9" name="Text 7"/>
          <p:cNvSpPr txBox="1"/>
          <p:nvPr/>
        </p:nvSpPr>
        <p:spPr>
          <a:xfrm>
            <a:off x="5212080"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 name="Shape 9"/>
          <p:cNvSpPr/>
          <p:nvPr/>
        </p:nvSpPr>
        <p:spPr>
          <a:xfrm>
            <a:off x="2651760" y="1813560"/>
            <a:ext cx="768096" cy="115824"/>
          </a:xfrm>
          <a:prstGeom prst="rect">
            <a:avLst/>
          </a:prstGeom>
          <a:solidFill>
            <a:srgbClr val="2587C5"/>
          </a:solidFill>
          <a:ln/>
        </p:spPr>
      </p:sp>
      <p:sp>
        <p:nvSpPr>
          <p:cNvPr id="12" name="Text 10"/>
          <p:cNvSpPr txBox="1"/>
          <p:nvPr/>
        </p:nvSpPr>
        <p:spPr>
          <a:xfrm>
            <a:off x="347472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3" name="Text 11"/>
          <p:cNvSpPr txBox="1"/>
          <p:nvPr/>
        </p:nvSpPr>
        <p:spPr>
          <a:xfrm>
            <a:off x="4224528" y="175564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14" name="Text 12"/>
          <p:cNvSpPr txBox="1"/>
          <p:nvPr/>
        </p:nvSpPr>
        <p:spPr>
          <a:xfrm>
            <a:off x="5212080" y="175564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Lambo</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2651760" y="2045208"/>
            <a:ext cx="648130" cy="115824"/>
          </a:xfrm>
          <a:prstGeom prst="rect">
            <a:avLst/>
          </a:prstGeom>
          <a:solidFill>
            <a:srgbClr val="2587C5"/>
          </a:solidFill>
          <a:ln/>
        </p:spPr>
      </p:sp>
      <p:sp>
        <p:nvSpPr>
          <p:cNvPr id="17" name="Text 15"/>
          <p:cNvSpPr txBox="1"/>
          <p:nvPr/>
        </p:nvSpPr>
        <p:spPr>
          <a:xfrm>
            <a:off x="347472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8" name="Text 16"/>
          <p:cNvSpPr txBox="1"/>
          <p:nvPr/>
        </p:nvSpPr>
        <p:spPr>
          <a:xfrm>
            <a:off x="4224528"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9" name="Text 17"/>
          <p:cNvSpPr txBox="1"/>
          <p:nvPr/>
        </p:nvSpPr>
        <p:spPr>
          <a:xfrm>
            <a:off x="5212080"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1" name="Shape 19"/>
          <p:cNvSpPr/>
          <p:nvPr/>
        </p:nvSpPr>
        <p:spPr>
          <a:xfrm>
            <a:off x="2651760" y="2276856"/>
            <a:ext cx="601434" cy="115824"/>
          </a:xfrm>
          <a:prstGeom prst="rect">
            <a:avLst/>
          </a:prstGeom>
          <a:solidFill>
            <a:srgbClr val="2587C5"/>
          </a:solidFill>
          <a:ln/>
        </p:spPr>
      </p:sp>
      <p:sp>
        <p:nvSpPr>
          <p:cNvPr id="22" name="Text 20"/>
          <p:cNvSpPr txBox="1"/>
          <p:nvPr/>
        </p:nvSpPr>
        <p:spPr>
          <a:xfrm>
            <a:off x="347472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23" name="Text 21"/>
          <p:cNvSpPr txBox="1"/>
          <p:nvPr/>
        </p:nvSpPr>
        <p:spPr>
          <a:xfrm>
            <a:off x="4224528"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24" name="Text 22"/>
          <p:cNvSpPr txBox="1"/>
          <p:nvPr/>
        </p:nvSpPr>
        <p:spPr>
          <a:xfrm>
            <a:off x="5212080"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6" name="Shape 24"/>
          <p:cNvSpPr/>
          <p:nvPr/>
        </p:nvSpPr>
        <p:spPr>
          <a:xfrm>
            <a:off x="2651760" y="2508504"/>
            <a:ext cx="570972" cy="115824"/>
          </a:xfrm>
          <a:prstGeom prst="rect">
            <a:avLst/>
          </a:prstGeom>
          <a:solidFill>
            <a:srgbClr val="2587C5"/>
          </a:solidFill>
          <a:ln/>
        </p:spPr>
      </p:sp>
      <p:sp>
        <p:nvSpPr>
          <p:cNvPr id="27" name="Text 25"/>
          <p:cNvSpPr txBox="1"/>
          <p:nvPr/>
        </p:nvSpPr>
        <p:spPr>
          <a:xfrm>
            <a:off x="347472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8" name="Text 26"/>
          <p:cNvSpPr txBox="1"/>
          <p:nvPr/>
        </p:nvSpPr>
        <p:spPr>
          <a:xfrm>
            <a:off x="4224528"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29" name="Text 27"/>
          <p:cNvSpPr txBox="1"/>
          <p:nvPr/>
        </p:nvSpPr>
        <p:spPr>
          <a:xfrm>
            <a:off x="5212080"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1" name="Shape 29"/>
          <p:cNvSpPr/>
          <p:nvPr/>
        </p:nvSpPr>
        <p:spPr>
          <a:xfrm>
            <a:off x="2651760" y="2740152"/>
            <a:ext cx="431686" cy="115824"/>
          </a:xfrm>
          <a:prstGeom prst="rect">
            <a:avLst/>
          </a:prstGeom>
          <a:solidFill>
            <a:srgbClr val="2587C5"/>
          </a:solidFill>
          <a:ln/>
        </p:spPr>
      </p:sp>
      <p:sp>
        <p:nvSpPr>
          <p:cNvPr id="32" name="Text 30"/>
          <p:cNvSpPr txBox="1"/>
          <p:nvPr/>
        </p:nvSpPr>
        <p:spPr>
          <a:xfrm>
            <a:off x="347472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33" name="Text 31"/>
          <p:cNvSpPr txBox="1"/>
          <p:nvPr/>
        </p:nvSpPr>
        <p:spPr>
          <a:xfrm>
            <a:off x="4224528" y="2682240"/>
            <a:ext cx="987552" cy="231648"/>
          </a:xfrm>
          <a:prstGeom prst="rect">
            <a:avLst/>
          </a:prstGeom>
          <a:noFill/>
          <a:ln/>
        </p:spPr>
        <p:txBody>
          <a:bodyPr wrap="square" lIns="0" tIns="0" rIns="0" bIns="0" rtlCol="0" anchor="ctr"/>
          <a:lstStyle/>
          <a:p>
            <a:pPr algn="r" indent="0" marL="0">
              <a:buNone/>
            </a:pPr>
            <a:endParaRPr lang="en-US" sz="1300" dirty="0"/>
          </a:p>
        </p:txBody>
      </p:sp>
      <p:sp>
        <p:nvSpPr>
          <p:cNvPr id="34" name="Text 32"/>
          <p:cNvSpPr txBox="1"/>
          <p:nvPr/>
        </p:nvSpPr>
        <p:spPr>
          <a:xfrm>
            <a:off x="5212080" y="2682240"/>
            <a:ext cx="658368" cy="231648"/>
          </a:xfrm>
          <a:prstGeom prst="rect">
            <a:avLst/>
          </a:prstGeom>
          <a:noFill/>
          <a:ln/>
        </p:spPr>
        <p:txBody>
          <a:bodyPr wrap="square" lIns="0" tIns="0" rIns="0" bIns="0" rtlCol="0" anchor="ctr"/>
          <a:lstStyle/>
          <a:p>
            <a:pPr algn="r" indent="0" marL="0">
              <a:buNone/>
            </a:pP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6" name="Shape 34"/>
          <p:cNvSpPr/>
          <p:nvPr/>
        </p:nvSpPr>
        <p:spPr>
          <a:xfrm>
            <a:off x="2651760" y="2971800"/>
            <a:ext cx="419340" cy="115824"/>
          </a:xfrm>
          <a:prstGeom prst="rect">
            <a:avLst/>
          </a:prstGeom>
          <a:solidFill>
            <a:srgbClr val="2587C5"/>
          </a:solidFill>
          <a:ln/>
        </p:spPr>
      </p:sp>
      <p:sp>
        <p:nvSpPr>
          <p:cNvPr id="37" name="Text 35"/>
          <p:cNvSpPr txBox="1"/>
          <p:nvPr/>
        </p:nvSpPr>
        <p:spPr>
          <a:xfrm>
            <a:off x="347472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38" name="Text 36"/>
          <p:cNvSpPr txBox="1"/>
          <p:nvPr/>
        </p:nvSpPr>
        <p:spPr>
          <a:xfrm>
            <a:off x="4224528"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39" name="Text 37"/>
          <p:cNvSpPr txBox="1"/>
          <p:nvPr/>
        </p:nvSpPr>
        <p:spPr>
          <a:xfrm>
            <a:off x="5212080"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40" name="Shape 38"/>
          <p:cNvSpPr/>
          <p:nvPr/>
        </p:nvSpPr>
        <p:spPr>
          <a:xfrm>
            <a:off x="603504" y="3145536"/>
            <a:ext cx="5285232" cy="222504"/>
          </a:xfrm>
          <a:prstGeom prst="rect">
            <a:avLst/>
          </a:prstGeom>
          <a:solidFill>
            <a:srgbClr val="EDF4FA"/>
          </a:solidFill>
          <a:ln/>
        </p:spPr>
      </p:sp>
      <p:sp>
        <p:nvSpPr>
          <p:cNvPr id="41" name="Text 39"/>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42" name="Shape 40"/>
          <p:cNvSpPr/>
          <p:nvPr/>
        </p:nvSpPr>
        <p:spPr>
          <a:xfrm>
            <a:off x="2651760" y="3203448"/>
            <a:ext cx="396757" cy="115824"/>
          </a:xfrm>
          <a:prstGeom prst="rect">
            <a:avLst/>
          </a:prstGeom>
          <a:solidFill>
            <a:srgbClr val="0B2C4A"/>
          </a:solidFill>
          <a:ln/>
        </p:spPr>
      </p:sp>
      <p:sp>
        <p:nvSpPr>
          <p:cNvPr id="43" name="Text 41"/>
          <p:cNvSpPr txBox="1"/>
          <p:nvPr/>
        </p:nvSpPr>
        <p:spPr>
          <a:xfrm>
            <a:off x="347472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44" name="Text 42"/>
          <p:cNvSpPr txBox="1"/>
          <p:nvPr/>
        </p:nvSpPr>
        <p:spPr>
          <a:xfrm>
            <a:off x="4224528"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45" name="Text 43"/>
          <p:cNvSpPr txBox="1"/>
          <p:nvPr/>
        </p:nvSpPr>
        <p:spPr>
          <a:xfrm>
            <a:off x="5212080"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46" name="Text 44"/>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7" name="Shape 45"/>
          <p:cNvSpPr/>
          <p:nvPr/>
        </p:nvSpPr>
        <p:spPr>
          <a:xfrm>
            <a:off x="2651760" y="3435096"/>
            <a:ext cx="385391" cy="115824"/>
          </a:xfrm>
          <a:prstGeom prst="rect">
            <a:avLst/>
          </a:prstGeom>
          <a:solidFill>
            <a:srgbClr val="2587C5"/>
          </a:solidFill>
          <a:ln/>
        </p:spPr>
      </p:sp>
      <p:sp>
        <p:nvSpPr>
          <p:cNvPr id="48" name="Text 46"/>
          <p:cNvSpPr txBox="1"/>
          <p:nvPr/>
        </p:nvSpPr>
        <p:spPr>
          <a:xfrm>
            <a:off x="347472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49" name="Text 47"/>
          <p:cNvSpPr txBox="1"/>
          <p:nvPr/>
        </p:nvSpPr>
        <p:spPr>
          <a:xfrm>
            <a:off x="4224528" y="337718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$265</a:t>
            </a:r>
            <a:endParaRPr lang="en-US" sz="1300" dirty="0"/>
          </a:p>
        </p:txBody>
      </p:sp>
      <p:sp>
        <p:nvSpPr>
          <p:cNvPr id="50" name="Text 48"/>
          <p:cNvSpPr txBox="1"/>
          <p:nvPr/>
        </p:nvSpPr>
        <p:spPr>
          <a:xfrm>
            <a:off x="5212080" y="337718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Diesel</a:t>
            </a:r>
            <a:endParaRPr lang="en-US" sz="1300" dirty="0"/>
          </a:p>
        </p:txBody>
      </p:sp>
      <p:sp>
        <p:nvSpPr>
          <p:cNvPr id="51" name="Text 49"/>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2" name="Shape 50"/>
          <p:cNvSpPr/>
          <p:nvPr/>
        </p:nvSpPr>
        <p:spPr>
          <a:xfrm>
            <a:off x="2651760" y="3666744"/>
            <a:ext cx="385391" cy="115824"/>
          </a:xfrm>
          <a:prstGeom prst="rect">
            <a:avLst/>
          </a:prstGeom>
          <a:solidFill>
            <a:srgbClr val="2587C5"/>
          </a:solidFill>
          <a:ln/>
        </p:spPr>
      </p:sp>
      <p:sp>
        <p:nvSpPr>
          <p:cNvPr id="53" name="Text 51"/>
          <p:cNvSpPr txBox="1"/>
          <p:nvPr/>
        </p:nvSpPr>
        <p:spPr>
          <a:xfrm>
            <a:off x="347472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54" name="Text 52"/>
          <p:cNvSpPr txBox="1"/>
          <p:nvPr/>
        </p:nvSpPr>
        <p:spPr>
          <a:xfrm>
            <a:off x="4224528"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55" name="Text 53"/>
          <p:cNvSpPr txBox="1"/>
          <p:nvPr/>
        </p:nvSpPr>
        <p:spPr>
          <a:xfrm>
            <a:off x="5212080"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56" name="Text 5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7" name="Shape 55"/>
          <p:cNvSpPr/>
          <p:nvPr/>
        </p:nvSpPr>
        <p:spPr>
          <a:xfrm>
            <a:off x="2651760" y="3898392"/>
            <a:ext cx="369959" cy="115824"/>
          </a:xfrm>
          <a:prstGeom prst="rect">
            <a:avLst/>
          </a:prstGeom>
          <a:solidFill>
            <a:srgbClr val="2587C5"/>
          </a:solidFill>
          <a:ln/>
        </p:spPr>
      </p:sp>
      <p:sp>
        <p:nvSpPr>
          <p:cNvPr id="58" name="Text 56"/>
          <p:cNvSpPr txBox="1"/>
          <p:nvPr/>
        </p:nvSpPr>
        <p:spPr>
          <a:xfrm>
            <a:off x="347472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59" name="Text 57"/>
          <p:cNvSpPr txBox="1"/>
          <p:nvPr/>
        </p:nvSpPr>
        <p:spPr>
          <a:xfrm>
            <a:off x="4224528"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60" name="Text 58"/>
          <p:cNvSpPr txBox="1"/>
          <p:nvPr/>
        </p:nvSpPr>
        <p:spPr>
          <a:xfrm>
            <a:off x="5212080"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61" name="Text 59"/>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2" name="Shape 60"/>
          <p:cNvSpPr/>
          <p:nvPr/>
        </p:nvSpPr>
        <p:spPr>
          <a:xfrm>
            <a:off x="2651760" y="4130040"/>
            <a:ext cx="345268" cy="115824"/>
          </a:xfrm>
          <a:prstGeom prst="rect">
            <a:avLst/>
          </a:prstGeom>
          <a:solidFill>
            <a:srgbClr val="2587C5"/>
          </a:solidFill>
          <a:ln/>
        </p:spPr>
      </p:sp>
      <p:sp>
        <p:nvSpPr>
          <p:cNvPr id="63" name="Text 61"/>
          <p:cNvSpPr txBox="1"/>
          <p:nvPr/>
        </p:nvSpPr>
        <p:spPr>
          <a:xfrm>
            <a:off x="347472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64" name="Text 62"/>
          <p:cNvSpPr txBox="1"/>
          <p:nvPr/>
        </p:nvSpPr>
        <p:spPr>
          <a:xfrm>
            <a:off x="4224528"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65" name="Text 63"/>
          <p:cNvSpPr txBox="1"/>
          <p:nvPr/>
        </p:nvSpPr>
        <p:spPr>
          <a:xfrm>
            <a:off x="5212080"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7" name="Shape 65"/>
          <p:cNvSpPr/>
          <p:nvPr/>
        </p:nvSpPr>
        <p:spPr>
          <a:xfrm>
            <a:off x="2651760" y="4361688"/>
            <a:ext cx="345268" cy="115824"/>
          </a:xfrm>
          <a:prstGeom prst="rect">
            <a:avLst/>
          </a:prstGeom>
          <a:solidFill>
            <a:srgbClr val="2587C5"/>
          </a:solidFill>
          <a:ln/>
        </p:spPr>
      </p:sp>
      <p:sp>
        <p:nvSpPr>
          <p:cNvPr id="68" name="Text 66"/>
          <p:cNvSpPr txBox="1"/>
          <p:nvPr/>
        </p:nvSpPr>
        <p:spPr>
          <a:xfrm>
            <a:off x="347472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69" name="Text 67"/>
          <p:cNvSpPr txBox="1"/>
          <p:nvPr/>
        </p:nvSpPr>
        <p:spPr>
          <a:xfrm>
            <a:off x="4224528"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70" name="Text 68"/>
          <p:cNvSpPr txBox="1"/>
          <p:nvPr/>
        </p:nvSpPr>
        <p:spPr>
          <a:xfrm>
            <a:off x="5212080"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343386" cy="115824"/>
          </a:xfrm>
          <a:prstGeom prst="rect">
            <a:avLst/>
          </a:prstGeom>
          <a:solidFill>
            <a:srgbClr val="2587C5"/>
          </a:solidFill>
          <a:ln/>
        </p:spPr>
      </p:sp>
      <p:sp>
        <p:nvSpPr>
          <p:cNvPr id="73" name="Text 71"/>
          <p:cNvSpPr txBox="1"/>
          <p:nvPr/>
        </p:nvSpPr>
        <p:spPr>
          <a:xfrm>
            <a:off x="347472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74" name="Text 72"/>
          <p:cNvSpPr txBox="1"/>
          <p:nvPr/>
        </p:nvSpPr>
        <p:spPr>
          <a:xfrm>
            <a:off x="4224528"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75" name="Text 73"/>
          <p:cNvSpPr txBox="1"/>
          <p:nvPr/>
        </p:nvSpPr>
        <p:spPr>
          <a:xfrm>
            <a:off x="5212080"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7" name="Shape 75"/>
          <p:cNvSpPr/>
          <p:nvPr/>
        </p:nvSpPr>
        <p:spPr>
          <a:xfrm>
            <a:off x="2651760" y="4824984"/>
            <a:ext cx="339096" cy="115824"/>
          </a:xfrm>
          <a:prstGeom prst="rect">
            <a:avLst/>
          </a:prstGeom>
          <a:solidFill>
            <a:srgbClr val="2587C5"/>
          </a:solidFill>
          <a:ln/>
        </p:spPr>
      </p:sp>
      <p:sp>
        <p:nvSpPr>
          <p:cNvPr id="78" name="Text 76"/>
          <p:cNvSpPr txBox="1"/>
          <p:nvPr/>
        </p:nvSpPr>
        <p:spPr>
          <a:xfrm>
            <a:off x="347472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79" name="Text 77"/>
          <p:cNvSpPr txBox="1"/>
          <p:nvPr/>
        </p:nvSpPr>
        <p:spPr>
          <a:xfrm>
            <a:off x="4224528" y="4767072"/>
            <a:ext cx="987552" cy="231648"/>
          </a:xfrm>
          <a:prstGeom prst="rect">
            <a:avLst/>
          </a:prstGeom>
          <a:noFill/>
          <a:ln/>
        </p:spPr>
        <p:txBody>
          <a:bodyPr wrap="square" lIns="0" tIns="0" rIns="0" bIns="0" rtlCol="0" anchor="ctr"/>
          <a:lstStyle/>
          <a:p>
            <a:pPr algn="r" indent="0" marL="0">
              <a:buNone/>
            </a:pPr>
            <a:endParaRPr lang="en-US" sz="1300" dirty="0"/>
          </a:p>
        </p:txBody>
      </p:sp>
      <p:sp>
        <p:nvSpPr>
          <p:cNvPr id="80" name="Text 78"/>
          <p:cNvSpPr txBox="1"/>
          <p:nvPr/>
        </p:nvSpPr>
        <p:spPr>
          <a:xfrm>
            <a:off x="5212080" y="4767072"/>
            <a:ext cx="658368" cy="231648"/>
          </a:xfrm>
          <a:prstGeom prst="rect">
            <a:avLst/>
          </a:prstGeom>
          <a:noFill/>
          <a:ln/>
        </p:spPr>
        <p:txBody>
          <a:bodyPr wrap="square" lIns="0" tIns="0" rIns="0" bIns="0" rtlCol="0" anchor="ctr"/>
          <a:lstStyle/>
          <a:p>
            <a:pPr algn="r" indent="0" marL="0">
              <a:buNone/>
            </a:pP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2" name="Shape 80"/>
          <p:cNvSpPr/>
          <p:nvPr/>
        </p:nvSpPr>
        <p:spPr>
          <a:xfrm>
            <a:off x="2651760" y="5056632"/>
            <a:ext cx="323664" cy="115824"/>
          </a:xfrm>
          <a:prstGeom prst="rect">
            <a:avLst/>
          </a:prstGeom>
          <a:solidFill>
            <a:srgbClr val="2587C5"/>
          </a:solidFill>
          <a:ln/>
        </p:spPr>
      </p:sp>
      <p:sp>
        <p:nvSpPr>
          <p:cNvPr id="83" name="Text 81"/>
          <p:cNvSpPr txBox="1"/>
          <p:nvPr/>
        </p:nvSpPr>
        <p:spPr>
          <a:xfrm>
            <a:off x="347472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84" name="Text 82"/>
          <p:cNvSpPr txBox="1"/>
          <p:nvPr/>
        </p:nvSpPr>
        <p:spPr>
          <a:xfrm>
            <a:off x="4224528"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85" name="Text 83"/>
          <p:cNvSpPr txBox="1"/>
          <p:nvPr/>
        </p:nvSpPr>
        <p:spPr>
          <a:xfrm>
            <a:off x="5212080"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Shape 85"/>
          <p:cNvSpPr/>
          <p:nvPr/>
        </p:nvSpPr>
        <p:spPr>
          <a:xfrm>
            <a:off x="2651760" y="5288280"/>
            <a:ext cx="261937" cy="115824"/>
          </a:xfrm>
          <a:prstGeom prst="rect">
            <a:avLst/>
          </a:prstGeom>
          <a:solidFill>
            <a:srgbClr val="2587C5"/>
          </a:solidFill>
          <a:ln/>
        </p:spPr>
      </p:sp>
      <p:sp>
        <p:nvSpPr>
          <p:cNvPr id="88" name="Text 86"/>
          <p:cNvSpPr txBox="1"/>
          <p:nvPr/>
        </p:nvSpPr>
        <p:spPr>
          <a:xfrm>
            <a:off x="347472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89" name="Text 87"/>
          <p:cNvSpPr txBox="1"/>
          <p:nvPr/>
        </p:nvSpPr>
        <p:spPr>
          <a:xfrm>
            <a:off x="4224528" y="5230368"/>
            <a:ext cx="987552" cy="231648"/>
          </a:xfrm>
          <a:prstGeom prst="rect">
            <a:avLst/>
          </a:prstGeom>
          <a:noFill/>
          <a:ln/>
        </p:spPr>
        <p:txBody>
          <a:bodyPr wrap="square" lIns="0" tIns="0" rIns="0" bIns="0" rtlCol="0" anchor="ctr"/>
          <a:lstStyle/>
          <a:p>
            <a:pPr algn="r" indent="0" marL="0">
              <a:buNone/>
            </a:pPr>
            <a:endParaRPr lang="en-US" sz="1300" dirty="0"/>
          </a:p>
        </p:txBody>
      </p:sp>
      <p:sp>
        <p:nvSpPr>
          <p:cNvPr id="90" name="Text 88"/>
          <p:cNvSpPr txBox="1"/>
          <p:nvPr/>
        </p:nvSpPr>
        <p:spPr>
          <a:xfrm>
            <a:off x="5212080" y="5230368"/>
            <a:ext cx="658368" cy="231648"/>
          </a:xfrm>
          <a:prstGeom prst="rect">
            <a:avLst/>
          </a:prstGeom>
          <a:noFill/>
          <a:ln/>
        </p:spPr>
        <p:txBody>
          <a:bodyPr wrap="square" lIns="0" tIns="0" rIns="0" bIns="0" rtlCol="0" anchor="ctr"/>
          <a:lstStyle/>
          <a:p>
            <a:pPr algn="r" indent="0" marL="0">
              <a:buNone/>
            </a:pP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2" name="Shape 90"/>
          <p:cNvSpPr/>
          <p:nvPr/>
        </p:nvSpPr>
        <p:spPr>
          <a:xfrm>
            <a:off x="2651760" y="5519928"/>
            <a:ext cx="261937" cy="115824"/>
          </a:xfrm>
          <a:prstGeom prst="rect">
            <a:avLst/>
          </a:prstGeom>
          <a:solidFill>
            <a:srgbClr val="2587C5"/>
          </a:solidFill>
          <a:ln/>
        </p:spPr>
      </p:sp>
      <p:sp>
        <p:nvSpPr>
          <p:cNvPr id="93" name="Text 91"/>
          <p:cNvSpPr txBox="1"/>
          <p:nvPr/>
        </p:nvSpPr>
        <p:spPr>
          <a:xfrm>
            <a:off x="347472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94" name="Text 92"/>
          <p:cNvSpPr txBox="1"/>
          <p:nvPr/>
        </p:nvSpPr>
        <p:spPr>
          <a:xfrm>
            <a:off x="4224528"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95" name="Text 93"/>
          <p:cNvSpPr txBox="1"/>
          <p:nvPr/>
        </p:nvSpPr>
        <p:spPr>
          <a:xfrm>
            <a:off x="5212080"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97" name="Shape 95"/>
          <p:cNvSpPr/>
          <p:nvPr/>
        </p:nvSpPr>
        <p:spPr>
          <a:xfrm>
            <a:off x="2651760" y="5751576"/>
            <a:ext cx="246506" cy="115824"/>
          </a:xfrm>
          <a:prstGeom prst="rect">
            <a:avLst/>
          </a:prstGeom>
          <a:solidFill>
            <a:srgbClr val="2587C5"/>
          </a:solidFill>
          <a:ln/>
        </p:spPr>
      </p:sp>
      <p:sp>
        <p:nvSpPr>
          <p:cNvPr id="98" name="Text 96"/>
          <p:cNvSpPr txBox="1"/>
          <p:nvPr/>
        </p:nvSpPr>
        <p:spPr>
          <a:xfrm>
            <a:off x="347472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99" name="Text 97"/>
          <p:cNvSpPr txBox="1"/>
          <p:nvPr/>
        </p:nvSpPr>
        <p:spPr>
          <a:xfrm>
            <a:off x="4224528" y="569366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a:t>
            </a:r>
            <a:endParaRPr lang="en-US" sz="1300" dirty="0"/>
          </a:p>
        </p:txBody>
      </p:sp>
      <p:sp>
        <p:nvSpPr>
          <p:cNvPr id="100" name="Text 98"/>
          <p:cNvSpPr txBox="1"/>
          <p:nvPr/>
        </p:nvSpPr>
        <p:spPr>
          <a:xfrm>
            <a:off x="5212080" y="569366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Non-std</a:t>
            </a:r>
            <a:endParaRPr lang="en-US" sz="1300" dirty="0"/>
          </a:p>
        </p:txBody>
      </p:sp>
      <p:sp>
        <p:nvSpPr>
          <p:cNvPr id="101" name="Text 99"/>
          <p:cNvSpPr txBox="1"/>
          <p:nvPr/>
        </p:nvSpPr>
        <p:spPr>
          <a:xfrm>
            <a:off x="6208776"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2" name="Text 100"/>
          <p:cNvSpPr txBox="1"/>
          <p:nvPr/>
        </p:nvSpPr>
        <p:spPr>
          <a:xfrm>
            <a:off x="902512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3" name="Text 101"/>
          <p:cNvSpPr txBox="1"/>
          <p:nvPr/>
        </p:nvSpPr>
        <p:spPr>
          <a:xfrm>
            <a:off x="9774936"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104" name="Text 102"/>
          <p:cNvSpPr txBox="1"/>
          <p:nvPr/>
        </p:nvSpPr>
        <p:spPr>
          <a:xfrm>
            <a:off x="1076248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5" name="Text 10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6" name="Shape 104"/>
          <p:cNvSpPr/>
          <p:nvPr/>
        </p:nvSpPr>
        <p:spPr>
          <a:xfrm>
            <a:off x="8202168" y="1813560"/>
            <a:ext cx="540108" cy="115824"/>
          </a:xfrm>
          <a:prstGeom prst="rect">
            <a:avLst/>
          </a:prstGeom>
          <a:solidFill>
            <a:srgbClr val="2587C5"/>
          </a:solidFill>
          <a:ln/>
        </p:spPr>
      </p:sp>
      <p:sp>
        <p:nvSpPr>
          <p:cNvPr id="107" name="Text 105"/>
          <p:cNvSpPr txBox="1"/>
          <p:nvPr/>
        </p:nvSpPr>
        <p:spPr>
          <a:xfrm>
            <a:off x="902512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108" name="Text 106"/>
          <p:cNvSpPr txBox="1"/>
          <p:nvPr/>
        </p:nvSpPr>
        <p:spPr>
          <a:xfrm>
            <a:off x="9774936" y="1755648"/>
            <a:ext cx="987552" cy="231648"/>
          </a:xfrm>
          <a:prstGeom prst="rect">
            <a:avLst/>
          </a:prstGeom>
          <a:noFill/>
          <a:ln/>
        </p:spPr>
        <p:txBody>
          <a:bodyPr wrap="square" lIns="0" tIns="0" rIns="0" bIns="0" rtlCol="0" anchor="ctr"/>
          <a:lstStyle/>
          <a:p>
            <a:pPr algn="r" indent="0" marL="0">
              <a:buNone/>
            </a:pPr>
            <a:endParaRPr lang="en-US" sz="1300" dirty="0"/>
          </a:p>
        </p:txBody>
      </p:sp>
      <p:sp>
        <p:nvSpPr>
          <p:cNvPr id="109" name="Text 107"/>
          <p:cNvSpPr txBox="1"/>
          <p:nvPr/>
        </p:nvSpPr>
        <p:spPr>
          <a:xfrm>
            <a:off x="10762488" y="1755648"/>
            <a:ext cx="658368" cy="231648"/>
          </a:xfrm>
          <a:prstGeom prst="rect">
            <a:avLst/>
          </a:prstGeom>
          <a:noFill/>
          <a:ln/>
        </p:spPr>
        <p:txBody>
          <a:bodyPr wrap="square" lIns="0" tIns="0" rIns="0" bIns="0" rtlCol="0" anchor="ctr"/>
          <a:lstStyle/>
          <a:p>
            <a:pPr algn="r" indent="0" marL="0">
              <a:buNone/>
            </a:pPr>
            <a:endParaRPr lang="en-US" sz="1300" dirty="0"/>
          </a:p>
        </p:txBody>
      </p:sp>
      <p:sp>
        <p:nvSpPr>
          <p:cNvPr id="110" name="Text 108"/>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1" name="Shape 109"/>
          <p:cNvSpPr/>
          <p:nvPr/>
        </p:nvSpPr>
        <p:spPr>
          <a:xfrm>
            <a:off x="8202168" y="2045208"/>
            <a:ext cx="462796" cy="115824"/>
          </a:xfrm>
          <a:prstGeom prst="rect">
            <a:avLst/>
          </a:prstGeom>
          <a:solidFill>
            <a:srgbClr val="2587C5"/>
          </a:solidFill>
          <a:ln/>
        </p:spPr>
      </p:sp>
      <p:sp>
        <p:nvSpPr>
          <p:cNvPr id="112" name="Text 110"/>
          <p:cNvSpPr txBox="1"/>
          <p:nvPr/>
        </p:nvSpPr>
        <p:spPr>
          <a:xfrm>
            <a:off x="902512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113" name="Text 111"/>
          <p:cNvSpPr txBox="1"/>
          <p:nvPr/>
        </p:nvSpPr>
        <p:spPr>
          <a:xfrm>
            <a:off x="9774936"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14" name="Text 112"/>
          <p:cNvSpPr txBox="1"/>
          <p:nvPr/>
        </p:nvSpPr>
        <p:spPr>
          <a:xfrm>
            <a:off x="10762488"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115" name="Text 113"/>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Shape 114"/>
          <p:cNvSpPr/>
          <p:nvPr/>
        </p:nvSpPr>
        <p:spPr>
          <a:xfrm>
            <a:off x="8202168" y="2276856"/>
            <a:ext cx="447117" cy="115824"/>
          </a:xfrm>
          <a:prstGeom prst="rect">
            <a:avLst/>
          </a:prstGeom>
          <a:solidFill>
            <a:srgbClr val="2587C5"/>
          </a:solidFill>
          <a:ln/>
        </p:spPr>
      </p:sp>
      <p:sp>
        <p:nvSpPr>
          <p:cNvPr id="117" name="Text 115"/>
          <p:cNvSpPr txBox="1"/>
          <p:nvPr/>
        </p:nvSpPr>
        <p:spPr>
          <a:xfrm>
            <a:off x="902512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118" name="Text 116"/>
          <p:cNvSpPr txBox="1"/>
          <p:nvPr/>
        </p:nvSpPr>
        <p:spPr>
          <a:xfrm>
            <a:off x="9774936"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119" name="Text 117"/>
          <p:cNvSpPr txBox="1"/>
          <p:nvPr/>
        </p:nvSpPr>
        <p:spPr>
          <a:xfrm>
            <a:off x="10762488"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120" name="Text 118"/>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202168" y="2508504"/>
            <a:ext cx="401069" cy="115824"/>
          </a:xfrm>
          <a:prstGeom prst="rect">
            <a:avLst/>
          </a:prstGeom>
          <a:solidFill>
            <a:srgbClr val="2587C5"/>
          </a:solidFill>
          <a:ln/>
        </p:spPr>
      </p:sp>
      <p:sp>
        <p:nvSpPr>
          <p:cNvPr id="122" name="Text 120"/>
          <p:cNvSpPr txBox="1"/>
          <p:nvPr/>
        </p:nvSpPr>
        <p:spPr>
          <a:xfrm>
            <a:off x="902512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123" name="Text 121"/>
          <p:cNvSpPr txBox="1"/>
          <p:nvPr/>
        </p:nvSpPr>
        <p:spPr>
          <a:xfrm>
            <a:off x="9774936"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124" name="Text 122"/>
          <p:cNvSpPr txBox="1"/>
          <p:nvPr/>
        </p:nvSpPr>
        <p:spPr>
          <a:xfrm>
            <a:off x="10762488"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125" name="Text 123"/>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6" name="Shape 124"/>
          <p:cNvSpPr/>
          <p:nvPr/>
        </p:nvSpPr>
        <p:spPr>
          <a:xfrm>
            <a:off x="8202168" y="2740152"/>
            <a:ext cx="370360" cy="115824"/>
          </a:xfrm>
          <a:prstGeom prst="rect">
            <a:avLst/>
          </a:prstGeom>
          <a:solidFill>
            <a:srgbClr val="2587C5"/>
          </a:solidFill>
          <a:ln/>
        </p:spPr>
      </p:sp>
      <p:sp>
        <p:nvSpPr>
          <p:cNvPr id="127" name="Text 125"/>
          <p:cNvSpPr txBox="1"/>
          <p:nvPr/>
        </p:nvSpPr>
        <p:spPr>
          <a:xfrm>
            <a:off x="902512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128" name="Text 126"/>
          <p:cNvSpPr txBox="1"/>
          <p:nvPr/>
        </p:nvSpPr>
        <p:spPr>
          <a:xfrm>
            <a:off x="9774936" y="268224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129" name="Text 127"/>
          <p:cNvSpPr txBox="1"/>
          <p:nvPr/>
        </p:nvSpPr>
        <p:spPr>
          <a:xfrm>
            <a:off x="10762488" y="268224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30" name="Text 12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1" name="Shape 129"/>
          <p:cNvSpPr/>
          <p:nvPr/>
        </p:nvSpPr>
        <p:spPr>
          <a:xfrm>
            <a:off x="8202168" y="2971800"/>
            <a:ext cx="356070" cy="115824"/>
          </a:xfrm>
          <a:prstGeom prst="rect">
            <a:avLst/>
          </a:prstGeom>
          <a:solidFill>
            <a:srgbClr val="2587C5"/>
          </a:solidFill>
          <a:ln/>
        </p:spPr>
      </p:sp>
      <p:sp>
        <p:nvSpPr>
          <p:cNvPr id="132" name="Text 130"/>
          <p:cNvSpPr txBox="1"/>
          <p:nvPr/>
        </p:nvSpPr>
        <p:spPr>
          <a:xfrm>
            <a:off x="902512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133" name="Text 131"/>
          <p:cNvSpPr txBox="1"/>
          <p:nvPr/>
        </p:nvSpPr>
        <p:spPr>
          <a:xfrm>
            <a:off x="9774936"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134" name="Text 132"/>
          <p:cNvSpPr txBox="1"/>
          <p:nvPr/>
        </p:nvSpPr>
        <p:spPr>
          <a:xfrm>
            <a:off x="10762488"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135" name="Text 133"/>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6" name="Shape 134"/>
          <p:cNvSpPr/>
          <p:nvPr/>
        </p:nvSpPr>
        <p:spPr>
          <a:xfrm>
            <a:off x="8202168" y="3203448"/>
            <a:ext cx="339497" cy="115824"/>
          </a:xfrm>
          <a:prstGeom prst="rect">
            <a:avLst/>
          </a:prstGeom>
          <a:solidFill>
            <a:srgbClr val="2587C5"/>
          </a:solidFill>
          <a:ln/>
        </p:spPr>
      </p:sp>
      <p:sp>
        <p:nvSpPr>
          <p:cNvPr id="137" name="Text 135"/>
          <p:cNvSpPr txBox="1"/>
          <p:nvPr/>
        </p:nvSpPr>
        <p:spPr>
          <a:xfrm>
            <a:off x="902512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138" name="Text 136"/>
          <p:cNvSpPr txBox="1"/>
          <p:nvPr/>
        </p:nvSpPr>
        <p:spPr>
          <a:xfrm>
            <a:off x="9774936"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139" name="Text 137"/>
          <p:cNvSpPr txBox="1"/>
          <p:nvPr/>
        </p:nvSpPr>
        <p:spPr>
          <a:xfrm>
            <a:off x="10762488"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140" name="Text 138"/>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1" name="Shape 139"/>
          <p:cNvSpPr/>
          <p:nvPr/>
        </p:nvSpPr>
        <p:spPr>
          <a:xfrm>
            <a:off x="8202168" y="3435096"/>
            <a:ext cx="339497" cy="115824"/>
          </a:xfrm>
          <a:prstGeom prst="rect">
            <a:avLst/>
          </a:prstGeom>
          <a:solidFill>
            <a:srgbClr val="2587C5"/>
          </a:solidFill>
          <a:ln/>
        </p:spPr>
      </p:sp>
      <p:sp>
        <p:nvSpPr>
          <p:cNvPr id="142" name="Text 140"/>
          <p:cNvSpPr txBox="1"/>
          <p:nvPr/>
        </p:nvSpPr>
        <p:spPr>
          <a:xfrm>
            <a:off x="902512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143" name="Text 141"/>
          <p:cNvSpPr txBox="1"/>
          <p:nvPr/>
        </p:nvSpPr>
        <p:spPr>
          <a:xfrm>
            <a:off x="9774936" y="3377184"/>
            <a:ext cx="987552" cy="231648"/>
          </a:xfrm>
          <a:prstGeom prst="rect">
            <a:avLst/>
          </a:prstGeom>
          <a:noFill/>
          <a:ln/>
        </p:spPr>
        <p:txBody>
          <a:bodyPr wrap="square" lIns="0" tIns="0" rIns="0" bIns="0" rtlCol="0" anchor="ctr"/>
          <a:lstStyle/>
          <a:p>
            <a:pPr algn="r" indent="0" marL="0">
              <a:buNone/>
            </a:pPr>
            <a:endParaRPr lang="en-US" sz="1300" dirty="0"/>
          </a:p>
        </p:txBody>
      </p:sp>
      <p:sp>
        <p:nvSpPr>
          <p:cNvPr id="144" name="Text 142"/>
          <p:cNvSpPr txBox="1"/>
          <p:nvPr/>
        </p:nvSpPr>
        <p:spPr>
          <a:xfrm>
            <a:off x="10762488" y="3377184"/>
            <a:ext cx="658368" cy="231648"/>
          </a:xfrm>
          <a:prstGeom prst="rect">
            <a:avLst/>
          </a:prstGeom>
          <a:noFill/>
          <a:ln/>
        </p:spPr>
        <p:txBody>
          <a:bodyPr wrap="square" lIns="0" tIns="0" rIns="0" bIns="0" rtlCol="0" anchor="ctr"/>
          <a:lstStyle/>
          <a:p>
            <a:pPr algn="r" indent="0" marL="0">
              <a:buNone/>
            </a:pPr>
            <a:endParaRPr lang="en-US" sz="1300" dirty="0"/>
          </a:p>
        </p:txBody>
      </p:sp>
      <p:sp>
        <p:nvSpPr>
          <p:cNvPr id="145" name="Shape 143"/>
          <p:cNvSpPr/>
          <p:nvPr/>
        </p:nvSpPr>
        <p:spPr>
          <a:xfrm>
            <a:off x="6153912" y="3608832"/>
            <a:ext cx="5285232" cy="222504"/>
          </a:xfrm>
          <a:prstGeom prst="rect">
            <a:avLst/>
          </a:prstGeom>
          <a:solidFill>
            <a:srgbClr val="EDF4FA"/>
          </a:solidFill>
          <a:ln/>
        </p:spPr>
      </p:sp>
      <p:sp>
        <p:nvSpPr>
          <p:cNvPr id="146" name="Text 144"/>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7" name="Shape 145"/>
          <p:cNvSpPr/>
          <p:nvPr/>
        </p:nvSpPr>
        <p:spPr>
          <a:xfrm>
            <a:off x="8202168" y="3666744"/>
            <a:ext cx="317376" cy="115824"/>
          </a:xfrm>
          <a:prstGeom prst="rect">
            <a:avLst/>
          </a:prstGeom>
          <a:solidFill>
            <a:srgbClr val="0B2C4A"/>
          </a:solidFill>
          <a:ln/>
        </p:spPr>
      </p:sp>
      <p:sp>
        <p:nvSpPr>
          <p:cNvPr id="148" name="Text 146"/>
          <p:cNvSpPr txBox="1"/>
          <p:nvPr/>
        </p:nvSpPr>
        <p:spPr>
          <a:xfrm>
            <a:off x="902512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149" name="Text 147"/>
          <p:cNvSpPr txBox="1"/>
          <p:nvPr/>
        </p:nvSpPr>
        <p:spPr>
          <a:xfrm>
            <a:off x="9774936"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150" name="Text 148"/>
          <p:cNvSpPr txBox="1"/>
          <p:nvPr/>
        </p:nvSpPr>
        <p:spPr>
          <a:xfrm>
            <a:off x="10762488"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151" name="Text 149"/>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202168" y="3898392"/>
            <a:ext cx="308479" cy="115824"/>
          </a:xfrm>
          <a:prstGeom prst="rect">
            <a:avLst/>
          </a:prstGeom>
          <a:solidFill>
            <a:srgbClr val="2587C5"/>
          </a:solidFill>
          <a:ln/>
        </p:spPr>
      </p:sp>
      <p:sp>
        <p:nvSpPr>
          <p:cNvPr id="153" name="Text 151"/>
          <p:cNvSpPr txBox="1"/>
          <p:nvPr/>
        </p:nvSpPr>
        <p:spPr>
          <a:xfrm>
            <a:off x="902512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154" name="Text 152"/>
          <p:cNvSpPr txBox="1"/>
          <p:nvPr/>
        </p:nvSpPr>
        <p:spPr>
          <a:xfrm>
            <a:off x="9774936"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155" name="Text 153"/>
          <p:cNvSpPr txBox="1"/>
          <p:nvPr/>
        </p:nvSpPr>
        <p:spPr>
          <a:xfrm>
            <a:off x="10762488"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156" name="Text 15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7" name="Shape 155"/>
          <p:cNvSpPr/>
          <p:nvPr/>
        </p:nvSpPr>
        <p:spPr>
          <a:xfrm>
            <a:off x="8202168" y="4130040"/>
            <a:ext cx="293202" cy="115824"/>
          </a:xfrm>
          <a:prstGeom prst="rect">
            <a:avLst/>
          </a:prstGeom>
          <a:solidFill>
            <a:srgbClr val="2587C5"/>
          </a:solidFill>
          <a:ln/>
        </p:spPr>
      </p:sp>
      <p:sp>
        <p:nvSpPr>
          <p:cNvPr id="158" name="Text 156"/>
          <p:cNvSpPr txBox="1"/>
          <p:nvPr/>
        </p:nvSpPr>
        <p:spPr>
          <a:xfrm>
            <a:off x="902512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159" name="Text 157"/>
          <p:cNvSpPr txBox="1"/>
          <p:nvPr/>
        </p:nvSpPr>
        <p:spPr>
          <a:xfrm>
            <a:off x="9774936"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160" name="Text 158"/>
          <p:cNvSpPr txBox="1"/>
          <p:nvPr/>
        </p:nvSpPr>
        <p:spPr>
          <a:xfrm>
            <a:off x="10762488"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161" name="Text 159"/>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2" name="Shape 160"/>
          <p:cNvSpPr/>
          <p:nvPr/>
        </p:nvSpPr>
        <p:spPr>
          <a:xfrm>
            <a:off x="8202168" y="4361688"/>
            <a:ext cx="277770" cy="115824"/>
          </a:xfrm>
          <a:prstGeom prst="rect">
            <a:avLst/>
          </a:prstGeom>
          <a:solidFill>
            <a:srgbClr val="2587C5"/>
          </a:solidFill>
          <a:ln/>
        </p:spPr>
      </p:sp>
      <p:sp>
        <p:nvSpPr>
          <p:cNvPr id="163" name="Text 161"/>
          <p:cNvSpPr txBox="1"/>
          <p:nvPr/>
        </p:nvSpPr>
        <p:spPr>
          <a:xfrm>
            <a:off x="902512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64" name="Text 162"/>
          <p:cNvSpPr txBox="1"/>
          <p:nvPr/>
        </p:nvSpPr>
        <p:spPr>
          <a:xfrm>
            <a:off x="9774936"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165" name="Text 163"/>
          <p:cNvSpPr txBox="1"/>
          <p:nvPr/>
        </p:nvSpPr>
        <p:spPr>
          <a:xfrm>
            <a:off x="10762488"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166" name="Text 164"/>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7" name="Shape 165"/>
          <p:cNvSpPr/>
          <p:nvPr/>
        </p:nvSpPr>
        <p:spPr>
          <a:xfrm>
            <a:off x="8202168" y="4593336"/>
            <a:ext cx="262338" cy="115824"/>
          </a:xfrm>
          <a:prstGeom prst="rect">
            <a:avLst/>
          </a:prstGeom>
          <a:solidFill>
            <a:srgbClr val="2587C5"/>
          </a:solidFill>
          <a:ln/>
        </p:spPr>
      </p:sp>
      <p:sp>
        <p:nvSpPr>
          <p:cNvPr id="168" name="Text 166"/>
          <p:cNvSpPr txBox="1"/>
          <p:nvPr/>
        </p:nvSpPr>
        <p:spPr>
          <a:xfrm>
            <a:off x="902512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69" name="Text 167"/>
          <p:cNvSpPr txBox="1"/>
          <p:nvPr/>
        </p:nvSpPr>
        <p:spPr>
          <a:xfrm>
            <a:off x="9774936"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170" name="Text 168"/>
          <p:cNvSpPr txBox="1"/>
          <p:nvPr/>
        </p:nvSpPr>
        <p:spPr>
          <a:xfrm>
            <a:off x="10762488"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171" name="Text 169"/>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72" name="Shape 170"/>
          <p:cNvSpPr/>
          <p:nvPr/>
        </p:nvSpPr>
        <p:spPr>
          <a:xfrm>
            <a:off x="8202168" y="4824984"/>
            <a:ext cx="262338" cy="115824"/>
          </a:xfrm>
          <a:prstGeom prst="rect">
            <a:avLst/>
          </a:prstGeom>
          <a:solidFill>
            <a:srgbClr val="2587C5"/>
          </a:solidFill>
          <a:ln/>
        </p:spPr>
      </p:sp>
      <p:sp>
        <p:nvSpPr>
          <p:cNvPr id="173" name="Text 171"/>
          <p:cNvSpPr txBox="1"/>
          <p:nvPr/>
        </p:nvSpPr>
        <p:spPr>
          <a:xfrm>
            <a:off x="902512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74" name="Text 172"/>
          <p:cNvSpPr txBox="1"/>
          <p:nvPr/>
        </p:nvSpPr>
        <p:spPr>
          <a:xfrm>
            <a:off x="9774936" y="4767072"/>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75" name="Text 173"/>
          <p:cNvSpPr txBox="1"/>
          <p:nvPr/>
        </p:nvSpPr>
        <p:spPr>
          <a:xfrm>
            <a:off x="10762488" y="4767072"/>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76" name="Text 174"/>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7" name="Shape 175"/>
          <p:cNvSpPr/>
          <p:nvPr/>
        </p:nvSpPr>
        <p:spPr>
          <a:xfrm>
            <a:off x="8202168" y="5056632"/>
            <a:ext cx="262338" cy="115824"/>
          </a:xfrm>
          <a:prstGeom prst="rect">
            <a:avLst/>
          </a:prstGeom>
          <a:solidFill>
            <a:srgbClr val="2587C5"/>
          </a:solidFill>
          <a:ln/>
        </p:spPr>
      </p:sp>
      <p:sp>
        <p:nvSpPr>
          <p:cNvPr id="178" name="Text 176"/>
          <p:cNvSpPr txBox="1"/>
          <p:nvPr/>
        </p:nvSpPr>
        <p:spPr>
          <a:xfrm>
            <a:off x="902512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79" name="Text 177"/>
          <p:cNvSpPr txBox="1"/>
          <p:nvPr/>
        </p:nvSpPr>
        <p:spPr>
          <a:xfrm>
            <a:off x="9774936"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80" name="Text 178"/>
          <p:cNvSpPr txBox="1"/>
          <p:nvPr/>
        </p:nvSpPr>
        <p:spPr>
          <a:xfrm>
            <a:off x="10762488"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1" name="Text 17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2" name="Shape 180"/>
          <p:cNvSpPr/>
          <p:nvPr/>
        </p:nvSpPr>
        <p:spPr>
          <a:xfrm>
            <a:off x="8202168" y="5288280"/>
            <a:ext cx="262338" cy="115824"/>
          </a:xfrm>
          <a:prstGeom prst="rect">
            <a:avLst/>
          </a:prstGeom>
          <a:solidFill>
            <a:srgbClr val="2587C5"/>
          </a:solidFill>
          <a:ln/>
        </p:spPr>
      </p:sp>
      <p:sp>
        <p:nvSpPr>
          <p:cNvPr id="183" name="Text 181"/>
          <p:cNvSpPr txBox="1"/>
          <p:nvPr/>
        </p:nvSpPr>
        <p:spPr>
          <a:xfrm>
            <a:off x="902512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84" name="Text 182"/>
          <p:cNvSpPr txBox="1"/>
          <p:nvPr/>
        </p:nvSpPr>
        <p:spPr>
          <a:xfrm>
            <a:off x="9774936" y="523036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85" name="Text 183"/>
          <p:cNvSpPr txBox="1"/>
          <p:nvPr/>
        </p:nvSpPr>
        <p:spPr>
          <a:xfrm>
            <a:off x="10762488" y="523036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6" name="Text 184"/>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87" name="Shape 185"/>
          <p:cNvSpPr/>
          <p:nvPr/>
        </p:nvSpPr>
        <p:spPr>
          <a:xfrm>
            <a:off x="8202168" y="5519928"/>
            <a:ext cx="243820" cy="115824"/>
          </a:xfrm>
          <a:prstGeom prst="rect">
            <a:avLst/>
          </a:prstGeom>
          <a:solidFill>
            <a:srgbClr val="2587C5"/>
          </a:solidFill>
          <a:ln/>
        </p:spPr>
      </p:sp>
      <p:sp>
        <p:nvSpPr>
          <p:cNvPr id="188" name="Text 186"/>
          <p:cNvSpPr txBox="1"/>
          <p:nvPr/>
        </p:nvSpPr>
        <p:spPr>
          <a:xfrm>
            <a:off x="902512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89" name="Text 187"/>
          <p:cNvSpPr txBox="1"/>
          <p:nvPr/>
        </p:nvSpPr>
        <p:spPr>
          <a:xfrm>
            <a:off x="9774936"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190" name="Text 188"/>
          <p:cNvSpPr txBox="1"/>
          <p:nvPr/>
        </p:nvSpPr>
        <p:spPr>
          <a:xfrm>
            <a:off x="10762488"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191" name="Shape 189"/>
          <p:cNvSpPr/>
          <p:nvPr/>
        </p:nvSpPr>
        <p:spPr>
          <a:xfrm>
            <a:off x="6035040" y="1371600"/>
            <a:ext cx="10973" cy="4553712"/>
          </a:xfrm>
          <a:prstGeom prst="rect">
            <a:avLst/>
          </a:prstGeom>
          <a:solidFill>
            <a:srgbClr val="D9D9D9"/>
          </a:solidFill>
          <a:ln/>
        </p:spPr>
      </p:sp>
      <p:sp>
        <p:nvSpPr>
          <p:cNvPr id="192" name="Shape 190"/>
          <p:cNvSpPr/>
          <p:nvPr/>
        </p:nvSpPr>
        <p:spPr>
          <a:xfrm>
            <a:off x="457200" y="6126480"/>
            <a:ext cx="11274552" cy="348996"/>
          </a:xfrm>
          <a:prstGeom prst="rect">
            <a:avLst/>
          </a:prstGeom>
          <a:solidFill>
            <a:srgbClr val="EDF4FA"/>
          </a:solidFill>
          <a:ln/>
        </p:spPr>
      </p:sp>
      <p:sp>
        <p:nvSpPr>
          <p:cNvPr id="193" name="Text 191"/>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$126</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$193</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$168</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at or above 70% of door rate.</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54787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8" name="Text 6"/>
          <p:cNvSpPr txBox="1"/>
          <p:nvPr/>
        </p:nvSpPr>
        <p:spPr>
          <a:xfrm>
            <a:off x="429768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9" name="Text 7"/>
          <p:cNvSpPr txBox="1"/>
          <p:nvPr/>
        </p:nvSpPr>
        <p:spPr>
          <a:xfrm>
            <a:off x="50840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 name="Shape 9"/>
          <p:cNvSpPr/>
          <p:nvPr/>
        </p:nvSpPr>
        <p:spPr>
          <a:xfrm>
            <a:off x="2651760" y="1813560"/>
            <a:ext cx="841248" cy="115824"/>
          </a:xfrm>
          <a:prstGeom prst="rect">
            <a:avLst/>
          </a:prstGeom>
          <a:solidFill>
            <a:srgbClr val="12A566"/>
          </a:solidFill>
          <a:ln/>
        </p:spPr>
      </p:sp>
      <p:sp>
        <p:nvSpPr>
          <p:cNvPr id="12" name="Text 10"/>
          <p:cNvSpPr txBox="1"/>
          <p:nvPr/>
        </p:nvSpPr>
        <p:spPr>
          <a:xfrm>
            <a:off x="3547872"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103.4%</a:t>
            </a:r>
            <a:endParaRPr lang="en-US" sz="1300" dirty="0"/>
          </a:p>
        </p:txBody>
      </p:sp>
      <p:sp>
        <p:nvSpPr>
          <p:cNvPr id="13" name="Text 11"/>
          <p:cNvSpPr txBox="1"/>
          <p:nvPr/>
        </p:nvSpPr>
        <p:spPr>
          <a:xfrm>
            <a:off x="4297680"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14" name="Text 12"/>
          <p:cNvSpPr txBox="1"/>
          <p:nvPr/>
        </p:nvSpPr>
        <p:spPr>
          <a:xfrm>
            <a:off x="5084064"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$236</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 name="Shape 14"/>
          <p:cNvSpPr/>
          <p:nvPr/>
        </p:nvSpPr>
        <p:spPr>
          <a:xfrm>
            <a:off x="2651760" y="2045208"/>
            <a:ext cx="661778" cy="115824"/>
          </a:xfrm>
          <a:prstGeom prst="rect">
            <a:avLst/>
          </a:prstGeom>
          <a:solidFill>
            <a:srgbClr val="12A566"/>
          </a:solidFill>
          <a:ln/>
        </p:spPr>
      </p:sp>
      <p:sp>
        <p:nvSpPr>
          <p:cNvPr id="17" name="Text 15"/>
          <p:cNvSpPr txBox="1"/>
          <p:nvPr/>
        </p:nvSpPr>
        <p:spPr>
          <a:xfrm>
            <a:off x="3547872"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89.9%</a:t>
            </a:r>
            <a:endParaRPr lang="en-US" sz="1300" dirty="0"/>
          </a:p>
        </p:txBody>
      </p:sp>
      <p:sp>
        <p:nvSpPr>
          <p:cNvPr id="18" name="Text 16"/>
          <p:cNvSpPr txBox="1"/>
          <p:nvPr/>
        </p:nvSpPr>
        <p:spPr>
          <a:xfrm>
            <a:off x="4297680"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9" name="Text 17"/>
          <p:cNvSpPr txBox="1"/>
          <p:nvPr/>
        </p:nvSpPr>
        <p:spPr>
          <a:xfrm>
            <a:off x="5084064"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 name="Shape 19"/>
          <p:cNvSpPr/>
          <p:nvPr/>
        </p:nvSpPr>
        <p:spPr>
          <a:xfrm>
            <a:off x="2651760" y="2276856"/>
            <a:ext cx="659376" cy="115824"/>
          </a:xfrm>
          <a:prstGeom prst="rect">
            <a:avLst/>
          </a:prstGeom>
          <a:solidFill>
            <a:srgbClr val="12A566"/>
          </a:solidFill>
          <a:ln/>
        </p:spPr>
      </p:sp>
      <p:sp>
        <p:nvSpPr>
          <p:cNvPr id="22" name="Text 20"/>
          <p:cNvSpPr txBox="1"/>
          <p:nvPr/>
        </p:nvSpPr>
        <p:spPr>
          <a:xfrm>
            <a:off x="3547872"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89.7%</a:t>
            </a:r>
            <a:endParaRPr lang="en-US" sz="1300" dirty="0"/>
          </a:p>
        </p:txBody>
      </p:sp>
      <p:sp>
        <p:nvSpPr>
          <p:cNvPr id="23" name="Text 21"/>
          <p:cNvSpPr txBox="1"/>
          <p:nvPr/>
        </p:nvSpPr>
        <p:spPr>
          <a:xfrm>
            <a:off x="4297680"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24" name="Text 22"/>
          <p:cNvSpPr txBox="1"/>
          <p:nvPr/>
        </p:nvSpPr>
        <p:spPr>
          <a:xfrm>
            <a:off x="5084064"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6" name="Shape 24"/>
          <p:cNvSpPr/>
          <p:nvPr/>
        </p:nvSpPr>
        <p:spPr>
          <a:xfrm>
            <a:off x="2651760" y="2508504"/>
            <a:ext cx="642710" cy="115824"/>
          </a:xfrm>
          <a:prstGeom prst="rect">
            <a:avLst/>
          </a:prstGeom>
          <a:solidFill>
            <a:srgbClr val="12A566"/>
          </a:solidFill>
          <a:ln/>
        </p:spPr>
      </p:sp>
      <p:sp>
        <p:nvSpPr>
          <p:cNvPr id="27" name="Text 25"/>
          <p:cNvSpPr txBox="1"/>
          <p:nvPr/>
        </p:nvSpPr>
        <p:spPr>
          <a:xfrm>
            <a:off x="3547872"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88.5%</a:t>
            </a:r>
            <a:endParaRPr lang="en-US" sz="1300" dirty="0"/>
          </a:p>
        </p:txBody>
      </p:sp>
      <p:sp>
        <p:nvSpPr>
          <p:cNvPr id="28" name="Text 26"/>
          <p:cNvSpPr txBox="1"/>
          <p:nvPr/>
        </p:nvSpPr>
        <p:spPr>
          <a:xfrm>
            <a:off x="4297680"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a:t>
            </a:r>
            <a:endParaRPr lang="en-US" sz="1300" dirty="0"/>
          </a:p>
        </p:txBody>
      </p:sp>
      <p:sp>
        <p:nvSpPr>
          <p:cNvPr id="29" name="Text 27"/>
          <p:cNvSpPr txBox="1"/>
          <p:nvPr/>
        </p:nvSpPr>
        <p:spPr>
          <a:xfrm>
            <a:off x="5084064"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1" name="Shape 29"/>
          <p:cNvSpPr/>
          <p:nvPr/>
        </p:nvSpPr>
        <p:spPr>
          <a:xfrm>
            <a:off x="2651760" y="2740152"/>
            <a:ext cx="523587" cy="115824"/>
          </a:xfrm>
          <a:prstGeom prst="rect">
            <a:avLst/>
          </a:prstGeom>
          <a:solidFill>
            <a:srgbClr val="12A566"/>
          </a:solidFill>
          <a:ln/>
        </p:spPr>
      </p:sp>
      <p:sp>
        <p:nvSpPr>
          <p:cNvPr id="32" name="Text 30"/>
          <p:cNvSpPr txBox="1"/>
          <p:nvPr/>
        </p:nvSpPr>
        <p:spPr>
          <a:xfrm>
            <a:off x="3547872"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79.5%</a:t>
            </a:r>
            <a:endParaRPr lang="en-US" sz="1300" dirty="0"/>
          </a:p>
        </p:txBody>
      </p:sp>
      <p:sp>
        <p:nvSpPr>
          <p:cNvPr id="33" name="Text 31"/>
          <p:cNvSpPr txBox="1"/>
          <p:nvPr/>
        </p:nvSpPr>
        <p:spPr>
          <a:xfrm>
            <a:off x="4297680"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34" name="Text 32"/>
          <p:cNvSpPr txBox="1"/>
          <p:nvPr/>
        </p:nvSpPr>
        <p:spPr>
          <a:xfrm>
            <a:off x="5084064"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$295</a:t>
            </a: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6" name="Shape 34"/>
          <p:cNvSpPr/>
          <p:nvPr/>
        </p:nvSpPr>
        <p:spPr>
          <a:xfrm>
            <a:off x="2651760" y="2971800"/>
            <a:ext cx="515855" cy="115824"/>
          </a:xfrm>
          <a:prstGeom prst="rect">
            <a:avLst/>
          </a:prstGeom>
          <a:solidFill>
            <a:srgbClr val="12A566"/>
          </a:solidFill>
          <a:ln/>
        </p:spPr>
      </p:sp>
      <p:sp>
        <p:nvSpPr>
          <p:cNvPr id="37" name="Text 35"/>
          <p:cNvSpPr txBox="1"/>
          <p:nvPr/>
        </p:nvSpPr>
        <p:spPr>
          <a:xfrm>
            <a:off x="3547872"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38" name="Text 36"/>
          <p:cNvSpPr txBox="1"/>
          <p:nvPr/>
        </p:nvSpPr>
        <p:spPr>
          <a:xfrm>
            <a:off x="4297680"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39" name="Text 37"/>
          <p:cNvSpPr txBox="1"/>
          <p:nvPr/>
        </p:nvSpPr>
        <p:spPr>
          <a:xfrm>
            <a:off x="5084064"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40" name="Text 38"/>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1" name="Shape 39"/>
          <p:cNvSpPr/>
          <p:nvPr/>
        </p:nvSpPr>
        <p:spPr>
          <a:xfrm>
            <a:off x="2651760" y="3203448"/>
            <a:ext cx="510186" cy="115824"/>
          </a:xfrm>
          <a:prstGeom prst="rect">
            <a:avLst/>
          </a:prstGeom>
          <a:solidFill>
            <a:srgbClr val="12A566"/>
          </a:solidFill>
          <a:ln/>
        </p:spPr>
      </p:sp>
      <p:sp>
        <p:nvSpPr>
          <p:cNvPr id="42" name="Text 40"/>
          <p:cNvSpPr txBox="1"/>
          <p:nvPr/>
        </p:nvSpPr>
        <p:spPr>
          <a:xfrm>
            <a:off x="3547872"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78.5%</a:t>
            </a:r>
            <a:endParaRPr lang="en-US" sz="1300" dirty="0"/>
          </a:p>
        </p:txBody>
      </p:sp>
      <p:sp>
        <p:nvSpPr>
          <p:cNvPr id="43" name="Text 41"/>
          <p:cNvSpPr txBox="1"/>
          <p:nvPr/>
        </p:nvSpPr>
        <p:spPr>
          <a:xfrm>
            <a:off x="4297680"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4" name="Text 42"/>
          <p:cNvSpPr txBox="1"/>
          <p:nvPr/>
        </p:nvSpPr>
        <p:spPr>
          <a:xfrm>
            <a:off x="5084064"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$205</a:t>
            </a:r>
            <a:endParaRPr lang="en-US" sz="1300" dirty="0"/>
          </a:p>
        </p:txBody>
      </p:sp>
      <p:sp>
        <p:nvSpPr>
          <p:cNvPr id="45" name="Text 43"/>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6" name="Shape 44"/>
          <p:cNvSpPr/>
          <p:nvPr/>
        </p:nvSpPr>
        <p:spPr>
          <a:xfrm>
            <a:off x="2651760" y="3435096"/>
            <a:ext cx="486924" cy="115824"/>
          </a:xfrm>
          <a:prstGeom prst="rect">
            <a:avLst/>
          </a:prstGeom>
          <a:solidFill>
            <a:srgbClr val="12A566"/>
          </a:solidFill>
          <a:ln/>
        </p:spPr>
      </p:sp>
      <p:sp>
        <p:nvSpPr>
          <p:cNvPr id="47" name="Text 45"/>
          <p:cNvSpPr txBox="1"/>
          <p:nvPr/>
        </p:nvSpPr>
        <p:spPr>
          <a:xfrm>
            <a:off x="3547872"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76.7%</a:t>
            </a:r>
            <a:endParaRPr lang="en-US" sz="1300" dirty="0"/>
          </a:p>
        </p:txBody>
      </p:sp>
      <p:sp>
        <p:nvSpPr>
          <p:cNvPr id="48" name="Text 46"/>
          <p:cNvSpPr txBox="1"/>
          <p:nvPr/>
        </p:nvSpPr>
        <p:spPr>
          <a:xfrm>
            <a:off x="4297680"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a:t>
            </a:r>
            <a:endParaRPr lang="en-US" sz="1300" dirty="0"/>
          </a:p>
        </p:txBody>
      </p:sp>
      <p:sp>
        <p:nvSpPr>
          <p:cNvPr id="49" name="Text 47"/>
          <p:cNvSpPr txBox="1"/>
          <p:nvPr/>
        </p:nvSpPr>
        <p:spPr>
          <a:xfrm>
            <a:off x="5084064"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50" name="Text 48"/>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2651760" y="3666744"/>
            <a:ext cx="482951" cy="115824"/>
          </a:xfrm>
          <a:prstGeom prst="rect">
            <a:avLst/>
          </a:prstGeom>
          <a:solidFill>
            <a:srgbClr val="12A566"/>
          </a:solidFill>
          <a:ln/>
        </p:spPr>
      </p:sp>
      <p:sp>
        <p:nvSpPr>
          <p:cNvPr id="52" name="Text 50"/>
          <p:cNvSpPr txBox="1"/>
          <p:nvPr/>
        </p:nvSpPr>
        <p:spPr>
          <a:xfrm>
            <a:off x="3547872" y="360883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76.4%</a:t>
            </a:r>
            <a:endParaRPr lang="en-US" sz="1300" dirty="0"/>
          </a:p>
        </p:txBody>
      </p:sp>
      <p:sp>
        <p:nvSpPr>
          <p:cNvPr id="53" name="Text 51"/>
          <p:cNvSpPr txBox="1"/>
          <p:nvPr/>
        </p:nvSpPr>
        <p:spPr>
          <a:xfrm>
            <a:off x="4297680"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a:t>
            </a:r>
            <a:endParaRPr lang="en-US" sz="1300" dirty="0"/>
          </a:p>
        </p:txBody>
      </p:sp>
      <p:sp>
        <p:nvSpPr>
          <p:cNvPr id="54" name="Text 52"/>
          <p:cNvSpPr txBox="1"/>
          <p:nvPr/>
        </p:nvSpPr>
        <p:spPr>
          <a:xfrm>
            <a:off x="5084064"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a:t>
            </a:r>
            <a:endParaRPr lang="en-US" sz="1300" dirty="0"/>
          </a:p>
        </p:txBody>
      </p:sp>
      <p:sp>
        <p:nvSpPr>
          <p:cNvPr id="55" name="Text 53"/>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56" name="Shape 54"/>
          <p:cNvSpPr/>
          <p:nvPr/>
        </p:nvSpPr>
        <p:spPr>
          <a:xfrm>
            <a:off x="2651760" y="3898392"/>
            <a:ext cx="469589" cy="115824"/>
          </a:xfrm>
          <a:prstGeom prst="rect">
            <a:avLst/>
          </a:prstGeom>
          <a:solidFill>
            <a:srgbClr val="12A566"/>
          </a:solidFill>
          <a:ln/>
        </p:spPr>
      </p:sp>
      <p:sp>
        <p:nvSpPr>
          <p:cNvPr id="57" name="Text 55"/>
          <p:cNvSpPr txBox="1"/>
          <p:nvPr/>
        </p:nvSpPr>
        <p:spPr>
          <a:xfrm>
            <a:off x="3547872"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75.4%</a:t>
            </a:r>
            <a:endParaRPr lang="en-US" sz="1300" dirty="0"/>
          </a:p>
        </p:txBody>
      </p:sp>
      <p:sp>
        <p:nvSpPr>
          <p:cNvPr id="58" name="Text 56"/>
          <p:cNvSpPr txBox="1"/>
          <p:nvPr/>
        </p:nvSpPr>
        <p:spPr>
          <a:xfrm>
            <a:off x="4297680"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59" name="Text 57"/>
          <p:cNvSpPr txBox="1"/>
          <p:nvPr/>
        </p:nvSpPr>
        <p:spPr>
          <a:xfrm>
            <a:off x="5084064"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60" name="Text 58"/>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1" name="Shape 59"/>
          <p:cNvSpPr/>
          <p:nvPr/>
        </p:nvSpPr>
        <p:spPr>
          <a:xfrm>
            <a:off x="2651760" y="4130040"/>
            <a:ext cx="465019" cy="115824"/>
          </a:xfrm>
          <a:prstGeom prst="rect">
            <a:avLst/>
          </a:prstGeom>
          <a:solidFill>
            <a:srgbClr val="12A566"/>
          </a:solidFill>
          <a:ln/>
        </p:spPr>
      </p:sp>
      <p:sp>
        <p:nvSpPr>
          <p:cNvPr id="62" name="Text 60"/>
          <p:cNvSpPr txBox="1"/>
          <p:nvPr/>
        </p:nvSpPr>
        <p:spPr>
          <a:xfrm>
            <a:off x="3547872"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75.1%</a:t>
            </a:r>
            <a:endParaRPr lang="en-US" sz="1300" dirty="0"/>
          </a:p>
        </p:txBody>
      </p:sp>
      <p:sp>
        <p:nvSpPr>
          <p:cNvPr id="63" name="Text 61"/>
          <p:cNvSpPr txBox="1"/>
          <p:nvPr/>
        </p:nvSpPr>
        <p:spPr>
          <a:xfrm>
            <a:off x="4297680"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64" name="Text 62"/>
          <p:cNvSpPr txBox="1"/>
          <p:nvPr/>
        </p:nvSpPr>
        <p:spPr>
          <a:xfrm>
            <a:off x="5084064"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65" name="Shape 63"/>
          <p:cNvSpPr/>
          <p:nvPr/>
        </p:nvSpPr>
        <p:spPr>
          <a:xfrm>
            <a:off x="603504" y="4303776"/>
            <a:ext cx="5285232" cy="222504"/>
          </a:xfrm>
          <a:prstGeom prst="rect">
            <a:avLst/>
          </a:prstGeom>
          <a:solidFill>
            <a:srgbClr val="EDF4FA"/>
          </a:solidFill>
          <a:ln/>
        </p:spPr>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67" name="Shape 65"/>
          <p:cNvSpPr/>
          <p:nvPr/>
        </p:nvSpPr>
        <p:spPr>
          <a:xfrm>
            <a:off x="2651760" y="4361688"/>
            <a:ext cx="449272" cy="115824"/>
          </a:xfrm>
          <a:prstGeom prst="rect">
            <a:avLst/>
          </a:prstGeom>
          <a:solidFill>
            <a:srgbClr val="0B2C4A"/>
          </a:solidFill>
          <a:ln/>
        </p:spPr>
      </p:sp>
      <p:sp>
        <p:nvSpPr>
          <p:cNvPr id="68" name="Text 66"/>
          <p:cNvSpPr txBox="1"/>
          <p:nvPr/>
        </p:nvSpPr>
        <p:spPr>
          <a:xfrm>
            <a:off x="3547872" y="430377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a:t>
            </a:r>
            <a:endParaRPr lang="en-US" sz="1300" dirty="0"/>
          </a:p>
        </p:txBody>
      </p:sp>
      <p:sp>
        <p:nvSpPr>
          <p:cNvPr id="69" name="Text 67"/>
          <p:cNvSpPr txBox="1"/>
          <p:nvPr/>
        </p:nvSpPr>
        <p:spPr>
          <a:xfrm>
            <a:off x="4297680"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$169</a:t>
            </a:r>
            <a:endParaRPr lang="en-US" sz="1300" dirty="0"/>
          </a:p>
        </p:txBody>
      </p:sp>
      <p:sp>
        <p:nvSpPr>
          <p:cNvPr id="70" name="Text 68"/>
          <p:cNvSpPr txBox="1"/>
          <p:nvPr/>
        </p:nvSpPr>
        <p:spPr>
          <a:xfrm>
            <a:off x="5084064"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439276" cy="115824"/>
          </a:xfrm>
          <a:prstGeom prst="rect">
            <a:avLst/>
          </a:prstGeom>
          <a:solidFill>
            <a:srgbClr val="12A566"/>
          </a:solidFill>
          <a:ln/>
        </p:spPr>
      </p:sp>
      <p:sp>
        <p:nvSpPr>
          <p:cNvPr id="73" name="Text 71"/>
          <p:cNvSpPr txBox="1"/>
          <p:nvPr/>
        </p:nvSpPr>
        <p:spPr>
          <a:xfrm>
            <a:off x="3547872" y="453542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73.1%</a:t>
            </a:r>
            <a:endParaRPr lang="en-US" sz="1300" dirty="0"/>
          </a:p>
        </p:txBody>
      </p:sp>
      <p:sp>
        <p:nvSpPr>
          <p:cNvPr id="74" name="Text 72"/>
          <p:cNvSpPr txBox="1"/>
          <p:nvPr/>
        </p:nvSpPr>
        <p:spPr>
          <a:xfrm>
            <a:off x="4297680"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75" name="Text 73"/>
          <p:cNvSpPr txBox="1"/>
          <p:nvPr/>
        </p:nvSpPr>
        <p:spPr>
          <a:xfrm>
            <a:off x="5084064"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7" name="Shape 75"/>
          <p:cNvSpPr/>
          <p:nvPr/>
        </p:nvSpPr>
        <p:spPr>
          <a:xfrm>
            <a:off x="2651760" y="4824984"/>
            <a:ext cx="429617" cy="115824"/>
          </a:xfrm>
          <a:prstGeom prst="rect">
            <a:avLst/>
          </a:prstGeom>
          <a:solidFill>
            <a:srgbClr val="12A566"/>
          </a:solidFill>
          <a:ln/>
        </p:spPr>
      </p:sp>
      <p:sp>
        <p:nvSpPr>
          <p:cNvPr id="78" name="Text 76"/>
          <p:cNvSpPr txBox="1"/>
          <p:nvPr/>
        </p:nvSpPr>
        <p:spPr>
          <a:xfrm>
            <a:off x="3547872" y="476707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72.4%</a:t>
            </a:r>
            <a:endParaRPr lang="en-US" sz="1300" dirty="0"/>
          </a:p>
        </p:txBody>
      </p:sp>
      <p:sp>
        <p:nvSpPr>
          <p:cNvPr id="79" name="Text 77"/>
          <p:cNvSpPr txBox="1"/>
          <p:nvPr/>
        </p:nvSpPr>
        <p:spPr>
          <a:xfrm>
            <a:off x="4297680"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a:t>
            </a:r>
            <a:endParaRPr lang="en-US" sz="1300" dirty="0"/>
          </a:p>
        </p:txBody>
      </p:sp>
      <p:sp>
        <p:nvSpPr>
          <p:cNvPr id="80" name="Text 78"/>
          <p:cNvSpPr txBox="1"/>
          <p:nvPr/>
        </p:nvSpPr>
        <p:spPr>
          <a:xfrm>
            <a:off x="5084064"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$212</a:t>
            </a: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2" name="Shape 80"/>
          <p:cNvSpPr/>
          <p:nvPr/>
        </p:nvSpPr>
        <p:spPr>
          <a:xfrm>
            <a:off x="2651760" y="5056632"/>
            <a:ext cx="406129" cy="115824"/>
          </a:xfrm>
          <a:prstGeom prst="rect">
            <a:avLst/>
          </a:prstGeom>
          <a:solidFill>
            <a:srgbClr val="12A566"/>
          </a:solidFill>
          <a:ln/>
        </p:spPr>
      </p:sp>
      <p:sp>
        <p:nvSpPr>
          <p:cNvPr id="83" name="Text 81"/>
          <p:cNvSpPr txBox="1"/>
          <p:nvPr/>
        </p:nvSpPr>
        <p:spPr>
          <a:xfrm>
            <a:off x="3547872" y="499872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70.6%</a:t>
            </a:r>
            <a:endParaRPr lang="en-US" sz="1300" dirty="0"/>
          </a:p>
        </p:txBody>
      </p:sp>
      <p:sp>
        <p:nvSpPr>
          <p:cNvPr id="84" name="Text 82"/>
          <p:cNvSpPr txBox="1"/>
          <p:nvPr/>
        </p:nvSpPr>
        <p:spPr>
          <a:xfrm>
            <a:off x="4297680"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a:t>
            </a:r>
            <a:endParaRPr lang="en-US" sz="1300" dirty="0"/>
          </a:p>
        </p:txBody>
      </p:sp>
      <p:sp>
        <p:nvSpPr>
          <p:cNvPr id="85" name="Text 83"/>
          <p:cNvSpPr txBox="1"/>
          <p:nvPr/>
        </p:nvSpPr>
        <p:spPr>
          <a:xfrm>
            <a:off x="5084064"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$212</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7" name="Shape 85"/>
          <p:cNvSpPr/>
          <p:nvPr/>
        </p:nvSpPr>
        <p:spPr>
          <a:xfrm>
            <a:off x="2651760" y="5288280"/>
            <a:ext cx="378253" cy="115824"/>
          </a:xfrm>
          <a:prstGeom prst="rect">
            <a:avLst/>
          </a:prstGeom>
          <a:solidFill>
            <a:srgbClr val="C2352F"/>
          </a:solidFill>
          <a:ln/>
        </p:spPr>
      </p:sp>
      <p:sp>
        <p:nvSpPr>
          <p:cNvPr id="88" name="Text 86"/>
          <p:cNvSpPr txBox="1"/>
          <p:nvPr/>
        </p:nvSpPr>
        <p:spPr>
          <a:xfrm>
            <a:off x="3547872"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68.5%</a:t>
            </a:r>
            <a:endParaRPr lang="en-US" sz="1300" dirty="0"/>
          </a:p>
        </p:txBody>
      </p:sp>
      <p:sp>
        <p:nvSpPr>
          <p:cNvPr id="89" name="Text 87"/>
          <p:cNvSpPr txBox="1"/>
          <p:nvPr/>
        </p:nvSpPr>
        <p:spPr>
          <a:xfrm>
            <a:off x="4297680"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a:t>
            </a:r>
            <a:endParaRPr lang="en-US" sz="1300" dirty="0"/>
          </a:p>
        </p:txBody>
      </p:sp>
      <p:sp>
        <p:nvSpPr>
          <p:cNvPr id="90" name="Text 88"/>
          <p:cNvSpPr txBox="1"/>
          <p:nvPr/>
        </p:nvSpPr>
        <p:spPr>
          <a:xfrm>
            <a:off x="5084064"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92" name="Shape 90"/>
          <p:cNvSpPr/>
          <p:nvPr/>
        </p:nvSpPr>
        <p:spPr>
          <a:xfrm>
            <a:off x="2651760" y="5519928"/>
            <a:ext cx="331678" cy="115824"/>
          </a:xfrm>
          <a:prstGeom prst="rect">
            <a:avLst/>
          </a:prstGeom>
          <a:solidFill>
            <a:srgbClr val="C2352F"/>
          </a:solidFill>
          <a:ln/>
        </p:spPr>
      </p:sp>
      <p:sp>
        <p:nvSpPr>
          <p:cNvPr id="93" name="Text 91"/>
          <p:cNvSpPr txBox="1"/>
          <p:nvPr/>
        </p:nvSpPr>
        <p:spPr>
          <a:xfrm>
            <a:off x="3547872"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65.0%</a:t>
            </a:r>
            <a:endParaRPr lang="en-US" sz="1300" dirty="0"/>
          </a:p>
        </p:txBody>
      </p:sp>
      <p:sp>
        <p:nvSpPr>
          <p:cNvPr id="94" name="Text 92"/>
          <p:cNvSpPr txBox="1"/>
          <p:nvPr/>
        </p:nvSpPr>
        <p:spPr>
          <a:xfrm>
            <a:off x="4297680"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a:t>
            </a:r>
            <a:endParaRPr lang="en-US" sz="1300" dirty="0"/>
          </a:p>
        </p:txBody>
      </p:sp>
      <p:sp>
        <p:nvSpPr>
          <p:cNvPr id="95" name="Text 93"/>
          <p:cNvSpPr txBox="1"/>
          <p:nvPr/>
        </p:nvSpPr>
        <p:spPr>
          <a:xfrm>
            <a:off x="5084064"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7" name="Shape 95"/>
          <p:cNvSpPr/>
          <p:nvPr/>
        </p:nvSpPr>
        <p:spPr>
          <a:xfrm>
            <a:off x="2651760" y="5751576"/>
            <a:ext cx="285765" cy="115824"/>
          </a:xfrm>
          <a:prstGeom prst="rect">
            <a:avLst/>
          </a:prstGeom>
          <a:solidFill>
            <a:srgbClr val="C2352F"/>
          </a:solidFill>
          <a:ln/>
        </p:spPr>
      </p:sp>
      <p:sp>
        <p:nvSpPr>
          <p:cNvPr id="98" name="Text 96"/>
          <p:cNvSpPr txBox="1"/>
          <p:nvPr/>
        </p:nvSpPr>
        <p:spPr>
          <a:xfrm>
            <a:off x="3547872" y="569366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61.5%</a:t>
            </a:r>
            <a:endParaRPr lang="en-US" sz="1300" dirty="0"/>
          </a:p>
        </p:txBody>
      </p:sp>
      <p:sp>
        <p:nvSpPr>
          <p:cNvPr id="99" name="Text 97"/>
          <p:cNvSpPr txBox="1"/>
          <p:nvPr/>
        </p:nvSpPr>
        <p:spPr>
          <a:xfrm>
            <a:off x="4297680"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100" name="Text 98"/>
          <p:cNvSpPr txBox="1"/>
          <p:nvPr/>
        </p:nvSpPr>
        <p:spPr>
          <a:xfrm>
            <a:off x="5084064"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01" name="Shape 99"/>
          <p:cNvSpPr/>
          <p:nvPr/>
        </p:nvSpPr>
        <p:spPr>
          <a:xfrm>
            <a:off x="3041893" y="1755648"/>
            <a:ext cx="14630" cy="4169664"/>
          </a:xfrm>
          <a:prstGeom prst="rect">
            <a:avLst/>
          </a:prstGeom>
          <a:solidFill>
            <a:srgbClr val="0B2C4A"/>
          </a:solidFill>
          <a:ln/>
        </p:spPr>
      </p:sp>
      <p:sp>
        <p:nvSpPr>
          <p:cNvPr id="102" name="Text 100"/>
          <p:cNvSpPr txBox="1"/>
          <p:nvPr/>
        </p:nvSpPr>
        <p:spPr>
          <a:xfrm>
            <a:off x="6208776"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3" name="Text 101"/>
          <p:cNvSpPr txBox="1"/>
          <p:nvPr/>
        </p:nvSpPr>
        <p:spPr>
          <a:xfrm>
            <a:off x="909828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984808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105" name="Text 103"/>
          <p:cNvSpPr txBox="1"/>
          <p:nvPr/>
        </p:nvSpPr>
        <p:spPr>
          <a:xfrm>
            <a:off x="106344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6" name="Text 104"/>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7" name="Shape 105"/>
          <p:cNvSpPr/>
          <p:nvPr/>
        </p:nvSpPr>
        <p:spPr>
          <a:xfrm>
            <a:off x="8202168" y="1813560"/>
            <a:ext cx="665301" cy="115824"/>
          </a:xfrm>
          <a:prstGeom prst="rect">
            <a:avLst/>
          </a:prstGeom>
          <a:solidFill>
            <a:srgbClr val="12A566"/>
          </a:solidFill>
          <a:ln/>
        </p:spPr>
      </p:sp>
      <p:sp>
        <p:nvSpPr>
          <p:cNvPr id="108" name="Text 106"/>
          <p:cNvSpPr txBox="1"/>
          <p:nvPr/>
        </p:nvSpPr>
        <p:spPr>
          <a:xfrm>
            <a:off x="9098280"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90.2%</a:t>
            </a:r>
            <a:endParaRPr lang="en-US" sz="1300" dirty="0"/>
          </a:p>
        </p:txBody>
      </p:sp>
      <p:sp>
        <p:nvSpPr>
          <p:cNvPr id="109" name="Text 107"/>
          <p:cNvSpPr txBox="1"/>
          <p:nvPr/>
        </p:nvSpPr>
        <p:spPr>
          <a:xfrm>
            <a:off x="9848088"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110" name="Text 108"/>
          <p:cNvSpPr txBox="1"/>
          <p:nvPr/>
        </p:nvSpPr>
        <p:spPr>
          <a:xfrm>
            <a:off x="10634472"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111" name="Text 109"/>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2" name="Shape 110"/>
          <p:cNvSpPr/>
          <p:nvPr/>
        </p:nvSpPr>
        <p:spPr>
          <a:xfrm>
            <a:off x="8202168" y="2045208"/>
            <a:ext cx="619626" cy="115824"/>
          </a:xfrm>
          <a:prstGeom prst="rect">
            <a:avLst/>
          </a:prstGeom>
          <a:solidFill>
            <a:srgbClr val="12A566"/>
          </a:solidFill>
          <a:ln/>
        </p:spPr>
      </p:sp>
      <p:sp>
        <p:nvSpPr>
          <p:cNvPr id="113" name="Text 111"/>
          <p:cNvSpPr txBox="1"/>
          <p:nvPr/>
        </p:nvSpPr>
        <p:spPr>
          <a:xfrm>
            <a:off x="9098280"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86.7%</a:t>
            </a:r>
            <a:endParaRPr lang="en-US" sz="1300" dirty="0"/>
          </a:p>
        </p:txBody>
      </p:sp>
      <p:sp>
        <p:nvSpPr>
          <p:cNvPr id="114" name="Text 112"/>
          <p:cNvSpPr txBox="1"/>
          <p:nvPr/>
        </p:nvSpPr>
        <p:spPr>
          <a:xfrm>
            <a:off x="9848088"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$239</a:t>
            </a:r>
            <a:endParaRPr lang="en-US" sz="1300" dirty="0"/>
          </a:p>
        </p:txBody>
      </p:sp>
      <p:sp>
        <p:nvSpPr>
          <p:cNvPr id="115" name="Text 113"/>
          <p:cNvSpPr txBox="1"/>
          <p:nvPr/>
        </p:nvSpPr>
        <p:spPr>
          <a:xfrm>
            <a:off x="10634472"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16" name="Text 114"/>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7" name="Shape 115"/>
          <p:cNvSpPr/>
          <p:nvPr/>
        </p:nvSpPr>
        <p:spPr>
          <a:xfrm>
            <a:off x="8202168" y="2276856"/>
            <a:ext cx="613635" cy="115824"/>
          </a:xfrm>
          <a:prstGeom prst="rect">
            <a:avLst/>
          </a:prstGeom>
          <a:solidFill>
            <a:srgbClr val="12A566"/>
          </a:solidFill>
          <a:ln/>
        </p:spPr>
      </p:sp>
      <p:sp>
        <p:nvSpPr>
          <p:cNvPr id="118" name="Text 116"/>
          <p:cNvSpPr txBox="1"/>
          <p:nvPr/>
        </p:nvSpPr>
        <p:spPr>
          <a:xfrm>
            <a:off x="9098280"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86.3%</a:t>
            </a:r>
            <a:endParaRPr lang="en-US" sz="1300" dirty="0"/>
          </a:p>
        </p:txBody>
      </p:sp>
      <p:sp>
        <p:nvSpPr>
          <p:cNvPr id="119" name="Text 117"/>
          <p:cNvSpPr txBox="1"/>
          <p:nvPr/>
        </p:nvSpPr>
        <p:spPr>
          <a:xfrm>
            <a:off x="9848088"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20" name="Text 118"/>
          <p:cNvSpPr txBox="1"/>
          <p:nvPr/>
        </p:nvSpPr>
        <p:spPr>
          <a:xfrm>
            <a:off x="10634472"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21" name="Text 119"/>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2" name="Shape 120"/>
          <p:cNvSpPr/>
          <p:nvPr/>
        </p:nvSpPr>
        <p:spPr>
          <a:xfrm>
            <a:off x="8202168" y="2508504"/>
            <a:ext cx="564915" cy="115824"/>
          </a:xfrm>
          <a:prstGeom prst="rect">
            <a:avLst/>
          </a:prstGeom>
          <a:solidFill>
            <a:srgbClr val="12A566"/>
          </a:solidFill>
          <a:ln/>
        </p:spPr>
      </p:sp>
      <p:sp>
        <p:nvSpPr>
          <p:cNvPr id="123" name="Text 121"/>
          <p:cNvSpPr txBox="1"/>
          <p:nvPr/>
        </p:nvSpPr>
        <p:spPr>
          <a:xfrm>
            <a:off x="9098280"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82.6%</a:t>
            </a:r>
            <a:endParaRPr lang="en-US" sz="1300" dirty="0"/>
          </a:p>
        </p:txBody>
      </p:sp>
      <p:sp>
        <p:nvSpPr>
          <p:cNvPr id="124" name="Text 122"/>
          <p:cNvSpPr txBox="1"/>
          <p:nvPr/>
        </p:nvSpPr>
        <p:spPr>
          <a:xfrm>
            <a:off x="9848088"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25" name="Text 123"/>
          <p:cNvSpPr txBox="1"/>
          <p:nvPr/>
        </p:nvSpPr>
        <p:spPr>
          <a:xfrm>
            <a:off x="10634472"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126" name="Text 124"/>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7" name="Shape 125"/>
          <p:cNvSpPr/>
          <p:nvPr/>
        </p:nvSpPr>
        <p:spPr>
          <a:xfrm>
            <a:off x="8202168" y="2740152"/>
            <a:ext cx="549859" cy="115824"/>
          </a:xfrm>
          <a:prstGeom prst="rect">
            <a:avLst/>
          </a:prstGeom>
          <a:solidFill>
            <a:srgbClr val="12A566"/>
          </a:solidFill>
          <a:ln/>
        </p:spPr>
      </p:sp>
      <p:sp>
        <p:nvSpPr>
          <p:cNvPr id="128" name="Text 126"/>
          <p:cNvSpPr txBox="1"/>
          <p:nvPr/>
        </p:nvSpPr>
        <p:spPr>
          <a:xfrm>
            <a:off x="9098280"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81.5%</a:t>
            </a:r>
            <a:endParaRPr lang="en-US" sz="1300" dirty="0"/>
          </a:p>
        </p:txBody>
      </p:sp>
      <p:sp>
        <p:nvSpPr>
          <p:cNvPr id="129" name="Text 127"/>
          <p:cNvSpPr txBox="1"/>
          <p:nvPr/>
        </p:nvSpPr>
        <p:spPr>
          <a:xfrm>
            <a:off x="9848088"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130" name="Text 128"/>
          <p:cNvSpPr txBox="1"/>
          <p:nvPr/>
        </p:nvSpPr>
        <p:spPr>
          <a:xfrm>
            <a:off x="10634472"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131" name="Text 129"/>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2" name="Shape 130"/>
          <p:cNvSpPr/>
          <p:nvPr/>
        </p:nvSpPr>
        <p:spPr>
          <a:xfrm>
            <a:off x="8202168" y="2971800"/>
            <a:ext cx="542975" cy="115824"/>
          </a:xfrm>
          <a:prstGeom prst="rect">
            <a:avLst/>
          </a:prstGeom>
          <a:solidFill>
            <a:srgbClr val="12A566"/>
          </a:solidFill>
          <a:ln/>
        </p:spPr>
      </p:sp>
      <p:sp>
        <p:nvSpPr>
          <p:cNvPr id="133" name="Text 131"/>
          <p:cNvSpPr txBox="1"/>
          <p:nvPr/>
        </p:nvSpPr>
        <p:spPr>
          <a:xfrm>
            <a:off x="9098280"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80.9%</a:t>
            </a:r>
            <a:endParaRPr lang="en-US" sz="1300" dirty="0"/>
          </a:p>
        </p:txBody>
      </p:sp>
      <p:sp>
        <p:nvSpPr>
          <p:cNvPr id="134" name="Text 132"/>
          <p:cNvSpPr txBox="1"/>
          <p:nvPr/>
        </p:nvSpPr>
        <p:spPr>
          <a:xfrm>
            <a:off x="9848088"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35" name="Text 133"/>
          <p:cNvSpPr txBox="1"/>
          <p:nvPr/>
        </p:nvSpPr>
        <p:spPr>
          <a:xfrm>
            <a:off x="10634472"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a:t>
            </a:r>
            <a:endParaRPr lang="en-US" sz="1300" dirty="0"/>
          </a:p>
        </p:txBody>
      </p:sp>
      <p:sp>
        <p:nvSpPr>
          <p:cNvPr id="136" name="Text 134"/>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7" name="Shape 135"/>
          <p:cNvSpPr/>
          <p:nvPr/>
        </p:nvSpPr>
        <p:spPr>
          <a:xfrm>
            <a:off x="8202168" y="3203448"/>
            <a:ext cx="528418" cy="115824"/>
          </a:xfrm>
          <a:prstGeom prst="rect">
            <a:avLst/>
          </a:prstGeom>
          <a:solidFill>
            <a:srgbClr val="12A566"/>
          </a:solidFill>
          <a:ln/>
        </p:spPr>
      </p:sp>
      <p:sp>
        <p:nvSpPr>
          <p:cNvPr id="138" name="Text 136"/>
          <p:cNvSpPr txBox="1"/>
          <p:nvPr/>
        </p:nvSpPr>
        <p:spPr>
          <a:xfrm>
            <a:off x="9098280"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79.8%</a:t>
            </a:r>
            <a:endParaRPr lang="en-US" sz="1300" dirty="0"/>
          </a:p>
        </p:txBody>
      </p:sp>
      <p:sp>
        <p:nvSpPr>
          <p:cNvPr id="139" name="Text 137"/>
          <p:cNvSpPr txBox="1"/>
          <p:nvPr/>
        </p:nvSpPr>
        <p:spPr>
          <a:xfrm>
            <a:off x="9848088"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a:t>
            </a:r>
            <a:endParaRPr lang="en-US" sz="1300" dirty="0"/>
          </a:p>
        </p:txBody>
      </p:sp>
      <p:sp>
        <p:nvSpPr>
          <p:cNvPr id="140" name="Text 138"/>
          <p:cNvSpPr txBox="1"/>
          <p:nvPr/>
        </p:nvSpPr>
        <p:spPr>
          <a:xfrm>
            <a:off x="10634472"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41" name="Text 139"/>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2" name="Shape 140"/>
          <p:cNvSpPr/>
          <p:nvPr/>
        </p:nvSpPr>
        <p:spPr>
          <a:xfrm>
            <a:off x="8202168" y="3435096"/>
            <a:ext cx="515923" cy="115824"/>
          </a:xfrm>
          <a:prstGeom prst="rect">
            <a:avLst/>
          </a:prstGeom>
          <a:solidFill>
            <a:srgbClr val="12A566"/>
          </a:solidFill>
          <a:ln/>
        </p:spPr>
      </p:sp>
      <p:sp>
        <p:nvSpPr>
          <p:cNvPr id="143" name="Text 141"/>
          <p:cNvSpPr txBox="1"/>
          <p:nvPr/>
        </p:nvSpPr>
        <p:spPr>
          <a:xfrm>
            <a:off x="9098280"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144" name="Text 142"/>
          <p:cNvSpPr txBox="1"/>
          <p:nvPr/>
        </p:nvSpPr>
        <p:spPr>
          <a:xfrm>
            <a:off x="9848088"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a:t>
            </a:r>
            <a:endParaRPr lang="en-US" sz="1300" dirty="0"/>
          </a:p>
        </p:txBody>
      </p:sp>
      <p:sp>
        <p:nvSpPr>
          <p:cNvPr id="145" name="Text 143"/>
          <p:cNvSpPr txBox="1"/>
          <p:nvPr/>
        </p:nvSpPr>
        <p:spPr>
          <a:xfrm>
            <a:off x="10634472"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46" name="Shape 144"/>
          <p:cNvSpPr/>
          <p:nvPr/>
        </p:nvSpPr>
        <p:spPr>
          <a:xfrm>
            <a:off x="6153912" y="3608832"/>
            <a:ext cx="5285232" cy="222504"/>
          </a:xfrm>
          <a:prstGeom prst="rect">
            <a:avLst/>
          </a:prstGeom>
          <a:solidFill>
            <a:srgbClr val="EDF4FA"/>
          </a:solidFill>
          <a:ln/>
        </p:spPr>
      </p:sp>
      <p:sp>
        <p:nvSpPr>
          <p:cNvPr id="147" name="Text 145"/>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8" name="Shape 146"/>
          <p:cNvSpPr/>
          <p:nvPr/>
        </p:nvSpPr>
        <p:spPr>
          <a:xfrm>
            <a:off x="8202168" y="3666744"/>
            <a:ext cx="482674" cy="115824"/>
          </a:xfrm>
          <a:prstGeom prst="rect">
            <a:avLst/>
          </a:prstGeom>
          <a:solidFill>
            <a:srgbClr val="0B2C4A"/>
          </a:solidFill>
          <a:ln/>
        </p:spPr>
      </p:sp>
      <p:sp>
        <p:nvSpPr>
          <p:cNvPr id="149" name="Text 147"/>
          <p:cNvSpPr txBox="1"/>
          <p:nvPr/>
        </p:nvSpPr>
        <p:spPr>
          <a:xfrm>
            <a:off x="9098280"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76.4%</a:t>
            </a:r>
            <a:endParaRPr lang="en-US" sz="1300" dirty="0"/>
          </a:p>
        </p:txBody>
      </p:sp>
      <p:sp>
        <p:nvSpPr>
          <p:cNvPr id="150" name="Text 148"/>
          <p:cNvSpPr txBox="1"/>
          <p:nvPr/>
        </p:nvSpPr>
        <p:spPr>
          <a:xfrm>
            <a:off x="9848088"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a:t>
            </a:r>
            <a:endParaRPr lang="en-US" sz="1300" dirty="0"/>
          </a:p>
        </p:txBody>
      </p:sp>
      <p:sp>
        <p:nvSpPr>
          <p:cNvPr id="151" name="Text 149"/>
          <p:cNvSpPr txBox="1"/>
          <p:nvPr/>
        </p:nvSpPr>
        <p:spPr>
          <a:xfrm>
            <a:off x="10634472"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152" name="Text 150"/>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53" name="Shape 151"/>
          <p:cNvSpPr/>
          <p:nvPr/>
        </p:nvSpPr>
        <p:spPr>
          <a:xfrm>
            <a:off x="8202168" y="3898392"/>
            <a:ext cx="467351" cy="115824"/>
          </a:xfrm>
          <a:prstGeom prst="rect">
            <a:avLst/>
          </a:prstGeom>
          <a:solidFill>
            <a:srgbClr val="12A566"/>
          </a:solidFill>
          <a:ln/>
        </p:spPr>
      </p:sp>
      <p:sp>
        <p:nvSpPr>
          <p:cNvPr id="154" name="Text 152"/>
          <p:cNvSpPr txBox="1"/>
          <p:nvPr/>
        </p:nvSpPr>
        <p:spPr>
          <a:xfrm>
            <a:off x="9098280"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75.2%</a:t>
            </a:r>
            <a:endParaRPr lang="en-US" sz="1300" dirty="0"/>
          </a:p>
        </p:txBody>
      </p:sp>
      <p:sp>
        <p:nvSpPr>
          <p:cNvPr id="155" name="Text 153"/>
          <p:cNvSpPr txBox="1"/>
          <p:nvPr/>
        </p:nvSpPr>
        <p:spPr>
          <a:xfrm>
            <a:off x="9848088"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56" name="Text 154"/>
          <p:cNvSpPr txBox="1"/>
          <p:nvPr/>
        </p:nvSpPr>
        <p:spPr>
          <a:xfrm>
            <a:off x="10634472"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57" name="Text 155"/>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8" name="Shape 156"/>
          <p:cNvSpPr/>
          <p:nvPr/>
        </p:nvSpPr>
        <p:spPr>
          <a:xfrm>
            <a:off x="8202168" y="4130040"/>
            <a:ext cx="463785" cy="115824"/>
          </a:xfrm>
          <a:prstGeom prst="rect">
            <a:avLst/>
          </a:prstGeom>
          <a:solidFill>
            <a:srgbClr val="12A566"/>
          </a:solidFill>
          <a:ln/>
        </p:spPr>
      </p:sp>
      <p:sp>
        <p:nvSpPr>
          <p:cNvPr id="159" name="Text 157"/>
          <p:cNvSpPr txBox="1"/>
          <p:nvPr/>
        </p:nvSpPr>
        <p:spPr>
          <a:xfrm>
            <a:off x="9098280"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75.0%</a:t>
            </a:r>
            <a:endParaRPr lang="en-US" sz="1300" dirty="0"/>
          </a:p>
        </p:txBody>
      </p:sp>
      <p:sp>
        <p:nvSpPr>
          <p:cNvPr id="160" name="Text 158"/>
          <p:cNvSpPr txBox="1"/>
          <p:nvPr/>
        </p:nvSpPr>
        <p:spPr>
          <a:xfrm>
            <a:off x="9848088"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161" name="Text 159"/>
          <p:cNvSpPr txBox="1"/>
          <p:nvPr/>
        </p:nvSpPr>
        <p:spPr>
          <a:xfrm>
            <a:off x="10634472"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a:t>
            </a:r>
            <a:endParaRPr lang="en-US" sz="1300" dirty="0"/>
          </a:p>
        </p:txBody>
      </p:sp>
      <p:sp>
        <p:nvSpPr>
          <p:cNvPr id="162" name="Text 160"/>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3" name="Shape 161"/>
          <p:cNvSpPr/>
          <p:nvPr/>
        </p:nvSpPr>
        <p:spPr>
          <a:xfrm>
            <a:off x="8202168" y="4361688"/>
            <a:ext cx="449061" cy="115824"/>
          </a:xfrm>
          <a:prstGeom prst="rect">
            <a:avLst/>
          </a:prstGeom>
          <a:solidFill>
            <a:srgbClr val="12A566"/>
          </a:solidFill>
          <a:ln/>
        </p:spPr>
      </p:sp>
      <p:sp>
        <p:nvSpPr>
          <p:cNvPr id="164" name="Text 162"/>
          <p:cNvSpPr txBox="1"/>
          <p:nvPr/>
        </p:nvSpPr>
        <p:spPr>
          <a:xfrm>
            <a:off x="9098280" y="430377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73.8%</a:t>
            </a:r>
            <a:endParaRPr lang="en-US" sz="1300" dirty="0"/>
          </a:p>
        </p:txBody>
      </p:sp>
      <p:sp>
        <p:nvSpPr>
          <p:cNvPr id="165" name="Text 163"/>
          <p:cNvSpPr txBox="1"/>
          <p:nvPr/>
        </p:nvSpPr>
        <p:spPr>
          <a:xfrm>
            <a:off x="9848088"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166" name="Text 164"/>
          <p:cNvSpPr txBox="1"/>
          <p:nvPr/>
        </p:nvSpPr>
        <p:spPr>
          <a:xfrm>
            <a:off x="10634472"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67" name="Text 165"/>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68" name="Shape 166"/>
          <p:cNvSpPr/>
          <p:nvPr/>
        </p:nvSpPr>
        <p:spPr>
          <a:xfrm>
            <a:off x="8202168" y="4593336"/>
            <a:ext cx="374799" cy="115824"/>
          </a:xfrm>
          <a:prstGeom prst="rect">
            <a:avLst/>
          </a:prstGeom>
          <a:solidFill>
            <a:srgbClr val="C2352F"/>
          </a:solidFill>
          <a:ln/>
        </p:spPr>
      </p:sp>
      <p:sp>
        <p:nvSpPr>
          <p:cNvPr id="169" name="Text 167"/>
          <p:cNvSpPr txBox="1"/>
          <p:nvPr/>
        </p:nvSpPr>
        <p:spPr>
          <a:xfrm>
            <a:off x="9098280" y="453542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68.2%</a:t>
            </a:r>
            <a:endParaRPr lang="en-US" sz="1300" dirty="0"/>
          </a:p>
        </p:txBody>
      </p:sp>
      <p:sp>
        <p:nvSpPr>
          <p:cNvPr id="170" name="Text 168"/>
          <p:cNvSpPr txBox="1"/>
          <p:nvPr/>
        </p:nvSpPr>
        <p:spPr>
          <a:xfrm>
            <a:off x="9848088"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a:t>
            </a:r>
            <a:endParaRPr lang="en-US" sz="1300" dirty="0"/>
          </a:p>
        </p:txBody>
      </p:sp>
      <p:sp>
        <p:nvSpPr>
          <p:cNvPr id="171" name="Text 169"/>
          <p:cNvSpPr txBox="1"/>
          <p:nvPr/>
        </p:nvSpPr>
        <p:spPr>
          <a:xfrm>
            <a:off x="10634472"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72" name="Text 170"/>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3" name="Shape 171"/>
          <p:cNvSpPr/>
          <p:nvPr/>
        </p:nvSpPr>
        <p:spPr>
          <a:xfrm>
            <a:off x="8202168" y="4824984"/>
            <a:ext cx="364670" cy="115824"/>
          </a:xfrm>
          <a:prstGeom prst="rect">
            <a:avLst/>
          </a:prstGeom>
          <a:solidFill>
            <a:srgbClr val="C2352F"/>
          </a:solidFill>
          <a:ln/>
        </p:spPr>
      </p:sp>
      <p:sp>
        <p:nvSpPr>
          <p:cNvPr id="174" name="Text 172"/>
          <p:cNvSpPr txBox="1"/>
          <p:nvPr/>
        </p:nvSpPr>
        <p:spPr>
          <a:xfrm>
            <a:off x="9098280" y="4767072"/>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175" name="Text 173"/>
          <p:cNvSpPr txBox="1"/>
          <p:nvPr/>
        </p:nvSpPr>
        <p:spPr>
          <a:xfrm>
            <a:off x="9848088"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76" name="Text 174"/>
          <p:cNvSpPr txBox="1"/>
          <p:nvPr/>
        </p:nvSpPr>
        <p:spPr>
          <a:xfrm>
            <a:off x="10634472"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77" name="Text 175"/>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8" name="Shape 176"/>
          <p:cNvSpPr/>
          <p:nvPr/>
        </p:nvSpPr>
        <p:spPr>
          <a:xfrm>
            <a:off x="8202168" y="5056632"/>
            <a:ext cx="354832" cy="115824"/>
          </a:xfrm>
          <a:prstGeom prst="rect">
            <a:avLst/>
          </a:prstGeom>
          <a:solidFill>
            <a:srgbClr val="C2352F"/>
          </a:solidFill>
          <a:ln/>
        </p:spPr>
      </p:sp>
      <p:sp>
        <p:nvSpPr>
          <p:cNvPr id="179" name="Text 177"/>
          <p:cNvSpPr txBox="1"/>
          <p:nvPr/>
        </p:nvSpPr>
        <p:spPr>
          <a:xfrm>
            <a:off x="9098280" y="4998720"/>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66.7%</a:t>
            </a:r>
            <a:endParaRPr lang="en-US" sz="1300" dirty="0"/>
          </a:p>
        </p:txBody>
      </p:sp>
      <p:sp>
        <p:nvSpPr>
          <p:cNvPr id="180" name="Text 178"/>
          <p:cNvSpPr txBox="1"/>
          <p:nvPr/>
        </p:nvSpPr>
        <p:spPr>
          <a:xfrm>
            <a:off x="9848088"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81" name="Text 179"/>
          <p:cNvSpPr txBox="1"/>
          <p:nvPr/>
        </p:nvSpPr>
        <p:spPr>
          <a:xfrm>
            <a:off x="10634472"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82" name="Text 180"/>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3" name="Shape 181"/>
          <p:cNvSpPr/>
          <p:nvPr/>
        </p:nvSpPr>
        <p:spPr>
          <a:xfrm>
            <a:off x="8202168" y="5288280"/>
            <a:ext cx="352064" cy="115824"/>
          </a:xfrm>
          <a:prstGeom prst="rect">
            <a:avLst/>
          </a:prstGeom>
          <a:solidFill>
            <a:srgbClr val="C2352F"/>
          </a:solidFill>
          <a:ln/>
        </p:spPr>
      </p:sp>
      <p:sp>
        <p:nvSpPr>
          <p:cNvPr id="184" name="Text 182"/>
          <p:cNvSpPr txBox="1"/>
          <p:nvPr/>
        </p:nvSpPr>
        <p:spPr>
          <a:xfrm>
            <a:off x="9098280"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66.5%</a:t>
            </a:r>
            <a:endParaRPr lang="en-US" sz="1300" dirty="0"/>
          </a:p>
        </p:txBody>
      </p:sp>
      <p:sp>
        <p:nvSpPr>
          <p:cNvPr id="185" name="Text 183"/>
          <p:cNvSpPr txBox="1"/>
          <p:nvPr/>
        </p:nvSpPr>
        <p:spPr>
          <a:xfrm>
            <a:off x="9848088"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86" name="Text 184"/>
          <p:cNvSpPr txBox="1"/>
          <p:nvPr/>
        </p:nvSpPr>
        <p:spPr>
          <a:xfrm>
            <a:off x="10634472"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87" name="Text 185"/>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88" name="Shape 186"/>
          <p:cNvSpPr/>
          <p:nvPr/>
        </p:nvSpPr>
        <p:spPr>
          <a:xfrm>
            <a:off x="8202168" y="5519928"/>
            <a:ext cx="328825" cy="115824"/>
          </a:xfrm>
          <a:prstGeom prst="rect">
            <a:avLst/>
          </a:prstGeom>
          <a:solidFill>
            <a:srgbClr val="C2352F"/>
          </a:solidFill>
          <a:ln/>
        </p:spPr>
      </p:sp>
      <p:sp>
        <p:nvSpPr>
          <p:cNvPr id="189" name="Text 187"/>
          <p:cNvSpPr txBox="1"/>
          <p:nvPr/>
        </p:nvSpPr>
        <p:spPr>
          <a:xfrm>
            <a:off x="9098280"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64.8%</a:t>
            </a:r>
            <a:endParaRPr lang="en-US" sz="1300" dirty="0"/>
          </a:p>
        </p:txBody>
      </p:sp>
      <p:sp>
        <p:nvSpPr>
          <p:cNvPr id="190" name="Text 188"/>
          <p:cNvSpPr txBox="1"/>
          <p:nvPr/>
        </p:nvSpPr>
        <p:spPr>
          <a:xfrm>
            <a:off x="9848088"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91" name="Text 189"/>
          <p:cNvSpPr txBox="1"/>
          <p:nvPr/>
        </p:nvSpPr>
        <p:spPr>
          <a:xfrm>
            <a:off x="10634472"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92" name="Shape 190"/>
          <p:cNvSpPr/>
          <p:nvPr/>
        </p:nvSpPr>
        <p:spPr>
          <a:xfrm>
            <a:off x="8592301" y="1755648"/>
            <a:ext cx="14630" cy="3938016"/>
          </a:xfrm>
          <a:prstGeom prst="rect">
            <a:avLst/>
          </a:prstGeom>
          <a:solidFill>
            <a:srgbClr val="0B2C4A"/>
          </a:solidFill>
          <a:ln/>
        </p:spPr>
      </p:sp>
      <p:sp>
        <p:nvSpPr>
          <p:cNvPr id="193" name="Shape 191"/>
          <p:cNvSpPr/>
          <p:nvPr/>
        </p:nvSpPr>
        <p:spPr>
          <a:xfrm>
            <a:off x="6035040" y="1371600"/>
            <a:ext cx="10973" cy="4553712"/>
          </a:xfrm>
          <a:prstGeom prst="rect">
            <a:avLst/>
          </a:prstGeom>
          <a:solidFill>
            <a:srgbClr val="D9D9D9"/>
          </a:solidFill>
          <a:ln/>
        </p:spPr>
      </p:sp>
      <p:sp>
        <p:nvSpPr>
          <p:cNvPr id="194" name="Shape 192"/>
          <p:cNvSpPr/>
          <p:nvPr/>
        </p:nvSpPr>
        <p:spPr>
          <a:xfrm>
            <a:off x="457200" y="6126480"/>
            <a:ext cx="11274552" cy="615696"/>
          </a:xfrm>
          <a:prstGeom prst="rect">
            <a:avLst/>
          </a:prstGeom>
          <a:solidFill>
            <a:srgbClr val="EDF4FA"/>
          </a:solidFill>
          <a:ln/>
        </p:spPr>
      </p:sp>
      <p:sp>
        <p:nvSpPr>
          <p:cNvPr id="195" name="Text 1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grid stores realize 73.9% of door rate, no-grid stores 76.4%. A grid should lift ELR on longer jobs, yet grid stores trail.</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625035"/>
            <a:ext cx="64008" cy="755294"/>
          </a:xfrm>
          <a:prstGeom prst="rect">
            <a:avLst/>
          </a:prstGeom>
          <a:solidFill>
            <a:srgbClr val="12A566"/>
          </a:solidFill>
          <a:ln/>
        </p:spPr>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968142"/>
            <a:ext cx="64008" cy="755294"/>
          </a:xfrm>
          <a:prstGeom prst="rect">
            <a:avLst/>
          </a:prstGeom>
          <a:solidFill>
            <a:srgbClr val="12A566"/>
          </a:solidFill>
          <a:ln/>
        </p:spPr>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$534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1154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456745"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896362"/>
            <a:ext cx="1319524"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97008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90213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649646"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626189"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43016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$202</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3008376" y="4624578"/>
            <a:ext cx="1569727"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871466"/>
            <a:ext cx="137401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2" name="Shape 60"/>
          <p:cNvSpPr/>
          <p:nvPr/>
        </p:nvSpPr>
        <p:spPr>
          <a:xfrm>
            <a:off x="3008376" y="5118354"/>
            <a:ext cx="133088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326955"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0" name="Shape 68"/>
          <p:cNvSpPr/>
          <p:nvPr/>
        </p:nvSpPr>
        <p:spPr>
          <a:xfrm>
            <a:off x="3008376" y="5612130"/>
            <a:ext cx="1326556"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3008376" y="5859018"/>
            <a:ext cx="130756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8" name="Shape 76"/>
          <p:cNvSpPr/>
          <p:nvPr/>
        </p:nvSpPr>
        <p:spPr>
          <a:xfrm>
            <a:off x="3008376" y="6105906"/>
            <a:ext cx="127152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$202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4" name="Shape 82"/>
          <p:cNvSpPr/>
          <p:nvPr/>
        </p:nvSpPr>
        <p:spPr>
          <a:xfrm>
            <a:off x="8558784" y="2155698"/>
            <a:ext cx="12497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8" name="Shape 86"/>
          <p:cNvSpPr/>
          <p:nvPr/>
        </p:nvSpPr>
        <p:spPr>
          <a:xfrm>
            <a:off x="8558784" y="2402586"/>
            <a:ext cx="1227346"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8558784" y="2649474"/>
            <a:ext cx="1113278"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6" name="Shape 94"/>
          <p:cNvSpPr/>
          <p:nvPr/>
        </p:nvSpPr>
        <p:spPr>
          <a:xfrm>
            <a:off x="8558784" y="2896362"/>
            <a:ext cx="1034713"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0" name="Shape 98"/>
          <p:cNvSpPr/>
          <p:nvPr/>
        </p:nvSpPr>
        <p:spPr>
          <a:xfrm>
            <a:off x="8558784" y="3143250"/>
            <a:ext cx="1024709"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4" name="Shape 102"/>
          <p:cNvSpPr/>
          <p:nvPr/>
        </p:nvSpPr>
        <p:spPr>
          <a:xfrm>
            <a:off x="8558784" y="3390138"/>
            <a:ext cx="1009123"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006292"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2" name="Shape 110"/>
          <p:cNvSpPr/>
          <p:nvPr/>
        </p:nvSpPr>
        <p:spPr>
          <a:xfrm>
            <a:off x="8558784" y="3883914"/>
            <a:ext cx="1003941" cy="123444"/>
          </a:xfrm>
          <a:prstGeom prst="rect">
            <a:avLst/>
          </a:prstGeom>
          <a:solidFill>
            <a:srgbClr val="12A566"/>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984258" cy="123444"/>
          </a:xfrm>
          <a:prstGeom prst="rect">
            <a:avLst/>
          </a:prstGeom>
          <a:solidFill>
            <a:srgbClr val="12A566"/>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8558784" y="4377690"/>
            <a:ext cx="927664"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4" name="Shape 122"/>
          <p:cNvSpPr/>
          <p:nvPr/>
        </p:nvSpPr>
        <p:spPr>
          <a:xfrm>
            <a:off x="8558784" y="4624578"/>
            <a:ext cx="91388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8" name="Shape 126"/>
          <p:cNvSpPr/>
          <p:nvPr/>
        </p:nvSpPr>
        <p:spPr>
          <a:xfrm>
            <a:off x="8558784" y="4871466"/>
            <a:ext cx="865848"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8558784" y="5118354"/>
            <a:ext cx="856180"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6" name="Shape 134"/>
          <p:cNvSpPr/>
          <p:nvPr/>
        </p:nvSpPr>
        <p:spPr>
          <a:xfrm>
            <a:off x="8558784" y="5365242"/>
            <a:ext cx="805303"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0" name="Shape 138"/>
          <p:cNvSpPr/>
          <p:nvPr/>
        </p:nvSpPr>
        <p:spPr>
          <a:xfrm>
            <a:off x="8558784" y="5612130"/>
            <a:ext cx="726848"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4" name="Shape 142"/>
          <p:cNvSpPr/>
          <p:nvPr/>
        </p:nvSpPr>
        <p:spPr>
          <a:xfrm>
            <a:off x="8558784" y="5859018"/>
            <a:ext cx="724227"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8" name="Shape 146"/>
          <p:cNvSpPr/>
          <p:nvPr/>
        </p:nvSpPr>
        <p:spPr>
          <a:xfrm>
            <a:off x="8558784" y="6105906"/>
            <a:ext cx="70440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50" name="Shape 148"/>
          <p:cNvSpPr/>
          <p:nvPr/>
        </p:nvSpPr>
        <p:spPr>
          <a:xfrm>
            <a:off x="3957886" y="2093976"/>
            <a:ext cx="14630" cy="2221992"/>
          </a:xfrm>
          <a:prstGeom prst="rect">
            <a:avLst/>
          </a:prstGeom>
          <a:solidFill>
            <a:srgbClr val="0B2C4A"/>
          </a:solidFill>
          <a:ln/>
        </p:spPr>
      </p:sp>
      <p:sp>
        <p:nvSpPr>
          <p:cNvPr id="151" name="Shape 149"/>
          <p:cNvSpPr/>
          <p:nvPr/>
        </p:nvSpPr>
        <p:spPr>
          <a:xfrm>
            <a:off x="3957886" y="4562856"/>
            <a:ext cx="14630" cy="1728216"/>
          </a:xfrm>
          <a:prstGeom prst="rect">
            <a:avLst/>
          </a:prstGeom>
          <a:solidFill>
            <a:srgbClr val="0B2C4A"/>
          </a:solidFill>
          <a:ln/>
        </p:spPr>
      </p:sp>
      <p:sp>
        <p:nvSpPr>
          <p:cNvPr id="152" name="Shape 150"/>
          <p:cNvSpPr/>
          <p:nvPr/>
        </p:nvSpPr>
        <p:spPr>
          <a:xfrm>
            <a:off x="9508294"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grew CP parts per RO. 9 declined.</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$926</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$219</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Shape 30"/>
          <p:cNvSpPr/>
          <p:nvPr/>
        </p:nvSpPr>
        <p:spPr>
          <a:xfrm>
            <a:off x="7775448" y="2139696"/>
            <a:ext cx="64008" cy="755294"/>
          </a:xfrm>
          <a:prstGeom prst="rect">
            <a:avLst/>
          </a:prstGeom>
          <a:solidFill>
            <a:srgbClr val="2587C5"/>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$814</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$542</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$193</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$504</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2587C5"/>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$877</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+$185</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$988</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graphicFrame>
        <p:nvGraphicFramePr>
          <p:cNvPr id="23" name="Chart 6"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7"/>
          </a:graphicData>
        </a:graphic>
      </p:graphicFrame>
      <p:graphicFrame>
        <p:nvGraphicFramePr>
          <p:cNvPr id="24" name="Chart 7"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8"/>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8755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26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3346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356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420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0925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179363"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1" name="Shape 39"/>
          <p:cNvSpPr/>
          <p:nvPr/>
        </p:nvSpPr>
        <p:spPr>
          <a:xfrm>
            <a:off x="3785616" y="3591128"/>
            <a:ext cx="17936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644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94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0462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968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978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978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9" name="Shape 67"/>
          <p:cNvSpPr/>
          <p:nvPr/>
        </p:nvSpPr>
        <p:spPr>
          <a:xfrm>
            <a:off x="3785616" y="5270397"/>
            <a:ext cx="44841"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484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7" name="Shape 75"/>
          <p:cNvSpPr/>
          <p:nvPr/>
        </p:nvSpPr>
        <p:spPr>
          <a:xfrm>
            <a:off x="3785616" y="5750188"/>
            <a:ext cx="448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9336024" y="1911860"/>
            <a:ext cx="2989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9336024" y="2151755"/>
            <a:ext cx="2989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4947"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06130" y="2631546"/>
            <a:ext cx="2989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91183" y="2871442"/>
            <a:ext cx="44841"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76236" y="3111337"/>
            <a:ext cx="597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31396" y="3351233"/>
            <a:ext cx="1046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1608" y="3591128"/>
            <a:ext cx="16441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6767" y="3831024"/>
            <a:ext cx="20925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6767" y="4070920"/>
            <a:ext cx="2092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1820" y="4310815"/>
            <a:ext cx="22420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5" name="Shape 123"/>
          <p:cNvSpPr/>
          <p:nvPr/>
        </p:nvSpPr>
        <p:spPr>
          <a:xfrm>
            <a:off x="9037086" y="4550711"/>
            <a:ext cx="29893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9037086" y="4790606"/>
            <a:ext cx="2989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902563" y="5030502"/>
            <a:ext cx="43346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3519" y="5270397"/>
            <a:ext cx="70250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Shape 23"/>
          <p:cNvSpPr/>
          <p:nvPr/>
        </p:nvSpPr>
        <p:spPr>
          <a:xfrm>
            <a:off x="4084320" y="5453482"/>
            <a:ext cx="64008" cy="755294"/>
          </a:xfrm>
          <a:prstGeom prst="rect">
            <a:avLst/>
          </a:prstGeom>
          <a:solidFill>
            <a:srgbClr val="12A566"/>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40.7%, ahead of 2025 in all nine months.</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641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7637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8862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6354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384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7579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3818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2565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1" name="Shape 59"/>
          <p:cNvSpPr/>
          <p:nvPr/>
        </p:nvSpPr>
        <p:spPr>
          <a:xfrm>
            <a:off x="3785616" y="4790606"/>
            <a:ext cx="22565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297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043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789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536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1282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028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10028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775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21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268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268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9336024" y="3591128"/>
            <a:ext cx="37608"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37608"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25072"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3488"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3343" y="4790606"/>
            <a:ext cx="626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3343" y="5030502"/>
            <a:ext cx="626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35735" y="5270397"/>
            <a:ext cx="10028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0229" y="5510293"/>
            <a:ext cx="275795"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12A566"/>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2026-10-28T17:01:52Z</dcterms:created>
  <dcterms:modified xsi:type="dcterms:W3CDTF">2026-10-28T17:01:52Z</dcterms:modified>
</cp:coreProperties>
</file>