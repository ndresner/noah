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240</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$265 (Diesel/Corvette)
AUDI HENDERSON: premium $399 (Lambo Non-Grid)
VW HENDERSON: premium $210 (EV)
CHEVY GMC BULLHEAD: premium $200 (Non-Standard Grid)
SUBARU ST GEORGE: premium $210 (EV)
HONDA FLAGSTAFF: premium $215 (EV)
GMC PRESCOTT: premium $230 (EV)
KIA ST GEORGE: premium $195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 / door $236 = 103.4%
VOLVO: ELR $225 / door $250 = 90.2%
CHEVY GMC BULLHEAD: ELR $162 / door $180 = 89.9%
HYUNDAI ST GEORGE: ELR $166 / door $185 = 89.7%
ACURA: ELR $199 / door $225 = 88.5%
LR RENO: ELR $239 / door $275 = 86.7%
HONDA FLAGSTAFF: ELR $160 / door $185 = 86.3%
HONDA SPOKANE: ELR $148 / door $179 = 82.6%
LEXUS: ELR $187 / door $230 = 81.5%
CDJR POST FALLS: ELR $162 / door $200 = 80.9%
TOYOTA PRESCOTT: ELR $156 / door $195 = 79.8%
LR HENDERSON: ELR $234 / door $295 = 79.5%
KIA ST GEORGE: ELR $146 / door $185 = 78.9%
MAZDA: ELR $166 / door $210 = 78.9%
VW HENDERSON: ELR $161 / door $205 = 78.5%
VW ST GEORGE: ELR $142 / door $185 = 76.7%
AUDI HENDERSON: ELR $267 / door $349 = 76.4%
LR LV: ELR $234 / door $310 = 75.4%
SUBARU LV: ELR $162 / door $215 = 75.2%
NISSAN: ELR $180 / door $240 = 75.1%
TOYOTA FLAGSTAFF: ELR $143 / door $190 = 75.0%
SUBARU ST GEORGE: ELR $137 / door $185 = 73.8%
TOYOTA HENDERSON: ELR $155 / door $211 = 73.1%
HONDA HENDERSON: ELR $153 / door $212 = 72.4%
HONDA NORTH: ELR $150 / door $212 = 70.6%
KIA LV: ELR $151 / door $220 = 68.5%
LINCOLN: ELR $167 / door $245 = 68.2%
TOYOTA SPOKANE: ELR $125 / door $185 = 67.5%
GMC PRESCOTT: ELR $147 / door $220 = 66.7%
SUBARU PRESCOTT: ELR $140 / door $210 = 66.5%
CHEVY LV: ELR $146 / door $225 = 65.0%
HYUNDAI PRESCOTT: ELR $136 / door $210 = 64.8%
CADILLAC: ELR $175 / door $285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at or above 70% of door rate. Cadillac runs $175 against a $200 target.Source: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$534 and 16 of 24 others beat $202. CDJR Post Falls leads non-luxury at $332.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grew CP parts per RO, led by LR Henderson at +$95 to $926. 9 declined; LR Reno fell most at −$62.Source: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Henderson, Lincoln and Lexus what changed. Ask LR Reno, Audi Reno and Kia LV what got in the way. Ask LR Reno, LR Henderson and Audi Henderson what they started this year.Source: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chart" Target="/ppt/charts/chart25.xml"/><Relationship Id="rId5" Type="http://schemas.openxmlformats.org/officeDocument/2006/relationships/chart" Target="/ppt/charts/chart26.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chart" Target="/ppt/charts/chart33.xml"/><Relationship Id="rId8" Type="http://schemas.openxmlformats.org/officeDocument/2006/relationships/chart" Target="/ppt/charts/chart34.xml"/><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chart" Target="/ppt/charts/chart36.xml"/><Relationship Id="rId3" Type="http://schemas.openxmlformats.org/officeDocument/2006/relationships/chart" Target="/ppt/charts/chart37.xml"/><Relationship Id="rId4" Type="http://schemas.openxmlformats.org/officeDocument/2006/relationships/chart" Target="/ppt/charts/chart38.xml"/><Relationship Id="rId5" Type="http://schemas.openxmlformats.org/officeDocument/2006/relationships/chart" Target="/ppt/charts/chart39.xml"/><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Shape 70"/>
          <p:cNvSpPr/>
          <p:nvPr/>
        </p:nvSpPr>
        <p:spPr>
          <a:xfrm>
            <a:off x="11466576" y="3796589"/>
            <a:ext cx="64008" cy="755294"/>
          </a:xfrm>
          <a:prstGeom prst="rect">
            <a:avLst/>
          </a:prstGeom>
          <a:solidFill>
            <a:srgbClr val="12A566"/>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$265</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8996"/>
          </a:xfrm>
          <a:prstGeom prst="rect">
            <a:avLst/>
          </a:prstGeom>
          <a:solidFill>
            <a:srgbClr val="EDF4FA"/>
          </a:solidFill>
          <a:ln/>
        </p:spPr>
      </p:sp>
      <p:sp>
        <p:nvSpPr>
          <p:cNvPr id="193" name="Text 191"/>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$126</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$193</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$168</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at or above 70% of door rate.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$205</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$169</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$534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1154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456745"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896362"/>
            <a:ext cx="1319524"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97008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90213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649646"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626189"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43016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3008376" y="4624578"/>
            <a:ext cx="1569727"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871466"/>
            <a:ext cx="137401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2" name="Shape 60"/>
          <p:cNvSpPr/>
          <p:nvPr/>
        </p:nvSpPr>
        <p:spPr>
          <a:xfrm>
            <a:off x="3008376" y="5118354"/>
            <a:ext cx="133088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326955"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0" name="Shape 68"/>
          <p:cNvSpPr/>
          <p:nvPr/>
        </p:nvSpPr>
        <p:spPr>
          <a:xfrm>
            <a:off x="3008376" y="5612130"/>
            <a:ext cx="1326556"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3008376" y="5859018"/>
            <a:ext cx="130756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8" name="Shape 76"/>
          <p:cNvSpPr/>
          <p:nvPr/>
        </p:nvSpPr>
        <p:spPr>
          <a:xfrm>
            <a:off x="3008376" y="6105906"/>
            <a:ext cx="127152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4" name="Shape 82"/>
          <p:cNvSpPr/>
          <p:nvPr/>
        </p:nvSpPr>
        <p:spPr>
          <a:xfrm>
            <a:off x="8558784" y="2155698"/>
            <a:ext cx="12497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8" name="Shape 86"/>
          <p:cNvSpPr/>
          <p:nvPr/>
        </p:nvSpPr>
        <p:spPr>
          <a:xfrm>
            <a:off x="8558784" y="2402586"/>
            <a:ext cx="1227346"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8558784" y="2649474"/>
            <a:ext cx="1113278"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6" name="Shape 94"/>
          <p:cNvSpPr/>
          <p:nvPr/>
        </p:nvSpPr>
        <p:spPr>
          <a:xfrm>
            <a:off x="8558784" y="2896362"/>
            <a:ext cx="1034713"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0" name="Shape 98"/>
          <p:cNvSpPr/>
          <p:nvPr/>
        </p:nvSpPr>
        <p:spPr>
          <a:xfrm>
            <a:off x="8558784" y="3143250"/>
            <a:ext cx="1024709"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4" name="Shape 102"/>
          <p:cNvSpPr/>
          <p:nvPr/>
        </p:nvSpPr>
        <p:spPr>
          <a:xfrm>
            <a:off x="8558784" y="3390138"/>
            <a:ext cx="1009123"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006292"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2" name="Shape 110"/>
          <p:cNvSpPr/>
          <p:nvPr/>
        </p:nvSpPr>
        <p:spPr>
          <a:xfrm>
            <a:off x="8558784" y="3883914"/>
            <a:ext cx="1003941" cy="123444"/>
          </a:xfrm>
          <a:prstGeom prst="rect">
            <a:avLst/>
          </a:prstGeom>
          <a:solidFill>
            <a:srgbClr val="12A566"/>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984258" cy="123444"/>
          </a:xfrm>
          <a:prstGeom prst="rect">
            <a:avLst/>
          </a:prstGeom>
          <a:solidFill>
            <a:srgbClr val="12A566"/>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8558784" y="4377690"/>
            <a:ext cx="927664"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4" name="Shape 122"/>
          <p:cNvSpPr/>
          <p:nvPr/>
        </p:nvSpPr>
        <p:spPr>
          <a:xfrm>
            <a:off x="8558784" y="4624578"/>
            <a:ext cx="91388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8" name="Shape 126"/>
          <p:cNvSpPr/>
          <p:nvPr/>
        </p:nvSpPr>
        <p:spPr>
          <a:xfrm>
            <a:off x="8558784" y="4871466"/>
            <a:ext cx="865848"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8558784" y="5118354"/>
            <a:ext cx="856180"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6" name="Shape 134"/>
          <p:cNvSpPr/>
          <p:nvPr/>
        </p:nvSpPr>
        <p:spPr>
          <a:xfrm>
            <a:off x="8558784" y="5365242"/>
            <a:ext cx="805303"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0" name="Shape 138"/>
          <p:cNvSpPr/>
          <p:nvPr/>
        </p:nvSpPr>
        <p:spPr>
          <a:xfrm>
            <a:off x="8558784" y="5612130"/>
            <a:ext cx="726848"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4" name="Shape 142"/>
          <p:cNvSpPr/>
          <p:nvPr/>
        </p:nvSpPr>
        <p:spPr>
          <a:xfrm>
            <a:off x="8558784" y="5859018"/>
            <a:ext cx="724227"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8" name="Shape 146"/>
          <p:cNvSpPr/>
          <p:nvPr/>
        </p:nvSpPr>
        <p:spPr>
          <a:xfrm>
            <a:off x="8558784" y="6105906"/>
            <a:ext cx="70440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50" name="Shape 148"/>
          <p:cNvSpPr/>
          <p:nvPr/>
        </p:nvSpPr>
        <p:spPr>
          <a:xfrm>
            <a:off x="3957886" y="2093976"/>
            <a:ext cx="14630" cy="2221992"/>
          </a:xfrm>
          <a:prstGeom prst="rect">
            <a:avLst/>
          </a:prstGeom>
          <a:solidFill>
            <a:srgbClr val="0B2C4A"/>
          </a:solidFill>
          <a:ln/>
        </p:spPr>
      </p:sp>
      <p:sp>
        <p:nvSpPr>
          <p:cNvPr id="151" name="Shape 149"/>
          <p:cNvSpPr/>
          <p:nvPr/>
        </p:nvSpPr>
        <p:spPr>
          <a:xfrm>
            <a:off x="3957886" y="4562856"/>
            <a:ext cx="14630" cy="1728216"/>
          </a:xfrm>
          <a:prstGeom prst="rect">
            <a:avLst/>
          </a:prstGeom>
          <a:solidFill>
            <a:srgbClr val="0B2C4A"/>
          </a:solidFill>
          <a:ln/>
        </p:spPr>
      </p:sp>
      <p:sp>
        <p:nvSpPr>
          <p:cNvPr id="152" name="Shape 150"/>
          <p:cNvSpPr/>
          <p:nvPr/>
        </p:nvSpPr>
        <p:spPr>
          <a:xfrm>
            <a:off x="9508294"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grew CP parts per RO. 9 declined.</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graphicFrame>
        <p:nvGraphicFramePr>
          <p:cNvPr id="23" name="Chart 6"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7"/>
          </a:graphicData>
        </a:graphic>
      </p:graphicFrame>
      <p:graphicFrame>
        <p:nvGraphicFramePr>
          <p:cNvPr id="24" name="Chart 7"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8"/>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2026-10-27T18:05:21Z</dcterms:created>
  <dcterms:modified xsi:type="dcterms:W3CDTF">2026-10-27T18:05:21Z</dcterms:modified>
</cp:coreProperties>
</file>