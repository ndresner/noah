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K&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30678</c:v>
                </c:pt>
                <c:pt idx="1">
                  <c:v>27329</c:v>
                </c:pt>
                <c:pt idx="2">
                  <c:v>31531</c:v>
                </c:pt>
                <c:pt idx="3">
                  <c:v>30786</c:v>
                </c:pt>
                <c:pt idx="4">
                  <c:v>30636</c:v>
                </c:pt>
                <c:pt idx="5">
                  <c:v>32541</c:v>
                </c:pt>
                <c:pt idx="6">
                  <c:v>33097</c:v>
                </c:pt>
                <c:pt idx="7">
                  <c:v>32319</c:v>
                </c:pt>
                <c:pt idx="8">
                  <c:v>30839</c:v>
                </c:pt>
                <c:pt idx="9">
                  <c:v/>
                </c:pt>
                <c:pt idx="10">
                  <c:v/>
                </c:pt>
                <c:pt idx="11">
                  <c:v/>
                </c:pt>
              </c:numCache>
            </c:numRef>
          </c:val>
          <c:smooth val="0"/>
        </c:ser>
        <c:dLbls>
          <c:numFmt formatCode="#,##0.0,&quot;K&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6000"/>
          <c:min val="240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K&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31531</c:v>
                </c:pt>
                <c:pt idx="3">
                  <c:v/>
                </c:pt>
                <c:pt idx="4">
                  <c:v/>
                </c:pt>
                <c:pt idx="5">
                  <c:v>32541</c:v>
                </c:pt>
                <c:pt idx="6">
                  <c:v>33097</c:v>
                </c:pt>
                <c:pt idx="7">
                  <c:v>32319</c:v>
                </c:pt>
                <c:pt idx="8">
                  <c:v>30839</c:v>
                </c:pt>
                <c:pt idx="9">
                  <c:v/>
                </c:pt>
                <c:pt idx="10">
                  <c:v/>
                </c:pt>
                <c:pt idx="11">
                  <c:v/>
                </c:pt>
              </c:numCache>
            </c:numRef>
          </c:val>
          <c:smooth val="0"/>
        </c:ser>
        <c:dLbls>
          <c:numFmt formatCode="#,##0.0,&quot;K&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6000"/>
          <c:min val="240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0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K&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30678</c:v>
                </c:pt>
                <c:pt idx="1">
                  <c:v>27329</c:v>
                </c:pt>
                <c:pt idx="2">
                  <c:v/>
                </c:pt>
                <c:pt idx="3">
                  <c:v>30786</c:v>
                </c:pt>
                <c:pt idx="4">
                  <c:v>30636</c:v>
                </c:pt>
                <c:pt idx="5">
                  <c:v/>
                </c:pt>
                <c:pt idx="6">
                  <c:v/>
                </c:pt>
                <c:pt idx="7">
                  <c:v/>
                </c:pt>
                <c:pt idx="8">
                  <c:v/>
                </c:pt>
                <c:pt idx="9">
                  <c:v/>
                </c:pt>
                <c:pt idx="10">
                  <c:v/>
                </c:pt>
                <c:pt idx="11">
                  <c:v/>
                </c:pt>
              </c:numCache>
            </c:numRef>
          </c:val>
          <c:smooth val="0"/>
        </c:ser>
        <c:dLbls>
          <c:numFmt formatCode="#,##0.0,&quot;K&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6000"/>
          <c:min val="240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0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K&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30872</c:v>
                </c:pt>
                <c:pt idx="1">
                  <c:v>28163</c:v>
                </c:pt>
                <c:pt idx="2">
                  <c:v/>
                </c:pt>
                <c:pt idx="3">
                  <c:v>31754</c:v>
                </c:pt>
                <c:pt idx="4">
                  <c:v>31740</c:v>
                </c:pt>
                <c:pt idx="5">
                  <c:v/>
                </c:pt>
                <c:pt idx="6">
                  <c:v/>
                </c:pt>
                <c:pt idx="7">
                  <c:v/>
                </c:pt>
                <c:pt idx="8">
                  <c:v/>
                </c:pt>
                <c:pt idx="9">
                  <c:v/>
                </c:pt>
                <c:pt idx="10">
                  <c:v/>
                </c:pt>
                <c:pt idx="11">
                  <c:v/>
                </c:pt>
              </c:numCache>
            </c:numRef>
          </c:val>
          <c:smooth val="0"/>
        </c:ser>
        <c:dLbls>
          <c:numFmt formatCode="#,##0.0,&quot;K&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6000"/>
          <c:min val="240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0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K&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31247</c:v>
                </c:pt>
                <c:pt idx="3">
                  <c:v/>
                </c:pt>
                <c:pt idx="4">
                  <c:v/>
                </c:pt>
                <c:pt idx="5">
                  <c:v>31179</c:v>
                </c:pt>
                <c:pt idx="6">
                  <c:v>32360</c:v>
                </c:pt>
                <c:pt idx="7">
                  <c:v>31996</c:v>
                </c:pt>
                <c:pt idx="8">
                  <c:v>29989</c:v>
                </c:pt>
                <c:pt idx="9">
                  <c:v>32494</c:v>
                </c:pt>
                <c:pt idx="10">
                  <c:v>28359</c:v>
                </c:pt>
                <c:pt idx="11">
                  <c:v>29409</c:v>
                </c:pt>
              </c:numCache>
            </c:numRef>
          </c:val>
          <c:smooth val="0"/>
        </c:ser>
        <c:dLbls>
          <c:numFmt formatCode="#,##0.0,&quot;K&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6000"/>
          <c:min val="24000"/>
        </c:scaling>
        <c:delete val="0"/>
        <c:axPos val="l"/>
        <c:numFmt formatCode="#,##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0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K&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30872</c:v>
                </c:pt>
                <c:pt idx="1">
                  <c:v>28163</c:v>
                </c:pt>
                <c:pt idx="2">
                  <c:v>31247</c:v>
                </c:pt>
                <c:pt idx="3">
                  <c:v>31754</c:v>
                </c:pt>
                <c:pt idx="4">
                  <c:v>31740</c:v>
                </c:pt>
                <c:pt idx="5">
                  <c:v>31179</c:v>
                </c:pt>
                <c:pt idx="6">
                  <c:v>32360</c:v>
                </c:pt>
                <c:pt idx="7">
                  <c:v>31996</c:v>
                </c:pt>
                <c:pt idx="8">
                  <c:v>29989</c:v>
                </c:pt>
                <c:pt idx="9">
                  <c:v>32494</c:v>
                </c:pt>
                <c:pt idx="10">
                  <c:v>28359</c:v>
                </c:pt>
                <c:pt idx="11">
                  <c:v>29409</c:v>
                </c:pt>
              </c:numCache>
            </c:numRef>
          </c:val>
          <c:smooth val="0"/>
        </c:ser>
        <c:dLbls>
          <c:numFmt formatCode="#,##0.0,&quot;K&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36000"/>
          <c:min val="24000"/>
        </c:scaling>
        <c:delete val="0"/>
        <c:axPos val="l"/>
        <c:majorGridlines>
          <c:spPr>
            <a:ln w="9525" cap="flat">
              <a:solidFill>
                <a:srgbClr val="D9D9D9"/>
              </a:solidFill>
              <a:prstDash val="solid"/>
              <a:round/>
            </a:ln>
          </c:spPr>
        </c:majorGridlines>
        <c:numFmt formatCode="#,##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00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1.8116715561640362</c:v>
                </c:pt>
                <c:pt idx="1">
                  <c:v>1.902761169453705</c:v>
                </c:pt>
                <c:pt idx="2">
                  <c:v>1.9084688084742114</c:v>
                </c:pt>
                <c:pt idx="3">
                  <c:v>1.9406863509387393</c:v>
                </c:pt>
                <c:pt idx="4">
                  <c:v>1.8863050006528341</c:v>
                </c:pt>
                <c:pt idx="5">
                  <c:v>1.8719974801020323</c:v>
                </c:pt>
                <c:pt idx="6">
                  <c:v>1.8690690999184165</c:v>
                </c:pt>
                <c:pt idx="7">
                  <c:v>1.8446901203626367</c:v>
                </c:pt>
                <c:pt idx="8">
                  <c:v>1.7982525373715093</c:v>
                </c:pt>
                <c:pt idx="9">
                  <c:v/>
                </c:pt>
                <c:pt idx="10">
                  <c:v/>
                </c:pt>
                <c:pt idx="11">
                  <c:v/>
                </c:pt>
              </c:numCache>
            </c:numRef>
          </c:val>
          <c:smooth val="0"/>
        </c:ser>
        <c:dLbls>
          <c:numFmt formatCode="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5"/>
          <c:min val="1"/>
        </c:scaling>
        <c:delete val="0"/>
        <c:axPos val="l"/>
        <c:numFmt formatCode="0.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1.8116715561640362</c:v>
                </c:pt>
                <c:pt idx="1">
                  <c:v>1.902761169453705</c:v>
                </c:pt>
                <c:pt idx="2">
                  <c:v>1.9084688084742114</c:v>
                </c:pt>
                <c:pt idx="3">
                  <c:v>1.9406863509387393</c:v>
                </c:pt>
                <c:pt idx="4">
                  <c:v>1.8863050006528341</c:v>
                </c:pt>
                <c:pt idx="5">
                  <c:v>1.8719974801020323</c:v>
                </c:pt>
                <c:pt idx="6">
                  <c:v>1.8690690999184165</c:v>
                </c:pt>
                <c:pt idx="7">
                  <c:v>1.8446901203626367</c:v>
                </c:pt>
                <c:pt idx="8">
                  <c:v>1.7982525373715093</c:v>
                </c:pt>
                <c:pt idx="9">
                  <c:v/>
                </c:pt>
                <c:pt idx="10">
                  <c:v/>
                </c:pt>
                <c:pt idx="11">
                  <c:v/>
                </c:pt>
              </c:numCache>
            </c:numRef>
          </c:val>
          <c:smooth val="0"/>
        </c:ser>
        <c:dLbls>
          <c:numFmt formatCode="0.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5"/>
          <c:min val="1"/>
        </c:scaling>
        <c:delete val="0"/>
        <c:axPos val="l"/>
        <c:numFmt formatCode="0.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1.785465146411003</c:v>
                </c:pt>
                <c:pt idx="1">
                  <c:v>1.8184152966658496</c:v>
                </c:pt>
                <c:pt idx="2">
                  <c:v>1.8307536723525557</c:v>
                </c:pt>
                <c:pt idx="3">
                  <c:v>1.8318996031996007</c:v>
                </c:pt>
                <c:pt idx="4">
                  <c:v>1.8208679899180984</c:v>
                </c:pt>
                <c:pt idx="5">
                  <c:v>1.8110965714102494</c:v>
                </c:pt>
                <c:pt idx="6">
                  <c:v>1.7836004326328923</c:v>
                </c:pt>
                <c:pt idx="7">
                  <c:v>1.7821352669083634</c:v>
                </c:pt>
                <c:pt idx="8">
                  <c:v>1.7776291306812524</c:v>
                </c:pt>
                <c:pt idx="9">
                  <c:v>1.7856708930879632</c:v>
                </c:pt>
                <c:pt idx="10">
                  <c:v>1.8055114778377321</c:v>
                </c:pt>
                <c:pt idx="11">
                  <c:v>1.7920157094767</c:v>
                </c:pt>
              </c:numCache>
            </c:numRef>
          </c:val>
          <c:smooth val="0"/>
        </c:ser>
        <c:dLbls>
          <c:numFmt formatCode="0.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5"/>
          <c:min val="1"/>
        </c:scaling>
        <c:delete val="0"/>
        <c:axPos val="l"/>
        <c:numFmt formatCode="0.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1.785465146411003</c:v>
                </c:pt>
                <c:pt idx="1">
                  <c:v>1.8184152966658496</c:v>
                </c:pt>
                <c:pt idx="2">
                  <c:v>1.8307536723525557</c:v>
                </c:pt>
                <c:pt idx="3">
                  <c:v>1.8318996031996007</c:v>
                </c:pt>
                <c:pt idx="4">
                  <c:v>1.8208679899180984</c:v>
                </c:pt>
                <c:pt idx="5">
                  <c:v>1.8110965714102494</c:v>
                </c:pt>
                <c:pt idx="6">
                  <c:v>1.7836004326328923</c:v>
                </c:pt>
                <c:pt idx="7">
                  <c:v>1.7821352669083634</c:v>
                </c:pt>
                <c:pt idx="8">
                  <c:v>1.7776291306812524</c:v>
                </c:pt>
                <c:pt idx="9">
                  <c:v>1.7856708930879632</c:v>
                </c:pt>
                <c:pt idx="10">
                  <c:v>1.8055114778377321</c:v>
                </c:pt>
                <c:pt idx="11">
                  <c:v>1.7920157094767</c:v>
                </c:pt>
              </c:numCache>
            </c:numRef>
          </c:val>
          <c:smooth val="0"/>
        </c:ser>
        <c:dLbls>
          <c:numFmt formatCode="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2.5"/>
          <c:min val="1"/>
        </c:scaling>
        <c:delete val="0"/>
        <c:axPos val="l"/>
        <c:majorGridlines>
          <c:spPr>
            <a:ln w="9525" cap="flat">
              <a:solidFill>
                <a:srgbClr val="D9D9D9"/>
              </a:solidFill>
              <a:prstDash val="solid"/>
              <a:round/>
            </a:ln>
          </c:spPr>
        </c:majorGridlines>
        <c:numFmt formatCode="0.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quot;$&quot;#,##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161.13</c:v>
                </c:pt>
                <c:pt idx="1">
                  <c:v>162.3</c:v>
                </c:pt>
                <c:pt idx="2">
                  <c:v>162.02</c:v>
                </c:pt>
                <c:pt idx="3">
                  <c:v>162.06</c:v>
                </c:pt>
                <c:pt idx="4">
                  <c:v>161.12</c:v>
                </c:pt>
                <c:pt idx="5">
                  <c:v>162.01</c:v>
                </c:pt>
                <c:pt idx="6">
                  <c:v>162.6</c:v>
                </c:pt>
                <c:pt idx="7">
                  <c:v>164.83</c:v>
                </c:pt>
                <c:pt idx="8">
                  <c:v>163.61</c:v>
                </c:pt>
                <c:pt idx="9">
                  <c:v/>
                </c:pt>
                <c:pt idx="10">
                  <c:v/>
                </c:pt>
                <c:pt idx="11">
                  <c:v/>
                </c:pt>
              </c:numCache>
            </c:numRef>
          </c:val>
          <c:smooth val="0"/>
        </c:ser>
        <c:dLbls>
          <c:numFmt formatCode="&quot;$&quot;#,##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70"/>
          <c:min val="15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quot;$&quot;#,##0.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161.13</c:v>
                </c:pt>
                <c:pt idx="1">
                  <c:v>162.3</c:v>
                </c:pt>
                <c:pt idx="2">
                  <c:v>162.02</c:v>
                </c:pt>
                <c:pt idx="3">
                  <c:v>162.06</c:v>
                </c:pt>
                <c:pt idx="4">
                  <c:v>161.12</c:v>
                </c:pt>
                <c:pt idx="5">
                  <c:v>162.01</c:v>
                </c:pt>
                <c:pt idx="6">
                  <c:v>162.6</c:v>
                </c:pt>
                <c:pt idx="7">
                  <c:v>164.83</c:v>
                </c:pt>
                <c:pt idx="8">
                  <c:v>163.61</c:v>
                </c:pt>
                <c:pt idx="9">
                  <c:v/>
                </c:pt>
                <c:pt idx="10">
                  <c:v/>
                </c:pt>
                <c:pt idx="11">
                  <c:v/>
                </c:pt>
              </c:numCache>
            </c:numRef>
          </c:val>
          <c:smooth val="0"/>
        </c:ser>
        <c:dLbls>
          <c:numFmt formatCode="&quot;$&quot;#,##0.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70"/>
          <c:min val="15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quot;$&quot;#,##0.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157.2</c:v>
                </c:pt>
                <c:pt idx="1">
                  <c:v>159.46</c:v>
                </c:pt>
                <c:pt idx="2">
                  <c:v>158.38</c:v>
                </c:pt>
                <c:pt idx="3">
                  <c:v>158.8</c:v>
                </c:pt>
                <c:pt idx="4">
                  <c:v>158.09</c:v>
                </c:pt>
                <c:pt idx="5">
                  <c:v>159.24</c:v>
                </c:pt>
                <c:pt idx="6">
                  <c:v>159.33</c:v>
                </c:pt>
                <c:pt idx="7">
                  <c:v>160.09</c:v>
                </c:pt>
                <c:pt idx="8">
                  <c:v>159.15</c:v>
                </c:pt>
                <c:pt idx="9">
                  <c:v>157.67</c:v>
                </c:pt>
                <c:pt idx="10">
                  <c:v>160.67</c:v>
                </c:pt>
                <c:pt idx="11">
                  <c:v>160.87</c:v>
                </c:pt>
              </c:numCache>
            </c:numRef>
          </c:val>
          <c:smooth val="0"/>
        </c:ser>
        <c:dLbls>
          <c:numFmt formatCode="&quot;$&quot;#,##0.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70"/>
          <c:min val="15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quot;$&quot;#,##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157.2</c:v>
                </c:pt>
                <c:pt idx="1">
                  <c:v>159.46</c:v>
                </c:pt>
                <c:pt idx="2">
                  <c:v>158.38</c:v>
                </c:pt>
                <c:pt idx="3">
                  <c:v>158.8</c:v>
                </c:pt>
                <c:pt idx="4">
                  <c:v>158.09</c:v>
                </c:pt>
                <c:pt idx="5">
                  <c:v>159.24</c:v>
                </c:pt>
                <c:pt idx="6">
                  <c:v>159.33</c:v>
                </c:pt>
                <c:pt idx="7">
                  <c:v>160.09</c:v>
                </c:pt>
                <c:pt idx="8">
                  <c:v>159.15</c:v>
                </c:pt>
                <c:pt idx="9">
                  <c:v>157.67</c:v>
                </c:pt>
                <c:pt idx="10">
                  <c:v>160.67</c:v>
                </c:pt>
                <c:pt idx="11">
                  <c:v>160.87</c:v>
                </c:pt>
              </c:numCache>
            </c:numRef>
          </c:val>
          <c:smooth val="0"/>
        </c:ser>
        <c:dLbls>
          <c:numFmt formatCode="&quot;$&quot;#,##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70"/>
          <c:min val="150"/>
        </c:scaling>
        <c:delete val="0"/>
        <c:axPos val="l"/>
        <c:majorGridlines>
          <c:spPr>
            <a:ln w="9525" cap="flat">
              <a:solidFill>
                <a:srgbClr val="D9D9D9"/>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quot;$&quot;#,##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292</c:v>
                </c:pt>
                <c:pt idx="1">
                  <c:v>309</c:v>
                </c:pt>
                <c:pt idx="2">
                  <c:v>309</c:v>
                </c:pt>
                <c:pt idx="3">
                  <c:v>315</c:v>
                </c:pt>
                <c:pt idx="4">
                  <c:v>304</c:v>
                </c:pt>
                <c:pt idx="5">
                  <c:v>303</c:v>
                </c:pt>
                <c:pt idx="6">
                  <c:v>304</c:v>
                </c:pt>
                <c:pt idx="7">
                  <c:v>304</c:v>
                </c:pt>
                <c:pt idx="8">
                  <c:v>294</c:v>
                </c:pt>
                <c:pt idx="9">
                  <c:v/>
                </c:pt>
                <c:pt idx="10">
                  <c:v/>
                </c:pt>
                <c:pt idx="11">
                  <c:v/>
                </c:pt>
              </c:numCache>
            </c:numRef>
          </c:val>
          <c:smooth val="0"/>
        </c:ser>
        <c:dLbls>
          <c:numFmt formatCode="&quot;$&quot;#,##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40"/>
          <c:min val="26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quot;$&quot;#,##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292</c:v>
                </c:pt>
                <c:pt idx="1">
                  <c:v>309</c:v>
                </c:pt>
                <c:pt idx="2">
                  <c:v>309</c:v>
                </c:pt>
                <c:pt idx="3">
                  <c:v>315</c:v>
                </c:pt>
                <c:pt idx="4">
                  <c:v>304</c:v>
                </c:pt>
                <c:pt idx="5">
                  <c:v>303</c:v>
                </c:pt>
                <c:pt idx="6">
                  <c:v>304</c:v>
                </c:pt>
                <c:pt idx="7">
                  <c:v>304</c:v>
                </c:pt>
                <c:pt idx="8">
                  <c:v>294</c:v>
                </c:pt>
                <c:pt idx="9">
                  <c:v/>
                </c:pt>
                <c:pt idx="10">
                  <c:v/>
                </c:pt>
                <c:pt idx="11">
                  <c:v/>
                </c:pt>
              </c:numCache>
            </c:numRef>
          </c:val>
          <c:smooth val="0"/>
        </c:ser>
        <c:dLbls>
          <c:numFmt formatCode="&quot;$&quot;#,##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40"/>
          <c:min val="26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quot;$&quot;#,##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281</c:v>
                </c:pt>
                <c:pt idx="1">
                  <c:v>290</c:v>
                </c:pt>
                <c:pt idx="2">
                  <c:v>290</c:v>
                </c:pt>
                <c:pt idx="3">
                  <c:v>291</c:v>
                </c:pt>
                <c:pt idx="4">
                  <c:v>288</c:v>
                </c:pt>
                <c:pt idx="5">
                  <c:v>288</c:v>
                </c:pt>
                <c:pt idx="6">
                  <c:v>284</c:v>
                </c:pt>
                <c:pt idx="7">
                  <c:v>285</c:v>
                </c:pt>
                <c:pt idx="8">
                  <c:v>283</c:v>
                </c:pt>
                <c:pt idx="9">
                  <c:v>282</c:v>
                </c:pt>
                <c:pt idx="10">
                  <c:v>290</c:v>
                </c:pt>
                <c:pt idx="11">
                  <c:v>288</c:v>
                </c:pt>
              </c:numCache>
            </c:numRef>
          </c:val>
          <c:smooth val="0"/>
        </c:ser>
        <c:dLbls>
          <c:numFmt formatCode="&quot;$&quot;#,##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340"/>
          <c:min val="26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quot;$&quot;#,##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281</c:v>
                </c:pt>
                <c:pt idx="1">
                  <c:v>290</c:v>
                </c:pt>
                <c:pt idx="2">
                  <c:v>290</c:v>
                </c:pt>
                <c:pt idx="3">
                  <c:v>291</c:v>
                </c:pt>
                <c:pt idx="4">
                  <c:v>288</c:v>
                </c:pt>
                <c:pt idx="5">
                  <c:v>288</c:v>
                </c:pt>
                <c:pt idx="6">
                  <c:v>284</c:v>
                </c:pt>
                <c:pt idx="7">
                  <c:v>285</c:v>
                </c:pt>
                <c:pt idx="8">
                  <c:v>283</c:v>
                </c:pt>
                <c:pt idx="9">
                  <c:v>282</c:v>
                </c:pt>
                <c:pt idx="10">
                  <c:v>290</c:v>
                </c:pt>
                <c:pt idx="11">
                  <c:v>288</c:v>
                </c:pt>
              </c:numCache>
            </c:numRef>
          </c:val>
          <c:smooth val="0"/>
        </c:ser>
        <c:dLbls>
          <c:numFmt formatCode="&quot;$&quot;#,##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340"/>
          <c:min val="260"/>
        </c:scaling>
        <c:delete val="0"/>
        <c:axPos val="l"/>
        <c:majorGridlines>
          <c:spPr>
            <a:ln w="9525" cap="flat">
              <a:solidFill>
                <a:srgbClr val="D9D9D9"/>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quot;$&quot;#,##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224</c:v>
                </c:pt>
                <c:pt idx="1">
                  <c:v>237</c:v>
                </c:pt>
                <c:pt idx="2">
                  <c:v>229</c:v>
                </c:pt>
                <c:pt idx="3">
                  <c:v>251</c:v>
                </c:pt>
                <c:pt idx="4">
                  <c:v>237</c:v>
                </c:pt>
                <c:pt idx="5">
                  <c:v>236</c:v>
                </c:pt>
                <c:pt idx="6">
                  <c:v>242</c:v>
                </c:pt>
                <c:pt idx="7">
                  <c:v>242</c:v>
                </c:pt>
                <c:pt idx="8">
                  <c:v>242</c:v>
                </c:pt>
                <c:pt idx="9">
                  <c:v/>
                </c:pt>
                <c:pt idx="10">
                  <c:v/>
                </c:pt>
                <c:pt idx="11">
                  <c:v/>
                </c:pt>
              </c:numCache>
            </c:numRef>
          </c:val>
          <c:smooth val="0"/>
        </c:ser>
        <c:dLbls>
          <c:numFmt formatCode="&quot;$&quot;#,##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70"/>
          <c:min val="21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quot;$&quot;#,##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224</c:v>
                </c:pt>
                <c:pt idx="1">
                  <c:v>237</c:v>
                </c:pt>
                <c:pt idx="2">
                  <c:v>229</c:v>
                </c:pt>
                <c:pt idx="3">
                  <c:v>251</c:v>
                </c:pt>
                <c:pt idx="4">
                  <c:v>237</c:v>
                </c:pt>
                <c:pt idx="5">
                  <c:v>236</c:v>
                </c:pt>
                <c:pt idx="6">
                  <c:v>242</c:v>
                </c:pt>
                <c:pt idx="7">
                  <c:v>242</c:v>
                </c:pt>
                <c:pt idx="8">
                  <c:v>242</c:v>
                </c:pt>
                <c:pt idx="9">
                  <c:v/>
                </c:pt>
                <c:pt idx="10">
                  <c:v/>
                </c:pt>
                <c:pt idx="11">
                  <c:v/>
                </c:pt>
              </c:numCache>
            </c:numRef>
          </c:val>
          <c:smooth val="0"/>
        </c:ser>
        <c:dLbls>
          <c:numFmt formatCode="&quot;$&quot;#,##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70"/>
          <c:min val="21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quot;$&quot;#,##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222</c:v>
                </c:pt>
                <c:pt idx="1">
                  <c:v>226</c:v>
                </c:pt>
                <c:pt idx="2">
                  <c:v>225</c:v>
                </c:pt>
                <c:pt idx="3">
                  <c:v>228</c:v>
                </c:pt>
                <c:pt idx="4">
                  <c:v>226</c:v>
                </c:pt>
                <c:pt idx="5">
                  <c:v>231</c:v>
                </c:pt>
                <c:pt idx="6">
                  <c:v>233</c:v>
                </c:pt>
                <c:pt idx="7">
                  <c:v>233</c:v>
                </c:pt>
                <c:pt idx="8">
                  <c:v>232</c:v>
                </c:pt>
                <c:pt idx="9">
                  <c:v>240</c:v>
                </c:pt>
                <c:pt idx="10">
                  <c:v>233</c:v>
                </c:pt>
                <c:pt idx="11">
                  <c:v>230</c:v>
                </c:pt>
              </c:numCache>
            </c:numRef>
          </c:val>
          <c:smooth val="0"/>
        </c:ser>
        <c:dLbls>
          <c:numFmt formatCode="&quot;$&quot;#,##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70"/>
          <c:min val="21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quot;$&quot;#,##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222</c:v>
                </c:pt>
                <c:pt idx="1">
                  <c:v>226</c:v>
                </c:pt>
                <c:pt idx="2">
                  <c:v>225</c:v>
                </c:pt>
                <c:pt idx="3">
                  <c:v>228</c:v>
                </c:pt>
                <c:pt idx="4">
                  <c:v>226</c:v>
                </c:pt>
                <c:pt idx="5">
                  <c:v>231</c:v>
                </c:pt>
                <c:pt idx="6">
                  <c:v>233</c:v>
                </c:pt>
                <c:pt idx="7">
                  <c:v>233</c:v>
                </c:pt>
                <c:pt idx="8">
                  <c:v>232</c:v>
                </c:pt>
                <c:pt idx="9">
                  <c:v>240</c:v>
                </c:pt>
                <c:pt idx="10">
                  <c:v>233</c:v>
                </c:pt>
                <c:pt idx="11">
                  <c:v>230</c:v>
                </c:pt>
              </c:numCache>
            </c:numRef>
          </c:val>
          <c:smooth val="0"/>
        </c:ser>
        <c:dLbls>
          <c:numFmt formatCode="&quot;$&quot;#,##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270"/>
          <c:min val="210"/>
        </c:scaling>
        <c:delete val="0"/>
        <c:axPos val="l"/>
        <c:majorGridlines>
          <c:spPr>
            <a:ln w="9525" cap="flat">
              <a:solidFill>
                <a:srgbClr val="D9D9D9"/>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0"/>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80.9</c:v>
                </c:pt>
                <c:pt idx="1">
                  <c:v>80.7</c:v>
                </c:pt>
                <c:pt idx="2">
                  <c:v>80.8</c:v>
                </c:pt>
                <c:pt idx="3">
                  <c:v>80.7</c:v>
                </c:pt>
                <c:pt idx="4">
                  <c:v>80.7</c:v>
                </c:pt>
                <c:pt idx="5">
                  <c:v>80.8</c:v>
                </c:pt>
                <c:pt idx="6">
                  <c:v>80.8</c:v>
                </c:pt>
                <c:pt idx="7">
                  <c:v>81</c:v>
                </c:pt>
                <c:pt idx="8">
                  <c:v>80.7</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4"/>
          <c:min val="78"/>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80.9</c:v>
                </c:pt>
                <c:pt idx="1">
                  <c:v/>
                </c:pt>
                <c:pt idx="2">
                  <c:v/>
                </c:pt>
                <c:pt idx="3">
                  <c:v/>
                </c:pt>
                <c:pt idx="4">
                  <c:v/>
                </c:pt>
                <c:pt idx="5">
                  <c:v/>
                </c:pt>
                <c:pt idx="6">
                  <c:v/>
                </c:pt>
                <c:pt idx="7">
                  <c:v>81</c:v>
                </c:pt>
                <c:pt idx="8">
                  <c:v>80.7</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4"/>
          <c:min val="78"/>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80.7</c:v>
                </c:pt>
                <c:pt idx="2">
                  <c:v>80.8</c:v>
                </c:pt>
                <c:pt idx="3">
                  <c:v>80.7</c:v>
                </c:pt>
                <c:pt idx="4">
                  <c:v>80.7</c:v>
                </c:pt>
                <c:pt idx="5">
                  <c:v>80.8</c:v>
                </c:pt>
                <c:pt idx="6">
                  <c:v>80.8</c:v>
                </c:pt>
                <c:pt idx="7">
                  <c:v/>
                </c:pt>
                <c:pt idx="8">
                  <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4"/>
          <c:min val="78"/>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80.9</c:v>
                </c:pt>
                <c:pt idx="2">
                  <c:v>80.9</c:v>
                </c:pt>
                <c:pt idx="3">
                  <c:v>80.8</c:v>
                </c:pt>
                <c:pt idx="4">
                  <c:v>80.8</c:v>
                </c:pt>
                <c:pt idx="5">
                  <c:v>81.1</c:v>
                </c:pt>
                <c:pt idx="6">
                  <c:v>81</c:v>
                </c:pt>
                <c:pt idx="7">
                  <c:v/>
                </c:pt>
                <c:pt idx="8">
                  <c:v/>
                </c:pt>
                <c:pt idx="9">
                  <c:v>80.8</c:v>
                </c:pt>
                <c:pt idx="10">
                  <c:v>81.1</c:v>
                </c:pt>
                <c:pt idx="11">
                  <c:v>80.8</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4"/>
          <c:min val="78"/>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80.7</c:v>
                </c:pt>
                <c:pt idx="1">
                  <c:v/>
                </c:pt>
                <c:pt idx="2">
                  <c:v/>
                </c:pt>
                <c:pt idx="3">
                  <c:v/>
                </c:pt>
                <c:pt idx="4">
                  <c:v/>
                </c:pt>
                <c:pt idx="5">
                  <c:v/>
                </c:pt>
                <c:pt idx="6">
                  <c:v/>
                </c:pt>
                <c:pt idx="7">
                  <c:v>80.8</c:v>
                </c:pt>
                <c:pt idx="8">
                  <c:v>80.7</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4"/>
          <c:min val="78"/>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80.7</c:v>
                </c:pt>
                <c:pt idx="1">
                  <c:v>80.9</c:v>
                </c:pt>
                <c:pt idx="2">
                  <c:v>80.9</c:v>
                </c:pt>
                <c:pt idx="3">
                  <c:v>80.8</c:v>
                </c:pt>
                <c:pt idx="4">
                  <c:v>80.8</c:v>
                </c:pt>
                <c:pt idx="5">
                  <c:v>81.1</c:v>
                </c:pt>
                <c:pt idx="6">
                  <c:v>81</c:v>
                </c:pt>
                <c:pt idx="7">
                  <c:v>80.8</c:v>
                </c:pt>
                <c:pt idx="8">
                  <c:v>80.7</c:v>
                </c:pt>
                <c:pt idx="9">
                  <c:v>80.8</c:v>
                </c:pt>
                <c:pt idx="10">
                  <c:v>81.1</c:v>
                </c:pt>
                <c:pt idx="11">
                  <c:v>80.8</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84"/>
          <c:min val="78"/>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40.5</c:v>
                </c:pt>
                <c:pt idx="1">
                  <c:v>40.3</c:v>
                </c:pt>
                <c:pt idx="2">
                  <c:v>41</c:v>
                </c:pt>
                <c:pt idx="3">
                  <c:v>39.6</c:v>
                </c:pt>
                <c:pt idx="4">
                  <c:v>41.3</c:v>
                </c:pt>
                <c:pt idx="5">
                  <c:v>41.3</c:v>
                </c:pt>
                <c:pt idx="6">
                  <c:v>40.6</c:v>
                </c:pt>
                <c:pt idx="7">
                  <c:v>41.1</c:v>
                </c:pt>
                <c:pt idx="8">
                  <c:v>40.1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4"/>
          <c:min val="3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40.5</c:v>
                </c:pt>
                <c:pt idx="1">
                  <c:v>40.3</c:v>
                </c:pt>
                <c:pt idx="2">
                  <c:v>41</c:v>
                </c:pt>
                <c:pt idx="3">
                  <c:v>39.6</c:v>
                </c:pt>
                <c:pt idx="4">
                  <c:v>41.3</c:v>
                </c:pt>
                <c:pt idx="5">
                  <c:v>41.3</c:v>
                </c:pt>
                <c:pt idx="6">
                  <c:v>40.6</c:v>
                </c:pt>
                <c:pt idx="7">
                  <c:v>41.1</c:v>
                </c:pt>
                <c:pt idx="8">
                  <c:v>40.1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4"/>
          <c:min val="3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39.4</c:v>
                </c:pt>
                <c:pt idx="1">
                  <c:v>39.4</c:v>
                </c:pt>
                <c:pt idx="2">
                  <c:v>39.6</c:v>
                </c:pt>
                <c:pt idx="3">
                  <c:v>38.3</c:v>
                </c:pt>
                <c:pt idx="4">
                  <c:v>39.9</c:v>
                </c:pt>
                <c:pt idx="5">
                  <c:v>40.3</c:v>
                </c:pt>
                <c:pt idx="6">
                  <c:v>39.5</c:v>
                </c:pt>
                <c:pt idx="7">
                  <c:v>39.4</c:v>
                </c:pt>
                <c:pt idx="8">
                  <c:v>39.2</c:v>
                </c:pt>
                <c:pt idx="9">
                  <c:v>38.1</c:v>
                </c:pt>
                <c:pt idx="10">
                  <c:v>39.4</c:v>
                </c:pt>
                <c:pt idx="11">
                  <c:v>39.7</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4"/>
          <c:min val="3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39.4</c:v>
                </c:pt>
                <c:pt idx="1">
                  <c:v>39.4</c:v>
                </c:pt>
                <c:pt idx="2">
                  <c:v>39.6</c:v>
                </c:pt>
                <c:pt idx="3">
                  <c:v>38.3</c:v>
                </c:pt>
                <c:pt idx="4">
                  <c:v>39.9</c:v>
                </c:pt>
                <c:pt idx="5">
                  <c:v>40.3</c:v>
                </c:pt>
                <c:pt idx="6">
                  <c:v>39.5</c:v>
                </c:pt>
                <c:pt idx="7">
                  <c:v>39.4</c:v>
                </c:pt>
                <c:pt idx="8">
                  <c:v>39.2</c:v>
                </c:pt>
                <c:pt idx="9">
                  <c:v>38.1</c:v>
                </c:pt>
                <c:pt idx="10">
                  <c:v>39.4</c:v>
                </c:pt>
                <c:pt idx="11">
                  <c:v>39.7</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44"/>
          <c:min val="36"/>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Distinct customer-pay ROs: every RO with a customer-pay line, whether or not labor was charged (governed RO Count). YTD from YTD totals, not the mean of months. Store rows reconcile to the group on every input, both years. 2025 shown January-December; October-December pulled Oct 22 on the same basis (chart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Distinct customer-pay ROs: every RO with a customer-pay line, whether or not labor was charged (governed RO Count). Jan-Sep 2026 YTD.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RO count (percent, so store size does not drive the ranking),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Distinct customer-pay ROs: every RO with a customer-pay line, whether or not labor was charged (governed RO Count). Top and bottom five stores by change in CP RO count (percent, so store size does not drive the ranking), Jan-Sep 2026 vs 2025. Moving now: Jul-Sep 2026 vs Jan-Mar 2026, each store against itself (monthly averages); the group moved +7.5% on the same basis, so part of every store's change is seasonal.Conversation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sold hours / all customer-pay ROs. YTD from YTD totals, not the mean of months. Store rows reconcile to the group on every input, both years. 2025 shown January-December; October-December pulled Oct 22 on the same basis (chart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sold hours / all customer-pay ROs.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Hours per RO,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sold hours / all customer-pay ROs. Top and bottom five stores by change in CP Hours per RO, Jan-Sep 2026 vs 2025. Moving now: Jul-Sep 2026 vs Jan-Mar 2026, each store against itself; the group moved −0.04 on the same basis, so part of every store's change is seasonal.Conversation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customer-pay sold hours. YTD from YTD totals, not the mean of months. Store rows reconcile to the group on every input, both years. 2025 shown January-December; October-December pulled Oct 22 on the same basis (chart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customer-pay sold hours.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ELR,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customer-pay sold hours. Top and bottom five stores by change in CP ELR, Jan-Sep 2026 vs 2025. Moving now: Jul-Sep 2026 vs Jan-Mar 2026, each store against itself; the group moved +$1.85 on the same basis, so part of every store's change is seasonal.Conversation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D - door rate by store, split by labor grid, standard rate only. Store door rate sheet (Oct 15 2026); averages weighted by Jul-Sep CP sold hours. Bars start at $100. INEOS on the sheet but excluded (same-store).
CHEVY LV: premium $264.87 (Diesel/Corvette)
AUDI HENDERSON: premium $399.00 (Lambo Non-Grid)
VW HENDERSON: premium $210.00 (EV)
CHEVY GMC BULLHEAD: premium $199.87 (Non-Standard Grid)
SUBARU ST GEORGE: premium $210.00 (EV)
HONDA FLAGSTAFF: premium $215.00 (EV)
GMC PRESCOTT: premium $230.00 (EV)
KIA ST GEORGE: premium $195.00 (EV)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E - door rate by store with premium rates, split by labor grid. Store door rate sheet (Oct 15 2026); averages weighted by Jul-Sep CP sold hours. Bars start at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CURRENT VERSION - bars and % only. Qlik - Closed Repair Orders. Customer pay, Jan-Sep by close month. Same-store, INEOS excluded (opened 2026). GMC Prescott body shop labor types excluded. CP ELR for JUL-SEP 2026 (last three months, to match current door rates) / store door rate (standard rate from the store door rate sheet; premium, EV and diesel rates not applied). Group = group CP labor sale / hours-weighted door rate. Green at or above 70%, red below. Bars start at 40%. Percentages are truncated, not rounded.
AUDI RENO: ELR $244.12 / door $235.87 = 103.4%
VOLVO: ELR $225.50 / door $249.95 = 90.2%
CHEVY GMC BULLHEAD: ELR $161.80 / door $179.87 = 89.9%
HYUNDAI ST GEORGE: ELR $165.96 / door $184.87 = 89.7%
ACURA: ELR $199.04 / door $224.87 = 88.5%
LR RENO: ELR $238.62 / door $275.00 = 86.7%
HONDA FLAGSTAFF: ELR $159.69 / door $185.00 = 86.3%
HONDA SPOKANE: ELR $147.93 / door $179.00 = 82.6%
LEXUS: ELR $187.42 / door $229.95 = 81.5%
CDJR POST FALLS: ELR $161.93 / door $199.95 = 80.9%
TOYOTA PRESCOTT: ELR $155.78 / door $195.00 = 79.8%
LR HENDERSON: ELR $234.48 / door $294.87 = 79.5%
KIA ST GEORGE: ELR $146.04 / door $185.00 = 78.9%
MAZDA: ELR $165.67 / door $209.87 = 78.9%
VW HENDERSON: ELR $160.84 / door $204.87 = 78.5%
VW ST GEORGE: ELR $141.89 / door $184.87 = 76.7%
AUDI HENDERSON: ELR $266.72 / door $348.87 = 76.4%
LR LV: ELR $233.88 / door $310.00 = 75.4%
SUBARU LV: ELR $162.12 / door $215.37 = 75.2%
NISSAN: ELR $180.14 / door $239.87 = 75.1%
TOYOTA FLAGSTAFF: ELR $142.51 / door $190.00 = 75.0%
SUBARU ST GEORGE: ELR $136.71 / door $185.00 = 73.8%
TOYOTA HENDERSON: ELR $154.55 / door $211.26 = 73.1%
HONDA HENDERSON: ELR $153.45 / door $211.87 = 72.4%
HONDA NORTH: ELR $149.70 / door $211.87 = 70.6%
KIA LV: ELR $150.72 / door $219.87 = 68.5%
LINCOLN: ELR $167.22 / door $244.87 = 68.2%
TOYOTA SPOKANE: ELR $124.92 / door $185.00 = 67.5%
GMC PRESCOTT: ELR $146.92 / door $220.00 = 66.7%
SUBARU PRESCOTT: ELR $139.81 / door $210.00 = 66.5%
CHEVY LV: ELR $146.25 / door $224.87 = 65.0%
HYUNDAI PRESCOTT: ELR $136.12 / door $210.00 = 64.8%
CADILLAC: ELR $175.47 / door $285.00 = 61.5%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A - ELR and door rate columns. Qlik - Closed Repair Orders. CP ELR Jul-Sep 2026 (last three months, to match current door rates). Door rate = standard rate from the store door rate sheet; premium, EV and diesel rates not applied. Same-store, INEOS excluded; GMC Prescott body shop excluded. Averages weighted by Jul-Sep CP sold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B - ELR and the ELR needed for 70% of door rate (door x 0.70). Qlik - Closed Repair Orders. CP ELR Jul-Sep 2026 (last three months, to match current door rates). Door rate = standard rate from the store door rate sheet; premium, EV and diesel rates not applied. Same-store, INEOS excluded; GMC Prescott body shop excluded. Averages weighted by Jul-Sep CP sold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C - split by labor grid. Qlik - Closed Repair Orders. CP ELR Jul-Sep 2026 (last three months, to match current door rates). Door rate = standard rate from the store door rate sheet; premium, EV and diesel rates not applied. Same-store, INEOS excluded; GMC Prescott body shop excluded. Averages weighted by Jul-Sep CP sold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all customer-pay ROs (governed Labor Sale/RO). YTD from YTD totals, not the mean of months. Store rows reconcile to the group on every input, both years. 2025 shown January-December; October-December pulled Oct 22 on the same basis (chart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all customer-pay ROs (governed Labor Sale/RO).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Labor $ per RO,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all customer-pay ROs (governed Labor Sale/RO). Top and bottom five stores by change in CP Labor $ per RO, Jan-Sep 2026 vs 2025. Moving now: Jul-Sep 2026 vs Jan-Mar 2026, each store against itself; the group moved −$2 on the same basis, so part of every store's change is seasonal.Conversation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sale / all customer-pay ROs (governed Parts Sale/RO). YTD from YTD totals, not the mean of months. Store rows reconcile to the group on every input, both years. 2025 shown January-December; October-December pulled Oct 22 on the same basis (chart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sale / all customer-pay ROs (governed Parts Sale/RO).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Parts $ per RO,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sale / all customer-pay ROs (governed Parts Sale/RO). Top and bottom five stores by change in CP Parts $ per RO, Jan-Sep 2026 vs 2025. Moving now: Jul-Sep 2026 vs Jan-Mar 2026, each store against itself; the group moved +$12 on the same basis, so part of every store's change is seasonal.Conversation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gross / customer-pay labor sale. Target range 78-80%. YTD from YTD totals, not the mean of months. Store rows reconcile to the group on every input, both years. 2025 shown January-December; October-December pulled Oct 22 on the same basis (chart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gross / customer-pay labor sale. Target range 78-80%. Jan-Sep 2026 YTD. Green at or above the group, red below. Bars start at 60.0%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Labor Gross Profit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gross / customer-pay labor sale. Target range 78-80%. Top and bottom five stores by change in CP Labor Gross Profit %, Jan-Sep 2026 vs 2025. Moving now: Jul-Sep 2026 vs Jan-Mar 2026, each store against itself; the group moved +0.0 pts on the same basis, so part of every store's change is seasonal.Conversation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gross / customer-pay parts sale on repair orders (counter and wholesale not included). YTD from YTD totals, not the mean of months. Store rows reconcile to the group on every input, both years. 2025 shown January-December; October-December pulled Oct 22 on the same basis (chart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gross / customer-pay parts sale on repair orders (counter and wholesale not included). Jan-Sep 2026 YTD. Green at or above the group, red below. Bars start at 25.0%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Parts Gross Profit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gross / customer-pay parts sale on repair orders (counter and wholesale not included). Top and bottom five stores by change in CP Parts Gross Profit %, Jan-Sep 2026 vs 2025. Moving now: Jul-Sep 2026 vs Jan-Mar 2026, each store against itself; the group moved −0.0 pts on the same basis, so part of every store's change is seasonal.Conversation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chart" Target="/ppt/charts/chart5.xml"/><Relationship Id="rId6" Type="http://schemas.openxmlformats.org/officeDocument/2006/relationships/chart" Target="/ppt/charts/chart6.xml"/><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chart" Target="/ppt/charts/chart9.xml"/><Relationship Id="rId4" Type="http://schemas.openxmlformats.org/officeDocument/2006/relationships/chart" Target="/ppt/charts/chart10.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chart" Target="/ppt/charts/chart12.xml"/><Relationship Id="rId3" Type="http://schemas.openxmlformats.org/officeDocument/2006/relationships/chart" Target="/ppt/charts/chart13.xml"/><Relationship Id="rId4" Type="http://schemas.openxmlformats.org/officeDocument/2006/relationships/chart" Target="/ppt/charts/chart14.xm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chart" Target="/ppt/charts/chart16.xml"/><Relationship Id="rId3" Type="http://schemas.openxmlformats.org/officeDocument/2006/relationships/chart" Target="/ppt/charts/chart17.xml"/><Relationship Id="rId4" Type="http://schemas.openxmlformats.org/officeDocument/2006/relationships/chart" Target="/ppt/charts/chart18.xml"/><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chart" Target="/ppt/charts/chart20.xml"/><Relationship Id="rId3" Type="http://schemas.openxmlformats.org/officeDocument/2006/relationships/chart" Target="/ppt/charts/chart21.xml"/><Relationship Id="rId4" Type="http://schemas.openxmlformats.org/officeDocument/2006/relationships/chart" Target="/ppt/charts/chart22.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chart" Target="/ppt/charts/chart24.xml"/><Relationship Id="rId3" Type="http://schemas.openxmlformats.org/officeDocument/2006/relationships/chart" Target="/ppt/charts/chart25.xml"/><Relationship Id="rId4" Type="http://schemas.openxmlformats.org/officeDocument/2006/relationships/chart" Target="/ppt/charts/chart26.xml"/><Relationship Id="rId5" Type="http://schemas.openxmlformats.org/officeDocument/2006/relationships/chart" Target="/ppt/charts/chart27.xml"/><Relationship Id="rId6" Type="http://schemas.openxmlformats.org/officeDocument/2006/relationships/chart" Target="/ppt/charts/chart28.xml"/><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chart" Target="/ppt/charts/chart30.xml"/><Relationship Id="rId3" Type="http://schemas.openxmlformats.org/officeDocument/2006/relationships/chart" Target="/ppt/charts/chart31.xml"/><Relationship Id="rId4" Type="http://schemas.openxmlformats.org/officeDocument/2006/relationships/chart" Target="/ppt/charts/chart32.xml"/><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121408"/>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487168"/>
            <a:ext cx="10789920" cy="1188720"/>
          </a:xfrm>
          <a:prstGeom prst="rect">
            <a:avLst/>
          </a:prstGeom>
          <a:noFill/>
          <a:ln/>
        </p:spPr>
        <p:txBody>
          <a:bodyPr wrap="none" lIns="0" tIns="0" rIns="0" bIns="0" rtlCol="0" anchor="ctr"/>
          <a:lstStyle/>
          <a:p>
            <a:pPr indent="0" marL="0">
              <a:buNone/>
            </a:pPr>
            <a:r>
              <a:rPr lang="en-US" sz="7600" b="1" dirty="0">
                <a:solidFill>
                  <a:srgbClr val="1A1A1A"/>
                </a:solidFill>
                <a:latin typeface="Inter" pitchFamily="34" charset="0"/>
                <a:ea typeface="Inter" pitchFamily="34" charset="-122"/>
                <a:cs typeface="Inter" pitchFamily="34" charset="-120"/>
              </a:rPr>
              <a:t>Customer Pay</a:t>
            </a:r>
            <a:endParaRPr lang="en-US" sz="7600" dirty="0"/>
          </a:p>
        </p:txBody>
      </p:sp>
      <p:sp>
        <p:nvSpPr>
          <p:cNvPr id="4" name="Text 2"/>
          <p:cNvSpPr txBox="1"/>
          <p:nvPr/>
        </p:nvSpPr>
        <p:spPr>
          <a:xfrm>
            <a:off x="694944" y="376732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ROs   ·   Hours per RO   ·   ELR   ·   $ per RO   ·   Margin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279,300</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279,756</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+456</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+0.2%</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RO Count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615696"/>
          </a:xfrm>
          <a:prstGeom prst="rect">
            <a:avLst/>
          </a:prstGeom>
          <a:solidFill>
            <a:srgbClr val="E6F6EE"/>
          </a:solidFill>
          <a:ln/>
        </p:spPr>
      </p:sp>
      <p:sp>
        <p:nvSpPr>
          <p:cNvPr id="30" name="Text 22"/>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456 to 279,756, ahead of 2025 in five of nine months. Volume is flat, so every gain here comes from selling more per RO.</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RO COUNT</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279,756</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3" name="Shape 11"/>
          <p:cNvSpPr/>
          <p:nvPr/>
        </p:nvSpPr>
        <p:spPr>
          <a:xfrm>
            <a:off x="2980944" y="1911860"/>
            <a:ext cx="1828800" cy="110352"/>
          </a:xfrm>
          <a:prstGeom prst="rect">
            <a:avLst/>
          </a:prstGeom>
          <a:solidFill>
            <a:srgbClr val="2587C5"/>
          </a:solidFill>
          <a:ln/>
        </p:spPr>
      </p:sp>
      <p:sp>
        <p:nvSpPr>
          <p:cNvPr id="14" name="Text 12"/>
          <p:cNvSpPr txBox="1"/>
          <p:nvPr/>
        </p:nvSpPr>
        <p:spPr>
          <a:xfrm>
            <a:off x="4855464" y="184708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53,084</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7" name="Shape 15"/>
          <p:cNvSpPr/>
          <p:nvPr/>
        </p:nvSpPr>
        <p:spPr>
          <a:xfrm>
            <a:off x="2980944" y="2151755"/>
            <a:ext cx="776079" cy="110352"/>
          </a:xfrm>
          <a:prstGeom prst="rect">
            <a:avLst/>
          </a:prstGeom>
          <a:solidFill>
            <a:srgbClr val="2587C5"/>
          </a:solidFill>
          <a:ln/>
        </p:spPr>
      </p:sp>
      <p:sp>
        <p:nvSpPr>
          <p:cNvPr id="18" name="Text 16"/>
          <p:cNvSpPr txBox="1"/>
          <p:nvPr/>
        </p:nvSpPr>
        <p:spPr>
          <a:xfrm>
            <a:off x="4855464" y="208698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22,527</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21" name="Shape 19"/>
          <p:cNvSpPr/>
          <p:nvPr/>
        </p:nvSpPr>
        <p:spPr>
          <a:xfrm>
            <a:off x="2980944" y="2391651"/>
            <a:ext cx="672485" cy="110352"/>
          </a:xfrm>
          <a:prstGeom prst="rect">
            <a:avLst/>
          </a:prstGeom>
          <a:solidFill>
            <a:srgbClr val="2587C5"/>
          </a:solidFill>
          <a:ln/>
        </p:spPr>
      </p:sp>
      <p:sp>
        <p:nvSpPr>
          <p:cNvPr id="22" name="Text 20"/>
          <p:cNvSpPr txBox="1"/>
          <p:nvPr/>
        </p:nvSpPr>
        <p:spPr>
          <a:xfrm>
            <a:off x="4855464" y="232687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19,520</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25" name="Shape 23"/>
          <p:cNvSpPr/>
          <p:nvPr/>
        </p:nvSpPr>
        <p:spPr>
          <a:xfrm>
            <a:off x="2980944" y="2631546"/>
            <a:ext cx="598622" cy="110352"/>
          </a:xfrm>
          <a:prstGeom prst="rect">
            <a:avLst/>
          </a:prstGeom>
          <a:solidFill>
            <a:srgbClr val="2587C5"/>
          </a:solidFill>
          <a:ln/>
        </p:spPr>
      </p:sp>
      <p:sp>
        <p:nvSpPr>
          <p:cNvPr id="26" name="Text 24"/>
          <p:cNvSpPr txBox="1"/>
          <p:nvPr/>
        </p:nvSpPr>
        <p:spPr>
          <a:xfrm>
            <a:off x="4855464" y="256677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17,376</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29" name="Shape 27"/>
          <p:cNvSpPr/>
          <p:nvPr/>
        </p:nvSpPr>
        <p:spPr>
          <a:xfrm>
            <a:off x="2980944" y="2871442"/>
            <a:ext cx="521623" cy="110352"/>
          </a:xfrm>
          <a:prstGeom prst="rect">
            <a:avLst/>
          </a:prstGeom>
          <a:solidFill>
            <a:srgbClr val="2587C5"/>
          </a:solidFill>
          <a:ln/>
        </p:spPr>
      </p:sp>
      <p:sp>
        <p:nvSpPr>
          <p:cNvPr id="30" name="Text 28"/>
          <p:cNvSpPr txBox="1"/>
          <p:nvPr/>
        </p:nvSpPr>
        <p:spPr>
          <a:xfrm>
            <a:off x="4855464" y="280667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15,141</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33" name="Shape 31"/>
          <p:cNvSpPr/>
          <p:nvPr/>
        </p:nvSpPr>
        <p:spPr>
          <a:xfrm>
            <a:off x="2980944" y="3111337"/>
            <a:ext cx="518420" cy="110352"/>
          </a:xfrm>
          <a:prstGeom prst="rect">
            <a:avLst/>
          </a:prstGeom>
          <a:solidFill>
            <a:srgbClr val="2587C5"/>
          </a:solidFill>
          <a:ln/>
        </p:spPr>
      </p:sp>
      <p:sp>
        <p:nvSpPr>
          <p:cNvPr id="34" name="Text 32"/>
          <p:cNvSpPr txBox="1"/>
          <p:nvPr/>
        </p:nvSpPr>
        <p:spPr>
          <a:xfrm>
            <a:off x="4855464" y="3046566"/>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15,048</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37" name="Shape 35"/>
          <p:cNvSpPr/>
          <p:nvPr/>
        </p:nvSpPr>
        <p:spPr>
          <a:xfrm>
            <a:off x="2980944" y="3351233"/>
            <a:ext cx="490928" cy="110352"/>
          </a:xfrm>
          <a:prstGeom prst="rect">
            <a:avLst/>
          </a:prstGeom>
          <a:solidFill>
            <a:srgbClr val="2587C5"/>
          </a:solidFill>
          <a:ln/>
        </p:spPr>
      </p:sp>
      <p:sp>
        <p:nvSpPr>
          <p:cNvPr id="38" name="Text 36"/>
          <p:cNvSpPr txBox="1"/>
          <p:nvPr/>
        </p:nvSpPr>
        <p:spPr>
          <a:xfrm>
            <a:off x="4855464" y="328646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14,250</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41" name="Shape 39"/>
          <p:cNvSpPr/>
          <p:nvPr/>
        </p:nvSpPr>
        <p:spPr>
          <a:xfrm>
            <a:off x="2980944" y="3591128"/>
            <a:ext cx="464745" cy="110352"/>
          </a:xfrm>
          <a:prstGeom prst="rect">
            <a:avLst/>
          </a:prstGeom>
          <a:solidFill>
            <a:srgbClr val="2587C5"/>
          </a:solidFill>
          <a:ln/>
        </p:spPr>
      </p:sp>
      <p:sp>
        <p:nvSpPr>
          <p:cNvPr id="42" name="Text 40"/>
          <p:cNvSpPr txBox="1"/>
          <p:nvPr/>
        </p:nvSpPr>
        <p:spPr>
          <a:xfrm>
            <a:off x="4855464" y="3526357"/>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13,490</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45" name="Shape 43"/>
          <p:cNvSpPr/>
          <p:nvPr/>
        </p:nvSpPr>
        <p:spPr>
          <a:xfrm>
            <a:off x="2980944" y="3831024"/>
            <a:ext cx="307648" cy="110352"/>
          </a:xfrm>
          <a:prstGeom prst="rect">
            <a:avLst/>
          </a:prstGeom>
          <a:solidFill>
            <a:srgbClr val="2587C5"/>
          </a:solidFill>
          <a:ln/>
        </p:spPr>
      </p:sp>
      <p:sp>
        <p:nvSpPr>
          <p:cNvPr id="46" name="Text 44"/>
          <p:cNvSpPr txBox="1"/>
          <p:nvPr/>
        </p:nvSpPr>
        <p:spPr>
          <a:xfrm>
            <a:off x="4855464" y="3766252"/>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8,930</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9" name="Shape 47"/>
          <p:cNvSpPr/>
          <p:nvPr/>
        </p:nvSpPr>
        <p:spPr>
          <a:xfrm>
            <a:off x="2980944" y="4070920"/>
            <a:ext cx="280190" cy="110352"/>
          </a:xfrm>
          <a:prstGeom prst="rect">
            <a:avLst/>
          </a:prstGeom>
          <a:solidFill>
            <a:srgbClr val="2587C5"/>
          </a:solidFill>
          <a:ln/>
        </p:spPr>
      </p:sp>
      <p:sp>
        <p:nvSpPr>
          <p:cNvPr id="50" name="Text 48"/>
          <p:cNvSpPr txBox="1"/>
          <p:nvPr/>
        </p:nvSpPr>
        <p:spPr>
          <a:xfrm>
            <a:off x="4855464" y="400614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8,133</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53" name="Shape 51"/>
          <p:cNvSpPr/>
          <p:nvPr/>
        </p:nvSpPr>
        <p:spPr>
          <a:xfrm>
            <a:off x="2980944" y="4310815"/>
            <a:ext cx="240227" cy="110352"/>
          </a:xfrm>
          <a:prstGeom prst="rect">
            <a:avLst/>
          </a:prstGeom>
          <a:solidFill>
            <a:srgbClr val="2587C5"/>
          </a:solidFill>
          <a:ln/>
        </p:spPr>
      </p:sp>
      <p:sp>
        <p:nvSpPr>
          <p:cNvPr id="54" name="Text 52"/>
          <p:cNvSpPr txBox="1"/>
          <p:nvPr/>
        </p:nvSpPr>
        <p:spPr>
          <a:xfrm>
            <a:off x="4855464" y="4246043"/>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6,973</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57" name="Shape 55"/>
          <p:cNvSpPr/>
          <p:nvPr/>
        </p:nvSpPr>
        <p:spPr>
          <a:xfrm>
            <a:off x="2980944" y="4550711"/>
            <a:ext cx="217352" cy="110352"/>
          </a:xfrm>
          <a:prstGeom prst="rect">
            <a:avLst/>
          </a:prstGeom>
          <a:solidFill>
            <a:srgbClr val="2587C5"/>
          </a:solidFill>
          <a:ln/>
        </p:spPr>
      </p:sp>
      <p:sp>
        <p:nvSpPr>
          <p:cNvPr id="58" name="Text 56"/>
          <p:cNvSpPr txBox="1"/>
          <p:nvPr/>
        </p:nvSpPr>
        <p:spPr>
          <a:xfrm>
            <a:off x="4855464" y="448593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6,309</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1" name="Shape 59"/>
          <p:cNvSpPr/>
          <p:nvPr/>
        </p:nvSpPr>
        <p:spPr>
          <a:xfrm>
            <a:off x="2980944" y="4790606"/>
            <a:ext cx="196405" cy="110352"/>
          </a:xfrm>
          <a:prstGeom prst="rect">
            <a:avLst/>
          </a:prstGeom>
          <a:solidFill>
            <a:srgbClr val="2587C5"/>
          </a:solidFill>
          <a:ln/>
        </p:spPr>
      </p:sp>
      <p:sp>
        <p:nvSpPr>
          <p:cNvPr id="62" name="Text 60"/>
          <p:cNvSpPr txBox="1"/>
          <p:nvPr/>
        </p:nvSpPr>
        <p:spPr>
          <a:xfrm>
            <a:off x="4855464" y="472583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5,701</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65" name="Shape 63"/>
          <p:cNvSpPr/>
          <p:nvPr/>
        </p:nvSpPr>
        <p:spPr>
          <a:xfrm>
            <a:off x="2980944" y="5030502"/>
            <a:ext cx="191307" cy="110352"/>
          </a:xfrm>
          <a:prstGeom prst="rect">
            <a:avLst/>
          </a:prstGeom>
          <a:solidFill>
            <a:srgbClr val="2587C5"/>
          </a:solidFill>
          <a:ln/>
        </p:spPr>
      </p:sp>
      <p:sp>
        <p:nvSpPr>
          <p:cNvPr id="66" name="Text 64"/>
          <p:cNvSpPr txBox="1"/>
          <p:nvPr/>
        </p:nvSpPr>
        <p:spPr>
          <a:xfrm>
            <a:off x="4855464" y="496573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5,553</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69" name="Shape 67"/>
          <p:cNvSpPr/>
          <p:nvPr/>
        </p:nvSpPr>
        <p:spPr>
          <a:xfrm>
            <a:off x="2980944" y="5270397"/>
            <a:ext cx="184589" cy="110352"/>
          </a:xfrm>
          <a:prstGeom prst="rect">
            <a:avLst/>
          </a:prstGeom>
          <a:solidFill>
            <a:srgbClr val="2587C5"/>
          </a:solidFill>
          <a:ln/>
        </p:spPr>
      </p:sp>
      <p:sp>
        <p:nvSpPr>
          <p:cNvPr id="70" name="Text 68"/>
          <p:cNvSpPr txBox="1"/>
          <p:nvPr/>
        </p:nvSpPr>
        <p:spPr>
          <a:xfrm>
            <a:off x="4855464" y="520562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5,358</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73" name="Shape 71"/>
          <p:cNvSpPr/>
          <p:nvPr/>
        </p:nvSpPr>
        <p:spPr>
          <a:xfrm>
            <a:off x="2980944" y="5510293"/>
            <a:ext cx="184106" cy="110352"/>
          </a:xfrm>
          <a:prstGeom prst="rect">
            <a:avLst/>
          </a:prstGeom>
          <a:solidFill>
            <a:srgbClr val="2587C5"/>
          </a:solidFill>
          <a:ln/>
        </p:spPr>
      </p:sp>
      <p:sp>
        <p:nvSpPr>
          <p:cNvPr id="74" name="Text 72"/>
          <p:cNvSpPr txBox="1"/>
          <p:nvPr/>
        </p:nvSpPr>
        <p:spPr>
          <a:xfrm>
            <a:off x="4855464" y="544552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5,344</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77" name="Shape 75"/>
          <p:cNvSpPr/>
          <p:nvPr/>
        </p:nvSpPr>
        <p:spPr>
          <a:xfrm>
            <a:off x="2980944" y="5750188"/>
            <a:ext cx="177251" cy="110352"/>
          </a:xfrm>
          <a:prstGeom prst="rect">
            <a:avLst/>
          </a:prstGeom>
          <a:solidFill>
            <a:srgbClr val="2587C5"/>
          </a:solidFill>
          <a:ln/>
        </p:spPr>
      </p:sp>
      <p:sp>
        <p:nvSpPr>
          <p:cNvPr id="78" name="Text 76"/>
          <p:cNvSpPr txBox="1"/>
          <p:nvPr/>
        </p:nvSpPr>
        <p:spPr>
          <a:xfrm>
            <a:off x="4855464" y="5685416"/>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5,145</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81" name="Shape 79"/>
          <p:cNvSpPr/>
          <p:nvPr/>
        </p:nvSpPr>
        <p:spPr>
          <a:xfrm>
            <a:off x="8531352" y="1911860"/>
            <a:ext cx="175873" cy="110352"/>
          </a:xfrm>
          <a:prstGeom prst="rect">
            <a:avLst/>
          </a:prstGeom>
          <a:solidFill>
            <a:srgbClr val="2587C5"/>
          </a:solidFill>
          <a:ln/>
        </p:spPr>
      </p:sp>
      <p:sp>
        <p:nvSpPr>
          <p:cNvPr id="82" name="Text 80"/>
          <p:cNvSpPr txBox="1"/>
          <p:nvPr/>
        </p:nvSpPr>
        <p:spPr>
          <a:xfrm>
            <a:off x="10405872" y="184708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5,105</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85" name="Shape 83"/>
          <p:cNvSpPr/>
          <p:nvPr/>
        </p:nvSpPr>
        <p:spPr>
          <a:xfrm>
            <a:off x="8531352" y="2151755"/>
            <a:ext cx="157338" cy="110352"/>
          </a:xfrm>
          <a:prstGeom prst="rect">
            <a:avLst/>
          </a:prstGeom>
          <a:solidFill>
            <a:srgbClr val="2587C5"/>
          </a:solidFill>
          <a:ln/>
        </p:spPr>
      </p:sp>
      <p:sp>
        <p:nvSpPr>
          <p:cNvPr id="86" name="Text 84"/>
          <p:cNvSpPr txBox="1"/>
          <p:nvPr/>
        </p:nvSpPr>
        <p:spPr>
          <a:xfrm>
            <a:off x="10405872" y="208698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4,567</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89" name="Shape 87"/>
          <p:cNvSpPr/>
          <p:nvPr/>
        </p:nvSpPr>
        <p:spPr>
          <a:xfrm>
            <a:off x="8531352" y="2391651"/>
            <a:ext cx="138838" cy="110352"/>
          </a:xfrm>
          <a:prstGeom prst="rect">
            <a:avLst/>
          </a:prstGeom>
          <a:solidFill>
            <a:srgbClr val="2587C5"/>
          </a:solidFill>
          <a:ln/>
        </p:spPr>
      </p:sp>
      <p:sp>
        <p:nvSpPr>
          <p:cNvPr id="90" name="Text 88"/>
          <p:cNvSpPr txBox="1"/>
          <p:nvPr/>
        </p:nvSpPr>
        <p:spPr>
          <a:xfrm>
            <a:off x="10405872" y="232687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4,030</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93" name="Shape 91"/>
          <p:cNvSpPr/>
          <p:nvPr/>
        </p:nvSpPr>
        <p:spPr>
          <a:xfrm>
            <a:off x="8531352" y="2631546"/>
            <a:ext cx="134945" cy="110352"/>
          </a:xfrm>
          <a:prstGeom prst="rect">
            <a:avLst/>
          </a:prstGeom>
          <a:solidFill>
            <a:srgbClr val="2587C5"/>
          </a:solidFill>
          <a:ln/>
        </p:spPr>
      </p:sp>
      <p:sp>
        <p:nvSpPr>
          <p:cNvPr id="94" name="Text 92"/>
          <p:cNvSpPr txBox="1"/>
          <p:nvPr/>
        </p:nvSpPr>
        <p:spPr>
          <a:xfrm>
            <a:off x="10405872" y="256677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3,917</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97" name="Shape 95"/>
          <p:cNvSpPr/>
          <p:nvPr/>
        </p:nvSpPr>
        <p:spPr>
          <a:xfrm>
            <a:off x="8531352" y="2871442"/>
            <a:ext cx="134773" cy="110352"/>
          </a:xfrm>
          <a:prstGeom prst="rect">
            <a:avLst/>
          </a:prstGeom>
          <a:solidFill>
            <a:srgbClr val="2587C5"/>
          </a:solidFill>
          <a:ln/>
        </p:spPr>
      </p:sp>
      <p:sp>
        <p:nvSpPr>
          <p:cNvPr id="98" name="Text 96"/>
          <p:cNvSpPr txBox="1"/>
          <p:nvPr/>
        </p:nvSpPr>
        <p:spPr>
          <a:xfrm>
            <a:off x="10405872" y="280667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3,912</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01" name="Shape 99"/>
          <p:cNvSpPr/>
          <p:nvPr/>
        </p:nvSpPr>
        <p:spPr>
          <a:xfrm>
            <a:off x="8531352" y="3111337"/>
            <a:ext cx="130191" cy="110352"/>
          </a:xfrm>
          <a:prstGeom prst="rect">
            <a:avLst/>
          </a:prstGeom>
          <a:solidFill>
            <a:srgbClr val="2587C5"/>
          </a:solidFill>
          <a:ln/>
        </p:spPr>
      </p:sp>
      <p:sp>
        <p:nvSpPr>
          <p:cNvPr id="102" name="Text 100"/>
          <p:cNvSpPr txBox="1"/>
          <p:nvPr/>
        </p:nvSpPr>
        <p:spPr>
          <a:xfrm>
            <a:off x="10405872" y="3046566"/>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3,779</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05" name="Shape 103"/>
          <p:cNvSpPr/>
          <p:nvPr/>
        </p:nvSpPr>
        <p:spPr>
          <a:xfrm>
            <a:off x="8531352" y="3351233"/>
            <a:ext cx="126470" cy="110352"/>
          </a:xfrm>
          <a:prstGeom prst="rect">
            <a:avLst/>
          </a:prstGeom>
          <a:solidFill>
            <a:srgbClr val="2587C5"/>
          </a:solidFill>
          <a:ln/>
        </p:spPr>
      </p:sp>
      <p:sp>
        <p:nvSpPr>
          <p:cNvPr id="106" name="Text 104"/>
          <p:cNvSpPr txBox="1"/>
          <p:nvPr/>
        </p:nvSpPr>
        <p:spPr>
          <a:xfrm>
            <a:off x="10405872" y="328646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3,671</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09" name="Shape 107"/>
          <p:cNvSpPr/>
          <p:nvPr/>
        </p:nvSpPr>
        <p:spPr>
          <a:xfrm>
            <a:off x="8531352" y="3591128"/>
            <a:ext cx="120441" cy="110352"/>
          </a:xfrm>
          <a:prstGeom prst="rect">
            <a:avLst/>
          </a:prstGeom>
          <a:solidFill>
            <a:srgbClr val="2587C5"/>
          </a:solidFill>
          <a:ln/>
        </p:spPr>
      </p:sp>
      <p:sp>
        <p:nvSpPr>
          <p:cNvPr id="110" name="Text 108"/>
          <p:cNvSpPr txBox="1"/>
          <p:nvPr/>
        </p:nvSpPr>
        <p:spPr>
          <a:xfrm>
            <a:off x="10405872" y="3526357"/>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3,496</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13" name="Shape 111"/>
          <p:cNvSpPr/>
          <p:nvPr/>
        </p:nvSpPr>
        <p:spPr>
          <a:xfrm>
            <a:off x="8531352" y="3831024"/>
            <a:ext cx="117203" cy="110352"/>
          </a:xfrm>
          <a:prstGeom prst="rect">
            <a:avLst/>
          </a:prstGeom>
          <a:solidFill>
            <a:srgbClr val="2587C5"/>
          </a:solidFill>
          <a:ln/>
        </p:spPr>
      </p:sp>
      <p:sp>
        <p:nvSpPr>
          <p:cNvPr id="114" name="Text 112"/>
          <p:cNvSpPr txBox="1"/>
          <p:nvPr/>
        </p:nvSpPr>
        <p:spPr>
          <a:xfrm>
            <a:off x="10405872" y="3766252"/>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3,402</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17" name="Shape 115"/>
          <p:cNvSpPr/>
          <p:nvPr/>
        </p:nvSpPr>
        <p:spPr>
          <a:xfrm>
            <a:off x="8531352" y="4070920"/>
            <a:ext cx="115377" cy="110352"/>
          </a:xfrm>
          <a:prstGeom prst="rect">
            <a:avLst/>
          </a:prstGeom>
          <a:solidFill>
            <a:srgbClr val="2587C5"/>
          </a:solidFill>
          <a:ln/>
        </p:spPr>
      </p:sp>
      <p:sp>
        <p:nvSpPr>
          <p:cNvPr id="118" name="Text 116"/>
          <p:cNvSpPr txBox="1"/>
          <p:nvPr/>
        </p:nvSpPr>
        <p:spPr>
          <a:xfrm>
            <a:off x="10405872" y="4006148"/>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3,349</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21" name="Shape 119"/>
          <p:cNvSpPr/>
          <p:nvPr/>
        </p:nvSpPr>
        <p:spPr>
          <a:xfrm>
            <a:off x="8531352" y="4310815"/>
            <a:ext cx="107039" cy="110352"/>
          </a:xfrm>
          <a:prstGeom prst="rect">
            <a:avLst/>
          </a:prstGeom>
          <a:solidFill>
            <a:srgbClr val="2587C5"/>
          </a:solidFill>
          <a:ln/>
        </p:spPr>
      </p:sp>
      <p:sp>
        <p:nvSpPr>
          <p:cNvPr id="122" name="Text 120"/>
          <p:cNvSpPr txBox="1"/>
          <p:nvPr/>
        </p:nvSpPr>
        <p:spPr>
          <a:xfrm>
            <a:off x="10405872" y="4246043"/>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3,107</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25" name="Shape 123"/>
          <p:cNvSpPr/>
          <p:nvPr/>
        </p:nvSpPr>
        <p:spPr>
          <a:xfrm>
            <a:off x="8531352" y="4550711"/>
            <a:ext cx="90606" cy="110352"/>
          </a:xfrm>
          <a:prstGeom prst="rect">
            <a:avLst/>
          </a:prstGeom>
          <a:solidFill>
            <a:srgbClr val="2587C5"/>
          </a:solidFill>
          <a:ln/>
        </p:spPr>
      </p:sp>
      <p:sp>
        <p:nvSpPr>
          <p:cNvPr id="126" name="Text 124"/>
          <p:cNvSpPr txBox="1"/>
          <p:nvPr/>
        </p:nvSpPr>
        <p:spPr>
          <a:xfrm>
            <a:off x="10405872" y="4485939"/>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2,630</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29" name="Shape 127"/>
          <p:cNvSpPr/>
          <p:nvPr/>
        </p:nvSpPr>
        <p:spPr>
          <a:xfrm>
            <a:off x="8531352" y="4790606"/>
            <a:ext cx="69247" cy="110352"/>
          </a:xfrm>
          <a:prstGeom prst="rect">
            <a:avLst/>
          </a:prstGeom>
          <a:solidFill>
            <a:srgbClr val="2587C5"/>
          </a:solidFill>
          <a:ln/>
        </p:spPr>
      </p:sp>
      <p:sp>
        <p:nvSpPr>
          <p:cNvPr id="130" name="Text 128"/>
          <p:cNvSpPr txBox="1"/>
          <p:nvPr/>
        </p:nvSpPr>
        <p:spPr>
          <a:xfrm>
            <a:off x="10405872" y="4725834"/>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2,010</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3" name="Shape 131"/>
          <p:cNvSpPr/>
          <p:nvPr/>
        </p:nvSpPr>
        <p:spPr>
          <a:xfrm>
            <a:off x="8531352" y="5030502"/>
            <a:ext cx="66112" cy="110352"/>
          </a:xfrm>
          <a:prstGeom prst="rect">
            <a:avLst/>
          </a:prstGeom>
          <a:solidFill>
            <a:srgbClr val="2587C5"/>
          </a:solidFill>
          <a:ln/>
        </p:spPr>
      </p:sp>
      <p:sp>
        <p:nvSpPr>
          <p:cNvPr id="134" name="Text 132"/>
          <p:cNvSpPr txBox="1"/>
          <p:nvPr/>
        </p:nvSpPr>
        <p:spPr>
          <a:xfrm>
            <a:off x="10405872" y="4965730"/>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1,919</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37" name="Shape 135"/>
          <p:cNvSpPr/>
          <p:nvPr/>
        </p:nvSpPr>
        <p:spPr>
          <a:xfrm>
            <a:off x="8531352" y="5270397"/>
            <a:ext cx="53709" cy="110352"/>
          </a:xfrm>
          <a:prstGeom prst="rect">
            <a:avLst/>
          </a:prstGeom>
          <a:solidFill>
            <a:srgbClr val="2587C5"/>
          </a:solidFill>
          <a:ln/>
        </p:spPr>
      </p:sp>
      <p:sp>
        <p:nvSpPr>
          <p:cNvPr id="138" name="Text 136"/>
          <p:cNvSpPr txBox="1"/>
          <p:nvPr/>
        </p:nvSpPr>
        <p:spPr>
          <a:xfrm>
            <a:off x="10405872" y="5205625"/>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1,559</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41" name="Shape 139"/>
          <p:cNvSpPr/>
          <p:nvPr/>
        </p:nvSpPr>
        <p:spPr>
          <a:xfrm>
            <a:off x="8531352" y="5510293"/>
            <a:ext cx="48955" cy="110352"/>
          </a:xfrm>
          <a:prstGeom prst="rect">
            <a:avLst/>
          </a:prstGeom>
          <a:solidFill>
            <a:srgbClr val="2587C5"/>
          </a:solidFill>
          <a:ln/>
        </p:spPr>
      </p:sp>
      <p:sp>
        <p:nvSpPr>
          <p:cNvPr id="142" name="Text 140"/>
          <p:cNvSpPr txBox="1"/>
          <p:nvPr/>
        </p:nvSpPr>
        <p:spPr>
          <a:xfrm>
            <a:off x="10405872" y="5445521"/>
            <a:ext cx="1097280" cy="239896"/>
          </a:xfrm>
          <a:prstGeom prst="rect">
            <a:avLst/>
          </a:prstGeom>
          <a:noFill/>
          <a:ln/>
        </p:spPr>
        <p:txBody>
          <a:bodyPr wrap="square" lIns="0" tIns="0" rIns="0" bIns="0" rtlCol="0" anchor="ctr"/>
          <a:lstStyle/>
          <a:p>
            <a:pPr algn="r" indent="0" marL="0">
              <a:buNone/>
            </a:pPr>
            <a:r>
              <a:rPr lang="en-US" sz="1200" dirty="0">
                <a:solidFill>
                  <a:srgbClr val="1A1A1A"/>
                </a:solidFill>
                <a:latin typeface="Inter" pitchFamily="34" charset="0"/>
                <a:ea typeface="Inter" pitchFamily="34" charset="-122"/>
                <a:cs typeface="Inter" pitchFamily="34" charset="-120"/>
              </a:rPr>
              <a:t>1,421</a:t>
            </a:r>
            <a:endParaRPr lang="en-US" sz="1200" dirty="0"/>
          </a:p>
        </p:txBody>
      </p:sp>
      <p:sp>
        <p:nvSpPr>
          <p:cNvPr id="143" name="Shape 141"/>
          <p:cNvSpPr/>
          <p:nvPr/>
        </p:nvSpPr>
        <p:spPr>
          <a:xfrm>
            <a:off x="6085332" y="1847088"/>
            <a:ext cx="10973" cy="4078224"/>
          </a:xfrm>
          <a:prstGeom prst="rect">
            <a:avLst/>
          </a:prstGeom>
          <a:solidFill>
            <a:srgbClr val="D9D9D9"/>
          </a:solidFill>
          <a:ln/>
        </p:spPr>
      </p:sp>
      <p:sp>
        <p:nvSpPr>
          <p:cNvPr id="144" name="Shape 142"/>
          <p:cNvSpPr/>
          <p:nvPr/>
        </p:nvSpPr>
        <p:spPr>
          <a:xfrm>
            <a:off x="457200" y="6126480"/>
            <a:ext cx="11274552" cy="371856"/>
          </a:xfrm>
          <a:prstGeom prst="rect">
            <a:avLst/>
          </a:prstGeom>
          <a:solidFill>
            <a:srgbClr val="EDF4FA"/>
          </a:solidFill>
          <a:ln/>
        </p:spPr>
      </p:sp>
      <p:sp>
        <p:nvSpPr>
          <p:cNvPr id="145" name="Text 143"/>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Toyota Henderson leads at 53,084; LR Reno is smallest at 1,421.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RO COUNT</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+0.2%</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3" name="Shape 11"/>
          <p:cNvSpPr/>
          <p:nvPr/>
        </p:nvSpPr>
        <p:spPr>
          <a:xfrm>
            <a:off x="3785616" y="1911860"/>
            <a:ext cx="719477"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+13.7%</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7" name="Shape 15"/>
          <p:cNvSpPr/>
          <p:nvPr/>
        </p:nvSpPr>
        <p:spPr>
          <a:xfrm>
            <a:off x="3785616" y="2151755"/>
            <a:ext cx="667584"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+12.7%</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21" name="Shape 19"/>
          <p:cNvSpPr/>
          <p:nvPr/>
        </p:nvSpPr>
        <p:spPr>
          <a:xfrm>
            <a:off x="3785616" y="2391651"/>
            <a:ext cx="556984"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+10.6%</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25" name="Shape 23"/>
          <p:cNvSpPr/>
          <p:nvPr/>
        </p:nvSpPr>
        <p:spPr>
          <a:xfrm>
            <a:off x="3785616" y="2631546"/>
            <a:ext cx="534085"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+10.1%</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9" name="Shape 27"/>
          <p:cNvSpPr/>
          <p:nvPr/>
        </p:nvSpPr>
        <p:spPr>
          <a:xfrm>
            <a:off x="3785616" y="2871442"/>
            <a:ext cx="477233"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+9.1%</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33" name="Shape 31"/>
          <p:cNvSpPr/>
          <p:nvPr/>
        </p:nvSpPr>
        <p:spPr>
          <a:xfrm>
            <a:off x="3785616" y="3111337"/>
            <a:ext cx="408191"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+7.7%</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37" name="Shape 35"/>
          <p:cNvSpPr/>
          <p:nvPr/>
        </p:nvSpPr>
        <p:spPr>
          <a:xfrm>
            <a:off x="3785616" y="3351233"/>
            <a:ext cx="324532"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+6.2%</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41" name="Shape 39"/>
          <p:cNvSpPr/>
          <p:nvPr/>
        </p:nvSpPr>
        <p:spPr>
          <a:xfrm>
            <a:off x="3785616" y="3591128"/>
            <a:ext cx="293194"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+5.6%</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5" name="Shape 43"/>
          <p:cNvSpPr/>
          <p:nvPr/>
        </p:nvSpPr>
        <p:spPr>
          <a:xfrm>
            <a:off x="3785616" y="3831024"/>
            <a:ext cx="193177"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+3.7%</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49" name="Shape 47"/>
          <p:cNvSpPr/>
          <p:nvPr/>
        </p:nvSpPr>
        <p:spPr>
          <a:xfrm>
            <a:off x="3785616" y="4070920"/>
            <a:ext cx="183237"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+3.5%</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53" name="Shape 51"/>
          <p:cNvSpPr/>
          <p:nvPr/>
        </p:nvSpPr>
        <p:spPr>
          <a:xfrm>
            <a:off x="3785616" y="4310815"/>
            <a:ext cx="181766"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+3.4%</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57" name="Shape 55"/>
          <p:cNvSpPr/>
          <p:nvPr/>
        </p:nvSpPr>
        <p:spPr>
          <a:xfrm>
            <a:off x="3785616" y="4550711"/>
            <a:ext cx="171810"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61" name="Shape 59"/>
          <p:cNvSpPr/>
          <p:nvPr/>
        </p:nvSpPr>
        <p:spPr>
          <a:xfrm>
            <a:off x="3785616" y="4790606"/>
            <a:ext cx="138652"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+2.6%</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65" name="Shape 63"/>
          <p:cNvSpPr/>
          <p:nvPr/>
        </p:nvSpPr>
        <p:spPr>
          <a:xfrm>
            <a:off x="3785616" y="5030502"/>
            <a:ext cx="136074"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+2.6%</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69" name="Shape 67"/>
          <p:cNvSpPr/>
          <p:nvPr/>
        </p:nvSpPr>
        <p:spPr>
          <a:xfrm>
            <a:off x="3785616" y="5270397"/>
            <a:ext cx="125504"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+2.4%</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73" name="Shape 71"/>
          <p:cNvSpPr/>
          <p:nvPr/>
        </p:nvSpPr>
        <p:spPr>
          <a:xfrm>
            <a:off x="3785616" y="5510293"/>
            <a:ext cx="89377"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77" name="Shape 75"/>
          <p:cNvSpPr/>
          <p:nvPr/>
        </p:nvSpPr>
        <p:spPr>
          <a:xfrm>
            <a:off x="3785616" y="5750188"/>
            <a:ext cx="77273"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81" name="Shape 79"/>
          <p:cNvSpPr/>
          <p:nvPr/>
        </p:nvSpPr>
        <p:spPr>
          <a:xfrm>
            <a:off x="9336024" y="1911860"/>
            <a:ext cx="72232"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85" name="Shape 83"/>
          <p:cNvSpPr/>
          <p:nvPr/>
        </p:nvSpPr>
        <p:spPr>
          <a:xfrm>
            <a:off x="9336024" y="2151755"/>
            <a:ext cx="12802"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89" name="Shape 87"/>
          <p:cNvSpPr/>
          <p:nvPr/>
        </p:nvSpPr>
        <p:spPr>
          <a:xfrm>
            <a:off x="9336024" y="2391651"/>
            <a:ext cx="12802"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+0.1%</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93" name="Shape 91"/>
          <p:cNvSpPr/>
          <p:nvPr/>
        </p:nvSpPr>
        <p:spPr>
          <a:xfrm>
            <a:off x="9331930" y="2631546"/>
            <a:ext cx="12802" cy="110352"/>
          </a:xfrm>
          <a:prstGeom prst="rect">
            <a:avLst/>
          </a:prstGeom>
          <a:solidFill>
            <a:srgbClr val="C2352F"/>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−0.1%</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97" name="Shape 95"/>
          <p:cNvSpPr/>
          <p:nvPr/>
        </p:nvSpPr>
        <p:spPr>
          <a:xfrm>
            <a:off x="9304957" y="2871442"/>
            <a:ext cx="31067" cy="110352"/>
          </a:xfrm>
          <a:prstGeom prst="rect">
            <a:avLst/>
          </a:prstGeom>
          <a:solidFill>
            <a:srgbClr val="C2352F"/>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−0.6%</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01" name="Shape 99"/>
          <p:cNvSpPr/>
          <p:nvPr/>
        </p:nvSpPr>
        <p:spPr>
          <a:xfrm>
            <a:off x="9297085" y="3111337"/>
            <a:ext cx="38939" cy="110352"/>
          </a:xfrm>
          <a:prstGeom prst="rect">
            <a:avLst/>
          </a:prstGeom>
          <a:solidFill>
            <a:srgbClr val="C2352F"/>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−0.7%</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05" name="Shape 103"/>
          <p:cNvSpPr/>
          <p:nvPr/>
        </p:nvSpPr>
        <p:spPr>
          <a:xfrm>
            <a:off x="9291949" y="3351233"/>
            <a:ext cx="44075"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−0.8%</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09" name="Shape 107"/>
          <p:cNvSpPr/>
          <p:nvPr/>
        </p:nvSpPr>
        <p:spPr>
          <a:xfrm>
            <a:off x="9131973" y="3591128"/>
            <a:ext cx="204051"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−3.9%</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13" name="Shape 111"/>
          <p:cNvSpPr/>
          <p:nvPr/>
        </p:nvSpPr>
        <p:spPr>
          <a:xfrm>
            <a:off x="9090966" y="3831024"/>
            <a:ext cx="245058"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−4.7%</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17" name="Shape 115"/>
          <p:cNvSpPr/>
          <p:nvPr/>
        </p:nvSpPr>
        <p:spPr>
          <a:xfrm>
            <a:off x="9076977" y="4070920"/>
            <a:ext cx="259047"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−4.9%</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21" name="Shape 119"/>
          <p:cNvSpPr/>
          <p:nvPr/>
        </p:nvSpPr>
        <p:spPr>
          <a:xfrm>
            <a:off x="9029931" y="4310815"/>
            <a:ext cx="306093"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−5.8%</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25" name="Shape 123"/>
          <p:cNvSpPr/>
          <p:nvPr/>
        </p:nvSpPr>
        <p:spPr>
          <a:xfrm>
            <a:off x="9013907" y="4550711"/>
            <a:ext cx="322117"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−6.1%</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29" name="Shape 127"/>
          <p:cNvSpPr/>
          <p:nvPr/>
        </p:nvSpPr>
        <p:spPr>
          <a:xfrm>
            <a:off x="8805808" y="4790606"/>
            <a:ext cx="530216"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−10.1%</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33" name="Shape 131"/>
          <p:cNvSpPr/>
          <p:nvPr/>
        </p:nvSpPr>
        <p:spPr>
          <a:xfrm>
            <a:off x="8780043" y="5030502"/>
            <a:ext cx="555981"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−10.6%</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37" name="Shape 135"/>
          <p:cNvSpPr/>
          <p:nvPr/>
        </p:nvSpPr>
        <p:spPr>
          <a:xfrm>
            <a:off x="8730222" y="5270397"/>
            <a:ext cx="605802"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−11.5%</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1" name="Shape 139"/>
          <p:cNvSpPr/>
          <p:nvPr/>
        </p:nvSpPr>
        <p:spPr>
          <a:xfrm>
            <a:off x="8558784" y="5510293"/>
            <a:ext cx="777240"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−14.7%</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615696"/>
          </a:xfrm>
          <a:prstGeom prst="rect">
            <a:avLst/>
          </a:prstGeom>
          <a:solidFill>
            <a:srgbClr val="E6F6EE"/>
          </a:solidFill>
          <a:ln/>
        </p:spPr>
      </p:sp>
      <p:sp>
        <p:nvSpPr>
          <p:cNvPr id="147" name="Text 14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20 of 33 stores grew CP RO count, led by Kia LV at +13.7% to 8,133. 13 declined; VW St George fell most at −14.7%.</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Text 8"/>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7,156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8,133</a:t>
            </a:r>
            <a:endParaRPr lang="en-US" sz="1400" dirty="0"/>
          </a:p>
        </p:txBody>
      </p:sp>
      <p:sp>
        <p:nvSpPr>
          <p:cNvPr id="12" name="Text 10"/>
          <p:cNvSpPr txBox="1"/>
          <p:nvPr/>
        </p:nvSpPr>
        <p:spPr>
          <a:xfrm>
            <a:off x="2941320"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+13.7%</a:t>
            </a:r>
            <a:endParaRPr lang="en-US" sz="1600" dirty="0"/>
          </a:p>
        </p:txBody>
      </p:sp>
      <p:sp>
        <p:nvSpPr>
          <p:cNvPr id="13" name="Text 11"/>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1,784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2,010</a:t>
            </a:r>
            <a:endParaRPr lang="en-US" sz="1400" dirty="0"/>
          </a:p>
        </p:txBody>
      </p:sp>
      <p:sp>
        <p:nvSpPr>
          <p:cNvPr id="15" name="Text 13"/>
          <p:cNvSpPr txBox="1"/>
          <p:nvPr/>
        </p:nvSpPr>
        <p:spPr>
          <a:xfrm>
            <a:off x="2941320"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+12.7%</a:t>
            </a:r>
            <a:endParaRPr lang="en-US" sz="1600" dirty="0"/>
          </a:p>
        </p:txBody>
      </p:sp>
      <p:sp>
        <p:nvSpPr>
          <p:cNvPr id="16" name="Shape 14"/>
          <p:cNvSpPr/>
          <p:nvPr/>
        </p:nvSpPr>
        <p:spPr>
          <a:xfrm>
            <a:off x="658368" y="3613709"/>
            <a:ext cx="3489960" cy="755294"/>
          </a:xfrm>
          <a:prstGeom prst="rect">
            <a:avLst/>
          </a:prstGeom>
          <a:solidFill>
            <a:srgbClr val="F7F7F7"/>
          </a:solidFill>
          <a:ln/>
        </p:spPr>
      </p:sp>
      <p:sp>
        <p:nvSpPr>
          <p:cNvPr id="17" name="Text 15"/>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8" name="Text 16"/>
          <p:cNvSpPr txBox="1"/>
          <p:nvPr/>
        </p:nvSpPr>
        <p:spPr>
          <a:xfrm>
            <a:off x="1097280"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2,810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3,107</a:t>
            </a:r>
            <a:endParaRPr lang="en-US" sz="1400" dirty="0"/>
          </a:p>
        </p:txBody>
      </p:sp>
      <p:sp>
        <p:nvSpPr>
          <p:cNvPr id="19" name="Text 17"/>
          <p:cNvSpPr txBox="1"/>
          <p:nvPr/>
        </p:nvSpPr>
        <p:spPr>
          <a:xfrm>
            <a:off x="2941320"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20" name="Text 18"/>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1" name="Text 19"/>
          <p:cNvSpPr txBox="1"/>
          <p:nvPr/>
        </p:nvSpPr>
        <p:spPr>
          <a:xfrm>
            <a:off x="1097280"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5,042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5,553</a:t>
            </a:r>
            <a:endParaRPr lang="en-US" sz="1400" dirty="0"/>
          </a:p>
        </p:txBody>
      </p:sp>
      <p:sp>
        <p:nvSpPr>
          <p:cNvPr id="22" name="Text 20"/>
          <p:cNvSpPr txBox="1"/>
          <p:nvPr/>
        </p:nvSpPr>
        <p:spPr>
          <a:xfrm>
            <a:off x="2941320"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+10.1%</a:t>
            </a:r>
            <a:endParaRPr lang="en-US" sz="1600" dirty="0"/>
          </a:p>
        </p:txBody>
      </p:sp>
      <p:sp>
        <p:nvSpPr>
          <p:cNvPr id="23" name="Shape 21"/>
          <p:cNvSpPr/>
          <p:nvPr/>
        </p:nvSpPr>
        <p:spPr>
          <a:xfrm>
            <a:off x="658368" y="5124298"/>
            <a:ext cx="3489960" cy="755294"/>
          </a:xfrm>
          <a:prstGeom prst="rect">
            <a:avLst/>
          </a:prstGeom>
          <a:solidFill>
            <a:srgbClr val="F7F7F7"/>
          </a:solidFill>
          <a:ln/>
        </p:spPr>
      </p:sp>
      <p:sp>
        <p:nvSpPr>
          <p:cNvPr id="24" name="Text 22"/>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5" name="Text 23"/>
          <p:cNvSpPr txBox="1"/>
          <p:nvPr/>
        </p:nvSpPr>
        <p:spPr>
          <a:xfrm>
            <a:off x="1097280"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1,303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1,421</a:t>
            </a:r>
            <a:endParaRPr lang="en-US" sz="1400" dirty="0"/>
          </a:p>
        </p:txBody>
      </p:sp>
      <p:sp>
        <p:nvSpPr>
          <p:cNvPr id="26" name="Text 24"/>
          <p:cNvSpPr txBox="1"/>
          <p:nvPr/>
        </p:nvSpPr>
        <p:spPr>
          <a:xfrm>
            <a:off x="2941320"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+9.1%</a:t>
            </a:r>
            <a:endParaRPr lang="en-US" sz="1600" dirty="0"/>
          </a:p>
        </p:txBody>
      </p:sp>
      <p:sp>
        <p:nvSpPr>
          <p:cNvPr id="27" name="Shape 25"/>
          <p:cNvSpPr/>
          <p:nvPr/>
        </p:nvSpPr>
        <p:spPr>
          <a:xfrm>
            <a:off x="4349496" y="1371600"/>
            <a:ext cx="3489960" cy="45720"/>
          </a:xfrm>
          <a:prstGeom prst="rect">
            <a:avLst/>
          </a:prstGeom>
          <a:solidFill>
            <a:srgbClr val="C2352F"/>
          </a:solidFill>
          <a:ln/>
        </p:spPr>
      </p:sp>
      <p:sp>
        <p:nvSpPr>
          <p:cNvPr id="28"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29" name="Text 27"/>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30" name="Shape 28"/>
          <p:cNvSpPr/>
          <p:nvPr/>
        </p:nvSpPr>
        <p:spPr>
          <a:xfrm>
            <a:off x="4349496" y="2103120"/>
            <a:ext cx="3489960" cy="755294"/>
          </a:xfrm>
          <a:prstGeom prst="rect">
            <a:avLst/>
          </a:prstGeom>
          <a:solidFill>
            <a:srgbClr val="F7F7F7"/>
          </a:solidFill>
          <a:ln/>
        </p:spPr>
      </p:sp>
      <p:sp>
        <p:nvSpPr>
          <p:cNvPr id="31" name="Text 29"/>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2" name="Text 30"/>
          <p:cNvSpPr txBox="1"/>
          <p:nvPr/>
        </p:nvSpPr>
        <p:spPr>
          <a:xfrm>
            <a:off x="4788408"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2,251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1,919</a:t>
            </a:r>
            <a:endParaRPr lang="en-US" sz="1400" dirty="0"/>
          </a:p>
        </p:txBody>
      </p:sp>
      <p:sp>
        <p:nvSpPr>
          <p:cNvPr id="33" name="Text 31"/>
          <p:cNvSpPr txBox="1"/>
          <p:nvPr/>
        </p:nvSpPr>
        <p:spPr>
          <a:xfrm>
            <a:off x="6632448" y="2103120"/>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−14.7%</a:t>
            </a:r>
            <a:endParaRPr lang="en-US" sz="1600" dirty="0"/>
          </a:p>
        </p:txBody>
      </p:sp>
      <p:sp>
        <p:nvSpPr>
          <p:cNvPr id="34" name="Text 32"/>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5" name="Text 33"/>
          <p:cNvSpPr txBox="1"/>
          <p:nvPr/>
        </p:nvSpPr>
        <p:spPr>
          <a:xfrm>
            <a:off x="4788408"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3,784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3,349</a:t>
            </a:r>
            <a:endParaRPr lang="en-US" sz="1400" dirty="0"/>
          </a:p>
        </p:txBody>
      </p:sp>
      <p:sp>
        <p:nvSpPr>
          <p:cNvPr id="36" name="Text 34"/>
          <p:cNvSpPr txBox="1"/>
          <p:nvPr/>
        </p:nvSpPr>
        <p:spPr>
          <a:xfrm>
            <a:off x="6632448" y="2858414"/>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−11.5%</a:t>
            </a:r>
            <a:endParaRPr lang="en-US" sz="1600" dirty="0"/>
          </a:p>
        </p:txBody>
      </p:sp>
      <p:sp>
        <p:nvSpPr>
          <p:cNvPr id="37" name="Shape 35"/>
          <p:cNvSpPr/>
          <p:nvPr/>
        </p:nvSpPr>
        <p:spPr>
          <a:xfrm>
            <a:off x="4349496" y="3613709"/>
            <a:ext cx="3489960" cy="755294"/>
          </a:xfrm>
          <a:prstGeom prst="rect">
            <a:avLst/>
          </a:prstGeom>
          <a:solidFill>
            <a:srgbClr val="F7F7F7"/>
          </a:solidFill>
          <a:ln/>
        </p:spPr>
      </p:sp>
      <p:sp>
        <p:nvSpPr>
          <p:cNvPr id="38" name="Text 36"/>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39" name="Text 37"/>
          <p:cNvSpPr txBox="1"/>
          <p:nvPr/>
        </p:nvSpPr>
        <p:spPr>
          <a:xfrm>
            <a:off x="4788408"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4,379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3,917</a:t>
            </a:r>
            <a:endParaRPr lang="en-US" sz="1400" dirty="0"/>
          </a:p>
        </p:txBody>
      </p:sp>
      <p:sp>
        <p:nvSpPr>
          <p:cNvPr id="40" name="Text 38"/>
          <p:cNvSpPr txBox="1"/>
          <p:nvPr/>
        </p:nvSpPr>
        <p:spPr>
          <a:xfrm>
            <a:off x="6632448" y="3613709"/>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−10.6%</a:t>
            </a:r>
            <a:endParaRPr lang="en-US" sz="1600" dirty="0"/>
          </a:p>
        </p:txBody>
      </p:sp>
      <p:sp>
        <p:nvSpPr>
          <p:cNvPr id="41" name="Text 39"/>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2" name="Text 40"/>
          <p:cNvSpPr txBox="1"/>
          <p:nvPr/>
        </p:nvSpPr>
        <p:spPr>
          <a:xfrm>
            <a:off x="4788408"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9,929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8,930</a:t>
            </a:r>
            <a:endParaRPr lang="en-US" sz="1400" dirty="0"/>
          </a:p>
        </p:txBody>
      </p:sp>
      <p:sp>
        <p:nvSpPr>
          <p:cNvPr id="43" name="Text 41"/>
          <p:cNvSpPr txBox="1"/>
          <p:nvPr/>
        </p:nvSpPr>
        <p:spPr>
          <a:xfrm>
            <a:off x="6632448" y="4369003"/>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−10.1%</a:t>
            </a:r>
            <a:endParaRPr lang="en-US" sz="1600" dirty="0"/>
          </a:p>
        </p:txBody>
      </p:sp>
      <p:sp>
        <p:nvSpPr>
          <p:cNvPr id="44" name="Shape 42"/>
          <p:cNvSpPr/>
          <p:nvPr/>
        </p:nvSpPr>
        <p:spPr>
          <a:xfrm>
            <a:off x="4349496" y="5124298"/>
            <a:ext cx="3489960" cy="755294"/>
          </a:xfrm>
          <a:prstGeom prst="rect">
            <a:avLst/>
          </a:prstGeom>
          <a:solidFill>
            <a:srgbClr val="F7F7F7"/>
          </a:solidFill>
          <a:ln/>
        </p:spPr>
      </p:sp>
      <p:sp>
        <p:nvSpPr>
          <p:cNvPr id="45" name="Text 43"/>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6" name="Text 44"/>
          <p:cNvSpPr txBox="1"/>
          <p:nvPr/>
        </p:nvSpPr>
        <p:spPr>
          <a:xfrm>
            <a:off x="4788408"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3,910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3,671</a:t>
            </a:r>
            <a:endParaRPr lang="en-US" sz="1400" dirty="0"/>
          </a:p>
        </p:txBody>
      </p:sp>
      <p:sp>
        <p:nvSpPr>
          <p:cNvPr id="47" name="Text 45"/>
          <p:cNvSpPr txBox="1"/>
          <p:nvPr/>
        </p:nvSpPr>
        <p:spPr>
          <a:xfrm>
            <a:off x="6632448" y="5124298"/>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−6.1%</a:t>
            </a:r>
            <a:endParaRPr lang="en-US" sz="1600" dirty="0"/>
          </a:p>
        </p:txBody>
      </p:sp>
      <p:sp>
        <p:nvSpPr>
          <p:cNvPr id="48" name="Shape 46"/>
          <p:cNvSpPr/>
          <p:nvPr/>
        </p:nvSpPr>
        <p:spPr>
          <a:xfrm>
            <a:off x="8040624" y="1371600"/>
            <a:ext cx="3489960" cy="45720"/>
          </a:xfrm>
          <a:prstGeom prst="rect">
            <a:avLst/>
          </a:prstGeom>
          <a:solidFill>
            <a:srgbClr val="2587C5"/>
          </a:solidFill>
          <a:ln/>
        </p:spPr>
      </p:sp>
      <p:sp>
        <p:nvSpPr>
          <p:cNvPr id="49" name="Text 4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0" name="Text 48"/>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 per month</a:t>
            </a:r>
            <a:endParaRPr lang="en-US" sz="1200" dirty="0"/>
          </a:p>
        </p:txBody>
      </p:sp>
      <p:sp>
        <p:nvSpPr>
          <p:cNvPr id="51" name="Shape 49"/>
          <p:cNvSpPr/>
          <p:nvPr/>
        </p:nvSpPr>
        <p:spPr>
          <a:xfrm>
            <a:off x="8040624" y="2103120"/>
            <a:ext cx="3489960" cy="755294"/>
          </a:xfrm>
          <a:prstGeom prst="rect">
            <a:avLst/>
          </a:prstGeom>
          <a:solidFill>
            <a:srgbClr val="F7F7F7"/>
          </a:solidFill>
          <a:ln/>
        </p:spPr>
      </p:sp>
      <p:sp>
        <p:nvSpPr>
          <p:cNvPr id="52" name="Text 50"/>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3" name="Text 51"/>
          <p:cNvSpPr txBox="1"/>
          <p:nvPr/>
        </p:nvSpPr>
        <p:spPr>
          <a:xfrm>
            <a:off x="8479536"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570</a:t>
            </a:r>
            <a:endParaRPr lang="en-US" sz="1400" dirty="0"/>
          </a:p>
        </p:txBody>
      </p:sp>
      <p:sp>
        <p:nvSpPr>
          <p:cNvPr id="54" name="Text 52"/>
          <p:cNvSpPr txBox="1"/>
          <p:nvPr/>
        </p:nvSpPr>
        <p:spPr>
          <a:xfrm>
            <a:off x="10323576"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+34.0%</a:t>
            </a:r>
            <a:endParaRPr lang="en-US" sz="1600" dirty="0"/>
          </a:p>
        </p:txBody>
      </p:sp>
      <p:sp>
        <p:nvSpPr>
          <p:cNvPr id="55" name="Text 53"/>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6" name="Text 54"/>
          <p:cNvSpPr txBox="1"/>
          <p:nvPr/>
        </p:nvSpPr>
        <p:spPr>
          <a:xfrm>
            <a:off x="8479536"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543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667</a:t>
            </a:r>
            <a:endParaRPr lang="en-US" sz="1400" dirty="0"/>
          </a:p>
        </p:txBody>
      </p:sp>
      <p:sp>
        <p:nvSpPr>
          <p:cNvPr id="57" name="Text 55"/>
          <p:cNvSpPr txBox="1"/>
          <p:nvPr/>
        </p:nvSpPr>
        <p:spPr>
          <a:xfrm>
            <a:off x="10323576"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+22.8%</a:t>
            </a:r>
            <a:endParaRPr lang="en-US" sz="1600" dirty="0"/>
          </a:p>
        </p:txBody>
      </p:sp>
      <p:sp>
        <p:nvSpPr>
          <p:cNvPr id="58" name="Shape 56"/>
          <p:cNvSpPr/>
          <p:nvPr/>
        </p:nvSpPr>
        <p:spPr>
          <a:xfrm>
            <a:off x="8040624" y="3613709"/>
            <a:ext cx="3489960" cy="755294"/>
          </a:xfrm>
          <a:prstGeom prst="rect">
            <a:avLst/>
          </a:prstGeom>
          <a:solidFill>
            <a:srgbClr val="F7F7F7"/>
          </a:solidFill>
          <a:ln/>
        </p:spPr>
      </p:sp>
      <p:sp>
        <p:nvSpPr>
          <p:cNvPr id="59" name="Text 57"/>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0" name="Text 58"/>
          <p:cNvSpPr txBox="1"/>
          <p:nvPr/>
        </p:nvSpPr>
        <p:spPr>
          <a:xfrm>
            <a:off x="8479536"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415</a:t>
            </a:r>
            <a:endParaRPr lang="en-US" sz="1400" dirty="0"/>
          </a:p>
        </p:txBody>
      </p:sp>
      <p:sp>
        <p:nvSpPr>
          <p:cNvPr id="61" name="Text 59"/>
          <p:cNvSpPr txBox="1"/>
          <p:nvPr/>
        </p:nvSpPr>
        <p:spPr>
          <a:xfrm>
            <a:off x="10323576"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+18.7%</a:t>
            </a:r>
            <a:endParaRPr lang="en-US" sz="1600" dirty="0"/>
          </a:p>
        </p:txBody>
      </p:sp>
      <p:sp>
        <p:nvSpPr>
          <p:cNvPr id="62" name="Text 60"/>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3" name="Text 61"/>
          <p:cNvSpPr txBox="1"/>
          <p:nvPr/>
        </p:nvSpPr>
        <p:spPr>
          <a:xfrm>
            <a:off x="8479536"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669</a:t>
            </a:r>
            <a:endParaRPr lang="en-US" sz="1400" dirty="0"/>
          </a:p>
        </p:txBody>
      </p:sp>
      <p:sp>
        <p:nvSpPr>
          <p:cNvPr id="64" name="Text 62"/>
          <p:cNvSpPr txBox="1"/>
          <p:nvPr/>
        </p:nvSpPr>
        <p:spPr>
          <a:xfrm>
            <a:off x="10323576"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+15.8%</a:t>
            </a:r>
            <a:endParaRPr lang="en-US" sz="1600" dirty="0"/>
          </a:p>
        </p:txBody>
      </p:sp>
      <p:sp>
        <p:nvSpPr>
          <p:cNvPr id="65" name="Shape 63"/>
          <p:cNvSpPr/>
          <p:nvPr/>
        </p:nvSpPr>
        <p:spPr>
          <a:xfrm>
            <a:off x="8040624" y="5124298"/>
            <a:ext cx="3489960" cy="755294"/>
          </a:xfrm>
          <a:prstGeom prst="rect">
            <a:avLst/>
          </a:prstGeom>
          <a:solidFill>
            <a:srgbClr val="F7F7F7"/>
          </a:solidFill>
          <a:ln/>
        </p:spPr>
      </p:sp>
      <p:sp>
        <p:nvSpPr>
          <p:cNvPr id="66" name="Text 64"/>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7" name="Text 65"/>
          <p:cNvSpPr txBox="1"/>
          <p:nvPr/>
        </p:nvSpPr>
        <p:spPr>
          <a:xfrm>
            <a:off x="8479536"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459</a:t>
            </a:r>
            <a:endParaRPr lang="en-US" sz="1400" dirty="0"/>
          </a:p>
        </p:txBody>
      </p:sp>
      <p:sp>
        <p:nvSpPr>
          <p:cNvPr id="68" name="Text 66"/>
          <p:cNvSpPr txBox="1"/>
          <p:nvPr/>
        </p:nvSpPr>
        <p:spPr>
          <a:xfrm>
            <a:off x="10323576"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+15.5%</a:t>
            </a:r>
            <a:endParaRPr lang="en-US" sz="1600" dirty="0"/>
          </a:p>
        </p:txBody>
      </p:sp>
      <p:sp>
        <p:nvSpPr>
          <p:cNvPr id="69" name="Shape 67"/>
          <p:cNvSpPr/>
          <p:nvPr/>
        </p:nvSpPr>
        <p:spPr>
          <a:xfrm>
            <a:off x="457200" y="6126480"/>
            <a:ext cx="11274552" cy="615696"/>
          </a:xfrm>
          <a:prstGeom prst="rect">
            <a:avLst/>
          </a:prstGeom>
          <a:solidFill>
            <a:srgbClr val="EDF4FA"/>
          </a:solidFill>
          <a:ln/>
        </p:spPr>
      </p:sp>
      <p:sp>
        <p:nvSpPr>
          <p:cNvPr id="70" name="Text 6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Ask Kia LV, Hyundai Prescott and GMC Prescott what changed. Ask VW St George, Hyundai St George and Audi Reno what got in the way. Ask Lexus, CDJR Post Falls and LR LV what they started this year.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1.80</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1.87</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+0.07</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+3.6%</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Hours per RO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sp>
        <p:nvSpPr>
          <p:cNvPr id="21" name="Shape 15"/>
          <p:cNvSpPr/>
          <p:nvPr/>
        </p:nvSpPr>
        <p:spPr>
          <a:xfrm>
            <a:off x="4951476" y="3049524"/>
            <a:ext cx="310896" cy="45720"/>
          </a:xfrm>
          <a:prstGeom prst="rect">
            <a:avLst/>
          </a:prstGeom>
          <a:solidFill>
            <a:srgbClr val="9AA3AD"/>
          </a:solidFill>
          <a:ln/>
        </p:spPr>
      </p:sp>
      <p:sp>
        <p:nvSpPr>
          <p:cNvPr id="22" name="Shape 16"/>
          <p:cNvSpPr/>
          <p:nvPr/>
        </p:nvSpPr>
        <p:spPr>
          <a:xfrm>
            <a:off x="5052060" y="3017520"/>
            <a:ext cx="109728" cy="109728"/>
          </a:xfrm>
          <a:prstGeom prst="ellipse">
            <a:avLst/>
          </a:prstGeom>
          <a:solidFill>
            <a:srgbClr val="9AA3AD"/>
          </a:solidFill>
          <a:ln/>
        </p:spPr>
      </p:sp>
      <p:sp>
        <p:nvSpPr>
          <p:cNvPr id="23"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4" name="Shape 18"/>
          <p:cNvSpPr/>
          <p:nvPr/>
        </p:nvSpPr>
        <p:spPr>
          <a:xfrm>
            <a:off x="6185916" y="3049524"/>
            <a:ext cx="310896" cy="45720"/>
          </a:xfrm>
          <a:prstGeom prst="rect">
            <a:avLst/>
          </a:prstGeom>
          <a:solidFill>
            <a:srgbClr val="2587C5"/>
          </a:solidFill>
          <a:ln/>
        </p:spPr>
      </p:sp>
      <p:sp>
        <p:nvSpPr>
          <p:cNvPr id="25" name="Shape 19"/>
          <p:cNvSpPr/>
          <p:nvPr/>
        </p:nvSpPr>
        <p:spPr>
          <a:xfrm>
            <a:off x="6286500" y="3017520"/>
            <a:ext cx="109728" cy="109728"/>
          </a:xfrm>
          <a:prstGeom prst="ellipse">
            <a:avLst/>
          </a:prstGeom>
          <a:solidFill>
            <a:srgbClr val="2587C5"/>
          </a:solidFill>
          <a:ln/>
        </p:spPr>
      </p:sp>
      <p:sp>
        <p:nvSpPr>
          <p:cNvPr id="26"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7" name="Shape 21"/>
          <p:cNvSpPr/>
          <p:nvPr/>
        </p:nvSpPr>
        <p:spPr>
          <a:xfrm>
            <a:off x="457200" y="6126480"/>
            <a:ext cx="11274552" cy="615696"/>
          </a:xfrm>
          <a:prstGeom prst="rect">
            <a:avLst/>
          </a:prstGeom>
          <a:solidFill>
            <a:srgbClr val="E6F6EE"/>
          </a:solidFill>
          <a:ln/>
        </p:spPr>
      </p:sp>
      <p:sp>
        <p:nvSpPr>
          <p:cNvPr id="28" name="Text 22"/>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0.07 to 1.87, ahead of 2025 in all nine months. Each 0.1 hour per RO is worth $4,543,691 of labor at the 2026 ELR.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HOURS PER RO</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1.87</a:t>
            </a:r>
            <a:endParaRPr lang="en-US" sz="2000" dirty="0"/>
          </a:p>
        </p:txBody>
      </p:sp>
      <p:sp>
        <p:nvSpPr>
          <p:cNvPr id="11" name="Text 9"/>
          <p:cNvSpPr txBox="1"/>
          <p:nvPr/>
        </p:nvSpPr>
        <p:spPr>
          <a:xfrm>
            <a:off x="859536" y="1847088"/>
            <a:ext cx="10607040" cy="2743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Each segment ranked on its own. Navy line = each segment's average; green at or above it.</a:t>
            </a:r>
            <a:endParaRPr lang="en-US" sz="1400" dirty="0"/>
          </a:p>
        </p:txBody>
      </p:sp>
      <p:sp>
        <p:nvSpPr>
          <p:cNvPr id="12" name="Text 10"/>
          <p:cNvSpPr txBox="1"/>
          <p:nvPr/>
        </p:nvSpPr>
        <p:spPr>
          <a:xfrm>
            <a:off x="658368" y="2176272"/>
            <a:ext cx="5303520" cy="208280"/>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LUXURY · AVERAGE 2.90</a:t>
            </a:r>
            <a:endParaRPr lang="en-US" sz="1300" dirty="0"/>
          </a:p>
        </p:txBody>
      </p:sp>
      <p:sp>
        <p:nvSpPr>
          <p:cNvPr id="13" name="Shape 11"/>
          <p:cNvSpPr/>
          <p:nvPr/>
        </p:nvSpPr>
        <p:spPr>
          <a:xfrm>
            <a:off x="658368" y="2366264"/>
            <a:ext cx="5303520" cy="18288"/>
          </a:xfrm>
          <a:prstGeom prst="rect">
            <a:avLst/>
          </a:prstGeom>
          <a:solidFill>
            <a:srgbClr val="0B2C4A"/>
          </a:solidFill>
          <a:ln/>
        </p:spPr>
      </p:sp>
      <p:sp>
        <p:nvSpPr>
          <p:cNvPr id="14" name="Text 12"/>
          <p:cNvSpPr txBox="1"/>
          <p:nvPr/>
        </p:nvSpPr>
        <p:spPr>
          <a:xfrm>
            <a:off x="658368" y="23845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5" name="Text 13"/>
          <p:cNvSpPr txBox="1"/>
          <p:nvPr/>
        </p:nvSpPr>
        <p:spPr>
          <a:xfrm>
            <a:off x="1014984" y="23845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6" name="Shape 14"/>
          <p:cNvSpPr/>
          <p:nvPr/>
        </p:nvSpPr>
        <p:spPr>
          <a:xfrm>
            <a:off x="3008376" y="2436622"/>
            <a:ext cx="1599253" cy="104140"/>
          </a:xfrm>
          <a:prstGeom prst="rect">
            <a:avLst/>
          </a:prstGeom>
          <a:solidFill>
            <a:srgbClr val="12A566"/>
          </a:solidFill>
          <a:ln/>
        </p:spPr>
      </p:sp>
      <p:sp>
        <p:nvSpPr>
          <p:cNvPr id="17" name="Text 15"/>
          <p:cNvSpPr txBox="1"/>
          <p:nvPr/>
        </p:nvSpPr>
        <p:spPr>
          <a:xfrm>
            <a:off x="4754880" y="23845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3.99</a:t>
            </a:r>
            <a:endParaRPr lang="en-US" sz="1200" dirty="0"/>
          </a:p>
        </p:txBody>
      </p:sp>
      <p:sp>
        <p:nvSpPr>
          <p:cNvPr id="18" name="Text 16"/>
          <p:cNvSpPr txBox="1"/>
          <p:nvPr/>
        </p:nvSpPr>
        <p:spPr>
          <a:xfrm>
            <a:off x="658368" y="25928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25928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20" name="Shape 18"/>
          <p:cNvSpPr/>
          <p:nvPr/>
        </p:nvSpPr>
        <p:spPr>
          <a:xfrm>
            <a:off x="3008376" y="2644902"/>
            <a:ext cx="1597857" cy="104140"/>
          </a:xfrm>
          <a:prstGeom prst="rect">
            <a:avLst/>
          </a:prstGeom>
          <a:solidFill>
            <a:srgbClr val="12A566"/>
          </a:solidFill>
          <a:ln/>
        </p:spPr>
      </p:sp>
      <p:sp>
        <p:nvSpPr>
          <p:cNvPr id="21" name="Text 19"/>
          <p:cNvSpPr txBox="1"/>
          <p:nvPr/>
        </p:nvSpPr>
        <p:spPr>
          <a:xfrm>
            <a:off x="4754880" y="25928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3.99</a:t>
            </a:r>
            <a:endParaRPr lang="en-US" sz="1200" dirty="0"/>
          </a:p>
        </p:txBody>
      </p:sp>
      <p:sp>
        <p:nvSpPr>
          <p:cNvPr id="22" name="Text 20"/>
          <p:cNvSpPr txBox="1"/>
          <p:nvPr/>
        </p:nvSpPr>
        <p:spPr>
          <a:xfrm>
            <a:off x="658368" y="28011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3" name="Text 21"/>
          <p:cNvSpPr txBox="1"/>
          <p:nvPr/>
        </p:nvSpPr>
        <p:spPr>
          <a:xfrm>
            <a:off x="1014984" y="28011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4" name="Shape 22"/>
          <p:cNvSpPr/>
          <p:nvPr/>
        </p:nvSpPr>
        <p:spPr>
          <a:xfrm>
            <a:off x="3008376" y="2853182"/>
            <a:ext cx="1396154" cy="104140"/>
          </a:xfrm>
          <a:prstGeom prst="rect">
            <a:avLst/>
          </a:prstGeom>
          <a:solidFill>
            <a:srgbClr val="12A566"/>
          </a:solidFill>
          <a:ln/>
        </p:spPr>
      </p:sp>
      <p:sp>
        <p:nvSpPr>
          <p:cNvPr id="25" name="Text 23"/>
          <p:cNvSpPr txBox="1"/>
          <p:nvPr/>
        </p:nvSpPr>
        <p:spPr>
          <a:xfrm>
            <a:off x="4754880" y="280111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3.48</a:t>
            </a:r>
            <a:endParaRPr lang="en-US" sz="1200" dirty="0"/>
          </a:p>
        </p:txBody>
      </p:sp>
      <p:sp>
        <p:nvSpPr>
          <p:cNvPr id="26" name="Text 24"/>
          <p:cNvSpPr txBox="1"/>
          <p:nvPr/>
        </p:nvSpPr>
        <p:spPr>
          <a:xfrm>
            <a:off x="658368" y="30093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7" name="Text 25"/>
          <p:cNvSpPr txBox="1"/>
          <p:nvPr/>
        </p:nvSpPr>
        <p:spPr>
          <a:xfrm>
            <a:off x="1014984" y="30093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8" name="Shape 26"/>
          <p:cNvSpPr/>
          <p:nvPr/>
        </p:nvSpPr>
        <p:spPr>
          <a:xfrm>
            <a:off x="3008376" y="3061462"/>
            <a:ext cx="1395716" cy="104140"/>
          </a:xfrm>
          <a:prstGeom prst="rect">
            <a:avLst/>
          </a:prstGeom>
          <a:solidFill>
            <a:srgbClr val="12A566"/>
          </a:solidFill>
          <a:ln/>
        </p:spPr>
      </p:sp>
      <p:sp>
        <p:nvSpPr>
          <p:cNvPr id="29" name="Text 27"/>
          <p:cNvSpPr txBox="1"/>
          <p:nvPr/>
        </p:nvSpPr>
        <p:spPr>
          <a:xfrm>
            <a:off x="4754880" y="300939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3.48</a:t>
            </a:r>
            <a:endParaRPr lang="en-US" sz="1200" dirty="0"/>
          </a:p>
        </p:txBody>
      </p:sp>
      <p:sp>
        <p:nvSpPr>
          <p:cNvPr id="30" name="Text 28"/>
          <p:cNvSpPr txBox="1"/>
          <p:nvPr/>
        </p:nvSpPr>
        <p:spPr>
          <a:xfrm>
            <a:off x="658368" y="32176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1" name="Text 29"/>
          <p:cNvSpPr txBox="1"/>
          <p:nvPr/>
        </p:nvSpPr>
        <p:spPr>
          <a:xfrm>
            <a:off x="1014984" y="32176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32" name="Shape 30"/>
          <p:cNvSpPr/>
          <p:nvPr/>
        </p:nvSpPr>
        <p:spPr>
          <a:xfrm>
            <a:off x="3008376" y="3269742"/>
            <a:ext cx="1094195" cy="104140"/>
          </a:xfrm>
          <a:prstGeom prst="rect">
            <a:avLst/>
          </a:prstGeom>
          <a:solidFill>
            <a:srgbClr val="C2352F"/>
          </a:solidFill>
          <a:ln/>
        </p:spPr>
      </p:sp>
      <p:sp>
        <p:nvSpPr>
          <p:cNvPr id="33" name="Text 31"/>
          <p:cNvSpPr txBox="1"/>
          <p:nvPr/>
        </p:nvSpPr>
        <p:spPr>
          <a:xfrm>
            <a:off x="4754880" y="321767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2.73</a:t>
            </a:r>
            <a:endParaRPr lang="en-US" sz="1200" dirty="0"/>
          </a:p>
        </p:txBody>
      </p:sp>
      <p:sp>
        <p:nvSpPr>
          <p:cNvPr id="34" name="Text 32"/>
          <p:cNvSpPr txBox="1"/>
          <p:nvPr/>
        </p:nvSpPr>
        <p:spPr>
          <a:xfrm>
            <a:off x="658368" y="34259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5" name="Text 33"/>
          <p:cNvSpPr txBox="1"/>
          <p:nvPr/>
        </p:nvSpPr>
        <p:spPr>
          <a:xfrm>
            <a:off x="1014984" y="34259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36" name="Shape 34"/>
          <p:cNvSpPr/>
          <p:nvPr/>
        </p:nvSpPr>
        <p:spPr>
          <a:xfrm>
            <a:off x="3008376" y="3478022"/>
            <a:ext cx="1092999" cy="104140"/>
          </a:xfrm>
          <a:prstGeom prst="rect">
            <a:avLst/>
          </a:prstGeom>
          <a:solidFill>
            <a:srgbClr val="C2352F"/>
          </a:solidFill>
          <a:ln/>
        </p:spPr>
      </p:sp>
      <p:sp>
        <p:nvSpPr>
          <p:cNvPr id="37" name="Text 35"/>
          <p:cNvSpPr txBox="1"/>
          <p:nvPr/>
        </p:nvSpPr>
        <p:spPr>
          <a:xfrm>
            <a:off x="4754880" y="342595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2.73</a:t>
            </a:r>
            <a:endParaRPr lang="en-US" sz="1200" dirty="0"/>
          </a:p>
        </p:txBody>
      </p:sp>
      <p:sp>
        <p:nvSpPr>
          <p:cNvPr id="38" name="Text 36"/>
          <p:cNvSpPr txBox="1"/>
          <p:nvPr/>
        </p:nvSpPr>
        <p:spPr>
          <a:xfrm>
            <a:off x="658368" y="36342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9" name="Text 37"/>
          <p:cNvSpPr txBox="1"/>
          <p:nvPr/>
        </p:nvSpPr>
        <p:spPr>
          <a:xfrm>
            <a:off x="1014984" y="36342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0" name="Shape 38"/>
          <p:cNvSpPr/>
          <p:nvPr/>
        </p:nvSpPr>
        <p:spPr>
          <a:xfrm>
            <a:off x="3008376" y="3686302"/>
            <a:ext cx="995599" cy="104140"/>
          </a:xfrm>
          <a:prstGeom prst="rect">
            <a:avLst/>
          </a:prstGeom>
          <a:solidFill>
            <a:srgbClr val="C2352F"/>
          </a:solidFill>
          <a:ln/>
        </p:spPr>
      </p:sp>
      <p:sp>
        <p:nvSpPr>
          <p:cNvPr id="41" name="Text 39"/>
          <p:cNvSpPr txBox="1"/>
          <p:nvPr/>
        </p:nvSpPr>
        <p:spPr>
          <a:xfrm>
            <a:off x="4754880" y="363423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2.48</a:t>
            </a:r>
            <a:endParaRPr lang="en-US" sz="1200" dirty="0"/>
          </a:p>
        </p:txBody>
      </p:sp>
      <p:sp>
        <p:nvSpPr>
          <p:cNvPr id="42" name="Text 40"/>
          <p:cNvSpPr txBox="1"/>
          <p:nvPr/>
        </p:nvSpPr>
        <p:spPr>
          <a:xfrm>
            <a:off x="658368" y="38425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3" name="Text 41"/>
          <p:cNvSpPr txBox="1"/>
          <p:nvPr/>
        </p:nvSpPr>
        <p:spPr>
          <a:xfrm>
            <a:off x="1014984" y="38425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44" name="Shape 42"/>
          <p:cNvSpPr/>
          <p:nvPr/>
        </p:nvSpPr>
        <p:spPr>
          <a:xfrm>
            <a:off x="3008376" y="3894582"/>
            <a:ext cx="912830" cy="104140"/>
          </a:xfrm>
          <a:prstGeom prst="rect">
            <a:avLst/>
          </a:prstGeom>
          <a:solidFill>
            <a:srgbClr val="C2352F"/>
          </a:solidFill>
          <a:ln/>
        </p:spPr>
      </p:sp>
      <p:sp>
        <p:nvSpPr>
          <p:cNvPr id="45" name="Text 43"/>
          <p:cNvSpPr txBox="1"/>
          <p:nvPr/>
        </p:nvSpPr>
        <p:spPr>
          <a:xfrm>
            <a:off x="4754880" y="384251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2.28</a:t>
            </a:r>
            <a:endParaRPr lang="en-US" sz="1200" dirty="0"/>
          </a:p>
        </p:txBody>
      </p:sp>
      <p:sp>
        <p:nvSpPr>
          <p:cNvPr id="46" name="Text 44"/>
          <p:cNvSpPr txBox="1"/>
          <p:nvPr/>
        </p:nvSpPr>
        <p:spPr>
          <a:xfrm>
            <a:off x="658368" y="40507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7" name="Text 45"/>
          <p:cNvSpPr txBox="1"/>
          <p:nvPr/>
        </p:nvSpPr>
        <p:spPr>
          <a:xfrm>
            <a:off x="1014984" y="40507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48" name="Shape 46"/>
          <p:cNvSpPr/>
          <p:nvPr/>
        </p:nvSpPr>
        <p:spPr>
          <a:xfrm>
            <a:off x="3008376" y="4102862"/>
            <a:ext cx="834814" cy="104140"/>
          </a:xfrm>
          <a:prstGeom prst="rect">
            <a:avLst/>
          </a:prstGeom>
          <a:solidFill>
            <a:srgbClr val="C2352F"/>
          </a:solidFill>
          <a:ln/>
        </p:spPr>
      </p:sp>
      <p:sp>
        <p:nvSpPr>
          <p:cNvPr id="49" name="Text 47"/>
          <p:cNvSpPr txBox="1"/>
          <p:nvPr/>
        </p:nvSpPr>
        <p:spPr>
          <a:xfrm>
            <a:off x="4754880" y="405079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2.08</a:t>
            </a:r>
            <a:endParaRPr lang="en-US" sz="1200" dirty="0"/>
          </a:p>
        </p:txBody>
      </p:sp>
      <p:sp>
        <p:nvSpPr>
          <p:cNvPr id="50" name="Text 48"/>
          <p:cNvSpPr txBox="1"/>
          <p:nvPr/>
        </p:nvSpPr>
        <p:spPr>
          <a:xfrm>
            <a:off x="658368" y="4259072"/>
            <a:ext cx="5303520" cy="208280"/>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1.75</a:t>
            </a:r>
            <a:endParaRPr lang="en-US" sz="1300" dirty="0"/>
          </a:p>
        </p:txBody>
      </p:sp>
      <p:sp>
        <p:nvSpPr>
          <p:cNvPr id="51" name="Shape 49"/>
          <p:cNvSpPr/>
          <p:nvPr/>
        </p:nvSpPr>
        <p:spPr>
          <a:xfrm>
            <a:off x="658368" y="4449064"/>
            <a:ext cx="5303520" cy="18288"/>
          </a:xfrm>
          <a:prstGeom prst="rect">
            <a:avLst/>
          </a:prstGeom>
          <a:solidFill>
            <a:srgbClr val="0B2C4A"/>
          </a:solidFill>
          <a:ln/>
        </p:spPr>
      </p:sp>
      <p:sp>
        <p:nvSpPr>
          <p:cNvPr id="52" name="Text 50"/>
          <p:cNvSpPr txBox="1"/>
          <p:nvPr/>
        </p:nvSpPr>
        <p:spPr>
          <a:xfrm>
            <a:off x="658368" y="44673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53" name="Text 51"/>
          <p:cNvSpPr txBox="1"/>
          <p:nvPr/>
        </p:nvSpPr>
        <p:spPr>
          <a:xfrm>
            <a:off x="1014984" y="44673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54" name="Shape 52"/>
          <p:cNvSpPr/>
          <p:nvPr/>
        </p:nvSpPr>
        <p:spPr>
          <a:xfrm>
            <a:off x="3008376" y="4519422"/>
            <a:ext cx="1658471" cy="104140"/>
          </a:xfrm>
          <a:prstGeom prst="rect">
            <a:avLst/>
          </a:prstGeom>
          <a:solidFill>
            <a:srgbClr val="12A566"/>
          </a:solidFill>
          <a:ln/>
        </p:spPr>
      </p:sp>
      <p:sp>
        <p:nvSpPr>
          <p:cNvPr id="55" name="Text 53"/>
          <p:cNvSpPr txBox="1"/>
          <p:nvPr/>
        </p:nvSpPr>
        <p:spPr>
          <a:xfrm>
            <a:off x="4754880" y="44673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2.49</a:t>
            </a:r>
            <a:endParaRPr lang="en-US" sz="1200" dirty="0"/>
          </a:p>
        </p:txBody>
      </p:sp>
      <p:sp>
        <p:nvSpPr>
          <p:cNvPr id="56" name="Text 54"/>
          <p:cNvSpPr txBox="1"/>
          <p:nvPr/>
        </p:nvSpPr>
        <p:spPr>
          <a:xfrm>
            <a:off x="658368" y="46756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57" name="Text 55"/>
          <p:cNvSpPr txBox="1"/>
          <p:nvPr/>
        </p:nvSpPr>
        <p:spPr>
          <a:xfrm>
            <a:off x="1014984" y="46756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58" name="Shape 56"/>
          <p:cNvSpPr/>
          <p:nvPr/>
        </p:nvSpPr>
        <p:spPr>
          <a:xfrm>
            <a:off x="3008376" y="4727702"/>
            <a:ext cx="1530972" cy="104140"/>
          </a:xfrm>
          <a:prstGeom prst="rect">
            <a:avLst/>
          </a:prstGeom>
          <a:solidFill>
            <a:srgbClr val="12A566"/>
          </a:solidFill>
          <a:ln/>
        </p:spPr>
      </p:sp>
      <p:sp>
        <p:nvSpPr>
          <p:cNvPr id="59" name="Text 57"/>
          <p:cNvSpPr txBox="1"/>
          <p:nvPr/>
        </p:nvSpPr>
        <p:spPr>
          <a:xfrm>
            <a:off x="4754880" y="46756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2.30</a:t>
            </a:r>
            <a:endParaRPr lang="en-US" sz="1200" dirty="0"/>
          </a:p>
        </p:txBody>
      </p:sp>
      <p:sp>
        <p:nvSpPr>
          <p:cNvPr id="60" name="Text 58"/>
          <p:cNvSpPr txBox="1"/>
          <p:nvPr/>
        </p:nvSpPr>
        <p:spPr>
          <a:xfrm>
            <a:off x="658368" y="48839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61" name="Text 59"/>
          <p:cNvSpPr txBox="1"/>
          <p:nvPr/>
        </p:nvSpPr>
        <p:spPr>
          <a:xfrm>
            <a:off x="1014984" y="48839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62" name="Shape 60"/>
          <p:cNvSpPr/>
          <p:nvPr/>
        </p:nvSpPr>
        <p:spPr>
          <a:xfrm>
            <a:off x="3008376" y="4935982"/>
            <a:ext cx="1530733" cy="104140"/>
          </a:xfrm>
          <a:prstGeom prst="rect">
            <a:avLst/>
          </a:prstGeom>
          <a:solidFill>
            <a:srgbClr val="12A566"/>
          </a:solidFill>
          <a:ln/>
        </p:spPr>
      </p:sp>
      <p:sp>
        <p:nvSpPr>
          <p:cNvPr id="63" name="Text 61"/>
          <p:cNvSpPr txBox="1"/>
          <p:nvPr/>
        </p:nvSpPr>
        <p:spPr>
          <a:xfrm>
            <a:off x="4754880" y="488391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2.30</a:t>
            </a:r>
            <a:endParaRPr lang="en-US" sz="1200" dirty="0"/>
          </a:p>
        </p:txBody>
      </p:sp>
      <p:sp>
        <p:nvSpPr>
          <p:cNvPr id="64" name="Text 62"/>
          <p:cNvSpPr txBox="1"/>
          <p:nvPr/>
        </p:nvSpPr>
        <p:spPr>
          <a:xfrm>
            <a:off x="658368" y="50921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65" name="Text 63"/>
          <p:cNvSpPr txBox="1"/>
          <p:nvPr/>
        </p:nvSpPr>
        <p:spPr>
          <a:xfrm>
            <a:off x="1014984" y="50921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66" name="Shape 64"/>
          <p:cNvSpPr/>
          <p:nvPr/>
        </p:nvSpPr>
        <p:spPr>
          <a:xfrm>
            <a:off x="3008376" y="5144262"/>
            <a:ext cx="1465702" cy="104140"/>
          </a:xfrm>
          <a:prstGeom prst="rect">
            <a:avLst/>
          </a:prstGeom>
          <a:solidFill>
            <a:srgbClr val="12A566"/>
          </a:solidFill>
          <a:ln/>
        </p:spPr>
      </p:sp>
      <p:sp>
        <p:nvSpPr>
          <p:cNvPr id="67" name="Text 65"/>
          <p:cNvSpPr txBox="1"/>
          <p:nvPr/>
        </p:nvSpPr>
        <p:spPr>
          <a:xfrm>
            <a:off x="4754880" y="509219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2.20</a:t>
            </a:r>
            <a:endParaRPr lang="en-US" sz="1200" dirty="0"/>
          </a:p>
        </p:txBody>
      </p:sp>
      <p:sp>
        <p:nvSpPr>
          <p:cNvPr id="68" name="Text 66"/>
          <p:cNvSpPr txBox="1"/>
          <p:nvPr/>
        </p:nvSpPr>
        <p:spPr>
          <a:xfrm>
            <a:off x="658368" y="53004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69" name="Text 67"/>
          <p:cNvSpPr txBox="1"/>
          <p:nvPr/>
        </p:nvSpPr>
        <p:spPr>
          <a:xfrm>
            <a:off x="1014984" y="53004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70" name="Shape 68"/>
          <p:cNvSpPr/>
          <p:nvPr/>
        </p:nvSpPr>
        <p:spPr>
          <a:xfrm>
            <a:off x="3008376" y="5352542"/>
            <a:ext cx="1405167" cy="104140"/>
          </a:xfrm>
          <a:prstGeom prst="rect">
            <a:avLst/>
          </a:prstGeom>
          <a:solidFill>
            <a:srgbClr val="12A566"/>
          </a:solidFill>
          <a:ln/>
        </p:spPr>
      </p:sp>
      <p:sp>
        <p:nvSpPr>
          <p:cNvPr id="71" name="Text 69"/>
          <p:cNvSpPr txBox="1"/>
          <p:nvPr/>
        </p:nvSpPr>
        <p:spPr>
          <a:xfrm>
            <a:off x="4754880" y="530047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2.11</a:t>
            </a:r>
            <a:endParaRPr lang="en-US" sz="1200" dirty="0"/>
          </a:p>
        </p:txBody>
      </p:sp>
      <p:sp>
        <p:nvSpPr>
          <p:cNvPr id="72" name="Text 70"/>
          <p:cNvSpPr txBox="1"/>
          <p:nvPr/>
        </p:nvSpPr>
        <p:spPr>
          <a:xfrm>
            <a:off x="658368" y="55087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73" name="Text 71"/>
          <p:cNvSpPr txBox="1"/>
          <p:nvPr/>
        </p:nvSpPr>
        <p:spPr>
          <a:xfrm>
            <a:off x="1014984" y="55087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74" name="Shape 72"/>
          <p:cNvSpPr/>
          <p:nvPr/>
        </p:nvSpPr>
        <p:spPr>
          <a:xfrm>
            <a:off x="3008376" y="5560822"/>
            <a:ext cx="1345161" cy="104140"/>
          </a:xfrm>
          <a:prstGeom prst="rect">
            <a:avLst/>
          </a:prstGeom>
          <a:solidFill>
            <a:srgbClr val="12A566"/>
          </a:solidFill>
          <a:ln/>
        </p:spPr>
      </p:sp>
      <p:sp>
        <p:nvSpPr>
          <p:cNvPr id="75" name="Text 73"/>
          <p:cNvSpPr txBox="1"/>
          <p:nvPr/>
        </p:nvSpPr>
        <p:spPr>
          <a:xfrm>
            <a:off x="4754880" y="55087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2.02</a:t>
            </a:r>
            <a:endParaRPr lang="en-US" sz="1200" dirty="0"/>
          </a:p>
        </p:txBody>
      </p:sp>
      <p:sp>
        <p:nvSpPr>
          <p:cNvPr id="76" name="Text 74"/>
          <p:cNvSpPr txBox="1"/>
          <p:nvPr/>
        </p:nvSpPr>
        <p:spPr>
          <a:xfrm>
            <a:off x="658368" y="57170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77" name="Text 75"/>
          <p:cNvSpPr txBox="1"/>
          <p:nvPr/>
        </p:nvSpPr>
        <p:spPr>
          <a:xfrm>
            <a:off x="1014984" y="57170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78" name="Shape 76"/>
          <p:cNvSpPr/>
          <p:nvPr/>
        </p:nvSpPr>
        <p:spPr>
          <a:xfrm>
            <a:off x="3008376" y="5769102"/>
            <a:ext cx="1336576" cy="104140"/>
          </a:xfrm>
          <a:prstGeom prst="rect">
            <a:avLst/>
          </a:prstGeom>
          <a:solidFill>
            <a:srgbClr val="12A566"/>
          </a:solidFill>
          <a:ln/>
        </p:spPr>
      </p:sp>
      <p:sp>
        <p:nvSpPr>
          <p:cNvPr id="79" name="Text 77"/>
          <p:cNvSpPr txBox="1"/>
          <p:nvPr/>
        </p:nvSpPr>
        <p:spPr>
          <a:xfrm>
            <a:off x="4754880" y="57170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2.01</a:t>
            </a:r>
            <a:endParaRPr lang="en-US" sz="1200" dirty="0"/>
          </a:p>
        </p:txBody>
      </p:sp>
      <p:sp>
        <p:nvSpPr>
          <p:cNvPr id="80" name="Text 78"/>
          <p:cNvSpPr txBox="1"/>
          <p:nvPr/>
        </p:nvSpPr>
        <p:spPr>
          <a:xfrm>
            <a:off x="6208776" y="21762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81" name="Text 79"/>
          <p:cNvSpPr txBox="1"/>
          <p:nvPr/>
        </p:nvSpPr>
        <p:spPr>
          <a:xfrm>
            <a:off x="6565392" y="21762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82" name="Shape 80"/>
          <p:cNvSpPr/>
          <p:nvPr/>
        </p:nvSpPr>
        <p:spPr>
          <a:xfrm>
            <a:off x="8558784" y="2228342"/>
            <a:ext cx="1310628" cy="104140"/>
          </a:xfrm>
          <a:prstGeom prst="rect">
            <a:avLst/>
          </a:prstGeom>
          <a:solidFill>
            <a:srgbClr val="12A566"/>
          </a:solidFill>
          <a:ln/>
        </p:spPr>
      </p:sp>
      <p:sp>
        <p:nvSpPr>
          <p:cNvPr id="83" name="Text 81"/>
          <p:cNvSpPr txBox="1"/>
          <p:nvPr/>
        </p:nvSpPr>
        <p:spPr>
          <a:xfrm>
            <a:off x="10305288" y="217627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1.97</a:t>
            </a:r>
            <a:endParaRPr lang="en-US" sz="1200" dirty="0"/>
          </a:p>
        </p:txBody>
      </p:sp>
      <p:sp>
        <p:nvSpPr>
          <p:cNvPr id="84" name="Text 82"/>
          <p:cNvSpPr txBox="1"/>
          <p:nvPr/>
        </p:nvSpPr>
        <p:spPr>
          <a:xfrm>
            <a:off x="6208776" y="23845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85" name="Text 83"/>
          <p:cNvSpPr txBox="1"/>
          <p:nvPr/>
        </p:nvSpPr>
        <p:spPr>
          <a:xfrm>
            <a:off x="6565392" y="23845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86" name="Shape 84"/>
          <p:cNvSpPr/>
          <p:nvPr/>
        </p:nvSpPr>
        <p:spPr>
          <a:xfrm>
            <a:off x="8558784" y="2436622"/>
            <a:ext cx="1303142" cy="104140"/>
          </a:xfrm>
          <a:prstGeom prst="rect">
            <a:avLst/>
          </a:prstGeom>
          <a:solidFill>
            <a:srgbClr val="12A566"/>
          </a:solidFill>
          <a:ln/>
        </p:spPr>
      </p:sp>
      <p:sp>
        <p:nvSpPr>
          <p:cNvPr id="87" name="Text 85"/>
          <p:cNvSpPr txBox="1"/>
          <p:nvPr/>
        </p:nvSpPr>
        <p:spPr>
          <a:xfrm>
            <a:off x="10305288" y="23845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1.96</a:t>
            </a:r>
            <a:endParaRPr lang="en-US" sz="1200" dirty="0"/>
          </a:p>
        </p:txBody>
      </p:sp>
      <p:sp>
        <p:nvSpPr>
          <p:cNvPr id="88" name="Text 86"/>
          <p:cNvSpPr txBox="1"/>
          <p:nvPr/>
        </p:nvSpPr>
        <p:spPr>
          <a:xfrm>
            <a:off x="6208776" y="25928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89" name="Text 87"/>
          <p:cNvSpPr txBox="1"/>
          <p:nvPr/>
        </p:nvSpPr>
        <p:spPr>
          <a:xfrm>
            <a:off x="6565392" y="25928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90" name="Shape 88"/>
          <p:cNvSpPr/>
          <p:nvPr/>
        </p:nvSpPr>
        <p:spPr>
          <a:xfrm>
            <a:off x="8558784" y="2644902"/>
            <a:ext cx="1296433" cy="104140"/>
          </a:xfrm>
          <a:prstGeom prst="rect">
            <a:avLst/>
          </a:prstGeom>
          <a:solidFill>
            <a:srgbClr val="12A566"/>
          </a:solidFill>
          <a:ln/>
        </p:spPr>
      </p:sp>
      <p:sp>
        <p:nvSpPr>
          <p:cNvPr id="91" name="Text 89"/>
          <p:cNvSpPr txBox="1"/>
          <p:nvPr/>
        </p:nvSpPr>
        <p:spPr>
          <a:xfrm>
            <a:off x="10305288" y="25928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1.95</a:t>
            </a:r>
            <a:endParaRPr lang="en-US" sz="1200" dirty="0"/>
          </a:p>
        </p:txBody>
      </p:sp>
      <p:sp>
        <p:nvSpPr>
          <p:cNvPr id="92" name="Text 90"/>
          <p:cNvSpPr txBox="1"/>
          <p:nvPr/>
        </p:nvSpPr>
        <p:spPr>
          <a:xfrm>
            <a:off x="6208776" y="28011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93" name="Text 91"/>
          <p:cNvSpPr txBox="1"/>
          <p:nvPr/>
        </p:nvSpPr>
        <p:spPr>
          <a:xfrm>
            <a:off x="6565392" y="28011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94" name="Shape 92"/>
          <p:cNvSpPr/>
          <p:nvPr/>
        </p:nvSpPr>
        <p:spPr>
          <a:xfrm>
            <a:off x="8558784" y="2853182"/>
            <a:ext cx="1160151" cy="104140"/>
          </a:xfrm>
          <a:prstGeom prst="rect">
            <a:avLst/>
          </a:prstGeom>
          <a:solidFill>
            <a:srgbClr val="C2352F"/>
          </a:solidFill>
          <a:ln/>
        </p:spPr>
      </p:sp>
      <p:sp>
        <p:nvSpPr>
          <p:cNvPr id="95" name="Text 93"/>
          <p:cNvSpPr txBox="1"/>
          <p:nvPr/>
        </p:nvSpPr>
        <p:spPr>
          <a:xfrm>
            <a:off x="10305288" y="280111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1.74</a:t>
            </a:r>
            <a:endParaRPr lang="en-US" sz="1200" dirty="0"/>
          </a:p>
        </p:txBody>
      </p:sp>
      <p:sp>
        <p:nvSpPr>
          <p:cNvPr id="96" name="Text 94"/>
          <p:cNvSpPr txBox="1"/>
          <p:nvPr/>
        </p:nvSpPr>
        <p:spPr>
          <a:xfrm>
            <a:off x="6208776" y="30093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97" name="Text 95"/>
          <p:cNvSpPr txBox="1"/>
          <p:nvPr/>
        </p:nvSpPr>
        <p:spPr>
          <a:xfrm>
            <a:off x="6565392" y="30093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98" name="Shape 96"/>
          <p:cNvSpPr/>
          <p:nvPr/>
        </p:nvSpPr>
        <p:spPr>
          <a:xfrm>
            <a:off x="8558784" y="3061462"/>
            <a:ext cx="1136807" cy="104140"/>
          </a:xfrm>
          <a:prstGeom prst="rect">
            <a:avLst/>
          </a:prstGeom>
          <a:solidFill>
            <a:srgbClr val="C2352F"/>
          </a:solidFill>
          <a:ln/>
        </p:spPr>
      </p:sp>
      <p:sp>
        <p:nvSpPr>
          <p:cNvPr id="99" name="Text 97"/>
          <p:cNvSpPr txBox="1"/>
          <p:nvPr/>
        </p:nvSpPr>
        <p:spPr>
          <a:xfrm>
            <a:off x="10305288" y="300939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1.71</a:t>
            </a:r>
            <a:endParaRPr lang="en-US" sz="1200" dirty="0"/>
          </a:p>
        </p:txBody>
      </p:sp>
      <p:sp>
        <p:nvSpPr>
          <p:cNvPr id="100" name="Text 98"/>
          <p:cNvSpPr txBox="1"/>
          <p:nvPr/>
        </p:nvSpPr>
        <p:spPr>
          <a:xfrm>
            <a:off x="6208776" y="32176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101" name="Text 99"/>
          <p:cNvSpPr txBox="1"/>
          <p:nvPr/>
        </p:nvSpPr>
        <p:spPr>
          <a:xfrm>
            <a:off x="6565392" y="32176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02" name="Shape 100"/>
          <p:cNvSpPr/>
          <p:nvPr/>
        </p:nvSpPr>
        <p:spPr>
          <a:xfrm>
            <a:off x="8558784" y="3269742"/>
            <a:ext cx="1108783" cy="104140"/>
          </a:xfrm>
          <a:prstGeom prst="rect">
            <a:avLst/>
          </a:prstGeom>
          <a:solidFill>
            <a:srgbClr val="C2352F"/>
          </a:solidFill>
          <a:ln/>
        </p:spPr>
      </p:sp>
      <p:sp>
        <p:nvSpPr>
          <p:cNvPr id="103" name="Text 101"/>
          <p:cNvSpPr txBox="1"/>
          <p:nvPr/>
        </p:nvSpPr>
        <p:spPr>
          <a:xfrm>
            <a:off x="10305288" y="321767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1.67</a:t>
            </a:r>
            <a:endParaRPr lang="en-US" sz="1200" dirty="0"/>
          </a:p>
        </p:txBody>
      </p:sp>
      <p:sp>
        <p:nvSpPr>
          <p:cNvPr id="104" name="Text 102"/>
          <p:cNvSpPr txBox="1"/>
          <p:nvPr/>
        </p:nvSpPr>
        <p:spPr>
          <a:xfrm>
            <a:off x="6208776" y="34259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105" name="Text 103"/>
          <p:cNvSpPr txBox="1"/>
          <p:nvPr/>
        </p:nvSpPr>
        <p:spPr>
          <a:xfrm>
            <a:off x="6565392" y="34259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06" name="Shape 104"/>
          <p:cNvSpPr/>
          <p:nvPr/>
        </p:nvSpPr>
        <p:spPr>
          <a:xfrm>
            <a:off x="8558784" y="3478022"/>
            <a:ext cx="1088944" cy="104140"/>
          </a:xfrm>
          <a:prstGeom prst="rect">
            <a:avLst/>
          </a:prstGeom>
          <a:solidFill>
            <a:srgbClr val="C2352F"/>
          </a:solidFill>
          <a:ln/>
        </p:spPr>
      </p:sp>
      <p:sp>
        <p:nvSpPr>
          <p:cNvPr id="107" name="Text 105"/>
          <p:cNvSpPr txBox="1"/>
          <p:nvPr/>
        </p:nvSpPr>
        <p:spPr>
          <a:xfrm>
            <a:off x="10305288" y="342595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1.64</a:t>
            </a:r>
            <a:endParaRPr lang="en-US" sz="1200" dirty="0"/>
          </a:p>
        </p:txBody>
      </p:sp>
      <p:sp>
        <p:nvSpPr>
          <p:cNvPr id="108" name="Text 106"/>
          <p:cNvSpPr txBox="1"/>
          <p:nvPr/>
        </p:nvSpPr>
        <p:spPr>
          <a:xfrm>
            <a:off x="6208776" y="36342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09" name="Text 107"/>
          <p:cNvSpPr txBox="1"/>
          <p:nvPr/>
        </p:nvSpPr>
        <p:spPr>
          <a:xfrm>
            <a:off x="6565392" y="36342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10" name="Shape 108"/>
          <p:cNvSpPr/>
          <p:nvPr/>
        </p:nvSpPr>
        <p:spPr>
          <a:xfrm>
            <a:off x="8558784" y="3686302"/>
            <a:ext cx="1063571" cy="104140"/>
          </a:xfrm>
          <a:prstGeom prst="rect">
            <a:avLst/>
          </a:prstGeom>
          <a:solidFill>
            <a:srgbClr val="C2352F"/>
          </a:solidFill>
          <a:ln/>
        </p:spPr>
      </p:sp>
      <p:sp>
        <p:nvSpPr>
          <p:cNvPr id="111" name="Text 109"/>
          <p:cNvSpPr txBox="1"/>
          <p:nvPr/>
        </p:nvSpPr>
        <p:spPr>
          <a:xfrm>
            <a:off x="10305288" y="363423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1.60</a:t>
            </a:r>
            <a:endParaRPr lang="en-US" sz="1200" dirty="0"/>
          </a:p>
        </p:txBody>
      </p:sp>
      <p:sp>
        <p:nvSpPr>
          <p:cNvPr id="112" name="Text 110"/>
          <p:cNvSpPr txBox="1"/>
          <p:nvPr/>
        </p:nvSpPr>
        <p:spPr>
          <a:xfrm>
            <a:off x="6208776" y="38425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13" name="Text 111"/>
          <p:cNvSpPr txBox="1"/>
          <p:nvPr/>
        </p:nvSpPr>
        <p:spPr>
          <a:xfrm>
            <a:off x="6565392" y="38425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14" name="Shape 112"/>
          <p:cNvSpPr/>
          <p:nvPr/>
        </p:nvSpPr>
        <p:spPr>
          <a:xfrm>
            <a:off x="8558784" y="3894582"/>
            <a:ext cx="1044439" cy="104140"/>
          </a:xfrm>
          <a:prstGeom prst="rect">
            <a:avLst/>
          </a:prstGeom>
          <a:solidFill>
            <a:srgbClr val="C2352F"/>
          </a:solidFill>
          <a:ln/>
        </p:spPr>
      </p:sp>
      <p:sp>
        <p:nvSpPr>
          <p:cNvPr id="115" name="Text 113"/>
          <p:cNvSpPr txBox="1"/>
          <p:nvPr/>
        </p:nvSpPr>
        <p:spPr>
          <a:xfrm>
            <a:off x="10305288" y="384251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1.57</a:t>
            </a:r>
            <a:endParaRPr lang="en-US" sz="1200" dirty="0"/>
          </a:p>
        </p:txBody>
      </p:sp>
      <p:sp>
        <p:nvSpPr>
          <p:cNvPr id="116" name="Text 114"/>
          <p:cNvSpPr txBox="1"/>
          <p:nvPr/>
        </p:nvSpPr>
        <p:spPr>
          <a:xfrm>
            <a:off x="6208776" y="40507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7" name="Text 115"/>
          <p:cNvSpPr txBox="1"/>
          <p:nvPr/>
        </p:nvSpPr>
        <p:spPr>
          <a:xfrm>
            <a:off x="6565392" y="40507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18" name="Shape 116"/>
          <p:cNvSpPr/>
          <p:nvPr/>
        </p:nvSpPr>
        <p:spPr>
          <a:xfrm>
            <a:off x="8558784" y="4102862"/>
            <a:ext cx="986681" cy="104140"/>
          </a:xfrm>
          <a:prstGeom prst="rect">
            <a:avLst/>
          </a:prstGeom>
          <a:solidFill>
            <a:srgbClr val="C2352F"/>
          </a:solidFill>
          <a:ln/>
        </p:spPr>
      </p:sp>
      <p:sp>
        <p:nvSpPr>
          <p:cNvPr id="119" name="Text 117"/>
          <p:cNvSpPr txBox="1"/>
          <p:nvPr/>
        </p:nvSpPr>
        <p:spPr>
          <a:xfrm>
            <a:off x="10305288" y="405079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1.48</a:t>
            </a:r>
            <a:endParaRPr lang="en-US" sz="1200" dirty="0"/>
          </a:p>
        </p:txBody>
      </p:sp>
      <p:sp>
        <p:nvSpPr>
          <p:cNvPr id="120" name="Text 118"/>
          <p:cNvSpPr txBox="1"/>
          <p:nvPr/>
        </p:nvSpPr>
        <p:spPr>
          <a:xfrm>
            <a:off x="6208776" y="42590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1" name="Text 119"/>
          <p:cNvSpPr txBox="1"/>
          <p:nvPr/>
        </p:nvSpPr>
        <p:spPr>
          <a:xfrm>
            <a:off x="6565392" y="42590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22" name="Shape 120"/>
          <p:cNvSpPr/>
          <p:nvPr/>
        </p:nvSpPr>
        <p:spPr>
          <a:xfrm>
            <a:off x="8558784" y="4311142"/>
            <a:ext cx="979901" cy="104140"/>
          </a:xfrm>
          <a:prstGeom prst="rect">
            <a:avLst/>
          </a:prstGeom>
          <a:solidFill>
            <a:srgbClr val="C2352F"/>
          </a:solidFill>
          <a:ln/>
        </p:spPr>
      </p:sp>
      <p:sp>
        <p:nvSpPr>
          <p:cNvPr id="123" name="Text 121"/>
          <p:cNvSpPr txBox="1"/>
          <p:nvPr/>
        </p:nvSpPr>
        <p:spPr>
          <a:xfrm>
            <a:off x="10305288" y="425907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1.47</a:t>
            </a:r>
            <a:endParaRPr lang="en-US" sz="1200" dirty="0"/>
          </a:p>
        </p:txBody>
      </p:sp>
      <p:sp>
        <p:nvSpPr>
          <p:cNvPr id="124" name="Text 122"/>
          <p:cNvSpPr txBox="1"/>
          <p:nvPr/>
        </p:nvSpPr>
        <p:spPr>
          <a:xfrm>
            <a:off x="6208776" y="44673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5" name="Text 123"/>
          <p:cNvSpPr txBox="1"/>
          <p:nvPr/>
        </p:nvSpPr>
        <p:spPr>
          <a:xfrm>
            <a:off x="6565392" y="44673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26" name="Shape 124"/>
          <p:cNvSpPr/>
          <p:nvPr/>
        </p:nvSpPr>
        <p:spPr>
          <a:xfrm>
            <a:off x="8558784" y="4519422"/>
            <a:ext cx="969197" cy="104140"/>
          </a:xfrm>
          <a:prstGeom prst="rect">
            <a:avLst/>
          </a:prstGeom>
          <a:solidFill>
            <a:srgbClr val="C2352F"/>
          </a:solidFill>
          <a:ln/>
        </p:spPr>
      </p:sp>
      <p:sp>
        <p:nvSpPr>
          <p:cNvPr id="127" name="Text 125"/>
          <p:cNvSpPr txBox="1"/>
          <p:nvPr/>
        </p:nvSpPr>
        <p:spPr>
          <a:xfrm>
            <a:off x="10305288" y="446735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1.46</a:t>
            </a:r>
            <a:endParaRPr lang="en-US" sz="1200" dirty="0"/>
          </a:p>
        </p:txBody>
      </p:sp>
      <p:sp>
        <p:nvSpPr>
          <p:cNvPr id="128" name="Text 126"/>
          <p:cNvSpPr txBox="1"/>
          <p:nvPr/>
        </p:nvSpPr>
        <p:spPr>
          <a:xfrm>
            <a:off x="6208776" y="46756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9" name="Text 127"/>
          <p:cNvSpPr txBox="1"/>
          <p:nvPr/>
        </p:nvSpPr>
        <p:spPr>
          <a:xfrm>
            <a:off x="6565392" y="46756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30" name="Shape 128"/>
          <p:cNvSpPr/>
          <p:nvPr/>
        </p:nvSpPr>
        <p:spPr>
          <a:xfrm>
            <a:off x="8558784" y="4727702"/>
            <a:ext cx="951153" cy="104140"/>
          </a:xfrm>
          <a:prstGeom prst="rect">
            <a:avLst/>
          </a:prstGeom>
          <a:solidFill>
            <a:srgbClr val="C2352F"/>
          </a:solidFill>
          <a:ln/>
        </p:spPr>
      </p:sp>
      <p:sp>
        <p:nvSpPr>
          <p:cNvPr id="131" name="Text 129"/>
          <p:cNvSpPr txBox="1"/>
          <p:nvPr/>
        </p:nvSpPr>
        <p:spPr>
          <a:xfrm>
            <a:off x="10305288" y="467563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1.43</a:t>
            </a:r>
            <a:endParaRPr lang="en-US" sz="1200" dirty="0"/>
          </a:p>
        </p:txBody>
      </p:sp>
      <p:sp>
        <p:nvSpPr>
          <p:cNvPr id="132" name="Text 130"/>
          <p:cNvSpPr txBox="1"/>
          <p:nvPr/>
        </p:nvSpPr>
        <p:spPr>
          <a:xfrm>
            <a:off x="6208776" y="48839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3" name="Text 131"/>
          <p:cNvSpPr txBox="1"/>
          <p:nvPr/>
        </p:nvSpPr>
        <p:spPr>
          <a:xfrm>
            <a:off x="6565392" y="48839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34" name="Shape 132"/>
          <p:cNvSpPr/>
          <p:nvPr/>
        </p:nvSpPr>
        <p:spPr>
          <a:xfrm>
            <a:off x="8558784" y="4935982"/>
            <a:ext cx="945514" cy="104140"/>
          </a:xfrm>
          <a:prstGeom prst="rect">
            <a:avLst/>
          </a:prstGeom>
          <a:solidFill>
            <a:srgbClr val="C2352F"/>
          </a:solidFill>
          <a:ln/>
        </p:spPr>
      </p:sp>
      <p:sp>
        <p:nvSpPr>
          <p:cNvPr id="135" name="Text 133"/>
          <p:cNvSpPr txBox="1"/>
          <p:nvPr/>
        </p:nvSpPr>
        <p:spPr>
          <a:xfrm>
            <a:off x="10305288" y="488391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1.42</a:t>
            </a:r>
            <a:endParaRPr lang="en-US" sz="1200" dirty="0"/>
          </a:p>
        </p:txBody>
      </p:sp>
      <p:sp>
        <p:nvSpPr>
          <p:cNvPr id="136" name="Text 134"/>
          <p:cNvSpPr txBox="1"/>
          <p:nvPr/>
        </p:nvSpPr>
        <p:spPr>
          <a:xfrm>
            <a:off x="6208776" y="50921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7" name="Text 135"/>
          <p:cNvSpPr txBox="1"/>
          <p:nvPr/>
        </p:nvSpPr>
        <p:spPr>
          <a:xfrm>
            <a:off x="6565392" y="50921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38" name="Shape 136"/>
          <p:cNvSpPr/>
          <p:nvPr/>
        </p:nvSpPr>
        <p:spPr>
          <a:xfrm>
            <a:off x="8558784" y="5144262"/>
            <a:ext cx="935633" cy="104140"/>
          </a:xfrm>
          <a:prstGeom prst="rect">
            <a:avLst/>
          </a:prstGeom>
          <a:solidFill>
            <a:srgbClr val="C2352F"/>
          </a:solidFill>
          <a:ln/>
        </p:spPr>
      </p:sp>
      <p:sp>
        <p:nvSpPr>
          <p:cNvPr id="139" name="Text 137"/>
          <p:cNvSpPr txBox="1"/>
          <p:nvPr/>
        </p:nvSpPr>
        <p:spPr>
          <a:xfrm>
            <a:off x="10305288" y="509219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1.41</a:t>
            </a:r>
            <a:endParaRPr lang="en-US" sz="1200" dirty="0"/>
          </a:p>
        </p:txBody>
      </p:sp>
      <p:sp>
        <p:nvSpPr>
          <p:cNvPr id="140" name="Text 138"/>
          <p:cNvSpPr txBox="1"/>
          <p:nvPr/>
        </p:nvSpPr>
        <p:spPr>
          <a:xfrm>
            <a:off x="6208776" y="53004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1" name="Text 139"/>
          <p:cNvSpPr txBox="1"/>
          <p:nvPr/>
        </p:nvSpPr>
        <p:spPr>
          <a:xfrm>
            <a:off x="6565392" y="53004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42" name="Shape 140"/>
          <p:cNvSpPr/>
          <p:nvPr/>
        </p:nvSpPr>
        <p:spPr>
          <a:xfrm>
            <a:off x="8558784" y="5352542"/>
            <a:ext cx="920871" cy="104140"/>
          </a:xfrm>
          <a:prstGeom prst="rect">
            <a:avLst/>
          </a:prstGeom>
          <a:solidFill>
            <a:srgbClr val="C2352F"/>
          </a:solidFill>
          <a:ln/>
        </p:spPr>
      </p:sp>
      <p:sp>
        <p:nvSpPr>
          <p:cNvPr id="143" name="Text 141"/>
          <p:cNvSpPr txBox="1"/>
          <p:nvPr/>
        </p:nvSpPr>
        <p:spPr>
          <a:xfrm>
            <a:off x="10305288" y="530047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1.38</a:t>
            </a:r>
            <a:endParaRPr lang="en-US" sz="1200" dirty="0"/>
          </a:p>
        </p:txBody>
      </p:sp>
      <p:sp>
        <p:nvSpPr>
          <p:cNvPr id="144" name="Text 142"/>
          <p:cNvSpPr txBox="1"/>
          <p:nvPr/>
        </p:nvSpPr>
        <p:spPr>
          <a:xfrm>
            <a:off x="6208776" y="55087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45" name="Text 143"/>
          <p:cNvSpPr txBox="1"/>
          <p:nvPr/>
        </p:nvSpPr>
        <p:spPr>
          <a:xfrm>
            <a:off x="6565392" y="55087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46" name="Shape 144"/>
          <p:cNvSpPr/>
          <p:nvPr/>
        </p:nvSpPr>
        <p:spPr>
          <a:xfrm>
            <a:off x="8558784" y="5560822"/>
            <a:ext cx="858628" cy="104140"/>
          </a:xfrm>
          <a:prstGeom prst="rect">
            <a:avLst/>
          </a:prstGeom>
          <a:solidFill>
            <a:srgbClr val="C2352F"/>
          </a:solidFill>
          <a:ln/>
        </p:spPr>
      </p:sp>
      <p:sp>
        <p:nvSpPr>
          <p:cNvPr id="147" name="Text 145"/>
          <p:cNvSpPr txBox="1"/>
          <p:nvPr/>
        </p:nvSpPr>
        <p:spPr>
          <a:xfrm>
            <a:off x="10305288" y="550875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1.29</a:t>
            </a:r>
            <a:endParaRPr lang="en-US" sz="1200" dirty="0"/>
          </a:p>
        </p:txBody>
      </p:sp>
      <p:sp>
        <p:nvSpPr>
          <p:cNvPr id="148" name="Shape 146"/>
          <p:cNvSpPr/>
          <p:nvPr/>
        </p:nvSpPr>
        <p:spPr>
          <a:xfrm>
            <a:off x="4163400" y="2176272"/>
            <a:ext cx="14630" cy="3749040"/>
          </a:xfrm>
          <a:prstGeom prst="rect">
            <a:avLst/>
          </a:prstGeom>
          <a:solidFill>
            <a:srgbClr val="0B2C4A"/>
          </a:solidFill>
          <a:ln/>
        </p:spPr>
      </p:sp>
      <p:sp>
        <p:nvSpPr>
          <p:cNvPr id="149" name="Shape 147"/>
          <p:cNvSpPr/>
          <p:nvPr/>
        </p:nvSpPr>
        <p:spPr>
          <a:xfrm>
            <a:off x="9713808" y="2176272"/>
            <a:ext cx="14630" cy="3749040"/>
          </a:xfrm>
          <a:prstGeom prst="rect">
            <a:avLst/>
          </a:prstGeom>
          <a:solidFill>
            <a:srgbClr val="0B2C4A"/>
          </a:solidFill>
          <a:ln/>
        </p:spPr>
      </p:sp>
      <p:sp>
        <p:nvSpPr>
          <p:cNvPr id="150" name="Shape 148"/>
          <p:cNvSpPr/>
          <p:nvPr/>
        </p:nvSpPr>
        <p:spPr>
          <a:xfrm>
            <a:off x="6085332" y="2176272"/>
            <a:ext cx="10973" cy="3749040"/>
          </a:xfrm>
          <a:prstGeom prst="rect">
            <a:avLst/>
          </a:prstGeom>
          <a:solidFill>
            <a:srgbClr val="D9D9D9"/>
          </a:solidFill>
          <a:ln/>
        </p:spPr>
      </p:sp>
      <p:sp>
        <p:nvSpPr>
          <p:cNvPr id="151" name="Shape 149"/>
          <p:cNvSpPr/>
          <p:nvPr/>
        </p:nvSpPr>
        <p:spPr>
          <a:xfrm>
            <a:off x="457200" y="6126480"/>
            <a:ext cx="11274552" cy="615696"/>
          </a:xfrm>
          <a:prstGeom prst="rect">
            <a:avLst/>
          </a:prstGeom>
          <a:solidFill>
            <a:srgbClr val="EDF4FA"/>
          </a:solidFill>
          <a:ln/>
        </p:spPr>
      </p:sp>
      <p:sp>
        <p:nvSpPr>
          <p:cNvPr id="152" name="Text 15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4 of 9 luxury stores beat 2.90 and 10 of 24 others beat 1.75. VW Henderson leads non-luxury at 2.49.</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HOURS PER RO</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+0.07</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 name="Shape 11"/>
          <p:cNvSpPr/>
          <p:nvPr/>
        </p:nvSpPr>
        <p:spPr>
          <a:xfrm>
            <a:off x="3785616" y="1911860"/>
            <a:ext cx="770176"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+0.55</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7" name="Shape 15"/>
          <p:cNvSpPr/>
          <p:nvPr/>
        </p:nvSpPr>
        <p:spPr>
          <a:xfrm>
            <a:off x="3785616" y="2151755"/>
            <a:ext cx="564666"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+0.40</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21" name="Shape 19"/>
          <p:cNvSpPr/>
          <p:nvPr/>
        </p:nvSpPr>
        <p:spPr>
          <a:xfrm>
            <a:off x="3785616" y="2391651"/>
            <a:ext cx="426065"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+0.30</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25" name="Shape 23"/>
          <p:cNvSpPr/>
          <p:nvPr/>
        </p:nvSpPr>
        <p:spPr>
          <a:xfrm>
            <a:off x="3785616" y="2631546"/>
            <a:ext cx="417722"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+0.30</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29" name="Shape 27"/>
          <p:cNvSpPr/>
          <p:nvPr/>
        </p:nvSpPr>
        <p:spPr>
          <a:xfrm>
            <a:off x="3785616" y="2871442"/>
            <a:ext cx="412897"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+0.29</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33" name="Shape 31"/>
          <p:cNvSpPr/>
          <p:nvPr/>
        </p:nvSpPr>
        <p:spPr>
          <a:xfrm>
            <a:off x="3785616" y="3111337"/>
            <a:ext cx="410888"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+0.29</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37" name="Shape 35"/>
          <p:cNvSpPr/>
          <p:nvPr/>
        </p:nvSpPr>
        <p:spPr>
          <a:xfrm>
            <a:off x="3785616" y="3351233"/>
            <a:ext cx="367632"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+0.26</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41" name="Shape 39"/>
          <p:cNvSpPr/>
          <p:nvPr/>
        </p:nvSpPr>
        <p:spPr>
          <a:xfrm>
            <a:off x="3785616" y="3591128"/>
            <a:ext cx="361775"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+0.26</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5" name="Shape 43"/>
          <p:cNvSpPr/>
          <p:nvPr/>
        </p:nvSpPr>
        <p:spPr>
          <a:xfrm>
            <a:off x="3785616" y="3831024"/>
            <a:ext cx="347775"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+0.25</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49" name="Shape 47"/>
          <p:cNvSpPr/>
          <p:nvPr/>
        </p:nvSpPr>
        <p:spPr>
          <a:xfrm>
            <a:off x="3785616" y="4070920"/>
            <a:ext cx="323785"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+0.23</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53" name="Shape 51"/>
          <p:cNvSpPr/>
          <p:nvPr/>
        </p:nvSpPr>
        <p:spPr>
          <a:xfrm>
            <a:off x="3785616" y="4310815"/>
            <a:ext cx="276863"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+0.20</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57" name="Shape 55"/>
          <p:cNvSpPr/>
          <p:nvPr/>
        </p:nvSpPr>
        <p:spPr>
          <a:xfrm>
            <a:off x="3785616" y="4550711"/>
            <a:ext cx="261070"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+0.19</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61" name="Shape 59"/>
          <p:cNvSpPr/>
          <p:nvPr/>
        </p:nvSpPr>
        <p:spPr>
          <a:xfrm>
            <a:off x="3785616" y="4790606"/>
            <a:ext cx="221771"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+0.16</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65" name="Shape 63"/>
          <p:cNvSpPr/>
          <p:nvPr/>
        </p:nvSpPr>
        <p:spPr>
          <a:xfrm>
            <a:off x="3785616" y="5030502"/>
            <a:ext cx="181513"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+0.13</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69" name="Shape 67"/>
          <p:cNvSpPr/>
          <p:nvPr/>
        </p:nvSpPr>
        <p:spPr>
          <a:xfrm>
            <a:off x="3785616" y="5270397"/>
            <a:ext cx="156493"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+0.11</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73" name="Shape 71"/>
          <p:cNvSpPr/>
          <p:nvPr/>
        </p:nvSpPr>
        <p:spPr>
          <a:xfrm>
            <a:off x="3785616" y="5510293"/>
            <a:ext cx="146373"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+0.10</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77" name="Shape 75"/>
          <p:cNvSpPr/>
          <p:nvPr/>
        </p:nvSpPr>
        <p:spPr>
          <a:xfrm>
            <a:off x="3785616" y="5750188"/>
            <a:ext cx="142691"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+0.10</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1" name="Shape 79"/>
          <p:cNvSpPr/>
          <p:nvPr/>
        </p:nvSpPr>
        <p:spPr>
          <a:xfrm>
            <a:off x="9336024" y="1911860"/>
            <a:ext cx="132718"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+0.09</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85" name="Shape 83"/>
          <p:cNvSpPr/>
          <p:nvPr/>
        </p:nvSpPr>
        <p:spPr>
          <a:xfrm>
            <a:off x="9336024" y="2151755"/>
            <a:ext cx="128547"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+0.09</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89" name="Shape 87"/>
          <p:cNvSpPr/>
          <p:nvPr/>
        </p:nvSpPr>
        <p:spPr>
          <a:xfrm>
            <a:off x="9336024" y="2391651"/>
            <a:ext cx="122528"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+0.09</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93" name="Shape 91"/>
          <p:cNvSpPr/>
          <p:nvPr/>
        </p:nvSpPr>
        <p:spPr>
          <a:xfrm>
            <a:off x="9336024" y="2631546"/>
            <a:ext cx="114612" cy="110352"/>
          </a:xfrm>
          <a:prstGeom prst="rect">
            <a:avLst/>
          </a:prstGeom>
          <a:solidFill>
            <a:srgbClr val="12A566"/>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+0.08</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97" name="Shape 95"/>
          <p:cNvSpPr/>
          <p:nvPr/>
        </p:nvSpPr>
        <p:spPr>
          <a:xfrm>
            <a:off x="9336024" y="2871442"/>
            <a:ext cx="111734" cy="110352"/>
          </a:xfrm>
          <a:prstGeom prst="rect">
            <a:avLst/>
          </a:prstGeom>
          <a:solidFill>
            <a:srgbClr val="12A566"/>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+0.08</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01" name="Shape 99"/>
          <p:cNvSpPr/>
          <p:nvPr/>
        </p:nvSpPr>
        <p:spPr>
          <a:xfrm>
            <a:off x="9336024" y="3111337"/>
            <a:ext cx="63851" cy="110352"/>
          </a:xfrm>
          <a:prstGeom prst="rect">
            <a:avLst/>
          </a:prstGeom>
          <a:solidFill>
            <a:srgbClr val="12A566"/>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+0.05</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05" name="Shape 103"/>
          <p:cNvSpPr/>
          <p:nvPr/>
        </p:nvSpPr>
        <p:spPr>
          <a:xfrm>
            <a:off x="9336024" y="3351233"/>
            <a:ext cx="58226" cy="110352"/>
          </a:xfrm>
          <a:prstGeom prst="rect">
            <a:avLst/>
          </a:prstGeom>
          <a:solidFill>
            <a:srgbClr val="12A566"/>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+0.04</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09" name="Shape 107"/>
          <p:cNvSpPr/>
          <p:nvPr/>
        </p:nvSpPr>
        <p:spPr>
          <a:xfrm>
            <a:off x="9336024" y="3591128"/>
            <a:ext cx="12802" cy="110352"/>
          </a:xfrm>
          <a:prstGeom prst="rect">
            <a:avLst/>
          </a:prstGeom>
          <a:solidFill>
            <a:srgbClr val="12A566"/>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+0.01</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13" name="Shape 111"/>
          <p:cNvSpPr/>
          <p:nvPr/>
        </p:nvSpPr>
        <p:spPr>
          <a:xfrm>
            <a:off x="9336024" y="3831024"/>
            <a:ext cx="12802" cy="110352"/>
          </a:xfrm>
          <a:prstGeom prst="rect">
            <a:avLst/>
          </a:prstGeom>
          <a:solidFill>
            <a:srgbClr val="12A566"/>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+0.00</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17" name="Shape 115"/>
          <p:cNvSpPr/>
          <p:nvPr/>
        </p:nvSpPr>
        <p:spPr>
          <a:xfrm>
            <a:off x="9297473" y="4070920"/>
            <a:ext cx="38551"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−0.03</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21" name="Shape 119"/>
          <p:cNvSpPr/>
          <p:nvPr/>
        </p:nvSpPr>
        <p:spPr>
          <a:xfrm>
            <a:off x="9292255" y="4310815"/>
            <a:ext cx="43769"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−0.03</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25" name="Shape 123"/>
          <p:cNvSpPr/>
          <p:nvPr/>
        </p:nvSpPr>
        <p:spPr>
          <a:xfrm>
            <a:off x="9238983" y="4550711"/>
            <a:ext cx="97041"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−0.07</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29" name="Shape 127"/>
          <p:cNvSpPr/>
          <p:nvPr/>
        </p:nvSpPr>
        <p:spPr>
          <a:xfrm>
            <a:off x="9121986" y="4790606"/>
            <a:ext cx="214038"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−0.15</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3" name="Shape 131"/>
          <p:cNvSpPr/>
          <p:nvPr/>
        </p:nvSpPr>
        <p:spPr>
          <a:xfrm>
            <a:off x="8992031" y="5030502"/>
            <a:ext cx="343993"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−0.24</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37" name="Shape 135"/>
          <p:cNvSpPr/>
          <p:nvPr/>
        </p:nvSpPr>
        <p:spPr>
          <a:xfrm>
            <a:off x="8911352" y="5270397"/>
            <a:ext cx="424672"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−0.30</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41" name="Shape 139"/>
          <p:cNvSpPr/>
          <p:nvPr/>
        </p:nvSpPr>
        <p:spPr>
          <a:xfrm>
            <a:off x="8558784" y="5510293"/>
            <a:ext cx="777240"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−0.55</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615696"/>
          </a:xfrm>
          <a:prstGeom prst="rect">
            <a:avLst/>
          </a:prstGeom>
          <a:solidFill>
            <a:srgbClr val="E6F6EE"/>
          </a:solidFill>
          <a:ln/>
        </p:spPr>
      </p:sp>
      <p:sp>
        <p:nvSpPr>
          <p:cNvPr id="147" name="Text 14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26 of 33 stores sold more hours per RO, led by Subaru St George at +0.55 to 2.30. 7 declined; LR Reno fell most at −0.55.</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Text 8"/>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2.30</a:t>
            </a:r>
            <a:endParaRPr lang="en-US" sz="1400" dirty="0"/>
          </a:p>
        </p:txBody>
      </p:sp>
      <p:sp>
        <p:nvSpPr>
          <p:cNvPr id="12" name="Text 10"/>
          <p:cNvSpPr txBox="1"/>
          <p:nvPr/>
        </p:nvSpPr>
        <p:spPr>
          <a:xfrm>
            <a:off x="2941320"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+0.55</a:t>
            </a:r>
            <a:endParaRPr lang="en-US" sz="1600" dirty="0"/>
          </a:p>
        </p:txBody>
      </p:sp>
      <p:sp>
        <p:nvSpPr>
          <p:cNvPr id="13" name="Text 11"/>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1.43</a:t>
            </a:r>
            <a:endParaRPr lang="en-US" sz="1400" dirty="0"/>
          </a:p>
        </p:txBody>
      </p:sp>
      <p:sp>
        <p:nvSpPr>
          <p:cNvPr id="15" name="Text 13"/>
          <p:cNvSpPr txBox="1"/>
          <p:nvPr/>
        </p:nvSpPr>
        <p:spPr>
          <a:xfrm>
            <a:off x="2941320"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+0.40</a:t>
            </a:r>
            <a:endParaRPr lang="en-US" sz="1600" dirty="0"/>
          </a:p>
        </p:txBody>
      </p:sp>
      <p:sp>
        <p:nvSpPr>
          <p:cNvPr id="16" name="Shape 14"/>
          <p:cNvSpPr/>
          <p:nvPr/>
        </p:nvSpPr>
        <p:spPr>
          <a:xfrm>
            <a:off x="658368" y="3613709"/>
            <a:ext cx="3489960" cy="755294"/>
          </a:xfrm>
          <a:prstGeom prst="rect">
            <a:avLst/>
          </a:prstGeom>
          <a:solidFill>
            <a:srgbClr val="F7F7F7"/>
          </a:solidFill>
          <a:ln/>
        </p:spPr>
      </p:sp>
      <p:sp>
        <p:nvSpPr>
          <p:cNvPr id="17" name="Text 15"/>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8" name="Text 16"/>
          <p:cNvSpPr txBox="1"/>
          <p:nvPr/>
        </p:nvSpPr>
        <p:spPr>
          <a:xfrm>
            <a:off x="1097280"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0.99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1.29</a:t>
            </a:r>
            <a:endParaRPr lang="en-US" sz="1400" dirty="0"/>
          </a:p>
        </p:txBody>
      </p:sp>
      <p:sp>
        <p:nvSpPr>
          <p:cNvPr id="19" name="Text 17"/>
          <p:cNvSpPr txBox="1"/>
          <p:nvPr/>
        </p:nvSpPr>
        <p:spPr>
          <a:xfrm>
            <a:off x="2941320"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+0.30</a:t>
            </a:r>
            <a:endParaRPr lang="en-US" sz="1600" dirty="0"/>
          </a:p>
        </p:txBody>
      </p:sp>
      <p:sp>
        <p:nvSpPr>
          <p:cNvPr id="20" name="Text 18"/>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1" name="Text 19"/>
          <p:cNvSpPr txBox="1"/>
          <p:nvPr/>
        </p:nvSpPr>
        <p:spPr>
          <a:xfrm>
            <a:off x="1097280"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2.08</a:t>
            </a:r>
            <a:endParaRPr lang="en-US" sz="1400" dirty="0"/>
          </a:p>
        </p:txBody>
      </p:sp>
      <p:sp>
        <p:nvSpPr>
          <p:cNvPr id="22" name="Text 20"/>
          <p:cNvSpPr txBox="1"/>
          <p:nvPr/>
        </p:nvSpPr>
        <p:spPr>
          <a:xfrm>
            <a:off x="2941320"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+0.30</a:t>
            </a:r>
            <a:endParaRPr lang="en-US" sz="1600" dirty="0"/>
          </a:p>
        </p:txBody>
      </p:sp>
      <p:sp>
        <p:nvSpPr>
          <p:cNvPr id="23" name="Shape 21"/>
          <p:cNvSpPr/>
          <p:nvPr/>
        </p:nvSpPr>
        <p:spPr>
          <a:xfrm>
            <a:off x="658368" y="5124298"/>
            <a:ext cx="3489960" cy="755294"/>
          </a:xfrm>
          <a:prstGeom prst="rect">
            <a:avLst/>
          </a:prstGeom>
          <a:solidFill>
            <a:srgbClr val="F7F7F7"/>
          </a:solidFill>
          <a:ln/>
        </p:spPr>
      </p:sp>
      <p:sp>
        <p:nvSpPr>
          <p:cNvPr id="24" name="Text 22"/>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5" name="Text 23"/>
          <p:cNvSpPr txBox="1"/>
          <p:nvPr/>
        </p:nvSpPr>
        <p:spPr>
          <a:xfrm>
            <a:off x="1097280"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3.69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3.99</a:t>
            </a:r>
            <a:endParaRPr lang="en-US" sz="1400" dirty="0"/>
          </a:p>
        </p:txBody>
      </p:sp>
      <p:sp>
        <p:nvSpPr>
          <p:cNvPr id="26" name="Text 24"/>
          <p:cNvSpPr txBox="1"/>
          <p:nvPr/>
        </p:nvSpPr>
        <p:spPr>
          <a:xfrm>
            <a:off x="2941320"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+0.29</a:t>
            </a:r>
            <a:endParaRPr lang="en-US" sz="1600" dirty="0"/>
          </a:p>
        </p:txBody>
      </p:sp>
      <p:sp>
        <p:nvSpPr>
          <p:cNvPr id="27" name="Shape 25"/>
          <p:cNvSpPr/>
          <p:nvPr/>
        </p:nvSpPr>
        <p:spPr>
          <a:xfrm>
            <a:off x="4349496" y="1371600"/>
            <a:ext cx="3489960" cy="45720"/>
          </a:xfrm>
          <a:prstGeom prst="rect">
            <a:avLst/>
          </a:prstGeom>
          <a:solidFill>
            <a:srgbClr val="C2352F"/>
          </a:solidFill>
          <a:ln/>
        </p:spPr>
      </p:sp>
      <p:sp>
        <p:nvSpPr>
          <p:cNvPr id="28"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29" name="Text 27"/>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30" name="Shape 28"/>
          <p:cNvSpPr/>
          <p:nvPr/>
        </p:nvSpPr>
        <p:spPr>
          <a:xfrm>
            <a:off x="4349496" y="2103120"/>
            <a:ext cx="3489960" cy="755294"/>
          </a:xfrm>
          <a:prstGeom prst="rect">
            <a:avLst/>
          </a:prstGeom>
          <a:solidFill>
            <a:srgbClr val="F7F7F7"/>
          </a:solidFill>
          <a:ln/>
        </p:spPr>
      </p:sp>
      <p:sp>
        <p:nvSpPr>
          <p:cNvPr id="31" name="Text 29"/>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2" name="Text 30"/>
          <p:cNvSpPr txBox="1"/>
          <p:nvPr/>
        </p:nvSpPr>
        <p:spPr>
          <a:xfrm>
            <a:off x="4788408"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3.48</a:t>
            </a:r>
            <a:endParaRPr lang="en-US" sz="1400" dirty="0"/>
          </a:p>
        </p:txBody>
      </p:sp>
      <p:sp>
        <p:nvSpPr>
          <p:cNvPr id="33" name="Text 31"/>
          <p:cNvSpPr txBox="1"/>
          <p:nvPr/>
        </p:nvSpPr>
        <p:spPr>
          <a:xfrm>
            <a:off x="6632448" y="2103120"/>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−0.55</a:t>
            </a:r>
            <a:endParaRPr lang="en-US" sz="1600" dirty="0"/>
          </a:p>
        </p:txBody>
      </p:sp>
      <p:sp>
        <p:nvSpPr>
          <p:cNvPr id="34" name="Text 32"/>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5" name="Text 33"/>
          <p:cNvSpPr txBox="1"/>
          <p:nvPr/>
        </p:nvSpPr>
        <p:spPr>
          <a:xfrm>
            <a:off x="4788408"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2.28</a:t>
            </a:r>
            <a:endParaRPr lang="en-US" sz="1400" dirty="0"/>
          </a:p>
        </p:txBody>
      </p:sp>
      <p:sp>
        <p:nvSpPr>
          <p:cNvPr id="36" name="Text 34"/>
          <p:cNvSpPr txBox="1"/>
          <p:nvPr/>
        </p:nvSpPr>
        <p:spPr>
          <a:xfrm>
            <a:off x="6632448" y="2858414"/>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−0.30</a:t>
            </a:r>
            <a:endParaRPr lang="en-US" sz="1600" dirty="0"/>
          </a:p>
        </p:txBody>
      </p:sp>
      <p:sp>
        <p:nvSpPr>
          <p:cNvPr id="37" name="Shape 35"/>
          <p:cNvSpPr/>
          <p:nvPr/>
        </p:nvSpPr>
        <p:spPr>
          <a:xfrm>
            <a:off x="4349496" y="3613709"/>
            <a:ext cx="3489960" cy="755294"/>
          </a:xfrm>
          <a:prstGeom prst="rect">
            <a:avLst/>
          </a:prstGeom>
          <a:solidFill>
            <a:srgbClr val="F7F7F7"/>
          </a:solidFill>
          <a:ln/>
        </p:spPr>
      </p:sp>
      <p:sp>
        <p:nvSpPr>
          <p:cNvPr id="38" name="Text 36"/>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39" name="Text 37"/>
          <p:cNvSpPr txBox="1"/>
          <p:nvPr/>
        </p:nvSpPr>
        <p:spPr>
          <a:xfrm>
            <a:off x="4788408"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1.71</a:t>
            </a:r>
            <a:endParaRPr lang="en-US" sz="1400" dirty="0"/>
          </a:p>
        </p:txBody>
      </p:sp>
      <p:sp>
        <p:nvSpPr>
          <p:cNvPr id="40" name="Text 38"/>
          <p:cNvSpPr txBox="1"/>
          <p:nvPr/>
        </p:nvSpPr>
        <p:spPr>
          <a:xfrm>
            <a:off x="6632448" y="3613709"/>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−0.24</a:t>
            </a:r>
            <a:endParaRPr lang="en-US" sz="1600" dirty="0"/>
          </a:p>
        </p:txBody>
      </p:sp>
      <p:sp>
        <p:nvSpPr>
          <p:cNvPr id="41" name="Text 39"/>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2" name="Text 40"/>
          <p:cNvSpPr txBox="1"/>
          <p:nvPr/>
        </p:nvSpPr>
        <p:spPr>
          <a:xfrm>
            <a:off x="4788408"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2.88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2.73</a:t>
            </a:r>
            <a:endParaRPr lang="en-US" sz="1400" dirty="0"/>
          </a:p>
        </p:txBody>
      </p:sp>
      <p:sp>
        <p:nvSpPr>
          <p:cNvPr id="43" name="Text 41"/>
          <p:cNvSpPr txBox="1"/>
          <p:nvPr/>
        </p:nvSpPr>
        <p:spPr>
          <a:xfrm>
            <a:off x="6632448" y="4369003"/>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−0.15</a:t>
            </a:r>
            <a:endParaRPr lang="en-US" sz="1600" dirty="0"/>
          </a:p>
        </p:txBody>
      </p:sp>
      <p:sp>
        <p:nvSpPr>
          <p:cNvPr id="44" name="Shape 42"/>
          <p:cNvSpPr/>
          <p:nvPr/>
        </p:nvSpPr>
        <p:spPr>
          <a:xfrm>
            <a:off x="4349496" y="5124298"/>
            <a:ext cx="3489960" cy="755294"/>
          </a:xfrm>
          <a:prstGeom prst="rect">
            <a:avLst/>
          </a:prstGeom>
          <a:solidFill>
            <a:srgbClr val="F7F7F7"/>
          </a:solidFill>
          <a:ln/>
        </p:spPr>
      </p:sp>
      <p:sp>
        <p:nvSpPr>
          <p:cNvPr id="45" name="Text 43"/>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6" name="Text 44"/>
          <p:cNvSpPr txBox="1"/>
          <p:nvPr/>
        </p:nvSpPr>
        <p:spPr>
          <a:xfrm>
            <a:off x="4788408"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2.30</a:t>
            </a:r>
            <a:endParaRPr lang="en-US" sz="1400" dirty="0"/>
          </a:p>
        </p:txBody>
      </p:sp>
      <p:sp>
        <p:nvSpPr>
          <p:cNvPr id="47" name="Text 45"/>
          <p:cNvSpPr txBox="1"/>
          <p:nvPr/>
        </p:nvSpPr>
        <p:spPr>
          <a:xfrm>
            <a:off x="6632448" y="5124298"/>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−0.07</a:t>
            </a:r>
            <a:endParaRPr lang="en-US" sz="1600" dirty="0"/>
          </a:p>
        </p:txBody>
      </p:sp>
      <p:sp>
        <p:nvSpPr>
          <p:cNvPr id="48" name="Shape 46"/>
          <p:cNvSpPr/>
          <p:nvPr/>
        </p:nvSpPr>
        <p:spPr>
          <a:xfrm>
            <a:off x="8040624" y="1371600"/>
            <a:ext cx="3489960" cy="45720"/>
          </a:xfrm>
          <a:prstGeom prst="rect">
            <a:avLst/>
          </a:prstGeom>
          <a:solidFill>
            <a:srgbClr val="2587C5"/>
          </a:solidFill>
          <a:ln/>
        </p:spPr>
      </p:sp>
      <p:sp>
        <p:nvSpPr>
          <p:cNvPr id="49" name="Text 4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0" name="Text 48"/>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a:t>
            </a:r>
            <a:endParaRPr lang="en-US" sz="1200" dirty="0"/>
          </a:p>
        </p:txBody>
      </p:sp>
      <p:sp>
        <p:nvSpPr>
          <p:cNvPr id="51" name="Shape 49"/>
          <p:cNvSpPr/>
          <p:nvPr/>
        </p:nvSpPr>
        <p:spPr>
          <a:xfrm>
            <a:off x="8040624" y="2103120"/>
            <a:ext cx="3489960" cy="755294"/>
          </a:xfrm>
          <a:prstGeom prst="rect">
            <a:avLst/>
          </a:prstGeom>
          <a:solidFill>
            <a:srgbClr val="F7F7F7"/>
          </a:solidFill>
          <a:ln/>
        </p:spPr>
      </p:sp>
      <p:sp>
        <p:nvSpPr>
          <p:cNvPr id="52" name="Text 50"/>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3" name="Text 51"/>
          <p:cNvSpPr txBox="1"/>
          <p:nvPr/>
        </p:nvSpPr>
        <p:spPr>
          <a:xfrm>
            <a:off x="8479536"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1.65</a:t>
            </a:r>
            <a:endParaRPr lang="en-US" sz="1400" dirty="0"/>
          </a:p>
        </p:txBody>
      </p:sp>
      <p:sp>
        <p:nvSpPr>
          <p:cNvPr id="54" name="Text 52"/>
          <p:cNvSpPr txBox="1"/>
          <p:nvPr/>
        </p:nvSpPr>
        <p:spPr>
          <a:xfrm>
            <a:off x="10323576"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+0.30</a:t>
            </a:r>
            <a:endParaRPr lang="en-US" sz="1600" dirty="0"/>
          </a:p>
        </p:txBody>
      </p:sp>
      <p:sp>
        <p:nvSpPr>
          <p:cNvPr id="55" name="Text 53"/>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6" name="Text 54"/>
          <p:cNvSpPr txBox="1"/>
          <p:nvPr/>
        </p:nvSpPr>
        <p:spPr>
          <a:xfrm>
            <a:off x="8479536"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1.76</a:t>
            </a:r>
            <a:endParaRPr lang="en-US" sz="1400" dirty="0"/>
          </a:p>
        </p:txBody>
      </p:sp>
      <p:sp>
        <p:nvSpPr>
          <p:cNvPr id="57" name="Text 55"/>
          <p:cNvSpPr txBox="1"/>
          <p:nvPr/>
        </p:nvSpPr>
        <p:spPr>
          <a:xfrm>
            <a:off x="10323576"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+0.21</a:t>
            </a:r>
            <a:endParaRPr lang="en-US" sz="1600" dirty="0"/>
          </a:p>
        </p:txBody>
      </p:sp>
      <p:sp>
        <p:nvSpPr>
          <p:cNvPr id="58" name="Shape 56"/>
          <p:cNvSpPr/>
          <p:nvPr/>
        </p:nvSpPr>
        <p:spPr>
          <a:xfrm>
            <a:off x="8040624" y="3613709"/>
            <a:ext cx="3489960" cy="755294"/>
          </a:xfrm>
          <a:prstGeom prst="rect">
            <a:avLst/>
          </a:prstGeom>
          <a:solidFill>
            <a:srgbClr val="F7F7F7"/>
          </a:solidFill>
          <a:ln/>
        </p:spPr>
      </p:sp>
      <p:sp>
        <p:nvSpPr>
          <p:cNvPr id="59" name="Text 57"/>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0" name="Text 58"/>
          <p:cNvSpPr txBox="1"/>
          <p:nvPr/>
        </p:nvSpPr>
        <p:spPr>
          <a:xfrm>
            <a:off x="8479536"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4.07</a:t>
            </a:r>
            <a:endParaRPr lang="en-US" sz="1400" dirty="0"/>
          </a:p>
        </p:txBody>
      </p:sp>
      <p:sp>
        <p:nvSpPr>
          <p:cNvPr id="61" name="Text 59"/>
          <p:cNvSpPr txBox="1"/>
          <p:nvPr/>
        </p:nvSpPr>
        <p:spPr>
          <a:xfrm>
            <a:off x="10323576"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+0.17</a:t>
            </a:r>
            <a:endParaRPr lang="en-US" sz="1600" dirty="0"/>
          </a:p>
        </p:txBody>
      </p:sp>
      <p:sp>
        <p:nvSpPr>
          <p:cNvPr id="62" name="Text 60"/>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3" name="Text 61"/>
          <p:cNvSpPr txBox="1"/>
          <p:nvPr/>
        </p:nvSpPr>
        <p:spPr>
          <a:xfrm>
            <a:off x="8479536"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1.54</a:t>
            </a:r>
            <a:endParaRPr lang="en-US" sz="1400" dirty="0"/>
          </a:p>
        </p:txBody>
      </p:sp>
      <p:sp>
        <p:nvSpPr>
          <p:cNvPr id="64" name="Text 62"/>
          <p:cNvSpPr txBox="1"/>
          <p:nvPr/>
        </p:nvSpPr>
        <p:spPr>
          <a:xfrm>
            <a:off x="10323576"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+0.17</a:t>
            </a:r>
            <a:endParaRPr lang="en-US" sz="1600" dirty="0"/>
          </a:p>
        </p:txBody>
      </p:sp>
      <p:sp>
        <p:nvSpPr>
          <p:cNvPr id="65" name="Shape 63"/>
          <p:cNvSpPr/>
          <p:nvPr/>
        </p:nvSpPr>
        <p:spPr>
          <a:xfrm>
            <a:off x="8040624" y="5124298"/>
            <a:ext cx="3489960" cy="755294"/>
          </a:xfrm>
          <a:prstGeom prst="rect">
            <a:avLst/>
          </a:prstGeom>
          <a:solidFill>
            <a:srgbClr val="F7F7F7"/>
          </a:solidFill>
          <a:ln/>
        </p:spPr>
      </p:sp>
      <p:sp>
        <p:nvSpPr>
          <p:cNvPr id="66" name="Text 64"/>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7" name="Text 65"/>
          <p:cNvSpPr txBox="1"/>
          <p:nvPr/>
        </p:nvSpPr>
        <p:spPr>
          <a:xfrm>
            <a:off x="8479536"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3.41</a:t>
            </a:r>
            <a:endParaRPr lang="en-US" sz="1400" dirty="0"/>
          </a:p>
        </p:txBody>
      </p:sp>
      <p:sp>
        <p:nvSpPr>
          <p:cNvPr id="68" name="Text 66"/>
          <p:cNvSpPr txBox="1"/>
          <p:nvPr/>
        </p:nvSpPr>
        <p:spPr>
          <a:xfrm>
            <a:off x="10323576"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+0.15</a:t>
            </a:r>
            <a:endParaRPr lang="en-US" sz="1600" dirty="0"/>
          </a:p>
        </p:txBody>
      </p:sp>
      <p:sp>
        <p:nvSpPr>
          <p:cNvPr id="69" name="Shape 67"/>
          <p:cNvSpPr/>
          <p:nvPr/>
        </p:nvSpPr>
        <p:spPr>
          <a:xfrm>
            <a:off x="457200" y="6126480"/>
            <a:ext cx="11274552" cy="615696"/>
          </a:xfrm>
          <a:prstGeom prst="rect">
            <a:avLst/>
          </a:prstGeom>
          <a:solidFill>
            <a:srgbClr val="EDF4FA"/>
          </a:solidFill>
          <a:ln/>
        </p:spPr>
      </p:sp>
      <p:sp>
        <p:nvSpPr>
          <p:cNvPr id="70" name="Text 6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Ask Subaru St George, Hyundai St George and Kia St George what changed. Ask LR Reno, Volvo and VW St George what got in the way. Ask Mazda, Hyundai Prescott and LR LV what they started this year.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$158.86</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$162.42</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+$3.56</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+2.2%</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ELR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sp>
        <p:nvSpPr>
          <p:cNvPr id="21" name="Shape 15"/>
          <p:cNvSpPr/>
          <p:nvPr/>
        </p:nvSpPr>
        <p:spPr>
          <a:xfrm>
            <a:off x="4951476" y="3049524"/>
            <a:ext cx="310896" cy="45720"/>
          </a:xfrm>
          <a:prstGeom prst="rect">
            <a:avLst/>
          </a:prstGeom>
          <a:solidFill>
            <a:srgbClr val="9AA3AD"/>
          </a:solidFill>
          <a:ln/>
        </p:spPr>
      </p:sp>
      <p:sp>
        <p:nvSpPr>
          <p:cNvPr id="22" name="Shape 16"/>
          <p:cNvSpPr/>
          <p:nvPr/>
        </p:nvSpPr>
        <p:spPr>
          <a:xfrm>
            <a:off x="5052060" y="3017520"/>
            <a:ext cx="109728" cy="109728"/>
          </a:xfrm>
          <a:prstGeom prst="ellipse">
            <a:avLst/>
          </a:prstGeom>
          <a:solidFill>
            <a:srgbClr val="9AA3AD"/>
          </a:solidFill>
          <a:ln/>
        </p:spPr>
      </p:sp>
      <p:sp>
        <p:nvSpPr>
          <p:cNvPr id="23"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4" name="Shape 18"/>
          <p:cNvSpPr/>
          <p:nvPr/>
        </p:nvSpPr>
        <p:spPr>
          <a:xfrm>
            <a:off x="6185916" y="3049524"/>
            <a:ext cx="310896" cy="45720"/>
          </a:xfrm>
          <a:prstGeom prst="rect">
            <a:avLst/>
          </a:prstGeom>
          <a:solidFill>
            <a:srgbClr val="2587C5"/>
          </a:solidFill>
          <a:ln/>
        </p:spPr>
      </p:sp>
      <p:sp>
        <p:nvSpPr>
          <p:cNvPr id="25" name="Shape 19"/>
          <p:cNvSpPr/>
          <p:nvPr/>
        </p:nvSpPr>
        <p:spPr>
          <a:xfrm>
            <a:off x="6286500" y="3017520"/>
            <a:ext cx="109728" cy="109728"/>
          </a:xfrm>
          <a:prstGeom prst="ellipse">
            <a:avLst/>
          </a:prstGeom>
          <a:solidFill>
            <a:srgbClr val="2587C5"/>
          </a:solidFill>
          <a:ln/>
        </p:spPr>
      </p:sp>
      <p:sp>
        <p:nvSpPr>
          <p:cNvPr id="26"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7" name="Shape 21"/>
          <p:cNvSpPr/>
          <p:nvPr/>
        </p:nvSpPr>
        <p:spPr>
          <a:xfrm>
            <a:off x="457200" y="6126480"/>
            <a:ext cx="11274552" cy="371856"/>
          </a:xfrm>
          <a:prstGeom prst="rect">
            <a:avLst/>
          </a:prstGeom>
          <a:solidFill>
            <a:srgbClr val="E6F6EE"/>
          </a:solidFill>
          <a:ln/>
        </p:spPr>
      </p:sp>
      <p:sp>
        <p:nvSpPr>
          <p:cNvPr id="28"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$3.56 to $162.42, ahead of 2025 in all nine months.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ELR</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$162.42</a:t>
            </a:r>
            <a:endParaRPr lang="en-US" sz="2000" dirty="0"/>
          </a:p>
        </p:txBody>
      </p:sp>
      <p:sp>
        <p:nvSpPr>
          <p:cNvPr id="11" name="Text 9"/>
          <p:cNvSpPr txBox="1"/>
          <p:nvPr/>
        </p:nvSpPr>
        <p:spPr>
          <a:xfrm>
            <a:off x="859536" y="1847088"/>
            <a:ext cx="10607040" cy="2743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Each segment ranked on its own. Navy line = each segment's average; green at or above it.</a:t>
            </a:r>
            <a:endParaRPr lang="en-US" sz="1400" dirty="0"/>
          </a:p>
        </p:txBody>
      </p:sp>
      <p:sp>
        <p:nvSpPr>
          <p:cNvPr id="12" name="Text 10"/>
          <p:cNvSpPr txBox="1"/>
          <p:nvPr/>
        </p:nvSpPr>
        <p:spPr>
          <a:xfrm>
            <a:off x="658368" y="2176272"/>
            <a:ext cx="5303520" cy="208280"/>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LUXURY · AVERAGE $217.79</a:t>
            </a:r>
            <a:endParaRPr lang="en-US" sz="1300" dirty="0"/>
          </a:p>
        </p:txBody>
      </p:sp>
      <p:sp>
        <p:nvSpPr>
          <p:cNvPr id="13" name="Shape 11"/>
          <p:cNvSpPr/>
          <p:nvPr/>
        </p:nvSpPr>
        <p:spPr>
          <a:xfrm>
            <a:off x="658368" y="2366264"/>
            <a:ext cx="5303520" cy="18288"/>
          </a:xfrm>
          <a:prstGeom prst="rect">
            <a:avLst/>
          </a:prstGeom>
          <a:solidFill>
            <a:srgbClr val="0B2C4A"/>
          </a:solidFill>
          <a:ln/>
        </p:spPr>
      </p:sp>
      <p:sp>
        <p:nvSpPr>
          <p:cNvPr id="14" name="Text 12"/>
          <p:cNvSpPr txBox="1"/>
          <p:nvPr/>
        </p:nvSpPr>
        <p:spPr>
          <a:xfrm>
            <a:off x="658368" y="23845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5" name="Text 13"/>
          <p:cNvSpPr txBox="1"/>
          <p:nvPr/>
        </p:nvSpPr>
        <p:spPr>
          <a:xfrm>
            <a:off x="1014984" y="23845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6" name="Shape 14"/>
          <p:cNvSpPr/>
          <p:nvPr/>
        </p:nvSpPr>
        <p:spPr>
          <a:xfrm>
            <a:off x="3008376" y="2436622"/>
            <a:ext cx="1457852" cy="104140"/>
          </a:xfrm>
          <a:prstGeom prst="rect">
            <a:avLst/>
          </a:prstGeom>
          <a:solidFill>
            <a:srgbClr val="12A566"/>
          </a:solidFill>
          <a:ln/>
        </p:spPr>
      </p:sp>
      <p:sp>
        <p:nvSpPr>
          <p:cNvPr id="17" name="Text 15"/>
          <p:cNvSpPr txBox="1"/>
          <p:nvPr/>
        </p:nvSpPr>
        <p:spPr>
          <a:xfrm>
            <a:off x="4754880" y="23845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$266.32</a:t>
            </a:r>
            <a:endParaRPr lang="en-US" sz="1200" dirty="0"/>
          </a:p>
        </p:txBody>
      </p:sp>
      <p:sp>
        <p:nvSpPr>
          <p:cNvPr id="18" name="Text 16"/>
          <p:cNvSpPr txBox="1"/>
          <p:nvPr/>
        </p:nvSpPr>
        <p:spPr>
          <a:xfrm>
            <a:off x="658368" y="25928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25928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20" name="Shape 18"/>
          <p:cNvSpPr/>
          <p:nvPr/>
        </p:nvSpPr>
        <p:spPr>
          <a:xfrm>
            <a:off x="3008376" y="2644902"/>
            <a:ext cx="1286740" cy="104140"/>
          </a:xfrm>
          <a:prstGeom prst="rect">
            <a:avLst/>
          </a:prstGeom>
          <a:solidFill>
            <a:srgbClr val="12A566"/>
          </a:solidFill>
          <a:ln/>
        </p:spPr>
      </p:sp>
      <p:sp>
        <p:nvSpPr>
          <p:cNvPr id="21" name="Text 19"/>
          <p:cNvSpPr txBox="1"/>
          <p:nvPr/>
        </p:nvSpPr>
        <p:spPr>
          <a:xfrm>
            <a:off x="4754880" y="25928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$235.07</a:t>
            </a:r>
            <a:endParaRPr lang="en-US" sz="1200" dirty="0"/>
          </a:p>
        </p:txBody>
      </p:sp>
      <p:sp>
        <p:nvSpPr>
          <p:cNvPr id="22" name="Text 20"/>
          <p:cNvSpPr txBox="1"/>
          <p:nvPr/>
        </p:nvSpPr>
        <p:spPr>
          <a:xfrm>
            <a:off x="658368" y="28011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3" name="Text 21"/>
          <p:cNvSpPr txBox="1"/>
          <p:nvPr/>
        </p:nvSpPr>
        <p:spPr>
          <a:xfrm>
            <a:off x="1014984" y="28011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4" name="Shape 22"/>
          <p:cNvSpPr/>
          <p:nvPr/>
        </p:nvSpPr>
        <p:spPr>
          <a:xfrm>
            <a:off x="3008376" y="2853182"/>
            <a:ext cx="1283929" cy="104140"/>
          </a:xfrm>
          <a:prstGeom prst="rect">
            <a:avLst/>
          </a:prstGeom>
          <a:solidFill>
            <a:srgbClr val="12A566"/>
          </a:solidFill>
          <a:ln/>
        </p:spPr>
      </p:sp>
      <p:sp>
        <p:nvSpPr>
          <p:cNvPr id="25" name="Text 23"/>
          <p:cNvSpPr txBox="1"/>
          <p:nvPr/>
        </p:nvSpPr>
        <p:spPr>
          <a:xfrm>
            <a:off x="4754880" y="280111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$234.55</a:t>
            </a:r>
            <a:endParaRPr lang="en-US" sz="1200" dirty="0"/>
          </a:p>
        </p:txBody>
      </p:sp>
      <p:sp>
        <p:nvSpPr>
          <p:cNvPr id="26" name="Text 24"/>
          <p:cNvSpPr txBox="1"/>
          <p:nvPr/>
        </p:nvSpPr>
        <p:spPr>
          <a:xfrm>
            <a:off x="658368" y="30093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7" name="Text 25"/>
          <p:cNvSpPr txBox="1"/>
          <p:nvPr/>
        </p:nvSpPr>
        <p:spPr>
          <a:xfrm>
            <a:off x="1014984" y="30093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28" name="Shape 26"/>
          <p:cNvSpPr/>
          <p:nvPr/>
        </p:nvSpPr>
        <p:spPr>
          <a:xfrm>
            <a:off x="3008376" y="3061462"/>
            <a:ext cx="1279771" cy="104140"/>
          </a:xfrm>
          <a:prstGeom prst="rect">
            <a:avLst/>
          </a:prstGeom>
          <a:solidFill>
            <a:srgbClr val="12A566"/>
          </a:solidFill>
          <a:ln/>
        </p:spPr>
      </p:sp>
      <p:sp>
        <p:nvSpPr>
          <p:cNvPr id="29" name="Text 27"/>
          <p:cNvSpPr txBox="1"/>
          <p:nvPr/>
        </p:nvSpPr>
        <p:spPr>
          <a:xfrm>
            <a:off x="4754880" y="300939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$233.79</a:t>
            </a:r>
            <a:endParaRPr lang="en-US" sz="1200" dirty="0"/>
          </a:p>
        </p:txBody>
      </p:sp>
      <p:sp>
        <p:nvSpPr>
          <p:cNvPr id="30" name="Text 28"/>
          <p:cNvSpPr txBox="1"/>
          <p:nvPr/>
        </p:nvSpPr>
        <p:spPr>
          <a:xfrm>
            <a:off x="658368" y="32176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1" name="Text 29"/>
          <p:cNvSpPr txBox="1"/>
          <p:nvPr/>
        </p:nvSpPr>
        <p:spPr>
          <a:xfrm>
            <a:off x="1014984" y="32176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32" name="Shape 30"/>
          <p:cNvSpPr/>
          <p:nvPr/>
        </p:nvSpPr>
        <p:spPr>
          <a:xfrm>
            <a:off x="3008376" y="3269742"/>
            <a:ext cx="1277948" cy="104140"/>
          </a:xfrm>
          <a:prstGeom prst="rect">
            <a:avLst/>
          </a:prstGeom>
          <a:solidFill>
            <a:srgbClr val="12A566"/>
          </a:solidFill>
          <a:ln/>
        </p:spPr>
      </p:sp>
      <p:sp>
        <p:nvSpPr>
          <p:cNvPr id="33" name="Text 31"/>
          <p:cNvSpPr txBox="1"/>
          <p:nvPr/>
        </p:nvSpPr>
        <p:spPr>
          <a:xfrm>
            <a:off x="4754880" y="321767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$233.46</a:t>
            </a:r>
            <a:endParaRPr lang="en-US" sz="1200" dirty="0"/>
          </a:p>
        </p:txBody>
      </p:sp>
      <p:sp>
        <p:nvSpPr>
          <p:cNvPr id="34" name="Text 32"/>
          <p:cNvSpPr txBox="1"/>
          <p:nvPr/>
        </p:nvSpPr>
        <p:spPr>
          <a:xfrm>
            <a:off x="658368" y="34259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5" name="Text 33"/>
          <p:cNvSpPr txBox="1"/>
          <p:nvPr/>
        </p:nvSpPr>
        <p:spPr>
          <a:xfrm>
            <a:off x="1014984" y="34259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36" name="Shape 34"/>
          <p:cNvSpPr/>
          <p:nvPr/>
        </p:nvSpPr>
        <p:spPr>
          <a:xfrm>
            <a:off x="3008376" y="3478022"/>
            <a:ext cx="1215860" cy="104140"/>
          </a:xfrm>
          <a:prstGeom prst="rect">
            <a:avLst/>
          </a:prstGeom>
          <a:solidFill>
            <a:srgbClr val="12A566"/>
          </a:solidFill>
          <a:ln/>
        </p:spPr>
      </p:sp>
      <p:sp>
        <p:nvSpPr>
          <p:cNvPr id="37" name="Text 35"/>
          <p:cNvSpPr txBox="1"/>
          <p:nvPr/>
        </p:nvSpPr>
        <p:spPr>
          <a:xfrm>
            <a:off x="4754880" y="34259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$222.12</a:t>
            </a:r>
            <a:endParaRPr lang="en-US" sz="1200" dirty="0"/>
          </a:p>
        </p:txBody>
      </p:sp>
      <p:sp>
        <p:nvSpPr>
          <p:cNvPr id="38" name="Text 36"/>
          <p:cNvSpPr txBox="1"/>
          <p:nvPr/>
        </p:nvSpPr>
        <p:spPr>
          <a:xfrm>
            <a:off x="658368" y="36342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9" name="Text 37"/>
          <p:cNvSpPr txBox="1"/>
          <p:nvPr/>
        </p:nvSpPr>
        <p:spPr>
          <a:xfrm>
            <a:off x="1014984" y="36342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40" name="Shape 38"/>
          <p:cNvSpPr/>
          <p:nvPr/>
        </p:nvSpPr>
        <p:spPr>
          <a:xfrm>
            <a:off x="3008376" y="3686302"/>
            <a:ext cx="1058054" cy="104140"/>
          </a:xfrm>
          <a:prstGeom prst="rect">
            <a:avLst/>
          </a:prstGeom>
          <a:solidFill>
            <a:srgbClr val="C2352F"/>
          </a:solidFill>
          <a:ln/>
        </p:spPr>
      </p:sp>
      <p:sp>
        <p:nvSpPr>
          <p:cNvPr id="41" name="Text 39"/>
          <p:cNvSpPr txBox="1"/>
          <p:nvPr/>
        </p:nvSpPr>
        <p:spPr>
          <a:xfrm>
            <a:off x="4754880" y="363423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$193.29</a:t>
            </a:r>
            <a:endParaRPr lang="en-US" sz="1200" dirty="0"/>
          </a:p>
        </p:txBody>
      </p:sp>
      <p:sp>
        <p:nvSpPr>
          <p:cNvPr id="42" name="Text 40"/>
          <p:cNvSpPr txBox="1"/>
          <p:nvPr/>
        </p:nvSpPr>
        <p:spPr>
          <a:xfrm>
            <a:off x="658368" y="38425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3" name="Text 41"/>
          <p:cNvSpPr txBox="1"/>
          <p:nvPr/>
        </p:nvSpPr>
        <p:spPr>
          <a:xfrm>
            <a:off x="1014984" y="38425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44" name="Shape 42"/>
          <p:cNvSpPr/>
          <p:nvPr/>
        </p:nvSpPr>
        <p:spPr>
          <a:xfrm>
            <a:off x="3008376" y="3894582"/>
            <a:ext cx="930641" cy="104140"/>
          </a:xfrm>
          <a:prstGeom prst="rect">
            <a:avLst/>
          </a:prstGeom>
          <a:solidFill>
            <a:srgbClr val="C2352F"/>
          </a:solidFill>
          <a:ln/>
        </p:spPr>
      </p:sp>
      <p:sp>
        <p:nvSpPr>
          <p:cNvPr id="45" name="Text 43"/>
          <p:cNvSpPr txBox="1"/>
          <p:nvPr/>
        </p:nvSpPr>
        <p:spPr>
          <a:xfrm>
            <a:off x="4754880" y="384251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$170.01</a:t>
            </a:r>
            <a:endParaRPr lang="en-US" sz="1200" dirty="0"/>
          </a:p>
        </p:txBody>
      </p:sp>
      <p:sp>
        <p:nvSpPr>
          <p:cNvPr id="46" name="Text 44"/>
          <p:cNvSpPr txBox="1"/>
          <p:nvPr/>
        </p:nvSpPr>
        <p:spPr>
          <a:xfrm>
            <a:off x="658368" y="40507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7" name="Text 45"/>
          <p:cNvSpPr txBox="1"/>
          <p:nvPr/>
        </p:nvSpPr>
        <p:spPr>
          <a:xfrm>
            <a:off x="1014984" y="40507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8" name="Shape 46"/>
          <p:cNvSpPr/>
          <p:nvPr/>
        </p:nvSpPr>
        <p:spPr>
          <a:xfrm>
            <a:off x="3008376" y="4102862"/>
            <a:ext cx="917631" cy="104140"/>
          </a:xfrm>
          <a:prstGeom prst="rect">
            <a:avLst/>
          </a:prstGeom>
          <a:solidFill>
            <a:srgbClr val="C2352F"/>
          </a:solidFill>
          <a:ln/>
        </p:spPr>
      </p:sp>
      <p:sp>
        <p:nvSpPr>
          <p:cNvPr id="49" name="Text 47"/>
          <p:cNvSpPr txBox="1"/>
          <p:nvPr/>
        </p:nvSpPr>
        <p:spPr>
          <a:xfrm>
            <a:off x="4754880" y="405079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$167.64</a:t>
            </a:r>
            <a:endParaRPr lang="en-US" sz="1200" dirty="0"/>
          </a:p>
        </p:txBody>
      </p:sp>
      <p:sp>
        <p:nvSpPr>
          <p:cNvPr id="50" name="Text 48"/>
          <p:cNvSpPr txBox="1"/>
          <p:nvPr/>
        </p:nvSpPr>
        <p:spPr>
          <a:xfrm>
            <a:off x="658368" y="4259072"/>
            <a:ext cx="5303520" cy="208280"/>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$151.32</a:t>
            </a:r>
            <a:endParaRPr lang="en-US" sz="1300" dirty="0"/>
          </a:p>
        </p:txBody>
      </p:sp>
      <p:sp>
        <p:nvSpPr>
          <p:cNvPr id="51" name="Shape 49"/>
          <p:cNvSpPr/>
          <p:nvPr/>
        </p:nvSpPr>
        <p:spPr>
          <a:xfrm>
            <a:off x="658368" y="4449064"/>
            <a:ext cx="5303520" cy="18288"/>
          </a:xfrm>
          <a:prstGeom prst="rect">
            <a:avLst/>
          </a:prstGeom>
          <a:solidFill>
            <a:srgbClr val="0B2C4A"/>
          </a:solidFill>
          <a:ln/>
        </p:spPr>
      </p:sp>
      <p:sp>
        <p:nvSpPr>
          <p:cNvPr id="52" name="Text 50"/>
          <p:cNvSpPr txBox="1"/>
          <p:nvPr/>
        </p:nvSpPr>
        <p:spPr>
          <a:xfrm>
            <a:off x="658368" y="44673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53" name="Text 51"/>
          <p:cNvSpPr txBox="1"/>
          <p:nvPr/>
        </p:nvSpPr>
        <p:spPr>
          <a:xfrm>
            <a:off x="1014984" y="44673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54" name="Shape 52"/>
          <p:cNvSpPr/>
          <p:nvPr/>
        </p:nvSpPr>
        <p:spPr>
          <a:xfrm>
            <a:off x="3008376" y="4519422"/>
            <a:ext cx="1658471" cy="104140"/>
          </a:xfrm>
          <a:prstGeom prst="rect">
            <a:avLst/>
          </a:prstGeom>
          <a:solidFill>
            <a:srgbClr val="12A566"/>
          </a:solidFill>
          <a:ln/>
        </p:spPr>
      </p:sp>
      <p:sp>
        <p:nvSpPr>
          <p:cNvPr id="55" name="Text 53"/>
          <p:cNvSpPr txBox="1"/>
          <p:nvPr/>
        </p:nvSpPr>
        <p:spPr>
          <a:xfrm>
            <a:off x="4754880" y="44673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$210.50</a:t>
            </a:r>
            <a:endParaRPr lang="en-US" sz="1200" dirty="0"/>
          </a:p>
        </p:txBody>
      </p:sp>
      <p:sp>
        <p:nvSpPr>
          <p:cNvPr id="56" name="Text 54"/>
          <p:cNvSpPr txBox="1"/>
          <p:nvPr/>
        </p:nvSpPr>
        <p:spPr>
          <a:xfrm>
            <a:off x="658368" y="46756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57" name="Text 55"/>
          <p:cNvSpPr txBox="1"/>
          <p:nvPr/>
        </p:nvSpPr>
        <p:spPr>
          <a:xfrm>
            <a:off x="1014984" y="46756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58" name="Shape 56"/>
          <p:cNvSpPr/>
          <p:nvPr/>
        </p:nvSpPr>
        <p:spPr>
          <a:xfrm>
            <a:off x="3008376" y="4727702"/>
            <a:ext cx="1385836" cy="104140"/>
          </a:xfrm>
          <a:prstGeom prst="rect">
            <a:avLst/>
          </a:prstGeom>
          <a:solidFill>
            <a:srgbClr val="12A566"/>
          </a:solidFill>
          <a:ln/>
        </p:spPr>
      </p:sp>
      <p:sp>
        <p:nvSpPr>
          <p:cNvPr id="59" name="Text 57"/>
          <p:cNvSpPr txBox="1"/>
          <p:nvPr/>
        </p:nvSpPr>
        <p:spPr>
          <a:xfrm>
            <a:off x="4754880" y="46756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$175.90</a:t>
            </a:r>
            <a:endParaRPr lang="en-US" sz="1200" dirty="0"/>
          </a:p>
        </p:txBody>
      </p:sp>
      <p:sp>
        <p:nvSpPr>
          <p:cNvPr id="60" name="Text 58"/>
          <p:cNvSpPr txBox="1"/>
          <p:nvPr/>
        </p:nvSpPr>
        <p:spPr>
          <a:xfrm>
            <a:off x="658368" y="48839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61" name="Text 59"/>
          <p:cNvSpPr txBox="1"/>
          <p:nvPr/>
        </p:nvSpPr>
        <p:spPr>
          <a:xfrm>
            <a:off x="1014984" y="48839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62" name="Shape 60"/>
          <p:cNvSpPr/>
          <p:nvPr/>
        </p:nvSpPr>
        <p:spPr>
          <a:xfrm>
            <a:off x="3008376" y="4935982"/>
            <a:ext cx="1311361" cy="104140"/>
          </a:xfrm>
          <a:prstGeom prst="rect">
            <a:avLst/>
          </a:prstGeom>
          <a:solidFill>
            <a:srgbClr val="12A566"/>
          </a:solidFill>
          <a:ln/>
        </p:spPr>
      </p:sp>
      <p:sp>
        <p:nvSpPr>
          <p:cNvPr id="63" name="Text 61"/>
          <p:cNvSpPr txBox="1"/>
          <p:nvPr/>
        </p:nvSpPr>
        <p:spPr>
          <a:xfrm>
            <a:off x="4754880" y="488391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$166.44</a:t>
            </a:r>
            <a:endParaRPr lang="en-US" sz="1200" dirty="0"/>
          </a:p>
        </p:txBody>
      </p:sp>
      <p:sp>
        <p:nvSpPr>
          <p:cNvPr id="64" name="Text 62"/>
          <p:cNvSpPr txBox="1"/>
          <p:nvPr/>
        </p:nvSpPr>
        <p:spPr>
          <a:xfrm>
            <a:off x="658368" y="50921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65" name="Text 63"/>
          <p:cNvSpPr txBox="1"/>
          <p:nvPr/>
        </p:nvSpPr>
        <p:spPr>
          <a:xfrm>
            <a:off x="1014984" y="50921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6" name="Shape 64"/>
          <p:cNvSpPr/>
          <p:nvPr/>
        </p:nvSpPr>
        <p:spPr>
          <a:xfrm>
            <a:off x="3008376" y="5144262"/>
            <a:ext cx="1289251" cy="104140"/>
          </a:xfrm>
          <a:prstGeom prst="rect">
            <a:avLst/>
          </a:prstGeom>
          <a:solidFill>
            <a:srgbClr val="12A566"/>
          </a:solidFill>
          <a:ln/>
        </p:spPr>
      </p:sp>
      <p:sp>
        <p:nvSpPr>
          <p:cNvPr id="67" name="Text 65"/>
          <p:cNvSpPr txBox="1"/>
          <p:nvPr/>
        </p:nvSpPr>
        <p:spPr>
          <a:xfrm>
            <a:off x="4754880" y="509219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$163.64</a:t>
            </a:r>
            <a:endParaRPr lang="en-US" sz="1200" dirty="0"/>
          </a:p>
        </p:txBody>
      </p:sp>
      <p:sp>
        <p:nvSpPr>
          <p:cNvPr id="68" name="Text 66"/>
          <p:cNvSpPr txBox="1"/>
          <p:nvPr/>
        </p:nvSpPr>
        <p:spPr>
          <a:xfrm>
            <a:off x="658368" y="53004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69" name="Text 67"/>
          <p:cNvSpPr txBox="1"/>
          <p:nvPr/>
        </p:nvSpPr>
        <p:spPr>
          <a:xfrm>
            <a:off x="1014984" y="53004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70" name="Shape 68"/>
          <p:cNvSpPr/>
          <p:nvPr/>
        </p:nvSpPr>
        <p:spPr>
          <a:xfrm>
            <a:off x="3008376" y="5352542"/>
            <a:ext cx="1283069" cy="104140"/>
          </a:xfrm>
          <a:prstGeom prst="rect">
            <a:avLst/>
          </a:prstGeom>
          <a:solidFill>
            <a:srgbClr val="12A566"/>
          </a:solidFill>
          <a:ln/>
        </p:spPr>
      </p:sp>
      <p:sp>
        <p:nvSpPr>
          <p:cNvPr id="71" name="Text 69"/>
          <p:cNvSpPr txBox="1"/>
          <p:nvPr/>
        </p:nvSpPr>
        <p:spPr>
          <a:xfrm>
            <a:off x="4754880" y="530047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$162.85</a:t>
            </a:r>
            <a:endParaRPr lang="en-US" sz="1200" dirty="0"/>
          </a:p>
        </p:txBody>
      </p:sp>
      <p:sp>
        <p:nvSpPr>
          <p:cNvPr id="72" name="Text 70"/>
          <p:cNvSpPr txBox="1"/>
          <p:nvPr/>
        </p:nvSpPr>
        <p:spPr>
          <a:xfrm>
            <a:off x="658368" y="55087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73" name="Text 71"/>
          <p:cNvSpPr txBox="1"/>
          <p:nvPr/>
        </p:nvSpPr>
        <p:spPr>
          <a:xfrm>
            <a:off x="1014984" y="55087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74" name="Shape 72"/>
          <p:cNvSpPr/>
          <p:nvPr/>
        </p:nvSpPr>
        <p:spPr>
          <a:xfrm>
            <a:off x="3008376" y="5560822"/>
            <a:ext cx="1265801" cy="104140"/>
          </a:xfrm>
          <a:prstGeom prst="rect">
            <a:avLst/>
          </a:prstGeom>
          <a:solidFill>
            <a:srgbClr val="12A566"/>
          </a:solidFill>
          <a:ln/>
        </p:spPr>
      </p:sp>
      <p:sp>
        <p:nvSpPr>
          <p:cNvPr id="75" name="Text 73"/>
          <p:cNvSpPr txBox="1"/>
          <p:nvPr/>
        </p:nvSpPr>
        <p:spPr>
          <a:xfrm>
            <a:off x="4754880" y="55087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$160.66</a:t>
            </a:r>
            <a:endParaRPr lang="en-US" sz="1200" dirty="0"/>
          </a:p>
        </p:txBody>
      </p:sp>
      <p:sp>
        <p:nvSpPr>
          <p:cNvPr id="76" name="Text 74"/>
          <p:cNvSpPr txBox="1"/>
          <p:nvPr/>
        </p:nvSpPr>
        <p:spPr>
          <a:xfrm>
            <a:off x="658368" y="57170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77" name="Text 75"/>
          <p:cNvSpPr txBox="1"/>
          <p:nvPr/>
        </p:nvSpPr>
        <p:spPr>
          <a:xfrm>
            <a:off x="1014984" y="57170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78" name="Shape 76"/>
          <p:cNvSpPr/>
          <p:nvPr/>
        </p:nvSpPr>
        <p:spPr>
          <a:xfrm>
            <a:off x="3008376" y="5769102"/>
            <a:ext cx="1257200" cy="104140"/>
          </a:xfrm>
          <a:prstGeom prst="rect">
            <a:avLst/>
          </a:prstGeom>
          <a:solidFill>
            <a:srgbClr val="12A566"/>
          </a:solidFill>
          <a:ln/>
        </p:spPr>
      </p:sp>
      <p:sp>
        <p:nvSpPr>
          <p:cNvPr id="79" name="Text 77"/>
          <p:cNvSpPr txBox="1"/>
          <p:nvPr/>
        </p:nvSpPr>
        <p:spPr>
          <a:xfrm>
            <a:off x="4754880" y="57170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$159.57</a:t>
            </a:r>
            <a:endParaRPr lang="en-US" sz="1200" dirty="0"/>
          </a:p>
        </p:txBody>
      </p:sp>
      <p:sp>
        <p:nvSpPr>
          <p:cNvPr id="80" name="Text 78"/>
          <p:cNvSpPr txBox="1"/>
          <p:nvPr/>
        </p:nvSpPr>
        <p:spPr>
          <a:xfrm>
            <a:off x="6208776" y="21762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81" name="Text 79"/>
          <p:cNvSpPr txBox="1"/>
          <p:nvPr/>
        </p:nvSpPr>
        <p:spPr>
          <a:xfrm>
            <a:off x="6565392" y="21762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2" name="Shape 80"/>
          <p:cNvSpPr/>
          <p:nvPr/>
        </p:nvSpPr>
        <p:spPr>
          <a:xfrm>
            <a:off x="8558784" y="2228342"/>
            <a:ext cx="1255672" cy="104140"/>
          </a:xfrm>
          <a:prstGeom prst="rect">
            <a:avLst/>
          </a:prstGeom>
          <a:solidFill>
            <a:srgbClr val="12A566"/>
          </a:solidFill>
          <a:ln/>
        </p:spPr>
      </p:sp>
      <p:sp>
        <p:nvSpPr>
          <p:cNvPr id="83" name="Text 81"/>
          <p:cNvSpPr txBox="1"/>
          <p:nvPr/>
        </p:nvSpPr>
        <p:spPr>
          <a:xfrm>
            <a:off x="10305288" y="217627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$159.38</a:t>
            </a:r>
            <a:endParaRPr lang="en-US" sz="1200" dirty="0"/>
          </a:p>
        </p:txBody>
      </p:sp>
      <p:sp>
        <p:nvSpPr>
          <p:cNvPr id="84" name="Text 82"/>
          <p:cNvSpPr txBox="1"/>
          <p:nvPr/>
        </p:nvSpPr>
        <p:spPr>
          <a:xfrm>
            <a:off x="6208776" y="23845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85" name="Text 83"/>
          <p:cNvSpPr txBox="1"/>
          <p:nvPr/>
        </p:nvSpPr>
        <p:spPr>
          <a:xfrm>
            <a:off x="6565392" y="23845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86" name="Shape 84"/>
          <p:cNvSpPr/>
          <p:nvPr/>
        </p:nvSpPr>
        <p:spPr>
          <a:xfrm>
            <a:off x="8558784" y="2436622"/>
            <a:ext cx="1239620" cy="104140"/>
          </a:xfrm>
          <a:prstGeom prst="rect">
            <a:avLst/>
          </a:prstGeom>
          <a:solidFill>
            <a:srgbClr val="12A566"/>
          </a:solidFill>
          <a:ln/>
        </p:spPr>
      </p:sp>
      <p:sp>
        <p:nvSpPr>
          <p:cNvPr id="87" name="Text 85"/>
          <p:cNvSpPr txBox="1"/>
          <p:nvPr/>
        </p:nvSpPr>
        <p:spPr>
          <a:xfrm>
            <a:off x="10305288" y="23845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$157.34</a:t>
            </a:r>
            <a:endParaRPr lang="en-US" sz="1200" dirty="0"/>
          </a:p>
        </p:txBody>
      </p:sp>
      <p:sp>
        <p:nvSpPr>
          <p:cNvPr id="88" name="Text 86"/>
          <p:cNvSpPr txBox="1"/>
          <p:nvPr/>
        </p:nvSpPr>
        <p:spPr>
          <a:xfrm>
            <a:off x="6208776" y="25928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89" name="Text 87"/>
          <p:cNvSpPr txBox="1"/>
          <p:nvPr/>
        </p:nvSpPr>
        <p:spPr>
          <a:xfrm>
            <a:off x="6565392" y="25928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90" name="Shape 88"/>
          <p:cNvSpPr/>
          <p:nvPr/>
        </p:nvSpPr>
        <p:spPr>
          <a:xfrm>
            <a:off x="8558784" y="2644902"/>
            <a:ext cx="1230530" cy="104140"/>
          </a:xfrm>
          <a:prstGeom prst="rect">
            <a:avLst/>
          </a:prstGeom>
          <a:solidFill>
            <a:srgbClr val="12A566"/>
          </a:solidFill>
          <a:ln/>
        </p:spPr>
      </p:sp>
      <p:sp>
        <p:nvSpPr>
          <p:cNvPr id="91" name="Text 89"/>
          <p:cNvSpPr txBox="1"/>
          <p:nvPr/>
        </p:nvSpPr>
        <p:spPr>
          <a:xfrm>
            <a:off x="10305288" y="25928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$156.18</a:t>
            </a:r>
            <a:endParaRPr lang="en-US" sz="1200" dirty="0"/>
          </a:p>
        </p:txBody>
      </p:sp>
      <p:sp>
        <p:nvSpPr>
          <p:cNvPr id="92" name="Text 90"/>
          <p:cNvSpPr txBox="1"/>
          <p:nvPr/>
        </p:nvSpPr>
        <p:spPr>
          <a:xfrm>
            <a:off x="6208776" y="28011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93" name="Text 91"/>
          <p:cNvSpPr txBox="1"/>
          <p:nvPr/>
        </p:nvSpPr>
        <p:spPr>
          <a:xfrm>
            <a:off x="6565392" y="28011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94" name="Shape 92"/>
          <p:cNvSpPr/>
          <p:nvPr/>
        </p:nvSpPr>
        <p:spPr>
          <a:xfrm>
            <a:off x="8558784" y="2853182"/>
            <a:ext cx="1217330" cy="104140"/>
          </a:xfrm>
          <a:prstGeom prst="rect">
            <a:avLst/>
          </a:prstGeom>
          <a:solidFill>
            <a:srgbClr val="12A566"/>
          </a:solidFill>
          <a:ln/>
        </p:spPr>
      </p:sp>
      <p:sp>
        <p:nvSpPr>
          <p:cNvPr id="95" name="Text 93"/>
          <p:cNvSpPr txBox="1"/>
          <p:nvPr/>
        </p:nvSpPr>
        <p:spPr>
          <a:xfrm>
            <a:off x="10305288" y="280111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$154.51</a:t>
            </a:r>
            <a:endParaRPr lang="en-US" sz="1200" dirty="0"/>
          </a:p>
        </p:txBody>
      </p:sp>
      <p:sp>
        <p:nvSpPr>
          <p:cNvPr id="96" name="Text 94"/>
          <p:cNvSpPr txBox="1"/>
          <p:nvPr/>
        </p:nvSpPr>
        <p:spPr>
          <a:xfrm>
            <a:off x="6208776" y="30093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97" name="Text 95"/>
          <p:cNvSpPr txBox="1"/>
          <p:nvPr/>
        </p:nvSpPr>
        <p:spPr>
          <a:xfrm>
            <a:off x="6565392" y="30093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98" name="Shape 96"/>
          <p:cNvSpPr/>
          <p:nvPr/>
        </p:nvSpPr>
        <p:spPr>
          <a:xfrm>
            <a:off x="8558784" y="3061462"/>
            <a:ext cx="1207702" cy="104140"/>
          </a:xfrm>
          <a:prstGeom prst="rect">
            <a:avLst/>
          </a:prstGeom>
          <a:solidFill>
            <a:srgbClr val="12A566"/>
          </a:solidFill>
          <a:ln/>
        </p:spPr>
      </p:sp>
      <p:sp>
        <p:nvSpPr>
          <p:cNvPr id="99" name="Text 97"/>
          <p:cNvSpPr txBox="1"/>
          <p:nvPr/>
        </p:nvSpPr>
        <p:spPr>
          <a:xfrm>
            <a:off x="10305288" y="300939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$153.29</a:t>
            </a:r>
            <a:endParaRPr lang="en-US" sz="1200" dirty="0"/>
          </a:p>
        </p:txBody>
      </p:sp>
      <p:sp>
        <p:nvSpPr>
          <p:cNvPr id="100" name="Text 98"/>
          <p:cNvSpPr txBox="1"/>
          <p:nvPr/>
        </p:nvSpPr>
        <p:spPr>
          <a:xfrm>
            <a:off x="6208776" y="32176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101" name="Text 99"/>
          <p:cNvSpPr txBox="1"/>
          <p:nvPr/>
        </p:nvSpPr>
        <p:spPr>
          <a:xfrm>
            <a:off x="6565392" y="32176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02" name="Shape 100"/>
          <p:cNvSpPr/>
          <p:nvPr/>
        </p:nvSpPr>
        <p:spPr>
          <a:xfrm>
            <a:off x="8558784" y="3269742"/>
            <a:ext cx="1175735" cy="104140"/>
          </a:xfrm>
          <a:prstGeom prst="rect">
            <a:avLst/>
          </a:prstGeom>
          <a:solidFill>
            <a:srgbClr val="C2352F"/>
          </a:solidFill>
          <a:ln/>
        </p:spPr>
      </p:sp>
      <p:sp>
        <p:nvSpPr>
          <p:cNvPr id="103" name="Text 101"/>
          <p:cNvSpPr txBox="1"/>
          <p:nvPr/>
        </p:nvSpPr>
        <p:spPr>
          <a:xfrm>
            <a:off x="10305288" y="321767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$149.23</a:t>
            </a:r>
            <a:endParaRPr lang="en-US" sz="1200" dirty="0"/>
          </a:p>
        </p:txBody>
      </p:sp>
      <p:sp>
        <p:nvSpPr>
          <p:cNvPr id="104" name="Text 102"/>
          <p:cNvSpPr txBox="1"/>
          <p:nvPr/>
        </p:nvSpPr>
        <p:spPr>
          <a:xfrm>
            <a:off x="6208776" y="34259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105" name="Text 103"/>
          <p:cNvSpPr txBox="1"/>
          <p:nvPr/>
        </p:nvSpPr>
        <p:spPr>
          <a:xfrm>
            <a:off x="6565392" y="34259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06" name="Shape 104"/>
          <p:cNvSpPr/>
          <p:nvPr/>
        </p:nvSpPr>
        <p:spPr>
          <a:xfrm>
            <a:off x="8558784" y="3478022"/>
            <a:ext cx="1167864" cy="104140"/>
          </a:xfrm>
          <a:prstGeom prst="rect">
            <a:avLst/>
          </a:prstGeom>
          <a:solidFill>
            <a:srgbClr val="C2352F"/>
          </a:solidFill>
          <a:ln/>
        </p:spPr>
      </p:sp>
      <p:sp>
        <p:nvSpPr>
          <p:cNvPr id="107" name="Text 105"/>
          <p:cNvSpPr txBox="1"/>
          <p:nvPr/>
        </p:nvSpPr>
        <p:spPr>
          <a:xfrm>
            <a:off x="10305288" y="342595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$148.23</a:t>
            </a:r>
            <a:endParaRPr lang="en-US" sz="1200" dirty="0"/>
          </a:p>
        </p:txBody>
      </p:sp>
      <p:sp>
        <p:nvSpPr>
          <p:cNvPr id="108" name="Text 106"/>
          <p:cNvSpPr txBox="1"/>
          <p:nvPr/>
        </p:nvSpPr>
        <p:spPr>
          <a:xfrm>
            <a:off x="6208776" y="36342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09" name="Text 107"/>
          <p:cNvSpPr txBox="1"/>
          <p:nvPr/>
        </p:nvSpPr>
        <p:spPr>
          <a:xfrm>
            <a:off x="6565392" y="36342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10" name="Shape 108"/>
          <p:cNvSpPr/>
          <p:nvPr/>
        </p:nvSpPr>
        <p:spPr>
          <a:xfrm>
            <a:off x="8558784" y="3686302"/>
            <a:ext cx="1138434" cy="104140"/>
          </a:xfrm>
          <a:prstGeom prst="rect">
            <a:avLst/>
          </a:prstGeom>
          <a:solidFill>
            <a:srgbClr val="C2352F"/>
          </a:solidFill>
          <a:ln/>
        </p:spPr>
      </p:sp>
      <p:sp>
        <p:nvSpPr>
          <p:cNvPr id="111" name="Text 109"/>
          <p:cNvSpPr txBox="1"/>
          <p:nvPr/>
        </p:nvSpPr>
        <p:spPr>
          <a:xfrm>
            <a:off x="10305288" y="363423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$144.50</a:t>
            </a:r>
            <a:endParaRPr lang="en-US" sz="1200" dirty="0"/>
          </a:p>
        </p:txBody>
      </p:sp>
      <p:sp>
        <p:nvSpPr>
          <p:cNvPr id="112" name="Text 110"/>
          <p:cNvSpPr txBox="1"/>
          <p:nvPr/>
        </p:nvSpPr>
        <p:spPr>
          <a:xfrm>
            <a:off x="6208776" y="38425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13" name="Text 111"/>
          <p:cNvSpPr txBox="1"/>
          <p:nvPr/>
        </p:nvSpPr>
        <p:spPr>
          <a:xfrm>
            <a:off x="6565392" y="38425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14" name="Shape 112"/>
          <p:cNvSpPr/>
          <p:nvPr/>
        </p:nvSpPr>
        <p:spPr>
          <a:xfrm>
            <a:off x="8558784" y="3894582"/>
            <a:ext cx="1133676" cy="104140"/>
          </a:xfrm>
          <a:prstGeom prst="rect">
            <a:avLst/>
          </a:prstGeom>
          <a:solidFill>
            <a:srgbClr val="C2352F"/>
          </a:solidFill>
          <a:ln/>
        </p:spPr>
      </p:sp>
      <p:sp>
        <p:nvSpPr>
          <p:cNvPr id="115" name="Text 113"/>
          <p:cNvSpPr txBox="1"/>
          <p:nvPr/>
        </p:nvSpPr>
        <p:spPr>
          <a:xfrm>
            <a:off x="10305288" y="384251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$143.89</a:t>
            </a:r>
            <a:endParaRPr lang="en-US" sz="1200" dirty="0"/>
          </a:p>
        </p:txBody>
      </p:sp>
      <p:sp>
        <p:nvSpPr>
          <p:cNvPr id="116" name="Text 114"/>
          <p:cNvSpPr txBox="1"/>
          <p:nvPr/>
        </p:nvSpPr>
        <p:spPr>
          <a:xfrm>
            <a:off x="6208776" y="40507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7" name="Text 115"/>
          <p:cNvSpPr txBox="1"/>
          <p:nvPr/>
        </p:nvSpPr>
        <p:spPr>
          <a:xfrm>
            <a:off x="6565392" y="40507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18" name="Shape 116"/>
          <p:cNvSpPr/>
          <p:nvPr/>
        </p:nvSpPr>
        <p:spPr>
          <a:xfrm>
            <a:off x="8558784" y="4102862"/>
            <a:ext cx="1127091" cy="104140"/>
          </a:xfrm>
          <a:prstGeom prst="rect">
            <a:avLst/>
          </a:prstGeom>
          <a:solidFill>
            <a:srgbClr val="C2352F"/>
          </a:solidFill>
          <a:ln/>
        </p:spPr>
      </p:sp>
      <p:sp>
        <p:nvSpPr>
          <p:cNvPr id="119" name="Text 117"/>
          <p:cNvSpPr txBox="1"/>
          <p:nvPr/>
        </p:nvSpPr>
        <p:spPr>
          <a:xfrm>
            <a:off x="10305288" y="405079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$143.06</a:t>
            </a:r>
            <a:endParaRPr lang="en-US" sz="1200" dirty="0"/>
          </a:p>
        </p:txBody>
      </p:sp>
      <p:sp>
        <p:nvSpPr>
          <p:cNvPr id="120" name="Text 118"/>
          <p:cNvSpPr txBox="1"/>
          <p:nvPr/>
        </p:nvSpPr>
        <p:spPr>
          <a:xfrm>
            <a:off x="6208776" y="42590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1" name="Text 119"/>
          <p:cNvSpPr txBox="1"/>
          <p:nvPr/>
        </p:nvSpPr>
        <p:spPr>
          <a:xfrm>
            <a:off x="6565392" y="42590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22" name="Shape 120"/>
          <p:cNvSpPr/>
          <p:nvPr/>
        </p:nvSpPr>
        <p:spPr>
          <a:xfrm>
            <a:off x="8558784" y="4311142"/>
            <a:ext cx="1125055" cy="104140"/>
          </a:xfrm>
          <a:prstGeom prst="rect">
            <a:avLst/>
          </a:prstGeom>
          <a:solidFill>
            <a:srgbClr val="C2352F"/>
          </a:solidFill>
          <a:ln/>
        </p:spPr>
      </p:sp>
      <p:sp>
        <p:nvSpPr>
          <p:cNvPr id="123" name="Text 121"/>
          <p:cNvSpPr txBox="1"/>
          <p:nvPr/>
        </p:nvSpPr>
        <p:spPr>
          <a:xfrm>
            <a:off x="10305288" y="425907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$142.80</a:t>
            </a:r>
            <a:endParaRPr lang="en-US" sz="1200" dirty="0"/>
          </a:p>
        </p:txBody>
      </p:sp>
      <p:sp>
        <p:nvSpPr>
          <p:cNvPr id="124" name="Text 122"/>
          <p:cNvSpPr txBox="1"/>
          <p:nvPr/>
        </p:nvSpPr>
        <p:spPr>
          <a:xfrm>
            <a:off x="6208776" y="44673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5" name="Text 123"/>
          <p:cNvSpPr txBox="1"/>
          <p:nvPr/>
        </p:nvSpPr>
        <p:spPr>
          <a:xfrm>
            <a:off x="6565392" y="44673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26" name="Shape 124"/>
          <p:cNvSpPr/>
          <p:nvPr/>
        </p:nvSpPr>
        <p:spPr>
          <a:xfrm>
            <a:off x="8558784" y="4519422"/>
            <a:ext cx="1111707" cy="104140"/>
          </a:xfrm>
          <a:prstGeom prst="rect">
            <a:avLst/>
          </a:prstGeom>
          <a:solidFill>
            <a:srgbClr val="C2352F"/>
          </a:solidFill>
          <a:ln/>
        </p:spPr>
      </p:sp>
      <p:sp>
        <p:nvSpPr>
          <p:cNvPr id="127" name="Text 125"/>
          <p:cNvSpPr txBox="1"/>
          <p:nvPr/>
        </p:nvSpPr>
        <p:spPr>
          <a:xfrm>
            <a:off x="10305288" y="446735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$141.10</a:t>
            </a:r>
            <a:endParaRPr lang="en-US" sz="1200" dirty="0"/>
          </a:p>
        </p:txBody>
      </p:sp>
      <p:sp>
        <p:nvSpPr>
          <p:cNvPr id="128" name="Text 126"/>
          <p:cNvSpPr txBox="1"/>
          <p:nvPr/>
        </p:nvSpPr>
        <p:spPr>
          <a:xfrm>
            <a:off x="6208776" y="46756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9" name="Text 127"/>
          <p:cNvSpPr txBox="1"/>
          <p:nvPr/>
        </p:nvSpPr>
        <p:spPr>
          <a:xfrm>
            <a:off x="6565392" y="46756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30" name="Shape 128"/>
          <p:cNvSpPr/>
          <p:nvPr/>
        </p:nvSpPr>
        <p:spPr>
          <a:xfrm>
            <a:off x="8558784" y="4727702"/>
            <a:ext cx="1096152" cy="104140"/>
          </a:xfrm>
          <a:prstGeom prst="rect">
            <a:avLst/>
          </a:prstGeom>
          <a:solidFill>
            <a:srgbClr val="C2352F"/>
          </a:solidFill>
          <a:ln/>
        </p:spPr>
      </p:sp>
      <p:sp>
        <p:nvSpPr>
          <p:cNvPr id="131" name="Text 129"/>
          <p:cNvSpPr txBox="1"/>
          <p:nvPr/>
        </p:nvSpPr>
        <p:spPr>
          <a:xfrm>
            <a:off x="10305288" y="467563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$139.13</a:t>
            </a:r>
            <a:endParaRPr lang="en-US" sz="1200" dirty="0"/>
          </a:p>
        </p:txBody>
      </p:sp>
      <p:sp>
        <p:nvSpPr>
          <p:cNvPr id="132" name="Text 130"/>
          <p:cNvSpPr txBox="1"/>
          <p:nvPr/>
        </p:nvSpPr>
        <p:spPr>
          <a:xfrm>
            <a:off x="6208776" y="48839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3" name="Text 131"/>
          <p:cNvSpPr txBox="1"/>
          <p:nvPr/>
        </p:nvSpPr>
        <p:spPr>
          <a:xfrm>
            <a:off x="6565392" y="48839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4" name="Shape 132"/>
          <p:cNvSpPr/>
          <p:nvPr/>
        </p:nvSpPr>
        <p:spPr>
          <a:xfrm>
            <a:off x="8558784" y="4935982"/>
            <a:ext cx="1091062" cy="104140"/>
          </a:xfrm>
          <a:prstGeom prst="rect">
            <a:avLst/>
          </a:prstGeom>
          <a:solidFill>
            <a:srgbClr val="C2352F"/>
          </a:solidFill>
          <a:ln/>
        </p:spPr>
      </p:sp>
      <p:sp>
        <p:nvSpPr>
          <p:cNvPr id="135" name="Text 133"/>
          <p:cNvSpPr txBox="1"/>
          <p:nvPr/>
        </p:nvSpPr>
        <p:spPr>
          <a:xfrm>
            <a:off x="10305288" y="488391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$138.48</a:t>
            </a:r>
            <a:endParaRPr lang="en-US" sz="1200" dirty="0"/>
          </a:p>
        </p:txBody>
      </p:sp>
      <p:sp>
        <p:nvSpPr>
          <p:cNvPr id="136" name="Text 134"/>
          <p:cNvSpPr txBox="1"/>
          <p:nvPr/>
        </p:nvSpPr>
        <p:spPr>
          <a:xfrm>
            <a:off x="6208776" y="50921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7" name="Text 135"/>
          <p:cNvSpPr txBox="1"/>
          <p:nvPr/>
        </p:nvSpPr>
        <p:spPr>
          <a:xfrm>
            <a:off x="6565392" y="50921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8" name="Shape 136"/>
          <p:cNvSpPr/>
          <p:nvPr/>
        </p:nvSpPr>
        <p:spPr>
          <a:xfrm>
            <a:off x="8558784" y="5144262"/>
            <a:ext cx="1064841" cy="104140"/>
          </a:xfrm>
          <a:prstGeom prst="rect">
            <a:avLst/>
          </a:prstGeom>
          <a:solidFill>
            <a:srgbClr val="C2352F"/>
          </a:solidFill>
          <a:ln/>
        </p:spPr>
      </p:sp>
      <p:sp>
        <p:nvSpPr>
          <p:cNvPr id="139" name="Text 137"/>
          <p:cNvSpPr txBox="1"/>
          <p:nvPr/>
        </p:nvSpPr>
        <p:spPr>
          <a:xfrm>
            <a:off x="10305288" y="509219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$135.15</a:t>
            </a:r>
            <a:endParaRPr lang="en-US" sz="1200" dirty="0"/>
          </a:p>
        </p:txBody>
      </p:sp>
      <p:sp>
        <p:nvSpPr>
          <p:cNvPr id="140" name="Text 138"/>
          <p:cNvSpPr txBox="1"/>
          <p:nvPr/>
        </p:nvSpPr>
        <p:spPr>
          <a:xfrm>
            <a:off x="6208776" y="53004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1" name="Text 139"/>
          <p:cNvSpPr txBox="1"/>
          <p:nvPr/>
        </p:nvSpPr>
        <p:spPr>
          <a:xfrm>
            <a:off x="6565392" y="53004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42" name="Shape 140"/>
          <p:cNvSpPr/>
          <p:nvPr/>
        </p:nvSpPr>
        <p:spPr>
          <a:xfrm>
            <a:off x="8558784" y="5352542"/>
            <a:ext cx="1027823" cy="104140"/>
          </a:xfrm>
          <a:prstGeom prst="rect">
            <a:avLst/>
          </a:prstGeom>
          <a:solidFill>
            <a:srgbClr val="C2352F"/>
          </a:solidFill>
          <a:ln/>
        </p:spPr>
      </p:sp>
      <p:sp>
        <p:nvSpPr>
          <p:cNvPr id="143" name="Text 141"/>
          <p:cNvSpPr txBox="1"/>
          <p:nvPr/>
        </p:nvSpPr>
        <p:spPr>
          <a:xfrm>
            <a:off x="10305288" y="530047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$130.46</a:t>
            </a:r>
            <a:endParaRPr lang="en-US" sz="1200" dirty="0"/>
          </a:p>
        </p:txBody>
      </p:sp>
      <p:sp>
        <p:nvSpPr>
          <p:cNvPr id="144" name="Text 142"/>
          <p:cNvSpPr txBox="1"/>
          <p:nvPr/>
        </p:nvSpPr>
        <p:spPr>
          <a:xfrm>
            <a:off x="6208776" y="55087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45" name="Text 143"/>
          <p:cNvSpPr txBox="1"/>
          <p:nvPr/>
        </p:nvSpPr>
        <p:spPr>
          <a:xfrm>
            <a:off x="6565392" y="55087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46" name="Shape 144"/>
          <p:cNvSpPr/>
          <p:nvPr/>
        </p:nvSpPr>
        <p:spPr>
          <a:xfrm>
            <a:off x="8558784" y="5560822"/>
            <a:ext cx="993409" cy="104140"/>
          </a:xfrm>
          <a:prstGeom prst="rect">
            <a:avLst/>
          </a:prstGeom>
          <a:solidFill>
            <a:srgbClr val="C2352F"/>
          </a:solidFill>
          <a:ln/>
        </p:spPr>
      </p:sp>
      <p:sp>
        <p:nvSpPr>
          <p:cNvPr id="147" name="Text 145"/>
          <p:cNvSpPr txBox="1"/>
          <p:nvPr/>
        </p:nvSpPr>
        <p:spPr>
          <a:xfrm>
            <a:off x="10305288" y="550875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$126.09</a:t>
            </a:r>
            <a:endParaRPr lang="en-US" sz="1200" dirty="0"/>
          </a:p>
        </p:txBody>
      </p:sp>
      <p:sp>
        <p:nvSpPr>
          <p:cNvPr id="148" name="Shape 146"/>
          <p:cNvSpPr/>
          <p:nvPr/>
        </p:nvSpPr>
        <p:spPr>
          <a:xfrm>
            <a:off x="4193240" y="2176272"/>
            <a:ext cx="14630" cy="3749040"/>
          </a:xfrm>
          <a:prstGeom prst="rect">
            <a:avLst/>
          </a:prstGeom>
          <a:solidFill>
            <a:srgbClr val="0B2C4A"/>
          </a:solidFill>
          <a:ln/>
        </p:spPr>
      </p:sp>
      <p:sp>
        <p:nvSpPr>
          <p:cNvPr id="149" name="Shape 147"/>
          <p:cNvSpPr/>
          <p:nvPr/>
        </p:nvSpPr>
        <p:spPr>
          <a:xfrm>
            <a:off x="9743648" y="2176272"/>
            <a:ext cx="14630" cy="3749040"/>
          </a:xfrm>
          <a:prstGeom prst="rect">
            <a:avLst/>
          </a:prstGeom>
          <a:solidFill>
            <a:srgbClr val="0B2C4A"/>
          </a:solidFill>
          <a:ln/>
        </p:spPr>
      </p:sp>
      <p:sp>
        <p:nvSpPr>
          <p:cNvPr id="150" name="Shape 148"/>
          <p:cNvSpPr/>
          <p:nvPr/>
        </p:nvSpPr>
        <p:spPr>
          <a:xfrm>
            <a:off x="6085332" y="2176272"/>
            <a:ext cx="10973" cy="3749040"/>
          </a:xfrm>
          <a:prstGeom prst="rect">
            <a:avLst/>
          </a:prstGeom>
          <a:solidFill>
            <a:srgbClr val="D9D9D9"/>
          </a:solidFill>
          <a:ln/>
        </p:spPr>
      </p:sp>
      <p:sp>
        <p:nvSpPr>
          <p:cNvPr id="151" name="Shape 149"/>
          <p:cNvSpPr/>
          <p:nvPr/>
        </p:nvSpPr>
        <p:spPr>
          <a:xfrm>
            <a:off x="457200" y="6126480"/>
            <a:ext cx="11274552" cy="615696"/>
          </a:xfrm>
          <a:prstGeom prst="rect">
            <a:avLst/>
          </a:prstGeom>
          <a:solidFill>
            <a:srgbClr val="EDF4FA"/>
          </a:solidFill>
          <a:ln/>
        </p:spPr>
      </p:sp>
      <p:sp>
        <p:nvSpPr>
          <p:cNvPr id="152" name="Text 15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6 of 9 luxury stores beat $217.79 and 12 of 24 others beat $151.32. Acura leads non-luxury at $210.50.</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ELR</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+$3.56</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3" name="Shape 11"/>
          <p:cNvSpPr/>
          <p:nvPr/>
        </p:nvSpPr>
        <p:spPr>
          <a:xfrm>
            <a:off x="3785616" y="1911860"/>
            <a:ext cx="777240"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+$40.53</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7" name="Shape 15"/>
          <p:cNvSpPr/>
          <p:nvPr/>
        </p:nvSpPr>
        <p:spPr>
          <a:xfrm>
            <a:off x="3785616" y="2151755"/>
            <a:ext cx="538508"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+$28.08</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21" name="Shape 19"/>
          <p:cNvSpPr/>
          <p:nvPr/>
        </p:nvSpPr>
        <p:spPr>
          <a:xfrm>
            <a:off x="3785616" y="2391651"/>
            <a:ext cx="514703"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+$26.84</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25" name="Shape 23"/>
          <p:cNvSpPr/>
          <p:nvPr/>
        </p:nvSpPr>
        <p:spPr>
          <a:xfrm>
            <a:off x="3785616" y="2631546"/>
            <a:ext cx="422343"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+$22.02</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9" name="Shape 27"/>
          <p:cNvSpPr/>
          <p:nvPr/>
        </p:nvSpPr>
        <p:spPr>
          <a:xfrm>
            <a:off x="3785616" y="2871442"/>
            <a:ext cx="333962"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+$17.41</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33" name="Shape 31"/>
          <p:cNvSpPr/>
          <p:nvPr/>
        </p:nvSpPr>
        <p:spPr>
          <a:xfrm>
            <a:off x="3785616" y="3111337"/>
            <a:ext cx="323669"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+$16.88</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37" name="Shape 35"/>
          <p:cNvSpPr/>
          <p:nvPr/>
        </p:nvSpPr>
        <p:spPr>
          <a:xfrm>
            <a:off x="3785616" y="3351233"/>
            <a:ext cx="285572"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+$14.89</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41" name="Shape 39"/>
          <p:cNvSpPr/>
          <p:nvPr/>
        </p:nvSpPr>
        <p:spPr>
          <a:xfrm>
            <a:off x="3785616" y="3591128"/>
            <a:ext cx="227218"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+$11.85</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45" name="Shape 43"/>
          <p:cNvSpPr/>
          <p:nvPr/>
        </p:nvSpPr>
        <p:spPr>
          <a:xfrm>
            <a:off x="3785616" y="3831024"/>
            <a:ext cx="175981"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+$9.18</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49" name="Shape 47"/>
          <p:cNvSpPr/>
          <p:nvPr/>
        </p:nvSpPr>
        <p:spPr>
          <a:xfrm>
            <a:off x="3785616" y="4070920"/>
            <a:ext cx="143320"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+$7.47</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53" name="Shape 51"/>
          <p:cNvSpPr/>
          <p:nvPr/>
        </p:nvSpPr>
        <p:spPr>
          <a:xfrm>
            <a:off x="3785616" y="4310815"/>
            <a:ext cx="118282"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+$6.17</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57" name="Shape 55"/>
          <p:cNvSpPr/>
          <p:nvPr/>
        </p:nvSpPr>
        <p:spPr>
          <a:xfrm>
            <a:off x="3785616" y="4550711"/>
            <a:ext cx="85736"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+$4.47</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61" name="Shape 59"/>
          <p:cNvSpPr/>
          <p:nvPr/>
        </p:nvSpPr>
        <p:spPr>
          <a:xfrm>
            <a:off x="3785616" y="4790606"/>
            <a:ext cx="81438"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+$4.25</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65" name="Shape 63"/>
          <p:cNvSpPr/>
          <p:nvPr/>
        </p:nvSpPr>
        <p:spPr>
          <a:xfrm>
            <a:off x="3785616" y="5030502"/>
            <a:ext cx="72180"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+$3.76</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69" name="Shape 67"/>
          <p:cNvSpPr/>
          <p:nvPr/>
        </p:nvSpPr>
        <p:spPr>
          <a:xfrm>
            <a:off x="3785616" y="5270397"/>
            <a:ext cx="65254"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+$3.40</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73" name="Shape 71"/>
          <p:cNvSpPr/>
          <p:nvPr/>
        </p:nvSpPr>
        <p:spPr>
          <a:xfrm>
            <a:off x="3785616" y="5510293"/>
            <a:ext cx="63550"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+$3.31</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77" name="Shape 75"/>
          <p:cNvSpPr/>
          <p:nvPr/>
        </p:nvSpPr>
        <p:spPr>
          <a:xfrm>
            <a:off x="3785616" y="5750188"/>
            <a:ext cx="61758"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+$3.22</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81" name="Shape 79"/>
          <p:cNvSpPr/>
          <p:nvPr/>
        </p:nvSpPr>
        <p:spPr>
          <a:xfrm>
            <a:off x="9336024" y="1911860"/>
            <a:ext cx="34241"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+$1.79</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85" name="Shape 83"/>
          <p:cNvSpPr/>
          <p:nvPr/>
        </p:nvSpPr>
        <p:spPr>
          <a:xfrm>
            <a:off x="9336024" y="2151755"/>
            <a:ext cx="12802"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+$0.18</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89" name="Shape 87"/>
          <p:cNvSpPr/>
          <p:nvPr/>
        </p:nvSpPr>
        <p:spPr>
          <a:xfrm>
            <a:off x="9318854" y="2391651"/>
            <a:ext cx="17170" cy="110352"/>
          </a:xfrm>
          <a:prstGeom prst="rect">
            <a:avLst/>
          </a:prstGeom>
          <a:solidFill>
            <a:srgbClr val="C2352F"/>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−$0.90</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93" name="Shape 91"/>
          <p:cNvSpPr/>
          <p:nvPr/>
        </p:nvSpPr>
        <p:spPr>
          <a:xfrm>
            <a:off x="9317123" y="2631546"/>
            <a:ext cx="18901" cy="110352"/>
          </a:xfrm>
          <a:prstGeom prst="rect">
            <a:avLst/>
          </a:prstGeom>
          <a:solidFill>
            <a:srgbClr val="C2352F"/>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−$0.99</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97" name="Shape 95"/>
          <p:cNvSpPr/>
          <p:nvPr/>
        </p:nvSpPr>
        <p:spPr>
          <a:xfrm>
            <a:off x="9308306" y="2871442"/>
            <a:ext cx="27718" cy="110352"/>
          </a:xfrm>
          <a:prstGeom prst="rect">
            <a:avLst/>
          </a:prstGeom>
          <a:solidFill>
            <a:srgbClr val="C2352F"/>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−$1.45</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01" name="Shape 99"/>
          <p:cNvSpPr/>
          <p:nvPr/>
        </p:nvSpPr>
        <p:spPr>
          <a:xfrm>
            <a:off x="9306754" y="3111337"/>
            <a:ext cx="29270" cy="110352"/>
          </a:xfrm>
          <a:prstGeom prst="rect">
            <a:avLst/>
          </a:prstGeom>
          <a:solidFill>
            <a:srgbClr val="C2352F"/>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−$1.53</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05" name="Shape 103"/>
          <p:cNvSpPr/>
          <p:nvPr/>
        </p:nvSpPr>
        <p:spPr>
          <a:xfrm>
            <a:off x="9300755" y="3351233"/>
            <a:ext cx="35269"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−$1.84</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09" name="Shape 107"/>
          <p:cNvSpPr/>
          <p:nvPr/>
        </p:nvSpPr>
        <p:spPr>
          <a:xfrm>
            <a:off x="9296965" y="3591128"/>
            <a:ext cx="39059"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−$2.04</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13" name="Shape 111"/>
          <p:cNvSpPr/>
          <p:nvPr/>
        </p:nvSpPr>
        <p:spPr>
          <a:xfrm>
            <a:off x="9296926" y="3831024"/>
            <a:ext cx="39098"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−$2.04</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17" name="Shape 115"/>
          <p:cNvSpPr/>
          <p:nvPr/>
        </p:nvSpPr>
        <p:spPr>
          <a:xfrm>
            <a:off x="9294926" y="4070920"/>
            <a:ext cx="41098"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−$2.14</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21" name="Shape 119"/>
          <p:cNvSpPr/>
          <p:nvPr/>
        </p:nvSpPr>
        <p:spPr>
          <a:xfrm>
            <a:off x="9266894" y="4310815"/>
            <a:ext cx="69130"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−$3.60</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25" name="Shape 123"/>
          <p:cNvSpPr/>
          <p:nvPr/>
        </p:nvSpPr>
        <p:spPr>
          <a:xfrm>
            <a:off x="9216031" y="4550711"/>
            <a:ext cx="119993"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−$6.26</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29" name="Shape 127"/>
          <p:cNvSpPr/>
          <p:nvPr/>
        </p:nvSpPr>
        <p:spPr>
          <a:xfrm>
            <a:off x="9137473" y="4790606"/>
            <a:ext cx="198551"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−$10.35</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33" name="Shape 131"/>
          <p:cNvSpPr/>
          <p:nvPr/>
        </p:nvSpPr>
        <p:spPr>
          <a:xfrm>
            <a:off x="9119752" y="5030502"/>
            <a:ext cx="216272"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−$11.28</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37" name="Shape 135"/>
          <p:cNvSpPr/>
          <p:nvPr/>
        </p:nvSpPr>
        <p:spPr>
          <a:xfrm>
            <a:off x="9093546" y="5270397"/>
            <a:ext cx="242478"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−$12.64</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41" name="Shape 139"/>
          <p:cNvSpPr/>
          <p:nvPr/>
        </p:nvSpPr>
        <p:spPr>
          <a:xfrm>
            <a:off x="8662367" y="5510293"/>
            <a:ext cx="673657"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−$35.13</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348996"/>
          </a:xfrm>
          <a:prstGeom prst="rect">
            <a:avLst/>
          </a:prstGeom>
          <a:solidFill>
            <a:srgbClr val="E6F6EE"/>
          </a:solidFill>
          <a:ln/>
        </p:spPr>
      </p:sp>
      <p:sp>
        <p:nvSpPr>
          <p:cNvPr id="147" name="Text 145"/>
          <p:cNvSpPr txBox="1"/>
          <p:nvPr/>
        </p:nvSpPr>
        <p:spPr>
          <a:xfrm>
            <a:off x="658368" y="6144768"/>
            <a:ext cx="10927080" cy="312420"/>
          </a:xfrm>
          <a:prstGeom prst="rect">
            <a:avLst/>
          </a:prstGeom>
          <a:noFill/>
          <a:ln/>
        </p:spPr>
        <p:txBody>
          <a:bodyPr wrap="square" lIns="0" tIns="0" rIns="0" bIns="0" rtlCol="0" anchor="ctr"/>
          <a:lstStyle/>
          <a:p>
            <a:pPr indent="0" marL="0">
              <a:buNone/>
            </a:pPr>
            <a:r>
              <a:rPr lang="en-US" sz="1450" b="1" dirty="0">
                <a:solidFill>
                  <a:srgbClr val="0B7A4A"/>
                </a:solidFill>
                <a:latin typeface="Inter" pitchFamily="34" charset="0"/>
                <a:ea typeface="Inter" pitchFamily="34" charset="-122"/>
                <a:cs typeface="Inter" pitchFamily="34" charset="-120"/>
              </a:rPr>
              <a:t>19 of 33 stores raised CP ELR, led by Volvo at +$40.53 to $222.12. 14 declined; Kia LV fell most at −$35.13.</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Text 8"/>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$181.59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$222.12</a:t>
            </a:r>
            <a:endParaRPr lang="en-US" sz="1400" dirty="0"/>
          </a:p>
        </p:txBody>
      </p:sp>
      <p:sp>
        <p:nvSpPr>
          <p:cNvPr id="12" name="Text 10"/>
          <p:cNvSpPr txBox="1"/>
          <p:nvPr/>
        </p:nvSpPr>
        <p:spPr>
          <a:xfrm>
            <a:off x="2941320"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+$40.53</a:t>
            </a:r>
            <a:endParaRPr lang="en-US" sz="1600" dirty="0"/>
          </a:p>
        </p:txBody>
      </p:sp>
      <p:sp>
        <p:nvSpPr>
          <p:cNvPr id="13" name="Text 11"/>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$139.55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$167.64</a:t>
            </a:r>
            <a:endParaRPr lang="en-US" sz="1400" dirty="0"/>
          </a:p>
        </p:txBody>
      </p:sp>
      <p:sp>
        <p:nvSpPr>
          <p:cNvPr id="15" name="Text 13"/>
          <p:cNvSpPr txBox="1"/>
          <p:nvPr/>
        </p:nvSpPr>
        <p:spPr>
          <a:xfrm>
            <a:off x="2941320"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+$28.08</a:t>
            </a:r>
            <a:endParaRPr lang="en-US" sz="1600" dirty="0"/>
          </a:p>
        </p:txBody>
      </p:sp>
      <p:sp>
        <p:nvSpPr>
          <p:cNvPr id="16" name="Shape 14"/>
          <p:cNvSpPr/>
          <p:nvPr/>
        </p:nvSpPr>
        <p:spPr>
          <a:xfrm>
            <a:off x="658368" y="3613709"/>
            <a:ext cx="3489960" cy="755294"/>
          </a:xfrm>
          <a:prstGeom prst="rect">
            <a:avLst/>
          </a:prstGeom>
          <a:solidFill>
            <a:srgbClr val="F7F7F7"/>
          </a:solidFill>
          <a:ln/>
        </p:spPr>
      </p:sp>
      <p:sp>
        <p:nvSpPr>
          <p:cNvPr id="17" name="Text 15"/>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8" name="Text 16"/>
          <p:cNvSpPr txBox="1"/>
          <p:nvPr/>
        </p:nvSpPr>
        <p:spPr>
          <a:xfrm>
            <a:off x="1097280"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$117.05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$143.89</a:t>
            </a:r>
            <a:endParaRPr lang="en-US" sz="1400" dirty="0"/>
          </a:p>
        </p:txBody>
      </p:sp>
      <p:sp>
        <p:nvSpPr>
          <p:cNvPr id="19" name="Text 17"/>
          <p:cNvSpPr txBox="1"/>
          <p:nvPr/>
        </p:nvSpPr>
        <p:spPr>
          <a:xfrm>
            <a:off x="2941320"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+$26.84</a:t>
            </a:r>
            <a:endParaRPr lang="en-US" sz="1600" dirty="0"/>
          </a:p>
        </p:txBody>
      </p:sp>
      <p:sp>
        <p:nvSpPr>
          <p:cNvPr id="20" name="Text 18"/>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1" name="Text 19"/>
          <p:cNvSpPr txBox="1"/>
          <p:nvPr/>
        </p:nvSpPr>
        <p:spPr>
          <a:xfrm>
            <a:off x="1097280"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$153.87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$175.90</a:t>
            </a:r>
            <a:endParaRPr lang="en-US" sz="1400" dirty="0"/>
          </a:p>
        </p:txBody>
      </p:sp>
      <p:sp>
        <p:nvSpPr>
          <p:cNvPr id="22" name="Text 20"/>
          <p:cNvSpPr txBox="1"/>
          <p:nvPr/>
        </p:nvSpPr>
        <p:spPr>
          <a:xfrm>
            <a:off x="2941320"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+$22.02</a:t>
            </a:r>
            <a:endParaRPr lang="en-US" sz="1600" dirty="0"/>
          </a:p>
        </p:txBody>
      </p:sp>
      <p:sp>
        <p:nvSpPr>
          <p:cNvPr id="23" name="Shape 21"/>
          <p:cNvSpPr/>
          <p:nvPr/>
        </p:nvSpPr>
        <p:spPr>
          <a:xfrm>
            <a:off x="658368" y="5124298"/>
            <a:ext cx="3489960" cy="755294"/>
          </a:xfrm>
          <a:prstGeom prst="rect">
            <a:avLst/>
          </a:prstGeom>
          <a:solidFill>
            <a:srgbClr val="F7F7F7"/>
          </a:solidFill>
          <a:ln/>
        </p:spPr>
      </p:sp>
      <p:sp>
        <p:nvSpPr>
          <p:cNvPr id="24" name="Text 22"/>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5" name="Text 23"/>
          <p:cNvSpPr txBox="1"/>
          <p:nvPr/>
        </p:nvSpPr>
        <p:spPr>
          <a:xfrm>
            <a:off x="1097280"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$217.14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$234.55</a:t>
            </a:r>
            <a:endParaRPr lang="en-US" sz="1400" dirty="0"/>
          </a:p>
        </p:txBody>
      </p:sp>
      <p:sp>
        <p:nvSpPr>
          <p:cNvPr id="26" name="Text 24"/>
          <p:cNvSpPr txBox="1"/>
          <p:nvPr/>
        </p:nvSpPr>
        <p:spPr>
          <a:xfrm>
            <a:off x="2941320"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+$17.41</a:t>
            </a:r>
            <a:endParaRPr lang="en-US" sz="1600" dirty="0"/>
          </a:p>
        </p:txBody>
      </p:sp>
      <p:sp>
        <p:nvSpPr>
          <p:cNvPr id="27" name="Shape 25"/>
          <p:cNvSpPr/>
          <p:nvPr/>
        </p:nvSpPr>
        <p:spPr>
          <a:xfrm>
            <a:off x="4349496" y="1371600"/>
            <a:ext cx="3489960" cy="45720"/>
          </a:xfrm>
          <a:prstGeom prst="rect">
            <a:avLst/>
          </a:prstGeom>
          <a:solidFill>
            <a:srgbClr val="C2352F"/>
          </a:solidFill>
          <a:ln/>
        </p:spPr>
      </p:sp>
      <p:sp>
        <p:nvSpPr>
          <p:cNvPr id="28"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29" name="Text 27"/>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30" name="Shape 28"/>
          <p:cNvSpPr/>
          <p:nvPr/>
        </p:nvSpPr>
        <p:spPr>
          <a:xfrm>
            <a:off x="4349496" y="2103120"/>
            <a:ext cx="3489960" cy="755294"/>
          </a:xfrm>
          <a:prstGeom prst="rect">
            <a:avLst/>
          </a:prstGeom>
          <a:solidFill>
            <a:srgbClr val="F7F7F7"/>
          </a:solidFill>
          <a:ln/>
        </p:spPr>
      </p:sp>
      <p:sp>
        <p:nvSpPr>
          <p:cNvPr id="31" name="Text 29"/>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2" name="Text 30"/>
          <p:cNvSpPr txBox="1"/>
          <p:nvPr/>
        </p:nvSpPr>
        <p:spPr>
          <a:xfrm>
            <a:off x="4788408"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$184.36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$149.23</a:t>
            </a:r>
            <a:endParaRPr lang="en-US" sz="1400" dirty="0"/>
          </a:p>
        </p:txBody>
      </p:sp>
      <p:sp>
        <p:nvSpPr>
          <p:cNvPr id="33" name="Text 31"/>
          <p:cNvSpPr txBox="1"/>
          <p:nvPr/>
        </p:nvSpPr>
        <p:spPr>
          <a:xfrm>
            <a:off x="6632448" y="2103120"/>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−$35.13</a:t>
            </a:r>
            <a:endParaRPr lang="en-US" sz="1600" dirty="0"/>
          </a:p>
        </p:txBody>
      </p:sp>
      <p:sp>
        <p:nvSpPr>
          <p:cNvPr id="34" name="Text 32"/>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5" name="Text 33"/>
          <p:cNvSpPr txBox="1"/>
          <p:nvPr/>
        </p:nvSpPr>
        <p:spPr>
          <a:xfrm>
            <a:off x="4788408"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$278.97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$266.32</a:t>
            </a:r>
            <a:endParaRPr lang="en-US" sz="1400" dirty="0"/>
          </a:p>
        </p:txBody>
      </p:sp>
      <p:sp>
        <p:nvSpPr>
          <p:cNvPr id="36" name="Text 34"/>
          <p:cNvSpPr txBox="1"/>
          <p:nvPr/>
        </p:nvSpPr>
        <p:spPr>
          <a:xfrm>
            <a:off x="6632448" y="2858414"/>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−$12.64</a:t>
            </a:r>
            <a:endParaRPr lang="en-US" sz="1600" dirty="0"/>
          </a:p>
        </p:txBody>
      </p:sp>
      <p:sp>
        <p:nvSpPr>
          <p:cNvPr id="37" name="Shape 35"/>
          <p:cNvSpPr/>
          <p:nvPr/>
        </p:nvSpPr>
        <p:spPr>
          <a:xfrm>
            <a:off x="4349496" y="3613709"/>
            <a:ext cx="3489960" cy="755294"/>
          </a:xfrm>
          <a:prstGeom prst="rect">
            <a:avLst/>
          </a:prstGeom>
          <a:solidFill>
            <a:srgbClr val="F7F7F7"/>
          </a:solidFill>
          <a:ln/>
        </p:spPr>
      </p:sp>
      <p:sp>
        <p:nvSpPr>
          <p:cNvPr id="38" name="Text 36"/>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39" name="Text 37"/>
          <p:cNvSpPr txBox="1"/>
          <p:nvPr/>
        </p:nvSpPr>
        <p:spPr>
          <a:xfrm>
            <a:off x="4788408"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$221.78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$210.50</a:t>
            </a:r>
            <a:endParaRPr lang="en-US" sz="1400" dirty="0"/>
          </a:p>
        </p:txBody>
      </p:sp>
      <p:sp>
        <p:nvSpPr>
          <p:cNvPr id="40" name="Text 38"/>
          <p:cNvSpPr txBox="1"/>
          <p:nvPr/>
        </p:nvSpPr>
        <p:spPr>
          <a:xfrm>
            <a:off x="6632448" y="3613709"/>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−$11.28</a:t>
            </a:r>
            <a:endParaRPr lang="en-US" sz="1600" dirty="0"/>
          </a:p>
        </p:txBody>
      </p:sp>
      <p:sp>
        <p:nvSpPr>
          <p:cNvPr id="41" name="Text 39"/>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2" name="Text 40"/>
          <p:cNvSpPr txBox="1"/>
          <p:nvPr/>
        </p:nvSpPr>
        <p:spPr>
          <a:xfrm>
            <a:off x="4788408"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$148.84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$138.48</a:t>
            </a:r>
            <a:endParaRPr lang="en-US" sz="1400" dirty="0"/>
          </a:p>
        </p:txBody>
      </p:sp>
      <p:sp>
        <p:nvSpPr>
          <p:cNvPr id="43" name="Text 41"/>
          <p:cNvSpPr txBox="1"/>
          <p:nvPr/>
        </p:nvSpPr>
        <p:spPr>
          <a:xfrm>
            <a:off x="6632448" y="4369003"/>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−$10.35</a:t>
            </a:r>
            <a:endParaRPr lang="en-US" sz="1600" dirty="0"/>
          </a:p>
        </p:txBody>
      </p:sp>
      <p:sp>
        <p:nvSpPr>
          <p:cNvPr id="44" name="Shape 42"/>
          <p:cNvSpPr/>
          <p:nvPr/>
        </p:nvSpPr>
        <p:spPr>
          <a:xfrm>
            <a:off x="4349496" y="5124298"/>
            <a:ext cx="3489960" cy="755294"/>
          </a:xfrm>
          <a:prstGeom prst="rect">
            <a:avLst/>
          </a:prstGeom>
          <a:solidFill>
            <a:srgbClr val="F7F7F7"/>
          </a:solidFill>
          <a:ln/>
        </p:spPr>
      </p:sp>
      <p:sp>
        <p:nvSpPr>
          <p:cNvPr id="45" name="Text 43"/>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6" name="Text 44"/>
          <p:cNvSpPr txBox="1"/>
          <p:nvPr/>
        </p:nvSpPr>
        <p:spPr>
          <a:xfrm>
            <a:off x="4788408"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$136.71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$130.46</a:t>
            </a:r>
            <a:endParaRPr lang="en-US" sz="1400" dirty="0"/>
          </a:p>
        </p:txBody>
      </p:sp>
      <p:sp>
        <p:nvSpPr>
          <p:cNvPr id="47" name="Text 45"/>
          <p:cNvSpPr txBox="1"/>
          <p:nvPr/>
        </p:nvSpPr>
        <p:spPr>
          <a:xfrm>
            <a:off x="6632448" y="5124298"/>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−$6.26</a:t>
            </a:r>
            <a:endParaRPr lang="en-US" sz="1600" dirty="0"/>
          </a:p>
        </p:txBody>
      </p:sp>
      <p:sp>
        <p:nvSpPr>
          <p:cNvPr id="48" name="Shape 46"/>
          <p:cNvSpPr/>
          <p:nvPr/>
        </p:nvSpPr>
        <p:spPr>
          <a:xfrm>
            <a:off x="8040624" y="1371600"/>
            <a:ext cx="3489960" cy="45720"/>
          </a:xfrm>
          <a:prstGeom prst="rect">
            <a:avLst/>
          </a:prstGeom>
          <a:solidFill>
            <a:srgbClr val="2587C5"/>
          </a:solidFill>
          <a:ln/>
        </p:spPr>
      </p:sp>
      <p:sp>
        <p:nvSpPr>
          <p:cNvPr id="49" name="Text 4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0" name="Text 48"/>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a:t>
            </a:r>
            <a:endParaRPr lang="en-US" sz="1200" dirty="0"/>
          </a:p>
        </p:txBody>
      </p:sp>
      <p:sp>
        <p:nvSpPr>
          <p:cNvPr id="51" name="Shape 49"/>
          <p:cNvSpPr/>
          <p:nvPr/>
        </p:nvSpPr>
        <p:spPr>
          <a:xfrm>
            <a:off x="8040624" y="2103120"/>
            <a:ext cx="3489960" cy="755294"/>
          </a:xfrm>
          <a:prstGeom prst="rect">
            <a:avLst/>
          </a:prstGeom>
          <a:solidFill>
            <a:srgbClr val="F7F7F7"/>
          </a:solidFill>
          <a:ln/>
        </p:spPr>
      </p:sp>
      <p:sp>
        <p:nvSpPr>
          <p:cNvPr id="52" name="Text 50"/>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3" name="Text 51"/>
          <p:cNvSpPr txBox="1"/>
          <p:nvPr/>
        </p:nvSpPr>
        <p:spPr>
          <a:xfrm>
            <a:off x="8479536"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$227.34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$244.12</a:t>
            </a:r>
            <a:endParaRPr lang="en-US" sz="1400" dirty="0"/>
          </a:p>
        </p:txBody>
      </p:sp>
      <p:sp>
        <p:nvSpPr>
          <p:cNvPr id="54" name="Text 52"/>
          <p:cNvSpPr txBox="1"/>
          <p:nvPr/>
        </p:nvSpPr>
        <p:spPr>
          <a:xfrm>
            <a:off x="10323576"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+$16.78</a:t>
            </a:r>
            <a:endParaRPr lang="en-US" sz="1600" dirty="0"/>
          </a:p>
        </p:txBody>
      </p:sp>
      <p:sp>
        <p:nvSpPr>
          <p:cNvPr id="55" name="Text 53"/>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6" name="Text 54"/>
          <p:cNvSpPr txBox="1"/>
          <p:nvPr/>
        </p:nvSpPr>
        <p:spPr>
          <a:xfrm>
            <a:off x="8479536"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$128.27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$141.89</a:t>
            </a:r>
            <a:endParaRPr lang="en-US" sz="1400" dirty="0"/>
          </a:p>
        </p:txBody>
      </p:sp>
      <p:sp>
        <p:nvSpPr>
          <p:cNvPr id="57" name="Text 55"/>
          <p:cNvSpPr txBox="1"/>
          <p:nvPr/>
        </p:nvSpPr>
        <p:spPr>
          <a:xfrm>
            <a:off x="10323576"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+$13.62</a:t>
            </a:r>
            <a:endParaRPr lang="en-US" sz="1600" dirty="0"/>
          </a:p>
        </p:txBody>
      </p:sp>
      <p:sp>
        <p:nvSpPr>
          <p:cNvPr id="58" name="Shape 56"/>
          <p:cNvSpPr/>
          <p:nvPr/>
        </p:nvSpPr>
        <p:spPr>
          <a:xfrm>
            <a:off x="8040624" y="3613709"/>
            <a:ext cx="3489960" cy="755294"/>
          </a:xfrm>
          <a:prstGeom prst="rect">
            <a:avLst/>
          </a:prstGeom>
          <a:solidFill>
            <a:srgbClr val="F7F7F7"/>
          </a:solidFill>
          <a:ln/>
        </p:spPr>
      </p:sp>
      <p:sp>
        <p:nvSpPr>
          <p:cNvPr id="59" name="Text 57"/>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0" name="Text 58"/>
          <p:cNvSpPr txBox="1"/>
          <p:nvPr/>
        </p:nvSpPr>
        <p:spPr>
          <a:xfrm>
            <a:off x="8479536"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$216.72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$225.50</a:t>
            </a:r>
            <a:endParaRPr lang="en-US" sz="1400" dirty="0"/>
          </a:p>
        </p:txBody>
      </p:sp>
      <p:sp>
        <p:nvSpPr>
          <p:cNvPr id="61" name="Text 59"/>
          <p:cNvSpPr txBox="1"/>
          <p:nvPr/>
        </p:nvSpPr>
        <p:spPr>
          <a:xfrm>
            <a:off x="10323576"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+$8.78</a:t>
            </a:r>
            <a:endParaRPr lang="en-US" sz="1600" dirty="0"/>
          </a:p>
        </p:txBody>
      </p:sp>
      <p:sp>
        <p:nvSpPr>
          <p:cNvPr id="62" name="Text 60"/>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3" name="Text 61"/>
          <p:cNvSpPr txBox="1"/>
          <p:nvPr/>
        </p:nvSpPr>
        <p:spPr>
          <a:xfrm>
            <a:off x="8479536"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$139.40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$147.93</a:t>
            </a:r>
            <a:endParaRPr lang="en-US" sz="1400" dirty="0"/>
          </a:p>
        </p:txBody>
      </p:sp>
      <p:sp>
        <p:nvSpPr>
          <p:cNvPr id="64" name="Text 62"/>
          <p:cNvSpPr txBox="1"/>
          <p:nvPr/>
        </p:nvSpPr>
        <p:spPr>
          <a:xfrm>
            <a:off x="10323576"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+$8.53</a:t>
            </a:r>
            <a:endParaRPr lang="en-US" sz="1600" dirty="0"/>
          </a:p>
        </p:txBody>
      </p:sp>
      <p:sp>
        <p:nvSpPr>
          <p:cNvPr id="65" name="Shape 63"/>
          <p:cNvSpPr/>
          <p:nvPr/>
        </p:nvSpPr>
        <p:spPr>
          <a:xfrm>
            <a:off x="8040624" y="5124298"/>
            <a:ext cx="3489960" cy="755294"/>
          </a:xfrm>
          <a:prstGeom prst="rect">
            <a:avLst/>
          </a:prstGeom>
          <a:solidFill>
            <a:srgbClr val="F7F7F7"/>
          </a:solidFill>
          <a:ln/>
        </p:spPr>
      </p:sp>
      <p:sp>
        <p:nvSpPr>
          <p:cNvPr id="66" name="Text 64"/>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7" name="Text 65"/>
          <p:cNvSpPr txBox="1"/>
          <p:nvPr/>
        </p:nvSpPr>
        <p:spPr>
          <a:xfrm>
            <a:off x="8479536"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$142.56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$150.72</a:t>
            </a:r>
            <a:endParaRPr lang="en-US" sz="1400" dirty="0"/>
          </a:p>
        </p:txBody>
      </p:sp>
      <p:sp>
        <p:nvSpPr>
          <p:cNvPr id="68" name="Text 66"/>
          <p:cNvSpPr txBox="1"/>
          <p:nvPr/>
        </p:nvSpPr>
        <p:spPr>
          <a:xfrm>
            <a:off x="10323576"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+$8.17</a:t>
            </a:r>
            <a:endParaRPr lang="en-US" sz="1600" dirty="0"/>
          </a:p>
        </p:txBody>
      </p:sp>
      <p:sp>
        <p:nvSpPr>
          <p:cNvPr id="69" name="Shape 67"/>
          <p:cNvSpPr/>
          <p:nvPr/>
        </p:nvSpPr>
        <p:spPr>
          <a:xfrm>
            <a:off x="457200" y="6126480"/>
            <a:ext cx="11274552" cy="615696"/>
          </a:xfrm>
          <a:prstGeom prst="rect">
            <a:avLst/>
          </a:prstGeom>
          <a:solidFill>
            <a:srgbClr val="EDF4FA"/>
          </a:solidFill>
          <a:ln/>
        </p:spPr>
      </p:sp>
      <p:sp>
        <p:nvSpPr>
          <p:cNvPr id="70" name="Text 6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Ask Volvo, Lincoln and Honda Spokane what changed. Ask Kia LV, Audi Henderson and Acura what got in the way. Ask Audi Reno, VW St George and Volvo what they started this year.</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Door Rate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658368" y="1316736"/>
            <a:ext cx="433425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512064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8" name="Text 6"/>
          <p:cNvSpPr txBox="1"/>
          <p:nvPr/>
        </p:nvSpPr>
        <p:spPr>
          <a:xfrm>
            <a:off x="658368" y="175564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9" name="Shape 7"/>
          <p:cNvSpPr/>
          <p:nvPr/>
        </p:nvSpPr>
        <p:spPr>
          <a:xfrm>
            <a:off x="2651760" y="1813560"/>
            <a:ext cx="2414016" cy="115824"/>
          </a:xfrm>
          <a:prstGeom prst="rect">
            <a:avLst/>
          </a:prstGeom>
          <a:solidFill>
            <a:srgbClr val="2587C5"/>
          </a:solidFill>
          <a:ln/>
        </p:spPr>
      </p:sp>
      <p:sp>
        <p:nvSpPr>
          <p:cNvPr id="10" name="Text 8"/>
          <p:cNvSpPr txBox="1"/>
          <p:nvPr/>
        </p:nvSpPr>
        <p:spPr>
          <a:xfrm>
            <a:off x="5120640" y="175564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$348.87</a:t>
            </a:r>
            <a:endParaRPr lang="en-US" sz="1300" dirty="0"/>
          </a:p>
        </p:txBody>
      </p:sp>
      <p:sp>
        <p:nvSpPr>
          <p:cNvPr id="11" name="Text 9"/>
          <p:cNvSpPr txBox="1"/>
          <p:nvPr/>
        </p:nvSpPr>
        <p:spPr>
          <a:xfrm>
            <a:off x="658368" y="198729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2" name="Shape 10"/>
          <p:cNvSpPr/>
          <p:nvPr/>
        </p:nvSpPr>
        <p:spPr>
          <a:xfrm>
            <a:off x="2651760" y="2045208"/>
            <a:ext cx="2036981" cy="115824"/>
          </a:xfrm>
          <a:prstGeom prst="rect">
            <a:avLst/>
          </a:prstGeom>
          <a:solidFill>
            <a:srgbClr val="2587C5"/>
          </a:solidFill>
          <a:ln/>
        </p:spPr>
      </p:sp>
      <p:sp>
        <p:nvSpPr>
          <p:cNvPr id="13" name="Text 11"/>
          <p:cNvSpPr txBox="1"/>
          <p:nvPr/>
        </p:nvSpPr>
        <p:spPr>
          <a:xfrm>
            <a:off x="5120640" y="198729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$310.00</a:t>
            </a:r>
            <a:endParaRPr lang="en-US" sz="1300" dirty="0"/>
          </a:p>
        </p:txBody>
      </p:sp>
      <p:sp>
        <p:nvSpPr>
          <p:cNvPr id="14" name="Text 12"/>
          <p:cNvSpPr txBox="1"/>
          <p:nvPr/>
        </p:nvSpPr>
        <p:spPr>
          <a:xfrm>
            <a:off x="658368" y="221894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5" name="Shape 13"/>
          <p:cNvSpPr/>
          <p:nvPr/>
        </p:nvSpPr>
        <p:spPr>
          <a:xfrm>
            <a:off x="2651760" y="2276856"/>
            <a:ext cx="1890221" cy="115824"/>
          </a:xfrm>
          <a:prstGeom prst="rect">
            <a:avLst/>
          </a:prstGeom>
          <a:solidFill>
            <a:srgbClr val="2587C5"/>
          </a:solidFill>
          <a:ln/>
        </p:spPr>
      </p:sp>
      <p:sp>
        <p:nvSpPr>
          <p:cNvPr id="16" name="Text 14"/>
          <p:cNvSpPr txBox="1"/>
          <p:nvPr/>
        </p:nvSpPr>
        <p:spPr>
          <a:xfrm>
            <a:off x="5120640" y="221894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$294.87</a:t>
            </a:r>
            <a:endParaRPr lang="en-US" sz="1300" dirty="0"/>
          </a:p>
        </p:txBody>
      </p:sp>
      <p:sp>
        <p:nvSpPr>
          <p:cNvPr id="17" name="Text 15"/>
          <p:cNvSpPr txBox="1"/>
          <p:nvPr/>
        </p:nvSpPr>
        <p:spPr>
          <a:xfrm>
            <a:off x="658368" y="245059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8" name="Shape 16"/>
          <p:cNvSpPr/>
          <p:nvPr/>
        </p:nvSpPr>
        <p:spPr>
          <a:xfrm>
            <a:off x="2651760" y="2508504"/>
            <a:ext cx="1794483" cy="115824"/>
          </a:xfrm>
          <a:prstGeom prst="rect">
            <a:avLst/>
          </a:prstGeom>
          <a:solidFill>
            <a:srgbClr val="2587C5"/>
          </a:solidFill>
          <a:ln/>
        </p:spPr>
      </p:sp>
      <p:sp>
        <p:nvSpPr>
          <p:cNvPr id="19" name="Text 17"/>
          <p:cNvSpPr txBox="1"/>
          <p:nvPr/>
        </p:nvSpPr>
        <p:spPr>
          <a:xfrm>
            <a:off x="5120640" y="2450592"/>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$285.00</a:t>
            </a:r>
            <a:endParaRPr lang="en-US" sz="1300" dirty="0"/>
          </a:p>
        </p:txBody>
      </p:sp>
      <p:sp>
        <p:nvSpPr>
          <p:cNvPr id="20" name="Text 18"/>
          <p:cNvSpPr txBox="1"/>
          <p:nvPr/>
        </p:nvSpPr>
        <p:spPr>
          <a:xfrm>
            <a:off x="658368" y="268224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21" name="Shape 19"/>
          <p:cNvSpPr/>
          <p:nvPr/>
        </p:nvSpPr>
        <p:spPr>
          <a:xfrm>
            <a:off x="2651760" y="2740152"/>
            <a:ext cx="1356726" cy="115824"/>
          </a:xfrm>
          <a:prstGeom prst="rect">
            <a:avLst/>
          </a:prstGeom>
          <a:solidFill>
            <a:srgbClr val="2587C5"/>
          </a:solidFill>
          <a:ln/>
        </p:spPr>
      </p:sp>
      <p:sp>
        <p:nvSpPr>
          <p:cNvPr id="22" name="Text 20"/>
          <p:cNvSpPr txBox="1"/>
          <p:nvPr/>
        </p:nvSpPr>
        <p:spPr>
          <a:xfrm>
            <a:off x="5120640" y="268224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$239.87</a:t>
            </a:r>
            <a:endParaRPr lang="en-US" sz="1300" dirty="0"/>
          </a:p>
        </p:txBody>
      </p:sp>
      <p:sp>
        <p:nvSpPr>
          <p:cNvPr id="23" name="Text 21"/>
          <p:cNvSpPr txBox="1"/>
          <p:nvPr/>
        </p:nvSpPr>
        <p:spPr>
          <a:xfrm>
            <a:off x="658368" y="291388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4" name="Shape 22"/>
          <p:cNvSpPr/>
          <p:nvPr/>
        </p:nvSpPr>
        <p:spPr>
          <a:xfrm>
            <a:off x="2651760" y="2971800"/>
            <a:ext cx="1317926" cy="115824"/>
          </a:xfrm>
          <a:prstGeom prst="rect">
            <a:avLst/>
          </a:prstGeom>
          <a:solidFill>
            <a:srgbClr val="2587C5"/>
          </a:solidFill>
          <a:ln/>
        </p:spPr>
      </p:sp>
      <p:sp>
        <p:nvSpPr>
          <p:cNvPr id="25" name="Text 23"/>
          <p:cNvSpPr txBox="1"/>
          <p:nvPr/>
        </p:nvSpPr>
        <p:spPr>
          <a:xfrm>
            <a:off x="5120640" y="291388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$235.87</a:t>
            </a:r>
            <a:endParaRPr lang="en-US" sz="1300" dirty="0"/>
          </a:p>
        </p:txBody>
      </p:sp>
      <p:sp>
        <p:nvSpPr>
          <p:cNvPr id="26" name="Shape 24"/>
          <p:cNvSpPr/>
          <p:nvPr/>
        </p:nvSpPr>
        <p:spPr>
          <a:xfrm>
            <a:off x="603504" y="3145536"/>
            <a:ext cx="5285232" cy="222504"/>
          </a:xfrm>
          <a:prstGeom prst="rect">
            <a:avLst/>
          </a:prstGeom>
          <a:solidFill>
            <a:srgbClr val="EDF4FA"/>
          </a:solidFill>
          <a:ln/>
        </p:spPr>
      </p:sp>
      <p:sp>
        <p:nvSpPr>
          <p:cNvPr id="27" name="Text 25"/>
          <p:cNvSpPr txBox="1"/>
          <p:nvPr/>
        </p:nvSpPr>
        <p:spPr>
          <a:xfrm>
            <a:off x="658368" y="3145536"/>
            <a:ext cx="1920240" cy="23164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28" name="Shape 26"/>
          <p:cNvSpPr/>
          <p:nvPr/>
        </p:nvSpPr>
        <p:spPr>
          <a:xfrm>
            <a:off x="2651760" y="3203448"/>
            <a:ext cx="1246950" cy="115824"/>
          </a:xfrm>
          <a:prstGeom prst="rect">
            <a:avLst/>
          </a:prstGeom>
          <a:solidFill>
            <a:srgbClr val="0B2C4A"/>
          </a:solidFill>
          <a:ln/>
        </p:spPr>
      </p:sp>
      <p:sp>
        <p:nvSpPr>
          <p:cNvPr id="29" name="Text 27"/>
          <p:cNvSpPr txBox="1"/>
          <p:nvPr/>
        </p:nvSpPr>
        <p:spPr>
          <a:xfrm>
            <a:off x="5120640" y="3145536"/>
            <a:ext cx="749808" cy="23164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$228.55</a:t>
            </a:r>
            <a:endParaRPr lang="en-US" sz="1300" dirty="0"/>
          </a:p>
        </p:txBody>
      </p:sp>
      <p:sp>
        <p:nvSpPr>
          <p:cNvPr id="30" name="Text 28"/>
          <p:cNvSpPr txBox="1"/>
          <p:nvPr/>
        </p:nvSpPr>
        <p:spPr>
          <a:xfrm>
            <a:off x="658368" y="337718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1" name="Shape 29"/>
          <p:cNvSpPr/>
          <p:nvPr/>
        </p:nvSpPr>
        <p:spPr>
          <a:xfrm>
            <a:off x="2651760" y="3435096"/>
            <a:ext cx="1211227" cy="115824"/>
          </a:xfrm>
          <a:prstGeom prst="rect">
            <a:avLst/>
          </a:prstGeom>
          <a:solidFill>
            <a:srgbClr val="2587C5"/>
          </a:solidFill>
          <a:ln/>
        </p:spPr>
      </p:sp>
      <p:sp>
        <p:nvSpPr>
          <p:cNvPr id="32" name="Text 30"/>
          <p:cNvSpPr txBox="1"/>
          <p:nvPr/>
        </p:nvSpPr>
        <p:spPr>
          <a:xfrm>
            <a:off x="5120640" y="337718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33" name="Text 31"/>
          <p:cNvSpPr txBox="1"/>
          <p:nvPr/>
        </p:nvSpPr>
        <p:spPr>
          <a:xfrm>
            <a:off x="658368" y="360883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4" name="Shape 32"/>
          <p:cNvSpPr/>
          <p:nvPr/>
        </p:nvSpPr>
        <p:spPr>
          <a:xfrm>
            <a:off x="2651760" y="3666744"/>
            <a:ext cx="1211227" cy="115824"/>
          </a:xfrm>
          <a:prstGeom prst="rect">
            <a:avLst/>
          </a:prstGeom>
          <a:solidFill>
            <a:srgbClr val="2587C5"/>
          </a:solidFill>
          <a:ln/>
        </p:spPr>
      </p:sp>
      <p:sp>
        <p:nvSpPr>
          <p:cNvPr id="35" name="Text 33"/>
          <p:cNvSpPr txBox="1"/>
          <p:nvPr/>
        </p:nvSpPr>
        <p:spPr>
          <a:xfrm>
            <a:off x="5120640" y="3608832"/>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36" name="Text 34"/>
          <p:cNvSpPr txBox="1"/>
          <p:nvPr/>
        </p:nvSpPr>
        <p:spPr>
          <a:xfrm>
            <a:off x="658368" y="384048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7" name="Shape 35"/>
          <p:cNvSpPr/>
          <p:nvPr/>
        </p:nvSpPr>
        <p:spPr>
          <a:xfrm>
            <a:off x="2651760" y="3898392"/>
            <a:ext cx="1162728" cy="115824"/>
          </a:xfrm>
          <a:prstGeom prst="rect">
            <a:avLst/>
          </a:prstGeom>
          <a:solidFill>
            <a:srgbClr val="2587C5"/>
          </a:solidFill>
          <a:ln/>
        </p:spPr>
      </p:sp>
      <p:sp>
        <p:nvSpPr>
          <p:cNvPr id="38" name="Text 36"/>
          <p:cNvSpPr txBox="1"/>
          <p:nvPr/>
        </p:nvSpPr>
        <p:spPr>
          <a:xfrm>
            <a:off x="5120640" y="384048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$219.87</a:t>
            </a:r>
            <a:endParaRPr lang="en-US" sz="1300" dirty="0"/>
          </a:p>
        </p:txBody>
      </p:sp>
      <p:sp>
        <p:nvSpPr>
          <p:cNvPr id="39" name="Text 37"/>
          <p:cNvSpPr txBox="1"/>
          <p:nvPr/>
        </p:nvSpPr>
        <p:spPr>
          <a:xfrm>
            <a:off x="658368" y="407212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0" name="Shape 38"/>
          <p:cNvSpPr/>
          <p:nvPr/>
        </p:nvSpPr>
        <p:spPr>
          <a:xfrm>
            <a:off x="2651760" y="4130040"/>
            <a:ext cx="1085129" cy="115824"/>
          </a:xfrm>
          <a:prstGeom prst="rect">
            <a:avLst/>
          </a:prstGeom>
          <a:solidFill>
            <a:srgbClr val="2587C5"/>
          </a:solidFill>
          <a:ln/>
        </p:spPr>
      </p:sp>
      <p:sp>
        <p:nvSpPr>
          <p:cNvPr id="41" name="Text 39"/>
          <p:cNvSpPr txBox="1"/>
          <p:nvPr/>
        </p:nvSpPr>
        <p:spPr>
          <a:xfrm>
            <a:off x="5120640" y="407212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42" name="Text 40"/>
          <p:cNvSpPr txBox="1"/>
          <p:nvPr/>
        </p:nvSpPr>
        <p:spPr>
          <a:xfrm>
            <a:off x="658368" y="430377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3" name="Shape 41"/>
          <p:cNvSpPr/>
          <p:nvPr/>
        </p:nvSpPr>
        <p:spPr>
          <a:xfrm>
            <a:off x="2651760" y="4361688"/>
            <a:ext cx="1085129" cy="115824"/>
          </a:xfrm>
          <a:prstGeom prst="rect">
            <a:avLst/>
          </a:prstGeom>
          <a:solidFill>
            <a:srgbClr val="2587C5"/>
          </a:solidFill>
          <a:ln/>
        </p:spPr>
      </p:sp>
      <p:sp>
        <p:nvSpPr>
          <p:cNvPr id="44" name="Text 42"/>
          <p:cNvSpPr txBox="1"/>
          <p:nvPr/>
        </p:nvSpPr>
        <p:spPr>
          <a:xfrm>
            <a:off x="5120640" y="430377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45" name="Text 43"/>
          <p:cNvSpPr txBox="1"/>
          <p:nvPr/>
        </p:nvSpPr>
        <p:spPr>
          <a:xfrm>
            <a:off x="658368" y="453542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6" name="Shape 44"/>
          <p:cNvSpPr/>
          <p:nvPr/>
        </p:nvSpPr>
        <p:spPr>
          <a:xfrm>
            <a:off x="2651760" y="4593336"/>
            <a:ext cx="1079212" cy="115824"/>
          </a:xfrm>
          <a:prstGeom prst="rect">
            <a:avLst/>
          </a:prstGeom>
          <a:solidFill>
            <a:srgbClr val="2587C5"/>
          </a:solidFill>
          <a:ln/>
        </p:spPr>
      </p:sp>
      <p:sp>
        <p:nvSpPr>
          <p:cNvPr id="47" name="Text 45"/>
          <p:cNvSpPr txBox="1"/>
          <p:nvPr/>
        </p:nvSpPr>
        <p:spPr>
          <a:xfrm>
            <a:off x="5120640" y="453542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$211.26</a:t>
            </a:r>
            <a:endParaRPr lang="en-US" sz="1300" dirty="0"/>
          </a:p>
        </p:txBody>
      </p:sp>
      <p:sp>
        <p:nvSpPr>
          <p:cNvPr id="48" name="Text 46"/>
          <p:cNvSpPr txBox="1"/>
          <p:nvPr/>
        </p:nvSpPr>
        <p:spPr>
          <a:xfrm>
            <a:off x="658368" y="476707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9" name="Shape 47"/>
          <p:cNvSpPr/>
          <p:nvPr/>
        </p:nvSpPr>
        <p:spPr>
          <a:xfrm>
            <a:off x="2651760" y="4824984"/>
            <a:ext cx="1065729" cy="115824"/>
          </a:xfrm>
          <a:prstGeom prst="rect">
            <a:avLst/>
          </a:prstGeom>
          <a:solidFill>
            <a:srgbClr val="2587C5"/>
          </a:solidFill>
          <a:ln/>
        </p:spPr>
      </p:sp>
      <p:sp>
        <p:nvSpPr>
          <p:cNvPr id="50" name="Text 48"/>
          <p:cNvSpPr txBox="1"/>
          <p:nvPr/>
        </p:nvSpPr>
        <p:spPr>
          <a:xfrm>
            <a:off x="5120640" y="4767072"/>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$209.87</a:t>
            </a:r>
            <a:endParaRPr lang="en-US" sz="1300" dirty="0"/>
          </a:p>
        </p:txBody>
      </p:sp>
      <p:sp>
        <p:nvSpPr>
          <p:cNvPr id="51" name="Text 49"/>
          <p:cNvSpPr txBox="1"/>
          <p:nvPr/>
        </p:nvSpPr>
        <p:spPr>
          <a:xfrm>
            <a:off x="658368" y="499872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2" name="Shape 50"/>
          <p:cNvSpPr/>
          <p:nvPr/>
        </p:nvSpPr>
        <p:spPr>
          <a:xfrm>
            <a:off x="2651760" y="5056632"/>
            <a:ext cx="1017229" cy="115824"/>
          </a:xfrm>
          <a:prstGeom prst="rect">
            <a:avLst/>
          </a:prstGeom>
          <a:solidFill>
            <a:srgbClr val="2587C5"/>
          </a:solidFill>
          <a:ln/>
        </p:spPr>
      </p:sp>
      <p:sp>
        <p:nvSpPr>
          <p:cNvPr id="53" name="Text 51"/>
          <p:cNvSpPr txBox="1"/>
          <p:nvPr/>
        </p:nvSpPr>
        <p:spPr>
          <a:xfrm>
            <a:off x="5120640" y="499872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$204.87</a:t>
            </a:r>
            <a:endParaRPr lang="en-US" sz="1300" dirty="0"/>
          </a:p>
        </p:txBody>
      </p:sp>
      <p:sp>
        <p:nvSpPr>
          <p:cNvPr id="54" name="Text 52"/>
          <p:cNvSpPr txBox="1"/>
          <p:nvPr/>
        </p:nvSpPr>
        <p:spPr>
          <a:xfrm>
            <a:off x="658368" y="523036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5" name="Shape 53"/>
          <p:cNvSpPr/>
          <p:nvPr/>
        </p:nvSpPr>
        <p:spPr>
          <a:xfrm>
            <a:off x="2651760" y="5288280"/>
            <a:ext cx="823231" cy="115824"/>
          </a:xfrm>
          <a:prstGeom prst="rect">
            <a:avLst/>
          </a:prstGeom>
          <a:solidFill>
            <a:srgbClr val="2587C5"/>
          </a:solidFill>
          <a:ln/>
        </p:spPr>
      </p:sp>
      <p:sp>
        <p:nvSpPr>
          <p:cNvPr id="56" name="Text 54"/>
          <p:cNvSpPr txBox="1"/>
          <p:nvPr/>
        </p:nvSpPr>
        <p:spPr>
          <a:xfrm>
            <a:off x="5120640" y="523036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57" name="Text 55"/>
          <p:cNvSpPr txBox="1"/>
          <p:nvPr/>
        </p:nvSpPr>
        <p:spPr>
          <a:xfrm>
            <a:off x="658368" y="546201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58" name="Shape 56"/>
          <p:cNvSpPr/>
          <p:nvPr/>
        </p:nvSpPr>
        <p:spPr>
          <a:xfrm>
            <a:off x="2651760" y="5519928"/>
            <a:ext cx="823231" cy="115824"/>
          </a:xfrm>
          <a:prstGeom prst="rect">
            <a:avLst/>
          </a:prstGeom>
          <a:solidFill>
            <a:srgbClr val="2587C5"/>
          </a:solidFill>
          <a:ln/>
        </p:spPr>
      </p:sp>
      <p:sp>
        <p:nvSpPr>
          <p:cNvPr id="59" name="Text 57"/>
          <p:cNvSpPr txBox="1"/>
          <p:nvPr/>
        </p:nvSpPr>
        <p:spPr>
          <a:xfrm>
            <a:off x="5120640" y="546201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60" name="Text 58"/>
          <p:cNvSpPr txBox="1"/>
          <p:nvPr/>
        </p:nvSpPr>
        <p:spPr>
          <a:xfrm>
            <a:off x="658368" y="569366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1" name="Shape 59"/>
          <p:cNvSpPr/>
          <p:nvPr/>
        </p:nvSpPr>
        <p:spPr>
          <a:xfrm>
            <a:off x="2651760" y="5751576"/>
            <a:ext cx="774732" cy="115824"/>
          </a:xfrm>
          <a:prstGeom prst="rect">
            <a:avLst/>
          </a:prstGeom>
          <a:solidFill>
            <a:srgbClr val="2587C5"/>
          </a:solidFill>
          <a:ln/>
        </p:spPr>
      </p:sp>
      <p:sp>
        <p:nvSpPr>
          <p:cNvPr id="62" name="Text 60"/>
          <p:cNvSpPr txBox="1"/>
          <p:nvPr/>
        </p:nvSpPr>
        <p:spPr>
          <a:xfrm>
            <a:off x="5120640" y="569366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$179.87</a:t>
            </a:r>
            <a:endParaRPr lang="en-US" sz="1300" dirty="0"/>
          </a:p>
        </p:txBody>
      </p:sp>
      <p:sp>
        <p:nvSpPr>
          <p:cNvPr id="63" name="Text 61"/>
          <p:cNvSpPr txBox="1"/>
          <p:nvPr/>
        </p:nvSpPr>
        <p:spPr>
          <a:xfrm>
            <a:off x="6208776" y="1316736"/>
            <a:ext cx="433425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64" name="Text 62"/>
          <p:cNvSpPr txBox="1"/>
          <p:nvPr/>
        </p:nvSpPr>
        <p:spPr>
          <a:xfrm>
            <a:off x="10671048"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65" name="Text 63"/>
          <p:cNvSpPr txBox="1"/>
          <p:nvPr/>
        </p:nvSpPr>
        <p:spPr>
          <a:xfrm>
            <a:off x="6208776" y="175564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6" name="Shape 64"/>
          <p:cNvSpPr/>
          <p:nvPr/>
        </p:nvSpPr>
        <p:spPr>
          <a:xfrm>
            <a:off x="8202168" y="1813560"/>
            <a:ext cx="1697484" cy="115824"/>
          </a:xfrm>
          <a:prstGeom prst="rect">
            <a:avLst/>
          </a:prstGeom>
          <a:solidFill>
            <a:srgbClr val="2587C5"/>
          </a:solidFill>
          <a:ln/>
        </p:spPr>
      </p:sp>
      <p:sp>
        <p:nvSpPr>
          <p:cNvPr id="67" name="Text 65"/>
          <p:cNvSpPr txBox="1"/>
          <p:nvPr/>
        </p:nvSpPr>
        <p:spPr>
          <a:xfrm>
            <a:off x="10671048" y="175564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$275.00</a:t>
            </a:r>
            <a:endParaRPr lang="en-US" sz="1300" dirty="0"/>
          </a:p>
        </p:txBody>
      </p:sp>
      <p:sp>
        <p:nvSpPr>
          <p:cNvPr id="68" name="Text 66"/>
          <p:cNvSpPr txBox="1"/>
          <p:nvPr/>
        </p:nvSpPr>
        <p:spPr>
          <a:xfrm>
            <a:off x="6208776" y="198729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9" name="Shape 67"/>
          <p:cNvSpPr/>
          <p:nvPr/>
        </p:nvSpPr>
        <p:spPr>
          <a:xfrm>
            <a:off x="8202168" y="2045208"/>
            <a:ext cx="1454501" cy="115824"/>
          </a:xfrm>
          <a:prstGeom prst="rect">
            <a:avLst/>
          </a:prstGeom>
          <a:solidFill>
            <a:srgbClr val="2587C5"/>
          </a:solidFill>
          <a:ln/>
        </p:spPr>
      </p:sp>
      <p:sp>
        <p:nvSpPr>
          <p:cNvPr id="70" name="Text 68"/>
          <p:cNvSpPr txBox="1"/>
          <p:nvPr/>
        </p:nvSpPr>
        <p:spPr>
          <a:xfrm>
            <a:off x="10671048" y="198729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$249.95</a:t>
            </a:r>
            <a:endParaRPr lang="en-US" sz="1300" dirty="0"/>
          </a:p>
        </p:txBody>
      </p:sp>
      <p:sp>
        <p:nvSpPr>
          <p:cNvPr id="71" name="Text 69"/>
          <p:cNvSpPr txBox="1"/>
          <p:nvPr/>
        </p:nvSpPr>
        <p:spPr>
          <a:xfrm>
            <a:off x="6208776" y="221894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72" name="Shape 70"/>
          <p:cNvSpPr/>
          <p:nvPr/>
        </p:nvSpPr>
        <p:spPr>
          <a:xfrm>
            <a:off x="8202168" y="2276856"/>
            <a:ext cx="1405226" cy="115824"/>
          </a:xfrm>
          <a:prstGeom prst="rect">
            <a:avLst/>
          </a:prstGeom>
          <a:solidFill>
            <a:srgbClr val="2587C5"/>
          </a:solidFill>
          <a:ln/>
        </p:spPr>
      </p:sp>
      <p:sp>
        <p:nvSpPr>
          <p:cNvPr id="73" name="Text 71"/>
          <p:cNvSpPr txBox="1"/>
          <p:nvPr/>
        </p:nvSpPr>
        <p:spPr>
          <a:xfrm>
            <a:off x="10671048" y="221894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$244.87</a:t>
            </a:r>
            <a:endParaRPr lang="en-US" sz="1300" dirty="0"/>
          </a:p>
        </p:txBody>
      </p:sp>
      <p:sp>
        <p:nvSpPr>
          <p:cNvPr id="74" name="Text 72"/>
          <p:cNvSpPr txBox="1"/>
          <p:nvPr/>
        </p:nvSpPr>
        <p:spPr>
          <a:xfrm>
            <a:off x="6208776" y="245059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5" name="Shape 73"/>
          <p:cNvSpPr/>
          <p:nvPr/>
        </p:nvSpPr>
        <p:spPr>
          <a:xfrm>
            <a:off x="8202168" y="2508504"/>
            <a:ext cx="1260503" cy="115824"/>
          </a:xfrm>
          <a:prstGeom prst="rect">
            <a:avLst/>
          </a:prstGeom>
          <a:solidFill>
            <a:srgbClr val="2587C5"/>
          </a:solidFill>
          <a:ln/>
        </p:spPr>
      </p:sp>
      <p:sp>
        <p:nvSpPr>
          <p:cNvPr id="76" name="Text 74"/>
          <p:cNvSpPr txBox="1"/>
          <p:nvPr/>
        </p:nvSpPr>
        <p:spPr>
          <a:xfrm>
            <a:off x="10671048" y="2450592"/>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$229.95</a:t>
            </a:r>
            <a:endParaRPr lang="en-US" sz="1300" dirty="0"/>
          </a:p>
        </p:txBody>
      </p:sp>
      <p:sp>
        <p:nvSpPr>
          <p:cNvPr id="77" name="Text 75"/>
          <p:cNvSpPr txBox="1"/>
          <p:nvPr/>
        </p:nvSpPr>
        <p:spPr>
          <a:xfrm>
            <a:off x="6208776" y="268224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8" name="Shape 76"/>
          <p:cNvSpPr/>
          <p:nvPr/>
        </p:nvSpPr>
        <p:spPr>
          <a:xfrm>
            <a:off x="8202168" y="2740152"/>
            <a:ext cx="1163989" cy="115824"/>
          </a:xfrm>
          <a:prstGeom prst="rect">
            <a:avLst/>
          </a:prstGeom>
          <a:solidFill>
            <a:srgbClr val="2587C5"/>
          </a:solidFill>
          <a:ln/>
        </p:spPr>
      </p:sp>
      <p:sp>
        <p:nvSpPr>
          <p:cNvPr id="79" name="Text 77"/>
          <p:cNvSpPr txBox="1"/>
          <p:nvPr/>
        </p:nvSpPr>
        <p:spPr>
          <a:xfrm>
            <a:off x="10671048" y="268224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$220.00</a:t>
            </a:r>
            <a:endParaRPr lang="en-US" sz="1300" dirty="0"/>
          </a:p>
        </p:txBody>
      </p:sp>
      <p:sp>
        <p:nvSpPr>
          <p:cNvPr id="80" name="Text 78"/>
          <p:cNvSpPr txBox="1"/>
          <p:nvPr/>
        </p:nvSpPr>
        <p:spPr>
          <a:xfrm>
            <a:off x="6208776" y="291388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1" name="Shape 79"/>
          <p:cNvSpPr/>
          <p:nvPr/>
        </p:nvSpPr>
        <p:spPr>
          <a:xfrm>
            <a:off x="8202168" y="2971800"/>
            <a:ext cx="1119078" cy="115824"/>
          </a:xfrm>
          <a:prstGeom prst="rect">
            <a:avLst/>
          </a:prstGeom>
          <a:solidFill>
            <a:srgbClr val="2587C5"/>
          </a:solidFill>
          <a:ln/>
        </p:spPr>
      </p:sp>
      <p:sp>
        <p:nvSpPr>
          <p:cNvPr id="82" name="Text 80"/>
          <p:cNvSpPr txBox="1"/>
          <p:nvPr/>
        </p:nvSpPr>
        <p:spPr>
          <a:xfrm>
            <a:off x="10671048" y="291388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$215.37</a:t>
            </a:r>
            <a:endParaRPr lang="en-US" sz="1300" dirty="0"/>
          </a:p>
        </p:txBody>
      </p:sp>
      <p:sp>
        <p:nvSpPr>
          <p:cNvPr id="83" name="Text 81"/>
          <p:cNvSpPr txBox="1"/>
          <p:nvPr/>
        </p:nvSpPr>
        <p:spPr>
          <a:xfrm>
            <a:off x="6208776" y="314553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84" name="Shape 82"/>
          <p:cNvSpPr/>
          <p:nvPr/>
        </p:nvSpPr>
        <p:spPr>
          <a:xfrm>
            <a:off x="8202168" y="3203448"/>
            <a:ext cx="1066990" cy="115824"/>
          </a:xfrm>
          <a:prstGeom prst="rect">
            <a:avLst/>
          </a:prstGeom>
          <a:solidFill>
            <a:srgbClr val="2587C5"/>
          </a:solidFill>
          <a:ln/>
        </p:spPr>
      </p:sp>
      <p:sp>
        <p:nvSpPr>
          <p:cNvPr id="85" name="Text 83"/>
          <p:cNvSpPr txBox="1"/>
          <p:nvPr/>
        </p:nvSpPr>
        <p:spPr>
          <a:xfrm>
            <a:off x="10671048" y="314553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86" name="Text 84"/>
          <p:cNvSpPr txBox="1"/>
          <p:nvPr/>
        </p:nvSpPr>
        <p:spPr>
          <a:xfrm>
            <a:off x="6208776" y="337718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87" name="Shape 85"/>
          <p:cNvSpPr/>
          <p:nvPr/>
        </p:nvSpPr>
        <p:spPr>
          <a:xfrm>
            <a:off x="8202168" y="3435096"/>
            <a:ext cx="1066990" cy="115824"/>
          </a:xfrm>
          <a:prstGeom prst="rect">
            <a:avLst/>
          </a:prstGeom>
          <a:solidFill>
            <a:srgbClr val="2587C5"/>
          </a:solidFill>
          <a:ln/>
        </p:spPr>
      </p:sp>
      <p:sp>
        <p:nvSpPr>
          <p:cNvPr id="88" name="Text 86"/>
          <p:cNvSpPr txBox="1"/>
          <p:nvPr/>
        </p:nvSpPr>
        <p:spPr>
          <a:xfrm>
            <a:off x="10671048" y="337718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89" name="Shape 87"/>
          <p:cNvSpPr/>
          <p:nvPr/>
        </p:nvSpPr>
        <p:spPr>
          <a:xfrm>
            <a:off x="6153912" y="3608832"/>
            <a:ext cx="5285232" cy="222504"/>
          </a:xfrm>
          <a:prstGeom prst="rect">
            <a:avLst/>
          </a:prstGeom>
          <a:solidFill>
            <a:srgbClr val="EDF4FA"/>
          </a:solidFill>
          <a:ln/>
        </p:spPr>
      </p:sp>
      <p:sp>
        <p:nvSpPr>
          <p:cNvPr id="90" name="Text 88"/>
          <p:cNvSpPr txBox="1"/>
          <p:nvPr/>
        </p:nvSpPr>
        <p:spPr>
          <a:xfrm>
            <a:off x="6208776" y="3608832"/>
            <a:ext cx="1920240" cy="23164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91" name="Shape 89"/>
          <p:cNvSpPr/>
          <p:nvPr/>
        </p:nvSpPr>
        <p:spPr>
          <a:xfrm>
            <a:off x="8202168" y="3666744"/>
            <a:ext cx="997468" cy="115824"/>
          </a:xfrm>
          <a:prstGeom prst="rect">
            <a:avLst/>
          </a:prstGeom>
          <a:solidFill>
            <a:srgbClr val="0B2C4A"/>
          </a:solidFill>
          <a:ln/>
        </p:spPr>
      </p:sp>
      <p:sp>
        <p:nvSpPr>
          <p:cNvPr id="92" name="Text 90"/>
          <p:cNvSpPr txBox="1"/>
          <p:nvPr/>
        </p:nvSpPr>
        <p:spPr>
          <a:xfrm>
            <a:off x="10671048" y="3608832"/>
            <a:ext cx="749808" cy="23164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$202.83</a:t>
            </a:r>
            <a:endParaRPr lang="en-US" sz="1300" dirty="0"/>
          </a:p>
        </p:txBody>
      </p:sp>
      <p:sp>
        <p:nvSpPr>
          <p:cNvPr id="93" name="Text 91"/>
          <p:cNvSpPr txBox="1"/>
          <p:nvPr/>
        </p:nvSpPr>
        <p:spPr>
          <a:xfrm>
            <a:off x="6208776" y="384048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4" name="Shape 92"/>
          <p:cNvSpPr/>
          <p:nvPr/>
        </p:nvSpPr>
        <p:spPr>
          <a:xfrm>
            <a:off x="8202168" y="3898392"/>
            <a:ext cx="969506" cy="115824"/>
          </a:xfrm>
          <a:prstGeom prst="rect">
            <a:avLst/>
          </a:prstGeom>
          <a:solidFill>
            <a:srgbClr val="2587C5"/>
          </a:solidFill>
          <a:ln/>
        </p:spPr>
      </p:sp>
      <p:sp>
        <p:nvSpPr>
          <p:cNvPr id="95" name="Text 93"/>
          <p:cNvSpPr txBox="1"/>
          <p:nvPr/>
        </p:nvSpPr>
        <p:spPr>
          <a:xfrm>
            <a:off x="10671048" y="384048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$199.95</a:t>
            </a:r>
            <a:endParaRPr lang="en-US" sz="1300" dirty="0"/>
          </a:p>
        </p:txBody>
      </p:sp>
      <p:sp>
        <p:nvSpPr>
          <p:cNvPr id="96" name="Text 94"/>
          <p:cNvSpPr txBox="1"/>
          <p:nvPr/>
        </p:nvSpPr>
        <p:spPr>
          <a:xfrm>
            <a:off x="6208776" y="407212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97" name="Shape 95"/>
          <p:cNvSpPr/>
          <p:nvPr/>
        </p:nvSpPr>
        <p:spPr>
          <a:xfrm>
            <a:off x="8202168" y="4130040"/>
            <a:ext cx="921491" cy="115824"/>
          </a:xfrm>
          <a:prstGeom prst="rect">
            <a:avLst/>
          </a:prstGeom>
          <a:solidFill>
            <a:srgbClr val="2587C5"/>
          </a:solidFill>
          <a:ln/>
        </p:spPr>
      </p:sp>
      <p:sp>
        <p:nvSpPr>
          <p:cNvPr id="98" name="Text 96"/>
          <p:cNvSpPr txBox="1"/>
          <p:nvPr/>
        </p:nvSpPr>
        <p:spPr>
          <a:xfrm>
            <a:off x="10671048" y="407212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$195.00</a:t>
            </a:r>
            <a:endParaRPr lang="en-US" sz="1300" dirty="0"/>
          </a:p>
        </p:txBody>
      </p:sp>
      <p:sp>
        <p:nvSpPr>
          <p:cNvPr id="99" name="Text 97"/>
          <p:cNvSpPr txBox="1"/>
          <p:nvPr/>
        </p:nvSpPr>
        <p:spPr>
          <a:xfrm>
            <a:off x="6208776" y="430377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0" name="Shape 98"/>
          <p:cNvSpPr/>
          <p:nvPr/>
        </p:nvSpPr>
        <p:spPr>
          <a:xfrm>
            <a:off x="8202168" y="4361688"/>
            <a:ext cx="872992" cy="115824"/>
          </a:xfrm>
          <a:prstGeom prst="rect">
            <a:avLst/>
          </a:prstGeom>
          <a:solidFill>
            <a:srgbClr val="2587C5"/>
          </a:solidFill>
          <a:ln/>
        </p:spPr>
      </p:sp>
      <p:sp>
        <p:nvSpPr>
          <p:cNvPr id="101" name="Text 99"/>
          <p:cNvSpPr txBox="1"/>
          <p:nvPr/>
        </p:nvSpPr>
        <p:spPr>
          <a:xfrm>
            <a:off x="10671048" y="430377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$190.00</a:t>
            </a:r>
            <a:endParaRPr lang="en-US" sz="1300" dirty="0"/>
          </a:p>
        </p:txBody>
      </p:sp>
      <p:sp>
        <p:nvSpPr>
          <p:cNvPr id="102" name="Text 100"/>
          <p:cNvSpPr txBox="1"/>
          <p:nvPr/>
        </p:nvSpPr>
        <p:spPr>
          <a:xfrm>
            <a:off x="6208776" y="453542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03" name="Shape 101"/>
          <p:cNvSpPr/>
          <p:nvPr/>
        </p:nvSpPr>
        <p:spPr>
          <a:xfrm>
            <a:off x="8202168" y="4593336"/>
            <a:ext cx="824492" cy="115824"/>
          </a:xfrm>
          <a:prstGeom prst="rect">
            <a:avLst/>
          </a:prstGeom>
          <a:solidFill>
            <a:srgbClr val="2587C5"/>
          </a:solidFill>
          <a:ln/>
        </p:spPr>
      </p:sp>
      <p:sp>
        <p:nvSpPr>
          <p:cNvPr id="104" name="Text 102"/>
          <p:cNvSpPr txBox="1"/>
          <p:nvPr/>
        </p:nvSpPr>
        <p:spPr>
          <a:xfrm>
            <a:off x="10671048" y="453542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05" name="Text 103"/>
          <p:cNvSpPr txBox="1"/>
          <p:nvPr/>
        </p:nvSpPr>
        <p:spPr>
          <a:xfrm>
            <a:off x="6208776" y="476707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6" name="Shape 104"/>
          <p:cNvSpPr/>
          <p:nvPr/>
        </p:nvSpPr>
        <p:spPr>
          <a:xfrm>
            <a:off x="8202168" y="4824984"/>
            <a:ext cx="824492" cy="115824"/>
          </a:xfrm>
          <a:prstGeom prst="rect">
            <a:avLst/>
          </a:prstGeom>
          <a:solidFill>
            <a:srgbClr val="2587C5"/>
          </a:solidFill>
          <a:ln/>
        </p:spPr>
      </p:sp>
      <p:sp>
        <p:nvSpPr>
          <p:cNvPr id="107" name="Text 105"/>
          <p:cNvSpPr txBox="1"/>
          <p:nvPr/>
        </p:nvSpPr>
        <p:spPr>
          <a:xfrm>
            <a:off x="10671048" y="4767072"/>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08" name="Text 106"/>
          <p:cNvSpPr txBox="1"/>
          <p:nvPr/>
        </p:nvSpPr>
        <p:spPr>
          <a:xfrm>
            <a:off x="6208776" y="499872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09" name="Shape 107"/>
          <p:cNvSpPr/>
          <p:nvPr/>
        </p:nvSpPr>
        <p:spPr>
          <a:xfrm>
            <a:off x="8202168" y="5056632"/>
            <a:ext cx="824492" cy="115824"/>
          </a:xfrm>
          <a:prstGeom prst="rect">
            <a:avLst/>
          </a:prstGeom>
          <a:solidFill>
            <a:srgbClr val="2587C5"/>
          </a:solidFill>
          <a:ln/>
        </p:spPr>
      </p:sp>
      <p:sp>
        <p:nvSpPr>
          <p:cNvPr id="110" name="Text 108"/>
          <p:cNvSpPr txBox="1"/>
          <p:nvPr/>
        </p:nvSpPr>
        <p:spPr>
          <a:xfrm>
            <a:off x="10671048" y="499872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11" name="Text 109"/>
          <p:cNvSpPr txBox="1"/>
          <p:nvPr/>
        </p:nvSpPr>
        <p:spPr>
          <a:xfrm>
            <a:off x="6208776" y="523036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12" name="Shape 110"/>
          <p:cNvSpPr/>
          <p:nvPr/>
        </p:nvSpPr>
        <p:spPr>
          <a:xfrm>
            <a:off x="8202168" y="5288280"/>
            <a:ext cx="824492" cy="115824"/>
          </a:xfrm>
          <a:prstGeom prst="rect">
            <a:avLst/>
          </a:prstGeom>
          <a:solidFill>
            <a:srgbClr val="2587C5"/>
          </a:solidFill>
          <a:ln/>
        </p:spPr>
      </p:sp>
      <p:sp>
        <p:nvSpPr>
          <p:cNvPr id="113" name="Text 111"/>
          <p:cNvSpPr txBox="1"/>
          <p:nvPr/>
        </p:nvSpPr>
        <p:spPr>
          <a:xfrm>
            <a:off x="10671048" y="523036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14" name="Text 112"/>
          <p:cNvSpPr txBox="1"/>
          <p:nvPr/>
        </p:nvSpPr>
        <p:spPr>
          <a:xfrm>
            <a:off x="6208776" y="546201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15" name="Shape 113"/>
          <p:cNvSpPr/>
          <p:nvPr/>
        </p:nvSpPr>
        <p:spPr>
          <a:xfrm>
            <a:off x="8202168" y="5519928"/>
            <a:ext cx="766293" cy="115824"/>
          </a:xfrm>
          <a:prstGeom prst="rect">
            <a:avLst/>
          </a:prstGeom>
          <a:solidFill>
            <a:srgbClr val="2587C5"/>
          </a:solidFill>
          <a:ln/>
        </p:spPr>
      </p:sp>
      <p:sp>
        <p:nvSpPr>
          <p:cNvPr id="116" name="Text 114"/>
          <p:cNvSpPr txBox="1"/>
          <p:nvPr/>
        </p:nvSpPr>
        <p:spPr>
          <a:xfrm>
            <a:off x="10671048" y="546201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$179.00</a:t>
            </a:r>
            <a:endParaRPr lang="en-US" sz="1300" dirty="0"/>
          </a:p>
        </p:txBody>
      </p:sp>
      <p:sp>
        <p:nvSpPr>
          <p:cNvPr id="117" name="Shape 115"/>
          <p:cNvSpPr/>
          <p:nvPr/>
        </p:nvSpPr>
        <p:spPr>
          <a:xfrm>
            <a:off x="6035040" y="1371600"/>
            <a:ext cx="10973" cy="4553712"/>
          </a:xfrm>
          <a:prstGeom prst="rect">
            <a:avLst/>
          </a:prstGeom>
          <a:solidFill>
            <a:srgbClr val="D9D9D9"/>
          </a:solidFill>
          <a:ln/>
        </p:spPr>
      </p:sp>
      <p:sp>
        <p:nvSpPr>
          <p:cNvPr id="118" name="Shape 116"/>
          <p:cNvSpPr/>
          <p:nvPr/>
        </p:nvSpPr>
        <p:spPr>
          <a:xfrm>
            <a:off x="457200" y="6126480"/>
            <a:ext cx="11274552" cy="341376"/>
          </a:xfrm>
          <a:prstGeom prst="rect">
            <a:avLst/>
          </a:prstGeom>
          <a:solidFill>
            <a:srgbClr val="EDF4FA"/>
          </a:solidFill>
          <a:ln/>
        </p:spPr>
      </p:sp>
      <p:sp>
        <p:nvSpPr>
          <p:cNvPr id="119" name="Text 117"/>
          <p:cNvSpPr txBox="1"/>
          <p:nvPr/>
        </p:nvSpPr>
        <p:spPr>
          <a:xfrm>
            <a:off x="658368" y="6144768"/>
            <a:ext cx="10927080" cy="30480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17 stores price labor on a grid, 16 at a flat door rate. Hours-weighted door rate: $228.55 grid, $202.83 no grid.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Door Rate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658368" y="1316736"/>
            <a:ext cx="268833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347472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8" name="Text 6"/>
          <p:cNvSpPr txBox="1"/>
          <p:nvPr/>
        </p:nvSpPr>
        <p:spPr>
          <a:xfrm>
            <a:off x="4224528" y="1316736"/>
            <a:ext cx="98755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PREMIUM</a:t>
            </a:r>
            <a:endParaRPr lang="en-US" sz="1400" dirty="0"/>
          </a:p>
        </p:txBody>
      </p:sp>
      <p:sp>
        <p:nvSpPr>
          <p:cNvPr id="9" name="Text 7"/>
          <p:cNvSpPr txBox="1"/>
          <p:nvPr/>
        </p:nvSpPr>
        <p:spPr>
          <a:xfrm>
            <a:off x="5212080" y="1316736"/>
            <a:ext cx="65836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FOR</a:t>
            </a:r>
            <a:endParaRPr lang="en-US" sz="1400" dirty="0"/>
          </a:p>
        </p:txBody>
      </p:sp>
      <p:sp>
        <p:nvSpPr>
          <p:cNvPr id="10" name="Text 8"/>
          <p:cNvSpPr txBox="1"/>
          <p:nvPr/>
        </p:nvSpPr>
        <p:spPr>
          <a:xfrm>
            <a:off x="658368" y="175564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1" name="Shape 9"/>
          <p:cNvSpPr/>
          <p:nvPr/>
        </p:nvSpPr>
        <p:spPr>
          <a:xfrm>
            <a:off x="2651760" y="1813560"/>
            <a:ext cx="768096" cy="115824"/>
          </a:xfrm>
          <a:prstGeom prst="rect">
            <a:avLst/>
          </a:prstGeom>
          <a:solidFill>
            <a:srgbClr val="2587C5"/>
          </a:solidFill>
          <a:ln/>
        </p:spPr>
      </p:sp>
      <p:sp>
        <p:nvSpPr>
          <p:cNvPr id="12" name="Text 10"/>
          <p:cNvSpPr txBox="1"/>
          <p:nvPr/>
        </p:nvSpPr>
        <p:spPr>
          <a:xfrm>
            <a:off x="3474720" y="175564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$348.87</a:t>
            </a:r>
            <a:endParaRPr lang="en-US" sz="1300" dirty="0"/>
          </a:p>
        </p:txBody>
      </p:sp>
      <p:sp>
        <p:nvSpPr>
          <p:cNvPr id="13" name="Text 11"/>
          <p:cNvSpPr txBox="1"/>
          <p:nvPr/>
        </p:nvSpPr>
        <p:spPr>
          <a:xfrm>
            <a:off x="4224528" y="1755648"/>
            <a:ext cx="987552"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$399.00</a:t>
            </a:r>
            <a:endParaRPr lang="en-US" sz="1300" dirty="0"/>
          </a:p>
        </p:txBody>
      </p:sp>
      <p:sp>
        <p:nvSpPr>
          <p:cNvPr id="14" name="Text 12"/>
          <p:cNvSpPr txBox="1"/>
          <p:nvPr/>
        </p:nvSpPr>
        <p:spPr>
          <a:xfrm>
            <a:off x="5212080" y="1755648"/>
            <a:ext cx="658368"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Lambo</a:t>
            </a:r>
            <a:endParaRPr lang="en-US" sz="1300" dirty="0"/>
          </a:p>
        </p:txBody>
      </p:sp>
      <p:sp>
        <p:nvSpPr>
          <p:cNvPr id="15" name="Text 13"/>
          <p:cNvSpPr txBox="1"/>
          <p:nvPr/>
        </p:nvSpPr>
        <p:spPr>
          <a:xfrm>
            <a:off x="658368" y="198729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6" name="Shape 14"/>
          <p:cNvSpPr/>
          <p:nvPr/>
        </p:nvSpPr>
        <p:spPr>
          <a:xfrm>
            <a:off x="2651760" y="2045208"/>
            <a:ext cx="648130" cy="115824"/>
          </a:xfrm>
          <a:prstGeom prst="rect">
            <a:avLst/>
          </a:prstGeom>
          <a:solidFill>
            <a:srgbClr val="2587C5"/>
          </a:solidFill>
          <a:ln/>
        </p:spPr>
      </p:sp>
      <p:sp>
        <p:nvSpPr>
          <p:cNvPr id="17" name="Text 15"/>
          <p:cNvSpPr txBox="1"/>
          <p:nvPr/>
        </p:nvSpPr>
        <p:spPr>
          <a:xfrm>
            <a:off x="3474720" y="198729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$310.00</a:t>
            </a:r>
            <a:endParaRPr lang="en-US" sz="1300" dirty="0"/>
          </a:p>
        </p:txBody>
      </p:sp>
      <p:sp>
        <p:nvSpPr>
          <p:cNvPr id="18" name="Text 16"/>
          <p:cNvSpPr txBox="1"/>
          <p:nvPr/>
        </p:nvSpPr>
        <p:spPr>
          <a:xfrm>
            <a:off x="4224528" y="1987296"/>
            <a:ext cx="987552" cy="231648"/>
          </a:xfrm>
          <a:prstGeom prst="rect">
            <a:avLst/>
          </a:prstGeom>
          <a:noFill/>
          <a:ln/>
        </p:spPr>
        <p:txBody>
          <a:bodyPr wrap="square" lIns="0" tIns="0" rIns="0" bIns="0" rtlCol="0" anchor="ctr"/>
          <a:lstStyle/>
          <a:p>
            <a:pPr algn="r" indent="0" marL="0">
              <a:buNone/>
            </a:pPr>
            <a:endParaRPr lang="en-US" sz="1300" dirty="0"/>
          </a:p>
        </p:txBody>
      </p:sp>
      <p:sp>
        <p:nvSpPr>
          <p:cNvPr id="19" name="Text 17"/>
          <p:cNvSpPr txBox="1"/>
          <p:nvPr/>
        </p:nvSpPr>
        <p:spPr>
          <a:xfrm>
            <a:off x="5212080" y="1987296"/>
            <a:ext cx="658368" cy="231648"/>
          </a:xfrm>
          <a:prstGeom prst="rect">
            <a:avLst/>
          </a:prstGeom>
          <a:noFill/>
          <a:ln/>
        </p:spPr>
        <p:txBody>
          <a:bodyPr wrap="square" lIns="0" tIns="0" rIns="0" bIns="0" rtlCol="0" anchor="ctr"/>
          <a:lstStyle/>
          <a:p>
            <a:pPr algn="r" indent="0" marL="0">
              <a:buNone/>
            </a:pPr>
            <a:endParaRPr lang="en-US" sz="1300" dirty="0"/>
          </a:p>
        </p:txBody>
      </p:sp>
      <p:sp>
        <p:nvSpPr>
          <p:cNvPr id="20" name="Text 18"/>
          <p:cNvSpPr txBox="1"/>
          <p:nvPr/>
        </p:nvSpPr>
        <p:spPr>
          <a:xfrm>
            <a:off x="658368" y="221894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1" name="Shape 19"/>
          <p:cNvSpPr/>
          <p:nvPr/>
        </p:nvSpPr>
        <p:spPr>
          <a:xfrm>
            <a:off x="2651760" y="2276856"/>
            <a:ext cx="601434" cy="115824"/>
          </a:xfrm>
          <a:prstGeom prst="rect">
            <a:avLst/>
          </a:prstGeom>
          <a:solidFill>
            <a:srgbClr val="2587C5"/>
          </a:solidFill>
          <a:ln/>
        </p:spPr>
      </p:sp>
      <p:sp>
        <p:nvSpPr>
          <p:cNvPr id="22" name="Text 20"/>
          <p:cNvSpPr txBox="1"/>
          <p:nvPr/>
        </p:nvSpPr>
        <p:spPr>
          <a:xfrm>
            <a:off x="3474720" y="221894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$294.87</a:t>
            </a:r>
            <a:endParaRPr lang="en-US" sz="1300" dirty="0"/>
          </a:p>
        </p:txBody>
      </p:sp>
      <p:sp>
        <p:nvSpPr>
          <p:cNvPr id="23" name="Text 21"/>
          <p:cNvSpPr txBox="1"/>
          <p:nvPr/>
        </p:nvSpPr>
        <p:spPr>
          <a:xfrm>
            <a:off x="4224528" y="2218944"/>
            <a:ext cx="987552" cy="231648"/>
          </a:xfrm>
          <a:prstGeom prst="rect">
            <a:avLst/>
          </a:prstGeom>
          <a:noFill/>
          <a:ln/>
        </p:spPr>
        <p:txBody>
          <a:bodyPr wrap="square" lIns="0" tIns="0" rIns="0" bIns="0" rtlCol="0" anchor="ctr"/>
          <a:lstStyle/>
          <a:p>
            <a:pPr algn="r" indent="0" marL="0">
              <a:buNone/>
            </a:pPr>
            <a:endParaRPr lang="en-US" sz="1300" dirty="0"/>
          </a:p>
        </p:txBody>
      </p:sp>
      <p:sp>
        <p:nvSpPr>
          <p:cNvPr id="24" name="Text 22"/>
          <p:cNvSpPr txBox="1"/>
          <p:nvPr/>
        </p:nvSpPr>
        <p:spPr>
          <a:xfrm>
            <a:off x="5212080" y="2218944"/>
            <a:ext cx="658368" cy="231648"/>
          </a:xfrm>
          <a:prstGeom prst="rect">
            <a:avLst/>
          </a:prstGeom>
          <a:noFill/>
          <a:ln/>
        </p:spPr>
        <p:txBody>
          <a:bodyPr wrap="square" lIns="0" tIns="0" rIns="0" bIns="0" rtlCol="0" anchor="ctr"/>
          <a:lstStyle/>
          <a:p>
            <a:pPr algn="r" indent="0" marL="0">
              <a:buNone/>
            </a:pPr>
            <a:endParaRPr lang="en-US" sz="1300" dirty="0"/>
          </a:p>
        </p:txBody>
      </p:sp>
      <p:sp>
        <p:nvSpPr>
          <p:cNvPr id="25" name="Text 23"/>
          <p:cNvSpPr txBox="1"/>
          <p:nvPr/>
        </p:nvSpPr>
        <p:spPr>
          <a:xfrm>
            <a:off x="658368" y="245059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6" name="Shape 24"/>
          <p:cNvSpPr/>
          <p:nvPr/>
        </p:nvSpPr>
        <p:spPr>
          <a:xfrm>
            <a:off x="2651760" y="2508504"/>
            <a:ext cx="570972" cy="115824"/>
          </a:xfrm>
          <a:prstGeom prst="rect">
            <a:avLst/>
          </a:prstGeom>
          <a:solidFill>
            <a:srgbClr val="2587C5"/>
          </a:solidFill>
          <a:ln/>
        </p:spPr>
      </p:sp>
      <p:sp>
        <p:nvSpPr>
          <p:cNvPr id="27" name="Text 25"/>
          <p:cNvSpPr txBox="1"/>
          <p:nvPr/>
        </p:nvSpPr>
        <p:spPr>
          <a:xfrm>
            <a:off x="3474720" y="2450592"/>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$285.00</a:t>
            </a:r>
            <a:endParaRPr lang="en-US" sz="1300" dirty="0"/>
          </a:p>
        </p:txBody>
      </p:sp>
      <p:sp>
        <p:nvSpPr>
          <p:cNvPr id="28" name="Text 26"/>
          <p:cNvSpPr txBox="1"/>
          <p:nvPr/>
        </p:nvSpPr>
        <p:spPr>
          <a:xfrm>
            <a:off x="4224528" y="2450592"/>
            <a:ext cx="987552" cy="231648"/>
          </a:xfrm>
          <a:prstGeom prst="rect">
            <a:avLst/>
          </a:prstGeom>
          <a:noFill/>
          <a:ln/>
        </p:spPr>
        <p:txBody>
          <a:bodyPr wrap="square" lIns="0" tIns="0" rIns="0" bIns="0" rtlCol="0" anchor="ctr"/>
          <a:lstStyle/>
          <a:p>
            <a:pPr algn="r" indent="0" marL="0">
              <a:buNone/>
            </a:pPr>
            <a:endParaRPr lang="en-US" sz="1300" dirty="0"/>
          </a:p>
        </p:txBody>
      </p:sp>
      <p:sp>
        <p:nvSpPr>
          <p:cNvPr id="29" name="Text 27"/>
          <p:cNvSpPr txBox="1"/>
          <p:nvPr/>
        </p:nvSpPr>
        <p:spPr>
          <a:xfrm>
            <a:off x="5212080" y="2450592"/>
            <a:ext cx="658368" cy="231648"/>
          </a:xfrm>
          <a:prstGeom prst="rect">
            <a:avLst/>
          </a:prstGeom>
          <a:noFill/>
          <a:ln/>
        </p:spPr>
        <p:txBody>
          <a:bodyPr wrap="square" lIns="0" tIns="0" rIns="0" bIns="0" rtlCol="0" anchor="ctr"/>
          <a:lstStyle/>
          <a:p>
            <a:pPr algn="r" indent="0" marL="0">
              <a:buNone/>
            </a:pPr>
            <a:endParaRPr lang="en-US" sz="1300" dirty="0"/>
          </a:p>
        </p:txBody>
      </p:sp>
      <p:sp>
        <p:nvSpPr>
          <p:cNvPr id="30" name="Text 28"/>
          <p:cNvSpPr txBox="1"/>
          <p:nvPr/>
        </p:nvSpPr>
        <p:spPr>
          <a:xfrm>
            <a:off x="658368" y="268224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1" name="Shape 29"/>
          <p:cNvSpPr/>
          <p:nvPr/>
        </p:nvSpPr>
        <p:spPr>
          <a:xfrm>
            <a:off x="2651760" y="2740152"/>
            <a:ext cx="431686" cy="115824"/>
          </a:xfrm>
          <a:prstGeom prst="rect">
            <a:avLst/>
          </a:prstGeom>
          <a:solidFill>
            <a:srgbClr val="2587C5"/>
          </a:solidFill>
          <a:ln/>
        </p:spPr>
      </p:sp>
      <p:sp>
        <p:nvSpPr>
          <p:cNvPr id="32" name="Text 30"/>
          <p:cNvSpPr txBox="1"/>
          <p:nvPr/>
        </p:nvSpPr>
        <p:spPr>
          <a:xfrm>
            <a:off x="3474720" y="268224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$239.87</a:t>
            </a:r>
            <a:endParaRPr lang="en-US" sz="1300" dirty="0"/>
          </a:p>
        </p:txBody>
      </p:sp>
      <p:sp>
        <p:nvSpPr>
          <p:cNvPr id="33" name="Text 31"/>
          <p:cNvSpPr txBox="1"/>
          <p:nvPr/>
        </p:nvSpPr>
        <p:spPr>
          <a:xfrm>
            <a:off x="4224528" y="2682240"/>
            <a:ext cx="987552" cy="231648"/>
          </a:xfrm>
          <a:prstGeom prst="rect">
            <a:avLst/>
          </a:prstGeom>
          <a:noFill/>
          <a:ln/>
        </p:spPr>
        <p:txBody>
          <a:bodyPr wrap="square" lIns="0" tIns="0" rIns="0" bIns="0" rtlCol="0" anchor="ctr"/>
          <a:lstStyle/>
          <a:p>
            <a:pPr algn="r" indent="0" marL="0">
              <a:buNone/>
            </a:pPr>
            <a:endParaRPr lang="en-US" sz="1300" dirty="0"/>
          </a:p>
        </p:txBody>
      </p:sp>
      <p:sp>
        <p:nvSpPr>
          <p:cNvPr id="34" name="Text 32"/>
          <p:cNvSpPr txBox="1"/>
          <p:nvPr/>
        </p:nvSpPr>
        <p:spPr>
          <a:xfrm>
            <a:off x="5212080" y="2682240"/>
            <a:ext cx="658368" cy="231648"/>
          </a:xfrm>
          <a:prstGeom prst="rect">
            <a:avLst/>
          </a:prstGeom>
          <a:noFill/>
          <a:ln/>
        </p:spPr>
        <p:txBody>
          <a:bodyPr wrap="square" lIns="0" tIns="0" rIns="0" bIns="0" rtlCol="0" anchor="ctr"/>
          <a:lstStyle/>
          <a:p>
            <a:pPr algn="r" indent="0" marL="0">
              <a:buNone/>
            </a:pPr>
            <a:endParaRPr lang="en-US" sz="1300" dirty="0"/>
          </a:p>
        </p:txBody>
      </p:sp>
      <p:sp>
        <p:nvSpPr>
          <p:cNvPr id="35" name="Text 33"/>
          <p:cNvSpPr txBox="1"/>
          <p:nvPr/>
        </p:nvSpPr>
        <p:spPr>
          <a:xfrm>
            <a:off x="658368" y="291388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36" name="Shape 34"/>
          <p:cNvSpPr/>
          <p:nvPr/>
        </p:nvSpPr>
        <p:spPr>
          <a:xfrm>
            <a:off x="2651760" y="2971800"/>
            <a:ext cx="419340" cy="115824"/>
          </a:xfrm>
          <a:prstGeom prst="rect">
            <a:avLst/>
          </a:prstGeom>
          <a:solidFill>
            <a:srgbClr val="2587C5"/>
          </a:solidFill>
          <a:ln/>
        </p:spPr>
      </p:sp>
      <p:sp>
        <p:nvSpPr>
          <p:cNvPr id="37" name="Text 35"/>
          <p:cNvSpPr txBox="1"/>
          <p:nvPr/>
        </p:nvSpPr>
        <p:spPr>
          <a:xfrm>
            <a:off x="3474720" y="291388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$235.87</a:t>
            </a:r>
            <a:endParaRPr lang="en-US" sz="1300" dirty="0"/>
          </a:p>
        </p:txBody>
      </p:sp>
      <p:sp>
        <p:nvSpPr>
          <p:cNvPr id="38" name="Text 36"/>
          <p:cNvSpPr txBox="1"/>
          <p:nvPr/>
        </p:nvSpPr>
        <p:spPr>
          <a:xfrm>
            <a:off x="4224528" y="2913888"/>
            <a:ext cx="987552" cy="231648"/>
          </a:xfrm>
          <a:prstGeom prst="rect">
            <a:avLst/>
          </a:prstGeom>
          <a:noFill/>
          <a:ln/>
        </p:spPr>
        <p:txBody>
          <a:bodyPr wrap="square" lIns="0" tIns="0" rIns="0" bIns="0" rtlCol="0" anchor="ctr"/>
          <a:lstStyle/>
          <a:p>
            <a:pPr algn="r" indent="0" marL="0">
              <a:buNone/>
            </a:pPr>
            <a:endParaRPr lang="en-US" sz="1300" dirty="0"/>
          </a:p>
        </p:txBody>
      </p:sp>
      <p:sp>
        <p:nvSpPr>
          <p:cNvPr id="39" name="Text 37"/>
          <p:cNvSpPr txBox="1"/>
          <p:nvPr/>
        </p:nvSpPr>
        <p:spPr>
          <a:xfrm>
            <a:off x="5212080" y="2913888"/>
            <a:ext cx="658368" cy="231648"/>
          </a:xfrm>
          <a:prstGeom prst="rect">
            <a:avLst/>
          </a:prstGeom>
          <a:noFill/>
          <a:ln/>
        </p:spPr>
        <p:txBody>
          <a:bodyPr wrap="square" lIns="0" tIns="0" rIns="0" bIns="0" rtlCol="0" anchor="ctr"/>
          <a:lstStyle/>
          <a:p>
            <a:pPr algn="r" indent="0" marL="0">
              <a:buNone/>
            </a:pPr>
            <a:endParaRPr lang="en-US" sz="1300" dirty="0"/>
          </a:p>
        </p:txBody>
      </p:sp>
      <p:sp>
        <p:nvSpPr>
          <p:cNvPr id="40" name="Shape 38"/>
          <p:cNvSpPr/>
          <p:nvPr/>
        </p:nvSpPr>
        <p:spPr>
          <a:xfrm>
            <a:off x="603504" y="3145536"/>
            <a:ext cx="5285232" cy="222504"/>
          </a:xfrm>
          <a:prstGeom prst="rect">
            <a:avLst/>
          </a:prstGeom>
          <a:solidFill>
            <a:srgbClr val="EDF4FA"/>
          </a:solidFill>
          <a:ln/>
        </p:spPr>
      </p:sp>
      <p:sp>
        <p:nvSpPr>
          <p:cNvPr id="41" name="Text 39"/>
          <p:cNvSpPr txBox="1"/>
          <p:nvPr/>
        </p:nvSpPr>
        <p:spPr>
          <a:xfrm>
            <a:off x="658368" y="3145536"/>
            <a:ext cx="1920240" cy="23164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42" name="Shape 40"/>
          <p:cNvSpPr/>
          <p:nvPr/>
        </p:nvSpPr>
        <p:spPr>
          <a:xfrm>
            <a:off x="2651760" y="3203448"/>
            <a:ext cx="396757" cy="115824"/>
          </a:xfrm>
          <a:prstGeom prst="rect">
            <a:avLst/>
          </a:prstGeom>
          <a:solidFill>
            <a:srgbClr val="0B2C4A"/>
          </a:solidFill>
          <a:ln/>
        </p:spPr>
      </p:sp>
      <p:sp>
        <p:nvSpPr>
          <p:cNvPr id="43" name="Text 41"/>
          <p:cNvSpPr txBox="1"/>
          <p:nvPr/>
        </p:nvSpPr>
        <p:spPr>
          <a:xfrm>
            <a:off x="3474720" y="3145536"/>
            <a:ext cx="749808" cy="23164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$228.55</a:t>
            </a:r>
            <a:endParaRPr lang="en-US" sz="1300" dirty="0"/>
          </a:p>
        </p:txBody>
      </p:sp>
      <p:sp>
        <p:nvSpPr>
          <p:cNvPr id="44" name="Text 42"/>
          <p:cNvSpPr txBox="1"/>
          <p:nvPr/>
        </p:nvSpPr>
        <p:spPr>
          <a:xfrm>
            <a:off x="4224528" y="3145536"/>
            <a:ext cx="987552" cy="231648"/>
          </a:xfrm>
          <a:prstGeom prst="rect">
            <a:avLst/>
          </a:prstGeom>
          <a:noFill/>
          <a:ln/>
        </p:spPr>
        <p:txBody>
          <a:bodyPr wrap="square" lIns="0" tIns="0" rIns="0" bIns="0" rtlCol="0" anchor="ctr"/>
          <a:lstStyle/>
          <a:p>
            <a:pPr algn="r" indent="0" marL="0">
              <a:buNone/>
            </a:pPr>
            <a:endParaRPr lang="en-US" sz="1300" dirty="0"/>
          </a:p>
        </p:txBody>
      </p:sp>
      <p:sp>
        <p:nvSpPr>
          <p:cNvPr id="45" name="Text 43"/>
          <p:cNvSpPr txBox="1"/>
          <p:nvPr/>
        </p:nvSpPr>
        <p:spPr>
          <a:xfrm>
            <a:off x="5212080" y="3145536"/>
            <a:ext cx="658368" cy="231648"/>
          </a:xfrm>
          <a:prstGeom prst="rect">
            <a:avLst/>
          </a:prstGeom>
          <a:noFill/>
          <a:ln/>
        </p:spPr>
        <p:txBody>
          <a:bodyPr wrap="square" lIns="0" tIns="0" rIns="0" bIns="0" rtlCol="0" anchor="ctr"/>
          <a:lstStyle/>
          <a:p>
            <a:pPr algn="r" indent="0" marL="0">
              <a:buNone/>
            </a:pPr>
            <a:endParaRPr lang="en-US" sz="1300" dirty="0"/>
          </a:p>
        </p:txBody>
      </p:sp>
      <p:sp>
        <p:nvSpPr>
          <p:cNvPr id="46" name="Text 44"/>
          <p:cNvSpPr txBox="1"/>
          <p:nvPr/>
        </p:nvSpPr>
        <p:spPr>
          <a:xfrm>
            <a:off x="658368" y="337718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47" name="Shape 45"/>
          <p:cNvSpPr/>
          <p:nvPr/>
        </p:nvSpPr>
        <p:spPr>
          <a:xfrm>
            <a:off x="2651760" y="3435096"/>
            <a:ext cx="385391" cy="115824"/>
          </a:xfrm>
          <a:prstGeom prst="rect">
            <a:avLst/>
          </a:prstGeom>
          <a:solidFill>
            <a:srgbClr val="2587C5"/>
          </a:solidFill>
          <a:ln/>
        </p:spPr>
      </p:sp>
      <p:sp>
        <p:nvSpPr>
          <p:cNvPr id="48" name="Text 46"/>
          <p:cNvSpPr txBox="1"/>
          <p:nvPr/>
        </p:nvSpPr>
        <p:spPr>
          <a:xfrm>
            <a:off x="3474720" y="337718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49" name="Text 47"/>
          <p:cNvSpPr txBox="1"/>
          <p:nvPr/>
        </p:nvSpPr>
        <p:spPr>
          <a:xfrm>
            <a:off x="4224528" y="3377184"/>
            <a:ext cx="987552"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$264.87</a:t>
            </a:r>
            <a:endParaRPr lang="en-US" sz="1300" dirty="0"/>
          </a:p>
        </p:txBody>
      </p:sp>
      <p:sp>
        <p:nvSpPr>
          <p:cNvPr id="50" name="Text 48"/>
          <p:cNvSpPr txBox="1"/>
          <p:nvPr/>
        </p:nvSpPr>
        <p:spPr>
          <a:xfrm>
            <a:off x="5212080" y="3377184"/>
            <a:ext cx="658368"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Diesel</a:t>
            </a:r>
            <a:endParaRPr lang="en-US" sz="1300" dirty="0"/>
          </a:p>
        </p:txBody>
      </p:sp>
      <p:sp>
        <p:nvSpPr>
          <p:cNvPr id="51" name="Text 49"/>
          <p:cNvSpPr txBox="1"/>
          <p:nvPr/>
        </p:nvSpPr>
        <p:spPr>
          <a:xfrm>
            <a:off x="658368" y="360883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52" name="Shape 50"/>
          <p:cNvSpPr/>
          <p:nvPr/>
        </p:nvSpPr>
        <p:spPr>
          <a:xfrm>
            <a:off x="2651760" y="3666744"/>
            <a:ext cx="385391" cy="115824"/>
          </a:xfrm>
          <a:prstGeom prst="rect">
            <a:avLst/>
          </a:prstGeom>
          <a:solidFill>
            <a:srgbClr val="2587C5"/>
          </a:solidFill>
          <a:ln/>
        </p:spPr>
      </p:sp>
      <p:sp>
        <p:nvSpPr>
          <p:cNvPr id="53" name="Text 51"/>
          <p:cNvSpPr txBox="1"/>
          <p:nvPr/>
        </p:nvSpPr>
        <p:spPr>
          <a:xfrm>
            <a:off x="3474720" y="3608832"/>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54" name="Text 52"/>
          <p:cNvSpPr txBox="1"/>
          <p:nvPr/>
        </p:nvSpPr>
        <p:spPr>
          <a:xfrm>
            <a:off x="4224528" y="3608832"/>
            <a:ext cx="987552" cy="231648"/>
          </a:xfrm>
          <a:prstGeom prst="rect">
            <a:avLst/>
          </a:prstGeom>
          <a:noFill/>
          <a:ln/>
        </p:spPr>
        <p:txBody>
          <a:bodyPr wrap="square" lIns="0" tIns="0" rIns="0" bIns="0" rtlCol="0" anchor="ctr"/>
          <a:lstStyle/>
          <a:p>
            <a:pPr algn="r" indent="0" marL="0">
              <a:buNone/>
            </a:pPr>
            <a:endParaRPr lang="en-US" sz="1300" dirty="0"/>
          </a:p>
        </p:txBody>
      </p:sp>
      <p:sp>
        <p:nvSpPr>
          <p:cNvPr id="55" name="Text 53"/>
          <p:cNvSpPr txBox="1"/>
          <p:nvPr/>
        </p:nvSpPr>
        <p:spPr>
          <a:xfrm>
            <a:off x="5212080" y="3608832"/>
            <a:ext cx="658368" cy="231648"/>
          </a:xfrm>
          <a:prstGeom prst="rect">
            <a:avLst/>
          </a:prstGeom>
          <a:noFill/>
          <a:ln/>
        </p:spPr>
        <p:txBody>
          <a:bodyPr wrap="square" lIns="0" tIns="0" rIns="0" bIns="0" rtlCol="0" anchor="ctr"/>
          <a:lstStyle/>
          <a:p>
            <a:pPr algn="r" indent="0" marL="0">
              <a:buNone/>
            </a:pPr>
            <a:endParaRPr lang="en-US" sz="1300" dirty="0"/>
          </a:p>
        </p:txBody>
      </p:sp>
      <p:sp>
        <p:nvSpPr>
          <p:cNvPr id="56" name="Text 54"/>
          <p:cNvSpPr txBox="1"/>
          <p:nvPr/>
        </p:nvSpPr>
        <p:spPr>
          <a:xfrm>
            <a:off x="658368" y="384048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7" name="Shape 55"/>
          <p:cNvSpPr/>
          <p:nvPr/>
        </p:nvSpPr>
        <p:spPr>
          <a:xfrm>
            <a:off x="2651760" y="3898392"/>
            <a:ext cx="369959" cy="115824"/>
          </a:xfrm>
          <a:prstGeom prst="rect">
            <a:avLst/>
          </a:prstGeom>
          <a:solidFill>
            <a:srgbClr val="2587C5"/>
          </a:solidFill>
          <a:ln/>
        </p:spPr>
      </p:sp>
      <p:sp>
        <p:nvSpPr>
          <p:cNvPr id="58" name="Text 56"/>
          <p:cNvSpPr txBox="1"/>
          <p:nvPr/>
        </p:nvSpPr>
        <p:spPr>
          <a:xfrm>
            <a:off x="3474720" y="384048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$219.87</a:t>
            </a:r>
            <a:endParaRPr lang="en-US" sz="1300" dirty="0"/>
          </a:p>
        </p:txBody>
      </p:sp>
      <p:sp>
        <p:nvSpPr>
          <p:cNvPr id="59" name="Text 57"/>
          <p:cNvSpPr txBox="1"/>
          <p:nvPr/>
        </p:nvSpPr>
        <p:spPr>
          <a:xfrm>
            <a:off x="4224528" y="3840480"/>
            <a:ext cx="987552" cy="231648"/>
          </a:xfrm>
          <a:prstGeom prst="rect">
            <a:avLst/>
          </a:prstGeom>
          <a:noFill/>
          <a:ln/>
        </p:spPr>
        <p:txBody>
          <a:bodyPr wrap="square" lIns="0" tIns="0" rIns="0" bIns="0" rtlCol="0" anchor="ctr"/>
          <a:lstStyle/>
          <a:p>
            <a:pPr algn="r" indent="0" marL="0">
              <a:buNone/>
            </a:pPr>
            <a:endParaRPr lang="en-US" sz="1300" dirty="0"/>
          </a:p>
        </p:txBody>
      </p:sp>
      <p:sp>
        <p:nvSpPr>
          <p:cNvPr id="60" name="Text 58"/>
          <p:cNvSpPr txBox="1"/>
          <p:nvPr/>
        </p:nvSpPr>
        <p:spPr>
          <a:xfrm>
            <a:off x="5212080" y="3840480"/>
            <a:ext cx="658368" cy="231648"/>
          </a:xfrm>
          <a:prstGeom prst="rect">
            <a:avLst/>
          </a:prstGeom>
          <a:noFill/>
          <a:ln/>
        </p:spPr>
        <p:txBody>
          <a:bodyPr wrap="square" lIns="0" tIns="0" rIns="0" bIns="0" rtlCol="0" anchor="ctr"/>
          <a:lstStyle/>
          <a:p>
            <a:pPr algn="r" indent="0" marL="0">
              <a:buNone/>
            </a:pPr>
            <a:endParaRPr lang="en-US" sz="1300" dirty="0"/>
          </a:p>
        </p:txBody>
      </p:sp>
      <p:sp>
        <p:nvSpPr>
          <p:cNvPr id="61" name="Text 59"/>
          <p:cNvSpPr txBox="1"/>
          <p:nvPr/>
        </p:nvSpPr>
        <p:spPr>
          <a:xfrm>
            <a:off x="658368" y="407212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2" name="Shape 60"/>
          <p:cNvSpPr/>
          <p:nvPr/>
        </p:nvSpPr>
        <p:spPr>
          <a:xfrm>
            <a:off x="2651760" y="4130040"/>
            <a:ext cx="345268" cy="115824"/>
          </a:xfrm>
          <a:prstGeom prst="rect">
            <a:avLst/>
          </a:prstGeom>
          <a:solidFill>
            <a:srgbClr val="2587C5"/>
          </a:solidFill>
          <a:ln/>
        </p:spPr>
      </p:sp>
      <p:sp>
        <p:nvSpPr>
          <p:cNvPr id="63" name="Text 61"/>
          <p:cNvSpPr txBox="1"/>
          <p:nvPr/>
        </p:nvSpPr>
        <p:spPr>
          <a:xfrm>
            <a:off x="3474720" y="407212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64" name="Text 62"/>
          <p:cNvSpPr txBox="1"/>
          <p:nvPr/>
        </p:nvSpPr>
        <p:spPr>
          <a:xfrm>
            <a:off x="4224528" y="4072128"/>
            <a:ext cx="987552" cy="231648"/>
          </a:xfrm>
          <a:prstGeom prst="rect">
            <a:avLst/>
          </a:prstGeom>
          <a:noFill/>
          <a:ln/>
        </p:spPr>
        <p:txBody>
          <a:bodyPr wrap="square" lIns="0" tIns="0" rIns="0" bIns="0" rtlCol="0" anchor="ctr"/>
          <a:lstStyle/>
          <a:p>
            <a:pPr algn="r" indent="0" marL="0">
              <a:buNone/>
            </a:pPr>
            <a:endParaRPr lang="en-US" sz="1300" dirty="0"/>
          </a:p>
        </p:txBody>
      </p:sp>
      <p:sp>
        <p:nvSpPr>
          <p:cNvPr id="65" name="Text 63"/>
          <p:cNvSpPr txBox="1"/>
          <p:nvPr/>
        </p:nvSpPr>
        <p:spPr>
          <a:xfrm>
            <a:off x="5212080" y="4072128"/>
            <a:ext cx="658368" cy="231648"/>
          </a:xfrm>
          <a:prstGeom prst="rect">
            <a:avLst/>
          </a:prstGeom>
          <a:noFill/>
          <a:ln/>
        </p:spPr>
        <p:txBody>
          <a:bodyPr wrap="square" lIns="0" tIns="0" rIns="0" bIns="0" rtlCol="0" anchor="ctr"/>
          <a:lstStyle/>
          <a:p>
            <a:pPr algn="r" indent="0" marL="0">
              <a:buNone/>
            </a:pPr>
            <a:endParaRPr lang="en-US" sz="1300" dirty="0"/>
          </a:p>
        </p:txBody>
      </p:sp>
      <p:sp>
        <p:nvSpPr>
          <p:cNvPr id="66" name="Text 64"/>
          <p:cNvSpPr txBox="1"/>
          <p:nvPr/>
        </p:nvSpPr>
        <p:spPr>
          <a:xfrm>
            <a:off x="658368" y="430377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7" name="Shape 65"/>
          <p:cNvSpPr/>
          <p:nvPr/>
        </p:nvSpPr>
        <p:spPr>
          <a:xfrm>
            <a:off x="2651760" y="4361688"/>
            <a:ext cx="345268" cy="115824"/>
          </a:xfrm>
          <a:prstGeom prst="rect">
            <a:avLst/>
          </a:prstGeom>
          <a:solidFill>
            <a:srgbClr val="2587C5"/>
          </a:solidFill>
          <a:ln/>
        </p:spPr>
      </p:sp>
      <p:sp>
        <p:nvSpPr>
          <p:cNvPr id="68" name="Text 66"/>
          <p:cNvSpPr txBox="1"/>
          <p:nvPr/>
        </p:nvSpPr>
        <p:spPr>
          <a:xfrm>
            <a:off x="3474720" y="430377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69" name="Text 67"/>
          <p:cNvSpPr txBox="1"/>
          <p:nvPr/>
        </p:nvSpPr>
        <p:spPr>
          <a:xfrm>
            <a:off x="4224528" y="4303776"/>
            <a:ext cx="987552" cy="231648"/>
          </a:xfrm>
          <a:prstGeom prst="rect">
            <a:avLst/>
          </a:prstGeom>
          <a:noFill/>
          <a:ln/>
        </p:spPr>
        <p:txBody>
          <a:bodyPr wrap="square" lIns="0" tIns="0" rIns="0" bIns="0" rtlCol="0" anchor="ctr"/>
          <a:lstStyle/>
          <a:p>
            <a:pPr algn="r" indent="0" marL="0">
              <a:buNone/>
            </a:pPr>
            <a:endParaRPr lang="en-US" sz="1300" dirty="0"/>
          </a:p>
        </p:txBody>
      </p:sp>
      <p:sp>
        <p:nvSpPr>
          <p:cNvPr id="70" name="Text 68"/>
          <p:cNvSpPr txBox="1"/>
          <p:nvPr/>
        </p:nvSpPr>
        <p:spPr>
          <a:xfrm>
            <a:off x="5212080" y="4303776"/>
            <a:ext cx="658368" cy="231648"/>
          </a:xfrm>
          <a:prstGeom prst="rect">
            <a:avLst/>
          </a:prstGeom>
          <a:noFill/>
          <a:ln/>
        </p:spPr>
        <p:txBody>
          <a:bodyPr wrap="square" lIns="0" tIns="0" rIns="0" bIns="0" rtlCol="0" anchor="ctr"/>
          <a:lstStyle/>
          <a:p>
            <a:pPr algn="r" indent="0" marL="0">
              <a:buNone/>
            </a:pPr>
            <a:endParaRPr lang="en-US" sz="1300" dirty="0"/>
          </a:p>
        </p:txBody>
      </p:sp>
      <p:sp>
        <p:nvSpPr>
          <p:cNvPr id="71" name="Text 69"/>
          <p:cNvSpPr txBox="1"/>
          <p:nvPr/>
        </p:nvSpPr>
        <p:spPr>
          <a:xfrm>
            <a:off x="658368" y="453542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2" name="Shape 70"/>
          <p:cNvSpPr/>
          <p:nvPr/>
        </p:nvSpPr>
        <p:spPr>
          <a:xfrm>
            <a:off x="2651760" y="4593336"/>
            <a:ext cx="343386" cy="115824"/>
          </a:xfrm>
          <a:prstGeom prst="rect">
            <a:avLst/>
          </a:prstGeom>
          <a:solidFill>
            <a:srgbClr val="2587C5"/>
          </a:solidFill>
          <a:ln/>
        </p:spPr>
      </p:sp>
      <p:sp>
        <p:nvSpPr>
          <p:cNvPr id="73" name="Text 71"/>
          <p:cNvSpPr txBox="1"/>
          <p:nvPr/>
        </p:nvSpPr>
        <p:spPr>
          <a:xfrm>
            <a:off x="3474720" y="453542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$211.26</a:t>
            </a:r>
            <a:endParaRPr lang="en-US" sz="1300" dirty="0"/>
          </a:p>
        </p:txBody>
      </p:sp>
      <p:sp>
        <p:nvSpPr>
          <p:cNvPr id="74" name="Text 72"/>
          <p:cNvSpPr txBox="1"/>
          <p:nvPr/>
        </p:nvSpPr>
        <p:spPr>
          <a:xfrm>
            <a:off x="4224528" y="4535424"/>
            <a:ext cx="987552" cy="231648"/>
          </a:xfrm>
          <a:prstGeom prst="rect">
            <a:avLst/>
          </a:prstGeom>
          <a:noFill/>
          <a:ln/>
        </p:spPr>
        <p:txBody>
          <a:bodyPr wrap="square" lIns="0" tIns="0" rIns="0" bIns="0" rtlCol="0" anchor="ctr"/>
          <a:lstStyle/>
          <a:p>
            <a:pPr algn="r" indent="0" marL="0">
              <a:buNone/>
            </a:pPr>
            <a:endParaRPr lang="en-US" sz="1300" dirty="0"/>
          </a:p>
        </p:txBody>
      </p:sp>
      <p:sp>
        <p:nvSpPr>
          <p:cNvPr id="75" name="Text 73"/>
          <p:cNvSpPr txBox="1"/>
          <p:nvPr/>
        </p:nvSpPr>
        <p:spPr>
          <a:xfrm>
            <a:off x="5212080" y="4535424"/>
            <a:ext cx="658368" cy="231648"/>
          </a:xfrm>
          <a:prstGeom prst="rect">
            <a:avLst/>
          </a:prstGeom>
          <a:noFill/>
          <a:ln/>
        </p:spPr>
        <p:txBody>
          <a:bodyPr wrap="square" lIns="0" tIns="0" rIns="0" bIns="0" rtlCol="0" anchor="ctr"/>
          <a:lstStyle/>
          <a:p>
            <a:pPr algn="r" indent="0" marL="0">
              <a:buNone/>
            </a:pPr>
            <a:endParaRPr lang="en-US" sz="1300" dirty="0"/>
          </a:p>
        </p:txBody>
      </p:sp>
      <p:sp>
        <p:nvSpPr>
          <p:cNvPr id="76" name="Text 74"/>
          <p:cNvSpPr txBox="1"/>
          <p:nvPr/>
        </p:nvSpPr>
        <p:spPr>
          <a:xfrm>
            <a:off x="658368" y="476707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7" name="Shape 75"/>
          <p:cNvSpPr/>
          <p:nvPr/>
        </p:nvSpPr>
        <p:spPr>
          <a:xfrm>
            <a:off x="2651760" y="4824984"/>
            <a:ext cx="339096" cy="115824"/>
          </a:xfrm>
          <a:prstGeom prst="rect">
            <a:avLst/>
          </a:prstGeom>
          <a:solidFill>
            <a:srgbClr val="2587C5"/>
          </a:solidFill>
          <a:ln/>
        </p:spPr>
      </p:sp>
      <p:sp>
        <p:nvSpPr>
          <p:cNvPr id="78" name="Text 76"/>
          <p:cNvSpPr txBox="1"/>
          <p:nvPr/>
        </p:nvSpPr>
        <p:spPr>
          <a:xfrm>
            <a:off x="3474720" y="4767072"/>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$209.87</a:t>
            </a:r>
            <a:endParaRPr lang="en-US" sz="1300" dirty="0"/>
          </a:p>
        </p:txBody>
      </p:sp>
      <p:sp>
        <p:nvSpPr>
          <p:cNvPr id="79" name="Text 77"/>
          <p:cNvSpPr txBox="1"/>
          <p:nvPr/>
        </p:nvSpPr>
        <p:spPr>
          <a:xfrm>
            <a:off x="4224528" y="4767072"/>
            <a:ext cx="987552" cy="231648"/>
          </a:xfrm>
          <a:prstGeom prst="rect">
            <a:avLst/>
          </a:prstGeom>
          <a:noFill/>
          <a:ln/>
        </p:spPr>
        <p:txBody>
          <a:bodyPr wrap="square" lIns="0" tIns="0" rIns="0" bIns="0" rtlCol="0" anchor="ctr"/>
          <a:lstStyle/>
          <a:p>
            <a:pPr algn="r" indent="0" marL="0">
              <a:buNone/>
            </a:pPr>
            <a:endParaRPr lang="en-US" sz="1300" dirty="0"/>
          </a:p>
        </p:txBody>
      </p:sp>
      <p:sp>
        <p:nvSpPr>
          <p:cNvPr id="80" name="Text 78"/>
          <p:cNvSpPr txBox="1"/>
          <p:nvPr/>
        </p:nvSpPr>
        <p:spPr>
          <a:xfrm>
            <a:off x="5212080" y="4767072"/>
            <a:ext cx="658368" cy="231648"/>
          </a:xfrm>
          <a:prstGeom prst="rect">
            <a:avLst/>
          </a:prstGeom>
          <a:noFill/>
          <a:ln/>
        </p:spPr>
        <p:txBody>
          <a:bodyPr wrap="square" lIns="0" tIns="0" rIns="0" bIns="0" rtlCol="0" anchor="ctr"/>
          <a:lstStyle/>
          <a:p>
            <a:pPr algn="r" indent="0" marL="0">
              <a:buNone/>
            </a:pPr>
            <a:endParaRPr lang="en-US" sz="1300" dirty="0"/>
          </a:p>
        </p:txBody>
      </p:sp>
      <p:sp>
        <p:nvSpPr>
          <p:cNvPr id="81" name="Text 79"/>
          <p:cNvSpPr txBox="1"/>
          <p:nvPr/>
        </p:nvSpPr>
        <p:spPr>
          <a:xfrm>
            <a:off x="658368" y="499872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2" name="Shape 80"/>
          <p:cNvSpPr/>
          <p:nvPr/>
        </p:nvSpPr>
        <p:spPr>
          <a:xfrm>
            <a:off x="2651760" y="5056632"/>
            <a:ext cx="323664" cy="115824"/>
          </a:xfrm>
          <a:prstGeom prst="rect">
            <a:avLst/>
          </a:prstGeom>
          <a:solidFill>
            <a:srgbClr val="2587C5"/>
          </a:solidFill>
          <a:ln/>
        </p:spPr>
      </p:sp>
      <p:sp>
        <p:nvSpPr>
          <p:cNvPr id="83" name="Text 81"/>
          <p:cNvSpPr txBox="1"/>
          <p:nvPr/>
        </p:nvSpPr>
        <p:spPr>
          <a:xfrm>
            <a:off x="3474720" y="499872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$204.87</a:t>
            </a:r>
            <a:endParaRPr lang="en-US" sz="1300" dirty="0"/>
          </a:p>
        </p:txBody>
      </p:sp>
      <p:sp>
        <p:nvSpPr>
          <p:cNvPr id="84" name="Text 82"/>
          <p:cNvSpPr txBox="1"/>
          <p:nvPr/>
        </p:nvSpPr>
        <p:spPr>
          <a:xfrm>
            <a:off x="4224528" y="4998720"/>
            <a:ext cx="987552"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85" name="Text 83"/>
          <p:cNvSpPr txBox="1"/>
          <p:nvPr/>
        </p:nvSpPr>
        <p:spPr>
          <a:xfrm>
            <a:off x="5212080" y="4998720"/>
            <a:ext cx="658368"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86" name="Text 84"/>
          <p:cNvSpPr txBox="1"/>
          <p:nvPr/>
        </p:nvSpPr>
        <p:spPr>
          <a:xfrm>
            <a:off x="658368" y="523036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7" name="Shape 85"/>
          <p:cNvSpPr/>
          <p:nvPr/>
        </p:nvSpPr>
        <p:spPr>
          <a:xfrm>
            <a:off x="2651760" y="5288280"/>
            <a:ext cx="261937" cy="115824"/>
          </a:xfrm>
          <a:prstGeom prst="rect">
            <a:avLst/>
          </a:prstGeom>
          <a:solidFill>
            <a:srgbClr val="2587C5"/>
          </a:solidFill>
          <a:ln/>
        </p:spPr>
      </p:sp>
      <p:sp>
        <p:nvSpPr>
          <p:cNvPr id="88" name="Text 86"/>
          <p:cNvSpPr txBox="1"/>
          <p:nvPr/>
        </p:nvSpPr>
        <p:spPr>
          <a:xfrm>
            <a:off x="3474720" y="523036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89" name="Text 87"/>
          <p:cNvSpPr txBox="1"/>
          <p:nvPr/>
        </p:nvSpPr>
        <p:spPr>
          <a:xfrm>
            <a:off x="4224528" y="5230368"/>
            <a:ext cx="987552" cy="231648"/>
          </a:xfrm>
          <a:prstGeom prst="rect">
            <a:avLst/>
          </a:prstGeom>
          <a:noFill/>
          <a:ln/>
        </p:spPr>
        <p:txBody>
          <a:bodyPr wrap="square" lIns="0" tIns="0" rIns="0" bIns="0" rtlCol="0" anchor="ctr"/>
          <a:lstStyle/>
          <a:p>
            <a:pPr algn="r" indent="0" marL="0">
              <a:buNone/>
            </a:pPr>
            <a:endParaRPr lang="en-US" sz="1300" dirty="0"/>
          </a:p>
        </p:txBody>
      </p:sp>
      <p:sp>
        <p:nvSpPr>
          <p:cNvPr id="90" name="Text 88"/>
          <p:cNvSpPr txBox="1"/>
          <p:nvPr/>
        </p:nvSpPr>
        <p:spPr>
          <a:xfrm>
            <a:off x="5212080" y="5230368"/>
            <a:ext cx="658368" cy="231648"/>
          </a:xfrm>
          <a:prstGeom prst="rect">
            <a:avLst/>
          </a:prstGeom>
          <a:noFill/>
          <a:ln/>
        </p:spPr>
        <p:txBody>
          <a:bodyPr wrap="square" lIns="0" tIns="0" rIns="0" bIns="0" rtlCol="0" anchor="ctr"/>
          <a:lstStyle/>
          <a:p>
            <a:pPr algn="r" indent="0" marL="0">
              <a:buNone/>
            </a:pPr>
            <a:endParaRPr lang="en-US" sz="1300" dirty="0"/>
          </a:p>
        </p:txBody>
      </p:sp>
      <p:sp>
        <p:nvSpPr>
          <p:cNvPr id="91" name="Text 89"/>
          <p:cNvSpPr txBox="1"/>
          <p:nvPr/>
        </p:nvSpPr>
        <p:spPr>
          <a:xfrm>
            <a:off x="658368" y="546201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2" name="Shape 90"/>
          <p:cNvSpPr/>
          <p:nvPr/>
        </p:nvSpPr>
        <p:spPr>
          <a:xfrm>
            <a:off x="2651760" y="5519928"/>
            <a:ext cx="261937" cy="115824"/>
          </a:xfrm>
          <a:prstGeom prst="rect">
            <a:avLst/>
          </a:prstGeom>
          <a:solidFill>
            <a:srgbClr val="2587C5"/>
          </a:solidFill>
          <a:ln/>
        </p:spPr>
      </p:sp>
      <p:sp>
        <p:nvSpPr>
          <p:cNvPr id="93" name="Text 91"/>
          <p:cNvSpPr txBox="1"/>
          <p:nvPr/>
        </p:nvSpPr>
        <p:spPr>
          <a:xfrm>
            <a:off x="3474720" y="546201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94" name="Text 92"/>
          <p:cNvSpPr txBox="1"/>
          <p:nvPr/>
        </p:nvSpPr>
        <p:spPr>
          <a:xfrm>
            <a:off x="4224528" y="5462016"/>
            <a:ext cx="987552" cy="231648"/>
          </a:xfrm>
          <a:prstGeom prst="rect">
            <a:avLst/>
          </a:prstGeom>
          <a:noFill/>
          <a:ln/>
        </p:spPr>
        <p:txBody>
          <a:bodyPr wrap="square" lIns="0" tIns="0" rIns="0" bIns="0" rtlCol="0" anchor="ctr"/>
          <a:lstStyle/>
          <a:p>
            <a:pPr algn="r" indent="0" marL="0">
              <a:buNone/>
            </a:pPr>
            <a:endParaRPr lang="en-US" sz="1300" dirty="0"/>
          </a:p>
        </p:txBody>
      </p:sp>
      <p:sp>
        <p:nvSpPr>
          <p:cNvPr id="95" name="Text 93"/>
          <p:cNvSpPr txBox="1"/>
          <p:nvPr/>
        </p:nvSpPr>
        <p:spPr>
          <a:xfrm>
            <a:off x="5212080" y="5462016"/>
            <a:ext cx="658368" cy="231648"/>
          </a:xfrm>
          <a:prstGeom prst="rect">
            <a:avLst/>
          </a:prstGeom>
          <a:noFill/>
          <a:ln/>
        </p:spPr>
        <p:txBody>
          <a:bodyPr wrap="square" lIns="0" tIns="0" rIns="0" bIns="0" rtlCol="0" anchor="ctr"/>
          <a:lstStyle/>
          <a:p>
            <a:pPr algn="r" indent="0" marL="0">
              <a:buNone/>
            </a:pPr>
            <a:endParaRPr lang="en-US" sz="1300" dirty="0"/>
          </a:p>
        </p:txBody>
      </p:sp>
      <p:sp>
        <p:nvSpPr>
          <p:cNvPr id="96" name="Text 94"/>
          <p:cNvSpPr txBox="1"/>
          <p:nvPr/>
        </p:nvSpPr>
        <p:spPr>
          <a:xfrm>
            <a:off x="658368" y="569366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7" name="Shape 95"/>
          <p:cNvSpPr/>
          <p:nvPr/>
        </p:nvSpPr>
        <p:spPr>
          <a:xfrm>
            <a:off x="2651760" y="5751576"/>
            <a:ext cx="246506" cy="115824"/>
          </a:xfrm>
          <a:prstGeom prst="rect">
            <a:avLst/>
          </a:prstGeom>
          <a:solidFill>
            <a:srgbClr val="2587C5"/>
          </a:solidFill>
          <a:ln/>
        </p:spPr>
      </p:sp>
      <p:sp>
        <p:nvSpPr>
          <p:cNvPr id="98" name="Text 96"/>
          <p:cNvSpPr txBox="1"/>
          <p:nvPr/>
        </p:nvSpPr>
        <p:spPr>
          <a:xfrm>
            <a:off x="3474720" y="569366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$179.87</a:t>
            </a:r>
            <a:endParaRPr lang="en-US" sz="1300" dirty="0"/>
          </a:p>
        </p:txBody>
      </p:sp>
      <p:sp>
        <p:nvSpPr>
          <p:cNvPr id="99" name="Text 97"/>
          <p:cNvSpPr txBox="1"/>
          <p:nvPr/>
        </p:nvSpPr>
        <p:spPr>
          <a:xfrm>
            <a:off x="4224528" y="5693664"/>
            <a:ext cx="987552"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$199.87</a:t>
            </a:r>
            <a:endParaRPr lang="en-US" sz="1300" dirty="0"/>
          </a:p>
        </p:txBody>
      </p:sp>
      <p:sp>
        <p:nvSpPr>
          <p:cNvPr id="100" name="Text 98"/>
          <p:cNvSpPr txBox="1"/>
          <p:nvPr/>
        </p:nvSpPr>
        <p:spPr>
          <a:xfrm>
            <a:off x="5212080" y="5693664"/>
            <a:ext cx="658368"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Non-std</a:t>
            </a:r>
            <a:endParaRPr lang="en-US" sz="1300" dirty="0"/>
          </a:p>
        </p:txBody>
      </p:sp>
      <p:sp>
        <p:nvSpPr>
          <p:cNvPr id="101" name="Text 99"/>
          <p:cNvSpPr txBox="1"/>
          <p:nvPr/>
        </p:nvSpPr>
        <p:spPr>
          <a:xfrm>
            <a:off x="6208776" y="1316736"/>
            <a:ext cx="268833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102" name="Text 100"/>
          <p:cNvSpPr txBox="1"/>
          <p:nvPr/>
        </p:nvSpPr>
        <p:spPr>
          <a:xfrm>
            <a:off x="9025128"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03" name="Text 101"/>
          <p:cNvSpPr txBox="1"/>
          <p:nvPr/>
        </p:nvSpPr>
        <p:spPr>
          <a:xfrm>
            <a:off x="9774936" y="1316736"/>
            <a:ext cx="98755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PREMIUM</a:t>
            </a:r>
            <a:endParaRPr lang="en-US" sz="1400" dirty="0"/>
          </a:p>
        </p:txBody>
      </p:sp>
      <p:sp>
        <p:nvSpPr>
          <p:cNvPr id="104" name="Text 102"/>
          <p:cNvSpPr txBox="1"/>
          <p:nvPr/>
        </p:nvSpPr>
        <p:spPr>
          <a:xfrm>
            <a:off x="10762488" y="1316736"/>
            <a:ext cx="65836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FOR</a:t>
            </a:r>
            <a:endParaRPr lang="en-US" sz="1400" dirty="0"/>
          </a:p>
        </p:txBody>
      </p:sp>
      <p:sp>
        <p:nvSpPr>
          <p:cNvPr id="105" name="Text 103"/>
          <p:cNvSpPr txBox="1"/>
          <p:nvPr/>
        </p:nvSpPr>
        <p:spPr>
          <a:xfrm>
            <a:off x="6208776" y="175564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6" name="Shape 104"/>
          <p:cNvSpPr/>
          <p:nvPr/>
        </p:nvSpPr>
        <p:spPr>
          <a:xfrm>
            <a:off x="8202168" y="1813560"/>
            <a:ext cx="540108" cy="115824"/>
          </a:xfrm>
          <a:prstGeom prst="rect">
            <a:avLst/>
          </a:prstGeom>
          <a:solidFill>
            <a:srgbClr val="2587C5"/>
          </a:solidFill>
          <a:ln/>
        </p:spPr>
      </p:sp>
      <p:sp>
        <p:nvSpPr>
          <p:cNvPr id="107" name="Text 105"/>
          <p:cNvSpPr txBox="1"/>
          <p:nvPr/>
        </p:nvSpPr>
        <p:spPr>
          <a:xfrm>
            <a:off x="9025128" y="175564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$275.00</a:t>
            </a:r>
            <a:endParaRPr lang="en-US" sz="1300" dirty="0"/>
          </a:p>
        </p:txBody>
      </p:sp>
      <p:sp>
        <p:nvSpPr>
          <p:cNvPr id="108" name="Text 106"/>
          <p:cNvSpPr txBox="1"/>
          <p:nvPr/>
        </p:nvSpPr>
        <p:spPr>
          <a:xfrm>
            <a:off x="9774936" y="1755648"/>
            <a:ext cx="987552" cy="231648"/>
          </a:xfrm>
          <a:prstGeom prst="rect">
            <a:avLst/>
          </a:prstGeom>
          <a:noFill/>
          <a:ln/>
        </p:spPr>
        <p:txBody>
          <a:bodyPr wrap="square" lIns="0" tIns="0" rIns="0" bIns="0" rtlCol="0" anchor="ctr"/>
          <a:lstStyle/>
          <a:p>
            <a:pPr algn="r" indent="0" marL="0">
              <a:buNone/>
            </a:pPr>
            <a:endParaRPr lang="en-US" sz="1300" dirty="0"/>
          </a:p>
        </p:txBody>
      </p:sp>
      <p:sp>
        <p:nvSpPr>
          <p:cNvPr id="109" name="Text 107"/>
          <p:cNvSpPr txBox="1"/>
          <p:nvPr/>
        </p:nvSpPr>
        <p:spPr>
          <a:xfrm>
            <a:off x="10762488" y="1755648"/>
            <a:ext cx="658368" cy="231648"/>
          </a:xfrm>
          <a:prstGeom prst="rect">
            <a:avLst/>
          </a:prstGeom>
          <a:noFill/>
          <a:ln/>
        </p:spPr>
        <p:txBody>
          <a:bodyPr wrap="square" lIns="0" tIns="0" rIns="0" bIns="0" rtlCol="0" anchor="ctr"/>
          <a:lstStyle/>
          <a:p>
            <a:pPr algn="r" indent="0" marL="0">
              <a:buNone/>
            </a:pPr>
            <a:endParaRPr lang="en-US" sz="1300" dirty="0"/>
          </a:p>
        </p:txBody>
      </p:sp>
      <p:sp>
        <p:nvSpPr>
          <p:cNvPr id="110" name="Text 108"/>
          <p:cNvSpPr txBox="1"/>
          <p:nvPr/>
        </p:nvSpPr>
        <p:spPr>
          <a:xfrm>
            <a:off x="6208776" y="198729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11" name="Shape 109"/>
          <p:cNvSpPr/>
          <p:nvPr/>
        </p:nvSpPr>
        <p:spPr>
          <a:xfrm>
            <a:off x="8202168" y="2045208"/>
            <a:ext cx="462796" cy="115824"/>
          </a:xfrm>
          <a:prstGeom prst="rect">
            <a:avLst/>
          </a:prstGeom>
          <a:solidFill>
            <a:srgbClr val="2587C5"/>
          </a:solidFill>
          <a:ln/>
        </p:spPr>
      </p:sp>
      <p:sp>
        <p:nvSpPr>
          <p:cNvPr id="112" name="Text 110"/>
          <p:cNvSpPr txBox="1"/>
          <p:nvPr/>
        </p:nvSpPr>
        <p:spPr>
          <a:xfrm>
            <a:off x="9025128" y="198729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$249.95</a:t>
            </a:r>
            <a:endParaRPr lang="en-US" sz="1300" dirty="0"/>
          </a:p>
        </p:txBody>
      </p:sp>
      <p:sp>
        <p:nvSpPr>
          <p:cNvPr id="113" name="Text 111"/>
          <p:cNvSpPr txBox="1"/>
          <p:nvPr/>
        </p:nvSpPr>
        <p:spPr>
          <a:xfrm>
            <a:off x="9774936" y="1987296"/>
            <a:ext cx="987552" cy="231648"/>
          </a:xfrm>
          <a:prstGeom prst="rect">
            <a:avLst/>
          </a:prstGeom>
          <a:noFill/>
          <a:ln/>
        </p:spPr>
        <p:txBody>
          <a:bodyPr wrap="square" lIns="0" tIns="0" rIns="0" bIns="0" rtlCol="0" anchor="ctr"/>
          <a:lstStyle/>
          <a:p>
            <a:pPr algn="r" indent="0" marL="0">
              <a:buNone/>
            </a:pPr>
            <a:endParaRPr lang="en-US" sz="1300" dirty="0"/>
          </a:p>
        </p:txBody>
      </p:sp>
      <p:sp>
        <p:nvSpPr>
          <p:cNvPr id="114" name="Text 112"/>
          <p:cNvSpPr txBox="1"/>
          <p:nvPr/>
        </p:nvSpPr>
        <p:spPr>
          <a:xfrm>
            <a:off x="10762488" y="1987296"/>
            <a:ext cx="658368" cy="231648"/>
          </a:xfrm>
          <a:prstGeom prst="rect">
            <a:avLst/>
          </a:prstGeom>
          <a:noFill/>
          <a:ln/>
        </p:spPr>
        <p:txBody>
          <a:bodyPr wrap="square" lIns="0" tIns="0" rIns="0" bIns="0" rtlCol="0" anchor="ctr"/>
          <a:lstStyle/>
          <a:p>
            <a:pPr algn="r" indent="0" marL="0">
              <a:buNone/>
            </a:pPr>
            <a:endParaRPr lang="en-US" sz="1300" dirty="0"/>
          </a:p>
        </p:txBody>
      </p:sp>
      <p:sp>
        <p:nvSpPr>
          <p:cNvPr id="115" name="Text 113"/>
          <p:cNvSpPr txBox="1"/>
          <p:nvPr/>
        </p:nvSpPr>
        <p:spPr>
          <a:xfrm>
            <a:off x="6208776" y="221894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16" name="Shape 114"/>
          <p:cNvSpPr/>
          <p:nvPr/>
        </p:nvSpPr>
        <p:spPr>
          <a:xfrm>
            <a:off x="8202168" y="2276856"/>
            <a:ext cx="447117" cy="115824"/>
          </a:xfrm>
          <a:prstGeom prst="rect">
            <a:avLst/>
          </a:prstGeom>
          <a:solidFill>
            <a:srgbClr val="2587C5"/>
          </a:solidFill>
          <a:ln/>
        </p:spPr>
      </p:sp>
      <p:sp>
        <p:nvSpPr>
          <p:cNvPr id="117" name="Text 115"/>
          <p:cNvSpPr txBox="1"/>
          <p:nvPr/>
        </p:nvSpPr>
        <p:spPr>
          <a:xfrm>
            <a:off x="9025128" y="221894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$244.87</a:t>
            </a:r>
            <a:endParaRPr lang="en-US" sz="1300" dirty="0"/>
          </a:p>
        </p:txBody>
      </p:sp>
      <p:sp>
        <p:nvSpPr>
          <p:cNvPr id="118" name="Text 116"/>
          <p:cNvSpPr txBox="1"/>
          <p:nvPr/>
        </p:nvSpPr>
        <p:spPr>
          <a:xfrm>
            <a:off x="9774936" y="2218944"/>
            <a:ext cx="987552" cy="231648"/>
          </a:xfrm>
          <a:prstGeom prst="rect">
            <a:avLst/>
          </a:prstGeom>
          <a:noFill/>
          <a:ln/>
        </p:spPr>
        <p:txBody>
          <a:bodyPr wrap="square" lIns="0" tIns="0" rIns="0" bIns="0" rtlCol="0" anchor="ctr"/>
          <a:lstStyle/>
          <a:p>
            <a:pPr algn="r" indent="0" marL="0">
              <a:buNone/>
            </a:pPr>
            <a:endParaRPr lang="en-US" sz="1300" dirty="0"/>
          </a:p>
        </p:txBody>
      </p:sp>
      <p:sp>
        <p:nvSpPr>
          <p:cNvPr id="119" name="Text 117"/>
          <p:cNvSpPr txBox="1"/>
          <p:nvPr/>
        </p:nvSpPr>
        <p:spPr>
          <a:xfrm>
            <a:off x="10762488" y="2218944"/>
            <a:ext cx="658368" cy="231648"/>
          </a:xfrm>
          <a:prstGeom prst="rect">
            <a:avLst/>
          </a:prstGeom>
          <a:noFill/>
          <a:ln/>
        </p:spPr>
        <p:txBody>
          <a:bodyPr wrap="square" lIns="0" tIns="0" rIns="0" bIns="0" rtlCol="0" anchor="ctr"/>
          <a:lstStyle/>
          <a:p>
            <a:pPr algn="r" indent="0" marL="0">
              <a:buNone/>
            </a:pPr>
            <a:endParaRPr lang="en-US" sz="1300" dirty="0"/>
          </a:p>
        </p:txBody>
      </p:sp>
      <p:sp>
        <p:nvSpPr>
          <p:cNvPr id="120" name="Text 118"/>
          <p:cNvSpPr txBox="1"/>
          <p:nvPr/>
        </p:nvSpPr>
        <p:spPr>
          <a:xfrm>
            <a:off x="6208776" y="245059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21" name="Shape 119"/>
          <p:cNvSpPr/>
          <p:nvPr/>
        </p:nvSpPr>
        <p:spPr>
          <a:xfrm>
            <a:off x="8202168" y="2508504"/>
            <a:ext cx="401069" cy="115824"/>
          </a:xfrm>
          <a:prstGeom prst="rect">
            <a:avLst/>
          </a:prstGeom>
          <a:solidFill>
            <a:srgbClr val="2587C5"/>
          </a:solidFill>
          <a:ln/>
        </p:spPr>
      </p:sp>
      <p:sp>
        <p:nvSpPr>
          <p:cNvPr id="122" name="Text 120"/>
          <p:cNvSpPr txBox="1"/>
          <p:nvPr/>
        </p:nvSpPr>
        <p:spPr>
          <a:xfrm>
            <a:off x="9025128" y="2450592"/>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$229.95</a:t>
            </a:r>
            <a:endParaRPr lang="en-US" sz="1300" dirty="0"/>
          </a:p>
        </p:txBody>
      </p:sp>
      <p:sp>
        <p:nvSpPr>
          <p:cNvPr id="123" name="Text 121"/>
          <p:cNvSpPr txBox="1"/>
          <p:nvPr/>
        </p:nvSpPr>
        <p:spPr>
          <a:xfrm>
            <a:off x="9774936" y="2450592"/>
            <a:ext cx="987552" cy="231648"/>
          </a:xfrm>
          <a:prstGeom prst="rect">
            <a:avLst/>
          </a:prstGeom>
          <a:noFill/>
          <a:ln/>
        </p:spPr>
        <p:txBody>
          <a:bodyPr wrap="square" lIns="0" tIns="0" rIns="0" bIns="0" rtlCol="0" anchor="ctr"/>
          <a:lstStyle/>
          <a:p>
            <a:pPr algn="r" indent="0" marL="0">
              <a:buNone/>
            </a:pPr>
            <a:endParaRPr lang="en-US" sz="1300" dirty="0"/>
          </a:p>
        </p:txBody>
      </p:sp>
      <p:sp>
        <p:nvSpPr>
          <p:cNvPr id="124" name="Text 122"/>
          <p:cNvSpPr txBox="1"/>
          <p:nvPr/>
        </p:nvSpPr>
        <p:spPr>
          <a:xfrm>
            <a:off x="10762488" y="2450592"/>
            <a:ext cx="658368" cy="231648"/>
          </a:xfrm>
          <a:prstGeom prst="rect">
            <a:avLst/>
          </a:prstGeom>
          <a:noFill/>
          <a:ln/>
        </p:spPr>
        <p:txBody>
          <a:bodyPr wrap="square" lIns="0" tIns="0" rIns="0" bIns="0" rtlCol="0" anchor="ctr"/>
          <a:lstStyle/>
          <a:p>
            <a:pPr algn="r" indent="0" marL="0">
              <a:buNone/>
            </a:pPr>
            <a:endParaRPr lang="en-US" sz="1300" dirty="0"/>
          </a:p>
        </p:txBody>
      </p:sp>
      <p:sp>
        <p:nvSpPr>
          <p:cNvPr id="125" name="Text 123"/>
          <p:cNvSpPr txBox="1"/>
          <p:nvPr/>
        </p:nvSpPr>
        <p:spPr>
          <a:xfrm>
            <a:off x="6208776" y="268224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26" name="Shape 124"/>
          <p:cNvSpPr/>
          <p:nvPr/>
        </p:nvSpPr>
        <p:spPr>
          <a:xfrm>
            <a:off x="8202168" y="2740152"/>
            <a:ext cx="370360" cy="115824"/>
          </a:xfrm>
          <a:prstGeom prst="rect">
            <a:avLst/>
          </a:prstGeom>
          <a:solidFill>
            <a:srgbClr val="2587C5"/>
          </a:solidFill>
          <a:ln/>
        </p:spPr>
      </p:sp>
      <p:sp>
        <p:nvSpPr>
          <p:cNvPr id="127" name="Text 125"/>
          <p:cNvSpPr txBox="1"/>
          <p:nvPr/>
        </p:nvSpPr>
        <p:spPr>
          <a:xfrm>
            <a:off x="9025128" y="268224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$220.00</a:t>
            </a:r>
            <a:endParaRPr lang="en-US" sz="1300" dirty="0"/>
          </a:p>
        </p:txBody>
      </p:sp>
      <p:sp>
        <p:nvSpPr>
          <p:cNvPr id="128" name="Text 126"/>
          <p:cNvSpPr txBox="1"/>
          <p:nvPr/>
        </p:nvSpPr>
        <p:spPr>
          <a:xfrm>
            <a:off x="9774936" y="2682240"/>
            <a:ext cx="987552"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$230.00</a:t>
            </a:r>
            <a:endParaRPr lang="en-US" sz="1300" dirty="0"/>
          </a:p>
        </p:txBody>
      </p:sp>
      <p:sp>
        <p:nvSpPr>
          <p:cNvPr id="129" name="Text 127"/>
          <p:cNvSpPr txBox="1"/>
          <p:nvPr/>
        </p:nvSpPr>
        <p:spPr>
          <a:xfrm>
            <a:off x="10762488" y="2682240"/>
            <a:ext cx="658368"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30" name="Text 128"/>
          <p:cNvSpPr txBox="1"/>
          <p:nvPr/>
        </p:nvSpPr>
        <p:spPr>
          <a:xfrm>
            <a:off x="6208776" y="291388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31" name="Shape 129"/>
          <p:cNvSpPr/>
          <p:nvPr/>
        </p:nvSpPr>
        <p:spPr>
          <a:xfrm>
            <a:off x="8202168" y="2971800"/>
            <a:ext cx="356070" cy="115824"/>
          </a:xfrm>
          <a:prstGeom prst="rect">
            <a:avLst/>
          </a:prstGeom>
          <a:solidFill>
            <a:srgbClr val="2587C5"/>
          </a:solidFill>
          <a:ln/>
        </p:spPr>
      </p:sp>
      <p:sp>
        <p:nvSpPr>
          <p:cNvPr id="132" name="Text 130"/>
          <p:cNvSpPr txBox="1"/>
          <p:nvPr/>
        </p:nvSpPr>
        <p:spPr>
          <a:xfrm>
            <a:off x="9025128" y="291388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$215.37</a:t>
            </a:r>
            <a:endParaRPr lang="en-US" sz="1300" dirty="0"/>
          </a:p>
        </p:txBody>
      </p:sp>
      <p:sp>
        <p:nvSpPr>
          <p:cNvPr id="133" name="Text 131"/>
          <p:cNvSpPr txBox="1"/>
          <p:nvPr/>
        </p:nvSpPr>
        <p:spPr>
          <a:xfrm>
            <a:off x="9774936" y="2913888"/>
            <a:ext cx="987552" cy="231648"/>
          </a:xfrm>
          <a:prstGeom prst="rect">
            <a:avLst/>
          </a:prstGeom>
          <a:noFill/>
          <a:ln/>
        </p:spPr>
        <p:txBody>
          <a:bodyPr wrap="square" lIns="0" tIns="0" rIns="0" bIns="0" rtlCol="0" anchor="ctr"/>
          <a:lstStyle/>
          <a:p>
            <a:pPr algn="r" indent="0" marL="0">
              <a:buNone/>
            </a:pPr>
            <a:endParaRPr lang="en-US" sz="1300" dirty="0"/>
          </a:p>
        </p:txBody>
      </p:sp>
      <p:sp>
        <p:nvSpPr>
          <p:cNvPr id="134" name="Text 132"/>
          <p:cNvSpPr txBox="1"/>
          <p:nvPr/>
        </p:nvSpPr>
        <p:spPr>
          <a:xfrm>
            <a:off x="10762488" y="2913888"/>
            <a:ext cx="658368" cy="231648"/>
          </a:xfrm>
          <a:prstGeom prst="rect">
            <a:avLst/>
          </a:prstGeom>
          <a:noFill/>
          <a:ln/>
        </p:spPr>
        <p:txBody>
          <a:bodyPr wrap="square" lIns="0" tIns="0" rIns="0" bIns="0" rtlCol="0" anchor="ctr"/>
          <a:lstStyle/>
          <a:p>
            <a:pPr algn="r" indent="0" marL="0">
              <a:buNone/>
            </a:pPr>
            <a:endParaRPr lang="en-US" sz="1300" dirty="0"/>
          </a:p>
        </p:txBody>
      </p:sp>
      <p:sp>
        <p:nvSpPr>
          <p:cNvPr id="135" name="Text 133"/>
          <p:cNvSpPr txBox="1"/>
          <p:nvPr/>
        </p:nvSpPr>
        <p:spPr>
          <a:xfrm>
            <a:off x="6208776" y="314553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36" name="Shape 134"/>
          <p:cNvSpPr/>
          <p:nvPr/>
        </p:nvSpPr>
        <p:spPr>
          <a:xfrm>
            <a:off x="8202168" y="3203448"/>
            <a:ext cx="339497" cy="115824"/>
          </a:xfrm>
          <a:prstGeom prst="rect">
            <a:avLst/>
          </a:prstGeom>
          <a:solidFill>
            <a:srgbClr val="2587C5"/>
          </a:solidFill>
          <a:ln/>
        </p:spPr>
      </p:sp>
      <p:sp>
        <p:nvSpPr>
          <p:cNvPr id="137" name="Text 135"/>
          <p:cNvSpPr txBox="1"/>
          <p:nvPr/>
        </p:nvSpPr>
        <p:spPr>
          <a:xfrm>
            <a:off x="9025128" y="314553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138" name="Text 136"/>
          <p:cNvSpPr txBox="1"/>
          <p:nvPr/>
        </p:nvSpPr>
        <p:spPr>
          <a:xfrm>
            <a:off x="9774936" y="3145536"/>
            <a:ext cx="987552" cy="231648"/>
          </a:xfrm>
          <a:prstGeom prst="rect">
            <a:avLst/>
          </a:prstGeom>
          <a:noFill/>
          <a:ln/>
        </p:spPr>
        <p:txBody>
          <a:bodyPr wrap="square" lIns="0" tIns="0" rIns="0" bIns="0" rtlCol="0" anchor="ctr"/>
          <a:lstStyle/>
          <a:p>
            <a:pPr algn="r" indent="0" marL="0">
              <a:buNone/>
            </a:pPr>
            <a:endParaRPr lang="en-US" sz="1300" dirty="0"/>
          </a:p>
        </p:txBody>
      </p:sp>
      <p:sp>
        <p:nvSpPr>
          <p:cNvPr id="139" name="Text 137"/>
          <p:cNvSpPr txBox="1"/>
          <p:nvPr/>
        </p:nvSpPr>
        <p:spPr>
          <a:xfrm>
            <a:off x="10762488" y="3145536"/>
            <a:ext cx="658368" cy="231648"/>
          </a:xfrm>
          <a:prstGeom prst="rect">
            <a:avLst/>
          </a:prstGeom>
          <a:noFill/>
          <a:ln/>
        </p:spPr>
        <p:txBody>
          <a:bodyPr wrap="square" lIns="0" tIns="0" rIns="0" bIns="0" rtlCol="0" anchor="ctr"/>
          <a:lstStyle/>
          <a:p>
            <a:pPr algn="r" indent="0" marL="0">
              <a:buNone/>
            </a:pPr>
            <a:endParaRPr lang="en-US" sz="1300" dirty="0"/>
          </a:p>
        </p:txBody>
      </p:sp>
      <p:sp>
        <p:nvSpPr>
          <p:cNvPr id="140" name="Text 138"/>
          <p:cNvSpPr txBox="1"/>
          <p:nvPr/>
        </p:nvSpPr>
        <p:spPr>
          <a:xfrm>
            <a:off x="6208776" y="337718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41" name="Shape 139"/>
          <p:cNvSpPr/>
          <p:nvPr/>
        </p:nvSpPr>
        <p:spPr>
          <a:xfrm>
            <a:off x="8202168" y="3435096"/>
            <a:ext cx="339497" cy="115824"/>
          </a:xfrm>
          <a:prstGeom prst="rect">
            <a:avLst/>
          </a:prstGeom>
          <a:solidFill>
            <a:srgbClr val="2587C5"/>
          </a:solidFill>
          <a:ln/>
        </p:spPr>
      </p:sp>
      <p:sp>
        <p:nvSpPr>
          <p:cNvPr id="142" name="Text 140"/>
          <p:cNvSpPr txBox="1"/>
          <p:nvPr/>
        </p:nvSpPr>
        <p:spPr>
          <a:xfrm>
            <a:off x="9025128" y="337718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143" name="Text 141"/>
          <p:cNvSpPr txBox="1"/>
          <p:nvPr/>
        </p:nvSpPr>
        <p:spPr>
          <a:xfrm>
            <a:off x="9774936" y="3377184"/>
            <a:ext cx="987552" cy="231648"/>
          </a:xfrm>
          <a:prstGeom prst="rect">
            <a:avLst/>
          </a:prstGeom>
          <a:noFill/>
          <a:ln/>
        </p:spPr>
        <p:txBody>
          <a:bodyPr wrap="square" lIns="0" tIns="0" rIns="0" bIns="0" rtlCol="0" anchor="ctr"/>
          <a:lstStyle/>
          <a:p>
            <a:pPr algn="r" indent="0" marL="0">
              <a:buNone/>
            </a:pPr>
            <a:endParaRPr lang="en-US" sz="1300" dirty="0"/>
          </a:p>
        </p:txBody>
      </p:sp>
      <p:sp>
        <p:nvSpPr>
          <p:cNvPr id="144" name="Text 142"/>
          <p:cNvSpPr txBox="1"/>
          <p:nvPr/>
        </p:nvSpPr>
        <p:spPr>
          <a:xfrm>
            <a:off x="10762488" y="3377184"/>
            <a:ext cx="658368" cy="231648"/>
          </a:xfrm>
          <a:prstGeom prst="rect">
            <a:avLst/>
          </a:prstGeom>
          <a:noFill/>
          <a:ln/>
        </p:spPr>
        <p:txBody>
          <a:bodyPr wrap="square" lIns="0" tIns="0" rIns="0" bIns="0" rtlCol="0" anchor="ctr"/>
          <a:lstStyle/>
          <a:p>
            <a:pPr algn="r" indent="0" marL="0">
              <a:buNone/>
            </a:pPr>
            <a:endParaRPr lang="en-US" sz="1300" dirty="0"/>
          </a:p>
        </p:txBody>
      </p:sp>
      <p:sp>
        <p:nvSpPr>
          <p:cNvPr id="145" name="Shape 143"/>
          <p:cNvSpPr/>
          <p:nvPr/>
        </p:nvSpPr>
        <p:spPr>
          <a:xfrm>
            <a:off x="6153912" y="3608832"/>
            <a:ext cx="5285232" cy="222504"/>
          </a:xfrm>
          <a:prstGeom prst="rect">
            <a:avLst/>
          </a:prstGeom>
          <a:solidFill>
            <a:srgbClr val="EDF4FA"/>
          </a:solidFill>
          <a:ln/>
        </p:spPr>
      </p:sp>
      <p:sp>
        <p:nvSpPr>
          <p:cNvPr id="146" name="Text 144"/>
          <p:cNvSpPr txBox="1"/>
          <p:nvPr/>
        </p:nvSpPr>
        <p:spPr>
          <a:xfrm>
            <a:off x="6208776" y="3608832"/>
            <a:ext cx="1920240" cy="23164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147" name="Shape 145"/>
          <p:cNvSpPr/>
          <p:nvPr/>
        </p:nvSpPr>
        <p:spPr>
          <a:xfrm>
            <a:off x="8202168" y="3666744"/>
            <a:ext cx="317376" cy="115824"/>
          </a:xfrm>
          <a:prstGeom prst="rect">
            <a:avLst/>
          </a:prstGeom>
          <a:solidFill>
            <a:srgbClr val="0B2C4A"/>
          </a:solidFill>
          <a:ln/>
        </p:spPr>
      </p:sp>
      <p:sp>
        <p:nvSpPr>
          <p:cNvPr id="148" name="Text 146"/>
          <p:cNvSpPr txBox="1"/>
          <p:nvPr/>
        </p:nvSpPr>
        <p:spPr>
          <a:xfrm>
            <a:off x="9025128" y="3608832"/>
            <a:ext cx="749808" cy="23164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$202.83</a:t>
            </a:r>
            <a:endParaRPr lang="en-US" sz="1300" dirty="0"/>
          </a:p>
        </p:txBody>
      </p:sp>
      <p:sp>
        <p:nvSpPr>
          <p:cNvPr id="149" name="Text 147"/>
          <p:cNvSpPr txBox="1"/>
          <p:nvPr/>
        </p:nvSpPr>
        <p:spPr>
          <a:xfrm>
            <a:off x="9774936" y="3608832"/>
            <a:ext cx="987552" cy="231648"/>
          </a:xfrm>
          <a:prstGeom prst="rect">
            <a:avLst/>
          </a:prstGeom>
          <a:noFill/>
          <a:ln/>
        </p:spPr>
        <p:txBody>
          <a:bodyPr wrap="square" lIns="0" tIns="0" rIns="0" bIns="0" rtlCol="0" anchor="ctr"/>
          <a:lstStyle/>
          <a:p>
            <a:pPr algn="r" indent="0" marL="0">
              <a:buNone/>
            </a:pPr>
            <a:endParaRPr lang="en-US" sz="1300" dirty="0"/>
          </a:p>
        </p:txBody>
      </p:sp>
      <p:sp>
        <p:nvSpPr>
          <p:cNvPr id="150" name="Text 148"/>
          <p:cNvSpPr txBox="1"/>
          <p:nvPr/>
        </p:nvSpPr>
        <p:spPr>
          <a:xfrm>
            <a:off x="10762488" y="3608832"/>
            <a:ext cx="658368" cy="231648"/>
          </a:xfrm>
          <a:prstGeom prst="rect">
            <a:avLst/>
          </a:prstGeom>
          <a:noFill/>
          <a:ln/>
        </p:spPr>
        <p:txBody>
          <a:bodyPr wrap="square" lIns="0" tIns="0" rIns="0" bIns="0" rtlCol="0" anchor="ctr"/>
          <a:lstStyle/>
          <a:p>
            <a:pPr algn="r" indent="0" marL="0">
              <a:buNone/>
            </a:pPr>
            <a:endParaRPr lang="en-US" sz="1300" dirty="0"/>
          </a:p>
        </p:txBody>
      </p:sp>
      <p:sp>
        <p:nvSpPr>
          <p:cNvPr id="151" name="Text 149"/>
          <p:cNvSpPr txBox="1"/>
          <p:nvPr/>
        </p:nvSpPr>
        <p:spPr>
          <a:xfrm>
            <a:off x="6208776" y="384048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52" name="Shape 150"/>
          <p:cNvSpPr/>
          <p:nvPr/>
        </p:nvSpPr>
        <p:spPr>
          <a:xfrm>
            <a:off x="8202168" y="3898392"/>
            <a:ext cx="308479" cy="115824"/>
          </a:xfrm>
          <a:prstGeom prst="rect">
            <a:avLst/>
          </a:prstGeom>
          <a:solidFill>
            <a:srgbClr val="2587C5"/>
          </a:solidFill>
          <a:ln/>
        </p:spPr>
      </p:sp>
      <p:sp>
        <p:nvSpPr>
          <p:cNvPr id="153" name="Text 151"/>
          <p:cNvSpPr txBox="1"/>
          <p:nvPr/>
        </p:nvSpPr>
        <p:spPr>
          <a:xfrm>
            <a:off x="9025128" y="384048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$199.95</a:t>
            </a:r>
            <a:endParaRPr lang="en-US" sz="1300" dirty="0"/>
          </a:p>
        </p:txBody>
      </p:sp>
      <p:sp>
        <p:nvSpPr>
          <p:cNvPr id="154" name="Text 152"/>
          <p:cNvSpPr txBox="1"/>
          <p:nvPr/>
        </p:nvSpPr>
        <p:spPr>
          <a:xfrm>
            <a:off x="9774936" y="3840480"/>
            <a:ext cx="987552" cy="231648"/>
          </a:xfrm>
          <a:prstGeom prst="rect">
            <a:avLst/>
          </a:prstGeom>
          <a:noFill/>
          <a:ln/>
        </p:spPr>
        <p:txBody>
          <a:bodyPr wrap="square" lIns="0" tIns="0" rIns="0" bIns="0" rtlCol="0" anchor="ctr"/>
          <a:lstStyle/>
          <a:p>
            <a:pPr algn="r" indent="0" marL="0">
              <a:buNone/>
            </a:pPr>
            <a:endParaRPr lang="en-US" sz="1300" dirty="0"/>
          </a:p>
        </p:txBody>
      </p:sp>
      <p:sp>
        <p:nvSpPr>
          <p:cNvPr id="155" name="Text 153"/>
          <p:cNvSpPr txBox="1"/>
          <p:nvPr/>
        </p:nvSpPr>
        <p:spPr>
          <a:xfrm>
            <a:off x="10762488" y="3840480"/>
            <a:ext cx="658368" cy="231648"/>
          </a:xfrm>
          <a:prstGeom prst="rect">
            <a:avLst/>
          </a:prstGeom>
          <a:noFill/>
          <a:ln/>
        </p:spPr>
        <p:txBody>
          <a:bodyPr wrap="square" lIns="0" tIns="0" rIns="0" bIns="0" rtlCol="0" anchor="ctr"/>
          <a:lstStyle/>
          <a:p>
            <a:pPr algn="r" indent="0" marL="0">
              <a:buNone/>
            </a:pPr>
            <a:endParaRPr lang="en-US" sz="1300" dirty="0"/>
          </a:p>
        </p:txBody>
      </p:sp>
      <p:sp>
        <p:nvSpPr>
          <p:cNvPr id="156" name="Text 154"/>
          <p:cNvSpPr txBox="1"/>
          <p:nvPr/>
        </p:nvSpPr>
        <p:spPr>
          <a:xfrm>
            <a:off x="6208776" y="407212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57" name="Shape 155"/>
          <p:cNvSpPr/>
          <p:nvPr/>
        </p:nvSpPr>
        <p:spPr>
          <a:xfrm>
            <a:off x="8202168" y="4130040"/>
            <a:ext cx="293202" cy="115824"/>
          </a:xfrm>
          <a:prstGeom prst="rect">
            <a:avLst/>
          </a:prstGeom>
          <a:solidFill>
            <a:srgbClr val="2587C5"/>
          </a:solidFill>
          <a:ln/>
        </p:spPr>
      </p:sp>
      <p:sp>
        <p:nvSpPr>
          <p:cNvPr id="158" name="Text 156"/>
          <p:cNvSpPr txBox="1"/>
          <p:nvPr/>
        </p:nvSpPr>
        <p:spPr>
          <a:xfrm>
            <a:off x="9025128" y="407212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$195.00</a:t>
            </a:r>
            <a:endParaRPr lang="en-US" sz="1300" dirty="0"/>
          </a:p>
        </p:txBody>
      </p:sp>
      <p:sp>
        <p:nvSpPr>
          <p:cNvPr id="159" name="Text 157"/>
          <p:cNvSpPr txBox="1"/>
          <p:nvPr/>
        </p:nvSpPr>
        <p:spPr>
          <a:xfrm>
            <a:off x="9774936" y="4072128"/>
            <a:ext cx="987552" cy="231648"/>
          </a:xfrm>
          <a:prstGeom prst="rect">
            <a:avLst/>
          </a:prstGeom>
          <a:noFill/>
          <a:ln/>
        </p:spPr>
        <p:txBody>
          <a:bodyPr wrap="square" lIns="0" tIns="0" rIns="0" bIns="0" rtlCol="0" anchor="ctr"/>
          <a:lstStyle/>
          <a:p>
            <a:pPr algn="r" indent="0" marL="0">
              <a:buNone/>
            </a:pPr>
            <a:endParaRPr lang="en-US" sz="1300" dirty="0"/>
          </a:p>
        </p:txBody>
      </p:sp>
      <p:sp>
        <p:nvSpPr>
          <p:cNvPr id="160" name="Text 158"/>
          <p:cNvSpPr txBox="1"/>
          <p:nvPr/>
        </p:nvSpPr>
        <p:spPr>
          <a:xfrm>
            <a:off x="10762488" y="4072128"/>
            <a:ext cx="658368" cy="231648"/>
          </a:xfrm>
          <a:prstGeom prst="rect">
            <a:avLst/>
          </a:prstGeom>
          <a:noFill/>
          <a:ln/>
        </p:spPr>
        <p:txBody>
          <a:bodyPr wrap="square" lIns="0" tIns="0" rIns="0" bIns="0" rtlCol="0" anchor="ctr"/>
          <a:lstStyle/>
          <a:p>
            <a:pPr algn="r" indent="0" marL="0">
              <a:buNone/>
            </a:pPr>
            <a:endParaRPr lang="en-US" sz="1300" dirty="0"/>
          </a:p>
        </p:txBody>
      </p:sp>
      <p:sp>
        <p:nvSpPr>
          <p:cNvPr id="161" name="Text 159"/>
          <p:cNvSpPr txBox="1"/>
          <p:nvPr/>
        </p:nvSpPr>
        <p:spPr>
          <a:xfrm>
            <a:off x="6208776" y="430377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62" name="Shape 160"/>
          <p:cNvSpPr/>
          <p:nvPr/>
        </p:nvSpPr>
        <p:spPr>
          <a:xfrm>
            <a:off x="8202168" y="4361688"/>
            <a:ext cx="277770" cy="115824"/>
          </a:xfrm>
          <a:prstGeom prst="rect">
            <a:avLst/>
          </a:prstGeom>
          <a:solidFill>
            <a:srgbClr val="2587C5"/>
          </a:solidFill>
          <a:ln/>
        </p:spPr>
      </p:sp>
      <p:sp>
        <p:nvSpPr>
          <p:cNvPr id="163" name="Text 161"/>
          <p:cNvSpPr txBox="1"/>
          <p:nvPr/>
        </p:nvSpPr>
        <p:spPr>
          <a:xfrm>
            <a:off x="9025128" y="430377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$190.00</a:t>
            </a:r>
            <a:endParaRPr lang="en-US" sz="1300" dirty="0"/>
          </a:p>
        </p:txBody>
      </p:sp>
      <p:sp>
        <p:nvSpPr>
          <p:cNvPr id="164" name="Text 162"/>
          <p:cNvSpPr txBox="1"/>
          <p:nvPr/>
        </p:nvSpPr>
        <p:spPr>
          <a:xfrm>
            <a:off x="9774936" y="4303776"/>
            <a:ext cx="987552" cy="231648"/>
          </a:xfrm>
          <a:prstGeom prst="rect">
            <a:avLst/>
          </a:prstGeom>
          <a:noFill/>
          <a:ln/>
        </p:spPr>
        <p:txBody>
          <a:bodyPr wrap="square" lIns="0" tIns="0" rIns="0" bIns="0" rtlCol="0" anchor="ctr"/>
          <a:lstStyle/>
          <a:p>
            <a:pPr algn="r" indent="0" marL="0">
              <a:buNone/>
            </a:pPr>
            <a:endParaRPr lang="en-US" sz="1300" dirty="0"/>
          </a:p>
        </p:txBody>
      </p:sp>
      <p:sp>
        <p:nvSpPr>
          <p:cNvPr id="165" name="Text 163"/>
          <p:cNvSpPr txBox="1"/>
          <p:nvPr/>
        </p:nvSpPr>
        <p:spPr>
          <a:xfrm>
            <a:off x="10762488" y="4303776"/>
            <a:ext cx="658368" cy="231648"/>
          </a:xfrm>
          <a:prstGeom prst="rect">
            <a:avLst/>
          </a:prstGeom>
          <a:noFill/>
          <a:ln/>
        </p:spPr>
        <p:txBody>
          <a:bodyPr wrap="square" lIns="0" tIns="0" rIns="0" bIns="0" rtlCol="0" anchor="ctr"/>
          <a:lstStyle/>
          <a:p>
            <a:pPr algn="r" indent="0" marL="0">
              <a:buNone/>
            </a:pPr>
            <a:endParaRPr lang="en-US" sz="1300" dirty="0"/>
          </a:p>
        </p:txBody>
      </p:sp>
      <p:sp>
        <p:nvSpPr>
          <p:cNvPr id="166" name="Text 164"/>
          <p:cNvSpPr txBox="1"/>
          <p:nvPr/>
        </p:nvSpPr>
        <p:spPr>
          <a:xfrm>
            <a:off x="6208776" y="453542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67" name="Shape 165"/>
          <p:cNvSpPr/>
          <p:nvPr/>
        </p:nvSpPr>
        <p:spPr>
          <a:xfrm>
            <a:off x="8202168" y="4593336"/>
            <a:ext cx="262338" cy="115824"/>
          </a:xfrm>
          <a:prstGeom prst="rect">
            <a:avLst/>
          </a:prstGeom>
          <a:solidFill>
            <a:srgbClr val="2587C5"/>
          </a:solidFill>
          <a:ln/>
        </p:spPr>
      </p:sp>
      <p:sp>
        <p:nvSpPr>
          <p:cNvPr id="168" name="Text 166"/>
          <p:cNvSpPr txBox="1"/>
          <p:nvPr/>
        </p:nvSpPr>
        <p:spPr>
          <a:xfrm>
            <a:off x="9025128" y="4535424"/>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69" name="Text 167"/>
          <p:cNvSpPr txBox="1"/>
          <p:nvPr/>
        </p:nvSpPr>
        <p:spPr>
          <a:xfrm>
            <a:off x="9774936" y="4535424"/>
            <a:ext cx="987552" cy="231648"/>
          </a:xfrm>
          <a:prstGeom prst="rect">
            <a:avLst/>
          </a:prstGeom>
          <a:noFill/>
          <a:ln/>
        </p:spPr>
        <p:txBody>
          <a:bodyPr wrap="square" lIns="0" tIns="0" rIns="0" bIns="0" rtlCol="0" anchor="ctr"/>
          <a:lstStyle/>
          <a:p>
            <a:pPr algn="r" indent="0" marL="0">
              <a:buNone/>
            </a:pPr>
            <a:endParaRPr lang="en-US" sz="1300" dirty="0"/>
          </a:p>
        </p:txBody>
      </p:sp>
      <p:sp>
        <p:nvSpPr>
          <p:cNvPr id="170" name="Text 168"/>
          <p:cNvSpPr txBox="1"/>
          <p:nvPr/>
        </p:nvSpPr>
        <p:spPr>
          <a:xfrm>
            <a:off x="10762488" y="4535424"/>
            <a:ext cx="658368" cy="231648"/>
          </a:xfrm>
          <a:prstGeom prst="rect">
            <a:avLst/>
          </a:prstGeom>
          <a:noFill/>
          <a:ln/>
        </p:spPr>
        <p:txBody>
          <a:bodyPr wrap="square" lIns="0" tIns="0" rIns="0" bIns="0" rtlCol="0" anchor="ctr"/>
          <a:lstStyle/>
          <a:p>
            <a:pPr algn="r" indent="0" marL="0">
              <a:buNone/>
            </a:pPr>
            <a:endParaRPr lang="en-US" sz="1300" dirty="0"/>
          </a:p>
        </p:txBody>
      </p:sp>
      <p:sp>
        <p:nvSpPr>
          <p:cNvPr id="171" name="Text 169"/>
          <p:cNvSpPr txBox="1"/>
          <p:nvPr/>
        </p:nvSpPr>
        <p:spPr>
          <a:xfrm>
            <a:off x="6208776" y="476707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72" name="Shape 170"/>
          <p:cNvSpPr/>
          <p:nvPr/>
        </p:nvSpPr>
        <p:spPr>
          <a:xfrm>
            <a:off x="8202168" y="4824984"/>
            <a:ext cx="262338" cy="115824"/>
          </a:xfrm>
          <a:prstGeom prst="rect">
            <a:avLst/>
          </a:prstGeom>
          <a:solidFill>
            <a:srgbClr val="2587C5"/>
          </a:solidFill>
          <a:ln/>
        </p:spPr>
      </p:sp>
      <p:sp>
        <p:nvSpPr>
          <p:cNvPr id="173" name="Text 171"/>
          <p:cNvSpPr txBox="1"/>
          <p:nvPr/>
        </p:nvSpPr>
        <p:spPr>
          <a:xfrm>
            <a:off x="9025128" y="4767072"/>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74" name="Text 172"/>
          <p:cNvSpPr txBox="1"/>
          <p:nvPr/>
        </p:nvSpPr>
        <p:spPr>
          <a:xfrm>
            <a:off x="9774936" y="4767072"/>
            <a:ext cx="987552"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75" name="Text 173"/>
          <p:cNvSpPr txBox="1"/>
          <p:nvPr/>
        </p:nvSpPr>
        <p:spPr>
          <a:xfrm>
            <a:off x="10762488" y="4767072"/>
            <a:ext cx="658368"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76" name="Text 174"/>
          <p:cNvSpPr txBox="1"/>
          <p:nvPr/>
        </p:nvSpPr>
        <p:spPr>
          <a:xfrm>
            <a:off x="6208776" y="499872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77" name="Shape 175"/>
          <p:cNvSpPr/>
          <p:nvPr/>
        </p:nvSpPr>
        <p:spPr>
          <a:xfrm>
            <a:off x="8202168" y="5056632"/>
            <a:ext cx="262338" cy="115824"/>
          </a:xfrm>
          <a:prstGeom prst="rect">
            <a:avLst/>
          </a:prstGeom>
          <a:solidFill>
            <a:srgbClr val="2587C5"/>
          </a:solidFill>
          <a:ln/>
        </p:spPr>
      </p:sp>
      <p:sp>
        <p:nvSpPr>
          <p:cNvPr id="178" name="Text 176"/>
          <p:cNvSpPr txBox="1"/>
          <p:nvPr/>
        </p:nvSpPr>
        <p:spPr>
          <a:xfrm>
            <a:off x="9025128" y="4998720"/>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79" name="Text 177"/>
          <p:cNvSpPr txBox="1"/>
          <p:nvPr/>
        </p:nvSpPr>
        <p:spPr>
          <a:xfrm>
            <a:off x="9774936" y="4998720"/>
            <a:ext cx="987552"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$215.00</a:t>
            </a:r>
            <a:endParaRPr lang="en-US" sz="1300" dirty="0"/>
          </a:p>
        </p:txBody>
      </p:sp>
      <p:sp>
        <p:nvSpPr>
          <p:cNvPr id="180" name="Text 178"/>
          <p:cNvSpPr txBox="1"/>
          <p:nvPr/>
        </p:nvSpPr>
        <p:spPr>
          <a:xfrm>
            <a:off x="10762488" y="4998720"/>
            <a:ext cx="658368"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81" name="Text 179"/>
          <p:cNvSpPr txBox="1"/>
          <p:nvPr/>
        </p:nvSpPr>
        <p:spPr>
          <a:xfrm>
            <a:off x="6208776" y="523036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82" name="Shape 180"/>
          <p:cNvSpPr/>
          <p:nvPr/>
        </p:nvSpPr>
        <p:spPr>
          <a:xfrm>
            <a:off x="8202168" y="5288280"/>
            <a:ext cx="262338" cy="115824"/>
          </a:xfrm>
          <a:prstGeom prst="rect">
            <a:avLst/>
          </a:prstGeom>
          <a:solidFill>
            <a:srgbClr val="2587C5"/>
          </a:solidFill>
          <a:ln/>
        </p:spPr>
      </p:sp>
      <p:sp>
        <p:nvSpPr>
          <p:cNvPr id="183" name="Text 181"/>
          <p:cNvSpPr txBox="1"/>
          <p:nvPr/>
        </p:nvSpPr>
        <p:spPr>
          <a:xfrm>
            <a:off x="9025128" y="5230368"/>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84" name="Text 182"/>
          <p:cNvSpPr txBox="1"/>
          <p:nvPr/>
        </p:nvSpPr>
        <p:spPr>
          <a:xfrm>
            <a:off x="9774936" y="5230368"/>
            <a:ext cx="987552"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$195.00</a:t>
            </a:r>
            <a:endParaRPr lang="en-US" sz="1300" dirty="0"/>
          </a:p>
        </p:txBody>
      </p:sp>
      <p:sp>
        <p:nvSpPr>
          <p:cNvPr id="185" name="Text 183"/>
          <p:cNvSpPr txBox="1"/>
          <p:nvPr/>
        </p:nvSpPr>
        <p:spPr>
          <a:xfrm>
            <a:off x="10762488" y="5230368"/>
            <a:ext cx="658368"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86" name="Text 184"/>
          <p:cNvSpPr txBox="1"/>
          <p:nvPr/>
        </p:nvSpPr>
        <p:spPr>
          <a:xfrm>
            <a:off x="6208776" y="546201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87" name="Shape 185"/>
          <p:cNvSpPr/>
          <p:nvPr/>
        </p:nvSpPr>
        <p:spPr>
          <a:xfrm>
            <a:off x="8202168" y="5519928"/>
            <a:ext cx="243820" cy="115824"/>
          </a:xfrm>
          <a:prstGeom prst="rect">
            <a:avLst/>
          </a:prstGeom>
          <a:solidFill>
            <a:srgbClr val="2587C5"/>
          </a:solidFill>
          <a:ln/>
        </p:spPr>
      </p:sp>
      <p:sp>
        <p:nvSpPr>
          <p:cNvPr id="188" name="Text 186"/>
          <p:cNvSpPr txBox="1"/>
          <p:nvPr/>
        </p:nvSpPr>
        <p:spPr>
          <a:xfrm>
            <a:off x="9025128" y="5462016"/>
            <a:ext cx="749808" cy="23164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$179.00</a:t>
            </a:r>
            <a:endParaRPr lang="en-US" sz="1300" dirty="0"/>
          </a:p>
        </p:txBody>
      </p:sp>
      <p:sp>
        <p:nvSpPr>
          <p:cNvPr id="189" name="Text 187"/>
          <p:cNvSpPr txBox="1"/>
          <p:nvPr/>
        </p:nvSpPr>
        <p:spPr>
          <a:xfrm>
            <a:off x="9774936" y="5462016"/>
            <a:ext cx="987552" cy="231648"/>
          </a:xfrm>
          <a:prstGeom prst="rect">
            <a:avLst/>
          </a:prstGeom>
          <a:noFill/>
          <a:ln/>
        </p:spPr>
        <p:txBody>
          <a:bodyPr wrap="square" lIns="0" tIns="0" rIns="0" bIns="0" rtlCol="0" anchor="ctr"/>
          <a:lstStyle/>
          <a:p>
            <a:pPr algn="r" indent="0" marL="0">
              <a:buNone/>
            </a:pPr>
            <a:endParaRPr lang="en-US" sz="1300" dirty="0"/>
          </a:p>
        </p:txBody>
      </p:sp>
      <p:sp>
        <p:nvSpPr>
          <p:cNvPr id="190" name="Text 188"/>
          <p:cNvSpPr txBox="1"/>
          <p:nvPr/>
        </p:nvSpPr>
        <p:spPr>
          <a:xfrm>
            <a:off x="10762488" y="5462016"/>
            <a:ext cx="658368" cy="231648"/>
          </a:xfrm>
          <a:prstGeom prst="rect">
            <a:avLst/>
          </a:prstGeom>
          <a:noFill/>
          <a:ln/>
        </p:spPr>
        <p:txBody>
          <a:bodyPr wrap="square" lIns="0" tIns="0" rIns="0" bIns="0" rtlCol="0" anchor="ctr"/>
          <a:lstStyle/>
          <a:p>
            <a:pPr algn="r" indent="0" marL="0">
              <a:buNone/>
            </a:pPr>
            <a:endParaRPr lang="en-US" sz="1300" dirty="0"/>
          </a:p>
        </p:txBody>
      </p:sp>
      <p:sp>
        <p:nvSpPr>
          <p:cNvPr id="191" name="Shape 189"/>
          <p:cNvSpPr/>
          <p:nvPr/>
        </p:nvSpPr>
        <p:spPr>
          <a:xfrm>
            <a:off x="6035040" y="1371600"/>
            <a:ext cx="10973" cy="4553712"/>
          </a:xfrm>
          <a:prstGeom prst="rect">
            <a:avLst/>
          </a:prstGeom>
          <a:solidFill>
            <a:srgbClr val="D9D9D9"/>
          </a:solidFill>
          <a:ln/>
        </p:spPr>
      </p:sp>
      <p:sp>
        <p:nvSpPr>
          <p:cNvPr id="192" name="Shape 190"/>
          <p:cNvSpPr/>
          <p:nvPr/>
        </p:nvSpPr>
        <p:spPr>
          <a:xfrm>
            <a:off x="457200" y="6126480"/>
            <a:ext cx="11274552" cy="341376"/>
          </a:xfrm>
          <a:prstGeom prst="rect">
            <a:avLst/>
          </a:prstGeom>
          <a:solidFill>
            <a:srgbClr val="EDF4FA"/>
          </a:solidFill>
          <a:ln/>
        </p:spPr>
      </p:sp>
      <p:sp>
        <p:nvSpPr>
          <p:cNvPr id="193" name="Text 191"/>
          <p:cNvSpPr txBox="1"/>
          <p:nvPr/>
        </p:nvSpPr>
        <p:spPr>
          <a:xfrm>
            <a:off x="658368" y="6144768"/>
            <a:ext cx="10927080" cy="30480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17 stores price labor on a grid, 16 at a flat door rate. Hours-weighted door rate: $228.55 grid, $202.83 no grid.</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61747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ELR % OF DOOR RATE</a:t>
            </a:r>
            <a:endParaRPr lang="en-US" sz="1500" dirty="0"/>
          </a:p>
        </p:txBody>
      </p:sp>
      <p:sp>
        <p:nvSpPr>
          <p:cNvPr id="9" name="Text 7"/>
          <p:cNvSpPr txBox="1"/>
          <p:nvPr/>
        </p:nvSpPr>
        <p:spPr>
          <a:xfrm>
            <a:off x="3531870" y="1335024"/>
            <a:ext cx="451485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BENCHMARK 70.0%</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74.7%</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3" name="Shape 11"/>
          <p:cNvSpPr/>
          <p:nvPr/>
        </p:nvSpPr>
        <p:spPr>
          <a:xfrm>
            <a:off x="3008376" y="1907062"/>
            <a:ext cx="169164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103.4%</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7" name="Shape 15"/>
          <p:cNvSpPr/>
          <p:nvPr/>
        </p:nvSpPr>
        <p:spPr>
          <a:xfrm>
            <a:off x="3008376" y="2146957"/>
            <a:ext cx="1337833"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90.2%</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21" name="Shape 19"/>
          <p:cNvSpPr/>
          <p:nvPr/>
        </p:nvSpPr>
        <p:spPr>
          <a:xfrm>
            <a:off x="3008376" y="2386853"/>
            <a:ext cx="1330750"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89.9%</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25" name="Shape 23"/>
          <p:cNvSpPr/>
          <p:nvPr/>
        </p:nvSpPr>
        <p:spPr>
          <a:xfrm>
            <a:off x="3008376" y="2626748"/>
            <a:ext cx="1325919"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89.7%</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29" name="Shape 27"/>
          <p:cNvSpPr/>
          <p:nvPr/>
        </p:nvSpPr>
        <p:spPr>
          <a:xfrm>
            <a:off x="3008376" y="2866644"/>
            <a:ext cx="1292406"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88.5%</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33" name="Shape 31"/>
          <p:cNvSpPr/>
          <p:nvPr/>
        </p:nvSpPr>
        <p:spPr>
          <a:xfrm>
            <a:off x="3008376" y="3106540"/>
            <a:ext cx="1245988"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86.7%</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37" name="Shape 35"/>
          <p:cNvSpPr/>
          <p:nvPr/>
        </p:nvSpPr>
        <p:spPr>
          <a:xfrm>
            <a:off x="3008376" y="3346435"/>
            <a:ext cx="1233940"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86.3%</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41" name="Shape 39"/>
          <p:cNvSpPr/>
          <p:nvPr/>
        </p:nvSpPr>
        <p:spPr>
          <a:xfrm>
            <a:off x="3008376" y="3586331"/>
            <a:ext cx="1135970" cy="119948"/>
          </a:xfrm>
          <a:prstGeom prst="rect">
            <a:avLst/>
          </a:prstGeom>
          <a:solidFill>
            <a:srgbClr val="12A566"/>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82.6%</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45" name="Shape 43"/>
          <p:cNvSpPr/>
          <p:nvPr/>
        </p:nvSpPr>
        <p:spPr>
          <a:xfrm>
            <a:off x="3008376" y="3826226"/>
            <a:ext cx="1105695" cy="119948"/>
          </a:xfrm>
          <a:prstGeom prst="rect">
            <a:avLst/>
          </a:prstGeom>
          <a:solidFill>
            <a:srgbClr val="12A566"/>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81.5%</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49" name="Shape 47"/>
          <p:cNvSpPr/>
          <p:nvPr/>
        </p:nvSpPr>
        <p:spPr>
          <a:xfrm>
            <a:off x="3008376" y="4066122"/>
            <a:ext cx="1091852" cy="119948"/>
          </a:xfrm>
          <a:prstGeom prst="rect">
            <a:avLst/>
          </a:prstGeom>
          <a:solidFill>
            <a:srgbClr val="12A566"/>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80.9%</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53" name="Shape 51"/>
          <p:cNvSpPr/>
          <p:nvPr/>
        </p:nvSpPr>
        <p:spPr>
          <a:xfrm>
            <a:off x="3008376" y="4306017"/>
            <a:ext cx="1062579" cy="119948"/>
          </a:xfrm>
          <a:prstGeom prst="rect">
            <a:avLst/>
          </a:prstGeom>
          <a:solidFill>
            <a:srgbClr val="12A566"/>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79.8%</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57" name="Shape 55"/>
          <p:cNvSpPr/>
          <p:nvPr/>
        </p:nvSpPr>
        <p:spPr>
          <a:xfrm>
            <a:off x="3008376" y="4545913"/>
            <a:ext cx="1052866" cy="119948"/>
          </a:xfrm>
          <a:prstGeom prst="rect">
            <a:avLst/>
          </a:prstGeom>
          <a:solidFill>
            <a:srgbClr val="12A566"/>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79.5%</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61" name="Shape 59"/>
          <p:cNvSpPr/>
          <p:nvPr/>
        </p:nvSpPr>
        <p:spPr>
          <a:xfrm>
            <a:off x="3008376" y="4785808"/>
            <a:ext cx="1037454" cy="119948"/>
          </a:xfrm>
          <a:prstGeom prst="rect">
            <a:avLst/>
          </a:prstGeom>
          <a:solidFill>
            <a:srgbClr val="12A566"/>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78.9%</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5" name="Shape 63"/>
          <p:cNvSpPr/>
          <p:nvPr/>
        </p:nvSpPr>
        <p:spPr>
          <a:xfrm>
            <a:off x="3008376" y="5025704"/>
            <a:ext cx="1037318" cy="119948"/>
          </a:xfrm>
          <a:prstGeom prst="rect">
            <a:avLst/>
          </a:prstGeom>
          <a:solidFill>
            <a:srgbClr val="12A566"/>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78.9%</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69" name="Shape 67"/>
          <p:cNvSpPr/>
          <p:nvPr/>
        </p:nvSpPr>
        <p:spPr>
          <a:xfrm>
            <a:off x="3008376" y="5265599"/>
            <a:ext cx="1025918" cy="119948"/>
          </a:xfrm>
          <a:prstGeom prst="rect">
            <a:avLst/>
          </a:prstGeom>
          <a:solidFill>
            <a:srgbClr val="12A566"/>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78.5%</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73" name="Shape 71"/>
          <p:cNvSpPr/>
          <p:nvPr/>
        </p:nvSpPr>
        <p:spPr>
          <a:xfrm>
            <a:off x="3008376" y="5505495"/>
            <a:ext cx="979141" cy="119948"/>
          </a:xfrm>
          <a:prstGeom prst="rect">
            <a:avLst/>
          </a:prstGeom>
          <a:solidFill>
            <a:srgbClr val="12A566"/>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76.7%</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77" name="Shape 75"/>
          <p:cNvSpPr/>
          <p:nvPr/>
        </p:nvSpPr>
        <p:spPr>
          <a:xfrm>
            <a:off x="3008376" y="5745390"/>
            <a:ext cx="971152" cy="119948"/>
          </a:xfrm>
          <a:prstGeom prst="rect">
            <a:avLst/>
          </a:prstGeom>
          <a:solidFill>
            <a:srgbClr val="12A566"/>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76.4%</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81" name="Shape 79"/>
          <p:cNvSpPr/>
          <p:nvPr/>
        </p:nvSpPr>
        <p:spPr>
          <a:xfrm>
            <a:off x="8558784" y="1907062"/>
            <a:ext cx="944283" cy="119948"/>
          </a:xfrm>
          <a:prstGeom prst="rect">
            <a:avLst/>
          </a:prstGeom>
          <a:solidFill>
            <a:srgbClr val="12A566"/>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75.4%</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85" name="Shape 83"/>
          <p:cNvSpPr/>
          <p:nvPr/>
        </p:nvSpPr>
        <p:spPr>
          <a:xfrm>
            <a:off x="8558784" y="2146957"/>
            <a:ext cx="939782" cy="119948"/>
          </a:xfrm>
          <a:prstGeom prst="rect">
            <a:avLst/>
          </a:prstGeom>
          <a:solidFill>
            <a:srgbClr val="12A566"/>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75.2%</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9" name="Shape 87"/>
          <p:cNvSpPr/>
          <p:nvPr/>
        </p:nvSpPr>
        <p:spPr>
          <a:xfrm>
            <a:off x="8558784" y="2386853"/>
            <a:ext cx="935092" cy="119948"/>
          </a:xfrm>
          <a:prstGeom prst="rect">
            <a:avLst/>
          </a:prstGeom>
          <a:solidFill>
            <a:srgbClr val="12A566"/>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75.1%</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93" name="Shape 91"/>
          <p:cNvSpPr/>
          <p:nvPr/>
        </p:nvSpPr>
        <p:spPr>
          <a:xfrm>
            <a:off x="8558784" y="2626748"/>
            <a:ext cx="932611" cy="119948"/>
          </a:xfrm>
          <a:prstGeom prst="rect">
            <a:avLst/>
          </a:prstGeom>
          <a:solidFill>
            <a:srgbClr val="12A566"/>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75.0%</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97" name="Shape 95"/>
          <p:cNvSpPr/>
          <p:nvPr/>
        </p:nvSpPr>
        <p:spPr>
          <a:xfrm>
            <a:off x="8558784" y="2866644"/>
            <a:ext cx="903003" cy="119948"/>
          </a:xfrm>
          <a:prstGeom prst="rect">
            <a:avLst/>
          </a:prstGeom>
          <a:solidFill>
            <a:srgbClr val="12A566"/>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73.8%</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01" name="Shape 99"/>
          <p:cNvSpPr/>
          <p:nvPr/>
        </p:nvSpPr>
        <p:spPr>
          <a:xfrm>
            <a:off x="8558784" y="3106540"/>
            <a:ext cx="883327" cy="119948"/>
          </a:xfrm>
          <a:prstGeom prst="rect">
            <a:avLst/>
          </a:prstGeom>
          <a:solidFill>
            <a:srgbClr val="12A566"/>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73.1%</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05" name="Shape 103"/>
          <p:cNvSpPr/>
          <p:nvPr/>
        </p:nvSpPr>
        <p:spPr>
          <a:xfrm>
            <a:off x="8558784" y="3346435"/>
            <a:ext cx="863903" cy="119948"/>
          </a:xfrm>
          <a:prstGeom prst="rect">
            <a:avLst/>
          </a:prstGeom>
          <a:solidFill>
            <a:srgbClr val="12A566"/>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72.4%</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09" name="Shape 107"/>
          <p:cNvSpPr/>
          <p:nvPr/>
        </p:nvSpPr>
        <p:spPr>
          <a:xfrm>
            <a:off x="8558784" y="3586331"/>
            <a:ext cx="816673" cy="119948"/>
          </a:xfrm>
          <a:prstGeom prst="rect">
            <a:avLst/>
          </a:prstGeom>
          <a:solidFill>
            <a:srgbClr val="12A566"/>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70.6%</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13" name="Shape 111"/>
          <p:cNvSpPr/>
          <p:nvPr/>
        </p:nvSpPr>
        <p:spPr>
          <a:xfrm>
            <a:off x="8558784" y="3826226"/>
            <a:ext cx="760618"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68.5%</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17" name="Shape 115"/>
          <p:cNvSpPr/>
          <p:nvPr/>
        </p:nvSpPr>
        <p:spPr>
          <a:xfrm>
            <a:off x="8558784" y="4066122"/>
            <a:ext cx="753672"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68.2%</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21" name="Shape 119"/>
          <p:cNvSpPr/>
          <p:nvPr/>
        </p:nvSpPr>
        <p:spPr>
          <a:xfrm>
            <a:off x="8558784" y="4306017"/>
            <a:ext cx="733304"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67.5%</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25" name="Shape 123"/>
          <p:cNvSpPr/>
          <p:nvPr/>
        </p:nvSpPr>
        <p:spPr>
          <a:xfrm>
            <a:off x="8558784" y="4545913"/>
            <a:ext cx="713521"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66.7%</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29" name="Shape 127"/>
          <p:cNvSpPr/>
          <p:nvPr/>
        </p:nvSpPr>
        <p:spPr>
          <a:xfrm>
            <a:off x="8558784" y="4785808"/>
            <a:ext cx="707954"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66.5%</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33" name="Shape 131"/>
          <p:cNvSpPr/>
          <p:nvPr/>
        </p:nvSpPr>
        <p:spPr>
          <a:xfrm>
            <a:off x="8558784" y="5025704"/>
            <a:ext cx="666961"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65.0%</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7" name="Shape 135"/>
          <p:cNvSpPr/>
          <p:nvPr/>
        </p:nvSpPr>
        <p:spPr>
          <a:xfrm>
            <a:off x="8558784" y="5265599"/>
            <a:ext cx="661223"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64.8%</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41" name="Shape 139"/>
          <p:cNvSpPr/>
          <p:nvPr/>
        </p:nvSpPr>
        <p:spPr>
          <a:xfrm>
            <a:off x="8558784" y="5505495"/>
            <a:ext cx="574635"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61.5%</a:t>
            </a:r>
            <a:endParaRPr lang="en-US" sz="1200" dirty="0"/>
          </a:p>
        </p:txBody>
      </p:sp>
      <p:sp>
        <p:nvSpPr>
          <p:cNvPr id="143" name="Shape 141"/>
          <p:cNvSpPr/>
          <p:nvPr/>
        </p:nvSpPr>
        <p:spPr>
          <a:xfrm>
            <a:off x="3800278" y="1847088"/>
            <a:ext cx="14630" cy="4078224"/>
          </a:xfrm>
          <a:prstGeom prst="rect">
            <a:avLst/>
          </a:prstGeom>
          <a:solidFill>
            <a:srgbClr val="0B2C4A"/>
          </a:solidFill>
          <a:ln/>
        </p:spPr>
      </p:sp>
      <p:sp>
        <p:nvSpPr>
          <p:cNvPr id="144" name="Shape 142"/>
          <p:cNvSpPr/>
          <p:nvPr/>
        </p:nvSpPr>
        <p:spPr>
          <a:xfrm>
            <a:off x="9350686"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615696"/>
          </a:xfrm>
          <a:prstGeom prst="rect">
            <a:avLst/>
          </a:prstGeom>
          <a:solidFill>
            <a:srgbClr val="EDF4FA"/>
          </a:solidFill>
          <a:ln/>
        </p:spPr>
      </p:sp>
      <p:sp>
        <p:nvSpPr>
          <p:cNvPr id="147" name="Text 14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25 of 33 stores realize at least 70% of door rate; the group is at 74.7%. Audi Reno leads at 103.4%; Cadillac is lowest at 61.5%.</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61747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ELR % OF DOOR RATE</a:t>
            </a:r>
            <a:endParaRPr lang="en-US" sz="1500" dirty="0"/>
          </a:p>
        </p:txBody>
      </p:sp>
      <p:sp>
        <p:nvSpPr>
          <p:cNvPr id="9" name="Text 7"/>
          <p:cNvSpPr txBox="1"/>
          <p:nvPr/>
        </p:nvSpPr>
        <p:spPr>
          <a:xfrm>
            <a:off x="3531870" y="1335024"/>
            <a:ext cx="451485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BENCHMARK 70.0%</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74.7%</a:t>
            </a:r>
            <a:endParaRPr lang="en-US" sz="2000" dirty="0"/>
          </a:p>
        </p:txBody>
      </p:sp>
      <p:sp>
        <p:nvSpPr>
          <p:cNvPr id="11" name="Text 9"/>
          <p:cNvSpPr txBox="1"/>
          <p:nvPr/>
        </p:nvSpPr>
        <p:spPr>
          <a:xfrm>
            <a:off x="658368"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3" name="Shape 11"/>
          <p:cNvSpPr/>
          <p:nvPr/>
        </p:nvSpPr>
        <p:spPr>
          <a:xfrm>
            <a:off x="3008376" y="2177348"/>
            <a:ext cx="484632" cy="111880"/>
          </a:xfrm>
          <a:prstGeom prst="rect">
            <a:avLst/>
          </a:prstGeom>
          <a:solidFill>
            <a:srgbClr val="12A566"/>
          </a:solidFill>
          <a:ln/>
        </p:spPr>
      </p:sp>
      <p:sp>
        <p:nvSpPr>
          <p:cNvPr id="14" name="Text 12"/>
          <p:cNvSpPr txBox="1"/>
          <p:nvPr/>
        </p:nvSpPr>
        <p:spPr>
          <a:xfrm>
            <a:off x="3547872" y="2121408"/>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103.4%</a:t>
            </a:r>
            <a:endParaRPr lang="en-US" sz="1200" dirty="0"/>
          </a:p>
        </p:txBody>
      </p:sp>
      <p:sp>
        <p:nvSpPr>
          <p:cNvPr id="15" name="Text 13"/>
          <p:cNvSpPr txBox="1"/>
          <p:nvPr/>
        </p:nvSpPr>
        <p:spPr>
          <a:xfrm>
            <a:off x="4224528" y="2121408"/>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$244.12</a:t>
            </a:r>
            <a:endParaRPr lang="en-US" sz="1200" dirty="0"/>
          </a:p>
        </p:txBody>
      </p:sp>
      <p:sp>
        <p:nvSpPr>
          <p:cNvPr id="16" name="Text 14"/>
          <p:cNvSpPr txBox="1"/>
          <p:nvPr/>
        </p:nvSpPr>
        <p:spPr>
          <a:xfrm>
            <a:off x="5010912" y="2121408"/>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$235.87</a:t>
            </a:r>
            <a:endParaRPr lang="en-US" sz="1200" dirty="0"/>
          </a:p>
        </p:txBody>
      </p:sp>
      <p:sp>
        <p:nvSpPr>
          <p:cNvPr id="17" name="Text 15"/>
          <p:cNvSpPr txBox="1"/>
          <p:nvPr/>
        </p:nvSpPr>
        <p:spPr>
          <a:xfrm>
            <a:off x="658368"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9" name="Shape 17"/>
          <p:cNvSpPr/>
          <p:nvPr/>
        </p:nvSpPr>
        <p:spPr>
          <a:xfrm>
            <a:off x="3008376" y="2401107"/>
            <a:ext cx="383271" cy="111880"/>
          </a:xfrm>
          <a:prstGeom prst="rect">
            <a:avLst/>
          </a:prstGeom>
          <a:solidFill>
            <a:srgbClr val="12A566"/>
          </a:solidFill>
          <a:ln/>
        </p:spPr>
      </p:sp>
      <p:sp>
        <p:nvSpPr>
          <p:cNvPr id="20" name="Text 18"/>
          <p:cNvSpPr txBox="1"/>
          <p:nvPr/>
        </p:nvSpPr>
        <p:spPr>
          <a:xfrm>
            <a:off x="3547872" y="2345167"/>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90.2%</a:t>
            </a:r>
            <a:endParaRPr lang="en-US" sz="1200" dirty="0"/>
          </a:p>
        </p:txBody>
      </p:sp>
      <p:sp>
        <p:nvSpPr>
          <p:cNvPr id="21" name="Text 19"/>
          <p:cNvSpPr txBox="1"/>
          <p:nvPr/>
        </p:nvSpPr>
        <p:spPr>
          <a:xfrm>
            <a:off x="4224528" y="2345167"/>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$225.50</a:t>
            </a:r>
            <a:endParaRPr lang="en-US" sz="1200" dirty="0"/>
          </a:p>
        </p:txBody>
      </p:sp>
      <p:sp>
        <p:nvSpPr>
          <p:cNvPr id="22" name="Text 20"/>
          <p:cNvSpPr txBox="1"/>
          <p:nvPr/>
        </p:nvSpPr>
        <p:spPr>
          <a:xfrm>
            <a:off x="5010912" y="2345167"/>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$249.95</a:t>
            </a:r>
            <a:endParaRPr lang="en-US" sz="1200" dirty="0"/>
          </a:p>
        </p:txBody>
      </p:sp>
      <p:sp>
        <p:nvSpPr>
          <p:cNvPr id="23" name="Text 21"/>
          <p:cNvSpPr txBox="1"/>
          <p:nvPr/>
        </p:nvSpPr>
        <p:spPr>
          <a:xfrm>
            <a:off x="658368"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4" name="Text 22"/>
          <p:cNvSpPr txBox="1"/>
          <p:nvPr/>
        </p:nvSpPr>
        <p:spPr>
          <a:xfrm>
            <a:off x="1014984"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25" name="Shape 23"/>
          <p:cNvSpPr/>
          <p:nvPr/>
        </p:nvSpPr>
        <p:spPr>
          <a:xfrm>
            <a:off x="3008376" y="2624866"/>
            <a:ext cx="381242" cy="111880"/>
          </a:xfrm>
          <a:prstGeom prst="rect">
            <a:avLst/>
          </a:prstGeom>
          <a:solidFill>
            <a:srgbClr val="12A566"/>
          </a:solidFill>
          <a:ln/>
        </p:spPr>
      </p:sp>
      <p:sp>
        <p:nvSpPr>
          <p:cNvPr id="26" name="Text 24"/>
          <p:cNvSpPr txBox="1"/>
          <p:nvPr/>
        </p:nvSpPr>
        <p:spPr>
          <a:xfrm>
            <a:off x="3547872" y="2568926"/>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89.9%</a:t>
            </a:r>
            <a:endParaRPr lang="en-US" sz="1200" dirty="0"/>
          </a:p>
        </p:txBody>
      </p:sp>
      <p:sp>
        <p:nvSpPr>
          <p:cNvPr id="27" name="Text 25"/>
          <p:cNvSpPr txBox="1"/>
          <p:nvPr/>
        </p:nvSpPr>
        <p:spPr>
          <a:xfrm>
            <a:off x="4224528" y="2568926"/>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$161.80</a:t>
            </a:r>
            <a:endParaRPr lang="en-US" sz="1200" dirty="0"/>
          </a:p>
        </p:txBody>
      </p:sp>
      <p:sp>
        <p:nvSpPr>
          <p:cNvPr id="28" name="Text 26"/>
          <p:cNvSpPr txBox="1"/>
          <p:nvPr/>
        </p:nvSpPr>
        <p:spPr>
          <a:xfrm>
            <a:off x="5010912" y="2568926"/>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$179.87</a:t>
            </a:r>
            <a:endParaRPr lang="en-US" sz="1200" dirty="0"/>
          </a:p>
        </p:txBody>
      </p:sp>
      <p:sp>
        <p:nvSpPr>
          <p:cNvPr id="29" name="Text 27"/>
          <p:cNvSpPr txBox="1"/>
          <p:nvPr/>
        </p:nvSpPr>
        <p:spPr>
          <a:xfrm>
            <a:off x="658368"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0" name="Text 28"/>
          <p:cNvSpPr txBox="1"/>
          <p:nvPr/>
        </p:nvSpPr>
        <p:spPr>
          <a:xfrm>
            <a:off x="1014984"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31" name="Shape 29"/>
          <p:cNvSpPr/>
          <p:nvPr/>
        </p:nvSpPr>
        <p:spPr>
          <a:xfrm>
            <a:off x="3008376" y="2848625"/>
            <a:ext cx="379858" cy="111880"/>
          </a:xfrm>
          <a:prstGeom prst="rect">
            <a:avLst/>
          </a:prstGeom>
          <a:solidFill>
            <a:srgbClr val="12A566"/>
          </a:solidFill>
          <a:ln/>
        </p:spPr>
      </p:sp>
      <p:sp>
        <p:nvSpPr>
          <p:cNvPr id="32" name="Text 30"/>
          <p:cNvSpPr txBox="1"/>
          <p:nvPr/>
        </p:nvSpPr>
        <p:spPr>
          <a:xfrm>
            <a:off x="3547872" y="2792685"/>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89.7%</a:t>
            </a:r>
            <a:endParaRPr lang="en-US" sz="1200" dirty="0"/>
          </a:p>
        </p:txBody>
      </p:sp>
      <p:sp>
        <p:nvSpPr>
          <p:cNvPr id="33" name="Text 31"/>
          <p:cNvSpPr txBox="1"/>
          <p:nvPr/>
        </p:nvSpPr>
        <p:spPr>
          <a:xfrm>
            <a:off x="4224528" y="2792685"/>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$165.96</a:t>
            </a:r>
            <a:endParaRPr lang="en-US" sz="1200" dirty="0"/>
          </a:p>
        </p:txBody>
      </p:sp>
      <p:sp>
        <p:nvSpPr>
          <p:cNvPr id="34" name="Text 32"/>
          <p:cNvSpPr txBox="1"/>
          <p:nvPr/>
        </p:nvSpPr>
        <p:spPr>
          <a:xfrm>
            <a:off x="5010912" y="2792685"/>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$184.87</a:t>
            </a:r>
            <a:endParaRPr lang="en-US" sz="1200" dirty="0"/>
          </a:p>
        </p:txBody>
      </p:sp>
      <p:sp>
        <p:nvSpPr>
          <p:cNvPr id="35" name="Text 33"/>
          <p:cNvSpPr txBox="1"/>
          <p:nvPr/>
        </p:nvSpPr>
        <p:spPr>
          <a:xfrm>
            <a:off x="658368"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6" name="Text 34"/>
          <p:cNvSpPr txBox="1"/>
          <p:nvPr/>
        </p:nvSpPr>
        <p:spPr>
          <a:xfrm>
            <a:off x="1014984"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37" name="Shape 35"/>
          <p:cNvSpPr/>
          <p:nvPr/>
        </p:nvSpPr>
        <p:spPr>
          <a:xfrm>
            <a:off x="3008376" y="3072384"/>
            <a:ext cx="370257" cy="111880"/>
          </a:xfrm>
          <a:prstGeom prst="rect">
            <a:avLst/>
          </a:prstGeom>
          <a:solidFill>
            <a:srgbClr val="12A566"/>
          </a:solidFill>
          <a:ln/>
        </p:spPr>
      </p:sp>
      <p:sp>
        <p:nvSpPr>
          <p:cNvPr id="38" name="Text 36"/>
          <p:cNvSpPr txBox="1"/>
          <p:nvPr/>
        </p:nvSpPr>
        <p:spPr>
          <a:xfrm>
            <a:off x="3547872" y="3016444"/>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88.5%</a:t>
            </a:r>
            <a:endParaRPr lang="en-US" sz="1200" dirty="0"/>
          </a:p>
        </p:txBody>
      </p:sp>
      <p:sp>
        <p:nvSpPr>
          <p:cNvPr id="39" name="Text 37"/>
          <p:cNvSpPr txBox="1"/>
          <p:nvPr/>
        </p:nvSpPr>
        <p:spPr>
          <a:xfrm>
            <a:off x="4224528" y="3016444"/>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$199.04</a:t>
            </a:r>
            <a:endParaRPr lang="en-US" sz="1200" dirty="0"/>
          </a:p>
        </p:txBody>
      </p:sp>
      <p:sp>
        <p:nvSpPr>
          <p:cNvPr id="40" name="Text 38"/>
          <p:cNvSpPr txBox="1"/>
          <p:nvPr/>
        </p:nvSpPr>
        <p:spPr>
          <a:xfrm>
            <a:off x="5010912" y="3016444"/>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$224.87</a:t>
            </a:r>
            <a:endParaRPr lang="en-US" sz="1200" dirty="0"/>
          </a:p>
        </p:txBody>
      </p:sp>
      <p:sp>
        <p:nvSpPr>
          <p:cNvPr id="41" name="Text 39"/>
          <p:cNvSpPr txBox="1"/>
          <p:nvPr/>
        </p:nvSpPr>
        <p:spPr>
          <a:xfrm>
            <a:off x="658368"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2" name="Text 40"/>
          <p:cNvSpPr txBox="1"/>
          <p:nvPr/>
        </p:nvSpPr>
        <p:spPr>
          <a:xfrm>
            <a:off x="1014984"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43" name="Shape 41"/>
          <p:cNvSpPr/>
          <p:nvPr/>
        </p:nvSpPr>
        <p:spPr>
          <a:xfrm>
            <a:off x="3008376" y="3296143"/>
            <a:ext cx="356959" cy="111880"/>
          </a:xfrm>
          <a:prstGeom prst="rect">
            <a:avLst/>
          </a:prstGeom>
          <a:solidFill>
            <a:srgbClr val="12A566"/>
          </a:solidFill>
          <a:ln/>
        </p:spPr>
      </p:sp>
      <p:sp>
        <p:nvSpPr>
          <p:cNvPr id="44" name="Text 42"/>
          <p:cNvSpPr txBox="1"/>
          <p:nvPr/>
        </p:nvSpPr>
        <p:spPr>
          <a:xfrm>
            <a:off x="3547872" y="3240203"/>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86.7%</a:t>
            </a:r>
            <a:endParaRPr lang="en-US" sz="1200" dirty="0"/>
          </a:p>
        </p:txBody>
      </p:sp>
      <p:sp>
        <p:nvSpPr>
          <p:cNvPr id="45" name="Text 43"/>
          <p:cNvSpPr txBox="1"/>
          <p:nvPr/>
        </p:nvSpPr>
        <p:spPr>
          <a:xfrm>
            <a:off x="4224528" y="3240203"/>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$238.62</a:t>
            </a:r>
            <a:endParaRPr lang="en-US" sz="1200" dirty="0"/>
          </a:p>
        </p:txBody>
      </p:sp>
      <p:sp>
        <p:nvSpPr>
          <p:cNvPr id="46" name="Text 44"/>
          <p:cNvSpPr txBox="1"/>
          <p:nvPr/>
        </p:nvSpPr>
        <p:spPr>
          <a:xfrm>
            <a:off x="5010912" y="3240203"/>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$275.00</a:t>
            </a:r>
            <a:endParaRPr lang="en-US" sz="1200" dirty="0"/>
          </a:p>
        </p:txBody>
      </p:sp>
      <p:sp>
        <p:nvSpPr>
          <p:cNvPr id="47" name="Text 45"/>
          <p:cNvSpPr txBox="1"/>
          <p:nvPr/>
        </p:nvSpPr>
        <p:spPr>
          <a:xfrm>
            <a:off x="658368"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8" name="Text 46"/>
          <p:cNvSpPr txBox="1"/>
          <p:nvPr/>
        </p:nvSpPr>
        <p:spPr>
          <a:xfrm>
            <a:off x="1014984"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49" name="Shape 47"/>
          <p:cNvSpPr/>
          <p:nvPr/>
        </p:nvSpPr>
        <p:spPr>
          <a:xfrm>
            <a:off x="3008376" y="3519902"/>
            <a:ext cx="353507" cy="111880"/>
          </a:xfrm>
          <a:prstGeom prst="rect">
            <a:avLst/>
          </a:prstGeom>
          <a:solidFill>
            <a:srgbClr val="12A566"/>
          </a:solidFill>
          <a:ln/>
        </p:spPr>
      </p:sp>
      <p:sp>
        <p:nvSpPr>
          <p:cNvPr id="50" name="Text 48"/>
          <p:cNvSpPr txBox="1"/>
          <p:nvPr/>
        </p:nvSpPr>
        <p:spPr>
          <a:xfrm>
            <a:off x="3547872" y="3463962"/>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86.3%</a:t>
            </a:r>
            <a:endParaRPr lang="en-US" sz="1200" dirty="0"/>
          </a:p>
        </p:txBody>
      </p:sp>
      <p:sp>
        <p:nvSpPr>
          <p:cNvPr id="51" name="Text 49"/>
          <p:cNvSpPr txBox="1"/>
          <p:nvPr/>
        </p:nvSpPr>
        <p:spPr>
          <a:xfrm>
            <a:off x="4224528" y="3463962"/>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$159.69</a:t>
            </a:r>
            <a:endParaRPr lang="en-US" sz="1200" dirty="0"/>
          </a:p>
        </p:txBody>
      </p:sp>
      <p:sp>
        <p:nvSpPr>
          <p:cNvPr id="52" name="Text 50"/>
          <p:cNvSpPr txBox="1"/>
          <p:nvPr/>
        </p:nvSpPr>
        <p:spPr>
          <a:xfrm>
            <a:off x="5010912" y="3463962"/>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$185.00</a:t>
            </a:r>
            <a:endParaRPr lang="en-US" sz="1200" dirty="0"/>
          </a:p>
        </p:txBody>
      </p:sp>
      <p:sp>
        <p:nvSpPr>
          <p:cNvPr id="53" name="Text 51"/>
          <p:cNvSpPr txBox="1"/>
          <p:nvPr/>
        </p:nvSpPr>
        <p:spPr>
          <a:xfrm>
            <a:off x="658368"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4" name="Text 52"/>
          <p:cNvSpPr txBox="1"/>
          <p:nvPr/>
        </p:nvSpPr>
        <p:spPr>
          <a:xfrm>
            <a:off x="1014984"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55" name="Shape 53"/>
          <p:cNvSpPr/>
          <p:nvPr/>
        </p:nvSpPr>
        <p:spPr>
          <a:xfrm>
            <a:off x="3008376" y="3743661"/>
            <a:ext cx="325440" cy="111880"/>
          </a:xfrm>
          <a:prstGeom prst="rect">
            <a:avLst/>
          </a:prstGeom>
          <a:solidFill>
            <a:srgbClr val="12A566"/>
          </a:solidFill>
          <a:ln/>
        </p:spPr>
      </p:sp>
      <p:sp>
        <p:nvSpPr>
          <p:cNvPr id="56" name="Text 54"/>
          <p:cNvSpPr txBox="1"/>
          <p:nvPr/>
        </p:nvSpPr>
        <p:spPr>
          <a:xfrm>
            <a:off x="3547872" y="3687721"/>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82.6%</a:t>
            </a:r>
            <a:endParaRPr lang="en-US" sz="1200" dirty="0"/>
          </a:p>
        </p:txBody>
      </p:sp>
      <p:sp>
        <p:nvSpPr>
          <p:cNvPr id="57" name="Text 55"/>
          <p:cNvSpPr txBox="1"/>
          <p:nvPr/>
        </p:nvSpPr>
        <p:spPr>
          <a:xfrm>
            <a:off x="4224528" y="3687721"/>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$147.93</a:t>
            </a:r>
            <a:endParaRPr lang="en-US" sz="1200" dirty="0"/>
          </a:p>
        </p:txBody>
      </p:sp>
      <p:sp>
        <p:nvSpPr>
          <p:cNvPr id="58" name="Text 56"/>
          <p:cNvSpPr txBox="1"/>
          <p:nvPr/>
        </p:nvSpPr>
        <p:spPr>
          <a:xfrm>
            <a:off x="5010912" y="3687721"/>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$179.00</a:t>
            </a:r>
            <a:endParaRPr lang="en-US" sz="1200" dirty="0"/>
          </a:p>
        </p:txBody>
      </p:sp>
      <p:sp>
        <p:nvSpPr>
          <p:cNvPr id="59" name="Text 57"/>
          <p:cNvSpPr txBox="1"/>
          <p:nvPr/>
        </p:nvSpPr>
        <p:spPr>
          <a:xfrm>
            <a:off x="658368"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0" name="Text 58"/>
          <p:cNvSpPr txBox="1"/>
          <p:nvPr/>
        </p:nvSpPr>
        <p:spPr>
          <a:xfrm>
            <a:off x="1014984"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61" name="Shape 59"/>
          <p:cNvSpPr/>
          <p:nvPr/>
        </p:nvSpPr>
        <p:spPr>
          <a:xfrm>
            <a:off x="3008376" y="3967420"/>
            <a:ext cx="316767" cy="111880"/>
          </a:xfrm>
          <a:prstGeom prst="rect">
            <a:avLst/>
          </a:prstGeom>
          <a:solidFill>
            <a:srgbClr val="12A566"/>
          </a:solidFill>
          <a:ln/>
        </p:spPr>
      </p:sp>
      <p:sp>
        <p:nvSpPr>
          <p:cNvPr id="62" name="Text 60"/>
          <p:cNvSpPr txBox="1"/>
          <p:nvPr/>
        </p:nvSpPr>
        <p:spPr>
          <a:xfrm>
            <a:off x="3547872" y="3911480"/>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81.5%</a:t>
            </a:r>
            <a:endParaRPr lang="en-US" sz="1200" dirty="0"/>
          </a:p>
        </p:txBody>
      </p:sp>
      <p:sp>
        <p:nvSpPr>
          <p:cNvPr id="63" name="Text 61"/>
          <p:cNvSpPr txBox="1"/>
          <p:nvPr/>
        </p:nvSpPr>
        <p:spPr>
          <a:xfrm>
            <a:off x="4224528" y="3911480"/>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$187.42</a:t>
            </a:r>
            <a:endParaRPr lang="en-US" sz="1200" dirty="0"/>
          </a:p>
        </p:txBody>
      </p:sp>
      <p:sp>
        <p:nvSpPr>
          <p:cNvPr id="64" name="Text 62"/>
          <p:cNvSpPr txBox="1"/>
          <p:nvPr/>
        </p:nvSpPr>
        <p:spPr>
          <a:xfrm>
            <a:off x="5010912" y="3911480"/>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$229.95</a:t>
            </a:r>
            <a:endParaRPr lang="en-US" sz="1200" dirty="0"/>
          </a:p>
        </p:txBody>
      </p:sp>
      <p:sp>
        <p:nvSpPr>
          <p:cNvPr id="65" name="Text 63"/>
          <p:cNvSpPr txBox="1"/>
          <p:nvPr/>
        </p:nvSpPr>
        <p:spPr>
          <a:xfrm>
            <a:off x="658368"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6" name="Text 64"/>
          <p:cNvSpPr txBox="1"/>
          <p:nvPr/>
        </p:nvSpPr>
        <p:spPr>
          <a:xfrm>
            <a:off x="1014984"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67" name="Shape 65"/>
          <p:cNvSpPr/>
          <p:nvPr/>
        </p:nvSpPr>
        <p:spPr>
          <a:xfrm>
            <a:off x="3008376" y="4191179"/>
            <a:ext cx="312801" cy="111880"/>
          </a:xfrm>
          <a:prstGeom prst="rect">
            <a:avLst/>
          </a:prstGeom>
          <a:solidFill>
            <a:srgbClr val="12A566"/>
          </a:solidFill>
          <a:ln/>
        </p:spPr>
      </p:sp>
      <p:sp>
        <p:nvSpPr>
          <p:cNvPr id="68" name="Text 66"/>
          <p:cNvSpPr txBox="1"/>
          <p:nvPr/>
        </p:nvSpPr>
        <p:spPr>
          <a:xfrm>
            <a:off x="3547872" y="4135240"/>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80.9%</a:t>
            </a:r>
            <a:endParaRPr lang="en-US" sz="1200" dirty="0"/>
          </a:p>
        </p:txBody>
      </p:sp>
      <p:sp>
        <p:nvSpPr>
          <p:cNvPr id="69" name="Text 67"/>
          <p:cNvSpPr txBox="1"/>
          <p:nvPr/>
        </p:nvSpPr>
        <p:spPr>
          <a:xfrm>
            <a:off x="4224528" y="4135240"/>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$161.93</a:t>
            </a:r>
            <a:endParaRPr lang="en-US" sz="1200" dirty="0"/>
          </a:p>
        </p:txBody>
      </p:sp>
      <p:sp>
        <p:nvSpPr>
          <p:cNvPr id="70" name="Text 68"/>
          <p:cNvSpPr txBox="1"/>
          <p:nvPr/>
        </p:nvSpPr>
        <p:spPr>
          <a:xfrm>
            <a:off x="5010912" y="4135240"/>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$199.95</a:t>
            </a:r>
            <a:endParaRPr lang="en-US" sz="1200" dirty="0"/>
          </a:p>
        </p:txBody>
      </p:sp>
      <p:sp>
        <p:nvSpPr>
          <p:cNvPr id="71" name="Text 69"/>
          <p:cNvSpPr txBox="1"/>
          <p:nvPr/>
        </p:nvSpPr>
        <p:spPr>
          <a:xfrm>
            <a:off x="658368"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2" name="Text 70"/>
          <p:cNvSpPr txBox="1"/>
          <p:nvPr/>
        </p:nvSpPr>
        <p:spPr>
          <a:xfrm>
            <a:off x="1014984"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73" name="Shape 71"/>
          <p:cNvSpPr/>
          <p:nvPr/>
        </p:nvSpPr>
        <p:spPr>
          <a:xfrm>
            <a:off x="3008376" y="4414938"/>
            <a:ext cx="304415" cy="111880"/>
          </a:xfrm>
          <a:prstGeom prst="rect">
            <a:avLst/>
          </a:prstGeom>
          <a:solidFill>
            <a:srgbClr val="12A566"/>
          </a:solidFill>
          <a:ln/>
        </p:spPr>
      </p:sp>
      <p:sp>
        <p:nvSpPr>
          <p:cNvPr id="74" name="Text 72"/>
          <p:cNvSpPr txBox="1"/>
          <p:nvPr/>
        </p:nvSpPr>
        <p:spPr>
          <a:xfrm>
            <a:off x="3547872" y="4358999"/>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79.8%</a:t>
            </a:r>
            <a:endParaRPr lang="en-US" sz="1200" dirty="0"/>
          </a:p>
        </p:txBody>
      </p:sp>
      <p:sp>
        <p:nvSpPr>
          <p:cNvPr id="75" name="Text 73"/>
          <p:cNvSpPr txBox="1"/>
          <p:nvPr/>
        </p:nvSpPr>
        <p:spPr>
          <a:xfrm>
            <a:off x="4224528" y="4358999"/>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$155.78</a:t>
            </a:r>
            <a:endParaRPr lang="en-US" sz="1200" dirty="0"/>
          </a:p>
        </p:txBody>
      </p:sp>
      <p:sp>
        <p:nvSpPr>
          <p:cNvPr id="76" name="Text 74"/>
          <p:cNvSpPr txBox="1"/>
          <p:nvPr/>
        </p:nvSpPr>
        <p:spPr>
          <a:xfrm>
            <a:off x="5010912" y="4358999"/>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$195.00</a:t>
            </a:r>
            <a:endParaRPr lang="en-US" sz="1200" dirty="0"/>
          </a:p>
        </p:txBody>
      </p:sp>
      <p:sp>
        <p:nvSpPr>
          <p:cNvPr id="77" name="Text 75"/>
          <p:cNvSpPr txBox="1"/>
          <p:nvPr/>
        </p:nvSpPr>
        <p:spPr>
          <a:xfrm>
            <a:off x="658368"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8" name="Text 76"/>
          <p:cNvSpPr txBox="1"/>
          <p:nvPr/>
        </p:nvSpPr>
        <p:spPr>
          <a:xfrm>
            <a:off x="1014984"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79" name="Shape 77"/>
          <p:cNvSpPr/>
          <p:nvPr/>
        </p:nvSpPr>
        <p:spPr>
          <a:xfrm>
            <a:off x="3008376" y="4638697"/>
            <a:ext cx="301632" cy="111880"/>
          </a:xfrm>
          <a:prstGeom prst="rect">
            <a:avLst/>
          </a:prstGeom>
          <a:solidFill>
            <a:srgbClr val="12A566"/>
          </a:solidFill>
          <a:ln/>
        </p:spPr>
      </p:sp>
      <p:sp>
        <p:nvSpPr>
          <p:cNvPr id="80" name="Text 78"/>
          <p:cNvSpPr txBox="1"/>
          <p:nvPr/>
        </p:nvSpPr>
        <p:spPr>
          <a:xfrm>
            <a:off x="3547872" y="4582758"/>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79.5%</a:t>
            </a:r>
            <a:endParaRPr lang="en-US" sz="1200" dirty="0"/>
          </a:p>
        </p:txBody>
      </p:sp>
      <p:sp>
        <p:nvSpPr>
          <p:cNvPr id="81" name="Text 79"/>
          <p:cNvSpPr txBox="1"/>
          <p:nvPr/>
        </p:nvSpPr>
        <p:spPr>
          <a:xfrm>
            <a:off x="4224528" y="4582758"/>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$234.48</a:t>
            </a:r>
            <a:endParaRPr lang="en-US" sz="1200" dirty="0"/>
          </a:p>
        </p:txBody>
      </p:sp>
      <p:sp>
        <p:nvSpPr>
          <p:cNvPr id="82" name="Text 80"/>
          <p:cNvSpPr txBox="1"/>
          <p:nvPr/>
        </p:nvSpPr>
        <p:spPr>
          <a:xfrm>
            <a:off x="5010912" y="4582758"/>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$294.87</a:t>
            </a:r>
            <a:endParaRPr lang="en-US" sz="1200" dirty="0"/>
          </a:p>
        </p:txBody>
      </p:sp>
      <p:sp>
        <p:nvSpPr>
          <p:cNvPr id="83" name="Text 81"/>
          <p:cNvSpPr txBox="1"/>
          <p:nvPr/>
        </p:nvSpPr>
        <p:spPr>
          <a:xfrm>
            <a:off x="658368"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84" name="Text 82"/>
          <p:cNvSpPr txBox="1"/>
          <p:nvPr/>
        </p:nvSpPr>
        <p:spPr>
          <a:xfrm>
            <a:off x="1014984"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85" name="Shape 83"/>
          <p:cNvSpPr/>
          <p:nvPr/>
        </p:nvSpPr>
        <p:spPr>
          <a:xfrm>
            <a:off x="3008376" y="4862456"/>
            <a:ext cx="297217" cy="111880"/>
          </a:xfrm>
          <a:prstGeom prst="rect">
            <a:avLst/>
          </a:prstGeom>
          <a:solidFill>
            <a:srgbClr val="12A566"/>
          </a:solidFill>
          <a:ln/>
        </p:spPr>
      </p:sp>
      <p:sp>
        <p:nvSpPr>
          <p:cNvPr id="86" name="Text 84"/>
          <p:cNvSpPr txBox="1"/>
          <p:nvPr/>
        </p:nvSpPr>
        <p:spPr>
          <a:xfrm>
            <a:off x="3547872" y="4806517"/>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78.9%</a:t>
            </a:r>
            <a:endParaRPr lang="en-US" sz="1200" dirty="0"/>
          </a:p>
        </p:txBody>
      </p:sp>
      <p:sp>
        <p:nvSpPr>
          <p:cNvPr id="87" name="Text 85"/>
          <p:cNvSpPr txBox="1"/>
          <p:nvPr/>
        </p:nvSpPr>
        <p:spPr>
          <a:xfrm>
            <a:off x="4224528" y="4806517"/>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$146.04</a:t>
            </a:r>
            <a:endParaRPr lang="en-US" sz="1200" dirty="0"/>
          </a:p>
        </p:txBody>
      </p:sp>
      <p:sp>
        <p:nvSpPr>
          <p:cNvPr id="88" name="Text 86"/>
          <p:cNvSpPr txBox="1"/>
          <p:nvPr/>
        </p:nvSpPr>
        <p:spPr>
          <a:xfrm>
            <a:off x="5010912" y="4806517"/>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$185.00</a:t>
            </a:r>
            <a:endParaRPr lang="en-US" sz="1200" dirty="0"/>
          </a:p>
        </p:txBody>
      </p:sp>
      <p:sp>
        <p:nvSpPr>
          <p:cNvPr id="89" name="Text 87"/>
          <p:cNvSpPr txBox="1"/>
          <p:nvPr/>
        </p:nvSpPr>
        <p:spPr>
          <a:xfrm>
            <a:off x="658368"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0" name="Text 88"/>
          <p:cNvSpPr txBox="1"/>
          <p:nvPr/>
        </p:nvSpPr>
        <p:spPr>
          <a:xfrm>
            <a:off x="1014984"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91" name="Shape 89"/>
          <p:cNvSpPr/>
          <p:nvPr/>
        </p:nvSpPr>
        <p:spPr>
          <a:xfrm>
            <a:off x="3008376" y="5086216"/>
            <a:ext cx="297178" cy="111880"/>
          </a:xfrm>
          <a:prstGeom prst="rect">
            <a:avLst/>
          </a:prstGeom>
          <a:solidFill>
            <a:srgbClr val="12A566"/>
          </a:solidFill>
          <a:ln/>
        </p:spPr>
      </p:sp>
      <p:sp>
        <p:nvSpPr>
          <p:cNvPr id="92" name="Text 90"/>
          <p:cNvSpPr txBox="1"/>
          <p:nvPr/>
        </p:nvSpPr>
        <p:spPr>
          <a:xfrm>
            <a:off x="3547872" y="5030276"/>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78.9%</a:t>
            </a:r>
            <a:endParaRPr lang="en-US" sz="1200" dirty="0"/>
          </a:p>
        </p:txBody>
      </p:sp>
      <p:sp>
        <p:nvSpPr>
          <p:cNvPr id="93" name="Text 91"/>
          <p:cNvSpPr txBox="1"/>
          <p:nvPr/>
        </p:nvSpPr>
        <p:spPr>
          <a:xfrm>
            <a:off x="4224528" y="5030276"/>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$165.67</a:t>
            </a:r>
            <a:endParaRPr lang="en-US" sz="1200" dirty="0"/>
          </a:p>
        </p:txBody>
      </p:sp>
      <p:sp>
        <p:nvSpPr>
          <p:cNvPr id="94" name="Text 92"/>
          <p:cNvSpPr txBox="1"/>
          <p:nvPr/>
        </p:nvSpPr>
        <p:spPr>
          <a:xfrm>
            <a:off x="5010912" y="5030276"/>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$209.87</a:t>
            </a:r>
            <a:endParaRPr lang="en-US" sz="1200" dirty="0"/>
          </a:p>
        </p:txBody>
      </p:sp>
      <p:sp>
        <p:nvSpPr>
          <p:cNvPr id="95" name="Text 93"/>
          <p:cNvSpPr txBox="1"/>
          <p:nvPr/>
        </p:nvSpPr>
        <p:spPr>
          <a:xfrm>
            <a:off x="658368"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96" name="Text 94"/>
          <p:cNvSpPr txBox="1"/>
          <p:nvPr/>
        </p:nvSpPr>
        <p:spPr>
          <a:xfrm>
            <a:off x="1014984"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97" name="Shape 95"/>
          <p:cNvSpPr/>
          <p:nvPr/>
        </p:nvSpPr>
        <p:spPr>
          <a:xfrm>
            <a:off x="3008376" y="5309975"/>
            <a:ext cx="293912" cy="111880"/>
          </a:xfrm>
          <a:prstGeom prst="rect">
            <a:avLst/>
          </a:prstGeom>
          <a:solidFill>
            <a:srgbClr val="12A566"/>
          </a:solidFill>
          <a:ln/>
        </p:spPr>
      </p:sp>
      <p:sp>
        <p:nvSpPr>
          <p:cNvPr id="98" name="Text 96"/>
          <p:cNvSpPr txBox="1"/>
          <p:nvPr/>
        </p:nvSpPr>
        <p:spPr>
          <a:xfrm>
            <a:off x="3547872" y="5254035"/>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78.5%</a:t>
            </a:r>
            <a:endParaRPr lang="en-US" sz="1200" dirty="0"/>
          </a:p>
        </p:txBody>
      </p:sp>
      <p:sp>
        <p:nvSpPr>
          <p:cNvPr id="99" name="Text 97"/>
          <p:cNvSpPr txBox="1"/>
          <p:nvPr/>
        </p:nvSpPr>
        <p:spPr>
          <a:xfrm>
            <a:off x="4224528" y="5254035"/>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$160.84</a:t>
            </a:r>
            <a:endParaRPr lang="en-US" sz="1200" dirty="0"/>
          </a:p>
        </p:txBody>
      </p:sp>
      <p:sp>
        <p:nvSpPr>
          <p:cNvPr id="100" name="Text 98"/>
          <p:cNvSpPr txBox="1"/>
          <p:nvPr/>
        </p:nvSpPr>
        <p:spPr>
          <a:xfrm>
            <a:off x="5010912" y="5254035"/>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$204.87</a:t>
            </a:r>
            <a:endParaRPr lang="en-US" sz="1200" dirty="0"/>
          </a:p>
        </p:txBody>
      </p:sp>
      <p:sp>
        <p:nvSpPr>
          <p:cNvPr id="101" name="Text 99"/>
          <p:cNvSpPr txBox="1"/>
          <p:nvPr/>
        </p:nvSpPr>
        <p:spPr>
          <a:xfrm>
            <a:off x="658368"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2" name="Text 100"/>
          <p:cNvSpPr txBox="1"/>
          <p:nvPr/>
        </p:nvSpPr>
        <p:spPr>
          <a:xfrm>
            <a:off x="1014984"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03" name="Shape 101"/>
          <p:cNvSpPr/>
          <p:nvPr/>
        </p:nvSpPr>
        <p:spPr>
          <a:xfrm>
            <a:off x="3008376" y="5533734"/>
            <a:ext cx="280511" cy="111880"/>
          </a:xfrm>
          <a:prstGeom prst="rect">
            <a:avLst/>
          </a:prstGeom>
          <a:solidFill>
            <a:srgbClr val="12A566"/>
          </a:solidFill>
          <a:ln/>
        </p:spPr>
      </p:sp>
      <p:sp>
        <p:nvSpPr>
          <p:cNvPr id="104" name="Text 102"/>
          <p:cNvSpPr txBox="1"/>
          <p:nvPr/>
        </p:nvSpPr>
        <p:spPr>
          <a:xfrm>
            <a:off x="3547872" y="5477794"/>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76.7%</a:t>
            </a:r>
            <a:endParaRPr lang="en-US" sz="1200" dirty="0"/>
          </a:p>
        </p:txBody>
      </p:sp>
      <p:sp>
        <p:nvSpPr>
          <p:cNvPr id="105" name="Text 103"/>
          <p:cNvSpPr txBox="1"/>
          <p:nvPr/>
        </p:nvSpPr>
        <p:spPr>
          <a:xfrm>
            <a:off x="4224528" y="5477794"/>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$141.89</a:t>
            </a:r>
            <a:endParaRPr lang="en-US" sz="1200" dirty="0"/>
          </a:p>
        </p:txBody>
      </p:sp>
      <p:sp>
        <p:nvSpPr>
          <p:cNvPr id="106" name="Text 104"/>
          <p:cNvSpPr txBox="1"/>
          <p:nvPr/>
        </p:nvSpPr>
        <p:spPr>
          <a:xfrm>
            <a:off x="5010912" y="5477794"/>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$184.87</a:t>
            </a:r>
            <a:endParaRPr lang="en-US" sz="1200" dirty="0"/>
          </a:p>
        </p:txBody>
      </p:sp>
      <p:sp>
        <p:nvSpPr>
          <p:cNvPr id="107" name="Text 105"/>
          <p:cNvSpPr txBox="1"/>
          <p:nvPr/>
        </p:nvSpPr>
        <p:spPr>
          <a:xfrm>
            <a:off x="658368" y="570155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8" name="Text 106"/>
          <p:cNvSpPr txBox="1"/>
          <p:nvPr/>
        </p:nvSpPr>
        <p:spPr>
          <a:xfrm>
            <a:off x="1014984" y="570155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09" name="Shape 107"/>
          <p:cNvSpPr/>
          <p:nvPr/>
        </p:nvSpPr>
        <p:spPr>
          <a:xfrm>
            <a:off x="3008376" y="5757493"/>
            <a:ext cx="278222" cy="111880"/>
          </a:xfrm>
          <a:prstGeom prst="rect">
            <a:avLst/>
          </a:prstGeom>
          <a:solidFill>
            <a:srgbClr val="12A566"/>
          </a:solidFill>
          <a:ln/>
        </p:spPr>
      </p:sp>
      <p:sp>
        <p:nvSpPr>
          <p:cNvPr id="110" name="Text 108"/>
          <p:cNvSpPr txBox="1"/>
          <p:nvPr/>
        </p:nvSpPr>
        <p:spPr>
          <a:xfrm>
            <a:off x="3547872" y="5701553"/>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76.4%</a:t>
            </a:r>
            <a:endParaRPr lang="en-US" sz="1200" dirty="0"/>
          </a:p>
        </p:txBody>
      </p:sp>
      <p:sp>
        <p:nvSpPr>
          <p:cNvPr id="111" name="Text 109"/>
          <p:cNvSpPr txBox="1"/>
          <p:nvPr/>
        </p:nvSpPr>
        <p:spPr>
          <a:xfrm>
            <a:off x="4224528" y="5701553"/>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$266.72</a:t>
            </a:r>
            <a:endParaRPr lang="en-US" sz="1200" dirty="0"/>
          </a:p>
        </p:txBody>
      </p:sp>
      <p:sp>
        <p:nvSpPr>
          <p:cNvPr id="112" name="Text 110"/>
          <p:cNvSpPr txBox="1"/>
          <p:nvPr/>
        </p:nvSpPr>
        <p:spPr>
          <a:xfrm>
            <a:off x="5010912" y="5701553"/>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$348.87</a:t>
            </a:r>
            <a:endParaRPr lang="en-US" sz="1200" dirty="0"/>
          </a:p>
        </p:txBody>
      </p:sp>
      <p:sp>
        <p:nvSpPr>
          <p:cNvPr id="113" name="Text 111"/>
          <p:cNvSpPr txBox="1"/>
          <p:nvPr/>
        </p:nvSpPr>
        <p:spPr>
          <a:xfrm>
            <a:off x="6208776"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14" name="Text 112"/>
          <p:cNvSpPr txBox="1"/>
          <p:nvPr/>
        </p:nvSpPr>
        <p:spPr>
          <a:xfrm>
            <a:off x="6565392"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15" name="Shape 113"/>
          <p:cNvSpPr/>
          <p:nvPr/>
        </p:nvSpPr>
        <p:spPr>
          <a:xfrm>
            <a:off x="8558784" y="2177348"/>
            <a:ext cx="270524" cy="111880"/>
          </a:xfrm>
          <a:prstGeom prst="rect">
            <a:avLst/>
          </a:prstGeom>
          <a:solidFill>
            <a:srgbClr val="12A566"/>
          </a:solidFill>
          <a:ln/>
        </p:spPr>
      </p:sp>
      <p:sp>
        <p:nvSpPr>
          <p:cNvPr id="116" name="Text 114"/>
          <p:cNvSpPr txBox="1"/>
          <p:nvPr/>
        </p:nvSpPr>
        <p:spPr>
          <a:xfrm>
            <a:off x="9098280" y="2121408"/>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75.4%</a:t>
            </a:r>
            <a:endParaRPr lang="en-US" sz="1200" dirty="0"/>
          </a:p>
        </p:txBody>
      </p:sp>
      <p:sp>
        <p:nvSpPr>
          <p:cNvPr id="117" name="Text 115"/>
          <p:cNvSpPr txBox="1"/>
          <p:nvPr/>
        </p:nvSpPr>
        <p:spPr>
          <a:xfrm>
            <a:off x="9774936" y="2121408"/>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$233.88</a:t>
            </a:r>
            <a:endParaRPr lang="en-US" sz="1200" dirty="0"/>
          </a:p>
        </p:txBody>
      </p:sp>
      <p:sp>
        <p:nvSpPr>
          <p:cNvPr id="118" name="Text 116"/>
          <p:cNvSpPr txBox="1"/>
          <p:nvPr/>
        </p:nvSpPr>
        <p:spPr>
          <a:xfrm>
            <a:off x="10561320" y="2121408"/>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$310.00</a:t>
            </a:r>
            <a:endParaRPr lang="en-US" sz="1200" dirty="0"/>
          </a:p>
        </p:txBody>
      </p:sp>
      <p:sp>
        <p:nvSpPr>
          <p:cNvPr id="119" name="Text 117"/>
          <p:cNvSpPr txBox="1"/>
          <p:nvPr/>
        </p:nvSpPr>
        <p:spPr>
          <a:xfrm>
            <a:off x="6208776"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0" name="Text 118"/>
          <p:cNvSpPr txBox="1"/>
          <p:nvPr/>
        </p:nvSpPr>
        <p:spPr>
          <a:xfrm>
            <a:off x="6565392"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21" name="Shape 119"/>
          <p:cNvSpPr/>
          <p:nvPr/>
        </p:nvSpPr>
        <p:spPr>
          <a:xfrm>
            <a:off x="8558784" y="2401107"/>
            <a:ext cx="269235" cy="111880"/>
          </a:xfrm>
          <a:prstGeom prst="rect">
            <a:avLst/>
          </a:prstGeom>
          <a:solidFill>
            <a:srgbClr val="12A566"/>
          </a:solidFill>
          <a:ln/>
        </p:spPr>
      </p:sp>
      <p:sp>
        <p:nvSpPr>
          <p:cNvPr id="122" name="Text 120"/>
          <p:cNvSpPr txBox="1"/>
          <p:nvPr/>
        </p:nvSpPr>
        <p:spPr>
          <a:xfrm>
            <a:off x="9098280" y="2345167"/>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75.2%</a:t>
            </a:r>
            <a:endParaRPr lang="en-US" sz="1200" dirty="0"/>
          </a:p>
        </p:txBody>
      </p:sp>
      <p:sp>
        <p:nvSpPr>
          <p:cNvPr id="123" name="Text 121"/>
          <p:cNvSpPr txBox="1"/>
          <p:nvPr/>
        </p:nvSpPr>
        <p:spPr>
          <a:xfrm>
            <a:off x="9774936" y="2345167"/>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$162.12</a:t>
            </a:r>
            <a:endParaRPr lang="en-US" sz="1200" dirty="0"/>
          </a:p>
        </p:txBody>
      </p:sp>
      <p:sp>
        <p:nvSpPr>
          <p:cNvPr id="124" name="Text 122"/>
          <p:cNvSpPr txBox="1"/>
          <p:nvPr/>
        </p:nvSpPr>
        <p:spPr>
          <a:xfrm>
            <a:off x="10561320" y="2345167"/>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$215.37</a:t>
            </a:r>
            <a:endParaRPr lang="en-US" sz="1200" dirty="0"/>
          </a:p>
        </p:txBody>
      </p:sp>
      <p:sp>
        <p:nvSpPr>
          <p:cNvPr id="125" name="Text 123"/>
          <p:cNvSpPr txBox="1"/>
          <p:nvPr/>
        </p:nvSpPr>
        <p:spPr>
          <a:xfrm>
            <a:off x="6208776"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6" name="Text 124"/>
          <p:cNvSpPr txBox="1"/>
          <p:nvPr/>
        </p:nvSpPr>
        <p:spPr>
          <a:xfrm>
            <a:off x="6565392"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27" name="Shape 125"/>
          <p:cNvSpPr/>
          <p:nvPr/>
        </p:nvSpPr>
        <p:spPr>
          <a:xfrm>
            <a:off x="8558784" y="2624866"/>
            <a:ext cx="267891" cy="111880"/>
          </a:xfrm>
          <a:prstGeom prst="rect">
            <a:avLst/>
          </a:prstGeom>
          <a:solidFill>
            <a:srgbClr val="12A566"/>
          </a:solidFill>
          <a:ln/>
        </p:spPr>
      </p:sp>
      <p:sp>
        <p:nvSpPr>
          <p:cNvPr id="128" name="Text 126"/>
          <p:cNvSpPr txBox="1"/>
          <p:nvPr/>
        </p:nvSpPr>
        <p:spPr>
          <a:xfrm>
            <a:off x="9098280" y="2568926"/>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75.1%</a:t>
            </a:r>
            <a:endParaRPr lang="en-US" sz="1200" dirty="0"/>
          </a:p>
        </p:txBody>
      </p:sp>
      <p:sp>
        <p:nvSpPr>
          <p:cNvPr id="129" name="Text 127"/>
          <p:cNvSpPr txBox="1"/>
          <p:nvPr/>
        </p:nvSpPr>
        <p:spPr>
          <a:xfrm>
            <a:off x="9774936" y="2568926"/>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$180.14</a:t>
            </a:r>
            <a:endParaRPr lang="en-US" sz="1200" dirty="0"/>
          </a:p>
        </p:txBody>
      </p:sp>
      <p:sp>
        <p:nvSpPr>
          <p:cNvPr id="130" name="Text 128"/>
          <p:cNvSpPr txBox="1"/>
          <p:nvPr/>
        </p:nvSpPr>
        <p:spPr>
          <a:xfrm>
            <a:off x="10561320" y="2568926"/>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$239.87</a:t>
            </a:r>
            <a:endParaRPr lang="en-US" sz="1200" dirty="0"/>
          </a:p>
        </p:txBody>
      </p:sp>
      <p:sp>
        <p:nvSpPr>
          <p:cNvPr id="131" name="Text 129"/>
          <p:cNvSpPr txBox="1"/>
          <p:nvPr/>
        </p:nvSpPr>
        <p:spPr>
          <a:xfrm>
            <a:off x="6208776"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2" name="Text 130"/>
          <p:cNvSpPr txBox="1"/>
          <p:nvPr/>
        </p:nvSpPr>
        <p:spPr>
          <a:xfrm>
            <a:off x="6565392"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33" name="Shape 131"/>
          <p:cNvSpPr/>
          <p:nvPr/>
        </p:nvSpPr>
        <p:spPr>
          <a:xfrm>
            <a:off x="8558784" y="2848625"/>
            <a:ext cx="267180" cy="111880"/>
          </a:xfrm>
          <a:prstGeom prst="rect">
            <a:avLst/>
          </a:prstGeom>
          <a:solidFill>
            <a:srgbClr val="12A566"/>
          </a:solidFill>
          <a:ln/>
        </p:spPr>
      </p:sp>
      <p:sp>
        <p:nvSpPr>
          <p:cNvPr id="134" name="Text 132"/>
          <p:cNvSpPr txBox="1"/>
          <p:nvPr/>
        </p:nvSpPr>
        <p:spPr>
          <a:xfrm>
            <a:off x="9098280" y="2792685"/>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75.0%</a:t>
            </a:r>
            <a:endParaRPr lang="en-US" sz="1200" dirty="0"/>
          </a:p>
        </p:txBody>
      </p:sp>
      <p:sp>
        <p:nvSpPr>
          <p:cNvPr id="135" name="Text 133"/>
          <p:cNvSpPr txBox="1"/>
          <p:nvPr/>
        </p:nvSpPr>
        <p:spPr>
          <a:xfrm>
            <a:off x="9774936" y="2792685"/>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$142.51</a:t>
            </a:r>
            <a:endParaRPr lang="en-US" sz="1200" dirty="0"/>
          </a:p>
        </p:txBody>
      </p:sp>
      <p:sp>
        <p:nvSpPr>
          <p:cNvPr id="136" name="Text 134"/>
          <p:cNvSpPr txBox="1"/>
          <p:nvPr/>
        </p:nvSpPr>
        <p:spPr>
          <a:xfrm>
            <a:off x="10561320" y="2792685"/>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$190.00</a:t>
            </a:r>
            <a:endParaRPr lang="en-US" sz="1200" dirty="0"/>
          </a:p>
        </p:txBody>
      </p:sp>
      <p:sp>
        <p:nvSpPr>
          <p:cNvPr id="137" name="Text 135"/>
          <p:cNvSpPr txBox="1"/>
          <p:nvPr/>
        </p:nvSpPr>
        <p:spPr>
          <a:xfrm>
            <a:off x="6208776"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8" name="Text 136"/>
          <p:cNvSpPr txBox="1"/>
          <p:nvPr/>
        </p:nvSpPr>
        <p:spPr>
          <a:xfrm>
            <a:off x="6565392"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9" name="Shape 137"/>
          <p:cNvSpPr/>
          <p:nvPr/>
        </p:nvSpPr>
        <p:spPr>
          <a:xfrm>
            <a:off x="8558784" y="3072384"/>
            <a:ext cx="258698" cy="111880"/>
          </a:xfrm>
          <a:prstGeom prst="rect">
            <a:avLst/>
          </a:prstGeom>
          <a:solidFill>
            <a:srgbClr val="12A566"/>
          </a:solidFill>
          <a:ln/>
        </p:spPr>
      </p:sp>
      <p:sp>
        <p:nvSpPr>
          <p:cNvPr id="140" name="Text 138"/>
          <p:cNvSpPr txBox="1"/>
          <p:nvPr/>
        </p:nvSpPr>
        <p:spPr>
          <a:xfrm>
            <a:off x="9098280" y="3016444"/>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73.8%</a:t>
            </a:r>
            <a:endParaRPr lang="en-US" sz="1200" dirty="0"/>
          </a:p>
        </p:txBody>
      </p:sp>
      <p:sp>
        <p:nvSpPr>
          <p:cNvPr id="141" name="Text 139"/>
          <p:cNvSpPr txBox="1"/>
          <p:nvPr/>
        </p:nvSpPr>
        <p:spPr>
          <a:xfrm>
            <a:off x="9774936" y="3016444"/>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$136.71</a:t>
            </a:r>
            <a:endParaRPr lang="en-US" sz="1200" dirty="0"/>
          </a:p>
        </p:txBody>
      </p:sp>
      <p:sp>
        <p:nvSpPr>
          <p:cNvPr id="142" name="Text 140"/>
          <p:cNvSpPr txBox="1"/>
          <p:nvPr/>
        </p:nvSpPr>
        <p:spPr>
          <a:xfrm>
            <a:off x="10561320" y="3016444"/>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$185.00</a:t>
            </a:r>
            <a:endParaRPr lang="en-US" sz="1200" dirty="0"/>
          </a:p>
        </p:txBody>
      </p:sp>
      <p:sp>
        <p:nvSpPr>
          <p:cNvPr id="143" name="Text 141"/>
          <p:cNvSpPr txBox="1"/>
          <p:nvPr/>
        </p:nvSpPr>
        <p:spPr>
          <a:xfrm>
            <a:off x="6208776"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4" name="Text 142"/>
          <p:cNvSpPr txBox="1"/>
          <p:nvPr/>
        </p:nvSpPr>
        <p:spPr>
          <a:xfrm>
            <a:off x="6565392"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45" name="Shape 143"/>
          <p:cNvSpPr/>
          <p:nvPr/>
        </p:nvSpPr>
        <p:spPr>
          <a:xfrm>
            <a:off x="8558784" y="3296143"/>
            <a:ext cx="253061" cy="111880"/>
          </a:xfrm>
          <a:prstGeom prst="rect">
            <a:avLst/>
          </a:prstGeom>
          <a:solidFill>
            <a:srgbClr val="12A566"/>
          </a:solidFill>
          <a:ln/>
        </p:spPr>
      </p:sp>
      <p:sp>
        <p:nvSpPr>
          <p:cNvPr id="146" name="Text 144"/>
          <p:cNvSpPr txBox="1"/>
          <p:nvPr/>
        </p:nvSpPr>
        <p:spPr>
          <a:xfrm>
            <a:off x="9098280" y="3240203"/>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73.1%</a:t>
            </a:r>
            <a:endParaRPr lang="en-US" sz="1200" dirty="0"/>
          </a:p>
        </p:txBody>
      </p:sp>
      <p:sp>
        <p:nvSpPr>
          <p:cNvPr id="147" name="Text 145"/>
          <p:cNvSpPr txBox="1"/>
          <p:nvPr/>
        </p:nvSpPr>
        <p:spPr>
          <a:xfrm>
            <a:off x="9774936" y="3240203"/>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$154.55</a:t>
            </a:r>
            <a:endParaRPr lang="en-US" sz="1200" dirty="0"/>
          </a:p>
        </p:txBody>
      </p:sp>
      <p:sp>
        <p:nvSpPr>
          <p:cNvPr id="148" name="Text 146"/>
          <p:cNvSpPr txBox="1"/>
          <p:nvPr/>
        </p:nvSpPr>
        <p:spPr>
          <a:xfrm>
            <a:off x="10561320" y="3240203"/>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$211.26</a:t>
            </a:r>
            <a:endParaRPr lang="en-US" sz="1200" dirty="0"/>
          </a:p>
        </p:txBody>
      </p:sp>
      <p:sp>
        <p:nvSpPr>
          <p:cNvPr id="149" name="Text 147"/>
          <p:cNvSpPr txBox="1"/>
          <p:nvPr/>
        </p:nvSpPr>
        <p:spPr>
          <a:xfrm>
            <a:off x="6208776"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0" name="Text 148"/>
          <p:cNvSpPr txBox="1"/>
          <p:nvPr/>
        </p:nvSpPr>
        <p:spPr>
          <a:xfrm>
            <a:off x="6565392"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51" name="Shape 149"/>
          <p:cNvSpPr/>
          <p:nvPr/>
        </p:nvSpPr>
        <p:spPr>
          <a:xfrm>
            <a:off x="8558784" y="3519902"/>
            <a:ext cx="247497" cy="111880"/>
          </a:xfrm>
          <a:prstGeom prst="rect">
            <a:avLst/>
          </a:prstGeom>
          <a:solidFill>
            <a:srgbClr val="12A566"/>
          </a:solidFill>
          <a:ln/>
        </p:spPr>
      </p:sp>
      <p:sp>
        <p:nvSpPr>
          <p:cNvPr id="152" name="Text 150"/>
          <p:cNvSpPr txBox="1"/>
          <p:nvPr/>
        </p:nvSpPr>
        <p:spPr>
          <a:xfrm>
            <a:off x="9098280" y="3463962"/>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72.4%</a:t>
            </a:r>
            <a:endParaRPr lang="en-US" sz="1200" dirty="0"/>
          </a:p>
        </p:txBody>
      </p:sp>
      <p:sp>
        <p:nvSpPr>
          <p:cNvPr id="153" name="Text 151"/>
          <p:cNvSpPr txBox="1"/>
          <p:nvPr/>
        </p:nvSpPr>
        <p:spPr>
          <a:xfrm>
            <a:off x="9774936" y="3463962"/>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$153.45</a:t>
            </a:r>
            <a:endParaRPr lang="en-US" sz="1200" dirty="0"/>
          </a:p>
        </p:txBody>
      </p:sp>
      <p:sp>
        <p:nvSpPr>
          <p:cNvPr id="154" name="Text 152"/>
          <p:cNvSpPr txBox="1"/>
          <p:nvPr/>
        </p:nvSpPr>
        <p:spPr>
          <a:xfrm>
            <a:off x="10561320" y="3463962"/>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$211.87</a:t>
            </a:r>
            <a:endParaRPr lang="en-US" sz="1200" dirty="0"/>
          </a:p>
        </p:txBody>
      </p:sp>
      <p:sp>
        <p:nvSpPr>
          <p:cNvPr id="155" name="Text 153"/>
          <p:cNvSpPr txBox="1"/>
          <p:nvPr/>
        </p:nvSpPr>
        <p:spPr>
          <a:xfrm>
            <a:off x="6208776"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56" name="Text 154"/>
          <p:cNvSpPr txBox="1"/>
          <p:nvPr/>
        </p:nvSpPr>
        <p:spPr>
          <a:xfrm>
            <a:off x="6565392"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57" name="Shape 155"/>
          <p:cNvSpPr/>
          <p:nvPr/>
        </p:nvSpPr>
        <p:spPr>
          <a:xfrm>
            <a:off x="8558784" y="3743661"/>
            <a:ext cx="233966" cy="111880"/>
          </a:xfrm>
          <a:prstGeom prst="rect">
            <a:avLst/>
          </a:prstGeom>
          <a:solidFill>
            <a:srgbClr val="12A566"/>
          </a:solidFill>
          <a:ln/>
        </p:spPr>
      </p:sp>
      <p:sp>
        <p:nvSpPr>
          <p:cNvPr id="158" name="Text 156"/>
          <p:cNvSpPr txBox="1"/>
          <p:nvPr/>
        </p:nvSpPr>
        <p:spPr>
          <a:xfrm>
            <a:off x="9098280" y="3687721"/>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70.6%</a:t>
            </a:r>
            <a:endParaRPr lang="en-US" sz="1200" dirty="0"/>
          </a:p>
        </p:txBody>
      </p:sp>
      <p:sp>
        <p:nvSpPr>
          <p:cNvPr id="159" name="Text 157"/>
          <p:cNvSpPr txBox="1"/>
          <p:nvPr/>
        </p:nvSpPr>
        <p:spPr>
          <a:xfrm>
            <a:off x="9774936" y="3687721"/>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$149.70</a:t>
            </a:r>
            <a:endParaRPr lang="en-US" sz="1200" dirty="0"/>
          </a:p>
        </p:txBody>
      </p:sp>
      <p:sp>
        <p:nvSpPr>
          <p:cNvPr id="160" name="Text 158"/>
          <p:cNvSpPr txBox="1"/>
          <p:nvPr/>
        </p:nvSpPr>
        <p:spPr>
          <a:xfrm>
            <a:off x="10561320" y="3687721"/>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$211.87</a:t>
            </a:r>
            <a:endParaRPr lang="en-US" sz="1200" dirty="0"/>
          </a:p>
        </p:txBody>
      </p:sp>
      <p:sp>
        <p:nvSpPr>
          <p:cNvPr id="161" name="Text 159"/>
          <p:cNvSpPr txBox="1"/>
          <p:nvPr/>
        </p:nvSpPr>
        <p:spPr>
          <a:xfrm>
            <a:off x="6208776"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2" name="Text 160"/>
          <p:cNvSpPr txBox="1"/>
          <p:nvPr/>
        </p:nvSpPr>
        <p:spPr>
          <a:xfrm>
            <a:off x="6565392"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63" name="Shape 161"/>
          <p:cNvSpPr/>
          <p:nvPr/>
        </p:nvSpPr>
        <p:spPr>
          <a:xfrm>
            <a:off x="8558784" y="3967420"/>
            <a:ext cx="217907" cy="111880"/>
          </a:xfrm>
          <a:prstGeom prst="rect">
            <a:avLst/>
          </a:prstGeom>
          <a:solidFill>
            <a:srgbClr val="C2352F"/>
          </a:solidFill>
          <a:ln/>
        </p:spPr>
      </p:sp>
      <p:sp>
        <p:nvSpPr>
          <p:cNvPr id="164" name="Text 162"/>
          <p:cNvSpPr txBox="1"/>
          <p:nvPr/>
        </p:nvSpPr>
        <p:spPr>
          <a:xfrm>
            <a:off x="9098280" y="3911480"/>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68.5%</a:t>
            </a:r>
            <a:endParaRPr lang="en-US" sz="1200" dirty="0"/>
          </a:p>
        </p:txBody>
      </p:sp>
      <p:sp>
        <p:nvSpPr>
          <p:cNvPr id="165" name="Text 163"/>
          <p:cNvSpPr txBox="1"/>
          <p:nvPr/>
        </p:nvSpPr>
        <p:spPr>
          <a:xfrm>
            <a:off x="9774936" y="3911480"/>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$150.72</a:t>
            </a:r>
            <a:endParaRPr lang="en-US" sz="1200" dirty="0"/>
          </a:p>
        </p:txBody>
      </p:sp>
      <p:sp>
        <p:nvSpPr>
          <p:cNvPr id="166" name="Text 164"/>
          <p:cNvSpPr txBox="1"/>
          <p:nvPr/>
        </p:nvSpPr>
        <p:spPr>
          <a:xfrm>
            <a:off x="10561320" y="3911480"/>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$219.87</a:t>
            </a:r>
            <a:endParaRPr lang="en-US" sz="1200" dirty="0"/>
          </a:p>
        </p:txBody>
      </p:sp>
      <p:sp>
        <p:nvSpPr>
          <p:cNvPr id="167" name="Text 165"/>
          <p:cNvSpPr txBox="1"/>
          <p:nvPr/>
        </p:nvSpPr>
        <p:spPr>
          <a:xfrm>
            <a:off x="6208776"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68" name="Text 166"/>
          <p:cNvSpPr txBox="1"/>
          <p:nvPr/>
        </p:nvSpPr>
        <p:spPr>
          <a:xfrm>
            <a:off x="6565392"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69" name="Shape 167"/>
          <p:cNvSpPr/>
          <p:nvPr/>
        </p:nvSpPr>
        <p:spPr>
          <a:xfrm>
            <a:off x="8558784" y="4191179"/>
            <a:ext cx="215917" cy="111880"/>
          </a:xfrm>
          <a:prstGeom prst="rect">
            <a:avLst/>
          </a:prstGeom>
          <a:solidFill>
            <a:srgbClr val="C2352F"/>
          </a:solidFill>
          <a:ln/>
        </p:spPr>
      </p:sp>
      <p:sp>
        <p:nvSpPr>
          <p:cNvPr id="170" name="Text 168"/>
          <p:cNvSpPr txBox="1"/>
          <p:nvPr/>
        </p:nvSpPr>
        <p:spPr>
          <a:xfrm>
            <a:off x="9098280" y="4135240"/>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68.2%</a:t>
            </a:r>
            <a:endParaRPr lang="en-US" sz="1200" dirty="0"/>
          </a:p>
        </p:txBody>
      </p:sp>
      <p:sp>
        <p:nvSpPr>
          <p:cNvPr id="171" name="Text 169"/>
          <p:cNvSpPr txBox="1"/>
          <p:nvPr/>
        </p:nvSpPr>
        <p:spPr>
          <a:xfrm>
            <a:off x="9774936" y="4135240"/>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$167.22</a:t>
            </a:r>
            <a:endParaRPr lang="en-US" sz="1200" dirty="0"/>
          </a:p>
        </p:txBody>
      </p:sp>
      <p:sp>
        <p:nvSpPr>
          <p:cNvPr id="172" name="Text 170"/>
          <p:cNvSpPr txBox="1"/>
          <p:nvPr/>
        </p:nvSpPr>
        <p:spPr>
          <a:xfrm>
            <a:off x="10561320" y="4135240"/>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$244.87</a:t>
            </a:r>
            <a:endParaRPr lang="en-US" sz="1200" dirty="0"/>
          </a:p>
        </p:txBody>
      </p:sp>
      <p:sp>
        <p:nvSpPr>
          <p:cNvPr id="173" name="Text 171"/>
          <p:cNvSpPr txBox="1"/>
          <p:nvPr/>
        </p:nvSpPr>
        <p:spPr>
          <a:xfrm>
            <a:off x="6208776"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74" name="Text 172"/>
          <p:cNvSpPr txBox="1"/>
          <p:nvPr/>
        </p:nvSpPr>
        <p:spPr>
          <a:xfrm>
            <a:off x="6565392"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75" name="Shape 173"/>
          <p:cNvSpPr/>
          <p:nvPr/>
        </p:nvSpPr>
        <p:spPr>
          <a:xfrm>
            <a:off x="8558784" y="4414938"/>
            <a:ext cx="210082" cy="111880"/>
          </a:xfrm>
          <a:prstGeom prst="rect">
            <a:avLst/>
          </a:prstGeom>
          <a:solidFill>
            <a:srgbClr val="C2352F"/>
          </a:solidFill>
          <a:ln/>
        </p:spPr>
      </p:sp>
      <p:sp>
        <p:nvSpPr>
          <p:cNvPr id="176" name="Text 174"/>
          <p:cNvSpPr txBox="1"/>
          <p:nvPr/>
        </p:nvSpPr>
        <p:spPr>
          <a:xfrm>
            <a:off x="9098280" y="4358999"/>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67.5%</a:t>
            </a:r>
            <a:endParaRPr lang="en-US" sz="1200" dirty="0"/>
          </a:p>
        </p:txBody>
      </p:sp>
      <p:sp>
        <p:nvSpPr>
          <p:cNvPr id="177" name="Text 175"/>
          <p:cNvSpPr txBox="1"/>
          <p:nvPr/>
        </p:nvSpPr>
        <p:spPr>
          <a:xfrm>
            <a:off x="9774936" y="4358999"/>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$124.92</a:t>
            </a:r>
            <a:endParaRPr lang="en-US" sz="1200" dirty="0"/>
          </a:p>
        </p:txBody>
      </p:sp>
      <p:sp>
        <p:nvSpPr>
          <p:cNvPr id="178" name="Text 176"/>
          <p:cNvSpPr txBox="1"/>
          <p:nvPr/>
        </p:nvSpPr>
        <p:spPr>
          <a:xfrm>
            <a:off x="10561320" y="4358999"/>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$185.00</a:t>
            </a:r>
            <a:endParaRPr lang="en-US" sz="1200" dirty="0"/>
          </a:p>
        </p:txBody>
      </p:sp>
      <p:sp>
        <p:nvSpPr>
          <p:cNvPr id="179" name="Text 177"/>
          <p:cNvSpPr txBox="1"/>
          <p:nvPr/>
        </p:nvSpPr>
        <p:spPr>
          <a:xfrm>
            <a:off x="6208776"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0" name="Text 178"/>
          <p:cNvSpPr txBox="1"/>
          <p:nvPr/>
        </p:nvSpPr>
        <p:spPr>
          <a:xfrm>
            <a:off x="6565392"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81" name="Shape 179"/>
          <p:cNvSpPr/>
          <p:nvPr/>
        </p:nvSpPr>
        <p:spPr>
          <a:xfrm>
            <a:off x="8558784" y="4638697"/>
            <a:ext cx="204414" cy="111880"/>
          </a:xfrm>
          <a:prstGeom prst="rect">
            <a:avLst/>
          </a:prstGeom>
          <a:solidFill>
            <a:srgbClr val="C2352F"/>
          </a:solidFill>
          <a:ln/>
        </p:spPr>
      </p:sp>
      <p:sp>
        <p:nvSpPr>
          <p:cNvPr id="182" name="Text 180"/>
          <p:cNvSpPr txBox="1"/>
          <p:nvPr/>
        </p:nvSpPr>
        <p:spPr>
          <a:xfrm>
            <a:off x="9098280" y="4582758"/>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66.7%</a:t>
            </a:r>
            <a:endParaRPr lang="en-US" sz="1200" dirty="0"/>
          </a:p>
        </p:txBody>
      </p:sp>
      <p:sp>
        <p:nvSpPr>
          <p:cNvPr id="183" name="Text 181"/>
          <p:cNvSpPr txBox="1"/>
          <p:nvPr/>
        </p:nvSpPr>
        <p:spPr>
          <a:xfrm>
            <a:off x="9774936" y="4582758"/>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$146.92</a:t>
            </a:r>
            <a:endParaRPr lang="en-US" sz="1200" dirty="0"/>
          </a:p>
        </p:txBody>
      </p:sp>
      <p:sp>
        <p:nvSpPr>
          <p:cNvPr id="184" name="Text 182"/>
          <p:cNvSpPr txBox="1"/>
          <p:nvPr/>
        </p:nvSpPr>
        <p:spPr>
          <a:xfrm>
            <a:off x="10561320" y="4582758"/>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$220.00</a:t>
            </a:r>
            <a:endParaRPr lang="en-US" sz="1200" dirty="0"/>
          </a:p>
        </p:txBody>
      </p:sp>
      <p:sp>
        <p:nvSpPr>
          <p:cNvPr id="185" name="Text 183"/>
          <p:cNvSpPr txBox="1"/>
          <p:nvPr/>
        </p:nvSpPr>
        <p:spPr>
          <a:xfrm>
            <a:off x="6208776"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86" name="Text 184"/>
          <p:cNvSpPr txBox="1"/>
          <p:nvPr/>
        </p:nvSpPr>
        <p:spPr>
          <a:xfrm>
            <a:off x="6565392"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87" name="Shape 185"/>
          <p:cNvSpPr/>
          <p:nvPr/>
        </p:nvSpPr>
        <p:spPr>
          <a:xfrm>
            <a:off x="8558784" y="4862456"/>
            <a:ext cx="202819" cy="111880"/>
          </a:xfrm>
          <a:prstGeom prst="rect">
            <a:avLst/>
          </a:prstGeom>
          <a:solidFill>
            <a:srgbClr val="C2352F"/>
          </a:solidFill>
          <a:ln/>
        </p:spPr>
      </p:sp>
      <p:sp>
        <p:nvSpPr>
          <p:cNvPr id="188" name="Text 186"/>
          <p:cNvSpPr txBox="1"/>
          <p:nvPr/>
        </p:nvSpPr>
        <p:spPr>
          <a:xfrm>
            <a:off x="9098280" y="4806517"/>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66.5%</a:t>
            </a:r>
            <a:endParaRPr lang="en-US" sz="1200" dirty="0"/>
          </a:p>
        </p:txBody>
      </p:sp>
      <p:sp>
        <p:nvSpPr>
          <p:cNvPr id="189" name="Text 187"/>
          <p:cNvSpPr txBox="1"/>
          <p:nvPr/>
        </p:nvSpPr>
        <p:spPr>
          <a:xfrm>
            <a:off x="9774936" y="4806517"/>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$139.81</a:t>
            </a:r>
            <a:endParaRPr lang="en-US" sz="1200" dirty="0"/>
          </a:p>
        </p:txBody>
      </p:sp>
      <p:sp>
        <p:nvSpPr>
          <p:cNvPr id="190" name="Text 188"/>
          <p:cNvSpPr txBox="1"/>
          <p:nvPr/>
        </p:nvSpPr>
        <p:spPr>
          <a:xfrm>
            <a:off x="10561320" y="4806517"/>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$210.00</a:t>
            </a:r>
            <a:endParaRPr lang="en-US" sz="1200" dirty="0"/>
          </a:p>
        </p:txBody>
      </p:sp>
      <p:sp>
        <p:nvSpPr>
          <p:cNvPr id="191" name="Text 189"/>
          <p:cNvSpPr txBox="1"/>
          <p:nvPr/>
        </p:nvSpPr>
        <p:spPr>
          <a:xfrm>
            <a:off x="6208776"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92" name="Text 190"/>
          <p:cNvSpPr txBox="1"/>
          <p:nvPr/>
        </p:nvSpPr>
        <p:spPr>
          <a:xfrm>
            <a:off x="6565392"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93" name="Shape 191"/>
          <p:cNvSpPr/>
          <p:nvPr/>
        </p:nvSpPr>
        <p:spPr>
          <a:xfrm>
            <a:off x="8558784" y="5086216"/>
            <a:ext cx="191075" cy="111880"/>
          </a:xfrm>
          <a:prstGeom prst="rect">
            <a:avLst/>
          </a:prstGeom>
          <a:solidFill>
            <a:srgbClr val="C2352F"/>
          </a:solidFill>
          <a:ln/>
        </p:spPr>
      </p:sp>
      <p:sp>
        <p:nvSpPr>
          <p:cNvPr id="194" name="Text 192"/>
          <p:cNvSpPr txBox="1"/>
          <p:nvPr/>
        </p:nvSpPr>
        <p:spPr>
          <a:xfrm>
            <a:off x="9098280" y="5030276"/>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65.0%</a:t>
            </a:r>
            <a:endParaRPr lang="en-US" sz="1200" dirty="0"/>
          </a:p>
        </p:txBody>
      </p:sp>
      <p:sp>
        <p:nvSpPr>
          <p:cNvPr id="195" name="Text 193"/>
          <p:cNvSpPr txBox="1"/>
          <p:nvPr/>
        </p:nvSpPr>
        <p:spPr>
          <a:xfrm>
            <a:off x="9774936" y="5030276"/>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$146.25</a:t>
            </a:r>
            <a:endParaRPr lang="en-US" sz="1200" dirty="0"/>
          </a:p>
        </p:txBody>
      </p:sp>
      <p:sp>
        <p:nvSpPr>
          <p:cNvPr id="196" name="Text 194"/>
          <p:cNvSpPr txBox="1"/>
          <p:nvPr/>
        </p:nvSpPr>
        <p:spPr>
          <a:xfrm>
            <a:off x="10561320" y="5030276"/>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$224.87</a:t>
            </a:r>
            <a:endParaRPr lang="en-US" sz="1200" dirty="0"/>
          </a:p>
        </p:txBody>
      </p:sp>
      <p:sp>
        <p:nvSpPr>
          <p:cNvPr id="197" name="Text 195"/>
          <p:cNvSpPr txBox="1"/>
          <p:nvPr/>
        </p:nvSpPr>
        <p:spPr>
          <a:xfrm>
            <a:off x="6208776"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98" name="Text 196"/>
          <p:cNvSpPr txBox="1"/>
          <p:nvPr/>
        </p:nvSpPr>
        <p:spPr>
          <a:xfrm>
            <a:off x="6565392"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99" name="Shape 197"/>
          <p:cNvSpPr/>
          <p:nvPr/>
        </p:nvSpPr>
        <p:spPr>
          <a:xfrm>
            <a:off x="8558784" y="5309975"/>
            <a:ext cx="189432" cy="111880"/>
          </a:xfrm>
          <a:prstGeom prst="rect">
            <a:avLst/>
          </a:prstGeom>
          <a:solidFill>
            <a:srgbClr val="C2352F"/>
          </a:solidFill>
          <a:ln/>
        </p:spPr>
      </p:sp>
      <p:sp>
        <p:nvSpPr>
          <p:cNvPr id="200" name="Text 198"/>
          <p:cNvSpPr txBox="1"/>
          <p:nvPr/>
        </p:nvSpPr>
        <p:spPr>
          <a:xfrm>
            <a:off x="9098280" y="5254035"/>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64.8%</a:t>
            </a:r>
            <a:endParaRPr lang="en-US" sz="1200" dirty="0"/>
          </a:p>
        </p:txBody>
      </p:sp>
      <p:sp>
        <p:nvSpPr>
          <p:cNvPr id="201" name="Text 199"/>
          <p:cNvSpPr txBox="1"/>
          <p:nvPr/>
        </p:nvSpPr>
        <p:spPr>
          <a:xfrm>
            <a:off x="9774936" y="5254035"/>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$136.12</a:t>
            </a:r>
            <a:endParaRPr lang="en-US" sz="1200" dirty="0"/>
          </a:p>
        </p:txBody>
      </p:sp>
      <p:sp>
        <p:nvSpPr>
          <p:cNvPr id="202" name="Text 200"/>
          <p:cNvSpPr txBox="1"/>
          <p:nvPr/>
        </p:nvSpPr>
        <p:spPr>
          <a:xfrm>
            <a:off x="10561320" y="5254035"/>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$210.00</a:t>
            </a:r>
            <a:endParaRPr lang="en-US" sz="1200" dirty="0"/>
          </a:p>
        </p:txBody>
      </p:sp>
      <p:sp>
        <p:nvSpPr>
          <p:cNvPr id="203" name="Text 201"/>
          <p:cNvSpPr txBox="1"/>
          <p:nvPr/>
        </p:nvSpPr>
        <p:spPr>
          <a:xfrm>
            <a:off x="6208776"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04" name="Text 202"/>
          <p:cNvSpPr txBox="1"/>
          <p:nvPr/>
        </p:nvSpPr>
        <p:spPr>
          <a:xfrm>
            <a:off x="6565392"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205" name="Shape 203"/>
          <p:cNvSpPr/>
          <p:nvPr/>
        </p:nvSpPr>
        <p:spPr>
          <a:xfrm>
            <a:off x="8558784" y="5533734"/>
            <a:ext cx="164625" cy="111880"/>
          </a:xfrm>
          <a:prstGeom prst="rect">
            <a:avLst/>
          </a:prstGeom>
          <a:solidFill>
            <a:srgbClr val="C2352F"/>
          </a:solidFill>
          <a:ln/>
        </p:spPr>
      </p:sp>
      <p:sp>
        <p:nvSpPr>
          <p:cNvPr id="206" name="Text 204"/>
          <p:cNvSpPr txBox="1"/>
          <p:nvPr/>
        </p:nvSpPr>
        <p:spPr>
          <a:xfrm>
            <a:off x="9098280" y="5477794"/>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61.5%</a:t>
            </a:r>
            <a:endParaRPr lang="en-US" sz="1200" dirty="0"/>
          </a:p>
        </p:txBody>
      </p:sp>
      <p:sp>
        <p:nvSpPr>
          <p:cNvPr id="207" name="Text 205"/>
          <p:cNvSpPr txBox="1"/>
          <p:nvPr/>
        </p:nvSpPr>
        <p:spPr>
          <a:xfrm>
            <a:off x="9774936" y="5477794"/>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$175.47</a:t>
            </a:r>
            <a:endParaRPr lang="en-US" sz="1200" dirty="0"/>
          </a:p>
        </p:txBody>
      </p:sp>
      <p:sp>
        <p:nvSpPr>
          <p:cNvPr id="208" name="Text 206"/>
          <p:cNvSpPr txBox="1"/>
          <p:nvPr/>
        </p:nvSpPr>
        <p:spPr>
          <a:xfrm>
            <a:off x="10561320" y="5477794"/>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$285.00</a:t>
            </a:r>
            <a:endParaRPr lang="en-US" sz="1200" dirty="0"/>
          </a:p>
        </p:txBody>
      </p:sp>
      <p:sp>
        <p:nvSpPr>
          <p:cNvPr id="209" name="Text 207"/>
          <p:cNvSpPr txBox="1"/>
          <p:nvPr/>
        </p:nvSpPr>
        <p:spPr>
          <a:xfrm>
            <a:off x="3547872" y="1828800"/>
            <a:ext cx="676656"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210" name="Text 208"/>
          <p:cNvSpPr txBox="1"/>
          <p:nvPr/>
        </p:nvSpPr>
        <p:spPr>
          <a:xfrm>
            <a:off x="4224528" y="1828800"/>
            <a:ext cx="786384"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211" name="Text 209"/>
          <p:cNvSpPr txBox="1"/>
          <p:nvPr/>
        </p:nvSpPr>
        <p:spPr>
          <a:xfrm>
            <a:off x="5010912" y="1828800"/>
            <a:ext cx="786384"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212" name="Text 210"/>
          <p:cNvSpPr txBox="1"/>
          <p:nvPr/>
        </p:nvSpPr>
        <p:spPr>
          <a:xfrm>
            <a:off x="9098280" y="1828800"/>
            <a:ext cx="676656"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213" name="Text 211"/>
          <p:cNvSpPr txBox="1"/>
          <p:nvPr/>
        </p:nvSpPr>
        <p:spPr>
          <a:xfrm>
            <a:off x="9774936" y="1828800"/>
            <a:ext cx="786384"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214" name="Text 212"/>
          <p:cNvSpPr txBox="1"/>
          <p:nvPr/>
        </p:nvSpPr>
        <p:spPr>
          <a:xfrm>
            <a:off x="10561320" y="1828800"/>
            <a:ext cx="786384"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215" name="Shape 213"/>
          <p:cNvSpPr/>
          <p:nvPr/>
        </p:nvSpPr>
        <p:spPr>
          <a:xfrm>
            <a:off x="3230026" y="2121408"/>
            <a:ext cx="14630" cy="3803904"/>
          </a:xfrm>
          <a:prstGeom prst="rect">
            <a:avLst/>
          </a:prstGeom>
          <a:solidFill>
            <a:srgbClr val="0B2C4A"/>
          </a:solidFill>
          <a:ln/>
        </p:spPr>
      </p:sp>
      <p:sp>
        <p:nvSpPr>
          <p:cNvPr id="216" name="Shape 214"/>
          <p:cNvSpPr/>
          <p:nvPr/>
        </p:nvSpPr>
        <p:spPr>
          <a:xfrm>
            <a:off x="8780434" y="2121408"/>
            <a:ext cx="14630" cy="3803904"/>
          </a:xfrm>
          <a:prstGeom prst="rect">
            <a:avLst/>
          </a:prstGeom>
          <a:solidFill>
            <a:srgbClr val="0B2C4A"/>
          </a:solidFill>
          <a:ln/>
        </p:spPr>
      </p:sp>
      <p:sp>
        <p:nvSpPr>
          <p:cNvPr id="217" name="Shape 215"/>
          <p:cNvSpPr/>
          <p:nvPr/>
        </p:nvSpPr>
        <p:spPr>
          <a:xfrm>
            <a:off x="6085332" y="2121408"/>
            <a:ext cx="10973" cy="3803904"/>
          </a:xfrm>
          <a:prstGeom prst="rect">
            <a:avLst/>
          </a:prstGeom>
          <a:solidFill>
            <a:srgbClr val="D9D9D9"/>
          </a:solidFill>
          <a:ln/>
        </p:spPr>
      </p:sp>
      <p:sp>
        <p:nvSpPr>
          <p:cNvPr id="218" name="Shape 216"/>
          <p:cNvSpPr/>
          <p:nvPr/>
        </p:nvSpPr>
        <p:spPr>
          <a:xfrm>
            <a:off x="457200" y="6126480"/>
            <a:ext cx="11274552" cy="341376"/>
          </a:xfrm>
          <a:prstGeom prst="rect">
            <a:avLst/>
          </a:prstGeom>
          <a:solidFill>
            <a:srgbClr val="EDF4FA"/>
          </a:solidFill>
          <a:ln/>
        </p:spPr>
      </p:sp>
      <p:sp>
        <p:nvSpPr>
          <p:cNvPr id="219" name="Text 217"/>
          <p:cNvSpPr txBox="1"/>
          <p:nvPr/>
        </p:nvSpPr>
        <p:spPr>
          <a:xfrm>
            <a:off x="658368" y="6144768"/>
            <a:ext cx="10927080" cy="304800"/>
          </a:xfrm>
          <a:prstGeom prst="rect">
            <a:avLst/>
          </a:prstGeom>
          <a:noFill/>
          <a:ln/>
        </p:spPr>
        <p:txBody>
          <a:bodyPr wrap="square" lIns="0" tIns="0" rIns="0" bIns="0" rtlCol="0" anchor="ctr"/>
          <a:lstStyle/>
          <a:p>
            <a:pPr indent="0" marL="0">
              <a:buNone/>
            </a:pPr>
            <a:r>
              <a:rPr lang="en-US" sz="1400" b="1" dirty="0">
                <a:solidFill>
                  <a:srgbClr val="0B2C4A"/>
                </a:solidFill>
                <a:latin typeface="Inter" pitchFamily="34" charset="0"/>
                <a:ea typeface="Inter" pitchFamily="34" charset="-122"/>
                <a:cs typeface="Inter" pitchFamily="34" charset="-120"/>
              </a:rPr>
              <a:t>Jul–Sep: 25 of 33 stores realize at least 70% of door rate; the group is at 74.7%. Cadillac is lowest at 61.5%.</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61747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ELR % OF DOOR RATE</a:t>
            </a:r>
            <a:endParaRPr lang="en-US" sz="1500" dirty="0"/>
          </a:p>
        </p:txBody>
      </p:sp>
      <p:sp>
        <p:nvSpPr>
          <p:cNvPr id="9" name="Text 7"/>
          <p:cNvSpPr txBox="1"/>
          <p:nvPr/>
        </p:nvSpPr>
        <p:spPr>
          <a:xfrm>
            <a:off x="3531870" y="1335024"/>
            <a:ext cx="451485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BENCHMARK 70.0%</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74.7%</a:t>
            </a:r>
            <a:endParaRPr lang="en-US" sz="2000" dirty="0"/>
          </a:p>
        </p:txBody>
      </p:sp>
      <p:sp>
        <p:nvSpPr>
          <p:cNvPr id="11" name="Text 9"/>
          <p:cNvSpPr txBox="1"/>
          <p:nvPr/>
        </p:nvSpPr>
        <p:spPr>
          <a:xfrm>
            <a:off x="658368"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3" name="Shape 11"/>
          <p:cNvSpPr/>
          <p:nvPr/>
        </p:nvSpPr>
        <p:spPr>
          <a:xfrm>
            <a:off x="3008376" y="2177348"/>
            <a:ext cx="429768" cy="111880"/>
          </a:xfrm>
          <a:prstGeom prst="rect">
            <a:avLst/>
          </a:prstGeom>
          <a:solidFill>
            <a:srgbClr val="12A566"/>
          </a:solidFill>
          <a:ln/>
        </p:spPr>
      </p:sp>
      <p:sp>
        <p:nvSpPr>
          <p:cNvPr id="14" name="Text 12"/>
          <p:cNvSpPr txBox="1"/>
          <p:nvPr/>
        </p:nvSpPr>
        <p:spPr>
          <a:xfrm>
            <a:off x="3493008" y="2121408"/>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103.4%</a:t>
            </a:r>
            <a:endParaRPr lang="en-US" sz="1200" dirty="0"/>
          </a:p>
        </p:txBody>
      </p:sp>
      <p:sp>
        <p:nvSpPr>
          <p:cNvPr id="15" name="Text 13"/>
          <p:cNvSpPr txBox="1"/>
          <p:nvPr/>
        </p:nvSpPr>
        <p:spPr>
          <a:xfrm>
            <a:off x="4169664" y="2121408"/>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$244.12</a:t>
            </a:r>
            <a:endParaRPr lang="en-US" sz="1200" dirty="0"/>
          </a:p>
        </p:txBody>
      </p:sp>
      <p:sp>
        <p:nvSpPr>
          <p:cNvPr id="16" name="Text 14"/>
          <p:cNvSpPr txBox="1"/>
          <p:nvPr/>
        </p:nvSpPr>
        <p:spPr>
          <a:xfrm>
            <a:off x="4956048" y="2121408"/>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$165.11</a:t>
            </a:r>
            <a:endParaRPr lang="en-US" sz="1200" dirty="0"/>
          </a:p>
        </p:txBody>
      </p:sp>
      <p:sp>
        <p:nvSpPr>
          <p:cNvPr id="17" name="Text 15"/>
          <p:cNvSpPr txBox="1"/>
          <p:nvPr/>
        </p:nvSpPr>
        <p:spPr>
          <a:xfrm>
            <a:off x="658368"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8" name="Text 16"/>
          <p:cNvSpPr txBox="1"/>
          <p:nvPr/>
        </p:nvSpPr>
        <p:spPr>
          <a:xfrm>
            <a:off x="1014984"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9" name="Shape 17"/>
          <p:cNvSpPr/>
          <p:nvPr/>
        </p:nvSpPr>
        <p:spPr>
          <a:xfrm>
            <a:off x="3008376" y="2401107"/>
            <a:ext cx="339882" cy="111880"/>
          </a:xfrm>
          <a:prstGeom prst="rect">
            <a:avLst/>
          </a:prstGeom>
          <a:solidFill>
            <a:srgbClr val="12A566"/>
          </a:solidFill>
          <a:ln/>
        </p:spPr>
      </p:sp>
      <p:sp>
        <p:nvSpPr>
          <p:cNvPr id="20" name="Text 18"/>
          <p:cNvSpPr txBox="1"/>
          <p:nvPr/>
        </p:nvSpPr>
        <p:spPr>
          <a:xfrm>
            <a:off x="3493008" y="2345167"/>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90.2%</a:t>
            </a:r>
            <a:endParaRPr lang="en-US" sz="1200" dirty="0"/>
          </a:p>
        </p:txBody>
      </p:sp>
      <p:sp>
        <p:nvSpPr>
          <p:cNvPr id="21" name="Text 19"/>
          <p:cNvSpPr txBox="1"/>
          <p:nvPr/>
        </p:nvSpPr>
        <p:spPr>
          <a:xfrm>
            <a:off x="4169664" y="2345167"/>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$225.50</a:t>
            </a:r>
            <a:endParaRPr lang="en-US" sz="1200" dirty="0"/>
          </a:p>
        </p:txBody>
      </p:sp>
      <p:sp>
        <p:nvSpPr>
          <p:cNvPr id="22" name="Text 20"/>
          <p:cNvSpPr txBox="1"/>
          <p:nvPr/>
        </p:nvSpPr>
        <p:spPr>
          <a:xfrm>
            <a:off x="4956048" y="2345167"/>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$174.96</a:t>
            </a:r>
            <a:endParaRPr lang="en-US" sz="1200" dirty="0"/>
          </a:p>
        </p:txBody>
      </p:sp>
      <p:sp>
        <p:nvSpPr>
          <p:cNvPr id="23" name="Text 21"/>
          <p:cNvSpPr txBox="1"/>
          <p:nvPr/>
        </p:nvSpPr>
        <p:spPr>
          <a:xfrm>
            <a:off x="658368"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4" name="Text 22"/>
          <p:cNvSpPr txBox="1"/>
          <p:nvPr/>
        </p:nvSpPr>
        <p:spPr>
          <a:xfrm>
            <a:off x="1014984"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25" name="Shape 23"/>
          <p:cNvSpPr/>
          <p:nvPr/>
        </p:nvSpPr>
        <p:spPr>
          <a:xfrm>
            <a:off x="3008376" y="2624866"/>
            <a:ext cx="338082" cy="111880"/>
          </a:xfrm>
          <a:prstGeom prst="rect">
            <a:avLst/>
          </a:prstGeom>
          <a:solidFill>
            <a:srgbClr val="12A566"/>
          </a:solidFill>
          <a:ln/>
        </p:spPr>
      </p:sp>
      <p:sp>
        <p:nvSpPr>
          <p:cNvPr id="26" name="Text 24"/>
          <p:cNvSpPr txBox="1"/>
          <p:nvPr/>
        </p:nvSpPr>
        <p:spPr>
          <a:xfrm>
            <a:off x="3493008" y="2568926"/>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89.9%</a:t>
            </a:r>
            <a:endParaRPr lang="en-US" sz="1200" dirty="0"/>
          </a:p>
        </p:txBody>
      </p:sp>
      <p:sp>
        <p:nvSpPr>
          <p:cNvPr id="27" name="Text 25"/>
          <p:cNvSpPr txBox="1"/>
          <p:nvPr/>
        </p:nvSpPr>
        <p:spPr>
          <a:xfrm>
            <a:off x="4169664" y="2568926"/>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$161.80</a:t>
            </a:r>
            <a:endParaRPr lang="en-US" sz="1200" dirty="0"/>
          </a:p>
        </p:txBody>
      </p:sp>
      <p:sp>
        <p:nvSpPr>
          <p:cNvPr id="28" name="Text 26"/>
          <p:cNvSpPr txBox="1"/>
          <p:nvPr/>
        </p:nvSpPr>
        <p:spPr>
          <a:xfrm>
            <a:off x="4956048" y="2568926"/>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$125.91</a:t>
            </a:r>
            <a:endParaRPr lang="en-US" sz="1200" dirty="0"/>
          </a:p>
        </p:txBody>
      </p:sp>
      <p:sp>
        <p:nvSpPr>
          <p:cNvPr id="29" name="Text 27"/>
          <p:cNvSpPr txBox="1"/>
          <p:nvPr/>
        </p:nvSpPr>
        <p:spPr>
          <a:xfrm>
            <a:off x="658368"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0" name="Text 28"/>
          <p:cNvSpPr txBox="1"/>
          <p:nvPr/>
        </p:nvSpPr>
        <p:spPr>
          <a:xfrm>
            <a:off x="1014984"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31" name="Shape 29"/>
          <p:cNvSpPr/>
          <p:nvPr/>
        </p:nvSpPr>
        <p:spPr>
          <a:xfrm>
            <a:off x="3008376" y="2848625"/>
            <a:ext cx="336855" cy="111880"/>
          </a:xfrm>
          <a:prstGeom prst="rect">
            <a:avLst/>
          </a:prstGeom>
          <a:solidFill>
            <a:srgbClr val="12A566"/>
          </a:solidFill>
          <a:ln/>
        </p:spPr>
      </p:sp>
      <p:sp>
        <p:nvSpPr>
          <p:cNvPr id="32" name="Text 30"/>
          <p:cNvSpPr txBox="1"/>
          <p:nvPr/>
        </p:nvSpPr>
        <p:spPr>
          <a:xfrm>
            <a:off x="3493008" y="2792685"/>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89.7%</a:t>
            </a:r>
            <a:endParaRPr lang="en-US" sz="1200" dirty="0"/>
          </a:p>
        </p:txBody>
      </p:sp>
      <p:sp>
        <p:nvSpPr>
          <p:cNvPr id="33" name="Text 31"/>
          <p:cNvSpPr txBox="1"/>
          <p:nvPr/>
        </p:nvSpPr>
        <p:spPr>
          <a:xfrm>
            <a:off x="4169664" y="2792685"/>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$165.96</a:t>
            </a:r>
            <a:endParaRPr lang="en-US" sz="1200" dirty="0"/>
          </a:p>
        </p:txBody>
      </p:sp>
      <p:sp>
        <p:nvSpPr>
          <p:cNvPr id="34" name="Text 32"/>
          <p:cNvSpPr txBox="1"/>
          <p:nvPr/>
        </p:nvSpPr>
        <p:spPr>
          <a:xfrm>
            <a:off x="4956048" y="2792685"/>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$129.41</a:t>
            </a:r>
            <a:endParaRPr lang="en-US" sz="1200" dirty="0"/>
          </a:p>
        </p:txBody>
      </p:sp>
      <p:sp>
        <p:nvSpPr>
          <p:cNvPr id="35" name="Text 33"/>
          <p:cNvSpPr txBox="1"/>
          <p:nvPr/>
        </p:nvSpPr>
        <p:spPr>
          <a:xfrm>
            <a:off x="658368"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6" name="Text 34"/>
          <p:cNvSpPr txBox="1"/>
          <p:nvPr/>
        </p:nvSpPr>
        <p:spPr>
          <a:xfrm>
            <a:off x="1014984"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37" name="Shape 35"/>
          <p:cNvSpPr/>
          <p:nvPr/>
        </p:nvSpPr>
        <p:spPr>
          <a:xfrm>
            <a:off x="3008376" y="3072384"/>
            <a:ext cx="328341" cy="111880"/>
          </a:xfrm>
          <a:prstGeom prst="rect">
            <a:avLst/>
          </a:prstGeom>
          <a:solidFill>
            <a:srgbClr val="12A566"/>
          </a:solidFill>
          <a:ln/>
        </p:spPr>
      </p:sp>
      <p:sp>
        <p:nvSpPr>
          <p:cNvPr id="38" name="Text 36"/>
          <p:cNvSpPr txBox="1"/>
          <p:nvPr/>
        </p:nvSpPr>
        <p:spPr>
          <a:xfrm>
            <a:off x="3493008" y="3016444"/>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88.5%</a:t>
            </a:r>
            <a:endParaRPr lang="en-US" sz="1200" dirty="0"/>
          </a:p>
        </p:txBody>
      </p:sp>
      <p:sp>
        <p:nvSpPr>
          <p:cNvPr id="39" name="Text 37"/>
          <p:cNvSpPr txBox="1"/>
          <p:nvPr/>
        </p:nvSpPr>
        <p:spPr>
          <a:xfrm>
            <a:off x="4169664" y="3016444"/>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$199.04</a:t>
            </a:r>
            <a:endParaRPr lang="en-US" sz="1200" dirty="0"/>
          </a:p>
        </p:txBody>
      </p:sp>
      <p:sp>
        <p:nvSpPr>
          <p:cNvPr id="40" name="Text 38"/>
          <p:cNvSpPr txBox="1"/>
          <p:nvPr/>
        </p:nvSpPr>
        <p:spPr>
          <a:xfrm>
            <a:off x="4956048" y="3016444"/>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$157.41</a:t>
            </a:r>
            <a:endParaRPr lang="en-US" sz="1200" dirty="0"/>
          </a:p>
        </p:txBody>
      </p:sp>
      <p:sp>
        <p:nvSpPr>
          <p:cNvPr id="41" name="Text 39"/>
          <p:cNvSpPr txBox="1"/>
          <p:nvPr/>
        </p:nvSpPr>
        <p:spPr>
          <a:xfrm>
            <a:off x="658368"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2" name="Text 40"/>
          <p:cNvSpPr txBox="1"/>
          <p:nvPr/>
        </p:nvSpPr>
        <p:spPr>
          <a:xfrm>
            <a:off x="1014984"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43" name="Shape 41"/>
          <p:cNvSpPr/>
          <p:nvPr/>
        </p:nvSpPr>
        <p:spPr>
          <a:xfrm>
            <a:off x="3008376" y="3296143"/>
            <a:ext cx="316548" cy="111880"/>
          </a:xfrm>
          <a:prstGeom prst="rect">
            <a:avLst/>
          </a:prstGeom>
          <a:solidFill>
            <a:srgbClr val="12A566"/>
          </a:solidFill>
          <a:ln/>
        </p:spPr>
      </p:sp>
      <p:sp>
        <p:nvSpPr>
          <p:cNvPr id="44" name="Text 42"/>
          <p:cNvSpPr txBox="1"/>
          <p:nvPr/>
        </p:nvSpPr>
        <p:spPr>
          <a:xfrm>
            <a:off x="3493008" y="3240203"/>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86.7%</a:t>
            </a:r>
            <a:endParaRPr lang="en-US" sz="1200" dirty="0"/>
          </a:p>
        </p:txBody>
      </p:sp>
      <p:sp>
        <p:nvSpPr>
          <p:cNvPr id="45" name="Text 43"/>
          <p:cNvSpPr txBox="1"/>
          <p:nvPr/>
        </p:nvSpPr>
        <p:spPr>
          <a:xfrm>
            <a:off x="4169664" y="3240203"/>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$238.62</a:t>
            </a:r>
            <a:endParaRPr lang="en-US" sz="1200" dirty="0"/>
          </a:p>
        </p:txBody>
      </p:sp>
      <p:sp>
        <p:nvSpPr>
          <p:cNvPr id="46" name="Text 44"/>
          <p:cNvSpPr txBox="1"/>
          <p:nvPr/>
        </p:nvSpPr>
        <p:spPr>
          <a:xfrm>
            <a:off x="4956048" y="3240203"/>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$192.50</a:t>
            </a:r>
            <a:endParaRPr lang="en-US" sz="1200" dirty="0"/>
          </a:p>
        </p:txBody>
      </p:sp>
      <p:sp>
        <p:nvSpPr>
          <p:cNvPr id="47" name="Text 45"/>
          <p:cNvSpPr txBox="1"/>
          <p:nvPr/>
        </p:nvSpPr>
        <p:spPr>
          <a:xfrm>
            <a:off x="658368"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8" name="Text 46"/>
          <p:cNvSpPr txBox="1"/>
          <p:nvPr/>
        </p:nvSpPr>
        <p:spPr>
          <a:xfrm>
            <a:off x="1014984"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49" name="Shape 47"/>
          <p:cNvSpPr/>
          <p:nvPr/>
        </p:nvSpPr>
        <p:spPr>
          <a:xfrm>
            <a:off x="3008376" y="3519902"/>
            <a:ext cx="313488" cy="111880"/>
          </a:xfrm>
          <a:prstGeom prst="rect">
            <a:avLst/>
          </a:prstGeom>
          <a:solidFill>
            <a:srgbClr val="12A566"/>
          </a:solidFill>
          <a:ln/>
        </p:spPr>
      </p:sp>
      <p:sp>
        <p:nvSpPr>
          <p:cNvPr id="50" name="Text 48"/>
          <p:cNvSpPr txBox="1"/>
          <p:nvPr/>
        </p:nvSpPr>
        <p:spPr>
          <a:xfrm>
            <a:off x="3493008" y="3463962"/>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86.3%</a:t>
            </a:r>
            <a:endParaRPr lang="en-US" sz="1200" dirty="0"/>
          </a:p>
        </p:txBody>
      </p:sp>
      <p:sp>
        <p:nvSpPr>
          <p:cNvPr id="51" name="Text 49"/>
          <p:cNvSpPr txBox="1"/>
          <p:nvPr/>
        </p:nvSpPr>
        <p:spPr>
          <a:xfrm>
            <a:off x="4169664" y="3463962"/>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$159.69</a:t>
            </a:r>
            <a:endParaRPr lang="en-US" sz="1200" dirty="0"/>
          </a:p>
        </p:txBody>
      </p:sp>
      <p:sp>
        <p:nvSpPr>
          <p:cNvPr id="52" name="Text 50"/>
          <p:cNvSpPr txBox="1"/>
          <p:nvPr/>
        </p:nvSpPr>
        <p:spPr>
          <a:xfrm>
            <a:off x="4956048" y="3463962"/>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$129.50</a:t>
            </a:r>
            <a:endParaRPr lang="en-US" sz="1200" dirty="0"/>
          </a:p>
        </p:txBody>
      </p:sp>
      <p:sp>
        <p:nvSpPr>
          <p:cNvPr id="53" name="Text 51"/>
          <p:cNvSpPr txBox="1"/>
          <p:nvPr/>
        </p:nvSpPr>
        <p:spPr>
          <a:xfrm>
            <a:off x="658368"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4" name="Text 52"/>
          <p:cNvSpPr txBox="1"/>
          <p:nvPr/>
        </p:nvSpPr>
        <p:spPr>
          <a:xfrm>
            <a:off x="1014984"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55" name="Shape 53"/>
          <p:cNvSpPr/>
          <p:nvPr/>
        </p:nvSpPr>
        <p:spPr>
          <a:xfrm>
            <a:off x="3008376" y="3743661"/>
            <a:ext cx="288598" cy="111880"/>
          </a:xfrm>
          <a:prstGeom prst="rect">
            <a:avLst/>
          </a:prstGeom>
          <a:solidFill>
            <a:srgbClr val="12A566"/>
          </a:solidFill>
          <a:ln/>
        </p:spPr>
      </p:sp>
      <p:sp>
        <p:nvSpPr>
          <p:cNvPr id="56" name="Text 54"/>
          <p:cNvSpPr txBox="1"/>
          <p:nvPr/>
        </p:nvSpPr>
        <p:spPr>
          <a:xfrm>
            <a:off x="3493008" y="3687721"/>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82.6%</a:t>
            </a:r>
            <a:endParaRPr lang="en-US" sz="1200" dirty="0"/>
          </a:p>
        </p:txBody>
      </p:sp>
      <p:sp>
        <p:nvSpPr>
          <p:cNvPr id="57" name="Text 55"/>
          <p:cNvSpPr txBox="1"/>
          <p:nvPr/>
        </p:nvSpPr>
        <p:spPr>
          <a:xfrm>
            <a:off x="4169664" y="3687721"/>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$147.93</a:t>
            </a:r>
            <a:endParaRPr lang="en-US" sz="1200" dirty="0"/>
          </a:p>
        </p:txBody>
      </p:sp>
      <p:sp>
        <p:nvSpPr>
          <p:cNvPr id="58" name="Text 56"/>
          <p:cNvSpPr txBox="1"/>
          <p:nvPr/>
        </p:nvSpPr>
        <p:spPr>
          <a:xfrm>
            <a:off x="4956048" y="3687721"/>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$125.30</a:t>
            </a:r>
            <a:endParaRPr lang="en-US" sz="1200" dirty="0"/>
          </a:p>
        </p:txBody>
      </p:sp>
      <p:sp>
        <p:nvSpPr>
          <p:cNvPr id="59" name="Text 57"/>
          <p:cNvSpPr txBox="1"/>
          <p:nvPr/>
        </p:nvSpPr>
        <p:spPr>
          <a:xfrm>
            <a:off x="658368"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0" name="Text 58"/>
          <p:cNvSpPr txBox="1"/>
          <p:nvPr/>
        </p:nvSpPr>
        <p:spPr>
          <a:xfrm>
            <a:off x="1014984"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61" name="Shape 59"/>
          <p:cNvSpPr/>
          <p:nvPr/>
        </p:nvSpPr>
        <p:spPr>
          <a:xfrm>
            <a:off x="3008376" y="3967420"/>
            <a:ext cx="280906" cy="111880"/>
          </a:xfrm>
          <a:prstGeom prst="rect">
            <a:avLst/>
          </a:prstGeom>
          <a:solidFill>
            <a:srgbClr val="12A566"/>
          </a:solidFill>
          <a:ln/>
        </p:spPr>
      </p:sp>
      <p:sp>
        <p:nvSpPr>
          <p:cNvPr id="62" name="Text 60"/>
          <p:cNvSpPr txBox="1"/>
          <p:nvPr/>
        </p:nvSpPr>
        <p:spPr>
          <a:xfrm>
            <a:off x="3493008" y="3911480"/>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81.5%</a:t>
            </a:r>
            <a:endParaRPr lang="en-US" sz="1200" dirty="0"/>
          </a:p>
        </p:txBody>
      </p:sp>
      <p:sp>
        <p:nvSpPr>
          <p:cNvPr id="63" name="Text 61"/>
          <p:cNvSpPr txBox="1"/>
          <p:nvPr/>
        </p:nvSpPr>
        <p:spPr>
          <a:xfrm>
            <a:off x="4169664" y="3911480"/>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$187.42</a:t>
            </a:r>
            <a:endParaRPr lang="en-US" sz="1200" dirty="0"/>
          </a:p>
        </p:txBody>
      </p:sp>
      <p:sp>
        <p:nvSpPr>
          <p:cNvPr id="64" name="Text 62"/>
          <p:cNvSpPr txBox="1"/>
          <p:nvPr/>
        </p:nvSpPr>
        <p:spPr>
          <a:xfrm>
            <a:off x="4956048" y="3911480"/>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$160.96</a:t>
            </a:r>
            <a:endParaRPr lang="en-US" sz="1200" dirty="0"/>
          </a:p>
        </p:txBody>
      </p:sp>
      <p:sp>
        <p:nvSpPr>
          <p:cNvPr id="65" name="Text 63"/>
          <p:cNvSpPr txBox="1"/>
          <p:nvPr/>
        </p:nvSpPr>
        <p:spPr>
          <a:xfrm>
            <a:off x="658368"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6" name="Text 64"/>
          <p:cNvSpPr txBox="1"/>
          <p:nvPr/>
        </p:nvSpPr>
        <p:spPr>
          <a:xfrm>
            <a:off x="1014984"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67" name="Shape 65"/>
          <p:cNvSpPr/>
          <p:nvPr/>
        </p:nvSpPr>
        <p:spPr>
          <a:xfrm>
            <a:off x="3008376" y="4191179"/>
            <a:ext cx="277389" cy="111880"/>
          </a:xfrm>
          <a:prstGeom prst="rect">
            <a:avLst/>
          </a:prstGeom>
          <a:solidFill>
            <a:srgbClr val="12A566"/>
          </a:solidFill>
          <a:ln/>
        </p:spPr>
      </p:sp>
      <p:sp>
        <p:nvSpPr>
          <p:cNvPr id="68" name="Text 66"/>
          <p:cNvSpPr txBox="1"/>
          <p:nvPr/>
        </p:nvSpPr>
        <p:spPr>
          <a:xfrm>
            <a:off x="3493008" y="4135240"/>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80.9%</a:t>
            </a:r>
            <a:endParaRPr lang="en-US" sz="1200" dirty="0"/>
          </a:p>
        </p:txBody>
      </p:sp>
      <p:sp>
        <p:nvSpPr>
          <p:cNvPr id="69" name="Text 67"/>
          <p:cNvSpPr txBox="1"/>
          <p:nvPr/>
        </p:nvSpPr>
        <p:spPr>
          <a:xfrm>
            <a:off x="4169664" y="4135240"/>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$161.93</a:t>
            </a:r>
            <a:endParaRPr lang="en-US" sz="1200" dirty="0"/>
          </a:p>
        </p:txBody>
      </p:sp>
      <p:sp>
        <p:nvSpPr>
          <p:cNvPr id="70" name="Text 68"/>
          <p:cNvSpPr txBox="1"/>
          <p:nvPr/>
        </p:nvSpPr>
        <p:spPr>
          <a:xfrm>
            <a:off x="4956048" y="4135240"/>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$139.96</a:t>
            </a:r>
            <a:endParaRPr lang="en-US" sz="1200" dirty="0"/>
          </a:p>
        </p:txBody>
      </p:sp>
      <p:sp>
        <p:nvSpPr>
          <p:cNvPr id="71" name="Text 69"/>
          <p:cNvSpPr txBox="1"/>
          <p:nvPr/>
        </p:nvSpPr>
        <p:spPr>
          <a:xfrm>
            <a:off x="658368"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2" name="Text 70"/>
          <p:cNvSpPr txBox="1"/>
          <p:nvPr/>
        </p:nvSpPr>
        <p:spPr>
          <a:xfrm>
            <a:off x="1014984"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73" name="Shape 71"/>
          <p:cNvSpPr/>
          <p:nvPr/>
        </p:nvSpPr>
        <p:spPr>
          <a:xfrm>
            <a:off x="3008376" y="4414938"/>
            <a:ext cx="269953" cy="111880"/>
          </a:xfrm>
          <a:prstGeom prst="rect">
            <a:avLst/>
          </a:prstGeom>
          <a:solidFill>
            <a:srgbClr val="12A566"/>
          </a:solidFill>
          <a:ln/>
        </p:spPr>
      </p:sp>
      <p:sp>
        <p:nvSpPr>
          <p:cNvPr id="74" name="Text 72"/>
          <p:cNvSpPr txBox="1"/>
          <p:nvPr/>
        </p:nvSpPr>
        <p:spPr>
          <a:xfrm>
            <a:off x="3493008" y="4358999"/>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79.8%</a:t>
            </a:r>
            <a:endParaRPr lang="en-US" sz="1200" dirty="0"/>
          </a:p>
        </p:txBody>
      </p:sp>
      <p:sp>
        <p:nvSpPr>
          <p:cNvPr id="75" name="Text 73"/>
          <p:cNvSpPr txBox="1"/>
          <p:nvPr/>
        </p:nvSpPr>
        <p:spPr>
          <a:xfrm>
            <a:off x="4169664" y="4358999"/>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$155.78</a:t>
            </a:r>
            <a:endParaRPr lang="en-US" sz="1200" dirty="0"/>
          </a:p>
        </p:txBody>
      </p:sp>
      <p:sp>
        <p:nvSpPr>
          <p:cNvPr id="76" name="Text 74"/>
          <p:cNvSpPr txBox="1"/>
          <p:nvPr/>
        </p:nvSpPr>
        <p:spPr>
          <a:xfrm>
            <a:off x="4956048" y="4358999"/>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$136.50</a:t>
            </a:r>
            <a:endParaRPr lang="en-US" sz="1200" dirty="0"/>
          </a:p>
        </p:txBody>
      </p:sp>
      <p:sp>
        <p:nvSpPr>
          <p:cNvPr id="77" name="Text 75"/>
          <p:cNvSpPr txBox="1"/>
          <p:nvPr/>
        </p:nvSpPr>
        <p:spPr>
          <a:xfrm>
            <a:off x="658368"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8" name="Text 76"/>
          <p:cNvSpPr txBox="1"/>
          <p:nvPr/>
        </p:nvSpPr>
        <p:spPr>
          <a:xfrm>
            <a:off x="1014984"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79" name="Shape 77"/>
          <p:cNvSpPr/>
          <p:nvPr/>
        </p:nvSpPr>
        <p:spPr>
          <a:xfrm>
            <a:off x="3008376" y="4638697"/>
            <a:ext cx="267485" cy="111880"/>
          </a:xfrm>
          <a:prstGeom prst="rect">
            <a:avLst/>
          </a:prstGeom>
          <a:solidFill>
            <a:srgbClr val="12A566"/>
          </a:solidFill>
          <a:ln/>
        </p:spPr>
      </p:sp>
      <p:sp>
        <p:nvSpPr>
          <p:cNvPr id="80" name="Text 78"/>
          <p:cNvSpPr txBox="1"/>
          <p:nvPr/>
        </p:nvSpPr>
        <p:spPr>
          <a:xfrm>
            <a:off x="3493008" y="4582758"/>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79.5%</a:t>
            </a:r>
            <a:endParaRPr lang="en-US" sz="1200" dirty="0"/>
          </a:p>
        </p:txBody>
      </p:sp>
      <p:sp>
        <p:nvSpPr>
          <p:cNvPr id="81" name="Text 79"/>
          <p:cNvSpPr txBox="1"/>
          <p:nvPr/>
        </p:nvSpPr>
        <p:spPr>
          <a:xfrm>
            <a:off x="4169664" y="4582758"/>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$234.48</a:t>
            </a:r>
            <a:endParaRPr lang="en-US" sz="1200" dirty="0"/>
          </a:p>
        </p:txBody>
      </p:sp>
      <p:sp>
        <p:nvSpPr>
          <p:cNvPr id="82" name="Text 80"/>
          <p:cNvSpPr txBox="1"/>
          <p:nvPr/>
        </p:nvSpPr>
        <p:spPr>
          <a:xfrm>
            <a:off x="4956048" y="4582758"/>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$206.41</a:t>
            </a:r>
            <a:endParaRPr lang="en-US" sz="1200" dirty="0"/>
          </a:p>
        </p:txBody>
      </p:sp>
      <p:sp>
        <p:nvSpPr>
          <p:cNvPr id="83" name="Text 81"/>
          <p:cNvSpPr txBox="1"/>
          <p:nvPr/>
        </p:nvSpPr>
        <p:spPr>
          <a:xfrm>
            <a:off x="658368"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84" name="Text 82"/>
          <p:cNvSpPr txBox="1"/>
          <p:nvPr/>
        </p:nvSpPr>
        <p:spPr>
          <a:xfrm>
            <a:off x="1014984"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85" name="Shape 83"/>
          <p:cNvSpPr/>
          <p:nvPr/>
        </p:nvSpPr>
        <p:spPr>
          <a:xfrm>
            <a:off x="3008376" y="4862456"/>
            <a:ext cx="263570" cy="111880"/>
          </a:xfrm>
          <a:prstGeom prst="rect">
            <a:avLst/>
          </a:prstGeom>
          <a:solidFill>
            <a:srgbClr val="12A566"/>
          </a:solidFill>
          <a:ln/>
        </p:spPr>
      </p:sp>
      <p:sp>
        <p:nvSpPr>
          <p:cNvPr id="86" name="Text 84"/>
          <p:cNvSpPr txBox="1"/>
          <p:nvPr/>
        </p:nvSpPr>
        <p:spPr>
          <a:xfrm>
            <a:off x="3493008" y="4806517"/>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78.9%</a:t>
            </a:r>
            <a:endParaRPr lang="en-US" sz="1200" dirty="0"/>
          </a:p>
        </p:txBody>
      </p:sp>
      <p:sp>
        <p:nvSpPr>
          <p:cNvPr id="87" name="Text 85"/>
          <p:cNvSpPr txBox="1"/>
          <p:nvPr/>
        </p:nvSpPr>
        <p:spPr>
          <a:xfrm>
            <a:off x="4169664" y="4806517"/>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$146.04</a:t>
            </a:r>
            <a:endParaRPr lang="en-US" sz="1200" dirty="0"/>
          </a:p>
        </p:txBody>
      </p:sp>
      <p:sp>
        <p:nvSpPr>
          <p:cNvPr id="88" name="Text 86"/>
          <p:cNvSpPr txBox="1"/>
          <p:nvPr/>
        </p:nvSpPr>
        <p:spPr>
          <a:xfrm>
            <a:off x="4956048" y="4806517"/>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$129.50</a:t>
            </a:r>
            <a:endParaRPr lang="en-US" sz="1200" dirty="0"/>
          </a:p>
        </p:txBody>
      </p:sp>
      <p:sp>
        <p:nvSpPr>
          <p:cNvPr id="89" name="Text 87"/>
          <p:cNvSpPr txBox="1"/>
          <p:nvPr/>
        </p:nvSpPr>
        <p:spPr>
          <a:xfrm>
            <a:off x="658368"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0" name="Text 88"/>
          <p:cNvSpPr txBox="1"/>
          <p:nvPr/>
        </p:nvSpPr>
        <p:spPr>
          <a:xfrm>
            <a:off x="1014984"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91" name="Shape 89"/>
          <p:cNvSpPr/>
          <p:nvPr/>
        </p:nvSpPr>
        <p:spPr>
          <a:xfrm>
            <a:off x="3008376" y="5086216"/>
            <a:ext cx="263535" cy="111880"/>
          </a:xfrm>
          <a:prstGeom prst="rect">
            <a:avLst/>
          </a:prstGeom>
          <a:solidFill>
            <a:srgbClr val="12A566"/>
          </a:solidFill>
          <a:ln/>
        </p:spPr>
      </p:sp>
      <p:sp>
        <p:nvSpPr>
          <p:cNvPr id="92" name="Text 90"/>
          <p:cNvSpPr txBox="1"/>
          <p:nvPr/>
        </p:nvSpPr>
        <p:spPr>
          <a:xfrm>
            <a:off x="3493008" y="5030276"/>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78.9%</a:t>
            </a:r>
            <a:endParaRPr lang="en-US" sz="1200" dirty="0"/>
          </a:p>
        </p:txBody>
      </p:sp>
      <p:sp>
        <p:nvSpPr>
          <p:cNvPr id="93" name="Text 91"/>
          <p:cNvSpPr txBox="1"/>
          <p:nvPr/>
        </p:nvSpPr>
        <p:spPr>
          <a:xfrm>
            <a:off x="4169664" y="5030276"/>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$165.67</a:t>
            </a:r>
            <a:endParaRPr lang="en-US" sz="1200" dirty="0"/>
          </a:p>
        </p:txBody>
      </p:sp>
      <p:sp>
        <p:nvSpPr>
          <p:cNvPr id="94" name="Text 92"/>
          <p:cNvSpPr txBox="1"/>
          <p:nvPr/>
        </p:nvSpPr>
        <p:spPr>
          <a:xfrm>
            <a:off x="4956048" y="5030276"/>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$146.91</a:t>
            </a:r>
            <a:endParaRPr lang="en-US" sz="1200" dirty="0"/>
          </a:p>
        </p:txBody>
      </p:sp>
      <p:sp>
        <p:nvSpPr>
          <p:cNvPr id="95" name="Text 93"/>
          <p:cNvSpPr txBox="1"/>
          <p:nvPr/>
        </p:nvSpPr>
        <p:spPr>
          <a:xfrm>
            <a:off x="658368"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96" name="Text 94"/>
          <p:cNvSpPr txBox="1"/>
          <p:nvPr/>
        </p:nvSpPr>
        <p:spPr>
          <a:xfrm>
            <a:off x="1014984"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97" name="Shape 95"/>
          <p:cNvSpPr/>
          <p:nvPr/>
        </p:nvSpPr>
        <p:spPr>
          <a:xfrm>
            <a:off x="3008376" y="5309975"/>
            <a:ext cx="260639" cy="111880"/>
          </a:xfrm>
          <a:prstGeom prst="rect">
            <a:avLst/>
          </a:prstGeom>
          <a:solidFill>
            <a:srgbClr val="12A566"/>
          </a:solidFill>
          <a:ln/>
        </p:spPr>
      </p:sp>
      <p:sp>
        <p:nvSpPr>
          <p:cNvPr id="98" name="Text 96"/>
          <p:cNvSpPr txBox="1"/>
          <p:nvPr/>
        </p:nvSpPr>
        <p:spPr>
          <a:xfrm>
            <a:off x="3493008" y="5254035"/>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78.5%</a:t>
            </a:r>
            <a:endParaRPr lang="en-US" sz="1200" dirty="0"/>
          </a:p>
        </p:txBody>
      </p:sp>
      <p:sp>
        <p:nvSpPr>
          <p:cNvPr id="99" name="Text 97"/>
          <p:cNvSpPr txBox="1"/>
          <p:nvPr/>
        </p:nvSpPr>
        <p:spPr>
          <a:xfrm>
            <a:off x="4169664" y="5254035"/>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$160.84</a:t>
            </a:r>
            <a:endParaRPr lang="en-US" sz="1200" dirty="0"/>
          </a:p>
        </p:txBody>
      </p:sp>
      <p:sp>
        <p:nvSpPr>
          <p:cNvPr id="100" name="Text 98"/>
          <p:cNvSpPr txBox="1"/>
          <p:nvPr/>
        </p:nvSpPr>
        <p:spPr>
          <a:xfrm>
            <a:off x="4956048" y="5254035"/>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$143.41</a:t>
            </a:r>
            <a:endParaRPr lang="en-US" sz="1200" dirty="0"/>
          </a:p>
        </p:txBody>
      </p:sp>
      <p:sp>
        <p:nvSpPr>
          <p:cNvPr id="101" name="Text 99"/>
          <p:cNvSpPr txBox="1"/>
          <p:nvPr/>
        </p:nvSpPr>
        <p:spPr>
          <a:xfrm>
            <a:off x="658368"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2" name="Text 100"/>
          <p:cNvSpPr txBox="1"/>
          <p:nvPr/>
        </p:nvSpPr>
        <p:spPr>
          <a:xfrm>
            <a:off x="1014984"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03" name="Shape 101"/>
          <p:cNvSpPr/>
          <p:nvPr/>
        </p:nvSpPr>
        <p:spPr>
          <a:xfrm>
            <a:off x="3008376" y="5533734"/>
            <a:ext cx="248755" cy="111880"/>
          </a:xfrm>
          <a:prstGeom prst="rect">
            <a:avLst/>
          </a:prstGeom>
          <a:solidFill>
            <a:srgbClr val="12A566"/>
          </a:solidFill>
          <a:ln/>
        </p:spPr>
      </p:sp>
      <p:sp>
        <p:nvSpPr>
          <p:cNvPr id="104" name="Text 102"/>
          <p:cNvSpPr txBox="1"/>
          <p:nvPr/>
        </p:nvSpPr>
        <p:spPr>
          <a:xfrm>
            <a:off x="3493008" y="5477794"/>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76.7%</a:t>
            </a:r>
            <a:endParaRPr lang="en-US" sz="1200" dirty="0"/>
          </a:p>
        </p:txBody>
      </p:sp>
      <p:sp>
        <p:nvSpPr>
          <p:cNvPr id="105" name="Text 103"/>
          <p:cNvSpPr txBox="1"/>
          <p:nvPr/>
        </p:nvSpPr>
        <p:spPr>
          <a:xfrm>
            <a:off x="4169664" y="5477794"/>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$141.89</a:t>
            </a:r>
            <a:endParaRPr lang="en-US" sz="1200" dirty="0"/>
          </a:p>
        </p:txBody>
      </p:sp>
      <p:sp>
        <p:nvSpPr>
          <p:cNvPr id="106" name="Text 104"/>
          <p:cNvSpPr txBox="1"/>
          <p:nvPr/>
        </p:nvSpPr>
        <p:spPr>
          <a:xfrm>
            <a:off x="4956048" y="5477794"/>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$129.41</a:t>
            </a:r>
            <a:endParaRPr lang="en-US" sz="1200" dirty="0"/>
          </a:p>
        </p:txBody>
      </p:sp>
      <p:sp>
        <p:nvSpPr>
          <p:cNvPr id="107" name="Text 105"/>
          <p:cNvSpPr txBox="1"/>
          <p:nvPr/>
        </p:nvSpPr>
        <p:spPr>
          <a:xfrm>
            <a:off x="658368" y="570155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8" name="Text 106"/>
          <p:cNvSpPr txBox="1"/>
          <p:nvPr/>
        </p:nvSpPr>
        <p:spPr>
          <a:xfrm>
            <a:off x="1014984" y="570155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09" name="Shape 107"/>
          <p:cNvSpPr/>
          <p:nvPr/>
        </p:nvSpPr>
        <p:spPr>
          <a:xfrm>
            <a:off x="3008376" y="5757493"/>
            <a:ext cx="246725" cy="111880"/>
          </a:xfrm>
          <a:prstGeom prst="rect">
            <a:avLst/>
          </a:prstGeom>
          <a:solidFill>
            <a:srgbClr val="12A566"/>
          </a:solidFill>
          <a:ln/>
        </p:spPr>
      </p:sp>
      <p:sp>
        <p:nvSpPr>
          <p:cNvPr id="110" name="Text 108"/>
          <p:cNvSpPr txBox="1"/>
          <p:nvPr/>
        </p:nvSpPr>
        <p:spPr>
          <a:xfrm>
            <a:off x="3493008" y="5701553"/>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76.4%</a:t>
            </a:r>
            <a:endParaRPr lang="en-US" sz="1200" dirty="0"/>
          </a:p>
        </p:txBody>
      </p:sp>
      <p:sp>
        <p:nvSpPr>
          <p:cNvPr id="111" name="Text 109"/>
          <p:cNvSpPr txBox="1"/>
          <p:nvPr/>
        </p:nvSpPr>
        <p:spPr>
          <a:xfrm>
            <a:off x="4169664" y="5701553"/>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$266.72</a:t>
            </a:r>
            <a:endParaRPr lang="en-US" sz="1200" dirty="0"/>
          </a:p>
        </p:txBody>
      </p:sp>
      <p:sp>
        <p:nvSpPr>
          <p:cNvPr id="112" name="Text 110"/>
          <p:cNvSpPr txBox="1"/>
          <p:nvPr/>
        </p:nvSpPr>
        <p:spPr>
          <a:xfrm>
            <a:off x="4956048" y="5701553"/>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$244.21</a:t>
            </a:r>
            <a:endParaRPr lang="en-US" sz="1200" dirty="0"/>
          </a:p>
        </p:txBody>
      </p:sp>
      <p:sp>
        <p:nvSpPr>
          <p:cNvPr id="113" name="Text 111"/>
          <p:cNvSpPr txBox="1"/>
          <p:nvPr/>
        </p:nvSpPr>
        <p:spPr>
          <a:xfrm>
            <a:off x="6208776" y="212140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14" name="Text 112"/>
          <p:cNvSpPr txBox="1"/>
          <p:nvPr/>
        </p:nvSpPr>
        <p:spPr>
          <a:xfrm>
            <a:off x="6565392" y="212140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15" name="Shape 113"/>
          <p:cNvSpPr/>
          <p:nvPr/>
        </p:nvSpPr>
        <p:spPr>
          <a:xfrm>
            <a:off x="8558784" y="2177348"/>
            <a:ext cx="239899" cy="111880"/>
          </a:xfrm>
          <a:prstGeom prst="rect">
            <a:avLst/>
          </a:prstGeom>
          <a:solidFill>
            <a:srgbClr val="12A566"/>
          </a:solidFill>
          <a:ln/>
        </p:spPr>
      </p:sp>
      <p:sp>
        <p:nvSpPr>
          <p:cNvPr id="116" name="Text 114"/>
          <p:cNvSpPr txBox="1"/>
          <p:nvPr/>
        </p:nvSpPr>
        <p:spPr>
          <a:xfrm>
            <a:off x="9043416" y="2121408"/>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75.4%</a:t>
            </a:r>
            <a:endParaRPr lang="en-US" sz="1200" dirty="0"/>
          </a:p>
        </p:txBody>
      </p:sp>
      <p:sp>
        <p:nvSpPr>
          <p:cNvPr id="117" name="Text 115"/>
          <p:cNvSpPr txBox="1"/>
          <p:nvPr/>
        </p:nvSpPr>
        <p:spPr>
          <a:xfrm>
            <a:off x="9720072" y="2121408"/>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$233.88</a:t>
            </a:r>
            <a:endParaRPr lang="en-US" sz="1200" dirty="0"/>
          </a:p>
        </p:txBody>
      </p:sp>
      <p:sp>
        <p:nvSpPr>
          <p:cNvPr id="118" name="Text 116"/>
          <p:cNvSpPr txBox="1"/>
          <p:nvPr/>
        </p:nvSpPr>
        <p:spPr>
          <a:xfrm>
            <a:off x="10506456" y="2121408"/>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$217.00</a:t>
            </a:r>
            <a:endParaRPr lang="en-US" sz="1200" dirty="0"/>
          </a:p>
        </p:txBody>
      </p:sp>
      <p:sp>
        <p:nvSpPr>
          <p:cNvPr id="119" name="Text 117"/>
          <p:cNvSpPr txBox="1"/>
          <p:nvPr/>
        </p:nvSpPr>
        <p:spPr>
          <a:xfrm>
            <a:off x="6208776" y="234516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0" name="Text 118"/>
          <p:cNvSpPr txBox="1"/>
          <p:nvPr/>
        </p:nvSpPr>
        <p:spPr>
          <a:xfrm>
            <a:off x="6565392" y="234516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21" name="Shape 119"/>
          <p:cNvSpPr/>
          <p:nvPr/>
        </p:nvSpPr>
        <p:spPr>
          <a:xfrm>
            <a:off x="8558784" y="2401107"/>
            <a:ext cx="238755" cy="111880"/>
          </a:xfrm>
          <a:prstGeom prst="rect">
            <a:avLst/>
          </a:prstGeom>
          <a:solidFill>
            <a:srgbClr val="12A566"/>
          </a:solidFill>
          <a:ln/>
        </p:spPr>
      </p:sp>
      <p:sp>
        <p:nvSpPr>
          <p:cNvPr id="122" name="Text 120"/>
          <p:cNvSpPr txBox="1"/>
          <p:nvPr/>
        </p:nvSpPr>
        <p:spPr>
          <a:xfrm>
            <a:off x="9043416" y="2345167"/>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75.2%</a:t>
            </a:r>
            <a:endParaRPr lang="en-US" sz="1200" dirty="0"/>
          </a:p>
        </p:txBody>
      </p:sp>
      <p:sp>
        <p:nvSpPr>
          <p:cNvPr id="123" name="Text 121"/>
          <p:cNvSpPr txBox="1"/>
          <p:nvPr/>
        </p:nvSpPr>
        <p:spPr>
          <a:xfrm>
            <a:off x="9720072" y="2345167"/>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$162.12</a:t>
            </a:r>
            <a:endParaRPr lang="en-US" sz="1200" dirty="0"/>
          </a:p>
        </p:txBody>
      </p:sp>
      <p:sp>
        <p:nvSpPr>
          <p:cNvPr id="124" name="Text 122"/>
          <p:cNvSpPr txBox="1"/>
          <p:nvPr/>
        </p:nvSpPr>
        <p:spPr>
          <a:xfrm>
            <a:off x="10506456" y="2345167"/>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$150.76</a:t>
            </a:r>
            <a:endParaRPr lang="en-US" sz="1200" dirty="0"/>
          </a:p>
        </p:txBody>
      </p:sp>
      <p:sp>
        <p:nvSpPr>
          <p:cNvPr id="125" name="Text 123"/>
          <p:cNvSpPr txBox="1"/>
          <p:nvPr/>
        </p:nvSpPr>
        <p:spPr>
          <a:xfrm>
            <a:off x="6208776" y="256892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6" name="Text 124"/>
          <p:cNvSpPr txBox="1"/>
          <p:nvPr/>
        </p:nvSpPr>
        <p:spPr>
          <a:xfrm>
            <a:off x="6565392" y="256892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27" name="Shape 125"/>
          <p:cNvSpPr/>
          <p:nvPr/>
        </p:nvSpPr>
        <p:spPr>
          <a:xfrm>
            <a:off x="8558784" y="2624866"/>
            <a:ext cx="237564" cy="111880"/>
          </a:xfrm>
          <a:prstGeom prst="rect">
            <a:avLst/>
          </a:prstGeom>
          <a:solidFill>
            <a:srgbClr val="12A566"/>
          </a:solidFill>
          <a:ln/>
        </p:spPr>
      </p:sp>
      <p:sp>
        <p:nvSpPr>
          <p:cNvPr id="128" name="Text 126"/>
          <p:cNvSpPr txBox="1"/>
          <p:nvPr/>
        </p:nvSpPr>
        <p:spPr>
          <a:xfrm>
            <a:off x="9043416" y="2568926"/>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75.1%</a:t>
            </a:r>
            <a:endParaRPr lang="en-US" sz="1200" dirty="0"/>
          </a:p>
        </p:txBody>
      </p:sp>
      <p:sp>
        <p:nvSpPr>
          <p:cNvPr id="129" name="Text 127"/>
          <p:cNvSpPr txBox="1"/>
          <p:nvPr/>
        </p:nvSpPr>
        <p:spPr>
          <a:xfrm>
            <a:off x="9720072" y="2568926"/>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$180.14</a:t>
            </a:r>
            <a:endParaRPr lang="en-US" sz="1200" dirty="0"/>
          </a:p>
        </p:txBody>
      </p:sp>
      <p:sp>
        <p:nvSpPr>
          <p:cNvPr id="130" name="Text 128"/>
          <p:cNvSpPr txBox="1"/>
          <p:nvPr/>
        </p:nvSpPr>
        <p:spPr>
          <a:xfrm>
            <a:off x="10506456" y="2568926"/>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$167.91</a:t>
            </a:r>
            <a:endParaRPr lang="en-US" sz="1200" dirty="0"/>
          </a:p>
        </p:txBody>
      </p:sp>
      <p:sp>
        <p:nvSpPr>
          <p:cNvPr id="131" name="Text 129"/>
          <p:cNvSpPr txBox="1"/>
          <p:nvPr/>
        </p:nvSpPr>
        <p:spPr>
          <a:xfrm>
            <a:off x="6208776" y="279268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2" name="Text 130"/>
          <p:cNvSpPr txBox="1"/>
          <p:nvPr/>
        </p:nvSpPr>
        <p:spPr>
          <a:xfrm>
            <a:off x="6565392" y="279268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33" name="Shape 131"/>
          <p:cNvSpPr/>
          <p:nvPr/>
        </p:nvSpPr>
        <p:spPr>
          <a:xfrm>
            <a:off x="8558784" y="2848625"/>
            <a:ext cx="236934" cy="111880"/>
          </a:xfrm>
          <a:prstGeom prst="rect">
            <a:avLst/>
          </a:prstGeom>
          <a:solidFill>
            <a:srgbClr val="12A566"/>
          </a:solidFill>
          <a:ln/>
        </p:spPr>
      </p:sp>
      <p:sp>
        <p:nvSpPr>
          <p:cNvPr id="134" name="Text 132"/>
          <p:cNvSpPr txBox="1"/>
          <p:nvPr/>
        </p:nvSpPr>
        <p:spPr>
          <a:xfrm>
            <a:off x="9043416" y="2792685"/>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75.0%</a:t>
            </a:r>
            <a:endParaRPr lang="en-US" sz="1200" dirty="0"/>
          </a:p>
        </p:txBody>
      </p:sp>
      <p:sp>
        <p:nvSpPr>
          <p:cNvPr id="135" name="Text 133"/>
          <p:cNvSpPr txBox="1"/>
          <p:nvPr/>
        </p:nvSpPr>
        <p:spPr>
          <a:xfrm>
            <a:off x="9720072" y="2792685"/>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$142.51</a:t>
            </a:r>
            <a:endParaRPr lang="en-US" sz="1200" dirty="0"/>
          </a:p>
        </p:txBody>
      </p:sp>
      <p:sp>
        <p:nvSpPr>
          <p:cNvPr id="136" name="Text 134"/>
          <p:cNvSpPr txBox="1"/>
          <p:nvPr/>
        </p:nvSpPr>
        <p:spPr>
          <a:xfrm>
            <a:off x="10506456" y="2792685"/>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$133.00</a:t>
            </a:r>
            <a:endParaRPr lang="en-US" sz="1200" dirty="0"/>
          </a:p>
        </p:txBody>
      </p:sp>
      <p:sp>
        <p:nvSpPr>
          <p:cNvPr id="137" name="Text 135"/>
          <p:cNvSpPr txBox="1"/>
          <p:nvPr/>
        </p:nvSpPr>
        <p:spPr>
          <a:xfrm>
            <a:off x="6208776" y="301644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8" name="Text 136"/>
          <p:cNvSpPr txBox="1"/>
          <p:nvPr/>
        </p:nvSpPr>
        <p:spPr>
          <a:xfrm>
            <a:off x="6565392" y="301644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9" name="Shape 137"/>
          <p:cNvSpPr/>
          <p:nvPr/>
        </p:nvSpPr>
        <p:spPr>
          <a:xfrm>
            <a:off x="8558784" y="3072384"/>
            <a:ext cx="229411" cy="111880"/>
          </a:xfrm>
          <a:prstGeom prst="rect">
            <a:avLst/>
          </a:prstGeom>
          <a:solidFill>
            <a:srgbClr val="12A566"/>
          </a:solidFill>
          <a:ln/>
        </p:spPr>
      </p:sp>
      <p:sp>
        <p:nvSpPr>
          <p:cNvPr id="140" name="Text 138"/>
          <p:cNvSpPr txBox="1"/>
          <p:nvPr/>
        </p:nvSpPr>
        <p:spPr>
          <a:xfrm>
            <a:off x="9043416" y="3016444"/>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73.8%</a:t>
            </a:r>
            <a:endParaRPr lang="en-US" sz="1200" dirty="0"/>
          </a:p>
        </p:txBody>
      </p:sp>
      <p:sp>
        <p:nvSpPr>
          <p:cNvPr id="141" name="Text 139"/>
          <p:cNvSpPr txBox="1"/>
          <p:nvPr/>
        </p:nvSpPr>
        <p:spPr>
          <a:xfrm>
            <a:off x="9720072" y="3016444"/>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$136.71</a:t>
            </a:r>
            <a:endParaRPr lang="en-US" sz="1200" dirty="0"/>
          </a:p>
        </p:txBody>
      </p:sp>
      <p:sp>
        <p:nvSpPr>
          <p:cNvPr id="142" name="Text 140"/>
          <p:cNvSpPr txBox="1"/>
          <p:nvPr/>
        </p:nvSpPr>
        <p:spPr>
          <a:xfrm>
            <a:off x="10506456" y="3016444"/>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$129.50</a:t>
            </a:r>
            <a:endParaRPr lang="en-US" sz="1200" dirty="0"/>
          </a:p>
        </p:txBody>
      </p:sp>
      <p:sp>
        <p:nvSpPr>
          <p:cNvPr id="143" name="Text 141"/>
          <p:cNvSpPr txBox="1"/>
          <p:nvPr/>
        </p:nvSpPr>
        <p:spPr>
          <a:xfrm>
            <a:off x="6208776" y="3240203"/>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4" name="Text 142"/>
          <p:cNvSpPr txBox="1"/>
          <p:nvPr/>
        </p:nvSpPr>
        <p:spPr>
          <a:xfrm>
            <a:off x="6565392" y="3240203"/>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45" name="Shape 143"/>
          <p:cNvSpPr/>
          <p:nvPr/>
        </p:nvSpPr>
        <p:spPr>
          <a:xfrm>
            <a:off x="8558784" y="3296143"/>
            <a:ext cx="224413" cy="111880"/>
          </a:xfrm>
          <a:prstGeom prst="rect">
            <a:avLst/>
          </a:prstGeom>
          <a:solidFill>
            <a:srgbClr val="12A566"/>
          </a:solidFill>
          <a:ln/>
        </p:spPr>
      </p:sp>
      <p:sp>
        <p:nvSpPr>
          <p:cNvPr id="146" name="Text 144"/>
          <p:cNvSpPr txBox="1"/>
          <p:nvPr/>
        </p:nvSpPr>
        <p:spPr>
          <a:xfrm>
            <a:off x="9043416" y="3240203"/>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73.1%</a:t>
            </a:r>
            <a:endParaRPr lang="en-US" sz="1200" dirty="0"/>
          </a:p>
        </p:txBody>
      </p:sp>
      <p:sp>
        <p:nvSpPr>
          <p:cNvPr id="147" name="Text 145"/>
          <p:cNvSpPr txBox="1"/>
          <p:nvPr/>
        </p:nvSpPr>
        <p:spPr>
          <a:xfrm>
            <a:off x="9720072" y="3240203"/>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$154.55</a:t>
            </a:r>
            <a:endParaRPr lang="en-US" sz="1200" dirty="0"/>
          </a:p>
        </p:txBody>
      </p:sp>
      <p:sp>
        <p:nvSpPr>
          <p:cNvPr id="148" name="Text 146"/>
          <p:cNvSpPr txBox="1"/>
          <p:nvPr/>
        </p:nvSpPr>
        <p:spPr>
          <a:xfrm>
            <a:off x="10506456" y="3240203"/>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$147.88</a:t>
            </a:r>
            <a:endParaRPr lang="en-US" sz="1200" dirty="0"/>
          </a:p>
        </p:txBody>
      </p:sp>
      <p:sp>
        <p:nvSpPr>
          <p:cNvPr id="149" name="Text 147"/>
          <p:cNvSpPr txBox="1"/>
          <p:nvPr/>
        </p:nvSpPr>
        <p:spPr>
          <a:xfrm>
            <a:off x="6208776" y="3463962"/>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0" name="Text 148"/>
          <p:cNvSpPr txBox="1"/>
          <p:nvPr/>
        </p:nvSpPr>
        <p:spPr>
          <a:xfrm>
            <a:off x="6565392" y="3463962"/>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51" name="Shape 149"/>
          <p:cNvSpPr/>
          <p:nvPr/>
        </p:nvSpPr>
        <p:spPr>
          <a:xfrm>
            <a:off x="8558784" y="3519902"/>
            <a:ext cx="219478" cy="111880"/>
          </a:xfrm>
          <a:prstGeom prst="rect">
            <a:avLst/>
          </a:prstGeom>
          <a:solidFill>
            <a:srgbClr val="12A566"/>
          </a:solidFill>
          <a:ln/>
        </p:spPr>
      </p:sp>
      <p:sp>
        <p:nvSpPr>
          <p:cNvPr id="152" name="Text 150"/>
          <p:cNvSpPr txBox="1"/>
          <p:nvPr/>
        </p:nvSpPr>
        <p:spPr>
          <a:xfrm>
            <a:off x="9043416" y="3463962"/>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72.4%</a:t>
            </a:r>
            <a:endParaRPr lang="en-US" sz="1200" dirty="0"/>
          </a:p>
        </p:txBody>
      </p:sp>
      <p:sp>
        <p:nvSpPr>
          <p:cNvPr id="153" name="Text 151"/>
          <p:cNvSpPr txBox="1"/>
          <p:nvPr/>
        </p:nvSpPr>
        <p:spPr>
          <a:xfrm>
            <a:off x="9720072" y="3463962"/>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$153.45</a:t>
            </a:r>
            <a:endParaRPr lang="en-US" sz="1200" dirty="0"/>
          </a:p>
        </p:txBody>
      </p:sp>
      <p:sp>
        <p:nvSpPr>
          <p:cNvPr id="154" name="Text 152"/>
          <p:cNvSpPr txBox="1"/>
          <p:nvPr/>
        </p:nvSpPr>
        <p:spPr>
          <a:xfrm>
            <a:off x="10506456" y="3463962"/>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$148.31</a:t>
            </a:r>
            <a:endParaRPr lang="en-US" sz="1200" dirty="0"/>
          </a:p>
        </p:txBody>
      </p:sp>
      <p:sp>
        <p:nvSpPr>
          <p:cNvPr id="155" name="Text 153"/>
          <p:cNvSpPr txBox="1"/>
          <p:nvPr/>
        </p:nvSpPr>
        <p:spPr>
          <a:xfrm>
            <a:off x="6208776" y="3687721"/>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56" name="Text 154"/>
          <p:cNvSpPr txBox="1"/>
          <p:nvPr/>
        </p:nvSpPr>
        <p:spPr>
          <a:xfrm>
            <a:off x="6565392" y="3687721"/>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57" name="Shape 155"/>
          <p:cNvSpPr/>
          <p:nvPr/>
        </p:nvSpPr>
        <p:spPr>
          <a:xfrm>
            <a:off x="8558784" y="3743661"/>
            <a:ext cx="207479" cy="111880"/>
          </a:xfrm>
          <a:prstGeom prst="rect">
            <a:avLst/>
          </a:prstGeom>
          <a:solidFill>
            <a:srgbClr val="12A566"/>
          </a:solidFill>
          <a:ln/>
        </p:spPr>
      </p:sp>
      <p:sp>
        <p:nvSpPr>
          <p:cNvPr id="158" name="Text 156"/>
          <p:cNvSpPr txBox="1"/>
          <p:nvPr/>
        </p:nvSpPr>
        <p:spPr>
          <a:xfrm>
            <a:off x="9043416" y="3687721"/>
            <a:ext cx="676656" cy="223759"/>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70.6%</a:t>
            </a:r>
            <a:endParaRPr lang="en-US" sz="1200" dirty="0"/>
          </a:p>
        </p:txBody>
      </p:sp>
      <p:sp>
        <p:nvSpPr>
          <p:cNvPr id="159" name="Text 157"/>
          <p:cNvSpPr txBox="1"/>
          <p:nvPr/>
        </p:nvSpPr>
        <p:spPr>
          <a:xfrm>
            <a:off x="9720072" y="3687721"/>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$149.70</a:t>
            </a:r>
            <a:endParaRPr lang="en-US" sz="1200" dirty="0"/>
          </a:p>
        </p:txBody>
      </p:sp>
      <p:sp>
        <p:nvSpPr>
          <p:cNvPr id="160" name="Text 158"/>
          <p:cNvSpPr txBox="1"/>
          <p:nvPr/>
        </p:nvSpPr>
        <p:spPr>
          <a:xfrm>
            <a:off x="10506456" y="3687721"/>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$148.31</a:t>
            </a:r>
            <a:endParaRPr lang="en-US" sz="1200" dirty="0"/>
          </a:p>
        </p:txBody>
      </p:sp>
      <p:sp>
        <p:nvSpPr>
          <p:cNvPr id="161" name="Text 159"/>
          <p:cNvSpPr txBox="1"/>
          <p:nvPr/>
        </p:nvSpPr>
        <p:spPr>
          <a:xfrm>
            <a:off x="6208776" y="391148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2" name="Text 160"/>
          <p:cNvSpPr txBox="1"/>
          <p:nvPr/>
        </p:nvSpPr>
        <p:spPr>
          <a:xfrm>
            <a:off x="6565392" y="391148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63" name="Shape 161"/>
          <p:cNvSpPr/>
          <p:nvPr/>
        </p:nvSpPr>
        <p:spPr>
          <a:xfrm>
            <a:off x="8558784" y="3967420"/>
            <a:ext cx="193238" cy="111880"/>
          </a:xfrm>
          <a:prstGeom prst="rect">
            <a:avLst/>
          </a:prstGeom>
          <a:solidFill>
            <a:srgbClr val="C2352F"/>
          </a:solidFill>
          <a:ln/>
        </p:spPr>
      </p:sp>
      <p:sp>
        <p:nvSpPr>
          <p:cNvPr id="164" name="Text 162"/>
          <p:cNvSpPr txBox="1"/>
          <p:nvPr/>
        </p:nvSpPr>
        <p:spPr>
          <a:xfrm>
            <a:off x="9043416" y="3911480"/>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68.5%</a:t>
            </a:r>
            <a:endParaRPr lang="en-US" sz="1200" dirty="0"/>
          </a:p>
        </p:txBody>
      </p:sp>
      <p:sp>
        <p:nvSpPr>
          <p:cNvPr id="165" name="Text 163"/>
          <p:cNvSpPr txBox="1"/>
          <p:nvPr/>
        </p:nvSpPr>
        <p:spPr>
          <a:xfrm>
            <a:off x="9720072" y="3911480"/>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$150.72</a:t>
            </a:r>
            <a:endParaRPr lang="en-US" sz="1200" dirty="0"/>
          </a:p>
        </p:txBody>
      </p:sp>
      <p:sp>
        <p:nvSpPr>
          <p:cNvPr id="166" name="Text 164"/>
          <p:cNvSpPr txBox="1"/>
          <p:nvPr/>
        </p:nvSpPr>
        <p:spPr>
          <a:xfrm>
            <a:off x="10506456" y="3911480"/>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$153.91</a:t>
            </a:r>
            <a:endParaRPr lang="en-US" sz="1200" dirty="0"/>
          </a:p>
        </p:txBody>
      </p:sp>
      <p:sp>
        <p:nvSpPr>
          <p:cNvPr id="167" name="Text 165"/>
          <p:cNvSpPr txBox="1"/>
          <p:nvPr/>
        </p:nvSpPr>
        <p:spPr>
          <a:xfrm>
            <a:off x="6208776" y="4135240"/>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68" name="Text 166"/>
          <p:cNvSpPr txBox="1"/>
          <p:nvPr/>
        </p:nvSpPr>
        <p:spPr>
          <a:xfrm>
            <a:off x="6565392" y="4135240"/>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69" name="Shape 167"/>
          <p:cNvSpPr/>
          <p:nvPr/>
        </p:nvSpPr>
        <p:spPr>
          <a:xfrm>
            <a:off x="8558784" y="4191179"/>
            <a:ext cx="191473" cy="111880"/>
          </a:xfrm>
          <a:prstGeom prst="rect">
            <a:avLst/>
          </a:prstGeom>
          <a:solidFill>
            <a:srgbClr val="C2352F"/>
          </a:solidFill>
          <a:ln/>
        </p:spPr>
      </p:sp>
      <p:sp>
        <p:nvSpPr>
          <p:cNvPr id="170" name="Text 168"/>
          <p:cNvSpPr txBox="1"/>
          <p:nvPr/>
        </p:nvSpPr>
        <p:spPr>
          <a:xfrm>
            <a:off x="9043416" y="4135240"/>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68.2%</a:t>
            </a:r>
            <a:endParaRPr lang="en-US" sz="1200" dirty="0"/>
          </a:p>
        </p:txBody>
      </p:sp>
      <p:sp>
        <p:nvSpPr>
          <p:cNvPr id="171" name="Text 169"/>
          <p:cNvSpPr txBox="1"/>
          <p:nvPr/>
        </p:nvSpPr>
        <p:spPr>
          <a:xfrm>
            <a:off x="9720072" y="4135240"/>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$167.22</a:t>
            </a:r>
            <a:endParaRPr lang="en-US" sz="1200" dirty="0"/>
          </a:p>
        </p:txBody>
      </p:sp>
      <p:sp>
        <p:nvSpPr>
          <p:cNvPr id="172" name="Text 170"/>
          <p:cNvSpPr txBox="1"/>
          <p:nvPr/>
        </p:nvSpPr>
        <p:spPr>
          <a:xfrm>
            <a:off x="10506456" y="4135240"/>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$171.41</a:t>
            </a:r>
            <a:endParaRPr lang="en-US" sz="1200" dirty="0"/>
          </a:p>
        </p:txBody>
      </p:sp>
      <p:sp>
        <p:nvSpPr>
          <p:cNvPr id="173" name="Text 171"/>
          <p:cNvSpPr txBox="1"/>
          <p:nvPr/>
        </p:nvSpPr>
        <p:spPr>
          <a:xfrm>
            <a:off x="6208776" y="4358999"/>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74" name="Text 172"/>
          <p:cNvSpPr txBox="1"/>
          <p:nvPr/>
        </p:nvSpPr>
        <p:spPr>
          <a:xfrm>
            <a:off x="6565392" y="4358999"/>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75" name="Shape 173"/>
          <p:cNvSpPr/>
          <p:nvPr/>
        </p:nvSpPr>
        <p:spPr>
          <a:xfrm>
            <a:off x="8558784" y="4414938"/>
            <a:ext cx="186299" cy="111880"/>
          </a:xfrm>
          <a:prstGeom prst="rect">
            <a:avLst/>
          </a:prstGeom>
          <a:solidFill>
            <a:srgbClr val="C2352F"/>
          </a:solidFill>
          <a:ln/>
        </p:spPr>
      </p:sp>
      <p:sp>
        <p:nvSpPr>
          <p:cNvPr id="176" name="Text 174"/>
          <p:cNvSpPr txBox="1"/>
          <p:nvPr/>
        </p:nvSpPr>
        <p:spPr>
          <a:xfrm>
            <a:off x="9043416" y="4358999"/>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67.5%</a:t>
            </a:r>
            <a:endParaRPr lang="en-US" sz="1200" dirty="0"/>
          </a:p>
        </p:txBody>
      </p:sp>
      <p:sp>
        <p:nvSpPr>
          <p:cNvPr id="177" name="Text 175"/>
          <p:cNvSpPr txBox="1"/>
          <p:nvPr/>
        </p:nvSpPr>
        <p:spPr>
          <a:xfrm>
            <a:off x="9720072" y="4358999"/>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$124.92</a:t>
            </a:r>
            <a:endParaRPr lang="en-US" sz="1200" dirty="0"/>
          </a:p>
        </p:txBody>
      </p:sp>
      <p:sp>
        <p:nvSpPr>
          <p:cNvPr id="178" name="Text 176"/>
          <p:cNvSpPr txBox="1"/>
          <p:nvPr/>
        </p:nvSpPr>
        <p:spPr>
          <a:xfrm>
            <a:off x="10506456" y="4358999"/>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$129.50</a:t>
            </a:r>
            <a:endParaRPr lang="en-US" sz="1200" dirty="0"/>
          </a:p>
        </p:txBody>
      </p:sp>
      <p:sp>
        <p:nvSpPr>
          <p:cNvPr id="179" name="Text 177"/>
          <p:cNvSpPr txBox="1"/>
          <p:nvPr/>
        </p:nvSpPr>
        <p:spPr>
          <a:xfrm>
            <a:off x="6208776" y="4582758"/>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0" name="Text 178"/>
          <p:cNvSpPr txBox="1"/>
          <p:nvPr/>
        </p:nvSpPr>
        <p:spPr>
          <a:xfrm>
            <a:off x="6565392" y="4582758"/>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81" name="Shape 179"/>
          <p:cNvSpPr/>
          <p:nvPr/>
        </p:nvSpPr>
        <p:spPr>
          <a:xfrm>
            <a:off x="8558784" y="4638697"/>
            <a:ext cx="181273" cy="111880"/>
          </a:xfrm>
          <a:prstGeom prst="rect">
            <a:avLst/>
          </a:prstGeom>
          <a:solidFill>
            <a:srgbClr val="C2352F"/>
          </a:solidFill>
          <a:ln/>
        </p:spPr>
      </p:sp>
      <p:sp>
        <p:nvSpPr>
          <p:cNvPr id="182" name="Text 180"/>
          <p:cNvSpPr txBox="1"/>
          <p:nvPr/>
        </p:nvSpPr>
        <p:spPr>
          <a:xfrm>
            <a:off x="9043416" y="4582758"/>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66.7%</a:t>
            </a:r>
            <a:endParaRPr lang="en-US" sz="1200" dirty="0"/>
          </a:p>
        </p:txBody>
      </p:sp>
      <p:sp>
        <p:nvSpPr>
          <p:cNvPr id="183" name="Text 181"/>
          <p:cNvSpPr txBox="1"/>
          <p:nvPr/>
        </p:nvSpPr>
        <p:spPr>
          <a:xfrm>
            <a:off x="9720072" y="4582758"/>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$146.92</a:t>
            </a:r>
            <a:endParaRPr lang="en-US" sz="1200" dirty="0"/>
          </a:p>
        </p:txBody>
      </p:sp>
      <p:sp>
        <p:nvSpPr>
          <p:cNvPr id="184" name="Text 182"/>
          <p:cNvSpPr txBox="1"/>
          <p:nvPr/>
        </p:nvSpPr>
        <p:spPr>
          <a:xfrm>
            <a:off x="10506456" y="4582758"/>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$154.00</a:t>
            </a:r>
            <a:endParaRPr lang="en-US" sz="1200" dirty="0"/>
          </a:p>
        </p:txBody>
      </p:sp>
      <p:sp>
        <p:nvSpPr>
          <p:cNvPr id="185" name="Text 183"/>
          <p:cNvSpPr txBox="1"/>
          <p:nvPr/>
        </p:nvSpPr>
        <p:spPr>
          <a:xfrm>
            <a:off x="6208776" y="4806517"/>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86" name="Text 184"/>
          <p:cNvSpPr txBox="1"/>
          <p:nvPr/>
        </p:nvSpPr>
        <p:spPr>
          <a:xfrm>
            <a:off x="6565392" y="4806517"/>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87" name="Shape 185"/>
          <p:cNvSpPr/>
          <p:nvPr/>
        </p:nvSpPr>
        <p:spPr>
          <a:xfrm>
            <a:off x="8558784" y="4862456"/>
            <a:ext cx="179859" cy="111880"/>
          </a:xfrm>
          <a:prstGeom prst="rect">
            <a:avLst/>
          </a:prstGeom>
          <a:solidFill>
            <a:srgbClr val="C2352F"/>
          </a:solidFill>
          <a:ln/>
        </p:spPr>
      </p:sp>
      <p:sp>
        <p:nvSpPr>
          <p:cNvPr id="188" name="Text 186"/>
          <p:cNvSpPr txBox="1"/>
          <p:nvPr/>
        </p:nvSpPr>
        <p:spPr>
          <a:xfrm>
            <a:off x="9043416" y="4806517"/>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66.5%</a:t>
            </a:r>
            <a:endParaRPr lang="en-US" sz="1200" dirty="0"/>
          </a:p>
        </p:txBody>
      </p:sp>
      <p:sp>
        <p:nvSpPr>
          <p:cNvPr id="189" name="Text 187"/>
          <p:cNvSpPr txBox="1"/>
          <p:nvPr/>
        </p:nvSpPr>
        <p:spPr>
          <a:xfrm>
            <a:off x="9720072" y="4806517"/>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$139.81</a:t>
            </a:r>
            <a:endParaRPr lang="en-US" sz="1200" dirty="0"/>
          </a:p>
        </p:txBody>
      </p:sp>
      <p:sp>
        <p:nvSpPr>
          <p:cNvPr id="190" name="Text 188"/>
          <p:cNvSpPr txBox="1"/>
          <p:nvPr/>
        </p:nvSpPr>
        <p:spPr>
          <a:xfrm>
            <a:off x="10506456" y="4806517"/>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$147.00</a:t>
            </a:r>
            <a:endParaRPr lang="en-US" sz="1200" dirty="0"/>
          </a:p>
        </p:txBody>
      </p:sp>
      <p:sp>
        <p:nvSpPr>
          <p:cNvPr id="191" name="Text 189"/>
          <p:cNvSpPr txBox="1"/>
          <p:nvPr/>
        </p:nvSpPr>
        <p:spPr>
          <a:xfrm>
            <a:off x="6208776" y="5030276"/>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92" name="Text 190"/>
          <p:cNvSpPr txBox="1"/>
          <p:nvPr/>
        </p:nvSpPr>
        <p:spPr>
          <a:xfrm>
            <a:off x="6565392" y="5030276"/>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93" name="Shape 191"/>
          <p:cNvSpPr/>
          <p:nvPr/>
        </p:nvSpPr>
        <p:spPr>
          <a:xfrm>
            <a:off x="8558784" y="5086216"/>
            <a:ext cx="169444" cy="111880"/>
          </a:xfrm>
          <a:prstGeom prst="rect">
            <a:avLst/>
          </a:prstGeom>
          <a:solidFill>
            <a:srgbClr val="C2352F"/>
          </a:solidFill>
          <a:ln/>
        </p:spPr>
      </p:sp>
      <p:sp>
        <p:nvSpPr>
          <p:cNvPr id="194" name="Text 192"/>
          <p:cNvSpPr txBox="1"/>
          <p:nvPr/>
        </p:nvSpPr>
        <p:spPr>
          <a:xfrm>
            <a:off x="9043416" y="5030276"/>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65.0%</a:t>
            </a:r>
            <a:endParaRPr lang="en-US" sz="1200" dirty="0"/>
          </a:p>
        </p:txBody>
      </p:sp>
      <p:sp>
        <p:nvSpPr>
          <p:cNvPr id="195" name="Text 193"/>
          <p:cNvSpPr txBox="1"/>
          <p:nvPr/>
        </p:nvSpPr>
        <p:spPr>
          <a:xfrm>
            <a:off x="9720072" y="5030276"/>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$146.25</a:t>
            </a:r>
            <a:endParaRPr lang="en-US" sz="1200" dirty="0"/>
          </a:p>
        </p:txBody>
      </p:sp>
      <p:sp>
        <p:nvSpPr>
          <p:cNvPr id="196" name="Text 194"/>
          <p:cNvSpPr txBox="1"/>
          <p:nvPr/>
        </p:nvSpPr>
        <p:spPr>
          <a:xfrm>
            <a:off x="10506456" y="5030276"/>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$157.41</a:t>
            </a:r>
            <a:endParaRPr lang="en-US" sz="1200" dirty="0"/>
          </a:p>
        </p:txBody>
      </p:sp>
      <p:sp>
        <p:nvSpPr>
          <p:cNvPr id="197" name="Text 195"/>
          <p:cNvSpPr txBox="1"/>
          <p:nvPr/>
        </p:nvSpPr>
        <p:spPr>
          <a:xfrm>
            <a:off x="6208776" y="5254035"/>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98" name="Text 196"/>
          <p:cNvSpPr txBox="1"/>
          <p:nvPr/>
        </p:nvSpPr>
        <p:spPr>
          <a:xfrm>
            <a:off x="6565392" y="5254035"/>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99" name="Shape 197"/>
          <p:cNvSpPr/>
          <p:nvPr/>
        </p:nvSpPr>
        <p:spPr>
          <a:xfrm>
            <a:off x="8558784" y="5309975"/>
            <a:ext cx="167986" cy="111880"/>
          </a:xfrm>
          <a:prstGeom prst="rect">
            <a:avLst/>
          </a:prstGeom>
          <a:solidFill>
            <a:srgbClr val="C2352F"/>
          </a:solidFill>
          <a:ln/>
        </p:spPr>
      </p:sp>
      <p:sp>
        <p:nvSpPr>
          <p:cNvPr id="200" name="Text 198"/>
          <p:cNvSpPr txBox="1"/>
          <p:nvPr/>
        </p:nvSpPr>
        <p:spPr>
          <a:xfrm>
            <a:off x="9043416" y="5254035"/>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64.8%</a:t>
            </a:r>
            <a:endParaRPr lang="en-US" sz="1200" dirty="0"/>
          </a:p>
        </p:txBody>
      </p:sp>
      <p:sp>
        <p:nvSpPr>
          <p:cNvPr id="201" name="Text 199"/>
          <p:cNvSpPr txBox="1"/>
          <p:nvPr/>
        </p:nvSpPr>
        <p:spPr>
          <a:xfrm>
            <a:off x="9720072" y="5254035"/>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$136.12</a:t>
            </a:r>
            <a:endParaRPr lang="en-US" sz="1200" dirty="0"/>
          </a:p>
        </p:txBody>
      </p:sp>
      <p:sp>
        <p:nvSpPr>
          <p:cNvPr id="202" name="Text 200"/>
          <p:cNvSpPr txBox="1"/>
          <p:nvPr/>
        </p:nvSpPr>
        <p:spPr>
          <a:xfrm>
            <a:off x="10506456" y="5254035"/>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$147.00</a:t>
            </a:r>
            <a:endParaRPr lang="en-US" sz="1200" dirty="0"/>
          </a:p>
        </p:txBody>
      </p:sp>
      <p:sp>
        <p:nvSpPr>
          <p:cNvPr id="203" name="Text 201"/>
          <p:cNvSpPr txBox="1"/>
          <p:nvPr/>
        </p:nvSpPr>
        <p:spPr>
          <a:xfrm>
            <a:off x="6208776" y="5477794"/>
            <a:ext cx="310896" cy="223759"/>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04" name="Text 202"/>
          <p:cNvSpPr txBox="1"/>
          <p:nvPr/>
        </p:nvSpPr>
        <p:spPr>
          <a:xfrm>
            <a:off x="6565392" y="5477794"/>
            <a:ext cx="1920240" cy="223759"/>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205" name="Shape 203"/>
          <p:cNvSpPr/>
          <p:nvPr/>
        </p:nvSpPr>
        <p:spPr>
          <a:xfrm>
            <a:off x="8558784" y="5533734"/>
            <a:ext cx="145988" cy="111880"/>
          </a:xfrm>
          <a:prstGeom prst="rect">
            <a:avLst/>
          </a:prstGeom>
          <a:solidFill>
            <a:srgbClr val="C2352F"/>
          </a:solidFill>
          <a:ln/>
        </p:spPr>
      </p:sp>
      <p:sp>
        <p:nvSpPr>
          <p:cNvPr id="206" name="Text 204"/>
          <p:cNvSpPr txBox="1"/>
          <p:nvPr/>
        </p:nvSpPr>
        <p:spPr>
          <a:xfrm>
            <a:off x="9043416" y="5477794"/>
            <a:ext cx="676656" cy="223759"/>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61.5%</a:t>
            </a:r>
            <a:endParaRPr lang="en-US" sz="1200" dirty="0"/>
          </a:p>
        </p:txBody>
      </p:sp>
      <p:sp>
        <p:nvSpPr>
          <p:cNvPr id="207" name="Text 205"/>
          <p:cNvSpPr txBox="1"/>
          <p:nvPr/>
        </p:nvSpPr>
        <p:spPr>
          <a:xfrm>
            <a:off x="9720072" y="5477794"/>
            <a:ext cx="786384"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$175.47</a:t>
            </a:r>
            <a:endParaRPr lang="en-US" sz="1200" dirty="0"/>
          </a:p>
        </p:txBody>
      </p:sp>
      <p:sp>
        <p:nvSpPr>
          <p:cNvPr id="208" name="Text 206"/>
          <p:cNvSpPr txBox="1"/>
          <p:nvPr/>
        </p:nvSpPr>
        <p:spPr>
          <a:xfrm>
            <a:off x="10506456" y="5477794"/>
            <a:ext cx="841248" cy="223759"/>
          </a:xfrm>
          <a:prstGeom prst="rect">
            <a:avLst/>
          </a:prstGeom>
          <a:noFill/>
          <a:ln/>
        </p:spPr>
        <p:txBody>
          <a:bodyPr wrap="square" lIns="0" tIns="0" rIns="0" bIns="0" rtlCol="0" anchor="ctr"/>
          <a:lstStyle/>
          <a:p>
            <a:pPr algn="r" indent="0" marL="0">
              <a:buNone/>
            </a:pPr>
            <a:r>
              <a:rPr lang="en-US" sz="1200" dirty="0">
                <a:solidFill>
                  <a:srgbClr val="595959"/>
                </a:solidFill>
                <a:latin typeface="Inter" pitchFamily="34" charset="0"/>
                <a:ea typeface="Inter" pitchFamily="34" charset="-122"/>
                <a:cs typeface="Inter" pitchFamily="34" charset="-120"/>
              </a:rPr>
              <a:t>$199.50</a:t>
            </a:r>
            <a:endParaRPr lang="en-US" sz="1200" dirty="0"/>
          </a:p>
        </p:txBody>
      </p:sp>
      <p:sp>
        <p:nvSpPr>
          <p:cNvPr id="209" name="Text 207"/>
          <p:cNvSpPr txBox="1"/>
          <p:nvPr/>
        </p:nvSpPr>
        <p:spPr>
          <a:xfrm>
            <a:off x="3493008" y="1828800"/>
            <a:ext cx="676656"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210" name="Text 208"/>
          <p:cNvSpPr txBox="1"/>
          <p:nvPr/>
        </p:nvSpPr>
        <p:spPr>
          <a:xfrm>
            <a:off x="4169664" y="1828800"/>
            <a:ext cx="786384"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211" name="Text 209"/>
          <p:cNvSpPr txBox="1"/>
          <p:nvPr/>
        </p:nvSpPr>
        <p:spPr>
          <a:xfrm>
            <a:off x="4956048" y="1828800"/>
            <a:ext cx="841248"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70% TGT</a:t>
            </a:r>
            <a:endParaRPr lang="en-US" sz="1400" dirty="0"/>
          </a:p>
        </p:txBody>
      </p:sp>
      <p:sp>
        <p:nvSpPr>
          <p:cNvPr id="212" name="Text 210"/>
          <p:cNvSpPr txBox="1"/>
          <p:nvPr/>
        </p:nvSpPr>
        <p:spPr>
          <a:xfrm>
            <a:off x="9043416" y="1828800"/>
            <a:ext cx="676656"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213" name="Text 211"/>
          <p:cNvSpPr txBox="1"/>
          <p:nvPr/>
        </p:nvSpPr>
        <p:spPr>
          <a:xfrm>
            <a:off x="9720072" y="1828800"/>
            <a:ext cx="786384"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214" name="Text 212"/>
          <p:cNvSpPr txBox="1"/>
          <p:nvPr/>
        </p:nvSpPr>
        <p:spPr>
          <a:xfrm>
            <a:off x="10506456" y="1828800"/>
            <a:ext cx="841248" cy="256032"/>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70% TGT</a:t>
            </a:r>
            <a:endParaRPr lang="en-US" sz="1400" dirty="0"/>
          </a:p>
        </p:txBody>
      </p:sp>
      <p:sp>
        <p:nvSpPr>
          <p:cNvPr id="215" name="Shape 213"/>
          <p:cNvSpPr/>
          <p:nvPr/>
        </p:nvSpPr>
        <p:spPr>
          <a:xfrm>
            <a:off x="3204105" y="2121408"/>
            <a:ext cx="14630" cy="3803904"/>
          </a:xfrm>
          <a:prstGeom prst="rect">
            <a:avLst/>
          </a:prstGeom>
          <a:solidFill>
            <a:srgbClr val="0B2C4A"/>
          </a:solidFill>
          <a:ln/>
        </p:spPr>
      </p:sp>
      <p:sp>
        <p:nvSpPr>
          <p:cNvPr id="216" name="Shape 214"/>
          <p:cNvSpPr/>
          <p:nvPr/>
        </p:nvSpPr>
        <p:spPr>
          <a:xfrm>
            <a:off x="8754513" y="2121408"/>
            <a:ext cx="14630" cy="3803904"/>
          </a:xfrm>
          <a:prstGeom prst="rect">
            <a:avLst/>
          </a:prstGeom>
          <a:solidFill>
            <a:srgbClr val="0B2C4A"/>
          </a:solidFill>
          <a:ln/>
        </p:spPr>
      </p:sp>
      <p:sp>
        <p:nvSpPr>
          <p:cNvPr id="217" name="Shape 215"/>
          <p:cNvSpPr/>
          <p:nvPr/>
        </p:nvSpPr>
        <p:spPr>
          <a:xfrm>
            <a:off x="6085332" y="2121408"/>
            <a:ext cx="10973" cy="3803904"/>
          </a:xfrm>
          <a:prstGeom prst="rect">
            <a:avLst/>
          </a:prstGeom>
          <a:solidFill>
            <a:srgbClr val="D9D9D9"/>
          </a:solidFill>
          <a:ln/>
        </p:spPr>
      </p:sp>
      <p:sp>
        <p:nvSpPr>
          <p:cNvPr id="218" name="Shape 216"/>
          <p:cNvSpPr/>
          <p:nvPr/>
        </p:nvSpPr>
        <p:spPr>
          <a:xfrm>
            <a:off x="457200" y="6126480"/>
            <a:ext cx="11274552" cy="364236"/>
          </a:xfrm>
          <a:prstGeom prst="rect">
            <a:avLst/>
          </a:prstGeom>
          <a:solidFill>
            <a:srgbClr val="EDF4FA"/>
          </a:solidFill>
          <a:ln/>
        </p:spPr>
      </p:sp>
      <p:sp>
        <p:nvSpPr>
          <p:cNvPr id="219" name="Text 217"/>
          <p:cNvSpPr txBox="1"/>
          <p:nvPr/>
        </p:nvSpPr>
        <p:spPr>
          <a:xfrm>
            <a:off x="658368" y="6144768"/>
            <a:ext cx="10927080" cy="327660"/>
          </a:xfrm>
          <a:prstGeom prst="rect">
            <a:avLst/>
          </a:prstGeom>
          <a:noFill/>
          <a:ln/>
        </p:spPr>
        <p:txBody>
          <a:bodyPr wrap="square" lIns="0" tIns="0" rIns="0" bIns="0" rtlCol="0" anchor="ctr"/>
          <a:lstStyle/>
          <a:p>
            <a:pPr indent="0" marL="0">
              <a:buNone/>
            </a:pPr>
            <a:r>
              <a:rPr lang="en-US" sz="1550" b="1" dirty="0">
                <a:solidFill>
                  <a:srgbClr val="0B2C4A"/>
                </a:solidFill>
                <a:latin typeface="Inter" pitchFamily="34" charset="0"/>
                <a:ea typeface="Inter" pitchFamily="34" charset="-122"/>
                <a:cs typeface="Inter" pitchFamily="34" charset="-120"/>
              </a:rPr>
              <a:t>Jul–Sep: 25 of 33 stores at or above 70% of door rate. Cadillac runs $175.47 against a $199.50 target.</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Text 4"/>
          <p:cNvSpPr txBox="1"/>
          <p:nvPr/>
        </p:nvSpPr>
        <p:spPr>
          <a:xfrm>
            <a:off x="658368" y="1316736"/>
            <a:ext cx="2761488"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3547872"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8" name="Text 6"/>
          <p:cNvSpPr txBox="1"/>
          <p:nvPr/>
        </p:nvSpPr>
        <p:spPr>
          <a:xfrm>
            <a:off x="4297680"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9" name="Text 7"/>
          <p:cNvSpPr txBox="1"/>
          <p:nvPr/>
        </p:nvSpPr>
        <p:spPr>
          <a:xfrm>
            <a:off x="5084064"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0" name="Text 8"/>
          <p:cNvSpPr txBox="1"/>
          <p:nvPr/>
        </p:nvSpPr>
        <p:spPr>
          <a:xfrm>
            <a:off x="658368" y="175564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1" name="Shape 9"/>
          <p:cNvSpPr/>
          <p:nvPr/>
        </p:nvSpPr>
        <p:spPr>
          <a:xfrm>
            <a:off x="2651760" y="1813560"/>
            <a:ext cx="841248" cy="115824"/>
          </a:xfrm>
          <a:prstGeom prst="rect">
            <a:avLst/>
          </a:prstGeom>
          <a:solidFill>
            <a:srgbClr val="12A566"/>
          </a:solidFill>
          <a:ln/>
        </p:spPr>
      </p:sp>
      <p:sp>
        <p:nvSpPr>
          <p:cNvPr id="12" name="Text 10"/>
          <p:cNvSpPr txBox="1"/>
          <p:nvPr/>
        </p:nvSpPr>
        <p:spPr>
          <a:xfrm>
            <a:off x="3547872" y="1755648"/>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13" name="Text 11"/>
          <p:cNvSpPr txBox="1"/>
          <p:nvPr/>
        </p:nvSpPr>
        <p:spPr>
          <a:xfrm>
            <a:off x="4297680" y="175564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$244.12</a:t>
            </a:r>
            <a:endParaRPr lang="en-US" sz="1300" dirty="0"/>
          </a:p>
        </p:txBody>
      </p:sp>
      <p:sp>
        <p:nvSpPr>
          <p:cNvPr id="14" name="Text 12"/>
          <p:cNvSpPr txBox="1"/>
          <p:nvPr/>
        </p:nvSpPr>
        <p:spPr>
          <a:xfrm>
            <a:off x="5084064" y="175564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$235.87</a:t>
            </a:r>
            <a:endParaRPr lang="en-US" sz="1300" dirty="0"/>
          </a:p>
        </p:txBody>
      </p:sp>
      <p:sp>
        <p:nvSpPr>
          <p:cNvPr id="15" name="Text 13"/>
          <p:cNvSpPr txBox="1"/>
          <p:nvPr/>
        </p:nvSpPr>
        <p:spPr>
          <a:xfrm>
            <a:off x="658368" y="198729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6" name="Shape 14"/>
          <p:cNvSpPr/>
          <p:nvPr/>
        </p:nvSpPr>
        <p:spPr>
          <a:xfrm>
            <a:off x="2651760" y="2045208"/>
            <a:ext cx="661778" cy="115824"/>
          </a:xfrm>
          <a:prstGeom prst="rect">
            <a:avLst/>
          </a:prstGeom>
          <a:solidFill>
            <a:srgbClr val="12A566"/>
          </a:solidFill>
          <a:ln/>
        </p:spPr>
      </p:sp>
      <p:sp>
        <p:nvSpPr>
          <p:cNvPr id="17" name="Text 15"/>
          <p:cNvSpPr txBox="1"/>
          <p:nvPr/>
        </p:nvSpPr>
        <p:spPr>
          <a:xfrm>
            <a:off x="3547872" y="1987296"/>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8" name="Text 16"/>
          <p:cNvSpPr txBox="1"/>
          <p:nvPr/>
        </p:nvSpPr>
        <p:spPr>
          <a:xfrm>
            <a:off x="4297680" y="1987296"/>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$161.80</a:t>
            </a:r>
            <a:endParaRPr lang="en-US" sz="1300" dirty="0"/>
          </a:p>
        </p:txBody>
      </p:sp>
      <p:sp>
        <p:nvSpPr>
          <p:cNvPr id="19" name="Text 17"/>
          <p:cNvSpPr txBox="1"/>
          <p:nvPr/>
        </p:nvSpPr>
        <p:spPr>
          <a:xfrm>
            <a:off x="5084064" y="1987296"/>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$179.87</a:t>
            </a:r>
            <a:endParaRPr lang="en-US" sz="1300" dirty="0"/>
          </a:p>
        </p:txBody>
      </p:sp>
      <p:sp>
        <p:nvSpPr>
          <p:cNvPr id="20" name="Text 18"/>
          <p:cNvSpPr txBox="1"/>
          <p:nvPr/>
        </p:nvSpPr>
        <p:spPr>
          <a:xfrm>
            <a:off x="658368" y="221894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1" name="Shape 19"/>
          <p:cNvSpPr/>
          <p:nvPr/>
        </p:nvSpPr>
        <p:spPr>
          <a:xfrm>
            <a:off x="2651760" y="2276856"/>
            <a:ext cx="659376" cy="115824"/>
          </a:xfrm>
          <a:prstGeom prst="rect">
            <a:avLst/>
          </a:prstGeom>
          <a:solidFill>
            <a:srgbClr val="12A566"/>
          </a:solidFill>
          <a:ln/>
        </p:spPr>
      </p:sp>
      <p:sp>
        <p:nvSpPr>
          <p:cNvPr id="22" name="Text 20"/>
          <p:cNvSpPr txBox="1"/>
          <p:nvPr/>
        </p:nvSpPr>
        <p:spPr>
          <a:xfrm>
            <a:off x="3547872" y="2218944"/>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23" name="Text 21"/>
          <p:cNvSpPr txBox="1"/>
          <p:nvPr/>
        </p:nvSpPr>
        <p:spPr>
          <a:xfrm>
            <a:off x="4297680" y="2218944"/>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$165.96</a:t>
            </a:r>
            <a:endParaRPr lang="en-US" sz="1300" dirty="0"/>
          </a:p>
        </p:txBody>
      </p:sp>
      <p:sp>
        <p:nvSpPr>
          <p:cNvPr id="24" name="Text 22"/>
          <p:cNvSpPr txBox="1"/>
          <p:nvPr/>
        </p:nvSpPr>
        <p:spPr>
          <a:xfrm>
            <a:off x="5084064" y="2218944"/>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25" name="Text 23"/>
          <p:cNvSpPr txBox="1"/>
          <p:nvPr/>
        </p:nvSpPr>
        <p:spPr>
          <a:xfrm>
            <a:off x="658368" y="245059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6" name="Shape 24"/>
          <p:cNvSpPr/>
          <p:nvPr/>
        </p:nvSpPr>
        <p:spPr>
          <a:xfrm>
            <a:off x="2651760" y="2508504"/>
            <a:ext cx="642710" cy="115824"/>
          </a:xfrm>
          <a:prstGeom prst="rect">
            <a:avLst/>
          </a:prstGeom>
          <a:solidFill>
            <a:srgbClr val="12A566"/>
          </a:solidFill>
          <a:ln/>
        </p:spPr>
      </p:sp>
      <p:sp>
        <p:nvSpPr>
          <p:cNvPr id="27" name="Text 25"/>
          <p:cNvSpPr txBox="1"/>
          <p:nvPr/>
        </p:nvSpPr>
        <p:spPr>
          <a:xfrm>
            <a:off x="3547872" y="2450592"/>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8" name="Text 26"/>
          <p:cNvSpPr txBox="1"/>
          <p:nvPr/>
        </p:nvSpPr>
        <p:spPr>
          <a:xfrm>
            <a:off x="4297680" y="2450592"/>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$199.04</a:t>
            </a:r>
            <a:endParaRPr lang="en-US" sz="1300" dirty="0"/>
          </a:p>
        </p:txBody>
      </p:sp>
      <p:sp>
        <p:nvSpPr>
          <p:cNvPr id="29" name="Text 27"/>
          <p:cNvSpPr txBox="1"/>
          <p:nvPr/>
        </p:nvSpPr>
        <p:spPr>
          <a:xfrm>
            <a:off x="5084064" y="2450592"/>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30" name="Text 28"/>
          <p:cNvSpPr txBox="1"/>
          <p:nvPr/>
        </p:nvSpPr>
        <p:spPr>
          <a:xfrm>
            <a:off x="658368" y="268224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1" name="Shape 29"/>
          <p:cNvSpPr/>
          <p:nvPr/>
        </p:nvSpPr>
        <p:spPr>
          <a:xfrm>
            <a:off x="2651760" y="2740152"/>
            <a:ext cx="523587" cy="115824"/>
          </a:xfrm>
          <a:prstGeom prst="rect">
            <a:avLst/>
          </a:prstGeom>
          <a:solidFill>
            <a:srgbClr val="12A566"/>
          </a:solidFill>
          <a:ln/>
        </p:spPr>
      </p:sp>
      <p:sp>
        <p:nvSpPr>
          <p:cNvPr id="32" name="Text 30"/>
          <p:cNvSpPr txBox="1"/>
          <p:nvPr/>
        </p:nvSpPr>
        <p:spPr>
          <a:xfrm>
            <a:off x="3547872" y="2682240"/>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33" name="Text 31"/>
          <p:cNvSpPr txBox="1"/>
          <p:nvPr/>
        </p:nvSpPr>
        <p:spPr>
          <a:xfrm>
            <a:off x="4297680" y="2682240"/>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$234.48</a:t>
            </a:r>
            <a:endParaRPr lang="en-US" sz="1300" dirty="0"/>
          </a:p>
        </p:txBody>
      </p:sp>
      <p:sp>
        <p:nvSpPr>
          <p:cNvPr id="34" name="Text 32"/>
          <p:cNvSpPr txBox="1"/>
          <p:nvPr/>
        </p:nvSpPr>
        <p:spPr>
          <a:xfrm>
            <a:off x="5084064" y="2682240"/>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$294.87</a:t>
            </a:r>
            <a:endParaRPr lang="en-US" sz="1300" dirty="0"/>
          </a:p>
        </p:txBody>
      </p:sp>
      <p:sp>
        <p:nvSpPr>
          <p:cNvPr id="35" name="Text 33"/>
          <p:cNvSpPr txBox="1"/>
          <p:nvPr/>
        </p:nvSpPr>
        <p:spPr>
          <a:xfrm>
            <a:off x="658368" y="291388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36" name="Shape 34"/>
          <p:cNvSpPr/>
          <p:nvPr/>
        </p:nvSpPr>
        <p:spPr>
          <a:xfrm>
            <a:off x="2651760" y="2971800"/>
            <a:ext cx="515855" cy="115824"/>
          </a:xfrm>
          <a:prstGeom prst="rect">
            <a:avLst/>
          </a:prstGeom>
          <a:solidFill>
            <a:srgbClr val="12A566"/>
          </a:solidFill>
          <a:ln/>
        </p:spPr>
      </p:sp>
      <p:sp>
        <p:nvSpPr>
          <p:cNvPr id="37" name="Text 35"/>
          <p:cNvSpPr txBox="1"/>
          <p:nvPr/>
        </p:nvSpPr>
        <p:spPr>
          <a:xfrm>
            <a:off x="3547872" y="2913888"/>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38" name="Text 36"/>
          <p:cNvSpPr txBox="1"/>
          <p:nvPr/>
        </p:nvSpPr>
        <p:spPr>
          <a:xfrm>
            <a:off x="4297680" y="291388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$165.67</a:t>
            </a:r>
            <a:endParaRPr lang="en-US" sz="1300" dirty="0"/>
          </a:p>
        </p:txBody>
      </p:sp>
      <p:sp>
        <p:nvSpPr>
          <p:cNvPr id="39" name="Text 37"/>
          <p:cNvSpPr txBox="1"/>
          <p:nvPr/>
        </p:nvSpPr>
        <p:spPr>
          <a:xfrm>
            <a:off x="5084064" y="291388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$209.87</a:t>
            </a:r>
            <a:endParaRPr lang="en-US" sz="1300" dirty="0"/>
          </a:p>
        </p:txBody>
      </p:sp>
      <p:sp>
        <p:nvSpPr>
          <p:cNvPr id="40" name="Text 38"/>
          <p:cNvSpPr txBox="1"/>
          <p:nvPr/>
        </p:nvSpPr>
        <p:spPr>
          <a:xfrm>
            <a:off x="658368" y="314553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1" name="Shape 39"/>
          <p:cNvSpPr/>
          <p:nvPr/>
        </p:nvSpPr>
        <p:spPr>
          <a:xfrm>
            <a:off x="2651760" y="3203448"/>
            <a:ext cx="510186" cy="115824"/>
          </a:xfrm>
          <a:prstGeom prst="rect">
            <a:avLst/>
          </a:prstGeom>
          <a:solidFill>
            <a:srgbClr val="12A566"/>
          </a:solidFill>
          <a:ln/>
        </p:spPr>
      </p:sp>
      <p:sp>
        <p:nvSpPr>
          <p:cNvPr id="42" name="Text 40"/>
          <p:cNvSpPr txBox="1"/>
          <p:nvPr/>
        </p:nvSpPr>
        <p:spPr>
          <a:xfrm>
            <a:off x="3547872" y="3145536"/>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43" name="Text 41"/>
          <p:cNvSpPr txBox="1"/>
          <p:nvPr/>
        </p:nvSpPr>
        <p:spPr>
          <a:xfrm>
            <a:off x="4297680" y="3145536"/>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$160.84</a:t>
            </a:r>
            <a:endParaRPr lang="en-US" sz="1300" dirty="0"/>
          </a:p>
        </p:txBody>
      </p:sp>
      <p:sp>
        <p:nvSpPr>
          <p:cNvPr id="44" name="Text 42"/>
          <p:cNvSpPr txBox="1"/>
          <p:nvPr/>
        </p:nvSpPr>
        <p:spPr>
          <a:xfrm>
            <a:off x="5084064" y="3145536"/>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$204.87</a:t>
            </a:r>
            <a:endParaRPr lang="en-US" sz="1300" dirty="0"/>
          </a:p>
        </p:txBody>
      </p:sp>
      <p:sp>
        <p:nvSpPr>
          <p:cNvPr id="45" name="Text 43"/>
          <p:cNvSpPr txBox="1"/>
          <p:nvPr/>
        </p:nvSpPr>
        <p:spPr>
          <a:xfrm>
            <a:off x="658368" y="337718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46" name="Shape 44"/>
          <p:cNvSpPr/>
          <p:nvPr/>
        </p:nvSpPr>
        <p:spPr>
          <a:xfrm>
            <a:off x="2651760" y="3435096"/>
            <a:ext cx="486924" cy="115824"/>
          </a:xfrm>
          <a:prstGeom prst="rect">
            <a:avLst/>
          </a:prstGeom>
          <a:solidFill>
            <a:srgbClr val="12A566"/>
          </a:solidFill>
          <a:ln/>
        </p:spPr>
      </p:sp>
      <p:sp>
        <p:nvSpPr>
          <p:cNvPr id="47" name="Text 45"/>
          <p:cNvSpPr txBox="1"/>
          <p:nvPr/>
        </p:nvSpPr>
        <p:spPr>
          <a:xfrm>
            <a:off x="3547872" y="3377184"/>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48" name="Text 46"/>
          <p:cNvSpPr txBox="1"/>
          <p:nvPr/>
        </p:nvSpPr>
        <p:spPr>
          <a:xfrm>
            <a:off x="4297680" y="3377184"/>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$141.89</a:t>
            </a:r>
            <a:endParaRPr lang="en-US" sz="1300" dirty="0"/>
          </a:p>
        </p:txBody>
      </p:sp>
      <p:sp>
        <p:nvSpPr>
          <p:cNvPr id="49" name="Text 47"/>
          <p:cNvSpPr txBox="1"/>
          <p:nvPr/>
        </p:nvSpPr>
        <p:spPr>
          <a:xfrm>
            <a:off x="5084064" y="3377184"/>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50" name="Text 48"/>
          <p:cNvSpPr txBox="1"/>
          <p:nvPr/>
        </p:nvSpPr>
        <p:spPr>
          <a:xfrm>
            <a:off x="658368" y="360883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51" name="Shape 49"/>
          <p:cNvSpPr/>
          <p:nvPr/>
        </p:nvSpPr>
        <p:spPr>
          <a:xfrm>
            <a:off x="2651760" y="3666744"/>
            <a:ext cx="482951" cy="115824"/>
          </a:xfrm>
          <a:prstGeom prst="rect">
            <a:avLst/>
          </a:prstGeom>
          <a:solidFill>
            <a:srgbClr val="12A566"/>
          </a:solidFill>
          <a:ln/>
        </p:spPr>
      </p:sp>
      <p:sp>
        <p:nvSpPr>
          <p:cNvPr id="52" name="Text 50"/>
          <p:cNvSpPr txBox="1"/>
          <p:nvPr/>
        </p:nvSpPr>
        <p:spPr>
          <a:xfrm>
            <a:off x="3547872" y="3608832"/>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53" name="Text 51"/>
          <p:cNvSpPr txBox="1"/>
          <p:nvPr/>
        </p:nvSpPr>
        <p:spPr>
          <a:xfrm>
            <a:off x="4297680" y="3608832"/>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$266.72</a:t>
            </a:r>
            <a:endParaRPr lang="en-US" sz="1300" dirty="0"/>
          </a:p>
        </p:txBody>
      </p:sp>
      <p:sp>
        <p:nvSpPr>
          <p:cNvPr id="54" name="Text 52"/>
          <p:cNvSpPr txBox="1"/>
          <p:nvPr/>
        </p:nvSpPr>
        <p:spPr>
          <a:xfrm>
            <a:off x="5084064" y="3608832"/>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$348.87</a:t>
            </a:r>
            <a:endParaRPr lang="en-US" sz="1300" dirty="0"/>
          </a:p>
        </p:txBody>
      </p:sp>
      <p:sp>
        <p:nvSpPr>
          <p:cNvPr id="55" name="Text 53"/>
          <p:cNvSpPr txBox="1"/>
          <p:nvPr/>
        </p:nvSpPr>
        <p:spPr>
          <a:xfrm>
            <a:off x="658368" y="384048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6" name="Shape 54"/>
          <p:cNvSpPr/>
          <p:nvPr/>
        </p:nvSpPr>
        <p:spPr>
          <a:xfrm>
            <a:off x="2651760" y="3898392"/>
            <a:ext cx="469589" cy="115824"/>
          </a:xfrm>
          <a:prstGeom prst="rect">
            <a:avLst/>
          </a:prstGeom>
          <a:solidFill>
            <a:srgbClr val="12A566"/>
          </a:solidFill>
          <a:ln/>
        </p:spPr>
      </p:sp>
      <p:sp>
        <p:nvSpPr>
          <p:cNvPr id="57" name="Text 55"/>
          <p:cNvSpPr txBox="1"/>
          <p:nvPr/>
        </p:nvSpPr>
        <p:spPr>
          <a:xfrm>
            <a:off x="3547872" y="3840480"/>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58" name="Text 56"/>
          <p:cNvSpPr txBox="1"/>
          <p:nvPr/>
        </p:nvSpPr>
        <p:spPr>
          <a:xfrm>
            <a:off x="4297680" y="3840480"/>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$233.88</a:t>
            </a:r>
            <a:endParaRPr lang="en-US" sz="1300" dirty="0"/>
          </a:p>
        </p:txBody>
      </p:sp>
      <p:sp>
        <p:nvSpPr>
          <p:cNvPr id="59" name="Text 57"/>
          <p:cNvSpPr txBox="1"/>
          <p:nvPr/>
        </p:nvSpPr>
        <p:spPr>
          <a:xfrm>
            <a:off x="5084064" y="3840480"/>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$310.00</a:t>
            </a:r>
            <a:endParaRPr lang="en-US" sz="1300" dirty="0"/>
          </a:p>
        </p:txBody>
      </p:sp>
      <p:sp>
        <p:nvSpPr>
          <p:cNvPr id="60" name="Text 58"/>
          <p:cNvSpPr txBox="1"/>
          <p:nvPr/>
        </p:nvSpPr>
        <p:spPr>
          <a:xfrm>
            <a:off x="658368" y="407212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1" name="Shape 59"/>
          <p:cNvSpPr/>
          <p:nvPr/>
        </p:nvSpPr>
        <p:spPr>
          <a:xfrm>
            <a:off x="2651760" y="4130040"/>
            <a:ext cx="465019" cy="115824"/>
          </a:xfrm>
          <a:prstGeom prst="rect">
            <a:avLst/>
          </a:prstGeom>
          <a:solidFill>
            <a:srgbClr val="12A566"/>
          </a:solidFill>
          <a:ln/>
        </p:spPr>
      </p:sp>
      <p:sp>
        <p:nvSpPr>
          <p:cNvPr id="62" name="Text 60"/>
          <p:cNvSpPr txBox="1"/>
          <p:nvPr/>
        </p:nvSpPr>
        <p:spPr>
          <a:xfrm>
            <a:off x="3547872" y="4072128"/>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63" name="Text 61"/>
          <p:cNvSpPr txBox="1"/>
          <p:nvPr/>
        </p:nvSpPr>
        <p:spPr>
          <a:xfrm>
            <a:off x="4297680" y="407212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$180.14</a:t>
            </a:r>
            <a:endParaRPr lang="en-US" sz="1300" dirty="0"/>
          </a:p>
        </p:txBody>
      </p:sp>
      <p:sp>
        <p:nvSpPr>
          <p:cNvPr id="64" name="Text 62"/>
          <p:cNvSpPr txBox="1"/>
          <p:nvPr/>
        </p:nvSpPr>
        <p:spPr>
          <a:xfrm>
            <a:off x="5084064" y="407212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$239.87</a:t>
            </a:r>
            <a:endParaRPr lang="en-US" sz="1300" dirty="0"/>
          </a:p>
        </p:txBody>
      </p:sp>
      <p:sp>
        <p:nvSpPr>
          <p:cNvPr id="65" name="Shape 63"/>
          <p:cNvSpPr/>
          <p:nvPr/>
        </p:nvSpPr>
        <p:spPr>
          <a:xfrm>
            <a:off x="603504" y="4303776"/>
            <a:ext cx="5285232" cy="222504"/>
          </a:xfrm>
          <a:prstGeom prst="rect">
            <a:avLst/>
          </a:prstGeom>
          <a:solidFill>
            <a:srgbClr val="EDF4FA"/>
          </a:solidFill>
          <a:ln/>
        </p:spPr>
      </p:sp>
      <p:sp>
        <p:nvSpPr>
          <p:cNvPr id="66" name="Text 64"/>
          <p:cNvSpPr txBox="1"/>
          <p:nvPr/>
        </p:nvSpPr>
        <p:spPr>
          <a:xfrm>
            <a:off x="658368" y="4303776"/>
            <a:ext cx="1920240" cy="23164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67" name="Shape 65"/>
          <p:cNvSpPr/>
          <p:nvPr/>
        </p:nvSpPr>
        <p:spPr>
          <a:xfrm>
            <a:off x="2651760" y="4361688"/>
            <a:ext cx="449272" cy="115824"/>
          </a:xfrm>
          <a:prstGeom prst="rect">
            <a:avLst/>
          </a:prstGeom>
          <a:solidFill>
            <a:srgbClr val="0B2C4A"/>
          </a:solidFill>
          <a:ln/>
        </p:spPr>
      </p:sp>
      <p:sp>
        <p:nvSpPr>
          <p:cNvPr id="68" name="Text 66"/>
          <p:cNvSpPr txBox="1"/>
          <p:nvPr/>
        </p:nvSpPr>
        <p:spPr>
          <a:xfrm>
            <a:off x="3547872" y="4303776"/>
            <a:ext cx="749808" cy="23164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73.9%</a:t>
            </a:r>
            <a:endParaRPr lang="en-US" sz="1300" dirty="0"/>
          </a:p>
        </p:txBody>
      </p:sp>
      <p:sp>
        <p:nvSpPr>
          <p:cNvPr id="69" name="Text 67"/>
          <p:cNvSpPr txBox="1"/>
          <p:nvPr/>
        </p:nvSpPr>
        <p:spPr>
          <a:xfrm>
            <a:off x="4297680" y="4303776"/>
            <a:ext cx="786384" cy="23164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$168.93</a:t>
            </a:r>
            <a:endParaRPr lang="en-US" sz="1300" dirty="0"/>
          </a:p>
        </p:txBody>
      </p:sp>
      <p:sp>
        <p:nvSpPr>
          <p:cNvPr id="70" name="Text 68"/>
          <p:cNvSpPr txBox="1"/>
          <p:nvPr/>
        </p:nvSpPr>
        <p:spPr>
          <a:xfrm>
            <a:off x="5084064" y="4303776"/>
            <a:ext cx="786384" cy="23164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$228.55</a:t>
            </a:r>
            <a:endParaRPr lang="en-US" sz="1300" dirty="0"/>
          </a:p>
        </p:txBody>
      </p:sp>
      <p:sp>
        <p:nvSpPr>
          <p:cNvPr id="71" name="Text 69"/>
          <p:cNvSpPr txBox="1"/>
          <p:nvPr/>
        </p:nvSpPr>
        <p:spPr>
          <a:xfrm>
            <a:off x="658368" y="453542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2" name="Shape 70"/>
          <p:cNvSpPr/>
          <p:nvPr/>
        </p:nvSpPr>
        <p:spPr>
          <a:xfrm>
            <a:off x="2651760" y="4593336"/>
            <a:ext cx="439276" cy="115824"/>
          </a:xfrm>
          <a:prstGeom prst="rect">
            <a:avLst/>
          </a:prstGeom>
          <a:solidFill>
            <a:srgbClr val="12A566"/>
          </a:solidFill>
          <a:ln/>
        </p:spPr>
      </p:sp>
      <p:sp>
        <p:nvSpPr>
          <p:cNvPr id="73" name="Text 71"/>
          <p:cNvSpPr txBox="1"/>
          <p:nvPr/>
        </p:nvSpPr>
        <p:spPr>
          <a:xfrm>
            <a:off x="3547872" y="4535424"/>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74" name="Text 72"/>
          <p:cNvSpPr txBox="1"/>
          <p:nvPr/>
        </p:nvSpPr>
        <p:spPr>
          <a:xfrm>
            <a:off x="4297680" y="4535424"/>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$154.55</a:t>
            </a:r>
            <a:endParaRPr lang="en-US" sz="1300" dirty="0"/>
          </a:p>
        </p:txBody>
      </p:sp>
      <p:sp>
        <p:nvSpPr>
          <p:cNvPr id="75" name="Text 73"/>
          <p:cNvSpPr txBox="1"/>
          <p:nvPr/>
        </p:nvSpPr>
        <p:spPr>
          <a:xfrm>
            <a:off x="5084064" y="4535424"/>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$211.26</a:t>
            </a:r>
            <a:endParaRPr lang="en-US" sz="1300" dirty="0"/>
          </a:p>
        </p:txBody>
      </p:sp>
      <p:sp>
        <p:nvSpPr>
          <p:cNvPr id="76" name="Text 74"/>
          <p:cNvSpPr txBox="1"/>
          <p:nvPr/>
        </p:nvSpPr>
        <p:spPr>
          <a:xfrm>
            <a:off x="658368" y="476707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7" name="Shape 75"/>
          <p:cNvSpPr/>
          <p:nvPr/>
        </p:nvSpPr>
        <p:spPr>
          <a:xfrm>
            <a:off x="2651760" y="4824984"/>
            <a:ext cx="429617" cy="115824"/>
          </a:xfrm>
          <a:prstGeom prst="rect">
            <a:avLst/>
          </a:prstGeom>
          <a:solidFill>
            <a:srgbClr val="12A566"/>
          </a:solidFill>
          <a:ln/>
        </p:spPr>
      </p:sp>
      <p:sp>
        <p:nvSpPr>
          <p:cNvPr id="78" name="Text 76"/>
          <p:cNvSpPr txBox="1"/>
          <p:nvPr/>
        </p:nvSpPr>
        <p:spPr>
          <a:xfrm>
            <a:off x="3547872" y="4767072"/>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79" name="Text 77"/>
          <p:cNvSpPr txBox="1"/>
          <p:nvPr/>
        </p:nvSpPr>
        <p:spPr>
          <a:xfrm>
            <a:off x="4297680" y="4767072"/>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$153.45</a:t>
            </a:r>
            <a:endParaRPr lang="en-US" sz="1300" dirty="0"/>
          </a:p>
        </p:txBody>
      </p:sp>
      <p:sp>
        <p:nvSpPr>
          <p:cNvPr id="80" name="Text 78"/>
          <p:cNvSpPr txBox="1"/>
          <p:nvPr/>
        </p:nvSpPr>
        <p:spPr>
          <a:xfrm>
            <a:off x="5084064" y="4767072"/>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81" name="Text 79"/>
          <p:cNvSpPr txBox="1"/>
          <p:nvPr/>
        </p:nvSpPr>
        <p:spPr>
          <a:xfrm>
            <a:off x="658368" y="499872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2" name="Shape 80"/>
          <p:cNvSpPr/>
          <p:nvPr/>
        </p:nvSpPr>
        <p:spPr>
          <a:xfrm>
            <a:off x="2651760" y="5056632"/>
            <a:ext cx="406129" cy="115824"/>
          </a:xfrm>
          <a:prstGeom prst="rect">
            <a:avLst/>
          </a:prstGeom>
          <a:solidFill>
            <a:srgbClr val="12A566"/>
          </a:solidFill>
          <a:ln/>
        </p:spPr>
      </p:sp>
      <p:sp>
        <p:nvSpPr>
          <p:cNvPr id="83" name="Text 81"/>
          <p:cNvSpPr txBox="1"/>
          <p:nvPr/>
        </p:nvSpPr>
        <p:spPr>
          <a:xfrm>
            <a:off x="3547872" y="4998720"/>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84" name="Text 82"/>
          <p:cNvSpPr txBox="1"/>
          <p:nvPr/>
        </p:nvSpPr>
        <p:spPr>
          <a:xfrm>
            <a:off x="4297680" y="4998720"/>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$149.70</a:t>
            </a:r>
            <a:endParaRPr lang="en-US" sz="1300" dirty="0"/>
          </a:p>
        </p:txBody>
      </p:sp>
      <p:sp>
        <p:nvSpPr>
          <p:cNvPr id="85" name="Text 83"/>
          <p:cNvSpPr txBox="1"/>
          <p:nvPr/>
        </p:nvSpPr>
        <p:spPr>
          <a:xfrm>
            <a:off x="5084064" y="4998720"/>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86" name="Text 84"/>
          <p:cNvSpPr txBox="1"/>
          <p:nvPr/>
        </p:nvSpPr>
        <p:spPr>
          <a:xfrm>
            <a:off x="658368" y="523036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7" name="Shape 85"/>
          <p:cNvSpPr/>
          <p:nvPr/>
        </p:nvSpPr>
        <p:spPr>
          <a:xfrm>
            <a:off x="2651760" y="5288280"/>
            <a:ext cx="378253" cy="115824"/>
          </a:xfrm>
          <a:prstGeom prst="rect">
            <a:avLst/>
          </a:prstGeom>
          <a:solidFill>
            <a:srgbClr val="C2352F"/>
          </a:solidFill>
          <a:ln/>
        </p:spPr>
      </p:sp>
      <p:sp>
        <p:nvSpPr>
          <p:cNvPr id="88" name="Text 86"/>
          <p:cNvSpPr txBox="1"/>
          <p:nvPr/>
        </p:nvSpPr>
        <p:spPr>
          <a:xfrm>
            <a:off x="3547872" y="5230368"/>
            <a:ext cx="749808" cy="23164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89" name="Text 87"/>
          <p:cNvSpPr txBox="1"/>
          <p:nvPr/>
        </p:nvSpPr>
        <p:spPr>
          <a:xfrm>
            <a:off x="4297680" y="523036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$150.72</a:t>
            </a:r>
            <a:endParaRPr lang="en-US" sz="1300" dirty="0"/>
          </a:p>
        </p:txBody>
      </p:sp>
      <p:sp>
        <p:nvSpPr>
          <p:cNvPr id="90" name="Text 88"/>
          <p:cNvSpPr txBox="1"/>
          <p:nvPr/>
        </p:nvSpPr>
        <p:spPr>
          <a:xfrm>
            <a:off x="5084064" y="523036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$219.87</a:t>
            </a:r>
            <a:endParaRPr lang="en-US" sz="1300" dirty="0"/>
          </a:p>
        </p:txBody>
      </p:sp>
      <p:sp>
        <p:nvSpPr>
          <p:cNvPr id="91" name="Text 89"/>
          <p:cNvSpPr txBox="1"/>
          <p:nvPr/>
        </p:nvSpPr>
        <p:spPr>
          <a:xfrm>
            <a:off x="658368" y="546201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2" name="Shape 90"/>
          <p:cNvSpPr/>
          <p:nvPr/>
        </p:nvSpPr>
        <p:spPr>
          <a:xfrm>
            <a:off x="2651760" y="5519928"/>
            <a:ext cx="331678" cy="115824"/>
          </a:xfrm>
          <a:prstGeom prst="rect">
            <a:avLst/>
          </a:prstGeom>
          <a:solidFill>
            <a:srgbClr val="C2352F"/>
          </a:solidFill>
          <a:ln/>
        </p:spPr>
      </p:sp>
      <p:sp>
        <p:nvSpPr>
          <p:cNvPr id="93" name="Text 91"/>
          <p:cNvSpPr txBox="1"/>
          <p:nvPr/>
        </p:nvSpPr>
        <p:spPr>
          <a:xfrm>
            <a:off x="3547872" y="5462016"/>
            <a:ext cx="749808" cy="23164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94" name="Text 92"/>
          <p:cNvSpPr txBox="1"/>
          <p:nvPr/>
        </p:nvSpPr>
        <p:spPr>
          <a:xfrm>
            <a:off x="4297680" y="5462016"/>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$146.25</a:t>
            </a:r>
            <a:endParaRPr lang="en-US" sz="1300" dirty="0"/>
          </a:p>
        </p:txBody>
      </p:sp>
      <p:sp>
        <p:nvSpPr>
          <p:cNvPr id="95" name="Text 93"/>
          <p:cNvSpPr txBox="1"/>
          <p:nvPr/>
        </p:nvSpPr>
        <p:spPr>
          <a:xfrm>
            <a:off x="5084064" y="5462016"/>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96" name="Text 94"/>
          <p:cNvSpPr txBox="1"/>
          <p:nvPr/>
        </p:nvSpPr>
        <p:spPr>
          <a:xfrm>
            <a:off x="658368" y="569366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7" name="Shape 95"/>
          <p:cNvSpPr/>
          <p:nvPr/>
        </p:nvSpPr>
        <p:spPr>
          <a:xfrm>
            <a:off x="2651760" y="5751576"/>
            <a:ext cx="285765" cy="115824"/>
          </a:xfrm>
          <a:prstGeom prst="rect">
            <a:avLst/>
          </a:prstGeom>
          <a:solidFill>
            <a:srgbClr val="C2352F"/>
          </a:solidFill>
          <a:ln/>
        </p:spPr>
      </p:sp>
      <p:sp>
        <p:nvSpPr>
          <p:cNvPr id="98" name="Text 96"/>
          <p:cNvSpPr txBox="1"/>
          <p:nvPr/>
        </p:nvSpPr>
        <p:spPr>
          <a:xfrm>
            <a:off x="3547872" y="5693664"/>
            <a:ext cx="749808" cy="23164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99" name="Text 97"/>
          <p:cNvSpPr txBox="1"/>
          <p:nvPr/>
        </p:nvSpPr>
        <p:spPr>
          <a:xfrm>
            <a:off x="4297680" y="5693664"/>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$175.47</a:t>
            </a:r>
            <a:endParaRPr lang="en-US" sz="1300" dirty="0"/>
          </a:p>
        </p:txBody>
      </p:sp>
      <p:sp>
        <p:nvSpPr>
          <p:cNvPr id="100" name="Text 98"/>
          <p:cNvSpPr txBox="1"/>
          <p:nvPr/>
        </p:nvSpPr>
        <p:spPr>
          <a:xfrm>
            <a:off x="5084064" y="5693664"/>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$285.00</a:t>
            </a:r>
            <a:endParaRPr lang="en-US" sz="1300" dirty="0"/>
          </a:p>
        </p:txBody>
      </p:sp>
      <p:sp>
        <p:nvSpPr>
          <p:cNvPr id="101" name="Shape 99"/>
          <p:cNvSpPr/>
          <p:nvPr/>
        </p:nvSpPr>
        <p:spPr>
          <a:xfrm>
            <a:off x="3041893" y="1755648"/>
            <a:ext cx="14630" cy="4169664"/>
          </a:xfrm>
          <a:prstGeom prst="rect">
            <a:avLst/>
          </a:prstGeom>
          <a:solidFill>
            <a:srgbClr val="0B2C4A"/>
          </a:solidFill>
          <a:ln/>
        </p:spPr>
      </p:sp>
      <p:sp>
        <p:nvSpPr>
          <p:cNvPr id="102" name="Text 100"/>
          <p:cNvSpPr txBox="1"/>
          <p:nvPr/>
        </p:nvSpPr>
        <p:spPr>
          <a:xfrm>
            <a:off x="6208776" y="1316736"/>
            <a:ext cx="2761488"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103" name="Text 101"/>
          <p:cNvSpPr txBox="1"/>
          <p:nvPr/>
        </p:nvSpPr>
        <p:spPr>
          <a:xfrm>
            <a:off x="909828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04" name="Text 102"/>
          <p:cNvSpPr txBox="1"/>
          <p:nvPr/>
        </p:nvSpPr>
        <p:spPr>
          <a:xfrm>
            <a:off x="9848088"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05" name="Text 103"/>
          <p:cNvSpPr txBox="1"/>
          <p:nvPr/>
        </p:nvSpPr>
        <p:spPr>
          <a:xfrm>
            <a:off x="10634472"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06" name="Text 104"/>
          <p:cNvSpPr txBox="1"/>
          <p:nvPr/>
        </p:nvSpPr>
        <p:spPr>
          <a:xfrm>
            <a:off x="6208776" y="175564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7" name="Shape 105"/>
          <p:cNvSpPr/>
          <p:nvPr/>
        </p:nvSpPr>
        <p:spPr>
          <a:xfrm>
            <a:off x="8202168" y="1813560"/>
            <a:ext cx="665301" cy="115824"/>
          </a:xfrm>
          <a:prstGeom prst="rect">
            <a:avLst/>
          </a:prstGeom>
          <a:solidFill>
            <a:srgbClr val="12A566"/>
          </a:solidFill>
          <a:ln/>
        </p:spPr>
      </p:sp>
      <p:sp>
        <p:nvSpPr>
          <p:cNvPr id="108" name="Text 106"/>
          <p:cNvSpPr txBox="1"/>
          <p:nvPr/>
        </p:nvSpPr>
        <p:spPr>
          <a:xfrm>
            <a:off x="9098280" y="1755648"/>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09" name="Text 107"/>
          <p:cNvSpPr txBox="1"/>
          <p:nvPr/>
        </p:nvSpPr>
        <p:spPr>
          <a:xfrm>
            <a:off x="9848088" y="175564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$225.50</a:t>
            </a:r>
            <a:endParaRPr lang="en-US" sz="1300" dirty="0"/>
          </a:p>
        </p:txBody>
      </p:sp>
      <p:sp>
        <p:nvSpPr>
          <p:cNvPr id="110" name="Text 108"/>
          <p:cNvSpPr txBox="1"/>
          <p:nvPr/>
        </p:nvSpPr>
        <p:spPr>
          <a:xfrm>
            <a:off x="10634472" y="175564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$249.95</a:t>
            </a:r>
            <a:endParaRPr lang="en-US" sz="1300" dirty="0"/>
          </a:p>
        </p:txBody>
      </p:sp>
      <p:sp>
        <p:nvSpPr>
          <p:cNvPr id="111" name="Text 109"/>
          <p:cNvSpPr txBox="1"/>
          <p:nvPr/>
        </p:nvSpPr>
        <p:spPr>
          <a:xfrm>
            <a:off x="6208776" y="198729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12" name="Shape 110"/>
          <p:cNvSpPr/>
          <p:nvPr/>
        </p:nvSpPr>
        <p:spPr>
          <a:xfrm>
            <a:off x="8202168" y="2045208"/>
            <a:ext cx="619626" cy="115824"/>
          </a:xfrm>
          <a:prstGeom prst="rect">
            <a:avLst/>
          </a:prstGeom>
          <a:solidFill>
            <a:srgbClr val="12A566"/>
          </a:solidFill>
          <a:ln/>
        </p:spPr>
      </p:sp>
      <p:sp>
        <p:nvSpPr>
          <p:cNvPr id="113" name="Text 111"/>
          <p:cNvSpPr txBox="1"/>
          <p:nvPr/>
        </p:nvSpPr>
        <p:spPr>
          <a:xfrm>
            <a:off x="9098280" y="1987296"/>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114" name="Text 112"/>
          <p:cNvSpPr txBox="1"/>
          <p:nvPr/>
        </p:nvSpPr>
        <p:spPr>
          <a:xfrm>
            <a:off x="9848088" y="1987296"/>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$238.62</a:t>
            </a:r>
            <a:endParaRPr lang="en-US" sz="1300" dirty="0"/>
          </a:p>
        </p:txBody>
      </p:sp>
      <p:sp>
        <p:nvSpPr>
          <p:cNvPr id="115" name="Text 113"/>
          <p:cNvSpPr txBox="1"/>
          <p:nvPr/>
        </p:nvSpPr>
        <p:spPr>
          <a:xfrm>
            <a:off x="10634472" y="1987296"/>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$275.00</a:t>
            </a:r>
            <a:endParaRPr lang="en-US" sz="1300" dirty="0"/>
          </a:p>
        </p:txBody>
      </p:sp>
      <p:sp>
        <p:nvSpPr>
          <p:cNvPr id="116" name="Text 114"/>
          <p:cNvSpPr txBox="1"/>
          <p:nvPr/>
        </p:nvSpPr>
        <p:spPr>
          <a:xfrm>
            <a:off x="6208776" y="221894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17" name="Shape 115"/>
          <p:cNvSpPr/>
          <p:nvPr/>
        </p:nvSpPr>
        <p:spPr>
          <a:xfrm>
            <a:off x="8202168" y="2276856"/>
            <a:ext cx="613635" cy="115824"/>
          </a:xfrm>
          <a:prstGeom prst="rect">
            <a:avLst/>
          </a:prstGeom>
          <a:solidFill>
            <a:srgbClr val="12A566"/>
          </a:solidFill>
          <a:ln/>
        </p:spPr>
      </p:sp>
      <p:sp>
        <p:nvSpPr>
          <p:cNvPr id="118" name="Text 116"/>
          <p:cNvSpPr txBox="1"/>
          <p:nvPr/>
        </p:nvSpPr>
        <p:spPr>
          <a:xfrm>
            <a:off x="9098280" y="2218944"/>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119" name="Text 117"/>
          <p:cNvSpPr txBox="1"/>
          <p:nvPr/>
        </p:nvSpPr>
        <p:spPr>
          <a:xfrm>
            <a:off x="9848088" y="2218944"/>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$159.69</a:t>
            </a:r>
            <a:endParaRPr lang="en-US" sz="1300" dirty="0"/>
          </a:p>
        </p:txBody>
      </p:sp>
      <p:sp>
        <p:nvSpPr>
          <p:cNvPr id="120" name="Text 118"/>
          <p:cNvSpPr txBox="1"/>
          <p:nvPr/>
        </p:nvSpPr>
        <p:spPr>
          <a:xfrm>
            <a:off x="10634472" y="2218944"/>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21" name="Text 119"/>
          <p:cNvSpPr txBox="1"/>
          <p:nvPr/>
        </p:nvSpPr>
        <p:spPr>
          <a:xfrm>
            <a:off x="6208776" y="245059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22" name="Shape 120"/>
          <p:cNvSpPr/>
          <p:nvPr/>
        </p:nvSpPr>
        <p:spPr>
          <a:xfrm>
            <a:off x="8202168" y="2508504"/>
            <a:ext cx="564915" cy="115824"/>
          </a:xfrm>
          <a:prstGeom prst="rect">
            <a:avLst/>
          </a:prstGeom>
          <a:solidFill>
            <a:srgbClr val="12A566"/>
          </a:solidFill>
          <a:ln/>
        </p:spPr>
      </p:sp>
      <p:sp>
        <p:nvSpPr>
          <p:cNvPr id="123" name="Text 121"/>
          <p:cNvSpPr txBox="1"/>
          <p:nvPr/>
        </p:nvSpPr>
        <p:spPr>
          <a:xfrm>
            <a:off x="9098280" y="2450592"/>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124" name="Text 122"/>
          <p:cNvSpPr txBox="1"/>
          <p:nvPr/>
        </p:nvSpPr>
        <p:spPr>
          <a:xfrm>
            <a:off x="9848088" y="2450592"/>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$147.93</a:t>
            </a:r>
            <a:endParaRPr lang="en-US" sz="1300" dirty="0"/>
          </a:p>
        </p:txBody>
      </p:sp>
      <p:sp>
        <p:nvSpPr>
          <p:cNvPr id="125" name="Text 123"/>
          <p:cNvSpPr txBox="1"/>
          <p:nvPr/>
        </p:nvSpPr>
        <p:spPr>
          <a:xfrm>
            <a:off x="10634472" y="2450592"/>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$179.00</a:t>
            </a:r>
            <a:endParaRPr lang="en-US" sz="1300" dirty="0"/>
          </a:p>
        </p:txBody>
      </p:sp>
      <p:sp>
        <p:nvSpPr>
          <p:cNvPr id="126" name="Text 124"/>
          <p:cNvSpPr txBox="1"/>
          <p:nvPr/>
        </p:nvSpPr>
        <p:spPr>
          <a:xfrm>
            <a:off x="6208776" y="268224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27" name="Shape 125"/>
          <p:cNvSpPr/>
          <p:nvPr/>
        </p:nvSpPr>
        <p:spPr>
          <a:xfrm>
            <a:off x="8202168" y="2740152"/>
            <a:ext cx="549859" cy="115824"/>
          </a:xfrm>
          <a:prstGeom prst="rect">
            <a:avLst/>
          </a:prstGeom>
          <a:solidFill>
            <a:srgbClr val="12A566"/>
          </a:solidFill>
          <a:ln/>
        </p:spPr>
      </p:sp>
      <p:sp>
        <p:nvSpPr>
          <p:cNvPr id="128" name="Text 126"/>
          <p:cNvSpPr txBox="1"/>
          <p:nvPr/>
        </p:nvSpPr>
        <p:spPr>
          <a:xfrm>
            <a:off x="9098280" y="2682240"/>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129" name="Text 127"/>
          <p:cNvSpPr txBox="1"/>
          <p:nvPr/>
        </p:nvSpPr>
        <p:spPr>
          <a:xfrm>
            <a:off x="9848088" y="2682240"/>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$187.42</a:t>
            </a:r>
            <a:endParaRPr lang="en-US" sz="1300" dirty="0"/>
          </a:p>
        </p:txBody>
      </p:sp>
      <p:sp>
        <p:nvSpPr>
          <p:cNvPr id="130" name="Text 128"/>
          <p:cNvSpPr txBox="1"/>
          <p:nvPr/>
        </p:nvSpPr>
        <p:spPr>
          <a:xfrm>
            <a:off x="10634472" y="2682240"/>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$229.95</a:t>
            </a:r>
            <a:endParaRPr lang="en-US" sz="1300" dirty="0"/>
          </a:p>
        </p:txBody>
      </p:sp>
      <p:sp>
        <p:nvSpPr>
          <p:cNvPr id="131" name="Text 129"/>
          <p:cNvSpPr txBox="1"/>
          <p:nvPr/>
        </p:nvSpPr>
        <p:spPr>
          <a:xfrm>
            <a:off x="6208776" y="291388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32" name="Shape 130"/>
          <p:cNvSpPr/>
          <p:nvPr/>
        </p:nvSpPr>
        <p:spPr>
          <a:xfrm>
            <a:off x="8202168" y="2971800"/>
            <a:ext cx="542975" cy="115824"/>
          </a:xfrm>
          <a:prstGeom prst="rect">
            <a:avLst/>
          </a:prstGeom>
          <a:solidFill>
            <a:srgbClr val="12A566"/>
          </a:solidFill>
          <a:ln/>
        </p:spPr>
      </p:sp>
      <p:sp>
        <p:nvSpPr>
          <p:cNvPr id="133" name="Text 131"/>
          <p:cNvSpPr txBox="1"/>
          <p:nvPr/>
        </p:nvSpPr>
        <p:spPr>
          <a:xfrm>
            <a:off x="9098280" y="2913888"/>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134" name="Text 132"/>
          <p:cNvSpPr txBox="1"/>
          <p:nvPr/>
        </p:nvSpPr>
        <p:spPr>
          <a:xfrm>
            <a:off x="9848088" y="291388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$161.93</a:t>
            </a:r>
            <a:endParaRPr lang="en-US" sz="1300" dirty="0"/>
          </a:p>
        </p:txBody>
      </p:sp>
      <p:sp>
        <p:nvSpPr>
          <p:cNvPr id="135" name="Text 133"/>
          <p:cNvSpPr txBox="1"/>
          <p:nvPr/>
        </p:nvSpPr>
        <p:spPr>
          <a:xfrm>
            <a:off x="10634472" y="291388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$199.95</a:t>
            </a:r>
            <a:endParaRPr lang="en-US" sz="1300" dirty="0"/>
          </a:p>
        </p:txBody>
      </p:sp>
      <p:sp>
        <p:nvSpPr>
          <p:cNvPr id="136" name="Text 134"/>
          <p:cNvSpPr txBox="1"/>
          <p:nvPr/>
        </p:nvSpPr>
        <p:spPr>
          <a:xfrm>
            <a:off x="6208776" y="314553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37" name="Shape 135"/>
          <p:cNvSpPr/>
          <p:nvPr/>
        </p:nvSpPr>
        <p:spPr>
          <a:xfrm>
            <a:off x="8202168" y="3203448"/>
            <a:ext cx="528418" cy="115824"/>
          </a:xfrm>
          <a:prstGeom prst="rect">
            <a:avLst/>
          </a:prstGeom>
          <a:solidFill>
            <a:srgbClr val="12A566"/>
          </a:solidFill>
          <a:ln/>
        </p:spPr>
      </p:sp>
      <p:sp>
        <p:nvSpPr>
          <p:cNvPr id="138" name="Text 136"/>
          <p:cNvSpPr txBox="1"/>
          <p:nvPr/>
        </p:nvSpPr>
        <p:spPr>
          <a:xfrm>
            <a:off x="9098280" y="3145536"/>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139" name="Text 137"/>
          <p:cNvSpPr txBox="1"/>
          <p:nvPr/>
        </p:nvSpPr>
        <p:spPr>
          <a:xfrm>
            <a:off x="9848088" y="3145536"/>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$155.78</a:t>
            </a:r>
            <a:endParaRPr lang="en-US" sz="1300" dirty="0"/>
          </a:p>
        </p:txBody>
      </p:sp>
      <p:sp>
        <p:nvSpPr>
          <p:cNvPr id="140" name="Text 138"/>
          <p:cNvSpPr txBox="1"/>
          <p:nvPr/>
        </p:nvSpPr>
        <p:spPr>
          <a:xfrm>
            <a:off x="10634472" y="3145536"/>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$195.00</a:t>
            </a:r>
            <a:endParaRPr lang="en-US" sz="1300" dirty="0"/>
          </a:p>
        </p:txBody>
      </p:sp>
      <p:sp>
        <p:nvSpPr>
          <p:cNvPr id="141" name="Text 139"/>
          <p:cNvSpPr txBox="1"/>
          <p:nvPr/>
        </p:nvSpPr>
        <p:spPr>
          <a:xfrm>
            <a:off x="6208776" y="337718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42" name="Shape 140"/>
          <p:cNvSpPr/>
          <p:nvPr/>
        </p:nvSpPr>
        <p:spPr>
          <a:xfrm>
            <a:off x="8202168" y="3435096"/>
            <a:ext cx="515923" cy="115824"/>
          </a:xfrm>
          <a:prstGeom prst="rect">
            <a:avLst/>
          </a:prstGeom>
          <a:solidFill>
            <a:srgbClr val="12A566"/>
          </a:solidFill>
          <a:ln/>
        </p:spPr>
      </p:sp>
      <p:sp>
        <p:nvSpPr>
          <p:cNvPr id="143" name="Text 141"/>
          <p:cNvSpPr txBox="1"/>
          <p:nvPr/>
        </p:nvSpPr>
        <p:spPr>
          <a:xfrm>
            <a:off x="9098280" y="3377184"/>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144" name="Text 142"/>
          <p:cNvSpPr txBox="1"/>
          <p:nvPr/>
        </p:nvSpPr>
        <p:spPr>
          <a:xfrm>
            <a:off x="9848088" y="3377184"/>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$146.04</a:t>
            </a:r>
            <a:endParaRPr lang="en-US" sz="1300" dirty="0"/>
          </a:p>
        </p:txBody>
      </p:sp>
      <p:sp>
        <p:nvSpPr>
          <p:cNvPr id="145" name="Text 143"/>
          <p:cNvSpPr txBox="1"/>
          <p:nvPr/>
        </p:nvSpPr>
        <p:spPr>
          <a:xfrm>
            <a:off x="10634472" y="3377184"/>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46" name="Shape 144"/>
          <p:cNvSpPr/>
          <p:nvPr/>
        </p:nvSpPr>
        <p:spPr>
          <a:xfrm>
            <a:off x="6153912" y="3608832"/>
            <a:ext cx="5285232" cy="222504"/>
          </a:xfrm>
          <a:prstGeom prst="rect">
            <a:avLst/>
          </a:prstGeom>
          <a:solidFill>
            <a:srgbClr val="EDF4FA"/>
          </a:solidFill>
          <a:ln/>
        </p:spPr>
      </p:sp>
      <p:sp>
        <p:nvSpPr>
          <p:cNvPr id="147" name="Text 145"/>
          <p:cNvSpPr txBox="1"/>
          <p:nvPr/>
        </p:nvSpPr>
        <p:spPr>
          <a:xfrm>
            <a:off x="6208776" y="3608832"/>
            <a:ext cx="1920240" cy="23164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148" name="Shape 146"/>
          <p:cNvSpPr/>
          <p:nvPr/>
        </p:nvSpPr>
        <p:spPr>
          <a:xfrm>
            <a:off x="8202168" y="3666744"/>
            <a:ext cx="482674" cy="115824"/>
          </a:xfrm>
          <a:prstGeom prst="rect">
            <a:avLst/>
          </a:prstGeom>
          <a:solidFill>
            <a:srgbClr val="0B2C4A"/>
          </a:solidFill>
          <a:ln/>
        </p:spPr>
      </p:sp>
      <p:sp>
        <p:nvSpPr>
          <p:cNvPr id="149" name="Text 147"/>
          <p:cNvSpPr txBox="1"/>
          <p:nvPr/>
        </p:nvSpPr>
        <p:spPr>
          <a:xfrm>
            <a:off x="9098280" y="3608832"/>
            <a:ext cx="749808" cy="23164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76.4%</a:t>
            </a:r>
            <a:endParaRPr lang="en-US" sz="1300" dirty="0"/>
          </a:p>
        </p:txBody>
      </p:sp>
      <p:sp>
        <p:nvSpPr>
          <p:cNvPr id="150" name="Text 148"/>
          <p:cNvSpPr txBox="1"/>
          <p:nvPr/>
        </p:nvSpPr>
        <p:spPr>
          <a:xfrm>
            <a:off x="9848088" y="3608832"/>
            <a:ext cx="786384" cy="23164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$155.03</a:t>
            </a:r>
            <a:endParaRPr lang="en-US" sz="1300" dirty="0"/>
          </a:p>
        </p:txBody>
      </p:sp>
      <p:sp>
        <p:nvSpPr>
          <p:cNvPr id="151" name="Text 149"/>
          <p:cNvSpPr txBox="1"/>
          <p:nvPr/>
        </p:nvSpPr>
        <p:spPr>
          <a:xfrm>
            <a:off x="10634472" y="3608832"/>
            <a:ext cx="786384" cy="23164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$202.83</a:t>
            </a:r>
            <a:endParaRPr lang="en-US" sz="1300" dirty="0"/>
          </a:p>
        </p:txBody>
      </p:sp>
      <p:sp>
        <p:nvSpPr>
          <p:cNvPr id="152" name="Text 150"/>
          <p:cNvSpPr txBox="1"/>
          <p:nvPr/>
        </p:nvSpPr>
        <p:spPr>
          <a:xfrm>
            <a:off x="6208776" y="384048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53" name="Shape 151"/>
          <p:cNvSpPr/>
          <p:nvPr/>
        </p:nvSpPr>
        <p:spPr>
          <a:xfrm>
            <a:off x="8202168" y="3898392"/>
            <a:ext cx="467351" cy="115824"/>
          </a:xfrm>
          <a:prstGeom prst="rect">
            <a:avLst/>
          </a:prstGeom>
          <a:solidFill>
            <a:srgbClr val="12A566"/>
          </a:solidFill>
          <a:ln/>
        </p:spPr>
      </p:sp>
      <p:sp>
        <p:nvSpPr>
          <p:cNvPr id="154" name="Text 152"/>
          <p:cNvSpPr txBox="1"/>
          <p:nvPr/>
        </p:nvSpPr>
        <p:spPr>
          <a:xfrm>
            <a:off x="9098280" y="3840480"/>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155" name="Text 153"/>
          <p:cNvSpPr txBox="1"/>
          <p:nvPr/>
        </p:nvSpPr>
        <p:spPr>
          <a:xfrm>
            <a:off x="9848088" y="3840480"/>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$162.12</a:t>
            </a:r>
            <a:endParaRPr lang="en-US" sz="1300" dirty="0"/>
          </a:p>
        </p:txBody>
      </p:sp>
      <p:sp>
        <p:nvSpPr>
          <p:cNvPr id="156" name="Text 154"/>
          <p:cNvSpPr txBox="1"/>
          <p:nvPr/>
        </p:nvSpPr>
        <p:spPr>
          <a:xfrm>
            <a:off x="10634472" y="3840480"/>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$215.37</a:t>
            </a:r>
            <a:endParaRPr lang="en-US" sz="1300" dirty="0"/>
          </a:p>
        </p:txBody>
      </p:sp>
      <p:sp>
        <p:nvSpPr>
          <p:cNvPr id="157" name="Text 155"/>
          <p:cNvSpPr txBox="1"/>
          <p:nvPr/>
        </p:nvSpPr>
        <p:spPr>
          <a:xfrm>
            <a:off x="6208776" y="407212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58" name="Shape 156"/>
          <p:cNvSpPr/>
          <p:nvPr/>
        </p:nvSpPr>
        <p:spPr>
          <a:xfrm>
            <a:off x="8202168" y="4130040"/>
            <a:ext cx="463785" cy="115824"/>
          </a:xfrm>
          <a:prstGeom prst="rect">
            <a:avLst/>
          </a:prstGeom>
          <a:solidFill>
            <a:srgbClr val="12A566"/>
          </a:solidFill>
          <a:ln/>
        </p:spPr>
      </p:sp>
      <p:sp>
        <p:nvSpPr>
          <p:cNvPr id="159" name="Text 157"/>
          <p:cNvSpPr txBox="1"/>
          <p:nvPr/>
        </p:nvSpPr>
        <p:spPr>
          <a:xfrm>
            <a:off x="9098280" y="4072128"/>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160" name="Text 158"/>
          <p:cNvSpPr txBox="1"/>
          <p:nvPr/>
        </p:nvSpPr>
        <p:spPr>
          <a:xfrm>
            <a:off x="9848088" y="407212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$142.51</a:t>
            </a:r>
            <a:endParaRPr lang="en-US" sz="1300" dirty="0"/>
          </a:p>
        </p:txBody>
      </p:sp>
      <p:sp>
        <p:nvSpPr>
          <p:cNvPr id="161" name="Text 159"/>
          <p:cNvSpPr txBox="1"/>
          <p:nvPr/>
        </p:nvSpPr>
        <p:spPr>
          <a:xfrm>
            <a:off x="10634472" y="407212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$190.00</a:t>
            </a:r>
            <a:endParaRPr lang="en-US" sz="1300" dirty="0"/>
          </a:p>
        </p:txBody>
      </p:sp>
      <p:sp>
        <p:nvSpPr>
          <p:cNvPr id="162" name="Text 160"/>
          <p:cNvSpPr txBox="1"/>
          <p:nvPr/>
        </p:nvSpPr>
        <p:spPr>
          <a:xfrm>
            <a:off x="6208776" y="430377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63" name="Shape 161"/>
          <p:cNvSpPr/>
          <p:nvPr/>
        </p:nvSpPr>
        <p:spPr>
          <a:xfrm>
            <a:off x="8202168" y="4361688"/>
            <a:ext cx="449061" cy="115824"/>
          </a:xfrm>
          <a:prstGeom prst="rect">
            <a:avLst/>
          </a:prstGeom>
          <a:solidFill>
            <a:srgbClr val="12A566"/>
          </a:solidFill>
          <a:ln/>
        </p:spPr>
      </p:sp>
      <p:sp>
        <p:nvSpPr>
          <p:cNvPr id="164" name="Text 162"/>
          <p:cNvSpPr txBox="1"/>
          <p:nvPr/>
        </p:nvSpPr>
        <p:spPr>
          <a:xfrm>
            <a:off x="9098280" y="4303776"/>
            <a:ext cx="749808" cy="23164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165" name="Text 163"/>
          <p:cNvSpPr txBox="1"/>
          <p:nvPr/>
        </p:nvSpPr>
        <p:spPr>
          <a:xfrm>
            <a:off x="9848088" y="4303776"/>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$136.71</a:t>
            </a:r>
            <a:endParaRPr lang="en-US" sz="1300" dirty="0"/>
          </a:p>
        </p:txBody>
      </p:sp>
      <p:sp>
        <p:nvSpPr>
          <p:cNvPr id="166" name="Text 164"/>
          <p:cNvSpPr txBox="1"/>
          <p:nvPr/>
        </p:nvSpPr>
        <p:spPr>
          <a:xfrm>
            <a:off x="10634472" y="4303776"/>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67" name="Text 165"/>
          <p:cNvSpPr txBox="1"/>
          <p:nvPr/>
        </p:nvSpPr>
        <p:spPr>
          <a:xfrm>
            <a:off x="6208776" y="4535424"/>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68" name="Shape 166"/>
          <p:cNvSpPr/>
          <p:nvPr/>
        </p:nvSpPr>
        <p:spPr>
          <a:xfrm>
            <a:off x="8202168" y="4593336"/>
            <a:ext cx="374799" cy="115824"/>
          </a:xfrm>
          <a:prstGeom prst="rect">
            <a:avLst/>
          </a:prstGeom>
          <a:solidFill>
            <a:srgbClr val="C2352F"/>
          </a:solidFill>
          <a:ln/>
        </p:spPr>
      </p:sp>
      <p:sp>
        <p:nvSpPr>
          <p:cNvPr id="169" name="Text 167"/>
          <p:cNvSpPr txBox="1"/>
          <p:nvPr/>
        </p:nvSpPr>
        <p:spPr>
          <a:xfrm>
            <a:off x="9098280" y="4535424"/>
            <a:ext cx="749808" cy="23164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170" name="Text 168"/>
          <p:cNvSpPr txBox="1"/>
          <p:nvPr/>
        </p:nvSpPr>
        <p:spPr>
          <a:xfrm>
            <a:off x="9848088" y="4535424"/>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$167.22</a:t>
            </a:r>
            <a:endParaRPr lang="en-US" sz="1300" dirty="0"/>
          </a:p>
        </p:txBody>
      </p:sp>
      <p:sp>
        <p:nvSpPr>
          <p:cNvPr id="171" name="Text 169"/>
          <p:cNvSpPr txBox="1"/>
          <p:nvPr/>
        </p:nvSpPr>
        <p:spPr>
          <a:xfrm>
            <a:off x="10634472" y="4535424"/>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$244.87</a:t>
            </a:r>
            <a:endParaRPr lang="en-US" sz="1300" dirty="0"/>
          </a:p>
        </p:txBody>
      </p:sp>
      <p:sp>
        <p:nvSpPr>
          <p:cNvPr id="172" name="Text 170"/>
          <p:cNvSpPr txBox="1"/>
          <p:nvPr/>
        </p:nvSpPr>
        <p:spPr>
          <a:xfrm>
            <a:off x="6208776" y="4767072"/>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73" name="Shape 171"/>
          <p:cNvSpPr/>
          <p:nvPr/>
        </p:nvSpPr>
        <p:spPr>
          <a:xfrm>
            <a:off x="8202168" y="4824984"/>
            <a:ext cx="364670" cy="115824"/>
          </a:xfrm>
          <a:prstGeom prst="rect">
            <a:avLst/>
          </a:prstGeom>
          <a:solidFill>
            <a:srgbClr val="C2352F"/>
          </a:solidFill>
          <a:ln/>
        </p:spPr>
      </p:sp>
      <p:sp>
        <p:nvSpPr>
          <p:cNvPr id="174" name="Text 172"/>
          <p:cNvSpPr txBox="1"/>
          <p:nvPr/>
        </p:nvSpPr>
        <p:spPr>
          <a:xfrm>
            <a:off x="9098280" y="4767072"/>
            <a:ext cx="749808" cy="23164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175" name="Text 173"/>
          <p:cNvSpPr txBox="1"/>
          <p:nvPr/>
        </p:nvSpPr>
        <p:spPr>
          <a:xfrm>
            <a:off x="9848088" y="4767072"/>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$124.92</a:t>
            </a:r>
            <a:endParaRPr lang="en-US" sz="1300" dirty="0"/>
          </a:p>
        </p:txBody>
      </p:sp>
      <p:sp>
        <p:nvSpPr>
          <p:cNvPr id="176" name="Text 174"/>
          <p:cNvSpPr txBox="1"/>
          <p:nvPr/>
        </p:nvSpPr>
        <p:spPr>
          <a:xfrm>
            <a:off x="10634472" y="4767072"/>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77" name="Text 175"/>
          <p:cNvSpPr txBox="1"/>
          <p:nvPr/>
        </p:nvSpPr>
        <p:spPr>
          <a:xfrm>
            <a:off x="6208776" y="4998720"/>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78" name="Shape 176"/>
          <p:cNvSpPr/>
          <p:nvPr/>
        </p:nvSpPr>
        <p:spPr>
          <a:xfrm>
            <a:off x="8202168" y="5056632"/>
            <a:ext cx="354832" cy="115824"/>
          </a:xfrm>
          <a:prstGeom prst="rect">
            <a:avLst/>
          </a:prstGeom>
          <a:solidFill>
            <a:srgbClr val="C2352F"/>
          </a:solidFill>
          <a:ln/>
        </p:spPr>
      </p:sp>
      <p:sp>
        <p:nvSpPr>
          <p:cNvPr id="179" name="Text 177"/>
          <p:cNvSpPr txBox="1"/>
          <p:nvPr/>
        </p:nvSpPr>
        <p:spPr>
          <a:xfrm>
            <a:off x="9098280" y="4998720"/>
            <a:ext cx="749808" cy="23164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180" name="Text 178"/>
          <p:cNvSpPr txBox="1"/>
          <p:nvPr/>
        </p:nvSpPr>
        <p:spPr>
          <a:xfrm>
            <a:off x="9848088" y="4998720"/>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$146.92</a:t>
            </a:r>
            <a:endParaRPr lang="en-US" sz="1300" dirty="0"/>
          </a:p>
        </p:txBody>
      </p:sp>
      <p:sp>
        <p:nvSpPr>
          <p:cNvPr id="181" name="Text 179"/>
          <p:cNvSpPr txBox="1"/>
          <p:nvPr/>
        </p:nvSpPr>
        <p:spPr>
          <a:xfrm>
            <a:off x="10634472" y="4998720"/>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$220.00</a:t>
            </a:r>
            <a:endParaRPr lang="en-US" sz="1300" dirty="0"/>
          </a:p>
        </p:txBody>
      </p:sp>
      <p:sp>
        <p:nvSpPr>
          <p:cNvPr id="182" name="Text 180"/>
          <p:cNvSpPr txBox="1"/>
          <p:nvPr/>
        </p:nvSpPr>
        <p:spPr>
          <a:xfrm>
            <a:off x="6208776" y="5230368"/>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83" name="Shape 181"/>
          <p:cNvSpPr/>
          <p:nvPr/>
        </p:nvSpPr>
        <p:spPr>
          <a:xfrm>
            <a:off x="8202168" y="5288280"/>
            <a:ext cx="352064" cy="115824"/>
          </a:xfrm>
          <a:prstGeom prst="rect">
            <a:avLst/>
          </a:prstGeom>
          <a:solidFill>
            <a:srgbClr val="C2352F"/>
          </a:solidFill>
          <a:ln/>
        </p:spPr>
      </p:sp>
      <p:sp>
        <p:nvSpPr>
          <p:cNvPr id="184" name="Text 182"/>
          <p:cNvSpPr txBox="1"/>
          <p:nvPr/>
        </p:nvSpPr>
        <p:spPr>
          <a:xfrm>
            <a:off x="9098280" y="5230368"/>
            <a:ext cx="749808" cy="23164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85" name="Text 183"/>
          <p:cNvSpPr txBox="1"/>
          <p:nvPr/>
        </p:nvSpPr>
        <p:spPr>
          <a:xfrm>
            <a:off x="9848088" y="523036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$139.81</a:t>
            </a:r>
            <a:endParaRPr lang="en-US" sz="1300" dirty="0"/>
          </a:p>
        </p:txBody>
      </p:sp>
      <p:sp>
        <p:nvSpPr>
          <p:cNvPr id="186" name="Text 184"/>
          <p:cNvSpPr txBox="1"/>
          <p:nvPr/>
        </p:nvSpPr>
        <p:spPr>
          <a:xfrm>
            <a:off x="10634472" y="5230368"/>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87" name="Text 185"/>
          <p:cNvSpPr txBox="1"/>
          <p:nvPr/>
        </p:nvSpPr>
        <p:spPr>
          <a:xfrm>
            <a:off x="6208776" y="5462016"/>
            <a:ext cx="1920240" cy="23164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88" name="Shape 186"/>
          <p:cNvSpPr/>
          <p:nvPr/>
        </p:nvSpPr>
        <p:spPr>
          <a:xfrm>
            <a:off x="8202168" y="5519928"/>
            <a:ext cx="328825" cy="115824"/>
          </a:xfrm>
          <a:prstGeom prst="rect">
            <a:avLst/>
          </a:prstGeom>
          <a:solidFill>
            <a:srgbClr val="C2352F"/>
          </a:solidFill>
          <a:ln/>
        </p:spPr>
      </p:sp>
      <p:sp>
        <p:nvSpPr>
          <p:cNvPr id="189" name="Text 187"/>
          <p:cNvSpPr txBox="1"/>
          <p:nvPr/>
        </p:nvSpPr>
        <p:spPr>
          <a:xfrm>
            <a:off x="9098280" y="5462016"/>
            <a:ext cx="749808" cy="23164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90" name="Text 188"/>
          <p:cNvSpPr txBox="1"/>
          <p:nvPr/>
        </p:nvSpPr>
        <p:spPr>
          <a:xfrm>
            <a:off x="9848088" y="5462016"/>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$136.12</a:t>
            </a:r>
            <a:endParaRPr lang="en-US" sz="1300" dirty="0"/>
          </a:p>
        </p:txBody>
      </p:sp>
      <p:sp>
        <p:nvSpPr>
          <p:cNvPr id="191" name="Text 189"/>
          <p:cNvSpPr txBox="1"/>
          <p:nvPr/>
        </p:nvSpPr>
        <p:spPr>
          <a:xfrm>
            <a:off x="10634472" y="5462016"/>
            <a:ext cx="786384" cy="23164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92" name="Shape 190"/>
          <p:cNvSpPr/>
          <p:nvPr/>
        </p:nvSpPr>
        <p:spPr>
          <a:xfrm>
            <a:off x="8592301" y="1755648"/>
            <a:ext cx="14630" cy="3938016"/>
          </a:xfrm>
          <a:prstGeom prst="rect">
            <a:avLst/>
          </a:prstGeom>
          <a:solidFill>
            <a:srgbClr val="0B2C4A"/>
          </a:solidFill>
          <a:ln/>
        </p:spPr>
      </p:sp>
      <p:sp>
        <p:nvSpPr>
          <p:cNvPr id="193" name="Shape 191"/>
          <p:cNvSpPr/>
          <p:nvPr/>
        </p:nvSpPr>
        <p:spPr>
          <a:xfrm>
            <a:off x="6035040" y="1371600"/>
            <a:ext cx="10973" cy="4553712"/>
          </a:xfrm>
          <a:prstGeom prst="rect">
            <a:avLst/>
          </a:prstGeom>
          <a:solidFill>
            <a:srgbClr val="D9D9D9"/>
          </a:solidFill>
          <a:ln/>
        </p:spPr>
      </p:sp>
      <p:sp>
        <p:nvSpPr>
          <p:cNvPr id="194" name="Shape 192"/>
          <p:cNvSpPr/>
          <p:nvPr/>
        </p:nvSpPr>
        <p:spPr>
          <a:xfrm>
            <a:off x="457200" y="6126480"/>
            <a:ext cx="11274552" cy="615696"/>
          </a:xfrm>
          <a:prstGeom prst="rect">
            <a:avLst/>
          </a:prstGeom>
          <a:solidFill>
            <a:srgbClr val="EDF4FA"/>
          </a:solidFill>
          <a:ln/>
        </p:spPr>
      </p:sp>
      <p:sp>
        <p:nvSpPr>
          <p:cNvPr id="195" name="Text 193"/>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grid stores realize 73.9% of door rate, no-grid stores 76.4%. A grid should lift ELR on longer jobs, yet grid stores trail.</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$287</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$304</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+$17</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+5.9%</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Labor $ per RO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sp>
        <p:nvSpPr>
          <p:cNvPr id="21" name="Shape 15"/>
          <p:cNvSpPr/>
          <p:nvPr/>
        </p:nvSpPr>
        <p:spPr>
          <a:xfrm>
            <a:off x="4951476" y="3049524"/>
            <a:ext cx="310896" cy="45720"/>
          </a:xfrm>
          <a:prstGeom prst="rect">
            <a:avLst/>
          </a:prstGeom>
          <a:solidFill>
            <a:srgbClr val="9AA3AD"/>
          </a:solidFill>
          <a:ln/>
        </p:spPr>
      </p:sp>
      <p:sp>
        <p:nvSpPr>
          <p:cNvPr id="22" name="Shape 16"/>
          <p:cNvSpPr/>
          <p:nvPr/>
        </p:nvSpPr>
        <p:spPr>
          <a:xfrm>
            <a:off x="5052060" y="3017520"/>
            <a:ext cx="109728" cy="109728"/>
          </a:xfrm>
          <a:prstGeom prst="ellipse">
            <a:avLst/>
          </a:prstGeom>
          <a:solidFill>
            <a:srgbClr val="9AA3AD"/>
          </a:solidFill>
          <a:ln/>
        </p:spPr>
      </p:sp>
      <p:sp>
        <p:nvSpPr>
          <p:cNvPr id="23"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4" name="Shape 18"/>
          <p:cNvSpPr/>
          <p:nvPr/>
        </p:nvSpPr>
        <p:spPr>
          <a:xfrm>
            <a:off x="6185916" y="3049524"/>
            <a:ext cx="310896" cy="45720"/>
          </a:xfrm>
          <a:prstGeom prst="rect">
            <a:avLst/>
          </a:prstGeom>
          <a:solidFill>
            <a:srgbClr val="2587C5"/>
          </a:solidFill>
          <a:ln/>
        </p:spPr>
      </p:sp>
      <p:sp>
        <p:nvSpPr>
          <p:cNvPr id="25" name="Shape 19"/>
          <p:cNvSpPr/>
          <p:nvPr/>
        </p:nvSpPr>
        <p:spPr>
          <a:xfrm>
            <a:off x="6286500" y="3017520"/>
            <a:ext cx="109728" cy="109728"/>
          </a:xfrm>
          <a:prstGeom prst="ellipse">
            <a:avLst/>
          </a:prstGeom>
          <a:solidFill>
            <a:srgbClr val="2587C5"/>
          </a:solidFill>
          <a:ln/>
        </p:spPr>
      </p:sp>
      <p:sp>
        <p:nvSpPr>
          <p:cNvPr id="26"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7" name="Shape 21"/>
          <p:cNvSpPr/>
          <p:nvPr/>
        </p:nvSpPr>
        <p:spPr>
          <a:xfrm>
            <a:off x="457200" y="6126480"/>
            <a:ext cx="11274552" cy="615696"/>
          </a:xfrm>
          <a:prstGeom prst="rect">
            <a:avLst/>
          </a:prstGeom>
          <a:solidFill>
            <a:srgbClr val="E6F6EE"/>
          </a:solidFill>
          <a:ln/>
        </p:spPr>
      </p:sp>
      <p:sp>
        <p:nvSpPr>
          <p:cNvPr id="28" name="Text 22"/>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$17 to $304, ahead of 2025 in all nine months. ROs were flat, so the $4,899,376 labor gain came from selling more per visit.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LABOR $ PER RO</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$304</a:t>
            </a:r>
            <a:endParaRPr lang="en-US" sz="2000" dirty="0"/>
          </a:p>
        </p:txBody>
      </p:sp>
      <p:sp>
        <p:nvSpPr>
          <p:cNvPr id="11" name="Text 9"/>
          <p:cNvSpPr txBox="1"/>
          <p:nvPr/>
        </p:nvSpPr>
        <p:spPr>
          <a:xfrm>
            <a:off x="859536" y="1847088"/>
            <a:ext cx="10607040" cy="2743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Each segment ranked on its own. Navy line = each segment's average; green at or above it.</a:t>
            </a:r>
            <a:endParaRPr lang="en-US" sz="1400" dirty="0"/>
          </a:p>
        </p:txBody>
      </p:sp>
      <p:sp>
        <p:nvSpPr>
          <p:cNvPr id="12" name="Text 10"/>
          <p:cNvSpPr txBox="1"/>
          <p:nvPr/>
        </p:nvSpPr>
        <p:spPr>
          <a:xfrm>
            <a:off x="658368" y="2176272"/>
            <a:ext cx="5303520" cy="208280"/>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LUXURY · AVERAGE $632</a:t>
            </a:r>
            <a:endParaRPr lang="en-US" sz="1300" dirty="0"/>
          </a:p>
        </p:txBody>
      </p:sp>
      <p:sp>
        <p:nvSpPr>
          <p:cNvPr id="13" name="Shape 11"/>
          <p:cNvSpPr/>
          <p:nvPr/>
        </p:nvSpPr>
        <p:spPr>
          <a:xfrm>
            <a:off x="658368" y="2366264"/>
            <a:ext cx="5303520" cy="18288"/>
          </a:xfrm>
          <a:prstGeom prst="rect">
            <a:avLst/>
          </a:prstGeom>
          <a:solidFill>
            <a:srgbClr val="0B2C4A"/>
          </a:solidFill>
          <a:ln/>
        </p:spPr>
      </p:sp>
      <p:sp>
        <p:nvSpPr>
          <p:cNvPr id="14" name="Text 12"/>
          <p:cNvSpPr txBox="1"/>
          <p:nvPr/>
        </p:nvSpPr>
        <p:spPr>
          <a:xfrm>
            <a:off x="658368" y="23845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5" name="Text 13"/>
          <p:cNvSpPr txBox="1"/>
          <p:nvPr/>
        </p:nvSpPr>
        <p:spPr>
          <a:xfrm>
            <a:off x="1014984" y="23845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6" name="Shape 14"/>
          <p:cNvSpPr/>
          <p:nvPr/>
        </p:nvSpPr>
        <p:spPr>
          <a:xfrm>
            <a:off x="3008376" y="2436622"/>
            <a:ext cx="1658471" cy="104140"/>
          </a:xfrm>
          <a:prstGeom prst="rect">
            <a:avLst/>
          </a:prstGeom>
          <a:solidFill>
            <a:srgbClr val="12A566"/>
          </a:solidFill>
          <a:ln/>
        </p:spPr>
      </p:sp>
      <p:sp>
        <p:nvSpPr>
          <p:cNvPr id="17" name="Text 15"/>
          <p:cNvSpPr txBox="1"/>
          <p:nvPr/>
        </p:nvSpPr>
        <p:spPr>
          <a:xfrm>
            <a:off x="4754880" y="23845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$933</a:t>
            </a:r>
            <a:endParaRPr lang="en-US" sz="1200" dirty="0"/>
          </a:p>
        </p:txBody>
      </p:sp>
      <p:sp>
        <p:nvSpPr>
          <p:cNvPr id="18" name="Text 16"/>
          <p:cNvSpPr txBox="1"/>
          <p:nvPr/>
        </p:nvSpPr>
        <p:spPr>
          <a:xfrm>
            <a:off x="658368" y="25928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25928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20" name="Shape 18"/>
          <p:cNvSpPr/>
          <p:nvPr/>
        </p:nvSpPr>
        <p:spPr>
          <a:xfrm>
            <a:off x="3008376" y="2644902"/>
            <a:ext cx="1654662" cy="104140"/>
          </a:xfrm>
          <a:prstGeom prst="rect">
            <a:avLst/>
          </a:prstGeom>
          <a:solidFill>
            <a:srgbClr val="12A566"/>
          </a:solidFill>
          <a:ln/>
        </p:spPr>
      </p:sp>
      <p:sp>
        <p:nvSpPr>
          <p:cNvPr id="21" name="Text 19"/>
          <p:cNvSpPr txBox="1"/>
          <p:nvPr/>
        </p:nvSpPr>
        <p:spPr>
          <a:xfrm>
            <a:off x="4754880" y="25928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$931</a:t>
            </a:r>
            <a:endParaRPr lang="en-US" sz="1200" dirty="0"/>
          </a:p>
        </p:txBody>
      </p:sp>
      <p:sp>
        <p:nvSpPr>
          <p:cNvPr id="22" name="Text 20"/>
          <p:cNvSpPr txBox="1"/>
          <p:nvPr/>
        </p:nvSpPr>
        <p:spPr>
          <a:xfrm>
            <a:off x="658368" y="28011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3" name="Text 21"/>
          <p:cNvSpPr txBox="1"/>
          <p:nvPr/>
        </p:nvSpPr>
        <p:spPr>
          <a:xfrm>
            <a:off x="1014984" y="28011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4" name="Shape 22"/>
          <p:cNvSpPr/>
          <p:nvPr/>
        </p:nvSpPr>
        <p:spPr>
          <a:xfrm>
            <a:off x="3008376" y="2853182"/>
            <a:ext cx="1649321" cy="104140"/>
          </a:xfrm>
          <a:prstGeom prst="rect">
            <a:avLst/>
          </a:prstGeom>
          <a:solidFill>
            <a:srgbClr val="12A566"/>
          </a:solidFill>
          <a:ln/>
        </p:spPr>
      </p:sp>
      <p:sp>
        <p:nvSpPr>
          <p:cNvPr id="25" name="Text 23"/>
          <p:cNvSpPr txBox="1"/>
          <p:nvPr/>
        </p:nvSpPr>
        <p:spPr>
          <a:xfrm>
            <a:off x="4754880" y="280111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$928</a:t>
            </a:r>
            <a:endParaRPr lang="en-US" sz="1200" dirty="0"/>
          </a:p>
        </p:txBody>
      </p:sp>
      <p:sp>
        <p:nvSpPr>
          <p:cNvPr id="26" name="Text 24"/>
          <p:cNvSpPr txBox="1"/>
          <p:nvPr/>
        </p:nvSpPr>
        <p:spPr>
          <a:xfrm>
            <a:off x="658368" y="30093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7" name="Text 25"/>
          <p:cNvSpPr txBox="1"/>
          <p:nvPr/>
        </p:nvSpPr>
        <p:spPr>
          <a:xfrm>
            <a:off x="1014984" y="30093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8" name="Shape 26"/>
          <p:cNvSpPr/>
          <p:nvPr/>
        </p:nvSpPr>
        <p:spPr>
          <a:xfrm>
            <a:off x="3008376" y="3061462"/>
            <a:ext cx="1452099" cy="104140"/>
          </a:xfrm>
          <a:prstGeom prst="rect">
            <a:avLst/>
          </a:prstGeom>
          <a:solidFill>
            <a:srgbClr val="12A566"/>
          </a:solidFill>
          <a:ln/>
        </p:spPr>
      </p:sp>
      <p:sp>
        <p:nvSpPr>
          <p:cNvPr id="29" name="Text 27"/>
          <p:cNvSpPr txBox="1"/>
          <p:nvPr/>
        </p:nvSpPr>
        <p:spPr>
          <a:xfrm>
            <a:off x="4754880" y="300939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$817</a:t>
            </a:r>
            <a:endParaRPr lang="en-US" sz="1200" dirty="0"/>
          </a:p>
        </p:txBody>
      </p:sp>
      <p:sp>
        <p:nvSpPr>
          <p:cNvPr id="30" name="Text 28"/>
          <p:cNvSpPr txBox="1"/>
          <p:nvPr/>
        </p:nvSpPr>
        <p:spPr>
          <a:xfrm>
            <a:off x="658368" y="32176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1" name="Text 29"/>
          <p:cNvSpPr txBox="1"/>
          <p:nvPr/>
        </p:nvSpPr>
        <p:spPr>
          <a:xfrm>
            <a:off x="1014984" y="32176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32" name="Shape 30"/>
          <p:cNvSpPr/>
          <p:nvPr/>
        </p:nvSpPr>
        <p:spPr>
          <a:xfrm>
            <a:off x="3008376" y="3269742"/>
            <a:ext cx="1139643" cy="104140"/>
          </a:xfrm>
          <a:prstGeom prst="rect">
            <a:avLst/>
          </a:prstGeom>
          <a:solidFill>
            <a:srgbClr val="12A566"/>
          </a:solidFill>
          <a:ln/>
        </p:spPr>
      </p:sp>
      <p:sp>
        <p:nvSpPr>
          <p:cNvPr id="33" name="Text 31"/>
          <p:cNvSpPr txBox="1"/>
          <p:nvPr/>
        </p:nvSpPr>
        <p:spPr>
          <a:xfrm>
            <a:off x="4754880" y="321767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$641</a:t>
            </a:r>
            <a:endParaRPr lang="en-US" sz="1200" dirty="0"/>
          </a:p>
        </p:txBody>
      </p:sp>
      <p:sp>
        <p:nvSpPr>
          <p:cNvPr id="34" name="Text 32"/>
          <p:cNvSpPr txBox="1"/>
          <p:nvPr/>
        </p:nvSpPr>
        <p:spPr>
          <a:xfrm>
            <a:off x="658368" y="34259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5" name="Text 33"/>
          <p:cNvSpPr txBox="1"/>
          <p:nvPr/>
        </p:nvSpPr>
        <p:spPr>
          <a:xfrm>
            <a:off x="1014984" y="34259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36" name="Shape 34"/>
          <p:cNvSpPr/>
          <p:nvPr/>
        </p:nvSpPr>
        <p:spPr>
          <a:xfrm>
            <a:off x="3008376" y="3478022"/>
            <a:ext cx="899356" cy="104140"/>
          </a:xfrm>
          <a:prstGeom prst="rect">
            <a:avLst/>
          </a:prstGeom>
          <a:solidFill>
            <a:srgbClr val="C2352F"/>
          </a:solidFill>
          <a:ln/>
        </p:spPr>
      </p:sp>
      <p:sp>
        <p:nvSpPr>
          <p:cNvPr id="37" name="Text 35"/>
          <p:cNvSpPr txBox="1"/>
          <p:nvPr/>
        </p:nvSpPr>
        <p:spPr>
          <a:xfrm>
            <a:off x="4754880" y="342595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$506</a:t>
            </a:r>
            <a:endParaRPr lang="en-US" sz="1200" dirty="0"/>
          </a:p>
        </p:txBody>
      </p:sp>
      <p:sp>
        <p:nvSpPr>
          <p:cNvPr id="38" name="Text 36"/>
          <p:cNvSpPr txBox="1"/>
          <p:nvPr/>
        </p:nvSpPr>
        <p:spPr>
          <a:xfrm>
            <a:off x="658368" y="36342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9" name="Text 37"/>
          <p:cNvSpPr txBox="1"/>
          <p:nvPr/>
        </p:nvSpPr>
        <p:spPr>
          <a:xfrm>
            <a:off x="1014984" y="36342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40" name="Shape 38"/>
          <p:cNvSpPr/>
          <p:nvPr/>
        </p:nvSpPr>
        <p:spPr>
          <a:xfrm>
            <a:off x="3008376" y="3686302"/>
            <a:ext cx="825155" cy="104140"/>
          </a:xfrm>
          <a:prstGeom prst="rect">
            <a:avLst/>
          </a:prstGeom>
          <a:solidFill>
            <a:srgbClr val="C2352F"/>
          </a:solidFill>
          <a:ln/>
        </p:spPr>
      </p:sp>
      <p:sp>
        <p:nvSpPr>
          <p:cNvPr id="41" name="Text 39"/>
          <p:cNvSpPr txBox="1"/>
          <p:nvPr/>
        </p:nvSpPr>
        <p:spPr>
          <a:xfrm>
            <a:off x="4754880" y="363423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$464</a:t>
            </a:r>
            <a:endParaRPr lang="en-US" sz="1200" dirty="0"/>
          </a:p>
        </p:txBody>
      </p:sp>
      <p:sp>
        <p:nvSpPr>
          <p:cNvPr id="42" name="Text 40"/>
          <p:cNvSpPr txBox="1"/>
          <p:nvPr/>
        </p:nvSpPr>
        <p:spPr>
          <a:xfrm>
            <a:off x="658368" y="38425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3" name="Text 41"/>
          <p:cNvSpPr txBox="1"/>
          <p:nvPr/>
        </p:nvSpPr>
        <p:spPr>
          <a:xfrm>
            <a:off x="1014984" y="38425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4" name="Shape 42"/>
          <p:cNvSpPr/>
          <p:nvPr/>
        </p:nvSpPr>
        <p:spPr>
          <a:xfrm>
            <a:off x="3008376" y="3894582"/>
            <a:ext cx="740306" cy="104140"/>
          </a:xfrm>
          <a:prstGeom prst="rect">
            <a:avLst/>
          </a:prstGeom>
          <a:solidFill>
            <a:srgbClr val="C2352F"/>
          </a:solidFill>
          <a:ln/>
        </p:spPr>
      </p:sp>
      <p:sp>
        <p:nvSpPr>
          <p:cNvPr id="45" name="Text 43"/>
          <p:cNvSpPr txBox="1"/>
          <p:nvPr/>
        </p:nvSpPr>
        <p:spPr>
          <a:xfrm>
            <a:off x="4754880" y="384251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$416</a:t>
            </a:r>
            <a:endParaRPr lang="en-US" sz="1200" dirty="0"/>
          </a:p>
        </p:txBody>
      </p:sp>
      <p:sp>
        <p:nvSpPr>
          <p:cNvPr id="46" name="Text 44"/>
          <p:cNvSpPr txBox="1"/>
          <p:nvPr/>
        </p:nvSpPr>
        <p:spPr>
          <a:xfrm>
            <a:off x="658368" y="40507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7" name="Text 45"/>
          <p:cNvSpPr txBox="1"/>
          <p:nvPr/>
        </p:nvSpPr>
        <p:spPr>
          <a:xfrm>
            <a:off x="1014984" y="40507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48" name="Shape 46"/>
          <p:cNvSpPr/>
          <p:nvPr/>
        </p:nvSpPr>
        <p:spPr>
          <a:xfrm>
            <a:off x="3008376" y="4102862"/>
            <a:ext cx="715741" cy="104140"/>
          </a:xfrm>
          <a:prstGeom prst="rect">
            <a:avLst/>
          </a:prstGeom>
          <a:solidFill>
            <a:srgbClr val="C2352F"/>
          </a:solidFill>
          <a:ln/>
        </p:spPr>
      </p:sp>
      <p:sp>
        <p:nvSpPr>
          <p:cNvPr id="49" name="Text 47"/>
          <p:cNvSpPr txBox="1"/>
          <p:nvPr/>
        </p:nvSpPr>
        <p:spPr>
          <a:xfrm>
            <a:off x="4754880" y="405079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$403</a:t>
            </a:r>
            <a:endParaRPr lang="en-US" sz="1200" dirty="0"/>
          </a:p>
        </p:txBody>
      </p:sp>
      <p:sp>
        <p:nvSpPr>
          <p:cNvPr id="50" name="Text 48"/>
          <p:cNvSpPr txBox="1"/>
          <p:nvPr/>
        </p:nvSpPr>
        <p:spPr>
          <a:xfrm>
            <a:off x="658368" y="4259072"/>
            <a:ext cx="5303520" cy="208280"/>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$264</a:t>
            </a:r>
            <a:endParaRPr lang="en-US" sz="1300" dirty="0"/>
          </a:p>
        </p:txBody>
      </p:sp>
      <p:sp>
        <p:nvSpPr>
          <p:cNvPr id="51" name="Shape 49"/>
          <p:cNvSpPr/>
          <p:nvPr/>
        </p:nvSpPr>
        <p:spPr>
          <a:xfrm>
            <a:off x="658368" y="4449064"/>
            <a:ext cx="5303520" cy="18288"/>
          </a:xfrm>
          <a:prstGeom prst="rect">
            <a:avLst/>
          </a:prstGeom>
          <a:solidFill>
            <a:srgbClr val="0B2C4A"/>
          </a:solidFill>
          <a:ln/>
        </p:spPr>
      </p:sp>
      <p:sp>
        <p:nvSpPr>
          <p:cNvPr id="52" name="Text 50"/>
          <p:cNvSpPr txBox="1"/>
          <p:nvPr/>
        </p:nvSpPr>
        <p:spPr>
          <a:xfrm>
            <a:off x="658368" y="44673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53" name="Text 51"/>
          <p:cNvSpPr txBox="1"/>
          <p:nvPr/>
        </p:nvSpPr>
        <p:spPr>
          <a:xfrm>
            <a:off x="1014984" y="44673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54" name="Shape 52"/>
          <p:cNvSpPr/>
          <p:nvPr/>
        </p:nvSpPr>
        <p:spPr>
          <a:xfrm>
            <a:off x="3008376" y="4519422"/>
            <a:ext cx="1653705" cy="104140"/>
          </a:xfrm>
          <a:prstGeom prst="rect">
            <a:avLst/>
          </a:prstGeom>
          <a:solidFill>
            <a:srgbClr val="12A566"/>
          </a:solidFill>
          <a:ln/>
        </p:spPr>
      </p:sp>
      <p:sp>
        <p:nvSpPr>
          <p:cNvPr id="55" name="Text 53"/>
          <p:cNvSpPr txBox="1"/>
          <p:nvPr/>
        </p:nvSpPr>
        <p:spPr>
          <a:xfrm>
            <a:off x="4754880" y="44673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$389</a:t>
            </a:r>
            <a:endParaRPr lang="en-US" sz="1200" dirty="0"/>
          </a:p>
        </p:txBody>
      </p:sp>
      <p:sp>
        <p:nvSpPr>
          <p:cNvPr id="56" name="Text 54"/>
          <p:cNvSpPr txBox="1"/>
          <p:nvPr/>
        </p:nvSpPr>
        <p:spPr>
          <a:xfrm>
            <a:off x="658368" y="46756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57" name="Text 55"/>
          <p:cNvSpPr txBox="1"/>
          <p:nvPr/>
        </p:nvSpPr>
        <p:spPr>
          <a:xfrm>
            <a:off x="1014984" y="46756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58" name="Shape 56"/>
          <p:cNvSpPr/>
          <p:nvPr/>
        </p:nvSpPr>
        <p:spPr>
          <a:xfrm>
            <a:off x="3008376" y="4727702"/>
            <a:ext cx="1577968" cy="104140"/>
          </a:xfrm>
          <a:prstGeom prst="rect">
            <a:avLst/>
          </a:prstGeom>
          <a:solidFill>
            <a:srgbClr val="12A566"/>
          </a:solidFill>
          <a:ln/>
        </p:spPr>
      </p:sp>
      <p:sp>
        <p:nvSpPr>
          <p:cNvPr id="59" name="Text 57"/>
          <p:cNvSpPr txBox="1"/>
          <p:nvPr/>
        </p:nvSpPr>
        <p:spPr>
          <a:xfrm>
            <a:off x="4754880" y="46756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$371</a:t>
            </a:r>
            <a:endParaRPr lang="en-US" sz="1200" dirty="0"/>
          </a:p>
        </p:txBody>
      </p:sp>
      <p:sp>
        <p:nvSpPr>
          <p:cNvPr id="60" name="Text 58"/>
          <p:cNvSpPr txBox="1"/>
          <p:nvPr/>
        </p:nvSpPr>
        <p:spPr>
          <a:xfrm>
            <a:off x="658368" y="48839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61" name="Text 59"/>
          <p:cNvSpPr txBox="1"/>
          <p:nvPr/>
        </p:nvSpPr>
        <p:spPr>
          <a:xfrm>
            <a:off x="1014984" y="48839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62" name="Shape 60"/>
          <p:cNvSpPr/>
          <p:nvPr/>
        </p:nvSpPr>
        <p:spPr>
          <a:xfrm>
            <a:off x="3008376" y="4935982"/>
            <a:ext cx="1503381" cy="104140"/>
          </a:xfrm>
          <a:prstGeom prst="rect">
            <a:avLst/>
          </a:prstGeom>
          <a:solidFill>
            <a:srgbClr val="12A566"/>
          </a:solidFill>
          <a:ln/>
        </p:spPr>
      </p:sp>
      <p:sp>
        <p:nvSpPr>
          <p:cNvPr id="63" name="Text 61"/>
          <p:cNvSpPr txBox="1"/>
          <p:nvPr/>
        </p:nvSpPr>
        <p:spPr>
          <a:xfrm>
            <a:off x="4754880" y="488391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$354</a:t>
            </a:r>
            <a:endParaRPr lang="en-US" sz="1200" dirty="0"/>
          </a:p>
        </p:txBody>
      </p:sp>
      <p:sp>
        <p:nvSpPr>
          <p:cNvPr id="64" name="Text 62"/>
          <p:cNvSpPr txBox="1"/>
          <p:nvPr/>
        </p:nvSpPr>
        <p:spPr>
          <a:xfrm>
            <a:off x="658368" y="50921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65" name="Text 63"/>
          <p:cNvSpPr txBox="1"/>
          <p:nvPr/>
        </p:nvSpPr>
        <p:spPr>
          <a:xfrm>
            <a:off x="1014984" y="50921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66" name="Shape 64"/>
          <p:cNvSpPr/>
          <p:nvPr/>
        </p:nvSpPr>
        <p:spPr>
          <a:xfrm>
            <a:off x="3008376" y="5144262"/>
            <a:ext cx="1412321" cy="104140"/>
          </a:xfrm>
          <a:prstGeom prst="rect">
            <a:avLst/>
          </a:prstGeom>
          <a:solidFill>
            <a:srgbClr val="12A566"/>
          </a:solidFill>
          <a:ln/>
        </p:spPr>
      </p:sp>
      <p:sp>
        <p:nvSpPr>
          <p:cNvPr id="67" name="Text 65"/>
          <p:cNvSpPr txBox="1"/>
          <p:nvPr/>
        </p:nvSpPr>
        <p:spPr>
          <a:xfrm>
            <a:off x="4754880" y="509219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$332</a:t>
            </a:r>
            <a:endParaRPr lang="en-US" sz="1200" dirty="0"/>
          </a:p>
        </p:txBody>
      </p:sp>
      <p:sp>
        <p:nvSpPr>
          <p:cNvPr id="68" name="Text 66"/>
          <p:cNvSpPr txBox="1"/>
          <p:nvPr/>
        </p:nvSpPr>
        <p:spPr>
          <a:xfrm>
            <a:off x="658368" y="53004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69" name="Text 67"/>
          <p:cNvSpPr txBox="1"/>
          <p:nvPr/>
        </p:nvSpPr>
        <p:spPr>
          <a:xfrm>
            <a:off x="1014984" y="53004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70" name="Shape 68"/>
          <p:cNvSpPr/>
          <p:nvPr/>
        </p:nvSpPr>
        <p:spPr>
          <a:xfrm>
            <a:off x="3008376" y="5352542"/>
            <a:ext cx="1353340" cy="104140"/>
          </a:xfrm>
          <a:prstGeom prst="rect">
            <a:avLst/>
          </a:prstGeom>
          <a:solidFill>
            <a:srgbClr val="12A566"/>
          </a:solidFill>
          <a:ln/>
        </p:spPr>
      </p:sp>
      <p:sp>
        <p:nvSpPr>
          <p:cNvPr id="71" name="Text 69"/>
          <p:cNvSpPr txBox="1"/>
          <p:nvPr/>
        </p:nvSpPr>
        <p:spPr>
          <a:xfrm>
            <a:off x="4754880" y="530047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$318</a:t>
            </a:r>
            <a:endParaRPr lang="en-US" sz="1200" dirty="0"/>
          </a:p>
        </p:txBody>
      </p:sp>
      <p:sp>
        <p:nvSpPr>
          <p:cNvPr id="72" name="Text 70"/>
          <p:cNvSpPr txBox="1"/>
          <p:nvPr/>
        </p:nvSpPr>
        <p:spPr>
          <a:xfrm>
            <a:off x="658368" y="55087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73" name="Text 71"/>
          <p:cNvSpPr txBox="1"/>
          <p:nvPr/>
        </p:nvSpPr>
        <p:spPr>
          <a:xfrm>
            <a:off x="1014984" y="55087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74" name="Shape 72"/>
          <p:cNvSpPr/>
          <p:nvPr/>
        </p:nvSpPr>
        <p:spPr>
          <a:xfrm>
            <a:off x="3008376" y="5560822"/>
            <a:ext cx="1320726" cy="104140"/>
          </a:xfrm>
          <a:prstGeom prst="rect">
            <a:avLst/>
          </a:prstGeom>
          <a:solidFill>
            <a:srgbClr val="12A566"/>
          </a:solidFill>
          <a:ln/>
        </p:spPr>
      </p:sp>
      <p:sp>
        <p:nvSpPr>
          <p:cNvPr id="75" name="Text 73"/>
          <p:cNvSpPr txBox="1"/>
          <p:nvPr/>
        </p:nvSpPr>
        <p:spPr>
          <a:xfrm>
            <a:off x="4754880" y="55087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$311</a:t>
            </a:r>
            <a:endParaRPr lang="en-US" sz="1200" dirty="0"/>
          </a:p>
        </p:txBody>
      </p:sp>
      <p:sp>
        <p:nvSpPr>
          <p:cNvPr id="76" name="Text 74"/>
          <p:cNvSpPr txBox="1"/>
          <p:nvPr/>
        </p:nvSpPr>
        <p:spPr>
          <a:xfrm>
            <a:off x="658368" y="57170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77" name="Text 75"/>
          <p:cNvSpPr txBox="1"/>
          <p:nvPr/>
        </p:nvSpPr>
        <p:spPr>
          <a:xfrm>
            <a:off x="1014984" y="57170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78" name="Shape 76"/>
          <p:cNvSpPr/>
          <p:nvPr/>
        </p:nvSpPr>
        <p:spPr>
          <a:xfrm>
            <a:off x="3008376" y="5769102"/>
            <a:ext cx="1282619" cy="104140"/>
          </a:xfrm>
          <a:prstGeom prst="rect">
            <a:avLst/>
          </a:prstGeom>
          <a:solidFill>
            <a:srgbClr val="12A566"/>
          </a:solidFill>
          <a:ln/>
        </p:spPr>
      </p:sp>
      <p:sp>
        <p:nvSpPr>
          <p:cNvPr id="79" name="Text 77"/>
          <p:cNvSpPr txBox="1"/>
          <p:nvPr/>
        </p:nvSpPr>
        <p:spPr>
          <a:xfrm>
            <a:off x="4754880" y="57170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$302</a:t>
            </a:r>
            <a:endParaRPr lang="en-US" sz="1200" dirty="0"/>
          </a:p>
        </p:txBody>
      </p:sp>
      <p:sp>
        <p:nvSpPr>
          <p:cNvPr id="80" name="Text 78"/>
          <p:cNvSpPr txBox="1"/>
          <p:nvPr/>
        </p:nvSpPr>
        <p:spPr>
          <a:xfrm>
            <a:off x="6208776" y="21762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81" name="Text 79"/>
          <p:cNvSpPr txBox="1"/>
          <p:nvPr/>
        </p:nvSpPr>
        <p:spPr>
          <a:xfrm>
            <a:off x="6565392" y="21762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82" name="Shape 80"/>
          <p:cNvSpPr/>
          <p:nvPr/>
        </p:nvSpPr>
        <p:spPr>
          <a:xfrm>
            <a:off x="8558784" y="2228342"/>
            <a:ext cx="1272990" cy="104140"/>
          </a:xfrm>
          <a:prstGeom prst="rect">
            <a:avLst/>
          </a:prstGeom>
          <a:solidFill>
            <a:srgbClr val="12A566"/>
          </a:solidFill>
          <a:ln/>
        </p:spPr>
      </p:sp>
      <p:sp>
        <p:nvSpPr>
          <p:cNvPr id="83" name="Text 81"/>
          <p:cNvSpPr txBox="1"/>
          <p:nvPr/>
        </p:nvSpPr>
        <p:spPr>
          <a:xfrm>
            <a:off x="10305288" y="217627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$299</a:t>
            </a:r>
            <a:endParaRPr lang="en-US" sz="1200" dirty="0"/>
          </a:p>
        </p:txBody>
      </p:sp>
      <p:sp>
        <p:nvSpPr>
          <p:cNvPr id="84" name="Text 82"/>
          <p:cNvSpPr txBox="1"/>
          <p:nvPr/>
        </p:nvSpPr>
        <p:spPr>
          <a:xfrm>
            <a:off x="6208776" y="23845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85" name="Text 83"/>
          <p:cNvSpPr txBox="1"/>
          <p:nvPr/>
        </p:nvSpPr>
        <p:spPr>
          <a:xfrm>
            <a:off x="6565392" y="23845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86" name="Shape 84"/>
          <p:cNvSpPr/>
          <p:nvPr/>
        </p:nvSpPr>
        <p:spPr>
          <a:xfrm>
            <a:off x="8558784" y="2436622"/>
            <a:ext cx="1270673" cy="104140"/>
          </a:xfrm>
          <a:prstGeom prst="rect">
            <a:avLst/>
          </a:prstGeom>
          <a:solidFill>
            <a:srgbClr val="12A566"/>
          </a:solidFill>
          <a:ln/>
        </p:spPr>
      </p:sp>
      <p:sp>
        <p:nvSpPr>
          <p:cNvPr id="87" name="Text 85"/>
          <p:cNvSpPr txBox="1"/>
          <p:nvPr/>
        </p:nvSpPr>
        <p:spPr>
          <a:xfrm>
            <a:off x="10305288" y="23845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$299</a:t>
            </a:r>
            <a:endParaRPr lang="en-US" sz="1200" dirty="0"/>
          </a:p>
        </p:txBody>
      </p:sp>
      <p:sp>
        <p:nvSpPr>
          <p:cNvPr id="88" name="Text 86"/>
          <p:cNvSpPr txBox="1"/>
          <p:nvPr/>
        </p:nvSpPr>
        <p:spPr>
          <a:xfrm>
            <a:off x="6208776" y="25928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89" name="Text 87"/>
          <p:cNvSpPr txBox="1"/>
          <p:nvPr/>
        </p:nvSpPr>
        <p:spPr>
          <a:xfrm>
            <a:off x="6565392" y="25928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90" name="Shape 88"/>
          <p:cNvSpPr/>
          <p:nvPr/>
        </p:nvSpPr>
        <p:spPr>
          <a:xfrm>
            <a:off x="8558784" y="2644902"/>
            <a:ext cx="1227837" cy="104140"/>
          </a:xfrm>
          <a:prstGeom prst="rect">
            <a:avLst/>
          </a:prstGeom>
          <a:solidFill>
            <a:srgbClr val="12A566"/>
          </a:solidFill>
          <a:ln/>
        </p:spPr>
      </p:sp>
      <p:sp>
        <p:nvSpPr>
          <p:cNvPr id="91" name="Text 89"/>
          <p:cNvSpPr txBox="1"/>
          <p:nvPr/>
        </p:nvSpPr>
        <p:spPr>
          <a:xfrm>
            <a:off x="10305288" y="25928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$289</a:t>
            </a:r>
            <a:endParaRPr lang="en-US" sz="1200" dirty="0"/>
          </a:p>
        </p:txBody>
      </p:sp>
      <p:sp>
        <p:nvSpPr>
          <p:cNvPr id="92" name="Text 90"/>
          <p:cNvSpPr txBox="1"/>
          <p:nvPr/>
        </p:nvSpPr>
        <p:spPr>
          <a:xfrm>
            <a:off x="6208776" y="28011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93" name="Text 91"/>
          <p:cNvSpPr txBox="1"/>
          <p:nvPr/>
        </p:nvSpPr>
        <p:spPr>
          <a:xfrm>
            <a:off x="6565392" y="28011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94" name="Shape 92"/>
          <p:cNvSpPr/>
          <p:nvPr/>
        </p:nvSpPr>
        <p:spPr>
          <a:xfrm>
            <a:off x="8558784" y="2853182"/>
            <a:ext cx="1190170" cy="104140"/>
          </a:xfrm>
          <a:prstGeom prst="rect">
            <a:avLst/>
          </a:prstGeom>
          <a:solidFill>
            <a:srgbClr val="12A566"/>
          </a:solidFill>
          <a:ln/>
        </p:spPr>
      </p:sp>
      <p:sp>
        <p:nvSpPr>
          <p:cNvPr id="95" name="Text 93"/>
          <p:cNvSpPr txBox="1"/>
          <p:nvPr/>
        </p:nvSpPr>
        <p:spPr>
          <a:xfrm>
            <a:off x="10305288" y="280111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$280</a:t>
            </a:r>
            <a:endParaRPr lang="en-US" sz="1200" dirty="0"/>
          </a:p>
        </p:txBody>
      </p:sp>
      <p:sp>
        <p:nvSpPr>
          <p:cNvPr id="96" name="Text 94"/>
          <p:cNvSpPr txBox="1"/>
          <p:nvPr/>
        </p:nvSpPr>
        <p:spPr>
          <a:xfrm>
            <a:off x="6208776" y="30093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97" name="Text 95"/>
          <p:cNvSpPr txBox="1"/>
          <p:nvPr/>
        </p:nvSpPr>
        <p:spPr>
          <a:xfrm>
            <a:off x="6565392" y="30093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98" name="Shape 96"/>
          <p:cNvSpPr/>
          <p:nvPr/>
        </p:nvSpPr>
        <p:spPr>
          <a:xfrm>
            <a:off x="8558784" y="3061462"/>
            <a:ext cx="1165364" cy="104140"/>
          </a:xfrm>
          <a:prstGeom prst="rect">
            <a:avLst/>
          </a:prstGeom>
          <a:solidFill>
            <a:srgbClr val="12A566"/>
          </a:solidFill>
          <a:ln/>
        </p:spPr>
      </p:sp>
      <p:sp>
        <p:nvSpPr>
          <p:cNvPr id="99" name="Text 97"/>
          <p:cNvSpPr txBox="1"/>
          <p:nvPr/>
        </p:nvSpPr>
        <p:spPr>
          <a:xfrm>
            <a:off x="10305288" y="300939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$274</a:t>
            </a:r>
            <a:endParaRPr lang="en-US" sz="1200" dirty="0"/>
          </a:p>
        </p:txBody>
      </p:sp>
      <p:sp>
        <p:nvSpPr>
          <p:cNvPr id="100" name="Text 98"/>
          <p:cNvSpPr txBox="1"/>
          <p:nvPr/>
        </p:nvSpPr>
        <p:spPr>
          <a:xfrm>
            <a:off x="6208776" y="32176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101" name="Text 99"/>
          <p:cNvSpPr txBox="1"/>
          <p:nvPr/>
        </p:nvSpPr>
        <p:spPr>
          <a:xfrm>
            <a:off x="6565392" y="32176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02" name="Shape 100"/>
          <p:cNvSpPr/>
          <p:nvPr/>
        </p:nvSpPr>
        <p:spPr>
          <a:xfrm>
            <a:off x="8558784" y="3269742"/>
            <a:ext cx="1152802" cy="104140"/>
          </a:xfrm>
          <a:prstGeom prst="rect">
            <a:avLst/>
          </a:prstGeom>
          <a:solidFill>
            <a:srgbClr val="12A566"/>
          </a:solidFill>
          <a:ln/>
        </p:spPr>
      </p:sp>
      <p:sp>
        <p:nvSpPr>
          <p:cNvPr id="103" name="Text 101"/>
          <p:cNvSpPr txBox="1"/>
          <p:nvPr/>
        </p:nvSpPr>
        <p:spPr>
          <a:xfrm>
            <a:off x="10305288" y="321767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$271</a:t>
            </a:r>
            <a:endParaRPr lang="en-US" sz="1200" dirty="0"/>
          </a:p>
        </p:txBody>
      </p:sp>
      <p:sp>
        <p:nvSpPr>
          <p:cNvPr id="104" name="Text 102"/>
          <p:cNvSpPr txBox="1"/>
          <p:nvPr/>
        </p:nvSpPr>
        <p:spPr>
          <a:xfrm>
            <a:off x="6208776" y="34259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105" name="Text 103"/>
          <p:cNvSpPr txBox="1"/>
          <p:nvPr/>
        </p:nvSpPr>
        <p:spPr>
          <a:xfrm>
            <a:off x="6565392" y="34259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06" name="Shape 104"/>
          <p:cNvSpPr/>
          <p:nvPr/>
        </p:nvSpPr>
        <p:spPr>
          <a:xfrm>
            <a:off x="8558784" y="3478022"/>
            <a:ext cx="1012530" cy="104140"/>
          </a:xfrm>
          <a:prstGeom prst="rect">
            <a:avLst/>
          </a:prstGeom>
          <a:solidFill>
            <a:srgbClr val="C2352F"/>
          </a:solidFill>
          <a:ln/>
        </p:spPr>
      </p:sp>
      <p:sp>
        <p:nvSpPr>
          <p:cNvPr id="107" name="Text 105"/>
          <p:cNvSpPr txBox="1"/>
          <p:nvPr/>
        </p:nvSpPr>
        <p:spPr>
          <a:xfrm>
            <a:off x="10305288" y="342595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$238</a:t>
            </a:r>
            <a:endParaRPr lang="en-US" sz="1200" dirty="0"/>
          </a:p>
        </p:txBody>
      </p:sp>
      <p:sp>
        <p:nvSpPr>
          <p:cNvPr id="108" name="Text 106"/>
          <p:cNvSpPr txBox="1"/>
          <p:nvPr/>
        </p:nvSpPr>
        <p:spPr>
          <a:xfrm>
            <a:off x="6208776" y="36342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09" name="Text 107"/>
          <p:cNvSpPr txBox="1"/>
          <p:nvPr/>
        </p:nvSpPr>
        <p:spPr>
          <a:xfrm>
            <a:off x="6565392" y="36342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10" name="Shape 108"/>
          <p:cNvSpPr/>
          <p:nvPr/>
        </p:nvSpPr>
        <p:spPr>
          <a:xfrm>
            <a:off x="8558784" y="3686302"/>
            <a:ext cx="1010719" cy="104140"/>
          </a:xfrm>
          <a:prstGeom prst="rect">
            <a:avLst/>
          </a:prstGeom>
          <a:solidFill>
            <a:srgbClr val="C2352F"/>
          </a:solidFill>
          <a:ln/>
        </p:spPr>
      </p:sp>
      <p:sp>
        <p:nvSpPr>
          <p:cNvPr id="111" name="Text 109"/>
          <p:cNvSpPr txBox="1"/>
          <p:nvPr/>
        </p:nvSpPr>
        <p:spPr>
          <a:xfrm>
            <a:off x="10305288" y="363423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$238</a:t>
            </a:r>
            <a:endParaRPr lang="en-US" sz="1200" dirty="0"/>
          </a:p>
        </p:txBody>
      </p:sp>
      <p:sp>
        <p:nvSpPr>
          <p:cNvPr id="112" name="Text 110"/>
          <p:cNvSpPr txBox="1"/>
          <p:nvPr/>
        </p:nvSpPr>
        <p:spPr>
          <a:xfrm>
            <a:off x="6208776" y="38425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13" name="Text 111"/>
          <p:cNvSpPr txBox="1"/>
          <p:nvPr/>
        </p:nvSpPr>
        <p:spPr>
          <a:xfrm>
            <a:off x="6565392" y="38425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14" name="Shape 112"/>
          <p:cNvSpPr/>
          <p:nvPr/>
        </p:nvSpPr>
        <p:spPr>
          <a:xfrm>
            <a:off x="8558784" y="3894582"/>
            <a:ext cx="995064" cy="104140"/>
          </a:xfrm>
          <a:prstGeom prst="rect">
            <a:avLst/>
          </a:prstGeom>
          <a:solidFill>
            <a:srgbClr val="C2352F"/>
          </a:solidFill>
          <a:ln/>
        </p:spPr>
      </p:sp>
      <p:sp>
        <p:nvSpPr>
          <p:cNvPr id="115" name="Text 113"/>
          <p:cNvSpPr txBox="1"/>
          <p:nvPr/>
        </p:nvSpPr>
        <p:spPr>
          <a:xfrm>
            <a:off x="10305288" y="384251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$234</a:t>
            </a:r>
            <a:endParaRPr lang="en-US" sz="1200" dirty="0"/>
          </a:p>
        </p:txBody>
      </p:sp>
      <p:sp>
        <p:nvSpPr>
          <p:cNvPr id="116" name="Text 114"/>
          <p:cNvSpPr txBox="1"/>
          <p:nvPr/>
        </p:nvSpPr>
        <p:spPr>
          <a:xfrm>
            <a:off x="6208776" y="40507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7" name="Text 115"/>
          <p:cNvSpPr txBox="1"/>
          <p:nvPr/>
        </p:nvSpPr>
        <p:spPr>
          <a:xfrm>
            <a:off x="6565392" y="40507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18" name="Shape 116"/>
          <p:cNvSpPr/>
          <p:nvPr/>
        </p:nvSpPr>
        <p:spPr>
          <a:xfrm>
            <a:off x="8558784" y="4102862"/>
            <a:ext cx="980911" cy="104140"/>
          </a:xfrm>
          <a:prstGeom prst="rect">
            <a:avLst/>
          </a:prstGeom>
          <a:solidFill>
            <a:srgbClr val="C2352F"/>
          </a:solidFill>
          <a:ln/>
        </p:spPr>
      </p:sp>
      <p:sp>
        <p:nvSpPr>
          <p:cNvPr id="119" name="Text 117"/>
          <p:cNvSpPr txBox="1"/>
          <p:nvPr/>
        </p:nvSpPr>
        <p:spPr>
          <a:xfrm>
            <a:off x="10305288" y="405079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$231</a:t>
            </a:r>
            <a:endParaRPr lang="en-US" sz="1200" dirty="0"/>
          </a:p>
        </p:txBody>
      </p:sp>
      <p:sp>
        <p:nvSpPr>
          <p:cNvPr id="120" name="Text 118"/>
          <p:cNvSpPr txBox="1"/>
          <p:nvPr/>
        </p:nvSpPr>
        <p:spPr>
          <a:xfrm>
            <a:off x="6208776" y="42590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1" name="Text 119"/>
          <p:cNvSpPr txBox="1"/>
          <p:nvPr/>
        </p:nvSpPr>
        <p:spPr>
          <a:xfrm>
            <a:off x="6565392" y="42590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22" name="Shape 120"/>
          <p:cNvSpPr/>
          <p:nvPr/>
        </p:nvSpPr>
        <p:spPr>
          <a:xfrm>
            <a:off x="8558784" y="4311142"/>
            <a:ext cx="966604" cy="104140"/>
          </a:xfrm>
          <a:prstGeom prst="rect">
            <a:avLst/>
          </a:prstGeom>
          <a:solidFill>
            <a:srgbClr val="C2352F"/>
          </a:solidFill>
          <a:ln/>
        </p:spPr>
      </p:sp>
      <p:sp>
        <p:nvSpPr>
          <p:cNvPr id="123" name="Text 121"/>
          <p:cNvSpPr txBox="1"/>
          <p:nvPr/>
        </p:nvSpPr>
        <p:spPr>
          <a:xfrm>
            <a:off x="10305288" y="425907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$227</a:t>
            </a:r>
            <a:endParaRPr lang="en-US" sz="1200" dirty="0"/>
          </a:p>
        </p:txBody>
      </p:sp>
      <p:sp>
        <p:nvSpPr>
          <p:cNvPr id="124" name="Text 122"/>
          <p:cNvSpPr txBox="1"/>
          <p:nvPr/>
        </p:nvSpPr>
        <p:spPr>
          <a:xfrm>
            <a:off x="6208776" y="44673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5" name="Text 123"/>
          <p:cNvSpPr txBox="1"/>
          <p:nvPr/>
        </p:nvSpPr>
        <p:spPr>
          <a:xfrm>
            <a:off x="6565392" y="44673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26" name="Shape 124"/>
          <p:cNvSpPr/>
          <p:nvPr/>
        </p:nvSpPr>
        <p:spPr>
          <a:xfrm>
            <a:off x="8558784" y="4519422"/>
            <a:ext cx="944704" cy="104140"/>
          </a:xfrm>
          <a:prstGeom prst="rect">
            <a:avLst/>
          </a:prstGeom>
          <a:solidFill>
            <a:srgbClr val="C2352F"/>
          </a:solidFill>
          <a:ln/>
        </p:spPr>
      </p:sp>
      <p:sp>
        <p:nvSpPr>
          <p:cNvPr id="127" name="Text 125"/>
          <p:cNvSpPr txBox="1"/>
          <p:nvPr/>
        </p:nvSpPr>
        <p:spPr>
          <a:xfrm>
            <a:off x="10305288" y="446735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$222</a:t>
            </a:r>
            <a:endParaRPr lang="en-US" sz="1200" dirty="0"/>
          </a:p>
        </p:txBody>
      </p:sp>
      <p:sp>
        <p:nvSpPr>
          <p:cNvPr id="128" name="Text 126"/>
          <p:cNvSpPr txBox="1"/>
          <p:nvPr/>
        </p:nvSpPr>
        <p:spPr>
          <a:xfrm>
            <a:off x="6208776" y="46756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9" name="Text 127"/>
          <p:cNvSpPr txBox="1"/>
          <p:nvPr/>
        </p:nvSpPr>
        <p:spPr>
          <a:xfrm>
            <a:off x="6565392" y="46756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30" name="Shape 128"/>
          <p:cNvSpPr/>
          <p:nvPr/>
        </p:nvSpPr>
        <p:spPr>
          <a:xfrm>
            <a:off x="8558784" y="4727702"/>
            <a:ext cx="936986" cy="104140"/>
          </a:xfrm>
          <a:prstGeom prst="rect">
            <a:avLst/>
          </a:prstGeom>
          <a:solidFill>
            <a:srgbClr val="C2352F"/>
          </a:solidFill>
          <a:ln/>
        </p:spPr>
      </p:sp>
      <p:sp>
        <p:nvSpPr>
          <p:cNvPr id="131" name="Text 129"/>
          <p:cNvSpPr txBox="1"/>
          <p:nvPr/>
        </p:nvSpPr>
        <p:spPr>
          <a:xfrm>
            <a:off x="10305288" y="467563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$220</a:t>
            </a:r>
            <a:endParaRPr lang="en-US" sz="1200" dirty="0"/>
          </a:p>
        </p:txBody>
      </p:sp>
      <p:sp>
        <p:nvSpPr>
          <p:cNvPr id="132" name="Text 130"/>
          <p:cNvSpPr txBox="1"/>
          <p:nvPr/>
        </p:nvSpPr>
        <p:spPr>
          <a:xfrm>
            <a:off x="6208776" y="48839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3" name="Text 131"/>
          <p:cNvSpPr txBox="1"/>
          <p:nvPr/>
        </p:nvSpPr>
        <p:spPr>
          <a:xfrm>
            <a:off x="6565392" y="48839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4" name="Shape 132"/>
          <p:cNvSpPr/>
          <p:nvPr/>
        </p:nvSpPr>
        <p:spPr>
          <a:xfrm>
            <a:off x="8558784" y="4935982"/>
            <a:ext cx="906947" cy="104140"/>
          </a:xfrm>
          <a:prstGeom prst="rect">
            <a:avLst/>
          </a:prstGeom>
          <a:solidFill>
            <a:srgbClr val="C2352F"/>
          </a:solidFill>
          <a:ln/>
        </p:spPr>
      </p:sp>
      <p:sp>
        <p:nvSpPr>
          <p:cNvPr id="135" name="Text 133"/>
          <p:cNvSpPr txBox="1"/>
          <p:nvPr/>
        </p:nvSpPr>
        <p:spPr>
          <a:xfrm>
            <a:off x="10305288" y="488391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$213</a:t>
            </a:r>
            <a:endParaRPr lang="en-US" sz="1200" dirty="0"/>
          </a:p>
        </p:txBody>
      </p:sp>
      <p:sp>
        <p:nvSpPr>
          <p:cNvPr id="136" name="Text 134"/>
          <p:cNvSpPr txBox="1"/>
          <p:nvPr/>
        </p:nvSpPr>
        <p:spPr>
          <a:xfrm>
            <a:off x="6208776" y="50921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7" name="Text 135"/>
          <p:cNvSpPr txBox="1"/>
          <p:nvPr/>
        </p:nvSpPr>
        <p:spPr>
          <a:xfrm>
            <a:off x="6565392" y="50921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38" name="Shape 136"/>
          <p:cNvSpPr/>
          <p:nvPr/>
        </p:nvSpPr>
        <p:spPr>
          <a:xfrm>
            <a:off x="8558784" y="5144262"/>
            <a:ext cx="852977" cy="104140"/>
          </a:xfrm>
          <a:prstGeom prst="rect">
            <a:avLst/>
          </a:prstGeom>
          <a:solidFill>
            <a:srgbClr val="C2352F"/>
          </a:solidFill>
          <a:ln/>
        </p:spPr>
      </p:sp>
      <p:sp>
        <p:nvSpPr>
          <p:cNvPr id="139" name="Text 137"/>
          <p:cNvSpPr txBox="1"/>
          <p:nvPr/>
        </p:nvSpPr>
        <p:spPr>
          <a:xfrm>
            <a:off x="10305288" y="509219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$201</a:t>
            </a:r>
            <a:endParaRPr lang="en-US" sz="1200" dirty="0"/>
          </a:p>
        </p:txBody>
      </p:sp>
      <p:sp>
        <p:nvSpPr>
          <p:cNvPr id="140" name="Text 138"/>
          <p:cNvSpPr txBox="1"/>
          <p:nvPr/>
        </p:nvSpPr>
        <p:spPr>
          <a:xfrm>
            <a:off x="6208776" y="53004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1" name="Text 139"/>
          <p:cNvSpPr txBox="1"/>
          <p:nvPr/>
        </p:nvSpPr>
        <p:spPr>
          <a:xfrm>
            <a:off x="6565392" y="53004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42" name="Shape 140"/>
          <p:cNvSpPr/>
          <p:nvPr/>
        </p:nvSpPr>
        <p:spPr>
          <a:xfrm>
            <a:off x="8558784" y="5352542"/>
            <a:ext cx="794261" cy="104140"/>
          </a:xfrm>
          <a:prstGeom prst="rect">
            <a:avLst/>
          </a:prstGeom>
          <a:solidFill>
            <a:srgbClr val="C2352F"/>
          </a:solidFill>
          <a:ln/>
        </p:spPr>
      </p:sp>
      <p:sp>
        <p:nvSpPr>
          <p:cNvPr id="143" name="Text 141"/>
          <p:cNvSpPr txBox="1"/>
          <p:nvPr/>
        </p:nvSpPr>
        <p:spPr>
          <a:xfrm>
            <a:off x="10305288" y="530047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$187</a:t>
            </a:r>
            <a:endParaRPr lang="en-US" sz="1200" dirty="0"/>
          </a:p>
        </p:txBody>
      </p:sp>
      <p:sp>
        <p:nvSpPr>
          <p:cNvPr id="144" name="Text 142"/>
          <p:cNvSpPr txBox="1"/>
          <p:nvPr/>
        </p:nvSpPr>
        <p:spPr>
          <a:xfrm>
            <a:off x="6208776" y="55087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45" name="Text 143"/>
          <p:cNvSpPr txBox="1"/>
          <p:nvPr/>
        </p:nvSpPr>
        <p:spPr>
          <a:xfrm>
            <a:off x="6565392" y="55087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46" name="Shape 144"/>
          <p:cNvSpPr/>
          <p:nvPr/>
        </p:nvSpPr>
        <p:spPr>
          <a:xfrm>
            <a:off x="8558784" y="5560822"/>
            <a:ext cx="773488" cy="104140"/>
          </a:xfrm>
          <a:prstGeom prst="rect">
            <a:avLst/>
          </a:prstGeom>
          <a:solidFill>
            <a:srgbClr val="C2352F"/>
          </a:solidFill>
          <a:ln/>
        </p:spPr>
      </p:sp>
      <p:sp>
        <p:nvSpPr>
          <p:cNvPr id="147" name="Text 145"/>
          <p:cNvSpPr txBox="1"/>
          <p:nvPr/>
        </p:nvSpPr>
        <p:spPr>
          <a:xfrm>
            <a:off x="10305288" y="550875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$182</a:t>
            </a:r>
            <a:endParaRPr lang="en-US" sz="1200" dirty="0"/>
          </a:p>
        </p:txBody>
      </p:sp>
      <p:sp>
        <p:nvSpPr>
          <p:cNvPr id="148" name="Shape 146"/>
          <p:cNvSpPr/>
          <p:nvPr/>
        </p:nvSpPr>
        <p:spPr>
          <a:xfrm>
            <a:off x="4123939" y="2176272"/>
            <a:ext cx="14630" cy="3749040"/>
          </a:xfrm>
          <a:prstGeom prst="rect">
            <a:avLst/>
          </a:prstGeom>
          <a:solidFill>
            <a:srgbClr val="0B2C4A"/>
          </a:solidFill>
          <a:ln/>
        </p:spPr>
      </p:sp>
      <p:sp>
        <p:nvSpPr>
          <p:cNvPr id="149" name="Shape 147"/>
          <p:cNvSpPr/>
          <p:nvPr/>
        </p:nvSpPr>
        <p:spPr>
          <a:xfrm>
            <a:off x="9674347" y="2176272"/>
            <a:ext cx="14630" cy="3749040"/>
          </a:xfrm>
          <a:prstGeom prst="rect">
            <a:avLst/>
          </a:prstGeom>
          <a:solidFill>
            <a:srgbClr val="0B2C4A"/>
          </a:solidFill>
          <a:ln/>
        </p:spPr>
      </p:sp>
      <p:sp>
        <p:nvSpPr>
          <p:cNvPr id="150" name="Shape 148"/>
          <p:cNvSpPr/>
          <p:nvPr/>
        </p:nvSpPr>
        <p:spPr>
          <a:xfrm>
            <a:off x="6085332" y="2176272"/>
            <a:ext cx="10973" cy="3749040"/>
          </a:xfrm>
          <a:prstGeom prst="rect">
            <a:avLst/>
          </a:prstGeom>
          <a:solidFill>
            <a:srgbClr val="D9D9D9"/>
          </a:solidFill>
          <a:ln/>
        </p:spPr>
      </p:sp>
      <p:sp>
        <p:nvSpPr>
          <p:cNvPr id="151" name="Shape 149"/>
          <p:cNvSpPr/>
          <p:nvPr/>
        </p:nvSpPr>
        <p:spPr>
          <a:xfrm>
            <a:off x="457200" y="6126480"/>
            <a:ext cx="11274552" cy="615696"/>
          </a:xfrm>
          <a:prstGeom prst="rect">
            <a:avLst/>
          </a:prstGeom>
          <a:solidFill>
            <a:srgbClr val="EDF4FA"/>
          </a:solidFill>
          <a:ln/>
        </p:spPr>
      </p:sp>
      <p:sp>
        <p:nvSpPr>
          <p:cNvPr id="152" name="Text 15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5 of 9 luxury stores beat $632 and 13 of 24 others beat $264. VW Henderson leads non-luxury at $389.</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LABOR $ PER RO</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+$17</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3" name="Shape 11"/>
          <p:cNvSpPr/>
          <p:nvPr/>
        </p:nvSpPr>
        <p:spPr>
          <a:xfrm>
            <a:off x="3785616" y="1911860"/>
            <a:ext cx="777240"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+$111</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7" name="Shape 15"/>
          <p:cNvSpPr/>
          <p:nvPr/>
        </p:nvSpPr>
        <p:spPr>
          <a:xfrm>
            <a:off x="3785616" y="2151755"/>
            <a:ext cx="575943"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+$82</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21" name="Shape 19"/>
          <p:cNvSpPr/>
          <p:nvPr/>
        </p:nvSpPr>
        <p:spPr>
          <a:xfrm>
            <a:off x="3785616" y="2391651"/>
            <a:ext cx="552695"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25" name="Shape 23"/>
          <p:cNvSpPr/>
          <p:nvPr/>
        </p:nvSpPr>
        <p:spPr>
          <a:xfrm>
            <a:off x="3785616" y="2631546"/>
            <a:ext cx="463787"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+$66</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29" name="Shape 27"/>
          <p:cNvSpPr/>
          <p:nvPr/>
        </p:nvSpPr>
        <p:spPr>
          <a:xfrm>
            <a:off x="3785616" y="2871442"/>
            <a:ext cx="456716"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+$65</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33" name="Shape 31"/>
          <p:cNvSpPr/>
          <p:nvPr/>
        </p:nvSpPr>
        <p:spPr>
          <a:xfrm>
            <a:off x="3785616" y="3111337"/>
            <a:ext cx="414355"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+$59</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37" name="Shape 35"/>
          <p:cNvSpPr/>
          <p:nvPr/>
        </p:nvSpPr>
        <p:spPr>
          <a:xfrm>
            <a:off x="3785616" y="3351233"/>
            <a:ext cx="412769"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+$59</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41" name="Shape 39"/>
          <p:cNvSpPr/>
          <p:nvPr/>
        </p:nvSpPr>
        <p:spPr>
          <a:xfrm>
            <a:off x="3785616" y="3591128"/>
            <a:ext cx="406247"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+$58</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45" name="Shape 43"/>
          <p:cNvSpPr/>
          <p:nvPr/>
        </p:nvSpPr>
        <p:spPr>
          <a:xfrm>
            <a:off x="3785616" y="3831024"/>
            <a:ext cx="288052"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+$41</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49" name="Shape 47"/>
          <p:cNvSpPr/>
          <p:nvPr/>
        </p:nvSpPr>
        <p:spPr>
          <a:xfrm>
            <a:off x="3785616" y="4070920"/>
            <a:ext cx="263047"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+$37</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53" name="Shape 51"/>
          <p:cNvSpPr/>
          <p:nvPr/>
        </p:nvSpPr>
        <p:spPr>
          <a:xfrm>
            <a:off x="3785616" y="4310815"/>
            <a:ext cx="242490"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+$35</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57" name="Shape 55"/>
          <p:cNvSpPr/>
          <p:nvPr/>
        </p:nvSpPr>
        <p:spPr>
          <a:xfrm>
            <a:off x="3785616" y="4550711"/>
            <a:ext cx="235020"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61" name="Shape 59"/>
          <p:cNvSpPr/>
          <p:nvPr/>
        </p:nvSpPr>
        <p:spPr>
          <a:xfrm>
            <a:off x="3785616" y="4790606"/>
            <a:ext cx="215884"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+$31</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65" name="Shape 63"/>
          <p:cNvSpPr/>
          <p:nvPr/>
        </p:nvSpPr>
        <p:spPr>
          <a:xfrm>
            <a:off x="3785616" y="5030502"/>
            <a:ext cx="178374"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+$25</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69" name="Shape 67"/>
          <p:cNvSpPr/>
          <p:nvPr/>
        </p:nvSpPr>
        <p:spPr>
          <a:xfrm>
            <a:off x="3785616" y="5270397"/>
            <a:ext cx="173516"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+$25</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73" name="Shape 71"/>
          <p:cNvSpPr/>
          <p:nvPr/>
        </p:nvSpPr>
        <p:spPr>
          <a:xfrm>
            <a:off x="3785616" y="5510293"/>
            <a:ext cx="162620"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+$23</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77" name="Shape 75"/>
          <p:cNvSpPr/>
          <p:nvPr/>
        </p:nvSpPr>
        <p:spPr>
          <a:xfrm>
            <a:off x="3785616" y="5750188"/>
            <a:ext cx="157046"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+$22</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81" name="Shape 79"/>
          <p:cNvSpPr/>
          <p:nvPr/>
        </p:nvSpPr>
        <p:spPr>
          <a:xfrm>
            <a:off x="9336024" y="1911860"/>
            <a:ext cx="119398"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85" name="Shape 83"/>
          <p:cNvSpPr/>
          <p:nvPr/>
        </p:nvSpPr>
        <p:spPr>
          <a:xfrm>
            <a:off x="9336024" y="2151755"/>
            <a:ext cx="117460"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89" name="Shape 87"/>
          <p:cNvSpPr/>
          <p:nvPr/>
        </p:nvSpPr>
        <p:spPr>
          <a:xfrm>
            <a:off x="9336024" y="2391651"/>
            <a:ext cx="114434"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+$16</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93" name="Shape 91"/>
          <p:cNvSpPr/>
          <p:nvPr/>
        </p:nvSpPr>
        <p:spPr>
          <a:xfrm>
            <a:off x="9336024" y="2631546"/>
            <a:ext cx="101539" cy="110352"/>
          </a:xfrm>
          <a:prstGeom prst="rect">
            <a:avLst/>
          </a:prstGeom>
          <a:solidFill>
            <a:srgbClr val="12A566"/>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97" name="Shape 95"/>
          <p:cNvSpPr/>
          <p:nvPr/>
        </p:nvSpPr>
        <p:spPr>
          <a:xfrm>
            <a:off x="9336024" y="2871442"/>
            <a:ext cx="97831" cy="110352"/>
          </a:xfrm>
          <a:prstGeom prst="rect">
            <a:avLst/>
          </a:prstGeom>
          <a:solidFill>
            <a:srgbClr val="12A566"/>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01" name="Shape 99"/>
          <p:cNvSpPr/>
          <p:nvPr/>
        </p:nvSpPr>
        <p:spPr>
          <a:xfrm>
            <a:off x="9336024" y="3111337"/>
            <a:ext cx="90948" cy="110352"/>
          </a:xfrm>
          <a:prstGeom prst="rect">
            <a:avLst/>
          </a:prstGeom>
          <a:solidFill>
            <a:srgbClr val="12A566"/>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+$13</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05" name="Shape 103"/>
          <p:cNvSpPr/>
          <p:nvPr/>
        </p:nvSpPr>
        <p:spPr>
          <a:xfrm>
            <a:off x="9336024" y="3351233"/>
            <a:ext cx="55339" cy="110352"/>
          </a:xfrm>
          <a:prstGeom prst="rect">
            <a:avLst/>
          </a:prstGeom>
          <a:solidFill>
            <a:srgbClr val="12A566"/>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09" name="Shape 107"/>
          <p:cNvSpPr/>
          <p:nvPr/>
        </p:nvSpPr>
        <p:spPr>
          <a:xfrm>
            <a:off x="9336024" y="3591128"/>
            <a:ext cx="49679" cy="110352"/>
          </a:xfrm>
          <a:prstGeom prst="rect">
            <a:avLst/>
          </a:prstGeom>
          <a:solidFill>
            <a:srgbClr val="12A566"/>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13" name="Shape 111"/>
          <p:cNvSpPr/>
          <p:nvPr/>
        </p:nvSpPr>
        <p:spPr>
          <a:xfrm>
            <a:off x="9336024" y="3831024"/>
            <a:ext cx="30084" cy="110352"/>
          </a:xfrm>
          <a:prstGeom prst="rect">
            <a:avLst/>
          </a:prstGeom>
          <a:solidFill>
            <a:srgbClr val="12A566"/>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17" name="Shape 115"/>
          <p:cNvSpPr/>
          <p:nvPr/>
        </p:nvSpPr>
        <p:spPr>
          <a:xfrm>
            <a:off x="9295589" y="4070920"/>
            <a:ext cx="40435"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21" name="Shape 119"/>
          <p:cNvSpPr/>
          <p:nvPr/>
        </p:nvSpPr>
        <p:spPr>
          <a:xfrm>
            <a:off x="9290140" y="4310815"/>
            <a:ext cx="45884"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25" name="Shape 123"/>
          <p:cNvSpPr/>
          <p:nvPr/>
        </p:nvSpPr>
        <p:spPr>
          <a:xfrm>
            <a:off x="9274808" y="4550711"/>
            <a:ext cx="61216"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−$9</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29" name="Shape 127"/>
          <p:cNvSpPr/>
          <p:nvPr/>
        </p:nvSpPr>
        <p:spPr>
          <a:xfrm>
            <a:off x="9269533" y="4790606"/>
            <a:ext cx="66491"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−$9</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33" name="Shape 131"/>
          <p:cNvSpPr/>
          <p:nvPr/>
        </p:nvSpPr>
        <p:spPr>
          <a:xfrm>
            <a:off x="9197430" y="5030502"/>
            <a:ext cx="138594"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7" name="Shape 135"/>
          <p:cNvSpPr/>
          <p:nvPr/>
        </p:nvSpPr>
        <p:spPr>
          <a:xfrm>
            <a:off x="9075430" y="5270397"/>
            <a:ext cx="260594"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−$37</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41" name="Shape 139"/>
          <p:cNvSpPr/>
          <p:nvPr/>
        </p:nvSpPr>
        <p:spPr>
          <a:xfrm>
            <a:off x="8917914" y="5510293"/>
            <a:ext cx="418110"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−$59</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348996"/>
          </a:xfrm>
          <a:prstGeom prst="rect">
            <a:avLst/>
          </a:prstGeom>
          <a:solidFill>
            <a:srgbClr val="E6F6EE"/>
          </a:solidFill>
          <a:ln/>
        </p:spPr>
      </p:sp>
      <p:sp>
        <p:nvSpPr>
          <p:cNvPr id="147" name="Text 145"/>
          <p:cNvSpPr txBox="1"/>
          <p:nvPr/>
        </p:nvSpPr>
        <p:spPr>
          <a:xfrm>
            <a:off x="658368" y="6144768"/>
            <a:ext cx="10927080" cy="312420"/>
          </a:xfrm>
          <a:prstGeom prst="rect">
            <a:avLst/>
          </a:prstGeom>
          <a:noFill/>
          <a:ln/>
        </p:spPr>
        <p:txBody>
          <a:bodyPr wrap="square" lIns="0" tIns="0" rIns="0" bIns="0" rtlCol="0" anchor="ctr"/>
          <a:lstStyle/>
          <a:p>
            <a:pPr indent="0" marL="0">
              <a:buNone/>
            </a:pPr>
            <a:r>
              <a:rPr lang="en-US" sz="1450" b="1" dirty="0">
                <a:solidFill>
                  <a:srgbClr val="0B7A4A"/>
                </a:solidFill>
                <a:latin typeface="Inter" pitchFamily="34" charset="0"/>
                <a:ea typeface="Inter" pitchFamily="34" charset="-122"/>
                <a:cs typeface="Inter" pitchFamily="34" charset="-120"/>
              </a:rPr>
              <a:t>26 of 33 stores grew CP labor per RO, led by Lincoln at +$111 to $416. 7 declined; LR Reno fell most at −$59.</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Text 8"/>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$306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$416</a:t>
            </a:r>
            <a:endParaRPr lang="en-US" sz="1400" dirty="0"/>
          </a:p>
        </p:txBody>
      </p:sp>
      <p:sp>
        <p:nvSpPr>
          <p:cNvPr id="12" name="Text 10"/>
          <p:cNvSpPr txBox="1"/>
          <p:nvPr/>
        </p:nvSpPr>
        <p:spPr>
          <a:xfrm>
            <a:off x="2941320"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+$111</a:t>
            </a:r>
            <a:endParaRPr lang="en-US" sz="1600" dirty="0"/>
          </a:p>
        </p:txBody>
      </p:sp>
      <p:sp>
        <p:nvSpPr>
          <p:cNvPr id="13" name="Text 11"/>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$289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$371</a:t>
            </a:r>
            <a:endParaRPr lang="en-US" sz="1400" dirty="0"/>
          </a:p>
        </p:txBody>
      </p:sp>
      <p:sp>
        <p:nvSpPr>
          <p:cNvPr id="15" name="Text 13"/>
          <p:cNvSpPr txBox="1"/>
          <p:nvPr/>
        </p:nvSpPr>
        <p:spPr>
          <a:xfrm>
            <a:off x="2941320"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+$82</a:t>
            </a:r>
            <a:endParaRPr lang="en-US" sz="1600" dirty="0"/>
          </a:p>
        </p:txBody>
      </p:sp>
      <p:sp>
        <p:nvSpPr>
          <p:cNvPr id="16" name="Shape 14"/>
          <p:cNvSpPr/>
          <p:nvPr/>
        </p:nvSpPr>
        <p:spPr>
          <a:xfrm>
            <a:off x="658368" y="3613709"/>
            <a:ext cx="3489960" cy="755294"/>
          </a:xfrm>
          <a:prstGeom prst="rect">
            <a:avLst/>
          </a:prstGeom>
          <a:solidFill>
            <a:srgbClr val="F7F7F7"/>
          </a:solidFill>
          <a:ln/>
        </p:spPr>
      </p:sp>
      <p:sp>
        <p:nvSpPr>
          <p:cNvPr id="17" name="Text 15"/>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8" name="Text 16"/>
          <p:cNvSpPr txBox="1"/>
          <p:nvPr/>
        </p:nvSpPr>
        <p:spPr>
          <a:xfrm>
            <a:off x="1097280"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$403</a:t>
            </a:r>
            <a:endParaRPr lang="en-US" sz="1400" dirty="0"/>
          </a:p>
        </p:txBody>
      </p:sp>
      <p:sp>
        <p:nvSpPr>
          <p:cNvPr id="19" name="Text 17"/>
          <p:cNvSpPr txBox="1"/>
          <p:nvPr/>
        </p:nvSpPr>
        <p:spPr>
          <a:xfrm>
            <a:off x="2941320"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+$79</a:t>
            </a:r>
            <a:endParaRPr lang="en-US" sz="1600" dirty="0"/>
          </a:p>
        </p:txBody>
      </p:sp>
      <p:sp>
        <p:nvSpPr>
          <p:cNvPr id="20" name="Text 18"/>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1" name="Text 19"/>
          <p:cNvSpPr txBox="1"/>
          <p:nvPr/>
        </p:nvSpPr>
        <p:spPr>
          <a:xfrm>
            <a:off x="1097280"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$238</a:t>
            </a:r>
            <a:endParaRPr lang="en-US" sz="1400" dirty="0"/>
          </a:p>
        </p:txBody>
      </p:sp>
      <p:sp>
        <p:nvSpPr>
          <p:cNvPr id="22" name="Text 20"/>
          <p:cNvSpPr txBox="1"/>
          <p:nvPr/>
        </p:nvSpPr>
        <p:spPr>
          <a:xfrm>
            <a:off x="2941320"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+$66</a:t>
            </a:r>
            <a:endParaRPr lang="en-US" sz="1600" dirty="0"/>
          </a:p>
        </p:txBody>
      </p:sp>
      <p:sp>
        <p:nvSpPr>
          <p:cNvPr id="23" name="Shape 21"/>
          <p:cNvSpPr/>
          <p:nvPr/>
        </p:nvSpPr>
        <p:spPr>
          <a:xfrm>
            <a:off x="658368" y="5124298"/>
            <a:ext cx="3489960" cy="755294"/>
          </a:xfrm>
          <a:prstGeom prst="rect">
            <a:avLst/>
          </a:prstGeom>
          <a:solidFill>
            <a:srgbClr val="F7F7F7"/>
          </a:solidFill>
          <a:ln/>
        </p:spPr>
      </p:sp>
      <p:sp>
        <p:nvSpPr>
          <p:cNvPr id="24" name="Text 22"/>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5" name="Text 23"/>
          <p:cNvSpPr txBox="1"/>
          <p:nvPr/>
        </p:nvSpPr>
        <p:spPr>
          <a:xfrm>
            <a:off x="1097280"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$866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$931</a:t>
            </a:r>
            <a:endParaRPr lang="en-US" sz="1400" dirty="0"/>
          </a:p>
        </p:txBody>
      </p:sp>
      <p:sp>
        <p:nvSpPr>
          <p:cNvPr id="26" name="Text 24"/>
          <p:cNvSpPr txBox="1"/>
          <p:nvPr/>
        </p:nvSpPr>
        <p:spPr>
          <a:xfrm>
            <a:off x="2941320"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+$65</a:t>
            </a:r>
            <a:endParaRPr lang="en-US" sz="1600" dirty="0"/>
          </a:p>
        </p:txBody>
      </p:sp>
      <p:sp>
        <p:nvSpPr>
          <p:cNvPr id="27" name="Shape 25"/>
          <p:cNvSpPr/>
          <p:nvPr/>
        </p:nvSpPr>
        <p:spPr>
          <a:xfrm>
            <a:off x="4349496" y="1371600"/>
            <a:ext cx="3489960" cy="45720"/>
          </a:xfrm>
          <a:prstGeom prst="rect">
            <a:avLst/>
          </a:prstGeom>
          <a:solidFill>
            <a:srgbClr val="C2352F"/>
          </a:solidFill>
          <a:ln/>
        </p:spPr>
      </p:sp>
      <p:sp>
        <p:nvSpPr>
          <p:cNvPr id="28"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29" name="Text 27"/>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30" name="Shape 28"/>
          <p:cNvSpPr/>
          <p:nvPr/>
        </p:nvSpPr>
        <p:spPr>
          <a:xfrm>
            <a:off x="4349496" y="2103120"/>
            <a:ext cx="3489960" cy="755294"/>
          </a:xfrm>
          <a:prstGeom prst="rect">
            <a:avLst/>
          </a:prstGeom>
          <a:solidFill>
            <a:srgbClr val="F7F7F7"/>
          </a:solidFill>
          <a:ln/>
        </p:spPr>
      </p:sp>
      <p:sp>
        <p:nvSpPr>
          <p:cNvPr id="31" name="Text 29"/>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2" name="Text 30"/>
          <p:cNvSpPr txBox="1"/>
          <p:nvPr/>
        </p:nvSpPr>
        <p:spPr>
          <a:xfrm>
            <a:off x="4788408"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$876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$817</a:t>
            </a:r>
            <a:endParaRPr lang="en-US" sz="1400" dirty="0"/>
          </a:p>
        </p:txBody>
      </p:sp>
      <p:sp>
        <p:nvSpPr>
          <p:cNvPr id="33" name="Text 31"/>
          <p:cNvSpPr txBox="1"/>
          <p:nvPr/>
        </p:nvSpPr>
        <p:spPr>
          <a:xfrm>
            <a:off x="6632448" y="2103120"/>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−$59</a:t>
            </a:r>
            <a:endParaRPr lang="en-US" sz="1600" dirty="0"/>
          </a:p>
        </p:txBody>
      </p:sp>
      <p:sp>
        <p:nvSpPr>
          <p:cNvPr id="34" name="Text 32"/>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5" name="Text 33"/>
          <p:cNvSpPr txBox="1"/>
          <p:nvPr/>
        </p:nvSpPr>
        <p:spPr>
          <a:xfrm>
            <a:off x="4788408"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$231</a:t>
            </a:r>
            <a:endParaRPr lang="en-US" sz="1400" dirty="0"/>
          </a:p>
        </p:txBody>
      </p:sp>
      <p:sp>
        <p:nvSpPr>
          <p:cNvPr id="36" name="Text 34"/>
          <p:cNvSpPr txBox="1"/>
          <p:nvPr/>
        </p:nvSpPr>
        <p:spPr>
          <a:xfrm>
            <a:off x="6632448" y="2858414"/>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−$37</a:t>
            </a:r>
            <a:endParaRPr lang="en-US" sz="1600" dirty="0"/>
          </a:p>
        </p:txBody>
      </p:sp>
      <p:sp>
        <p:nvSpPr>
          <p:cNvPr id="37" name="Shape 35"/>
          <p:cNvSpPr/>
          <p:nvPr/>
        </p:nvSpPr>
        <p:spPr>
          <a:xfrm>
            <a:off x="4349496" y="3613709"/>
            <a:ext cx="3489960" cy="755294"/>
          </a:xfrm>
          <a:prstGeom prst="rect">
            <a:avLst/>
          </a:prstGeom>
          <a:solidFill>
            <a:srgbClr val="F7F7F7"/>
          </a:solidFill>
          <a:ln/>
        </p:spPr>
      </p:sp>
      <p:sp>
        <p:nvSpPr>
          <p:cNvPr id="38" name="Text 36"/>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39" name="Text 37"/>
          <p:cNvSpPr txBox="1"/>
          <p:nvPr/>
        </p:nvSpPr>
        <p:spPr>
          <a:xfrm>
            <a:off x="4788408"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$948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$928</a:t>
            </a:r>
            <a:endParaRPr lang="en-US" sz="1400" dirty="0"/>
          </a:p>
        </p:txBody>
      </p:sp>
      <p:sp>
        <p:nvSpPr>
          <p:cNvPr id="40" name="Text 38"/>
          <p:cNvSpPr txBox="1"/>
          <p:nvPr/>
        </p:nvSpPr>
        <p:spPr>
          <a:xfrm>
            <a:off x="6632448" y="3613709"/>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−$20</a:t>
            </a:r>
            <a:endParaRPr lang="en-US" sz="1600" dirty="0"/>
          </a:p>
        </p:txBody>
      </p:sp>
      <p:sp>
        <p:nvSpPr>
          <p:cNvPr id="41" name="Text 39"/>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2" name="Text 40"/>
          <p:cNvSpPr txBox="1"/>
          <p:nvPr/>
        </p:nvSpPr>
        <p:spPr>
          <a:xfrm>
            <a:off x="4788408"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$234</a:t>
            </a:r>
            <a:endParaRPr lang="en-US" sz="1400" dirty="0"/>
          </a:p>
        </p:txBody>
      </p:sp>
      <p:sp>
        <p:nvSpPr>
          <p:cNvPr id="43" name="Text 41"/>
          <p:cNvSpPr txBox="1"/>
          <p:nvPr/>
        </p:nvSpPr>
        <p:spPr>
          <a:xfrm>
            <a:off x="6632448" y="4369003"/>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−$9</a:t>
            </a:r>
            <a:endParaRPr lang="en-US" sz="1600" dirty="0"/>
          </a:p>
        </p:txBody>
      </p:sp>
      <p:sp>
        <p:nvSpPr>
          <p:cNvPr id="44" name="Shape 42"/>
          <p:cNvSpPr/>
          <p:nvPr/>
        </p:nvSpPr>
        <p:spPr>
          <a:xfrm>
            <a:off x="4349496" y="5124298"/>
            <a:ext cx="3489960" cy="755294"/>
          </a:xfrm>
          <a:prstGeom prst="rect">
            <a:avLst/>
          </a:prstGeom>
          <a:solidFill>
            <a:srgbClr val="F7F7F7"/>
          </a:solidFill>
          <a:ln/>
        </p:spPr>
      </p:sp>
      <p:sp>
        <p:nvSpPr>
          <p:cNvPr id="45" name="Text 43"/>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6" name="Text 44"/>
          <p:cNvSpPr txBox="1"/>
          <p:nvPr/>
        </p:nvSpPr>
        <p:spPr>
          <a:xfrm>
            <a:off x="4788408"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$280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$271</a:t>
            </a:r>
            <a:endParaRPr lang="en-US" sz="1400" dirty="0"/>
          </a:p>
        </p:txBody>
      </p:sp>
      <p:sp>
        <p:nvSpPr>
          <p:cNvPr id="47" name="Text 45"/>
          <p:cNvSpPr txBox="1"/>
          <p:nvPr/>
        </p:nvSpPr>
        <p:spPr>
          <a:xfrm>
            <a:off x="6632448" y="5124298"/>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−$9</a:t>
            </a:r>
            <a:endParaRPr lang="en-US" sz="1600" dirty="0"/>
          </a:p>
        </p:txBody>
      </p:sp>
      <p:sp>
        <p:nvSpPr>
          <p:cNvPr id="48" name="Shape 46"/>
          <p:cNvSpPr/>
          <p:nvPr/>
        </p:nvSpPr>
        <p:spPr>
          <a:xfrm>
            <a:off x="8040624" y="1371600"/>
            <a:ext cx="3489960" cy="45720"/>
          </a:xfrm>
          <a:prstGeom prst="rect">
            <a:avLst/>
          </a:prstGeom>
          <a:solidFill>
            <a:srgbClr val="2587C5"/>
          </a:solidFill>
          <a:ln/>
        </p:spPr>
      </p:sp>
      <p:sp>
        <p:nvSpPr>
          <p:cNvPr id="49" name="Text 4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0" name="Text 48"/>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a:t>
            </a:r>
            <a:endParaRPr lang="en-US" sz="1200" dirty="0"/>
          </a:p>
        </p:txBody>
      </p:sp>
      <p:sp>
        <p:nvSpPr>
          <p:cNvPr id="51" name="Shape 49"/>
          <p:cNvSpPr/>
          <p:nvPr/>
        </p:nvSpPr>
        <p:spPr>
          <a:xfrm>
            <a:off x="8040624" y="2103120"/>
            <a:ext cx="3489960" cy="755294"/>
          </a:xfrm>
          <a:prstGeom prst="rect">
            <a:avLst/>
          </a:prstGeom>
          <a:solidFill>
            <a:srgbClr val="F7F7F7"/>
          </a:solidFill>
          <a:ln/>
        </p:spPr>
      </p:sp>
      <p:sp>
        <p:nvSpPr>
          <p:cNvPr id="52" name="Text 50"/>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3" name="Text 51"/>
          <p:cNvSpPr txBox="1"/>
          <p:nvPr/>
        </p:nvSpPr>
        <p:spPr>
          <a:xfrm>
            <a:off x="8479536"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$591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$666</a:t>
            </a:r>
            <a:endParaRPr lang="en-US" sz="1400" dirty="0"/>
          </a:p>
        </p:txBody>
      </p:sp>
      <p:sp>
        <p:nvSpPr>
          <p:cNvPr id="54" name="Text 52"/>
          <p:cNvSpPr txBox="1"/>
          <p:nvPr/>
        </p:nvSpPr>
        <p:spPr>
          <a:xfrm>
            <a:off x="10323576"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+$75</a:t>
            </a:r>
            <a:endParaRPr lang="en-US" sz="1600" dirty="0"/>
          </a:p>
        </p:txBody>
      </p:sp>
      <p:sp>
        <p:nvSpPr>
          <p:cNvPr id="55" name="Text 53"/>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6" name="Text 54"/>
          <p:cNvSpPr txBox="1"/>
          <p:nvPr/>
        </p:nvSpPr>
        <p:spPr>
          <a:xfrm>
            <a:off x="8479536"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$813</a:t>
            </a:r>
            <a:endParaRPr lang="en-US" sz="1400" dirty="0"/>
          </a:p>
        </p:txBody>
      </p:sp>
      <p:sp>
        <p:nvSpPr>
          <p:cNvPr id="57" name="Text 55"/>
          <p:cNvSpPr txBox="1"/>
          <p:nvPr/>
        </p:nvSpPr>
        <p:spPr>
          <a:xfrm>
            <a:off x="10323576"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+$54</a:t>
            </a:r>
            <a:endParaRPr lang="en-US" sz="1600" dirty="0"/>
          </a:p>
        </p:txBody>
      </p:sp>
      <p:sp>
        <p:nvSpPr>
          <p:cNvPr id="58" name="Shape 56"/>
          <p:cNvSpPr/>
          <p:nvPr/>
        </p:nvSpPr>
        <p:spPr>
          <a:xfrm>
            <a:off x="8040624" y="3613709"/>
            <a:ext cx="3489960" cy="755294"/>
          </a:xfrm>
          <a:prstGeom prst="rect">
            <a:avLst/>
          </a:prstGeom>
          <a:solidFill>
            <a:srgbClr val="F7F7F7"/>
          </a:solidFill>
          <a:ln/>
        </p:spPr>
      </p:sp>
      <p:sp>
        <p:nvSpPr>
          <p:cNvPr id="59" name="Text 57"/>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0" name="Text 58"/>
          <p:cNvSpPr txBox="1"/>
          <p:nvPr/>
        </p:nvSpPr>
        <p:spPr>
          <a:xfrm>
            <a:off x="8479536"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$273</a:t>
            </a:r>
            <a:endParaRPr lang="en-US" sz="1400" dirty="0"/>
          </a:p>
        </p:txBody>
      </p:sp>
      <p:sp>
        <p:nvSpPr>
          <p:cNvPr id="61" name="Text 59"/>
          <p:cNvSpPr txBox="1"/>
          <p:nvPr/>
        </p:nvSpPr>
        <p:spPr>
          <a:xfrm>
            <a:off x="10323576"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+$49</a:t>
            </a:r>
            <a:endParaRPr lang="en-US" sz="1600" dirty="0"/>
          </a:p>
        </p:txBody>
      </p:sp>
      <p:sp>
        <p:nvSpPr>
          <p:cNvPr id="62" name="Text 60"/>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3" name="Text 61"/>
          <p:cNvSpPr txBox="1"/>
          <p:nvPr/>
        </p:nvSpPr>
        <p:spPr>
          <a:xfrm>
            <a:off x="8479536"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$240</a:t>
            </a:r>
            <a:endParaRPr lang="en-US" sz="1400" dirty="0"/>
          </a:p>
        </p:txBody>
      </p:sp>
      <p:sp>
        <p:nvSpPr>
          <p:cNvPr id="64" name="Text 62"/>
          <p:cNvSpPr txBox="1"/>
          <p:nvPr/>
        </p:nvSpPr>
        <p:spPr>
          <a:xfrm>
            <a:off x="10323576"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a:t>
            </a:r>
            <a:endParaRPr lang="en-US" sz="1600" dirty="0"/>
          </a:p>
        </p:txBody>
      </p:sp>
      <p:sp>
        <p:nvSpPr>
          <p:cNvPr id="65" name="Shape 63"/>
          <p:cNvSpPr/>
          <p:nvPr/>
        </p:nvSpPr>
        <p:spPr>
          <a:xfrm>
            <a:off x="8040624" y="5124298"/>
            <a:ext cx="3489960" cy="755294"/>
          </a:xfrm>
          <a:prstGeom prst="rect">
            <a:avLst/>
          </a:prstGeom>
          <a:solidFill>
            <a:srgbClr val="F7F7F7"/>
          </a:solidFill>
          <a:ln/>
        </p:spPr>
      </p:sp>
      <p:sp>
        <p:nvSpPr>
          <p:cNvPr id="66" name="Text 64"/>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7" name="Text 65"/>
          <p:cNvSpPr txBox="1"/>
          <p:nvPr/>
        </p:nvSpPr>
        <p:spPr>
          <a:xfrm>
            <a:off x="8479536"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GMC Bullhead</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$290</a:t>
            </a:r>
            <a:endParaRPr lang="en-US" sz="1400" dirty="0"/>
          </a:p>
        </p:txBody>
      </p:sp>
      <p:sp>
        <p:nvSpPr>
          <p:cNvPr id="68" name="Text 66"/>
          <p:cNvSpPr txBox="1"/>
          <p:nvPr/>
        </p:nvSpPr>
        <p:spPr>
          <a:xfrm>
            <a:off x="10323576"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a:t>
            </a:r>
            <a:endParaRPr lang="en-US" sz="1600" dirty="0"/>
          </a:p>
        </p:txBody>
      </p:sp>
      <p:sp>
        <p:nvSpPr>
          <p:cNvPr id="69" name="Shape 67"/>
          <p:cNvSpPr/>
          <p:nvPr/>
        </p:nvSpPr>
        <p:spPr>
          <a:xfrm>
            <a:off x="457200" y="6126480"/>
            <a:ext cx="11274552" cy="615696"/>
          </a:xfrm>
          <a:prstGeom prst="rect">
            <a:avLst/>
          </a:prstGeom>
          <a:solidFill>
            <a:srgbClr val="EDF4FA"/>
          </a:solidFill>
          <a:ln/>
        </p:spPr>
      </p:sp>
      <p:sp>
        <p:nvSpPr>
          <p:cNvPr id="70" name="Text 6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Ask Lincoln, Nissan and Lexus what changed. Ask LR Reno, VW St George and Audi Henderson what got in the way. Ask Audi Reno, LR Reno and Mazda what they started this year.</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 per RO</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$228</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$238</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+$9</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+4.1%</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Parts $ per RO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sp>
        <p:nvSpPr>
          <p:cNvPr id="21" name="Shape 15"/>
          <p:cNvSpPr/>
          <p:nvPr/>
        </p:nvSpPr>
        <p:spPr>
          <a:xfrm>
            <a:off x="4951476" y="3049524"/>
            <a:ext cx="310896" cy="45720"/>
          </a:xfrm>
          <a:prstGeom prst="rect">
            <a:avLst/>
          </a:prstGeom>
          <a:solidFill>
            <a:srgbClr val="9AA3AD"/>
          </a:solidFill>
          <a:ln/>
        </p:spPr>
      </p:sp>
      <p:sp>
        <p:nvSpPr>
          <p:cNvPr id="22" name="Shape 16"/>
          <p:cNvSpPr/>
          <p:nvPr/>
        </p:nvSpPr>
        <p:spPr>
          <a:xfrm>
            <a:off x="5052060" y="3017520"/>
            <a:ext cx="109728" cy="109728"/>
          </a:xfrm>
          <a:prstGeom prst="ellipse">
            <a:avLst/>
          </a:prstGeom>
          <a:solidFill>
            <a:srgbClr val="9AA3AD"/>
          </a:solidFill>
          <a:ln/>
        </p:spPr>
      </p:sp>
      <p:sp>
        <p:nvSpPr>
          <p:cNvPr id="23"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4" name="Shape 18"/>
          <p:cNvSpPr/>
          <p:nvPr/>
        </p:nvSpPr>
        <p:spPr>
          <a:xfrm>
            <a:off x="6185916" y="3049524"/>
            <a:ext cx="310896" cy="45720"/>
          </a:xfrm>
          <a:prstGeom prst="rect">
            <a:avLst/>
          </a:prstGeom>
          <a:solidFill>
            <a:srgbClr val="2587C5"/>
          </a:solidFill>
          <a:ln/>
        </p:spPr>
      </p:sp>
      <p:sp>
        <p:nvSpPr>
          <p:cNvPr id="25" name="Shape 19"/>
          <p:cNvSpPr/>
          <p:nvPr/>
        </p:nvSpPr>
        <p:spPr>
          <a:xfrm>
            <a:off x="6286500" y="3017520"/>
            <a:ext cx="109728" cy="109728"/>
          </a:xfrm>
          <a:prstGeom prst="ellipse">
            <a:avLst/>
          </a:prstGeom>
          <a:solidFill>
            <a:srgbClr val="2587C5"/>
          </a:solidFill>
          <a:ln/>
        </p:spPr>
      </p:sp>
      <p:sp>
        <p:nvSpPr>
          <p:cNvPr id="26"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7" name="Shape 21"/>
          <p:cNvSpPr/>
          <p:nvPr/>
        </p:nvSpPr>
        <p:spPr>
          <a:xfrm>
            <a:off x="457200" y="6126480"/>
            <a:ext cx="11274552" cy="371856"/>
          </a:xfrm>
          <a:prstGeom prst="rect">
            <a:avLst/>
          </a:prstGeom>
          <a:solidFill>
            <a:srgbClr val="E6F6EE"/>
          </a:solidFill>
          <a:ln/>
        </p:spPr>
      </p:sp>
      <p:sp>
        <p:nvSpPr>
          <p:cNvPr id="28"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$9 to $238, ahead of 2025 in all nine months. Parts sale grew $2,750,802 on flat RO count.</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 per RO</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PARTS $ PER RO</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$238</a:t>
            </a:r>
            <a:endParaRPr lang="en-US" sz="2000" dirty="0"/>
          </a:p>
        </p:txBody>
      </p:sp>
      <p:sp>
        <p:nvSpPr>
          <p:cNvPr id="11" name="Text 9"/>
          <p:cNvSpPr txBox="1"/>
          <p:nvPr/>
        </p:nvSpPr>
        <p:spPr>
          <a:xfrm>
            <a:off x="859536" y="1847088"/>
            <a:ext cx="10607040" cy="2743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Each segment ranked on its own. Navy line = each segment's average; green at or above it.</a:t>
            </a:r>
            <a:endParaRPr lang="en-US" sz="1400" dirty="0"/>
          </a:p>
        </p:txBody>
      </p:sp>
      <p:sp>
        <p:nvSpPr>
          <p:cNvPr id="12" name="Text 10"/>
          <p:cNvSpPr txBox="1"/>
          <p:nvPr/>
        </p:nvSpPr>
        <p:spPr>
          <a:xfrm>
            <a:off x="658368" y="2176272"/>
            <a:ext cx="5303520" cy="208280"/>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LUXURY · AVERAGE $534</a:t>
            </a:r>
            <a:endParaRPr lang="en-US" sz="1300" dirty="0"/>
          </a:p>
        </p:txBody>
      </p:sp>
      <p:sp>
        <p:nvSpPr>
          <p:cNvPr id="13" name="Shape 11"/>
          <p:cNvSpPr/>
          <p:nvPr/>
        </p:nvSpPr>
        <p:spPr>
          <a:xfrm>
            <a:off x="658368" y="2366264"/>
            <a:ext cx="5303520" cy="18288"/>
          </a:xfrm>
          <a:prstGeom prst="rect">
            <a:avLst/>
          </a:prstGeom>
          <a:solidFill>
            <a:srgbClr val="0B2C4A"/>
          </a:solidFill>
          <a:ln/>
        </p:spPr>
      </p:sp>
      <p:sp>
        <p:nvSpPr>
          <p:cNvPr id="14" name="Text 12"/>
          <p:cNvSpPr txBox="1"/>
          <p:nvPr/>
        </p:nvSpPr>
        <p:spPr>
          <a:xfrm>
            <a:off x="658368" y="23845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5" name="Text 13"/>
          <p:cNvSpPr txBox="1"/>
          <p:nvPr/>
        </p:nvSpPr>
        <p:spPr>
          <a:xfrm>
            <a:off x="1014984" y="23845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6" name="Shape 14"/>
          <p:cNvSpPr/>
          <p:nvPr/>
        </p:nvSpPr>
        <p:spPr>
          <a:xfrm>
            <a:off x="3008376" y="2436622"/>
            <a:ext cx="1658471" cy="104140"/>
          </a:xfrm>
          <a:prstGeom prst="rect">
            <a:avLst/>
          </a:prstGeom>
          <a:solidFill>
            <a:srgbClr val="12A566"/>
          </a:solidFill>
          <a:ln/>
        </p:spPr>
      </p:sp>
      <p:sp>
        <p:nvSpPr>
          <p:cNvPr id="17" name="Text 15"/>
          <p:cNvSpPr txBox="1"/>
          <p:nvPr/>
        </p:nvSpPr>
        <p:spPr>
          <a:xfrm>
            <a:off x="4754880" y="23845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$926</a:t>
            </a:r>
            <a:endParaRPr lang="en-US" sz="1200" dirty="0"/>
          </a:p>
        </p:txBody>
      </p:sp>
      <p:sp>
        <p:nvSpPr>
          <p:cNvPr id="18" name="Text 16"/>
          <p:cNvSpPr txBox="1"/>
          <p:nvPr/>
        </p:nvSpPr>
        <p:spPr>
          <a:xfrm>
            <a:off x="658368" y="25928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25928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20" name="Shape 18"/>
          <p:cNvSpPr/>
          <p:nvPr/>
        </p:nvSpPr>
        <p:spPr>
          <a:xfrm>
            <a:off x="3008376" y="2644902"/>
            <a:ext cx="1511545" cy="104140"/>
          </a:xfrm>
          <a:prstGeom prst="rect">
            <a:avLst/>
          </a:prstGeom>
          <a:solidFill>
            <a:srgbClr val="12A566"/>
          </a:solidFill>
          <a:ln/>
        </p:spPr>
      </p:sp>
      <p:sp>
        <p:nvSpPr>
          <p:cNvPr id="21" name="Text 19"/>
          <p:cNvSpPr txBox="1"/>
          <p:nvPr/>
        </p:nvSpPr>
        <p:spPr>
          <a:xfrm>
            <a:off x="4754880" y="25928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$844</a:t>
            </a:r>
            <a:endParaRPr lang="en-US" sz="1200" dirty="0"/>
          </a:p>
        </p:txBody>
      </p:sp>
      <p:sp>
        <p:nvSpPr>
          <p:cNvPr id="22" name="Text 20"/>
          <p:cNvSpPr txBox="1"/>
          <p:nvPr/>
        </p:nvSpPr>
        <p:spPr>
          <a:xfrm>
            <a:off x="658368" y="28011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3" name="Text 21"/>
          <p:cNvSpPr txBox="1"/>
          <p:nvPr/>
        </p:nvSpPr>
        <p:spPr>
          <a:xfrm>
            <a:off x="1014984" y="28011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4" name="Shape 22"/>
          <p:cNvSpPr/>
          <p:nvPr/>
        </p:nvSpPr>
        <p:spPr>
          <a:xfrm>
            <a:off x="3008376" y="2853182"/>
            <a:ext cx="1456745" cy="104140"/>
          </a:xfrm>
          <a:prstGeom prst="rect">
            <a:avLst/>
          </a:prstGeom>
          <a:solidFill>
            <a:srgbClr val="12A566"/>
          </a:solidFill>
          <a:ln/>
        </p:spPr>
      </p:sp>
      <p:sp>
        <p:nvSpPr>
          <p:cNvPr id="25" name="Text 23"/>
          <p:cNvSpPr txBox="1"/>
          <p:nvPr/>
        </p:nvSpPr>
        <p:spPr>
          <a:xfrm>
            <a:off x="4754880" y="280111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$814</a:t>
            </a:r>
            <a:endParaRPr lang="en-US" sz="1200" dirty="0"/>
          </a:p>
        </p:txBody>
      </p:sp>
      <p:sp>
        <p:nvSpPr>
          <p:cNvPr id="26" name="Text 24"/>
          <p:cNvSpPr txBox="1"/>
          <p:nvPr/>
        </p:nvSpPr>
        <p:spPr>
          <a:xfrm>
            <a:off x="658368" y="30093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7" name="Text 25"/>
          <p:cNvSpPr txBox="1"/>
          <p:nvPr/>
        </p:nvSpPr>
        <p:spPr>
          <a:xfrm>
            <a:off x="1014984" y="30093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8" name="Shape 26"/>
          <p:cNvSpPr/>
          <p:nvPr/>
        </p:nvSpPr>
        <p:spPr>
          <a:xfrm>
            <a:off x="3008376" y="3061462"/>
            <a:ext cx="1319524" cy="104140"/>
          </a:xfrm>
          <a:prstGeom prst="rect">
            <a:avLst/>
          </a:prstGeom>
          <a:solidFill>
            <a:srgbClr val="12A566"/>
          </a:solidFill>
          <a:ln/>
        </p:spPr>
      </p:sp>
      <p:sp>
        <p:nvSpPr>
          <p:cNvPr id="29" name="Text 27"/>
          <p:cNvSpPr txBox="1"/>
          <p:nvPr/>
        </p:nvSpPr>
        <p:spPr>
          <a:xfrm>
            <a:off x="4754880" y="300939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$737</a:t>
            </a:r>
            <a:endParaRPr lang="en-US" sz="1200" dirty="0"/>
          </a:p>
        </p:txBody>
      </p:sp>
      <p:sp>
        <p:nvSpPr>
          <p:cNvPr id="30" name="Text 28"/>
          <p:cNvSpPr txBox="1"/>
          <p:nvPr/>
        </p:nvSpPr>
        <p:spPr>
          <a:xfrm>
            <a:off x="658368" y="32176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1" name="Text 29"/>
          <p:cNvSpPr txBox="1"/>
          <p:nvPr/>
        </p:nvSpPr>
        <p:spPr>
          <a:xfrm>
            <a:off x="1014984" y="32176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32" name="Shape 30"/>
          <p:cNvSpPr/>
          <p:nvPr/>
        </p:nvSpPr>
        <p:spPr>
          <a:xfrm>
            <a:off x="3008376" y="3269742"/>
            <a:ext cx="970086" cy="104140"/>
          </a:xfrm>
          <a:prstGeom prst="rect">
            <a:avLst/>
          </a:prstGeom>
          <a:solidFill>
            <a:srgbClr val="12A566"/>
          </a:solidFill>
          <a:ln/>
        </p:spPr>
      </p:sp>
      <p:sp>
        <p:nvSpPr>
          <p:cNvPr id="33" name="Text 31"/>
          <p:cNvSpPr txBox="1"/>
          <p:nvPr/>
        </p:nvSpPr>
        <p:spPr>
          <a:xfrm>
            <a:off x="4754880" y="321767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$542</a:t>
            </a:r>
            <a:endParaRPr lang="en-US" sz="1200" dirty="0"/>
          </a:p>
        </p:txBody>
      </p:sp>
      <p:sp>
        <p:nvSpPr>
          <p:cNvPr id="34" name="Text 32"/>
          <p:cNvSpPr txBox="1"/>
          <p:nvPr/>
        </p:nvSpPr>
        <p:spPr>
          <a:xfrm>
            <a:off x="658368" y="34259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5" name="Text 33"/>
          <p:cNvSpPr txBox="1"/>
          <p:nvPr/>
        </p:nvSpPr>
        <p:spPr>
          <a:xfrm>
            <a:off x="1014984" y="34259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36" name="Shape 34"/>
          <p:cNvSpPr/>
          <p:nvPr/>
        </p:nvSpPr>
        <p:spPr>
          <a:xfrm>
            <a:off x="3008376" y="3478022"/>
            <a:ext cx="902132" cy="104140"/>
          </a:xfrm>
          <a:prstGeom prst="rect">
            <a:avLst/>
          </a:prstGeom>
          <a:solidFill>
            <a:srgbClr val="C2352F"/>
          </a:solidFill>
          <a:ln/>
        </p:spPr>
      </p:sp>
      <p:sp>
        <p:nvSpPr>
          <p:cNvPr id="37" name="Text 35"/>
          <p:cNvSpPr txBox="1"/>
          <p:nvPr/>
        </p:nvSpPr>
        <p:spPr>
          <a:xfrm>
            <a:off x="4754880" y="342595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$504</a:t>
            </a:r>
            <a:endParaRPr lang="en-US" sz="1200" dirty="0"/>
          </a:p>
        </p:txBody>
      </p:sp>
      <p:sp>
        <p:nvSpPr>
          <p:cNvPr id="38" name="Text 36"/>
          <p:cNvSpPr txBox="1"/>
          <p:nvPr/>
        </p:nvSpPr>
        <p:spPr>
          <a:xfrm>
            <a:off x="658368" y="36342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9" name="Text 37"/>
          <p:cNvSpPr txBox="1"/>
          <p:nvPr/>
        </p:nvSpPr>
        <p:spPr>
          <a:xfrm>
            <a:off x="1014984" y="36342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0" name="Shape 38"/>
          <p:cNvSpPr/>
          <p:nvPr/>
        </p:nvSpPr>
        <p:spPr>
          <a:xfrm>
            <a:off x="3008376" y="3686302"/>
            <a:ext cx="649646" cy="104140"/>
          </a:xfrm>
          <a:prstGeom prst="rect">
            <a:avLst/>
          </a:prstGeom>
          <a:solidFill>
            <a:srgbClr val="C2352F"/>
          </a:solidFill>
          <a:ln/>
        </p:spPr>
      </p:sp>
      <p:sp>
        <p:nvSpPr>
          <p:cNvPr id="41" name="Text 39"/>
          <p:cNvSpPr txBox="1"/>
          <p:nvPr/>
        </p:nvSpPr>
        <p:spPr>
          <a:xfrm>
            <a:off x="4754880" y="363423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$363</a:t>
            </a:r>
            <a:endParaRPr lang="en-US" sz="1200" dirty="0"/>
          </a:p>
        </p:txBody>
      </p:sp>
      <p:sp>
        <p:nvSpPr>
          <p:cNvPr id="42" name="Text 40"/>
          <p:cNvSpPr txBox="1"/>
          <p:nvPr/>
        </p:nvSpPr>
        <p:spPr>
          <a:xfrm>
            <a:off x="658368" y="38425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3" name="Text 41"/>
          <p:cNvSpPr txBox="1"/>
          <p:nvPr/>
        </p:nvSpPr>
        <p:spPr>
          <a:xfrm>
            <a:off x="1014984" y="38425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44" name="Shape 42"/>
          <p:cNvSpPr/>
          <p:nvPr/>
        </p:nvSpPr>
        <p:spPr>
          <a:xfrm>
            <a:off x="3008376" y="3894582"/>
            <a:ext cx="626189" cy="104140"/>
          </a:xfrm>
          <a:prstGeom prst="rect">
            <a:avLst/>
          </a:prstGeom>
          <a:solidFill>
            <a:srgbClr val="C2352F"/>
          </a:solidFill>
          <a:ln/>
        </p:spPr>
      </p:sp>
      <p:sp>
        <p:nvSpPr>
          <p:cNvPr id="45" name="Text 43"/>
          <p:cNvSpPr txBox="1"/>
          <p:nvPr/>
        </p:nvSpPr>
        <p:spPr>
          <a:xfrm>
            <a:off x="4754880" y="384251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$350</a:t>
            </a:r>
            <a:endParaRPr lang="en-US" sz="1200" dirty="0"/>
          </a:p>
        </p:txBody>
      </p:sp>
      <p:sp>
        <p:nvSpPr>
          <p:cNvPr id="46" name="Text 44"/>
          <p:cNvSpPr txBox="1"/>
          <p:nvPr/>
        </p:nvSpPr>
        <p:spPr>
          <a:xfrm>
            <a:off x="658368" y="40507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7" name="Text 45"/>
          <p:cNvSpPr txBox="1"/>
          <p:nvPr/>
        </p:nvSpPr>
        <p:spPr>
          <a:xfrm>
            <a:off x="1014984" y="40507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48" name="Shape 46"/>
          <p:cNvSpPr/>
          <p:nvPr/>
        </p:nvSpPr>
        <p:spPr>
          <a:xfrm>
            <a:off x="3008376" y="4102862"/>
            <a:ext cx="430162" cy="104140"/>
          </a:xfrm>
          <a:prstGeom prst="rect">
            <a:avLst/>
          </a:prstGeom>
          <a:solidFill>
            <a:srgbClr val="C2352F"/>
          </a:solidFill>
          <a:ln/>
        </p:spPr>
      </p:sp>
      <p:sp>
        <p:nvSpPr>
          <p:cNvPr id="49" name="Text 47"/>
          <p:cNvSpPr txBox="1"/>
          <p:nvPr/>
        </p:nvSpPr>
        <p:spPr>
          <a:xfrm>
            <a:off x="4754880" y="405079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$240</a:t>
            </a:r>
            <a:endParaRPr lang="en-US" sz="1200" dirty="0"/>
          </a:p>
        </p:txBody>
      </p:sp>
      <p:sp>
        <p:nvSpPr>
          <p:cNvPr id="50" name="Text 48"/>
          <p:cNvSpPr txBox="1"/>
          <p:nvPr/>
        </p:nvSpPr>
        <p:spPr>
          <a:xfrm>
            <a:off x="658368" y="4259072"/>
            <a:ext cx="5303520" cy="208280"/>
          </a:xfrm>
          <a:prstGeom prst="rect">
            <a:avLst/>
          </a:prstGeom>
          <a:noFill/>
          <a:ln/>
        </p:spPr>
        <p:txBody>
          <a:bodyPr wrap="square" lIns="0" tIns="0" rIns="0" bIns="0" rtlCol="0" anchor="b"/>
          <a:lstStyle/>
          <a:p>
            <a:pPr indent="0" marL="0">
              <a:buNone/>
            </a:pPr>
            <a:r>
              <a:rPr lang="en-US" sz="1300" b="1" spc="100" kern="0" dirty="0">
                <a:solidFill>
                  <a:srgbClr val="0B2C4A"/>
                </a:solidFill>
                <a:latin typeface="Inter" pitchFamily="34" charset="0"/>
                <a:ea typeface="Inter" pitchFamily="34" charset="-122"/>
                <a:cs typeface="Inter" pitchFamily="34" charset="-120"/>
              </a:rPr>
              <a:t>NON-LUXURY · AVERAGE $202</a:t>
            </a:r>
            <a:endParaRPr lang="en-US" sz="1300" dirty="0"/>
          </a:p>
        </p:txBody>
      </p:sp>
      <p:sp>
        <p:nvSpPr>
          <p:cNvPr id="51" name="Shape 49"/>
          <p:cNvSpPr/>
          <p:nvPr/>
        </p:nvSpPr>
        <p:spPr>
          <a:xfrm>
            <a:off x="658368" y="4449064"/>
            <a:ext cx="5303520" cy="18288"/>
          </a:xfrm>
          <a:prstGeom prst="rect">
            <a:avLst/>
          </a:prstGeom>
          <a:solidFill>
            <a:srgbClr val="0B2C4A"/>
          </a:solidFill>
          <a:ln/>
        </p:spPr>
      </p:sp>
      <p:sp>
        <p:nvSpPr>
          <p:cNvPr id="52" name="Text 50"/>
          <p:cNvSpPr txBox="1"/>
          <p:nvPr/>
        </p:nvSpPr>
        <p:spPr>
          <a:xfrm>
            <a:off x="658368" y="44673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53" name="Text 51"/>
          <p:cNvSpPr txBox="1"/>
          <p:nvPr/>
        </p:nvSpPr>
        <p:spPr>
          <a:xfrm>
            <a:off x="1014984" y="44673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54" name="Shape 52"/>
          <p:cNvSpPr/>
          <p:nvPr/>
        </p:nvSpPr>
        <p:spPr>
          <a:xfrm>
            <a:off x="3008376" y="4519422"/>
            <a:ext cx="1569727" cy="104140"/>
          </a:xfrm>
          <a:prstGeom prst="rect">
            <a:avLst/>
          </a:prstGeom>
          <a:solidFill>
            <a:srgbClr val="12A566"/>
          </a:solidFill>
          <a:ln/>
        </p:spPr>
      </p:sp>
      <p:sp>
        <p:nvSpPr>
          <p:cNvPr id="55" name="Text 53"/>
          <p:cNvSpPr txBox="1"/>
          <p:nvPr/>
        </p:nvSpPr>
        <p:spPr>
          <a:xfrm>
            <a:off x="4754880" y="44673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$332</a:t>
            </a:r>
            <a:endParaRPr lang="en-US" sz="1200" dirty="0"/>
          </a:p>
        </p:txBody>
      </p:sp>
      <p:sp>
        <p:nvSpPr>
          <p:cNvPr id="56" name="Text 54"/>
          <p:cNvSpPr txBox="1"/>
          <p:nvPr/>
        </p:nvSpPr>
        <p:spPr>
          <a:xfrm>
            <a:off x="658368" y="46756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57" name="Text 55"/>
          <p:cNvSpPr txBox="1"/>
          <p:nvPr/>
        </p:nvSpPr>
        <p:spPr>
          <a:xfrm>
            <a:off x="1014984" y="46756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58" name="Shape 56"/>
          <p:cNvSpPr/>
          <p:nvPr/>
        </p:nvSpPr>
        <p:spPr>
          <a:xfrm>
            <a:off x="3008376" y="4727702"/>
            <a:ext cx="1374016" cy="104140"/>
          </a:xfrm>
          <a:prstGeom prst="rect">
            <a:avLst/>
          </a:prstGeom>
          <a:solidFill>
            <a:srgbClr val="12A566"/>
          </a:solidFill>
          <a:ln/>
        </p:spPr>
      </p:sp>
      <p:sp>
        <p:nvSpPr>
          <p:cNvPr id="59" name="Text 57"/>
          <p:cNvSpPr txBox="1"/>
          <p:nvPr/>
        </p:nvSpPr>
        <p:spPr>
          <a:xfrm>
            <a:off x="4754880" y="46756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$290</a:t>
            </a:r>
            <a:endParaRPr lang="en-US" sz="1200" dirty="0"/>
          </a:p>
        </p:txBody>
      </p:sp>
      <p:sp>
        <p:nvSpPr>
          <p:cNvPr id="60" name="Text 58"/>
          <p:cNvSpPr txBox="1"/>
          <p:nvPr/>
        </p:nvSpPr>
        <p:spPr>
          <a:xfrm>
            <a:off x="658368" y="48839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61" name="Text 59"/>
          <p:cNvSpPr txBox="1"/>
          <p:nvPr/>
        </p:nvSpPr>
        <p:spPr>
          <a:xfrm>
            <a:off x="1014984" y="48839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62" name="Shape 60"/>
          <p:cNvSpPr/>
          <p:nvPr/>
        </p:nvSpPr>
        <p:spPr>
          <a:xfrm>
            <a:off x="3008376" y="4935982"/>
            <a:ext cx="1330889" cy="104140"/>
          </a:xfrm>
          <a:prstGeom prst="rect">
            <a:avLst/>
          </a:prstGeom>
          <a:solidFill>
            <a:srgbClr val="12A566"/>
          </a:solidFill>
          <a:ln/>
        </p:spPr>
      </p:sp>
      <p:sp>
        <p:nvSpPr>
          <p:cNvPr id="63" name="Text 61"/>
          <p:cNvSpPr txBox="1"/>
          <p:nvPr/>
        </p:nvSpPr>
        <p:spPr>
          <a:xfrm>
            <a:off x="4754880" y="488391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$281</a:t>
            </a:r>
            <a:endParaRPr lang="en-US" sz="1200" dirty="0"/>
          </a:p>
        </p:txBody>
      </p:sp>
      <p:sp>
        <p:nvSpPr>
          <p:cNvPr id="64" name="Text 62"/>
          <p:cNvSpPr txBox="1"/>
          <p:nvPr/>
        </p:nvSpPr>
        <p:spPr>
          <a:xfrm>
            <a:off x="658368" y="50921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65" name="Text 63"/>
          <p:cNvSpPr txBox="1"/>
          <p:nvPr/>
        </p:nvSpPr>
        <p:spPr>
          <a:xfrm>
            <a:off x="1014984" y="50921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66" name="Shape 64"/>
          <p:cNvSpPr/>
          <p:nvPr/>
        </p:nvSpPr>
        <p:spPr>
          <a:xfrm>
            <a:off x="3008376" y="5144262"/>
            <a:ext cx="1326955" cy="104140"/>
          </a:xfrm>
          <a:prstGeom prst="rect">
            <a:avLst/>
          </a:prstGeom>
          <a:solidFill>
            <a:srgbClr val="12A566"/>
          </a:solidFill>
          <a:ln/>
        </p:spPr>
      </p:sp>
      <p:sp>
        <p:nvSpPr>
          <p:cNvPr id="67" name="Text 65"/>
          <p:cNvSpPr txBox="1"/>
          <p:nvPr/>
        </p:nvSpPr>
        <p:spPr>
          <a:xfrm>
            <a:off x="4754880" y="509219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$280</a:t>
            </a:r>
            <a:endParaRPr lang="en-US" sz="1200" dirty="0"/>
          </a:p>
        </p:txBody>
      </p:sp>
      <p:sp>
        <p:nvSpPr>
          <p:cNvPr id="68" name="Text 66"/>
          <p:cNvSpPr txBox="1"/>
          <p:nvPr/>
        </p:nvSpPr>
        <p:spPr>
          <a:xfrm>
            <a:off x="658368" y="53004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69" name="Text 67"/>
          <p:cNvSpPr txBox="1"/>
          <p:nvPr/>
        </p:nvSpPr>
        <p:spPr>
          <a:xfrm>
            <a:off x="1014984" y="53004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70" name="Shape 68"/>
          <p:cNvSpPr/>
          <p:nvPr/>
        </p:nvSpPr>
        <p:spPr>
          <a:xfrm>
            <a:off x="3008376" y="5352542"/>
            <a:ext cx="1326556" cy="104140"/>
          </a:xfrm>
          <a:prstGeom prst="rect">
            <a:avLst/>
          </a:prstGeom>
          <a:solidFill>
            <a:srgbClr val="12A566"/>
          </a:solidFill>
          <a:ln/>
        </p:spPr>
      </p:sp>
      <p:sp>
        <p:nvSpPr>
          <p:cNvPr id="71" name="Text 69"/>
          <p:cNvSpPr txBox="1"/>
          <p:nvPr/>
        </p:nvSpPr>
        <p:spPr>
          <a:xfrm>
            <a:off x="4754880" y="530047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$280</a:t>
            </a:r>
            <a:endParaRPr lang="en-US" sz="1200" dirty="0"/>
          </a:p>
        </p:txBody>
      </p:sp>
      <p:sp>
        <p:nvSpPr>
          <p:cNvPr id="72" name="Text 70"/>
          <p:cNvSpPr txBox="1"/>
          <p:nvPr/>
        </p:nvSpPr>
        <p:spPr>
          <a:xfrm>
            <a:off x="658368" y="55087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73" name="Text 71"/>
          <p:cNvSpPr txBox="1"/>
          <p:nvPr/>
        </p:nvSpPr>
        <p:spPr>
          <a:xfrm>
            <a:off x="1014984" y="55087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74" name="Shape 72"/>
          <p:cNvSpPr/>
          <p:nvPr/>
        </p:nvSpPr>
        <p:spPr>
          <a:xfrm>
            <a:off x="3008376" y="5560822"/>
            <a:ext cx="1307566" cy="104140"/>
          </a:xfrm>
          <a:prstGeom prst="rect">
            <a:avLst/>
          </a:prstGeom>
          <a:solidFill>
            <a:srgbClr val="12A566"/>
          </a:solidFill>
          <a:ln/>
        </p:spPr>
      </p:sp>
      <p:sp>
        <p:nvSpPr>
          <p:cNvPr id="75" name="Text 73"/>
          <p:cNvSpPr txBox="1"/>
          <p:nvPr/>
        </p:nvSpPr>
        <p:spPr>
          <a:xfrm>
            <a:off x="4754880" y="55087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$276</a:t>
            </a:r>
            <a:endParaRPr lang="en-US" sz="1200" dirty="0"/>
          </a:p>
        </p:txBody>
      </p:sp>
      <p:sp>
        <p:nvSpPr>
          <p:cNvPr id="76" name="Text 74"/>
          <p:cNvSpPr txBox="1"/>
          <p:nvPr/>
        </p:nvSpPr>
        <p:spPr>
          <a:xfrm>
            <a:off x="658368" y="57170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77" name="Text 75"/>
          <p:cNvSpPr txBox="1"/>
          <p:nvPr/>
        </p:nvSpPr>
        <p:spPr>
          <a:xfrm>
            <a:off x="1014984" y="57170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78" name="Shape 76"/>
          <p:cNvSpPr/>
          <p:nvPr/>
        </p:nvSpPr>
        <p:spPr>
          <a:xfrm>
            <a:off x="3008376" y="5769102"/>
            <a:ext cx="1271520" cy="104140"/>
          </a:xfrm>
          <a:prstGeom prst="rect">
            <a:avLst/>
          </a:prstGeom>
          <a:solidFill>
            <a:srgbClr val="12A566"/>
          </a:solidFill>
          <a:ln/>
        </p:spPr>
      </p:sp>
      <p:sp>
        <p:nvSpPr>
          <p:cNvPr id="79" name="Text 77"/>
          <p:cNvSpPr txBox="1"/>
          <p:nvPr/>
        </p:nvSpPr>
        <p:spPr>
          <a:xfrm>
            <a:off x="4754880" y="57170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$269</a:t>
            </a:r>
            <a:endParaRPr lang="en-US" sz="1200" dirty="0"/>
          </a:p>
        </p:txBody>
      </p:sp>
      <p:sp>
        <p:nvSpPr>
          <p:cNvPr id="80" name="Text 78"/>
          <p:cNvSpPr txBox="1"/>
          <p:nvPr/>
        </p:nvSpPr>
        <p:spPr>
          <a:xfrm>
            <a:off x="6208776" y="21762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81" name="Text 79"/>
          <p:cNvSpPr txBox="1"/>
          <p:nvPr/>
        </p:nvSpPr>
        <p:spPr>
          <a:xfrm>
            <a:off x="6565392" y="21762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82" name="Shape 80"/>
          <p:cNvSpPr/>
          <p:nvPr/>
        </p:nvSpPr>
        <p:spPr>
          <a:xfrm>
            <a:off x="8558784" y="2228342"/>
            <a:ext cx="1249772" cy="104140"/>
          </a:xfrm>
          <a:prstGeom prst="rect">
            <a:avLst/>
          </a:prstGeom>
          <a:solidFill>
            <a:srgbClr val="12A566"/>
          </a:solidFill>
          <a:ln/>
        </p:spPr>
      </p:sp>
      <p:sp>
        <p:nvSpPr>
          <p:cNvPr id="83" name="Text 81"/>
          <p:cNvSpPr txBox="1"/>
          <p:nvPr/>
        </p:nvSpPr>
        <p:spPr>
          <a:xfrm>
            <a:off x="10305288" y="217627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$264</a:t>
            </a:r>
            <a:endParaRPr lang="en-US" sz="1200" dirty="0"/>
          </a:p>
        </p:txBody>
      </p:sp>
      <p:sp>
        <p:nvSpPr>
          <p:cNvPr id="84" name="Text 82"/>
          <p:cNvSpPr txBox="1"/>
          <p:nvPr/>
        </p:nvSpPr>
        <p:spPr>
          <a:xfrm>
            <a:off x="6208776" y="23845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85" name="Text 83"/>
          <p:cNvSpPr txBox="1"/>
          <p:nvPr/>
        </p:nvSpPr>
        <p:spPr>
          <a:xfrm>
            <a:off x="6565392" y="23845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86" name="Shape 84"/>
          <p:cNvSpPr/>
          <p:nvPr/>
        </p:nvSpPr>
        <p:spPr>
          <a:xfrm>
            <a:off x="8558784" y="2436622"/>
            <a:ext cx="1227346" cy="104140"/>
          </a:xfrm>
          <a:prstGeom prst="rect">
            <a:avLst/>
          </a:prstGeom>
          <a:solidFill>
            <a:srgbClr val="12A566"/>
          </a:solidFill>
          <a:ln/>
        </p:spPr>
      </p:sp>
      <p:sp>
        <p:nvSpPr>
          <p:cNvPr id="87" name="Text 85"/>
          <p:cNvSpPr txBox="1"/>
          <p:nvPr/>
        </p:nvSpPr>
        <p:spPr>
          <a:xfrm>
            <a:off x="10305288" y="23845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$259</a:t>
            </a:r>
            <a:endParaRPr lang="en-US" sz="1200" dirty="0"/>
          </a:p>
        </p:txBody>
      </p:sp>
      <p:sp>
        <p:nvSpPr>
          <p:cNvPr id="88" name="Text 86"/>
          <p:cNvSpPr txBox="1"/>
          <p:nvPr/>
        </p:nvSpPr>
        <p:spPr>
          <a:xfrm>
            <a:off x="6208776" y="25928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89" name="Text 87"/>
          <p:cNvSpPr txBox="1"/>
          <p:nvPr/>
        </p:nvSpPr>
        <p:spPr>
          <a:xfrm>
            <a:off x="6565392" y="25928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90" name="Shape 88"/>
          <p:cNvSpPr/>
          <p:nvPr/>
        </p:nvSpPr>
        <p:spPr>
          <a:xfrm>
            <a:off x="8558784" y="2644902"/>
            <a:ext cx="1113278" cy="104140"/>
          </a:xfrm>
          <a:prstGeom prst="rect">
            <a:avLst/>
          </a:prstGeom>
          <a:solidFill>
            <a:srgbClr val="12A566"/>
          </a:solidFill>
          <a:ln/>
        </p:spPr>
      </p:sp>
      <p:sp>
        <p:nvSpPr>
          <p:cNvPr id="91" name="Text 89"/>
          <p:cNvSpPr txBox="1"/>
          <p:nvPr/>
        </p:nvSpPr>
        <p:spPr>
          <a:xfrm>
            <a:off x="10305288" y="25928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$235</a:t>
            </a:r>
            <a:endParaRPr lang="en-US" sz="1200" dirty="0"/>
          </a:p>
        </p:txBody>
      </p:sp>
      <p:sp>
        <p:nvSpPr>
          <p:cNvPr id="92" name="Text 90"/>
          <p:cNvSpPr txBox="1"/>
          <p:nvPr/>
        </p:nvSpPr>
        <p:spPr>
          <a:xfrm>
            <a:off x="6208776" y="28011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93" name="Text 91"/>
          <p:cNvSpPr txBox="1"/>
          <p:nvPr/>
        </p:nvSpPr>
        <p:spPr>
          <a:xfrm>
            <a:off x="6565392" y="28011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94" name="Shape 92"/>
          <p:cNvSpPr/>
          <p:nvPr/>
        </p:nvSpPr>
        <p:spPr>
          <a:xfrm>
            <a:off x="8558784" y="2853182"/>
            <a:ext cx="1034713" cy="104140"/>
          </a:xfrm>
          <a:prstGeom prst="rect">
            <a:avLst/>
          </a:prstGeom>
          <a:solidFill>
            <a:srgbClr val="12A566"/>
          </a:solidFill>
          <a:ln/>
        </p:spPr>
      </p:sp>
      <p:sp>
        <p:nvSpPr>
          <p:cNvPr id="95" name="Text 93"/>
          <p:cNvSpPr txBox="1"/>
          <p:nvPr/>
        </p:nvSpPr>
        <p:spPr>
          <a:xfrm>
            <a:off x="10305288" y="280111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$219</a:t>
            </a:r>
            <a:endParaRPr lang="en-US" sz="1200" dirty="0"/>
          </a:p>
        </p:txBody>
      </p:sp>
      <p:sp>
        <p:nvSpPr>
          <p:cNvPr id="96" name="Text 94"/>
          <p:cNvSpPr txBox="1"/>
          <p:nvPr/>
        </p:nvSpPr>
        <p:spPr>
          <a:xfrm>
            <a:off x="6208776" y="30093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97" name="Text 95"/>
          <p:cNvSpPr txBox="1"/>
          <p:nvPr/>
        </p:nvSpPr>
        <p:spPr>
          <a:xfrm>
            <a:off x="6565392" y="30093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98" name="Shape 96"/>
          <p:cNvSpPr/>
          <p:nvPr/>
        </p:nvSpPr>
        <p:spPr>
          <a:xfrm>
            <a:off x="8558784" y="3061462"/>
            <a:ext cx="1024709" cy="104140"/>
          </a:xfrm>
          <a:prstGeom prst="rect">
            <a:avLst/>
          </a:prstGeom>
          <a:solidFill>
            <a:srgbClr val="12A566"/>
          </a:solidFill>
          <a:ln/>
        </p:spPr>
      </p:sp>
      <p:sp>
        <p:nvSpPr>
          <p:cNvPr id="99" name="Text 97"/>
          <p:cNvSpPr txBox="1"/>
          <p:nvPr/>
        </p:nvSpPr>
        <p:spPr>
          <a:xfrm>
            <a:off x="10305288" y="300939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$217</a:t>
            </a:r>
            <a:endParaRPr lang="en-US" sz="1200" dirty="0"/>
          </a:p>
        </p:txBody>
      </p:sp>
      <p:sp>
        <p:nvSpPr>
          <p:cNvPr id="100" name="Text 98"/>
          <p:cNvSpPr txBox="1"/>
          <p:nvPr/>
        </p:nvSpPr>
        <p:spPr>
          <a:xfrm>
            <a:off x="6208776" y="32176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101" name="Text 99"/>
          <p:cNvSpPr txBox="1"/>
          <p:nvPr/>
        </p:nvSpPr>
        <p:spPr>
          <a:xfrm>
            <a:off x="6565392" y="32176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02" name="Shape 100"/>
          <p:cNvSpPr/>
          <p:nvPr/>
        </p:nvSpPr>
        <p:spPr>
          <a:xfrm>
            <a:off x="8558784" y="3269742"/>
            <a:ext cx="1009123" cy="104140"/>
          </a:xfrm>
          <a:prstGeom prst="rect">
            <a:avLst/>
          </a:prstGeom>
          <a:solidFill>
            <a:srgbClr val="12A566"/>
          </a:solidFill>
          <a:ln/>
        </p:spPr>
      </p:sp>
      <p:sp>
        <p:nvSpPr>
          <p:cNvPr id="103" name="Text 101"/>
          <p:cNvSpPr txBox="1"/>
          <p:nvPr/>
        </p:nvSpPr>
        <p:spPr>
          <a:xfrm>
            <a:off x="10305288" y="321767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$213</a:t>
            </a:r>
            <a:endParaRPr lang="en-US" sz="1200" dirty="0"/>
          </a:p>
        </p:txBody>
      </p:sp>
      <p:sp>
        <p:nvSpPr>
          <p:cNvPr id="104" name="Text 102"/>
          <p:cNvSpPr txBox="1"/>
          <p:nvPr/>
        </p:nvSpPr>
        <p:spPr>
          <a:xfrm>
            <a:off x="6208776" y="34259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105" name="Text 103"/>
          <p:cNvSpPr txBox="1"/>
          <p:nvPr/>
        </p:nvSpPr>
        <p:spPr>
          <a:xfrm>
            <a:off x="6565392" y="34259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06" name="Shape 104"/>
          <p:cNvSpPr/>
          <p:nvPr/>
        </p:nvSpPr>
        <p:spPr>
          <a:xfrm>
            <a:off x="8558784" y="3478022"/>
            <a:ext cx="1006292" cy="104140"/>
          </a:xfrm>
          <a:prstGeom prst="rect">
            <a:avLst/>
          </a:prstGeom>
          <a:solidFill>
            <a:srgbClr val="12A566"/>
          </a:solidFill>
          <a:ln/>
        </p:spPr>
      </p:sp>
      <p:sp>
        <p:nvSpPr>
          <p:cNvPr id="107" name="Text 105"/>
          <p:cNvSpPr txBox="1"/>
          <p:nvPr/>
        </p:nvSpPr>
        <p:spPr>
          <a:xfrm>
            <a:off x="10305288" y="342595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$213</a:t>
            </a:r>
            <a:endParaRPr lang="en-US" sz="1200" dirty="0"/>
          </a:p>
        </p:txBody>
      </p:sp>
      <p:sp>
        <p:nvSpPr>
          <p:cNvPr id="108" name="Text 106"/>
          <p:cNvSpPr txBox="1"/>
          <p:nvPr/>
        </p:nvSpPr>
        <p:spPr>
          <a:xfrm>
            <a:off x="6208776" y="36342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109" name="Text 107"/>
          <p:cNvSpPr txBox="1"/>
          <p:nvPr/>
        </p:nvSpPr>
        <p:spPr>
          <a:xfrm>
            <a:off x="6565392" y="36342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10" name="Shape 108"/>
          <p:cNvSpPr/>
          <p:nvPr/>
        </p:nvSpPr>
        <p:spPr>
          <a:xfrm>
            <a:off x="8558784" y="3686302"/>
            <a:ext cx="1003941" cy="104140"/>
          </a:xfrm>
          <a:prstGeom prst="rect">
            <a:avLst/>
          </a:prstGeom>
          <a:solidFill>
            <a:srgbClr val="12A566"/>
          </a:solidFill>
          <a:ln/>
        </p:spPr>
      </p:sp>
      <p:sp>
        <p:nvSpPr>
          <p:cNvPr id="111" name="Text 109"/>
          <p:cNvSpPr txBox="1"/>
          <p:nvPr/>
        </p:nvSpPr>
        <p:spPr>
          <a:xfrm>
            <a:off x="10305288" y="363423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$212</a:t>
            </a:r>
            <a:endParaRPr lang="en-US" sz="1200" dirty="0"/>
          </a:p>
        </p:txBody>
      </p:sp>
      <p:sp>
        <p:nvSpPr>
          <p:cNvPr id="112" name="Text 110"/>
          <p:cNvSpPr txBox="1"/>
          <p:nvPr/>
        </p:nvSpPr>
        <p:spPr>
          <a:xfrm>
            <a:off x="6208776" y="38425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13" name="Text 111"/>
          <p:cNvSpPr txBox="1"/>
          <p:nvPr/>
        </p:nvSpPr>
        <p:spPr>
          <a:xfrm>
            <a:off x="6565392" y="38425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14" name="Shape 112"/>
          <p:cNvSpPr/>
          <p:nvPr/>
        </p:nvSpPr>
        <p:spPr>
          <a:xfrm>
            <a:off x="8558784" y="3894582"/>
            <a:ext cx="984258" cy="104140"/>
          </a:xfrm>
          <a:prstGeom prst="rect">
            <a:avLst/>
          </a:prstGeom>
          <a:solidFill>
            <a:srgbClr val="12A566"/>
          </a:solidFill>
          <a:ln/>
        </p:spPr>
      </p:sp>
      <p:sp>
        <p:nvSpPr>
          <p:cNvPr id="115" name="Text 113"/>
          <p:cNvSpPr txBox="1"/>
          <p:nvPr/>
        </p:nvSpPr>
        <p:spPr>
          <a:xfrm>
            <a:off x="10305288" y="3842512"/>
            <a:ext cx="1143000" cy="208280"/>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$208</a:t>
            </a:r>
            <a:endParaRPr lang="en-US" sz="1200" dirty="0"/>
          </a:p>
        </p:txBody>
      </p:sp>
      <p:sp>
        <p:nvSpPr>
          <p:cNvPr id="116" name="Text 114"/>
          <p:cNvSpPr txBox="1"/>
          <p:nvPr/>
        </p:nvSpPr>
        <p:spPr>
          <a:xfrm>
            <a:off x="6208776" y="40507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17" name="Text 115"/>
          <p:cNvSpPr txBox="1"/>
          <p:nvPr/>
        </p:nvSpPr>
        <p:spPr>
          <a:xfrm>
            <a:off x="6565392" y="40507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18" name="Shape 116"/>
          <p:cNvSpPr/>
          <p:nvPr/>
        </p:nvSpPr>
        <p:spPr>
          <a:xfrm>
            <a:off x="8558784" y="4102862"/>
            <a:ext cx="927664" cy="104140"/>
          </a:xfrm>
          <a:prstGeom prst="rect">
            <a:avLst/>
          </a:prstGeom>
          <a:solidFill>
            <a:srgbClr val="C2352F"/>
          </a:solidFill>
          <a:ln/>
        </p:spPr>
      </p:sp>
      <p:sp>
        <p:nvSpPr>
          <p:cNvPr id="119" name="Text 117"/>
          <p:cNvSpPr txBox="1"/>
          <p:nvPr/>
        </p:nvSpPr>
        <p:spPr>
          <a:xfrm>
            <a:off x="10305288" y="405079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$196</a:t>
            </a:r>
            <a:endParaRPr lang="en-US" sz="1200" dirty="0"/>
          </a:p>
        </p:txBody>
      </p:sp>
      <p:sp>
        <p:nvSpPr>
          <p:cNvPr id="120" name="Text 118"/>
          <p:cNvSpPr txBox="1"/>
          <p:nvPr/>
        </p:nvSpPr>
        <p:spPr>
          <a:xfrm>
            <a:off x="6208776" y="42590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21" name="Text 119"/>
          <p:cNvSpPr txBox="1"/>
          <p:nvPr/>
        </p:nvSpPr>
        <p:spPr>
          <a:xfrm>
            <a:off x="6565392" y="42590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22" name="Shape 120"/>
          <p:cNvSpPr/>
          <p:nvPr/>
        </p:nvSpPr>
        <p:spPr>
          <a:xfrm>
            <a:off x="8558784" y="4311142"/>
            <a:ext cx="913887" cy="104140"/>
          </a:xfrm>
          <a:prstGeom prst="rect">
            <a:avLst/>
          </a:prstGeom>
          <a:solidFill>
            <a:srgbClr val="C2352F"/>
          </a:solidFill>
          <a:ln/>
        </p:spPr>
      </p:sp>
      <p:sp>
        <p:nvSpPr>
          <p:cNvPr id="123" name="Text 121"/>
          <p:cNvSpPr txBox="1"/>
          <p:nvPr/>
        </p:nvSpPr>
        <p:spPr>
          <a:xfrm>
            <a:off x="10305288" y="425907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$193</a:t>
            </a:r>
            <a:endParaRPr lang="en-US" sz="1200" dirty="0"/>
          </a:p>
        </p:txBody>
      </p:sp>
      <p:sp>
        <p:nvSpPr>
          <p:cNvPr id="124" name="Text 122"/>
          <p:cNvSpPr txBox="1"/>
          <p:nvPr/>
        </p:nvSpPr>
        <p:spPr>
          <a:xfrm>
            <a:off x="6208776" y="44673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5" name="Text 123"/>
          <p:cNvSpPr txBox="1"/>
          <p:nvPr/>
        </p:nvSpPr>
        <p:spPr>
          <a:xfrm>
            <a:off x="6565392" y="44673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26" name="Shape 124"/>
          <p:cNvSpPr/>
          <p:nvPr/>
        </p:nvSpPr>
        <p:spPr>
          <a:xfrm>
            <a:off x="8558784" y="4519422"/>
            <a:ext cx="865848" cy="104140"/>
          </a:xfrm>
          <a:prstGeom prst="rect">
            <a:avLst/>
          </a:prstGeom>
          <a:solidFill>
            <a:srgbClr val="C2352F"/>
          </a:solidFill>
          <a:ln/>
        </p:spPr>
      </p:sp>
      <p:sp>
        <p:nvSpPr>
          <p:cNvPr id="127" name="Text 125"/>
          <p:cNvSpPr txBox="1"/>
          <p:nvPr/>
        </p:nvSpPr>
        <p:spPr>
          <a:xfrm>
            <a:off x="10305288" y="446735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$183</a:t>
            </a:r>
            <a:endParaRPr lang="en-US" sz="1200" dirty="0"/>
          </a:p>
        </p:txBody>
      </p:sp>
      <p:sp>
        <p:nvSpPr>
          <p:cNvPr id="128" name="Text 126"/>
          <p:cNvSpPr txBox="1"/>
          <p:nvPr/>
        </p:nvSpPr>
        <p:spPr>
          <a:xfrm>
            <a:off x="6208776" y="467563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9" name="Text 127"/>
          <p:cNvSpPr txBox="1"/>
          <p:nvPr/>
        </p:nvSpPr>
        <p:spPr>
          <a:xfrm>
            <a:off x="6565392" y="467563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30" name="Shape 128"/>
          <p:cNvSpPr/>
          <p:nvPr/>
        </p:nvSpPr>
        <p:spPr>
          <a:xfrm>
            <a:off x="8558784" y="4727702"/>
            <a:ext cx="856180" cy="104140"/>
          </a:xfrm>
          <a:prstGeom prst="rect">
            <a:avLst/>
          </a:prstGeom>
          <a:solidFill>
            <a:srgbClr val="C2352F"/>
          </a:solidFill>
          <a:ln/>
        </p:spPr>
      </p:sp>
      <p:sp>
        <p:nvSpPr>
          <p:cNvPr id="131" name="Text 129"/>
          <p:cNvSpPr txBox="1"/>
          <p:nvPr/>
        </p:nvSpPr>
        <p:spPr>
          <a:xfrm>
            <a:off x="10305288" y="467563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$181</a:t>
            </a:r>
            <a:endParaRPr lang="en-US" sz="1200" dirty="0"/>
          </a:p>
        </p:txBody>
      </p:sp>
      <p:sp>
        <p:nvSpPr>
          <p:cNvPr id="132" name="Text 130"/>
          <p:cNvSpPr txBox="1"/>
          <p:nvPr/>
        </p:nvSpPr>
        <p:spPr>
          <a:xfrm>
            <a:off x="6208776" y="488391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3" name="Text 131"/>
          <p:cNvSpPr txBox="1"/>
          <p:nvPr/>
        </p:nvSpPr>
        <p:spPr>
          <a:xfrm>
            <a:off x="6565392" y="488391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34" name="Shape 132"/>
          <p:cNvSpPr/>
          <p:nvPr/>
        </p:nvSpPr>
        <p:spPr>
          <a:xfrm>
            <a:off x="8558784" y="4935982"/>
            <a:ext cx="805303" cy="104140"/>
          </a:xfrm>
          <a:prstGeom prst="rect">
            <a:avLst/>
          </a:prstGeom>
          <a:solidFill>
            <a:srgbClr val="C2352F"/>
          </a:solidFill>
          <a:ln/>
        </p:spPr>
      </p:sp>
      <p:sp>
        <p:nvSpPr>
          <p:cNvPr id="135" name="Text 133"/>
          <p:cNvSpPr txBox="1"/>
          <p:nvPr/>
        </p:nvSpPr>
        <p:spPr>
          <a:xfrm>
            <a:off x="10305288" y="488391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$170</a:t>
            </a:r>
            <a:endParaRPr lang="en-US" sz="1200" dirty="0"/>
          </a:p>
        </p:txBody>
      </p:sp>
      <p:sp>
        <p:nvSpPr>
          <p:cNvPr id="136" name="Text 134"/>
          <p:cNvSpPr txBox="1"/>
          <p:nvPr/>
        </p:nvSpPr>
        <p:spPr>
          <a:xfrm>
            <a:off x="6208776" y="509219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7" name="Text 135"/>
          <p:cNvSpPr txBox="1"/>
          <p:nvPr/>
        </p:nvSpPr>
        <p:spPr>
          <a:xfrm>
            <a:off x="6565392" y="509219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38" name="Shape 136"/>
          <p:cNvSpPr/>
          <p:nvPr/>
        </p:nvSpPr>
        <p:spPr>
          <a:xfrm>
            <a:off x="8558784" y="5144262"/>
            <a:ext cx="726848" cy="104140"/>
          </a:xfrm>
          <a:prstGeom prst="rect">
            <a:avLst/>
          </a:prstGeom>
          <a:solidFill>
            <a:srgbClr val="C2352F"/>
          </a:solidFill>
          <a:ln/>
        </p:spPr>
      </p:sp>
      <p:sp>
        <p:nvSpPr>
          <p:cNvPr id="139" name="Text 137"/>
          <p:cNvSpPr txBox="1"/>
          <p:nvPr/>
        </p:nvSpPr>
        <p:spPr>
          <a:xfrm>
            <a:off x="10305288" y="509219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$154</a:t>
            </a:r>
            <a:endParaRPr lang="en-US" sz="1200" dirty="0"/>
          </a:p>
        </p:txBody>
      </p:sp>
      <p:sp>
        <p:nvSpPr>
          <p:cNvPr id="140" name="Text 138"/>
          <p:cNvSpPr txBox="1"/>
          <p:nvPr/>
        </p:nvSpPr>
        <p:spPr>
          <a:xfrm>
            <a:off x="6208776" y="530047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1" name="Text 139"/>
          <p:cNvSpPr txBox="1"/>
          <p:nvPr/>
        </p:nvSpPr>
        <p:spPr>
          <a:xfrm>
            <a:off x="6565392" y="530047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42" name="Shape 140"/>
          <p:cNvSpPr/>
          <p:nvPr/>
        </p:nvSpPr>
        <p:spPr>
          <a:xfrm>
            <a:off x="8558784" y="5352542"/>
            <a:ext cx="724227" cy="104140"/>
          </a:xfrm>
          <a:prstGeom prst="rect">
            <a:avLst/>
          </a:prstGeom>
          <a:solidFill>
            <a:srgbClr val="C2352F"/>
          </a:solidFill>
          <a:ln/>
        </p:spPr>
      </p:sp>
      <p:sp>
        <p:nvSpPr>
          <p:cNvPr id="143" name="Text 141"/>
          <p:cNvSpPr txBox="1"/>
          <p:nvPr/>
        </p:nvSpPr>
        <p:spPr>
          <a:xfrm>
            <a:off x="10305288" y="530047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$153</a:t>
            </a:r>
            <a:endParaRPr lang="en-US" sz="1200" dirty="0"/>
          </a:p>
        </p:txBody>
      </p:sp>
      <p:sp>
        <p:nvSpPr>
          <p:cNvPr id="144" name="Text 142"/>
          <p:cNvSpPr txBox="1"/>
          <p:nvPr/>
        </p:nvSpPr>
        <p:spPr>
          <a:xfrm>
            <a:off x="6208776" y="5508752"/>
            <a:ext cx="310896" cy="208280"/>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45" name="Text 143"/>
          <p:cNvSpPr txBox="1"/>
          <p:nvPr/>
        </p:nvSpPr>
        <p:spPr>
          <a:xfrm>
            <a:off x="6565392" y="5508752"/>
            <a:ext cx="1920240" cy="208280"/>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46" name="Shape 144"/>
          <p:cNvSpPr/>
          <p:nvPr/>
        </p:nvSpPr>
        <p:spPr>
          <a:xfrm>
            <a:off x="8558784" y="5560822"/>
            <a:ext cx="704408" cy="104140"/>
          </a:xfrm>
          <a:prstGeom prst="rect">
            <a:avLst/>
          </a:prstGeom>
          <a:solidFill>
            <a:srgbClr val="C2352F"/>
          </a:solidFill>
          <a:ln/>
        </p:spPr>
      </p:sp>
      <p:sp>
        <p:nvSpPr>
          <p:cNvPr id="147" name="Text 145"/>
          <p:cNvSpPr txBox="1"/>
          <p:nvPr/>
        </p:nvSpPr>
        <p:spPr>
          <a:xfrm>
            <a:off x="10305288" y="5508752"/>
            <a:ext cx="1143000" cy="208280"/>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$149</a:t>
            </a:r>
            <a:endParaRPr lang="en-US" sz="1200" dirty="0"/>
          </a:p>
        </p:txBody>
      </p:sp>
      <p:sp>
        <p:nvSpPr>
          <p:cNvPr id="148" name="Shape 146"/>
          <p:cNvSpPr/>
          <p:nvPr/>
        </p:nvSpPr>
        <p:spPr>
          <a:xfrm>
            <a:off x="3957886" y="2176272"/>
            <a:ext cx="14630" cy="3749040"/>
          </a:xfrm>
          <a:prstGeom prst="rect">
            <a:avLst/>
          </a:prstGeom>
          <a:solidFill>
            <a:srgbClr val="0B2C4A"/>
          </a:solidFill>
          <a:ln/>
        </p:spPr>
      </p:sp>
      <p:sp>
        <p:nvSpPr>
          <p:cNvPr id="149" name="Shape 147"/>
          <p:cNvSpPr/>
          <p:nvPr/>
        </p:nvSpPr>
        <p:spPr>
          <a:xfrm>
            <a:off x="9508294" y="2176272"/>
            <a:ext cx="14630" cy="3749040"/>
          </a:xfrm>
          <a:prstGeom prst="rect">
            <a:avLst/>
          </a:prstGeom>
          <a:solidFill>
            <a:srgbClr val="0B2C4A"/>
          </a:solidFill>
          <a:ln/>
        </p:spPr>
      </p:sp>
      <p:sp>
        <p:nvSpPr>
          <p:cNvPr id="150" name="Shape 148"/>
          <p:cNvSpPr/>
          <p:nvPr/>
        </p:nvSpPr>
        <p:spPr>
          <a:xfrm>
            <a:off x="6085332" y="2176272"/>
            <a:ext cx="10973" cy="3749040"/>
          </a:xfrm>
          <a:prstGeom prst="rect">
            <a:avLst/>
          </a:prstGeom>
          <a:solidFill>
            <a:srgbClr val="D9D9D9"/>
          </a:solidFill>
          <a:ln/>
        </p:spPr>
      </p:sp>
      <p:sp>
        <p:nvSpPr>
          <p:cNvPr id="151" name="Shape 149"/>
          <p:cNvSpPr/>
          <p:nvPr/>
        </p:nvSpPr>
        <p:spPr>
          <a:xfrm>
            <a:off x="457200" y="6126480"/>
            <a:ext cx="11274552" cy="615696"/>
          </a:xfrm>
          <a:prstGeom prst="rect">
            <a:avLst/>
          </a:prstGeom>
          <a:solidFill>
            <a:srgbClr val="EDF4FA"/>
          </a:solidFill>
          <a:ln/>
        </p:spPr>
      </p:sp>
      <p:sp>
        <p:nvSpPr>
          <p:cNvPr id="152" name="Text 150"/>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5 of 9 luxury stores beat $534 and 16 of 24 others beat $202. CDJR Post Falls leads non-luxury at $332.</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 per RO</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37744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PARTS $ PER RO</a:t>
            </a:r>
            <a:endParaRPr lang="en-US" sz="1500" dirty="0"/>
          </a:p>
        </p:txBody>
      </p:sp>
      <p:sp>
        <p:nvSpPr>
          <p:cNvPr id="9" name="Text 7"/>
          <p:cNvSpPr txBox="1"/>
          <p:nvPr/>
        </p:nvSpPr>
        <p:spPr>
          <a:xfrm>
            <a:off x="3291840" y="1335024"/>
            <a:ext cx="475488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+$9</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3" name="Shape 11"/>
          <p:cNvSpPr/>
          <p:nvPr/>
        </p:nvSpPr>
        <p:spPr>
          <a:xfrm>
            <a:off x="3785616" y="1911860"/>
            <a:ext cx="777240"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+$95</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7" name="Shape 15"/>
          <p:cNvSpPr/>
          <p:nvPr/>
        </p:nvSpPr>
        <p:spPr>
          <a:xfrm>
            <a:off x="3785616" y="2151755"/>
            <a:ext cx="665059"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21" name="Shape 19"/>
          <p:cNvSpPr/>
          <p:nvPr/>
        </p:nvSpPr>
        <p:spPr>
          <a:xfrm>
            <a:off x="3785616" y="2391651"/>
            <a:ext cx="389470"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+$48</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25" name="Shape 23"/>
          <p:cNvSpPr/>
          <p:nvPr/>
        </p:nvSpPr>
        <p:spPr>
          <a:xfrm>
            <a:off x="3785616" y="2631546"/>
            <a:ext cx="343942"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+$42</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29" name="Shape 27"/>
          <p:cNvSpPr/>
          <p:nvPr/>
        </p:nvSpPr>
        <p:spPr>
          <a:xfrm>
            <a:off x="3785616" y="2871442"/>
            <a:ext cx="310413"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+$38</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33" name="Shape 31"/>
          <p:cNvSpPr/>
          <p:nvPr/>
        </p:nvSpPr>
        <p:spPr>
          <a:xfrm>
            <a:off x="3785616" y="3111337"/>
            <a:ext cx="308723"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+$38</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37" name="Shape 35"/>
          <p:cNvSpPr/>
          <p:nvPr/>
        </p:nvSpPr>
        <p:spPr>
          <a:xfrm>
            <a:off x="3785616" y="3351233"/>
            <a:ext cx="273728"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+$34</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41" name="Shape 39"/>
          <p:cNvSpPr/>
          <p:nvPr/>
        </p:nvSpPr>
        <p:spPr>
          <a:xfrm>
            <a:off x="3785616" y="3591128"/>
            <a:ext cx="237564"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+$29</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45" name="Shape 43"/>
          <p:cNvSpPr/>
          <p:nvPr/>
        </p:nvSpPr>
        <p:spPr>
          <a:xfrm>
            <a:off x="3785616" y="3831024"/>
            <a:ext cx="228920"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+$28</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49" name="Shape 47"/>
          <p:cNvSpPr/>
          <p:nvPr/>
        </p:nvSpPr>
        <p:spPr>
          <a:xfrm>
            <a:off x="3785616" y="4070920"/>
            <a:ext cx="224091"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+$27</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53" name="Shape 51"/>
          <p:cNvSpPr/>
          <p:nvPr/>
        </p:nvSpPr>
        <p:spPr>
          <a:xfrm>
            <a:off x="3785616" y="4310815"/>
            <a:ext cx="205095"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+$25</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57" name="Shape 55"/>
          <p:cNvSpPr/>
          <p:nvPr/>
        </p:nvSpPr>
        <p:spPr>
          <a:xfrm>
            <a:off x="3785616" y="4550711"/>
            <a:ext cx="204251"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+$25</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61" name="Shape 59"/>
          <p:cNvSpPr/>
          <p:nvPr/>
        </p:nvSpPr>
        <p:spPr>
          <a:xfrm>
            <a:off x="3785616" y="4790606"/>
            <a:ext cx="169603"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+$21</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65" name="Shape 63"/>
          <p:cNvSpPr/>
          <p:nvPr/>
        </p:nvSpPr>
        <p:spPr>
          <a:xfrm>
            <a:off x="3785616" y="5030502"/>
            <a:ext cx="154676"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69" name="Shape 67"/>
          <p:cNvSpPr/>
          <p:nvPr/>
        </p:nvSpPr>
        <p:spPr>
          <a:xfrm>
            <a:off x="3785616" y="5270397"/>
            <a:ext cx="117954"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73" name="Shape 71"/>
          <p:cNvSpPr/>
          <p:nvPr/>
        </p:nvSpPr>
        <p:spPr>
          <a:xfrm>
            <a:off x="3785616" y="5510293"/>
            <a:ext cx="115591"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77" name="Shape 75"/>
          <p:cNvSpPr/>
          <p:nvPr/>
        </p:nvSpPr>
        <p:spPr>
          <a:xfrm>
            <a:off x="3785616" y="5750188"/>
            <a:ext cx="101631"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1" name="Shape 79"/>
          <p:cNvSpPr/>
          <p:nvPr/>
        </p:nvSpPr>
        <p:spPr>
          <a:xfrm>
            <a:off x="9336024" y="1911860"/>
            <a:ext cx="98999"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85" name="Shape 83"/>
          <p:cNvSpPr/>
          <p:nvPr/>
        </p:nvSpPr>
        <p:spPr>
          <a:xfrm>
            <a:off x="9336024" y="2151755"/>
            <a:ext cx="93828"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+$11</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89" name="Shape 87"/>
          <p:cNvSpPr/>
          <p:nvPr/>
        </p:nvSpPr>
        <p:spPr>
          <a:xfrm>
            <a:off x="9336024" y="2391651"/>
            <a:ext cx="90502"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+$11</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93" name="Shape 91"/>
          <p:cNvSpPr/>
          <p:nvPr/>
        </p:nvSpPr>
        <p:spPr>
          <a:xfrm>
            <a:off x="9336024" y="2631546"/>
            <a:ext cx="74734" cy="110352"/>
          </a:xfrm>
          <a:prstGeom prst="rect">
            <a:avLst/>
          </a:prstGeom>
          <a:solidFill>
            <a:srgbClr val="12A566"/>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97" name="Shape 95"/>
          <p:cNvSpPr/>
          <p:nvPr/>
        </p:nvSpPr>
        <p:spPr>
          <a:xfrm>
            <a:off x="9336024" y="2871442"/>
            <a:ext cx="68128" cy="110352"/>
          </a:xfrm>
          <a:prstGeom prst="rect">
            <a:avLst/>
          </a:prstGeom>
          <a:solidFill>
            <a:srgbClr val="12A566"/>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01" name="Shape 99"/>
          <p:cNvSpPr/>
          <p:nvPr/>
        </p:nvSpPr>
        <p:spPr>
          <a:xfrm>
            <a:off x="9336024" y="3111337"/>
            <a:ext cx="25513" cy="110352"/>
          </a:xfrm>
          <a:prstGeom prst="rect">
            <a:avLst/>
          </a:prstGeom>
          <a:solidFill>
            <a:srgbClr val="12A566"/>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05" name="Shape 103"/>
          <p:cNvSpPr/>
          <p:nvPr/>
        </p:nvSpPr>
        <p:spPr>
          <a:xfrm>
            <a:off x="9336024" y="3351233"/>
            <a:ext cx="21241" cy="110352"/>
          </a:xfrm>
          <a:prstGeom prst="rect">
            <a:avLst/>
          </a:prstGeom>
          <a:solidFill>
            <a:srgbClr val="12A566"/>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09" name="Shape 107"/>
          <p:cNvSpPr/>
          <p:nvPr/>
        </p:nvSpPr>
        <p:spPr>
          <a:xfrm>
            <a:off x="9331304" y="3591128"/>
            <a:ext cx="12802"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13" name="Shape 111"/>
          <p:cNvSpPr/>
          <p:nvPr/>
        </p:nvSpPr>
        <p:spPr>
          <a:xfrm>
            <a:off x="9327299" y="3831024"/>
            <a:ext cx="12802"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17" name="Shape 115"/>
          <p:cNvSpPr/>
          <p:nvPr/>
        </p:nvSpPr>
        <p:spPr>
          <a:xfrm>
            <a:off x="9318567" y="4070920"/>
            <a:ext cx="17457"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21" name="Shape 119"/>
          <p:cNvSpPr/>
          <p:nvPr/>
        </p:nvSpPr>
        <p:spPr>
          <a:xfrm>
            <a:off x="9280372" y="4310815"/>
            <a:ext cx="55652"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25" name="Shape 123"/>
          <p:cNvSpPr/>
          <p:nvPr/>
        </p:nvSpPr>
        <p:spPr>
          <a:xfrm>
            <a:off x="9270637" y="4550711"/>
            <a:ext cx="65387"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−$8</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29" name="Shape 127"/>
          <p:cNvSpPr/>
          <p:nvPr/>
        </p:nvSpPr>
        <p:spPr>
          <a:xfrm>
            <a:off x="9252775" y="4790606"/>
            <a:ext cx="83249"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−$10</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33" name="Shape 131"/>
          <p:cNvSpPr/>
          <p:nvPr/>
        </p:nvSpPr>
        <p:spPr>
          <a:xfrm>
            <a:off x="9055699" y="5030502"/>
            <a:ext cx="280325"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−$34</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37" name="Shape 135"/>
          <p:cNvSpPr/>
          <p:nvPr/>
        </p:nvSpPr>
        <p:spPr>
          <a:xfrm>
            <a:off x="8893265" y="5270397"/>
            <a:ext cx="442759"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−$54</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41" name="Shape 139"/>
          <p:cNvSpPr/>
          <p:nvPr/>
        </p:nvSpPr>
        <p:spPr>
          <a:xfrm>
            <a:off x="8826714" y="5510293"/>
            <a:ext cx="509310"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−$62</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341376"/>
          </a:xfrm>
          <a:prstGeom prst="rect">
            <a:avLst/>
          </a:prstGeom>
          <a:solidFill>
            <a:srgbClr val="E6F6EE"/>
          </a:solidFill>
          <a:ln/>
        </p:spPr>
      </p:sp>
      <p:sp>
        <p:nvSpPr>
          <p:cNvPr id="147" name="Text 145"/>
          <p:cNvSpPr txBox="1"/>
          <p:nvPr/>
        </p:nvSpPr>
        <p:spPr>
          <a:xfrm>
            <a:off x="658368" y="6144768"/>
            <a:ext cx="10927080" cy="304800"/>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24 of 33 stores grew CP parts per RO, led by LR Henderson at +$95 to $926. 9 declined; LR Reno fell most at −$62.</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 per RO</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Text 8"/>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$831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$926</a:t>
            </a:r>
            <a:endParaRPr lang="en-US" sz="1400" dirty="0"/>
          </a:p>
        </p:txBody>
      </p:sp>
      <p:sp>
        <p:nvSpPr>
          <p:cNvPr id="12" name="Text 10"/>
          <p:cNvSpPr txBox="1"/>
          <p:nvPr/>
        </p:nvSpPr>
        <p:spPr>
          <a:xfrm>
            <a:off x="2941320"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+$95</a:t>
            </a:r>
            <a:endParaRPr lang="en-US" sz="1600" dirty="0"/>
          </a:p>
        </p:txBody>
      </p:sp>
      <p:sp>
        <p:nvSpPr>
          <p:cNvPr id="13" name="Text 11"/>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$281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$363</a:t>
            </a:r>
            <a:endParaRPr lang="en-US" sz="1400" dirty="0"/>
          </a:p>
        </p:txBody>
      </p:sp>
      <p:sp>
        <p:nvSpPr>
          <p:cNvPr id="15" name="Text 13"/>
          <p:cNvSpPr txBox="1"/>
          <p:nvPr/>
        </p:nvSpPr>
        <p:spPr>
          <a:xfrm>
            <a:off x="2941320"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+$81</a:t>
            </a:r>
            <a:endParaRPr lang="en-US" sz="1600" dirty="0"/>
          </a:p>
        </p:txBody>
      </p:sp>
      <p:sp>
        <p:nvSpPr>
          <p:cNvPr id="16" name="Shape 14"/>
          <p:cNvSpPr/>
          <p:nvPr/>
        </p:nvSpPr>
        <p:spPr>
          <a:xfrm>
            <a:off x="658368" y="3613709"/>
            <a:ext cx="3489960" cy="755294"/>
          </a:xfrm>
          <a:prstGeom prst="rect">
            <a:avLst/>
          </a:prstGeom>
          <a:solidFill>
            <a:srgbClr val="F7F7F7"/>
          </a:solidFill>
          <a:ln/>
        </p:spPr>
      </p:sp>
      <p:sp>
        <p:nvSpPr>
          <p:cNvPr id="17" name="Text 15"/>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8" name="Text 16"/>
          <p:cNvSpPr txBox="1"/>
          <p:nvPr/>
        </p:nvSpPr>
        <p:spPr>
          <a:xfrm>
            <a:off x="1097280"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$240</a:t>
            </a:r>
            <a:endParaRPr lang="en-US" sz="1400" dirty="0"/>
          </a:p>
        </p:txBody>
      </p:sp>
      <p:sp>
        <p:nvSpPr>
          <p:cNvPr id="19" name="Text 17"/>
          <p:cNvSpPr txBox="1"/>
          <p:nvPr/>
        </p:nvSpPr>
        <p:spPr>
          <a:xfrm>
            <a:off x="2941320"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a:t>
            </a:r>
            <a:endParaRPr lang="en-US" sz="1600" dirty="0"/>
          </a:p>
        </p:txBody>
      </p:sp>
      <p:sp>
        <p:nvSpPr>
          <p:cNvPr id="20" name="Text 18"/>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1" name="Text 19"/>
          <p:cNvSpPr txBox="1"/>
          <p:nvPr/>
        </p:nvSpPr>
        <p:spPr>
          <a:xfrm>
            <a:off x="1097280"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$280</a:t>
            </a:r>
            <a:endParaRPr lang="en-US" sz="1400" dirty="0"/>
          </a:p>
        </p:txBody>
      </p:sp>
      <p:sp>
        <p:nvSpPr>
          <p:cNvPr id="22" name="Text 20"/>
          <p:cNvSpPr txBox="1"/>
          <p:nvPr/>
        </p:nvSpPr>
        <p:spPr>
          <a:xfrm>
            <a:off x="2941320"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+$42</a:t>
            </a:r>
            <a:endParaRPr lang="en-US" sz="1600" dirty="0"/>
          </a:p>
        </p:txBody>
      </p:sp>
      <p:sp>
        <p:nvSpPr>
          <p:cNvPr id="23" name="Shape 21"/>
          <p:cNvSpPr/>
          <p:nvPr/>
        </p:nvSpPr>
        <p:spPr>
          <a:xfrm>
            <a:off x="658368" y="5124298"/>
            <a:ext cx="3489960" cy="755294"/>
          </a:xfrm>
          <a:prstGeom prst="rect">
            <a:avLst/>
          </a:prstGeom>
          <a:solidFill>
            <a:srgbClr val="F7F7F7"/>
          </a:solidFill>
          <a:ln/>
        </p:spPr>
      </p:sp>
      <p:sp>
        <p:nvSpPr>
          <p:cNvPr id="24" name="Text 22"/>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5" name="Text 23"/>
          <p:cNvSpPr txBox="1"/>
          <p:nvPr/>
        </p:nvSpPr>
        <p:spPr>
          <a:xfrm>
            <a:off x="1097280"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$219</a:t>
            </a:r>
            <a:endParaRPr lang="en-US" sz="1400" dirty="0"/>
          </a:p>
        </p:txBody>
      </p:sp>
      <p:sp>
        <p:nvSpPr>
          <p:cNvPr id="26" name="Text 24"/>
          <p:cNvSpPr txBox="1"/>
          <p:nvPr/>
        </p:nvSpPr>
        <p:spPr>
          <a:xfrm>
            <a:off x="2941320"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a:t>
            </a:r>
            <a:endParaRPr lang="en-US" sz="1600" dirty="0"/>
          </a:p>
        </p:txBody>
      </p:sp>
      <p:sp>
        <p:nvSpPr>
          <p:cNvPr id="27" name="Shape 25"/>
          <p:cNvSpPr/>
          <p:nvPr/>
        </p:nvSpPr>
        <p:spPr>
          <a:xfrm>
            <a:off x="4349496" y="1371600"/>
            <a:ext cx="3489960" cy="45720"/>
          </a:xfrm>
          <a:prstGeom prst="rect">
            <a:avLst/>
          </a:prstGeom>
          <a:solidFill>
            <a:srgbClr val="C2352F"/>
          </a:solidFill>
          <a:ln/>
        </p:spPr>
      </p:sp>
      <p:sp>
        <p:nvSpPr>
          <p:cNvPr id="28"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29" name="Text 27"/>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30" name="Shape 28"/>
          <p:cNvSpPr/>
          <p:nvPr/>
        </p:nvSpPr>
        <p:spPr>
          <a:xfrm>
            <a:off x="4349496" y="2103120"/>
            <a:ext cx="3489960" cy="755294"/>
          </a:xfrm>
          <a:prstGeom prst="rect">
            <a:avLst/>
          </a:prstGeom>
          <a:solidFill>
            <a:srgbClr val="F7F7F7"/>
          </a:solidFill>
          <a:ln/>
        </p:spPr>
      </p:sp>
      <p:sp>
        <p:nvSpPr>
          <p:cNvPr id="31" name="Text 29"/>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2" name="Text 30"/>
          <p:cNvSpPr txBox="1"/>
          <p:nvPr/>
        </p:nvSpPr>
        <p:spPr>
          <a:xfrm>
            <a:off x="4788408"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$876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$814</a:t>
            </a:r>
            <a:endParaRPr lang="en-US" sz="1400" dirty="0"/>
          </a:p>
        </p:txBody>
      </p:sp>
      <p:sp>
        <p:nvSpPr>
          <p:cNvPr id="33" name="Text 31"/>
          <p:cNvSpPr txBox="1"/>
          <p:nvPr/>
        </p:nvSpPr>
        <p:spPr>
          <a:xfrm>
            <a:off x="6632448" y="2103120"/>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−$62</a:t>
            </a:r>
            <a:endParaRPr lang="en-US" sz="1600" dirty="0"/>
          </a:p>
        </p:txBody>
      </p:sp>
      <p:sp>
        <p:nvSpPr>
          <p:cNvPr id="34" name="Text 32"/>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5" name="Text 33"/>
          <p:cNvSpPr txBox="1"/>
          <p:nvPr/>
        </p:nvSpPr>
        <p:spPr>
          <a:xfrm>
            <a:off x="4788408"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$596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$542</a:t>
            </a:r>
            <a:endParaRPr lang="en-US" sz="1400" dirty="0"/>
          </a:p>
        </p:txBody>
      </p:sp>
      <p:sp>
        <p:nvSpPr>
          <p:cNvPr id="36" name="Text 34"/>
          <p:cNvSpPr txBox="1"/>
          <p:nvPr/>
        </p:nvSpPr>
        <p:spPr>
          <a:xfrm>
            <a:off x="6632448" y="2858414"/>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−$54</a:t>
            </a:r>
            <a:endParaRPr lang="en-US" sz="1600" dirty="0"/>
          </a:p>
        </p:txBody>
      </p:sp>
      <p:sp>
        <p:nvSpPr>
          <p:cNvPr id="37" name="Shape 35"/>
          <p:cNvSpPr/>
          <p:nvPr/>
        </p:nvSpPr>
        <p:spPr>
          <a:xfrm>
            <a:off x="4349496" y="3613709"/>
            <a:ext cx="3489960" cy="755294"/>
          </a:xfrm>
          <a:prstGeom prst="rect">
            <a:avLst/>
          </a:prstGeom>
          <a:solidFill>
            <a:srgbClr val="F7F7F7"/>
          </a:solidFill>
          <a:ln/>
        </p:spPr>
      </p:sp>
      <p:sp>
        <p:nvSpPr>
          <p:cNvPr id="38" name="Text 36"/>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39" name="Text 37"/>
          <p:cNvSpPr txBox="1"/>
          <p:nvPr/>
        </p:nvSpPr>
        <p:spPr>
          <a:xfrm>
            <a:off x="4788408"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$193</a:t>
            </a:r>
            <a:endParaRPr lang="en-US" sz="1400" dirty="0"/>
          </a:p>
        </p:txBody>
      </p:sp>
      <p:sp>
        <p:nvSpPr>
          <p:cNvPr id="40" name="Text 38"/>
          <p:cNvSpPr txBox="1"/>
          <p:nvPr/>
        </p:nvSpPr>
        <p:spPr>
          <a:xfrm>
            <a:off x="6632448" y="3613709"/>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−$34</a:t>
            </a:r>
            <a:endParaRPr lang="en-US" sz="1600" dirty="0"/>
          </a:p>
        </p:txBody>
      </p:sp>
      <p:sp>
        <p:nvSpPr>
          <p:cNvPr id="41" name="Text 39"/>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2" name="Text 40"/>
          <p:cNvSpPr txBox="1"/>
          <p:nvPr/>
        </p:nvSpPr>
        <p:spPr>
          <a:xfrm>
            <a:off x="4788408"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$504</a:t>
            </a:r>
            <a:endParaRPr lang="en-US" sz="1400" dirty="0"/>
          </a:p>
        </p:txBody>
      </p:sp>
      <p:sp>
        <p:nvSpPr>
          <p:cNvPr id="43" name="Text 41"/>
          <p:cNvSpPr txBox="1"/>
          <p:nvPr/>
        </p:nvSpPr>
        <p:spPr>
          <a:xfrm>
            <a:off x="6632448" y="4369003"/>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a:t>
            </a:r>
            <a:endParaRPr lang="en-US" sz="1600" dirty="0"/>
          </a:p>
        </p:txBody>
      </p:sp>
      <p:sp>
        <p:nvSpPr>
          <p:cNvPr id="44" name="Shape 42"/>
          <p:cNvSpPr/>
          <p:nvPr/>
        </p:nvSpPr>
        <p:spPr>
          <a:xfrm>
            <a:off x="4349496" y="5124298"/>
            <a:ext cx="3489960" cy="755294"/>
          </a:xfrm>
          <a:prstGeom prst="rect">
            <a:avLst/>
          </a:prstGeom>
          <a:solidFill>
            <a:srgbClr val="F7F7F7"/>
          </a:solidFill>
          <a:ln/>
        </p:spPr>
      </p:sp>
      <p:sp>
        <p:nvSpPr>
          <p:cNvPr id="45" name="Text 43"/>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6" name="Text 44"/>
          <p:cNvSpPr txBox="1"/>
          <p:nvPr/>
        </p:nvSpPr>
        <p:spPr>
          <a:xfrm>
            <a:off x="4788408"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$350</a:t>
            </a:r>
            <a:endParaRPr lang="en-US" sz="1400" dirty="0"/>
          </a:p>
        </p:txBody>
      </p:sp>
      <p:sp>
        <p:nvSpPr>
          <p:cNvPr id="47" name="Text 45"/>
          <p:cNvSpPr txBox="1"/>
          <p:nvPr/>
        </p:nvSpPr>
        <p:spPr>
          <a:xfrm>
            <a:off x="6632448" y="5124298"/>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a:t>
            </a:r>
            <a:endParaRPr lang="en-US" sz="1600" dirty="0"/>
          </a:p>
        </p:txBody>
      </p:sp>
      <p:sp>
        <p:nvSpPr>
          <p:cNvPr id="48" name="Shape 46"/>
          <p:cNvSpPr/>
          <p:nvPr/>
        </p:nvSpPr>
        <p:spPr>
          <a:xfrm>
            <a:off x="8040624" y="1371600"/>
            <a:ext cx="3489960" cy="45720"/>
          </a:xfrm>
          <a:prstGeom prst="rect">
            <a:avLst/>
          </a:prstGeom>
          <a:solidFill>
            <a:srgbClr val="2587C5"/>
          </a:solidFill>
          <a:ln/>
        </p:spPr>
      </p:sp>
      <p:sp>
        <p:nvSpPr>
          <p:cNvPr id="49" name="Text 4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0" name="Text 48"/>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a:t>
            </a:r>
            <a:endParaRPr lang="en-US" sz="1200" dirty="0"/>
          </a:p>
        </p:txBody>
      </p:sp>
      <p:sp>
        <p:nvSpPr>
          <p:cNvPr id="51" name="Shape 49"/>
          <p:cNvSpPr/>
          <p:nvPr/>
        </p:nvSpPr>
        <p:spPr>
          <a:xfrm>
            <a:off x="8040624" y="2103120"/>
            <a:ext cx="3489960" cy="755294"/>
          </a:xfrm>
          <a:prstGeom prst="rect">
            <a:avLst/>
          </a:prstGeom>
          <a:solidFill>
            <a:srgbClr val="F7F7F7"/>
          </a:solidFill>
          <a:ln/>
        </p:spPr>
      </p:sp>
      <p:sp>
        <p:nvSpPr>
          <p:cNvPr id="52" name="Text 50"/>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3" name="Text 51"/>
          <p:cNvSpPr txBox="1"/>
          <p:nvPr/>
        </p:nvSpPr>
        <p:spPr>
          <a:xfrm>
            <a:off x="8479536"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$692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$877</a:t>
            </a:r>
            <a:endParaRPr lang="en-US" sz="1400" dirty="0"/>
          </a:p>
        </p:txBody>
      </p:sp>
      <p:sp>
        <p:nvSpPr>
          <p:cNvPr id="54" name="Text 52"/>
          <p:cNvSpPr txBox="1"/>
          <p:nvPr/>
        </p:nvSpPr>
        <p:spPr>
          <a:xfrm>
            <a:off x="10323576"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+$185</a:t>
            </a:r>
            <a:endParaRPr lang="en-US" sz="1600" dirty="0"/>
          </a:p>
        </p:txBody>
      </p:sp>
      <p:sp>
        <p:nvSpPr>
          <p:cNvPr id="55" name="Text 53"/>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6" name="Text 54"/>
          <p:cNvSpPr txBox="1"/>
          <p:nvPr/>
        </p:nvSpPr>
        <p:spPr>
          <a:xfrm>
            <a:off x="8479536"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$897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$988</a:t>
            </a:r>
            <a:endParaRPr lang="en-US" sz="1400" dirty="0"/>
          </a:p>
        </p:txBody>
      </p:sp>
      <p:sp>
        <p:nvSpPr>
          <p:cNvPr id="57" name="Text 55"/>
          <p:cNvSpPr txBox="1"/>
          <p:nvPr/>
        </p:nvSpPr>
        <p:spPr>
          <a:xfrm>
            <a:off x="10323576"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+$91</a:t>
            </a:r>
            <a:endParaRPr lang="en-US" sz="1600" dirty="0"/>
          </a:p>
        </p:txBody>
      </p:sp>
      <p:sp>
        <p:nvSpPr>
          <p:cNvPr id="58" name="Shape 56"/>
          <p:cNvSpPr/>
          <p:nvPr/>
        </p:nvSpPr>
        <p:spPr>
          <a:xfrm>
            <a:off x="8040624" y="3613709"/>
            <a:ext cx="3489960" cy="755294"/>
          </a:xfrm>
          <a:prstGeom prst="rect">
            <a:avLst/>
          </a:prstGeom>
          <a:solidFill>
            <a:srgbClr val="F7F7F7"/>
          </a:solidFill>
          <a:ln/>
        </p:spPr>
      </p:sp>
      <p:sp>
        <p:nvSpPr>
          <p:cNvPr id="59" name="Text 57"/>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0" name="Text 58"/>
          <p:cNvSpPr txBox="1"/>
          <p:nvPr/>
        </p:nvSpPr>
        <p:spPr>
          <a:xfrm>
            <a:off x="8479536"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$811</a:t>
            </a:r>
            <a:endParaRPr lang="en-US" sz="1400" dirty="0"/>
          </a:p>
        </p:txBody>
      </p:sp>
      <p:sp>
        <p:nvSpPr>
          <p:cNvPr id="61" name="Text 59"/>
          <p:cNvSpPr txBox="1"/>
          <p:nvPr/>
        </p:nvSpPr>
        <p:spPr>
          <a:xfrm>
            <a:off x="10323576"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+$83</a:t>
            </a:r>
            <a:endParaRPr lang="en-US" sz="1600" dirty="0"/>
          </a:p>
        </p:txBody>
      </p:sp>
      <p:sp>
        <p:nvSpPr>
          <p:cNvPr id="62" name="Text 60"/>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3" name="Text 61"/>
          <p:cNvSpPr txBox="1"/>
          <p:nvPr/>
        </p:nvSpPr>
        <p:spPr>
          <a:xfrm>
            <a:off x="8479536"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$298</a:t>
            </a:r>
            <a:endParaRPr lang="en-US" sz="1400" dirty="0"/>
          </a:p>
        </p:txBody>
      </p:sp>
      <p:sp>
        <p:nvSpPr>
          <p:cNvPr id="64" name="Text 62"/>
          <p:cNvSpPr txBox="1"/>
          <p:nvPr/>
        </p:nvSpPr>
        <p:spPr>
          <a:xfrm>
            <a:off x="10323576"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+$74</a:t>
            </a:r>
            <a:endParaRPr lang="en-US" sz="1600" dirty="0"/>
          </a:p>
        </p:txBody>
      </p:sp>
      <p:sp>
        <p:nvSpPr>
          <p:cNvPr id="65" name="Shape 63"/>
          <p:cNvSpPr/>
          <p:nvPr/>
        </p:nvSpPr>
        <p:spPr>
          <a:xfrm>
            <a:off x="8040624" y="5124298"/>
            <a:ext cx="3489960" cy="755294"/>
          </a:xfrm>
          <a:prstGeom prst="rect">
            <a:avLst/>
          </a:prstGeom>
          <a:solidFill>
            <a:srgbClr val="F7F7F7"/>
          </a:solidFill>
          <a:ln/>
        </p:spPr>
      </p:sp>
      <p:sp>
        <p:nvSpPr>
          <p:cNvPr id="66" name="Text 64"/>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7" name="Text 65"/>
          <p:cNvSpPr txBox="1"/>
          <p:nvPr/>
        </p:nvSpPr>
        <p:spPr>
          <a:xfrm>
            <a:off x="8479536"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$282</a:t>
            </a:r>
            <a:endParaRPr lang="en-US" sz="1400" dirty="0"/>
          </a:p>
        </p:txBody>
      </p:sp>
      <p:sp>
        <p:nvSpPr>
          <p:cNvPr id="68" name="Text 66"/>
          <p:cNvSpPr txBox="1"/>
          <p:nvPr/>
        </p:nvSpPr>
        <p:spPr>
          <a:xfrm>
            <a:off x="10323576"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+$53</a:t>
            </a:r>
            <a:endParaRPr lang="en-US" sz="1600" dirty="0"/>
          </a:p>
        </p:txBody>
      </p:sp>
      <p:sp>
        <p:nvSpPr>
          <p:cNvPr id="69" name="Shape 67"/>
          <p:cNvSpPr/>
          <p:nvPr/>
        </p:nvSpPr>
        <p:spPr>
          <a:xfrm>
            <a:off x="457200" y="6126480"/>
            <a:ext cx="11274552" cy="615696"/>
          </a:xfrm>
          <a:prstGeom prst="rect">
            <a:avLst/>
          </a:prstGeom>
          <a:solidFill>
            <a:srgbClr val="EDF4FA"/>
          </a:solidFill>
          <a:ln/>
        </p:spPr>
      </p:sp>
      <p:sp>
        <p:nvSpPr>
          <p:cNvPr id="70" name="Text 6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Ask LR Henderson, Lincoln and Lexus what changed. Ask LR Reno, Audi Reno and Kia LV what got in the way. Ask LR Reno, LR Henderson and Audi Henderson what they started this year.</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80.9%</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80.8%</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−0.1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−0.1%</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Labor Gross Profit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graphicFrame>
        <p:nvGraphicFramePr>
          <p:cNvPr id="21" name="Chart 4"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5"/>
          </a:graphicData>
        </a:graphic>
      </p:graphicFrame>
      <p:graphicFrame>
        <p:nvGraphicFramePr>
          <p:cNvPr id="22" name="Chart 5"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6"/>
          </a:graphicData>
        </a:graphic>
      </p:graphicFrame>
      <p:sp>
        <p:nvSpPr>
          <p:cNvPr id="23" name="Shape 15"/>
          <p:cNvSpPr/>
          <p:nvPr/>
        </p:nvSpPr>
        <p:spPr>
          <a:xfrm>
            <a:off x="4951476" y="3049524"/>
            <a:ext cx="310896" cy="45720"/>
          </a:xfrm>
          <a:prstGeom prst="rect">
            <a:avLst/>
          </a:prstGeom>
          <a:solidFill>
            <a:srgbClr val="9AA3AD"/>
          </a:solidFill>
          <a:ln/>
        </p:spPr>
      </p:sp>
      <p:sp>
        <p:nvSpPr>
          <p:cNvPr id="24" name="Shape 16"/>
          <p:cNvSpPr/>
          <p:nvPr/>
        </p:nvSpPr>
        <p:spPr>
          <a:xfrm>
            <a:off x="5052060" y="3017520"/>
            <a:ext cx="109728" cy="109728"/>
          </a:xfrm>
          <a:prstGeom prst="ellipse">
            <a:avLst/>
          </a:prstGeom>
          <a:solidFill>
            <a:srgbClr val="9AA3AD"/>
          </a:solidFill>
          <a:ln/>
        </p:spPr>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sp>
      <p:sp>
        <p:nvSpPr>
          <p:cNvPr id="27" name="Shape 19"/>
          <p:cNvSpPr/>
          <p:nvPr/>
        </p:nvSpPr>
        <p:spPr>
          <a:xfrm>
            <a:off x="6286500" y="3017520"/>
            <a:ext cx="109728" cy="109728"/>
          </a:xfrm>
          <a:prstGeom prst="ellipse">
            <a:avLst/>
          </a:prstGeom>
          <a:solidFill>
            <a:srgbClr val="2587C5"/>
          </a:solidFill>
          <a:ln/>
        </p:spPr>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FBEBEA"/>
          </a:solidFill>
          <a:ln/>
        </p:spPr>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0.1 pts to 80.8%, behind 2025 in six of nine months. The target range is 78–80%.</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85369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LABOR GROSS PROFIT %</a:t>
            </a:r>
            <a:endParaRPr lang="en-US" sz="1500" dirty="0"/>
          </a:p>
        </p:txBody>
      </p:sp>
      <p:sp>
        <p:nvSpPr>
          <p:cNvPr id="9" name="Text 7"/>
          <p:cNvSpPr txBox="1"/>
          <p:nvPr/>
        </p:nvSpPr>
        <p:spPr>
          <a:xfrm>
            <a:off x="3768090" y="1335024"/>
            <a:ext cx="427863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80.8%</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3" name="Shape 11"/>
          <p:cNvSpPr/>
          <p:nvPr/>
        </p:nvSpPr>
        <p:spPr>
          <a:xfrm>
            <a:off x="3008376" y="1907062"/>
            <a:ext cx="169164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88.6%</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7" name="Shape 15"/>
          <p:cNvSpPr/>
          <p:nvPr/>
        </p:nvSpPr>
        <p:spPr>
          <a:xfrm>
            <a:off x="3008376" y="2146957"/>
            <a:ext cx="1543109"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86.1%</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21" name="Shape 19"/>
          <p:cNvSpPr/>
          <p:nvPr/>
        </p:nvSpPr>
        <p:spPr>
          <a:xfrm>
            <a:off x="3008376" y="2386853"/>
            <a:ext cx="1535636"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86.0%</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25" name="Shape 23"/>
          <p:cNvSpPr/>
          <p:nvPr/>
        </p:nvSpPr>
        <p:spPr>
          <a:xfrm>
            <a:off x="3008376" y="2626748"/>
            <a:ext cx="1476876"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85.0%</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29" name="Shape 27"/>
          <p:cNvSpPr/>
          <p:nvPr/>
        </p:nvSpPr>
        <p:spPr>
          <a:xfrm>
            <a:off x="3008376" y="2866644"/>
            <a:ext cx="1445114"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84.4%</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33" name="Shape 31"/>
          <p:cNvSpPr/>
          <p:nvPr/>
        </p:nvSpPr>
        <p:spPr>
          <a:xfrm>
            <a:off x="3008376" y="3106540"/>
            <a:ext cx="1444915"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84.4%</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37" name="Shape 35"/>
          <p:cNvSpPr/>
          <p:nvPr/>
        </p:nvSpPr>
        <p:spPr>
          <a:xfrm>
            <a:off x="3008376" y="3346435"/>
            <a:ext cx="1435635"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84.3%</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41" name="Shape 39"/>
          <p:cNvSpPr/>
          <p:nvPr/>
        </p:nvSpPr>
        <p:spPr>
          <a:xfrm>
            <a:off x="3008376" y="3586331"/>
            <a:ext cx="1413246" cy="119948"/>
          </a:xfrm>
          <a:prstGeom prst="rect">
            <a:avLst/>
          </a:prstGeom>
          <a:solidFill>
            <a:srgbClr val="12A566"/>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83.9%</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45" name="Shape 43"/>
          <p:cNvSpPr/>
          <p:nvPr/>
        </p:nvSpPr>
        <p:spPr>
          <a:xfrm>
            <a:off x="3008376" y="3826226"/>
            <a:ext cx="1388776" cy="119948"/>
          </a:xfrm>
          <a:prstGeom prst="rect">
            <a:avLst/>
          </a:prstGeom>
          <a:solidFill>
            <a:srgbClr val="12A566"/>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83.5%</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9" name="Shape 47"/>
          <p:cNvSpPr/>
          <p:nvPr/>
        </p:nvSpPr>
        <p:spPr>
          <a:xfrm>
            <a:off x="3008376" y="4066122"/>
            <a:ext cx="1369844" cy="119948"/>
          </a:xfrm>
          <a:prstGeom prst="rect">
            <a:avLst/>
          </a:prstGeom>
          <a:solidFill>
            <a:srgbClr val="12A566"/>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83.2%</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53" name="Shape 51"/>
          <p:cNvSpPr/>
          <p:nvPr/>
        </p:nvSpPr>
        <p:spPr>
          <a:xfrm>
            <a:off x="3008376" y="4306017"/>
            <a:ext cx="1354414" cy="119948"/>
          </a:xfrm>
          <a:prstGeom prst="rect">
            <a:avLst/>
          </a:prstGeom>
          <a:solidFill>
            <a:srgbClr val="12A566"/>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82.9%</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57" name="Shape 55"/>
          <p:cNvSpPr/>
          <p:nvPr/>
        </p:nvSpPr>
        <p:spPr>
          <a:xfrm>
            <a:off x="3008376" y="4545913"/>
            <a:ext cx="1325994" cy="119948"/>
          </a:xfrm>
          <a:prstGeom prst="rect">
            <a:avLst/>
          </a:prstGeom>
          <a:solidFill>
            <a:srgbClr val="12A566"/>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82.4%</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61" name="Shape 59"/>
          <p:cNvSpPr/>
          <p:nvPr/>
        </p:nvSpPr>
        <p:spPr>
          <a:xfrm>
            <a:off x="3008376" y="4785808"/>
            <a:ext cx="1299309" cy="119948"/>
          </a:xfrm>
          <a:prstGeom prst="rect">
            <a:avLst/>
          </a:prstGeom>
          <a:solidFill>
            <a:srgbClr val="12A566"/>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82.0%</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65" name="Shape 63"/>
          <p:cNvSpPr/>
          <p:nvPr/>
        </p:nvSpPr>
        <p:spPr>
          <a:xfrm>
            <a:off x="3008376" y="5025704"/>
            <a:ext cx="1172081" cy="119948"/>
          </a:xfrm>
          <a:prstGeom prst="rect">
            <a:avLst/>
          </a:prstGeom>
          <a:solidFill>
            <a:srgbClr val="C2352F"/>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79.8%</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69" name="Shape 67"/>
          <p:cNvSpPr/>
          <p:nvPr/>
        </p:nvSpPr>
        <p:spPr>
          <a:xfrm>
            <a:off x="3008376" y="5265599"/>
            <a:ext cx="1154510" cy="119948"/>
          </a:xfrm>
          <a:prstGeom prst="rect">
            <a:avLst/>
          </a:prstGeom>
          <a:solidFill>
            <a:srgbClr val="C2352F"/>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79.5%</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73" name="Shape 71"/>
          <p:cNvSpPr/>
          <p:nvPr/>
        </p:nvSpPr>
        <p:spPr>
          <a:xfrm>
            <a:off x="3008376" y="5505495"/>
            <a:ext cx="1151855" cy="119948"/>
          </a:xfrm>
          <a:prstGeom prst="rect">
            <a:avLst/>
          </a:prstGeom>
          <a:solidFill>
            <a:srgbClr val="C2352F"/>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79.5%</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77" name="Shape 75"/>
          <p:cNvSpPr/>
          <p:nvPr/>
        </p:nvSpPr>
        <p:spPr>
          <a:xfrm>
            <a:off x="3008376" y="5745390"/>
            <a:ext cx="1150751" cy="119948"/>
          </a:xfrm>
          <a:prstGeom prst="rect">
            <a:avLst/>
          </a:prstGeom>
          <a:solidFill>
            <a:srgbClr val="C2352F"/>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79.4%</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81" name="Shape 79"/>
          <p:cNvSpPr/>
          <p:nvPr/>
        </p:nvSpPr>
        <p:spPr>
          <a:xfrm>
            <a:off x="8558784" y="1907062"/>
            <a:ext cx="1147529" cy="119948"/>
          </a:xfrm>
          <a:prstGeom prst="rect">
            <a:avLst/>
          </a:prstGeom>
          <a:solidFill>
            <a:srgbClr val="C2352F"/>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79.4%</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85" name="Shape 83"/>
          <p:cNvSpPr/>
          <p:nvPr/>
        </p:nvSpPr>
        <p:spPr>
          <a:xfrm>
            <a:off x="8558784" y="2146957"/>
            <a:ext cx="1147141" cy="119948"/>
          </a:xfrm>
          <a:prstGeom prst="rect">
            <a:avLst/>
          </a:prstGeom>
          <a:solidFill>
            <a:srgbClr val="C2352F"/>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79.4%</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89" name="Shape 87"/>
          <p:cNvSpPr/>
          <p:nvPr/>
        </p:nvSpPr>
        <p:spPr>
          <a:xfrm>
            <a:off x="8558784" y="2386853"/>
            <a:ext cx="1142346" cy="119948"/>
          </a:xfrm>
          <a:prstGeom prst="rect">
            <a:avLst/>
          </a:prstGeom>
          <a:solidFill>
            <a:srgbClr val="C2352F"/>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79.3%</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93" name="Shape 91"/>
          <p:cNvSpPr/>
          <p:nvPr/>
        </p:nvSpPr>
        <p:spPr>
          <a:xfrm>
            <a:off x="8558784" y="2626748"/>
            <a:ext cx="1130994" cy="119948"/>
          </a:xfrm>
          <a:prstGeom prst="rect">
            <a:avLst/>
          </a:prstGeom>
          <a:solidFill>
            <a:srgbClr val="C2352F"/>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79.1%</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97" name="Shape 95"/>
          <p:cNvSpPr/>
          <p:nvPr/>
        </p:nvSpPr>
        <p:spPr>
          <a:xfrm>
            <a:off x="8558784" y="2866644"/>
            <a:ext cx="1110612" cy="119948"/>
          </a:xfrm>
          <a:prstGeom prst="rect">
            <a:avLst/>
          </a:prstGeom>
          <a:solidFill>
            <a:srgbClr val="C2352F"/>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78.8%</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01" name="Shape 99"/>
          <p:cNvSpPr/>
          <p:nvPr/>
        </p:nvSpPr>
        <p:spPr>
          <a:xfrm>
            <a:off x="8558784" y="3106540"/>
            <a:ext cx="1103937" cy="119948"/>
          </a:xfrm>
          <a:prstGeom prst="rect">
            <a:avLst/>
          </a:prstGeom>
          <a:solidFill>
            <a:srgbClr val="C2352F"/>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78.7%</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05" name="Shape 103"/>
          <p:cNvSpPr/>
          <p:nvPr/>
        </p:nvSpPr>
        <p:spPr>
          <a:xfrm>
            <a:off x="8558784" y="3346435"/>
            <a:ext cx="1099378" cy="119948"/>
          </a:xfrm>
          <a:prstGeom prst="rect">
            <a:avLst/>
          </a:prstGeom>
          <a:solidFill>
            <a:srgbClr val="C2352F"/>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78.6%</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09" name="Shape 107"/>
          <p:cNvSpPr/>
          <p:nvPr/>
        </p:nvSpPr>
        <p:spPr>
          <a:xfrm>
            <a:off x="8558784" y="3586331"/>
            <a:ext cx="1097173" cy="119948"/>
          </a:xfrm>
          <a:prstGeom prst="rect">
            <a:avLst/>
          </a:prstGeom>
          <a:solidFill>
            <a:srgbClr val="C2352F"/>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78.5%</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13" name="Shape 111"/>
          <p:cNvSpPr/>
          <p:nvPr/>
        </p:nvSpPr>
        <p:spPr>
          <a:xfrm>
            <a:off x="8558784" y="3826226"/>
            <a:ext cx="1092233"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78.5%</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17" name="Shape 115"/>
          <p:cNvSpPr/>
          <p:nvPr/>
        </p:nvSpPr>
        <p:spPr>
          <a:xfrm>
            <a:off x="8558784" y="4066122"/>
            <a:ext cx="1054627"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77.8%</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21" name="Shape 119"/>
          <p:cNvSpPr/>
          <p:nvPr/>
        </p:nvSpPr>
        <p:spPr>
          <a:xfrm>
            <a:off x="8558784" y="4306017"/>
            <a:ext cx="1021487"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77.3%</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25" name="Shape 123"/>
          <p:cNvSpPr/>
          <p:nvPr/>
        </p:nvSpPr>
        <p:spPr>
          <a:xfrm>
            <a:off x="8558784" y="4545913"/>
            <a:ext cx="926038"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75.7%</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29" name="Shape 127"/>
          <p:cNvSpPr/>
          <p:nvPr/>
        </p:nvSpPr>
        <p:spPr>
          <a:xfrm>
            <a:off x="8558784" y="4785808"/>
            <a:ext cx="836435"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74.1%</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33" name="Shape 131"/>
          <p:cNvSpPr/>
          <p:nvPr/>
        </p:nvSpPr>
        <p:spPr>
          <a:xfrm>
            <a:off x="8558784" y="5025704"/>
            <a:ext cx="819481"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73.9%</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37" name="Shape 135"/>
          <p:cNvSpPr/>
          <p:nvPr/>
        </p:nvSpPr>
        <p:spPr>
          <a:xfrm>
            <a:off x="8558784" y="5265599"/>
            <a:ext cx="722210"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72.2%</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41" name="Shape 139"/>
          <p:cNvSpPr/>
          <p:nvPr/>
        </p:nvSpPr>
        <p:spPr>
          <a:xfrm>
            <a:off x="8558784" y="5505495"/>
            <a:ext cx="457124"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67.7%</a:t>
            </a:r>
            <a:endParaRPr lang="en-US" sz="1200" dirty="0"/>
          </a:p>
        </p:txBody>
      </p:sp>
      <p:sp>
        <p:nvSpPr>
          <p:cNvPr id="143" name="Shape 141"/>
          <p:cNvSpPr/>
          <p:nvPr/>
        </p:nvSpPr>
        <p:spPr>
          <a:xfrm>
            <a:off x="4230890" y="1847088"/>
            <a:ext cx="14630" cy="4078224"/>
          </a:xfrm>
          <a:prstGeom prst="rect">
            <a:avLst/>
          </a:prstGeom>
          <a:solidFill>
            <a:srgbClr val="0B2C4A"/>
          </a:solidFill>
          <a:ln/>
        </p:spPr>
      </p:sp>
      <p:sp>
        <p:nvSpPr>
          <p:cNvPr id="144" name="Shape 142"/>
          <p:cNvSpPr/>
          <p:nvPr/>
        </p:nvSpPr>
        <p:spPr>
          <a:xfrm>
            <a:off x="9781298"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356616"/>
          </a:xfrm>
          <a:prstGeom prst="rect">
            <a:avLst/>
          </a:prstGeom>
          <a:solidFill>
            <a:srgbClr val="EDF4FA"/>
          </a:solidFill>
          <a:ln/>
        </p:spPr>
      </p:sp>
      <p:sp>
        <p:nvSpPr>
          <p:cNvPr id="147" name="Text 145"/>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13 of 33 stores at or above the 80.8% group, led by Volvo at 88.6%. Hyundai Prescott is lowest at 67.7%.</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85369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LABOR GROSS PROFIT %</a:t>
            </a:r>
            <a:endParaRPr lang="en-US" sz="1500" dirty="0"/>
          </a:p>
        </p:txBody>
      </p:sp>
      <p:sp>
        <p:nvSpPr>
          <p:cNvPr id="9" name="Text 7"/>
          <p:cNvSpPr txBox="1"/>
          <p:nvPr/>
        </p:nvSpPr>
        <p:spPr>
          <a:xfrm>
            <a:off x="3768090" y="1335024"/>
            <a:ext cx="427863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A82B26"/>
                </a:solidFill>
                <a:latin typeface="Inter" pitchFamily="34" charset="0"/>
                <a:ea typeface="Inter" pitchFamily="34" charset="-122"/>
                <a:cs typeface="Inter" pitchFamily="34" charset="-120"/>
              </a:rPr>
              <a:t>−0.1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3" name="Shape 11"/>
          <p:cNvSpPr/>
          <p:nvPr/>
        </p:nvSpPr>
        <p:spPr>
          <a:xfrm>
            <a:off x="3785616" y="1911860"/>
            <a:ext cx="691707"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+4.6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7" name="Shape 15"/>
          <p:cNvSpPr/>
          <p:nvPr/>
        </p:nvSpPr>
        <p:spPr>
          <a:xfrm>
            <a:off x="3785616" y="2151755"/>
            <a:ext cx="676962"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+4.5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21" name="Shape 19"/>
          <p:cNvSpPr/>
          <p:nvPr/>
        </p:nvSpPr>
        <p:spPr>
          <a:xfrm>
            <a:off x="3785616" y="2391651"/>
            <a:ext cx="441336"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+2.9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25" name="Shape 23"/>
          <p:cNvSpPr/>
          <p:nvPr/>
        </p:nvSpPr>
        <p:spPr>
          <a:xfrm>
            <a:off x="3785616" y="2631546"/>
            <a:ext cx="401674"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+2.7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29" name="Shape 27"/>
          <p:cNvSpPr/>
          <p:nvPr/>
        </p:nvSpPr>
        <p:spPr>
          <a:xfrm>
            <a:off x="3785616" y="2871442"/>
            <a:ext cx="221069"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+1.5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33" name="Shape 31"/>
          <p:cNvSpPr/>
          <p:nvPr/>
        </p:nvSpPr>
        <p:spPr>
          <a:xfrm>
            <a:off x="3785616" y="3111337"/>
            <a:ext cx="215430"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+1.4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37" name="Shape 35"/>
          <p:cNvSpPr/>
          <p:nvPr/>
        </p:nvSpPr>
        <p:spPr>
          <a:xfrm>
            <a:off x="3785616" y="3351233"/>
            <a:ext cx="187291"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41" name="Shape 39"/>
          <p:cNvSpPr/>
          <p:nvPr/>
        </p:nvSpPr>
        <p:spPr>
          <a:xfrm>
            <a:off x="3785616" y="3591128"/>
            <a:ext cx="180791"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5" name="Shape 43"/>
          <p:cNvSpPr/>
          <p:nvPr/>
        </p:nvSpPr>
        <p:spPr>
          <a:xfrm>
            <a:off x="3785616" y="3831024"/>
            <a:ext cx="153665"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49" name="Shape 47"/>
          <p:cNvSpPr/>
          <p:nvPr/>
        </p:nvSpPr>
        <p:spPr>
          <a:xfrm>
            <a:off x="3785616" y="4070920"/>
            <a:ext cx="142638"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+0.9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53" name="Shape 51"/>
          <p:cNvSpPr/>
          <p:nvPr/>
        </p:nvSpPr>
        <p:spPr>
          <a:xfrm>
            <a:off x="3785616" y="4310815"/>
            <a:ext cx="117720"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+0.8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57" name="Shape 55"/>
          <p:cNvSpPr/>
          <p:nvPr/>
        </p:nvSpPr>
        <p:spPr>
          <a:xfrm>
            <a:off x="3785616" y="4550711"/>
            <a:ext cx="83963"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+0.6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61" name="Shape 59"/>
          <p:cNvSpPr/>
          <p:nvPr/>
        </p:nvSpPr>
        <p:spPr>
          <a:xfrm>
            <a:off x="3785616" y="4790606"/>
            <a:ext cx="57218"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+0.4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65" name="Shape 63"/>
          <p:cNvSpPr/>
          <p:nvPr/>
        </p:nvSpPr>
        <p:spPr>
          <a:xfrm>
            <a:off x="3785616" y="5030502"/>
            <a:ext cx="57154"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+0.4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69" name="Shape 67"/>
          <p:cNvSpPr/>
          <p:nvPr/>
        </p:nvSpPr>
        <p:spPr>
          <a:xfrm>
            <a:off x="3785616" y="5270397"/>
            <a:ext cx="52024"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+0.3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73" name="Shape 71"/>
          <p:cNvSpPr/>
          <p:nvPr/>
        </p:nvSpPr>
        <p:spPr>
          <a:xfrm>
            <a:off x="3785616" y="5510293"/>
            <a:ext cx="45633"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+0.3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77" name="Shape 75"/>
          <p:cNvSpPr/>
          <p:nvPr/>
        </p:nvSpPr>
        <p:spPr>
          <a:xfrm>
            <a:off x="3785616" y="5750188"/>
            <a:ext cx="32937"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81" name="Shape 79"/>
          <p:cNvSpPr/>
          <p:nvPr/>
        </p:nvSpPr>
        <p:spPr>
          <a:xfrm>
            <a:off x="9336024" y="1911860"/>
            <a:ext cx="29184"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85" name="Shape 83"/>
          <p:cNvSpPr/>
          <p:nvPr/>
        </p:nvSpPr>
        <p:spPr>
          <a:xfrm>
            <a:off x="9336024" y="2151755"/>
            <a:ext cx="28495"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9" name="Shape 87"/>
          <p:cNvSpPr/>
          <p:nvPr/>
        </p:nvSpPr>
        <p:spPr>
          <a:xfrm>
            <a:off x="9336024" y="2391651"/>
            <a:ext cx="17499"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+0.1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93" name="Shape 91"/>
          <p:cNvSpPr/>
          <p:nvPr/>
        </p:nvSpPr>
        <p:spPr>
          <a:xfrm>
            <a:off x="9297900" y="2631546"/>
            <a:ext cx="38124" cy="110352"/>
          </a:xfrm>
          <a:prstGeom prst="rect">
            <a:avLst/>
          </a:prstGeom>
          <a:solidFill>
            <a:srgbClr val="C2352F"/>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−0.3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97" name="Shape 95"/>
          <p:cNvSpPr/>
          <p:nvPr/>
        </p:nvSpPr>
        <p:spPr>
          <a:xfrm>
            <a:off x="9284469" y="2871442"/>
            <a:ext cx="51555" cy="110352"/>
          </a:xfrm>
          <a:prstGeom prst="rect">
            <a:avLst/>
          </a:prstGeom>
          <a:solidFill>
            <a:srgbClr val="C2352F"/>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−0.3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01" name="Shape 99"/>
          <p:cNvSpPr/>
          <p:nvPr/>
        </p:nvSpPr>
        <p:spPr>
          <a:xfrm>
            <a:off x="9266787" y="3111337"/>
            <a:ext cx="69237" cy="110352"/>
          </a:xfrm>
          <a:prstGeom prst="rect">
            <a:avLst/>
          </a:prstGeom>
          <a:solidFill>
            <a:srgbClr val="C2352F"/>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−0.5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05" name="Shape 103"/>
          <p:cNvSpPr/>
          <p:nvPr/>
        </p:nvSpPr>
        <p:spPr>
          <a:xfrm>
            <a:off x="9218285" y="3351233"/>
            <a:ext cx="117739" cy="110352"/>
          </a:xfrm>
          <a:prstGeom prst="rect">
            <a:avLst/>
          </a:prstGeom>
          <a:solidFill>
            <a:srgbClr val="C2352F"/>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−0.8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09" name="Shape 107"/>
          <p:cNvSpPr/>
          <p:nvPr/>
        </p:nvSpPr>
        <p:spPr>
          <a:xfrm>
            <a:off x="9176624" y="3591128"/>
            <a:ext cx="159400" cy="110352"/>
          </a:xfrm>
          <a:prstGeom prst="rect">
            <a:avLst/>
          </a:prstGeom>
          <a:solidFill>
            <a:srgbClr val="C2352F"/>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−1.1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13" name="Shape 111"/>
          <p:cNvSpPr/>
          <p:nvPr/>
        </p:nvSpPr>
        <p:spPr>
          <a:xfrm>
            <a:off x="9124906" y="3831024"/>
            <a:ext cx="211118" cy="110352"/>
          </a:xfrm>
          <a:prstGeom prst="rect">
            <a:avLst/>
          </a:prstGeom>
          <a:solidFill>
            <a:srgbClr val="C2352F"/>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17" name="Shape 115"/>
          <p:cNvSpPr/>
          <p:nvPr/>
        </p:nvSpPr>
        <p:spPr>
          <a:xfrm>
            <a:off x="9120348" y="4070920"/>
            <a:ext cx="215676" cy="110352"/>
          </a:xfrm>
          <a:prstGeom prst="rect">
            <a:avLst/>
          </a:prstGeom>
          <a:solidFill>
            <a:srgbClr val="C2352F"/>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−1.4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21" name="Shape 119"/>
          <p:cNvSpPr/>
          <p:nvPr/>
        </p:nvSpPr>
        <p:spPr>
          <a:xfrm>
            <a:off x="9112792" y="4310815"/>
            <a:ext cx="223232" cy="110352"/>
          </a:xfrm>
          <a:prstGeom prst="rect">
            <a:avLst/>
          </a:prstGeom>
          <a:solidFill>
            <a:srgbClr val="C2352F"/>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−1.5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25" name="Shape 123"/>
          <p:cNvSpPr/>
          <p:nvPr/>
        </p:nvSpPr>
        <p:spPr>
          <a:xfrm>
            <a:off x="9036343" y="4550711"/>
            <a:ext cx="299681"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29" name="Shape 127"/>
          <p:cNvSpPr/>
          <p:nvPr/>
        </p:nvSpPr>
        <p:spPr>
          <a:xfrm>
            <a:off x="9033651" y="4790606"/>
            <a:ext cx="302373"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−2.0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33" name="Shape 131"/>
          <p:cNvSpPr/>
          <p:nvPr/>
        </p:nvSpPr>
        <p:spPr>
          <a:xfrm>
            <a:off x="8896902" y="5030502"/>
            <a:ext cx="439122"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−2.9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37" name="Shape 135"/>
          <p:cNvSpPr/>
          <p:nvPr/>
        </p:nvSpPr>
        <p:spPr>
          <a:xfrm>
            <a:off x="8634430" y="5270397"/>
            <a:ext cx="701594"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−4.7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41" name="Shape 139"/>
          <p:cNvSpPr/>
          <p:nvPr/>
        </p:nvSpPr>
        <p:spPr>
          <a:xfrm>
            <a:off x="8558784" y="5510293"/>
            <a:ext cx="777240"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−5.2 pts</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615696"/>
          </a:xfrm>
          <a:prstGeom prst="rect">
            <a:avLst/>
          </a:prstGeom>
          <a:solidFill>
            <a:srgbClr val="FBEBEA"/>
          </a:solidFill>
          <a:ln/>
        </p:spPr>
      </p:sp>
      <p:sp>
        <p:nvSpPr>
          <p:cNvPr id="147" name="Text 14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20 of 33 stores improved labor margin, led by Toyota Prescott at +4.6 pts to 78.5%. 13 declined; Hyundai Prescott fell most at −5.2 pts.</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Text 8"/>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78.5%</a:t>
            </a:r>
            <a:endParaRPr lang="en-US" sz="1400" dirty="0"/>
          </a:p>
        </p:txBody>
      </p:sp>
      <p:sp>
        <p:nvSpPr>
          <p:cNvPr id="12" name="Text 10"/>
          <p:cNvSpPr txBox="1"/>
          <p:nvPr/>
        </p:nvSpPr>
        <p:spPr>
          <a:xfrm>
            <a:off x="2941320"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+4.6 pts</a:t>
            </a:r>
            <a:endParaRPr lang="en-US" sz="1600" dirty="0"/>
          </a:p>
        </p:txBody>
      </p:sp>
      <p:sp>
        <p:nvSpPr>
          <p:cNvPr id="13" name="Text 11"/>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79.8%</a:t>
            </a:r>
            <a:endParaRPr lang="en-US" sz="1400" dirty="0"/>
          </a:p>
        </p:txBody>
      </p:sp>
      <p:sp>
        <p:nvSpPr>
          <p:cNvPr id="15" name="Text 13"/>
          <p:cNvSpPr txBox="1"/>
          <p:nvPr/>
        </p:nvSpPr>
        <p:spPr>
          <a:xfrm>
            <a:off x="2941320"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+4.5 pts</a:t>
            </a:r>
            <a:endParaRPr lang="en-US" sz="1600" dirty="0"/>
          </a:p>
        </p:txBody>
      </p:sp>
      <p:sp>
        <p:nvSpPr>
          <p:cNvPr id="16" name="Shape 14"/>
          <p:cNvSpPr/>
          <p:nvPr/>
        </p:nvSpPr>
        <p:spPr>
          <a:xfrm>
            <a:off x="658368" y="3613709"/>
            <a:ext cx="3489960" cy="755294"/>
          </a:xfrm>
          <a:prstGeom prst="rect">
            <a:avLst/>
          </a:prstGeom>
          <a:solidFill>
            <a:srgbClr val="F7F7F7"/>
          </a:solidFill>
          <a:ln/>
        </p:spPr>
      </p:sp>
      <p:sp>
        <p:nvSpPr>
          <p:cNvPr id="17" name="Text 15"/>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8" name="Text 16"/>
          <p:cNvSpPr txBox="1"/>
          <p:nvPr/>
        </p:nvSpPr>
        <p:spPr>
          <a:xfrm>
            <a:off x="1097280"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79.4%</a:t>
            </a:r>
            <a:endParaRPr lang="en-US" sz="1400" dirty="0"/>
          </a:p>
        </p:txBody>
      </p:sp>
      <p:sp>
        <p:nvSpPr>
          <p:cNvPr id="19" name="Text 17"/>
          <p:cNvSpPr txBox="1"/>
          <p:nvPr/>
        </p:nvSpPr>
        <p:spPr>
          <a:xfrm>
            <a:off x="2941320"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 pts</a:t>
            </a:r>
            <a:endParaRPr lang="en-US" sz="1600" dirty="0"/>
          </a:p>
        </p:txBody>
      </p:sp>
      <p:sp>
        <p:nvSpPr>
          <p:cNvPr id="20" name="Text 18"/>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1" name="Text 19"/>
          <p:cNvSpPr txBox="1"/>
          <p:nvPr/>
        </p:nvSpPr>
        <p:spPr>
          <a:xfrm>
            <a:off x="1097280"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80.5%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83.2%</a:t>
            </a:r>
            <a:endParaRPr lang="en-US" sz="1400" dirty="0"/>
          </a:p>
        </p:txBody>
      </p:sp>
      <p:sp>
        <p:nvSpPr>
          <p:cNvPr id="22" name="Text 20"/>
          <p:cNvSpPr txBox="1"/>
          <p:nvPr/>
        </p:nvSpPr>
        <p:spPr>
          <a:xfrm>
            <a:off x="2941320"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+2.7 pts</a:t>
            </a:r>
            <a:endParaRPr lang="en-US" sz="1600" dirty="0"/>
          </a:p>
        </p:txBody>
      </p:sp>
      <p:sp>
        <p:nvSpPr>
          <p:cNvPr id="23" name="Shape 21"/>
          <p:cNvSpPr/>
          <p:nvPr/>
        </p:nvSpPr>
        <p:spPr>
          <a:xfrm>
            <a:off x="658368" y="5124298"/>
            <a:ext cx="3489960" cy="755294"/>
          </a:xfrm>
          <a:prstGeom prst="rect">
            <a:avLst/>
          </a:prstGeom>
          <a:solidFill>
            <a:srgbClr val="F7F7F7"/>
          </a:solidFill>
          <a:ln/>
        </p:spPr>
      </p:sp>
      <p:sp>
        <p:nvSpPr>
          <p:cNvPr id="24" name="Text 22"/>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5" name="Text 23"/>
          <p:cNvSpPr txBox="1"/>
          <p:nvPr/>
        </p:nvSpPr>
        <p:spPr>
          <a:xfrm>
            <a:off x="1097280"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79.3%</a:t>
            </a:r>
            <a:endParaRPr lang="en-US" sz="1400" dirty="0"/>
          </a:p>
        </p:txBody>
      </p:sp>
      <p:sp>
        <p:nvSpPr>
          <p:cNvPr id="26" name="Text 24"/>
          <p:cNvSpPr txBox="1"/>
          <p:nvPr/>
        </p:nvSpPr>
        <p:spPr>
          <a:xfrm>
            <a:off x="2941320"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 pts</a:t>
            </a:r>
            <a:endParaRPr lang="en-US" sz="1600" dirty="0"/>
          </a:p>
        </p:txBody>
      </p:sp>
      <p:sp>
        <p:nvSpPr>
          <p:cNvPr id="27" name="Shape 25"/>
          <p:cNvSpPr/>
          <p:nvPr/>
        </p:nvSpPr>
        <p:spPr>
          <a:xfrm>
            <a:off x="4349496" y="1371600"/>
            <a:ext cx="3489960" cy="45720"/>
          </a:xfrm>
          <a:prstGeom prst="rect">
            <a:avLst/>
          </a:prstGeom>
          <a:solidFill>
            <a:srgbClr val="C2352F"/>
          </a:solidFill>
          <a:ln/>
        </p:spPr>
      </p:sp>
      <p:sp>
        <p:nvSpPr>
          <p:cNvPr id="28"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29" name="Text 27"/>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30" name="Shape 28"/>
          <p:cNvSpPr/>
          <p:nvPr/>
        </p:nvSpPr>
        <p:spPr>
          <a:xfrm>
            <a:off x="4349496" y="2103120"/>
            <a:ext cx="3489960" cy="755294"/>
          </a:xfrm>
          <a:prstGeom prst="rect">
            <a:avLst/>
          </a:prstGeom>
          <a:solidFill>
            <a:srgbClr val="F7F7F7"/>
          </a:solidFill>
          <a:ln/>
        </p:spPr>
      </p:sp>
      <p:sp>
        <p:nvSpPr>
          <p:cNvPr id="31" name="Text 29"/>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2" name="Text 30"/>
          <p:cNvSpPr txBox="1"/>
          <p:nvPr/>
        </p:nvSpPr>
        <p:spPr>
          <a:xfrm>
            <a:off x="4788408"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67.7%</a:t>
            </a:r>
            <a:endParaRPr lang="en-US" sz="1400" dirty="0"/>
          </a:p>
        </p:txBody>
      </p:sp>
      <p:sp>
        <p:nvSpPr>
          <p:cNvPr id="33" name="Text 31"/>
          <p:cNvSpPr txBox="1"/>
          <p:nvPr/>
        </p:nvSpPr>
        <p:spPr>
          <a:xfrm>
            <a:off x="6632448" y="2103120"/>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−5.2 pts</a:t>
            </a:r>
            <a:endParaRPr lang="en-US" sz="1600" dirty="0"/>
          </a:p>
        </p:txBody>
      </p:sp>
      <p:sp>
        <p:nvSpPr>
          <p:cNvPr id="34" name="Text 32"/>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5" name="Text 33"/>
          <p:cNvSpPr txBox="1"/>
          <p:nvPr/>
        </p:nvSpPr>
        <p:spPr>
          <a:xfrm>
            <a:off x="4788408"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72.2%</a:t>
            </a:r>
            <a:endParaRPr lang="en-US" sz="1400" dirty="0"/>
          </a:p>
        </p:txBody>
      </p:sp>
      <p:sp>
        <p:nvSpPr>
          <p:cNvPr id="36" name="Text 34"/>
          <p:cNvSpPr txBox="1"/>
          <p:nvPr/>
        </p:nvSpPr>
        <p:spPr>
          <a:xfrm>
            <a:off x="6632448" y="2858414"/>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−4.7 pts</a:t>
            </a:r>
            <a:endParaRPr lang="en-US" sz="1600" dirty="0"/>
          </a:p>
        </p:txBody>
      </p:sp>
      <p:sp>
        <p:nvSpPr>
          <p:cNvPr id="37" name="Shape 35"/>
          <p:cNvSpPr/>
          <p:nvPr/>
        </p:nvSpPr>
        <p:spPr>
          <a:xfrm>
            <a:off x="4349496" y="3613709"/>
            <a:ext cx="3489960" cy="755294"/>
          </a:xfrm>
          <a:prstGeom prst="rect">
            <a:avLst/>
          </a:prstGeom>
          <a:solidFill>
            <a:srgbClr val="F7F7F7"/>
          </a:solidFill>
          <a:ln/>
        </p:spPr>
      </p:sp>
      <p:sp>
        <p:nvSpPr>
          <p:cNvPr id="38" name="Text 36"/>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39" name="Text 37"/>
          <p:cNvSpPr txBox="1"/>
          <p:nvPr/>
        </p:nvSpPr>
        <p:spPr>
          <a:xfrm>
            <a:off x="4788408"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81.7%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78.8%</a:t>
            </a:r>
            <a:endParaRPr lang="en-US" sz="1400" dirty="0"/>
          </a:p>
        </p:txBody>
      </p:sp>
      <p:sp>
        <p:nvSpPr>
          <p:cNvPr id="40" name="Text 38"/>
          <p:cNvSpPr txBox="1"/>
          <p:nvPr/>
        </p:nvSpPr>
        <p:spPr>
          <a:xfrm>
            <a:off x="6632448" y="3613709"/>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−2.9 pts</a:t>
            </a:r>
            <a:endParaRPr lang="en-US" sz="1600" dirty="0"/>
          </a:p>
        </p:txBody>
      </p:sp>
      <p:sp>
        <p:nvSpPr>
          <p:cNvPr id="41" name="Text 39"/>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2" name="Text 40"/>
          <p:cNvSpPr txBox="1"/>
          <p:nvPr/>
        </p:nvSpPr>
        <p:spPr>
          <a:xfrm>
            <a:off x="4788408"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73.9%</a:t>
            </a:r>
            <a:endParaRPr lang="en-US" sz="1400" dirty="0"/>
          </a:p>
        </p:txBody>
      </p:sp>
      <p:sp>
        <p:nvSpPr>
          <p:cNvPr id="43" name="Text 41"/>
          <p:cNvSpPr txBox="1"/>
          <p:nvPr/>
        </p:nvSpPr>
        <p:spPr>
          <a:xfrm>
            <a:off x="6632448" y="4369003"/>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−2.0 pts</a:t>
            </a:r>
            <a:endParaRPr lang="en-US" sz="1600" dirty="0"/>
          </a:p>
        </p:txBody>
      </p:sp>
      <p:sp>
        <p:nvSpPr>
          <p:cNvPr id="44" name="Shape 42"/>
          <p:cNvSpPr/>
          <p:nvPr/>
        </p:nvSpPr>
        <p:spPr>
          <a:xfrm>
            <a:off x="4349496" y="5124298"/>
            <a:ext cx="3489960" cy="755294"/>
          </a:xfrm>
          <a:prstGeom prst="rect">
            <a:avLst/>
          </a:prstGeom>
          <a:solidFill>
            <a:srgbClr val="F7F7F7"/>
          </a:solidFill>
          <a:ln/>
        </p:spPr>
      </p:sp>
      <p:sp>
        <p:nvSpPr>
          <p:cNvPr id="45" name="Text 43"/>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6" name="Text 44"/>
          <p:cNvSpPr txBox="1"/>
          <p:nvPr/>
        </p:nvSpPr>
        <p:spPr>
          <a:xfrm>
            <a:off x="4788408"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84.9%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82.9%</a:t>
            </a:r>
            <a:endParaRPr lang="en-US" sz="1400" dirty="0"/>
          </a:p>
        </p:txBody>
      </p:sp>
      <p:sp>
        <p:nvSpPr>
          <p:cNvPr id="47" name="Text 45"/>
          <p:cNvSpPr txBox="1"/>
          <p:nvPr/>
        </p:nvSpPr>
        <p:spPr>
          <a:xfrm>
            <a:off x="6632448" y="5124298"/>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−2.0 pts</a:t>
            </a:r>
            <a:endParaRPr lang="en-US" sz="1600" dirty="0"/>
          </a:p>
        </p:txBody>
      </p:sp>
      <p:sp>
        <p:nvSpPr>
          <p:cNvPr id="48" name="Shape 46"/>
          <p:cNvSpPr/>
          <p:nvPr/>
        </p:nvSpPr>
        <p:spPr>
          <a:xfrm>
            <a:off x="8040624" y="1371600"/>
            <a:ext cx="3489960" cy="45720"/>
          </a:xfrm>
          <a:prstGeom prst="rect">
            <a:avLst/>
          </a:prstGeom>
          <a:solidFill>
            <a:srgbClr val="2587C5"/>
          </a:solidFill>
          <a:ln/>
        </p:spPr>
      </p:sp>
      <p:sp>
        <p:nvSpPr>
          <p:cNvPr id="49" name="Text 4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0" name="Text 48"/>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a:t>
            </a:r>
            <a:endParaRPr lang="en-US" sz="1200" dirty="0"/>
          </a:p>
        </p:txBody>
      </p:sp>
      <p:sp>
        <p:nvSpPr>
          <p:cNvPr id="51" name="Shape 49"/>
          <p:cNvSpPr/>
          <p:nvPr/>
        </p:nvSpPr>
        <p:spPr>
          <a:xfrm>
            <a:off x="8040624" y="2103120"/>
            <a:ext cx="3489960" cy="755294"/>
          </a:xfrm>
          <a:prstGeom prst="rect">
            <a:avLst/>
          </a:prstGeom>
          <a:solidFill>
            <a:srgbClr val="F7F7F7"/>
          </a:solidFill>
          <a:ln/>
        </p:spPr>
      </p:sp>
      <p:sp>
        <p:nvSpPr>
          <p:cNvPr id="52" name="Text 50"/>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3" name="Text 51"/>
          <p:cNvSpPr txBox="1"/>
          <p:nvPr/>
        </p:nvSpPr>
        <p:spPr>
          <a:xfrm>
            <a:off x="8479536"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81.0%</a:t>
            </a:r>
            <a:endParaRPr lang="en-US" sz="1400" dirty="0"/>
          </a:p>
        </p:txBody>
      </p:sp>
      <p:sp>
        <p:nvSpPr>
          <p:cNvPr id="54" name="Text 52"/>
          <p:cNvSpPr txBox="1"/>
          <p:nvPr/>
        </p:nvSpPr>
        <p:spPr>
          <a:xfrm>
            <a:off x="10323576"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 pts</a:t>
            </a:r>
            <a:endParaRPr lang="en-US" sz="1600" dirty="0"/>
          </a:p>
        </p:txBody>
      </p:sp>
      <p:sp>
        <p:nvSpPr>
          <p:cNvPr id="55" name="Text 53"/>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6" name="Text 54"/>
          <p:cNvSpPr txBox="1"/>
          <p:nvPr/>
        </p:nvSpPr>
        <p:spPr>
          <a:xfrm>
            <a:off x="8479536"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77.2%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80.9%</a:t>
            </a:r>
            <a:endParaRPr lang="en-US" sz="1400" dirty="0"/>
          </a:p>
        </p:txBody>
      </p:sp>
      <p:sp>
        <p:nvSpPr>
          <p:cNvPr id="57" name="Text 55"/>
          <p:cNvSpPr txBox="1"/>
          <p:nvPr/>
        </p:nvSpPr>
        <p:spPr>
          <a:xfrm>
            <a:off x="10323576"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+3.7 pts</a:t>
            </a:r>
            <a:endParaRPr lang="en-US" sz="1600" dirty="0"/>
          </a:p>
        </p:txBody>
      </p:sp>
      <p:sp>
        <p:nvSpPr>
          <p:cNvPr id="58" name="Shape 56"/>
          <p:cNvSpPr/>
          <p:nvPr/>
        </p:nvSpPr>
        <p:spPr>
          <a:xfrm>
            <a:off x="8040624" y="3613709"/>
            <a:ext cx="3489960" cy="755294"/>
          </a:xfrm>
          <a:prstGeom prst="rect">
            <a:avLst/>
          </a:prstGeom>
          <a:solidFill>
            <a:srgbClr val="F7F7F7"/>
          </a:solidFill>
          <a:ln/>
        </p:spPr>
      </p:sp>
      <p:sp>
        <p:nvSpPr>
          <p:cNvPr id="59" name="Text 57"/>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0" name="Text 58"/>
          <p:cNvSpPr txBox="1"/>
          <p:nvPr/>
        </p:nvSpPr>
        <p:spPr>
          <a:xfrm>
            <a:off x="8479536"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80.5%</a:t>
            </a:r>
            <a:endParaRPr lang="en-US" sz="1400" dirty="0"/>
          </a:p>
        </p:txBody>
      </p:sp>
      <p:sp>
        <p:nvSpPr>
          <p:cNvPr id="61" name="Text 59"/>
          <p:cNvSpPr txBox="1"/>
          <p:nvPr/>
        </p:nvSpPr>
        <p:spPr>
          <a:xfrm>
            <a:off x="10323576"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+2.7 pts</a:t>
            </a:r>
            <a:endParaRPr lang="en-US" sz="1600" dirty="0"/>
          </a:p>
        </p:txBody>
      </p:sp>
      <p:sp>
        <p:nvSpPr>
          <p:cNvPr id="62" name="Text 60"/>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3" name="Text 61"/>
          <p:cNvSpPr txBox="1"/>
          <p:nvPr/>
        </p:nvSpPr>
        <p:spPr>
          <a:xfrm>
            <a:off x="8479536"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77.9%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79.7%</a:t>
            </a:r>
            <a:endParaRPr lang="en-US" sz="1400" dirty="0"/>
          </a:p>
        </p:txBody>
      </p:sp>
      <p:sp>
        <p:nvSpPr>
          <p:cNvPr id="64" name="Text 62"/>
          <p:cNvSpPr txBox="1"/>
          <p:nvPr/>
        </p:nvSpPr>
        <p:spPr>
          <a:xfrm>
            <a:off x="10323576"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+1.8 pts</a:t>
            </a:r>
            <a:endParaRPr lang="en-US" sz="1600" dirty="0"/>
          </a:p>
        </p:txBody>
      </p:sp>
      <p:sp>
        <p:nvSpPr>
          <p:cNvPr id="65" name="Shape 63"/>
          <p:cNvSpPr/>
          <p:nvPr/>
        </p:nvSpPr>
        <p:spPr>
          <a:xfrm>
            <a:off x="8040624" y="5124298"/>
            <a:ext cx="3489960" cy="755294"/>
          </a:xfrm>
          <a:prstGeom prst="rect">
            <a:avLst/>
          </a:prstGeom>
          <a:solidFill>
            <a:srgbClr val="F7F7F7"/>
          </a:solidFill>
          <a:ln/>
        </p:spPr>
      </p:sp>
      <p:sp>
        <p:nvSpPr>
          <p:cNvPr id="66" name="Text 64"/>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7" name="Text 65"/>
          <p:cNvSpPr txBox="1"/>
          <p:nvPr/>
        </p:nvSpPr>
        <p:spPr>
          <a:xfrm>
            <a:off x="8479536"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85.4%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86.8%</a:t>
            </a:r>
            <a:endParaRPr lang="en-US" sz="1400" dirty="0"/>
          </a:p>
        </p:txBody>
      </p:sp>
      <p:sp>
        <p:nvSpPr>
          <p:cNvPr id="68" name="Text 66"/>
          <p:cNvSpPr txBox="1"/>
          <p:nvPr/>
        </p:nvSpPr>
        <p:spPr>
          <a:xfrm>
            <a:off x="10323576"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 pts</a:t>
            </a:r>
            <a:endParaRPr lang="en-US" sz="1600" dirty="0"/>
          </a:p>
        </p:txBody>
      </p:sp>
      <p:sp>
        <p:nvSpPr>
          <p:cNvPr id="69" name="Shape 67"/>
          <p:cNvSpPr/>
          <p:nvPr/>
        </p:nvSpPr>
        <p:spPr>
          <a:xfrm>
            <a:off x="457200" y="6126480"/>
            <a:ext cx="11274552" cy="600456"/>
          </a:xfrm>
          <a:prstGeom prst="rect">
            <a:avLst/>
          </a:prstGeom>
          <a:solidFill>
            <a:srgbClr val="EDF4FA"/>
          </a:solidFill>
          <a:ln/>
        </p:spPr>
      </p:sp>
      <p:sp>
        <p:nvSpPr>
          <p:cNvPr id="70" name="Text 68"/>
          <p:cNvSpPr txBox="1"/>
          <p:nvPr/>
        </p:nvSpPr>
        <p:spPr>
          <a:xfrm>
            <a:off x="658368" y="6144768"/>
            <a:ext cx="10927080" cy="563880"/>
          </a:xfrm>
          <a:prstGeom prst="rect">
            <a:avLst/>
          </a:prstGeom>
          <a:noFill/>
          <a:ln/>
        </p:spPr>
        <p:txBody>
          <a:bodyPr wrap="square" lIns="0" tIns="0" rIns="0" bIns="0" rtlCol="0" anchor="ctr"/>
          <a:lstStyle/>
          <a:p>
            <a:pPr indent="0" marL="0">
              <a:buNone/>
            </a:pPr>
            <a:r>
              <a:rPr lang="en-US" sz="1550" b="1" dirty="0">
                <a:solidFill>
                  <a:srgbClr val="0B2C4A"/>
                </a:solidFill>
                <a:latin typeface="Inter" pitchFamily="34" charset="0"/>
                <a:ea typeface="Inter" pitchFamily="34" charset="-122"/>
                <a:cs typeface="Inter" pitchFamily="34" charset="-120"/>
              </a:rPr>
              <a:t>Ask Toyota Prescott, Honda Spokane and VW St George what changed. Ask Hyundai Prescott, GMC Prescott and Audi Reno what got in the way. Ask Kia St George, Acura and Cadillac what they started this year.</a:t>
            </a:r>
            <a:endParaRPr lang="en-US" sz="15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39.4%</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40.7%</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+1.2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+3.1%</a:t>
            </a:r>
            <a:endParaRPr lang="en-US" sz="3000" dirty="0"/>
          </a:p>
        </p:txBody>
      </p:sp>
      <p:sp>
        <p:nvSpPr>
          <p:cNvPr id="14" name="Shape 12"/>
          <p:cNvSpPr/>
          <p:nvPr/>
        </p:nvSpPr>
        <p:spPr>
          <a:xfrm>
            <a:off x="457200" y="2322576"/>
            <a:ext cx="11274552" cy="366674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Parts Gross Profit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2"/>
          </a:graphicData>
        </a:graphic>
      </p:graphicFrame>
      <p:graphicFrame>
        <p:nvGraphicFramePr>
          <p:cNvPr id="19" name="Chart 2"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3"/>
          </a:graphicData>
        </a:graphic>
      </p:graphicFrame>
      <p:graphicFrame>
        <p:nvGraphicFramePr>
          <p:cNvPr id="20" name="Chart 3" descr=""/>
          <p:cNvGraphicFramePr/>
          <p:nvPr/>
        </p:nvGraphicFramePr>
        <p:xfrm>
          <a:off x="621792" y="3218688"/>
          <a:ext cx="10945368" cy="2679192"/>
        </p:xfrm>
        <a:graphic xmlns:a="http://schemas.openxmlformats.org/drawingml/2006/main">
          <a:graphicData uri="http://schemas.openxmlformats.org/drawingml/2006/chart">
            <c:chart xmlns:c="http://schemas.openxmlformats.org/drawingml/2006/chart" r:id="rId4"/>
          </a:graphicData>
        </a:graphic>
      </p:graphicFrame>
      <p:sp>
        <p:nvSpPr>
          <p:cNvPr id="21" name="Shape 15"/>
          <p:cNvSpPr/>
          <p:nvPr/>
        </p:nvSpPr>
        <p:spPr>
          <a:xfrm>
            <a:off x="4951476" y="3049524"/>
            <a:ext cx="310896" cy="45720"/>
          </a:xfrm>
          <a:prstGeom prst="rect">
            <a:avLst/>
          </a:prstGeom>
          <a:solidFill>
            <a:srgbClr val="9AA3AD"/>
          </a:solidFill>
          <a:ln/>
        </p:spPr>
      </p:sp>
      <p:sp>
        <p:nvSpPr>
          <p:cNvPr id="22" name="Shape 16"/>
          <p:cNvSpPr/>
          <p:nvPr/>
        </p:nvSpPr>
        <p:spPr>
          <a:xfrm>
            <a:off x="5052060" y="3017520"/>
            <a:ext cx="109728" cy="109728"/>
          </a:xfrm>
          <a:prstGeom prst="ellipse">
            <a:avLst/>
          </a:prstGeom>
          <a:solidFill>
            <a:srgbClr val="9AA3AD"/>
          </a:solidFill>
          <a:ln/>
        </p:spPr>
      </p:sp>
      <p:sp>
        <p:nvSpPr>
          <p:cNvPr id="23"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4" name="Shape 18"/>
          <p:cNvSpPr/>
          <p:nvPr/>
        </p:nvSpPr>
        <p:spPr>
          <a:xfrm>
            <a:off x="6185916" y="3049524"/>
            <a:ext cx="310896" cy="45720"/>
          </a:xfrm>
          <a:prstGeom prst="rect">
            <a:avLst/>
          </a:prstGeom>
          <a:solidFill>
            <a:srgbClr val="2587C5"/>
          </a:solidFill>
          <a:ln/>
        </p:spPr>
      </p:sp>
      <p:sp>
        <p:nvSpPr>
          <p:cNvPr id="25" name="Shape 19"/>
          <p:cNvSpPr/>
          <p:nvPr/>
        </p:nvSpPr>
        <p:spPr>
          <a:xfrm>
            <a:off x="6286500" y="3017520"/>
            <a:ext cx="109728" cy="109728"/>
          </a:xfrm>
          <a:prstGeom prst="ellipse">
            <a:avLst/>
          </a:prstGeom>
          <a:solidFill>
            <a:srgbClr val="2587C5"/>
          </a:solidFill>
          <a:ln/>
        </p:spPr>
      </p:sp>
      <p:sp>
        <p:nvSpPr>
          <p:cNvPr id="26"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7" name="Shape 21"/>
          <p:cNvSpPr/>
          <p:nvPr/>
        </p:nvSpPr>
        <p:spPr>
          <a:xfrm>
            <a:off x="457200" y="6126480"/>
            <a:ext cx="11274552" cy="371856"/>
          </a:xfrm>
          <a:prstGeom prst="rect">
            <a:avLst/>
          </a:prstGeom>
          <a:solidFill>
            <a:srgbClr val="E6F6EE"/>
          </a:solidFill>
          <a:ln/>
        </p:spPr>
      </p:sp>
      <p:sp>
        <p:nvSpPr>
          <p:cNvPr id="28"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1.2 pts to 40.7%, ahead of 2025 in all nine months.</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85369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PARTS GROSS PROFIT %</a:t>
            </a:r>
            <a:endParaRPr lang="en-US" sz="1500" dirty="0"/>
          </a:p>
        </p:txBody>
      </p:sp>
      <p:sp>
        <p:nvSpPr>
          <p:cNvPr id="9" name="Text 7"/>
          <p:cNvSpPr txBox="1"/>
          <p:nvPr/>
        </p:nvSpPr>
        <p:spPr>
          <a:xfrm>
            <a:off x="3768090" y="1335024"/>
            <a:ext cx="427863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40.7%</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3" name="Shape 11"/>
          <p:cNvSpPr/>
          <p:nvPr/>
        </p:nvSpPr>
        <p:spPr>
          <a:xfrm>
            <a:off x="3008376" y="1907062"/>
            <a:ext cx="1691640" cy="119948"/>
          </a:xfrm>
          <a:prstGeom prst="rect">
            <a:avLst/>
          </a:prstGeom>
          <a:solidFill>
            <a:srgbClr val="12A566"/>
          </a:solidFill>
          <a:ln/>
        </p:spPr>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49.0%</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7" name="Shape 15"/>
          <p:cNvSpPr/>
          <p:nvPr/>
        </p:nvSpPr>
        <p:spPr>
          <a:xfrm>
            <a:off x="3008376" y="2146957"/>
            <a:ext cx="1546178" cy="119948"/>
          </a:xfrm>
          <a:prstGeom prst="rect">
            <a:avLst/>
          </a:prstGeom>
          <a:solidFill>
            <a:srgbClr val="12A566"/>
          </a:solidFill>
          <a:ln/>
        </p:spPr>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47.0%</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21" name="Shape 19"/>
          <p:cNvSpPr/>
          <p:nvPr/>
        </p:nvSpPr>
        <p:spPr>
          <a:xfrm>
            <a:off x="3008376" y="2386853"/>
            <a:ext cx="1415979" cy="119948"/>
          </a:xfrm>
          <a:prstGeom prst="rect">
            <a:avLst/>
          </a:prstGeom>
          <a:solidFill>
            <a:srgbClr val="12A566"/>
          </a:solidFill>
          <a:ln/>
        </p:spPr>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45.1%</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25" name="Shape 23"/>
          <p:cNvSpPr/>
          <p:nvPr/>
        </p:nvSpPr>
        <p:spPr>
          <a:xfrm>
            <a:off x="3008376" y="2626748"/>
            <a:ext cx="1398122" cy="119948"/>
          </a:xfrm>
          <a:prstGeom prst="rect">
            <a:avLst/>
          </a:prstGeom>
          <a:solidFill>
            <a:srgbClr val="12A566"/>
          </a:solidFill>
          <a:ln/>
        </p:spPr>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44.9%</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9" name="Shape 27"/>
          <p:cNvSpPr/>
          <p:nvPr/>
        </p:nvSpPr>
        <p:spPr>
          <a:xfrm>
            <a:off x="3008376" y="2866644"/>
            <a:ext cx="1380211" cy="119948"/>
          </a:xfrm>
          <a:prstGeom prst="rect">
            <a:avLst/>
          </a:prstGeom>
          <a:solidFill>
            <a:srgbClr val="12A566"/>
          </a:solidFill>
          <a:ln/>
        </p:spPr>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44.6%</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33" name="Shape 31"/>
          <p:cNvSpPr/>
          <p:nvPr/>
        </p:nvSpPr>
        <p:spPr>
          <a:xfrm>
            <a:off x="3008376" y="3106540"/>
            <a:ext cx="1369862" cy="119948"/>
          </a:xfrm>
          <a:prstGeom prst="rect">
            <a:avLst/>
          </a:prstGeom>
          <a:solidFill>
            <a:srgbClr val="12A566"/>
          </a:solidFill>
          <a:ln/>
        </p:spPr>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44.5%</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37" name="Shape 35"/>
          <p:cNvSpPr/>
          <p:nvPr/>
        </p:nvSpPr>
        <p:spPr>
          <a:xfrm>
            <a:off x="3008376" y="3346435"/>
            <a:ext cx="1307689" cy="119948"/>
          </a:xfrm>
          <a:prstGeom prst="rect">
            <a:avLst/>
          </a:prstGeom>
          <a:solidFill>
            <a:srgbClr val="12A566"/>
          </a:solidFill>
          <a:ln/>
        </p:spPr>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43.6%</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41" name="Shape 39"/>
          <p:cNvSpPr/>
          <p:nvPr/>
        </p:nvSpPr>
        <p:spPr>
          <a:xfrm>
            <a:off x="3008376" y="3586331"/>
            <a:ext cx="1298606" cy="119948"/>
          </a:xfrm>
          <a:prstGeom prst="rect">
            <a:avLst/>
          </a:prstGeom>
          <a:solidFill>
            <a:srgbClr val="12A566"/>
          </a:solidFill>
          <a:ln/>
        </p:spPr>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43.4%</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45" name="Shape 43"/>
          <p:cNvSpPr/>
          <p:nvPr/>
        </p:nvSpPr>
        <p:spPr>
          <a:xfrm>
            <a:off x="3008376" y="3826226"/>
            <a:ext cx="1294422" cy="119948"/>
          </a:xfrm>
          <a:prstGeom prst="rect">
            <a:avLst/>
          </a:prstGeom>
          <a:solidFill>
            <a:srgbClr val="12A566"/>
          </a:solidFill>
          <a:ln/>
        </p:spPr>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43.4%</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49" name="Shape 47"/>
          <p:cNvSpPr/>
          <p:nvPr/>
        </p:nvSpPr>
        <p:spPr>
          <a:xfrm>
            <a:off x="3008376" y="4066122"/>
            <a:ext cx="1271456" cy="119948"/>
          </a:xfrm>
          <a:prstGeom prst="rect">
            <a:avLst/>
          </a:prstGeom>
          <a:solidFill>
            <a:srgbClr val="12A566"/>
          </a:solidFill>
          <a:ln/>
        </p:spPr>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43.1%</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53" name="Shape 51"/>
          <p:cNvSpPr/>
          <p:nvPr/>
        </p:nvSpPr>
        <p:spPr>
          <a:xfrm>
            <a:off x="3008376" y="4306017"/>
            <a:ext cx="1251777" cy="119948"/>
          </a:xfrm>
          <a:prstGeom prst="rect">
            <a:avLst/>
          </a:prstGeom>
          <a:solidFill>
            <a:srgbClr val="12A566"/>
          </a:solidFill>
          <a:ln/>
        </p:spPr>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42.8%</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57" name="Shape 55"/>
          <p:cNvSpPr/>
          <p:nvPr/>
        </p:nvSpPr>
        <p:spPr>
          <a:xfrm>
            <a:off x="3008376" y="4545913"/>
            <a:ext cx="1245672" cy="119948"/>
          </a:xfrm>
          <a:prstGeom prst="rect">
            <a:avLst/>
          </a:prstGeom>
          <a:solidFill>
            <a:srgbClr val="12A566"/>
          </a:solidFill>
          <a:ln/>
        </p:spPr>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42.7%</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61" name="Shape 59"/>
          <p:cNvSpPr/>
          <p:nvPr/>
        </p:nvSpPr>
        <p:spPr>
          <a:xfrm>
            <a:off x="3008376" y="4785808"/>
            <a:ext cx="1233197" cy="119948"/>
          </a:xfrm>
          <a:prstGeom prst="rect">
            <a:avLst/>
          </a:prstGeom>
          <a:solidFill>
            <a:srgbClr val="12A566"/>
          </a:solidFill>
          <a:ln/>
        </p:spPr>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42.5%</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65" name="Shape 63"/>
          <p:cNvSpPr/>
          <p:nvPr/>
        </p:nvSpPr>
        <p:spPr>
          <a:xfrm>
            <a:off x="3008376" y="5025704"/>
            <a:ext cx="1232878" cy="119948"/>
          </a:xfrm>
          <a:prstGeom prst="rect">
            <a:avLst/>
          </a:prstGeom>
          <a:solidFill>
            <a:srgbClr val="12A566"/>
          </a:solidFill>
          <a:ln/>
        </p:spPr>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42.5%</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69" name="Shape 67"/>
          <p:cNvSpPr/>
          <p:nvPr/>
        </p:nvSpPr>
        <p:spPr>
          <a:xfrm>
            <a:off x="3008376" y="5265599"/>
            <a:ext cx="1203401" cy="119948"/>
          </a:xfrm>
          <a:prstGeom prst="rect">
            <a:avLst/>
          </a:prstGeom>
          <a:solidFill>
            <a:srgbClr val="12A566"/>
          </a:solidFill>
          <a:ln/>
        </p:spPr>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42.1%</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73" name="Shape 71"/>
          <p:cNvSpPr/>
          <p:nvPr/>
        </p:nvSpPr>
        <p:spPr>
          <a:xfrm>
            <a:off x="3008376" y="5505495"/>
            <a:ext cx="1188908" cy="119948"/>
          </a:xfrm>
          <a:prstGeom prst="rect">
            <a:avLst/>
          </a:prstGeom>
          <a:solidFill>
            <a:srgbClr val="12A566"/>
          </a:solidFill>
          <a:ln/>
        </p:spPr>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41.9%</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77" name="Shape 75"/>
          <p:cNvSpPr/>
          <p:nvPr/>
        </p:nvSpPr>
        <p:spPr>
          <a:xfrm>
            <a:off x="3008376" y="5745390"/>
            <a:ext cx="1188871" cy="119948"/>
          </a:xfrm>
          <a:prstGeom prst="rect">
            <a:avLst/>
          </a:prstGeom>
          <a:solidFill>
            <a:srgbClr val="12A566"/>
          </a:solidFill>
          <a:ln/>
        </p:spPr>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41.9%</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1" name="Shape 79"/>
          <p:cNvSpPr/>
          <p:nvPr/>
        </p:nvSpPr>
        <p:spPr>
          <a:xfrm>
            <a:off x="8558784" y="1907062"/>
            <a:ext cx="1173558" cy="119948"/>
          </a:xfrm>
          <a:prstGeom prst="rect">
            <a:avLst/>
          </a:prstGeom>
          <a:solidFill>
            <a:srgbClr val="12A566"/>
          </a:solidFill>
          <a:ln/>
        </p:spPr>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41.7%</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85" name="Shape 83"/>
          <p:cNvSpPr/>
          <p:nvPr/>
        </p:nvSpPr>
        <p:spPr>
          <a:xfrm>
            <a:off x="8558784" y="2146957"/>
            <a:ext cx="1128234" cy="119948"/>
          </a:xfrm>
          <a:prstGeom prst="rect">
            <a:avLst/>
          </a:prstGeom>
          <a:solidFill>
            <a:srgbClr val="12A566"/>
          </a:solidFill>
          <a:ln/>
        </p:spPr>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41.0%</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89" name="Shape 87"/>
          <p:cNvSpPr/>
          <p:nvPr/>
        </p:nvSpPr>
        <p:spPr>
          <a:xfrm>
            <a:off x="8558784" y="2386853"/>
            <a:ext cx="1079577" cy="119948"/>
          </a:xfrm>
          <a:prstGeom prst="rect">
            <a:avLst/>
          </a:prstGeom>
          <a:solidFill>
            <a:srgbClr val="C2352F"/>
          </a:solidFill>
          <a:ln/>
        </p:spPr>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40.3%</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93" name="Shape 91"/>
          <p:cNvSpPr/>
          <p:nvPr/>
        </p:nvSpPr>
        <p:spPr>
          <a:xfrm>
            <a:off x="8558784" y="2626748"/>
            <a:ext cx="1071834" cy="119948"/>
          </a:xfrm>
          <a:prstGeom prst="rect">
            <a:avLst/>
          </a:prstGeom>
          <a:solidFill>
            <a:srgbClr val="C2352F"/>
          </a:solidFill>
          <a:ln/>
        </p:spPr>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40.2%</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97" name="Shape 95"/>
          <p:cNvSpPr/>
          <p:nvPr/>
        </p:nvSpPr>
        <p:spPr>
          <a:xfrm>
            <a:off x="8558784" y="2866644"/>
            <a:ext cx="1067637" cy="119948"/>
          </a:xfrm>
          <a:prstGeom prst="rect">
            <a:avLst/>
          </a:prstGeom>
          <a:solidFill>
            <a:srgbClr val="C2352F"/>
          </a:solidFill>
          <a:ln/>
        </p:spPr>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40.2%</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1" name="Shape 99"/>
          <p:cNvSpPr/>
          <p:nvPr/>
        </p:nvSpPr>
        <p:spPr>
          <a:xfrm>
            <a:off x="8558784" y="3106540"/>
            <a:ext cx="1016963" cy="119948"/>
          </a:xfrm>
          <a:prstGeom prst="rect">
            <a:avLst/>
          </a:prstGeom>
          <a:solidFill>
            <a:srgbClr val="C2352F"/>
          </a:solidFill>
          <a:ln/>
        </p:spPr>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39.4%</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05" name="Shape 103"/>
          <p:cNvSpPr/>
          <p:nvPr/>
        </p:nvSpPr>
        <p:spPr>
          <a:xfrm>
            <a:off x="8558784" y="3346435"/>
            <a:ext cx="1011567" cy="119948"/>
          </a:xfrm>
          <a:prstGeom prst="rect">
            <a:avLst/>
          </a:prstGeom>
          <a:solidFill>
            <a:srgbClr val="C2352F"/>
          </a:solidFill>
          <a:ln/>
        </p:spPr>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39.4%</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09" name="Shape 107"/>
          <p:cNvSpPr/>
          <p:nvPr/>
        </p:nvSpPr>
        <p:spPr>
          <a:xfrm>
            <a:off x="8558784" y="3586331"/>
            <a:ext cx="855582" cy="119948"/>
          </a:xfrm>
          <a:prstGeom prst="rect">
            <a:avLst/>
          </a:prstGeom>
          <a:solidFill>
            <a:srgbClr val="C2352F"/>
          </a:solidFill>
          <a:ln/>
        </p:spPr>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37.2%</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13" name="Shape 111"/>
          <p:cNvSpPr/>
          <p:nvPr/>
        </p:nvSpPr>
        <p:spPr>
          <a:xfrm>
            <a:off x="8558784" y="3826226"/>
            <a:ext cx="845078" cy="119948"/>
          </a:xfrm>
          <a:prstGeom prst="rect">
            <a:avLst/>
          </a:prstGeom>
          <a:solidFill>
            <a:srgbClr val="C2352F"/>
          </a:solidFill>
          <a:ln/>
        </p:spPr>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37.0%</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17" name="Shape 115"/>
          <p:cNvSpPr/>
          <p:nvPr/>
        </p:nvSpPr>
        <p:spPr>
          <a:xfrm>
            <a:off x="8558784" y="4066122"/>
            <a:ext cx="843628" cy="119948"/>
          </a:xfrm>
          <a:prstGeom prst="rect">
            <a:avLst/>
          </a:prstGeom>
          <a:solidFill>
            <a:srgbClr val="C2352F"/>
          </a:solidFill>
          <a:ln/>
        </p:spPr>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37.0%</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21" name="Shape 119"/>
          <p:cNvSpPr/>
          <p:nvPr/>
        </p:nvSpPr>
        <p:spPr>
          <a:xfrm>
            <a:off x="8558784" y="4306017"/>
            <a:ext cx="838464" cy="119948"/>
          </a:xfrm>
          <a:prstGeom prst="rect">
            <a:avLst/>
          </a:prstGeom>
          <a:solidFill>
            <a:srgbClr val="C2352F"/>
          </a:solidFill>
          <a:ln/>
        </p:spPr>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36.9%</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25" name="Shape 123"/>
          <p:cNvSpPr/>
          <p:nvPr/>
        </p:nvSpPr>
        <p:spPr>
          <a:xfrm>
            <a:off x="8558784" y="4545913"/>
            <a:ext cx="837243" cy="119948"/>
          </a:xfrm>
          <a:prstGeom prst="rect">
            <a:avLst/>
          </a:prstGeom>
          <a:solidFill>
            <a:srgbClr val="C2352F"/>
          </a:solidFill>
          <a:ln/>
        </p:spPr>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36.9%</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29" name="Shape 127"/>
          <p:cNvSpPr/>
          <p:nvPr/>
        </p:nvSpPr>
        <p:spPr>
          <a:xfrm>
            <a:off x="8558784" y="4785808"/>
            <a:ext cx="785861" cy="119948"/>
          </a:xfrm>
          <a:prstGeom prst="rect">
            <a:avLst/>
          </a:prstGeom>
          <a:solidFill>
            <a:srgbClr val="C2352F"/>
          </a:solidFill>
          <a:ln/>
        </p:spPr>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36.2%</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133" name="Shape 131"/>
          <p:cNvSpPr/>
          <p:nvPr/>
        </p:nvSpPr>
        <p:spPr>
          <a:xfrm>
            <a:off x="8558784" y="5025704"/>
            <a:ext cx="749122" cy="119948"/>
          </a:xfrm>
          <a:prstGeom prst="rect">
            <a:avLst/>
          </a:prstGeom>
          <a:solidFill>
            <a:srgbClr val="C2352F"/>
          </a:solidFill>
          <a:ln/>
        </p:spPr>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35.6%</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37" name="Shape 135"/>
          <p:cNvSpPr/>
          <p:nvPr/>
        </p:nvSpPr>
        <p:spPr>
          <a:xfrm>
            <a:off x="8558784" y="5265599"/>
            <a:ext cx="686949" cy="119948"/>
          </a:xfrm>
          <a:prstGeom prst="rect">
            <a:avLst/>
          </a:prstGeom>
          <a:solidFill>
            <a:srgbClr val="C2352F"/>
          </a:solidFill>
          <a:ln/>
        </p:spPr>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34.8%</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41" name="Shape 139"/>
          <p:cNvSpPr/>
          <p:nvPr/>
        </p:nvSpPr>
        <p:spPr>
          <a:xfrm>
            <a:off x="8558784" y="5505495"/>
            <a:ext cx="608467" cy="119948"/>
          </a:xfrm>
          <a:prstGeom prst="rect">
            <a:avLst/>
          </a:prstGeom>
          <a:solidFill>
            <a:srgbClr val="C2352F"/>
          </a:solidFill>
          <a:ln/>
        </p:spPr>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33.6%</a:t>
            </a:r>
            <a:endParaRPr lang="en-US" sz="1200" dirty="0"/>
          </a:p>
        </p:txBody>
      </p:sp>
      <p:sp>
        <p:nvSpPr>
          <p:cNvPr id="143" name="Shape 141"/>
          <p:cNvSpPr/>
          <p:nvPr/>
        </p:nvSpPr>
        <p:spPr>
          <a:xfrm>
            <a:off x="4104295" y="1847088"/>
            <a:ext cx="14630" cy="4078224"/>
          </a:xfrm>
          <a:prstGeom prst="rect">
            <a:avLst/>
          </a:prstGeom>
          <a:solidFill>
            <a:srgbClr val="0B2C4A"/>
          </a:solidFill>
          <a:ln/>
        </p:spPr>
      </p:sp>
      <p:sp>
        <p:nvSpPr>
          <p:cNvPr id="144" name="Shape 142"/>
          <p:cNvSpPr/>
          <p:nvPr/>
        </p:nvSpPr>
        <p:spPr>
          <a:xfrm>
            <a:off x="9654703" y="1847088"/>
            <a:ext cx="14630" cy="4078224"/>
          </a:xfrm>
          <a:prstGeom prst="rect">
            <a:avLst/>
          </a:prstGeom>
          <a:solidFill>
            <a:srgbClr val="0B2C4A"/>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364236"/>
          </a:xfrm>
          <a:prstGeom prst="rect">
            <a:avLst/>
          </a:prstGeom>
          <a:solidFill>
            <a:srgbClr val="EDF4FA"/>
          </a:solidFill>
          <a:ln/>
        </p:spPr>
      </p:sp>
      <p:sp>
        <p:nvSpPr>
          <p:cNvPr id="147" name="Text 145"/>
          <p:cNvSpPr txBox="1"/>
          <p:nvPr/>
        </p:nvSpPr>
        <p:spPr>
          <a:xfrm>
            <a:off x="658368" y="6144768"/>
            <a:ext cx="10927080" cy="327660"/>
          </a:xfrm>
          <a:prstGeom prst="rect">
            <a:avLst/>
          </a:prstGeom>
          <a:noFill/>
          <a:ln/>
        </p:spPr>
        <p:txBody>
          <a:bodyPr wrap="square" lIns="0" tIns="0" rIns="0" bIns="0" rtlCol="0" anchor="ctr"/>
          <a:lstStyle/>
          <a:p>
            <a:pPr indent="0" marL="0">
              <a:buNone/>
            </a:pPr>
            <a:r>
              <a:rPr lang="en-US" sz="1550" b="1" dirty="0">
                <a:solidFill>
                  <a:srgbClr val="0B2C4A"/>
                </a:solidFill>
                <a:latin typeface="Inter" pitchFamily="34" charset="0"/>
                <a:ea typeface="Inter" pitchFamily="34" charset="-122"/>
                <a:cs typeface="Inter" pitchFamily="34" charset="-120"/>
              </a:rPr>
              <a:t>19 of 33 stores at or above the 40.7% group, led by Lexus at 49.0%. Audi Henderson is lowest at 33.6%.</a:t>
            </a:r>
            <a:endParaRPr lang="en-US" sz="1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85369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PARTS GROSS PROFIT %</a:t>
            </a:r>
            <a:endParaRPr lang="en-US" sz="1500" dirty="0"/>
          </a:p>
        </p:txBody>
      </p:sp>
      <p:sp>
        <p:nvSpPr>
          <p:cNvPr id="9" name="Text 7"/>
          <p:cNvSpPr txBox="1"/>
          <p:nvPr/>
        </p:nvSpPr>
        <p:spPr>
          <a:xfrm>
            <a:off x="3768090" y="1335024"/>
            <a:ext cx="427863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+1.2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3" name="Shape 11"/>
          <p:cNvSpPr/>
          <p:nvPr/>
        </p:nvSpPr>
        <p:spPr>
          <a:xfrm>
            <a:off x="3785616" y="1911860"/>
            <a:ext cx="777240" cy="110352"/>
          </a:xfrm>
          <a:prstGeom prst="rect">
            <a:avLst/>
          </a:prstGeom>
          <a:solidFill>
            <a:srgbClr val="12A566"/>
          </a:solidFill>
          <a:ln/>
        </p:spPr>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+6.1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7" name="Shape 15"/>
          <p:cNvSpPr/>
          <p:nvPr/>
        </p:nvSpPr>
        <p:spPr>
          <a:xfrm>
            <a:off x="3785616" y="2151755"/>
            <a:ext cx="573132" cy="110352"/>
          </a:xfrm>
          <a:prstGeom prst="rect">
            <a:avLst/>
          </a:prstGeom>
          <a:solidFill>
            <a:srgbClr val="12A566"/>
          </a:solidFill>
          <a:ln/>
        </p:spPr>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+4.5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21" name="Shape 19"/>
          <p:cNvSpPr/>
          <p:nvPr/>
        </p:nvSpPr>
        <p:spPr>
          <a:xfrm>
            <a:off x="3785616" y="2391651"/>
            <a:ext cx="483678" cy="110352"/>
          </a:xfrm>
          <a:prstGeom prst="rect">
            <a:avLst/>
          </a:prstGeom>
          <a:solidFill>
            <a:srgbClr val="12A566"/>
          </a:solidFill>
          <a:ln/>
        </p:spPr>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+3.8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25" name="Shape 23"/>
          <p:cNvSpPr/>
          <p:nvPr/>
        </p:nvSpPr>
        <p:spPr>
          <a:xfrm>
            <a:off x="3785616" y="2631546"/>
            <a:ext cx="420710" cy="110352"/>
          </a:xfrm>
          <a:prstGeom prst="rect">
            <a:avLst/>
          </a:prstGeom>
          <a:solidFill>
            <a:srgbClr val="12A566"/>
          </a:solidFill>
          <a:ln/>
        </p:spPr>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9" name="Shape 27"/>
          <p:cNvSpPr/>
          <p:nvPr/>
        </p:nvSpPr>
        <p:spPr>
          <a:xfrm>
            <a:off x="3785616" y="2871442"/>
            <a:ext cx="417523" cy="110352"/>
          </a:xfrm>
          <a:prstGeom prst="rect">
            <a:avLst/>
          </a:prstGeom>
          <a:solidFill>
            <a:srgbClr val="12A566"/>
          </a:solidFill>
          <a:ln/>
        </p:spPr>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+3.3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33" name="Shape 31"/>
          <p:cNvSpPr/>
          <p:nvPr/>
        </p:nvSpPr>
        <p:spPr>
          <a:xfrm>
            <a:off x="3785616" y="3111337"/>
            <a:ext cx="395961" cy="110352"/>
          </a:xfrm>
          <a:prstGeom prst="rect">
            <a:avLst/>
          </a:prstGeom>
          <a:solidFill>
            <a:srgbClr val="12A566"/>
          </a:solidFill>
          <a:ln/>
        </p:spPr>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+3.1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37" name="Shape 35"/>
          <p:cNvSpPr/>
          <p:nvPr/>
        </p:nvSpPr>
        <p:spPr>
          <a:xfrm>
            <a:off x="3785616" y="3351233"/>
            <a:ext cx="371787" cy="110352"/>
          </a:xfrm>
          <a:prstGeom prst="rect">
            <a:avLst/>
          </a:prstGeom>
          <a:solidFill>
            <a:srgbClr val="12A566"/>
          </a:solidFill>
          <a:ln/>
        </p:spPr>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+2.9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41" name="Shape 39"/>
          <p:cNvSpPr/>
          <p:nvPr/>
        </p:nvSpPr>
        <p:spPr>
          <a:xfrm>
            <a:off x="3785616" y="3591128"/>
            <a:ext cx="353624" cy="110352"/>
          </a:xfrm>
          <a:prstGeom prst="rect">
            <a:avLst/>
          </a:prstGeom>
          <a:solidFill>
            <a:srgbClr val="12A566"/>
          </a:solidFill>
          <a:ln/>
        </p:spPr>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+2.8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45" name="Shape 43"/>
          <p:cNvSpPr/>
          <p:nvPr/>
        </p:nvSpPr>
        <p:spPr>
          <a:xfrm>
            <a:off x="3785616" y="3831024"/>
            <a:ext cx="313112" cy="110352"/>
          </a:xfrm>
          <a:prstGeom prst="rect">
            <a:avLst/>
          </a:prstGeom>
          <a:solidFill>
            <a:srgbClr val="12A566"/>
          </a:solidFill>
          <a:ln/>
        </p:spPr>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+2.5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49" name="Shape 47"/>
          <p:cNvSpPr/>
          <p:nvPr/>
        </p:nvSpPr>
        <p:spPr>
          <a:xfrm>
            <a:off x="3785616" y="4070920"/>
            <a:ext cx="287712" cy="110352"/>
          </a:xfrm>
          <a:prstGeom prst="rect">
            <a:avLst/>
          </a:prstGeom>
          <a:solidFill>
            <a:srgbClr val="12A566"/>
          </a:solidFill>
          <a:ln/>
        </p:spPr>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+2.3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53" name="Shape 51"/>
          <p:cNvSpPr/>
          <p:nvPr/>
        </p:nvSpPr>
        <p:spPr>
          <a:xfrm>
            <a:off x="3785616" y="4310815"/>
            <a:ext cx="242579" cy="110352"/>
          </a:xfrm>
          <a:prstGeom prst="rect">
            <a:avLst/>
          </a:prstGeom>
          <a:solidFill>
            <a:srgbClr val="12A566"/>
          </a:solidFill>
          <a:ln/>
        </p:spPr>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+1.9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57" name="Shape 55"/>
          <p:cNvSpPr/>
          <p:nvPr/>
        </p:nvSpPr>
        <p:spPr>
          <a:xfrm>
            <a:off x="3785616" y="4550711"/>
            <a:ext cx="227731" cy="110352"/>
          </a:xfrm>
          <a:prstGeom prst="rect">
            <a:avLst/>
          </a:prstGeom>
          <a:solidFill>
            <a:srgbClr val="12A566"/>
          </a:solidFill>
          <a:ln/>
        </p:spPr>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+1.8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61" name="Shape 59"/>
          <p:cNvSpPr/>
          <p:nvPr/>
        </p:nvSpPr>
        <p:spPr>
          <a:xfrm>
            <a:off x="3785616" y="4790606"/>
            <a:ext cx="221497" cy="110352"/>
          </a:xfrm>
          <a:prstGeom prst="rect">
            <a:avLst/>
          </a:prstGeom>
          <a:solidFill>
            <a:srgbClr val="12A566"/>
          </a:solidFill>
          <a:ln/>
        </p:spPr>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+1.7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65" name="Shape 63"/>
          <p:cNvSpPr/>
          <p:nvPr/>
        </p:nvSpPr>
        <p:spPr>
          <a:xfrm>
            <a:off x="3785616" y="5030502"/>
            <a:ext cx="165406" cy="110352"/>
          </a:xfrm>
          <a:prstGeom prst="rect">
            <a:avLst/>
          </a:prstGeom>
          <a:solidFill>
            <a:srgbClr val="12A566"/>
          </a:solidFill>
          <a:ln/>
        </p:spPr>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+1.3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69" name="Shape 67"/>
          <p:cNvSpPr/>
          <p:nvPr/>
        </p:nvSpPr>
        <p:spPr>
          <a:xfrm>
            <a:off x="3785616" y="5270397"/>
            <a:ext cx="157298" cy="110352"/>
          </a:xfrm>
          <a:prstGeom prst="rect">
            <a:avLst/>
          </a:prstGeom>
          <a:solidFill>
            <a:srgbClr val="12A566"/>
          </a:solidFill>
          <a:ln/>
        </p:spPr>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+1.2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73" name="Shape 71"/>
          <p:cNvSpPr/>
          <p:nvPr/>
        </p:nvSpPr>
        <p:spPr>
          <a:xfrm>
            <a:off x="3785616" y="5510293"/>
            <a:ext cx="131996" cy="110352"/>
          </a:xfrm>
          <a:prstGeom prst="rect">
            <a:avLst/>
          </a:prstGeom>
          <a:solidFill>
            <a:srgbClr val="12A566"/>
          </a:solidFill>
          <a:ln/>
        </p:spPr>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77" name="Shape 75"/>
          <p:cNvSpPr/>
          <p:nvPr/>
        </p:nvSpPr>
        <p:spPr>
          <a:xfrm>
            <a:off x="3785616" y="5750188"/>
            <a:ext cx="122499" cy="110352"/>
          </a:xfrm>
          <a:prstGeom prst="rect">
            <a:avLst/>
          </a:prstGeom>
          <a:solidFill>
            <a:srgbClr val="12A566"/>
          </a:solidFill>
          <a:ln/>
        </p:spPr>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81" name="Shape 79"/>
          <p:cNvSpPr/>
          <p:nvPr/>
        </p:nvSpPr>
        <p:spPr>
          <a:xfrm>
            <a:off x="9336024" y="1911860"/>
            <a:ext cx="121330" cy="110352"/>
          </a:xfrm>
          <a:prstGeom prst="rect">
            <a:avLst/>
          </a:prstGeom>
          <a:solidFill>
            <a:srgbClr val="12A566"/>
          </a:solidFill>
          <a:ln/>
        </p:spPr>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85" name="Shape 83"/>
          <p:cNvSpPr/>
          <p:nvPr/>
        </p:nvSpPr>
        <p:spPr>
          <a:xfrm>
            <a:off x="9336024" y="2151755"/>
            <a:ext cx="105056" cy="110352"/>
          </a:xfrm>
          <a:prstGeom prst="rect">
            <a:avLst/>
          </a:prstGeom>
          <a:solidFill>
            <a:srgbClr val="12A566"/>
          </a:solidFill>
          <a:ln/>
        </p:spPr>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+0.8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89" name="Shape 87"/>
          <p:cNvSpPr/>
          <p:nvPr/>
        </p:nvSpPr>
        <p:spPr>
          <a:xfrm>
            <a:off x="9336024" y="2391651"/>
            <a:ext cx="97329" cy="110352"/>
          </a:xfrm>
          <a:prstGeom prst="rect">
            <a:avLst/>
          </a:prstGeom>
          <a:solidFill>
            <a:srgbClr val="12A566"/>
          </a:solidFill>
          <a:ln/>
        </p:spPr>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+0.8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93" name="Shape 91"/>
          <p:cNvSpPr/>
          <p:nvPr/>
        </p:nvSpPr>
        <p:spPr>
          <a:xfrm>
            <a:off x="9336024" y="2631546"/>
            <a:ext cx="86662" cy="110352"/>
          </a:xfrm>
          <a:prstGeom prst="rect">
            <a:avLst/>
          </a:prstGeom>
          <a:solidFill>
            <a:srgbClr val="12A566"/>
          </a:solidFill>
          <a:ln/>
        </p:spPr>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+0.7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97" name="Shape 95"/>
          <p:cNvSpPr/>
          <p:nvPr/>
        </p:nvSpPr>
        <p:spPr>
          <a:xfrm>
            <a:off x="9336024" y="2871442"/>
            <a:ext cx="75448" cy="110352"/>
          </a:xfrm>
          <a:prstGeom prst="rect">
            <a:avLst/>
          </a:prstGeom>
          <a:solidFill>
            <a:srgbClr val="12A566"/>
          </a:solidFill>
          <a:ln/>
        </p:spPr>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+0.6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01" name="Shape 99"/>
          <p:cNvSpPr/>
          <p:nvPr/>
        </p:nvSpPr>
        <p:spPr>
          <a:xfrm>
            <a:off x="9336024" y="3111337"/>
            <a:ext cx="64416" cy="110352"/>
          </a:xfrm>
          <a:prstGeom prst="rect">
            <a:avLst/>
          </a:prstGeom>
          <a:solidFill>
            <a:srgbClr val="12A566"/>
          </a:solidFill>
          <a:ln/>
        </p:spPr>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+0.5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05" name="Shape 103"/>
          <p:cNvSpPr/>
          <p:nvPr/>
        </p:nvSpPr>
        <p:spPr>
          <a:xfrm>
            <a:off x="9336024" y="3351233"/>
            <a:ext cx="63134" cy="110352"/>
          </a:xfrm>
          <a:prstGeom prst="rect">
            <a:avLst/>
          </a:prstGeom>
          <a:solidFill>
            <a:srgbClr val="12A566"/>
          </a:solidFill>
          <a:ln/>
        </p:spPr>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+0.5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09" name="Shape 107"/>
          <p:cNvSpPr/>
          <p:nvPr/>
        </p:nvSpPr>
        <p:spPr>
          <a:xfrm>
            <a:off x="9336024" y="3591128"/>
            <a:ext cx="32600" cy="110352"/>
          </a:xfrm>
          <a:prstGeom prst="rect">
            <a:avLst/>
          </a:prstGeom>
          <a:solidFill>
            <a:srgbClr val="12A566"/>
          </a:solidFill>
          <a:ln/>
        </p:spPr>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+0.3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13" name="Shape 111"/>
          <p:cNvSpPr/>
          <p:nvPr/>
        </p:nvSpPr>
        <p:spPr>
          <a:xfrm>
            <a:off x="9336024" y="3831024"/>
            <a:ext cx="28643" cy="110352"/>
          </a:xfrm>
          <a:prstGeom prst="rect">
            <a:avLst/>
          </a:prstGeom>
          <a:solidFill>
            <a:srgbClr val="12A566"/>
          </a:solidFill>
          <a:ln/>
        </p:spPr>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17" name="Shape 115"/>
          <p:cNvSpPr/>
          <p:nvPr/>
        </p:nvSpPr>
        <p:spPr>
          <a:xfrm>
            <a:off x="9336024" y="4070920"/>
            <a:ext cx="27188" cy="110352"/>
          </a:xfrm>
          <a:prstGeom prst="rect">
            <a:avLst/>
          </a:prstGeom>
          <a:solidFill>
            <a:srgbClr val="12A566"/>
          </a:solidFill>
          <a:ln/>
        </p:spPr>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+0.2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21" name="Shape 119"/>
          <p:cNvSpPr/>
          <p:nvPr/>
        </p:nvSpPr>
        <p:spPr>
          <a:xfrm>
            <a:off x="9336024" y="4310815"/>
            <a:ext cx="12802" cy="110352"/>
          </a:xfrm>
          <a:prstGeom prst="rect">
            <a:avLst/>
          </a:prstGeom>
          <a:solidFill>
            <a:srgbClr val="12A566"/>
          </a:solidFill>
          <a:ln/>
        </p:spPr>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+0.1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25" name="Shape 123"/>
          <p:cNvSpPr/>
          <p:nvPr/>
        </p:nvSpPr>
        <p:spPr>
          <a:xfrm>
            <a:off x="9327684" y="4550711"/>
            <a:ext cx="12802" cy="110352"/>
          </a:xfrm>
          <a:prstGeom prst="rect">
            <a:avLst/>
          </a:prstGeom>
          <a:solidFill>
            <a:srgbClr val="C2352F"/>
          </a:solidFill>
          <a:ln/>
        </p:spPr>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−0.1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29" name="Shape 127"/>
          <p:cNvSpPr/>
          <p:nvPr/>
        </p:nvSpPr>
        <p:spPr>
          <a:xfrm>
            <a:off x="9276212" y="4790606"/>
            <a:ext cx="59812" cy="110352"/>
          </a:xfrm>
          <a:prstGeom prst="rect">
            <a:avLst/>
          </a:prstGeom>
          <a:solidFill>
            <a:srgbClr val="C2352F"/>
          </a:solidFill>
          <a:ln/>
        </p:spPr>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−0.5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3" name="Shape 131"/>
          <p:cNvSpPr/>
          <p:nvPr/>
        </p:nvSpPr>
        <p:spPr>
          <a:xfrm>
            <a:off x="9272059" y="5030502"/>
            <a:ext cx="63965" cy="110352"/>
          </a:xfrm>
          <a:prstGeom prst="rect">
            <a:avLst/>
          </a:prstGeom>
          <a:solidFill>
            <a:srgbClr val="C2352F"/>
          </a:solidFill>
          <a:ln/>
        </p:spPr>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−0.5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37" name="Shape 135"/>
          <p:cNvSpPr/>
          <p:nvPr/>
        </p:nvSpPr>
        <p:spPr>
          <a:xfrm>
            <a:off x="9223329" y="5270397"/>
            <a:ext cx="112695" cy="110352"/>
          </a:xfrm>
          <a:prstGeom prst="rect">
            <a:avLst/>
          </a:prstGeom>
          <a:solidFill>
            <a:srgbClr val="C2352F"/>
          </a:solidFill>
          <a:ln/>
        </p:spPr>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−0.9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41" name="Shape 139"/>
          <p:cNvSpPr/>
          <p:nvPr/>
        </p:nvSpPr>
        <p:spPr>
          <a:xfrm>
            <a:off x="9065477" y="5510293"/>
            <a:ext cx="270547" cy="110352"/>
          </a:xfrm>
          <a:prstGeom prst="rect">
            <a:avLst/>
          </a:prstGeom>
          <a:solidFill>
            <a:srgbClr val="C2352F"/>
          </a:solidFill>
          <a:ln/>
        </p:spPr>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−2.1 pts</a:t>
            </a:r>
            <a:endParaRPr lang="en-US" sz="1200" dirty="0"/>
          </a:p>
        </p:txBody>
      </p:sp>
      <p:sp>
        <p:nvSpPr>
          <p:cNvPr id="143" name="Shape 141"/>
          <p:cNvSpPr/>
          <p:nvPr/>
        </p:nvSpPr>
        <p:spPr>
          <a:xfrm>
            <a:off x="3780130" y="1847088"/>
            <a:ext cx="10973" cy="4078224"/>
          </a:xfrm>
          <a:prstGeom prst="rect">
            <a:avLst/>
          </a:prstGeom>
          <a:solidFill>
            <a:srgbClr val="9AA3AD"/>
          </a:solidFill>
          <a:ln/>
        </p:spPr>
      </p:sp>
      <p:sp>
        <p:nvSpPr>
          <p:cNvPr id="144" name="Shape 142"/>
          <p:cNvSpPr/>
          <p:nvPr/>
        </p:nvSpPr>
        <p:spPr>
          <a:xfrm>
            <a:off x="9330538" y="1847088"/>
            <a:ext cx="10973" cy="4078224"/>
          </a:xfrm>
          <a:prstGeom prst="rect">
            <a:avLst/>
          </a:prstGeom>
          <a:solidFill>
            <a:srgbClr val="9AA3AD"/>
          </a:solidFill>
          <a:ln/>
        </p:spPr>
      </p:sp>
      <p:sp>
        <p:nvSpPr>
          <p:cNvPr id="145" name="Shape 143"/>
          <p:cNvSpPr/>
          <p:nvPr/>
        </p:nvSpPr>
        <p:spPr>
          <a:xfrm>
            <a:off x="6085332" y="1847088"/>
            <a:ext cx="10973" cy="4078224"/>
          </a:xfrm>
          <a:prstGeom prst="rect">
            <a:avLst/>
          </a:prstGeom>
          <a:solidFill>
            <a:srgbClr val="D9D9D9"/>
          </a:solidFill>
          <a:ln/>
        </p:spPr>
      </p:sp>
      <p:sp>
        <p:nvSpPr>
          <p:cNvPr id="146" name="Shape 144"/>
          <p:cNvSpPr/>
          <p:nvPr/>
        </p:nvSpPr>
        <p:spPr>
          <a:xfrm>
            <a:off x="457200" y="6126480"/>
            <a:ext cx="11274552" cy="615696"/>
          </a:xfrm>
          <a:prstGeom prst="rect">
            <a:avLst/>
          </a:prstGeom>
          <a:solidFill>
            <a:srgbClr val="E6F6EE"/>
          </a:solidFill>
          <a:ln/>
        </p:spPr>
      </p:sp>
      <p:sp>
        <p:nvSpPr>
          <p:cNvPr id="147" name="Text 145"/>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28 of 33 stores improved parts margin, led by Acura at +6.1 pts to 44.9%. 5 declined; Audi Henderson fell most at −2.1 pts.</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9" name="Shape 7"/>
          <p:cNvSpPr/>
          <p:nvPr/>
        </p:nvSpPr>
        <p:spPr>
          <a:xfrm>
            <a:off x="658368" y="2103120"/>
            <a:ext cx="3489960" cy="755294"/>
          </a:xfrm>
          <a:prstGeom prst="rect">
            <a:avLst/>
          </a:prstGeom>
          <a:solidFill>
            <a:srgbClr val="F7F7F7"/>
          </a:solidFill>
          <a:ln/>
        </p:spPr>
      </p:sp>
      <p:sp>
        <p:nvSpPr>
          <p:cNvPr id="10" name="Text 8"/>
          <p:cNvSpPr txBox="1"/>
          <p:nvPr/>
        </p:nvSpPr>
        <p:spPr>
          <a:xfrm>
            <a:off x="749808"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44.9%</a:t>
            </a:r>
            <a:endParaRPr lang="en-US" sz="1400" dirty="0"/>
          </a:p>
        </p:txBody>
      </p:sp>
      <p:sp>
        <p:nvSpPr>
          <p:cNvPr id="12" name="Text 10"/>
          <p:cNvSpPr txBox="1"/>
          <p:nvPr/>
        </p:nvSpPr>
        <p:spPr>
          <a:xfrm>
            <a:off x="2941320"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+6.1 pts</a:t>
            </a:r>
            <a:endParaRPr lang="en-US" sz="1600" dirty="0"/>
          </a:p>
        </p:txBody>
      </p:sp>
      <p:sp>
        <p:nvSpPr>
          <p:cNvPr id="13" name="Text 11"/>
          <p:cNvSpPr txBox="1"/>
          <p:nvPr/>
        </p:nvSpPr>
        <p:spPr>
          <a:xfrm>
            <a:off x="749808"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42.7%</a:t>
            </a:r>
            <a:endParaRPr lang="en-US" sz="1400" dirty="0"/>
          </a:p>
        </p:txBody>
      </p:sp>
      <p:sp>
        <p:nvSpPr>
          <p:cNvPr id="15" name="Text 13"/>
          <p:cNvSpPr txBox="1"/>
          <p:nvPr/>
        </p:nvSpPr>
        <p:spPr>
          <a:xfrm>
            <a:off x="2941320"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+4.5 pts</a:t>
            </a:r>
            <a:endParaRPr lang="en-US" sz="1600" dirty="0"/>
          </a:p>
        </p:txBody>
      </p:sp>
      <p:sp>
        <p:nvSpPr>
          <p:cNvPr id="16" name="Shape 14"/>
          <p:cNvSpPr/>
          <p:nvPr/>
        </p:nvSpPr>
        <p:spPr>
          <a:xfrm>
            <a:off x="658368" y="3613709"/>
            <a:ext cx="3489960" cy="755294"/>
          </a:xfrm>
          <a:prstGeom prst="rect">
            <a:avLst/>
          </a:prstGeom>
          <a:solidFill>
            <a:srgbClr val="F7F7F7"/>
          </a:solidFill>
          <a:ln/>
        </p:spPr>
      </p:sp>
      <p:sp>
        <p:nvSpPr>
          <p:cNvPr id="17" name="Text 15"/>
          <p:cNvSpPr txBox="1"/>
          <p:nvPr/>
        </p:nvSpPr>
        <p:spPr>
          <a:xfrm>
            <a:off x="749808"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8" name="Text 16"/>
          <p:cNvSpPr txBox="1"/>
          <p:nvPr/>
        </p:nvSpPr>
        <p:spPr>
          <a:xfrm>
            <a:off x="1097280"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34.8%</a:t>
            </a:r>
            <a:endParaRPr lang="en-US" sz="1400" dirty="0"/>
          </a:p>
        </p:txBody>
      </p:sp>
      <p:sp>
        <p:nvSpPr>
          <p:cNvPr id="19" name="Text 17"/>
          <p:cNvSpPr txBox="1"/>
          <p:nvPr/>
        </p:nvSpPr>
        <p:spPr>
          <a:xfrm>
            <a:off x="2941320"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 pts</a:t>
            </a:r>
            <a:endParaRPr lang="en-US" sz="1600" dirty="0"/>
          </a:p>
        </p:txBody>
      </p:sp>
      <p:sp>
        <p:nvSpPr>
          <p:cNvPr id="20" name="Text 18"/>
          <p:cNvSpPr txBox="1"/>
          <p:nvPr/>
        </p:nvSpPr>
        <p:spPr>
          <a:xfrm>
            <a:off x="749808"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1" name="Text 19"/>
          <p:cNvSpPr txBox="1"/>
          <p:nvPr/>
        </p:nvSpPr>
        <p:spPr>
          <a:xfrm>
            <a:off x="1097280"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37.0%</a:t>
            </a:r>
            <a:endParaRPr lang="en-US" sz="1400" dirty="0"/>
          </a:p>
        </p:txBody>
      </p:sp>
      <p:sp>
        <p:nvSpPr>
          <p:cNvPr id="22" name="Text 20"/>
          <p:cNvSpPr txBox="1"/>
          <p:nvPr/>
        </p:nvSpPr>
        <p:spPr>
          <a:xfrm>
            <a:off x="2941320"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23" name="Shape 21"/>
          <p:cNvSpPr/>
          <p:nvPr/>
        </p:nvSpPr>
        <p:spPr>
          <a:xfrm>
            <a:off x="658368" y="5124298"/>
            <a:ext cx="3489960" cy="755294"/>
          </a:xfrm>
          <a:prstGeom prst="rect">
            <a:avLst/>
          </a:prstGeom>
          <a:solidFill>
            <a:srgbClr val="F7F7F7"/>
          </a:solidFill>
          <a:ln/>
        </p:spPr>
      </p:sp>
      <p:sp>
        <p:nvSpPr>
          <p:cNvPr id="24" name="Text 22"/>
          <p:cNvSpPr txBox="1"/>
          <p:nvPr/>
        </p:nvSpPr>
        <p:spPr>
          <a:xfrm>
            <a:off x="749808"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5" name="Text 23"/>
          <p:cNvSpPr txBox="1"/>
          <p:nvPr/>
        </p:nvSpPr>
        <p:spPr>
          <a:xfrm>
            <a:off x="1097280"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44.6%</a:t>
            </a:r>
            <a:endParaRPr lang="en-US" sz="1400" dirty="0"/>
          </a:p>
        </p:txBody>
      </p:sp>
      <p:sp>
        <p:nvSpPr>
          <p:cNvPr id="26" name="Text 24"/>
          <p:cNvSpPr txBox="1"/>
          <p:nvPr/>
        </p:nvSpPr>
        <p:spPr>
          <a:xfrm>
            <a:off x="2941320"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27" name="Shape 25"/>
          <p:cNvSpPr/>
          <p:nvPr/>
        </p:nvSpPr>
        <p:spPr>
          <a:xfrm>
            <a:off x="4349496" y="1371600"/>
            <a:ext cx="3489960" cy="45720"/>
          </a:xfrm>
          <a:prstGeom prst="rect">
            <a:avLst/>
          </a:prstGeom>
          <a:solidFill>
            <a:srgbClr val="C2352F"/>
          </a:solidFill>
          <a:ln/>
        </p:spPr>
      </p:sp>
      <p:sp>
        <p:nvSpPr>
          <p:cNvPr id="28"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29" name="Text 27"/>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2026 vs Jan–Sep 2025</a:t>
            </a:r>
            <a:endParaRPr lang="en-US" sz="1200" dirty="0"/>
          </a:p>
        </p:txBody>
      </p:sp>
      <p:sp>
        <p:nvSpPr>
          <p:cNvPr id="30" name="Shape 28"/>
          <p:cNvSpPr/>
          <p:nvPr/>
        </p:nvSpPr>
        <p:spPr>
          <a:xfrm>
            <a:off x="4349496" y="2103120"/>
            <a:ext cx="3489960" cy="755294"/>
          </a:xfrm>
          <a:prstGeom prst="rect">
            <a:avLst/>
          </a:prstGeom>
          <a:solidFill>
            <a:srgbClr val="F7F7F7"/>
          </a:solidFill>
          <a:ln/>
        </p:spPr>
      </p:sp>
      <p:sp>
        <p:nvSpPr>
          <p:cNvPr id="31" name="Text 29"/>
          <p:cNvSpPr txBox="1"/>
          <p:nvPr/>
        </p:nvSpPr>
        <p:spPr>
          <a:xfrm>
            <a:off x="4440936"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2" name="Text 30"/>
          <p:cNvSpPr txBox="1"/>
          <p:nvPr/>
        </p:nvSpPr>
        <p:spPr>
          <a:xfrm>
            <a:off x="4788408"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33.6%</a:t>
            </a:r>
            <a:endParaRPr lang="en-US" sz="1400" dirty="0"/>
          </a:p>
        </p:txBody>
      </p:sp>
      <p:sp>
        <p:nvSpPr>
          <p:cNvPr id="33" name="Text 31"/>
          <p:cNvSpPr txBox="1"/>
          <p:nvPr/>
        </p:nvSpPr>
        <p:spPr>
          <a:xfrm>
            <a:off x="6632448" y="2103120"/>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−2.1 pts</a:t>
            </a:r>
            <a:endParaRPr lang="en-US" sz="1600" dirty="0"/>
          </a:p>
        </p:txBody>
      </p:sp>
      <p:sp>
        <p:nvSpPr>
          <p:cNvPr id="34" name="Text 32"/>
          <p:cNvSpPr txBox="1"/>
          <p:nvPr/>
        </p:nvSpPr>
        <p:spPr>
          <a:xfrm>
            <a:off x="4440936"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5" name="Text 33"/>
          <p:cNvSpPr txBox="1"/>
          <p:nvPr/>
        </p:nvSpPr>
        <p:spPr>
          <a:xfrm>
            <a:off x="4788408"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45.3%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44.5%</a:t>
            </a:r>
            <a:endParaRPr lang="en-US" sz="1400" dirty="0"/>
          </a:p>
        </p:txBody>
      </p:sp>
      <p:sp>
        <p:nvSpPr>
          <p:cNvPr id="36" name="Text 34"/>
          <p:cNvSpPr txBox="1"/>
          <p:nvPr/>
        </p:nvSpPr>
        <p:spPr>
          <a:xfrm>
            <a:off x="6632448" y="2858414"/>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−0.9 pts</a:t>
            </a:r>
            <a:endParaRPr lang="en-US" sz="1600" dirty="0"/>
          </a:p>
        </p:txBody>
      </p:sp>
      <p:sp>
        <p:nvSpPr>
          <p:cNvPr id="37" name="Shape 35"/>
          <p:cNvSpPr/>
          <p:nvPr/>
        </p:nvSpPr>
        <p:spPr>
          <a:xfrm>
            <a:off x="4349496" y="3613709"/>
            <a:ext cx="3489960" cy="755294"/>
          </a:xfrm>
          <a:prstGeom prst="rect">
            <a:avLst/>
          </a:prstGeom>
          <a:solidFill>
            <a:srgbClr val="F7F7F7"/>
          </a:solidFill>
          <a:ln/>
        </p:spPr>
      </p:sp>
      <p:sp>
        <p:nvSpPr>
          <p:cNvPr id="38" name="Text 36"/>
          <p:cNvSpPr txBox="1"/>
          <p:nvPr/>
        </p:nvSpPr>
        <p:spPr>
          <a:xfrm>
            <a:off x="4440936"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39" name="Text 37"/>
          <p:cNvSpPr txBox="1"/>
          <p:nvPr/>
        </p:nvSpPr>
        <p:spPr>
          <a:xfrm>
            <a:off x="4788408"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39.4%</a:t>
            </a:r>
            <a:endParaRPr lang="en-US" sz="1400" dirty="0"/>
          </a:p>
        </p:txBody>
      </p:sp>
      <p:sp>
        <p:nvSpPr>
          <p:cNvPr id="40" name="Text 38"/>
          <p:cNvSpPr txBox="1"/>
          <p:nvPr/>
        </p:nvSpPr>
        <p:spPr>
          <a:xfrm>
            <a:off x="6632448" y="3613709"/>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−0.5 pts</a:t>
            </a:r>
            <a:endParaRPr lang="en-US" sz="1600" dirty="0"/>
          </a:p>
        </p:txBody>
      </p:sp>
      <p:sp>
        <p:nvSpPr>
          <p:cNvPr id="41" name="Text 39"/>
          <p:cNvSpPr txBox="1"/>
          <p:nvPr/>
        </p:nvSpPr>
        <p:spPr>
          <a:xfrm>
            <a:off x="4440936"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2" name="Text 40"/>
          <p:cNvSpPr txBox="1"/>
          <p:nvPr/>
        </p:nvSpPr>
        <p:spPr>
          <a:xfrm>
            <a:off x="4788408"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36.9%</a:t>
            </a:r>
            <a:endParaRPr lang="en-US" sz="1400" dirty="0"/>
          </a:p>
        </p:txBody>
      </p:sp>
      <p:sp>
        <p:nvSpPr>
          <p:cNvPr id="43" name="Text 41"/>
          <p:cNvSpPr txBox="1"/>
          <p:nvPr/>
        </p:nvSpPr>
        <p:spPr>
          <a:xfrm>
            <a:off x="6632448" y="4369003"/>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−0.5 pts</a:t>
            </a:r>
            <a:endParaRPr lang="en-US" sz="1600" dirty="0"/>
          </a:p>
        </p:txBody>
      </p:sp>
      <p:sp>
        <p:nvSpPr>
          <p:cNvPr id="44" name="Shape 42"/>
          <p:cNvSpPr/>
          <p:nvPr/>
        </p:nvSpPr>
        <p:spPr>
          <a:xfrm>
            <a:off x="4349496" y="5124298"/>
            <a:ext cx="3489960" cy="755294"/>
          </a:xfrm>
          <a:prstGeom prst="rect">
            <a:avLst/>
          </a:prstGeom>
          <a:solidFill>
            <a:srgbClr val="F7F7F7"/>
          </a:solidFill>
          <a:ln/>
        </p:spPr>
      </p:sp>
      <p:sp>
        <p:nvSpPr>
          <p:cNvPr id="45" name="Text 43"/>
          <p:cNvSpPr txBox="1"/>
          <p:nvPr/>
        </p:nvSpPr>
        <p:spPr>
          <a:xfrm>
            <a:off x="4440936"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6" name="Text 44"/>
          <p:cNvSpPr txBox="1"/>
          <p:nvPr/>
        </p:nvSpPr>
        <p:spPr>
          <a:xfrm>
            <a:off x="4788408"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42.2%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42.1%</a:t>
            </a:r>
            <a:endParaRPr lang="en-US" sz="1400" dirty="0"/>
          </a:p>
        </p:txBody>
      </p:sp>
      <p:sp>
        <p:nvSpPr>
          <p:cNvPr id="47" name="Text 45"/>
          <p:cNvSpPr txBox="1"/>
          <p:nvPr/>
        </p:nvSpPr>
        <p:spPr>
          <a:xfrm>
            <a:off x="6632448" y="5124298"/>
            <a:ext cx="1115568" cy="755294"/>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−0.1 pts</a:t>
            </a:r>
            <a:endParaRPr lang="en-US" sz="1600" dirty="0"/>
          </a:p>
        </p:txBody>
      </p:sp>
      <p:sp>
        <p:nvSpPr>
          <p:cNvPr id="48" name="Shape 46"/>
          <p:cNvSpPr/>
          <p:nvPr/>
        </p:nvSpPr>
        <p:spPr>
          <a:xfrm>
            <a:off x="8040624" y="1371600"/>
            <a:ext cx="3489960" cy="45720"/>
          </a:xfrm>
          <a:prstGeom prst="rect">
            <a:avLst/>
          </a:prstGeom>
          <a:solidFill>
            <a:srgbClr val="2587C5"/>
          </a:solidFill>
          <a:ln/>
        </p:spPr>
      </p:sp>
      <p:sp>
        <p:nvSpPr>
          <p:cNvPr id="49" name="Text 4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0" name="Text 48"/>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Jul–Sep vs Jan–Mar 2026</a:t>
            </a:r>
            <a:endParaRPr lang="en-US" sz="1200" dirty="0"/>
          </a:p>
        </p:txBody>
      </p:sp>
      <p:sp>
        <p:nvSpPr>
          <p:cNvPr id="51" name="Shape 49"/>
          <p:cNvSpPr/>
          <p:nvPr/>
        </p:nvSpPr>
        <p:spPr>
          <a:xfrm>
            <a:off x="8040624" y="2103120"/>
            <a:ext cx="3489960" cy="755294"/>
          </a:xfrm>
          <a:prstGeom prst="rect">
            <a:avLst/>
          </a:prstGeom>
          <a:solidFill>
            <a:srgbClr val="F7F7F7"/>
          </a:solidFill>
          <a:ln/>
        </p:spPr>
      </p:sp>
      <p:sp>
        <p:nvSpPr>
          <p:cNvPr id="52" name="Text 50"/>
          <p:cNvSpPr txBox="1"/>
          <p:nvPr/>
        </p:nvSpPr>
        <p:spPr>
          <a:xfrm>
            <a:off x="8132064" y="2103120"/>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3" name="Text 51"/>
          <p:cNvSpPr txBox="1"/>
          <p:nvPr/>
        </p:nvSpPr>
        <p:spPr>
          <a:xfrm>
            <a:off x="8479536" y="2103120"/>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46.6%</a:t>
            </a:r>
            <a:endParaRPr lang="en-US" sz="1400" dirty="0"/>
          </a:p>
        </p:txBody>
      </p:sp>
      <p:sp>
        <p:nvSpPr>
          <p:cNvPr id="54" name="Text 52"/>
          <p:cNvSpPr txBox="1"/>
          <p:nvPr/>
        </p:nvSpPr>
        <p:spPr>
          <a:xfrm>
            <a:off x="10323576" y="2103120"/>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+7.2 pts</a:t>
            </a:r>
            <a:endParaRPr lang="en-US" sz="1600" dirty="0"/>
          </a:p>
        </p:txBody>
      </p:sp>
      <p:sp>
        <p:nvSpPr>
          <p:cNvPr id="55" name="Text 53"/>
          <p:cNvSpPr txBox="1"/>
          <p:nvPr/>
        </p:nvSpPr>
        <p:spPr>
          <a:xfrm>
            <a:off x="8132064" y="2858414"/>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6" name="Text 54"/>
          <p:cNvSpPr txBox="1"/>
          <p:nvPr/>
        </p:nvSpPr>
        <p:spPr>
          <a:xfrm>
            <a:off x="8479536" y="2858414"/>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43.8%</a:t>
            </a:r>
            <a:endParaRPr lang="en-US" sz="1400" dirty="0"/>
          </a:p>
        </p:txBody>
      </p:sp>
      <p:sp>
        <p:nvSpPr>
          <p:cNvPr id="57" name="Text 55"/>
          <p:cNvSpPr txBox="1"/>
          <p:nvPr/>
        </p:nvSpPr>
        <p:spPr>
          <a:xfrm>
            <a:off x="10323576" y="2858414"/>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+4.6 pts</a:t>
            </a:r>
            <a:endParaRPr lang="en-US" sz="1600" dirty="0"/>
          </a:p>
        </p:txBody>
      </p:sp>
      <p:sp>
        <p:nvSpPr>
          <p:cNvPr id="58" name="Shape 56"/>
          <p:cNvSpPr/>
          <p:nvPr/>
        </p:nvSpPr>
        <p:spPr>
          <a:xfrm>
            <a:off x="8040624" y="3613709"/>
            <a:ext cx="3489960" cy="755294"/>
          </a:xfrm>
          <a:prstGeom prst="rect">
            <a:avLst/>
          </a:prstGeom>
          <a:solidFill>
            <a:srgbClr val="F7F7F7"/>
          </a:solidFill>
          <a:ln/>
        </p:spPr>
      </p:sp>
      <p:sp>
        <p:nvSpPr>
          <p:cNvPr id="59" name="Text 57"/>
          <p:cNvSpPr txBox="1"/>
          <p:nvPr/>
        </p:nvSpPr>
        <p:spPr>
          <a:xfrm>
            <a:off x="8132064" y="3613709"/>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0" name="Text 58"/>
          <p:cNvSpPr txBox="1"/>
          <p:nvPr/>
        </p:nvSpPr>
        <p:spPr>
          <a:xfrm>
            <a:off x="8479536" y="3613709"/>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39.2%</a:t>
            </a:r>
            <a:endParaRPr lang="en-US" sz="1400" dirty="0"/>
          </a:p>
        </p:txBody>
      </p:sp>
      <p:sp>
        <p:nvSpPr>
          <p:cNvPr id="61" name="Text 59"/>
          <p:cNvSpPr txBox="1"/>
          <p:nvPr/>
        </p:nvSpPr>
        <p:spPr>
          <a:xfrm>
            <a:off x="10323576" y="3613709"/>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 pts</a:t>
            </a:r>
            <a:endParaRPr lang="en-US" sz="1600" dirty="0"/>
          </a:p>
        </p:txBody>
      </p:sp>
      <p:sp>
        <p:nvSpPr>
          <p:cNvPr id="62" name="Text 60"/>
          <p:cNvSpPr txBox="1"/>
          <p:nvPr/>
        </p:nvSpPr>
        <p:spPr>
          <a:xfrm>
            <a:off x="8132064" y="4369003"/>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3" name="Text 61"/>
          <p:cNvSpPr txBox="1"/>
          <p:nvPr/>
        </p:nvSpPr>
        <p:spPr>
          <a:xfrm>
            <a:off x="8479536" y="4369003"/>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44.0%</a:t>
            </a:r>
            <a:endParaRPr lang="en-US" sz="1400" dirty="0"/>
          </a:p>
        </p:txBody>
      </p:sp>
      <p:sp>
        <p:nvSpPr>
          <p:cNvPr id="64" name="Text 62"/>
          <p:cNvSpPr txBox="1"/>
          <p:nvPr/>
        </p:nvSpPr>
        <p:spPr>
          <a:xfrm>
            <a:off x="10323576" y="4369003"/>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 pts</a:t>
            </a:r>
            <a:endParaRPr lang="en-US" sz="1600" dirty="0"/>
          </a:p>
        </p:txBody>
      </p:sp>
      <p:sp>
        <p:nvSpPr>
          <p:cNvPr id="65" name="Shape 63"/>
          <p:cNvSpPr/>
          <p:nvPr/>
        </p:nvSpPr>
        <p:spPr>
          <a:xfrm>
            <a:off x="8040624" y="5124298"/>
            <a:ext cx="3489960" cy="755294"/>
          </a:xfrm>
          <a:prstGeom prst="rect">
            <a:avLst/>
          </a:prstGeom>
          <a:solidFill>
            <a:srgbClr val="F7F7F7"/>
          </a:solidFill>
          <a:ln/>
        </p:spPr>
      </p:sp>
      <p:sp>
        <p:nvSpPr>
          <p:cNvPr id="66" name="Text 64"/>
          <p:cNvSpPr txBox="1"/>
          <p:nvPr/>
        </p:nvSpPr>
        <p:spPr>
          <a:xfrm>
            <a:off x="8132064" y="5124298"/>
            <a:ext cx="365760" cy="75529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7" name="Text 65"/>
          <p:cNvSpPr txBox="1"/>
          <p:nvPr/>
        </p:nvSpPr>
        <p:spPr>
          <a:xfrm>
            <a:off x="8479536" y="5124298"/>
            <a:ext cx="1825752" cy="755294"/>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41.7%</a:t>
            </a:r>
            <a:endParaRPr lang="en-US" sz="1400" dirty="0"/>
          </a:p>
        </p:txBody>
      </p:sp>
      <p:sp>
        <p:nvSpPr>
          <p:cNvPr id="68" name="Text 66"/>
          <p:cNvSpPr txBox="1"/>
          <p:nvPr/>
        </p:nvSpPr>
        <p:spPr>
          <a:xfrm>
            <a:off x="10323576" y="5124298"/>
            <a:ext cx="1115568" cy="755294"/>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 pts</a:t>
            </a:r>
            <a:endParaRPr lang="en-US" sz="1600" dirty="0"/>
          </a:p>
        </p:txBody>
      </p:sp>
      <p:sp>
        <p:nvSpPr>
          <p:cNvPr id="69" name="Shape 67"/>
          <p:cNvSpPr/>
          <p:nvPr/>
        </p:nvSpPr>
        <p:spPr>
          <a:xfrm>
            <a:off x="457200" y="6126480"/>
            <a:ext cx="11274552" cy="615696"/>
          </a:xfrm>
          <a:prstGeom prst="rect">
            <a:avLst/>
          </a:prstGeom>
          <a:solidFill>
            <a:srgbClr val="EDF4FA"/>
          </a:solidFill>
          <a:ln/>
        </p:spPr>
      </p:sp>
      <p:sp>
        <p:nvSpPr>
          <p:cNvPr id="70" name="Text 68"/>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Ask Acura, Nissan and Subaru Prescott what changed. Ask Audi Henderson, Toyota Spokane and Hyundai Prescott what got in the way. Ask Acura, VW St George and GMC Prescott what they started this year.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2026-10-23T20:46:33Z</dcterms:created>
  <dcterms:modified xsi:type="dcterms:W3CDTF">2026-10-23T20:46:33Z</dcterms:modified>
</cp:coreProperties>
</file>