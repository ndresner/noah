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240</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D - door rate by store, split by labor grid, standard rate only. Store door rate sheet (Oct 15 2026); averages weighted by Jul-Sep CP sold hours. Bars start at $100. INEOS on the sheet but excluded (same-store).
CHEVY LV: premium $265 (Diesel/Corvette)
AUDI HENDERSON: premium $399 (Lambo Non-Grid)
VW HENDERSON: premium $210 (EV)
CHEVY GMC BULLHEAD: premium $200 (Non-Standard Grid)
SUBARU ST GEORGE: premium $210 (EV)
HONDA FLAGSTAFF: premium $215 (EV)
GMC PRESCOTT: premium $230 (EV)
KIA ST GEORGE: premium $195 (EV)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E - door rate by store with premium rates, split by labor grid. Store door rate sheet (Oct 15 2026); averages weighted by Jul-Sep CP sold hours. Bars start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
AUDI RENO: ELR $244 / door $236 = 103.4%
VOLVO: ELR $225 / door $250 = 90.2%
CHEVY GMC BULLHEAD: ELR $162 / door $180 = 89.9%
HYUNDAI ST GEORGE: ELR $166 / door $185 = 89.7%
ACURA: ELR $199 / door $225 = 88.5%
LR RENO: ELR $239 / door $275 = 86.7%
HONDA FLAGSTAFF: ELR $160 / door $185 = 86.3%
HONDA SPOKANE: ELR $148 / door $179 = 82.6%
LEXUS: ELR $187 / door $230 = 81.5%
CDJR POST FALLS: ELR $162 / door $200 = 80.9%
TOYOTA PRESCOTT: ELR $156 / door $195 = 79.8%
LR HENDERSON: ELR $234 / door $295 = 79.5%
KIA ST GEORGE: ELR $146 / door $185 = 78.9%
MAZDA: ELR $166 / door $210 = 78.9%
VW HENDERSON: ELR $161 / door $205 = 78.5%
VW ST GEORGE: ELR $142 / door $185 = 76.7%
AUDI HENDERSON: ELR $267 / door $349 = 76.4%
LR LV: ELR $234 / door $310 = 75.4%
SUBARU LV: ELR $162 / door $215 = 75.2%
NISSAN: ELR $180 / door $240 = 75.1%
TOYOTA FLAGSTAFF: ELR $143 / door $190 = 75.0%
SUBARU ST GEORGE: ELR $137 / door $185 = 73.8%
TOYOTA HENDERSON: ELR $155 / door $211 = 73.1%
HONDA HENDERSON: ELR $153 / door $212 = 72.4%
HONDA NORTH: ELR $150 / door $212 = 70.6%
KIA LV: ELR $151 / door $220 = 68.5%
LINCOLN: ELR $167 / door $245 = 68.2%
TOYOTA SPOKANE: ELR $125 / door $185 = 67.5%
GMC PRESCOTT: ELR $147 / door $220 = 66.7%
SUBARU PRESCOTT: ELR $140 / door $210 = 66.5%
CHEVY LV: ELR $146 / door $225 = 65.0%
HYUNDAI PRESCOTT: ELR $136 / door $210 = 64.8%
CADILLAC: ELR $175 / door $285 =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$534 and 16 of 24 others beat $202. CDJR Post Falls leads non-luxury at $332.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 Moving now: Jul-Sep 2026 vs Jan-Mar 2026, each store against itself; the group moved +$12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chart" Target="/ppt/charts/chart19.xml"/><Relationship Id="rId4" Type="http://schemas.openxmlformats.org/officeDocument/2006/relationships/chart" Target="/ppt/charts/chart20.xml"/><Relationship Id="rId5" Type="http://schemas.openxmlformats.org/officeDocument/2006/relationships/chart" Target="/ppt/charts/chart21.xml"/><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chart" Target="/ppt/charts/chart24.xml"/><Relationship Id="rId4" Type="http://schemas.openxmlformats.org/officeDocument/2006/relationships/chart" Target="/ppt/charts/chart25.xml"/><Relationship Id="rId5" Type="http://schemas.openxmlformats.org/officeDocument/2006/relationships/chart" Target="/ppt/charts/chart26.xml"/><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chart" Target="/ppt/charts/chart32.xml"/><Relationship Id="rId7" Type="http://schemas.openxmlformats.org/officeDocument/2006/relationships/chart" Target="/ppt/charts/chart33.xml"/><Relationship Id="rId8" Type="http://schemas.openxmlformats.org/officeDocument/2006/relationships/chart" Target="/ppt/charts/chart34.xml"/><Relationship Id="rId9" Type="http://schemas.openxmlformats.org/officeDocument/2006/relationships/slideLayout" Target="../slideLayouts/slideLayout1.xml"/><Relationship Id="rId1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chart" Target="/ppt/charts/chart36.xml"/><Relationship Id="rId3" Type="http://schemas.openxmlformats.org/officeDocument/2006/relationships/chart" Target="/ppt/charts/chart37.xml"/><Relationship Id="rId4" Type="http://schemas.openxmlformats.org/officeDocument/2006/relationships/chart" Target="/ppt/charts/chart38.xml"/><Relationship Id="rId5" Type="http://schemas.openxmlformats.org/officeDocument/2006/relationships/chart" Target="/ppt/charts/chart39.xml"/><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5" name="Text 23"/>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6" name="Text 24"/>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7" name="Shape 25"/>
          <p:cNvSpPr/>
          <p:nvPr/>
        </p:nvSpPr>
        <p:spPr>
          <a:xfrm>
            <a:off x="658368" y="5124298"/>
            <a:ext cx="3489960" cy="755294"/>
          </a:xfrm>
          <a:prstGeom prst="rect">
            <a:avLst/>
          </a:prstGeom>
          <a:solidFill>
            <a:srgbClr val="F7F7F7"/>
          </a:solidFill>
          <a:ln/>
        </p:spPr>
      </p:sp>
      <p:sp>
        <p:nvSpPr>
          <p:cNvPr id="28" name="Text 26"/>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0" name="Text 28"/>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1" name="Text 29"/>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5" name="Shape 33"/>
          <p:cNvSpPr/>
          <p:nvPr/>
        </p:nvSpPr>
        <p:spPr>
          <a:xfrm>
            <a:off x="4349496" y="2103120"/>
            <a:ext cx="3489960" cy="755294"/>
          </a:xfrm>
          <a:prstGeom prst="rect">
            <a:avLst/>
          </a:prstGeom>
          <a:solidFill>
            <a:srgbClr val="F7F7F7"/>
          </a:solidFill>
          <a:ln/>
        </p:spPr>
      </p:sp>
      <p:sp>
        <p:nvSpPr>
          <p:cNvPr id="36" name="Text 34"/>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38" name="Text 36"/>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39" name="Text 37"/>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0" name="Text 38"/>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2" name="Text 40"/>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3" name="Text 41"/>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4" name="Shape 42"/>
          <p:cNvSpPr/>
          <p:nvPr/>
        </p:nvSpPr>
        <p:spPr>
          <a:xfrm>
            <a:off x="4349496" y="3613709"/>
            <a:ext cx="3489960" cy="755294"/>
          </a:xfrm>
          <a:prstGeom prst="rect">
            <a:avLst/>
          </a:prstGeom>
          <a:solidFill>
            <a:srgbClr val="F7F7F7"/>
          </a:solidFill>
          <a:ln/>
        </p:spPr>
      </p:sp>
      <p:sp>
        <p:nvSpPr>
          <p:cNvPr id="45" name="Text 43"/>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7" name="Text 45"/>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48" name="Text 46"/>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49" name="Text 47"/>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8"/>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1" name="Text 49"/>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2" name="Text 50"/>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3" name="Shape 51"/>
          <p:cNvSpPr/>
          <p:nvPr/>
        </p:nvSpPr>
        <p:spPr>
          <a:xfrm>
            <a:off x="4349496" y="5124298"/>
            <a:ext cx="3489960" cy="755294"/>
          </a:xfrm>
          <a:prstGeom prst="rect">
            <a:avLst/>
          </a:prstGeom>
          <a:solidFill>
            <a:srgbClr val="F7F7F7"/>
          </a:solidFill>
          <a:ln/>
        </p:spPr>
      </p:sp>
      <p:sp>
        <p:nvSpPr>
          <p:cNvPr id="54" name="Text 52"/>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53"/>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6" name="Text 54"/>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7" name="Text 55"/>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58" name="Shape 56"/>
          <p:cNvSpPr/>
          <p:nvPr/>
        </p:nvSpPr>
        <p:spPr>
          <a:xfrm>
            <a:off x="8040624" y="1371600"/>
            <a:ext cx="3489960" cy="45720"/>
          </a:xfrm>
          <a:prstGeom prst="rect">
            <a:avLst/>
          </a:prstGeom>
          <a:solidFill>
            <a:srgbClr val="2587C5"/>
          </a:solidFill>
          <a:ln/>
        </p:spPr>
      </p:sp>
      <p:sp>
        <p:nvSpPr>
          <p:cNvPr id="5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Text 5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1" name="Shape 59"/>
          <p:cNvSpPr/>
          <p:nvPr/>
        </p:nvSpPr>
        <p:spPr>
          <a:xfrm>
            <a:off x="8040624" y="2103120"/>
            <a:ext cx="3489960" cy="755294"/>
          </a:xfrm>
          <a:prstGeom prst="rect">
            <a:avLst/>
          </a:prstGeom>
          <a:solidFill>
            <a:srgbClr val="F7F7F7"/>
          </a:solidFill>
          <a:ln/>
        </p:spPr>
      </p:sp>
      <p:sp>
        <p:nvSpPr>
          <p:cNvPr id="62" name="Text 6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6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4" name="Text 62"/>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5" name="Text 63"/>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6" name="Text 6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6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68" name="Text 66"/>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9" name="Text 67"/>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0" name="Shape 68"/>
          <p:cNvSpPr/>
          <p:nvPr/>
        </p:nvSpPr>
        <p:spPr>
          <a:xfrm>
            <a:off x="8040624" y="3613709"/>
            <a:ext cx="3489960" cy="755294"/>
          </a:xfrm>
          <a:prstGeom prst="rect">
            <a:avLst/>
          </a:prstGeom>
          <a:solidFill>
            <a:srgbClr val="F7F7F7"/>
          </a:solidFill>
          <a:ln/>
        </p:spPr>
      </p:sp>
      <p:sp>
        <p:nvSpPr>
          <p:cNvPr id="71" name="Text 6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7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3" name="Text 71"/>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4" name="Text 72"/>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5" name="Text 73"/>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74"/>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77" name="Text 75"/>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78" name="Text 76"/>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79" name="Shape 77"/>
          <p:cNvSpPr/>
          <p:nvPr/>
        </p:nvSpPr>
        <p:spPr>
          <a:xfrm>
            <a:off x="8040624" y="5124298"/>
            <a:ext cx="3489960" cy="755294"/>
          </a:xfrm>
          <a:prstGeom prst="rect">
            <a:avLst/>
          </a:prstGeom>
          <a:solidFill>
            <a:srgbClr val="F7F7F7"/>
          </a:solidFill>
          <a:ln/>
        </p:spPr>
      </p:sp>
      <p:sp>
        <p:nvSpPr>
          <p:cNvPr id="80" name="Text 7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7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2" name="Text 80"/>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3" name="Text 81"/>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4" name="Shape 82"/>
          <p:cNvSpPr/>
          <p:nvPr/>
        </p:nvSpPr>
        <p:spPr>
          <a:xfrm>
            <a:off x="457200" y="6126480"/>
            <a:ext cx="11274552" cy="585216"/>
          </a:xfrm>
          <a:prstGeom prst="rect">
            <a:avLst/>
          </a:prstGeom>
          <a:solidFill>
            <a:srgbClr val="EDF4FA"/>
          </a:solidFill>
          <a:ln/>
        </p:spPr>
      </p:sp>
      <p:sp>
        <p:nvSpPr>
          <p:cNvPr id="85" name="Text 83"/>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5" name="Text 23"/>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6" name="Text 24"/>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7" name="Shape 25"/>
          <p:cNvSpPr/>
          <p:nvPr/>
        </p:nvSpPr>
        <p:spPr>
          <a:xfrm>
            <a:off x="658368" y="5124298"/>
            <a:ext cx="3489960" cy="755294"/>
          </a:xfrm>
          <a:prstGeom prst="rect">
            <a:avLst/>
          </a:prstGeom>
          <a:solidFill>
            <a:srgbClr val="F7F7F7"/>
          </a:solidFill>
          <a:ln/>
        </p:spPr>
      </p:sp>
      <p:sp>
        <p:nvSpPr>
          <p:cNvPr id="28" name="Text 26"/>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0" name="Text 28"/>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1" name="Text 29"/>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5" name="Shape 33"/>
          <p:cNvSpPr/>
          <p:nvPr/>
        </p:nvSpPr>
        <p:spPr>
          <a:xfrm>
            <a:off x="4349496" y="2103120"/>
            <a:ext cx="3489960" cy="755294"/>
          </a:xfrm>
          <a:prstGeom prst="rect">
            <a:avLst/>
          </a:prstGeom>
          <a:solidFill>
            <a:srgbClr val="F7F7F7"/>
          </a:solidFill>
          <a:ln/>
        </p:spPr>
      </p:sp>
      <p:sp>
        <p:nvSpPr>
          <p:cNvPr id="36" name="Text 34"/>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8" name="Text 36"/>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39" name="Text 37"/>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0" name="Text 38"/>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2" name="Text 40"/>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3" name="Text 41"/>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4" name="Shape 42"/>
          <p:cNvSpPr/>
          <p:nvPr/>
        </p:nvSpPr>
        <p:spPr>
          <a:xfrm>
            <a:off x="4349496" y="3613709"/>
            <a:ext cx="3489960" cy="755294"/>
          </a:xfrm>
          <a:prstGeom prst="rect">
            <a:avLst/>
          </a:prstGeom>
          <a:solidFill>
            <a:srgbClr val="F7F7F7"/>
          </a:solidFill>
          <a:ln/>
        </p:spPr>
      </p:sp>
      <p:sp>
        <p:nvSpPr>
          <p:cNvPr id="45" name="Text 43"/>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7" name="Text 45"/>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8" name="Text 46"/>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49" name="Text 47"/>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8"/>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1" name="Text 49"/>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2" name="Text 50"/>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3" name="Shape 51"/>
          <p:cNvSpPr/>
          <p:nvPr/>
        </p:nvSpPr>
        <p:spPr>
          <a:xfrm>
            <a:off x="4349496" y="5124298"/>
            <a:ext cx="3489960" cy="755294"/>
          </a:xfrm>
          <a:prstGeom prst="rect">
            <a:avLst/>
          </a:prstGeom>
          <a:solidFill>
            <a:srgbClr val="F7F7F7"/>
          </a:solidFill>
          <a:ln/>
        </p:spPr>
      </p:sp>
      <p:sp>
        <p:nvSpPr>
          <p:cNvPr id="54" name="Text 52"/>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53"/>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6" name="Text 54"/>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7" name="Text 55"/>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8" name="Shape 56"/>
          <p:cNvSpPr/>
          <p:nvPr/>
        </p:nvSpPr>
        <p:spPr>
          <a:xfrm>
            <a:off x="8040624" y="1371600"/>
            <a:ext cx="3489960" cy="45720"/>
          </a:xfrm>
          <a:prstGeom prst="rect">
            <a:avLst/>
          </a:prstGeom>
          <a:solidFill>
            <a:srgbClr val="2587C5"/>
          </a:solidFill>
          <a:ln/>
        </p:spPr>
      </p:sp>
      <p:sp>
        <p:nvSpPr>
          <p:cNvPr id="5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Text 5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1" name="Shape 59"/>
          <p:cNvSpPr/>
          <p:nvPr/>
        </p:nvSpPr>
        <p:spPr>
          <a:xfrm>
            <a:off x="8040624" y="2103120"/>
            <a:ext cx="3489960" cy="755294"/>
          </a:xfrm>
          <a:prstGeom prst="rect">
            <a:avLst/>
          </a:prstGeom>
          <a:solidFill>
            <a:srgbClr val="F7F7F7"/>
          </a:solidFill>
          <a:ln/>
        </p:spPr>
      </p:sp>
      <p:sp>
        <p:nvSpPr>
          <p:cNvPr id="62" name="Text 6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6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4" name="Text 62"/>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5" name="Text 63"/>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6" name="Text 6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6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8" name="Text 66"/>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69" name="Text 67"/>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0" name="Shape 68"/>
          <p:cNvSpPr/>
          <p:nvPr/>
        </p:nvSpPr>
        <p:spPr>
          <a:xfrm>
            <a:off x="8040624" y="3613709"/>
            <a:ext cx="3489960" cy="755294"/>
          </a:xfrm>
          <a:prstGeom prst="rect">
            <a:avLst/>
          </a:prstGeom>
          <a:solidFill>
            <a:srgbClr val="F7F7F7"/>
          </a:solidFill>
          <a:ln/>
        </p:spPr>
      </p:sp>
      <p:sp>
        <p:nvSpPr>
          <p:cNvPr id="71" name="Text 6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7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3" name="Text 71"/>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4" name="Text 72"/>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5" name="Text 73"/>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74"/>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7" name="Text 75"/>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78" name="Text 76"/>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79" name="Shape 77"/>
          <p:cNvSpPr/>
          <p:nvPr/>
        </p:nvSpPr>
        <p:spPr>
          <a:xfrm>
            <a:off x="8040624" y="5124298"/>
            <a:ext cx="3489960" cy="755294"/>
          </a:xfrm>
          <a:prstGeom prst="rect">
            <a:avLst/>
          </a:prstGeom>
          <a:solidFill>
            <a:srgbClr val="F7F7F7"/>
          </a:solidFill>
          <a:ln/>
        </p:spPr>
      </p:sp>
      <p:sp>
        <p:nvSpPr>
          <p:cNvPr id="80" name="Text 7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7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2" name="Text 80"/>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3" name="Text 81"/>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4" name="Shape 82"/>
          <p:cNvSpPr/>
          <p:nvPr/>
        </p:nvSpPr>
        <p:spPr>
          <a:xfrm>
            <a:off x="457200" y="6126480"/>
            <a:ext cx="11274552" cy="615696"/>
          </a:xfrm>
          <a:prstGeom prst="rect">
            <a:avLst/>
          </a:prstGeom>
          <a:solidFill>
            <a:srgbClr val="EDF4FA"/>
          </a:solidFill>
          <a:ln/>
        </p:spPr>
      </p:sp>
      <p:sp>
        <p:nvSpPr>
          <p:cNvPr id="85" name="Text 8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$265</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8996"/>
          </a:xfrm>
          <a:prstGeom prst="rect">
            <a:avLst/>
          </a:prstGeom>
          <a:solidFill>
            <a:srgbClr val="EDF4FA"/>
          </a:solidFill>
          <a:ln/>
        </p:spPr>
      </p:sp>
      <p:sp>
        <p:nvSpPr>
          <p:cNvPr id="193" name="Text 191"/>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$126</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$193</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$168</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71856"/>
          </a:xfrm>
          <a:prstGeom prst="rect">
            <a:avLst/>
          </a:prstGeom>
          <a:solidFill>
            <a:srgbClr val="EDF4FA"/>
          </a:solidFill>
          <a:ln/>
        </p:spPr>
      </p:sp>
      <p:sp>
        <p:nvSpPr>
          <p:cNvPr id="219"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at or above 70% of door rate. Cadillac runs $175 against a $200 target.</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$205</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$169</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5" name="Text 23"/>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6" name="Text 24"/>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7" name="Shape 25"/>
          <p:cNvSpPr/>
          <p:nvPr/>
        </p:nvSpPr>
        <p:spPr>
          <a:xfrm>
            <a:off x="658368" y="5124298"/>
            <a:ext cx="3489960" cy="755294"/>
          </a:xfrm>
          <a:prstGeom prst="rect">
            <a:avLst/>
          </a:prstGeom>
          <a:solidFill>
            <a:srgbClr val="F7F7F7"/>
          </a:solidFill>
          <a:ln/>
        </p:spPr>
      </p:sp>
      <p:sp>
        <p:nvSpPr>
          <p:cNvPr id="28" name="Text 26"/>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0" name="Text 28"/>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1" name="Text 29"/>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5" name="Shape 33"/>
          <p:cNvSpPr/>
          <p:nvPr/>
        </p:nvSpPr>
        <p:spPr>
          <a:xfrm>
            <a:off x="4349496" y="2103120"/>
            <a:ext cx="3489960" cy="755294"/>
          </a:xfrm>
          <a:prstGeom prst="rect">
            <a:avLst/>
          </a:prstGeom>
          <a:solidFill>
            <a:srgbClr val="F7F7F7"/>
          </a:solidFill>
          <a:ln/>
        </p:spPr>
      </p:sp>
      <p:sp>
        <p:nvSpPr>
          <p:cNvPr id="36" name="Text 34"/>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8" name="Text 36"/>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39" name="Text 37"/>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0" name="Text 38"/>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2" name="Text 40"/>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3" name="Text 41"/>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4" name="Shape 42"/>
          <p:cNvSpPr/>
          <p:nvPr/>
        </p:nvSpPr>
        <p:spPr>
          <a:xfrm>
            <a:off x="4349496" y="3613709"/>
            <a:ext cx="3489960" cy="755294"/>
          </a:xfrm>
          <a:prstGeom prst="rect">
            <a:avLst/>
          </a:prstGeom>
          <a:solidFill>
            <a:srgbClr val="F7F7F7"/>
          </a:solidFill>
          <a:ln/>
        </p:spPr>
      </p:sp>
      <p:sp>
        <p:nvSpPr>
          <p:cNvPr id="45" name="Text 43"/>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7" name="Text 45"/>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8" name="Text 46"/>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49" name="Text 47"/>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8"/>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1" name="Text 49"/>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2" name="Text 50"/>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3" name="Shape 51"/>
          <p:cNvSpPr/>
          <p:nvPr/>
        </p:nvSpPr>
        <p:spPr>
          <a:xfrm>
            <a:off x="4349496" y="5124298"/>
            <a:ext cx="3489960" cy="755294"/>
          </a:xfrm>
          <a:prstGeom prst="rect">
            <a:avLst/>
          </a:prstGeom>
          <a:solidFill>
            <a:srgbClr val="F7F7F7"/>
          </a:solidFill>
          <a:ln/>
        </p:spPr>
      </p:sp>
      <p:sp>
        <p:nvSpPr>
          <p:cNvPr id="54" name="Text 52"/>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53"/>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6" name="Text 54"/>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7" name="Text 55"/>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8" name="Shape 56"/>
          <p:cNvSpPr/>
          <p:nvPr/>
        </p:nvSpPr>
        <p:spPr>
          <a:xfrm>
            <a:off x="8040624" y="1371600"/>
            <a:ext cx="3489960" cy="45720"/>
          </a:xfrm>
          <a:prstGeom prst="rect">
            <a:avLst/>
          </a:prstGeom>
          <a:solidFill>
            <a:srgbClr val="2587C5"/>
          </a:solidFill>
          <a:ln/>
        </p:spPr>
      </p:sp>
      <p:sp>
        <p:nvSpPr>
          <p:cNvPr id="5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Text 5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1" name="Shape 59"/>
          <p:cNvSpPr/>
          <p:nvPr/>
        </p:nvSpPr>
        <p:spPr>
          <a:xfrm>
            <a:off x="8040624" y="2103120"/>
            <a:ext cx="3489960" cy="755294"/>
          </a:xfrm>
          <a:prstGeom prst="rect">
            <a:avLst/>
          </a:prstGeom>
          <a:solidFill>
            <a:srgbClr val="F7F7F7"/>
          </a:solidFill>
          <a:ln/>
        </p:spPr>
      </p:sp>
      <p:sp>
        <p:nvSpPr>
          <p:cNvPr id="62" name="Text 6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6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4" name="Text 62"/>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5" name="Text 63"/>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6" name="Text 6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6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68" name="Text 66"/>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69" name="Text 67"/>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0" name="Shape 68"/>
          <p:cNvSpPr/>
          <p:nvPr/>
        </p:nvSpPr>
        <p:spPr>
          <a:xfrm>
            <a:off x="8040624" y="3613709"/>
            <a:ext cx="3489960" cy="755294"/>
          </a:xfrm>
          <a:prstGeom prst="rect">
            <a:avLst/>
          </a:prstGeom>
          <a:solidFill>
            <a:srgbClr val="F7F7F7"/>
          </a:solidFill>
          <a:ln/>
        </p:spPr>
      </p:sp>
      <p:sp>
        <p:nvSpPr>
          <p:cNvPr id="71" name="Text 6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7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3" name="Text 71"/>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4" name="Text 72"/>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5" name="Text 73"/>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74"/>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7" name="Text 75"/>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78" name="Text 76"/>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79" name="Shape 77"/>
          <p:cNvSpPr/>
          <p:nvPr/>
        </p:nvSpPr>
        <p:spPr>
          <a:xfrm>
            <a:off x="8040624" y="5124298"/>
            <a:ext cx="3489960" cy="755294"/>
          </a:xfrm>
          <a:prstGeom prst="rect">
            <a:avLst/>
          </a:prstGeom>
          <a:solidFill>
            <a:srgbClr val="F7F7F7"/>
          </a:solidFill>
          <a:ln/>
        </p:spPr>
      </p:sp>
      <p:sp>
        <p:nvSpPr>
          <p:cNvPr id="80" name="Text 7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7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2" name="Text 80"/>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3" name="Text 81"/>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4" name="Shape 82"/>
          <p:cNvSpPr/>
          <p:nvPr/>
        </p:nvSpPr>
        <p:spPr>
          <a:xfrm>
            <a:off x="457200" y="6126480"/>
            <a:ext cx="11274552" cy="615696"/>
          </a:xfrm>
          <a:prstGeom prst="rect">
            <a:avLst/>
          </a:prstGeom>
          <a:solidFill>
            <a:srgbClr val="EDF4FA"/>
          </a:solidFill>
          <a:ln/>
        </p:spPr>
      </p:sp>
      <p:sp>
        <p:nvSpPr>
          <p:cNvPr id="85" name="Text 8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$534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1154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456745"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896362"/>
            <a:ext cx="1319524"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97008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90213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649646"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626189"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43016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3008376" y="4624578"/>
            <a:ext cx="1569727"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871466"/>
            <a:ext cx="137401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2" name="Shape 60"/>
          <p:cNvSpPr/>
          <p:nvPr/>
        </p:nvSpPr>
        <p:spPr>
          <a:xfrm>
            <a:off x="3008376" y="5118354"/>
            <a:ext cx="133088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326955"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0" name="Shape 68"/>
          <p:cNvSpPr/>
          <p:nvPr/>
        </p:nvSpPr>
        <p:spPr>
          <a:xfrm>
            <a:off x="3008376" y="5612130"/>
            <a:ext cx="1326556"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3008376" y="5859018"/>
            <a:ext cx="130756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8" name="Shape 76"/>
          <p:cNvSpPr/>
          <p:nvPr/>
        </p:nvSpPr>
        <p:spPr>
          <a:xfrm>
            <a:off x="3008376" y="6105906"/>
            <a:ext cx="127152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4" name="Shape 82"/>
          <p:cNvSpPr/>
          <p:nvPr/>
        </p:nvSpPr>
        <p:spPr>
          <a:xfrm>
            <a:off x="8558784" y="2155698"/>
            <a:ext cx="12497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8" name="Shape 86"/>
          <p:cNvSpPr/>
          <p:nvPr/>
        </p:nvSpPr>
        <p:spPr>
          <a:xfrm>
            <a:off x="8558784" y="2402586"/>
            <a:ext cx="1227346"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8558784" y="2649474"/>
            <a:ext cx="1113278"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6" name="Shape 94"/>
          <p:cNvSpPr/>
          <p:nvPr/>
        </p:nvSpPr>
        <p:spPr>
          <a:xfrm>
            <a:off x="8558784" y="2896362"/>
            <a:ext cx="1034713"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0" name="Shape 98"/>
          <p:cNvSpPr/>
          <p:nvPr/>
        </p:nvSpPr>
        <p:spPr>
          <a:xfrm>
            <a:off x="8558784" y="3143250"/>
            <a:ext cx="1024709"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4" name="Shape 102"/>
          <p:cNvSpPr/>
          <p:nvPr/>
        </p:nvSpPr>
        <p:spPr>
          <a:xfrm>
            <a:off x="8558784" y="3390138"/>
            <a:ext cx="1009123"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006292"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2" name="Shape 110"/>
          <p:cNvSpPr/>
          <p:nvPr/>
        </p:nvSpPr>
        <p:spPr>
          <a:xfrm>
            <a:off x="8558784" y="3883914"/>
            <a:ext cx="1003941" cy="123444"/>
          </a:xfrm>
          <a:prstGeom prst="rect">
            <a:avLst/>
          </a:prstGeom>
          <a:solidFill>
            <a:srgbClr val="12A566"/>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984258" cy="123444"/>
          </a:xfrm>
          <a:prstGeom prst="rect">
            <a:avLst/>
          </a:prstGeom>
          <a:solidFill>
            <a:srgbClr val="12A566"/>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8558784" y="4377690"/>
            <a:ext cx="927664"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4" name="Shape 122"/>
          <p:cNvSpPr/>
          <p:nvPr/>
        </p:nvSpPr>
        <p:spPr>
          <a:xfrm>
            <a:off x="8558784" y="4624578"/>
            <a:ext cx="91388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8" name="Shape 126"/>
          <p:cNvSpPr/>
          <p:nvPr/>
        </p:nvSpPr>
        <p:spPr>
          <a:xfrm>
            <a:off x="8558784" y="4871466"/>
            <a:ext cx="865848"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8558784" y="5118354"/>
            <a:ext cx="856180"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6" name="Shape 134"/>
          <p:cNvSpPr/>
          <p:nvPr/>
        </p:nvSpPr>
        <p:spPr>
          <a:xfrm>
            <a:off x="8558784" y="5365242"/>
            <a:ext cx="805303"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0" name="Shape 138"/>
          <p:cNvSpPr/>
          <p:nvPr/>
        </p:nvSpPr>
        <p:spPr>
          <a:xfrm>
            <a:off x="8558784" y="5612130"/>
            <a:ext cx="726848"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4" name="Shape 142"/>
          <p:cNvSpPr/>
          <p:nvPr/>
        </p:nvSpPr>
        <p:spPr>
          <a:xfrm>
            <a:off x="8558784" y="5859018"/>
            <a:ext cx="724227"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8" name="Shape 146"/>
          <p:cNvSpPr/>
          <p:nvPr/>
        </p:nvSpPr>
        <p:spPr>
          <a:xfrm>
            <a:off x="8558784" y="6105906"/>
            <a:ext cx="70440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50" name="Shape 148"/>
          <p:cNvSpPr/>
          <p:nvPr/>
        </p:nvSpPr>
        <p:spPr>
          <a:xfrm>
            <a:off x="3957886" y="2093976"/>
            <a:ext cx="14630" cy="2221992"/>
          </a:xfrm>
          <a:prstGeom prst="rect">
            <a:avLst/>
          </a:prstGeom>
          <a:solidFill>
            <a:srgbClr val="0B2C4A"/>
          </a:solidFill>
          <a:ln/>
        </p:spPr>
      </p:sp>
      <p:sp>
        <p:nvSpPr>
          <p:cNvPr id="151" name="Shape 149"/>
          <p:cNvSpPr/>
          <p:nvPr/>
        </p:nvSpPr>
        <p:spPr>
          <a:xfrm>
            <a:off x="3957886" y="4562856"/>
            <a:ext cx="14630" cy="1728216"/>
          </a:xfrm>
          <a:prstGeom prst="rect">
            <a:avLst/>
          </a:prstGeom>
          <a:solidFill>
            <a:srgbClr val="0B2C4A"/>
          </a:solidFill>
          <a:ln/>
        </p:spPr>
      </p:sp>
      <p:sp>
        <p:nvSpPr>
          <p:cNvPr id="152" name="Shape 150"/>
          <p:cNvSpPr/>
          <p:nvPr/>
        </p:nvSpPr>
        <p:spPr>
          <a:xfrm>
            <a:off x="9508294"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$926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$219</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$504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$988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Henderson, Lincoln and Lexus what changed. Ask LR Reno, Audi Reno and Kia LV what got in the way. Ask LR Reno, LR Henderson and Audi Henderson what they started this year.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graphicFrame>
        <p:nvGraphicFramePr>
          <p:cNvPr id="23" name="Chart 6"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7"/>
          </a:graphicData>
        </a:graphic>
      </p:graphicFrame>
      <p:graphicFrame>
        <p:nvGraphicFramePr>
          <p:cNvPr id="24" name="Chart 7"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8"/>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2026-10-24T20:21:23Z</dcterms:created>
  <dcterms:modified xsi:type="dcterms:W3CDTF">2026-10-24T20:21:23Z</dcterms:modified>
</cp:coreProperties>
</file>