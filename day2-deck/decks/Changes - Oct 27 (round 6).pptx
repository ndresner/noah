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39.xml" ContentType="application/vnd.openxmlformats-officedocument.presentationml.notesSlide+xml"/>
  <Override PartName="/ppt/notesSlides/notesSlide21.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52.xml" ContentType="application/vnd.openxmlformats-officedocument.presentationml.notesSlide+xml"/>
  <Override PartName="/ppt/notesSlides/notesSlide62.xml" ContentType="application/vnd.openxmlformats-officedocument.presentationml.notesSlide+xml"/>
  <Override PartName="/ppt/notesSlides/notesSlide68.xml" ContentType="application/vnd.openxmlformats-officedocument.presentationml.notesSlide+xml"/>
  <Override PartName="/ppt/notesSlides/notesSlide77.xml" ContentType="application/vnd.openxmlformats-officedocument.presentationml.notesSlide+xml"/>
  <Override PartName="/ppt/notesSlides/notesSlide82.xml" ContentType="application/vnd.openxmlformats-officedocument.presentationml.notes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3.xml" ContentType="application/vnd.openxmlformats-officedocument.presentationml.slide+xml"/>
  <Override PartName="/ppt/slides/slide136.xml" ContentType="application/vnd.openxmlformats-officedocument.presentationml.slide+xml"/>
  <Override PartName="/ppt/slides/slide27.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46.xml" ContentType="application/vnd.openxmlformats-officedocument.presentationml.slide+xml"/>
  <Override PartName="/ppt/slides/slide56.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76.xml" ContentType="application/vnd.openxmlformats-officedocument.presentationml.slide+xml"/>
  <Override PartName="/ppt/slides/slide81.xml" ContentType="application/vnd.openxmlformats-officedocument.presentationml.slide+xml"/>
  <Override PartName="/ppt/slides/slide9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8" r:id="rId19"/>
    <p:sldId id="276" r:id="rId27"/>
    <p:sldId id="289" r:id="rId40"/>
    <p:sldId id="294" r:id="rId45"/>
    <p:sldId id="307" r:id="rId58"/>
    <p:sldId id="317" r:id="rId68"/>
    <p:sldId id="323" r:id="rId74"/>
    <p:sldId id="332" r:id="rId83"/>
    <p:sldId id="337" r:id="rId88"/>
    <p:sldId id="342" r:id="rId93"/>
    <p:sldId id="353" r:id="rId104"/>
    <p:sldId id="394" r:id="rId145"/>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9" Type="http://schemas.openxmlformats.org/officeDocument/2006/relationships/slide" Target="slides/slide4.xml"/><Relationship Id="rId27" Type="http://schemas.openxmlformats.org/officeDocument/2006/relationships/slide" Target="slides/slide13.xml"/><Relationship Id="rId40" Type="http://schemas.openxmlformats.org/officeDocument/2006/relationships/slide" Target="slides/slide27.xml"/><Relationship Id="rId45" Type="http://schemas.openxmlformats.org/officeDocument/2006/relationships/slide" Target="slides/slide32.xml"/><Relationship Id="rId58" Type="http://schemas.openxmlformats.org/officeDocument/2006/relationships/slide" Target="slides/slide46.xml"/><Relationship Id="rId68" Type="http://schemas.openxmlformats.org/officeDocument/2006/relationships/slide" Target="slides/slide56.xml"/><Relationship Id="rId74" Type="http://schemas.openxmlformats.org/officeDocument/2006/relationships/slide" Target="slides/slide62.xml"/><Relationship Id="rId83" Type="http://schemas.openxmlformats.org/officeDocument/2006/relationships/slide" Target="slides/slide71.xml"/><Relationship Id="rId88" Type="http://schemas.openxmlformats.org/officeDocument/2006/relationships/slide" Target="slides/slide76.xml"/><Relationship Id="rId93" Type="http://schemas.openxmlformats.org/officeDocument/2006/relationships/slide" Target="slides/slide81.xml"/><Relationship Id="rId104" Type="http://schemas.openxmlformats.org/officeDocument/2006/relationships/slide" Target="slides/slide93.xml"/><Relationship Id="rId145" Type="http://schemas.openxmlformats.org/officeDocument/2006/relationships/slide" Target="slides/slide1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Detail statement. Same-store, INEOS excluded (opened 2026). Fixed ops net profit = service (Mechanical) + parts (P&amp;A) department profit: department gross less the department's own expenses; GMC Prescott body shop is its own department and is not included.PLACE: opening, right after Why We Are Here (Noah, Oct 24): the high-level view of service and parts before the sections. Department profit as the P&amp;L Detail statement reports it (DEPARTMENT PROFIT OR LOSS, Mechanical and P&amp;A). Jan-Sep 2026 gross $188,799,724, department expenses $138,349,830, profit $50,449,894; 2025 $181,331,157 / $135,995,022 / $45,336,135. Store-level costs the P&amp;L does not split by department (management fees, other income) sit outside it. Same basis as the service and parts net to gross slides. Revenue per $1 of net: service + parts net sales $347,806,562 (P&amp;L Detail NET SALES, Mechanical $182,131,162 + P&amp;A $165,675,400) / net profit $50,449,894 = $6.89; net profit is 14.5 cents of every sales dollar. Parts sales include parts sold to the service department.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Gross section, after Service Is Sales 2.0 and in front of Total Gross Profit - Fixed Ops.</a:t>
            </a:r>
          </a:p>
          <a:p>
            <a:r>
              <a:t>Source: Qlik Profit &amp; Loss, Total Gross Profit - Service and Total Gross Profit - Parts, same-store, INEOS excluded, GMC Prescott body shop gross excluded (as on the gross slides). Hourly technician pay, guarantees and bonuses paid off the RO post as unapplied labor: not charged on any repair order, a cost-of-sale adjustment that reduces service gross (Noah, Oct 23).</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Qlik - Profit &amp; Loss, GM statement. Jan-Sep 2026, same-store, INEOS excluded (opened 2026).PLACE: Profitability, in front of Fixed Ops Absorption %; the next slide breaks down the fixed expenses. The denominator is the P&amp;L's Fixed Expenses line on the GM statement: the whole store's expenses (new, used, service, parts, body shop) less the costs that move with each car sold: sales and F&amp;I commissions, delivery, policy, floorplan interest, and new and used vehicle advertising. That matches the standard dealer definition: fixed ops gross divided by total store overhead, excluding the variable costs of selling cars. Jan-Sep 2026 same-store: $242,850,782 of fixed expenses out of $305,051,366 total expense.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Profitability, in front of Service Net to Gross %.</a:t>
            </a:r>
          </a:p>
          <a:p>
            <a:r>
              <a:t>P&amp;L Detail statement: DEPARTMENT PROFIT OR LOSS / GROSS PROFIT / INCOME, Mechanical Dept (service) and P&amp;A Dept (parts).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RO Count.</a:t>
            </a:r>
          </a:p>
          <a:p>
            <a:r>
              <a:t>Definition is the data slides' own: distinct ROs with a customer-pay line, by close month. This includes the roughly 0.9% of CP ROs with no labor charged (parts-only sales such as additives, wipers and batteries, and blank CP lines); Qlik's hasLabor flag is set on every line, so it does not filter them, and the count is kept that way to match the numbers stores are used to. GMC Prescott body-shop-only ROs excluded.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Hours per RO.</a:t>
            </a:r>
          </a:p>
          <a:p>
            <a:r>
              <a:t>$4,543,691 = 0.1 x 279,756 CP ROs (27,976 hours) x $162.42 CP ELR (on the Hours per RO data slide). Slide rounds to $162 and $4.5M so the room can follow it (Noah, Oct 23).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Customer Pay, after CP Hours per RO and ahead of Labor Sale by Pay Type and the CP ELR slides.</a:t>
            </a:r>
          </a:p>
          <a:p>
            <a:r>
              <a:t>Roundtable worked example removed from the slide (Noah, Oct 21).</a:t>
            </a:r>
          </a:p>
          <a:p>
            <a:r>
              <a:t>Talk track (Noah, Oct 23): to understand your ELR you have to understand your work mix. A shop that does more repair than maintenance will run a higher ELR, because the repair rate is higher; a shop that is mostly maintenance will run lower. There is nothing wrong with that, but you need to know your mix to know why your ELR is what it is. Raising the repair rate may do less than raising the maintenance rate if most of your work is maintenance. Know your ELR for every labor operation.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 per RO.</a:t>
            </a:r>
          </a:p>
          <a:p>
            <a:r>
              <a:t>1.87 x $162.42 = $303.73, which rounds to the $304 on the data slide. Parts line (Noah, Oct 23: the parts $ per RO section is out of the deck, so the link lives here): CP parts per RO $228.50 -&gt; $237.96 Jan-Sep 2025 -&gt; 2026 while CP labor per RO rose $286.67 -&gt; $303.72 (Qlik Closed RO, m5.json).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Labor Gross Profit %.</a:t>
            </a:r>
          </a:p>
          <a:p>
            <a:r>
              <a:t>Example (Noah, Oct 23: replaces the Roundtable table): one CP hour at the group's Jan-Sep 2026 averages, $162.42 ELR, $31.21 tech cost per hour sold, $131.21 kept = 80.8%; rounded on the slide.</a:t>
            </a:r>
          </a:p>
          <a:p>
            <a:r>
              <a:t>Oct 23 (Noah): The Goldilocks Margin talking point is folded into this slide (it repeated it): no Goldilocks or Roundtable wording; its ask (match the tech to the job, not squeeze tech pay) is the first Why It Matters point.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CP Engine, in front of CP Parts Gross Profit %.</a:t>
            </a:r>
          </a:p>
          <a:p>
            <a:r>
              <a:t>Why understand your parts pricing matrix (Noah, Oct 26): (1) Maximize gross profit: price parts to maximize profitability; find gross without more volume. (2) Consistent pricing: every customer charged the same for the same part; no incorrect prices from bad setups or manual overrides. (3) Stay competitive: avoid markups that make repairs too expensive; balance profit with price on higher-cost parts. (4) Check the matrix is applied: parts actually sell at matrix prices; find parts, labor types or transactions that bypass it. (5) Warranty reimbursement: customer-pay parts pricing drives the warranty parts reimbursement rate, so good pricing supports a higher rate and more warranty gross. (6) Control the strategy: know how your matrix is configured and review it against your gross profit goals. Takeaway: the matrix is one of the most effective tools for improving profit without more volume.</a:t>
            </a:r>
          </a:p>
          <a:p>
            <a:r>
              <a:t>5 reasons parts gross profit % matters (Noah, Oct 26): (1) Maximizes profitability: higher GP % earns more from the same volume; small improvements add up over a year. (2) Measures pricing effectiveness: are parts sold at the right prices; where to improve matrices, discounts and markups. (3) Controls discounts and cost increases: shows when discounting cuts profit, and when rising parts costs are not reflected in selling prices. (4) Supports dealership profit: parts gross covers department expenses, adds to net profit and helps fixed ops absorb store overhead. (5) Identifies opportunities: compare against targets, history and other stores; find weak categories (customer pay, wholesale, warranty, internal). Takeaway: parts GP % measures how well we turn parts sales into profit; raising it is one of the most direct ways to grow profit without more volume.</a:t>
            </a:r>
          </a:p>
          <a:p>
            <a:r>
              <a:t>37 cents (Oct 26): P&amp;L Detail, Jan-Sep 2026 same-store, parts department profit $22.75M / parts gross $61.93M = 36.7% (2025 37.1%); service 21.8% (2025 18.9%); new and used lose money at the department level; parts beats service in 31 of 33 stores (not Honda Henderson, VW Henderson). F&amp;I income less F&amp;I commissions is higher (about 80%) but F&amp;I is not a P&amp;L department and its other costs sit in new and used, so say 'department'. Department view: about $87M of other income (doc fees, packs, factory money, holdback) is booked outside the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Opcodes, after the section break, in front of Alignment %.</a:t>
            </a:r>
          </a:p>
          <a:p>
            <a:r>
              <a:t>Denominator: CP ROs on the op code report basis (excluding ROs flagged out of the report).</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Definitions match the data slides: Qlik - Closed Repair Orders (all customer-pay ROs, by close month), Profit &amp; Loss and Productivity apps, Jan-Sep 2026 vs 2025, same-store, 33 stores. Worked example: Service Manager Roundtable, Nov 15, 2024, slide 21.PLACE: Technician Proficiency, after the section break, in front of the store ranker.</a:t>
            </a:r>
          </a:p>
          <a:p>
            <a:r>
              <a:t>Proficiency uses ADP worked hours (regular + overtime), so it includes time not on an RO. Efficiency would use DMS time punched on jobs, which this data does not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9.xml"/></Relationships>
</file>

<file path=ppt/slides/slide4.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NET PROFIT</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Net Profit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Fixed ops net profit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gross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service &amp; parts expenses</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profit parts and service generate after their allocated expenses are covered.</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Gross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Expenses  </a:t>
            </a:r>
            <a:pPr algn="ctr" indent="0" marL="0">
              <a:buNone/>
            </a:pPr>
            <a:r>
              <a:rPr lang="en-US" sz="1400" b="1" dirty="0">
                <a:solidFill>
                  <a:srgbClr val="0B2C4A"/>
                </a:solidFill>
                <a:latin typeface="Inter" pitchFamily="34" charset="0"/>
                <a:ea typeface="Inter" pitchFamily="34" charset="-122"/>
                <a:cs typeface="Inter" pitchFamily="34" charset="-120"/>
              </a:rPr>
              <a:t>$138.35M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Net profit  </a:t>
            </a:r>
            <a:pPr algn="ctr" indent="0" marL="0">
              <a:buNone/>
            </a:pPr>
            <a:r>
              <a:rPr lang="en-US" sz="1400" b="1" dirty="0">
                <a:solidFill>
                  <a:srgbClr val="0B2C4A"/>
                </a:solidFill>
                <a:latin typeface="Inter" pitchFamily="34" charset="0"/>
                <a:ea typeface="Inter" pitchFamily="34" charset="-122"/>
                <a:cs typeface="Inter" pitchFamily="34" charset="-120"/>
              </a:rPr>
              <a:t>$50.45M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what fixed ops actually contributes to the store.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Gross can grow while profit shrinks if expenses grow faster.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Every dollar of expense saved drops straight to the bottom line. Earning that $1 takes $7 in service and parts sales.</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Car count, hours per RO, effective labor rate, parts and labor margin</a:t>
            </a:r>
            <a:endParaRPr lang="en-US" sz="1400" dirty="0"/>
          </a:p>
        </p:txBody>
      </p:sp>
      <p:sp>
        <p:nvSpPr>
          <p:cNvPr id="22" name="Shape 20"/>
          <p:cNvSpPr/>
          <p:nvPr/>
        </p:nvSpPr>
        <p:spPr>
          <a:xfrm>
            <a:off x="8394192" y="3410712"/>
            <a:ext cx="45720" cy="1133856"/>
          </a:xfrm>
          <a:prstGeom prst="rect">
            <a:avLst/>
          </a:prstGeom>
          <a:solidFill>
            <a:srgbClr val="2587C5"/>
          </a:solidFill>
          <a:ln/>
        </p:spPr>
      </p:sp>
      <p:sp>
        <p:nvSpPr>
          <p:cNvPr id="23" name="Text 21"/>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largest expense: staffing to the workload, pay plans tied to performance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Productivity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More gross from the same team and the same stalls</a:t>
            </a:r>
            <a:endParaRPr lang="en-US" sz="1400" dirty="0"/>
          </a:p>
        </p:txBody>
      </p:sp>
      <p:sp>
        <p:nvSpPr>
          <p:cNvPr id="26" name="Shape 24"/>
          <p:cNvSpPr/>
          <p:nvPr/>
        </p:nvSpPr>
        <p:spPr>
          <a:xfrm>
            <a:off x="8394192" y="4654296"/>
            <a:ext cx="45720" cy="1133856"/>
          </a:xfrm>
          <a:prstGeom prst="rect">
            <a:avLst/>
          </a:prstGeom>
          <a:solidFill>
            <a:srgbClr val="2587C5"/>
          </a:solidFill>
          <a:ln/>
        </p:spPr>
      </p:sp>
      <p:sp>
        <p:nvSpPr>
          <p:cNvPr id="27" name="Text 25"/>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Spending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outside services, service policy, advertising, company vehicles</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$50.45M fixed ops net profit, +11.3%. Gross grew +4.1%; department expenses +1.7%.</a:t>
            </a:r>
            <a:endParaRPr lang="en-US" sz="16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GROSS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Ops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service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400" dirty="0">
                <a:solidFill>
                  <a:srgbClr val="595959"/>
                </a:solidFill>
                <a:latin typeface="Inter" pitchFamily="34" charset="0"/>
                <a:ea typeface="Inter" pitchFamily="34" charset="-122"/>
                <a:cs typeface="Inter" pitchFamily="34" charset="-120"/>
              </a:rPr>
              <a:t>What each department keeps after the cost of what it sold: labor sale less technician cost, parts sale less parts cost.</a:t>
            </a:r>
            <a:endParaRPr lang="en-US" sz="14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JAN–SEP 2026</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Service  </a:t>
            </a:r>
            <a:pPr algn="ctr" indent="0" marL="0">
              <a:buNone/>
            </a:pPr>
            <a:r>
              <a:rPr lang="en-US" sz="1400" b="1" dirty="0">
                <a:solidFill>
                  <a:srgbClr val="0B2C4A"/>
                </a:solidFill>
                <a:latin typeface="Inter" pitchFamily="34" charset="0"/>
                <a:ea typeface="Inter" pitchFamily="34" charset="-122"/>
                <a:cs typeface="Inter" pitchFamily="34" charset="-120"/>
              </a:rPr>
              <a:t>$126.87M</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Parts  </a:t>
            </a:r>
            <a:pPr algn="ctr" indent="0" marL="0">
              <a:buNone/>
            </a:pPr>
            <a:r>
              <a:rPr lang="en-US" sz="1400" b="1" dirty="0">
                <a:solidFill>
                  <a:srgbClr val="0B2C4A"/>
                </a:solidFill>
                <a:latin typeface="Inter" pitchFamily="34" charset="0"/>
                <a:ea typeface="Inter" pitchFamily="34" charset="-122"/>
                <a:cs typeface="Inter" pitchFamily="34" charset="-120"/>
              </a:rPr>
              <a:t>$61.93M</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Fixed ops  </a:t>
            </a:r>
            <a:pPr algn="ctr" indent="0" marL="0">
              <a:buNone/>
            </a:pPr>
            <a:r>
              <a:rPr lang="en-US" sz="1400" b="1" dirty="0">
                <a:solidFill>
                  <a:srgbClr val="0B2C4A"/>
                </a:solidFill>
                <a:latin typeface="Inter" pitchFamily="34" charset="0"/>
                <a:ea typeface="Inter" pitchFamily="34" charset="-122"/>
                <a:cs typeface="Inter" pitchFamily="34" charset="-120"/>
              </a:rPr>
              <a:t>$188.80M</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HOW EACH IS BUILT</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Service earns only on labor hours sold: the labor sale less what the technician is paid for the job.</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Parts sold on a service RO are parts gross, not service gross.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Both include customer pay, warranty and internal work.</a:t>
            </a:r>
            <a:endParaRPr lang="en-US" sz="1500" dirty="0"/>
          </a:p>
        </p:txBody>
      </p:sp>
      <p:sp>
        <p:nvSpPr>
          <p:cNvPr id="20" name="Shape 18"/>
          <p:cNvSpPr/>
          <p:nvPr/>
        </p:nvSpPr>
        <p:spPr>
          <a:xfrm>
            <a:off x="5138928" y="3410712"/>
            <a:ext cx="45720" cy="1262503"/>
          </a:xfrm>
          <a:prstGeom prst="rect">
            <a:avLst/>
          </a:prstGeom>
          <a:solidFill>
            <a:srgbClr val="2587C5"/>
          </a:solidFill>
          <a:ln/>
        </p:spPr>
      </p:sp>
      <p:sp>
        <p:nvSpPr>
          <p:cNvPr id="21" name="Text 19"/>
          <p:cNvSpPr txBox="1"/>
          <p:nvPr/>
        </p:nvSpPr>
        <p:spPr>
          <a:xfrm>
            <a:off x="5266944" y="3410712"/>
            <a:ext cx="2962656" cy="12625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labor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written process, followed on every car, every time, tracked and managed daily</a:t>
            </a:r>
            <a:endParaRPr lang="en-US" sz="1400" dirty="0"/>
          </a:p>
        </p:txBody>
      </p:sp>
      <p:sp>
        <p:nvSpPr>
          <p:cNvPr id="22" name="Shape 20"/>
          <p:cNvSpPr/>
          <p:nvPr/>
        </p:nvSpPr>
        <p:spPr>
          <a:xfrm>
            <a:off x="8394192" y="3410712"/>
            <a:ext cx="45720" cy="1262503"/>
          </a:xfrm>
          <a:prstGeom prst="rect">
            <a:avLst/>
          </a:prstGeom>
          <a:solidFill>
            <a:srgbClr val="2587C5"/>
          </a:solidFill>
          <a:ln/>
        </p:spPr>
      </p:sp>
      <p:sp>
        <p:nvSpPr>
          <p:cNvPr id="23" name="Text 21"/>
          <p:cNvSpPr txBox="1"/>
          <p:nvPr/>
        </p:nvSpPr>
        <p:spPr>
          <a:xfrm>
            <a:off x="8522208" y="3410712"/>
            <a:ext cx="2962656" cy="12625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technician cost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Right work, right tech. Hourly pay, guarantees and bonuses paid off the RO are unapplied labor and lower gross</a:t>
            </a:r>
            <a:endParaRPr lang="en-US" sz="1400" dirty="0"/>
          </a:p>
        </p:txBody>
      </p:sp>
      <p:sp>
        <p:nvSpPr>
          <p:cNvPr id="24" name="Shape 22"/>
          <p:cNvSpPr/>
          <p:nvPr/>
        </p:nvSpPr>
        <p:spPr>
          <a:xfrm>
            <a:off x="5138928" y="4782943"/>
            <a:ext cx="45720" cy="1005209"/>
          </a:xfrm>
          <a:prstGeom prst="rect">
            <a:avLst/>
          </a:prstGeom>
          <a:solidFill>
            <a:srgbClr val="2587C5"/>
          </a:solidFill>
          <a:ln/>
        </p:spPr>
      </p:sp>
      <p:sp>
        <p:nvSpPr>
          <p:cNvPr id="25" name="Text 23"/>
          <p:cNvSpPr txBox="1"/>
          <p:nvPr/>
        </p:nvSpPr>
        <p:spPr>
          <a:xfrm>
            <a:off x="5266944" y="4782943"/>
            <a:ext cx="2962656" cy="10052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on the RO</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dollar of labor sold brings more parts gross with it</a:t>
            </a:r>
            <a:endParaRPr lang="en-US" sz="1400" dirty="0"/>
          </a:p>
        </p:txBody>
      </p:sp>
      <p:sp>
        <p:nvSpPr>
          <p:cNvPr id="26" name="Shape 24"/>
          <p:cNvSpPr/>
          <p:nvPr/>
        </p:nvSpPr>
        <p:spPr>
          <a:xfrm>
            <a:off x="8394192" y="4782943"/>
            <a:ext cx="45720" cy="1005209"/>
          </a:xfrm>
          <a:prstGeom prst="rect">
            <a:avLst/>
          </a:prstGeom>
          <a:solidFill>
            <a:srgbClr val="2587C5"/>
          </a:solidFill>
          <a:ln/>
        </p:spPr>
      </p:sp>
      <p:sp>
        <p:nvSpPr>
          <p:cNvPr id="27" name="Text 25"/>
          <p:cNvSpPr txBox="1"/>
          <p:nvPr/>
        </p:nvSpPr>
        <p:spPr>
          <a:xfrm>
            <a:off x="8522208" y="4782943"/>
            <a:ext cx="2962656" cy="10052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over the counter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Retail, wholesale, tires and oil. Wholesale has to make sense: its gross must cover what it costs to run</a:t>
            </a:r>
            <a:endParaRPr lang="en-US" sz="1400" dirty="0"/>
          </a:p>
        </p:txBody>
      </p:sp>
      <p:sp>
        <p:nvSpPr>
          <p:cNvPr id="28" name="Shape 26"/>
          <p:cNvSpPr/>
          <p:nvPr/>
        </p:nvSpPr>
        <p:spPr>
          <a:xfrm>
            <a:off x="457200" y="6126480"/>
            <a:ext cx="11274552" cy="371856"/>
          </a:xfrm>
          <a:prstGeom prst="rect">
            <a:avLst/>
          </a:prstGeom>
          <a:solidFill>
            <a:srgbClr val="E6F6EE"/>
          </a:solidFill>
          <a:ln/>
        </p:spPr>
      </p:sp>
      <p:sp>
        <p:nvSpPr>
          <p:cNvPr id="29" name="Text 27"/>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$188.80M fixed ops gross Jan–Sep 2026, up $7.47M (4.1%): service +$6.30M, parts +$1.17M.</a:t>
            </a:r>
            <a:endParaRPr lang="en-US" sz="16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Fixed Absorption</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Fixed absorption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fixed ops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total store fixed expenses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the dealership's fixed expenses are covered by parts and service gross profit.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READING IT</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At 100%  </a:t>
            </a:r>
            <a:pPr algn="ctr" indent="0" marL="0">
              <a:buNone/>
            </a:pPr>
            <a:r>
              <a:rPr lang="en-US" sz="1400" b="1" dirty="0">
                <a:solidFill>
                  <a:srgbClr val="0B2C4A"/>
                </a:solidFill>
                <a:latin typeface="Inter" pitchFamily="34" charset="0"/>
                <a:ea typeface="Inter" pitchFamily="34" charset="-122"/>
                <a:cs typeface="Inter" pitchFamily="34" charset="-120"/>
              </a:rPr>
              <a:t>fixed ops covers every fixed expense</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Group today  </a:t>
            </a:r>
            <a:pPr algn="ctr" indent="0" marL="0">
              <a:buNone/>
            </a:pPr>
            <a:r>
              <a:rPr lang="en-US" sz="1400" b="1" dirty="0">
                <a:solidFill>
                  <a:srgbClr val="0B2C4A"/>
                </a:solidFill>
                <a:latin typeface="Inter" pitchFamily="34" charset="0"/>
                <a:ea typeface="Inter" pitchFamily="34" charset="-122"/>
                <a:cs typeface="Inter" pitchFamily="34" charset="-120"/>
              </a:rPr>
              <a:t>78.1%</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WHAT'S IN TOTAL STORE FIXED EXPENSES</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At 100%, the store covers its fixed costs before it sells a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protects the store when car sales slow.</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clearest measure of fixed ops' value to the dealership.</a:t>
            </a:r>
            <a:endParaRPr lang="en-US" sz="1500" dirty="0"/>
          </a:p>
        </p:txBody>
      </p:sp>
      <p:sp>
        <p:nvSpPr>
          <p:cNvPr id="18" name="Shape 16"/>
          <p:cNvSpPr/>
          <p:nvPr/>
        </p:nvSpPr>
        <p:spPr>
          <a:xfrm>
            <a:off x="5138928" y="3410712"/>
            <a:ext cx="45720" cy="1020803"/>
          </a:xfrm>
          <a:prstGeom prst="rect">
            <a:avLst/>
          </a:prstGeom>
          <a:solidFill>
            <a:srgbClr val="2587C5"/>
          </a:solidFill>
          <a:ln/>
        </p:spPr>
      </p:sp>
      <p:sp>
        <p:nvSpPr>
          <p:cNvPr id="19" name="Text 17"/>
          <p:cNvSpPr txBox="1"/>
          <p:nvPr/>
        </p:nvSpPr>
        <p:spPr>
          <a:xfrm>
            <a:off x="5266944"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people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Salaries and wages, payroll taxes, benefits, PTO: every department</a:t>
            </a:r>
            <a:endParaRPr lang="en-US" sz="1400" dirty="0"/>
          </a:p>
        </p:txBody>
      </p:sp>
      <p:sp>
        <p:nvSpPr>
          <p:cNvPr id="20" name="Shape 18"/>
          <p:cNvSpPr/>
          <p:nvPr/>
        </p:nvSpPr>
        <p:spPr>
          <a:xfrm>
            <a:off x="8394192" y="3410712"/>
            <a:ext cx="45720" cy="1020803"/>
          </a:xfrm>
          <a:prstGeom prst="rect">
            <a:avLst/>
          </a:prstGeom>
          <a:solidFill>
            <a:srgbClr val="2587C5"/>
          </a:solidFill>
          <a:ln/>
        </p:spPr>
      </p:sp>
      <p:sp>
        <p:nvSpPr>
          <p:cNvPr id="21" name="Text 19"/>
          <p:cNvSpPr txBox="1"/>
          <p:nvPr/>
        </p:nvSpPr>
        <p:spPr>
          <a:xfrm>
            <a:off x="8522208" y="3410712"/>
            <a:ext cx="2962656" cy="102080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building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Rent, depreciation, property taxes, utilities, insurance, repairs</a:t>
            </a:r>
            <a:endParaRPr lang="en-US" sz="1400" dirty="0"/>
          </a:p>
        </p:txBody>
      </p:sp>
      <p:sp>
        <p:nvSpPr>
          <p:cNvPr id="22" name="Shape 20"/>
          <p:cNvSpPr/>
          <p:nvPr/>
        </p:nvSpPr>
        <p:spPr>
          <a:xfrm>
            <a:off x="5138928" y="4541243"/>
            <a:ext cx="45720" cy="1246909"/>
          </a:xfrm>
          <a:prstGeom prst="rect">
            <a:avLst/>
          </a:prstGeom>
          <a:solidFill>
            <a:srgbClr val="2587C5"/>
          </a:solidFill>
          <a:ln/>
        </p:spPr>
      </p:sp>
      <p:sp>
        <p:nvSpPr>
          <p:cNvPr id="23" name="Text 21"/>
          <p:cNvSpPr txBox="1"/>
          <p:nvPr/>
        </p:nvSpPr>
        <p:spPr>
          <a:xfrm>
            <a:off x="5266944"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Included: systems and other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DMS and IT, outside services, phones, training, supplies</a:t>
            </a:r>
            <a:endParaRPr lang="en-US" sz="1400" dirty="0"/>
          </a:p>
        </p:txBody>
      </p:sp>
      <p:sp>
        <p:nvSpPr>
          <p:cNvPr id="24" name="Shape 22"/>
          <p:cNvSpPr/>
          <p:nvPr/>
        </p:nvSpPr>
        <p:spPr>
          <a:xfrm>
            <a:off x="8394192" y="4541243"/>
            <a:ext cx="45720" cy="1246909"/>
          </a:xfrm>
          <a:prstGeom prst="rect">
            <a:avLst/>
          </a:prstGeom>
          <a:solidFill>
            <a:srgbClr val="2587C5"/>
          </a:solidFill>
          <a:ln/>
        </p:spPr>
      </p:sp>
      <p:sp>
        <p:nvSpPr>
          <p:cNvPr id="25" name="Text 23"/>
          <p:cNvSpPr txBox="1"/>
          <p:nvPr/>
        </p:nvSpPr>
        <p:spPr>
          <a:xfrm>
            <a:off x="8522208" y="4541243"/>
            <a:ext cx="2962656" cy="1246909"/>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Not included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Sales and F&amp;I commissions, delivery, floorplan interest, new and used vehicle advertising</a:t>
            </a:r>
            <a:endParaRPr lang="en-US" sz="1400" dirty="0"/>
          </a:p>
        </p:txBody>
      </p:sp>
      <p:sp>
        <p:nvSpPr>
          <p:cNvPr id="26" name="Shape 24"/>
          <p:cNvSpPr/>
          <p:nvPr/>
        </p:nvSpPr>
        <p:spPr>
          <a:xfrm>
            <a:off x="457200" y="6126480"/>
            <a:ext cx="11274552" cy="371856"/>
          </a:xfrm>
          <a:prstGeom prst="rect">
            <a:avLst/>
          </a:prstGeom>
          <a:solidFill>
            <a:srgbClr val="E6F6EE"/>
          </a:solidFill>
          <a:ln/>
        </p:spPr>
      </p:sp>
      <p:sp>
        <p:nvSpPr>
          <p:cNvPr id="27" name="Text 25"/>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78.1% absorption, up 2.1 pts. Fixed gross grew 4.1%; fixed expenses 1.3%.</a:t>
            </a:r>
            <a:endParaRPr lang="en-US" sz="16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FIXED OPS PROFITABILITY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Net to Gross</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Net to gross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profit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department gross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much of each gross dollar the department keeps after its own expenses.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the true measure of how the department performs.</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is what we make; net is what we keep.</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Gross can grow while net falls if expenses grow faster.</a:t>
            </a:r>
            <a:endParaRPr lang="en-US" sz="1600" dirty="0"/>
          </a:p>
        </p:txBody>
      </p:sp>
      <p:sp>
        <p:nvSpPr>
          <p:cNvPr id="13" name="Shape 11"/>
          <p:cNvSpPr/>
          <p:nvPr/>
        </p:nvSpPr>
        <p:spPr>
          <a:xfrm>
            <a:off x="5138928" y="2843784"/>
            <a:ext cx="45720" cy="1189887"/>
          </a:xfrm>
          <a:prstGeom prst="rect">
            <a:avLst/>
          </a:prstGeom>
          <a:solidFill>
            <a:srgbClr val="2587C5"/>
          </a:solidFill>
          <a:ln/>
        </p:spPr>
      </p:sp>
      <p:sp>
        <p:nvSpPr>
          <p:cNvPr id="14" name="Text 12"/>
          <p:cNvSpPr txBox="1"/>
          <p:nvPr/>
        </p:nvSpPr>
        <p:spPr>
          <a:xfrm>
            <a:off x="5266944"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Personnel expense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Headcount and pay plans: the biggest line</a:t>
            </a:r>
            <a:endParaRPr lang="en-US" sz="1400" dirty="0"/>
          </a:p>
        </p:txBody>
      </p:sp>
      <p:sp>
        <p:nvSpPr>
          <p:cNvPr id="15" name="Shape 13"/>
          <p:cNvSpPr/>
          <p:nvPr/>
        </p:nvSpPr>
        <p:spPr>
          <a:xfrm>
            <a:off x="8394192" y="2843784"/>
            <a:ext cx="45720" cy="1189887"/>
          </a:xfrm>
          <a:prstGeom prst="rect">
            <a:avLst/>
          </a:prstGeom>
          <a:solidFill>
            <a:srgbClr val="2587C5"/>
          </a:solidFill>
          <a:ln/>
        </p:spPr>
      </p:sp>
      <p:sp>
        <p:nvSpPr>
          <p:cNvPr id="16" name="Text 14"/>
          <p:cNvSpPr txBox="1"/>
          <p:nvPr/>
        </p:nvSpPr>
        <p:spPr>
          <a:xfrm>
            <a:off x="8522208" y="2843784"/>
            <a:ext cx="2962656" cy="118988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Semi-fixed expenses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Supplies, shop tools and equipment, training, advertising, outside services, data processing</a:t>
            </a:r>
            <a:endParaRPr lang="en-US" sz="1400" dirty="0"/>
          </a:p>
        </p:txBody>
      </p:sp>
      <p:sp>
        <p:nvSpPr>
          <p:cNvPr id="17" name="Shape 15"/>
          <p:cNvSpPr/>
          <p:nvPr/>
        </p:nvSpPr>
        <p:spPr>
          <a:xfrm>
            <a:off x="5138928" y="4143399"/>
            <a:ext cx="45720" cy="1644753"/>
          </a:xfrm>
          <a:prstGeom prst="rect">
            <a:avLst/>
          </a:prstGeom>
          <a:solidFill>
            <a:srgbClr val="2587C5"/>
          </a:solidFill>
          <a:ln/>
        </p:spPr>
      </p:sp>
      <p:sp>
        <p:nvSpPr>
          <p:cNvPr id="18" name="Text 16"/>
          <p:cNvSpPr txBox="1"/>
          <p:nvPr/>
        </p:nvSpPr>
        <p:spPr>
          <a:xfrm>
            <a:off x="5266944"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Policy and adjustments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Service policy (work done at no charge to the customer) and warranty claims the manufacturer won't pay</a:t>
            </a:r>
            <a:endParaRPr lang="en-US" sz="1400" dirty="0"/>
          </a:p>
        </p:txBody>
      </p:sp>
      <p:sp>
        <p:nvSpPr>
          <p:cNvPr id="19" name="Shape 17"/>
          <p:cNvSpPr/>
          <p:nvPr/>
        </p:nvSpPr>
        <p:spPr>
          <a:xfrm>
            <a:off x="8394192" y="4143399"/>
            <a:ext cx="45720" cy="1644753"/>
          </a:xfrm>
          <a:prstGeom prst="rect">
            <a:avLst/>
          </a:prstGeom>
          <a:solidFill>
            <a:srgbClr val="2587C5"/>
          </a:solidFill>
          <a:ln/>
        </p:spPr>
      </p:sp>
      <p:sp>
        <p:nvSpPr>
          <p:cNvPr id="20" name="Text 18"/>
          <p:cNvSpPr txBox="1"/>
          <p:nvPr/>
        </p:nvSpPr>
        <p:spPr>
          <a:xfrm>
            <a:off x="8522208" y="4143399"/>
            <a:ext cx="2962656" cy="1644753"/>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Gross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Outrun your expenses: when net is low, it is either an expense problem or a gross problem</a:t>
            </a:r>
            <a:endParaRPr lang="en-US" sz="1400" dirty="0"/>
          </a:p>
        </p:txBody>
      </p:sp>
      <p:sp>
        <p:nvSpPr>
          <p:cNvPr id="21" name="Shape 19"/>
          <p:cNvSpPr/>
          <p:nvPr/>
        </p:nvSpPr>
        <p:spPr>
          <a:xfrm>
            <a:off x="457200" y="6126480"/>
            <a:ext cx="11274552" cy="371856"/>
          </a:xfrm>
          <a:prstGeom prst="rect">
            <a:avLst/>
          </a:prstGeom>
          <a:solidFill>
            <a:srgbClr val="EDF4FA"/>
          </a:solidFill>
          <a:ln/>
        </p:spPr>
      </p:sp>
      <p:sp>
        <p:nvSpPr>
          <p:cNvPr id="22" name="Text 20"/>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service 21.8%, up 2.9 pts; parts 36.7%, down 0.4 pts.</a:t>
            </a:r>
            <a:endParaRPr lang="en-US" sz="1600"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200" b="1" dirty="0">
                <a:solidFill>
                  <a:srgbClr val="0B2C4A"/>
                </a:solidFill>
                <a:latin typeface="Inter" pitchFamily="34" charset="0"/>
                <a:ea typeface="Inter" pitchFamily="34" charset="-122"/>
                <a:cs typeface="Inter" pitchFamily="34" charset="-120"/>
              </a:rPr>
              <a:t>CP RO count  </a:t>
            </a:r>
            <a:pPr indent="0" marL="0">
              <a:buNone/>
            </a:pPr>
            <a:r>
              <a:rPr lang="en-US" sz="2200" b="1" dirty="0">
                <a:solidFill>
                  <a:srgbClr val="2587C5"/>
                </a:solidFill>
                <a:latin typeface="Inter" pitchFamily="34" charset="0"/>
                <a:ea typeface="Inter" pitchFamily="34" charset="-122"/>
                <a:cs typeface="Inter" pitchFamily="34" charset="-120"/>
              </a:rPr>
              <a:t>=  </a:t>
            </a:r>
            <a:pPr indent="0" marL="0">
              <a:buNone/>
            </a:pPr>
            <a:r>
              <a:rPr lang="en-US" sz="2200" b="1" dirty="0">
                <a:solidFill>
                  <a:srgbClr val="0B2C4A"/>
                </a:solidFill>
                <a:latin typeface="Inter" pitchFamily="34" charset="0"/>
                <a:ea typeface="Inter" pitchFamily="34" charset="-122"/>
                <a:cs typeface="Inter" pitchFamily="34" charset="-120"/>
              </a:rPr>
              <a:t>customer-pay repair orders closed in the period</a:t>
            </a:r>
            <a:endParaRPr lang="en-US" sz="22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Every RO with a customer-pay line. One RO counts once, however many lines it has.</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Everything else starts here: hours, ELR and $ per RO all multiply off the RO count.</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shows whether the business is expanding or contracting: are customers coming back?</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Flat car count means growth has to come from selling more on each visit.</a:t>
            </a:r>
            <a:endParaRPr lang="en-US" sz="1600" dirty="0"/>
          </a:p>
        </p:txBody>
      </p:sp>
      <p:sp>
        <p:nvSpPr>
          <p:cNvPr id="13" name="Shape 11"/>
          <p:cNvSpPr/>
          <p:nvPr/>
        </p:nvSpPr>
        <p:spPr>
          <a:xfrm>
            <a:off x="5138928" y="2843784"/>
            <a:ext cx="45720" cy="801942"/>
          </a:xfrm>
          <a:prstGeom prst="rect">
            <a:avLst/>
          </a:prstGeom>
          <a:solidFill>
            <a:srgbClr val="2587C5"/>
          </a:solidFill>
          <a:ln/>
        </p:spPr>
      </p:sp>
      <p:sp>
        <p:nvSpPr>
          <p:cNvPr id="14" name="Text 12"/>
          <p:cNvSpPr txBox="1"/>
          <p:nvPr/>
        </p:nvSpPr>
        <p:spPr>
          <a:xfrm>
            <a:off x="5266944" y="2843784"/>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Appointment availability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Same-day and next-day slots; an easy online scheduler</a:t>
            </a:r>
            <a:endParaRPr lang="en-US" sz="1400" dirty="0"/>
          </a:p>
        </p:txBody>
      </p:sp>
      <p:sp>
        <p:nvSpPr>
          <p:cNvPr id="15" name="Shape 13"/>
          <p:cNvSpPr/>
          <p:nvPr/>
        </p:nvSpPr>
        <p:spPr>
          <a:xfrm>
            <a:off x="8394192" y="2843784"/>
            <a:ext cx="45720" cy="801942"/>
          </a:xfrm>
          <a:prstGeom prst="rect">
            <a:avLst/>
          </a:prstGeom>
          <a:solidFill>
            <a:srgbClr val="2587C5"/>
          </a:solidFill>
          <a:ln/>
        </p:spPr>
      </p:sp>
      <p:sp>
        <p:nvSpPr>
          <p:cNvPr id="16" name="Text 14"/>
          <p:cNvSpPr txBox="1"/>
          <p:nvPr/>
        </p:nvSpPr>
        <p:spPr>
          <a:xfrm>
            <a:off x="8522208" y="2843784"/>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Phone handling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call answered, and every caller asked for the appointment</a:t>
            </a:r>
            <a:endParaRPr lang="en-US" sz="1400" dirty="0"/>
          </a:p>
        </p:txBody>
      </p:sp>
      <p:sp>
        <p:nvSpPr>
          <p:cNvPr id="17" name="Shape 15"/>
          <p:cNvSpPr/>
          <p:nvPr/>
        </p:nvSpPr>
        <p:spPr>
          <a:xfrm>
            <a:off x="5138928" y="3755454"/>
            <a:ext cx="45720" cy="1121027"/>
          </a:xfrm>
          <a:prstGeom prst="rect">
            <a:avLst/>
          </a:prstGeom>
          <a:solidFill>
            <a:srgbClr val="2587C5"/>
          </a:solidFill>
          <a:ln/>
        </p:spPr>
      </p:sp>
      <p:sp>
        <p:nvSpPr>
          <p:cNvPr id="18" name="Text 16"/>
          <p:cNvSpPr txBox="1"/>
          <p:nvPr/>
        </p:nvSpPr>
        <p:spPr>
          <a:xfrm>
            <a:off x="5266944" y="375545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Retention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Proactive outreach and ongoing engagement: lapsed, inactive and sold-not-serviced customers (VizAuto retention app)</a:t>
            </a:r>
            <a:endParaRPr lang="en-US" sz="1400" dirty="0"/>
          </a:p>
        </p:txBody>
      </p:sp>
      <p:sp>
        <p:nvSpPr>
          <p:cNvPr id="19" name="Shape 17"/>
          <p:cNvSpPr/>
          <p:nvPr/>
        </p:nvSpPr>
        <p:spPr>
          <a:xfrm>
            <a:off x="8394192" y="3755454"/>
            <a:ext cx="45720" cy="1121027"/>
          </a:xfrm>
          <a:prstGeom prst="rect">
            <a:avLst/>
          </a:prstGeom>
          <a:solidFill>
            <a:srgbClr val="2587C5"/>
          </a:solidFill>
          <a:ln/>
        </p:spPr>
      </p:sp>
      <p:sp>
        <p:nvSpPr>
          <p:cNvPr id="20" name="Text 18"/>
          <p:cNvSpPr txBox="1"/>
          <p:nvPr/>
        </p:nvSpPr>
        <p:spPr>
          <a:xfrm>
            <a:off x="8522208" y="375545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Next visit booked</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First appointment at the sale; next one before the customer leaves</a:t>
            </a:r>
            <a:endParaRPr lang="en-US" sz="1400" dirty="0"/>
          </a:p>
        </p:txBody>
      </p:sp>
      <p:sp>
        <p:nvSpPr>
          <p:cNvPr id="21" name="Shape 19"/>
          <p:cNvSpPr/>
          <p:nvPr/>
        </p:nvSpPr>
        <p:spPr>
          <a:xfrm>
            <a:off x="5138928" y="4986210"/>
            <a:ext cx="45720" cy="801942"/>
          </a:xfrm>
          <a:prstGeom prst="rect">
            <a:avLst/>
          </a:prstGeom>
          <a:solidFill>
            <a:srgbClr val="2587C5"/>
          </a:solidFill>
          <a:ln/>
        </p:spPr>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Quick maintenance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available on demand, done quickly and efficiently, keeps customers coming back</a:t>
            </a:r>
            <a:endParaRPr lang="en-US" sz="1400" dirty="0"/>
          </a:p>
        </p:txBody>
      </p:sp>
      <p:sp>
        <p:nvSpPr>
          <p:cNvPr id="23" name="Shape 21"/>
          <p:cNvSpPr/>
          <p:nvPr/>
        </p:nvSpPr>
        <p:spPr>
          <a:xfrm>
            <a:off x="8394192" y="4986210"/>
            <a:ext cx="45720" cy="801942"/>
          </a:xfrm>
          <a:prstGeom prst="rect">
            <a:avLst/>
          </a:prstGeom>
          <a:solidFill>
            <a:srgbClr val="2587C5"/>
          </a:solidFill>
          <a:ln/>
        </p:spPr>
      </p:sp>
      <p:sp>
        <p:nvSpPr>
          <p:cNvPr id="24" name="Text 22"/>
          <p:cNvSpPr txBox="1"/>
          <p:nvPr/>
        </p:nvSpPr>
        <p:spPr>
          <a:xfrm>
            <a:off x="8522208"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Marketing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Fixed ops budget, keyword search, OEM and third-party reminders</a:t>
            </a:r>
            <a:endParaRPr lang="en-US" sz="1400" dirty="0"/>
          </a:p>
        </p:txBody>
      </p:sp>
      <p:sp>
        <p:nvSpPr>
          <p:cNvPr id="25" name="Shape 23"/>
          <p:cNvSpPr/>
          <p:nvPr/>
        </p:nvSpPr>
        <p:spPr>
          <a:xfrm>
            <a:off x="457200" y="6126480"/>
            <a:ext cx="11274552" cy="371856"/>
          </a:xfrm>
          <a:prstGeom prst="rect">
            <a:avLst/>
          </a:prstGeom>
          <a:solidFill>
            <a:srgbClr val="EDF4FA"/>
          </a:solidFill>
          <a:ln/>
        </p:spPr>
      </p:sp>
      <p:sp>
        <p:nvSpPr>
          <p:cNvPr id="26" name="Text 24"/>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279,756 CP ROs, up 456 from 2025. Volume is flat.</a:t>
            </a:r>
            <a:endParaRPr lang="en-US" sz="1600" dirty="0"/>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Hours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 count</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labor hours we sell, on average, every time a customer-pay car comes through the drive.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0.1 HOUR</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0.1 hour more on every RO  </a:t>
            </a:r>
            <a:pPr algn="ctr" indent="0" marL="0">
              <a:buNone/>
            </a:pPr>
            <a:r>
              <a:rPr lang="en-US" sz="1400" b="1" dirty="0">
                <a:solidFill>
                  <a:srgbClr val="0B2C4A"/>
                </a:solidFill>
                <a:latin typeface="Inter" pitchFamily="34" charset="0"/>
                <a:ea typeface="Inter" pitchFamily="34" charset="-122"/>
                <a:cs typeface="Inter" pitchFamily="34" charset="-120"/>
              </a:rPr>
              <a:t>= 27,976 more hours</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$162 an hour (our ELR)  </a:t>
            </a:r>
            <a:pPr algn="ctr" indent="0" marL="0">
              <a:buNone/>
            </a:pPr>
            <a:r>
              <a:rPr lang="en-US" sz="1400" b="1" dirty="0">
                <a:solidFill>
                  <a:srgbClr val="0B2C4A"/>
                </a:solidFill>
                <a:latin typeface="Inter" pitchFamily="34" charset="0"/>
                <a:ea typeface="Inter" pitchFamily="34" charset="-122"/>
                <a:cs typeface="Inter" pitchFamily="34" charset="-120"/>
              </a:rPr>
              <a:t>= $4.5M more labor</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cannot be manipulated: it is the work we sell.</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where the lift came from: if labor sales per RO go up but hours per RO stay flat, we are charging more, not selling more.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Selling more hours also sells parts.</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car inspected, with photos and video sent to the customer</a:t>
            </a:r>
            <a:endParaRPr lang="en-US" sz="1400" dirty="0"/>
          </a:p>
        </p:txBody>
      </p:sp>
      <p:sp>
        <p:nvSpPr>
          <p:cNvPr id="20" name="Shape 18"/>
          <p:cNvSpPr/>
          <p:nvPr/>
        </p:nvSpPr>
        <p:spPr>
          <a:xfrm>
            <a:off x="7309104" y="3410712"/>
            <a:ext cx="45720" cy="1133856"/>
          </a:xfrm>
          <a:prstGeom prst="rect">
            <a:avLst/>
          </a:prstGeom>
          <a:solidFill>
            <a:srgbClr val="2587C5"/>
          </a:solidFill>
          <a:ln/>
        </p:spPr>
      </p:sp>
      <p:sp>
        <p:nvSpPr>
          <p:cNvPr id="21" name="Text 19"/>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Road to the Sale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Walk-around at the vehicle: hood, tires and wipers</a:t>
            </a:r>
            <a:endParaRPr lang="en-US" sz="1400" dirty="0"/>
          </a:p>
        </p:txBody>
      </p:sp>
      <p:sp>
        <p:nvSpPr>
          <p:cNvPr id="22" name="Shape 20"/>
          <p:cNvSpPr/>
          <p:nvPr/>
        </p:nvSpPr>
        <p:spPr>
          <a:xfrm>
            <a:off x="9479280" y="3410712"/>
            <a:ext cx="45720" cy="1133856"/>
          </a:xfrm>
          <a:prstGeom prst="rect">
            <a:avLst/>
          </a:prstGeom>
          <a:solidFill>
            <a:srgbClr val="2587C5"/>
          </a:solidFill>
          <a:ln/>
        </p:spPr>
      </p:sp>
      <p:sp>
        <p:nvSpPr>
          <p:cNvPr id="23" name="Text 21"/>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presentation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 every time</a:t>
            </a:r>
            <a:endParaRPr lang="en-US" sz="1400" dirty="0"/>
          </a:p>
        </p:txBody>
      </p:sp>
      <p:sp>
        <p:nvSpPr>
          <p:cNvPr id="24" name="Shape 22"/>
          <p:cNvSpPr/>
          <p:nvPr/>
        </p:nvSpPr>
        <p:spPr>
          <a:xfrm>
            <a:off x="5138928" y="4654296"/>
            <a:ext cx="45720" cy="1133856"/>
          </a:xfrm>
          <a:prstGeom prst="rect">
            <a:avLst/>
          </a:prstGeom>
          <a:solidFill>
            <a:srgbClr val="2587C5"/>
          </a:solidFill>
          <a:ln/>
        </p:spPr>
      </p:sp>
      <p:sp>
        <p:nvSpPr>
          <p:cNvPr id="25" name="Text 23"/>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Declined work follow-up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A defined process and a champion to bring it back</a:t>
            </a:r>
            <a:endParaRPr lang="en-US" sz="1400" dirty="0"/>
          </a:p>
        </p:txBody>
      </p:sp>
      <p:sp>
        <p:nvSpPr>
          <p:cNvPr id="26" name="Shape 24"/>
          <p:cNvSpPr/>
          <p:nvPr/>
        </p:nvSpPr>
        <p:spPr>
          <a:xfrm>
            <a:off x="7309104" y="4654296"/>
            <a:ext cx="45720" cy="1133856"/>
          </a:xfrm>
          <a:prstGeom prst="rect">
            <a:avLst/>
          </a:prstGeom>
          <a:solidFill>
            <a:srgbClr val="2587C5"/>
          </a:solidFill>
          <a:ln/>
        </p:spPr>
      </p:sp>
      <p:sp>
        <p:nvSpPr>
          <p:cNvPr id="27" name="Text 25"/>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Op code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Sell the hours the job pays; don't give time away</a:t>
            </a:r>
            <a:endParaRPr lang="en-US" sz="1400" dirty="0"/>
          </a:p>
        </p:txBody>
      </p:sp>
      <p:sp>
        <p:nvSpPr>
          <p:cNvPr id="28" name="Shape 26"/>
          <p:cNvSpPr/>
          <p:nvPr/>
        </p:nvSpPr>
        <p:spPr>
          <a:xfrm>
            <a:off x="9479280" y="4654296"/>
            <a:ext cx="45720" cy="1133856"/>
          </a:xfrm>
          <a:prstGeom prst="rect">
            <a:avLst/>
          </a:prstGeom>
          <a:solidFill>
            <a:srgbClr val="2587C5"/>
          </a:solidFill>
          <a:ln/>
        </p:spPr>
      </p:sp>
      <p:sp>
        <p:nvSpPr>
          <p:cNvPr id="29" name="Text 27"/>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High-mileage and repair work to the techs who find it</a:t>
            </a:r>
            <a:endParaRPr lang="en-US" sz="1400" dirty="0"/>
          </a:p>
        </p:txBody>
      </p:sp>
      <p:sp>
        <p:nvSpPr>
          <p:cNvPr id="30" name="Shape 28"/>
          <p:cNvSpPr/>
          <p:nvPr/>
        </p:nvSpPr>
        <p:spPr>
          <a:xfrm>
            <a:off x="457200" y="6126480"/>
            <a:ext cx="11274552" cy="371856"/>
          </a:xfrm>
          <a:prstGeom prst="rect">
            <a:avLst/>
          </a:prstGeom>
          <a:solidFill>
            <a:srgbClr val="E6F6EE"/>
          </a:solidFill>
          <a:ln/>
        </p:spPr>
      </p:sp>
      <p:sp>
        <p:nvSpPr>
          <p:cNvPr id="31" name="Text 29"/>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1.87 CP hours per RO, up 0.07 and ahead of 2025 in all nine months.</a:t>
            </a:r>
            <a:endParaRPr lang="en-US" sz="1600" dirty="0"/>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Effective Labor Rate</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Effective labor rate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hours sold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average amount we collect for each hour of customer-pay labor we sell.</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It is what the shop actually collects per hour, and it shows whether a pricing change did what it was meant to do.</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Look past the total: by work type and by op code there can be room to raise a rate, or a reason to lower one.</a:t>
            </a:r>
            <a:endParaRPr lang="en-US" sz="1600" dirty="0"/>
          </a:p>
          <a:p>
            <a:pPr marL="203200" indent="-203200">
              <a:spcAft>
                <a:spcPts val="600"/>
              </a:spcAft>
              <a:buSzPct val="100000"/>
              <a:buChar char="•"/>
            </a:pPr>
            <a:r>
              <a:rPr lang="en-US" sz="1600" dirty="0">
                <a:solidFill>
                  <a:srgbClr val="1A1A1A"/>
                </a:solidFill>
                <a:latin typeface="Inter" pitchFamily="34" charset="0"/>
                <a:ea typeface="Inter" pitchFamily="34" charset="-122"/>
                <a:cs typeface="Inter" pitchFamily="34" charset="-120"/>
              </a:rPr>
              <a:t>Benchmark: CP ELR at least 70% of door rate.</a:t>
            </a:r>
            <a:endParaRPr lang="en-US" sz="1600" dirty="0"/>
          </a:p>
        </p:txBody>
      </p:sp>
      <p:sp>
        <p:nvSpPr>
          <p:cNvPr id="13" name="Shape 11"/>
          <p:cNvSpPr/>
          <p:nvPr/>
        </p:nvSpPr>
        <p:spPr>
          <a:xfrm>
            <a:off x="5138928" y="2843784"/>
            <a:ext cx="45720" cy="1064924"/>
          </a:xfrm>
          <a:prstGeom prst="rect">
            <a:avLst/>
          </a:prstGeom>
          <a:solidFill>
            <a:srgbClr val="2587C5"/>
          </a:solidFill>
          <a:ln/>
        </p:spPr>
      </p:sp>
      <p:sp>
        <p:nvSpPr>
          <p:cNvPr id="14" name="Text 12"/>
          <p:cNvSpPr txBox="1"/>
          <p:nvPr/>
        </p:nvSpPr>
        <p:spPr>
          <a:xfrm>
            <a:off x="5266944"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Work 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Repair is priced above maintenance: repair-heavy shops run a higher ELR, maintenance-heavy lower. Neither is wrong.</a:t>
            </a:r>
            <a:endParaRPr lang="en-US" sz="1400" dirty="0"/>
          </a:p>
        </p:txBody>
      </p:sp>
      <p:sp>
        <p:nvSpPr>
          <p:cNvPr id="15" name="Shape 13"/>
          <p:cNvSpPr/>
          <p:nvPr/>
        </p:nvSpPr>
        <p:spPr>
          <a:xfrm>
            <a:off x="8394192" y="2843784"/>
            <a:ext cx="45720" cy="1064924"/>
          </a:xfrm>
          <a:prstGeom prst="rect">
            <a:avLst/>
          </a:prstGeom>
          <a:solidFill>
            <a:srgbClr val="2587C5"/>
          </a:solidFill>
          <a:ln/>
        </p:spPr>
      </p:sp>
      <p:sp>
        <p:nvSpPr>
          <p:cNvPr id="16" name="Text 14"/>
          <p:cNvSpPr txBox="1"/>
          <p:nvPr/>
        </p:nvSpPr>
        <p:spPr>
          <a:xfrm>
            <a:off x="8522208" y="2843784"/>
            <a:ext cx="2962656" cy="106492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If most of your hours are maintenance, the maintenance rate moves ELR more than the repair rate</a:t>
            </a:r>
            <a:endParaRPr lang="en-US" sz="1400" dirty="0"/>
          </a:p>
        </p:txBody>
      </p:sp>
      <p:sp>
        <p:nvSpPr>
          <p:cNvPr id="17" name="Shape 15"/>
          <p:cNvSpPr/>
          <p:nvPr/>
        </p:nvSpPr>
        <p:spPr>
          <a:xfrm>
            <a:off x="5138928" y="4018436"/>
            <a:ext cx="45720" cy="829994"/>
          </a:xfrm>
          <a:prstGeom prst="rect">
            <a:avLst/>
          </a:prstGeom>
          <a:solidFill>
            <a:srgbClr val="2587C5"/>
          </a:solidFill>
          <a:ln/>
        </p:spPr>
      </p:sp>
      <p:sp>
        <p:nvSpPr>
          <p:cNvPr id="18" name="Text 16"/>
          <p:cNvSpPr txBox="1"/>
          <p:nvPr/>
        </p:nvSpPr>
        <p:spPr>
          <a:xfrm>
            <a:off x="5266944"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ELR by labor operation</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what every op code collects per hour, not just the store total</a:t>
            </a:r>
            <a:endParaRPr lang="en-US" sz="1400" dirty="0"/>
          </a:p>
        </p:txBody>
      </p:sp>
      <p:sp>
        <p:nvSpPr>
          <p:cNvPr id="19" name="Shape 17"/>
          <p:cNvSpPr/>
          <p:nvPr/>
        </p:nvSpPr>
        <p:spPr>
          <a:xfrm>
            <a:off x="8394192" y="4018436"/>
            <a:ext cx="45720" cy="829994"/>
          </a:xfrm>
          <a:prstGeom prst="rect">
            <a:avLst/>
          </a:prstGeom>
          <a:solidFill>
            <a:srgbClr val="2587C5"/>
          </a:solidFill>
          <a:ln/>
        </p:spPr>
      </p:sp>
      <p:sp>
        <p:nvSpPr>
          <p:cNvPr id="20" name="Text 18"/>
          <p:cNvSpPr txBox="1"/>
          <p:nvPr/>
        </p:nvSpPr>
        <p:spPr>
          <a:xfrm>
            <a:off x="8522208" y="4018436"/>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Door rate and repair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Posted rate from a market labor study, and how repair jobs are priced against it</a:t>
            </a:r>
            <a:endParaRPr lang="en-US" sz="1400" dirty="0"/>
          </a:p>
        </p:txBody>
      </p:sp>
      <p:sp>
        <p:nvSpPr>
          <p:cNvPr id="21" name="Shape 19"/>
          <p:cNvSpPr/>
          <p:nvPr/>
        </p:nvSpPr>
        <p:spPr>
          <a:xfrm>
            <a:off x="5138928" y="4958158"/>
            <a:ext cx="45720" cy="829994"/>
          </a:xfrm>
          <a:prstGeom prst="rect">
            <a:avLst/>
          </a:prstGeom>
          <a:solidFill>
            <a:srgbClr val="2587C5"/>
          </a:solidFill>
          <a:ln/>
        </p:spPr>
      </p:sp>
      <p:sp>
        <p:nvSpPr>
          <p:cNvPr id="22" name="Text 20"/>
          <p:cNvSpPr txBox="1"/>
          <p:nvPr/>
        </p:nvSpPr>
        <p:spPr>
          <a:xfrm>
            <a:off x="5266944"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Every discount lowers ELR. Run them through ADC so we can see them.</a:t>
            </a:r>
            <a:endParaRPr lang="en-US" sz="1400" dirty="0"/>
          </a:p>
        </p:txBody>
      </p:sp>
      <p:sp>
        <p:nvSpPr>
          <p:cNvPr id="23" name="Shape 21"/>
          <p:cNvSpPr/>
          <p:nvPr/>
        </p:nvSpPr>
        <p:spPr>
          <a:xfrm>
            <a:off x="8394192" y="4958158"/>
            <a:ext cx="45720" cy="829994"/>
          </a:xfrm>
          <a:prstGeom prst="rect">
            <a:avLst/>
          </a:prstGeom>
          <a:solidFill>
            <a:srgbClr val="2587C5"/>
          </a:solidFill>
          <a:ln/>
        </p:spPr>
      </p:sp>
      <p:sp>
        <p:nvSpPr>
          <p:cNvPr id="24" name="Text 22"/>
          <p:cNvSpPr txBox="1"/>
          <p:nvPr/>
        </p:nvSpPr>
        <p:spPr>
          <a:xfrm>
            <a:off x="8522208" y="4958158"/>
            <a:ext cx="2962656" cy="829994"/>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Maintenance labor times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The hours we set and pay the tech on menu jobs; repair times come from labor guides</a:t>
            </a:r>
            <a:endParaRPr lang="en-US" sz="1400" dirty="0"/>
          </a:p>
        </p:txBody>
      </p:sp>
      <p:sp>
        <p:nvSpPr>
          <p:cNvPr id="25" name="Shape 23"/>
          <p:cNvSpPr/>
          <p:nvPr/>
        </p:nvSpPr>
        <p:spPr>
          <a:xfrm>
            <a:off x="457200" y="6126480"/>
            <a:ext cx="11274552" cy="364236"/>
          </a:xfrm>
          <a:prstGeom prst="rect">
            <a:avLst/>
          </a:prstGeom>
          <a:solidFill>
            <a:srgbClr val="E6F6EE"/>
          </a:solidFill>
          <a:ln/>
        </p:spPr>
      </p:sp>
      <p:sp>
        <p:nvSpPr>
          <p:cNvPr id="26" name="Text 24"/>
          <p:cNvSpPr txBox="1"/>
          <p:nvPr/>
        </p:nvSpPr>
        <p:spPr>
          <a:xfrm>
            <a:off x="658368" y="6144768"/>
            <a:ext cx="10927080" cy="327660"/>
          </a:xfrm>
          <a:prstGeom prst="rect">
            <a:avLst/>
          </a:prstGeom>
          <a:noFill/>
          <a:ln/>
        </p:spPr>
        <p:txBody>
          <a:bodyPr wrap="square" lIns="0" tIns="0" rIns="0" bIns="0" rtlCol="0" anchor="ctr"/>
          <a:lstStyle/>
          <a:p>
            <a:pPr indent="0" marL="0">
              <a:buNone/>
            </a:pPr>
            <a:r>
              <a:rPr lang="en-US" sz="1550" b="1" dirty="0">
                <a:solidFill>
                  <a:srgbClr val="0B7A4A"/>
                </a:solidFill>
                <a:latin typeface="Inter" pitchFamily="34" charset="0"/>
                <a:ea typeface="Inter" pitchFamily="34" charset="-122"/>
                <a:cs typeface="Inter" pitchFamily="34" charset="-120"/>
              </a:rPr>
              <a:t>Group: $162.42 CP ELR, up $3.56. Jul-Sep it ran 74.7% of door rate; 25 of 33 stores at or above 70%.</a:t>
            </a:r>
            <a:endParaRPr lang="en-US" sz="1550" dirty="0"/>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CP labor $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per RO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ELR</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Customer-pay labor sale divided by CP RO count. It combines how much we sell with what we collect for it.</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OUR NUMBERS</a:t>
            </a:r>
            <a:endParaRPr lang="en-US" sz="1400" dirty="0"/>
          </a:p>
        </p:txBody>
      </p:sp>
      <p:sp>
        <p:nvSpPr>
          <p:cNvPr id="9" name="Shape 7"/>
          <p:cNvSpPr/>
          <p:nvPr/>
        </p:nvSpPr>
        <p:spPr>
          <a:xfrm>
            <a:off x="2286000" y="2340864"/>
            <a:ext cx="466801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1.87 hours per RO  </a:t>
            </a:r>
            <a:pPr algn="ctr" indent="0" marL="0">
              <a:buNone/>
            </a:pPr>
            <a:r>
              <a:rPr lang="en-US" sz="1400" b="1" dirty="0">
                <a:solidFill>
                  <a:srgbClr val="0B2C4A"/>
                </a:solidFill>
                <a:latin typeface="Inter" pitchFamily="34" charset="0"/>
                <a:ea typeface="Inter" pitchFamily="34" charset="-122"/>
                <a:cs typeface="Inter" pitchFamily="34" charset="-120"/>
              </a:rPr>
              <a:t>× $162.42</a:t>
            </a:r>
            <a:endParaRPr lang="en-US" sz="1400" dirty="0"/>
          </a:p>
        </p:txBody>
      </p:sp>
      <p:sp>
        <p:nvSpPr>
          <p:cNvPr id="11" name="Shape 9"/>
          <p:cNvSpPr/>
          <p:nvPr/>
        </p:nvSpPr>
        <p:spPr>
          <a:xfrm>
            <a:off x="7063740" y="2340864"/>
            <a:ext cx="4668012" cy="457200"/>
          </a:xfrm>
          <a:prstGeom prst="rect">
            <a:avLst/>
          </a:prstGeom>
          <a:solidFill>
            <a:srgbClr val="FFFFFF"/>
          </a:solidFill>
          <a:ln w="9525">
            <a:solidFill>
              <a:srgbClr val="D9D9D9"/>
            </a:solidFill>
            <a:prstDash val="solid"/>
          </a:ln>
        </p:spPr>
      </p:sp>
      <p:sp>
        <p:nvSpPr>
          <p:cNvPr id="12" name="Text 10"/>
          <p:cNvSpPr txBox="1"/>
          <p:nvPr/>
        </p:nvSpPr>
        <p:spPr>
          <a:xfrm>
            <a:off x="7136892" y="2340864"/>
            <a:ext cx="452170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 CP labor per RO  </a:t>
            </a:r>
            <a:pPr algn="ctr" indent="0" marL="0">
              <a:buNone/>
            </a:pPr>
            <a:r>
              <a:rPr lang="en-US" sz="1400" b="1" dirty="0">
                <a:solidFill>
                  <a:srgbClr val="0B2C4A"/>
                </a:solidFill>
                <a:latin typeface="Inter" pitchFamily="34" charset="0"/>
                <a:ea typeface="Inter" pitchFamily="34" charset="-122"/>
                <a:cs typeface="Inter" pitchFamily="34" charset="-120"/>
              </a:rPr>
              <a:t>$304</a:t>
            </a:r>
            <a:endParaRPr lang="en-US" sz="1400" dirty="0"/>
          </a:p>
        </p:txBody>
      </p:sp>
      <p:sp>
        <p:nvSpPr>
          <p:cNvPr id="13" name="Shape 11"/>
          <p:cNvSpPr/>
          <p:nvPr/>
        </p:nvSpPr>
        <p:spPr>
          <a:xfrm>
            <a:off x="457200" y="2907792"/>
            <a:ext cx="4343400" cy="3081528"/>
          </a:xfrm>
          <a:prstGeom prst="rect">
            <a:avLst/>
          </a:prstGeom>
          <a:solidFill>
            <a:srgbClr val="FFFFFF"/>
          </a:solidFill>
          <a:ln/>
        </p:spPr>
      </p:sp>
      <p:sp>
        <p:nvSpPr>
          <p:cNvPr id="14" name="Shape 12"/>
          <p:cNvSpPr/>
          <p:nvPr/>
        </p:nvSpPr>
        <p:spPr>
          <a:xfrm>
            <a:off x="4937760" y="2907792"/>
            <a:ext cx="6793992" cy="3081528"/>
          </a:xfrm>
          <a:prstGeom prst="rect">
            <a:avLst/>
          </a:prstGeom>
          <a:solidFill>
            <a:srgbClr val="FFFFFF"/>
          </a:solidFill>
          <a:ln/>
        </p:spPr>
      </p:sp>
      <p:sp>
        <p:nvSpPr>
          <p:cNvPr id="15" name="Text 13"/>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6" name="Text 14"/>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7" name="Text 15"/>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Focus on CP labor dollars per RO and every other metric rises with it.</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With additional labor sales come additional parts sales.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is the single best metric to measure a service advisor's performance.</a:t>
            </a:r>
            <a:endParaRPr lang="en-US" sz="1500" dirty="0"/>
          </a:p>
        </p:txBody>
      </p:sp>
      <p:sp>
        <p:nvSpPr>
          <p:cNvPr id="18" name="Shape 16"/>
          <p:cNvSpPr/>
          <p:nvPr/>
        </p:nvSpPr>
        <p:spPr>
          <a:xfrm>
            <a:off x="5138928" y="3410712"/>
            <a:ext cx="45720" cy="1133856"/>
          </a:xfrm>
          <a:prstGeom prst="rect">
            <a:avLst/>
          </a:prstGeom>
          <a:solidFill>
            <a:srgbClr val="2587C5"/>
          </a:solidFill>
          <a:ln/>
        </p:spPr>
      </p:sp>
      <p:sp>
        <p:nvSpPr>
          <p:cNvPr id="19" name="Text 17"/>
          <p:cNvSpPr txBox="1"/>
          <p:nvPr/>
        </p:nvSpPr>
        <p:spPr>
          <a:xfrm>
            <a:off x="5266944"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Written process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Follow it on every car: a multi-point inspection every time</a:t>
            </a:r>
            <a:endParaRPr lang="en-US" sz="1400" dirty="0"/>
          </a:p>
        </p:txBody>
      </p:sp>
      <p:sp>
        <p:nvSpPr>
          <p:cNvPr id="20" name="Shape 18"/>
          <p:cNvSpPr/>
          <p:nvPr/>
        </p:nvSpPr>
        <p:spPr>
          <a:xfrm>
            <a:off x="8394192" y="3410712"/>
            <a:ext cx="45720" cy="1133856"/>
          </a:xfrm>
          <a:prstGeom prst="rect">
            <a:avLst/>
          </a:prstGeom>
          <a:solidFill>
            <a:srgbClr val="2587C5"/>
          </a:solidFill>
          <a:ln/>
        </p:spPr>
      </p:sp>
      <p:sp>
        <p:nvSpPr>
          <p:cNvPr id="21" name="Text 19"/>
          <p:cNvSpPr txBox="1"/>
          <p:nvPr/>
        </p:nvSpPr>
        <p:spPr>
          <a:xfrm>
            <a:off x="8522208" y="3410712"/>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Service menu</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the menu and its recommendations, consistently, every customer</a:t>
            </a:r>
            <a:endParaRPr lang="en-US" sz="1400" dirty="0"/>
          </a:p>
        </p:txBody>
      </p:sp>
      <p:sp>
        <p:nvSpPr>
          <p:cNvPr id="22" name="Shape 20"/>
          <p:cNvSpPr/>
          <p:nvPr/>
        </p:nvSpPr>
        <p:spPr>
          <a:xfrm>
            <a:off x="5138928" y="4654296"/>
            <a:ext cx="45720" cy="1133856"/>
          </a:xfrm>
          <a:prstGeom prst="rect">
            <a:avLst/>
          </a:prstGeom>
          <a:solidFill>
            <a:srgbClr val="2587C5"/>
          </a:solidFill>
          <a:ln/>
        </p:spPr>
      </p:sp>
      <p:sp>
        <p:nvSpPr>
          <p:cNvPr id="23" name="Text 21"/>
          <p:cNvSpPr txBox="1"/>
          <p:nvPr/>
        </p:nvSpPr>
        <p:spPr>
          <a:xfrm>
            <a:off x="5266944"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Pay plans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Reward advisors for CP labor sales and gross: what they control, and a true measure of their performance</a:t>
            </a:r>
            <a:endParaRPr lang="en-US" sz="1400" dirty="0"/>
          </a:p>
        </p:txBody>
      </p:sp>
      <p:sp>
        <p:nvSpPr>
          <p:cNvPr id="24" name="Shape 22"/>
          <p:cNvSpPr/>
          <p:nvPr/>
        </p:nvSpPr>
        <p:spPr>
          <a:xfrm>
            <a:off x="8394192" y="4654296"/>
            <a:ext cx="45720" cy="1133856"/>
          </a:xfrm>
          <a:prstGeom prst="rect">
            <a:avLst/>
          </a:prstGeom>
          <a:solidFill>
            <a:srgbClr val="2587C5"/>
          </a:solidFill>
          <a:ln/>
        </p:spPr>
      </p:sp>
      <p:sp>
        <p:nvSpPr>
          <p:cNvPr id="25" name="Text 23"/>
          <p:cNvSpPr txBox="1"/>
          <p:nvPr/>
        </p:nvSpPr>
        <p:spPr>
          <a:xfrm>
            <a:off x="8522208" y="4654296"/>
            <a:ext cx="2962656"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 and accountability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What gets tracked gets improved: accountability through visibility</a:t>
            </a:r>
            <a:endParaRPr lang="en-US" sz="1400" dirty="0"/>
          </a:p>
        </p:txBody>
      </p:sp>
      <p:sp>
        <p:nvSpPr>
          <p:cNvPr id="26" name="Shape 24"/>
          <p:cNvSpPr/>
          <p:nvPr/>
        </p:nvSpPr>
        <p:spPr>
          <a:xfrm>
            <a:off x="457200" y="6126480"/>
            <a:ext cx="11274552" cy="341376"/>
          </a:xfrm>
          <a:prstGeom prst="rect">
            <a:avLst/>
          </a:prstGeom>
          <a:solidFill>
            <a:srgbClr val="E6F6EE"/>
          </a:solidFill>
          <a:ln/>
        </p:spPr>
      </p:sp>
      <p:sp>
        <p:nvSpPr>
          <p:cNvPr id="27" name="Text 25"/>
          <p:cNvSpPr txBox="1"/>
          <p:nvPr/>
        </p:nvSpPr>
        <p:spPr>
          <a:xfrm>
            <a:off x="658368" y="6144768"/>
            <a:ext cx="10927080" cy="304800"/>
          </a:xfrm>
          <a:prstGeom prst="rect">
            <a:avLst/>
          </a:prstGeom>
          <a:noFill/>
          <a:ln/>
        </p:spPr>
        <p:txBody>
          <a:bodyPr wrap="square" lIns="0" tIns="0" rIns="0" bIns="0" rtlCol="0" anchor="ctr"/>
          <a:lstStyle/>
          <a:p>
            <a:pPr indent="0" marL="0">
              <a:buNone/>
            </a:pPr>
            <a:r>
              <a:rPr lang="en-US" sz="1400" b="1" dirty="0">
                <a:solidFill>
                  <a:srgbClr val="0B7A4A"/>
                </a:solidFill>
                <a:latin typeface="Inter" pitchFamily="34" charset="0"/>
                <a:ea typeface="Inter" pitchFamily="34" charset="-122"/>
                <a:cs typeface="Inter" pitchFamily="34" charset="-120"/>
              </a:rPr>
              <a:t>Group: $304 CP labor per RO, up $17. With ROs flat, the $4,899,376 labor gain came from selling more per visit.</a:t>
            </a:r>
            <a:endParaRPr lang="en-US" sz="1400" dirty="0"/>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Labor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Labor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tech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labor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labor dollar we keep after paying the technician.</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ONE HOUR SOLD</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 1 hour at  </a:t>
            </a:r>
            <a:pPr algn="ctr" indent="0" marL="0">
              <a:buNone/>
            </a:pPr>
            <a:r>
              <a:rPr lang="en-US" sz="1400" b="1" dirty="0">
                <a:solidFill>
                  <a:srgbClr val="0B2C4A"/>
                </a:solidFill>
                <a:latin typeface="Inter" pitchFamily="34" charset="0"/>
                <a:ea typeface="Inter" pitchFamily="34" charset="-122"/>
                <a:cs typeface="Inter" pitchFamily="34" charset="-120"/>
              </a:rPr>
              <a:t>$162</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Pay the tech  </a:t>
            </a:r>
            <a:pPr algn="ctr" indent="0" marL="0">
              <a:buNone/>
            </a:pPr>
            <a:r>
              <a:rPr lang="en-US" sz="1400" b="1" dirty="0">
                <a:solidFill>
                  <a:srgbClr val="0B2C4A"/>
                </a:solidFill>
                <a:latin typeface="Inter" pitchFamily="34" charset="0"/>
                <a:ea typeface="Inter" pitchFamily="34" charset="-122"/>
                <a:cs typeface="Inter" pitchFamily="34" charset="-120"/>
              </a:rPr>
              <a:t>$31</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We keep  </a:t>
            </a:r>
            <a:pPr algn="ctr" indent="0" marL="0">
              <a:buNone/>
            </a:pPr>
            <a:r>
              <a:rPr lang="en-US" sz="1400" b="1" dirty="0">
                <a:solidFill>
                  <a:srgbClr val="0B2C4A"/>
                </a:solidFill>
                <a:latin typeface="Inter" pitchFamily="34" charset="0"/>
                <a:ea typeface="Inter" pitchFamily="34" charset="-122"/>
                <a:cs typeface="Inter" pitchFamily="34" charset="-120"/>
              </a:rPr>
              <a:t>$131</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$131 ÷ $162  </a:t>
            </a:r>
            <a:pPr algn="ctr" indent="0" marL="0">
              <a:buNone/>
            </a:pPr>
            <a:r>
              <a:rPr lang="en-US" sz="1400" b="1" dirty="0">
                <a:solidFill>
                  <a:srgbClr val="0B2C4A"/>
                </a:solidFill>
                <a:latin typeface="Inter" pitchFamily="34" charset="0"/>
                <a:ea typeface="Inter" pitchFamily="34" charset="-122"/>
                <a:cs typeface="Inter" pitchFamily="34" charset="-120"/>
              </a:rPr>
              <a:t>81%</a:t>
            </a:r>
            <a:endParaRPr lang="en-US" sz="1400" dirty="0"/>
          </a:p>
        </p:txBody>
      </p:sp>
      <p:sp>
        <p:nvSpPr>
          <p:cNvPr id="17" name="Shape 15"/>
          <p:cNvSpPr/>
          <p:nvPr/>
        </p:nvSpPr>
        <p:spPr>
          <a:xfrm>
            <a:off x="457200" y="2907792"/>
            <a:ext cx="4343400" cy="3081528"/>
          </a:xfrm>
          <a:prstGeom prst="rect">
            <a:avLst/>
          </a:prstGeom>
          <a:solidFill>
            <a:srgbClr val="FFFFFF"/>
          </a:solidFill>
          <a:ln/>
        </p:spPr>
      </p:sp>
      <p:sp>
        <p:nvSpPr>
          <p:cNvPr id="18" name="Shape 16"/>
          <p:cNvSpPr/>
          <p:nvPr/>
        </p:nvSpPr>
        <p:spPr>
          <a:xfrm>
            <a:off x="4937760" y="2907792"/>
            <a:ext cx="6793992" cy="308152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 target range is 78% to 80%: not too high, not too low. Hold it by matching the tech to the work, not by squeezing tech pay.</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low means our labor price is too low for what we pay the tech, or tech cost is too high for what we charge.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Too high can mean techs are underpaid, which can cost us technicians and hurt retention.</a:t>
            </a:r>
            <a:endParaRPr lang="en-US" sz="1500" dirty="0"/>
          </a:p>
        </p:txBody>
      </p:sp>
      <p:sp>
        <p:nvSpPr>
          <p:cNvPr id="22" name="Shape 20"/>
          <p:cNvSpPr/>
          <p:nvPr/>
        </p:nvSpPr>
        <p:spPr>
          <a:xfrm>
            <a:off x="5138928" y="3410712"/>
            <a:ext cx="45720" cy="1133856"/>
          </a:xfrm>
          <a:prstGeom prst="rect">
            <a:avLst/>
          </a:prstGeom>
          <a:solidFill>
            <a:srgbClr val="2587C5"/>
          </a:solidFill>
          <a:ln/>
        </p:spPr>
      </p:sp>
      <p:sp>
        <p:nvSpPr>
          <p:cNvPr id="23" name="Text 21"/>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Effective labor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Same tech cost, higher ELR = higher margin</a:t>
            </a:r>
            <a:endParaRPr lang="en-US" sz="1400" dirty="0"/>
          </a:p>
        </p:txBody>
      </p:sp>
      <p:sp>
        <p:nvSpPr>
          <p:cNvPr id="24" name="Shape 22"/>
          <p:cNvSpPr/>
          <p:nvPr/>
        </p:nvSpPr>
        <p:spPr>
          <a:xfrm>
            <a:off x="7309104" y="3410712"/>
            <a:ext cx="45720" cy="1133856"/>
          </a:xfrm>
          <a:prstGeom prst="rect">
            <a:avLst/>
          </a:prstGeom>
          <a:solidFill>
            <a:srgbClr val="2587C5"/>
          </a:solidFill>
          <a:ln/>
        </p:spPr>
      </p:sp>
      <p:sp>
        <p:nvSpPr>
          <p:cNvPr id="25" name="Text 23"/>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Tech pay rate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Flat-rate pay per hour against the rate we sell</a:t>
            </a:r>
            <a:endParaRPr lang="en-US" sz="1400" dirty="0"/>
          </a:p>
        </p:txBody>
      </p:sp>
      <p:sp>
        <p:nvSpPr>
          <p:cNvPr id="26" name="Shape 24"/>
          <p:cNvSpPr/>
          <p:nvPr/>
        </p:nvSpPr>
        <p:spPr>
          <a:xfrm>
            <a:off x="9479280" y="3410712"/>
            <a:ext cx="45720" cy="1133856"/>
          </a:xfrm>
          <a:prstGeom prst="rect">
            <a:avLst/>
          </a:prstGeom>
          <a:solidFill>
            <a:srgbClr val="2587C5"/>
          </a:solidFill>
          <a:ln/>
        </p:spPr>
      </p:sp>
      <p:sp>
        <p:nvSpPr>
          <p:cNvPr id="27" name="Text 25"/>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Right tech, right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Skill-code costing: don't pay a master-tech rate on an oil change</a:t>
            </a:r>
            <a:endParaRPr lang="en-US" sz="1400" dirty="0"/>
          </a:p>
        </p:txBody>
      </p:sp>
      <p:sp>
        <p:nvSpPr>
          <p:cNvPr id="28" name="Shape 26"/>
          <p:cNvSpPr/>
          <p:nvPr/>
        </p:nvSpPr>
        <p:spPr>
          <a:xfrm>
            <a:off x="5138928" y="4654296"/>
            <a:ext cx="45720" cy="1133856"/>
          </a:xfrm>
          <a:prstGeom prst="rect">
            <a:avLst/>
          </a:prstGeom>
          <a:solidFill>
            <a:srgbClr val="2587C5"/>
          </a:solidFill>
          <a:ln/>
        </p:spPr>
      </p:sp>
      <p:sp>
        <p:nvSpPr>
          <p:cNvPr id="29" name="Text 27"/>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Type of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Maintenance runs a lower margin than repair at full door rate</a:t>
            </a:r>
            <a:endParaRPr lang="en-US" sz="1400" dirty="0"/>
          </a:p>
        </p:txBody>
      </p:sp>
      <p:sp>
        <p:nvSpPr>
          <p:cNvPr id="30" name="Shape 28"/>
          <p:cNvSpPr/>
          <p:nvPr/>
        </p:nvSpPr>
        <p:spPr>
          <a:xfrm>
            <a:off x="7309104" y="4654296"/>
            <a:ext cx="45720" cy="1133856"/>
          </a:xfrm>
          <a:prstGeom prst="rect">
            <a:avLst/>
          </a:prstGeom>
          <a:solidFill>
            <a:srgbClr val="2587C5"/>
          </a:solidFill>
          <a:ln/>
        </p:spPr>
      </p:sp>
      <p:sp>
        <p:nvSpPr>
          <p:cNvPr id="31" name="Text 29"/>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Low-rate work</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Internal detail and other low-dollar-per-hour work pull the margin down</a:t>
            </a:r>
            <a:endParaRPr lang="en-US" sz="1400" dirty="0"/>
          </a:p>
        </p:txBody>
      </p:sp>
      <p:sp>
        <p:nvSpPr>
          <p:cNvPr id="32" name="Shape 30"/>
          <p:cNvSpPr/>
          <p:nvPr/>
        </p:nvSpPr>
        <p:spPr>
          <a:xfrm>
            <a:off x="9479280" y="4654296"/>
            <a:ext cx="45720" cy="1133856"/>
          </a:xfrm>
          <a:prstGeom prst="rect">
            <a:avLst/>
          </a:prstGeom>
          <a:solidFill>
            <a:srgbClr val="2587C5"/>
          </a:solidFill>
          <a:ln/>
        </p:spPr>
      </p:sp>
      <p:sp>
        <p:nvSpPr>
          <p:cNvPr id="33" name="Text 31"/>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it and keep controls in place</a:t>
            </a:r>
            <a:endParaRPr lang="en-US" sz="1400" dirty="0"/>
          </a:p>
        </p:txBody>
      </p:sp>
      <p:sp>
        <p:nvSpPr>
          <p:cNvPr id="34" name="Shape 32"/>
          <p:cNvSpPr/>
          <p:nvPr/>
        </p:nvSpPr>
        <p:spPr>
          <a:xfrm>
            <a:off x="457200" y="6126480"/>
            <a:ext cx="11274552" cy="371856"/>
          </a:xfrm>
          <a:prstGeom prst="rect">
            <a:avLst/>
          </a:prstGeom>
          <a:solidFill>
            <a:srgbClr val="EDF4FA"/>
          </a:solidFill>
          <a:ln/>
        </p:spPr>
      </p:sp>
      <p:sp>
        <p:nvSpPr>
          <p:cNvPr id="35" name="Text 33"/>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80.8% CP labor gross profit, down 0.1 pts and just above the 78-80% target range.</a:t>
            </a:r>
            <a:endParaRPr lang="en-US" sz="1600" dirty="0"/>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CUSTOMER PAY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Parts Gross Profit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Parts GP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parts cost)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parts sale</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The share of each customer-pay parts dollar we keep, less the cost of the part.</a:t>
            </a:r>
            <a:endParaRPr lang="en-US" sz="1500" dirty="0"/>
          </a:p>
        </p:txBody>
      </p:sp>
      <p:sp>
        <p:nvSpPr>
          <p:cNvPr id="8" name="Shape 6"/>
          <p:cNvSpPr/>
          <p:nvPr/>
        </p:nvSpPr>
        <p:spPr>
          <a:xfrm>
            <a:off x="457200" y="2340864"/>
            <a:ext cx="4343400" cy="3648456"/>
          </a:xfrm>
          <a:prstGeom prst="rect">
            <a:avLst/>
          </a:prstGeom>
          <a:solidFill>
            <a:srgbClr val="FFFFFF"/>
          </a:solidFill>
          <a:ln/>
        </p:spPr>
      </p:sp>
      <p:sp>
        <p:nvSpPr>
          <p:cNvPr id="9" name="Shape 7"/>
          <p:cNvSpPr/>
          <p:nvPr/>
        </p:nvSpPr>
        <p:spPr>
          <a:xfrm>
            <a:off x="4937760" y="2340864"/>
            <a:ext cx="6793992" cy="3648456"/>
          </a:xfrm>
          <a:prstGeom prst="rect">
            <a:avLst/>
          </a:prstGeom>
          <a:solidFill>
            <a:srgbClr val="FFFFFF"/>
          </a:solidFill>
          <a:ln/>
        </p:spPr>
      </p:sp>
      <p:sp>
        <p:nvSpPr>
          <p:cNvPr id="10" name="Text 8"/>
          <p:cNvSpPr txBox="1"/>
          <p:nvPr/>
        </p:nvSpPr>
        <p:spPr>
          <a:xfrm>
            <a:off x="658368" y="2468880"/>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1" name="Text 9"/>
          <p:cNvSpPr txBox="1"/>
          <p:nvPr/>
        </p:nvSpPr>
        <p:spPr>
          <a:xfrm>
            <a:off x="5138928" y="2468880"/>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2" name="Text 10"/>
          <p:cNvSpPr txBox="1"/>
          <p:nvPr/>
        </p:nvSpPr>
        <p:spPr>
          <a:xfrm>
            <a:off x="658368" y="2843784"/>
            <a:ext cx="3977640" cy="3008376"/>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Parts keeps about 37¢ of every gross dollar after its own expenses, the most of any department (service 22¢): margin goes almost straight to the bottom line.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shows whether parts sell at the right price: matrix, markups and discounts.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flags heavy discounting, or cost increases we have not passed on.</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CP parts pricing supports the warranty parts reimbursement rate.</a:t>
            </a:r>
            <a:endParaRPr lang="en-US" sz="1500" dirty="0"/>
          </a:p>
        </p:txBody>
      </p:sp>
      <p:sp>
        <p:nvSpPr>
          <p:cNvPr id="13" name="Shape 11"/>
          <p:cNvSpPr/>
          <p:nvPr/>
        </p:nvSpPr>
        <p:spPr>
          <a:xfrm>
            <a:off x="5138928" y="2843784"/>
            <a:ext cx="45720" cy="1121027"/>
          </a:xfrm>
          <a:prstGeom prst="rect">
            <a:avLst/>
          </a:prstGeom>
          <a:solidFill>
            <a:srgbClr val="2587C5"/>
          </a:solidFill>
          <a:ln/>
        </p:spPr>
      </p:sp>
      <p:sp>
        <p:nvSpPr>
          <p:cNvPr id="14" name="Text 12"/>
          <p:cNvSpPr txBox="1"/>
          <p:nvPr/>
        </p:nvSpPr>
        <p:spPr>
          <a:xfrm>
            <a:off x="5266944"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pricing matrix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Know how it is set up, make sure pricing follows the matrix setup, and review it against your gross goals</a:t>
            </a:r>
            <a:endParaRPr lang="en-US" sz="1400" dirty="0"/>
          </a:p>
        </p:txBody>
      </p:sp>
      <p:sp>
        <p:nvSpPr>
          <p:cNvPr id="15" name="Shape 13"/>
          <p:cNvSpPr/>
          <p:nvPr/>
        </p:nvSpPr>
        <p:spPr>
          <a:xfrm>
            <a:off x="8394192" y="2843784"/>
            <a:ext cx="45720" cy="1121027"/>
          </a:xfrm>
          <a:prstGeom prst="rect">
            <a:avLst/>
          </a:prstGeom>
          <a:solidFill>
            <a:srgbClr val="2587C5"/>
          </a:solidFill>
          <a:ln/>
        </p:spPr>
      </p:sp>
      <p:sp>
        <p:nvSpPr>
          <p:cNvPr id="16" name="Text 14"/>
          <p:cNvSpPr txBox="1"/>
          <p:nvPr/>
        </p:nvSpPr>
        <p:spPr>
          <a:xfrm>
            <a:off x="8522208" y="2843784"/>
            <a:ext cx="2962656" cy="1121027"/>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Discounts and overrides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discounts and manual price changes; keep safeguards in place</a:t>
            </a:r>
            <a:endParaRPr lang="en-US" sz="1400" dirty="0"/>
          </a:p>
        </p:txBody>
      </p:sp>
      <p:sp>
        <p:nvSpPr>
          <p:cNvPr id="17" name="Shape 15"/>
          <p:cNvSpPr/>
          <p:nvPr/>
        </p:nvSpPr>
        <p:spPr>
          <a:xfrm>
            <a:off x="5138928" y="4074539"/>
            <a:ext cx="45720" cy="801942"/>
          </a:xfrm>
          <a:prstGeom prst="rect">
            <a:avLst/>
          </a:prstGeom>
          <a:solidFill>
            <a:srgbClr val="2587C5"/>
          </a:solidFill>
          <a:ln/>
        </p:spPr>
      </p:sp>
      <p:sp>
        <p:nvSpPr>
          <p:cNvPr id="18" name="Text 16"/>
          <p:cNvSpPr txBox="1"/>
          <p:nvPr/>
        </p:nvSpPr>
        <p:spPr>
          <a:xfrm>
            <a:off x="5266944"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Stay competitive</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Balance margin with price, especially on high-cost parts</a:t>
            </a:r>
            <a:endParaRPr lang="en-US" sz="1400" dirty="0"/>
          </a:p>
        </p:txBody>
      </p:sp>
      <p:sp>
        <p:nvSpPr>
          <p:cNvPr id="19" name="Shape 17"/>
          <p:cNvSpPr/>
          <p:nvPr/>
        </p:nvSpPr>
        <p:spPr>
          <a:xfrm>
            <a:off x="8394192" y="4074539"/>
            <a:ext cx="45720" cy="801942"/>
          </a:xfrm>
          <a:prstGeom prst="rect">
            <a:avLst/>
          </a:prstGeom>
          <a:solidFill>
            <a:srgbClr val="2587C5"/>
          </a:solidFill>
          <a:ln/>
        </p:spPr>
      </p:sp>
      <p:sp>
        <p:nvSpPr>
          <p:cNvPr id="20" name="Text 18"/>
          <p:cNvSpPr txBox="1"/>
          <p:nvPr/>
        </p:nvSpPr>
        <p:spPr>
          <a:xfrm>
            <a:off x="8522208" y="4074539"/>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Mix</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Tires and competitive items carry thinner margins</a:t>
            </a:r>
            <a:endParaRPr lang="en-US" sz="1400" dirty="0"/>
          </a:p>
        </p:txBody>
      </p:sp>
      <p:sp>
        <p:nvSpPr>
          <p:cNvPr id="21" name="Shape 19"/>
          <p:cNvSpPr/>
          <p:nvPr/>
        </p:nvSpPr>
        <p:spPr>
          <a:xfrm>
            <a:off x="5138928" y="4986210"/>
            <a:ext cx="45720" cy="801942"/>
          </a:xfrm>
          <a:prstGeom prst="rect">
            <a:avLst/>
          </a:prstGeom>
          <a:solidFill>
            <a:srgbClr val="2587C5"/>
          </a:solidFill>
          <a:ln/>
        </p:spPr>
      </p:sp>
      <p:sp>
        <p:nvSpPr>
          <p:cNvPr id="22" name="Text 20"/>
          <p:cNvSpPr txBox="1"/>
          <p:nvPr/>
        </p:nvSpPr>
        <p:spPr>
          <a:xfrm>
            <a:off x="5266944"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pricing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Bundled maintenance parts priced to protect margin</a:t>
            </a:r>
            <a:endParaRPr lang="en-US" sz="1400" dirty="0"/>
          </a:p>
        </p:txBody>
      </p:sp>
      <p:sp>
        <p:nvSpPr>
          <p:cNvPr id="23" name="Shape 21"/>
          <p:cNvSpPr/>
          <p:nvPr/>
        </p:nvSpPr>
        <p:spPr>
          <a:xfrm>
            <a:off x="8394192" y="4986210"/>
            <a:ext cx="45720" cy="801942"/>
          </a:xfrm>
          <a:prstGeom prst="rect">
            <a:avLst/>
          </a:prstGeom>
          <a:solidFill>
            <a:srgbClr val="2587C5"/>
          </a:solidFill>
          <a:ln/>
        </p:spPr>
      </p:sp>
      <p:sp>
        <p:nvSpPr>
          <p:cNvPr id="24" name="Text 22"/>
          <p:cNvSpPr txBox="1"/>
          <p:nvPr/>
        </p:nvSpPr>
        <p:spPr>
          <a:xfrm>
            <a:off x="8522208" y="4986210"/>
            <a:ext cx="2962656" cy="801942"/>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Monitor and actively manage your parts GP %: know where you stand and adjust as needed</a:t>
            </a:r>
            <a:endParaRPr lang="en-US" sz="1400" dirty="0"/>
          </a:p>
        </p:txBody>
      </p:sp>
      <p:sp>
        <p:nvSpPr>
          <p:cNvPr id="25" name="Shape 23"/>
          <p:cNvSpPr/>
          <p:nvPr/>
        </p:nvSpPr>
        <p:spPr>
          <a:xfrm>
            <a:off x="457200" y="6126480"/>
            <a:ext cx="11274552" cy="371856"/>
          </a:xfrm>
          <a:prstGeom prst="rect">
            <a:avLst/>
          </a:prstGeom>
          <a:solidFill>
            <a:srgbClr val="E6F6EE"/>
          </a:solidFill>
          <a:ln/>
        </p:spPr>
      </p:sp>
      <p:sp>
        <p:nvSpPr>
          <p:cNvPr id="26" name="Text 24"/>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Group: 40.7% CP parts gross profit, up 1.2 pts and ahead of 2025 in all nine months.</a:t>
            </a:r>
            <a:endParaRPr lang="en-US" sz="1600" dirty="0"/>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OPCODES</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Tracked Opcode Closing %</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Closing %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CP ROs with the service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all CP ROs</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often a customer-pay visit includes the service.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BENCHMARKS</a:t>
            </a:r>
            <a:endParaRPr lang="en-US" sz="1400" dirty="0"/>
          </a:p>
        </p:txBody>
      </p:sp>
      <p:sp>
        <p:nvSpPr>
          <p:cNvPr id="9" name="Shape 7"/>
          <p:cNvSpPr/>
          <p:nvPr/>
        </p:nvSpPr>
        <p:spPr>
          <a:xfrm>
            <a:off x="2286000" y="2340864"/>
            <a:ext cx="227914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Alignment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1" name="Shape 9"/>
          <p:cNvSpPr/>
          <p:nvPr/>
        </p:nvSpPr>
        <p:spPr>
          <a:xfrm>
            <a:off x="4674870" y="2340864"/>
            <a:ext cx="2279142" cy="457200"/>
          </a:xfrm>
          <a:prstGeom prst="rect">
            <a:avLst/>
          </a:prstGeom>
          <a:solidFill>
            <a:srgbClr val="FFFFFF"/>
          </a:solidFill>
          <a:ln w="9525">
            <a:solidFill>
              <a:srgbClr val="D9D9D9"/>
            </a:solidFill>
            <a:prstDash val="solid"/>
          </a:ln>
        </p:spPr>
      </p:sp>
      <p:sp>
        <p:nvSpPr>
          <p:cNvPr id="12" name="Text 10"/>
          <p:cNvSpPr txBox="1"/>
          <p:nvPr/>
        </p:nvSpPr>
        <p:spPr>
          <a:xfrm>
            <a:off x="474802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Tire balance  </a:t>
            </a:r>
            <a:pPr algn="ctr" indent="0" marL="0">
              <a:buNone/>
            </a:pPr>
            <a:r>
              <a:rPr lang="en-US" sz="1400" b="1" dirty="0">
                <a:solidFill>
                  <a:srgbClr val="0B2C4A"/>
                </a:solidFill>
                <a:latin typeface="Inter" pitchFamily="34" charset="0"/>
                <a:ea typeface="Inter" pitchFamily="34" charset="-122"/>
                <a:cs typeface="Inter" pitchFamily="34" charset="-120"/>
              </a:rPr>
              <a:t>15%</a:t>
            </a:r>
            <a:endParaRPr lang="en-US" sz="1400" dirty="0"/>
          </a:p>
        </p:txBody>
      </p:sp>
      <p:sp>
        <p:nvSpPr>
          <p:cNvPr id="13" name="Shape 11"/>
          <p:cNvSpPr/>
          <p:nvPr/>
        </p:nvSpPr>
        <p:spPr>
          <a:xfrm>
            <a:off x="7063740" y="2340864"/>
            <a:ext cx="2279142" cy="457200"/>
          </a:xfrm>
          <a:prstGeom prst="rect">
            <a:avLst/>
          </a:prstGeom>
          <a:solidFill>
            <a:srgbClr val="FFFFFF"/>
          </a:solidFill>
          <a:ln w="9525">
            <a:solidFill>
              <a:srgbClr val="D9D9D9"/>
            </a:solidFill>
            <a:prstDash val="solid"/>
          </a:ln>
        </p:spPr>
      </p:sp>
      <p:sp>
        <p:nvSpPr>
          <p:cNvPr id="14" name="Text 12"/>
          <p:cNvSpPr txBox="1"/>
          <p:nvPr/>
        </p:nvSpPr>
        <p:spPr>
          <a:xfrm>
            <a:off x="713689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Brake fluid  </a:t>
            </a:r>
            <a:pPr algn="ctr" indent="0" marL="0">
              <a:buNone/>
            </a:pPr>
            <a:r>
              <a:rPr lang="en-US" sz="1400" b="1" dirty="0">
                <a:solidFill>
                  <a:srgbClr val="0B2C4A"/>
                </a:solidFill>
                <a:latin typeface="Inter" pitchFamily="34" charset="0"/>
                <a:ea typeface="Inter" pitchFamily="34" charset="-122"/>
                <a:cs typeface="Inter" pitchFamily="34" charset="-120"/>
              </a:rPr>
              <a:t>10%</a:t>
            </a:r>
            <a:endParaRPr lang="en-US" sz="1400" dirty="0"/>
          </a:p>
        </p:txBody>
      </p:sp>
      <p:sp>
        <p:nvSpPr>
          <p:cNvPr id="15" name="Shape 13"/>
          <p:cNvSpPr/>
          <p:nvPr/>
        </p:nvSpPr>
        <p:spPr>
          <a:xfrm>
            <a:off x="9452610" y="2340864"/>
            <a:ext cx="2279142" cy="457200"/>
          </a:xfrm>
          <a:prstGeom prst="rect">
            <a:avLst/>
          </a:prstGeom>
          <a:solidFill>
            <a:srgbClr val="FFFFFF"/>
          </a:solidFill>
          <a:ln w="9525">
            <a:solidFill>
              <a:srgbClr val="D9D9D9"/>
            </a:solidFill>
            <a:prstDash val="solid"/>
          </a:ln>
        </p:spPr>
      </p:sp>
      <p:sp>
        <p:nvSpPr>
          <p:cNvPr id="16" name="Text 14"/>
          <p:cNvSpPr txBox="1"/>
          <p:nvPr/>
        </p:nvSpPr>
        <p:spPr>
          <a:xfrm>
            <a:off x="9525762" y="2340864"/>
            <a:ext cx="213283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Fuel service  </a:t>
            </a:r>
            <a:pPr algn="ctr" indent="0" marL="0">
              <a:buNone/>
            </a:pPr>
            <a:r>
              <a:rPr lang="en-US" sz="1400" b="1" dirty="0">
                <a:solidFill>
                  <a:srgbClr val="0B2C4A"/>
                </a:solidFill>
                <a:latin typeface="Inter" pitchFamily="34" charset="0"/>
                <a:ea typeface="Inter" pitchFamily="34" charset="-122"/>
                <a:cs typeface="Inter" pitchFamily="34" charset="-120"/>
              </a:rPr>
              <a:t>7.5%</a:t>
            </a:r>
            <a:endParaRPr lang="en-US" sz="1400" dirty="0"/>
          </a:p>
        </p:txBody>
      </p:sp>
      <p:sp>
        <p:nvSpPr>
          <p:cNvPr id="17" name="Shape 15"/>
          <p:cNvSpPr/>
          <p:nvPr/>
        </p:nvSpPr>
        <p:spPr>
          <a:xfrm>
            <a:off x="457200" y="2907792"/>
            <a:ext cx="4343400" cy="3081528"/>
          </a:xfrm>
          <a:prstGeom prst="rect">
            <a:avLst/>
          </a:prstGeom>
          <a:solidFill>
            <a:srgbClr val="FFFFFF"/>
          </a:solidFill>
          <a:ln/>
        </p:spPr>
      </p:sp>
      <p:sp>
        <p:nvSpPr>
          <p:cNvPr id="18" name="Shape 16"/>
          <p:cNvSpPr/>
          <p:nvPr/>
        </p:nvSpPr>
        <p:spPr>
          <a:xfrm>
            <a:off x="4937760" y="2907792"/>
            <a:ext cx="6793992" cy="3081528"/>
          </a:xfrm>
          <a:prstGeom prst="rect">
            <a:avLst/>
          </a:prstGeom>
          <a:solidFill>
            <a:srgbClr val="FFFFFF"/>
          </a:solidFill>
          <a:ln/>
        </p:spPr>
      </p:sp>
      <p:sp>
        <p:nvSpPr>
          <p:cNvPr id="19" name="Text 17"/>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20" name="Text 18"/>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21" name="Text 19"/>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These cars are already in our service drives: the rate shows how well we use the opportunities we already have.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Like labor dollars per RO, it is a direct reflection of the job we are doing on every car.</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Each point is worth thousands of services across the group.</a:t>
            </a:r>
            <a:endParaRPr lang="en-US" sz="1500" dirty="0"/>
          </a:p>
        </p:txBody>
      </p:sp>
      <p:sp>
        <p:nvSpPr>
          <p:cNvPr id="22" name="Shape 20"/>
          <p:cNvSpPr/>
          <p:nvPr/>
        </p:nvSpPr>
        <p:spPr>
          <a:xfrm>
            <a:off x="5138928" y="3410712"/>
            <a:ext cx="45720" cy="948641"/>
          </a:xfrm>
          <a:prstGeom prst="rect">
            <a:avLst/>
          </a:prstGeom>
          <a:solidFill>
            <a:srgbClr val="2587C5"/>
          </a:solidFill>
          <a:ln/>
        </p:spPr>
      </p:sp>
      <p:sp>
        <p:nvSpPr>
          <p:cNvPr id="23" name="Text 21"/>
          <p:cNvSpPr txBox="1"/>
          <p:nvPr/>
        </p:nvSpPr>
        <p:spPr>
          <a:xfrm>
            <a:off x="5266944" y="3410712"/>
            <a:ext cx="2962656" cy="94864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MPI on every car</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Find the need and show the customer</a:t>
            </a:r>
            <a:endParaRPr lang="en-US" sz="1400" dirty="0"/>
          </a:p>
        </p:txBody>
      </p:sp>
      <p:sp>
        <p:nvSpPr>
          <p:cNvPr id="24" name="Shape 22"/>
          <p:cNvSpPr/>
          <p:nvPr/>
        </p:nvSpPr>
        <p:spPr>
          <a:xfrm>
            <a:off x="8394192" y="3410712"/>
            <a:ext cx="45720" cy="948641"/>
          </a:xfrm>
          <a:prstGeom prst="rect">
            <a:avLst/>
          </a:prstGeom>
          <a:solidFill>
            <a:srgbClr val="2587C5"/>
          </a:solidFill>
          <a:ln/>
        </p:spPr>
      </p:sp>
      <p:sp>
        <p:nvSpPr>
          <p:cNvPr id="25" name="Text 23"/>
          <p:cNvSpPr txBox="1"/>
          <p:nvPr/>
        </p:nvSpPr>
        <p:spPr>
          <a:xfrm>
            <a:off x="8522208" y="3410712"/>
            <a:ext cx="2962656" cy="94864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Menu at write-up</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Time and mileage recommendations, every customer</a:t>
            </a:r>
            <a:endParaRPr lang="en-US" sz="1400" dirty="0"/>
          </a:p>
        </p:txBody>
      </p:sp>
      <p:sp>
        <p:nvSpPr>
          <p:cNvPr id="26" name="Shape 24"/>
          <p:cNvSpPr/>
          <p:nvPr/>
        </p:nvSpPr>
        <p:spPr>
          <a:xfrm>
            <a:off x="5138928" y="4469081"/>
            <a:ext cx="45720" cy="1319071"/>
          </a:xfrm>
          <a:prstGeom prst="rect">
            <a:avLst/>
          </a:prstGeom>
          <a:solidFill>
            <a:srgbClr val="2587C5"/>
          </a:solidFill>
          <a:ln/>
        </p:spPr>
      </p:sp>
      <p:sp>
        <p:nvSpPr>
          <p:cNvPr id="27" name="Text 25"/>
          <p:cNvSpPr txBox="1"/>
          <p:nvPr/>
        </p:nvSpPr>
        <p:spPr>
          <a:xfrm>
            <a:off x="5266944" y="4469081"/>
            <a:ext cx="2962656" cy="131907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Consistency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Present it every visit, no exceptions. Say it once and skip it the next time, and we lose credibility</a:t>
            </a:r>
            <a:endParaRPr lang="en-US" sz="1400" dirty="0"/>
          </a:p>
        </p:txBody>
      </p:sp>
      <p:sp>
        <p:nvSpPr>
          <p:cNvPr id="28" name="Shape 26"/>
          <p:cNvSpPr/>
          <p:nvPr/>
        </p:nvSpPr>
        <p:spPr>
          <a:xfrm>
            <a:off x="8394192" y="4469081"/>
            <a:ext cx="45720" cy="1319071"/>
          </a:xfrm>
          <a:prstGeom prst="rect">
            <a:avLst/>
          </a:prstGeom>
          <a:solidFill>
            <a:srgbClr val="2587C5"/>
          </a:solidFill>
          <a:ln/>
        </p:spPr>
      </p:sp>
      <p:sp>
        <p:nvSpPr>
          <p:cNvPr id="29" name="Text 27"/>
          <p:cNvSpPr txBox="1"/>
          <p:nvPr/>
        </p:nvSpPr>
        <p:spPr>
          <a:xfrm>
            <a:off x="8522208" y="4469081"/>
            <a:ext cx="2962656" cy="1319071"/>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Tracking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Daily Viz Op Code report; feedback before the 15th</a:t>
            </a:r>
            <a:endParaRPr lang="en-US" sz="1400" dirty="0"/>
          </a:p>
        </p:txBody>
      </p:sp>
      <p:sp>
        <p:nvSpPr>
          <p:cNvPr id="30" name="Shape 28"/>
          <p:cNvSpPr/>
          <p:nvPr/>
        </p:nvSpPr>
        <p:spPr>
          <a:xfrm>
            <a:off x="457200" y="6126480"/>
            <a:ext cx="11274552" cy="348996"/>
          </a:xfrm>
          <a:prstGeom prst="rect">
            <a:avLst/>
          </a:prstGeom>
          <a:solidFill>
            <a:srgbClr val="EDF4FA"/>
          </a:solidFill>
          <a:ln/>
        </p:spPr>
      </p:sp>
      <p:sp>
        <p:nvSpPr>
          <p:cNvPr id="31" name="Text 29"/>
          <p:cNvSpPr txBox="1"/>
          <p:nvPr/>
        </p:nvSpPr>
        <p:spPr>
          <a:xfrm>
            <a:off x="658368" y="6144768"/>
            <a:ext cx="10927080" cy="312420"/>
          </a:xfrm>
          <a:prstGeom prst="rect">
            <a:avLst/>
          </a:prstGeom>
          <a:noFill/>
          <a:ln/>
        </p:spPr>
        <p:txBody>
          <a:bodyPr wrap="square" lIns="0" tIns="0" rIns="0" bIns="0" rtlCol="0" anchor="ctr"/>
          <a:lstStyle/>
          <a:p>
            <a:pPr indent="0" marL="0">
              <a:buNone/>
            </a:pPr>
            <a:r>
              <a:rPr lang="en-US" sz="1450" b="1" dirty="0">
                <a:solidFill>
                  <a:srgbClr val="0B2C4A"/>
                </a:solidFill>
                <a:latin typeface="Inter" pitchFamily="34" charset="0"/>
                <a:ea typeface="Inter" pitchFamily="34" charset="-122"/>
                <a:cs typeface="Inter" pitchFamily="34" charset="-120"/>
              </a:rPr>
              <a:t>All four rose 1.2-1.4 pts and beat 2025 every month. Balance is furthest off, at 8.3%: 18,493 short of 15%.</a:t>
            </a:r>
            <a:endParaRPr lang="en-US" sz="1450" dirty="0"/>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TECHNICIAN PROFICIENCY</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Technician Proficiency</a:t>
            </a:r>
            <a:endParaRPr lang="en-US" sz="2800" dirty="0"/>
          </a:p>
        </p:txBody>
      </p:sp>
      <p:sp>
        <p:nvSpPr>
          <p:cNvPr id="5" name="Shape 3"/>
          <p:cNvSpPr/>
          <p:nvPr/>
        </p:nvSpPr>
        <p:spPr>
          <a:xfrm>
            <a:off x="457200" y="1207008"/>
            <a:ext cx="11274552" cy="1024128"/>
          </a:xfrm>
          <a:prstGeom prst="rect">
            <a:avLst/>
          </a:prstGeom>
          <a:solidFill>
            <a:srgbClr val="EDF4FA"/>
          </a:solidFill>
          <a:ln/>
        </p:spPr>
      </p:sp>
      <p:sp>
        <p:nvSpPr>
          <p:cNvPr id="6" name="Text 4"/>
          <p:cNvSpPr txBox="1"/>
          <p:nvPr/>
        </p:nvSpPr>
        <p:spPr>
          <a:xfrm>
            <a:off x="685800" y="1243584"/>
            <a:ext cx="10835640" cy="566928"/>
          </a:xfrm>
          <a:prstGeom prst="rect">
            <a:avLst/>
          </a:prstGeom>
          <a:noFill/>
          <a:ln/>
        </p:spPr>
        <p:txBody>
          <a:bodyPr wrap="square" lIns="0" tIns="0" rIns="0" bIns="0" rtlCol="0" anchor="ctr">
            <a:normAutofit/>
          </a:bodyPr>
          <a:lstStyle/>
          <a:p>
            <a:pPr indent="0" marL="0">
              <a:buNone/>
            </a:pPr>
            <a:r>
              <a:rPr lang="en-US" sz="2400" b="1" dirty="0">
                <a:solidFill>
                  <a:srgbClr val="0B2C4A"/>
                </a:solidFill>
                <a:latin typeface="Inter" pitchFamily="34" charset="0"/>
                <a:ea typeface="Inter" pitchFamily="34" charset="-122"/>
                <a:cs typeface="Inter" pitchFamily="34" charset="-120"/>
              </a:rPr>
              <a:t>Proficiency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sold (flagged)  </a:t>
            </a:r>
            <a:pPr indent="0" marL="0">
              <a:buNone/>
            </a:pPr>
            <a:r>
              <a:rPr lang="en-US" sz="2400" b="1" dirty="0">
                <a:solidFill>
                  <a:srgbClr val="2587C5"/>
                </a:solidFill>
                <a:latin typeface="Inter" pitchFamily="34" charset="0"/>
                <a:ea typeface="Inter" pitchFamily="34" charset="-122"/>
                <a:cs typeface="Inter" pitchFamily="34" charset="-120"/>
              </a:rPr>
              <a:t>÷  </a:t>
            </a:r>
            <a:pPr indent="0" marL="0">
              <a:buNone/>
            </a:pPr>
            <a:r>
              <a:rPr lang="en-US" sz="2400" b="1" dirty="0">
                <a:solidFill>
                  <a:srgbClr val="0B2C4A"/>
                </a:solidFill>
                <a:latin typeface="Inter" pitchFamily="34" charset="0"/>
                <a:ea typeface="Inter" pitchFamily="34" charset="-122"/>
                <a:cs typeface="Inter" pitchFamily="34" charset="-120"/>
              </a:rPr>
              <a:t>hours worked (clocked)</a:t>
            </a:r>
            <a:endParaRPr lang="en-US" sz="2400" dirty="0"/>
          </a:p>
        </p:txBody>
      </p:sp>
      <p:sp>
        <p:nvSpPr>
          <p:cNvPr id="7" name="Text 5"/>
          <p:cNvSpPr txBox="1"/>
          <p:nvPr/>
        </p:nvSpPr>
        <p:spPr>
          <a:xfrm>
            <a:off x="685800" y="1783080"/>
            <a:ext cx="10835640" cy="420624"/>
          </a:xfrm>
          <a:prstGeom prst="rect">
            <a:avLst/>
          </a:prstGeom>
          <a:noFill/>
          <a:ln/>
        </p:spPr>
        <p:txBody>
          <a:bodyPr wrap="square" lIns="0" tIns="0" rIns="0" bIns="0" rtlCol="0" anchor="ctr"/>
          <a:lstStyle/>
          <a:p>
            <a:pPr indent="0" marL="0">
              <a:buNone/>
            </a:pPr>
            <a:r>
              <a:rPr lang="en-US" sz="1500" dirty="0">
                <a:solidFill>
                  <a:srgbClr val="595959"/>
                </a:solidFill>
                <a:latin typeface="Inter" pitchFamily="34" charset="0"/>
                <a:ea typeface="Inter" pitchFamily="34" charset="-122"/>
                <a:cs typeface="Inter" pitchFamily="34" charset="-120"/>
              </a:rPr>
              <a:t>How many hours a technician produces for every hour they are on the clock. 85% is on target; 100% or more is above.</a:t>
            </a:r>
            <a:endParaRPr lang="en-US" sz="1500" dirty="0"/>
          </a:p>
        </p:txBody>
      </p:sp>
      <p:sp>
        <p:nvSpPr>
          <p:cNvPr id="8" name="Text 6"/>
          <p:cNvSpPr txBox="1"/>
          <p:nvPr/>
        </p:nvSpPr>
        <p:spPr>
          <a:xfrm>
            <a:off x="457200" y="2340864"/>
            <a:ext cx="1828800" cy="457200"/>
          </a:xfrm>
          <a:prstGeom prst="rect">
            <a:avLst/>
          </a:prstGeom>
          <a:noFill/>
          <a:ln/>
        </p:spPr>
        <p:txBody>
          <a:bodyPr wrap="square" lIns="0" tIns="0" rIns="0" bIns="0" rtlCol="0" anchor="ctr"/>
          <a:lstStyle/>
          <a:p>
            <a:pPr indent="0" marL="0">
              <a:buNone/>
            </a:pPr>
            <a:r>
              <a:rPr lang="en-US" sz="1400" b="1" spc="80" kern="0" dirty="0">
                <a:solidFill>
                  <a:srgbClr val="595959"/>
                </a:solidFill>
                <a:latin typeface="Inter" pitchFamily="34" charset="0"/>
                <a:ea typeface="Inter" pitchFamily="34" charset="-122"/>
                <a:cs typeface="Inter" pitchFamily="34" charset="-120"/>
              </a:rPr>
              <a:t>A 40-HOUR WEEK</a:t>
            </a:r>
            <a:endParaRPr lang="en-US" sz="1400" dirty="0"/>
          </a:p>
        </p:txBody>
      </p:sp>
      <p:sp>
        <p:nvSpPr>
          <p:cNvPr id="9" name="Shape 7"/>
          <p:cNvSpPr/>
          <p:nvPr/>
        </p:nvSpPr>
        <p:spPr>
          <a:xfrm>
            <a:off x="2286000" y="2340864"/>
            <a:ext cx="3075432" cy="457200"/>
          </a:xfrm>
          <a:prstGeom prst="rect">
            <a:avLst/>
          </a:prstGeom>
          <a:solidFill>
            <a:srgbClr val="FFFFFF"/>
          </a:solidFill>
          <a:ln w="9525">
            <a:solidFill>
              <a:srgbClr val="D9D9D9"/>
            </a:solidFill>
            <a:prstDash val="solid"/>
          </a:ln>
        </p:spPr>
      </p:sp>
      <p:sp>
        <p:nvSpPr>
          <p:cNvPr id="10" name="Text 8"/>
          <p:cNvSpPr txBox="1"/>
          <p:nvPr/>
        </p:nvSpPr>
        <p:spPr>
          <a:xfrm>
            <a:off x="235915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Works 40 hours  </a:t>
            </a:r>
            <a:pPr algn="ctr" indent="0" marL="0">
              <a:buNone/>
            </a:pPr>
            <a:r>
              <a:rPr lang="en-US" sz="1400" b="1" dirty="0">
                <a:solidFill>
                  <a:srgbClr val="0B2C4A"/>
                </a:solidFill>
                <a:latin typeface="Inter" pitchFamily="34" charset="0"/>
                <a:ea typeface="Inter" pitchFamily="34" charset="-122"/>
                <a:cs typeface="Inter" pitchFamily="34" charset="-120"/>
              </a:rPr>
              <a:t>sells 34</a:t>
            </a:r>
            <a:endParaRPr lang="en-US" sz="1400" dirty="0"/>
          </a:p>
        </p:txBody>
      </p:sp>
      <p:sp>
        <p:nvSpPr>
          <p:cNvPr id="11" name="Shape 9"/>
          <p:cNvSpPr/>
          <p:nvPr/>
        </p:nvSpPr>
        <p:spPr>
          <a:xfrm>
            <a:off x="5471160" y="2340864"/>
            <a:ext cx="3075432" cy="457200"/>
          </a:xfrm>
          <a:prstGeom prst="rect">
            <a:avLst/>
          </a:prstGeom>
          <a:solidFill>
            <a:srgbClr val="FFFFFF"/>
          </a:solidFill>
          <a:ln w="9525">
            <a:solidFill>
              <a:srgbClr val="D9D9D9"/>
            </a:solidFill>
            <a:prstDash val="solid"/>
          </a:ln>
        </p:spPr>
      </p:sp>
      <p:sp>
        <p:nvSpPr>
          <p:cNvPr id="12" name="Text 10"/>
          <p:cNvSpPr txBox="1"/>
          <p:nvPr/>
        </p:nvSpPr>
        <p:spPr>
          <a:xfrm>
            <a:off x="554431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Proficiency  </a:t>
            </a:r>
            <a:pPr algn="ctr" indent="0" marL="0">
              <a:buNone/>
            </a:pPr>
            <a:r>
              <a:rPr lang="en-US" sz="1400" b="1" dirty="0">
                <a:solidFill>
                  <a:srgbClr val="0B2C4A"/>
                </a:solidFill>
                <a:latin typeface="Inter" pitchFamily="34" charset="0"/>
                <a:ea typeface="Inter" pitchFamily="34" charset="-122"/>
                <a:cs typeface="Inter" pitchFamily="34" charset="-120"/>
              </a:rPr>
              <a:t>85%</a:t>
            </a:r>
            <a:endParaRPr lang="en-US" sz="1400" dirty="0"/>
          </a:p>
        </p:txBody>
      </p:sp>
      <p:sp>
        <p:nvSpPr>
          <p:cNvPr id="13" name="Shape 11"/>
          <p:cNvSpPr/>
          <p:nvPr/>
        </p:nvSpPr>
        <p:spPr>
          <a:xfrm>
            <a:off x="8656320" y="2340864"/>
            <a:ext cx="3075432" cy="457200"/>
          </a:xfrm>
          <a:prstGeom prst="rect">
            <a:avLst/>
          </a:prstGeom>
          <a:solidFill>
            <a:srgbClr val="FFFFFF"/>
          </a:solidFill>
          <a:ln w="9525">
            <a:solidFill>
              <a:srgbClr val="D9D9D9"/>
            </a:solidFill>
            <a:prstDash val="solid"/>
          </a:ln>
        </p:spPr>
      </p:sp>
      <p:sp>
        <p:nvSpPr>
          <p:cNvPr id="14" name="Text 12"/>
          <p:cNvSpPr txBox="1"/>
          <p:nvPr/>
        </p:nvSpPr>
        <p:spPr>
          <a:xfrm>
            <a:off x="8729472" y="2340864"/>
            <a:ext cx="2929128" cy="457200"/>
          </a:xfrm>
          <a:prstGeom prst="rect">
            <a:avLst/>
          </a:prstGeom>
          <a:noFill/>
          <a:ln/>
        </p:spPr>
        <p:txBody>
          <a:bodyPr wrap="square" lIns="0" tIns="0" rIns="0" bIns="0" rtlCol="0" anchor="ctr">
            <a:normAutofit/>
          </a:bodyPr>
          <a:lstStyle/>
          <a:p>
            <a:pPr algn="ctr" indent="0" marL="0">
              <a:buNone/>
            </a:pPr>
            <a:r>
              <a:rPr lang="en-US" sz="1400" dirty="0">
                <a:solidFill>
                  <a:srgbClr val="1A1A1A"/>
                </a:solidFill>
                <a:latin typeface="Inter" pitchFamily="34" charset="0"/>
                <a:ea typeface="Inter" pitchFamily="34" charset="-122"/>
                <a:cs typeface="Inter" pitchFamily="34" charset="-120"/>
              </a:rPr>
              <a:t>Sells 40  </a:t>
            </a:r>
            <a:pPr algn="ctr" indent="0" marL="0">
              <a:buNone/>
            </a:pPr>
            <a:r>
              <a:rPr lang="en-US" sz="1400" b="1" dirty="0">
                <a:solidFill>
                  <a:srgbClr val="0B2C4A"/>
                </a:solidFill>
                <a:latin typeface="Inter" pitchFamily="34" charset="0"/>
                <a:ea typeface="Inter" pitchFamily="34" charset="-122"/>
                <a:cs typeface="Inter" pitchFamily="34" charset="-120"/>
              </a:rPr>
              <a:t>100%</a:t>
            </a:r>
            <a:endParaRPr lang="en-US" sz="1400" dirty="0"/>
          </a:p>
        </p:txBody>
      </p:sp>
      <p:sp>
        <p:nvSpPr>
          <p:cNvPr id="15" name="Shape 13"/>
          <p:cNvSpPr/>
          <p:nvPr/>
        </p:nvSpPr>
        <p:spPr>
          <a:xfrm>
            <a:off x="457200" y="2907792"/>
            <a:ext cx="4343400" cy="3081528"/>
          </a:xfrm>
          <a:prstGeom prst="rect">
            <a:avLst/>
          </a:prstGeom>
          <a:solidFill>
            <a:srgbClr val="FFFFFF"/>
          </a:solidFill>
          <a:ln/>
        </p:spPr>
      </p:sp>
      <p:sp>
        <p:nvSpPr>
          <p:cNvPr id="16" name="Shape 14"/>
          <p:cNvSpPr/>
          <p:nvPr/>
        </p:nvSpPr>
        <p:spPr>
          <a:xfrm>
            <a:off x="4937760" y="2907792"/>
            <a:ext cx="6793992" cy="3081528"/>
          </a:xfrm>
          <a:prstGeom prst="rect">
            <a:avLst/>
          </a:prstGeom>
          <a:solidFill>
            <a:srgbClr val="FFFFFF"/>
          </a:solidFill>
          <a:ln/>
        </p:spPr>
      </p:sp>
      <p:sp>
        <p:nvSpPr>
          <p:cNvPr id="17" name="Text 15"/>
          <p:cNvSpPr txBox="1"/>
          <p:nvPr/>
        </p:nvSpPr>
        <p:spPr>
          <a:xfrm>
            <a:off x="658368" y="3035808"/>
            <a:ext cx="393192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WHY IT MATTERS</a:t>
            </a:r>
            <a:endParaRPr lang="en-US" sz="1400" dirty="0"/>
          </a:p>
        </p:txBody>
      </p:sp>
      <p:sp>
        <p:nvSpPr>
          <p:cNvPr id="18" name="Text 16"/>
          <p:cNvSpPr txBox="1"/>
          <p:nvPr/>
        </p:nvSpPr>
        <p:spPr>
          <a:xfrm>
            <a:off x="5138928" y="3035808"/>
            <a:ext cx="6400800" cy="292608"/>
          </a:xfrm>
          <a:prstGeom prst="rect">
            <a:avLst/>
          </a:prstGeom>
          <a:noFill/>
          <a:ln/>
        </p:spPr>
        <p:txBody>
          <a:bodyPr wrap="square" lIns="0" tIns="0" rIns="0" bIns="0" rtlCol="0" anchor="ctr"/>
          <a:lstStyle/>
          <a:p>
            <a:pPr indent="0" marL="0">
              <a:buNone/>
            </a:pPr>
            <a:r>
              <a:rPr lang="en-US" sz="1400" b="1" spc="100" kern="0" dirty="0">
                <a:solidFill>
                  <a:srgbClr val="0B2C4A"/>
                </a:solidFill>
                <a:latin typeface="Inter" pitchFamily="34" charset="0"/>
                <a:ea typeface="Inter" pitchFamily="34" charset="-122"/>
                <a:cs typeface="Inter" pitchFamily="34" charset="-120"/>
              </a:rPr>
              <a:t>WHAT MOVES IT</a:t>
            </a:r>
            <a:endParaRPr lang="en-US" sz="1400" dirty="0"/>
          </a:p>
        </p:txBody>
      </p:sp>
      <p:sp>
        <p:nvSpPr>
          <p:cNvPr id="19" name="Text 17"/>
          <p:cNvSpPr txBox="1"/>
          <p:nvPr/>
        </p:nvSpPr>
        <p:spPr>
          <a:xfrm>
            <a:off x="658368" y="3410712"/>
            <a:ext cx="3977640" cy="2441448"/>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 service department is a production facility. What we produce is hours.</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Any production floor knows what it made today and what each person made. So should we.</a:t>
            </a:r>
            <a:endParaRPr lang="en-US" sz="1500" dirty="0"/>
          </a:p>
          <a:p>
            <a:pPr marL="203200" indent="-203200">
              <a:spcAft>
                <a:spcPts val="600"/>
              </a:spcAft>
              <a:buSzPct val="100000"/>
              <a:buChar char="•"/>
            </a:pPr>
            <a:r>
              <a:rPr lang="en-US" sz="1500" dirty="0">
                <a:solidFill>
                  <a:srgbClr val="1A1A1A"/>
                </a:solidFill>
                <a:latin typeface="Inter" pitchFamily="34" charset="0"/>
                <a:ea typeface="Inter" pitchFamily="34" charset="-122"/>
                <a:cs typeface="Inter" pitchFamily="34" charset="-120"/>
              </a:rPr>
              <a:t>It takes someone actively managing production, every day.</a:t>
            </a:r>
            <a:endParaRPr lang="en-US" sz="1500" dirty="0"/>
          </a:p>
        </p:txBody>
      </p:sp>
      <p:sp>
        <p:nvSpPr>
          <p:cNvPr id="20" name="Shape 18"/>
          <p:cNvSpPr/>
          <p:nvPr/>
        </p:nvSpPr>
        <p:spPr>
          <a:xfrm>
            <a:off x="5138928" y="3410712"/>
            <a:ext cx="45720" cy="1133856"/>
          </a:xfrm>
          <a:prstGeom prst="rect">
            <a:avLst/>
          </a:prstGeom>
          <a:solidFill>
            <a:srgbClr val="2587C5"/>
          </a:solidFill>
          <a:ln/>
        </p:spPr>
      </p:sp>
      <p:sp>
        <p:nvSpPr>
          <p:cNvPr id="21" name="Text 19"/>
          <p:cNvSpPr txBox="1"/>
          <p:nvPr/>
        </p:nvSpPr>
        <p:spPr>
          <a:xfrm>
            <a:off x="5266944"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Dispatch</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Work waiting at the bay; the right job to the right tech</a:t>
            </a:r>
            <a:endParaRPr lang="en-US" sz="1400" dirty="0"/>
          </a:p>
        </p:txBody>
      </p:sp>
      <p:sp>
        <p:nvSpPr>
          <p:cNvPr id="22" name="Shape 20"/>
          <p:cNvSpPr/>
          <p:nvPr/>
        </p:nvSpPr>
        <p:spPr>
          <a:xfrm>
            <a:off x="7309104" y="3410712"/>
            <a:ext cx="45720" cy="1133856"/>
          </a:xfrm>
          <a:prstGeom prst="rect">
            <a:avLst/>
          </a:prstGeom>
          <a:solidFill>
            <a:srgbClr val="2587C5"/>
          </a:solidFill>
          <a:ln/>
        </p:spPr>
      </p:sp>
      <p:sp>
        <p:nvSpPr>
          <p:cNvPr id="23" name="Text 21"/>
          <p:cNvSpPr txBox="1"/>
          <p:nvPr/>
        </p:nvSpPr>
        <p:spPr>
          <a:xfrm>
            <a:off x="7437120"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Car count</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Not enough work leaves techs waiting</a:t>
            </a:r>
            <a:endParaRPr lang="en-US" sz="1400" dirty="0"/>
          </a:p>
        </p:txBody>
      </p:sp>
      <p:sp>
        <p:nvSpPr>
          <p:cNvPr id="24" name="Shape 22"/>
          <p:cNvSpPr/>
          <p:nvPr/>
        </p:nvSpPr>
        <p:spPr>
          <a:xfrm>
            <a:off x="9479280" y="3410712"/>
            <a:ext cx="45720" cy="1133856"/>
          </a:xfrm>
          <a:prstGeom prst="rect">
            <a:avLst/>
          </a:prstGeom>
          <a:solidFill>
            <a:srgbClr val="2587C5"/>
          </a:solidFill>
          <a:ln/>
        </p:spPr>
      </p:sp>
      <p:sp>
        <p:nvSpPr>
          <p:cNvPr id="25" name="Text 23"/>
          <p:cNvSpPr txBox="1"/>
          <p:nvPr/>
        </p:nvSpPr>
        <p:spPr>
          <a:xfrm>
            <a:off x="9607296" y="3410712"/>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Parts staging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Parts at the bay before the tech needs them</a:t>
            </a:r>
            <a:endParaRPr lang="en-US" sz="1400" dirty="0"/>
          </a:p>
        </p:txBody>
      </p:sp>
      <p:sp>
        <p:nvSpPr>
          <p:cNvPr id="26" name="Shape 24"/>
          <p:cNvSpPr/>
          <p:nvPr/>
        </p:nvSpPr>
        <p:spPr>
          <a:xfrm>
            <a:off x="5138928" y="4654296"/>
            <a:ext cx="45720" cy="1133856"/>
          </a:xfrm>
          <a:prstGeom prst="rect">
            <a:avLst/>
          </a:prstGeom>
          <a:solidFill>
            <a:srgbClr val="2587C5"/>
          </a:solidFill>
          <a:ln/>
        </p:spPr>
      </p:sp>
      <p:sp>
        <p:nvSpPr>
          <p:cNvPr id="27" name="Text 25"/>
          <p:cNvSpPr txBox="1"/>
          <p:nvPr/>
        </p:nvSpPr>
        <p:spPr>
          <a:xfrm>
            <a:off x="5266944"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Approvals</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Fast customer approval on the inspection</a:t>
            </a:r>
            <a:endParaRPr lang="en-US" sz="1400" dirty="0"/>
          </a:p>
        </p:txBody>
      </p:sp>
      <p:sp>
        <p:nvSpPr>
          <p:cNvPr id="28" name="Shape 26"/>
          <p:cNvSpPr/>
          <p:nvPr/>
        </p:nvSpPr>
        <p:spPr>
          <a:xfrm>
            <a:off x="7309104" y="4654296"/>
            <a:ext cx="45720" cy="1133856"/>
          </a:xfrm>
          <a:prstGeom prst="rect">
            <a:avLst/>
          </a:prstGeom>
          <a:solidFill>
            <a:srgbClr val="2587C5"/>
          </a:solidFill>
          <a:ln/>
        </p:spPr>
      </p:sp>
      <p:sp>
        <p:nvSpPr>
          <p:cNvPr id="29" name="Text 27"/>
          <p:cNvSpPr txBox="1"/>
          <p:nvPr/>
        </p:nvSpPr>
        <p:spPr>
          <a:xfrm>
            <a:off x="7437120"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Skill and training</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Tech level in line with job skill</a:t>
            </a:r>
            <a:endParaRPr lang="en-US" sz="1400" dirty="0"/>
          </a:p>
        </p:txBody>
      </p:sp>
      <p:sp>
        <p:nvSpPr>
          <p:cNvPr id="30" name="Shape 28"/>
          <p:cNvSpPr/>
          <p:nvPr/>
        </p:nvSpPr>
        <p:spPr>
          <a:xfrm>
            <a:off x="9479280" y="4654296"/>
            <a:ext cx="45720" cy="1133856"/>
          </a:xfrm>
          <a:prstGeom prst="rect">
            <a:avLst/>
          </a:prstGeom>
          <a:solidFill>
            <a:srgbClr val="2587C5"/>
          </a:solidFill>
          <a:ln/>
        </p:spPr>
      </p:sp>
      <p:sp>
        <p:nvSpPr>
          <p:cNvPr id="31" name="Text 29"/>
          <p:cNvSpPr txBox="1"/>
          <p:nvPr/>
        </p:nvSpPr>
        <p:spPr>
          <a:xfrm>
            <a:off x="9607296" y="4654296"/>
            <a:ext cx="1877568" cy="1133856"/>
          </a:xfrm>
          <a:prstGeom prst="rect">
            <a:avLst/>
          </a:prstGeom>
          <a:noFill/>
          <a:ln/>
        </p:spPr>
        <p:txBody>
          <a:bodyPr wrap="square" lIns="0" tIns="0" rIns="0" bIns="0" rtlCol="0" anchor="t"/>
          <a:lstStyle/>
          <a:p>
            <a:pPr indent="0" marL="0">
              <a:buNone/>
            </a:pPr>
            <a:r>
              <a:rPr lang="en-US" sz="1400" b="1" dirty="0">
                <a:solidFill>
                  <a:srgbClr val="1A1A1A"/>
                </a:solidFill>
                <a:latin typeface="Inter" pitchFamily="34" charset="0"/>
                <a:ea typeface="Inter" pitchFamily="34" charset="-122"/>
                <a:cs typeface="Inter" pitchFamily="34" charset="-120"/>
              </a:rPr>
              <a:t>Proficiency vs efficiency</a:t>
            </a:r>
            <a:endParaRPr lang="en-US" sz="1400" dirty="0"/>
          </a:p>
          <a:p>
            <a:pPr indent="0" marL="0">
              <a:buNone/>
            </a:pPr>
            <a:r>
              <a:rPr lang="en-US" sz="1400" dirty="0">
                <a:solidFill>
                  <a:srgbClr val="595959"/>
                </a:solidFill>
                <a:latin typeface="Inter" pitchFamily="34" charset="0"/>
                <a:ea typeface="Inter" pitchFamily="34" charset="-122"/>
                <a:cs typeface="Inter" pitchFamily="34" charset="-120"/>
              </a:rPr>
              <a:t>Efficiency divides by time clocked on ROs, not all hours worked</a:t>
            </a:r>
            <a:endParaRPr lang="en-US" sz="1400" dirty="0"/>
          </a:p>
        </p:txBody>
      </p:sp>
      <p:sp>
        <p:nvSpPr>
          <p:cNvPr id="32" name="Shape 30"/>
          <p:cNvSpPr/>
          <p:nvPr/>
        </p:nvSpPr>
        <p:spPr>
          <a:xfrm>
            <a:off x="457200" y="6126480"/>
            <a:ext cx="11274552" cy="371856"/>
          </a:xfrm>
          <a:prstGeom prst="rect">
            <a:avLst/>
          </a:prstGeom>
          <a:solidFill>
            <a:srgbClr val="EDF4FA"/>
          </a:solidFill>
          <a:ln/>
        </p:spPr>
      </p:sp>
      <p:sp>
        <p:nvSpPr>
          <p:cNvPr id="33" name="Text 31"/>
          <p:cNvSpPr txBox="1"/>
          <p:nvPr/>
        </p:nvSpPr>
        <p:spPr>
          <a:xfrm>
            <a:off x="658368" y="6144768"/>
            <a:ext cx="10927080" cy="335280"/>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Group: 94.7%. 20 of 33 stores at or above 85%; 262 of 583 counted techs below it.</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2026-10-26T20:24:03Z</dcterms:created>
  <dcterms:modified xsi:type="dcterms:W3CDTF">2026-10-26T20:24:03Z</dcterms:modified>
</cp:coreProperties>
</file>