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PHONE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HANDED TO A PERSON</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53.5%</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26,215 calls transferred to the store.</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484 callbacks still open. The AI books and routes the call; the store still has to answer the transfer and close the callback.</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More than half of all calls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PHONE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 Handles the Phone Well</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booked ÷ bookable · 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 name="Text 9"/>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2" name="Text 10"/>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 calls</a:t>
            </a:r>
            <a:endParaRPr lang="en-US" sz="1200" dirty="0"/>
          </a:p>
        </p:txBody>
      </p:sp>
      <p:sp>
        <p:nvSpPr>
          <p:cNvPr id="13" name="Text 11"/>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 name="Text 12"/>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5" name="Text 13"/>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 calls</a:t>
            </a:r>
            <a:endParaRPr lang="en-US" sz="1200" dirty="0"/>
          </a:p>
        </p:txBody>
      </p:sp>
      <p:sp>
        <p:nvSpPr>
          <p:cNvPr id="16" name="Text 14"/>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 name="Text 15"/>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18" name="Text 16"/>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 calls</a:t>
            </a:r>
            <a:endParaRPr lang="en-US" sz="1200" dirty="0"/>
          </a:p>
        </p:txBody>
      </p:sp>
      <p:sp>
        <p:nvSpPr>
          <p:cNvPr id="19" name="Text 17"/>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Text 18"/>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1" name="Text 19"/>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 calls</a:t>
            </a:r>
            <a:endParaRPr lang="en-US" sz="1200" dirty="0"/>
          </a:p>
        </p:txBody>
      </p:sp>
      <p:sp>
        <p:nvSpPr>
          <p:cNvPr id="22" name="Text 20"/>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Text 21"/>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4" name="Text 22"/>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 calls</a:t>
            </a:r>
            <a:endParaRPr lang="en-US" sz="1200" dirty="0"/>
          </a:p>
        </p:txBody>
      </p:sp>
      <p:sp>
        <p:nvSpPr>
          <p:cNvPr id="25" name="Shape 23"/>
          <p:cNvSpPr/>
          <p:nvPr/>
        </p:nvSpPr>
        <p:spPr>
          <a:xfrm>
            <a:off x="621792" y="3913632"/>
            <a:ext cx="3355848" cy="22860"/>
          </a:xfrm>
          <a:prstGeom prst="rect">
            <a:avLst/>
          </a:prstGeom>
          <a:solidFill>
            <a:srgbClr val="C2352F"/>
          </a:solidFill>
          <a:ln/>
        </p:spPr>
      </p:sp>
      <p:sp>
        <p:nvSpPr>
          <p:cNvPr id="26" name="Text 24"/>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27" name="Text 25"/>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28" name="Text 26"/>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29" name="Text 27"/>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 calls</a:t>
            </a:r>
            <a:endParaRPr lang="en-US" sz="1200" dirty="0"/>
          </a:p>
        </p:txBody>
      </p:sp>
      <p:sp>
        <p:nvSpPr>
          <p:cNvPr id="30" name="Text 28"/>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31" name="Text 29"/>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32" name="Text 30"/>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 calls</a:t>
            </a:r>
            <a:endParaRPr lang="en-US" sz="1200" dirty="0"/>
          </a:p>
        </p:txBody>
      </p:sp>
      <p:sp>
        <p:nvSpPr>
          <p:cNvPr id="33" name="Text 3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34" name="Text 3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35" name="Text 3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 calls</a:t>
            </a:r>
            <a:endParaRPr lang="en-US" sz="1200" dirty="0"/>
          </a:p>
        </p:txBody>
      </p:sp>
      <p:sp>
        <p:nvSpPr>
          <p:cNvPr id="36" name="Text 3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7" name="Text 3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38" name="Text 3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 calls</a:t>
            </a:r>
            <a:endParaRPr lang="en-US" sz="1200" dirty="0"/>
          </a:p>
        </p:txBody>
      </p:sp>
      <p:sp>
        <p:nvSpPr>
          <p:cNvPr id="39" name="Text 37"/>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40" name="Text 38"/>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41" name="Text 39"/>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 calls</a:t>
            </a:r>
            <a:endParaRPr lang="en-US" sz="1200" dirty="0"/>
          </a:p>
        </p:txBody>
      </p:sp>
      <p:sp>
        <p:nvSpPr>
          <p:cNvPr id="42" name="Shape 40"/>
          <p:cNvSpPr/>
          <p:nvPr/>
        </p:nvSpPr>
        <p:spPr>
          <a:xfrm>
            <a:off x="4251960" y="1207008"/>
            <a:ext cx="3685032" cy="4782312"/>
          </a:xfrm>
          <a:prstGeom prst="rect">
            <a:avLst/>
          </a:prstGeom>
          <a:solidFill>
            <a:srgbClr val="FFFFFF"/>
          </a:solidFill>
          <a:ln/>
        </p:spPr>
      </p:sp>
      <p:sp>
        <p:nvSpPr>
          <p:cNvPr id="43" name="Text 41"/>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44" name="Text 42"/>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transfers picked up · group 47.7%</a:t>
            </a:r>
            <a:endParaRPr lang="en-US" sz="1400" dirty="0"/>
          </a:p>
        </p:txBody>
      </p:sp>
      <p:sp>
        <p:nvSpPr>
          <p:cNvPr id="45" name="Shape 43"/>
          <p:cNvSpPr/>
          <p:nvPr/>
        </p:nvSpPr>
        <p:spPr>
          <a:xfrm>
            <a:off x="4416552" y="1911096"/>
            <a:ext cx="3355848" cy="22860"/>
          </a:xfrm>
          <a:prstGeom prst="rect">
            <a:avLst/>
          </a:prstGeom>
          <a:solidFill>
            <a:srgbClr val="12A566"/>
          </a:solidFill>
          <a:ln/>
        </p:spPr>
      </p:sp>
      <p:sp>
        <p:nvSpPr>
          <p:cNvPr id="46" name="Text 44"/>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47" name="Text 45"/>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8" name="Text 46"/>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49" name="Text 47"/>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 calls</a:t>
            </a:r>
            <a:endParaRPr lang="en-US" sz="1200" dirty="0"/>
          </a:p>
        </p:txBody>
      </p:sp>
      <p:sp>
        <p:nvSpPr>
          <p:cNvPr id="50" name="Text 48"/>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Text 49"/>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52" name="Text 50"/>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 calls</a:t>
            </a:r>
            <a:endParaRPr lang="en-US" sz="1200" dirty="0"/>
          </a:p>
        </p:txBody>
      </p:sp>
      <p:sp>
        <p:nvSpPr>
          <p:cNvPr id="53" name="Text 51"/>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4" name="Text 52"/>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55" name="Text 53"/>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 calls</a:t>
            </a:r>
            <a:endParaRPr lang="en-US" sz="1200" dirty="0"/>
          </a:p>
        </p:txBody>
      </p:sp>
      <p:sp>
        <p:nvSpPr>
          <p:cNvPr id="56" name="Text 54"/>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7" name="Text 55"/>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58" name="Text 56"/>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 calls</a:t>
            </a:r>
            <a:endParaRPr lang="en-US" sz="1200" dirty="0"/>
          </a:p>
        </p:txBody>
      </p:sp>
      <p:sp>
        <p:nvSpPr>
          <p:cNvPr id="59" name="Text 57"/>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60" name="Text 58"/>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61" name="Text 59"/>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 calls</a:t>
            </a:r>
            <a:endParaRPr lang="en-US" sz="1200" dirty="0"/>
          </a:p>
        </p:txBody>
      </p:sp>
      <p:sp>
        <p:nvSpPr>
          <p:cNvPr id="62" name="Shape 60"/>
          <p:cNvSpPr/>
          <p:nvPr/>
        </p:nvSpPr>
        <p:spPr>
          <a:xfrm>
            <a:off x="4416552" y="3913632"/>
            <a:ext cx="3355848" cy="22860"/>
          </a:xfrm>
          <a:prstGeom prst="rect">
            <a:avLst/>
          </a:prstGeom>
          <a:solidFill>
            <a:srgbClr val="C2352F"/>
          </a:solidFill>
          <a:ln/>
        </p:spPr>
      </p:sp>
      <p:sp>
        <p:nvSpPr>
          <p:cNvPr id="63" name="Text 61"/>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64" name="Text 6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5" name="Text 6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66" name="Text 6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 calls</a:t>
            </a:r>
            <a:endParaRPr lang="en-US" sz="1200" dirty="0"/>
          </a:p>
        </p:txBody>
      </p:sp>
      <p:sp>
        <p:nvSpPr>
          <p:cNvPr id="67" name="Text 65"/>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8" name="Text 66"/>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69" name="Text 67"/>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 calls</a:t>
            </a:r>
            <a:endParaRPr lang="en-US" sz="1200" dirty="0"/>
          </a:p>
        </p:txBody>
      </p:sp>
      <p:sp>
        <p:nvSpPr>
          <p:cNvPr id="70" name="Text 68"/>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71" name="Text 69"/>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72" name="Text 70"/>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 calls</a:t>
            </a:r>
            <a:endParaRPr lang="en-US" sz="1200" dirty="0"/>
          </a:p>
        </p:txBody>
      </p:sp>
      <p:sp>
        <p:nvSpPr>
          <p:cNvPr id="73" name="Text 71"/>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74" name="Text 72"/>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75" name="Text 73"/>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 calls</a:t>
            </a:r>
            <a:endParaRPr lang="en-US" sz="1200" dirty="0"/>
          </a:p>
        </p:txBody>
      </p:sp>
      <p:sp>
        <p:nvSpPr>
          <p:cNvPr id="76" name="Text 74"/>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77" name="Text 75"/>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78" name="Text 76"/>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 calls</a:t>
            </a:r>
            <a:endParaRPr lang="en-US" sz="1200" dirty="0"/>
          </a:p>
        </p:txBody>
      </p:sp>
      <p:sp>
        <p:nvSpPr>
          <p:cNvPr id="79" name="Shape 77"/>
          <p:cNvSpPr/>
          <p:nvPr/>
        </p:nvSpPr>
        <p:spPr>
          <a:xfrm>
            <a:off x="8046720" y="1207008"/>
            <a:ext cx="3685032" cy="4782312"/>
          </a:xfrm>
          <a:prstGeom prst="rect">
            <a:avLst/>
          </a:prstGeom>
          <a:solidFill>
            <a:srgbClr val="FFFFFF"/>
          </a:solidFill>
          <a:ln/>
        </p:spPr>
      </p:sp>
      <p:sp>
        <p:nvSpPr>
          <p:cNvPr id="80" name="Text 78"/>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81" name="Text 79"/>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callbacks closed · group 98.2%</a:t>
            </a:r>
            <a:endParaRPr lang="en-US" sz="1400" dirty="0"/>
          </a:p>
        </p:txBody>
      </p:sp>
      <p:sp>
        <p:nvSpPr>
          <p:cNvPr id="82" name="Shape 80"/>
          <p:cNvSpPr/>
          <p:nvPr/>
        </p:nvSpPr>
        <p:spPr>
          <a:xfrm>
            <a:off x="8211312" y="1911096"/>
            <a:ext cx="3355848" cy="22860"/>
          </a:xfrm>
          <a:prstGeom prst="rect">
            <a:avLst/>
          </a:prstGeom>
          <a:solidFill>
            <a:srgbClr val="12A566"/>
          </a:solidFill>
          <a:ln/>
        </p:spPr>
      </p:sp>
      <p:sp>
        <p:nvSpPr>
          <p:cNvPr id="83" name="Text 81"/>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84" name="Text 82"/>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85" name="Text 83"/>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86" name="Text 84"/>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87" name="Text 85"/>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8" name="Text 86"/>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89" name="Text 87"/>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0" name="Text 88"/>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2" name="Text 90"/>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3" name="Text 91"/>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94" name="Text 92"/>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5" name="Text 93"/>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6" name="Text 94"/>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97" name="Text 95"/>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8" name="Text 96"/>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 open</a:t>
            </a:r>
            <a:endParaRPr lang="en-US" sz="1200" dirty="0"/>
          </a:p>
        </p:txBody>
      </p:sp>
      <p:sp>
        <p:nvSpPr>
          <p:cNvPr id="99" name="Shape 97"/>
          <p:cNvSpPr/>
          <p:nvPr/>
        </p:nvSpPr>
        <p:spPr>
          <a:xfrm>
            <a:off x="8211312" y="3913632"/>
            <a:ext cx="3355848" cy="22860"/>
          </a:xfrm>
          <a:prstGeom prst="rect">
            <a:avLst/>
          </a:prstGeom>
          <a:solidFill>
            <a:srgbClr val="C2352F"/>
          </a:solidFill>
          <a:ln/>
        </p:spPr>
      </p:sp>
      <p:sp>
        <p:nvSpPr>
          <p:cNvPr id="100" name="Text 98"/>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01" name="Text 99"/>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2" name="Text 100"/>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03" name="Text 101"/>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 open</a:t>
            </a:r>
            <a:endParaRPr lang="en-US" sz="1200" dirty="0"/>
          </a:p>
        </p:txBody>
      </p:sp>
      <p:sp>
        <p:nvSpPr>
          <p:cNvPr id="104" name="Text 102"/>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05" name="Text 103"/>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06" name="Text 104"/>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 open</a:t>
            </a:r>
            <a:endParaRPr lang="en-US" sz="1200" dirty="0"/>
          </a:p>
        </p:txBody>
      </p:sp>
      <p:sp>
        <p:nvSpPr>
          <p:cNvPr id="107" name="Text 105"/>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08" name="Text 106"/>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09" name="Text 107"/>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 open</a:t>
            </a:r>
            <a:endParaRPr lang="en-US" sz="1200" dirty="0"/>
          </a:p>
        </p:txBody>
      </p:sp>
      <p:sp>
        <p:nvSpPr>
          <p:cNvPr id="110" name="Text 108"/>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11" name="Text 109"/>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12" name="Text 110"/>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 open</a:t>
            </a:r>
            <a:endParaRPr lang="en-US" sz="1200" dirty="0"/>
          </a:p>
        </p:txBody>
      </p:sp>
      <p:sp>
        <p:nvSpPr>
          <p:cNvPr id="113" name="Text 111"/>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Text 112"/>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15" name="Text 113"/>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 open</a:t>
            </a:r>
            <a:endParaRPr lang="en-US" sz="1200" dirty="0"/>
          </a:p>
        </p:txBody>
      </p:sp>
      <p:sp>
        <p:nvSpPr>
          <p:cNvPr id="116" name="Shape 114"/>
          <p:cNvSpPr/>
          <p:nvPr/>
        </p:nvSpPr>
        <p:spPr>
          <a:xfrm>
            <a:off x="457200" y="6126480"/>
            <a:ext cx="11274552" cy="615696"/>
          </a:xfrm>
          <a:prstGeom prst="rect">
            <a:avLst/>
          </a:prstGeom>
          <a:solidFill>
            <a:srgbClr val="EDF4FA"/>
          </a:solidFill>
          <a:ln/>
        </p:spPr>
      </p:sp>
      <p:sp>
        <p:nvSpPr>
          <p:cNvPr id="117" name="Text 1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2026-10-26T16:41:55Z</dcterms:created>
  <dcterms:modified xsi:type="dcterms:W3CDTF">2026-10-26T16:41:55Z</dcterms:modified>
</cp:coreProperties>
</file>