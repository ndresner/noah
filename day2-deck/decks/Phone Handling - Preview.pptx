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Flai voice AI dashboard, Service view, standings export, Jul 26 - Oct 26, 2026 (93 days). Flai's location names (26 with calls). Pickup rate and resolution as Flai reports them. Flai's estimated savings, revenue and profit are not used. Handled by the AI alone = calls - transfers (the export has no separate column for it). Not picked up = transfers x (1 - pickup rate), from Flai's group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Flai voice AI dashboard, Service view, standings export, Jul 26 - Oct 26, 2026 (93 days). Flai's location names (26 with calls). Pickup rate and resolution as Flai reports them. Flai's estimated savings, revenue and profit are not used. Ranked among the 23 locations with 300+ calls (Subaru St George, Land Rover Henderson, Jaguar Land Rover Las Vegas have fewer). Honda Spokane shows no calls in the period.Talk track: the voice AI answers every call, books what it can and hands the rest to the store. What happens next is ours: someone has to pick up the transfer, and every callback has to be closed. A store that doesn't pick up is sending a customer it already has to voicemail.
Definitions to confirm against Flai: pickup rate is read as the share of transferred calls a person picked up; resolution as the share of callback requests closed. Resolve time in the export runs to weeks at some locations and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PHONE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Every Call Is a Customer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CALLS HANDLED</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48,964</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526 a day across 26 locations, average call 1:49.</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APPOINTMENTS BOOKED</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10,841</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72% of the 15,051 calls that could book an appointment.</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HANDLED BY THE AI ALONE</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22,749</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46.5% of calls, start to finish. The other 26,215 (53.5%) were transferred to the store.</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C2352F"/>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TRANSFERS PICKED UP</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A82B26"/>
                </a:solidFill>
                <a:latin typeface="Inter" pitchFamily="34" charset="0"/>
                <a:ea typeface="Inter" pitchFamily="34" charset="-122"/>
                <a:cs typeface="Inter" pitchFamily="34" charset="-120"/>
              </a:rPr>
              <a:t>47.7%</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13,710 transferred calls were not picked up by a person.</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484 callbacks still open. The AI books and routes the call; the store still has to answer the transfer and close the callback.</a:t>
            </a:r>
            <a:endParaRPr lang="en-US" sz="1700" dirty="0"/>
          </a:p>
        </p:txBody>
      </p:sp>
      <p:sp>
        <p:nvSpPr>
          <p:cNvPr id="27" name="Shape 25"/>
          <p:cNvSpPr/>
          <p:nvPr/>
        </p:nvSpPr>
        <p:spPr>
          <a:xfrm>
            <a:off x="457200" y="6126480"/>
            <a:ext cx="11274552" cy="615696"/>
          </a:xfrm>
          <a:prstGeom prst="rect">
            <a:avLst/>
          </a:prstGeom>
          <a:solidFill>
            <a:srgbClr val="FBEBE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The AI finishes 46.5% of calls on its own. The rest come back to the store, and fewer than half of those reach a person. Every unanswered transfer is a customer we already had.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PHONE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 Handles the Phone Well</a:t>
            </a:r>
            <a:endParaRPr lang="en-US" sz="2800" dirty="0"/>
          </a:p>
        </p:txBody>
      </p:sp>
      <p:sp>
        <p:nvSpPr>
          <p:cNvPr id="5" name="Shape 3"/>
          <p:cNvSpPr/>
          <p:nvPr/>
        </p:nvSpPr>
        <p:spPr>
          <a:xfrm>
            <a:off x="457200" y="1207008"/>
            <a:ext cx="3685032" cy="4782312"/>
          </a:xfrm>
          <a:prstGeom prst="rect">
            <a:avLst/>
          </a:prstGeom>
          <a:solidFill>
            <a:srgbClr val="FFFFFF"/>
          </a:solidFill>
          <a:ln/>
        </p:spPr>
      </p:sp>
      <p:sp>
        <p:nvSpPr>
          <p:cNvPr id="6" name="Text 4"/>
          <p:cNvSpPr txBox="1"/>
          <p:nvPr/>
        </p:nvSpPr>
        <p:spPr>
          <a:xfrm>
            <a:off x="62179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BOOKING RATE</a:t>
            </a:r>
            <a:endParaRPr lang="en-US" sz="1400" dirty="0"/>
          </a:p>
        </p:txBody>
      </p:sp>
      <p:sp>
        <p:nvSpPr>
          <p:cNvPr id="7" name="Text 5"/>
          <p:cNvSpPr txBox="1"/>
          <p:nvPr/>
        </p:nvSpPr>
        <p:spPr>
          <a:xfrm>
            <a:off x="62179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72%</a:t>
            </a:r>
            <a:endParaRPr lang="en-US" sz="1400" dirty="0"/>
          </a:p>
        </p:txBody>
      </p:sp>
      <p:sp>
        <p:nvSpPr>
          <p:cNvPr id="8" name="Shape 6"/>
          <p:cNvSpPr/>
          <p:nvPr/>
        </p:nvSpPr>
        <p:spPr>
          <a:xfrm>
            <a:off x="621792" y="1911096"/>
            <a:ext cx="3355848" cy="22860"/>
          </a:xfrm>
          <a:prstGeom prst="rect">
            <a:avLst/>
          </a:prstGeom>
          <a:solidFill>
            <a:srgbClr val="12A566"/>
          </a:solidFill>
          <a:ln/>
        </p:spPr>
      </p:sp>
      <p:sp>
        <p:nvSpPr>
          <p:cNvPr id="9" name="Text 7"/>
          <p:cNvSpPr txBox="1"/>
          <p:nvPr/>
        </p:nvSpPr>
        <p:spPr>
          <a:xfrm>
            <a:off x="62179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 name="Text 8"/>
          <p:cNvSpPr txBox="1"/>
          <p:nvPr/>
        </p:nvSpPr>
        <p:spPr>
          <a:xfrm>
            <a:off x="621792" y="216712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1" name="Text 9"/>
          <p:cNvSpPr txBox="1"/>
          <p:nvPr/>
        </p:nvSpPr>
        <p:spPr>
          <a:xfrm>
            <a:off x="2313432" y="216712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83.0%</a:t>
            </a:r>
            <a:endParaRPr lang="en-US" sz="1300" dirty="0"/>
          </a:p>
        </p:txBody>
      </p:sp>
      <p:sp>
        <p:nvSpPr>
          <p:cNvPr id="12" name="Text 10"/>
          <p:cNvSpPr txBox="1"/>
          <p:nvPr/>
        </p:nvSpPr>
        <p:spPr>
          <a:xfrm>
            <a:off x="3063240" y="216712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 calls</a:t>
            </a:r>
            <a:endParaRPr lang="en-US" sz="1200" dirty="0"/>
          </a:p>
        </p:txBody>
      </p:sp>
      <p:sp>
        <p:nvSpPr>
          <p:cNvPr id="13" name="Text 11"/>
          <p:cNvSpPr txBox="1"/>
          <p:nvPr/>
        </p:nvSpPr>
        <p:spPr>
          <a:xfrm>
            <a:off x="621792" y="251277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 name="Text 12"/>
          <p:cNvSpPr txBox="1"/>
          <p:nvPr/>
        </p:nvSpPr>
        <p:spPr>
          <a:xfrm>
            <a:off x="2313432" y="251277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82.3%</a:t>
            </a:r>
            <a:endParaRPr lang="en-US" sz="1300" dirty="0"/>
          </a:p>
        </p:txBody>
      </p:sp>
      <p:sp>
        <p:nvSpPr>
          <p:cNvPr id="15" name="Text 13"/>
          <p:cNvSpPr txBox="1"/>
          <p:nvPr/>
        </p:nvSpPr>
        <p:spPr>
          <a:xfrm>
            <a:off x="3063240" y="251277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4,349 calls</a:t>
            </a:r>
            <a:endParaRPr lang="en-US" sz="1200" dirty="0"/>
          </a:p>
        </p:txBody>
      </p:sp>
      <p:sp>
        <p:nvSpPr>
          <p:cNvPr id="16" name="Text 14"/>
          <p:cNvSpPr txBox="1"/>
          <p:nvPr/>
        </p:nvSpPr>
        <p:spPr>
          <a:xfrm>
            <a:off x="621792" y="285841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7" name="Text 15"/>
          <p:cNvSpPr txBox="1"/>
          <p:nvPr/>
        </p:nvSpPr>
        <p:spPr>
          <a:xfrm>
            <a:off x="2313432" y="2858414"/>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79.0%</a:t>
            </a:r>
            <a:endParaRPr lang="en-US" sz="1300" dirty="0"/>
          </a:p>
        </p:txBody>
      </p:sp>
      <p:sp>
        <p:nvSpPr>
          <p:cNvPr id="18" name="Text 16"/>
          <p:cNvSpPr txBox="1"/>
          <p:nvPr/>
        </p:nvSpPr>
        <p:spPr>
          <a:xfrm>
            <a:off x="3063240" y="285841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 calls</a:t>
            </a:r>
            <a:endParaRPr lang="en-US" sz="1200" dirty="0"/>
          </a:p>
        </p:txBody>
      </p:sp>
      <p:sp>
        <p:nvSpPr>
          <p:cNvPr id="19" name="Text 17"/>
          <p:cNvSpPr txBox="1"/>
          <p:nvPr/>
        </p:nvSpPr>
        <p:spPr>
          <a:xfrm>
            <a:off x="621792" y="320405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0" name="Text 18"/>
          <p:cNvSpPr txBox="1"/>
          <p:nvPr/>
        </p:nvSpPr>
        <p:spPr>
          <a:xfrm>
            <a:off x="2313432" y="320405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78.4%</a:t>
            </a:r>
            <a:endParaRPr lang="en-US" sz="1300" dirty="0"/>
          </a:p>
        </p:txBody>
      </p:sp>
      <p:sp>
        <p:nvSpPr>
          <p:cNvPr id="21" name="Text 19"/>
          <p:cNvSpPr txBox="1"/>
          <p:nvPr/>
        </p:nvSpPr>
        <p:spPr>
          <a:xfrm>
            <a:off x="3063240" y="320405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 calls</a:t>
            </a:r>
            <a:endParaRPr lang="en-US" sz="1200" dirty="0"/>
          </a:p>
        </p:txBody>
      </p:sp>
      <p:sp>
        <p:nvSpPr>
          <p:cNvPr id="22" name="Text 20"/>
          <p:cNvSpPr txBox="1"/>
          <p:nvPr/>
        </p:nvSpPr>
        <p:spPr>
          <a:xfrm>
            <a:off x="621792" y="354970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3" name="Text 21"/>
          <p:cNvSpPr txBox="1"/>
          <p:nvPr/>
        </p:nvSpPr>
        <p:spPr>
          <a:xfrm>
            <a:off x="2313432" y="354970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77.7%</a:t>
            </a:r>
            <a:endParaRPr lang="en-US" sz="1300" dirty="0"/>
          </a:p>
        </p:txBody>
      </p:sp>
      <p:sp>
        <p:nvSpPr>
          <p:cNvPr id="24" name="Text 22"/>
          <p:cNvSpPr txBox="1"/>
          <p:nvPr/>
        </p:nvSpPr>
        <p:spPr>
          <a:xfrm>
            <a:off x="3063240" y="354970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 calls</a:t>
            </a:r>
            <a:endParaRPr lang="en-US" sz="1200" dirty="0"/>
          </a:p>
        </p:txBody>
      </p:sp>
      <p:sp>
        <p:nvSpPr>
          <p:cNvPr id="25" name="Shape 23"/>
          <p:cNvSpPr/>
          <p:nvPr/>
        </p:nvSpPr>
        <p:spPr>
          <a:xfrm>
            <a:off x="621792" y="3913632"/>
            <a:ext cx="3355848" cy="22860"/>
          </a:xfrm>
          <a:prstGeom prst="rect">
            <a:avLst/>
          </a:prstGeom>
          <a:solidFill>
            <a:srgbClr val="C2352F"/>
          </a:solidFill>
          <a:ln/>
        </p:spPr>
      </p:sp>
      <p:sp>
        <p:nvSpPr>
          <p:cNvPr id="26" name="Text 24"/>
          <p:cNvSpPr txBox="1"/>
          <p:nvPr/>
        </p:nvSpPr>
        <p:spPr>
          <a:xfrm>
            <a:off x="62179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27" name="Text 25"/>
          <p:cNvSpPr txBox="1"/>
          <p:nvPr/>
        </p:nvSpPr>
        <p:spPr>
          <a:xfrm>
            <a:off x="62179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28" name="Text 26"/>
          <p:cNvSpPr txBox="1"/>
          <p:nvPr/>
        </p:nvSpPr>
        <p:spPr>
          <a:xfrm>
            <a:off x="231343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a:t>
            </a:r>
            <a:endParaRPr lang="en-US" sz="1300" dirty="0"/>
          </a:p>
        </p:txBody>
      </p:sp>
      <p:sp>
        <p:nvSpPr>
          <p:cNvPr id="29" name="Text 27"/>
          <p:cNvSpPr txBox="1"/>
          <p:nvPr/>
        </p:nvSpPr>
        <p:spPr>
          <a:xfrm>
            <a:off x="306324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 calls</a:t>
            </a:r>
            <a:endParaRPr lang="en-US" sz="1200" dirty="0"/>
          </a:p>
        </p:txBody>
      </p:sp>
      <p:sp>
        <p:nvSpPr>
          <p:cNvPr id="30" name="Text 28"/>
          <p:cNvSpPr txBox="1"/>
          <p:nvPr/>
        </p:nvSpPr>
        <p:spPr>
          <a:xfrm>
            <a:off x="62179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31" name="Text 29"/>
          <p:cNvSpPr txBox="1"/>
          <p:nvPr/>
        </p:nvSpPr>
        <p:spPr>
          <a:xfrm>
            <a:off x="231343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51.2%</a:t>
            </a:r>
            <a:endParaRPr lang="en-US" sz="1300" dirty="0"/>
          </a:p>
        </p:txBody>
      </p:sp>
      <p:sp>
        <p:nvSpPr>
          <p:cNvPr id="32" name="Text 30"/>
          <p:cNvSpPr txBox="1"/>
          <p:nvPr/>
        </p:nvSpPr>
        <p:spPr>
          <a:xfrm>
            <a:off x="306324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 calls</a:t>
            </a:r>
            <a:endParaRPr lang="en-US" sz="1200" dirty="0"/>
          </a:p>
        </p:txBody>
      </p:sp>
      <p:sp>
        <p:nvSpPr>
          <p:cNvPr id="33" name="Text 31"/>
          <p:cNvSpPr txBox="1"/>
          <p:nvPr/>
        </p:nvSpPr>
        <p:spPr>
          <a:xfrm>
            <a:off x="62179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34" name="Text 32"/>
          <p:cNvSpPr txBox="1"/>
          <p:nvPr/>
        </p:nvSpPr>
        <p:spPr>
          <a:xfrm>
            <a:off x="231343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a:t>
            </a:r>
            <a:endParaRPr lang="en-US" sz="1300" dirty="0"/>
          </a:p>
        </p:txBody>
      </p:sp>
      <p:sp>
        <p:nvSpPr>
          <p:cNvPr id="35" name="Text 33"/>
          <p:cNvSpPr txBox="1"/>
          <p:nvPr/>
        </p:nvSpPr>
        <p:spPr>
          <a:xfrm>
            <a:off x="306324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 calls</a:t>
            </a:r>
            <a:endParaRPr lang="en-US" sz="1200" dirty="0"/>
          </a:p>
        </p:txBody>
      </p:sp>
      <p:sp>
        <p:nvSpPr>
          <p:cNvPr id="36" name="Text 34"/>
          <p:cNvSpPr txBox="1"/>
          <p:nvPr/>
        </p:nvSpPr>
        <p:spPr>
          <a:xfrm>
            <a:off x="62179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7" name="Text 35"/>
          <p:cNvSpPr txBox="1"/>
          <p:nvPr/>
        </p:nvSpPr>
        <p:spPr>
          <a:xfrm>
            <a:off x="231343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58.7%</a:t>
            </a:r>
            <a:endParaRPr lang="en-US" sz="1300" dirty="0"/>
          </a:p>
        </p:txBody>
      </p:sp>
      <p:sp>
        <p:nvSpPr>
          <p:cNvPr id="38" name="Text 36"/>
          <p:cNvSpPr txBox="1"/>
          <p:nvPr/>
        </p:nvSpPr>
        <p:spPr>
          <a:xfrm>
            <a:off x="306324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 calls</a:t>
            </a:r>
            <a:endParaRPr lang="en-US" sz="1200" dirty="0"/>
          </a:p>
        </p:txBody>
      </p:sp>
      <p:sp>
        <p:nvSpPr>
          <p:cNvPr id="39" name="Text 37"/>
          <p:cNvSpPr txBox="1"/>
          <p:nvPr/>
        </p:nvSpPr>
        <p:spPr>
          <a:xfrm>
            <a:off x="62179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40" name="Text 38"/>
          <p:cNvSpPr txBox="1"/>
          <p:nvPr/>
        </p:nvSpPr>
        <p:spPr>
          <a:xfrm>
            <a:off x="231343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59.3%</a:t>
            </a:r>
            <a:endParaRPr lang="en-US" sz="1300" dirty="0"/>
          </a:p>
        </p:txBody>
      </p:sp>
      <p:sp>
        <p:nvSpPr>
          <p:cNvPr id="41" name="Text 39"/>
          <p:cNvSpPr txBox="1"/>
          <p:nvPr/>
        </p:nvSpPr>
        <p:spPr>
          <a:xfrm>
            <a:off x="306324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 calls</a:t>
            </a:r>
            <a:endParaRPr lang="en-US" sz="1200" dirty="0"/>
          </a:p>
        </p:txBody>
      </p:sp>
      <p:sp>
        <p:nvSpPr>
          <p:cNvPr id="42" name="Shape 40"/>
          <p:cNvSpPr/>
          <p:nvPr/>
        </p:nvSpPr>
        <p:spPr>
          <a:xfrm>
            <a:off x="4251960" y="1207008"/>
            <a:ext cx="3685032" cy="4782312"/>
          </a:xfrm>
          <a:prstGeom prst="rect">
            <a:avLst/>
          </a:prstGeom>
          <a:solidFill>
            <a:srgbClr val="FFFFFF"/>
          </a:solidFill>
          <a:ln/>
        </p:spPr>
      </p:sp>
      <p:sp>
        <p:nvSpPr>
          <p:cNvPr id="43" name="Text 41"/>
          <p:cNvSpPr txBox="1"/>
          <p:nvPr/>
        </p:nvSpPr>
        <p:spPr>
          <a:xfrm>
            <a:off x="441655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TRANSFER PICKUP RATE</a:t>
            </a:r>
            <a:endParaRPr lang="en-US" sz="1400" dirty="0"/>
          </a:p>
        </p:txBody>
      </p:sp>
      <p:sp>
        <p:nvSpPr>
          <p:cNvPr id="44" name="Text 42"/>
          <p:cNvSpPr txBox="1"/>
          <p:nvPr/>
        </p:nvSpPr>
        <p:spPr>
          <a:xfrm>
            <a:off x="441655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47.7%</a:t>
            </a:r>
            <a:endParaRPr lang="en-US" sz="1400" dirty="0"/>
          </a:p>
        </p:txBody>
      </p:sp>
      <p:sp>
        <p:nvSpPr>
          <p:cNvPr id="45" name="Shape 43"/>
          <p:cNvSpPr/>
          <p:nvPr/>
        </p:nvSpPr>
        <p:spPr>
          <a:xfrm>
            <a:off x="4416552" y="1911096"/>
            <a:ext cx="3355848" cy="22860"/>
          </a:xfrm>
          <a:prstGeom prst="rect">
            <a:avLst/>
          </a:prstGeom>
          <a:solidFill>
            <a:srgbClr val="12A566"/>
          </a:solidFill>
          <a:ln/>
        </p:spPr>
      </p:sp>
      <p:sp>
        <p:nvSpPr>
          <p:cNvPr id="46" name="Text 44"/>
          <p:cNvSpPr txBox="1"/>
          <p:nvPr/>
        </p:nvSpPr>
        <p:spPr>
          <a:xfrm>
            <a:off x="441655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47" name="Text 45"/>
          <p:cNvSpPr txBox="1"/>
          <p:nvPr/>
        </p:nvSpPr>
        <p:spPr>
          <a:xfrm>
            <a:off x="4416552" y="216712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8" name="Text 46"/>
          <p:cNvSpPr txBox="1"/>
          <p:nvPr/>
        </p:nvSpPr>
        <p:spPr>
          <a:xfrm>
            <a:off x="6108192" y="216712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77.1%</a:t>
            </a:r>
            <a:endParaRPr lang="en-US" sz="1300" dirty="0"/>
          </a:p>
        </p:txBody>
      </p:sp>
      <p:sp>
        <p:nvSpPr>
          <p:cNvPr id="49" name="Text 47"/>
          <p:cNvSpPr txBox="1"/>
          <p:nvPr/>
        </p:nvSpPr>
        <p:spPr>
          <a:xfrm>
            <a:off x="6858000" y="216712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 calls</a:t>
            </a:r>
            <a:endParaRPr lang="en-US" sz="1200" dirty="0"/>
          </a:p>
        </p:txBody>
      </p:sp>
      <p:sp>
        <p:nvSpPr>
          <p:cNvPr id="50" name="Text 48"/>
          <p:cNvSpPr txBox="1"/>
          <p:nvPr/>
        </p:nvSpPr>
        <p:spPr>
          <a:xfrm>
            <a:off x="4416552" y="251277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Text 49"/>
          <p:cNvSpPr txBox="1"/>
          <p:nvPr/>
        </p:nvSpPr>
        <p:spPr>
          <a:xfrm>
            <a:off x="6108192" y="251277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74.8%</a:t>
            </a:r>
            <a:endParaRPr lang="en-US" sz="1300" dirty="0"/>
          </a:p>
        </p:txBody>
      </p:sp>
      <p:sp>
        <p:nvSpPr>
          <p:cNvPr id="52" name="Text 50"/>
          <p:cNvSpPr txBox="1"/>
          <p:nvPr/>
        </p:nvSpPr>
        <p:spPr>
          <a:xfrm>
            <a:off x="6858000" y="251277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 calls</a:t>
            </a:r>
            <a:endParaRPr lang="en-US" sz="1200" dirty="0"/>
          </a:p>
        </p:txBody>
      </p:sp>
      <p:sp>
        <p:nvSpPr>
          <p:cNvPr id="53" name="Text 51"/>
          <p:cNvSpPr txBox="1"/>
          <p:nvPr/>
        </p:nvSpPr>
        <p:spPr>
          <a:xfrm>
            <a:off x="4416552" y="285841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54" name="Text 52"/>
          <p:cNvSpPr txBox="1"/>
          <p:nvPr/>
        </p:nvSpPr>
        <p:spPr>
          <a:xfrm>
            <a:off x="6108192" y="2858414"/>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63.5%</a:t>
            </a:r>
            <a:endParaRPr lang="en-US" sz="1300" dirty="0"/>
          </a:p>
        </p:txBody>
      </p:sp>
      <p:sp>
        <p:nvSpPr>
          <p:cNvPr id="55" name="Text 53"/>
          <p:cNvSpPr txBox="1"/>
          <p:nvPr/>
        </p:nvSpPr>
        <p:spPr>
          <a:xfrm>
            <a:off x="6858000" y="285841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 calls</a:t>
            </a:r>
            <a:endParaRPr lang="en-US" sz="1200" dirty="0"/>
          </a:p>
        </p:txBody>
      </p:sp>
      <p:sp>
        <p:nvSpPr>
          <p:cNvPr id="56" name="Text 54"/>
          <p:cNvSpPr txBox="1"/>
          <p:nvPr/>
        </p:nvSpPr>
        <p:spPr>
          <a:xfrm>
            <a:off x="4416552" y="320405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7" name="Text 55"/>
          <p:cNvSpPr txBox="1"/>
          <p:nvPr/>
        </p:nvSpPr>
        <p:spPr>
          <a:xfrm>
            <a:off x="6108192" y="320405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57.3%</a:t>
            </a:r>
            <a:endParaRPr lang="en-US" sz="1300" dirty="0"/>
          </a:p>
        </p:txBody>
      </p:sp>
      <p:sp>
        <p:nvSpPr>
          <p:cNvPr id="58" name="Text 56"/>
          <p:cNvSpPr txBox="1"/>
          <p:nvPr/>
        </p:nvSpPr>
        <p:spPr>
          <a:xfrm>
            <a:off x="6858000" y="320405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 calls</a:t>
            </a:r>
            <a:endParaRPr lang="en-US" sz="1200" dirty="0"/>
          </a:p>
        </p:txBody>
      </p:sp>
      <p:sp>
        <p:nvSpPr>
          <p:cNvPr id="59" name="Text 57"/>
          <p:cNvSpPr txBox="1"/>
          <p:nvPr/>
        </p:nvSpPr>
        <p:spPr>
          <a:xfrm>
            <a:off x="4416552" y="354970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60" name="Text 58"/>
          <p:cNvSpPr txBox="1"/>
          <p:nvPr/>
        </p:nvSpPr>
        <p:spPr>
          <a:xfrm>
            <a:off x="6108192" y="354970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54.2%</a:t>
            </a:r>
            <a:endParaRPr lang="en-US" sz="1300" dirty="0"/>
          </a:p>
        </p:txBody>
      </p:sp>
      <p:sp>
        <p:nvSpPr>
          <p:cNvPr id="61" name="Text 59"/>
          <p:cNvSpPr txBox="1"/>
          <p:nvPr/>
        </p:nvSpPr>
        <p:spPr>
          <a:xfrm>
            <a:off x="6858000" y="354970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 calls</a:t>
            </a:r>
            <a:endParaRPr lang="en-US" sz="1200" dirty="0"/>
          </a:p>
        </p:txBody>
      </p:sp>
      <p:sp>
        <p:nvSpPr>
          <p:cNvPr id="62" name="Shape 60"/>
          <p:cNvSpPr/>
          <p:nvPr/>
        </p:nvSpPr>
        <p:spPr>
          <a:xfrm>
            <a:off x="4416552" y="3913632"/>
            <a:ext cx="3355848" cy="22860"/>
          </a:xfrm>
          <a:prstGeom prst="rect">
            <a:avLst/>
          </a:prstGeom>
          <a:solidFill>
            <a:srgbClr val="C2352F"/>
          </a:solidFill>
          <a:ln/>
        </p:spPr>
      </p:sp>
      <p:sp>
        <p:nvSpPr>
          <p:cNvPr id="63" name="Text 61"/>
          <p:cNvSpPr txBox="1"/>
          <p:nvPr/>
        </p:nvSpPr>
        <p:spPr>
          <a:xfrm>
            <a:off x="441655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64" name="Text 62"/>
          <p:cNvSpPr txBox="1"/>
          <p:nvPr/>
        </p:nvSpPr>
        <p:spPr>
          <a:xfrm>
            <a:off x="441655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Text 63"/>
          <p:cNvSpPr txBox="1"/>
          <p:nvPr/>
        </p:nvSpPr>
        <p:spPr>
          <a:xfrm>
            <a:off x="610819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21.9%</a:t>
            </a:r>
            <a:endParaRPr lang="en-US" sz="1300" dirty="0"/>
          </a:p>
        </p:txBody>
      </p:sp>
      <p:sp>
        <p:nvSpPr>
          <p:cNvPr id="66" name="Text 64"/>
          <p:cNvSpPr txBox="1"/>
          <p:nvPr/>
        </p:nvSpPr>
        <p:spPr>
          <a:xfrm>
            <a:off x="685800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 calls</a:t>
            </a:r>
            <a:endParaRPr lang="en-US" sz="1200" dirty="0"/>
          </a:p>
        </p:txBody>
      </p:sp>
      <p:sp>
        <p:nvSpPr>
          <p:cNvPr id="67" name="Text 65"/>
          <p:cNvSpPr txBox="1"/>
          <p:nvPr/>
        </p:nvSpPr>
        <p:spPr>
          <a:xfrm>
            <a:off x="441655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8" name="Text 66"/>
          <p:cNvSpPr txBox="1"/>
          <p:nvPr/>
        </p:nvSpPr>
        <p:spPr>
          <a:xfrm>
            <a:off x="610819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a:t>
            </a:r>
            <a:endParaRPr lang="en-US" sz="1300" dirty="0"/>
          </a:p>
        </p:txBody>
      </p:sp>
      <p:sp>
        <p:nvSpPr>
          <p:cNvPr id="69" name="Text 67"/>
          <p:cNvSpPr txBox="1"/>
          <p:nvPr/>
        </p:nvSpPr>
        <p:spPr>
          <a:xfrm>
            <a:off x="685800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1,809 calls</a:t>
            </a:r>
            <a:endParaRPr lang="en-US" sz="1200" dirty="0"/>
          </a:p>
        </p:txBody>
      </p:sp>
      <p:sp>
        <p:nvSpPr>
          <p:cNvPr id="70" name="Text 68"/>
          <p:cNvSpPr txBox="1"/>
          <p:nvPr/>
        </p:nvSpPr>
        <p:spPr>
          <a:xfrm>
            <a:off x="441655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Las Vegas</a:t>
            </a:r>
            <a:endParaRPr lang="en-US" sz="1300" dirty="0"/>
          </a:p>
        </p:txBody>
      </p:sp>
      <p:sp>
        <p:nvSpPr>
          <p:cNvPr id="71" name="Text 69"/>
          <p:cNvSpPr txBox="1"/>
          <p:nvPr/>
        </p:nvSpPr>
        <p:spPr>
          <a:xfrm>
            <a:off x="610819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27.2%</a:t>
            </a:r>
            <a:endParaRPr lang="en-US" sz="1300" dirty="0"/>
          </a:p>
        </p:txBody>
      </p:sp>
      <p:sp>
        <p:nvSpPr>
          <p:cNvPr id="72" name="Text 70"/>
          <p:cNvSpPr txBox="1"/>
          <p:nvPr/>
        </p:nvSpPr>
        <p:spPr>
          <a:xfrm>
            <a:off x="685800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5,450 calls</a:t>
            </a:r>
            <a:endParaRPr lang="en-US" sz="1200" dirty="0"/>
          </a:p>
        </p:txBody>
      </p:sp>
      <p:sp>
        <p:nvSpPr>
          <p:cNvPr id="73" name="Text 71"/>
          <p:cNvSpPr txBox="1"/>
          <p:nvPr/>
        </p:nvSpPr>
        <p:spPr>
          <a:xfrm>
            <a:off x="441655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74" name="Text 72"/>
          <p:cNvSpPr txBox="1"/>
          <p:nvPr/>
        </p:nvSpPr>
        <p:spPr>
          <a:xfrm>
            <a:off x="610819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27.4%</a:t>
            </a:r>
            <a:endParaRPr lang="en-US" sz="1300" dirty="0"/>
          </a:p>
        </p:txBody>
      </p:sp>
      <p:sp>
        <p:nvSpPr>
          <p:cNvPr id="75" name="Text 73"/>
          <p:cNvSpPr txBox="1"/>
          <p:nvPr/>
        </p:nvSpPr>
        <p:spPr>
          <a:xfrm>
            <a:off x="685800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 calls</a:t>
            </a:r>
            <a:endParaRPr lang="en-US" sz="1200" dirty="0"/>
          </a:p>
        </p:txBody>
      </p:sp>
      <p:sp>
        <p:nvSpPr>
          <p:cNvPr id="76" name="Text 74"/>
          <p:cNvSpPr txBox="1"/>
          <p:nvPr/>
        </p:nvSpPr>
        <p:spPr>
          <a:xfrm>
            <a:off x="441655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77" name="Text 75"/>
          <p:cNvSpPr txBox="1"/>
          <p:nvPr/>
        </p:nvSpPr>
        <p:spPr>
          <a:xfrm>
            <a:off x="610819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32.9%</a:t>
            </a:r>
            <a:endParaRPr lang="en-US" sz="1300" dirty="0"/>
          </a:p>
        </p:txBody>
      </p:sp>
      <p:sp>
        <p:nvSpPr>
          <p:cNvPr id="78" name="Text 76"/>
          <p:cNvSpPr txBox="1"/>
          <p:nvPr/>
        </p:nvSpPr>
        <p:spPr>
          <a:xfrm>
            <a:off x="685800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 calls</a:t>
            </a:r>
            <a:endParaRPr lang="en-US" sz="1200" dirty="0"/>
          </a:p>
        </p:txBody>
      </p:sp>
      <p:sp>
        <p:nvSpPr>
          <p:cNvPr id="79" name="Shape 77"/>
          <p:cNvSpPr/>
          <p:nvPr/>
        </p:nvSpPr>
        <p:spPr>
          <a:xfrm>
            <a:off x="8046720" y="1207008"/>
            <a:ext cx="3685032" cy="4782312"/>
          </a:xfrm>
          <a:prstGeom prst="rect">
            <a:avLst/>
          </a:prstGeom>
          <a:solidFill>
            <a:srgbClr val="FFFFFF"/>
          </a:solidFill>
          <a:ln/>
        </p:spPr>
      </p:sp>
      <p:sp>
        <p:nvSpPr>
          <p:cNvPr id="80" name="Text 78"/>
          <p:cNvSpPr txBox="1"/>
          <p:nvPr/>
        </p:nvSpPr>
        <p:spPr>
          <a:xfrm>
            <a:off x="821131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CALLBACK RESOLUTION</a:t>
            </a:r>
            <a:endParaRPr lang="en-US" sz="1400" dirty="0"/>
          </a:p>
        </p:txBody>
      </p:sp>
      <p:sp>
        <p:nvSpPr>
          <p:cNvPr id="81" name="Text 79"/>
          <p:cNvSpPr txBox="1"/>
          <p:nvPr/>
        </p:nvSpPr>
        <p:spPr>
          <a:xfrm>
            <a:off x="821131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98.2%</a:t>
            </a:r>
            <a:endParaRPr lang="en-US" sz="1400" dirty="0"/>
          </a:p>
        </p:txBody>
      </p:sp>
      <p:sp>
        <p:nvSpPr>
          <p:cNvPr id="82" name="Shape 80"/>
          <p:cNvSpPr/>
          <p:nvPr/>
        </p:nvSpPr>
        <p:spPr>
          <a:xfrm>
            <a:off x="8211312" y="1911096"/>
            <a:ext cx="3355848" cy="22860"/>
          </a:xfrm>
          <a:prstGeom prst="rect">
            <a:avLst/>
          </a:prstGeom>
          <a:solidFill>
            <a:srgbClr val="12A566"/>
          </a:solidFill>
          <a:ln/>
        </p:spPr>
      </p:sp>
      <p:sp>
        <p:nvSpPr>
          <p:cNvPr id="83" name="Text 81"/>
          <p:cNvSpPr txBox="1"/>
          <p:nvPr/>
        </p:nvSpPr>
        <p:spPr>
          <a:xfrm>
            <a:off x="821131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84" name="Text 82"/>
          <p:cNvSpPr txBox="1"/>
          <p:nvPr/>
        </p:nvSpPr>
        <p:spPr>
          <a:xfrm>
            <a:off x="8211312" y="216712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Las Vegas</a:t>
            </a:r>
            <a:endParaRPr lang="en-US" sz="1300" dirty="0"/>
          </a:p>
        </p:txBody>
      </p:sp>
      <p:sp>
        <p:nvSpPr>
          <p:cNvPr id="85" name="Text 83"/>
          <p:cNvSpPr txBox="1"/>
          <p:nvPr/>
        </p:nvSpPr>
        <p:spPr>
          <a:xfrm>
            <a:off x="9902952" y="216712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86" name="Text 84"/>
          <p:cNvSpPr txBox="1"/>
          <p:nvPr/>
        </p:nvSpPr>
        <p:spPr>
          <a:xfrm>
            <a:off x="10652760" y="216712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0 open</a:t>
            </a:r>
            <a:endParaRPr lang="en-US" sz="1200" dirty="0"/>
          </a:p>
        </p:txBody>
      </p:sp>
      <p:sp>
        <p:nvSpPr>
          <p:cNvPr id="87" name="Text 85"/>
          <p:cNvSpPr txBox="1"/>
          <p:nvPr/>
        </p:nvSpPr>
        <p:spPr>
          <a:xfrm>
            <a:off x="8211312" y="251277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8" name="Text 86"/>
          <p:cNvSpPr txBox="1"/>
          <p:nvPr/>
        </p:nvSpPr>
        <p:spPr>
          <a:xfrm>
            <a:off x="9902952" y="251277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89" name="Text 87"/>
          <p:cNvSpPr txBox="1"/>
          <p:nvPr/>
        </p:nvSpPr>
        <p:spPr>
          <a:xfrm>
            <a:off x="10652760" y="251277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0 open</a:t>
            </a:r>
            <a:endParaRPr lang="en-US" sz="1200" dirty="0"/>
          </a:p>
        </p:txBody>
      </p:sp>
      <p:sp>
        <p:nvSpPr>
          <p:cNvPr id="90" name="Text 88"/>
          <p:cNvSpPr txBox="1"/>
          <p:nvPr/>
        </p:nvSpPr>
        <p:spPr>
          <a:xfrm>
            <a:off x="8211312" y="285841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1" name="Text 89"/>
          <p:cNvSpPr txBox="1"/>
          <p:nvPr/>
        </p:nvSpPr>
        <p:spPr>
          <a:xfrm>
            <a:off x="9902952" y="2858414"/>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92" name="Text 90"/>
          <p:cNvSpPr txBox="1"/>
          <p:nvPr/>
        </p:nvSpPr>
        <p:spPr>
          <a:xfrm>
            <a:off x="10652760" y="285841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0 open</a:t>
            </a:r>
            <a:endParaRPr lang="en-US" sz="1200" dirty="0"/>
          </a:p>
        </p:txBody>
      </p:sp>
      <p:sp>
        <p:nvSpPr>
          <p:cNvPr id="93" name="Text 91"/>
          <p:cNvSpPr txBox="1"/>
          <p:nvPr/>
        </p:nvSpPr>
        <p:spPr>
          <a:xfrm>
            <a:off x="8211312" y="3204058"/>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Land Rover Reno</a:t>
            </a:r>
            <a:endParaRPr lang="en-US" sz="1300" dirty="0"/>
          </a:p>
        </p:txBody>
      </p:sp>
      <p:sp>
        <p:nvSpPr>
          <p:cNvPr id="94" name="Text 92"/>
          <p:cNvSpPr txBox="1"/>
          <p:nvPr/>
        </p:nvSpPr>
        <p:spPr>
          <a:xfrm>
            <a:off x="9902952" y="3204058"/>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95" name="Text 93"/>
          <p:cNvSpPr txBox="1"/>
          <p:nvPr/>
        </p:nvSpPr>
        <p:spPr>
          <a:xfrm>
            <a:off x="10652760" y="3204058"/>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0 open</a:t>
            </a:r>
            <a:endParaRPr lang="en-US" sz="1200" dirty="0"/>
          </a:p>
        </p:txBody>
      </p:sp>
      <p:sp>
        <p:nvSpPr>
          <p:cNvPr id="96" name="Text 94"/>
          <p:cNvSpPr txBox="1"/>
          <p:nvPr/>
        </p:nvSpPr>
        <p:spPr>
          <a:xfrm>
            <a:off x="8211312" y="3549701"/>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97" name="Text 95"/>
          <p:cNvSpPr txBox="1"/>
          <p:nvPr/>
        </p:nvSpPr>
        <p:spPr>
          <a:xfrm>
            <a:off x="9902952" y="3549701"/>
            <a:ext cx="731520" cy="345643"/>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98" name="Text 96"/>
          <p:cNvSpPr txBox="1"/>
          <p:nvPr/>
        </p:nvSpPr>
        <p:spPr>
          <a:xfrm>
            <a:off x="10652760" y="3549701"/>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0 open</a:t>
            </a:r>
            <a:endParaRPr lang="en-US" sz="1200" dirty="0"/>
          </a:p>
        </p:txBody>
      </p:sp>
      <p:sp>
        <p:nvSpPr>
          <p:cNvPr id="99" name="Shape 97"/>
          <p:cNvSpPr/>
          <p:nvPr/>
        </p:nvSpPr>
        <p:spPr>
          <a:xfrm>
            <a:off x="8211312" y="3913632"/>
            <a:ext cx="3355848" cy="22860"/>
          </a:xfrm>
          <a:prstGeom prst="rect">
            <a:avLst/>
          </a:prstGeom>
          <a:solidFill>
            <a:srgbClr val="C2352F"/>
          </a:solidFill>
          <a:ln/>
        </p:spPr>
      </p:sp>
      <p:sp>
        <p:nvSpPr>
          <p:cNvPr id="100" name="Text 98"/>
          <p:cNvSpPr txBox="1"/>
          <p:nvPr/>
        </p:nvSpPr>
        <p:spPr>
          <a:xfrm>
            <a:off x="8211312" y="394106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101" name="Text 99"/>
          <p:cNvSpPr txBox="1"/>
          <p:nvPr/>
        </p:nvSpPr>
        <p:spPr>
          <a:xfrm>
            <a:off x="8211312" y="416966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Text 100"/>
          <p:cNvSpPr txBox="1"/>
          <p:nvPr/>
        </p:nvSpPr>
        <p:spPr>
          <a:xfrm>
            <a:off x="9902952" y="416966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44.0%</a:t>
            </a:r>
            <a:endParaRPr lang="en-US" sz="1300" dirty="0"/>
          </a:p>
        </p:txBody>
      </p:sp>
      <p:sp>
        <p:nvSpPr>
          <p:cNvPr id="103" name="Text 101"/>
          <p:cNvSpPr txBox="1"/>
          <p:nvPr/>
        </p:nvSpPr>
        <p:spPr>
          <a:xfrm>
            <a:off x="10652760" y="416966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158 open</a:t>
            </a:r>
            <a:endParaRPr lang="en-US" sz="1200" dirty="0"/>
          </a:p>
        </p:txBody>
      </p:sp>
      <p:sp>
        <p:nvSpPr>
          <p:cNvPr id="104" name="Text 102"/>
          <p:cNvSpPr txBox="1"/>
          <p:nvPr/>
        </p:nvSpPr>
        <p:spPr>
          <a:xfrm>
            <a:off x="8211312" y="451530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Prescott Hyundai</a:t>
            </a:r>
            <a:endParaRPr lang="en-US" sz="1300" dirty="0"/>
          </a:p>
        </p:txBody>
      </p:sp>
      <p:sp>
        <p:nvSpPr>
          <p:cNvPr id="105" name="Text 103"/>
          <p:cNvSpPr txBox="1"/>
          <p:nvPr/>
        </p:nvSpPr>
        <p:spPr>
          <a:xfrm>
            <a:off x="9902952" y="451530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78.2%</a:t>
            </a:r>
            <a:endParaRPr lang="en-US" sz="1300" dirty="0"/>
          </a:p>
        </p:txBody>
      </p:sp>
      <p:sp>
        <p:nvSpPr>
          <p:cNvPr id="106" name="Text 104"/>
          <p:cNvSpPr txBox="1"/>
          <p:nvPr/>
        </p:nvSpPr>
        <p:spPr>
          <a:xfrm>
            <a:off x="10652760" y="451530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114 open</a:t>
            </a:r>
            <a:endParaRPr lang="en-US" sz="1200" dirty="0"/>
          </a:p>
        </p:txBody>
      </p:sp>
      <p:sp>
        <p:nvSpPr>
          <p:cNvPr id="107" name="Text 105"/>
          <p:cNvSpPr txBox="1"/>
          <p:nvPr/>
        </p:nvSpPr>
        <p:spPr>
          <a:xfrm>
            <a:off x="8211312" y="4860950"/>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108" name="Text 106"/>
          <p:cNvSpPr txBox="1"/>
          <p:nvPr/>
        </p:nvSpPr>
        <p:spPr>
          <a:xfrm>
            <a:off x="9902952" y="4860950"/>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94.0%</a:t>
            </a:r>
            <a:endParaRPr lang="en-US" sz="1300" dirty="0"/>
          </a:p>
        </p:txBody>
      </p:sp>
      <p:sp>
        <p:nvSpPr>
          <p:cNvPr id="109" name="Text 107"/>
          <p:cNvSpPr txBox="1"/>
          <p:nvPr/>
        </p:nvSpPr>
        <p:spPr>
          <a:xfrm>
            <a:off x="10652760" y="4860950"/>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57 open</a:t>
            </a:r>
            <a:endParaRPr lang="en-US" sz="1200" dirty="0"/>
          </a:p>
        </p:txBody>
      </p:sp>
      <p:sp>
        <p:nvSpPr>
          <p:cNvPr id="110" name="Text 108"/>
          <p:cNvSpPr txBox="1"/>
          <p:nvPr/>
        </p:nvSpPr>
        <p:spPr>
          <a:xfrm>
            <a:off x="8211312" y="5206594"/>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111" name="Text 109"/>
          <p:cNvSpPr txBox="1"/>
          <p:nvPr/>
        </p:nvSpPr>
        <p:spPr>
          <a:xfrm>
            <a:off x="9902952" y="5206594"/>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96.5%</a:t>
            </a:r>
            <a:endParaRPr lang="en-US" sz="1300" dirty="0"/>
          </a:p>
        </p:txBody>
      </p:sp>
      <p:sp>
        <p:nvSpPr>
          <p:cNvPr id="112" name="Text 110"/>
          <p:cNvSpPr txBox="1"/>
          <p:nvPr/>
        </p:nvSpPr>
        <p:spPr>
          <a:xfrm>
            <a:off x="10652760" y="5206594"/>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30 open</a:t>
            </a:r>
            <a:endParaRPr lang="en-US" sz="1200" dirty="0"/>
          </a:p>
        </p:txBody>
      </p:sp>
      <p:sp>
        <p:nvSpPr>
          <p:cNvPr id="113" name="Text 111"/>
          <p:cNvSpPr txBox="1"/>
          <p:nvPr/>
        </p:nvSpPr>
        <p:spPr>
          <a:xfrm>
            <a:off x="8211312" y="5552237"/>
            <a:ext cx="1673352" cy="345643"/>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4" name="Text 112"/>
          <p:cNvSpPr txBox="1"/>
          <p:nvPr/>
        </p:nvSpPr>
        <p:spPr>
          <a:xfrm>
            <a:off x="9902952" y="5552237"/>
            <a:ext cx="731520" cy="345643"/>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98.2%</a:t>
            </a:r>
            <a:endParaRPr lang="en-US" sz="1300" dirty="0"/>
          </a:p>
        </p:txBody>
      </p:sp>
      <p:sp>
        <p:nvSpPr>
          <p:cNvPr id="115" name="Text 113"/>
          <p:cNvSpPr txBox="1"/>
          <p:nvPr/>
        </p:nvSpPr>
        <p:spPr>
          <a:xfrm>
            <a:off x="10652760" y="5552237"/>
            <a:ext cx="914400" cy="345643"/>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 open</a:t>
            </a:r>
            <a:endParaRPr lang="en-US" sz="1200" dirty="0"/>
          </a:p>
        </p:txBody>
      </p:sp>
      <p:sp>
        <p:nvSpPr>
          <p:cNvPr id="116" name="Shape 114"/>
          <p:cNvSpPr/>
          <p:nvPr/>
        </p:nvSpPr>
        <p:spPr>
          <a:xfrm>
            <a:off x="457200" y="6126480"/>
            <a:ext cx="11274552" cy="615696"/>
          </a:xfrm>
          <a:prstGeom prst="rect">
            <a:avLst/>
          </a:prstGeom>
          <a:solidFill>
            <a:srgbClr val="EDF4FA"/>
          </a:solidFill>
          <a:ln/>
        </p:spPr>
      </p:sp>
      <p:sp>
        <p:nvSpPr>
          <p:cNvPr id="117" name="Text 11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Chevy GMC Bullhead picks up 77.1% of transfers; Kia St George picks up 21.9%. Nissan and Prescott Hyundai hold 272 of the group's 484 open callbacks.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2026-10-26T16:51:29Z</dcterms:created>
  <dcterms:modified xsi:type="dcterms:W3CDTF">2026-10-26T16:51:29Z</dcterms:modified>
</cp:coreProperties>
</file>