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7.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3.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2" r:id="rId123"/>
    <p:sldId id="395" r:id="rId146"/>
    <p:sldId id="396" r:id="rId147"/>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23" Type="http://schemas.openxmlformats.org/officeDocument/2006/relationships/slide" Target="slides/slide113.xml"/><Relationship Id="rId146" Type="http://schemas.openxmlformats.org/officeDocument/2006/relationships/slide" Target="slides/slide137.xml"/><Relationship Id="rId147" Type="http://schemas.openxmlformats.org/officeDocument/2006/relationships/slide" Target="slides/slide1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Jan-Sep 2026, same-store. Kept = department gross less the department's own expenses. Vehicle sales = new + used departments plus F&amp;I income and F&amp;I compensation. Other income not assigned to a department (doc fees, packs, factory money, holdback: $87.2M net) and management fees are left out of both.PLACE: Internal section, after the section break and before Internal ELR (Noah, Oct 25).</a:t>
            </a:r>
          </a:p>
          <a:p>
            <a:r>
              <a:t>Talk track: internal work is protected gross generated on our own vehicles. Sales prices a car off its cost, within reason, so a fair internal charge is part of the deal, and the gross lands in the department that keeps the most of it. Example: if sales makes $500 of gross on a car, the commissions, pay and expense that come out of it leave far less than the same $500 of internal gross keeps in service and parts.</a:t>
            </a:r>
          </a:p>
          <a:p>
            <a:r>
              <a:t>Numbers (P&amp;L Detail, Jan-Sep 2026, same-store): fixed ops gross $188.8M, department profit $50.4M (27¢); people $85.7M (45¢). Vehicle sales gross (new $58.7M, used $43.8M, F&amp;I $76.6M) $179.1M; new and used department results $-23.0M and $-25.4M, less F&amp;I compensation $15.3M: $12.9M kept (7¢); people and commissions $110.4M (62¢). Caveat: $87.2M of net other income (doc fees, packs, factory money, holdback, interest) is booked outside the departments and most of it comes with vehicle sales; with it, vehicle sales keeps much more. The comparison is department against department, as the P&amp;L reports them.</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service-department definitions. On the store slides, proficiency = Qlik hours flagged (sold hours) ÷ ADP regular + overtime hours, = clocked hours (vacation, PTO and holiday pay excluded). Efficiency and productivity need DMS time clocked to repair orders, which this data does not include, so they are defined here but not measured. The example is illustrative, not a store or technician.PLACE: right after the Technician Proficiency explainer, before How We Measured It (Noah, Oct 27).</a:t>
            </a:r>
          </a:p>
          <a:p>
            <a:r>
              <a:t>Talk track: walk the example left to right. The tech was on repair orders 6 of 8 hours (75% productive) and flagged 7.5 hours in those 6 (125% efficient), so 7.5 flagged hours for 8 clocked (93.75% proficient). Proficiency is the one we measure: 85% target, group 94.7%. 'Productivity' here is the technician measure, not the Fixed Ops Productivity section (gross and ROs per employee).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right after 'Technician Proficiency' (explainer).</a:t>
            </a:r>
          </a:p>
          <a:p>
            <a:r>
              <a:t>Period: pay periods Dec 25, 2025 to Oct 9, 2026, matched by tech number, all pay types; labelled Jan-Sep 2026 YTD on the slide (Noah, Oct 26: closest the pay periods allow).</a:t>
            </a:r>
          </a:p>
          <a:p>
            <a:r>
              <a:t>Rules as applied on the proficiency slides (Oct 16 2026). Express techs at stores that pool express hours are mostly excluded by the 10%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Yourself First</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Internal work is protected gross generated on our own vehicles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Sales prices a car off what it costs, within reason. A fair internal charge is part of that cost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Service and parts keep far more of every gross dollar than vehicle sales does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gross dollar in sales carries commissions, pay and expense that fixed ops doesn't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Price internal labor and parts like customer pay: pay yourself first</a:t>
            </a:r>
            <a:endParaRPr lang="en-US" sz="18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keeps of every gross dollar after its own expenses: $50.4M of $188.8M.</a:t>
            </a:r>
            <a:endParaRPr lang="en-US" sz="1400" dirty="0"/>
          </a:p>
        </p:txBody>
      </p:sp>
      <p:sp>
        <p:nvSpPr>
          <p:cNvPr id="13" name="Shape 11"/>
          <p:cNvSpPr/>
          <p:nvPr/>
        </p:nvSpPr>
        <p:spPr>
          <a:xfrm>
            <a:off x="7269480" y="3261360"/>
            <a:ext cx="54864" cy="1112520"/>
          </a:xfrm>
          <a:prstGeom prst="rect">
            <a:avLst/>
          </a:prstGeom>
          <a:solidFill>
            <a:srgbClr val="2587C5"/>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New, used and F&amp;I keep of every gross dollar: $12.9M of $179.1M, before other income such as doc fees, packs and factory money.</a:t>
            </a:r>
            <a:endParaRPr lang="en-US" sz="1400" dirty="0"/>
          </a:p>
        </p:txBody>
      </p:sp>
      <p:sp>
        <p:nvSpPr>
          <p:cNvPr id="16" name="Shape 14"/>
          <p:cNvSpPr/>
          <p:nvPr/>
        </p:nvSpPr>
        <p:spPr>
          <a:xfrm>
            <a:off x="7269480" y="4602480"/>
            <a:ext cx="54864" cy="1112520"/>
          </a:xfrm>
          <a:prstGeom prst="rect">
            <a:avLst/>
          </a:prstGeom>
          <a:solidFill>
            <a:srgbClr val="2587C5"/>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45¢ vs 62¢</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Of every gross dollar spent on people and commissions: fixed ops vs vehicle sales.</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hold internal labor and parts margins to customer pay. Every internal dollar is gross in the department that keeps the most of it.</a:t>
            </a:r>
            <a:endParaRPr lang="en-US" sz="160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713232" y="1463040"/>
            <a:ext cx="3453384" cy="3063240"/>
          </a:xfrm>
          <a:prstGeom prst="rect">
            <a:avLst/>
          </a:prstGeom>
          <a:solidFill>
            <a:srgbClr val="F7F7F7"/>
          </a:solidFill>
          <a:ln/>
        </p:spPr>
      </p:sp>
      <p:sp>
        <p:nvSpPr>
          <p:cNvPr id="7" name="Shape 5"/>
          <p:cNvSpPr/>
          <p:nvPr/>
        </p:nvSpPr>
        <p:spPr>
          <a:xfrm>
            <a:off x="713232" y="1463040"/>
            <a:ext cx="3453384" cy="64008"/>
          </a:xfrm>
          <a:prstGeom prst="rect">
            <a:avLst/>
          </a:prstGeom>
          <a:solidFill>
            <a:srgbClr val="2587C5"/>
          </a:solidFill>
          <a:ln/>
        </p:spPr>
      </p:sp>
      <p:sp>
        <p:nvSpPr>
          <p:cNvPr id="8" name="Text 6"/>
          <p:cNvSpPr txBox="1"/>
          <p:nvPr/>
        </p:nvSpPr>
        <p:spPr>
          <a:xfrm>
            <a:off x="896112"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9" name="Text 7"/>
          <p:cNvSpPr txBox="1"/>
          <p:nvPr/>
        </p:nvSpPr>
        <p:spPr>
          <a:xfrm>
            <a:off x="896112"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clocked to repair orders ÷ clocked hours</a:t>
            </a:r>
            <a:endParaRPr lang="en-US" sz="2000" dirty="0"/>
          </a:p>
        </p:txBody>
      </p:sp>
      <p:sp>
        <p:nvSpPr>
          <p:cNvPr id="10" name="Text 8"/>
          <p:cNvSpPr txBox="1"/>
          <p:nvPr/>
        </p:nvSpPr>
        <p:spPr>
          <a:xfrm>
            <a:off x="896112"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much of the technician's clocked time was spent on repair orders?</a:t>
            </a:r>
            <a:endParaRPr lang="en-US" sz="1600" dirty="0"/>
          </a:p>
        </p:txBody>
      </p:sp>
      <p:sp>
        <p:nvSpPr>
          <p:cNvPr id="11" name="Shape 9"/>
          <p:cNvSpPr/>
          <p:nvPr/>
        </p:nvSpPr>
        <p:spPr>
          <a:xfrm>
            <a:off x="896112" y="3858768"/>
            <a:ext cx="3087624" cy="10973"/>
          </a:xfrm>
          <a:prstGeom prst="rect">
            <a:avLst/>
          </a:prstGeom>
          <a:solidFill>
            <a:srgbClr val="D9D9D9"/>
          </a:solidFill>
          <a:ln/>
        </p:spPr>
      </p:sp>
      <p:sp>
        <p:nvSpPr>
          <p:cNvPr id="12" name="Text 10"/>
          <p:cNvSpPr txBox="1"/>
          <p:nvPr/>
        </p:nvSpPr>
        <p:spPr>
          <a:xfrm>
            <a:off x="896112"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6 ÷ 8 = 75%</a:t>
            </a:r>
            <a:endParaRPr lang="en-US" sz="1800" dirty="0"/>
          </a:p>
        </p:txBody>
      </p:sp>
      <p:sp>
        <p:nvSpPr>
          <p:cNvPr id="13" name="Shape 11"/>
          <p:cNvSpPr/>
          <p:nvPr/>
        </p:nvSpPr>
        <p:spPr>
          <a:xfrm>
            <a:off x="4367784" y="1463040"/>
            <a:ext cx="3453384" cy="3063240"/>
          </a:xfrm>
          <a:prstGeom prst="rect">
            <a:avLst/>
          </a:prstGeom>
          <a:solidFill>
            <a:srgbClr val="F7F7F7"/>
          </a:solidFill>
          <a:ln/>
        </p:spPr>
      </p:sp>
      <p:sp>
        <p:nvSpPr>
          <p:cNvPr id="14" name="Shape 12"/>
          <p:cNvSpPr/>
          <p:nvPr/>
        </p:nvSpPr>
        <p:spPr>
          <a:xfrm>
            <a:off x="4367784" y="1463040"/>
            <a:ext cx="3453384" cy="64008"/>
          </a:xfrm>
          <a:prstGeom prst="rect">
            <a:avLst/>
          </a:prstGeom>
          <a:solidFill>
            <a:srgbClr val="2587C5"/>
          </a:solidFill>
          <a:ln/>
        </p:spPr>
      </p:sp>
      <p:sp>
        <p:nvSpPr>
          <p:cNvPr id="15" name="Text 13"/>
          <p:cNvSpPr txBox="1"/>
          <p:nvPr/>
        </p:nvSpPr>
        <p:spPr>
          <a:xfrm>
            <a:off x="4550664"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6" name="Text 14"/>
          <p:cNvSpPr txBox="1"/>
          <p:nvPr/>
        </p:nvSpPr>
        <p:spPr>
          <a:xfrm>
            <a:off x="4550664"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hours clocked to repair orders</a:t>
            </a:r>
            <a:endParaRPr lang="en-US" sz="2000" dirty="0"/>
          </a:p>
        </p:txBody>
      </p:sp>
      <p:sp>
        <p:nvSpPr>
          <p:cNvPr id="17" name="Text 15"/>
          <p:cNvSpPr txBox="1"/>
          <p:nvPr/>
        </p:nvSpPr>
        <p:spPr>
          <a:xfrm>
            <a:off x="4550664"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for each hour clocked to repair orders?</a:t>
            </a:r>
            <a:endParaRPr lang="en-US" sz="1600" dirty="0"/>
          </a:p>
        </p:txBody>
      </p:sp>
      <p:sp>
        <p:nvSpPr>
          <p:cNvPr id="18" name="Shape 16"/>
          <p:cNvSpPr/>
          <p:nvPr/>
        </p:nvSpPr>
        <p:spPr>
          <a:xfrm>
            <a:off x="4550664" y="3858768"/>
            <a:ext cx="3087624" cy="10973"/>
          </a:xfrm>
          <a:prstGeom prst="rect">
            <a:avLst/>
          </a:prstGeom>
          <a:solidFill>
            <a:srgbClr val="D9D9D9"/>
          </a:solidFill>
          <a:ln/>
        </p:spPr>
      </p:sp>
      <p:sp>
        <p:nvSpPr>
          <p:cNvPr id="19" name="Text 17"/>
          <p:cNvSpPr txBox="1"/>
          <p:nvPr/>
        </p:nvSpPr>
        <p:spPr>
          <a:xfrm>
            <a:off x="4550664"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6 = 125%</a:t>
            </a:r>
            <a:endParaRPr lang="en-US" sz="1800" dirty="0"/>
          </a:p>
        </p:txBody>
      </p:sp>
      <p:sp>
        <p:nvSpPr>
          <p:cNvPr id="20" name="Shape 18"/>
          <p:cNvSpPr/>
          <p:nvPr/>
        </p:nvSpPr>
        <p:spPr>
          <a:xfrm>
            <a:off x="8022336" y="1463040"/>
            <a:ext cx="3453384" cy="3063240"/>
          </a:xfrm>
          <a:prstGeom prst="rect">
            <a:avLst/>
          </a:prstGeom>
          <a:solidFill>
            <a:srgbClr val="F7F7F7"/>
          </a:solidFill>
          <a:ln/>
        </p:spPr>
      </p:sp>
      <p:sp>
        <p:nvSpPr>
          <p:cNvPr id="21" name="Shape 19"/>
          <p:cNvSpPr/>
          <p:nvPr/>
        </p:nvSpPr>
        <p:spPr>
          <a:xfrm>
            <a:off x="8022336" y="1463040"/>
            <a:ext cx="3453384" cy="64008"/>
          </a:xfrm>
          <a:prstGeom prst="rect">
            <a:avLst/>
          </a:prstGeom>
          <a:solidFill>
            <a:srgbClr val="2587C5"/>
          </a:solidFill>
          <a:ln/>
        </p:spPr>
      </p:sp>
      <p:sp>
        <p:nvSpPr>
          <p:cNvPr id="22" name="Text 20"/>
          <p:cNvSpPr txBox="1"/>
          <p:nvPr/>
        </p:nvSpPr>
        <p:spPr>
          <a:xfrm>
            <a:off x="8205216"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23" name="Text 21"/>
          <p:cNvSpPr txBox="1"/>
          <p:nvPr/>
        </p:nvSpPr>
        <p:spPr>
          <a:xfrm>
            <a:off x="8205216"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clocked hours</a:t>
            </a:r>
            <a:endParaRPr lang="en-US" sz="2000" dirty="0"/>
          </a:p>
        </p:txBody>
      </p:sp>
      <p:sp>
        <p:nvSpPr>
          <p:cNvPr id="24" name="Text 22"/>
          <p:cNvSpPr txBox="1"/>
          <p:nvPr/>
        </p:nvSpPr>
        <p:spPr>
          <a:xfrm>
            <a:off x="8205216"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compared with their total clocked time?</a:t>
            </a:r>
            <a:endParaRPr lang="en-US" sz="1600" dirty="0"/>
          </a:p>
        </p:txBody>
      </p:sp>
      <p:sp>
        <p:nvSpPr>
          <p:cNvPr id="25" name="Shape 23"/>
          <p:cNvSpPr/>
          <p:nvPr/>
        </p:nvSpPr>
        <p:spPr>
          <a:xfrm>
            <a:off x="8205216" y="3858768"/>
            <a:ext cx="3087624" cy="10973"/>
          </a:xfrm>
          <a:prstGeom prst="rect">
            <a:avLst/>
          </a:prstGeom>
          <a:solidFill>
            <a:srgbClr val="D9D9D9"/>
          </a:solidFill>
          <a:ln/>
        </p:spPr>
      </p:sp>
      <p:sp>
        <p:nvSpPr>
          <p:cNvPr id="26" name="Text 24"/>
          <p:cNvSpPr txBox="1"/>
          <p:nvPr/>
        </p:nvSpPr>
        <p:spPr>
          <a:xfrm>
            <a:off x="8205216"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8 = 93.75%</a:t>
            </a:r>
            <a:endParaRPr lang="en-US" sz="1800" dirty="0"/>
          </a:p>
        </p:txBody>
      </p:sp>
      <p:sp>
        <p:nvSpPr>
          <p:cNvPr id="27" name="Shape 25"/>
          <p:cNvSpPr/>
          <p:nvPr/>
        </p:nvSpPr>
        <p:spPr>
          <a:xfrm>
            <a:off x="713232" y="4709160"/>
            <a:ext cx="10762488" cy="1261872"/>
          </a:xfrm>
          <a:prstGeom prst="rect">
            <a:avLst/>
          </a:prstGeom>
          <a:solidFill>
            <a:srgbClr val="EDF4FA"/>
          </a:solidFill>
          <a:ln/>
        </p:spPr>
      </p:sp>
      <p:sp>
        <p:nvSpPr>
          <p:cNvPr id="28" name="Text 26"/>
          <p:cNvSpPr txBox="1"/>
          <p:nvPr/>
        </p:nvSpPr>
        <p:spPr>
          <a:xfrm>
            <a:off x="896112" y="4855464"/>
            <a:ext cx="10396728" cy="256032"/>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PUTTING IT TOGETHER: ONE TECHNICIAN, ONE DAY</a:t>
            </a:r>
            <a:endParaRPr lang="en-US" sz="1400" dirty="0"/>
          </a:p>
        </p:txBody>
      </p:sp>
      <p:sp>
        <p:nvSpPr>
          <p:cNvPr id="29" name="Text 27"/>
          <p:cNvSpPr txBox="1"/>
          <p:nvPr/>
        </p:nvSpPr>
        <p:spPr>
          <a:xfrm>
            <a:off x="896112" y="5166360"/>
            <a:ext cx="10396728" cy="329184"/>
          </a:xfrm>
          <a:prstGeom prst="rect">
            <a:avLst/>
          </a:prstGeom>
          <a:noFill/>
          <a:ln/>
        </p:spPr>
        <p:txBody>
          <a:bodyPr wrap="square" lIns="0" tIns="0" rIns="0" bIns="0" rtlCol="0" anchor="ctr"/>
          <a:lstStyle/>
          <a:p>
            <a:pPr indent="0" marL="0">
              <a:buNone/>
            </a:pPr>
            <a:r>
              <a:rPr lang="en-US" sz="1800" dirty="0">
                <a:solidFill>
                  <a:srgbClr val="1A1A1A"/>
                </a:solidFill>
                <a:latin typeface="Inter" pitchFamily="34" charset="0"/>
                <a:ea typeface="Inter" pitchFamily="34" charset="-122"/>
                <a:cs typeface="Inter" pitchFamily="34" charset="-120"/>
              </a:rPr>
              <a:t>A technician clocks in for 8 hours, clocks 6 of them to repair orders and flags 7.5 hours.</a:t>
            </a:r>
            <a:endParaRPr lang="en-US" sz="1800" dirty="0"/>
          </a:p>
        </p:txBody>
      </p:sp>
      <p:sp>
        <p:nvSpPr>
          <p:cNvPr id="30" name="Text 28"/>
          <p:cNvSpPr txBox="1"/>
          <p:nvPr/>
        </p:nvSpPr>
        <p:spPr>
          <a:xfrm>
            <a:off x="896112" y="5532120"/>
            <a:ext cx="10396728" cy="329184"/>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Productivity × efficiency = proficiency:  75% × 125% = 93.75%</a:t>
            </a:r>
            <a:endParaRPr lang="en-US" sz="1800" dirty="0"/>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Hours flagged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clocked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January through September 2026, year to date. Clocked hours exclude vacation, paid time off and holiday pay. Store = total hours flagged ÷ total clocked hours.</a:t>
            </a:r>
            <a:endParaRPr lang="en-US" sz="14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technicians and express technicians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team leaders and shop foremen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Everyone whose job is to produce flagged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Not counted: body shop, detail and tint</a:t>
            </a:r>
            <a:endParaRPr lang="en-US" sz="1500" dirty="0"/>
          </a:p>
        </p:txBody>
      </p:sp>
      <p:sp>
        <p:nvSpPr>
          <p:cNvPr id="13" name="Shape 11"/>
          <p:cNvSpPr/>
          <p:nvPr/>
        </p:nvSpPr>
        <p:spPr>
          <a:xfrm>
            <a:off x="5138928" y="2843784"/>
            <a:ext cx="45720" cy="908304"/>
          </a:xfrm>
          <a:prstGeom prst="rect">
            <a:avLst/>
          </a:prstGeom>
          <a:solidFill>
            <a:srgbClr val="2587C5"/>
          </a:solidFill>
          <a:ln/>
        </p:spPr>
      </p:sp>
      <p:sp>
        <p:nvSpPr>
          <p:cNvPr id="14" name="Text 12"/>
          <p:cNvSpPr txBox="1"/>
          <p:nvPr/>
        </p:nvSpPr>
        <p:spPr>
          <a:xfrm>
            <a:off x="5266944"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908304"/>
          </a:xfrm>
          <a:prstGeom prst="rect">
            <a:avLst/>
          </a:prstGeom>
          <a:solidFill>
            <a:srgbClr val="2587C5"/>
          </a:solidFill>
          <a:ln/>
        </p:spPr>
      </p:sp>
      <p:sp>
        <p:nvSpPr>
          <p:cNvPr id="16" name="Text 14"/>
          <p:cNvSpPr txBox="1"/>
          <p:nvPr/>
        </p:nvSpPr>
        <p:spPr>
          <a:xfrm>
            <a:off x="8522208"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61816"/>
            <a:ext cx="45720" cy="908304"/>
          </a:xfrm>
          <a:prstGeom prst="rect">
            <a:avLst/>
          </a:prstGeom>
          <a:solidFill>
            <a:srgbClr val="2587C5"/>
          </a:solidFill>
          <a:ln/>
        </p:spPr>
      </p:sp>
      <p:sp>
        <p:nvSpPr>
          <p:cNvPr id="18" name="Text 16"/>
          <p:cNvSpPr txBox="1"/>
          <p:nvPr/>
        </p:nvSpPr>
        <p:spPr>
          <a:xfrm>
            <a:off x="5266944"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Clocked hours trimmed to the months a tech actually flagged</a:t>
            </a:r>
            <a:endParaRPr lang="en-US" sz="1400" dirty="0"/>
          </a:p>
        </p:txBody>
      </p:sp>
      <p:sp>
        <p:nvSpPr>
          <p:cNvPr id="19" name="Shape 17"/>
          <p:cNvSpPr/>
          <p:nvPr/>
        </p:nvSpPr>
        <p:spPr>
          <a:xfrm>
            <a:off x="8394192" y="3861816"/>
            <a:ext cx="45720" cy="908304"/>
          </a:xfrm>
          <a:prstGeom prst="rect">
            <a:avLst/>
          </a:prstGeom>
          <a:solidFill>
            <a:srgbClr val="2587C5"/>
          </a:solidFill>
          <a:ln/>
        </p:spPr>
      </p:sp>
      <p:sp>
        <p:nvSpPr>
          <p:cNvPr id="20" name="Text 18"/>
          <p:cNvSpPr txBox="1"/>
          <p:nvPr/>
        </p:nvSpPr>
        <p:spPr>
          <a:xfrm>
            <a:off x="8522208"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940 hours keyed on a single $0 line</a:t>
            </a:r>
            <a:endParaRPr lang="en-US" sz="1400" dirty="0"/>
          </a:p>
        </p:txBody>
      </p:sp>
      <p:sp>
        <p:nvSpPr>
          <p:cNvPr id="21" name="Shape 19"/>
          <p:cNvSpPr/>
          <p:nvPr/>
        </p:nvSpPr>
        <p:spPr>
          <a:xfrm>
            <a:off x="5138928" y="4879848"/>
            <a:ext cx="45720" cy="908304"/>
          </a:xfrm>
          <a:prstGeom prst="rect">
            <a:avLst/>
          </a:prstGeom>
          <a:solidFill>
            <a:srgbClr val="2587C5"/>
          </a:solidFill>
          <a:ln/>
        </p:spPr>
      </p:sp>
      <p:sp>
        <p:nvSpPr>
          <p:cNvPr id="22" name="Text 20"/>
          <p:cNvSpPr txBox="1"/>
          <p:nvPr/>
        </p:nvSpPr>
        <p:spPr>
          <a:xfrm>
            <a:off x="5266944"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tech numbers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hours flagged to a shop code like 999, not a person</a:t>
            </a:r>
            <a:endParaRPr lang="en-US" sz="1400" dirty="0"/>
          </a:p>
        </p:txBody>
      </p:sp>
      <p:sp>
        <p:nvSpPr>
          <p:cNvPr id="23" name="Shape 21"/>
          <p:cNvSpPr/>
          <p:nvPr/>
        </p:nvSpPr>
        <p:spPr>
          <a:xfrm>
            <a:off x="8394192" y="4879848"/>
            <a:ext cx="45720" cy="908304"/>
          </a:xfrm>
          <a:prstGeom prst="rect">
            <a:avLst/>
          </a:prstGeom>
          <a:solidFill>
            <a:srgbClr val="2587C5"/>
          </a:solidFill>
          <a:ln/>
        </p:spPr>
      </p:sp>
      <p:sp>
        <p:nvSpPr>
          <p:cNvPr id="24" name="Text 22"/>
          <p:cNvSpPr txBox="1"/>
          <p:nvPr/>
        </p:nvSpPr>
        <p:spPr>
          <a:xfrm>
            <a:off x="8522208"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clocked hours</a:t>
            </a:r>
            <a:endParaRPr lang="en-US" sz="1400" dirty="0"/>
          </a:p>
        </p:txBody>
      </p:sp>
      <p:sp>
        <p:nvSpPr>
          <p:cNvPr id="25" name="Shape 23"/>
          <p:cNvSpPr/>
          <p:nvPr/>
        </p:nvSpPr>
        <p:spPr>
          <a:xfrm>
            <a:off x="457200" y="6126480"/>
            <a:ext cx="11274552" cy="356616"/>
          </a:xfrm>
          <a:prstGeom prst="rect">
            <a:avLst/>
          </a:prstGeom>
          <a:solidFill>
            <a:srgbClr val="EDF4FA"/>
          </a:solidFill>
          <a:ln/>
        </p:spPr>
      </p:sp>
      <p:sp>
        <p:nvSpPr>
          <p:cNvPr id="26" name="Text 24"/>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