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8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8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42" r:id="rId93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93" Type="http://schemas.openxmlformats.org/officeDocument/2006/relationships/slide" Target="slides/slide8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Definitions match the data slides: Qlik - Closed Repair Orders (all customer-pay ROs, by close month), Profit &amp; Loss and Productivity apps, Jan-Sep 2026 vs 2025, same-store, 33 stores. Worked example: Service Manager Roundtable, Nov 15, 2024, slide 21.PLACE: CP Engine, in front of CP Parts Gross Profit %.</a:t>
            </a:r>
          </a:p>
          <a:p>
            <a:r>
              <a:t>Why understand your parts pricing matrix (Noah, Oct 26): (1) Maximize gross profit: price parts to maximize profitability; find gross without more volume. (2) Consistent pricing: every customer charged the same for the same part; no incorrect prices from bad setups or manual overrides. (3) Stay competitive: avoid markups that make repairs too expensive; balance profit with price on higher-cost parts. (4) Check the matrix is applied: parts actually sell at matrix prices; find parts, labor types or transactions that bypass it. (5) Warranty reimbursement: customer-pay parts pricing drives the warranty parts reimbursement rate, so good pricing supports a higher rate and more warranty gross. (6) Control the strategy: know how your matrix is configured and review it against your gross profit goals. Takeaway: the matrix is one of the most effective tools for improving profit without more volume.</a:t>
            </a:r>
          </a:p>
          <a:p>
            <a:r>
              <a:t>5 reasons parts gross profit % matters (Noah, Oct 26): (1) Maximizes profitability: higher GP % earns more from the same volume; small improvements add up over a year. (2) Measures pricing effectiveness: are parts sold at the right prices; where to improve matrices, discounts and markups. (3) Controls discounts and cost increases: shows when discounting cuts profit, and when rising parts costs are not reflected in selling prices. (4) Supports dealership profit: parts gross covers department expenses, adds to net profit and helps fixed ops absorb store overhead. (5) Identifies opportunities: compare against targets, history and other stores; find weak categories (customer pay, wholesale, warranty, internal). Takeaway: parts GP % measures how well we turn parts sales into profit; raising it is one of the most direct ways to grow profit without more volume.</a:t>
            </a:r>
          </a:p>
          <a:p>
            <a:r>
              <a:t>37 cents (Oct 26): P&amp;L Detail, Jan-Sep 2026 same-store, parts department profit $22.75M / parts gross $61.93M = 36.7% (2025 37.1%); service 21.8% (2025 18.9%); new and used lose money at the department level; parts beats service in 31 of 33 stores (not Honda Henderson, VW Henderson). F&amp;I income less F&amp;I commissions is higher (about 80%) but F&amp;I is not a P&amp;L department and its other costs sit in new and used, so say 'department'. Department view: about $87M of other income (doc fees, packs, factory money, holdback) is booked outside the departments.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/Relationships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PAY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Parts Gross Profit %?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1024128"/>
          </a:xfrm>
          <a:prstGeom prst="rect">
            <a:avLst/>
          </a:prstGeom>
          <a:solidFill>
            <a:srgbClr val="EDF4FA"/>
          </a:solidFill>
          <a:ln/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685800" y="1243584"/>
            <a:ext cx="10835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Parts GP %  </a:t>
            </a:r>
            <a:pPr indent="0" marL="0">
              <a:buNone/>
            </a:pPr>
            <a:r>
              <a:rPr lang="en-US" sz="2400" b="1" dirty="0">
                <a:solidFill>
                  <a:srgbClr val="2587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=  </a:t>
            </a:r>
            <a:pPr indent="0" marL="0">
              <a:buNone/>
            </a:pPr>
            <a:r>
              <a:rPr lang="en-US" sz="2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(CP parts sale  </a:t>
            </a:r>
            <a:pPr indent="0" marL="0">
              <a:buNone/>
            </a:pPr>
            <a:r>
              <a:rPr lang="en-US" sz="2400" b="1" dirty="0">
                <a:solidFill>
                  <a:srgbClr val="2587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  </a:t>
            </a:r>
            <a:pPr indent="0" marL="0">
              <a:buNone/>
            </a:pPr>
            <a:r>
              <a:rPr lang="en-US" sz="2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parts cost)  </a:t>
            </a:r>
            <a:pPr indent="0" marL="0">
              <a:buNone/>
            </a:pPr>
            <a:r>
              <a:rPr lang="en-US" sz="2400" b="1" dirty="0">
                <a:solidFill>
                  <a:srgbClr val="2587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÷  </a:t>
            </a:r>
            <a:pPr indent="0" marL="0">
              <a:buNone/>
            </a:pPr>
            <a:r>
              <a:rPr lang="en-US" sz="2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parts sale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783080"/>
            <a:ext cx="10835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share of each customer-pay parts dollar we keep after the cost of the part.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340864"/>
            <a:ext cx="4343400" cy="364845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4937760" y="2340864"/>
            <a:ext cx="6793992" cy="364845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658368" y="246888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IT MATTERS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138928" y="246888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MOVES IT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58368" y="2843784"/>
            <a:ext cx="3977640" cy="3008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Parts keeps about 37¢ of every gross dollar after its own expenses, the most of any department (service 22¢): margin goes almost straight to the bottom line.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shows whether parts sell at the right price: matrix, markups and discounts.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flags heavy discounting, or cost increases we have not passed on.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parts pricing supports the warranty parts reimbursement rate.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138928" y="2843784"/>
            <a:ext cx="45720" cy="1121027"/>
          </a:xfrm>
          <a:prstGeom prst="rect">
            <a:avLst/>
          </a:prstGeom>
          <a:solidFill>
            <a:srgbClr val="2587C5"/>
          </a:solidFill>
          <a:ln/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5266944" y="2843784"/>
            <a:ext cx="2962656" cy="1121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Parts pricing matrix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Know how it is set up, make sure pricing follows the matrix setup, and review it against your gross goals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394192" y="2843784"/>
            <a:ext cx="45720" cy="1121027"/>
          </a:xfrm>
          <a:prstGeom prst="rect">
            <a:avLst/>
          </a:prstGeom>
          <a:solidFill>
            <a:srgbClr val="2587C5"/>
          </a:solidFill>
          <a:ln/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8522208" y="2843784"/>
            <a:ext cx="2962656" cy="1121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Discounts and overrides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Monitor discounts and manual price changes; keep safeguards in place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138928" y="4074539"/>
            <a:ext cx="45720" cy="801942"/>
          </a:xfrm>
          <a:prstGeom prst="rect">
            <a:avLst/>
          </a:prstGeom>
          <a:solidFill>
            <a:srgbClr val="2587C5"/>
          </a:solidFill>
          <a:ln/>
        </p:spPr>
        <p:txBody>
          <a:bodyPr/>
          <a:p/>
        </p:txBody>
      </p:sp>
      <p:sp>
        <p:nvSpPr>
          <p:cNvPr id="18" name="Text 16"/>
          <p:cNvSpPr txBox="1"/>
          <p:nvPr/>
        </p:nvSpPr>
        <p:spPr>
          <a:xfrm>
            <a:off x="5266944" y="4074539"/>
            <a:ext cx="2962656" cy="8019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Stay competitive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Balance margin with price, especially on high-cost parts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394192" y="4074539"/>
            <a:ext cx="45720" cy="801942"/>
          </a:xfrm>
          <a:prstGeom prst="rect">
            <a:avLst/>
          </a:prstGeom>
          <a:solidFill>
            <a:srgbClr val="2587C5"/>
          </a:solidFill>
          <a:ln/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8522208" y="4074539"/>
            <a:ext cx="2962656" cy="8019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Mix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Tires and competitive items carry thinner margins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138928" y="4986210"/>
            <a:ext cx="45720" cy="801942"/>
          </a:xfrm>
          <a:prstGeom prst="rect">
            <a:avLst/>
          </a:prstGeom>
          <a:solidFill>
            <a:srgbClr val="2587C5"/>
          </a:solidFill>
          <a:ln/>
        </p:spPr>
        <p:txBody>
          <a:bodyPr/>
          <a:p/>
        </p:txBody>
      </p:sp>
      <p:sp>
        <p:nvSpPr>
          <p:cNvPr id="22" name="Text 20"/>
          <p:cNvSpPr txBox="1"/>
          <p:nvPr/>
        </p:nvSpPr>
        <p:spPr>
          <a:xfrm>
            <a:off x="5266944" y="4986210"/>
            <a:ext cx="2962656" cy="8019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Menu pricing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Bundled maintenance parts priced to protect margin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394192" y="4986210"/>
            <a:ext cx="45720" cy="801942"/>
          </a:xfrm>
          <a:prstGeom prst="rect">
            <a:avLst/>
          </a:prstGeom>
          <a:solidFill>
            <a:srgbClr val="2587C5"/>
          </a:solidFill>
          <a:ln/>
        </p:spPr>
        <p:txBody>
          <a:bodyPr/>
          <a:p/>
        </p:txBody>
      </p:sp>
      <p:sp>
        <p:nvSpPr>
          <p:cNvPr id="24" name="Text 22"/>
          <p:cNvSpPr txBox="1"/>
          <p:nvPr/>
        </p:nvSpPr>
        <p:spPr>
          <a:xfrm>
            <a:off x="8522208" y="4986210"/>
            <a:ext cx="2962656" cy="8019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Monitor and actively manage your parts GP %: know where you stand and adjust as needed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57200" y="6126480"/>
            <a:ext cx="11274552" cy="371856"/>
          </a:xfrm>
          <a:prstGeom prst="rect">
            <a:avLst/>
          </a:prstGeom>
          <a:solidFill>
            <a:srgbClr val="E6F6EE"/>
          </a:solidFill>
          <a:ln/>
        </p:spPr>
        <p:txBody>
          <a:bodyPr/>
          <a:p/>
        </p:txBody>
      </p:sp>
      <p:sp>
        <p:nvSpPr>
          <p:cNvPr id="26" name="Text 24"/>
          <p:cNvSpPr txBox="1"/>
          <p:nvPr/>
        </p:nvSpPr>
        <p:spPr>
          <a:xfrm>
            <a:off x="658368" y="6144768"/>
            <a:ext cx="1092708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Group: 40.7% CP parts gross profit, up 1.2 pts and ahead of 2025 in all nine months.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2026-10-26T20:24:03Z</dcterms:created>
  <dcterms:modified xsi:type="dcterms:W3CDTF">2026-10-26T20:24:03Z</dcterms:modified>
</cp:coreProperties>
</file>