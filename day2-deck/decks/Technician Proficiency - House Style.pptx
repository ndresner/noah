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Proficiency = sold hours / worked hours, from store totals. Green at or above 85%, red below. Bars start at 40%.ACURA: 67.4% (11,339 sold / 16,815 worked, 11 techs: 0 above, 0 on, 11 under)
AUDI HENDERSON: 91.0% (33,481 sold / 36,766 worked, 23 techs: 6 above, 4 on, 13 under)
AUDI RENO: 117.1% (15,985 sold / 13,640 worked, 10 techs: 6 above, 0 on, 4 under)
CADILLAC: 87.7% (42,358 sold / 48,277 worked, 29 techs: 8 above, 5 on, 16 under)
CDJR POST FALLS: 71.2% (14,538 sold / 20,418 worked, 14 techs: 4 above, 1 on, 9 under)
CHEVY GMC BULLHEAD: 68.4% (19,904 sold / 29,093 worked, 20 techs: 2 above, 2 on, 16 under)
CHEVY LV: 103.4% (81,675 sold / 78,983 worked, 51 techs: 21 above, 14 on, 16 under)
GMC PRESCOTT: 73.6% (10,985 sold / 14,924 worked, 12 techs: 1 above, 4 on, 7 under)
HONDA FLAGSTAFF: 78.5% (7,653 sold / 9,743 worked, 6 techs: 2 above, 0 on, 4 under)
HONDA HENDERSON: 118.5% (61,099 sold / 51,555 worked, 28 techs: 16 above, 7 on, 5 under)
HONDA NORTH: 109.3% (39,419 sold / 36,062 worked, 22 techs: 10 above, 8 on, 4 under)
HONDA SPOKANE: 109.0% (17,638 sold / 16,169 worked, 15 techs: 10 above, 3 on, 2 under)
HYUNDAI PRESCOTT: 78.8% (9,116 sold / 11,564 worked, 9 techs: 1 above, 2 on, 6 under)
HYUNDAI ST GEORGE: 69.0% (9,329 sold / 13,515 worked, 11 techs: 3 above, 0 on, 8 under)
KIA LV: 76.8% (20,682 sold / 26,909 worked, 20 techs: 2 above, 2 on, 16 under)
KIA ST GEORGE: 67.5% (11,981 sold / 17,746 worked, 12 techs: 1 above, 2 on, 9 under)
LEXUS: 104.7% (16,940 sold / 16,175 worked, 11 techs: 4 above, 1 on, 6 under)
LINCOLN: 94.9% (15,983 sold / 16,836 worked, 11 techs: 4 above, 2 on, 5 under)
LR HENDERSON: 106.0% (11,497 sold / 10,838 worked, 7 techs: 3 above, 1 on, 3 under)
LR LV: 91.2% (20,301 sold / 22,258 worked, 16 techs: 5 above, 3 on, 8 under)
LR RENO: 81.4% (7,559 sold / 9,283 worked, 6 techs: 1 above, 3 on, 2 under)
MAZDA: 101.6% (14,560 sold / 14,322 worked, 11 techs: 5 above, 2 on, 4 under)
NISSAN: 91.1% (24,792 sold / 27,197 worked, 17 techs: 3 above, 6 on, 8 under)
SUBARU LV: 96.9% (41,501 sold / 42,797 worked, 27 techs: 9 above, 7 on, 11 under)
SUBARU PRESCOTT: 98.4% (17,475 sold / 17,747 worked, 12 techs: 6 above, 0 on, 6 under)
SUBARU ST GEORGE: 109.7% (20,954 sold / 19,086 worked, 12 techs: 9 above, 0 on, 3 under)
TOYOTA FLAGSTAFF: 102.4% (31,978 sold / 31,216 worked, 18 techs: 7 above, 5 on, 6 under)
TOYOTA HENDERSON: 104.3% (104,465 sold / 100,080 worked, 59 techs: 22 above, 17 on, 20 under)
TOYOTA PRESCOTT: 83.6% (29,341 sold / 35,081 worked, 22 techs: 6 above, 5 on, 11 under)
TOYOTA SPOKANE: 108.0% (35,947 sold / 33,274 worked, 28 techs: 15 above, 9 on, 4 under)
VOLVO: 72.3% (10,479 sold / 14,475 worked, 9 techs: 0 above, 1 on, 8 under)
VW HENDERSON: 92.2% (25,394 sold / 27,527 worked, 19 techs: 6 above, 7 on, 6 under)
VW ST GEORGE: 70.0% (5,375 sold / 7,674 worked, 5 techs: 0 above, 0 on, 5 under)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Share of each store's technicians by proficiency band (workbook status: Above Target, On Target, Under Target), most above first.ACURA: 67.4% (11,339 sold / 16,815 worked, 11 techs: 0 above, 0 on, 11 under)
AUDI HENDERSON: 91.0% (33,481 sold / 36,766 worked, 23 techs: 6 above, 4 on, 13 under)
AUDI RENO: 117.1% (15,985 sold / 13,640 worked, 10 techs: 6 above, 0 on, 4 under)
CADILLAC: 87.7% (42,358 sold / 48,277 worked, 29 techs: 8 above, 5 on, 16 under)
CDJR POST FALLS: 71.2% (14,538 sold / 20,418 worked, 14 techs: 4 above, 1 on, 9 under)
CHEVY GMC BULLHEAD: 68.4% (19,904 sold / 29,093 worked, 20 techs: 2 above, 2 on, 16 under)
CHEVY LV: 103.4% (81,675 sold / 78,983 worked, 51 techs: 21 above, 14 on, 16 under)
GMC PRESCOTT: 73.6% (10,985 sold / 14,924 worked, 12 techs: 1 above, 4 on, 7 under)
HONDA FLAGSTAFF: 78.5% (7,653 sold / 9,743 worked, 6 techs: 2 above, 0 on, 4 under)
HONDA HENDERSON: 118.5% (61,099 sold / 51,555 worked, 28 techs: 16 above, 7 on, 5 under)
HONDA NORTH: 109.3% (39,419 sold / 36,062 worked, 22 techs: 10 above, 8 on, 4 under)
HONDA SPOKANE: 109.0% (17,638 sold / 16,169 worked, 15 techs: 10 above, 3 on, 2 under)
HYUNDAI PRESCOTT: 78.8% (9,116 sold / 11,564 worked, 9 techs: 1 above, 2 on, 6 under)
HYUNDAI ST GEORGE: 69.0% (9,329 sold / 13,515 worked, 11 techs: 3 above, 0 on, 8 under)
KIA LV: 76.8% (20,682 sold / 26,909 worked, 20 techs: 2 above, 2 on, 16 under)
KIA ST GEORGE: 67.5% (11,981 sold / 17,746 worked, 12 techs: 1 above, 2 on, 9 under)
LEXUS: 104.7% (16,940 sold / 16,175 worked, 11 techs: 4 above, 1 on, 6 under)
LINCOLN: 94.9% (15,983 sold / 16,836 worked, 11 techs: 4 above, 2 on, 5 under)
LR HENDERSON: 106.0% (11,497 sold / 10,838 worked, 7 techs: 3 above, 1 on, 3 under)
LR LV: 91.2% (20,301 sold / 22,258 worked, 16 techs: 5 above, 3 on, 8 under)
LR RENO: 81.4% (7,559 sold / 9,283 worked, 6 techs: 1 above, 3 on, 2 under)
MAZDA: 101.6% (14,560 sold / 14,322 worked, 11 techs: 5 above, 2 on, 4 under)
NISSAN: 91.1% (24,792 sold / 27,197 worked, 17 techs: 3 above, 6 on, 8 under)
SUBARU LV: 96.9% (41,501 sold / 42,797 worked, 27 techs: 9 above, 7 on, 11 under)
SUBARU PRESCOTT: 98.4% (17,475 sold / 17,747 worked, 12 techs: 6 above, 0 on, 6 under)
SUBARU ST GEORGE: 109.7% (20,954 sold / 19,086 worked, 12 techs: 9 above, 0 on, 3 under)
TOYOTA FLAGSTAFF: 102.4% (31,978 sold / 31,216 worked, 18 techs: 7 above, 5 on, 6 under)
TOYOTA HENDERSON: 104.3% (104,465 sold / 100,080 worked, 59 techs: 22 above, 17 on, 20 under)
TOYOTA PRESCOTT: 83.6% (29,341 sold / 35,081 worked, 22 techs: 6 above, 5 on, 11 under)
TOYOTA SPOKANE: 108.0% (35,947 sold / 33,274 worked, 28 techs: 15 above, 9 on, 4 under)
VOLVO: 72.3% (10,479 sold / 14,475 worked, 9 techs: 0 above, 1 on, 8 under)
VW HENDERSON: 92.2% (25,394 sold / 27,527 worked, 19 techs: 6 above, 7 on, 6 under)
VW ST GEORGE: 70.0% (5,375 sold / 7,674 worked, 5 techs: 0 above, 0 on, 5 under)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slides.ACURA: 67.4%; 11 of 11 under 85%; gap 2,954 hrs; labor $50K/mo + parts $26K/mo; tech pay $14K/mo; 25.4% of $299K/mo RO gross; top quarter 74% (3 techs); 3.46 ROs/tech day; 1.75 hrs/RO
AUDI HENDERSON: 91.0%; 13 of 23 under 85%; gap 3,426 hrs; labor $81K/mo + parts $20K/mo; tech pay $14K/mo; 8.3% of $1.23M/mo RO gross; top quarter 135% (6 techs); 2.77 ROs/tech day; 3.23 hrs/RO
AUDI RENO: 117.1%; 4 of 10 under 85%; gap 826 hrs; labor $14K/mo + parts $6K/mo; tech pay $4K/mo; 4.0% of $504K/mo RO gross; top quarter 194% (2 techs); 4.08 ROs/tech day; 2.88 hrs/RO
CADILLAC: 87.7%; 16 of 29 under 85%; gap 6,705 hrs; labor $108K/mo + parts $49K/mo; tech pay $24K/mo; 13.6% of $1.16M/mo RO gross; top quarter 143% (7 techs); 2.48 ROs/tech day; 3.41 hrs/RO
CDJR POST FALLS: 71.2%; 9 of 14 under 85%; gap 5,005 hrs; labor $68K/mo + parts $32K/mo; tech pay $18K/mo; 24.6% of $408K/mo RO gross; top quarter 129% (4 techs); 3.77 ROs/tech day; 2.25 hrs/RO
CHEVY GMC BULLHEAD: 68.4%; 16 of 20 under 85%; gap 5,809 hrs; labor $73K/mo + parts $39K/mo; tech pay $20K/mo; 23.2% of $483K/mo RO gross; top quarter 96% (5 techs); 3.06 ROs/tech day; 2.19 hrs/RO
CHEVY LV: 103.4%; 16 of 51 under 85%; gap 5,102 hrs; labor $62K/mo + parts $25K/mo; tech pay $17K/mo; 5.2% of $1.69M/mo RO gross; top quarter 164% (13 techs); 3.95 ROs/tech day; 2.69 hrs/RO
GMC PRESCOTT: 73.6%; 7 of 12 under 85%; gap 2,741 hrs; labor $31K/mo + parts $17K/mo; tech pay $12K/mo; 14.4% of $333K/mo RO gross; top quarter 104% (3 techs); 3.59 ROs/tech day; 4.21 hrs/RO
HONDA FLAGSTAFF: 78.5%; 4 of 6 under 85%; gap 2,217 hrs; labor $28K/mo + parts $12K/mo; tech pay $8K/mo; 19.6% of $202K/mo RO gross; top quarter 131% (2 techs); 5.23 ROs/tech day; 1.85 hrs/RO
HONDA HENDERSON: 118.5%; 5 of 28 under 85%; gap 669 hrs; labor $9K/mo + parts $4K/mo; tech pay $2K/mo; 0.8% of $1.54M/mo RO gross; top quarter 172% (7 techs); 6.04 ROs/tech day; 2.11 hrs/RO
HONDA NORTH: 109.3%; 4 of 22 under 85%; gap 764 hrs; labor $9K/mo + parts $4K/mo; tech pay $2K/mo; 1.4% of $949K/mo RO gross; top quarter 152% (6 techs); 6.08 ROs/tech day; 2.29 hrs/RO
HONDA SPOKANE: 109.0%; 2 of 15 under 85%; gap 57 hrs; labor $1K/mo + parts $0K/mo; tech pay $0K/mo; 0.2% of $453K/mo RO gross; top quarter 130% (4 techs); 6.24 ROs/tech day; 2.14 hrs/RO
HYUNDAI PRESCOTT: 78.8%; 6 of 9 under 85%; gap 1,873 hrs; labor $23K/mo + parts $11K/mo; tech pay $8K/mo; 18.5% of $185K/mo RO gross; top quarter 113% (2 techs); 3.75 ROs/tech day; 1.78 hrs/RO
HYUNDAI ST GEORGE: 69.0%; 8 of 11 under 85%; gap 3,952 hrs; labor $58K/mo + parts $30K/mo; tech pay $13K/mo; 31.9% of $277K/mo RO gross; top quarter 122% (3 techs); 4.23 ROs/tech day; 1.45 hrs/RO
KIA LV: 76.8%; 16 of 20 under 85%; gap 3,389 hrs; labor $51K/mo + parts $23K/mo; tech pay $12K/mo; 11.6% of $643K/mo RO gross; top quarter 101% (5 techs); 5.22 ROs/tech day; 1.70 hrs/RO
KIA ST GEORGE: 67.5%; 9 of 12 under 85%; gap 3,713 hrs; labor $48K/mo + parts $29K/mo; tech pay $11K/mo; 29.7% of $258K/mo RO gross; top quarter 98% (3 techs); 4.25 ROs/tech day; 1.31 hrs/RO
LEXUS: 104.7%; 6 of 11 under 85%; gap 1,451 hrs; labor $24K/mo + parts $7K/mo; tech pay $5K/mo; 7.9% of $400K/mo RO gross; top quarter 178% (3 techs); 4.01 ROs/tech day; 2.44 hrs/RO
LINCOLN: 94.9%; 5 of 11 under 85%; gap 1,236 hrs; labor $17K/mo + parts $7K/mo; tech pay $4K/mo; 7.6% of $312K/mo RO gross; top quarter 125% (3 techs); 3.24 ROs/tech day; 2.35 hrs/RO
LR HENDERSON: 106.0%; 3 of 7 under 85%; gap 567 hrs; labor $9K/mo + parts $5K/mo; tech pay $2K/mo; 4.2% of $357K/mo RO gross; top quarter 145% (2 techs); 2.94 ROs/tech day; 3.68 hrs/RO
LR LV: 91.2%; 8 of 16 under 85%; gap 2,154 hrs; labor $42K/mo + parts $21K/mo; tech pay $9K/mo; 9.0% of $702K/mo RO gross; top quarter 131% (4 techs); 2.41 ROs/tech day; 3.54 hrs/RO
LR RENO: 81.4%; 2 of 6 under 85%; gap 724 hrs; labor $14K/mo + parts $7K/mo; tech pay $3K/mo; 8.0% of $257K/mo RO gross; top quarter 96% (2 techs); 2.36 ROs/tech day; 3.20 hrs/RO
MAZDA: 101.6%; 4 of 11 under 85%; gap 415 hrs; labor $6K/mo + parts $3K/mo; tech pay $1K/mo; 2.7% of $322K/mo RO gross; top quarter 123% (3 techs); 5.78 ROs/tech day; 1.54 hrs/RO
NISSAN: 91.1%; 8 of 17 under 85%; gap 2,291 hrs; labor $30K/mo + parts $13K/mo; tech pay $9K/mo; 8.0% of $532K/mo RO gross; top quarter 132% (4 techs); 4.08 ROs/tech day; 2.29 hrs/RO
SUBARU LV: 96.9%; 11 of 27 under 85%; gap 2,050 hrs; labor $29K/mo + parts $15K/mo; tech pay $5K/mo; 4.1% of $1.07M/mo RO gross; top quarter 132% (7 techs); 4.64 ROs/tech day; 2.07 hrs/RO
SUBARU PRESCOTT: 98.4%; 6 of 12 under 85%; gap 3,523 hrs; labor $37K/mo + parts $21K/mo; tech pay $13K/mo; 20.0% of $288K/mo RO gross; top quarter 179% (3 techs); 4.73 ROs/tech day; 1.68 hrs/RO
SUBARU ST GEORGE: 109.7%; 3 of 12 under 85%; gap 1,248 hrs; labor $14K/mo + parts $8K/mo; tech pay $5K/mo; 5.8% of $382K/mo RO gross; top quarter 146% (3 techs); 4.11 ROs/tech day; 2.20 hrs/RO
TOYOTA FLAGSTAFF: 102.4%; 6 of 18 under 85%; gap 662 hrs; labor $8K/mo + parts $3K/mo; tech pay $2K/mo; 1.9% of $542K/mo RO gross; top quarter 151% (4 techs); 4.96 ROs/tech day; 1.84 hrs/RO
TOYOTA HENDERSON: 104.3%; 20 of 59 under 85%; gap 4,057 hrs; labor $51K/mo + parts $19K/mo; tech pay $14K/mo; 2.9% of $2.44M/mo RO gross; top quarter 153% (15 techs); 6.41 ROs/tech day; 1.88 hrs/RO
TOYOTA PRESCOTT: 83.6%; 11 of 22 under 85%; gap 4,174 hrs; labor $57K/mo + parts $20K/mo; tech pay $16K/mo; 13.5% of $573K/mo RO gross; top quarter 118% (6 techs); 4.22 ROs/tech day; 1.72 hrs/RO
TOYOTA SPOKANE: 108.0%; 4 of 28 under 85%; gap 745 hrs; labor $8K/mo + parts $4K/mo; tech pay $3K/mo; 1.9% of $609K/mo RO gross; top quarter 134% (7 techs); 5.36 ROs/tech day; 1.81 hrs/RO
VOLVO: 72.3%; 8 of 9 under 85%; gap 1,963 hrs; labor $40K/mo + parts $22K/mo; tech pay $5K/mo; 14.8% of $417K/mo RO gross; top quarter 89% (2 techs); 3.81 ROs/tech day; 1.92 hrs/RO
VW HENDERSON: 92.2%; 6 of 19 under 85%; gap 1,416 hrs; labor $19K/mo + parts $5K/mo; tech pay $4K/mo; 4.8% of $516K/mo RO gross; top quarter 115% (5 techs); 3.77 ROs/tech day; 2.28 hrs/RO
VW ST GEORGE: 70.0%; 5 of 5 under 85%; gap 1,149 hrs; labor $13K/mo + parts $7K/mo; tech pay $3K/mo; 19.0% of $109K/mo RO gross; top quarter 76% (1 techs); 3.81 ROs/tech day; 1.65 hrs/RO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Per mo = labor + parts gross. Under 85% = technicians under 85% of all counted. Store = store proficiency.ACURA: 67.4%; 11 of 11 under 85%; gap 2,954 hrs; labor $50K/mo + parts $26K/mo; tech pay $14K/mo; 25.4% of $299K/mo RO gross; top quarter 74% (3 techs); 3.46 ROs/tech day; 1.75 hrs/RO
AUDI HENDERSON: 91.0%; 13 of 23 under 85%; gap 3,426 hrs; labor $81K/mo + parts $20K/mo; tech pay $14K/mo; 8.3% of $1.23M/mo RO gross; top quarter 135% (6 techs); 2.77 ROs/tech day; 3.23 hrs/RO
AUDI RENO: 117.1%; 4 of 10 under 85%; gap 826 hrs; labor $14K/mo + parts $6K/mo; tech pay $4K/mo; 4.0% of $504K/mo RO gross; top quarter 194% (2 techs); 4.08 ROs/tech day; 2.88 hrs/RO
CADILLAC: 87.7%; 16 of 29 under 85%; gap 6,705 hrs; labor $108K/mo + parts $49K/mo; tech pay $24K/mo; 13.6% of $1.16M/mo RO gross; top quarter 143% (7 techs); 2.48 ROs/tech day; 3.41 hrs/RO
CDJR POST FALLS: 71.2%; 9 of 14 under 85%; gap 5,005 hrs; labor $68K/mo + parts $32K/mo; tech pay $18K/mo; 24.6% of $408K/mo RO gross; top quarter 129% (4 techs); 3.77 ROs/tech day; 2.25 hrs/RO
CHEVY GMC BULLHEAD: 68.4%; 16 of 20 under 85%; gap 5,809 hrs; labor $73K/mo + parts $39K/mo; tech pay $20K/mo; 23.2% of $483K/mo RO gross; top quarter 96% (5 techs); 3.06 ROs/tech day; 2.19 hrs/RO
CHEVY LV: 103.4%; 16 of 51 under 85%; gap 5,102 hrs; labor $62K/mo + parts $25K/mo; tech pay $17K/mo; 5.2% of $1.69M/mo RO gross; top quarter 164% (13 techs); 3.95 ROs/tech day; 2.69 hrs/RO
GMC PRESCOTT: 73.6%; 7 of 12 under 85%; gap 2,741 hrs; labor $31K/mo + parts $17K/mo; tech pay $12K/mo; 14.4% of $333K/mo RO gross; top quarter 104% (3 techs); 3.59 ROs/tech day; 4.21 hrs/RO
HONDA FLAGSTAFF: 78.5%; 4 of 6 under 85%; gap 2,217 hrs; labor $28K/mo + parts $12K/mo; tech pay $8K/mo; 19.6% of $202K/mo RO gross; top quarter 131% (2 techs); 5.23 ROs/tech day; 1.85 hrs/RO
HONDA HENDERSON: 118.5%; 5 of 28 under 85%; gap 669 hrs; labor $9K/mo + parts $4K/mo; tech pay $2K/mo; 0.8% of $1.54M/mo RO gross; top quarter 172% (7 techs); 6.04 ROs/tech day; 2.11 hrs/RO
HONDA NORTH: 109.3%; 4 of 22 under 85%; gap 764 hrs; labor $9K/mo + parts $4K/mo; tech pay $2K/mo; 1.4% of $949K/mo RO gross; top quarter 152% (6 techs); 6.08 ROs/tech day; 2.29 hrs/RO
HONDA SPOKANE: 109.0%; 2 of 15 under 85%; gap 57 hrs; labor $1K/mo + parts $0K/mo; tech pay $0K/mo; 0.2% of $453K/mo RO gross; top quarter 130% (4 techs); 6.24 ROs/tech day; 2.14 hrs/RO
HYUNDAI PRESCOTT: 78.8%; 6 of 9 under 85%; gap 1,873 hrs; labor $23K/mo + parts $11K/mo; tech pay $8K/mo; 18.5% of $185K/mo RO gross; top quarter 113% (2 techs); 3.75 ROs/tech day; 1.78 hrs/RO
HYUNDAI ST GEORGE: 69.0%; 8 of 11 under 85%; gap 3,952 hrs; labor $58K/mo + parts $30K/mo; tech pay $13K/mo; 31.9% of $277K/mo RO gross; top quarter 122% (3 techs); 4.23 ROs/tech day; 1.45 hrs/RO
KIA LV: 76.8%; 16 of 20 under 85%; gap 3,389 hrs; labor $51K/mo + parts $23K/mo; tech pay $12K/mo; 11.6% of $643K/mo RO gross; top quarter 101% (5 techs); 5.22 ROs/tech day; 1.70 hrs/RO
KIA ST GEORGE: 67.5%; 9 of 12 under 85%; gap 3,713 hrs; labor $48K/mo + parts $29K/mo; tech pay $11K/mo; 29.7% of $258K/mo RO gross; top quarter 98% (3 techs); 4.25 ROs/tech day; 1.31 hrs/RO
LEXUS: 104.7%; 6 of 11 under 85%; gap 1,451 hrs; labor $24K/mo + parts $7K/mo; tech pay $5K/mo; 7.9% of $400K/mo RO gross; top quarter 178% (3 techs); 4.01 ROs/tech day; 2.44 hrs/RO
LINCOLN: 94.9%; 5 of 11 under 85%; gap 1,236 hrs; labor $17K/mo + parts $7K/mo; tech pay $4K/mo; 7.6% of $312K/mo RO gross; top quarter 125% (3 techs); 3.24 ROs/tech day; 2.35 hrs/RO
LR HENDERSON: 106.0%; 3 of 7 under 85%; gap 567 hrs; labor $9K/mo + parts $5K/mo; tech pay $2K/mo; 4.2% of $357K/mo RO gross; top quarter 145% (2 techs); 2.94 ROs/tech day; 3.68 hrs/RO
LR LV: 91.2%; 8 of 16 under 85%; gap 2,154 hrs; labor $42K/mo + parts $21K/mo; tech pay $9K/mo; 9.0% of $702K/mo RO gross; top quarter 131% (4 techs); 2.41 ROs/tech day; 3.54 hrs/RO
LR RENO: 81.4%; 2 of 6 under 85%; gap 724 hrs; labor $14K/mo + parts $7K/mo; tech pay $3K/mo; 8.0% of $257K/mo RO gross; top quarter 96% (2 techs); 2.36 ROs/tech day; 3.20 hrs/RO
MAZDA: 101.6%; 4 of 11 under 85%; gap 415 hrs; labor $6K/mo + parts $3K/mo; tech pay $1K/mo; 2.7% of $322K/mo RO gross; top quarter 123% (3 techs); 5.78 ROs/tech day; 1.54 hrs/RO
NISSAN: 91.1%; 8 of 17 under 85%; gap 2,291 hrs; labor $30K/mo + parts $13K/mo; tech pay $9K/mo; 8.0% of $532K/mo RO gross; top quarter 132% (4 techs); 4.08 ROs/tech day; 2.29 hrs/RO
SUBARU LV: 96.9%; 11 of 27 under 85%; gap 2,050 hrs; labor $29K/mo + parts $15K/mo; tech pay $5K/mo; 4.1% of $1.07M/mo RO gross; top quarter 132% (7 techs); 4.64 ROs/tech day; 2.07 hrs/RO
SUBARU PRESCOTT: 98.4%; 6 of 12 under 85%; gap 3,523 hrs; labor $37K/mo + parts $21K/mo; tech pay $13K/mo; 20.0% of $288K/mo RO gross; top quarter 179% (3 techs); 4.73 ROs/tech day; 1.68 hrs/RO
SUBARU ST GEORGE: 109.7%; 3 of 12 under 85%; gap 1,248 hrs; labor $14K/mo + parts $8K/mo; tech pay $5K/mo; 5.8% of $382K/mo RO gross; top quarter 146% (3 techs); 4.11 ROs/tech day; 2.20 hrs/RO
TOYOTA FLAGSTAFF: 102.4%; 6 of 18 under 85%; gap 662 hrs; labor $8K/mo + parts $3K/mo; tech pay $2K/mo; 1.9% of $542K/mo RO gross; top quarter 151% (4 techs); 4.96 ROs/tech day; 1.84 hrs/RO
TOYOTA HENDERSON: 104.3%; 20 of 59 under 85%; gap 4,057 hrs; labor $51K/mo + parts $19K/mo; tech pay $14K/mo; 2.9% of $2.44M/mo RO gross; top quarter 153% (15 techs); 6.41 ROs/tech day; 1.88 hrs/RO
TOYOTA PRESCOTT: 83.6%; 11 of 22 under 85%; gap 4,174 hrs; labor $57K/mo + parts $20K/mo; tech pay $16K/mo; 13.5% of $573K/mo RO gross; top quarter 118% (6 techs); 4.22 ROs/tech day; 1.72 hrs/RO
TOYOTA SPOKANE: 108.0%; 4 of 28 under 85%; gap 745 hrs; labor $8K/mo + parts $4K/mo; tech pay $3K/mo; 1.9% of $609K/mo RO gross; top quarter 134% (7 techs); 5.36 ROs/tech day; 1.81 hrs/RO
VOLVO: 72.3%; 8 of 9 under 85%; gap 1,963 hrs; labor $40K/mo + parts $22K/mo; tech pay $5K/mo; 14.8% of $417K/mo RO gross; top quarter 89% (2 techs); 3.81 ROs/tech day; 1.92 hrs/RO
VW HENDERSON: 92.2%; 6 of 19 under 85%; gap 1,416 hrs; labor $19K/mo + parts $5K/mo; tech pay $4K/mo; 4.8% of $516K/mo RO gross; top quarter 115% (5 techs); 3.77 ROs/tech day; 2.28 hrs/RO
VW ST GEORGE: 70.0%; 5 of 5 under 85%; gap 1,149 hrs; labor $13K/mo + parts $7K/mo; tech pay $3K/mo; 19.0% of $109K/mo RO gross; top quarter 76% (1 techs); 3.81 ROs/tech day; 1.65 hrs/RO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Missed and Gross are per month. Share = missed labor + parts gross / labor + parts gross on the store's closed ROs, all pay types, same dates (includes work on shared tech codes). Not P&amp;L gross: counter and wholesale parts are excluded because techs do not produce them.ACURA: 67.4%; 11 of 11 under 85%; gap 2,954 hrs; labor $50K/mo + parts $26K/mo; tech pay $14K/mo; 25.4% of $299K/mo RO gross; top quarter 74% (3 techs); 3.46 ROs/tech day; 1.75 hrs/RO
AUDI HENDERSON: 91.0%; 13 of 23 under 85%; gap 3,426 hrs; labor $81K/mo + parts $20K/mo; tech pay $14K/mo; 8.3% of $1.23M/mo RO gross; top quarter 135% (6 techs); 2.77 ROs/tech day; 3.23 hrs/RO
AUDI RENO: 117.1%; 4 of 10 under 85%; gap 826 hrs; labor $14K/mo + parts $6K/mo; tech pay $4K/mo; 4.0% of $504K/mo RO gross; top quarter 194% (2 techs); 4.08 ROs/tech day; 2.88 hrs/RO
CADILLAC: 87.7%; 16 of 29 under 85%; gap 6,705 hrs; labor $108K/mo + parts $49K/mo; tech pay $24K/mo; 13.6% of $1.16M/mo RO gross; top quarter 143% (7 techs); 2.48 ROs/tech day; 3.41 hrs/RO
CDJR POST FALLS: 71.2%; 9 of 14 under 85%; gap 5,005 hrs; labor $68K/mo + parts $32K/mo; tech pay $18K/mo; 24.6% of $408K/mo RO gross; top quarter 129% (4 techs); 3.77 ROs/tech day; 2.25 hrs/RO
CHEVY GMC BULLHEAD: 68.4%; 16 of 20 under 85%; gap 5,809 hrs; labor $73K/mo + parts $39K/mo; tech pay $20K/mo; 23.2% of $483K/mo RO gross; top quarter 96% (5 techs); 3.06 ROs/tech day; 2.19 hrs/RO
CHEVY LV: 103.4%; 16 of 51 under 85%; gap 5,102 hrs; labor $62K/mo + parts $25K/mo; tech pay $17K/mo; 5.2% of $1.69M/mo RO gross; top quarter 164% (13 techs); 3.95 ROs/tech day; 2.69 hrs/RO
GMC PRESCOTT: 73.6%; 7 of 12 under 85%; gap 2,741 hrs; labor $31K/mo + parts $17K/mo; tech pay $12K/mo; 14.4% of $333K/mo RO gross; top quarter 104% (3 techs); 3.59 ROs/tech day; 4.21 hrs/RO
HONDA FLAGSTAFF: 78.5%; 4 of 6 under 85%; gap 2,217 hrs; labor $28K/mo + parts $12K/mo; tech pay $8K/mo; 19.6% of $202K/mo RO gross; top quarter 131% (2 techs); 5.23 ROs/tech day; 1.85 hrs/RO
HONDA HENDERSON: 118.5%; 5 of 28 under 85%; gap 669 hrs; labor $9K/mo + parts $4K/mo; tech pay $2K/mo; 0.8% of $1.54M/mo RO gross; top quarter 172% (7 techs); 6.04 ROs/tech day; 2.11 hrs/RO
HONDA NORTH: 109.3%; 4 of 22 under 85%; gap 764 hrs; labor $9K/mo + parts $4K/mo; tech pay $2K/mo; 1.4% of $949K/mo RO gross; top quarter 152% (6 techs); 6.08 ROs/tech day; 2.29 hrs/RO
HONDA SPOKANE: 109.0%; 2 of 15 under 85%; gap 57 hrs; labor $1K/mo + parts $0K/mo; tech pay $0K/mo; 0.2% of $453K/mo RO gross; top quarter 130% (4 techs); 6.24 ROs/tech day; 2.14 hrs/RO
HYUNDAI PRESCOTT: 78.8%; 6 of 9 under 85%; gap 1,873 hrs; labor $23K/mo + parts $11K/mo; tech pay $8K/mo; 18.5% of $185K/mo RO gross; top quarter 113% (2 techs); 3.75 ROs/tech day; 1.78 hrs/RO
HYUNDAI ST GEORGE: 69.0%; 8 of 11 under 85%; gap 3,952 hrs; labor $58K/mo + parts $30K/mo; tech pay $13K/mo; 31.9% of $277K/mo RO gross; top quarter 122% (3 techs); 4.23 ROs/tech day; 1.45 hrs/RO
KIA LV: 76.8%; 16 of 20 under 85%; gap 3,389 hrs; labor $51K/mo + parts $23K/mo; tech pay $12K/mo; 11.6% of $643K/mo RO gross; top quarter 101% (5 techs); 5.22 ROs/tech day; 1.70 hrs/RO
KIA ST GEORGE: 67.5%; 9 of 12 under 85%; gap 3,713 hrs; labor $48K/mo + parts $29K/mo; tech pay $11K/mo; 29.7% of $258K/mo RO gross; top quarter 98% (3 techs); 4.25 ROs/tech day; 1.31 hrs/RO
LEXUS: 104.7%; 6 of 11 under 85%; gap 1,451 hrs; labor $24K/mo + parts $7K/mo; tech pay $5K/mo; 7.9% of $400K/mo RO gross; top quarter 178% (3 techs); 4.01 ROs/tech day; 2.44 hrs/RO
LINCOLN: 94.9%; 5 of 11 under 85%; gap 1,236 hrs; labor $17K/mo + parts $7K/mo; tech pay $4K/mo; 7.6% of $312K/mo RO gross; top quarter 125% (3 techs); 3.24 ROs/tech day; 2.35 hrs/RO
LR HENDERSON: 106.0%; 3 of 7 under 85%; gap 567 hrs; labor $9K/mo + parts $5K/mo; tech pay $2K/mo; 4.2% of $357K/mo RO gross; top quarter 145% (2 techs); 2.94 ROs/tech day; 3.68 hrs/RO
LR LV: 91.2%; 8 of 16 under 85%; gap 2,154 hrs; labor $42K/mo + parts $21K/mo; tech pay $9K/mo; 9.0% of $702K/mo RO gross; top quarter 131% (4 techs); 2.41 ROs/tech day; 3.54 hrs/RO
LR RENO: 81.4%; 2 of 6 under 85%; gap 724 hrs; labor $14K/mo + parts $7K/mo; tech pay $3K/mo; 8.0% of $257K/mo RO gross; top quarter 96% (2 techs); 2.36 ROs/tech day; 3.20 hrs/RO
MAZDA: 101.6%; 4 of 11 under 85%; gap 415 hrs; labor $6K/mo + parts $3K/mo; tech pay $1K/mo; 2.7% of $322K/mo RO gross; top quarter 123% (3 techs); 5.78 ROs/tech day; 1.54 hrs/RO
NISSAN: 91.1%; 8 of 17 under 85%; gap 2,291 hrs; labor $30K/mo + parts $13K/mo; tech pay $9K/mo; 8.0% of $532K/mo RO gross; top quarter 132% (4 techs); 4.08 ROs/tech day; 2.29 hrs/RO
SUBARU LV: 96.9%; 11 of 27 under 85%; gap 2,050 hrs; labor $29K/mo + parts $15K/mo; tech pay $5K/mo; 4.1% of $1.07M/mo RO gross; top quarter 132% (7 techs); 4.64 ROs/tech day; 2.07 hrs/RO
SUBARU PRESCOTT: 98.4%; 6 of 12 under 85%; gap 3,523 hrs; labor $37K/mo + parts $21K/mo; tech pay $13K/mo; 20.0% of $288K/mo RO gross; top quarter 179% (3 techs); 4.73 ROs/tech day; 1.68 hrs/RO
SUBARU ST GEORGE: 109.7%; 3 of 12 under 85%; gap 1,248 hrs; labor $14K/mo + parts $8K/mo; tech pay $5K/mo; 5.8% of $382K/mo RO gross; top quarter 146% (3 techs); 4.11 ROs/tech day; 2.20 hrs/RO
TOYOTA FLAGSTAFF: 102.4%; 6 of 18 under 85%; gap 662 hrs; labor $8K/mo + parts $3K/mo; tech pay $2K/mo; 1.9% of $542K/mo RO gross; top quarter 151% (4 techs); 4.96 ROs/tech day; 1.84 hrs/RO
TOYOTA HENDERSON: 104.3%; 20 of 59 under 85%; gap 4,057 hrs; labor $51K/mo + parts $19K/mo; tech pay $14K/mo; 2.9% of $2.44M/mo RO gross; top quarter 153% (15 techs); 6.41 ROs/tech day; 1.88 hrs/RO
TOYOTA PRESCOTT: 83.6%; 11 of 22 under 85%; gap 4,174 hrs; labor $57K/mo + parts $20K/mo; tech pay $16K/mo; 13.5% of $573K/mo RO gross; top quarter 118% (6 techs); 4.22 ROs/tech day; 1.72 hrs/RO
TOYOTA SPOKANE: 108.0%; 4 of 28 under 85%; gap 745 hrs; labor $8K/mo + parts $4K/mo; tech pay $3K/mo; 1.9% of $609K/mo RO gross; top quarter 134% (7 techs); 5.36 ROs/tech day; 1.81 hrs/RO
VOLVO: 72.3%; 8 of 9 under 85%; gap 1,963 hrs; labor $40K/mo + parts $22K/mo; tech pay $5K/mo; 14.8% of $417K/mo RO gross; top quarter 89% (2 techs); 3.81 ROs/tech day; 1.92 hrs/RO
VW HENDERSON: 92.2%; 6 of 19 under 85%; gap 1,416 hrs; labor $19K/mo + parts $5K/mo; tech pay $4K/mo; 4.8% of $516K/mo RO gross; top quarter 115% (5 techs); 3.77 ROs/tech day; 2.28 hrs/RO
VW ST GEORGE: 70.0%; 5 of 5 under 85%; gap 1,149 hrs; labor $13K/mo + parts $7K/mo; tech pay $3K/mo; 19.0% of $109K/mo RO gross; top quarter 76% (1 techs); 3.81 ROs/tech day; 1.65 hrs/RO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Top quarter = the store's most proficient quarter of counted technicians (at least one), sold / worked hours combined. Bars capped at 190%.ACURA: 67.4%; 11 of 11 under 85%; gap 2,954 hrs; labor $50K/mo + parts $26K/mo; tech pay $14K/mo; 25.4% of $299K/mo RO gross; top quarter 74% (3 techs); 3.46 ROs/tech day; 1.75 hrs/RO
AUDI HENDERSON: 91.0%; 13 of 23 under 85%; gap 3,426 hrs; labor $81K/mo + parts $20K/mo; tech pay $14K/mo; 8.3% of $1.23M/mo RO gross; top quarter 135% (6 techs); 2.77 ROs/tech day; 3.23 hrs/RO
AUDI RENO: 117.1%; 4 of 10 under 85%; gap 826 hrs; labor $14K/mo + parts $6K/mo; tech pay $4K/mo; 4.0% of $504K/mo RO gross; top quarter 194% (2 techs); 4.08 ROs/tech day; 2.88 hrs/RO
CADILLAC: 87.7%; 16 of 29 under 85%; gap 6,705 hrs; labor $108K/mo + parts $49K/mo; tech pay $24K/mo; 13.6% of $1.16M/mo RO gross; top quarter 143% (7 techs); 2.48 ROs/tech day; 3.41 hrs/RO
CDJR POST FALLS: 71.2%; 9 of 14 under 85%; gap 5,005 hrs; labor $68K/mo + parts $32K/mo; tech pay $18K/mo; 24.6% of $408K/mo RO gross; top quarter 129% (4 techs); 3.77 ROs/tech day; 2.25 hrs/RO
CHEVY GMC BULLHEAD: 68.4%; 16 of 20 under 85%; gap 5,809 hrs; labor $73K/mo + parts $39K/mo; tech pay $20K/mo; 23.2% of $483K/mo RO gross; top quarter 96% (5 techs); 3.06 ROs/tech day; 2.19 hrs/RO
CHEVY LV: 103.4%; 16 of 51 under 85%; gap 5,102 hrs; labor $62K/mo + parts $25K/mo; tech pay $17K/mo; 5.2% of $1.69M/mo RO gross; top quarter 164% (13 techs); 3.95 ROs/tech day; 2.69 hrs/RO
GMC PRESCOTT: 73.6%; 7 of 12 under 85%; gap 2,741 hrs; labor $31K/mo + parts $17K/mo; tech pay $12K/mo; 14.4% of $333K/mo RO gross; top quarter 104% (3 techs); 3.59 ROs/tech day; 4.21 hrs/RO
HONDA FLAGSTAFF: 78.5%; 4 of 6 under 85%; gap 2,217 hrs; labor $28K/mo + parts $12K/mo; tech pay $8K/mo; 19.6% of $202K/mo RO gross; top quarter 131% (2 techs); 5.23 ROs/tech day; 1.85 hrs/RO
HONDA HENDERSON: 118.5%; 5 of 28 under 85%; gap 669 hrs; labor $9K/mo + parts $4K/mo; tech pay $2K/mo; 0.8% of $1.54M/mo RO gross; top quarter 172% (7 techs); 6.04 ROs/tech day; 2.11 hrs/RO
HONDA NORTH: 109.3%; 4 of 22 under 85%; gap 764 hrs; labor $9K/mo + parts $4K/mo; tech pay $2K/mo; 1.4% of $949K/mo RO gross; top quarter 152% (6 techs); 6.08 ROs/tech day; 2.29 hrs/RO
HONDA SPOKANE: 109.0%; 2 of 15 under 85%; gap 57 hrs; labor $1K/mo + parts $0K/mo; tech pay $0K/mo; 0.2% of $453K/mo RO gross; top quarter 130% (4 techs); 6.24 ROs/tech day; 2.14 hrs/RO
HYUNDAI PRESCOTT: 78.8%; 6 of 9 under 85%; gap 1,873 hrs; labor $23K/mo + parts $11K/mo; tech pay $8K/mo; 18.5% of $185K/mo RO gross; top quarter 113% (2 techs); 3.75 ROs/tech day; 1.78 hrs/RO
HYUNDAI ST GEORGE: 69.0%; 8 of 11 under 85%; gap 3,952 hrs; labor $58K/mo + parts $30K/mo; tech pay $13K/mo; 31.9% of $277K/mo RO gross; top quarter 122% (3 techs); 4.23 ROs/tech day; 1.45 hrs/RO
KIA LV: 76.8%; 16 of 20 under 85%; gap 3,389 hrs; labor $51K/mo + parts $23K/mo; tech pay $12K/mo; 11.6% of $643K/mo RO gross; top quarter 101% (5 techs); 5.22 ROs/tech day; 1.70 hrs/RO
KIA ST GEORGE: 67.5%; 9 of 12 under 85%; gap 3,713 hrs; labor $48K/mo + parts $29K/mo; tech pay $11K/mo; 29.7% of $258K/mo RO gross; top quarter 98% (3 techs); 4.25 ROs/tech day; 1.31 hrs/RO
LEXUS: 104.7%; 6 of 11 under 85%; gap 1,451 hrs; labor $24K/mo + parts $7K/mo; tech pay $5K/mo; 7.9% of $400K/mo RO gross; top quarter 178% (3 techs); 4.01 ROs/tech day; 2.44 hrs/RO
LINCOLN: 94.9%; 5 of 11 under 85%; gap 1,236 hrs; labor $17K/mo + parts $7K/mo; tech pay $4K/mo; 7.6% of $312K/mo RO gross; top quarter 125% (3 techs); 3.24 ROs/tech day; 2.35 hrs/RO
LR HENDERSON: 106.0%; 3 of 7 under 85%; gap 567 hrs; labor $9K/mo + parts $5K/mo; tech pay $2K/mo; 4.2% of $357K/mo RO gross; top quarter 145% (2 techs); 2.94 ROs/tech day; 3.68 hrs/RO
LR LV: 91.2%; 8 of 16 under 85%; gap 2,154 hrs; labor $42K/mo + parts $21K/mo; tech pay $9K/mo; 9.0% of $702K/mo RO gross; top quarter 131% (4 techs); 2.41 ROs/tech day; 3.54 hrs/RO
LR RENO: 81.4%; 2 of 6 under 85%; gap 724 hrs; labor $14K/mo + parts $7K/mo; tech pay $3K/mo; 8.0% of $257K/mo RO gross; top quarter 96% (2 techs); 2.36 ROs/tech day; 3.20 hrs/RO
MAZDA: 101.6%; 4 of 11 under 85%; gap 415 hrs; labor $6K/mo + parts $3K/mo; tech pay $1K/mo; 2.7% of $322K/mo RO gross; top quarter 123% (3 techs); 5.78 ROs/tech day; 1.54 hrs/RO
NISSAN: 91.1%; 8 of 17 under 85%; gap 2,291 hrs; labor $30K/mo + parts $13K/mo; tech pay $9K/mo; 8.0% of $532K/mo RO gross; top quarter 132% (4 techs); 4.08 ROs/tech day; 2.29 hrs/RO
SUBARU LV: 96.9%; 11 of 27 under 85%; gap 2,050 hrs; labor $29K/mo + parts $15K/mo; tech pay $5K/mo; 4.1% of $1.07M/mo RO gross; top quarter 132% (7 techs); 4.64 ROs/tech day; 2.07 hrs/RO
SUBARU PRESCOTT: 98.4%; 6 of 12 under 85%; gap 3,523 hrs; labor $37K/mo + parts $21K/mo; tech pay $13K/mo; 20.0% of $288K/mo RO gross; top quarter 179% (3 techs); 4.73 ROs/tech day; 1.68 hrs/RO
SUBARU ST GEORGE: 109.7%; 3 of 12 under 85%; gap 1,248 hrs; labor $14K/mo + parts $8K/mo; tech pay $5K/mo; 5.8% of $382K/mo RO gross; top quarter 146% (3 techs); 4.11 ROs/tech day; 2.20 hrs/RO
TOYOTA FLAGSTAFF: 102.4%; 6 of 18 under 85%; gap 662 hrs; labor $8K/mo + parts $3K/mo; tech pay $2K/mo; 1.9% of $542K/mo RO gross; top quarter 151% (4 techs); 4.96 ROs/tech day; 1.84 hrs/RO
TOYOTA HENDERSON: 104.3%; 20 of 59 under 85%; gap 4,057 hrs; labor $51K/mo + parts $19K/mo; tech pay $14K/mo; 2.9% of $2.44M/mo RO gross; top quarter 153% (15 techs); 6.41 ROs/tech day; 1.88 hrs/RO
TOYOTA PRESCOTT: 83.6%; 11 of 22 under 85%; gap 4,174 hrs; labor $57K/mo + parts $20K/mo; tech pay $16K/mo; 13.5% of $573K/mo RO gross; top quarter 118% (6 techs); 4.22 ROs/tech day; 1.72 hrs/RO
TOYOTA SPOKANE: 108.0%; 4 of 28 under 85%; gap 745 hrs; labor $8K/mo + parts $4K/mo; tech pay $3K/mo; 1.9% of $609K/mo RO gross; top quarter 134% (7 techs); 5.36 ROs/tech day; 1.81 hrs/RO
VOLVO: 72.3%; 8 of 9 under 85%; gap 1,963 hrs; labor $40K/mo + parts $22K/mo; tech pay $5K/mo; 14.8% of $417K/mo RO gross; top quarter 89% (2 techs); 3.81 ROs/tech day; 1.92 hrs/RO
VW HENDERSON: 92.2%; 6 of 19 under 85%; gap 1,416 hrs; labor $19K/mo + parts $5K/mo; tech pay $4K/mo; 4.8% of $516K/mo RO gross; top quarter 115% (5 techs); 3.77 ROs/tech day; 2.28 hrs/RO
VW ST GEORGE: 70.0%; 5 of 5 under 85%; gap 1,149 hrs; labor $13K/mo + parts $7K/mo; tech pay $3K/mo; 19.0% of $109K/mo RO gross; top quarter 76% (1 techs); 3.81 ROs/tech day; 1.65 hrs/RO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Stores under 85% only. ROs/day = distinct ROs, all pay types, per counted tech per 8 worked hours. Seg avg = luxury 3.0, non-luxury 4.9 (luxury = Lexus, Lincoln, Cadillac, Volvo, Audi Reno, Audi Henderson, LR Reno, LR LV, LR Henderson). Fewer ROs per tech can mean too few cars for the staff or slow techs turning work away; it starts the conversation rather than settling it.ACURA: 67.4%; 11 of 11 under 85%; gap 2,954 hrs; labor $50K/mo + parts $26K/mo; tech pay $14K/mo; 25.4% of $299K/mo RO gross; top quarter 74% (3 techs); 3.46 ROs/tech day; 1.75 hrs/RO
AUDI HENDERSON: 91.0%; 13 of 23 under 85%; gap 3,426 hrs; labor $81K/mo + parts $20K/mo; tech pay $14K/mo; 8.3% of $1.23M/mo RO gross; top quarter 135% (6 techs); 2.77 ROs/tech day; 3.23 hrs/RO
AUDI RENO: 117.1%; 4 of 10 under 85%; gap 826 hrs; labor $14K/mo + parts $6K/mo; tech pay $4K/mo; 4.0% of $504K/mo RO gross; top quarter 194% (2 techs); 4.08 ROs/tech day; 2.88 hrs/RO
CADILLAC: 87.7%; 16 of 29 under 85%; gap 6,705 hrs; labor $108K/mo + parts $49K/mo; tech pay $24K/mo; 13.6% of $1.16M/mo RO gross; top quarter 143% (7 techs); 2.48 ROs/tech day; 3.41 hrs/RO
CDJR POST FALLS: 71.2%; 9 of 14 under 85%; gap 5,005 hrs; labor $68K/mo + parts $32K/mo; tech pay $18K/mo; 24.6% of $408K/mo RO gross; top quarter 129% (4 techs); 3.77 ROs/tech day; 2.25 hrs/RO
CHEVY GMC BULLHEAD: 68.4%; 16 of 20 under 85%; gap 5,809 hrs; labor $73K/mo + parts $39K/mo; tech pay $20K/mo; 23.2% of $483K/mo RO gross; top quarter 96% (5 techs); 3.06 ROs/tech day; 2.19 hrs/RO
CHEVY LV: 103.4%; 16 of 51 under 85%; gap 5,102 hrs; labor $62K/mo + parts $25K/mo; tech pay $17K/mo; 5.2% of $1.69M/mo RO gross; top quarter 164% (13 techs); 3.95 ROs/tech day; 2.69 hrs/RO
GMC PRESCOTT: 73.6%; 7 of 12 under 85%; gap 2,741 hrs; labor $31K/mo + parts $17K/mo; tech pay $12K/mo; 14.4% of $333K/mo RO gross; top quarter 104% (3 techs); 3.59 ROs/tech day; 4.21 hrs/RO
HONDA FLAGSTAFF: 78.5%; 4 of 6 under 85%; gap 2,217 hrs; labor $28K/mo + parts $12K/mo; tech pay $8K/mo; 19.6% of $202K/mo RO gross; top quarter 131% (2 techs); 5.23 ROs/tech day; 1.85 hrs/RO
HONDA HENDERSON: 118.5%; 5 of 28 under 85%; gap 669 hrs; labor $9K/mo + parts $4K/mo; tech pay $2K/mo; 0.8% of $1.54M/mo RO gross; top quarter 172% (7 techs); 6.04 ROs/tech day; 2.11 hrs/RO
HONDA NORTH: 109.3%; 4 of 22 under 85%; gap 764 hrs; labor $9K/mo + parts $4K/mo; tech pay $2K/mo; 1.4% of $949K/mo RO gross; top quarter 152% (6 techs); 6.08 ROs/tech day; 2.29 hrs/RO
HONDA SPOKANE: 109.0%; 2 of 15 under 85%; gap 57 hrs; labor $1K/mo + parts $0K/mo; tech pay $0K/mo; 0.2% of $453K/mo RO gross; top quarter 130% (4 techs); 6.24 ROs/tech day; 2.14 hrs/RO
HYUNDAI PRESCOTT: 78.8%; 6 of 9 under 85%; gap 1,873 hrs; labor $23K/mo + parts $11K/mo; tech pay $8K/mo; 18.5% of $185K/mo RO gross; top quarter 113% (2 techs); 3.75 ROs/tech day; 1.78 hrs/RO
HYUNDAI ST GEORGE: 69.0%; 8 of 11 under 85%; gap 3,952 hrs; labor $58K/mo + parts $30K/mo; tech pay $13K/mo; 31.9% of $277K/mo RO gross; top quarter 122% (3 techs); 4.23 ROs/tech day; 1.45 hrs/RO
KIA LV: 76.8%; 16 of 20 under 85%; gap 3,389 hrs; labor $51K/mo + parts $23K/mo; tech pay $12K/mo; 11.6% of $643K/mo RO gross; top quarter 101% (5 techs); 5.22 ROs/tech day; 1.70 hrs/RO
KIA ST GEORGE: 67.5%; 9 of 12 under 85%; gap 3,713 hrs; labor $48K/mo + parts $29K/mo; tech pay $11K/mo; 29.7% of $258K/mo RO gross; top quarter 98% (3 techs); 4.25 ROs/tech day; 1.31 hrs/RO
LEXUS: 104.7%; 6 of 11 under 85%; gap 1,451 hrs; labor $24K/mo + parts $7K/mo; tech pay $5K/mo; 7.9% of $400K/mo RO gross; top quarter 178% (3 techs); 4.01 ROs/tech day; 2.44 hrs/RO
LINCOLN: 94.9%; 5 of 11 under 85%; gap 1,236 hrs; labor $17K/mo + parts $7K/mo; tech pay $4K/mo; 7.6% of $312K/mo RO gross; top quarter 125% (3 techs); 3.24 ROs/tech day; 2.35 hrs/RO
LR HENDERSON: 106.0%; 3 of 7 under 85%; gap 567 hrs; labor $9K/mo + parts $5K/mo; tech pay $2K/mo; 4.2% of $357K/mo RO gross; top quarter 145% (2 techs); 2.94 ROs/tech day; 3.68 hrs/RO
LR LV: 91.2%; 8 of 16 under 85%; gap 2,154 hrs; labor $42K/mo + parts $21K/mo; tech pay $9K/mo; 9.0% of $702K/mo RO gross; top quarter 131% (4 techs); 2.41 ROs/tech day; 3.54 hrs/RO
LR RENO: 81.4%; 2 of 6 under 85%; gap 724 hrs; labor $14K/mo + parts $7K/mo; tech pay $3K/mo; 8.0% of $257K/mo RO gross; top quarter 96% (2 techs); 2.36 ROs/tech day; 3.20 hrs/RO
MAZDA: 101.6%; 4 of 11 under 85%; gap 415 hrs; labor $6K/mo + parts $3K/mo; tech pay $1K/mo; 2.7% of $322K/mo RO gross; top quarter 123% (3 techs); 5.78 ROs/tech day; 1.54 hrs/RO
NISSAN: 91.1%; 8 of 17 under 85%; gap 2,291 hrs; labor $30K/mo + parts $13K/mo; tech pay $9K/mo; 8.0% of $532K/mo RO gross; top quarter 132% (4 techs); 4.08 ROs/tech day; 2.29 hrs/RO
SUBARU LV: 96.9%; 11 of 27 under 85%; gap 2,050 hrs; labor $29K/mo + parts $15K/mo; tech pay $5K/mo; 4.1% of $1.07M/mo RO gross; top quarter 132% (7 techs); 4.64 ROs/tech day; 2.07 hrs/RO
SUBARU PRESCOTT: 98.4%; 6 of 12 under 85%; gap 3,523 hrs; labor $37K/mo + parts $21K/mo; tech pay $13K/mo; 20.0% of $288K/mo RO gross; top quarter 179% (3 techs); 4.73 ROs/tech day; 1.68 hrs/RO
SUBARU ST GEORGE: 109.7%; 3 of 12 under 85%; gap 1,248 hrs; labor $14K/mo + parts $8K/mo; tech pay $5K/mo; 5.8% of $382K/mo RO gross; top quarter 146% (3 techs); 4.11 ROs/tech day; 2.20 hrs/RO
TOYOTA FLAGSTAFF: 102.4%; 6 of 18 under 85%; gap 662 hrs; labor $8K/mo + parts $3K/mo; tech pay $2K/mo; 1.9% of $542K/mo RO gross; top quarter 151% (4 techs); 4.96 ROs/tech day; 1.84 hrs/RO
TOYOTA HENDERSON: 104.3%; 20 of 59 under 85%; gap 4,057 hrs; labor $51K/mo + parts $19K/mo; tech pay $14K/mo; 2.9% of $2.44M/mo RO gross; top quarter 153% (15 techs); 6.41 ROs/tech day; 1.88 hrs/RO
TOYOTA PRESCOTT: 83.6%; 11 of 22 under 85%; gap 4,174 hrs; labor $57K/mo + parts $20K/mo; tech pay $16K/mo; 13.5% of $573K/mo RO gross; top quarter 118% (6 techs); 4.22 ROs/tech day; 1.72 hrs/RO
TOYOTA SPOKANE: 108.0%; 4 of 28 under 85%; gap 745 hrs; labor $8K/mo + parts $4K/mo; tech pay $3K/mo; 1.9% of $609K/mo RO gross; top quarter 134% (7 techs); 5.36 ROs/tech day; 1.81 hrs/RO
VOLVO: 72.3%; 8 of 9 under 85%; gap 1,963 hrs; labor $40K/mo + parts $22K/mo; tech pay $5K/mo; 14.8% of $417K/mo RO gross; top quarter 89% (2 techs); 3.81 ROs/tech day; 1.92 hrs/RO
VW HENDERSON: 92.2%; 6 of 19 under 85%; gap 1,416 hrs; labor $19K/mo + parts $5K/mo; tech pay $4K/mo; 4.8% of $516K/mo RO gross; top quarter 115% (5 techs); 3.77 ROs/tech day; 2.28 hrs/RO
VW ST GEORGE: 70.0%; 5 of 5 under 85%; gap 1,149 hrs; labor $13K/mo + parts $7K/mo; tech pay $3K/mo; 19.0% of $109K/mo RO gross; top quarter 76% (1 techs); 3.81 ROs/tech day; 1.65 hrs/RO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FIXED OPS</a:t>
            </a:r>
            <a:endParaRPr lang="en-US" sz="2000" dirty="0"/>
          </a:p>
        </p:txBody>
      </p:sp>
      <p:sp>
        <p:nvSpPr>
          <p:cNvPr id="3"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6200" b="1" dirty="0">
                <a:solidFill>
                  <a:srgbClr val="1A1A1A"/>
                </a:solidFill>
                <a:latin typeface="Inter" pitchFamily="34" charset="0"/>
                <a:ea typeface="Inter" pitchFamily="34" charset="-122"/>
                <a:cs typeface="Inter" pitchFamily="34" charset="-120"/>
              </a:rPr>
              <a:t>Technician Proficiency</a:t>
            </a:r>
            <a:endParaRPr lang="en-US" sz="6200" dirty="0"/>
          </a:p>
        </p:txBody>
      </p:sp>
      <p:sp>
        <p:nvSpPr>
          <p:cNvPr id="4"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Store proficiency   ·   Technician status   ·   The opportunity   ·   Work or workers</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TECHNICIAN PROFICIENCY</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85.0%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118.5%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6303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117.1%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1" name="Shape 19"/>
          <p:cNvSpPr/>
          <p:nvPr/>
        </p:nvSpPr>
        <p:spPr>
          <a:xfrm>
            <a:off x="3008376" y="2386853"/>
            <a:ext cx="1503694"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493335"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488550"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109.0%</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4658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108.0%</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008376" y="3346435"/>
            <a:ext cx="142378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008376" y="3586331"/>
            <a:ext cx="139459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5" name="Shape 43"/>
          <p:cNvSpPr/>
          <p:nvPr/>
        </p:nvSpPr>
        <p:spPr>
          <a:xfrm>
            <a:off x="3008376" y="3826226"/>
            <a:ext cx="138713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066122"/>
            <a:ext cx="1366169"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4306017"/>
            <a:ext cx="1345338"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008376" y="4545913"/>
            <a:ext cx="132856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1" name="Shape 59"/>
          <p:cNvSpPr/>
          <p:nvPr/>
        </p:nvSpPr>
        <p:spPr>
          <a:xfrm>
            <a:off x="3008376" y="4785808"/>
            <a:ext cx="125969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025704"/>
            <a:ext cx="122750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9" name="Shape 67"/>
          <p:cNvSpPr/>
          <p:nvPr/>
        </p:nvSpPr>
        <p:spPr>
          <a:xfrm>
            <a:off x="3008376" y="5265599"/>
            <a:ext cx="118354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94.9%</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3" name="Shape 71"/>
          <p:cNvSpPr/>
          <p:nvPr/>
        </p:nvSpPr>
        <p:spPr>
          <a:xfrm>
            <a:off x="3008376" y="5505495"/>
            <a:ext cx="112583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008376" y="5745390"/>
            <a:ext cx="1103246"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8558784" y="1907062"/>
            <a:ext cx="1102256"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5" name="Shape 83"/>
          <p:cNvSpPr/>
          <p:nvPr/>
        </p:nvSpPr>
        <p:spPr>
          <a:xfrm>
            <a:off x="8558784" y="2146957"/>
            <a:ext cx="1100233"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9" name="Shape 87"/>
          <p:cNvSpPr/>
          <p:nvPr/>
        </p:nvSpPr>
        <p:spPr>
          <a:xfrm>
            <a:off x="8558784" y="2386853"/>
            <a:ext cx="1028587"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87.7%</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94018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7" name="Shape 95"/>
          <p:cNvSpPr/>
          <p:nvPr/>
        </p:nvSpPr>
        <p:spPr>
          <a:xfrm>
            <a:off x="8558784" y="2866644"/>
            <a:ext cx="892570"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65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83059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9" name="Shape 107"/>
          <p:cNvSpPr/>
          <p:nvPr/>
        </p:nvSpPr>
        <p:spPr>
          <a:xfrm>
            <a:off x="8558784" y="3586331"/>
            <a:ext cx="79418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72409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7" name="Shape 115"/>
          <p:cNvSpPr/>
          <p:nvPr/>
        </p:nvSpPr>
        <p:spPr>
          <a:xfrm>
            <a:off x="8558784" y="4066122"/>
            <a:ext cx="69790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8558784" y="4306017"/>
            <a:ext cx="672256"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58784" y="4545913"/>
            <a:ext cx="647056"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2534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69.0%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3" name="Shape 131"/>
          <p:cNvSpPr/>
          <p:nvPr/>
        </p:nvSpPr>
        <p:spPr>
          <a:xfrm>
            <a:off x="8558784" y="5025704"/>
            <a:ext cx="612255"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558784" y="5265599"/>
            <a:ext cx="59280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1" name="Shape 139"/>
          <p:cNvSpPr/>
          <p:nvPr/>
        </p:nvSpPr>
        <p:spPr>
          <a:xfrm>
            <a:off x="8558784" y="5505495"/>
            <a:ext cx="5910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67.4%</a:t>
            </a:r>
            <a:endParaRPr lang="en-US" sz="1200" dirty="0"/>
          </a:p>
        </p:txBody>
      </p:sp>
      <p:sp>
        <p:nvSpPr>
          <p:cNvPr id="143" name="Shape 141"/>
          <p:cNvSpPr/>
          <p:nvPr/>
        </p:nvSpPr>
        <p:spPr>
          <a:xfrm>
            <a:off x="3970620" y="1847088"/>
            <a:ext cx="14630" cy="4078224"/>
          </a:xfrm>
          <a:prstGeom prst="rect">
            <a:avLst/>
          </a:prstGeom>
          <a:solidFill>
            <a:srgbClr val="0B2C4A"/>
          </a:solidFill>
          <a:ln/>
        </p:spPr>
      </p:sp>
      <p:sp>
        <p:nvSpPr>
          <p:cNvPr id="144" name="Shape 142"/>
          <p:cNvSpPr/>
          <p:nvPr/>
        </p:nvSpPr>
        <p:spPr>
          <a:xfrm>
            <a:off x="952102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20 of 33 stores at or above the 85% target and 12 above 100%. Group 94.7%, led by Honda Henderson at 118.5%; Acura lowest at 67.4%.</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 Status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12A566"/>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Above 100 %</a:t>
            </a:r>
            <a:endParaRPr lang="en-US" sz="1400" dirty="0"/>
          </a:p>
        </p:txBody>
      </p:sp>
      <p:sp>
        <p:nvSpPr>
          <p:cNvPr id="8" name="Shape 6"/>
          <p:cNvSpPr/>
          <p:nvPr/>
        </p:nvSpPr>
        <p:spPr>
          <a:xfrm>
            <a:off x="2624328" y="1371600"/>
            <a:ext cx="201168" cy="201168"/>
          </a:xfrm>
          <a:prstGeom prst="rect">
            <a:avLst/>
          </a:prstGeom>
          <a:solidFill>
            <a:srgbClr val="5B9BD5"/>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 to 99.9 %</a:t>
            </a:r>
            <a:endParaRPr lang="en-US" sz="1400" dirty="0"/>
          </a:p>
        </p:txBody>
      </p:sp>
      <p:sp>
        <p:nvSpPr>
          <p:cNvPr id="10" name="Shape 8"/>
          <p:cNvSpPr/>
          <p:nvPr/>
        </p:nvSpPr>
        <p:spPr>
          <a:xfrm>
            <a:off x="4590288" y="1371600"/>
            <a:ext cx="201168" cy="201168"/>
          </a:xfrm>
          <a:prstGeom prst="rect">
            <a:avLst/>
          </a:prstGeom>
          <a:solidFill>
            <a:srgbClr val="C2352F"/>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Under 85 %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260837" cy="292608"/>
          </a:xfrm>
          <a:prstGeom prst="rect">
            <a:avLst/>
          </a:prstGeom>
          <a:solidFill>
            <a:srgbClr val="12A566"/>
          </a:solidFill>
          <a:ln w="6350">
            <a:solidFill>
              <a:srgbClr val="FFFFFF"/>
            </a:solidFill>
            <a:prstDash val="solid"/>
          </a:ln>
        </p:spPr>
      </p:sp>
      <p:sp>
        <p:nvSpPr>
          <p:cNvPr id="15" name="Text 13"/>
          <p:cNvSpPr txBox="1"/>
          <p:nvPr/>
        </p:nvSpPr>
        <p:spPr>
          <a:xfrm>
            <a:off x="7726680" y="1344168"/>
            <a:ext cx="126083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34</a:t>
            </a:r>
            <a:endParaRPr lang="en-US" sz="1400" dirty="0"/>
          </a:p>
        </p:txBody>
      </p:sp>
      <p:sp>
        <p:nvSpPr>
          <p:cNvPr id="16" name="Shape 14"/>
          <p:cNvSpPr/>
          <p:nvPr/>
        </p:nvSpPr>
        <p:spPr>
          <a:xfrm>
            <a:off x="8987517" y="1344168"/>
            <a:ext cx="783247" cy="292608"/>
          </a:xfrm>
          <a:prstGeom prst="rect">
            <a:avLst/>
          </a:prstGeom>
          <a:solidFill>
            <a:srgbClr val="5B9BD5"/>
          </a:solidFill>
          <a:ln w="6350">
            <a:solidFill>
              <a:srgbClr val="FFFFFF"/>
            </a:solidFill>
            <a:prstDash val="solid"/>
          </a:ln>
        </p:spPr>
      </p:sp>
      <p:sp>
        <p:nvSpPr>
          <p:cNvPr id="17" name="Text 15"/>
          <p:cNvSpPr txBox="1"/>
          <p:nvPr/>
        </p:nvSpPr>
        <p:spPr>
          <a:xfrm>
            <a:off x="8987517" y="1344168"/>
            <a:ext cx="78324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21</a:t>
            </a:r>
            <a:endParaRPr lang="en-US" sz="1400" dirty="0"/>
          </a:p>
        </p:txBody>
      </p:sp>
      <p:sp>
        <p:nvSpPr>
          <p:cNvPr id="18" name="Shape 16"/>
          <p:cNvSpPr/>
          <p:nvPr/>
        </p:nvSpPr>
        <p:spPr>
          <a:xfrm>
            <a:off x="9770764" y="1344168"/>
            <a:ext cx="1668380" cy="292608"/>
          </a:xfrm>
          <a:prstGeom prst="rect">
            <a:avLst/>
          </a:prstGeom>
          <a:solidFill>
            <a:srgbClr val="C2352F"/>
          </a:solidFill>
          <a:ln w="6350">
            <a:solidFill>
              <a:srgbClr val="FFFFFF"/>
            </a:solidFill>
            <a:prstDash val="solid"/>
          </a:ln>
        </p:spPr>
      </p:sp>
      <p:sp>
        <p:nvSpPr>
          <p:cNvPr id="19" name="Text 17"/>
          <p:cNvSpPr txBox="1"/>
          <p:nvPr/>
        </p:nvSpPr>
        <p:spPr>
          <a:xfrm>
            <a:off x="9770764" y="1344168"/>
            <a:ext cx="1668380"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45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1" name="Shape 19"/>
          <p:cNvSpPr/>
          <p:nvPr/>
        </p:nvSpPr>
        <p:spPr>
          <a:xfrm>
            <a:off x="2807208" y="1857717"/>
            <a:ext cx="2366010" cy="183138"/>
          </a:xfrm>
          <a:prstGeom prst="rect">
            <a:avLst/>
          </a:prstGeom>
          <a:solidFill>
            <a:srgbClr val="12A566"/>
          </a:solidFill>
          <a:ln w="6350">
            <a:solidFill>
              <a:srgbClr val="FFFFFF"/>
            </a:solidFill>
            <a:prstDash val="solid"/>
          </a:ln>
        </p:spPr>
      </p:sp>
      <p:sp>
        <p:nvSpPr>
          <p:cNvPr id="22" name="Text 20"/>
          <p:cNvSpPr txBox="1"/>
          <p:nvPr/>
        </p:nvSpPr>
        <p:spPr>
          <a:xfrm>
            <a:off x="2807208" y="1857717"/>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3" name="Shape 21"/>
          <p:cNvSpPr/>
          <p:nvPr/>
        </p:nvSpPr>
        <p:spPr>
          <a:xfrm>
            <a:off x="5173218" y="1857717"/>
            <a:ext cx="914" cy="183138"/>
          </a:xfrm>
          <a:prstGeom prst="rect">
            <a:avLst/>
          </a:prstGeom>
          <a:solidFill>
            <a:srgbClr val="5B9BD5"/>
          </a:solidFill>
          <a:ln w="6350">
            <a:solidFill>
              <a:srgbClr val="FFFFFF"/>
            </a:solidFill>
            <a:prstDash val="solid"/>
          </a:ln>
        </p:spPr>
      </p:sp>
      <p:sp>
        <p:nvSpPr>
          <p:cNvPr id="24" name="Shape 22"/>
          <p:cNvSpPr/>
          <p:nvPr/>
        </p:nvSpPr>
        <p:spPr>
          <a:xfrm>
            <a:off x="5173218" y="1857717"/>
            <a:ext cx="788670" cy="183138"/>
          </a:xfrm>
          <a:prstGeom prst="rect">
            <a:avLst/>
          </a:prstGeom>
          <a:solidFill>
            <a:srgbClr val="C2352F"/>
          </a:solidFill>
          <a:ln w="6350">
            <a:solidFill>
              <a:srgbClr val="FFFFFF"/>
            </a:solidFill>
            <a:prstDash val="solid"/>
          </a:ln>
        </p:spPr>
      </p:sp>
      <p:sp>
        <p:nvSpPr>
          <p:cNvPr id="25" name="Text 23"/>
          <p:cNvSpPr txBox="1"/>
          <p:nvPr/>
        </p:nvSpPr>
        <p:spPr>
          <a:xfrm>
            <a:off x="5173218" y="1857717"/>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7" name="Shape 25"/>
          <p:cNvSpPr/>
          <p:nvPr/>
        </p:nvSpPr>
        <p:spPr>
          <a:xfrm>
            <a:off x="2807208" y="2098688"/>
            <a:ext cx="2103120" cy="183138"/>
          </a:xfrm>
          <a:prstGeom prst="rect">
            <a:avLst/>
          </a:prstGeom>
          <a:solidFill>
            <a:srgbClr val="12A566"/>
          </a:solidFill>
          <a:ln w="6350">
            <a:solidFill>
              <a:srgbClr val="FFFFFF"/>
            </a:solidFill>
            <a:prstDash val="solid"/>
          </a:ln>
        </p:spPr>
      </p:sp>
      <p:sp>
        <p:nvSpPr>
          <p:cNvPr id="28" name="Text 26"/>
          <p:cNvSpPr txBox="1"/>
          <p:nvPr/>
        </p:nvSpPr>
        <p:spPr>
          <a:xfrm>
            <a:off x="2807208" y="2098688"/>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29" name="Shape 27"/>
          <p:cNvSpPr/>
          <p:nvPr/>
        </p:nvSpPr>
        <p:spPr>
          <a:xfrm>
            <a:off x="4910328" y="2098688"/>
            <a:ext cx="630936" cy="183138"/>
          </a:xfrm>
          <a:prstGeom prst="rect">
            <a:avLst/>
          </a:prstGeom>
          <a:solidFill>
            <a:srgbClr val="5B9BD5"/>
          </a:solidFill>
          <a:ln w="6350">
            <a:solidFill>
              <a:srgbClr val="FFFFFF"/>
            </a:solidFill>
            <a:prstDash val="solid"/>
          </a:ln>
        </p:spPr>
      </p:sp>
      <p:sp>
        <p:nvSpPr>
          <p:cNvPr id="30" name="Text 28"/>
          <p:cNvSpPr txBox="1"/>
          <p:nvPr/>
        </p:nvSpPr>
        <p:spPr>
          <a:xfrm>
            <a:off x="4910328" y="2098688"/>
            <a:ext cx="6309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20</a:t>
            </a:r>
            <a:endParaRPr lang="en-US" sz="1300" dirty="0"/>
          </a:p>
        </p:txBody>
      </p:sp>
      <p:sp>
        <p:nvSpPr>
          <p:cNvPr id="31" name="Shape 29"/>
          <p:cNvSpPr/>
          <p:nvPr/>
        </p:nvSpPr>
        <p:spPr>
          <a:xfrm>
            <a:off x="5541264" y="2098688"/>
            <a:ext cx="420624" cy="183138"/>
          </a:xfrm>
          <a:prstGeom prst="rect">
            <a:avLst/>
          </a:prstGeom>
          <a:solidFill>
            <a:srgbClr val="C2352F"/>
          </a:solidFill>
          <a:ln w="6350">
            <a:solidFill>
              <a:srgbClr val="FFFFFF"/>
            </a:solidFill>
            <a:prstDash val="solid"/>
          </a:ln>
        </p:spPr>
      </p:sp>
      <p:sp>
        <p:nvSpPr>
          <p:cNvPr id="32" name="Text 30"/>
          <p:cNvSpPr txBox="1"/>
          <p:nvPr/>
        </p:nvSpPr>
        <p:spPr>
          <a:xfrm>
            <a:off x="5541264" y="2098688"/>
            <a:ext cx="4206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4" name="Shape 32"/>
          <p:cNvSpPr/>
          <p:nvPr/>
        </p:nvSpPr>
        <p:spPr>
          <a:xfrm>
            <a:off x="2807208" y="2339659"/>
            <a:ext cx="1892808" cy="183138"/>
          </a:xfrm>
          <a:prstGeom prst="rect">
            <a:avLst/>
          </a:prstGeom>
          <a:solidFill>
            <a:srgbClr val="12A566"/>
          </a:solidFill>
          <a:ln w="6350">
            <a:solidFill>
              <a:srgbClr val="FFFFFF"/>
            </a:solidFill>
            <a:prstDash val="solid"/>
          </a:ln>
        </p:spPr>
      </p:sp>
      <p:sp>
        <p:nvSpPr>
          <p:cNvPr id="35" name="Text 33"/>
          <p:cNvSpPr txBox="1"/>
          <p:nvPr/>
        </p:nvSpPr>
        <p:spPr>
          <a:xfrm>
            <a:off x="2807208" y="2339659"/>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36" name="Shape 34"/>
          <p:cNvSpPr/>
          <p:nvPr/>
        </p:nvSpPr>
        <p:spPr>
          <a:xfrm>
            <a:off x="4700016" y="2339659"/>
            <a:ext cx="914" cy="183138"/>
          </a:xfrm>
          <a:prstGeom prst="rect">
            <a:avLst/>
          </a:prstGeom>
          <a:solidFill>
            <a:srgbClr val="5B9BD5"/>
          </a:solidFill>
          <a:ln w="6350">
            <a:solidFill>
              <a:srgbClr val="FFFFFF"/>
            </a:solidFill>
            <a:prstDash val="solid"/>
          </a:ln>
        </p:spPr>
      </p:sp>
      <p:sp>
        <p:nvSpPr>
          <p:cNvPr id="37" name="Shape 35"/>
          <p:cNvSpPr/>
          <p:nvPr/>
        </p:nvSpPr>
        <p:spPr>
          <a:xfrm>
            <a:off x="4700016" y="2339659"/>
            <a:ext cx="1261872" cy="183138"/>
          </a:xfrm>
          <a:prstGeom prst="rect">
            <a:avLst/>
          </a:prstGeom>
          <a:solidFill>
            <a:srgbClr val="C2352F"/>
          </a:solidFill>
          <a:ln w="6350">
            <a:solidFill>
              <a:srgbClr val="FFFFFF"/>
            </a:solidFill>
            <a:prstDash val="solid"/>
          </a:ln>
        </p:spPr>
      </p:sp>
      <p:sp>
        <p:nvSpPr>
          <p:cNvPr id="38" name="Text 36"/>
          <p:cNvSpPr txBox="1"/>
          <p:nvPr/>
        </p:nvSpPr>
        <p:spPr>
          <a:xfrm>
            <a:off x="4700016" y="2339659"/>
            <a:ext cx="126187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39" name="Text 37"/>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807208" y="2580630"/>
            <a:ext cx="1802674" cy="183138"/>
          </a:xfrm>
          <a:prstGeom prst="rect">
            <a:avLst/>
          </a:prstGeom>
          <a:solidFill>
            <a:srgbClr val="12A566"/>
          </a:solidFill>
          <a:ln w="6350">
            <a:solidFill>
              <a:srgbClr val="FFFFFF"/>
            </a:solidFill>
            <a:prstDash val="solid"/>
          </a:ln>
        </p:spPr>
      </p:sp>
      <p:sp>
        <p:nvSpPr>
          <p:cNvPr id="41" name="Text 39"/>
          <p:cNvSpPr txBox="1"/>
          <p:nvPr/>
        </p:nvSpPr>
        <p:spPr>
          <a:xfrm>
            <a:off x="2807208" y="2580630"/>
            <a:ext cx="18026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42" name="Shape 40"/>
          <p:cNvSpPr/>
          <p:nvPr/>
        </p:nvSpPr>
        <p:spPr>
          <a:xfrm>
            <a:off x="4609882" y="2580630"/>
            <a:ext cx="788670" cy="183138"/>
          </a:xfrm>
          <a:prstGeom prst="rect">
            <a:avLst/>
          </a:prstGeom>
          <a:solidFill>
            <a:srgbClr val="5B9BD5"/>
          </a:solidFill>
          <a:ln w="6350">
            <a:solidFill>
              <a:srgbClr val="FFFFFF"/>
            </a:solidFill>
            <a:prstDash val="solid"/>
          </a:ln>
        </p:spPr>
      </p:sp>
      <p:sp>
        <p:nvSpPr>
          <p:cNvPr id="43" name="Text 41"/>
          <p:cNvSpPr txBox="1"/>
          <p:nvPr/>
        </p:nvSpPr>
        <p:spPr>
          <a:xfrm>
            <a:off x="4609882" y="2580630"/>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44" name="Shape 42"/>
          <p:cNvSpPr/>
          <p:nvPr/>
        </p:nvSpPr>
        <p:spPr>
          <a:xfrm>
            <a:off x="5398552" y="2580630"/>
            <a:ext cx="563336" cy="183138"/>
          </a:xfrm>
          <a:prstGeom prst="rect">
            <a:avLst/>
          </a:prstGeom>
          <a:solidFill>
            <a:srgbClr val="C2352F"/>
          </a:solidFill>
          <a:ln w="6350">
            <a:solidFill>
              <a:srgbClr val="FFFFFF"/>
            </a:solidFill>
            <a:prstDash val="solid"/>
          </a:ln>
        </p:spPr>
      </p:sp>
      <p:sp>
        <p:nvSpPr>
          <p:cNvPr id="45" name="Text 43"/>
          <p:cNvSpPr txBox="1"/>
          <p:nvPr/>
        </p:nvSpPr>
        <p:spPr>
          <a:xfrm>
            <a:off x="5398552" y="2580630"/>
            <a:ext cx="5633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46" name="Text 44"/>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47" name="Shape 45"/>
          <p:cNvSpPr/>
          <p:nvPr/>
        </p:nvSpPr>
        <p:spPr>
          <a:xfrm>
            <a:off x="2807208" y="2821602"/>
            <a:ext cx="1690007" cy="183138"/>
          </a:xfrm>
          <a:prstGeom prst="rect">
            <a:avLst/>
          </a:prstGeom>
          <a:solidFill>
            <a:srgbClr val="12A566"/>
          </a:solidFill>
          <a:ln w="6350">
            <a:solidFill>
              <a:srgbClr val="FFFFFF"/>
            </a:solidFill>
            <a:prstDash val="solid"/>
          </a:ln>
        </p:spPr>
      </p:sp>
      <p:sp>
        <p:nvSpPr>
          <p:cNvPr id="48" name="Text 46"/>
          <p:cNvSpPr txBox="1"/>
          <p:nvPr/>
        </p:nvSpPr>
        <p:spPr>
          <a:xfrm>
            <a:off x="2807208" y="2821602"/>
            <a:ext cx="16900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54</a:t>
            </a:r>
            <a:endParaRPr lang="en-US" sz="1300" dirty="0"/>
          </a:p>
        </p:txBody>
      </p:sp>
      <p:sp>
        <p:nvSpPr>
          <p:cNvPr id="49" name="Shape 47"/>
          <p:cNvSpPr/>
          <p:nvPr/>
        </p:nvSpPr>
        <p:spPr>
          <a:xfrm>
            <a:off x="4497215" y="2821602"/>
            <a:ext cx="1014004" cy="183138"/>
          </a:xfrm>
          <a:prstGeom prst="rect">
            <a:avLst/>
          </a:prstGeom>
          <a:solidFill>
            <a:srgbClr val="5B9BD5"/>
          </a:solidFill>
          <a:ln w="6350">
            <a:solidFill>
              <a:srgbClr val="FFFFFF"/>
            </a:solidFill>
            <a:prstDash val="solid"/>
          </a:ln>
        </p:spPr>
      </p:sp>
      <p:sp>
        <p:nvSpPr>
          <p:cNvPr id="50" name="Text 48"/>
          <p:cNvSpPr txBox="1"/>
          <p:nvPr/>
        </p:nvSpPr>
        <p:spPr>
          <a:xfrm>
            <a:off x="4497215" y="2821602"/>
            <a:ext cx="10140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51" name="Shape 49"/>
          <p:cNvSpPr/>
          <p:nvPr/>
        </p:nvSpPr>
        <p:spPr>
          <a:xfrm>
            <a:off x="5511219" y="2821602"/>
            <a:ext cx="450669" cy="183138"/>
          </a:xfrm>
          <a:prstGeom prst="rect">
            <a:avLst/>
          </a:prstGeom>
          <a:solidFill>
            <a:srgbClr val="C2352F"/>
          </a:solidFill>
          <a:ln w="6350">
            <a:solidFill>
              <a:srgbClr val="FFFFFF"/>
            </a:solidFill>
            <a:prstDash val="solid"/>
          </a:ln>
        </p:spPr>
      </p:sp>
      <p:sp>
        <p:nvSpPr>
          <p:cNvPr id="52" name="Text 50"/>
          <p:cNvSpPr txBox="1"/>
          <p:nvPr/>
        </p:nvSpPr>
        <p:spPr>
          <a:xfrm>
            <a:off x="5511219" y="2821602"/>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53" name="Text 51"/>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54" name="Shape 52"/>
          <p:cNvSpPr/>
          <p:nvPr/>
        </p:nvSpPr>
        <p:spPr>
          <a:xfrm>
            <a:off x="2807208" y="3062573"/>
            <a:ext cx="1577340" cy="183138"/>
          </a:xfrm>
          <a:prstGeom prst="rect">
            <a:avLst/>
          </a:prstGeom>
          <a:solidFill>
            <a:srgbClr val="12A566"/>
          </a:solidFill>
          <a:ln w="6350">
            <a:solidFill>
              <a:srgbClr val="FFFFFF"/>
            </a:solidFill>
            <a:prstDash val="solid"/>
          </a:ln>
        </p:spPr>
      </p:sp>
      <p:sp>
        <p:nvSpPr>
          <p:cNvPr id="55" name="Text 53"/>
          <p:cNvSpPr txBox="1"/>
          <p:nvPr/>
        </p:nvSpPr>
        <p:spPr>
          <a:xfrm>
            <a:off x="280720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6" name="Shape 54"/>
          <p:cNvSpPr/>
          <p:nvPr/>
        </p:nvSpPr>
        <p:spPr>
          <a:xfrm>
            <a:off x="4384548" y="3062573"/>
            <a:ext cx="914" cy="183138"/>
          </a:xfrm>
          <a:prstGeom prst="rect">
            <a:avLst/>
          </a:prstGeom>
          <a:solidFill>
            <a:srgbClr val="5B9BD5"/>
          </a:solidFill>
          <a:ln w="6350">
            <a:solidFill>
              <a:srgbClr val="FFFFFF"/>
            </a:solidFill>
            <a:prstDash val="solid"/>
          </a:ln>
        </p:spPr>
      </p:sp>
      <p:sp>
        <p:nvSpPr>
          <p:cNvPr id="57" name="Shape 55"/>
          <p:cNvSpPr/>
          <p:nvPr/>
        </p:nvSpPr>
        <p:spPr>
          <a:xfrm>
            <a:off x="4384548" y="3062573"/>
            <a:ext cx="1577340" cy="183138"/>
          </a:xfrm>
          <a:prstGeom prst="rect">
            <a:avLst/>
          </a:prstGeom>
          <a:solidFill>
            <a:srgbClr val="C2352F"/>
          </a:solidFill>
          <a:ln w="6350">
            <a:solidFill>
              <a:srgbClr val="FFFFFF"/>
            </a:solidFill>
            <a:prstDash val="solid"/>
          </a:ln>
        </p:spPr>
      </p:sp>
      <p:sp>
        <p:nvSpPr>
          <p:cNvPr id="58" name="Text 56"/>
          <p:cNvSpPr txBox="1"/>
          <p:nvPr/>
        </p:nvSpPr>
        <p:spPr>
          <a:xfrm>
            <a:off x="438454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9" name="Text 57"/>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0" name="Shape 58"/>
          <p:cNvSpPr/>
          <p:nvPr/>
        </p:nvSpPr>
        <p:spPr>
          <a:xfrm>
            <a:off x="2807208" y="3303544"/>
            <a:ext cx="1433945" cy="183138"/>
          </a:xfrm>
          <a:prstGeom prst="rect">
            <a:avLst/>
          </a:prstGeom>
          <a:solidFill>
            <a:srgbClr val="12A566"/>
          </a:solidFill>
          <a:ln w="6350">
            <a:solidFill>
              <a:srgbClr val="FFFFFF"/>
            </a:solidFill>
            <a:prstDash val="solid"/>
          </a:ln>
        </p:spPr>
      </p:sp>
      <p:sp>
        <p:nvSpPr>
          <p:cNvPr id="61" name="Text 59"/>
          <p:cNvSpPr txBox="1"/>
          <p:nvPr/>
        </p:nvSpPr>
        <p:spPr>
          <a:xfrm>
            <a:off x="2807208" y="3303544"/>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2" name="Shape 60"/>
          <p:cNvSpPr/>
          <p:nvPr/>
        </p:nvSpPr>
        <p:spPr>
          <a:xfrm>
            <a:off x="4241153" y="3303544"/>
            <a:ext cx="1147156" cy="183138"/>
          </a:xfrm>
          <a:prstGeom prst="rect">
            <a:avLst/>
          </a:prstGeom>
          <a:solidFill>
            <a:srgbClr val="5B9BD5"/>
          </a:solidFill>
          <a:ln w="6350">
            <a:solidFill>
              <a:srgbClr val="FFFFFF"/>
            </a:solidFill>
            <a:prstDash val="solid"/>
          </a:ln>
        </p:spPr>
      </p:sp>
      <p:sp>
        <p:nvSpPr>
          <p:cNvPr id="63" name="Text 61"/>
          <p:cNvSpPr txBox="1"/>
          <p:nvPr/>
        </p:nvSpPr>
        <p:spPr>
          <a:xfrm>
            <a:off x="4241153" y="3303544"/>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64" name="Shape 62"/>
          <p:cNvSpPr/>
          <p:nvPr/>
        </p:nvSpPr>
        <p:spPr>
          <a:xfrm>
            <a:off x="5388310" y="3303544"/>
            <a:ext cx="573578" cy="183138"/>
          </a:xfrm>
          <a:prstGeom prst="rect">
            <a:avLst/>
          </a:prstGeom>
          <a:solidFill>
            <a:srgbClr val="C2352F"/>
          </a:solidFill>
          <a:ln w="6350">
            <a:solidFill>
              <a:srgbClr val="FFFFFF"/>
            </a:solidFill>
            <a:prstDash val="solid"/>
          </a:ln>
        </p:spPr>
      </p:sp>
      <p:sp>
        <p:nvSpPr>
          <p:cNvPr id="65" name="Text 63"/>
          <p:cNvSpPr txBox="1"/>
          <p:nvPr/>
        </p:nvSpPr>
        <p:spPr>
          <a:xfrm>
            <a:off x="5388310" y="3303544"/>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66" name="Text 64"/>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7" name="Shape 65"/>
          <p:cNvSpPr/>
          <p:nvPr/>
        </p:nvSpPr>
        <p:spPr>
          <a:xfrm>
            <a:off x="2807208" y="3544516"/>
            <a:ext cx="1433945" cy="183138"/>
          </a:xfrm>
          <a:prstGeom prst="rect">
            <a:avLst/>
          </a:prstGeom>
          <a:solidFill>
            <a:srgbClr val="12A566"/>
          </a:solidFill>
          <a:ln w="6350">
            <a:solidFill>
              <a:srgbClr val="FFFFFF"/>
            </a:solidFill>
            <a:prstDash val="solid"/>
          </a:ln>
        </p:spPr>
      </p:sp>
      <p:sp>
        <p:nvSpPr>
          <p:cNvPr id="68" name="Text 66"/>
          <p:cNvSpPr txBox="1"/>
          <p:nvPr/>
        </p:nvSpPr>
        <p:spPr>
          <a:xfrm>
            <a:off x="2807208" y="3544516"/>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9" name="Shape 67"/>
          <p:cNvSpPr/>
          <p:nvPr/>
        </p:nvSpPr>
        <p:spPr>
          <a:xfrm>
            <a:off x="4241153" y="3544516"/>
            <a:ext cx="573578" cy="183138"/>
          </a:xfrm>
          <a:prstGeom prst="rect">
            <a:avLst/>
          </a:prstGeom>
          <a:solidFill>
            <a:srgbClr val="5B9BD5"/>
          </a:solidFill>
          <a:ln w="6350">
            <a:solidFill>
              <a:srgbClr val="FFFFFF"/>
            </a:solidFill>
            <a:prstDash val="solid"/>
          </a:ln>
        </p:spPr>
      </p:sp>
      <p:sp>
        <p:nvSpPr>
          <p:cNvPr id="70" name="Text 68"/>
          <p:cNvSpPr txBox="1"/>
          <p:nvPr/>
        </p:nvSpPr>
        <p:spPr>
          <a:xfrm>
            <a:off x="4241153" y="3544516"/>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71" name="Shape 69"/>
          <p:cNvSpPr/>
          <p:nvPr/>
        </p:nvSpPr>
        <p:spPr>
          <a:xfrm>
            <a:off x="4814732" y="3544516"/>
            <a:ext cx="1147156" cy="183138"/>
          </a:xfrm>
          <a:prstGeom prst="rect">
            <a:avLst/>
          </a:prstGeom>
          <a:solidFill>
            <a:srgbClr val="C2352F"/>
          </a:solidFill>
          <a:ln w="6350">
            <a:solidFill>
              <a:srgbClr val="FFFFFF"/>
            </a:solidFill>
            <a:prstDash val="solid"/>
          </a:ln>
        </p:spPr>
      </p:sp>
      <p:sp>
        <p:nvSpPr>
          <p:cNvPr id="72" name="Text 70"/>
          <p:cNvSpPr txBox="1"/>
          <p:nvPr/>
        </p:nvSpPr>
        <p:spPr>
          <a:xfrm>
            <a:off x="4814732" y="3544516"/>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73" name="Text 71"/>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74" name="Shape 72"/>
          <p:cNvSpPr/>
          <p:nvPr/>
        </p:nvSpPr>
        <p:spPr>
          <a:xfrm>
            <a:off x="2807208" y="3785487"/>
            <a:ext cx="1352006" cy="183138"/>
          </a:xfrm>
          <a:prstGeom prst="rect">
            <a:avLst/>
          </a:prstGeom>
          <a:solidFill>
            <a:srgbClr val="12A566"/>
          </a:solidFill>
          <a:ln w="6350">
            <a:solidFill>
              <a:srgbClr val="FFFFFF"/>
            </a:solidFill>
            <a:prstDash val="solid"/>
          </a:ln>
        </p:spPr>
      </p:sp>
      <p:sp>
        <p:nvSpPr>
          <p:cNvPr id="75" name="Text 73"/>
          <p:cNvSpPr txBox="1"/>
          <p:nvPr/>
        </p:nvSpPr>
        <p:spPr>
          <a:xfrm>
            <a:off x="2807208"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76" name="Shape 74"/>
          <p:cNvSpPr/>
          <p:nvPr/>
        </p:nvSpPr>
        <p:spPr>
          <a:xfrm>
            <a:off x="4159214" y="3785487"/>
            <a:ext cx="450669" cy="183138"/>
          </a:xfrm>
          <a:prstGeom prst="rect">
            <a:avLst/>
          </a:prstGeom>
          <a:solidFill>
            <a:srgbClr val="5B9BD5"/>
          </a:solidFill>
          <a:ln w="6350">
            <a:solidFill>
              <a:srgbClr val="FFFFFF"/>
            </a:solidFill>
            <a:prstDash val="solid"/>
          </a:ln>
        </p:spPr>
      </p:sp>
      <p:sp>
        <p:nvSpPr>
          <p:cNvPr id="77" name="Text 75"/>
          <p:cNvSpPr txBox="1"/>
          <p:nvPr/>
        </p:nvSpPr>
        <p:spPr>
          <a:xfrm>
            <a:off x="4159214" y="3785487"/>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78" name="Shape 76"/>
          <p:cNvSpPr/>
          <p:nvPr/>
        </p:nvSpPr>
        <p:spPr>
          <a:xfrm>
            <a:off x="4609882" y="3785487"/>
            <a:ext cx="1352006" cy="183138"/>
          </a:xfrm>
          <a:prstGeom prst="rect">
            <a:avLst/>
          </a:prstGeom>
          <a:solidFill>
            <a:srgbClr val="C2352F"/>
          </a:solidFill>
          <a:ln w="6350">
            <a:solidFill>
              <a:srgbClr val="FFFFFF"/>
            </a:solidFill>
            <a:prstDash val="solid"/>
          </a:ln>
        </p:spPr>
      </p:sp>
      <p:sp>
        <p:nvSpPr>
          <p:cNvPr id="79" name="Text 77"/>
          <p:cNvSpPr txBox="1"/>
          <p:nvPr/>
        </p:nvSpPr>
        <p:spPr>
          <a:xfrm>
            <a:off x="4609882"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80" name="Text 78"/>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81" name="Shape 79"/>
          <p:cNvSpPr/>
          <p:nvPr/>
        </p:nvSpPr>
        <p:spPr>
          <a:xfrm>
            <a:off x="2807208" y="4026458"/>
            <a:ext cx="1298986" cy="183138"/>
          </a:xfrm>
          <a:prstGeom prst="rect">
            <a:avLst/>
          </a:prstGeom>
          <a:solidFill>
            <a:srgbClr val="12A566"/>
          </a:solidFill>
          <a:ln w="6350">
            <a:solidFill>
              <a:srgbClr val="FFFFFF"/>
            </a:solidFill>
            <a:prstDash val="solid"/>
          </a:ln>
        </p:spPr>
      </p:sp>
      <p:sp>
        <p:nvSpPr>
          <p:cNvPr id="82" name="Text 80"/>
          <p:cNvSpPr txBox="1"/>
          <p:nvPr/>
        </p:nvSpPr>
        <p:spPr>
          <a:xfrm>
            <a:off x="2807208" y="4026458"/>
            <a:ext cx="12989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83" name="Shape 81"/>
          <p:cNvSpPr/>
          <p:nvPr/>
        </p:nvSpPr>
        <p:spPr>
          <a:xfrm>
            <a:off x="4106194" y="4026458"/>
            <a:ext cx="865991" cy="183138"/>
          </a:xfrm>
          <a:prstGeom prst="rect">
            <a:avLst/>
          </a:prstGeom>
          <a:solidFill>
            <a:srgbClr val="5B9BD5"/>
          </a:solidFill>
          <a:ln w="6350">
            <a:solidFill>
              <a:srgbClr val="FFFFFF"/>
            </a:solidFill>
            <a:prstDash val="solid"/>
          </a:ln>
        </p:spPr>
      </p:sp>
      <p:sp>
        <p:nvSpPr>
          <p:cNvPr id="84" name="Text 82"/>
          <p:cNvSpPr txBox="1"/>
          <p:nvPr/>
        </p:nvSpPr>
        <p:spPr>
          <a:xfrm>
            <a:off x="4106194" y="4026458"/>
            <a:ext cx="86599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85" name="Shape 83"/>
          <p:cNvSpPr/>
          <p:nvPr/>
        </p:nvSpPr>
        <p:spPr>
          <a:xfrm>
            <a:off x="4972184" y="4026458"/>
            <a:ext cx="989704" cy="183138"/>
          </a:xfrm>
          <a:prstGeom prst="rect">
            <a:avLst/>
          </a:prstGeom>
          <a:solidFill>
            <a:srgbClr val="C2352F"/>
          </a:solidFill>
          <a:ln w="6350">
            <a:solidFill>
              <a:srgbClr val="FFFFFF"/>
            </a:solidFill>
            <a:prstDash val="solid"/>
          </a:ln>
        </p:spPr>
      </p:sp>
      <p:sp>
        <p:nvSpPr>
          <p:cNvPr id="86" name="Text 84"/>
          <p:cNvSpPr txBox="1"/>
          <p:nvPr/>
        </p:nvSpPr>
        <p:spPr>
          <a:xfrm>
            <a:off x="4972184" y="4026458"/>
            <a:ext cx="9897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87" name="Text 85"/>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88" name="Shape 86"/>
          <p:cNvSpPr/>
          <p:nvPr/>
        </p:nvSpPr>
        <p:spPr>
          <a:xfrm>
            <a:off x="2807208" y="4267429"/>
            <a:ext cx="1226820" cy="183138"/>
          </a:xfrm>
          <a:prstGeom prst="rect">
            <a:avLst/>
          </a:prstGeom>
          <a:solidFill>
            <a:srgbClr val="12A566"/>
          </a:solidFill>
          <a:ln w="6350">
            <a:solidFill>
              <a:srgbClr val="FFFFFF"/>
            </a:solidFill>
            <a:prstDash val="solid"/>
          </a:ln>
        </p:spPr>
      </p:sp>
      <p:sp>
        <p:nvSpPr>
          <p:cNvPr id="89" name="Text 87"/>
          <p:cNvSpPr txBox="1"/>
          <p:nvPr/>
        </p:nvSpPr>
        <p:spPr>
          <a:xfrm>
            <a:off x="2807208" y="4267429"/>
            <a:ext cx="12268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90" name="Shape 88"/>
          <p:cNvSpPr/>
          <p:nvPr/>
        </p:nvSpPr>
        <p:spPr>
          <a:xfrm>
            <a:off x="4034028" y="4267429"/>
            <a:ext cx="876300" cy="183138"/>
          </a:xfrm>
          <a:prstGeom prst="rect">
            <a:avLst/>
          </a:prstGeom>
          <a:solidFill>
            <a:srgbClr val="5B9BD5"/>
          </a:solidFill>
          <a:ln w="6350">
            <a:solidFill>
              <a:srgbClr val="FFFFFF"/>
            </a:solidFill>
            <a:prstDash val="solid"/>
          </a:ln>
        </p:spPr>
      </p:sp>
      <p:sp>
        <p:nvSpPr>
          <p:cNvPr id="91" name="Text 89"/>
          <p:cNvSpPr txBox="1"/>
          <p:nvPr/>
        </p:nvSpPr>
        <p:spPr>
          <a:xfrm>
            <a:off x="4034028" y="4267429"/>
            <a:ext cx="8763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92" name="Shape 90"/>
          <p:cNvSpPr/>
          <p:nvPr/>
        </p:nvSpPr>
        <p:spPr>
          <a:xfrm>
            <a:off x="4910328" y="4267429"/>
            <a:ext cx="1051560" cy="183138"/>
          </a:xfrm>
          <a:prstGeom prst="rect">
            <a:avLst/>
          </a:prstGeom>
          <a:solidFill>
            <a:srgbClr val="C2352F"/>
          </a:solidFill>
          <a:ln w="6350">
            <a:solidFill>
              <a:srgbClr val="FFFFFF"/>
            </a:solidFill>
            <a:prstDash val="solid"/>
          </a:ln>
        </p:spPr>
      </p:sp>
      <p:sp>
        <p:nvSpPr>
          <p:cNvPr id="93" name="Text 91"/>
          <p:cNvSpPr txBox="1"/>
          <p:nvPr/>
        </p:nvSpPr>
        <p:spPr>
          <a:xfrm>
            <a:off x="4910328" y="4267429"/>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94" name="Text 92"/>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95" name="Shape 93"/>
          <p:cNvSpPr/>
          <p:nvPr/>
        </p:nvSpPr>
        <p:spPr>
          <a:xfrm>
            <a:off x="2807208" y="4508401"/>
            <a:ext cx="1176321" cy="183138"/>
          </a:xfrm>
          <a:prstGeom prst="rect">
            <a:avLst/>
          </a:prstGeom>
          <a:solidFill>
            <a:srgbClr val="12A566"/>
          </a:solidFill>
          <a:ln w="6350">
            <a:solidFill>
              <a:srgbClr val="FFFFFF"/>
            </a:solidFill>
            <a:prstDash val="solid"/>
          </a:ln>
        </p:spPr>
      </p:sp>
      <p:sp>
        <p:nvSpPr>
          <p:cNvPr id="96" name="Text 94"/>
          <p:cNvSpPr txBox="1"/>
          <p:nvPr/>
        </p:nvSpPr>
        <p:spPr>
          <a:xfrm>
            <a:off x="2807208" y="4508401"/>
            <a:ext cx="117632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97" name="Shape 95"/>
          <p:cNvSpPr/>
          <p:nvPr/>
        </p:nvSpPr>
        <p:spPr>
          <a:xfrm>
            <a:off x="3983529" y="4508401"/>
            <a:ext cx="908976" cy="183138"/>
          </a:xfrm>
          <a:prstGeom prst="rect">
            <a:avLst/>
          </a:prstGeom>
          <a:solidFill>
            <a:srgbClr val="5B9BD5"/>
          </a:solidFill>
          <a:ln w="6350">
            <a:solidFill>
              <a:srgbClr val="FFFFFF"/>
            </a:solidFill>
            <a:prstDash val="solid"/>
          </a:ln>
        </p:spPr>
      </p:sp>
      <p:sp>
        <p:nvSpPr>
          <p:cNvPr id="98" name="Text 96"/>
          <p:cNvSpPr txBox="1"/>
          <p:nvPr/>
        </p:nvSpPr>
        <p:spPr>
          <a:xfrm>
            <a:off x="3983529" y="4508401"/>
            <a:ext cx="90897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99" name="Shape 97"/>
          <p:cNvSpPr/>
          <p:nvPr/>
        </p:nvSpPr>
        <p:spPr>
          <a:xfrm>
            <a:off x="4892505" y="4508401"/>
            <a:ext cx="1069383" cy="183138"/>
          </a:xfrm>
          <a:prstGeom prst="rect">
            <a:avLst/>
          </a:prstGeom>
          <a:solidFill>
            <a:srgbClr val="C2352F"/>
          </a:solidFill>
          <a:ln w="6350">
            <a:solidFill>
              <a:srgbClr val="FFFFFF"/>
            </a:solidFill>
            <a:prstDash val="solid"/>
          </a:ln>
        </p:spPr>
      </p:sp>
      <p:sp>
        <p:nvSpPr>
          <p:cNvPr id="100" name="Text 98"/>
          <p:cNvSpPr txBox="1"/>
          <p:nvPr/>
        </p:nvSpPr>
        <p:spPr>
          <a:xfrm>
            <a:off x="4892505" y="4508401"/>
            <a:ext cx="10693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2" name="Shape 100"/>
          <p:cNvSpPr/>
          <p:nvPr/>
        </p:nvSpPr>
        <p:spPr>
          <a:xfrm>
            <a:off x="2807208" y="4749372"/>
            <a:ext cx="1147156" cy="183138"/>
          </a:xfrm>
          <a:prstGeom prst="rect">
            <a:avLst/>
          </a:prstGeom>
          <a:solidFill>
            <a:srgbClr val="12A566"/>
          </a:solidFill>
          <a:ln w="6350">
            <a:solidFill>
              <a:srgbClr val="FFFFFF"/>
            </a:solidFill>
            <a:prstDash val="solid"/>
          </a:ln>
        </p:spPr>
      </p:sp>
      <p:sp>
        <p:nvSpPr>
          <p:cNvPr id="103" name="Text 101"/>
          <p:cNvSpPr txBox="1"/>
          <p:nvPr/>
        </p:nvSpPr>
        <p:spPr>
          <a:xfrm>
            <a:off x="2807208" y="4749372"/>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04" name="Shape 102"/>
          <p:cNvSpPr/>
          <p:nvPr/>
        </p:nvSpPr>
        <p:spPr>
          <a:xfrm>
            <a:off x="3954364" y="4749372"/>
            <a:ext cx="286789" cy="183138"/>
          </a:xfrm>
          <a:prstGeom prst="rect">
            <a:avLst/>
          </a:prstGeom>
          <a:solidFill>
            <a:srgbClr val="5B9BD5"/>
          </a:solidFill>
          <a:ln w="6350">
            <a:solidFill>
              <a:srgbClr val="FFFFFF"/>
            </a:solidFill>
            <a:prstDash val="solid"/>
          </a:ln>
        </p:spPr>
      </p:sp>
      <p:sp>
        <p:nvSpPr>
          <p:cNvPr id="105" name="Text 103"/>
          <p:cNvSpPr txBox="1"/>
          <p:nvPr/>
        </p:nvSpPr>
        <p:spPr>
          <a:xfrm>
            <a:off x="3954364" y="4749372"/>
            <a:ext cx="28678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9</a:t>
            </a:r>
            <a:endParaRPr lang="en-US" sz="1300" dirty="0"/>
          </a:p>
        </p:txBody>
      </p:sp>
      <p:sp>
        <p:nvSpPr>
          <p:cNvPr id="106" name="Shape 104"/>
          <p:cNvSpPr/>
          <p:nvPr/>
        </p:nvSpPr>
        <p:spPr>
          <a:xfrm>
            <a:off x="4241153" y="4749372"/>
            <a:ext cx="1720735" cy="183138"/>
          </a:xfrm>
          <a:prstGeom prst="rect">
            <a:avLst/>
          </a:prstGeom>
          <a:solidFill>
            <a:srgbClr val="C2352F"/>
          </a:solidFill>
          <a:ln w="6350">
            <a:solidFill>
              <a:srgbClr val="FFFFFF"/>
            </a:solidFill>
            <a:prstDash val="solid"/>
          </a:ln>
        </p:spPr>
      </p:sp>
      <p:sp>
        <p:nvSpPr>
          <p:cNvPr id="107" name="Text 105"/>
          <p:cNvSpPr txBox="1"/>
          <p:nvPr/>
        </p:nvSpPr>
        <p:spPr>
          <a:xfrm>
            <a:off x="4241153" y="4749372"/>
            <a:ext cx="1720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9" name="Shape 107"/>
          <p:cNvSpPr/>
          <p:nvPr/>
        </p:nvSpPr>
        <p:spPr>
          <a:xfrm>
            <a:off x="2807208" y="4990343"/>
            <a:ext cx="1147156" cy="183138"/>
          </a:xfrm>
          <a:prstGeom prst="rect">
            <a:avLst/>
          </a:prstGeom>
          <a:solidFill>
            <a:srgbClr val="12A566"/>
          </a:solidFill>
          <a:ln w="6350">
            <a:solidFill>
              <a:srgbClr val="FFFFFF"/>
            </a:solidFill>
            <a:prstDash val="solid"/>
          </a:ln>
        </p:spPr>
      </p:sp>
      <p:sp>
        <p:nvSpPr>
          <p:cNvPr id="110" name="Text 108"/>
          <p:cNvSpPr txBox="1"/>
          <p:nvPr/>
        </p:nvSpPr>
        <p:spPr>
          <a:xfrm>
            <a:off x="2807208" y="4990343"/>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11" name="Shape 109"/>
          <p:cNvSpPr/>
          <p:nvPr/>
        </p:nvSpPr>
        <p:spPr>
          <a:xfrm>
            <a:off x="3954364" y="4990343"/>
            <a:ext cx="573578" cy="183138"/>
          </a:xfrm>
          <a:prstGeom prst="rect">
            <a:avLst/>
          </a:prstGeom>
          <a:solidFill>
            <a:srgbClr val="5B9BD5"/>
          </a:solidFill>
          <a:ln w="6350">
            <a:solidFill>
              <a:srgbClr val="FFFFFF"/>
            </a:solidFill>
            <a:prstDash val="solid"/>
          </a:ln>
        </p:spPr>
      </p:sp>
      <p:sp>
        <p:nvSpPr>
          <p:cNvPr id="112" name="Text 110"/>
          <p:cNvSpPr txBox="1"/>
          <p:nvPr/>
        </p:nvSpPr>
        <p:spPr>
          <a:xfrm>
            <a:off x="3954364" y="4990343"/>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13" name="Shape 111"/>
          <p:cNvSpPr/>
          <p:nvPr/>
        </p:nvSpPr>
        <p:spPr>
          <a:xfrm>
            <a:off x="4527943" y="4990343"/>
            <a:ext cx="1433945" cy="183138"/>
          </a:xfrm>
          <a:prstGeom prst="rect">
            <a:avLst/>
          </a:prstGeom>
          <a:solidFill>
            <a:srgbClr val="C2352F"/>
          </a:solidFill>
          <a:ln w="6350">
            <a:solidFill>
              <a:srgbClr val="FFFFFF"/>
            </a:solidFill>
            <a:prstDash val="solid"/>
          </a:ln>
        </p:spPr>
      </p:sp>
      <p:sp>
        <p:nvSpPr>
          <p:cNvPr id="114" name="Text 112"/>
          <p:cNvSpPr txBox="1"/>
          <p:nvPr/>
        </p:nvSpPr>
        <p:spPr>
          <a:xfrm>
            <a:off x="4527943" y="4990343"/>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6" name="Shape 114"/>
          <p:cNvSpPr/>
          <p:nvPr/>
        </p:nvSpPr>
        <p:spPr>
          <a:xfrm>
            <a:off x="2807208" y="5231315"/>
            <a:ext cx="1051560" cy="183138"/>
          </a:xfrm>
          <a:prstGeom prst="rect">
            <a:avLst/>
          </a:prstGeom>
          <a:solidFill>
            <a:srgbClr val="12A566"/>
          </a:solidFill>
          <a:ln w="6350">
            <a:solidFill>
              <a:srgbClr val="FFFFFF"/>
            </a:solidFill>
            <a:prstDash val="solid"/>
          </a:ln>
        </p:spPr>
      </p:sp>
      <p:sp>
        <p:nvSpPr>
          <p:cNvPr id="117" name="Text 115"/>
          <p:cNvSpPr txBox="1"/>
          <p:nvPr/>
        </p:nvSpPr>
        <p:spPr>
          <a:xfrm>
            <a:off x="2807208" y="5231315"/>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18" name="Shape 116"/>
          <p:cNvSpPr/>
          <p:nvPr/>
        </p:nvSpPr>
        <p:spPr>
          <a:xfrm>
            <a:off x="3858768" y="5231315"/>
            <a:ext cx="914" cy="183138"/>
          </a:xfrm>
          <a:prstGeom prst="rect">
            <a:avLst/>
          </a:prstGeom>
          <a:solidFill>
            <a:srgbClr val="5B9BD5"/>
          </a:solidFill>
          <a:ln w="6350">
            <a:solidFill>
              <a:srgbClr val="FFFFFF"/>
            </a:solidFill>
            <a:prstDash val="solid"/>
          </a:ln>
        </p:spPr>
      </p:sp>
      <p:sp>
        <p:nvSpPr>
          <p:cNvPr id="119" name="Shape 117"/>
          <p:cNvSpPr/>
          <p:nvPr/>
        </p:nvSpPr>
        <p:spPr>
          <a:xfrm>
            <a:off x="3858768" y="5231315"/>
            <a:ext cx="2103120" cy="183138"/>
          </a:xfrm>
          <a:prstGeom prst="rect">
            <a:avLst/>
          </a:prstGeom>
          <a:solidFill>
            <a:srgbClr val="C2352F"/>
          </a:solidFill>
          <a:ln w="6350">
            <a:solidFill>
              <a:srgbClr val="FFFFFF"/>
            </a:solidFill>
            <a:prstDash val="solid"/>
          </a:ln>
        </p:spPr>
      </p:sp>
      <p:sp>
        <p:nvSpPr>
          <p:cNvPr id="120" name="Text 118"/>
          <p:cNvSpPr txBox="1"/>
          <p:nvPr/>
        </p:nvSpPr>
        <p:spPr>
          <a:xfrm>
            <a:off x="3858768" y="5231315"/>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21" name="Text 119"/>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22" name="Shape 120"/>
          <p:cNvSpPr/>
          <p:nvPr/>
        </p:nvSpPr>
        <p:spPr>
          <a:xfrm>
            <a:off x="2807208" y="5472286"/>
            <a:ext cx="1051560" cy="183138"/>
          </a:xfrm>
          <a:prstGeom prst="rect">
            <a:avLst/>
          </a:prstGeom>
          <a:solidFill>
            <a:srgbClr val="12A566"/>
          </a:solidFill>
          <a:ln w="6350">
            <a:solidFill>
              <a:srgbClr val="FFFFFF"/>
            </a:solidFill>
            <a:prstDash val="solid"/>
          </a:ln>
        </p:spPr>
      </p:sp>
      <p:sp>
        <p:nvSpPr>
          <p:cNvPr id="123" name="Text 121"/>
          <p:cNvSpPr txBox="1"/>
          <p:nvPr/>
        </p:nvSpPr>
        <p:spPr>
          <a:xfrm>
            <a:off x="2807208" y="547228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24" name="Shape 122"/>
          <p:cNvSpPr/>
          <p:nvPr/>
        </p:nvSpPr>
        <p:spPr>
          <a:xfrm>
            <a:off x="3858768" y="5472286"/>
            <a:ext cx="817880" cy="183138"/>
          </a:xfrm>
          <a:prstGeom prst="rect">
            <a:avLst/>
          </a:prstGeom>
          <a:solidFill>
            <a:srgbClr val="5B9BD5"/>
          </a:solidFill>
          <a:ln w="6350">
            <a:solidFill>
              <a:srgbClr val="FFFFFF"/>
            </a:solidFill>
            <a:prstDash val="solid"/>
          </a:ln>
        </p:spPr>
      </p:sp>
      <p:sp>
        <p:nvSpPr>
          <p:cNvPr id="125" name="Text 123"/>
          <p:cNvSpPr txBox="1"/>
          <p:nvPr/>
        </p:nvSpPr>
        <p:spPr>
          <a:xfrm>
            <a:off x="3858768" y="5472286"/>
            <a:ext cx="8178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26" name="Shape 124"/>
          <p:cNvSpPr/>
          <p:nvPr/>
        </p:nvSpPr>
        <p:spPr>
          <a:xfrm>
            <a:off x="4676648" y="5472286"/>
            <a:ext cx="1285240" cy="183138"/>
          </a:xfrm>
          <a:prstGeom prst="rect">
            <a:avLst/>
          </a:prstGeom>
          <a:solidFill>
            <a:srgbClr val="C2352F"/>
          </a:solidFill>
          <a:ln w="6350">
            <a:solidFill>
              <a:srgbClr val="FFFFFF"/>
            </a:solidFill>
            <a:prstDash val="solid"/>
          </a:ln>
        </p:spPr>
      </p:sp>
      <p:sp>
        <p:nvSpPr>
          <p:cNvPr id="127" name="Text 125"/>
          <p:cNvSpPr txBox="1"/>
          <p:nvPr/>
        </p:nvSpPr>
        <p:spPr>
          <a:xfrm>
            <a:off x="4676648" y="5472286"/>
            <a:ext cx="12852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28" name="Text 126"/>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29" name="Shape 127"/>
          <p:cNvSpPr/>
          <p:nvPr/>
        </p:nvSpPr>
        <p:spPr>
          <a:xfrm>
            <a:off x="2807208" y="5713257"/>
            <a:ext cx="996215" cy="183138"/>
          </a:xfrm>
          <a:prstGeom prst="rect">
            <a:avLst/>
          </a:prstGeom>
          <a:solidFill>
            <a:srgbClr val="12A566"/>
          </a:solidFill>
          <a:ln w="6350">
            <a:solidFill>
              <a:srgbClr val="FFFFFF"/>
            </a:solidFill>
            <a:prstDash val="solid"/>
          </a:ln>
        </p:spPr>
      </p:sp>
      <p:sp>
        <p:nvSpPr>
          <p:cNvPr id="130" name="Text 128"/>
          <p:cNvSpPr txBox="1"/>
          <p:nvPr/>
        </p:nvSpPr>
        <p:spPr>
          <a:xfrm>
            <a:off x="2807208"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1" name="Shape 129"/>
          <p:cNvSpPr/>
          <p:nvPr/>
        </p:nvSpPr>
        <p:spPr>
          <a:xfrm>
            <a:off x="3803423" y="5713257"/>
            <a:ext cx="1162251" cy="183138"/>
          </a:xfrm>
          <a:prstGeom prst="rect">
            <a:avLst/>
          </a:prstGeom>
          <a:solidFill>
            <a:srgbClr val="5B9BD5"/>
          </a:solidFill>
          <a:ln w="6350">
            <a:solidFill>
              <a:srgbClr val="FFFFFF"/>
            </a:solidFill>
            <a:prstDash val="solid"/>
          </a:ln>
        </p:spPr>
      </p:sp>
      <p:sp>
        <p:nvSpPr>
          <p:cNvPr id="132" name="Text 130"/>
          <p:cNvSpPr txBox="1"/>
          <p:nvPr/>
        </p:nvSpPr>
        <p:spPr>
          <a:xfrm>
            <a:off x="3803423" y="5713257"/>
            <a:ext cx="11622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133" name="Shape 131"/>
          <p:cNvSpPr/>
          <p:nvPr/>
        </p:nvSpPr>
        <p:spPr>
          <a:xfrm>
            <a:off x="4965673" y="5713257"/>
            <a:ext cx="996215" cy="183138"/>
          </a:xfrm>
          <a:prstGeom prst="rect">
            <a:avLst/>
          </a:prstGeom>
          <a:solidFill>
            <a:srgbClr val="C2352F"/>
          </a:solidFill>
          <a:ln w="6350">
            <a:solidFill>
              <a:srgbClr val="FFFFFF"/>
            </a:solidFill>
            <a:prstDash val="solid"/>
          </a:ln>
        </p:spPr>
      </p:sp>
      <p:sp>
        <p:nvSpPr>
          <p:cNvPr id="134" name="Text 132"/>
          <p:cNvSpPr txBox="1"/>
          <p:nvPr/>
        </p:nvSpPr>
        <p:spPr>
          <a:xfrm>
            <a:off x="4965673"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5" name="Text 133"/>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36" name="Shape 134"/>
          <p:cNvSpPr/>
          <p:nvPr/>
        </p:nvSpPr>
        <p:spPr>
          <a:xfrm>
            <a:off x="8357616" y="1857717"/>
            <a:ext cx="985838" cy="183138"/>
          </a:xfrm>
          <a:prstGeom prst="rect">
            <a:avLst/>
          </a:prstGeom>
          <a:solidFill>
            <a:srgbClr val="12A566"/>
          </a:solidFill>
          <a:ln w="6350">
            <a:solidFill>
              <a:srgbClr val="FFFFFF"/>
            </a:solidFill>
            <a:prstDash val="solid"/>
          </a:ln>
        </p:spPr>
      </p:sp>
      <p:sp>
        <p:nvSpPr>
          <p:cNvPr id="137" name="Text 135"/>
          <p:cNvSpPr txBox="1"/>
          <p:nvPr/>
        </p:nvSpPr>
        <p:spPr>
          <a:xfrm>
            <a:off x="8357616" y="1857717"/>
            <a:ext cx="9858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138" name="Shape 136"/>
          <p:cNvSpPr/>
          <p:nvPr/>
        </p:nvSpPr>
        <p:spPr>
          <a:xfrm>
            <a:off x="9343454" y="1857717"/>
            <a:ext cx="591503" cy="183138"/>
          </a:xfrm>
          <a:prstGeom prst="rect">
            <a:avLst/>
          </a:prstGeom>
          <a:solidFill>
            <a:srgbClr val="5B9BD5"/>
          </a:solidFill>
          <a:ln w="6350">
            <a:solidFill>
              <a:srgbClr val="FFFFFF"/>
            </a:solidFill>
            <a:prstDash val="solid"/>
          </a:ln>
        </p:spPr>
      </p:sp>
      <p:sp>
        <p:nvSpPr>
          <p:cNvPr id="139" name="Text 137"/>
          <p:cNvSpPr txBox="1"/>
          <p:nvPr/>
        </p:nvSpPr>
        <p:spPr>
          <a:xfrm>
            <a:off x="9343454" y="1857717"/>
            <a:ext cx="5915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19</a:t>
            </a:r>
            <a:endParaRPr lang="en-US" sz="1300" dirty="0"/>
          </a:p>
        </p:txBody>
      </p:sp>
      <p:sp>
        <p:nvSpPr>
          <p:cNvPr id="140" name="Shape 138"/>
          <p:cNvSpPr/>
          <p:nvPr/>
        </p:nvSpPr>
        <p:spPr>
          <a:xfrm>
            <a:off x="9934956" y="1857717"/>
            <a:ext cx="1577340" cy="183138"/>
          </a:xfrm>
          <a:prstGeom prst="rect">
            <a:avLst/>
          </a:prstGeom>
          <a:solidFill>
            <a:srgbClr val="C2352F"/>
          </a:solidFill>
          <a:ln w="6350">
            <a:solidFill>
              <a:srgbClr val="FFFFFF"/>
            </a:solidFill>
            <a:prstDash val="solid"/>
          </a:ln>
        </p:spPr>
      </p:sp>
      <p:sp>
        <p:nvSpPr>
          <p:cNvPr id="141" name="Text 139"/>
          <p:cNvSpPr txBox="1"/>
          <p:nvPr/>
        </p:nvSpPr>
        <p:spPr>
          <a:xfrm>
            <a:off x="9934956" y="1857717"/>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42" name="Text 140"/>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357616" y="2098688"/>
            <a:ext cx="901337" cy="183138"/>
          </a:xfrm>
          <a:prstGeom prst="rect">
            <a:avLst/>
          </a:prstGeom>
          <a:solidFill>
            <a:srgbClr val="12A566"/>
          </a:solidFill>
          <a:ln w="6350">
            <a:solidFill>
              <a:srgbClr val="FFFFFF"/>
            </a:solidFill>
            <a:prstDash val="solid"/>
          </a:ln>
        </p:spPr>
      </p:sp>
      <p:sp>
        <p:nvSpPr>
          <p:cNvPr id="144" name="Text 142"/>
          <p:cNvSpPr txBox="1"/>
          <p:nvPr/>
        </p:nvSpPr>
        <p:spPr>
          <a:xfrm>
            <a:off x="8357616" y="2098688"/>
            <a:ext cx="9013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45" name="Shape 143"/>
          <p:cNvSpPr/>
          <p:nvPr/>
        </p:nvSpPr>
        <p:spPr>
          <a:xfrm>
            <a:off x="9258953" y="2098688"/>
            <a:ext cx="225334" cy="183138"/>
          </a:xfrm>
          <a:prstGeom prst="rect">
            <a:avLst/>
          </a:prstGeom>
          <a:solidFill>
            <a:srgbClr val="5B9BD5"/>
          </a:solidFill>
          <a:ln w="6350">
            <a:solidFill>
              <a:srgbClr val="FFFFFF"/>
            </a:solidFill>
            <a:prstDash val="solid"/>
          </a:ln>
        </p:spPr>
      </p:sp>
      <p:sp>
        <p:nvSpPr>
          <p:cNvPr id="146" name="Text 144"/>
          <p:cNvSpPr txBox="1"/>
          <p:nvPr/>
        </p:nvSpPr>
        <p:spPr>
          <a:xfrm>
            <a:off x="9258953" y="2098688"/>
            <a:ext cx="2253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a:t>
            </a:r>
            <a:endParaRPr lang="en-US" sz="1300" dirty="0"/>
          </a:p>
        </p:txBody>
      </p:sp>
      <p:sp>
        <p:nvSpPr>
          <p:cNvPr id="147" name="Shape 145"/>
          <p:cNvSpPr/>
          <p:nvPr/>
        </p:nvSpPr>
        <p:spPr>
          <a:xfrm>
            <a:off x="9484287" y="2098688"/>
            <a:ext cx="2028009" cy="183138"/>
          </a:xfrm>
          <a:prstGeom prst="rect">
            <a:avLst/>
          </a:prstGeom>
          <a:solidFill>
            <a:srgbClr val="C2352F"/>
          </a:solidFill>
          <a:ln w="6350">
            <a:solidFill>
              <a:srgbClr val="FFFFFF"/>
            </a:solidFill>
            <a:prstDash val="solid"/>
          </a:ln>
        </p:spPr>
      </p:sp>
      <p:sp>
        <p:nvSpPr>
          <p:cNvPr id="148" name="Text 146"/>
          <p:cNvSpPr txBox="1"/>
          <p:nvPr/>
        </p:nvSpPr>
        <p:spPr>
          <a:xfrm>
            <a:off x="9484287" y="2098688"/>
            <a:ext cx="20280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149" name="Text 147"/>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50" name="Shape 148"/>
          <p:cNvSpPr/>
          <p:nvPr/>
        </p:nvSpPr>
        <p:spPr>
          <a:xfrm>
            <a:off x="8357616" y="2339659"/>
            <a:ext cx="870257" cy="183138"/>
          </a:xfrm>
          <a:prstGeom prst="rect">
            <a:avLst/>
          </a:prstGeom>
          <a:solidFill>
            <a:srgbClr val="12A566"/>
          </a:solidFill>
          <a:ln w="6350">
            <a:solidFill>
              <a:srgbClr val="FFFFFF"/>
            </a:solidFill>
            <a:prstDash val="solid"/>
          </a:ln>
        </p:spPr>
      </p:sp>
      <p:sp>
        <p:nvSpPr>
          <p:cNvPr id="151" name="Text 149"/>
          <p:cNvSpPr txBox="1"/>
          <p:nvPr/>
        </p:nvSpPr>
        <p:spPr>
          <a:xfrm>
            <a:off x="8357616" y="2339659"/>
            <a:ext cx="8702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152" name="Shape 150"/>
          <p:cNvSpPr/>
          <p:nvPr/>
        </p:nvSpPr>
        <p:spPr>
          <a:xfrm>
            <a:off x="9227873" y="2339659"/>
            <a:ext cx="543910" cy="183138"/>
          </a:xfrm>
          <a:prstGeom prst="rect">
            <a:avLst/>
          </a:prstGeom>
          <a:solidFill>
            <a:srgbClr val="5B9BD5"/>
          </a:solidFill>
          <a:ln w="6350">
            <a:solidFill>
              <a:srgbClr val="FFFFFF"/>
            </a:solidFill>
            <a:prstDash val="solid"/>
          </a:ln>
        </p:spPr>
      </p:sp>
      <p:sp>
        <p:nvSpPr>
          <p:cNvPr id="153" name="Text 151"/>
          <p:cNvSpPr txBox="1"/>
          <p:nvPr/>
        </p:nvSpPr>
        <p:spPr>
          <a:xfrm>
            <a:off x="9227873" y="2339659"/>
            <a:ext cx="5439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54" name="Shape 152"/>
          <p:cNvSpPr/>
          <p:nvPr/>
        </p:nvSpPr>
        <p:spPr>
          <a:xfrm>
            <a:off x="9771783" y="2339659"/>
            <a:ext cx="1740513" cy="183138"/>
          </a:xfrm>
          <a:prstGeom prst="rect">
            <a:avLst/>
          </a:prstGeom>
          <a:solidFill>
            <a:srgbClr val="C2352F"/>
          </a:solidFill>
          <a:ln w="6350">
            <a:solidFill>
              <a:srgbClr val="FFFFFF"/>
            </a:solidFill>
            <a:prstDash val="solid"/>
          </a:ln>
        </p:spPr>
      </p:sp>
      <p:sp>
        <p:nvSpPr>
          <p:cNvPr id="155" name="Text 153"/>
          <p:cNvSpPr txBox="1"/>
          <p:nvPr/>
        </p:nvSpPr>
        <p:spPr>
          <a:xfrm>
            <a:off x="9771783" y="2339659"/>
            <a:ext cx="17405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Text 154"/>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7" name="Shape 155"/>
          <p:cNvSpPr/>
          <p:nvPr/>
        </p:nvSpPr>
        <p:spPr>
          <a:xfrm>
            <a:off x="8357616" y="2580630"/>
            <a:ext cx="860367" cy="183138"/>
          </a:xfrm>
          <a:prstGeom prst="rect">
            <a:avLst/>
          </a:prstGeom>
          <a:solidFill>
            <a:srgbClr val="12A566"/>
          </a:solidFill>
          <a:ln w="6350">
            <a:solidFill>
              <a:srgbClr val="FFFFFF"/>
            </a:solidFill>
            <a:prstDash val="solid"/>
          </a:ln>
        </p:spPr>
      </p:sp>
      <p:sp>
        <p:nvSpPr>
          <p:cNvPr id="158" name="Text 156"/>
          <p:cNvSpPr txBox="1"/>
          <p:nvPr/>
        </p:nvSpPr>
        <p:spPr>
          <a:xfrm>
            <a:off x="8357616" y="2580630"/>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59" name="Shape 157"/>
          <p:cNvSpPr/>
          <p:nvPr/>
        </p:nvSpPr>
        <p:spPr>
          <a:xfrm>
            <a:off x="9217983" y="2580630"/>
            <a:ext cx="914" cy="183138"/>
          </a:xfrm>
          <a:prstGeom prst="rect">
            <a:avLst/>
          </a:prstGeom>
          <a:solidFill>
            <a:srgbClr val="5B9BD5"/>
          </a:solidFill>
          <a:ln w="6350">
            <a:solidFill>
              <a:srgbClr val="FFFFFF"/>
            </a:solidFill>
            <a:prstDash val="solid"/>
          </a:ln>
        </p:spPr>
      </p:sp>
      <p:sp>
        <p:nvSpPr>
          <p:cNvPr id="160" name="Shape 158"/>
          <p:cNvSpPr/>
          <p:nvPr/>
        </p:nvSpPr>
        <p:spPr>
          <a:xfrm>
            <a:off x="9217983" y="2580630"/>
            <a:ext cx="2294313" cy="183138"/>
          </a:xfrm>
          <a:prstGeom prst="rect">
            <a:avLst/>
          </a:prstGeom>
          <a:solidFill>
            <a:srgbClr val="C2352F"/>
          </a:solidFill>
          <a:ln w="6350">
            <a:solidFill>
              <a:srgbClr val="FFFFFF"/>
            </a:solidFill>
            <a:prstDash val="solid"/>
          </a:ln>
        </p:spPr>
      </p:sp>
      <p:sp>
        <p:nvSpPr>
          <p:cNvPr id="161" name="Text 159"/>
          <p:cNvSpPr txBox="1"/>
          <p:nvPr/>
        </p:nvSpPr>
        <p:spPr>
          <a:xfrm>
            <a:off x="9217983" y="2580630"/>
            <a:ext cx="22943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73</a:t>
            </a:r>
            <a:endParaRPr lang="en-US" sz="1300" dirty="0"/>
          </a:p>
        </p:txBody>
      </p:sp>
      <p:sp>
        <p:nvSpPr>
          <p:cNvPr id="162" name="Text 160"/>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63" name="Shape 161"/>
          <p:cNvSpPr/>
          <p:nvPr/>
        </p:nvSpPr>
        <p:spPr>
          <a:xfrm>
            <a:off x="8357616" y="2821602"/>
            <a:ext cx="860367" cy="183138"/>
          </a:xfrm>
          <a:prstGeom prst="rect">
            <a:avLst/>
          </a:prstGeom>
          <a:solidFill>
            <a:srgbClr val="12A566"/>
          </a:solidFill>
          <a:ln w="6350">
            <a:solidFill>
              <a:srgbClr val="FFFFFF"/>
            </a:solidFill>
            <a:prstDash val="solid"/>
          </a:ln>
        </p:spPr>
      </p:sp>
      <p:sp>
        <p:nvSpPr>
          <p:cNvPr id="164" name="Text 162"/>
          <p:cNvSpPr txBox="1"/>
          <p:nvPr/>
        </p:nvSpPr>
        <p:spPr>
          <a:xfrm>
            <a:off x="8357616" y="2821602"/>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65" name="Shape 163"/>
          <p:cNvSpPr/>
          <p:nvPr/>
        </p:nvSpPr>
        <p:spPr>
          <a:xfrm>
            <a:off x="9217983" y="2821602"/>
            <a:ext cx="716973" cy="183138"/>
          </a:xfrm>
          <a:prstGeom prst="rect">
            <a:avLst/>
          </a:prstGeom>
          <a:solidFill>
            <a:srgbClr val="5B9BD5"/>
          </a:solidFill>
          <a:ln w="6350">
            <a:solidFill>
              <a:srgbClr val="FFFFFF"/>
            </a:solidFill>
            <a:prstDash val="solid"/>
          </a:ln>
        </p:spPr>
      </p:sp>
      <p:sp>
        <p:nvSpPr>
          <p:cNvPr id="166" name="Text 164"/>
          <p:cNvSpPr txBox="1"/>
          <p:nvPr/>
        </p:nvSpPr>
        <p:spPr>
          <a:xfrm>
            <a:off x="9217983" y="2821602"/>
            <a:ext cx="7169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23</a:t>
            </a:r>
            <a:endParaRPr lang="en-US" sz="1300" dirty="0"/>
          </a:p>
        </p:txBody>
      </p:sp>
      <p:sp>
        <p:nvSpPr>
          <p:cNvPr id="167" name="Shape 165"/>
          <p:cNvSpPr/>
          <p:nvPr/>
        </p:nvSpPr>
        <p:spPr>
          <a:xfrm>
            <a:off x="9934956" y="2821602"/>
            <a:ext cx="1577340" cy="183138"/>
          </a:xfrm>
          <a:prstGeom prst="rect">
            <a:avLst/>
          </a:prstGeom>
          <a:solidFill>
            <a:srgbClr val="C2352F"/>
          </a:solidFill>
          <a:ln w="6350">
            <a:solidFill>
              <a:srgbClr val="FFFFFF"/>
            </a:solidFill>
            <a:prstDash val="solid"/>
          </a:ln>
        </p:spPr>
      </p:sp>
      <p:sp>
        <p:nvSpPr>
          <p:cNvPr id="168" name="Text 166"/>
          <p:cNvSpPr txBox="1"/>
          <p:nvPr/>
        </p:nvSpPr>
        <p:spPr>
          <a:xfrm>
            <a:off x="9934956" y="2821602"/>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69" name="Text 167"/>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70" name="Shape 168"/>
          <p:cNvSpPr/>
          <p:nvPr/>
        </p:nvSpPr>
        <p:spPr>
          <a:xfrm>
            <a:off x="8357616" y="3062573"/>
            <a:ext cx="822960" cy="183138"/>
          </a:xfrm>
          <a:prstGeom prst="rect">
            <a:avLst/>
          </a:prstGeom>
          <a:solidFill>
            <a:srgbClr val="12A566"/>
          </a:solidFill>
          <a:ln w="6350">
            <a:solidFill>
              <a:srgbClr val="FFFFFF"/>
            </a:solidFill>
            <a:prstDash val="solid"/>
          </a:ln>
        </p:spPr>
      </p:sp>
      <p:sp>
        <p:nvSpPr>
          <p:cNvPr id="171" name="Text 169"/>
          <p:cNvSpPr txBox="1"/>
          <p:nvPr/>
        </p:nvSpPr>
        <p:spPr>
          <a:xfrm>
            <a:off x="8357616" y="3062573"/>
            <a:ext cx="8229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72" name="Shape 170"/>
          <p:cNvSpPr/>
          <p:nvPr/>
        </p:nvSpPr>
        <p:spPr>
          <a:xfrm>
            <a:off x="9180576" y="3062573"/>
            <a:ext cx="548640" cy="183138"/>
          </a:xfrm>
          <a:prstGeom prst="rect">
            <a:avLst/>
          </a:prstGeom>
          <a:solidFill>
            <a:srgbClr val="5B9BD5"/>
          </a:solidFill>
          <a:ln w="6350">
            <a:solidFill>
              <a:srgbClr val="FFFFFF"/>
            </a:solidFill>
            <a:prstDash val="solid"/>
          </a:ln>
        </p:spPr>
      </p:sp>
      <p:sp>
        <p:nvSpPr>
          <p:cNvPr id="173" name="Text 171"/>
          <p:cNvSpPr txBox="1"/>
          <p:nvPr/>
        </p:nvSpPr>
        <p:spPr>
          <a:xfrm>
            <a:off x="9180576" y="3062573"/>
            <a:ext cx="5486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74" name="Shape 172"/>
          <p:cNvSpPr/>
          <p:nvPr/>
        </p:nvSpPr>
        <p:spPr>
          <a:xfrm>
            <a:off x="9729216" y="3062573"/>
            <a:ext cx="1783080" cy="183138"/>
          </a:xfrm>
          <a:prstGeom prst="rect">
            <a:avLst/>
          </a:prstGeom>
          <a:solidFill>
            <a:srgbClr val="C2352F"/>
          </a:solidFill>
          <a:ln w="6350">
            <a:solidFill>
              <a:srgbClr val="FFFFFF"/>
            </a:solidFill>
            <a:prstDash val="solid"/>
          </a:ln>
        </p:spPr>
      </p:sp>
      <p:sp>
        <p:nvSpPr>
          <p:cNvPr id="175" name="Text 173"/>
          <p:cNvSpPr txBox="1"/>
          <p:nvPr/>
        </p:nvSpPr>
        <p:spPr>
          <a:xfrm>
            <a:off x="9729216" y="3062573"/>
            <a:ext cx="17830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76" name="Text 174"/>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77" name="Shape 175"/>
          <p:cNvSpPr/>
          <p:nvPr/>
        </p:nvSpPr>
        <p:spPr>
          <a:xfrm>
            <a:off x="8357616" y="3303544"/>
            <a:ext cx="556708" cy="183138"/>
          </a:xfrm>
          <a:prstGeom prst="rect">
            <a:avLst/>
          </a:prstGeom>
          <a:solidFill>
            <a:srgbClr val="12A566"/>
          </a:solidFill>
          <a:ln w="6350">
            <a:solidFill>
              <a:srgbClr val="FFFFFF"/>
            </a:solidFill>
            <a:prstDash val="solid"/>
          </a:ln>
        </p:spPr>
      </p:sp>
      <p:sp>
        <p:nvSpPr>
          <p:cNvPr id="178" name="Text 176"/>
          <p:cNvSpPr txBox="1"/>
          <p:nvPr/>
        </p:nvSpPr>
        <p:spPr>
          <a:xfrm>
            <a:off x="8357616" y="3303544"/>
            <a:ext cx="556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79" name="Shape 177"/>
          <p:cNvSpPr/>
          <p:nvPr/>
        </p:nvSpPr>
        <p:spPr>
          <a:xfrm>
            <a:off x="8914324" y="3303544"/>
            <a:ext cx="1113416" cy="183138"/>
          </a:xfrm>
          <a:prstGeom prst="rect">
            <a:avLst/>
          </a:prstGeom>
          <a:solidFill>
            <a:srgbClr val="5B9BD5"/>
          </a:solidFill>
          <a:ln w="6350">
            <a:solidFill>
              <a:srgbClr val="FFFFFF"/>
            </a:solidFill>
            <a:prstDash val="solid"/>
          </a:ln>
        </p:spPr>
      </p:sp>
      <p:sp>
        <p:nvSpPr>
          <p:cNvPr id="180" name="Text 178"/>
          <p:cNvSpPr txBox="1"/>
          <p:nvPr/>
        </p:nvSpPr>
        <p:spPr>
          <a:xfrm>
            <a:off x="8914324" y="3303544"/>
            <a:ext cx="11134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81" name="Shape 179"/>
          <p:cNvSpPr/>
          <p:nvPr/>
        </p:nvSpPr>
        <p:spPr>
          <a:xfrm>
            <a:off x="10027741" y="3303544"/>
            <a:ext cx="1484555" cy="183138"/>
          </a:xfrm>
          <a:prstGeom prst="rect">
            <a:avLst/>
          </a:prstGeom>
          <a:solidFill>
            <a:srgbClr val="C2352F"/>
          </a:solidFill>
          <a:ln w="6350">
            <a:solidFill>
              <a:srgbClr val="FFFFFF"/>
            </a:solidFill>
            <a:prstDash val="solid"/>
          </a:ln>
        </p:spPr>
      </p:sp>
      <p:sp>
        <p:nvSpPr>
          <p:cNvPr id="182" name="Text 180"/>
          <p:cNvSpPr txBox="1"/>
          <p:nvPr/>
        </p:nvSpPr>
        <p:spPr>
          <a:xfrm>
            <a:off x="10027741" y="3303544"/>
            <a:ext cx="1484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3" name="Text 181"/>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4" name="Shape 182"/>
          <p:cNvSpPr/>
          <p:nvPr/>
        </p:nvSpPr>
        <p:spPr>
          <a:xfrm>
            <a:off x="8357616" y="3544516"/>
            <a:ext cx="525780" cy="183138"/>
          </a:xfrm>
          <a:prstGeom prst="rect">
            <a:avLst/>
          </a:prstGeom>
          <a:solidFill>
            <a:srgbClr val="12A566"/>
          </a:solidFill>
          <a:ln w="6350">
            <a:solidFill>
              <a:srgbClr val="FFFFFF"/>
            </a:solidFill>
            <a:prstDash val="solid"/>
          </a:ln>
        </p:spPr>
      </p:sp>
      <p:sp>
        <p:nvSpPr>
          <p:cNvPr id="185" name="Text 183"/>
          <p:cNvSpPr txBox="1"/>
          <p:nvPr/>
        </p:nvSpPr>
        <p:spPr>
          <a:xfrm>
            <a:off x="8357616" y="3544516"/>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86" name="Shape 184"/>
          <p:cNvSpPr/>
          <p:nvPr/>
        </p:nvSpPr>
        <p:spPr>
          <a:xfrm>
            <a:off x="8883396" y="3544516"/>
            <a:ext cx="1577340" cy="183138"/>
          </a:xfrm>
          <a:prstGeom prst="rect">
            <a:avLst/>
          </a:prstGeom>
          <a:solidFill>
            <a:srgbClr val="5B9BD5"/>
          </a:solidFill>
          <a:ln w="6350">
            <a:solidFill>
              <a:srgbClr val="FFFFFF"/>
            </a:solidFill>
            <a:prstDash val="solid"/>
          </a:ln>
        </p:spPr>
      </p:sp>
      <p:sp>
        <p:nvSpPr>
          <p:cNvPr id="187" name="Text 185"/>
          <p:cNvSpPr txBox="1"/>
          <p:nvPr/>
        </p:nvSpPr>
        <p:spPr>
          <a:xfrm>
            <a:off x="8883396" y="3544516"/>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88" name="Shape 186"/>
          <p:cNvSpPr/>
          <p:nvPr/>
        </p:nvSpPr>
        <p:spPr>
          <a:xfrm>
            <a:off x="10460736" y="3544516"/>
            <a:ext cx="1051560" cy="183138"/>
          </a:xfrm>
          <a:prstGeom prst="rect">
            <a:avLst/>
          </a:prstGeom>
          <a:solidFill>
            <a:srgbClr val="C2352F"/>
          </a:solidFill>
          <a:ln w="6350">
            <a:solidFill>
              <a:srgbClr val="FFFFFF"/>
            </a:solidFill>
            <a:prstDash val="solid"/>
          </a:ln>
        </p:spPr>
      </p:sp>
      <p:sp>
        <p:nvSpPr>
          <p:cNvPr id="189" name="Text 187"/>
          <p:cNvSpPr txBox="1"/>
          <p:nvPr/>
        </p:nvSpPr>
        <p:spPr>
          <a:xfrm>
            <a:off x="10460736" y="354451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90" name="Text 188"/>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91" name="Shape 189"/>
          <p:cNvSpPr/>
          <p:nvPr/>
        </p:nvSpPr>
        <p:spPr>
          <a:xfrm>
            <a:off x="8357616" y="3785487"/>
            <a:ext cx="350520" cy="183138"/>
          </a:xfrm>
          <a:prstGeom prst="rect">
            <a:avLst/>
          </a:prstGeom>
          <a:solidFill>
            <a:srgbClr val="12A566"/>
          </a:solidFill>
          <a:ln w="6350">
            <a:solidFill>
              <a:srgbClr val="FFFFFF"/>
            </a:solidFill>
            <a:prstDash val="solid"/>
          </a:ln>
        </p:spPr>
      </p:sp>
      <p:sp>
        <p:nvSpPr>
          <p:cNvPr id="192" name="Text 190"/>
          <p:cNvSpPr txBox="1"/>
          <p:nvPr/>
        </p:nvSpPr>
        <p:spPr>
          <a:xfrm>
            <a:off x="8357616" y="3785487"/>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193" name="Shape 191"/>
          <p:cNvSpPr/>
          <p:nvPr/>
        </p:nvSpPr>
        <p:spPr>
          <a:xfrm>
            <a:off x="8708136" y="3785487"/>
            <a:ext cx="701040" cy="183138"/>
          </a:xfrm>
          <a:prstGeom prst="rect">
            <a:avLst/>
          </a:prstGeom>
          <a:solidFill>
            <a:srgbClr val="5B9BD5"/>
          </a:solidFill>
          <a:ln w="6350">
            <a:solidFill>
              <a:srgbClr val="FFFFFF"/>
            </a:solidFill>
            <a:prstDash val="solid"/>
          </a:ln>
        </p:spPr>
      </p:sp>
      <p:sp>
        <p:nvSpPr>
          <p:cNvPr id="194" name="Text 192"/>
          <p:cNvSpPr txBox="1"/>
          <p:nvPr/>
        </p:nvSpPr>
        <p:spPr>
          <a:xfrm>
            <a:off x="8708136" y="3785487"/>
            <a:ext cx="7010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195" name="Shape 193"/>
          <p:cNvSpPr/>
          <p:nvPr/>
        </p:nvSpPr>
        <p:spPr>
          <a:xfrm>
            <a:off x="9409176" y="3785487"/>
            <a:ext cx="2103120" cy="183138"/>
          </a:xfrm>
          <a:prstGeom prst="rect">
            <a:avLst/>
          </a:prstGeom>
          <a:solidFill>
            <a:srgbClr val="C2352F"/>
          </a:solidFill>
          <a:ln w="6350">
            <a:solidFill>
              <a:srgbClr val="FFFFFF"/>
            </a:solidFill>
            <a:prstDash val="solid"/>
          </a:ln>
        </p:spPr>
      </p:sp>
      <p:sp>
        <p:nvSpPr>
          <p:cNvPr id="196" name="Text 194"/>
          <p:cNvSpPr txBox="1"/>
          <p:nvPr/>
        </p:nvSpPr>
        <p:spPr>
          <a:xfrm>
            <a:off x="9409176" y="3785487"/>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97" name="Text 195"/>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8" name="Shape 196"/>
          <p:cNvSpPr/>
          <p:nvPr/>
        </p:nvSpPr>
        <p:spPr>
          <a:xfrm>
            <a:off x="8357616" y="4026458"/>
            <a:ext cx="315468" cy="183138"/>
          </a:xfrm>
          <a:prstGeom prst="rect">
            <a:avLst/>
          </a:prstGeom>
          <a:solidFill>
            <a:srgbClr val="12A566"/>
          </a:solidFill>
          <a:ln w="6350">
            <a:solidFill>
              <a:srgbClr val="FFFFFF"/>
            </a:solidFill>
            <a:prstDash val="solid"/>
          </a:ln>
        </p:spPr>
      </p:sp>
      <p:sp>
        <p:nvSpPr>
          <p:cNvPr id="199" name="Text 197"/>
          <p:cNvSpPr txBox="1"/>
          <p:nvPr/>
        </p:nvSpPr>
        <p:spPr>
          <a:xfrm>
            <a:off x="8357616"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0" name="Shape 198"/>
          <p:cNvSpPr/>
          <p:nvPr/>
        </p:nvSpPr>
        <p:spPr>
          <a:xfrm>
            <a:off x="8673084" y="4026458"/>
            <a:ext cx="315468" cy="183138"/>
          </a:xfrm>
          <a:prstGeom prst="rect">
            <a:avLst/>
          </a:prstGeom>
          <a:solidFill>
            <a:srgbClr val="5B9BD5"/>
          </a:solidFill>
          <a:ln w="6350">
            <a:solidFill>
              <a:srgbClr val="FFFFFF"/>
            </a:solidFill>
            <a:prstDash val="solid"/>
          </a:ln>
        </p:spPr>
      </p:sp>
      <p:sp>
        <p:nvSpPr>
          <p:cNvPr id="201" name="Text 199"/>
          <p:cNvSpPr txBox="1"/>
          <p:nvPr/>
        </p:nvSpPr>
        <p:spPr>
          <a:xfrm>
            <a:off x="8673084"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2" name="Shape 200"/>
          <p:cNvSpPr/>
          <p:nvPr/>
        </p:nvSpPr>
        <p:spPr>
          <a:xfrm>
            <a:off x="8988552" y="4026458"/>
            <a:ext cx="2523744" cy="183138"/>
          </a:xfrm>
          <a:prstGeom prst="rect">
            <a:avLst/>
          </a:prstGeom>
          <a:solidFill>
            <a:srgbClr val="C2352F"/>
          </a:solidFill>
          <a:ln w="6350">
            <a:solidFill>
              <a:srgbClr val="FFFFFF"/>
            </a:solidFill>
            <a:prstDash val="solid"/>
          </a:ln>
        </p:spPr>
      </p:sp>
      <p:sp>
        <p:nvSpPr>
          <p:cNvPr id="203" name="Text 201"/>
          <p:cNvSpPr txBox="1"/>
          <p:nvPr/>
        </p:nvSpPr>
        <p:spPr>
          <a:xfrm>
            <a:off x="8988552" y="4026458"/>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04" name="Text 202"/>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05" name="Shape 203"/>
          <p:cNvSpPr/>
          <p:nvPr/>
        </p:nvSpPr>
        <p:spPr>
          <a:xfrm>
            <a:off x="8357616" y="4267429"/>
            <a:ext cx="315468" cy="183138"/>
          </a:xfrm>
          <a:prstGeom prst="rect">
            <a:avLst/>
          </a:prstGeom>
          <a:solidFill>
            <a:srgbClr val="12A566"/>
          </a:solidFill>
          <a:ln w="6350">
            <a:solidFill>
              <a:srgbClr val="FFFFFF"/>
            </a:solidFill>
            <a:prstDash val="solid"/>
          </a:ln>
        </p:spPr>
      </p:sp>
      <p:sp>
        <p:nvSpPr>
          <p:cNvPr id="206" name="Text 204"/>
          <p:cNvSpPr txBox="1"/>
          <p:nvPr/>
        </p:nvSpPr>
        <p:spPr>
          <a:xfrm>
            <a:off x="8357616"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7" name="Shape 205"/>
          <p:cNvSpPr/>
          <p:nvPr/>
        </p:nvSpPr>
        <p:spPr>
          <a:xfrm>
            <a:off x="8673084" y="4267429"/>
            <a:ext cx="315468" cy="183138"/>
          </a:xfrm>
          <a:prstGeom prst="rect">
            <a:avLst/>
          </a:prstGeom>
          <a:solidFill>
            <a:srgbClr val="5B9BD5"/>
          </a:solidFill>
          <a:ln w="6350">
            <a:solidFill>
              <a:srgbClr val="FFFFFF"/>
            </a:solidFill>
            <a:prstDash val="solid"/>
          </a:ln>
        </p:spPr>
      </p:sp>
      <p:sp>
        <p:nvSpPr>
          <p:cNvPr id="208" name="Text 206"/>
          <p:cNvSpPr txBox="1"/>
          <p:nvPr/>
        </p:nvSpPr>
        <p:spPr>
          <a:xfrm>
            <a:off x="8673084"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9" name="Shape 207"/>
          <p:cNvSpPr/>
          <p:nvPr/>
        </p:nvSpPr>
        <p:spPr>
          <a:xfrm>
            <a:off x="8988552" y="4267429"/>
            <a:ext cx="2523744" cy="183138"/>
          </a:xfrm>
          <a:prstGeom prst="rect">
            <a:avLst/>
          </a:prstGeom>
          <a:solidFill>
            <a:srgbClr val="C2352F"/>
          </a:solidFill>
          <a:ln w="6350">
            <a:solidFill>
              <a:srgbClr val="FFFFFF"/>
            </a:solidFill>
            <a:prstDash val="solid"/>
          </a:ln>
        </p:spPr>
      </p:sp>
      <p:sp>
        <p:nvSpPr>
          <p:cNvPr id="210" name="Text 208"/>
          <p:cNvSpPr txBox="1"/>
          <p:nvPr/>
        </p:nvSpPr>
        <p:spPr>
          <a:xfrm>
            <a:off x="8988552" y="4267429"/>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11" name="Text 209"/>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2" name="Shape 210"/>
          <p:cNvSpPr/>
          <p:nvPr/>
        </p:nvSpPr>
        <p:spPr>
          <a:xfrm>
            <a:off x="8357616" y="4508401"/>
            <a:ext cx="262890" cy="183138"/>
          </a:xfrm>
          <a:prstGeom prst="rect">
            <a:avLst/>
          </a:prstGeom>
          <a:solidFill>
            <a:srgbClr val="12A566"/>
          </a:solidFill>
          <a:ln w="6350">
            <a:solidFill>
              <a:srgbClr val="FFFFFF"/>
            </a:solidFill>
            <a:prstDash val="solid"/>
          </a:ln>
        </p:spPr>
      </p:sp>
      <p:sp>
        <p:nvSpPr>
          <p:cNvPr id="213" name="Text 211"/>
          <p:cNvSpPr txBox="1"/>
          <p:nvPr/>
        </p:nvSpPr>
        <p:spPr>
          <a:xfrm>
            <a:off x="8357616" y="4508401"/>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14" name="Shape 212"/>
          <p:cNvSpPr/>
          <p:nvPr/>
        </p:nvSpPr>
        <p:spPr>
          <a:xfrm>
            <a:off x="8620506" y="4508401"/>
            <a:ext cx="1051560" cy="183138"/>
          </a:xfrm>
          <a:prstGeom prst="rect">
            <a:avLst/>
          </a:prstGeom>
          <a:solidFill>
            <a:srgbClr val="5B9BD5"/>
          </a:solidFill>
          <a:ln w="6350">
            <a:solidFill>
              <a:srgbClr val="FFFFFF"/>
            </a:solidFill>
            <a:prstDash val="solid"/>
          </a:ln>
        </p:spPr>
      </p:sp>
      <p:sp>
        <p:nvSpPr>
          <p:cNvPr id="215" name="Text 213"/>
          <p:cNvSpPr txBox="1"/>
          <p:nvPr/>
        </p:nvSpPr>
        <p:spPr>
          <a:xfrm>
            <a:off x="8620506" y="4508401"/>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16" name="Shape 214"/>
          <p:cNvSpPr/>
          <p:nvPr/>
        </p:nvSpPr>
        <p:spPr>
          <a:xfrm>
            <a:off x="9672066" y="4508401"/>
            <a:ext cx="1840230" cy="183138"/>
          </a:xfrm>
          <a:prstGeom prst="rect">
            <a:avLst/>
          </a:prstGeom>
          <a:solidFill>
            <a:srgbClr val="C2352F"/>
          </a:solidFill>
          <a:ln w="6350">
            <a:solidFill>
              <a:srgbClr val="FFFFFF"/>
            </a:solidFill>
            <a:prstDash val="solid"/>
          </a:ln>
        </p:spPr>
      </p:sp>
      <p:sp>
        <p:nvSpPr>
          <p:cNvPr id="217" name="Text 215"/>
          <p:cNvSpPr txBox="1"/>
          <p:nvPr/>
        </p:nvSpPr>
        <p:spPr>
          <a:xfrm>
            <a:off x="9672066" y="4508401"/>
            <a:ext cx="18402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218" name="Text 216"/>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9" name="Shape 217"/>
          <p:cNvSpPr/>
          <p:nvPr/>
        </p:nvSpPr>
        <p:spPr>
          <a:xfrm>
            <a:off x="8357616" y="4749372"/>
            <a:ext cx="262890" cy="183138"/>
          </a:xfrm>
          <a:prstGeom prst="rect">
            <a:avLst/>
          </a:prstGeom>
          <a:solidFill>
            <a:srgbClr val="12A566"/>
          </a:solidFill>
          <a:ln w="6350">
            <a:solidFill>
              <a:srgbClr val="FFFFFF"/>
            </a:solidFill>
            <a:prstDash val="solid"/>
          </a:ln>
        </p:spPr>
      </p:sp>
      <p:sp>
        <p:nvSpPr>
          <p:cNvPr id="220" name="Text 218"/>
          <p:cNvSpPr txBox="1"/>
          <p:nvPr/>
        </p:nvSpPr>
        <p:spPr>
          <a:xfrm>
            <a:off x="8357616" y="4749372"/>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21" name="Shape 219"/>
          <p:cNvSpPr/>
          <p:nvPr/>
        </p:nvSpPr>
        <p:spPr>
          <a:xfrm>
            <a:off x="8620506" y="4749372"/>
            <a:ext cx="525780" cy="183138"/>
          </a:xfrm>
          <a:prstGeom prst="rect">
            <a:avLst/>
          </a:prstGeom>
          <a:solidFill>
            <a:srgbClr val="5B9BD5"/>
          </a:solidFill>
          <a:ln w="6350">
            <a:solidFill>
              <a:srgbClr val="FFFFFF"/>
            </a:solidFill>
            <a:prstDash val="solid"/>
          </a:ln>
        </p:spPr>
      </p:sp>
      <p:sp>
        <p:nvSpPr>
          <p:cNvPr id="222" name="Text 220"/>
          <p:cNvSpPr txBox="1"/>
          <p:nvPr/>
        </p:nvSpPr>
        <p:spPr>
          <a:xfrm>
            <a:off x="8620506" y="4749372"/>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223" name="Shape 221"/>
          <p:cNvSpPr/>
          <p:nvPr/>
        </p:nvSpPr>
        <p:spPr>
          <a:xfrm>
            <a:off x="9146286" y="4749372"/>
            <a:ext cx="2366010" cy="183138"/>
          </a:xfrm>
          <a:prstGeom prst="rect">
            <a:avLst/>
          </a:prstGeom>
          <a:solidFill>
            <a:srgbClr val="C2352F"/>
          </a:solidFill>
          <a:ln w="6350">
            <a:solidFill>
              <a:srgbClr val="FFFFFF"/>
            </a:solidFill>
            <a:prstDash val="solid"/>
          </a:ln>
        </p:spPr>
      </p:sp>
      <p:sp>
        <p:nvSpPr>
          <p:cNvPr id="224" name="Text 222"/>
          <p:cNvSpPr txBox="1"/>
          <p:nvPr/>
        </p:nvSpPr>
        <p:spPr>
          <a:xfrm>
            <a:off x="9146286" y="4749372"/>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25" name="Text 223"/>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26" name="Shape 224"/>
          <p:cNvSpPr/>
          <p:nvPr/>
        </p:nvSpPr>
        <p:spPr>
          <a:xfrm>
            <a:off x="8357616" y="4990343"/>
            <a:ext cx="914" cy="183138"/>
          </a:xfrm>
          <a:prstGeom prst="rect">
            <a:avLst/>
          </a:prstGeom>
          <a:solidFill>
            <a:srgbClr val="12A566"/>
          </a:solidFill>
          <a:ln w="6350">
            <a:solidFill>
              <a:srgbClr val="FFFFFF"/>
            </a:solidFill>
            <a:prstDash val="solid"/>
          </a:ln>
        </p:spPr>
      </p:sp>
      <p:sp>
        <p:nvSpPr>
          <p:cNvPr id="227" name="Shape 225"/>
          <p:cNvSpPr/>
          <p:nvPr/>
        </p:nvSpPr>
        <p:spPr>
          <a:xfrm>
            <a:off x="8357616" y="4990343"/>
            <a:ext cx="914" cy="183138"/>
          </a:xfrm>
          <a:prstGeom prst="rect">
            <a:avLst/>
          </a:prstGeom>
          <a:solidFill>
            <a:srgbClr val="5B9BD5"/>
          </a:solidFill>
          <a:ln w="6350">
            <a:solidFill>
              <a:srgbClr val="FFFFFF"/>
            </a:solidFill>
            <a:prstDash val="solid"/>
          </a:ln>
        </p:spPr>
      </p:sp>
      <p:sp>
        <p:nvSpPr>
          <p:cNvPr id="228" name="Shape 226"/>
          <p:cNvSpPr/>
          <p:nvPr/>
        </p:nvSpPr>
        <p:spPr>
          <a:xfrm>
            <a:off x="8357616" y="4990343"/>
            <a:ext cx="3154680" cy="183138"/>
          </a:xfrm>
          <a:prstGeom prst="rect">
            <a:avLst/>
          </a:prstGeom>
          <a:solidFill>
            <a:srgbClr val="C2352F"/>
          </a:solidFill>
          <a:ln w="6350">
            <a:solidFill>
              <a:srgbClr val="FFFFFF"/>
            </a:solidFill>
            <a:prstDash val="solid"/>
          </a:ln>
        </p:spPr>
      </p:sp>
      <p:sp>
        <p:nvSpPr>
          <p:cNvPr id="229" name="Text 227"/>
          <p:cNvSpPr txBox="1"/>
          <p:nvPr/>
        </p:nvSpPr>
        <p:spPr>
          <a:xfrm>
            <a:off x="8357616" y="4990343"/>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30" name="Text 228"/>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231" name="Shape 229"/>
          <p:cNvSpPr/>
          <p:nvPr/>
        </p:nvSpPr>
        <p:spPr>
          <a:xfrm>
            <a:off x="8357616" y="5231315"/>
            <a:ext cx="914" cy="183138"/>
          </a:xfrm>
          <a:prstGeom prst="rect">
            <a:avLst/>
          </a:prstGeom>
          <a:solidFill>
            <a:srgbClr val="12A566"/>
          </a:solidFill>
          <a:ln w="6350">
            <a:solidFill>
              <a:srgbClr val="FFFFFF"/>
            </a:solidFill>
            <a:prstDash val="solid"/>
          </a:ln>
        </p:spPr>
      </p:sp>
      <p:sp>
        <p:nvSpPr>
          <p:cNvPr id="232" name="Shape 230"/>
          <p:cNvSpPr/>
          <p:nvPr/>
        </p:nvSpPr>
        <p:spPr>
          <a:xfrm>
            <a:off x="8357616" y="5231315"/>
            <a:ext cx="350520" cy="183138"/>
          </a:xfrm>
          <a:prstGeom prst="rect">
            <a:avLst/>
          </a:prstGeom>
          <a:solidFill>
            <a:srgbClr val="5B9BD5"/>
          </a:solidFill>
          <a:ln w="6350">
            <a:solidFill>
              <a:srgbClr val="FFFFFF"/>
            </a:solidFill>
            <a:prstDash val="solid"/>
          </a:ln>
        </p:spPr>
      </p:sp>
      <p:sp>
        <p:nvSpPr>
          <p:cNvPr id="233" name="Text 231"/>
          <p:cNvSpPr txBox="1"/>
          <p:nvPr/>
        </p:nvSpPr>
        <p:spPr>
          <a:xfrm>
            <a:off x="8357616" y="5231315"/>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234" name="Shape 232"/>
          <p:cNvSpPr/>
          <p:nvPr/>
        </p:nvSpPr>
        <p:spPr>
          <a:xfrm>
            <a:off x="8708136" y="5231315"/>
            <a:ext cx="2804160" cy="183138"/>
          </a:xfrm>
          <a:prstGeom prst="rect">
            <a:avLst/>
          </a:prstGeom>
          <a:solidFill>
            <a:srgbClr val="C2352F"/>
          </a:solidFill>
          <a:ln w="6350">
            <a:solidFill>
              <a:srgbClr val="FFFFFF"/>
            </a:solidFill>
            <a:prstDash val="solid"/>
          </a:ln>
        </p:spPr>
      </p:sp>
      <p:sp>
        <p:nvSpPr>
          <p:cNvPr id="235" name="Text 233"/>
          <p:cNvSpPr txBox="1"/>
          <p:nvPr/>
        </p:nvSpPr>
        <p:spPr>
          <a:xfrm>
            <a:off x="8708136" y="5231315"/>
            <a:ext cx="28041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89</a:t>
            </a:r>
            <a:endParaRPr lang="en-US" sz="1300" dirty="0"/>
          </a:p>
        </p:txBody>
      </p:sp>
      <p:sp>
        <p:nvSpPr>
          <p:cNvPr id="236" name="Text 234"/>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7" name="Shape 235"/>
          <p:cNvSpPr/>
          <p:nvPr/>
        </p:nvSpPr>
        <p:spPr>
          <a:xfrm>
            <a:off x="8357616" y="5472286"/>
            <a:ext cx="914" cy="183138"/>
          </a:xfrm>
          <a:prstGeom prst="rect">
            <a:avLst/>
          </a:prstGeom>
          <a:solidFill>
            <a:srgbClr val="12A566"/>
          </a:solidFill>
          <a:ln w="6350">
            <a:solidFill>
              <a:srgbClr val="FFFFFF"/>
            </a:solidFill>
            <a:prstDash val="solid"/>
          </a:ln>
        </p:spPr>
      </p:sp>
      <p:sp>
        <p:nvSpPr>
          <p:cNvPr id="238" name="Shape 236"/>
          <p:cNvSpPr/>
          <p:nvPr/>
        </p:nvSpPr>
        <p:spPr>
          <a:xfrm>
            <a:off x="8357616" y="5472286"/>
            <a:ext cx="914" cy="183138"/>
          </a:xfrm>
          <a:prstGeom prst="rect">
            <a:avLst/>
          </a:prstGeom>
          <a:solidFill>
            <a:srgbClr val="5B9BD5"/>
          </a:solidFill>
          <a:ln w="6350">
            <a:solidFill>
              <a:srgbClr val="FFFFFF"/>
            </a:solidFill>
            <a:prstDash val="solid"/>
          </a:ln>
        </p:spPr>
      </p:sp>
      <p:sp>
        <p:nvSpPr>
          <p:cNvPr id="239" name="Shape 237"/>
          <p:cNvSpPr/>
          <p:nvPr/>
        </p:nvSpPr>
        <p:spPr>
          <a:xfrm>
            <a:off x="8357616" y="5472286"/>
            <a:ext cx="3154680" cy="183138"/>
          </a:xfrm>
          <a:prstGeom prst="rect">
            <a:avLst/>
          </a:prstGeom>
          <a:solidFill>
            <a:srgbClr val="C2352F"/>
          </a:solidFill>
          <a:ln w="6350">
            <a:solidFill>
              <a:srgbClr val="FFFFFF"/>
            </a:solidFill>
            <a:prstDash val="solid"/>
          </a:ln>
        </p:spPr>
      </p:sp>
      <p:sp>
        <p:nvSpPr>
          <p:cNvPr id="240" name="Text 238"/>
          <p:cNvSpPr txBox="1"/>
          <p:nvPr/>
        </p:nvSpPr>
        <p:spPr>
          <a:xfrm>
            <a:off x="8357616" y="5472286"/>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41" name="Shape 239"/>
          <p:cNvSpPr/>
          <p:nvPr/>
        </p:nvSpPr>
        <p:spPr>
          <a:xfrm>
            <a:off x="457200" y="6126480"/>
            <a:ext cx="11274552" cy="615696"/>
          </a:xfrm>
          <a:prstGeom prst="rect">
            <a:avLst/>
          </a:prstGeom>
          <a:solidFill>
            <a:srgbClr val="EDF4FA"/>
          </a:solidFill>
          <a:ln/>
        </p:spPr>
      </p:sp>
      <p:sp>
        <p:nvSpPr>
          <p:cNvPr id="242" name="Text 24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Of 583 technicians, 198 are above 100% and 262 (45%) are under 85%. 14 stores have more than half their technicians under target.</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Proficiency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C2352F"/>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GROSS MISSED A MONTH</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$1.65M</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Labor $1.13M + parts $514K: 8.1% of the $20.44M a month our ROs generate.</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C2352F"/>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 PAY MISSED A MONTH</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$282K</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$1,080 a month for each tech under 85%. Same hours, bigger checks.</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C2352F"/>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HOURS NOT PRODUCED YTD</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79K</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8.3K hours a month on the clock and not flagged, below the 85% line alone. 48 full-time techs of capacity.</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2587C5"/>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TECHS UNDER 85%</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2C4A"/>
                </a:solidFill>
                <a:latin typeface="Inter" pitchFamily="34" charset="0"/>
                <a:ea typeface="Inter" pitchFamily="34" charset="-122"/>
                <a:cs typeface="Inter" pitchFamily="34" charset="-120"/>
              </a:rPr>
              <a:t>262</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Of 583 technicians (45%). Every store has at least one.</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No extra hours, no extra techs, no extra bays. The techs, bays and lifts are already here; the hour is spent whether it is flagged or not. An hour not produced today cannot be sold tomorrow.</a:t>
            </a:r>
            <a:endParaRPr lang="en-US" sz="1700" dirty="0"/>
          </a:p>
        </p:txBody>
      </p:sp>
      <p:sp>
        <p:nvSpPr>
          <p:cNvPr id="27" name="Shape 25"/>
          <p:cNvSpPr/>
          <p:nvPr/>
        </p:nvSpPr>
        <p:spPr>
          <a:xfrm>
            <a:off x="457200" y="6126480"/>
            <a:ext cx="11274552" cy="371856"/>
          </a:xfrm>
          <a:prstGeom prst="rect">
            <a:avLst/>
          </a:prstGeom>
          <a:solidFill>
            <a:srgbClr val="FBEBEA"/>
          </a:solidFill>
          <a:ln/>
        </p:spPr>
      </p:sp>
      <p:sp>
        <p:nvSpPr>
          <p:cNvPr id="28"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Lifting each tech under 85% to 85% is worth $1.65M a month in gross and $282K a month in tech pay.</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Proficiency Opportunity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7472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7" name="Text 5"/>
          <p:cNvSpPr txBox="1"/>
          <p:nvPr/>
        </p:nvSpPr>
        <p:spPr>
          <a:xfrm>
            <a:off x="4261104"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8" name="Text 6"/>
          <p:cNvSpPr txBox="1"/>
          <p:nvPr/>
        </p:nvSpPr>
        <p:spPr>
          <a:xfrm>
            <a:off x="5193792"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9" name="Text 7"/>
          <p:cNvSpPr txBox="1"/>
          <p:nvPr/>
        </p:nvSpPr>
        <p:spPr>
          <a:xfrm>
            <a:off x="9025128"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10" name="Text 8"/>
          <p:cNvSpPr txBox="1"/>
          <p:nvPr/>
        </p:nvSpPr>
        <p:spPr>
          <a:xfrm>
            <a:off x="9811512"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11" name="Text 9"/>
          <p:cNvSpPr txBox="1"/>
          <p:nvPr/>
        </p:nvSpPr>
        <p:spPr>
          <a:xfrm>
            <a:off x="10744200"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3" name="Shape 11"/>
          <p:cNvSpPr/>
          <p:nvPr/>
        </p:nvSpPr>
        <p:spPr>
          <a:xfrm>
            <a:off x="2670048" y="1756697"/>
            <a:ext cx="749808" cy="136676"/>
          </a:xfrm>
          <a:prstGeom prst="rect">
            <a:avLst/>
          </a:prstGeom>
          <a:solidFill>
            <a:srgbClr val="C2352F"/>
          </a:solidFill>
          <a:ln/>
        </p:spPr>
      </p:sp>
      <p:sp>
        <p:nvSpPr>
          <p:cNvPr id="14" name="Text 12"/>
          <p:cNvSpPr txBox="1"/>
          <p:nvPr/>
        </p:nvSpPr>
        <p:spPr>
          <a:xfrm>
            <a:off x="3474720"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$158K</a:t>
            </a:r>
            <a:endParaRPr lang="en-US" sz="1300" dirty="0"/>
          </a:p>
        </p:txBody>
      </p:sp>
      <p:sp>
        <p:nvSpPr>
          <p:cNvPr id="15" name="Text 13"/>
          <p:cNvSpPr txBox="1"/>
          <p:nvPr/>
        </p:nvSpPr>
        <p:spPr>
          <a:xfrm>
            <a:off x="4261104"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29</a:t>
            </a:r>
            <a:endParaRPr lang="en-US" sz="1300" dirty="0"/>
          </a:p>
        </p:txBody>
      </p:sp>
      <p:sp>
        <p:nvSpPr>
          <p:cNvPr id="16" name="Text 14"/>
          <p:cNvSpPr txBox="1"/>
          <p:nvPr/>
        </p:nvSpPr>
        <p:spPr>
          <a:xfrm>
            <a:off x="5193792"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87.7%</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8" name="Shape 16"/>
          <p:cNvSpPr/>
          <p:nvPr/>
        </p:nvSpPr>
        <p:spPr>
          <a:xfrm>
            <a:off x="2670048" y="2005199"/>
            <a:ext cx="533948" cy="136676"/>
          </a:xfrm>
          <a:prstGeom prst="rect">
            <a:avLst/>
          </a:prstGeom>
          <a:solidFill>
            <a:srgbClr val="C2352F"/>
          </a:solidFill>
          <a:ln/>
        </p:spPr>
      </p:sp>
      <p:sp>
        <p:nvSpPr>
          <p:cNvPr id="19" name="Text 17"/>
          <p:cNvSpPr txBox="1"/>
          <p:nvPr/>
        </p:nvSpPr>
        <p:spPr>
          <a:xfrm>
            <a:off x="3474720"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$112K</a:t>
            </a:r>
            <a:endParaRPr lang="en-US" sz="1300" dirty="0"/>
          </a:p>
        </p:txBody>
      </p:sp>
      <p:sp>
        <p:nvSpPr>
          <p:cNvPr id="20" name="Text 18"/>
          <p:cNvSpPr txBox="1"/>
          <p:nvPr/>
        </p:nvSpPr>
        <p:spPr>
          <a:xfrm>
            <a:off x="4261104"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21" name="Text 19"/>
          <p:cNvSpPr txBox="1"/>
          <p:nvPr/>
        </p:nvSpPr>
        <p:spPr>
          <a:xfrm>
            <a:off x="5193792"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68.4%</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3" name="Shape 21"/>
          <p:cNvSpPr/>
          <p:nvPr/>
        </p:nvSpPr>
        <p:spPr>
          <a:xfrm>
            <a:off x="2670048" y="2253700"/>
            <a:ext cx="483297" cy="136676"/>
          </a:xfrm>
          <a:prstGeom prst="rect">
            <a:avLst/>
          </a:prstGeom>
          <a:solidFill>
            <a:srgbClr val="C2352F"/>
          </a:solidFill>
          <a:ln/>
        </p:spPr>
      </p:sp>
      <p:sp>
        <p:nvSpPr>
          <p:cNvPr id="24" name="Text 22"/>
          <p:cNvSpPr txBox="1"/>
          <p:nvPr/>
        </p:nvSpPr>
        <p:spPr>
          <a:xfrm>
            <a:off x="3474720"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$102K</a:t>
            </a:r>
            <a:endParaRPr lang="en-US" sz="1300" dirty="0"/>
          </a:p>
        </p:txBody>
      </p:sp>
      <p:sp>
        <p:nvSpPr>
          <p:cNvPr id="25" name="Text 23"/>
          <p:cNvSpPr txBox="1"/>
          <p:nvPr/>
        </p:nvSpPr>
        <p:spPr>
          <a:xfrm>
            <a:off x="4261104"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 of 23</a:t>
            </a:r>
            <a:endParaRPr lang="en-US" sz="1300" dirty="0"/>
          </a:p>
        </p:txBody>
      </p:sp>
      <p:sp>
        <p:nvSpPr>
          <p:cNvPr id="26" name="Text 24"/>
          <p:cNvSpPr txBox="1"/>
          <p:nvPr/>
        </p:nvSpPr>
        <p:spPr>
          <a:xfrm>
            <a:off x="5193792"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91.0%</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8" name="Shape 26"/>
          <p:cNvSpPr/>
          <p:nvPr/>
        </p:nvSpPr>
        <p:spPr>
          <a:xfrm>
            <a:off x="2670048" y="2502202"/>
            <a:ext cx="476411" cy="136676"/>
          </a:xfrm>
          <a:prstGeom prst="rect">
            <a:avLst/>
          </a:prstGeom>
          <a:solidFill>
            <a:srgbClr val="C2352F"/>
          </a:solidFill>
          <a:ln/>
        </p:spPr>
      </p:sp>
      <p:sp>
        <p:nvSpPr>
          <p:cNvPr id="29" name="Text 27"/>
          <p:cNvSpPr txBox="1"/>
          <p:nvPr/>
        </p:nvSpPr>
        <p:spPr>
          <a:xfrm>
            <a:off x="3474720"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$100K</a:t>
            </a:r>
            <a:endParaRPr lang="en-US" sz="1300" dirty="0"/>
          </a:p>
        </p:txBody>
      </p:sp>
      <p:sp>
        <p:nvSpPr>
          <p:cNvPr id="30" name="Text 28"/>
          <p:cNvSpPr txBox="1"/>
          <p:nvPr/>
        </p:nvSpPr>
        <p:spPr>
          <a:xfrm>
            <a:off x="4261104"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14</a:t>
            </a:r>
            <a:endParaRPr lang="en-US" sz="1300" dirty="0"/>
          </a:p>
        </p:txBody>
      </p:sp>
      <p:sp>
        <p:nvSpPr>
          <p:cNvPr id="31" name="Text 29"/>
          <p:cNvSpPr txBox="1"/>
          <p:nvPr/>
        </p:nvSpPr>
        <p:spPr>
          <a:xfrm>
            <a:off x="5193792"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71.2%</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33" name="Shape 31"/>
          <p:cNvSpPr/>
          <p:nvPr/>
        </p:nvSpPr>
        <p:spPr>
          <a:xfrm>
            <a:off x="2670048" y="2750703"/>
            <a:ext cx="419972" cy="136676"/>
          </a:xfrm>
          <a:prstGeom prst="rect">
            <a:avLst/>
          </a:prstGeom>
          <a:solidFill>
            <a:srgbClr val="C2352F"/>
          </a:solidFill>
          <a:ln/>
        </p:spPr>
      </p:sp>
      <p:sp>
        <p:nvSpPr>
          <p:cNvPr id="34" name="Text 32"/>
          <p:cNvSpPr txBox="1"/>
          <p:nvPr/>
        </p:nvSpPr>
        <p:spPr>
          <a:xfrm>
            <a:off x="3474720"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35" name="Text 33"/>
          <p:cNvSpPr txBox="1"/>
          <p:nvPr/>
        </p:nvSpPr>
        <p:spPr>
          <a:xfrm>
            <a:off x="4261104"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11</a:t>
            </a:r>
            <a:endParaRPr lang="en-US" sz="1300" dirty="0"/>
          </a:p>
        </p:txBody>
      </p:sp>
      <p:sp>
        <p:nvSpPr>
          <p:cNvPr id="36" name="Text 34"/>
          <p:cNvSpPr txBox="1"/>
          <p:nvPr/>
        </p:nvSpPr>
        <p:spPr>
          <a:xfrm>
            <a:off x="5193792"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69.0%</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8" name="Shape 36"/>
          <p:cNvSpPr/>
          <p:nvPr/>
        </p:nvSpPr>
        <p:spPr>
          <a:xfrm>
            <a:off x="2670048" y="2999205"/>
            <a:ext cx="415094" cy="136676"/>
          </a:xfrm>
          <a:prstGeom prst="rect">
            <a:avLst/>
          </a:prstGeom>
          <a:solidFill>
            <a:srgbClr val="C2352F"/>
          </a:solidFill>
          <a:ln/>
        </p:spPr>
      </p:sp>
      <p:sp>
        <p:nvSpPr>
          <p:cNvPr id="39" name="Text 37"/>
          <p:cNvSpPr txBox="1"/>
          <p:nvPr/>
        </p:nvSpPr>
        <p:spPr>
          <a:xfrm>
            <a:off x="3474720"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$87K</a:t>
            </a:r>
            <a:endParaRPr lang="en-US" sz="1300" dirty="0"/>
          </a:p>
        </p:txBody>
      </p:sp>
      <p:sp>
        <p:nvSpPr>
          <p:cNvPr id="40" name="Text 38"/>
          <p:cNvSpPr txBox="1"/>
          <p:nvPr/>
        </p:nvSpPr>
        <p:spPr>
          <a:xfrm>
            <a:off x="4261104"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51</a:t>
            </a:r>
            <a:endParaRPr lang="en-US" sz="1300" dirty="0"/>
          </a:p>
        </p:txBody>
      </p:sp>
      <p:sp>
        <p:nvSpPr>
          <p:cNvPr id="41" name="Text 39"/>
          <p:cNvSpPr txBox="1"/>
          <p:nvPr/>
        </p:nvSpPr>
        <p:spPr>
          <a:xfrm>
            <a:off x="5193792"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103.4%</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247707"/>
            <a:ext cx="367707" cy="136676"/>
          </a:xfrm>
          <a:prstGeom prst="rect">
            <a:avLst/>
          </a:prstGeom>
          <a:solidFill>
            <a:srgbClr val="C2352F"/>
          </a:solidFill>
          <a:ln/>
        </p:spPr>
      </p:sp>
      <p:sp>
        <p:nvSpPr>
          <p:cNvPr id="44" name="Text 42"/>
          <p:cNvSpPr txBox="1"/>
          <p:nvPr/>
        </p:nvSpPr>
        <p:spPr>
          <a:xfrm>
            <a:off x="3474720"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45" name="Text 43"/>
          <p:cNvSpPr txBox="1"/>
          <p:nvPr/>
        </p:nvSpPr>
        <p:spPr>
          <a:xfrm>
            <a:off x="4261104"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22</a:t>
            </a:r>
            <a:endParaRPr lang="en-US" sz="1300" dirty="0"/>
          </a:p>
        </p:txBody>
      </p:sp>
      <p:sp>
        <p:nvSpPr>
          <p:cNvPr id="46" name="Text 44"/>
          <p:cNvSpPr txBox="1"/>
          <p:nvPr/>
        </p:nvSpPr>
        <p:spPr>
          <a:xfrm>
            <a:off x="5193792"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83.6%</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8" name="Shape 46"/>
          <p:cNvSpPr/>
          <p:nvPr/>
        </p:nvSpPr>
        <p:spPr>
          <a:xfrm>
            <a:off x="2670048" y="3496208"/>
            <a:ext cx="364470" cy="136676"/>
          </a:xfrm>
          <a:prstGeom prst="rect">
            <a:avLst/>
          </a:prstGeom>
          <a:solidFill>
            <a:srgbClr val="C2352F"/>
          </a:solidFill>
          <a:ln/>
        </p:spPr>
      </p:sp>
      <p:sp>
        <p:nvSpPr>
          <p:cNvPr id="49" name="Text 47"/>
          <p:cNvSpPr txBox="1"/>
          <p:nvPr/>
        </p:nvSpPr>
        <p:spPr>
          <a:xfrm>
            <a:off x="3474720"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0" name="Text 48"/>
          <p:cNvSpPr txBox="1"/>
          <p:nvPr/>
        </p:nvSpPr>
        <p:spPr>
          <a:xfrm>
            <a:off x="4261104"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12</a:t>
            </a:r>
            <a:endParaRPr lang="en-US" sz="1300" dirty="0"/>
          </a:p>
        </p:txBody>
      </p:sp>
      <p:sp>
        <p:nvSpPr>
          <p:cNvPr id="51" name="Text 49"/>
          <p:cNvSpPr txBox="1"/>
          <p:nvPr/>
        </p:nvSpPr>
        <p:spPr>
          <a:xfrm>
            <a:off x="5193792"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67.5%</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53" name="Shape 51"/>
          <p:cNvSpPr/>
          <p:nvPr/>
        </p:nvSpPr>
        <p:spPr>
          <a:xfrm>
            <a:off x="2670048" y="3744710"/>
            <a:ext cx="361005" cy="136676"/>
          </a:xfrm>
          <a:prstGeom prst="rect">
            <a:avLst/>
          </a:prstGeom>
          <a:solidFill>
            <a:srgbClr val="C2352F"/>
          </a:solidFill>
          <a:ln/>
        </p:spPr>
      </p:sp>
      <p:sp>
        <p:nvSpPr>
          <p:cNvPr id="54" name="Text 52"/>
          <p:cNvSpPr txBox="1"/>
          <p:nvPr/>
        </p:nvSpPr>
        <p:spPr>
          <a:xfrm>
            <a:off x="3474720"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$76K</a:t>
            </a:r>
            <a:endParaRPr lang="en-US" sz="1300" dirty="0"/>
          </a:p>
        </p:txBody>
      </p:sp>
      <p:sp>
        <p:nvSpPr>
          <p:cNvPr id="55" name="Text 53"/>
          <p:cNvSpPr txBox="1"/>
          <p:nvPr/>
        </p:nvSpPr>
        <p:spPr>
          <a:xfrm>
            <a:off x="4261104"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11</a:t>
            </a:r>
            <a:endParaRPr lang="en-US" sz="1300" dirty="0"/>
          </a:p>
        </p:txBody>
      </p:sp>
      <p:sp>
        <p:nvSpPr>
          <p:cNvPr id="56" name="Text 54"/>
          <p:cNvSpPr txBox="1"/>
          <p:nvPr/>
        </p:nvSpPr>
        <p:spPr>
          <a:xfrm>
            <a:off x="5193792"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67.4%</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3993212"/>
            <a:ext cx="353265" cy="136676"/>
          </a:xfrm>
          <a:prstGeom prst="rect">
            <a:avLst/>
          </a:prstGeom>
          <a:solidFill>
            <a:srgbClr val="C2352F"/>
          </a:solidFill>
          <a:ln/>
        </p:spPr>
      </p:sp>
      <p:sp>
        <p:nvSpPr>
          <p:cNvPr id="59" name="Text 57"/>
          <p:cNvSpPr txBox="1"/>
          <p:nvPr/>
        </p:nvSpPr>
        <p:spPr>
          <a:xfrm>
            <a:off x="3474720"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$74K</a:t>
            </a:r>
            <a:endParaRPr lang="en-US" sz="1300" dirty="0"/>
          </a:p>
        </p:txBody>
      </p:sp>
      <p:sp>
        <p:nvSpPr>
          <p:cNvPr id="60" name="Text 58"/>
          <p:cNvSpPr txBox="1"/>
          <p:nvPr/>
        </p:nvSpPr>
        <p:spPr>
          <a:xfrm>
            <a:off x="4261104"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61" name="Text 59"/>
          <p:cNvSpPr txBox="1"/>
          <p:nvPr/>
        </p:nvSpPr>
        <p:spPr>
          <a:xfrm>
            <a:off x="5193792"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76.8%</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63" name="Shape 61"/>
          <p:cNvSpPr/>
          <p:nvPr/>
        </p:nvSpPr>
        <p:spPr>
          <a:xfrm>
            <a:off x="2670048" y="4241713"/>
            <a:ext cx="333730" cy="136676"/>
          </a:xfrm>
          <a:prstGeom prst="rect">
            <a:avLst/>
          </a:prstGeom>
          <a:solidFill>
            <a:srgbClr val="C2352F"/>
          </a:solidFill>
          <a:ln/>
        </p:spPr>
      </p:sp>
      <p:sp>
        <p:nvSpPr>
          <p:cNvPr id="64" name="Text 62"/>
          <p:cNvSpPr txBox="1"/>
          <p:nvPr/>
        </p:nvSpPr>
        <p:spPr>
          <a:xfrm>
            <a:off x="3474720"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$70K</a:t>
            </a:r>
            <a:endParaRPr lang="en-US" sz="1300" dirty="0"/>
          </a:p>
        </p:txBody>
      </p:sp>
      <p:sp>
        <p:nvSpPr>
          <p:cNvPr id="65" name="Text 63"/>
          <p:cNvSpPr txBox="1"/>
          <p:nvPr/>
        </p:nvSpPr>
        <p:spPr>
          <a:xfrm>
            <a:off x="4261104"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 of 59</a:t>
            </a:r>
            <a:endParaRPr lang="en-US" sz="1300" dirty="0"/>
          </a:p>
        </p:txBody>
      </p:sp>
      <p:sp>
        <p:nvSpPr>
          <p:cNvPr id="66" name="Text 64"/>
          <p:cNvSpPr txBox="1"/>
          <p:nvPr/>
        </p:nvSpPr>
        <p:spPr>
          <a:xfrm>
            <a:off x="5193792"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104.3%</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68" name="Shape 66"/>
          <p:cNvSpPr/>
          <p:nvPr/>
        </p:nvSpPr>
        <p:spPr>
          <a:xfrm>
            <a:off x="2670048" y="4490215"/>
            <a:ext cx="300431" cy="136676"/>
          </a:xfrm>
          <a:prstGeom prst="rect">
            <a:avLst/>
          </a:prstGeom>
          <a:solidFill>
            <a:srgbClr val="C2352F"/>
          </a:solidFill>
          <a:ln/>
        </p:spPr>
      </p:sp>
      <p:sp>
        <p:nvSpPr>
          <p:cNvPr id="69" name="Text 67"/>
          <p:cNvSpPr txBox="1"/>
          <p:nvPr/>
        </p:nvSpPr>
        <p:spPr>
          <a:xfrm>
            <a:off x="3474720"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$63K</a:t>
            </a:r>
            <a:endParaRPr lang="en-US" sz="1300" dirty="0"/>
          </a:p>
        </p:txBody>
      </p:sp>
      <p:sp>
        <p:nvSpPr>
          <p:cNvPr id="70" name="Text 68"/>
          <p:cNvSpPr txBox="1"/>
          <p:nvPr/>
        </p:nvSpPr>
        <p:spPr>
          <a:xfrm>
            <a:off x="4261104"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16</a:t>
            </a:r>
            <a:endParaRPr lang="en-US" sz="1300" dirty="0"/>
          </a:p>
        </p:txBody>
      </p:sp>
      <p:sp>
        <p:nvSpPr>
          <p:cNvPr id="71" name="Text 69"/>
          <p:cNvSpPr txBox="1"/>
          <p:nvPr/>
        </p:nvSpPr>
        <p:spPr>
          <a:xfrm>
            <a:off x="5193792"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91.2%</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73" name="Shape 71"/>
          <p:cNvSpPr/>
          <p:nvPr/>
        </p:nvSpPr>
        <p:spPr>
          <a:xfrm>
            <a:off x="2670048" y="4738717"/>
            <a:ext cx="294453" cy="136676"/>
          </a:xfrm>
          <a:prstGeom prst="rect">
            <a:avLst/>
          </a:prstGeom>
          <a:solidFill>
            <a:srgbClr val="C2352F"/>
          </a:solidFill>
          <a:ln/>
        </p:spPr>
      </p:sp>
      <p:sp>
        <p:nvSpPr>
          <p:cNvPr id="74" name="Text 72"/>
          <p:cNvSpPr txBox="1"/>
          <p:nvPr/>
        </p:nvSpPr>
        <p:spPr>
          <a:xfrm>
            <a:off x="3474720"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75" name="Text 73"/>
          <p:cNvSpPr txBox="1"/>
          <p:nvPr/>
        </p:nvSpPr>
        <p:spPr>
          <a:xfrm>
            <a:off x="4261104"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9</a:t>
            </a:r>
            <a:endParaRPr lang="en-US" sz="1300" dirty="0"/>
          </a:p>
        </p:txBody>
      </p:sp>
      <p:sp>
        <p:nvSpPr>
          <p:cNvPr id="76" name="Text 74"/>
          <p:cNvSpPr txBox="1"/>
          <p:nvPr/>
        </p:nvSpPr>
        <p:spPr>
          <a:xfrm>
            <a:off x="5193792"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72.3%</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8" name="Shape 76"/>
          <p:cNvSpPr/>
          <p:nvPr/>
        </p:nvSpPr>
        <p:spPr>
          <a:xfrm>
            <a:off x="2670048" y="4987218"/>
            <a:ext cx="273826" cy="136676"/>
          </a:xfrm>
          <a:prstGeom prst="rect">
            <a:avLst/>
          </a:prstGeom>
          <a:solidFill>
            <a:srgbClr val="C2352F"/>
          </a:solidFill>
          <a:ln/>
        </p:spPr>
      </p:sp>
      <p:sp>
        <p:nvSpPr>
          <p:cNvPr id="79" name="Text 77"/>
          <p:cNvSpPr txBox="1"/>
          <p:nvPr/>
        </p:nvSpPr>
        <p:spPr>
          <a:xfrm>
            <a:off x="3474720"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80" name="Text 78"/>
          <p:cNvSpPr txBox="1"/>
          <p:nvPr/>
        </p:nvSpPr>
        <p:spPr>
          <a:xfrm>
            <a:off x="4261104"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12</a:t>
            </a:r>
            <a:endParaRPr lang="en-US" sz="1300" dirty="0"/>
          </a:p>
        </p:txBody>
      </p:sp>
      <p:sp>
        <p:nvSpPr>
          <p:cNvPr id="81" name="Text 79"/>
          <p:cNvSpPr txBox="1"/>
          <p:nvPr/>
        </p:nvSpPr>
        <p:spPr>
          <a:xfrm>
            <a:off x="5193792"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98.4%</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83" name="Shape 81"/>
          <p:cNvSpPr/>
          <p:nvPr/>
        </p:nvSpPr>
        <p:spPr>
          <a:xfrm>
            <a:off x="2670048" y="5235720"/>
            <a:ext cx="227614" cy="136676"/>
          </a:xfrm>
          <a:prstGeom prst="rect">
            <a:avLst/>
          </a:prstGeom>
          <a:solidFill>
            <a:srgbClr val="C2352F"/>
          </a:solidFill>
          <a:ln/>
        </p:spPr>
      </p:sp>
      <p:sp>
        <p:nvSpPr>
          <p:cNvPr id="84" name="Text 82"/>
          <p:cNvSpPr txBox="1"/>
          <p:nvPr/>
        </p:nvSpPr>
        <p:spPr>
          <a:xfrm>
            <a:off x="3474720"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85" name="Text 83"/>
          <p:cNvSpPr txBox="1"/>
          <p:nvPr/>
        </p:nvSpPr>
        <p:spPr>
          <a:xfrm>
            <a:off x="4261104"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 of 12</a:t>
            </a:r>
            <a:endParaRPr lang="en-US" sz="1300" dirty="0"/>
          </a:p>
        </p:txBody>
      </p:sp>
      <p:sp>
        <p:nvSpPr>
          <p:cNvPr id="86" name="Text 84"/>
          <p:cNvSpPr txBox="1"/>
          <p:nvPr/>
        </p:nvSpPr>
        <p:spPr>
          <a:xfrm>
            <a:off x="5193792"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73.6%</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8" name="Shape 86"/>
          <p:cNvSpPr/>
          <p:nvPr/>
        </p:nvSpPr>
        <p:spPr>
          <a:xfrm>
            <a:off x="2670048" y="5484222"/>
            <a:ext cx="207650" cy="136676"/>
          </a:xfrm>
          <a:prstGeom prst="rect">
            <a:avLst/>
          </a:prstGeom>
          <a:solidFill>
            <a:srgbClr val="C2352F"/>
          </a:solidFill>
          <a:ln/>
        </p:spPr>
      </p:sp>
      <p:sp>
        <p:nvSpPr>
          <p:cNvPr id="89" name="Text 87"/>
          <p:cNvSpPr txBox="1"/>
          <p:nvPr/>
        </p:nvSpPr>
        <p:spPr>
          <a:xfrm>
            <a:off x="3474720"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$44K</a:t>
            </a:r>
            <a:endParaRPr lang="en-US" sz="1300" dirty="0"/>
          </a:p>
        </p:txBody>
      </p:sp>
      <p:sp>
        <p:nvSpPr>
          <p:cNvPr id="90" name="Text 88"/>
          <p:cNvSpPr txBox="1"/>
          <p:nvPr/>
        </p:nvSpPr>
        <p:spPr>
          <a:xfrm>
            <a:off x="4261104"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27</a:t>
            </a:r>
            <a:endParaRPr lang="en-US" sz="1300" dirty="0"/>
          </a:p>
        </p:txBody>
      </p:sp>
      <p:sp>
        <p:nvSpPr>
          <p:cNvPr id="91" name="Text 89"/>
          <p:cNvSpPr txBox="1"/>
          <p:nvPr/>
        </p:nvSpPr>
        <p:spPr>
          <a:xfrm>
            <a:off x="5193792"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96.9%</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3" name="Shape 91"/>
          <p:cNvSpPr/>
          <p:nvPr/>
        </p:nvSpPr>
        <p:spPr>
          <a:xfrm>
            <a:off x="2670048" y="5732723"/>
            <a:ext cx="201603" cy="136676"/>
          </a:xfrm>
          <a:prstGeom prst="rect">
            <a:avLst/>
          </a:prstGeom>
          <a:solidFill>
            <a:srgbClr val="C2352F"/>
          </a:solidFill>
          <a:ln/>
        </p:spPr>
      </p:sp>
      <p:sp>
        <p:nvSpPr>
          <p:cNvPr id="94" name="Text 92"/>
          <p:cNvSpPr txBox="1"/>
          <p:nvPr/>
        </p:nvSpPr>
        <p:spPr>
          <a:xfrm>
            <a:off x="3474720"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95" name="Text 93"/>
          <p:cNvSpPr txBox="1"/>
          <p:nvPr/>
        </p:nvSpPr>
        <p:spPr>
          <a:xfrm>
            <a:off x="4261104" y="567681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17</a:t>
            </a:r>
            <a:endParaRPr lang="en-US" sz="1300" dirty="0"/>
          </a:p>
        </p:txBody>
      </p:sp>
      <p:sp>
        <p:nvSpPr>
          <p:cNvPr id="96" name="Text 94"/>
          <p:cNvSpPr txBox="1"/>
          <p:nvPr/>
        </p:nvSpPr>
        <p:spPr>
          <a:xfrm>
            <a:off x="5193792" y="567681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91.1%</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98" name="Shape 96"/>
          <p:cNvSpPr/>
          <p:nvPr/>
        </p:nvSpPr>
        <p:spPr>
          <a:xfrm>
            <a:off x="8220456" y="1756697"/>
            <a:ext cx="187634" cy="136676"/>
          </a:xfrm>
          <a:prstGeom prst="rect">
            <a:avLst/>
          </a:prstGeom>
          <a:solidFill>
            <a:srgbClr val="C2352F"/>
          </a:solidFill>
          <a:ln/>
        </p:spPr>
      </p:sp>
      <p:sp>
        <p:nvSpPr>
          <p:cNvPr id="99" name="Text 97"/>
          <p:cNvSpPr txBox="1"/>
          <p:nvPr/>
        </p:nvSpPr>
        <p:spPr>
          <a:xfrm>
            <a:off x="9025128"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00" name="Text 98"/>
          <p:cNvSpPr txBox="1"/>
          <p:nvPr/>
        </p:nvSpPr>
        <p:spPr>
          <a:xfrm>
            <a:off x="9811512"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6</a:t>
            </a:r>
            <a:endParaRPr lang="en-US" sz="1300" dirty="0"/>
          </a:p>
        </p:txBody>
      </p:sp>
      <p:sp>
        <p:nvSpPr>
          <p:cNvPr id="101" name="Text 99"/>
          <p:cNvSpPr txBox="1"/>
          <p:nvPr/>
        </p:nvSpPr>
        <p:spPr>
          <a:xfrm>
            <a:off x="10744200"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78.5%</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03" name="Shape 101"/>
          <p:cNvSpPr/>
          <p:nvPr/>
        </p:nvSpPr>
        <p:spPr>
          <a:xfrm>
            <a:off x="8220456" y="2005199"/>
            <a:ext cx="163154" cy="136676"/>
          </a:xfrm>
          <a:prstGeom prst="rect">
            <a:avLst/>
          </a:prstGeom>
          <a:solidFill>
            <a:srgbClr val="C2352F"/>
          </a:solidFill>
          <a:ln/>
        </p:spPr>
      </p:sp>
      <p:sp>
        <p:nvSpPr>
          <p:cNvPr id="104" name="Text 102"/>
          <p:cNvSpPr txBox="1"/>
          <p:nvPr/>
        </p:nvSpPr>
        <p:spPr>
          <a:xfrm>
            <a:off x="9025128"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05" name="Text 103"/>
          <p:cNvSpPr txBox="1"/>
          <p:nvPr/>
        </p:nvSpPr>
        <p:spPr>
          <a:xfrm>
            <a:off x="9811512"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9</a:t>
            </a:r>
            <a:endParaRPr lang="en-US" sz="1300" dirty="0"/>
          </a:p>
        </p:txBody>
      </p:sp>
      <p:sp>
        <p:nvSpPr>
          <p:cNvPr id="106" name="Text 104"/>
          <p:cNvSpPr txBox="1"/>
          <p:nvPr/>
        </p:nvSpPr>
        <p:spPr>
          <a:xfrm>
            <a:off x="10744200"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78.8%</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8" name="Shape 106"/>
          <p:cNvSpPr/>
          <p:nvPr/>
        </p:nvSpPr>
        <p:spPr>
          <a:xfrm>
            <a:off x="8220456" y="2253700"/>
            <a:ext cx="150261" cy="136676"/>
          </a:xfrm>
          <a:prstGeom prst="rect">
            <a:avLst/>
          </a:prstGeom>
          <a:solidFill>
            <a:srgbClr val="C2352F"/>
          </a:solidFill>
          <a:ln/>
        </p:spPr>
      </p:sp>
      <p:sp>
        <p:nvSpPr>
          <p:cNvPr id="109" name="Text 107"/>
          <p:cNvSpPr txBox="1"/>
          <p:nvPr/>
        </p:nvSpPr>
        <p:spPr>
          <a:xfrm>
            <a:off x="9025128"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110" name="Text 108"/>
          <p:cNvSpPr txBox="1"/>
          <p:nvPr/>
        </p:nvSpPr>
        <p:spPr>
          <a:xfrm>
            <a:off x="9811512"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11</a:t>
            </a:r>
            <a:endParaRPr lang="en-US" sz="1300" dirty="0"/>
          </a:p>
        </p:txBody>
      </p:sp>
      <p:sp>
        <p:nvSpPr>
          <p:cNvPr id="111" name="Text 109"/>
          <p:cNvSpPr txBox="1"/>
          <p:nvPr/>
        </p:nvSpPr>
        <p:spPr>
          <a:xfrm>
            <a:off x="10744200"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104.7%</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3" name="Shape 111"/>
          <p:cNvSpPr/>
          <p:nvPr/>
        </p:nvSpPr>
        <p:spPr>
          <a:xfrm>
            <a:off x="8220456" y="2502202"/>
            <a:ext cx="116946" cy="136676"/>
          </a:xfrm>
          <a:prstGeom prst="rect">
            <a:avLst/>
          </a:prstGeom>
          <a:solidFill>
            <a:srgbClr val="C2352F"/>
          </a:solidFill>
          <a:ln/>
        </p:spPr>
      </p:sp>
      <p:sp>
        <p:nvSpPr>
          <p:cNvPr id="114" name="Text 112"/>
          <p:cNvSpPr txBox="1"/>
          <p:nvPr/>
        </p:nvSpPr>
        <p:spPr>
          <a:xfrm>
            <a:off x="9025128"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15" name="Text 113"/>
          <p:cNvSpPr txBox="1"/>
          <p:nvPr/>
        </p:nvSpPr>
        <p:spPr>
          <a:xfrm>
            <a:off x="9811512"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19</a:t>
            </a:r>
            <a:endParaRPr lang="en-US" sz="1300" dirty="0"/>
          </a:p>
        </p:txBody>
      </p:sp>
      <p:sp>
        <p:nvSpPr>
          <p:cNvPr id="116" name="Text 114"/>
          <p:cNvSpPr txBox="1"/>
          <p:nvPr/>
        </p:nvSpPr>
        <p:spPr>
          <a:xfrm>
            <a:off x="10744200"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92.2%</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8" name="Shape 116"/>
          <p:cNvSpPr/>
          <p:nvPr/>
        </p:nvSpPr>
        <p:spPr>
          <a:xfrm>
            <a:off x="8220456" y="2750703"/>
            <a:ext cx="112759" cy="136676"/>
          </a:xfrm>
          <a:prstGeom prst="rect">
            <a:avLst/>
          </a:prstGeom>
          <a:solidFill>
            <a:srgbClr val="C2352F"/>
          </a:solidFill>
          <a:ln/>
        </p:spPr>
      </p:sp>
      <p:sp>
        <p:nvSpPr>
          <p:cNvPr id="119" name="Text 117"/>
          <p:cNvSpPr txBox="1"/>
          <p:nvPr/>
        </p:nvSpPr>
        <p:spPr>
          <a:xfrm>
            <a:off x="9025128"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20" name="Text 118"/>
          <p:cNvSpPr txBox="1"/>
          <p:nvPr/>
        </p:nvSpPr>
        <p:spPr>
          <a:xfrm>
            <a:off x="9811512"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11</a:t>
            </a:r>
            <a:endParaRPr lang="en-US" sz="1300" dirty="0"/>
          </a:p>
        </p:txBody>
      </p:sp>
      <p:sp>
        <p:nvSpPr>
          <p:cNvPr id="121" name="Text 119"/>
          <p:cNvSpPr txBox="1"/>
          <p:nvPr/>
        </p:nvSpPr>
        <p:spPr>
          <a:xfrm>
            <a:off x="10744200"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23" name="Shape 121"/>
          <p:cNvSpPr/>
          <p:nvPr/>
        </p:nvSpPr>
        <p:spPr>
          <a:xfrm>
            <a:off x="8220456" y="2999205"/>
            <a:ext cx="105168" cy="136676"/>
          </a:xfrm>
          <a:prstGeom prst="rect">
            <a:avLst/>
          </a:prstGeom>
          <a:solidFill>
            <a:srgbClr val="C2352F"/>
          </a:solidFill>
          <a:ln/>
        </p:spPr>
      </p:sp>
      <p:sp>
        <p:nvSpPr>
          <p:cNvPr id="124" name="Text 122"/>
          <p:cNvSpPr txBox="1"/>
          <p:nvPr/>
        </p:nvSpPr>
        <p:spPr>
          <a:xfrm>
            <a:off x="9025128"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25" name="Text 123"/>
          <p:cNvSpPr txBox="1"/>
          <p:nvPr/>
        </p:nvSpPr>
        <p:spPr>
          <a:xfrm>
            <a:off x="9811512"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12</a:t>
            </a:r>
            <a:endParaRPr lang="en-US" sz="1300" dirty="0"/>
          </a:p>
        </p:txBody>
      </p:sp>
      <p:sp>
        <p:nvSpPr>
          <p:cNvPr id="126" name="Text 124"/>
          <p:cNvSpPr txBox="1"/>
          <p:nvPr/>
        </p:nvSpPr>
        <p:spPr>
          <a:xfrm>
            <a:off x="10744200"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109.7%</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28" name="Shape 126"/>
          <p:cNvSpPr/>
          <p:nvPr/>
        </p:nvSpPr>
        <p:spPr>
          <a:xfrm>
            <a:off x="8220456" y="3247707"/>
            <a:ext cx="98507" cy="136676"/>
          </a:xfrm>
          <a:prstGeom prst="rect">
            <a:avLst/>
          </a:prstGeom>
          <a:solidFill>
            <a:srgbClr val="C2352F"/>
          </a:solidFill>
          <a:ln/>
        </p:spPr>
      </p:sp>
      <p:sp>
        <p:nvSpPr>
          <p:cNvPr id="129" name="Text 127"/>
          <p:cNvSpPr txBox="1"/>
          <p:nvPr/>
        </p:nvSpPr>
        <p:spPr>
          <a:xfrm>
            <a:off x="9025128"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30" name="Text 128"/>
          <p:cNvSpPr txBox="1"/>
          <p:nvPr/>
        </p:nvSpPr>
        <p:spPr>
          <a:xfrm>
            <a:off x="9811512"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5</a:t>
            </a:r>
            <a:endParaRPr lang="en-US" sz="1300" dirty="0"/>
          </a:p>
        </p:txBody>
      </p:sp>
      <p:sp>
        <p:nvSpPr>
          <p:cNvPr id="131" name="Text 129"/>
          <p:cNvSpPr txBox="1"/>
          <p:nvPr/>
        </p:nvSpPr>
        <p:spPr>
          <a:xfrm>
            <a:off x="10744200"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70.0%</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3" name="Shape 131"/>
          <p:cNvSpPr/>
          <p:nvPr/>
        </p:nvSpPr>
        <p:spPr>
          <a:xfrm>
            <a:off x="8220456" y="3496208"/>
            <a:ext cx="97766" cy="136676"/>
          </a:xfrm>
          <a:prstGeom prst="rect">
            <a:avLst/>
          </a:prstGeom>
          <a:solidFill>
            <a:srgbClr val="C2352F"/>
          </a:solidFill>
          <a:ln/>
        </p:spPr>
      </p:sp>
      <p:sp>
        <p:nvSpPr>
          <p:cNvPr id="134" name="Text 132"/>
          <p:cNvSpPr txBox="1"/>
          <p:nvPr/>
        </p:nvSpPr>
        <p:spPr>
          <a:xfrm>
            <a:off x="9025128"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35" name="Text 133"/>
          <p:cNvSpPr txBox="1"/>
          <p:nvPr/>
        </p:nvSpPr>
        <p:spPr>
          <a:xfrm>
            <a:off x="9811512"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6</a:t>
            </a:r>
            <a:endParaRPr lang="en-US" sz="1300" dirty="0"/>
          </a:p>
        </p:txBody>
      </p:sp>
      <p:sp>
        <p:nvSpPr>
          <p:cNvPr id="136" name="Text 134"/>
          <p:cNvSpPr txBox="1"/>
          <p:nvPr/>
        </p:nvSpPr>
        <p:spPr>
          <a:xfrm>
            <a:off x="10744200"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81.4%</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38" name="Shape 136"/>
          <p:cNvSpPr/>
          <p:nvPr/>
        </p:nvSpPr>
        <p:spPr>
          <a:xfrm>
            <a:off x="8220456" y="3744710"/>
            <a:ext cx="95452" cy="136676"/>
          </a:xfrm>
          <a:prstGeom prst="rect">
            <a:avLst/>
          </a:prstGeom>
          <a:solidFill>
            <a:srgbClr val="C2352F"/>
          </a:solidFill>
          <a:ln/>
        </p:spPr>
      </p:sp>
      <p:sp>
        <p:nvSpPr>
          <p:cNvPr id="139" name="Text 137"/>
          <p:cNvSpPr txBox="1"/>
          <p:nvPr/>
        </p:nvSpPr>
        <p:spPr>
          <a:xfrm>
            <a:off x="9025128"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40" name="Text 138"/>
          <p:cNvSpPr txBox="1"/>
          <p:nvPr/>
        </p:nvSpPr>
        <p:spPr>
          <a:xfrm>
            <a:off x="9811512"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10</a:t>
            </a:r>
            <a:endParaRPr lang="en-US" sz="1300" dirty="0"/>
          </a:p>
        </p:txBody>
      </p:sp>
      <p:sp>
        <p:nvSpPr>
          <p:cNvPr id="141" name="Text 139"/>
          <p:cNvSpPr txBox="1"/>
          <p:nvPr/>
        </p:nvSpPr>
        <p:spPr>
          <a:xfrm>
            <a:off x="10744200"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117.1%</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3" name="Shape 141"/>
          <p:cNvSpPr/>
          <p:nvPr/>
        </p:nvSpPr>
        <p:spPr>
          <a:xfrm>
            <a:off x="8220456" y="3993212"/>
            <a:ext cx="71097" cy="136676"/>
          </a:xfrm>
          <a:prstGeom prst="rect">
            <a:avLst/>
          </a:prstGeom>
          <a:solidFill>
            <a:srgbClr val="C2352F"/>
          </a:solidFill>
          <a:ln/>
        </p:spPr>
      </p:sp>
      <p:sp>
        <p:nvSpPr>
          <p:cNvPr id="144" name="Text 142"/>
          <p:cNvSpPr txBox="1"/>
          <p:nvPr/>
        </p:nvSpPr>
        <p:spPr>
          <a:xfrm>
            <a:off x="9025128"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45" name="Text 143"/>
          <p:cNvSpPr txBox="1"/>
          <p:nvPr/>
        </p:nvSpPr>
        <p:spPr>
          <a:xfrm>
            <a:off x="9811512"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7</a:t>
            </a:r>
            <a:endParaRPr lang="en-US" sz="1300" dirty="0"/>
          </a:p>
        </p:txBody>
      </p:sp>
      <p:sp>
        <p:nvSpPr>
          <p:cNvPr id="146" name="Text 144"/>
          <p:cNvSpPr txBox="1"/>
          <p:nvPr/>
        </p:nvSpPr>
        <p:spPr>
          <a:xfrm>
            <a:off x="10744200"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106.0%</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8" name="Shape 146"/>
          <p:cNvSpPr/>
          <p:nvPr/>
        </p:nvSpPr>
        <p:spPr>
          <a:xfrm>
            <a:off x="8220456" y="4241713"/>
            <a:ext cx="61565" cy="136676"/>
          </a:xfrm>
          <a:prstGeom prst="rect">
            <a:avLst/>
          </a:prstGeom>
          <a:solidFill>
            <a:srgbClr val="C2352F"/>
          </a:solidFill>
          <a:ln/>
        </p:spPr>
      </p:sp>
      <p:sp>
        <p:nvSpPr>
          <p:cNvPr id="149" name="Text 147"/>
          <p:cNvSpPr txBox="1"/>
          <p:nvPr/>
        </p:nvSpPr>
        <p:spPr>
          <a:xfrm>
            <a:off x="9025128"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50" name="Text 148"/>
          <p:cNvSpPr txBox="1"/>
          <p:nvPr/>
        </p:nvSpPr>
        <p:spPr>
          <a:xfrm>
            <a:off x="9811512"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28</a:t>
            </a:r>
            <a:endParaRPr lang="en-US" sz="1300" dirty="0"/>
          </a:p>
        </p:txBody>
      </p:sp>
      <p:sp>
        <p:nvSpPr>
          <p:cNvPr id="151" name="Text 149"/>
          <p:cNvSpPr txBox="1"/>
          <p:nvPr/>
        </p:nvSpPr>
        <p:spPr>
          <a:xfrm>
            <a:off x="10744200"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118.5%</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53" name="Shape 151"/>
          <p:cNvSpPr/>
          <p:nvPr/>
        </p:nvSpPr>
        <p:spPr>
          <a:xfrm>
            <a:off x="8220456" y="4490215"/>
            <a:ext cx="61457" cy="136676"/>
          </a:xfrm>
          <a:prstGeom prst="rect">
            <a:avLst/>
          </a:prstGeom>
          <a:solidFill>
            <a:srgbClr val="C2352F"/>
          </a:solidFill>
          <a:ln/>
        </p:spPr>
      </p:sp>
      <p:sp>
        <p:nvSpPr>
          <p:cNvPr id="154" name="Text 152"/>
          <p:cNvSpPr txBox="1"/>
          <p:nvPr/>
        </p:nvSpPr>
        <p:spPr>
          <a:xfrm>
            <a:off x="9025128"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55" name="Text 153"/>
          <p:cNvSpPr txBox="1"/>
          <p:nvPr/>
        </p:nvSpPr>
        <p:spPr>
          <a:xfrm>
            <a:off x="9811512"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22</a:t>
            </a:r>
            <a:endParaRPr lang="en-US" sz="1300" dirty="0"/>
          </a:p>
        </p:txBody>
      </p:sp>
      <p:sp>
        <p:nvSpPr>
          <p:cNvPr id="156" name="Text 154"/>
          <p:cNvSpPr txBox="1"/>
          <p:nvPr/>
        </p:nvSpPr>
        <p:spPr>
          <a:xfrm>
            <a:off x="10744200"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109.3%</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58" name="Shape 156"/>
          <p:cNvSpPr/>
          <p:nvPr/>
        </p:nvSpPr>
        <p:spPr>
          <a:xfrm>
            <a:off x="8220456" y="4738717"/>
            <a:ext cx="54038" cy="136676"/>
          </a:xfrm>
          <a:prstGeom prst="rect">
            <a:avLst/>
          </a:prstGeom>
          <a:solidFill>
            <a:srgbClr val="C2352F"/>
          </a:solidFill>
          <a:ln/>
        </p:spPr>
      </p:sp>
      <p:sp>
        <p:nvSpPr>
          <p:cNvPr id="159" name="Text 157"/>
          <p:cNvSpPr txBox="1"/>
          <p:nvPr/>
        </p:nvSpPr>
        <p:spPr>
          <a:xfrm>
            <a:off x="9025128"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60" name="Text 158"/>
          <p:cNvSpPr txBox="1"/>
          <p:nvPr/>
        </p:nvSpPr>
        <p:spPr>
          <a:xfrm>
            <a:off x="9811512"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28</a:t>
            </a:r>
            <a:endParaRPr lang="en-US" sz="1300" dirty="0"/>
          </a:p>
        </p:txBody>
      </p:sp>
      <p:sp>
        <p:nvSpPr>
          <p:cNvPr id="161" name="Text 159"/>
          <p:cNvSpPr txBox="1"/>
          <p:nvPr/>
        </p:nvSpPr>
        <p:spPr>
          <a:xfrm>
            <a:off x="10744200"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108.0%</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63" name="Shape 161"/>
          <p:cNvSpPr/>
          <p:nvPr/>
        </p:nvSpPr>
        <p:spPr>
          <a:xfrm>
            <a:off x="8220456" y="4987218"/>
            <a:ext cx="49766" cy="136676"/>
          </a:xfrm>
          <a:prstGeom prst="rect">
            <a:avLst/>
          </a:prstGeom>
          <a:solidFill>
            <a:srgbClr val="C2352F"/>
          </a:solidFill>
          <a:ln/>
        </p:spPr>
      </p:sp>
      <p:sp>
        <p:nvSpPr>
          <p:cNvPr id="164" name="Text 162"/>
          <p:cNvSpPr txBox="1"/>
          <p:nvPr/>
        </p:nvSpPr>
        <p:spPr>
          <a:xfrm>
            <a:off x="9025128"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65" name="Text 163"/>
          <p:cNvSpPr txBox="1"/>
          <p:nvPr/>
        </p:nvSpPr>
        <p:spPr>
          <a:xfrm>
            <a:off x="9811512"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18</a:t>
            </a:r>
            <a:endParaRPr lang="en-US" sz="1300" dirty="0"/>
          </a:p>
        </p:txBody>
      </p:sp>
      <p:sp>
        <p:nvSpPr>
          <p:cNvPr id="166" name="Text 164"/>
          <p:cNvSpPr txBox="1"/>
          <p:nvPr/>
        </p:nvSpPr>
        <p:spPr>
          <a:xfrm>
            <a:off x="10744200"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102.4%</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68" name="Shape 166"/>
          <p:cNvSpPr/>
          <p:nvPr/>
        </p:nvSpPr>
        <p:spPr>
          <a:xfrm>
            <a:off x="8220456" y="5235720"/>
            <a:ext cx="40736" cy="136676"/>
          </a:xfrm>
          <a:prstGeom prst="rect">
            <a:avLst/>
          </a:prstGeom>
          <a:solidFill>
            <a:srgbClr val="C2352F"/>
          </a:solidFill>
          <a:ln/>
        </p:spPr>
      </p:sp>
      <p:sp>
        <p:nvSpPr>
          <p:cNvPr id="169" name="Text 167"/>
          <p:cNvSpPr txBox="1"/>
          <p:nvPr/>
        </p:nvSpPr>
        <p:spPr>
          <a:xfrm>
            <a:off x="9025128"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170" name="Text 168"/>
          <p:cNvSpPr txBox="1"/>
          <p:nvPr/>
        </p:nvSpPr>
        <p:spPr>
          <a:xfrm>
            <a:off x="9811512"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11</a:t>
            </a:r>
            <a:endParaRPr lang="en-US" sz="1300" dirty="0"/>
          </a:p>
        </p:txBody>
      </p:sp>
      <p:sp>
        <p:nvSpPr>
          <p:cNvPr id="171" name="Text 169"/>
          <p:cNvSpPr txBox="1"/>
          <p:nvPr/>
        </p:nvSpPr>
        <p:spPr>
          <a:xfrm>
            <a:off x="10744200"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101.6%</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73" name="Shape 171"/>
          <p:cNvSpPr/>
          <p:nvPr/>
        </p:nvSpPr>
        <p:spPr>
          <a:xfrm>
            <a:off x="8220456" y="5484222"/>
            <a:ext cx="18288" cy="136676"/>
          </a:xfrm>
          <a:prstGeom prst="rect">
            <a:avLst/>
          </a:prstGeom>
          <a:solidFill>
            <a:srgbClr val="C2352F"/>
          </a:solidFill>
          <a:ln/>
        </p:spPr>
      </p:sp>
      <p:sp>
        <p:nvSpPr>
          <p:cNvPr id="174" name="Text 172"/>
          <p:cNvSpPr txBox="1"/>
          <p:nvPr/>
        </p:nvSpPr>
        <p:spPr>
          <a:xfrm>
            <a:off x="9025128"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$1K</a:t>
            </a:r>
            <a:endParaRPr lang="en-US" sz="1300" dirty="0"/>
          </a:p>
        </p:txBody>
      </p:sp>
      <p:sp>
        <p:nvSpPr>
          <p:cNvPr id="175" name="Text 173"/>
          <p:cNvSpPr txBox="1"/>
          <p:nvPr/>
        </p:nvSpPr>
        <p:spPr>
          <a:xfrm>
            <a:off x="9811512"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15</a:t>
            </a:r>
            <a:endParaRPr lang="en-US" sz="1300" dirty="0"/>
          </a:p>
        </p:txBody>
      </p:sp>
      <p:sp>
        <p:nvSpPr>
          <p:cNvPr id="176" name="Text 174"/>
          <p:cNvSpPr txBox="1"/>
          <p:nvPr/>
        </p:nvSpPr>
        <p:spPr>
          <a:xfrm>
            <a:off x="10744200"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109.0%</a:t>
            </a:r>
            <a:endParaRPr lang="en-US" sz="1300" dirty="0"/>
          </a:p>
        </p:txBody>
      </p:sp>
      <p:sp>
        <p:nvSpPr>
          <p:cNvPr id="177" name="Shape 175"/>
          <p:cNvSpPr/>
          <p:nvPr/>
        </p:nvSpPr>
        <p:spPr>
          <a:xfrm>
            <a:off x="457200" y="6126480"/>
            <a:ext cx="11274552" cy="348996"/>
          </a:xfrm>
          <a:prstGeom prst="rect">
            <a:avLst/>
          </a:prstGeom>
          <a:solidFill>
            <a:srgbClr val="FBEBEA"/>
          </a:solidFill>
          <a:ln/>
        </p:spPr>
      </p:sp>
      <p:sp>
        <p:nvSpPr>
          <p:cNvPr id="178" name="Text 176"/>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Six stores hold $647K a month, led by Cadillac at $158K. 6 stores at or above 85% still leave $537K a month.</a:t>
            </a:r>
            <a:endParaRPr lang="en-US" sz="14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Opportunity as a Share of Gross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4670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7" name="Text 5"/>
          <p:cNvSpPr txBox="1"/>
          <p:nvPr/>
        </p:nvSpPr>
        <p:spPr>
          <a:xfrm>
            <a:off x="413308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8" name="Text 6"/>
          <p:cNvSpPr txBox="1"/>
          <p:nvPr/>
        </p:nvSpPr>
        <p:spPr>
          <a:xfrm>
            <a:off x="500176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9" name="Text 7"/>
          <p:cNvSpPr txBox="1"/>
          <p:nvPr/>
        </p:nvSpPr>
        <p:spPr>
          <a:xfrm>
            <a:off x="889711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10" name="Text 8"/>
          <p:cNvSpPr txBox="1"/>
          <p:nvPr/>
        </p:nvSpPr>
        <p:spPr>
          <a:xfrm>
            <a:off x="968349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11" name="Text 9"/>
          <p:cNvSpPr txBox="1"/>
          <p:nvPr/>
        </p:nvSpPr>
        <p:spPr>
          <a:xfrm>
            <a:off x="1055217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 name="Shape 11"/>
          <p:cNvSpPr/>
          <p:nvPr/>
        </p:nvSpPr>
        <p:spPr>
          <a:xfrm>
            <a:off x="2670048" y="1756697"/>
            <a:ext cx="621792" cy="136676"/>
          </a:xfrm>
          <a:prstGeom prst="rect">
            <a:avLst/>
          </a:prstGeom>
          <a:solidFill>
            <a:srgbClr val="C2352F"/>
          </a:solidFill>
          <a:ln/>
        </p:spPr>
      </p:sp>
      <p:sp>
        <p:nvSpPr>
          <p:cNvPr id="14" name="Text 12"/>
          <p:cNvSpPr txBox="1"/>
          <p:nvPr/>
        </p:nvSpPr>
        <p:spPr>
          <a:xfrm>
            <a:off x="3346704"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31.9%</a:t>
            </a:r>
            <a:endParaRPr lang="en-US" sz="1300" dirty="0"/>
          </a:p>
        </p:txBody>
      </p:sp>
      <p:sp>
        <p:nvSpPr>
          <p:cNvPr id="15" name="Text 13"/>
          <p:cNvSpPr txBox="1"/>
          <p:nvPr/>
        </p:nvSpPr>
        <p:spPr>
          <a:xfrm>
            <a:off x="413308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$88K</a:t>
            </a:r>
            <a:endParaRPr lang="en-US" sz="1300" dirty="0"/>
          </a:p>
        </p:txBody>
      </p:sp>
      <p:sp>
        <p:nvSpPr>
          <p:cNvPr id="16" name="Text 14"/>
          <p:cNvSpPr txBox="1"/>
          <p:nvPr/>
        </p:nvSpPr>
        <p:spPr>
          <a:xfrm>
            <a:off x="500176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$277K</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8" name="Shape 16"/>
          <p:cNvSpPr/>
          <p:nvPr/>
        </p:nvSpPr>
        <p:spPr>
          <a:xfrm>
            <a:off x="2670048" y="2005199"/>
            <a:ext cx="580151" cy="136676"/>
          </a:xfrm>
          <a:prstGeom prst="rect">
            <a:avLst/>
          </a:prstGeom>
          <a:solidFill>
            <a:srgbClr val="C2352F"/>
          </a:solidFill>
          <a:ln/>
        </p:spPr>
      </p:sp>
      <p:sp>
        <p:nvSpPr>
          <p:cNvPr id="19" name="Text 17"/>
          <p:cNvSpPr txBox="1"/>
          <p:nvPr/>
        </p:nvSpPr>
        <p:spPr>
          <a:xfrm>
            <a:off x="3346704"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29.7%</a:t>
            </a:r>
            <a:endParaRPr lang="en-US" sz="1300" dirty="0"/>
          </a:p>
        </p:txBody>
      </p:sp>
      <p:sp>
        <p:nvSpPr>
          <p:cNvPr id="20" name="Text 18"/>
          <p:cNvSpPr txBox="1"/>
          <p:nvPr/>
        </p:nvSpPr>
        <p:spPr>
          <a:xfrm>
            <a:off x="413308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21" name="Text 19"/>
          <p:cNvSpPr txBox="1"/>
          <p:nvPr/>
        </p:nvSpPr>
        <p:spPr>
          <a:xfrm>
            <a:off x="500176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$258K</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3" name="Shape 21"/>
          <p:cNvSpPr/>
          <p:nvPr/>
        </p:nvSpPr>
        <p:spPr>
          <a:xfrm>
            <a:off x="2670048" y="2253700"/>
            <a:ext cx="495930" cy="136676"/>
          </a:xfrm>
          <a:prstGeom prst="rect">
            <a:avLst/>
          </a:prstGeom>
          <a:solidFill>
            <a:srgbClr val="C2352F"/>
          </a:solidFill>
          <a:ln/>
        </p:spPr>
      </p:sp>
      <p:sp>
        <p:nvSpPr>
          <p:cNvPr id="24" name="Text 22"/>
          <p:cNvSpPr txBox="1"/>
          <p:nvPr/>
        </p:nvSpPr>
        <p:spPr>
          <a:xfrm>
            <a:off x="3346704"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25.4%</a:t>
            </a:r>
            <a:endParaRPr lang="en-US" sz="1300" dirty="0"/>
          </a:p>
        </p:txBody>
      </p:sp>
      <p:sp>
        <p:nvSpPr>
          <p:cNvPr id="25" name="Text 23"/>
          <p:cNvSpPr txBox="1"/>
          <p:nvPr/>
        </p:nvSpPr>
        <p:spPr>
          <a:xfrm>
            <a:off x="413308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$76K</a:t>
            </a:r>
            <a:endParaRPr lang="en-US" sz="1300" dirty="0"/>
          </a:p>
        </p:txBody>
      </p:sp>
      <p:sp>
        <p:nvSpPr>
          <p:cNvPr id="26" name="Text 24"/>
          <p:cNvSpPr txBox="1"/>
          <p:nvPr/>
        </p:nvSpPr>
        <p:spPr>
          <a:xfrm>
            <a:off x="500176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$299K</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8" name="Shape 26"/>
          <p:cNvSpPr/>
          <p:nvPr/>
        </p:nvSpPr>
        <p:spPr>
          <a:xfrm>
            <a:off x="2670048" y="2502202"/>
            <a:ext cx="479181" cy="136676"/>
          </a:xfrm>
          <a:prstGeom prst="rect">
            <a:avLst/>
          </a:prstGeom>
          <a:solidFill>
            <a:srgbClr val="C2352F"/>
          </a:solidFill>
          <a:ln/>
        </p:spPr>
      </p:sp>
      <p:sp>
        <p:nvSpPr>
          <p:cNvPr id="29" name="Text 27"/>
          <p:cNvSpPr txBox="1"/>
          <p:nvPr/>
        </p:nvSpPr>
        <p:spPr>
          <a:xfrm>
            <a:off x="3346704"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24.6%</a:t>
            </a:r>
            <a:endParaRPr lang="en-US" sz="1300" dirty="0"/>
          </a:p>
        </p:txBody>
      </p:sp>
      <p:sp>
        <p:nvSpPr>
          <p:cNvPr id="30" name="Text 28"/>
          <p:cNvSpPr txBox="1"/>
          <p:nvPr/>
        </p:nvSpPr>
        <p:spPr>
          <a:xfrm>
            <a:off x="413308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31" name="Text 29"/>
          <p:cNvSpPr txBox="1"/>
          <p:nvPr/>
        </p:nvSpPr>
        <p:spPr>
          <a:xfrm>
            <a:off x="500176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$408K</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33" name="Shape 31"/>
          <p:cNvSpPr/>
          <p:nvPr/>
        </p:nvSpPr>
        <p:spPr>
          <a:xfrm>
            <a:off x="2670048" y="2750703"/>
            <a:ext cx="453006" cy="136676"/>
          </a:xfrm>
          <a:prstGeom prst="rect">
            <a:avLst/>
          </a:prstGeom>
          <a:solidFill>
            <a:srgbClr val="C2352F"/>
          </a:solidFill>
          <a:ln/>
        </p:spPr>
      </p:sp>
      <p:sp>
        <p:nvSpPr>
          <p:cNvPr id="34" name="Text 32"/>
          <p:cNvSpPr txBox="1"/>
          <p:nvPr/>
        </p:nvSpPr>
        <p:spPr>
          <a:xfrm>
            <a:off x="3346704"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23.2%</a:t>
            </a:r>
            <a:endParaRPr lang="en-US" sz="1300" dirty="0"/>
          </a:p>
        </p:txBody>
      </p:sp>
      <p:sp>
        <p:nvSpPr>
          <p:cNvPr id="35" name="Text 33"/>
          <p:cNvSpPr txBox="1"/>
          <p:nvPr/>
        </p:nvSpPr>
        <p:spPr>
          <a:xfrm>
            <a:off x="413308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$112K</a:t>
            </a:r>
            <a:endParaRPr lang="en-US" sz="1300" dirty="0"/>
          </a:p>
        </p:txBody>
      </p:sp>
      <p:sp>
        <p:nvSpPr>
          <p:cNvPr id="36" name="Text 34"/>
          <p:cNvSpPr txBox="1"/>
          <p:nvPr/>
        </p:nvSpPr>
        <p:spPr>
          <a:xfrm>
            <a:off x="500176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$483K</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38" name="Shape 36"/>
          <p:cNvSpPr/>
          <p:nvPr/>
        </p:nvSpPr>
        <p:spPr>
          <a:xfrm>
            <a:off x="2670048" y="2999205"/>
            <a:ext cx="389713" cy="136676"/>
          </a:xfrm>
          <a:prstGeom prst="rect">
            <a:avLst/>
          </a:prstGeom>
          <a:solidFill>
            <a:srgbClr val="C2352F"/>
          </a:solidFill>
          <a:ln/>
        </p:spPr>
      </p:sp>
      <p:sp>
        <p:nvSpPr>
          <p:cNvPr id="39" name="Text 37"/>
          <p:cNvSpPr txBox="1"/>
          <p:nvPr/>
        </p:nvSpPr>
        <p:spPr>
          <a:xfrm>
            <a:off x="3346704"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a:t>
            </a:r>
            <a:endParaRPr lang="en-US" sz="1300" dirty="0"/>
          </a:p>
        </p:txBody>
      </p:sp>
      <p:sp>
        <p:nvSpPr>
          <p:cNvPr id="40" name="Text 38"/>
          <p:cNvSpPr txBox="1"/>
          <p:nvPr/>
        </p:nvSpPr>
        <p:spPr>
          <a:xfrm>
            <a:off x="413308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$58K</a:t>
            </a:r>
            <a:endParaRPr lang="en-US" sz="1300" dirty="0"/>
          </a:p>
        </p:txBody>
      </p:sp>
      <p:sp>
        <p:nvSpPr>
          <p:cNvPr id="41" name="Text 39"/>
          <p:cNvSpPr txBox="1"/>
          <p:nvPr/>
        </p:nvSpPr>
        <p:spPr>
          <a:xfrm>
            <a:off x="500176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$288K</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3" name="Shape 41"/>
          <p:cNvSpPr/>
          <p:nvPr/>
        </p:nvSpPr>
        <p:spPr>
          <a:xfrm>
            <a:off x="2670048" y="3247707"/>
            <a:ext cx="381884" cy="136676"/>
          </a:xfrm>
          <a:prstGeom prst="rect">
            <a:avLst/>
          </a:prstGeom>
          <a:solidFill>
            <a:srgbClr val="C2352F"/>
          </a:solidFill>
          <a:ln/>
        </p:spPr>
      </p:sp>
      <p:sp>
        <p:nvSpPr>
          <p:cNvPr id="44" name="Text 42"/>
          <p:cNvSpPr txBox="1"/>
          <p:nvPr/>
        </p:nvSpPr>
        <p:spPr>
          <a:xfrm>
            <a:off x="3346704"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19.6%</a:t>
            </a:r>
            <a:endParaRPr lang="en-US" sz="1300" dirty="0"/>
          </a:p>
        </p:txBody>
      </p:sp>
      <p:sp>
        <p:nvSpPr>
          <p:cNvPr id="45" name="Text 43"/>
          <p:cNvSpPr txBox="1"/>
          <p:nvPr/>
        </p:nvSpPr>
        <p:spPr>
          <a:xfrm>
            <a:off x="413308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$39K</a:t>
            </a:r>
            <a:endParaRPr lang="en-US" sz="1300" dirty="0"/>
          </a:p>
        </p:txBody>
      </p:sp>
      <p:sp>
        <p:nvSpPr>
          <p:cNvPr id="46" name="Text 44"/>
          <p:cNvSpPr txBox="1"/>
          <p:nvPr/>
        </p:nvSpPr>
        <p:spPr>
          <a:xfrm>
            <a:off x="500176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$202K</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48" name="Shape 46"/>
          <p:cNvSpPr/>
          <p:nvPr/>
        </p:nvSpPr>
        <p:spPr>
          <a:xfrm>
            <a:off x="2670048" y="3496208"/>
            <a:ext cx="370032" cy="136676"/>
          </a:xfrm>
          <a:prstGeom prst="rect">
            <a:avLst/>
          </a:prstGeom>
          <a:solidFill>
            <a:srgbClr val="C2352F"/>
          </a:solidFill>
          <a:ln/>
        </p:spPr>
      </p:sp>
      <p:sp>
        <p:nvSpPr>
          <p:cNvPr id="49" name="Text 47"/>
          <p:cNvSpPr txBox="1"/>
          <p:nvPr/>
        </p:nvSpPr>
        <p:spPr>
          <a:xfrm>
            <a:off x="3346704"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19.0%</a:t>
            </a:r>
            <a:endParaRPr lang="en-US" sz="1300" dirty="0"/>
          </a:p>
        </p:txBody>
      </p:sp>
      <p:sp>
        <p:nvSpPr>
          <p:cNvPr id="50" name="Text 48"/>
          <p:cNvSpPr txBox="1"/>
          <p:nvPr/>
        </p:nvSpPr>
        <p:spPr>
          <a:xfrm>
            <a:off x="413308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51" name="Text 49"/>
          <p:cNvSpPr txBox="1"/>
          <p:nvPr/>
        </p:nvSpPr>
        <p:spPr>
          <a:xfrm>
            <a:off x="500176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53" name="Shape 51"/>
          <p:cNvSpPr/>
          <p:nvPr/>
        </p:nvSpPr>
        <p:spPr>
          <a:xfrm>
            <a:off x="2670048" y="3744710"/>
            <a:ext cx="361163" cy="136676"/>
          </a:xfrm>
          <a:prstGeom prst="rect">
            <a:avLst/>
          </a:prstGeom>
          <a:solidFill>
            <a:srgbClr val="C2352F"/>
          </a:solidFill>
          <a:ln/>
        </p:spPr>
      </p:sp>
      <p:sp>
        <p:nvSpPr>
          <p:cNvPr id="54" name="Text 52"/>
          <p:cNvSpPr txBox="1"/>
          <p:nvPr/>
        </p:nvSpPr>
        <p:spPr>
          <a:xfrm>
            <a:off x="3346704"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18.5%</a:t>
            </a:r>
            <a:endParaRPr lang="en-US" sz="1300" dirty="0"/>
          </a:p>
        </p:txBody>
      </p:sp>
      <p:sp>
        <p:nvSpPr>
          <p:cNvPr id="55" name="Text 53"/>
          <p:cNvSpPr txBox="1"/>
          <p:nvPr/>
        </p:nvSpPr>
        <p:spPr>
          <a:xfrm>
            <a:off x="413308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$34K</a:t>
            </a:r>
            <a:endParaRPr lang="en-US" sz="1300" dirty="0"/>
          </a:p>
        </p:txBody>
      </p:sp>
      <p:sp>
        <p:nvSpPr>
          <p:cNvPr id="56" name="Text 54"/>
          <p:cNvSpPr txBox="1"/>
          <p:nvPr/>
        </p:nvSpPr>
        <p:spPr>
          <a:xfrm>
            <a:off x="500176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8" name="Shape 56"/>
          <p:cNvSpPr/>
          <p:nvPr/>
        </p:nvSpPr>
        <p:spPr>
          <a:xfrm>
            <a:off x="2670048" y="3993212"/>
            <a:ext cx="289514" cy="136676"/>
          </a:xfrm>
          <a:prstGeom prst="rect">
            <a:avLst/>
          </a:prstGeom>
          <a:solidFill>
            <a:srgbClr val="C2352F"/>
          </a:solidFill>
          <a:ln/>
        </p:spPr>
      </p:sp>
      <p:sp>
        <p:nvSpPr>
          <p:cNvPr id="59" name="Text 57"/>
          <p:cNvSpPr txBox="1"/>
          <p:nvPr/>
        </p:nvSpPr>
        <p:spPr>
          <a:xfrm>
            <a:off x="3346704"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14.8%</a:t>
            </a:r>
            <a:endParaRPr lang="en-US" sz="1300" dirty="0"/>
          </a:p>
        </p:txBody>
      </p:sp>
      <p:sp>
        <p:nvSpPr>
          <p:cNvPr id="60" name="Text 58"/>
          <p:cNvSpPr txBox="1"/>
          <p:nvPr/>
        </p:nvSpPr>
        <p:spPr>
          <a:xfrm>
            <a:off x="413308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61" name="Text 59"/>
          <p:cNvSpPr txBox="1"/>
          <p:nvPr/>
        </p:nvSpPr>
        <p:spPr>
          <a:xfrm>
            <a:off x="500176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$417K</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63" name="Shape 61"/>
          <p:cNvSpPr/>
          <p:nvPr/>
        </p:nvSpPr>
        <p:spPr>
          <a:xfrm>
            <a:off x="2670048" y="4241713"/>
            <a:ext cx="280378" cy="136676"/>
          </a:xfrm>
          <a:prstGeom prst="rect">
            <a:avLst/>
          </a:prstGeom>
          <a:solidFill>
            <a:srgbClr val="C2352F"/>
          </a:solidFill>
          <a:ln/>
        </p:spPr>
      </p:sp>
      <p:sp>
        <p:nvSpPr>
          <p:cNvPr id="64" name="Text 62"/>
          <p:cNvSpPr txBox="1"/>
          <p:nvPr/>
        </p:nvSpPr>
        <p:spPr>
          <a:xfrm>
            <a:off x="3346704"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14.4%</a:t>
            </a:r>
            <a:endParaRPr lang="en-US" sz="1300" dirty="0"/>
          </a:p>
        </p:txBody>
      </p:sp>
      <p:sp>
        <p:nvSpPr>
          <p:cNvPr id="65" name="Text 63"/>
          <p:cNvSpPr txBox="1"/>
          <p:nvPr/>
        </p:nvSpPr>
        <p:spPr>
          <a:xfrm>
            <a:off x="413308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$48K</a:t>
            </a:r>
            <a:endParaRPr lang="en-US" sz="1300" dirty="0"/>
          </a:p>
        </p:txBody>
      </p:sp>
      <p:sp>
        <p:nvSpPr>
          <p:cNvPr id="66" name="Text 64"/>
          <p:cNvSpPr txBox="1"/>
          <p:nvPr/>
        </p:nvSpPr>
        <p:spPr>
          <a:xfrm>
            <a:off x="500176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$333K</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68" name="Shape 66"/>
          <p:cNvSpPr/>
          <p:nvPr/>
        </p:nvSpPr>
        <p:spPr>
          <a:xfrm>
            <a:off x="2670048" y="4490215"/>
            <a:ext cx="265831" cy="136676"/>
          </a:xfrm>
          <a:prstGeom prst="rect">
            <a:avLst/>
          </a:prstGeom>
          <a:solidFill>
            <a:srgbClr val="C2352F"/>
          </a:solidFill>
          <a:ln/>
        </p:spPr>
      </p:sp>
      <p:sp>
        <p:nvSpPr>
          <p:cNvPr id="69" name="Text 67"/>
          <p:cNvSpPr txBox="1"/>
          <p:nvPr/>
        </p:nvSpPr>
        <p:spPr>
          <a:xfrm>
            <a:off x="3346704"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13.6%</a:t>
            </a:r>
            <a:endParaRPr lang="en-US" sz="1300" dirty="0"/>
          </a:p>
        </p:txBody>
      </p:sp>
      <p:sp>
        <p:nvSpPr>
          <p:cNvPr id="70" name="Text 68"/>
          <p:cNvSpPr txBox="1"/>
          <p:nvPr/>
        </p:nvSpPr>
        <p:spPr>
          <a:xfrm>
            <a:off x="413308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$158K</a:t>
            </a:r>
            <a:endParaRPr lang="en-US" sz="1300" dirty="0"/>
          </a:p>
        </p:txBody>
      </p:sp>
      <p:sp>
        <p:nvSpPr>
          <p:cNvPr id="71" name="Text 69"/>
          <p:cNvSpPr txBox="1"/>
          <p:nvPr/>
        </p:nvSpPr>
        <p:spPr>
          <a:xfrm>
            <a:off x="500176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$1.16M</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73" name="Shape 71"/>
          <p:cNvSpPr/>
          <p:nvPr/>
        </p:nvSpPr>
        <p:spPr>
          <a:xfrm>
            <a:off x="2670048" y="4738717"/>
            <a:ext cx="263180" cy="136676"/>
          </a:xfrm>
          <a:prstGeom prst="rect">
            <a:avLst/>
          </a:prstGeom>
          <a:solidFill>
            <a:srgbClr val="C2352F"/>
          </a:solidFill>
          <a:ln/>
        </p:spPr>
      </p:sp>
      <p:sp>
        <p:nvSpPr>
          <p:cNvPr id="74" name="Text 72"/>
          <p:cNvSpPr txBox="1"/>
          <p:nvPr/>
        </p:nvSpPr>
        <p:spPr>
          <a:xfrm>
            <a:off x="3346704"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a:t>
            </a:r>
            <a:endParaRPr lang="en-US" sz="1300" dirty="0"/>
          </a:p>
        </p:txBody>
      </p:sp>
      <p:sp>
        <p:nvSpPr>
          <p:cNvPr id="75" name="Text 73"/>
          <p:cNvSpPr txBox="1"/>
          <p:nvPr/>
        </p:nvSpPr>
        <p:spPr>
          <a:xfrm>
            <a:off x="413308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76" name="Text 74"/>
          <p:cNvSpPr txBox="1"/>
          <p:nvPr/>
        </p:nvSpPr>
        <p:spPr>
          <a:xfrm>
            <a:off x="500176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$573K</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78" name="Shape 76"/>
          <p:cNvSpPr/>
          <p:nvPr/>
        </p:nvSpPr>
        <p:spPr>
          <a:xfrm>
            <a:off x="2670048" y="4987218"/>
            <a:ext cx="225366" cy="136676"/>
          </a:xfrm>
          <a:prstGeom prst="rect">
            <a:avLst/>
          </a:prstGeom>
          <a:solidFill>
            <a:srgbClr val="C2352F"/>
          </a:solidFill>
          <a:ln/>
        </p:spPr>
      </p:sp>
      <p:sp>
        <p:nvSpPr>
          <p:cNvPr id="79" name="Text 77"/>
          <p:cNvSpPr txBox="1"/>
          <p:nvPr/>
        </p:nvSpPr>
        <p:spPr>
          <a:xfrm>
            <a:off x="3346704"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11.6%</a:t>
            </a:r>
            <a:endParaRPr lang="en-US" sz="1300" dirty="0"/>
          </a:p>
        </p:txBody>
      </p:sp>
      <p:sp>
        <p:nvSpPr>
          <p:cNvPr id="80" name="Text 78"/>
          <p:cNvSpPr txBox="1"/>
          <p:nvPr/>
        </p:nvSpPr>
        <p:spPr>
          <a:xfrm>
            <a:off x="413308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$74K</a:t>
            </a:r>
            <a:endParaRPr lang="en-US" sz="1300" dirty="0"/>
          </a:p>
        </p:txBody>
      </p:sp>
      <p:sp>
        <p:nvSpPr>
          <p:cNvPr id="81" name="Text 79"/>
          <p:cNvSpPr txBox="1"/>
          <p:nvPr/>
        </p:nvSpPr>
        <p:spPr>
          <a:xfrm>
            <a:off x="500176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$643K</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83" name="Shape 81"/>
          <p:cNvSpPr/>
          <p:nvPr/>
        </p:nvSpPr>
        <p:spPr>
          <a:xfrm>
            <a:off x="2670048" y="5235720"/>
            <a:ext cx="175448" cy="136676"/>
          </a:xfrm>
          <a:prstGeom prst="rect">
            <a:avLst/>
          </a:prstGeom>
          <a:solidFill>
            <a:srgbClr val="C2352F"/>
          </a:solidFill>
          <a:ln/>
        </p:spPr>
      </p:sp>
      <p:sp>
        <p:nvSpPr>
          <p:cNvPr id="84" name="Text 82"/>
          <p:cNvSpPr txBox="1"/>
          <p:nvPr/>
        </p:nvSpPr>
        <p:spPr>
          <a:xfrm>
            <a:off x="3346704"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a:t>
            </a:r>
            <a:endParaRPr lang="en-US" sz="1300" dirty="0"/>
          </a:p>
        </p:txBody>
      </p:sp>
      <p:sp>
        <p:nvSpPr>
          <p:cNvPr id="85" name="Text 83"/>
          <p:cNvSpPr txBox="1"/>
          <p:nvPr/>
        </p:nvSpPr>
        <p:spPr>
          <a:xfrm>
            <a:off x="413308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$63K</a:t>
            </a:r>
            <a:endParaRPr lang="en-US" sz="1300" dirty="0"/>
          </a:p>
        </p:txBody>
      </p:sp>
      <p:sp>
        <p:nvSpPr>
          <p:cNvPr id="86" name="Text 84"/>
          <p:cNvSpPr txBox="1"/>
          <p:nvPr/>
        </p:nvSpPr>
        <p:spPr>
          <a:xfrm>
            <a:off x="500176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$702K</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88" name="Shape 86"/>
          <p:cNvSpPr/>
          <p:nvPr/>
        </p:nvSpPr>
        <p:spPr>
          <a:xfrm>
            <a:off x="2670048" y="5484222"/>
            <a:ext cx="161118" cy="136676"/>
          </a:xfrm>
          <a:prstGeom prst="rect">
            <a:avLst/>
          </a:prstGeom>
          <a:solidFill>
            <a:srgbClr val="C2352F"/>
          </a:solidFill>
          <a:ln/>
        </p:spPr>
      </p:sp>
      <p:sp>
        <p:nvSpPr>
          <p:cNvPr id="89" name="Text 87"/>
          <p:cNvSpPr txBox="1"/>
          <p:nvPr/>
        </p:nvSpPr>
        <p:spPr>
          <a:xfrm>
            <a:off x="3346704"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a:t>
            </a:r>
            <a:endParaRPr lang="en-US" sz="1300" dirty="0"/>
          </a:p>
        </p:txBody>
      </p:sp>
      <p:sp>
        <p:nvSpPr>
          <p:cNvPr id="90" name="Text 88"/>
          <p:cNvSpPr txBox="1"/>
          <p:nvPr/>
        </p:nvSpPr>
        <p:spPr>
          <a:xfrm>
            <a:off x="413308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$102K</a:t>
            </a:r>
            <a:endParaRPr lang="en-US" sz="1300" dirty="0"/>
          </a:p>
        </p:txBody>
      </p:sp>
      <p:sp>
        <p:nvSpPr>
          <p:cNvPr id="91" name="Text 89"/>
          <p:cNvSpPr txBox="1"/>
          <p:nvPr/>
        </p:nvSpPr>
        <p:spPr>
          <a:xfrm>
            <a:off x="500176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$1.23M</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93" name="Shape 91"/>
          <p:cNvSpPr/>
          <p:nvPr/>
        </p:nvSpPr>
        <p:spPr>
          <a:xfrm>
            <a:off x="2670048" y="5732723"/>
            <a:ext cx="155810" cy="136676"/>
          </a:xfrm>
          <a:prstGeom prst="rect">
            <a:avLst/>
          </a:prstGeom>
          <a:solidFill>
            <a:srgbClr val="C2352F"/>
          </a:solidFill>
          <a:ln/>
        </p:spPr>
      </p:sp>
      <p:sp>
        <p:nvSpPr>
          <p:cNvPr id="94" name="Text 92"/>
          <p:cNvSpPr txBox="1"/>
          <p:nvPr/>
        </p:nvSpPr>
        <p:spPr>
          <a:xfrm>
            <a:off x="3346704"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a:t>
            </a:r>
            <a:endParaRPr lang="en-US" sz="1300" dirty="0"/>
          </a:p>
        </p:txBody>
      </p:sp>
      <p:sp>
        <p:nvSpPr>
          <p:cNvPr id="95" name="Text 93"/>
          <p:cNvSpPr txBox="1"/>
          <p:nvPr/>
        </p:nvSpPr>
        <p:spPr>
          <a:xfrm>
            <a:off x="413308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96" name="Text 94"/>
          <p:cNvSpPr txBox="1"/>
          <p:nvPr/>
        </p:nvSpPr>
        <p:spPr>
          <a:xfrm>
            <a:off x="500176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$257K</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8" name="Shape 96"/>
          <p:cNvSpPr/>
          <p:nvPr/>
        </p:nvSpPr>
        <p:spPr>
          <a:xfrm>
            <a:off x="8220456" y="1756697"/>
            <a:ext cx="155313" cy="136676"/>
          </a:xfrm>
          <a:prstGeom prst="rect">
            <a:avLst/>
          </a:prstGeom>
          <a:solidFill>
            <a:srgbClr val="C2352F"/>
          </a:solidFill>
          <a:ln/>
        </p:spPr>
      </p:sp>
      <p:sp>
        <p:nvSpPr>
          <p:cNvPr id="99" name="Text 97"/>
          <p:cNvSpPr txBox="1"/>
          <p:nvPr/>
        </p:nvSpPr>
        <p:spPr>
          <a:xfrm>
            <a:off x="8897112"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a:t>
            </a:r>
            <a:endParaRPr lang="en-US" sz="1300" dirty="0"/>
          </a:p>
        </p:txBody>
      </p:sp>
      <p:sp>
        <p:nvSpPr>
          <p:cNvPr id="100" name="Text 98"/>
          <p:cNvSpPr txBox="1"/>
          <p:nvPr/>
        </p:nvSpPr>
        <p:spPr>
          <a:xfrm>
            <a:off x="968349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$42K</a:t>
            </a:r>
            <a:endParaRPr lang="en-US" sz="1300" dirty="0"/>
          </a:p>
        </p:txBody>
      </p:sp>
      <p:sp>
        <p:nvSpPr>
          <p:cNvPr id="101" name="Text 99"/>
          <p:cNvSpPr txBox="1"/>
          <p:nvPr/>
        </p:nvSpPr>
        <p:spPr>
          <a:xfrm>
            <a:off x="1055217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$532K</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3" name="Shape 101"/>
          <p:cNvSpPr/>
          <p:nvPr/>
        </p:nvSpPr>
        <p:spPr>
          <a:xfrm>
            <a:off x="8220456" y="2005199"/>
            <a:ext cx="154055" cy="136676"/>
          </a:xfrm>
          <a:prstGeom prst="rect">
            <a:avLst/>
          </a:prstGeom>
          <a:solidFill>
            <a:srgbClr val="C2352F"/>
          </a:solidFill>
          <a:ln/>
        </p:spPr>
      </p:sp>
      <p:sp>
        <p:nvSpPr>
          <p:cNvPr id="104" name="Text 102"/>
          <p:cNvSpPr txBox="1"/>
          <p:nvPr/>
        </p:nvSpPr>
        <p:spPr>
          <a:xfrm>
            <a:off x="8897112"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endParaRPr lang="en-US" sz="1300" dirty="0"/>
          </a:p>
        </p:txBody>
      </p:sp>
      <p:sp>
        <p:nvSpPr>
          <p:cNvPr id="105" name="Text 103"/>
          <p:cNvSpPr txBox="1"/>
          <p:nvPr/>
        </p:nvSpPr>
        <p:spPr>
          <a:xfrm>
            <a:off x="968349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$32K</a:t>
            </a:r>
            <a:endParaRPr lang="en-US" sz="1300" dirty="0"/>
          </a:p>
        </p:txBody>
      </p:sp>
      <p:sp>
        <p:nvSpPr>
          <p:cNvPr id="106" name="Text 104"/>
          <p:cNvSpPr txBox="1"/>
          <p:nvPr/>
        </p:nvSpPr>
        <p:spPr>
          <a:xfrm>
            <a:off x="1055217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$400K</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8" name="Shape 106"/>
          <p:cNvSpPr/>
          <p:nvPr/>
        </p:nvSpPr>
        <p:spPr>
          <a:xfrm>
            <a:off x="8220456" y="2253700"/>
            <a:ext cx="148215" cy="136676"/>
          </a:xfrm>
          <a:prstGeom prst="rect">
            <a:avLst/>
          </a:prstGeom>
          <a:solidFill>
            <a:srgbClr val="C2352F"/>
          </a:solidFill>
          <a:ln/>
        </p:spPr>
      </p:sp>
      <p:sp>
        <p:nvSpPr>
          <p:cNvPr id="109" name="Text 107"/>
          <p:cNvSpPr txBox="1"/>
          <p:nvPr/>
        </p:nvSpPr>
        <p:spPr>
          <a:xfrm>
            <a:off x="8897112"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a:t>
            </a:r>
            <a:endParaRPr lang="en-US" sz="1300" dirty="0"/>
          </a:p>
        </p:txBody>
      </p:sp>
      <p:sp>
        <p:nvSpPr>
          <p:cNvPr id="110" name="Text 108"/>
          <p:cNvSpPr txBox="1"/>
          <p:nvPr/>
        </p:nvSpPr>
        <p:spPr>
          <a:xfrm>
            <a:off x="968349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$24K</a:t>
            </a:r>
            <a:endParaRPr lang="en-US" sz="1300" dirty="0"/>
          </a:p>
        </p:txBody>
      </p:sp>
      <p:sp>
        <p:nvSpPr>
          <p:cNvPr id="111" name="Text 109"/>
          <p:cNvSpPr txBox="1"/>
          <p:nvPr/>
        </p:nvSpPr>
        <p:spPr>
          <a:xfrm>
            <a:off x="1055217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$312K</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3" name="Shape 111"/>
          <p:cNvSpPr/>
          <p:nvPr/>
        </p:nvSpPr>
        <p:spPr>
          <a:xfrm>
            <a:off x="8220456" y="2502202"/>
            <a:ext cx="113006" cy="136676"/>
          </a:xfrm>
          <a:prstGeom prst="rect">
            <a:avLst/>
          </a:prstGeom>
          <a:solidFill>
            <a:srgbClr val="C2352F"/>
          </a:solidFill>
          <a:ln/>
        </p:spPr>
      </p:sp>
      <p:sp>
        <p:nvSpPr>
          <p:cNvPr id="114" name="Text 112"/>
          <p:cNvSpPr txBox="1"/>
          <p:nvPr/>
        </p:nvSpPr>
        <p:spPr>
          <a:xfrm>
            <a:off x="8897112"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a:t>
            </a:r>
            <a:endParaRPr lang="en-US" sz="1300" dirty="0"/>
          </a:p>
        </p:txBody>
      </p:sp>
      <p:sp>
        <p:nvSpPr>
          <p:cNvPr id="115" name="Text 113"/>
          <p:cNvSpPr txBox="1"/>
          <p:nvPr/>
        </p:nvSpPr>
        <p:spPr>
          <a:xfrm>
            <a:off x="968349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$22K</a:t>
            </a:r>
            <a:endParaRPr lang="en-US" sz="1300" dirty="0"/>
          </a:p>
        </p:txBody>
      </p:sp>
      <p:sp>
        <p:nvSpPr>
          <p:cNvPr id="116" name="Text 114"/>
          <p:cNvSpPr txBox="1"/>
          <p:nvPr/>
        </p:nvSpPr>
        <p:spPr>
          <a:xfrm>
            <a:off x="1055217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$382K</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18" name="Shape 116"/>
          <p:cNvSpPr/>
          <p:nvPr/>
        </p:nvSpPr>
        <p:spPr>
          <a:xfrm>
            <a:off x="8220456" y="2750703"/>
            <a:ext cx="100935" cy="136676"/>
          </a:xfrm>
          <a:prstGeom prst="rect">
            <a:avLst/>
          </a:prstGeom>
          <a:solidFill>
            <a:srgbClr val="C2352F"/>
          </a:solidFill>
          <a:ln/>
        </p:spPr>
      </p:sp>
      <p:sp>
        <p:nvSpPr>
          <p:cNvPr id="119" name="Text 117"/>
          <p:cNvSpPr txBox="1"/>
          <p:nvPr/>
        </p:nvSpPr>
        <p:spPr>
          <a:xfrm>
            <a:off x="8897112"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a:t>
            </a:r>
            <a:endParaRPr lang="en-US" sz="1300" dirty="0"/>
          </a:p>
        </p:txBody>
      </p:sp>
      <p:sp>
        <p:nvSpPr>
          <p:cNvPr id="120" name="Text 118"/>
          <p:cNvSpPr txBox="1"/>
          <p:nvPr/>
        </p:nvSpPr>
        <p:spPr>
          <a:xfrm>
            <a:off x="968349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$87K</a:t>
            </a:r>
            <a:endParaRPr lang="en-US" sz="1300" dirty="0"/>
          </a:p>
        </p:txBody>
      </p:sp>
      <p:sp>
        <p:nvSpPr>
          <p:cNvPr id="121" name="Text 119"/>
          <p:cNvSpPr txBox="1"/>
          <p:nvPr/>
        </p:nvSpPr>
        <p:spPr>
          <a:xfrm>
            <a:off x="1055217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$1.69M</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23" name="Shape 121"/>
          <p:cNvSpPr/>
          <p:nvPr/>
        </p:nvSpPr>
        <p:spPr>
          <a:xfrm>
            <a:off x="8220456" y="2999205"/>
            <a:ext cx="93000" cy="136676"/>
          </a:xfrm>
          <a:prstGeom prst="rect">
            <a:avLst/>
          </a:prstGeom>
          <a:solidFill>
            <a:srgbClr val="C2352F"/>
          </a:solidFill>
          <a:ln/>
        </p:spPr>
      </p:sp>
      <p:sp>
        <p:nvSpPr>
          <p:cNvPr id="124" name="Text 122"/>
          <p:cNvSpPr txBox="1"/>
          <p:nvPr/>
        </p:nvSpPr>
        <p:spPr>
          <a:xfrm>
            <a:off x="8897112"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a:t>
            </a:r>
            <a:endParaRPr lang="en-US" sz="1300" dirty="0"/>
          </a:p>
        </p:txBody>
      </p:sp>
      <p:sp>
        <p:nvSpPr>
          <p:cNvPr id="125" name="Text 123"/>
          <p:cNvSpPr txBox="1"/>
          <p:nvPr/>
        </p:nvSpPr>
        <p:spPr>
          <a:xfrm>
            <a:off x="968349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$25K</a:t>
            </a:r>
            <a:endParaRPr lang="en-US" sz="1300" dirty="0"/>
          </a:p>
        </p:txBody>
      </p:sp>
      <p:sp>
        <p:nvSpPr>
          <p:cNvPr id="126" name="Text 124"/>
          <p:cNvSpPr txBox="1"/>
          <p:nvPr/>
        </p:nvSpPr>
        <p:spPr>
          <a:xfrm>
            <a:off x="1055217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$516K</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28" name="Shape 126"/>
          <p:cNvSpPr/>
          <p:nvPr/>
        </p:nvSpPr>
        <p:spPr>
          <a:xfrm>
            <a:off x="8220456" y="3247707"/>
            <a:ext cx="81778" cy="136676"/>
          </a:xfrm>
          <a:prstGeom prst="rect">
            <a:avLst/>
          </a:prstGeom>
          <a:solidFill>
            <a:srgbClr val="C2352F"/>
          </a:solidFill>
          <a:ln/>
        </p:spPr>
      </p:sp>
      <p:sp>
        <p:nvSpPr>
          <p:cNvPr id="129" name="Text 127"/>
          <p:cNvSpPr txBox="1"/>
          <p:nvPr/>
        </p:nvSpPr>
        <p:spPr>
          <a:xfrm>
            <a:off x="8897112"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a:t>
            </a:r>
            <a:endParaRPr lang="en-US" sz="1300" dirty="0"/>
          </a:p>
        </p:txBody>
      </p:sp>
      <p:sp>
        <p:nvSpPr>
          <p:cNvPr id="130" name="Text 128"/>
          <p:cNvSpPr txBox="1"/>
          <p:nvPr/>
        </p:nvSpPr>
        <p:spPr>
          <a:xfrm>
            <a:off x="968349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31" name="Text 129"/>
          <p:cNvSpPr txBox="1"/>
          <p:nvPr/>
        </p:nvSpPr>
        <p:spPr>
          <a:xfrm>
            <a:off x="1055217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$357K</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3" name="Shape 131"/>
          <p:cNvSpPr/>
          <p:nvPr/>
        </p:nvSpPr>
        <p:spPr>
          <a:xfrm>
            <a:off x="8220456" y="3496208"/>
            <a:ext cx="79315" cy="136676"/>
          </a:xfrm>
          <a:prstGeom prst="rect">
            <a:avLst/>
          </a:prstGeom>
          <a:solidFill>
            <a:srgbClr val="C2352F"/>
          </a:solidFill>
          <a:ln/>
        </p:spPr>
      </p:sp>
      <p:sp>
        <p:nvSpPr>
          <p:cNvPr id="134" name="Text 132"/>
          <p:cNvSpPr txBox="1"/>
          <p:nvPr/>
        </p:nvSpPr>
        <p:spPr>
          <a:xfrm>
            <a:off x="8897112"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4.1%</a:t>
            </a:r>
            <a:endParaRPr lang="en-US" sz="1300" dirty="0"/>
          </a:p>
        </p:txBody>
      </p:sp>
      <p:sp>
        <p:nvSpPr>
          <p:cNvPr id="135" name="Text 133"/>
          <p:cNvSpPr txBox="1"/>
          <p:nvPr/>
        </p:nvSpPr>
        <p:spPr>
          <a:xfrm>
            <a:off x="968349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$44K</a:t>
            </a:r>
            <a:endParaRPr lang="en-US" sz="1300" dirty="0"/>
          </a:p>
        </p:txBody>
      </p:sp>
      <p:sp>
        <p:nvSpPr>
          <p:cNvPr id="136" name="Text 134"/>
          <p:cNvSpPr txBox="1"/>
          <p:nvPr/>
        </p:nvSpPr>
        <p:spPr>
          <a:xfrm>
            <a:off x="1055217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$1.07M</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38" name="Shape 136"/>
          <p:cNvSpPr/>
          <p:nvPr/>
        </p:nvSpPr>
        <p:spPr>
          <a:xfrm>
            <a:off x="8220456" y="3744710"/>
            <a:ext cx="77721" cy="136676"/>
          </a:xfrm>
          <a:prstGeom prst="rect">
            <a:avLst/>
          </a:prstGeom>
          <a:solidFill>
            <a:srgbClr val="C2352F"/>
          </a:solidFill>
          <a:ln/>
        </p:spPr>
      </p:sp>
      <p:sp>
        <p:nvSpPr>
          <p:cNvPr id="139" name="Text 137"/>
          <p:cNvSpPr txBox="1"/>
          <p:nvPr/>
        </p:nvSpPr>
        <p:spPr>
          <a:xfrm>
            <a:off x="8897112"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a:t>
            </a:r>
            <a:endParaRPr lang="en-US" sz="1300" dirty="0"/>
          </a:p>
        </p:txBody>
      </p:sp>
      <p:sp>
        <p:nvSpPr>
          <p:cNvPr id="140" name="Text 138"/>
          <p:cNvSpPr txBox="1"/>
          <p:nvPr/>
        </p:nvSpPr>
        <p:spPr>
          <a:xfrm>
            <a:off x="968349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$20K</a:t>
            </a:r>
            <a:endParaRPr lang="en-US" sz="1300" dirty="0"/>
          </a:p>
        </p:txBody>
      </p:sp>
      <p:sp>
        <p:nvSpPr>
          <p:cNvPr id="141" name="Text 139"/>
          <p:cNvSpPr txBox="1"/>
          <p:nvPr/>
        </p:nvSpPr>
        <p:spPr>
          <a:xfrm>
            <a:off x="1055217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$504K</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43" name="Shape 141"/>
          <p:cNvSpPr/>
          <p:nvPr/>
        </p:nvSpPr>
        <p:spPr>
          <a:xfrm>
            <a:off x="8220456" y="3993212"/>
            <a:ext cx="56042" cy="136676"/>
          </a:xfrm>
          <a:prstGeom prst="rect">
            <a:avLst/>
          </a:prstGeom>
          <a:solidFill>
            <a:srgbClr val="C2352F"/>
          </a:solidFill>
          <a:ln/>
        </p:spPr>
      </p:sp>
      <p:sp>
        <p:nvSpPr>
          <p:cNvPr id="144" name="Text 142"/>
          <p:cNvSpPr txBox="1"/>
          <p:nvPr/>
        </p:nvSpPr>
        <p:spPr>
          <a:xfrm>
            <a:off x="8897112"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a:t>
            </a:r>
            <a:endParaRPr lang="en-US" sz="1300" dirty="0"/>
          </a:p>
        </p:txBody>
      </p:sp>
      <p:sp>
        <p:nvSpPr>
          <p:cNvPr id="145" name="Text 143"/>
          <p:cNvSpPr txBox="1"/>
          <p:nvPr/>
        </p:nvSpPr>
        <p:spPr>
          <a:xfrm>
            <a:off x="968349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$70K</a:t>
            </a:r>
            <a:endParaRPr lang="en-US" sz="1300" dirty="0"/>
          </a:p>
        </p:txBody>
      </p:sp>
      <p:sp>
        <p:nvSpPr>
          <p:cNvPr id="146" name="Text 144"/>
          <p:cNvSpPr txBox="1"/>
          <p:nvPr/>
        </p:nvSpPr>
        <p:spPr>
          <a:xfrm>
            <a:off x="1055217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$2.44M</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48" name="Shape 146"/>
          <p:cNvSpPr/>
          <p:nvPr/>
        </p:nvSpPr>
        <p:spPr>
          <a:xfrm>
            <a:off x="8220456" y="4241713"/>
            <a:ext cx="51888" cy="136676"/>
          </a:xfrm>
          <a:prstGeom prst="rect">
            <a:avLst/>
          </a:prstGeom>
          <a:solidFill>
            <a:srgbClr val="C2352F"/>
          </a:solidFill>
          <a:ln/>
        </p:spPr>
      </p:sp>
      <p:sp>
        <p:nvSpPr>
          <p:cNvPr id="149" name="Text 147"/>
          <p:cNvSpPr txBox="1"/>
          <p:nvPr/>
        </p:nvSpPr>
        <p:spPr>
          <a:xfrm>
            <a:off x="8897112"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a:t>
            </a:r>
            <a:endParaRPr lang="en-US" sz="1300" dirty="0"/>
          </a:p>
        </p:txBody>
      </p:sp>
      <p:sp>
        <p:nvSpPr>
          <p:cNvPr id="150" name="Text 148"/>
          <p:cNvSpPr txBox="1"/>
          <p:nvPr/>
        </p:nvSpPr>
        <p:spPr>
          <a:xfrm>
            <a:off x="968349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$9K</a:t>
            </a:r>
            <a:endParaRPr lang="en-US" sz="1300" dirty="0"/>
          </a:p>
        </p:txBody>
      </p:sp>
      <p:sp>
        <p:nvSpPr>
          <p:cNvPr id="151" name="Text 149"/>
          <p:cNvSpPr txBox="1"/>
          <p:nvPr/>
        </p:nvSpPr>
        <p:spPr>
          <a:xfrm>
            <a:off x="1055217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$322K</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3" name="Shape 151"/>
          <p:cNvSpPr/>
          <p:nvPr/>
        </p:nvSpPr>
        <p:spPr>
          <a:xfrm>
            <a:off x="8220456" y="4490215"/>
            <a:ext cx="37656" cy="136676"/>
          </a:xfrm>
          <a:prstGeom prst="rect">
            <a:avLst/>
          </a:prstGeom>
          <a:solidFill>
            <a:srgbClr val="C2352F"/>
          </a:solidFill>
          <a:ln/>
        </p:spPr>
      </p:sp>
      <p:sp>
        <p:nvSpPr>
          <p:cNvPr id="154" name="Text 152"/>
          <p:cNvSpPr txBox="1"/>
          <p:nvPr/>
        </p:nvSpPr>
        <p:spPr>
          <a:xfrm>
            <a:off x="8897112"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155" name="Text 153"/>
          <p:cNvSpPr txBox="1"/>
          <p:nvPr/>
        </p:nvSpPr>
        <p:spPr>
          <a:xfrm>
            <a:off x="968349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$10K</a:t>
            </a:r>
            <a:endParaRPr lang="en-US" sz="1300" dirty="0"/>
          </a:p>
        </p:txBody>
      </p:sp>
      <p:sp>
        <p:nvSpPr>
          <p:cNvPr id="156" name="Text 154"/>
          <p:cNvSpPr txBox="1"/>
          <p:nvPr/>
        </p:nvSpPr>
        <p:spPr>
          <a:xfrm>
            <a:off x="1055217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$542K</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58" name="Shape 156"/>
          <p:cNvSpPr/>
          <p:nvPr/>
        </p:nvSpPr>
        <p:spPr>
          <a:xfrm>
            <a:off x="8220456" y="4738717"/>
            <a:ext cx="36383" cy="136676"/>
          </a:xfrm>
          <a:prstGeom prst="rect">
            <a:avLst/>
          </a:prstGeom>
          <a:solidFill>
            <a:srgbClr val="C2352F"/>
          </a:solidFill>
          <a:ln/>
        </p:spPr>
      </p:sp>
      <p:sp>
        <p:nvSpPr>
          <p:cNvPr id="159" name="Text 157"/>
          <p:cNvSpPr txBox="1"/>
          <p:nvPr/>
        </p:nvSpPr>
        <p:spPr>
          <a:xfrm>
            <a:off x="8897112"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160" name="Text 158"/>
          <p:cNvSpPr txBox="1"/>
          <p:nvPr/>
        </p:nvSpPr>
        <p:spPr>
          <a:xfrm>
            <a:off x="968349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$11K</a:t>
            </a:r>
            <a:endParaRPr lang="en-US" sz="1300" dirty="0"/>
          </a:p>
        </p:txBody>
      </p:sp>
      <p:sp>
        <p:nvSpPr>
          <p:cNvPr id="161" name="Text 159"/>
          <p:cNvSpPr txBox="1"/>
          <p:nvPr/>
        </p:nvSpPr>
        <p:spPr>
          <a:xfrm>
            <a:off x="1055217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$609K</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63" name="Shape 161"/>
          <p:cNvSpPr/>
          <p:nvPr/>
        </p:nvSpPr>
        <p:spPr>
          <a:xfrm>
            <a:off x="8220456" y="4987218"/>
            <a:ext cx="26547" cy="136676"/>
          </a:xfrm>
          <a:prstGeom prst="rect">
            <a:avLst/>
          </a:prstGeom>
          <a:solidFill>
            <a:srgbClr val="C2352F"/>
          </a:solidFill>
          <a:ln/>
        </p:spPr>
      </p:sp>
      <p:sp>
        <p:nvSpPr>
          <p:cNvPr id="164" name="Text 162"/>
          <p:cNvSpPr txBox="1"/>
          <p:nvPr/>
        </p:nvSpPr>
        <p:spPr>
          <a:xfrm>
            <a:off x="8897112"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a:t>
            </a:r>
            <a:endParaRPr lang="en-US" sz="1300" dirty="0"/>
          </a:p>
        </p:txBody>
      </p:sp>
      <p:sp>
        <p:nvSpPr>
          <p:cNvPr id="165" name="Text 163"/>
          <p:cNvSpPr txBox="1"/>
          <p:nvPr/>
        </p:nvSpPr>
        <p:spPr>
          <a:xfrm>
            <a:off x="968349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166" name="Text 164"/>
          <p:cNvSpPr txBox="1"/>
          <p:nvPr/>
        </p:nvSpPr>
        <p:spPr>
          <a:xfrm>
            <a:off x="1055217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$949K</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68" name="Shape 166"/>
          <p:cNvSpPr/>
          <p:nvPr/>
        </p:nvSpPr>
        <p:spPr>
          <a:xfrm>
            <a:off x="8220456" y="5235720"/>
            <a:ext cx="18288" cy="136676"/>
          </a:xfrm>
          <a:prstGeom prst="rect">
            <a:avLst/>
          </a:prstGeom>
          <a:solidFill>
            <a:srgbClr val="C2352F"/>
          </a:solidFill>
          <a:ln/>
        </p:spPr>
      </p:sp>
      <p:sp>
        <p:nvSpPr>
          <p:cNvPr id="169" name="Text 167"/>
          <p:cNvSpPr txBox="1"/>
          <p:nvPr/>
        </p:nvSpPr>
        <p:spPr>
          <a:xfrm>
            <a:off x="8897112"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0.8%</a:t>
            </a:r>
            <a:endParaRPr lang="en-US" sz="1300" dirty="0"/>
          </a:p>
        </p:txBody>
      </p:sp>
      <p:sp>
        <p:nvSpPr>
          <p:cNvPr id="170" name="Text 168"/>
          <p:cNvSpPr txBox="1"/>
          <p:nvPr/>
        </p:nvSpPr>
        <p:spPr>
          <a:xfrm>
            <a:off x="968349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171" name="Text 169"/>
          <p:cNvSpPr txBox="1"/>
          <p:nvPr/>
        </p:nvSpPr>
        <p:spPr>
          <a:xfrm>
            <a:off x="1055217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$1.54M</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73" name="Shape 171"/>
          <p:cNvSpPr/>
          <p:nvPr/>
        </p:nvSpPr>
        <p:spPr>
          <a:xfrm>
            <a:off x="8220456" y="5484222"/>
            <a:ext cx="18288" cy="136676"/>
          </a:xfrm>
          <a:prstGeom prst="rect">
            <a:avLst/>
          </a:prstGeom>
          <a:solidFill>
            <a:srgbClr val="C2352F"/>
          </a:solidFill>
          <a:ln/>
        </p:spPr>
      </p:sp>
      <p:sp>
        <p:nvSpPr>
          <p:cNvPr id="174" name="Text 172"/>
          <p:cNvSpPr txBox="1"/>
          <p:nvPr/>
        </p:nvSpPr>
        <p:spPr>
          <a:xfrm>
            <a:off x="8897112"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0.2%</a:t>
            </a:r>
            <a:endParaRPr lang="en-US" sz="1300" dirty="0"/>
          </a:p>
        </p:txBody>
      </p:sp>
      <p:sp>
        <p:nvSpPr>
          <p:cNvPr id="175" name="Text 173"/>
          <p:cNvSpPr txBox="1"/>
          <p:nvPr/>
        </p:nvSpPr>
        <p:spPr>
          <a:xfrm>
            <a:off x="968349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$1K</a:t>
            </a:r>
            <a:endParaRPr lang="en-US" sz="1300" dirty="0"/>
          </a:p>
        </p:txBody>
      </p:sp>
      <p:sp>
        <p:nvSpPr>
          <p:cNvPr id="176" name="Text 174"/>
          <p:cNvSpPr txBox="1"/>
          <p:nvPr/>
        </p:nvSpPr>
        <p:spPr>
          <a:xfrm>
            <a:off x="1055217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$453K</a:t>
            </a:r>
            <a:endParaRPr lang="en-US" sz="1300" dirty="0"/>
          </a:p>
        </p:txBody>
      </p:sp>
      <p:sp>
        <p:nvSpPr>
          <p:cNvPr id="177" name="Shape 175"/>
          <p:cNvSpPr/>
          <p:nvPr/>
        </p:nvSpPr>
        <p:spPr>
          <a:xfrm>
            <a:off x="457200" y="6126480"/>
            <a:ext cx="11274552" cy="615696"/>
          </a:xfrm>
          <a:prstGeom prst="rect">
            <a:avLst/>
          </a:prstGeom>
          <a:solidFill>
            <a:srgbClr val="FBEBEA"/>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Group-wide the gap is 8.1% of RO gross. 5 stores are missing a fifth or more, led by Hyundai St George at 32% ($88K of $277K a month).</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Your Best Techs Prove 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182880" cy="182880"/>
          </a:xfrm>
          <a:prstGeom prst="ellipse">
            <a:avLst/>
          </a:prstGeom>
          <a:solidFill>
            <a:srgbClr val="C2352F"/>
          </a:solidFill>
          <a:ln/>
        </p:spPr>
      </p:sp>
      <p:sp>
        <p:nvSpPr>
          <p:cNvPr id="7" name="Text 5"/>
          <p:cNvSpPr txBox="1"/>
          <p:nvPr/>
        </p:nvSpPr>
        <p:spPr>
          <a:xfrm>
            <a:off x="932688"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Store proficiency (green at or above 85%)</a:t>
            </a:r>
            <a:endParaRPr lang="en-US" sz="1400" dirty="0"/>
          </a:p>
        </p:txBody>
      </p:sp>
      <p:sp>
        <p:nvSpPr>
          <p:cNvPr id="8" name="Shape 6"/>
          <p:cNvSpPr/>
          <p:nvPr/>
        </p:nvSpPr>
        <p:spPr>
          <a:xfrm>
            <a:off x="6208776" y="1371600"/>
            <a:ext cx="182880" cy="182880"/>
          </a:xfrm>
          <a:prstGeom prst="ellipse">
            <a:avLst/>
          </a:prstGeom>
          <a:solidFill>
            <a:srgbClr val="0B2C4A"/>
          </a:solidFill>
          <a:ln/>
        </p:spPr>
      </p:sp>
      <p:sp>
        <p:nvSpPr>
          <p:cNvPr id="9" name="Text 7"/>
          <p:cNvSpPr txBox="1"/>
          <p:nvPr/>
        </p:nvSpPr>
        <p:spPr>
          <a:xfrm>
            <a:off x="6483096"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Top quarter of that store's techs</a:t>
            </a:r>
            <a:endParaRPr lang="en-US" sz="1400" dirty="0"/>
          </a:p>
        </p:txBody>
      </p:sp>
      <p:sp>
        <p:nvSpPr>
          <p:cNvPr id="10" name="Shape 8"/>
          <p:cNvSpPr/>
          <p:nvPr/>
        </p:nvSpPr>
        <p:spPr>
          <a:xfrm>
            <a:off x="3099359" y="1737360"/>
            <a:ext cx="14630" cy="4187952"/>
          </a:xfrm>
          <a:prstGeom prst="rect">
            <a:avLst/>
          </a:prstGeom>
          <a:solidFill>
            <a:srgbClr val="9AA3AD"/>
          </a:solidFill>
          <a:ln/>
        </p:spPr>
      </p:sp>
      <p:sp>
        <p:nvSpPr>
          <p:cNvPr id="11" name="Shape 9"/>
          <p:cNvSpPr/>
          <p:nvPr/>
        </p:nvSpPr>
        <p:spPr>
          <a:xfrm>
            <a:off x="8649767" y="1737360"/>
            <a:ext cx="14630" cy="3941602"/>
          </a:xfrm>
          <a:prstGeom prst="rect">
            <a:avLst/>
          </a:prstGeom>
          <a:solidFill>
            <a:srgbClr val="9AA3AD"/>
          </a:solidFill>
          <a:ln/>
        </p:spPr>
      </p:sp>
      <p:sp>
        <p:nvSpPr>
          <p:cNvPr id="12" name="Text 10"/>
          <p:cNvSpPr txBox="1"/>
          <p:nvPr/>
        </p:nvSpPr>
        <p:spPr>
          <a:xfrm>
            <a:off x="658368"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 name="Shape 11"/>
          <p:cNvSpPr/>
          <p:nvPr/>
        </p:nvSpPr>
        <p:spPr>
          <a:xfrm>
            <a:off x="3507248" y="1846819"/>
            <a:ext cx="645269" cy="27432"/>
          </a:xfrm>
          <a:prstGeom prst="rect">
            <a:avLst/>
          </a:prstGeom>
          <a:solidFill>
            <a:srgbClr val="D9D9D9"/>
          </a:solidFill>
          <a:ln/>
        </p:spPr>
      </p:sp>
      <p:sp>
        <p:nvSpPr>
          <p:cNvPr id="14" name="Shape 12"/>
          <p:cNvSpPr/>
          <p:nvPr/>
        </p:nvSpPr>
        <p:spPr>
          <a:xfrm>
            <a:off x="4074793" y="1782811"/>
            <a:ext cx="155448" cy="155448"/>
          </a:xfrm>
          <a:prstGeom prst="ellipse">
            <a:avLst/>
          </a:prstGeom>
          <a:solidFill>
            <a:srgbClr val="0B2C4A"/>
          </a:solidFill>
          <a:ln/>
        </p:spPr>
      </p:sp>
      <p:sp>
        <p:nvSpPr>
          <p:cNvPr id="15" name="Shape 13"/>
          <p:cNvSpPr/>
          <p:nvPr/>
        </p:nvSpPr>
        <p:spPr>
          <a:xfrm>
            <a:off x="3429524" y="1782811"/>
            <a:ext cx="155448" cy="155448"/>
          </a:xfrm>
          <a:prstGeom prst="ellipse">
            <a:avLst/>
          </a:prstGeom>
          <a:solidFill>
            <a:srgbClr val="12A566"/>
          </a:solidFill>
          <a:ln/>
        </p:spPr>
      </p:sp>
      <p:sp>
        <p:nvSpPr>
          <p:cNvPr id="16" name="Text 14"/>
          <p:cNvSpPr txBox="1"/>
          <p:nvPr/>
        </p:nvSpPr>
        <p:spPr>
          <a:xfrm>
            <a:off x="4498848"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119%</a:t>
            </a:r>
            <a:pPr algn="r" indent="0" marL="0">
              <a:buNone/>
            </a:pPr>
            <a:r>
              <a:rPr lang="en-US" sz="1300" dirty="0">
                <a:solidFill>
                  <a:srgbClr val="0B2C4A"/>
                </a:solidFill>
                <a:latin typeface="Inter" pitchFamily="34" charset="0"/>
                <a:ea typeface="Inter" pitchFamily="34" charset="-122"/>
                <a:cs typeface="Inter" pitchFamily="34" charset="-120"/>
              </a:rPr>
              <a:t>  172%</a:t>
            </a:r>
            <a:endParaRPr lang="en-US" sz="1300" dirty="0"/>
          </a:p>
        </p:txBody>
      </p:sp>
      <p:sp>
        <p:nvSpPr>
          <p:cNvPr id="17" name="Text 15"/>
          <p:cNvSpPr txBox="1"/>
          <p:nvPr/>
        </p:nvSpPr>
        <p:spPr>
          <a:xfrm>
            <a:off x="658368"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 name="Shape 16"/>
          <p:cNvSpPr/>
          <p:nvPr/>
        </p:nvSpPr>
        <p:spPr>
          <a:xfrm>
            <a:off x="3491377" y="2093169"/>
            <a:ext cx="870311" cy="27432"/>
          </a:xfrm>
          <a:prstGeom prst="rect">
            <a:avLst/>
          </a:prstGeom>
          <a:solidFill>
            <a:srgbClr val="D9D9D9"/>
          </a:solidFill>
          <a:ln/>
        </p:spPr>
      </p:sp>
      <p:sp>
        <p:nvSpPr>
          <p:cNvPr id="19" name="Shape 17"/>
          <p:cNvSpPr/>
          <p:nvPr/>
        </p:nvSpPr>
        <p:spPr>
          <a:xfrm>
            <a:off x="4283964" y="2029161"/>
            <a:ext cx="155448" cy="155448"/>
          </a:xfrm>
          <a:prstGeom prst="ellipse">
            <a:avLst/>
          </a:prstGeom>
          <a:solidFill>
            <a:srgbClr val="0B2C4A"/>
          </a:solidFill>
          <a:ln/>
        </p:spPr>
      </p:sp>
      <p:sp>
        <p:nvSpPr>
          <p:cNvPr id="20" name="Shape 18"/>
          <p:cNvSpPr/>
          <p:nvPr/>
        </p:nvSpPr>
        <p:spPr>
          <a:xfrm>
            <a:off x="3413653" y="2029161"/>
            <a:ext cx="155448" cy="155448"/>
          </a:xfrm>
          <a:prstGeom prst="ellipse">
            <a:avLst/>
          </a:prstGeom>
          <a:solidFill>
            <a:srgbClr val="12A566"/>
          </a:solidFill>
          <a:ln/>
        </p:spPr>
      </p:sp>
      <p:sp>
        <p:nvSpPr>
          <p:cNvPr id="21" name="Text 19"/>
          <p:cNvSpPr txBox="1"/>
          <p:nvPr/>
        </p:nvSpPr>
        <p:spPr>
          <a:xfrm>
            <a:off x="4498848"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117%</a:t>
            </a:r>
            <a:pPr algn="r" indent="0" marL="0">
              <a:buNone/>
            </a:pPr>
            <a:r>
              <a:rPr lang="en-US" sz="1300" dirty="0">
                <a:solidFill>
                  <a:srgbClr val="0B2C4A"/>
                </a:solidFill>
                <a:latin typeface="Inter" pitchFamily="34" charset="0"/>
                <a:ea typeface="Inter" pitchFamily="34" charset="-122"/>
                <a:cs typeface="Inter" pitchFamily="34" charset="-120"/>
              </a:rPr>
              <a:t>  194%</a:t>
            </a:r>
            <a:endParaRPr lang="en-US" sz="1300" dirty="0"/>
          </a:p>
        </p:txBody>
      </p:sp>
      <p:sp>
        <p:nvSpPr>
          <p:cNvPr id="22" name="Text 20"/>
          <p:cNvSpPr txBox="1"/>
          <p:nvPr/>
        </p:nvSpPr>
        <p:spPr>
          <a:xfrm>
            <a:off x="658368"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3" name="Shape 21"/>
          <p:cNvSpPr/>
          <p:nvPr/>
        </p:nvSpPr>
        <p:spPr>
          <a:xfrm>
            <a:off x="3402985" y="2339519"/>
            <a:ext cx="434135" cy="27432"/>
          </a:xfrm>
          <a:prstGeom prst="rect">
            <a:avLst/>
          </a:prstGeom>
          <a:solidFill>
            <a:srgbClr val="D9D9D9"/>
          </a:solidFill>
          <a:ln/>
        </p:spPr>
      </p:sp>
      <p:sp>
        <p:nvSpPr>
          <p:cNvPr id="24" name="Shape 22"/>
          <p:cNvSpPr/>
          <p:nvPr/>
        </p:nvSpPr>
        <p:spPr>
          <a:xfrm>
            <a:off x="3759396" y="2275511"/>
            <a:ext cx="155448" cy="155448"/>
          </a:xfrm>
          <a:prstGeom prst="ellipse">
            <a:avLst/>
          </a:prstGeom>
          <a:solidFill>
            <a:srgbClr val="0B2C4A"/>
          </a:solidFill>
          <a:ln/>
        </p:spPr>
      </p:sp>
      <p:sp>
        <p:nvSpPr>
          <p:cNvPr id="25" name="Shape 23"/>
          <p:cNvSpPr/>
          <p:nvPr/>
        </p:nvSpPr>
        <p:spPr>
          <a:xfrm>
            <a:off x="3325261" y="2275511"/>
            <a:ext cx="155448" cy="155448"/>
          </a:xfrm>
          <a:prstGeom prst="ellipse">
            <a:avLst/>
          </a:prstGeom>
          <a:solidFill>
            <a:srgbClr val="12A566"/>
          </a:solidFill>
          <a:ln/>
        </p:spPr>
      </p:sp>
      <p:sp>
        <p:nvSpPr>
          <p:cNvPr id="26" name="Text 24"/>
          <p:cNvSpPr txBox="1"/>
          <p:nvPr/>
        </p:nvSpPr>
        <p:spPr>
          <a:xfrm>
            <a:off x="4498848"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110%</a:t>
            </a:r>
            <a:pPr algn="r" indent="0" marL="0">
              <a:buNone/>
            </a:pPr>
            <a:r>
              <a:rPr lang="en-US" sz="1300" dirty="0">
                <a:solidFill>
                  <a:srgbClr val="0B2C4A"/>
                </a:solidFill>
                <a:latin typeface="Inter" pitchFamily="34" charset="0"/>
                <a:ea typeface="Inter" pitchFamily="34" charset="-122"/>
                <a:cs typeface="Inter" pitchFamily="34" charset="-120"/>
              </a:rPr>
              <a:t>  146%</a:t>
            </a:r>
            <a:endParaRPr lang="en-US" sz="1300" dirty="0"/>
          </a:p>
        </p:txBody>
      </p:sp>
      <p:sp>
        <p:nvSpPr>
          <p:cNvPr id="27" name="Text 25"/>
          <p:cNvSpPr txBox="1"/>
          <p:nvPr/>
        </p:nvSpPr>
        <p:spPr>
          <a:xfrm>
            <a:off x="658368"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8" name="Shape 26"/>
          <p:cNvSpPr/>
          <p:nvPr/>
        </p:nvSpPr>
        <p:spPr>
          <a:xfrm>
            <a:off x="3397238" y="2585869"/>
            <a:ext cx="510500" cy="27432"/>
          </a:xfrm>
          <a:prstGeom prst="rect">
            <a:avLst/>
          </a:prstGeom>
          <a:solidFill>
            <a:srgbClr val="D9D9D9"/>
          </a:solidFill>
          <a:ln/>
        </p:spPr>
      </p:sp>
      <p:sp>
        <p:nvSpPr>
          <p:cNvPr id="29" name="Shape 27"/>
          <p:cNvSpPr/>
          <p:nvPr/>
        </p:nvSpPr>
        <p:spPr>
          <a:xfrm>
            <a:off x="3830014" y="2521861"/>
            <a:ext cx="155448" cy="155448"/>
          </a:xfrm>
          <a:prstGeom prst="ellipse">
            <a:avLst/>
          </a:prstGeom>
          <a:solidFill>
            <a:srgbClr val="0B2C4A"/>
          </a:solidFill>
          <a:ln/>
        </p:spPr>
      </p:sp>
      <p:sp>
        <p:nvSpPr>
          <p:cNvPr id="30" name="Shape 28"/>
          <p:cNvSpPr/>
          <p:nvPr/>
        </p:nvSpPr>
        <p:spPr>
          <a:xfrm>
            <a:off x="3319514" y="2521861"/>
            <a:ext cx="155448" cy="155448"/>
          </a:xfrm>
          <a:prstGeom prst="ellipse">
            <a:avLst/>
          </a:prstGeom>
          <a:solidFill>
            <a:srgbClr val="12A566"/>
          </a:solidFill>
          <a:ln/>
        </p:spPr>
      </p:sp>
      <p:sp>
        <p:nvSpPr>
          <p:cNvPr id="31" name="Text 29"/>
          <p:cNvSpPr txBox="1"/>
          <p:nvPr/>
        </p:nvSpPr>
        <p:spPr>
          <a:xfrm>
            <a:off x="4498848" y="24764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152%</a:t>
            </a:r>
            <a:endParaRPr lang="en-US" sz="1300" dirty="0"/>
          </a:p>
        </p:txBody>
      </p:sp>
      <p:sp>
        <p:nvSpPr>
          <p:cNvPr id="32" name="Text 30"/>
          <p:cNvSpPr txBox="1"/>
          <p:nvPr/>
        </p:nvSpPr>
        <p:spPr>
          <a:xfrm>
            <a:off x="658368"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33" name="Shape 31"/>
          <p:cNvSpPr/>
          <p:nvPr/>
        </p:nvSpPr>
        <p:spPr>
          <a:xfrm>
            <a:off x="3394584" y="2832220"/>
            <a:ext cx="248054" cy="27432"/>
          </a:xfrm>
          <a:prstGeom prst="rect">
            <a:avLst/>
          </a:prstGeom>
          <a:solidFill>
            <a:srgbClr val="D9D9D9"/>
          </a:solidFill>
          <a:ln/>
        </p:spPr>
      </p:sp>
      <p:sp>
        <p:nvSpPr>
          <p:cNvPr id="34" name="Shape 32"/>
          <p:cNvSpPr/>
          <p:nvPr/>
        </p:nvSpPr>
        <p:spPr>
          <a:xfrm>
            <a:off x="3564914" y="2768212"/>
            <a:ext cx="155448" cy="155448"/>
          </a:xfrm>
          <a:prstGeom prst="ellipse">
            <a:avLst/>
          </a:prstGeom>
          <a:solidFill>
            <a:srgbClr val="0B2C4A"/>
          </a:solidFill>
          <a:ln/>
        </p:spPr>
      </p:sp>
      <p:sp>
        <p:nvSpPr>
          <p:cNvPr id="35" name="Shape 33"/>
          <p:cNvSpPr/>
          <p:nvPr/>
        </p:nvSpPr>
        <p:spPr>
          <a:xfrm>
            <a:off x="3316860" y="2768212"/>
            <a:ext cx="155448" cy="155448"/>
          </a:xfrm>
          <a:prstGeom prst="ellipse">
            <a:avLst/>
          </a:prstGeom>
          <a:solidFill>
            <a:srgbClr val="12A566"/>
          </a:solidFill>
          <a:ln/>
        </p:spPr>
      </p:sp>
      <p:sp>
        <p:nvSpPr>
          <p:cNvPr id="36" name="Text 34"/>
          <p:cNvSpPr txBox="1"/>
          <p:nvPr/>
        </p:nvSpPr>
        <p:spPr>
          <a:xfrm>
            <a:off x="4498848" y="27227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130%</a:t>
            </a:r>
            <a:endParaRPr lang="en-US" sz="1300" dirty="0"/>
          </a:p>
        </p:txBody>
      </p:sp>
      <p:sp>
        <p:nvSpPr>
          <p:cNvPr id="37" name="Text 35"/>
          <p:cNvSpPr txBox="1"/>
          <p:nvPr/>
        </p:nvSpPr>
        <p:spPr>
          <a:xfrm>
            <a:off x="658368"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8" name="Shape 36"/>
          <p:cNvSpPr/>
          <p:nvPr/>
        </p:nvSpPr>
        <p:spPr>
          <a:xfrm>
            <a:off x="3381966" y="3078570"/>
            <a:ext cx="305207" cy="27432"/>
          </a:xfrm>
          <a:prstGeom prst="rect">
            <a:avLst/>
          </a:prstGeom>
          <a:solidFill>
            <a:srgbClr val="D9D9D9"/>
          </a:solidFill>
          <a:ln/>
        </p:spPr>
      </p:sp>
      <p:sp>
        <p:nvSpPr>
          <p:cNvPr id="39" name="Shape 37"/>
          <p:cNvSpPr/>
          <p:nvPr/>
        </p:nvSpPr>
        <p:spPr>
          <a:xfrm>
            <a:off x="3609449" y="3014562"/>
            <a:ext cx="155448" cy="155448"/>
          </a:xfrm>
          <a:prstGeom prst="ellipse">
            <a:avLst/>
          </a:prstGeom>
          <a:solidFill>
            <a:srgbClr val="0B2C4A"/>
          </a:solidFill>
          <a:ln/>
        </p:spPr>
      </p:sp>
      <p:sp>
        <p:nvSpPr>
          <p:cNvPr id="40" name="Shape 38"/>
          <p:cNvSpPr/>
          <p:nvPr/>
        </p:nvSpPr>
        <p:spPr>
          <a:xfrm>
            <a:off x="3304242" y="3014562"/>
            <a:ext cx="155448" cy="155448"/>
          </a:xfrm>
          <a:prstGeom prst="ellipse">
            <a:avLst/>
          </a:prstGeom>
          <a:solidFill>
            <a:srgbClr val="12A566"/>
          </a:solidFill>
          <a:ln/>
        </p:spPr>
      </p:sp>
      <p:sp>
        <p:nvSpPr>
          <p:cNvPr id="41" name="Text 39"/>
          <p:cNvSpPr txBox="1"/>
          <p:nvPr/>
        </p:nvSpPr>
        <p:spPr>
          <a:xfrm>
            <a:off x="4498848" y="29691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108%</a:t>
            </a:r>
            <a:pPr algn="r" indent="0" marL="0">
              <a:buNone/>
            </a:pPr>
            <a:r>
              <a:rPr lang="en-US" sz="1300" dirty="0">
                <a:solidFill>
                  <a:srgbClr val="0B2C4A"/>
                </a:solidFill>
                <a:latin typeface="Inter" pitchFamily="34" charset="0"/>
                <a:ea typeface="Inter" pitchFamily="34" charset="-122"/>
                <a:cs typeface="Inter" pitchFamily="34" charset="-120"/>
              </a:rPr>
              <a:t>  134%</a:t>
            </a:r>
            <a:endParaRPr lang="en-US" sz="1300" dirty="0"/>
          </a:p>
        </p:txBody>
      </p:sp>
      <p:sp>
        <p:nvSpPr>
          <p:cNvPr id="42" name="Text 40"/>
          <p:cNvSpPr txBox="1"/>
          <p:nvPr/>
        </p:nvSpPr>
        <p:spPr>
          <a:xfrm>
            <a:off x="658368"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43" name="Shape 41"/>
          <p:cNvSpPr/>
          <p:nvPr/>
        </p:nvSpPr>
        <p:spPr>
          <a:xfrm>
            <a:off x="3358657" y="3324920"/>
            <a:ext cx="461897" cy="27432"/>
          </a:xfrm>
          <a:prstGeom prst="rect">
            <a:avLst/>
          </a:prstGeom>
          <a:solidFill>
            <a:srgbClr val="D9D9D9"/>
          </a:solidFill>
          <a:ln/>
        </p:spPr>
      </p:sp>
      <p:sp>
        <p:nvSpPr>
          <p:cNvPr id="44" name="Shape 42"/>
          <p:cNvSpPr/>
          <p:nvPr/>
        </p:nvSpPr>
        <p:spPr>
          <a:xfrm>
            <a:off x="3742830" y="3260912"/>
            <a:ext cx="155448" cy="155448"/>
          </a:xfrm>
          <a:prstGeom prst="ellipse">
            <a:avLst/>
          </a:prstGeom>
          <a:solidFill>
            <a:srgbClr val="0B2C4A"/>
          </a:solidFill>
          <a:ln/>
        </p:spPr>
      </p:sp>
      <p:sp>
        <p:nvSpPr>
          <p:cNvPr id="45" name="Shape 43"/>
          <p:cNvSpPr/>
          <p:nvPr/>
        </p:nvSpPr>
        <p:spPr>
          <a:xfrm>
            <a:off x="3280933" y="3260912"/>
            <a:ext cx="155448" cy="155448"/>
          </a:xfrm>
          <a:prstGeom prst="ellipse">
            <a:avLst/>
          </a:prstGeom>
          <a:solidFill>
            <a:srgbClr val="12A566"/>
          </a:solidFill>
          <a:ln/>
        </p:spPr>
      </p:sp>
      <p:sp>
        <p:nvSpPr>
          <p:cNvPr id="46" name="Text 44"/>
          <p:cNvSpPr txBox="1"/>
          <p:nvPr/>
        </p:nvSpPr>
        <p:spPr>
          <a:xfrm>
            <a:off x="4498848" y="32154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106%</a:t>
            </a:r>
            <a:pPr algn="r" indent="0" marL="0">
              <a:buNone/>
            </a:pPr>
            <a:r>
              <a:rPr lang="en-US" sz="1300" dirty="0">
                <a:solidFill>
                  <a:srgbClr val="0B2C4A"/>
                </a:solidFill>
                <a:latin typeface="Inter" pitchFamily="34" charset="0"/>
                <a:ea typeface="Inter" pitchFamily="34" charset="-122"/>
                <a:cs typeface="Inter" pitchFamily="34" charset="-120"/>
              </a:rPr>
              <a:t>  145%</a:t>
            </a:r>
            <a:endParaRPr lang="en-US" sz="1300" dirty="0"/>
          </a:p>
        </p:txBody>
      </p:sp>
      <p:sp>
        <p:nvSpPr>
          <p:cNvPr id="47" name="Text 45"/>
          <p:cNvSpPr txBox="1"/>
          <p:nvPr/>
        </p:nvSpPr>
        <p:spPr>
          <a:xfrm>
            <a:off x="658368"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8" name="Shape 46"/>
          <p:cNvSpPr/>
          <p:nvPr/>
        </p:nvSpPr>
        <p:spPr>
          <a:xfrm>
            <a:off x="3342460" y="3571270"/>
            <a:ext cx="879840" cy="27432"/>
          </a:xfrm>
          <a:prstGeom prst="rect">
            <a:avLst/>
          </a:prstGeom>
          <a:solidFill>
            <a:srgbClr val="D9D9D9"/>
          </a:solidFill>
          <a:ln/>
        </p:spPr>
      </p:sp>
      <p:sp>
        <p:nvSpPr>
          <p:cNvPr id="49" name="Shape 47"/>
          <p:cNvSpPr/>
          <p:nvPr/>
        </p:nvSpPr>
        <p:spPr>
          <a:xfrm>
            <a:off x="4144576" y="3507262"/>
            <a:ext cx="155448" cy="155448"/>
          </a:xfrm>
          <a:prstGeom prst="ellipse">
            <a:avLst/>
          </a:prstGeom>
          <a:solidFill>
            <a:srgbClr val="0B2C4A"/>
          </a:solidFill>
          <a:ln/>
        </p:spPr>
      </p:sp>
      <p:sp>
        <p:nvSpPr>
          <p:cNvPr id="50" name="Shape 48"/>
          <p:cNvSpPr/>
          <p:nvPr/>
        </p:nvSpPr>
        <p:spPr>
          <a:xfrm>
            <a:off x="3264736" y="3507262"/>
            <a:ext cx="155448" cy="155448"/>
          </a:xfrm>
          <a:prstGeom prst="ellipse">
            <a:avLst/>
          </a:prstGeom>
          <a:solidFill>
            <a:srgbClr val="12A566"/>
          </a:solidFill>
          <a:ln/>
        </p:spPr>
      </p:sp>
      <p:sp>
        <p:nvSpPr>
          <p:cNvPr id="51" name="Text 49"/>
          <p:cNvSpPr txBox="1"/>
          <p:nvPr/>
        </p:nvSpPr>
        <p:spPr>
          <a:xfrm>
            <a:off x="4498848" y="34618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105%</a:t>
            </a:r>
            <a:pPr algn="r" indent="0" marL="0">
              <a:buNone/>
            </a:pPr>
            <a:r>
              <a:rPr lang="en-US" sz="1300" dirty="0">
                <a:solidFill>
                  <a:srgbClr val="0B2C4A"/>
                </a:solidFill>
                <a:latin typeface="Inter" pitchFamily="34" charset="0"/>
                <a:ea typeface="Inter" pitchFamily="34" charset="-122"/>
                <a:cs typeface="Inter" pitchFamily="34" charset="-120"/>
              </a:rPr>
              <a:t>  178%</a:t>
            </a:r>
            <a:endParaRPr lang="en-US" sz="1300" dirty="0"/>
          </a:p>
        </p:txBody>
      </p:sp>
      <p:sp>
        <p:nvSpPr>
          <p:cNvPr id="52" name="Text 50"/>
          <p:cNvSpPr txBox="1"/>
          <p:nvPr/>
        </p:nvSpPr>
        <p:spPr>
          <a:xfrm>
            <a:off x="658368"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53" name="Shape 51"/>
          <p:cNvSpPr/>
          <p:nvPr/>
        </p:nvSpPr>
        <p:spPr>
          <a:xfrm>
            <a:off x="3338325" y="3817620"/>
            <a:ext cx="578029" cy="27432"/>
          </a:xfrm>
          <a:prstGeom prst="rect">
            <a:avLst/>
          </a:prstGeom>
          <a:solidFill>
            <a:srgbClr val="D9D9D9"/>
          </a:solidFill>
          <a:ln/>
        </p:spPr>
      </p:sp>
      <p:sp>
        <p:nvSpPr>
          <p:cNvPr id="54" name="Shape 52"/>
          <p:cNvSpPr/>
          <p:nvPr/>
        </p:nvSpPr>
        <p:spPr>
          <a:xfrm>
            <a:off x="3838629" y="3753612"/>
            <a:ext cx="155448" cy="155448"/>
          </a:xfrm>
          <a:prstGeom prst="ellipse">
            <a:avLst/>
          </a:prstGeom>
          <a:solidFill>
            <a:srgbClr val="0B2C4A"/>
          </a:solidFill>
          <a:ln/>
        </p:spPr>
      </p:sp>
      <p:sp>
        <p:nvSpPr>
          <p:cNvPr id="55" name="Shape 53"/>
          <p:cNvSpPr/>
          <p:nvPr/>
        </p:nvSpPr>
        <p:spPr>
          <a:xfrm>
            <a:off x="3260601" y="3753612"/>
            <a:ext cx="155448" cy="155448"/>
          </a:xfrm>
          <a:prstGeom prst="ellipse">
            <a:avLst/>
          </a:prstGeom>
          <a:solidFill>
            <a:srgbClr val="12A566"/>
          </a:solidFill>
          <a:ln/>
        </p:spPr>
      </p:sp>
      <p:sp>
        <p:nvSpPr>
          <p:cNvPr id="56" name="Text 54"/>
          <p:cNvSpPr txBox="1"/>
          <p:nvPr/>
        </p:nvSpPr>
        <p:spPr>
          <a:xfrm>
            <a:off x="4498848" y="37081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104%</a:t>
            </a:r>
            <a:pPr algn="r" indent="0" marL="0">
              <a:buNone/>
            </a:pPr>
            <a:r>
              <a:rPr lang="en-US" sz="1300" dirty="0">
                <a:solidFill>
                  <a:srgbClr val="0B2C4A"/>
                </a:solidFill>
                <a:latin typeface="Inter" pitchFamily="34" charset="0"/>
                <a:ea typeface="Inter" pitchFamily="34" charset="-122"/>
                <a:cs typeface="Inter" pitchFamily="34" charset="-120"/>
              </a:rPr>
              <a:t>  153%</a:t>
            </a:r>
            <a:endParaRPr lang="en-US" sz="1300" dirty="0"/>
          </a:p>
        </p:txBody>
      </p:sp>
      <p:sp>
        <p:nvSpPr>
          <p:cNvPr id="57" name="Text 55"/>
          <p:cNvSpPr txBox="1"/>
          <p:nvPr/>
        </p:nvSpPr>
        <p:spPr>
          <a:xfrm>
            <a:off x="658368"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58" name="Shape 56"/>
          <p:cNvSpPr/>
          <p:nvPr/>
        </p:nvSpPr>
        <p:spPr>
          <a:xfrm>
            <a:off x="3326693" y="4063970"/>
            <a:ext cx="718840" cy="27432"/>
          </a:xfrm>
          <a:prstGeom prst="rect">
            <a:avLst/>
          </a:prstGeom>
          <a:solidFill>
            <a:srgbClr val="D9D9D9"/>
          </a:solidFill>
          <a:ln/>
        </p:spPr>
      </p:sp>
      <p:sp>
        <p:nvSpPr>
          <p:cNvPr id="59" name="Shape 57"/>
          <p:cNvSpPr/>
          <p:nvPr/>
        </p:nvSpPr>
        <p:spPr>
          <a:xfrm>
            <a:off x="3967809" y="3999962"/>
            <a:ext cx="155448" cy="155448"/>
          </a:xfrm>
          <a:prstGeom prst="ellipse">
            <a:avLst/>
          </a:prstGeom>
          <a:solidFill>
            <a:srgbClr val="0B2C4A"/>
          </a:solidFill>
          <a:ln/>
        </p:spPr>
      </p:sp>
      <p:sp>
        <p:nvSpPr>
          <p:cNvPr id="60" name="Shape 58"/>
          <p:cNvSpPr/>
          <p:nvPr/>
        </p:nvSpPr>
        <p:spPr>
          <a:xfrm>
            <a:off x="3248969" y="3999962"/>
            <a:ext cx="155448" cy="155448"/>
          </a:xfrm>
          <a:prstGeom prst="ellipse">
            <a:avLst/>
          </a:prstGeom>
          <a:solidFill>
            <a:srgbClr val="12A566"/>
          </a:solidFill>
          <a:ln/>
        </p:spPr>
      </p:sp>
      <p:sp>
        <p:nvSpPr>
          <p:cNvPr id="61" name="Text 59"/>
          <p:cNvSpPr txBox="1"/>
          <p:nvPr/>
        </p:nvSpPr>
        <p:spPr>
          <a:xfrm>
            <a:off x="4498848" y="39545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103%</a:t>
            </a:r>
            <a:pPr algn="r" indent="0" marL="0">
              <a:buNone/>
            </a:pPr>
            <a:r>
              <a:rPr lang="en-US" sz="1300" dirty="0">
                <a:solidFill>
                  <a:srgbClr val="0B2C4A"/>
                </a:solidFill>
                <a:latin typeface="Inter" pitchFamily="34" charset="0"/>
                <a:ea typeface="Inter" pitchFamily="34" charset="-122"/>
                <a:cs typeface="Inter" pitchFamily="34" charset="-120"/>
              </a:rPr>
              <a:t>  164%</a:t>
            </a:r>
            <a:endParaRPr lang="en-US" sz="1300" dirty="0"/>
          </a:p>
        </p:txBody>
      </p:sp>
      <p:sp>
        <p:nvSpPr>
          <p:cNvPr id="62" name="Text 60"/>
          <p:cNvSpPr txBox="1"/>
          <p:nvPr/>
        </p:nvSpPr>
        <p:spPr>
          <a:xfrm>
            <a:off x="658368"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63" name="Shape 61"/>
          <p:cNvSpPr/>
          <p:nvPr/>
        </p:nvSpPr>
        <p:spPr>
          <a:xfrm>
            <a:off x="3315137" y="4310320"/>
            <a:ext cx="576560" cy="27432"/>
          </a:xfrm>
          <a:prstGeom prst="rect">
            <a:avLst/>
          </a:prstGeom>
          <a:solidFill>
            <a:srgbClr val="D9D9D9"/>
          </a:solidFill>
          <a:ln/>
        </p:spPr>
      </p:sp>
      <p:sp>
        <p:nvSpPr>
          <p:cNvPr id="64" name="Shape 62"/>
          <p:cNvSpPr/>
          <p:nvPr/>
        </p:nvSpPr>
        <p:spPr>
          <a:xfrm>
            <a:off x="3813973" y="4246312"/>
            <a:ext cx="155448" cy="155448"/>
          </a:xfrm>
          <a:prstGeom prst="ellipse">
            <a:avLst/>
          </a:prstGeom>
          <a:solidFill>
            <a:srgbClr val="0B2C4A"/>
          </a:solidFill>
          <a:ln/>
        </p:spPr>
      </p:sp>
      <p:sp>
        <p:nvSpPr>
          <p:cNvPr id="65" name="Shape 63"/>
          <p:cNvSpPr/>
          <p:nvPr/>
        </p:nvSpPr>
        <p:spPr>
          <a:xfrm>
            <a:off x="3237413" y="4246312"/>
            <a:ext cx="155448" cy="155448"/>
          </a:xfrm>
          <a:prstGeom prst="ellipse">
            <a:avLst/>
          </a:prstGeom>
          <a:solidFill>
            <a:srgbClr val="12A566"/>
          </a:solidFill>
          <a:ln/>
        </p:spPr>
      </p:sp>
      <p:sp>
        <p:nvSpPr>
          <p:cNvPr id="66" name="Text 64"/>
          <p:cNvSpPr txBox="1"/>
          <p:nvPr/>
        </p:nvSpPr>
        <p:spPr>
          <a:xfrm>
            <a:off x="4498848" y="42008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151%</a:t>
            </a:r>
            <a:endParaRPr lang="en-US" sz="1300" dirty="0"/>
          </a:p>
        </p:txBody>
      </p:sp>
      <p:sp>
        <p:nvSpPr>
          <p:cNvPr id="67" name="Text 65"/>
          <p:cNvSpPr txBox="1"/>
          <p:nvPr/>
        </p:nvSpPr>
        <p:spPr>
          <a:xfrm>
            <a:off x="658368"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8" name="Shape 66"/>
          <p:cNvSpPr/>
          <p:nvPr/>
        </p:nvSpPr>
        <p:spPr>
          <a:xfrm>
            <a:off x="3305834" y="4556670"/>
            <a:ext cx="253206" cy="27432"/>
          </a:xfrm>
          <a:prstGeom prst="rect">
            <a:avLst/>
          </a:prstGeom>
          <a:solidFill>
            <a:srgbClr val="D9D9D9"/>
          </a:solidFill>
          <a:ln/>
        </p:spPr>
      </p:sp>
      <p:sp>
        <p:nvSpPr>
          <p:cNvPr id="69" name="Shape 67"/>
          <p:cNvSpPr/>
          <p:nvPr/>
        </p:nvSpPr>
        <p:spPr>
          <a:xfrm>
            <a:off x="3481317" y="4492662"/>
            <a:ext cx="155448" cy="155448"/>
          </a:xfrm>
          <a:prstGeom prst="ellipse">
            <a:avLst/>
          </a:prstGeom>
          <a:solidFill>
            <a:srgbClr val="0B2C4A"/>
          </a:solidFill>
          <a:ln/>
        </p:spPr>
      </p:sp>
      <p:sp>
        <p:nvSpPr>
          <p:cNvPr id="70" name="Shape 68"/>
          <p:cNvSpPr/>
          <p:nvPr/>
        </p:nvSpPr>
        <p:spPr>
          <a:xfrm>
            <a:off x="3228110" y="4492662"/>
            <a:ext cx="155448" cy="155448"/>
          </a:xfrm>
          <a:prstGeom prst="ellipse">
            <a:avLst/>
          </a:prstGeom>
          <a:solidFill>
            <a:srgbClr val="12A566"/>
          </a:solidFill>
          <a:ln/>
        </p:spPr>
      </p:sp>
      <p:sp>
        <p:nvSpPr>
          <p:cNvPr id="71" name="Text 69"/>
          <p:cNvSpPr txBox="1"/>
          <p:nvPr/>
        </p:nvSpPr>
        <p:spPr>
          <a:xfrm>
            <a:off x="4498848" y="44472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123%</a:t>
            </a:r>
            <a:endParaRPr lang="en-US" sz="1300" dirty="0"/>
          </a:p>
        </p:txBody>
      </p:sp>
      <p:sp>
        <p:nvSpPr>
          <p:cNvPr id="72" name="Text 70"/>
          <p:cNvSpPr txBox="1"/>
          <p:nvPr/>
        </p:nvSpPr>
        <p:spPr>
          <a:xfrm>
            <a:off x="658368"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3" name="Shape 71"/>
          <p:cNvSpPr/>
          <p:nvPr/>
        </p:nvSpPr>
        <p:spPr>
          <a:xfrm>
            <a:off x="3267627" y="4803020"/>
            <a:ext cx="968031" cy="27432"/>
          </a:xfrm>
          <a:prstGeom prst="rect">
            <a:avLst/>
          </a:prstGeom>
          <a:solidFill>
            <a:srgbClr val="D9D9D9"/>
          </a:solidFill>
          <a:ln/>
        </p:spPr>
      </p:sp>
      <p:sp>
        <p:nvSpPr>
          <p:cNvPr id="74" name="Shape 72"/>
          <p:cNvSpPr/>
          <p:nvPr/>
        </p:nvSpPr>
        <p:spPr>
          <a:xfrm>
            <a:off x="4157934" y="4739012"/>
            <a:ext cx="155448" cy="155448"/>
          </a:xfrm>
          <a:prstGeom prst="ellipse">
            <a:avLst/>
          </a:prstGeom>
          <a:solidFill>
            <a:srgbClr val="0B2C4A"/>
          </a:solidFill>
          <a:ln/>
        </p:spPr>
      </p:sp>
      <p:sp>
        <p:nvSpPr>
          <p:cNvPr id="75" name="Shape 73"/>
          <p:cNvSpPr/>
          <p:nvPr/>
        </p:nvSpPr>
        <p:spPr>
          <a:xfrm>
            <a:off x="3189903" y="4739012"/>
            <a:ext cx="155448" cy="155448"/>
          </a:xfrm>
          <a:prstGeom prst="ellipse">
            <a:avLst/>
          </a:prstGeom>
          <a:solidFill>
            <a:srgbClr val="12A566"/>
          </a:solidFill>
          <a:ln/>
        </p:spPr>
      </p:sp>
      <p:sp>
        <p:nvSpPr>
          <p:cNvPr id="76" name="Text 74"/>
          <p:cNvSpPr txBox="1"/>
          <p:nvPr/>
        </p:nvSpPr>
        <p:spPr>
          <a:xfrm>
            <a:off x="4498848" y="46935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98%</a:t>
            </a:r>
            <a:pPr algn="r" indent="0" marL="0">
              <a:buNone/>
            </a:pPr>
            <a:r>
              <a:rPr lang="en-US" sz="1300" dirty="0">
                <a:solidFill>
                  <a:srgbClr val="0B2C4A"/>
                </a:solidFill>
                <a:latin typeface="Inter" pitchFamily="34" charset="0"/>
                <a:ea typeface="Inter" pitchFamily="34" charset="-122"/>
                <a:cs typeface="Inter" pitchFamily="34" charset="-120"/>
              </a:rPr>
              <a:t>  179%</a:t>
            </a:r>
            <a:endParaRPr lang="en-US" sz="1300" dirty="0"/>
          </a:p>
        </p:txBody>
      </p:sp>
      <p:sp>
        <p:nvSpPr>
          <p:cNvPr id="77" name="Text 75"/>
          <p:cNvSpPr txBox="1"/>
          <p:nvPr/>
        </p:nvSpPr>
        <p:spPr>
          <a:xfrm>
            <a:off x="658368"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8" name="Shape 76"/>
          <p:cNvSpPr/>
          <p:nvPr/>
        </p:nvSpPr>
        <p:spPr>
          <a:xfrm>
            <a:off x="3249769" y="5049371"/>
            <a:ext cx="416296" cy="27432"/>
          </a:xfrm>
          <a:prstGeom prst="rect">
            <a:avLst/>
          </a:prstGeom>
          <a:solidFill>
            <a:srgbClr val="D9D9D9"/>
          </a:solidFill>
          <a:ln/>
        </p:spPr>
      </p:sp>
      <p:sp>
        <p:nvSpPr>
          <p:cNvPr id="79" name="Shape 77"/>
          <p:cNvSpPr/>
          <p:nvPr/>
        </p:nvSpPr>
        <p:spPr>
          <a:xfrm>
            <a:off x="3588341" y="4985363"/>
            <a:ext cx="155448" cy="155448"/>
          </a:xfrm>
          <a:prstGeom prst="ellipse">
            <a:avLst/>
          </a:prstGeom>
          <a:solidFill>
            <a:srgbClr val="0B2C4A"/>
          </a:solidFill>
          <a:ln/>
        </p:spPr>
      </p:sp>
      <p:sp>
        <p:nvSpPr>
          <p:cNvPr id="80" name="Shape 78"/>
          <p:cNvSpPr/>
          <p:nvPr/>
        </p:nvSpPr>
        <p:spPr>
          <a:xfrm>
            <a:off x="3172045" y="4985363"/>
            <a:ext cx="155448" cy="155448"/>
          </a:xfrm>
          <a:prstGeom prst="ellipse">
            <a:avLst/>
          </a:prstGeom>
          <a:solidFill>
            <a:srgbClr val="12A566"/>
          </a:solidFill>
          <a:ln/>
        </p:spPr>
      </p:sp>
      <p:sp>
        <p:nvSpPr>
          <p:cNvPr id="81" name="Text 79"/>
          <p:cNvSpPr txBox="1"/>
          <p:nvPr/>
        </p:nvSpPr>
        <p:spPr>
          <a:xfrm>
            <a:off x="4498848" y="49399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97%</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82" name="Text 80"/>
          <p:cNvSpPr txBox="1"/>
          <p:nvPr/>
        </p:nvSpPr>
        <p:spPr>
          <a:xfrm>
            <a:off x="658368"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83" name="Shape 81"/>
          <p:cNvSpPr/>
          <p:nvPr/>
        </p:nvSpPr>
        <p:spPr>
          <a:xfrm>
            <a:off x="3225383" y="5295721"/>
            <a:ext cx="363571" cy="27432"/>
          </a:xfrm>
          <a:prstGeom prst="rect">
            <a:avLst/>
          </a:prstGeom>
          <a:solidFill>
            <a:srgbClr val="D9D9D9"/>
          </a:solidFill>
          <a:ln/>
        </p:spPr>
      </p:sp>
      <p:sp>
        <p:nvSpPr>
          <p:cNvPr id="84" name="Shape 82"/>
          <p:cNvSpPr/>
          <p:nvPr/>
        </p:nvSpPr>
        <p:spPr>
          <a:xfrm>
            <a:off x="3511230" y="5231713"/>
            <a:ext cx="155448" cy="155448"/>
          </a:xfrm>
          <a:prstGeom prst="ellipse">
            <a:avLst/>
          </a:prstGeom>
          <a:solidFill>
            <a:srgbClr val="0B2C4A"/>
          </a:solidFill>
          <a:ln/>
        </p:spPr>
      </p:sp>
      <p:sp>
        <p:nvSpPr>
          <p:cNvPr id="85" name="Shape 83"/>
          <p:cNvSpPr/>
          <p:nvPr/>
        </p:nvSpPr>
        <p:spPr>
          <a:xfrm>
            <a:off x="3147659" y="5231713"/>
            <a:ext cx="155448" cy="155448"/>
          </a:xfrm>
          <a:prstGeom prst="ellipse">
            <a:avLst/>
          </a:prstGeom>
          <a:solidFill>
            <a:srgbClr val="12A566"/>
          </a:solidFill>
          <a:ln/>
        </p:spPr>
      </p:sp>
      <p:sp>
        <p:nvSpPr>
          <p:cNvPr id="86" name="Text 84"/>
          <p:cNvSpPr txBox="1"/>
          <p:nvPr/>
        </p:nvSpPr>
        <p:spPr>
          <a:xfrm>
            <a:off x="4498848" y="51862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95%</a:t>
            </a:r>
            <a:pPr algn="r" indent="0" marL="0">
              <a:buNone/>
            </a:pPr>
            <a:r>
              <a:rPr lang="en-US" sz="1300" dirty="0">
                <a:solidFill>
                  <a:srgbClr val="0B2C4A"/>
                </a:solidFill>
                <a:latin typeface="Inter" pitchFamily="34" charset="0"/>
                <a:ea typeface="Inter" pitchFamily="34" charset="-122"/>
                <a:cs typeface="Inter" pitchFamily="34" charset="-120"/>
              </a:rPr>
              <a:t>  125%</a:t>
            </a:r>
            <a:endParaRPr lang="en-US" sz="1300" dirty="0"/>
          </a:p>
        </p:txBody>
      </p:sp>
      <p:sp>
        <p:nvSpPr>
          <p:cNvPr id="87" name="Text 85"/>
          <p:cNvSpPr txBox="1"/>
          <p:nvPr/>
        </p:nvSpPr>
        <p:spPr>
          <a:xfrm>
            <a:off x="658368"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8" name="Shape 86"/>
          <p:cNvSpPr/>
          <p:nvPr/>
        </p:nvSpPr>
        <p:spPr>
          <a:xfrm>
            <a:off x="3193370" y="5542071"/>
            <a:ext cx="267102" cy="27432"/>
          </a:xfrm>
          <a:prstGeom prst="rect">
            <a:avLst/>
          </a:prstGeom>
          <a:solidFill>
            <a:srgbClr val="D9D9D9"/>
          </a:solidFill>
          <a:ln/>
        </p:spPr>
      </p:sp>
      <p:sp>
        <p:nvSpPr>
          <p:cNvPr id="89" name="Shape 87"/>
          <p:cNvSpPr/>
          <p:nvPr/>
        </p:nvSpPr>
        <p:spPr>
          <a:xfrm>
            <a:off x="3382748" y="5478063"/>
            <a:ext cx="155448" cy="155448"/>
          </a:xfrm>
          <a:prstGeom prst="ellipse">
            <a:avLst/>
          </a:prstGeom>
          <a:solidFill>
            <a:srgbClr val="0B2C4A"/>
          </a:solidFill>
          <a:ln/>
        </p:spPr>
      </p:sp>
      <p:sp>
        <p:nvSpPr>
          <p:cNvPr id="90" name="Shape 88"/>
          <p:cNvSpPr/>
          <p:nvPr/>
        </p:nvSpPr>
        <p:spPr>
          <a:xfrm>
            <a:off x="3115646" y="5478063"/>
            <a:ext cx="155448" cy="155448"/>
          </a:xfrm>
          <a:prstGeom prst="ellipse">
            <a:avLst/>
          </a:prstGeom>
          <a:solidFill>
            <a:srgbClr val="12A566"/>
          </a:solidFill>
          <a:ln/>
        </p:spPr>
      </p:sp>
      <p:sp>
        <p:nvSpPr>
          <p:cNvPr id="91" name="Text 89"/>
          <p:cNvSpPr txBox="1"/>
          <p:nvPr/>
        </p:nvSpPr>
        <p:spPr>
          <a:xfrm>
            <a:off x="4498848" y="54326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92%</a:t>
            </a:r>
            <a:pPr algn="r" indent="0" marL="0">
              <a:buNone/>
            </a:pPr>
            <a:r>
              <a:rPr lang="en-US" sz="1300" dirty="0">
                <a:solidFill>
                  <a:srgbClr val="0B2C4A"/>
                </a:solidFill>
                <a:latin typeface="Inter" pitchFamily="34" charset="0"/>
                <a:ea typeface="Inter" pitchFamily="34" charset="-122"/>
                <a:cs typeface="Inter" pitchFamily="34" charset="-120"/>
              </a:rPr>
              <a:t>  115%</a:t>
            </a:r>
            <a:endParaRPr lang="en-US" sz="1300" dirty="0"/>
          </a:p>
        </p:txBody>
      </p:sp>
      <p:sp>
        <p:nvSpPr>
          <p:cNvPr id="92" name="Text 90"/>
          <p:cNvSpPr txBox="1"/>
          <p:nvPr/>
        </p:nvSpPr>
        <p:spPr>
          <a:xfrm>
            <a:off x="658368" y="56789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93" name="Shape 91"/>
          <p:cNvSpPr/>
          <p:nvPr/>
        </p:nvSpPr>
        <p:spPr>
          <a:xfrm>
            <a:off x="3180836" y="5788421"/>
            <a:ext cx="479504" cy="27432"/>
          </a:xfrm>
          <a:prstGeom prst="rect">
            <a:avLst/>
          </a:prstGeom>
          <a:solidFill>
            <a:srgbClr val="D9D9D9"/>
          </a:solidFill>
          <a:ln/>
        </p:spPr>
      </p:sp>
      <p:sp>
        <p:nvSpPr>
          <p:cNvPr id="94" name="Shape 92"/>
          <p:cNvSpPr/>
          <p:nvPr/>
        </p:nvSpPr>
        <p:spPr>
          <a:xfrm>
            <a:off x="3582616" y="5724413"/>
            <a:ext cx="155448" cy="155448"/>
          </a:xfrm>
          <a:prstGeom prst="ellipse">
            <a:avLst/>
          </a:prstGeom>
          <a:solidFill>
            <a:srgbClr val="0B2C4A"/>
          </a:solidFill>
          <a:ln/>
        </p:spPr>
      </p:sp>
      <p:sp>
        <p:nvSpPr>
          <p:cNvPr id="95" name="Shape 93"/>
          <p:cNvSpPr/>
          <p:nvPr/>
        </p:nvSpPr>
        <p:spPr>
          <a:xfrm>
            <a:off x="3103112" y="5724413"/>
            <a:ext cx="155448" cy="155448"/>
          </a:xfrm>
          <a:prstGeom prst="ellipse">
            <a:avLst/>
          </a:prstGeom>
          <a:solidFill>
            <a:srgbClr val="12A566"/>
          </a:solidFill>
          <a:ln/>
        </p:spPr>
      </p:sp>
      <p:sp>
        <p:nvSpPr>
          <p:cNvPr id="96" name="Text 94"/>
          <p:cNvSpPr txBox="1"/>
          <p:nvPr/>
        </p:nvSpPr>
        <p:spPr>
          <a:xfrm>
            <a:off x="4498848" y="56789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97" name="Text 95"/>
          <p:cNvSpPr txBox="1"/>
          <p:nvPr/>
        </p:nvSpPr>
        <p:spPr>
          <a:xfrm>
            <a:off x="6208776"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8" name="Shape 96"/>
          <p:cNvSpPr/>
          <p:nvPr/>
        </p:nvSpPr>
        <p:spPr>
          <a:xfrm>
            <a:off x="8730696" y="1846819"/>
            <a:ext cx="492337" cy="27432"/>
          </a:xfrm>
          <a:prstGeom prst="rect">
            <a:avLst/>
          </a:prstGeom>
          <a:solidFill>
            <a:srgbClr val="D9D9D9"/>
          </a:solidFill>
          <a:ln/>
        </p:spPr>
      </p:sp>
      <p:sp>
        <p:nvSpPr>
          <p:cNvPr id="99" name="Shape 97"/>
          <p:cNvSpPr/>
          <p:nvPr/>
        </p:nvSpPr>
        <p:spPr>
          <a:xfrm>
            <a:off x="9145308" y="1782811"/>
            <a:ext cx="155448" cy="155448"/>
          </a:xfrm>
          <a:prstGeom prst="ellipse">
            <a:avLst/>
          </a:prstGeom>
          <a:solidFill>
            <a:srgbClr val="0B2C4A"/>
          </a:solidFill>
          <a:ln/>
        </p:spPr>
      </p:sp>
      <p:sp>
        <p:nvSpPr>
          <p:cNvPr id="100" name="Shape 98"/>
          <p:cNvSpPr/>
          <p:nvPr/>
        </p:nvSpPr>
        <p:spPr>
          <a:xfrm>
            <a:off x="8652972" y="1782811"/>
            <a:ext cx="155448" cy="155448"/>
          </a:xfrm>
          <a:prstGeom prst="ellipse">
            <a:avLst/>
          </a:prstGeom>
          <a:solidFill>
            <a:srgbClr val="12A566"/>
          </a:solidFill>
          <a:ln/>
        </p:spPr>
      </p:sp>
      <p:sp>
        <p:nvSpPr>
          <p:cNvPr id="101" name="Text 99"/>
          <p:cNvSpPr txBox="1"/>
          <p:nvPr/>
        </p:nvSpPr>
        <p:spPr>
          <a:xfrm>
            <a:off x="10049256"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102" name="Text 100"/>
          <p:cNvSpPr txBox="1"/>
          <p:nvPr/>
        </p:nvSpPr>
        <p:spPr>
          <a:xfrm>
            <a:off x="6208776"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03" name="Shape 101"/>
          <p:cNvSpPr/>
          <p:nvPr/>
        </p:nvSpPr>
        <p:spPr>
          <a:xfrm>
            <a:off x="8729573" y="2093169"/>
            <a:ext cx="521449" cy="27432"/>
          </a:xfrm>
          <a:prstGeom prst="rect">
            <a:avLst/>
          </a:prstGeom>
          <a:solidFill>
            <a:srgbClr val="D9D9D9"/>
          </a:solidFill>
          <a:ln/>
        </p:spPr>
      </p:sp>
      <p:sp>
        <p:nvSpPr>
          <p:cNvPr id="104" name="Shape 102"/>
          <p:cNvSpPr/>
          <p:nvPr/>
        </p:nvSpPr>
        <p:spPr>
          <a:xfrm>
            <a:off x="9173299" y="2029161"/>
            <a:ext cx="155448" cy="155448"/>
          </a:xfrm>
          <a:prstGeom prst="ellipse">
            <a:avLst/>
          </a:prstGeom>
          <a:solidFill>
            <a:srgbClr val="0B2C4A"/>
          </a:solidFill>
          <a:ln/>
        </p:spPr>
      </p:sp>
      <p:sp>
        <p:nvSpPr>
          <p:cNvPr id="105" name="Shape 103"/>
          <p:cNvSpPr/>
          <p:nvPr/>
        </p:nvSpPr>
        <p:spPr>
          <a:xfrm>
            <a:off x="8651849" y="2029161"/>
            <a:ext cx="155448" cy="155448"/>
          </a:xfrm>
          <a:prstGeom prst="ellipse">
            <a:avLst/>
          </a:prstGeom>
          <a:solidFill>
            <a:srgbClr val="12A566"/>
          </a:solidFill>
          <a:ln/>
        </p:spPr>
      </p:sp>
      <p:sp>
        <p:nvSpPr>
          <p:cNvPr id="106" name="Text 104"/>
          <p:cNvSpPr txBox="1"/>
          <p:nvPr/>
        </p:nvSpPr>
        <p:spPr>
          <a:xfrm>
            <a:off x="10049256"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135%</a:t>
            </a:r>
            <a:endParaRPr lang="en-US" sz="1300" dirty="0"/>
          </a:p>
        </p:txBody>
      </p:sp>
      <p:sp>
        <p:nvSpPr>
          <p:cNvPr id="107" name="Text 105"/>
          <p:cNvSpPr txBox="1"/>
          <p:nvPr/>
        </p:nvSpPr>
        <p:spPr>
          <a:xfrm>
            <a:off x="6208776"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08" name="Shape 106"/>
          <p:cNvSpPr/>
          <p:nvPr/>
        </p:nvSpPr>
        <p:spPr>
          <a:xfrm>
            <a:off x="8689828" y="2339519"/>
            <a:ext cx="659446" cy="27432"/>
          </a:xfrm>
          <a:prstGeom prst="rect">
            <a:avLst/>
          </a:prstGeom>
          <a:solidFill>
            <a:srgbClr val="D9D9D9"/>
          </a:solidFill>
          <a:ln/>
        </p:spPr>
      </p:sp>
      <p:sp>
        <p:nvSpPr>
          <p:cNvPr id="109" name="Shape 107"/>
          <p:cNvSpPr/>
          <p:nvPr/>
        </p:nvSpPr>
        <p:spPr>
          <a:xfrm>
            <a:off x="9271550" y="2275511"/>
            <a:ext cx="155448" cy="155448"/>
          </a:xfrm>
          <a:prstGeom prst="ellipse">
            <a:avLst/>
          </a:prstGeom>
          <a:solidFill>
            <a:srgbClr val="0B2C4A"/>
          </a:solidFill>
          <a:ln/>
        </p:spPr>
      </p:sp>
      <p:sp>
        <p:nvSpPr>
          <p:cNvPr id="110" name="Shape 108"/>
          <p:cNvSpPr/>
          <p:nvPr/>
        </p:nvSpPr>
        <p:spPr>
          <a:xfrm>
            <a:off x="8612104" y="2275511"/>
            <a:ext cx="155448" cy="155448"/>
          </a:xfrm>
          <a:prstGeom prst="ellipse">
            <a:avLst/>
          </a:prstGeom>
          <a:solidFill>
            <a:srgbClr val="12A566"/>
          </a:solidFill>
          <a:ln/>
        </p:spPr>
      </p:sp>
      <p:sp>
        <p:nvSpPr>
          <p:cNvPr id="111" name="Text 109"/>
          <p:cNvSpPr txBox="1"/>
          <p:nvPr/>
        </p:nvSpPr>
        <p:spPr>
          <a:xfrm>
            <a:off x="10049256"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88%</a:t>
            </a:r>
            <a:pPr algn="r" indent="0" marL="0">
              <a:buNone/>
            </a:pPr>
            <a:r>
              <a:rPr lang="en-US" sz="1300" dirty="0">
                <a:solidFill>
                  <a:srgbClr val="0B2C4A"/>
                </a:solidFill>
                <a:latin typeface="Inter" pitchFamily="34" charset="0"/>
                <a:ea typeface="Inter" pitchFamily="34" charset="-122"/>
                <a:cs typeface="Inter" pitchFamily="34" charset="-120"/>
              </a:rPr>
              <a:t>  143%</a:t>
            </a:r>
            <a:endParaRPr lang="en-US" sz="1300" dirty="0"/>
          </a:p>
        </p:txBody>
      </p:sp>
      <p:sp>
        <p:nvSpPr>
          <p:cNvPr id="112" name="Text 110"/>
          <p:cNvSpPr txBox="1"/>
          <p:nvPr/>
        </p:nvSpPr>
        <p:spPr>
          <a:xfrm>
            <a:off x="6208776"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3" name="Shape 111"/>
          <p:cNvSpPr/>
          <p:nvPr/>
        </p:nvSpPr>
        <p:spPr>
          <a:xfrm>
            <a:off x="8640786" y="2585869"/>
            <a:ext cx="406163" cy="27432"/>
          </a:xfrm>
          <a:prstGeom prst="rect">
            <a:avLst/>
          </a:prstGeom>
          <a:solidFill>
            <a:srgbClr val="D9D9D9"/>
          </a:solidFill>
          <a:ln/>
        </p:spPr>
      </p:sp>
      <p:sp>
        <p:nvSpPr>
          <p:cNvPr id="114" name="Shape 112"/>
          <p:cNvSpPr/>
          <p:nvPr/>
        </p:nvSpPr>
        <p:spPr>
          <a:xfrm>
            <a:off x="8969225" y="2521861"/>
            <a:ext cx="155448" cy="155448"/>
          </a:xfrm>
          <a:prstGeom prst="ellipse">
            <a:avLst/>
          </a:prstGeom>
          <a:solidFill>
            <a:srgbClr val="0B2C4A"/>
          </a:solidFill>
          <a:ln/>
        </p:spPr>
      </p:sp>
      <p:sp>
        <p:nvSpPr>
          <p:cNvPr id="115" name="Shape 113"/>
          <p:cNvSpPr/>
          <p:nvPr/>
        </p:nvSpPr>
        <p:spPr>
          <a:xfrm>
            <a:off x="8563062" y="2521861"/>
            <a:ext cx="155448" cy="155448"/>
          </a:xfrm>
          <a:prstGeom prst="ellipse">
            <a:avLst/>
          </a:prstGeom>
          <a:solidFill>
            <a:srgbClr val="C2352F"/>
          </a:solidFill>
          <a:ln/>
        </p:spPr>
      </p:sp>
      <p:sp>
        <p:nvSpPr>
          <p:cNvPr id="116" name="Text 114"/>
          <p:cNvSpPr txBox="1"/>
          <p:nvPr/>
        </p:nvSpPr>
        <p:spPr>
          <a:xfrm>
            <a:off x="10049256" y="247641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84%</a:t>
            </a:r>
            <a:pPr algn="r" indent="0" marL="0">
              <a:buNone/>
            </a:pPr>
            <a:r>
              <a:rPr lang="en-US" sz="1300" dirty="0">
                <a:solidFill>
                  <a:srgbClr val="0B2C4A"/>
                </a:solidFill>
                <a:latin typeface="Inter" pitchFamily="34" charset="0"/>
                <a:ea typeface="Inter" pitchFamily="34" charset="-122"/>
                <a:cs typeface="Inter" pitchFamily="34" charset="-120"/>
              </a:rPr>
              <a:t>  118%</a:t>
            </a:r>
            <a:endParaRPr lang="en-US" sz="1300" dirty="0"/>
          </a:p>
        </p:txBody>
      </p:sp>
      <p:sp>
        <p:nvSpPr>
          <p:cNvPr id="117" name="Text 115"/>
          <p:cNvSpPr txBox="1"/>
          <p:nvPr/>
        </p:nvSpPr>
        <p:spPr>
          <a:xfrm>
            <a:off x="6208776"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8" name="Shape 116"/>
          <p:cNvSpPr/>
          <p:nvPr/>
        </p:nvSpPr>
        <p:spPr>
          <a:xfrm>
            <a:off x="8614372" y="2832220"/>
            <a:ext cx="174890" cy="27432"/>
          </a:xfrm>
          <a:prstGeom prst="rect">
            <a:avLst/>
          </a:prstGeom>
          <a:solidFill>
            <a:srgbClr val="D9D9D9"/>
          </a:solidFill>
          <a:ln/>
        </p:spPr>
      </p:sp>
      <p:sp>
        <p:nvSpPr>
          <p:cNvPr id="119" name="Shape 117"/>
          <p:cNvSpPr/>
          <p:nvPr/>
        </p:nvSpPr>
        <p:spPr>
          <a:xfrm>
            <a:off x="8711538" y="2768212"/>
            <a:ext cx="155448" cy="155448"/>
          </a:xfrm>
          <a:prstGeom prst="ellipse">
            <a:avLst/>
          </a:prstGeom>
          <a:solidFill>
            <a:srgbClr val="0B2C4A"/>
          </a:solidFill>
          <a:ln/>
        </p:spPr>
      </p:sp>
      <p:sp>
        <p:nvSpPr>
          <p:cNvPr id="120" name="Shape 118"/>
          <p:cNvSpPr/>
          <p:nvPr/>
        </p:nvSpPr>
        <p:spPr>
          <a:xfrm>
            <a:off x="8536648" y="2768212"/>
            <a:ext cx="155448" cy="155448"/>
          </a:xfrm>
          <a:prstGeom prst="ellipse">
            <a:avLst/>
          </a:prstGeom>
          <a:solidFill>
            <a:srgbClr val="C2352F"/>
          </a:solidFill>
          <a:ln/>
        </p:spPr>
      </p:sp>
      <p:sp>
        <p:nvSpPr>
          <p:cNvPr id="121" name="Text 119"/>
          <p:cNvSpPr txBox="1"/>
          <p:nvPr/>
        </p:nvSpPr>
        <p:spPr>
          <a:xfrm>
            <a:off x="10049256" y="272276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81%</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22" name="Text 120"/>
          <p:cNvSpPr txBox="1"/>
          <p:nvPr/>
        </p:nvSpPr>
        <p:spPr>
          <a:xfrm>
            <a:off x="6208776"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8583295" y="3078570"/>
            <a:ext cx="403087" cy="27432"/>
          </a:xfrm>
          <a:prstGeom prst="rect">
            <a:avLst/>
          </a:prstGeom>
          <a:solidFill>
            <a:srgbClr val="D9D9D9"/>
          </a:solidFill>
          <a:ln/>
        </p:spPr>
      </p:sp>
      <p:sp>
        <p:nvSpPr>
          <p:cNvPr id="124" name="Shape 122"/>
          <p:cNvSpPr/>
          <p:nvPr/>
        </p:nvSpPr>
        <p:spPr>
          <a:xfrm>
            <a:off x="8908658" y="3014562"/>
            <a:ext cx="155448" cy="155448"/>
          </a:xfrm>
          <a:prstGeom prst="ellipse">
            <a:avLst/>
          </a:prstGeom>
          <a:solidFill>
            <a:srgbClr val="0B2C4A"/>
          </a:solidFill>
          <a:ln/>
        </p:spPr>
      </p:sp>
      <p:sp>
        <p:nvSpPr>
          <p:cNvPr id="125" name="Shape 123"/>
          <p:cNvSpPr/>
          <p:nvPr/>
        </p:nvSpPr>
        <p:spPr>
          <a:xfrm>
            <a:off x="8505571" y="3014562"/>
            <a:ext cx="155448" cy="155448"/>
          </a:xfrm>
          <a:prstGeom prst="ellipse">
            <a:avLst/>
          </a:prstGeom>
          <a:solidFill>
            <a:srgbClr val="C2352F"/>
          </a:solidFill>
          <a:ln/>
        </p:spPr>
      </p:sp>
      <p:sp>
        <p:nvSpPr>
          <p:cNvPr id="126" name="Text 124"/>
          <p:cNvSpPr txBox="1"/>
          <p:nvPr/>
        </p:nvSpPr>
        <p:spPr>
          <a:xfrm>
            <a:off x="10049256" y="29691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113%</a:t>
            </a:r>
            <a:endParaRPr lang="en-US" sz="1300" dirty="0"/>
          </a:p>
        </p:txBody>
      </p:sp>
      <p:sp>
        <p:nvSpPr>
          <p:cNvPr id="127" name="Text 125"/>
          <p:cNvSpPr txBox="1"/>
          <p:nvPr/>
        </p:nvSpPr>
        <p:spPr>
          <a:xfrm>
            <a:off x="6208776"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28" name="Shape 126"/>
          <p:cNvSpPr/>
          <p:nvPr/>
        </p:nvSpPr>
        <p:spPr>
          <a:xfrm>
            <a:off x="8579993" y="3324920"/>
            <a:ext cx="626069" cy="27432"/>
          </a:xfrm>
          <a:prstGeom prst="rect">
            <a:avLst/>
          </a:prstGeom>
          <a:solidFill>
            <a:srgbClr val="D9D9D9"/>
          </a:solidFill>
          <a:ln/>
        </p:spPr>
      </p:sp>
      <p:sp>
        <p:nvSpPr>
          <p:cNvPr id="129" name="Shape 127"/>
          <p:cNvSpPr/>
          <p:nvPr/>
        </p:nvSpPr>
        <p:spPr>
          <a:xfrm>
            <a:off x="9128338" y="3260912"/>
            <a:ext cx="155448" cy="155448"/>
          </a:xfrm>
          <a:prstGeom prst="ellipse">
            <a:avLst/>
          </a:prstGeom>
          <a:solidFill>
            <a:srgbClr val="0B2C4A"/>
          </a:solidFill>
          <a:ln/>
        </p:spPr>
      </p:sp>
      <p:sp>
        <p:nvSpPr>
          <p:cNvPr id="130" name="Shape 128"/>
          <p:cNvSpPr/>
          <p:nvPr/>
        </p:nvSpPr>
        <p:spPr>
          <a:xfrm>
            <a:off x="8502269" y="3260912"/>
            <a:ext cx="155448" cy="155448"/>
          </a:xfrm>
          <a:prstGeom prst="ellipse">
            <a:avLst/>
          </a:prstGeom>
          <a:solidFill>
            <a:srgbClr val="C2352F"/>
          </a:solidFill>
          <a:ln/>
        </p:spPr>
      </p:sp>
      <p:sp>
        <p:nvSpPr>
          <p:cNvPr id="131" name="Text 129"/>
          <p:cNvSpPr txBox="1"/>
          <p:nvPr/>
        </p:nvSpPr>
        <p:spPr>
          <a:xfrm>
            <a:off x="10049256" y="32154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132" name="Text 130"/>
          <p:cNvSpPr txBox="1"/>
          <p:nvPr/>
        </p:nvSpPr>
        <p:spPr>
          <a:xfrm>
            <a:off x="6208776"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33" name="Shape 131"/>
          <p:cNvSpPr/>
          <p:nvPr/>
        </p:nvSpPr>
        <p:spPr>
          <a:xfrm>
            <a:off x="8559791" y="3571270"/>
            <a:ext cx="285552" cy="27432"/>
          </a:xfrm>
          <a:prstGeom prst="rect">
            <a:avLst/>
          </a:prstGeom>
          <a:solidFill>
            <a:srgbClr val="D9D9D9"/>
          </a:solidFill>
          <a:ln/>
        </p:spPr>
      </p:sp>
      <p:sp>
        <p:nvSpPr>
          <p:cNvPr id="134" name="Shape 132"/>
          <p:cNvSpPr/>
          <p:nvPr/>
        </p:nvSpPr>
        <p:spPr>
          <a:xfrm>
            <a:off x="8767619" y="3507262"/>
            <a:ext cx="155448" cy="155448"/>
          </a:xfrm>
          <a:prstGeom prst="ellipse">
            <a:avLst/>
          </a:prstGeom>
          <a:solidFill>
            <a:srgbClr val="0B2C4A"/>
          </a:solidFill>
          <a:ln/>
        </p:spPr>
      </p:sp>
      <p:sp>
        <p:nvSpPr>
          <p:cNvPr id="135" name="Shape 133"/>
          <p:cNvSpPr/>
          <p:nvPr/>
        </p:nvSpPr>
        <p:spPr>
          <a:xfrm>
            <a:off x="8482067" y="3507262"/>
            <a:ext cx="155448" cy="155448"/>
          </a:xfrm>
          <a:prstGeom prst="ellipse">
            <a:avLst/>
          </a:prstGeom>
          <a:solidFill>
            <a:srgbClr val="C2352F"/>
          </a:solidFill>
          <a:ln/>
        </p:spPr>
      </p:sp>
      <p:sp>
        <p:nvSpPr>
          <p:cNvPr id="136" name="Text 134"/>
          <p:cNvSpPr txBox="1"/>
          <p:nvPr/>
        </p:nvSpPr>
        <p:spPr>
          <a:xfrm>
            <a:off x="10049256" y="34618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a:t>
            </a:r>
            <a:pPr algn="r" indent="0" marL="0">
              <a:buNone/>
            </a:pPr>
            <a:r>
              <a:rPr lang="en-US" sz="1300" dirty="0">
                <a:solidFill>
                  <a:srgbClr val="0B2C4A"/>
                </a:solidFill>
                <a:latin typeface="Inter" pitchFamily="34" charset="0"/>
                <a:ea typeface="Inter" pitchFamily="34" charset="-122"/>
                <a:cs typeface="Inter" pitchFamily="34" charset="-120"/>
              </a:rPr>
              <a:t>  101%</a:t>
            </a:r>
            <a:endParaRPr lang="en-US" sz="1300" dirty="0"/>
          </a:p>
        </p:txBody>
      </p:sp>
      <p:sp>
        <p:nvSpPr>
          <p:cNvPr id="137" name="Text 135"/>
          <p:cNvSpPr txBox="1"/>
          <p:nvPr/>
        </p:nvSpPr>
        <p:spPr>
          <a:xfrm>
            <a:off x="6208776"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38" name="Shape 136"/>
          <p:cNvSpPr/>
          <p:nvPr/>
        </p:nvSpPr>
        <p:spPr>
          <a:xfrm>
            <a:off x="8520910" y="3817620"/>
            <a:ext cx="360320" cy="27432"/>
          </a:xfrm>
          <a:prstGeom prst="rect">
            <a:avLst/>
          </a:prstGeom>
          <a:solidFill>
            <a:srgbClr val="D9D9D9"/>
          </a:solidFill>
          <a:ln/>
        </p:spPr>
      </p:sp>
      <p:sp>
        <p:nvSpPr>
          <p:cNvPr id="139" name="Shape 137"/>
          <p:cNvSpPr/>
          <p:nvPr/>
        </p:nvSpPr>
        <p:spPr>
          <a:xfrm>
            <a:off x="8803506" y="3753612"/>
            <a:ext cx="155448" cy="155448"/>
          </a:xfrm>
          <a:prstGeom prst="ellipse">
            <a:avLst/>
          </a:prstGeom>
          <a:solidFill>
            <a:srgbClr val="0B2C4A"/>
          </a:solidFill>
          <a:ln/>
        </p:spPr>
      </p:sp>
      <p:sp>
        <p:nvSpPr>
          <p:cNvPr id="140" name="Shape 138"/>
          <p:cNvSpPr/>
          <p:nvPr/>
        </p:nvSpPr>
        <p:spPr>
          <a:xfrm>
            <a:off x="8443186" y="3753612"/>
            <a:ext cx="155448" cy="155448"/>
          </a:xfrm>
          <a:prstGeom prst="ellipse">
            <a:avLst/>
          </a:prstGeom>
          <a:solidFill>
            <a:srgbClr val="C2352F"/>
          </a:solidFill>
          <a:ln/>
        </p:spPr>
      </p:sp>
      <p:sp>
        <p:nvSpPr>
          <p:cNvPr id="141" name="Text 139"/>
          <p:cNvSpPr txBox="1"/>
          <p:nvPr/>
        </p:nvSpPr>
        <p:spPr>
          <a:xfrm>
            <a:off x="10049256" y="37081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a:t>
            </a:r>
            <a:pPr algn="r" indent="0" marL="0">
              <a:buNone/>
            </a:pPr>
            <a:r>
              <a:rPr lang="en-US" sz="1300" dirty="0">
                <a:solidFill>
                  <a:srgbClr val="0B2C4A"/>
                </a:solidFill>
                <a:latin typeface="Inter" pitchFamily="34" charset="0"/>
                <a:ea typeface="Inter" pitchFamily="34" charset="-122"/>
                <a:cs typeface="Inter" pitchFamily="34" charset="-120"/>
              </a:rPr>
              <a:t>  104%</a:t>
            </a:r>
            <a:endParaRPr lang="en-US" sz="1300" dirty="0"/>
          </a:p>
        </p:txBody>
      </p:sp>
      <p:sp>
        <p:nvSpPr>
          <p:cNvPr id="142" name="Text 140"/>
          <p:cNvSpPr txBox="1"/>
          <p:nvPr/>
        </p:nvSpPr>
        <p:spPr>
          <a:xfrm>
            <a:off x="6208776"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43" name="Shape 141"/>
          <p:cNvSpPr/>
          <p:nvPr/>
        </p:nvSpPr>
        <p:spPr>
          <a:xfrm>
            <a:off x="8506383" y="4063970"/>
            <a:ext cx="198400" cy="27432"/>
          </a:xfrm>
          <a:prstGeom prst="rect">
            <a:avLst/>
          </a:prstGeom>
          <a:solidFill>
            <a:srgbClr val="D9D9D9"/>
          </a:solidFill>
          <a:ln/>
        </p:spPr>
      </p:sp>
      <p:sp>
        <p:nvSpPr>
          <p:cNvPr id="144" name="Shape 142"/>
          <p:cNvSpPr/>
          <p:nvPr/>
        </p:nvSpPr>
        <p:spPr>
          <a:xfrm>
            <a:off x="8627059" y="3999962"/>
            <a:ext cx="155448" cy="155448"/>
          </a:xfrm>
          <a:prstGeom prst="ellipse">
            <a:avLst/>
          </a:prstGeom>
          <a:solidFill>
            <a:srgbClr val="0B2C4A"/>
          </a:solidFill>
          <a:ln/>
        </p:spPr>
      </p:sp>
      <p:sp>
        <p:nvSpPr>
          <p:cNvPr id="145" name="Shape 143"/>
          <p:cNvSpPr/>
          <p:nvPr/>
        </p:nvSpPr>
        <p:spPr>
          <a:xfrm>
            <a:off x="8428659" y="3999962"/>
            <a:ext cx="155448" cy="155448"/>
          </a:xfrm>
          <a:prstGeom prst="ellipse">
            <a:avLst/>
          </a:prstGeom>
          <a:solidFill>
            <a:srgbClr val="C2352F"/>
          </a:solidFill>
          <a:ln/>
        </p:spPr>
      </p:sp>
      <p:sp>
        <p:nvSpPr>
          <p:cNvPr id="146" name="Text 144"/>
          <p:cNvSpPr txBox="1"/>
          <p:nvPr/>
        </p:nvSpPr>
        <p:spPr>
          <a:xfrm>
            <a:off x="10049256" y="39545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a:t>
            </a:r>
            <a:pPr algn="r" indent="0" marL="0">
              <a:buNone/>
            </a:pPr>
            <a:r>
              <a:rPr lang="en-US" sz="1300" dirty="0">
                <a:solidFill>
                  <a:srgbClr val="0B2C4A"/>
                </a:solidFill>
                <a:latin typeface="Inter" pitchFamily="34" charset="0"/>
                <a:ea typeface="Inter" pitchFamily="34" charset="-122"/>
                <a:cs typeface="Inter" pitchFamily="34" charset="-120"/>
              </a:rPr>
              <a:t>  89%</a:t>
            </a:r>
            <a:endParaRPr lang="en-US" sz="1300" dirty="0"/>
          </a:p>
        </p:txBody>
      </p:sp>
      <p:sp>
        <p:nvSpPr>
          <p:cNvPr id="147" name="Text 145"/>
          <p:cNvSpPr txBox="1"/>
          <p:nvPr/>
        </p:nvSpPr>
        <p:spPr>
          <a:xfrm>
            <a:off x="6208776"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8" name="Shape 146"/>
          <p:cNvSpPr/>
          <p:nvPr/>
        </p:nvSpPr>
        <p:spPr>
          <a:xfrm>
            <a:off x="8492153" y="4310320"/>
            <a:ext cx="689844" cy="27432"/>
          </a:xfrm>
          <a:prstGeom prst="rect">
            <a:avLst/>
          </a:prstGeom>
          <a:solidFill>
            <a:srgbClr val="D9D9D9"/>
          </a:solidFill>
          <a:ln/>
        </p:spPr>
      </p:sp>
      <p:sp>
        <p:nvSpPr>
          <p:cNvPr id="149" name="Shape 147"/>
          <p:cNvSpPr/>
          <p:nvPr/>
        </p:nvSpPr>
        <p:spPr>
          <a:xfrm>
            <a:off x="9104273" y="4246312"/>
            <a:ext cx="155448" cy="155448"/>
          </a:xfrm>
          <a:prstGeom prst="ellipse">
            <a:avLst/>
          </a:prstGeom>
          <a:solidFill>
            <a:srgbClr val="0B2C4A"/>
          </a:solidFill>
          <a:ln/>
        </p:spPr>
      </p:sp>
      <p:sp>
        <p:nvSpPr>
          <p:cNvPr id="150" name="Shape 148"/>
          <p:cNvSpPr/>
          <p:nvPr/>
        </p:nvSpPr>
        <p:spPr>
          <a:xfrm>
            <a:off x="8414429" y="4246312"/>
            <a:ext cx="155448" cy="155448"/>
          </a:xfrm>
          <a:prstGeom prst="ellipse">
            <a:avLst/>
          </a:prstGeom>
          <a:solidFill>
            <a:srgbClr val="C2352F"/>
          </a:solidFill>
          <a:ln/>
        </p:spPr>
      </p:sp>
      <p:sp>
        <p:nvSpPr>
          <p:cNvPr id="151" name="Text 149"/>
          <p:cNvSpPr txBox="1"/>
          <p:nvPr/>
        </p:nvSpPr>
        <p:spPr>
          <a:xfrm>
            <a:off x="10049256" y="42008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71%</a:t>
            </a:r>
            <a:pPr algn="r" indent="0" marL="0">
              <a:buNone/>
            </a:pPr>
            <a:r>
              <a:rPr lang="en-US" sz="1300" dirty="0">
                <a:solidFill>
                  <a:srgbClr val="0B2C4A"/>
                </a:solidFill>
                <a:latin typeface="Inter" pitchFamily="34" charset="0"/>
                <a:ea typeface="Inter" pitchFamily="34" charset="-122"/>
                <a:cs typeface="Inter" pitchFamily="34" charset="-120"/>
              </a:rPr>
              <a:t>  129%</a:t>
            </a:r>
            <a:endParaRPr lang="en-US" sz="1300" dirty="0"/>
          </a:p>
        </p:txBody>
      </p:sp>
      <p:sp>
        <p:nvSpPr>
          <p:cNvPr id="152" name="Text 150"/>
          <p:cNvSpPr txBox="1"/>
          <p:nvPr/>
        </p:nvSpPr>
        <p:spPr>
          <a:xfrm>
            <a:off x="6208776"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3" name="Shape 151"/>
          <p:cNvSpPr/>
          <p:nvPr/>
        </p:nvSpPr>
        <p:spPr>
          <a:xfrm>
            <a:off x="8478173" y="4556670"/>
            <a:ext cx="73001" cy="27432"/>
          </a:xfrm>
          <a:prstGeom prst="rect">
            <a:avLst/>
          </a:prstGeom>
          <a:solidFill>
            <a:srgbClr val="D9D9D9"/>
          </a:solidFill>
          <a:ln/>
        </p:spPr>
      </p:sp>
      <p:sp>
        <p:nvSpPr>
          <p:cNvPr id="154" name="Shape 152"/>
          <p:cNvSpPr/>
          <p:nvPr/>
        </p:nvSpPr>
        <p:spPr>
          <a:xfrm>
            <a:off x="8473450" y="4492662"/>
            <a:ext cx="155448" cy="155448"/>
          </a:xfrm>
          <a:prstGeom prst="ellipse">
            <a:avLst/>
          </a:prstGeom>
          <a:solidFill>
            <a:srgbClr val="0B2C4A"/>
          </a:solidFill>
          <a:ln/>
        </p:spPr>
      </p:sp>
      <p:sp>
        <p:nvSpPr>
          <p:cNvPr id="155" name="Shape 153"/>
          <p:cNvSpPr/>
          <p:nvPr/>
        </p:nvSpPr>
        <p:spPr>
          <a:xfrm>
            <a:off x="8400449" y="4492662"/>
            <a:ext cx="155448" cy="155448"/>
          </a:xfrm>
          <a:prstGeom prst="ellipse">
            <a:avLst/>
          </a:prstGeom>
          <a:solidFill>
            <a:srgbClr val="C2352F"/>
          </a:solidFill>
          <a:ln/>
        </p:spPr>
      </p:sp>
      <p:sp>
        <p:nvSpPr>
          <p:cNvPr id="156" name="Text 154"/>
          <p:cNvSpPr txBox="1"/>
          <p:nvPr/>
        </p:nvSpPr>
        <p:spPr>
          <a:xfrm>
            <a:off x="10049256" y="44472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a:t>
            </a:r>
            <a:pPr algn="r" indent="0" marL="0">
              <a:buNone/>
            </a:pPr>
            <a:r>
              <a:rPr lang="en-US" sz="1300" dirty="0">
                <a:solidFill>
                  <a:srgbClr val="0B2C4A"/>
                </a:solidFill>
                <a:latin typeface="Inter" pitchFamily="34" charset="0"/>
                <a:ea typeface="Inter" pitchFamily="34" charset="-122"/>
                <a:cs typeface="Inter" pitchFamily="34" charset="-120"/>
              </a:rPr>
              <a:t>  76%</a:t>
            </a:r>
            <a:endParaRPr lang="en-US" sz="1300" dirty="0"/>
          </a:p>
        </p:txBody>
      </p:sp>
      <p:sp>
        <p:nvSpPr>
          <p:cNvPr id="157" name="Text 155"/>
          <p:cNvSpPr txBox="1"/>
          <p:nvPr/>
        </p:nvSpPr>
        <p:spPr>
          <a:xfrm>
            <a:off x="6208776"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8" name="Shape 156"/>
          <p:cNvSpPr/>
          <p:nvPr/>
        </p:nvSpPr>
        <p:spPr>
          <a:xfrm>
            <a:off x="8466129" y="4803020"/>
            <a:ext cx="635814" cy="27432"/>
          </a:xfrm>
          <a:prstGeom prst="rect">
            <a:avLst/>
          </a:prstGeom>
          <a:solidFill>
            <a:srgbClr val="D9D9D9"/>
          </a:solidFill>
          <a:ln/>
        </p:spPr>
      </p:sp>
      <p:sp>
        <p:nvSpPr>
          <p:cNvPr id="159" name="Shape 157"/>
          <p:cNvSpPr/>
          <p:nvPr/>
        </p:nvSpPr>
        <p:spPr>
          <a:xfrm>
            <a:off x="9024219" y="4739012"/>
            <a:ext cx="155448" cy="155448"/>
          </a:xfrm>
          <a:prstGeom prst="ellipse">
            <a:avLst/>
          </a:prstGeom>
          <a:solidFill>
            <a:srgbClr val="0B2C4A"/>
          </a:solidFill>
          <a:ln/>
        </p:spPr>
      </p:sp>
      <p:sp>
        <p:nvSpPr>
          <p:cNvPr id="160" name="Shape 158"/>
          <p:cNvSpPr/>
          <p:nvPr/>
        </p:nvSpPr>
        <p:spPr>
          <a:xfrm>
            <a:off x="8388405" y="4739012"/>
            <a:ext cx="155448" cy="155448"/>
          </a:xfrm>
          <a:prstGeom prst="ellipse">
            <a:avLst/>
          </a:prstGeom>
          <a:solidFill>
            <a:srgbClr val="C2352F"/>
          </a:solidFill>
          <a:ln/>
        </p:spPr>
      </p:sp>
      <p:sp>
        <p:nvSpPr>
          <p:cNvPr id="161" name="Text 159"/>
          <p:cNvSpPr txBox="1"/>
          <p:nvPr/>
        </p:nvSpPr>
        <p:spPr>
          <a:xfrm>
            <a:off x="10049256" y="46935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69%</a:t>
            </a:r>
            <a:pPr algn="r" indent="0" marL="0">
              <a:buNone/>
            </a:pPr>
            <a:r>
              <a:rPr lang="en-US" sz="1300" dirty="0">
                <a:solidFill>
                  <a:srgbClr val="0B2C4A"/>
                </a:solidFill>
                <a:latin typeface="Inter" pitchFamily="34" charset="0"/>
                <a:ea typeface="Inter" pitchFamily="34" charset="-122"/>
                <a:cs typeface="Inter" pitchFamily="34" charset="-120"/>
              </a:rPr>
              <a:t>  122%</a:t>
            </a:r>
            <a:endParaRPr lang="en-US" sz="1300" dirty="0"/>
          </a:p>
        </p:txBody>
      </p:sp>
      <p:sp>
        <p:nvSpPr>
          <p:cNvPr id="162" name="Text 160"/>
          <p:cNvSpPr txBox="1"/>
          <p:nvPr/>
        </p:nvSpPr>
        <p:spPr>
          <a:xfrm>
            <a:off x="6208776"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63" name="Shape 161"/>
          <p:cNvSpPr/>
          <p:nvPr/>
        </p:nvSpPr>
        <p:spPr>
          <a:xfrm>
            <a:off x="8458867" y="5049371"/>
            <a:ext cx="335577" cy="27432"/>
          </a:xfrm>
          <a:prstGeom prst="rect">
            <a:avLst/>
          </a:prstGeom>
          <a:solidFill>
            <a:srgbClr val="D9D9D9"/>
          </a:solidFill>
          <a:ln/>
        </p:spPr>
      </p:sp>
      <p:sp>
        <p:nvSpPr>
          <p:cNvPr id="164" name="Shape 162"/>
          <p:cNvSpPr/>
          <p:nvPr/>
        </p:nvSpPr>
        <p:spPr>
          <a:xfrm>
            <a:off x="8716721" y="4985363"/>
            <a:ext cx="155448" cy="155448"/>
          </a:xfrm>
          <a:prstGeom prst="ellipse">
            <a:avLst/>
          </a:prstGeom>
          <a:solidFill>
            <a:srgbClr val="0B2C4A"/>
          </a:solidFill>
          <a:ln/>
        </p:spPr>
      </p:sp>
      <p:sp>
        <p:nvSpPr>
          <p:cNvPr id="165" name="Shape 163"/>
          <p:cNvSpPr/>
          <p:nvPr/>
        </p:nvSpPr>
        <p:spPr>
          <a:xfrm>
            <a:off x="8381143" y="4985363"/>
            <a:ext cx="155448" cy="155448"/>
          </a:xfrm>
          <a:prstGeom prst="ellipse">
            <a:avLst/>
          </a:prstGeom>
          <a:solidFill>
            <a:srgbClr val="C2352F"/>
          </a:solidFill>
          <a:ln/>
        </p:spPr>
      </p:sp>
      <p:sp>
        <p:nvSpPr>
          <p:cNvPr id="166" name="Text 164"/>
          <p:cNvSpPr txBox="1"/>
          <p:nvPr/>
        </p:nvSpPr>
        <p:spPr>
          <a:xfrm>
            <a:off x="10049256" y="49399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67" name="Text 165"/>
          <p:cNvSpPr txBox="1"/>
          <p:nvPr/>
        </p:nvSpPr>
        <p:spPr>
          <a:xfrm>
            <a:off x="6208776"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68" name="Shape 166"/>
          <p:cNvSpPr/>
          <p:nvPr/>
        </p:nvSpPr>
        <p:spPr>
          <a:xfrm>
            <a:off x="8448076" y="5295721"/>
            <a:ext cx="363217" cy="27432"/>
          </a:xfrm>
          <a:prstGeom prst="rect">
            <a:avLst/>
          </a:prstGeom>
          <a:solidFill>
            <a:srgbClr val="D9D9D9"/>
          </a:solidFill>
          <a:ln/>
        </p:spPr>
      </p:sp>
      <p:sp>
        <p:nvSpPr>
          <p:cNvPr id="169" name="Shape 167"/>
          <p:cNvSpPr/>
          <p:nvPr/>
        </p:nvSpPr>
        <p:spPr>
          <a:xfrm>
            <a:off x="8733569" y="5231713"/>
            <a:ext cx="155448" cy="155448"/>
          </a:xfrm>
          <a:prstGeom prst="ellipse">
            <a:avLst/>
          </a:prstGeom>
          <a:solidFill>
            <a:srgbClr val="0B2C4A"/>
          </a:solidFill>
          <a:ln/>
        </p:spPr>
      </p:sp>
      <p:sp>
        <p:nvSpPr>
          <p:cNvPr id="170" name="Shape 168"/>
          <p:cNvSpPr/>
          <p:nvPr/>
        </p:nvSpPr>
        <p:spPr>
          <a:xfrm>
            <a:off x="8370352" y="5231713"/>
            <a:ext cx="155448" cy="155448"/>
          </a:xfrm>
          <a:prstGeom prst="ellipse">
            <a:avLst/>
          </a:prstGeom>
          <a:solidFill>
            <a:srgbClr val="C2352F"/>
          </a:solidFill>
          <a:ln/>
        </p:spPr>
      </p:sp>
      <p:sp>
        <p:nvSpPr>
          <p:cNvPr id="171" name="Text 169"/>
          <p:cNvSpPr txBox="1"/>
          <p:nvPr/>
        </p:nvSpPr>
        <p:spPr>
          <a:xfrm>
            <a:off x="10049256" y="518626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98%</a:t>
            </a:r>
            <a:endParaRPr lang="en-US" sz="1300" dirty="0"/>
          </a:p>
        </p:txBody>
      </p:sp>
      <p:sp>
        <p:nvSpPr>
          <p:cNvPr id="172" name="Text 170"/>
          <p:cNvSpPr txBox="1"/>
          <p:nvPr/>
        </p:nvSpPr>
        <p:spPr>
          <a:xfrm>
            <a:off x="6208776"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3" name="Shape 171"/>
          <p:cNvSpPr/>
          <p:nvPr/>
        </p:nvSpPr>
        <p:spPr>
          <a:xfrm>
            <a:off x="8447091" y="5542071"/>
            <a:ext cx="75203" cy="27432"/>
          </a:xfrm>
          <a:prstGeom prst="rect">
            <a:avLst/>
          </a:prstGeom>
          <a:solidFill>
            <a:srgbClr val="D9D9D9"/>
          </a:solidFill>
          <a:ln/>
        </p:spPr>
      </p:sp>
      <p:sp>
        <p:nvSpPr>
          <p:cNvPr id="174" name="Shape 172"/>
          <p:cNvSpPr/>
          <p:nvPr/>
        </p:nvSpPr>
        <p:spPr>
          <a:xfrm>
            <a:off x="8444570" y="5478063"/>
            <a:ext cx="155448" cy="155448"/>
          </a:xfrm>
          <a:prstGeom prst="ellipse">
            <a:avLst/>
          </a:prstGeom>
          <a:solidFill>
            <a:srgbClr val="0B2C4A"/>
          </a:solidFill>
          <a:ln/>
        </p:spPr>
      </p:sp>
      <p:sp>
        <p:nvSpPr>
          <p:cNvPr id="175" name="Shape 173"/>
          <p:cNvSpPr/>
          <p:nvPr/>
        </p:nvSpPr>
        <p:spPr>
          <a:xfrm>
            <a:off x="8369367" y="5478063"/>
            <a:ext cx="155448" cy="155448"/>
          </a:xfrm>
          <a:prstGeom prst="ellipse">
            <a:avLst/>
          </a:prstGeom>
          <a:solidFill>
            <a:srgbClr val="C2352F"/>
          </a:solidFill>
          <a:ln/>
        </p:spPr>
      </p:sp>
      <p:sp>
        <p:nvSpPr>
          <p:cNvPr id="176" name="Text 174"/>
          <p:cNvSpPr txBox="1"/>
          <p:nvPr/>
        </p:nvSpPr>
        <p:spPr>
          <a:xfrm>
            <a:off x="10049256" y="54326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a:t>
            </a:r>
            <a:pPr algn="r" indent="0" marL="0">
              <a:buNone/>
            </a:pPr>
            <a:r>
              <a:rPr lang="en-US" sz="1300" dirty="0">
                <a:solidFill>
                  <a:srgbClr val="0B2C4A"/>
                </a:solidFill>
                <a:latin typeface="Inter" pitchFamily="34" charset="0"/>
                <a:ea typeface="Inter" pitchFamily="34" charset="-122"/>
                <a:cs typeface="Inter" pitchFamily="34" charset="-120"/>
              </a:rPr>
              <a:t>  74%</a:t>
            </a:r>
            <a:endParaRPr lang="en-US" sz="1300" dirty="0"/>
          </a:p>
        </p:txBody>
      </p:sp>
      <p:sp>
        <p:nvSpPr>
          <p:cNvPr id="177" name="Shape 175"/>
          <p:cNvSpPr/>
          <p:nvPr/>
        </p:nvSpPr>
        <p:spPr>
          <a:xfrm>
            <a:off x="457200" y="6126480"/>
            <a:ext cx="11274552" cy="615696"/>
          </a:xfrm>
          <a:prstGeom prst="rect">
            <a:avLst/>
          </a:prstGeom>
          <a:solidFill>
            <a:srgbClr val="EDF4FA"/>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At 11 of the 13 stores under 85%, the top quarter of techs already run above 85%. Same bays, same dispatch, same car count.</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Is It the Work or the Workers?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265176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FEWER ROS · 10 STORES</a:t>
            </a:r>
            <a:endParaRPr lang="en-US" sz="1400" dirty="0"/>
          </a:p>
        </p:txBody>
      </p:sp>
      <p:sp>
        <p:nvSpPr>
          <p:cNvPr id="7" name="Text 5"/>
          <p:cNvSpPr txBox="1"/>
          <p:nvPr/>
        </p:nvSpPr>
        <p:spPr>
          <a:xfrm>
            <a:off x="3438144"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Prof.</a:t>
            </a:r>
            <a:endParaRPr lang="en-US" sz="1400" dirty="0"/>
          </a:p>
        </p:txBody>
      </p:sp>
      <p:sp>
        <p:nvSpPr>
          <p:cNvPr id="8" name="Text 6"/>
          <p:cNvSpPr txBox="1"/>
          <p:nvPr/>
        </p:nvSpPr>
        <p:spPr>
          <a:xfrm>
            <a:off x="4187952"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9" name="Text 7"/>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10" name="Text 8"/>
          <p:cNvSpPr txBox="1"/>
          <p:nvPr/>
        </p:nvSpPr>
        <p:spPr>
          <a:xfrm>
            <a:off x="658368" y="1755648"/>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 name="Shape 9"/>
          <p:cNvSpPr/>
          <p:nvPr/>
        </p:nvSpPr>
        <p:spPr>
          <a:xfrm>
            <a:off x="2651760" y="1859890"/>
            <a:ext cx="648144" cy="208483"/>
          </a:xfrm>
          <a:prstGeom prst="rect">
            <a:avLst/>
          </a:prstGeom>
          <a:solidFill>
            <a:srgbClr val="C2352F"/>
          </a:solidFill>
          <a:ln/>
        </p:spPr>
      </p:sp>
      <p:sp>
        <p:nvSpPr>
          <p:cNvPr id="12" name="Text 10"/>
          <p:cNvSpPr txBox="1"/>
          <p:nvPr/>
        </p:nvSpPr>
        <p:spPr>
          <a:xfrm>
            <a:off x="3438144" y="1755648"/>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83.6%</a:t>
            </a:r>
            <a:endParaRPr lang="en-US" sz="1300" dirty="0"/>
          </a:p>
        </p:txBody>
      </p:sp>
      <p:sp>
        <p:nvSpPr>
          <p:cNvPr id="13" name="Text 11"/>
          <p:cNvSpPr txBox="1"/>
          <p:nvPr/>
        </p:nvSpPr>
        <p:spPr>
          <a:xfrm>
            <a:off x="4187952"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4" name="Text 12"/>
          <p:cNvSpPr txBox="1"/>
          <p:nvPr/>
        </p:nvSpPr>
        <p:spPr>
          <a:xfrm>
            <a:off x="5029200"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15" name="Text 13"/>
          <p:cNvSpPr txBox="1"/>
          <p:nvPr/>
        </p:nvSpPr>
        <p:spPr>
          <a:xfrm>
            <a:off x="658368" y="2172614"/>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6" name="Shape 14"/>
          <p:cNvSpPr/>
          <p:nvPr/>
        </p:nvSpPr>
        <p:spPr>
          <a:xfrm>
            <a:off x="2651760" y="2276856"/>
            <a:ext cx="615319" cy="208483"/>
          </a:xfrm>
          <a:prstGeom prst="rect">
            <a:avLst/>
          </a:prstGeom>
          <a:solidFill>
            <a:srgbClr val="C2352F"/>
          </a:solidFill>
          <a:ln/>
        </p:spPr>
      </p:sp>
      <p:sp>
        <p:nvSpPr>
          <p:cNvPr id="17" name="Text 15"/>
          <p:cNvSpPr txBox="1"/>
          <p:nvPr/>
        </p:nvSpPr>
        <p:spPr>
          <a:xfrm>
            <a:off x="3438144" y="2172614"/>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81.4%</a:t>
            </a:r>
            <a:endParaRPr lang="en-US" sz="1300" dirty="0"/>
          </a:p>
        </p:txBody>
      </p:sp>
      <p:sp>
        <p:nvSpPr>
          <p:cNvPr id="18" name="Text 16"/>
          <p:cNvSpPr txBox="1"/>
          <p:nvPr/>
        </p:nvSpPr>
        <p:spPr>
          <a:xfrm>
            <a:off x="4187952"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19" name="Text 17"/>
          <p:cNvSpPr txBox="1"/>
          <p:nvPr/>
        </p:nvSpPr>
        <p:spPr>
          <a:xfrm>
            <a:off x="5029200"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20" name="Text 18"/>
          <p:cNvSpPr txBox="1"/>
          <p:nvPr/>
        </p:nvSpPr>
        <p:spPr>
          <a:xfrm>
            <a:off x="658368" y="2589581"/>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1" name="Shape 19"/>
          <p:cNvSpPr/>
          <p:nvPr/>
        </p:nvSpPr>
        <p:spPr>
          <a:xfrm>
            <a:off x="2651760" y="2693822"/>
            <a:ext cx="576700" cy="208483"/>
          </a:xfrm>
          <a:prstGeom prst="rect">
            <a:avLst/>
          </a:prstGeom>
          <a:solidFill>
            <a:srgbClr val="C2352F"/>
          </a:solidFill>
          <a:ln/>
        </p:spPr>
      </p:sp>
      <p:sp>
        <p:nvSpPr>
          <p:cNvPr id="22" name="Text 20"/>
          <p:cNvSpPr txBox="1"/>
          <p:nvPr/>
        </p:nvSpPr>
        <p:spPr>
          <a:xfrm>
            <a:off x="3438144" y="2589581"/>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78.8%</a:t>
            </a:r>
            <a:endParaRPr lang="en-US" sz="1300" dirty="0"/>
          </a:p>
        </p:txBody>
      </p:sp>
      <p:sp>
        <p:nvSpPr>
          <p:cNvPr id="23" name="Text 21"/>
          <p:cNvSpPr txBox="1"/>
          <p:nvPr/>
        </p:nvSpPr>
        <p:spPr>
          <a:xfrm>
            <a:off x="4187952"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24" name="Text 22"/>
          <p:cNvSpPr txBox="1"/>
          <p:nvPr/>
        </p:nvSpPr>
        <p:spPr>
          <a:xfrm>
            <a:off x="5029200"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25" name="Text 23"/>
          <p:cNvSpPr txBox="1"/>
          <p:nvPr/>
        </p:nvSpPr>
        <p:spPr>
          <a:xfrm>
            <a:off x="658368" y="3006547"/>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6" name="Shape 24"/>
          <p:cNvSpPr/>
          <p:nvPr/>
        </p:nvSpPr>
        <p:spPr>
          <a:xfrm>
            <a:off x="2651760" y="3110789"/>
            <a:ext cx="499175" cy="208483"/>
          </a:xfrm>
          <a:prstGeom prst="rect">
            <a:avLst/>
          </a:prstGeom>
          <a:solidFill>
            <a:srgbClr val="C2352F"/>
          </a:solidFill>
          <a:ln/>
        </p:spPr>
      </p:sp>
      <p:sp>
        <p:nvSpPr>
          <p:cNvPr id="27" name="Text 25"/>
          <p:cNvSpPr txBox="1"/>
          <p:nvPr/>
        </p:nvSpPr>
        <p:spPr>
          <a:xfrm>
            <a:off x="3438144" y="3006547"/>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73.6%</a:t>
            </a:r>
            <a:endParaRPr lang="en-US" sz="1300" dirty="0"/>
          </a:p>
        </p:txBody>
      </p:sp>
      <p:sp>
        <p:nvSpPr>
          <p:cNvPr id="28" name="Text 26"/>
          <p:cNvSpPr txBox="1"/>
          <p:nvPr/>
        </p:nvSpPr>
        <p:spPr>
          <a:xfrm>
            <a:off x="4187952" y="3006547"/>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29" name="Text 27"/>
          <p:cNvSpPr txBox="1"/>
          <p:nvPr/>
        </p:nvSpPr>
        <p:spPr>
          <a:xfrm>
            <a:off x="5029200" y="3006547"/>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30" name="Text 28"/>
          <p:cNvSpPr txBox="1"/>
          <p:nvPr/>
        </p:nvSpPr>
        <p:spPr>
          <a:xfrm>
            <a:off x="658368" y="3423514"/>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31" name="Shape 29"/>
          <p:cNvSpPr/>
          <p:nvPr/>
        </p:nvSpPr>
        <p:spPr>
          <a:xfrm>
            <a:off x="2651760" y="3527755"/>
            <a:ext cx="463439" cy="208483"/>
          </a:xfrm>
          <a:prstGeom prst="rect">
            <a:avLst/>
          </a:prstGeom>
          <a:solidFill>
            <a:srgbClr val="C2352F"/>
          </a:solidFill>
          <a:ln/>
        </p:spPr>
      </p:sp>
      <p:sp>
        <p:nvSpPr>
          <p:cNvPr id="32" name="Text 30"/>
          <p:cNvSpPr txBox="1"/>
          <p:nvPr/>
        </p:nvSpPr>
        <p:spPr>
          <a:xfrm>
            <a:off x="3438144" y="3423514"/>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71.2%</a:t>
            </a:r>
            <a:endParaRPr lang="en-US" sz="1300" dirty="0"/>
          </a:p>
        </p:txBody>
      </p:sp>
      <p:sp>
        <p:nvSpPr>
          <p:cNvPr id="33" name="Text 31"/>
          <p:cNvSpPr txBox="1"/>
          <p:nvPr/>
        </p:nvSpPr>
        <p:spPr>
          <a:xfrm>
            <a:off x="4187952" y="34235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34" name="Text 32"/>
          <p:cNvSpPr txBox="1"/>
          <p:nvPr/>
        </p:nvSpPr>
        <p:spPr>
          <a:xfrm>
            <a:off x="5029200" y="34235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35" name="Text 33"/>
          <p:cNvSpPr txBox="1"/>
          <p:nvPr/>
        </p:nvSpPr>
        <p:spPr>
          <a:xfrm>
            <a:off x="658368" y="3840480"/>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36" name="Shape 34"/>
          <p:cNvSpPr/>
          <p:nvPr/>
        </p:nvSpPr>
        <p:spPr>
          <a:xfrm>
            <a:off x="2651760" y="3944722"/>
            <a:ext cx="446067" cy="208483"/>
          </a:xfrm>
          <a:prstGeom prst="rect">
            <a:avLst/>
          </a:prstGeom>
          <a:solidFill>
            <a:srgbClr val="C2352F"/>
          </a:solidFill>
          <a:ln/>
        </p:spPr>
      </p:sp>
      <p:sp>
        <p:nvSpPr>
          <p:cNvPr id="37" name="Text 35"/>
          <p:cNvSpPr txBox="1"/>
          <p:nvPr/>
        </p:nvSpPr>
        <p:spPr>
          <a:xfrm>
            <a:off x="3438144" y="3840480"/>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70.0%</a:t>
            </a:r>
            <a:endParaRPr lang="en-US" sz="1300" dirty="0"/>
          </a:p>
        </p:txBody>
      </p:sp>
      <p:sp>
        <p:nvSpPr>
          <p:cNvPr id="38" name="Text 36"/>
          <p:cNvSpPr txBox="1"/>
          <p:nvPr/>
        </p:nvSpPr>
        <p:spPr>
          <a:xfrm>
            <a:off x="4187952" y="3840480"/>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39" name="Text 37"/>
          <p:cNvSpPr txBox="1"/>
          <p:nvPr/>
        </p:nvSpPr>
        <p:spPr>
          <a:xfrm>
            <a:off x="5029200" y="3840480"/>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40" name="Text 38"/>
          <p:cNvSpPr txBox="1"/>
          <p:nvPr/>
        </p:nvSpPr>
        <p:spPr>
          <a:xfrm>
            <a:off x="658368" y="4257446"/>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1" name="Shape 39"/>
          <p:cNvSpPr/>
          <p:nvPr/>
        </p:nvSpPr>
        <p:spPr>
          <a:xfrm>
            <a:off x="2651760" y="4361688"/>
            <a:ext cx="431099" cy="208483"/>
          </a:xfrm>
          <a:prstGeom prst="rect">
            <a:avLst/>
          </a:prstGeom>
          <a:solidFill>
            <a:srgbClr val="C2352F"/>
          </a:solidFill>
          <a:ln/>
        </p:spPr>
      </p:sp>
      <p:sp>
        <p:nvSpPr>
          <p:cNvPr id="42" name="Text 40"/>
          <p:cNvSpPr txBox="1"/>
          <p:nvPr/>
        </p:nvSpPr>
        <p:spPr>
          <a:xfrm>
            <a:off x="3438144" y="4257446"/>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69.0%</a:t>
            </a:r>
            <a:endParaRPr lang="en-US" sz="1300" dirty="0"/>
          </a:p>
        </p:txBody>
      </p:sp>
      <p:sp>
        <p:nvSpPr>
          <p:cNvPr id="43" name="Text 41"/>
          <p:cNvSpPr txBox="1"/>
          <p:nvPr/>
        </p:nvSpPr>
        <p:spPr>
          <a:xfrm>
            <a:off x="4187952" y="42574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44" name="Text 42"/>
          <p:cNvSpPr txBox="1"/>
          <p:nvPr/>
        </p:nvSpPr>
        <p:spPr>
          <a:xfrm>
            <a:off x="5029200" y="42574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45" name="Text 43"/>
          <p:cNvSpPr txBox="1"/>
          <p:nvPr/>
        </p:nvSpPr>
        <p:spPr>
          <a:xfrm>
            <a:off x="658368" y="4674413"/>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46" name="Shape 44"/>
          <p:cNvSpPr/>
          <p:nvPr/>
        </p:nvSpPr>
        <p:spPr>
          <a:xfrm>
            <a:off x="2651760" y="4778654"/>
            <a:ext cx="422076" cy="208483"/>
          </a:xfrm>
          <a:prstGeom prst="rect">
            <a:avLst/>
          </a:prstGeom>
          <a:solidFill>
            <a:srgbClr val="C2352F"/>
          </a:solidFill>
          <a:ln/>
        </p:spPr>
      </p:sp>
      <p:sp>
        <p:nvSpPr>
          <p:cNvPr id="47" name="Text 45"/>
          <p:cNvSpPr txBox="1"/>
          <p:nvPr/>
        </p:nvSpPr>
        <p:spPr>
          <a:xfrm>
            <a:off x="3438144" y="4674413"/>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68.4%</a:t>
            </a:r>
            <a:endParaRPr lang="en-US" sz="1300" dirty="0"/>
          </a:p>
        </p:txBody>
      </p:sp>
      <p:sp>
        <p:nvSpPr>
          <p:cNvPr id="48" name="Text 46"/>
          <p:cNvSpPr txBox="1"/>
          <p:nvPr/>
        </p:nvSpPr>
        <p:spPr>
          <a:xfrm>
            <a:off x="4187952" y="4674413"/>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a:t>
            </a:r>
            <a:endParaRPr lang="en-US" sz="1300" dirty="0"/>
          </a:p>
        </p:txBody>
      </p:sp>
      <p:sp>
        <p:nvSpPr>
          <p:cNvPr id="49" name="Text 47"/>
          <p:cNvSpPr txBox="1"/>
          <p:nvPr/>
        </p:nvSpPr>
        <p:spPr>
          <a:xfrm>
            <a:off x="5029200" y="4674413"/>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50" name="Text 48"/>
          <p:cNvSpPr txBox="1"/>
          <p:nvPr/>
        </p:nvSpPr>
        <p:spPr>
          <a:xfrm>
            <a:off x="658368" y="5091379"/>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51" name="Shape 49"/>
          <p:cNvSpPr/>
          <p:nvPr/>
        </p:nvSpPr>
        <p:spPr>
          <a:xfrm>
            <a:off x="2651760" y="5195621"/>
            <a:ext cx="408666" cy="208483"/>
          </a:xfrm>
          <a:prstGeom prst="rect">
            <a:avLst/>
          </a:prstGeom>
          <a:solidFill>
            <a:srgbClr val="C2352F"/>
          </a:solidFill>
          <a:ln/>
        </p:spPr>
      </p:sp>
      <p:sp>
        <p:nvSpPr>
          <p:cNvPr id="52" name="Text 50"/>
          <p:cNvSpPr txBox="1"/>
          <p:nvPr/>
        </p:nvSpPr>
        <p:spPr>
          <a:xfrm>
            <a:off x="3438144" y="5091379"/>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67.5%</a:t>
            </a:r>
            <a:endParaRPr lang="en-US" sz="1300" dirty="0"/>
          </a:p>
        </p:txBody>
      </p:sp>
      <p:sp>
        <p:nvSpPr>
          <p:cNvPr id="53" name="Text 51"/>
          <p:cNvSpPr txBox="1"/>
          <p:nvPr/>
        </p:nvSpPr>
        <p:spPr>
          <a:xfrm>
            <a:off x="4187952" y="5091379"/>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54" name="Text 52"/>
          <p:cNvSpPr txBox="1"/>
          <p:nvPr/>
        </p:nvSpPr>
        <p:spPr>
          <a:xfrm>
            <a:off x="5029200" y="5091379"/>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55" name="Text 53"/>
          <p:cNvSpPr txBox="1"/>
          <p:nvPr/>
        </p:nvSpPr>
        <p:spPr>
          <a:xfrm>
            <a:off x="658368" y="5508346"/>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56" name="Shape 54"/>
          <p:cNvSpPr/>
          <p:nvPr/>
        </p:nvSpPr>
        <p:spPr>
          <a:xfrm>
            <a:off x="2651760" y="5612587"/>
            <a:ext cx="407442" cy="208483"/>
          </a:xfrm>
          <a:prstGeom prst="rect">
            <a:avLst/>
          </a:prstGeom>
          <a:solidFill>
            <a:srgbClr val="C2352F"/>
          </a:solidFill>
          <a:ln/>
        </p:spPr>
      </p:sp>
      <p:sp>
        <p:nvSpPr>
          <p:cNvPr id="57" name="Text 55"/>
          <p:cNvSpPr txBox="1"/>
          <p:nvPr/>
        </p:nvSpPr>
        <p:spPr>
          <a:xfrm>
            <a:off x="3438144" y="5508346"/>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67.4%</a:t>
            </a:r>
            <a:endParaRPr lang="en-US" sz="1300" dirty="0"/>
          </a:p>
        </p:txBody>
      </p:sp>
      <p:sp>
        <p:nvSpPr>
          <p:cNvPr id="58" name="Text 56"/>
          <p:cNvSpPr txBox="1"/>
          <p:nvPr/>
        </p:nvSpPr>
        <p:spPr>
          <a:xfrm>
            <a:off x="4187952" y="55083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59" name="Text 57"/>
          <p:cNvSpPr txBox="1"/>
          <p:nvPr/>
        </p:nvSpPr>
        <p:spPr>
          <a:xfrm>
            <a:off x="5029200" y="55083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60" name="Shape 58"/>
          <p:cNvSpPr/>
          <p:nvPr/>
        </p:nvSpPr>
        <p:spPr>
          <a:xfrm>
            <a:off x="3312839" y="1755648"/>
            <a:ext cx="14630" cy="4169664"/>
          </a:xfrm>
          <a:prstGeom prst="rect">
            <a:avLst/>
          </a:prstGeom>
          <a:solidFill>
            <a:srgbClr val="0B2C4A"/>
          </a:solidFill>
          <a:ln/>
        </p:spPr>
      </p:sp>
      <p:sp>
        <p:nvSpPr>
          <p:cNvPr id="61" name="Text 59"/>
          <p:cNvSpPr txBox="1"/>
          <p:nvPr/>
        </p:nvSpPr>
        <p:spPr>
          <a:xfrm>
            <a:off x="6208776" y="1316736"/>
            <a:ext cx="265176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ENOUGH ROS · 3 STORES</a:t>
            </a:r>
            <a:endParaRPr lang="en-US" sz="1400" dirty="0"/>
          </a:p>
        </p:txBody>
      </p:sp>
      <p:sp>
        <p:nvSpPr>
          <p:cNvPr id="62" name="Text 60"/>
          <p:cNvSpPr txBox="1"/>
          <p:nvPr/>
        </p:nvSpPr>
        <p:spPr>
          <a:xfrm>
            <a:off x="898855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Prof.</a:t>
            </a:r>
            <a:endParaRPr lang="en-US" sz="1400" dirty="0"/>
          </a:p>
        </p:txBody>
      </p:sp>
      <p:sp>
        <p:nvSpPr>
          <p:cNvPr id="63" name="Text 61"/>
          <p:cNvSpPr txBox="1"/>
          <p:nvPr/>
        </p:nvSpPr>
        <p:spPr>
          <a:xfrm>
            <a:off x="973836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64" name="Text 62"/>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65" name="Text 63"/>
          <p:cNvSpPr txBox="1"/>
          <p:nvPr/>
        </p:nvSpPr>
        <p:spPr>
          <a:xfrm>
            <a:off x="6208776" y="1755648"/>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66" name="Shape 64"/>
          <p:cNvSpPr/>
          <p:nvPr/>
        </p:nvSpPr>
        <p:spPr>
          <a:xfrm>
            <a:off x="8202168" y="1859890"/>
            <a:ext cx="572597" cy="208483"/>
          </a:xfrm>
          <a:prstGeom prst="rect">
            <a:avLst/>
          </a:prstGeom>
          <a:solidFill>
            <a:srgbClr val="C2352F"/>
          </a:solidFill>
          <a:ln/>
        </p:spPr>
      </p:sp>
      <p:sp>
        <p:nvSpPr>
          <p:cNvPr id="67" name="Text 65"/>
          <p:cNvSpPr txBox="1"/>
          <p:nvPr/>
        </p:nvSpPr>
        <p:spPr>
          <a:xfrm>
            <a:off x="8988552" y="1755648"/>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78.5%</a:t>
            </a:r>
            <a:endParaRPr lang="en-US" sz="1300" dirty="0"/>
          </a:p>
        </p:txBody>
      </p:sp>
      <p:sp>
        <p:nvSpPr>
          <p:cNvPr id="68" name="Text 66"/>
          <p:cNvSpPr txBox="1"/>
          <p:nvPr/>
        </p:nvSpPr>
        <p:spPr>
          <a:xfrm>
            <a:off x="9738360"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69" name="Text 67"/>
          <p:cNvSpPr txBox="1"/>
          <p:nvPr/>
        </p:nvSpPr>
        <p:spPr>
          <a:xfrm>
            <a:off x="10579608"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70" name="Text 68"/>
          <p:cNvSpPr txBox="1"/>
          <p:nvPr/>
        </p:nvSpPr>
        <p:spPr>
          <a:xfrm>
            <a:off x="6208776" y="2172614"/>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71" name="Shape 69"/>
          <p:cNvSpPr/>
          <p:nvPr/>
        </p:nvSpPr>
        <p:spPr>
          <a:xfrm>
            <a:off x="8202168" y="2276856"/>
            <a:ext cx="547492" cy="208483"/>
          </a:xfrm>
          <a:prstGeom prst="rect">
            <a:avLst/>
          </a:prstGeom>
          <a:solidFill>
            <a:srgbClr val="C2352F"/>
          </a:solidFill>
          <a:ln/>
        </p:spPr>
      </p:sp>
      <p:sp>
        <p:nvSpPr>
          <p:cNvPr id="72" name="Text 70"/>
          <p:cNvSpPr txBox="1"/>
          <p:nvPr/>
        </p:nvSpPr>
        <p:spPr>
          <a:xfrm>
            <a:off x="8988552" y="2172614"/>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76.8%</a:t>
            </a:r>
            <a:endParaRPr lang="en-US" sz="1300" dirty="0"/>
          </a:p>
        </p:txBody>
      </p:sp>
      <p:sp>
        <p:nvSpPr>
          <p:cNvPr id="73" name="Text 71"/>
          <p:cNvSpPr txBox="1"/>
          <p:nvPr/>
        </p:nvSpPr>
        <p:spPr>
          <a:xfrm>
            <a:off x="9738360"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74" name="Text 72"/>
          <p:cNvSpPr txBox="1"/>
          <p:nvPr/>
        </p:nvSpPr>
        <p:spPr>
          <a:xfrm>
            <a:off x="10579608"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75" name="Text 73"/>
          <p:cNvSpPr txBox="1"/>
          <p:nvPr/>
        </p:nvSpPr>
        <p:spPr>
          <a:xfrm>
            <a:off x="6208776" y="2589581"/>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76" name="Shape 74"/>
          <p:cNvSpPr/>
          <p:nvPr/>
        </p:nvSpPr>
        <p:spPr>
          <a:xfrm>
            <a:off x="8202168" y="2693822"/>
            <a:ext cx="481123" cy="208483"/>
          </a:xfrm>
          <a:prstGeom prst="rect">
            <a:avLst/>
          </a:prstGeom>
          <a:solidFill>
            <a:srgbClr val="C2352F"/>
          </a:solidFill>
          <a:ln/>
        </p:spPr>
      </p:sp>
      <p:sp>
        <p:nvSpPr>
          <p:cNvPr id="77" name="Text 75"/>
          <p:cNvSpPr txBox="1"/>
          <p:nvPr/>
        </p:nvSpPr>
        <p:spPr>
          <a:xfrm>
            <a:off x="8988552" y="2589581"/>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72.3%</a:t>
            </a:r>
            <a:endParaRPr lang="en-US" sz="1300" dirty="0"/>
          </a:p>
        </p:txBody>
      </p:sp>
      <p:sp>
        <p:nvSpPr>
          <p:cNvPr id="78" name="Text 76"/>
          <p:cNvSpPr txBox="1"/>
          <p:nvPr/>
        </p:nvSpPr>
        <p:spPr>
          <a:xfrm>
            <a:off x="9738360"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79" name="Text 77"/>
          <p:cNvSpPr txBox="1"/>
          <p:nvPr/>
        </p:nvSpPr>
        <p:spPr>
          <a:xfrm>
            <a:off x="10579608"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80" name="Shape 78"/>
          <p:cNvSpPr/>
          <p:nvPr/>
        </p:nvSpPr>
        <p:spPr>
          <a:xfrm>
            <a:off x="8863247" y="1755648"/>
            <a:ext cx="14630" cy="1250899"/>
          </a:xfrm>
          <a:prstGeom prst="rect">
            <a:avLst/>
          </a:prstGeom>
          <a:solidFill>
            <a:srgbClr val="0B2C4A"/>
          </a:solidFill>
          <a:ln/>
        </p:spPr>
      </p:sp>
      <p:sp>
        <p:nvSpPr>
          <p:cNvPr id="81" name="Shape 79"/>
          <p:cNvSpPr/>
          <p:nvPr/>
        </p:nvSpPr>
        <p:spPr>
          <a:xfrm>
            <a:off x="6035040" y="1371600"/>
            <a:ext cx="10973" cy="4553712"/>
          </a:xfrm>
          <a:prstGeom prst="rect">
            <a:avLst/>
          </a:prstGeom>
          <a:solidFill>
            <a:srgbClr val="D9D9D9"/>
          </a:solidFill>
          <a:ln/>
        </p:spPr>
      </p:sp>
      <p:sp>
        <p:nvSpPr>
          <p:cNvPr id="82" name="Shape 80"/>
          <p:cNvSpPr/>
          <p:nvPr/>
        </p:nvSpPr>
        <p:spPr>
          <a:xfrm>
            <a:off x="457200" y="6126480"/>
            <a:ext cx="11274552" cy="615696"/>
          </a:xfrm>
          <a:prstGeom prst="rect">
            <a:avLst/>
          </a:prstGeom>
          <a:solidFill>
            <a:srgbClr val="EDF4FA"/>
          </a:solidFill>
          <a:ln/>
        </p:spPr>
      </p:sp>
      <p:sp>
        <p:nvSpPr>
          <p:cNvPr id="83" name="Text 8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of the 13 stores under 85% also see fewer ROs per tech than their segment: check car count and staffing first. At Honda Flagstaff, Kia LV, Volvo the work is there.</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2026-10-22T22:38:44Z</dcterms:created>
  <dcterms:modified xsi:type="dcterms:W3CDTF">2026-10-22T22:38:44Z</dcterms:modified>
</cp:coreProperties>
</file>